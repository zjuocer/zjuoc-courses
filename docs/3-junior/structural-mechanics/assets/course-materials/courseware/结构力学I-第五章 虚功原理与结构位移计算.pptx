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72" r:id="rId3"/>
  </p:sldMasterIdLst>
  <p:notesMasterIdLst>
    <p:notesMasterId r:id="rId134"/>
  </p:notesMasterIdLst>
  <p:sldIdLst>
    <p:sldId id="256" r:id="rId4"/>
    <p:sldId id="261" r:id="rId5"/>
    <p:sldId id="342" r:id="rId6"/>
    <p:sldId id="343" r:id="rId7"/>
    <p:sldId id="344" r:id="rId8"/>
    <p:sldId id="345" r:id="rId9"/>
    <p:sldId id="347" r:id="rId10"/>
    <p:sldId id="340" r:id="rId11"/>
    <p:sldId id="348" r:id="rId12"/>
    <p:sldId id="350" r:id="rId13"/>
    <p:sldId id="349" r:id="rId14"/>
    <p:sldId id="341" r:id="rId15"/>
    <p:sldId id="351" r:id="rId16"/>
    <p:sldId id="353" r:id="rId17"/>
    <p:sldId id="352" r:id="rId18"/>
    <p:sldId id="354" r:id="rId19"/>
    <p:sldId id="357" r:id="rId20"/>
    <p:sldId id="361" r:id="rId21"/>
    <p:sldId id="362" r:id="rId22"/>
    <p:sldId id="363" r:id="rId23"/>
    <p:sldId id="364" r:id="rId24"/>
    <p:sldId id="365" r:id="rId25"/>
    <p:sldId id="366" r:id="rId26"/>
    <p:sldId id="370" r:id="rId27"/>
    <p:sldId id="371" r:id="rId28"/>
    <p:sldId id="372" r:id="rId29"/>
    <p:sldId id="367" r:id="rId30"/>
    <p:sldId id="368" r:id="rId31"/>
    <p:sldId id="369" r:id="rId32"/>
    <p:sldId id="373" r:id="rId33"/>
    <p:sldId id="374" r:id="rId34"/>
    <p:sldId id="439" r:id="rId35"/>
    <p:sldId id="375" r:id="rId36"/>
    <p:sldId id="376" r:id="rId37"/>
    <p:sldId id="377" r:id="rId38"/>
    <p:sldId id="380" r:id="rId39"/>
    <p:sldId id="381" r:id="rId40"/>
    <p:sldId id="382" r:id="rId41"/>
    <p:sldId id="383" r:id="rId42"/>
    <p:sldId id="384" r:id="rId43"/>
    <p:sldId id="385" r:id="rId44"/>
    <p:sldId id="386" r:id="rId45"/>
    <p:sldId id="387" r:id="rId46"/>
    <p:sldId id="388" r:id="rId47"/>
    <p:sldId id="389" r:id="rId48"/>
    <p:sldId id="390" r:id="rId49"/>
    <p:sldId id="391" r:id="rId50"/>
    <p:sldId id="392" r:id="rId51"/>
    <p:sldId id="393" r:id="rId52"/>
    <p:sldId id="394" r:id="rId53"/>
    <p:sldId id="395" r:id="rId54"/>
    <p:sldId id="396" r:id="rId55"/>
    <p:sldId id="399" r:id="rId56"/>
    <p:sldId id="398" r:id="rId57"/>
    <p:sldId id="402" r:id="rId58"/>
    <p:sldId id="401" r:id="rId59"/>
    <p:sldId id="405" r:id="rId60"/>
    <p:sldId id="406" r:id="rId61"/>
    <p:sldId id="407" r:id="rId62"/>
    <p:sldId id="410" r:id="rId63"/>
    <p:sldId id="408" r:id="rId64"/>
    <p:sldId id="413" r:id="rId65"/>
    <p:sldId id="412" r:id="rId66"/>
    <p:sldId id="414" r:id="rId67"/>
    <p:sldId id="415" r:id="rId68"/>
    <p:sldId id="416" r:id="rId69"/>
    <p:sldId id="411" r:id="rId70"/>
    <p:sldId id="417" r:id="rId71"/>
    <p:sldId id="418" r:id="rId72"/>
    <p:sldId id="420" r:id="rId73"/>
    <p:sldId id="421" r:id="rId74"/>
    <p:sldId id="422" r:id="rId75"/>
    <p:sldId id="423" r:id="rId76"/>
    <p:sldId id="424" r:id="rId77"/>
    <p:sldId id="425" r:id="rId78"/>
    <p:sldId id="426" r:id="rId79"/>
    <p:sldId id="427" r:id="rId80"/>
    <p:sldId id="428" r:id="rId81"/>
    <p:sldId id="429" r:id="rId82"/>
    <p:sldId id="430" r:id="rId83"/>
    <p:sldId id="431" r:id="rId84"/>
    <p:sldId id="432" r:id="rId85"/>
    <p:sldId id="433" r:id="rId86"/>
    <p:sldId id="434" r:id="rId87"/>
    <p:sldId id="329" r:id="rId88"/>
    <p:sldId id="436" r:id="rId89"/>
    <p:sldId id="441" r:id="rId90"/>
    <p:sldId id="442" r:id="rId91"/>
    <p:sldId id="443" r:id="rId92"/>
    <p:sldId id="444" r:id="rId93"/>
    <p:sldId id="445" r:id="rId94"/>
    <p:sldId id="446" r:id="rId95"/>
    <p:sldId id="447" r:id="rId96"/>
    <p:sldId id="448" r:id="rId97"/>
    <p:sldId id="449" r:id="rId98"/>
    <p:sldId id="450" r:id="rId99"/>
    <p:sldId id="451" r:id="rId100"/>
    <p:sldId id="452" r:id="rId101"/>
    <p:sldId id="453" r:id="rId102"/>
    <p:sldId id="454" r:id="rId103"/>
    <p:sldId id="455" r:id="rId104"/>
    <p:sldId id="456" r:id="rId105"/>
    <p:sldId id="459" r:id="rId106"/>
    <p:sldId id="458" r:id="rId107"/>
    <p:sldId id="460" r:id="rId108"/>
    <p:sldId id="461" r:id="rId109"/>
    <p:sldId id="462" r:id="rId110"/>
    <p:sldId id="463" r:id="rId111"/>
    <p:sldId id="464" r:id="rId112"/>
    <p:sldId id="466" r:id="rId113"/>
    <p:sldId id="467" r:id="rId114"/>
    <p:sldId id="468" r:id="rId115"/>
    <p:sldId id="465" r:id="rId116"/>
    <p:sldId id="469" r:id="rId117"/>
    <p:sldId id="471" r:id="rId118"/>
    <p:sldId id="470" r:id="rId119"/>
    <p:sldId id="473" r:id="rId120"/>
    <p:sldId id="472" r:id="rId121"/>
    <p:sldId id="474" r:id="rId122"/>
    <p:sldId id="476" r:id="rId123"/>
    <p:sldId id="477" r:id="rId124"/>
    <p:sldId id="475" r:id="rId125"/>
    <p:sldId id="478" r:id="rId126"/>
    <p:sldId id="479" r:id="rId127"/>
    <p:sldId id="481" r:id="rId128"/>
    <p:sldId id="480" r:id="rId129"/>
    <p:sldId id="339" r:id="rId130"/>
    <p:sldId id="440" r:id="rId131"/>
    <p:sldId id="437" r:id="rId132"/>
    <p:sldId id="438" r:id="rId1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00FF"/>
    <a:srgbClr val="FFFFCC"/>
    <a:srgbClr val="CCFF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88" autoAdjust="0"/>
    <p:restoredTop sz="93738" autoAdjust="0"/>
  </p:normalViewPr>
  <p:slideViewPr>
    <p:cSldViewPr>
      <p:cViewPr varScale="1">
        <p:scale>
          <a:sx n="103" d="100"/>
          <a:sy n="103" d="100"/>
        </p:scale>
        <p:origin x="1632" y="114"/>
      </p:cViewPr>
      <p:guideLst>
        <p:guide orient="horz" pos="2160"/>
        <p:guide pos="2880"/>
      </p:guideLst>
    </p:cSldViewPr>
  </p:slideViewPr>
  <p:outlineViewPr>
    <p:cViewPr>
      <p:scale>
        <a:sx n="33" d="100"/>
        <a:sy n="33" d="100"/>
      </p:scale>
      <p:origin x="0" y="1381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notesMaster" Target="notesMasters/notesMaster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4"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69.wmf"/><Relationship Id="rId7" Type="http://schemas.openxmlformats.org/officeDocument/2006/relationships/image" Target="../media/image76.wmf"/><Relationship Id="rId2" Type="http://schemas.openxmlformats.org/officeDocument/2006/relationships/image" Target="../media/image68.wmf"/><Relationship Id="rId1" Type="http://schemas.openxmlformats.org/officeDocument/2006/relationships/image" Target="../media/image73.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56.wmf"/><Relationship Id="rId5" Type="http://schemas.openxmlformats.org/officeDocument/2006/relationships/image" Target="../media/image84.wmf"/><Relationship Id="rId4" Type="http://schemas.openxmlformats.org/officeDocument/2006/relationships/image" Target="../media/image8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 Id="rId5" Type="http://schemas.openxmlformats.org/officeDocument/2006/relationships/image" Target="../media/image89.wmf"/><Relationship Id="rId4"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3.wmf"/><Relationship Id="rId7" Type="http://schemas.openxmlformats.org/officeDocument/2006/relationships/image" Target="../media/image97.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2.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5" Type="http://schemas.openxmlformats.org/officeDocument/2006/relationships/image" Target="../media/image107.wmf"/><Relationship Id="rId4" Type="http://schemas.openxmlformats.org/officeDocument/2006/relationships/image" Target="../media/image10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4.wmf"/><Relationship Id="rId4" Type="http://schemas.openxmlformats.org/officeDocument/2006/relationships/image" Target="../media/image110.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5.wmf"/><Relationship Id="rId7" Type="http://schemas.openxmlformats.org/officeDocument/2006/relationships/image" Target="../media/image129.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5" Type="http://schemas.openxmlformats.org/officeDocument/2006/relationships/image" Target="../media/image127.wmf"/><Relationship Id="rId4" Type="http://schemas.openxmlformats.org/officeDocument/2006/relationships/image" Target="../media/image126.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30.wmf"/><Relationship Id="rId7" Type="http://schemas.openxmlformats.org/officeDocument/2006/relationships/image" Target="../media/image134.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5" Type="http://schemas.openxmlformats.org/officeDocument/2006/relationships/image" Target="../media/image154.wmf"/><Relationship Id="rId4" Type="http://schemas.openxmlformats.org/officeDocument/2006/relationships/image" Target="../media/image153.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58.wmf"/><Relationship Id="rId7" Type="http://schemas.openxmlformats.org/officeDocument/2006/relationships/image" Target="../media/image162.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6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 Id="rId5" Type="http://schemas.openxmlformats.org/officeDocument/2006/relationships/image" Target="../media/image180.wmf"/><Relationship Id="rId4" Type="http://schemas.openxmlformats.org/officeDocument/2006/relationships/image" Target="../media/image179.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87.emf"/><Relationship Id="rId3" Type="http://schemas.openxmlformats.org/officeDocument/2006/relationships/image" Target="../media/image182.wmf"/><Relationship Id="rId7" Type="http://schemas.openxmlformats.org/officeDocument/2006/relationships/image" Target="../media/image186.emf"/><Relationship Id="rId12" Type="http://schemas.openxmlformats.org/officeDocument/2006/relationships/image" Target="../media/image191.emf"/><Relationship Id="rId2" Type="http://schemas.openxmlformats.org/officeDocument/2006/relationships/image" Target="../media/image181.emf"/><Relationship Id="rId1" Type="http://schemas.openxmlformats.org/officeDocument/2006/relationships/image" Target="../media/image165.wmf"/><Relationship Id="rId6" Type="http://schemas.openxmlformats.org/officeDocument/2006/relationships/image" Target="../media/image185.emf"/><Relationship Id="rId11" Type="http://schemas.openxmlformats.org/officeDocument/2006/relationships/image" Target="../media/image190.emf"/><Relationship Id="rId5" Type="http://schemas.openxmlformats.org/officeDocument/2006/relationships/image" Target="../media/image184.emf"/><Relationship Id="rId10" Type="http://schemas.openxmlformats.org/officeDocument/2006/relationships/image" Target="../media/image189.emf"/><Relationship Id="rId4" Type="http://schemas.openxmlformats.org/officeDocument/2006/relationships/image" Target="../media/image183.wmf"/><Relationship Id="rId9" Type="http://schemas.openxmlformats.org/officeDocument/2006/relationships/image" Target="../media/image188.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02.wmf"/><Relationship Id="rId13" Type="http://schemas.openxmlformats.org/officeDocument/2006/relationships/image" Target="../media/image207.wmf"/><Relationship Id="rId3" Type="http://schemas.openxmlformats.org/officeDocument/2006/relationships/image" Target="../media/image197.wmf"/><Relationship Id="rId7" Type="http://schemas.openxmlformats.org/officeDocument/2006/relationships/image" Target="../media/image201.wmf"/><Relationship Id="rId12" Type="http://schemas.openxmlformats.org/officeDocument/2006/relationships/image" Target="../media/image206.wmf"/><Relationship Id="rId2" Type="http://schemas.openxmlformats.org/officeDocument/2006/relationships/image" Target="../media/image196.wmf"/><Relationship Id="rId1" Type="http://schemas.openxmlformats.org/officeDocument/2006/relationships/image" Target="../media/image195.png"/><Relationship Id="rId6" Type="http://schemas.openxmlformats.org/officeDocument/2006/relationships/image" Target="../media/image200.wmf"/><Relationship Id="rId11" Type="http://schemas.openxmlformats.org/officeDocument/2006/relationships/image" Target="../media/image205.wmf"/><Relationship Id="rId5" Type="http://schemas.openxmlformats.org/officeDocument/2006/relationships/image" Target="../media/image199.wmf"/><Relationship Id="rId10" Type="http://schemas.openxmlformats.org/officeDocument/2006/relationships/image" Target="../media/image204.png"/><Relationship Id="rId4" Type="http://schemas.openxmlformats.org/officeDocument/2006/relationships/image" Target="../media/image198.wmf"/><Relationship Id="rId9" Type="http://schemas.openxmlformats.org/officeDocument/2006/relationships/image" Target="../media/image203.wmf"/><Relationship Id="rId14" Type="http://schemas.openxmlformats.org/officeDocument/2006/relationships/image" Target="../media/image20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1.wmf"/><Relationship Id="rId7" Type="http://schemas.openxmlformats.org/officeDocument/2006/relationships/image" Target="../media/image215.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22.wmf"/><Relationship Id="rId3" Type="http://schemas.openxmlformats.org/officeDocument/2006/relationships/image" Target="../media/image218.wmf"/><Relationship Id="rId7" Type="http://schemas.openxmlformats.org/officeDocument/2006/relationships/image" Target="../media/image221.png"/><Relationship Id="rId12" Type="http://schemas.openxmlformats.org/officeDocument/2006/relationships/image" Target="../media/image226.wmf"/><Relationship Id="rId2" Type="http://schemas.openxmlformats.org/officeDocument/2006/relationships/image" Target="../media/image217.wmf"/><Relationship Id="rId1" Type="http://schemas.openxmlformats.org/officeDocument/2006/relationships/image" Target="../media/image216.wmf"/><Relationship Id="rId6" Type="http://schemas.openxmlformats.org/officeDocument/2006/relationships/image" Target="../media/image220.wmf"/><Relationship Id="rId11" Type="http://schemas.openxmlformats.org/officeDocument/2006/relationships/image" Target="../media/image225.wmf"/><Relationship Id="rId5" Type="http://schemas.openxmlformats.org/officeDocument/2006/relationships/image" Target="../media/image219.wmf"/><Relationship Id="rId10" Type="http://schemas.openxmlformats.org/officeDocument/2006/relationships/image" Target="../media/image224.wmf"/><Relationship Id="rId4" Type="http://schemas.openxmlformats.org/officeDocument/2006/relationships/image" Target="../media/image199.wmf"/><Relationship Id="rId9" Type="http://schemas.openxmlformats.org/officeDocument/2006/relationships/image" Target="../media/image223.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22.wmf"/><Relationship Id="rId13" Type="http://schemas.openxmlformats.org/officeDocument/2006/relationships/image" Target="../media/image229.wmf"/><Relationship Id="rId18" Type="http://schemas.openxmlformats.org/officeDocument/2006/relationships/image" Target="../media/image234.wmf"/><Relationship Id="rId3" Type="http://schemas.openxmlformats.org/officeDocument/2006/relationships/image" Target="../media/image218.wmf"/><Relationship Id="rId7" Type="http://schemas.openxmlformats.org/officeDocument/2006/relationships/image" Target="../media/image221.png"/><Relationship Id="rId12" Type="http://schemas.openxmlformats.org/officeDocument/2006/relationships/image" Target="../media/image228.wmf"/><Relationship Id="rId17" Type="http://schemas.openxmlformats.org/officeDocument/2006/relationships/image" Target="../media/image233.wmf"/><Relationship Id="rId2" Type="http://schemas.openxmlformats.org/officeDocument/2006/relationships/image" Target="../media/image217.wmf"/><Relationship Id="rId16" Type="http://schemas.openxmlformats.org/officeDocument/2006/relationships/image" Target="../media/image232.wmf"/><Relationship Id="rId1" Type="http://schemas.openxmlformats.org/officeDocument/2006/relationships/image" Target="../media/image216.wmf"/><Relationship Id="rId6" Type="http://schemas.openxmlformats.org/officeDocument/2006/relationships/image" Target="../media/image220.wmf"/><Relationship Id="rId11" Type="http://schemas.openxmlformats.org/officeDocument/2006/relationships/image" Target="../media/image227.png"/><Relationship Id="rId5" Type="http://schemas.openxmlformats.org/officeDocument/2006/relationships/image" Target="../media/image219.wmf"/><Relationship Id="rId15" Type="http://schemas.openxmlformats.org/officeDocument/2006/relationships/image" Target="../media/image231.wmf"/><Relationship Id="rId10" Type="http://schemas.openxmlformats.org/officeDocument/2006/relationships/image" Target="../media/image225.wmf"/><Relationship Id="rId19" Type="http://schemas.openxmlformats.org/officeDocument/2006/relationships/image" Target="../media/image235.wmf"/><Relationship Id="rId4" Type="http://schemas.openxmlformats.org/officeDocument/2006/relationships/image" Target="../media/image199.wmf"/><Relationship Id="rId9" Type="http://schemas.openxmlformats.org/officeDocument/2006/relationships/image" Target="../media/image223.wmf"/><Relationship Id="rId14" Type="http://schemas.openxmlformats.org/officeDocument/2006/relationships/image" Target="../media/image230.png"/></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02.wmf"/><Relationship Id="rId3" Type="http://schemas.openxmlformats.org/officeDocument/2006/relationships/image" Target="../media/image238.wmf"/><Relationship Id="rId7" Type="http://schemas.openxmlformats.org/officeDocument/2006/relationships/image" Target="../media/image241.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01.wmf"/><Relationship Id="rId11" Type="http://schemas.openxmlformats.org/officeDocument/2006/relationships/image" Target="../media/image243.wmf"/><Relationship Id="rId5" Type="http://schemas.openxmlformats.org/officeDocument/2006/relationships/image" Target="../media/image240.wmf"/><Relationship Id="rId10" Type="http://schemas.openxmlformats.org/officeDocument/2006/relationships/image" Target="../media/image242.wmf"/><Relationship Id="rId4" Type="http://schemas.openxmlformats.org/officeDocument/2006/relationships/image" Target="../media/image239.wmf"/><Relationship Id="rId9" Type="http://schemas.openxmlformats.org/officeDocument/2006/relationships/image" Target="../media/image199.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48.wmf"/><Relationship Id="rId3" Type="http://schemas.openxmlformats.org/officeDocument/2006/relationships/image" Target="../media/image219.wmf"/><Relationship Id="rId7" Type="http://schemas.openxmlformats.org/officeDocument/2006/relationships/image" Target="../media/image222.wmf"/><Relationship Id="rId2" Type="http://schemas.openxmlformats.org/officeDocument/2006/relationships/image" Target="../media/image244.wmf"/><Relationship Id="rId1" Type="http://schemas.openxmlformats.org/officeDocument/2006/relationships/image" Target="../media/image218.wmf"/><Relationship Id="rId6" Type="http://schemas.openxmlformats.org/officeDocument/2006/relationships/image" Target="../media/image247.wmf"/><Relationship Id="rId11" Type="http://schemas.openxmlformats.org/officeDocument/2006/relationships/image" Target="../media/image251.wmf"/><Relationship Id="rId5" Type="http://schemas.openxmlformats.org/officeDocument/2006/relationships/image" Target="../media/image246.wmf"/><Relationship Id="rId10" Type="http://schemas.openxmlformats.org/officeDocument/2006/relationships/image" Target="../media/image250.wmf"/><Relationship Id="rId4" Type="http://schemas.openxmlformats.org/officeDocument/2006/relationships/image" Target="../media/image245.png"/><Relationship Id="rId9" Type="http://schemas.openxmlformats.org/officeDocument/2006/relationships/image" Target="../media/image249.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image" Target="../media/image253.png"/><Relationship Id="rId7" Type="http://schemas.openxmlformats.org/officeDocument/2006/relationships/image" Target="../media/image248.wmf"/><Relationship Id="rId2" Type="http://schemas.openxmlformats.org/officeDocument/2006/relationships/image" Target="../media/image252.wmf"/><Relationship Id="rId1" Type="http://schemas.openxmlformats.org/officeDocument/2006/relationships/image" Target="../media/image218.wmf"/><Relationship Id="rId6" Type="http://schemas.openxmlformats.org/officeDocument/2006/relationships/image" Target="../media/image256.wmf"/><Relationship Id="rId5" Type="http://schemas.openxmlformats.org/officeDocument/2006/relationships/image" Target="../media/image255.wmf"/><Relationship Id="rId4" Type="http://schemas.openxmlformats.org/officeDocument/2006/relationships/image" Target="../media/image254.wmf"/><Relationship Id="rId9" Type="http://schemas.openxmlformats.org/officeDocument/2006/relationships/image" Target="../media/image258.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42.wmf"/><Relationship Id="rId3" Type="http://schemas.openxmlformats.org/officeDocument/2006/relationships/image" Target="../media/image260.wmf"/><Relationship Id="rId7" Type="http://schemas.openxmlformats.org/officeDocument/2006/relationships/image" Target="../media/image202.wmf"/><Relationship Id="rId2" Type="http://schemas.openxmlformats.org/officeDocument/2006/relationships/image" Target="../media/image238.wmf"/><Relationship Id="rId1" Type="http://schemas.openxmlformats.org/officeDocument/2006/relationships/image" Target="../media/image259.wmf"/><Relationship Id="rId6" Type="http://schemas.openxmlformats.org/officeDocument/2006/relationships/image" Target="../media/image262.wmf"/><Relationship Id="rId11" Type="http://schemas.openxmlformats.org/officeDocument/2006/relationships/image" Target="../media/image201.wmf"/><Relationship Id="rId5" Type="http://schemas.openxmlformats.org/officeDocument/2006/relationships/image" Target="../media/image261.wmf"/><Relationship Id="rId10" Type="http://schemas.openxmlformats.org/officeDocument/2006/relationships/image" Target="../media/image264.wmf"/><Relationship Id="rId4" Type="http://schemas.openxmlformats.org/officeDocument/2006/relationships/image" Target="../media/image199.wmf"/><Relationship Id="rId9" Type="http://schemas.openxmlformats.org/officeDocument/2006/relationships/image" Target="../media/image263.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270.wmf"/><Relationship Id="rId3" Type="http://schemas.openxmlformats.org/officeDocument/2006/relationships/image" Target="../media/image265.wmf"/><Relationship Id="rId7" Type="http://schemas.openxmlformats.org/officeDocument/2006/relationships/image" Target="../media/image269.wmf"/><Relationship Id="rId12" Type="http://schemas.openxmlformats.org/officeDocument/2006/relationships/image" Target="../media/image274.wmf"/><Relationship Id="rId2" Type="http://schemas.openxmlformats.org/officeDocument/2006/relationships/image" Target="../media/image199.wmf"/><Relationship Id="rId1" Type="http://schemas.openxmlformats.org/officeDocument/2006/relationships/image" Target="../media/image218.wmf"/><Relationship Id="rId6" Type="http://schemas.openxmlformats.org/officeDocument/2006/relationships/image" Target="../media/image268.wmf"/><Relationship Id="rId11" Type="http://schemas.openxmlformats.org/officeDocument/2006/relationships/image" Target="../media/image273.wmf"/><Relationship Id="rId5" Type="http://schemas.openxmlformats.org/officeDocument/2006/relationships/image" Target="../media/image267.wmf"/><Relationship Id="rId10" Type="http://schemas.openxmlformats.org/officeDocument/2006/relationships/image" Target="../media/image272.wmf"/><Relationship Id="rId4" Type="http://schemas.openxmlformats.org/officeDocument/2006/relationships/image" Target="../media/image266.wmf"/><Relationship Id="rId9" Type="http://schemas.openxmlformats.org/officeDocument/2006/relationships/image" Target="../media/image271.png"/></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44.wmf"/><Relationship Id="rId7" Type="http://schemas.openxmlformats.org/officeDocument/2006/relationships/image" Target="../media/image201.wmf"/><Relationship Id="rId2" Type="http://schemas.openxmlformats.org/officeDocument/2006/relationships/image" Target="../media/image260.wmf"/><Relationship Id="rId1" Type="http://schemas.openxmlformats.org/officeDocument/2006/relationships/image" Target="../media/image275.wmf"/><Relationship Id="rId6" Type="http://schemas.openxmlformats.org/officeDocument/2006/relationships/image" Target="../media/image277.wmf"/><Relationship Id="rId5" Type="http://schemas.openxmlformats.org/officeDocument/2006/relationships/image" Target="../media/image276.wmf"/><Relationship Id="rId4" Type="http://schemas.openxmlformats.org/officeDocument/2006/relationships/image" Target="../media/image238.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281.wmf"/><Relationship Id="rId13" Type="http://schemas.openxmlformats.org/officeDocument/2006/relationships/image" Target="../media/image284.wmf"/><Relationship Id="rId3" Type="http://schemas.openxmlformats.org/officeDocument/2006/relationships/image" Target="../media/image199.wmf"/><Relationship Id="rId7" Type="http://schemas.openxmlformats.org/officeDocument/2006/relationships/image" Target="../media/image280.wmf"/><Relationship Id="rId12" Type="http://schemas.openxmlformats.org/officeDocument/2006/relationships/image" Target="../media/image283.wmf"/><Relationship Id="rId17" Type="http://schemas.openxmlformats.org/officeDocument/2006/relationships/image" Target="../media/image243.wmf"/><Relationship Id="rId2" Type="http://schemas.openxmlformats.org/officeDocument/2006/relationships/image" Target="../media/image218.wmf"/><Relationship Id="rId16" Type="http://schemas.openxmlformats.org/officeDocument/2006/relationships/image" Target="../media/image201.wmf"/><Relationship Id="rId1" Type="http://schemas.openxmlformats.org/officeDocument/2006/relationships/image" Target="../media/image278.wmf"/><Relationship Id="rId6" Type="http://schemas.openxmlformats.org/officeDocument/2006/relationships/image" Target="../media/image219.wmf"/><Relationship Id="rId11" Type="http://schemas.openxmlformats.org/officeDocument/2006/relationships/image" Target="../media/image238.wmf"/><Relationship Id="rId5" Type="http://schemas.openxmlformats.org/officeDocument/2006/relationships/image" Target="../media/image202.wmf"/><Relationship Id="rId15" Type="http://schemas.openxmlformats.org/officeDocument/2006/relationships/image" Target="../media/image286.wmf"/><Relationship Id="rId10" Type="http://schemas.openxmlformats.org/officeDocument/2006/relationships/image" Target="../media/image242.wmf"/><Relationship Id="rId4" Type="http://schemas.openxmlformats.org/officeDocument/2006/relationships/image" Target="../media/image279.wmf"/><Relationship Id="rId9" Type="http://schemas.openxmlformats.org/officeDocument/2006/relationships/image" Target="../media/image282.wmf"/><Relationship Id="rId14" Type="http://schemas.openxmlformats.org/officeDocument/2006/relationships/image" Target="../media/image285.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292.wmf"/><Relationship Id="rId3" Type="http://schemas.openxmlformats.org/officeDocument/2006/relationships/image" Target="../media/image248.wmf"/><Relationship Id="rId7" Type="http://schemas.openxmlformats.org/officeDocument/2006/relationships/image" Target="../media/image291.wmf"/><Relationship Id="rId2" Type="http://schemas.openxmlformats.org/officeDocument/2006/relationships/image" Target="../media/image288.wmf"/><Relationship Id="rId1" Type="http://schemas.openxmlformats.org/officeDocument/2006/relationships/image" Target="../media/image287.wmf"/><Relationship Id="rId6" Type="http://schemas.openxmlformats.org/officeDocument/2006/relationships/image" Target="../media/image290.wmf"/><Relationship Id="rId5" Type="http://schemas.openxmlformats.org/officeDocument/2006/relationships/image" Target="../media/image289.wmf"/><Relationship Id="rId4" Type="http://schemas.openxmlformats.org/officeDocument/2006/relationships/image" Target="../media/image283.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199.wmf"/><Relationship Id="rId1" Type="http://schemas.openxmlformats.org/officeDocument/2006/relationships/image" Target="../media/image218.wmf"/><Relationship Id="rId6" Type="http://schemas.openxmlformats.org/officeDocument/2006/relationships/image" Target="../media/image295.wmf"/><Relationship Id="rId5" Type="http://schemas.openxmlformats.org/officeDocument/2006/relationships/image" Target="../media/image294.wmf"/><Relationship Id="rId4" Type="http://schemas.openxmlformats.org/officeDocument/2006/relationships/image" Target="../media/image248.w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298.wmf"/><Relationship Id="rId3" Type="http://schemas.openxmlformats.org/officeDocument/2006/relationships/image" Target="../media/image296.wmf"/><Relationship Id="rId7" Type="http://schemas.openxmlformats.org/officeDocument/2006/relationships/image" Target="../media/image264.wmf"/><Relationship Id="rId2" Type="http://schemas.openxmlformats.org/officeDocument/2006/relationships/image" Target="../media/image244.wmf"/><Relationship Id="rId1" Type="http://schemas.openxmlformats.org/officeDocument/2006/relationships/image" Target="../media/image260.wmf"/><Relationship Id="rId6" Type="http://schemas.openxmlformats.org/officeDocument/2006/relationships/image" Target="../media/image243.wmf"/><Relationship Id="rId5" Type="http://schemas.openxmlformats.org/officeDocument/2006/relationships/image" Target="../media/image201.wmf"/><Relationship Id="rId4" Type="http://schemas.openxmlformats.org/officeDocument/2006/relationships/image" Target="../media/image297.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48.wmf"/><Relationship Id="rId3" Type="http://schemas.openxmlformats.org/officeDocument/2006/relationships/image" Target="../media/image299.wmf"/><Relationship Id="rId7" Type="http://schemas.openxmlformats.org/officeDocument/2006/relationships/image" Target="../media/image300.wmf"/><Relationship Id="rId2" Type="http://schemas.openxmlformats.org/officeDocument/2006/relationships/image" Target="../media/image199.wmf"/><Relationship Id="rId1" Type="http://schemas.openxmlformats.org/officeDocument/2006/relationships/image" Target="../media/image218.wmf"/><Relationship Id="rId6" Type="http://schemas.openxmlformats.org/officeDocument/2006/relationships/image" Target="../media/image222.wmf"/><Relationship Id="rId5" Type="http://schemas.openxmlformats.org/officeDocument/2006/relationships/image" Target="../media/image298.wmf"/><Relationship Id="rId4" Type="http://schemas.openxmlformats.org/officeDocument/2006/relationships/image" Target="../media/image294.wmf"/><Relationship Id="rId9" Type="http://schemas.openxmlformats.org/officeDocument/2006/relationships/image" Target="../media/image30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303.png"/><Relationship Id="rId1" Type="http://schemas.openxmlformats.org/officeDocument/2006/relationships/image" Target="../media/image302.png"/><Relationship Id="rId6" Type="http://schemas.openxmlformats.org/officeDocument/2006/relationships/image" Target="../media/image305.wmf"/><Relationship Id="rId5" Type="http://schemas.openxmlformats.org/officeDocument/2006/relationships/image" Target="../media/image304.png"/><Relationship Id="rId4" Type="http://schemas.openxmlformats.org/officeDocument/2006/relationships/image" Target="../media/image300.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314.wmf"/><Relationship Id="rId1" Type="http://schemas.openxmlformats.org/officeDocument/2006/relationships/image" Target="../media/image313.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 Id="rId5" Type="http://schemas.openxmlformats.org/officeDocument/2006/relationships/image" Target="../media/image319.wmf"/><Relationship Id="rId4" Type="http://schemas.openxmlformats.org/officeDocument/2006/relationships/image" Target="../media/image318.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321.wmf"/><Relationship Id="rId7" Type="http://schemas.openxmlformats.org/officeDocument/2006/relationships/image" Target="../media/image325.wmf"/><Relationship Id="rId2" Type="http://schemas.openxmlformats.org/officeDocument/2006/relationships/image" Target="../media/image318.wmf"/><Relationship Id="rId1" Type="http://schemas.openxmlformats.org/officeDocument/2006/relationships/image" Target="../media/image320.wmf"/><Relationship Id="rId6" Type="http://schemas.openxmlformats.org/officeDocument/2006/relationships/image" Target="../media/image324.wmf"/><Relationship Id="rId5" Type="http://schemas.openxmlformats.org/officeDocument/2006/relationships/image" Target="../media/image323.wmf"/><Relationship Id="rId4" Type="http://schemas.openxmlformats.org/officeDocument/2006/relationships/image" Target="../media/image322.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22.wmf"/><Relationship Id="rId7" Type="http://schemas.openxmlformats.org/officeDocument/2006/relationships/image" Target="../media/image332.wmf"/><Relationship Id="rId2" Type="http://schemas.openxmlformats.org/officeDocument/2006/relationships/image" Target="../media/image328.wmf"/><Relationship Id="rId1" Type="http://schemas.openxmlformats.org/officeDocument/2006/relationships/image" Target="../media/image327.wmf"/><Relationship Id="rId6" Type="http://schemas.openxmlformats.org/officeDocument/2006/relationships/image" Target="../media/image331.wmf"/><Relationship Id="rId5" Type="http://schemas.openxmlformats.org/officeDocument/2006/relationships/image" Target="../media/image330.wmf"/><Relationship Id="rId4" Type="http://schemas.openxmlformats.org/officeDocument/2006/relationships/image" Target="../media/image329.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334.wmf"/><Relationship Id="rId2" Type="http://schemas.openxmlformats.org/officeDocument/2006/relationships/image" Target="../media/image321.wmf"/><Relationship Id="rId1" Type="http://schemas.openxmlformats.org/officeDocument/2006/relationships/image" Target="../media/image333.wmf"/><Relationship Id="rId4" Type="http://schemas.openxmlformats.org/officeDocument/2006/relationships/image" Target="../media/image335.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339.wmf"/><Relationship Id="rId1" Type="http://schemas.openxmlformats.org/officeDocument/2006/relationships/image" Target="../media/image338.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42.wmf"/><Relationship Id="rId2" Type="http://schemas.openxmlformats.org/officeDocument/2006/relationships/image" Target="../media/image341.wmf"/><Relationship Id="rId1" Type="http://schemas.openxmlformats.org/officeDocument/2006/relationships/image" Target="../media/image340.wmf"/><Relationship Id="rId5" Type="http://schemas.openxmlformats.org/officeDocument/2006/relationships/image" Target="../media/image344.wmf"/><Relationship Id="rId4" Type="http://schemas.openxmlformats.org/officeDocument/2006/relationships/image" Target="../media/image343.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47.wmf"/><Relationship Id="rId2" Type="http://schemas.openxmlformats.org/officeDocument/2006/relationships/image" Target="../media/image346.wmf"/><Relationship Id="rId1" Type="http://schemas.openxmlformats.org/officeDocument/2006/relationships/image" Target="../media/image345.wmf"/><Relationship Id="rId6" Type="http://schemas.openxmlformats.org/officeDocument/2006/relationships/image" Target="../media/image350.wmf"/><Relationship Id="rId5" Type="http://schemas.openxmlformats.org/officeDocument/2006/relationships/image" Target="../media/image349.wmf"/><Relationship Id="rId4" Type="http://schemas.openxmlformats.org/officeDocument/2006/relationships/image" Target="../media/image348.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353.wmf"/><Relationship Id="rId2" Type="http://schemas.openxmlformats.org/officeDocument/2006/relationships/image" Target="../media/image352.wmf"/><Relationship Id="rId1" Type="http://schemas.openxmlformats.org/officeDocument/2006/relationships/image" Target="../media/image351.w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355.wmf"/><Relationship Id="rId1" Type="http://schemas.openxmlformats.org/officeDocument/2006/relationships/image" Target="../media/image354.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356.wmf"/></Relationships>
</file>

<file path=ppt/drawings/_rels/vmlDrawing67.vml.rels><?xml version="1.0" encoding="UTF-8" standalone="yes"?>
<Relationships xmlns="http://schemas.openxmlformats.org/package/2006/relationships"><Relationship Id="rId2" Type="http://schemas.openxmlformats.org/officeDocument/2006/relationships/image" Target="../media/image358.wmf"/><Relationship Id="rId1" Type="http://schemas.openxmlformats.org/officeDocument/2006/relationships/image" Target="../media/image357.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360.wmf"/><Relationship Id="rId1" Type="http://schemas.openxmlformats.org/officeDocument/2006/relationships/image" Target="../media/image359.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53.wmf"/><Relationship Id="rId7" Type="http://schemas.openxmlformats.org/officeDocument/2006/relationships/image" Target="../media/image365.wmf"/><Relationship Id="rId2" Type="http://schemas.openxmlformats.org/officeDocument/2006/relationships/image" Target="../media/image362.wmf"/><Relationship Id="rId1" Type="http://schemas.openxmlformats.org/officeDocument/2006/relationships/image" Target="../media/image361.wmf"/><Relationship Id="rId6" Type="http://schemas.openxmlformats.org/officeDocument/2006/relationships/image" Target="../media/image357.wmf"/><Relationship Id="rId5" Type="http://schemas.openxmlformats.org/officeDocument/2006/relationships/image" Target="../media/image364.wmf"/><Relationship Id="rId4" Type="http://schemas.openxmlformats.org/officeDocument/2006/relationships/image" Target="../media/image363.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368.wmf"/><Relationship Id="rId2" Type="http://schemas.openxmlformats.org/officeDocument/2006/relationships/image" Target="../media/image367.wmf"/><Relationship Id="rId1" Type="http://schemas.openxmlformats.org/officeDocument/2006/relationships/image" Target="../media/image366.wmf"/><Relationship Id="rId5" Type="http://schemas.openxmlformats.org/officeDocument/2006/relationships/image" Target="../media/image369.wmf"/><Relationship Id="rId4" Type="http://schemas.openxmlformats.org/officeDocument/2006/relationships/image" Target="../media/image358.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372.wmf"/><Relationship Id="rId2" Type="http://schemas.openxmlformats.org/officeDocument/2006/relationships/image" Target="../media/image371.wmf"/><Relationship Id="rId1" Type="http://schemas.openxmlformats.org/officeDocument/2006/relationships/image" Target="../media/image370.w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375.wmf"/><Relationship Id="rId1" Type="http://schemas.openxmlformats.org/officeDocument/2006/relationships/image" Target="../media/image374.w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377.wmf"/><Relationship Id="rId1" Type="http://schemas.openxmlformats.org/officeDocument/2006/relationships/image" Target="../media/image376.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378.wmf"/><Relationship Id="rId1" Type="http://schemas.openxmlformats.org/officeDocument/2006/relationships/image" Target="../media/image376.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381.wmf"/><Relationship Id="rId2" Type="http://schemas.openxmlformats.org/officeDocument/2006/relationships/image" Target="../media/image380.wmf"/><Relationship Id="rId1" Type="http://schemas.openxmlformats.org/officeDocument/2006/relationships/image" Target="../media/image379.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383.wmf"/><Relationship Id="rId1" Type="http://schemas.openxmlformats.org/officeDocument/2006/relationships/image" Target="../media/image382.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385.wmf"/></Relationships>
</file>

<file path=ppt/drawings/_rels/vmlDrawing78.vml.rels><?xml version="1.0" encoding="UTF-8" standalone="yes"?>
<Relationships xmlns="http://schemas.openxmlformats.org/package/2006/relationships"><Relationship Id="rId2" Type="http://schemas.openxmlformats.org/officeDocument/2006/relationships/image" Target="../media/image394.wmf"/><Relationship Id="rId1" Type="http://schemas.openxmlformats.org/officeDocument/2006/relationships/image" Target="../media/image393.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395.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398.wmf"/><Relationship Id="rId1" Type="http://schemas.openxmlformats.org/officeDocument/2006/relationships/image" Target="../media/image397.w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401.wmf"/><Relationship Id="rId2" Type="http://schemas.openxmlformats.org/officeDocument/2006/relationships/image" Target="../media/image400.wmf"/><Relationship Id="rId1" Type="http://schemas.openxmlformats.org/officeDocument/2006/relationships/image" Target="../media/image399.w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407.wmf"/><Relationship Id="rId2" Type="http://schemas.openxmlformats.org/officeDocument/2006/relationships/image" Target="../media/image406.wmf"/><Relationship Id="rId1" Type="http://schemas.openxmlformats.org/officeDocument/2006/relationships/image" Target="../media/image405.w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408.w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409.w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411.w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414.w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3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5216BC-B17C-4E81-9A66-844FD5D923C8}" type="datetimeFigureOut">
              <a:rPr lang="zh-CN" altLang="en-US" smtClean="0"/>
              <a:pPr/>
              <a:t>2020/10/30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3983A3-3D52-4755-9314-E66397BAD73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46</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49</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50</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51</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52</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53</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56</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57</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58</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59</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60</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61</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62</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63</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64</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65</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66</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67</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68</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69</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70</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71</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72</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73</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74</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75</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76</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77</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78</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79</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80</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81</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82</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83</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84</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86</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87</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88</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89</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90</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91</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92</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93</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94</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95</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96</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97</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98</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99</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100</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101</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102</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103</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104</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105</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106</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107</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108</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109</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110</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111</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112</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113</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114</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115</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116</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117</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118</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119</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120</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121</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122</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123</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124</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125</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36E1E08-2769-45B4-A6C0-F00D8DDC4B44}" type="datetime10">
              <a:rPr lang="zh-CN" altLang="en-US" smtClean="0"/>
              <a:pPr/>
              <a:t>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F15593E-1FB3-4563-893F-1E1A5462D0D9}" type="datetime10">
              <a:rPr lang="zh-CN" altLang="en-US" smtClean="0"/>
              <a:pPr/>
              <a:t>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E263550-7AF9-440D-BE35-FD3A87BA4E8D}" type="datetime10">
              <a:rPr lang="zh-CN" altLang="en-US" smtClean="0"/>
              <a:pPr/>
              <a:t>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4FF5548-B767-4D34-A9D5-EF69D826DF6E}" type="datetime10">
              <a:rPr lang="zh-CN" altLang="en-US" smtClean="0"/>
              <a:pPr/>
              <a:t>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077EC8E-9EDF-45B2-B3AF-5BA07995A552}" type="datetime10">
              <a:rPr lang="zh-CN" altLang="en-US" smtClean="0"/>
              <a:pPr/>
              <a:t>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3FE1B5-D147-46E7-AB01-002960E63774}" type="datetime10">
              <a:rPr lang="zh-CN" altLang="en-US" smtClean="0"/>
              <a:pPr/>
              <a:t>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E7B078-F2B5-4122-ACEE-D414A7E7FB18}" type="datetime10">
              <a:rPr lang="zh-CN" altLang="en-US" smtClean="0"/>
              <a:pPr/>
              <a:t>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9E6BDB3-279E-466C-9FC2-7FDCDB45FE8A}" type="datetime10">
              <a:rPr lang="zh-CN" altLang="en-US" smtClean="0"/>
              <a:pPr/>
              <a:t>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F155FF-5D16-4466-A5B1-320EBD755CCF}" type="datetime10">
              <a:rPr lang="zh-CN" altLang="en-US" smtClean="0"/>
              <a:pPr/>
              <a:t>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95D1877-7B0E-463A-B1D4-F529B12222CA}" type="datetime10">
              <a:rPr lang="zh-CN" altLang="en-US" smtClean="0"/>
              <a:pPr/>
              <a:t>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F99C34E-50D9-46F7-9D15-2492416F81AC}" type="datetime10">
              <a:rPr lang="zh-CN" altLang="en-US" smtClean="0"/>
              <a:pPr/>
              <a:t>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2053" name="Rectangle 27"/>
          <p:cNvSpPr>
            <a:spLocks noGrp="1" noChangeArrowheads="1"/>
          </p:cNvSpPr>
          <p:nvPr>
            <p:ph type="ctrTitle"/>
          </p:nvPr>
        </p:nvSpPr>
        <p:spPr>
          <a:xfrm>
            <a:off x="468313" y="3000372"/>
            <a:ext cx="8207375" cy="960438"/>
          </a:xfrm>
          <a:ln w="9525"/>
        </p:spPr>
        <p:txBody>
          <a:bodyPr/>
          <a:lstStyle>
            <a:lvl1pPr>
              <a:defRPr sz="4400">
                <a:latin typeface="+mj-ea"/>
                <a:ea typeface="+mj-ea"/>
              </a:defRPr>
            </a:lvl1pPr>
          </a:lstStyle>
          <a:p>
            <a:r>
              <a:rPr lang="zh-CN" altLang="en-US"/>
              <a:t>单击此处编辑母版标题样式</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zh-CN" altLang="en-US"/>
              <a:t>单击此处编辑母版副标题样式</a:t>
            </a:r>
            <a:endParaRPr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lvl1pPr>
              <a:defRPr sz="3600">
                <a:latin typeface="+mj-ea"/>
                <a:ea typeface="+mj-ea"/>
              </a:defRPr>
            </a:lvl1pPr>
          </a:lstStyle>
          <a:p>
            <a:r>
              <a:rPr lang="zh-CN" altLang="en-US"/>
              <a:t>单击此处编辑母版标题样式</a:t>
            </a:r>
          </a:p>
        </p:txBody>
      </p:sp>
      <p:sp>
        <p:nvSpPr>
          <p:cNvPr id="3" name="内容占位符 2"/>
          <p:cNvSpPr>
            <a:spLocks noGrp="1"/>
          </p:cNvSpPr>
          <p:nvPr>
            <p:ph idx="1"/>
          </p:nvPr>
        </p:nvSpPr>
        <p:spPr/>
        <p:txBody>
          <a:bodyPr/>
          <a:lstStyle>
            <a:lvl1pPr>
              <a:buClrTx/>
              <a:defRPr>
                <a:solidFill>
                  <a:srgbClr val="C00000"/>
                </a:solidFill>
              </a:defRPr>
            </a:lvl1pPr>
            <a:lvl2pPr>
              <a:buClrTx/>
              <a:defRPr/>
            </a:lvl2pPr>
            <a:lvl3pPr>
              <a:buClrTx/>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2053" name="Rectangle 27"/>
          <p:cNvSpPr>
            <a:spLocks noGrp="1" noChangeArrowheads="1"/>
          </p:cNvSpPr>
          <p:nvPr>
            <p:ph type="ctrTitle"/>
          </p:nvPr>
        </p:nvSpPr>
        <p:spPr>
          <a:xfrm>
            <a:off x="468313" y="3000372"/>
            <a:ext cx="8207375" cy="960438"/>
          </a:xfrm>
          <a:ln w="9525"/>
        </p:spPr>
        <p:txBody>
          <a:bodyPr/>
          <a:lstStyle>
            <a:lvl1pPr>
              <a:defRPr sz="4400">
                <a:latin typeface="+mj-ea"/>
                <a:ea typeface="+mj-ea"/>
              </a:defRPr>
            </a:lvl1pPr>
          </a:lstStyle>
          <a:p>
            <a:r>
              <a:rPr lang="zh-CN" altLang="en-US"/>
              <a:t>单击此处编辑母版标题样式</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zh-CN" altLang="en-US"/>
              <a:t>单击此处编辑母版副标题样式</a:t>
            </a:r>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lvl1pPr>
              <a:defRPr sz="3600">
                <a:latin typeface="+mj-ea"/>
                <a:ea typeface="+mj-ea"/>
              </a:defRPr>
            </a:lvl1pPr>
          </a:lstStyle>
          <a:p>
            <a:r>
              <a:rPr lang="zh-CN" altLang="en-US"/>
              <a:t>单击此处编辑母版标题样式</a:t>
            </a:r>
          </a:p>
        </p:txBody>
      </p:sp>
      <p:sp>
        <p:nvSpPr>
          <p:cNvPr id="3" name="内容占位符 2"/>
          <p:cNvSpPr>
            <a:spLocks noGrp="1"/>
          </p:cNvSpPr>
          <p:nvPr>
            <p:ph idx="1"/>
          </p:nvPr>
        </p:nvSpPr>
        <p:spPr/>
        <p:txBody>
          <a:bodyPr/>
          <a:lstStyle>
            <a:lvl1pPr>
              <a:buClrTx/>
              <a:defRPr>
                <a:solidFill>
                  <a:srgbClr val="C00000"/>
                </a:solidFill>
              </a:defRPr>
            </a:lvl1pPr>
            <a:lvl2pPr>
              <a:buClrTx/>
              <a:defRPr/>
            </a:lvl2pPr>
            <a:lvl3pPr>
              <a:buClrTx/>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966036-97A7-4FAD-90F3-F5DC603FBC14}" type="datetime10">
              <a:rPr lang="zh-CN" altLang="en-US" smtClean="0"/>
              <a:pPr/>
              <a:t>10:10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rtl="0" eaLnBrk="0" hangingPunct="0">
              <a:defRPr/>
            </a:pPr>
            <a:r>
              <a:rPr lang="de-DE" altLang="en-US" sz="1000" kern="1200">
                <a:solidFill>
                  <a:srgbClr val="000000"/>
                </a:solidFill>
                <a:latin typeface="Arial"/>
                <a:ea typeface="华文细黑"/>
                <a:cs typeface="+mn-cs"/>
              </a:rPr>
              <a:t>Page </a:t>
            </a:r>
            <a:r>
              <a:rPr lang="de-DE" altLang="en-US" sz="1000" kern="1200">
                <a:solidFill>
                  <a:srgbClr val="000000"/>
                </a:solidFill>
                <a:latin typeface="Arial"/>
                <a:ea typeface="华文细黑"/>
                <a:cs typeface="+mn-cs"/>
                <a:sym typeface="MS UI Gothic" pitchFamily="34" charset="-128"/>
              </a:rPr>
              <a:t></a:t>
            </a:r>
            <a:r>
              <a:rPr lang="de-DE" altLang="en-US" sz="1000" kern="1200">
                <a:solidFill>
                  <a:srgbClr val="000000"/>
                </a:solidFill>
                <a:latin typeface="Arial"/>
                <a:ea typeface="华文细黑"/>
                <a:cs typeface="+mn-cs"/>
              </a:rPr>
              <a:t> </a:t>
            </a:r>
            <a:fld id="{79942497-7726-428B-B087-1DEFCAC66726}" type="slidenum">
              <a:rPr lang="zh-CN" altLang="en-US" sz="1000" kern="1200">
                <a:solidFill>
                  <a:srgbClr val="000000"/>
                </a:solidFill>
                <a:latin typeface="Arial"/>
                <a:ea typeface="华文细黑"/>
                <a:cs typeface="+mn-cs"/>
              </a:rPr>
              <a:pPr algn="ctr" rtl="0" eaLnBrk="0" hangingPunct="0">
                <a:defRPr/>
              </a:pPr>
              <a:t>‹#›</a:t>
            </a:fld>
            <a:endParaRPr lang="en-US" sz="1000" kern="1200">
              <a:solidFill>
                <a:srgbClr val="000000"/>
              </a:solidFill>
              <a:latin typeface="Arial"/>
              <a:ea typeface="华文细黑"/>
              <a:cs typeface="+mn-cs"/>
            </a:endParaRPr>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rtl="0" eaLnBrk="0" hangingPunct="0">
              <a:defRPr/>
            </a:pPr>
            <a:r>
              <a:rPr lang="de-DE" altLang="en-US" sz="1400" kern="1200">
                <a:solidFill>
                  <a:srgbClr val="000000"/>
                </a:solidFill>
                <a:latin typeface="Arial"/>
                <a:ea typeface="华文细黑"/>
                <a:cs typeface="+mn-cs"/>
              </a:rPr>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rtl="0">
              <a:defRPr/>
            </a:pPr>
            <a:endParaRPr lang="zh-CN" altLang="en-US" sz="2600" kern="1200">
              <a:solidFill>
                <a:srgbClr val="FFFFFF"/>
              </a:solidFill>
              <a:latin typeface="Arial"/>
              <a:ea typeface="黑体" pitchFamily="2" charset="-122"/>
              <a:cs typeface="+mn-cs"/>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rtl="0" eaLnBrk="0" hangingPunct="0">
              <a:defRPr/>
            </a:pPr>
            <a:r>
              <a:rPr lang="de-DE" altLang="en-US" sz="1000" kern="1200">
                <a:solidFill>
                  <a:srgbClr val="000000"/>
                </a:solidFill>
                <a:latin typeface="Arial"/>
                <a:ea typeface="华文细黑"/>
                <a:cs typeface="+mn-cs"/>
              </a:rPr>
              <a:t>Page </a:t>
            </a:r>
            <a:r>
              <a:rPr lang="de-DE" altLang="en-US" sz="1000" kern="1200">
                <a:solidFill>
                  <a:srgbClr val="000000"/>
                </a:solidFill>
                <a:latin typeface="Arial"/>
                <a:ea typeface="华文细黑"/>
                <a:cs typeface="+mn-cs"/>
                <a:sym typeface="MS UI Gothic" pitchFamily="34" charset="-128"/>
              </a:rPr>
              <a:t></a:t>
            </a:r>
            <a:r>
              <a:rPr lang="de-DE" altLang="en-US" sz="1000" kern="1200">
                <a:solidFill>
                  <a:srgbClr val="000000"/>
                </a:solidFill>
                <a:latin typeface="Arial"/>
                <a:ea typeface="华文细黑"/>
                <a:cs typeface="+mn-cs"/>
              </a:rPr>
              <a:t> </a:t>
            </a:r>
            <a:fld id="{79942497-7726-428B-B087-1DEFCAC66726}" type="slidenum">
              <a:rPr lang="zh-CN" altLang="en-US" sz="1000" kern="1200">
                <a:solidFill>
                  <a:srgbClr val="000000"/>
                </a:solidFill>
                <a:latin typeface="Arial"/>
                <a:ea typeface="华文细黑"/>
                <a:cs typeface="+mn-cs"/>
              </a:rPr>
              <a:pPr algn="ctr" rtl="0" eaLnBrk="0" hangingPunct="0">
                <a:defRPr/>
              </a:pPr>
              <a:t>‹#›</a:t>
            </a:fld>
            <a:endParaRPr lang="en-US" sz="1000" kern="1200">
              <a:solidFill>
                <a:srgbClr val="000000"/>
              </a:solidFill>
              <a:latin typeface="Arial"/>
              <a:ea typeface="华文细黑"/>
              <a:cs typeface="+mn-cs"/>
            </a:endParaRPr>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rtl="0" eaLnBrk="0" hangingPunct="0">
              <a:defRPr/>
            </a:pPr>
            <a:r>
              <a:rPr lang="de-DE" altLang="en-US" sz="1400" kern="1200">
                <a:solidFill>
                  <a:srgbClr val="000000"/>
                </a:solidFill>
                <a:latin typeface="Arial"/>
                <a:ea typeface="华文细黑"/>
                <a:cs typeface="+mn-cs"/>
              </a:rPr>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rtl="0">
              <a:defRPr/>
            </a:pPr>
            <a:endParaRPr lang="zh-CN" altLang="en-US" sz="2600" kern="1200">
              <a:solidFill>
                <a:srgbClr val="FFFFFF"/>
              </a:solidFill>
              <a:latin typeface="Arial"/>
              <a:ea typeface="黑体" pitchFamily="2" charset="-122"/>
              <a:cs typeface="+mn-cs"/>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1.wmf"/><Relationship Id="rId3" Type="http://schemas.openxmlformats.org/officeDocument/2006/relationships/notesSlide" Target="../notesSlides/notesSlide2.xml"/><Relationship Id="rId7" Type="http://schemas.openxmlformats.org/officeDocument/2006/relationships/image" Target="../media/image8.wmf"/><Relationship Id="rId12"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0.wmf"/><Relationship Id="rId5" Type="http://schemas.openxmlformats.org/officeDocument/2006/relationships/image" Target="../media/image7.wmf"/><Relationship Id="rId15" Type="http://schemas.openxmlformats.org/officeDocument/2006/relationships/image" Target="../media/image12.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9.png"/><Relationship Id="rId1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4.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image" Target="../media/image13.w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2.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image" Target="../media/image21.e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4.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image" Target="../media/image23.w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10.xml"/><Relationship Id="rId7" Type="http://schemas.openxmlformats.org/officeDocument/2006/relationships/image" Target="../media/image26.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14.bin"/><Relationship Id="rId11" Type="http://schemas.openxmlformats.org/officeDocument/2006/relationships/image" Target="../media/image28.wmf"/><Relationship Id="rId5" Type="http://schemas.openxmlformats.org/officeDocument/2006/relationships/image" Target="../media/image25.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27.wmf"/></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0.jpe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notesSlide" Target="../notesSlides/notesSlide18.xml"/><Relationship Id="rId7" Type="http://schemas.openxmlformats.org/officeDocument/2006/relationships/oleObject" Target="../embeddings/oleObject18.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38.wmf"/><Relationship Id="rId5" Type="http://schemas.openxmlformats.org/officeDocument/2006/relationships/oleObject" Target="../embeddings/oleObject17.bin"/><Relationship Id="rId10" Type="http://schemas.openxmlformats.org/officeDocument/2006/relationships/image" Target="../media/image40.wmf"/><Relationship Id="rId4" Type="http://schemas.openxmlformats.org/officeDocument/2006/relationships/image" Target="../media/image41.png"/><Relationship Id="rId9"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47.wmf"/><Relationship Id="rId3" Type="http://schemas.openxmlformats.org/officeDocument/2006/relationships/notesSlide" Target="../notesSlides/notesSlide27.xml"/><Relationship Id="rId7" Type="http://schemas.openxmlformats.org/officeDocument/2006/relationships/image" Target="../media/image44.wmf"/><Relationship Id="rId12"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oleObject" Target="../embeddings/oleObject21.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45.wmf"/><Relationship Id="rId1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3.wmf"/><Relationship Id="rId3" Type="http://schemas.openxmlformats.org/officeDocument/2006/relationships/notesSlide" Target="../notesSlides/notesSlide28.xml"/><Relationship Id="rId7" Type="http://schemas.openxmlformats.org/officeDocument/2006/relationships/image" Target="../media/image50.wmf"/><Relationship Id="rId12"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oleObject" Target="../embeddings/oleObject27.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54.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51.wmf"/><Relationship Id="rId14" Type="http://schemas.openxmlformats.org/officeDocument/2006/relationships/oleObject" Target="../embeddings/oleObject31.bin"/></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vmlDrawing" Target="../drawings/vmlDrawing9.vml"/><Relationship Id="rId5" Type="http://schemas.openxmlformats.org/officeDocument/2006/relationships/image" Target="../media/image55.wmf"/><Relationship Id="rId4" Type="http://schemas.openxmlformats.org/officeDocument/2006/relationships/oleObject" Target="../embeddings/oleObject32.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vmlDrawing" Target="../drawings/vmlDrawing10.vml"/><Relationship Id="rId5" Type="http://schemas.openxmlformats.org/officeDocument/2006/relationships/image" Target="../media/image56.wmf"/><Relationship Id="rId4" Type="http://schemas.openxmlformats.org/officeDocument/2006/relationships/oleObject" Target="../embeddings/oleObject3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59.png"/><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58.png"/><Relationship Id="rId5" Type="http://schemas.openxmlformats.org/officeDocument/2006/relationships/image" Target="../media/image57.wmf"/><Relationship Id="rId4" Type="http://schemas.openxmlformats.org/officeDocument/2006/relationships/oleObject" Target="../embeddings/oleObject34.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61.png"/><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image" Target="../media/image60.png"/><Relationship Id="rId5" Type="http://schemas.openxmlformats.org/officeDocument/2006/relationships/image" Target="../media/image57.wmf"/><Relationship Id="rId4" Type="http://schemas.openxmlformats.org/officeDocument/2006/relationships/oleObject" Target="../embeddings/oleObject35.bin"/></Relationships>
</file>

<file path=ppt/slides/_rels/slide38.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39.bin"/><Relationship Id="rId3" Type="http://schemas.openxmlformats.org/officeDocument/2006/relationships/notesSlide" Target="../notesSlides/notesSlide36.xml"/><Relationship Id="rId7" Type="http://schemas.openxmlformats.org/officeDocument/2006/relationships/oleObject" Target="../embeddings/oleObject36.bin"/><Relationship Id="rId12" Type="http://schemas.openxmlformats.org/officeDocument/2006/relationships/image" Target="../media/image64.wmf"/><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image" Target="../media/image66.png"/><Relationship Id="rId11" Type="http://schemas.openxmlformats.org/officeDocument/2006/relationships/oleObject" Target="../embeddings/oleObject38.bin"/><Relationship Id="rId5" Type="http://schemas.openxmlformats.org/officeDocument/2006/relationships/image" Target="../media/image61.png"/><Relationship Id="rId10" Type="http://schemas.openxmlformats.org/officeDocument/2006/relationships/image" Target="../media/image63.wmf"/><Relationship Id="rId4" Type="http://schemas.openxmlformats.org/officeDocument/2006/relationships/image" Target="../media/image60.png"/><Relationship Id="rId9" Type="http://schemas.openxmlformats.org/officeDocument/2006/relationships/oleObject" Target="../embeddings/oleObject37.bin"/><Relationship Id="rId14" Type="http://schemas.openxmlformats.org/officeDocument/2006/relationships/image" Target="../media/image65.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70.wmf"/><Relationship Id="rId3" Type="http://schemas.openxmlformats.org/officeDocument/2006/relationships/notesSlide" Target="../notesSlides/notesSlide37.xml"/><Relationship Id="rId7" Type="http://schemas.openxmlformats.org/officeDocument/2006/relationships/image" Target="../media/image67.wmf"/><Relationship Id="rId12" Type="http://schemas.openxmlformats.org/officeDocument/2006/relationships/oleObject" Target="../embeddings/oleObject43.bin"/><Relationship Id="rId17" Type="http://schemas.openxmlformats.org/officeDocument/2006/relationships/image" Target="../media/image72.wmf"/><Relationship Id="rId2" Type="http://schemas.openxmlformats.org/officeDocument/2006/relationships/slideLayout" Target="../slideLayouts/slideLayout13.xml"/><Relationship Id="rId16" Type="http://schemas.openxmlformats.org/officeDocument/2006/relationships/oleObject" Target="../embeddings/oleObject45.bin"/><Relationship Id="rId1" Type="http://schemas.openxmlformats.org/officeDocument/2006/relationships/vmlDrawing" Target="../drawings/vmlDrawing14.vml"/><Relationship Id="rId6" Type="http://schemas.openxmlformats.org/officeDocument/2006/relationships/oleObject" Target="../embeddings/oleObject40.bin"/><Relationship Id="rId11" Type="http://schemas.openxmlformats.org/officeDocument/2006/relationships/image" Target="../media/image69.wmf"/><Relationship Id="rId5" Type="http://schemas.openxmlformats.org/officeDocument/2006/relationships/image" Target="../media/image61.png"/><Relationship Id="rId15" Type="http://schemas.openxmlformats.org/officeDocument/2006/relationships/image" Target="../media/image71.wmf"/><Relationship Id="rId10" Type="http://schemas.openxmlformats.org/officeDocument/2006/relationships/oleObject" Target="../embeddings/oleObject42.bin"/><Relationship Id="rId4" Type="http://schemas.openxmlformats.org/officeDocument/2006/relationships/image" Target="../media/image60.png"/><Relationship Id="rId9" Type="http://schemas.openxmlformats.org/officeDocument/2006/relationships/image" Target="../media/image68.wmf"/><Relationship Id="rId14" Type="http://schemas.openxmlformats.org/officeDocument/2006/relationships/oleObject" Target="../embeddings/oleObject44.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70.wmf"/><Relationship Id="rId18" Type="http://schemas.openxmlformats.org/officeDocument/2006/relationships/oleObject" Target="../embeddings/oleObject52.bin"/><Relationship Id="rId3" Type="http://schemas.openxmlformats.org/officeDocument/2006/relationships/notesSlide" Target="../notesSlides/notesSlide38.xml"/><Relationship Id="rId21" Type="http://schemas.openxmlformats.org/officeDocument/2006/relationships/image" Target="../media/image77.wmf"/><Relationship Id="rId7" Type="http://schemas.openxmlformats.org/officeDocument/2006/relationships/image" Target="../media/image73.wmf"/><Relationship Id="rId12" Type="http://schemas.openxmlformats.org/officeDocument/2006/relationships/oleObject" Target="../embeddings/oleObject49.bin"/><Relationship Id="rId17" Type="http://schemas.openxmlformats.org/officeDocument/2006/relationships/image" Target="../media/image75.wmf"/><Relationship Id="rId2" Type="http://schemas.openxmlformats.org/officeDocument/2006/relationships/slideLayout" Target="../slideLayouts/slideLayout13.xml"/><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vmlDrawing" Target="../drawings/vmlDrawing15.vml"/><Relationship Id="rId6" Type="http://schemas.openxmlformats.org/officeDocument/2006/relationships/oleObject" Target="../embeddings/oleObject46.bin"/><Relationship Id="rId11" Type="http://schemas.openxmlformats.org/officeDocument/2006/relationships/image" Target="../media/image69.wmf"/><Relationship Id="rId5" Type="http://schemas.openxmlformats.org/officeDocument/2006/relationships/image" Target="../media/image61.png"/><Relationship Id="rId15" Type="http://schemas.openxmlformats.org/officeDocument/2006/relationships/image" Target="../media/image74.wmf"/><Relationship Id="rId10" Type="http://schemas.openxmlformats.org/officeDocument/2006/relationships/oleObject" Target="../embeddings/oleObject48.bin"/><Relationship Id="rId19" Type="http://schemas.openxmlformats.org/officeDocument/2006/relationships/image" Target="../media/image76.wmf"/><Relationship Id="rId4" Type="http://schemas.openxmlformats.org/officeDocument/2006/relationships/image" Target="../media/image60.png"/><Relationship Id="rId9" Type="http://schemas.openxmlformats.org/officeDocument/2006/relationships/image" Target="../media/image68.wmf"/><Relationship Id="rId14" Type="http://schemas.openxmlformats.org/officeDocument/2006/relationships/oleObject" Target="../embeddings/oleObject50.bin"/></Relationships>
</file>

<file path=ppt/slides/_rels/slide41.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notesSlide" Target="../notesSlides/notesSlide39.xml"/><Relationship Id="rId7" Type="http://schemas.openxmlformats.org/officeDocument/2006/relationships/oleObject" Target="../embeddings/oleObject55.bin"/><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image" Target="../media/image78.wmf"/><Relationship Id="rId5" Type="http://schemas.openxmlformats.org/officeDocument/2006/relationships/oleObject" Target="../embeddings/oleObject54.bin"/><Relationship Id="rId4" Type="http://schemas.openxmlformats.org/officeDocument/2006/relationships/image" Target="../media/image60.png"/><Relationship Id="rId9" Type="http://schemas.openxmlformats.org/officeDocument/2006/relationships/image" Target="../media/image80.png"/></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84.wmf"/><Relationship Id="rId3" Type="http://schemas.openxmlformats.org/officeDocument/2006/relationships/notesSlide" Target="../notesSlides/notesSlide40.xml"/><Relationship Id="rId7" Type="http://schemas.openxmlformats.org/officeDocument/2006/relationships/image" Target="../media/image81.wmf"/><Relationship Id="rId12" Type="http://schemas.openxmlformats.org/officeDocument/2006/relationships/oleObject" Target="../embeddings/oleObject60.bin"/><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oleObject" Target="../embeddings/oleObject57.bin"/><Relationship Id="rId11" Type="http://schemas.openxmlformats.org/officeDocument/2006/relationships/image" Target="../media/image83.wmf"/><Relationship Id="rId5" Type="http://schemas.openxmlformats.org/officeDocument/2006/relationships/image" Target="../media/image56.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82.wmf"/></Relationships>
</file>

<file path=ppt/slides/_rels/slide43.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65.bin"/><Relationship Id="rId3" Type="http://schemas.openxmlformats.org/officeDocument/2006/relationships/notesSlide" Target="../notesSlides/notesSlide41.xml"/><Relationship Id="rId7" Type="http://schemas.openxmlformats.org/officeDocument/2006/relationships/oleObject" Target="../embeddings/oleObject62.bin"/><Relationship Id="rId12" Type="http://schemas.openxmlformats.org/officeDocument/2006/relationships/image" Target="../media/image88.wmf"/><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90.png"/><Relationship Id="rId11" Type="http://schemas.openxmlformats.org/officeDocument/2006/relationships/oleObject" Target="../embeddings/oleObject64.bin"/><Relationship Id="rId5" Type="http://schemas.openxmlformats.org/officeDocument/2006/relationships/image" Target="../media/image85.wmf"/><Relationship Id="rId10" Type="http://schemas.openxmlformats.org/officeDocument/2006/relationships/image" Target="../media/image87.wmf"/><Relationship Id="rId4" Type="http://schemas.openxmlformats.org/officeDocument/2006/relationships/oleObject" Target="../embeddings/oleObject61.bin"/><Relationship Id="rId9" Type="http://schemas.openxmlformats.org/officeDocument/2006/relationships/oleObject" Target="../embeddings/oleObject63.bin"/><Relationship Id="rId14" Type="http://schemas.openxmlformats.org/officeDocument/2006/relationships/image" Target="../media/image89.wmf"/></Relationships>
</file>

<file path=ppt/slides/_rels/slide44.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70.bin"/><Relationship Id="rId18" Type="http://schemas.openxmlformats.org/officeDocument/2006/relationships/image" Target="../media/image97.wmf"/><Relationship Id="rId3" Type="http://schemas.openxmlformats.org/officeDocument/2006/relationships/notesSlide" Target="../notesSlides/notesSlide42.xml"/><Relationship Id="rId7" Type="http://schemas.openxmlformats.org/officeDocument/2006/relationships/oleObject" Target="../embeddings/oleObject67.bin"/><Relationship Id="rId12" Type="http://schemas.openxmlformats.org/officeDocument/2006/relationships/image" Target="../media/image94.wmf"/><Relationship Id="rId17" Type="http://schemas.openxmlformats.org/officeDocument/2006/relationships/oleObject" Target="../embeddings/oleObject72.bin"/><Relationship Id="rId2" Type="http://schemas.openxmlformats.org/officeDocument/2006/relationships/slideLayout" Target="../slideLayouts/slideLayout13.xml"/><Relationship Id="rId16" Type="http://schemas.openxmlformats.org/officeDocument/2006/relationships/image" Target="../media/image96.wmf"/><Relationship Id="rId1" Type="http://schemas.openxmlformats.org/officeDocument/2006/relationships/vmlDrawing" Target="../drawings/vmlDrawing19.vml"/><Relationship Id="rId6" Type="http://schemas.openxmlformats.org/officeDocument/2006/relationships/image" Target="../media/image90.png"/><Relationship Id="rId11" Type="http://schemas.openxmlformats.org/officeDocument/2006/relationships/oleObject" Target="../embeddings/oleObject69.bin"/><Relationship Id="rId5" Type="http://schemas.openxmlformats.org/officeDocument/2006/relationships/image" Target="../media/image91.wmf"/><Relationship Id="rId15" Type="http://schemas.openxmlformats.org/officeDocument/2006/relationships/oleObject" Target="../embeddings/oleObject71.bin"/><Relationship Id="rId10" Type="http://schemas.openxmlformats.org/officeDocument/2006/relationships/image" Target="../media/image93.wmf"/><Relationship Id="rId4" Type="http://schemas.openxmlformats.org/officeDocument/2006/relationships/oleObject" Target="../embeddings/oleObject66.bin"/><Relationship Id="rId9" Type="http://schemas.openxmlformats.org/officeDocument/2006/relationships/oleObject" Target="../embeddings/oleObject68.bin"/><Relationship Id="rId14" Type="http://schemas.openxmlformats.org/officeDocument/2006/relationships/image" Target="../media/image95.wmf"/></Relationships>
</file>

<file path=ppt/slides/_rels/slide45.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77.bin"/><Relationship Id="rId3" Type="http://schemas.openxmlformats.org/officeDocument/2006/relationships/notesSlide" Target="../notesSlides/notesSlide43.xml"/><Relationship Id="rId7" Type="http://schemas.openxmlformats.org/officeDocument/2006/relationships/oleObject" Target="../embeddings/oleObject74.bin"/><Relationship Id="rId12" Type="http://schemas.openxmlformats.org/officeDocument/2006/relationships/image" Target="../media/image100.wmf"/><Relationship Id="rId2" Type="http://schemas.openxmlformats.org/officeDocument/2006/relationships/slideLayout" Target="../slideLayouts/slideLayout13.xml"/><Relationship Id="rId16" Type="http://schemas.openxmlformats.org/officeDocument/2006/relationships/image" Target="../media/image102.wmf"/><Relationship Id="rId1" Type="http://schemas.openxmlformats.org/officeDocument/2006/relationships/vmlDrawing" Target="../drawings/vmlDrawing20.vml"/><Relationship Id="rId6" Type="http://schemas.openxmlformats.org/officeDocument/2006/relationships/image" Target="../media/image92.wmf"/><Relationship Id="rId11" Type="http://schemas.openxmlformats.org/officeDocument/2006/relationships/oleObject" Target="../embeddings/oleObject76.bin"/><Relationship Id="rId5" Type="http://schemas.openxmlformats.org/officeDocument/2006/relationships/oleObject" Target="../embeddings/oleObject73.bin"/><Relationship Id="rId15" Type="http://schemas.openxmlformats.org/officeDocument/2006/relationships/oleObject" Target="../embeddings/oleObject78.bin"/><Relationship Id="rId10" Type="http://schemas.openxmlformats.org/officeDocument/2006/relationships/image" Target="../media/image99.wmf"/><Relationship Id="rId4" Type="http://schemas.openxmlformats.org/officeDocument/2006/relationships/image" Target="../media/image90.png"/><Relationship Id="rId9" Type="http://schemas.openxmlformats.org/officeDocument/2006/relationships/oleObject" Target="../embeddings/oleObject75.bin"/><Relationship Id="rId14" Type="http://schemas.openxmlformats.org/officeDocument/2006/relationships/image" Target="../media/image101.w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104.wmf"/><Relationship Id="rId2" Type="http://schemas.openxmlformats.org/officeDocument/2006/relationships/slideLayout" Target="../slideLayouts/slideLayout13.xml"/><Relationship Id="rId1" Type="http://schemas.openxmlformats.org/officeDocument/2006/relationships/vmlDrawing" Target="../drawings/vmlDrawing21.vml"/><Relationship Id="rId6" Type="http://schemas.openxmlformats.org/officeDocument/2006/relationships/oleObject" Target="../embeddings/oleObject80.bin"/><Relationship Id="rId5" Type="http://schemas.openxmlformats.org/officeDocument/2006/relationships/image" Target="../media/image103.wmf"/><Relationship Id="rId4" Type="http://schemas.openxmlformats.org/officeDocument/2006/relationships/oleObject" Target="../embeddings/oleObject79.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07.wmf"/><Relationship Id="rId3" Type="http://schemas.openxmlformats.org/officeDocument/2006/relationships/notesSlide" Target="../notesSlides/notesSlide45.xml"/><Relationship Id="rId7" Type="http://schemas.openxmlformats.org/officeDocument/2006/relationships/image" Target="../media/image104.wmf"/><Relationship Id="rId12" Type="http://schemas.openxmlformats.org/officeDocument/2006/relationships/oleObject" Target="../embeddings/oleObject85.bin"/><Relationship Id="rId2" Type="http://schemas.openxmlformats.org/officeDocument/2006/relationships/slideLayout" Target="../slideLayouts/slideLayout13.xml"/><Relationship Id="rId1" Type="http://schemas.openxmlformats.org/officeDocument/2006/relationships/vmlDrawing" Target="../drawings/vmlDrawing22.vml"/><Relationship Id="rId6" Type="http://schemas.openxmlformats.org/officeDocument/2006/relationships/oleObject" Target="../embeddings/oleObject82.bin"/><Relationship Id="rId11" Type="http://schemas.openxmlformats.org/officeDocument/2006/relationships/image" Target="../media/image106.wmf"/><Relationship Id="rId5" Type="http://schemas.openxmlformats.org/officeDocument/2006/relationships/image" Target="../media/image103.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105.wmf"/></Relationships>
</file>

<file path=ppt/slides/_rels/slide48.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notesSlide" Target="../notesSlides/notesSlide46.xml"/><Relationship Id="rId7" Type="http://schemas.openxmlformats.org/officeDocument/2006/relationships/oleObject" Target="../embeddings/oleObject88.bin"/><Relationship Id="rId12" Type="http://schemas.openxmlformats.org/officeDocument/2006/relationships/image" Target="../media/image110.wmf"/><Relationship Id="rId2" Type="http://schemas.openxmlformats.org/officeDocument/2006/relationships/slideLayout" Target="../slideLayouts/slideLayout13.xml"/><Relationship Id="rId1" Type="http://schemas.openxmlformats.org/officeDocument/2006/relationships/vmlDrawing" Target="../drawings/vmlDrawing23.vml"/><Relationship Id="rId6" Type="http://schemas.openxmlformats.org/officeDocument/2006/relationships/oleObject" Target="../embeddings/oleObject87.bin"/><Relationship Id="rId11" Type="http://schemas.openxmlformats.org/officeDocument/2006/relationships/oleObject" Target="../embeddings/oleObject90.bin"/><Relationship Id="rId5" Type="http://schemas.openxmlformats.org/officeDocument/2006/relationships/image" Target="../media/image104.wmf"/><Relationship Id="rId10" Type="http://schemas.openxmlformats.org/officeDocument/2006/relationships/image" Target="../media/image109.wmf"/><Relationship Id="rId4" Type="http://schemas.openxmlformats.org/officeDocument/2006/relationships/oleObject" Target="../embeddings/oleObject86.bin"/><Relationship Id="rId9" Type="http://schemas.openxmlformats.org/officeDocument/2006/relationships/oleObject" Target="../embeddings/oleObject89.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93.bin"/><Relationship Id="rId13" Type="http://schemas.openxmlformats.org/officeDocument/2006/relationships/image" Target="../media/image115.wmf"/><Relationship Id="rId18" Type="http://schemas.openxmlformats.org/officeDocument/2006/relationships/oleObject" Target="../embeddings/oleObject98.bin"/><Relationship Id="rId3" Type="http://schemas.openxmlformats.org/officeDocument/2006/relationships/notesSlide" Target="../notesSlides/notesSlide47.xml"/><Relationship Id="rId7" Type="http://schemas.openxmlformats.org/officeDocument/2006/relationships/image" Target="../media/image112.wmf"/><Relationship Id="rId12" Type="http://schemas.openxmlformats.org/officeDocument/2006/relationships/oleObject" Target="../embeddings/oleObject95.bin"/><Relationship Id="rId17" Type="http://schemas.openxmlformats.org/officeDocument/2006/relationships/image" Target="../media/image117.wmf"/><Relationship Id="rId2" Type="http://schemas.openxmlformats.org/officeDocument/2006/relationships/slideLayout" Target="../slideLayouts/slideLayout13.xml"/><Relationship Id="rId16" Type="http://schemas.openxmlformats.org/officeDocument/2006/relationships/oleObject" Target="../embeddings/oleObject97.bin"/><Relationship Id="rId1" Type="http://schemas.openxmlformats.org/officeDocument/2006/relationships/vmlDrawing" Target="../drawings/vmlDrawing24.vml"/><Relationship Id="rId6" Type="http://schemas.openxmlformats.org/officeDocument/2006/relationships/oleObject" Target="../embeddings/oleObject92.bin"/><Relationship Id="rId11" Type="http://schemas.openxmlformats.org/officeDocument/2006/relationships/image" Target="../media/image114.wmf"/><Relationship Id="rId5" Type="http://schemas.openxmlformats.org/officeDocument/2006/relationships/image" Target="../media/image111.wmf"/><Relationship Id="rId15" Type="http://schemas.openxmlformats.org/officeDocument/2006/relationships/image" Target="../media/image116.wmf"/><Relationship Id="rId10" Type="http://schemas.openxmlformats.org/officeDocument/2006/relationships/oleObject" Target="../embeddings/oleObject94.bin"/><Relationship Id="rId19" Type="http://schemas.openxmlformats.org/officeDocument/2006/relationships/image" Target="../media/image118.wmf"/><Relationship Id="rId4" Type="http://schemas.openxmlformats.org/officeDocument/2006/relationships/oleObject" Target="../embeddings/oleObject91.bin"/><Relationship Id="rId9" Type="http://schemas.openxmlformats.org/officeDocument/2006/relationships/image" Target="../media/image113.wmf"/><Relationship Id="rId14" Type="http://schemas.openxmlformats.org/officeDocument/2006/relationships/oleObject" Target="../embeddings/oleObject96.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01.bin"/><Relationship Id="rId13" Type="http://schemas.openxmlformats.org/officeDocument/2006/relationships/image" Target="../media/image121.wmf"/><Relationship Id="rId3" Type="http://schemas.openxmlformats.org/officeDocument/2006/relationships/notesSlide" Target="../notesSlides/notesSlide48.xml"/><Relationship Id="rId7" Type="http://schemas.openxmlformats.org/officeDocument/2006/relationships/image" Target="../media/image112.wmf"/><Relationship Id="rId12" Type="http://schemas.openxmlformats.org/officeDocument/2006/relationships/oleObject" Target="../embeddings/oleObject103.bin"/><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oleObject" Target="../embeddings/oleObject100.bin"/><Relationship Id="rId11" Type="http://schemas.openxmlformats.org/officeDocument/2006/relationships/image" Target="../media/image120.wmf"/><Relationship Id="rId5" Type="http://schemas.openxmlformats.org/officeDocument/2006/relationships/image" Target="../media/image111.wmf"/><Relationship Id="rId15" Type="http://schemas.openxmlformats.org/officeDocument/2006/relationships/image" Target="../media/image122.wmf"/><Relationship Id="rId10" Type="http://schemas.openxmlformats.org/officeDocument/2006/relationships/oleObject" Target="../embeddings/oleObject102.bin"/><Relationship Id="rId4" Type="http://schemas.openxmlformats.org/officeDocument/2006/relationships/oleObject" Target="../embeddings/oleObject99.bin"/><Relationship Id="rId9" Type="http://schemas.openxmlformats.org/officeDocument/2006/relationships/image" Target="../media/image119.wmf"/><Relationship Id="rId14" Type="http://schemas.openxmlformats.org/officeDocument/2006/relationships/oleObject" Target="../embeddings/oleObject104.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127.wmf"/><Relationship Id="rId3" Type="http://schemas.openxmlformats.org/officeDocument/2006/relationships/notesSlide" Target="../notesSlides/notesSlide49.xml"/><Relationship Id="rId7" Type="http://schemas.openxmlformats.org/officeDocument/2006/relationships/image" Target="../media/image124.wmf"/><Relationship Id="rId12" Type="http://schemas.openxmlformats.org/officeDocument/2006/relationships/oleObject" Target="../embeddings/oleObject109.bin"/><Relationship Id="rId17" Type="http://schemas.openxmlformats.org/officeDocument/2006/relationships/image" Target="../media/image129.wmf"/><Relationship Id="rId2" Type="http://schemas.openxmlformats.org/officeDocument/2006/relationships/slideLayout" Target="../slideLayouts/slideLayout13.xml"/><Relationship Id="rId16" Type="http://schemas.openxmlformats.org/officeDocument/2006/relationships/oleObject" Target="../embeddings/oleObject111.bin"/><Relationship Id="rId1" Type="http://schemas.openxmlformats.org/officeDocument/2006/relationships/vmlDrawing" Target="../drawings/vmlDrawing26.vml"/><Relationship Id="rId6" Type="http://schemas.openxmlformats.org/officeDocument/2006/relationships/oleObject" Target="../embeddings/oleObject106.bin"/><Relationship Id="rId11" Type="http://schemas.openxmlformats.org/officeDocument/2006/relationships/image" Target="../media/image126.wmf"/><Relationship Id="rId5" Type="http://schemas.openxmlformats.org/officeDocument/2006/relationships/image" Target="../media/image123.wmf"/><Relationship Id="rId15" Type="http://schemas.openxmlformats.org/officeDocument/2006/relationships/image" Target="../media/image128.wmf"/><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125.wmf"/><Relationship Id="rId14" Type="http://schemas.openxmlformats.org/officeDocument/2006/relationships/oleObject" Target="../embeddings/oleObject110.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image" Target="../media/image132.wmf"/><Relationship Id="rId3" Type="http://schemas.openxmlformats.org/officeDocument/2006/relationships/notesSlide" Target="../notesSlides/notesSlide50.xml"/><Relationship Id="rId7" Type="http://schemas.openxmlformats.org/officeDocument/2006/relationships/image" Target="../media/image112.wmf"/><Relationship Id="rId12" Type="http://schemas.openxmlformats.org/officeDocument/2006/relationships/oleObject" Target="../embeddings/oleObject116.bin"/><Relationship Id="rId17" Type="http://schemas.openxmlformats.org/officeDocument/2006/relationships/image" Target="../media/image134.wmf"/><Relationship Id="rId2" Type="http://schemas.openxmlformats.org/officeDocument/2006/relationships/slideLayout" Target="../slideLayouts/slideLayout13.xml"/><Relationship Id="rId16" Type="http://schemas.openxmlformats.org/officeDocument/2006/relationships/oleObject" Target="../embeddings/oleObject118.bin"/><Relationship Id="rId1" Type="http://schemas.openxmlformats.org/officeDocument/2006/relationships/vmlDrawing" Target="../drawings/vmlDrawing27.vml"/><Relationship Id="rId6" Type="http://schemas.openxmlformats.org/officeDocument/2006/relationships/oleObject" Target="../embeddings/oleObject113.bin"/><Relationship Id="rId11" Type="http://schemas.openxmlformats.org/officeDocument/2006/relationships/image" Target="../media/image131.wmf"/><Relationship Id="rId5" Type="http://schemas.openxmlformats.org/officeDocument/2006/relationships/image" Target="../media/image111.wmf"/><Relationship Id="rId15" Type="http://schemas.openxmlformats.org/officeDocument/2006/relationships/image" Target="../media/image133.wmf"/><Relationship Id="rId10" Type="http://schemas.openxmlformats.org/officeDocument/2006/relationships/oleObject" Target="../embeddings/oleObject115.bin"/><Relationship Id="rId4" Type="http://schemas.openxmlformats.org/officeDocument/2006/relationships/oleObject" Target="../embeddings/oleObject112.bin"/><Relationship Id="rId9" Type="http://schemas.openxmlformats.org/officeDocument/2006/relationships/image" Target="../media/image130.wmf"/><Relationship Id="rId14" Type="http://schemas.openxmlformats.org/officeDocument/2006/relationships/oleObject" Target="../embeddings/oleObject117.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39.wmf"/><Relationship Id="rId3" Type="http://schemas.openxmlformats.org/officeDocument/2006/relationships/notesSlide" Target="../notesSlides/notesSlide52.xml"/><Relationship Id="rId7" Type="http://schemas.openxmlformats.org/officeDocument/2006/relationships/image" Target="../media/image136.wmf"/><Relationship Id="rId12" Type="http://schemas.openxmlformats.org/officeDocument/2006/relationships/oleObject" Target="../embeddings/oleObject123.bin"/><Relationship Id="rId2" Type="http://schemas.openxmlformats.org/officeDocument/2006/relationships/slideLayout" Target="../slideLayouts/slideLayout13.xml"/><Relationship Id="rId1" Type="http://schemas.openxmlformats.org/officeDocument/2006/relationships/vmlDrawing" Target="../drawings/vmlDrawing28.vml"/><Relationship Id="rId6" Type="http://schemas.openxmlformats.org/officeDocument/2006/relationships/oleObject" Target="../embeddings/oleObject120.bin"/><Relationship Id="rId11" Type="http://schemas.openxmlformats.org/officeDocument/2006/relationships/image" Target="../media/image138.wmf"/><Relationship Id="rId5" Type="http://schemas.openxmlformats.org/officeDocument/2006/relationships/image" Target="../media/image135.wmf"/><Relationship Id="rId15" Type="http://schemas.openxmlformats.org/officeDocument/2006/relationships/image" Target="../media/image140.w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37.wmf"/><Relationship Id="rId14" Type="http://schemas.openxmlformats.org/officeDocument/2006/relationships/oleObject" Target="../embeddings/oleObject124.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45.wmf"/><Relationship Id="rId3" Type="http://schemas.openxmlformats.org/officeDocument/2006/relationships/notesSlide" Target="../notesSlides/notesSlide53.xml"/><Relationship Id="rId7" Type="http://schemas.openxmlformats.org/officeDocument/2006/relationships/image" Target="../media/image142.wmf"/><Relationship Id="rId12" Type="http://schemas.openxmlformats.org/officeDocument/2006/relationships/oleObject" Target="../embeddings/oleObject129.bin"/><Relationship Id="rId2" Type="http://schemas.openxmlformats.org/officeDocument/2006/relationships/slideLayout" Target="../slideLayouts/slideLayout13.xml"/><Relationship Id="rId1" Type="http://schemas.openxmlformats.org/officeDocument/2006/relationships/vmlDrawing" Target="../drawings/vmlDrawing29.vml"/><Relationship Id="rId6" Type="http://schemas.openxmlformats.org/officeDocument/2006/relationships/oleObject" Target="../embeddings/oleObject126.bin"/><Relationship Id="rId11" Type="http://schemas.openxmlformats.org/officeDocument/2006/relationships/image" Target="../media/image144.wmf"/><Relationship Id="rId5" Type="http://schemas.openxmlformats.org/officeDocument/2006/relationships/image" Target="../media/image141.wmf"/><Relationship Id="rId15" Type="http://schemas.openxmlformats.org/officeDocument/2006/relationships/image" Target="../media/image146.wmf"/><Relationship Id="rId10" Type="http://schemas.openxmlformats.org/officeDocument/2006/relationships/oleObject" Target="../embeddings/oleObject128.bin"/><Relationship Id="rId4" Type="http://schemas.openxmlformats.org/officeDocument/2006/relationships/oleObject" Target="../embeddings/oleObject125.bin"/><Relationship Id="rId9" Type="http://schemas.openxmlformats.org/officeDocument/2006/relationships/image" Target="../media/image143.wmf"/><Relationship Id="rId14" Type="http://schemas.openxmlformats.org/officeDocument/2006/relationships/oleObject" Target="../embeddings/oleObject130.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33.bin"/><Relationship Id="rId3" Type="http://schemas.openxmlformats.org/officeDocument/2006/relationships/notesSlide" Target="../notesSlides/notesSlide54.xml"/><Relationship Id="rId7" Type="http://schemas.openxmlformats.org/officeDocument/2006/relationships/image" Target="../media/image148.wmf"/><Relationship Id="rId2" Type="http://schemas.openxmlformats.org/officeDocument/2006/relationships/slideLayout" Target="../slideLayouts/slideLayout13.xml"/><Relationship Id="rId1" Type="http://schemas.openxmlformats.org/officeDocument/2006/relationships/vmlDrawing" Target="../drawings/vmlDrawing30.vml"/><Relationship Id="rId6" Type="http://schemas.openxmlformats.org/officeDocument/2006/relationships/oleObject" Target="../embeddings/oleObject132.bin"/><Relationship Id="rId5" Type="http://schemas.openxmlformats.org/officeDocument/2006/relationships/image" Target="../media/image147.wmf"/><Relationship Id="rId4" Type="http://schemas.openxmlformats.org/officeDocument/2006/relationships/oleObject" Target="../embeddings/oleObject131.bin"/><Relationship Id="rId9" Type="http://schemas.openxmlformats.org/officeDocument/2006/relationships/image" Target="../media/image149.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54.wmf"/><Relationship Id="rId3" Type="http://schemas.openxmlformats.org/officeDocument/2006/relationships/notesSlide" Target="../notesSlides/notesSlide55.xml"/><Relationship Id="rId7" Type="http://schemas.openxmlformats.org/officeDocument/2006/relationships/image" Target="../media/image151.wmf"/><Relationship Id="rId12" Type="http://schemas.openxmlformats.org/officeDocument/2006/relationships/oleObject" Target="../embeddings/oleObject138.bin"/><Relationship Id="rId2" Type="http://schemas.openxmlformats.org/officeDocument/2006/relationships/slideLayout" Target="../slideLayouts/slideLayout13.xml"/><Relationship Id="rId1" Type="http://schemas.openxmlformats.org/officeDocument/2006/relationships/vmlDrawing" Target="../drawings/vmlDrawing31.vml"/><Relationship Id="rId6" Type="http://schemas.openxmlformats.org/officeDocument/2006/relationships/oleObject" Target="../embeddings/oleObject135.bin"/><Relationship Id="rId11" Type="http://schemas.openxmlformats.org/officeDocument/2006/relationships/image" Target="../media/image153.wmf"/><Relationship Id="rId5" Type="http://schemas.openxmlformats.org/officeDocument/2006/relationships/image" Target="../media/image150.w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52.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vmlDrawing" Target="../drawings/vmlDrawing32.vml"/><Relationship Id="rId5" Type="http://schemas.openxmlformats.org/officeDocument/2006/relationships/image" Target="../media/image155.wmf"/><Relationship Id="rId4" Type="http://schemas.openxmlformats.org/officeDocument/2006/relationships/oleObject" Target="../embeddings/oleObject139.bin"/></Relationships>
</file>

<file path=ppt/slides/_rels/slide60.xml.rels><?xml version="1.0" encoding="UTF-8" standalone="yes"?>
<Relationships xmlns="http://schemas.openxmlformats.org/package/2006/relationships"><Relationship Id="rId8" Type="http://schemas.openxmlformats.org/officeDocument/2006/relationships/image" Target="../media/image157.wmf"/><Relationship Id="rId13" Type="http://schemas.openxmlformats.org/officeDocument/2006/relationships/oleObject" Target="../embeddings/oleObject144.bin"/><Relationship Id="rId18" Type="http://schemas.openxmlformats.org/officeDocument/2006/relationships/image" Target="../media/image162.wmf"/><Relationship Id="rId3" Type="http://schemas.openxmlformats.org/officeDocument/2006/relationships/notesSlide" Target="../notesSlides/notesSlide58.xml"/><Relationship Id="rId7" Type="http://schemas.openxmlformats.org/officeDocument/2006/relationships/oleObject" Target="../embeddings/oleObject141.bin"/><Relationship Id="rId12" Type="http://schemas.openxmlformats.org/officeDocument/2006/relationships/image" Target="../media/image159.wmf"/><Relationship Id="rId17" Type="http://schemas.openxmlformats.org/officeDocument/2006/relationships/oleObject" Target="../embeddings/oleObject146.bin"/><Relationship Id="rId2" Type="http://schemas.openxmlformats.org/officeDocument/2006/relationships/slideLayout" Target="../slideLayouts/slideLayout13.xml"/><Relationship Id="rId16" Type="http://schemas.openxmlformats.org/officeDocument/2006/relationships/image" Target="../media/image161.wmf"/><Relationship Id="rId1" Type="http://schemas.openxmlformats.org/officeDocument/2006/relationships/vmlDrawing" Target="../drawings/vmlDrawing33.vml"/><Relationship Id="rId6" Type="http://schemas.openxmlformats.org/officeDocument/2006/relationships/image" Target="../media/image163.jpeg"/><Relationship Id="rId11" Type="http://schemas.openxmlformats.org/officeDocument/2006/relationships/oleObject" Target="../embeddings/oleObject143.bin"/><Relationship Id="rId5" Type="http://schemas.openxmlformats.org/officeDocument/2006/relationships/image" Target="../media/image156.wmf"/><Relationship Id="rId15" Type="http://schemas.openxmlformats.org/officeDocument/2006/relationships/oleObject" Target="../embeddings/oleObject145.bin"/><Relationship Id="rId10" Type="http://schemas.openxmlformats.org/officeDocument/2006/relationships/image" Target="../media/image158.wmf"/><Relationship Id="rId4" Type="http://schemas.openxmlformats.org/officeDocument/2006/relationships/oleObject" Target="../embeddings/oleObject140.bin"/><Relationship Id="rId9" Type="http://schemas.openxmlformats.org/officeDocument/2006/relationships/oleObject" Target="../embeddings/oleObject142.bin"/><Relationship Id="rId14" Type="http://schemas.openxmlformats.org/officeDocument/2006/relationships/image" Target="../media/image160.wmf"/></Relationships>
</file>

<file path=ppt/slides/_rels/slide61.xml.rels><?xml version="1.0" encoding="UTF-8" standalone="yes"?>
<Relationships xmlns="http://schemas.openxmlformats.org/package/2006/relationships"><Relationship Id="rId8" Type="http://schemas.openxmlformats.org/officeDocument/2006/relationships/image" Target="../media/image165.wmf"/><Relationship Id="rId3" Type="http://schemas.openxmlformats.org/officeDocument/2006/relationships/notesSlide" Target="../notesSlides/notesSlide59.xml"/><Relationship Id="rId7" Type="http://schemas.openxmlformats.org/officeDocument/2006/relationships/oleObject" Target="../embeddings/oleObject148.bin"/><Relationship Id="rId2" Type="http://schemas.openxmlformats.org/officeDocument/2006/relationships/slideLayout" Target="../slideLayouts/slideLayout13.xml"/><Relationship Id="rId1" Type="http://schemas.openxmlformats.org/officeDocument/2006/relationships/vmlDrawing" Target="../drawings/vmlDrawing34.vml"/><Relationship Id="rId6" Type="http://schemas.openxmlformats.org/officeDocument/2006/relationships/image" Target="../media/image164.wmf"/><Relationship Id="rId5" Type="http://schemas.openxmlformats.org/officeDocument/2006/relationships/oleObject" Target="../embeddings/oleObject147.bin"/><Relationship Id="rId4" Type="http://schemas.openxmlformats.org/officeDocument/2006/relationships/image" Target="../media/image166.jpeg"/><Relationship Id="rId9" Type="http://schemas.openxmlformats.org/officeDocument/2006/relationships/image" Target="../media/image163.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vmlDrawing" Target="../drawings/vmlDrawing35.vml"/><Relationship Id="rId6" Type="http://schemas.openxmlformats.org/officeDocument/2006/relationships/image" Target="../media/image167.wmf"/><Relationship Id="rId5" Type="http://schemas.openxmlformats.org/officeDocument/2006/relationships/oleObject" Target="../embeddings/oleObject149.bin"/><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8" Type="http://schemas.openxmlformats.org/officeDocument/2006/relationships/image" Target="../media/image169.wmf"/><Relationship Id="rId13" Type="http://schemas.openxmlformats.org/officeDocument/2006/relationships/oleObject" Target="../embeddings/oleObject154.bin"/><Relationship Id="rId3" Type="http://schemas.openxmlformats.org/officeDocument/2006/relationships/notesSlide" Target="../notesSlides/notesSlide61.xml"/><Relationship Id="rId7" Type="http://schemas.openxmlformats.org/officeDocument/2006/relationships/oleObject" Target="../embeddings/oleObject151.bin"/><Relationship Id="rId12" Type="http://schemas.openxmlformats.org/officeDocument/2006/relationships/image" Target="../media/image171.wmf"/><Relationship Id="rId2" Type="http://schemas.openxmlformats.org/officeDocument/2006/relationships/slideLayout" Target="../slideLayouts/slideLayout13.xml"/><Relationship Id="rId16" Type="http://schemas.openxmlformats.org/officeDocument/2006/relationships/image" Target="../media/image173.wmf"/><Relationship Id="rId1" Type="http://schemas.openxmlformats.org/officeDocument/2006/relationships/vmlDrawing" Target="../drawings/vmlDrawing36.vml"/><Relationship Id="rId6" Type="http://schemas.openxmlformats.org/officeDocument/2006/relationships/image" Target="../media/image168.wmf"/><Relationship Id="rId11" Type="http://schemas.openxmlformats.org/officeDocument/2006/relationships/oleObject" Target="../embeddings/oleObject153.bin"/><Relationship Id="rId5" Type="http://schemas.openxmlformats.org/officeDocument/2006/relationships/oleObject" Target="../embeddings/oleObject150.bin"/><Relationship Id="rId15" Type="http://schemas.openxmlformats.org/officeDocument/2006/relationships/oleObject" Target="../embeddings/oleObject155.bin"/><Relationship Id="rId10" Type="http://schemas.openxmlformats.org/officeDocument/2006/relationships/image" Target="../media/image170.wmf"/><Relationship Id="rId4" Type="http://schemas.openxmlformats.org/officeDocument/2006/relationships/image" Target="../media/image36.png"/><Relationship Id="rId9" Type="http://schemas.openxmlformats.org/officeDocument/2006/relationships/oleObject" Target="../embeddings/oleObject152.bin"/><Relationship Id="rId14" Type="http://schemas.openxmlformats.org/officeDocument/2006/relationships/image" Target="../media/image172.wmf"/></Relationships>
</file>

<file path=ppt/slides/_rels/slide64.x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notesSlide" Target="../notesSlides/notesSlide62.xml"/><Relationship Id="rId7" Type="http://schemas.openxmlformats.org/officeDocument/2006/relationships/oleObject" Target="../embeddings/oleObject157.bin"/><Relationship Id="rId2" Type="http://schemas.openxmlformats.org/officeDocument/2006/relationships/slideLayout" Target="../slideLayouts/slideLayout13.xml"/><Relationship Id="rId1" Type="http://schemas.openxmlformats.org/officeDocument/2006/relationships/vmlDrawing" Target="../drawings/vmlDrawing37.vml"/><Relationship Id="rId6" Type="http://schemas.openxmlformats.org/officeDocument/2006/relationships/image" Target="../media/image174.wmf"/><Relationship Id="rId5" Type="http://schemas.openxmlformats.org/officeDocument/2006/relationships/oleObject" Target="../embeddings/oleObject156.bin"/><Relationship Id="rId10" Type="http://schemas.openxmlformats.org/officeDocument/2006/relationships/image" Target="../media/image176.wmf"/><Relationship Id="rId4" Type="http://schemas.openxmlformats.org/officeDocument/2006/relationships/image" Target="../media/image36.png"/><Relationship Id="rId9" Type="http://schemas.openxmlformats.org/officeDocument/2006/relationships/oleObject" Target="../embeddings/oleObject158.bin"/></Relationships>
</file>

<file path=ppt/slides/_rels/slide65.xml.rels><?xml version="1.0" encoding="UTF-8" standalone="yes"?>
<Relationships xmlns="http://schemas.openxmlformats.org/package/2006/relationships"><Relationship Id="rId8" Type="http://schemas.openxmlformats.org/officeDocument/2006/relationships/image" Target="../media/image177.wmf"/><Relationship Id="rId13" Type="http://schemas.openxmlformats.org/officeDocument/2006/relationships/oleObject" Target="../embeddings/oleObject163.bin"/><Relationship Id="rId3" Type="http://schemas.openxmlformats.org/officeDocument/2006/relationships/notesSlide" Target="../notesSlides/notesSlide63.xml"/><Relationship Id="rId7" Type="http://schemas.openxmlformats.org/officeDocument/2006/relationships/oleObject" Target="../embeddings/oleObject160.bin"/><Relationship Id="rId12" Type="http://schemas.openxmlformats.org/officeDocument/2006/relationships/image" Target="../media/image179.wmf"/><Relationship Id="rId2" Type="http://schemas.openxmlformats.org/officeDocument/2006/relationships/slideLayout" Target="../slideLayouts/slideLayout13.xml"/><Relationship Id="rId1" Type="http://schemas.openxmlformats.org/officeDocument/2006/relationships/vmlDrawing" Target="../drawings/vmlDrawing38.vml"/><Relationship Id="rId6" Type="http://schemas.openxmlformats.org/officeDocument/2006/relationships/image" Target="../media/image176.wmf"/><Relationship Id="rId11" Type="http://schemas.openxmlformats.org/officeDocument/2006/relationships/oleObject" Target="../embeddings/oleObject162.bin"/><Relationship Id="rId5" Type="http://schemas.openxmlformats.org/officeDocument/2006/relationships/oleObject" Target="../embeddings/oleObject159.bin"/><Relationship Id="rId10" Type="http://schemas.openxmlformats.org/officeDocument/2006/relationships/image" Target="../media/image178.wmf"/><Relationship Id="rId4" Type="http://schemas.openxmlformats.org/officeDocument/2006/relationships/image" Target="../media/image36.png"/><Relationship Id="rId9" Type="http://schemas.openxmlformats.org/officeDocument/2006/relationships/oleObject" Target="../embeddings/oleObject161.bin"/><Relationship Id="rId14" Type="http://schemas.openxmlformats.org/officeDocument/2006/relationships/image" Target="../media/image180.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oleObject" Target="../embeddings/oleObject167.bin"/><Relationship Id="rId18" Type="http://schemas.openxmlformats.org/officeDocument/2006/relationships/image" Target="../media/image185.emf"/><Relationship Id="rId26" Type="http://schemas.openxmlformats.org/officeDocument/2006/relationships/image" Target="../media/image189.emf"/><Relationship Id="rId3" Type="http://schemas.openxmlformats.org/officeDocument/2006/relationships/notesSlide" Target="../notesSlides/notesSlide64.xml"/><Relationship Id="rId21" Type="http://schemas.openxmlformats.org/officeDocument/2006/relationships/oleObject" Target="../embeddings/oleObject171.bin"/><Relationship Id="rId7" Type="http://schemas.openxmlformats.org/officeDocument/2006/relationships/image" Target="../media/image193.png"/><Relationship Id="rId12" Type="http://schemas.openxmlformats.org/officeDocument/2006/relationships/image" Target="../media/image182.wmf"/><Relationship Id="rId17" Type="http://schemas.openxmlformats.org/officeDocument/2006/relationships/oleObject" Target="../embeddings/oleObject169.bin"/><Relationship Id="rId25" Type="http://schemas.openxmlformats.org/officeDocument/2006/relationships/oleObject" Target="../embeddings/oleObject173.bin"/><Relationship Id="rId2" Type="http://schemas.openxmlformats.org/officeDocument/2006/relationships/slideLayout" Target="../slideLayouts/slideLayout13.xml"/><Relationship Id="rId16" Type="http://schemas.openxmlformats.org/officeDocument/2006/relationships/image" Target="../media/image184.emf"/><Relationship Id="rId20" Type="http://schemas.openxmlformats.org/officeDocument/2006/relationships/image" Target="../media/image186.emf"/><Relationship Id="rId29" Type="http://schemas.openxmlformats.org/officeDocument/2006/relationships/oleObject" Target="../embeddings/oleObject175.bin"/><Relationship Id="rId1" Type="http://schemas.openxmlformats.org/officeDocument/2006/relationships/vmlDrawing" Target="../drawings/vmlDrawing39.vml"/><Relationship Id="rId6" Type="http://schemas.openxmlformats.org/officeDocument/2006/relationships/image" Target="../media/image165.wmf"/><Relationship Id="rId11" Type="http://schemas.openxmlformats.org/officeDocument/2006/relationships/oleObject" Target="../embeddings/oleObject166.bin"/><Relationship Id="rId24" Type="http://schemas.openxmlformats.org/officeDocument/2006/relationships/image" Target="../media/image188.emf"/><Relationship Id="rId5" Type="http://schemas.openxmlformats.org/officeDocument/2006/relationships/oleObject" Target="../embeddings/oleObject164.bin"/><Relationship Id="rId15" Type="http://schemas.openxmlformats.org/officeDocument/2006/relationships/oleObject" Target="../embeddings/oleObject168.bin"/><Relationship Id="rId23" Type="http://schemas.openxmlformats.org/officeDocument/2006/relationships/oleObject" Target="../embeddings/oleObject172.bin"/><Relationship Id="rId28" Type="http://schemas.openxmlformats.org/officeDocument/2006/relationships/image" Target="../media/image190.emf"/><Relationship Id="rId10" Type="http://schemas.openxmlformats.org/officeDocument/2006/relationships/image" Target="../media/image194.png"/><Relationship Id="rId19" Type="http://schemas.openxmlformats.org/officeDocument/2006/relationships/oleObject" Target="../embeddings/oleObject170.bin"/><Relationship Id="rId4" Type="http://schemas.openxmlformats.org/officeDocument/2006/relationships/image" Target="../media/image192.jpeg"/><Relationship Id="rId9" Type="http://schemas.openxmlformats.org/officeDocument/2006/relationships/image" Target="../media/image181.emf"/><Relationship Id="rId14" Type="http://schemas.openxmlformats.org/officeDocument/2006/relationships/image" Target="../media/image183.wmf"/><Relationship Id="rId22" Type="http://schemas.openxmlformats.org/officeDocument/2006/relationships/image" Target="../media/image187.emf"/><Relationship Id="rId27" Type="http://schemas.openxmlformats.org/officeDocument/2006/relationships/oleObject" Target="../embeddings/oleObject174.bin"/><Relationship Id="rId30" Type="http://schemas.openxmlformats.org/officeDocument/2006/relationships/image" Target="../media/image191.e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78.bin"/><Relationship Id="rId13" Type="http://schemas.openxmlformats.org/officeDocument/2006/relationships/image" Target="../media/image199.wmf"/><Relationship Id="rId18" Type="http://schemas.openxmlformats.org/officeDocument/2006/relationships/oleObject" Target="../embeddings/oleObject183.bin"/><Relationship Id="rId26" Type="http://schemas.openxmlformats.org/officeDocument/2006/relationships/oleObject" Target="../embeddings/oleObject187.bin"/><Relationship Id="rId3" Type="http://schemas.openxmlformats.org/officeDocument/2006/relationships/notesSlide" Target="../notesSlides/notesSlide66.xml"/><Relationship Id="rId21" Type="http://schemas.openxmlformats.org/officeDocument/2006/relationships/image" Target="../media/image203.wmf"/><Relationship Id="rId7" Type="http://schemas.openxmlformats.org/officeDocument/2006/relationships/image" Target="../media/image196.wmf"/><Relationship Id="rId12" Type="http://schemas.openxmlformats.org/officeDocument/2006/relationships/oleObject" Target="../embeddings/oleObject180.bin"/><Relationship Id="rId17" Type="http://schemas.openxmlformats.org/officeDocument/2006/relationships/image" Target="../media/image201.wmf"/><Relationship Id="rId25" Type="http://schemas.openxmlformats.org/officeDocument/2006/relationships/image" Target="../media/image205.wmf"/><Relationship Id="rId2" Type="http://schemas.openxmlformats.org/officeDocument/2006/relationships/slideLayout" Target="../slideLayouts/slideLayout13.xml"/><Relationship Id="rId16" Type="http://schemas.openxmlformats.org/officeDocument/2006/relationships/oleObject" Target="../embeddings/oleObject182.bin"/><Relationship Id="rId20" Type="http://schemas.openxmlformats.org/officeDocument/2006/relationships/oleObject" Target="../embeddings/oleObject184.bin"/><Relationship Id="rId29" Type="http://schemas.openxmlformats.org/officeDocument/2006/relationships/image" Target="../media/image207.wmf"/><Relationship Id="rId1" Type="http://schemas.openxmlformats.org/officeDocument/2006/relationships/vmlDrawing" Target="../drawings/vmlDrawing40.vml"/><Relationship Id="rId6" Type="http://schemas.openxmlformats.org/officeDocument/2006/relationships/oleObject" Target="../embeddings/oleObject177.bin"/><Relationship Id="rId11" Type="http://schemas.openxmlformats.org/officeDocument/2006/relationships/image" Target="../media/image198.wmf"/><Relationship Id="rId24" Type="http://schemas.openxmlformats.org/officeDocument/2006/relationships/oleObject" Target="../embeddings/oleObject186.bin"/><Relationship Id="rId5" Type="http://schemas.openxmlformats.org/officeDocument/2006/relationships/image" Target="../media/image195.png"/><Relationship Id="rId15" Type="http://schemas.openxmlformats.org/officeDocument/2006/relationships/image" Target="../media/image200.wmf"/><Relationship Id="rId23" Type="http://schemas.openxmlformats.org/officeDocument/2006/relationships/image" Target="../media/image204.png"/><Relationship Id="rId28" Type="http://schemas.openxmlformats.org/officeDocument/2006/relationships/oleObject" Target="../embeddings/oleObject188.bin"/><Relationship Id="rId10" Type="http://schemas.openxmlformats.org/officeDocument/2006/relationships/oleObject" Target="../embeddings/oleObject179.bin"/><Relationship Id="rId19" Type="http://schemas.openxmlformats.org/officeDocument/2006/relationships/image" Target="../media/image202.wmf"/><Relationship Id="rId31" Type="http://schemas.openxmlformats.org/officeDocument/2006/relationships/image" Target="../media/image208.wmf"/><Relationship Id="rId4" Type="http://schemas.openxmlformats.org/officeDocument/2006/relationships/oleObject" Target="../embeddings/oleObject176.bin"/><Relationship Id="rId9" Type="http://schemas.openxmlformats.org/officeDocument/2006/relationships/image" Target="../media/image197.wmf"/><Relationship Id="rId14" Type="http://schemas.openxmlformats.org/officeDocument/2006/relationships/oleObject" Target="../embeddings/oleObject181.bin"/><Relationship Id="rId22" Type="http://schemas.openxmlformats.org/officeDocument/2006/relationships/oleObject" Target="../embeddings/oleObject185.bin"/><Relationship Id="rId27" Type="http://schemas.openxmlformats.org/officeDocument/2006/relationships/image" Target="../media/image206.wmf"/><Relationship Id="rId30" Type="http://schemas.openxmlformats.org/officeDocument/2006/relationships/oleObject" Target="../embeddings/oleObject189.bin"/></Relationships>
</file>

<file path=ppt/slides/_rels/slide69.xml.rels><?xml version="1.0" encoding="UTF-8" standalone="yes"?>
<Relationships xmlns="http://schemas.openxmlformats.org/package/2006/relationships"><Relationship Id="rId8" Type="http://schemas.openxmlformats.org/officeDocument/2006/relationships/image" Target="../media/image210.wmf"/><Relationship Id="rId13" Type="http://schemas.openxmlformats.org/officeDocument/2006/relationships/oleObject" Target="../embeddings/oleObject194.bin"/><Relationship Id="rId18" Type="http://schemas.openxmlformats.org/officeDocument/2006/relationships/image" Target="../media/image215.wmf"/><Relationship Id="rId3" Type="http://schemas.openxmlformats.org/officeDocument/2006/relationships/notesSlide" Target="../notesSlides/notesSlide67.xml"/><Relationship Id="rId7" Type="http://schemas.openxmlformats.org/officeDocument/2006/relationships/oleObject" Target="../embeddings/oleObject191.bin"/><Relationship Id="rId12" Type="http://schemas.openxmlformats.org/officeDocument/2006/relationships/image" Target="../media/image212.wmf"/><Relationship Id="rId17" Type="http://schemas.openxmlformats.org/officeDocument/2006/relationships/oleObject" Target="../embeddings/oleObject196.bin"/><Relationship Id="rId2" Type="http://schemas.openxmlformats.org/officeDocument/2006/relationships/slideLayout" Target="../slideLayouts/slideLayout13.xml"/><Relationship Id="rId16" Type="http://schemas.openxmlformats.org/officeDocument/2006/relationships/image" Target="../media/image214.wmf"/><Relationship Id="rId1" Type="http://schemas.openxmlformats.org/officeDocument/2006/relationships/vmlDrawing" Target="../drawings/vmlDrawing41.vml"/><Relationship Id="rId6" Type="http://schemas.openxmlformats.org/officeDocument/2006/relationships/image" Target="../media/image209.wmf"/><Relationship Id="rId11" Type="http://schemas.openxmlformats.org/officeDocument/2006/relationships/oleObject" Target="../embeddings/oleObject193.bin"/><Relationship Id="rId5" Type="http://schemas.openxmlformats.org/officeDocument/2006/relationships/oleObject" Target="../embeddings/oleObject190.bin"/><Relationship Id="rId15" Type="http://schemas.openxmlformats.org/officeDocument/2006/relationships/oleObject" Target="../embeddings/oleObject195.bin"/><Relationship Id="rId10" Type="http://schemas.openxmlformats.org/officeDocument/2006/relationships/image" Target="../media/image211.wmf"/><Relationship Id="rId4" Type="http://schemas.openxmlformats.org/officeDocument/2006/relationships/image" Target="../media/image36.png"/><Relationship Id="rId9" Type="http://schemas.openxmlformats.org/officeDocument/2006/relationships/oleObject" Target="../embeddings/oleObject192.bin"/><Relationship Id="rId14" Type="http://schemas.openxmlformats.org/officeDocument/2006/relationships/image" Target="../media/image213.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99.bin"/><Relationship Id="rId13" Type="http://schemas.openxmlformats.org/officeDocument/2006/relationships/image" Target="../media/image219.wmf"/><Relationship Id="rId18" Type="http://schemas.openxmlformats.org/officeDocument/2006/relationships/oleObject" Target="../embeddings/oleObject204.bin"/><Relationship Id="rId26" Type="http://schemas.openxmlformats.org/officeDocument/2006/relationships/oleObject" Target="../embeddings/oleObject208.bin"/><Relationship Id="rId3" Type="http://schemas.openxmlformats.org/officeDocument/2006/relationships/notesSlide" Target="../notesSlides/notesSlide68.xml"/><Relationship Id="rId21" Type="http://schemas.openxmlformats.org/officeDocument/2006/relationships/image" Target="../media/image223.wmf"/><Relationship Id="rId7" Type="http://schemas.openxmlformats.org/officeDocument/2006/relationships/image" Target="../media/image217.wmf"/><Relationship Id="rId12" Type="http://schemas.openxmlformats.org/officeDocument/2006/relationships/oleObject" Target="../embeddings/oleObject201.bin"/><Relationship Id="rId17" Type="http://schemas.openxmlformats.org/officeDocument/2006/relationships/image" Target="../media/image221.png"/><Relationship Id="rId25" Type="http://schemas.openxmlformats.org/officeDocument/2006/relationships/image" Target="../media/image225.wmf"/><Relationship Id="rId2" Type="http://schemas.openxmlformats.org/officeDocument/2006/relationships/slideLayout" Target="../slideLayouts/slideLayout13.xml"/><Relationship Id="rId16" Type="http://schemas.openxmlformats.org/officeDocument/2006/relationships/oleObject" Target="../embeddings/oleObject203.bin"/><Relationship Id="rId20" Type="http://schemas.openxmlformats.org/officeDocument/2006/relationships/oleObject" Target="../embeddings/oleObject205.bin"/><Relationship Id="rId1" Type="http://schemas.openxmlformats.org/officeDocument/2006/relationships/vmlDrawing" Target="../drawings/vmlDrawing42.vml"/><Relationship Id="rId6" Type="http://schemas.openxmlformats.org/officeDocument/2006/relationships/oleObject" Target="../embeddings/oleObject198.bin"/><Relationship Id="rId11" Type="http://schemas.openxmlformats.org/officeDocument/2006/relationships/image" Target="../media/image199.wmf"/><Relationship Id="rId24" Type="http://schemas.openxmlformats.org/officeDocument/2006/relationships/oleObject" Target="../embeddings/oleObject207.bin"/><Relationship Id="rId5" Type="http://schemas.openxmlformats.org/officeDocument/2006/relationships/image" Target="../media/image216.wmf"/><Relationship Id="rId15" Type="http://schemas.openxmlformats.org/officeDocument/2006/relationships/image" Target="../media/image220.wmf"/><Relationship Id="rId23" Type="http://schemas.openxmlformats.org/officeDocument/2006/relationships/image" Target="../media/image224.wmf"/><Relationship Id="rId10" Type="http://schemas.openxmlformats.org/officeDocument/2006/relationships/oleObject" Target="../embeddings/oleObject200.bin"/><Relationship Id="rId19" Type="http://schemas.openxmlformats.org/officeDocument/2006/relationships/image" Target="../media/image222.wmf"/><Relationship Id="rId4" Type="http://schemas.openxmlformats.org/officeDocument/2006/relationships/oleObject" Target="../embeddings/oleObject197.bin"/><Relationship Id="rId9" Type="http://schemas.openxmlformats.org/officeDocument/2006/relationships/image" Target="../media/image218.wmf"/><Relationship Id="rId14" Type="http://schemas.openxmlformats.org/officeDocument/2006/relationships/oleObject" Target="../embeddings/oleObject202.bin"/><Relationship Id="rId22" Type="http://schemas.openxmlformats.org/officeDocument/2006/relationships/oleObject" Target="../embeddings/oleObject206.bin"/><Relationship Id="rId27" Type="http://schemas.openxmlformats.org/officeDocument/2006/relationships/image" Target="../media/image226.wmf"/></Relationships>
</file>

<file path=ppt/slides/_rels/slide71.xml.rels><?xml version="1.0" encoding="UTF-8" standalone="yes"?>
<Relationships xmlns="http://schemas.openxmlformats.org/package/2006/relationships"><Relationship Id="rId13" Type="http://schemas.openxmlformats.org/officeDocument/2006/relationships/image" Target="../media/image219.wmf"/><Relationship Id="rId18" Type="http://schemas.openxmlformats.org/officeDocument/2006/relationships/oleObject" Target="../embeddings/oleObject216.bin"/><Relationship Id="rId26" Type="http://schemas.openxmlformats.org/officeDocument/2006/relationships/oleObject" Target="../embeddings/oleObject220.bin"/><Relationship Id="rId39" Type="http://schemas.openxmlformats.org/officeDocument/2006/relationships/image" Target="../media/image234.wmf"/><Relationship Id="rId21" Type="http://schemas.openxmlformats.org/officeDocument/2006/relationships/image" Target="../media/image223.wmf"/><Relationship Id="rId34" Type="http://schemas.openxmlformats.org/officeDocument/2006/relationships/oleObject" Target="../embeddings/oleObject224.bin"/><Relationship Id="rId7" Type="http://schemas.openxmlformats.org/officeDocument/2006/relationships/image" Target="../media/image217.wmf"/><Relationship Id="rId2" Type="http://schemas.openxmlformats.org/officeDocument/2006/relationships/slideLayout" Target="../slideLayouts/slideLayout13.xml"/><Relationship Id="rId16" Type="http://schemas.openxmlformats.org/officeDocument/2006/relationships/oleObject" Target="../embeddings/oleObject215.bin"/><Relationship Id="rId20" Type="http://schemas.openxmlformats.org/officeDocument/2006/relationships/oleObject" Target="../embeddings/oleObject217.bin"/><Relationship Id="rId29" Type="http://schemas.openxmlformats.org/officeDocument/2006/relationships/image" Target="../media/image229.wmf"/><Relationship Id="rId41" Type="http://schemas.openxmlformats.org/officeDocument/2006/relationships/image" Target="../media/image235.wmf"/><Relationship Id="rId1" Type="http://schemas.openxmlformats.org/officeDocument/2006/relationships/vmlDrawing" Target="../drawings/vmlDrawing43.vml"/><Relationship Id="rId6" Type="http://schemas.openxmlformats.org/officeDocument/2006/relationships/oleObject" Target="../embeddings/oleObject210.bin"/><Relationship Id="rId11" Type="http://schemas.openxmlformats.org/officeDocument/2006/relationships/image" Target="../media/image199.wmf"/><Relationship Id="rId24" Type="http://schemas.openxmlformats.org/officeDocument/2006/relationships/oleObject" Target="../embeddings/oleObject219.bin"/><Relationship Id="rId32" Type="http://schemas.openxmlformats.org/officeDocument/2006/relationships/oleObject" Target="../embeddings/oleObject223.bin"/><Relationship Id="rId37" Type="http://schemas.openxmlformats.org/officeDocument/2006/relationships/image" Target="../media/image233.wmf"/><Relationship Id="rId40" Type="http://schemas.openxmlformats.org/officeDocument/2006/relationships/oleObject" Target="../embeddings/oleObject227.bin"/><Relationship Id="rId5" Type="http://schemas.openxmlformats.org/officeDocument/2006/relationships/image" Target="../media/image216.wmf"/><Relationship Id="rId15" Type="http://schemas.openxmlformats.org/officeDocument/2006/relationships/image" Target="../media/image220.wmf"/><Relationship Id="rId23" Type="http://schemas.openxmlformats.org/officeDocument/2006/relationships/image" Target="../media/image225.wmf"/><Relationship Id="rId28" Type="http://schemas.openxmlformats.org/officeDocument/2006/relationships/oleObject" Target="../embeddings/oleObject221.bin"/><Relationship Id="rId36" Type="http://schemas.openxmlformats.org/officeDocument/2006/relationships/oleObject" Target="../embeddings/oleObject225.bin"/><Relationship Id="rId10" Type="http://schemas.openxmlformats.org/officeDocument/2006/relationships/oleObject" Target="../embeddings/oleObject212.bin"/><Relationship Id="rId19" Type="http://schemas.openxmlformats.org/officeDocument/2006/relationships/image" Target="../media/image222.wmf"/><Relationship Id="rId31" Type="http://schemas.openxmlformats.org/officeDocument/2006/relationships/image" Target="../media/image230.png"/><Relationship Id="rId4" Type="http://schemas.openxmlformats.org/officeDocument/2006/relationships/oleObject" Target="../embeddings/oleObject209.bin"/><Relationship Id="rId9" Type="http://schemas.openxmlformats.org/officeDocument/2006/relationships/image" Target="../media/image218.wmf"/><Relationship Id="rId14" Type="http://schemas.openxmlformats.org/officeDocument/2006/relationships/oleObject" Target="../embeddings/oleObject214.bin"/><Relationship Id="rId22" Type="http://schemas.openxmlformats.org/officeDocument/2006/relationships/oleObject" Target="../embeddings/oleObject218.bin"/><Relationship Id="rId27" Type="http://schemas.openxmlformats.org/officeDocument/2006/relationships/image" Target="../media/image228.wmf"/><Relationship Id="rId30" Type="http://schemas.openxmlformats.org/officeDocument/2006/relationships/oleObject" Target="../embeddings/oleObject222.bin"/><Relationship Id="rId35" Type="http://schemas.openxmlformats.org/officeDocument/2006/relationships/image" Target="../media/image232.wmf"/><Relationship Id="rId8" Type="http://schemas.openxmlformats.org/officeDocument/2006/relationships/oleObject" Target="../embeddings/oleObject211.bin"/><Relationship Id="rId3" Type="http://schemas.openxmlformats.org/officeDocument/2006/relationships/notesSlide" Target="../notesSlides/notesSlide69.xml"/><Relationship Id="rId12" Type="http://schemas.openxmlformats.org/officeDocument/2006/relationships/oleObject" Target="../embeddings/oleObject213.bin"/><Relationship Id="rId17" Type="http://schemas.openxmlformats.org/officeDocument/2006/relationships/image" Target="../media/image221.png"/><Relationship Id="rId25" Type="http://schemas.openxmlformats.org/officeDocument/2006/relationships/image" Target="../media/image227.png"/><Relationship Id="rId33" Type="http://schemas.openxmlformats.org/officeDocument/2006/relationships/image" Target="../media/image231.wmf"/><Relationship Id="rId38" Type="http://schemas.openxmlformats.org/officeDocument/2006/relationships/oleObject" Target="../embeddings/oleObject226.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230.bin"/><Relationship Id="rId13" Type="http://schemas.openxmlformats.org/officeDocument/2006/relationships/image" Target="../media/image240.wmf"/><Relationship Id="rId18" Type="http://schemas.openxmlformats.org/officeDocument/2006/relationships/oleObject" Target="../embeddings/oleObject235.bin"/><Relationship Id="rId26" Type="http://schemas.openxmlformats.org/officeDocument/2006/relationships/oleObject" Target="../embeddings/oleObject239.bin"/><Relationship Id="rId3" Type="http://schemas.openxmlformats.org/officeDocument/2006/relationships/notesSlide" Target="../notesSlides/notesSlide70.xml"/><Relationship Id="rId21" Type="http://schemas.openxmlformats.org/officeDocument/2006/relationships/image" Target="../media/image199.wmf"/><Relationship Id="rId7" Type="http://schemas.openxmlformats.org/officeDocument/2006/relationships/image" Target="../media/image237.wmf"/><Relationship Id="rId12" Type="http://schemas.openxmlformats.org/officeDocument/2006/relationships/oleObject" Target="../embeddings/oleObject232.bin"/><Relationship Id="rId17" Type="http://schemas.openxmlformats.org/officeDocument/2006/relationships/image" Target="../media/image241.wmf"/><Relationship Id="rId25" Type="http://schemas.openxmlformats.org/officeDocument/2006/relationships/image" Target="../media/image243.wmf"/><Relationship Id="rId2" Type="http://schemas.openxmlformats.org/officeDocument/2006/relationships/slideLayout" Target="../slideLayouts/slideLayout13.xml"/><Relationship Id="rId16" Type="http://schemas.openxmlformats.org/officeDocument/2006/relationships/oleObject" Target="../embeddings/oleObject234.bin"/><Relationship Id="rId20" Type="http://schemas.openxmlformats.org/officeDocument/2006/relationships/oleObject" Target="../embeddings/oleObject236.bin"/><Relationship Id="rId1" Type="http://schemas.openxmlformats.org/officeDocument/2006/relationships/vmlDrawing" Target="../drawings/vmlDrawing44.vml"/><Relationship Id="rId6" Type="http://schemas.openxmlformats.org/officeDocument/2006/relationships/oleObject" Target="../embeddings/oleObject229.bin"/><Relationship Id="rId11" Type="http://schemas.openxmlformats.org/officeDocument/2006/relationships/image" Target="../media/image239.wmf"/><Relationship Id="rId24" Type="http://schemas.openxmlformats.org/officeDocument/2006/relationships/oleObject" Target="../embeddings/oleObject238.bin"/><Relationship Id="rId5" Type="http://schemas.openxmlformats.org/officeDocument/2006/relationships/image" Target="../media/image236.wmf"/><Relationship Id="rId15" Type="http://schemas.openxmlformats.org/officeDocument/2006/relationships/image" Target="../media/image201.wmf"/><Relationship Id="rId23" Type="http://schemas.openxmlformats.org/officeDocument/2006/relationships/image" Target="../media/image242.wmf"/><Relationship Id="rId10" Type="http://schemas.openxmlformats.org/officeDocument/2006/relationships/oleObject" Target="../embeddings/oleObject231.bin"/><Relationship Id="rId19" Type="http://schemas.openxmlformats.org/officeDocument/2006/relationships/image" Target="../media/image202.wmf"/><Relationship Id="rId4" Type="http://schemas.openxmlformats.org/officeDocument/2006/relationships/oleObject" Target="../embeddings/oleObject228.bin"/><Relationship Id="rId9" Type="http://schemas.openxmlformats.org/officeDocument/2006/relationships/image" Target="../media/image238.wmf"/><Relationship Id="rId14" Type="http://schemas.openxmlformats.org/officeDocument/2006/relationships/oleObject" Target="../embeddings/oleObject233.bin"/><Relationship Id="rId22" Type="http://schemas.openxmlformats.org/officeDocument/2006/relationships/oleObject" Target="../embeddings/oleObject237.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42.bin"/><Relationship Id="rId13" Type="http://schemas.openxmlformats.org/officeDocument/2006/relationships/image" Target="../media/image246.wmf"/><Relationship Id="rId18" Type="http://schemas.openxmlformats.org/officeDocument/2006/relationships/oleObject" Target="../embeddings/oleObject247.bin"/><Relationship Id="rId3" Type="http://schemas.openxmlformats.org/officeDocument/2006/relationships/notesSlide" Target="../notesSlides/notesSlide71.xml"/><Relationship Id="rId21" Type="http://schemas.openxmlformats.org/officeDocument/2006/relationships/image" Target="../media/image249.wmf"/><Relationship Id="rId7" Type="http://schemas.openxmlformats.org/officeDocument/2006/relationships/image" Target="../media/image244.wmf"/><Relationship Id="rId12" Type="http://schemas.openxmlformats.org/officeDocument/2006/relationships/oleObject" Target="../embeddings/oleObject244.bin"/><Relationship Id="rId17" Type="http://schemas.openxmlformats.org/officeDocument/2006/relationships/image" Target="../media/image222.wmf"/><Relationship Id="rId25" Type="http://schemas.openxmlformats.org/officeDocument/2006/relationships/image" Target="../media/image251.wmf"/><Relationship Id="rId2" Type="http://schemas.openxmlformats.org/officeDocument/2006/relationships/slideLayout" Target="../slideLayouts/slideLayout13.xml"/><Relationship Id="rId16" Type="http://schemas.openxmlformats.org/officeDocument/2006/relationships/oleObject" Target="../embeddings/oleObject246.bin"/><Relationship Id="rId20" Type="http://schemas.openxmlformats.org/officeDocument/2006/relationships/oleObject" Target="../embeddings/oleObject248.bin"/><Relationship Id="rId1" Type="http://schemas.openxmlformats.org/officeDocument/2006/relationships/vmlDrawing" Target="../drawings/vmlDrawing45.vml"/><Relationship Id="rId6" Type="http://schemas.openxmlformats.org/officeDocument/2006/relationships/oleObject" Target="../embeddings/oleObject241.bin"/><Relationship Id="rId11" Type="http://schemas.openxmlformats.org/officeDocument/2006/relationships/image" Target="../media/image245.png"/><Relationship Id="rId24" Type="http://schemas.openxmlformats.org/officeDocument/2006/relationships/oleObject" Target="../embeddings/oleObject250.bin"/><Relationship Id="rId5" Type="http://schemas.openxmlformats.org/officeDocument/2006/relationships/image" Target="../media/image218.wmf"/><Relationship Id="rId15" Type="http://schemas.openxmlformats.org/officeDocument/2006/relationships/image" Target="../media/image247.wmf"/><Relationship Id="rId23" Type="http://schemas.openxmlformats.org/officeDocument/2006/relationships/image" Target="../media/image250.wmf"/><Relationship Id="rId10" Type="http://schemas.openxmlformats.org/officeDocument/2006/relationships/oleObject" Target="../embeddings/oleObject243.bin"/><Relationship Id="rId19" Type="http://schemas.openxmlformats.org/officeDocument/2006/relationships/image" Target="../media/image248.wmf"/><Relationship Id="rId4" Type="http://schemas.openxmlformats.org/officeDocument/2006/relationships/oleObject" Target="../embeddings/oleObject240.bin"/><Relationship Id="rId9" Type="http://schemas.openxmlformats.org/officeDocument/2006/relationships/image" Target="../media/image219.wmf"/><Relationship Id="rId14" Type="http://schemas.openxmlformats.org/officeDocument/2006/relationships/oleObject" Target="../embeddings/oleObject245.bin"/><Relationship Id="rId22" Type="http://schemas.openxmlformats.org/officeDocument/2006/relationships/oleObject" Target="../embeddings/oleObject249.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53.bin"/><Relationship Id="rId13" Type="http://schemas.openxmlformats.org/officeDocument/2006/relationships/image" Target="../media/image255.wmf"/><Relationship Id="rId18" Type="http://schemas.openxmlformats.org/officeDocument/2006/relationships/oleObject" Target="../embeddings/oleObject258.bin"/><Relationship Id="rId3" Type="http://schemas.openxmlformats.org/officeDocument/2006/relationships/notesSlide" Target="../notesSlides/notesSlide72.xml"/><Relationship Id="rId21" Type="http://schemas.openxmlformats.org/officeDocument/2006/relationships/image" Target="../media/image258.wmf"/><Relationship Id="rId7" Type="http://schemas.openxmlformats.org/officeDocument/2006/relationships/image" Target="../media/image252.wmf"/><Relationship Id="rId12" Type="http://schemas.openxmlformats.org/officeDocument/2006/relationships/oleObject" Target="../embeddings/oleObject255.bin"/><Relationship Id="rId17" Type="http://schemas.openxmlformats.org/officeDocument/2006/relationships/image" Target="../media/image248.wmf"/><Relationship Id="rId2" Type="http://schemas.openxmlformats.org/officeDocument/2006/relationships/slideLayout" Target="../slideLayouts/slideLayout13.xml"/><Relationship Id="rId16" Type="http://schemas.openxmlformats.org/officeDocument/2006/relationships/oleObject" Target="../embeddings/oleObject257.bin"/><Relationship Id="rId20" Type="http://schemas.openxmlformats.org/officeDocument/2006/relationships/oleObject" Target="../embeddings/oleObject259.bin"/><Relationship Id="rId1" Type="http://schemas.openxmlformats.org/officeDocument/2006/relationships/vmlDrawing" Target="../drawings/vmlDrawing46.vml"/><Relationship Id="rId6" Type="http://schemas.openxmlformats.org/officeDocument/2006/relationships/oleObject" Target="../embeddings/oleObject252.bin"/><Relationship Id="rId11" Type="http://schemas.openxmlformats.org/officeDocument/2006/relationships/image" Target="../media/image254.wmf"/><Relationship Id="rId5" Type="http://schemas.openxmlformats.org/officeDocument/2006/relationships/image" Target="../media/image218.wmf"/><Relationship Id="rId15" Type="http://schemas.openxmlformats.org/officeDocument/2006/relationships/image" Target="../media/image256.wmf"/><Relationship Id="rId10" Type="http://schemas.openxmlformats.org/officeDocument/2006/relationships/oleObject" Target="../embeddings/oleObject254.bin"/><Relationship Id="rId19" Type="http://schemas.openxmlformats.org/officeDocument/2006/relationships/image" Target="../media/image257.wmf"/><Relationship Id="rId4" Type="http://schemas.openxmlformats.org/officeDocument/2006/relationships/oleObject" Target="../embeddings/oleObject251.bin"/><Relationship Id="rId9" Type="http://schemas.openxmlformats.org/officeDocument/2006/relationships/image" Target="../media/image253.png"/><Relationship Id="rId14" Type="http://schemas.openxmlformats.org/officeDocument/2006/relationships/oleObject" Target="../embeddings/oleObject256.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62.bin"/><Relationship Id="rId13" Type="http://schemas.openxmlformats.org/officeDocument/2006/relationships/image" Target="../media/image261.wmf"/><Relationship Id="rId18" Type="http://schemas.openxmlformats.org/officeDocument/2006/relationships/oleObject" Target="../embeddings/oleObject267.bin"/><Relationship Id="rId3" Type="http://schemas.openxmlformats.org/officeDocument/2006/relationships/notesSlide" Target="../notesSlides/notesSlide73.xml"/><Relationship Id="rId21" Type="http://schemas.openxmlformats.org/officeDocument/2006/relationships/image" Target="../media/image263.wmf"/><Relationship Id="rId7" Type="http://schemas.openxmlformats.org/officeDocument/2006/relationships/image" Target="../media/image238.wmf"/><Relationship Id="rId12" Type="http://schemas.openxmlformats.org/officeDocument/2006/relationships/oleObject" Target="../embeddings/oleObject264.bin"/><Relationship Id="rId17" Type="http://schemas.openxmlformats.org/officeDocument/2006/relationships/image" Target="../media/image202.wmf"/><Relationship Id="rId25" Type="http://schemas.openxmlformats.org/officeDocument/2006/relationships/image" Target="../media/image201.wmf"/><Relationship Id="rId2" Type="http://schemas.openxmlformats.org/officeDocument/2006/relationships/slideLayout" Target="../slideLayouts/slideLayout13.xml"/><Relationship Id="rId16" Type="http://schemas.openxmlformats.org/officeDocument/2006/relationships/oleObject" Target="../embeddings/oleObject266.bin"/><Relationship Id="rId20" Type="http://schemas.openxmlformats.org/officeDocument/2006/relationships/oleObject" Target="../embeddings/oleObject268.bin"/><Relationship Id="rId1" Type="http://schemas.openxmlformats.org/officeDocument/2006/relationships/vmlDrawing" Target="../drawings/vmlDrawing47.vml"/><Relationship Id="rId6" Type="http://schemas.openxmlformats.org/officeDocument/2006/relationships/oleObject" Target="../embeddings/oleObject261.bin"/><Relationship Id="rId11" Type="http://schemas.openxmlformats.org/officeDocument/2006/relationships/image" Target="../media/image199.wmf"/><Relationship Id="rId24" Type="http://schemas.openxmlformats.org/officeDocument/2006/relationships/oleObject" Target="../embeddings/oleObject270.bin"/><Relationship Id="rId5" Type="http://schemas.openxmlformats.org/officeDocument/2006/relationships/image" Target="../media/image259.wmf"/><Relationship Id="rId15" Type="http://schemas.openxmlformats.org/officeDocument/2006/relationships/image" Target="../media/image262.wmf"/><Relationship Id="rId23" Type="http://schemas.openxmlformats.org/officeDocument/2006/relationships/image" Target="../media/image264.wmf"/><Relationship Id="rId10" Type="http://schemas.openxmlformats.org/officeDocument/2006/relationships/oleObject" Target="../embeddings/oleObject263.bin"/><Relationship Id="rId19" Type="http://schemas.openxmlformats.org/officeDocument/2006/relationships/image" Target="../media/image242.wmf"/><Relationship Id="rId4" Type="http://schemas.openxmlformats.org/officeDocument/2006/relationships/oleObject" Target="../embeddings/oleObject260.bin"/><Relationship Id="rId9" Type="http://schemas.openxmlformats.org/officeDocument/2006/relationships/image" Target="../media/image260.wmf"/><Relationship Id="rId14" Type="http://schemas.openxmlformats.org/officeDocument/2006/relationships/oleObject" Target="../embeddings/oleObject265.bin"/><Relationship Id="rId22" Type="http://schemas.openxmlformats.org/officeDocument/2006/relationships/oleObject" Target="../embeddings/oleObject269.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73.bin"/><Relationship Id="rId13" Type="http://schemas.openxmlformats.org/officeDocument/2006/relationships/image" Target="../media/image267.wmf"/><Relationship Id="rId18" Type="http://schemas.openxmlformats.org/officeDocument/2006/relationships/oleObject" Target="../embeddings/oleObject278.bin"/><Relationship Id="rId26" Type="http://schemas.openxmlformats.org/officeDocument/2006/relationships/oleObject" Target="../embeddings/oleObject282.bin"/><Relationship Id="rId3" Type="http://schemas.openxmlformats.org/officeDocument/2006/relationships/notesSlide" Target="../notesSlides/notesSlide74.xml"/><Relationship Id="rId21" Type="http://schemas.openxmlformats.org/officeDocument/2006/relationships/image" Target="../media/image271.png"/><Relationship Id="rId7" Type="http://schemas.openxmlformats.org/officeDocument/2006/relationships/image" Target="../media/image199.wmf"/><Relationship Id="rId12" Type="http://schemas.openxmlformats.org/officeDocument/2006/relationships/oleObject" Target="../embeddings/oleObject275.bin"/><Relationship Id="rId17" Type="http://schemas.openxmlformats.org/officeDocument/2006/relationships/image" Target="../media/image269.wmf"/><Relationship Id="rId25" Type="http://schemas.openxmlformats.org/officeDocument/2006/relationships/image" Target="../media/image273.wmf"/><Relationship Id="rId2" Type="http://schemas.openxmlformats.org/officeDocument/2006/relationships/slideLayout" Target="../slideLayouts/slideLayout13.xml"/><Relationship Id="rId16" Type="http://schemas.openxmlformats.org/officeDocument/2006/relationships/oleObject" Target="../embeddings/oleObject277.bin"/><Relationship Id="rId20" Type="http://schemas.openxmlformats.org/officeDocument/2006/relationships/oleObject" Target="../embeddings/oleObject279.bin"/><Relationship Id="rId1" Type="http://schemas.openxmlformats.org/officeDocument/2006/relationships/vmlDrawing" Target="../drawings/vmlDrawing48.vml"/><Relationship Id="rId6" Type="http://schemas.openxmlformats.org/officeDocument/2006/relationships/oleObject" Target="../embeddings/oleObject272.bin"/><Relationship Id="rId11" Type="http://schemas.openxmlformats.org/officeDocument/2006/relationships/image" Target="../media/image266.wmf"/><Relationship Id="rId24" Type="http://schemas.openxmlformats.org/officeDocument/2006/relationships/oleObject" Target="../embeddings/oleObject281.bin"/><Relationship Id="rId5" Type="http://schemas.openxmlformats.org/officeDocument/2006/relationships/image" Target="../media/image218.wmf"/><Relationship Id="rId15" Type="http://schemas.openxmlformats.org/officeDocument/2006/relationships/image" Target="../media/image268.wmf"/><Relationship Id="rId23" Type="http://schemas.openxmlformats.org/officeDocument/2006/relationships/image" Target="../media/image272.wmf"/><Relationship Id="rId10" Type="http://schemas.openxmlformats.org/officeDocument/2006/relationships/oleObject" Target="../embeddings/oleObject274.bin"/><Relationship Id="rId19" Type="http://schemas.openxmlformats.org/officeDocument/2006/relationships/image" Target="../media/image270.wmf"/><Relationship Id="rId4" Type="http://schemas.openxmlformats.org/officeDocument/2006/relationships/oleObject" Target="../embeddings/oleObject271.bin"/><Relationship Id="rId9" Type="http://schemas.openxmlformats.org/officeDocument/2006/relationships/image" Target="../media/image265.wmf"/><Relationship Id="rId14" Type="http://schemas.openxmlformats.org/officeDocument/2006/relationships/oleObject" Target="../embeddings/oleObject276.bin"/><Relationship Id="rId22" Type="http://schemas.openxmlformats.org/officeDocument/2006/relationships/oleObject" Target="../embeddings/oleObject280.bin"/><Relationship Id="rId27" Type="http://schemas.openxmlformats.org/officeDocument/2006/relationships/image" Target="../media/image274.wmf"/></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285.bin"/><Relationship Id="rId13" Type="http://schemas.openxmlformats.org/officeDocument/2006/relationships/image" Target="../media/image276.wmf"/><Relationship Id="rId18" Type="http://schemas.openxmlformats.org/officeDocument/2006/relationships/oleObject" Target="../embeddings/oleObject291.bin"/><Relationship Id="rId3" Type="http://schemas.openxmlformats.org/officeDocument/2006/relationships/notesSlide" Target="../notesSlides/notesSlide75.xml"/><Relationship Id="rId7" Type="http://schemas.openxmlformats.org/officeDocument/2006/relationships/image" Target="../media/image260.wmf"/><Relationship Id="rId12" Type="http://schemas.openxmlformats.org/officeDocument/2006/relationships/oleObject" Target="../embeddings/oleObject287.bin"/><Relationship Id="rId17" Type="http://schemas.openxmlformats.org/officeDocument/2006/relationships/image" Target="../media/image277.wmf"/><Relationship Id="rId2" Type="http://schemas.openxmlformats.org/officeDocument/2006/relationships/slideLayout" Target="../slideLayouts/slideLayout13.xml"/><Relationship Id="rId16" Type="http://schemas.openxmlformats.org/officeDocument/2006/relationships/oleObject" Target="../embeddings/oleObject290.bin"/><Relationship Id="rId1" Type="http://schemas.openxmlformats.org/officeDocument/2006/relationships/vmlDrawing" Target="../drawings/vmlDrawing49.vml"/><Relationship Id="rId6" Type="http://schemas.openxmlformats.org/officeDocument/2006/relationships/oleObject" Target="../embeddings/oleObject284.bin"/><Relationship Id="rId11" Type="http://schemas.openxmlformats.org/officeDocument/2006/relationships/image" Target="../media/image238.wmf"/><Relationship Id="rId5" Type="http://schemas.openxmlformats.org/officeDocument/2006/relationships/image" Target="../media/image275.wmf"/><Relationship Id="rId15" Type="http://schemas.openxmlformats.org/officeDocument/2006/relationships/oleObject" Target="../embeddings/oleObject289.bin"/><Relationship Id="rId10" Type="http://schemas.openxmlformats.org/officeDocument/2006/relationships/oleObject" Target="../embeddings/oleObject286.bin"/><Relationship Id="rId19" Type="http://schemas.openxmlformats.org/officeDocument/2006/relationships/image" Target="../media/image201.wmf"/><Relationship Id="rId4" Type="http://schemas.openxmlformats.org/officeDocument/2006/relationships/oleObject" Target="../embeddings/oleObject283.bin"/><Relationship Id="rId9" Type="http://schemas.openxmlformats.org/officeDocument/2006/relationships/image" Target="../media/image244.wmf"/><Relationship Id="rId14" Type="http://schemas.openxmlformats.org/officeDocument/2006/relationships/oleObject" Target="../embeddings/oleObject288.bin"/></Relationships>
</file>

<file path=ppt/slides/_rels/slide78.xml.rels><?xml version="1.0" encoding="UTF-8" standalone="yes"?>
<Relationships xmlns="http://schemas.openxmlformats.org/package/2006/relationships"><Relationship Id="rId13" Type="http://schemas.openxmlformats.org/officeDocument/2006/relationships/image" Target="../media/image202.wmf"/><Relationship Id="rId18" Type="http://schemas.openxmlformats.org/officeDocument/2006/relationships/oleObject" Target="../embeddings/oleObject299.bin"/><Relationship Id="rId26" Type="http://schemas.openxmlformats.org/officeDocument/2006/relationships/oleObject" Target="../embeddings/oleObject303.bin"/><Relationship Id="rId21" Type="http://schemas.openxmlformats.org/officeDocument/2006/relationships/image" Target="../media/image282.wmf"/><Relationship Id="rId34" Type="http://schemas.openxmlformats.org/officeDocument/2006/relationships/oleObject" Target="../embeddings/oleObject307.bin"/><Relationship Id="rId7" Type="http://schemas.openxmlformats.org/officeDocument/2006/relationships/image" Target="../media/image218.wmf"/><Relationship Id="rId12" Type="http://schemas.openxmlformats.org/officeDocument/2006/relationships/oleObject" Target="../embeddings/oleObject296.bin"/><Relationship Id="rId17" Type="http://schemas.openxmlformats.org/officeDocument/2006/relationships/image" Target="../media/image280.wmf"/><Relationship Id="rId25" Type="http://schemas.openxmlformats.org/officeDocument/2006/relationships/image" Target="../media/image238.wmf"/><Relationship Id="rId33" Type="http://schemas.openxmlformats.org/officeDocument/2006/relationships/image" Target="../media/image286.wmf"/><Relationship Id="rId2" Type="http://schemas.openxmlformats.org/officeDocument/2006/relationships/slideLayout" Target="../slideLayouts/slideLayout13.xml"/><Relationship Id="rId16" Type="http://schemas.openxmlformats.org/officeDocument/2006/relationships/oleObject" Target="../embeddings/oleObject298.bin"/><Relationship Id="rId20" Type="http://schemas.openxmlformats.org/officeDocument/2006/relationships/oleObject" Target="../embeddings/oleObject300.bin"/><Relationship Id="rId29" Type="http://schemas.openxmlformats.org/officeDocument/2006/relationships/image" Target="../media/image284.wmf"/><Relationship Id="rId1" Type="http://schemas.openxmlformats.org/officeDocument/2006/relationships/vmlDrawing" Target="../drawings/vmlDrawing50.vml"/><Relationship Id="rId6" Type="http://schemas.openxmlformats.org/officeDocument/2006/relationships/oleObject" Target="../embeddings/oleObject293.bin"/><Relationship Id="rId11" Type="http://schemas.openxmlformats.org/officeDocument/2006/relationships/image" Target="../media/image279.wmf"/><Relationship Id="rId24" Type="http://schemas.openxmlformats.org/officeDocument/2006/relationships/oleObject" Target="../embeddings/oleObject302.bin"/><Relationship Id="rId32" Type="http://schemas.openxmlformats.org/officeDocument/2006/relationships/oleObject" Target="../embeddings/oleObject306.bin"/><Relationship Id="rId37" Type="http://schemas.openxmlformats.org/officeDocument/2006/relationships/image" Target="../media/image243.wmf"/><Relationship Id="rId5" Type="http://schemas.openxmlformats.org/officeDocument/2006/relationships/image" Target="../media/image278.wmf"/><Relationship Id="rId15" Type="http://schemas.openxmlformats.org/officeDocument/2006/relationships/image" Target="../media/image219.wmf"/><Relationship Id="rId23" Type="http://schemas.openxmlformats.org/officeDocument/2006/relationships/image" Target="../media/image242.wmf"/><Relationship Id="rId28" Type="http://schemas.openxmlformats.org/officeDocument/2006/relationships/oleObject" Target="../embeddings/oleObject304.bin"/><Relationship Id="rId36" Type="http://schemas.openxmlformats.org/officeDocument/2006/relationships/oleObject" Target="../embeddings/oleObject308.bin"/><Relationship Id="rId10" Type="http://schemas.openxmlformats.org/officeDocument/2006/relationships/oleObject" Target="../embeddings/oleObject295.bin"/><Relationship Id="rId19" Type="http://schemas.openxmlformats.org/officeDocument/2006/relationships/image" Target="../media/image281.wmf"/><Relationship Id="rId31" Type="http://schemas.openxmlformats.org/officeDocument/2006/relationships/image" Target="../media/image285.wmf"/><Relationship Id="rId4" Type="http://schemas.openxmlformats.org/officeDocument/2006/relationships/oleObject" Target="../embeddings/oleObject292.bin"/><Relationship Id="rId9" Type="http://schemas.openxmlformats.org/officeDocument/2006/relationships/image" Target="../media/image199.wmf"/><Relationship Id="rId14" Type="http://schemas.openxmlformats.org/officeDocument/2006/relationships/oleObject" Target="../embeddings/oleObject297.bin"/><Relationship Id="rId22" Type="http://schemas.openxmlformats.org/officeDocument/2006/relationships/oleObject" Target="../embeddings/oleObject301.bin"/><Relationship Id="rId27" Type="http://schemas.openxmlformats.org/officeDocument/2006/relationships/image" Target="../media/image283.wmf"/><Relationship Id="rId30" Type="http://schemas.openxmlformats.org/officeDocument/2006/relationships/oleObject" Target="../embeddings/oleObject305.bin"/><Relationship Id="rId35" Type="http://schemas.openxmlformats.org/officeDocument/2006/relationships/image" Target="../media/image201.wmf"/><Relationship Id="rId8" Type="http://schemas.openxmlformats.org/officeDocument/2006/relationships/oleObject" Target="../embeddings/oleObject294.bin"/><Relationship Id="rId3"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311.bin"/><Relationship Id="rId13" Type="http://schemas.openxmlformats.org/officeDocument/2006/relationships/image" Target="../media/image289.wmf"/><Relationship Id="rId18" Type="http://schemas.openxmlformats.org/officeDocument/2006/relationships/oleObject" Target="../embeddings/oleObject316.bin"/><Relationship Id="rId3" Type="http://schemas.openxmlformats.org/officeDocument/2006/relationships/notesSlide" Target="../notesSlides/notesSlide77.xml"/><Relationship Id="rId7" Type="http://schemas.openxmlformats.org/officeDocument/2006/relationships/image" Target="../media/image288.wmf"/><Relationship Id="rId12" Type="http://schemas.openxmlformats.org/officeDocument/2006/relationships/oleObject" Target="../embeddings/oleObject313.bin"/><Relationship Id="rId17" Type="http://schemas.openxmlformats.org/officeDocument/2006/relationships/image" Target="../media/image291.wmf"/><Relationship Id="rId2" Type="http://schemas.openxmlformats.org/officeDocument/2006/relationships/slideLayout" Target="../slideLayouts/slideLayout13.xml"/><Relationship Id="rId16" Type="http://schemas.openxmlformats.org/officeDocument/2006/relationships/oleObject" Target="../embeddings/oleObject315.bin"/><Relationship Id="rId1" Type="http://schemas.openxmlformats.org/officeDocument/2006/relationships/vmlDrawing" Target="../drawings/vmlDrawing51.vml"/><Relationship Id="rId6" Type="http://schemas.openxmlformats.org/officeDocument/2006/relationships/oleObject" Target="../embeddings/oleObject310.bin"/><Relationship Id="rId11" Type="http://schemas.openxmlformats.org/officeDocument/2006/relationships/image" Target="../media/image283.wmf"/><Relationship Id="rId5" Type="http://schemas.openxmlformats.org/officeDocument/2006/relationships/image" Target="../media/image287.wmf"/><Relationship Id="rId15" Type="http://schemas.openxmlformats.org/officeDocument/2006/relationships/image" Target="../media/image290.wmf"/><Relationship Id="rId10" Type="http://schemas.openxmlformats.org/officeDocument/2006/relationships/oleObject" Target="../embeddings/oleObject312.bin"/><Relationship Id="rId19" Type="http://schemas.openxmlformats.org/officeDocument/2006/relationships/image" Target="../media/image292.wmf"/><Relationship Id="rId4" Type="http://schemas.openxmlformats.org/officeDocument/2006/relationships/oleObject" Target="../embeddings/oleObject309.bin"/><Relationship Id="rId9" Type="http://schemas.openxmlformats.org/officeDocument/2006/relationships/image" Target="../media/image248.wmf"/><Relationship Id="rId14" Type="http://schemas.openxmlformats.org/officeDocument/2006/relationships/oleObject" Target="../embeddings/oleObject314.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319.bin"/><Relationship Id="rId13" Type="http://schemas.openxmlformats.org/officeDocument/2006/relationships/image" Target="../media/image294.wmf"/><Relationship Id="rId3" Type="http://schemas.openxmlformats.org/officeDocument/2006/relationships/notesSlide" Target="../notesSlides/notesSlide78.xml"/><Relationship Id="rId7" Type="http://schemas.openxmlformats.org/officeDocument/2006/relationships/image" Target="../media/image199.wmf"/><Relationship Id="rId12" Type="http://schemas.openxmlformats.org/officeDocument/2006/relationships/oleObject" Target="../embeddings/oleObject321.bin"/><Relationship Id="rId2" Type="http://schemas.openxmlformats.org/officeDocument/2006/relationships/slideLayout" Target="../slideLayouts/slideLayout13.xml"/><Relationship Id="rId1" Type="http://schemas.openxmlformats.org/officeDocument/2006/relationships/vmlDrawing" Target="../drawings/vmlDrawing52.vml"/><Relationship Id="rId6" Type="http://schemas.openxmlformats.org/officeDocument/2006/relationships/oleObject" Target="../embeddings/oleObject318.bin"/><Relationship Id="rId11" Type="http://schemas.openxmlformats.org/officeDocument/2006/relationships/image" Target="../media/image248.wmf"/><Relationship Id="rId5" Type="http://schemas.openxmlformats.org/officeDocument/2006/relationships/image" Target="../media/image218.wmf"/><Relationship Id="rId15" Type="http://schemas.openxmlformats.org/officeDocument/2006/relationships/image" Target="../media/image295.wmf"/><Relationship Id="rId10" Type="http://schemas.openxmlformats.org/officeDocument/2006/relationships/oleObject" Target="../embeddings/oleObject320.bin"/><Relationship Id="rId4" Type="http://schemas.openxmlformats.org/officeDocument/2006/relationships/oleObject" Target="../embeddings/oleObject317.bin"/><Relationship Id="rId9" Type="http://schemas.openxmlformats.org/officeDocument/2006/relationships/image" Target="../media/image293.wmf"/><Relationship Id="rId14" Type="http://schemas.openxmlformats.org/officeDocument/2006/relationships/oleObject" Target="../embeddings/oleObject322.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25.bin"/><Relationship Id="rId13" Type="http://schemas.openxmlformats.org/officeDocument/2006/relationships/image" Target="../media/image201.wmf"/><Relationship Id="rId18" Type="http://schemas.openxmlformats.org/officeDocument/2006/relationships/oleObject" Target="../embeddings/oleObject330.bin"/><Relationship Id="rId3" Type="http://schemas.openxmlformats.org/officeDocument/2006/relationships/notesSlide" Target="../notesSlides/notesSlide79.xml"/><Relationship Id="rId7" Type="http://schemas.openxmlformats.org/officeDocument/2006/relationships/image" Target="../media/image244.wmf"/><Relationship Id="rId12" Type="http://schemas.openxmlformats.org/officeDocument/2006/relationships/oleObject" Target="../embeddings/oleObject327.bin"/><Relationship Id="rId17" Type="http://schemas.openxmlformats.org/officeDocument/2006/relationships/image" Target="../media/image264.wmf"/><Relationship Id="rId2" Type="http://schemas.openxmlformats.org/officeDocument/2006/relationships/slideLayout" Target="../slideLayouts/slideLayout13.xml"/><Relationship Id="rId16" Type="http://schemas.openxmlformats.org/officeDocument/2006/relationships/oleObject" Target="../embeddings/oleObject329.bin"/><Relationship Id="rId1" Type="http://schemas.openxmlformats.org/officeDocument/2006/relationships/vmlDrawing" Target="../drawings/vmlDrawing53.vml"/><Relationship Id="rId6" Type="http://schemas.openxmlformats.org/officeDocument/2006/relationships/oleObject" Target="../embeddings/oleObject324.bin"/><Relationship Id="rId11" Type="http://schemas.openxmlformats.org/officeDocument/2006/relationships/image" Target="../media/image297.wmf"/><Relationship Id="rId5" Type="http://schemas.openxmlformats.org/officeDocument/2006/relationships/image" Target="../media/image260.wmf"/><Relationship Id="rId15" Type="http://schemas.openxmlformats.org/officeDocument/2006/relationships/image" Target="../media/image243.wmf"/><Relationship Id="rId10" Type="http://schemas.openxmlformats.org/officeDocument/2006/relationships/oleObject" Target="../embeddings/oleObject326.bin"/><Relationship Id="rId19" Type="http://schemas.openxmlformats.org/officeDocument/2006/relationships/image" Target="../media/image298.wmf"/><Relationship Id="rId4" Type="http://schemas.openxmlformats.org/officeDocument/2006/relationships/oleObject" Target="../embeddings/oleObject323.bin"/><Relationship Id="rId9" Type="http://schemas.openxmlformats.org/officeDocument/2006/relationships/image" Target="../media/image296.wmf"/><Relationship Id="rId14" Type="http://schemas.openxmlformats.org/officeDocument/2006/relationships/oleObject" Target="../embeddings/oleObject328.bin"/></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333.bin"/><Relationship Id="rId13" Type="http://schemas.openxmlformats.org/officeDocument/2006/relationships/image" Target="../media/image298.wmf"/><Relationship Id="rId18" Type="http://schemas.openxmlformats.org/officeDocument/2006/relationships/oleObject" Target="../embeddings/oleObject338.bin"/><Relationship Id="rId3" Type="http://schemas.openxmlformats.org/officeDocument/2006/relationships/notesSlide" Target="../notesSlides/notesSlide80.xml"/><Relationship Id="rId21" Type="http://schemas.openxmlformats.org/officeDocument/2006/relationships/image" Target="../media/image301.wmf"/><Relationship Id="rId7" Type="http://schemas.openxmlformats.org/officeDocument/2006/relationships/image" Target="../media/image199.wmf"/><Relationship Id="rId12" Type="http://schemas.openxmlformats.org/officeDocument/2006/relationships/oleObject" Target="../embeddings/oleObject335.bin"/><Relationship Id="rId17" Type="http://schemas.openxmlformats.org/officeDocument/2006/relationships/image" Target="../media/image300.wmf"/><Relationship Id="rId2" Type="http://schemas.openxmlformats.org/officeDocument/2006/relationships/slideLayout" Target="../slideLayouts/slideLayout13.xml"/><Relationship Id="rId16" Type="http://schemas.openxmlformats.org/officeDocument/2006/relationships/oleObject" Target="../embeddings/oleObject337.bin"/><Relationship Id="rId20" Type="http://schemas.openxmlformats.org/officeDocument/2006/relationships/oleObject" Target="../embeddings/oleObject339.bin"/><Relationship Id="rId1" Type="http://schemas.openxmlformats.org/officeDocument/2006/relationships/vmlDrawing" Target="../drawings/vmlDrawing54.vml"/><Relationship Id="rId6" Type="http://schemas.openxmlformats.org/officeDocument/2006/relationships/oleObject" Target="../embeddings/oleObject332.bin"/><Relationship Id="rId11" Type="http://schemas.openxmlformats.org/officeDocument/2006/relationships/image" Target="../media/image294.wmf"/><Relationship Id="rId5" Type="http://schemas.openxmlformats.org/officeDocument/2006/relationships/image" Target="../media/image218.wmf"/><Relationship Id="rId15" Type="http://schemas.openxmlformats.org/officeDocument/2006/relationships/image" Target="../media/image222.wmf"/><Relationship Id="rId10" Type="http://schemas.openxmlformats.org/officeDocument/2006/relationships/oleObject" Target="../embeddings/oleObject334.bin"/><Relationship Id="rId19" Type="http://schemas.openxmlformats.org/officeDocument/2006/relationships/image" Target="../media/image248.wmf"/><Relationship Id="rId4" Type="http://schemas.openxmlformats.org/officeDocument/2006/relationships/oleObject" Target="../embeddings/oleObject331.bin"/><Relationship Id="rId9" Type="http://schemas.openxmlformats.org/officeDocument/2006/relationships/image" Target="../media/image299.wmf"/><Relationship Id="rId14" Type="http://schemas.openxmlformats.org/officeDocument/2006/relationships/oleObject" Target="../embeddings/oleObject336.bin"/></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342.bin"/><Relationship Id="rId13" Type="http://schemas.openxmlformats.org/officeDocument/2006/relationships/oleObject" Target="../embeddings/oleObject345.bin"/><Relationship Id="rId3" Type="http://schemas.openxmlformats.org/officeDocument/2006/relationships/notesSlide" Target="../notesSlides/notesSlide81.xml"/><Relationship Id="rId7" Type="http://schemas.openxmlformats.org/officeDocument/2006/relationships/image" Target="../media/image303.png"/><Relationship Id="rId12" Type="http://schemas.openxmlformats.org/officeDocument/2006/relationships/oleObject" Target="../embeddings/oleObject344.bin"/><Relationship Id="rId2" Type="http://schemas.openxmlformats.org/officeDocument/2006/relationships/slideLayout" Target="../slideLayouts/slideLayout13.xml"/><Relationship Id="rId16" Type="http://schemas.openxmlformats.org/officeDocument/2006/relationships/image" Target="../media/image305.wmf"/><Relationship Id="rId1" Type="http://schemas.openxmlformats.org/officeDocument/2006/relationships/vmlDrawing" Target="../drawings/vmlDrawing55.vml"/><Relationship Id="rId6" Type="http://schemas.openxmlformats.org/officeDocument/2006/relationships/oleObject" Target="../embeddings/oleObject341.bin"/><Relationship Id="rId11" Type="http://schemas.openxmlformats.org/officeDocument/2006/relationships/image" Target="../media/image300.wmf"/><Relationship Id="rId5" Type="http://schemas.openxmlformats.org/officeDocument/2006/relationships/image" Target="../media/image302.png"/><Relationship Id="rId15" Type="http://schemas.openxmlformats.org/officeDocument/2006/relationships/oleObject" Target="../embeddings/oleObject346.bin"/><Relationship Id="rId10" Type="http://schemas.openxmlformats.org/officeDocument/2006/relationships/oleObject" Target="../embeddings/oleObject343.bin"/><Relationship Id="rId4" Type="http://schemas.openxmlformats.org/officeDocument/2006/relationships/oleObject" Target="../embeddings/oleObject340.bin"/><Relationship Id="rId9" Type="http://schemas.openxmlformats.org/officeDocument/2006/relationships/image" Target="../media/image297.wmf"/><Relationship Id="rId14" Type="http://schemas.openxmlformats.org/officeDocument/2006/relationships/image" Target="../media/image304.png"/></Relationships>
</file>

<file path=ppt/slides/_rels/slide84.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notesSlide" Target="../notesSlides/notesSlide82.xml"/><Relationship Id="rId1" Type="http://schemas.openxmlformats.org/officeDocument/2006/relationships/slideLayout" Target="../slideLayouts/slideLayout13.xml"/><Relationship Id="rId4" Type="http://schemas.openxmlformats.org/officeDocument/2006/relationships/image" Target="../media/image30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308.jpeg"/><Relationship Id="rId7" Type="http://schemas.openxmlformats.org/officeDocument/2006/relationships/image" Target="../media/image312.jpeg"/><Relationship Id="rId2" Type="http://schemas.openxmlformats.org/officeDocument/2006/relationships/notesSlide" Target="../notesSlides/notesSlide84.xml"/><Relationship Id="rId1" Type="http://schemas.openxmlformats.org/officeDocument/2006/relationships/slideLayout" Target="../slideLayouts/slideLayout13.xml"/><Relationship Id="rId6" Type="http://schemas.openxmlformats.org/officeDocument/2006/relationships/image" Target="../media/image311.jpeg"/><Relationship Id="rId5" Type="http://schemas.openxmlformats.org/officeDocument/2006/relationships/image" Target="../media/image310.jpeg"/><Relationship Id="rId4" Type="http://schemas.openxmlformats.org/officeDocument/2006/relationships/image" Target="../media/image309.jpe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7.xml"/><Relationship Id="rId7" Type="http://schemas.openxmlformats.org/officeDocument/2006/relationships/image" Target="../media/image314.wmf"/><Relationship Id="rId2" Type="http://schemas.openxmlformats.org/officeDocument/2006/relationships/slideLayout" Target="../slideLayouts/slideLayout13.xml"/><Relationship Id="rId1" Type="http://schemas.openxmlformats.org/officeDocument/2006/relationships/vmlDrawing" Target="../drawings/vmlDrawing56.vml"/><Relationship Id="rId6" Type="http://schemas.openxmlformats.org/officeDocument/2006/relationships/oleObject" Target="../embeddings/oleObject348.bin"/><Relationship Id="rId5" Type="http://schemas.openxmlformats.org/officeDocument/2006/relationships/image" Target="../media/image313.wmf"/><Relationship Id="rId4" Type="http://schemas.openxmlformats.org/officeDocument/2006/relationships/oleObject" Target="../embeddings/oleObject347.bin"/></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351.bin"/><Relationship Id="rId13" Type="http://schemas.openxmlformats.org/officeDocument/2006/relationships/image" Target="../media/image319.wmf"/><Relationship Id="rId3" Type="http://schemas.openxmlformats.org/officeDocument/2006/relationships/notesSlide" Target="../notesSlides/notesSlide88.xml"/><Relationship Id="rId7" Type="http://schemas.openxmlformats.org/officeDocument/2006/relationships/image" Target="../media/image316.wmf"/><Relationship Id="rId12" Type="http://schemas.openxmlformats.org/officeDocument/2006/relationships/oleObject" Target="../embeddings/oleObject353.bin"/><Relationship Id="rId2" Type="http://schemas.openxmlformats.org/officeDocument/2006/relationships/slideLayout" Target="../slideLayouts/slideLayout13.xml"/><Relationship Id="rId1" Type="http://schemas.openxmlformats.org/officeDocument/2006/relationships/vmlDrawing" Target="../drawings/vmlDrawing57.vml"/><Relationship Id="rId6" Type="http://schemas.openxmlformats.org/officeDocument/2006/relationships/oleObject" Target="../embeddings/oleObject350.bin"/><Relationship Id="rId11" Type="http://schemas.openxmlformats.org/officeDocument/2006/relationships/image" Target="../media/image318.wmf"/><Relationship Id="rId5" Type="http://schemas.openxmlformats.org/officeDocument/2006/relationships/image" Target="../media/image315.wmf"/><Relationship Id="rId10" Type="http://schemas.openxmlformats.org/officeDocument/2006/relationships/oleObject" Target="../embeddings/oleObject352.bin"/><Relationship Id="rId4" Type="http://schemas.openxmlformats.org/officeDocument/2006/relationships/oleObject" Target="../embeddings/oleObject349.bin"/><Relationship Id="rId9" Type="http://schemas.openxmlformats.org/officeDocument/2006/relationships/image" Target="../media/image317.wmf"/></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356.bin"/><Relationship Id="rId13" Type="http://schemas.openxmlformats.org/officeDocument/2006/relationships/oleObject" Target="../embeddings/oleObject358.bin"/><Relationship Id="rId18" Type="http://schemas.openxmlformats.org/officeDocument/2006/relationships/image" Target="../media/image325.wmf"/><Relationship Id="rId3" Type="http://schemas.openxmlformats.org/officeDocument/2006/relationships/notesSlide" Target="../notesSlides/notesSlide89.xml"/><Relationship Id="rId7" Type="http://schemas.openxmlformats.org/officeDocument/2006/relationships/image" Target="../media/image318.wmf"/><Relationship Id="rId12" Type="http://schemas.openxmlformats.org/officeDocument/2006/relationships/image" Target="../media/image322.wmf"/><Relationship Id="rId17" Type="http://schemas.openxmlformats.org/officeDocument/2006/relationships/oleObject" Target="../embeddings/oleObject360.bin"/><Relationship Id="rId2" Type="http://schemas.openxmlformats.org/officeDocument/2006/relationships/slideLayout" Target="../slideLayouts/slideLayout13.xml"/><Relationship Id="rId16" Type="http://schemas.openxmlformats.org/officeDocument/2006/relationships/image" Target="../media/image324.wmf"/><Relationship Id="rId1" Type="http://schemas.openxmlformats.org/officeDocument/2006/relationships/vmlDrawing" Target="../drawings/vmlDrawing58.vml"/><Relationship Id="rId6" Type="http://schemas.openxmlformats.org/officeDocument/2006/relationships/oleObject" Target="../embeddings/oleObject355.bin"/><Relationship Id="rId11" Type="http://schemas.openxmlformats.org/officeDocument/2006/relationships/oleObject" Target="../embeddings/oleObject357.bin"/><Relationship Id="rId5" Type="http://schemas.openxmlformats.org/officeDocument/2006/relationships/image" Target="../media/image320.wmf"/><Relationship Id="rId15" Type="http://schemas.openxmlformats.org/officeDocument/2006/relationships/oleObject" Target="../embeddings/oleObject359.bin"/><Relationship Id="rId10" Type="http://schemas.openxmlformats.org/officeDocument/2006/relationships/image" Target="../media/image326.png"/><Relationship Id="rId4" Type="http://schemas.openxmlformats.org/officeDocument/2006/relationships/oleObject" Target="../embeddings/oleObject354.bin"/><Relationship Id="rId9" Type="http://schemas.openxmlformats.org/officeDocument/2006/relationships/image" Target="../media/image321.wmf"/><Relationship Id="rId14" Type="http://schemas.openxmlformats.org/officeDocument/2006/relationships/image" Target="../media/image323.wmf"/></Relationships>
</file>

<file path=ppt/slides/_rels/slide93.xml.rels><?xml version="1.0" encoding="UTF-8" standalone="yes"?>
<Relationships xmlns="http://schemas.openxmlformats.org/package/2006/relationships"><Relationship Id="rId8" Type="http://schemas.openxmlformats.org/officeDocument/2006/relationships/image" Target="../media/image326.png"/><Relationship Id="rId13" Type="http://schemas.openxmlformats.org/officeDocument/2006/relationships/oleObject" Target="../embeddings/oleObject365.bin"/><Relationship Id="rId18" Type="http://schemas.openxmlformats.org/officeDocument/2006/relationships/image" Target="../media/image332.wmf"/><Relationship Id="rId3" Type="http://schemas.openxmlformats.org/officeDocument/2006/relationships/notesSlide" Target="../notesSlides/notesSlide90.xml"/><Relationship Id="rId7" Type="http://schemas.openxmlformats.org/officeDocument/2006/relationships/image" Target="../media/image328.wmf"/><Relationship Id="rId12" Type="http://schemas.openxmlformats.org/officeDocument/2006/relationships/image" Target="../media/image329.wmf"/><Relationship Id="rId17" Type="http://schemas.openxmlformats.org/officeDocument/2006/relationships/oleObject" Target="../embeddings/oleObject367.bin"/><Relationship Id="rId2" Type="http://schemas.openxmlformats.org/officeDocument/2006/relationships/slideLayout" Target="../slideLayouts/slideLayout13.xml"/><Relationship Id="rId16" Type="http://schemas.openxmlformats.org/officeDocument/2006/relationships/image" Target="../media/image331.wmf"/><Relationship Id="rId1" Type="http://schemas.openxmlformats.org/officeDocument/2006/relationships/vmlDrawing" Target="../drawings/vmlDrawing59.vml"/><Relationship Id="rId6" Type="http://schemas.openxmlformats.org/officeDocument/2006/relationships/oleObject" Target="../embeddings/oleObject362.bin"/><Relationship Id="rId11" Type="http://schemas.openxmlformats.org/officeDocument/2006/relationships/oleObject" Target="../embeddings/oleObject364.bin"/><Relationship Id="rId5" Type="http://schemas.openxmlformats.org/officeDocument/2006/relationships/image" Target="../media/image327.wmf"/><Relationship Id="rId15" Type="http://schemas.openxmlformats.org/officeDocument/2006/relationships/oleObject" Target="../embeddings/oleObject366.bin"/><Relationship Id="rId10" Type="http://schemas.openxmlformats.org/officeDocument/2006/relationships/image" Target="../media/image322.wmf"/><Relationship Id="rId4" Type="http://schemas.openxmlformats.org/officeDocument/2006/relationships/oleObject" Target="../embeddings/oleObject361.bin"/><Relationship Id="rId9" Type="http://schemas.openxmlformats.org/officeDocument/2006/relationships/oleObject" Target="../embeddings/oleObject363.bin"/><Relationship Id="rId14" Type="http://schemas.openxmlformats.org/officeDocument/2006/relationships/image" Target="../media/image330.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369.bin"/><Relationship Id="rId13" Type="http://schemas.openxmlformats.org/officeDocument/2006/relationships/image" Target="../media/image335.wmf"/><Relationship Id="rId3" Type="http://schemas.openxmlformats.org/officeDocument/2006/relationships/notesSlide" Target="../notesSlides/notesSlide91.xml"/><Relationship Id="rId7" Type="http://schemas.openxmlformats.org/officeDocument/2006/relationships/image" Target="../media/image337.png"/><Relationship Id="rId12" Type="http://schemas.openxmlformats.org/officeDocument/2006/relationships/oleObject" Target="../embeddings/oleObject371.bin"/><Relationship Id="rId2" Type="http://schemas.openxmlformats.org/officeDocument/2006/relationships/slideLayout" Target="../slideLayouts/slideLayout13.xml"/><Relationship Id="rId1" Type="http://schemas.openxmlformats.org/officeDocument/2006/relationships/vmlDrawing" Target="../drawings/vmlDrawing60.vml"/><Relationship Id="rId6" Type="http://schemas.openxmlformats.org/officeDocument/2006/relationships/image" Target="../media/image336.png"/><Relationship Id="rId11" Type="http://schemas.openxmlformats.org/officeDocument/2006/relationships/image" Target="../media/image334.wmf"/><Relationship Id="rId5" Type="http://schemas.openxmlformats.org/officeDocument/2006/relationships/image" Target="../media/image333.wmf"/><Relationship Id="rId10" Type="http://schemas.openxmlformats.org/officeDocument/2006/relationships/oleObject" Target="../embeddings/oleObject370.bin"/><Relationship Id="rId4" Type="http://schemas.openxmlformats.org/officeDocument/2006/relationships/oleObject" Target="../embeddings/oleObject368.bin"/><Relationship Id="rId9" Type="http://schemas.openxmlformats.org/officeDocument/2006/relationships/image" Target="../media/image321.wmf"/></Relationships>
</file>

<file path=ppt/slides/_rels/slide95.xml.rels><?xml version="1.0" encoding="UTF-8" standalone="yes"?>
<Relationships xmlns="http://schemas.openxmlformats.org/package/2006/relationships"><Relationship Id="rId8" Type="http://schemas.openxmlformats.org/officeDocument/2006/relationships/image" Target="../media/image339.wmf"/><Relationship Id="rId3" Type="http://schemas.openxmlformats.org/officeDocument/2006/relationships/notesSlide" Target="../notesSlides/notesSlide92.xml"/><Relationship Id="rId7" Type="http://schemas.openxmlformats.org/officeDocument/2006/relationships/oleObject" Target="../embeddings/oleObject373.bin"/><Relationship Id="rId2" Type="http://schemas.openxmlformats.org/officeDocument/2006/relationships/slideLayout" Target="../slideLayouts/slideLayout13.xml"/><Relationship Id="rId1" Type="http://schemas.openxmlformats.org/officeDocument/2006/relationships/vmlDrawing" Target="../drawings/vmlDrawing61.vml"/><Relationship Id="rId6" Type="http://schemas.openxmlformats.org/officeDocument/2006/relationships/image" Target="../media/image338.wmf"/><Relationship Id="rId5" Type="http://schemas.openxmlformats.org/officeDocument/2006/relationships/oleObject" Target="../embeddings/oleObject372.bin"/><Relationship Id="rId4" Type="http://schemas.openxmlformats.org/officeDocument/2006/relationships/image" Target="../media/image336.png"/></Relationships>
</file>

<file path=ppt/slides/_rels/slide96.xml.rels><?xml version="1.0" encoding="UTF-8" standalone="yes"?>
<Relationships xmlns="http://schemas.openxmlformats.org/package/2006/relationships"><Relationship Id="rId8" Type="http://schemas.openxmlformats.org/officeDocument/2006/relationships/image" Target="../media/image341.wmf"/><Relationship Id="rId13" Type="http://schemas.openxmlformats.org/officeDocument/2006/relationships/oleObject" Target="../embeddings/oleObject378.bin"/><Relationship Id="rId3" Type="http://schemas.openxmlformats.org/officeDocument/2006/relationships/notesSlide" Target="../notesSlides/notesSlide93.xml"/><Relationship Id="rId7" Type="http://schemas.openxmlformats.org/officeDocument/2006/relationships/oleObject" Target="../embeddings/oleObject375.bin"/><Relationship Id="rId12" Type="http://schemas.openxmlformats.org/officeDocument/2006/relationships/image" Target="../media/image343.wmf"/><Relationship Id="rId2" Type="http://schemas.openxmlformats.org/officeDocument/2006/relationships/slideLayout" Target="../slideLayouts/slideLayout13.xml"/><Relationship Id="rId1" Type="http://schemas.openxmlformats.org/officeDocument/2006/relationships/vmlDrawing" Target="../drawings/vmlDrawing62.vml"/><Relationship Id="rId6" Type="http://schemas.openxmlformats.org/officeDocument/2006/relationships/image" Target="../media/image340.wmf"/><Relationship Id="rId11" Type="http://schemas.openxmlformats.org/officeDocument/2006/relationships/oleObject" Target="../embeddings/oleObject377.bin"/><Relationship Id="rId5" Type="http://schemas.openxmlformats.org/officeDocument/2006/relationships/oleObject" Target="../embeddings/oleObject374.bin"/><Relationship Id="rId10" Type="http://schemas.openxmlformats.org/officeDocument/2006/relationships/image" Target="../media/image342.wmf"/><Relationship Id="rId4" Type="http://schemas.openxmlformats.org/officeDocument/2006/relationships/image" Target="../media/image336.png"/><Relationship Id="rId9" Type="http://schemas.openxmlformats.org/officeDocument/2006/relationships/oleObject" Target="../embeddings/oleObject376.bin"/><Relationship Id="rId14" Type="http://schemas.openxmlformats.org/officeDocument/2006/relationships/image" Target="../media/image344.wmf"/></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381.bin"/><Relationship Id="rId13" Type="http://schemas.openxmlformats.org/officeDocument/2006/relationships/image" Target="../media/image349.wmf"/><Relationship Id="rId3" Type="http://schemas.openxmlformats.org/officeDocument/2006/relationships/notesSlide" Target="../notesSlides/notesSlide94.xml"/><Relationship Id="rId7" Type="http://schemas.openxmlformats.org/officeDocument/2006/relationships/image" Target="../media/image346.wmf"/><Relationship Id="rId12" Type="http://schemas.openxmlformats.org/officeDocument/2006/relationships/oleObject" Target="../embeddings/oleObject383.bin"/><Relationship Id="rId2" Type="http://schemas.openxmlformats.org/officeDocument/2006/relationships/slideLayout" Target="../slideLayouts/slideLayout13.xml"/><Relationship Id="rId1" Type="http://schemas.openxmlformats.org/officeDocument/2006/relationships/vmlDrawing" Target="../drawings/vmlDrawing63.vml"/><Relationship Id="rId6" Type="http://schemas.openxmlformats.org/officeDocument/2006/relationships/oleObject" Target="../embeddings/oleObject380.bin"/><Relationship Id="rId11" Type="http://schemas.openxmlformats.org/officeDocument/2006/relationships/image" Target="../media/image348.wmf"/><Relationship Id="rId5" Type="http://schemas.openxmlformats.org/officeDocument/2006/relationships/image" Target="../media/image345.wmf"/><Relationship Id="rId15" Type="http://schemas.openxmlformats.org/officeDocument/2006/relationships/image" Target="../media/image350.wmf"/><Relationship Id="rId10" Type="http://schemas.openxmlformats.org/officeDocument/2006/relationships/oleObject" Target="../embeddings/oleObject382.bin"/><Relationship Id="rId4" Type="http://schemas.openxmlformats.org/officeDocument/2006/relationships/oleObject" Target="../embeddings/oleObject379.bin"/><Relationship Id="rId9" Type="http://schemas.openxmlformats.org/officeDocument/2006/relationships/image" Target="../media/image347.wmf"/><Relationship Id="rId14" Type="http://schemas.openxmlformats.org/officeDocument/2006/relationships/oleObject" Target="../embeddings/oleObject384.bin"/></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387.bin"/><Relationship Id="rId3" Type="http://schemas.openxmlformats.org/officeDocument/2006/relationships/notesSlide" Target="../notesSlides/notesSlide95.xml"/><Relationship Id="rId7" Type="http://schemas.openxmlformats.org/officeDocument/2006/relationships/image" Target="../media/image352.wmf"/><Relationship Id="rId2" Type="http://schemas.openxmlformats.org/officeDocument/2006/relationships/slideLayout" Target="../slideLayouts/slideLayout13.xml"/><Relationship Id="rId1" Type="http://schemas.openxmlformats.org/officeDocument/2006/relationships/vmlDrawing" Target="../drawings/vmlDrawing64.vml"/><Relationship Id="rId6" Type="http://schemas.openxmlformats.org/officeDocument/2006/relationships/oleObject" Target="../embeddings/oleObject386.bin"/><Relationship Id="rId5" Type="http://schemas.openxmlformats.org/officeDocument/2006/relationships/image" Target="../media/image351.wmf"/><Relationship Id="rId4" Type="http://schemas.openxmlformats.org/officeDocument/2006/relationships/oleObject" Target="../embeddings/oleObject385.bin"/><Relationship Id="rId9" Type="http://schemas.openxmlformats.org/officeDocument/2006/relationships/image" Target="../media/image353.wmf"/></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6.xml"/><Relationship Id="rId7" Type="http://schemas.openxmlformats.org/officeDocument/2006/relationships/image" Target="../media/image355.wmf"/><Relationship Id="rId2" Type="http://schemas.openxmlformats.org/officeDocument/2006/relationships/slideLayout" Target="../slideLayouts/slideLayout13.xml"/><Relationship Id="rId1" Type="http://schemas.openxmlformats.org/officeDocument/2006/relationships/vmlDrawing" Target="../drawings/vmlDrawing65.vml"/><Relationship Id="rId6" Type="http://schemas.openxmlformats.org/officeDocument/2006/relationships/oleObject" Target="../embeddings/oleObject389.bin"/><Relationship Id="rId5" Type="http://schemas.openxmlformats.org/officeDocument/2006/relationships/image" Target="../media/image354.wmf"/><Relationship Id="rId4" Type="http://schemas.openxmlformats.org/officeDocument/2006/relationships/oleObject" Target="../embeddings/oleObject388.bin"/></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3.xml"/><Relationship Id="rId1" Type="http://schemas.openxmlformats.org/officeDocument/2006/relationships/vmlDrawing" Target="../drawings/vmlDrawing66.vml"/><Relationship Id="rId5" Type="http://schemas.openxmlformats.org/officeDocument/2006/relationships/image" Target="../media/image356.wmf"/><Relationship Id="rId4" Type="http://schemas.openxmlformats.org/officeDocument/2006/relationships/oleObject" Target="../embeddings/oleObject390.bin"/></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9.xml"/><Relationship Id="rId7" Type="http://schemas.openxmlformats.org/officeDocument/2006/relationships/image" Target="../media/image358.wmf"/><Relationship Id="rId2" Type="http://schemas.openxmlformats.org/officeDocument/2006/relationships/slideLayout" Target="../slideLayouts/slideLayout13.xml"/><Relationship Id="rId1" Type="http://schemas.openxmlformats.org/officeDocument/2006/relationships/vmlDrawing" Target="../drawings/vmlDrawing67.vml"/><Relationship Id="rId6" Type="http://schemas.openxmlformats.org/officeDocument/2006/relationships/oleObject" Target="../embeddings/oleObject392.bin"/><Relationship Id="rId5" Type="http://schemas.openxmlformats.org/officeDocument/2006/relationships/image" Target="../media/image357.wmf"/><Relationship Id="rId4" Type="http://schemas.openxmlformats.org/officeDocument/2006/relationships/oleObject" Target="../embeddings/oleObject391.bin"/></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0.xml"/><Relationship Id="rId7" Type="http://schemas.openxmlformats.org/officeDocument/2006/relationships/image" Target="../media/image360.wmf"/><Relationship Id="rId2" Type="http://schemas.openxmlformats.org/officeDocument/2006/relationships/slideLayout" Target="../slideLayouts/slideLayout13.xml"/><Relationship Id="rId1" Type="http://schemas.openxmlformats.org/officeDocument/2006/relationships/vmlDrawing" Target="../drawings/vmlDrawing68.vml"/><Relationship Id="rId6" Type="http://schemas.openxmlformats.org/officeDocument/2006/relationships/oleObject" Target="../embeddings/oleObject394.bin"/><Relationship Id="rId5" Type="http://schemas.openxmlformats.org/officeDocument/2006/relationships/image" Target="../media/image359.wmf"/><Relationship Id="rId4" Type="http://schemas.openxmlformats.org/officeDocument/2006/relationships/oleObject" Target="../embeddings/oleObject393.bin"/></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397.bin"/><Relationship Id="rId13" Type="http://schemas.openxmlformats.org/officeDocument/2006/relationships/image" Target="../media/image364.wmf"/><Relationship Id="rId3" Type="http://schemas.openxmlformats.org/officeDocument/2006/relationships/notesSlide" Target="../notesSlides/notesSlide101.xml"/><Relationship Id="rId7" Type="http://schemas.openxmlformats.org/officeDocument/2006/relationships/image" Target="../media/image362.wmf"/><Relationship Id="rId12" Type="http://schemas.openxmlformats.org/officeDocument/2006/relationships/oleObject" Target="../embeddings/oleObject399.bin"/><Relationship Id="rId17" Type="http://schemas.openxmlformats.org/officeDocument/2006/relationships/image" Target="../media/image365.wmf"/><Relationship Id="rId2" Type="http://schemas.openxmlformats.org/officeDocument/2006/relationships/slideLayout" Target="../slideLayouts/slideLayout13.xml"/><Relationship Id="rId16" Type="http://schemas.openxmlformats.org/officeDocument/2006/relationships/oleObject" Target="../embeddings/oleObject401.bin"/><Relationship Id="rId1" Type="http://schemas.openxmlformats.org/officeDocument/2006/relationships/vmlDrawing" Target="../drawings/vmlDrawing69.vml"/><Relationship Id="rId6" Type="http://schemas.openxmlformats.org/officeDocument/2006/relationships/oleObject" Target="../embeddings/oleObject396.bin"/><Relationship Id="rId11" Type="http://schemas.openxmlformats.org/officeDocument/2006/relationships/image" Target="../media/image363.wmf"/><Relationship Id="rId5" Type="http://schemas.openxmlformats.org/officeDocument/2006/relationships/image" Target="../media/image361.wmf"/><Relationship Id="rId15" Type="http://schemas.openxmlformats.org/officeDocument/2006/relationships/image" Target="../media/image357.wmf"/><Relationship Id="rId10" Type="http://schemas.openxmlformats.org/officeDocument/2006/relationships/oleObject" Target="../embeddings/oleObject398.bin"/><Relationship Id="rId4" Type="http://schemas.openxmlformats.org/officeDocument/2006/relationships/oleObject" Target="../embeddings/oleObject395.bin"/><Relationship Id="rId9" Type="http://schemas.openxmlformats.org/officeDocument/2006/relationships/image" Target="../media/image353.wmf"/><Relationship Id="rId14" Type="http://schemas.openxmlformats.org/officeDocument/2006/relationships/oleObject" Target="../embeddings/oleObject400.bin"/></Relationships>
</file>

<file path=ppt/slides/_rels/slide105.xml.rels><?xml version="1.0" encoding="UTF-8" standalone="yes"?>
<Relationships xmlns="http://schemas.openxmlformats.org/package/2006/relationships"><Relationship Id="rId8" Type="http://schemas.openxmlformats.org/officeDocument/2006/relationships/oleObject" Target="../embeddings/oleObject404.bin"/><Relationship Id="rId13" Type="http://schemas.openxmlformats.org/officeDocument/2006/relationships/image" Target="../media/image369.wmf"/><Relationship Id="rId3" Type="http://schemas.openxmlformats.org/officeDocument/2006/relationships/notesSlide" Target="../notesSlides/notesSlide102.xml"/><Relationship Id="rId7" Type="http://schemas.openxmlformats.org/officeDocument/2006/relationships/image" Target="../media/image367.wmf"/><Relationship Id="rId12" Type="http://schemas.openxmlformats.org/officeDocument/2006/relationships/oleObject" Target="../embeddings/oleObject406.bin"/><Relationship Id="rId2" Type="http://schemas.openxmlformats.org/officeDocument/2006/relationships/slideLayout" Target="../slideLayouts/slideLayout13.xml"/><Relationship Id="rId1" Type="http://schemas.openxmlformats.org/officeDocument/2006/relationships/vmlDrawing" Target="../drawings/vmlDrawing70.vml"/><Relationship Id="rId6" Type="http://schemas.openxmlformats.org/officeDocument/2006/relationships/oleObject" Target="../embeddings/oleObject403.bin"/><Relationship Id="rId11" Type="http://schemas.openxmlformats.org/officeDocument/2006/relationships/image" Target="../media/image358.wmf"/><Relationship Id="rId5" Type="http://schemas.openxmlformats.org/officeDocument/2006/relationships/image" Target="../media/image366.wmf"/><Relationship Id="rId10" Type="http://schemas.openxmlformats.org/officeDocument/2006/relationships/oleObject" Target="../embeddings/oleObject405.bin"/><Relationship Id="rId4" Type="http://schemas.openxmlformats.org/officeDocument/2006/relationships/oleObject" Target="../embeddings/oleObject402.bin"/><Relationship Id="rId9" Type="http://schemas.openxmlformats.org/officeDocument/2006/relationships/image" Target="../media/image368.wmf"/></Relationships>
</file>

<file path=ppt/slides/_rels/slide106.xml.rels><?xml version="1.0" encoding="UTF-8" standalone="yes"?>
<Relationships xmlns="http://schemas.openxmlformats.org/package/2006/relationships"><Relationship Id="rId8" Type="http://schemas.openxmlformats.org/officeDocument/2006/relationships/image" Target="../media/image371.wmf"/><Relationship Id="rId3" Type="http://schemas.openxmlformats.org/officeDocument/2006/relationships/notesSlide" Target="../notesSlides/notesSlide103.xml"/><Relationship Id="rId7" Type="http://schemas.openxmlformats.org/officeDocument/2006/relationships/oleObject" Target="../embeddings/oleObject408.bin"/><Relationship Id="rId2" Type="http://schemas.openxmlformats.org/officeDocument/2006/relationships/slideLayout" Target="../slideLayouts/slideLayout13.xml"/><Relationship Id="rId1" Type="http://schemas.openxmlformats.org/officeDocument/2006/relationships/vmlDrawing" Target="../drawings/vmlDrawing71.vml"/><Relationship Id="rId6" Type="http://schemas.openxmlformats.org/officeDocument/2006/relationships/image" Target="../media/image373.png"/><Relationship Id="rId5" Type="http://schemas.openxmlformats.org/officeDocument/2006/relationships/image" Target="../media/image370.wmf"/><Relationship Id="rId10" Type="http://schemas.openxmlformats.org/officeDocument/2006/relationships/image" Target="../media/image372.wmf"/><Relationship Id="rId4" Type="http://schemas.openxmlformats.org/officeDocument/2006/relationships/oleObject" Target="../embeddings/oleObject407.bin"/><Relationship Id="rId9" Type="http://schemas.openxmlformats.org/officeDocument/2006/relationships/oleObject" Target="../embeddings/oleObject409.bin"/></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4.xml"/><Relationship Id="rId7" Type="http://schemas.openxmlformats.org/officeDocument/2006/relationships/image" Target="../media/image375.wmf"/><Relationship Id="rId2" Type="http://schemas.openxmlformats.org/officeDocument/2006/relationships/slideLayout" Target="../slideLayouts/slideLayout13.xml"/><Relationship Id="rId1" Type="http://schemas.openxmlformats.org/officeDocument/2006/relationships/vmlDrawing" Target="../drawings/vmlDrawing72.vml"/><Relationship Id="rId6" Type="http://schemas.openxmlformats.org/officeDocument/2006/relationships/oleObject" Target="../embeddings/oleObject411.bin"/><Relationship Id="rId5" Type="http://schemas.openxmlformats.org/officeDocument/2006/relationships/image" Target="../media/image374.wmf"/><Relationship Id="rId4" Type="http://schemas.openxmlformats.org/officeDocument/2006/relationships/oleObject" Target="../embeddings/oleObject410.bin"/></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5.xml"/><Relationship Id="rId7" Type="http://schemas.openxmlformats.org/officeDocument/2006/relationships/image" Target="../media/image377.wmf"/><Relationship Id="rId2" Type="http://schemas.openxmlformats.org/officeDocument/2006/relationships/slideLayout" Target="../slideLayouts/slideLayout13.xml"/><Relationship Id="rId1" Type="http://schemas.openxmlformats.org/officeDocument/2006/relationships/vmlDrawing" Target="../drawings/vmlDrawing73.vml"/><Relationship Id="rId6" Type="http://schemas.openxmlformats.org/officeDocument/2006/relationships/oleObject" Target="../embeddings/oleObject413.bin"/><Relationship Id="rId5" Type="http://schemas.openxmlformats.org/officeDocument/2006/relationships/image" Target="../media/image376.wmf"/><Relationship Id="rId4" Type="http://schemas.openxmlformats.org/officeDocument/2006/relationships/oleObject" Target="../embeddings/oleObject412.bin"/></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6.xml"/><Relationship Id="rId7" Type="http://schemas.openxmlformats.org/officeDocument/2006/relationships/image" Target="../media/image378.wmf"/><Relationship Id="rId2" Type="http://schemas.openxmlformats.org/officeDocument/2006/relationships/slideLayout" Target="../slideLayouts/slideLayout13.xml"/><Relationship Id="rId1" Type="http://schemas.openxmlformats.org/officeDocument/2006/relationships/vmlDrawing" Target="../drawings/vmlDrawing74.vml"/><Relationship Id="rId6" Type="http://schemas.openxmlformats.org/officeDocument/2006/relationships/oleObject" Target="../embeddings/oleObject415.bin"/><Relationship Id="rId5" Type="http://schemas.openxmlformats.org/officeDocument/2006/relationships/image" Target="../media/image376.wmf"/><Relationship Id="rId4" Type="http://schemas.openxmlformats.org/officeDocument/2006/relationships/oleObject" Target="../embeddings/oleObject414.bin"/></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418.bin"/><Relationship Id="rId3" Type="http://schemas.openxmlformats.org/officeDocument/2006/relationships/notesSlide" Target="../notesSlides/notesSlide107.xml"/><Relationship Id="rId7" Type="http://schemas.openxmlformats.org/officeDocument/2006/relationships/image" Target="../media/image380.wmf"/><Relationship Id="rId2" Type="http://schemas.openxmlformats.org/officeDocument/2006/relationships/slideLayout" Target="../slideLayouts/slideLayout13.xml"/><Relationship Id="rId1" Type="http://schemas.openxmlformats.org/officeDocument/2006/relationships/vmlDrawing" Target="../drawings/vmlDrawing75.vml"/><Relationship Id="rId6" Type="http://schemas.openxmlformats.org/officeDocument/2006/relationships/oleObject" Target="../embeddings/oleObject417.bin"/><Relationship Id="rId5" Type="http://schemas.openxmlformats.org/officeDocument/2006/relationships/image" Target="../media/image379.wmf"/><Relationship Id="rId4" Type="http://schemas.openxmlformats.org/officeDocument/2006/relationships/oleObject" Target="../embeddings/oleObject416.bin"/><Relationship Id="rId9" Type="http://schemas.openxmlformats.org/officeDocument/2006/relationships/image" Target="../media/image381.wmf"/></Relationships>
</file>

<file path=ppt/slides/_rels/slide111.xml.rels><?xml version="1.0" encoding="UTF-8" standalone="yes"?>
<Relationships xmlns="http://schemas.openxmlformats.org/package/2006/relationships"><Relationship Id="rId8" Type="http://schemas.openxmlformats.org/officeDocument/2006/relationships/image" Target="../media/image384.png"/><Relationship Id="rId3" Type="http://schemas.openxmlformats.org/officeDocument/2006/relationships/notesSlide" Target="../notesSlides/notesSlide108.xml"/><Relationship Id="rId7" Type="http://schemas.openxmlformats.org/officeDocument/2006/relationships/image" Target="../media/image383.wmf"/><Relationship Id="rId2" Type="http://schemas.openxmlformats.org/officeDocument/2006/relationships/slideLayout" Target="../slideLayouts/slideLayout13.xml"/><Relationship Id="rId1" Type="http://schemas.openxmlformats.org/officeDocument/2006/relationships/vmlDrawing" Target="../drawings/vmlDrawing76.vml"/><Relationship Id="rId6" Type="http://schemas.openxmlformats.org/officeDocument/2006/relationships/oleObject" Target="../embeddings/oleObject420.bin"/><Relationship Id="rId5" Type="http://schemas.openxmlformats.org/officeDocument/2006/relationships/image" Target="../media/image382.wmf"/><Relationship Id="rId4" Type="http://schemas.openxmlformats.org/officeDocument/2006/relationships/oleObject" Target="../embeddings/oleObject419.bin"/></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9.xml"/><Relationship Id="rId7" Type="http://schemas.openxmlformats.org/officeDocument/2006/relationships/image" Target="../media/image387.png"/><Relationship Id="rId2" Type="http://schemas.openxmlformats.org/officeDocument/2006/relationships/slideLayout" Target="../slideLayouts/slideLayout13.xml"/><Relationship Id="rId1" Type="http://schemas.openxmlformats.org/officeDocument/2006/relationships/vmlDrawing" Target="../drawings/vmlDrawing77.vml"/><Relationship Id="rId6" Type="http://schemas.openxmlformats.org/officeDocument/2006/relationships/image" Target="../media/image386.png"/><Relationship Id="rId5" Type="http://schemas.openxmlformats.org/officeDocument/2006/relationships/image" Target="../media/image385.wmf"/><Relationship Id="rId4" Type="http://schemas.openxmlformats.org/officeDocument/2006/relationships/oleObject" Target="../embeddings/oleObject421.bin"/></Relationships>
</file>

<file path=ppt/slides/_rels/slide113.xml.rels><?xml version="1.0" encoding="UTF-8" standalone="yes"?>
<Relationships xmlns="http://schemas.openxmlformats.org/package/2006/relationships"><Relationship Id="rId3" Type="http://schemas.openxmlformats.org/officeDocument/2006/relationships/image" Target="../media/image388.png"/><Relationship Id="rId2" Type="http://schemas.openxmlformats.org/officeDocument/2006/relationships/notesSlide" Target="../notesSlides/notesSlide110.xml"/><Relationship Id="rId1" Type="http://schemas.openxmlformats.org/officeDocument/2006/relationships/slideLayout" Target="../slideLayouts/slideLayout13.xml"/><Relationship Id="rId5" Type="http://schemas.openxmlformats.org/officeDocument/2006/relationships/image" Target="../media/image390.png"/><Relationship Id="rId4" Type="http://schemas.openxmlformats.org/officeDocument/2006/relationships/image" Target="../media/image389.png"/></Relationships>
</file>

<file path=ppt/slides/_rels/slide114.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notesSlide" Target="../notesSlides/notesSlide111.xml"/><Relationship Id="rId1" Type="http://schemas.openxmlformats.org/officeDocument/2006/relationships/slideLayout" Target="../slideLayouts/slideLayout13.xml"/><Relationship Id="rId4" Type="http://schemas.openxmlformats.org/officeDocument/2006/relationships/image" Target="../media/image392.png"/></Relationships>
</file>

<file path=ppt/slides/_rels/slide115.xml.rels><?xml version="1.0" encoding="UTF-8" standalone="yes"?>
<Relationships xmlns="http://schemas.openxmlformats.org/package/2006/relationships"><Relationship Id="rId8" Type="http://schemas.openxmlformats.org/officeDocument/2006/relationships/oleObject" Target="../embeddings/oleObject423.bin"/><Relationship Id="rId3" Type="http://schemas.openxmlformats.org/officeDocument/2006/relationships/notesSlide" Target="../notesSlides/notesSlide112.xml"/><Relationship Id="rId7" Type="http://schemas.openxmlformats.org/officeDocument/2006/relationships/image" Target="../media/image393.wmf"/><Relationship Id="rId2" Type="http://schemas.openxmlformats.org/officeDocument/2006/relationships/slideLayout" Target="../slideLayouts/slideLayout13.xml"/><Relationship Id="rId1" Type="http://schemas.openxmlformats.org/officeDocument/2006/relationships/vmlDrawing" Target="../drawings/vmlDrawing78.vml"/><Relationship Id="rId6" Type="http://schemas.openxmlformats.org/officeDocument/2006/relationships/oleObject" Target="../embeddings/oleObject422.bin"/><Relationship Id="rId5" Type="http://schemas.openxmlformats.org/officeDocument/2006/relationships/image" Target="../media/image392.png"/><Relationship Id="rId4" Type="http://schemas.openxmlformats.org/officeDocument/2006/relationships/image" Target="../media/image391.png"/><Relationship Id="rId9" Type="http://schemas.openxmlformats.org/officeDocument/2006/relationships/image" Target="../media/image394.wmf"/></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3.xml"/><Relationship Id="rId1" Type="http://schemas.openxmlformats.org/officeDocument/2006/relationships/vmlDrawing" Target="../drawings/vmlDrawing79.vml"/><Relationship Id="rId6" Type="http://schemas.openxmlformats.org/officeDocument/2006/relationships/image" Target="../media/image395.wmf"/><Relationship Id="rId5" Type="http://schemas.openxmlformats.org/officeDocument/2006/relationships/oleObject" Target="../embeddings/oleObject424.bin"/><Relationship Id="rId4" Type="http://schemas.openxmlformats.org/officeDocument/2006/relationships/image" Target="../media/image396.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4.xml"/><Relationship Id="rId7" Type="http://schemas.openxmlformats.org/officeDocument/2006/relationships/image" Target="../media/image398.wmf"/><Relationship Id="rId2" Type="http://schemas.openxmlformats.org/officeDocument/2006/relationships/slideLayout" Target="../slideLayouts/slideLayout13.xml"/><Relationship Id="rId1" Type="http://schemas.openxmlformats.org/officeDocument/2006/relationships/vmlDrawing" Target="../drawings/vmlDrawing80.vml"/><Relationship Id="rId6" Type="http://schemas.openxmlformats.org/officeDocument/2006/relationships/oleObject" Target="../embeddings/oleObject426.bin"/><Relationship Id="rId5" Type="http://schemas.openxmlformats.org/officeDocument/2006/relationships/image" Target="../media/image397.wmf"/><Relationship Id="rId4" Type="http://schemas.openxmlformats.org/officeDocument/2006/relationships/oleObject" Target="../embeddings/oleObject425.bin"/></Relationships>
</file>

<file path=ppt/slides/_rels/slide118.xml.rels><?xml version="1.0" encoding="UTF-8" standalone="yes"?>
<Relationships xmlns="http://schemas.openxmlformats.org/package/2006/relationships"><Relationship Id="rId8" Type="http://schemas.openxmlformats.org/officeDocument/2006/relationships/image" Target="../media/image399.wmf"/><Relationship Id="rId3" Type="http://schemas.openxmlformats.org/officeDocument/2006/relationships/notesSlide" Target="../notesSlides/notesSlide115.xml"/><Relationship Id="rId7" Type="http://schemas.openxmlformats.org/officeDocument/2006/relationships/oleObject" Target="../embeddings/oleObject427.bin"/><Relationship Id="rId12" Type="http://schemas.openxmlformats.org/officeDocument/2006/relationships/image" Target="../media/image401.wmf"/><Relationship Id="rId2" Type="http://schemas.openxmlformats.org/officeDocument/2006/relationships/slideLayout" Target="../slideLayouts/slideLayout13.xml"/><Relationship Id="rId1" Type="http://schemas.openxmlformats.org/officeDocument/2006/relationships/vmlDrawing" Target="../drawings/vmlDrawing81.vml"/><Relationship Id="rId6" Type="http://schemas.openxmlformats.org/officeDocument/2006/relationships/image" Target="../media/image404.png"/><Relationship Id="rId11" Type="http://schemas.openxmlformats.org/officeDocument/2006/relationships/oleObject" Target="../embeddings/oleObject429.bin"/><Relationship Id="rId5" Type="http://schemas.openxmlformats.org/officeDocument/2006/relationships/image" Target="../media/image403.png"/><Relationship Id="rId10" Type="http://schemas.openxmlformats.org/officeDocument/2006/relationships/image" Target="../media/image400.wmf"/><Relationship Id="rId4" Type="http://schemas.openxmlformats.org/officeDocument/2006/relationships/image" Target="../media/image402.png"/><Relationship Id="rId9" Type="http://schemas.openxmlformats.org/officeDocument/2006/relationships/oleObject" Target="../embeddings/oleObject428.bin"/></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432.bin"/><Relationship Id="rId3" Type="http://schemas.openxmlformats.org/officeDocument/2006/relationships/notesSlide" Target="../notesSlides/notesSlide116.xml"/><Relationship Id="rId7" Type="http://schemas.openxmlformats.org/officeDocument/2006/relationships/image" Target="../media/image406.wmf"/><Relationship Id="rId2" Type="http://schemas.openxmlformats.org/officeDocument/2006/relationships/slideLayout" Target="../slideLayouts/slideLayout13.xml"/><Relationship Id="rId1" Type="http://schemas.openxmlformats.org/officeDocument/2006/relationships/vmlDrawing" Target="../drawings/vmlDrawing82.vml"/><Relationship Id="rId6" Type="http://schemas.openxmlformats.org/officeDocument/2006/relationships/oleObject" Target="../embeddings/oleObject431.bin"/><Relationship Id="rId5" Type="http://schemas.openxmlformats.org/officeDocument/2006/relationships/image" Target="../media/image405.wmf"/><Relationship Id="rId4" Type="http://schemas.openxmlformats.org/officeDocument/2006/relationships/oleObject" Target="../embeddings/oleObject430.bin"/><Relationship Id="rId9" Type="http://schemas.openxmlformats.org/officeDocument/2006/relationships/image" Target="../media/image407.wmf"/></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3.xml"/><Relationship Id="rId1" Type="http://schemas.openxmlformats.org/officeDocument/2006/relationships/vmlDrawing" Target="../drawings/vmlDrawing83.vml"/><Relationship Id="rId5" Type="http://schemas.openxmlformats.org/officeDocument/2006/relationships/image" Target="../media/image408.wmf"/><Relationship Id="rId4" Type="http://schemas.openxmlformats.org/officeDocument/2006/relationships/oleObject" Target="../embeddings/oleObject433.bin"/></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3.xml"/><Relationship Id="rId1" Type="http://schemas.openxmlformats.org/officeDocument/2006/relationships/vmlDrawing" Target="../drawings/vmlDrawing84.vml"/><Relationship Id="rId6" Type="http://schemas.openxmlformats.org/officeDocument/2006/relationships/image" Target="../media/image409.wmf"/><Relationship Id="rId5" Type="http://schemas.openxmlformats.org/officeDocument/2006/relationships/oleObject" Target="../embeddings/oleObject434.bin"/><Relationship Id="rId4" Type="http://schemas.openxmlformats.org/officeDocument/2006/relationships/image" Target="../media/image410.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9.xml"/><Relationship Id="rId7" Type="http://schemas.openxmlformats.org/officeDocument/2006/relationships/image" Target="../media/image411.wmf"/><Relationship Id="rId2" Type="http://schemas.openxmlformats.org/officeDocument/2006/relationships/slideLayout" Target="../slideLayouts/slideLayout13.xml"/><Relationship Id="rId1" Type="http://schemas.openxmlformats.org/officeDocument/2006/relationships/vmlDrawing" Target="../drawings/vmlDrawing85.vml"/><Relationship Id="rId6" Type="http://schemas.openxmlformats.org/officeDocument/2006/relationships/oleObject" Target="../embeddings/oleObject435.bin"/><Relationship Id="rId5" Type="http://schemas.openxmlformats.org/officeDocument/2006/relationships/image" Target="../media/image413.png"/><Relationship Id="rId4" Type="http://schemas.openxmlformats.org/officeDocument/2006/relationships/image" Target="../media/image412.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3.xml"/><Relationship Id="rId1" Type="http://schemas.openxmlformats.org/officeDocument/2006/relationships/vmlDrawing" Target="../drawings/vmlDrawing86.vml"/><Relationship Id="rId5" Type="http://schemas.openxmlformats.org/officeDocument/2006/relationships/image" Target="../media/image56.wmf"/><Relationship Id="rId4" Type="http://schemas.openxmlformats.org/officeDocument/2006/relationships/oleObject" Target="../embeddings/oleObject436.bin"/></Relationships>
</file>

<file path=ppt/slides/_rels/slide124.xml.rels><?xml version="1.0" encoding="UTF-8" standalone="yes"?>
<Relationships xmlns="http://schemas.openxmlformats.org/package/2006/relationships"><Relationship Id="rId8" Type="http://schemas.openxmlformats.org/officeDocument/2006/relationships/image" Target="../media/image163.jpeg"/><Relationship Id="rId3" Type="http://schemas.openxmlformats.org/officeDocument/2006/relationships/notesSlide" Target="../notesSlides/notesSlide121.xml"/><Relationship Id="rId7" Type="http://schemas.openxmlformats.org/officeDocument/2006/relationships/image" Target="../media/image56.wmf"/><Relationship Id="rId2" Type="http://schemas.openxmlformats.org/officeDocument/2006/relationships/slideLayout" Target="../slideLayouts/slideLayout13.xml"/><Relationship Id="rId1" Type="http://schemas.openxmlformats.org/officeDocument/2006/relationships/vmlDrawing" Target="../drawings/vmlDrawing87.vml"/><Relationship Id="rId6" Type="http://schemas.openxmlformats.org/officeDocument/2006/relationships/oleObject" Target="../embeddings/oleObject438.bin"/><Relationship Id="rId5" Type="http://schemas.openxmlformats.org/officeDocument/2006/relationships/image" Target="../media/image414.wmf"/><Relationship Id="rId10" Type="http://schemas.openxmlformats.org/officeDocument/2006/relationships/image" Target="../media/image415.png"/><Relationship Id="rId4" Type="http://schemas.openxmlformats.org/officeDocument/2006/relationships/oleObject" Target="../embeddings/oleObject437.bin"/><Relationship Id="rId9" Type="http://schemas.openxmlformats.org/officeDocument/2006/relationships/image" Target="../media/image19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3.xml"/><Relationship Id="rId1" Type="http://schemas.openxmlformats.org/officeDocument/2006/relationships/vmlDrawing" Target="../drawings/vmlDrawing88.vml"/><Relationship Id="rId5" Type="http://schemas.openxmlformats.org/officeDocument/2006/relationships/image" Target="../media/image375.wmf"/><Relationship Id="rId4" Type="http://schemas.openxmlformats.org/officeDocument/2006/relationships/oleObject" Target="../embeddings/oleObject439.bin"/></Relationships>
</file>

<file path=ppt/slides/_rels/slide126.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notesSlide" Target="../notesSlides/notesSlide123.xml"/><Relationship Id="rId1" Type="http://schemas.openxmlformats.org/officeDocument/2006/relationships/slideLayout" Target="../slideLayouts/slideLayout13.xml"/><Relationship Id="rId4" Type="http://schemas.openxmlformats.org/officeDocument/2006/relationships/image" Target="../media/image39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68313" y="1968496"/>
            <a:ext cx="8207375" cy="960438"/>
          </a:xfrm>
        </p:spPr>
        <p:txBody>
          <a:bodyPr/>
          <a:lstStyle/>
          <a:p>
            <a:r>
              <a:rPr lang="zh-CN" altLang="en-US" sz="4400">
                <a:solidFill>
                  <a:schemeClr val="tx1"/>
                </a:solidFill>
                <a:effectLst>
                  <a:outerShdw blurRad="38100" dist="38100" dir="2700000" algn="tl">
                    <a:srgbClr val="000000">
                      <a:alpha val="43137"/>
                    </a:srgbClr>
                  </a:outerShdw>
                </a:effectLst>
              </a:rPr>
              <a:t>结 构 力 学 </a:t>
            </a:r>
            <a:r>
              <a:rPr lang="en-US" altLang="zh-CN" sz="4400">
                <a:solidFill>
                  <a:schemeClr val="tx1"/>
                </a:solidFill>
                <a:effectLst>
                  <a:outerShdw blurRad="38100" dist="38100" dir="2700000" algn="tl">
                    <a:srgbClr val="000000">
                      <a:alpha val="43137"/>
                    </a:srgbClr>
                  </a:outerShdw>
                </a:effectLst>
              </a:rPr>
              <a:t>I</a:t>
            </a:r>
            <a:endParaRPr lang="zh-CN" altLang="en-US" sz="4400" dirty="0">
              <a:solidFill>
                <a:schemeClr val="tx1"/>
              </a:solidFill>
              <a:effectLst>
                <a:outerShdw blurRad="38100" dist="38100" dir="2700000" algn="tl">
                  <a:srgbClr val="000000">
                    <a:alpha val="43137"/>
                  </a:srgbClr>
                </a:outerShdw>
              </a:effectLst>
            </a:endParaRPr>
          </a:p>
        </p:txBody>
      </p:sp>
      <p:sp>
        <p:nvSpPr>
          <p:cNvPr id="4" name="标题 5"/>
          <p:cNvSpPr txBox="1">
            <a:spLocks/>
          </p:cNvSpPr>
          <p:nvPr/>
        </p:nvSpPr>
        <p:spPr bwMode="auto">
          <a:xfrm>
            <a:off x="477549" y="4143380"/>
            <a:ext cx="8207375" cy="960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lang="zh-CN" altLang="en-US" sz="4400" b="1" kern="0">
                <a:solidFill>
                  <a:schemeClr val="bg1"/>
                </a:solidFill>
                <a:effectLst>
                  <a:outerShdw blurRad="38100" dist="38100" dir="2700000" algn="tl">
                    <a:srgbClr val="000000">
                      <a:alpha val="43137"/>
                    </a:srgbClr>
                  </a:outerShdw>
                </a:effectLst>
                <a:latin typeface="+mj-ea"/>
                <a:ea typeface="+mj-ea"/>
                <a:cs typeface="+mj-cs"/>
              </a:rPr>
              <a:t>第五章 虚功原理与</a:t>
            </a:r>
            <a:endParaRPr kumimoji="0" lang="en-US" altLang="zh-CN" sz="4400" b="1" i="0" u="none" strike="noStrike" kern="0" cap="none" spc="0" normalizeH="0" baseline="0" noProof="0">
              <a:ln>
                <a:noFill/>
              </a:ln>
              <a:solidFill>
                <a:schemeClr val="bg1"/>
              </a:solidFill>
              <a:effectLst>
                <a:outerShdw blurRad="38100" dist="38100" dir="2700000" algn="tl">
                  <a:srgbClr val="000000">
                    <a:alpha val="43137"/>
                  </a:srgbClr>
                </a:outerShdw>
              </a:effectLst>
              <a:uLnTx/>
              <a:uFillTx/>
              <a:latin typeface="+mj-ea"/>
              <a:ea typeface="+mj-ea"/>
              <a:cs typeface="+mj-cs"/>
            </a:endParaRPr>
          </a:p>
          <a:p>
            <a:pPr marL="0" marR="0" lvl="0" indent="0" algn="ctr" defTabSz="914400" rtl="0" eaLnBrk="1" fontAlgn="base" latinLnBrk="0" hangingPunct="1">
              <a:lnSpc>
                <a:spcPct val="120000"/>
              </a:lnSpc>
              <a:spcBef>
                <a:spcPct val="0"/>
              </a:spcBef>
              <a:spcAft>
                <a:spcPct val="0"/>
              </a:spcAft>
              <a:buClrTx/>
              <a:buSzTx/>
              <a:buFontTx/>
              <a:buNone/>
              <a:tabLst/>
              <a:defRPr/>
            </a:pPr>
            <a:r>
              <a:rPr kumimoji="0" lang="zh-CN" altLang="en-US" sz="4400" b="1" i="0" u="none" strike="noStrike" kern="0" cap="none" spc="0" normalizeH="0" baseline="0" noProof="0">
                <a:ln>
                  <a:noFill/>
                </a:ln>
                <a:solidFill>
                  <a:schemeClr val="bg1"/>
                </a:solidFill>
                <a:effectLst>
                  <a:outerShdw blurRad="38100" dist="38100" dir="2700000" algn="tl">
                    <a:srgbClr val="000000">
                      <a:alpha val="43137"/>
                    </a:srgbClr>
                  </a:outerShdw>
                </a:effectLst>
                <a:uLnTx/>
                <a:uFillTx/>
                <a:latin typeface="+mj-ea"/>
                <a:ea typeface="+mj-ea"/>
                <a:cs typeface="+mj-cs"/>
              </a:rPr>
              <a:t>结构位移计算</a:t>
            </a:r>
            <a:endParaRPr kumimoji="0" lang="zh-CN" altLang="en-US" sz="4400" b="1" i="0" u="none" strike="noStrike" kern="0" cap="none" spc="0" normalizeH="0" baseline="0" noProof="0" dirty="0">
              <a:ln>
                <a:noFill/>
              </a:ln>
              <a:solidFill>
                <a:schemeClr val="bg1"/>
              </a:solidFill>
              <a:effectLst>
                <a:outerShdw blurRad="38100" dist="38100" dir="2700000" algn="tl">
                  <a:srgbClr val="000000">
                    <a:alpha val="43137"/>
                  </a:srgbClr>
                </a:outerShdw>
              </a:effectLst>
              <a:uLnTx/>
              <a:uFillTx/>
              <a:latin typeface="+mj-ea"/>
              <a:ea typeface="+mj-ea"/>
              <a:cs typeface="+mj-cs"/>
            </a:endParaRPr>
          </a:p>
        </p:txBody>
      </p:sp>
      <p:sp>
        <p:nvSpPr>
          <p:cNvPr id="9" name="副标题 3"/>
          <p:cNvSpPr>
            <a:spLocks noGrp="1"/>
          </p:cNvSpPr>
          <p:nvPr>
            <p:ph type="subTitle" idx="1"/>
          </p:nvPr>
        </p:nvSpPr>
        <p:spPr>
          <a:xfrm>
            <a:off x="683568" y="5735657"/>
            <a:ext cx="7776864" cy="407987"/>
          </a:xfrm>
        </p:spPr>
        <p:txBody>
          <a:bodyPr/>
          <a:lstStyle/>
          <a:p>
            <a:fld id="{781730A4-E180-4040-B90D-77E0BE6DFDCA}" type="datetime2">
              <a:rPr lang="zh-CN" altLang="en-US" sz="2000" smtClean="0"/>
              <a:pPr/>
              <a:t>2020年10月30日</a:t>
            </a:fld>
            <a:endParaRPr lang="zh-CN" alt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0" algn="r">
              <a:defRPr/>
            </a:pPr>
            <a:r>
              <a:rPr lang="zh-CN" altLang="en-US"/>
              <a:t>第五章 </a:t>
            </a:r>
            <a:r>
              <a:rPr lang="zh-CN" altLang="en-US">
                <a:effectLst>
                  <a:outerShdw blurRad="38100" dist="38100" dir="2700000" algn="tl">
                    <a:srgbClr val="000000">
                      <a:alpha val="43137"/>
                    </a:srgbClr>
                  </a:outerShdw>
                </a:effectLst>
              </a:rPr>
              <a:t>虚功原理与结构位移计算</a:t>
            </a:r>
            <a:endParaRPr lang="zh-CN" altLang="en-US" sz="3600" dirty="0"/>
          </a:p>
        </p:txBody>
      </p:sp>
      <p:sp>
        <p:nvSpPr>
          <p:cNvPr id="3" name="内容占位符 2"/>
          <p:cNvSpPr>
            <a:spLocks noGrp="1"/>
          </p:cNvSpPr>
          <p:nvPr>
            <p:ph idx="1"/>
          </p:nvPr>
        </p:nvSpPr>
        <p:spPr>
          <a:ln>
            <a:noFill/>
          </a:ln>
        </p:spPr>
        <p:txBody>
          <a:bodyPr/>
          <a:lstStyle/>
          <a:p>
            <a:pPr>
              <a:buClrTx/>
            </a:pPr>
            <a:r>
              <a:rPr lang="zh-CN" altLang="en-US"/>
              <a:t>主要内容</a:t>
            </a:r>
            <a:endParaRPr lang="en-US" altLang="zh-CN"/>
          </a:p>
          <a:p>
            <a:pPr lvl="1">
              <a:lnSpc>
                <a:spcPct val="150000"/>
              </a:lnSpc>
            </a:pPr>
            <a:r>
              <a:rPr lang="zh-CN" altLang="en-US">
                <a:solidFill>
                  <a:srgbClr val="C00000"/>
                </a:solidFill>
              </a:rPr>
              <a:t>应用虚力原理求刚体体系的位移           </a:t>
            </a:r>
            <a:endParaRPr lang="en-US" altLang="zh-CN">
              <a:solidFill>
                <a:srgbClr val="C00000"/>
              </a:solidFill>
            </a:endParaRPr>
          </a:p>
          <a:p>
            <a:pPr lvl="1">
              <a:lnSpc>
                <a:spcPct val="150000"/>
              </a:lnSpc>
            </a:pPr>
            <a:r>
              <a:rPr lang="zh-CN" altLang="en-US">
                <a:solidFill>
                  <a:srgbClr val="C00000"/>
                </a:solidFill>
              </a:rPr>
              <a:t>结构体位移计算的单位荷载法</a:t>
            </a:r>
            <a:endParaRPr lang="en-US" altLang="zh-CN">
              <a:solidFill>
                <a:srgbClr val="C00000"/>
              </a:solidFill>
            </a:endParaRPr>
          </a:p>
          <a:p>
            <a:pPr lvl="1">
              <a:lnSpc>
                <a:spcPct val="150000"/>
              </a:lnSpc>
            </a:pPr>
            <a:r>
              <a:rPr lang="zh-CN" altLang="en-US"/>
              <a:t>荷载作用下的位移计算及举例</a:t>
            </a:r>
            <a:endParaRPr lang="en-US" altLang="zh-CN"/>
          </a:p>
          <a:p>
            <a:pPr lvl="1">
              <a:lnSpc>
                <a:spcPct val="150000"/>
              </a:lnSpc>
            </a:pPr>
            <a:r>
              <a:rPr lang="zh-CN" altLang="en-US"/>
              <a:t>图乘法</a:t>
            </a:r>
            <a:endParaRPr lang="en-US" altLang="zh-CN"/>
          </a:p>
          <a:p>
            <a:pPr lvl="1">
              <a:lnSpc>
                <a:spcPct val="150000"/>
              </a:lnSpc>
            </a:pPr>
            <a:r>
              <a:rPr lang="zh-CN" altLang="en-US"/>
              <a:t>温度改变时的位移计算</a:t>
            </a:r>
            <a:endParaRPr lang="en-US" altLang="zh-CN"/>
          </a:p>
          <a:p>
            <a:pPr lvl="1">
              <a:lnSpc>
                <a:spcPct val="150000"/>
              </a:lnSpc>
            </a:pPr>
            <a:r>
              <a:rPr lang="zh-CN" altLang="en-US"/>
              <a:t>变形体的虚功原理</a:t>
            </a:r>
            <a:endParaRPr lang="en-US" altLang="zh-CN"/>
          </a:p>
          <a:p>
            <a:pPr lvl="1">
              <a:lnSpc>
                <a:spcPct val="150000"/>
              </a:lnSpc>
            </a:pPr>
            <a:r>
              <a:rPr lang="zh-CN" altLang="en-US"/>
              <a:t>互等定理</a:t>
            </a:r>
            <a:endParaRPr lang="en-US" altLang="zh-CN"/>
          </a:p>
          <a:p>
            <a:pPr lvl="1">
              <a:lnSpc>
                <a:spcPct val="150000"/>
              </a:lnSpc>
            </a:pPr>
            <a:r>
              <a:rPr lang="zh-CN" altLang="en-US"/>
              <a:t>思考与小结</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结构位移计算概述</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797782"/>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位移：结构上的某一截面在荷载或其它因素作用下由某一位置移动到另一位置，这个移动的量就称为该截面的位移；</a:t>
            </a:r>
            <a:endParaRPr lang="en-US" altLang="zh-CN" sz="2000" b="1"/>
          </a:p>
        </p:txBody>
      </p:sp>
      <p:sp>
        <p:nvSpPr>
          <p:cNvPr id="16" name="TextBox 15"/>
          <p:cNvSpPr txBox="1"/>
          <p:nvPr/>
        </p:nvSpPr>
        <p:spPr>
          <a:xfrm>
            <a:off x="1214414" y="2571744"/>
            <a:ext cx="3262432" cy="400110"/>
          </a:xfrm>
          <a:prstGeom prst="rect">
            <a:avLst/>
          </a:prstGeom>
          <a:noFill/>
          <a:ln w="28575">
            <a:noFill/>
          </a:ln>
        </p:spPr>
        <p:txBody>
          <a:bodyPr wrap="none" rtlCol="0">
            <a:spAutoFit/>
          </a:bodyPr>
          <a:lstStyle/>
          <a:p>
            <a:r>
              <a:rPr lang="zh-CN" altLang="en-US" sz="2000" b="1">
                <a:solidFill>
                  <a:srgbClr val="C00000"/>
                </a:solidFill>
              </a:rPr>
              <a:t>思考：变形和位移的差别？</a:t>
            </a:r>
          </a:p>
        </p:txBody>
      </p:sp>
      <p:sp>
        <p:nvSpPr>
          <p:cNvPr id="17" name="Rectangle 6"/>
          <p:cNvSpPr>
            <a:spLocks noChangeArrowheads="1"/>
          </p:cNvSpPr>
          <p:nvPr/>
        </p:nvSpPr>
        <p:spPr bwMode="auto">
          <a:xfrm>
            <a:off x="469540" y="3792420"/>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位移分类：线位移、角位移</a:t>
            </a:r>
            <a:endParaRPr lang="en-US" altLang="zh-CN" sz="2000" b="1"/>
          </a:p>
        </p:txBody>
      </p:sp>
      <p:grpSp>
        <p:nvGrpSpPr>
          <p:cNvPr id="158" name="Group 2"/>
          <p:cNvGrpSpPr>
            <a:grpSpLocks/>
          </p:cNvGrpSpPr>
          <p:nvPr/>
        </p:nvGrpSpPr>
        <p:grpSpPr bwMode="auto">
          <a:xfrm>
            <a:off x="6891342" y="3500438"/>
            <a:ext cx="1301750" cy="1295400"/>
            <a:chOff x="1824" y="1440"/>
            <a:chExt cx="820" cy="816"/>
          </a:xfrm>
        </p:grpSpPr>
        <p:sp>
          <p:nvSpPr>
            <p:cNvPr id="159" name="Text Box 3"/>
            <p:cNvSpPr txBox="1">
              <a:spLocks noChangeArrowheads="1"/>
            </p:cNvSpPr>
            <p:nvPr/>
          </p:nvSpPr>
          <p:spPr bwMode="auto">
            <a:xfrm>
              <a:off x="2064" y="1440"/>
              <a:ext cx="255" cy="28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A</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60" name="Object 4"/>
            <p:cNvGraphicFramePr>
              <a:graphicFrameLocks noChangeAspect="1"/>
            </p:cNvGraphicFramePr>
            <p:nvPr/>
          </p:nvGraphicFramePr>
          <p:xfrm>
            <a:off x="2400" y="1968"/>
            <a:ext cx="244" cy="237"/>
          </p:xfrm>
          <a:graphic>
            <a:graphicData uri="http://schemas.openxmlformats.org/presentationml/2006/ole">
              <mc:AlternateContent xmlns:mc="http://schemas.openxmlformats.org/markup-compatibility/2006">
                <mc:Choice xmlns:v="urn:schemas-microsoft-com:vml" Requires="v">
                  <p:oleObj spid="_x0000_s313374" name="Equation" r:id="rId4" imgW="317160" imgH="291960" progId="Equation.DSMT4">
                    <p:embed/>
                  </p:oleObj>
                </mc:Choice>
                <mc:Fallback>
                  <p:oleObj name="Equation" r:id="rId4" imgW="317160" imgH="291960" progId="Equation.DSMT4">
                    <p:embed/>
                    <p:pic>
                      <p:nvPicPr>
                        <p:cNvPr id="0"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 y="1968"/>
                          <a:ext cx="244"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1" name="Line 5"/>
            <p:cNvSpPr>
              <a:spLocks noChangeShapeType="1"/>
            </p:cNvSpPr>
            <p:nvPr/>
          </p:nvSpPr>
          <p:spPr bwMode="auto">
            <a:xfrm>
              <a:off x="2211" y="1728"/>
              <a:ext cx="237" cy="288"/>
            </a:xfrm>
            <a:prstGeom prst="line">
              <a:avLst/>
            </a:prstGeom>
            <a:noFill/>
            <a:ln w="28575">
              <a:solidFill>
                <a:srgbClr val="FF0000"/>
              </a:solidFill>
              <a:round/>
              <a:headEnd/>
              <a:tailEnd type="arrow"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62" name="Object 6"/>
            <p:cNvGraphicFramePr>
              <a:graphicFrameLocks noChangeAspect="1"/>
            </p:cNvGraphicFramePr>
            <p:nvPr/>
          </p:nvGraphicFramePr>
          <p:xfrm>
            <a:off x="1824" y="1970"/>
            <a:ext cx="273" cy="286"/>
          </p:xfrm>
          <a:graphic>
            <a:graphicData uri="http://schemas.openxmlformats.org/presentationml/2006/ole">
              <mc:AlternateContent xmlns:mc="http://schemas.openxmlformats.org/markup-compatibility/2006">
                <mc:Choice xmlns:v="urn:schemas-microsoft-com:vml" Requires="v">
                  <p:oleObj spid="_x0000_s313375" name="公式" r:id="rId6" imgW="215640" imgH="215640" progId="Equation.3">
                    <p:embed/>
                  </p:oleObj>
                </mc:Choice>
                <mc:Fallback>
                  <p:oleObj name="公式" r:id="rId6" imgW="215640" imgH="215640" progId="Equation.3">
                    <p:embed/>
                    <p:pic>
                      <p:nvPicPr>
                        <p:cNvPr id="0"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4" y="1970"/>
                          <a:ext cx="273"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 name="Line 7"/>
            <p:cNvSpPr>
              <a:spLocks noChangeShapeType="1"/>
            </p:cNvSpPr>
            <p:nvPr/>
          </p:nvSpPr>
          <p:spPr bwMode="auto">
            <a:xfrm flipH="1">
              <a:off x="2016" y="1872"/>
              <a:ext cx="240" cy="192"/>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64" name="Group 22"/>
          <p:cNvGrpSpPr>
            <a:grpSpLocks/>
          </p:cNvGrpSpPr>
          <p:nvPr/>
        </p:nvGrpSpPr>
        <p:grpSpPr bwMode="auto">
          <a:xfrm>
            <a:off x="5214942" y="3805238"/>
            <a:ext cx="2668588" cy="2492375"/>
            <a:chOff x="772" y="1632"/>
            <a:chExt cx="1681" cy="1570"/>
          </a:xfrm>
        </p:grpSpPr>
        <p:sp>
          <p:nvSpPr>
            <p:cNvPr id="165" name="Line 23"/>
            <p:cNvSpPr>
              <a:spLocks noChangeShapeType="1"/>
            </p:cNvSpPr>
            <p:nvPr/>
          </p:nvSpPr>
          <p:spPr bwMode="auto">
            <a:xfrm>
              <a:off x="973" y="3069"/>
              <a:ext cx="506" cy="0"/>
            </a:xfrm>
            <a:prstGeom prst="line">
              <a:avLst/>
            </a:prstGeom>
            <a:noFill/>
            <a:ln w="381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6" name="Line 24"/>
            <p:cNvSpPr>
              <a:spLocks noChangeShapeType="1"/>
            </p:cNvSpPr>
            <p:nvPr/>
          </p:nvSpPr>
          <p:spPr bwMode="auto">
            <a:xfrm flipV="1">
              <a:off x="1226" y="1737"/>
              <a:ext cx="0" cy="1321"/>
            </a:xfrm>
            <a:prstGeom prst="line">
              <a:avLst/>
            </a:prstGeom>
            <a:noFill/>
            <a:ln w="381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7" name="Line 25"/>
            <p:cNvSpPr>
              <a:spLocks noChangeShapeType="1"/>
            </p:cNvSpPr>
            <p:nvPr/>
          </p:nvSpPr>
          <p:spPr bwMode="auto">
            <a:xfrm>
              <a:off x="1226" y="1737"/>
              <a:ext cx="995" cy="0"/>
            </a:xfrm>
            <a:prstGeom prst="line">
              <a:avLst/>
            </a:prstGeom>
            <a:noFill/>
            <a:ln w="381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8" name="Line 26"/>
            <p:cNvSpPr>
              <a:spLocks noChangeShapeType="1"/>
            </p:cNvSpPr>
            <p:nvPr/>
          </p:nvSpPr>
          <p:spPr bwMode="auto">
            <a:xfrm>
              <a:off x="816" y="1728"/>
              <a:ext cx="379" cy="0"/>
            </a:xfrm>
            <a:prstGeom prst="line">
              <a:avLst/>
            </a:prstGeom>
            <a:noFill/>
            <a:ln w="38100">
              <a:solidFill>
                <a:srgbClr val="000000"/>
              </a:solidFill>
              <a:round/>
              <a:headEnd/>
              <a:tailEnd type="triangl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9" name="Line 27"/>
            <p:cNvSpPr>
              <a:spLocks noChangeShapeType="1"/>
            </p:cNvSpPr>
            <p:nvPr/>
          </p:nvSpPr>
          <p:spPr bwMode="auto">
            <a:xfrm>
              <a:off x="1479" y="1804"/>
              <a:ext cx="974" cy="200"/>
            </a:xfrm>
            <a:prstGeom prst="line">
              <a:avLst/>
            </a:prstGeom>
            <a:noFill/>
            <a:ln w="38100">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0" name="Line 28"/>
            <p:cNvSpPr>
              <a:spLocks noChangeShapeType="1"/>
            </p:cNvSpPr>
            <p:nvPr/>
          </p:nvSpPr>
          <p:spPr bwMode="auto">
            <a:xfrm flipH="1">
              <a:off x="910" y="3069"/>
              <a:ext cx="63" cy="133"/>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1" name="Line 29"/>
            <p:cNvSpPr>
              <a:spLocks noChangeShapeType="1"/>
            </p:cNvSpPr>
            <p:nvPr/>
          </p:nvSpPr>
          <p:spPr bwMode="auto">
            <a:xfrm flipH="1">
              <a:off x="1416" y="3069"/>
              <a:ext cx="63" cy="133"/>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2" name="Line 30"/>
            <p:cNvSpPr>
              <a:spLocks noChangeShapeType="1"/>
            </p:cNvSpPr>
            <p:nvPr/>
          </p:nvSpPr>
          <p:spPr bwMode="auto">
            <a:xfrm flipH="1">
              <a:off x="1163" y="3069"/>
              <a:ext cx="63" cy="133"/>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3" name="Line 31"/>
            <p:cNvSpPr>
              <a:spLocks noChangeShapeType="1"/>
            </p:cNvSpPr>
            <p:nvPr/>
          </p:nvSpPr>
          <p:spPr bwMode="auto">
            <a:xfrm flipH="1">
              <a:off x="1289" y="3069"/>
              <a:ext cx="64" cy="133"/>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4" name="Line 32"/>
            <p:cNvSpPr>
              <a:spLocks noChangeShapeType="1"/>
            </p:cNvSpPr>
            <p:nvPr/>
          </p:nvSpPr>
          <p:spPr bwMode="auto">
            <a:xfrm flipH="1">
              <a:off x="1036" y="3069"/>
              <a:ext cx="64" cy="133"/>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5" name="Text Box 33"/>
            <p:cNvSpPr txBox="1">
              <a:spLocks noChangeArrowheads="1"/>
            </p:cNvSpPr>
            <p:nvPr/>
          </p:nvSpPr>
          <p:spPr bwMode="auto">
            <a:xfrm>
              <a:off x="772" y="1632"/>
              <a:ext cx="380" cy="317"/>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4000" b="1" i="1" u="none" strike="noStrike" kern="1200" cap="none" spc="0" normalizeH="0" baseline="-25000" noProof="0">
                  <a:ln>
                    <a:noFill/>
                  </a:ln>
                  <a:solidFill>
                    <a:srgbClr val="000000"/>
                  </a:solidFill>
                  <a:effectLst/>
                  <a:uLnTx/>
                  <a:uFillTx/>
                  <a:latin typeface="Times New Roman" pitchFamily="18" charset="0"/>
                  <a:ea typeface="宋体" pitchFamily="2" charset="-122"/>
                  <a:cs typeface="+mn-cs"/>
                </a:rPr>
                <a:t>P</a:t>
              </a:r>
              <a:endParaRPr kumimoji="1" lang="en-US" altLang="zh-CN" sz="2400" b="1" i="1" u="none" strike="noStrike" kern="1200" cap="none" spc="0" normalizeH="0" baseline="-25000" noProof="0">
                <a:ln>
                  <a:noFill/>
                </a:ln>
                <a:solidFill>
                  <a:srgbClr val="000000"/>
                </a:solidFill>
                <a:effectLst/>
                <a:uLnTx/>
                <a:uFillTx/>
                <a:latin typeface="Times New Roman" pitchFamily="18" charset="0"/>
                <a:ea typeface="宋体" pitchFamily="2" charset="-122"/>
                <a:cs typeface="+mn-cs"/>
              </a:endParaRPr>
            </a:p>
          </p:txBody>
        </p:sp>
        <p:graphicFrame>
          <p:nvGraphicFramePr>
            <p:cNvPr id="176" name="Object 34"/>
            <p:cNvGraphicFramePr>
              <a:graphicFrameLocks noChangeAspect="1"/>
            </p:cNvGraphicFramePr>
            <p:nvPr/>
          </p:nvGraphicFramePr>
          <p:xfrm>
            <a:off x="1206" y="1776"/>
            <a:ext cx="330" cy="1272"/>
          </p:xfrm>
          <a:graphic>
            <a:graphicData uri="http://schemas.openxmlformats.org/presentationml/2006/ole">
              <mc:AlternateContent xmlns:mc="http://schemas.openxmlformats.org/markup-compatibility/2006">
                <mc:Choice xmlns:v="urn:schemas-microsoft-com:vml" Requires="v">
                  <p:oleObj spid="_x0000_s313376" name="BMP 图像" r:id="rId8" imgW="523810" imgH="2019048" progId="PBrush">
                    <p:embed/>
                  </p:oleObj>
                </mc:Choice>
                <mc:Fallback>
                  <p:oleObj name="BMP 图像" r:id="rId8" imgW="523810" imgH="2019048" progId="PBrush">
                    <p:embed/>
                    <p:pic>
                      <p:nvPicPr>
                        <p:cNvPr id="0" name="Picture 2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06" y="1776"/>
                          <a:ext cx="330" cy="1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7" name="Group 35"/>
          <p:cNvGrpSpPr>
            <a:grpSpLocks/>
          </p:cNvGrpSpPr>
          <p:nvPr/>
        </p:nvGrpSpPr>
        <p:grpSpPr bwMode="auto">
          <a:xfrm>
            <a:off x="7043742" y="3568701"/>
            <a:ext cx="1876425" cy="2141537"/>
            <a:chOff x="1536" y="2755"/>
            <a:chExt cx="1182" cy="1349"/>
          </a:xfrm>
        </p:grpSpPr>
        <p:sp>
          <p:nvSpPr>
            <p:cNvPr id="178" name="Line 36"/>
            <p:cNvSpPr>
              <a:spLocks noChangeShapeType="1"/>
            </p:cNvSpPr>
            <p:nvPr/>
          </p:nvSpPr>
          <p:spPr bwMode="auto">
            <a:xfrm>
              <a:off x="1853" y="3021"/>
              <a:ext cx="0" cy="733"/>
            </a:xfrm>
            <a:prstGeom prst="line">
              <a:avLst/>
            </a:prstGeom>
            <a:noFill/>
            <a:ln w="9525">
              <a:solidFill>
                <a:srgbClr val="000000"/>
              </a:solidFill>
              <a:prstDash val="sysDot"/>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9" name="Line 37"/>
            <p:cNvSpPr>
              <a:spLocks noChangeShapeType="1"/>
            </p:cNvSpPr>
            <p:nvPr/>
          </p:nvSpPr>
          <p:spPr bwMode="auto">
            <a:xfrm>
              <a:off x="1853" y="3021"/>
              <a:ext cx="759" cy="0"/>
            </a:xfrm>
            <a:prstGeom prst="line">
              <a:avLst/>
            </a:prstGeom>
            <a:noFill/>
            <a:ln w="9525">
              <a:solidFill>
                <a:srgbClr val="000000"/>
              </a:solidFill>
              <a:prstDash val="sysDot"/>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0" name="Line 38"/>
            <p:cNvSpPr>
              <a:spLocks noChangeShapeType="1"/>
            </p:cNvSpPr>
            <p:nvPr/>
          </p:nvSpPr>
          <p:spPr bwMode="auto">
            <a:xfrm>
              <a:off x="2042" y="3288"/>
              <a:ext cx="570" cy="0"/>
            </a:xfrm>
            <a:prstGeom prst="line">
              <a:avLst/>
            </a:prstGeom>
            <a:noFill/>
            <a:ln w="9525">
              <a:solidFill>
                <a:srgbClr val="000000"/>
              </a:solidFill>
              <a:prstDash val="sysDot"/>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81" name="Object 39"/>
            <p:cNvGraphicFramePr>
              <a:graphicFrameLocks noChangeAspect="1"/>
            </p:cNvGraphicFramePr>
            <p:nvPr/>
          </p:nvGraphicFramePr>
          <p:xfrm>
            <a:off x="1853" y="3766"/>
            <a:ext cx="353" cy="338"/>
          </p:xfrm>
          <a:graphic>
            <a:graphicData uri="http://schemas.openxmlformats.org/presentationml/2006/ole">
              <mc:AlternateContent xmlns:mc="http://schemas.openxmlformats.org/markup-compatibility/2006">
                <mc:Choice xmlns:v="urn:schemas-microsoft-com:vml" Requires="v">
                  <p:oleObj spid="_x0000_s313377" name="公式" r:id="rId10" imgW="253800" imgH="228600" progId="Equation.3">
                    <p:embed/>
                  </p:oleObj>
                </mc:Choice>
                <mc:Fallback>
                  <p:oleObj name="公式" r:id="rId10" imgW="253800" imgH="228600" progId="Equation.3">
                    <p:embed/>
                    <p:pic>
                      <p:nvPicPr>
                        <p:cNvPr id="0"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53" y="3766"/>
                          <a:ext cx="353" cy="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2" name="Object 40"/>
            <p:cNvGraphicFramePr>
              <a:graphicFrameLocks noChangeAspect="1"/>
            </p:cNvGraphicFramePr>
            <p:nvPr/>
          </p:nvGraphicFramePr>
          <p:xfrm>
            <a:off x="2398" y="2998"/>
            <a:ext cx="320" cy="320"/>
          </p:xfrm>
          <a:graphic>
            <a:graphicData uri="http://schemas.openxmlformats.org/presentationml/2006/ole">
              <mc:AlternateContent xmlns:mc="http://schemas.openxmlformats.org/markup-compatibility/2006">
                <mc:Choice xmlns:v="urn:schemas-microsoft-com:vml" Requires="v">
                  <p:oleObj spid="_x0000_s313378" name="公式" r:id="rId12" imgW="253800" imgH="241200" progId="Equation.3">
                    <p:embed/>
                  </p:oleObj>
                </mc:Choice>
                <mc:Fallback>
                  <p:oleObj name="公式" r:id="rId12" imgW="253800" imgH="241200" progId="Equation.3">
                    <p:embed/>
                    <p:pic>
                      <p:nvPicPr>
                        <p:cNvPr id="0" name="Picture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98" y="2998"/>
                          <a:ext cx="320" cy="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 name="Line 41"/>
            <p:cNvSpPr>
              <a:spLocks noChangeShapeType="1"/>
            </p:cNvSpPr>
            <p:nvPr/>
          </p:nvSpPr>
          <p:spPr bwMode="auto">
            <a:xfrm>
              <a:off x="1853" y="3687"/>
              <a:ext cx="0" cy="20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4" name="Line 42"/>
            <p:cNvSpPr>
              <a:spLocks noChangeShapeType="1"/>
            </p:cNvSpPr>
            <p:nvPr/>
          </p:nvSpPr>
          <p:spPr bwMode="auto">
            <a:xfrm>
              <a:off x="2064" y="3687"/>
              <a:ext cx="0" cy="20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5" name="Line 43"/>
            <p:cNvSpPr>
              <a:spLocks noChangeShapeType="1"/>
            </p:cNvSpPr>
            <p:nvPr/>
          </p:nvSpPr>
          <p:spPr bwMode="auto">
            <a:xfrm>
              <a:off x="1536" y="3754"/>
              <a:ext cx="317" cy="0"/>
            </a:xfrm>
            <a:prstGeom prst="line">
              <a:avLst/>
            </a:prstGeom>
            <a:noFill/>
            <a:ln w="9525">
              <a:solidFill>
                <a:srgbClr val="000000"/>
              </a:solidFill>
              <a:round/>
              <a:headEnd/>
              <a:tailEnd type="triangl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6" name="Line 44"/>
            <p:cNvSpPr>
              <a:spLocks noChangeShapeType="1"/>
            </p:cNvSpPr>
            <p:nvPr/>
          </p:nvSpPr>
          <p:spPr bwMode="auto">
            <a:xfrm flipH="1">
              <a:off x="2064" y="3754"/>
              <a:ext cx="253" cy="0"/>
            </a:xfrm>
            <a:prstGeom prst="line">
              <a:avLst/>
            </a:prstGeom>
            <a:noFill/>
            <a:ln w="9525">
              <a:solidFill>
                <a:srgbClr val="000000"/>
              </a:solidFill>
              <a:round/>
              <a:headEnd/>
              <a:tailEnd type="triangl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7" name="Line 45"/>
            <p:cNvSpPr>
              <a:spLocks noChangeShapeType="1"/>
            </p:cNvSpPr>
            <p:nvPr/>
          </p:nvSpPr>
          <p:spPr bwMode="auto">
            <a:xfrm>
              <a:off x="2295" y="3021"/>
              <a:ext cx="312"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8" name="Line 46"/>
            <p:cNvSpPr>
              <a:spLocks noChangeShapeType="1"/>
            </p:cNvSpPr>
            <p:nvPr/>
          </p:nvSpPr>
          <p:spPr bwMode="auto">
            <a:xfrm>
              <a:off x="2359" y="3288"/>
              <a:ext cx="253"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9" name="Line 47"/>
            <p:cNvSpPr>
              <a:spLocks noChangeShapeType="1"/>
            </p:cNvSpPr>
            <p:nvPr/>
          </p:nvSpPr>
          <p:spPr bwMode="auto">
            <a:xfrm flipV="1">
              <a:off x="2485" y="3288"/>
              <a:ext cx="0" cy="266"/>
            </a:xfrm>
            <a:prstGeom prst="line">
              <a:avLst/>
            </a:prstGeom>
            <a:noFill/>
            <a:ln w="9525">
              <a:solidFill>
                <a:srgbClr val="000000"/>
              </a:solidFill>
              <a:round/>
              <a:headEnd/>
              <a:tailEnd type="triangl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0" name="Line 48"/>
            <p:cNvSpPr>
              <a:spLocks noChangeShapeType="1"/>
            </p:cNvSpPr>
            <p:nvPr/>
          </p:nvSpPr>
          <p:spPr bwMode="auto">
            <a:xfrm>
              <a:off x="2485" y="2755"/>
              <a:ext cx="0" cy="266"/>
            </a:xfrm>
            <a:prstGeom prst="line">
              <a:avLst/>
            </a:prstGeom>
            <a:noFill/>
            <a:ln w="9525">
              <a:solidFill>
                <a:srgbClr val="000000"/>
              </a:solidFill>
              <a:round/>
              <a:headEnd/>
              <a:tailEnd type="triangl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1" name="Line 49"/>
            <p:cNvSpPr>
              <a:spLocks noChangeShapeType="1"/>
            </p:cNvSpPr>
            <p:nvPr/>
          </p:nvSpPr>
          <p:spPr bwMode="auto">
            <a:xfrm flipV="1">
              <a:off x="2064" y="3312"/>
              <a:ext cx="0" cy="384"/>
            </a:xfrm>
            <a:prstGeom prst="line">
              <a:avLst/>
            </a:prstGeom>
            <a:noFill/>
            <a:ln w="9525">
              <a:solidFill>
                <a:srgbClr val="000000"/>
              </a:solidFill>
              <a:prstDash val="dash"/>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92" name="Group 50"/>
          <p:cNvGrpSpPr>
            <a:grpSpLocks/>
          </p:cNvGrpSpPr>
          <p:nvPr/>
        </p:nvGrpSpPr>
        <p:grpSpPr bwMode="auto">
          <a:xfrm>
            <a:off x="8034342" y="3768726"/>
            <a:ext cx="336550" cy="1255712"/>
            <a:chOff x="2064" y="3120"/>
            <a:chExt cx="212" cy="791"/>
          </a:xfrm>
        </p:grpSpPr>
        <p:grpSp>
          <p:nvGrpSpPr>
            <p:cNvPr id="193" name="Group 51"/>
            <p:cNvGrpSpPr>
              <a:grpSpLocks/>
            </p:cNvGrpSpPr>
            <p:nvPr/>
          </p:nvGrpSpPr>
          <p:grpSpPr bwMode="auto">
            <a:xfrm>
              <a:off x="2064" y="3168"/>
              <a:ext cx="212" cy="743"/>
              <a:chOff x="2016" y="2761"/>
              <a:chExt cx="212" cy="743"/>
            </a:xfrm>
          </p:grpSpPr>
          <p:sp>
            <p:nvSpPr>
              <p:cNvPr id="195" name="Freeform 52"/>
              <p:cNvSpPr>
                <a:spLocks/>
              </p:cNvSpPr>
              <p:nvPr/>
            </p:nvSpPr>
            <p:spPr bwMode="auto">
              <a:xfrm rot="-2387871">
                <a:off x="2016" y="3037"/>
                <a:ext cx="130" cy="134"/>
              </a:xfrm>
              <a:custGeom>
                <a:avLst/>
                <a:gdLst/>
                <a:ahLst/>
                <a:cxnLst>
                  <a:cxn ang="0">
                    <a:pos x="0" y="0"/>
                  </a:cxn>
                  <a:cxn ang="0">
                    <a:pos x="60" y="84"/>
                  </a:cxn>
                  <a:cxn ang="0">
                    <a:pos x="36" y="96"/>
                  </a:cxn>
                </a:cxnLst>
                <a:rect l="0" t="0" r="r" b="b"/>
                <a:pathLst>
                  <a:path w="98" h="96">
                    <a:moveTo>
                      <a:pt x="0" y="0"/>
                    </a:moveTo>
                    <a:cubicBezTo>
                      <a:pt x="54" y="27"/>
                      <a:pt x="98" y="20"/>
                      <a:pt x="60" y="84"/>
                    </a:cubicBezTo>
                    <a:cubicBezTo>
                      <a:pt x="55" y="92"/>
                      <a:pt x="44" y="92"/>
                      <a:pt x="36" y="96"/>
                    </a:cubicBezTo>
                  </a:path>
                </a:pathLst>
              </a:custGeom>
              <a:noFill/>
              <a:ln w="9525">
                <a:solidFill>
                  <a:srgbClr val="FF0000"/>
                </a:solidFill>
                <a:round/>
                <a:headEnd type="none" w="med" len="med"/>
                <a:tailEnd type="none" w="med" len="me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96" name="Object 53"/>
              <p:cNvGraphicFramePr>
                <a:graphicFrameLocks noChangeAspect="1"/>
              </p:cNvGraphicFramePr>
              <p:nvPr/>
            </p:nvGraphicFramePr>
            <p:xfrm>
              <a:off x="2041" y="2761"/>
              <a:ext cx="187" cy="261"/>
            </p:xfrm>
            <a:graphic>
              <a:graphicData uri="http://schemas.openxmlformats.org/presentationml/2006/ole">
                <mc:AlternateContent xmlns:mc="http://schemas.openxmlformats.org/markup-compatibility/2006">
                  <mc:Choice xmlns:v="urn:schemas-microsoft-com:vml" Requires="v">
                    <p:oleObj spid="_x0000_s313379" name="公式" r:id="rId14" imgW="266400" imgH="355320" progId="Equation.3">
                      <p:embed/>
                    </p:oleObj>
                  </mc:Choice>
                  <mc:Fallback>
                    <p:oleObj name="公式" r:id="rId14" imgW="266400" imgH="355320" progId="Equation.3">
                      <p:embed/>
                      <p:pic>
                        <p:nvPicPr>
                          <p:cNvPr id="0" name="Picture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41" y="2761"/>
                            <a:ext cx="187"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7" name="Line 54"/>
              <p:cNvSpPr>
                <a:spLocks noChangeShapeType="1"/>
              </p:cNvSpPr>
              <p:nvPr/>
            </p:nvSpPr>
            <p:spPr bwMode="auto">
              <a:xfrm flipV="1">
                <a:off x="2016" y="2904"/>
                <a:ext cx="190" cy="600"/>
              </a:xfrm>
              <a:prstGeom prst="line">
                <a:avLst/>
              </a:prstGeom>
              <a:noFill/>
              <a:ln w="9525">
                <a:solidFill>
                  <a:srgbClr val="000000"/>
                </a:solidFill>
                <a:prstDash val="dash"/>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94" name="Line 55"/>
            <p:cNvSpPr>
              <a:spLocks noChangeShapeType="1"/>
            </p:cNvSpPr>
            <p:nvPr/>
          </p:nvSpPr>
          <p:spPr bwMode="auto">
            <a:xfrm flipV="1">
              <a:off x="2064" y="3120"/>
              <a:ext cx="0" cy="768"/>
            </a:xfrm>
            <a:prstGeom prst="line">
              <a:avLst/>
            </a:prstGeom>
            <a:noFill/>
            <a:ln w="9525">
              <a:solidFill>
                <a:srgbClr val="000000"/>
              </a:solidFill>
              <a:prstDash val="dash"/>
              <a:round/>
              <a:headEnd/>
              <a:tailE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98" name="TextBox 197"/>
          <p:cNvSpPr txBox="1"/>
          <p:nvPr/>
        </p:nvSpPr>
        <p:spPr>
          <a:xfrm>
            <a:off x="1200766" y="3369526"/>
            <a:ext cx="4647426" cy="369332"/>
          </a:xfrm>
          <a:prstGeom prst="rect">
            <a:avLst/>
          </a:prstGeom>
          <a:noFill/>
          <a:ln w="28575">
            <a:noFill/>
          </a:ln>
        </p:spPr>
        <p:txBody>
          <a:bodyPr wrap="none" rtlCol="0">
            <a:spAutoFit/>
          </a:bodyPr>
          <a:lstStyle/>
          <a:p>
            <a:r>
              <a:rPr lang="zh-CN" altLang="en-US" b="1">
                <a:solidFill>
                  <a:srgbClr val="0033CC"/>
                </a:solidFill>
              </a:rPr>
              <a:t>有变形必有位移，有位移未必有变形，</a:t>
            </a:r>
            <a:r>
              <a:rPr lang="en-US" altLang="zh-CN" b="1">
                <a:solidFill>
                  <a:srgbClr val="0033CC"/>
                </a:solidFill>
              </a:rPr>
              <a:t>P128</a:t>
            </a:r>
            <a:endParaRPr lang="zh-CN" altLang="en-US" b="1">
              <a:solidFill>
                <a:srgbClr val="0033CC"/>
              </a:solidFill>
            </a:endParaRPr>
          </a:p>
        </p:txBody>
      </p:sp>
      <p:sp>
        <p:nvSpPr>
          <p:cNvPr id="58" name="TextBox 57"/>
          <p:cNvSpPr txBox="1"/>
          <p:nvPr/>
        </p:nvSpPr>
        <p:spPr>
          <a:xfrm>
            <a:off x="1357290" y="4188870"/>
            <a:ext cx="2661306" cy="1938992"/>
          </a:xfrm>
          <a:prstGeom prst="rect">
            <a:avLst/>
          </a:prstGeom>
          <a:noFill/>
          <a:ln w="28575">
            <a:noFill/>
          </a:ln>
        </p:spPr>
        <p:txBody>
          <a:bodyPr wrap="none" rtlCol="0">
            <a:spAutoFit/>
          </a:bodyPr>
          <a:lstStyle/>
          <a:p>
            <a:pPr>
              <a:lnSpc>
                <a:spcPct val="150000"/>
              </a:lnSpc>
            </a:pP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A</a:t>
            </a:r>
            <a:r>
              <a:rPr lang="zh-CN" altLang="en-US" sz="2000" b="1"/>
              <a:t>点线位移</a:t>
            </a:r>
            <a:r>
              <a:rPr lang="en-US" altLang="zh-CN" sz="2000" b="1"/>
              <a:t>;</a:t>
            </a:r>
          </a:p>
          <a:p>
            <a:pPr>
              <a:lnSpc>
                <a:spcPct val="15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β</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 </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A</a:t>
            </a:r>
            <a:r>
              <a:rPr lang="zh-CN" altLang="en-US" sz="2000" b="1"/>
              <a:t>截面转角</a:t>
            </a:r>
            <a:r>
              <a:rPr lang="en-US" altLang="zh-CN" sz="2000" b="1"/>
              <a:t>;</a:t>
            </a:r>
          </a:p>
          <a:p>
            <a:pPr>
              <a:lnSpc>
                <a:spcPct val="150000"/>
              </a:lnSpc>
            </a:pP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Ax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A</a:t>
            </a:r>
            <a:r>
              <a:rPr lang="zh-CN" altLang="en-US" sz="2000" b="1"/>
              <a:t>点水平位移</a:t>
            </a:r>
            <a:r>
              <a:rPr lang="en-US" altLang="zh-CN" sz="2000" b="1"/>
              <a:t>;</a:t>
            </a:r>
          </a:p>
          <a:p>
            <a:pPr>
              <a:lnSpc>
                <a:spcPct val="150000"/>
              </a:lnSpc>
            </a:pP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Ay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A</a:t>
            </a:r>
            <a:r>
              <a:rPr lang="zh-CN" altLang="en-US" sz="2000" b="1"/>
              <a:t>点竖向位移</a:t>
            </a:r>
            <a:r>
              <a:rPr lang="en-US" altLang="zh-CN" sz="2000" b="1"/>
              <a:t>;</a:t>
            </a:r>
          </a:p>
        </p:txBody>
      </p:sp>
      <p:sp>
        <p:nvSpPr>
          <p:cNvPr id="59" name="Rectangle 6"/>
          <p:cNvSpPr>
            <a:spLocks noChangeArrowheads="1"/>
          </p:cNvSpPr>
          <p:nvPr/>
        </p:nvSpPr>
        <p:spPr bwMode="auto">
          <a:xfrm>
            <a:off x="469540" y="2942582"/>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变形：结构在外部因素作用下发生的形状变化；</a:t>
            </a:r>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Effect transition="in" filter="blinds(horizontal)">
                                      <p:cBhvr>
                                        <p:cTn id="13" dur="500"/>
                                        <p:tgtEl>
                                          <p:spTgt spid="1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9"/>
                                        </p:tgtEl>
                                        <p:attrNameLst>
                                          <p:attrName>style.visibility</p:attrName>
                                        </p:attrNameLst>
                                      </p:cBhvr>
                                      <p:to>
                                        <p:strVal val="visible"/>
                                      </p:to>
                                    </p:set>
                                    <p:anim calcmode="lin" valueType="num">
                                      <p:cBhvr additive="base">
                                        <p:cTn id="18" dur="500" fill="hold"/>
                                        <p:tgtEl>
                                          <p:spTgt spid="59"/>
                                        </p:tgtEl>
                                        <p:attrNameLst>
                                          <p:attrName>ppt_x</p:attrName>
                                        </p:attrNameLst>
                                      </p:cBhvr>
                                      <p:tavLst>
                                        <p:tav tm="0">
                                          <p:val>
                                            <p:strVal val="#ppt_x"/>
                                          </p:val>
                                        </p:tav>
                                        <p:tav tm="100000">
                                          <p:val>
                                            <p:strVal val="#ppt_x"/>
                                          </p:val>
                                        </p:tav>
                                      </p:tavLst>
                                    </p:anim>
                                    <p:anim calcmode="lin" valueType="num">
                                      <p:cBhvr additive="base">
                                        <p:cTn id="19"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98">
                                            <p:txEl>
                                              <p:pRg st="0" end="0"/>
                                            </p:txEl>
                                          </p:spTgt>
                                        </p:tgtEl>
                                        <p:attrNameLst>
                                          <p:attrName>style.visibility</p:attrName>
                                        </p:attrNameLst>
                                      </p:cBhvr>
                                      <p:to>
                                        <p:strVal val="visible"/>
                                      </p:to>
                                    </p:set>
                                    <p:animEffect transition="in" filter="wipe(down)">
                                      <p:cBhvr>
                                        <p:cTn id="24" dur="500"/>
                                        <p:tgtEl>
                                          <p:spTgt spid="19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64"/>
                                        </p:tgtEl>
                                        <p:attrNameLst>
                                          <p:attrName>style.visibility</p:attrName>
                                        </p:attrNameLst>
                                      </p:cBhvr>
                                      <p:to>
                                        <p:strVal val="visible"/>
                                      </p:to>
                                    </p:set>
                                    <p:anim calcmode="lin" valueType="num">
                                      <p:cBhvr additive="base">
                                        <p:cTn id="35" dur="500" fill="hold"/>
                                        <p:tgtEl>
                                          <p:spTgt spid="164"/>
                                        </p:tgtEl>
                                        <p:attrNameLst>
                                          <p:attrName>ppt_x</p:attrName>
                                        </p:attrNameLst>
                                      </p:cBhvr>
                                      <p:tavLst>
                                        <p:tav tm="0">
                                          <p:val>
                                            <p:strVal val="0-#ppt_w/2"/>
                                          </p:val>
                                        </p:tav>
                                        <p:tav tm="100000">
                                          <p:val>
                                            <p:strVal val="#ppt_x"/>
                                          </p:val>
                                        </p:tav>
                                      </p:tavLst>
                                    </p:anim>
                                    <p:anim calcmode="lin" valueType="num">
                                      <p:cBhvr additive="base">
                                        <p:cTn id="36" dur="500" fill="hold"/>
                                        <p:tgtEl>
                                          <p:spTgt spid="164"/>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box(out)">
                                      <p:cBhvr>
                                        <p:cTn id="41" dur="500"/>
                                        <p:tgtEl>
                                          <p:spTgt spid="15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58">
                                            <p:txEl>
                                              <p:pRg st="0" end="0"/>
                                            </p:txEl>
                                          </p:spTgt>
                                        </p:tgtEl>
                                        <p:attrNameLst>
                                          <p:attrName>style.visibility</p:attrName>
                                        </p:attrNameLst>
                                      </p:cBhvr>
                                      <p:to>
                                        <p:strVal val="visible"/>
                                      </p:to>
                                    </p:set>
                                    <p:animEffect transition="in" filter="wipe(down)">
                                      <p:cBhvr>
                                        <p:cTn id="46" dur="500"/>
                                        <p:tgtEl>
                                          <p:spTgt spid="58">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32" fill="hold" nodeType="clickEffect">
                                  <p:stCondLst>
                                    <p:cond delay="0"/>
                                  </p:stCondLst>
                                  <p:childTnLst>
                                    <p:set>
                                      <p:cBhvr>
                                        <p:cTn id="50" dur="1" fill="hold">
                                          <p:stCondLst>
                                            <p:cond delay="0"/>
                                          </p:stCondLst>
                                        </p:cTn>
                                        <p:tgtEl>
                                          <p:spTgt spid="192"/>
                                        </p:tgtEl>
                                        <p:attrNameLst>
                                          <p:attrName>style.visibility</p:attrName>
                                        </p:attrNameLst>
                                      </p:cBhvr>
                                      <p:to>
                                        <p:strVal val="visible"/>
                                      </p:to>
                                    </p:set>
                                    <p:animEffect transition="in" filter="box(out)">
                                      <p:cBhvr>
                                        <p:cTn id="51" dur="500"/>
                                        <p:tgtEl>
                                          <p:spTgt spid="19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58">
                                            <p:txEl>
                                              <p:pRg st="1" end="1"/>
                                            </p:txEl>
                                          </p:spTgt>
                                        </p:tgtEl>
                                        <p:attrNameLst>
                                          <p:attrName>style.visibility</p:attrName>
                                        </p:attrNameLst>
                                      </p:cBhvr>
                                      <p:to>
                                        <p:strVal val="visible"/>
                                      </p:to>
                                    </p:set>
                                    <p:animEffect transition="in" filter="wipe(down)">
                                      <p:cBhvr>
                                        <p:cTn id="56" dur="500"/>
                                        <p:tgtEl>
                                          <p:spTgt spid="58">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77"/>
                                        </p:tgtEl>
                                        <p:attrNameLst>
                                          <p:attrName>style.visibility</p:attrName>
                                        </p:attrNameLst>
                                      </p:cBhvr>
                                      <p:to>
                                        <p:strVal val="visible"/>
                                      </p:to>
                                    </p:set>
                                    <p:animEffect transition="in" filter="box(out)">
                                      <p:cBhvr>
                                        <p:cTn id="61" dur="500"/>
                                        <p:tgtEl>
                                          <p:spTgt spid="17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58">
                                            <p:txEl>
                                              <p:pRg st="2" end="2"/>
                                            </p:txEl>
                                          </p:spTgt>
                                        </p:tgtEl>
                                        <p:attrNameLst>
                                          <p:attrName>style.visibility</p:attrName>
                                        </p:attrNameLst>
                                      </p:cBhvr>
                                      <p:to>
                                        <p:strVal val="visible"/>
                                      </p:to>
                                    </p:set>
                                    <p:animEffect transition="in" filter="wipe(down)">
                                      <p:cBhvr>
                                        <p:cTn id="66" dur="500"/>
                                        <p:tgtEl>
                                          <p:spTgt spid="58">
                                            <p:txEl>
                                              <p:pRg st="2" end="2"/>
                                            </p:txEl>
                                          </p:spTgt>
                                        </p:tgtEl>
                                      </p:cBhvr>
                                    </p:animEffect>
                                  </p:childTnLst>
                                </p:cTn>
                              </p:par>
                            </p:childTnLst>
                          </p:cTn>
                        </p:par>
                        <p:par>
                          <p:cTn id="67" fill="hold">
                            <p:stCondLst>
                              <p:cond delay="500"/>
                            </p:stCondLst>
                            <p:childTnLst>
                              <p:par>
                                <p:cTn id="68" presetID="22" presetClass="entr" presetSubtype="4" fill="hold" grpId="0" nodeType="afterEffect">
                                  <p:stCondLst>
                                    <p:cond delay="0"/>
                                  </p:stCondLst>
                                  <p:childTnLst>
                                    <p:set>
                                      <p:cBhvr>
                                        <p:cTn id="69" dur="1" fill="hold">
                                          <p:stCondLst>
                                            <p:cond delay="0"/>
                                          </p:stCondLst>
                                        </p:cTn>
                                        <p:tgtEl>
                                          <p:spTgt spid="58">
                                            <p:txEl>
                                              <p:pRg st="3" end="3"/>
                                            </p:txEl>
                                          </p:spTgt>
                                        </p:tgtEl>
                                        <p:attrNameLst>
                                          <p:attrName>style.visibility</p:attrName>
                                        </p:attrNameLst>
                                      </p:cBhvr>
                                      <p:to>
                                        <p:strVal val="visible"/>
                                      </p:to>
                                    </p:set>
                                    <p:animEffect transition="in" filter="wipe(down)">
                                      <p:cBhvr>
                                        <p:cTn id="70" dur="500"/>
                                        <p:tgtEl>
                                          <p:spTgt spid="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7" grpId="0"/>
      <p:bldP spid="198" grpId="0" build="allAtOnce"/>
      <p:bldP spid="58" grpId="0" uiExpand="1" build="p"/>
      <p:bldP spid="5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结构位移计算概述</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797782"/>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位移：结构上的某一截面在荷载或其它因素作用下由某一位置移动到另一位置，这个移动的量就称为该截面的位移；</a:t>
            </a:r>
            <a:endParaRPr lang="en-US" altLang="zh-CN" sz="2000" b="1"/>
          </a:p>
        </p:txBody>
      </p:sp>
      <p:sp>
        <p:nvSpPr>
          <p:cNvPr id="17" name="Rectangle 6"/>
          <p:cNvSpPr>
            <a:spLocks noChangeArrowheads="1"/>
          </p:cNvSpPr>
          <p:nvPr/>
        </p:nvSpPr>
        <p:spPr bwMode="auto">
          <a:xfrm>
            <a:off x="469540" y="2571744"/>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位移分类：线位移、角位移</a:t>
            </a:r>
            <a:endParaRPr lang="en-US" altLang="zh-CN" sz="2000" b="1"/>
          </a:p>
        </p:txBody>
      </p:sp>
      <p:graphicFrame>
        <p:nvGraphicFramePr>
          <p:cNvPr id="51" name="Object 4"/>
          <p:cNvGraphicFramePr>
            <a:graphicFrameLocks noChangeAspect="1"/>
          </p:cNvGraphicFramePr>
          <p:nvPr/>
        </p:nvGraphicFramePr>
        <p:xfrm>
          <a:off x="857224" y="2857496"/>
          <a:ext cx="3384550" cy="2651125"/>
        </p:xfrm>
        <a:graphic>
          <a:graphicData uri="http://schemas.openxmlformats.org/presentationml/2006/ole">
            <mc:AlternateContent xmlns:mc="http://schemas.openxmlformats.org/markup-compatibility/2006">
              <mc:Choice xmlns:v="urn:schemas-microsoft-com:vml" Requires="v">
                <p:oleObj spid="_x0000_s364554" name="AutoCAD Drawing" r:id="rId4" imgW="5743440" imgH="3781440" progId="">
                  <p:embed/>
                </p:oleObj>
              </mc:Choice>
              <mc:Fallback>
                <p:oleObj name="AutoCAD Drawing" r:id="rId4" imgW="5743440" imgH="3781440" progId="">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l="858" t="22470" r="37093" b="3627"/>
                      <a:stretch>
                        <a:fillRect/>
                      </a:stretch>
                    </p:blipFill>
                    <p:spPr bwMode="auto">
                      <a:xfrm>
                        <a:off x="857224" y="2857496"/>
                        <a:ext cx="3384550" cy="265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 name="Rectangle 5"/>
          <p:cNvSpPr>
            <a:spLocks noChangeArrowheads="1"/>
          </p:cNvSpPr>
          <p:nvPr/>
        </p:nvSpPr>
        <p:spPr bwMode="auto">
          <a:xfrm>
            <a:off x="1000100" y="5500702"/>
            <a:ext cx="3657600" cy="369332"/>
          </a:xfrm>
          <a:prstGeom prst="rect">
            <a:avLst/>
          </a:prstGeom>
          <a:noFill/>
          <a:ln w="9525">
            <a:noFill/>
            <a:miter lim="800000"/>
            <a:headEnd/>
            <a:tailEnd/>
          </a:ln>
          <a:effectLst/>
        </p:spPr>
        <p:txBody>
          <a:bodyPr>
            <a:spAutoFit/>
          </a:bodyPr>
          <a:lstStyle/>
          <a:p>
            <a:pPr>
              <a:spcBef>
                <a:spcPct val="0"/>
              </a:spcBef>
            </a:pPr>
            <a:r>
              <a:rPr lang="en-US" altLang="zh-CN" b="1">
                <a:latin typeface="+mn-ea"/>
              </a:rPr>
              <a:t>   </a:t>
            </a:r>
            <a:r>
              <a:rPr lang="zh-CN" altLang="en-US" b="1">
                <a:latin typeface="+mn-ea"/>
              </a:rPr>
              <a:t>截面</a:t>
            </a:r>
            <a:r>
              <a:rPr lang="en-US" altLang="zh-CN" b="1" i="1">
                <a:latin typeface="Times New Roman" pitchFamily="18" charset="0"/>
                <a:cs typeface="Times New Roman" pitchFamily="18" charset="0"/>
              </a:rPr>
              <a:t>C</a:t>
            </a:r>
            <a:r>
              <a:rPr lang="zh-CN" altLang="en-US" b="1">
                <a:latin typeface="+mn-ea"/>
              </a:rPr>
              <a:t>、</a:t>
            </a:r>
            <a:r>
              <a:rPr lang="en-US" altLang="zh-CN" b="1" i="1">
                <a:latin typeface="Times New Roman" pitchFamily="18" charset="0"/>
                <a:cs typeface="Times New Roman" pitchFamily="18" charset="0"/>
              </a:rPr>
              <a:t>D</a:t>
            </a:r>
            <a:r>
              <a:rPr lang="en-US" altLang="zh-CN" b="1" i="1">
                <a:latin typeface="+mn-ea"/>
              </a:rPr>
              <a:t> </a:t>
            </a:r>
            <a:r>
              <a:rPr lang="zh-CN" altLang="en-US" b="1">
                <a:latin typeface="+mn-ea"/>
              </a:rPr>
              <a:t>的相对竖向线位移为 </a:t>
            </a:r>
            <a:r>
              <a:rPr lang="en-US" altLang="zh-CN" b="1">
                <a:latin typeface="+mn-ea"/>
              </a:rPr>
              <a:t>:</a:t>
            </a:r>
          </a:p>
        </p:txBody>
      </p:sp>
      <p:sp>
        <p:nvSpPr>
          <p:cNvPr id="53" name="TextBox 52"/>
          <p:cNvSpPr txBox="1"/>
          <p:nvPr/>
        </p:nvSpPr>
        <p:spPr>
          <a:xfrm>
            <a:off x="1915146" y="5792337"/>
            <a:ext cx="2023439" cy="507831"/>
          </a:xfrm>
          <a:prstGeom prst="rect">
            <a:avLst/>
          </a:prstGeom>
          <a:noFill/>
          <a:ln w="28575">
            <a:noFill/>
          </a:ln>
        </p:spPr>
        <p:txBody>
          <a:bodyPr wrap="none" rtlCol="0">
            <a:spAutoFit/>
          </a:bodyPr>
          <a:lstStyle/>
          <a:p>
            <a:pPr>
              <a:lnSpc>
                <a:spcPct val="150000"/>
              </a:lnSpc>
            </a:pPr>
            <a:r>
              <a:rPr lang="el-GR" altLang="zh-CN" b="1">
                <a:latin typeface="Times New Roman" pitchFamily="18" charset="0"/>
                <a:cs typeface="Times New Roman" pitchFamily="18" charset="0"/>
              </a:rPr>
              <a:t>Δ</a:t>
            </a:r>
            <a:r>
              <a:rPr lang="en-US" altLang="zh-CN" b="1" baseline="-25000">
                <a:latin typeface="Times New Roman" pitchFamily="18" charset="0"/>
                <a:cs typeface="Times New Roman" pitchFamily="18" charset="0"/>
              </a:rPr>
              <a:t>V</a:t>
            </a:r>
            <a:r>
              <a:rPr lang="en-US" altLang="zh-CN" b="1" i="1" baseline="-25000">
                <a:latin typeface="Times New Roman" pitchFamily="18" charset="0"/>
                <a:cs typeface="Times New Roman" pitchFamily="18" charset="0"/>
              </a:rPr>
              <a:t>CD </a:t>
            </a:r>
            <a:r>
              <a:rPr lang="en-US" altLang="zh-CN" b="1" i="1">
                <a:latin typeface="Times New Roman" pitchFamily="18" charset="0"/>
                <a:cs typeface="Times New Roman" pitchFamily="18" charset="0"/>
              </a:rPr>
              <a:t> </a:t>
            </a:r>
            <a:r>
              <a:rPr lang="en-US" altLang="zh-CN" b="1">
                <a:latin typeface="Times New Roman" pitchFamily="18" charset="0"/>
                <a:cs typeface="Times New Roman" pitchFamily="18" charset="0"/>
              </a:rPr>
              <a:t>= </a:t>
            </a:r>
            <a:r>
              <a:rPr lang="el-GR" altLang="zh-CN" b="1">
                <a:latin typeface="Times New Roman" pitchFamily="18" charset="0"/>
                <a:cs typeface="Times New Roman" pitchFamily="18" charset="0"/>
              </a:rPr>
              <a:t>Δ</a:t>
            </a:r>
            <a:r>
              <a:rPr lang="en-US" altLang="zh-CN" b="1" baseline="-25000">
                <a:latin typeface="Times New Roman" pitchFamily="18" charset="0"/>
                <a:cs typeface="Times New Roman" pitchFamily="18" charset="0"/>
              </a:rPr>
              <a:t>V</a:t>
            </a:r>
            <a:r>
              <a:rPr lang="en-US" altLang="zh-CN" b="1" i="1" baseline="-25000">
                <a:latin typeface="Times New Roman" pitchFamily="18" charset="0"/>
                <a:cs typeface="Times New Roman" pitchFamily="18" charset="0"/>
              </a:rPr>
              <a:t>C</a:t>
            </a:r>
            <a:r>
              <a:rPr lang="en-US" altLang="zh-CN" b="1">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l-GR" altLang="zh-CN" b="1">
                <a:latin typeface="Times New Roman" pitchFamily="18" charset="0"/>
                <a:cs typeface="Times New Roman" pitchFamily="18" charset="0"/>
              </a:rPr>
              <a:t> Δ</a:t>
            </a:r>
            <a:r>
              <a:rPr lang="en-US" altLang="zh-CN" b="1" baseline="-25000">
                <a:latin typeface="Times New Roman" pitchFamily="18" charset="0"/>
                <a:cs typeface="Times New Roman" pitchFamily="18" charset="0"/>
              </a:rPr>
              <a:t>V</a:t>
            </a:r>
            <a:r>
              <a:rPr lang="en-US" altLang="zh-CN" b="1" i="1" baseline="-25000">
                <a:latin typeface="Times New Roman" pitchFamily="18" charset="0"/>
                <a:cs typeface="Times New Roman" pitchFamily="18" charset="0"/>
              </a:rPr>
              <a:t>D</a:t>
            </a:r>
            <a:r>
              <a:rPr lang="zh-CN" altLang="en-US" b="1"/>
              <a:t> </a:t>
            </a:r>
            <a:r>
              <a:rPr lang="en-US" altLang="zh-CN" b="1"/>
              <a:t>;</a:t>
            </a:r>
          </a:p>
        </p:txBody>
      </p:sp>
      <p:graphicFrame>
        <p:nvGraphicFramePr>
          <p:cNvPr id="364553" name="Object 9"/>
          <p:cNvGraphicFramePr>
            <a:graphicFrameLocks noChangeAspect="1"/>
          </p:cNvGraphicFramePr>
          <p:nvPr/>
        </p:nvGraphicFramePr>
        <p:xfrm>
          <a:off x="5143504" y="2677180"/>
          <a:ext cx="2720975" cy="3024188"/>
        </p:xfrm>
        <a:graphic>
          <a:graphicData uri="http://schemas.openxmlformats.org/presentationml/2006/ole">
            <mc:AlternateContent xmlns:mc="http://schemas.openxmlformats.org/markup-compatibility/2006">
              <mc:Choice xmlns:v="urn:schemas-microsoft-com:vml" Requires="v">
                <p:oleObj spid="_x0000_s364555" name="AutoCAD Drawing" r:id="rId6" imgW="5743440" imgH="3781440" progId="">
                  <p:embed/>
                </p:oleObj>
              </mc:Choice>
              <mc:Fallback>
                <p:oleObj name="AutoCAD Drawing" r:id="rId6" imgW="5743440" imgH="3781440" progId="">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l="2856" t="21613" r="43677" b="-5934"/>
                      <a:stretch>
                        <a:fillRect/>
                      </a:stretch>
                    </p:blipFill>
                    <p:spPr bwMode="auto">
                      <a:xfrm>
                        <a:off x="5143504" y="2677180"/>
                        <a:ext cx="2720975" cy="302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Rectangle 5"/>
          <p:cNvSpPr>
            <a:spLocks noChangeArrowheads="1"/>
          </p:cNvSpPr>
          <p:nvPr/>
        </p:nvSpPr>
        <p:spPr bwMode="auto">
          <a:xfrm>
            <a:off x="5000628" y="5500702"/>
            <a:ext cx="3300410" cy="369332"/>
          </a:xfrm>
          <a:prstGeom prst="rect">
            <a:avLst/>
          </a:prstGeom>
          <a:noFill/>
          <a:ln w="9525">
            <a:noFill/>
            <a:miter lim="800000"/>
            <a:headEnd/>
            <a:tailEnd/>
          </a:ln>
          <a:effectLst/>
        </p:spPr>
        <p:txBody>
          <a:bodyPr wrap="square">
            <a:spAutoFit/>
          </a:bodyPr>
          <a:lstStyle/>
          <a:p>
            <a:pPr>
              <a:spcBef>
                <a:spcPct val="0"/>
              </a:spcBef>
            </a:pPr>
            <a:r>
              <a:rPr lang="en-US" altLang="zh-CN" b="1">
                <a:latin typeface="+mn-ea"/>
              </a:rPr>
              <a:t>   </a:t>
            </a:r>
            <a:r>
              <a:rPr lang="zh-CN" altLang="en-US" b="1">
                <a:latin typeface="+mn-ea"/>
              </a:rPr>
              <a:t>截面</a:t>
            </a:r>
            <a:r>
              <a:rPr lang="en-US" altLang="zh-CN" b="1" i="1">
                <a:latin typeface="Times New Roman" pitchFamily="18" charset="0"/>
                <a:cs typeface="Times New Roman" pitchFamily="18" charset="0"/>
              </a:rPr>
              <a:t>C</a:t>
            </a:r>
            <a:r>
              <a:rPr lang="zh-CN" altLang="en-US" b="1">
                <a:latin typeface="+mn-ea"/>
              </a:rPr>
              <a:t>、</a:t>
            </a:r>
            <a:r>
              <a:rPr lang="en-US" altLang="zh-CN" b="1" i="1">
                <a:latin typeface="Times New Roman" pitchFamily="18" charset="0"/>
                <a:cs typeface="Times New Roman" pitchFamily="18" charset="0"/>
              </a:rPr>
              <a:t>D</a:t>
            </a:r>
            <a:r>
              <a:rPr lang="en-US" altLang="zh-CN" b="1" i="1">
                <a:latin typeface="+mn-ea"/>
              </a:rPr>
              <a:t> </a:t>
            </a:r>
            <a:r>
              <a:rPr lang="zh-CN" altLang="en-US" b="1">
                <a:latin typeface="+mn-ea"/>
              </a:rPr>
              <a:t>的相对角位移为 </a:t>
            </a:r>
            <a:r>
              <a:rPr lang="en-US" altLang="zh-CN" b="1">
                <a:latin typeface="+mn-ea"/>
              </a:rPr>
              <a:t>:</a:t>
            </a:r>
          </a:p>
        </p:txBody>
      </p:sp>
      <p:sp>
        <p:nvSpPr>
          <p:cNvPr id="56" name="TextBox 55"/>
          <p:cNvSpPr txBox="1"/>
          <p:nvPr/>
        </p:nvSpPr>
        <p:spPr>
          <a:xfrm>
            <a:off x="5572132" y="5809183"/>
            <a:ext cx="1806905" cy="507831"/>
          </a:xfrm>
          <a:prstGeom prst="rect">
            <a:avLst/>
          </a:prstGeom>
          <a:noFill/>
          <a:ln w="28575">
            <a:noFill/>
          </a:ln>
        </p:spPr>
        <p:txBody>
          <a:bodyPr wrap="none" rtlCol="0">
            <a:spAutoFit/>
          </a:bodyPr>
          <a:lstStyle/>
          <a:p>
            <a:pPr>
              <a:lnSpc>
                <a:spcPct val="150000"/>
              </a:lnSpc>
            </a:pPr>
            <a:r>
              <a:rPr lang="el-GR" altLang="zh-CN" b="1">
                <a:latin typeface="Times New Roman" pitchFamily="18" charset="0"/>
                <a:cs typeface="Times New Roman" pitchFamily="18" charset="0"/>
              </a:rPr>
              <a:t>Δ</a:t>
            </a:r>
            <a:r>
              <a:rPr lang="el-GR" altLang="zh-CN" b="1" i="1" baseline="-25000">
                <a:latin typeface="Times New Roman"/>
                <a:cs typeface="Times New Roman"/>
              </a:rPr>
              <a:t>θ</a:t>
            </a:r>
            <a:r>
              <a:rPr lang="en-US" altLang="zh-CN" b="1" i="1" baseline="-25000">
                <a:latin typeface="Times New Roman" pitchFamily="18" charset="0"/>
                <a:cs typeface="Times New Roman" pitchFamily="18" charset="0"/>
              </a:rPr>
              <a:t>CD </a:t>
            </a:r>
            <a:r>
              <a:rPr lang="en-US" altLang="zh-CN" b="1" i="1">
                <a:latin typeface="Times New Roman" pitchFamily="18" charset="0"/>
                <a:cs typeface="Times New Roman" pitchFamily="18" charset="0"/>
              </a:rPr>
              <a:t> </a:t>
            </a:r>
            <a:r>
              <a:rPr lang="en-US" altLang="zh-CN" b="1">
                <a:latin typeface="Times New Roman" pitchFamily="18" charset="0"/>
                <a:cs typeface="Times New Roman" pitchFamily="18" charset="0"/>
              </a:rPr>
              <a:t>= </a:t>
            </a:r>
            <a:r>
              <a:rPr lang="el-GR" altLang="zh-CN" b="1" i="1">
                <a:latin typeface="Times New Roman" pitchFamily="18" charset="0"/>
                <a:cs typeface="Times New Roman" pitchFamily="18" charset="0"/>
              </a:rPr>
              <a:t>θ</a:t>
            </a:r>
            <a:r>
              <a:rPr lang="en-US" altLang="zh-CN" b="1" i="1" baseline="-25000">
                <a:latin typeface="Times New Roman" pitchFamily="18" charset="0"/>
                <a:cs typeface="Times New Roman" pitchFamily="18" charset="0"/>
              </a:rPr>
              <a:t>C</a:t>
            </a:r>
            <a:r>
              <a:rPr lang="en-US" altLang="zh-CN" b="1">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l-GR" altLang="zh-CN" b="1">
                <a:latin typeface="Times New Roman" pitchFamily="18" charset="0"/>
                <a:cs typeface="Times New Roman" pitchFamily="18" charset="0"/>
              </a:rPr>
              <a:t> </a:t>
            </a:r>
            <a:r>
              <a:rPr lang="el-GR" altLang="zh-CN" b="1" i="1">
                <a:latin typeface="Times New Roman" pitchFamily="18" charset="0"/>
                <a:cs typeface="Times New Roman" pitchFamily="18" charset="0"/>
              </a:rPr>
              <a:t>θ</a:t>
            </a:r>
            <a:r>
              <a:rPr lang="en-US" altLang="zh-CN" b="1" i="1" baseline="-25000">
                <a:latin typeface="Times New Roman" pitchFamily="18" charset="0"/>
                <a:cs typeface="Times New Roman" pitchFamily="18" charset="0"/>
              </a:rPr>
              <a:t>D</a:t>
            </a:r>
            <a:r>
              <a:rPr lang="zh-CN" altLang="en-US" b="1"/>
              <a:t> </a:t>
            </a:r>
            <a:r>
              <a:rPr lang="en-US" altLang="zh-CN"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51"/>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5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3">
                                            <p:txEl>
                                              <p:pRg st="0" end="0"/>
                                            </p:txEl>
                                          </p:spTgt>
                                        </p:tgtEl>
                                        <p:attrNameLst>
                                          <p:attrName>style.visibility</p:attrName>
                                        </p:attrNameLst>
                                      </p:cBhvr>
                                      <p:to>
                                        <p:strVal val="visible"/>
                                      </p:to>
                                    </p:set>
                                    <p:animEffect transition="in" filter="wipe(down)">
                                      <p:cBhvr>
                                        <p:cTn id="20" dur="500"/>
                                        <p:tgtEl>
                                          <p:spTgt spid="5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364553"/>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5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6">
                                            <p:txEl>
                                              <p:pRg st="0" end="0"/>
                                            </p:txEl>
                                          </p:spTgt>
                                        </p:tgtEl>
                                        <p:attrNameLst>
                                          <p:attrName>style.visibility</p:attrName>
                                        </p:attrNameLst>
                                      </p:cBhvr>
                                      <p:to>
                                        <p:strVal val="visible"/>
                                      </p:to>
                                    </p:set>
                                    <p:animEffect transition="in" filter="wipe(down)">
                                      <p:cBhvr>
                                        <p:cTn id="32" dur="500"/>
                                        <p:tgtEl>
                                          <p:spTgt spid="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2" grpId="0" autoUpdateAnimBg="0"/>
      <p:bldP spid="53" grpId="0" build="p"/>
      <p:bldP spid="55" grpId="0" autoUpdateAnimBg="0"/>
      <p:bldP spid="5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结构位移计算概述</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797782"/>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位移：结构上的某一截面在荷载或其它因素作用下由某一位置移动到另一位置，这个移动的量就称为该截面的位移；</a:t>
            </a:r>
            <a:endParaRPr lang="en-US" altLang="zh-CN" sz="2000" b="1"/>
          </a:p>
        </p:txBody>
      </p:sp>
      <p:sp>
        <p:nvSpPr>
          <p:cNvPr id="17" name="Rectangle 6"/>
          <p:cNvSpPr>
            <a:spLocks noChangeArrowheads="1"/>
          </p:cNvSpPr>
          <p:nvPr/>
        </p:nvSpPr>
        <p:spPr bwMode="auto">
          <a:xfrm>
            <a:off x="469540" y="2571744"/>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位移分类：线位移、角位移</a:t>
            </a:r>
            <a:endParaRPr lang="en-US" altLang="zh-CN" sz="2000" b="1"/>
          </a:p>
        </p:txBody>
      </p:sp>
      <p:sp>
        <p:nvSpPr>
          <p:cNvPr id="13" name="Rectangle 6"/>
          <p:cNvSpPr>
            <a:spLocks noChangeArrowheads="1"/>
          </p:cNvSpPr>
          <p:nvPr/>
        </p:nvSpPr>
        <p:spPr bwMode="auto">
          <a:xfrm>
            <a:off x="469540" y="2967335"/>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位移计算的目的</a:t>
            </a:r>
            <a:endParaRPr lang="en-US" altLang="zh-CN" sz="2000" b="1"/>
          </a:p>
        </p:txBody>
      </p:sp>
      <p:sp>
        <p:nvSpPr>
          <p:cNvPr id="14" name="TextBox 13"/>
          <p:cNvSpPr txBox="1"/>
          <p:nvPr/>
        </p:nvSpPr>
        <p:spPr>
          <a:xfrm>
            <a:off x="1214414" y="3375630"/>
            <a:ext cx="3571900" cy="797782"/>
          </a:xfrm>
          <a:prstGeom prst="rect">
            <a:avLst/>
          </a:prstGeom>
          <a:noFill/>
          <a:ln w="28575">
            <a:noFill/>
          </a:ln>
        </p:spPr>
        <p:txBody>
          <a:bodyPr wrap="square" rtlCol="0">
            <a:spAutoFit/>
          </a:bodyPr>
          <a:lstStyle/>
          <a:p>
            <a:pPr marL="355600" indent="-355600">
              <a:lnSpc>
                <a:spcPct val="120000"/>
              </a:lnSpc>
            </a:pPr>
            <a:r>
              <a:rPr lang="zh-CN" altLang="en-US" sz="2000" b="1"/>
              <a:t>⑴  验算结构刚度：结构位移是否超过允许值</a:t>
            </a:r>
            <a:r>
              <a:rPr lang="en-US" altLang="zh-CN" sz="2000" b="1"/>
              <a:t>;</a:t>
            </a:r>
            <a:endParaRPr lang="zh-CN" altLang="en-US" sz="2000" b="1"/>
          </a:p>
        </p:txBody>
      </p:sp>
      <p:sp>
        <p:nvSpPr>
          <p:cNvPr id="15" name="TextBox 14"/>
          <p:cNvSpPr txBox="1"/>
          <p:nvPr/>
        </p:nvSpPr>
        <p:spPr>
          <a:xfrm>
            <a:off x="5371466" y="5340980"/>
            <a:ext cx="3571900" cy="369332"/>
          </a:xfrm>
          <a:prstGeom prst="rect">
            <a:avLst/>
          </a:prstGeom>
          <a:noFill/>
          <a:ln w="28575">
            <a:noFill/>
          </a:ln>
        </p:spPr>
        <p:txBody>
          <a:bodyPr wrap="square" rtlCol="0">
            <a:spAutoFit/>
          </a:bodyPr>
          <a:lstStyle/>
          <a:p>
            <a:r>
              <a:rPr lang="zh-CN" altLang="en-US" b="1">
                <a:solidFill>
                  <a:srgbClr val="0033CC"/>
                </a:solidFill>
              </a:rPr>
              <a:t>回顾：刚度、强度、稳定性；</a:t>
            </a:r>
          </a:p>
        </p:txBody>
      </p:sp>
      <p:sp>
        <p:nvSpPr>
          <p:cNvPr id="16" name="TextBox 15"/>
          <p:cNvSpPr txBox="1"/>
          <p:nvPr/>
        </p:nvSpPr>
        <p:spPr>
          <a:xfrm>
            <a:off x="5000628" y="5698170"/>
            <a:ext cx="3714776" cy="400110"/>
          </a:xfrm>
          <a:prstGeom prst="rect">
            <a:avLst/>
          </a:prstGeom>
          <a:noFill/>
          <a:ln w="28575">
            <a:noFill/>
          </a:ln>
        </p:spPr>
        <p:txBody>
          <a:bodyPr wrap="square" rtlCol="0">
            <a:spAutoFit/>
          </a:bodyPr>
          <a:lstStyle/>
          <a:p>
            <a:r>
              <a:rPr lang="zh-CN" altLang="en-US" sz="2000" b="1"/>
              <a:t>⑵  为分析超静定结构打基础；</a:t>
            </a:r>
          </a:p>
        </p:txBody>
      </p:sp>
      <p:pic>
        <p:nvPicPr>
          <p:cNvPr id="365572" name="Picture 4"/>
          <p:cNvPicPr>
            <a:picLocks noChangeAspect="1" noChangeArrowheads="1"/>
          </p:cNvPicPr>
          <p:nvPr/>
        </p:nvPicPr>
        <p:blipFill>
          <a:blip r:embed="rId3"/>
          <a:srcRect/>
          <a:stretch>
            <a:fillRect/>
          </a:stretch>
        </p:blipFill>
        <p:spPr bwMode="auto">
          <a:xfrm>
            <a:off x="4857752" y="2697774"/>
            <a:ext cx="3961395" cy="2643206"/>
          </a:xfrm>
          <a:prstGeom prst="rect">
            <a:avLst/>
          </a:prstGeom>
          <a:noFill/>
          <a:ln w="9525">
            <a:solidFill>
              <a:schemeClr val="tx1"/>
            </a:solidFill>
            <a:miter lim="800000"/>
            <a:headEnd/>
            <a:tailEnd/>
          </a:ln>
          <a:effectLst/>
        </p:spPr>
      </p:pic>
      <p:pic>
        <p:nvPicPr>
          <p:cNvPr id="365573" name="Picture 5"/>
          <p:cNvPicPr>
            <a:picLocks noChangeAspect="1" noChangeArrowheads="1"/>
          </p:cNvPicPr>
          <p:nvPr/>
        </p:nvPicPr>
        <p:blipFill>
          <a:blip r:embed="rId4"/>
          <a:srcRect/>
          <a:stretch>
            <a:fillRect/>
          </a:stretch>
        </p:blipFill>
        <p:spPr bwMode="auto">
          <a:xfrm>
            <a:off x="785786" y="4338658"/>
            <a:ext cx="3810000" cy="2019300"/>
          </a:xfrm>
          <a:prstGeom prst="rect">
            <a:avLst/>
          </a:prstGeom>
          <a:noFill/>
          <a:ln w="9525">
            <a:solidFill>
              <a:schemeClr val="tx1"/>
            </a:solidFill>
            <a:miter lim="800000"/>
            <a:headEnd/>
            <a:tailEnd/>
          </a:ln>
          <a:effectLst/>
        </p:spPr>
      </p:pic>
      <p:sp>
        <p:nvSpPr>
          <p:cNvPr id="19" name="TextBox 18"/>
          <p:cNvSpPr txBox="1"/>
          <p:nvPr/>
        </p:nvSpPr>
        <p:spPr>
          <a:xfrm>
            <a:off x="5003826" y="6056582"/>
            <a:ext cx="3714776" cy="400110"/>
          </a:xfrm>
          <a:prstGeom prst="rect">
            <a:avLst/>
          </a:prstGeom>
          <a:noFill/>
          <a:ln w="28575">
            <a:noFill/>
          </a:ln>
        </p:spPr>
        <p:txBody>
          <a:bodyPr wrap="square" rtlCol="0">
            <a:spAutoFit/>
          </a:bodyPr>
          <a:lstStyle/>
          <a:p>
            <a:r>
              <a:rPr lang="zh-CN" altLang="en-US" sz="2000" b="1"/>
              <a:t>⑶  施工要求；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5573"/>
                                        </p:tgtEl>
                                        <p:attrNameLst>
                                          <p:attrName>style.visibility</p:attrName>
                                        </p:attrNameLst>
                                      </p:cBhvr>
                                      <p:to>
                                        <p:strVal val="visible"/>
                                      </p:to>
                                    </p:set>
                                    <p:anim calcmode="lin" valueType="num">
                                      <p:cBhvr additive="base">
                                        <p:cTn id="19" dur="500" fill="hold"/>
                                        <p:tgtEl>
                                          <p:spTgt spid="365573"/>
                                        </p:tgtEl>
                                        <p:attrNameLst>
                                          <p:attrName>ppt_x</p:attrName>
                                        </p:attrNameLst>
                                      </p:cBhvr>
                                      <p:tavLst>
                                        <p:tav tm="0">
                                          <p:val>
                                            <p:strVal val="#ppt_x"/>
                                          </p:val>
                                        </p:tav>
                                        <p:tav tm="100000">
                                          <p:val>
                                            <p:strVal val="#ppt_x"/>
                                          </p:val>
                                        </p:tav>
                                      </p:tavLst>
                                    </p:anim>
                                    <p:anim calcmode="lin" valueType="num">
                                      <p:cBhvr additive="base">
                                        <p:cTn id="20" dur="500" fill="hold"/>
                                        <p:tgtEl>
                                          <p:spTgt spid="36557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65572"/>
                                        </p:tgtEl>
                                        <p:attrNameLst>
                                          <p:attrName>style.visibility</p:attrName>
                                        </p:attrNameLst>
                                      </p:cBhvr>
                                      <p:to>
                                        <p:strVal val="visible"/>
                                      </p:to>
                                    </p:set>
                                    <p:animEffect transition="in" filter="blinds(horizontal)">
                                      <p:cBhvr>
                                        <p:cTn id="43" dur="500"/>
                                        <p:tgtEl>
                                          <p:spTgt spid="36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结构位移计算概述</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797782"/>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位移：结构上的某一截面在荷载或其它因素作用下由某一位置移动到另一位置，这个移动的量就称为该截面的位移；</a:t>
            </a:r>
            <a:endParaRPr lang="en-US" altLang="zh-CN" sz="2000" b="1"/>
          </a:p>
        </p:txBody>
      </p:sp>
      <p:sp>
        <p:nvSpPr>
          <p:cNvPr id="17" name="Rectangle 6"/>
          <p:cNvSpPr>
            <a:spLocks noChangeArrowheads="1"/>
          </p:cNvSpPr>
          <p:nvPr/>
        </p:nvSpPr>
        <p:spPr bwMode="auto">
          <a:xfrm>
            <a:off x="469540" y="2571744"/>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位移分类：线位移、角位移</a:t>
            </a:r>
            <a:endParaRPr lang="en-US" altLang="zh-CN" sz="2000" b="1"/>
          </a:p>
        </p:txBody>
      </p:sp>
      <p:sp>
        <p:nvSpPr>
          <p:cNvPr id="13" name="Rectangle 6"/>
          <p:cNvSpPr>
            <a:spLocks noChangeArrowheads="1"/>
          </p:cNvSpPr>
          <p:nvPr/>
        </p:nvSpPr>
        <p:spPr bwMode="auto">
          <a:xfrm>
            <a:off x="469540" y="2967335"/>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位移计算的目的</a:t>
            </a:r>
            <a:endParaRPr lang="en-US" altLang="zh-CN" sz="2000" b="1"/>
          </a:p>
        </p:txBody>
      </p:sp>
      <p:sp>
        <p:nvSpPr>
          <p:cNvPr id="18" name="Rectangle 6"/>
          <p:cNvSpPr>
            <a:spLocks noChangeArrowheads="1"/>
          </p:cNvSpPr>
          <p:nvPr/>
        </p:nvSpPr>
        <p:spPr bwMode="auto">
          <a:xfrm>
            <a:off x="469540" y="3384858"/>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产生位移的原因</a:t>
            </a:r>
            <a:endParaRPr lang="en-US" altLang="zh-CN" sz="2000" b="1"/>
          </a:p>
        </p:txBody>
      </p:sp>
      <p:sp>
        <p:nvSpPr>
          <p:cNvPr id="19" name="TextBox 18"/>
          <p:cNvSpPr txBox="1"/>
          <p:nvPr/>
        </p:nvSpPr>
        <p:spPr>
          <a:xfrm>
            <a:off x="1214414" y="3786190"/>
            <a:ext cx="3571900" cy="1200329"/>
          </a:xfrm>
          <a:prstGeom prst="rect">
            <a:avLst/>
          </a:prstGeom>
          <a:noFill/>
          <a:ln w="28575">
            <a:noFill/>
          </a:ln>
        </p:spPr>
        <p:txBody>
          <a:bodyPr wrap="square" rtlCol="0">
            <a:spAutoFit/>
          </a:bodyPr>
          <a:lstStyle/>
          <a:p>
            <a:pPr marL="355600" indent="-355600">
              <a:lnSpc>
                <a:spcPct val="120000"/>
              </a:lnSpc>
            </a:pPr>
            <a:r>
              <a:rPr lang="zh-CN" altLang="en-US" sz="2000" b="1"/>
              <a:t>⑴  荷载作用</a:t>
            </a:r>
            <a:r>
              <a:rPr lang="en-US" altLang="zh-CN" sz="2000" b="1"/>
              <a:t>;</a:t>
            </a:r>
          </a:p>
          <a:p>
            <a:pPr marL="355600" indent="-355600">
              <a:lnSpc>
                <a:spcPct val="120000"/>
              </a:lnSpc>
            </a:pPr>
            <a:r>
              <a:rPr lang="zh-CN" altLang="en-US" sz="2000" b="1"/>
              <a:t>⑵  温度变化和材料涨缩；</a:t>
            </a:r>
            <a:endParaRPr lang="en-US" altLang="zh-CN" sz="2000" b="1"/>
          </a:p>
          <a:p>
            <a:pPr marL="355600" indent="-355600">
              <a:lnSpc>
                <a:spcPct val="120000"/>
              </a:lnSpc>
            </a:pPr>
            <a:r>
              <a:rPr lang="zh-CN" altLang="en-US" sz="2000" b="1"/>
              <a:t>⑶  支座沉降和制造误差；</a:t>
            </a:r>
          </a:p>
        </p:txBody>
      </p:sp>
      <p:grpSp>
        <p:nvGrpSpPr>
          <p:cNvPr id="28" name="组合 27"/>
          <p:cNvGrpSpPr/>
          <p:nvPr/>
        </p:nvGrpSpPr>
        <p:grpSpPr>
          <a:xfrm>
            <a:off x="5184803" y="2739690"/>
            <a:ext cx="2951007" cy="891432"/>
            <a:chOff x="5072066" y="3214686"/>
            <a:chExt cx="2951007" cy="891432"/>
          </a:xfrm>
        </p:grpSpPr>
        <p:grpSp>
          <p:nvGrpSpPr>
            <p:cNvPr id="21" name="组合 20"/>
            <p:cNvGrpSpPr/>
            <p:nvPr/>
          </p:nvGrpSpPr>
          <p:grpSpPr>
            <a:xfrm>
              <a:off x="5072066" y="3214686"/>
              <a:ext cx="2951007" cy="714380"/>
              <a:chOff x="5072066" y="3214686"/>
              <a:chExt cx="2951007" cy="714380"/>
            </a:xfrm>
          </p:grpSpPr>
          <p:pic>
            <p:nvPicPr>
              <p:cNvPr id="366594" name="Picture 2"/>
              <p:cNvPicPr>
                <a:picLocks noChangeAspect="1" noChangeArrowheads="1"/>
              </p:cNvPicPr>
              <p:nvPr/>
            </p:nvPicPr>
            <p:blipFill>
              <a:blip r:embed="rId3"/>
              <a:srcRect t="28571"/>
              <a:stretch>
                <a:fillRect/>
              </a:stretch>
            </p:blipFill>
            <p:spPr bwMode="auto">
              <a:xfrm>
                <a:off x="5072066" y="3214686"/>
                <a:ext cx="2951007" cy="714380"/>
              </a:xfrm>
              <a:prstGeom prst="rect">
                <a:avLst/>
              </a:prstGeom>
              <a:noFill/>
              <a:ln w="9525">
                <a:noFill/>
                <a:miter lim="800000"/>
                <a:headEnd/>
                <a:tailEnd/>
              </a:ln>
              <a:effectLst/>
            </p:spPr>
          </p:pic>
          <p:sp>
            <p:nvSpPr>
              <p:cNvPr id="20" name="任意多边形 19"/>
              <p:cNvSpPr/>
              <p:nvPr/>
            </p:nvSpPr>
            <p:spPr bwMode="auto">
              <a:xfrm>
                <a:off x="5349922" y="3521123"/>
                <a:ext cx="2483893" cy="193630"/>
              </a:xfrm>
              <a:custGeom>
                <a:avLst/>
                <a:gdLst>
                  <a:gd name="connsiteX0" fmla="*/ 0 w 2483893"/>
                  <a:gd name="connsiteY0" fmla="*/ 13648 h 384413"/>
                  <a:gd name="connsiteX1" fmla="*/ 1310185 w 2483893"/>
                  <a:gd name="connsiteY1" fmla="*/ 382138 h 384413"/>
                  <a:gd name="connsiteX2" fmla="*/ 2483893 w 2483893"/>
                  <a:gd name="connsiteY2" fmla="*/ 0 h 384413"/>
                </a:gdLst>
                <a:ahLst/>
                <a:cxnLst>
                  <a:cxn ang="0">
                    <a:pos x="connsiteX0" y="connsiteY0"/>
                  </a:cxn>
                  <a:cxn ang="0">
                    <a:pos x="connsiteX1" y="connsiteY1"/>
                  </a:cxn>
                  <a:cxn ang="0">
                    <a:pos x="connsiteX2" y="connsiteY2"/>
                  </a:cxn>
                </a:cxnLst>
                <a:rect l="l" t="t" r="r" b="b"/>
                <a:pathLst>
                  <a:path w="2483893" h="384413">
                    <a:moveTo>
                      <a:pt x="0" y="13648"/>
                    </a:moveTo>
                    <a:cubicBezTo>
                      <a:pt x="448101" y="199030"/>
                      <a:pt x="896203" y="384413"/>
                      <a:pt x="1310185" y="382138"/>
                    </a:cubicBezTo>
                    <a:cubicBezTo>
                      <a:pt x="1724167" y="379863"/>
                      <a:pt x="2104030" y="189931"/>
                      <a:pt x="2483893" y="0"/>
                    </a:cubicBezTo>
                  </a:path>
                </a:pathLst>
              </a:cu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sp>
          <p:nvSpPr>
            <p:cNvPr id="27" name="TextBox 26"/>
            <p:cNvSpPr txBox="1"/>
            <p:nvPr/>
          </p:nvSpPr>
          <p:spPr>
            <a:xfrm>
              <a:off x="5216663" y="3736786"/>
              <a:ext cx="2723823" cy="369332"/>
            </a:xfrm>
            <a:prstGeom prst="rect">
              <a:avLst/>
            </a:prstGeom>
            <a:noFill/>
            <a:ln w="28575">
              <a:noFill/>
            </a:ln>
          </p:spPr>
          <p:txBody>
            <a:bodyPr wrap="none" rtlCol="0">
              <a:spAutoFit/>
            </a:bodyPr>
            <a:lstStyle/>
            <a:p>
              <a:r>
                <a:rPr lang="zh-CN" altLang="en-US" b="1">
                  <a:solidFill>
                    <a:srgbClr val="0033CC"/>
                  </a:solidFill>
                </a:rPr>
                <a:t>有位移，有应变，有内力</a:t>
              </a:r>
            </a:p>
          </p:txBody>
        </p:sp>
      </p:grpSp>
      <p:grpSp>
        <p:nvGrpSpPr>
          <p:cNvPr id="30" name="组合 29"/>
          <p:cNvGrpSpPr/>
          <p:nvPr/>
        </p:nvGrpSpPr>
        <p:grpSpPr>
          <a:xfrm>
            <a:off x="2852064" y="3491845"/>
            <a:ext cx="5291836" cy="1259615"/>
            <a:chOff x="2739327" y="4121370"/>
            <a:chExt cx="5291836" cy="1259615"/>
          </a:xfrm>
        </p:grpSpPr>
        <p:grpSp>
          <p:nvGrpSpPr>
            <p:cNvPr id="26" name="组合 25"/>
            <p:cNvGrpSpPr/>
            <p:nvPr/>
          </p:nvGrpSpPr>
          <p:grpSpPr>
            <a:xfrm>
              <a:off x="2739327" y="4121370"/>
              <a:ext cx="5291836" cy="1022142"/>
              <a:chOff x="2739327" y="4000504"/>
              <a:chExt cx="5291836" cy="1022142"/>
            </a:xfrm>
          </p:grpSpPr>
          <p:pic>
            <p:nvPicPr>
              <p:cNvPr id="366595" name="Picture 3"/>
              <p:cNvPicPr>
                <a:picLocks noChangeAspect="1" noChangeArrowheads="1"/>
              </p:cNvPicPr>
              <p:nvPr/>
            </p:nvPicPr>
            <p:blipFill>
              <a:blip r:embed="rId4"/>
              <a:srcRect t="20983"/>
              <a:stretch>
                <a:fillRect/>
              </a:stretch>
            </p:blipFill>
            <p:spPr bwMode="auto">
              <a:xfrm>
                <a:off x="5072066" y="4379704"/>
                <a:ext cx="2959097" cy="620932"/>
              </a:xfrm>
              <a:prstGeom prst="rect">
                <a:avLst/>
              </a:prstGeom>
              <a:noFill/>
              <a:ln w="9525">
                <a:noFill/>
                <a:miter lim="800000"/>
                <a:headEnd/>
                <a:tailEnd/>
              </a:ln>
              <a:effectLst/>
            </p:spPr>
          </p:pic>
          <p:sp>
            <p:nvSpPr>
              <p:cNvPr id="22" name="弧形 21"/>
              <p:cNvSpPr/>
              <p:nvPr/>
            </p:nvSpPr>
            <p:spPr bwMode="auto">
              <a:xfrm rot="10800000" flipH="1">
                <a:off x="2739327" y="4000504"/>
                <a:ext cx="5261698" cy="623402"/>
              </a:xfrm>
              <a:prstGeom prst="arc">
                <a:avLst>
                  <a:gd name="adj1" fmla="val 16200000"/>
                  <a:gd name="adj2" fmla="val 21433540"/>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23" name="TextBox 22"/>
              <p:cNvSpPr txBox="1"/>
              <p:nvPr/>
            </p:nvSpPr>
            <p:spPr>
              <a:xfrm>
                <a:off x="6215074" y="4653314"/>
                <a:ext cx="675185"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a:t>
                </a:r>
                <a:r>
                  <a:rPr lang="en-US" altLang="zh-CN" b="1"/>
                  <a:t> </a:t>
                </a:r>
                <a:r>
                  <a:rPr lang="en-US" altLang="zh-CN" b="1" i="1">
                    <a:latin typeface="Times New Roman" pitchFamily="18" charset="0"/>
                    <a:cs typeface="Times New Roman" pitchFamily="18" charset="0"/>
                  </a:rPr>
                  <a:t>t</a:t>
                </a:r>
                <a:r>
                  <a:rPr lang="en-US" altLang="zh-CN" b="1">
                    <a:latin typeface="Times New Roman" pitchFamily="18" charset="0"/>
                    <a:cs typeface="Times New Roman" pitchFamily="18" charset="0"/>
                  </a:rPr>
                  <a:t>°</a:t>
                </a:r>
                <a:endParaRPr lang="zh-CN" altLang="en-US" b="1">
                  <a:latin typeface="Times New Roman" pitchFamily="18" charset="0"/>
                  <a:cs typeface="Times New Roman" pitchFamily="18" charset="0"/>
                </a:endParaRPr>
              </a:p>
            </p:txBody>
          </p:sp>
        </p:grpSp>
        <p:sp>
          <p:nvSpPr>
            <p:cNvPr id="29" name="TextBox 28"/>
            <p:cNvSpPr txBox="1"/>
            <p:nvPr/>
          </p:nvSpPr>
          <p:spPr>
            <a:xfrm>
              <a:off x="5215416" y="5011653"/>
              <a:ext cx="2723823" cy="369332"/>
            </a:xfrm>
            <a:prstGeom prst="rect">
              <a:avLst/>
            </a:prstGeom>
            <a:noFill/>
            <a:ln w="28575">
              <a:noFill/>
            </a:ln>
          </p:spPr>
          <p:txBody>
            <a:bodyPr wrap="none" rtlCol="0">
              <a:spAutoFit/>
            </a:bodyPr>
            <a:lstStyle/>
            <a:p>
              <a:r>
                <a:rPr lang="zh-CN" altLang="en-US" b="1">
                  <a:solidFill>
                    <a:srgbClr val="0033CC"/>
                  </a:solidFill>
                </a:rPr>
                <a:t>有位移，有应变，无内力</a:t>
              </a:r>
            </a:p>
          </p:txBody>
        </p:sp>
      </p:grpSp>
      <p:pic>
        <p:nvPicPr>
          <p:cNvPr id="366596" name="Picture 4"/>
          <p:cNvPicPr>
            <a:picLocks noChangeAspect="1" noChangeArrowheads="1"/>
          </p:cNvPicPr>
          <p:nvPr/>
        </p:nvPicPr>
        <p:blipFill>
          <a:blip r:embed="rId5"/>
          <a:srcRect t="27273"/>
          <a:stretch>
            <a:fillRect/>
          </a:stretch>
        </p:blipFill>
        <p:spPr bwMode="auto">
          <a:xfrm>
            <a:off x="5256241" y="4879305"/>
            <a:ext cx="2850056" cy="571504"/>
          </a:xfrm>
          <a:prstGeom prst="rect">
            <a:avLst/>
          </a:prstGeom>
          <a:noFill/>
          <a:ln w="9525">
            <a:noFill/>
            <a:miter lim="800000"/>
            <a:headEnd/>
            <a:tailEnd/>
          </a:ln>
          <a:effectLst/>
        </p:spPr>
      </p:pic>
      <p:grpSp>
        <p:nvGrpSpPr>
          <p:cNvPr id="36" name="组合 35"/>
          <p:cNvGrpSpPr/>
          <p:nvPr/>
        </p:nvGrpSpPr>
        <p:grpSpPr>
          <a:xfrm>
            <a:off x="5327679" y="5022181"/>
            <a:ext cx="2723823" cy="813188"/>
            <a:chOff x="5214942" y="5572140"/>
            <a:chExt cx="2723823" cy="813188"/>
          </a:xfrm>
        </p:grpSpPr>
        <p:grpSp>
          <p:nvGrpSpPr>
            <p:cNvPr id="34" name="组合 33"/>
            <p:cNvGrpSpPr/>
            <p:nvPr/>
          </p:nvGrpSpPr>
          <p:grpSpPr>
            <a:xfrm>
              <a:off x="5429256" y="5572140"/>
              <a:ext cx="2500330" cy="571504"/>
              <a:chOff x="5429256" y="5572140"/>
              <a:chExt cx="2500330" cy="571504"/>
            </a:xfrm>
          </p:grpSpPr>
          <p:pic>
            <p:nvPicPr>
              <p:cNvPr id="31" name="Picture 4"/>
              <p:cNvPicPr>
                <a:picLocks noChangeAspect="1" noChangeArrowheads="1"/>
              </p:cNvPicPr>
              <p:nvPr/>
            </p:nvPicPr>
            <p:blipFill>
              <a:blip r:embed="rId5"/>
              <a:srcRect l="87729" t="36364" r="2245" b="18182"/>
              <a:stretch>
                <a:fillRect/>
              </a:stretch>
            </p:blipFill>
            <p:spPr bwMode="auto">
              <a:xfrm>
                <a:off x="7643834" y="5786454"/>
                <a:ext cx="285752" cy="357190"/>
              </a:xfrm>
              <a:prstGeom prst="rect">
                <a:avLst/>
              </a:prstGeom>
              <a:noFill/>
              <a:ln w="9525">
                <a:noFill/>
                <a:miter lim="800000"/>
                <a:headEnd/>
                <a:tailEnd/>
              </a:ln>
              <a:effectLst/>
            </p:spPr>
          </p:pic>
          <p:cxnSp>
            <p:nvCxnSpPr>
              <p:cNvPr id="33" name="直接连接符 32"/>
              <p:cNvCxnSpPr>
                <a:endCxn id="31" idx="0"/>
              </p:cNvCxnSpPr>
              <p:nvPr/>
            </p:nvCxnSpPr>
            <p:spPr bwMode="auto">
              <a:xfrm>
                <a:off x="5429256" y="5572140"/>
                <a:ext cx="2347200" cy="277200"/>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35" name="TextBox 34"/>
            <p:cNvSpPr txBox="1"/>
            <p:nvPr/>
          </p:nvSpPr>
          <p:spPr>
            <a:xfrm>
              <a:off x="5214942" y="6015996"/>
              <a:ext cx="2723823" cy="369332"/>
            </a:xfrm>
            <a:prstGeom prst="rect">
              <a:avLst/>
            </a:prstGeom>
            <a:noFill/>
            <a:ln w="28575">
              <a:noFill/>
            </a:ln>
          </p:spPr>
          <p:txBody>
            <a:bodyPr wrap="none" rtlCol="0">
              <a:spAutoFit/>
            </a:bodyPr>
            <a:lstStyle/>
            <a:p>
              <a:r>
                <a:rPr lang="zh-CN" altLang="en-US" b="1">
                  <a:solidFill>
                    <a:srgbClr val="0033CC"/>
                  </a:solidFill>
                </a:rPr>
                <a:t>有位移，无应变，无内力</a:t>
              </a:r>
            </a:p>
          </p:txBody>
        </p:sp>
      </p:grpSp>
      <p:sp>
        <p:nvSpPr>
          <p:cNvPr id="38" name="TextBox 37"/>
          <p:cNvSpPr txBox="1"/>
          <p:nvPr/>
        </p:nvSpPr>
        <p:spPr>
          <a:xfrm>
            <a:off x="5227632" y="6011296"/>
            <a:ext cx="2954655" cy="369332"/>
          </a:xfrm>
          <a:prstGeom prst="rect">
            <a:avLst/>
          </a:prstGeom>
          <a:noFill/>
          <a:ln w="28575">
            <a:solidFill>
              <a:srgbClr val="C00000"/>
            </a:solidFill>
          </a:ln>
        </p:spPr>
        <p:txBody>
          <a:bodyPr wrap="none" rtlCol="0">
            <a:spAutoFit/>
          </a:bodyPr>
          <a:lstStyle/>
          <a:p>
            <a:r>
              <a:rPr lang="zh-CN" altLang="en-US" b="1">
                <a:solidFill>
                  <a:srgbClr val="C00000"/>
                </a:solidFill>
              </a:rPr>
              <a:t>静定结构，无外力无内力！</a:t>
            </a:r>
          </a:p>
        </p:txBody>
      </p:sp>
      <p:pic>
        <p:nvPicPr>
          <p:cNvPr id="366598" name="Picture 6"/>
          <p:cNvPicPr>
            <a:picLocks noChangeAspect="1" noChangeArrowheads="1"/>
          </p:cNvPicPr>
          <p:nvPr/>
        </p:nvPicPr>
        <p:blipFill>
          <a:blip r:embed="rId6"/>
          <a:srcRect/>
          <a:stretch>
            <a:fillRect/>
          </a:stretch>
        </p:blipFill>
        <p:spPr bwMode="auto">
          <a:xfrm>
            <a:off x="1500166" y="4908242"/>
            <a:ext cx="2786082" cy="550042"/>
          </a:xfrm>
          <a:prstGeom prst="rect">
            <a:avLst/>
          </a:prstGeom>
          <a:noFill/>
          <a:ln w="9525">
            <a:noFill/>
            <a:miter lim="800000"/>
            <a:headEnd/>
            <a:tailEnd/>
          </a:ln>
          <a:effectLst/>
        </p:spPr>
      </p:pic>
      <p:grpSp>
        <p:nvGrpSpPr>
          <p:cNvPr id="43" name="组合 42"/>
          <p:cNvGrpSpPr/>
          <p:nvPr/>
        </p:nvGrpSpPr>
        <p:grpSpPr>
          <a:xfrm>
            <a:off x="-862969" y="5192674"/>
            <a:ext cx="5099813" cy="799330"/>
            <a:chOff x="-862969" y="5415752"/>
            <a:chExt cx="5099813" cy="799330"/>
          </a:xfrm>
        </p:grpSpPr>
        <p:pic>
          <p:nvPicPr>
            <p:cNvPr id="39" name="Picture 4"/>
            <p:cNvPicPr>
              <a:picLocks noChangeAspect="1" noChangeArrowheads="1"/>
            </p:cNvPicPr>
            <p:nvPr/>
          </p:nvPicPr>
          <p:blipFill>
            <a:blip r:embed="rId5"/>
            <a:srcRect l="87729" t="36364" r="2245" b="18182"/>
            <a:stretch>
              <a:fillRect/>
            </a:stretch>
          </p:blipFill>
          <p:spPr bwMode="auto">
            <a:xfrm>
              <a:off x="3951092" y="5626880"/>
              <a:ext cx="285752" cy="357190"/>
            </a:xfrm>
            <a:prstGeom prst="rect">
              <a:avLst/>
            </a:prstGeom>
            <a:noFill/>
            <a:ln w="9525">
              <a:noFill/>
              <a:miter lim="800000"/>
              <a:headEnd/>
              <a:tailEnd/>
            </a:ln>
            <a:effectLst/>
          </p:spPr>
        </p:pic>
        <p:sp>
          <p:nvSpPr>
            <p:cNvPr id="41" name="弧形 40"/>
            <p:cNvSpPr/>
            <p:nvPr/>
          </p:nvSpPr>
          <p:spPr bwMode="auto">
            <a:xfrm rot="10800000" flipH="1" flipV="1">
              <a:off x="-862969" y="5415752"/>
              <a:ext cx="5077779" cy="799330"/>
            </a:xfrm>
            <a:prstGeom prst="arc">
              <a:avLst>
                <a:gd name="adj1" fmla="val 16200000"/>
                <a:gd name="adj2" fmla="val 21433540"/>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42" name="矩形 41"/>
            <p:cNvSpPr/>
            <p:nvPr/>
          </p:nvSpPr>
          <p:spPr bwMode="auto">
            <a:xfrm>
              <a:off x="3955077" y="5692714"/>
              <a:ext cx="71438" cy="71438"/>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grpSp>
      <p:sp>
        <p:nvSpPr>
          <p:cNvPr id="44" name="TextBox 43"/>
          <p:cNvSpPr txBox="1"/>
          <p:nvPr/>
        </p:nvSpPr>
        <p:spPr>
          <a:xfrm>
            <a:off x="1489688" y="5624386"/>
            <a:ext cx="2723823" cy="369332"/>
          </a:xfrm>
          <a:prstGeom prst="rect">
            <a:avLst/>
          </a:prstGeom>
          <a:noFill/>
          <a:ln w="28575">
            <a:noFill/>
          </a:ln>
        </p:spPr>
        <p:txBody>
          <a:bodyPr wrap="none" rtlCol="0">
            <a:spAutoFit/>
          </a:bodyPr>
          <a:lstStyle/>
          <a:p>
            <a:r>
              <a:rPr lang="zh-CN" altLang="en-US" b="1">
                <a:solidFill>
                  <a:srgbClr val="0033CC"/>
                </a:solidFill>
              </a:rPr>
              <a:t>有位移，有应变，有内力</a:t>
            </a:r>
          </a:p>
        </p:txBody>
      </p:sp>
      <p:sp>
        <p:nvSpPr>
          <p:cNvPr id="45" name="TextBox 44"/>
          <p:cNvSpPr txBox="1"/>
          <p:nvPr/>
        </p:nvSpPr>
        <p:spPr>
          <a:xfrm>
            <a:off x="1238798" y="6035630"/>
            <a:ext cx="3185487" cy="369332"/>
          </a:xfrm>
          <a:prstGeom prst="rect">
            <a:avLst/>
          </a:prstGeom>
          <a:noFill/>
          <a:ln w="28575">
            <a:solidFill>
              <a:srgbClr val="C00000"/>
            </a:solidFill>
          </a:ln>
        </p:spPr>
        <p:txBody>
          <a:bodyPr wrap="none" rtlCol="0">
            <a:spAutoFit/>
          </a:bodyPr>
          <a:lstStyle/>
          <a:p>
            <a:r>
              <a:rPr lang="zh-CN" altLang="en-US" b="1">
                <a:solidFill>
                  <a:srgbClr val="C00000"/>
                </a:solidFill>
              </a:rPr>
              <a:t>超静定结构，无外力无内力！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wipe(down)">
                                      <p:cBhvr>
                                        <p:cTn id="13" dur="500"/>
                                        <p:tgtEl>
                                          <p:spTgt spid="1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fill="hold"/>
                                        <p:tgtEl>
                                          <p:spTgt spid="28"/>
                                        </p:tgtEl>
                                        <p:attrNameLst>
                                          <p:attrName>ppt_x</p:attrName>
                                        </p:attrNameLst>
                                      </p:cBhvr>
                                      <p:tavLst>
                                        <p:tav tm="0">
                                          <p:val>
                                            <p:strVal val="#ppt_x"/>
                                          </p:val>
                                        </p:tav>
                                        <p:tav tm="100000">
                                          <p:val>
                                            <p:strVal val="#ppt_x"/>
                                          </p:val>
                                        </p:tav>
                                      </p:tavLst>
                                    </p:anim>
                                    <p:anim calcmode="lin" valueType="num">
                                      <p:cBhvr additive="base">
                                        <p:cTn id="1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9">
                                            <p:txEl>
                                              <p:pRg st="1" end="1"/>
                                            </p:txEl>
                                          </p:spTgt>
                                        </p:tgtEl>
                                        <p:attrNameLst>
                                          <p:attrName>style.visibility</p:attrName>
                                        </p:attrNameLst>
                                      </p:cBhvr>
                                      <p:to>
                                        <p:strVal val="visible"/>
                                      </p:to>
                                    </p:set>
                                    <p:animEffect transition="in" filter="wipe(down)">
                                      <p:cBhvr>
                                        <p:cTn id="24" dur="500"/>
                                        <p:tgtEl>
                                          <p:spTgt spid="1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9">
                                            <p:txEl>
                                              <p:pRg st="2" end="2"/>
                                            </p:txEl>
                                          </p:spTgt>
                                        </p:tgtEl>
                                        <p:attrNameLst>
                                          <p:attrName>style.visibility</p:attrName>
                                        </p:attrNameLst>
                                      </p:cBhvr>
                                      <p:to>
                                        <p:strVal val="visible"/>
                                      </p:to>
                                    </p:set>
                                    <p:animEffect transition="in" filter="wipe(down)">
                                      <p:cBhvr>
                                        <p:cTn id="29" dur="500"/>
                                        <p:tgtEl>
                                          <p:spTgt spid="1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fill="hold"/>
                                        <p:tgtEl>
                                          <p:spTgt spid="30"/>
                                        </p:tgtEl>
                                        <p:attrNameLst>
                                          <p:attrName>ppt_x</p:attrName>
                                        </p:attrNameLst>
                                      </p:cBhvr>
                                      <p:tavLst>
                                        <p:tav tm="0">
                                          <p:val>
                                            <p:strVal val="#ppt_x"/>
                                          </p:val>
                                        </p:tav>
                                        <p:tav tm="100000">
                                          <p:val>
                                            <p:strVal val="#ppt_x"/>
                                          </p:val>
                                        </p:tav>
                                      </p:tavLst>
                                    </p:anim>
                                    <p:anim calcmode="lin" valueType="num">
                                      <p:cBhvr additive="base">
                                        <p:cTn id="3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66596"/>
                                        </p:tgtEl>
                                        <p:attrNameLst>
                                          <p:attrName>style.visibility</p:attrName>
                                        </p:attrNameLst>
                                      </p:cBhvr>
                                      <p:to>
                                        <p:strVal val="visible"/>
                                      </p:to>
                                    </p:set>
                                    <p:anim calcmode="lin" valueType="num">
                                      <p:cBhvr additive="base">
                                        <p:cTn id="40" dur="500" fill="hold"/>
                                        <p:tgtEl>
                                          <p:spTgt spid="366596"/>
                                        </p:tgtEl>
                                        <p:attrNameLst>
                                          <p:attrName>ppt_x</p:attrName>
                                        </p:attrNameLst>
                                      </p:cBhvr>
                                      <p:tavLst>
                                        <p:tav tm="0">
                                          <p:val>
                                            <p:strVal val="#ppt_x"/>
                                          </p:val>
                                        </p:tav>
                                        <p:tav tm="100000">
                                          <p:val>
                                            <p:strVal val="#ppt_x"/>
                                          </p:val>
                                        </p:tav>
                                      </p:tavLst>
                                    </p:anim>
                                    <p:anim calcmode="lin" valueType="num">
                                      <p:cBhvr additive="base">
                                        <p:cTn id="41" dur="500" fill="hold"/>
                                        <p:tgtEl>
                                          <p:spTgt spid="36659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blinds(horizontal)">
                                      <p:cBhvr>
                                        <p:cTn id="46" dur="500"/>
                                        <p:tgtEl>
                                          <p:spTgt spid="3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500" fill="hold"/>
                                        <p:tgtEl>
                                          <p:spTgt spid="38"/>
                                        </p:tgtEl>
                                        <p:attrNameLst>
                                          <p:attrName>ppt_x</p:attrName>
                                        </p:attrNameLst>
                                      </p:cBhvr>
                                      <p:tavLst>
                                        <p:tav tm="0">
                                          <p:val>
                                            <p:strVal val="#ppt_x"/>
                                          </p:val>
                                        </p:tav>
                                        <p:tav tm="100000">
                                          <p:val>
                                            <p:strVal val="#ppt_x"/>
                                          </p:val>
                                        </p:tav>
                                      </p:tavLst>
                                    </p:anim>
                                    <p:anim calcmode="lin" valueType="num">
                                      <p:cBhvr additive="base">
                                        <p:cTn id="5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66598"/>
                                        </p:tgtEl>
                                        <p:attrNameLst>
                                          <p:attrName>style.visibility</p:attrName>
                                        </p:attrNameLst>
                                      </p:cBhvr>
                                      <p:to>
                                        <p:strVal val="visible"/>
                                      </p:to>
                                    </p:set>
                                    <p:anim calcmode="lin" valueType="num">
                                      <p:cBhvr additive="base">
                                        <p:cTn id="57" dur="500" fill="hold"/>
                                        <p:tgtEl>
                                          <p:spTgt spid="366598"/>
                                        </p:tgtEl>
                                        <p:attrNameLst>
                                          <p:attrName>ppt_x</p:attrName>
                                        </p:attrNameLst>
                                      </p:cBhvr>
                                      <p:tavLst>
                                        <p:tav tm="0">
                                          <p:val>
                                            <p:strVal val="#ppt_x"/>
                                          </p:val>
                                        </p:tav>
                                        <p:tav tm="100000">
                                          <p:val>
                                            <p:strVal val="#ppt_x"/>
                                          </p:val>
                                        </p:tav>
                                      </p:tavLst>
                                    </p:anim>
                                    <p:anim calcmode="lin" valueType="num">
                                      <p:cBhvr additive="base">
                                        <p:cTn id="58" dur="500" fill="hold"/>
                                        <p:tgtEl>
                                          <p:spTgt spid="366598"/>
                                        </p:tgtEl>
                                        <p:attrNameLst>
                                          <p:attrName>ppt_y</p:attrName>
                                        </p:attrNameLst>
                                      </p:cBhvr>
                                      <p:tavLst>
                                        <p:tav tm="0">
                                          <p:val>
                                            <p:strVal val="1+#ppt_h/2"/>
                                          </p:val>
                                        </p:tav>
                                        <p:tav tm="100000">
                                          <p:val>
                                            <p:strVal val="#ppt_y"/>
                                          </p:val>
                                        </p:tav>
                                      </p:tavLst>
                                    </p:anim>
                                  </p:childTnLst>
                                </p:cTn>
                              </p:par>
                            </p:childTnLst>
                          </p:cTn>
                        </p:par>
                        <p:par>
                          <p:cTn id="59" fill="hold">
                            <p:stCondLst>
                              <p:cond delay="500"/>
                            </p:stCondLst>
                            <p:childTnLst>
                              <p:par>
                                <p:cTn id="60" presetID="2" presetClass="entr" presetSubtype="4" fill="hold" nodeType="afterEffect">
                                  <p:stCondLst>
                                    <p:cond delay="0"/>
                                  </p:stCondLst>
                                  <p:childTnLst>
                                    <p:set>
                                      <p:cBhvr>
                                        <p:cTn id="61" dur="1" fill="hold">
                                          <p:stCondLst>
                                            <p:cond delay="0"/>
                                          </p:stCondLst>
                                        </p:cTn>
                                        <p:tgtEl>
                                          <p:spTgt spid="43"/>
                                        </p:tgtEl>
                                        <p:attrNameLst>
                                          <p:attrName>style.visibility</p:attrName>
                                        </p:attrNameLst>
                                      </p:cBhvr>
                                      <p:to>
                                        <p:strVal val="visible"/>
                                      </p:to>
                                    </p:set>
                                    <p:anim calcmode="lin" valueType="num">
                                      <p:cBhvr additive="base">
                                        <p:cTn id="62" dur="500" fill="hold"/>
                                        <p:tgtEl>
                                          <p:spTgt spid="43"/>
                                        </p:tgtEl>
                                        <p:attrNameLst>
                                          <p:attrName>ppt_x</p:attrName>
                                        </p:attrNameLst>
                                      </p:cBhvr>
                                      <p:tavLst>
                                        <p:tav tm="0">
                                          <p:val>
                                            <p:strVal val="#ppt_x"/>
                                          </p:val>
                                        </p:tav>
                                        <p:tav tm="100000">
                                          <p:val>
                                            <p:strVal val="#ppt_x"/>
                                          </p:val>
                                        </p:tav>
                                      </p:tavLst>
                                    </p:anim>
                                    <p:anim calcmode="lin" valueType="num">
                                      <p:cBhvr additive="base">
                                        <p:cTn id="63"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blinds(horizontal)">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uiExpand="1" build="p"/>
      <p:bldP spid="38" grpId="0" animBg="1"/>
      <p:bldP spid="44" grpId="0"/>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结构位移计算概述</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797782"/>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位移：结构上的某一截面在荷载或其它因素作用下由某一位置移动到另一位置，这个移动的量就称为该截面的位移；</a:t>
            </a:r>
            <a:endParaRPr lang="en-US" altLang="zh-CN" sz="2000" b="1"/>
          </a:p>
        </p:txBody>
      </p:sp>
      <p:sp>
        <p:nvSpPr>
          <p:cNvPr id="17" name="Rectangle 6"/>
          <p:cNvSpPr>
            <a:spLocks noChangeArrowheads="1"/>
          </p:cNvSpPr>
          <p:nvPr/>
        </p:nvSpPr>
        <p:spPr bwMode="auto">
          <a:xfrm>
            <a:off x="469540" y="2571744"/>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位移分类：线位移、角位移</a:t>
            </a:r>
            <a:endParaRPr lang="en-US" altLang="zh-CN" sz="2000" b="1"/>
          </a:p>
        </p:txBody>
      </p:sp>
      <p:sp>
        <p:nvSpPr>
          <p:cNvPr id="13" name="Rectangle 6"/>
          <p:cNvSpPr>
            <a:spLocks noChangeArrowheads="1"/>
          </p:cNvSpPr>
          <p:nvPr/>
        </p:nvSpPr>
        <p:spPr bwMode="auto">
          <a:xfrm>
            <a:off x="469540" y="2967335"/>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位移计算的目的</a:t>
            </a:r>
            <a:endParaRPr lang="en-US" altLang="zh-CN" sz="2000" b="1"/>
          </a:p>
        </p:txBody>
      </p:sp>
      <p:sp>
        <p:nvSpPr>
          <p:cNvPr id="18" name="Rectangle 6"/>
          <p:cNvSpPr>
            <a:spLocks noChangeArrowheads="1"/>
          </p:cNvSpPr>
          <p:nvPr/>
        </p:nvSpPr>
        <p:spPr bwMode="auto">
          <a:xfrm>
            <a:off x="469540" y="3384858"/>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产生位移的原因</a:t>
            </a:r>
            <a:endParaRPr lang="en-US" altLang="zh-CN" sz="2000" b="1"/>
          </a:p>
        </p:txBody>
      </p:sp>
      <p:sp>
        <p:nvSpPr>
          <p:cNvPr id="36" name="Rectangle 6"/>
          <p:cNvSpPr>
            <a:spLocks noChangeArrowheads="1"/>
          </p:cNvSpPr>
          <p:nvPr/>
        </p:nvSpPr>
        <p:spPr bwMode="auto">
          <a:xfrm>
            <a:off x="469540" y="3786190"/>
            <a:ext cx="796011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位移的计算方法</a:t>
            </a:r>
            <a:endParaRPr lang="en-US" altLang="zh-CN" sz="2000" b="1"/>
          </a:p>
        </p:txBody>
      </p:sp>
      <p:sp>
        <p:nvSpPr>
          <p:cNvPr id="37" name="TextBox 36"/>
          <p:cNvSpPr txBox="1"/>
          <p:nvPr/>
        </p:nvSpPr>
        <p:spPr>
          <a:xfrm>
            <a:off x="1214414" y="4214818"/>
            <a:ext cx="7358114" cy="2123658"/>
          </a:xfrm>
          <a:prstGeom prst="rect">
            <a:avLst/>
          </a:prstGeom>
          <a:noFill/>
          <a:ln w="28575">
            <a:noFill/>
          </a:ln>
        </p:spPr>
        <p:txBody>
          <a:bodyPr wrap="square" rtlCol="0">
            <a:spAutoFit/>
          </a:bodyPr>
          <a:lstStyle/>
          <a:p>
            <a:pPr marL="355600" indent="-355600">
              <a:lnSpc>
                <a:spcPct val="120000"/>
              </a:lnSpc>
            </a:pPr>
            <a:r>
              <a:rPr lang="zh-CN" altLang="en-US" sz="2000" b="1"/>
              <a:t>⑴  几何方法： 利用变形和位移的几何关系，用求微分方程的方法求截面位移；</a:t>
            </a:r>
            <a:endParaRPr lang="en-US" altLang="zh-CN" sz="2000" b="1"/>
          </a:p>
          <a:p>
            <a:pPr marL="355600" indent="-355600">
              <a:lnSpc>
                <a:spcPct val="120000"/>
              </a:lnSpc>
            </a:pPr>
            <a:r>
              <a:rPr lang="zh-CN" altLang="en-US" b="1">
                <a:solidFill>
                  <a:srgbClr val="0033CC"/>
                </a:solidFill>
              </a:rPr>
              <a:t>      材料力学中适用，但杆系问题中不适用；</a:t>
            </a:r>
            <a:endParaRPr lang="en-US" altLang="zh-CN" b="1">
              <a:solidFill>
                <a:srgbClr val="0033CC"/>
              </a:solidFill>
            </a:endParaRPr>
          </a:p>
          <a:p>
            <a:pPr marL="355600" indent="-355600">
              <a:lnSpc>
                <a:spcPct val="120000"/>
              </a:lnSpc>
            </a:pPr>
            <a:endParaRPr lang="en-US" altLang="zh-CN" sz="1200" b="1">
              <a:solidFill>
                <a:srgbClr val="0033CC"/>
              </a:solidFill>
            </a:endParaRPr>
          </a:p>
          <a:p>
            <a:pPr marL="355600" indent="-355600">
              <a:lnSpc>
                <a:spcPct val="120000"/>
              </a:lnSpc>
            </a:pPr>
            <a:r>
              <a:rPr lang="zh-CN" altLang="en-US" sz="2000" b="1"/>
              <a:t>⑵  功能法：</a:t>
            </a:r>
            <a:endParaRPr lang="en-US" altLang="zh-CN" sz="2000" b="1"/>
          </a:p>
          <a:p>
            <a:pPr marL="355600" indent="-355600">
              <a:lnSpc>
                <a:spcPct val="120000"/>
              </a:lnSpc>
            </a:pPr>
            <a:endParaRPr lang="zh-CN" altLang="en-US" sz="2000" b="1"/>
          </a:p>
        </p:txBody>
      </p:sp>
      <p:grpSp>
        <p:nvGrpSpPr>
          <p:cNvPr id="47" name="组合 46"/>
          <p:cNvGrpSpPr/>
          <p:nvPr/>
        </p:nvGrpSpPr>
        <p:grpSpPr>
          <a:xfrm>
            <a:off x="2714612" y="5286388"/>
            <a:ext cx="2635866" cy="971614"/>
            <a:chOff x="2714612" y="5286388"/>
            <a:chExt cx="2635866" cy="971614"/>
          </a:xfrm>
        </p:grpSpPr>
        <p:sp>
          <p:nvSpPr>
            <p:cNvPr id="40" name="左大括号 39"/>
            <p:cNvSpPr/>
            <p:nvPr/>
          </p:nvSpPr>
          <p:spPr bwMode="auto">
            <a:xfrm>
              <a:off x="2714612" y="5417072"/>
              <a:ext cx="71438" cy="655134"/>
            </a:xfrm>
            <a:prstGeom prst="leftBrac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43" name="TextBox 42"/>
            <p:cNvSpPr txBox="1"/>
            <p:nvPr/>
          </p:nvSpPr>
          <p:spPr>
            <a:xfrm>
              <a:off x="2857488" y="5286388"/>
              <a:ext cx="1210588" cy="400110"/>
            </a:xfrm>
            <a:prstGeom prst="rect">
              <a:avLst/>
            </a:prstGeom>
            <a:noFill/>
            <a:ln w="28575">
              <a:noFill/>
            </a:ln>
          </p:spPr>
          <p:txBody>
            <a:bodyPr wrap="none" rtlCol="0">
              <a:spAutoFit/>
            </a:bodyPr>
            <a:lstStyle/>
            <a:p>
              <a:r>
                <a:rPr lang="zh-CN" altLang="en-US" sz="2000" b="1">
                  <a:solidFill>
                    <a:srgbClr val="C00000"/>
                  </a:solidFill>
                </a:rPr>
                <a:t>虚功原理</a:t>
              </a:r>
            </a:p>
          </p:txBody>
        </p:sp>
        <p:sp>
          <p:nvSpPr>
            <p:cNvPr id="46" name="TextBox 45"/>
            <p:cNvSpPr txBox="1"/>
            <p:nvPr/>
          </p:nvSpPr>
          <p:spPr>
            <a:xfrm>
              <a:off x="2857488" y="5857892"/>
              <a:ext cx="2492990" cy="400110"/>
            </a:xfrm>
            <a:prstGeom prst="rect">
              <a:avLst/>
            </a:prstGeom>
            <a:noFill/>
            <a:ln w="28575">
              <a:noFill/>
            </a:ln>
          </p:spPr>
          <p:txBody>
            <a:bodyPr wrap="none" rtlCol="0">
              <a:spAutoFit/>
            </a:bodyPr>
            <a:lstStyle/>
            <a:p>
              <a:r>
                <a:rPr lang="zh-CN" altLang="en-US" sz="2000" b="1">
                  <a:solidFill>
                    <a:schemeClr val="bg1">
                      <a:lumMod val="50000"/>
                    </a:schemeClr>
                  </a:solidFill>
                </a:rPr>
                <a:t>应变能（卡式定理）</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7">
                                            <p:txEl>
                                              <p:pRg st="0" end="0"/>
                                            </p:txEl>
                                          </p:spTgt>
                                        </p:tgtEl>
                                        <p:attrNameLst>
                                          <p:attrName>style.visibility</p:attrName>
                                        </p:attrNameLst>
                                      </p:cBhvr>
                                      <p:to>
                                        <p:strVal val="visible"/>
                                      </p:to>
                                    </p:set>
                                    <p:animEffect transition="in" filter="wipe(down)">
                                      <p:cBhvr>
                                        <p:cTn id="13" dur="500"/>
                                        <p:tgtEl>
                                          <p:spTgt spid="3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7">
                                            <p:txEl>
                                              <p:pRg st="3" end="3"/>
                                            </p:txEl>
                                          </p:spTgt>
                                        </p:tgtEl>
                                        <p:attrNameLst>
                                          <p:attrName>style.visibility</p:attrName>
                                        </p:attrNameLst>
                                      </p:cBhvr>
                                      <p:to>
                                        <p:strVal val="visible"/>
                                      </p:to>
                                    </p:set>
                                    <p:animEffect transition="in" filter="wipe(down)">
                                      <p:cBhvr>
                                        <p:cTn id="18" dur="500"/>
                                        <p:tgtEl>
                                          <p:spTgt spid="3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 calcmode="lin" valueType="num">
                                      <p:cBhvr additive="base">
                                        <p:cTn id="23" dur="500" fill="hold"/>
                                        <p:tgtEl>
                                          <p:spTgt spid="47"/>
                                        </p:tgtEl>
                                        <p:attrNameLst>
                                          <p:attrName>ppt_x</p:attrName>
                                        </p:attrNameLst>
                                      </p:cBhvr>
                                      <p:tavLst>
                                        <p:tav tm="0">
                                          <p:val>
                                            <p:strVal val="#ppt_x"/>
                                          </p:val>
                                        </p:tav>
                                        <p:tav tm="100000">
                                          <p:val>
                                            <p:strVal val="#ppt_x"/>
                                          </p:val>
                                        </p:tav>
                                      </p:tavLst>
                                    </p:anim>
                                    <p:anim calcmode="lin" valueType="num">
                                      <p:cBhvr additive="base">
                                        <p:cTn id="2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回顾：刚体体系的虚功原理</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基本概念</a:t>
            </a:r>
            <a:endParaRPr lang="en-US" altLang="zh-CN" sz="2000" b="1"/>
          </a:p>
        </p:txBody>
      </p:sp>
      <p:sp>
        <p:nvSpPr>
          <p:cNvPr id="56" name="矩形 55"/>
          <p:cNvSpPr/>
          <p:nvPr/>
        </p:nvSpPr>
        <p:spPr>
          <a:xfrm>
            <a:off x="688222" y="3000372"/>
            <a:ext cx="5643602" cy="830997"/>
          </a:xfrm>
          <a:prstGeom prst="rect">
            <a:avLst/>
          </a:prstGeom>
        </p:spPr>
        <p:txBody>
          <a:bodyPr wrap="square">
            <a:spAutoFit/>
          </a:bodyPr>
          <a:lstStyle/>
          <a:p>
            <a:pPr marL="1787525" lvl="1" indent="-1330325" fontAlgn="base">
              <a:lnSpc>
                <a:spcPct val="120000"/>
              </a:lnSpc>
              <a:spcBef>
                <a:spcPct val="20000"/>
              </a:spcBef>
              <a:spcAft>
                <a:spcPct val="0"/>
              </a:spcAft>
            </a:pPr>
            <a:r>
              <a:rPr lang="zh-CN" altLang="en-US" sz="2000" b="1"/>
              <a:t>可能位移：符合约束条件的无限小刚体体系位移</a:t>
            </a:r>
            <a:r>
              <a:rPr lang="zh-CN" altLang="en-US" sz="2000" b="1">
                <a:solidFill>
                  <a:srgbClr val="0033CC"/>
                </a:solidFill>
              </a:rPr>
              <a:t>（可以是真实位移或其它）</a:t>
            </a:r>
            <a:r>
              <a:rPr lang="en-US" altLang="zh-CN" sz="2000" b="1"/>
              <a:t> </a:t>
            </a:r>
          </a:p>
        </p:txBody>
      </p:sp>
      <p:sp>
        <p:nvSpPr>
          <p:cNvPr id="89" name="矩形 88"/>
          <p:cNvSpPr/>
          <p:nvPr/>
        </p:nvSpPr>
        <p:spPr>
          <a:xfrm>
            <a:off x="714348" y="2214554"/>
            <a:ext cx="5643602" cy="1200329"/>
          </a:xfrm>
          <a:prstGeom prst="rect">
            <a:avLst/>
          </a:prstGeom>
        </p:spPr>
        <p:txBody>
          <a:bodyPr wrap="square">
            <a:spAutoFit/>
          </a:bodyPr>
          <a:lstStyle/>
          <a:p>
            <a:pPr marL="1787525" lvl="1" indent="-1330325" fontAlgn="base">
              <a:lnSpc>
                <a:spcPct val="120000"/>
              </a:lnSpc>
              <a:spcBef>
                <a:spcPct val="20000"/>
              </a:spcBef>
              <a:spcAft>
                <a:spcPct val="0"/>
              </a:spcAft>
            </a:pPr>
            <a:r>
              <a:rPr lang="zh-CN" altLang="en-US" sz="2000" b="1"/>
              <a:t>平衡力系：使刚体保持力学平 衡状态的力系；</a:t>
            </a:r>
            <a:r>
              <a:rPr lang="zh-CN" altLang="en-US" sz="2000" b="1">
                <a:solidFill>
                  <a:srgbClr val="0033CC"/>
                </a:solidFill>
              </a:rPr>
              <a:t>（包括主动力和约束反力）</a:t>
            </a:r>
            <a:r>
              <a:rPr lang="en-US" altLang="zh-CN" sz="2000" b="1"/>
              <a:t> </a:t>
            </a:r>
          </a:p>
          <a:p>
            <a:pPr marL="742950" lvl="1" indent="-285750" fontAlgn="base">
              <a:lnSpc>
                <a:spcPct val="120000"/>
              </a:lnSpc>
              <a:spcAft>
                <a:spcPct val="0"/>
              </a:spcAft>
            </a:pPr>
            <a:r>
              <a:rPr lang="zh-CN" altLang="en-US" sz="2000" b="1">
                <a:solidFill>
                  <a:srgbClr val="0033CC"/>
                </a:solidFill>
              </a:rPr>
              <a:t>                   </a:t>
            </a:r>
            <a:endParaRPr lang="en-US" altLang="zh-CN" sz="2000" b="1"/>
          </a:p>
        </p:txBody>
      </p:sp>
      <p:sp>
        <p:nvSpPr>
          <p:cNvPr id="209" name="矩形 208"/>
          <p:cNvSpPr/>
          <p:nvPr/>
        </p:nvSpPr>
        <p:spPr>
          <a:xfrm>
            <a:off x="688222" y="3812449"/>
            <a:ext cx="5643602" cy="830997"/>
          </a:xfrm>
          <a:prstGeom prst="rect">
            <a:avLst/>
          </a:prstGeom>
        </p:spPr>
        <p:txBody>
          <a:bodyPr wrap="square">
            <a:spAutoFit/>
          </a:bodyPr>
          <a:lstStyle/>
          <a:p>
            <a:pPr marL="1787525" lvl="1" indent="-1330325" fontAlgn="base">
              <a:lnSpc>
                <a:spcPct val="120000"/>
              </a:lnSpc>
              <a:spcBef>
                <a:spcPct val="20000"/>
              </a:spcBef>
              <a:spcAft>
                <a:spcPct val="0"/>
              </a:spcAft>
            </a:pPr>
            <a:r>
              <a:rPr lang="zh-CN" altLang="en-US" sz="2000" b="1"/>
              <a:t>理想约束：约束力在可能位移上做功恒为零的约束</a:t>
            </a:r>
            <a:r>
              <a:rPr lang="zh-CN" altLang="en-US" sz="2000" b="1">
                <a:solidFill>
                  <a:srgbClr val="0033CC"/>
                </a:solidFill>
              </a:rPr>
              <a:t>（光滑铰接、刚性链接）</a:t>
            </a:r>
            <a:r>
              <a:rPr lang="en-US" altLang="zh-CN" sz="2000" b="1"/>
              <a:t> </a:t>
            </a:r>
          </a:p>
        </p:txBody>
      </p:sp>
      <p:sp>
        <p:nvSpPr>
          <p:cNvPr id="76" name="矩形 75"/>
          <p:cNvSpPr/>
          <p:nvPr/>
        </p:nvSpPr>
        <p:spPr>
          <a:xfrm>
            <a:off x="785786" y="4871877"/>
            <a:ext cx="5357850" cy="1274195"/>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400" b="1">
                <a:solidFill>
                  <a:srgbClr val="C00000"/>
                </a:solidFill>
              </a:rPr>
              <a:t>刚体虚功原理</a:t>
            </a:r>
            <a:endParaRPr lang="en-US" altLang="zh-CN" sz="2400" b="1">
              <a:solidFill>
                <a:srgbClr val="C00000"/>
              </a:solidFill>
            </a:endParaRPr>
          </a:p>
          <a:p>
            <a:pPr marL="0" lvl="1" fontAlgn="base">
              <a:lnSpc>
                <a:spcPct val="120000"/>
              </a:lnSpc>
              <a:spcAft>
                <a:spcPct val="0"/>
              </a:spcAft>
            </a:pPr>
            <a:r>
              <a:rPr lang="zh-CN" altLang="en-US" sz="2000" b="1"/>
              <a:t>对于具有理想约束的刚体体系，平衡力系中的主动力在可能位移上所作的虚功总和恒为零。</a:t>
            </a:r>
            <a:endParaRPr lang="en-US" altLang="zh-CN" sz="2000" b="1"/>
          </a:p>
        </p:txBody>
      </p:sp>
      <p:grpSp>
        <p:nvGrpSpPr>
          <p:cNvPr id="65" name="组合 64"/>
          <p:cNvGrpSpPr/>
          <p:nvPr/>
        </p:nvGrpSpPr>
        <p:grpSpPr>
          <a:xfrm>
            <a:off x="6643702" y="1824313"/>
            <a:ext cx="2308152" cy="2747695"/>
            <a:chOff x="6643702" y="1824313"/>
            <a:chExt cx="2308152" cy="2747695"/>
          </a:xfrm>
        </p:grpSpPr>
        <p:grpSp>
          <p:nvGrpSpPr>
            <p:cNvPr id="4" name="组合 133"/>
            <p:cNvGrpSpPr/>
            <p:nvPr/>
          </p:nvGrpSpPr>
          <p:grpSpPr>
            <a:xfrm>
              <a:off x="6643702" y="2611229"/>
              <a:ext cx="1726773" cy="1960779"/>
              <a:chOff x="6748191" y="2065555"/>
              <a:chExt cx="1726773" cy="1960779"/>
            </a:xfrm>
          </p:grpSpPr>
          <p:grpSp>
            <p:nvGrpSpPr>
              <p:cNvPr id="5" name="组合 106"/>
              <p:cNvGrpSpPr/>
              <p:nvPr/>
            </p:nvGrpSpPr>
            <p:grpSpPr>
              <a:xfrm>
                <a:off x="7572396" y="3725769"/>
                <a:ext cx="361401" cy="300565"/>
                <a:chOff x="7643834" y="4067869"/>
                <a:chExt cx="361401" cy="300565"/>
              </a:xfrm>
            </p:grpSpPr>
            <p:cxnSp>
              <p:nvCxnSpPr>
                <p:cNvPr id="90" name="直接连接符 89"/>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6" name="组合 269"/>
                <p:cNvGrpSpPr/>
                <p:nvPr/>
              </p:nvGrpSpPr>
              <p:grpSpPr>
                <a:xfrm>
                  <a:off x="7643834" y="4214818"/>
                  <a:ext cx="361401" cy="153616"/>
                  <a:chOff x="1643042" y="5844831"/>
                  <a:chExt cx="361401" cy="153616"/>
                </a:xfrm>
              </p:grpSpPr>
              <p:grpSp>
                <p:nvGrpSpPr>
                  <p:cNvPr id="7" name="组合 140"/>
                  <p:cNvGrpSpPr/>
                  <p:nvPr/>
                </p:nvGrpSpPr>
                <p:grpSpPr>
                  <a:xfrm>
                    <a:off x="1643042" y="5905252"/>
                    <a:ext cx="361401" cy="93195"/>
                    <a:chOff x="4732013" y="5229182"/>
                    <a:chExt cx="361401" cy="93195"/>
                  </a:xfrm>
                </p:grpSpPr>
                <p:cxnSp>
                  <p:nvCxnSpPr>
                    <p:cNvPr id="94" name="直接连接符 93"/>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95" name="直接连接符 94"/>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连接符 95"/>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7" name="直接连接符 96"/>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8" name="直接连接符 97"/>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93" name="椭圆 92"/>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8" name="组合 107"/>
              <p:cNvGrpSpPr/>
              <p:nvPr/>
            </p:nvGrpSpPr>
            <p:grpSpPr>
              <a:xfrm>
                <a:off x="6892192" y="2956304"/>
                <a:ext cx="361401" cy="300565"/>
                <a:chOff x="7643834" y="4067869"/>
                <a:chExt cx="361401" cy="300565"/>
              </a:xfrm>
            </p:grpSpPr>
            <p:cxnSp>
              <p:nvCxnSpPr>
                <p:cNvPr id="109" name="直接连接符 108"/>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9" name="组合 269"/>
                <p:cNvGrpSpPr/>
                <p:nvPr/>
              </p:nvGrpSpPr>
              <p:grpSpPr>
                <a:xfrm>
                  <a:off x="7643834" y="4214818"/>
                  <a:ext cx="361401" cy="153616"/>
                  <a:chOff x="1643042" y="5844831"/>
                  <a:chExt cx="361401" cy="153616"/>
                </a:xfrm>
              </p:grpSpPr>
              <p:grpSp>
                <p:nvGrpSpPr>
                  <p:cNvPr id="10" name="组合 140"/>
                  <p:cNvGrpSpPr/>
                  <p:nvPr/>
                </p:nvGrpSpPr>
                <p:grpSpPr>
                  <a:xfrm>
                    <a:off x="1643042" y="5905252"/>
                    <a:ext cx="361401" cy="93195"/>
                    <a:chOff x="4732013" y="5229182"/>
                    <a:chExt cx="361401" cy="93195"/>
                  </a:xfrm>
                </p:grpSpPr>
                <p:cxnSp>
                  <p:nvCxnSpPr>
                    <p:cNvPr id="114" name="直接连接符 113"/>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15" name="直接连接符 114"/>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6" name="直接连接符 115"/>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7" name="直接连接符 116"/>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8" name="直接连接符 117"/>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13" name="椭圆 112"/>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1" name="组合 118"/>
              <p:cNvGrpSpPr/>
              <p:nvPr/>
            </p:nvGrpSpPr>
            <p:grpSpPr>
              <a:xfrm rot="5400000">
                <a:off x="6717773" y="2740827"/>
                <a:ext cx="361401" cy="300565"/>
                <a:chOff x="7643834" y="4067869"/>
                <a:chExt cx="361401" cy="300565"/>
              </a:xfrm>
            </p:grpSpPr>
            <p:cxnSp>
              <p:nvCxnSpPr>
                <p:cNvPr id="120" name="直接连接符 119"/>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2" name="组合 269"/>
                <p:cNvGrpSpPr/>
                <p:nvPr/>
              </p:nvGrpSpPr>
              <p:grpSpPr>
                <a:xfrm>
                  <a:off x="7643834" y="4214818"/>
                  <a:ext cx="361401" cy="153616"/>
                  <a:chOff x="1643042" y="5844831"/>
                  <a:chExt cx="361401" cy="153616"/>
                </a:xfrm>
              </p:grpSpPr>
              <p:grpSp>
                <p:nvGrpSpPr>
                  <p:cNvPr id="13" name="组合 140"/>
                  <p:cNvGrpSpPr/>
                  <p:nvPr/>
                </p:nvGrpSpPr>
                <p:grpSpPr>
                  <a:xfrm>
                    <a:off x="1643042" y="5905252"/>
                    <a:ext cx="361401" cy="93195"/>
                    <a:chOff x="4732013" y="5229182"/>
                    <a:chExt cx="361401" cy="93195"/>
                  </a:xfrm>
                </p:grpSpPr>
                <p:cxnSp>
                  <p:nvCxnSpPr>
                    <p:cNvPr id="124" name="直接连接符 123"/>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25" name="直接连接符 124"/>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7" name="直接连接符 126"/>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3" name="直接连接符 132"/>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23" name="椭圆 122"/>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4" name="组合 81"/>
              <p:cNvGrpSpPr/>
              <p:nvPr/>
            </p:nvGrpSpPr>
            <p:grpSpPr>
              <a:xfrm>
                <a:off x="7043755" y="2065555"/>
                <a:ext cx="1431209" cy="1664709"/>
                <a:chOff x="7043755" y="2065555"/>
                <a:chExt cx="1431209" cy="1664709"/>
              </a:xfrm>
            </p:grpSpPr>
            <p:sp>
              <p:nvSpPr>
                <p:cNvPr id="77" name="菱形 76"/>
                <p:cNvSpPr/>
                <p:nvPr/>
              </p:nvSpPr>
              <p:spPr bwMode="auto">
                <a:xfrm>
                  <a:off x="7072330" y="2071678"/>
                  <a:ext cx="1357322" cy="1643074"/>
                </a:xfrm>
                <a:prstGeom prst="diamond">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78" name="椭圆 77"/>
                <p:cNvSpPr>
                  <a:spLocks noChangeAspect="1"/>
                </p:cNvSpPr>
                <p:nvPr/>
              </p:nvSpPr>
              <p:spPr bwMode="auto">
                <a:xfrm>
                  <a:off x="7702209" y="2065555"/>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79" name="椭圆 78"/>
                <p:cNvSpPr>
                  <a:spLocks noChangeAspect="1"/>
                </p:cNvSpPr>
                <p:nvPr/>
              </p:nvSpPr>
              <p:spPr bwMode="auto">
                <a:xfrm>
                  <a:off x="7699760" y="363025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80" name="椭圆 79"/>
                <p:cNvSpPr>
                  <a:spLocks noChangeAspect="1"/>
                </p:cNvSpPr>
                <p:nvPr/>
              </p:nvSpPr>
              <p:spPr bwMode="auto">
                <a:xfrm>
                  <a:off x="7043755"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81" name="椭圆 80"/>
                <p:cNvSpPr>
                  <a:spLocks noChangeAspect="1"/>
                </p:cNvSpPr>
                <p:nvPr/>
              </p:nvSpPr>
              <p:spPr bwMode="auto">
                <a:xfrm>
                  <a:off x="8374951"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5" name="组合 154"/>
            <p:cNvGrpSpPr/>
            <p:nvPr/>
          </p:nvGrpSpPr>
          <p:grpSpPr>
            <a:xfrm>
              <a:off x="7022322" y="2500306"/>
              <a:ext cx="979307" cy="1699702"/>
              <a:chOff x="7022322" y="2214554"/>
              <a:chExt cx="979307" cy="1699702"/>
            </a:xfrm>
          </p:grpSpPr>
          <p:cxnSp>
            <p:nvCxnSpPr>
              <p:cNvPr id="148" name="直接连接符 147"/>
              <p:cNvCxnSpPr/>
              <p:nvPr/>
            </p:nvCxnSpPr>
            <p:spPr bwMode="auto">
              <a:xfrm rot="5400000" flipH="1" flipV="1">
                <a:off x="6733261" y="2503616"/>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52" name="直接连接符 151"/>
              <p:cNvCxnSpPr/>
              <p:nvPr/>
            </p:nvCxnSpPr>
            <p:spPr bwMode="auto">
              <a:xfrm rot="5400000" flipH="1" flipV="1">
                <a:off x="7376807" y="3289433"/>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53" name="直接连接符 152"/>
              <p:cNvCxnSpPr/>
              <p:nvPr/>
            </p:nvCxnSpPr>
            <p:spPr bwMode="auto">
              <a:xfrm rot="16200000" flipV="1">
                <a:off x="7286644" y="2285992"/>
                <a:ext cx="785818" cy="642942"/>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grpSp>
          <p:nvGrpSpPr>
            <p:cNvPr id="16" name="组合 166"/>
            <p:cNvGrpSpPr/>
            <p:nvPr/>
          </p:nvGrpSpPr>
          <p:grpSpPr>
            <a:xfrm>
              <a:off x="7643834" y="1824313"/>
              <a:ext cx="1308020" cy="1676125"/>
              <a:chOff x="7643834" y="1824313"/>
              <a:chExt cx="1308020" cy="1676125"/>
            </a:xfrm>
          </p:grpSpPr>
          <p:grpSp>
            <p:nvGrpSpPr>
              <p:cNvPr id="17" name="组合 160"/>
              <p:cNvGrpSpPr/>
              <p:nvPr/>
            </p:nvGrpSpPr>
            <p:grpSpPr>
              <a:xfrm>
                <a:off x="7643834" y="1824313"/>
                <a:ext cx="1143008" cy="1645760"/>
                <a:chOff x="7643834" y="1538561"/>
                <a:chExt cx="1143008" cy="1645760"/>
              </a:xfrm>
            </p:grpSpPr>
            <p:grpSp>
              <p:nvGrpSpPr>
                <p:cNvPr id="18" name="组合 137"/>
                <p:cNvGrpSpPr/>
                <p:nvPr/>
              </p:nvGrpSpPr>
              <p:grpSpPr>
                <a:xfrm>
                  <a:off x="7643834" y="1682535"/>
                  <a:ext cx="1143008" cy="1501786"/>
                  <a:chOff x="7643834" y="1285860"/>
                  <a:chExt cx="1143008" cy="1501786"/>
                </a:xfrm>
              </p:grpSpPr>
              <p:cxnSp>
                <p:nvCxnSpPr>
                  <p:cNvPr id="83" name="直接箭头连接符 82"/>
                  <p:cNvCxnSpPr/>
                  <p:nvPr/>
                </p:nvCxnSpPr>
                <p:spPr bwMode="auto">
                  <a:xfrm rot="10800000">
                    <a:off x="8358214" y="2786058"/>
                    <a:ext cx="428628"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36" name="直接箭头连接符 135"/>
                  <p:cNvCxnSpPr/>
                  <p:nvPr/>
                </p:nvCxnSpPr>
                <p:spPr bwMode="auto">
                  <a:xfrm rot="5400000">
                    <a:off x="7323157" y="1606537"/>
                    <a:ext cx="64294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59" name="TextBox 158"/>
                <p:cNvSpPr txBox="1"/>
                <p:nvPr/>
              </p:nvSpPr>
              <p:spPr>
                <a:xfrm>
                  <a:off x="7643834" y="1538561"/>
                  <a:ext cx="450764"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1</a:t>
                  </a:r>
                  <a:endParaRPr lang="zh-CN" altLang="en-US" sz="2000" b="1" baseline="-25000">
                    <a:solidFill>
                      <a:srgbClr val="C00000"/>
                    </a:solidFill>
                  </a:endParaRPr>
                </a:p>
              </p:txBody>
            </p:sp>
          </p:grpSp>
          <p:sp>
            <p:nvSpPr>
              <p:cNvPr id="160" name="TextBox 159"/>
              <p:cNvSpPr txBox="1"/>
              <p:nvPr/>
            </p:nvSpPr>
            <p:spPr>
              <a:xfrm>
                <a:off x="8501090" y="3100328"/>
                <a:ext cx="450764"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2</a:t>
                </a:r>
                <a:endParaRPr lang="zh-CN" altLang="en-US" sz="2000" b="1" baseline="-25000">
                  <a:solidFill>
                    <a:srgbClr val="C00000"/>
                  </a:solidFill>
                </a:endParaRPr>
              </a:p>
            </p:txBody>
          </p:sp>
        </p:grpSp>
        <p:grpSp>
          <p:nvGrpSpPr>
            <p:cNvPr id="19" name="组合 163"/>
            <p:cNvGrpSpPr/>
            <p:nvPr/>
          </p:nvGrpSpPr>
          <p:grpSpPr>
            <a:xfrm>
              <a:off x="7274822" y="2082695"/>
              <a:ext cx="1026864" cy="1603539"/>
              <a:chOff x="7274822" y="1796943"/>
              <a:chExt cx="1026864" cy="1603539"/>
            </a:xfrm>
          </p:grpSpPr>
          <p:cxnSp>
            <p:nvCxnSpPr>
              <p:cNvPr id="157" name="直接箭头连接符 156"/>
              <p:cNvCxnSpPr/>
              <p:nvPr/>
            </p:nvCxnSpPr>
            <p:spPr bwMode="auto">
              <a:xfrm rot="16200000" flipV="1">
                <a:off x="7414393" y="2136211"/>
                <a:ext cx="110923" cy="289645"/>
              </a:xfrm>
              <a:prstGeom prst="straightConnector1">
                <a:avLst/>
              </a:prstGeom>
              <a:solidFill>
                <a:schemeClr val="accent1"/>
              </a:solidFill>
              <a:ln w="38100" cap="flat" cmpd="sng" algn="ctr">
                <a:solidFill>
                  <a:srgbClr val="0033CC"/>
                </a:solidFill>
                <a:prstDash val="solid"/>
                <a:round/>
                <a:headEnd type="none" w="med" len="med"/>
                <a:tailEnd type="arrow"/>
              </a:ln>
              <a:effectLst/>
            </p:spPr>
          </p:cxnSp>
          <p:cxnSp>
            <p:nvCxnSpPr>
              <p:cNvPr id="158" name="直接箭头连接符 157"/>
              <p:cNvCxnSpPr/>
              <p:nvPr/>
            </p:nvCxnSpPr>
            <p:spPr bwMode="auto">
              <a:xfrm rot="16200000" flipV="1">
                <a:off x="8101402" y="2944062"/>
                <a:ext cx="110923" cy="289645"/>
              </a:xfrm>
              <a:prstGeom prst="straightConnector1">
                <a:avLst/>
              </a:prstGeom>
              <a:solidFill>
                <a:schemeClr val="accent1"/>
              </a:solidFill>
              <a:ln w="38100" cap="flat" cmpd="sng" algn="ctr">
                <a:solidFill>
                  <a:srgbClr val="0033CC"/>
                </a:solidFill>
                <a:prstDash val="solid"/>
                <a:round/>
                <a:headEnd type="none" w="med" len="med"/>
                <a:tailEnd type="arrow"/>
              </a:ln>
              <a:effectLst/>
            </p:spPr>
          </p:cxnSp>
          <p:sp>
            <p:nvSpPr>
              <p:cNvPr id="162" name="TextBox 161"/>
              <p:cNvSpPr txBox="1"/>
              <p:nvPr/>
            </p:nvSpPr>
            <p:spPr>
              <a:xfrm>
                <a:off x="7274822" y="1796943"/>
                <a:ext cx="369012"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1</a:t>
                </a:r>
              </a:p>
            </p:txBody>
          </p:sp>
          <p:sp>
            <p:nvSpPr>
              <p:cNvPr id="163" name="TextBox 162"/>
              <p:cNvSpPr txBox="1"/>
              <p:nvPr/>
            </p:nvSpPr>
            <p:spPr>
              <a:xfrm>
                <a:off x="7884713" y="3000372"/>
                <a:ext cx="369012"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2</a:t>
                </a:r>
              </a:p>
            </p:txBody>
          </p:sp>
        </p:grpSp>
      </p:grpSp>
      <p:sp>
        <p:nvSpPr>
          <p:cNvPr id="165" name="TextBox 164"/>
          <p:cNvSpPr txBox="1"/>
          <p:nvPr/>
        </p:nvSpPr>
        <p:spPr>
          <a:xfrm>
            <a:off x="6715140" y="4857760"/>
            <a:ext cx="1805302"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1</a:t>
            </a:r>
            <a:r>
              <a:rPr lang="en-US" altLang="zh-CN" sz="2000" b="1" i="1">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1</a:t>
            </a:r>
            <a:r>
              <a:rPr lang="en-US" altLang="zh-CN" sz="2000" b="1" i="1">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 F</a:t>
            </a:r>
            <a:r>
              <a:rPr lang="en-US" altLang="zh-CN" sz="2000" b="1" baseline="-25000">
                <a:solidFill>
                  <a:srgbClr val="C00000"/>
                </a:solidFill>
              </a:rPr>
              <a:t>2</a:t>
            </a:r>
            <a:r>
              <a:rPr lang="en-US" altLang="zh-CN" sz="2000" b="1" i="1">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2 </a:t>
            </a:r>
            <a:r>
              <a:rPr lang="en-US" altLang="zh-CN" sz="2000" b="1">
                <a:latin typeface="Times New Roman" pitchFamily="18" charset="0"/>
                <a:cs typeface="Times New Roman" pitchFamily="18" charset="0"/>
              </a:rPr>
              <a:t>= 0</a:t>
            </a:r>
            <a:endParaRPr lang="en-US" altLang="zh-CN" sz="2000" b="1" baseline="-25000">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6">
                                            <p:bg/>
                                          </p:spTgt>
                                        </p:tgtEl>
                                        <p:attrNameLst>
                                          <p:attrName>style.visibility</p:attrName>
                                        </p:attrNameLst>
                                      </p:cBhvr>
                                      <p:to>
                                        <p:strVal val="visible"/>
                                      </p:to>
                                    </p:set>
                                    <p:animEffect transition="in" filter="wipe(down)">
                                      <p:cBhvr>
                                        <p:cTn id="7" dur="500"/>
                                        <p:tgtEl>
                                          <p:spTgt spid="7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6">
                                            <p:txEl>
                                              <p:pRg st="0" end="0"/>
                                            </p:txEl>
                                          </p:spTgt>
                                        </p:tgtEl>
                                        <p:attrNameLst>
                                          <p:attrName>style.visibility</p:attrName>
                                        </p:attrNameLst>
                                      </p:cBhvr>
                                      <p:to>
                                        <p:strVal val="visible"/>
                                      </p:to>
                                    </p:set>
                                    <p:animEffect transition="in" filter="wipe(down)">
                                      <p:cBhvr>
                                        <p:cTn id="10" dur="500"/>
                                        <p:tgtEl>
                                          <p:spTgt spid="76">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6">
                                            <p:txEl>
                                              <p:pRg st="1" end="1"/>
                                            </p:txEl>
                                          </p:spTgt>
                                        </p:tgtEl>
                                        <p:attrNameLst>
                                          <p:attrName>style.visibility</p:attrName>
                                        </p:attrNameLst>
                                      </p:cBhvr>
                                      <p:to>
                                        <p:strVal val="visible"/>
                                      </p:to>
                                    </p:set>
                                    <p:animEffect transition="in" filter="wipe(down)">
                                      <p:cBhvr>
                                        <p:cTn id="13" dur="500"/>
                                        <p:tgtEl>
                                          <p:spTgt spid="7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回顾：刚体体系的虚功原理</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基本概念</a:t>
            </a:r>
            <a:endParaRPr lang="en-US" altLang="zh-CN" sz="2000" b="1"/>
          </a:p>
        </p:txBody>
      </p:sp>
      <p:sp>
        <p:nvSpPr>
          <p:cNvPr id="89" name="矩形 88"/>
          <p:cNvSpPr/>
          <p:nvPr/>
        </p:nvSpPr>
        <p:spPr>
          <a:xfrm>
            <a:off x="714348" y="2214554"/>
            <a:ext cx="7072362" cy="461665"/>
          </a:xfrm>
          <a:prstGeom prst="rect">
            <a:avLst/>
          </a:prstGeom>
        </p:spPr>
        <p:txBody>
          <a:bodyPr wrap="square">
            <a:spAutoFit/>
          </a:bodyPr>
          <a:lstStyle/>
          <a:p>
            <a:pPr marL="1787525" lvl="1" indent="-1330325" fontAlgn="base">
              <a:lnSpc>
                <a:spcPct val="120000"/>
              </a:lnSpc>
              <a:spcBef>
                <a:spcPct val="20000"/>
              </a:spcBef>
              <a:spcAft>
                <a:spcPct val="0"/>
              </a:spcAft>
            </a:pPr>
            <a:r>
              <a:rPr lang="zh-CN" altLang="en-US" sz="2000" b="1"/>
              <a:t>实功：力在其本身引起的位移上所作的功；</a:t>
            </a:r>
          </a:p>
        </p:txBody>
      </p:sp>
      <p:sp>
        <p:nvSpPr>
          <p:cNvPr id="76" name="矩形 75"/>
          <p:cNvSpPr/>
          <p:nvPr/>
        </p:nvSpPr>
        <p:spPr>
          <a:xfrm>
            <a:off x="785786" y="4871877"/>
            <a:ext cx="5357850" cy="1274195"/>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400" b="1">
                <a:solidFill>
                  <a:srgbClr val="C00000"/>
                </a:solidFill>
              </a:rPr>
              <a:t>虚功原理</a:t>
            </a:r>
            <a:endParaRPr lang="en-US" altLang="zh-CN" sz="2400" b="1">
              <a:solidFill>
                <a:srgbClr val="C00000"/>
              </a:solidFill>
            </a:endParaRPr>
          </a:p>
          <a:p>
            <a:pPr marL="0" lvl="1" fontAlgn="base">
              <a:lnSpc>
                <a:spcPct val="120000"/>
              </a:lnSpc>
              <a:spcAft>
                <a:spcPct val="0"/>
              </a:spcAft>
            </a:pPr>
            <a:r>
              <a:rPr lang="zh-CN" altLang="en-US" sz="2000" b="1"/>
              <a:t>对于具有理想约束的刚体体系，平衡力系中的主动力在可能位移上所作的虚功总和恒为零。</a:t>
            </a:r>
            <a:endParaRPr lang="en-US" altLang="zh-CN" sz="2000" b="1"/>
          </a:p>
        </p:txBody>
      </p:sp>
      <p:graphicFrame>
        <p:nvGraphicFramePr>
          <p:cNvPr id="68" name="Object 3"/>
          <p:cNvGraphicFramePr>
            <a:graphicFrameLocks noChangeAspect="1"/>
          </p:cNvGraphicFramePr>
          <p:nvPr/>
        </p:nvGraphicFramePr>
        <p:xfrm>
          <a:off x="2035094" y="3429000"/>
          <a:ext cx="3035300" cy="609600"/>
        </p:xfrm>
        <a:graphic>
          <a:graphicData uri="http://schemas.openxmlformats.org/presentationml/2006/ole">
            <mc:AlternateContent xmlns:mc="http://schemas.openxmlformats.org/markup-compatibility/2006">
              <mc:Choice xmlns:v="urn:schemas-microsoft-com:vml" Requires="v">
                <p:oleObj spid="_x0000_s367622" name="Equation" r:id="rId4" imgW="1981080" imgH="393480" progId="Equation.DSMT4">
                  <p:embed/>
                </p:oleObj>
              </mc:Choice>
              <mc:Fallback>
                <p:oleObj name="Equation" r:id="rId4" imgW="1981080" imgH="393480" progId="Equation.DSMT4">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5094" y="3429000"/>
                        <a:ext cx="30353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 name="Object 4"/>
          <p:cNvGraphicFramePr>
            <a:graphicFrameLocks noChangeAspect="1"/>
          </p:cNvGraphicFramePr>
          <p:nvPr/>
        </p:nvGraphicFramePr>
        <p:xfrm>
          <a:off x="5500694" y="2564696"/>
          <a:ext cx="3429024" cy="2150188"/>
        </p:xfrm>
        <a:graphic>
          <a:graphicData uri="http://schemas.openxmlformats.org/presentationml/2006/ole">
            <mc:AlternateContent xmlns:mc="http://schemas.openxmlformats.org/markup-compatibility/2006">
              <mc:Choice xmlns:v="urn:schemas-microsoft-com:vml" Requires="v">
                <p:oleObj spid="_x0000_s367623" name="AutoCAD Drawing" r:id="rId6" imgW="8820000" imgH="4505400" progId="">
                  <p:embed/>
                </p:oleObj>
              </mc:Choice>
              <mc:Fallback>
                <p:oleObj name="AutoCAD Drawing" r:id="rId6" imgW="8820000" imgH="4505400"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r="18588"/>
                      <a:stretch>
                        <a:fillRect/>
                      </a:stretch>
                    </p:blipFill>
                    <p:spPr bwMode="auto">
                      <a:xfrm>
                        <a:off x="5500694" y="2564696"/>
                        <a:ext cx="3429024" cy="215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 name="Text Box 7"/>
          <p:cNvSpPr txBox="1">
            <a:spLocks noChangeArrowheads="1"/>
          </p:cNvSpPr>
          <p:nvPr/>
        </p:nvSpPr>
        <p:spPr bwMode="auto">
          <a:xfrm>
            <a:off x="1963656" y="2561266"/>
            <a:ext cx="3047450" cy="892552"/>
          </a:xfrm>
          <a:prstGeom prst="rect">
            <a:avLst/>
          </a:prstGeom>
          <a:noFill/>
          <a:ln w="9525">
            <a:noFill/>
            <a:miter lim="800000"/>
            <a:headEnd/>
            <a:tailEnd/>
          </a:ln>
          <a:effectLst/>
        </p:spPr>
        <p:txBody>
          <a:bodyPr wrap="square">
            <a:spAutoFit/>
          </a:bodyPr>
          <a:lstStyle/>
          <a:p>
            <a:pPr algn="just" fontAlgn="base">
              <a:lnSpc>
                <a:spcPct val="130000"/>
              </a:lnSpc>
              <a:spcBef>
                <a:spcPct val="50000"/>
              </a:spcBef>
              <a:spcAft>
                <a:spcPct val="0"/>
              </a:spcAft>
            </a:pPr>
            <a:r>
              <a:rPr kumimoji="1" lang="zh-CN" altLang="en-US" sz="2000" b="1" kern="1200">
                <a:solidFill>
                  <a:srgbClr val="000000"/>
                </a:solidFill>
                <a:latin typeface="+mn-ea"/>
                <a:cs typeface="+mn-cs"/>
              </a:rPr>
              <a:t>位移</a:t>
            </a:r>
            <a:r>
              <a:rPr kumimoji="1" lang="en-US" altLang="zh-CN" sz="2000" b="1" i="1" kern="1200">
                <a:solidFill>
                  <a:srgbClr val="C00000"/>
                </a:solidFill>
                <a:latin typeface="+mn-ea"/>
                <a:cs typeface="+mn-cs"/>
              </a:rPr>
              <a:t>Δ</a:t>
            </a:r>
            <a:r>
              <a:rPr kumimoji="1" lang="zh-CN" altLang="en-US" sz="2000" b="1" kern="1200">
                <a:solidFill>
                  <a:srgbClr val="000000"/>
                </a:solidFill>
                <a:latin typeface="+mn-ea"/>
                <a:cs typeface="+mn-cs"/>
              </a:rPr>
              <a:t>是由外力</a:t>
            </a:r>
            <a:r>
              <a:rPr kumimoji="1" lang="en-US" altLang="zh-CN" sz="2000" b="1" i="1" kern="1200">
                <a:solidFill>
                  <a:srgbClr val="C00000"/>
                </a:solidFill>
                <a:latin typeface="Times New Roman" pitchFamily="18" charset="0"/>
                <a:cs typeface="Times New Roman" pitchFamily="18" charset="0"/>
              </a:rPr>
              <a:t>F</a:t>
            </a:r>
            <a:r>
              <a:rPr kumimoji="1" lang="zh-CN" altLang="en-US" sz="2000" b="1" kern="1200">
                <a:solidFill>
                  <a:srgbClr val="000000"/>
                </a:solidFill>
                <a:latin typeface="+mn-ea"/>
                <a:cs typeface="+mn-cs"/>
              </a:rPr>
              <a:t>引起的，</a:t>
            </a:r>
            <a:r>
              <a:rPr kumimoji="1" lang="en-US" altLang="zh-CN" sz="2000" b="1" i="1">
                <a:solidFill>
                  <a:srgbClr val="C00000"/>
                </a:solidFill>
                <a:latin typeface="Times New Roman" pitchFamily="18" charset="0"/>
                <a:cs typeface="Times New Roman" pitchFamily="18" charset="0"/>
              </a:rPr>
              <a:t> F</a:t>
            </a:r>
            <a:r>
              <a:rPr kumimoji="1" lang="zh-CN" altLang="en-US" sz="2000" b="1" kern="1200">
                <a:solidFill>
                  <a:srgbClr val="000000"/>
                </a:solidFill>
                <a:latin typeface="+mn-ea"/>
                <a:cs typeface="+mn-cs"/>
              </a:rPr>
              <a:t>做的功可表示为</a:t>
            </a:r>
            <a:r>
              <a:rPr kumimoji="1" lang="en-US" altLang="zh-CN" sz="2000" b="1" kern="1200">
                <a:solidFill>
                  <a:srgbClr val="000000"/>
                </a:solidFill>
                <a:latin typeface="+mn-ea"/>
                <a:cs typeface="+mn-cs"/>
              </a:rPr>
              <a:t>:   </a:t>
            </a:r>
          </a:p>
        </p:txBody>
      </p:sp>
      <p:sp>
        <p:nvSpPr>
          <p:cNvPr id="72" name="矩形 71"/>
          <p:cNvSpPr/>
          <p:nvPr/>
        </p:nvSpPr>
        <p:spPr>
          <a:xfrm>
            <a:off x="1142976" y="4143380"/>
            <a:ext cx="4572000" cy="369332"/>
          </a:xfrm>
          <a:prstGeom prst="rect">
            <a:avLst/>
          </a:prstGeom>
        </p:spPr>
        <p:txBody>
          <a:bodyPr>
            <a:spAutoFit/>
          </a:bodyPr>
          <a:lstStyle/>
          <a:p>
            <a:r>
              <a:rPr kumimoji="1" lang="zh-CN" altLang="en-US" b="1">
                <a:solidFill>
                  <a:srgbClr val="0033CC"/>
                </a:solidFill>
                <a:latin typeface="楷体_GB2312" pitchFamily="49" charset="-122"/>
                <a:ea typeface="楷体_GB2312" pitchFamily="49" charset="-122"/>
              </a:rPr>
              <a:t>实功的数值上等于图上三角形</a:t>
            </a:r>
            <a:r>
              <a:rPr kumimoji="1" lang="en-US" altLang="zh-CN" b="1" i="1">
                <a:solidFill>
                  <a:srgbClr val="0033CC"/>
                </a:solidFill>
                <a:latin typeface="Times New Roman" pitchFamily="18" charset="0"/>
                <a:ea typeface="楷体_GB2312" pitchFamily="49" charset="-122"/>
              </a:rPr>
              <a:t>OAB</a:t>
            </a:r>
            <a:r>
              <a:rPr kumimoji="1" lang="zh-CN" altLang="en-US" b="1">
                <a:solidFill>
                  <a:srgbClr val="0033CC"/>
                </a:solidFill>
                <a:latin typeface="楷体_GB2312" pitchFamily="49" charset="-122"/>
                <a:ea typeface="楷体_GB2312" pitchFamily="49" charset="-122"/>
              </a:rPr>
              <a:t>的面积。</a:t>
            </a:r>
            <a:endParaRPr lang="zh-CN" altLang="en-US">
              <a:solidFill>
                <a:srgbClr val="0033CC"/>
              </a:solidFill>
            </a:endParaRPr>
          </a:p>
        </p:txBody>
      </p:sp>
      <p:sp>
        <p:nvSpPr>
          <p:cNvPr id="73" name="TextBox 72"/>
          <p:cNvSpPr txBox="1"/>
          <p:nvPr/>
        </p:nvSpPr>
        <p:spPr>
          <a:xfrm>
            <a:off x="6500826" y="4882144"/>
            <a:ext cx="1980029" cy="707886"/>
          </a:xfrm>
          <a:prstGeom prst="rect">
            <a:avLst/>
          </a:prstGeom>
          <a:noFill/>
          <a:ln w="28575">
            <a:solidFill>
              <a:srgbClr val="C00000"/>
            </a:solidFill>
          </a:ln>
        </p:spPr>
        <p:txBody>
          <a:bodyPr wrap="none" rtlCol="0">
            <a:spAutoFit/>
          </a:bodyPr>
          <a:lstStyle/>
          <a:p>
            <a:pPr algn="ctr"/>
            <a:r>
              <a:rPr lang="zh-CN" altLang="en-US" sz="2000" b="1">
                <a:solidFill>
                  <a:srgbClr val="C00000"/>
                </a:solidFill>
              </a:rPr>
              <a:t>实功计算</a:t>
            </a:r>
            <a:endParaRPr lang="en-US" altLang="zh-CN" sz="2000" b="1">
              <a:solidFill>
                <a:srgbClr val="C00000"/>
              </a:solidFill>
            </a:endParaRPr>
          </a:p>
          <a:p>
            <a:r>
              <a:rPr lang="zh-CN" altLang="en-US" sz="2000" b="1">
                <a:solidFill>
                  <a:srgbClr val="C00000"/>
                </a:solidFill>
              </a:rPr>
              <a:t>不适用叠加原理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anim calcmode="lin" valueType="num">
                                      <p:cBhvr additive="base">
                                        <p:cTn id="7" dur="500" fill="hold"/>
                                        <p:tgtEl>
                                          <p:spTgt spid="89"/>
                                        </p:tgtEl>
                                        <p:attrNameLst>
                                          <p:attrName>ppt_x</p:attrName>
                                        </p:attrNameLst>
                                      </p:cBhvr>
                                      <p:tavLst>
                                        <p:tav tm="0">
                                          <p:val>
                                            <p:strVal val="#ppt_x"/>
                                          </p:val>
                                        </p:tav>
                                        <p:tav tm="100000">
                                          <p:val>
                                            <p:strVal val="#ppt_x"/>
                                          </p:val>
                                        </p:tav>
                                      </p:tavLst>
                                    </p:anim>
                                    <p:anim calcmode="lin" valueType="num">
                                      <p:cBhvr additive="base">
                                        <p:cTn id="8"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wipe(left)">
                                      <p:cBhvr>
                                        <p:cTn id="13" dur="500"/>
                                        <p:tgtEl>
                                          <p:spTgt spid="7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left)">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anim calcmode="lin" valueType="num">
                                      <p:cBhvr additive="base">
                                        <p:cTn id="27" dur="500" fill="hold"/>
                                        <p:tgtEl>
                                          <p:spTgt spid="72"/>
                                        </p:tgtEl>
                                        <p:attrNameLst>
                                          <p:attrName>ppt_x</p:attrName>
                                        </p:attrNameLst>
                                      </p:cBhvr>
                                      <p:tavLst>
                                        <p:tav tm="0">
                                          <p:val>
                                            <p:strVal val="#ppt_x"/>
                                          </p:val>
                                        </p:tav>
                                        <p:tav tm="100000">
                                          <p:val>
                                            <p:strVal val="#ppt_x"/>
                                          </p:val>
                                        </p:tav>
                                      </p:tavLst>
                                    </p:anim>
                                    <p:anim calcmode="lin" valueType="num">
                                      <p:cBhvr additive="base">
                                        <p:cTn id="28" dur="500" fill="hold"/>
                                        <p:tgtEl>
                                          <p:spTgt spid="72"/>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70" grpId="0" autoUpdateAnimBg="0"/>
      <p:bldP spid="72" grpId="0"/>
      <p:bldP spid="7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回顾：刚体体系的虚功原理</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基本概念</a:t>
            </a:r>
            <a:endParaRPr lang="en-US" altLang="zh-CN" sz="2000" b="1"/>
          </a:p>
        </p:txBody>
      </p:sp>
      <p:sp>
        <p:nvSpPr>
          <p:cNvPr id="89" name="矩形 88"/>
          <p:cNvSpPr/>
          <p:nvPr/>
        </p:nvSpPr>
        <p:spPr>
          <a:xfrm>
            <a:off x="714348" y="2214554"/>
            <a:ext cx="7072362" cy="461665"/>
          </a:xfrm>
          <a:prstGeom prst="rect">
            <a:avLst/>
          </a:prstGeom>
        </p:spPr>
        <p:txBody>
          <a:bodyPr wrap="square">
            <a:spAutoFit/>
          </a:bodyPr>
          <a:lstStyle/>
          <a:p>
            <a:pPr marL="1787525" lvl="1" indent="-1330325" fontAlgn="base">
              <a:lnSpc>
                <a:spcPct val="120000"/>
              </a:lnSpc>
              <a:spcBef>
                <a:spcPct val="20000"/>
              </a:spcBef>
              <a:spcAft>
                <a:spcPct val="0"/>
              </a:spcAft>
            </a:pPr>
            <a:r>
              <a:rPr lang="zh-CN" altLang="en-US" sz="2000" b="1"/>
              <a:t>虚功：做功的力系和相应的位移独立无关；</a:t>
            </a:r>
          </a:p>
        </p:txBody>
      </p:sp>
      <p:sp>
        <p:nvSpPr>
          <p:cNvPr id="76" name="矩形 75"/>
          <p:cNvSpPr/>
          <p:nvPr/>
        </p:nvSpPr>
        <p:spPr>
          <a:xfrm>
            <a:off x="785786" y="4871877"/>
            <a:ext cx="5357850" cy="1274195"/>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400" b="1">
                <a:solidFill>
                  <a:srgbClr val="C00000"/>
                </a:solidFill>
              </a:rPr>
              <a:t>刚体虚功原理</a:t>
            </a:r>
            <a:endParaRPr lang="en-US" altLang="zh-CN" sz="2400" b="1">
              <a:solidFill>
                <a:srgbClr val="C00000"/>
              </a:solidFill>
            </a:endParaRPr>
          </a:p>
          <a:p>
            <a:pPr marL="0" lvl="1" fontAlgn="base">
              <a:lnSpc>
                <a:spcPct val="120000"/>
              </a:lnSpc>
              <a:spcAft>
                <a:spcPct val="0"/>
              </a:spcAft>
            </a:pPr>
            <a:r>
              <a:rPr lang="zh-CN" altLang="en-US" sz="2000" b="1"/>
              <a:t>对于具有理想约束的刚体体系，平衡力系中的主动力在可能位移上所作的虚功总和恒为零。</a:t>
            </a:r>
            <a:endParaRPr lang="en-US" altLang="zh-CN" sz="2000" b="1"/>
          </a:p>
        </p:txBody>
      </p:sp>
      <p:sp>
        <p:nvSpPr>
          <p:cNvPr id="72" name="矩形 71"/>
          <p:cNvSpPr/>
          <p:nvPr/>
        </p:nvSpPr>
        <p:spPr>
          <a:xfrm>
            <a:off x="1142976" y="4143380"/>
            <a:ext cx="4572000" cy="369332"/>
          </a:xfrm>
          <a:prstGeom prst="rect">
            <a:avLst/>
          </a:prstGeom>
        </p:spPr>
        <p:txBody>
          <a:bodyPr>
            <a:spAutoFit/>
          </a:bodyPr>
          <a:lstStyle/>
          <a:p>
            <a:r>
              <a:rPr kumimoji="1" lang="zh-CN" altLang="en-US" b="1">
                <a:solidFill>
                  <a:srgbClr val="0033CC"/>
                </a:solidFill>
                <a:latin typeface="楷体_GB2312" pitchFamily="49" charset="-122"/>
                <a:ea typeface="楷体_GB2312" pitchFamily="49" charset="-122"/>
              </a:rPr>
              <a:t>实功的数值上等于图上矩形</a:t>
            </a:r>
            <a:r>
              <a:rPr kumimoji="1" lang="en-US" altLang="zh-CN" b="1" i="1">
                <a:solidFill>
                  <a:srgbClr val="0033CC"/>
                </a:solidFill>
                <a:latin typeface="Times New Roman" pitchFamily="18" charset="0"/>
                <a:ea typeface="楷体_GB2312" pitchFamily="49" charset="-122"/>
              </a:rPr>
              <a:t>OBAF</a:t>
            </a:r>
            <a:r>
              <a:rPr kumimoji="1" lang="zh-CN" altLang="en-US" b="1">
                <a:solidFill>
                  <a:srgbClr val="0033CC"/>
                </a:solidFill>
                <a:latin typeface="楷体_GB2312" pitchFamily="49" charset="-122"/>
                <a:ea typeface="楷体_GB2312" pitchFamily="49" charset="-122"/>
              </a:rPr>
              <a:t>的面积。</a:t>
            </a:r>
            <a:endParaRPr lang="zh-CN" altLang="en-US">
              <a:solidFill>
                <a:srgbClr val="0033CC"/>
              </a:solidFill>
            </a:endParaRPr>
          </a:p>
        </p:txBody>
      </p:sp>
      <p:sp>
        <p:nvSpPr>
          <p:cNvPr id="73" name="TextBox 72"/>
          <p:cNvSpPr txBox="1"/>
          <p:nvPr/>
        </p:nvSpPr>
        <p:spPr>
          <a:xfrm>
            <a:off x="6500826" y="4882144"/>
            <a:ext cx="2236510" cy="707886"/>
          </a:xfrm>
          <a:prstGeom prst="rect">
            <a:avLst/>
          </a:prstGeom>
          <a:noFill/>
          <a:ln w="28575">
            <a:solidFill>
              <a:srgbClr val="C00000"/>
            </a:solidFill>
          </a:ln>
        </p:spPr>
        <p:txBody>
          <a:bodyPr wrap="none" rtlCol="0">
            <a:spAutoFit/>
          </a:bodyPr>
          <a:lstStyle/>
          <a:p>
            <a:pPr algn="ctr"/>
            <a:r>
              <a:rPr lang="zh-CN" altLang="en-US" sz="2000" b="1">
                <a:solidFill>
                  <a:srgbClr val="C00000"/>
                </a:solidFill>
              </a:rPr>
              <a:t>虚功计算</a:t>
            </a:r>
            <a:endParaRPr lang="en-US" altLang="zh-CN" sz="2000" b="1">
              <a:solidFill>
                <a:srgbClr val="C00000"/>
              </a:solidFill>
            </a:endParaRPr>
          </a:p>
          <a:p>
            <a:r>
              <a:rPr lang="zh-CN" altLang="en-US" sz="2000" b="1">
                <a:solidFill>
                  <a:srgbClr val="C00000"/>
                </a:solidFill>
              </a:rPr>
              <a:t>可采用用叠加原理</a:t>
            </a:r>
          </a:p>
        </p:txBody>
      </p:sp>
      <p:graphicFrame>
        <p:nvGraphicFramePr>
          <p:cNvPr id="369668" name="Object 4"/>
          <p:cNvGraphicFramePr>
            <a:graphicFrameLocks noChangeAspect="1"/>
          </p:cNvGraphicFramePr>
          <p:nvPr/>
        </p:nvGraphicFramePr>
        <p:xfrm>
          <a:off x="5464118" y="2571744"/>
          <a:ext cx="3442344" cy="2000264"/>
        </p:xfrm>
        <a:graphic>
          <a:graphicData uri="http://schemas.openxmlformats.org/presentationml/2006/ole">
            <mc:AlternateContent xmlns:mc="http://schemas.openxmlformats.org/markup-compatibility/2006">
              <mc:Choice xmlns:v="urn:schemas-microsoft-com:vml" Requires="v">
                <p:oleObj spid="_x0000_s369671" name="AutoCAD Drawing" r:id="rId4" imgW="8791560" imgH="4581360" progId="">
                  <p:embed/>
                </p:oleObj>
              </mc:Choice>
              <mc:Fallback>
                <p:oleObj name="AutoCAD Drawing" r:id="rId4" imgW="8791560" imgH="4581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l="3230" t="15335" r="34302" b="15065"/>
                      <a:stretch>
                        <a:fillRect/>
                      </a:stretch>
                    </p:blipFill>
                    <p:spPr bwMode="auto">
                      <a:xfrm>
                        <a:off x="5464118" y="2571744"/>
                        <a:ext cx="3442344" cy="2000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670" name="Object 6"/>
          <p:cNvGraphicFramePr>
            <a:graphicFrameLocks noChangeAspect="1"/>
          </p:cNvGraphicFramePr>
          <p:nvPr/>
        </p:nvGraphicFramePr>
        <p:xfrm>
          <a:off x="2928926" y="3500438"/>
          <a:ext cx="1165870" cy="428628"/>
        </p:xfrm>
        <a:graphic>
          <a:graphicData uri="http://schemas.openxmlformats.org/presentationml/2006/ole">
            <mc:AlternateContent xmlns:mc="http://schemas.openxmlformats.org/markup-compatibility/2006">
              <mc:Choice xmlns:v="urn:schemas-microsoft-com:vml" Requires="v">
                <p:oleObj spid="_x0000_s369672" name="Equation" r:id="rId6" imgW="622080" imgH="228600" progId="Equation.DSMT4">
                  <p:embed/>
                </p:oleObj>
              </mc:Choice>
              <mc:Fallback>
                <p:oleObj name="Equation" r:id="rId6" imgW="622080" imgH="22860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926" y="3500438"/>
                        <a:ext cx="1165870" cy="42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7"/>
          <p:cNvSpPr txBox="1">
            <a:spLocks noChangeArrowheads="1"/>
          </p:cNvSpPr>
          <p:nvPr/>
        </p:nvSpPr>
        <p:spPr bwMode="auto">
          <a:xfrm>
            <a:off x="1963656" y="2561266"/>
            <a:ext cx="3047450" cy="892552"/>
          </a:xfrm>
          <a:prstGeom prst="rect">
            <a:avLst/>
          </a:prstGeom>
          <a:noFill/>
          <a:ln w="9525">
            <a:noFill/>
            <a:miter lim="800000"/>
            <a:headEnd/>
            <a:tailEnd/>
          </a:ln>
          <a:effectLst/>
        </p:spPr>
        <p:txBody>
          <a:bodyPr wrap="square">
            <a:spAutoFit/>
          </a:bodyPr>
          <a:lstStyle/>
          <a:p>
            <a:pPr algn="just" fontAlgn="base">
              <a:lnSpc>
                <a:spcPct val="130000"/>
              </a:lnSpc>
              <a:spcBef>
                <a:spcPct val="50000"/>
              </a:spcBef>
              <a:spcAft>
                <a:spcPct val="0"/>
              </a:spcAft>
            </a:pPr>
            <a:r>
              <a:rPr kumimoji="1" lang="zh-CN" altLang="en-US" sz="2000" b="1" kern="1200">
                <a:solidFill>
                  <a:srgbClr val="000000"/>
                </a:solidFill>
                <a:latin typeface="+mn-ea"/>
                <a:cs typeface="+mn-cs"/>
              </a:rPr>
              <a:t>位移</a:t>
            </a:r>
            <a:r>
              <a:rPr kumimoji="1" lang="en-US" altLang="zh-CN" sz="2000" b="1" i="1" kern="1200">
                <a:solidFill>
                  <a:srgbClr val="C00000"/>
                </a:solidFill>
                <a:latin typeface="+mn-ea"/>
                <a:cs typeface="+mn-cs"/>
              </a:rPr>
              <a:t>Δ</a:t>
            </a:r>
            <a:r>
              <a:rPr kumimoji="1" lang="zh-CN" altLang="en-US" sz="2000" b="1" kern="1200">
                <a:solidFill>
                  <a:srgbClr val="000000"/>
                </a:solidFill>
                <a:latin typeface="+mn-ea"/>
                <a:cs typeface="+mn-cs"/>
              </a:rPr>
              <a:t>是由温度</a:t>
            </a:r>
            <a:r>
              <a:rPr kumimoji="1" lang="en-US" altLang="zh-CN" sz="2000" b="1" i="1">
                <a:solidFill>
                  <a:srgbClr val="C00000"/>
                </a:solidFill>
                <a:latin typeface="Times New Roman" pitchFamily="18" charset="0"/>
                <a:cs typeface="Times New Roman" pitchFamily="18" charset="0"/>
              </a:rPr>
              <a:t>t</a:t>
            </a:r>
            <a:r>
              <a:rPr kumimoji="1" lang="zh-CN" altLang="en-US" sz="2000" b="1" kern="1200">
                <a:solidFill>
                  <a:srgbClr val="000000"/>
                </a:solidFill>
                <a:latin typeface="+mn-ea"/>
                <a:cs typeface="+mn-cs"/>
              </a:rPr>
              <a:t>引起的，</a:t>
            </a:r>
            <a:r>
              <a:rPr kumimoji="1" lang="en-US" altLang="zh-CN" sz="2000" b="1" i="1">
                <a:solidFill>
                  <a:srgbClr val="C00000"/>
                </a:solidFill>
                <a:latin typeface="Times New Roman" pitchFamily="18" charset="0"/>
                <a:cs typeface="Times New Roman" pitchFamily="18" charset="0"/>
              </a:rPr>
              <a:t> F</a:t>
            </a:r>
            <a:r>
              <a:rPr kumimoji="1" lang="zh-CN" altLang="en-US" sz="2000" b="1" kern="1200">
                <a:solidFill>
                  <a:srgbClr val="000000"/>
                </a:solidFill>
                <a:latin typeface="+mn-ea"/>
                <a:cs typeface="+mn-cs"/>
              </a:rPr>
              <a:t>做的功可表示为</a:t>
            </a:r>
            <a:r>
              <a:rPr kumimoji="1" lang="en-US" altLang="zh-CN" sz="2000" b="1" kern="1200">
                <a:solidFill>
                  <a:srgbClr val="000000"/>
                </a:solidFill>
                <a:latin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anim calcmode="lin" valueType="num">
                                      <p:cBhvr additive="base">
                                        <p:cTn id="7" dur="500" fill="hold"/>
                                        <p:tgtEl>
                                          <p:spTgt spid="89"/>
                                        </p:tgtEl>
                                        <p:attrNameLst>
                                          <p:attrName>ppt_x</p:attrName>
                                        </p:attrNameLst>
                                      </p:cBhvr>
                                      <p:tavLst>
                                        <p:tav tm="0">
                                          <p:val>
                                            <p:strVal val="#ppt_x"/>
                                          </p:val>
                                        </p:tav>
                                        <p:tav tm="100000">
                                          <p:val>
                                            <p:strVal val="#ppt_x"/>
                                          </p:val>
                                        </p:tav>
                                      </p:tavLst>
                                    </p:anim>
                                    <p:anim calcmode="lin" valueType="num">
                                      <p:cBhvr additive="base">
                                        <p:cTn id="8" dur="500" fill="hold"/>
                                        <p:tgtEl>
                                          <p:spTgt spid="8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7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36966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2"/>
                                        </p:tgtEl>
                                        <p:attrNameLst>
                                          <p:attrName>style.visibility</p:attrName>
                                        </p:attrNameLst>
                                      </p:cBhvr>
                                      <p:to>
                                        <p:strVal val="visible"/>
                                      </p:to>
                                    </p:set>
                                    <p:anim calcmode="lin" valueType="num">
                                      <p:cBhvr additive="base">
                                        <p:cTn id="24" dur="500" fill="hold"/>
                                        <p:tgtEl>
                                          <p:spTgt spid="72"/>
                                        </p:tgtEl>
                                        <p:attrNameLst>
                                          <p:attrName>ppt_x</p:attrName>
                                        </p:attrNameLst>
                                      </p:cBhvr>
                                      <p:tavLst>
                                        <p:tav tm="0">
                                          <p:val>
                                            <p:strVal val="#ppt_x"/>
                                          </p:val>
                                        </p:tav>
                                        <p:tav tm="100000">
                                          <p:val>
                                            <p:strVal val="#ppt_x"/>
                                          </p:val>
                                        </p:tav>
                                      </p:tavLst>
                                    </p:anim>
                                    <p:anim calcmode="lin" valueType="num">
                                      <p:cBhvr additive="base">
                                        <p:cTn id="25"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72" grpId="0"/>
      <p:bldP spid="73" grpId="0" animBg="1"/>
      <p:bldP spid="1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回顾：刚体体系的虚功原理</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例：虚功计算</a:t>
            </a:r>
            <a:endParaRPr lang="en-US" altLang="zh-CN" sz="2000" b="1"/>
          </a:p>
        </p:txBody>
      </p:sp>
      <p:sp>
        <p:nvSpPr>
          <p:cNvPr id="76" name="矩形 75"/>
          <p:cNvSpPr/>
          <p:nvPr/>
        </p:nvSpPr>
        <p:spPr>
          <a:xfrm>
            <a:off x="785786" y="4871877"/>
            <a:ext cx="5357850" cy="1274195"/>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400" b="1">
                <a:solidFill>
                  <a:srgbClr val="C00000"/>
                </a:solidFill>
              </a:rPr>
              <a:t>刚体虚功原理</a:t>
            </a:r>
            <a:endParaRPr lang="en-US" altLang="zh-CN" sz="2400" b="1">
              <a:solidFill>
                <a:srgbClr val="C00000"/>
              </a:solidFill>
            </a:endParaRPr>
          </a:p>
          <a:p>
            <a:pPr marL="0" lvl="1" fontAlgn="base">
              <a:lnSpc>
                <a:spcPct val="120000"/>
              </a:lnSpc>
              <a:spcAft>
                <a:spcPct val="0"/>
              </a:spcAft>
            </a:pPr>
            <a:r>
              <a:rPr lang="zh-CN" altLang="en-US" sz="2000" b="1"/>
              <a:t>对于具有理想约束的刚体体系，平衡力系中的主动力在可能位移上所作的虚功总和恒为零。</a:t>
            </a:r>
            <a:endParaRPr lang="en-US" altLang="zh-CN" sz="2000" b="1"/>
          </a:p>
        </p:txBody>
      </p:sp>
      <p:graphicFrame>
        <p:nvGraphicFramePr>
          <p:cNvPr id="368644" name="Object 4"/>
          <p:cNvGraphicFramePr>
            <a:graphicFrameLocks noChangeAspect="1"/>
          </p:cNvGraphicFramePr>
          <p:nvPr/>
        </p:nvGraphicFramePr>
        <p:xfrm>
          <a:off x="5257830" y="1357298"/>
          <a:ext cx="3600450" cy="1301750"/>
        </p:xfrm>
        <a:graphic>
          <a:graphicData uri="http://schemas.openxmlformats.org/presentationml/2006/ole">
            <mc:AlternateContent xmlns:mc="http://schemas.openxmlformats.org/markup-compatibility/2006">
              <mc:Choice xmlns:v="urn:schemas-microsoft-com:vml" Requires="v">
                <p:oleObj spid="_x0000_s368648" name="AutoCAD Drawing" r:id="rId4" imgW="8820000" imgH="4505400" progId="">
                  <p:embed/>
                </p:oleObj>
              </mc:Choice>
              <mc:Fallback>
                <p:oleObj name="AutoCAD Drawing" r:id="rId4" imgW="8820000" imgH="450540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t="10675" b="7457"/>
                      <a:stretch>
                        <a:fillRect/>
                      </a:stretch>
                    </p:blipFill>
                    <p:spPr bwMode="auto">
                      <a:xfrm>
                        <a:off x="5257830" y="1357298"/>
                        <a:ext cx="3600450"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矩形 11"/>
          <p:cNvSpPr/>
          <p:nvPr/>
        </p:nvSpPr>
        <p:spPr>
          <a:xfrm>
            <a:off x="1237084" y="2226746"/>
            <a:ext cx="3763544" cy="892552"/>
          </a:xfrm>
          <a:prstGeom prst="rect">
            <a:avLst/>
          </a:prstGeom>
        </p:spPr>
        <p:txBody>
          <a:bodyPr wrap="square">
            <a:spAutoFit/>
          </a:bodyPr>
          <a:lstStyle/>
          <a:p>
            <a:pPr>
              <a:lnSpc>
                <a:spcPct val="130000"/>
              </a:lnSpc>
              <a:spcBef>
                <a:spcPct val="0"/>
              </a:spcBef>
            </a:pP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1</a:t>
            </a:r>
            <a:r>
              <a:rPr lang="zh-CN" altLang="en-US" sz="2000" b="1">
                <a:solidFill>
                  <a:srgbClr val="000000"/>
                </a:solidFill>
                <a:latin typeface="Times New Roman" pitchFamily="18" charset="0"/>
                <a:cs typeface="Times New Roman" pitchFamily="18" charset="0"/>
              </a:rPr>
              <a:t>力在其引起的位移</a:t>
            </a:r>
            <a:r>
              <a:rPr lang="en-US"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11</a:t>
            </a:r>
            <a:r>
              <a:rPr lang="en-US" altLang="zh-CN" sz="2000" b="1">
                <a:solidFill>
                  <a:srgbClr val="C00000"/>
                </a:solidFill>
                <a:latin typeface="Times New Roman" pitchFamily="18" charset="0"/>
                <a:cs typeface="Times New Roman" pitchFamily="18" charset="0"/>
              </a:rPr>
              <a:t> </a:t>
            </a:r>
            <a:r>
              <a:rPr lang="zh-CN" altLang="en-US" sz="2000" b="1">
                <a:solidFill>
                  <a:srgbClr val="000000"/>
                </a:solidFill>
                <a:latin typeface="Times New Roman" pitchFamily="18" charset="0"/>
                <a:cs typeface="Times New Roman" pitchFamily="18" charset="0"/>
              </a:rPr>
              <a:t>上所作的功为</a:t>
            </a:r>
            <a:r>
              <a:rPr lang="zh-CN" altLang="en-US" sz="2000" b="1">
                <a:solidFill>
                  <a:srgbClr val="C00000"/>
                </a:solidFill>
                <a:latin typeface="Times New Roman" pitchFamily="18" charset="0"/>
                <a:cs typeface="Times New Roman" pitchFamily="18" charset="0"/>
              </a:rPr>
              <a:t>实功，</a:t>
            </a:r>
            <a:r>
              <a:rPr lang="zh-CN" altLang="en-US" sz="2000" b="1">
                <a:solidFill>
                  <a:srgbClr val="000000"/>
                </a:solidFill>
                <a:latin typeface="Times New Roman" pitchFamily="18" charset="0"/>
                <a:cs typeface="Times New Roman" pitchFamily="18" charset="0"/>
              </a:rPr>
              <a:t>为</a:t>
            </a:r>
            <a:r>
              <a:rPr lang="zh-CN" altLang="en-US" sz="2000" b="1">
                <a:solidFill>
                  <a:schemeClr val="tx2"/>
                </a:solidFill>
                <a:latin typeface="Times New Roman" pitchFamily="18" charset="0"/>
                <a:ea typeface="宋体" charset="-122"/>
                <a:cs typeface="Times New Roman" pitchFamily="18" charset="0"/>
              </a:rPr>
              <a:t> </a:t>
            </a:r>
          </a:p>
        </p:txBody>
      </p:sp>
      <p:graphicFrame>
        <p:nvGraphicFramePr>
          <p:cNvPr id="368645" name="Object 5"/>
          <p:cNvGraphicFramePr>
            <a:graphicFrameLocks noChangeAspect="1"/>
          </p:cNvGraphicFramePr>
          <p:nvPr/>
        </p:nvGraphicFramePr>
        <p:xfrm>
          <a:off x="3428992" y="2786058"/>
          <a:ext cx="1143008" cy="610918"/>
        </p:xfrm>
        <a:graphic>
          <a:graphicData uri="http://schemas.openxmlformats.org/presentationml/2006/ole">
            <mc:AlternateContent xmlns:mc="http://schemas.openxmlformats.org/markup-compatibility/2006">
              <mc:Choice xmlns:v="urn:schemas-microsoft-com:vml" Requires="v">
                <p:oleObj spid="_x0000_s368649" name="Equation" r:id="rId6" imgW="736560" imgH="393480" progId="Equation.DSMT4">
                  <p:embed/>
                </p:oleObj>
              </mc:Choice>
              <mc:Fallback>
                <p:oleObj name="Equation" r:id="rId6" imgW="736560" imgH="393480" progId="Equation.DSMT4">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8992" y="2786058"/>
                        <a:ext cx="1143008" cy="610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46" name="Object 6"/>
          <p:cNvGraphicFramePr>
            <a:graphicFrameLocks noChangeAspect="1"/>
          </p:cNvGraphicFramePr>
          <p:nvPr/>
        </p:nvGraphicFramePr>
        <p:xfrm>
          <a:off x="5318663" y="2786058"/>
          <a:ext cx="3455987" cy="1628775"/>
        </p:xfrm>
        <a:graphic>
          <a:graphicData uri="http://schemas.openxmlformats.org/presentationml/2006/ole">
            <mc:AlternateContent xmlns:mc="http://schemas.openxmlformats.org/markup-compatibility/2006">
              <mc:Choice xmlns:v="urn:schemas-microsoft-com:vml" Requires="v">
                <p:oleObj spid="_x0000_s368650" name="AutoCAD Drawing" r:id="rId8" imgW="8820000" imgH="4505400" progId="">
                  <p:embed/>
                </p:oleObj>
              </mc:Choice>
              <mc:Fallback>
                <p:oleObj name="AutoCAD Drawing" r:id="rId8" imgW="8820000" imgH="4505400" progId="">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l="12642" t="16469" r="11458"/>
                      <a:stretch>
                        <a:fillRect/>
                      </a:stretch>
                    </p:blipFill>
                    <p:spPr bwMode="auto">
                      <a:xfrm>
                        <a:off x="5318663" y="2786058"/>
                        <a:ext cx="3455987"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矩形 15"/>
          <p:cNvSpPr/>
          <p:nvPr/>
        </p:nvSpPr>
        <p:spPr>
          <a:xfrm>
            <a:off x="1226606" y="3500438"/>
            <a:ext cx="3845460" cy="892552"/>
          </a:xfrm>
          <a:prstGeom prst="rect">
            <a:avLst/>
          </a:prstGeom>
        </p:spPr>
        <p:txBody>
          <a:bodyPr wrap="square">
            <a:spAutoFit/>
          </a:bodyPr>
          <a:lstStyle/>
          <a:p>
            <a:pPr>
              <a:lnSpc>
                <a:spcPct val="130000"/>
              </a:lnSpc>
              <a:spcBef>
                <a:spcPct val="0"/>
              </a:spcBef>
            </a:pP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1</a:t>
            </a:r>
            <a:r>
              <a:rPr lang="zh-CN" altLang="en-US" sz="2000" b="1">
                <a:solidFill>
                  <a:srgbClr val="000000"/>
                </a:solidFill>
                <a:latin typeface="Times New Roman" pitchFamily="18" charset="0"/>
                <a:cs typeface="Times New Roman" pitchFamily="18" charset="0"/>
              </a:rPr>
              <a:t>力在</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2</a:t>
            </a:r>
            <a:r>
              <a:rPr lang="zh-CN" altLang="en-US" sz="2000" b="1">
                <a:solidFill>
                  <a:srgbClr val="000000"/>
                </a:solidFill>
                <a:latin typeface="Times New Roman" pitchFamily="18" charset="0"/>
                <a:cs typeface="Times New Roman" pitchFamily="18" charset="0"/>
              </a:rPr>
              <a:t>引起的位移</a:t>
            </a:r>
            <a:r>
              <a:rPr lang="en-US"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12</a:t>
            </a:r>
            <a:r>
              <a:rPr lang="en-US" altLang="zh-CN" sz="2000" b="1">
                <a:solidFill>
                  <a:srgbClr val="C00000"/>
                </a:solidFill>
                <a:latin typeface="Times New Roman" pitchFamily="18" charset="0"/>
                <a:cs typeface="Times New Roman" pitchFamily="18" charset="0"/>
              </a:rPr>
              <a:t> </a:t>
            </a:r>
            <a:r>
              <a:rPr lang="zh-CN" altLang="en-US" sz="2000" b="1">
                <a:solidFill>
                  <a:srgbClr val="000000"/>
                </a:solidFill>
                <a:latin typeface="Times New Roman" pitchFamily="18" charset="0"/>
                <a:cs typeface="Times New Roman" pitchFamily="18" charset="0"/>
              </a:rPr>
              <a:t>上所作的功为</a:t>
            </a:r>
            <a:r>
              <a:rPr lang="zh-CN" altLang="en-US" sz="2000" b="1">
                <a:solidFill>
                  <a:srgbClr val="C00000"/>
                </a:solidFill>
                <a:latin typeface="Times New Roman" pitchFamily="18" charset="0"/>
                <a:cs typeface="Times New Roman" pitchFamily="18" charset="0"/>
              </a:rPr>
              <a:t>虚功，</a:t>
            </a:r>
            <a:r>
              <a:rPr lang="zh-CN" altLang="en-US" sz="2000" b="1">
                <a:solidFill>
                  <a:srgbClr val="000000"/>
                </a:solidFill>
                <a:latin typeface="Times New Roman" pitchFamily="18" charset="0"/>
                <a:cs typeface="Times New Roman" pitchFamily="18" charset="0"/>
              </a:rPr>
              <a:t>为</a:t>
            </a:r>
            <a:r>
              <a:rPr lang="zh-CN" altLang="en-US" sz="2000" b="1">
                <a:solidFill>
                  <a:schemeClr val="tx2"/>
                </a:solidFill>
                <a:latin typeface="Times New Roman" pitchFamily="18" charset="0"/>
                <a:ea typeface="宋体" charset="-122"/>
                <a:cs typeface="Times New Roman" pitchFamily="18" charset="0"/>
              </a:rPr>
              <a:t> </a:t>
            </a:r>
          </a:p>
        </p:txBody>
      </p:sp>
      <p:graphicFrame>
        <p:nvGraphicFramePr>
          <p:cNvPr id="368647" name="Object 7"/>
          <p:cNvGraphicFramePr>
            <a:graphicFrameLocks noChangeAspect="1"/>
          </p:cNvGraphicFramePr>
          <p:nvPr/>
        </p:nvGraphicFramePr>
        <p:xfrm>
          <a:off x="3421507" y="4198938"/>
          <a:ext cx="1103313" cy="355600"/>
        </p:xfrm>
        <a:graphic>
          <a:graphicData uri="http://schemas.openxmlformats.org/presentationml/2006/ole">
            <mc:AlternateContent xmlns:mc="http://schemas.openxmlformats.org/markup-compatibility/2006">
              <mc:Choice xmlns:v="urn:schemas-microsoft-com:vml" Requires="v">
                <p:oleObj spid="_x0000_s368651" name="Equation" r:id="rId10" imgW="711000" imgH="228600" progId="Equation.DSMT4">
                  <p:embed/>
                </p:oleObj>
              </mc:Choice>
              <mc:Fallback>
                <p:oleObj name="Equation" r:id="rId10" imgW="711000" imgH="22860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1507" y="4198938"/>
                        <a:ext cx="1103313"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8644"/>
                                        </p:tgtEl>
                                        <p:attrNameLst>
                                          <p:attrName>style.visibility</p:attrName>
                                        </p:attrNameLst>
                                      </p:cBhvr>
                                      <p:to>
                                        <p:strVal val="visible"/>
                                      </p:to>
                                    </p:set>
                                    <p:animEffect transition="in" filter="wipe(left)">
                                      <p:cBhvr>
                                        <p:cTn id="7" dur="500"/>
                                        <p:tgtEl>
                                          <p:spTgt spid="3686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68645"/>
                                        </p:tgtEl>
                                        <p:attrNameLst>
                                          <p:attrName>style.visibility</p:attrName>
                                        </p:attrNameLst>
                                      </p:cBhvr>
                                      <p:to>
                                        <p:strVal val="visible"/>
                                      </p:to>
                                    </p:set>
                                    <p:anim calcmode="lin" valueType="num">
                                      <p:cBhvr additive="base">
                                        <p:cTn id="18" dur="500" fill="hold"/>
                                        <p:tgtEl>
                                          <p:spTgt spid="368645"/>
                                        </p:tgtEl>
                                        <p:attrNameLst>
                                          <p:attrName>ppt_x</p:attrName>
                                        </p:attrNameLst>
                                      </p:cBhvr>
                                      <p:tavLst>
                                        <p:tav tm="0">
                                          <p:val>
                                            <p:strVal val="#ppt_x"/>
                                          </p:val>
                                        </p:tav>
                                        <p:tav tm="100000">
                                          <p:val>
                                            <p:strVal val="#ppt_x"/>
                                          </p:val>
                                        </p:tav>
                                      </p:tavLst>
                                    </p:anim>
                                    <p:anim calcmode="lin" valueType="num">
                                      <p:cBhvr additive="base">
                                        <p:cTn id="19" dur="500" fill="hold"/>
                                        <p:tgtEl>
                                          <p:spTgt spid="36864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68646"/>
                                        </p:tgtEl>
                                        <p:attrNameLst>
                                          <p:attrName>style.visibility</p:attrName>
                                        </p:attrNameLst>
                                      </p:cBhvr>
                                      <p:to>
                                        <p:strVal val="visible"/>
                                      </p:to>
                                    </p:set>
                                    <p:animEffect transition="in" filter="wipe(left)">
                                      <p:cBhvr>
                                        <p:cTn id="24" dur="2000"/>
                                        <p:tgtEl>
                                          <p:spTgt spid="36864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0-#ppt_w/2"/>
                                          </p:val>
                                        </p:tav>
                                        <p:tav tm="100000">
                                          <p:val>
                                            <p:strVal val="#ppt_x"/>
                                          </p:val>
                                        </p:tav>
                                      </p:tavLst>
                                    </p:anim>
                                    <p:anim calcmode="lin" valueType="num">
                                      <p:cBhvr additive="base">
                                        <p:cTn id="3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68647"/>
                                        </p:tgtEl>
                                        <p:attrNameLst>
                                          <p:attrName>style.visibility</p:attrName>
                                        </p:attrNameLst>
                                      </p:cBhvr>
                                      <p:to>
                                        <p:strVal val="visible"/>
                                      </p:to>
                                    </p:set>
                                    <p:anim calcmode="lin" valueType="num">
                                      <p:cBhvr additive="base">
                                        <p:cTn id="35" dur="500" fill="hold"/>
                                        <p:tgtEl>
                                          <p:spTgt spid="368647"/>
                                        </p:tgtEl>
                                        <p:attrNameLst>
                                          <p:attrName>ppt_x</p:attrName>
                                        </p:attrNameLst>
                                      </p:cBhvr>
                                      <p:tavLst>
                                        <p:tav tm="0">
                                          <p:val>
                                            <p:strVal val="#ppt_x"/>
                                          </p:val>
                                        </p:tav>
                                        <p:tav tm="100000">
                                          <p:val>
                                            <p:strVal val="#ppt_x"/>
                                          </p:val>
                                        </p:tav>
                                      </p:tavLst>
                                    </p:anim>
                                    <p:anim calcmode="lin" valueType="num">
                                      <p:cBhvr additive="base">
                                        <p:cTn id="36" dur="500" fill="hold"/>
                                        <p:tgtEl>
                                          <p:spTgt spid="3686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r>
              <a:rPr lang="zh-CN" altLang="en-US"/>
              <a:t>刚体体系的虚功原理</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基本概念</a:t>
            </a:r>
            <a:endParaRPr lang="en-US" altLang="zh-CN" sz="2000" b="1"/>
          </a:p>
        </p:txBody>
      </p:sp>
      <p:sp>
        <p:nvSpPr>
          <p:cNvPr id="75" name="Rectangle 6"/>
          <p:cNvSpPr>
            <a:spLocks noChangeArrowheads="1"/>
          </p:cNvSpPr>
          <p:nvPr/>
        </p:nvSpPr>
        <p:spPr bwMode="auto">
          <a:xfrm>
            <a:off x="469540" y="3453384"/>
            <a:ext cx="7960112" cy="495713"/>
          </a:xfrm>
          <a:prstGeom prst="rect">
            <a:avLst/>
          </a:prstGeom>
          <a:noFill/>
          <a:ln w="9525">
            <a:noFill/>
            <a:miter lim="800000"/>
            <a:headEnd/>
            <a:tailEnd/>
          </a:ln>
        </p:spPr>
        <p:txBody>
          <a:bodyPr wrap="square">
            <a:spAutoFit/>
          </a:bodyPr>
          <a:lstStyle/>
          <a:p>
            <a:pPr marL="342900" lvl="1" indent="-342900" fontAlgn="base">
              <a:lnSpc>
                <a:spcPct val="120000"/>
              </a:lnSpc>
              <a:spcBef>
                <a:spcPct val="20000"/>
              </a:spcBef>
              <a:spcAft>
                <a:spcPct val="0"/>
              </a:spcAft>
              <a:buFont typeface="Wingdings" pitchFamily="2" charset="2"/>
              <a:buChar char="n"/>
            </a:pPr>
            <a:r>
              <a:rPr lang="zh-CN" altLang="en-US" sz="2400" b="1">
                <a:solidFill>
                  <a:srgbClr val="C00000"/>
                </a:solidFill>
              </a:rPr>
              <a:t>单位荷载法求刚体体系位移</a:t>
            </a:r>
            <a:endParaRPr lang="en-US" altLang="zh-CN" sz="2400" b="1">
              <a:solidFill>
                <a:srgbClr val="C00000"/>
              </a:solidFill>
            </a:endParaRPr>
          </a:p>
        </p:txBody>
      </p:sp>
      <p:grpSp>
        <p:nvGrpSpPr>
          <p:cNvPr id="21" name="组合 20"/>
          <p:cNvGrpSpPr/>
          <p:nvPr/>
        </p:nvGrpSpPr>
        <p:grpSpPr>
          <a:xfrm>
            <a:off x="1142976" y="1892227"/>
            <a:ext cx="6715172" cy="1679649"/>
            <a:chOff x="1142976" y="1892227"/>
            <a:chExt cx="6715172" cy="1679649"/>
          </a:xfrm>
        </p:grpSpPr>
        <p:grpSp>
          <p:nvGrpSpPr>
            <p:cNvPr id="4" name="组合 72"/>
            <p:cNvGrpSpPr/>
            <p:nvPr/>
          </p:nvGrpSpPr>
          <p:grpSpPr>
            <a:xfrm>
              <a:off x="1142976" y="1892227"/>
              <a:ext cx="6715172" cy="1426934"/>
              <a:chOff x="1142976" y="1892227"/>
              <a:chExt cx="6715172" cy="1426934"/>
            </a:xfrm>
          </p:grpSpPr>
          <p:sp>
            <p:nvSpPr>
              <p:cNvPr id="89" name="矩形 88"/>
              <p:cNvSpPr/>
              <p:nvPr/>
            </p:nvSpPr>
            <p:spPr>
              <a:xfrm>
                <a:off x="1142976" y="2428868"/>
                <a:ext cx="1571636" cy="461665"/>
              </a:xfrm>
              <a:prstGeom prst="rect">
                <a:avLst/>
              </a:prstGeom>
              <a:ln w="28575">
                <a:solidFill>
                  <a:schemeClr val="tx1"/>
                </a:solidFill>
              </a:ln>
            </p:spPr>
            <p:txBody>
              <a:bodyPr wrap="square">
                <a:spAutoFit/>
              </a:bodyPr>
              <a:lstStyle/>
              <a:p>
                <a:pPr marL="0" lvl="1" algn="ctr" fontAlgn="base">
                  <a:lnSpc>
                    <a:spcPct val="120000"/>
                  </a:lnSpc>
                  <a:spcBef>
                    <a:spcPct val="20000"/>
                  </a:spcBef>
                  <a:spcAft>
                    <a:spcPct val="0"/>
                  </a:spcAft>
                </a:pPr>
                <a:r>
                  <a:rPr lang="zh-CN" altLang="en-US" sz="2000" b="1"/>
                  <a:t>虚功原理</a:t>
                </a:r>
                <a:endParaRPr lang="en-US" altLang="zh-CN" sz="2000" b="1"/>
              </a:p>
            </p:txBody>
          </p:sp>
          <p:sp>
            <p:nvSpPr>
              <p:cNvPr id="65" name="矩形 64"/>
              <p:cNvSpPr/>
              <p:nvPr/>
            </p:nvSpPr>
            <p:spPr>
              <a:xfrm>
                <a:off x="3214678" y="1928802"/>
                <a:ext cx="1571636" cy="461665"/>
              </a:xfrm>
              <a:prstGeom prst="rect">
                <a:avLst/>
              </a:prstGeom>
              <a:ln w="28575">
                <a:solidFill>
                  <a:schemeClr val="accent1"/>
                </a:solidFill>
              </a:ln>
            </p:spPr>
            <p:txBody>
              <a:bodyPr wrap="square">
                <a:spAutoFit/>
              </a:bodyPr>
              <a:lstStyle/>
              <a:p>
                <a:pPr marL="0" lvl="1" algn="ctr" fontAlgn="base">
                  <a:lnSpc>
                    <a:spcPct val="120000"/>
                  </a:lnSpc>
                  <a:spcBef>
                    <a:spcPct val="20000"/>
                  </a:spcBef>
                  <a:spcAft>
                    <a:spcPct val="0"/>
                  </a:spcAft>
                </a:pPr>
                <a:r>
                  <a:rPr lang="zh-CN" altLang="en-US" sz="2000" b="1">
                    <a:solidFill>
                      <a:schemeClr val="bg1">
                        <a:lumMod val="50000"/>
                      </a:schemeClr>
                    </a:solidFill>
                  </a:rPr>
                  <a:t>虚位移原理</a:t>
                </a:r>
                <a:endParaRPr lang="en-US" altLang="zh-CN" sz="2000" b="1">
                  <a:solidFill>
                    <a:schemeClr val="bg1">
                      <a:lumMod val="50000"/>
                    </a:schemeClr>
                  </a:solidFill>
                </a:endParaRPr>
              </a:p>
            </p:txBody>
          </p:sp>
          <p:sp>
            <p:nvSpPr>
              <p:cNvPr id="67" name="矩形 66"/>
              <p:cNvSpPr/>
              <p:nvPr/>
            </p:nvSpPr>
            <p:spPr>
              <a:xfrm>
                <a:off x="4786314" y="1892227"/>
                <a:ext cx="3071834" cy="428451"/>
              </a:xfrm>
              <a:prstGeom prst="rect">
                <a:avLst/>
              </a:prstGeom>
              <a:ln w="28575">
                <a:noFill/>
              </a:ln>
            </p:spPr>
            <p:txBody>
              <a:bodyPr wrap="square">
                <a:spAutoFit/>
              </a:bodyPr>
              <a:lstStyle/>
              <a:p>
                <a:pPr marL="0" lvl="1" fontAlgn="base">
                  <a:lnSpc>
                    <a:spcPct val="120000"/>
                  </a:lnSpc>
                  <a:spcBef>
                    <a:spcPct val="20000"/>
                  </a:spcBef>
                  <a:spcAft>
                    <a:spcPct val="0"/>
                  </a:spcAft>
                </a:pPr>
                <a:r>
                  <a:rPr lang="zh-CN" altLang="en-US" sz="2000" b="1"/>
                  <a:t>：</a:t>
                </a:r>
                <a:r>
                  <a:rPr lang="zh-CN" altLang="en-US" sz="2000" b="1">
                    <a:solidFill>
                      <a:schemeClr val="bg1">
                        <a:lumMod val="50000"/>
                      </a:schemeClr>
                    </a:solidFill>
                  </a:rPr>
                  <a:t>虚设位移，求未知力</a:t>
                </a:r>
                <a:endParaRPr lang="en-US" altLang="zh-CN" sz="2000" b="1">
                  <a:solidFill>
                    <a:schemeClr val="bg1">
                      <a:lumMod val="50000"/>
                    </a:schemeClr>
                  </a:solidFill>
                </a:endParaRPr>
              </a:p>
            </p:txBody>
          </p:sp>
          <p:sp>
            <p:nvSpPr>
              <p:cNvPr id="68" name="矩形 67"/>
              <p:cNvSpPr/>
              <p:nvPr/>
            </p:nvSpPr>
            <p:spPr>
              <a:xfrm>
                <a:off x="3214678" y="2857496"/>
                <a:ext cx="1571636" cy="461665"/>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000" b="1">
                    <a:solidFill>
                      <a:srgbClr val="C00000"/>
                    </a:solidFill>
                  </a:rPr>
                  <a:t>虚力原理</a:t>
                </a:r>
                <a:endParaRPr lang="en-US" altLang="zh-CN" sz="2000" b="1">
                  <a:solidFill>
                    <a:srgbClr val="C00000"/>
                  </a:solidFill>
                </a:endParaRPr>
              </a:p>
            </p:txBody>
          </p:sp>
          <p:sp>
            <p:nvSpPr>
              <p:cNvPr id="69" name="矩形 68"/>
              <p:cNvSpPr/>
              <p:nvPr/>
            </p:nvSpPr>
            <p:spPr>
              <a:xfrm>
                <a:off x="4786314" y="2833289"/>
                <a:ext cx="3071834" cy="428451"/>
              </a:xfrm>
              <a:prstGeom prst="rect">
                <a:avLst/>
              </a:prstGeom>
              <a:ln w="28575">
                <a:noFill/>
              </a:ln>
            </p:spPr>
            <p:txBody>
              <a:bodyPr wrap="square">
                <a:spAutoFit/>
              </a:bodyPr>
              <a:lstStyle/>
              <a:p>
                <a:pPr marL="0" lvl="1" fontAlgn="base">
                  <a:lnSpc>
                    <a:spcPct val="120000"/>
                  </a:lnSpc>
                  <a:spcBef>
                    <a:spcPct val="20000"/>
                  </a:spcBef>
                  <a:spcAft>
                    <a:spcPct val="0"/>
                  </a:spcAft>
                </a:pPr>
                <a:r>
                  <a:rPr lang="zh-CN" altLang="en-US" sz="2000" b="1">
                    <a:solidFill>
                      <a:schemeClr val="bg1">
                        <a:lumMod val="50000"/>
                      </a:schemeClr>
                    </a:solidFill>
                  </a:rPr>
                  <a:t>：</a:t>
                </a:r>
                <a:r>
                  <a:rPr lang="zh-CN" altLang="en-US" sz="2000" b="1">
                    <a:solidFill>
                      <a:srgbClr val="C00000"/>
                    </a:solidFill>
                  </a:rPr>
                  <a:t>虚设力系，求位移</a:t>
                </a:r>
                <a:endParaRPr lang="en-US" altLang="zh-CN" sz="2000" b="1">
                  <a:solidFill>
                    <a:srgbClr val="C00000"/>
                  </a:solidFill>
                </a:endParaRPr>
              </a:p>
            </p:txBody>
          </p:sp>
          <p:sp>
            <p:nvSpPr>
              <p:cNvPr id="72" name="左大括号 71"/>
              <p:cNvSpPr/>
              <p:nvPr/>
            </p:nvSpPr>
            <p:spPr bwMode="auto">
              <a:xfrm>
                <a:off x="2928926" y="2143116"/>
                <a:ext cx="142876" cy="1071570"/>
              </a:xfrm>
              <a:prstGeom prst="leftBrac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6" name="TextBox 15"/>
            <p:cNvSpPr txBox="1"/>
            <p:nvPr/>
          </p:nvSpPr>
          <p:spPr>
            <a:xfrm>
              <a:off x="5072066" y="2296470"/>
              <a:ext cx="1338828" cy="369332"/>
            </a:xfrm>
            <a:prstGeom prst="rect">
              <a:avLst/>
            </a:prstGeom>
            <a:noFill/>
            <a:ln w="28575">
              <a:noFill/>
            </a:ln>
          </p:spPr>
          <p:txBody>
            <a:bodyPr wrap="none" rtlCol="0">
              <a:spAutoFit/>
            </a:bodyPr>
            <a:lstStyle/>
            <a:p>
              <a:r>
                <a:rPr lang="zh-CN" altLang="en-US" b="1">
                  <a:solidFill>
                    <a:schemeClr val="bg1">
                      <a:lumMod val="50000"/>
                    </a:schemeClr>
                  </a:solidFill>
                </a:rPr>
                <a:t>单位位移法</a:t>
              </a:r>
            </a:p>
          </p:txBody>
        </p:sp>
        <p:sp>
          <p:nvSpPr>
            <p:cNvPr id="17" name="TextBox 16"/>
            <p:cNvSpPr txBox="1"/>
            <p:nvPr/>
          </p:nvSpPr>
          <p:spPr>
            <a:xfrm>
              <a:off x="5072066" y="3202544"/>
              <a:ext cx="1338828" cy="369332"/>
            </a:xfrm>
            <a:prstGeom prst="rect">
              <a:avLst/>
            </a:prstGeom>
            <a:noFill/>
            <a:ln w="28575">
              <a:noFill/>
            </a:ln>
          </p:spPr>
          <p:txBody>
            <a:bodyPr wrap="none" rtlCol="0">
              <a:spAutoFit/>
            </a:bodyPr>
            <a:lstStyle/>
            <a:p>
              <a:r>
                <a:rPr lang="zh-CN" altLang="en-US" b="1">
                  <a:solidFill>
                    <a:srgbClr val="0033CC"/>
                  </a:solidFill>
                </a:rPr>
                <a:t>单位荷载法</a:t>
              </a:r>
            </a:p>
          </p:txBody>
        </p:sp>
      </p:grpSp>
      <p:sp>
        <p:nvSpPr>
          <p:cNvPr id="19" name="Rectangle 6"/>
          <p:cNvSpPr>
            <a:spLocks noChangeArrowheads="1"/>
          </p:cNvSpPr>
          <p:nvPr/>
        </p:nvSpPr>
        <p:spPr bwMode="auto">
          <a:xfrm>
            <a:off x="465172" y="3929066"/>
            <a:ext cx="4606894" cy="1569660"/>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历史沿革</a:t>
            </a:r>
            <a:endParaRPr lang="en-US" altLang="zh-CN" sz="2000" b="1"/>
          </a:p>
          <a:p>
            <a:pPr marL="742950" lvl="1" indent="-285750" fontAlgn="base">
              <a:lnSpc>
                <a:spcPct val="120000"/>
              </a:lnSpc>
              <a:spcAft>
                <a:spcPct val="0"/>
              </a:spcAft>
            </a:pPr>
            <a:r>
              <a:rPr lang="en-US" altLang="zh-CN" sz="2000" b="1"/>
              <a:t>    </a:t>
            </a:r>
            <a:r>
              <a:rPr lang="zh-CN" altLang="en-US" sz="2000" b="1"/>
              <a:t>最早由 </a:t>
            </a:r>
            <a:r>
              <a:rPr lang="en-US" altLang="zh-CN" sz="2000" b="1"/>
              <a:t>Maxwell (1864) </a:t>
            </a:r>
            <a:r>
              <a:rPr lang="zh-CN" altLang="en-US" sz="2000" b="1"/>
              <a:t>和</a:t>
            </a:r>
            <a:r>
              <a:rPr lang="en-US" altLang="zh-CN" sz="2000" b="1"/>
              <a:t>Mohr (1874) </a:t>
            </a:r>
            <a:r>
              <a:rPr lang="zh-CN" altLang="en-US" sz="2000" b="1"/>
              <a:t>提出，故也称为</a:t>
            </a:r>
            <a:r>
              <a:rPr lang="en-US" altLang="zh-CN" sz="2000" b="1"/>
              <a:t>Maxwell-Mohr</a:t>
            </a:r>
            <a:r>
              <a:rPr lang="zh-CN" altLang="en-US" sz="2000" b="1"/>
              <a:t>法</a:t>
            </a:r>
            <a:endParaRPr lang="en-US" altLang="zh-CN" sz="2000" b="1"/>
          </a:p>
        </p:txBody>
      </p:sp>
      <p:grpSp>
        <p:nvGrpSpPr>
          <p:cNvPr id="27" name="组合 26"/>
          <p:cNvGrpSpPr/>
          <p:nvPr/>
        </p:nvGrpSpPr>
        <p:grpSpPr>
          <a:xfrm>
            <a:off x="5214942" y="3929066"/>
            <a:ext cx="3500462" cy="2524664"/>
            <a:chOff x="5214942" y="3929066"/>
            <a:chExt cx="3500462" cy="2524664"/>
          </a:xfrm>
        </p:grpSpPr>
        <p:pic>
          <p:nvPicPr>
            <p:cNvPr id="344065" name="Picture 1"/>
            <p:cNvPicPr>
              <a:picLocks noChangeAspect="1" noChangeArrowheads="1"/>
            </p:cNvPicPr>
            <p:nvPr/>
          </p:nvPicPr>
          <p:blipFill>
            <a:blip r:embed="rId3"/>
            <a:srcRect/>
            <a:stretch>
              <a:fillRect/>
            </a:stretch>
          </p:blipFill>
          <p:spPr bwMode="auto">
            <a:xfrm>
              <a:off x="5214942" y="3929066"/>
              <a:ext cx="1645735" cy="2143140"/>
            </a:xfrm>
            <a:prstGeom prst="rect">
              <a:avLst/>
            </a:prstGeom>
            <a:noFill/>
            <a:ln w="9525">
              <a:noFill/>
              <a:miter lim="800000"/>
              <a:headEnd/>
              <a:tailEnd/>
            </a:ln>
            <a:effectLst/>
          </p:spPr>
        </p:pic>
        <p:pic>
          <p:nvPicPr>
            <p:cNvPr id="344067" name="Picture 3" descr="https://upload.wikimedia.org/wikipedia/commons/1/1c/Otto_Mohr.JPG"/>
            <p:cNvPicPr>
              <a:picLocks noChangeAspect="1" noChangeArrowheads="1"/>
            </p:cNvPicPr>
            <p:nvPr/>
          </p:nvPicPr>
          <p:blipFill>
            <a:blip r:embed="rId4"/>
            <a:srcRect/>
            <a:stretch>
              <a:fillRect/>
            </a:stretch>
          </p:blipFill>
          <p:spPr bwMode="auto">
            <a:xfrm>
              <a:off x="7143768" y="3929066"/>
              <a:ext cx="1571636" cy="2170354"/>
            </a:xfrm>
            <a:prstGeom prst="rect">
              <a:avLst/>
            </a:prstGeom>
            <a:noFill/>
          </p:spPr>
        </p:pic>
        <p:sp>
          <p:nvSpPr>
            <p:cNvPr id="23" name="矩形 22"/>
            <p:cNvSpPr/>
            <p:nvPr/>
          </p:nvSpPr>
          <p:spPr>
            <a:xfrm>
              <a:off x="5572132" y="6072206"/>
              <a:ext cx="1069524" cy="369332"/>
            </a:xfrm>
            <a:prstGeom prst="rect">
              <a:avLst/>
            </a:prstGeom>
          </p:spPr>
          <p:txBody>
            <a:bodyPr wrap="none">
              <a:spAutoFit/>
            </a:bodyPr>
            <a:lstStyle/>
            <a:p>
              <a:r>
                <a:rPr lang="en-US" altLang="zh-CN" b="1"/>
                <a:t>Maxwell</a:t>
              </a:r>
              <a:endParaRPr lang="zh-CN" altLang="en-US"/>
            </a:p>
          </p:txBody>
        </p:sp>
        <p:sp>
          <p:nvSpPr>
            <p:cNvPr id="25" name="矩形 24"/>
            <p:cNvSpPr/>
            <p:nvPr/>
          </p:nvSpPr>
          <p:spPr>
            <a:xfrm>
              <a:off x="7535820" y="6084398"/>
              <a:ext cx="813043" cy="369332"/>
            </a:xfrm>
            <a:prstGeom prst="rect">
              <a:avLst/>
            </a:prstGeom>
          </p:spPr>
          <p:txBody>
            <a:bodyPr wrap="none">
              <a:spAutoFit/>
            </a:bodyPr>
            <a:lstStyle/>
            <a:p>
              <a:r>
                <a:rPr lang="en-US" altLang="zh-CN" b="1"/>
                <a:t>Mohr </a:t>
              </a:r>
              <a:endParaRPr lang="zh-CN" altLang="en-US"/>
            </a:p>
          </p:txBody>
        </p:sp>
      </p:grpSp>
      <p:sp>
        <p:nvSpPr>
          <p:cNvPr id="26" name="矩形 25"/>
          <p:cNvSpPr/>
          <p:nvPr/>
        </p:nvSpPr>
        <p:spPr>
          <a:xfrm>
            <a:off x="1214414" y="5711627"/>
            <a:ext cx="3980577" cy="646331"/>
          </a:xfrm>
          <a:prstGeom prst="rect">
            <a:avLst/>
          </a:prstGeom>
        </p:spPr>
        <p:txBody>
          <a:bodyPr wrap="none">
            <a:spAutoFit/>
          </a:bodyPr>
          <a:lstStyle/>
          <a:p>
            <a:r>
              <a:rPr lang="en-US" altLang="zh-CN" b="1"/>
              <a:t>Mohr</a:t>
            </a:r>
            <a:r>
              <a:rPr lang="zh-CN" altLang="en-US" b="1"/>
              <a:t>：莫尔应力圆、莫尔强度理论；</a:t>
            </a:r>
            <a:endParaRPr lang="en-US" altLang="zh-CN" b="1"/>
          </a:p>
          <a:p>
            <a:r>
              <a:rPr lang="en-US" altLang="zh-CN" b="1"/>
              <a:t>             </a:t>
            </a:r>
            <a:r>
              <a:rPr lang="zh-CN" altLang="en-US" b="1"/>
              <a:t>莫尔</a:t>
            </a:r>
            <a:r>
              <a:rPr lang="en-US" altLang="zh-CN" b="1"/>
              <a:t>-</a:t>
            </a:r>
            <a:r>
              <a:rPr lang="zh-CN" altLang="en-US" b="1"/>
              <a:t>库伦定律；</a:t>
            </a:r>
            <a:r>
              <a:rPr lang="en-US" altLang="zh-CN" b="1"/>
              <a:t> </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additive="base">
                                        <p:cTn id="12" dur="500" fill="hold"/>
                                        <p:tgtEl>
                                          <p:spTgt spid="75"/>
                                        </p:tgtEl>
                                        <p:attrNameLst>
                                          <p:attrName>ppt_x</p:attrName>
                                        </p:attrNameLst>
                                      </p:cBhvr>
                                      <p:tavLst>
                                        <p:tav tm="0">
                                          <p:val>
                                            <p:strVal val="#ppt_x"/>
                                          </p:val>
                                        </p:tav>
                                        <p:tav tm="100000">
                                          <p:val>
                                            <p:strVal val="#ppt_x"/>
                                          </p:val>
                                        </p:tav>
                                      </p:tavLst>
                                    </p:anim>
                                    <p:anim calcmode="lin" valueType="num">
                                      <p:cBhvr additive="base">
                                        <p:cTn id="1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ppt_x"/>
                                          </p:val>
                                        </p:tav>
                                        <p:tav tm="100000">
                                          <p:val>
                                            <p:strVal val="#ppt_x"/>
                                          </p:val>
                                        </p:tav>
                                      </p:tavLst>
                                    </p:anim>
                                    <p:anim calcmode="lin" valueType="num">
                                      <p:cBhvr additive="base">
                                        <p:cTn id="1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ppt_x"/>
                                          </p:val>
                                        </p:tav>
                                        <p:tav tm="100000">
                                          <p:val>
                                            <p:strVal val="#ppt_x"/>
                                          </p:val>
                                        </p:tav>
                                      </p:tavLst>
                                    </p:anim>
                                    <p:anim calcmode="lin" valueType="num">
                                      <p:cBhvr additive="base">
                                        <p:cTn id="2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ppt_x"/>
                                          </p:val>
                                        </p:tav>
                                        <p:tav tm="100000">
                                          <p:val>
                                            <p:strVal val="#ppt_x"/>
                                          </p:val>
                                        </p:tav>
                                      </p:tavLst>
                                    </p:anim>
                                    <p:anim calcmode="lin" valueType="num">
                                      <p:cBhvr additive="base">
                                        <p:cTn id="3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9"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单位荷载法求刚体体系位移</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虚力原理</a:t>
            </a:r>
            <a:endParaRPr lang="en-US" altLang="zh-CN" sz="2000" b="1"/>
          </a:p>
        </p:txBody>
      </p:sp>
      <p:grpSp>
        <p:nvGrpSpPr>
          <p:cNvPr id="27" name="组合 26"/>
          <p:cNvGrpSpPr/>
          <p:nvPr/>
        </p:nvGrpSpPr>
        <p:grpSpPr>
          <a:xfrm>
            <a:off x="6643702" y="1493382"/>
            <a:ext cx="2308152" cy="2747695"/>
            <a:chOff x="6643702" y="1824313"/>
            <a:chExt cx="2308152" cy="2747695"/>
          </a:xfrm>
        </p:grpSpPr>
        <p:grpSp>
          <p:nvGrpSpPr>
            <p:cNvPr id="28" name="组合 133"/>
            <p:cNvGrpSpPr/>
            <p:nvPr/>
          </p:nvGrpSpPr>
          <p:grpSpPr>
            <a:xfrm>
              <a:off x="6643702" y="2611229"/>
              <a:ext cx="1726773" cy="1960779"/>
              <a:chOff x="6748191" y="2065555"/>
              <a:chExt cx="1726773" cy="1960779"/>
            </a:xfrm>
          </p:grpSpPr>
          <p:grpSp>
            <p:nvGrpSpPr>
              <p:cNvPr id="45" name="组合 106"/>
              <p:cNvGrpSpPr/>
              <p:nvPr/>
            </p:nvGrpSpPr>
            <p:grpSpPr>
              <a:xfrm>
                <a:off x="7572396" y="3725769"/>
                <a:ext cx="361401" cy="300565"/>
                <a:chOff x="7643834" y="4067869"/>
                <a:chExt cx="361401" cy="300565"/>
              </a:xfrm>
            </p:grpSpPr>
            <p:cxnSp>
              <p:nvCxnSpPr>
                <p:cNvPr id="78" name="直接连接符 77"/>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79" name="组合 269"/>
                <p:cNvGrpSpPr/>
                <p:nvPr/>
              </p:nvGrpSpPr>
              <p:grpSpPr>
                <a:xfrm>
                  <a:off x="7643834" y="4214818"/>
                  <a:ext cx="361401" cy="153616"/>
                  <a:chOff x="1643042" y="5844831"/>
                  <a:chExt cx="361401" cy="153616"/>
                </a:xfrm>
              </p:grpSpPr>
              <p:grpSp>
                <p:nvGrpSpPr>
                  <p:cNvPr id="80" name="组合 140"/>
                  <p:cNvGrpSpPr/>
                  <p:nvPr/>
                </p:nvGrpSpPr>
                <p:grpSpPr>
                  <a:xfrm>
                    <a:off x="1643042" y="5905252"/>
                    <a:ext cx="361401" cy="93195"/>
                    <a:chOff x="4732013" y="5229182"/>
                    <a:chExt cx="361401" cy="93195"/>
                  </a:xfrm>
                </p:grpSpPr>
                <p:cxnSp>
                  <p:nvCxnSpPr>
                    <p:cNvPr id="82" name="直接连接符 81"/>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83" name="直接连接符 82"/>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4" name="直接连接符 83"/>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5" name="直接连接符 84"/>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6" name="直接连接符 85"/>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81" name="椭圆 80"/>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46" name="组合 107"/>
              <p:cNvGrpSpPr/>
              <p:nvPr/>
            </p:nvGrpSpPr>
            <p:grpSpPr>
              <a:xfrm>
                <a:off x="6892192" y="2956304"/>
                <a:ext cx="361401" cy="300565"/>
                <a:chOff x="7643834" y="4067869"/>
                <a:chExt cx="361401" cy="300565"/>
              </a:xfrm>
            </p:grpSpPr>
            <p:cxnSp>
              <p:nvCxnSpPr>
                <p:cNvPr id="63" name="直接连接符 62"/>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64" name="组合 269"/>
                <p:cNvGrpSpPr/>
                <p:nvPr/>
              </p:nvGrpSpPr>
              <p:grpSpPr>
                <a:xfrm>
                  <a:off x="7643834" y="4214818"/>
                  <a:ext cx="361401" cy="153616"/>
                  <a:chOff x="1643042" y="5844831"/>
                  <a:chExt cx="361401" cy="153616"/>
                </a:xfrm>
              </p:grpSpPr>
              <p:grpSp>
                <p:nvGrpSpPr>
                  <p:cNvPr id="66" name="组合 140"/>
                  <p:cNvGrpSpPr/>
                  <p:nvPr/>
                </p:nvGrpSpPr>
                <p:grpSpPr>
                  <a:xfrm>
                    <a:off x="1643042" y="5905252"/>
                    <a:ext cx="361401" cy="93195"/>
                    <a:chOff x="4732013" y="5229182"/>
                    <a:chExt cx="361401" cy="93195"/>
                  </a:xfrm>
                </p:grpSpPr>
                <p:cxnSp>
                  <p:nvCxnSpPr>
                    <p:cNvPr id="71" name="直接连接符 70"/>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73" name="直接连接符 72"/>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4" name="直接连接符 73"/>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6" name="直接连接符 75"/>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7" name="直接连接符 76"/>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70" name="椭圆 69"/>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47" name="组合 118"/>
              <p:cNvGrpSpPr/>
              <p:nvPr/>
            </p:nvGrpSpPr>
            <p:grpSpPr>
              <a:xfrm rot="5400000">
                <a:off x="6717773" y="2740827"/>
                <a:ext cx="361401" cy="300565"/>
                <a:chOff x="7643834" y="4067869"/>
                <a:chExt cx="361401" cy="300565"/>
              </a:xfrm>
            </p:grpSpPr>
            <p:cxnSp>
              <p:nvCxnSpPr>
                <p:cNvPr id="54" name="直接连接符 53"/>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55" name="组合 269"/>
                <p:cNvGrpSpPr/>
                <p:nvPr/>
              </p:nvGrpSpPr>
              <p:grpSpPr>
                <a:xfrm>
                  <a:off x="7643834" y="4214818"/>
                  <a:ext cx="361401" cy="153616"/>
                  <a:chOff x="1643042" y="5844831"/>
                  <a:chExt cx="361401" cy="153616"/>
                </a:xfrm>
              </p:grpSpPr>
              <p:grpSp>
                <p:nvGrpSpPr>
                  <p:cNvPr id="56" name="组合 140"/>
                  <p:cNvGrpSpPr/>
                  <p:nvPr/>
                </p:nvGrpSpPr>
                <p:grpSpPr>
                  <a:xfrm>
                    <a:off x="1643042" y="5905252"/>
                    <a:ext cx="361401" cy="93195"/>
                    <a:chOff x="4732013" y="5229182"/>
                    <a:chExt cx="361401" cy="93195"/>
                  </a:xfrm>
                </p:grpSpPr>
                <p:cxnSp>
                  <p:nvCxnSpPr>
                    <p:cNvPr id="58" name="直接连接符 57"/>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59" name="直接连接符 58"/>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0" name="直接连接符 59"/>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1" name="直接连接符 60"/>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2" name="直接连接符 61"/>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57" name="椭圆 56"/>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48" name="组合 81"/>
              <p:cNvGrpSpPr/>
              <p:nvPr/>
            </p:nvGrpSpPr>
            <p:grpSpPr>
              <a:xfrm>
                <a:off x="7043755" y="2065555"/>
                <a:ext cx="1431209" cy="1664709"/>
                <a:chOff x="7043755" y="2065555"/>
                <a:chExt cx="1431209" cy="1664709"/>
              </a:xfrm>
            </p:grpSpPr>
            <p:sp>
              <p:nvSpPr>
                <p:cNvPr id="49" name="菱形 48"/>
                <p:cNvSpPr/>
                <p:nvPr/>
              </p:nvSpPr>
              <p:spPr bwMode="auto">
                <a:xfrm>
                  <a:off x="7072330" y="2071678"/>
                  <a:ext cx="1357322" cy="1643074"/>
                </a:xfrm>
                <a:prstGeom prst="diamond">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50" name="椭圆 49"/>
                <p:cNvSpPr>
                  <a:spLocks noChangeAspect="1"/>
                </p:cNvSpPr>
                <p:nvPr/>
              </p:nvSpPr>
              <p:spPr bwMode="auto">
                <a:xfrm>
                  <a:off x="7702209" y="2065555"/>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51" name="椭圆 50"/>
                <p:cNvSpPr>
                  <a:spLocks noChangeAspect="1"/>
                </p:cNvSpPr>
                <p:nvPr/>
              </p:nvSpPr>
              <p:spPr bwMode="auto">
                <a:xfrm>
                  <a:off x="7699760" y="363025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52" name="椭圆 51"/>
                <p:cNvSpPr>
                  <a:spLocks noChangeAspect="1"/>
                </p:cNvSpPr>
                <p:nvPr/>
              </p:nvSpPr>
              <p:spPr bwMode="auto">
                <a:xfrm>
                  <a:off x="7043755"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53" name="椭圆 52"/>
                <p:cNvSpPr>
                  <a:spLocks noChangeAspect="1"/>
                </p:cNvSpPr>
                <p:nvPr/>
              </p:nvSpPr>
              <p:spPr bwMode="auto">
                <a:xfrm>
                  <a:off x="8374951"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29" name="组合 154"/>
            <p:cNvGrpSpPr/>
            <p:nvPr/>
          </p:nvGrpSpPr>
          <p:grpSpPr>
            <a:xfrm>
              <a:off x="7022322" y="2500306"/>
              <a:ext cx="979307" cy="1699702"/>
              <a:chOff x="7022322" y="2214554"/>
              <a:chExt cx="979307" cy="1699702"/>
            </a:xfrm>
          </p:grpSpPr>
          <p:cxnSp>
            <p:nvCxnSpPr>
              <p:cNvPr id="42" name="直接连接符 41"/>
              <p:cNvCxnSpPr/>
              <p:nvPr/>
            </p:nvCxnSpPr>
            <p:spPr bwMode="auto">
              <a:xfrm rot="5400000" flipH="1" flipV="1">
                <a:off x="6733261" y="2503616"/>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43" name="直接连接符 42"/>
              <p:cNvCxnSpPr/>
              <p:nvPr/>
            </p:nvCxnSpPr>
            <p:spPr bwMode="auto">
              <a:xfrm rot="5400000" flipH="1" flipV="1">
                <a:off x="7376807" y="3289433"/>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44" name="直接连接符 43"/>
              <p:cNvCxnSpPr/>
              <p:nvPr/>
            </p:nvCxnSpPr>
            <p:spPr bwMode="auto">
              <a:xfrm rot="16200000" flipV="1">
                <a:off x="7286644" y="2285992"/>
                <a:ext cx="785818" cy="642942"/>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grpSp>
          <p:nvGrpSpPr>
            <p:cNvPr id="30" name="组合 166"/>
            <p:cNvGrpSpPr/>
            <p:nvPr/>
          </p:nvGrpSpPr>
          <p:grpSpPr>
            <a:xfrm>
              <a:off x="7643834" y="1824313"/>
              <a:ext cx="1308020" cy="1676125"/>
              <a:chOff x="7643834" y="1824313"/>
              <a:chExt cx="1308020" cy="1676125"/>
            </a:xfrm>
          </p:grpSpPr>
          <p:grpSp>
            <p:nvGrpSpPr>
              <p:cNvPr id="36" name="组合 160"/>
              <p:cNvGrpSpPr/>
              <p:nvPr/>
            </p:nvGrpSpPr>
            <p:grpSpPr>
              <a:xfrm>
                <a:off x="7643834" y="1824313"/>
                <a:ext cx="1143008" cy="1645760"/>
                <a:chOff x="7643834" y="1538561"/>
                <a:chExt cx="1143008" cy="1645760"/>
              </a:xfrm>
            </p:grpSpPr>
            <p:grpSp>
              <p:nvGrpSpPr>
                <p:cNvPr id="38" name="组合 137"/>
                <p:cNvGrpSpPr/>
                <p:nvPr/>
              </p:nvGrpSpPr>
              <p:grpSpPr>
                <a:xfrm>
                  <a:off x="7643834" y="1682535"/>
                  <a:ext cx="1143008" cy="1501786"/>
                  <a:chOff x="7643834" y="1285860"/>
                  <a:chExt cx="1143008" cy="1501786"/>
                </a:xfrm>
              </p:grpSpPr>
              <p:cxnSp>
                <p:nvCxnSpPr>
                  <p:cNvPr id="40" name="直接箭头连接符 39"/>
                  <p:cNvCxnSpPr/>
                  <p:nvPr/>
                </p:nvCxnSpPr>
                <p:spPr bwMode="auto">
                  <a:xfrm rot="10800000">
                    <a:off x="8358214" y="2786058"/>
                    <a:ext cx="428628"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1" name="直接箭头连接符 40"/>
                  <p:cNvCxnSpPr/>
                  <p:nvPr/>
                </p:nvCxnSpPr>
                <p:spPr bwMode="auto">
                  <a:xfrm rot="5400000">
                    <a:off x="7323157" y="1606537"/>
                    <a:ext cx="64294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39" name="TextBox 38"/>
                <p:cNvSpPr txBox="1"/>
                <p:nvPr/>
              </p:nvSpPr>
              <p:spPr>
                <a:xfrm>
                  <a:off x="7643834" y="1538561"/>
                  <a:ext cx="450764"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1</a:t>
                  </a:r>
                  <a:endParaRPr lang="zh-CN" altLang="en-US" sz="2000" b="1" baseline="-25000">
                    <a:solidFill>
                      <a:srgbClr val="C00000"/>
                    </a:solidFill>
                  </a:endParaRPr>
                </a:p>
              </p:txBody>
            </p:sp>
          </p:grpSp>
          <p:sp>
            <p:nvSpPr>
              <p:cNvPr id="37" name="TextBox 36"/>
              <p:cNvSpPr txBox="1"/>
              <p:nvPr/>
            </p:nvSpPr>
            <p:spPr>
              <a:xfrm>
                <a:off x="8501090" y="3100328"/>
                <a:ext cx="450764"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2</a:t>
                </a:r>
                <a:endParaRPr lang="zh-CN" altLang="en-US" sz="2000" b="1" baseline="-25000">
                  <a:solidFill>
                    <a:srgbClr val="C00000"/>
                  </a:solidFill>
                </a:endParaRPr>
              </a:p>
            </p:txBody>
          </p:sp>
        </p:grpSp>
        <p:grpSp>
          <p:nvGrpSpPr>
            <p:cNvPr id="31" name="组合 163"/>
            <p:cNvGrpSpPr/>
            <p:nvPr/>
          </p:nvGrpSpPr>
          <p:grpSpPr>
            <a:xfrm>
              <a:off x="7274822" y="2082695"/>
              <a:ext cx="1026864" cy="1603539"/>
              <a:chOff x="7274822" y="1796943"/>
              <a:chExt cx="1026864" cy="1603539"/>
            </a:xfrm>
          </p:grpSpPr>
          <p:cxnSp>
            <p:nvCxnSpPr>
              <p:cNvPr id="32" name="直接箭头连接符 31"/>
              <p:cNvCxnSpPr/>
              <p:nvPr/>
            </p:nvCxnSpPr>
            <p:spPr bwMode="auto">
              <a:xfrm rot="16200000" flipV="1">
                <a:off x="7414393" y="2136211"/>
                <a:ext cx="110923" cy="289645"/>
              </a:xfrm>
              <a:prstGeom prst="straightConnector1">
                <a:avLst/>
              </a:prstGeom>
              <a:solidFill>
                <a:schemeClr val="accent1"/>
              </a:solidFill>
              <a:ln w="38100" cap="flat" cmpd="sng" algn="ctr">
                <a:solidFill>
                  <a:srgbClr val="0033CC"/>
                </a:solidFill>
                <a:prstDash val="solid"/>
                <a:round/>
                <a:headEnd type="none" w="med" len="med"/>
                <a:tailEnd type="arrow"/>
              </a:ln>
              <a:effectLst/>
            </p:spPr>
          </p:cxnSp>
          <p:cxnSp>
            <p:nvCxnSpPr>
              <p:cNvPr id="33" name="直接箭头连接符 32"/>
              <p:cNvCxnSpPr/>
              <p:nvPr/>
            </p:nvCxnSpPr>
            <p:spPr bwMode="auto">
              <a:xfrm rot="16200000" flipV="1">
                <a:off x="8101402" y="2944062"/>
                <a:ext cx="110923" cy="289645"/>
              </a:xfrm>
              <a:prstGeom prst="straightConnector1">
                <a:avLst/>
              </a:prstGeom>
              <a:solidFill>
                <a:schemeClr val="accent1"/>
              </a:solidFill>
              <a:ln w="38100" cap="flat" cmpd="sng" algn="ctr">
                <a:solidFill>
                  <a:srgbClr val="0033CC"/>
                </a:solidFill>
                <a:prstDash val="solid"/>
                <a:round/>
                <a:headEnd type="none" w="med" len="med"/>
                <a:tailEnd type="arrow"/>
              </a:ln>
              <a:effectLst/>
            </p:spPr>
          </p:cxnSp>
          <p:sp>
            <p:nvSpPr>
              <p:cNvPr id="34" name="TextBox 33"/>
              <p:cNvSpPr txBox="1"/>
              <p:nvPr/>
            </p:nvSpPr>
            <p:spPr>
              <a:xfrm>
                <a:off x="7274822" y="1796943"/>
                <a:ext cx="369012"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1</a:t>
                </a:r>
              </a:p>
            </p:txBody>
          </p:sp>
          <p:sp>
            <p:nvSpPr>
              <p:cNvPr id="35" name="TextBox 34"/>
              <p:cNvSpPr txBox="1"/>
              <p:nvPr/>
            </p:nvSpPr>
            <p:spPr>
              <a:xfrm>
                <a:off x="7884713" y="3000372"/>
                <a:ext cx="369012"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2</a:t>
                </a:r>
              </a:p>
            </p:txBody>
          </p:sp>
        </p:grpSp>
      </p:grpSp>
      <p:sp>
        <p:nvSpPr>
          <p:cNvPr id="87" name="TextBox 86"/>
          <p:cNvSpPr txBox="1"/>
          <p:nvPr/>
        </p:nvSpPr>
        <p:spPr>
          <a:xfrm>
            <a:off x="6715140" y="4526829"/>
            <a:ext cx="1805302" cy="830997"/>
          </a:xfrm>
          <a:prstGeom prst="rect">
            <a:avLst/>
          </a:prstGeom>
          <a:noFill/>
          <a:ln w="28575">
            <a:noFill/>
          </a:ln>
        </p:spPr>
        <p:txBody>
          <a:bodyPr wrap="none" rtlCol="0">
            <a:spAutoFit/>
          </a:bodyPr>
          <a:lstStyle/>
          <a:p>
            <a:pPr>
              <a:lnSpc>
                <a:spcPct val="120000"/>
              </a:lnSpc>
            </a:pPr>
            <a:r>
              <a:rPr lang="zh-CN" altLang="en-US" sz="2000" b="1">
                <a:latin typeface="Times New Roman" pitchFamily="18" charset="0"/>
                <a:cs typeface="Times New Roman" pitchFamily="18" charset="0"/>
              </a:rPr>
              <a:t>刚体虚功方程</a:t>
            </a:r>
            <a:endParaRPr lang="en-US" altLang="zh-CN" sz="2000" b="1">
              <a:latin typeface="Times New Roman" pitchFamily="18" charset="0"/>
              <a:cs typeface="Times New Roman" pitchFamily="18" charset="0"/>
            </a:endParaRPr>
          </a:p>
          <a:p>
            <a:pPr>
              <a:lnSpc>
                <a:spcPct val="120000"/>
              </a:lnSpc>
            </a:pP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rPr>
              <a:t>1</a:t>
            </a:r>
            <a:r>
              <a:rPr lang="en-US" altLang="zh-CN" sz="2000" b="1" i="1">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1</a:t>
            </a:r>
            <a:r>
              <a:rPr lang="en-US" altLang="zh-CN" sz="2000" b="1" i="1">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 F</a:t>
            </a:r>
            <a:r>
              <a:rPr lang="en-US" altLang="zh-CN" sz="2000" b="1" baseline="-25000">
                <a:solidFill>
                  <a:srgbClr val="C00000"/>
                </a:solidFill>
              </a:rPr>
              <a:t>2</a:t>
            </a:r>
            <a:r>
              <a:rPr lang="en-US" altLang="zh-CN" sz="2000" b="1" i="1">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r</a:t>
            </a:r>
            <a:r>
              <a:rPr lang="en-US" altLang="zh-CN" sz="2000" b="1" baseline="-25000">
                <a:solidFill>
                  <a:srgbClr val="0033CC"/>
                </a:solidFill>
                <a:latin typeface="Times New Roman" pitchFamily="18" charset="0"/>
                <a:cs typeface="Times New Roman" pitchFamily="18" charset="0"/>
              </a:rPr>
              <a:t>2 </a:t>
            </a:r>
            <a:r>
              <a:rPr lang="en-US" altLang="zh-CN" sz="2000" b="1">
                <a:latin typeface="Times New Roman" pitchFamily="18" charset="0"/>
                <a:cs typeface="Times New Roman" pitchFamily="18" charset="0"/>
              </a:rPr>
              <a:t>= 0</a:t>
            </a:r>
            <a:endParaRPr lang="en-US" altLang="zh-CN" sz="2000" b="1" baseline="-25000">
              <a:solidFill>
                <a:srgbClr val="0033CC"/>
              </a:solidFill>
              <a:latin typeface="Times New Roman" pitchFamily="18" charset="0"/>
              <a:cs typeface="Times New Roman" pitchFamily="18" charset="0"/>
            </a:endParaRPr>
          </a:p>
        </p:txBody>
      </p:sp>
      <p:sp>
        <p:nvSpPr>
          <p:cNvPr id="88" name="Rectangle 6"/>
          <p:cNvSpPr>
            <a:spLocks noChangeArrowheads="1"/>
          </p:cNvSpPr>
          <p:nvPr/>
        </p:nvSpPr>
        <p:spPr bwMode="auto">
          <a:xfrm>
            <a:off x="2333038" y="1798118"/>
            <a:ext cx="4071966" cy="429092"/>
          </a:xfrm>
          <a:prstGeom prst="rect">
            <a:avLst/>
          </a:prstGeom>
          <a:noFill/>
          <a:ln w="9525">
            <a:noFill/>
            <a:miter lim="800000"/>
            <a:headEnd/>
            <a:tailEnd/>
          </a:ln>
        </p:spPr>
        <p:txBody>
          <a:bodyPr wrap="square">
            <a:spAutoFit/>
          </a:bodyPr>
          <a:lstStyle/>
          <a:p>
            <a:pPr marL="0" lvl="1" fontAlgn="base">
              <a:lnSpc>
                <a:spcPct val="120000"/>
              </a:lnSpc>
              <a:spcBef>
                <a:spcPct val="20000"/>
              </a:spcBef>
              <a:spcAft>
                <a:spcPct val="0"/>
              </a:spcAft>
            </a:pPr>
            <a:r>
              <a:rPr lang="zh-CN" altLang="en-US" sz="2000" b="1"/>
              <a:t>：虚设力系</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1</a:t>
            </a:r>
            <a:r>
              <a:rPr lang="zh-CN" altLang="en-US" sz="2000" b="1">
                <a:solidFill>
                  <a:srgbClr val="C00000"/>
                </a:solidFill>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2</a:t>
            </a:r>
            <a:r>
              <a:rPr lang="zh-CN" altLang="en-US" sz="2000" b="1"/>
              <a:t>，求位移</a:t>
            </a:r>
            <a:r>
              <a:rPr lang="zh-CN" altLang="en-US" sz="2000" b="1">
                <a:latin typeface="Times New Roman" pitchFamily="18" charset="0"/>
                <a:cs typeface="Times New Roman" pitchFamily="18" charset="0"/>
              </a:rPr>
              <a:t>关系</a:t>
            </a:r>
            <a:endParaRPr lang="en-US" altLang="zh-CN" sz="2000" b="1"/>
          </a:p>
        </p:txBody>
      </p:sp>
      <p:grpSp>
        <p:nvGrpSpPr>
          <p:cNvPr id="95" name="组合 94"/>
          <p:cNvGrpSpPr/>
          <p:nvPr/>
        </p:nvGrpSpPr>
        <p:grpSpPr>
          <a:xfrm>
            <a:off x="490532" y="2786058"/>
            <a:ext cx="3081336" cy="1357322"/>
            <a:chOff x="1142976" y="3143248"/>
            <a:chExt cx="3295650" cy="1409700"/>
          </a:xfrm>
        </p:grpSpPr>
        <p:pic>
          <p:nvPicPr>
            <p:cNvPr id="379906" name="Picture 2"/>
            <p:cNvPicPr>
              <a:picLocks noChangeAspect="1" noChangeArrowheads="1"/>
            </p:cNvPicPr>
            <p:nvPr/>
          </p:nvPicPr>
          <p:blipFill>
            <a:blip r:embed="rId3"/>
            <a:srcRect/>
            <a:stretch>
              <a:fillRect/>
            </a:stretch>
          </p:blipFill>
          <p:spPr bwMode="auto">
            <a:xfrm>
              <a:off x="1142976" y="3143248"/>
              <a:ext cx="3295650" cy="1409700"/>
            </a:xfrm>
            <a:prstGeom prst="rect">
              <a:avLst/>
            </a:prstGeom>
            <a:noFill/>
            <a:ln w="9525">
              <a:noFill/>
              <a:miter lim="800000"/>
              <a:headEnd/>
              <a:tailEnd/>
            </a:ln>
            <a:effectLst/>
          </p:spPr>
        </p:pic>
        <p:cxnSp>
          <p:nvCxnSpPr>
            <p:cNvPr id="92" name="直接连接符 91"/>
            <p:cNvCxnSpPr/>
            <p:nvPr/>
          </p:nvCxnSpPr>
          <p:spPr bwMode="auto">
            <a:xfrm>
              <a:off x="1500166" y="3480982"/>
              <a:ext cx="2571768" cy="714380"/>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90" name="Rectangle 6"/>
          <p:cNvSpPr>
            <a:spLocks noChangeArrowheads="1"/>
          </p:cNvSpPr>
          <p:nvPr/>
        </p:nvSpPr>
        <p:spPr bwMode="auto">
          <a:xfrm>
            <a:off x="469540" y="2214731"/>
            <a:ext cx="5959848" cy="798617"/>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例：图示支座</a:t>
            </a:r>
            <a:r>
              <a:rPr lang="en-US" altLang="zh-CN" sz="2000" b="1" i="1">
                <a:latin typeface="Times New Roman" pitchFamily="18" charset="0"/>
                <a:cs typeface="Times New Roman" pitchFamily="18" charset="0"/>
              </a:rPr>
              <a:t>A</a:t>
            </a:r>
            <a:r>
              <a:rPr lang="zh-CN" altLang="en-US" sz="2000" b="1"/>
              <a:t>向上移动一个已知距离</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1</a:t>
            </a:r>
            <a:r>
              <a:rPr lang="zh-CN" altLang="en-US" sz="2000" b="1">
                <a:latin typeface="Times New Roman" pitchFamily="18" charset="0"/>
                <a:cs typeface="Times New Roman" pitchFamily="18" charset="0"/>
              </a:rPr>
              <a:t>，现</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拟求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99" name="组合 98"/>
          <p:cNvGrpSpPr/>
          <p:nvPr/>
        </p:nvGrpSpPr>
        <p:grpSpPr>
          <a:xfrm>
            <a:off x="3500430" y="3143248"/>
            <a:ext cx="2928958" cy="1078144"/>
            <a:chOff x="3500430" y="3143248"/>
            <a:chExt cx="2928958" cy="1078144"/>
          </a:xfrm>
        </p:grpSpPr>
        <p:pic>
          <p:nvPicPr>
            <p:cNvPr id="379907" name="Picture 3"/>
            <p:cNvPicPr>
              <a:picLocks noChangeAspect="1" noChangeArrowheads="1"/>
            </p:cNvPicPr>
            <p:nvPr/>
          </p:nvPicPr>
          <p:blipFill>
            <a:blip r:embed="rId4"/>
            <a:srcRect/>
            <a:stretch>
              <a:fillRect/>
            </a:stretch>
          </p:blipFill>
          <p:spPr bwMode="auto">
            <a:xfrm>
              <a:off x="3500430" y="3143248"/>
              <a:ext cx="2928958" cy="1078144"/>
            </a:xfrm>
            <a:prstGeom prst="rect">
              <a:avLst/>
            </a:prstGeom>
            <a:noFill/>
            <a:ln w="9525">
              <a:noFill/>
              <a:miter lim="800000"/>
              <a:headEnd/>
              <a:tailEnd/>
            </a:ln>
            <a:effectLst/>
          </p:spPr>
        </p:pic>
        <p:cxnSp>
          <p:nvCxnSpPr>
            <p:cNvPr id="97" name="直接箭头连接符 96"/>
            <p:cNvCxnSpPr/>
            <p:nvPr/>
          </p:nvCxnSpPr>
          <p:spPr bwMode="auto">
            <a:xfrm rot="5400000" flipH="1" flipV="1">
              <a:off x="3617315" y="393560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98" name="直接箭头连接符 97"/>
            <p:cNvCxnSpPr/>
            <p:nvPr/>
          </p:nvCxnSpPr>
          <p:spPr bwMode="auto">
            <a:xfrm rot="16200000" flipH="1">
              <a:off x="6047001" y="3389145"/>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00" name="Rectangle 6"/>
          <p:cNvSpPr>
            <a:spLocks noChangeArrowheads="1"/>
          </p:cNvSpPr>
          <p:nvPr/>
        </p:nvSpPr>
        <p:spPr bwMode="auto">
          <a:xfrm>
            <a:off x="742935" y="4344895"/>
            <a:ext cx="5959848"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pPr>
            <a:r>
              <a:rPr lang="zh-CN" altLang="en-US" sz="2000" b="1"/>
              <a:t>解：虚设力系，如图所示；</a:t>
            </a:r>
            <a:endParaRPr lang="en-US" altLang="zh-CN" sz="2000" b="1"/>
          </a:p>
        </p:txBody>
      </p:sp>
      <p:grpSp>
        <p:nvGrpSpPr>
          <p:cNvPr id="105" name="组合 104"/>
          <p:cNvGrpSpPr/>
          <p:nvPr/>
        </p:nvGrpSpPr>
        <p:grpSpPr>
          <a:xfrm>
            <a:off x="714380" y="4714884"/>
            <a:ext cx="4572000" cy="830997"/>
            <a:chOff x="1214446" y="4714884"/>
            <a:chExt cx="4572000" cy="830997"/>
          </a:xfrm>
        </p:grpSpPr>
        <p:sp>
          <p:nvSpPr>
            <p:cNvPr id="101" name="矩形 100"/>
            <p:cNvSpPr/>
            <p:nvPr/>
          </p:nvSpPr>
          <p:spPr>
            <a:xfrm>
              <a:off x="1214446" y="4714884"/>
              <a:ext cx="4572000" cy="830997"/>
            </a:xfrm>
            <a:prstGeom prst="rect">
              <a:avLst/>
            </a:prstGeom>
          </p:spPr>
          <p:txBody>
            <a:bodyPr>
              <a:spAutoFit/>
            </a:bodyPr>
            <a:lstStyle/>
            <a:p>
              <a:pPr marL="742950" lvl="1" indent="-285750" fontAlgn="base">
                <a:lnSpc>
                  <a:spcPct val="120000"/>
                </a:lnSpc>
                <a:spcBef>
                  <a:spcPct val="20000"/>
                </a:spcBef>
                <a:spcAft>
                  <a:spcPct val="0"/>
                </a:spcAft>
              </a:pPr>
              <a:r>
                <a:rPr lang="en-US" altLang="zh-CN" sz="2000" b="1">
                  <a:latin typeface="Times New Roman" pitchFamily="18" charset="0"/>
                  <a:cs typeface="Times New Roman" pitchFamily="18" charset="0"/>
                </a:rPr>
                <a:t> ⑴ </a:t>
              </a:r>
              <a:r>
                <a:rPr lang="zh-CN" altLang="en-US" sz="2000" b="1">
                  <a:latin typeface="Times New Roman" pitchFamily="18" charset="0"/>
                  <a:cs typeface="Times New Roman" pitchFamily="18" charset="0"/>
                </a:rPr>
                <a:t>由平衡条件，可求出支座</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反力</a:t>
              </a:r>
              <a:endParaRPr lang="en-US" altLang="zh-CN" sz="2000" b="1">
                <a:latin typeface="Times New Roman" pitchFamily="18" charset="0"/>
                <a:cs typeface="Times New Roman" pitchFamily="18" charset="0"/>
              </a:endParaRPr>
            </a:p>
            <a:p>
              <a:pPr marL="742950" lvl="1" indent="-285750" fontAlgn="base">
                <a:lnSpc>
                  <a:spcPct val="120000"/>
                </a:lnSpc>
                <a:spcAft>
                  <a:spcPct val="0"/>
                </a:spcAft>
              </a:pP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R1</a:t>
              </a:r>
              <a:r>
                <a:rPr lang="en-US" altLang="zh-CN" b="1">
                  <a:latin typeface="Times New Roman" pitchFamily="18" charset="0"/>
                  <a:cs typeface="Times New Roman" pitchFamily="18" charset="0"/>
                </a:rPr>
                <a:t>= </a:t>
              </a:r>
              <a:r>
                <a:rPr lang="en-US" altLang="zh-CN" b="1">
                  <a:latin typeface="+mn-ea"/>
                  <a:cs typeface="Times New Roman" pitchFamily="18" charset="0"/>
                </a:rPr>
                <a:t>-</a:t>
              </a:r>
              <a:r>
                <a:rPr lang="en-US" altLang="zh-CN" b="1" i="1">
                  <a:latin typeface="Times New Roman" pitchFamily="18" charset="0"/>
                  <a:cs typeface="Times New Roman" pitchFamily="18" charset="0"/>
                </a:rPr>
                <a:t>b</a:t>
              </a:r>
              <a:r>
                <a:rPr lang="en-US" altLang="zh-CN" b="1">
                  <a:latin typeface="Times New Roman" pitchFamily="18" charset="0"/>
                  <a:cs typeface="Times New Roman" pitchFamily="18" charset="0"/>
                </a:rPr>
                <a:t>/</a:t>
              </a:r>
              <a:r>
                <a:rPr lang="en-US" altLang="zh-CN" b="1" i="1">
                  <a:latin typeface="Times New Roman" pitchFamily="18" charset="0"/>
                  <a:cs typeface="Times New Roman" pitchFamily="18" charset="0"/>
                </a:rPr>
                <a:t>a</a:t>
              </a:r>
              <a:endParaRPr lang="zh-CN" altLang="en-US" i="1"/>
            </a:p>
          </p:txBody>
        </p:sp>
        <p:cxnSp>
          <p:nvCxnSpPr>
            <p:cNvPr id="104" name="直接连接符 103"/>
            <p:cNvCxnSpPr/>
            <p:nvPr/>
          </p:nvCxnSpPr>
          <p:spPr bwMode="auto">
            <a:xfrm>
              <a:off x="2643174" y="517400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108" name="组合 107"/>
          <p:cNvGrpSpPr/>
          <p:nvPr/>
        </p:nvGrpSpPr>
        <p:grpSpPr>
          <a:xfrm>
            <a:off x="714348" y="5500702"/>
            <a:ext cx="4929222" cy="461665"/>
            <a:chOff x="1214414" y="5500702"/>
            <a:chExt cx="4929222" cy="461665"/>
          </a:xfrm>
        </p:grpSpPr>
        <p:sp>
          <p:nvSpPr>
            <p:cNvPr id="106" name="矩形 105"/>
            <p:cNvSpPr/>
            <p:nvPr/>
          </p:nvSpPr>
          <p:spPr>
            <a:xfrm>
              <a:off x="1214414" y="5500702"/>
              <a:ext cx="4929222" cy="461665"/>
            </a:xfrm>
            <a:prstGeom prst="rect">
              <a:avLst/>
            </a:prstGeom>
          </p:spPr>
          <p:txBody>
            <a:bodyPr wrap="square">
              <a:spAutoFit/>
            </a:bodyPr>
            <a:lstStyle/>
            <a:p>
              <a:pPr marL="742950" lvl="1" indent="-285750" fontAlgn="base">
                <a:lnSpc>
                  <a:spcPct val="120000"/>
                </a:lnSpc>
                <a:spcBef>
                  <a:spcPct val="20000"/>
                </a:spcBef>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由虚功方程</a:t>
              </a: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1</a:t>
              </a:r>
              <a:r>
                <a:rPr lang="en-US" altLang="zh-CN" sz="2000" b="1" i="1">
                  <a:latin typeface="Times New Roman" pitchFamily="18" charset="0"/>
                  <a:cs typeface="Times New Roman" pitchFamily="18" charset="0"/>
                </a:rPr>
                <a:t> + c</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R1 </a:t>
              </a:r>
              <a:r>
                <a:rPr lang="en-US" altLang="zh-CN" sz="2000" b="1">
                  <a:latin typeface="Times New Roman" pitchFamily="18" charset="0"/>
                  <a:cs typeface="Times New Roman" pitchFamily="18" charset="0"/>
                </a:rPr>
                <a:t>= 0, </a:t>
              </a:r>
              <a:r>
                <a:rPr lang="zh-CN" altLang="en-US" sz="2000" b="1">
                  <a:latin typeface="Times New Roman" pitchFamily="18" charset="0"/>
                  <a:cs typeface="Times New Roman" pitchFamily="18" charset="0"/>
                </a:rPr>
                <a:t>知</a:t>
              </a:r>
              <a:endParaRPr lang="zh-CN" altLang="en-US" sz="2000" i="1">
                <a:latin typeface="Times New Roman" pitchFamily="18" charset="0"/>
                <a:cs typeface="Times New Roman" pitchFamily="18" charset="0"/>
              </a:endParaRPr>
            </a:p>
          </p:txBody>
        </p:sp>
        <p:cxnSp>
          <p:nvCxnSpPr>
            <p:cNvPr id="107" name="直接连接符 106"/>
            <p:cNvCxnSpPr/>
            <p:nvPr/>
          </p:nvCxnSpPr>
          <p:spPr bwMode="auto">
            <a:xfrm>
              <a:off x="4629790" y="559943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111" name="组合 110"/>
          <p:cNvGrpSpPr/>
          <p:nvPr/>
        </p:nvGrpSpPr>
        <p:grpSpPr>
          <a:xfrm>
            <a:off x="2222653" y="5927354"/>
            <a:ext cx="2420785" cy="400110"/>
            <a:chOff x="2722719" y="5886410"/>
            <a:chExt cx="2420785" cy="400110"/>
          </a:xfrm>
        </p:grpSpPr>
        <p:sp>
          <p:nvSpPr>
            <p:cNvPr id="109" name="矩形 108"/>
            <p:cNvSpPr/>
            <p:nvPr/>
          </p:nvSpPr>
          <p:spPr>
            <a:xfrm>
              <a:off x="2722719" y="5886410"/>
              <a:ext cx="2420785" cy="400110"/>
            </a:xfrm>
            <a:prstGeom prst="rect">
              <a:avLst/>
            </a:prstGeom>
          </p:spPr>
          <p:txBody>
            <a:bodyPr wrap="square">
              <a:spAutoFit/>
            </a:bodyPr>
            <a:lstStyle/>
            <a:p>
              <a:r>
                <a:rPr lang="el-GR" altLang="zh-CN" sz="2000" b="1" i="1">
                  <a:latin typeface="Times New Roman" pitchFamily="18" charset="0"/>
                  <a:cs typeface="Times New Roman" pitchFamily="18" charset="0"/>
                </a:rPr>
                <a:t>Δ</a:t>
              </a:r>
              <a:r>
                <a:rPr lang="en-US" altLang="zh-CN" sz="2000" b="1">
                  <a:latin typeface="Times New Roman" pitchFamily="18" charset="0"/>
                  <a:cs typeface="Times New Roman" pitchFamily="18" charset="0"/>
                </a:rPr>
                <a:t>=</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 c</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R1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b</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a</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 c</a:t>
              </a:r>
              <a:r>
                <a:rPr lang="en-US" altLang="zh-CN" sz="2000" b="1" baseline="-25000">
                  <a:latin typeface="Times New Roman" pitchFamily="18" charset="0"/>
                  <a:cs typeface="Times New Roman" pitchFamily="18" charset="0"/>
                </a:rPr>
                <a:t>1</a:t>
              </a:r>
              <a:endParaRPr lang="zh-CN" altLang="en-US" sz="2000"/>
            </a:p>
          </p:txBody>
        </p:sp>
        <p:cxnSp>
          <p:nvCxnSpPr>
            <p:cNvPr id="110" name="直接连接符 109"/>
            <p:cNvCxnSpPr/>
            <p:nvPr/>
          </p:nvCxnSpPr>
          <p:spPr bwMode="auto">
            <a:xfrm>
              <a:off x="3530924" y="59566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112" name="TextBox 111"/>
          <p:cNvSpPr txBox="1"/>
          <p:nvPr/>
        </p:nvSpPr>
        <p:spPr>
          <a:xfrm>
            <a:off x="5857916" y="5500702"/>
            <a:ext cx="2928926" cy="830997"/>
          </a:xfrm>
          <a:prstGeom prst="rect">
            <a:avLst/>
          </a:prstGeom>
          <a:noFill/>
          <a:ln w="28575">
            <a:solidFill>
              <a:srgbClr val="C00000"/>
            </a:solidFill>
          </a:ln>
        </p:spPr>
        <p:txBody>
          <a:bodyPr wrap="square" rtlCol="0">
            <a:spAutoFit/>
          </a:bodyPr>
          <a:lstStyle/>
          <a:p>
            <a:pPr>
              <a:lnSpc>
                <a:spcPct val="120000"/>
              </a:lnSpc>
            </a:pPr>
            <a:r>
              <a:rPr lang="zh-CN" altLang="en-US" sz="2000" b="1">
                <a:solidFill>
                  <a:srgbClr val="C00000"/>
                </a:solidFill>
              </a:rPr>
              <a:t>单位荷载法</a:t>
            </a:r>
            <a:r>
              <a:rPr lang="zh-CN" altLang="en-US" sz="2000" b="1"/>
              <a:t>：在拟求位移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方向虚设单位荷载</a:t>
            </a:r>
            <a:endParaRPr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fill="hold"/>
                                        <p:tgtEl>
                                          <p:spTgt spid="87"/>
                                        </p:tgtEl>
                                        <p:attrNameLst>
                                          <p:attrName>ppt_x</p:attrName>
                                        </p:attrNameLst>
                                      </p:cBhvr>
                                      <p:tavLst>
                                        <p:tav tm="0">
                                          <p:val>
                                            <p:strVal val="#ppt_x"/>
                                          </p:val>
                                        </p:tav>
                                        <p:tav tm="100000">
                                          <p:val>
                                            <p:strVal val="#ppt_x"/>
                                          </p:val>
                                        </p:tav>
                                      </p:tavLst>
                                    </p:anim>
                                    <p:anim calcmode="lin" valueType="num">
                                      <p:cBhvr additive="base">
                                        <p:cTn id="12"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8"/>
                                        </p:tgtEl>
                                        <p:attrNameLst>
                                          <p:attrName>style.visibility</p:attrName>
                                        </p:attrNameLst>
                                      </p:cBhvr>
                                      <p:to>
                                        <p:strVal val="visible"/>
                                      </p:to>
                                    </p:set>
                                    <p:anim calcmode="lin" valueType="num">
                                      <p:cBhvr additive="base">
                                        <p:cTn id="17" dur="500" fill="hold"/>
                                        <p:tgtEl>
                                          <p:spTgt spid="88"/>
                                        </p:tgtEl>
                                        <p:attrNameLst>
                                          <p:attrName>ppt_x</p:attrName>
                                        </p:attrNameLst>
                                      </p:cBhvr>
                                      <p:tavLst>
                                        <p:tav tm="0">
                                          <p:val>
                                            <p:strVal val="#ppt_x"/>
                                          </p:val>
                                        </p:tav>
                                        <p:tav tm="100000">
                                          <p:val>
                                            <p:strVal val="#ppt_x"/>
                                          </p:val>
                                        </p:tav>
                                      </p:tavLst>
                                    </p:anim>
                                    <p:anim calcmode="lin" valueType="num">
                                      <p:cBhvr additive="base">
                                        <p:cTn id="18"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additive="base">
                                        <p:cTn id="23" dur="500" fill="hold"/>
                                        <p:tgtEl>
                                          <p:spTgt spid="95"/>
                                        </p:tgtEl>
                                        <p:attrNameLst>
                                          <p:attrName>ppt_x</p:attrName>
                                        </p:attrNameLst>
                                      </p:cBhvr>
                                      <p:tavLst>
                                        <p:tav tm="0">
                                          <p:val>
                                            <p:strVal val="#ppt_x"/>
                                          </p:val>
                                        </p:tav>
                                        <p:tav tm="100000">
                                          <p:val>
                                            <p:strVal val="#ppt_x"/>
                                          </p:val>
                                        </p:tav>
                                      </p:tavLst>
                                    </p:anim>
                                    <p:anim calcmode="lin" valueType="num">
                                      <p:cBhvr additive="base">
                                        <p:cTn id="24"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0"/>
                                        </p:tgtEl>
                                        <p:attrNameLst>
                                          <p:attrName>style.visibility</p:attrName>
                                        </p:attrNameLst>
                                      </p:cBhvr>
                                      <p:to>
                                        <p:strVal val="visible"/>
                                      </p:to>
                                    </p:set>
                                    <p:anim calcmode="lin" valueType="num">
                                      <p:cBhvr additive="base">
                                        <p:cTn id="29" dur="500" fill="hold"/>
                                        <p:tgtEl>
                                          <p:spTgt spid="100"/>
                                        </p:tgtEl>
                                        <p:attrNameLst>
                                          <p:attrName>ppt_x</p:attrName>
                                        </p:attrNameLst>
                                      </p:cBhvr>
                                      <p:tavLst>
                                        <p:tav tm="0">
                                          <p:val>
                                            <p:strVal val="#ppt_x"/>
                                          </p:val>
                                        </p:tav>
                                        <p:tav tm="100000">
                                          <p:val>
                                            <p:strVal val="#ppt_x"/>
                                          </p:val>
                                        </p:tav>
                                      </p:tavLst>
                                    </p:anim>
                                    <p:anim calcmode="lin" valueType="num">
                                      <p:cBhvr additive="base">
                                        <p:cTn id="30"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box(in)">
                                      <p:cBhvr>
                                        <p:cTn id="35" dur="500"/>
                                        <p:tgtEl>
                                          <p:spTgt spid="9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05"/>
                                        </p:tgtEl>
                                        <p:attrNameLst>
                                          <p:attrName>style.visibility</p:attrName>
                                        </p:attrNameLst>
                                      </p:cBhvr>
                                      <p:to>
                                        <p:strVal val="visible"/>
                                      </p:to>
                                    </p:set>
                                    <p:anim calcmode="lin" valueType="num">
                                      <p:cBhvr additive="base">
                                        <p:cTn id="40" dur="500" fill="hold"/>
                                        <p:tgtEl>
                                          <p:spTgt spid="105"/>
                                        </p:tgtEl>
                                        <p:attrNameLst>
                                          <p:attrName>ppt_x</p:attrName>
                                        </p:attrNameLst>
                                      </p:cBhvr>
                                      <p:tavLst>
                                        <p:tav tm="0">
                                          <p:val>
                                            <p:strVal val="#ppt_x"/>
                                          </p:val>
                                        </p:tav>
                                        <p:tav tm="100000">
                                          <p:val>
                                            <p:strVal val="#ppt_x"/>
                                          </p:val>
                                        </p:tav>
                                      </p:tavLst>
                                    </p:anim>
                                    <p:anim calcmode="lin" valueType="num">
                                      <p:cBhvr additive="base">
                                        <p:cTn id="41"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08"/>
                                        </p:tgtEl>
                                        <p:attrNameLst>
                                          <p:attrName>style.visibility</p:attrName>
                                        </p:attrNameLst>
                                      </p:cBhvr>
                                      <p:to>
                                        <p:strVal val="visible"/>
                                      </p:to>
                                    </p:set>
                                    <p:anim calcmode="lin" valueType="num">
                                      <p:cBhvr additive="base">
                                        <p:cTn id="46" dur="500" fill="hold"/>
                                        <p:tgtEl>
                                          <p:spTgt spid="108"/>
                                        </p:tgtEl>
                                        <p:attrNameLst>
                                          <p:attrName>ppt_x</p:attrName>
                                        </p:attrNameLst>
                                      </p:cBhvr>
                                      <p:tavLst>
                                        <p:tav tm="0">
                                          <p:val>
                                            <p:strVal val="#ppt_x"/>
                                          </p:val>
                                        </p:tav>
                                        <p:tav tm="100000">
                                          <p:val>
                                            <p:strVal val="#ppt_x"/>
                                          </p:val>
                                        </p:tav>
                                      </p:tavLst>
                                    </p:anim>
                                    <p:anim calcmode="lin" valueType="num">
                                      <p:cBhvr additive="base">
                                        <p:cTn id="47"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11"/>
                                        </p:tgtEl>
                                        <p:attrNameLst>
                                          <p:attrName>style.visibility</p:attrName>
                                        </p:attrNameLst>
                                      </p:cBhvr>
                                      <p:to>
                                        <p:strVal val="visible"/>
                                      </p:to>
                                    </p:set>
                                    <p:anim calcmode="lin" valueType="num">
                                      <p:cBhvr additive="base">
                                        <p:cTn id="52" dur="500" fill="hold"/>
                                        <p:tgtEl>
                                          <p:spTgt spid="111"/>
                                        </p:tgtEl>
                                        <p:attrNameLst>
                                          <p:attrName>ppt_x</p:attrName>
                                        </p:attrNameLst>
                                      </p:cBhvr>
                                      <p:tavLst>
                                        <p:tav tm="0">
                                          <p:val>
                                            <p:strVal val="0-#ppt_w/2"/>
                                          </p:val>
                                        </p:tav>
                                        <p:tav tm="100000">
                                          <p:val>
                                            <p:strVal val="#ppt_x"/>
                                          </p:val>
                                        </p:tav>
                                      </p:tavLst>
                                    </p:anim>
                                    <p:anim calcmode="lin" valueType="num">
                                      <p:cBhvr additive="base">
                                        <p:cTn id="53" dur="500" fill="hold"/>
                                        <p:tgtEl>
                                          <p:spTgt spid="111"/>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8" presetClass="entr" presetSubtype="16" fill="hold" grpId="0" nodeType="clickEffect">
                                  <p:stCondLst>
                                    <p:cond delay="0"/>
                                  </p:stCondLst>
                                  <p:childTnLst>
                                    <p:set>
                                      <p:cBhvr>
                                        <p:cTn id="57" dur="1" fill="hold">
                                          <p:stCondLst>
                                            <p:cond delay="0"/>
                                          </p:stCondLst>
                                        </p:cTn>
                                        <p:tgtEl>
                                          <p:spTgt spid="112"/>
                                        </p:tgtEl>
                                        <p:attrNameLst>
                                          <p:attrName>style.visibility</p:attrName>
                                        </p:attrNameLst>
                                      </p:cBhvr>
                                      <p:to>
                                        <p:strVal val="visible"/>
                                      </p:to>
                                    </p:set>
                                    <p:animEffect transition="in" filter="diamond(in)">
                                      <p:cBhvr>
                                        <p:cTn id="58" dur="2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P spid="100" grpId="0"/>
      <p:bldP spid="1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单位荷载法求刚体体系位移</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8451"/>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t>虚力原理</a:t>
            </a:r>
            <a:endParaRPr lang="en-US" altLang="zh-CN" sz="2000" b="1"/>
          </a:p>
        </p:txBody>
      </p:sp>
      <p:sp>
        <p:nvSpPr>
          <p:cNvPr id="88" name="Rectangle 6"/>
          <p:cNvSpPr>
            <a:spLocks noChangeArrowheads="1"/>
          </p:cNvSpPr>
          <p:nvPr/>
        </p:nvSpPr>
        <p:spPr bwMode="auto">
          <a:xfrm>
            <a:off x="2333038" y="1798118"/>
            <a:ext cx="3096218" cy="830997"/>
          </a:xfrm>
          <a:prstGeom prst="rect">
            <a:avLst/>
          </a:prstGeom>
          <a:noFill/>
          <a:ln w="9525">
            <a:noFill/>
            <a:miter lim="800000"/>
            <a:headEnd/>
            <a:tailEnd/>
          </a:ln>
        </p:spPr>
        <p:txBody>
          <a:bodyPr wrap="square">
            <a:spAutoFit/>
          </a:bodyPr>
          <a:lstStyle/>
          <a:p>
            <a:pPr marL="273050" lvl="1" indent="-273050" fontAlgn="base">
              <a:lnSpc>
                <a:spcPct val="120000"/>
              </a:lnSpc>
              <a:spcBef>
                <a:spcPct val="20000"/>
              </a:spcBef>
              <a:spcAft>
                <a:spcPct val="0"/>
              </a:spcAft>
            </a:pPr>
            <a:r>
              <a:rPr lang="zh-CN" altLang="en-US" sz="2000" b="1"/>
              <a:t>：虚设力系</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1</a:t>
            </a:r>
            <a:r>
              <a:rPr lang="zh-CN" altLang="en-US" sz="2000" b="1">
                <a:solidFill>
                  <a:srgbClr val="C00000"/>
                </a:solidFill>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2</a:t>
            </a:r>
            <a:r>
              <a:rPr lang="zh-CN" altLang="en-US" sz="2000" b="1"/>
              <a:t>， 求位移</a:t>
            </a:r>
            <a:r>
              <a:rPr lang="zh-CN" altLang="en-US" sz="2000" b="1">
                <a:latin typeface="Times New Roman" pitchFamily="18" charset="0"/>
                <a:cs typeface="Times New Roman" pitchFamily="18" charset="0"/>
              </a:rPr>
              <a:t>关系</a:t>
            </a:r>
            <a:endParaRPr lang="en-US" altLang="zh-CN" sz="2000" b="1"/>
          </a:p>
        </p:txBody>
      </p:sp>
      <p:sp>
        <p:nvSpPr>
          <p:cNvPr id="89" name="TextBox 88"/>
          <p:cNvSpPr txBox="1"/>
          <p:nvPr/>
        </p:nvSpPr>
        <p:spPr>
          <a:xfrm>
            <a:off x="1214414" y="2571744"/>
            <a:ext cx="4429156" cy="2129109"/>
          </a:xfrm>
          <a:prstGeom prst="rect">
            <a:avLst/>
          </a:prstGeom>
          <a:noFill/>
          <a:ln w="28575">
            <a:noFill/>
          </a:ln>
        </p:spPr>
        <p:txBody>
          <a:bodyPr wrap="square" rtlCol="0">
            <a:spAutoFit/>
          </a:bodyPr>
          <a:lstStyle/>
          <a:p>
            <a:pPr marL="355600" indent="-355600">
              <a:lnSpc>
                <a:spcPct val="130000"/>
              </a:lnSpc>
              <a:spcBef>
                <a:spcPts val="600"/>
              </a:spcBef>
            </a:pPr>
            <a:r>
              <a:rPr lang="en-US" altLang="zh-CN" sz="2000" b="1">
                <a:solidFill>
                  <a:srgbClr val="0033CC"/>
                </a:solidFill>
                <a:latin typeface="+mn-ea"/>
                <a:cs typeface="Times New Roman" pitchFamily="18" charset="0"/>
              </a:rPr>
              <a:t>⑴ </a:t>
            </a:r>
            <a:r>
              <a:rPr lang="zh-CN" altLang="en-US" sz="2000" b="1">
                <a:solidFill>
                  <a:srgbClr val="0033CC"/>
                </a:solidFill>
                <a:latin typeface="+mn-ea"/>
                <a:cs typeface="Times New Roman" pitchFamily="18" charset="0"/>
              </a:rPr>
              <a:t>虚力方程，实质为几何方程；</a:t>
            </a:r>
            <a:endParaRPr lang="en-US" altLang="zh-CN" sz="2000" b="1" baseline="-25000">
              <a:solidFill>
                <a:srgbClr val="0033CC"/>
              </a:solidFill>
              <a:latin typeface="Times New Roman" pitchFamily="18" charset="0"/>
              <a:cs typeface="Times New Roman" pitchFamily="18" charset="0"/>
            </a:endParaRPr>
          </a:p>
          <a:p>
            <a:pPr marL="355600" indent="-355600">
              <a:lnSpc>
                <a:spcPct val="130000"/>
              </a:lnSpc>
              <a:spcBef>
                <a:spcPts val="300"/>
              </a:spcBef>
            </a:pPr>
            <a:r>
              <a:rPr lang="en-US" altLang="zh-CN" sz="2000" b="1">
                <a:solidFill>
                  <a:srgbClr val="0033CC"/>
                </a:solidFill>
                <a:latin typeface="+mn-ea"/>
                <a:cs typeface="Times New Roman" pitchFamily="18" charset="0"/>
              </a:rPr>
              <a:t>⑵ </a:t>
            </a:r>
            <a:r>
              <a:rPr lang="zh-CN" altLang="en-US" sz="2000" b="1">
                <a:solidFill>
                  <a:srgbClr val="0033CC"/>
                </a:solidFill>
                <a:latin typeface="+mn-ea"/>
                <a:cs typeface="Times New Roman" pitchFamily="18" charset="0"/>
              </a:rPr>
              <a:t>既然虚力与实际位移状态无关，故可设单位广义力 </a:t>
            </a:r>
            <a:r>
              <a:rPr lang="en-US" altLang="zh-CN" sz="2000" b="1" i="1">
                <a:solidFill>
                  <a:srgbClr val="0033CC"/>
                </a:solidFill>
                <a:latin typeface="Times New Roman" pitchFamily="18" charset="0"/>
                <a:cs typeface="Times New Roman" pitchFamily="18" charset="0"/>
              </a:rPr>
              <a:t>P </a:t>
            </a:r>
            <a:r>
              <a:rPr lang="en-US" altLang="zh-CN" sz="2000" b="1">
                <a:solidFill>
                  <a:srgbClr val="0033CC"/>
                </a:solidFill>
                <a:latin typeface="Times New Roman" pitchFamily="18" charset="0"/>
                <a:cs typeface="Times New Roman" pitchFamily="18" charset="0"/>
              </a:rPr>
              <a:t>= 1</a:t>
            </a:r>
            <a:r>
              <a:rPr lang="zh-CN" altLang="en-US" sz="2000" b="1">
                <a:solidFill>
                  <a:srgbClr val="0033CC"/>
                </a:solidFill>
                <a:latin typeface="Times New Roman" pitchFamily="18" charset="0"/>
                <a:cs typeface="Times New Roman" pitchFamily="18" charset="0"/>
              </a:rPr>
              <a:t>；</a:t>
            </a:r>
            <a:endParaRPr lang="en-US" altLang="zh-CN" sz="2000" b="1">
              <a:solidFill>
                <a:srgbClr val="0033CC"/>
              </a:solidFill>
              <a:latin typeface="Times New Roman" pitchFamily="18" charset="0"/>
              <a:cs typeface="Times New Roman" pitchFamily="18" charset="0"/>
            </a:endParaRPr>
          </a:p>
          <a:p>
            <a:pPr marL="355600" indent="-355600">
              <a:lnSpc>
                <a:spcPct val="130000"/>
              </a:lnSpc>
              <a:spcBef>
                <a:spcPts val="300"/>
              </a:spcBef>
            </a:pPr>
            <a:r>
              <a:rPr lang="en-US" altLang="zh-CN" sz="2000" b="1">
                <a:solidFill>
                  <a:srgbClr val="0033CC"/>
                </a:solidFill>
                <a:latin typeface="+mn-ea"/>
                <a:cs typeface="Times New Roman" pitchFamily="18" charset="0"/>
              </a:rPr>
              <a:t>⑶ </a:t>
            </a:r>
            <a:r>
              <a:rPr lang="zh-CN" altLang="en-US" sz="2000" b="1">
                <a:solidFill>
                  <a:srgbClr val="0033CC"/>
                </a:solidFill>
                <a:latin typeface="+mn-ea"/>
                <a:cs typeface="Times New Roman" pitchFamily="18" charset="0"/>
              </a:rPr>
              <a:t>关键是找出找出虚力状态的静力平衡关系。</a:t>
            </a:r>
            <a:endParaRPr lang="en-US" altLang="zh-CN" sz="2000" b="1">
              <a:solidFill>
                <a:srgbClr val="0033CC"/>
              </a:solidFill>
              <a:latin typeface="+mn-ea"/>
              <a:cs typeface="Times New Roman" pitchFamily="18" charset="0"/>
            </a:endParaRPr>
          </a:p>
        </p:txBody>
      </p:sp>
      <p:grpSp>
        <p:nvGrpSpPr>
          <p:cNvPr id="91" name="组合 90"/>
          <p:cNvGrpSpPr/>
          <p:nvPr/>
        </p:nvGrpSpPr>
        <p:grpSpPr>
          <a:xfrm>
            <a:off x="5643570" y="1714488"/>
            <a:ext cx="3081336" cy="1357322"/>
            <a:chOff x="1142976" y="3143248"/>
            <a:chExt cx="3295650" cy="1409700"/>
          </a:xfrm>
        </p:grpSpPr>
        <p:pic>
          <p:nvPicPr>
            <p:cNvPr id="93" name="Picture 2"/>
            <p:cNvPicPr>
              <a:picLocks noChangeAspect="1" noChangeArrowheads="1"/>
            </p:cNvPicPr>
            <p:nvPr/>
          </p:nvPicPr>
          <p:blipFill>
            <a:blip r:embed="rId3"/>
            <a:srcRect/>
            <a:stretch>
              <a:fillRect/>
            </a:stretch>
          </p:blipFill>
          <p:spPr bwMode="auto">
            <a:xfrm>
              <a:off x="1142976" y="3143248"/>
              <a:ext cx="3295650" cy="1409700"/>
            </a:xfrm>
            <a:prstGeom prst="rect">
              <a:avLst/>
            </a:prstGeom>
            <a:noFill/>
            <a:ln w="9525">
              <a:noFill/>
              <a:miter lim="800000"/>
              <a:headEnd/>
              <a:tailEnd/>
            </a:ln>
            <a:effectLst/>
          </p:spPr>
        </p:pic>
        <p:cxnSp>
          <p:nvCxnSpPr>
            <p:cNvPr id="94" name="直接连接符 93"/>
            <p:cNvCxnSpPr/>
            <p:nvPr/>
          </p:nvCxnSpPr>
          <p:spPr bwMode="auto">
            <a:xfrm>
              <a:off x="1500166" y="3480982"/>
              <a:ext cx="2571768" cy="714380"/>
            </a:xfrm>
            <a:prstGeom prst="line">
              <a:avLst/>
            </a:prstGeom>
            <a:solidFill>
              <a:schemeClr val="accent1"/>
            </a:solidFill>
            <a:ln w="38100" cap="flat" cmpd="sng" algn="ctr">
              <a:solidFill>
                <a:srgbClr val="00B050"/>
              </a:solidFill>
              <a:prstDash val="lgDash"/>
              <a:round/>
              <a:headEnd type="none" w="med" len="med"/>
              <a:tailEnd type="none" w="med" len="med"/>
            </a:ln>
            <a:effectLst/>
          </p:spPr>
        </p:cxnSp>
      </p:grpSp>
      <p:grpSp>
        <p:nvGrpSpPr>
          <p:cNvPr id="95" name="组合 94"/>
          <p:cNvGrpSpPr/>
          <p:nvPr/>
        </p:nvGrpSpPr>
        <p:grpSpPr>
          <a:xfrm>
            <a:off x="5715008" y="3429000"/>
            <a:ext cx="2928958" cy="1078144"/>
            <a:chOff x="3500430" y="3143248"/>
            <a:chExt cx="2928958" cy="1078144"/>
          </a:xfrm>
        </p:grpSpPr>
        <p:pic>
          <p:nvPicPr>
            <p:cNvPr id="96" name="Picture 3"/>
            <p:cNvPicPr>
              <a:picLocks noChangeAspect="1" noChangeArrowheads="1"/>
            </p:cNvPicPr>
            <p:nvPr/>
          </p:nvPicPr>
          <p:blipFill>
            <a:blip r:embed="rId4"/>
            <a:srcRect/>
            <a:stretch>
              <a:fillRect/>
            </a:stretch>
          </p:blipFill>
          <p:spPr bwMode="auto">
            <a:xfrm>
              <a:off x="3500430" y="3143248"/>
              <a:ext cx="2928958" cy="1078144"/>
            </a:xfrm>
            <a:prstGeom prst="rect">
              <a:avLst/>
            </a:prstGeom>
            <a:noFill/>
            <a:ln w="9525">
              <a:noFill/>
              <a:miter lim="800000"/>
              <a:headEnd/>
              <a:tailEnd/>
            </a:ln>
            <a:effectLst/>
          </p:spPr>
        </p:pic>
        <p:cxnSp>
          <p:nvCxnSpPr>
            <p:cNvPr id="99" name="直接箭头连接符 98"/>
            <p:cNvCxnSpPr/>
            <p:nvPr/>
          </p:nvCxnSpPr>
          <p:spPr bwMode="auto">
            <a:xfrm rot="5400000" flipH="1" flipV="1">
              <a:off x="3617315" y="393560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02" name="直接箭头连接符 101"/>
            <p:cNvCxnSpPr/>
            <p:nvPr/>
          </p:nvCxnSpPr>
          <p:spPr bwMode="auto">
            <a:xfrm rot="16200000" flipH="1">
              <a:off x="6047001" y="3389145"/>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grpSp>
        <p:nvGrpSpPr>
          <p:cNvPr id="103" name="Group 7"/>
          <p:cNvGrpSpPr>
            <a:grpSpLocks/>
          </p:cNvGrpSpPr>
          <p:nvPr/>
        </p:nvGrpSpPr>
        <p:grpSpPr bwMode="auto">
          <a:xfrm>
            <a:off x="1600232" y="4943488"/>
            <a:ext cx="6115050" cy="414338"/>
            <a:chOff x="816" y="2687"/>
            <a:chExt cx="3852" cy="261"/>
          </a:xfrm>
        </p:grpSpPr>
        <p:sp>
          <p:nvSpPr>
            <p:cNvPr id="105" name="Text Box 8"/>
            <p:cNvSpPr txBox="1">
              <a:spLocks noChangeArrowheads="1"/>
            </p:cNvSpPr>
            <p:nvPr/>
          </p:nvSpPr>
          <p:spPr bwMode="auto">
            <a:xfrm>
              <a:off x="816" y="2688"/>
              <a:ext cx="3852" cy="252"/>
            </a:xfrm>
            <a:prstGeom prst="rect">
              <a:avLst/>
            </a:prstGeom>
            <a:noFill/>
            <a:ln w="9525">
              <a:noFill/>
              <a:miter lim="800000"/>
              <a:headEnd/>
              <a:tailEnd/>
            </a:ln>
          </p:spPr>
          <p:txBody>
            <a:bodyPr wrap="square">
              <a:spAutoFit/>
            </a:bodyPr>
            <a:lstStyle/>
            <a:p>
              <a:r>
                <a:rPr lang="zh-CN" altLang="en-US" sz="2000" b="1">
                  <a:solidFill>
                    <a:srgbClr val="C00000"/>
                  </a:solidFill>
                  <a:latin typeface="楷体_GB2312" pitchFamily="49" charset="-122"/>
                </a:rPr>
                <a:t>单位位移法</a:t>
              </a:r>
              <a:r>
                <a:rPr lang="zh-CN" altLang="en-US" sz="2000" b="1">
                  <a:latin typeface="楷体_GB2312" pitchFamily="49" charset="-122"/>
                </a:rPr>
                <a:t>的虚功方程                 </a:t>
              </a:r>
              <a:r>
                <a:rPr lang="zh-CN" altLang="en-US" sz="2000" b="1">
                  <a:solidFill>
                    <a:srgbClr val="C00000"/>
                  </a:solidFill>
                  <a:latin typeface="楷体_GB2312" pitchFamily="49" charset="-122"/>
                </a:rPr>
                <a:t>平衡方程</a:t>
              </a:r>
            </a:p>
          </p:txBody>
        </p:sp>
        <p:sp>
          <p:nvSpPr>
            <p:cNvPr id="108" name="AutoShape 9"/>
            <p:cNvSpPr>
              <a:spLocks noChangeArrowheads="1"/>
            </p:cNvSpPr>
            <p:nvPr/>
          </p:nvSpPr>
          <p:spPr bwMode="auto">
            <a:xfrm>
              <a:off x="2875" y="2687"/>
              <a:ext cx="540" cy="261"/>
            </a:xfrm>
            <a:prstGeom prst="rightArrow">
              <a:avLst>
                <a:gd name="adj1" fmla="val 50000"/>
                <a:gd name="adj2" fmla="val 50245"/>
              </a:avLst>
            </a:prstGeom>
            <a:solidFill>
              <a:srgbClr val="0070C0"/>
            </a:solidFill>
            <a:ln w="28575">
              <a:solidFill>
                <a:schemeClr val="tx1"/>
              </a:solidFill>
              <a:miter lim="800000"/>
              <a:headEnd/>
              <a:tailEnd/>
            </a:ln>
          </p:spPr>
          <p:txBody>
            <a:bodyPr wrap="none" anchor="ctr"/>
            <a:lstStyle/>
            <a:p>
              <a:endParaRPr lang="zh-CN" altLang="en-US" sz="2000"/>
            </a:p>
          </p:txBody>
        </p:sp>
      </p:grpSp>
      <p:grpSp>
        <p:nvGrpSpPr>
          <p:cNvPr id="111" name="Group 10"/>
          <p:cNvGrpSpPr>
            <a:grpSpLocks/>
          </p:cNvGrpSpPr>
          <p:nvPr/>
        </p:nvGrpSpPr>
        <p:grpSpPr bwMode="auto">
          <a:xfrm>
            <a:off x="1600232" y="5624531"/>
            <a:ext cx="6186488" cy="447675"/>
            <a:chOff x="864" y="3111"/>
            <a:chExt cx="3897" cy="282"/>
          </a:xfrm>
        </p:grpSpPr>
        <p:sp>
          <p:nvSpPr>
            <p:cNvPr id="113" name="Text Box 11"/>
            <p:cNvSpPr txBox="1">
              <a:spLocks noChangeArrowheads="1"/>
            </p:cNvSpPr>
            <p:nvPr/>
          </p:nvSpPr>
          <p:spPr bwMode="auto">
            <a:xfrm>
              <a:off x="864" y="3120"/>
              <a:ext cx="3897" cy="252"/>
            </a:xfrm>
            <a:prstGeom prst="rect">
              <a:avLst/>
            </a:prstGeom>
            <a:noFill/>
            <a:ln w="9525">
              <a:noFill/>
              <a:miter lim="800000"/>
              <a:headEnd/>
              <a:tailEnd/>
            </a:ln>
          </p:spPr>
          <p:txBody>
            <a:bodyPr wrap="square">
              <a:spAutoFit/>
            </a:bodyPr>
            <a:lstStyle/>
            <a:p>
              <a:r>
                <a:rPr lang="zh-CN" altLang="en-US" sz="2000" b="1">
                  <a:solidFill>
                    <a:srgbClr val="C00000"/>
                  </a:solidFill>
                  <a:latin typeface="楷体_GB2312" pitchFamily="49" charset="-122"/>
                </a:rPr>
                <a:t>单位荷载法</a:t>
              </a:r>
              <a:r>
                <a:rPr lang="zh-CN" altLang="en-US" sz="2000" b="1">
                  <a:latin typeface="楷体_GB2312" pitchFamily="49" charset="-122"/>
                </a:rPr>
                <a:t>的虚功方程                 </a:t>
              </a:r>
              <a:r>
                <a:rPr lang="zh-CN" altLang="en-US" sz="2000" b="1">
                  <a:solidFill>
                    <a:srgbClr val="C00000"/>
                  </a:solidFill>
                  <a:latin typeface="楷体_GB2312" pitchFamily="49" charset="-122"/>
                </a:rPr>
                <a:t>几何方程</a:t>
              </a:r>
            </a:p>
          </p:txBody>
        </p:sp>
        <p:sp>
          <p:nvSpPr>
            <p:cNvPr id="114" name="AutoShape 12"/>
            <p:cNvSpPr>
              <a:spLocks noChangeArrowheads="1"/>
            </p:cNvSpPr>
            <p:nvPr/>
          </p:nvSpPr>
          <p:spPr bwMode="auto">
            <a:xfrm>
              <a:off x="2934" y="3111"/>
              <a:ext cx="540" cy="282"/>
            </a:xfrm>
            <a:prstGeom prst="rightArrow">
              <a:avLst>
                <a:gd name="adj1" fmla="val 50000"/>
                <a:gd name="adj2" fmla="val 50245"/>
              </a:avLst>
            </a:prstGeom>
            <a:solidFill>
              <a:srgbClr val="0070C0"/>
            </a:solidFill>
            <a:ln w="28575">
              <a:solidFill>
                <a:schemeClr val="tx1"/>
              </a:solidFill>
              <a:miter lim="800000"/>
              <a:headEnd/>
              <a:tailEnd/>
            </a:ln>
          </p:spPr>
          <p:txBody>
            <a:bodyPr wrap="none" anchor="ctr"/>
            <a:lstStyle/>
            <a:p>
              <a:endParaRPr lang="zh-CN" alt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9">
                                            <p:txEl>
                                              <p:pRg st="0" end="0"/>
                                            </p:txEl>
                                          </p:spTgt>
                                        </p:tgtEl>
                                        <p:attrNameLst>
                                          <p:attrName>style.visibility</p:attrName>
                                        </p:attrNameLst>
                                      </p:cBhvr>
                                      <p:to>
                                        <p:strVal val="visible"/>
                                      </p:to>
                                    </p:set>
                                    <p:animEffect transition="in" filter="wipe(down)">
                                      <p:cBhvr>
                                        <p:cTn id="7" dur="500"/>
                                        <p:tgtEl>
                                          <p:spTgt spid="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03"/>
                                        </p:tgtEl>
                                        <p:attrNameLst>
                                          <p:attrName>style.visibility</p:attrName>
                                        </p:attrNameLst>
                                      </p:cBhvr>
                                      <p:to>
                                        <p:strVal val="visible"/>
                                      </p:to>
                                    </p:set>
                                    <p:anim calcmode="lin" valueType="num">
                                      <p:cBhvr additive="base">
                                        <p:cTn id="12" dur="500" fill="hold"/>
                                        <p:tgtEl>
                                          <p:spTgt spid="103"/>
                                        </p:tgtEl>
                                        <p:attrNameLst>
                                          <p:attrName>ppt_x</p:attrName>
                                        </p:attrNameLst>
                                      </p:cBhvr>
                                      <p:tavLst>
                                        <p:tav tm="0">
                                          <p:val>
                                            <p:strVal val="1+#ppt_w/2"/>
                                          </p:val>
                                        </p:tav>
                                        <p:tav tm="100000">
                                          <p:val>
                                            <p:strVal val="#ppt_x"/>
                                          </p:val>
                                        </p:tav>
                                      </p:tavLst>
                                    </p:anim>
                                    <p:anim calcmode="lin" valueType="num">
                                      <p:cBhvr additive="base">
                                        <p:cTn id="13" dur="500" fill="hold"/>
                                        <p:tgtEl>
                                          <p:spTgt spid="10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1"/>
                                        </p:tgtEl>
                                        <p:attrNameLst>
                                          <p:attrName>style.visibility</p:attrName>
                                        </p:attrNameLst>
                                      </p:cBhvr>
                                      <p:to>
                                        <p:strVal val="visible"/>
                                      </p:to>
                                    </p:set>
                                    <p:anim calcmode="lin" valueType="num">
                                      <p:cBhvr additive="base">
                                        <p:cTn id="18" dur="500" fill="hold"/>
                                        <p:tgtEl>
                                          <p:spTgt spid="111"/>
                                        </p:tgtEl>
                                        <p:attrNameLst>
                                          <p:attrName>ppt_x</p:attrName>
                                        </p:attrNameLst>
                                      </p:cBhvr>
                                      <p:tavLst>
                                        <p:tav tm="0">
                                          <p:val>
                                            <p:strVal val="#ppt_x"/>
                                          </p:val>
                                        </p:tav>
                                        <p:tav tm="100000">
                                          <p:val>
                                            <p:strVal val="#ppt_x"/>
                                          </p:val>
                                        </p:tav>
                                      </p:tavLst>
                                    </p:anim>
                                    <p:anim calcmode="lin" valueType="num">
                                      <p:cBhvr additive="base">
                                        <p:cTn id="19"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9">
                                            <p:txEl>
                                              <p:pRg st="1" end="1"/>
                                            </p:txEl>
                                          </p:spTgt>
                                        </p:tgtEl>
                                        <p:attrNameLst>
                                          <p:attrName>style.visibility</p:attrName>
                                        </p:attrNameLst>
                                      </p:cBhvr>
                                      <p:to>
                                        <p:strVal val="visible"/>
                                      </p:to>
                                    </p:set>
                                    <p:animEffect transition="in" filter="wipe(down)">
                                      <p:cBhvr>
                                        <p:cTn id="24" dur="500"/>
                                        <p:tgtEl>
                                          <p:spTgt spid="8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89">
                                            <p:txEl>
                                              <p:pRg st="2" end="2"/>
                                            </p:txEl>
                                          </p:spTgt>
                                        </p:tgtEl>
                                        <p:attrNameLst>
                                          <p:attrName>style.visibility</p:attrName>
                                        </p:attrNameLst>
                                      </p:cBhvr>
                                      <p:to>
                                        <p:strVal val="visible"/>
                                      </p:to>
                                    </p:set>
                                    <p:animEffect transition="in" filter="wipe(down)">
                                      <p:cBhvr>
                                        <p:cTn id="29" dur="500"/>
                                        <p:tgtEl>
                                          <p:spTgt spid="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支座移动时静定结构位移计算</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99" name="组合 98"/>
          <p:cNvGrpSpPr/>
          <p:nvPr/>
        </p:nvGrpSpPr>
        <p:grpSpPr>
          <a:xfrm>
            <a:off x="4643438" y="2071678"/>
            <a:ext cx="4238625" cy="1419225"/>
            <a:chOff x="4643438" y="2285992"/>
            <a:chExt cx="4238625" cy="1419225"/>
          </a:xfrm>
        </p:grpSpPr>
        <p:pic>
          <p:nvPicPr>
            <p:cNvPr id="381954" name="Picture 2"/>
            <p:cNvPicPr>
              <a:picLocks noChangeAspect="1" noChangeArrowheads="1"/>
            </p:cNvPicPr>
            <p:nvPr/>
          </p:nvPicPr>
          <p:blipFill>
            <a:blip r:embed="rId3"/>
            <a:srcRect/>
            <a:stretch>
              <a:fillRect/>
            </a:stretch>
          </p:blipFill>
          <p:spPr bwMode="auto">
            <a:xfrm>
              <a:off x="4643438" y="2285992"/>
              <a:ext cx="4238625" cy="1419225"/>
            </a:xfrm>
            <a:prstGeom prst="rect">
              <a:avLst/>
            </a:prstGeom>
            <a:noFill/>
            <a:ln w="9525">
              <a:noFill/>
              <a:miter lim="800000"/>
              <a:headEnd/>
              <a:tailEnd/>
            </a:ln>
            <a:effectLst/>
          </p:spPr>
        </p:pic>
        <p:cxnSp>
          <p:nvCxnSpPr>
            <p:cNvPr id="93" name="直接连接符 92"/>
            <p:cNvCxnSpPr/>
            <p:nvPr/>
          </p:nvCxnSpPr>
          <p:spPr bwMode="auto">
            <a:xfrm>
              <a:off x="5072066" y="2539549"/>
              <a:ext cx="2286016" cy="61200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96" name="直接连接符 95"/>
            <p:cNvCxnSpPr/>
            <p:nvPr/>
          </p:nvCxnSpPr>
          <p:spPr bwMode="auto">
            <a:xfrm flipV="1">
              <a:off x="7403764" y="3026737"/>
              <a:ext cx="1071570" cy="142876"/>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sp>
        <p:nvSpPr>
          <p:cNvPr id="102" name="TextBox 101"/>
          <p:cNvSpPr txBox="1"/>
          <p:nvPr/>
        </p:nvSpPr>
        <p:spPr>
          <a:xfrm>
            <a:off x="1357290" y="3071810"/>
            <a:ext cx="2954655" cy="369332"/>
          </a:xfrm>
          <a:prstGeom prst="rect">
            <a:avLst/>
          </a:prstGeom>
          <a:noFill/>
          <a:ln w="28575">
            <a:noFill/>
          </a:ln>
        </p:spPr>
        <p:txBody>
          <a:bodyPr wrap="none" rtlCol="0">
            <a:spAutoFit/>
          </a:bodyPr>
          <a:lstStyle/>
          <a:p>
            <a:r>
              <a:rPr lang="zh-CN" altLang="en-US" b="1">
                <a:solidFill>
                  <a:srgbClr val="C00000"/>
                </a:solidFill>
              </a:rPr>
              <a:t>支座移动，会引起内力吗？</a:t>
            </a:r>
          </a:p>
        </p:txBody>
      </p:sp>
      <p:sp>
        <p:nvSpPr>
          <p:cNvPr id="103" name="TextBox 102"/>
          <p:cNvSpPr txBox="1"/>
          <p:nvPr/>
        </p:nvSpPr>
        <p:spPr>
          <a:xfrm>
            <a:off x="1357290" y="3429000"/>
            <a:ext cx="6647974" cy="369332"/>
          </a:xfrm>
          <a:prstGeom prst="rect">
            <a:avLst/>
          </a:prstGeom>
          <a:noFill/>
          <a:ln w="28575">
            <a:noFill/>
          </a:ln>
        </p:spPr>
        <p:txBody>
          <a:bodyPr wrap="none" rtlCol="0">
            <a:spAutoFit/>
          </a:bodyPr>
          <a:lstStyle/>
          <a:p>
            <a:r>
              <a:rPr lang="zh-CN" altLang="en-US" b="1">
                <a:solidFill>
                  <a:srgbClr val="0033CC"/>
                </a:solidFill>
              </a:rPr>
              <a:t>静定结构，无外力则无内力，故无应变，属于刚体体系位移问题</a:t>
            </a:r>
          </a:p>
        </p:txBody>
      </p:sp>
      <p:sp>
        <p:nvSpPr>
          <p:cNvPr id="24" name="Rectangle 6"/>
          <p:cNvSpPr>
            <a:spLocks noChangeArrowheads="1"/>
          </p:cNvSpPr>
          <p:nvPr/>
        </p:nvSpPr>
        <p:spPr bwMode="auto">
          <a:xfrm>
            <a:off x="469540" y="1796794"/>
            <a:ext cx="8245864" cy="1323439"/>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例：图示静定多跨梁中，支座</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有给定的竖向位移 </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A</a:t>
            </a:r>
            <a:r>
              <a:rPr lang="zh-CN" altLang="en-US" sz="2000" b="1">
                <a:latin typeface="Times New Roman" pitchFamily="18" charset="0"/>
                <a:cs typeface="Times New Roman" pitchFamily="18" charset="0"/>
              </a:rPr>
              <a:t>，现拟求</a:t>
            </a:r>
            <a:endParaRPr lang="en-US" altLang="zh-CN" sz="2000" b="1">
              <a:latin typeface="Times New Roman" pitchFamily="18" charset="0"/>
              <a:cs typeface="Times New Roman" pitchFamily="18" charset="0"/>
            </a:endParaRPr>
          </a:p>
          <a:p>
            <a:pPr marL="742950" lvl="1" indent="-285750" fontAlgn="base">
              <a:lnSpc>
                <a:spcPct val="120000"/>
              </a:lnSpc>
              <a:spcBef>
                <a:spcPct val="20000"/>
              </a:spcBef>
              <a:spcAft>
                <a:spcPct val="0"/>
              </a:spcAft>
            </a:pPr>
            <a:r>
              <a:rPr lang="en-US" altLang="zh-CN" sz="2000" b="1">
                <a:latin typeface="Times New Roman" pitchFamily="18" charset="0"/>
                <a:cs typeface="Times New Roman" pitchFamily="18" charset="0"/>
              </a:rPr>
              <a:t>              ⑴ </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742950" lvl="1" indent="-285750" fontAlgn="base">
              <a:lnSpc>
                <a:spcPct val="120000"/>
              </a:lnSpc>
              <a:spcBef>
                <a:spcPct val="20000"/>
              </a:spcBef>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杆</a:t>
            </a:r>
            <a:r>
              <a:rPr lang="en-US" altLang="zh-CN" sz="2000" b="1" i="1">
                <a:latin typeface="Times New Roman" pitchFamily="18" charset="0"/>
                <a:cs typeface="Times New Roman" pitchFamily="18" charset="0"/>
              </a:rPr>
              <a:t>CD</a:t>
            </a:r>
            <a:r>
              <a:rPr lang="zh-CN" altLang="en-US" sz="2000" b="1">
                <a:latin typeface="Times New Roman" pitchFamily="18" charset="0"/>
                <a:cs typeface="Times New Roman" pitchFamily="18" charset="0"/>
              </a:rPr>
              <a:t>的转角</a:t>
            </a:r>
            <a:r>
              <a:rPr lang="el-GR" altLang="zh-CN" sz="2000" b="1" i="1">
                <a:latin typeface="Times New Roman" pitchFamily="18" charset="0"/>
                <a:cs typeface="Times New Roman" pitchFamily="18" charset="0"/>
              </a:rPr>
              <a:t>β</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105" name="TextBox 104"/>
          <p:cNvSpPr txBox="1"/>
          <p:nvPr/>
        </p:nvSpPr>
        <p:spPr>
          <a:xfrm>
            <a:off x="1253578" y="3814596"/>
            <a:ext cx="3760966" cy="400110"/>
          </a:xfrm>
          <a:prstGeom prst="rect">
            <a:avLst/>
          </a:prstGeom>
          <a:noFill/>
          <a:ln w="28575">
            <a:noFill/>
          </a:ln>
        </p:spPr>
        <p:txBody>
          <a:bodyPr wrap="none" rtlCol="0">
            <a:spAutoFit/>
          </a:bodyPr>
          <a:lstStyle/>
          <a:p>
            <a:r>
              <a:rPr lang="zh-CN" altLang="en-US" sz="2000" b="1"/>
              <a:t>解：⑴ 在</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点施加单位竖向荷载</a:t>
            </a:r>
            <a:endParaRPr lang="zh-CN" altLang="en-US" sz="2000" b="1"/>
          </a:p>
        </p:txBody>
      </p:sp>
      <p:grpSp>
        <p:nvGrpSpPr>
          <p:cNvPr id="119" name="组合 118"/>
          <p:cNvGrpSpPr/>
          <p:nvPr/>
        </p:nvGrpSpPr>
        <p:grpSpPr>
          <a:xfrm>
            <a:off x="5214942" y="3857628"/>
            <a:ext cx="3648482" cy="1143008"/>
            <a:chOff x="5214942" y="3857628"/>
            <a:chExt cx="3648482" cy="1143008"/>
          </a:xfrm>
        </p:grpSpPr>
        <p:grpSp>
          <p:nvGrpSpPr>
            <p:cNvPr id="113" name="组合 112"/>
            <p:cNvGrpSpPr/>
            <p:nvPr/>
          </p:nvGrpSpPr>
          <p:grpSpPr>
            <a:xfrm>
              <a:off x="5214942" y="3857628"/>
              <a:ext cx="3648482" cy="1143008"/>
              <a:chOff x="5214942" y="3857628"/>
              <a:chExt cx="3648482" cy="1143008"/>
            </a:xfrm>
          </p:grpSpPr>
          <p:pic>
            <p:nvPicPr>
              <p:cNvPr id="381955" name="Picture 3"/>
              <p:cNvPicPr>
                <a:picLocks noChangeAspect="1" noChangeArrowheads="1"/>
              </p:cNvPicPr>
              <p:nvPr/>
            </p:nvPicPr>
            <p:blipFill>
              <a:blip r:embed="rId4"/>
              <a:srcRect/>
              <a:stretch>
                <a:fillRect/>
              </a:stretch>
            </p:blipFill>
            <p:spPr bwMode="auto">
              <a:xfrm>
                <a:off x="5214942" y="3857628"/>
                <a:ext cx="3648482" cy="1143008"/>
              </a:xfrm>
              <a:prstGeom prst="rect">
                <a:avLst/>
              </a:prstGeom>
              <a:noFill/>
              <a:ln w="9525">
                <a:noFill/>
                <a:miter lim="800000"/>
                <a:headEnd/>
                <a:tailEnd/>
              </a:ln>
              <a:effectLst/>
            </p:spPr>
          </p:pic>
          <p:cxnSp>
            <p:nvCxnSpPr>
              <p:cNvPr id="111" name="直接箭头连接符 110"/>
              <p:cNvCxnSpPr/>
              <p:nvPr/>
            </p:nvCxnSpPr>
            <p:spPr bwMode="auto">
              <a:xfrm rot="5400000">
                <a:off x="7136455" y="4036223"/>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cxnSp>
          <p:nvCxnSpPr>
            <p:cNvPr id="115" name="直接箭头连接符 114"/>
            <p:cNvCxnSpPr/>
            <p:nvPr/>
          </p:nvCxnSpPr>
          <p:spPr bwMode="auto">
            <a:xfrm rot="5400000">
              <a:off x="5215249" y="461769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16" name="直接箭头连接符 115"/>
            <p:cNvCxnSpPr/>
            <p:nvPr/>
          </p:nvCxnSpPr>
          <p:spPr bwMode="auto">
            <a:xfrm rot="16200000" flipV="1">
              <a:off x="6662567" y="468526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17" name="直接箭头连接符 116"/>
            <p:cNvCxnSpPr/>
            <p:nvPr/>
          </p:nvCxnSpPr>
          <p:spPr bwMode="auto">
            <a:xfrm rot="16200000" flipV="1">
              <a:off x="8080569" y="4628449"/>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18" name="直接箭头连接符 117"/>
            <p:cNvCxnSpPr/>
            <p:nvPr/>
          </p:nvCxnSpPr>
          <p:spPr bwMode="auto">
            <a:xfrm rot="10800000">
              <a:off x="8414655" y="4252393"/>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grpSp>
        <p:nvGrpSpPr>
          <p:cNvPr id="121" name="组合 120"/>
          <p:cNvGrpSpPr/>
          <p:nvPr/>
        </p:nvGrpSpPr>
        <p:grpSpPr>
          <a:xfrm>
            <a:off x="5143504" y="3872588"/>
            <a:ext cx="3693260" cy="1082328"/>
            <a:chOff x="5143504" y="3857628"/>
            <a:chExt cx="3693260" cy="1082328"/>
          </a:xfrm>
        </p:grpSpPr>
        <p:sp>
          <p:nvSpPr>
            <p:cNvPr id="114" name="矩形 113"/>
            <p:cNvSpPr/>
            <p:nvPr/>
          </p:nvSpPr>
          <p:spPr bwMode="auto">
            <a:xfrm>
              <a:off x="5143504" y="4489812"/>
              <a:ext cx="3429024" cy="450144"/>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120" name="矩形 119"/>
            <p:cNvSpPr/>
            <p:nvPr/>
          </p:nvSpPr>
          <p:spPr bwMode="auto">
            <a:xfrm>
              <a:off x="8479574" y="3857628"/>
              <a:ext cx="357190" cy="71438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122" name="TextBox 121"/>
          <p:cNvSpPr txBox="1"/>
          <p:nvPr/>
        </p:nvSpPr>
        <p:spPr>
          <a:xfrm>
            <a:off x="1785918" y="4222070"/>
            <a:ext cx="3177473" cy="400110"/>
          </a:xfrm>
          <a:prstGeom prst="rect">
            <a:avLst/>
          </a:prstGeom>
          <a:noFill/>
          <a:ln w="28575">
            <a:noFill/>
          </a:ln>
        </p:spPr>
        <p:txBody>
          <a:bodyPr wrap="none" rtlCol="0">
            <a:spAutoFit/>
          </a:bodyPr>
          <a:lstStyle/>
          <a:p>
            <a:r>
              <a:rPr lang="zh-CN" altLang="en-US" sz="2000" b="1"/>
              <a:t>⑵ 在</a:t>
            </a:r>
            <a:r>
              <a:rPr lang="en-US" altLang="zh-CN" sz="2000" b="1" i="1">
                <a:latin typeface="Times New Roman" pitchFamily="18" charset="0"/>
                <a:cs typeface="Times New Roman" pitchFamily="18" charset="0"/>
              </a:rPr>
              <a:t>CD</a:t>
            </a:r>
            <a:r>
              <a:rPr lang="zh-CN" altLang="en-US" sz="2000" b="1">
                <a:latin typeface="Times New Roman" pitchFamily="18" charset="0"/>
                <a:cs typeface="Times New Roman" pitchFamily="18" charset="0"/>
              </a:rPr>
              <a:t>杆上施加单位力耦</a:t>
            </a:r>
            <a:endParaRPr lang="zh-CN" altLang="en-US" sz="2000" b="1"/>
          </a:p>
        </p:txBody>
      </p:sp>
      <p:grpSp>
        <p:nvGrpSpPr>
          <p:cNvPr id="127" name="组合 126"/>
          <p:cNvGrpSpPr/>
          <p:nvPr/>
        </p:nvGrpSpPr>
        <p:grpSpPr>
          <a:xfrm>
            <a:off x="5160078" y="5129124"/>
            <a:ext cx="3698202" cy="969871"/>
            <a:chOff x="5160078" y="5129124"/>
            <a:chExt cx="3698202" cy="969871"/>
          </a:xfrm>
        </p:grpSpPr>
        <p:pic>
          <p:nvPicPr>
            <p:cNvPr id="381956" name="Picture 4"/>
            <p:cNvPicPr>
              <a:picLocks noChangeAspect="1" noChangeArrowheads="1"/>
            </p:cNvPicPr>
            <p:nvPr/>
          </p:nvPicPr>
          <p:blipFill>
            <a:blip r:embed="rId5"/>
            <a:srcRect/>
            <a:stretch>
              <a:fillRect/>
            </a:stretch>
          </p:blipFill>
          <p:spPr bwMode="auto">
            <a:xfrm>
              <a:off x="5160078" y="5129124"/>
              <a:ext cx="3698202" cy="969871"/>
            </a:xfrm>
            <a:prstGeom prst="rect">
              <a:avLst/>
            </a:prstGeom>
            <a:noFill/>
            <a:ln w="9525">
              <a:noFill/>
              <a:miter lim="800000"/>
              <a:headEnd/>
              <a:tailEnd/>
            </a:ln>
            <a:effectLst/>
          </p:spPr>
        </p:pic>
        <p:sp>
          <p:nvSpPr>
            <p:cNvPr id="123" name="弧形 122"/>
            <p:cNvSpPr/>
            <p:nvPr/>
          </p:nvSpPr>
          <p:spPr bwMode="auto">
            <a:xfrm>
              <a:off x="8109038" y="5286388"/>
              <a:ext cx="285752" cy="221744"/>
            </a:xfrm>
            <a:prstGeom prst="arc">
              <a:avLst>
                <a:gd name="adj1" fmla="val 10013134"/>
                <a:gd name="adj2" fmla="val 19076290"/>
              </a:avLst>
            </a:prstGeom>
            <a:noFill/>
            <a:ln w="28575"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cxnSp>
          <p:nvCxnSpPr>
            <p:cNvPr id="124" name="直接箭头连接符 123"/>
            <p:cNvCxnSpPr/>
            <p:nvPr/>
          </p:nvCxnSpPr>
          <p:spPr bwMode="auto">
            <a:xfrm rot="5400000">
              <a:off x="5222435" y="576581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5" name="直接箭头连接符 124"/>
            <p:cNvCxnSpPr/>
            <p:nvPr/>
          </p:nvCxnSpPr>
          <p:spPr bwMode="auto">
            <a:xfrm rot="16200000" flipV="1">
              <a:off x="6666499" y="5807663"/>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6" name="直接箭头连接符 125"/>
            <p:cNvCxnSpPr/>
            <p:nvPr/>
          </p:nvCxnSpPr>
          <p:spPr bwMode="auto">
            <a:xfrm rot="5400000">
              <a:off x="8102815" y="5771088"/>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grpSp>
        <p:nvGrpSpPr>
          <p:cNvPr id="128" name="组合 127"/>
          <p:cNvGrpSpPr/>
          <p:nvPr/>
        </p:nvGrpSpPr>
        <p:grpSpPr>
          <a:xfrm>
            <a:off x="5143504" y="5010454"/>
            <a:ext cx="3693260" cy="1082328"/>
            <a:chOff x="5143504" y="3857628"/>
            <a:chExt cx="3693260" cy="1082328"/>
          </a:xfrm>
        </p:grpSpPr>
        <p:sp>
          <p:nvSpPr>
            <p:cNvPr id="129" name="矩形 128"/>
            <p:cNvSpPr/>
            <p:nvPr/>
          </p:nvSpPr>
          <p:spPr bwMode="auto">
            <a:xfrm>
              <a:off x="5143504" y="4489812"/>
              <a:ext cx="3429024" cy="450144"/>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131" name="矩形 130"/>
            <p:cNvSpPr/>
            <p:nvPr/>
          </p:nvSpPr>
          <p:spPr bwMode="auto">
            <a:xfrm>
              <a:off x="8479574" y="3857628"/>
              <a:ext cx="357190" cy="71438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132" name="TextBox 131"/>
          <p:cNvSpPr txBox="1"/>
          <p:nvPr/>
        </p:nvSpPr>
        <p:spPr>
          <a:xfrm>
            <a:off x="1785918" y="4572008"/>
            <a:ext cx="1723549" cy="400110"/>
          </a:xfrm>
          <a:prstGeom prst="rect">
            <a:avLst/>
          </a:prstGeom>
          <a:noFill/>
          <a:ln w="28575">
            <a:noFill/>
          </a:ln>
        </p:spPr>
        <p:txBody>
          <a:bodyPr wrap="none" rtlCol="0">
            <a:spAutoFit/>
          </a:bodyPr>
          <a:lstStyle/>
          <a:p>
            <a:r>
              <a:rPr lang="zh-CN" altLang="en-US" sz="2000" b="1"/>
              <a:t>虚功方程如下</a:t>
            </a:r>
          </a:p>
        </p:txBody>
      </p:sp>
      <p:sp>
        <p:nvSpPr>
          <p:cNvPr id="133" name="TextBox 132"/>
          <p:cNvSpPr txBox="1"/>
          <p:nvPr/>
        </p:nvSpPr>
        <p:spPr>
          <a:xfrm flipH="1">
            <a:off x="2000232" y="4879026"/>
            <a:ext cx="2168860" cy="400110"/>
          </a:xfrm>
          <a:prstGeom prst="rect">
            <a:avLst/>
          </a:prstGeom>
          <a:noFill/>
          <a:ln w="28575">
            <a:noFill/>
          </a:ln>
        </p:spPr>
        <p:txBody>
          <a:bodyPr wrap="square" rtlCol="0">
            <a:spAutoFit/>
          </a:bodyPr>
          <a:lstStyle/>
          <a:p>
            <a:r>
              <a:rPr lang="en-US" altLang="zh-CN" sz="2000" b="1">
                <a:latin typeface="Times New Roman" pitchFamily="18" charset="0"/>
                <a:cs typeface="Times New Roman" pitchFamily="18" charset="0"/>
              </a:rPr>
              <a:t>1·</a:t>
            </a:r>
            <a:r>
              <a:rPr lang="el-GR" altLang="zh-CN" sz="2000" b="1" i="1">
                <a:latin typeface="Times New Roman" pitchFamily="18" charset="0"/>
                <a:cs typeface="Times New Roman" pitchFamily="18" charset="0"/>
              </a:rPr>
              <a:t> Δ</a:t>
            </a:r>
            <a:r>
              <a:rPr lang="en-US" altLang="zh-CN" sz="2000" b="1" i="1" baseline="-25000">
                <a:latin typeface="Times New Roman" pitchFamily="18" charset="0"/>
                <a:cs typeface="Times New Roman" pitchFamily="18" charset="0"/>
              </a:rPr>
              <a:t>C </a:t>
            </a: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AC</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A </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0</a:t>
            </a:r>
            <a:endParaRPr lang="zh-CN" altLang="en-US" sz="2000" b="1">
              <a:latin typeface="Times New Roman" pitchFamily="18" charset="0"/>
              <a:cs typeface="Times New Roman" pitchFamily="18" charset="0"/>
            </a:endParaRPr>
          </a:p>
        </p:txBody>
      </p:sp>
      <p:sp>
        <p:nvSpPr>
          <p:cNvPr id="134" name="TextBox 133"/>
          <p:cNvSpPr txBox="1"/>
          <p:nvPr/>
        </p:nvSpPr>
        <p:spPr>
          <a:xfrm flipH="1">
            <a:off x="2035317" y="5269381"/>
            <a:ext cx="2168860" cy="400110"/>
          </a:xfrm>
          <a:prstGeom prst="rect">
            <a:avLst/>
          </a:prstGeom>
          <a:noFill/>
          <a:ln w="28575">
            <a:noFill/>
          </a:ln>
        </p:spPr>
        <p:txBody>
          <a:bodyPr wrap="square" rtlCol="0">
            <a:spAutoFit/>
          </a:bodyPr>
          <a:lstStyle/>
          <a:p>
            <a:r>
              <a:rPr lang="en-US" altLang="zh-CN" sz="2000" b="1">
                <a:latin typeface="Times New Roman" pitchFamily="18" charset="0"/>
                <a:cs typeface="Times New Roman" pitchFamily="18" charset="0"/>
              </a:rPr>
              <a:t>1·</a:t>
            </a:r>
            <a:r>
              <a:rPr lang="el-GR" altLang="zh-CN" sz="2000" b="1" i="1">
                <a:latin typeface="Times New Roman" pitchFamily="18" charset="0"/>
                <a:cs typeface="Times New Roman" pitchFamily="18" charset="0"/>
              </a:rPr>
              <a:t> β</a:t>
            </a:r>
            <a:r>
              <a:rPr lang="en-US" altLang="zh-CN" sz="2000" b="1" i="1">
                <a:latin typeface="Times New Roman" pitchFamily="18" charset="0"/>
                <a:cs typeface="Times New Roman" pitchFamily="18" charset="0"/>
              </a:rPr>
              <a:t> </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A</a:t>
            </a:r>
            <a:r>
              <a:rPr lang="el-GR" altLang="zh-CN" sz="2000" b="1" i="1" baseline="-25000">
                <a:latin typeface="Times New Roman" pitchFamily="18" charset="0"/>
                <a:cs typeface="Times New Roman" pitchFamily="18" charset="0"/>
              </a:rPr>
              <a:t>β</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A </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0</a:t>
            </a:r>
            <a:endParaRPr lang="zh-CN" altLang="en-US" sz="2000" b="1">
              <a:latin typeface="Times New Roman" pitchFamily="18" charset="0"/>
              <a:cs typeface="Times New Roman" pitchFamily="18" charset="0"/>
            </a:endParaRPr>
          </a:p>
        </p:txBody>
      </p:sp>
      <p:sp>
        <p:nvSpPr>
          <p:cNvPr id="135" name="TextBox 134"/>
          <p:cNvSpPr txBox="1"/>
          <p:nvPr/>
        </p:nvSpPr>
        <p:spPr>
          <a:xfrm>
            <a:off x="1785918" y="5690369"/>
            <a:ext cx="3857652" cy="400110"/>
          </a:xfrm>
          <a:prstGeom prst="rect">
            <a:avLst/>
          </a:prstGeom>
          <a:noFill/>
          <a:ln w="28575">
            <a:noFill/>
          </a:ln>
        </p:spPr>
        <p:txBody>
          <a:bodyPr wrap="square" rtlCol="0">
            <a:spAutoFit/>
          </a:bodyPr>
          <a:lstStyle/>
          <a:p>
            <a:r>
              <a:rPr lang="zh-CN" altLang="en-US" sz="2000" b="1"/>
              <a:t>⑶ 求出支座反力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AC</a:t>
            </a:r>
            <a:r>
              <a:rPr lang="zh-CN" altLang="en-US" sz="2000" b="1" i="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A</a:t>
            </a:r>
            <a:r>
              <a:rPr lang="el-GR" altLang="zh-CN" sz="2000" b="1" i="1" baseline="-25000">
                <a:latin typeface="Times New Roman" pitchFamily="18" charset="0"/>
                <a:cs typeface="Times New Roman" pitchFamily="18" charset="0"/>
              </a:rPr>
              <a:t> β</a:t>
            </a:r>
            <a:endParaRPr lang="zh-CN" altLang="en-US" sz="2000" b="1"/>
          </a:p>
        </p:txBody>
      </p:sp>
      <p:sp>
        <p:nvSpPr>
          <p:cNvPr id="136" name="TextBox 135"/>
          <p:cNvSpPr txBox="1"/>
          <p:nvPr/>
        </p:nvSpPr>
        <p:spPr>
          <a:xfrm>
            <a:off x="1785918" y="6072206"/>
            <a:ext cx="2714644" cy="400110"/>
          </a:xfrm>
          <a:prstGeom prst="rect">
            <a:avLst/>
          </a:prstGeom>
          <a:noFill/>
          <a:ln w="28575">
            <a:noFill/>
          </a:ln>
        </p:spPr>
        <p:txBody>
          <a:bodyPr wrap="square" rtlCol="0">
            <a:spAutoFit/>
          </a:bodyPr>
          <a:lstStyle/>
          <a:p>
            <a:r>
              <a:rPr lang="zh-CN" altLang="en-US" sz="2000" b="1"/>
              <a:t>⑷ 解出对应位移</a:t>
            </a:r>
          </a:p>
        </p:txBody>
      </p:sp>
      <p:sp>
        <p:nvSpPr>
          <p:cNvPr id="137" name="矩形 136"/>
          <p:cNvSpPr/>
          <p:nvPr/>
        </p:nvSpPr>
        <p:spPr>
          <a:xfrm>
            <a:off x="4083350" y="6093472"/>
            <a:ext cx="2774666" cy="369332"/>
          </a:xfrm>
          <a:prstGeom prst="rect">
            <a:avLst/>
          </a:prstGeom>
        </p:spPr>
        <p:txBody>
          <a:bodyPr wrap="square">
            <a:spAutoFit/>
          </a:bodyPr>
          <a:lstStyle/>
          <a:p>
            <a:r>
              <a:rPr lang="el-GR" altLang="zh-CN" b="1" i="1">
                <a:latin typeface="Times New Roman" pitchFamily="18" charset="0"/>
                <a:cs typeface="Times New Roman" pitchFamily="18" charset="0"/>
              </a:rPr>
              <a:t>Δ</a:t>
            </a:r>
            <a:r>
              <a:rPr lang="en-US" altLang="zh-CN" b="1" i="1" baseline="-25000">
                <a:latin typeface="Times New Roman" pitchFamily="18" charset="0"/>
                <a:cs typeface="Times New Roman" pitchFamily="18" charset="0"/>
              </a:rPr>
              <a:t>C </a:t>
            </a:r>
            <a:r>
              <a:rPr lang="en-US" altLang="zh-CN" b="1">
                <a:latin typeface="Times New Roman" pitchFamily="18" charset="0"/>
                <a:cs typeface="Times New Roman" pitchFamily="18" charset="0"/>
              </a:rPr>
              <a:t>=</a:t>
            </a:r>
            <a:r>
              <a:rPr lang="en-US" altLang="zh-CN" b="1" i="1">
                <a:latin typeface="Times New Roman" pitchFamily="18" charset="0"/>
                <a:cs typeface="Times New Roman" pitchFamily="18" charset="0"/>
              </a:rPr>
              <a:t> c</a:t>
            </a:r>
            <a:r>
              <a:rPr lang="en-US" altLang="zh-CN" b="1" i="1" baseline="-25000">
                <a:latin typeface="Times New Roman" pitchFamily="18" charset="0"/>
                <a:cs typeface="Times New Roman" pitchFamily="18" charset="0"/>
              </a:rPr>
              <a:t>A </a:t>
            </a:r>
            <a:r>
              <a:rPr lang="en-US" altLang="zh-CN" b="1">
                <a:latin typeface="Times New Roman" pitchFamily="18" charset="0"/>
                <a:cs typeface="Times New Roman" pitchFamily="18" charset="0"/>
              </a:rPr>
              <a:t>/</a:t>
            </a:r>
            <a:r>
              <a:rPr lang="en-US" altLang="zh-CN">
                <a:latin typeface="Times New Roman" pitchFamily="18" charset="0"/>
                <a:cs typeface="Times New Roman" pitchFamily="18" charset="0"/>
              </a:rPr>
              <a:t>3</a:t>
            </a:r>
            <a:r>
              <a:rPr lang="zh-CN" altLang="en-US" b="1">
                <a:latin typeface="Times New Roman" pitchFamily="18" charset="0"/>
                <a:cs typeface="Times New Roman" pitchFamily="18" charset="0"/>
              </a:rPr>
              <a:t>，</a:t>
            </a:r>
            <a:r>
              <a:rPr lang="el-GR" altLang="zh-CN" b="1" i="1">
                <a:latin typeface="Times New Roman" pitchFamily="18" charset="0"/>
                <a:cs typeface="Times New Roman" pitchFamily="18" charset="0"/>
              </a:rPr>
              <a:t> β</a:t>
            </a:r>
            <a:r>
              <a:rPr lang="en-US" altLang="zh-CN" b="1" i="1">
                <a:latin typeface="Times New Roman" pitchFamily="18" charset="0"/>
                <a:cs typeface="Times New Roman" pitchFamily="18" charset="0"/>
              </a:rPr>
              <a:t> </a:t>
            </a:r>
            <a:r>
              <a:rPr lang="en-US" altLang="zh-CN" b="1">
                <a:latin typeface="Times New Roman" pitchFamily="18" charset="0"/>
                <a:cs typeface="Times New Roman" pitchFamily="18" charset="0"/>
              </a:rPr>
              <a:t>=</a:t>
            </a:r>
            <a:r>
              <a:rPr lang="en-US" altLang="zh-CN" b="1" i="1">
                <a:latin typeface="Times New Roman" pitchFamily="18" charset="0"/>
                <a:cs typeface="Times New Roman" pitchFamily="18" charset="0"/>
              </a:rPr>
              <a:t> c</a:t>
            </a:r>
            <a:r>
              <a:rPr lang="en-US" altLang="zh-CN" b="1" i="1" baseline="-25000">
                <a:latin typeface="Times New Roman" pitchFamily="18" charset="0"/>
                <a:cs typeface="Times New Roman" pitchFamily="18" charset="0"/>
              </a:rPr>
              <a:t>A </a:t>
            </a:r>
            <a:r>
              <a:rPr lang="en-US" altLang="zh-CN" b="1">
                <a:latin typeface="Times New Roman" pitchFamily="18" charset="0"/>
                <a:cs typeface="Times New Roman" pitchFamily="18" charset="0"/>
              </a:rPr>
              <a:t>/ </a:t>
            </a:r>
            <a:r>
              <a:rPr lang="en-US" altLang="zh-CN">
                <a:latin typeface="Times New Roman" pitchFamily="18" charset="0"/>
                <a:cs typeface="Times New Roman" pitchFamily="18" charset="0"/>
              </a:rPr>
              <a:t>2</a:t>
            </a:r>
            <a:r>
              <a:rPr lang="en-US" altLang="zh-CN" b="1" i="1">
                <a:latin typeface="Times New Roman" pitchFamily="18" charset="0"/>
                <a:cs typeface="Times New Roman" pitchFamily="18" charset="0"/>
              </a:rPr>
              <a:t>l;</a:t>
            </a:r>
            <a:endParaRPr lang="zh-CN" altLang="en-US"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down)">
                                      <p:cBhvr>
                                        <p:cTn id="7" dur="500"/>
                                        <p:tgtEl>
                                          <p:spTgt spid="2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wipe(down)">
                                      <p:cBhvr>
                                        <p:cTn id="10" dur="500"/>
                                        <p:tgtEl>
                                          <p:spTgt spid="24">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wipe(down)">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9"/>
                                        </p:tgtEl>
                                        <p:attrNameLst>
                                          <p:attrName>style.visibility</p:attrName>
                                        </p:attrNameLst>
                                      </p:cBhvr>
                                      <p:to>
                                        <p:strVal val="visible"/>
                                      </p:to>
                                    </p:set>
                                    <p:animEffect transition="in" filter="fade">
                                      <p:cBhvr>
                                        <p:cTn id="18" dur="2000"/>
                                        <p:tgtEl>
                                          <p:spTgt spid="9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 calcmode="lin" valueType="num">
                                      <p:cBhvr additive="base">
                                        <p:cTn id="23" dur="500" fill="hold"/>
                                        <p:tgtEl>
                                          <p:spTgt spid="102"/>
                                        </p:tgtEl>
                                        <p:attrNameLst>
                                          <p:attrName>ppt_x</p:attrName>
                                        </p:attrNameLst>
                                      </p:cBhvr>
                                      <p:tavLst>
                                        <p:tav tm="0">
                                          <p:val>
                                            <p:strVal val="#ppt_x"/>
                                          </p:val>
                                        </p:tav>
                                        <p:tav tm="100000">
                                          <p:val>
                                            <p:strVal val="#ppt_x"/>
                                          </p:val>
                                        </p:tav>
                                      </p:tavLst>
                                    </p:anim>
                                    <p:anim calcmode="lin" valueType="num">
                                      <p:cBhvr additive="base">
                                        <p:cTn id="24"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3"/>
                                        </p:tgtEl>
                                        <p:attrNameLst>
                                          <p:attrName>style.visibility</p:attrName>
                                        </p:attrNameLst>
                                      </p:cBhvr>
                                      <p:to>
                                        <p:strVal val="visible"/>
                                      </p:to>
                                    </p:set>
                                    <p:anim calcmode="lin" valueType="num">
                                      <p:cBhvr additive="base">
                                        <p:cTn id="29" dur="500" fill="hold"/>
                                        <p:tgtEl>
                                          <p:spTgt spid="103"/>
                                        </p:tgtEl>
                                        <p:attrNameLst>
                                          <p:attrName>ppt_x</p:attrName>
                                        </p:attrNameLst>
                                      </p:cBhvr>
                                      <p:tavLst>
                                        <p:tav tm="0">
                                          <p:val>
                                            <p:strVal val="#ppt_x"/>
                                          </p:val>
                                        </p:tav>
                                        <p:tav tm="100000">
                                          <p:val>
                                            <p:strVal val="#ppt_x"/>
                                          </p:val>
                                        </p:tav>
                                      </p:tavLst>
                                    </p:anim>
                                    <p:anim calcmode="lin" valueType="num">
                                      <p:cBhvr additive="base">
                                        <p:cTn id="30"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5"/>
                                        </p:tgtEl>
                                        <p:attrNameLst>
                                          <p:attrName>style.visibility</p:attrName>
                                        </p:attrNameLst>
                                      </p:cBhvr>
                                      <p:to>
                                        <p:strVal val="visible"/>
                                      </p:to>
                                    </p:set>
                                    <p:anim calcmode="lin" valueType="num">
                                      <p:cBhvr additive="base">
                                        <p:cTn id="35" dur="500" fill="hold"/>
                                        <p:tgtEl>
                                          <p:spTgt spid="105"/>
                                        </p:tgtEl>
                                        <p:attrNameLst>
                                          <p:attrName>ppt_x</p:attrName>
                                        </p:attrNameLst>
                                      </p:cBhvr>
                                      <p:tavLst>
                                        <p:tav tm="0">
                                          <p:val>
                                            <p:strVal val="#ppt_x"/>
                                          </p:val>
                                        </p:tav>
                                        <p:tav tm="100000">
                                          <p:val>
                                            <p:strVal val="#ppt_x"/>
                                          </p:val>
                                        </p:tav>
                                      </p:tavLst>
                                    </p:anim>
                                    <p:anim calcmode="lin" valueType="num">
                                      <p:cBhvr additive="base">
                                        <p:cTn id="36"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2"/>
                                        </p:tgtEl>
                                        <p:attrNameLst>
                                          <p:attrName>style.visibility</p:attrName>
                                        </p:attrNameLst>
                                      </p:cBhvr>
                                      <p:to>
                                        <p:strVal val="visible"/>
                                      </p:to>
                                    </p:set>
                                    <p:anim calcmode="lin" valueType="num">
                                      <p:cBhvr additive="base">
                                        <p:cTn id="47" dur="500" fill="hold"/>
                                        <p:tgtEl>
                                          <p:spTgt spid="122"/>
                                        </p:tgtEl>
                                        <p:attrNameLst>
                                          <p:attrName>ppt_x</p:attrName>
                                        </p:attrNameLst>
                                      </p:cBhvr>
                                      <p:tavLst>
                                        <p:tav tm="0">
                                          <p:val>
                                            <p:strVal val="#ppt_x"/>
                                          </p:val>
                                        </p:tav>
                                        <p:tav tm="100000">
                                          <p:val>
                                            <p:strVal val="#ppt_x"/>
                                          </p:val>
                                        </p:tav>
                                      </p:tavLst>
                                    </p:anim>
                                    <p:anim calcmode="lin" valueType="num">
                                      <p:cBhvr additive="base">
                                        <p:cTn id="48"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32"/>
                                        </p:tgtEl>
                                        <p:attrNameLst>
                                          <p:attrName>style.visibility</p:attrName>
                                        </p:attrNameLst>
                                      </p:cBhvr>
                                      <p:to>
                                        <p:strVal val="visible"/>
                                      </p:to>
                                    </p:set>
                                    <p:anim calcmode="lin" valueType="num">
                                      <p:cBhvr additive="base">
                                        <p:cTn id="59" dur="500" fill="hold"/>
                                        <p:tgtEl>
                                          <p:spTgt spid="132"/>
                                        </p:tgtEl>
                                        <p:attrNameLst>
                                          <p:attrName>ppt_x</p:attrName>
                                        </p:attrNameLst>
                                      </p:cBhvr>
                                      <p:tavLst>
                                        <p:tav tm="0">
                                          <p:val>
                                            <p:strVal val="#ppt_x"/>
                                          </p:val>
                                        </p:tav>
                                        <p:tav tm="100000">
                                          <p:val>
                                            <p:strVal val="#ppt_x"/>
                                          </p:val>
                                        </p:tav>
                                      </p:tavLst>
                                    </p:anim>
                                    <p:anim calcmode="lin" valueType="num">
                                      <p:cBhvr additive="base">
                                        <p:cTn id="60" dur="500" fill="hold"/>
                                        <p:tgtEl>
                                          <p:spTgt spid="13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33"/>
                                        </p:tgtEl>
                                        <p:attrNameLst>
                                          <p:attrName>style.visibility</p:attrName>
                                        </p:attrNameLst>
                                      </p:cBhvr>
                                      <p:to>
                                        <p:strVal val="visible"/>
                                      </p:to>
                                    </p:set>
                                    <p:anim calcmode="lin" valueType="num">
                                      <p:cBhvr additive="base">
                                        <p:cTn id="63" dur="500" fill="hold"/>
                                        <p:tgtEl>
                                          <p:spTgt spid="133"/>
                                        </p:tgtEl>
                                        <p:attrNameLst>
                                          <p:attrName>ppt_x</p:attrName>
                                        </p:attrNameLst>
                                      </p:cBhvr>
                                      <p:tavLst>
                                        <p:tav tm="0">
                                          <p:val>
                                            <p:strVal val="#ppt_x"/>
                                          </p:val>
                                        </p:tav>
                                        <p:tav tm="100000">
                                          <p:val>
                                            <p:strVal val="#ppt_x"/>
                                          </p:val>
                                        </p:tav>
                                      </p:tavLst>
                                    </p:anim>
                                    <p:anim calcmode="lin" valueType="num">
                                      <p:cBhvr additive="base">
                                        <p:cTn id="64" dur="500" fill="hold"/>
                                        <p:tgtEl>
                                          <p:spTgt spid="13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34"/>
                                        </p:tgtEl>
                                        <p:attrNameLst>
                                          <p:attrName>style.visibility</p:attrName>
                                        </p:attrNameLst>
                                      </p:cBhvr>
                                      <p:to>
                                        <p:strVal val="visible"/>
                                      </p:to>
                                    </p:set>
                                    <p:anim calcmode="lin" valueType="num">
                                      <p:cBhvr additive="base">
                                        <p:cTn id="67" dur="500" fill="hold"/>
                                        <p:tgtEl>
                                          <p:spTgt spid="134"/>
                                        </p:tgtEl>
                                        <p:attrNameLst>
                                          <p:attrName>ppt_x</p:attrName>
                                        </p:attrNameLst>
                                      </p:cBhvr>
                                      <p:tavLst>
                                        <p:tav tm="0">
                                          <p:val>
                                            <p:strVal val="#ppt_x"/>
                                          </p:val>
                                        </p:tav>
                                        <p:tav tm="100000">
                                          <p:val>
                                            <p:strVal val="#ppt_x"/>
                                          </p:val>
                                        </p:tav>
                                      </p:tavLst>
                                    </p:anim>
                                    <p:anim calcmode="lin" valueType="num">
                                      <p:cBhvr additive="base">
                                        <p:cTn id="68"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5"/>
                                        </p:tgtEl>
                                        <p:attrNameLst>
                                          <p:attrName>style.visibility</p:attrName>
                                        </p:attrNameLst>
                                      </p:cBhvr>
                                      <p:to>
                                        <p:strVal val="visible"/>
                                      </p:to>
                                    </p:set>
                                    <p:anim calcmode="lin" valueType="num">
                                      <p:cBhvr additive="base">
                                        <p:cTn id="73" dur="500" fill="hold"/>
                                        <p:tgtEl>
                                          <p:spTgt spid="135"/>
                                        </p:tgtEl>
                                        <p:attrNameLst>
                                          <p:attrName>ppt_x</p:attrName>
                                        </p:attrNameLst>
                                      </p:cBhvr>
                                      <p:tavLst>
                                        <p:tav tm="0">
                                          <p:val>
                                            <p:strVal val="#ppt_x"/>
                                          </p:val>
                                        </p:tav>
                                        <p:tav tm="100000">
                                          <p:val>
                                            <p:strVal val="#ppt_x"/>
                                          </p:val>
                                        </p:tav>
                                      </p:tavLst>
                                    </p:anim>
                                    <p:anim calcmode="lin" valueType="num">
                                      <p:cBhvr additive="base">
                                        <p:cTn id="74" dur="500" fill="hold"/>
                                        <p:tgtEl>
                                          <p:spTgt spid="13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 presetClass="exit" presetSubtype="10" fill="hold" nodeType="clickEffect">
                                  <p:stCondLst>
                                    <p:cond delay="0"/>
                                  </p:stCondLst>
                                  <p:childTnLst>
                                    <p:animEffect transition="out" filter="blinds(horizontal)">
                                      <p:cBhvr>
                                        <p:cTn id="78" dur="500"/>
                                        <p:tgtEl>
                                          <p:spTgt spid="121"/>
                                        </p:tgtEl>
                                      </p:cBhvr>
                                    </p:animEffect>
                                    <p:set>
                                      <p:cBhvr>
                                        <p:cTn id="79" dur="1" fill="hold">
                                          <p:stCondLst>
                                            <p:cond delay="499"/>
                                          </p:stCondLst>
                                        </p:cTn>
                                        <p:tgtEl>
                                          <p:spTgt spid="121"/>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3" presetClass="exit" presetSubtype="10" fill="hold" nodeType="clickEffect">
                                  <p:stCondLst>
                                    <p:cond delay="0"/>
                                  </p:stCondLst>
                                  <p:childTnLst>
                                    <p:animEffect transition="out" filter="blinds(horizontal)">
                                      <p:cBhvr>
                                        <p:cTn id="83" dur="500"/>
                                        <p:tgtEl>
                                          <p:spTgt spid="128"/>
                                        </p:tgtEl>
                                      </p:cBhvr>
                                    </p:animEffect>
                                    <p:set>
                                      <p:cBhvr>
                                        <p:cTn id="84" dur="1" fill="hold">
                                          <p:stCondLst>
                                            <p:cond delay="499"/>
                                          </p:stCondLst>
                                        </p:cTn>
                                        <p:tgtEl>
                                          <p:spTgt spid="128"/>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36"/>
                                        </p:tgtEl>
                                        <p:attrNameLst>
                                          <p:attrName>style.visibility</p:attrName>
                                        </p:attrNameLst>
                                      </p:cBhvr>
                                      <p:to>
                                        <p:strVal val="visible"/>
                                      </p:to>
                                    </p:set>
                                    <p:anim calcmode="lin" valueType="num">
                                      <p:cBhvr additive="base">
                                        <p:cTn id="89" dur="500" fill="hold"/>
                                        <p:tgtEl>
                                          <p:spTgt spid="136"/>
                                        </p:tgtEl>
                                        <p:attrNameLst>
                                          <p:attrName>ppt_x</p:attrName>
                                        </p:attrNameLst>
                                      </p:cBhvr>
                                      <p:tavLst>
                                        <p:tav tm="0">
                                          <p:val>
                                            <p:strVal val="#ppt_x"/>
                                          </p:val>
                                        </p:tav>
                                        <p:tav tm="100000">
                                          <p:val>
                                            <p:strVal val="#ppt_x"/>
                                          </p:val>
                                        </p:tav>
                                      </p:tavLst>
                                    </p:anim>
                                    <p:anim calcmode="lin" valueType="num">
                                      <p:cBhvr additive="base">
                                        <p:cTn id="90" dur="500" fill="hold"/>
                                        <p:tgtEl>
                                          <p:spTgt spid="136"/>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2" fill="hold" grpId="0" nodeType="clickEffect">
                                  <p:stCondLst>
                                    <p:cond delay="0"/>
                                  </p:stCondLst>
                                  <p:childTnLst>
                                    <p:set>
                                      <p:cBhvr>
                                        <p:cTn id="94" dur="1" fill="hold">
                                          <p:stCondLst>
                                            <p:cond delay="0"/>
                                          </p:stCondLst>
                                        </p:cTn>
                                        <p:tgtEl>
                                          <p:spTgt spid="137"/>
                                        </p:tgtEl>
                                        <p:attrNameLst>
                                          <p:attrName>style.visibility</p:attrName>
                                        </p:attrNameLst>
                                      </p:cBhvr>
                                      <p:to>
                                        <p:strVal val="visible"/>
                                      </p:to>
                                    </p:set>
                                    <p:anim calcmode="lin" valueType="num">
                                      <p:cBhvr additive="base">
                                        <p:cTn id="95" dur="500" fill="hold"/>
                                        <p:tgtEl>
                                          <p:spTgt spid="137"/>
                                        </p:tgtEl>
                                        <p:attrNameLst>
                                          <p:attrName>ppt_x</p:attrName>
                                        </p:attrNameLst>
                                      </p:cBhvr>
                                      <p:tavLst>
                                        <p:tav tm="0">
                                          <p:val>
                                            <p:strVal val="1+#ppt_w/2"/>
                                          </p:val>
                                        </p:tav>
                                        <p:tav tm="100000">
                                          <p:val>
                                            <p:strVal val="#ppt_x"/>
                                          </p:val>
                                        </p:tav>
                                      </p:tavLst>
                                    </p:anim>
                                    <p:anim calcmode="lin" valueType="num">
                                      <p:cBhvr additive="base">
                                        <p:cTn id="96" dur="500" fill="hold"/>
                                        <p:tgtEl>
                                          <p:spTgt spid="1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24" grpId="0" build="allAtOnce"/>
      <p:bldP spid="105" grpId="0"/>
      <p:bldP spid="122" grpId="0"/>
      <p:bldP spid="132" grpId="0"/>
      <p:bldP spid="133" grpId="0"/>
      <p:bldP spid="134" grpId="0"/>
      <p:bldP spid="135" grpId="0"/>
      <p:bldP spid="136" grpId="0"/>
      <p:bldP spid="1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应用虚力原理求刚体体系的位移</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 name="组合 98"/>
          <p:cNvGrpSpPr/>
          <p:nvPr/>
        </p:nvGrpSpPr>
        <p:grpSpPr>
          <a:xfrm>
            <a:off x="4643438" y="1643050"/>
            <a:ext cx="4238625" cy="1419225"/>
            <a:chOff x="4643438" y="2285992"/>
            <a:chExt cx="4238625" cy="1419225"/>
          </a:xfrm>
        </p:grpSpPr>
        <p:pic>
          <p:nvPicPr>
            <p:cNvPr id="381954" name="Picture 2"/>
            <p:cNvPicPr>
              <a:picLocks noChangeAspect="1" noChangeArrowheads="1"/>
            </p:cNvPicPr>
            <p:nvPr/>
          </p:nvPicPr>
          <p:blipFill>
            <a:blip r:embed="rId3"/>
            <a:srcRect/>
            <a:stretch>
              <a:fillRect/>
            </a:stretch>
          </p:blipFill>
          <p:spPr bwMode="auto">
            <a:xfrm>
              <a:off x="4643438" y="2285992"/>
              <a:ext cx="4238625" cy="1419225"/>
            </a:xfrm>
            <a:prstGeom prst="rect">
              <a:avLst/>
            </a:prstGeom>
            <a:noFill/>
            <a:ln w="9525">
              <a:noFill/>
              <a:miter lim="800000"/>
              <a:headEnd/>
              <a:tailEnd/>
            </a:ln>
            <a:effectLst/>
          </p:spPr>
        </p:pic>
        <p:cxnSp>
          <p:nvCxnSpPr>
            <p:cNvPr id="93" name="直接连接符 92"/>
            <p:cNvCxnSpPr/>
            <p:nvPr/>
          </p:nvCxnSpPr>
          <p:spPr bwMode="auto">
            <a:xfrm>
              <a:off x="5072066" y="2539549"/>
              <a:ext cx="2286016" cy="61200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96" name="直接连接符 95"/>
            <p:cNvCxnSpPr/>
            <p:nvPr/>
          </p:nvCxnSpPr>
          <p:spPr bwMode="auto">
            <a:xfrm flipV="1">
              <a:off x="7403764" y="3026737"/>
              <a:ext cx="1071570" cy="142876"/>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sp>
        <p:nvSpPr>
          <p:cNvPr id="24" name="Rectangle 6"/>
          <p:cNvSpPr>
            <a:spLocks noChangeArrowheads="1"/>
          </p:cNvSpPr>
          <p:nvPr/>
        </p:nvSpPr>
        <p:spPr bwMode="auto">
          <a:xfrm>
            <a:off x="469540" y="1796794"/>
            <a:ext cx="7960112" cy="42928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一般步骤</a:t>
            </a:r>
            <a:endParaRPr lang="en-US" altLang="zh-CN" sz="2000" b="1">
              <a:latin typeface="Times New Roman" pitchFamily="18" charset="0"/>
              <a:cs typeface="Times New Roman" pitchFamily="18" charset="0"/>
            </a:endParaRPr>
          </a:p>
        </p:txBody>
      </p:sp>
      <p:grpSp>
        <p:nvGrpSpPr>
          <p:cNvPr id="8" name="组合 126"/>
          <p:cNvGrpSpPr/>
          <p:nvPr/>
        </p:nvGrpSpPr>
        <p:grpSpPr>
          <a:xfrm>
            <a:off x="5160078" y="3119042"/>
            <a:ext cx="3698202" cy="969871"/>
            <a:chOff x="5160078" y="5129124"/>
            <a:chExt cx="3698202" cy="969871"/>
          </a:xfrm>
        </p:grpSpPr>
        <p:pic>
          <p:nvPicPr>
            <p:cNvPr id="381956" name="Picture 4"/>
            <p:cNvPicPr>
              <a:picLocks noChangeAspect="1" noChangeArrowheads="1"/>
            </p:cNvPicPr>
            <p:nvPr/>
          </p:nvPicPr>
          <p:blipFill>
            <a:blip r:embed="rId4"/>
            <a:srcRect/>
            <a:stretch>
              <a:fillRect/>
            </a:stretch>
          </p:blipFill>
          <p:spPr bwMode="auto">
            <a:xfrm>
              <a:off x="5160078" y="5129124"/>
              <a:ext cx="3698202" cy="969871"/>
            </a:xfrm>
            <a:prstGeom prst="rect">
              <a:avLst/>
            </a:prstGeom>
            <a:noFill/>
            <a:ln w="9525">
              <a:noFill/>
              <a:miter lim="800000"/>
              <a:headEnd/>
              <a:tailEnd/>
            </a:ln>
            <a:effectLst/>
          </p:spPr>
        </p:pic>
        <p:sp>
          <p:nvSpPr>
            <p:cNvPr id="123" name="弧形 122"/>
            <p:cNvSpPr/>
            <p:nvPr/>
          </p:nvSpPr>
          <p:spPr bwMode="auto">
            <a:xfrm>
              <a:off x="8109038" y="5286388"/>
              <a:ext cx="285752" cy="221744"/>
            </a:xfrm>
            <a:prstGeom prst="arc">
              <a:avLst>
                <a:gd name="adj1" fmla="val 10013134"/>
                <a:gd name="adj2" fmla="val 19076290"/>
              </a:avLst>
            </a:prstGeom>
            <a:noFill/>
            <a:ln w="28575"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cxnSp>
          <p:nvCxnSpPr>
            <p:cNvPr id="124" name="直接箭头连接符 123"/>
            <p:cNvCxnSpPr/>
            <p:nvPr/>
          </p:nvCxnSpPr>
          <p:spPr bwMode="auto">
            <a:xfrm rot="5400000">
              <a:off x="5222435" y="5765811"/>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5" name="直接箭头连接符 124"/>
            <p:cNvCxnSpPr/>
            <p:nvPr/>
          </p:nvCxnSpPr>
          <p:spPr bwMode="auto">
            <a:xfrm rot="16200000" flipV="1">
              <a:off x="6666499" y="5807663"/>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6" name="直接箭头连接符 125"/>
            <p:cNvCxnSpPr/>
            <p:nvPr/>
          </p:nvCxnSpPr>
          <p:spPr bwMode="auto">
            <a:xfrm rot="5400000">
              <a:off x="8102815" y="5771088"/>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grpSp>
        <p:nvGrpSpPr>
          <p:cNvPr id="9" name="组合 127"/>
          <p:cNvGrpSpPr/>
          <p:nvPr/>
        </p:nvGrpSpPr>
        <p:grpSpPr>
          <a:xfrm>
            <a:off x="5143504" y="3000372"/>
            <a:ext cx="3693260" cy="1082328"/>
            <a:chOff x="5143504" y="3857628"/>
            <a:chExt cx="3693260" cy="1082328"/>
          </a:xfrm>
        </p:grpSpPr>
        <p:sp>
          <p:nvSpPr>
            <p:cNvPr id="129" name="矩形 128"/>
            <p:cNvSpPr/>
            <p:nvPr/>
          </p:nvSpPr>
          <p:spPr bwMode="auto">
            <a:xfrm>
              <a:off x="5143504" y="4489812"/>
              <a:ext cx="3429024" cy="450144"/>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131" name="矩形 130"/>
            <p:cNvSpPr/>
            <p:nvPr/>
          </p:nvSpPr>
          <p:spPr bwMode="auto">
            <a:xfrm>
              <a:off x="8479574" y="3857628"/>
              <a:ext cx="357190" cy="71438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135" name="TextBox 134"/>
          <p:cNvSpPr txBox="1"/>
          <p:nvPr/>
        </p:nvSpPr>
        <p:spPr>
          <a:xfrm>
            <a:off x="1142976" y="2296625"/>
            <a:ext cx="3571900" cy="1646605"/>
          </a:xfrm>
          <a:prstGeom prst="rect">
            <a:avLst/>
          </a:prstGeom>
          <a:noFill/>
          <a:ln w="28575">
            <a:noFill/>
          </a:ln>
        </p:spPr>
        <p:txBody>
          <a:bodyPr wrap="square" rtlCol="0">
            <a:spAutoFit/>
          </a:bodyPr>
          <a:lstStyle/>
          <a:p>
            <a:pPr marL="446088" indent="-360363">
              <a:lnSpc>
                <a:spcPct val="120000"/>
              </a:lnSpc>
            </a:pPr>
            <a:r>
              <a:rPr lang="zh-CN" altLang="en-US" sz="2000" b="1">
                <a:latin typeface="Times New Roman" pitchFamily="18" charset="0"/>
                <a:cs typeface="Times New Roman" pitchFamily="18" charset="0"/>
              </a:rPr>
              <a:t>⑴</a:t>
            </a:r>
            <a:r>
              <a:rPr lang="zh-CN" altLang="en-US"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 沿拟求位移方向虚设相应 的单位荷载；</a:t>
            </a:r>
            <a:endParaRPr lang="en-US" altLang="zh-CN" sz="2000" b="1">
              <a:latin typeface="Times New Roman" pitchFamily="18" charset="0"/>
              <a:cs typeface="Times New Roman" pitchFamily="18" charset="0"/>
            </a:endParaRPr>
          </a:p>
          <a:p>
            <a:pPr marL="446088" indent="-360363">
              <a:lnSpc>
                <a:spcPct val="120000"/>
              </a:lnSpc>
              <a:spcBef>
                <a:spcPts val="600"/>
              </a:spcBef>
            </a:pPr>
            <a:r>
              <a:rPr lang="zh-CN" altLang="en-US" sz="2000" b="1">
                <a:latin typeface="Times New Roman" pitchFamily="18" charset="0"/>
                <a:cs typeface="Times New Roman" pitchFamily="18" charset="0"/>
              </a:rPr>
              <a:t>⑵</a:t>
            </a:r>
            <a:r>
              <a:rPr lang="zh-CN" altLang="en-US"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 求出单位荷载下的支座反力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40" name="TextBox 39"/>
          <p:cNvSpPr txBox="1"/>
          <p:nvPr/>
        </p:nvSpPr>
        <p:spPr>
          <a:xfrm>
            <a:off x="1142976" y="3925535"/>
            <a:ext cx="7572428" cy="2579168"/>
          </a:xfrm>
          <a:prstGeom prst="rect">
            <a:avLst/>
          </a:prstGeom>
          <a:noFill/>
          <a:ln w="28575">
            <a:noFill/>
          </a:ln>
        </p:spPr>
        <p:txBody>
          <a:bodyPr wrap="square" rtlCol="0">
            <a:spAutoFit/>
          </a:bodyPr>
          <a:lstStyle/>
          <a:p>
            <a:pPr marL="446088" indent="-360363">
              <a:lnSpc>
                <a:spcPct val="120000"/>
              </a:lnSpc>
            </a:pPr>
            <a:r>
              <a:rPr lang="zh-CN" altLang="en-US" sz="2000" b="1">
                <a:latin typeface="Times New Roman" pitchFamily="18" charset="0"/>
                <a:cs typeface="Times New Roman" pitchFamily="18" charset="0"/>
              </a:rPr>
              <a:t>⑶</a:t>
            </a:r>
            <a:r>
              <a:rPr lang="zh-CN" altLang="en-US"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 虚力方程：虚设力系在实际位移上作虚功：</a:t>
            </a:r>
            <a:endParaRPr lang="en-US" altLang="zh-CN" sz="2000" b="1">
              <a:latin typeface="Times New Roman" pitchFamily="18" charset="0"/>
              <a:cs typeface="Times New Roman" pitchFamily="18" charset="0"/>
            </a:endParaRPr>
          </a:p>
          <a:p>
            <a:pPr marL="446088" indent="-360363">
              <a:lnSpc>
                <a:spcPct val="120000"/>
              </a:lnSpc>
              <a:spcBef>
                <a:spcPts val="300"/>
              </a:spcBef>
              <a:spcAft>
                <a:spcPts val="300"/>
              </a:spcAft>
            </a:pPr>
            <a:r>
              <a:rPr lang="en-US" altLang="zh-CN" sz="2000" b="1">
                <a:latin typeface="Times New Roman" pitchFamily="18" charset="0"/>
                <a:cs typeface="Times New Roman" pitchFamily="18" charset="0"/>
              </a:rPr>
              <a:t>                                  1·</a:t>
            </a:r>
            <a:r>
              <a:rPr lang="el-GR" altLang="zh-CN" sz="2000" b="1" i="1">
                <a:latin typeface="Times New Roman" pitchFamily="18" charset="0"/>
                <a:cs typeface="Times New Roman" pitchFamily="18" charset="0"/>
              </a:rPr>
              <a:t> Δ</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 </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0</a:t>
            </a:r>
          </a:p>
          <a:p>
            <a:pPr marL="446088" indent="-360363">
              <a:lnSpc>
                <a:spcPct val="120000"/>
              </a:lnSpc>
            </a:pPr>
            <a:r>
              <a:rPr lang="en-US" altLang="zh-CN" b="1" i="1">
                <a:solidFill>
                  <a:srgbClr val="0033CC"/>
                </a:solidFill>
                <a:latin typeface="Times New Roman" pitchFamily="18" charset="0"/>
                <a:cs typeface="Times New Roman" pitchFamily="18" charset="0"/>
              </a:rPr>
              <a:t>       F</a:t>
            </a:r>
            <a:r>
              <a:rPr lang="en-US" altLang="zh-CN" b="1" baseline="-25000">
                <a:solidFill>
                  <a:srgbClr val="0033CC"/>
                </a:solidFill>
                <a:latin typeface="Times New Roman" pitchFamily="18" charset="0"/>
                <a:cs typeface="Times New Roman" pitchFamily="18" charset="0"/>
              </a:rPr>
              <a:t>R</a:t>
            </a:r>
            <a:r>
              <a:rPr lang="en-US" altLang="zh-CN" b="1" i="1" baseline="-25000">
                <a:solidFill>
                  <a:srgbClr val="0033CC"/>
                </a:solidFill>
                <a:latin typeface="Times New Roman" pitchFamily="18" charset="0"/>
                <a:cs typeface="Times New Roman" pitchFamily="18" charset="0"/>
              </a:rPr>
              <a:t>K</a:t>
            </a:r>
            <a:r>
              <a:rPr lang="en-US" altLang="zh-CN"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c</a:t>
            </a:r>
            <a:r>
              <a:rPr lang="en-US" altLang="zh-CN" b="1" i="1" baseline="-25000">
                <a:solidFill>
                  <a:srgbClr val="0033CC"/>
                </a:solidFill>
                <a:latin typeface="Times New Roman" pitchFamily="18" charset="0"/>
                <a:cs typeface="Times New Roman" pitchFamily="18" charset="0"/>
              </a:rPr>
              <a:t>K </a:t>
            </a:r>
            <a:r>
              <a:rPr lang="zh-CN" altLang="en-US" b="1">
                <a:solidFill>
                  <a:srgbClr val="0033CC"/>
                </a:solidFill>
                <a:latin typeface="Times New Roman" pitchFamily="18" charset="0"/>
                <a:cs typeface="Times New Roman" pitchFamily="18" charset="0"/>
              </a:rPr>
              <a:t>是支座反力</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R</a:t>
            </a:r>
            <a:r>
              <a:rPr lang="en-US" altLang="zh-CN" b="1" i="1" baseline="-25000">
                <a:solidFill>
                  <a:srgbClr val="0033CC"/>
                </a:solidFill>
                <a:latin typeface="Times New Roman" pitchFamily="18" charset="0"/>
                <a:cs typeface="Times New Roman" pitchFamily="18" charset="0"/>
              </a:rPr>
              <a:t>K</a:t>
            </a:r>
            <a:r>
              <a:rPr lang="zh-CN" altLang="en-US" b="1">
                <a:solidFill>
                  <a:srgbClr val="0033CC"/>
                </a:solidFill>
                <a:latin typeface="Times New Roman" pitchFamily="18" charset="0"/>
                <a:cs typeface="Times New Roman" pitchFamily="18" charset="0"/>
              </a:rPr>
              <a:t>在相应位移</a:t>
            </a:r>
            <a:r>
              <a:rPr lang="en-US" altLang="zh-CN" b="1" i="1">
                <a:solidFill>
                  <a:srgbClr val="0033CC"/>
                </a:solidFill>
                <a:latin typeface="Times New Roman" pitchFamily="18" charset="0"/>
                <a:cs typeface="Times New Roman" pitchFamily="18" charset="0"/>
              </a:rPr>
              <a:t>c</a:t>
            </a:r>
            <a:r>
              <a:rPr lang="en-US" altLang="zh-CN" b="1" i="1" baseline="-25000">
                <a:solidFill>
                  <a:srgbClr val="0033CC"/>
                </a:solidFill>
                <a:latin typeface="Times New Roman" pitchFamily="18" charset="0"/>
                <a:cs typeface="Times New Roman" pitchFamily="18" charset="0"/>
              </a:rPr>
              <a:t>K</a:t>
            </a:r>
            <a:r>
              <a:rPr lang="zh-CN" altLang="en-US" b="1">
                <a:solidFill>
                  <a:srgbClr val="0033CC"/>
                </a:solidFill>
                <a:latin typeface="Times New Roman" pitchFamily="18" charset="0"/>
                <a:cs typeface="Times New Roman" pitchFamily="18" charset="0"/>
              </a:rPr>
              <a:t>上作的虚功， 应包括所有支座；</a:t>
            </a:r>
            <a:endParaRPr lang="en-US" altLang="zh-CN" b="1">
              <a:solidFill>
                <a:srgbClr val="0033CC"/>
              </a:solidFill>
              <a:latin typeface="Times New Roman" pitchFamily="18" charset="0"/>
              <a:cs typeface="Times New Roman" pitchFamily="18" charset="0"/>
            </a:endParaRPr>
          </a:p>
          <a:p>
            <a:pPr marL="446088" indent="-360363">
              <a:lnSpc>
                <a:spcPct val="120000"/>
              </a:lnSpc>
              <a:spcBef>
                <a:spcPts val="600"/>
              </a:spcBef>
            </a:pPr>
            <a:r>
              <a:rPr lang="zh-CN" altLang="en-US" sz="2000" b="1">
                <a:latin typeface="Times New Roman" pitchFamily="18" charset="0"/>
                <a:cs typeface="Times New Roman" pitchFamily="18" charset="0"/>
              </a:rPr>
              <a:t>⑷  由虚力方程解出拟求位移</a:t>
            </a:r>
            <a:endParaRPr lang="en-US" altLang="zh-CN" sz="2000" b="1">
              <a:latin typeface="Times New Roman" pitchFamily="18" charset="0"/>
              <a:cs typeface="Times New Roman" pitchFamily="18" charset="0"/>
            </a:endParaRPr>
          </a:p>
          <a:p>
            <a:pPr marL="446088" indent="-360363">
              <a:lnSpc>
                <a:spcPct val="120000"/>
              </a:lnSpc>
              <a:spcBef>
                <a:spcPts val="300"/>
              </a:spcBef>
              <a:spcAft>
                <a:spcPts val="300"/>
              </a:spcAft>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en-US" altLang="zh-CN" sz="2000" b="1" i="1">
                <a:latin typeface="+mn-ea"/>
                <a:cs typeface="Times New Roman" pitchFamily="18" charset="0"/>
              </a:rPr>
              <a:t>-</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p>
          <a:p>
            <a:pPr marL="446088" indent="-360363">
              <a:lnSpc>
                <a:spcPct val="120000"/>
              </a:lnSpc>
            </a:pPr>
            <a:r>
              <a:rPr lang="en-US" altLang="zh-CN" sz="2000" b="1" i="1">
                <a:solidFill>
                  <a:srgbClr val="0033CC"/>
                </a:solidFill>
                <a:latin typeface="Times New Roman" pitchFamily="18" charset="0"/>
                <a:cs typeface="Times New Roman" pitchFamily="18" charset="0"/>
              </a:rPr>
              <a:t>      </a:t>
            </a:r>
            <a:r>
              <a:rPr lang="zh-CN" altLang="en-US" b="1">
                <a:solidFill>
                  <a:srgbClr val="0033CC"/>
                </a:solidFill>
                <a:latin typeface="Times New Roman" pitchFamily="18" charset="0"/>
                <a:cs typeface="Times New Roman" pitchFamily="18" charset="0"/>
              </a:rPr>
              <a:t>若</a:t>
            </a:r>
            <a:r>
              <a:rPr lang="el-GR" altLang="zh-CN" b="1" i="1">
                <a:solidFill>
                  <a:srgbClr val="0033CC"/>
                </a:solidFill>
                <a:latin typeface="Times New Roman" pitchFamily="18" charset="0"/>
                <a:cs typeface="Times New Roman" pitchFamily="18" charset="0"/>
              </a:rPr>
              <a:t>Δ</a:t>
            </a:r>
            <a:r>
              <a:rPr lang="zh-CN" altLang="en-US" b="1">
                <a:solidFill>
                  <a:srgbClr val="0033CC"/>
                </a:solidFill>
                <a:latin typeface="Times New Roman" pitchFamily="18" charset="0"/>
                <a:cs typeface="Times New Roman" pitchFamily="18" charset="0"/>
              </a:rPr>
              <a:t>为正值，说明位移</a:t>
            </a:r>
            <a:r>
              <a:rPr lang="el-GR" altLang="zh-CN" b="1" i="1">
                <a:solidFill>
                  <a:srgbClr val="0033CC"/>
                </a:solidFill>
                <a:latin typeface="Times New Roman" pitchFamily="18" charset="0"/>
                <a:cs typeface="Times New Roman" pitchFamily="18" charset="0"/>
              </a:rPr>
              <a:t>Δ</a:t>
            </a:r>
            <a:r>
              <a:rPr lang="zh-CN" altLang="en-US" b="1">
                <a:solidFill>
                  <a:srgbClr val="0033CC"/>
                </a:solidFill>
                <a:latin typeface="Times New Roman" pitchFamily="18" charset="0"/>
                <a:cs typeface="Times New Roman" pitchFamily="18" charset="0"/>
              </a:rPr>
              <a:t>的实际方向与单位荷载方向一致</a:t>
            </a:r>
            <a:r>
              <a:rPr lang="zh-CN" altLang="en-US" sz="2000" b="1">
                <a:solidFill>
                  <a:srgbClr val="0033CC"/>
                </a:solidFill>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支座移动时静定结构位移计算</a:t>
            </a:r>
            <a:endParaRPr lang="en-US" altLang="zh-CN" sz="2400">
              <a:solidFill>
                <a:srgbClr val="C00000"/>
              </a:solidFill>
            </a:endParaRPr>
          </a:p>
        </p:txBody>
      </p:sp>
      <p:cxnSp>
        <p:nvCxnSpPr>
          <p:cNvPr id="43" name="直接连接符 42"/>
          <p:cNvCxnSpPr/>
          <p:nvPr/>
        </p:nvCxnSpPr>
        <p:spPr bwMode="auto">
          <a:xfrm>
            <a:off x="3532679" y="2699969"/>
            <a:ext cx="92869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45" name="直接连接符 44"/>
          <p:cNvCxnSpPr/>
          <p:nvPr/>
        </p:nvCxnSpPr>
        <p:spPr bwMode="auto">
          <a:xfrm>
            <a:off x="1714480" y="3071810"/>
            <a:ext cx="128588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sp>
        <p:nvSpPr>
          <p:cNvPr id="46" name="TextBox 45"/>
          <p:cNvSpPr txBox="1"/>
          <p:nvPr/>
        </p:nvSpPr>
        <p:spPr>
          <a:xfrm>
            <a:off x="5881568" y="5357826"/>
            <a:ext cx="2954655" cy="369332"/>
          </a:xfrm>
          <a:prstGeom prst="rect">
            <a:avLst/>
          </a:prstGeom>
          <a:noFill/>
          <a:ln w="28575">
            <a:noFill/>
          </a:ln>
        </p:spPr>
        <p:txBody>
          <a:bodyPr wrap="none" rtlCol="0">
            <a:spAutoFit/>
          </a:bodyPr>
          <a:lstStyle/>
          <a:p>
            <a:r>
              <a:rPr lang="zh-CN" altLang="en-US" b="1">
                <a:solidFill>
                  <a:srgbClr val="C00000"/>
                </a:solidFill>
              </a:rPr>
              <a:t>如何寻找相应的单位荷载？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Effect transition="in" filter="wipe(down)">
                                      <p:cBhvr>
                                        <p:cTn id="7" dur="500"/>
                                        <p:tgtEl>
                                          <p:spTgt spid="1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35">
                                            <p:txEl>
                                              <p:pRg st="1" end="1"/>
                                            </p:txEl>
                                          </p:spTgt>
                                        </p:tgtEl>
                                        <p:attrNameLst>
                                          <p:attrName>style.visibility</p:attrName>
                                        </p:attrNameLst>
                                      </p:cBhvr>
                                      <p:to>
                                        <p:strVal val="visible"/>
                                      </p:to>
                                    </p:set>
                                    <p:animEffect transition="in" filter="wipe(down)">
                                      <p:cBhvr>
                                        <p:cTn id="18" dur="500"/>
                                        <p:tgtEl>
                                          <p:spTgt spid="13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nodeType="clickEffect">
                                  <p:stCondLst>
                                    <p:cond delay="0"/>
                                  </p:stCondLst>
                                  <p:childTnLst>
                                    <p:animEffect transition="out" filter="blinds(horizontal)">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0">
                                            <p:txEl>
                                              <p:pRg st="0" end="0"/>
                                            </p:txEl>
                                          </p:spTgt>
                                        </p:tgtEl>
                                        <p:attrNameLst>
                                          <p:attrName>style.visibility</p:attrName>
                                        </p:attrNameLst>
                                      </p:cBhvr>
                                      <p:to>
                                        <p:strVal val="visible"/>
                                      </p:to>
                                    </p:set>
                                    <p:animEffect transition="in" filter="wipe(down)">
                                      <p:cBhvr>
                                        <p:cTn id="28" dur="500"/>
                                        <p:tgtEl>
                                          <p:spTgt spid="40">
                                            <p:txEl>
                                              <p:pRg st="0" end="0"/>
                                            </p:txEl>
                                          </p:spTgt>
                                        </p:tgtEl>
                                      </p:cBhvr>
                                    </p:animEffect>
                                  </p:childTnLst>
                                </p:cTn>
                              </p:par>
                            </p:childTnLst>
                          </p:cTn>
                        </p:par>
                        <p:par>
                          <p:cTn id="29" fill="hold">
                            <p:stCondLst>
                              <p:cond delay="500"/>
                            </p:stCondLst>
                            <p:childTnLst>
                              <p:par>
                                <p:cTn id="30" presetID="22" presetClass="entr" presetSubtype="4" fill="hold" grpId="0" nodeType="afterEffect">
                                  <p:stCondLst>
                                    <p:cond delay="0"/>
                                  </p:stCondLst>
                                  <p:childTnLst>
                                    <p:set>
                                      <p:cBhvr>
                                        <p:cTn id="31" dur="1" fill="hold">
                                          <p:stCondLst>
                                            <p:cond delay="0"/>
                                          </p:stCondLst>
                                        </p:cTn>
                                        <p:tgtEl>
                                          <p:spTgt spid="40">
                                            <p:txEl>
                                              <p:pRg st="1" end="1"/>
                                            </p:txEl>
                                          </p:spTgt>
                                        </p:tgtEl>
                                        <p:attrNameLst>
                                          <p:attrName>style.visibility</p:attrName>
                                        </p:attrNameLst>
                                      </p:cBhvr>
                                      <p:to>
                                        <p:strVal val="visible"/>
                                      </p:to>
                                    </p:set>
                                    <p:animEffect transition="in" filter="wipe(down)">
                                      <p:cBhvr>
                                        <p:cTn id="32" dur="500"/>
                                        <p:tgtEl>
                                          <p:spTgt spid="40">
                                            <p:txEl>
                                              <p:pRg st="1" end="1"/>
                                            </p:txEl>
                                          </p:spTgt>
                                        </p:tgtEl>
                                      </p:cBhvr>
                                    </p:animEffect>
                                  </p:childTnLst>
                                </p:cTn>
                              </p:par>
                            </p:childTnLst>
                          </p:cTn>
                        </p:par>
                        <p:par>
                          <p:cTn id="33" fill="hold">
                            <p:stCondLst>
                              <p:cond delay="1000"/>
                            </p:stCondLst>
                            <p:childTnLst>
                              <p:par>
                                <p:cTn id="34" presetID="22" presetClass="entr" presetSubtype="4" fill="hold" grpId="0" nodeType="afterEffect">
                                  <p:stCondLst>
                                    <p:cond delay="0"/>
                                  </p:stCondLst>
                                  <p:childTnLst>
                                    <p:set>
                                      <p:cBhvr>
                                        <p:cTn id="35" dur="1" fill="hold">
                                          <p:stCondLst>
                                            <p:cond delay="0"/>
                                          </p:stCondLst>
                                        </p:cTn>
                                        <p:tgtEl>
                                          <p:spTgt spid="40">
                                            <p:txEl>
                                              <p:pRg st="2" end="2"/>
                                            </p:txEl>
                                          </p:spTgt>
                                        </p:tgtEl>
                                        <p:attrNameLst>
                                          <p:attrName>style.visibility</p:attrName>
                                        </p:attrNameLst>
                                      </p:cBhvr>
                                      <p:to>
                                        <p:strVal val="visible"/>
                                      </p:to>
                                    </p:set>
                                    <p:animEffect transition="in" filter="wipe(down)">
                                      <p:cBhvr>
                                        <p:cTn id="36" dur="500"/>
                                        <p:tgtEl>
                                          <p:spTgt spid="40">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40">
                                            <p:txEl>
                                              <p:pRg st="3" end="3"/>
                                            </p:txEl>
                                          </p:spTgt>
                                        </p:tgtEl>
                                        <p:attrNameLst>
                                          <p:attrName>style.visibility</p:attrName>
                                        </p:attrNameLst>
                                      </p:cBhvr>
                                      <p:to>
                                        <p:strVal val="visible"/>
                                      </p:to>
                                    </p:set>
                                    <p:animEffect transition="in" filter="wipe(down)">
                                      <p:cBhvr>
                                        <p:cTn id="41" dur="500"/>
                                        <p:tgtEl>
                                          <p:spTgt spid="40">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0">
                                            <p:txEl>
                                              <p:pRg st="4" end="4"/>
                                            </p:txEl>
                                          </p:spTgt>
                                        </p:tgtEl>
                                        <p:attrNameLst>
                                          <p:attrName>style.visibility</p:attrName>
                                        </p:attrNameLst>
                                      </p:cBhvr>
                                      <p:to>
                                        <p:strVal val="visible"/>
                                      </p:to>
                                    </p:set>
                                    <p:animEffect transition="in" filter="wipe(down)">
                                      <p:cBhvr>
                                        <p:cTn id="46" dur="500"/>
                                        <p:tgtEl>
                                          <p:spTgt spid="40">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40">
                                            <p:txEl>
                                              <p:pRg st="5" end="5"/>
                                            </p:txEl>
                                          </p:spTgt>
                                        </p:tgtEl>
                                        <p:attrNameLst>
                                          <p:attrName>style.visibility</p:attrName>
                                        </p:attrNameLst>
                                      </p:cBhvr>
                                      <p:to>
                                        <p:strVal val="visible"/>
                                      </p:to>
                                    </p:set>
                                    <p:animEffect transition="in" filter="wipe(down)">
                                      <p:cBhvr>
                                        <p:cTn id="51" dur="500"/>
                                        <p:tgtEl>
                                          <p:spTgt spid="4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5"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blinds(vertical)">
                                      <p:cBhvr>
                                        <p:cTn id="56" dur="500"/>
                                        <p:tgtEl>
                                          <p:spTgt spid="45"/>
                                        </p:tgtEl>
                                      </p:cBhvr>
                                    </p:animEffect>
                                  </p:childTnLst>
                                </p:cTn>
                              </p:par>
                              <p:par>
                                <p:cTn id="57" presetID="3" presetClass="entr" presetSubtype="5"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blinds(vertical)">
                                      <p:cBhvr>
                                        <p:cTn id="59" dur="500"/>
                                        <p:tgtEl>
                                          <p:spTgt spid="43"/>
                                        </p:tgtEl>
                                      </p:cBhvr>
                                    </p:animEffect>
                                  </p:childTnLst>
                                </p:cTn>
                              </p:par>
                            </p:childTnLst>
                          </p:cTn>
                        </p:par>
                        <p:par>
                          <p:cTn id="60" fill="hold">
                            <p:stCondLst>
                              <p:cond delay="500"/>
                            </p:stCondLst>
                            <p:childTnLst>
                              <p:par>
                                <p:cTn id="61" presetID="3" presetClass="entr" presetSubtype="5" fill="hold" grpId="0" nodeType="after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blinds(vertical)">
                                      <p:cBhvr>
                                        <p:cTn id="6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uiExpand="1" build="p"/>
      <p:bldP spid="40" grpId="0" uiExpand="1" build="p"/>
      <p:bldP spid="4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局部变形时静定结构的位移计算</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5031154"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：如图所示刚架在</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处两个相邻截面有相对转角</a:t>
            </a:r>
            <a:r>
              <a:rPr lang="el-GR" altLang="zh-CN" sz="2000" b="1" i="1">
                <a:latin typeface="Times New Roman"/>
                <a:cs typeface="Times New Roman"/>
              </a:rPr>
              <a:t>θ</a:t>
            </a:r>
            <a:r>
              <a:rPr lang="zh-CN" altLang="en-US" sz="2000" b="1" i="1">
                <a:latin typeface="Times New Roman"/>
                <a:cs typeface="Times New Roman"/>
              </a:rPr>
              <a:t>。</a:t>
            </a:r>
            <a:r>
              <a:rPr lang="zh-CN" altLang="en-US" sz="2000" b="1">
                <a:latin typeface="Times New Roman"/>
                <a:cs typeface="Times New Roman"/>
              </a:rPr>
              <a:t>试求</a:t>
            </a:r>
            <a:r>
              <a:rPr lang="en-US" altLang="zh-CN" sz="2000" b="1" i="1">
                <a:latin typeface="Times New Roman"/>
                <a:cs typeface="Times New Roman"/>
              </a:rPr>
              <a:t>A</a:t>
            </a:r>
            <a:r>
              <a:rPr lang="zh-CN" altLang="en-US" sz="2000" b="1">
                <a:latin typeface="Times New Roman"/>
                <a:cs typeface="Times New Roman"/>
              </a:rPr>
              <a:t>点的水平位移</a:t>
            </a:r>
            <a:r>
              <a:rPr lang="el-GR" altLang="zh-CN" sz="2000" b="1" i="1">
                <a:latin typeface="Times New Roman"/>
                <a:cs typeface="Times New Roman"/>
              </a:rPr>
              <a:t>Δ</a:t>
            </a:r>
            <a:r>
              <a:rPr lang="zh-CN" altLang="en-US" sz="2000" b="1">
                <a:latin typeface="Times New Roman"/>
                <a:cs typeface="Times New Roman"/>
              </a:rPr>
              <a:t>。</a:t>
            </a:r>
            <a:endParaRPr lang="en-US" altLang="zh-CN" sz="2000" b="1">
              <a:latin typeface="Times New Roman" pitchFamily="18" charset="0"/>
              <a:cs typeface="Times New Roman" pitchFamily="18" charset="0"/>
            </a:endParaRPr>
          </a:p>
        </p:txBody>
      </p:sp>
      <p:sp>
        <p:nvSpPr>
          <p:cNvPr id="136" name="TextBox 135"/>
          <p:cNvSpPr txBox="1"/>
          <p:nvPr/>
        </p:nvSpPr>
        <p:spPr>
          <a:xfrm>
            <a:off x="1214414" y="2915871"/>
            <a:ext cx="4286280" cy="851643"/>
          </a:xfrm>
          <a:prstGeom prst="rect">
            <a:avLst/>
          </a:prstGeom>
          <a:noFill/>
          <a:ln w="28575">
            <a:noFill/>
          </a:ln>
        </p:spPr>
        <p:txBody>
          <a:bodyPr wrap="square" rtlCol="0">
            <a:spAutoFit/>
          </a:bodyPr>
          <a:lstStyle/>
          <a:p>
            <a:pPr marL="892175" indent="-892175" algn="just">
              <a:lnSpc>
                <a:spcPct val="130000"/>
              </a:lnSpc>
            </a:pPr>
            <a:r>
              <a:rPr lang="zh-CN" altLang="en-US" sz="2000" b="1"/>
              <a:t>解：⑴ 在</a:t>
            </a:r>
            <a:r>
              <a:rPr lang="en-US" altLang="zh-CN" sz="2000" b="1" i="1">
                <a:latin typeface="Times New Roman" pitchFamily="18" charset="0"/>
                <a:cs typeface="Times New Roman" pitchFamily="18" charset="0"/>
              </a:rPr>
              <a:t>B</a:t>
            </a:r>
            <a:r>
              <a:rPr lang="zh-CN" altLang="en-US" sz="2000" b="1"/>
              <a:t>处加铰，把实际位移明确地表示为刚体位移状态；</a:t>
            </a:r>
          </a:p>
        </p:txBody>
      </p:sp>
      <p:grpSp>
        <p:nvGrpSpPr>
          <p:cNvPr id="135" name="组合 134"/>
          <p:cNvGrpSpPr/>
          <p:nvPr/>
        </p:nvGrpSpPr>
        <p:grpSpPr>
          <a:xfrm>
            <a:off x="5786446" y="1480988"/>
            <a:ext cx="2971878" cy="2062370"/>
            <a:chOff x="5786446" y="1480988"/>
            <a:chExt cx="2971878" cy="2062370"/>
          </a:xfrm>
        </p:grpSpPr>
        <p:pic>
          <p:nvPicPr>
            <p:cNvPr id="385032" name="Picture 8"/>
            <p:cNvPicPr>
              <a:picLocks noChangeAspect="1" noChangeArrowheads="1"/>
            </p:cNvPicPr>
            <p:nvPr/>
          </p:nvPicPr>
          <p:blipFill>
            <a:blip r:embed="rId3"/>
            <a:srcRect/>
            <a:stretch>
              <a:fillRect/>
            </a:stretch>
          </p:blipFill>
          <p:spPr bwMode="auto">
            <a:xfrm>
              <a:off x="5786446" y="1500174"/>
              <a:ext cx="2571768" cy="2020674"/>
            </a:xfrm>
            <a:prstGeom prst="rect">
              <a:avLst/>
            </a:prstGeom>
            <a:noFill/>
            <a:ln w="9525">
              <a:noFill/>
              <a:miter lim="800000"/>
              <a:headEnd/>
              <a:tailEnd/>
            </a:ln>
            <a:effectLst/>
          </p:spPr>
        </p:pic>
        <p:cxnSp>
          <p:nvCxnSpPr>
            <p:cNvPr id="97" name="直接连接符 96"/>
            <p:cNvCxnSpPr/>
            <p:nvPr/>
          </p:nvCxnSpPr>
          <p:spPr bwMode="auto">
            <a:xfrm flipV="1">
              <a:off x="8429652" y="1751077"/>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8" name="直接连接符 97"/>
            <p:cNvCxnSpPr/>
            <p:nvPr/>
          </p:nvCxnSpPr>
          <p:spPr bwMode="auto">
            <a:xfrm flipV="1">
              <a:off x="8429652" y="3201623"/>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0" name="直接箭头连接符 99"/>
            <p:cNvCxnSpPr/>
            <p:nvPr/>
          </p:nvCxnSpPr>
          <p:spPr bwMode="auto">
            <a:xfrm rot="5400000">
              <a:off x="7857354" y="2474180"/>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2" name="TextBox 101"/>
            <p:cNvSpPr txBox="1"/>
            <p:nvPr/>
          </p:nvSpPr>
          <p:spPr>
            <a:xfrm rot="16200000">
              <a:off x="8394602" y="2307979"/>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103" name="直接连接符 102"/>
            <p:cNvCxnSpPr/>
            <p:nvPr/>
          </p:nvCxnSpPr>
          <p:spPr bwMode="auto">
            <a:xfrm rot="5400000" flipV="1">
              <a:off x="6962375" y="250896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5" name="直接箭头连接符 104"/>
            <p:cNvCxnSpPr/>
            <p:nvPr/>
          </p:nvCxnSpPr>
          <p:spPr bwMode="auto">
            <a:xfrm rot="10800000">
              <a:off x="6013823" y="2457386"/>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6" name="TextBox 105"/>
            <p:cNvSpPr txBox="1"/>
            <p:nvPr/>
          </p:nvSpPr>
          <p:spPr>
            <a:xfrm>
              <a:off x="6416325" y="2230009"/>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cxnSp>
          <p:nvCxnSpPr>
            <p:cNvPr id="111" name="直接箭头连接符 110"/>
            <p:cNvCxnSpPr/>
            <p:nvPr/>
          </p:nvCxnSpPr>
          <p:spPr bwMode="auto">
            <a:xfrm rot="10800000">
              <a:off x="7098456" y="2457386"/>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12" name="TextBox 111"/>
            <p:cNvSpPr txBox="1"/>
            <p:nvPr/>
          </p:nvSpPr>
          <p:spPr>
            <a:xfrm>
              <a:off x="7474832" y="2243072"/>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grpSp>
          <p:nvGrpSpPr>
            <p:cNvPr id="117" name="组合 116"/>
            <p:cNvGrpSpPr/>
            <p:nvPr/>
          </p:nvGrpSpPr>
          <p:grpSpPr>
            <a:xfrm>
              <a:off x="6019946" y="1785927"/>
              <a:ext cx="1052384" cy="1571635"/>
              <a:chOff x="6019946" y="1785927"/>
              <a:chExt cx="1052384" cy="1571635"/>
            </a:xfrm>
          </p:grpSpPr>
          <p:cxnSp>
            <p:nvCxnSpPr>
              <p:cNvPr id="114" name="直接连接符 113"/>
              <p:cNvCxnSpPr/>
              <p:nvPr/>
            </p:nvCxnSpPr>
            <p:spPr bwMode="auto">
              <a:xfrm rot="10800000">
                <a:off x="6019946" y="3188560"/>
                <a:ext cx="1052384" cy="169002"/>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15" name="直接连接符 114"/>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19" name="TextBox 118"/>
            <p:cNvSpPr txBox="1"/>
            <p:nvPr/>
          </p:nvSpPr>
          <p:spPr>
            <a:xfrm>
              <a:off x="8162536" y="15141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nvGrpSpPr>
            <p:cNvPr id="120" name="组合 119"/>
            <p:cNvGrpSpPr/>
            <p:nvPr/>
          </p:nvGrpSpPr>
          <p:grpSpPr>
            <a:xfrm flipH="1">
              <a:off x="7072330" y="1785926"/>
              <a:ext cx="1052384" cy="1571636"/>
              <a:chOff x="6019946" y="1785927"/>
              <a:chExt cx="1052384" cy="1571636"/>
            </a:xfrm>
          </p:grpSpPr>
          <p:cxnSp>
            <p:nvCxnSpPr>
              <p:cNvPr id="121" name="直接连接符 120"/>
              <p:cNvCxnSpPr/>
              <p:nvPr/>
            </p:nvCxnSpPr>
            <p:spPr bwMode="auto">
              <a:xfrm flipH="1" flipV="1">
                <a:off x="6019946" y="3188560"/>
                <a:ext cx="1052384" cy="169003"/>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22" name="直接连接符 121"/>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23" name="TextBox 122"/>
            <p:cNvSpPr txBox="1"/>
            <p:nvPr/>
          </p:nvSpPr>
          <p:spPr>
            <a:xfrm>
              <a:off x="6786578" y="28121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125" name="直接连接符 124"/>
            <p:cNvCxnSpPr>
              <a:cxnSpLocks noChangeAspect="1"/>
            </p:cNvCxnSpPr>
            <p:nvPr/>
          </p:nvCxnSpPr>
          <p:spPr bwMode="auto">
            <a:xfrm>
              <a:off x="7072330" y="3365003"/>
              <a:ext cx="750099" cy="107157"/>
            </a:xfrm>
            <a:prstGeom prst="line">
              <a:avLst/>
            </a:prstGeom>
            <a:solidFill>
              <a:schemeClr val="accent1"/>
            </a:solidFill>
            <a:ln w="9525" cap="flat" cmpd="sng" algn="ctr">
              <a:solidFill>
                <a:srgbClr val="00B050"/>
              </a:solidFill>
              <a:prstDash val="solid"/>
              <a:round/>
              <a:headEnd type="none" w="med" len="med"/>
              <a:tailEnd type="none" w="med" len="med"/>
            </a:ln>
            <a:effectLst/>
          </p:spPr>
        </p:cxnSp>
        <p:sp>
          <p:nvSpPr>
            <p:cNvPr id="128" name="TextBox 127"/>
            <p:cNvSpPr txBox="1"/>
            <p:nvPr/>
          </p:nvSpPr>
          <p:spPr>
            <a:xfrm>
              <a:off x="7559333" y="3143248"/>
              <a:ext cx="322524" cy="400110"/>
            </a:xfrm>
            <a:prstGeom prst="rect">
              <a:avLst/>
            </a:prstGeom>
            <a:noFill/>
            <a:ln w="28575">
              <a:noFill/>
            </a:ln>
          </p:spPr>
          <p:txBody>
            <a:bodyPr wrap="none" rtlCol="0">
              <a:spAutoFit/>
            </a:bodyPr>
            <a:lstStyle/>
            <a:p>
              <a:r>
                <a:rPr lang="el-GR" altLang="zh-CN" sz="2000" b="1" i="1">
                  <a:latin typeface="Times New Roman"/>
                  <a:cs typeface="Times New Roman"/>
                </a:rPr>
                <a:t>θ</a:t>
              </a:r>
              <a:endParaRPr lang="zh-CN" altLang="en-US" sz="2000" b="1" i="1"/>
            </a:p>
          </p:txBody>
        </p:sp>
        <p:cxnSp>
          <p:nvCxnSpPr>
            <p:cNvPr id="131" name="直接连接符 130"/>
            <p:cNvCxnSpPr/>
            <p:nvPr/>
          </p:nvCxnSpPr>
          <p:spPr bwMode="auto">
            <a:xfrm rot="5400000" flipH="1" flipV="1">
              <a:off x="7821635" y="1846977"/>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2" name="直接连接符 131"/>
            <p:cNvCxnSpPr>
              <a:cxnSpLocks noChangeAspect="1"/>
            </p:cNvCxnSpPr>
            <p:nvPr/>
          </p:nvCxnSpPr>
          <p:spPr bwMode="auto">
            <a:xfrm>
              <a:off x="7929586" y="1857364"/>
              <a:ext cx="252000" cy="1867"/>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sp>
          <p:nvSpPr>
            <p:cNvPr id="134" name="矩形 133"/>
            <p:cNvSpPr/>
            <p:nvPr/>
          </p:nvSpPr>
          <p:spPr>
            <a:xfrm>
              <a:off x="7886402" y="1480988"/>
              <a:ext cx="328936" cy="369332"/>
            </a:xfrm>
            <a:prstGeom prst="rect">
              <a:avLst/>
            </a:prstGeom>
          </p:spPr>
          <p:txBody>
            <a:bodyPr wrap="none">
              <a:spAutoFit/>
            </a:bodyPr>
            <a:lstStyle/>
            <a:p>
              <a:r>
                <a:rPr lang="el-GR" altLang="zh-CN" b="1" i="1">
                  <a:latin typeface="Times New Roman"/>
                  <a:cs typeface="Times New Roman"/>
                </a:rPr>
                <a:t>Δ</a:t>
              </a:r>
              <a:endParaRPr lang="zh-CN" altLang="en-US"/>
            </a:p>
          </p:txBody>
        </p:sp>
      </p:grpSp>
      <p:grpSp>
        <p:nvGrpSpPr>
          <p:cNvPr id="205" name="组合 204"/>
          <p:cNvGrpSpPr/>
          <p:nvPr/>
        </p:nvGrpSpPr>
        <p:grpSpPr>
          <a:xfrm>
            <a:off x="5818695" y="3929066"/>
            <a:ext cx="2714644" cy="2062370"/>
            <a:chOff x="5818695" y="3929066"/>
            <a:chExt cx="2714644" cy="2062370"/>
          </a:xfrm>
        </p:grpSpPr>
        <p:grpSp>
          <p:nvGrpSpPr>
            <p:cNvPr id="137" name="组合 136"/>
            <p:cNvGrpSpPr/>
            <p:nvPr/>
          </p:nvGrpSpPr>
          <p:grpSpPr>
            <a:xfrm>
              <a:off x="5818695" y="3929066"/>
              <a:ext cx="2714644" cy="2062370"/>
              <a:chOff x="5786446" y="1480988"/>
              <a:chExt cx="2714644" cy="2062370"/>
            </a:xfrm>
          </p:grpSpPr>
          <p:pic>
            <p:nvPicPr>
              <p:cNvPr id="140" name="Picture 8"/>
              <p:cNvPicPr>
                <a:picLocks noChangeAspect="1" noChangeArrowheads="1"/>
              </p:cNvPicPr>
              <p:nvPr/>
            </p:nvPicPr>
            <p:blipFill>
              <a:blip r:embed="rId3"/>
              <a:srcRect/>
              <a:stretch>
                <a:fillRect/>
              </a:stretch>
            </p:blipFill>
            <p:spPr bwMode="auto">
              <a:xfrm>
                <a:off x="5786446" y="1500174"/>
                <a:ext cx="2571768" cy="2020674"/>
              </a:xfrm>
              <a:prstGeom prst="rect">
                <a:avLst/>
              </a:prstGeom>
              <a:noFill/>
              <a:ln w="9525">
                <a:noFill/>
                <a:miter lim="800000"/>
                <a:headEnd/>
                <a:tailEnd/>
              </a:ln>
              <a:effectLst/>
            </p:spPr>
          </p:pic>
          <p:grpSp>
            <p:nvGrpSpPr>
              <p:cNvPr id="174" name="组合 116"/>
              <p:cNvGrpSpPr/>
              <p:nvPr/>
            </p:nvGrpSpPr>
            <p:grpSpPr>
              <a:xfrm>
                <a:off x="6019946" y="1785927"/>
                <a:ext cx="1000132" cy="1545509"/>
                <a:chOff x="6019946" y="1785927"/>
                <a:chExt cx="1000132" cy="1545509"/>
              </a:xfrm>
            </p:grpSpPr>
            <p:cxnSp>
              <p:nvCxnSpPr>
                <p:cNvPr id="201" name="直接连接符 200"/>
                <p:cNvCxnSpPr/>
                <p:nvPr/>
              </p:nvCxnSpPr>
              <p:spPr bwMode="auto">
                <a:xfrm rot="10800000">
                  <a:off x="6019946" y="3188560"/>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202" name="直接连接符 201"/>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86" name="TextBox 185"/>
              <p:cNvSpPr txBox="1"/>
              <p:nvPr/>
            </p:nvSpPr>
            <p:spPr>
              <a:xfrm>
                <a:off x="8162536" y="15141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nvGrpSpPr>
              <p:cNvPr id="188" name="组合 119"/>
              <p:cNvGrpSpPr/>
              <p:nvPr/>
            </p:nvGrpSpPr>
            <p:grpSpPr>
              <a:xfrm flipH="1">
                <a:off x="7124582" y="1785926"/>
                <a:ext cx="1000132" cy="1545509"/>
                <a:chOff x="6019946" y="1785927"/>
                <a:chExt cx="1000132" cy="1545509"/>
              </a:xfrm>
            </p:grpSpPr>
            <p:cxnSp>
              <p:nvCxnSpPr>
                <p:cNvPr id="199" name="直接连接符 198"/>
                <p:cNvCxnSpPr/>
                <p:nvPr/>
              </p:nvCxnSpPr>
              <p:spPr bwMode="auto">
                <a:xfrm rot="10800000">
                  <a:off x="6019946" y="3188560"/>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200" name="直接连接符 199"/>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91" name="TextBox 190"/>
              <p:cNvSpPr txBox="1"/>
              <p:nvPr/>
            </p:nvSpPr>
            <p:spPr>
              <a:xfrm>
                <a:off x="6915841" y="276687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194" name="直接连接符 193"/>
              <p:cNvCxnSpPr>
                <a:cxnSpLocks noChangeAspect="1"/>
              </p:cNvCxnSpPr>
              <p:nvPr/>
            </p:nvCxnSpPr>
            <p:spPr bwMode="auto">
              <a:xfrm>
                <a:off x="7143768" y="3357562"/>
                <a:ext cx="750099" cy="107157"/>
              </a:xfrm>
              <a:prstGeom prst="line">
                <a:avLst/>
              </a:prstGeom>
              <a:solidFill>
                <a:schemeClr val="accent1"/>
              </a:solidFill>
              <a:ln w="9525" cap="flat" cmpd="sng" algn="ctr">
                <a:solidFill>
                  <a:srgbClr val="00B050"/>
                </a:solidFill>
                <a:prstDash val="solid"/>
                <a:round/>
                <a:headEnd type="none" w="med" len="med"/>
                <a:tailEnd type="none" w="med" len="med"/>
              </a:ln>
              <a:effectLst/>
            </p:spPr>
          </p:cxnSp>
          <p:sp>
            <p:nvSpPr>
              <p:cNvPr id="195" name="TextBox 194"/>
              <p:cNvSpPr txBox="1"/>
              <p:nvPr/>
            </p:nvSpPr>
            <p:spPr>
              <a:xfrm>
                <a:off x="7559333" y="3143248"/>
                <a:ext cx="322524" cy="400110"/>
              </a:xfrm>
              <a:prstGeom prst="rect">
                <a:avLst/>
              </a:prstGeom>
              <a:noFill/>
              <a:ln w="28575">
                <a:noFill/>
              </a:ln>
            </p:spPr>
            <p:txBody>
              <a:bodyPr wrap="none" rtlCol="0">
                <a:spAutoFit/>
              </a:bodyPr>
              <a:lstStyle/>
              <a:p>
                <a:r>
                  <a:rPr lang="el-GR" altLang="zh-CN" sz="2000" b="1" i="1">
                    <a:latin typeface="Times New Roman"/>
                    <a:cs typeface="Times New Roman"/>
                  </a:rPr>
                  <a:t>θ</a:t>
                </a:r>
                <a:endParaRPr lang="zh-CN" altLang="en-US" sz="2000" b="1" i="1"/>
              </a:p>
            </p:txBody>
          </p:sp>
          <p:cxnSp>
            <p:nvCxnSpPr>
              <p:cNvPr id="196" name="直接连接符 195"/>
              <p:cNvCxnSpPr/>
              <p:nvPr/>
            </p:nvCxnSpPr>
            <p:spPr bwMode="auto">
              <a:xfrm rot="5400000" flipH="1" flipV="1">
                <a:off x="7821635" y="1846977"/>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7" name="直接连接符 196"/>
              <p:cNvCxnSpPr>
                <a:cxnSpLocks noChangeAspect="1"/>
              </p:cNvCxnSpPr>
              <p:nvPr/>
            </p:nvCxnSpPr>
            <p:spPr bwMode="auto">
              <a:xfrm>
                <a:off x="7929586" y="1857364"/>
                <a:ext cx="252000" cy="1867"/>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sp>
            <p:nvSpPr>
              <p:cNvPr id="198" name="矩形 197"/>
              <p:cNvSpPr/>
              <p:nvPr/>
            </p:nvSpPr>
            <p:spPr>
              <a:xfrm>
                <a:off x="7886402" y="1480988"/>
                <a:ext cx="328936" cy="369332"/>
              </a:xfrm>
              <a:prstGeom prst="rect">
                <a:avLst/>
              </a:prstGeom>
            </p:spPr>
            <p:txBody>
              <a:bodyPr wrap="none">
                <a:spAutoFit/>
              </a:bodyPr>
              <a:lstStyle/>
              <a:p>
                <a:r>
                  <a:rPr lang="el-GR" altLang="zh-CN" b="1" i="1">
                    <a:latin typeface="Times New Roman"/>
                    <a:cs typeface="Times New Roman"/>
                  </a:rPr>
                  <a:t>Δ</a:t>
                </a:r>
                <a:endParaRPr lang="zh-CN" altLang="en-US"/>
              </a:p>
            </p:txBody>
          </p:sp>
        </p:grpSp>
        <p:sp>
          <p:nvSpPr>
            <p:cNvPr id="203" name="椭圆 202"/>
            <p:cNvSpPr/>
            <p:nvPr/>
          </p:nvSpPr>
          <p:spPr bwMode="auto">
            <a:xfrm>
              <a:off x="7037708" y="5730356"/>
              <a:ext cx="108000" cy="108000"/>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204" name="椭圆 203"/>
            <p:cNvSpPr/>
            <p:nvPr/>
          </p:nvSpPr>
          <p:spPr bwMode="auto">
            <a:xfrm>
              <a:off x="7038836" y="5581344"/>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06" name="TextBox 205"/>
          <p:cNvSpPr txBox="1"/>
          <p:nvPr/>
        </p:nvSpPr>
        <p:spPr>
          <a:xfrm>
            <a:off x="1725497" y="3707974"/>
            <a:ext cx="3775197" cy="1292662"/>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⑵ 在</a:t>
            </a:r>
            <a:r>
              <a:rPr lang="en-US" altLang="zh-CN" sz="2000" b="1" i="1">
                <a:latin typeface="Times New Roman"/>
                <a:cs typeface="Times New Roman"/>
              </a:rPr>
              <a:t>A</a:t>
            </a:r>
            <a:r>
              <a:rPr lang="zh-CN" altLang="en-US" sz="2000" b="1">
                <a:latin typeface="Times New Roman"/>
                <a:cs typeface="Times New Roman"/>
              </a:rPr>
              <a:t>点沿拟求位移方向虚设</a:t>
            </a:r>
            <a:r>
              <a:rPr lang="zh-CN" altLang="en-US" sz="2000" b="1"/>
              <a:t>单位荷载（因</a:t>
            </a:r>
            <a:r>
              <a:rPr lang="en-US" altLang="zh-CN" sz="2000" b="1" i="1">
                <a:latin typeface="Times New Roman" pitchFamily="18" charset="0"/>
                <a:cs typeface="Times New Roman" pitchFamily="18" charset="0"/>
              </a:rPr>
              <a:t>B</a:t>
            </a:r>
            <a:r>
              <a:rPr lang="zh-CN" altLang="en-US" sz="2000" b="1"/>
              <a:t>处设铰，需虚设一对弯矩</a:t>
            </a:r>
            <a:r>
              <a:rPr lang="en-US" altLang="zh-CN" sz="2000" b="1" i="1">
                <a:latin typeface="Times New Roman" pitchFamily="18" charset="0"/>
                <a:cs typeface="Times New Roman" pitchFamily="18" charset="0"/>
              </a:rPr>
              <a:t>M</a:t>
            </a:r>
            <a:r>
              <a:rPr lang="zh-CN" altLang="en-US" sz="2000" b="1"/>
              <a:t>；</a:t>
            </a:r>
          </a:p>
        </p:txBody>
      </p:sp>
      <p:grpSp>
        <p:nvGrpSpPr>
          <p:cNvPr id="214" name="组合 213"/>
          <p:cNvGrpSpPr/>
          <p:nvPr/>
        </p:nvGrpSpPr>
        <p:grpSpPr>
          <a:xfrm>
            <a:off x="6670598" y="4308290"/>
            <a:ext cx="2116244" cy="1918934"/>
            <a:chOff x="6670598" y="4308290"/>
            <a:chExt cx="2116244" cy="1918934"/>
          </a:xfrm>
        </p:grpSpPr>
        <p:cxnSp>
          <p:nvCxnSpPr>
            <p:cNvPr id="208" name="直接箭头连接符 207"/>
            <p:cNvCxnSpPr/>
            <p:nvPr/>
          </p:nvCxnSpPr>
          <p:spPr bwMode="auto">
            <a:xfrm rot="10800000">
              <a:off x="8215338" y="4308290"/>
              <a:ext cx="571504" cy="1588"/>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p:spPr>
        </p:cxnSp>
        <p:sp>
          <p:nvSpPr>
            <p:cNvPr id="209" name="TextBox 208"/>
            <p:cNvSpPr txBox="1"/>
            <p:nvPr/>
          </p:nvSpPr>
          <p:spPr>
            <a:xfrm>
              <a:off x="8358214" y="4357694"/>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sp>
          <p:nvSpPr>
            <p:cNvPr id="210" name="弧形 209"/>
            <p:cNvSpPr/>
            <p:nvPr/>
          </p:nvSpPr>
          <p:spPr bwMode="auto">
            <a:xfrm>
              <a:off x="6670598" y="5391446"/>
              <a:ext cx="285752" cy="500066"/>
            </a:xfrm>
            <a:prstGeom prst="arc">
              <a:avLst>
                <a:gd name="adj1" fmla="val 16200000"/>
                <a:gd name="adj2" fmla="val 5078637"/>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sp>
          <p:nvSpPr>
            <p:cNvPr id="212" name="弧形 211"/>
            <p:cNvSpPr/>
            <p:nvPr/>
          </p:nvSpPr>
          <p:spPr bwMode="auto">
            <a:xfrm flipH="1">
              <a:off x="7221930" y="5395644"/>
              <a:ext cx="285752" cy="500066"/>
            </a:xfrm>
            <a:prstGeom prst="arc">
              <a:avLst>
                <a:gd name="adj1" fmla="val 16200000"/>
                <a:gd name="adj2" fmla="val 5078637"/>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sp>
          <p:nvSpPr>
            <p:cNvPr id="213" name="TextBox 212"/>
            <p:cNvSpPr txBox="1"/>
            <p:nvPr/>
          </p:nvSpPr>
          <p:spPr>
            <a:xfrm>
              <a:off x="6909282" y="5857892"/>
              <a:ext cx="40267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endParaRPr lang="zh-CN" altLang="en-US" b="1" i="1">
                <a:solidFill>
                  <a:srgbClr val="C00000"/>
                </a:solidFill>
                <a:latin typeface="Times New Roman" pitchFamily="18" charset="0"/>
                <a:cs typeface="Times New Roman" pitchFamily="18" charset="0"/>
              </a:endParaRPr>
            </a:p>
          </p:txBody>
        </p:sp>
      </p:grpSp>
      <p:sp>
        <p:nvSpPr>
          <p:cNvPr id="217" name="TextBox 216"/>
          <p:cNvSpPr txBox="1"/>
          <p:nvPr/>
        </p:nvSpPr>
        <p:spPr>
          <a:xfrm>
            <a:off x="1714480" y="4857760"/>
            <a:ext cx="3775197" cy="861774"/>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⑶ 根据平衡条件求出</a:t>
            </a:r>
            <a:endParaRPr lang="en-US" altLang="zh-CN" sz="2000" b="1"/>
          </a:p>
          <a:p>
            <a:pPr marL="363538" indent="-363538" algn="just">
              <a:lnSpc>
                <a:spcPct val="120000"/>
              </a:lnSpc>
              <a:tabLst>
                <a:tab pos="363538" algn="l"/>
              </a:tabLst>
            </a:pPr>
            <a:r>
              <a:rPr lang="en-US" altLang="zh-CN" sz="2000" b="1" i="1">
                <a:latin typeface="Times New Roman" pitchFamily="18" charset="0"/>
                <a:cs typeface="Times New Roman" pitchFamily="18" charset="0"/>
              </a:rPr>
              <a:t>                    M</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1·</a:t>
            </a:r>
            <a:r>
              <a:rPr lang="en-US" altLang="zh-CN" sz="2000" b="1" i="1">
                <a:latin typeface="Times New Roman" pitchFamily="18" charset="0"/>
                <a:cs typeface="Times New Roman" pitchFamily="18" charset="0"/>
              </a:rPr>
              <a:t>h</a:t>
            </a:r>
            <a:r>
              <a:rPr lang="en-US" altLang="zh-CN" sz="2000" b="1">
                <a:latin typeface="Times New Roman" pitchFamily="18" charset="0"/>
                <a:cs typeface="Times New Roman" pitchFamily="18" charset="0"/>
              </a:rPr>
              <a:t>/2</a:t>
            </a:r>
            <a:r>
              <a:rPr lang="zh-CN" altLang="en-US" sz="2000" b="1"/>
              <a:t>；</a:t>
            </a:r>
          </a:p>
        </p:txBody>
      </p:sp>
      <p:sp>
        <p:nvSpPr>
          <p:cNvPr id="218" name="TextBox 217"/>
          <p:cNvSpPr txBox="1"/>
          <p:nvPr/>
        </p:nvSpPr>
        <p:spPr>
          <a:xfrm>
            <a:off x="1714480" y="5567622"/>
            <a:ext cx="3775197" cy="861774"/>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⑷ 写出虚功方程</a:t>
            </a:r>
            <a:endParaRPr lang="en-US" altLang="zh-CN" sz="2000" b="1"/>
          </a:p>
          <a:p>
            <a:pPr marL="363538" indent="-363538" algn="just">
              <a:lnSpc>
                <a:spcPct val="120000"/>
              </a:lnSpc>
              <a:tabLst>
                <a:tab pos="363538" algn="l"/>
              </a:tabLst>
            </a:pP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1·</a:t>
            </a:r>
            <a:r>
              <a:rPr lang="el-GR" altLang="zh-CN" sz="2000" b="1" i="1">
                <a:latin typeface="Times New Roman"/>
                <a:cs typeface="Times New Roman"/>
              </a:rPr>
              <a:t>Δ</a:t>
            </a:r>
            <a:r>
              <a:rPr lang="en-US" altLang="zh-CN" sz="2000" b="1" i="1" baseline="-25000">
                <a:latin typeface="Times New Roman" pitchFamily="18" charset="0"/>
                <a:cs typeface="Times New Roman" pitchFamily="18" charset="0"/>
              </a:rPr>
              <a:t> </a:t>
            </a:r>
            <a:r>
              <a:rPr lang="en-US" altLang="zh-CN" sz="2000" b="1" i="1">
                <a:latin typeface="+mj-ea"/>
                <a:ea typeface="+mj-ea"/>
                <a:cs typeface="Times New Roman" pitchFamily="18" charset="0"/>
              </a:rPr>
              <a:t>-</a:t>
            </a:r>
            <a:r>
              <a:rPr lang="en-US" altLang="zh-CN" sz="2000" b="1" i="1" baseline="-25000">
                <a:latin typeface="+mj-ea"/>
                <a:ea typeface="+mj-ea"/>
                <a:cs typeface="Times New Roman" pitchFamily="18" charset="0"/>
              </a:rPr>
              <a:t> </a:t>
            </a:r>
            <a:r>
              <a:rPr lang="en-US" altLang="zh-CN" sz="2000" b="1" i="1">
                <a:latin typeface="Times New Roman" pitchFamily="18" charset="0"/>
                <a:cs typeface="Times New Roman" pitchFamily="18" charset="0"/>
              </a:rPr>
              <a:t>M</a:t>
            </a:r>
            <a:r>
              <a:rPr lang="en-US" altLang="zh-CN" sz="2000" b="1">
                <a:latin typeface="Times New Roman" pitchFamily="18" charset="0"/>
                <a:cs typeface="Times New Roman" pitchFamily="18" charset="0"/>
              </a:rPr>
              <a:t>·</a:t>
            </a:r>
            <a:r>
              <a:rPr lang="el-GR" altLang="zh-CN" sz="2000" b="1" i="1">
                <a:latin typeface="Times New Roman"/>
                <a:cs typeface="Times New Roman"/>
              </a:rPr>
              <a:t>θ</a:t>
            </a:r>
            <a:r>
              <a:rPr lang="en-US" altLang="zh-CN" sz="2000" b="1" i="1" baseline="-25000">
                <a:latin typeface="Times New Roman"/>
                <a:cs typeface="Times New Roman"/>
              </a:rPr>
              <a:t> </a:t>
            </a:r>
            <a:r>
              <a:rPr lang="en-US" altLang="zh-CN" sz="2000" b="1">
                <a:latin typeface="Times New Roman"/>
                <a:cs typeface="Times New Roman"/>
              </a:rPr>
              <a:t>=</a:t>
            </a:r>
            <a:r>
              <a:rPr lang="en-US" altLang="zh-CN" sz="2000" b="1" baseline="-25000">
                <a:latin typeface="Times New Roman"/>
                <a:cs typeface="Times New Roman"/>
              </a:rPr>
              <a:t> </a:t>
            </a:r>
            <a:r>
              <a:rPr lang="en-US" altLang="zh-CN" sz="2000" b="1">
                <a:latin typeface="Times New Roman"/>
                <a:cs typeface="Times New Roman"/>
              </a:rPr>
              <a:t>0</a:t>
            </a:r>
            <a:r>
              <a:rPr lang="zh-CN" altLang="en-US" sz="2000" b="1"/>
              <a:t>；</a:t>
            </a:r>
          </a:p>
        </p:txBody>
      </p:sp>
      <p:grpSp>
        <p:nvGrpSpPr>
          <p:cNvPr id="221" name="组合 220"/>
          <p:cNvGrpSpPr/>
          <p:nvPr/>
        </p:nvGrpSpPr>
        <p:grpSpPr>
          <a:xfrm>
            <a:off x="4643438" y="6000768"/>
            <a:ext cx="1717302" cy="400110"/>
            <a:chOff x="4643438" y="6000768"/>
            <a:chExt cx="1717302" cy="400110"/>
          </a:xfrm>
        </p:grpSpPr>
        <p:sp>
          <p:nvSpPr>
            <p:cNvPr id="219" name="右箭头 218"/>
            <p:cNvSpPr/>
            <p:nvPr/>
          </p:nvSpPr>
          <p:spPr bwMode="auto">
            <a:xfrm>
              <a:off x="4643438" y="6072206"/>
              <a:ext cx="357190" cy="285752"/>
            </a:xfrm>
            <a:prstGeom prst="rightArrow">
              <a:avLst/>
            </a:prstGeom>
            <a:solidFill>
              <a:srgbClr val="0070C0"/>
            </a:solid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20" name="矩形 219"/>
            <p:cNvSpPr/>
            <p:nvPr/>
          </p:nvSpPr>
          <p:spPr>
            <a:xfrm>
              <a:off x="5236458" y="6000768"/>
              <a:ext cx="1124282" cy="400110"/>
            </a:xfrm>
            <a:prstGeom prst="rect">
              <a:avLst/>
            </a:prstGeom>
          </p:spPr>
          <p:txBody>
            <a:bodyPr wrap="none">
              <a:spAutoFit/>
            </a:bodyPr>
            <a:lstStyle/>
            <a:p>
              <a:r>
                <a:rPr lang="el-GR" altLang="zh-CN" sz="2000" b="1" i="1">
                  <a:latin typeface="Times New Roman"/>
                  <a:cs typeface="Times New Roman"/>
                </a:rPr>
                <a:t>Δ</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baseline="-25000">
                  <a:latin typeface="+mj-ea"/>
                  <a:cs typeface="Times New Roman" pitchFamily="18" charset="0"/>
                </a:rPr>
                <a:t> </a:t>
              </a:r>
              <a:r>
                <a:rPr lang="el-GR" altLang="zh-CN" sz="2000" b="1" i="1">
                  <a:latin typeface="Times New Roman"/>
                  <a:cs typeface="Times New Roman"/>
                </a:rPr>
                <a:t>θ</a:t>
              </a:r>
              <a:r>
                <a:rPr lang="en-US" altLang="zh-CN" sz="2000" b="1" i="1">
                  <a:latin typeface="Times New Roman"/>
                  <a:cs typeface="Times New Roman"/>
                </a:rPr>
                <a:t>h</a:t>
              </a:r>
              <a:r>
                <a:rPr lang="en-US" altLang="zh-CN" sz="2000" b="1">
                  <a:latin typeface="Times New Roman"/>
                  <a:cs typeface="Times New Roman"/>
                </a:rPr>
                <a:t>/2</a:t>
              </a:r>
              <a:r>
                <a:rPr lang="en-US" altLang="zh-CN" sz="2000" b="1" i="1" baseline="-25000">
                  <a:latin typeface="Times New Roman"/>
                  <a:cs typeface="Times New Roman"/>
                </a:rPr>
                <a:t> </a:t>
              </a:r>
              <a:endParaRPr lang="zh-CN" alt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500" fill="hold"/>
                                        <p:tgtEl>
                                          <p:spTgt spid="92"/>
                                        </p:tgtEl>
                                        <p:attrNameLst>
                                          <p:attrName>ppt_x</p:attrName>
                                        </p:attrNameLst>
                                      </p:cBhvr>
                                      <p:tavLst>
                                        <p:tav tm="0">
                                          <p:val>
                                            <p:strVal val="#ppt_x"/>
                                          </p:val>
                                        </p:tav>
                                        <p:tav tm="100000">
                                          <p:val>
                                            <p:strVal val="#ppt_x"/>
                                          </p:val>
                                        </p:tav>
                                      </p:tavLst>
                                    </p:anim>
                                    <p:anim calcmode="lin" valueType="num">
                                      <p:cBhvr additive="base">
                                        <p:cTn id="8" dur="500" fill="hold"/>
                                        <p:tgtEl>
                                          <p:spTgt spid="92"/>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36">
                                            <p:txEl>
                                              <p:pRg st="0" end="0"/>
                                            </p:txEl>
                                          </p:spTgt>
                                        </p:tgtEl>
                                        <p:attrNameLst>
                                          <p:attrName>style.visibility</p:attrName>
                                        </p:attrNameLst>
                                      </p:cBhvr>
                                      <p:to>
                                        <p:strVal val="visible"/>
                                      </p:to>
                                    </p:set>
                                    <p:animEffect transition="in" filter="wipe(up)">
                                      <p:cBhvr>
                                        <p:cTn id="15" dur="500"/>
                                        <p:tgtEl>
                                          <p:spTgt spid="1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05"/>
                                        </p:tgtEl>
                                        <p:attrNameLst>
                                          <p:attrName>style.visibility</p:attrName>
                                        </p:attrNameLst>
                                      </p:cBhvr>
                                      <p:to>
                                        <p:strVal val="visible"/>
                                      </p:to>
                                    </p:set>
                                    <p:anim calcmode="lin" valueType="num">
                                      <p:cBhvr additive="base">
                                        <p:cTn id="20" dur="500" fill="hold"/>
                                        <p:tgtEl>
                                          <p:spTgt spid="205"/>
                                        </p:tgtEl>
                                        <p:attrNameLst>
                                          <p:attrName>ppt_x</p:attrName>
                                        </p:attrNameLst>
                                      </p:cBhvr>
                                      <p:tavLst>
                                        <p:tav tm="0">
                                          <p:val>
                                            <p:strVal val="#ppt_x"/>
                                          </p:val>
                                        </p:tav>
                                        <p:tav tm="100000">
                                          <p:val>
                                            <p:strVal val="#ppt_x"/>
                                          </p:val>
                                        </p:tav>
                                      </p:tavLst>
                                    </p:anim>
                                    <p:anim calcmode="lin" valueType="num">
                                      <p:cBhvr additive="base">
                                        <p:cTn id="21" dur="500" fill="hold"/>
                                        <p:tgtEl>
                                          <p:spTgt spid="20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06">
                                            <p:txEl>
                                              <p:pRg st="0" end="0"/>
                                            </p:txEl>
                                          </p:spTgt>
                                        </p:tgtEl>
                                        <p:attrNameLst>
                                          <p:attrName>style.visibility</p:attrName>
                                        </p:attrNameLst>
                                      </p:cBhvr>
                                      <p:to>
                                        <p:strVal val="visible"/>
                                      </p:to>
                                    </p:set>
                                    <p:animEffect transition="in" filter="wipe(up)">
                                      <p:cBhvr>
                                        <p:cTn id="26" dur="500"/>
                                        <p:tgtEl>
                                          <p:spTgt spid="20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14"/>
                                        </p:tgtEl>
                                        <p:attrNameLst>
                                          <p:attrName>style.visibility</p:attrName>
                                        </p:attrNameLst>
                                      </p:cBhvr>
                                      <p:to>
                                        <p:strVal val="visible"/>
                                      </p:to>
                                    </p:set>
                                    <p:animEffect transition="in" filter="box(in)">
                                      <p:cBhvr>
                                        <p:cTn id="31" dur="500"/>
                                        <p:tgtEl>
                                          <p:spTgt spid="2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17">
                                            <p:txEl>
                                              <p:pRg st="0" end="0"/>
                                            </p:txEl>
                                          </p:spTgt>
                                        </p:tgtEl>
                                        <p:attrNameLst>
                                          <p:attrName>style.visibility</p:attrName>
                                        </p:attrNameLst>
                                      </p:cBhvr>
                                      <p:to>
                                        <p:strVal val="visible"/>
                                      </p:to>
                                    </p:set>
                                    <p:animEffect transition="in" filter="wipe(down)">
                                      <p:cBhvr>
                                        <p:cTn id="36" dur="500"/>
                                        <p:tgtEl>
                                          <p:spTgt spid="217">
                                            <p:txEl>
                                              <p:pRg st="0" end="0"/>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17">
                                            <p:txEl>
                                              <p:pRg st="1" end="1"/>
                                            </p:txEl>
                                          </p:spTgt>
                                        </p:tgtEl>
                                        <p:attrNameLst>
                                          <p:attrName>style.visibility</p:attrName>
                                        </p:attrNameLst>
                                      </p:cBhvr>
                                      <p:to>
                                        <p:strVal val="visible"/>
                                      </p:to>
                                    </p:set>
                                    <p:animEffect transition="in" filter="wipe(down)">
                                      <p:cBhvr>
                                        <p:cTn id="39" dur="500"/>
                                        <p:tgtEl>
                                          <p:spTgt spid="21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18">
                                            <p:txEl>
                                              <p:pRg st="0" end="0"/>
                                            </p:txEl>
                                          </p:spTgt>
                                        </p:tgtEl>
                                        <p:attrNameLst>
                                          <p:attrName>style.visibility</p:attrName>
                                        </p:attrNameLst>
                                      </p:cBhvr>
                                      <p:to>
                                        <p:strVal val="visible"/>
                                      </p:to>
                                    </p:set>
                                    <p:animEffect transition="in" filter="wipe(up)">
                                      <p:cBhvr>
                                        <p:cTn id="44" dur="500"/>
                                        <p:tgtEl>
                                          <p:spTgt spid="218">
                                            <p:txEl>
                                              <p:pRg st="0" end="0"/>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8">
                                            <p:txEl>
                                              <p:pRg st="1" end="1"/>
                                            </p:txEl>
                                          </p:spTgt>
                                        </p:tgtEl>
                                        <p:attrNameLst>
                                          <p:attrName>style.visibility</p:attrName>
                                        </p:attrNameLst>
                                      </p:cBhvr>
                                      <p:to>
                                        <p:strVal val="visible"/>
                                      </p:to>
                                    </p:set>
                                    <p:animEffect transition="in" filter="wipe(up)">
                                      <p:cBhvr>
                                        <p:cTn id="47" dur="500"/>
                                        <p:tgtEl>
                                          <p:spTgt spid="218">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21"/>
                                        </p:tgtEl>
                                        <p:attrNameLst>
                                          <p:attrName>style.visibility</p:attrName>
                                        </p:attrNameLst>
                                      </p:cBhvr>
                                      <p:to>
                                        <p:strVal val="visible"/>
                                      </p:to>
                                    </p:set>
                                    <p:anim calcmode="lin" valueType="num">
                                      <p:cBhvr additive="base">
                                        <p:cTn id="52" dur="500" fill="hold"/>
                                        <p:tgtEl>
                                          <p:spTgt spid="221"/>
                                        </p:tgtEl>
                                        <p:attrNameLst>
                                          <p:attrName>ppt_x</p:attrName>
                                        </p:attrNameLst>
                                      </p:cBhvr>
                                      <p:tavLst>
                                        <p:tav tm="0">
                                          <p:val>
                                            <p:strVal val="0-#ppt_w/2"/>
                                          </p:val>
                                        </p:tav>
                                        <p:tav tm="100000">
                                          <p:val>
                                            <p:strVal val="#ppt_x"/>
                                          </p:val>
                                        </p:tav>
                                      </p:tavLst>
                                    </p:anim>
                                    <p:anim calcmode="lin" valueType="num">
                                      <p:cBhvr additive="base">
                                        <p:cTn id="53" dur="500" fill="hold"/>
                                        <p:tgtEl>
                                          <p:spTgt spid="2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136" grpId="0" build="allAtOnce"/>
      <p:bldP spid="206" grpId="0" build="allAtOnce"/>
      <p:bldP spid="217" grpId="0" build="allAtOnce"/>
      <p:bldP spid="218"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局部变形时静定结构的位移计算</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503115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：如图所示刚架在</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处有相对剪切位移转角</a:t>
            </a:r>
            <a:r>
              <a:rPr lang="el-GR" altLang="zh-CN" sz="2000" b="1" i="1">
                <a:latin typeface="Times New Roman"/>
                <a:cs typeface="Times New Roman"/>
              </a:rPr>
              <a:t>η</a:t>
            </a:r>
            <a:r>
              <a:rPr lang="zh-CN" altLang="en-US" sz="2000" b="1">
                <a:latin typeface="Times New Roman"/>
                <a:cs typeface="Times New Roman"/>
              </a:rPr>
              <a:t>。试求</a:t>
            </a:r>
            <a:r>
              <a:rPr lang="en-US" altLang="zh-CN" sz="2000" b="1" i="1">
                <a:latin typeface="Times New Roman"/>
                <a:cs typeface="Times New Roman"/>
              </a:rPr>
              <a:t>AC</a:t>
            </a:r>
            <a:r>
              <a:rPr lang="zh-CN" altLang="en-US" sz="2000" b="1">
                <a:latin typeface="Times New Roman"/>
                <a:cs typeface="Times New Roman"/>
              </a:rPr>
              <a:t>杆的转角</a:t>
            </a:r>
            <a:r>
              <a:rPr lang="el-GR" altLang="zh-CN" sz="2000" b="1" i="1">
                <a:latin typeface="Times New Roman"/>
                <a:cs typeface="Times New Roman"/>
              </a:rPr>
              <a:t>θ </a:t>
            </a:r>
            <a:r>
              <a:rPr lang="zh-CN" altLang="en-US" sz="2000" b="1">
                <a:latin typeface="Times New Roman"/>
                <a:cs typeface="Times New Roman"/>
              </a:rPr>
              <a:t>。</a:t>
            </a:r>
            <a:endParaRPr lang="en-US" altLang="zh-CN" sz="2000" b="1">
              <a:latin typeface="Times New Roman" pitchFamily="18" charset="0"/>
              <a:cs typeface="Times New Roman" pitchFamily="18" charset="0"/>
            </a:endParaRPr>
          </a:p>
        </p:txBody>
      </p:sp>
      <p:sp>
        <p:nvSpPr>
          <p:cNvPr id="136" name="TextBox 135"/>
          <p:cNvSpPr txBox="1"/>
          <p:nvPr/>
        </p:nvSpPr>
        <p:spPr>
          <a:xfrm>
            <a:off x="1214414" y="2571744"/>
            <a:ext cx="4286280" cy="892552"/>
          </a:xfrm>
          <a:prstGeom prst="rect">
            <a:avLst/>
          </a:prstGeom>
          <a:noFill/>
          <a:ln w="28575">
            <a:noFill/>
          </a:ln>
        </p:spPr>
        <p:txBody>
          <a:bodyPr wrap="square" rtlCol="0">
            <a:spAutoFit/>
          </a:bodyPr>
          <a:lstStyle/>
          <a:p>
            <a:pPr marL="892175" indent="-892175" algn="just">
              <a:lnSpc>
                <a:spcPct val="130000"/>
              </a:lnSpc>
            </a:pPr>
            <a:r>
              <a:rPr lang="zh-CN" altLang="en-US" sz="2000" b="1"/>
              <a:t>解：⑴ 解出</a:t>
            </a:r>
            <a:r>
              <a:rPr lang="en-US" altLang="zh-CN" sz="2000" b="1" i="1">
                <a:latin typeface="Times New Roman" pitchFamily="18" charset="0"/>
                <a:cs typeface="Times New Roman" pitchFamily="18" charset="0"/>
              </a:rPr>
              <a:t>B</a:t>
            </a:r>
            <a:r>
              <a:rPr lang="zh-CN" altLang="en-US" sz="2000" b="1"/>
              <a:t>处约束，把实际位移明确地表示为刚体位移状态；</a:t>
            </a:r>
          </a:p>
        </p:txBody>
      </p:sp>
      <p:sp>
        <p:nvSpPr>
          <p:cNvPr id="206" name="TextBox 205"/>
          <p:cNvSpPr txBox="1"/>
          <p:nvPr/>
        </p:nvSpPr>
        <p:spPr>
          <a:xfrm>
            <a:off x="1725497" y="3363847"/>
            <a:ext cx="3775197" cy="892552"/>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⑵ 在</a:t>
            </a:r>
            <a:r>
              <a:rPr lang="en-US" altLang="zh-CN" sz="2000" b="1" i="1">
                <a:latin typeface="Times New Roman"/>
                <a:cs typeface="Times New Roman"/>
              </a:rPr>
              <a:t>AC</a:t>
            </a:r>
            <a:r>
              <a:rPr lang="zh-CN" altLang="en-US" sz="2000" b="1">
                <a:latin typeface="Times New Roman"/>
                <a:cs typeface="Times New Roman"/>
              </a:rPr>
              <a:t>杆上施加拟求位移方向的单位荷载；         </a:t>
            </a:r>
            <a:r>
              <a:rPr lang="zh-CN" altLang="en-US" b="1">
                <a:solidFill>
                  <a:srgbClr val="C00000"/>
                </a:solidFill>
                <a:latin typeface="Times New Roman"/>
                <a:cs typeface="Times New Roman"/>
              </a:rPr>
              <a:t>是什么？</a:t>
            </a:r>
            <a:endParaRPr lang="zh-CN" altLang="en-US" b="1">
              <a:solidFill>
                <a:srgbClr val="C00000"/>
              </a:solidFill>
            </a:endParaRPr>
          </a:p>
        </p:txBody>
      </p:sp>
      <p:sp>
        <p:nvSpPr>
          <p:cNvPr id="217" name="TextBox 216"/>
          <p:cNvSpPr txBox="1"/>
          <p:nvPr/>
        </p:nvSpPr>
        <p:spPr>
          <a:xfrm>
            <a:off x="1714480" y="4513633"/>
            <a:ext cx="3775197" cy="861774"/>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⑶ 根据平衡条件求出</a:t>
            </a:r>
            <a:endParaRPr lang="en-US" altLang="zh-CN" sz="2000" b="1"/>
          </a:p>
          <a:p>
            <a:pPr marL="363538" indent="-363538" algn="just">
              <a:lnSpc>
                <a:spcPct val="120000"/>
              </a:lnSpc>
              <a:tabLst>
                <a:tab pos="363538" algn="l"/>
              </a:tabLst>
            </a:pPr>
            <a:r>
              <a:rPr lang="en-US" altLang="zh-CN" sz="2000" b="1" i="1">
                <a:latin typeface="Times New Roman" pitchFamily="18" charset="0"/>
                <a:cs typeface="Times New Roman" pitchFamily="18" charset="0"/>
              </a:rPr>
              <a:t>           Q</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1/2</a:t>
            </a:r>
            <a:r>
              <a:rPr lang="en-US" altLang="zh-CN" sz="2000" b="1" i="1">
                <a:latin typeface="Times New Roman" pitchFamily="18" charset="0"/>
                <a:cs typeface="Times New Roman" pitchFamily="18" charset="0"/>
              </a:rPr>
              <a:t>a</a:t>
            </a:r>
            <a:r>
              <a:rPr lang="zh-CN" altLang="en-US" sz="2000" b="1"/>
              <a:t>；</a:t>
            </a:r>
          </a:p>
        </p:txBody>
      </p:sp>
      <p:sp>
        <p:nvSpPr>
          <p:cNvPr id="218" name="TextBox 217"/>
          <p:cNvSpPr txBox="1"/>
          <p:nvPr/>
        </p:nvSpPr>
        <p:spPr>
          <a:xfrm>
            <a:off x="1714480" y="5223495"/>
            <a:ext cx="3775197" cy="861774"/>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⑷ 写出虚功方程</a:t>
            </a:r>
            <a:endParaRPr lang="en-US" altLang="zh-CN" sz="2000" b="1"/>
          </a:p>
          <a:p>
            <a:pPr marL="363538" indent="-363538" algn="just">
              <a:lnSpc>
                <a:spcPct val="120000"/>
              </a:lnSpc>
              <a:tabLst>
                <a:tab pos="363538" algn="l"/>
              </a:tabLst>
            </a:pPr>
            <a:r>
              <a:rPr lang="en-US" altLang="zh-CN" sz="2000" b="1">
                <a:latin typeface="Times New Roman" pitchFamily="18" charset="0"/>
                <a:cs typeface="Times New Roman" pitchFamily="18" charset="0"/>
              </a:rPr>
              <a:t>       1·</a:t>
            </a:r>
            <a:r>
              <a:rPr lang="el-GR" altLang="zh-CN" sz="2000" b="1" i="1">
                <a:latin typeface="Times New Roman"/>
                <a:cs typeface="Times New Roman"/>
              </a:rPr>
              <a:t> θ</a:t>
            </a:r>
            <a:r>
              <a:rPr lang="en-US" altLang="zh-CN" sz="2000" b="1" i="1" baseline="-25000">
                <a:latin typeface="Times New Roman" pitchFamily="18" charset="0"/>
                <a:cs typeface="Times New Roman" pitchFamily="18" charset="0"/>
              </a:rPr>
              <a:t> </a:t>
            </a:r>
            <a:r>
              <a:rPr lang="en-US" altLang="zh-CN" sz="2000" b="1" i="1">
                <a:latin typeface="+mj-ea"/>
                <a:ea typeface="+mj-ea"/>
                <a:cs typeface="Times New Roman" pitchFamily="18" charset="0"/>
              </a:rPr>
              <a:t>-</a:t>
            </a:r>
            <a:r>
              <a:rPr lang="en-US" altLang="zh-CN" sz="2000" b="1" i="1" baseline="-25000">
                <a:latin typeface="+mj-ea"/>
                <a:ea typeface="+mj-ea"/>
                <a:cs typeface="Times New Roman" pitchFamily="18" charset="0"/>
              </a:rPr>
              <a:t> </a:t>
            </a:r>
            <a:r>
              <a:rPr lang="en-US" altLang="zh-CN" sz="2000" b="1" i="1">
                <a:latin typeface="Times New Roman" pitchFamily="18" charset="0"/>
                <a:cs typeface="Times New Roman" pitchFamily="18" charset="0"/>
              </a:rPr>
              <a:t>Q</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baseline="-25000">
                <a:latin typeface="Times New Roman"/>
                <a:cs typeface="Times New Roman"/>
              </a:rPr>
              <a:t> </a:t>
            </a:r>
            <a:r>
              <a:rPr lang="el-GR" altLang="zh-CN" sz="2000" b="1" i="1">
                <a:latin typeface="Times New Roman"/>
                <a:cs typeface="Times New Roman"/>
              </a:rPr>
              <a:t>η</a:t>
            </a:r>
            <a:r>
              <a:rPr lang="en-US" altLang="zh-CN" sz="2000" b="1" i="1" baseline="-25000">
                <a:latin typeface="Times New Roman"/>
                <a:cs typeface="Times New Roman"/>
              </a:rPr>
              <a:t> </a:t>
            </a:r>
            <a:r>
              <a:rPr lang="en-US" altLang="zh-CN" sz="2000" b="1">
                <a:latin typeface="Times New Roman"/>
                <a:cs typeface="Times New Roman"/>
              </a:rPr>
              <a:t>=</a:t>
            </a:r>
            <a:r>
              <a:rPr lang="en-US" altLang="zh-CN" sz="2000" b="1" baseline="-25000">
                <a:latin typeface="Times New Roman"/>
                <a:cs typeface="Times New Roman"/>
              </a:rPr>
              <a:t> </a:t>
            </a:r>
            <a:r>
              <a:rPr lang="en-US" altLang="zh-CN" sz="2000" b="1">
                <a:latin typeface="Times New Roman"/>
                <a:cs typeface="Times New Roman"/>
              </a:rPr>
              <a:t>0</a:t>
            </a:r>
            <a:r>
              <a:rPr lang="zh-CN" altLang="en-US" sz="2000" b="1"/>
              <a:t>；</a:t>
            </a:r>
          </a:p>
        </p:txBody>
      </p:sp>
      <p:grpSp>
        <p:nvGrpSpPr>
          <p:cNvPr id="12" name="组合 220"/>
          <p:cNvGrpSpPr/>
          <p:nvPr/>
        </p:nvGrpSpPr>
        <p:grpSpPr>
          <a:xfrm>
            <a:off x="4071934" y="5643578"/>
            <a:ext cx="1561763" cy="400110"/>
            <a:chOff x="4643438" y="6000768"/>
            <a:chExt cx="1561763" cy="400110"/>
          </a:xfrm>
        </p:grpSpPr>
        <p:sp>
          <p:nvSpPr>
            <p:cNvPr id="219" name="右箭头 218"/>
            <p:cNvSpPr/>
            <p:nvPr/>
          </p:nvSpPr>
          <p:spPr bwMode="auto">
            <a:xfrm>
              <a:off x="4643438" y="6072206"/>
              <a:ext cx="357190" cy="285752"/>
            </a:xfrm>
            <a:prstGeom prst="rightArrow">
              <a:avLst/>
            </a:prstGeom>
            <a:solidFill>
              <a:srgbClr val="0070C0"/>
            </a:solid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20" name="矩形 219"/>
            <p:cNvSpPr/>
            <p:nvPr/>
          </p:nvSpPr>
          <p:spPr>
            <a:xfrm>
              <a:off x="5143692" y="6000768"/>
              <a:ext cx="1061509" cy="400110"/>
            </a:xfrm>
            <a:prstGeom prst="rect">
              <a:avLst/>
            </a:prstGeom>
          </p:spPr>
          <p:txBody>
            <a:bodyPr wrap="none">
              <a:spAutoFit/>
            </a:bodyPr>
            <a:lstStyle/>
            <a:p>
              <a:r>
                <a:rPr lang="el-GR" altLang="zh-CN" sz="2000" b="1" i="1">
                  <a:latin typeface="Times New Roman"/>
                  <a:cs typeface="Times New Roman"/>
                </a:rPr>
                <a:t>θ</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baseline="-25000">
                  <a:latin typeface="+mj-ea"/>
                  <a:cs typeface="Times New Roman" pitchFamily="18" charset="0"/>
                </a:rPr>
                <a:t> </a:t>
              </a:r>
              <a:r>
                <a:rPr lang="el-GR" altLang="zh-CN" sz="2000" b="1" i="1">
                  <a:latin typeface="Times New Roman"/>
                  <a:cs typeface="Times New Roman"/>
                </a:rPr>
                <a:t>η</a:t>
              </a:r>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a:p>
          </p:txBody>
        </p:sp>
      </p:grpSp>
      <p:grpSp>
        <p:nvGrpSpPr>
          <p:cNvPr id="69" name="组合 68"/>
          <p:cNvGrpSpPr/>
          <p:nvPr/>
        </p:nvGrpSpPr>
        <p:grpSpPr>
          <a:xfrm>
            <a:off x="5786446" y="1500174"/>
            <a:ext cx="3071834" cy="2357454"/>
            <a:chOff x="5786446" y="1500174"/>
            <a:chExt cx="3071834" cy="2357454"/>
          </a:xfrm>
        </p:grpSpPr>
        <p:grpSp>
          <p:nvGrpSpPr>
            <p:cNvPr id="68" name="组合 67"/>
            <p:cNvGrpSpPr/>
            <p:nvPr/>
          </p:nvGrpSpPr>
          <p:grpSpPr>
            <a:xfrm>
              <a:off x="5786446" y="1500174"/>
              <a:ext cx="2971878" cy="2020674"/>
              <a:chOff x="5786446" y="1500174"/>
              <a:chExt cx="2971878" cy="2020674"/>
            </a:xfrm>
          </p:grpSpPr>
          <p:pic>
            <p:nvPicPr>
              <p:cNvPr id="385032" name="Picture 8"/>
              <p:cNvPicPr>
                <a:picLocks noChangeAspect="1" noChangeArrowheads="1"/>
              </p:cNvPicPr>
              <p:nvPr/>
            </p:nvPicPr>
            <p:blipFill>
              <a:blip r:embed="rId3"/>
              <a:srcRect/>
              <a:stretch>
                <a:fillRect/>
              </a:stretch>
            </p:blipFill>
            <p:spPr bwMode="auto">
              <a:xfrm>
                <a:off x="5786446" y="1500174"/>
                <a:ext cx="2571768" cy="2020674"/>
              </a:xfrm>
              <a:prstGeom prst="rect">
                <a:avLst/>
              </a:prstGeom>
              <a:noFill/>
              <a:ln w="9525">
                <a:noFill/>
                <a:miter lim="800000"/>
                <a:headEnd/>
                <a:tailEnd/>
              </a:ln>
              <a:effectLst/>
            </p:spPr>
          </p:pic>
          <p:cxnSp>
            <p:nvCxnSpPr>
              <p:cNvPr id="97" name="直接连接符 96"/>
              <p:cNvCxnSpPr/>
              <p:nvPr/>
            </p:nvCxnSpPr>
            <p:spPr bwMode="auto">
              <a:xfrm flipV="1">
                <a:off x="8429652" y="1751077"/>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8" name="直接连接符 97"/>
              <p:cNvCxnSpPr/>
              <p:nvPr/>
            </p:nvCxnSpPr>
            <p:spPr bwMode="auto">
              <a:xfrm flipV="1">
                <a:off x="8429652" y="3201623"/>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0" name="直接箭头连接符 99"/>
              <p:cNvCxnSpPr/>
              <p:nvPr/>
            </p:nvCxnSpPr>
            <p:spPr bwMode="auto">
              <a:xfrm rot="5400000">
                <a:off x="7857354" y="2474180"/>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2" name="TextBox 101"/>
              <p:cNvSpPr txBox="1"/>
              <p:nvPr/>
            </p:nvSpPr>
            <p:spPr>
              <a:xfrm rot="16200000">
                <a:off x="8394602" y="2307979"/>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103" name="直接连接符 102"/>
              <p:cNvCxnSpPr/>
              <p:nvPr/>
            </p:nvCxnSpPr>
            <p:spPr bwMode="auto">
              <a:xfrm rot="5400000" flipV="1">
                <a:off x="6962375" y="1993445"/>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5" name="直接箭头连接符 104"/>
              <p:cNvCxnSpPr/>
              <p:nvPr/>
            </p:nvCxnSpPr>
            <p:spPr bwMode="auto">
              <a:xfrm rot="10800000">
                <a:off x="6013823" y="1941865"/>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6" name="TextBox 105"/>
              <p:cNvSpPr txBox="1"/>
              <p:nvPr/>
            </p:nvSpPr>
            <p:spPr>
              <a:xfrm>
                <a:off x="6416325" y="1714488"/>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cxnSp>
            <p:nvCxnSpPr>
              <p:cNvPr id="111" name="直接箭头连接符 110"/>
              <p:cNvCxnSpPr/>
              <p:nvPr/>
            </p:nvCxnSpPr>
            <p:spPr bwMode="auto">
              <a:xfrm rot="10800000">
                <a:off x="7098456" y="1941865"/>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12" name="TextBox 111"/>
              <p:cNvSpPr txBox="1"/>
              <p:nvPr/>
            </p:nvSpPr>
            <p:spPr>
              <a:xfrm>
                <a:off x="7474832" y="1727551"/>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grpSp>
            <p:nvGrpSpPr>
              <p:cNvPr id="5" name="组合 116"/>
              <p:cNvGrpSpPr/>
              <p:nvPr/>
            </p:nvGrpSpPr>
            <p:grpSpPr>
              <a:xfrm rot="20513644">
                <a:off x="5787524" y="1660350"/>
                <a:ext cx="1000132" cy="1545509"/>
                <a:chOff x="6019946" y="1785927"/>
                <a:chExt cx="1000132" cy="1545509"/>
              </a:xfrm>
            </p:grpSpPr>
            <p:cxnSp>
              <p:nvCxnSpPr>
                <p:cNvPr id="114" name="直接连接符 113"/>
                <p:cNvCxnSpPr/>
                <p:nvPr/>
              </p:nvCxnSpPr>
              <p:spPr bwMode="auto">
                <a:xfrm rot="10800000">
                  <a:off x="6019946" y="3188560"/>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15" name="直接连接符 114"/>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19" name="TextBox 118"/>
              <p:cNvSpPr txBox="1"/>
              <p:nvPr/>
            </p:nvSpPr>
            <p:spPr>
              <a:xfrm>
                <a:off x="8162536" y="154871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nvGrpSpPr>
              <p:cNvPr id="6" name="组合 119"/>
              <p:cNvGrpSpPr/>
              <p:nvPr/>
            </p:nvGrpSpPr>
            <p:grpSpPr>
              <a:xfrm flipH="1">
                <a:off x="7124582" y="1839716"/>
                <a:ext cx="1000132" cy="1545509"/>
                <a:chOff x="6019946" y="1785927"/>
                <a:chExt cx="1000132" cy="1545509"/>
              </a:xfrm>
            </p:grpSpPr>
            <p:cxnSp>
              <p:nvCxnSpPr>
                <p:cNvPr id="121" name="直接连接符 120"/>
                <p:cNvCxnSpPr/>
                <p:nvPr/>
              </p:nvCxnSpPr>
              <p:spPr bwMode="auto">
                <a:xfrm rot="10800000">
                  <a:off x="6019946" y="3188560"/>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22" name="直接连接符 121"/>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123" name="TextBox 122"/>
              <p:cNvSpPr txBox="1"/>
              <p:nvPr/>
            </p:nvSpPr>
            <p:spPr>
              <a:xfrm>
                <a:off x="7093846" y="27860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28" name="TextBox 127"/>
              <p:cNvSpPr txBox="1"/>
              <p:nvPr/>
            </p:nvSpPr>
            <p:spPr>
              <a:xfrm>
                <a:off x="7923156" y="2143116"/>
                <a:ext cx="322524" cy="400110"/>
              </a:xfrm>
              <a:prstGeom prst="rect">
                <a:avLst/>
              </a:prstGeom>
              <a:noFill/>
              <a:ln w="28575">
                <a:noFill/>
              </a:ln>
            </p:spPr>
            <p:txBody>
              <a:bodyPr wrap="none" rtlCol="0">
                <a:spAutoFit/>
              </a:bodyPr>
              <a:lstStyle/>
              <a:p>
                <a:r>
                  <a:rPr lang="el-GR" altLang="zh-CN" sz="2000" b="1" i="1">
                    <a:latin typeface="Times New Roman"/>
                    <a:cs typeface="Times New Roman"/>
                  </a:rPr>
                  <a:t>θ</a:t>
                </a:r>
                <a:endParaRPr lang="zh-CN" altLang="en-US" sz="2000" b="1" i="1"/>
              </a:p>
            </p:txBody>
          </p:sp>
          <p:cxnSp>
            <p:nvCxnSpPr>
              <p:cNvPr id="131" name="直接连接符 130"/>
              <p:cNvCxnSpPr/>
              <p:nvPr/>
            </p:nvCxnSpPr>
            <p:spPr bwMode="auto">
              <a:xfrm>
                <a:off x="6929454" y="2989614"/>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34" name="矩形 133"/>
              <p:cNvSpPr/>
              <p:nvPr/>
            </p:nvSpPr>
            <p:spPr>
              <a:xfrm>
                <a:off x="6700346" y="3077316"/>
                <a:ext cx="311304" cy="369332"/>
              </a:xfrm>
              <a:prstGeom prst="rect">
                <a:avLst/>
              </a:prstGeom>
            </p:spPr>
            <p:txBody>
              <a:bodyPr wrap="none">
                <a:spAutoFit/>
              </a:bodyPr>
              <a:lstStyle/>
              <a:p>
                <a:r>
                  <a:rPr lang="el-GR" altLang="zh-CN" b="1" i="1">
                    <a:latin typeface="Times New Roman"/>
                    <a:cs typeface="Times New Roman"/>
                  </a:rPr>
                  <a:t>η</a:t>
                </a:r>
                <a:endParaRPr lang="zh-CN" altLang="en-US"/>
              </a:p>
            </p:txBody>
          </p:sp>
          <p:cxnSp>
            <p:nvCxnSpPr>
              <p:cNvPr id="63" name="直接连接符 62"/>
              <p:cNvCxnSpPr/>
              <p:nvPr/>
            </p:nvCxnSpPr>
            <p:spPr bwMode="auto">
              <a:xfrm rot="5400000">
                <a:off x="6862778" y="3198372"/>
                <a:ext cx="396000"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65" name="直接连接符 64"/>
              <p:cNvCxnSpPr/>
              <p:nvPr/>
            </p:nvCxnSpPr>
            <p:spPr bwMode="auto">
              <a:xfrm>
                <a:off x="6929454" y="3399006"/>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66" name="TextBox 65"/>
              <p:cNvSpPr txBox="1"/>
              <p:nvPr/>
            </p:nvSpPr>
            <p:spPr>
              <a:xfrm>
                <a:off x="8151778" y="299348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sp>
          <p:nvSpPr>
            <p:cNvPr id="67" name="弧形 66"/>
            <p:cNvSpPr/>
            <p:nvPr/>
          </p:nvSpPr>
          <p:spPr bwMode="auto">
            <a:xfrm flipH="1">
              <a:off x="7496024" y="2555118"/>
              <a:ext cx="1362256" cy="1302510"/>
            </a:xfrm>
            <a:prstGeom prst="arc">
              <a:avLst>
                <a:gd name="adj1" fmla="val 16221600"/>
                <a:gd name="adj2" fmla="val 16964814"/>
              </a:avLst>
            </a:prstGeom>
            <a:noFill/>
            <a:ln w="1905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grpSp>
        <p:nvGrpSpPr>
          <p:cNvPr id="81" name="组合 80"/>
          <p:cNvGrpSpPr/>
          <p:nvPr/>
        </p:nvGrpSpPr>
        <p:grpSpPr>
          <a:xfrm>
            <a:off x="5786446" y="3969682"/>
            <a:ext cx="2696492" cy="1959648"/>
            <a:chOff x="5786446" y="3969682"/>
            <a:chExt cx="2696492" cy="1959648"/>
          </a:xfrm>
        </p:grpSpPr>
        <p:pic>
          <p:nvPicPr>
            <p:cNvPr id="393218" name="Picture 2"/>
            <p:cNvPicPr>
              <a:picLocks noChangeAspect="1" noChangeArrowheads="1"/>
            </p:cNvPicPr>
            <p:nvPr/>
          </p:nvPicPr>
          <p:blipFill>
            <a:blip r:embed="rId4"/>
            <a:srcRect/>
            <a:stretch>
              <a:fillRect/>
            </a:stretch>
          </p:blipFill>
          <p:spPr bwMode="auto">
            <a:xfrm>
              <a:off x="5786446" y="4045761"/>
              <a:ext cx="2572417" cy="1883569"/>
            </a:xfrm>
            <a:prstGeom prst="rect">
              <a:avLst/>
            </a:prstGeom>
            <a:noFill/>
            <a:ln w="9525">
              <a:noFill/>
              <a:miter lim="800000"/>
              <a:headEnd/>
              <a:tailEnd/>
            </a:ln>
            <a:effectLst/>
          </p:spPr>
        </p:pic>
        <p:sp>
          <p:nvSpPr>
            <p:cNvPr id="71" name="TextBox 70"/>
            <p:cNvSpPr txBox="1"/>
            <p:nvPr/>
          </p:nvSpPr>
          <p:spPr>
            <a:xfrm>
              <a:off x="7143768" y="520280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72" name="TextBox 71"/>
            <p:cNvSpPr txBox="1"/>
            <p:nvPr/>
          </p:nvSpPr>
          <p:spPr>
            <a:xfrm>
              <a:off x="8144384" y="396968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73" name="TextBox 72"/>
            <p:cNvSpPr txBox="1"/>
            <p:nvPr/>
          </p:nvSpPr>
          <p:spPr>
            <a:xfrm>
              <a:off x="8133626" y="541445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cxnSp>
          <p:nvCxnSpPr>
            <p:cNvPr id="76" name="直接连接符 75"/>
            <p:cNvCxnSpPr/>
            <p:nvPr/>
          </p:nvCxnSpPr>
          <p:spPr bwMode="auto">
            <a:xfrm rot="9713644">
              <a:off x="6013607" y="5470242"/>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77" name="直接连接符 76"/>
            <p:cNvCxnSpPr/>
            <p:nvPr/>
          </p:nvCxnSpPr>
          <p:spPr bwMode="auto">
            <a:xfrm rot="4313644">
              <a:off x="5195840" y="4839215"/>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78" name="直接连接符 77"/>
            <p:cNvCxnSpPr/>
            <p:nvPr/>
          </p:nvCxnSpPr>
          <p:spPr bwMode="auto">
            <a:xfrm rot="10800000" flipH="1">
              <a:off x="7132713" y="5684335"/>
              <a:ext cx="1000132" cy="14287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79" name="直接连接符 78"/>
            <p:cNvCxnSpPr/>
            <p:nvPr/>
          </p:nvCxnSpPr>
          <p:spPr bwMode="auto">
            <a:xfrm rot="16200000" flipH="1">
              <a:off x="7327432" y="4891986"/>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80" name="直接连接符 79"/>
            <p:cNvCxnSpPr/>
            <p:nvPr/>
          </p:nvCxnSpPr>
          <p:spPr bwMode="auto">
            <a:xfrm rot="5400000">
              <a:off x="6870909" y="5640358"/>
              <a:ext cx="396000"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grpSp>
      <p:sp>
        <p:nvSpPr>
          <p:cNvPr id="82" name="矩形 81"/>
          <p:cNvSpPr/>
          <p:nvPr/>
        </p:nvSpPr>
        <p:spPr>
          <a:xfrm>
            <a:off x="2131233" y="4202943"/>
            <a:ext cx="3108543" cy="369332"/>
          </a:xfrm>
          <a:prstGeom prst="rect">
            <a:avLst/>
          </a:prstGeom>
        </p:spPr>
        <p:txBody>
          <a:bodyPr wrap="none">
            <a:spAutoFit/>
          </a:bodyPr>
          <a:lstStyle/>
          <a:p>
            <a:r>
              <a:rPr lang="en-US" altLang="zh-CN" b="1" i="1">
                <a:solidFill>
                  <a:srgbClr val="C00000"/>
                </a:solidFill>
                <a:latin typeface="Times New Roman" pitchFamily="18" charset="0"/>
                <a:cs typeface="Times New Roman" pitchFamily="18" charset="0"/>
              </a:rPr>
              <a:t>B</a:t>
            </a:r>
            <a:r>
              <a:rPr lang="zh-CN" altLang="en-US" b="1">
                <a:solidFill>
                  <a:srgbClr val="C00000"/>
                </a:solidFill>
                <a:latin typeface="Times New Roman" pitchFamily="18" charset="0"/>
                <a:cs typeface="Times New Roman" pitchFamily="18" charset="0"/>
              </a:rPr>
              <a:t>处需要虚设力吗？是什么？</a:t>
            </a:r>
            <a:endParaRPr lang="zh-CN" altLang="en-US">
              <a:solidFill>
                <a:srgbClr val="C00000"/>
              </a:solidFill>
              <a:latin typeface="Times New Roman" pitchFamily="18" charset="0"/>
              <a:cs typeface="Times New Roman" pitchFamily="18" charset="0"/>
            </a:endParaRPr>
          </a:p>
        </p:txBody>
      </p:sp>
      <p:grpSp>
        <p:nvGrpSpPr>
          <p:cNvPr id="89" name="组合 88"/>
          <p:cNvGrpSpPr/>
          <p:nvPr/>
        </p:nvGrpSpPr>
        <p:grpSpPr>
          <a:xfrm>
            <a:off x="7873622" y="4357694"/>
            <a:ext cx="784674" cy="741677"/>
            <a:chOff x="7873622" y="4357694"/>
            <a:chExt cx="784674" cy="741677"/>
          </a:xfrm>
        </p:grpSpPr>
        <p:grpSp>
          <p:nvGrpSpPr>
            <p:cNvPr id="87" name="组合 86"/>
            <p:cNvGrpSpPr/>
            <p:nvPr/>
          </p:nvGrpSpPr>
          <p:grpSpPr>
            <a:xfrm>
              <a:off x="7873622" y="4599305"/>
              <a:ext cx="517327" cy="500066"/>
              <a:chOff x="7873622" y="4599305"/>
              <a:chExt cx="517327" cy="500066"/>
            </a:xfrm>
          </p:grpSpPr>
          <p:sp>
            <p:nvSpPr>
              <p:cNvPr id="83" name="弧形 82"/>
              <p:cNvSpPr/>
              <p:nvPr/>
            </p:nvSpPr>
            <p:spPr bwMode="auto">
              <a:xfrm rot="19314812">
                <a:off x="7873622" y="4599305"/>
                <a:ext cx="517327" cy="500066"/>
              </a:xfrm>
              <a:prstGeom prst="arc">
                <a:avLst>
                  <a:gd name="adj1" fmla="val 16200000"/>
                  <a:gd name="adj2" fmla="val 5078637"/>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cxnSp>
            <p:nvCxnSpPr>
              <p:cNvPr id="85" name="直接连接符 84"/>
              <p:cNvCxnSpPr/>
              <p:nvPr/>
            </p:nvCxnSpPr>
            <p:spPr bwMode="auto">
              <a:xfrm rot="16200000" flipH="1">
                <a:off x="8144221" y="4857439"/>
                <a:ext cx="173171" cy="160364"/>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88" name="TextBox 87"/>
            <p:cNvSpPr txBox="1"/>
            <p:nvPr/>
          </p:nvSpPr>
          <p:spPr>
            <a:xfrm>
              <a:off x="8358214" y="4357694"/>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grpSp>
        <p:nvGrpSpPr>
          <p:cNvPr id="95" name="组合 94"/>
          <p:cNvGrpSpPr/>
          <p:nvPr/>
        </p:nvGrpSpPr>
        <p:grpSpPr>
          <a:xfrm>
            <a:off x="6876652" y="4786322"/>
            <a:ext cx="351378" cy="733879"/>
            <a:chOff x="6876652" y="4786322"/>
            <a:chExt cx="351378" cy="733879"/>
          </a:xfrm>
        </p:grpSpPr>
        <p:cxnSp>
          <p:nvCxnSpPr>
            <p:cNvPr id="90" name="直接箭头连接符 89"/>
            <p:cNvCxnSpPr>
              <a:cxnSpLocks noChangeAspect="1"/>
            </p:cNvCxnSpPr>
            <p:nvPr/>
          </p:nvCxnSpPr>
          <p:spPr bwMode="auto">
            <a:xfrm rot="16200000">
              <a:off x="6932136" y="5299832"/>
              <a:ext cx="400627" cy="1112"/>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p:spPr>
        </p:cxnSp>
        <p:cxnSp>
          <p:nvCxnSpPr>
            <p:cNvPr id="93" name="直接箭头连接符 92"/>
            <p:cNvCxnSpPr>
              <a:cxnSpLocks noChangeAspect="1"/>
            </p:cNvCxnSpPr>
            <p:nvPr/>
          </p:nvCxnSpPr>
          <p:spPr bwMode="auto">
            <a:xfrm rot="16200000">
              <a:off x="6777385" y="5319332"/>
              <a:ext cx="400627" cy="1112"/>
            </a:xfrm>
            <a:prstGeom prst="straightConnector1">
              <a:avLst/>
            </a:prstGeom>
            <a:solidFill>
              <a:schemeClr val="accent1"/>
            </a:solidFill>
            <a:ln w="38100" cap="flat" cmpd="sng" algn="ctr">
              <a:solidFill>
                <a:srgbClr val="C00000"/>
              </a:solidFill>
              <a:prstDash val="solid"/>
              <a:round/>
              <a:headEnd type="triangle" w="med" len="med"/>
              <a:tailEnd type="none" w="med" len="med"/>
            </a:ln>
            <a:effectLst/>
          </p:spPr>
        </p:cxnSp>
        <p:sp>
          <p:nvSpPr>
            <p:cNvPr id="94" name="TextBox 93"/>
            <p:cNvSpPr txBox="1"/>
            <p:nvPr/>
          </p:nvSpPr>
          <p:spPr>
            <a:xfrm>
              <a:off x="6876652" y="4786322"/>
              <a:ext cx="351378"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anim calcmode="lin" valueType="num">
                                      <p:cBhvr additive="base">
                                        <p:cTn id="11" dur="500" fill="hold"/>
                                        <p:tgtEl>
                                          <p:spTgt spid="92"/>
                                        </p:tgtEl>
                                        <p:attrNameLst>
                                          <p:attrName>ppt_x</p:attrName>
                                        </p:attrNameLst>
                                      </p:cBhvr>
                                      <p:tavLst>
                                        <p:tav tm="0">
                                          <p:val>
                                            <p:strVal val="#ppt_x"/>
                                          </p:val>
                                        </p:tav>
                                        <p:tav tm="100000">
                                          <p:val>
                                            <p:strVal val="#ppt_x"/>
                                          </p:val>
                                        </p:tav>
                                      </p:tavLst>
                                    </p:anim>
                                    <p:anim calcmode="lin" valueType="num">
                                      <p:cBhvr additive="base">
                                        <p:cTn id="12"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6">
                                            <p:txEl>
                                              <p:pRg st="0" end="0"/>
                                            </p:txEl>
                                          </p:spTgt>
                                        </p:tgtEl>
                                        <p:attrNameLst>
                                          <p:attrName>style.visibility</p:attrName>
                                        </p:attrNameLst>
                                      </p:cBhvr>
                                      <p:to>
                                        <p:strVal val="visible"/>
                                      </p:to>
                                    </p:set>
                                    <p:animEffect transition="in" filter="wipe(up)">
                                      <p:cBhvr>
                                        <p:cTn id="17" dur="500"/>
                                        <p:tgtEl>
                                          <p:spTgt spid="13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1"/>
                                        </p:tgtEl>
                                        <p:attrNameLst>
                                          <p:attrName>style.visibility</p:attrName>
                                        </p:attrNameLst>
                                      </p:cBhvr>
                                      <p:to>
                                        <p:strVal val="visible"/>
                                      </p:to>
                                    </p:set>
                                    <p:anim calcmode="lin" valueType="num">
                                      <p:cBhvr additive="base">
                                        <p:cTn id="22" dur="500" fill="hold"/>
                                        <p:tgtEl>
                                          <p:spTgt spid="81"/>
                                        </p:tgtEl>
                                        <p:attrNameLst>
                                          <p:attrName>ppt_x</p:attrName>
                                        </p:attrNameLst>
                                      </p:cBhvr>
                                      <p:tavLst>
                                        <p:tav tm="0">
                                          <p:val>
                                            <p:strVal val="#ppt_x"/>
                                          </p:val>
                                        </p:tav>
                                        <p:tav tm="100000">
                                          <p:val>
                                            <p:strVal val="#ppt_x"/>
                                          </p:val>
                                        </p:tav>
                                      </p:tavLst>
                                    </p:anim>
                                    <p:anim calcmode="lin" valueType="num">
                                      <p:cBhvr additive="base">
                                        <p:cTn id="23"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06">
                                            <p:txEl>
                                              <p:pRg st="0" end="0"/>
                                            </p:txEl>
                                          </p:spTgt>
                                        </p:tgtEl>
                                        <p:attrNameLst>
                                          <p:attrName>style.visibility</p:attrName>
                                        </p:attrNameLst>
                                      </p:cBhvr>
                                      <p:to>
                                        <p:strVal val="visible"/>
                                      </p:to>
                                    </p:set>
                                    <p:animEffect transition="in" filter="wipe(up)">
                                      <p:cBhvr>
                                        <p:cTn id="28" dur="500"/>
                                        <p:tgtEl>
                                          <p:spTgt spid="20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blinds(horizontal)">
                                      <p:cBhvr>
                                        <p:cTn id="33" dur="500"/>
                                        <p:tgtEl>
                                          <p:spTgt spid="8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82">
                                            <p:txEl>
                                              <p:pRg st="0" end="0"/>
                                            </p:txEl>
                                          </p:spTgt>
                                        </p:tgtEl>
                                        <p:attrNameLst>
                                          <p:attrName>style.visibility</p:attrName>
                                        </p:attrNameLst>
                                      </p:cBhvr>
                                      <p:to>
                                        <p:strVal val="visible"/>
                                      </p:to>
                                    </p:set>
                                    <p:animEffect transition="in" filter="wipe(up)">
                                      <p:cBhvr>
                                        <p:cTn id="38" dur="500"/>
                                        <p:tgtEl>
                                          <p:spTgt spid="8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17">
                                            <p:txEl>
                                              <p:pRg st="0" end="0"/>
                                            </p:txEl>
                                          </p:spTgt>
                                        </p:tgtEl>
                                        <p:attrNameLst>
                                          <p:attrName>style.visibility</p:attrName>
                                        </p:attrNameLst>
                                      </p:cBhvr>
                                      <p:to>
                                        <p:strVal val="visible"/>
                                      </p:to>
                                    </p:set>
                                    <p:animEffect transition="in" filter="wipe(up)">
                                      <p:cBhvr>
                                        <p:cTn id="43" dur="500"/>
                                        <p:tgtEl>
                                          <p:spTgt spid="21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8">
                                            <p:txEl>
                                              <p:pRg st="0" end="0"/>
                                            </p:txEl>
                                          </p:spTgt>
                                        </p:tgtEl>
                                        <p:attrNameLst>
                                          <p:attrName>style.visibility</p:attrName>
                                        </p:attrNameLst>
                                      </p:cBhvr>
                                      <p:to>
                                        <p:strVal val="visible"/>
                                      </p:to>
                                    </p:set>
                                    <p:animEffect transition="in" filter="wipe(up)">
                                      <p:cBhvr>
                                        <p:cTn id="48" dur="500"/>
                                        <p:tgtEl>
                                          <p:spTgt spid="21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0-#ppt_w/2"/>
                                          </p:val>
                                        </p:tav>
                                        <p:tav tm="100000">
                                          <p:val>
                                            <p:strVal val="#ppt_x"/>
                                          </p:val>
                                        </p:tav>
                                      </p:tavLst>
                                    </p:anim>
                                    <p:anim calcmode="lin" valueType="num">
                                      <p:cBhvr additive="base">
                                        <p:cTn id="5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95"/>
                                        </p:tgtEl>
                                        <p:attrNameLst>
                                          <p:attrName>style.visibility</p:attrName>
                                        </p:attrNameLst>
                                      </p:cBhvr>
                                      <p:to>
                                        <p:strVal val="visible"/>
                                      </p:to>
                                    </p:set>
                                    <p:anim calcmode="lin" valueType="num">
                                      <p:cBhvr additive="base">
                                        <p:cTn id="59" dur="500" fill="hold"/>
                                        <p:tgtEl>
                                          <p:spTgt spid="95"/>
                                        </p:tgtEl>
                                        <p:attrNameLst>
                                          <p:attrName>ppt_x</p:attrName>
                                        </p:attrNameLst>
                                      </p:cBhvr>
                                      <p:tavLst>
                                        <p:tav tm="0">
                                          <p:val>
                                            <p:strVal val="#ppt_x"/>
                                          </p:val>
                                        </p:tav>
                                        <p:tav tm="100000">
                                          <p:val>
                                            <p:strVal val="#ppt_x"/>
                                          </p:val>
                                        </p:tav>
                                      </p:tavLst>
                                    </p:anim>
                                    <p:anim calcmode="lin" valueType="num">
                                      <p:cBhvr additive="base">
                                        <p:cTn id="60"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136" grpId="0" build="allAtOnce"/>
      <p:bldP spid="206" grpId="0" build="allAtOnce"/>
      <p:bldP spid="217" grpId="0" build="allAtOnce"/>
      <p:bldP spid="218" grpId="0" build="allAtOnce"/>
      <p:bldP spid="82"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局部变形时的位移计算公式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503115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微元段的局部变形</a:t>
            </a:r>
            <a:endParaRPr lang="en-US" altLang="zh-CN" sz="2000" b="1">
              <a:latin typeface="Times New Roman" pitchFamily="18" charset="0"/>
              <a:cs typeface="Times New Roman" pitchFamily="18" charset="0"/>
            </a:endParaRPr>
          </a:p>
        </p:txBody>
      </p:sp>
      <p:pic>
        <p:nvPicPr>
          <p:cNvPr id="394242" name="Picture 2"/>
          <p:cNvPicPr>
            <a:picLocks noChangeAspect="1" noChangeArrowheads="1"/>
          </p:cNvPicPr>
          <p:nvPr/>
        </p:nvPicPr>
        <p:blipFill>
          <a:blip r:embed="rId4"/>
          <a:srcRect t="13497"/>
          <a:stretch>
            <a:fillRect/>
          </a:stretch>
        </p:blipFill>
        <p:spPr bwMode="auto">
          <a:xfrm>
            <a:off x="1357290" y="2285992"/>
            <a:ext cx="3500462" cy="1500198"/>
          </a:xfrm>
          <a:prstGeom prst="rect">
            <a:avLst/>
          </a:prstGeom>
          <a:noFill/>
          <a:ln w="9525">
            <a:noFill/>
            <a:miter lim="800000"/>
            <a:headEnd/>
            <a:tailEnd/>
          </a:ln>
          <a:effectLst/>
        </p:spPr>
      </p:pic>
      <p:grpSp>
        <p:nvGrpSpPr>
          <p:cNvPr id="68" name="组合 67"/>
          <p:cNvGrpSpPr/>
          <p:nvPr/>
        </p:nvGrpSpPr>
        <p:grpSpPr>
          <a:xfrm>
            <a:off x="428596" y="3857628"/>
            <a:ext cx="1143008" cy="1643074"/>
            <a:chOff x="1357290" y="3786190"/>
            <a:chExt cx="1143008" cy="1714512"/>
          </a:xfrm>
        </p:grpSpPr>
        <p:sp>
          <p:nvSpPr>
            <p:cNvPr id="62" name="TextBox 61"/>
            <p:cNvSpPr txBox="1"/>
            <p:nvPr/>
          </p:nvSpPr>
          <p:spPr>
            <a:xfrm>
              <a:off x="1357290" y="4421194"/>
              <a:ext cx="939681" cy="282431"/>
            </a:xfrm>
            <a:prstGeom prst="rect">
              <a:avLst/>
            </a:prstGeom>
            <a:noFill/>
            <a:ln w="28575">
              <a:noFill/>
            </a:ln>
          </p:spPr>
          <p:txBody>
            <a:bodyPr wrap="square" rtlCol="0">
              <a:spAutoFit/>
            </a:bodyPr>
            <a:lstStyle/>
            <a:p>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变形</a:t>
              </a:r>
            </a:p>
          </p:txBody>
        </p:sp>
        <p:sp>
          <p:nvSpPr>
            <p:cNvPr id="64" name="左大括号 63"/>
            <p:cNvSpPr/>
            <p:nvPr/>
          </p:nvSpPr>
          <p:spPr bwMode="auto">
            <a:xfrm>
              <a:off x="2285984" y="3786190"/>
              <a:ext cx="214314" cy="1714512"/>
            </a:xfrm>
            <a:prstGeom prst="leftBrace">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aphicFrame>
        <p:nvGraphicFramePr>
          <p:cNvPr id="361483" name="Object 11"/>
          <p:cNvGraphicFramePr>
            <a:graphicFrameLocks noChangeAspect="1"/>
          </p:cNvGraphicFramePr>
          <p:nvPr/>
        </p:nvGraphicFramePr>
        <p:xfrm>
          <a:off x="5572132" y="1387812"/>
          <a:ext cx="2857520" cy="1612560"/>
        </p:xfrm>
        <a:graphic>
          <a:graphicData uri="http://schemas.openxmlformats.org/presentationml/2006/ole">
            <mc:AlternateContent xmlns:mc="http://schemas.openxmlformats.org/markup-compatibility/2006">
              <mc:Choice xmlns:v="urn:schemas-microsoft-com:vml" Requires="v">
                <p:oleObj spid="_x0000_s394246" name="AutoCAD Drawing" r:id="rId5" imgW="8791560" imgH="4581360" progId="">
                  <p:embed/>
                </p:oleObj>
              </mc:Choice>
              <mc:Fallback>
                <p:oleObj name="AutoCAD Drawing" r:id="rId5" imgW="8791560" imgH="4581360"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l="369" r="8231"/>
                      <a:stretch>
                        <a:fillRect/>
                      </a:stretch>
                    </p:blipFill>
                    <p:spPr bwMode="auto">
                      <a:xfrm>
                        <a:off x="5572132" y="1387812"/>
                        <a:ext cx="2857520" cy="161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 name="TextBox 68"/>
          <p:cNvSpPr txBox="1"/>
          <p:nvPr/>
        </p:nvSpPr>
        <p:spPr>
          <a:xfrm>
            <a:off x="1600551" y="3714752"/>
            <a:ext cx="1899879" cy="400110"/>
          </a:xfrm>
          <a:prstGeom prst="rect">
            <a:avLst/>
          </a:prstGeom>
          <a:noFill/>
          <a:ln w="28575">
            <a:noFill/>
          </a:ln>
        </p:spPr>
        <p:txBody>
          <a:bodyPr wrap="none" rtlCol="0">
            <a:spAutoFit/>
          </a:bodyPr>
          <a:lstStyle/>
          <a:p>
            <a:r>
              <a:rPr lang="zh-CN" altLang="en-US" sz="2000" b="1"/>
              <a:t>轴线伸长应变 </a:t>
            </a:r>
            <a:r>
              <a:rPr lang="el-GR" altLang="zh-CN" sz="2000" b="1" i="1">
                <a:latin typeface="Times New Roman"/>
                <a:cs typeface="Times New Roman"/>
              </a:rPr>
              <a:t>ε</a:t>
            </a:r>
            <a:endParaRPr lang="zh-CN" altLang="en-US" sz="2000" b="1" i="1"/>
          </a:p>
        </p:txBody>
      </p:sp>
      <p:graphicFrame>
        <p:nvGraphicFramePr>
          <p:cNvPr id="361484" name="Object 12"/>
          <p:cNvGraphicFramePr>
            <a:graphicFrameLocks noChangeAspect="1"/>
          </p:cNvGraphicFramePr>
          <p:nvPr/>
        </p:nvGraphicFramePr>
        <p:xfrm>
          <a:off x="6000572" y="2714620"/>
          <a:ext cx="2087563" cy="1657350"/>
        </p:xfrm>
        <a:graphic>
          <a:graphicData uri="http://schemas.openxmlformats.org/presentationml/2006/ole">
            <mc:AlternateContent xmlns:mc="http://schemas.openxmlformats.org/markup-compatibility/2006">
              <mc:Choice xmlns:v="urn:schemas-microsoft-com:vml" Requires="v">
                <p:oleObj spid="_x0000_s394247" name="AutoCAD Drawing" r:id="rId7" imgW="8791560" imgH="4581360" progId="">
                  <p:embed/>
                </p:oleObj>
              </mc:Choice>
              <mc:Fallback>
                <p:oleObj name="AutoCAD Drawing" r:id="rId7" imgW="8791560" imgH="4581360" progId="">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l="-1567" t="4884" r="49495" b="15257"/>
                      <a:stretch>
                        <a:fillRect/>
                      </a:stretch>
                    </p:blipFill>
                    <p:spPr bwMode="auto">
                      <a:xfrm>
                        <a:off x="6000572" y="2714620"/>
                        <a:ext cx="2087563"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 name="TextBox 69"/>
          <p:cNvSpPr txBox="1"/>
          <p:nvPr/>
        </p:nvSpPr>
        <p:spPr>
          <a:xfrm>
            <a:off x="1600551" y="4488695"/>
            <a:ext cx="2029723" cy="400110"/>
          </a:xfrm>
          <a:prstGeom prst="rect">
            <a:avLst/>
          </a:prstGeom>
          <a:noFill/>
          <a:ln w="28575">
            <a:noFill/>
          </a:ln>
        </p:spPr>
        <p:txBody>
          <a:bodyPr wrap="none" rtlCol="0">
            <a:spAutoFit/>
          </a:bodyPr>
          <a:lstStyle/>
          <a:p>
            <a:r>
              <a:rPr lang="zh-CN" altLang="en-US" sz="2000" b="1"/>
              <a:t>平均剪切应变 </a:t>
            </a:r>
            <a:r>
              <a:rPr lang="el-GR" altLang="zh-CN" sz="2000" b="1" i="1">
                <a:latin typeface="Times New Roman"/>
                <a:cs typeface="Times New Roman"/>
              </a:rPr>
              <a:t>γ</a:t>
            </a:r>
            <a:r>
              <a:rPr lang="en-US" altLang="zh-CN" sz="2000" b="1" baseline="-25000">
                <a:latin typeface="Times New Roman"/>
                <a:cs typeface="Times New Roman"/>
              </a:rPr>
              <a:t>0</a:t>
            </a:r>
            <a:endParaRPr lang="zh-CN" altLang="en-US" sz="2000" b="1" baseline="-25000"/>
          </a:p>
        </p:txBody>
      </p:sp>
      <p:sp>
        <p:nvSpPr>
          <p:cNvPr id="74" name="TextBox 73"/>
          <p:cNvSpPr txBox="1"/>
          <p:nvPr/>
        </p:nvSpPr>
        <p:spPr>
          <a:xfrm>
            <a:off x="1607229" y="5234120"/>
            <a:ext cx="2005677" cy="400110"/>
          </a:xfrm>
          <a:prstGeom prst="rect">
            <a:avLst/>
          </a:prstGeom>
          <a:noFill/>
          <a:ln w="28575">
            <a:noFill/>
          </a:ln>
        </p:spPr>
        <p:txBody>
          <a:bodyPr wrap="none" rtlCol="0">
            <a:spAutoFit/>
          </a:bodyPr>
          <a:lstStyle/>
          <a:p>
            <a:r>
              <a:rPr lang="zh-CN" altLang="en-US" sz="2000" b="1">
                <a:latin typeface="Times New Roman"/>
                <a:cs typeface="Times New Roman"/>
              </a:rPr>
              <a:t>轴线曲率</a:t>
            </a:r>
            <a:r>
              <a:rPr lang="el-GR" altLang="zh-CN" sz="2000" b="1" i="1">
                <a:latin typeface="Times New Roman"/>
                <a:cs typeface="Times New Roman"/>
              </a:rPr>
              <a:t>κ</a:t>
            </a:r>
            <a:r>
              <a:rPr lang="en-US" altLang="zh-CN" sz="2000" b="1" i="1">
                <a:latin typeface="Times New Roman"/>
                <a:cs typeface="Times New Roman"/>
              </a:rPr>
              <a:t> </a:t>
            </a:r>
            <a:r>
              <a:rPr lang="en-US" altLang="zh-CN" sz="2000" b="1">
                <a:latin typeface="Times New Roman"/>
                <a:cs typeface="Times New Roman"/>
              </a:rPr>
              <a:t>= 1/R</a:t>
            </a:r>
            <a:endParaRPr lang="zh-CN" altLang="en-US" sz="2000" b="1" baseline="-25000"/>
          </a:p>
        </p:txBody>
      </p:sp>
      <p:graphicFrame>
        <p:nvGraphicFramePr>
          <p:cNvPr id="361485" name="Object 13"/>
          <p:cNvGraphicFramePr>
            <a:graphicFrameLocks noChangeAspect="1"/>
          </p:cNvGraphicFramePr>
          <p:nvPr/>
        </p:nvGraphicFramePr>
        <p:xfrm>
          <a:off x="5857884" y="4411685"/>
          <a:ext cx="2089150" cy="2303463"/>
        </p:xfrm>
        <a:graphic>
          <a:graphicData uri="http://schemas.openxmlformats.org/presentationml/2006/ole">
            <mc:AlternateContent xmlns:mc="http://schemas.openxmlformats.org/markup-compatibility/2006">
              <mc:Choice xmlns:v="urn:schemas-microsoft-com:vml" Requires="v">
                <p:oleObj spid="_x0000_s394248" name="AutoCAD Drawing" r:id="rId9" imgW="5743440" imgH="3781440" progId="">
                  <p:embed/>
                </p:oleObj>
              </mc:Choice>
              <mc:Fallback>
                <p:oleObj name="AutoCAD Drawing" r:id="rId9" imgW="5743440" imgH="3781440" progId="">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l="5057" t="17976" r="46368"/>
                      <a:stretch>
                        <a:fillRect/>
                      </a:stretch>
                    </p:blipFill>
                    <p:spPr bwMode="auto">
                      <a:xfrm>
                        <a:off x="5857884" y="4411685"/>
                        <a:ext cx="2089150" cy="230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 name="TextBox 74"/>
          <p:cNvSpPr txBox="1"/>
          <p:nvPr/>
        </p:nvSpPr>
        <p:spPr>
          <a:xfrm>
            <a:off x="2133929" y="6036581"/>
            <a:ext cx="3005951" cy="400110"/>
          </a:xfrm>
          <a:prstGeom prst="rect">
            <a:avLst/>
          </a:prstGeom>
          <a:noFill/>
          <a:ln w="28575">
            <a:solidFill>
              <a:srgbClr val="C00000"/>
            </a:solidFill>
          </a:ln>
        </p:spPr>
        <p:txBody>
          <a:bodyPr wrap="none" rtlCol="0">
            <a:spAutoFit/>
          </a:bodyPr>
          <a:lstStyle/>
          <a:p>
            <a:r>
              <a:rPr lang="zh-CN" altLang="en-US" sz="2000" b="1">
                <a:solidFill>
                  <a:srgbClr val="C00000"/>
                </a:solidFill>
              </a:rPr>
              <a:t>转化为刚体体系位移问题</a:t>
            </a:r>
          </a:p>
        </p:txBody>
      </p:sp>
      <p:sp>
        <p:nvSpPr>
          <p:cNvPr id="81" name="TextBox 80"/>
          <p:cNvSpPr txBox="1"/>
          <p:nvPr/>
        </p:nvSpPr>
        <p:spPr>
          <a:xfrm>
            <a:off x="2262234" y="4112335"/>
            <a:ext cx="3095584" cy="400110"/>
          </a:xfrm>
          <a:prstGeom prst="rect">
            <a:avLst/>
          </a:prstGeom>
          <a:noFill/>
          <a:ln w="28575">
            <a:noFill/>
          </a:ln>
        </p:spPr>
        <p:txBody>
          <a:bodyPr wrap="square" rtlCol="0">
            <a:spAutoFit/>
          </a:bodyPr>
          <a:lstStyle/>
          <a:p>
            <a:r>
              <a:rPr lang="zh-CN" altLang="en-US" sz="2000" b="1">
                <a:solidFill>
                  <a:srgbClr val="0033CC"/>
                </a:solidFill>
                <a:latin typeface="Times New Roman" pitchFamily="18" charset="0"/>
                <a:cs typeface="Times New Roman" pitchFamily="18" charset="0"/>
              </a:rPr>
              <a:t>相对轴向位移   </a:t>
            </a:r>
            <a:r>
              <a:rPr lang="en-US" altLang="zh-CN" sz="2000" b="1">
                <a:solidFill>
                  <a:srgbClr val="0033CC"/>
                </a:solidFill>
                <a:latin typeface="Times New Roman" pitchFamily="18" charset="0"/>
                <a:cs typeface="Times New Roman" pitchFamily="18" charset="0"/>
              </a:rPr>
              <a:t>d</a:t>
            </a:r>
            <a:r>
              <a:rPr lang="el-GR" altLang="zh-CN" sz="2000" b="1" i="1">
                <a:solidFill>
                  <a:srgbClr val="0033CC"/>
                </a:solidFill>
                <a:latin typeface="Times New Roman" pitchFamily="18" charset="0"/>
                <a:cs typeface="Times New Roman" pitchFamily="18" charset="0"/>
              </a:rPr>
              <a:t>λ</a:t>
            </a:r>
            <a:r>
              <a:rPr lang="en-US" altLang="zh-CN" sz="2000" b="1" i="1">
                <a:solidFill>
                  <a:srgbClr val="0033CC"/>
                </a:solidFill>
                <a:latin typeface="Times New Roman" pitchFamily="18" charset="0"/>
                <a:cs typeface="Times New Roman" pitchFamily="18" charset="0"/>
              </a:rPr>
              <a:t> </a:t>
            </a:r>
            <a:r>
              <a:rPr lang="en-US" altLang="zh-CN" sz="2000" b="1">
                <a:solidFill>
                  <a:srgbClr val="0033CC"/>
                </a:solidFill>
                <a:latin typeface="Times New Roman" pitchFamily="18" charset="0"/>
                <a:cs typeface="Times New Roman" pitchFamily="18" charset="0"/>
              </a:rPr>
              <a:t>= </a:t>
            </a:r>
            <a:r>
              <a:rPr lang="el-GR" altLang="zh-CN" sz="2000" b="1" i="1">
                <a:solidFill>
                  <a:srgbClr val="0033CC"/>
                </a:solidFill>
                <a:latin typeface="Times New Roman"/>
                <a:cs typeface="Times New Roman"/>
              </a:rPr>
              <a:t>ε</a:t>
            </a:r>
            <a:r>
              <a:rPr lang="en-US" altLang="zh-CN" sz="2000" b="1">
                <a:solidFill>
                  <a:srgbClr val="0033CC"/>
                </a:solidFill>
                <a:latin typeface="Times New Roman"/>
                <a:cs typeface="Times New Roman"/>
              </a:rPr>
              <a:t>d</a:t>
            </a:r>
            <a:r>
              <a:rPr lang="en-US" altLang="zh-CN" sz="2000" b="1" i="1">
                <a:solidFill>
                  <a:srgbClr val="0033CC"/>
                </a:solidFill>
                <a:latin typeface="Times New Roman"/>
                <a:cs typeface="Times New Roman"/>
              </a:rPr>
              <a:t>s</a:t>
            </a:r>
            <a:r>
              <a:rPr lang="en-US" altLang="zh-CN" sz="2000" b="1">
                <a:solidFill>
                  <a:srgbClr val="0033CC"/>
                </a:solidFill>
                <a:latin typeface="Times New Roman" pitchFamily="18" charset="0"/>
                <a:cs typeface="Times New Roman" pitchFamily="18" charset="0"/>
              </a:rPr>
              <a:t> </a:t>
            </a:r>
            <a:endParaRPr lang="zh-CN" altLang="en-US" sz="2000" b="1">
              <a:solidFill>
                <a:srgbClr val="0033CC"/>
              </a:solidFill>
              <a:latin typeface="Times New Roman" pitchFamily="18" charset="0"/>
              <a:cs typeface="Times New Roman" pitchFamily="18" charset="0"/>
            </a:endParaRPr>
          </a:p>
        </p:txBody>
      </p:sp>
      <p:sp>
        <p:nvSpPr>
          <p:cNvPr id="84" name="TextBox 83"/>
          <p:cNvSpPr txBox="1"/>
          <p:nvPr/>
        </p:nvSpPr>
        <p:spPr>
          <a:xfrm>
            <a:off x="2285984" y="4857760"/>
            <a:ext cx="3357586" cy="400110"/>
          </a:xfrm>
          <a:prstGeom prst="rect">
            <a:avLst/>
          </a:prstGeom>
          <a:noFill/>
          <a:ln w="28575">
            <a:noFill/>
          </a:ln>
        </p:spPr>
        <p:txBody>
          <a:bodyPr wrap="square" rtlCol="0">
            <a:spAutoFit/>
          </a:bodyPr>
          <a:lstStyle/>
          <a:p>
            <a:r>
              <a:rPr lang="zh-CN" altLang="en-US" sz="2000" b="1">
                <a:solidFill>
                  <a:srgbClr val="0033CC"/>
                </a:solidFill>
                <a:latin typeface="Times New Roman" pitchFamily="18" charset="0"/>
                <a:cs typeface="Times New Roman" pitchFamily="18" charset="0"/>
              </a:rPr>
              <a:t>相对轴向位移   </a:t>
            </a:r>
            <a:r>
              <a:rPr lang="en-US" altLang="zh-CN" sz="2000" b="1">
                <a:solidFill>
                  <a:srgbClr val="0033CC"/>
                </a:solidFill>
                <a:latin typeface="Times New Roman" pitchFamily="18" charset="0"/>
                <a:cs typeface="Times New Roman" pitchFamily="18" charset="0"/>
              </a:rPr>
              <a:t>d</a:t>
            </a:r>
            <a:r>
              <a:rPr lang="el-GR" altLang="zh-CN" sz="2000" b="1" i="1">
                <a:solidFill>
                  <a:srgbClr val="0033CC"/>
                </a:solidFill>
                <a:latin typeface="Times New Roman"/>
                <a:cs typeface="Times New Roman"/>
              </a:rPr>
              <a:t>η</a:t>
            </a:r>
            <a:r>
              <a:rPr lang="en-US" altLang="zh-CN" sz="2000" b="1" i="1">
                <a:solidFill>
                  <a:srgbClr val="0033CC"/>
                </a:solidFill>
                <a:latin typeface="Times New Roman" pitchFamily="18" charset="0"/>
                <a:cs typeface="Times New Roman" pitchFamily="18" charset="0"/>
              </a:rPr>
              <a:t> </a:t>
            </a:r>
            <a:r>
              <a:rPr lang="en-US" altLang="zh-CN" sz="2000" b="1">
                <a:solidFill>
                  <a:srgbClr val="0033CC"/>
                </a:solidFill>
                <a:latin typeface="Times New Roman" pitchFamily="18" charset="0"/>
                <a:cs typeface="Times New Roman" pitchFamily="18" charset="0"/>
              </a:rPr>
              <a:t>= </a:t>
            </a:r>
            <a:r>
              <a:rPr lang="el-GR" altLang="zh-CN" sz="2000" b="1" i="1">
                <a:solidFill>
                  <a:srgbClr val="0033CC"/>
                </a:solidFill>
                <a:latin typeface="Times New Roman"/>
                <a:cs typeface="Times New Roman"/>
              </a:rPr>
              <a:t>γ</a:t>
            </a:r>
            <a:r>
              <a:rPr lang="en-US" altLang="zh-CN" sz="2000" b="1" baseline="-25000">
                <a:solidFill>
                  <a:srgbClr val="0033CC"/>
                </a:solidFill>
                <a:latin typeface="Times New Roman"/>
                <a:cs typeface="Times New Roman"/>
              </a:rPr>
              <a:t>0</a:t>
            </a:r>
            <a:r>
              <a:rPr lang="en-US" altLang="zh-CN" sz="2000" b="1">
                <a:solidFill>
                  <a:srgbClr val="0033CC"/>
                </a:solidFill>
                <a:latin typeface="Times New Roman"/>
                <a:cs typeface="Times New Roman"/>
              </a:rPr>
              <a:t>d</a:t>
            </a:r>
            <a:r>
              <a:rPr lang="en-US" altLang="zh-CN" sz="2000" b="1" i="1">
                <a:solidFill>
                  <a:srgbClr val="0033CC"/>
                </a:solidFill>
                <a:latin typeface="Times New Roman"/>
                <a:cs typeface="Times New Roman"/>
              </a:rPr>
              <a:t>s</a:t>
            </a:r>
            <a:r>
              <a:rPr lang="en-US" altLang="zh-CN" sz="2000" b="1">
                <a:solidFill>
                  <a:srgbClr val="0033CC"/>
                </a:solidFill>
                <a:latin typeface="Times New Roman" pitchFamily="18" charset="0"/>
                <a:cs typeface="Times New Roman" pitchFamily="18" charset="0"/>
              </a:rPr>
              <a:t> </a:t>
            </a:r>
            <a:endParaRPr lang="zh-CN" altLang="en-US" sz="2000" b="1">
              <a:solidFill>
                <a:srgbClr val="0033CC"/>
              </a:solidFill>
              <a:latin typeface="Times New Roman" pitchFamily="18" charset="0"/>
              <a:cs typeface="Times New Roman" pitchFamily="18" charset="0"/>
            </a:endParaRPr>
          </a:p>
        </p:txBody>
      </p:sp>
      <p:sp>
        <p:nvSpPr>
          <p:cNvPr id="86" name="TextBox 85"/>
          <p:cNvSpPr txBox="1"/>
          <p:nvPr/>
        </p:nvSpPr>
        <p:spPr>
          <a:xfrm>
            <a:off x="2285984" y="5529220"/>
            <a:ext cx="3357586" cy="400110"/>
          </a:xfrm>
          <a:prstGeom prst="rect">
            <a:avLst/>
          </a:prstGeom>
          <a:noFill/>
          <a:ln w="28575">
            <a:noFill/>
          </a:ln>
        </p:spPr>
        <p:txBody>
          <a:bodyPr wrap="square" rtlCol="0">
            <a:spAutoFit/>
          </a:bodyPr>
          <a:lstStyle/>
          <a:p>
            <a:r>
              <a:rPr lang="zh-CN" altLang="en-US" sz="2000" b="1">
                <a:solidFill>
                  <a:srgbClr val="0033CC"/>
                </a:solidFill>
                <a:latin typeface="Times New Roman" pitchFamily="18" charset="0"/>
                <a:cs typeface="Times New Roman" pitchFamily="18" charset="0"/>
              </a:rPr>
              <a:t>相对转角   </a:t>
            </a:r>
            <a:r>
              <a:rPr lang="en-US" altLang="zh-CN" sz="2000" b="1">
                <a:solidFill>
                  <a:srgbClr val="0033CC"/>
                </a:solidFill>
                <a:latin typeface="Times New Roman" pitchFamily="18" charset="0"/>
                <a:cs typeface="Times New Roman" pitchFamily="18" charset="0"/>
              </a:rPr>
              <a:t>d</a:t>
            </a:r>
            <a:r>
              <a:rPr lang="el-GR" altLang="zh-CN" sz="2000" b="1" i="1">
                <a:solidFill>
                  <a:srgbClr val="0033CC"/>
                </a:solidFill>
                <a:latin typeface="Times New Roman"/>
                <a:cs typeface="Times New Roman"/>
              </a:rPr>
              <a:t>θ</a:t>
            </a:r>
            <a:r>
              <a:rPr lang="en-US" altLang="zh-CN" sz="2000" b="1">
                <a:solidFill>
                  <a:srgbClr val="0033CC"/>
                </a:solidFill>
                <a:latin typeface="Times New Roman" pitchFamily="18" charset="0"/>
                <a:cs typeface="Times New Roman" pitchFamily="18" charset="0"/>
              </a:rPr>
              <a:t> = </a:t>
            </a:r>
            <a:r>
              <a:rPr lang="en-US" altLang="zh-CN" sz="2000" b="1">
                <a:solidFill>
                  <a:srgbClr val="0033CC"/>
                </a:solidFill>
                <a:latin typeface="Times New Roman"/>
                <a:cs typeface="Times New Roman"/>
              </a:rPr>
              <a:t>d</a:t>
            </a:r>
            <a:r>
              <a:rPr lang="en-US" altLang="zh-CN" sz="2000" b="1" i="1">
                <a:solidFill>
                  <a:srgbClr val="0033CC"/>
                </a:solidFill>
                <a:latin typeface="Times New Roman"/>
                <a:cs typeface="Times New Roman"/>
              </a:rPr>
              <a:t>s</a:t>
            </a:r>
            <a:r>
              <a:rPr lang="en-US" altLang="zh-CN" sz="2000" b="1">
                <a:solidFill>
                  <a:srgbClr val="0033CC"/>
                </a:solidFill>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R </a:t>
            </a:r>
            <a:r>
              <a:rPr lang="en-US" altLang="zh-CN" sz="2000" b="1">
                <a:solidFill>
                  <a:srgbClr val="0033CC"/>
                </a:solidFill>
                <a:latin typeface="Times New Roman" pitchFamily="18" charset="0"/>
                <a:cs typeface="Times New Roman" pitchFamily="18" charset="0"/>
              </a:rPr>
              <a:t>= </a:t>
            </a:r>
            <a:r>
              <a:rPr lang="el-GR" altLang="zh-CN" sz="2000" b="1" i="1">
                <a:solidFill>
                  <a:srgbClr val="0033CC"/>
                </a:solidFill>
                <a:latin typeface="Times New Roman"/>
                <a:cs typeface="Times New Roman"/>
              </a:rPr>
              <a:t>κ</a:t>
            </a:r>
            <a:r>
              <a:rPr lang="en-US" altLang="zh-CN" sz="2000" b="1">
                <a:solidFill>
                  <a:srgbClr val="0033CC"/>
                </a:solidFill>
                <a:latin typeface="Times New Roman"/>
                <a:cs typeface="Times New Roman"/>
              </a:rPr>
              <a:t>d</a:t>
            </a:r>
            <a:r>
              <a:rPr lang="en-US" altLang="zh-CN" sz="2000" b="1" i="1">
                <a:solidFill>
                  <a:srgbClr val="0033CC"/>
                </a:solidFill>
                <a:latin typeface="Times New Roman"/>
                <a:cs typeface="Times New Roman"/>
              </a:rPr>
              <a:t>s</a:t>
            </a:r>
            <a:r>
              <a:rPr lang="en-US" altLang="zh-CN" sz="2000" b="1">
                <a:solidFill>
                  <a:srgbClr val="0033CC"/>
                </a:solidFill>
                <a:latin typeface="Times New Roman" pitchFamily="18" charset="0"/>
                <a:cs typeface="Times New Roman" pitchFamily="18" charset="0"/>
              </a:rPr>
              <a:t> </a:t>
            </a:r>
            <a:endParaRPr lang="zh-CN" altLang="en-US" sz="2000" b="1">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500" fill="hold"/>
                                        <p:tgtEl>
                                          <p:spTgt spid="92"/>
                                        </p:tgtEl>
                                        <p:attrNameLst>
                                          <p:attrName>ppt_x</p:attrName>
                                        </p:attrNameLst>
                                      </p:cBhvr>
                                      <p:tavLst>
                                        <p:tav tm="0">
                                          <p:val>
                                            <p:strVal val="#ppt_x"/>
                                          </p:val>
                                        </p:tav>
                                        <p:tav tm="100000">
                                          <p:val>
                                            <p:strVal val="#ppt_x"/>
                                          </p:val>
                                        </p:tav>
                                      </p:tavLst>
                                    </p:anim>
                                    <p:anim calcmode="lin" valueType="num">
                                      <p:cBhvr additive="base">
                                        <p:cTn id="8"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4242"/>
                                        </p:tgtEl>
                                        <p:attrNameLst>
                                          <p:attrName>style.visibility</p:attrName>
                                        </p:attrNameLst>
                                      </p:cBhvr>
                                      <p:to>
                                        <p:strVal val="visible"/>
                                      </p:to>
                                    </p:set>
                                    <p:anim calcmode="lin" valueType="num">
                                      <p:cBhvr additive="base">
                                        <p:cTn id="13" dur="500" fill="hold"/>
                                        <p:tgtEl>
                                          <p:spTgt spid="394242"/>
                                        </p:tgtEl>
                                        <p:attrNameLst>
                                          <p:attrName>ppt_x</p:attrName>
                                        </p:attrNameLst>
                                      </p:cBhvr>
                                      <p:tavLst>
                                        <p:tav tm="0">
                                          <p:val>
                                            <p:strVal val="#ppt_x"/>
                                          </p:val>
                                        </p:tav>
                                        <p:tav tm="100000">
                                          <p:val>
                                            <p:strVal val="#ppt_x"/>
                                          </p:val>
                                        </p:tav>
                                      </p:tavLst>
                                    </p:anim>
                                    <p:anim calcmode="lin" valueType="num">
                                      <p:cBhvr additive="base">
                                        <p:cTn id="14" dur="500" fill="hold"/>
                                        <p:tgtEl>
                                          <p:spTgt spid="3942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0-#ppt_w/2"/>
                                          </p:val>
                                        </p:tav>
                                        <p:tav tm="100000">
                                          <p:val>
                                            <p:strVal val="#ppt_x"/>
                                          </p:val>
                                        </p:tav>
                                      </p:tavLst>
                                    </p:anim>
                                    <p:anim calcmode="lin" valueType="num">
                                      <p:cBhvr additive="base">
                                        <p:cTn id="20"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61483"/>
                                        </p:tgtEl>
                                        <p:attrNameLst>
                                          <p:attrName>style.visibility</p:attrName>
                                        </p:attrNameLst>
                                      </p:cBhvr>
                                      <p:to>
                                        <p:strVal val="visible"/>
                                      </p:to>
                                    </p:set>
                                    <p:animEffect transition="in" filter="wipe(left)">
                                      <p:cBhvr>
                                        <p:cTn id="25" dur="500"/>
                                        <p:tgtEl>
                                          <p:spTgt spid="361483"/>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69">
                                            <p:txEl>
                                              <p:pRg st="0" end="0"/>
                                            </p:txEl>
                                          </p:spTgt>
                                        </p:tgtEl>
                                        <p:attrNameLst>
                                          <p:attrName>style.visibility</p:attrName>
                                        </p:attrNameLst>
                                      </p:cBhvr>
                                      <p:to>
                                        <p:strVal val="visible"/>
                                      </p:to>
                                    </p:set>
                                    <p:animEffect transition="in" filter="wipe(down)">
                                      <p:cBhvr>
                                        <p:cTn id="29" dur="500"/>
                                        <p:tgtEl>
                                          <p:spTgt spid="6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61484"/>
                                        </p:tgtEl>
                                        <p:attrNameLst>
                                          <p:attrName>style.visibility</p:attrName>
                                        </p:attrNameLst>
                                      </p:cBhvr>
                                      <p:to>
                                        <p:strVal val="visible"/>
                                      </p:to>
                                    </p:set>
                                    <p:animEffect transition="in" filter="wipe(left)">
                                      <p:cBhvr>
                                        <p:cTn id="34" dur="500"/>
                                        <p:tgtEl>
                                          <p:spTgt spid="361484"/>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70">
                                            <p:txEl>
                                              <p:pRg st="0" end="0"/>
                                            </p:txEl>
                                          </p:spTgt>
                                        </p:tgtEl>
                                        <p:attrNameLst>
                                          <p:attrName>style.visibility</p:attrName>
                                        </p:attrNameLst>
                                      </p:cBhvr>
                                      <p:to>
                                        <p:strVal val="visible"/>
                                      </p:to>
                                    </p:set>
                                    <p:animEffect transition="in" filter="wipe(down)">
                                      <p:cBhvr>
                                        <p:cTn id="38" dur="500"/>
                                        <p:tgtEl>
                                          <p:spTgt spid="7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61485"/>
                                        </p:tgtEl>
                                        <p:attrNameLst>
                                          <p:attrName>style.visibility</p:attrName>
                                        </p:attrNameLst>
                                      </p:cBhvr>
                                      <p:to>
                                        <p:strVal val="visible"/>
                                      </p:to>
                                    </p:set>
                                    <p:animEffect transition="in" filter="wipe(left)">
                                      <p:cBhvr>
                                        <p:cTn id="43" dur="500"/>
                                        <p:tgtEl>
                                          <p:spTgt spid="361485"/>
                                        </p:tgtEl>
                                      </p:cBhvr>
                                    </p:animEffect>
                                  </p:childTnLst>
                                </p:cTn>
                              </p:par>
                            </p:childTnLst>
                          </p:cTn>
                        </p:par>
                        <p:par>
                          <p:cTn id="44" fill="hold">
                            <p:stCondLst>
                              <p:cond delay="500"/>
                            </p:stCondLst>
                            <p:childTnLst>
                              <p:par>
                                <p:cTn id="45" presetID="22" presetClass="entr" presetSubtype="4" fill="hold" grpId="0" nodeType="afterEffect">
                                  <p:stCondLst>
                                    <p:cond delay="0"/>
                                  </p:stCondLst>
                                  <p:childTnLst>
                                    <p:set>
                                      <p:cBhvr>
                                        <p:cTn id="46" dur="1" fill="hold">
                                          <p:stCondLst>
                                            <p:cond delay="0"/>
                                          </p:stCondLst>
                                        </p:cTn>
                                        <p:tgtEl>
                                          <p:spTgt spid="74">
                                            <p:txEl>
                                              <p:pRg st="0" end="0"/>
                                            </p:txEl>
                                          </p:spTgt>
                                        </p:tgtEl>
                                        <p:attrNameLst>
                                          <p:attrName>style.visibility</p:attrName>
                                        </p:attrNameLst>
                                      </p:cBhvr>
                                      <p:to>
                                        <p:strVal val="visible"/>
                                      </p:to>
                                    </p:set>
                                    <p:animEffect transition="in" filter="wipe(down)">
                                      <p:cBhvr>
                                        <p:cTn id="47" dur="500"/>
                                        <p:tgtEl>
                                          <p:spTgt spid="7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75"/>
                                        </p:tgtEl>
                                        <p:attrNameLst>
                                          <p:attrName>style.visibility</p:attrName>
                                        </p:attrNameLst>
                                      </p:cBhvr>
                                      <p:to>
                                        <p:strVal val="visible"/>
                                      </p:to>
                                    </p:set>
                                    <p:anim calcmode="lin" valueType="num">
                                      <p:cBhvr additive="base">
                                        <p:cTn id="52" dur="500" fill="hold"/>
                                        <p:tgtEl>
                                          <p:spTgt spid="75"/>
                                        </p:tgtEl>
                                        <p:attrNameLst>
                                          <p:attrName>ppt_x</p:attrName>
                                        </p:attrNameLst>
                                      </p:cBhvr>
                                      <p:tavLst>
                                        <p:tav tm="0">
                                          <p:val>
                                            <p:strVal val="#ppt_x"/>
                                          </p:val>
                                        </p:tav>
                                        <p:tav tm="100000">
                                          <p:val>
                                            <p:strVal val="#ppt_x"/>
                                          </p:val>
                                        </p:tav>
                                      </p:tavLst>
                                    </p:anim>
                                    <p:anim calcmode="lin" valueType="num">
                                      <p:cBhvr additive="base">
                                        <p:cTn id="5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81">
                                            <p:txEl>
                                              <p:pRg st="0" end="0"/>
                                            </p:txEl>
                                          </p:spTgt>
                                        </p:tgtEl>
                                        <p:attrNameLst>
                                          <p:attrName>style.visibility</p:attrName>
                                        </p:attrNameLst>
                                      </p:cBhvr>
                                      <p:to>
                                        <p:strVal val="visible"/>
                                      </p:to>
                                    </p:set>
                                    <p:animEffect transition="in" filter="wipe(down)">
                                      <p:cBhvr>
                                        <p:cTn id="58" dur="500"/>
                                        <p:tgtEl>
                                          <p:spTgt spid="81">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84">
                                            <p:txEl>
                                              <p:pRg st="0" end="0"/>
                                            </p:txEl>
                                          </p:spTgt>
                                        </p:tgtEl>
                                        <p:attrNameLst>
                                          <p:attrName>style.visibility</p:attrName>
                                        </p:attrNameLst>
                                      </p:cBhvr>
                                      <p:to>
                                        <p:strVal val="visible"/>
                                      </p:to>
                                    </p:set>
                                    <p:animEffect transition="in" filter="wipe(down)">
                                      <p:cBhvr>
                                        <p:cTn id="63" dur="500"/>
                                        <p:tgtEl>
                                          <p:spTgt spid="84">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86">
                                            <p:txEl>
                                              <p:pRg st="0" end="0"/>
                                            </p:txEl>
                                          </p:spTgt>
                                        </p:tgtEl>
                                        <p:attrNameLst>
                                          <p:attrName>style.visibility</p:attrName>
                                        </p:attrNameLst>
                                      </p:cBhvr>
                                      <p:to>
                                        <p:strVal val="visible"/>
                                      </p:to>
                                    </p:set>
                                    <p:animEffect transition="in" filter="wipe(down)">
                                      <p:cBhvr>
                                        <p:cTn id="68" dur="500"/>
                                        <p:tgtEl>
                                          <p:spTgt spid="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69" grpId="0" build="allAtOnce"/>
      <p:bldP spid="70" grpId="0" build="allAtOnce"/>
      <p:bldP spid="74" grpId="0" build="allAtOnce"/>
      <p:bldP spid="75" grpId="0" animBg="1"/>
      <p:bldP spid="81" grpId="0" build="allAtOnce"/>
      <p:bldP spid="84" grpId="0" build="allAtOnce"/>
      <p:bldP spid="86"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局部变形时的位移计算公式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503115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微元段的局部变形</a:t>
            </a:r>
            <a:endParaRPr lang="en-US" altLang="zh-CN" sz="2000" b="1">
              <a:latin typeface="Times New Roman" pitchFamily="18" charset="0"/>
              <a:cs typeface="Times New Roman" pitchFamily="18" charset="0"/>
            </a:endParaRPr>
          </a:p>
        </p:txBody>
      </p:sp>
      <p:pic>
        <p:nvPicPr>
          <p:cNvPr id="394242" name="Picture 2"/>
          <p:cNvPicPr>
            <a:picLocks noChangeAspect="1" noChangeArrowheads="1"/>
          </p:cNvPicPr>
          <p:nvPr/>
        </p:nvPicPr>
        <p:blipFill>
          <a:blip r:embed="rId3"/>
          <a:srcRect t="13497"/>
          <a:stretch>
            <a:fillRect/>
          </a:stretch>
        </p:blipFill>
        <p:spPr bwMode="auto">
          <a:xfrm>
            <a:off x="1000100" y="2285992"/>
            <a:ext cx="3500462" cy="1500198"/>
          </a:xfrm>
          <a:prstGeom prst="rect">
            <a:avLst/>
          </a:prstGeom>
          <a:noFill/>
          <a:ln w="9525">
            <a:noFill/>
            <a:miter lim="800000"/>
            <a:headEnd/>
            <a:tailEnd/>
          </a:ln>
          <a:effectLst/>
        </p:spPr>
      </p:pic>
      <p:grpSp>
        <p:nvGrpSpPr>
          <p:cNvPr id="20" name="组合 19"/>
          <p:cNvGrpSpPr/>
          <p:nvPr/>
        </p:nvGrpSpPr>
        <p:grpSpPr>
          <a:xfrm>
            <a:off x="4619688" y="2143116"/>
            <a:ext cx="4500594" cy="1333572"/>
            <a:chOff x="4143372" y="3762440"/>
            <a:chExt cx="4500594" cy="1333572"/>
          </a:xfrm>
        </p:grpSpPr>
        <p:grpSp>
          <p:nvGrpSpPr>
            <p:cNvPr id="4" name="组合 67"/>
            <p:cNvGrpSpPr/>
            <p:nvPr/>
          </p:nvGrpSpPr>
          <p:grpSpPr>
            <a:xfrm>
              <a:off x="4143372" y="3857628"/>
              <a:ext cx="1143008" cy="1143008"/>
              <a:chOff x="1357290" y="3786190"/>
              <a:chExt cx="1143008" cy="1714512"/>
            </a:xfrm>
          </p:grpSpPr>
          <p:sp>
            <p:nvSpPr>
              <p:cNvPr id="62" name="TextBox 61"/>
              <p:cNvSpPr txBox="1"/>
              <p:nvPr/>
            </p:nvSpPr>
            <p:spPr>
              <a:xfrm>
                <a:off x="1357290" y="4421194"/>
                <a:ext cx="939681" cy="600165"/>
              </a:xfrm>
              <a:prstGeom prst="rect">
                <a:avLst/>
              </a:prstGeom>
              <a:noFill/>
              <a:ln w="28575">
                <a:noFill/>
              </a:ln>
            </p:spPr>
            <p:txBody>
              <a:bodyPr wrap="square" rtlCol="0">
                <a:spAutoFit/>
              </a:bodyPr>
              <a:lstStyle/>
              <a:p>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变形</a:t>
                </a:r>
              </a:p>
            </p:txBody>
          </p:sp>
          <p:sp>
            <p:nvSpPr>
              <p:cNvPr id="64" name="左大括号 63"/>
              <p:cNvSpPr/>
              <p:nvPr/>
            </p:nvSpPr>
            <p:spPr bwMode="auto">
              <a:xfrm>
                <a:off x="2285984" y="3786190"/>
                <a:ext cx="214314" cy="1714512"/>
              </a:xfrm>
              <a:prstGeom prst="leftBrace">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1" name="TextBox 80"/>
            <p:cNvSpPr txBox="1"/>
            <p:nvPr/>
          </p:nvSpPr>
          <p:spPr>
            <a:xfrm>
              <a:off x="5286380" y="3762440"/>
              <a:ext cx="3095584"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相对轴向位移   </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λ</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a:cs typeface="Times New Roman"/>
                </a:rPr>
                <a:t>ε</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sp>
          <p:nvSpPr>
            <p:cNvPr id="84" name="TextBox 83"/>
            <p:cNvSpPr txBox="1"/>
            <p:nvPr/>
          </p:nvSpPr>
          <p:spPr>
            <a:xfrm>
              <a:off x="5286380" y="4219398"/>
              <a:ext cx="3357586"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相对轴向位移   </a:t>
              </a:r>
              <a:r>
                <a:rPr lang="en-US" altLang="zh-CN" sz="2000" b="1">
                  <a:latin typeface="Times New Roman" pitchFamily="18" charset="0"/>
                  <a:cs typeface="Times New Roman" pitchFamily="18" charset="0"/>
                </a:rPr>
                <a:t>d</a:t>
              </a:r>
              <a:r>
                <a:rPr lang="el-GR" altLang="zh-CN" sz="2000" b="1" i="1">
                  <a:latin typeface="Times New Roman"/>
                  <a:cs typeface="Times New Roman"/>
                </a:rPr>
                <a:t>η</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a:cs typeface="Times New Roman"/>
                </a:rPr>
                <a:t>γ</a:t>
              </a:r>
              <a:r>
                <a:rPr lang="en-US" altLang="zh-CN" sz="2000" b="1" baseline="-25000">
                  <a:latin typeface="Times New Roman"/>
                  <a:cs typeface="Times New Roman"/>
                </a:rPr>
                <a:t>0</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sp>
          <p:nvSpPr>
            <p:cNvPr id="86" name="TextBox 85"/>
            <p:cNvSpPr txBox="1"/>
            <p:nvPr/>
          </p:nvSpPr>
          <p:spPr>
            <a:xfrm>
              <a:off x="5286380" y="4695902"/>
              <a:ext cx="3357586"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相对转角   </a:t>
              </a:r>
              <a:r>
                <a:rPr lang="en-US" altLang="zh-CN" sz="2000" b="1">
                  <a:latin typeface="Times New Roman" pitchFamily="18" charset="0"/>
                  <a:cs typeface="Times New Roman" pitchFamily="18" charset="0"/>
                </a:rPr>
                <a:t>d</a:t>
              </a:r>
              <a:r>
                <a:rPr lang="el-GR" altLang="zh-CN" sz="2000" b="1" i="1">
                  <a:latin typeface="Times New Roman"/>
                  <a:cs typeface="Times New Roman"/>
                </a:rPr>
                <a:t>θ</a:t>
              </a:r>
              <a:r>
                <a:rPr lang="en-US" altLang="zh-CN" sz="2000" b="1">
                  <a:latin typeface="Times New Roman" pitchFamily="18" charset="0"/>
                  <a:cs typeface="Times New Roman" pitchFamily="18" charset="0"/>
                </a:rPr>
                <a:t> =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R </a:t>
              </a:r>
              <a:r>
                <a:rPr lang="en-US" altLang="zh-CN" sz="2000" b="1">
                  <a:latin typeface="Times New Roman" pitchFamily="18" charset="0"/>
                  <a:cs typeface="Times New Roman" pitchFamily="18" charset="0"/>
                </a:rPr>
                <a:t>= </a:t>
              </a:r>
              <a:r>
                <a:rPr lang="el-GR" altLang="zh-CN" sz="2000" b="1" i="1">
                  <a:latin typeface="Times New Roman"/>
                  <a:cs typeface="Times New Roman"/>
                </a:rPr>
                <a:t>κ</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grpSp>
      <p:sp>
        <p:nvSpPr>
          <p:cNvPr id="21" name="TextBox 20"/>
          <p:cNvSpPr txBox="1"/>
          <p:nvPr/>
        </p:nvSpPr>
        <p:spPr>
          <a:xfrm>
            <a:off x="1643042" y="4457650"/>
            <a:ext cx="5019323" cy="400110"/>
          </a:xfrm>
          <a:prstGeom prst="rect">
            <a:avLst/>
          </a:prstGeom>
          <a:noFill/>
          <a:ln w="28575">
            <a:noFill/>
          </a:ln>
        </p:spPr>
        <p:txBody>
          <a:bodyPr wrap="none" rtlCol="0">
            <a:spAutoFit/>
          </a:bodyPr>
          <a:lstStyle/>
          <a:p>
            <a:r>
              <a:rPr lang="zh-CN" altLang="en-US" sz="2000" b="1">
                <a:solidFill>
                  <a:srgbClr val="C00000"/>
                </a:solidFill>
                <a:latin typeface="Times New Roman" pitchFamily="18" charset="0"/>
                <a:cs typeface="Times New Roman" pitchFamily="18" charset="0"/>
              </a:rPr>
              <a:t>这些微小变形在</a:t>
            </a:r>
            <a:r>
              <a:rPr lang="en-US" altLang="zh-CN" sz="2000" b="1" i="1">
                <a:solidFill>
                  <a:srgbClr val="C00000"/>
                </a:solidFill>
                <a:latin typeface="Times New Roman" pitchFamily="18" charset="0"/>
                <a:cs typeface="Times New Roman" pitchFamily="18" charset="0"/>
              </a:rPr>
              <a:t>A</a:t>
            </a:r>
            <a:r>
              <a:rPr lang="zh-CN" altLang="en-US" sz="2000" b="1">
                <a:solidFill>
                  <a:srgbClr val="C00000"/>
                </a:solidFill>
                <a:latin typeface="Times New Roman" pitchFamily="18" charset="0"/>
                <a:cs typeface="Times New Roman" pitchFamily="18" charset="0"/>
              </a:rPr>
              <a:t>端产生的位移</a:t>
            </a:r>
            <a:r>
              <a:rPr lang="en-US" altLang="zh-CN" sz="2000" b="1">
                <a:solidFill>
                  <a:srgbClr val="C00000"/>
                </a:solidFill>
                <a:latin typeface="Times New Roman" pitchFamily="18" charset="0"/>
                <a:cs typeface="Times New Roman" pitchFamily="18" charset="0"/>
              </a:rPr>
              <a:t>d</a:t>
            </a:r>
            <a:r>
              <a:rPr lang="el-GR" altLang="zh-CN" sz="2000" b="1" i="1">
                <a:solidFill>
                  <a:srgbClr val="C00000"/>
                </a:solidFill>
                <a:latin typeface="Times New Roman" pitchFamily="18" charset="0"/>
                <a:cs typeface="Times New Roman" pitchFamily="18" charset="0"/>
              </a:rPr>
              <a:t>Δ</a:t>
            </a:r>
            <a:r>
              <a:rPr lang="zh-CN" altLang="en-US" sz="2000" b="1">
                <a:solidFill>
                  <a:srgbClr val="C00000"/>
                </a:solidFill>
                <a:latin typeface="Times New Roman" pitchFamily="18" charset="0"/>
                <a:cs typeface="Times New Roman" pitchFamily="18" charset="0"/>
              </a:rPr>
              <a:t>如何求？</a:t>
            </a:r>
          </a:p>
        </p:txBody>
      </p:sp>
      <p:sp>
        <p:nvSpPr>
          <p:cNvPr id="22" name="TextBox 21"/>
          <p:cNvSpPr txBox="1"/>
          <p:nvPr/>
        </p:nvSpPr>
        <p:spPr>
          <a:xfrm>
            <a:off x="6619952" y="4457650"/>
            <a:ext cx="1723549" cy="400110"/>
          </a:xfrm>
          <a:prstGeom prst="rect">
            <a:avLst/>
          </a:prstGeom>
          <a:noFill/>
          <a:ln w="28575">
            <a:noFill/>
          </a:ln>
        </p:spPr>
        <p:txBody>
          <a:bodyPr wrap="none" rtlCol="0">
            <a:spAutoFit/>
          </a:bodyPr>
          <a:lstStyle/>
          <a:p>
            <a:r>
              <a:rPr lang="zh-CN" altLang="en-US" sz="2000" b="1">
                <a:solidFill>
                  <a:srgbClr val="0033CC"/>
                </a:solidFill>
              </a:rPr>
              <a:t>单位荷载法！</a:t>
            </a:r>
          </a:p>
        </p:txBody>
      </p:sp>
      <p:grpSp>
        <p:nvGrpSpPr>
          <p:cNvPr id="26" name="组合 25"/>
          <p:cNvGrpSpPr/>
          <p:nvPr/>
        </p:nvGrpSpPr>
        <p:grpSpPr>
          <a:xfrm>
            <a:off x="3571868" y="2214554"/>
            <a:ext cx="470210" cy="642942"/>
            <a:chOff x="3571868" y="2214554"/>
            <a:chExt cx="470210" cy="642942"/>
          </a:xfrm>
        </p:grpSpPr>
        <p:cxnSp>
          <p:nvCxnSpPr>
            <p:cNvPr id="24" name="直接箭头连接符 23"/>
            <p:cNvCxnSpPr/>
            <p:nvPr/>
          </p:nvCxnSpPr>
          <p:spPr bwMode="auto">
            <a:xfrm rot="16200000" flipH="1">
              <a:off x="3500430" y="2357430"/>
              <a:ext cx="571504" cy="42862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25" name="TextBox 24"/>
            <p:cNvSpPr txBox="1"/>
            <p:nvPr/>
          </p:nvSpPr>
          <p:spPr>
            <a:xfrm>
              <a:off x="3714744" y="2214554"/>
              <a:ext cx="327334" cy="400110"/>
            </a:xfrm>
            <a:prstGeom prst="rect">
              <a:avLst/>
            </a:prstGeom>
            <a:noFill/>
            <a:ln w="28575">
              <a:noFill/>
            </a:ln>
          </p:spPr>
          <p:txBody>
            <a:bodyPr wrap="none" rtlCol="0">
              <a:spAutoFit/>
            </a:bodyPr>
            <a:lstStyle/>
            <a:p>
              <a:r>
                <a:rPr lang="en-US" altLang="zh-CN" sz="2000" b="1">
                  <a:solidFill>
                    <a:srgbClr val="C00000"/>
                  </a:solidFill>
                </a:rPr>
                <a:t>1</a:t>
              </a:r>
              <a:endParaRPr lang="zh-CN" altLang="en-US" sz="2000" b="1">
                <a:solidFill>
                  <a:srgbClr val="C00000"/>
                </a:solidFill>
              </a:endParaRPr>
            </a:p>
          </p:txBody>
        </p:sp>
      </p:grpSp>
      <p:sp>
        <p:nvSpPr>
          <p:cNvPr id="27" name="TextBox 26"/>
          <p:cNvSpPr txBox="1"/>
          <p:nvPr/>
        </p:nvSpPr>
        <p:spPr>
          <a:xfrm>
            <a:off x="1226289" y="3636030"/>
            <a:ext cx="7429552" cy="852477"/>
          </a:xfrm>
          <a:prstGeom prst="rect">
            <a:avLst/>
          </a:prstGeom>
          <a:noFill/>
          <a:ln w="28575">
            <a:noFill/>
          </a:ln>
        </p:spPr>
        <p:txBody>
          <a:bodyPr wrap="square" rtlCol="0">
            <a:spAutoFit/>
          </a:bodyPr>
          <a:lstStyle/>
          <a:p>
            <a:pPr marL="355600" indent="-355600">
              <a:lnSpc>
                <a:spcPct val="130000"/>
              </a:lnSpc>
            </a:pPr>
            <a:r>
              <a:rPr lang="zh-CN" altLang="en-US" sz="2000" b="1">
                <a:latin typeface="Times New Roman" pitchFamily="18" charset="0"/>
                <a:cs typeface="Times New Roman" pitchFamily="18" charset="0"/>
              </a:rPr>
              <a:t>⑴ 这些相对位移</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λ</a:t>
            </a:r>
            <a:r>
              <a:rPr lang="zh-CN" altLang="en-US" sz="2000" b="1" i="1">
                <a:latin typeface="Times New Roman" pitchFamily="18" charset="0"/>
                <a:cs typeface="Times New Roman" pitchFamily="18" charset="0"/>
              </a:rPr>
              <a:t>、</a:t>
            </a:r>
            <a:r>
              <a:rPr lang="en-US" altLang="zh-CN" sz="2000" b="1">
                <a:latin typeface="Times New Roman" pitchFamily="18" charset="0"/>
                <a:cs typeface="Times New Roman" pitchFamily="18" charset="0"/>
              </a:rPr>
              <a:t> d</a:t>
            </a:r>
            <a:r>
              <a:rPr lang="el-GR" altLang="zh-CN" sz="2000" b="1" i="1">
                <a:latin typeface="Times New Roman"/>
                <a:cs typeface="Times New Roman"/>
              </a:rPr>
              <a:t>η</a:t>
            </a:r>
            <a:r>
              <a:rPr lang="zh-CN" altLang="en-US" sz="2000" b="1">
                <a:latin typeface="Times New Roman"/>
                <a:cs typeface="Times New Roman"/>
              </a:rPr>
              <a:t>和</a:t>
            </a:r>
            <a:r>
              <a:rPr lang="en-US" altLang="zh-CN" sz="2000" b="1">
                <a:latin typeface="Times New Roman" pitchFamily="18" charset="0"/>
                <a:cs typeface="Times New Roman" pitchFamily="18" charset="0"/>
              </a:rPr>
              <a:t>d</a:t>
            </a:r>
            <a:r>
              <a:rPr lang="el-GR" altLang="zh-CN" sz="2000" b="1" i="1">
                <a:latin typeface="Times New Roman"/>
                <a:cs typeface="Times New Roman"/>
              </a:rPr>
              <a:t>θ</a:t>
            </a:r>
            <a:r>
              <a:rPr lang="en-US" altLang="zh-CN" sz="2000" b="1" i="1">
                <a:latin typeface="Times New Roman"/>
                <a:cs typeface="Times New Roman"/>
              </a:rPr>
              <a:t> </a:t>
            </a:r>
            <a:r>
              <a:rPr lang="zh-CN" altLang="en-US" sz="2000" b="1">
                <a:latin typeface="Times New Roman"/>
                <a:cs typeface="Times New Roman"/>
              </a:rPr>
              <a:t>分别对应的广义力是</a:t>
            </a:r>
            <a:r>
              <a:rPr lang="en-US" altLang="zh-CN" sz="2000" b="1" i="1">
                <a:latin typeface="Times New Roman"/>
                <a:cs typeface="Times New Roman"/>
              </a:rPr>
              <a:t>B</a:t>
            </a:r>
            <a:r>
              <a:rPr lang="zh-CN" altLang="en-US" sz="2000" b="1">
                <a:latin typeface="Times New Roman"/>
                <a:cs typeface="Times New Roman"/>
              </a:rPr>
              <a:t>点的轴力</a:t>
            </a:r>
            <a:r>
              <a:rPr lang="en-US" altLang="zh-CN" sz="2000" b="1" i="1">
                <a:latin typeface="Times New Roman"/>
                <a:cs typeface="Times New Roman"/>
              </a:rPr>
              <a:t>F</a:t>
            </a:r>
            <a:r>
              <a:rPr lang="en-US" altLang="zh-CN" sz="2000" b="1" baseline="-25000">
                <a:latin typeface="Times New Roman"/>
                <a:cs typeface="Times New Roman"/>
              </a:rPr>
              <a:t>N</a:t>
            </a:r>
            <a:r>
              <a:rPr lang="zh-CN" altLang="en-US" sz="2000" b="1">
                <a:latin typeface="Times New Roman"/>
                <a:cs typeface="Times New Roman"/>
              </a:rPr>
              <a:t>，剪力</a:t>
            </a:r>
            <a:r>
              <a:rPr lang="en-US" altLang="zh-CN" sz="2000" b="1" i="1">
                <a:latin typeface="Times New Roman"/>
                <a:cs typeface="Times New Roman"/>
              </a:rPr>
              <a:t>F</a:t>
            </a:r>
            <a:r>
              <a:rPr lang="en-US" altLang="zh-CN" sz="2000" b="1" baseline="-25000">
                <a:latin typeface="Times New Roman"/>
                <a:cs typeface="Times New Roman"/>
              </a:rPr>
              <a:t>Q</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a:t>
            </a:r>
            <a:r>
              <a:rPr lang="zh-CN" altLang="en-US" sz="2000" b="1">
                <a:latin typeface="Times New Roman"/>
                <a:cs typeface="Times New Roman"/>
              </a:rPr>
              <a:t>及弯矩</a:t>
            </a:r>
            <a:r>
              <a:rPr lang="en-US" altLang="zh-CN" sz="2000" b="1" i="1">
                <a:latin typeface="Times New Roman"/>
                <a:cs typeface="Times New Roman"/>
              </a:rPr>
              <a:t>M</a:t>
            </a:r>
            <a:r>
              <a:rPr lang="zh-CN" altLang="en-US" sz="2000" b="1">
                <a:latin typeface="Times New Roman"/>
                <a:cs typeface="Times New Roman"/>
              </a:rPr>
              <a:t>；</a:t>
            </a:r>
            <a:endParaRPr lang="zh-CN" altLang="en-US" sz="2000" b="1" baseline="-25000">
              <a:latin typeface="Times New Roman" pitchFamily="18" charset="0"/>
              <a:cs typeface="Times New Roman" pitchFamily="18" charset="0"/>
            </a:endParaRPr>
          </a:p>
        </p:txBody>
      </p:sp>
      <p:grpSp>
        <p:nvGrpSpPr>
          <p:cNvPr id="34" name="组合 33"/>
          <p:cNvGrpSpPr/>
          <p:nvPr/>
        </p:nvGrpSpPr>
        <p:grpSpPr>
          <a:xfrm>
            <a:off x="1214414" y="4786322"/>
            <a:ext cx="7429552" cy="892552"/>
            <a:chOff x="1214414" y="4786322"/>
            <a:chExt cx="7429552" cy="892552"/>
          </a:xfrm>
        </p:grpSpPr>
        <p:sp>
          <p:nvSpPr>
            <p:cNvPr id="28" name="TextBox 27"/>
            <p:cNvSpPr txBox="1"/>
            <p:nvPr/>
          </p:nvSpPr>
          <p:spPr>
            <a:xfrm>
              <a:off x="1214414" y="4786322"/>
              <a:ext cx="7429552" cy="892552"/>
            </a:xfrm>
            <a:prstGeom prst="rect">
              <a:avLst/>
            </a:prstGeom>
            <a:noFill/>
            <a:ln w="28575">
              <a:noFill/>
            </a:ln>
          </p:spPr>
          <p:txBody>
            <a:bodyPr wrap="square" rtlCol="0">
              <a:spAutoFit/>
            </a:bodyPr>
            <a:lstStyle/>
            <a:p>
              <a:pPr marL="355600" indent="-355600">
                <a:lnSpc>
                  <a:spcPct val="130000"/>
                </a:lnSpc>
              </a:pPr>
              <a:r>
                <a:rPr lang="zh-CN" altLang="en-US" sz="2000" b="1">
                  <a:latin typeface="Times New Roman" pitchFamily="18" charset="0"/>
                  <a:cs typeface="Times New Roman" pitchFamily="18" charset="0"/>
                </a:rPr>
                <a:t>⑵ 设单位位移在</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点产生的</a:t>
              </a:r>
              <a:r>
                <a:rPr lang="zh-CN" altLang="en-US" sz="2000" b="1">
                  <a:latin typeface="Times New Roman"/>
                  <a:cs typeface="Times New Roman"/>
                </a:rPr>
                <a:t>的轴力，剪力及弯矩分别为</a:t>
              </a:r>
              <a:endParaRPr lang="en-US" altLang="zh-CN" sz="2000" b="1">
                <a:latin typeface="Times New Roman"/>
                <a:cs typeface="Times New Roman"/>
              </a:endParaRPr>
            </a:p>
            <a:p>
              <a:pPr marL="355600" indent="-355600">
                <a:lnSpc>
                  <a:spcPct val="130000"/>
                </a:lnSpc>
              </a:pPr>
              <a:r>
                <a:rPr lang="en-US" altLang="zh-CN" sz="2000" b="1" i="1">
                  <a:latin typeface="Times New Roman"/>
                  <a:cs typeface="Times New Roman"/>
                </a:rPr>
                <a:t>	F</a:t>
              </a:r>
              <a:r>
                <a:rPr lang="en-US" altLang="zh-CN" sz="2000" b="1" baseline="-25000">
                  <a:latin typeface="Times New Roman"/>
                  <a:cs typeface="Times New Roman"/>
                </a:rPr>
                <a:t>N</a:t>
              </a:r>
              <a:r>
                <a:rPr lang="zh-CN" altLang="en-US" sz="2000" b="1">
                  <a:latin typeface="Times New Roman"/>
                  <a:cs typeface="Times New Roman"/>
                </a:rPr>
                <a:t> ， </a:t>
              </a:r>
              <a:r>
                <a:rPr lang="en-US" altLang="zh-CN" sz="2000" b="1" i="1">
                  <a:latin typeface="Times New Roman"/>
                  <a:cs typeface="Times New Roman"/>
                </a:rPr>
                <a:t>F</a:t>
              </a:r>
              <a:r>
                <a:rPr lang="en-US" altLang="zh-CN" sz="2000" b="1" baseline="-25000">
                  <a:latin typeface="Times New Roman"/>
                  <a:cs typeface="Times New Roman"/>
                </a:rPr>
                <a:t>Q</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和</a:t>
              </a:r>
              <a:r>
                <a:rPr lang="en-US" altLang="zh-CN" sz="2000" b="1" i="1">
                  <a:latin typeface="Times New Roman"/>
                  <a:cs typeface="Times New Roman"/>
                </a:rPr>
                <a:t>M</a:t>
              </a:r>
              <a:r>
                <a:rPr lang="zh-CN" altLang="en-US" sz="2000" b="1">
                  <a:latin typeface="Times New Roman"/>
                  <a:cs typeface="Times New Roman"/>
                </a:rPr>
                <a:t>，利用虚力原理，有</a:t>
              </a:r>
              <a:endParaRPr lang="zh-CN" altLang="en-US" sz="2000" b="1" baseline="-25000">
                <a:latin typeface="Times New Roman" pitchFamily="18" charset="0"/>
                <a:cs typeface="Times New Roman" pitchFamily="18" charset="0"/>
              </a:endParaRPr>
            </a:p>
          </p:txBody>
        </p:sp>
        <p:cxnSp>
          <p:nvCxnSpPr>
            <p:cNvPr id="30" name="直接连接符 29"/>
            <p:cNvCxnSpPr/>
            <p:nvPr/>
          </p:nvCxnSpPr>
          <p:spPr bwMode="auto">
            <a:xfrm>
              <a:off x="1714480" y="5310138"/>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31"/>
            <p:cNvCxnSpPr/>
            <p:nvPr/>
          </p:nvCxnSpPr>
          <p:spPr bwMode="auto">
            <a:xfrm>
              <a:off x="2357422" y="5310138"/>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32"/>
            <p:cNvCxnSpPr/>
            <p:nvPr/>
          </p:nvCxnSpPr>
          <p:spPr bwMode="auto">
            <a:xfrm>
              <a:off x="2988489" y="5310138"/>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43" name="组合 42"/>
          <p:cNvGrpSpPr/>
          <p:nvPr/>
        </p:nvGrpSpPr>
        <p:grpSpPr>
          <a:xfrm>
            <a:off x="2143108" y="5715016"/>
            <a:ext cx="5484450" cy="492443"/>
            <a:chOff x="2143108" y="5715016"/>
            <a:chExt cx="5484450" cy="492443"/>
          </a:xfrm>
        </p:grpSpPr>
        <p:grpSp>
          <p:nvGrpSpPr>
            <p:cNvPr id="39" name="组合 38"/>
            <p:cNvGrpSpPr/>
            <p:nvPr/>
          </p:nvGrpSpPr>
          <p:grpSpPr>
            <a:xfrm>
              <a:off x="2143108" y="5715016"/>
              <a:ext cx="5484450" cy="492443"/>
              <a:chOff x="2143108" y="5715016"/>
              <a:chExt cx="5484450" cy="492443"/>
            </a:xfrm>
          </p:grpSpPr>
          <p:sp>
            <p:nvSpPr>
              <p:cNvPr id="35" name="矩形 34"/>
              <p:cNvSpPr/>
              <p:nvPr/>
            </p:nvSpPr>
            <p:spPr>
              <a:xfrm>
                <a:off x="2143108" y="5715016"/>
                <a:ext cx="5484450" cy="492443"/>
              </a:xfrm>
              <a:prstGeom prst="rect">
                <a:avLst/>
              </a:prstGeom>
              <a:ln w="19050">
                <a:solidFill>
                  <a:srgbClr val="C00000"/>
                </a:solidFill>
              </a:ln>
            </p:spPr>
            <p:txBody>
              <a:bodyPr wrap="square">
                <a:spAutoFit/>
              </a:bodyPr>
              <a:lstStyle/>
              <a:p>
                <a:pPr>
                  <a:lnSpc>
                    <a:spcPct val="130000"/>
                  </a:lnSpc>
                </a:pP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 </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λ</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n-US" altLang="zh-CN" sz="2000" b="1">
                    <a:latin typeface="Times New Roman" pitchFamily="18" charset="0"/>
                    <a:cs typeface="Times New Roman" pitchFamily="18" charset="0"/>
                  </a:rPr>
                  <a:t>d</a:t>
                </a:r>
                <a:r>
                  <a:rPr lang="el-GR" altLang="zh-CN" sz="2000" b="1" i="1">
                    <a:latin typeface="Times New Roman"/>
                    <a:cs typeface="Times New Roman"/>
                  </a:rPr>
                  <a:t>η</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a:latin typeface="Times New Roman" pitchFamily="18" charset="0"/>
                    <a:cs typeface="Times New Roman" pitchFamily="18" charset="0"/>
                  </a:rPr>
                  <a:t>d</a:t>
                </a:r>
                <a:r>
                  <a:rPr lang="el-GR" altLang="zh-CN" sz="2000" b="1" i="1">
                    <a:latin typeface="Times New Roman"/>
                    <a:cs typeface="Times New Roman"/>
                  </a:rPr>
                  <a:t>θ</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a:p>
            </p:txBody>
          </p:sp>
          <p:cxnSp>
            <p:nvCxnSpPr>
              <p:cNvPr id="36" name="直接连接符 35"/>
              <p:cNvCxnSpPr/>
              <p:nvPr/>
            </p:nvCxnSpPr>
            <p:spPr bwMode="auto">
              <a:xfrm>
                <a:off x="278605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36"/>
              <p:cNvCxnSpPr/>
              <p:nvPr/>
            </p:nvCxnSpPr>
            <p:spPr bwMode="auto">
              <a:xfrm>
                <a:off x="3583743"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441724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40" name="直接连接符 39"/>
            <p:cNvCxnSpPr/>
            <p:nvPr/>
          </p:nvCxnSpPr>
          <p:spPr bwMode="auto">
            <a:xfrm>
              <a:off x="531013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直接连接符 40"/>
            <p:cNvCxnSpPr/>
            <p:nvPr/>
          </p:nvCxnSpPr>
          <p:spPr bwMode="auto">
            <a:xfrm>
              <a:off x="5917447"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a:off x="6548326" y="584582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1+#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0-#ppt_w/2"/>
                                          </p:val>
                                        </p:tav>
                                        <p:tav tm="100000">
                                          <p:val>
                                            <p:strVal val="#ppt_x"/>
                                          </p:val>
                                        </p:tav>
                                      </p:tavLst>
                                    </p:anim>
                                    <p:anim calcmode="lin" valueType="num">
                                      <p:cBhvr additive="base">
                                        <p:cTn id="2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down)">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 calcmode="lin" valueType="num">
                                      <p:cBhvr additive="base">
                                        <p:cTn id="35" dur="500" fill="hold"/>
                                        <p:tgtEl>
                                          <p:spTgt spid="43"/>
                                        </p:tgtEl>
                                        <p:attrNameLst>
                                          <p:attrName>ppt_x</p:attrName>
                                        </p:attrNameLst>
                                      </p:cBhvr>
                                      <p:tavLst>
                                        <p:tav tm="0">
                                          <p:val>
                                            <p:strVal val="#ppt_x"/>
                                          </p:val>
                                        </p:tav>
                                        <p:tav tm="100000">
                                          <p:val>
                                            <p:strVal val="#ppt_x"/>
                                          </p:val>
                                        </p:tav>
                                      </p:tavLst>
                                    </p:anim>
                                    <p:anim calcmode="lin" valueType="num">
                                      <p:cBhvr additive="base">
                                        <p:cTn id="3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局部变形时的位移计算公式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503115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微元段的局部变形</a:t>
            </a:r>
            <a:endParaRPr lang="en-US" altLang="zh-CN" sz="2000" b="1">
              <a:latin typeface="Times New Roman" pitchFamily="18" charset="0"/>
              <a:cs typeface="Times New Roman" pitchFamily="18" charset="0"/>
            </a:endParaRPr>
          </a:p>
        </p:txBody>
      </p:sp>
      <p:pic>
        <p:nvPicPr>
          <p:cNvPr id="394242" name="Picture 2"/>
          <p:cNvPicPr>
            <a:picLocks noChangeAspect="1" noChangeArrowheads="1"/>
          </p:cNvPicPr>
          <p:nvPr/>
        </p:nvPicPr>
        <p:blipFill>
          <a:blip r:embed="rId3"/>
          <a:srcRect t="13497"/>
          <a:stretch>
            <a:fillRect/>
          </a:stretch>
        </p:blipFill>
        <p:spPr bwMode="auto">
          <a:xfrm>
            <a:off x="1000100" y="2285992"/>
            <a:ext cx="3500462" cy="1500198"/>
          </a:xfrm>
          <a:prstGeom prst="rect">
            <a:avLst/>
          </a:prstGeom>
          <a:noFill/>
          <a:ln w="9525">
            <a:noFill/>
            <a:miter lim="800000"/>
            <a:headEnd/>
            <a:tailEnd/>
          </a:ln>
          <a:effectLst/>
        </p:spPr>
      </p:pic>
      <p:grpSp>
        <p:nvGrpSpPr>
          <p:cNvPr id="4" name="组合 19"/>
          <p:cNvGrpSpPr/>
          <p:nvPr/>
        </p:nvGrpSpPr>
        <p:grpSpPr>
          <a:xfrm>
            <a:off x="4619688" y="2143116"/>
            <a:ext cx="4500594" cy="1333572"/>
            <a:chOff x="4143372" y="3762440"/>
            <a:chExt cx="4500594" cy="1333572"/>
          </a:xfrm>
        </p:grpSpPr>
        <p:grpSp>
          <p:nvGrpSpPr>
            <p:cNvPr id="5" name="组合 67"/>
            <p:cNvGrpSpPr/>
            <p:nvPr/>
          </p:nvGrpSpPr>
          <p:grpSpPr>
            <a:xfrm>
              <a:off x="4143372" y="3857628"/>
              <a:ext cx="1143008" cy="1143008"/>
              <a:chOff x="1357290" y="3786190"/>
              <a:chExt cx="1143008" cy="1714512"/>
            </a:xfrm>
          </p:grpSpPr>
          <p:sp>
            <p:nvSpPr>
              <p:cNvPr id="62" name="TextBox 61"/>
              <p:cNvSpPr txBox="1"/>
              <p:nvPr/>
            </p:nvSpPr>
            <p:spPr>
              <a:xfrm>
                <a:off x="1357290" y="4421194"/>
                <a:ext cx="939681" cy="600165"/>
              </a:xfrm>
              <a:prstGeom prst="rect">
                <a:avLst/>
              </a:prstGeom>
              <a:noFill/>
              <a:ln w="28575">
                <a:noFill/>
              </a:ln>
            </p:spPr>
            <p:txBody>
              <a:bodyPr wrap="square" rtlCol="0">
                <a:spAutoFit/>
              </a:bodyPr>
              <a:lstStyle/>
              <a:p>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变形</a:t>
                </a:r>
              </a:p>
            </p:txBody>
          </p:sp>
          <p:sp>
            <p:nvSpPr>
              <p:cNvPr id="64" name="左大括号 63"/>
              <p:cNvSpPr/>
              <p:nvPr/>
            </p:nvSpPr>
            <p:spPr bwMode="auto">
              <a:xfrm>
                <a:off x="2285984" y="3786190"/>
                <a:ext cx="214314" cy="1714512"/>
              </a:xfrm>
              <a:prstGeom prst="leftBrace">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1" name="TextBox 80"/>
            <p:cNvSpPr txBox="1"/>
            <p:nvPr/>
          </p:nvSpPr>
          <p:spPr>
            <a:xfrm>
              <a:off x="5286380" y="3762440"/>
              <a:ext cx="3095584"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相对轴向位移   </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λ</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a:cs typeface="Times New Roman"/>
                </a:rPr>
                <a:t>ε</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sp>
          <p:nvSpPr>
            <p:cNvPr id="84" name="TextBox 83"/>
            <p:cNvSpPr txBox="1"/>
            <p:nvPr/>
          </p:nvSpPr>
          <p:spPr>
            <a:xfrm>
              <a:off x="5286380" y="4219398"/>
              <a:ext cx="3357586"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相对轴向位移   </a:t>
              </a:r>
              <a:r>
                <a:rPr lang="en-US" altLang="zh-CN" sz="2000" b="1">
                  <a:latin typeface="Times New Roman" pitchFamily="18" charset="0"/>
                  <a:cs typeface="Times New Roman" pitchFamily="18" charset="0"/>
                </a:rPr>
                <a:t>d</a:t>
              </a:r>
              <a:r>
                <a:rPr lang="el-GR" altLang="zh-CN" sz="2000" b="1" i="1">
                  <a:latin typeface="Times New Roman"/>
                  <a:cs typeface="Times New Roman"/>
                </a:rPr>
                <a:t>η</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a:cs typeface="Times New Roman"/>
                </a:rPr>
                <a:t>γ</a:t>
              </a:r>
              <a:r>
                <a:rPr lang="en-US" altLang="zh-CN" sz="2000" b="1" baseline="-25000">
                  <a:latin typeface="Times New Roman"/>
                  <a:cs typeface="Times New Roman"/>
                </a:rPr>
                <a:t>0</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sp>
          <p:nvSpPr>
            <p:cNvPr id="86" name="TextBox 85"/>
            <p:cNvSpPr txBox="1"/>
            <p:nvPr/>
          </p:nvSpPr>
          <p:spPr>
            <a:xfrm>
              <a:off x="5286380" y="4695902"/>
              <a:ext cx="3357586" cy="400110"/>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相对转角   </a:t>
              </a:r>
              <a:r>
                <a:rPr lang="en-US" altLang="zh-CN" sz="2000" b="1">
                  <a:latin typeface="Times New Roman" pitchFamily="18" charset="0"/>
                  <a:cs typeface="Times New Roman" pitchFamily="18" charset="0"/>
                </a:rPr>
                <a:t>d</a:t>
              </a:r>
              <a:r>
                <a:rPr lang="el-GR" altLang="zh-CN" sz="2000" b="1" i="1">
                  <a:latin typeface="Times New Roman"/>
                  <a:cs typeface="Times New Roman"/>
                </a:rPr>
                <a:t>θ</a:t>
              </a:r>
              <a:r>
                <a:rPr lang="en-US" altLang="zh-CN" sz="2000" b="1">
                  <a:latin typeface="Times New Roman" pitchFamily="18" charset="0"/>
                  <a:cs typeface="Times New Roman" pitchFamily="18" charset="0"/>
                </a:rPr>
                <a:t> =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R </a:t>
              </a:r>
              <a:r>
                <a:rPr lang="en-US" altLang="zh-CN" sz="2000" b="1">
                  <a:latin typeface="Times New Roman" pitchFamily="18" charset="0"/>
                  <a:cs typeface="Times New Roman" pitchFamily="18" charset="0"/>
                </a:rPr>
                <a:t>= </a:t>
              </a:r>
              <a:r>
                <a:rPr lang="el-GR" altLang="zh-CN" sz="2000" b="1" i="1">
                  <a:latin typeface="Times New Roman"/>
                  <a:cs typeface="Times New Roman"/>
                </a:rPr>
                <a:t>κ</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grpSp>
      <p:grpSp>
        <p:nvGrpSpPr>
          <p:cNvPr id="6" name="组合 25"/>
          <p:cNvGrpSpPr/>
          <p:nvPr/>
        </p:nvGrpSpPr>
        <p:grpSpPr>
          <a:xfrm>
            <a:off x="3571868" y="2214554"/>
            <a:ext cx="470210" cy="642942"/>
            <a:chOff x="3571868" y="2214554"/>
            <a:chExt cx="470210" cy="642942"/>
          </a:xfrm>
        </p:grpSpPr>
        <p:cxnSp>
          <p:nvCxnSpPr>
            <p:cNvPr id="24" name="直接箭头连接符 23"/>
            <p:cNvCxnSpPr/>
            <p:nvPr/>
          </p:nvCxnSpPr>
          <p:spPr bwMode="auto">
            <a:xfrm rot="16200000" flipH="1">
              <a:off x="3500430" y="2357430"/>
              <a:ext cx="571504" cy="42862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25" name="TextBox 24"/>
            <p:cNvSpPr txBox="1"/>
            <p:nvPr/>
          </p:nvSpPr>
          <p:spPr>
            <a:xfrm>
              <a:off x="3714744" y="2214554"/>
              <a:ext cx="327334" cy="400110"/>
            </a:xfrm>
            <a:prstGeom prst="rect">
              <a:avLst/>
            </a:prstGeom>
            <a:noFill/>
            <a:ln w="28575">
              <a:noFill/>
            </a:ln>
          </p:spPr>
          <p:txBody>
            <a:bodyPr wrap="none" rtlCol="0">
              <a:spAutoFit/>
            </a:bodyPr>
            <a:lstStyle/>
            <a:p>
              <a:r>
                <a:rPr lang="en-US" altLang="zh-CN" sz="2000" b="1">
                  <a:solidFill>
                    <a:srgbClr val="C00000"/>
                  </a:solidFill>
                </a:rPr>
                <a:t>1</a:t>
              </a:r>
              <a:endParaRPr lang="zh-CN" altLang="en-US" sz="2000" b="1">
                <a:solidFill>
                  <a:srgbClr val="C00000"/>
                </a:solidFill>
              </a:endParaRPr>
            </a:p>
          </p:txBody>
        </p:sp>
      </p:grpSp>
      <p:sp>
        <p:nvSpPr>
          <p:cNvPr id="27" name="TextBox 26"/>
          <p:cNvSpPr txBox="1"/>
          <p:nvPr/>
        </p:nvSpPr>
        <p:spPr>
          <a:xfrm>
            <a:off x="1226289" y="3636030"/>
            <a:ext cx="7429552" cy="492443"/>
          </a:xfrm>
          <a:prstGeom prst="rect">
            <a:avLst/>
          </a:prstGeom>
          <a:noFill/>
          <a:ln w="28575">
            <a:noFill/>
          </a:ln>
        </p:spPr>
        <p:txBody>
          <a:bodyPr wrap="square" rtlCol="0">
            <a:spAutoFit/>
          </a:bodyPr>
          <a:lstStyle/>
          <a:p>
            <a:pPr marL="355600" indent="-355600">
              <a:lnSpc>
                <a:spcPct val="130000"/>
              </a:lnSpc>
            </a:pPr>
            <a:r>
              <a:rPr lang="zh-CN" altLang="en-US" sz="2000" b="1">
                <a:latin typeface="Times New Roman" pitchFamily="18" charset="0"/>
                <a:cs typeface="Times New Roman" pitchFamily="18" charset="0"/>
              </a:rPr>
              <a:t>⑵ 这些相对位移</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λ</a:t>
            </a:r>
            <a:r>
              <a:rPr lang="zh-CN" altLang="en-US" sz="2000" b="1" i="1">
                <a:latin typeface="Times New Roman" pitchFamily="18" charset="0"/>
                <a:cs typeface="Times New Roman" pitchFamily="18" charset="0"/>
              </a:rPr>
              <a:t>、</a:t>
            </a:r>
            <a:r>
              <a:rPr lang="en-US" altLang="zh-CN" sz="2000" b="1">
                <a:latin typeface="Times New Roman" pitchFamily="18" charset="0"/>
                <a:cs typeface="Times New Roman" pitchFamily="18" charset="0"/>
              </a:rPr>
              <a:t> d</a:t>
            </a:r>
            <a:r>
              <a:rPr lang="el-GR" altLang="zh-CN" sz="2000" b="1" i="1">
                <a:latin typeface="Times New Roman"/>
                <a:cs typeface="Times New Roman"/>
              </a:rPr>
              <a:t>η</a:t>
            </a:r>
            <a:r>
              <a:rPr lang="zh-CN" altLang="en-US" sz="2000" b="1">
                <a:latin typeface="Times New Roman"/>
                <a:cs typeface="Times New Roman"/>
              </a:rPr>
              <a:t>和</a:t>
            </a:r>
            <a:r>
              <a:rPr lang="en-US" altLang="zh-CN" sz="2000" b="1">
                <a:latin typeface="Times New Roman" pitchFamily="18" charset="0"/>
                <a:cs typeface="Times New Roman" pitchFamily="18" charset="0"/>
              </a:rPr>
              <a:t>d</a:t>
            </a:r>
            <a:r>
              <a:rPr lang="el-GR" altLang="zh-CN" sz="2000" b="1" i="1">
                <a:latin typeface="Times New Roman"/>
                <a:cs typeface="Times New Roman"/>
              </a:rPr>
              <a:t>θ</a:t>
            </a:r>
            <a:r>
              <a:rPr lang="en-US" altLang="zh-CN" sz="2000" b="1" i="1">
                <a:latin typeface="Times New Roman"/>
                <a:cs typeface="Times New Roman"/>
              </a:rPr>
              <a:t> </a:t>
            </a:r>
            <a:r>
              <a:rPr lang="zh-CN" altLang="en-US" sz="2000" b="1">
                <a:latin typeface="Times New Roman"/>
                <a:cs typeface="Times New Roman"/>
              </a:rPr>
              <a:t>在</a:t>
            </a:r>
            <a:r>
              <a:rPr lang="en-US" altLang="zh-CN" sz="2000" b="1" i="1">
                <a:latin typeface="Times New Roman"/>
                <a:cs typeface="Times New Roman"/>
              </a:rPr>
              <a:t>A</a:t>
            </a:r>
            <a:r>
              <a:rPr lang="zh-CN" altLang="en-US" sz="2000" b="1">
                <a:latin typeface="Times New Roman"/>
                <a:cs typeface="Times New Roman"/>
              </a:rPr>
              <a:t>端产生的位移</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a:t>
            </a:r>
            <a:r>
              <a:rPr lang="zh-CN" altLang="en-US" sz="2000" b="1">
                <a:latin typeface="Times New Roman"/>
                <a:cs typeface="Times New Roman"/>
              </a:rPr>
              <a:t>为</a:t>
            </a:r>
            <a:endParaRPr lang="zh-CN" altLang="en-US" sz="2000" b="1" baseline="-25000">
              <a:latin typeface="Times New Roman" pitchFamily="18" charset="0"/>
              <a:cs typeface="Times New Roman" pitchFamily="18" charset="0"/>
            </a:endParaRPr>
          </a:p>
        </p:txBody>
      </p:sp>
      <p:grpSp>
        <p:nvGrpSpPr>
          <p:cNvPr id="8" name="组合 38"/>
          <p:cNvGrpSpPr/>
          <p:nvPr/>
        </p:nvGrpSpPr>
        <p:grpSpPr>
          <a:xfrm>
            <a:off x="3000364" y="4083817"/>
            <a:ext cx="3000396" cy="492443"/>
            <a:chOff x="2143108" y="5715016"/>
            <a:chExt cx="3000396" cy="492443"/>
          </a:xfrm>
        </p:grpSpPr>
        <p:sp>
          <p:nvSpPr>
            <p:cNvPr id="35" name="矩形 34"/>
            <p:cNvSpPr/>
            <p:nvPr/>
          </p:nvSpPr>
          <p:spPr>
            <a:xfrm>
              <a:off x="2143108" y="5715016"/>
              <a:ext cx="3000396" cy="492443"/>
            </a:xfrm>
            <a:prstGeom prst="rect">
              <a:avLst/>
            </a:prstGeom>
            <a:ln w="19050">
              <a:noFill/>
            </a:ln>
          </p:spPr>
          <p:txBody>
            <a:bodyPr wrap="square">
              <a:spAutoFit/>
            </a:bodyPr>
            <a:lstStyle/>
            <a:p>
              <a:pPr>
                <a:lnSpc>
                  <a:spcPct val="130000"/>
                </a:lnSpc>
              </a:pP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a:p>
          </p:txBody>
        </p:sp>
        <p:cxnSp>
          <p:nvCxnSpPr>
            <p:cNvPr id="36" name="直接连接符 35"/>
            <p:cNvCxnSpPr/>
            <p:nvPr/>
          </p:nvCxnSpPr>
          <p:spPr bwMode="auto">
            <a:xfrm>
              <a:off x="2917051"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36"/>
            <p:cNvCxnSpPr/>
            <p:nvPr/>
          </p:nvCxnSpPr>
          <p:spPr bwMode="auto">
            <a:xfrm>
              <a:off x="3500242"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4131497"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31" name="内容占位符 2"/>
          <p:cNvSpPr txBox="1">
            <a:spLocks/>
          </p:cNvSpPr>
          <p:nvPr/>
        </p:nvSpPr>
        <p:spPr bwMode="auto">
          <a:xfrm>
            <a:off x="464409" y="4500570"/>
            <a:ext cx="8207375" cy="517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1" indent="-342900" algn="l" defTabSz="914400" rtl="0" eaLnBrk="1" fontAlgn="base" latinLnBrk="0" hangingPunct="1">
              <a:lnSpc>
                <a:spcPct val="120000"/>
              </a:lnSpc>
              <a:spcBef>
                <a:spcPct val="20000"/>
              </a:spcBef>
              <a:spcAft>
                <a:spcPct val="0"/>
              </a:spcAft>
              <a:buClrTx/>
              <a:buSzTx/>
              <a:buFont typeface="Wingdings" pitchFamily="2" charset="2"/>
              <a:buChar char="n"/>
              <a:tabLst/>
              <a:defRPr/>
            </a:pPr>
            <a:r>
              <a:rPr kumimoji="0" lang="zh-CN" altLang="en-US" sz="2400" b="1" i="0" u="none" strike="noStrike" kern="0" cap="none" spc="0" normalizeH="0" baseline="0" noProof="0">
                <a:ln>
                  <a:noFill/>
                </a:ln>
                <a:solidFill>
                  <a:srgbClr val="C00000"/>
                </a:solidFill>
                <a:effectLst/>
                <a:uLnTx/>
                <a:uFillTx/>
                <a:latin typeface="+mn-lt"/>
                <a:ea typeface="+mn-ea"/>
              </a:rPr>
              <a:t>结构位移计算的一般公式</a:t>
            </a:r>
            <a:endParaRPr kumimoji="0" lang="en-US" altLang="zh-CN" sz="2400" b="1" i="0" u="none" strike="noStrike" kern="0" cap="none" spc="0" normalizeH="0" baseline="0" noProof="0">
              <a:ln>
                <a:noFill/>
              </a:ln>
              <a:solidFill>
                <a:srgbClr val="C00000"/>
              </a:solidFill>
              <a:effectLst/>
              <a:uLnTx/>
              <a:uFillTx/>
              <a:latin typeface="+mn-lt"/>
              <a:ea typeface="+mn-ea"/>
            </a:endParaRPr>
          </a:p>
        </p:txBody>
      </p:sp>
      <p:sp>
        <p:nvSpPr>
          <p:cNvPr id="34" name="Rectangle 6"/>
          <p:cNvSpPr>
            <a:spLocks noChangeArrowheads="1"/>
          </p:cNvSpPr>
          <p:nvPr/>
        </p:nvSpPr>
        <p:spPr bwMode="auto">
          <a:xfrm>
            <a:off x="464220" y="4933925"/>
            <a:ext cx="7751117"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叠加法：总位移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是微元段变形引起的微小位移</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之叠加；</a:t>
            </a:r>
            <a:endParaRPr lang="en-US" altLang="zh-CN" sz="2000" b="1">
              <a:latin typeface="Times New Roman" pitchFamily="18" charset="0"/>
              <a:cs typeface="Times New Roman" pitchFamily="18" charset="0"/>
            </a:endParaRPr>
          </a:p>
        </p:txBody>
      </p:sp>
      <p:grpSp>
        <p:nvGrpSpPr>
          <p:cNvPr id="39" name="组合 38"/>
          <p:cNvGrpSpPr/>
          <p:nvPr/>
        </p:nvGrpSpPr>
        <p:grpSpPr>
          <a:xfrm>
            <a:off x="2809800" y="5506086"/>
            <a:ext cx="3571900" cy="492443"/>
            <a:chOff x="2143108" y="5715016"/>
            <a:chExt cx="3571900" cy="492443"/>
          </a:xfrm>
        </p:grpSpPr>
        <p:sp>
          <p:nvSpPr>
            <p:cNvPr id="40" name="矩形 39"/>
            <p:cNvSpPr/>
            <p:nvPr/>
          </p:nvSpPr>
          <p:spPr>
            <a:xfrm>
              <a:off x="2143108" y="5715016"/>
              <a:ext cx="3571900" cy="492443"/>
            </a:xfrm>
            <a:prstGeom prst="rect">
              <a:avLst/>
            </a:prstGeom>
            <a:ln w="19050">
              <a:solidFill>
                <a:srgbClr val="C00000"/>
              </a:solidFill>
            </a:ln>
          </p:spPr>
          <p:txBody>
            <a:bodyPr wrap="square">
              <a:spAutoFit/>
            </a:bodyPr>
            <a:lstStyle/>
            <a:p>
              <a:pPr>
                <a:lnSpc>
                  <a:spcPct val="130000"/>
                </a:lnSpc>
              </a:pP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mj-lt"/>
                  <a:cs typeface="Times New Roman" pitchFamily="18" charset="0"/>
                </a:rPr>
                <a:t>∫</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a:p>
          </p:txBody>
        </p:sp>
        <p:cxnSp>
          <p:nvCxnSpPr>
            <p:cNvPr id="41" name="直接连接符 40"/>
            <p:cNvCxnSpPr/>
            <p:nvPr/>
          </p:nvCxnSpPr>
          <p:spPr bwMode="auto">
            <a:xfrm>
              <a:off x="346480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a:off x="4047996"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p:nvPr/>
          </p:nvCxnSpPr>
          <p:spPr bwMode="auto">
            <a:xfrm>
              <a:off x="4679251"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4">
                                            <p:txEl>
                                              <p:pRg st="0" end="0"/>
                                            </p:txEl>
                                          </p:spTgt>
                                        </p:tgtEl>
                                        <p:attrNameLst>
                                          <p:attrName>style.visibility</p:attrName>
                                        </p:attrNameLst>
                                      </p:cBhvr>
                                      <p:to>
                                        <p:strVal val="visible"/>
                                      </p:to>
                                    </p:set>
                                    <p:animEffect transition="in" filter="wipe(down)">
                                      <p:cBhvr>
                                        <p:cTn id="13"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4"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defRPr/>
            </a:pPr>
            <a:r>
              <a:rPr lang="zh-CN" altLang="en-US" sz="2400">
                <a:solidFill>
                  <a:srgbClr val="C00000"/>
                </a:solidFill>
              </a:rPr>
              <a:t>结构位移计算的一般公式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92" name="Rectangle 6"/>
          <p:cNvSpPr>
            <a:spLocks noChangeArrowheads="1"/>
          </p:cNvSpPr>
          <p:nvPr/>
        </p:nvSpPr>
        <p:spPr bwMode="auto">
          <a:xfrm>
            <a:off x="469540" y="1796794"/>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叠加法：总位移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是微元段变形引起的微小位移</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之叠加；</a:t>
            </a:r>
            <a:endParaRPr lang="en-US" altLang="zh-CN" sz="2000" b="1">
              <a:latin typeface="Times New Roman" pitchFamily="18" charset="0"/>
              <a:cs typeface="Times New Roman" pitchFamily="18" charset="0"/>
            </a:endParaRPr>
          </a:p>
        </p:txBody>
      </p:sp>
      <p:grpSp>
        <p:nvGrpSpPr>
          <p:cNvPr id="8" name="组合 38"/>
          <p:cNvGrpSpPr/>
          <p:nvPr/>
        </p:nvGrpSpPr>
        <p:grpSpPr>
          <a:xfrm>
            <a:off x="2809800" y="2143116"/>
            <a:ext cx="3571900" cy="492443"/>
            <a:chOff x="2143108" y="5715016"/>
            <a:chExt cx="3571900" cy="492443"/>
          </a:xfrm>
        </p:grpSpPr>
        <p:sp>
          <p:nvSpPr>
            <p:cNvPr id="40" name="矩形 39"/>
            <p:cNvSpPr/>
            <p:nvPr/>
          </p:nvSpPr>
          <p:spPr>
            <a:xfrm>
              <a:off x="2143108" y="5715016"/>
              <a:ext cx="3571900" cy="492443"/>
            </a:xfrm>
            <a:prstGeom prst="rect">
              <a:avLst/>
            </a:prstGeom>
            <a:ln w="19050">
              <a:noFill/>
            </a:ln>
          </p:spPr>
          <p:txBody>
            <a:bodyPr wrap="square">
              <a:spAutoFit/>
            </a:bodyPr>
            <a:lstStyle/>
            <a:p>
              <a:pPr>
                <a:lnSpc>
                  <a:spcPct val="130000"/>
                </a:lnSpc>
              </a:pP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mj-lt"/>
                  <a:cs typeface="Times New Roman" pitchFamily="18" charset="0"/>
                </a:rPr>
                <a:t>∫</a:t>
              </a:r>
              <a:r>
                <a:rPr lang="en-US" altLang="zh-CN" sz="2000" b="1">
                  <a:latin typeface="Times New Roman" pitchFamily="18" charset="0"/>
                  <a:cs typeface="Times New Roman" pitchFamily="18" charset="0"/>
                </a:rPr>
                <a:t>d</a:t>
              </a:r>
              <a:r>
                <a:rPr lang="el-GR" altLang="zh-CN" sz="2000" b="1" i="1">
                  <a:latin typeface="Times New Roman" pitchFamily="18" charset="0"/>
                  <a:cs typeface="Times New Roman" pitchFamily="18" charset="0"/>
                </a:rPr>
                <a:t>Δ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a:p>
          </p:txBody>
        </p:sp>
        <p:cxnSp>
          <p:nvCxnSpPr>
            <p:cNvPr id="41" name="直接连接符 40"/>
            <p:cNvCxnSpPr/>
            <p:nvPr/>
          </p:nvCxnSpPr>
          <p:spPr bwMode="auto">
            <a:xfrm>
              <a:off x="346480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a:off x="4047996"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p:nvPr/>
          </p:nvCxnSpPr>
          <p:spPr bwMode="auto">
            <a:xfrm>
              <a:off x="4679251"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30" name="Rectangle 6"/>
          <p:cNvSpPr>
            <a:spLocks noChangeArrowheads="1"/>
          </p:cNvSpPr>
          <p:nvPr/>
        </p:nvSpPr>
        <p:spPr bwMode="auto">
          <a:xfrm>
            <a:off x="464409" y="2631495"/>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多个杆件：每根杆件产生的位移效应的叠加</a:t>
            </a:r>
            <a:endParaRPr lang="en-US" altLang="zh-CN" sz="2000" b="1">
              <a:latin typeface="Times New Roman" pitchFamily="18" charset="0"/>
              <a:cs typeface="Times New Roman" pitchFamily="18" charset="0"/>
            </a:endParaRPr>
          </a:p>
        </p:txBody>
      </p:sp>
      <p:grpSp>
        <p:nvGrpSpPr>
          <p:cNvPr id="32" name="组合 38"/>
          <p:cNvGrpSpPr/>
          <p:nvPr/>
        </p:nvGrpSpPr>
        <p:grpSpPr>
          <a:xfrm>
            <a:off x="2809612" y="3000560"/>
            <a:ext cx="3571900" cy="492443"/>
            <a:chOff x="2143108" y="5715016"/>
            <a:chExt cx="3571900" cy="492443"/>
          </a:xfrm>
        </p:grpSpPr>
        <p:sp>
          <p:nvSpPr>
            <p:cNvPr id="33" name="矩形 32"/>
            <p:cNvSpPr/>
            <p:nvPr/>
          </p:nvSpPr>
          <p:spPr>
            <a:xfrm>
              <a:off x="2143108" y="5715016"/>
              <a:ext cx="3571900" cy="492443"/>
            </a:xfrm>
            <a:prstGeom prst="rect">
              <a:avLst/>
            </a:prstGeom>
            <a:ln w="19050">
              <a:solidFill>
                <a:schemeClr val="bg1"/>
              </a:solidFill>
            </a:ln>
          </p:spPr>
          <p:txBody>
            <a:bodyPr wrap="square">
              <a:spAutoFit/>
            </a:bodyPr>
            <a:lstStyle/>
            <a:p>
              <a:pPr>
                <a:lnSpc>
                  <a:spcPct val="130000"/>
                </a:lnSpc>
              </a:pP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a:latin typeface="Times New Roman" pitchFamily="18" charset="0"/>
                  <a:cs typeface="Times New Roman" pitchFamily="18" charset="0"/>
                </a:rPr>
                <a:t> </a:t>
              </a:r>
              <a:endParaRPr lang="zh-CN" altLang="en-US" sz="2000"/>
            </a:p>
          </p:txBody>
        </p:sp>
        <p:cxnSp>
          <p:nvCxnSpPr>
            <p:cNvPr id="39" name="直接连接符 38"/>
            <p:cNvCxnSpPr/>
            <p:nvPr/>
          </p:nvCxnSpPr>
          <p:spPr bwMode="auto">
            <a:xfrm>
              <a:off x="3119678"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p:nvPr/>
          </p:nvCxnSpPr>
          <p:spPr bwMode="auto">
            <a:xfrm>
              <a:off x="370286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p:nvPr/>
          </p:nvCxnSpPr>
          <p:spPr bwMode="auto">
            <a:xfrm>
              <a:off x="4334124"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6" name="Rectangle 6"/>
          <p:cNvSpPr>
            <a:spLocks noChangeArrowheads="1"/>
          </p:cNvSpPr>
          <p:nvPr/>
        </p:nvSpPr>
        <p:spPr bwMode="auto">
          <a:xfrm>
            <a:off x="469540" y="3488751"/>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变形</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支座位移：叠加法</a:t>
            </a:r>
            <a:endParaRPr lang="en-US" altLang="zh-CN" sz="2000" b="1">
              <a:latin typeface="Times New Roman" pitchFamily="18" charset="0"/>
              <a:cs typeface="Times New Roman" pitchFamily="18" charset="0"/>
            </a:endParaRPr>
          </a:p>
        </p:txBody>
      </p:sp>
      <p:grpSp>
        <p:nvGrpSpPr>
          <p:cNvPr id="49" name="组合 48"/>
          <p:cNvGrpSpPr/>
          <p:nvPr/>
        </p:nvGrpSpPr>
        <p:grpSpPr>
          <a:xfrm>
            <a:off x="4616902" y="3517269"/>
            <a:ext cx="4027064" cy="400110"/>
            <a:chOff x="4786314" y="3786190"/>
            <a:chExt cx="4027064" cy="400110"/>
          </a:xfrm>
        </p:grpSpPr>
        <p:sp>
          <p:nvSpPr>
            <p:cNvPr id="47" name="矩形 46"/>
            <p:cNvSpPr/>
            <p:nvPr/>
          </p:nvSpPr>
          <p:spPr>
            <a:xfrm>
              <a:off x="4786314" y="3786190"/>
              <a:ext cx="4027064" cy="400110"/>
            </a:xfrm>
            <a:prstGeom prst="rect">
              <a:avLst/>
            </a:prstGeom>
          </p:spPr>
          <p:txBody>
            <a:bodyPr wrap="none">
              <a:spAutoFit/>
            </a:bodyPr>
            <a:lstStyle/>
            <a:p>
              <a:r>
                <a:rPr lang="en-US" altLang="zh-CN" sz="2000" b="1" i="1">
                  <a:solidFill>
                    <a:srgbClr val="000000"/>
                  </a:solidFill>
                  <a:latin typeface="Times New Roman" pitchFamily="18" charset="0"/>
                  <a:cs typeface="Times New Roman" pitchFamily="18" charset="0"/>
                </a:rPr>
                <a:t> </a:t>
              </a:r>
              <a:r>
                <a:rPr lang="zh-CN" altLang="en-US" sz="2000" b="1">
                  <a:solidFill>
                    <a:srgbClr val="0033CC"/>
                  </a:solidFill>
                  <a:latin typeface="Times New Roman" pitchFamily="18" charset="0"/>
                  <a:cs typeface="Times New Roman" pitchFamily="18" charset="0"/>
                </a:rPr>
                <a:t>支座位移产生的位移</a:t>
              </a:r>
              <a:r>
                <a:rPr lang="el-GR" altLang="zh-CN" sz="2000" b="1" i="1">
                  <a:solidFill>
                    <a:srgbClr val="0033CC"/>
                  </a:solidFill>
                  <a:latin typeface="Times New Roman" pitchFamily="18" charset="0"/>
                  <a:cs typeface="Times New Roman" pitchFamily="18" charset="0"/>
                </a:rPr>
                <a:t>Δ</a:t>
              </a:r>
              <a:r>
                <a:rPr lang="en-US" altLang="zh-CN" sz="2000" b="1" i="1">
                  <a:solidFill>
                    <a:srgbClr val="0033CC"/>
                  </a:solidFill>
                  <a:latin typeface="Times New Roman" pitchFamily="18" charset="0"/>
                  <a:cs typeface="Times New Roman" pitchFamily="18" charset="0"/>
                </a:rPr>
                <a:t>=</a:t>
              </a:r>
              <a:r>
                <a:rPr lang="en-US" altLang="zh-CN" sz="2000" b="1" i="1">
                  <a:solidFill>
                    <a:srgbClr val="0033CC"/>
                  </a:solidFill>
                  <a:latin typeface="+mj-ea"/>
                  <a:ea typeface="+mj-ea"/>
                  <a:cs typeface="Times New Roman" pitchFamily="18" charset="0"/>
                </a:rPr>
                <a:t>- </a:t>
              </a:r>
              <a:r>
                <a:rPr lang="en-US" altLang="zh-CN" sz="2000" b="1">
                  <a:solidFill>
                    <a:srgbClr val="0033CC"/>
                  </a:solidFill>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F</a:t>
              </a:r>
              <a:r>
                <a:rPr lang="en-US" altLang="zh-CN" sz="2000" b="1" baseline="-25000">
                  <a:solidFill>
                    <a:srgbClr val="0033CC"/>
                  </a:solidFill>
                  <a:latin typeface="Times New Roman" pitchFamily="18" charset="0"/>
                  <a:cs typeface="Times New Roman" pitchFamily="18" charset="0"/>
                </a:rPr>
                <a:t>R</a:t>
              </a:r>
              <a:r>
                <a:rPr lang="en-US" altLang="zh-CN" sz="2000" b="1" i="1" baseline="-25000">
                  <a:solidFill>
                    <a:srgbClr val="0033CC"/>
                  </a:solidFill>
                  <a:latin typeface="Times New Roman" pitchFamily="18" charset="0"/>
                  <a:cs typeface="Times New Roman" pitchFamily="18" charset="0"/>
                </a:rPr>
                <a:t>K</a:t>
              </a:r>
              <a:r>
                <a:rPr lang="en-US" altLang="zh-CN" sz="2000" b="1">
                  <a:solidFill>
                    <a:srgbClr val="0033CC"/>
                  </a:solidFill>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c</a:t>
              </a:r>
              <a:r>
                <a:rPr lang="en-US" altLang="zh-CN" sz="2000" b="1" i="1" baseline="-25000">
                  <a:solidFill>
                    <a:srgbClr val="0033CC"/>
                  </a:solidFill>
                  <a:latin typeface="Times New Roman" pitchFamily="18" charset="0"/>
                  <a:cs typeface="Times New Roman" pitchFamily="18" charset="0"/>
                </a:rPr>
                <a:t>K</a:t>
              </a:r>
              <a:endParaRPr lang="zh-CN" altLang="en-US">
                <a:solidFill>
                  <a:srgbClr val="0033CC"/>
                </a:solidFill>
              </a:endParaRPr>
            </a:p>
          </p:txBody>
        </p:sp>
        <p:cxnSp>
          <p:nvCxnSpPr>
            <p:cNvPr id="48" name="直接连接符 47"/>
            <p:cNvCxnSpPr/>
            <p:nvPr/>
          </p:nvCxnSpPr>
          <p:spPr bwMode="auto">
            <a:xfrm>
              <a:off x="8001024" y="3857628"/>
              <a:ext cx="214314" cy="1588"/>
            </a:xfrm>
            <a:prstGeom prst="line">
              <a:avLst/>
            </a:prstGeom>
            <a:solidFill>
              <a:schemeClr val="accent1"/>
            </a:solidFill>
            <a:ln w="19050" cap="flat" cmpd="sng" algn="ctr">
              <a:solidFill>
                <a:srgbClr val="0033CC"/>
              </a:solidFill>
              <a:prstDash val="solid"/>
              <a:round/>
              <a:headEnd type="none" w="med" len="med"/>
              <a:tailEnd type="none" w="med" len="med"/>
            </a:ln>
            <a:effectLst/>
          </p:spPr>
        </p:cxnSp>
      </p:grpSp>
      <p:grpSp>
        <p:nvGrpSpPr>
          <p:cNvPr id="56" name="组合 55"/>
          <p:cNvGrpSpPr/>
          <p:nvPr/>
        </p:nvGrpSpPr>
        <p:grpSpPr>
          <a:xfrm>
            <a:off x="2297859" y="4012756"/>
            <a:ext cx="4560157" cy="492443"/>
            <a:chOff x="2797925" y="4238757"/>
            <a:chExt cx="4560157" cy="492443"/>
          </a:xfrm>
        </p:grpSpPr>
        <p:grpSp>
          <p:nvGrpSpPr>
            <p:cNvPr id="50" name="组合 38"/>
            <p:cNvGrpSpPr/>
            <p:nvPr/>
          </p:nvGrpSpPr>
          <p:grpSpPr>
            <a:xfrm>
              <a:off x="2797925" y="4238757"/>
              <a:ext cx="4560157" cy="492443"/>
              <a:chOff x="2143108" y="5715015"/>
              <a:chExt cx="4560157" cy="484936"/>
            </a:xfrm>
          </p:grpSpPr>
          <p:sp>
            <p:nvSpPr>
              <p:cNvPr id="51" name="矩形 50"/>
              <p:cNvSpPr/>
              <p:nvPr/>
            </p:nvSpPr>
            <p:spPr>
              <a:xfrm>
                <a:off x="2143108" y="5715015"/>
                <a:ext cx="4560157" cy="484936"/>
              </a:xfrm>
              <a:prstGeom prst="rect">
                <a:avLst/>
              </a:prstGeom>
              <a:ln w="19050">
                <a:solidFill>
                  <a:srgbClr val="C00000"/>
                </a:solid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52" name="直接连接符 51"/>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5" name="直接连接符 54"/>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59" name="组合 58"/>
          <p:cNvGrpSpPr/>
          <p:nvPr/>
        </p:nvGrpSpPr>
        <p:grpSpPr>
          <a:xfrm>
            <a:off x="1285852" y="4619884"/>
            <a:ext cx="5929354" cy="400110"/>
            <a:chOff x="1285852" y="4857760"/>
            <a:chExt cx="5929354" cy="400110"/>
          </a:xfrm>
        </p:grpSpPr>
        <p:sp>
          <p:nvSpPr>
            <p:cNvPr id="57" name="TextBox 56"/>
            <p:cNvSpPr txBox="1"/>
            <p:nvPr/>
          </p:nvSpPr>
          <p:spPr>
            <a:xfrm>
              <a:off x="1285852" y="4857760"/>
              <a:ext cx="5929354" cy="400110"/>
            </a:xfrm>
            <a:prstGeom prst="rect">
              <a:avLst/>
            </a:prstGeom>
            <a:noFill/>
            <a:ln w="28575">
              <a:noFill/>
            </a:ln>
          </p:spPr>
          <p:txBody>
            <a:bodyPr wrap="square" rtlCol="0">
              <a:spAutoFit/>
            </a:bodyPr>
            <a:lstStyle/>
            <a:p>
              <a:r>
                <a:rPr lang="zh-CN" altLang="en-US" sz="2000" b="1"/>
                <a:t>其中，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κ</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cs typeface="Times New Roman" pitchFamily="18" charset="0"/>
                </a:rPr>
                <a:t> </a:t>
              </a:r>
              <a:r>
                <a:rPr lang="en-US" altLang="zh-CN" sz="2000" b="1">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baseline="-2500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  — </a:t>
              </a:r>
              <a:r>
                <a:rPr lang="zh-CN" altLang="en-US" sz="2000" b="1">
                  <a:latin typeface="Times New Roman"/>
                  <a:cs typeface="Times New Roman"/>
                </a:rPr>
                <a:t>弯曲变形 </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zh-CN" altLang="en-US" sz="2000" b="1">
                  <a:latin typeface="Times New Roman"/>
                  <a:cs typeface="Times New Roman"/>
                </a:rPr>
                <a:t>对位移的影响；</a:t>
              </a:r>
              <a:r>
                <a:rPr lang="zh-CN" altLang="en-US" sz="2000" b="1"/>
                <a:t> </a:t>
              </a:r>
            </a:p>
          </p:txBody>
        </p:sp>
        <p:cxnSp>
          <p:nvCxnSpPr>
            <p:cNvPr id="58" name="直接连接符 57"/>
            <p:cNvCxnSpPr/>
            <p:nvPr/>
          </p:nvCxnSpPr>
          <p:spPr bwMode="auto">
            <a:xfrm>
              <a:off x="3036177" y="4927585"/>
              <a:ext cx="214314" cy="1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60" name="组合 59"/>
          <p:cNvGrpSpPr/>
          <p:nvPr/>
        </p:nvGrpSpPr>
        <p:grpSpPr>
          <a:xfrm>
            <a:off x="2071670" y="5048700"/>
            <a:ext cx="5786478" cy="400110"/>
            <a:chOff x="1285852" y="4857760"/>
            <a:chExt cx="5929354" cy="400110"/>
          </a:xfrm>
        </p:grpSpPr>
        <p:sp>
          <p:nvSpPr>
            <p:cNvPr id="61" name="TextBox 60"/>
            <p:cNvSpPr txBox="1"/>
            <p:nvPr/>
          </p:nvSpPr>
          <p:spPr>
            <a:xfrm>
              <a:off x="1285852" y="4857760"/>
              <a:ext cx="5929354" cy="400110"/>
            </a:xfrm>
            <a:prstGeom prst="rect">
              <a:avLst/>
            </a:prstGeom>
            <a:noFill/>
            <a:ln w="28575">
              <a:noFill/>
            </a:ln>
          </p:spPr>
          <p:txBody>
            <a:bodyPr wrap="square" rtlCol="0">
              <a:spAutoFit/>
            </a:bodyPr>
            <a:lstStyle/>
            <a:p>
              <a:r>
                <a:rPr lang="zh-CN" altLang="en-US" sz="2000" b="1"/>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ε</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cs typeface="Times New Roman" pitchFamily="18" charset="0"/>
                </a:rPr>
                <a:t> </a:t>
              </a:r>
              <a:r>
                <a:rPr lang="en-US" altLang="zh-CN" sz="2000" b="1">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baseline="-2500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baseline="-25000">
                  <a:latin typeface="Times New Roman"/>
                  <a:cs typeface="Times New Roman"/>
                </a:rPr>
                <a:t>  </a:t>
              </a:r>
              <a:r>
                <a:rPr lang="en-US" altLang="zh-CN" sz="2000" b="1" i="1">
                  <a:latin typeface="Times New Roman"/>
                  <a:cs typeface="Times New Roman"/>
                </a:rPr>
                <a:t>— </a:t>
              </a:r>
              <a:r>
                <a:rPr lang="zh-CN" altLang="en-US" sz="2000" b="1">
                  <a:latin typeface="Times New Roman"/>
                  <a:cs typeface="Times New Roman"/>
                </a:rPr>
                <a:t>轴向变形 </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zh-CN" altLang="en-US" sz="2000" b="1">
                  <a:latin typeface="Times New Roman"/>
                  <a:cs typeface="Times New Roman"/>
                </a:rPr>
                <a:t>对位移的影响；</a:t>
              </a:r>
              <a:r>
                <a:rPr lang="zh-CN" altLang="en-US" sz="2000" b="1"/>
                <a:t> </a:t>
              </a:r>
            </a:p>
          </p:txBody>
        </p:sp>
        <p:cxnSp>
          <p:nvCxnSpPr>
            <p:cNvPr id="63" name="直接连接符 62"/>
            <p:cNvCxnSpPr/>
            <p:nvPr/>
          </p:nvCxnSpPr>
          <p:spPr bwMode="auto">
            <a:xfrm>
              <a:off x="2273815" y="4929198"/>
              <a:ext cx="214314" cy="1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65" name="组合 64"/>
          <p:cNvGrpSpPr/>
          <p:nvPr/>
        </p:nvGrpSpPr>
        <p:grpSpPr>
          <a:xfrm>
            <a:off x="2071670" y="5505846"/>
            <a:ext cx="5786478" cy="400110"/>
            <a:chOff x="1285852" y="4857760"/>
            <a:chExt cx="5929354" cy="400110"/>
          </a:xfrm>
        </p:grpSpPr>
        <p:sp>
          <p:nvSpPr>
            <p:cNvPr id="66" name="TextBox 65"/>
            <p:cNvSpPr txBox="1"/>
            <p:nvPr/>
          </p:nvSpPr>
          <p:spPr>
            <a:xfrm>
              <a:off x="1285852" y="4857760"/>
              <a:ext cx="5929354" cy="400110"/>
            </a:xfrm>
            <a:prstGeom prst="rect">
              <a:avLst/>
            </a:prstGeom>
            <a:noFill/>
            <a:ln w="28575">
              <a:noFill/>
            </a:ln>
          </p:spPr>
          <p:txBody>
            <a:bodyPr wrap="square" rtlCol="0">
              <a:spAutoFit/>
            </a:bodyPr>
            <a:lstStyle/>
            <a:p>
              <a:r>
                <a:rPr lang="zh-CN" altLang="en-US" sz="2000" b="1"/>
                <a:t> </a:t>
              </a:r>
              <a:r>
                <a:rPr lang="el-GR" altLang="zh-CN" sz="2000" b="1" i="1">
                  <a:latin typeface="Times New Roman" pitchFamily="18" charset="0"/>
                  <a:cs typeface="Times New Roman" pitchFamily="18" charset="0"/>
                </a:rPr>
                <a:t>Δ</a:t>
              </a:r>
              <a:r>
                <a:rPr lang="el-GR" altLang="zh-CN" sz="2000" b="1" i="1" baseline="-25000">
                  <a:latin typeface="Times New Roman"/>
                  <a:cs typeface="Times New Roman"/>
                </a:rPr>
                <a:t>γ</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a:latin typeface="Times New Roman"/>
                  <a:cs typeface="Times New Roman"/>
                </a:rPr>
                <a:t>d</a:t>
              </a:r>
              <a:r>
                <a:rPr lang="en-US" altLang="zh-CN" sz="2000" b="1" i="1">
                  <a:latin typeface="Times New Roman"/>
                  <a:cs typeface="Times New Roman"/>
                </a:rPr>
                <a:t>s — </a:t>
              </a:r>
              <a:r>
                <a:rPr lang="zh-CN" altLang="en-US" sz="2000" b="1">
                  <a:latin typeface="Times New Roman"/>
                  <a:cs typeface="Times New Roman"/>
                </a:rPr>
                <a:t>剪切变形</a:t>
              </a:r>
              <a:r>
                <a:rPr lang="el-GR" altLang="zh-CN" sz="2000" b="1" i="1">
                  <a:latin typeface="Times New Roman"/>
                  <a:cs typeface="Times New Roman"/>
                </a:rPr>
                <a:t>γ</a:t>
              </a:r>
              <a:r>
                <a:rPr lang="el-GR" altLang="zh-CN" sz="2000" b="1" baseline="-25000">
                  <a:latin typeface="Times New Roman"/>
                  <a:cs typeface="Times New Roman"/>
                </a:rPr>
                <a:t>0</a:t>
              </a:r>
              <a:r>
                <a:rPr lang="zh-CN" altLang="en-US" sz="2000" b="1">
                  <a:latin typeface="Times New Roman"/>
                  <a:cs typeface="Times New Roman"/>
                </a:rPr>
                <a:t>对位移的影响；</a:t>
              </a:r>
              <a:r>
                <a:rPr lang="zh-CN" altLang="en-US" sz="2000" b="1"/>
                <a:t> </a:t>
              </a:r>
            </a:p>
          </p:txBody>
        </p:sp>
        <p:cxnSp>
          <p:nvCxnSpPr>
            <p:cNvPr id="67" name="直接连接符 66"/>
            <p:cNvCxnSpPr/>
            <p:nvPr/>
          </p:nvCxnSpPr>
          <p:spPr bwMode="auto">
            <a:xfrm>
              <a:off x="2225143" y="4936305"/>
              <a:ext cx="214314" cy="1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74" name="组合 73"/>
          <p:cNvGrpSpPr/>
          <p:nvPr/>
        </p:nvGrpSpPr>
        <p:grpSpPr>
          <a:xfrm>
            <a:off x="2071670" y="5934286"/>
            <a:ext cx="5786478" cy="400110"/>
            <a:chOff x="1285852" y="4857760"/>
            <a:chExt cx="5929354" cy="400110"/>
          </a:xfrm>
        </p:grpSpPr>
        <p:sp>
          <p:nvSpPr>
            <p:cNvPr id="75" name="TextBox 74"/>
            <p:cNvSpPr txBox="1"/>
            <p:nvPr/>
          </p:nvSpPr>
          <p:spPr>
            <a:xfrm>
              <a:off x="1285852" y="4857760"/>
              <a:ext cx="5929354" cy="400110"/>
            </a:xfrm>
            <a:prstGeom prst="rect">
              <a:avLst/>
            </a:prstGeom>
            <a:noFill/>
            <a:ln w="28575">
              <a:noFill/>
            </a:ln>
          </p:spPr>
          <p:txBody>
            <a:bodyPr wrap="square" rtlCol="0">
              <a:spAutoFit/>
            </a:bodyPr>
            <a:lstStyle/>
            <a:p>
              <a:r>
                <a:rPr lang="zh-CN" altLang="en-US" sz="2000" b="1"/>
                <a:t> </a:t>
              </a:r>
              <a:r>
                <a:rPr lang="el-GR" altLang="zh-CN" sz="2000" b="1" i="1">
                  <a:latin typeface="Times New Roman" pitchFamily="18" charset="0"/>
                  <a:cs typeface="Times New Roman" pitchFamily="18" charset="0"/>
                </a:rPr>
                <a:t>Δ</a:t>
              </a:r>
              <a:r>
                <a:rPr lang="en-US" altLang="zh-CN" sz="2000" b="1" i="1" baseline="-25000">
                  <a:latin typeface="Times New Roman"/>
                  <a:cs typeface="Times New Roman"/>
                </a:rPr>
                <a:t>c</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r>
                <a:rPr lang="en-US" altLang="zh-CN" sz="2000" b="1" i="1">
                  <a:latin typeface="Times New Roman"/>
                  <a:cs typeface="Times New Roman"/>
                </a:rPr>
                <a:t>— </a:t>
              </a:r>
              <a:r>
                <a:rPr lang="zh-CN" altLang="en-US" sz="2000" b="1">
                  <a:latin typeface="Times New Roman"/>
                  <a:cs typeface="Times New Roman"/>
                </a:rPr>
                <a:t>支座位移</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zh-CN" altLang="en-US" sz="2000" b="1">
                  <a:latin typeface="Times New Roman"/>
                  <a:cs typeface="Times New Roman"/>
                </a:rPr>
                <a:t>对位移的影响；</a:t>
              </a:r>
              <a:r>
                <a:rPr lang="zh-CN" altLang="en-US" sz="2000" b="1"/>
                <a:t> </a:t>
              </a:r>
            </a:p>
          </p:txBody>
        </p:sp>
        <p:cxnSp>
          <p:nvCxnSpPr>
            <p:cNvPr id="76" name="直接连接符 75"/>
            <p:cNvCxnSpPr/>
            <p:nvPr/>
          </p:nvCxnSpPr>
          <p:spPr bwMode="auto">
            <a:xfrm>
              <a:off x="2164301" y="4936305"/>
              <a:ext cx="214314" cy="1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down)">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down)">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6">
                                            <p:txEl>
                                              <p:pRg st="0" end="0"/>
                                            </p:txEl>
                                          </p:spTgt>
                                        </p:tgtEl>
                                        <p:attrNameLst>
                                          <p:attrName>style.visibility</p:attrName>
                                        </p:attrNameLst>
                                      </p:cBhvr>
                                      <p:to>
                                        <p:strVal val="visible"/>
                                      </p:to>
                                    </p:set>
                                    <p:animEffect transition="in" filter="wipe(down)">
                                      <p:cBhvr>
                                        <p:cTn id="17" dur="500"/>
                                        <p:tgtEl>
                                          <p:spTgt spid="4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500" fill="hold"/>
                                        <p:tgtEl>
                                          <p:spTgt spid="49"/>
                                        </p:tgtEl>
                                        <p:attrNameLst>
                                          <p:attrName>ppt_x</p:attrName>
                                        </p:attrNameLst>
                                      </p:cBhvr>
                                      <p:tavLst>
                                        <p:tav tm="0">
                                          <p:val>
                                            <p:strVal val="1+#ppt_w/2"/>
                                          </p:val>
                                        </p:tav>
                                        <p:tav tm="100000">
                                          <p:val>
                                            <p:strVal val="#ppt_x"/>
                                          </p:val>
                                        </p:tav>
                                      </p:tavLst>
                                    </p:anim>
                                    <p:anim calcmode="lin" valueType="num">
                                      <p:cBhvr additive="base">
                                        <p:cTn id="23"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 calcmode="lin" valueType="num">
                                      <p:cBhvr additive="base">
                                        <p:cTn id="28" dur="500" fill="hold"/>
                                        <p:tgtEl>
                                          <p:spTgt spid="56"/>
                                        </p:tgtEl>
                                        <p:attrNameLst>
                                          <p:attrName>ppt_x</p:attrName>
                                        </p:attrNameLst>
                                      </p:cBhvr>
                                      <p:tavLst>
                                        <p:tav tm="0">
                                          <p:val>
                                            <p:strVal val="#ppt_x"/>
                                          </p:val>
                                        </p:tav>
                                        <p:tav tm="100000">
                                          <p:val>
                                            <p:strVal val="#ppt_x"/>
                                          </p:val>
                                        </p:tav>
                                      </p:tavLst>
                                    </p:anim>
                                    <p:anim calcmode="lin" valueType="num">
                                      <p:cBhvr additive="base">
                                        <p:cTn id="29"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9"/>
                                        </p:tgtEl>
                                        <p:attrNameLst>
                                          <p:attrName>style.visibility</p:attrName>
                                        </p:attrNameLst>
                                      </p:cBhvr>
                                      <p:to>
                                        <p:strVal val="visible"/>
                                      </p:to>
                                    </p:set>
                                    <p:anim calcmode="lin" valueType="num">
                                      <p:cBhvr additive="base">
                                        <p:cTn id="34" dur="500" fill="hold"/>
                                        <p:tgtEl>
                                          <p:spTgt spid="59"/>
                                        </p:tgtEl>
                                        <p:attrNameLst>
                                          <p:attrName>ppt_x</p:attrName>
                                        </p:attrNameLst>
                                      </p:cBhvr>
                                      <p:tavLst>
                                        <p:tav tm="0">
                                          <p:val>
                                            <p:strVal val="#ppt_x"/>
                                          </p:val>
                                        </p:tav>
                                        <p:tav tm="100000">
                                          <p:val>
                                            <p:strVal val="#ppt_x"/>
                                          </p:val>
                                        </p:tav>
                                      </p:tavLst>
                                    </p:anim>
                                    <p:anim calcmode="lin" valueType="num">
                                      <p:cBhvr additive="base">
                                        <p:cTn id="35"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0"/>
                                        </p:tgtEl>
                                        <p:attrNameLst>
                                          <p:attrName>style.visibility</p:attrName>
                                        </p:attrNameLst>
                                      </p:cBhvr>
                                      <p:to>
                                        <p:strVal val="visible"/>
                                      </p:to>
                                    </p:set>
                                    <p:anim calcmode="lin" valueType="num">
                                      <p:cBhvr additive="base">
                                        <p:cTn id="40" dur="500" fill="hold"/>
                                        <p:tgtEl>
                                          <p:spTgt spid="60"/>
                                        </p:tgtEl>
                                        <p:attrNameLst>
                                          <p:attrName>ppt_x</p:attrName>
                                        </p:attrNameLst>
                                      </p:cBhvr>
                                      <p:tavLst>
                                        <p:tav tm="0">
                                          <p:val>
                                            <p:strVal val="#ppt_x"/>
                                          </p:val>
                                        </p:tav>
                                        <p:tav tm="100000">
                                          <p:val>
                                            <p:strVal val="#ppt_x"/>
                                          </p:val>
                                        </p:tav>
                                      </p:tavLst>
                                    </p:anim>
                                    <p:anim calcmode="lin" valueType="num">
                                      <p:cBhvr additive="base">
                                        <p:cTn id="41"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65"/>
                                        </p:tgtEl>
                                        <p:attrNameLst>
                                          <p:attrName>style.visibility</p:attrName>
                                        </p:attrNameLst>
                                      </p:cBhvr>
                                      <p:to>
                                        <p:strVal val="visible"/>
                                      </p:to>
                                    </p:set>
                                    <p:anim calcmode="lin" valueType="num">
                                      <p:cBhvr additive="base">
                                        <p:cTn id="46" dur="500" fill="hold"/>
                                        <p:tgtEl>
                                          <p:spTgt spid="65"/>
                                        </p:tgtEl>
                                        <p:attrNameLst>
                                          <p:attrName>ppt_x</p:attrName>
                                        </p:attrNameLst>
                                      </p:cBhvr>
                                      <p:tavLst>
                                        <p:tav tm="0">
                                          <p:val>
                                            <p:strVal val="#ppt_x"/>
                                          </p:val>
                                        </p:tav>
                                        <p:tav tm="100000">
                                          <p:val>
                                            <p:strVal val="#ppt_x"/>
                                          </p:val>
                                        </p:tav>
                                      </p:tavLst>
                                    </p:anim>
                                    <p:anim calcmode="lin" valueType="num">
                                      <p:cBhvr additive="base">
                                        <p:cTn id="47"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74"/>
                                        </p:tgtEl>
                                        <p:attrNameLst>
                                          <p:attrName>style.visibility</p:attrName>
                                        </p:attrNameLst>
                                      </p:cBhvr>
                                      <p:to>
                                        <p:strVal val="visible"/>
                                      </p:to>
                                    </p:set>
                                    <p:anim calcmode="lin" valueType="num">
                                      <p:cBhvr additive="base">
                                        <p:cTn id="52" dur="500" fill="hold"/>
                                        <p:tgtEl>
                                          <p:spTgt spid="74"/>
                                        </p:tgtEl>
                                        <p:attrNameLst>
                                          <p:attrName>ppt_x</p:attrName>
                                        </p:attrNameLst>
                                      </p:cBhvr>
                                      <p:tavLst>
                                        <p:tav tm="0">
                                          <p:val>
                                            <p:strVal val="#ppt_x"/>
                                          </p:val>
                                        </p:tav>
                                        <p:tav tm="100000">
                                          <p:val>
                                            <p:strVal val="#ppt_x"/>
                                          </p:val>
                                        </p:tav>
                                      </p:tavLst>
                                    </p:anim>
                                    <p:anim calcmode="lin" valueType="num">
                                      <p:cBhvr additive="base">
                                        <p:cTn id="53"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p:bldP spid="46"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defRPr/>
            </a:pPr>
            <a:r>
              <a:rPr lang="zh-CN" altLang="en-US" sz="2400">
                <a:solidFill>
                  <a:srgbClr val="C00000"/>
                </a:solidFill>
              </a:rPr>
              <a:t>结构位移计算的一般公式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571744"/>
            <a:ext cx="8245864" cy="1661993"/>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普遍性：</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zh-CN" altLang="en-US" sz="2000" b="1">
                <a:latin typeface="Times New Roman" pitchFamily="18" charset="0"/>
                <a:cs typeface="Times New Roman" pitchFamily="18" charset="0"/>
              </a:rPr>
              <a:t>     ⑴ 变形类型：覆盖了弯曲、拉伸、剪切变形的影响；</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变形因素：荷载引起的位移、温度或支座移动引起的位移；</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⑶ </a:t>
            </a:r>
            <a:r>
              <a:rPr lang="zh-CN" altLang="en-US" sz="2000" b="1">
                <a:latin typeface="Times New Roman" pitchFamily="18" charset="0"/>
                <a:cs typeface="Times New Roman" pitchFamily="18" charset="0"/>
              </a:rPr>
              <a:t>结构类型：适用于各类静结构；</a:t>
            </a:r>
            <a:r>
              <a:rPr lang="zh-CN" altLang="en-US" b="1">
                <a:solidFill>
                  <a:srgbClr val="0033CC"/>
                </a:solidFill>
                <a:latin typeface="Times New Roman" pitchFamily="18" charset="0"/>
                <a:cs typeface="Times New Roman" pitchFamily="18" charset="0"/>
              </a:rPr>
              <a:t>（也适用于超静定结构）</a:t>
            </a:r>
            <a:endParaRPr lang="en-US" altLang="zh-CN" b="1">
              <a:solidFill>
                <a:srgbClr val="0033CC"/>
              </a:solidFill>
              <a:latin typeface="Times New Roman" pitchFamily="18" charset="0"/>
              <a:cs typeface="Times New Roman" pitchFamily="18" charset="0"/>
            </a:endParaRPr>
          </a:p>
        </p:txBody>
      </p:sp>
      <p:grpSp>
        <p:nvGrpSpPr>
          <p:cNvPr id="7" name="组合 55"/>
          <p:cNvGrpSpPr/>
          <p:nvPr/>
        </p:nvGrpSpPr>
        <p:grpSpPr>
          <a:xfrm>
            <a:off x="2297859" y="2000240"/>
            <a:ext cx="4560157" cy="492443"/>
            <a:chOff x="2797925" y="4238757"/>
            <a:chExt cx="4560157" cy="492443"/>
          </a:xfrm>
        </p:grpSpPr>
        <p:grpSp>
          <p:nvGrpSpPr>
            <p:cNvPr id="8" name="组合 38"/>
            <p:cNvGrpSpPr/>
            <p:nvPr/>
          </p:nvGrpSpPr>
          <p:grpSpPr>
            <a:xfrm>
              <a:off x="2797925" y="4238757"/>
              <a:ext cx="4560157" cy="492443"/>
              <a:chOff x="2143108" y="5715015"/>
              <a:chExt cx="4560157" cy="484936"/>
            </a:xfrm>
          </p:grpSpPr>
          <p:sp>
            <p:nvSpPr>
              <p:cNvPr id="51" name="矩形 50"/>
              <p:cNvSpPr/>
              <p:nvPr/>
            </p:nvSpPr>
            <p:spPr>
              <a:xfrm>
                <a:off x="2143108" y="5715015"/>
                <a:ext cx="4560157" cy="484936"/>
              </a:xfrm>
              <a:prstGeom prst="rect">
                <a:avLst/>
              </a:prstGeom>
              <a:ln w="19050">
                <a:solidFill>
                  <a:srgbClr val="C00000"/>
                </a:solid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52" name="直接连接符 51"/>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5" name="直接连接符 54"/>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9" name="Rectangle 6"/>
          <p:cNvSpPr>
            <a:spLocks noChangeArrowheads="1"/>
          </p:cNvSpPr>
          <p:nvPr/>
        </p:nvSpPr>
        <p:spPr bwMode="auto">
          <a:xfrm>
            <a:off x="464221" y="4195899"/>
            <a:ext cx="824586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另一种形式：</a:t>
            </a:r>
            <a:endParaRPr lang="en-US" altLang="zh-CN" sz="2000" b="1">
              <a:latin typeface="Times New Roman" pitchFamily="18" charset="0"/>
              <a:cs typeface="Times New Roman" pitchFamily="18" charset="0"/>
            </a:endParaRPr>
          </a:p>
        </p:txBody>
      </p:sp>
      <p:grpSp>
        <p:nvGrpSpPr>
          <p:cNvPr id="50" name="组合 55"/>
          <p:cNvGrpSpPr/>
          <p:nvPr/>
        </p:nvGrpSpPr>
        <p:grpSpPr>
          <a:xfrm>
            <a:off x="2214546" y="4643446"/>
            <a:ext cx="5072098" cy="492443"/>
            <a:chOff x="2797925" y="4238757"/>
            <a:chExt cx="5072098" cy="492443"/>
          </a:xfrm>
        </p:grpSpPr>
        <p:grpSp>
          <p:nvGrpSpPr>
            <p:cNvPr id="56" name="组合 38"/>
            <p:cNvGrpSpPr/>
            <p:nvPr/>
          </p:nvGrpSpPr>
          <p:grpSpPr>
            <a:xfrm>
              <a:off x="2797925" y="4238757"/>
              <a:ext cx="5072098" cy="492443"/>
              <a:chOff x="2143108" y="5715015"/>
              <a:chExt cx="5072098" cy="484936"/>
            </a:xfrm>
          </p:grpSpPr>
          <p:sp>
            <p:nvSpPr>
              <p:cNvPr id="60" name="矩形 59"/>
              <p:cNvSpPr/>
              <p:nvPr/>
            </p:nvSpPr>
            <p:spPr>
              <a:xfrm>
                <a:off x="2143108" y="5715015"/>
                <a:ext cx="5072098" cy="484936"/>
              </a:xfrm>
              <a:prstGeom prst="rect">
                <a:avLst/>
              </a:prstGeom>
              <a:ln w="19050">
                <a:no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1 ·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endParaRPr lang="zh-CN" altLang="en-US" sz="2000"/>
              </a:p>
            </p:txBody>
          </p:sp>
          <p:cxnSp>
            <p:nvCxnSpPr>
              <p:cNvPr id="62" name="直接连接符 61"/>
              <p:cNvCxnSpPr/>
              <p:nvPr/>
            </p:nvCxnSpPr>
            <p:spPr bwMode="auto">
              <a:xfrm>
                <a:off x="4786314"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a:off x="536950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a:off x="600076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9" name="直接连接符 58"/>
            <p:cNvCxnSpPr/>
            <p:nvPr/>
          </p:nvCxnSpPr>
          <p:spPr bwMode="auto">
            <a:xfrm>
              <a:off x="3917183"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68" name="TextBox 67"/>
          <p:cNvSpPr txBox="1"/>
          <p:nvPr/>
        </p:nvSpPr>
        <p:spPr>
          <a:xfrm>
            <a:off x="1432586" y="5457782"/>
            <a:ext cx="1210588" cy="400110"/>
          </a:xfrm>
          <a:prstGeom prst="rect">
            <a:avLst/>
          </a:prstGeom>
          <a:noFill/>
          <a:ln w="28575">
            <a:noFill/>
          </a:ln>
        </p:spPr>
        <p:txBody>
          <a:bodyPr wrap="none" rtlCol="0">
            <a:spAutoFit/>
          </a:bodyPr>
          <a:lstStyle/>
          <a:p>
            <a:r>
              <a:rPr lang="zh-CN" altLang="en-US" sz="2000" b="1">
                <a:solidFill>
                  <a:srgbClr val="0033CC"/>
                </a:solidFill>
              </a:rPr>
              <a:t>外力虚功</a:t>
            </a:r>
          </a:p>
        </p:txBody>
      </p:sp>
      <p:grpSp>
        <p:nvGrpSpPr>
          <p:cNvPr id="71" name="组合 70"/>
          <p:cNvGrpSpPr/>
          <p:nvPr/>
        </p:nvGrpSpPr>
        <p:grpSpPr>
          <a:xfrm>
            <a:off x="3073710" y="5160155"/>
            <a:ext cx="426720" cy="697737"/>
            <a:chOff x="3143240" y="5083949"/>
            <a:chExt cx="426720" cy="697737"/>
          </a:xfrm>
        </p:grpSpPr>
        <p:sp>
          <p:nvSpPr>
            <p:cNvPr id="69" name="TextBox 68"/>
            <p:cNvSpPr txBox="1"/>
            <p:nvPr/>
          </p:nvSpPr>
          <p:spPr>
            <a:xfrm>
              <a:off x="3143240" y="5381576"/>
              <a:ext cx="426720"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W</a:t>
              </a:r>
              <a:endParaRPr lang="zh-CN" altLang="en-US" sz="2000" b="1" i="1">
                <a:latin typeface="Times New Roman" pitchFamily="18" charset="0"/>
                <a:cs typeface="Times New Roman" pitchFamily="18" charset="0"/>
              </a:endParaRPr>
            </a:p>
          </p:txBody>
        </p:sp>
        <p:sp>
          <p:nvSpPr>
            <p:cNvPr id="70" name="TextBox 69"/>
            <p:cNvSpPr txBox="1"/>
            <p:nvPr/>
          </p:nvSpPr>
          <p:spPr>
            <a:xfrm rot="16200000">
              <a:off x="3176422" y="5050767"/>
              <a:ext cx="333746" cy="400110"/>
            </a:xfrm>
            <a:prstGeom prst="rect">
              <a:avLst/>
            </a:prstGeom>
            <a:noFill/>
            <a:ln w="28575">
              <a:noFill/>
            </a:ln>
          </p:spPr>
          <p:txBody>
            <a:bodyPr wrap="none" rtlCol="0">
              <a:spAutoFit/>
            </a:bodyPr>
            <a:lstStyle/>
            <a:p>
              <a:r>
                <a:rPr lang="en-US" altLang="zh-CN" sz="2000" b="1"/>
                <a:t>=</a:t>
              </a:r>
              <a:endParaRPr lang="zh-CN" altLang="en-US" sz="2000" b="1"/>
            </a:p>
          </p:txBody>
        </p:sp>
      </p:grpSp>
      <p:sp>
        <p:nvSpPr>
          <p:cNvPr id="72" name="TextBox 71"/>
          <p:cNvSpPr txBox="1"/>
          <p:nvPr/>
        </p:nvSpPr>
        <p:spPr>
          <a:xfrm>
            <a:off x="6718998" y="5453014"/>
            <a:ext cx="1210588" cy="400110"/>
          </a:xfrm>
          <a:prstGeom prst="rect">
            <a:avLst/>
          </a:prstGeom>
          <a:noFill/>
          <a:ln w="28575">
            <a:noFill/>
          </a:ln>
        </p:spPr>
        <p:txBody>
          <a:bodyPr wrap="none" rtlCol="0">
            <a:spAutoFit/>
          </a:bodyPr>
          <a:lstStyle/>
          <a:p>
            <a:r>
              <a:rPr lang="zh-CN" altLang="en-US" sz="2000" b="1">
                <a:solidFill>
                  <a:srgbClr val="0033CC"/>
                </a:solidFill>
              </a:rPr>
              <a:t>内力虚功</a:t>
            </a:r>
          </a:p>
        </p:txBody>
      </p:sp>
      <p:grpSp>
        <p:nvGrpSpPr>
          <p:cNvPr id="73" name="组合 72"/>
          <p:cNvGrpSpPr/>
          <p:nvPr/>
        </p:nvGrpSpPr>
        <p:grpSpPr>
          <a:xfrm>
            <a:off x="5216850" y="5155387"/>
            <a:ext cx="460382" cy="697737"/>
            <a:chOff x="3143240" y="5083949"/>
            <a:chExt cx="460382" cy="697737"/>
          </a:xfrm>
        </p:grpSpPr>
        <p:sp>
          <p:nvSpPr>
            <p:cNvPr id="74" name="TextBox 73"/>
            <p:cNvSpPr txBox="1"/>
            <p:nvPr/>
          </p:nvSpPr>
          <p:spPr>
            <a:xfrm>
              <a:off x="3143240" y="5381576"/>
              <a:ext cx="460382"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i</a:t>
              </a:r>
              <a:endParaRPr lang="zh-CN" altLang="en-US" sz="2000" b="1" baseline="-25000">
                <a:latin typeface="Times New Roman" pitchFamily="18" charset="0"/>
                <a:cs typeface="Times New Roman" pitchFamily="18" charset="0"/>
              </a:endParaRPr>
            </a:p>
          </p:txBody>
        </p:sp>
        <p:sp>
          <p:nvSpPr>
            <p:cNvPr id="77" name="TextBox 76"/>
            <p:cNvSpPr txBox="1"/>
            <p:nvPr/>
          </p:nvSpPr>
          <p:spPr>
            <a:xfrm rot="16200000">
              <a:off x="3176422" y="5050767"/>
              <a:ext cx="333746" cy="400110"/>
            </a:xfrm>
            <a:prstGeom prst="rect">
              <a:avLst/>
            </a:prstGeom>
            <a:noFill/>
            <a:ln w="28575">
              <a:noFill/>
            </a:ln>
          </p:spPr>
          <p:txBody>
            <a:bodyPr wrap="none" rtlCol="0">
              <a:spAutoFit/>
            </a:bodyPr>
            <a:lstStyle/>
            <a:p>
              <a:r>
                <a:rPr lang="en-US" altLang="zh-CN" sz="2000" b="1"/>
                <a:t>=</a:t>
              </a:r>
              <a:endParaRPr lang="zh-CN" altLang="en-US" sz="2000" b="1"/>
            </a:p>
          </p:txBody>
        </p:sp>
      </p:grpSp>
      <p:grpSp>
        <p:nvGrpSpPr>
          <p:cNvPr id="80" name="组合 79"/>
          <p:cNvGrpSpPr/>
          <p:nvPr/>
        </p:nvGrpSpPr>
        <p:grpSpPr>
          <a:xfrm>
            <a:off x="3071802" y="5429452"/>
            <a:ext cx="2643206" cy="461665"/>
            <a:chOff x="3071802" y="5429452"/>
            <a:chExt cx="2643206" cy="461665"/>
          </a:xfrm>
        </p:grpSpPr>
        <p:sp>
          <p:nvSpPr>
            <p:cNvPr id="78" name="TextBox 77"/>
            <p:cNvSpPr txBox="1"/>
            <p:nvPr/>
          </p:nvSpPr>
          <p:spPr>
            <a:xfrm>
              <a:off x="4176554" y="5429452"/>
              <a:ext cx="364202" cy="461665"/>
            </a:xfrm>
            <a:prstGeom prst="rect">
              <a:avLst/>
            </a:prstGeom>
            <a:noFill/>
            <a:ln w="28575">
              <a:noFill/>
            </a:ln>
          </p:spPr>
          <p:txBody>
            <a:bodyPr wrap="none" rtlCol="0">
              <a:spAutoFit/>
            </a:bodyPr>
            <a:lstStyle/>
            <a:p>
              <a:r>
                <a:rPr lang="en-US" altLang="zh-CN" sz="2400" b="1">
                  <a:latin typeface="Times New Roman" pitchFamily="18" charset="0"/>
                  <a:cs typeface="Times New Roman" pitchFamily="18" charset="0"/>
                </a:rPr>
                <a:t>=</a:t>
              </a:r>
              <a:endParaRPr lang="zh-CN" altLang="en-US" sz="2400" b="1">
                <a:latin typeface="Times New Roman" pitchFamily="18" charset="0"/>
                <a:cs typeface="Times New Roman" pitchFamily="18" charset="0"/>
              </a:endParaRPr>
            </a:p>
          </p:txBody>
        </p:sp>
        <p:sp>
          <p:nvSpPr>
            <p:cNvPr id="79" name="矩形 78"/>
            <p:cNvSpPr/>
            <p:nvPr/>
          </p:nvSpPr>
          <p:spPr bwMode="auto">
            <a:xfrm>
              <a:off x="3071802" y="5441139"/>
              <a:ext cx="2643206" cy="428628"/>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sp>
        <p:nvSpPr>
          <p:cNvPr id="81" name="TextBox 80"/>
          <p:cNvSpPr txBox="1"/>
          <p:nvPr/>
        </p:nvSpPr>
        <p:spPr>
          <a:xfrm>
            <a:off x="3286116" y="5893705"/>
            <a:ext cx="2236510" cy="400110"/>
          </a:xfrm>
          <a:prstGeom prst="rect">
            <a:avLst/>
          </a:prstGeom>
          <a:noFill/>
          <a:ln w="28575">
            <a:noFill/>
          </a:ln>
        </p:spPr>
        <p:txBody>
          <a:bodyPr wrap="none" rtlCol="0">
            <a:spAutoFit/>
          </a:bodyPr>
          <a:lstStyle/>
          <a:p>
            <a:r>
              <a:rPr lang="zh-CN" altLang="en-US" sz="2000" b="1">
                <a:solidFill>
                  <a:srgbClr val="C00000"/>
                </a:solidFill>
              </a:rPr>
              <a:t>变形体的虚力方程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wipe(down)">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6">
                                            <p:txEl>
                                              <p:pRg st="2" end="2"/>
                                            </p:txEl>
                                          </p:spTgt>
                                        </p:tgtEl>
                                        <p:attrNameLst>
                                          <p:attrName>style.visibility</p:attrName>
                                        </p:attrNameLst>
                                      </p:cBhvr>
                                      <p:to>
                                        <p:strVal val="visible"/>
                                      </p:to>
                                    </p:set>
                                    <p:animEffect transition="in" filter="wipe(down)">
                                      <p:cBhvr>
                                        <p:cTn id="17" dur="500"/>
                                        <p:tgtEl>
                                          <p:spTgt spid="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6">
                                            <p:txEl>
                                              <p:pRg st="3" end="3"/>
                                            </p:txEl>
                                          </p:spTgt>
                                        </p:tgtEl>
                                        <p:attrNameLst>
                                          <p:attrName>style.visibility</p:attrName>
                                        </p:attrNameLst>
                                      </p:cBhvr>
                                      <p:to>
                                        <p:strVal val="visible"/>
                                      </p:to>
                                    </p:set>
                                    <p:animEffect transition="in" filter="wipe(down)">
                                      <p:cBhvr>
                                        <p:cTn id="22" dur="500"/>
                                        <p:tgtEl>
                                          <p:spTgt spid="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9">
                                            <p:txEl>
                                              <p:pRg st="0" end="0"/>
                                            </p:txEl>
                                          </p:spTgt>
                                        </p:tgtEl>
                                        <p:attrNameLst>
                                          <p:attrName>style.visibility</p:attrName>
                                        </p:attrNameLst>
                                      </p:cBhvr>
                                      <p:to>
                                        <p:strVal val="visible"/>
                                      </p:to>
                                    </p:set>
                                    <p:animEffect transition="in" filter="wipe(down)">
                                      <p:cBhvr>
                                        <p:cTn id="27" dur="500"/>
                                        <p:tgtEl>
                                          <p:spTgt spid="4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0"/>
                                        </p:tgtEl>
                                        <p:attrNameLst>
                                          <p:attrName>style.visibility</p:attrName>
                                        </p:attrNameLst>
                                      </p:cBhvr>
                                      <p:to>
                                        <p:strVal val="visible"/>
                                      </p:to>
                                    </p:set>
                                    <p:anim calcmode="lin" valueType="num">
                                      <p:cBhvr additive="base">
                                        <p:cTn id="32" dur="500" fill="hold"/>
                                        <p:tgtEl>
                                          <p:spTgt spid="50"/>
                                        </p:tgtEl>
                                        <p:attrNameLst>
                                          <p:attrName>ppt_x</p:attrName>
                                        </p:attrNameLst>
                                      </p:cBhvr>
                                      <p:tavLst>
                                        <p:tav tm="0">
                                          <p:val>
                                            <p:strVal val="#ppt_x"/>
                                          </p:val>
                                        </p:tav>
                                        <p:tav tm="100000">
                                          <p:val>
                                            <p:strVal val="#ppt_x"/>
                                          </p:val>
                                        </p:tav>
                                      </p:tavLst>
                                    </p:anim>
                                    <p:anim calcmode="lin" valueType="num">
                                      <p:cBhvr additive="base">
                                        <p:cTn id="33"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blinds(horizontal)">
                                      <p:cBhvr>
                                        <p:cTn id="38" dur="500"/>
                                        <p:tgtEl>
                                          <p:spTgt spid="6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
                                        </p:tgtEl>
                                        <p:attrNameLst>
                                          <p:attrName>style.visibility</p:attrName>
                                        </p:attrNameLst>
                                      </p:cBhvr>
                                      <p:to>
                                        <p:strVal val="visible"/>
                                      </p:to>
                                    </p:set>
                                    <p:anim calcmode="lin" valueType="num">
                                      <p:cBhvr additive="base">
                                        <p:cTn id="43" dur="500" fill="hold"/>
                                        <p:tgtEl>
                                          <p:spTgt spid="71"/>
                                        </p:tgtEl>
                                        <p:attrNameLst>
                                          <p:attrName>ppt_x</p:attrName>
                                        </p:attrNameLst>
                                      </p:cBhvr>
                                      <p:tavLst>
                                        <p:tav tm="0">
                                          <p:val>
                                            <p:strVal val="#ppt_x"/>
                                          </p:val>
                                        </p:tav>
                                        <p:tav tm="100000">
                                          <p:val>
                                            <p:strVal val="#ppt_x"/>
                                          </p:val>
                                        </p:tav>
                                      </p:tavLst>
                                    </p:anim>
                                    <p:anim calcmode="lin" valueType="num">
                                      <p:cBhvr additive="base">
                                        <p:cTn id="44"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blinds(horizontal)">
                                      <p:cBhvr>
                                        <p:cTn id="49" dur="500"/>
                                        <p:tgtEl>
                                          <p:spTgt spid="72"/>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73"/>
                                        </p:tgtEl>
                                        <p:attrNameLst>
                                          <p:attrName>style.visibility</p:attrName>
                                        </p:attrNameLst>
                                      </p:cBhvr>
                                      <p:to>
                                        <p:strVal val="visible"/>
                                      </p:to>
                                    </p:set>
                                    <p:anim calcmode="lin" valueType="num">
                                      <p:cBhvr additive="base">
                                        <p:cTn id="54" dur="500" fill="hold"/>
                                        <p:tgtEl>
                                          <p:spTgt spid="73"/>
                                        </p:tgtEl>
                                        <p:attrNameLst>
                                          <p:attrName>ppt_x</p:attrName>
                                        </p:attrNameLst>
                                      </p:cBhvr>
                                      <p:tavLst>
                                        <p:tav tm="0">
                                          <p:val>
                                            <p:strVal val="#ppt_x"/>
                                          </p:val>
                                        </p:tav>
                                        <p:tav tm="100000">
                                          <p:val>
                                            <p:strVal val="#ppt_x"/>
                                          </p:val>
                                        </p:tav>
                                      </p:tavLst>
                                    </p:anim>
                                    <p:anim calcmode="lin" valueType="num">
                                      <p:cBhvr additive="base">
                                        <p:cTn id="55"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 presetClass="entr" presetSubtype="32" fill="hold" nodeType="clickEffect">
                                  <p:stCondLst>
                                    <p:cond delay="0"/>
                                  </p:stCondLst>
                                  <p:childTnLst>
                                    <p:set>
                                      <p:cBhvr>
                                        <p:cTn id="59" dur="1" fill="hold">
                                          <p:stCondLst>
                                            <p:cond delay="0"/>
                                          </p:stCondLst>
                                        </p:cTn>
                                        <p:tgtEl>
                                          <p:spTgt spid="80"/>
                                        </p:tgtEl>
                                        <p:attrNameLst>
                                          <p:attrName>style.visibility</p:attrName>
                                        </p:attrNameLst>
                                      </p:cBhvr>
                                      <p:to>
                                        <p:strVal val="visible"/>
                                      </p:to>
                                    </p:set>
                                    <p:animEffect transition="in" filter="box(out)">
                                      <p:cBhvr>
                                        <p:cTn id="60" dur="500"/>
                                        <p:tgtEl>
                                          <p:spTgt spid="80"/>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81">
                                            <p:txEl>
                                              <p:pRg st="0" end="0"/>
                                            </p:txEl>
                                          </p:spTgt>
                                        </p:tgtEl>
                                        <p:attrNameLst>
                                          <p:attrName>style.visibility</p:attrName>
                                        </p:attrNameLst>
                                      </p:cBhvr>
                                      <p:to>
                                        <p:strVal val="visible"/>
                                      </p:to>
                                    </p:set>
                                    <p:animEffect transition="in" filter="fade">
                                      <p:cBhvr>
                                        <p:cTn id="64" dur="2000"/>
                                        <p:tgtEl>
                                          <p:spTgt spid="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allAtOnce"/>
      <p:bldP spid="49" grpId="0" build="allAtOnce"/>
      <p:bldP spid="68" grpId="0"/>
      <p:bldP spid="72" grpId="0"/>
      <p:bldP spid="81"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88951"/>
          </a:xfrm>
          <a:ln>
            <a:noFill/>
          </a:ln>
        </p:spPr>
        <p:txBody>
          <a:bodyPr/>
          <a:lstStyle/>
          <a:p>
            <a:pPr marL="342900" lvl="1" indent="-342900">
              <a:defRPr/>
            </a:pPr>
            <a:r>
              <a:rPr lang="zh-CN" altLang="en-US" sz="2400">
                <a:solidFill>
                  <a:srgbClr val="C00000"/>
                </a:solidFill>
              </a:rPr>
              <a:t>结构位移计算的一般公式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3" name="Rectangle 6"/>
          <p:cNvSpPr>
            <a:spLocks noChangeArrowheads="1"/>
          </p:cNvSpPr>
          <p:nvPr/>
        </p:nvSpPr>
        <p:spPr bwMode="auto">
          <a:xfrm>
            <a:off x="469540" y="1796794"/>
            <a:ext cx="5316906"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例：简支梁截面高</a:t>
            </a:r>
            <a:r>
              <a:rPr lang="en-US" altLang="zh-CN" sz="2000" b="1" i="1">
                <a:latin typeface="Times New Roman" pitchFamily="18" charset="0"/>
                <a:cs typeface="Times New Roman" pitchFamily="18" charset="0"/>
              </a:rPr>
              <a:t>h</a:t>
            </a:r>
            <a:r>
              <a:rPr lang="zh-CN" altLang="en-US"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受温度影响，上方膨胀率为</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1</a:t>
            </a:r>
            <a:r>
              <a:rPr lang="zh-CN" altLang="en-US" sz="2000" b="1">
                <a:latin typeface="Times New Roman" pitchFamily="18" charset="0"/>
                <a:cs typeface="Times New Roman" pitchFamily="18" charset="0"/>
              </a:rPr>
              <a:t>，下方膨胀率为</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2</a:t>
            </a:r>
            <a:r>
              <a:rPr lang="zh-CN" altLang="en-US" sz="2000" b="1">
                <a:latin typeface="Times New Roman" pitchFamily="18" charset="0"/>
                <a:cs typeface="Times New Roman" pitchFamily="18" charset="0"/>
              </a:rPr>
              <a:t> ，支座</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向上抬升</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，不考虑剪切变形和轴向变形的影响，求支座</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的转角</a:t>
            </a:r>
            <a:r>
              <a:rPr lang="el-GR" altLang="zh-CN" sz="2000" b="1" i="1">
                <a:latin typeface="Times New Roman"/>
                <a:cs typeface="Times New Roman"/>
              </a:rPr>
              <a:t>θ</a:t>
            </a:r>
            <a:r>
              <a:rPr lang="en-US" altLang="zh-CN" sz="2000" b="1" i="1" baseline="-25000">
                <a:latin typeface="Times New Roman"/>
                <a:cs typeface="Times New Roman"/>
              </a:rPr>
              <a:t>A</a:t>
            </a:r>
            <a:r>
              <a:rPr lang="zh-CN" altLang="en-US" sz="2000" b="1">
                <a:latin typeface="Times New Roman"/>
                <a:cs typeface="Times New Roman"/>
              </a:rPr>
              <a:t>；</a:t>
            </a:r>
            <a:endParaRPr lang="en-US" altLang="zh-CN" sz="2000" b="1" baseline="-25000">
              <a:latin typeface="Times New Roman" pitchFamily="18" charset="0"/>
              <a:cs typeface="Times New Roman" pitchFamily="18" charset="0"/>
            </a:endParaRPr>
          </a:p>
        </p:txBody>
      </p:sp>
      <p:grpSp>
        <p:nvGrpSpPr>
          <p:cNvPr id="85" name="组合 84"/>
          <p:cNvGrpSpPr/>
          <p:nvPr/>
        </p:nvGrpSpPr>
        <p:grpSpPr>
          <a:xfrm>
            <a:off x="5953072" y="1845489"/>
            <a:ext cx="3048052" cy="2512205"/>
            <a:chOff x="5953072" y="1845489"/>
            <a:chExt cx="3048052" cy="2512205"/>
          </a:xfrm>
        </p:grpSpPr>
        <p:grpSp>
          <p:nvGrpSpPr>
            <p:cNvPr id="73" name="组合 72"/>
            <p:cNvGrpSpPr/>
            <p:nvPr/>
          </p:nvGrpSpPr>
          <p:grpSpPr>
            <a:xfrm>
              <a:off x="5953072" y="1845489"/>
              <a:ext cx="3048052" cy="2512205"/>
              <a:chOff x="5953072" y="1845489"/>
              <a:chExt cx="3048052" cy="2512205"/>
            </a:xfrm>
          </p:grpSpPr>
          <p:sp>
            <p:nvSpPr>
              <p:cNvPr id="40" name="矩形 39"/>
              <p:cNvSpPr/>
              <p:nvPr/>
            </p:nvSpPr>
            <p:spPr bwMode="auto">
              <a:xfrm>
                <a:off x="7143768" y="3357562"/>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nvGrpSpPr>
              <p:cNvPr id="56" name="组合 55"/>
              <p:cNvGrpSpPr/>
              <p:nvPr/>
            </p:nvGrpSpPr>
            <p:grpSpPr>
              <a:xfrm>
                <a:off x="5953072" y="1845489"/>
                <a:ext cx="3048052" cy="1328864"/>
                <a:chOff x="5953072" y="1845489"/>
                <a:chExt cx="3048052" cy="1328864"/>
              </a:xfrm>
            </p:grpSpPr>
            <p:grpSp>
              <p:nvGrpSpPr>
                <p:cNvPr id="39" name="组合 38"/>
                <p:cNvGrpSpPr/>
                <p:nvPr/>
              </p:nvGrpSpPr>
              <p:grpSpPr>
                <a:xfrm>
                  <a:off x="5953072" y="1845489"/>
                  <a:ext cx="3048052" cy="1328864"/>
                  <a:chOff x="5953072" y="1845489"/>
                  <a:chExt cx="3048052" cy="1328864"/>
                </a:xfrm>
              </p:grpSpPr>
              <p:pic>
                <p:nvPicPr>
                  <p:cNvPr id="398338" name="Picture 2"/>
                  <p:cNvPicPr>
                    <a:picLocks noChangeAspect="1" noChangeArrowheads="1"/>
                  </p:cNvPicPr>
                  <p:nvPr/>
                </p:nvPicPr>
                <p:blipFill>
                  <a:blip r:embed="rId3"/>
                  <a:srcRect/>
                  <a:stretch>
                    <a:fillRect/>
                  </a:stretch>
                </p:blipFill>
                <p:spPr bwMode="auto">
                  <a:xfrm>
                    <a:off x="6072198" y="2357430"/>
                    <a:ext cx="2686069" cy="571504"/>
                  </a:xfrm>
                  <a:prstGeom prst="rect">
                    <a:avLst/>
                  </a:prstGeom>
                  <a:noFill/>
                  <a:ln w="9525">
                    <a:noFill/>
                    <a:miter lim="800000"/>
                    <a:headEnd/>
                    <a:tailEnd/>
                  </a:ln>
                  <a:effectLst/>
                </p:spPr>
              </p:pic>
              <p:sp>
                <p:nvSpPr>
                  <p:cNvPr id="35" name="TextBox 34"/>
                  <p:cNvSpPr txBox="1"/>
                  <p:nvPr/>
                </p:nvSpPr>
                <p:spPr>
                  <a:xfrm>
                    <a:off x="5953072" y="235743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36" name="TextBox 35"/>
                  <p:cNvSpPr txBox="1"/>
                  <p:nvPr/>
                </p:nvSpPr>
                <p:spPr>
                  <a:xfrm>
                    <a:off x="8585405" y="2393055"/>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37" name="弧形 36"/>
                  <p:cNvSpPr/>
                  <p:nvPr/>
                </p:nvSpPr>
                <p:spPr bwMode="auto">
                  <a:xfrm rot="21158728">
                    <a:off x="6000760" y="2259953"/>
                    <a:ext cx="3000364" cy="914400"/>
                  </a:xfrm>
                  <a:prstGeom prst="arc">
                    <a:avLst>
                      <a:gd name="adj1" fmla="val 11558353"/>
                      <a:gd name="adj2" fmla="val 20615276"/>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38" name="TextBox 37"/>
                  <p:cNvSpPr txBox="1"/>
                  <p:nvPr/>
                </p:nvSpPr>
                <p:spPr>
                  <a:xfrm>
                    <a:off x="8548590" y="1845489"/>
                    <a:ext cx="41549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r>
                      <a:rPr lang="en-US" altLang="zh-CN" b="1">
                        <a:latin typeface="Times New Roman" pitchFamily="18" charset="0"/>
                        <a:cs typeface="Times New Roman" pitchFamily="18" charset="0"/>
                      </a:rPr>
                      <a:t>’</a:t>
                    </a:r>
                    <a:endParaRPr lang="zh-CN" altLang="en-US" b="1">
                      <a:latin typeface="Times New Roman" pitchFamily="18" charset="0"/>
                      <a:cs typeface="Times New Roman" pitchFamily="18" charset="0"/>
                    </a:endParaRPr>
                  </a:p>
                </p:txBody>
              </p:sp>
            </p:grpSp>
            <p:cxnSp>
              <p:nvCxnSpPr>
                <p:cNvPr id="42" name="直接连接符 41"/>
                <p:cNvCxnSpPr/>
                <p:nvPr/>
              </p:nvCxnSpPr>
              <p:spPr bwMode="auto">
                <a:xfrm>
                  <a:off x="8417589" y="226046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箭头连接符 43"/>
                <p:cNvCxnSpPr/>
                <p:nvPr/>
              </p:nvCxnSpPr>
              <p:spPr bwMode="auto">
                <a:xfrm rot="5400000" flipH="1" flipV="1">
                  <a:off x="8369572" y="2429385"/>
                  <a:ext cx="360000" cy="1588"/>
                </a:xfrm>
                <a:prstGeom prst="straightConnector1">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45" name="TextBox 44"/>
                <p:cNvSpPr txBox="1"/>
                <p:nvPr/>
              </p:nvSpPr>
              <p:spPr>
                <a:xfrm>
                  <a:off x="8215338" y="2214554"/>
                  <a:ext cx="344966" cy="400110"/>
                </a:xfrm>
                <a:prstGeom prst="rect">
                  <a:avLst/>
                </a:prstGeom>
                <a:noFill/>
                <a:ln w="28575">
                  <a:noFill/>
                </a:ln>
              </p:spPr>
              <p:txBody>
                <a:bodyPr wrap="none" rtlCol="0">
                  <a:spAutoFit/>
                </a:bodyPr>
                <a:lstStyle/>
                <a:p>
                  <a:r>
                    <a:rPr lang="el-GR" altLang="zh-CN" sz="2000" b="1" i="1">
                      <a:latin typeface="Times New Roman" pitchFamily="18" charset="0"/>
                      <a:cs typeface="Times New Roman" pitchFamily="18" charset="0"/>
                    </a:rPr>
                    <a:t>Δ</a:t>
                  </a:r>
                  <a:endParaRPr lang="zh-CN" altLang="en-US" sz="2000" b="1" i="1">
                    <a:latin typeface="Times New Roman" pitchFamily="18" charset="0"/>
                    <a:cs typeface="Times New Roman" pitchFamily="18" charset="0"/>
                  </a:endParaRPr>
                </a:p>
              </p:txBody>
            </p:sp>
            <p:cxnSp>
              <p:nvCxnSpPr>
                <p:cNvPr id="48" name="直接连接符 47"/>
                <p:cNvCxnSpPr>
                  <a:cxnSpLocks noChangeAspect="1"/>
                </p:cNvCxnSpPr>
                <p:nvPr/>
              </p:nvCxnSpPr>
              <p:spPr bwMode="auto">
                <a:xfrm flipV="1">
                  <a:off x="6262763" y="2309742"/>
                  <a:ext cx="678661" cy="28575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TextBox 49"/>
                <p:cNvSpPr txBox="1"/>
                <p:nvPr/>
              </p:nvSpPr>
              <p:spPr>
                <a:xfrm>
                  <a:off x="6643702" y="2278885"/>
                  <a:ext cx="431528" cy="400110"/>
                </a:xfrm>
                <a:prstGeom prst="rect">
                  <a:avLst/>
                </a:prstGeom>
                <a:noFill/>
                <a:ln w="28575">
                  <a:noFill/>
                </a:ln>
              </p:spPr>
              <p:txBody>
                <a:bodyPr wrap="none" rtlCol="0">
                  <a:spAutoFit/>
                </a:bodyPr>
                <a:lstStyle/>
                <a:p>
                  <a:r>
                    <a:rPr lang="el-GR" altLang="zh-CN" sz="2000" b="1" i="1">
                      <a:latin typeface="Times New Roman"/>
                      <a:cs typeface="Times New Roman"/>
                    </a:rPr>
                    <a:t>θ</a:t>
                  </a:r>
                  <a:r>
                    <a:rPr lang="en-US" altLang="zh-CN" sz="2000" b="1" i="1" baseline="-25000">
                      <a:latin typeface="Times New Roman"/>
                      <a:cs typeface="Times New Roman"/>
                    </a:rPr>
                    <a:t>A</a:t>
                  </a:r>
                  <a:endParaRPr lang="zh-CN" altLang="en-US" sz="2000" b="1" i="1" baseline="-25000"/>
                </a:p>
              </p:txBody>
            </p:sp>
          </p:grpSp>
          <p:cxnSp>
            <p:nvCxnSpPr>
              <p:cNvPr id="58" name="直接连接符 57"/>
              <p:cNvCxnSpPr/>
              <p:nvPr/>
            </p:nvCxnSpPr>
            <p:spPr bwMode="auto">
              <a:xfrm>
                <a:off x="8429652" y="3357562"/>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1" name="直接连接符 60"/>
              <p:cNvCxnSpPr/>
              <p:nvPr/>
            </p:nvCxnSpPr>
            <p:spPr bwMode="auto">
              <a:xfrm>
                <a:off x="8429652" y="434423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3" name="直接箭头连接符 62"/>
              <p:cNvCxnSpPr/>
              <p:nvPr/>
            </p:nvCxnSpPr>
            <p:spPr bwMode="auto">
              <a:xfrm rot="5400000" flipH="1" flipV="1">
                <a:off x="8031690" y="3856834"/>
                <a:ext cx="1000132" cy="1588"/>
              </a:xfrm>
              <a:prstGeom prst="straightConnector1">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71" name="TextBox 70"/>
              <p:cNvSpPr txBox="1"/>
              <p:nvPr/>
            </p:nvSpPr>
            <p:spPr>
              <a:xfrm>
                <a:off x="8531310" y="3606332"/>
                <a:ext cx="32733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grpSp>
        <p:cxnSp>
          <p:nvCxnSpPr>
            <p:cNvPr id="76" name="直接连接符 75"/>
            <p:cNvCxnSpPr/>
            <p:nvPr/>
          </p:nvCxnSpPr>
          <p:spPr bwMode="auto">
            <a:xfrm rot="5400000">
              <a:off x="7037405" y="303529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0" name="直接连接符 79"/>
            <p:cNvCxnSpPr/>
            <p:nvPr/>
          </p:nvCxnSpPr>
          <p:spPr bwMode="auto">
            <a:xfrm rot="5400000">
              <a:off x="7680347" y="303529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2" name="直接箭头连接符 81"/>
            <p:cNvCxnSpPr/>
            <p:nvPr/>
          </p:nvCxnSpPr>
          <p:spPr bwMode="auto">
            <a:xfrm rot="10800000">
              <a:off x="7145356" y="3034239"/>
              <a:ext cx="641354" cy="1588"/>
            </a:xfrm>
            <a:prstGeom prst="straightConnector1">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84" name="TextBox 83"/>
            <p:cNvSpPr txBox="1"/>
            <p:nvPr/>
          </p:nvSpPr>
          <p:spPr>
            <a:xfrm>
              <a:off x="7254685" y="2688338"/>
              <a:ext cx="426720" cy="400110"/>
            </a:xfrm>
            <a:prstGeom prst="rect">
              <a:avLst/>
            </a:prstGeom>
            <a:noFill/>
            <a:ln w="28575">
              <a:noFill/>
            </a:ln>
          </p:spPr>
          <p:txBody>
            <a:bodyPr wrap="none" rtlCol="0">
              <a:spAutoFit/>
            </a:bodyPr>
            <a:lstStyle/>
            <a:p>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endParaRPr lang="zh-CN" altLang="en-US" sz="2000" b="1" i="1">
                <a:latin typeface="Times New Roman" pitchFamily="18" charset="0"/>
                <a:cs typeface="Times New Roman" pitchFamily="18" charset="0"/>
              </a:endParaRPr>
            </a:p>
          </p:txBody>
        </p:sp>
      </p:grpSp>
      <p:sp>
        <p:nvSpPr>
          <p:cNvPr id="86" name="TextBox 85"/>
          <p:cNvSpPr txBox="1"/>
          <p:nvPr/>
        </p:nvSpPr>
        <p:spPr>
          <a:xfrm>
            <a:off x="1214414" y="3357562"/>
            <a:ext cx="4500594" cy="400110"/>
          </a:xfrm>
          <a:prstGeom prst="rect">
            <a:avLst/>
          </a:prstGeom>
          <a:noFill/>
          <a:ln w="28575">
            <a:noFill/>
          </a:ln>
        </p:spPr>
        <p:txBody>
          <a:bodyPr wrap="square" rtlCol="0">
            <a:spAutoFit/>
          </a:bodyPr>
          <a:lstStyle/>
          <a:p>
            <a:r>
              <a:rPr lang="zh-CN" altLang="en-US" sz="2000" b="1" dirty="0"/>
              <a:t>解： ⑴变形只考虑弯曲引起的转角；</a:t>
            </a:r>
          </a:p>
        </p:txBody>
      </p:sp>
      <p:grpSp>
        <p:nvGrpSpPr>
          <p:cNvPr id="100" name="组合 99"/>
          <p:cNvGrpSpPr/>
          <p:nvPr/>
        </p:nvGrpSpPr>
        <p:grpSpPr>
          <a:xfrm>
            <a:off x="5500694" y="2957452"/>
            <a:ext cx="2917669" cy="401698"/>
            <a:chOff x="5500694" y="2957452"/>
            <a:chExt cx="2917669" cy="401698"/>
          </a:xfrm>
        </p:grpSpPr>
        <p:cxnSp>
          <p:nvCxnSpPr>
            <p:cNvPr id="88" name="直接连接符 87"/>
            <p:cNvCxnSpPr/>
            <p:nvPr/>
          </p:nvCxnSpPr>
          <p:spPr bwMode="auto">
            <a:xfrm>
              <a:off x="6915633" y="3357562"/>
              <a:ext cx="114300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91" name="直接连接符 90"/>
            <p:cNvCxnSpPr/>
            <p:nvPr/>
          </p:nvCxnSpPr>
          <p:spPr bwMode="auto">
            <a:xfrm rot="5400000">
              <a:off x="6811802" y="3215744"/>
              <a:ext cx="214314" cy="1588"/>
            </a:xfrm>
            <a:prstGeom prst="line">
              <a:avLst/>
            </a:prstGeom>
            <a:solidFill>
              <a:schemeClr val="accent1"/>
            </a:solidFill>
            <a:ln w="19050" cap="flat" cmpd="sng" algn="ctr">
              <a:solidFill>
                <a:srgbClr val="0033CC"/>
              </a:solidFill>
              <a:prstDash val="solid"/>
              <a:round/>
              <a:headEnd type="none" w="med" len="med"/>
              <a:tailEnd type="none" w="med" len="med"/>
            </a:ln>
            <a:effectLst/>
          </p:spPr>
        </p:cxnSp>
        <p:cxnSp>
          <p:nvCxnSpPr>
            <p:cNvPr id="92" name="直接连接符 91"/>
            <p:cNvCxnSpPr/>
            <p:nvPr/>
          </p:nvCxnSpPr>
          <p:spPr bwMode="auto">
            <a:xfrm rot="5400000">
              <a:off x="7930644" y="3227033"/>
              <a:ext cx="214314" cy="1588"/>
            </a:xfrm>
            <a:prstGeom prst="line">
              <a:avLst/>
            </a:prstGeom>
            <a:solidFill>
              <a:schemeClr val="accent1"/>
            </a:solidFill>
            <a:ln w="19050" cap="flat" cmpd="sng" algn="ctr">
              <a:solidFill>
                <a:srgbClr val="0033CC"/>
              </a:solidFill>
              <a:prstDash val="solid"/>
              <a:round/>
              <a:headEnd type="none" w="med" len="med"/>
              <a:tailEnd type="none" w="med" len="med"/>
            </a:ln>
            <a:effectLst/>
          </p:spPr>
        </p:cxnSp>
        <p:cxnSp>
          <p:nvCxnSpPr>
            <p:cNvPr id="93" name="直接箭头连接符 92"/>
            <p:cNvCxnSpPr/>
            <p:nvPr/>
          </p:nvCxnSpPr>
          <p:spPr bwMode="auto">
            <a:xfrm rot="10800000">
              <a:off x="6906876" y="3214686"/>
              <a:ext cx="1143008" cy="1588"/>
            </a:xfrm>
            <a:prstGeom prst="straightConnector1">
              <a:avLst/>
            </a:prstGeom>
            <a:solidFill>
              <a:schemeClr val="accent1"/>
            </a:solidFill>
            <a:ln w="19050" cap="flat" cmpd="sng" algn="ctr">
              <a:solidFill>
                <a:srgbClr val="0033CC"/>
              </a:solidFill>
              <a:prstDash val="solid"/>
              <a:round/>
              <a:headEnd type="none" w="med" len="med"/>
              <a:tailEnd type="none" w="med" len="med"/>
            </a:ln>
            <a:effectLst/>
          </p:spPr>
        </p:cxnSp>
        <p:cxnSp>
          <p:nvCxnSpPr>
            <p:cNvPr id="96" name="直接连接符 95"/>
            <p:cNvCxnSpPr/>
            <p:nvPr/>
          </p:nvCxnSpPr>
          <p:spPr bwMode="auto">
            <a:xfrm>
              <a:off x="8049884" y="3214686"/>
              <a:ext cx="368479" cy="1588"/>
            </a:xfrm>
            <a:prstGeom prst="line">
              <a:avLst/>
            </a:prstGeom>
            <a:solidFill>
              <a:schemeClr val="accent1"/>
            </a:solidFill>
            <a:ln w="19050" cap="flat" cmpd="sng" algn="ctr">
              <a:solidFill>
                <a:srgbClr val="0033CC"/>
              </a:solidFill>
              <a:prstDash val="solid"/>
              <a:round/>
              <a:headEnd type="triangle" w="med" len="med"/>
              <a:tailEnd type="none" w="med" len="med"/>
            </a:ln>
            <a:effectLst/>
          </p:spPr>
        </p:cxnSp>
        <p:cxnSp>
          <p:nvCxnSpPr>
            <p:cNvPr id="98" name="直接连接符 97"/>
            <p:cNvCxnSpPr/>
            <p:nvPr/>
          </p:nvCxnSpPr>
          <p:spPr bwMode="auto">
            <a:xfrm>
              <a:off x="6560975" y="3214686"/>
              <a:ext cx="368479" cy="1588"/>
            </a:xfrm>
            <a:prstGeom prst="line">
              <a:avLst/>
            </a:prstGeom>
            <a:solidFill>
              <a:schemeClr val="accent1"/>
            </a:solidFill>
            <a:ln w="19050" cap="flat" cmpd="sng" algn="ctr">
              <a:solidFill>
                <a:srgbClr val="0033CC"/>
              </a:solidFill>
              <a:prstDash val="solid"/>
              <a:round/>
              <a:headEnd type="none" w="med" len="med"/>
              <a:tailEnd type="triangle" w="med" len="med"/>
            </a:ln>
            <a:effectLst/>
          </p:spPr>
        </p:cxnSp>
        <p:sp>
          <p:nvSpPr>
            <p:cNvPr id="99" name="TextBox 98"/>
            <p:cNvSpPr txBox="1"/>
            <p:nvPr/>
          </p:nvSpPr>
          <p:spPr>
            <a:xfrm>
              <a:off x="5500694" y="2957452"/>
              <a:ext cx="1061509" cy="400110"/>
            </a:xfrm>
            <a:prstGeom prst="rect">
              <a:avLst/>
            </a:prstGeom>
            <a:noFill/>
            <a:ln w="28575">
              <a:noFill/>
            </a:ln>
          </p:spPr>
          <p:txBody>
            <a:bodyPr wrap="none" rtlCol="0">
              <a:spAutoFit/>
            </a:bodyPr>
            <a:lstStyle/>
            <a:p>
              <a:r>
                <a:rPr lang="en-US" altLang="zh-CN" sz="2000" b="1">
                  <a:solidFill>
                    <a:srgbClr val="0033CC"/>
                  </a:solidFill>
                  <a:latin typeface="Times New Roman" pitchFamily="18" charset="0"/>
                  <a:cs typeface="Times New Roman" pitchFamily="18" charset="0"/>
                </a:rPr>
                <a:t>(1+</a:t>
              </a:r>
              <a:r>
                <a:rPr lang="el-GR" altLang="zh-CN" sz="2000" b="1" i="1">
                  <a:solidFill>
                    <a:srgbClr val="0033CC"/>
                  </a:solidFill>
                  <a:latin typeface="Times New Roman" pitchFamily="18" charset="0"/>
                  <a:cs typeface="Times New Roman" pitchFamily="18" charset="0"/>
                </a:rPr>
                <a:t>ε</a:t>
              </a:r>
              <a:r>
                <a:rPr lang="en-US" altLang="zh-CN" sz="2000" b="1" baseline="-25000">
                  <a:solidFill>
                    <a:srgbClr val="0033CC"/>
                  </a:solidFill>
                  <a:latin typeface="Times New Roman" pitchFamily="18" charset="0"/>
                  <a:cs typeface="Times New Roman" pitchFamily="18" charset="0"/>
                </a:rPr>
                <a:t>1</a:t>
              </a:r>
              <a:r>
                <a:rPr lang="en-US" altLang="zh-CN" sz="2000" b="1">
                  <a:solidFill>
                    <a:srgbClr val="0033CC"/>
                  </a:solidFill>
                  <a:latin typeface="Times New Roman" pitchFamily="18" charset="0"/>
                  <a:cs typeface="Times New Roman" pitchFamily="18" charset="0"/>
                </a:rPr>
                <a:t>)d</a:t>
              </a:r>
              <a:r>
                <a:rPr lang="en-US" altLang="zh-CN" sz="2000" b="1" i="1">
                  <a:solidFill>
                    <a:srgbClr val="0033CC"/>
                  </a:solidFill>
                  <a:latin typeface="Times New Roman" pitchFamily="18" charset="0"/>
                  <a:cs typeface="Times New Roman" pitchFamily="18" charset="0"/>
                </a:rPr>
                <a:t>s</a:t>
              </a:r>
              <a:endParaRPr lang="zh-CN" altLang="en-US" sz="2000" b="1" i="1">
                <a:solidFill>
                  <a:srgbClr val="0033CC"/>
                </a:solidFill>
                <a:latin typeface="Times New Roman" pitchFamily="18" charset="0"/>
                <a:cs typeface="Times New Roman" pitchFamily="18" charset="0"/>
              </a:endParaRPr>
            </a:p>
          </p:txBody>
        </p:sp>
      </p:grpSp>
      <p:grpSp>
        <p:nvGrpSpPr>
          <p:cNvPr id="113" name="组合 112"/>
          <p:cNvGrpSpPr/>
          <p:nvPr/>
        </p:nvGrpSpPr>
        <p:grpSpPr>
          <a:xfrm>
            <a:off x="6846539" y="4286256"/>
            <a:ext cx="2001680" cy="542986"/>
            <a:chOff x="6846539" y="4286256"/>
            <a:chExt cx="2001680" cy="542986"/>
          </a:xfrm>
        </p:grpSpPr>
        <p:cxnSp>
          <p:nvCxnSpPr>
            <p:cNvPr id="102" name="直接连接符 101"/>
            <p:cNvCxnSpPr/>
            <p:nvPr/>
          </p:nvCxnSpPr>
          <p:spPr bwMode="auto">
            <a:xfrm flipV="1">
              <a:off x="7239144" y="4347407"/>
              <a:ext cx="452378" cy="10287"/>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103" name="直接连接符 102"/>
            <p:cNvCxnSpPr/>
            <p:nvPr/>
          </p:nvCxnSpPr>
          <p:spPr bwMode="auto">
            <a:xfrm rot="5400000">
              <a:off x="7131005" y="4392619"/>
              <a:ext cx="214314" cy="1588"/>
            </a:xfrm>
            <a:prstGeom prst="line">
              <a:avLst/>
            </a:prstGeom>
            <a:solidFill>
              <a:schemeClr val="accent1"/>
            </a:solidFill>
            <a:ln w="19050" cap="flat" cmpd="sng" algn="ctr">
              <a:solidFill>
                <a:srgbClr val="0033CC"/>
              </a:solidFill>
              <a:prstDash val="solid"/>
              <a:round/>
              <a:headEnd type="none" w="med" len="med"/>
              <a:tailEnd type="none" w="med" len="med"/>
            </a:ln>
            <a:effectLst/>
          </p:spPr>
        </p:cxnSp>
        <p:cxnSp>
          <p:nvCxnSpPr>
            <p:cNvPr id="104" name="直接连接符 103"/>
            <p:cNvCxnSpPr/>
            <p:nvPr/>
          </p:nvCxnSpPr>
          <p:spPr bwMode="auto">
            <a:xfrm rot="5400000">
              <a:off x="7608909" y="4392619"/>
              <a:ext cx="214314" cy="1588"/>
            </a:xfrm>
            <a:prstGeom prst="line">
              <a:avLst/>
            </a:prstGeom>
            <a:solidFill>
              <a:schemeClr val="accent1"/>
            </a:solidFill>
            <a:ln w="19050" cap="flat" cmpd="sng" algn="ctr">
              <a:solidFill>
                <a:srgbClr val="0033CC"/>
              </a:solidFill>
              <a:prstDash val="solid"/>
              <a:round/>
              <a:headEnd type="none" w="med" len="med"/>
              <a:tailEnd type="none" w="med" len="med"/>
            </a:ln>
            <a:effectLst/>
          </p:spPr>
        </p:cxnSp>
        <p:cxnSp>
          <p:nvCxnSpPr>
            <p:cNvPr id="106" name="直接连接符 105"/>
            <p:cNvCxnSpPr/>
            <p:nvPr/>
          </p:nvCxnSpPr>
          <p:spPr bwMode="auto">
            <a:xfrm>
              <a:off x="7715460" y="4356106"/>
              <a:ext cx="368479" cy="1588"/>
            </a:xfrm>
            <a:prstGeom prst="line">
              <a:avLst/>
            </a:prstGeom>
            <a:solidFill>
              <a:schemeClr val="accent1"/>
            </a:solidFill>
            <a:ln w="19050" cap="flat" cmpd="sng" algn="ctr">
              <a:solidFill>
                <a:srgbClr val="0033CC"/>
              </a:solidFill>
              <a:prstDash val="solid"/>
              <a:round/>
              <a:headEnd type="triangle" w="med" len="med"/>
              <a:tailEnd type="none" w="med" len="med"/>
            </a:ln>
            <a:effectLst/>
          </p:spPr>
        </p:cxnSp>
        <p:cxnSp>
          <p:nvCxnSpPr>
            <p:cNvPr id="107" name="直接连接符 106"/>
            <p:cNvCxnSpPr/>
            <p:nvPr/>
          </p:nvCxnSpPr>
          <p:spPr bwMode="auto">
            <a:xfrm>
              <a:off x="6846539" y="4356106"/>
              <a:ext cx="368479" cy="1588"/>
            </a:xfrm>
            <a:prstGeom prst="line">
              <a:avLst/>
            </a:prstGeom>
            <a:solidFill>
              <a:schemeClr val="accent1"/>
            </a:solidFill>
            <a:ln w="19050" cap="flat" cmpd="sng" algn="ctr">
              <a:solidFill>
                <a:srgbClr val="0033CC"/>
              </a:solidFill>
              <a:prstDash val="solid"/>
              <a:round/>
              <a:headEnd type="none" w="med" len="med"/>
              <a:tailEnd type="triangle" w="med" len="med"/>
            </a:ln>
            <a:effectLst/>
          </p:spPr>
        </p:cxnSp>
        <p:sp>
          <p:nvSpPr>
            <p:cNvPr id="108" name="TextBox 107"/>
            <p:cNvSpPr txBox="1"/>
            <p:nvPr/>
          </p:nvSpPr>
          <p:spPr>
            <a:xfrm>
              <a:off x="7786710" y="4429132"/>
              <a:ext cx="1061509" cy="400110"/>
            </a:xfrm>
            <a:prstGeom prst="rect">
              <a:avLst/>
            </a:prstGeom>
            <a:noFill/>
            <a:ln w="28575">
              <a:noFill/>
            </a:ln>
          </p:spPr>
          <p:txBody>
            <a:bodyPr wrap="none" rtlCol="0">
              <a:spAutoFit/>
            </a:bodyPr>
            <a:lstStyle/>
            <a:p>
              <a:r>
                <a:rPr lang="en-US" altLang="zh-CN" sz="2000" b="1">
                  <a:solidFill>
                    <a:srgbClr val="0033CC"/>
                  </a:solidFill>
                  <a:latin typeface="Times New Roman" pitchFamily="18" charset="0"/>
                  <a:cs typeface="Times New Roman" pitchFamily="18" charset="0"/>
                </a:rPr>
                <a:t>(1+</a:t>
              </a:r>
              <a:r>
                <a:rPr lang="el-GR" altLang="zh-CN" sz="2000" b="1" i="1">
                  <a:solidFill>
                    <a:srgbClr val="0033CC"/>
                  </a:solidFill>
                  <a:latin typeface="Times New Roman" pitchFamily="18" charset="0"/>
                  <a:cs typeface="Times New Roman" pitchFamily="18" charset="0"/>
                </a:rPr>
                <a:t>ε</a:t>
              </a:r>
              <a:r>
                <a:rPr lang="en-US" altLang="zh-CN" sz="2000" b="1" baseline="-25000">
                  <a:solidFill>
                    <a:srgbClr val="0033CC"/>
                  </a:solidFill>
                  <a:latin typeface="Times New Roman" pitchFamily="18" charset="0"/>
                  <a:cs typeface="Times New Roman" pitchFamily="18" charset="0"/>
                </a:rPr>
                <a:t>2</a:t>
              </a:r>
              <a:r>
                <a:rPr lang="en-US" altLang="zh-CN" sz="2000" b="1">
                  <a:solidFill>
                    <a:srgbClr val="0033CC"/>
                  </a:solidFill>
                  <a:latin typeface="Times New Roman" pitchFamily="18" charset="0"/>
                  <a:cs typeface="Times New Roman" pitchFamily="18" charset="0"/>
                </a:rPr>
                <a:t>)d</a:t>
              </a:r>
              <a:r>
                <a:rPr lang="en-US" altLang="zh-CN" sz="2000" b="1" i="1">
                  <a:solidFill>
                    <a:srgbClr val="0033CC"/>
                  </a:solidFill>
                  <a:latin typeface="Times New Roman" pitchFamily="18" charset="0"/>
                  <a:cs typeface="Times New Roman" pitchFamily="18" charset="0"/>
                </a:rPr>
                <a:t>s</a:t>
              </a:r>
              <a:endParaRPr lang="zh-CN" altLang="en-US" sz="2000" b="1" i="1">
                <a:solidFill>
                  <a:srgbClr val="0033CC"/>
                </a:solidFill>
                <a:latin typeface="Times New Roman" pitchFamily="18" charset="0"/>
                <a:cs typeface="Times New Roman" pitchFamily="18" charset="0"/>
              </a:endParaRPr>
            </a:p>
          </p:txBody>
        </p:sp>
      </p:grpSp>
      <p:grpSp>
        <p:nvGrpSpPr>
          <p:cNvPr id="53" name="组合 52"/>
          <p:cNvGrpSpPr/>
          <p:nvPr/>
        </p:nvGrpSpPr>
        <p:grpSpPr>
          <a:xfrm>
            <a:off x="6917579" y="3381500"/>
            <a:ext cx="1119070" cy="1762012"/>
            <a:chOff x="6917579" y="3381500"/>
            <a:chExt cx="1119070" cy="1762012"/>
          </a:xfrm>
        </p:grpSpPr>
        <p:cxnSp>
          <p:nvCxnSpPr>
            <p:cNvPr id="47" name="直接连接符 46"/>
            <p:cNvCxnSpPr/>
            <p:nvPr/>
          </p:nvCxnSpPr>
          <p:spPr bwMode="auto">
            <a:xfrm rot="16200000" flipH="1">
              <a:off x="6322325" y="3976754"/>
              <a:ext cx="1762012" cy="571504"/>
            </a:xfrm>
            <a:prstGeom prst="line">
              <a:avLst/>
            </a:prstGeom>
            <a:solidFill>
              <a:schemeClr val="accent1"/>
            </a:solidFill>
            <a:ln w="19050" cap="flat" cmpd="sng" algn="ctr">
              <a:solidFill>
                <a:srgbClr val="00B050"/>
              </a:solidFill>
              <a:prstDash val="dash"/>
              <a:round/>
              <a:headEnd type="none" w="med" len="med"/>
              <a:tailEnd type="none" w="med" len="med"/>
            </a:ln>
            <a:effectLst/>
          </p:spPr>
        </p:cxnSp>
        <p:cxnSp>
          <p:nvCxnSpPr>
            <p:cNvPr id="51" name="直接连接符 50"/>
            <p:cNvCxnSpPr/>
            <p:nvPr/>
          </p:nvCxnSpPr>
          <p:spPr bwMode="auto">
            <a:xfrm rot="5400000">
              <a:off x="6869891" y="3976754"/>
              <a:ext cx="1762012" cy="571504"/>
            </a:xfrm>
            <a:prstGeom prst="line">
              <a:avLst/>
            </a:prstGeom>
            <a:solidFill>
              <a:schemeClr val="accent1"/>
            </a:solidFill>
            <a:ln w="19050" cap="flat" cmpd="sng" algn="ctr">
              <a:solidFill>
                <a:srgbClr val="00B050"/>
              </a:solidFill>
              <a:prstDash val="dash"/>
              <a:round/>
              <a:headEnd type="none" w="med" len="med"/>
              <a:tailEnd type="none" w="med" len="med"/>
            </a:ln>
            <a:effectLst/>
          </p:spPr>
        </p:cxnSp>
        <p:sp>
          <p:nvSpPr>
            <p:cNvPr id="52" name="TextBox 51"/>
            <p:cNvSpPr txBox="1"/>
            <p:nvPr/>
          </p:nvSpPr>
          <p:spPr>
            <a:xfrm>
              <a:off x="7274769" y="4393507"/>
              <a:ext cx="460382" cy="400110"/>
            </a:xfrm>
            <a:prstGeom prst="rect">
              <a:avLst/>
            </a:prstGeom>
            <a:noFill/>
            <a:ln w="28575">
              <a:noFill/>
            </a:ln>
          </p:spPr>
          <p:txBody>
            <a:bodyPr wrap="none" rtlCol="0">
              <a:spAutoFit/>
            </a:bodyPr>
            <a:lstStyle/>
            <a:p>
              <a:r>
                <a:rPr lang="en-US" altLang="zh-CN" sz="2000" b="1">
                  <a:latin typeface="Times New Roman"/>
                  <a:cs typeface="Times New Roman"/>
                </a:rPr>
                <a:t>d</a:t>
              </a:r>
              <a:r>
                <a:rPr lang="el-GR" altLang="zh-CN" sz="2000" b="1" i="1">
                  <a:latin typeface="Times New Roman"/>
                  <a:cs typeface="Times New Roman"/>
                </a:rPr>
                <a:t>θ</a:t>
              </a:r>
              <a:endParaRPr lang="zh-CN" altLang="en-US" sz="2000" b="1" i="1"/>
            </a:p>
          </p:txBody>
        </p:sp>
      </p:grpSp>
      <p:sp>
        <p:nvSpPr>
          <p:cNvPr id="54" name="TextBox 53"/>
          <p:cNvSpPr txBox="1"/>
          <p:nvPr/>
        </p:nvSpPr>
        <p:spPr>
          <a:xfrm>
            <a:off x="1714480" y="3792684"/>
            <a:ext cx="4071966" cy="830997"/>
          </a:xfrm>
          <a:prstGeom prst="rect">
            <a:avLst/>
          </a:prstGeom>
          <a:noFill/>
          <a:ln w="28575">
            <a:noFill/>
          </a:ln>
        </p:spPr>
        <p:txBody>
          <a:bodyPr wrap="square" rtlCol="0">
            <a:spAutoFit/>
          </a:bodyPr>
          <a:lstStyle/>
          <a:p>
            <a:pPr>
              <a:lnSpc>
                <a:spcPct val="120000"/>
              </a:lnSpc>
            </a:pPr>
            <a:r>
              <a:rPr lang="zh-CN" altLang="en-US" sz="2000" b="1"/>
              <a:t>     由膨胀不均匀引起的转角为：</a:t>
            </a:r>
            <a:endParaRPr lang="en-US" altLang="zh-CN" sz="2000" b="1"/>
          </a:p>
          <a:p>
            <a:pPr>
              <a:lnSpc>
                <a:spcPct val="120000"/>
              </a:lnSpc>
            </a:pPr>
            <a:r>
              <a:rPr lang="en-US" altLang="zh-CN" sz="2000" b="1" i="1">
                <a:latin typeface="Times New Roman"/>
                <a:cs typeface="Times New Roman"/>
              </a:rPr>
              <a:t>  h</a:t>
            </a:r>
            <a:r>
              <a:rPr lang="en-US" altLang="zh-CN" sz="2000" b="1">
                <a:latin typeface="Times New Roman"/>
                <a:cs typeface="Times New Roman"/>
              </a:rPr>
              <a:t>d</a:t>
            </a:r>
            <a:r>
              <a:rPr lang="el-GR" altLang="zh-CN" sz="2000" b="1" i="1">
                <a:latin typeface="Times New Roman"/>
                <a:cs typeface="Times New Roman"/>
              </a:rPr>
              <a:t>θ</a:t>
            </a:r>
            <a:r>
              <a:rPr lang="en-US" altLang="zh-CN" sz="2000" b="1" i="1">
                <a:latin typeface="Times New Roman"/>
                <a:cs typeface="Times New Roman"/>
              </a:rPr>
              <a:t> </a:t>
            </a:r>
            <a:r>
              <a:rPr lang="en-US" altLang="zh-CN" sz="2000" b="1">
                <a:latin typeface="Times New Roman"/>
                <a:cs typeface="Times New Roman"/>
              </a:rPr>
              <a:t>= </a:t>
            </a:r>
            <a:r>
              <a:rPr lang="en-US" altLang="zh-CN" sz="2000" b="1">
                <a:latin typeface="Times New Roman" pitchFamily="18" charset="0"/>
                <a:cs typeface="Times New Roman" pitchFamily="18" charset="0"/>
              </a:rPr>
              <a:t>(1+</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en-US" altLang="zh-CN" sz="2000" b="1">
                <a:latin typeface="Times New Roman"/>
                <a:cs typeface="Times New Roman"/>
              </a:rPr>
              <a:t> </a:t>
            </a:r>
            <a:r>
              <a:rPr lang="en-US" altLang="zh-CN" sz="2000" b="1">
                <a:latin typeface="+mn-ea"/>
                <a:cs typeface="Times New Roman"/>
              </a:rPr>
              <a:t>- </a:t>
            </a:r>
            <a:r>
              <a:rPr lang="en-US" altLang="zh-CN" sz="2000" b="1">
                <a:latin typeface="Times New Roman" pitchFamily="18" charset="0"/>
                <a:cs typeface="Times New Roman" pitchFamily="18" charset="0"/>
              </a:rPr>
              <a:t>(1+</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en-US" altLang="zh-CN" sz="2000" b="1">
                <a:latin typeface="Times New Roman"/>
                <a:cs typeface="Times New Roman"/>
              </a:rPr>
              <a:t> </a:t>
            </a:r>
            <a:endParaRPr lang="zh-CN" altLang="en-US" sz="2000" b="1">
              <a:latin typeface="+mn-ea"/>
            </a:endParaRPr>
          </a:p>
        </p:txBody>
      </p:sp>
      <p:grpSp>
        <p:nvGrpSpPr>
          <p:cNvPr id="59" name="组合 58"/>
          <p:cNvGrpSpPr/>
          <p:nvPr/>
        </p:nvGrpSpPr>
        <p:grpSpPr>
          <a:xfrm>
            <a:off x="4690938" y="4143380"/>
            <a:ext cx="2071702" cy="461665"/>
            <a:chOff x="1809856" y="4536383"/>
            <a:chExt cx="3595650" cy="461665"/>
          </a:xfrm>
        </p:grpSpPr>
        <p:sp>
          <p:nvSpPr>
            <p:cNvPr id="55" name="右箭头 54"/>
            <p:cNvSpPr/>
            <p:nvPr/>
          </p:nvSpPr>
          <p:spPr bwMode="auto">
            <a:xfrm>
              <a:off x="1809856" y="4643445"/>
              <a:ext cx="371964" cy="321565"/>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57" name="TextBox 56"/>
            <p:cNvSpPr txBox="1"/>
            <p:nvPr/>
          </p:nvSpPr>
          <p:spPr>
            <a:xfrm>
              <a:off x="1905044" y="4536383"/>
              <a:ext cx="3500462" cy="461665"/>
            </a:xfrm>
            <a:prstGeom prst="rect">
              <a:avLst/>
            </a:prstGeom>
            <a:noFill/>
            <a:ln w="28575">
              <a:noFill/>
            </a:ln>
          </p:spPr>
          <p:txBody>
            <a:bodyPr wrap="square" rtlCol="0">
              <a:spAutoFit/>
            </a:bodyPr>
            <a:lstStyle/>
            <a:p>
              <a:pPr>
                <a:lnSpc>
                  <a:spcPct val="120000"/>
                </a:lnSpc>
              </a:pPr>
              <a:r>
                <a:rPr lang="en-US" altLang="zh-CN" sz="2000" b="1"/>
                <a:t>   </a:t>
              </a:r>
              <a:r>
                <a:rPr lang="el-GR" altLang="zh-CN" sz="2000" b="1" i="1">
                  <a:latin typeface="Times New Roman" pitchFamily="18" charset="0"/>
                  <a:cs typeface="Times New Roman" pitchFamily="18" charset="0"/>
                </a:rPr>
                <a:t>κ</a:t>
              </a:r>
              <a:r>
                <a:rPr lang="en-US" altLang="zh-CN" sz="2000" b="1" i="1">
                  <a:latin typeface="Times New Roman"/>
                  <a:cs typeface="Times New Roman"/>
                </a:rPr>
                <a:t> </a:t>
              </a:r>
              <a:r>
                <a:rPr lang="en-US" altLang="zh-CN" sz="2000" b="1">
                  <a:latin typeface="Times New Roman"/>
                  <a:cs typeface="Times New Roman"/>
                </a:rPr>
                <a:t>= </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1</a:t>
              </a:r>
              <a:r>
                <a:rPr lang="en-US" altLang="zh-CN" sz="2000" b="1">
                  <a:latin typeface="Times New Roman"/>
                  <a:cs typeface="Times New Roman"/>
                </a:rPr>
                <a:t> </a:t>
              </a:r>
              <a:r>
                <a:rPr lang="en-US" altLang="zh-CN" sz="2000" b="1">
                  <a:latin typeface="+mn-ea"/>
                  <a:cs typeface="Times New Roman"/>
                </a:rPr>
                <a:t>- </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latin typeface="Times New Roman"/>
                  <a:cs typeface="Times New Roman"/>
                </a:rPr>
                <a:t>/</a:t>
              </a:r>
              <a:r>
                <a:rPr lang="en-US" altLang="zh-CN" sz="2000" b="1" baseline="-25000">
                  <a:latin typeface="Times New Roman"/>
                  <a:cs typeface="Times New Roman"/>
                </a:rPr>
                <a:t> </a:t>
              </a:r>
              <a:r>
                <a:rPr lang="en-US" altLang="zh-CN" sz="2000" b="1" i="1">
                  <a:latin typeface="Times New Roman"/>
                  <a:cs typeface="Times New Roman"/>
                </a:rPr>
                <a:t>h</a:t>
              </a:r>
              <a:r>
                <a:rPr lang="en-US" altLang="zh-CN" sz="2000" b="1">
                  <a:latin typeface="Times New Roman"/>
                  <a:cs typeface="Times New Roman"/>
                </a:rPr>
                <a:t> </a:t>
              </a:r>
              <a:endParaRPr lang="zh-CN" altLang="en-US" sz="2000" b="1">
                <a:latin typeface="+mn-ea"/>
              </a:endParaRPr>
            </a:p>
          </p:txBody>
        </p:sp>
      </p:grpSp>
      <p:sp>
        <p:nvSpPr>
          <p:cNvPr id="60" name="TextBox 59"/>
          <p:cNvSpPr txBox="1"/>
          <p:nvPr/>
        </p:nvSpPr>
        <p:spPr>
          <a:xfrm>
            <a:off x="1796935" y="4536383"/>
            <a:ext cx="4275263" cy="892552"/>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⑵虚设</a:t>
            </a:r>
            <a:r>
              <a:rPr lang="el-GR" altLang="zh-CN" sz="2000" b="1" i="1">
                <a:latin typeface="Times New Roman"/>
                <a:cs typeface="Times New Roman"/>
              </a:rPr>
              <a:t>θ</a:t>
            </a:r>
            <a:r>
              <a:rPr lang="en-US" altLang="zh-CN" sz="2000" b="1" i="1" baseline="-25000">
                <a:latin typeface="Times New Roman"/>
                <a:cs typeface="Times New Roman"/>
              </a:rPr>
              <a:t>A</a:t>
            </a:r>
            <a:r>
              <a:rPr lang="zh-CN" altLang="en-US" sz="2000" b="1">
                <a:latin typeface="Times New Roman"/>
                <a:cs typeface="Times New Roman"/>
              </a:rPr>
              <a:t>对应的单位荷载；</a:t>
            </a:r>
            <a:endParaRPr lang="en-US" altLang="zh-CN" sz="2000" b="1">
              <a:latin typeface="Times New Roman"/>
              <a:cs typeface="Times New Roman"/>
            </a:endParaRPr>
          </a:p>
          <a:p>
            <a:pPr marL="273050" indent="-273050" algn="just">
              <a:lnSpc>
                <a:spcPct val="130000"/>
              </a:lnSpc>
              <a:tabLst>
                <a:tab pos="273050" algn="l"/>
              </a:tabLst>
            </a:pPr>
            <a:r>
              <a:rPr lang="zh-CN" altLang="en-US" sz="2000" b="1"/>
              <a:t>⑶根据平衡条件，求出内力和反力；</a:t>
            </a:r>
          </a:p>
        </p:txBody>
      </p:sp>
      <p:grpSp>
        <p:nvGrpSpPr>
          <p:cNvPr id="62" name="组合 61"/>
          <p:cNvGrpSpPr/>
          <p:nvPr/>
        </p:nvGrpSpPr>
        <p:grpSpPr>
          <a:xfrm>
            <a:off x="6001904" y="2012115"/>
            <a:ext cx="517327" cy="860803"/>
            <a:chOff x="7873622" y="4238568"/>
            <a:chExt cx="517327" cy="860803"/>
          </a:xfrm>
        </p:grpSpPr>
        <p:grpSp>
          <p:nvGrpSpPr>
            <p:cNvPr id="64" name="组合 86"/>
            <p:cNvGrpSpPr/>
            <p:nvPr/>
          </p:nvGrpSpPr>
          <p:grpSpPr>
            <a:xfrm>
              <a:off x="7873622" y="4599305"/>
              <a:ext cx="517327" cy="500066"/>
              <a:chOff x="7873622" y="4599305"/>
              <a:chExt cx="517327" cy="500066"/>
            </a:xfrm>
          </p:grpSpPr>
          <p:sp>
            <p:nvSpPr>
              <p:cNvPr id="66" name="弧形 65"/>
              <p:cNvSpPr/>
              <p:nvPr/>
            </p:nvSpPr>
            <p:spPr bwMode="auto">
              <a:xfrm rot="19314812">
                <a:off x="7873622" y="4599305"/>
                <a:ext cx="517327" cy="500066"/>
              </a:xfrm>
              <a:prstGeom prst="arc">
                <a:avLst>
                  <a:gd name="adj1" fmla="val 16200000"/>
                  <a:gd name="adj2" fmla="val 5078637"/>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cxnSp>
            <p:nvCxnSpPr>
              <p:cNvPr id="67" name="直接连接符 66"/>
              <p:cNvCxnSpPr/>
              <p:nvPr/>
            </p:nvCxnSpPr>
            <p:spPr bwMode="auto">
              <a:xfrm rot="16200000" flipH="1">
                <a:off x="8144221" y="4857439"/>
                <a:ext cx="173171" cy="160364"/>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65" name="TextBox 64"/>
            <p:cNvSpPr txBox="1"/>
            <p:nvPr/>
          </p:nvSpPr>
          <p:spPr>
            <a:xfrm>
              <a:off x="8086792" y="4238568"/>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pic>
        <p:nvPicPr>
          <p:cNvPr id="68" name="Picture 2"/>
          <p:cNvPicPr>
            <a:picLocks noChangeAspect="1" noChangeArrowheads="1"/>
          </p:cNvPicPr>
          <p:nvPr/>
        </p:nvPicPr>
        <p:blipFill>
          <a:blip r:embed="rId3"/>
          <a:srcRect/>
          <a:stretch>
            <a:fillRect/>
          </a:stretch>
        </p:blipFill>
        <p:spPr bwMode="auto">
          <a:xfrm>
            <a:off x="6072198" y="5357826"/>
            <a:ext cx="2686069" cy="571504"/>
          </a:xfrm>
          <a:prstGeom prst="rect">
            <a:avLst/>
          </a:prstGeom>
          <a:noFill/>
          <a:ln w="9525">
            <a:noFill/>
            <a:miter lim="800000"/>
            <a:headEnd/>
            <a:tailEnd/>
          </a:ln>
          <a:effectLst/>
        </p:spPr>
      </p:pic>
      <p:grpSp>
        <p:nvGrpSpPr>
          <p:cNvPr id="77" name="组合 76"/>
          <p:cNvGrpSpPr/>
          <p:nvPr/>
        </p:nvGrpSpPr>
        <p:grpSpPr>
          <a:xfrm>
            <a:off x="5929322" y="4929198"/>
            <a:ext cx="2608542" cy="652945"/>
            <a:chOff x="5929322" y="5143512"/>
            <a:chExt cx="2608542" cy="652945"/>
          </a:xfrm>
        </p:grpSpPr>
        <p:cxnSp>
          <p:nvCxnSpPr>
            <p:cNvPr id="70" name="直接连接符 69"/>
            <p:cNvCxnSpPr/>
            <p:nvPr/>
          </p:nvCxnSpPr>
          <p:spPr bwMode="auto">
            <a:xfrm rot="5400000" flipH="1" flipV="1">
              <a:off x="6048260" y="5572140"/>
              <a:ext cx="428628"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sp>
          <p:nvSpPr>
            <p:cNvPr id="72" name="TextBox 71"/>
            <p:cNvSpPr txBox="1"/>
            <p:nvPr/>
          </p:nvSpPr>
          <p:spPr>
            <a:xfrm flipH="1">
              <a:off x="5929322" y="5143512"/>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cxnSp>
          <p:nvCxnSpPr>
            <p:cNvPr id="75" name="直接连接符 74"/>
            <p:cNvCxnSpPr>
              <a:cxnSpLocks noChangeAspect="1"/>
            </p:cNvCxnSpPr>
            <p:nvPr/>
          </p:nvCxnSpPr>
          <p:spPr bwMode="auto">
            <a:xfrm>
              <a:off x="6265030" y="5351929"/>
              <a:ext cx="2272834" cy="444528"/>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cxnSp>
        <p:nvCxnSpPr>
          <p:cNvPr id="79" name="直接箭头连接符 78"/>
          <p:cNvCxnSpPr/>
          <p:nvPr/>
        </p:nvCxnSpPr>
        <p:spPr bwMode="auto">
          <a:xfrm rot="5400000" flipH="1" flipV="1">
            <a:off x="8358214" y="5786454"/>
            <a:ext cx="428628" cy="1588"/>
          </a:xfrm>
          <a:prstGeom prst="straightConnector1">
            <a:avLst/>
          </a:prstGeom>
          <a:solidFill>
            <a:schemeClr val="accent1"/>
          </a:solidFill>
          <a:ln w="38100" cap="flat" cmpd="sng" algn="ctr">
            <a:solidFill>
              <a:srgbClr val="C00000"/>
            </a:solidFill>
            <a:prstDash val="solid"/>
            <a:round/>
            <a:headEnd type="arrow" w="med" len="med"/>
            <a:tailEnd type="none" w="med" len="med"/>
          </a:ln>
          <a:effectLst/>
        </p:spPr>
      </p:cxnSp>
      <p:grpSp>
        <p:nvGrpSpPr>
          <p:cNvPr id="101" name="组合 100"/>
          <p:cNvGrpSpPr/>
          <p:nvPr/>
        </p:nvGrpSpPr>
        <p:grpSpPr>
          <a:xfrm>
            <a:off x="6286512" y="1571612"/>
            <a:ext cx="2286810" cy="369332"/>
            <a:chOff x="6286512" y="1571612"/>
            <a:chExt cx="2286810" cy="369332"/>
          </a:xfrm>
        </p:grpSpPr>
        <p:cxnSp>
          <p:nvCxnSpPr>
            <p:cNvPr id="81" name="直接箭头连接符 80"/>
            <p:cNvCxnSpPr/>
            <p:nvPr/>
          </p:nvCxnSpPr>
          <p:spPr bwMode="auto">
            <a:xfrm rot="10800000">
              <a:off x="6286512" y="1785926"/>
              <a:ext cx="2286016"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94" name="直接连接符 93"/>
            <p:cNvCxnSpPr/>
            <p:nvPr/>
          </p:nvCxnSpPr>
          <p:spPr bwMode="auto">
            <a:xfrm rot="5400000">
              <a:off x="8465371" y="179710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5" name="直接连接符 94"/>
            <p:cNvCxnSpPr/>
            <p:nvPr/>
          </p:nvCxnSpPr>
          <p:spPr bwMode="auto">
            <a:xfrm rot="5400000">
              <a:off x="6180149" y="179710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7" name="TextBox 96"/>
            <p:cNvSpPr txBox="1"/>
            <p:nvPr/>
          </p:nvSpPr>
          <p:spPr>
            <a:xfrm>
              <a:off x="7286644" y="1571612"/>
              <a:ext cx="248786" cy="369332"/>
            </a:xfrm>
            <a:prstGeom prst="rect">
              <a:avLst/>
            </a:prstGeom>
            <a:solidFill>
              <a:schemeClr val="bg1"/>
            </a:solidFill>
            <a:ln w="28575">
              <a:noFill/>
            </a:ln>
          </p:spPr>
          <p:txBody>
            <a:bodyPr wrap="none" rtlCol="0">
              <a:spAutoFit/>
            </a:bodyPr>
            <a:lstStyle/>
            <a:p>
              <a:r>
                <a:rPr lang="en-US" altLang="zh-CN" b="1" i="1">
                  <a:latin typeface="Times New Roman" pitchFamily="18" charset="0"/>
                  <a:cs typeface="Times New Roman" pitchFamily="18" charset="0"/>
                </a:rPr>
                <a:t>l</a:t>
              </a:r>
              <a:endParaRPr lang="zh-CN" altLang="en-US" b="1">
                <a:latin typeface="Times New Roman" pitchFamily="18" charset="0"/>
                <a:cs typeface="Times New Roman" pitchFamily="18" charset="0"/>
              </a:endParaRPr>
            </a:p>
          </p:txBody>
        </p:sp>
      </p:grpSp>
      <p:sp>
        <p:nvSpPr>
          <p:cNvPr id="105" name="TextBox 104"/>
          <p:cNvSpPr txBox="1"/>
          <p:nvPr/>
        </p:nvSpPr>
        <p:spPr>
          <a:xfrm flipH="1">
            <a:off x="8001024" y="5786454"/>
            <a:ext cx="42832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r>
              <a:rPr lang="en-US" altLang="zh-CN" b="1" i="1">
                <a:solidFill>
                  <a:srgbClr val="C00000"/>
                </a:solidFill>
                <a:latin typeface="Times New Roman" pitchFamily="18" charset="0"/>
                <a:cs typeface="Times New Roman" pitchFamily="18" charset="0"/>
              </a:rPr>
              <a:t>l</a:t>
            </a:r>
            <a:endParaRPr lang="zh-CN" altLang="en-US" b="1" i="1">
              <a:solidFill>
                <a:srgbClr val="C00000"/>
              </a:solidFill>
              <a:latin typeface="Times New Roman" pitchFamily="18" charset="0"/>
              <a:cs typeface="Times New Roman" pitchFamily="18" charset="0"/>
            </a:endParaRPr>
          </a:p>
        </p:txBody>
      </p:sp>
      <p:sp>
        <p:nvSpPr>
          <p:cNvPr id="109" name="TextBox 108"/>
          <p:cNvSpPr txBox="1"/>
          <p:nvPr/>
        </p:nvSpPr>
        <p:spPr>
          <a:xfrm>
            <a:off x="1785918" y="5321684"/>
            <a:ext cx="4275263" cy="492443"/>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⑷根据公式，算出位移</a:t>
            </a:r>
            <a:endParaRPr lang="zh-CN" altLang="en-US" b="1"/>
          </a:p>
        </p:txBody>
      </p:sp>
      <p:grpSp>
        <p:nvGrpSpPr>
          <p:cNvPr id="111" name="组合 38"/>
          <p:cNvGrpSpPr/>
          <p:nvPr/>
        </p:nvGrpSpPr>
        <p:grpSpPr>
          <a:xfrm>
            <a:off x="2071670" y="5715016"/>
            <a:ext cx="5500726" cy="829201"/>
            <a:chOff x="2143108" y="5715015"/>
            <a:chExt cx="4560157" cy="816560"/>
          </a:xfrm>
        </p:grpSpPr>
        <p:sp>
          <p:nvSpPr>
            <p:cNvPr id="114" name="矩形 113"/>
            <p:cNvSpPr/>
            <p:nvPr/>
          </p:nvSpPr>
          <p:spPr>
            <a:xfrm>
              <a:off x="2143108" y="5715015"/>
              <a:ext cx="4560157" cy="816560"/>
            </a:xfrm>
            <a:prstGeom prst="rect">
              <a:avLst/>
            </a:prstGeom>
            <a:ln w="19050">
              <a:noFill/>
            </a:ln>
          </p:spPr>
          <p:txBody>
            <a:bodyPr wrap="square">
              <a:spAutoFit/>
            </a:bodyPr>
            <a:lstStyle/>
            <a:p>
              <a:pPr>
                <a:lnSpc>
                  <a:spcPct val="130000"/>
                </a:lnSpc>
              </a:pPr>
              <a:r>
                <a:rPr lang="en-US" altLang="zh-CN" sz="2000" b="1" i="1" dirty="0">
                  <a:latin typeface="Times New Roman" pitchFamily="18" charset="0"/>
                  <a:cs typeface="Times New Roman" pitchFamily="18" charset="0"/>
                </a:rPr>
                <a:t> </a:t>
              </a:r>
              <a:r>
                <a:rPr lang="el-GR" altLang="zh-CN" sz="2000" b="1" i="1" dirty="0">
                  <a:latin typeface="Times New Roman"/>
                  <a:cs typeface="Times New Roman"/>
                </a:rPr>
                <a:t>θ</a:t>
              </a:r>
              <a:r>
                <a:rPr lang="en-US" altLang="zh-CN" sz="2000" b="1" i="1" baseline="-25000" dirty="0">
                  <a:latin typeface="Times New Roman"/>
                  <a:cs typeface="Times New Roman"/>
                </a:rPr>
                <a:t>A</a:t>
              </a:r>
              <a:r>
                <a:rPr lang="el-GR" altLang="zh-CN" sz="2000" b="1" i="1" baseline="-25000" dirty="0">
                  <a:latin typeface="Times New Roman" pitchFamily="18" charset="0"/>
                  <a:cs typeface="Times New Roman" pitchFamily="18" charset="0"/>
                </a:rPr>
                <a:t> </a:t>
              </a:r>
              <a:r>
                <a:rPr lang="en-US" altLang="zh-CN" sz="2000" b="1" i="1" dirty="0">
                  <a:latin typeface="Times New Roman" pitchFamily="18" charset="0"/>
                  <a:cs typeface="Times New Roman" pitchFamily="18" charset="0"/>
                </a:rPr>
                <a:t>=</a:t>
              </a:r>
              <a:r>
                <a:rPr lang="en-US" altLang="zh-CN" sz="2000" b="1" i="1" baseline="-25000" dirty="0">
                  <a:latin typeface="Times New Roman" pitchFamily="18" charset="0"/>
                  <a:cs typeface="Times New Roman" pitchFamily="18" charset="0"/>
                </a:rPr>
                <a:t> </a:t>
              </a:r>
              <a:r>
                <a:rPr lang="en-US" altLang="zh-CN" sz="2000" b="1" dirty="0">
                  <a:latin typeface="Times New Roman" pitchFamily="18" charset="0"/>
                  <a:cs typeface="Times New Roman" pitchFamily="18" charset="0"/>
                </a:rPr>
                <a:t>∑</a:t>
              </a:r>
              <a:r>
                <a:rPr lang="en-US" altLang="zh-CN" sz="2000" b="1" dirty="0">
                  <a:latin typeface="+mj-lt"/>
                  <a:cs typeface="Times New Roman" pitchFamily="18" charset="0"/>
                </a:rPr>
                <a:t> </a:t>
              </a:r>
              <a:r>
                <a:rPr lang="en-US" altLang="zh-CN" sz="2000" b="1" dirty="0">
                  <a:cs typeface="Times New Roman" pitchFamily="18" charset="0"/>
                </a:rPr>
                <a:t>∫</a:t>
              </a:r>
              <a:r>
                <a:rPr lang="en-US" altLang="zh-CN" sz="2000" b="1" baseline="-25000" dirty="0">
                  <a:cs typeface="Times New Roman" pitchFamily="18" charset="0"/>
                </a:rPr>
                <a:t> </a:t>
              </a:r>
              <a:r>
                <a:rPr lang="en-US" altLang="zh-CN" sz="2000" b="1" baseline="-25000" dirty="0">
                  <a:latin typeface="Times New Roman" pitchFamily="18" charset="0"/>
                  <a:cs typeface="Times New Roman" pitchFamily="18" charset="0"/>
                </a:rPr>
                <a:t> </a:t>
              </a:r>
              <a:r>
                <a:rPr lang="en-US" altLang="zh-CN" sz="2000" b="1" i="1" dirty="0">
                  <a:latin typeface="Times New Roman" pitchFamily="18" charset="0"/>
                  <a:cs typeface="Times New Roman" pitchFamily="18" charset="0"/>
                </a:rPr>
                <a:t>M</a:t>
              </a:r>
              <a:r>
                <a:rPr lang="el-GR" altLang="zh-CN" sz="2000" b="1" i="1" dirty="0">
                  <a:latin typeface="Times New Roman" pitchFamily="18" charset="0"/>
                  <a:cs typeface="Times New Roman" pitchFamily="18" charset="0"/>
                </a:rPr>
                <a:t>κ</a:t>
              </a:r>
              <a:r>
                <a:rPr lang="en-US" altLang="zh-CN" sz="2000" b="1" dirty="0">
                  <a:latin typeface="Times New Roman"/>
                  <a:cs typeface="Times New Roman"/>
                </a:rPr>
                <a:t>d</a:t>
              </a:r>
              <a:r>
                <a:rPr lang="en-US" altLang="zh-CN" sz="2000" b="1" i="1" dirty="0">
                  <a:latin typeface="Times New Roman"/>
                  <a:cs typeface="Times New Roman"/>
                </a:rPr>
                <a:t>s</a:t>
              </a:r>
              <a:r>
                <a:rPr lang="en-US" altLang="zh-CN" sz="2000" b="1" i="1" dirty="0">
                  <a:latin typeface="+mj-ea"/>
                  <a:cs typeface="Times New Roman" pitchFamily="18" charset="0"/>
                </a:rPr>
                <a:t>-</a:t>
              </a:r>
              <a:r>
                <a:rPr lang="en-US" altLang="zh-CN" sz="2000" b="1" i="1" baseline="-25000" dirty="0">
                  <a:latin typeface="+mj-ea"/>
                  <a:cs typeface="Times New Roman" pitchFamily="18" charset="0"/>
                </a:rPr>
                <a:t> </a:t>
              </a:r>
              <a:r>
                <a:rPr lang="en-US" altLang="zh-CN" sz="2000" b="1" dirty="0">
                  <a:latin typeface="Times New Roman" pitchFamily="18" charset="0"/>
                  <a:cs typeface="Times New Roman" pitchFamily="18" charset="0"/>
                </a:rPr>
                <a:t>∑</a:t>
              </a:r>
              <a:r>
                <a:rPr lang="en-US" altLang="zh-CN" sz="2000" b="1" i="1" dirty="0" err="1">
                  <a:latin typeface="Times New Roman" pitchFamily="18" charset="0"/>
                  <a:cs typeface="Times New Roman" pitchFamily="18" charset="0"/>
                </a:rPr>
                <a:t>F</a:t>
              </a:r>
              <a:r>
                <a:rPr lang="en-US" altLang="zh-CN" sz="2000" b="1" baseline="-25000" dirty="0" err="1">
                  <a:latin typeface="Times New Roman" pitchFamily="18" charset="0"/>
                  <a:cs typeface="Times New Roman" pitchFamily="18" charset="0"/>
                </a:rPr>
                <a:t>R</a:t>
              </a:r>
              <a:r>
                <a:rPr lang="en-US" altLang="zh-CN" sz="2000" b="1" i="1" baseline="-25000" dirty="0" err="1">
                  <a:latin typeface="Times New Roman" pitchFamily="18" charset="0"/>
                  <a:cs typeface="Times New Roman" pitchFamily="18" charset="0"/>
                </a:rPr>
                <a:t>K</a:t>
              </a:r>
              <a:r>
                <a:rPr lang="en-US" altLang="zh-CN" sz="2000" b="1" dirty="0" err="1">
                  <a:latin typeface="Times New Roman" pitchFamily="18" charset="0"/>
                  <a:cs typeface="Times New Roman" pitchFamily="18" charset="0"/>
                </a:rPr>
                <a:t>·</a:t>
              </a:r>
              <a:r>
                <a:rPr lang="en-US" altLang="zh-CN" sz="2000" b="1" i="1" dirty="0" err="1">
                  <a:latin typeface="Times New Roman" pitchFamily="18" charset="0"/>
                  <a:cs typeface="Times New Roman" pitchFamily="18" charset="0"/>
                </a:rPr>
                <a:t>c</a:t>
              </a:r>
              <a:r>
                <a:rPr lang="en-US" altLang="zh-CN" sz="2000" b="1" i="1" baseline="-25000" dirty="0" err="1">
                  <a:latin typeface="Times New Roman" pitchFamily="18" charset="0"/>
                  <a:cs typeface="Times New Roman" pitchFamily="18" charset="0"/>
                </a:rPr>
                <a:t>K</a:t>
              </a:r>
              <a:endParaRPr lang="en-US" altLang="zh-CN" sz="2000" b="1" i="1" baseline="-25000" dirty="0">
                <a:latin typeface="Times New Roman" pitchFamily="18" charset="0"/>
                <a:cs typeface="Times New Roman" pitchFamily="18" charset="0"/>
              </a:endParaRPr>
            </a:p>
            <a:p>
              <a:pPr>
                <a:lnSpc>
                  <a:spcPct val="120000"/>
                </a:lnSpc>
              </a:pPr>
              <a:r>
                <a:rPr lang="en-US" altLang="zh-CN" sz="2000" b="1" i="1" baseline="-25000" dirty="0">
                  <a:latin typeface="Times New Roman" pitchFamily="18" charset="0"/>
                  <a:cs typeface="Times New Roman" pitchFamily="18" charset="0"/>
                </a:rPr>
                <a:t>        </a:t>
              </a:r>
              <a:r>
                <a:rPr lang="en-US" altLang="zh-CN" sz="2000" b="1" i="1" dirty="0">
                  <a:latin typeface="Times New Roman" pitchFamily="18" charset="0"/>
                  <a:cs typeface="Times New Roman" pitchFamily="18" charset="0"/>
                </a:rPr>
                <a:t>=</a:t>
              </a:r>
              <a:r>
                <a:rPr lang="en-US" altLang="zh-CN" sz="2000" b="1" dirty="0">
                  <a:latin typeface="Times New Roman"/>
                  <a:cs typeface="Times New Roman"/>
                </a:rPr>
                <a:t> </a:t>
              </a:r>
              <a:r>
                <a:rPr lang="en-US" altLang="zh-CN" sz="2000" b="1" dirty="0">
                  <a:latin typeface="Times New Roman" pitchFamily="18" charset="0"/>
                  <a:cs typeface="Times New Roman" pitchFamily="18" charset="0"/>
                </a:rPr>
                <a:t>(</a:t>
              </a:r>
              <a:r>
                <a:rPr lang="el-GR" altLang="zh-CN" sz="2000" b="1" i="1" dirty="0">
                  <a:latin typeface="Times New Roman" pitchFamily="18" charset="0"/>
                  <a:cs typeface="Times New Roman" pitchFamily="18" charset="0"/>
                </a:rPr>
                <a:t>ε</a:t>
              </a:r>
              <a:r>
                <a:rPr lang="en-US" altLang="zh-CN" sz="2000" b="1" baseline="-25000" dirty="0">
                  <a:latin typeface="Times New Roman" pitchFamily="18" charset="0"/>
                  <a:cs typeface="Times New Roman" pitchFamily="18" charset="0"/>
                </a:rPr>
                <a:t>1</a:t>
              </a:r>
              <a:r>
                <a:rPr lang="en-US" altLang="zh-CN" sz="2000" b="1" dirty="0">
                  <a:latin typeface="Times New Roman"/>
                  <a:cs typeface="Times New Roman"/>
                </a:rPr>
                <a:t> </a:t>
              </a:r>
              <a:r>
                <a:rPr lang="en-US" altLang="zh-CN" sz="2000" b="1" dirty="0">
                  <a:latin typeface="+mn-ea"/>
                  <a:cs typeface="Times New Roman"/>
                </a:rPr>
                <a:t>- </a:t>
              </a:r>
              <a:r>
                <a:rPr lang="el-GR" altLang="zh-CN" sz="2000" b="1" i="1" dirty="0">
                  <a:latin typeface="Times New Roman" pitchFamily="18" charset="0"/>
                  <a:cs typeface="Times New Roman" pitchFamily="18" charset="0"/>
                </a:rPr>
                <a:t>ε</a:t>
              </a:r>
              <a:r>
                <a:rPr lang="en-US" altLang="zh-CN" sz="2000" b="1" baseline="-25000" dirty="0">
                  <a:latin typeface="Times New Roman" pitchFamily="18" charset="0"/>
                  <a:cs typeface="Times New Roman" pitchFamily="18" charset="0"/>
                </a:rPr>
                <a:t>2</a:t>
              </a:r>
              <a:r>
                <a:rPr lang="en-US" altLang="zh-CN" sz="2000" b="1" dirty="0">
                  <a:latin typeface="Times New Roman" pitchFamily="18" charset="0"/>
                  <a:cs typeface="Times New Roman" pitchFamily="18" charset="0"/>
                </a:rPr>
                <a:t>)</a:t>
              </a:r>
              <a:r>
                <a:rPr lang="en-US" altLang="zh-CN" sz="2000" b="1" i="1" dirty="0">
                  <a:latin typeface="Times New Roman" pitchFamily="18" charset="0"/>
                  <a:cs typeface="Times New Roman" pitchFamily="18" charset="0"/>
                </a:rPr>
                <a:t>l</a:t>
              </a:r>
              <a:r>
                <a:rPr lang="en-US" altLang="zh-CN" sz="2000" b="1" dirty="0">
                  <a:latin typeface="Times New Roman"/>
                  <a:cs typeface="Times New Roman"/>
                </a:rPr>
                <a:t>/(2</a:t>
              </a:r>
              <a:r>
                <a:rPr lang="en-US" altLang="zh-CN" sz="2000" b="1" i="1" dirty="0">
                  <a:latin typeface="Times New Roman"/>
                  <a:cs typeface="Times New Roman"/>
                </a:rPr>
                <a:t>h</a:t>
              </a:r>
              <a:r>
                <a:rPr lang="en-US" altLang="zh-CN" sz="2000" b="1" dirty="0">
                  <a:latin typeface="Times New Roman"/>
                  <a:cs typeface="Times New Roman"/>
                </a:rPr>
                <a:t>)</a:t>
              </a:r>
              <a:r>
                <a:rPr lang="en-US" altLang="zh-CN" sz="2000" b="1" i="1" dirty="0">
                  <a:latin typeface="Times New Roman" pitchFamily="18" charset="0"/>
                  <a:cs typeface="Times New Roman" pitchFamily="18" charset="0"/>
                </a:rPr>
                <a:t> +</a:t>
              </a:r>
              <a:r>
                <a:rPr lang="el-GR" altLang="zh-CN" sz="2000" b="1" i="1" dirty="0">
                  <a:latin typeface="Times New Roman" pitchFamily="18" charset="0"/>
                  <a:cs typeface="Times New Roman" pitchFamily="18" charset="0"/>
                </a:rPr>
                <a:t> Δ</a:t>
              </a:r>
              <a:r>
                <a:rPr lang="en-US" altLang="zh-CN" sz="2000" b="1" dirty="0">
                  <a:latin typeface="Times New Roman" pitchFamily="18" charset="0"/>
                  <a:cs typeface="Times New Roman" pitchFamily="18" charset="0"/>
                </a:rPr>
                <a:t>/</a:t>
              </a:r>
              <a:r>
                <a:rPr lang="en-US" altLang="zh-CN" sz="2000" b="1" i="1" dirty="0">
                  <a:latin typeface="Times New Roman" pitchFamily="18" charset="0"/>
                  <a:cs typeface="Times New Roman" pitchFamily="18" charset="0"/>
                </a:rPr>
                <a:t>l </a:t>
              </a:r>
              <a:r>
                <a:rPr lang="en-US" altLang="zh-CN" sz="2000" b="1" dirty="0">
                  <a:latin typeface="Times New Roman" pitchFamily="18" charset="0"/>
                  <a:cs typeface="Times New Roman" pitchFamily="18" charset="0"/>
                </a:rPr>
                <a:t> </a:t>
              </a:r>
              <a:endParaRPr lang="zh-CN" altLang="en-US" sz="2000" dirty="0"/>
            </a:p>
          </p:txBody>
        </p:sp>
        <p:cxnSp>
          <p:nvCxnSpPr>
            <p:cNvPr id="115" name="直接连接符 114"/>
            <p:cNvCxnSpPr/>
            <p:nvPr/>
          </p:nvCxnSpPr>
          <p:spPr bwMode="auto">
            <a:xfrm>
              <a:off x="3155303" y="5846017"/>
              <a:ext cx="214314" cy="1588"/>
            </a:xfrm>
            <a:prstGeom prst="line">
              <a:avLst/>
            </a:prstGeom>
            <a:solidFill>
              <a:schemeClr val="accent1"/>
            </a:solidFill>
            <a:ln w="19050" cap="flat" cmpd="sng" algn="ctr">
              <a:noFill/>
              <a:prstDash val="solid"/>
              <a:round/>
              <a:headEnd type="none" w="med" len="med"/>
              <a:tailEnd type="none" w="med" len="med"/>
            </a:ln>
            <a:effectLst/>
          </p:spPr>
        </p:cxnSp>
        <p:cxnSp>
          <p:nvCxnSpPr>
            <p:cNvPr id="116" name="直接连接符 115"/>
            <p:cNvCxnSpPr/>
            <p:nvPr/>
          </p:nvCxnSpPr>
          <p:spPr bwMode="auto">
            <a:xfrm>
              <a:off x="4143372" y="5846017"/>
              <a:ext cx="214314" cy="1588"/>
            </a:xfrm>
            <a:prstGeom prst="line">
              <a:avLst/>
            </a:prstGeom>
            <a:solidFill>
              <a:schemeClr val="accent1"/>
            </a:solidFill>
            <a:ln w="19050" cap="flat" cmpd="sng" algn="ctr">
              <a:no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blinds(horizontal)">
                                      <p:cBhvr>
                                        <p:cTn id="7" dur="500"/>
                                        <p:tgtEl>
                                          <p:spTgt spid="85"/>
                                        </p:tgtEl>
                                      </p:cBhvr>
                                    </p:animEffect>
                                  </p:childTnLst>
                                </p:cTn>
                              </p:par>
                              <p:par>
                                <p:cTn id="8" presetID="1"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childTnLst>
                                </p:cTn>
                              </p:par>
                              <p:par>
                                <p:cTn id="10" presetID="3" presetClass="entr" presetSubtype="1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6"/>
                                        </p:tgtEl>
                                        <p:attrNameLst>
                                          <p:attrName>style.visibility</p:attrName>
                                        </p:attrNameLst>
                                      </p:cBhvr>
                                      <p:to>
                                        <p:strVal val="visible"/>
                                      </p:to>
                                    </p:set>
                                    <p:anim calcmode="lin" valueType="num">
                                      <p:cBhvr additive="base">
                                        <p:cTn id="17" dur="500" fill="hold"/>
                                        <p:tgtEl>
                                          <p:spTgt spid="86"/>
                                        </p:tgtEl>
                                        <p:attrNameLst>
                                          <p:attrName>ppt_x</p:attrName>
                                        </p:attrNameLst>
                                      </p:cBhvr>
                                      <p:tavLst>
                                        <p:tav tm="0">
                                          <p:val>
                                            <p:strVal val="#ppt_x"/>
                                          </p:val>
                                        </p:tav>
                                        <p:tav tm="100000">
                                          <p:val>
                                            <p:strVal val="#ppt_x"/>
                                          </p:val>
                                        </p:tav>
                                      </p:tavLst>
                                    </p:anim>
                                    <p:anim calcmode="lin" valueType="num">
                                      <p:cBhvr additive="base">
                                        <p:cTn id="18"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nodeType="click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blinds(vertical)">
                                      <p:cBhvr>
                                        <p:cTn id="23" dur="500"/>
                                        <p:tgtEl>
                                          <p:spTgt spid="10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blinds(vertical)">
                                      <p:cBhvr>
                                        <p:cTn id="28" dur="500"/>
                                        <p:tgtEl>
                                          <p:spTgt spid="11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3"/>
                                        </p:tgtEl>
                                        <p:attrNameLst>
                                          <p:attrName>style.visibility</p:attrName>
                                        </p:attrNameLst>
                                      </p:cBhvr>
                                      <p:to>
                                        <p:strVal val="visible"/>
                                      </p:to>
                                    </p:set>
                                    <p:anim calcmode="lin" valueType="num">
                                      <p:cBhvr additive="base">
                                        <p:cTn id="33" dur="500" fill="hold"/>
                                        <p:tgtEl>
                                          <p:spTgt spid="53"/>
                                        </p:tgtEl>
                                        <p:attrNameLst>
                                          <p:attrName>ppt_x</p:attrName>
                                        </p:attrNameLst>
                                      </p:cBhvr>
                                      <p:tavLst>
                                        <p:tav tm="0">
                                          <p:val>
                                            <p:strVal val="#ppt_x"/>
                                          </p:val>
                                        </p:tav>
                                        <p:tav tm="100000">
                                          <p:val>
                                            <p:strVal val="#ppt_x"/>
                                          </p:val>
                                        </p:tav>
                                      </p:tavLst>
                                    </p:anim>
                                    <p:anim calcmode="lin" valueType="num">
                                      <p:cBhvr additive="base">
                                        <p:cTn id="3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anim calcmode="lin" valueType="num">
                                      <p:cBhvr additive="base">
                                        <p:cTn id="39" dur="500" fill="hold"/>
                                        <p:tgtEl>
                                          <p:spTgt spid="54"/>
                                        </p:tgtEl>
                                        <p:attrNameLst>
                                          <p:attrName>ppt_x</p:attrName>
                                        </p:attrNameLst>
                                      </p:cBhvr>
                                      <p:tavLst>
                                        <p:tav tm="0">
                                          <p:val>
                                            <p:strVal val="#ppt_x"/>
                                          </p:val>
                                        </p:tav>
                                        <p:tav tm="100000">
                                          <p:val>
                                            <p:strVal val="#ppt_x"/>
                                          </p:val>
                                        </p:tav>
                                      </p:tavLst>
                                    </p:anim>
                                    <p:anim calcmode="lin" valueType="num">
                                      <p:cBhvr additive="base">
                                        <p:cTn id="4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9"/>
                                        </p:tgtEl>
                                        <p:attrNameLst>
                                          <p:attrName>style.visibility</p:attrName>
                                        </p:attrNameLst>
                                      </p:cBhvr>
                                      <p:to>
                                        <p:strVal val="visible"/>
                                      </p:to>
                                    </p:set>
                                    <p:anim calcmode="lin" valueType="num">
                                      <p:cBhvr additive="base">
                                        <p:cTn id="45" dur="500" fill="hold"/>
                                        <p:tgtEl>
                                          <p:spTgt spid="59"/>
                                        </p:tgtEl>
                                        <p:attrNameLst>
                                          <p:attrName>ppt_x</p:attrName>
                                        </p:attrNameLst>
                                      </p:cBhvr>
                                      <p:tavLst>
                                        <p:tav tm="0">
                                          <p:val>
                                            <p:strVal val="#ppt_x"/>
                                          </p:val>
                                        </p:tav>
                                        <p:tav tm="100000">
                                          <p:val>
                                            <p:strVal val="#ppt_x"/>
                                          </p:val>
                                        </p:tav>
                                      </p:tavLst>
                                    </p:anim>
                                    <p:anim calcmode="lin" valueType="num">
                                      <p:cBhvr additive="base">
                                        <p:cTn id="46"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60">
                                            <p:txEl>
                                              <p:pRg st="0" end="0"/>
                                            </p:txEl>
                                          </p:spTgt>
                                        </p:tgtEl>
                                        <p:attrNameLst>
                                          <p:attrName>style.visibility</p:attrName>
                                        </p:attrNameLst>
                                      </p:cBhvr>
                                      <p:to>
                                        <p:strVal val="visible"/>
                                      </p:to>
                                    </p:set>
                                    <p:animEffect transition="in" filter="wipe(up)">
                                      <p:cBhvr>
                                        <p:cTn id="51" dur="500"/>
                                        <p:tgtEl>
                                          <p:spTgt spid="60">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blinds(horizontal)">
                                      <p:cBhvr>
                                        <p:cTn id="56" dur="500"/>
                                        <p:tgtEl>
                                          <p:spTgt spid="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60">
                                            <p:txEl>
                                              <p:pRg st="1" end="1"/>
                                            </p:txEl>
                                          </p:spTgt>
                                        </p:tgtEl>
                                        <p:attrNameLst>
                                          <p:attrName>style.visibility</p:attrName>
                                        </p:attrNameLst>
                                      </p:cBhvr>
                                      <p:to>
                                        <p:strVal val="visible"/>
                                      </p:to>
                                    </p:set>
                                    <p:animEffect transition="in" filter="wipe(up)">
                                      <p:cBhvr>
                                        <p:cTn id="61" dur="500"/>
                                        <p:tgtEl>
                                          <p:spTgt spid="60">
                                            <p:txEl>
                                              <p:pRg st="1" end="1"/>
                                            </p:txEl>
                                          </p:spTgt>
                                        </p:tgtEl>
                                      </p:cBhvr>
                                    </p:animEffect>
                                  </p:childTnLst>
                                </p:cTn>
                              </p:par>
                            </p:childTnLst>
                          </p:cTn>
                        </p:par>
                        <p:par>
                          <p:cTn id="62" fill="hold">
                            <p:stCondLst>
                              <p:cond delay="500"/>
                            </p:stCondLst>
                            <p:childTnLst>
                              <p:par>
                                <p:cTn id="63" presetID="2" presetClass="entr" presetSubtype="4" fill="hold" nodeType="afterEffect">
                                  <p:stCondLst>
                                    <p:cond delay="0"/>
                                  </p:stCondLst>
                                  <p:childTnLst>
                                    <p:set>
                                      <p:cBhvr>
                                        <p:cTn id="64" dur="1" fill="hold">
                                          <p:stCondLst>
                                            <p:cond delay="0"/>
                                          </p:stCondLst>
                                        </p:cTn>
                                        <p:tgtEl>
                                          <p:spTgt spid="68"/>
                                        </p:tgtEl>
                                        <p:attrNameLst>
                                          <p:attrName>style.visibility</p:attrName>
                                        </p:attrNameLst>
                                      </p:cBhvr>
                                      <p:to>
                                        <p:strVal val="visible"/>
                                      </p:to>
                                    </p:set>
                                    <p:anim calcmode="lin" valueType="num">
                                      <p:cBhvr additive="base">
                                        <p:cTn id="65" dur="500" fill="hold"/>
                                        <p:tgtEl>
                                          <p:spTgt spid="68"/>
                                        </p:tgtEl>
                                        <p:attrNameLst>
                                          <p:attrName>ppt_x</p:attrName>
                                        </p:attrNameLst>
                                      </p:cBhvr>
                                      <p:tavLst>
                                        <p:tav tm="0">
                                          <p:val>
                                            <p:strVal val="#ppt_x"/>
                                          </p:val>
                                        </p:tav>
                                        <p:tav tm="100000">
                                          <p:val>
                                            <p:strVal val="#ppt_x"/>
                                          </p:val>
                                        </p:tav>
                                      </p:tavLst>
                                    </p:anim>
                                    <p:anim calcmode="lin" valueType="num">
                                      <p:cBhvr additive="base">
                                        <p:cTn id="66" dur="500" fill="hold"/>
                                        <p:tgtEl>
                                          <p:spTgt spid="68"/>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2" presetClass="entr" presetSubtype="4" fill="hold" nodeType="afterEffect">
                                  <p:stCondLst>
                                    <p:cond delay="0"/>
                                  </p:stCondLst>
                                  <p:childTnLst>
                                    <p:set>
                                      <p:cBhvr>
                                        <p:cTn id="69" dur="1" fill="hold">
                                          <p:stCondLst>
                                            <p:cond delay="0"/>
                                          </p:stCondLst>
                                        </p:cTn>
                                        <p:tgtEl>
                                          <p:spTgt spid="79"/>
                                        </p:tgtEl>
                                        <p:attrNameLst>
                                          <p:attrName>style.visibility</p:attrName>
                                        </p:attrNameLst>
                                      </p:cBhvr>
                                      <p:to>
                                        <p:strVal val="visible"/>
                                      </p:to>
                                    </p:set>
                                    <p:anim calcmode="lin" valueType="num">
                                      <p:cBhvr additive="base">
                                        <p:cTn id="70" dur="500" fill="hold"/>
                                        <p:tgtEl>
                                          <p:spTgt spid="79"/>
                                        </p:tgtEl>
                                        <p:attrNameLst>
                                          <p:attrName>ppt_x</p:attrName>
                                        </p:attrNameLst>
                                      </p:cBhvr>
                                      <p:tavLst>
                                        <p:tav tm="0">
                                          <p:val>
                                            <p:strVal val="#ppt_x"/>
                                          </p:val>
                                        </p:tav>
                                        <p:tav tm="100000">
                                          <p:val>
                                            <p:strVal val="#ppt_x"/>
                                          </p:val>
                                        </p:tav>
                                      </p:tavLst>
                                    </p:anim>
                                    <p:anim calcmode="lin" valueType="num">
                                      <p:cBhvr additive="base">
                                        <p:cTn id="71"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77"/>
                                        </p:tgtEl>
                                        <p:attrNameLst>
                                          <p:attrName>style.visibility</p:attrName>
                                        </p:attrNameLst>
                                      </p:cBhvr>
                                      <p:to>
                                        <p:strVal val="visible"/>
                                      </p:to>
                                    </p:set>
                                    <p:animEffect transition="in" filter="blinds(horizontal)">
                                      <p:cBhvr>
                                        <p:cTn id="76" dur="500"/>
                                        <p:tgtEl>
                                          <p:spTgt spid="77"/>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105"/>
                                        </p:tgtEl>
                                        <p:attrNameLst>
                                          <p:attrName>style.visibility</p:attrName>
                                        </p:attrNameLst>
                                      </p:cBhvr>
                                      <p:to>
                                        <p:strVal val="visible"/>
                                      </p:to>
                                    </p:set>
                                    <p:anim calcmode="lin" valueType="num">
                                      <p:cBhvr additive="base">
                                        <p:cTn id="79" dur="500" fill="hold"/>
                                        <p:tgtEl>
                                          <p:spTgt spid="105"/>
                                        </p:tgtEl>
                                        <p:attrNameLst>
                                          <p:attrName>ppt_x</p:attrName>
                                        </p:attrNameLst>
                                      </p:cBhvr>
                                      <p:tavLst>
                                        <p:tav tm="0">
                                          <p:val>
                                            <p:strVal val="#ppt_x"/>
                                          </p:val>
                                        </p:tav>
                                        <p:tav tm="100000">
                                          <p:val>
                                            <p:strVal val="#ppt_x"/>
                                          </p:val>
                                        </p:tav>
                                      </p:tavLst>
                                    </p:anim>
                                    <p:anim calcmode="lin" valueType="num">
                                      <p:cBhvr additive="base">
                                        <p:cTn id="80"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109">
                                            <p:txEl>
                                              <p:pRg st="0" end="0"/>
                                            </p:txEl>
                                          </p:spTgt>
                                        </p:tgtEl>
                                        <p:attrNameLst>
                                          <p:attrName>style.visibility</p:attrName>
                                        </p:attrNameLst>
                                      </p:cBhvr>
                                      <p:to>
                                        <p:strVal val="visible"/>
                                      </p:to>
                                    </p:set>
                                    <p:animEffect transition="in" filter="wipe(up)">
                                      <p:cBhvr>
                                        <p:cTn id="85" dur="500"/>
                                        <p:tgtEl>
                                          <p:spTgt spid="109">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111"/>
                                        </p:tgtEl>
                                        <p:attrNameLst>
                                          <p:attrName>style.visibility</p:attrName>
                                        </p:attrNameLst>
                                      </p:cBhvr>
                                      <p:to>
                                        <p:strVal val="visible"/>
                                      </p:to>
                                    </p:set>
                                    <p:anim calcmode="lin" valueType="num">
                                      <p:cBhvr additive="base">
                                        <p:cTn id="90" dur="500" fill="hold"/>
                                        <p:tgtEl>
                                          <p:spTgt spid="111"/>
                                        </p:tgtEl>
                                        <p:attrNameLst>
                                          <p:attrName>ppt_x</p:attrName>
                                        </p:attrNameLst>
                                      </p:cBhvr>
                                      <p:tavLst>
                                        <p:tav tm="0">
                                          <p:val>
                                            <p:strVal val="#ppt_x"/>
                                          </p:val>
                                        </p:tav>
                                        <p:tav tm="100000">
                                          <p:val>
                                            <p:strVal val="#ppt_x"/>
                                          </p:val>
                                        </p:tav>
                                      </p:tavLst>
                                    </p:anim>
                                    <p:anim calcmode="lin" valueType="num">
                                      <p:cBhvr additive="base">
                                        <p:cTn id="91"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86" grpId="0"/>
      <p:bldP spid="54" grpId="0"/>
      <p:bldP spid="60" grpId="0" uiExpand="1" build="allAtOnce"/>
      <p:bldP spid="105" grpId="0"/>
      <p:bldP spid="109"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88951"/>
          </a:xfrm>
          <a:ln>
            <a:noFill/>
          </a:ln>
        </p:spPr>
        <p:txBody>
          <a:bodyPr/>
          <a:lstStyle/>
          <a:p>
            <a:pPr marL="342900" lvl="1" indent="-342900">
              <a:defRPr/>
            </a:pPr>
            <a:r>
              <a:rPr lang="zh-CN" altLang="en-US" sz="2400">
                <a:solidFill>
                  <a:srgbClr val="C00000"/>
                </a:solidFill>
              </a:rPr>
              <a:t>结构位移计算的一般步骤</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3" name="Rectangle 6"/>
          <p:cNvSpPr>
            <a:spLocks noChangeArrowheads="1"/>
          </p:cNvSpPr>
          <p:nvPr/>
        </p:nvSpPr>
        <p:spPr bwMode="auto">
          <a:xfrm>
            <a:off x="469540" y="1796794"/>
            <a:ext cx="531690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已知：结构各微段的变形和支座位移，求结构某点的位移</a:t>
            </a:r>
            <a:endParaRPr lang="en-US" altLang="zh-CN" sz="2000" b="1" baseline="-25000">
              <a:latin typeface="Times New Roman" pitchFamily="18" charset="0"/>
              <a:cs typeface="Times New Roman" pitchFamily="18" charset="0"/>
            </a:endParaRPr>
          </a:p>
        </p:txBody>
      </p:sp>
      <p:grpSp>
        <p:nvGrpSpPr>
          <p:cNvPr id="6" name="组合 55"/>
          <p:cNvGrpSpPr/>
          <p:nvPr/>
        </p:nvGrpSpPr>
        <p:grpSpPr>
          <a:xfrm>
            <a:off x="5881634" y="2059803"/>
            <a:ext cx="3048052" cy="1328864"/>
            <a:chOff x="5953072" y="1845489"/>
            <a:chExt cx="3048052" cy="1328864"/>
          </a:xfrm>
        </p:grpSpPr>
        <p:grpSp>
          <p:nvGrpSpPr>
            <p:cNvPr id="7" name="组合 38"/>
            <p:cNvGrpSpPr/>
            <p:nvPr/>
          </p:nvGrpSpPr>
          <p:grpSpPr>
            <a:xfrm>
              <a:off x="5953072" y="1845489"/>
              <a:ext cx="3048052" cy="1328864"/>
              <a:chOff x="5953072" y="1845489"/>
              <a:chExt cx="3048052" cy="1328864"/>
            </a:xfrm>
          </p:grpSpPr>
          <p:pic>
            <p:nvPicPr>
              <p:cNvPr id="398338" name="Picture 2"/>
              <p:cNvPicPr>
                <a:picLocks noChangeAspect="1" noChangeArrowheads="1"/>
              </p:cNvPicPr>
              <p:nvPr/>
            </p:nvPicPr>
            <p:blipFill>
              <a:blip r:embed="rId3"/>
              <a:srcRect/>
              <a:stretch>
                <a:fillRect/>
              </a:stretch>
            </p:blipFill>
            <p:spPr bwMode="auto">
              <a:xfrm>
                <a:off x="6072198" y="2357430"/>
                <a:ext cx="2686069" cy="571504"/>
              </a:xfrm>
              <a:prstGeom prst="rect">
                <a:avLst/>
              </a:prstGeom>
              <a:noFill/>
              <a:ln w="9525">
                <a:noFill/>
                <a:miter lim="800000"/>
                <a:headEnd/>
                <a:tailEnd/>
              </a:ln>
              <a:effectLst/>
            </p:spPr>
          </p:pic>
          <p:sp>
            <p:nvSpPr>
              <p:cNvPr id="35" name="TextBox 34"/>
              <p:cNvSpPr txBox="1"/>
              <p:nvPr/>
            </p:nvSpPr>
            <p:spPr>
              <a:xfrm>
                <a:off x="5953072" y="235743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36" name="TextBox 35"/>
              <p:cNvSpPr txBox="1"/>
              <p:nvPr/>
            </p:nvSpPr>
            <p:spPr>
              <a:xfrm>
                <a:off x="8585405" y="2393055"/>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37" name="弧形 36"/>
              <p:cNvSpPr/>
              <p:nvPr/>
            </p:nvSpPr>
            <p:spPr bwMode="auto">
              <a:xfrm rot="21158728">
                <a:off x="6000760" y="2259953"/>
                <a:ext cx="3000364" cy="914400"/>
              </a:xfrm>
              <a:prstGeom prst="arc">
                <a:avLst>
                  <a:gd name="adj1" fmla="val 11558353"/>
                  <a:gd name="adj2" fmla="val 20615276"/>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38" name="TextBox 37"/>
              <p:cNvSpPr txBox="1"/>
              <p:nvPr/>
            </p:nvSpPr>
            <p:spPr>
              <a:xfrm>
                <a:off x="8548590" y="1845489"/>
                <a:ext cx="41549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r>
                  <a:rPr lang="en-US" altLang="zh-CN" b="1">
                    <a:latin typeface="Times New Roman" pitchFamily="18" charset="0"/>
                    <a:cs typeface="Times New Roman" pitchFamily="18" charset="0"/>
                  </a:rPr>
                  <a:t>’</a:t>
                </a:r>
                <a:endParaRPr lang="zh-CN" altLang="en-US" b="1">
                  <a:latin typeface="Times New Roman" pitchFamily="18" charset="0"/>
                  <a:cs typeface="Times New Roman" pitchFamily="18" charset="0"/>
                </a:endParaRPr>
              </a:p>
            </p:txBody>
          </p:sp>
        </p:grpSp>
        <p:cxnSp>
          <p:nvCxnSpPr>
            <p:cNvPr id="42" name="直接连接符 41"/>
            <p:cNvCxnSpPr/>
            <p:nvPr/>
          </p:nvCxnSpPr>
          <p:spPr bwMode="auto">
            <a:xfrm>
              <a:off x="8417589" y="226046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箭头连接符 43"/>
            <p:cNvCxnSpPr/>
            <p:nvPr/>
          </p:nvCxnSpPr>
          <p:spPr bwMode="auto">
            <a:xfrm rot="5400000" flipH="1" flipV="1">
              <a:off x="8369572" y="2429385"/>
              <a:ext cx="360000" cy="1588"/>
            </a:xfrm>
            <a:prstGeom prst="straightConnector1">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45" name="TextBox 44"/>
            <p:cNvSpPr txBox="1"/>
            <p:nvPr/>
          </p:nvSpPr>
          <p:spPr>
            <a:xfrm>
              <a:off x="8215338" y="2214554"/>
              <a:ext cx="344966" cy="400110"/>
            </a:xfrm>
            <a:prstGeom prst="rect">
              <a:avLst/>
            </a:prstGeom>
            <a:noFill/>
            <a:ln w="28575">
              <a:noFill/>
            </a:ln>
          </p:spPr>
          <p:txBody>
            <a:bodyPr wrap="none" rtlCol="0">
              <a:spAutoFit/>
            </a:bodyPr>
            <a:lstStyle/>
            <a:p>
              <a:r>
                <a:rPr lang="el-GR" altLang="zh-CN" sz="2000" b="1" i="1">
                  <a:latin typeface="Times New Roman" pitchFamily="18" charset="0"/>
                  <a:cs typeface="Times New Roman" pitchFamily="18" charset="0"/>
                </a:rPr>
                <a:t>Δ</a:t>
              </a:r>
              <a:endParaRPr lang="zh-CN" altLang="en-US" sz="2000" b="1" i="1">
                <a:latin typeface="Times New Roman" pitchFamily="18" charset="0"/>
                <a:cs typeface="Times New Roman" pitchFamily="18" charset="0"/>
              </a:endParaRPr>
            </a:p>
          </p:txBody>
        </p:sp>
        <p:cxnSp>
          <p:nvCxnSpPr>
            <p:cNvPr id="48" name="直接连接符 47"/>
            <p:cNvCxnSpPr>
              <a:cxnSpLocks noChangeAspect="1"/>
            </p:cNvCxnSpPr>
            <p:nvPr/>
          </p:nvCxnSpPr>
          <p:spPr bwMode="auto">
            <a:xfrm flipV="1">
              <a:off x="6262763" y="2309742"/>
              <a:ext cx="678661" cy="28575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TextBox 49"/>
            <p:cNvSpPr txBox="1"/>
            <p:nvPr/>
          </p:nvSpPr>
          <p:spPr>
            <a:xfrm>
              <a:off x="6643702" y="2278885"/>
              <a:ext cx="431528" cy="400110"/>
            </a:xfrm>
            <a:prstGeom prst="rect">
              <a:avLst/>
            </a:prstGeom>
            <a:noFill/>
            <a:ln w="28575">
              <a:noFill/>
            </a:ln>
          </p:spPr>
          <p:txBody>
            <a:bodyPr wrap="none" rtlCol="0">
              <a:spAutoFit/>
            </a:bodyPr>
            <a:lstStyle/>
            <a:p>
              <a:r>
                <a:rPr lang="el-GR" altLang="zh-CN" sz="2000" b="1" i="1">
                  <a:latin typeface="Times New Roman"/>
                  <a:cs typeface="Times New Roman"/>
                </a:rPr>
                <a:t>θ</a:t>
              </a:r>
              <a:r>
                <a:rPr lang="en-US" altLang="zh-CN" sz="2000" b="1" i="1" baseline="-25000">
                  <a:latin typeface="Times New Roman"/>
                  <a:cs typeface="Times New Roman"/>
                </a:rPr>
                <a:t>A</a:t>
              </a:r>
              <a:endParaRPr lang="zh-CN" altLang="en-US" sz="2000" b="1" i="1" baseline="-25000"/>
            </a:p>
          </p:txBody>
        </p:sp>
      </p:grpSp>
      <p:sp>
        <p:nvSpPr>
          <p:cNvPr id="60" name="TextBox 59"/>
          <p:cNvSpPr txBox="1"/>
          <p:nvPr/>
        </p:nvSpPr>
        <p:spPr>
          <a:xfrm>
            <a:off x="1225431" y="2643182"/>
            <a:ext cx="4489577" cy="1692771"/>
          </a:xfrm>
          <a:prstGeom prst="rect">
            <a:avLst/>
          </a:prstGeom>
          <a:noFill/>
          <a:ln w="28575">
            <a:noFill/>
          </a:ln>
        </p:spPr>
        <p:txBody>
          <a:bodyPr wrap="square" rtlCol="0">
            <a:spAutoFit/>
          </a:bodyPr>
          <a:lstStyle/>
          <a:p>
            <a:pPr marL="363538" indent="-363538" algn="just">
              <a:lnSpc>
                <a:spcPct val="130000"/>
              </a:lnSpc>
              <a:tabLst>
                <a:tab pos="363538" algn="l"/>
              </a:tabLst>
            </a:pPr>
            <a:r>
              <a:rPr lang="zh-CN" altLang="en-US" sz="2000" b="1"/>
              <a:t>⑴</a:t>
            </a:r>
            <a:r>
              <a:rPr lang="en-US" altLang="zh-CN" sz="2000" b="1"/>
              <a:t> </a:t>
            </a:r>
            <a:r>
              <a:rPr lang="zh-CN" altLang="en-US" sz="2000" b="1"/>
              <a:t>虚设</a:t>
            </a:r>
            <a:r>
              <a:rPr lang="el-GR" altLang="zh-CN" sz="2000" b="1" i="1">
                <a:latin typeface="Times New Roman"/>
                <a:cs typeface="Times New Roman"/>
              </a:rPr>
              <a:t>θ</a:t>
            </a:r>
            <a:r>
              <a:rPr lang="en-US" altLang="zh-CN" sz="2000" b="1" i="1" baseline="-25000">
                <a:latin typeface="Times New Roman"/>
                <a:cs typeface="Times New Roman"/>
              </a:rPr>
              <a:t>A</a:t>
            </a:r>
            <a:r>
              <a:rPr lang="zh-CN" altLang="en-US" sz="2000" b="1">
                <a:latin typeface="Times New Roman"/>
                <a:cs typeface="Times New Roman"/>
              </a:rPr>
              <a:t>对应的单位荷载；</a:t>
            </a:r>
            <a:endParaRPr lang="en-US" altLang="zh-CN" sz="2000" b="1">
              <a:latin typeface="Times New Roman"/>
              <a:cs typeface="Times New Roman"/>
            </a:endParaRPr>
          </a:p>
          <a:p>
            <a:pPr marL="273050" indent="-273050" algn="just">
              <a:lnSpc>
                <a:spcPct val="130000"/>
              </a:lnSpc>
            </a:pPr>
            <a:r>
              <a:rPr lang="zh-CN" altLang="en-US" sz="2000" b="1"/>
              <a:t>⑵</a:t>
            </a:r>
            <a:r>
              <a:rPr lang="en-US" altLang="zh-CN" sz="2000" b="1"/>
              <a:t>	</a:t>
            </a:r>
            <a:r>
              <a:rPr lang="zh-CN" altLang="en-US" sz="2000" b="1"/>
              <a:t>根据平衡条件，求出结构内力和支座反力；</a:t>
            </a:r>
            <a:endParaRPr lang="en-US" altLang="zh-CN" sz="2000" b="1"/>
          </a:p>
          <a:p>
            <a:pPr marL="273050" indent="-273050" algn="just">
              <a:lnSpc>
                <a:spcPct val="130000"/>
              </a:lnSpc>
              <a:tabLst>
                <a:tab pos="273050" algn="l"/>
              </a:tabLst>
            </a:pPr>
            <a:r>
              <a:rPr lang="zh-CN" altLang="en-US" sz="2000" b="1"/>
              <a:t>⑶</a:t>
            </a:r>
            <a:r>
              <a:rPr lang="en-US" altLang="zh-CN" sz="2000" b="1"/>
              <a:t>	</a:t>
            </a:r>
            <a:r>
              <a:rPr lang="zh-CN" altLang="en-US" sz="2000" b="1"/>
              <a:t>根据公式，算出位移；</a:t>
            </a:r>
          </a:p>
        </p:txBody>
      </p:sp>
      <p:grpSp>
        <p:nvGrpSpPr>
          <p:cNvPr id="12" name="组合 61"/>
          <p:cNvGrpSpPr/>
          <p:nvPr/>
        </p:nvGrpSpPr>
        <p:grpSpPr>
          <a:xfrm>
            <a:off x="5930466" y="2226429"/>
            <a:ext cx="517327" cy="860803"/>
            <a:chOff x="7873622" y="4238568"/>
            <a:chExt cx="517327" cy="860803"/>
          </a:xfrm>
        </p:grpSpPr>
        <p:grpSp>
          <p:nvGrpSpPr>
            <p:cNvPr id="13" name="组合 86"/>
            <p:cNvGrpSpPr/>
            <p:nvPr/>
          </p:nvGrpSpPr>
          <p:grpSpPr>
            <a:xfrm>
              <a:off x="7873622" y="4599305"/>
              <a:ext cx="517327" cy="500066"/>
              <a:chOff x="7873622" y="4599305"/>
              <a:chExt cx="517327" cy="500066"/>
            </a:xfrm>
          </p:grpSpPr>
          <p:sp>
            <p:nvSpPr>
              <p:cNvPr id="66" name="弧形 65"/>
              <p:cNvSpPr/>
              <p:nvPr/>
            </p:nvSpPr>
            <p:spPr bwMode="auto">
              <a:xfrm rot="19314812">
                <a:off x="7873622" y="4599305"/>
                <a:ext cx="517327" cy="500066"/>
              </a:xfrm>
              <a:prstGeom prst="arc">
                <a:avLst>
                  <a:gd name="adj1" fmla="val 16200000"/>
                  <a:gd name="adj2" fmla="val 5078637"/>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cxnSp>
            <p:nvCxnSpPr>
              <p:cNvPr id="67" name="直接连接符 66"/>
              <p:cNvCxnSpPr/>
              <p:nvPr/>
            </p:nvCxnSpPr>
            <p:spPr bwMode="auto">
              <a:xfrm rot="16200000" flipH="1">
                <a:off x="8144221" y="4857439"/>
                <a:ext cx="173171" cy="160364"/>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65" name="TextBox 64"/>
            <p:cNvSpPr txBox="1"/>
            <p:nvPr/>
          </p:nvSpPr>
          <p:spPr>
            <a:xfrm>
              <a:off x="8086792" y="4238568"/>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grpSp>
        <p:nvGrpSpPr>
          <p:cNvPr id="15" name="组合 100"/>
          <p:cNvGrpSpPr/>
          <p:nvPr/>
        </p:nvGrpSpPr>
        <p:grpSpPr>
          <a:xfrm>
            <a:off x="6215074" y="1785926"/>
            <a:ext cx="2286810" cy="369332"/>
            <a:chOff x="6286512" y="1571612"/>
            <a:chExt cx="2286810" cy="369332"/>
          </a:xfrm>
        </p:grpSpPr>
        <p:cxnSp>
          <p:nvCxnSpPr>
            <p:cNvPr id="81" name="直接箭头连接符 80"/>
            <p:cNvCxnSpPr/>
            <p:nvPr/>
          </p:nvCxnSpPr>
          <p:spPr bwMode="auto">
            <a:xfrm rot="10800000">
              <a:off x="6286512" y="1785926"/>
              <a:ext cx="2286016"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94" name="直接连接符 93"/>
            <p:cNvCxnSpPr/>
            <p:nvPr/>
          </p:nvCxnSpPr>
          <p:spPr bwMode="auto">
            <a:xfrm rot="5400000">
              <a:off x="8465371" y="179710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5" name="直接连接符 94"/>
            <p:cNvCxnSpPr/>
            <p:nvPr/>
          </p:nvCxnSpPr>
          <p:spPr bwMode="auto">
            <a:xfrm rot="5400000">
              <a:off x="6180149" y="179710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7" name="TextBox 96"/>
            <p:cNvSpPr txBox="1"/>
            <p:nvPr/>
          </p:nvSpPr>
          <p:spPr>
            <a:xfrm>
              <a:off x="7286644" y="1571612"/>
              <a:ext cx="248786" cy="369332"/>
            </a:xfrm>
            <a:prstGeom prst="rect">
              <a:avLst/>
            </a:prstGeom>
            <a:solidFill>
              <a:schemeClr val="bg1"/>
            </a:solidFill>
            <a:ln w="28575">
              <a:noFill/>
            </a:ln>
          </p:spPr>
          <p:txBody>
            <a:bodyPr wrap="none" rtlCol="0">
              <a:spAutoFit/>
            </a:bodyPr>
            <a:lstStyle/>
            <a:p>
              <a:r>
                <a:rPr lang="en-US" altLang="zh-CN" b="1" i="1">
                  <a:latin typeface="Times New Roman" pitchFamily="18" charset="0"/>
                  <a:cs typeface="Times New Roman" pitchFamily="18" charset="0"/>
                </a:rPr>
                <a:t>l</a:t>
              </a:r>
              <a:endParaRPr lang="zh-CN" altLang="en-US" b="1">
                <a:latin typeface="Times New Roman" pitchFamily="18" charset="0"/>
                <a:cs typeface="Times New Roman" pitchFamily="18" charset="0"/>
              </a:endParaRPr>
            </a:p>
          </p:txBody>
        </p:sp>
      </p:grpSp>
      <p:grpSp>
        <p:nvGrpSpPr>
          <p:cNvPr id="100" name="组合 99"/>
          <p:cNvGrpSpPr/>
          <p:nvPr/>
        </p:nvGrpSpPr>
        <p:grpSpPr>
          <a:xfrm>
            <a:off x="5857884" y="3131106"/>
            <a:ext cx="2828945" cy="1226588"/>
            <a:chOff x="5929322" y="2916792"/>
            <a:chExt cx="2828945" cy="1226588"/>
          </a:xfrm>
        </p:grpSpPr>
        <p:pic>
          <p:nvPicPr>
            <p:cNvPr id="68" name="Picture 2"/>
            <p:cNvPicPr>
              <a:picLocks noChangeAspect="1" noChangeArrowheads="1"/>
            </p:cNvPicPr>
            <p:nvPr/>
          </p:nvPicPr>
          <p:blipFill>
            <a:blip r:embed="rId3"/>
            <a:srcRect/>
            <a:stretch>
              <a:fillRect/>
            </a:stretch>
          </p:blipFill>
          <p:spPr bwMode="auto">
            <a:xfrm>
              <a:off x="6072198" y="3345420"/>
              <a:ext cx="2686069" cy="571504"/>
            </a:xfrm>
            <a:prstGeom prst="rect">
              <a:avLst/>
            </a:prstGeom>
            <a:noFill/>
            <a:ln w="9525">
              <a:noFill/>
              <a:miter lim="800000"/>
              <a:headEnd/>
              <a:tailEnd/>
            </a:ln>
            <a:effectLst/>
          </p:spPr>
        </p:pic>
        <p:grpSp>
          <p:nvGrpSpPr>
            <p:cNvPr id="14" name="组合 76"/>
            <p:cNvGrpSpPr/>
            <p:nvPr/>
          </p:nvGrpSpPr>
          <p:grpSpPr>
            <a:xfrm>
              <a:off x="5929322" y="2916792"/>
              <a:ext cx="2608542" cy="652945"/>
              <a:chOff x="5929322" y="5143512"/>
              <a:chExt cx="2608542" cy="652945"/>
            </a:xfrm>
          </p:grpSpPr>
          <p:cxnSp>
            <p:nvCxnSpPr>
              <p:cNvPr id="70" name="直接连接符 69"/>
              <p:cNvCxnSpPr/>
              <p:nvPr/>
            </p:nvCxnSpPr>
            <p:spPr bwMode="auto">
              <a:xfrm rot="5400000" flipH="1" flipV="1">
                <a:off x="6048260" y="5572140"/>
                <a:ext cx="428628"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sp>
            <p:nvSpPr>
              <p:cNvPr id="72" name="TextBox 71"/>
              <p:cNvSpPr txBox="1"/>
              <p:nvPr/>
            </p:nvSpPr>
            <p:spPr>
              <a:xfrm flipH="1">
                <a:off x="5929322" y="5143512"/>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cxnSp>
            <p:nvCxnSpPr>
              <p:cNvPr id="75" name="直接连接符 74"/>
              <p:cNvCxnSpPr>
                <a:cxnSpLocks noChangeAspect="1"/>
              </p:cNvCxnSpPr>
              <p:nvPr/>
            </p:nvCxnSpPr>
            <p:spPr bwMode="auto">
              <a:xfrm>
                <a:off x="6265030" y="5351929"/>
                <a:ext cx="2272834" cy="444528"/>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cxnSp>
          <p:nvCxnSpPr>
            <p:cNvPr id="79" name="直接箭头连接符 78"/>
            <p:cNvCxnSpPr/>
            <p:nvPr/>
          </p:nvCxnSpPr>
          <p:spPr bwMode="auto">
            <a:xfrm rot="5400000" flipH="1" flipV="1">
              <a:off x="8358214" y="3774048"/>
              <a:ext cx="428628" cy="1588"/>
            </a:xfrm>
            <a:prstGeom prst="straightConnector1">
              <a:avLst/>
            </a:prstGeom>
            <a:solidFill>
              <a:schemeClr val="accent1"/>
            </a:solidFill>
            <a:ln w="38100" cap="flat" cmpd="sng" algn="ctr">
              <a:solidFill>
                <a:srgbClr val="C00000"/>
              </a:solidFill>
              <a:prstDash val="solid"/>
              <a:round/>
              <a:headEnd type="arrow" w="med" len="med"/>
              <a:tailEnd type="none" w="med" len="med"/>
            </a:ln>
            <a:effectLst/>
          </p:spPr>
        </p:cxnSp>
        <p:sp>
          <p:nvSpPr>
            <p:cNvPr id="105" name="TextBox 104"/>
            <p:cNvSpPr txBox="1"/>
            <p:nvPr/>
          </p:nvSpPr>
          <p:spPr>
            <a:xfrm flipH="1">
              <a:off x="8001024" y="3774048"/>
              <a:ext cx="42832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r>
                <a:rPr lang="en-US" altLang="zh-CN" b="1" i="1">
                  <a:solidFill>
                    <a:srgbClr val="C00000"/>
                  </a:solidFill>
                  <a:latin typeface="Times New Roman" pitchFamily="18" charset="0"/>
                  <a:cs typeface="Times New Roman" pitchFamily="18" charset="0"/>
                </a:rPr>
                <a:t>l</a:t>
              </a:r>
              <a:endParaRPr lang="zh-CN" altLang="en-US" b="1" i="1">
                <a:solidFill>
                  <a:srgbClr val="C00000"/>
                </a:solidFill>
                <a:latin typeface="Times New Roman" pitchFamily="18" charset="0"/>
                <a:cs typeface="Times New Roman" pitchFamily="18" charset="0"/>
              </a:endParaRPr>
            </a:p>
          </p:txBody>
        </p:sp>
      </p:grpSp>
      <p:grpSp>
        <p:nvGrpSpPr>
          <p:cNvPr id="77" name="组合 55"/>
          <p:cNvGrpSpPr/>
          <p:nvPr/>
        </p:nvGrpSpPr>
        <p:grpSpPr>
          <a:xfrm>
            <a:off x="1869231" y="4429132"/>
            <a:ext cx="4560157" cy="492443"/>
            <a:chOff x="2797925" y="4238757"/>
            <a:chExt cx="4560157" cy="492443"/>
          </a:xfrm>
        </p:grpSpPr>
        <p:grpSp>
          <p:nvGrpSpPr>
            <p:cNvPr id="78" name="组合 38"/>
            <p:cNvGrpSpPr/>
            <p:nvPr/>
          </p:nvGrpSpPr>
          <p:grpSpPr>
            <a:xfrm>
              <a:off x="2797925" y="4238757"/>
              <a:ext cx="4560157" cy="492443"/>
              <a:chOff x="2143108" y="5715015"/>
              <a:chExt cx="4560157" cy="484936"/>
            </a:xfrm>
          </p:grpSpPr>
          <p:sp>
            <p:nvSpPr>
              <p:cNvPr id="85" name="矩形 84"/>
              <p:cNvSpPr/>
              <p:nvPr/>
            </p:nvSpPr>
            <p:spPr>
              <a:xfrm>
                <a:off x="2143108" y="5715015"/>
                <a:ext cx="4560157" cy="484936"/>
              </a:xfrm>
              <a:prstGeom prst="rect">
                <a:avLst/>
              </a:prstGeom>
              <a:ln w="19050">
                <a:solidFill>
                  <a:srgbClr val="C00000"/>
                </a:solid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87" name="直接连接符 86"/>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9" name="直接连接符 88"/>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0" name="直接连接符 89"/>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83" name="直接连接符 82"/>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0">
                                            <p:txEl>
                                              <p:pRg st="0" end="0"/>
                                            </p:txEl>
                                          </p:spTgt>
                                        </p:tgtEl>
                                        <p:attrNameLst>
                                          <p:attrName>style.visibility</p:attrName>
                                        </p:attrNameLst>
                                      </p:cBhvr>
                                      <p:to>
                                        <p:strVal val="visible"/>
                                      </p:to>
                                    </p:set>
                                    <p:animEffect transition="in" filter="wipe(up)">
                                      <p:cBhvr>
                                        <p:cTn id="12" dur="500"/>
                                        <p:tgtEl>
                                          <p:spTgt spid="6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0">
                                            <p:txEl>
                                              <p:pRg st="1" end="1"/>
                                            </p:txEl>
                                          </p:spTgt>
                                        </p:tgtEl>
                                        <p:attrNameLst>
                                          <p:attrName>style.visibility</p:attrName>
                                        </p:attrNameLst>
                                      </p:cBhvr>
                                      <p:to>
                                        <p:strVal val="visible"/>
                                      </p:to>
                                    </p:set>
                                    <p:animEffect transition="in" filter="wipe(up)">
                                      <p:cBhvr>
                                        <p:cTn id="17" dur="500"/>
                                        <p:tgtEl>
                                          <p:spTgt spid="6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blinds(horizontal)">
                                      <p:cBhvr>
                                        <p:cTn id="22" dur="500"/>
                                        <p:tgtEl>
                                          <p:spTgt spid="1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0">
                                            <p:txEl>
                                              <p:pRg st="2" end="2"/>
                                            </p:txEl>
                                          </p:spTgt>
                                        </p:tgtEl>
                                        <p:attrNameLst>
                                          <p:attrName>style.visibility</p:attrName>
                                        </p:attrNameLst>
                                      </p:cBhvr>
                                      <p:to>
                                        <p:strVal val="visible"/>
                                      </p:to>
                                    </p:set>
                                    <p:animEffect transition="in" filter="wipe(up)">
                                      <p:cBhvr>
                                        <p:cTn id="27" dur="500"/>
                                        <p:tgtEl>
                                          <p:spTgt spid="6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7"/>
                                        </p:tgtEl>
                                        <p:attrNameLst>
                                          <p:attrName>style.visibility</p:attrName>
                                        </p:attrNameLst>
                                      </p:cBhvr>
                                      <p:to>
                                        <p:strVal val="visible"/>
                                      </p:to>
                                    </p:set>
                                    <p:anim calcmode="lin" valueType="num">
                                      <p:cBhvr additive="base">
                                        <p:cTn id="32" dur="500" fill="hold"/>
                                        <p:tgtEl>
                                          <p:spTgt spid="77"/>
                                        </p:tgtEl>
                                        <p:attrNameLst>
                                          <p:attrName>ppt_x</p:attrName>
                                        </p:attrNameLst>
                                      </p:cBhvr>
                                      <p:tavLst>
                                        <p:tav tm="0">
                                          <p:val>
                                            <p:strVal val="#ppt_x"/>
                                          </p:val>
                                        </p:tav>
                                        <p:tav tm="100000">
                                          <p:val>
                                            <p:strVal val="#ppt_x"/>
                                          </p:val>
                                        </p:tav>
                                      </p:tavLst>
                                    </p:anim>
                                    <p:anim calcmode="lin" valueType="num">
                                      <p:cBhvr additive="base">
                                        <p:cTn id="33"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60" grpId="0" uiExpand="1"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928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529" name="Text Box 2"/>
          <p:cNvSpPr txBox="1">
            <a:spLocks noChangeArrowheads="1"/>
          </p:cNvSpPr>
          <p:nvPr/>
        </p:nvSpPr>
        <p:spPr bwMode="auto">
          <a:xfrm>
            <a:off x="1214414" y="2214554"/>
            <a:ext cx="4357718" cy="1200329"/>
          </a:xfrm>
          <a:prstGeom prst="rect">
            <a:avLst/>
          </a:prstGeom>
          <a:noFill/>
          <a:ln w="9525">
            <a:noFill/>
            <a:miter lim="800000"/>
            <a:headEnd/>
            <a:tailEnd/>
          </a:ln>
        </p:spPr>
        <p:txBody>
          <a:bodyPr wrap="square">
            <a:spAutoFit/>
          </a:bodyPr>
          <a:lstStyle/>
          <a:p>
            <a:pPr marL="534988" indent="-534988" fontAlgn="base">
              <a:lnSpc>
                <a:spcPct val="120000"/>
              </a:lnSpc>
              <a:spcAft>
                <a:spcPct val="0"/>
              </a:spcAft>
            </a:pPr>
            <a:r>
              <a:rPr kumimoji="1" lang="zh-CN" altLang="en-US" sz="2000" b="1" kern="1200">
                <a:solidFill>
                  <a:srgbClr val="000000"/>
                </a:solidFill>
                <a:latin typeface="Times New Roman" pitchFamily="18" charset="0"/>
                <a:cs typeface="Times New Roman" pitchFamily="18" charset="0"/>
              </a:rPr>
              <a:t>例：刚架由于制造误差在</a:t>
            </a:r>
            <a:r>
              <a:rPr kumimoji="1" lang="en-US" altLang="zh-CN" sz="2000" b="1" i="1" kern="1200">
                <a:solidFill>
                  <a:srgbClr val="000000"/>
                </a:solidFill>
                <a:latin typeface="Times New Roman" pitchFamily="18" charset="0"/>
                <a:cs typeface="Times New Roman" pitchFamily="18" charset="0"/>
              </a:rPr>
              <a:t>C</a:t>
            </a:r>
            <a:r>
              <a:rPr kumimoji="1" lang="zh-CN" altLang="en-US" sz="2000" b="1" kern="1200">
                <a:solidFill>
                  <a:srgbClr val="000000"/>
                </a:solidFill>
                <a:latin typeface="Times New Roman" pitchFamily="18" charset="0"/>
                <a:cs typeface="Times New Roman" pitchFamily="18" charset="0"/>
              </a:rPr>
              <a:t>点产生转角，</a:t>
            </a:r>
            <a:r>
              <a:rPr kumimoji="1" lang="zh-CN" altLang="en-US" sz="2000" b="1">
                <a:solidFill>
                  <a:srgbClr val="000000"/>
                </a:solidFill>
                <a:latin typeface="Times New Roman" pitchFamily="18" charset="0"/>
                <a:cs typeface="Times New Roman" pitchFamily="18" charset="0"/>
              </a:rPr>
              <a:t>试</a:t>
            </a:r>
            <a:r>
              <a:rPr kumimoji="1" lang="zh-CN" altLang="en-US" sz="2000" b="1" kern="1200">
                <a:solidFill>
                  <a:srgbClr val="000000"/>
                </a:solidFill>
                <a:latin typeface="Times New Roman" pitchFamily="18" charset="0"/>
                <a:cs typeface="Times New Roman" pitchFamily="18" charset="0"/>
              </a:rPr>
              <a:t>求</a:t>
            </a:r>
            <a:r>
              <a:rPr kumimoji="1" lang="en-US" altLang="zh-CN" sz="2000" b="1" i="1" kern="1200">
                <a:solidFill>
                  <a:srgbClr val="000000"/>
                </a:solidFill>
                <a:latin typeface="Times New Roman" pitchFamily="18" charset="0"/>
                <a:cs typeface="Times New Roman" pitchFamily="18" charset="0"/>
              </a:rPr>
              <a:t>A</a:t>
            </a:r>
            <a:r>
              <a:rPr kumimoji="1" lang="zh-CN" altLang="en-US" sz="2000" b="1" kern="1200">
                <a:solidFill>
                  <a:srgbClr val="000000"/>
                </a:solidFill>
                <a:latin typeface="Times New Roman" pitchFamily="18" charset="0"/>
                <a:cs typeface="Times New Roman" pitchFamily="18" charset="0"/>
              </a:rPr>
              <a:t>、</a:t>
            </a:r>
            <a:r>
              <a:rPr kumimoji="1" lang="en-US" altLang="zh-CN" sz="2000" b="1" i="1" kern="1200">
                <a:solidFill>
                  <a:srgbClr val="000000"/>
                </a:solidFill>
                <a:latin typeface="Times New Roman" pitchFamily="18" charset="0"/>
                <a:cs typeface="Times New Roman" pitchFamily="18" charset="0"/>
              </a:rPr>
              <a:t>B</a:t>
            </a:r>
            <a:r>
              <a:rPr kumimoji="1" lang="zh-CN" altLang="en-US" sz="2000" b="1" kern="1200">
                <a:solidFill>
                  <a:srgbClr val="000000"/>
                </a:solidFill>
                <a:latin typeface="Times New Roman" pitchFamily="18" charset="0"/>
                <a:cs typeface="Times New Roman" pitchFamily="18" charset="0"/>
              </a:rPr>
              <a:t>两点的相对水平位移 </a:t>
            </a:r>
            <a:r>
              <a:rPr lang="el-GR" altLang="zh-CN" sz="2000" b="1" i="1">
                <a:latin typeface="Times New Roman"/>
                <a:cs typeface="Times New Roman"/>
              </a:rPr>
              <a:t>Δ</a:t>
            </a:r>
            <a:r>
              <a:rPr lang="el-GR" altLang="zh-CN" sz="2000" b="1" i="1" baseline="-25000">
                <a:latin typeface="Times New Roman"/>
                <a:cs typeface="Times New Roman"/>
              </a:rPr>
              <a:t> </a:t>
            </a:r>
            <a:r>
              <a:rPr lang="en-US" altLang="zh-CN" sz="2000" b="1" i="1">
                <a:latin typeface="Times New Roman"/>
                <a:cs typeface="Times New Roman"/>
              </a:rPr>
              <a:t>=</a:t>
            </a:r>
            <a:r>
              <a:rPr lang="el-GR" altLang="zh-CN" sz="2000" b="1" i="1">
                <a:latin typeface="Times New Roman"/>
                <a:cs typeface="Times New Roman"/>
              </a:rPr>
              <a:t>Δ</a:t>
            </a:r>
            <a:r>
              <a:rPr lang="en-US" altLang="zh-CN" sz="2000" b="1" i="1" baseline="-25000">
                <a:latin typeface="Times New Roman"/>
                <a:cs typeface="Times New Roman"/>
              </a:rPr>
              <a:t>B </a:t>
            </a:r>
            <a:r>
              <a:rPr lang="en-US" altLang="zh-CN" sz="2000" b="1" i="1">
                <a:latin typeface="Times New Roman"/>
                <a:cs typeface="Times New Roman"/>
              </a:rPr>
              <a:t>+ </a:t>
            </a:r>
            <a:r>
              <a:rPr lang="el-GR" altLang="zh-CN" sz="2000" b="1" i="1">
                <a:latin typeface="Times New Roman"/>
                <a:cs typeface="Times New Roman"/>
              </a:rPr>
              <a:t>Δ</a:t>
            </a:r>
            <a:r>
              <a:rPr lang="en-US" altLang="zh-CN" sz="2000" b="1" i="1" baseline="-25000">
                <a:latin typeface="Times New Roman"/>
                <a:cs typeface="Times New Roman"/>
              </a:rPr>
              <a:t>A</a:t>
            </a:r>
            <a:endParaRPr lang="zh-CN" altLang="en-US" sz="2000" baseline="-25000"/>
          </a:p>
        </p:txBody>
      </p:sp>
      <p:grpSp>
        <p:nvGrpSpPr>
          <p:cNvPr id="39" name="组合 38"/>
          <p:cNvGrpSpPr/>
          <p:nvPr/>
        </p:nvGrpSpPr>
        <p:grpSpPr>
          <a:xfrm>
            <a:off x="5732185" y="1843917"/>
            <a:ext cx="2971878" cy="2311605"/>
            <a:chOff x="5643570" y="1843917"/>
            <a:chExt cx="2971878" cy="2311605"/>
          </a:xfrm>
        </p:grpSpPr>
        <p:pic>
          <p:nvPicPr>
            <p:cNvPr id="10" name="Picture 8"/>
            <p:cNvPicPr>
              <a:picLocks noChangeAspect="1" noChangeArrowheads="1"/>
            </p:cNvPicPr>
            <p:nvPr/>
          </p:nvPicPr>
          <p:blipFill>
            <a:blip r:embed="rId3"/>
            <a:srcRect/>
            <a:stretch>
              <a:fillRect/>
            </a:stretch>
          </p:blipFill>
          <p:spPr bwMode="auto">
            <a:xfrm>
              <a:off x="5643570" y="1947988"/>
              <a:ext cx="2571768" cy="2020674"/>
            </a:xfrm>
            <a:prstGeom prst="rect">
              <a:avLst/>
            </a:prstGeom>
            <a:noFill/>
            <a:ln w="9525">
              <a:noFill/>
              <a:miter lim="800000"/>
              <a:headEnd/>
              <a:tailEnd/>
            </a:ln>
            <a:effectLst/>
          </p:spPr>
        </p:pic>
        <p:cxnSp>
          <p:nvCxnSpPr>
            <p:cNvPr id="11" name="直接连接符 10"/>
            <p:cNvCxnSpPr/>
            <p:nvPr/>
          </p:nvCxnSpPr>
          <p:spPr bwMode="auto">
            <a:xfrm flipV="1">
              <a:off x="8286776"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 name="直接连接符 11"/>
            <p:cNvCxnSpPr/>
            <p:nvPr/>
          </p:nvCxnSpPr>
          <p:spPr bwMode="auto">
            <a:xfrm flipV="1">
              <a:off x="8286776" y="3649437"/>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 name="直接箭头连接符 12"/>
            <p:cNvCxnSpPr/>
            <p:nvPr/>
          </p:nvCxnSpPr>
          <p:spPr bwMode="auto">
            <a:xfrm rot="5400000">
              <a:off x="7714478"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4" name="TextBox 13"/>
            <p:cNvSpPr txBox="1"/>
            <p:nvPr/>
          </p:nvSpPr>
          <p:spPr>
            <a:xfrm rot="16200000">
              <a:off x="8251726"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15" name="直接连接符 14"/>
            <p:cNvCxnSpPr/>
            <p:nvPr/>
          </p:nvCxnSpPr>
          <p:spPr bwMode="auto">
            <a:xfrm rot="5400000" flipV="1">
              <a:off x="6819499" y="2956780"/>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直接箭头连接符 15"/>
            <p:cNvCxnSpPr/>
            <p:nvPr/>
          </p:nvCxnSpPr>
          <p:spPr bwMode="auto">
            <a:xfrm rot="10800000">
              <a:off x="5870947" y="2905200"/>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7" name="TextBox 16"/>
            <p:cNvSpPr txBox="1"/>
            <p:nvPr/>
          </p:nvSpPr>
          <p:spPr>
            <a:xfrm>
              <a:off x="6273449" y="2677823"/>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cxnSp>
          <p:nvCxnSpPr>
            <p:cNvPr id="18" name="直接箭头连接符 17"/>
            <p:cNvCxnSpPr/>
            <p:nvPr/>
          </p:nvCxnSpPr>
          <p:spPr bwMode="auto">
            <a:xfrm rot="10800000">
              <a:off x="6955580" y="2905200"/>
              <a:ext cx="107157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9" name="TextBox 18"/>
            <p:cNvSpPr txBox="1"/>
            <p:nvPr/>
          </p:nvSpPr>
          <p:spPr>
            <a:xfrm>
              <a:off x="7331956" y="2690886"/>
              <a:ext cx="31290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grpSp>
          <p:nvGrpSpPr>
            <p:cNvPr id="20" name="组合 116"/>
            <p:cNvGrpSpPr/>
            <p:nvPr/>
          </p:nvGrpSpPr>
          <p:grpSpPr>
            <a:xfrm>
              <a:off x="5877070" y="2233741"/>
              <a:ext cx="1078785" cy="1552449"/>
              <a:chOff x="6019946" y="1785927"/>
              <a:chExt cx="1078785" cy="1552449"/>
            </a:xfrm>
          </p:grpSpPr>
          <p:cxnSp>
            <p:nvCxnSpPr>
              <p:cNvPr id="32" name="直接连接符 31"/>
              <p:cNvCxnSpPr>
                <a:stCxn id="38" idx="0"/>
              </p:cNvCxnSpPr>
              <p:nvPr/>
            </p:nvCxnSpPr>
            <p:spPr bwMode="auto">
              <a:xfrm rot="16200000" flipV="1">
                <a:off x="6484431" y="2724075"/>
                <a:ext cx="149816" cy="1078785"/>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33" name="直接连接符 32"/>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21" name="TextBox 20"/>
            <p:cNvSpPr txBox="1"/>
            <p:nvPr/>
          </p:nvSpPr>
          <p:spPr>
            <a:xfrm>
              <a:off x="7840971" y="1858669"/>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nvGrpSpPr>
            <p:cNvPr id="22" name="组合 119"/>
            <p:cNvGrpSpPr/>
            <p:nvPr/>
          </p:nvGrpSpPr>
          <p:grpSpPr>
            <a:xfrm flipH="1">
              <a:off x="6912277" y="2233740"/>
              <a:ext cx="1069561" cy="1552450"/>
              <a:chOff x="6019946" y="1785927"/>
              <a:chExt cx="1069561" cy="1552450"/>
            </a:xfrm>
          </p:grpSpPr>
          <p:cxnSp>
            <p:nvCxnSpPr>
              <p:cNvPr id="30" name="直接连接符 29"/>
              <p:cNvCxnSpPr/>
              <p:nvPr/>
            </p:nvCxnSpPr>
            <p:spPr bwMode="auto">
              <a:xfrm flipH="1" flipV="1">
                <a:off x="6019946" y="3188560"/>
                <a:ext cx="1069561" cy="149817"/>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31" name="直接连接符 30"/>
              <p:cNvCxnSpPr/>
              <p:nvPr/>
            </p:nvCxnSpPr>
            <p:spPr bwMode="auto">
              <a:xfrm rot="5400000">
                <a:off x="5422725" y="2396211"/>
                <a:ext cx="1402634" cy="182065"/>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23" name="TextBox 22"/>
            <p:cNvSpPr txBox="1"/>
            <p:nvPr/>
          </p:nvSpPr>
          <p:spPr>
            <a:xfrm>
              <a:off x="5761011" y="1843917"/>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25" name="直接连接符 24"/>
            <p:cNvCxnSpPr>
              <a:cxnSpLocks noChangeAspect="1"/>
            </p:cNvCxnSpPr>
            <p:nvPr/>
          </p:nvCxnSpPr>
          <p:spPr bwMode="auto">
            <a:xfrm>
              <a:off x="7000892" y="3805376"/>
              <a:ext cx="750099" cy="107157"/>
            </a:xfrm>
            <a:prstGeom prst="line">
              <a:avLst/>
            </a:prstGeom>
            <a:solidFill>
              <a:schemeClr val="accent1"/>
            </a:solidFill>
            <a:ln w="9525" cap="flat" cmpd="sng" algn="ctr">
              <a:solidFill>
                <a:srgbClr val="00B050"/>
              </a:solidFill>
              <a:prstDash val="solid"/>
              <a:round/>
              <a:headEnd type="none" w="med" len="med"/>
              <a:tailEnd type="none" w="med" len="med"/>
            </a:ln>
            <a:effectLst/>
          </p:spPr>
        </p:cxnSp>
        <p:sp>
          <p:nvSpPr>
            <p:cNvPr id="26" name="TextBox 25"/>
            <p:cNvSpPr txBox="1"/>
            <p:nvPr/>
          </p:nvSpPr>
          <p:spPr>
            <a:xfrm>
              <a:off x="7416457" y="3591062"/>
              <a:ext cx="322524" cy="400110"/>
            </a:xfrm>
            <a:prstGeom prst="rect">
              <a:avLst/>
            </a:prstGeom>
            <a:noFill/>
            <a:ln w="28575">
              <a:noFill/>
            </a:ln>
          </p:spPr>
          <p:txBody>
            <a:bodyPr wrap="none" rtlCol="0">
              <a:spAutoFit/>
            </a:bodyPr>
            <a:lstStyle/>
            <a:p>
              <a:r>
                <a:rPr lang="el-GR" altLang="zh-CN" sz="2000" b="1" i="1">
                  <a:latin typeface="Times New Roman"/>
                  <a:cs typeface="Times New Roman"/>
                </a:rPr>
                <a:t>θ</a:t>
              </a:r>
              <a:endParaRPr lang="zh-CN" altLang="en-US" sz="2000" b="1" i="1"/>
            </a:p>
          </p:txBody>
        </p:sp>
        <p:cxnSp>
          <p:nvCxnSpPr>
            <p:cNvPr id="27" name="直接连接符 26"/>
            <p:cNvCxnSpPr/>
            <p:nvPr/>
          </p:nvCxnSpPr>
          <p:spPr bwMode="auto">
            <a:xfrm rot="5400000" flipH="1" flipV="1">
              <a:off x="7678759" y="2223761"/>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8" name="直接连接符 27"/>
            <p:cNvCxnSpPr>
              <a:cxnSpLocks noChangeAspect="1"/>
            </p:cNvCxnSpPr>
            <p:nvPr/>
          </p:nvCxnSpPr>
          <p:spPr bwMode="auto">
            <a:xfrm>
              <a:off x="7786710" y="2214742"/>
              <a:ext cx="252000" cy="1867"/>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sp>
          <p:nvSpPr>
            <p:cNvPr id="29" name="矩形 28"/>
            <p:cNvSpPr/>
            <p:nvPr/>
          </p:nvSpPr>
          <p:spPr>
            <a:xfrm>
              <a:off x="7358082" y="2071678"/>
              <a:ext cx="431528" cy="369332"/>
            </a:xfrm>
            <a:prstGeom prst="rect">
              <a:avLst/>
            </a:prstGeom>
          </p:spPr>
          <p:txBody>
            <a:bodyPr wrap="none">
              <a:spAutoFit/>
            </a:bodyPr>
            <a:lstStyle/>
            <a:p>
              <a:r>
                <a:rPr lang="el-GR" altLang="zh-CN" b="1" i="1">
                  <a:latin typeface="Times New Roman"/>
                  <a:cs typeface="Times New Roman"/>
                </a:rPr>
                <a:t>Δ</a:t>
              </a:r>
              <a:r>
                <a:rPr lang="en-US" altLang="zh-CN" b="1" i="1" baseline="-25000">
                  <a:latin typeface="Times New Roman"/>
                  <a:cs typeface="Times New Roman"/>
                </a:rPr>
                <a:t>A</a:t>
              </a:r>
              <a:endParaRPr lang="zh-CN" altLang="en-US" baseline="-25000"/>
            </a:p>
          </p:txBody>
        </p:sp>
        <p:sp>
          <p:nvSpPr>
            <p:cNvPr id="34" name="矩形 33"/>
            <p:cNvSpPr/>
            <p:nvPr/>
          </p:nvSpPr>
          <p:spPr>
            <a:xfrm>
              <a:off x="6119886" y="2059536"/>
              <a:ext cx="431528" cy="369332"/>
            </a:xfrm>
            <a:prstGeom prst="rect">
              <a:avLst/>
            </a:prstGeom>
          </p:spPr>
          <p:txBody>
            <a:bodyPr wrap="none">
              <a:spAutoFit/>
            </a:bodyPr>
            <a:lstStyle/>
            <a:p>
              <a:r>
                <a:rPr lang="el-GR" altLang="zh-CN" b="1" i="1">
                  <a:latin typeface="Times New Roman"/>
                  <a:cs typeface="Times New Roman"/>
                </a:rPr>
                <a:t>Δ</a:t>
              </a:r>
              <a:r>
                <a:rPr lang="en-US" altLang="zh-CN" b="1" i="1" baseline="-25000">
                  <a:latin typeface="Times New Roman"/>
                  <a:cs typeface="Times New Roman"/>
                </a:rPr>
                <a:t>B</a:t>
              </a:r>
              <a:endParaRPr lang="zh-CN" altLang="en-US" baseline="-25000"/>
            </a:p>
          </p:txBody>
        </p:sp>
        <p:grpSp>
          <p:nvGrpSpPr>
            <p:cNvPr id="37" name="组合 36"/>
            <p:cNvGrpSpPr/>
            <p:nvPr/>
          </p:nvGrpSpPr>
          <p:grpSpPr>
            <a:xfrm flipH="1">
              <a:off x="5857884" y="2105968"/>
              <a:ext cx="253588" cy="214314"/>
              <a:chOff x="7642246" y="4418110"/>
              <a:chExt cx="253588" cy="214314"/>
            </a:xfrm>
          </p:grpSpPr>
          <p:cxnSp>
            <p:nvCxnSpPr>
              <p:cNvPr id="35" name="直接连接符 34"/>
              <p:cNvCxnSpPr/>
              <p:nvPr/>
            </p:nvCxnSpPr>
            <p:spPr bwMode="auto">
              <a:xfrm rot="5400000" flipH="1" flipV="1">
                <a:off x="7535883" y="4524473"/>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6" name="直接连接符 35"/>
              <p:cNvCxnSpPr>
                <a:cxnSpLocks noChangeAspect="1"/>
              </p:cNvCxnSpPr>
              <p:nvPr/>
            </p:nvCxnSpPr>
            <p:spPr bwMode="auto">
              <a:xfrm>
                <a:off x="7643834" y="4524508"/>
                <a:ext cx="252000" cy="1867"/>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grpSp>
        <p:sp>
          <p:nvSpPr>
            <p:cNvPr id="38" name="TextBox 37"/>
            <p:cNvSpPr txBox="1"/>
            <p:nvPr/>
          </p:nvSpPr>
          <p:spPr>
            <a:xfrm>
              <a:off x="6786578" y="378619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sp>
        <p:nvSpPr>
          <p:cNvPr id="40" name="TextBox 39"/>
          <p:cNvSpPr txBox="1"/>
          <p:nvPr/>
        </p:nvSpPr>
        <p:spPr>
          <a:xfrm>
            <a:off x="1733695" y="3393563"/>
            <a:ext cx="2492990" cy="400110"/>
          </a:xfrm>
          <a:prstGeom prst="rect">
            <a:avLst/>
          </a:prstGeom>
          <a:noFill/>
          <a:ln w="28575">
            <a:noFill/>
          </a:ln>
        </p:spPr>
        <p:txBody>
          <a:bodyPr wrap="none" rtlCol="0">
            <a:spAutoFit/>
          </a:bodyPr>
          <a:lstStyle/>
          <a:p>
            <a:r>
              <a:rPr lang="zh-CN" altLang="en-US" sz="2000" b="1">
                <a:solidFill>
                  <a:srgbClr val="C00000"/>
                </a:solidFill>
              </a:rPr>
              <a:t>怎样选取单位位移？</a:t>
            </a:r>
          </a:p>
        </p:txBody>
      </p:sp>
      <p:sp>
        <p:nvSpPr>
          <p:cNvPr id="41" name="TextBox 40"/>
          <p:cNvSpPr txBox="1"/>
          <p:nvPr/>
        </p:nvSpPr>
        <p:spPr>
          <a:xfrm>
            <a:off x="1750105" y="3845753"/>
            <a:ext cx="3929089" cy="1495794"/>
          </a:xfrm>
          <a:prstGeom prst="rect">
            <a:avLst/>
          </a:prstGeom>
          <a:noFill/>
          <a:ln w="28575">
            <a:noFill/>
          </a:ln>
        </p:spPr>
        <p:txBody>
          <a:bodyPr wrap="square" rtlCol="0">
            <a:spAutoFit/>
          </a:bodyPr>
          <a:lstStyle/>
          <a:p>
            <a:pPr>
              <a:lnSpc>
                <a:spcPct val="120000"/>
              </a:lnSpc>
            </a:pPr>
            <a:r>
              <a:rPr lang="zh-CN" altLang="en-US" b="1">
                <a:solidFill>
                  <a:srgbClr val="0033CC"/>
                </a:solidFill>
              </a:rPr>
              <a:t>目标：使得虚力方程中，虚力在所要求的位移方向上做的功为：</a:t>
            </a:r>
            <a:endParaRPr lang="en-US" altLang="zh-CN" b="1">
              <a:solidFill>
                <a:srgbClr val="0033CC"/>
              </a:solidFill>
            </a:endParaRPr>
          </a:p>
          <a:p>
            <a:pPr>
              <a:lnSpc>
                <a:spcPct val="120000"/>
              </a:lnSpc>
            </a:pPr>
            <a:r>
              <a:rPr lang="en-US" altLang="zh-CN" sz="2000" b="1" i="1">
                <a:solidFill>
                  <a:srgbClr val="0033CC"/>
                </a:solidFill>
                <a:latin typeface="Times New Roman"/>
                <a:cs typeface="Times New Roman"/>
              </a:rPr>
              <a:t>                    W </a:t>
            </a:r>
            <a:r>
              <a:rPr lang="en-US" altLang="zh-CN" sz="2000" b="1">
                <a:solidFill>
                  <a:srgbClr val="0033CC"/>
                </a:solidFill>
                <a:latin typeface="Times New Roman"/>
                <a:cs typeface="Times New Roman"/>
              </a:rPr>
              <a:t>= 1 · </a:t>
            </a:r>
            <a:r>
              <a:rPr lang="el-GR" altLang="zh-CN" sz="2000" b="1" i="1">
                <a:solidFill>
                  <a:srgbClr val="0033CC"/>
                </a:solidFill>
                <a:latin typeface="Times New Roman"/>
                <a:cs typeface="Times New Roman"/>
              </a:rPr>
              <a:t>Δ</a:t>
            </a:r>
            <a:endParaRPr lang="en-US" altLang="zh-CN" sz="2000" b="1">
              <a:solidFill>
                <a:srgbClr val="0033CC"/>
              </a:solidFill>
            </a:endParaRPr>
          </a:p>
          <a:p>
            <a:pPr>
              <a:lnSpc>
                <a:spcPct val="120000"/>
              </a:lnSpc>
            </a:pPr>
            <a:endParaRPr lang="zh-CN" altLang="en-US" sz="2000" b="1">
              <a:solidFill>
                <a:srgbClr val="0033CC"/>
              </a:solidFill>
            </a:endParaRPr>
          </a:p>
        </p:txBody>
      </p:sp>
      <p:sp>
        <p:nvSpPr>
          <p:cNvPr id="43" name="TextBox 42"/>
          <p:cNvSpPr txBox="1"/>
          <p:nvPr/>
        </p:nvSpPr>
        <p:spPr>
          <a:xfrm>
            <a:off x="4071934" y="4524241"/>
            <a:ext cx="3775393" cy="369332"/>
          </a:xfrm>
          <a:prstGeom prst="rect">
            <a:avLst/>
          </a:prstGeom>
          <a:noFill/>
          <a:ln w="28575">
            <a:noFill/>
          </a:ln>
        </p:spPr>
        <p:txBody>
          <a:bodyPr wrap="none" rtlCol="0">
            <a:spAutoFit/>
          </a:bodyPr>
          <a:lstStyle/>
          <a:p>
            <a:r>
              <a:rPr lang="zh-CN" altLang="en-US" b="1">
                <a:solidFill>
                  <a:srgbClr val="0033CC"/>
                </a:solidFill>
              </a:rPr>
              <a:t>（未知量前的系数为</a:t>
            </a:r>
            <a:r>
              <a:rPr lang="en-US" altLang="zh-CN" b="1">
                <a:solidFill>
                  <a:srgbClr val="0033CC"/>
                </a:solidFill>
              </a:rPr>
              <a:t>1</a:t>
            </a:r>
            <a:r>
              <a:rPr lang="zh-CN" altLang="en-US" b="1">
                <a:solidFill>
                  <a:srgbClr val="0033CC"/>
                </a:solidFill>
              </a:rPr>
              <a:t>，便于求解）</a:t>
            </a:r>
          </a:p>
        </p:txBody>
      </p:sp>
      <p:sp>
        <p:nvSpPr>
          <p:cNvPr id="44" name="Text Box 2"/>
          <p:cNvSpPr txBox="1">
            <a:spLocks noChangeArrowheads="1"/>
          </p:cNvSpPr>
          <p:nvPr/>
        </p:nvSpPr>
        <p:spPr bwMode="auto">
          <a:xfrm>
            <a:off x="1214414" y="4854249"/>
            <a:ext cx="7072362" cy="461665"/>
          </a:xfrm>
          <a:prstGeom prst="rect">
            <a:avLst/>
          </a:prstGeom>
          <a:noFill/>
          <a:ln w="9525">
            <a:noFill/>
            <a:miter lim="800000"/>
            <a:headEnd/>
            <a:tailEnd/>
          </a:ln>
        </p:spPr>
        <p:txBody>
          <a:bodyPr wrap="square">
            <a:spAutoFit/>
          </a:bodyPr>
          <a:lstStyle/>
          <a:p>
            <a:pPr marL="534988" indent="-534988" fontAlgn="base">
              <a:lnSpc>
                <a:spcPct val="120000"/>
              </a:lnSpc>
              <a:spcAft>
                <a:spcPct val="0"/>
              </a:spcAft>
            </a:pPr>
            <a:r>
              <a:rPr kumimoji="1" lang="zh-CN" altLang="en-US" sz="2000" b="1">
                <a:solidFill>
                  <a:srgbClr val="000000"/>
                </a:solidFill>
                <a:latin typeface="Times New Roman" pitchFamily="18" charset="0"/>
                <a:cs typeface="Times New Roman" pitchFamily="18" charset="0"/>
              </a:rPr>
              <a:t>解： ⑴ 由于</a:t>
            </a:r>
            <a:r>
              <a:rPr lang="el-GR" altLang="zh-CN" sz="2000" b="1" i="1">
                <a:latin typeface="Times New Roman"/>
                <a:cs typeface="Times New Roman"/>
              </a:rPr>
              <a:t>Δ</a:t>
            </a:r>
            <a:r>
              <a:rPr lang="el-GR" altLang="zh-CN" sz="2000" b="1" i="1" baseline="-25000">
                <a:latin typeface="Times New Roman"/>
                <a:cs typeface="Times New Roman"/>
              </a:rPr>
              <a:t> </a:t>
            </a:r>
            <a:r>
              <a:rPr lang="en-US" altLang="zh-CN" sz="2000" b="1" i="1">
                <a:latin typeface="Times New Roman"/>
                <a:cs typeface="Times New Roman"/>
              </a:rPr>
              <a:t>=</a:t>
            </a:r>
            <a:r>
              <a:rPr lang="el-GR" altLang="zh-CN" sz="2000" b="1" i="1">
                <a:latin typeface="Times New Roman"/>
                <a:cs typeface="Times New Roman"/>
              </a:rPr>
              <a:t>Δ</a:t>
            </a:r>
            <a:r>
              <a:rPr lang="en-US" altLang="zh-CN" sz="2000" b="1" i="1" baseline="-25000">
                <a:latin typeface="Times New Roman"/>
                <a:cs typeface="Times New Roman"/>
              </a:rPr>
              <a:t>B </a:t>
            </a:r>
            <a:r>
              <a:rPr lang="en-US" altLang="zh-CN" sz="2000" b="1" i="1">
                <a:latin typeface="Times New Roman"/>
                <a:cs typeface="Times New Roman"/>
              </a:rPr>
              <a:t>+ </a:t>
            </a:r>
            <a:r>
              <a:rPr lang="el-GR" altLang="zh-CN" sz="2000" b="1" i="1">
                <a:latin typeface="Times New Roman"/>
                <a:cs typeface="Times New Roman"/>
              </a:rPr>
              <a:t>Δ</a:t>
            </a:r>
            <a:r>
              <a:rPr lang="en-US" altLang="zh-CN" sz="2000" b="1" i="1" baseline="-25000">
                <a:latin typeface="Times New Roman"/>
                <a:cs typeface="Times New Roman"/>
              </a:rPr>
              <a:t>A</a:t>
            </a:r>
            <a:r>
              <a:rPr lang="zh-CN" altLang="en-US" sz="2000" b="1">
                <a:latin typeface="Times New Roman"/>
                <a:cs typeface="Times New Roman"/>
              </a:rPr>
              <a:t>，不妨设如图所示的单位虚荷载</a:t>
            </a:r>
            <a:endParaRPr lang="en-US" altLang="zh-CN" sz="2000" b="1">
              <a:latin typeface="Times New Roman"/>
              <a:cs typeface="Times New Roman"/>
            </a:endParaRPr>
          </a:p>
        </p:txBody>
      </p:sp>
      <p:grpSp>
        <p:nvGrpSpPr>
          <p:cNvPr id="51" name="组合 50"/>
          <p:cNvGrpSpPr/>
          <p:nvPr/>
        </p:nvGrpSpPr>
        <p:grpSpPr>
          <a:xfrm>
            <a:off x="5456150" y="2201107"/>
            <a:ext cx="3155733" cy="404313"/>
            <a:chOff x="5456150" y="2201107"/>
            <a:chExt cx="3155733" cy="404313"/>
          </a:xfrm>
        </p:grpSpPr>
        <p:cxnSp>
          <p:nvCxnSpPr>
            <p:cNvPr id="46" name="直接箭头连接符 45"/>
            <p:cNvCxnSpPr/>
            <p:nvPr/>
          </p:nvCxnSpPr>
          <p:spPr bwMode="auto">
            <a:xfrm flipV="1">
              <a:off x="5456150" y="2214554"/>
              <a:ext cx="481430" cy="0"/>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cxnSp>
          <p:nvCxnSpPr>
            <p:cNvPr id="48" name="直接箭头连接符 47"/>
            <p:cNvCxnSpPr/>
            <p:nvPr/>
          </p:nvCxnSpPr>
          <p:spPr bwMode="auto">
            <a:xfrm flipV="1">
              <a:off x="8130453" y="2201107"/>
              <a:ext cx="481430" cy="0"/>
            </a:xfrm>
            <a:prstGeom prst="straightConnector1">
              <a:avLst/>
            </a:prstGeom>
            <a:solidFill>
              <a:schemeClr val="accent1"/>
            </a:solidFill>
            <a:ln w="38100" cap="flat" cmpd="sng" algn="ctr">
              <a:solidFill>
                <a:srgbClr val="C00000"/>
              </a:solidFill>
              <a:prstDash val="solid"/>
              <a:round/>
              <a:headEnd type="arrow" w="med" len="med"/>
              <a:tailEnd type="none" w="med" len="med"/>
            </a:ln>
            <a:effectLst/>
          </p:spPr>
        </p:cxnSp>
        <p:sp>
          <p:nvSpPr>
            <p:cNvPr id="49" name="TextBox 48"/>
            <p:cNvSpPr txBox="1"/>
            <p:nvPr/>
          </p:nvSpPr>
          <p:spPr>
            <a:xfrm>
              <a:off x="5500694" y="2205310"/>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sp>
          <p:nvSpPr>
            <p:cNvPr id="50" name="TextBox 49"/>
            <p:cNvSpPr txBox="1"/>
            <p:nvPr/>
          </p:nvSpPr>
          <p:spPr>
            <a:xfrm>
              <a:off x="8259622" y="2201107"/>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sp>
        <p:nvSpPr>
          <p:cNvPr id="52" name="Text Box 2"/>
          <p:cNvSpPr txBox="1">
            <a:spLocks noChangeArrowheads="1"/>
          </p:cNvSpPr>
          <p:nvPr/>
        </p:nvSpPr>
        <p:spPr bwMode="auto">
          <a:xfrm>
            <a:off x="1745577" y="5241209"/>
            <a:ext cx="7072362" cy="861774"/>
          </a:xfrm>
          <a:prstGeom prst="rect">
            <a:avLst/>
          </a:prstGeom>
          <a:noFill/>
          <a:ln w="9525">
            <a:noFill/>
            <a:miter lim="800000"/>
            <a:headEnd/>
            <a:tailEnd/>
          </a:ln>
        </p:spPr>
        <p:txBody>
          <a:bodyPr wrap="square">
            <a:spAutoFit/>
          </a:bodyPr>
          <a:lstStyle/>
          <a:p>
            <a:pPr marL="534988" indent="-534988" fontAlgn="base">
              <a:lnSpc>
                <a:spcPct val="120000"/>
              </a:lnSpc>
              <a:spcAft>
                <a:spcPct val="0"/>
              </a:spcAft>
            </a:pPr>
            <a:r>
              <a:rPr lang="zh-CN" altLang="en-US" sz="2000" b="1">
                <a:latin typeface="Times New Roman"/>
                <a:cs typeface="Times New Roman"/>
              </a:rPr>
              <a:t>显然，该力系做功为 ：</a:t>
            </a:r>
            <a:r>
              <a:rPr lang="en-US" altLang="zh-CN" sz="2000" b="1" i="1">
                <a:latin typeface="Times New Roman" pitchFamily="18" charset="0"/>
                <a:cs typeface="Times New Roman" pitchFamily="18" charset="0"/>
              </a:rPr>
              <a:t>W </a:t>
            </a:r>
            <a:r>
              <a:rPr lang="en-US" altLang="zh-CN" sz="2000" b="1">
                <a:latin typeface="Times New Roman" pitchFamily="18" charset="0"/>
                <a:cs typeface="Times New Roman" pitchFamily="18" charset="0"/>
              </a:rPr>
              <a:t>= 1·</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a:t>
            </a:r>
            <a:r>
              <a:rPr lang="en-US" altLang="zh-CN" sz="2000" b="1">
                <a:latin typeface="Times New Roman" pitchFamily="18" charset="0"/>
                <a:cs typeface="Times New Roman" pitchFamily="18" charset="0"/>
              </a:rPr>
              <a:t> +</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1·</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a:solidFill>
                  <a:srgbClr val="0033CC"/>
                </a:solidFill>
                <a:latin typeface="Times New Roman"/>
                <a:cs typeface="Times New Roman"/>
              </a:rPr>
              <a:t>  </a:t>
            </a:r>
            <a:r>
              <a:rPr lang="en-US" altLang="zh-CN" sz="2000" b="1" i="1">
                <a:latin typeface="Times New Roman"/>
                <a:cs typeface="Times New Roman"/>
              </a:rPr>
              <a:t>=</a:t>
            </a:r>
            <a:r>
              <a:rPr lang="en-US" altLang="zh-CN" sz="2000" b="1">
                <a:solidFill>
                  <a:srgbClr val="0033CC"/>
                </a:solidFill>
                <a:latin typeface="Times New Roman"/>
                <a:cs typeface="Times New Roman"/>
              </a:rPr>
              <a:t> </a:t>
            </a:r>
            <a:r>
              <a:rPr lang="en-US" altLang="zh-CN" sz="2000" b="1">
                <a:latin typeface="Times New Roman"/>
                <a:cs typeface="Times New Roman"/>
              </a:rPr>
              <a:t>1 · </a:t>
            </a:r>
            <a:r>
              <a:rPr lang="el-GR" altLang="zh-CN" sz="2000" b="1" i="1">
                <a:latin typeface="Times New Roman"/>
                <a:cs typeface="Times New Roman"/>
              </a:rPr>
              <a:t>Δ</a:t>
            </a:r>
            <a:r>
              <a:rPr lang="zh-CN" altLang="en-US" sz="2000" b="1">
                <a:latin typeface="Times New Roman"/>
                <a:cs typeface="Times New Roman"/>
              </a:rPr>
              <a:t>；</a:t>
            </a:r>
            <a:endParaRPr lang="en-US" altLang="zh-CN" sz="2000" b="1" baseline="-25000">
              <a:latin typeface="Times New Roman" pitchFamily="18" charset="0"/>
              <a:cs typeface="Times New Roman" pitchFamily="18" charset="0"/>
            </a:endParaRPr>
          </a:p>
          <a:p>
            <a:pPr marL="534988" indent="-534988" fontAlgn="base">
              <a:lnSpc>
                <a:spcPct val="130000"/>
              </a:lnSpc>
              <a:spcAft>
                <a:spcPct val="0"/>
              </a:spcAft>
            </a:pPr>
            <a:r>
              <a:rPr lang="zh-CN" altLang="en-US" sz="2000" b="1">
                <a:latin typeface="Times New Roman"/>
                <a:cs typeface="Times New Roman"/>
              </a:rPr>
              <a:t>⑵ 按照一般单位荷载法求解；</a:t>
            </a:r>
            <a:endParaRPr lang="en-US" altLang="zh-CN" sz="2000" b="1">
              <a:latin typeface="Times New Roman"/>
              <a:cs typeface="Times New Roman"/>
            </a:endParaRPr>
          </a:p>
        </p:txBody>
      </p:sp>
      <p:sp>
        <p:nvSpPr>
          <p:cNvPr id="47" name="TextBox 46"/>
          <p:cNvSpPr txBox="1"/>
          <p:nvPr/>
        </p:nvSpPr>
        <p:spPr>
          <a:xfrm>
            <a:off x="6643702" y="6000768"/>
            <a:ext cx="1467068" cy="400110"/>
          </a:xfrm>
          <a:prstGeom prst="rect">
            <a:avLst/>
          </a:prstGeom>
          <a:noFill/>
          <a:ln w="28575">
            <a:noFill/>
          </a:ln>
        </p:spPr>
        <p:txBody>
          <a:bodyPr wrap="none" rtlCol="0">
            <a:spAutoFit/>
          </a:bodyPr>
          <a:lstStyle/>
          <a:p>
            <a:r>
              <a:rPr lang="zh-CN" altLang="en-US" sz="2000" b="1">
                <a:solidFill>
                  <a:srgbClr val="C00000"/>
                </a:solidFill>
              </a:rPr>
              <a:t>课堂练习！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linds(horizontal)">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9"/>
                                        </p:tgtEl>
                                        <p:attrNameLst>
                                          <p:attrName>style.visibility</p:attrName>
                                        </p:attrNameLst>
                                      </p:cBhvr>
                                      <p:to>
                                        <p:strVal val="visible"/>
                                      </p:to>
                                    </p:set>
                                    <p:anim calcmode="lin" valueType="num">
                                      <p:cBhvr additive="base">
                                        <p:cTn id="12" dur="500" fill="hold"/>
                                        <p:tgtEl>
                                          <p:spTgt spid="529"/>
                                        </p:tgtEl>
                                        <p:attrNameLst>
                                          <p:attrName>ppt_x</p:attrName>
                                        </p:attrNameLst>
                                      </p:cBhvr>
                                      <p:tavLst>
                                        <p:tav tm="0">
                                          <p:val>
                                            <p:strVal val="#ppt_x"/>
                                          </p:val>
                                        </p:tav>
                                        <p:tav tm="100000">
                                          <p:val>
                                            <p:strVal val="#ppt_x"/>
                                          </p:val>
                                        </p:tav>
                                      </p:tavLst>
                                    </p:anim>
                                    <p:anim calcmode="lin" valueType="num">
                                      <p:cBhvr additive="base">
                                        <p:cTn id="13" dur="500" fill="hold"/>
                                        <p:tgtEl>
                                          <p:spTgt spid="52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 calcmode="lin" valueType="num">
                                      <p:cBhvr additive="base">
                                        <p:cTn id="18" dur="500" fill="hold"/>
                                        <p:tgtEl>
                                          <p:spTgt spid="40"/>
                                        </p:tgtEl>
                                        <p:attrNameLst>
                                          <p:attrName>ppt_x</p:attrName>
                                        </p:attrNameLst>
                                      </p:cBhvr>
                                      <p:tavLst>
                                        <p:tav tm="0">
                                          <p:val>
                                            <p:strVal val="#ppt_x"/>
                                          </p:val>
                                        </p:tav>
                                        <p:tav tm="100000">
                                          <p:val>
                                            <p:strVal val="#ppt_x"/>
                                          </p:val>
                                        </p:tav>
                                      </p:tavLst>
                                    </p:anim>
                                    <p:anim calcmode="lin" valueType="num">
                                      <p:cBhvr additive="base">
                                        <p:cTn id="1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additive="base">
                                        <p:cTn id="24" dur="500" fill="hold"/>
                                        <p:tgtEl>
                                          <p:spTgt spid="41"/>
                                        </p:tgtEl>
                                        <p:attrNameLst>
                                          <p:attrName>ppt_x</p:attrName>
                                        </p:attrNameLst>
                                      </p:cBhvr>
                                      <p:tavLst>
                                        <p:tav tm="0">
                                          <p:val>
                                            <p:strVal val="#ppt_x"/>
                                          </p:val>
                                        </p:tav>
                                        <p:tav tm="100000">
                                          <p:val>
                                            <p:strVal val="#ppt_x"/>
                                          </p:val>
                                        </p:tav>
                                      </p:tavLst>
                                    </p:anim>
                                    <p:anim calcmode="lin" valueType="num">
                                      <p:cBhvr additive="base">
                                        <p:cTn id="2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3">
                                            <p:txEl>
                                              <p:pRg st="0" end="0"/>
                                            </p:txEl>
                                          </p:spTgt>
                                        </p:tgtEl>
                                        <p:attrNameLst>
                                          <p:attrName>style.visibility</p:attrName>
                                        </p:attrNameLst>
                                      </p:cBhvr>
                                      <p:to>
                                        <p:strVal val="visible"/>
                                      </p:to>
                                    </p:set>
                                    <p:animEffect transition="in" filter="wipe(up)">
                                      <p:cBhvr>
                                        <p:cTn id="30" dur="500"/>
                                        <p:tgtEl>
                                          <p:spTgt spid="43">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500" fill="hold"/>
                                        <p:tgtEl>
                                          <p:spTgt spid="44"/>
                                        </p:tgtEl>
                                        <p:attrNameLst>
                                          <p:attrName>ppt_x</p:attrName>
                                        </p:attrNameLst>
                                      </p:cBhvr>
                                      <p:tavLst>
                                        <p:tav tm="0">
                                          <p:val>
                                            <p:strVal val="#ppt_x"/>
                                          </p:val>
                                        </p:tav>
                                        <p:tav tm="100000">
                                          <p:val>
                                            <p:strVal val="#ppt_x"/>
                                          </p:val>
                                        </p:tav>
                                      </p:tavLst>
                                    </p:anim>
                                    <p:anim calcmode="lin" valueType="num">
                                      <p:cBhvr additive="base">
                                        <p:cTn id="3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down)">
                                      <p:cBhvr>
                                        <p:cTn id="41" dur="500"/>
                                        <p:tgtEl>
                                          <p:spTgt spid="51"/>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2"/>
                                        </p:tgtEl>
                                        <p:attrNameLst>
                                          <p:attrName>style.visibility</p:attrName>
                                        </p:attrNameLst>
                                      </p:cBhvr>
                                      <p:to>
                                        <p:strVal val="visible"/>
                                      </p:to>
                                    </p:set>
                                    <p:anim calcmode="lin" valueType="num">
                                      <p:cBhvr additive="base">
                                        <p:cTn id="46" dur="500" fill="hold"/>
                                        <p:tgtEl>
                                          <p:spTgt spid="52"/>
                                        </p:tgtEl>
                                        <p:attrNameLst>
                                          <p:attrName>ppt_x</p:attrName>
                                        </p:attrNameLst>
                                      </p:cBhvr>
                                      <p:tavLst>
                                        <p:tav tm="0">
                                          <p:val>
                                            <p:strVal val="#ppt_x"/>
                                          </p:val>
                                        </p:tav>
                                        <p:tav tm="100000">
                                          <p:val>
                                            <p:strVal val="#ppt_x"/>
                                          </p:val>
                                        </p:tav>
                                      </p:tavLst>
                                    </p:anim>
                                    <p:anim calcmode="lin" valueType="num">
                                      <p:cBhvr additive="base">
                                        <p:cTn id="47"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 grpId="0" autoUpdateAnimBg="0"/>
      <p:bldP spid="40" grpId="0"/>
      <p:bldP spid="41" grpId="0"/>
      <p:bldP spid="43" grpId="0" build="allAtOnce"/>
      <p:bldP spid="44" grpId="0" autoUpdateAnimBg="0"/>
      <p:bldP spid="5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928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529" name="Text Box 2"/>
          <p:cNvSpPr txBox="1">
            <a:spLocks noChangeArrowheads="1"/>
          </p:cNvSpPr>
          <p:nvPr/>
        </p:nvSpPr>
        <p:spPr bwMode="auto">
          <a:xfrm>
            <a:off x="1214414" y="2214554"/>
            <a:ext cx="7467600" cy="1200329"/>
          </a:xfrm>
          <a:prstGeom prst="rect">
            <a:avLst/>
          </a:prstGeom>
          <a:noFill/>
          <a:ln w="9525">
            <a:noFill/>
            <a:miter lim="800000"/>
            <a:headEnd/>
            <a:tailEnd/>
          </a:ln>
        </p:spPr>
        <p:txBody>
          <a:bodyPr>
            <a:spAutoFit/>
          </a:bodyPr>
          <a:lstStyle/>
          <a:p>
            <a:pPr algn="l" rtl="0" fontAlgn="base">
              <a:lnSpc>
                <a:spcPct val="120000"/>
              </a:lnSpc>
              <a:spcAft>
                <a:spcPct val="0"/>
              </a:spcAft>
            </a:pPr>
            <a:r>
              <a:rPr kumimoji="1" lang="zh-CN" altLang="en-US" sz="2000" b="1" kern="1200">
                <a:solidFill>
                  <a:srgbClr val="0033CC"/>
                </a:solidFill>
                <a:latin typeface="+mn-ea"/>
                <a:cs typeface="+mn-cs"/>
              </a:rPr>
              <a:t>广义位移</a:t>
            </a:r>
            <a:r>
              <a:rPr kumimoji="1" lang="zh-CN" altLang="en-US" sz="2000" b="1" kern="1200">
                <a:solidFill>
                  <a:srgbClr val="000000"/>
                </a:solidFill>
                <a:latin typeface="+mn-ea"/>
                <a:cs typeface="+mn-cs"/>
              </a:rPr>
              <a:t>：结构产生的各种位移，包括截面的线位移、角位移、</a:t>
            </a:r>
            <a:r>
              <a:rPr kumimoji="1" lang="en-US" altLang="zh-CN" sz="2000" b="1" kern="1200">
                <a:solidFill>
                  <a:srgbClr val="000000"/>
                </a:solidFill>
                <a:latin typeface="+mn-ea"/>
                <a:cs typeface="+mn-cs"/>
              </a:rPr>
              <a:t>		      </a:t>
            </a:r>
            <a:r>
              <a:rPr kumimoji="1" lang="zh-CN" altLang="en-US" sz="2000" b="1" kern="1200">
                <a:solidFill>
                  <a:srgbClr val="000000"/>
                </a:solidFill>
                <a:latin typeface="+mn-ea"/>
                <a:cs typeface="+mn-cs"/>
              </a:rPr>
              <a:t>相对线位移、相对角位移或者是一组位移等等都可泛</a:t>
            </a:r>
            <a:r>
              <a:rPr kumimoji="1" lang="en-US" altLang="zh-CN" sz="2000" b="1" kern="1200">
                <a:solidFill>
                  <a:srgbClr val="000000"/>
                </a:solidFill>
                <a:latin typeface="+mn-ea"/>
                <a:cs typeface="+mn-cs"/>
              </a:rPr>
              <a:t>	      </a:t>
            </a:r>
            <a:r>
              <a:rPr kumimoji="1" lang="zh-CN" altLang="en-US" sz="2000" b="1" kern="1200">
                <a:solidFill>
                  <a:srgbClr val="000000"/>
                </a:solidFill>
                <a:latin typeface="+mn-ea"/>
                <a:cs typeface="+mn-cs"/>
              </a:rPr>
              <a:t>称为广义位移。 </a:t>
            </a:r>
          </a:p>
        </p:txBody>
      </p:sp>
      <p:sp>
        <p:nvSpPr>
          <p:cNvPr id="530" name="Text Box 10"/>
          <p:cNvSpPr txBox="1">
            <a:spLocks noChangeArrowheads="1"/>
          </p:cNvSpPr>
          <p:nvPr/>
        </p:nvSpPr>
        <p:spPr bwMode="auto">
          <a:xfrm>
            <a:off x="1214414" y="3371679"/>
            <a:ext cx="7429552" cy="1200329"/>
          </a:xfrm>
          <a:prstGeom prst="rect">
            <a:avLst/>
          </a:prstGeom>
          <a:noFill/>
          <a:ln w="9525">
            <a:noFill/>
            <a:miter lim="800000"/>
            <a:headEnd/>
            <a:tailEnd/>
          </a:ln>
        </p:spPr>
        <p:txBody>
          <a:bodyPr wrap="square">
            <a:spAutoFit/>
          </a:bodyPr>
          <a:lstStyle/>
          <a:p>
            <a:pPr rtl="0" fontAlgn="base">
              <a:lnSpc>
                <a:spcPct val="120000"/>
              </a:lnSpc>
              <a:spcBef>
                <a:spcPct val="50000"/>
              </a:spcBef>
              <a:spcAft>
                <a:spcPct val="0"/>
              </a:spcAft>
            </a:pPr>
            <a:r>
              <a:rPr kumimoji="1" lang="zh-CN" altLang="en-US" sz="2000" b="1" kern="1200">
                <a:solidFill>
                  <a:srgbClr val="0033CC"/>
                </a:solidFill>
                <a:latin typeface="+mn-ea"/>
                <a:cs typeface="+mn-cs"/>
              </a:rPr>
              <a:t>广  义  力</a:t>
            </a:r>
            <a:r>
              <a:rPr kumimoji="1" lang="zh-CN" altLang="en-US" sz="2000" b="1" kern="1200">
                <a:solidFill>
                  <a:srgbClr val="000000"/>
                </a:solidFill>
                <a:latin typeface="+mn-ea"/>
                <a:cs typeface="+mn-cs"/>
              </a:rPr>
              <a:t>：与广义位移对应的就是广义力，可以是一个集中力，</a:t>
            </a:r>
            <a:r>
              <a:rPr kumimoji="1" lang="en-US" altLang="zh-CN" sz="2000" b="1" kern="1200">
                <a:solidFill>
                  <a:srgbClr val="000000"/>
                </a:solidFill>
                <a:latin typeface="+mn-ea"/>
                <a:cs typeface="+mn-cs"/>
              </a:rPr>
              <a:t>	      </a:t>
            </a:r>
            <a:r>
              <a:rPr kumimoji="1" lang="zh-CN" altLang="en-US" sz="2000" b="1" kern="1200">
                <a:solidFill>
                  <a:srgbClr val="000000"/>
                </a:solidFill>
                <a:latin typeface="+mn-ea"/>
                <a:cs typeface="+mn-cs"/>
              </a:rPr>
              <a:t>集中力偶或一对大小相等方向相反的力或力偶，也可</a:t>
            </a:r>
            <a:r>
              <a:rPr kumimoji="1" lang="en-US" altLang="zh-CN" sz="2000" b="1" kern="1200">
                <a:solidFill>
                  <a:srgbClr val="000000"/>
                </a:solidFill>
                <a:latin typeface="+mn-ea"/>
                <a:cs typeface="+mn-cs"/>
              </a:rPr>
              <a:t>	      </a:t>
            </a:r>
            <a:r>
              <a:rPr kumimoji="1" lang="zh-CN" altLang="en-US" sz="2000" b="1" kern="1200">
                <a:solidFill>
                  <a:srgbClr val="000000"/>
                </a:solidFill>
                <a:latin typeface="+mn-ea"/>
                <a:cs typeface="+mn-cs"/>
              </a:rPr>
              <a:t>以是一组力系。</a:t>
            </a:r>
          </a:p>
        </p:txBody>
      </p:sp>
      <p:sp>
        <p:nvSpPr>
          <p:cNvPr id="531" name="Text Box 11"/>
          <p:cNvSpPr txBox="1">
            <a:spLocks noChangeArrowheads="1"/>
          </p:cNvSpPr>
          <p:nvPr/>
        </p:nvSpPr>
        <p:spPr bwMode="auto">
          <a:xfrm>
            <a:off x="1219200" y="4643446"/>
            <a:ext cx="7353328" cy="892552"/>
          </a:xfrm>
          <a:prstGeom prst="rect">
            <a:avLst/>
          </a:prstGeom>
          <a:noFill/>
          <a:ln w="28575" cmpd="tri">
            <a:solidFill>
              <a:srgbClr val="C00000"/>
            </a:solidFill>
            <a:prstDash val="solid"/>
            <a:miter lim="800000"/>
            <a:headEnd/>
            <a:tailEnd/>
          </a:ln>
        </p:spPr>
        <p:txBody>
          <a:bodyPr wrap="square">
            <a:spAutoFit/>
          </a:bodyPr>
          <a:lstStyle/>
          <a:p>
            <a:pPr algn="just">
              <a:lnSpc>
                <a:spcPct val="130000"/>
              </a:lnSpc>
              <a:spcAft>
                <a:spcPts val="600"/>
              </a:spcAft>
            </a:pPr>
            <a:r>
              <a:rPr lang="zh-CN" altLang="en-US" sz="2000" b="1">
                <a:solidFill>
                  <a:srgbClr val="C00000"/>
                </a:solidFill>
                <a:latin typeface="楷体_GB2312" pitchFamily="49" charset="-122"/>
              </a:rPr>
              <a:t>共轭关系：</a:t>
            </a:r>
            <a:r>
              <a:rPr lang="zh-CN" altLang="en-US" sz="2000" b="1">
                <a:latin typeface="楷体_GB2312" pitchFamily="49" charset="-122"/>
              </a:rPr>
              <a:t>广义位移与广义力的对应关系，指能够在某一组广义位移上做功的力系，才称为与这组广义位移对应的广义力。</a:t>
            </a:r>
            <a:endParaRPr lang="zh-CN" altLang="en-US" sz="2000" b="1">
              <a:latin typeface="宋体" charset="-122"/>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9"/>
                                        </p:tgtEl>
                                        <p:attrNameLst>
                                          <p:attrName>style.visibility</p:attrName>
                                        </p:attrNameLst>
                                      </p:cBhvr>
                                      <p:to>
                                        <p:strVal val="visible"/>
                                      </p:to>
                                    </p:set>
                                    <p:anim calcmode="lin" valueType="num">
                                      <p:cBhvr additive="base">
                                        <p:cTn id="7" dur="500" fill="hold"/>
                                        <p:tgtEl>
                                          <p:spTgt spid="529"/>
                                        </p:tgtEl>
                                        <p:attrNameLst>
                                          <p:attrName>ppt_x</p:attrName>
                                        </p:attrNameLst>
                                      </p:cBhvr>
                                      <p:tavLst>
                                        <p:tav tm="0">
                                          <p:val>
                                            <p:strVal val="#ppt_x"/>
                                          </p:val>
                                        </p:tav>
                                        <p:tav tm="100000">
                                          <p:val>
                                            <p:strVal val="#ppt_x"/>
                                          </p:val>
                                        </p:tav>
                                      </p:tavLst>
                                    </p:anim>
                                    <p:anim calcmode="lin" valueType="num">
                                      <p:cBhvr additive="base">
                                        <p:cTn id="8" dur="500" fill="hold"/>
                                        <p:tgtEl>
                                          <p:spTgt spid="5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530"/>
                                        </p:tgtEl>
                                        <p:attrNameLst>
                                          <p:attrName>style.visibility</p:attrName>
                                        </p:attrNameLst>
                                      </p:cBhvr>
                                      <p:to>
                                        <p:strVal val="visible"/>
                                      </p:to>
                                    </p:set>
                                    <p:animEffect transition="in" filter="barn(outHorizontal)">
                                      <p:cBhvr>
                                        <p:cTn id="13" dur="500"/>
                                        <p:tgtEl>
                                          <p:spTgt spid="53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5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 grpId="0" autoUpdateAnimBg="0"/>
      <p:bldP spid="530" grpId="0" autoUpdateAnimBg="0"/>
      <p:bldP spid="531"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928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21" name="TextBox 20"/>
          <p:cNvSpPr txBox="1"/>
          <p:nvPr/>
        </p:nvSpPr>
        <p:spPr>
          <a:xfrm>
            <a:off x="1214414" y="2214554"/>
            <a:ext cx="5643602" cy="400110"/>
          </a:xfrm>
          <a:prstGeom prst="rect">
            <a:avLst/>
          </a:prstGeom>
          <a:noFill/>
          <a:ln w="28575">
            <a:noFill/>
          </a:ln>
        </p:spPr>
        <p:txBody>
          <a:bodyPr wrap="square" rtlCol="0">
            <a:spAutoFit/>
          </a:bodyPr>
          <a:lstStyle/>
          <a:p>
            <a:r>
              <a:rPr lang="zh-CN" altLang="en-US" sz="2000" b="1"/>
              <a:t>试确定指定</a:t>
            </a:r>
            <a:r>
              <a:rPr lang="zh-CN" altLang="en-US" sz="2000" b="1">
                <a:solidFill>
                  <a:srgbClr val="C00000"/>
                </a:solidFill>
              </a:rPr>
              <a:t>广义位移</a:t>
            </a:r>
            <a:r>
              <a:rPr lang="zh-CN" altLang="en-US" sz="2000" b="1"/>
              <a:t>对应的</a:t>
            </a:r>
            <a:r>
              <a:rPr lang="zh-CN" altLang="en-US" sz="2000" b="1">
                <a:solidFill>
                  <a:srgbClr val="C00000"/>
                </a:solidFill>
              </a:rPr>
              <a:t>单位广义力</a:t>
            </a:r>
            <a:endParaRPr lang="zh-CN" altLang="en-US" sz="2000" b="1"/>
          </a:p>
        </p:txBody>
      </p:sp>
      <p:grpSp>
        <p:nvGrpSpPr>
          <p:cNvPr id="4" name="Group 3"/>
          <p:cNvGrpSpPr>
            <a:grpSpLocks/>
          </p:cNvGrpSpPr>
          <p:nvPr/>
        </p:nvGrpSpPr>
        <p:grpSpPr bwMode="auto">
          <a:xfrm>
            <a:off x="1289028" y="4228939"/>
            <a:ext cx="2638425" cy="2000251"/>
            <a:chOff x="2226" y="2563"/>
            <a:chExt cx="1662" cy="1260"/>
          </a:xfrm>
        </p:grpSpPr>
        <p:sp>
          <p:nvSpPr>
            <p:cNvPr id="72" name="Text Box 4"/>
            <p:cNvSpPr txBox="1">
              <a:spLocks noChangeArrowheads="1"/>
            </p:cNvSpPr>
            <p:nvPr/>
          </p:nvSpPr>
          <p:spPr bwMode="auto">
            <a:xfrm>
              <a:off x="2964" y="2563"/>
              <a:ext cx="336" cy="25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B</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73" name="Line 5"/>
            <p:cNvSpPr>
              <a:spLocks noChangeShapeType="1"/>
            </p:cNvSpPr>
            <p:nvPr/>
          </p:nvSpPr>
          <p:spPr bwMode="auto">
            <a:xfrm>
              <a:off x="2448" y="2820"/>
              <a:ext cx="1440"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4" name="Line 6"/>
            <p:cNvSpPr>
              <a:spLocks noChangeShapeType="1"/>
            </p:cNvSpPr>
            <p:nvPr/>
          </p:nvSpPr>
          <p:spPr bwMode="auto">
            <a:xfrm>
              <a:off x="2448" y="2820"/>
              <a:ext cx="0" cy="927"/>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5" name="Line 7"/>
            <p:cNvSpPr>
              <a:spLocks noChangeShapeType="1"/>
            </p:cNvSpPr>
            <p:nvPr/>
          </p:nvSpPr>
          <p:spPr bwMode="auto">
            <a:xfrm>
              <a:off x="2336" y="3747"/>
              <a:ext cx="227"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6" name="Line 8"/>
            <p:cNvSpPr>
              <a:spLocks noChangeAspect="1" noChangeShapeType="1"/>
            </p:cNvSpPr>
            <p:nvPr/>
          </p:nvSpPr>
          <p:spPr bwMode="auto">
            <a:xfrm flipH="1">
              <a:off x="2462" y="3747"/>
              <a:ext cx="24" cy="47"/>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7" name="Line 9"/>
            <p:cNvSpPr>
              <a:spLocks noChangeAspect="1" noChangeShapeType="1"/>
            </p:cNvSpPr>
            <p:nvPr/>
          </p:nvSpPr>
          <p:spPr bwMode="auto">
            <a:xfrm flipH="1">
              <a:off x="2352" y="3747"/>
              <a:ext cx="24" cy="47"/>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8" name="Line 10"/>
            <p:cNvSpPr>
              <a:spLocks noChangeAspect="1" noChangeShapeType="1"/>
            </p:cNvSpPr>
            <p:nvPr/>
          </p:nvSpPr>
          <p:spPr bwMode="auto">
            <a:xfrm flipH="1">
              <a:off x="2515" y="3747"/>
              <a:ext cx="24" cy="47"/>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9" name="Line 11"/>
            <p:cNvSpPr>
              <a:spLocks noChangeAspect="1" noChangeShapeType="1"/>
            </p:cNvSpPr>
            <p:nvPr/>
          </p:nvSpPr>
          <p:spPr bwMode="auto">
            <a:xfrm flipH="1">
              <a:off x="2403" y="3746"/>
              <a:ext cx="24" cy="47"/>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81" name="Text Box 13"/>
            <p:cNvSpPr txBox="1">
              <a:spLocks noChangeArrowheads="1"/>
            </p:cNvSpPr>
            <p:nvPr/>
          </p:nvSpPr>
          <p:spPr bwMode="auto">
            <a:xfrm>
              <a:off x="2226" y="3093"/>
              <a:ext cx="288" cy="25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82" name="Object 14"/>
            <p:cNvGraphicFramePr>
              <a:graphicFrameLocks noChangeAspect="1"/>
            </p:cNvGraphicFramePr>
            <p:nvPr/>
          </p:nvGraphicFramePr>
          <p:xfrm>
            <a:off x="2944" y="3589"/>
            <a:ext cx="580" cy="234"/>
          </p:xfrm>
          <a:graphic>
            <a:graphicData uri="http://schemas.openxmlformats.org/presentationml/2006/ole">
              <mc:AlternateContent xmlns:mc="http://schemas.openxmlformats.org/markup-compatibility/2006">
                <mc:Choice xmlns:v="urn:schemas-microsoft-com:vml" Requires="v">
                  <p:oleObj spid="_x0000_s396296" name="Equation" r:id="rId4" imgW="939600" imgH="393480" progId="Equation.DSMT4">
                    <p:embed/>
                  </p:oleObj>
                </mc:Choice>
                <mc:Fallback>
                  <p:oleObj name="Equation" r:id="rId4" imgW="939600" imgH="39348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4" y="3589"/>
                          <a:ext cx="580"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8"/>
          <p:cNvGrpSpPr>
            <a:grpSpLocks/>
          </p:cNvGrpSpPr>
          <p:nvPr/>
        </p:nvGrpSpPr>
        <p:grpSpPr bwMode="auto">
          <a:xfrm>
            <a:off x="1434625" y="2714620"/>
            <a:ext cx="2469034" cy="1162036"/>
            <a:chOff x="336" y="720"/>
            <a:chExt cx="1824" cy="1116"/>
          </a:xfrm>
        </p:grpSpPr>
        <p:sp>
          <p:nvSpPr>
            <p:cNvPr id="86" name="Oval 19"/>
            <p:cNvSpPr>
              <a:spLocks noChangeArrowheads="1"/>
            </p:cNvSpPr>
            <p:nvPr/>
          </p:nvSpPr>
          <p:spPr bwMode="auto">
            <a:xfrm>
              <a:off x="528" y="1104"/>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87" name="Oval 20"/>
            <p:cNvSpPr>
              <a:spLocks noChangeArrowheads="1"/>
            </p:cNvSpPr>
            <p:nvPr/>
          </p:nvSpPr>
          <p:spPr bwMode="auto">
            <a:xfrm>
              <a:off x="624" y="1296"/>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88" name="Oval 21"/>
            <p:cNvSpPr>
              <a:spLocks noChangeArrowheads="1"/>
            </p:cNvSpPr>
            <p:nvPr/>
          </p:nvSpPr>
          <p:spPr bwMode="auto">
            <a:xfrm>
              <a:off x="432" y="1296"/>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89" name="Oval 22"/>
            <p:cNvSpPr>
              <a:spLocks noChangeArrowheads="1"/>
            </p:cNvSpPr>
            <p:nvPr/>
          </p:nvSpPr>
          <p:spPr bwMode="auto">
            <a:xfrm>
              <a:off x="1968" y="1104"/>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0" name="Oval 23"/>
            <p:cNvSpPr>
              <a:spLocks noChangeArrowheads="1"/>
            </p:cNvSpPr>
            <p:nvPr/>
          </p:nvSpPr>
          <p:spPr bwMode="auto">
            <a:xfrm>
              <a:off x="1968" y="1296"/>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1" name="Line 24"/>
            <p:cNvSpPr>
              <a:spLocks noChangeShapeType="1"/>
            </p:cNvSpPr>
            <p:nvPr/>
          </p:nvSpPr>
          <p:spPr bwMode="auto">
            <a:xfrm>
              <a:off x="336" y="1392"/>
              <a:ext cx="480"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2" name="Line 25"/>
            <p:cNvSpPr>
              <a:spLocks noChangeShapeType="1"/>
            </p:cNvSpPr>
            <p:nvPr/>
          </p:nvSpPr>
          <p:spPr bwMode="auto">
            <a:xfrm flipH="1">
              <a:off x="480" y="1200"/>
              <a:ext cx="48" cy="96"/>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4" name="Line 26"/>
            <p:cNvSpPr>
              <a:spLocks noChangeShapeType="1"/>
            </p:cNvSpPr>
            <p:nvPr/>
          </p:nvSpPr>
          <p:spPr bwMode="auto">
            <a:xfrm>
              <a:off x="576" y="1200"/>
              <a:ext cx="48" cy="96"/>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5" name="Line 27"/>
            <p:cNvSpPr>
              <a:spLocks noChangeShapeType="1"/>
            </p:cNvSpPr>
            <p:nvPr/>
          </p:nvSpPr>
          <p:spPr bwMode="auto">
            <a:xfrm>
              <a:off x="528" y="1104"/>
              <a:ext cx="1488"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7" name="Line 28"/>
            <p:cNvSpPr>
              <a:spLocks noChangeShapeType="1"/>
            </p:cNvSpPr>
            <p:nvPr/>
          </p:nvSpPr>
          <p:spPr bwMode="auto">
            <a:xfrm>
              <a:off x="2016" y="1200"/>
              <a:ext cx="0" cy="96"/>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8" name="Line 29"/>
            <p:cNvSpPr>
              <a:spLocks noChangeShapeType="1"/>
            </p:cNvSpPr>
            <p:nvPr/>
          </p:nvSpPr>
          <p:spPr bwMode="auto">
            <a:xfrm>
              <a:off x="1824" y="1392"/>
              <a:ext cx="336"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9" name="Line 30"/>
            <p:cNvSpPr>
              <a:spLocks noChangeShapeType="1"/>
            </p:cNvSpPr>
            <p:nvPr/>
          </p:nvSpPr>
          <p:spPr bwMode="auto">
            <a:xfrm flipH="1">
              <a:off x="1824" y="1392"/>
              <a:ext cx="48" cy="4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0" name="Line 31"/>
            <p:cNvSpPr>
              <a:spLocks noChangeShapeType="1"/>
            </p:cNvSpPr>
            <p:nvPr/>
          </p:nvSpPr>
          <p:spPr bwMode="auto">
            <a:xfrm flipH="1">
              <a:off x="1920" y="1392"/>
              <a:ext cx="48" cy="4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1" name="Line 32"/>
            <p:cNvSpPr>
              <a:spLocks noChangeShapeType="1"/>
            </p:cNvSpPr>
            <p:nvPr/>
          </p:nvSpPr>
          <p:spPr bwMode="auto">
            <a:xfrm flipH="1">
              <a:off x="2016" y="1392"/>
              <a:ext cx="48" cy="4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2" name="Line 33"/>
            <p:cNvSpPr>
              <a:spLocks noChangeShapeType="1"/>
            </p:cNvSpPr>
            <p:nvPr/>
          </p:nvSpPr>
          <p:spPr bwMode="auto">
            <a:xfrm flipH="1">
              <a:off x="2112" y="1392"/>
              <a:ext cx="48" cy="4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3" name="Text Box 34"/>
            <p:cNvSpPr txBox="1">
              <a:spLocks noChangeArrowheads="1"/>
            </p:cNvSpPr>
            <p:nvPr/>
          </p:nvSpPr>
          <p:spPr bwMode="auto">
            <a:xfrm>
              <a:off x="623" y="720"/>
              <a:ext cx="338" cy="384"/>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104" name="Object 35"/>
            <p:cNvGraphicFramePr>
              <a:graphicFrameLocks noChangeAspect="1"/>
            </p:cNvGraphicFramePr>
            <p:nvPr/>
          </p:nvGraphicFramePr>
          <p:xfrm>
            <a:off x="1018" y="1475"/>
            <a:ext cx="678" cy="361"/>
          </p:xfrm>
          <a:graphic>
            <a:graphicData uri="http://schemas.openxmlformats.org/presentationml/2006/ole">
              <mc:AlternateContent xmlns:mc="http://schemas.openxmlformats.org/markup-compatibility/2006">
                <mc:Choice xmlns:v="urn:schemas-microsoft-com:vml" Requires="v">
                  <p:oleObj spid="_x0000_s396297" name="Equation" r:id="rId6" imgW="812520" imgH="393480" progId="Equation.DSMT4">
                    <p:embed/>
                  </p:oleObj>
                </mc:Choice>
                <mc:Fallback>
                  <p:oleObj name="Equation" r:id="rId6" imgW="812520" imgH="393480" progId="Equation.DSMT4">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8" y="1475"/>
                          <a:ext cx="678"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5" name="Arc 37"/>
          <p:cNvSpPr>
            <a:spLocks/>
          </p:cNvSpPr>
          <p:nvPr/>
        </p:nvSpPr>
        <p:spPr bwMode="auto">
          <a:xfrm flipH="1">
            <a:off x="1403329" y="2810976"/>
            <a:ext cx="685800" cy="865188"/>
          </a:xfrm>
          <a:custGeom>
            <a:avLst/>
            <a:gdLst>
              <a:gd name="T0" fmla="*/ 190913 w 21600"/>
              <a:gd name="T1" fmla="*/ 0 h 40832"/>
              <a:gd name="T2" fmla="*/ 252254 w 21600"/>
              <a:gd name="T3" fmla="*/ 865188 h 40832"/>
              <a:gd name="T4" fmla="*/ 0 w 21600"/>
              <a:gd name="T5" fmla="*/ 439586 h 40832"/>
              <a:gd name="T6" fmla="*/ 0 60000 65536"/>
              <a:gd name="T7" fmla="*/ 0 60000 65536"/>
              <a:gd name="T8" fmla="*/ 0 60000 65536"/>
              <a:gd name="T9" fmla="*/ 0 w 21600"/>
              <a:gd name="T10" fmla="*/ 0 h 40832"/>
              <a:gd name="T11" fmla="*/ 21600 w 21600"/>
              <a:gd name="T12" fmla="*/ 40832 h 40832"/>
            </a:gdLst>
            <a:ahLst/>
            <a:cxnLst>
              <a:cxn ang="T6">
                <a:pos x="T0" y="T1"/>
              </a:cxn>
              <a:cxn ang="T7">
                <a:pos x="T2" y="T3"/>
              </a:cxn>
              <a:cxn ang="T8">
                <a:pos x="T4" y="T5"/>
              </a:cxn>
            </a:cxnLst>
            <a:rect l="T9" t="T10" r="T11" b="T12"/>
            <a:pathLst>
              <a:path w="21600" h="40832" fill="none" extrusionOk="0">
                <a:moveTo>
                  <a:pt x="6013" y="-1"/>
                </a:moveTo>
                <a:cubicBezTo>
                  <a:pt x="15246" y="2676"/>
                  <a:pt x="21600" y="11132"/>
                  <a:pt x="21600" y="20746"/>
                </a:cubicBezTo>
                <a:cubicBezTo>
                  <a:pt x="21600" y="29608"/>
                  <a:pt x="16186" y="37571"/>
                  <a:pt x="7944" y="40831"/>
                </a:cubicBezTo>
              </a:path>
              <a:path w="21600" h="40832" stroke="0" extrusionOk="0">
                <a:moveTo>
                  <a:pt x="6013" y="-1"/>
                </a:moveTo>
                <a:cubicBezTo>
                  <a:pt x="15246" y="2676"/>
                  <a:pt x="21600" y="11132"/>
                  <a:pt x="21600" y="20746"/>
                </a:cubicBezTo>
                <a:cubicBezTo>
                  <a:pt x="21600" y="29608"/>
                  <a:pt x="16186" y="37571"/>
                  <a:pt x="7944" y="40831"/>
                </a:cubicBezTo>
                <a:lnTo>
                  <a:pt x="0" y="20746"/>
                </a:lnTo>
                <a:close/>
              </a:path>
            </a:pathLst>
          </a:custGeom>
          <a:noFill/>
          <a:ln w="38100">
            <a:solidFill>
              <a:srgbClr val="C00000"/>
            </a:solidFill>
            <a:round/>
            <a:headEnd type="triangle" w="med" len="med"/>
            <a:tailEnd/>
          </a:ln>
        </p:spPr>
        <p:txBody>
          <a:bodyPr wrap="none" anchor="ctr"/>
          <a:lstStyle/>
          <a:p>
            <a:pPr algn="ctr" rtl="0" fontAlgn="base">
              <a:spcBef>
                <a:spcPct val="0"/>
              </a:spcBef>
              <a:spcAft>
                <a:spcPct val="0"/>
              </a:spcAft>
            </a:pPr>
            <a:endParaRPr kumimoji="1" lang="zh-CN" altLang="zh-CN" sz="3200" kern="1200">
              <a:solidFill>
                <a:srgbClr val="FF0000"/>
              </a:solidFill>
              <a:latin typeface="Times New Roman" pitchFamily="18" charset="0"/>
              <a:ea typeface="宋体" charset="-122"/>
              <a:cs typeface="+mn-cs"/>
            </a:endParaRPr>
          </a:p>
        </p:txBody>
      </p:sp>
      <p:sp>
        <p:nvSpPr>
          <p:cNvPr id="106" name="Text Box 38"/>
          <p:cNvSpPr txBox="1">
            <a:spLocks noChangeArrowheads="1"/>
          </p:cNvSpPr>
          <p:nvPr/>
        </p:nvSpPr>
        <p:spPr bwMode="auto">
          <a:xfrm>
            <a:off x="648815" y="3095620"/>
            <a:ext cx="923924"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en-US" altLang="zh-CN" sz="2000" b="1" i="1" kern="1200">
                <a:solidFill>
                  <a:srgbClr val="000000"/>
                </a:solidFill>
                <a:latin typeface="Times New Roman" pitchFamily="18" charset="0"/>
                <a:ea typeface="宋体" charset="-122"/>
                <a:cs typeface="+mn-cs"/>
              </a:rPr>
              <a:t>F</a:t>
            </a:r>
            <a:r>
              <a:rPr kumimoji="1" lang="en-US" altLang="zh-CN" sz="2000" b="1" kern="1200">
                <a:solidFill>
                  <a:srgbClr val="000000"/>
                </a:solidFill>
                <a:latin typeface="Times New Roman" pitchFamily="18" charset="0"/>
                <a:ea typeface="宋体" charset="-122"/>
                <a:cs typeface="+mn-cs"/>
              </a:rPr>
              <a:t>=1</a:t>
            </a:r>
            <a:endParaRPr kumimoji="1" lang="en-US" altLang="zh-CN" sz="2000" kern="1200">
              <a:solidFill>
                <a:srgbClr val="000000"/>
              </a:solidFill>
              <a:latin typeface="Times New Roman" pitchFamily="18" charset="0"/>
              <a:ea typeface="宋体" charset="-122"/>
              <a:cs typeface="+mn-cs"/>
            </a:endParaRPr>
          </a:p>
        </p:txBody>
      </p:sp>
      <p:grpSp>
        <p:nvGrpSpPr>
          <p:cNvPr id="6" name="Group 39"/>
          <p:cNvGrpSpPr>
            <a:grpSpLocks/>
          </p:cNvGrpSpPr>
          <p:nvPr/>
        </p:nvGrpSpPr>
        <p:grpSpPr bwMode="auto">
          <a:xfrm>
            <a:off x="571472" y="4143380"/>
            <a:ext cx="3546475" cy="1755777"/>
            <a:chOff x="1738" y="2499"/>
            <a:chExt cx="2234" cy="1106"/>
          </a:xfrm>
        </p:grpSpPr>
        <p:grpSp>
          <p:nvGrpSpPr>
            <p:cNvPr id="7" name="Group 40"/>
            <p:cNvGrpSpPr>
              <a:grpSpLocks/>
            </p:cNvGrpSpPr>
            <p:nvPr/>
          </p:nvGrpSpPr>
          <p:grpSpPr bwMode="auto">
            <a:xfrm>
              <a:off x="2064" y="2499"/>
              <a:ext cx="1488" cy="1104"/>
              <a:chOff x="1584" y="2499"/>
              <a:chExt cx="1488" cy="1104"/>
            </a:xfrm>
          </p:grpSpPr>
          <p:sp>
            <p:nvSpPr>
              <p:cNvPr id="114" name="Line 41"/>
              <p:cNvSpPr>
                <a:spLocks noChangeShapeType="1"/>
              </p:cNvSpPr>
              <p:nvPr/>
            </p:nvSpPr>
            <p:spPr bwMode="auto">
              <a:xfrm flipH="1">
                <a:off x="1584" y="3363"/>
                <a:ext cx="336" cy="240"/>
              </a:xfrm>
              <a:prstGeom prst="line">
                <a:avLst/>
              </a:prstGeom>
              <a:noFill/>
              <a:ln w="38100">
                <a:solidFill>
                  <a:srgbClr val="C00000"/>
                </a:solidFill>
                <a:round/>
                <a:headEnd type="triangle" w="med" len="me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15" name="Line 42"/>
              <p:cNvSpPr>
                <a:spLocks noChangeShapeType="1"/>
              </p:cNvSpPr>
              <p:nvPr/>
            </p:nvSpPr>
            <p:spPr bwMode="auto">
              <a:xfrm flipV="1">
                <a:off x="2688" y="2499"/>
                <a:ext cx="384" cy="288"/>
              </a:xfrm>
              <a:prstGeom prst="line">
                <a:avLst/>
              </a:prstGeom>
              <a:noFill/>
              <a:ln w="38100">
                <a:solidFill>
                  <a:srgbClr val="C00000"/>
                </a:solidFill>
                <a:round/>
                <a:headEnd type="triangle" w="med" len="me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8" name="Group 43"/>
            <p:cNvGrpSpPr>
              <a:grpSpLocks/>
            </p:cNvGrpSpPr>
            <p:nvPr/>
          </p:nvGrpSpPr>
          <p:grpSpPr bwMode="auto">
            <a:xfrm>
              <a:off x="1738" y="2508"/>
              <a:ext cx="2234" cy="1097"/>
              <a:chOff x="1690" y="2508"/>
              <a:chExt cx="2234" cy="1097"/>
            </a:xfrm>
          </p:grpSpPr>
          <p:grpSp>
            <p:nvGrpSpPr>
              <p:cNvPr id="9" name="Group 44"/>
              <p:cNvGrpSpPr>
                <a:grpSpLocks/>
              </p:cNvGrpSpPr>
              <p:nvPr/>
            </p:nvGrpSpPr>
            <p:grpSpPr bwMode="auto">
              <a:xfrm>
                <a:off x="1690" y="2508"/>
                <a:ext cx="2234" cy="1097"/>
                <a:chOff x="3082" y="2700"/>
                <a:chExt cx="2234" cy="1097"/>
              </a:xfrm>
            </p:grpSpPr>
            <p:sp>
              <p:nvSpPr>
                <p:cNvPr id="112" name="Text Box 45"/>
                <p:cNvSpPr txBox="1">
                  <a:spLocks noChangeArrowheads="1"/>
                </p:cNvSpPr>
                <p:nvPr/>
              </p:nvSpPr>
              <p:spPr bwMode="auto">
                <a:xfrm>
                  <a:off x="3082" y="3545"/>
                  <a:ext cx="540" cy="252"/>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F</a:t>
                  </a:r>
                  <a:r>
                    <a:rPr kumimoji="1" lang="en-US" altLang="zh-CN" sz="2000" b="1" i="0" u="none" strike="noStrike" kern="1200" cap="none" spc="0" normalizeH="0" baseline="0" noProof="0">
                      <a:ln>
                        <a:noFill/>
                      </a:ln>
                      <a:solidFill>
                        <a:srgbClr val="000000"/>
                      </a:solidFill>
                      <a:effectLst/>
                      <a:uLnTx/>
                      <a:uFillTx/>
                      <a:latin typeface="Times New Roman" pitchFamily="18" charset="0"/>
                      <a:ea typeface="宋体" charset="-122"/>
                      <a:cs typeface="+mn-cs"/>
                    </a:rPr>
                    <a:t>=1</a:t>
                  </a:r>
                </a:p>
              </p:txBody>
            </p:sp>
            <p:sp>
              <p:nvSpPr>
                <p:cNvPr id="113" name="Text Box 46"/>
                <p:cNvSpPr txBox="1">
                  <a:spLocks noChangeArrowheads="1"/>
                </p:cNvSpPr>
                <p:nvPr/>
              </p:nvSpPr>
              <p:spPr bwMode="auto">
                <a:xfrm>
                  <a:off x="4821" y="2700"/>
                  <a:ext cx="495" cy="252"/>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F</a:t>
                  </a:r>
                  <a:r>
                    <a:rPr kumimoji="1" lang="en-US" altLang="zh-CN" sz="2000" b="1" i="0" u="none" strike="noStrike" kern="1200" cap="none" spc="0" normalizeH="0" baseline="0" noProof="0">
                      <a:ln>
                        <a:noFill/>
                      </a:ln>
                      <a:solidFill>
                        <a:srgbClr val="000000"/>
                      </a:solidFill>
                      <a:effectLst/>
                      <a:uLnTx/>
                      <a:uFillTx/>
                      <a:latin typeface="Times New Roman" pitchFamily="18" charset="0"/>
                      <a:ea typeface="宋体" charset="-122"/>
                      <a:cs typeface="+mn-cs"/>
                    </a:rPr>
                    <a:t>=1</a:t>
                  </a:r>
                </a:p>
              </p:txBody>
            </p:sp>
          </p:grpSp>
          <p:sp>
            <p:nvSpPr>
              <p:cNvPr id="111" name="Line 47"/>
              <p:cNvSpPr>
                <a:spLocks noChangeShapeType="1"/>
              </p:cNvSpPr>
              <p:nvPr/>
            </p:nvSpPr>
            <p:spPr bwMode="auto">
              <a:xfrm flipV="1">
                <a:off x="2400" y="2820"/>
                <a:ext cx="720" cy="510"/>
              </a:xfrm>
              <a:prstGeom prst="line">
                <a:avLst/>
              </a:prstGeom>
              <a:noFill/>
              <a:ln w="28575" cap="rnd">
                <a:solidFill>
                  <a:srgbClr val="000000"/>
                </a:solidFill>
                <a:prstDash val="sysDot"/>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cxnSp>
        <p:nvCxnSpPr>
          <p:cNvPr id="117" name="直接连接符 116"/>
          <p:cNvCxnSpPr/>
          <p:nvPr/>
        </p:nvCxnSpPr>
        <p:spPr bwMode="auto">
          <a:xfrm rot="16200000" flipH="1" flipV="1">
            <a:off x="2703498" y="4651461"/>
            <a:ext cx="257181" cy="0"/>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119" name="直接连接符 118"/>
          <p:cNvCxnSpPr/>
          <p:nvPr/>
        </p:nvCxnSpPr>
        <p:spPr bwMode="auto">
          <a:xfrm flipH="1" flipV="1">
            <a:off x="1516718" y="5491782"/>
            <a:ext cx="257181" cy="0"/>
          </a:xfrm>
          <a:prstGeom prst="line">
            <a:avLst/>
          </a:prstGeom>
          <a:solidFill>
            <a:schemeClr val="accent1"/>
          </a:solidFill>
          <a:ln w="38100" cap="flat" cmpd="sng" algn="ctr">
            <a:solidFill>
              <a:srgbClr val="0033CC"/>
            </a:solidFill>
            <a:prstDash val="solid"/>
            <a:round/>
            <a:headEnd type="none" w="med" len="med"/>
            <a:tailEnd type="none" w="med" len="med"/>
          </a:ln>
          <a:effectLst/>
        </p:spPr>
      </p:cxnSp>
      <p:grpSp>
        <p:nvGrpSpPr>
          <p:cNvPr id="10" name="Group 2"/>
          <p:cNvGrpSpPr>
            <a:grpSpLocks/>
          </p:cNvGrpSpPr>
          <p:nvPr/>
        </p:nvGrpSpPr>
        <p:grpSpPr bwMode="auto">
          <a:xfrm>
            <a:off x="5902360" y="2614605"/>
            <a:ext cx="595313" cy="1612901"/>
            <a:chOff x="1999" y="519"/>
            <a:chExt cx="375" cy="1016"/>
          </a:xfrm>
        </p:grpSpPr>
        <p:sp>
          <p:nvSpPr>
            <p:cNvPr id="264" name="Line 3"/>
            <p:cNvSpPr>
              <a:spLocks noChangeShapeType="1"/>
            </p:cNvSpPr>
            <p:nvPr/>
          </p:nvSpPr>
          <p:spPr bwMode="auto">
            <a:xfrm flipV="1">
              <a:off x="1999" y="519"/>
              <a:ext cx="336" cy="240"/>
            </a:xfrm>
            <a:prstGeom prst="line">
              <a:avLst/>
            </a:prstGeom>
            <a:noFill/>
            <a:ln w="38100">
              <a:solidFill>
                <a:srgbClr val="C00000"/>
              </a:solidFill>
              <a:round/>
              <a:headEnd/>
              <a:tailEnd type="triangle" w="med" len="me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265" name="Line 4"/>
            <p:cNvSpPr>
              <a:spLocks noChangeShapeType="1"/>
            </p:cNvSpPr>
            <p:nvPr/>
          </p:nvSpPr>
          <p:spPr bwMode="auto">
            <a:xfrm flipH="1">
              <a:off x="2086" y="1295"/>
              <a:ext cx="288" cy="240"/>
            </a:xfrm>
            <a:prstGeom prst="line">
              <a:avLst/>
            </a:prstGeom>
            <a:noFill/>
            <a:ln w="38100">
              <a:solidFill>
                <a:srgbClr val="C00000"/>
              </a:solidFill>
              <a:round/>
              <a:headEnd/>
              <a:tailEnd type="triangle" w="med" len="me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grpSp>
        <p:nvGrpSpPr>
          <p:cNvPr id="11" name="Group 5"/>
          <p:cNvGrpSpPr>
            <a:grpSpLocks/>
          </p:cNvGrpSpPr>
          <p:nvPr/>
        </p:nvGrpSpPr>
        <p:grpSpPr bwMode="auto">
          <a:xfrm>
            <a:off x="4786346" y="2928931"/>
            <a:ext cx="3643306" cy="1306305"/>
            <a:chOff x="1824" y="717"/>
            <a:chExt cx="2410" cy="973"/>
          </a:xfrm>
        </p:grpSpPr>
        <p:sp>
          <p:nvSpPr>
            <p:cNvPr id="271" name="Oval 10"/>
            <p:cNvSpPr>
              <a:spLocks noChangeArrowheads="1"/>
            </p:cNvSpPr>
            <p:nvPr/>
          </p:nvSpPr>
          <p:spPr bwMode="auto">
            <a:xfrm>
              <a:off x="2928" y="1344"/>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2" name="Line 11"/>
            <p:cNvSpPr>
              <a:spLocks noChangeShapeType="1"/>
            </p:cNvSpPr>
            <p:nvPr/>
          </p:nvSpPr>
          <p:spPr bwMode="auto">
            <a:xfrm>
              <a:off x="2592" y="816"/>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3" name="Line 12"/>
            <p:cNvSpPr>
              <a:spLocks noChangeShapeType="1"/>
            </p:cNvSpPr>
            <p:nvPr/>
          </p:nvSpPr>
          <p:spPr bwMode="auto">
            <a:xfrm flipH="1">
              <a:off x="2976" y="864"/>
              <a:ext cx="336"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4" name="Line 13"/>
            <p:cNvSpPr>
              <a:spLocks noChangeShapeType="1"/>
            </p:cNvSpPr>
            <p:nvPr/>
          </p:nvSpPr>
          <p:spPr bwMode="auto">
            <a:xfrm flipH="1" flipV="1">
              <a:off x="2544"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5" name="Line 14"/>
            <p:cNvSpPr>
              <a:spLocks noChangeShapeType="1"/>
            </p:cNvSpPr>
            <p:nvPr/>
          </p:nvSpPr>
          <p:spPr bwMode="auto">
            <a:xfrm>
              <a:off x="3024" y="1392"/>
              <a:ext cx="720"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6" name="Line 15"/>
            <p:cNvSpPr>
              <a:spLocks noChangeShapeType="1"/>
            </p:cNvSpPr>
            <p:nvPr/>
          </p:nvSpPr>
          <p:spPr bwMode="auto">
            <a:xfrm>
              <a:off x="3360"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7" name="Line 16"/>
            <p:cNvSpPr>
              <a:spLocks noChangeShapeType="1"/>
            </p:cNvSpPr>
            <p:nvPr/>
          </p:nvSpPr>
          <p:spPr bwMode="auto">
            <a:xfrm>
              <a:off x="2256" y="1392"/>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8" name="Line 17"/>
            <p:cNvSpPr>
              <a:spLocks noChangeShapeType="1"/>
            </p:cNvSpPr>
            <p:nvPr/>
          </p:nvSpPr>
          <p:spPr bwMode="auto">
            <a:xfrm flipH="1">
              <a:off x="2208" y="864"/>
              <a:ext cx="288"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9" name="Line 18"/>
            <p:cNvSpPr>
              <a:spLocks noChangeShapeType="1"/>
            </p:cNvSpPr>
            <p:nvPr/>
          </p:nvSpPr>
          <p:spPr bwMode="auto">
            <a:xfrm>
              <a:off x="3680" y="1537"/>
              <a:ext cx="238"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0" name="Line 19"/>
            <p:cNvSpPr>
              <a:spLocks noChangeShapeType="1"/>
            </p:cNvSpPr>
            <p:nvPr/>
          </p:nvSpPr>
          <p:spPr bwMode="auto">
            <a:xfrm>
              <a:off x="3792" y="1377"/>
              <a:ext cx="0" cy="14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1" name="Line 20"/>
            <p:cNvSpPr>
              <a:spLocks noChangeAspect="1" noChangeShapeType="1"/>
            </p:cNvSpPr>
            <p:nvPr/>
          </p:nvSpPr>
          <p:spPr bwMode="auto">
            <a:xfrm flipH="1">
              <a:off x="3639"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2" name="Line 21"/>
            <p:cNvSpPr>
              <a:spLocks noChangeAspect="1" noChangeShapeType="1"/>
            </p:cNvSpPr>
            <p:nvPr/>
          </p:nvSpPr>
          <p:spPr bwMode="auto">
            <a:xfrm flipH="1">
              <a:off x="3735"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3" name="Line 22"/>
            <p:cNvSpPr>
              <a:spLocks noChangeAspect="1" noChangeShapeType="1"/>
            </p:cNvSpPr>
            <p:nvPr/>
          </p:nvSpPr>
          <p:spPr bwMode="auto">
            <a:xfrm flipH="1">
              <a:off x="3831"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12" name="Group 24"/>
            <p:cNvGrpSpPr>
              <a:grpSpLocks/>
            </p:cNvGrpSpPr>
            <p:nvPr/>
          </p:nvGrpSpPr>
          <p:grpSpPr bwMode="auto">
            <a:xfrm>
              <a:off x="2004" y="1344"/>
              <a:ext cx="400" cy="278"/>
              <a:chOff x="1476" y="1344"/>
              <a:chExt cx="400" cy="278"/>
            </a:xfrm>
          </p:grpSpPr>
          <p:sp>
            <p:nvSpPr>
              <p:cNvPr id="295" name="Line 28"/>
              <p:cNvSpPr>
                <a:spLocks noChangeShapeType="1"/>
              </p:cNvSpPr>
              <p:nvPr/>
            </p:nvSpPr>
            <p:spPr bwMode="auto">
              <a:xfrm>
                <a:off x="1495" y="1521"/>
                <a:ext cx="381"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6" name="Line 29"/>
              <p:cNvSpPr>
                <a:spLocks noChangeShapeType="1"/>
              </p:cNvSpPr>
              <p:nvPr/>
            </p:nvSpPr>
            <p:spPr bwMode="auto">
              <a:xfrm flipH="1">
                <a:off x="1612" y="1418"/>
                <a:ext cx="47" cy="7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7" name="Line 30"/>
              <p:cNvSpPr>
                <a:spLocks noChangeShapeType="1"/>
              </p:cNvSpPr>
              <p:nvPr/>
            </p:nvSpPr>
            <p:spPr bwMode="auto">
              <a:xfrm>
                <a:off x="1698" y="1420"/>
                <a:ext cx="46" cy="63"/>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8" name="Line 31"/>
              <p:cNvSpPr>
                <a:spLocks noChangeAspect="1" noChangeShapeType="1"/>
              </p:cNvSpPr>
              <p:nvPr/>
            </p:nvSpPr>
            <p:spPr bwMode="auto">
              <a:xfrm flipH="1">
                <a:off x="1476" y="153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9" name="Line 32"/>
              <p:cNvSpPr>
                <a:spLocks noChangeAspect="1" noChangeShapeType="1"/>
              </p:cNvSpPr>
              <p:nvPr/>
            </p:nvSpPr>
            <p:spPr bwMode="auto">
              <a:xfrm flipH="1">
                <a:off x="1573"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0" name="Line 33"/>
              <p:cNvSpPr>
                <a:spLocks noChangeAspect="1" noChangeShapeType="1"/>
              </p:cNvSpPr>
              <p:nvPr/>
            </p:nvSpPr>
            <p:spPr bwMode="auto">
              <a:xfrm flipH="1">
                <a:off x="1669"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1" name="Line 34"/>
              <p:cNvSpPr>
                <a:spLocks noChangeAspect="1" noChangeShapeType="1"/>
              </p:cNvSpPr>
              <p:nvPr/>
            </p:nvSpPr>
            <p:spPr bwMode="auto">
              <a:xfrm flipH="1">
                <a:off x="1770" y="1536"/>
                <a:ext cx="86" cy="8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3" name="Oval 26"/>
              <p:cNvSpPr>
                <a:spLocks noChangeArrowheads="1"/>
              </p:cNvSpPr>
              <p:nvPr/>
            </p:nvSpPr>
            <p:spPr bwMode="auto">
              <a:xfrm>
                <a:off x="1632"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2" name="Oval 25"/>
              <p:cNvSpPr>
                <a:spLocks noChangeArrowheads="1"/>
              </p:cNvSpPr>
              <p:nvPr/>
            </p:nvSpPr>
            <p:spPr bwMode="auto">
              <a:xfrm>
                <a:off x="1549"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4" name="Oval 27"/>
              <p:cNvSpPr>
                <a:spLocks noChangeArrowheads="1"/>
              </p:cNvSpPr>
              <p:nvPr/>
            </p:nvSpPr>
            <p:spPr bwMode="auto">
              <a:xfrm>
                <a:off x="1710"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86" name="Text Box 37"/>
            <p:cNvSpPr txBox="1">
              <a:spLocks noChangeArrowheads="1"/>
            </p:cNvSpPr>
            <p:nvPr/>
          </p:nvSpPr>
          <p:spPr bwMode="auto">
            <a:xfrm>
              <a:off x="1824" y="1296"/>
              <a:ext cx="284" cy="298"/>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87" name="Text Box 38"/>
            <p:cNvSpPr txBox="1">
              <a:spLocks noChangeArrowheads="1"/>
            </p:cNvSpPr>
            <p:nvPr/>
          </p:nvSpPr>
          <p:spPr bwMode="auto">
            <a:xfrm>
              <a:off x="3024" y="1392"/>
              <a:ext cx="240"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B</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88" name="Text Box 39"/>
            <p:cNvSpPr txBox="1">
              <a:spLocks noChangeArrowheads="1"/>
            </p:cNvSpPr>
            <p:nvPr/>
          </p:nvSpPr>
          <p:spPr bwMode="auto">
            <a:xfrm>
              <a:off x="2208" y="720"/>
              <a:ext cx="336"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C</a:t>
              </a:r>
            </a:p>
          </p:txBody>
        </p:sp>
        <p:sp>
          <p:nvSpPr>
            <p:cNvPr id="289" name="Text Box 40"/>
            <p:cNvSpPr txBox="1">
              <a:spLocks noChangeArrowheads="1"/>
            </p:cNvSpPr>
            <p:nvPr/>
          </p:nvSpPr>
          <p:spPr bwMode="auto">
            <a:xfrm>
              <a:off x="2544" y="1008"/>
              <a:ext cx="288"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290" name="Object 41"/>
            <p:cNvGraphicFramePr>
              <a:graphicFrameLocks noChangeAspect="1"/>
            </p:cNvGraphicFramePr>
            <p:nvPr/>
          </p:nvGraphicFramePr>
          <p:xfrm>
            <a:off x="3624" y="717"/>
            <a:ext cx="610" cy="258"/>
          </p:xfrm>
          <a:graphic>
            <a:graphicData uri="http://schemas.openxmlformats.org/presentationml/2006/ole">
              <mc:AlternateContent xmlns:mc="http://schemas.openxmlformats.org/markup-compatibility/2006">
                <mc:Choice xmlns:v="urn:schemas-microsoft-com:vml" Requires="v">
                  <p:oleObj spid="_x0000_s396298" name="Equation" r:id="rId8" imgW="927000" imgH="393480" progId="Equation.DSMT4">
                    <p:embed/>
                  </p:oleObj>
                </mc:Choice>
                <mc:Fallback>
                  <p:oleObj name="Equation" r:id="rId8" imgW="927000" imgH="393480"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24" y="717"/>
                          <a:ext cx="610"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0" name="Oval 9"/>
            <p:cNvSpPr>
              <a:spLocks noChangeArrowheads="1"/>
            </p:cNvSpPr>
            <p:nvPr/>
          </p:nvSpPr>
          <p:spPr bwMode="auto">
            <a:xfrm>
              <a:off x="2496"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7" name="Oval 6"/>
            <p:cNvSpPr>
              <a:spLocks noChangeArrowheads="1"/>
            </p:cNvSpPr>
            <p:nvPr/>
          </p:nvSpPr>
          <p:spPr bwMode="auto">
            <a:xfrm>
              <a:off x="3744"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9" name="Oval 8"/>
            <p:cNvSpPr>
              <a:spLocks noChangeArrowheads="1"/>
            </p:cNvSpPr>
            <p:nvPr/>
          </p:nvSpPr>
          <p:spPr bwMode="auto">
            <a:xfrm>
              <a:off x="3744" y="148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8" name="Oval 7"/>
            <p:cNvSpPr>
              <a:spLocks noChangeArrowheads="1"/>
            </p:cNvSpPr>
            <p:nvPr/>
          </p:nvSpPr>
          <p:spPr bwMode="auto">
            <a:xfrm>
              <a:off x="3287"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3" name="Group 102"/>
          <p:cNvGrpSpPr>
            <a:grpSpLocks/>
          </p:cNvGrpSpPr>
          <p:nvPr/>
        </p:nvGrpSpPr>
        <p:grpSpPr bwMode="auto">
          <a:xfrm>
            <a:off x="5354673" y="2285992"/>
            <a:ext cx="1778004" cy="2400301"/>
            <a:chOff x="1078" y="408"/>
            <a:chExt cx="1120" cy="1512"/>
          </a:xfrm>
        </p:grpSpPr>
        <p:graphicFrame>
          <p:nvGraphicFramePr>
            <p:cNvPr id="305" name="Object 44"/>
            <p:cNvGraphicFramePr>
              <a:graphicFrameLocks noChangeAspect="1"/>
            </p:cNvGraphicFramePr>
            <p:nvPr/>
          </p:nvGraphicFramePr>
          <p:xfrm>
            <a:off x="1078" y="1488"/>
            <a:ext cx="407" cy="432"/>
          </p:xfrm>
          <a:graphic>
            <a:graphicData uri="http://schemas.openxmlformats.org/presentationml/2006/ole">
              <mc:AlternateContent xmlns:mc="http://schemas.openxmlformats.org/markup-compatibility/2006">
                <mc:Choice xmlns:v="urn:schemas-microsoft-com:vml" Requires="v">
                  <p:oleObj spid="_x0000_s396299" name="公式" r:id="rId10" imgW="431640" imgH="393480" progId="Equation.3">
                    <p:embed/>
                  </p:oleObj>
                </mc:Choice>
                <mc:Fallback>
                  <p:oleObj name="公式" r:id="rId10" imgW="431640" imgH="393480" progId="Equation.3">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8" y="1488"/>
                          <a:ext cx="407"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 name="Object 45"/>
            <p:cNvGraphicFramePr>
              <a:graphicFrameLocks noChangeAspect="1"/>
            </p:cNvGraphicFramePr>
            <p:nvPr/>
          </p:nvGraphicFramePr>
          <p:xfrm>
            <a:off x="1791" y="408"/>
            <a:ext cx="407" cy="432"/>
          </p:xfrm>
          <a:graphic>
            <a:graphicData uri="http://schemas.openxmlformats.org/presentationml/2006/ole">
              <mc:AlternateContent xmlns:mc="http://schemas.openxmlformats.org/markup-compatibility/2006">
                <mc:Choice xmlns:v="urn:schemas-microsoft-com:vml" Requires="v">
                  <p:oleObj spid="_x0000_s396300" name="公式" r:id="rId12" imgW="431640" imgH="393480" progId="Equation.3">
                    <p:embed/>
                  </p:oleObj>
                </mc:Choice>
                <mc:Fallback>
                  <p:oleObj name="公式" r:id="rId12" imgW="431640" imgH="393480" progId="Equation.3">
                    <p:embed/>
                    <p:pic>
                      <p:nvPicPr>
                        <p:cNvPr id="0" name="Object 4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1" y="408"/>
                          <a:ext cx="407"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4" name="Group 5"/>
          <p:cNvGrpSpPr>
            <a:grpSpLocks/>
          </p:cNvGrpSpPr>
          <p:nvPr/>
        </p:nvGrpSpPr>
        <p:grpSpPr bwMode="auto">
          <a:xfrm>
            <a:off x="4714876" y="4933225"/>
            <a:ext cx="3746106" cy="1210983"/>
            <a:chOff x="1824" y="720"/>
            <a:chExt cx="2478" cy="902"/>
          </a:xfrm>
        </p:grpSpPr>
        <p:sp>
          <p:nvSpPr>
            <p:cNvPr id="365" name="Oval 10"/>
            <p:cNvSpPr>
              <a:spLocks noChangeArrowheads="1"/>
            </p:cNvSpPr>
            <p:nvPr/>
          </p:nvSpPr>
          <p:spPr bwMode="auto">
            <a:xfrm>
              <a:off x="2928" y="1344"/>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Line 11"/>
            <p:cNvSpPr>
              <a:spLocks noChangeShapeType="1"/>
            </p:cNvSpPr>
            <p:nvPr/>
          </p:nvSpPr>
          <p:spPr bwMode="auto">
            <a:xfrm>
              <a:off x="2592" y="816"/>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7" name="Line 12"/>
            <p:cNvSpPr>
              <a:spLocks noChangeShapeType="1"/>
            </p:cNvSpPr>
            <p:nvPr/>
          </p:nvSpPr>
          <p:spPr bwMode="auto">
            <a:xfrm flipH="1">
              <a:off x="2976" y="864"/>
              <a:ext cx="336"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13"/>
            <p:cNvSpPr>
              <a:spLocks noChangeShapeType="1"/>
            </p:cNvSpPr>
            <p:nvPr/>
          </p:nvSpPr>
          <p:spPr bwMode="auto">
            <a:xfrm flipH="1" flipV="1">
              <a:off x="2544"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14"/>
            <p:cNvSpPr>
              <a:spLocks noChangeShapeType="1"/>
            </p:cNvSpPr>
            <p:nvPr/>
          </p:nvSpPr>
          <p:spPr bwMode="auto">
            <a:xfrm>
              <a:off x="3024" y="1392"/>
              <a:ext cx="720"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15"/>
            <p:cNvSpPr>
              <a:spLocks noChangeShapeType="1"/>
            </p:cNvSpPr>
            <p:nvPr/>
          </p:nvSpPr>
          <p:spPr bwMode="auto">
            <a:xfrm>
              <a:off x="3360"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1" name="Line 16"/>
            <p:cNvSpPr>
              <a:spLocks noChangeShapeType="1"/>
            </p:cNvSpPr>
            <p:nvPr/>
          </p:nvSpPr>
          <p:spPr bwMode="auto">
            <a:xfrm>
              <a:off x="2256" y="1392"/>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2" name="Line 17"/>
            <p:cNvSpPr>
              <a:spLocks noChangeShapeType="1"/>
            </p:cNvSpPr>
            <p:nvPr/>
          </p:nvSpPr>
          <p:spPr bwMode="auto">
            <a:xfrm flipH="1">
              <a:off x="2208" y="864"/>
              <a:ext cx="288"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18"/>
            <p:cNvSpPr>
              <a:spLocks noChangeShapeType="1"/>
            </p:cNvSpPr>
            <p:nvPr/>
          </p:nvSpPr>
          <p:spPr bwMode="auto">
            <a:xfrm>
              <a:off x="3680" y="1537"/>
              <a:ext cx="238"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19"/>
            <p:cNvSpPr>
              <a:spLocks noChangeShapeType="1"/>
            </p:cNvSpPr>
            <p:nvPr/>
          </p:nvSpPr>
          <p:spPr bwMode="auto">
            <a:xfrm>
              <a:off x="3792" y="1377"/>
              <a:ext cx="0" cy="14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20"/>
            <p:cNvSpPr>
              <a:spLocks noChangeAspect="1" noChangeShapeType="1"/>
            </p:cNvSpPr>
            <p:nvPr/>
          </p:nvSpPr>
          <p:spPr bwMode="auto">
            <a:xfrm flipH="1">
              <a:off x="3639"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6" name="Line 21"/>
            <p:cNvSpPr>
              <a:spLocks noChangeAspect="1" noChangeShapeType="1"/>
            </p:cNvSpPr>
            <p:nvPr/>
          </p:nvSpPr>
          <p:spPr bwMode="auto">
            <a:xfrm flipH="1">
              <a:off x="3735"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22"/>
            <p:cNvSpPr>
              <a:spLocks noChangeAspect="1" noChangeShapeType="1"/>
            </p:cNvSpPr>
            <p:nvPr/>
          </p:nvSpPr>
          <p:spPr bwMode="auto">
            <a:xfrm flipH="1">
              <a:off x="3831"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15" name="Group 24"/>
            <p:cNvGrpSpPr>
              <a:grpSpLocks/>
            </p:cNvGrpSpPr>
            <p:nvPr/>
          </p:nvGrpSpPr>
          <p:grpSpPr bwMode="auto">
            <a:xfrm>
              <a:off x="2004" y="1344"/>
              <a:ext cx="400" cy="278"/>
              <a:chOff x="1476" y="1344"/>
              <a:chExt cx="400" cy="278"/>
            </a:xfrm>
          </p:grpSpPr>
          <p:sp>
            <p:nvSpPr>
              <p:cNvPr id="388" name="Line 28"/>
              <p:cNvSpPr>
                <a:spLocks noChangeShapeType="1"/>
              </p:cNvSpPr>
              <p:nvPr/>
            </p:nvSpPr>
            <p:spPr bwMode="auto">
              <a:xfrm>
                <a:off x="1495" y="1521"/>
                <a:ext cx="381"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9" name="Line 29"/>
              <p:cNvSpPr>
                <a:spLocks noChangeShapeType="1"/>
              </p:cNvSpPr>
              <p:nvPr/>
            </p:nvSpPr>
            <p:spPr bwMode="auto">
              <a:xfrm flipH="1">
                <a:off x="1612" y="1418"/>
                <a:ext cx="47" cy="7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0" name="Line 30"/>
              <p:cNvSpPr>
                <a:spLocks noChangeShapeType="1"/>
              </p:cNvSpPr>
              <p:nvPr/>
            </p:nvSpPr>
            <p:spPr bwMode="auto">
              <a:xfrm>
                <a:off x="1698" y="1420"/>
                <a:ext cx="46" cy="63"/>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31"/>
              <p:cNvSpPr>
                <a:spLocks noChangeAspect="1" noChangeShapeType="1"/>
              </p:cNvSpPr>
              <p:nvPr/>
            </p:nvSpPr>
            <p:spPr bwMode="auto">
              <a:xfrm flipH="1">
                <a:off x="1476" y="153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32"/>
              <p:cNvSpPr>
                <a:spLocks noChangeAspect="1" noChangeShapeType="1"/>
              </p:cNvSpPr>
              <p:nvPr/>
            </p:nvSpPr>
            <p:spPr bwMode="auto">
              <a:xfrm flipH="1">
                <a:off x="1573"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3" name="Line 33"/>
              <p:cNvSpPr>
                <a:spLocks noChangeAspect="1" noChangeShapeType="1"/>
              </p:cNvSpPr>
              <p:nvPr/>
            </p:nvSpPr>
            <p:spPr bwMode="auto">
              <a:xfrm flipH="1">
                <a:off x="1669"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4" name="Line 34"/>
              <p:cNvSpPr>
                <a:spLocks noChangeAspect="1" noChangeShapeType="1"/>
              </p:cNvSpPr>
              <p:nvPr/>
            </p:nvSpPr>
            <p:spPr bwMode="auto">
              <a:xfrm flipH="1">
                <a:off x="1770" y="1536"/>
                <a:ext cx="86" cy="8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5" name="Oval 26"/>
              <p:cNvSpPr>
                <a:spLocks noChangeArrowheads="1"/>
              </p:cNvSpPr>
              <p:nvPr/>
            </p:nvSpPr>
            <p:spPr bwMode="auto">
              <a:xfrm>
                <a:off x="1632"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6" name="Oval 25"/>
              <p:cNvSpPr>
                <a:spLocks noChangeArrowheads="1"/>
              </p:cNvSpPr>
              <p:nvPr/>
            </p:nvSpPr>
            <p:spPr bwMode="auto">
              <a:xfrm>
                <a:off x="1549"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7" name="Oval 27"/>
              <p:cNvSpPr>
                <a:spLocks noChangeArrowheads="1"/>
              </p:cNvSpPr>
              <p:nvPr/>
            </p:nvSpPr>
            <p:spPr bwMode="auto">
              <a:xfrm>
                <a:off x="1710"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79" name="Text Box 37"/>
            <p:cNvSpPr txBox="1">
              <a:spLocks noChangeArrowheads="1"/>
            </p:cNvSpPr>
            <p:nvPr/>
          </p:nvSpPr>
          <p:spPr bwMode="auto">
            <a:xfrm>
              <a:off x="1824" y="1296"/>
              <a:ext cx="284" cy="298"/>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80" name="Text Box 38"/>
            <p:cNvSpPr txBox="1">
              <a:spLocks noChangeArrowheads="1"/>
            </p:cNvSpPr>
            <p:nvPr/>
          </p:nvSpPr>
          <p:spPr bwMode="auto">
            <a:xfrm>
              <a:off x="3809" y="1132"/>
              <a:ext cx="240"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81" name="Text Box 39"/>
            <p:cNvSpPr txBox="1">
              <a:spLocks noChangeArrowheads="1"/>
            </p:cNvSpPr>
            <p:nvPr/>
          </p:nvSpPr>
          <p:spPr bwMode="auto">
            <a:xfrm>
              <a:off x="2208" y="720"/>
              <a:ext cx="336"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C</a:t>
              </a:r>
            </a:p>
          </p:txBody>
        </p:sp>
        <p:sp>
          <p:nvSpPr>
            <p:cNvPr id="382" name="Text Box 40"/>
            <p:cNvSpPr txBox="1">
              <a:spLocks noChangeArrowheads="1"/>
            </p:cNvSpPr>
            <p:nvPr/>
          </p:nvSpPr>
          <p:spPr bwMode="auto">
            <a:xfrm>
              <a:off x="2544" y="1008"/>
              <a:ext cx="288"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383" name="Object 41"/>
            <p:cNvGraphicFramePr>
              <a:graphicFrameLocks noChangeAspect="1"/>
            </p:cNvGraphicFramePr>
            <p:nvPr/>
          </p:nvGraphicFramePr>
          <p:xfrm>
            <a:off x="3638" y="770"/>
            <a:ext cx="664" cy="312"/>
          </p:xfrm>
          <a:graphic>
            <a:graphicData uri="http://schemas.openxmlformats.org/presentationml/2006/ole">
              <mc:AlternateContent xmlns:mc="http://schemas.openxmlformats.org/markup-compatibility/2006">
                <mc:Choice xmlns:v="urn:schemas-microsoft-com:vml" Requires="v">
                  <p:oleObj spid="_x0000_s396301" name="Equation" r:id="rId14" imgW="482400" imgH="228600" progId="Equation.DSMT4">
                    <p:embed/>
                  </p:oleObj>
                </mc:Choice>
                <mc:Fallback>
                  <p:oleObj name="Equation" r:id="rId14" imgW="482400" imgH="228600"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8" y="770"/>
                          <a:ext cx="664"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4" name="Oval 9"/>
            <p:cNvSpPr>
              <a:spLocks noChangeArrowheads="1"/>
            </p:cNvSpPr>
            <p:nvPr/>
          </p:nvSpPr>
          <p:spPr bwMode="auto">
            <a:xfrm>
              <a:off x="2496"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5" name="Oval 6"/>
            <p:cNvSpPr>
              <a:spLocks noChangeArrowheads="1"/>
            </p:cNvSpPr>
            <p:nvPr/>
          </p:nvSpPr>
          <p:spPr bwMode="auto">
            <a:xfrm>
              <a:off x="3744"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Oval 8"/>
            <p:cNvSpPr>
              <a:spLocks noChangeArrowheads="1"/>
            </p:cNvSpPr>
            <p:nvPr/>
          </p:nvSpPr>
          <p:spPr bwMode="auto">
            <a:xfrm>
              <a:off x="3744" y="148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Oval 7"/>
            <p:cNvSpPr>
              <a:spLocks noChangeArrowheads="1"/>
            </p:cNvSpPr>
            <p:nvPr/>
          </p:nvSpPr>
          <p:spPr bwMode="auto">
            <a:xfrm>
              <a:off x="3287"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6" name="Group 38"/>
          <p:cNvGrpSpPr>
            <a:grpSpLocks/>
          </p:cNvGrpSpPr>
          <p:nvPr/>
        </p:nvGrpSpPr>
        <p:grpSpPr bwMode="auto">
          <a:xfrm>
            <a:off x="5191292" y="4760627"/>
            <a:ext cx="3095483" cy="1383017"/>
            <a:chOff x="1785" y="653"/>
            <a:chExt cx="2055" cy="979"/>
          </a:xfrm>
        </p:grpSpPr>
        <p:sp>
          <p:nvSpPr>
            <p:cNvPr id="521" name="Line 39"/>
            <p:cNvSpPr>
              <a:spLocks noChangeShapeType="1"/>
            </p:cNvSpPr>
            <p:nvPr/>
          </p:nvSpPr>
          <p:spPr bwMode="auto">
            <a:xfrm>
              <a:off x="2208" y="864"/>
              <a:ext cx="1152" cy="528"/>
            </a:xfrm>
            <a:prstGeom prst="line">
              <a:avLst/>
            </a:prstGeom>
            <a:noFill/>
            <a:ln w="28575" cap="rnd">
              <a:solidFill>
                <a:srgbClr val="00B050"/>
              </a:solidFill>
              <a:prstDash val="sysDot"/>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522" name="Line 40"/>
            <p:cNvSpPr>
              <a:spLocks noChangeShapeType="1"/>
            </p:cNvSpPr>
            <p:nvPr/>
          </p:nvSpPr>
          <p:spPr bwMode="auto">
            <a:xfrm>
              <a:off x="3456" y="1440"/>
              <a:ext cx="384" cy="192"/>
            </a:xfrm>
            <a:prstGeom prst="line">
              <a:avLst/>
            </a:prstGeom>
            <a:noFill/>
            <a:ln w="38100">
              <a:solidFill>
                <a:srgbClr val="C00000"/>
              </a:solidFill>
              <a:round/>
              <a:headEnd/>
              <a:tailEnd type="triangle" w="med" len="me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523" name="Line 41"/>
            <p:cNvSpPr>
              <a:spLocks noChangeShapeType="1"/>
            </p:cNvSpPr>
            <p:nvPr/>
          </p:nvSpPr>
          <p:spPr bwMode="auto">
            <a:xfrm flipH="1" flipV="1">
              <a:off x="1785" y="653"/>
              <a:ext cx="384" cy="192"/>
            </a:xfrm>
            <a:prstGeom prst="line">
              <a:avLst/>
            </a:prstGeom>
            <a:noFill/>
            <a:ln w="38100">
              <a:solidFill>
                <a:srgbClr val="C00000"/>
              </a:solidFill>
              <a:round/>
              <a:headEnd/>
              <a:tailEnd type="triangle" w="med" len="me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grpSp>
        <p:nvGrpSpPr>
          <p:cNvPr id="17" name="Group 42"/>
          <p:cNvGrpSpPr>
            <a:grpSpLocks/>
          </p:cNvGrpSpPr>
          <p:nvPr/>
        </p:nvGrpSpPr>
        <p:grpSpPr bwMode="auto">
          <a:xfrm>
            <a:off x="4710145" y="4814912"/>
            <a:ext cx="4214813" cy="1712913"/>
            <a:chOff x="519" y="1644"/>
            <a:chExt cx="2655" cy="1079"/>
          </a:xfrm>
        </p:grpSpPr>
        <p:sp>
          <p:nvSpPr>
            <p:cNvPr id="525" name="Text Box 43"/>
            <p:cNvSpPr txBox="1">
              <a:spLocks noChangeArrowheads="1"/>
            </p:cNvSpPr>
            <p:nvPr/>
          </p:nvSpPr>
          <p:spPr bwMode="auto">
            <a:xfrm>
              <a:off x="2502" y="2471"/>
              <a:ext cx="672" cy="252"/>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en-US" altLang="zh-CN" sz="2000" b="1" i="1" kern="1200">
                  <a:solidFill>
                    <a:srgbClr val="000000"/>
                  </a:solidFill>
                  <a:latin typeface="Times New Roman" pitchFamily="18" charset="0"/>
                  <a:ea typeface="宋体" charset="-122"/>
                  <a:cs typeface="+mn-cs"/>
                </a:rPr>
                <a:t>F</a:t>
              </a:r>
              <a:r>
                <a:rPr kumimoji="1" lang="en-US" altLang="zh-CN" sz="2000" b="1" kern="1200">
                  <a:solidFill>
                    <a:srgbClr val="000000"/>
                  </a:solidFill>
                  <a:latin typeface="Times New Roman" pitchFamily="18" charset="0"/>
                  <a:ea typeface="宋体" charset="-122"/>
                  <a:cs typeface="+mn-cs"/>
                </a:rPr>
                <a:t>=1</a:t>
              </a:r>
              <a:endParaRPr kumimoji="1" lang="en-US" altLang="zh-CN" sz="2000" kern="1200">
                <a:solidFill>
                  <a:srgbClr val="000000"/>
                </a:solidFill>
                <a:latin typeface="Times New Roman" pitchFamily="18" charset="0"/>
                <a:ea typeface="宋体" charset="-122"/>
                <a:cs typeface="+mn-cs"/>
              </a:endParaRPr>
            </a:p>
          </p:txBody>
        </p:sp>
        <p:sp>
          <p:nvSpPr>
            <p:cNvPr id="526" name="Text Box 44"/>
            <p:cNvSpPr txBox="1">
              <a:spLocks noChangeArrowheads="1"/>
            </p:cNvSpPr>
            <p:nvPr/>
          </p:nvSpPr>
          <p:spPr bwMode="auto">
            <a:xfrm>
              <a:off x="519" y="1644"/>
              <a:ext cx="768" cy="252"/>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en-US" altLang="zh-CN" sz="2000" b="1" i="1" kern="1200">
                  <a:solidFill>
                    <a:srgbClr val="000000"/>
                  </a:solidFill>
                  <a:latin typeface="Times New Roman" pitchFamily="18" charset="0"/>
                  <a:ea typeface="宋体" charset="-122"/>
                  <a:cs typeface="+mn-cs"/>
                </a:rPr>
                <a:t>F</a:t>
              </a:r>
              <a:r>
                <a:rPr kumimoji="1" lang="en-US" altLang="zh-CN" sz="2000" b="1" kern="1200">
                  <a:solidFill>
                    <a:srgbClr val="000000"/>
                  </a:solidFill>
                  <a:latin typeface="Times New Roman" pitchFamily="18" charset="0"/>
                  <a:ea typeface="宋体" charset="-122"/>
                  <a:cs typeface="+mn-cs"/>
                </a:rPr>
                <a:t>=1</a:t>
              </a:r>
              <a:endParaRPr kumimoji="1" lang="en-US" altLang="zh-CN" sz="2000" kern="1200">
                <a:solidFill>
                  <a:srgbClr val="000000"/>
                </a:solidFill>
                <a:latin typeface="Times New Roman" pitchFamily="18" charset="0"/>
                <a:ea typeface="宋体"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wipe(left)">
                                      <p:cBhvr>
                                        <p:cTn id="7" dur="500"/>
                                        <p:tgtEl>
                                          <p:spTgt spid="10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wipe(left)">
                                      <p:cBhvr>
                                        <p:cTn id="11" dur="500"/>
                                        <p:tgtEl>
                                          <p:spTgt spid="106"/>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272"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strVal val="2/3*#ppt_w"/>
                                          </p:val>
                                        </p:tav>
                                        <p:tav tm="100000">
                                          <p:val>
                                            <p:strVal val="#ppt_w"/>
                                          </p:val>
                                        </p:tav>
                                      </p:tavLst>
                                    </p:anim>
                                    <p:anim calcmode="lin" valueType="num">
                                      <p:cBhvr>
                                        <p:cTn id="17" dur="500" fill="hold"/>
                                        <p:tgtEl>
                                          <p:spTgt spid="6"/>
                                        </p:tgtEl>
                                        <p:attrNameLst>
                                          <p:attrName>ppt_h</p:attrName>
                                        </p:attrNameLst>
                                      </p:cBhvr>
                                      <p:tavLst>
                                        <p:tav tm="0">
                                          <p:val>
                                            <p:strVal val="2/3*#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strVal val="4/3*#ppt_w"/>
                                          </p:val>
                                        </p:tav>
                                        <p:tav tm="100000">
                                          <p:val>
                                            <p:strVal val="#ppt_w"/>
                                          </p:val>
                                        </p:tav>
                                      </p:tavLst>
                                    </p:anim>
                                    <p:anim calcmode="lin" valueType="num">
                                      <p:cBhvr>
                                        <p:cTn id="23" dur="500" fill="hold"/>
                                        <p:tgtEl>
                                          <p:spTgt spid="10"/>
                                        </p:tgtEl>
                                        <p:attrNameLst>
                                          <p:attrName>ppt_h</p:attrName>
                                        </p:attrNameLst>
                                      </p:cBhvr>
                                      <p:tavLst>
                                        <p:tav tm="0">
                                          <p:val>
                                            <p:strVal val="4/3*#ppt_h"/>
                                          </p:val>
                                        </p:tav>
                                        <p:tav tm="100000">
                                          <p:val>
                                            <p:strVal val="#ppt_h"/>
                                          </p:val>
                                        </p:tav>
                                      </p:tavLst>
                                    </p:anim>
                                  </p:child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0-#ppt_w/2"/>
                                          </p:val>
                                        </p:tav>
                                        <p:tav tm="100000">
                                          <p:val>
                                            <p:strVal val="#ppt_x"/>
                                          </p:val>
                                        </p:tav>
                                      </p:tavLst>
                                    </p:anim>
                                    <p:anim calcmode="lin" valueType="num">
                                      <p:cBhvr additive="base">
                                        <p:cTn id="34" dur="500" fill="hold"/>
                                        <p:tgtEl>
                                          <p:spTgt spid="16"/>
                                        </p:tgtEl>
                                        <p:attrNameLst>
                                          <p:attrName>ppt_y</p:attrName>
                                        </p:attrNameLst>
                                      </p:cBhvr>
                                      <p:tavLst>
                                        <p:tav tm="0">
                                          <p:val>
                                            <p:strVal val="0-#ppt_h/2"/>
                                          </p:val>
                                        </p:tav>
                                        <p:tav tm="100000">
                                          <p:val>
                                            <p:strVal val="#ppt_y"/>
                                          </p:val>
                                        </p:tav>
                                      </p:tavLst>
                                    </p:anim>
                                  </p:childTnLst>
                                </p:cTn>
                              </p:par>
                            </p:childTnLst>
                          </p:cTn>
                        </p:par>
                        <p:par>
                          <p:cTn id="35" fill="hold">
                            <p:stCondLst>
                              <p:cond delay="500"/>
                            </p:stCondLst>
                            <p:childTnLst>
                              <p:par>
                                <p:cTn id="36" presetID="2" presetClass="entr" presetSubtype="3"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1+#ppt_w/2"/>
                                          </p:val>
                                        </p:tav>
                                        <p:tav tm="100000">
                                          <p:val>
                                            <p:strVal val="#ppt_x"/>
                                          </p:val>
                                        </p:tav>
                                      </p:tavLst>
                                    </p:anim>
                                    <p:anim calcmode="lin" valueType="num">
                                      <p:cBhvr additive="base">
                                        <p:cTn id="39"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7960112" cy="42928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21" name="TextBox 20"/>
          <p:cNvSpPr txBox="1"/>
          <p:nvPr/>
        </p:nvSpPr>
        <p:spPr>
          <a:xfrm>
            <a:off x="1214414" y="2214554"/>
            <a:ext cx="5643602" cy="400110"/>
          </a:xfrm>
          <a:prstGeom prst="rect">
            <a:avLst/>
          </a:prstGeom>
          <a:noFill/>
          <a:ln w="28575">
            <a:noFill/>
          </a:ln>
        </p:spPr>
        <p:txBody>
          <a:bodyPr wrap="square" rtlCol="0">
            <a:spAutoFit/>
          </a:bodyPr>
          <a:lstStyle/>
          <a:p>
            <a:r>
              <a:rPr lang="zh-CN" altLang="en-US" sz="2000" b="1"/>
              <a:t>试确定指定</a:t>
            </a:r>
            <a:r>
              <a:rPr lang="zh-CN" altLang="en-US" sz="2000" b="1">
                <a:solidFill>
                  <a:srgbClr val="C00000"/>
                </a:solidFill>
              </a:rPr>
              <a:t>广义位移</a:t>
            </a:r>
            <a:r>
              <a:rPr lang="zh-CN" altLang="en-US" sz="2000" b="1"/>
              <a:t>对应的</a:t>
            </a:r>
            <a:r>
              <a:rPr lang="zh-CN" altLang="en-US" sz="2000" b="1">
                <a:solidFill>
                  <a:srgbClr val="C00000"/>
                </a:solidFill>
              </a:rPr>
              <a:t>单位广义力</a:t>
            </a:r>
            <a:endParaRPr lang="zh-CN" altLang="en-US" sz="2000" b="1"/>
          </a:p>
        </p:txBody>
      </p:sp>
      <p:grpSp>
        <p:nvGrpSpPr>
          <p:cNvPr id="4" name="Group 5"/>
          <p:cNvGrpSpPr>
            <a:grpSpLocks/>
          </p:cNvGrpSpPr>
          <p:nvPr/>
        </p:nvGrpSpPr>
        <p:grpSpPr bwMode="auto">
          <a:xfrm>
            <a:off x="1071538" y="2982052"/>
            <a:ext cx="4072642" cy="1506345"/>
            <a:chOff x="1824" y="568"/>
            <a:chExt cx="2694" cy="1122"/>
          </a:xfrm>
        </p:grpSpPr>
        <p:sp>
          <p:nvSpPr>
            <p:cNvPr id="271" name="Oval 10"/>
            <p:cNvSpPr>
              <a:spLocks noChangeArrowheads="1"/>
            </p:cNvSpPr>
            <p:nvPr/>
          </p:nvSpPr>
          <p:spPr bwMode="auto">
            <a:xfrm>
              <a:off x="2928" y="1344"/>
              <a:ext cx="96" cy="96"/>
            </a:xfrm>
            <a:prstGeom prst="ellips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2" name="Line 11"/>
            <p:cNvSpPr>
              <a:spLocks noChangeShapeType="1"/>
            </p:cNvSpPr>
            <p:nvPr/>
          </p:nvSpPr>
          <p:spPr bwMode="auto">
            <a:xfrm>
              <a:off x="2592" y="816"/>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3" name="Line 12"/>
            <p:cNvSpPr>
              <a:spLocks noChangeShapeType="1"/>
            </p:cNvSpPr>
            <p:nvPr/>
          </p:nvSpPr>
          <p:spPr bwMode="auto">
            <a:xfrm flipH="1">
              <a:off x="2976" y="864"/>
              <a:ext cx="336"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4" name="Line 13"/>
            <p:cNvSpPr>
              <a:spLocks noChangeShapeType="1"/>
            </p:cNvSpPr>
            <p:nvPr/>
          </p:nvSpPr>
          <p:spPr bwMode="auto">
            <a:xfrm flipH="1" flipV="1">
              <a:off x="2544"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5" name="Line 14"/>
            <p:cNvSpPr>
              <a:spLocks noChangeShapeType="1"/>
            </p:cNvSpPr>
            <p:nvPr/>
          </p:nvSpPr>
          <p:spPr bwMode="auto">
            <a:xfrm>
              <a:off x="3024" y="1392"/>
              <a:ext cx="720"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6" name="Line 15"/>
            <p:cNvSpPr>
              <a:spLocks noChangeShapeType="1"/>
            </p:cNvSpPr>
            <p:nvPr/>
          </p:nvSpPr>
          <p:spPr bwMode="auto">
            <a:xfrm>
              <a:off x="3360" y="816"/>
              <a:ext cx="384" cy="528"/>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7" name="Line 16"/>
            <p:cNvSpPr>
              <a:spLocks noChangeShapeType="1"/>
            </p:cNvSpPr>
            <p:nvPr/>
          </p:nvSpPr>
          <p:spPr bwMode="auto">
            <a:xfrm>
              <a:off x="2256" y="1392"/>
              <a:ext cx="672"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8" name="Line 17"/>
            <p:cNvSpPr>
              <a:spLocks noChangeShapeType="1"/>
            </p:cNvSpPr>
            <p:nvPr/>
          </p:nvSpPr>
          <p:spPr bwMode="auto">
            <a:xfrm flipH="1">
              <a:off x="2208" y="864"/>
              <a:ext cx="288" cy="48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9" name="Line 18"/>
            <p:cNvSpPr>
              <a:spLocks noChangeShapeType="1"/>
            </p:cNvSpPr>
            <p:nvPr/>
          </p:nvSpPr>
          <p:spPr bwMode="auto">
            <a:xfrm>
              <a:off x="3680" y="1537"/>
              <a:ext cx="238"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0" name="Line 19"/>
            <p:cNvSpPr>
              <a:spLocks noChangeShapeType="1"/>
            </p:cNvSpPr>
            <p:nvPr/>
          </p:nvSpPr>
          <p:spPr bwMode="auto">
            <a:xfrm>
              <a:off x="3792" y="1377"/>
              <a:ext cx="0" cy="14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1" name="Line 20"/>
            <p:cNvSpPr>
              <a:spLocks noChangeAspect="1" noChangeShapeType="1"/>
            </p:cNvSpPr>
            <p:nvPr/>
          </p:nvSpPr>
          <p:spPr bwMode="auto">
            <a:xfrm flipH="1">
              <a:off x="3639"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2" name="Line 21"/>
            <p:cNvSpPr>
              <a:spLocks noChangeAspect="1" noChangeShapeType="1"/>
            </p:cNvSpPr>
            <p:nvPr/>
          </p:nvSpPr>
          <p:spPr bwMode="auto">
            <a:xfrm flipH="1">
              <a:off x="3735"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3" name="Line 22"/>
            <p:cNvSpPr>
              <a:spLocks noChangeAspect="1" noChangeShapeType="1"/>
            </p:cNvSpPr>
            <p:nvPr/>
          </p:nvSpPr>
          <p:spPr bwMode="auto">
            <a:xfrm flipH="1">
              <a:off x="3831" y="1541"/>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5" name="Group 24"/>
            <p:cNvGrpSpPr>
              <a:grpSpLocks/>
            </p:cNvGrpSpPr>
            <p:nvPr/>
          </p:nvGrpSpPr>
          <p:grpSpPr bwMode="auto">
            <a:xfrm>
              <a:off x="2004" y="1344"/>
              <a:ext cx="400" cy="278"/>
              <a:chOff x="1476" y="1344"/>
              <a:chExt cx="400" cy="278"/>
            </a:xfrm>
          </p:grpSpPr>
          <p:sp>
            <p:nvSpPr>
              <p:cNvPr id="295" name="Line 28"/>
              <p:cNvSpPr>
                <a:spLocks noChangeShapeType="1"/>
              </p:cNvSpPr>
              <p:nvPr/>
            </p:nvSpPr>
            <p:spPr bwMode="auto">
              <a:xfrm>
                <a:off x="1495" y="1521"/>
                <a:ext cx="381" cy="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6" name="Line 29"/>
              <p:cNvSpPr>
                <a:spLocks noChangeShapeType="1"/>
              </p:cNvSpPr>
              <p:nvPr/>
            </p:nvSpPr>
            <p:spPr bwMode="auto">
              <a:xfrm flipH="1">
                <a:off x="1612" y="1418"/>
                <a:ext cx="47" cy="7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7" name="Line 30"/>
              <p:cNvSpPr>
                <a:spLocks noChangeShapeType="1"/>
              </p:cNvSpPr>
              <p:nvPr/>
            </p:nvSpPr>
            <p:spPr bwMode="auto">
              <a:xfrm>
                <a:off x="1698" y="1420"/>
                <a:ext cx="46" cy="63"/>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8" name="Line 31"/>
              <p:cNvSpPr>
                <a:spLocks noChangeAspect="1" noChangeShapeType="1"/>
              </p:cNvSpPr>
              <p:nvPr/>
            </p:nvSpPr>
            <p:spPr bwMode="auto">
              <a:xfrm flipH="1">
                <a:off x="1476" y="153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9" name="Line 32"/>
              <p:cNvSpPr>
                <a:spLocks noChangeAspect="1" noChangeShapeType="1"/>
              </p:cNvSpPr>
              <p:nvPr/>
            </p:nvSpPr>
            <p:spPr bwMode="auto">
              <a:xfrm flipH="1">
                <a:off x="1573"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0" name="Line 33"/>
              <p:cNvSpPr>
                <a:spLocks noChangeAspect="1" noChangeShapeType="1"/>
              </p:cNvSpPr>
              <p:nvPr/>
            </p:nvSpPr>
            <p:spPr bwMode="auto">
              <a:xfrm flipH="1">
                <a:off x="1669" y="1547"/>
                <a:ext cx="72" cy="72"/>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1" name="Line 34"/>
              <p:cNvSpPr>
                <a:spLocks noChangeAspect="1" noChangeShapeType="1"/>
              </p:cNvSpPr>
              <p:nvPr/>
            </p:nvSpPr>
            <p:spPr bwMode="auto">
              <a:xfrm flipH="1">
                <a:off x="1770" y="1536"/>
                <a:ext cx="86" cy="8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3" name="Oval 26"/>
              <p:cNvSpPr>
                <a:spLocks noChangeArrowheads="1"/>
              </p:cNvSpPr>
              <p:nvPr/>
            </p:nvSpPr>
            <p:spPr bwMode="auto">
              <a:xfrm>
                <a:off x="1632"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2" name="Oval 25"/>
              <p:cNvSpPr>
                <a:spLocks noChangeArrowheads="1"/>
              </p:cNvSpPr>
              <p:nvPr/>
            </p:nvSpPr>
            <p:spPr bwMode="auto">
              <a:xfrm>
                <a:off x="1549"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4" name="Oval 27"/>
              <p:cNvSpPr>
                <a:spLocks noChangeArrowheads="1"/>
              </p:cNvSpPr>
              <p:nvPr/>
            </p:nvSpPr>
            <p:spPr bwMode="auto">
              <a:xfrm>
                <a:off x="1710" y="1467"/>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86" name="Text Box 37"/>
            <p:cNvSpPr txBox="1">
              <a:spLocks noChangeArrowheads="1"/>
            </p:cNvSpPr>
            <p:nvPr/>
          </p:nvSpPr>
          <p:spPr bwMode="auto">
            <a:xfrm>
              <a:off x="1824" y="1296"/>
              <a:ext cx="284" cy="298"/>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87" name="Text Box 38"/>
            <p:cNvSpPr txBox="1">
              <a:spLocks noChangeArrowheads="1"/>
            </p:cNvSpPr>
            <p:nvPr/>
          </p:nvSpPr>
          <p:spPr bwMode="auto">
            <a:xfrm>
              <a:off x="3024" y="1392"/>
              <a:ext cx="240"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B</a:t>
              </a:r>
              <a:endPar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88" name="Text Box 39"/>
            <p:cNvSpPr txBox="1">
              <a:spLocks noChangeArrowheads="1"/>
            </p:cNvSpPr>
            <p:nvPr/>
          </p:nvSpPr>
          <p:spPr bwMode="auto">
            <a:xfrm>
              <a:off x="2208" y="720"/>
              <a:ext cx="336" cy="29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C</a:t>
              </a:r>
            </a:p>
          </p:txBody>
        </p:sp>
        <p:sp>
          <p:nvSpPr>
            <p:cNvPr id="289" name="Text Box 40"/>
            <p:cNvSpPr txBox="1">
              <a:spLocks noChangeArrowheads="1"/>
            </p:cNvSpPr>
            <p:nvPr/>
          </p:nvSpPr>
          <p:spPr bwMode="auto">
            <a:xfrm>
              <a:off x="2316" y="1008"/>
              <a:ext cx="414" cy="298"/>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r>
                <a:rPr kumimoji="1" lang="en-US" altLang="zh-CN" sz="2000" b="1" u="none" strike="noStrike" kern="1200" cap="none" spc="0" normalizeH="0" baseline="-25000" noProof="0">
                  <a:ln>
                    <a:noFill/>
                  </a:ln>
                  <a:solidFill>
                    <a:srgbClr val="000000"/>
                  </a:solidFill>
                  <a:effectLst/>
                  <a:uLnTx/>
                  <a:uFillTx/>
                  <a:latin typeface="Times New Roman" pitchFamily="18" charset="0"/>
                  <a:ea typeface="宋体" charset="-122"/>
                  <a:cs typeface="+mn-cs"/>
                </a:rPr>
                <a:t>1</a:t>
              </a:r>
              <a:endParaRPr kumimoji="1" lang="en-US" altLang="zh-CN" sz="2000" b="0" u="none" strike="noStrike" kern="1200" cap="none" spc="0" normalizeH="0" baseline="-25000" noProof="0">
                <a:ln>
                  <a:noFill/>
                </a:ln>
                <a:solidFill>
                  <a:srgbClr val="000000"/>
                </a:solidFill>
                <a:effectLst/>
                <a:uLnTx/>
                <a:uFillTx/>
                <a:latin typeface="Times New Roman" pitchFamily="18" charset="0"/>
                <a:ea typeface="宋体" charset="-122"/>
                <a:cs typeface="+mn-cs"/>
              </a:endParaRPr>
            </a:p>
          </p:txBody>
        </p:sp>
        <p:graphicFrame>
          <p:nvGraphicFramePr>
            <p:cNvPr id="290" name="Object 41"/>
            <p:cNvGraphicFramePr>
              <a:graphicFrameLocks noChangeAspect="1"/>
            </p:cNvGraphicFramePr>
            <p:nvPr/>
          </p:nvGraphicFramePr>
          <p:xfrm>
            <a:off x="3574" y="568"/>
            <a:ext cx="944" cy="333"/>
          </p:xfrm>
          <a:graphic>
            <a:graphicData uri="http://schemas.openxmlformats.org/presentationml/2006/ole">
              <mc:AlternateContent xmlns:mc="http://schemas.openxmlformats.org/markup-compatibility/2006">
                <mc:Choice xmlns:v="urn:schemas-microsoft-com:vml" Requires="v">
                  <p:oleObj spid="_x0000_s397320" name="Equation" r:id="rId4" imgW="647640" imgH="228600" progId="Equation.DSMT4">
                    <p:embed/>
                  </p:oleObj>
                </mc:Choice>
                <mc:Fallback>
                  <p:oleObj name="Equation" r:id="rId4" imgW="647640" imgH="228600" progId="Equation.DSMT4">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4" y="568"/>
                          <a:ext cx="944" cy="3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0" name="Oval 9"/>
            <p:cNvSpPr>
              <a:spLocks noChangeArrowheads="1"/>
            </p:cNvSpPr>
            <p:nvPr/>
          </p:nvSpPr>
          <p:spPr bwMode="auto">
            <a:xfrm>
              <a:off x="2496"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7" name="Oval 6"/>
            <p:cNvSpPr>
              <a:spLocks noChangeArrowheads="1"/>
            </p:cNvSpPr>
            <p:nvPr/>
          </p:nvSpPr>
          <p:spPr bwMode="auto">
            <a:xfrm>
              <a:off x="3744" y="134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9" name="Oval 8"/>
            <p:cNvSpPr>
              <a:spLocks noChangeArrowheads="1"/>
            </p:cNvSpPr>
            <p:nvPr/>
          </p:nvSpPr>
          <p:spPr bwMode="auto">
            <a:xfrm>
              <a:off x="3744" y="1484"/>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8" name="Oval 7"/>
            <p:cNvSpPr>
              <a:spLocks noChangeArrowheads="1"/>
            </p:cNvSpPr>
            <p:nvPr/>
          </p:nvSpPr>
          <p:spPr bwMode="auto">
            <a:xfrm>
              <a:off x="3287" y="768"/>
              <a:ext cx="96" cy="96"/>
            </a:xfrm>
            <a:prstGeom prst="ellipse">
              <a:avLst/>
            </a:prstGeom>
            <a:solidFill>
              <a:schemeClr val="bg1"/>
            </a:solid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6" name="Group 87"/>
          <p:cNvGrpSpPr>
            <a:grpSpLocks/>
          </p:cNvGrpSpPr>
          <p:nvPr/>
        </p:nvGrpSpPr>
        <p:grpSpPr bwMode="auto">
          <a:xfrm>
            <a:off x="1643043" y="4114815"/>
            <a:ext cx="1163638" cy="762000"/>
            <a:chOff x="1824" y="3360"/>
            <a:chExt cx="733" cy="480"/>
          </a:xfrm>
        </p:grpSpPr>
        <p:sp>
          <p:nvSpPr>
            <p:cNvPr id="138" name="Line 88"/>
            <p:cNvSpPr>
              <a:spLocks noChangeShapeType="1"/>
            </p:cNvSpPr>
            <p:nvPr/>
          </p:nvSpPr>
          <p:spPr bwMode="auto">
            <a:xfrm flipV="1">
              <a:off x="2557" y="3360"/>
              <a:ext cx="0" cy="432"/>
            </a:xfrm>
            <a:prstGeom prst="line">
              <a:avLst/>
            </a:prstGeom>
            <a:noFill/>
            <a:ln w="38100">
              <a:solidFill>
                <a:srgbClr val="C00000"/>
              </a:solidFill>
              <a:round/>
              <a:headEnd/>
              <a:tailEnd type="triangle" w="med" len="med"/>
            </a:ln>
          </p:spPr>
          <p:txBody>
            <a:bodyPr wrap="none" anchor="ctr"/>
            <a:lstStyle/>
            <a:p>
              <a:endParaRPr lang="zh-CN" altLang="en-US"/>
            </a:p>
          </p:txBody>
        </p:sp>
        <p:sp>
          <p:nvSpPr>
            <p:cNvPr id="139" name="Line 89"/>
            <p:cNvSpPr>
              <a:spLocks noChangeShapeType="1"/>
            </p:cNvSpPr>
            <p:nvPr/>
          </p:nvSpPr>
          <p:spPr bwMode="auto">
            <a:xfrm>
              <a:off x="1824" y="3360"/>
              <a:ext cx="0" cy="480"/>
            </a:xfrm>
            <a:prstGeom prst="line">
              <a:avLst/>
            </a:prstGeom>
            <a:noFill/>
            <a:ln w="38100">
              <a:solidFill>
                <a:srgbClr val="C00000"/>
              </a:solidFill>
              <a:round/>
              <a:headEnd/>
              <a:tailEnd type="triangle" w="med" len="med"/>
            </a:ln>
          </p:spPr>
          <p:txBody>
            <a:bodyPr wrap="none" anchor="ctr"/>
            <a:lstStyle/>
            <a:p>
              <a:endParaRPr lang="zh-CN" altLang="en-US"/>
            </a:p>
          </p:txBody>
        </p:sp>
      </p:grpSp>
      <p:grpSp>
        <p:nvGrpSpPr>
          <p:cNvPr id="7" name="Group 90"/>
          <p:cNvGrpSpPr>
            <a:grpSpLocks/>
          </p:cNvGrpSpPr>
          <p:nvPr/>
        </p:nvGrpSpPr>
        <p:grpSpPr bwMode="auto">
          <a:xfrm>
            <a:off x="1060280" y="2914226"/>
            <a:ext cx="1052513" cy="1135063"/>
            <a:chOff x="1449" y="2448"/>
            <a:chExt cx="663" cy="715"/>
          </a:xfrm>
        </p:grpSpPr>
        <p:sp>
          <p:nvSpPr>
            <p:cNvPr id="141" name="Line 91"/>
            <p:cNvSpPr>
              <a:spLocks noChangeShapeType="1"/>
            </p:cNvSpPr>
            <p:nvPr/>
          </p:nvSpPr>
          <p:spPr bwMode="auto">
            <a:xfrm flipH="1" flipV="1">
              <a:off x="1449" y="2971"/>
              <a:ext cx="336" cy="192"/>
            </a:xfrm>
            <a:prstGeom prst="line">
              <a:avLst/>
            </a:prstGeom>
            <a:noFill/>
            <a:ln w="38100">
              <a:solidFill>
                <a:srgbClr val="C00000"/>
              </a:solidFill>
              <a:round/>
              <a:headEnd/>
              <a:tailEnd type="triangle" w="med" len="med"/>
            </a:ln>
          </p:spPr>
          <p:txBody>
            <a:bodyPr wrap="none" anchor="ctr"/>
            <a:lstStyle/>
            <a:p>
              <a:endParaRPr lang="zh-CN" altLang="en-US"/>
            </a:p>
          </p:txBody>
        </p:sp>
        <p:sp>
          <p:nvSpPr>
            <p:cNvPr id="142" name="Line 92"/>
            <p:cNvSpPr>
              <a:spLocks noChangeShapeType="1"/>
            </p:cNvSpPr>
            <p:nvPr/>
          </p:nvSpPr>
          <p:spPr bwMode="auto">
            <a:xfrm>
              <a:off x="1776" y="2448"/>
              <a:ext cx="336" cy="240"/>
            </a:xfrm>
            <a:prstGeom prst="line">
              <a:avLst/>
            </a:prstGeom>
            <a:noFill/>
            <a:ln w="38100">
              <a:solidFill>
                <a:srgbClr val="C00000"/>
              </a:solidFill>
              <a:round/>
              <a:headEnd/>
              <a:tailEnd type="triangle" w="med" len="med"/>
            </a:ln>
          </p:spPr>
          <p:txBody>
            <a:bodyPr wrap="none" anchor="ctr"/>
            <a:lstStyle/>
            <a:p>
              <a:endParaRPr lang="zh-CN" altLang="en-US"/>
            </a:p>
          </p:txBody>
        </p:sp>
      </p:grpSp>
      <p:grpSp>
        <p:nvGrpSpPr>
          <p:cNvPr id="8" name="Group 93"/>
          <p:cNvGrpSpPr>
            <a:grpSpLocks/>
          </p:cNvGrpSpPr>
          <p:nvPr/>
        </p:nvGrpSpPr>
        <p:grpSpPr bwMode="auto">
          <a:xfrm>
            <a:off x="715791" y="2803102"/>
            <a:ext cx="855663" cy="1379539"/>
            <a:chOff x="1232" y="2330"/>
            <a:chExt cx="539" cy="869"/>
          </a:xfrm>
        </p:grpSpPr>
        <p:graphicFrame>
          <p:nvGraphicFramePr>
            <p:cNvPr id="144" name="Object 94"/>
            <p:cNvGraphicFramePr>
              <a:graphicFrameLocks noChangeAspect="1"/>
            </p:cNvGraphicFramePr>
            <p:nvPr/>
          </p:nvGraphicFramePr>
          <p:xfrm>
            <a:off x="1232" y="2732"/>
            <a:ext cx="179" cy="467"/>
          </p:xfrm>
          <a:graphic>
            <a:graphicData uri="http://schemas.openxmlformats.org/presentationml/2006/ole">
              <mc:AlternateContent xmlns:mc="http://schemas.openxmlformats.org/markup-compatibility/2006">
                <mc:Choice xmlns:v="urn:schemas-microsoft-com:vml" Requires="v">
                  <p:oleObj spid="_x0000_s397321" name="公式" r:id="rId6" imgW="317160" imgH="825480" progId="Equation.3">
                    <p:embed/>
                  </p:oleObj>
                </mc:Choice>
                <mc:Fallback>
                  <p:oleObj name="公式" r:id="rId6" imgW="317160" imgH="825480" progId="Equation.3">
                    <p:embed/>
                    <p:pic>
                      <p:nvPicPr>
                        <p:cNvPr id="0" name="Object 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2" y="2732"/>
                          <a:ext cx="179" cy="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 name="Object 95"/>
            <p:cNvGraphicFramePr>
              <a:graphicFrameLocks noChangeAspect="1"/>
            </p:cNvGraphicFramePr>
            <p:nvPr/>
          </p:nvGraphicFramePr>
          <p:xfrm>
            <a:off x="1592" y="2330"/>
            <a:ext cx="179" cy="466"/>
          </p:xfrm>
          <a:graphic>
            <a:graphicData uri="http://schemas.openxmlformats.org/presentationml/2006/ole">
              <mc:AlternateContent xmlns:mc="http://schemas.openxmlformats.org/markup-compatibility/2006">
                <mc:Choice xmlns:v="urn:schemas-microsoft-com:vml" Requires="v">
                  <p:oleObj spid="_x0000_s397322" name="公式" r:id="rId8" imgW="317160" imgH="825480" progId="Equation.3">
                    <p:embed/>
                  </p:oleObj>
                </mc:Choice>
                <mc:Fallback>
                  <p:oleObj name="公式" r:id="rId8" imgW="317160" imgH="825480" progId="Equation.3">
                    <p:embed/>
                    <p:pic>
                      <p:nvPicPr>
                        <p:cNvPr id="0" name="Object 9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92" y="2330"/>
                          <a:ext cx="179" cy="4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Group 96"/>
          <p:cNvGrpSpPr>
            <a:grpSpLocks/>
          </p:cNvGrpSpPr>
          <p:nvPr/>
        </p:nvGrpSpPr>
        <p:grpSpPr bwMode="auto">
          <a:xfrm>
            <a:off x="1476374" y="4900628"/>
            <a:ext cx="1538288" cy="742950"/>
            <a:chOff x="1746" y="3162"/>
            <a:chExt cx="969" cy="468"/>
          </a:xfrm>
        </p:grpSpPr>
        <p:graphicFrame>
          <p:nvGraphicFramePr>
            <p:cNvPr id="147" name="Object 97"/>
            <p:cNvGraphicFramePr>
              <a:graphicFrameLocks noChangeAspect="1"/>
            </p:cNvGraphicFramePr>
            <p:nvPr/>
          </p:nvGraphicFramePr>
          <p:xfrm>
            <a:off x="2514" y="3162"/>
            <a:ext cx="201" cy="468"/>
          </p:xfrm>
          <a:graphic>
            <a:graphicData uri="http://schemas.openxmlformats.org/presentationml/2006/ole">
              <mc:AlternateContent xmlns:mc="http://schemas.openxmlformats.org/markup-compatibility/2006">
                <mc:Choice xmlns:v="urn:schemas-microsoft-com:vml" Requires="v">
                  <p:oleObj spid="_x0000_s397323" name="公式" r:id="rId10" imgW="355320" imgH="825480" progId="Equation.3">
                    <p:embed/>
                  </p:oleObj>
                </mc:Choice>
                <mc:Fallback>
                  <p:oleObj name="公式" r:id="rId10" imgW="355320" imgH="825480" progId="Equation.3">
                    <p:embed/>
                    <p:pic>
                      <p:nvPicPr>
                        <p:cNvPr id="0" name="Object 9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 y="3162"/>
                          <a:ext cx="201" cy="4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 name="Object 98"/>
            <p:cNvGraphicFramePr>
              <a:graphicFrameLocks noChangeAspect="1"/>
            </p:cNvGraphicFramePr>
            <p:nvPr/>
          </p:nvGraphicFramePr>
          <p:xfrm>
            <a:off x="1746" y="3162"/>
            <a:ext cx="201" cy="468"/>
          </p:xfrm>
          <a:graphic>
            <a:graphicData uri="http://schemas.openxmlformats.org/presentationml/2006/ole">
              <mc:AlternateContent xmlns:mc="http://schemas.openxmlformats.org/markup-compatibility/2006">
                <mc:Choice xmlns:v="urn:schemas-microsoft-com:vml" Requires="v">
                  <p:oleObj spid="_x0000_s397324" name="公式" r:id="rId12" imgW="355320" imgH="825480" progId="Equation.3">
                    <p:embed/>
                  </p:oleObj>
                </mc:Choice>
                <mc:Fallback>
                  <p:oleObj name="公式" r:id="rId12" imgW="355320" imgH="825480" progId="Equation.3">
                    <p:embed/>
                    <p:pic>
                      <p:nvPicPr>
                        <p:cNvPr id="0" name="Object 9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46" y="3162"/>
                          <a:ext cx="201" cy="4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49" name="Text Box 40"/>
          <p:cNvSpPr txBox="1">
            <a:spLocks noChangeArrowheads="1"/>
          </p:cNvSpPr>
          <p:nvPr/>
        </p:nvSpPr>
        <p:spPr bwMode="auto">
          <a:xfrm>
            <a:off x="2071670" y="4058895"/>
            <a:ext cx="626055" cy="400110"/>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r>
              <a:rPr kumimoji="1" lang="en-US" altLang="zh-CN" sz="2000" b="1" u="none" strike="noStrike" kern="1200" cap="none" spc="0" normalizeH="0" baseline="-25000" noProof="0">
                <a:ln>
                  <a:noFill/>
                </a:ln>
                <a:solidFill>
                  <a:srgbClr val="000000"/>
                </a:solidFill>
                <a:effectLst/>
                <a:uLnTx/>
                <a:uFillTx/>
                <a:latin typeface="Times New Roman" pitchFamily="18" charset="0"/>
                <a:ea typeface="宋体" charset="-122"/>
                <a:cs typeface="+mn-cs"/>
              </a:rPr>
              <a:t>2</a:t>
            </a:r>
            <a:endParaRPr kumimoji="1" lang="en-US" altLang="zh-CN" sz="2000" b="0" u="none" strike="noStrike" kern="1200" cap="none" spc="0" normalizeH="0" baseline="-25000" noProof="0">
              <a:ln>
                <a:noFill/>
              </a:ln>
              <a:solidFill>
                <a:srgbClr val="000000"/>
              </a:solidFill>
              <a:effectLst/>
              <a:uLnTx/>
              <a:uFillTx/>
              <a:latin typeface="Times New Roman" pitchFamily="18" charset="0"/>
              <a:ea typeface="宋体" charset="-122"/>
              <a:cs typeface="+mn-cs"/>
            </a:endParaRPr>
          </a:p>
        </p:txBody>
      </p:sp>
      <p:grpSp>
        <p:nvGrpSpPr>
          <p:cNvPr id="10" name="Group 45"/>
          <p:cNvGrpSpPr>
            <a:grpSpLocks/>
          </p:cNvGrpSpPr>
          <p:nvPr/>
        </p:nvGrpSpPr>
        <p:grpSpPr bwMode="auto">
          <a:xfrm>
            <a:off x="4928917" y="4014402"/>
            <a:ext cx="3500735" cy="2129242"/>
            <a:chOff x="1784" y="2147"/>
            <a:chExt cx="2558" cy="1662"/>
          </a:xfrm>
        </p:grpSpPr>
        <p:sp>
          <p:nvSpPr>
            <p:cNvPr id="151" name="Oval 46"/>
            <p:cNvSpPr>
              <a:spLocks noChangeArrowheads="1"/>
            </p:cNvSpPr>
            <p:nvPr/>
          </p:nvSpPr>
          <p:spPr bwMode="auto">
            <a:xfrm>
              <a:off x="2592" y="2448"/>
              <a:ext cx="96" cy="96"/>
            </a:xfrm>
            <a:prstGeom prst="ellipse">
              <a:avLst/>
            </a:prstGeom>
            <a:noFill/>
            <a:ln w="38100">
              <a:solidFill>
                <a:schemeClr val="tx1"/>
              </a:solidFill>
              <a:round/>
              <a:headEnd/>
              <a:tailEnd/>
            </a:ln>
          </p:spPr>
          <p:txBody>
            <a:bodyPr wrap="none" anchor="ctr"/>
            <a:lstStyle/>
            <a:p>
              <a:endParaRPr lang="zh-CN" altLang="en-US"/>
            </a:p>
          </p:txBody>
        </p:sp>
        <p:grpSp>
          <p:nvGrpSpPr>
            <p:cNvPr id="11" name="Group 47"/>
            <p:cNvGrpSpPr>
              <a:grpSpLocks/>
            </p:cNvGrpSpPr>
            <p:nvPr/>
          </p:nvGrpSpPr>
          <p:grpSpPr bwMode="auto">
            <a:xfrm>
              <a:off x="3088" y="3552"/>
              <a:ext cx="447" cy="257"/>
              <a:chOff x="1456" y="1344"/>
              <a:chExt cx="447" cy="257"/>
            </a:xfrm>
          </p:grpSpPr>
          <p:sp>
            <p:nvSpPr>
              <p:cNvPr id="179" name="Line 51"/>
              <p:cNvSpPr>
                <a:spLocks noChangeShapeType="1"/>
              </p:cNvSpPr>
              <p:nvPr/>
            </p:nvSpPr>
            <p:spPr bwMode="auto">
              <a:xfrm>
                <a:off x="1456" y="1528"/>
                <a:ext cx="447" cy="0"/>
              </a:xfrm>
              <a:prstGeom prst="line">
                <a:avLst/>
              </a:prstGeom>
              <a:noFill/>
              <a:ln w="38100">
                <a:solidFill>
                  <a:schemeClr val="tx1"/>
                </a:solidFill>
                <a:round/>
                <a:headEnd/>
                <a:tailEnd/>
              </a:ln>
            </p:spPr>
            <p:txBody>
              <a:bodyPr wrap="none" anchor="ctr"/>
              <a:lstStyle/>
              <a:p>
                <a:endParaRPr lang="zh-CN" altLang="en-US"/>
              </a:p>
            </p:txBody>
          </p:sp>
          <p:sp>
            <p:nvSpPr>
              <p:cNvPr id="180" name="Line 52"/>
              <p:cNvSpPr>
                <a:spLocks noChangeShapeType="1"/>
              </p:cNvSpPr>
              <p:nvPr/>
            </p:nvSpPr>
            <p:spPr bwMode="auto">
              <a:xfrm flipH="1">
                <a:off x="1570" y="1401"/>
                <a:ext cx="96" cy="96"/>
              </a:xfrm>
              <a:prstGeom prst="line">
                <a:avLst/>
              </a:prstGeom>
              <a:noFill/>
              <a:ln w="38100">
                <a:solidFill>
                  <a:schemeClr val="tx1"/>
                </a:solidFill>
                <a:round/>
                <a:headEnd/>
                <a:tailEnd/>
              </a:ln>
            </p:spPr>
            <p:txBody>
              <a:bodyPr wrap="none" anchor="ctr"/>
              <a:lstStyle/>
              <a:p>
                <a:endParaRPr lang="zh-CN" altLang="en-US"/>
              </a:p>
            </p:txBody>
          </p:sp>
          <p:sp>
            <p:nvSpPr>
              <p:cNvPr id="181" name="Line 53"/>
              <p:cNvSpPr>
                <a:spLocks noChangeShapeType="1"/>
              </p:cNvSpPr>
              <p:nvPr/>
            </p:nvSpPr>
            <p:spPr bwMode="auto">
              <a:xfrm>
                <a:off x="1680" y="1394"/>
                <a:ext cx="96" cy="96"/>
              </a:xfrm>
              <a:prstGeom prst="line">
                <a:avLst/>
              </a:prstGeom>
              <a:noFill/>
              <a:ln w="38100">
                <a:solidFill>
                  <a:schemeClr val="tx1"/>
                </a:solidFill>
                <a:round/>
                <a:headEnd/>
                <a:tailEnd/>
              </a:ln>
            </p:spPr>
            <p:txBody>
              <a:bodyPr wrap="none" anchor="ctr"/>
              <a:lstStyle/>
              <a:p>
                <a:endParaRPr lang="zh-CN" altLang="en-US"/>
              </a:p>
            </p:txBody>
          </p:sp>
          <p:sp>
            <p:nvSpPr>
              <p:cNvPr id="182" name="Line 54"/>
              <p:cNvSpPr>
                <a:spLocks noChangeAspect="1" noChangeShapeType="1"/>
              </p:cNvSpPr>
              <p:nvPr/>
            </p:nvSpPr>
            <p:spPr bwMode="auto">
              <a:xfrm flipH="1">
                <a:off x="1456" y="1539"/>
                <a:ext cx="62" cy="62"/>
              </a:xfrm>
              <a:prstGeom prst="line">
                <a:avLst/>
              </a:prstGeom>
              <a:noFill/>
              <a:ln w="19050">
                <a:solidFill>
                  <a:schemeClr val="tx1"/>
                </a:solidFill>
                <a:round/>
                <a:headEnd/>
                <a:tailEnd/>
              </a:ln>
            </p:spPr>
            <p:txBody>
              <a:bodyPr wrap="none" anchor="ctr"/>
              <a:lstStyle/>
              <a:p>
                <a:endParaRPr lang="zh-CN" altLang="en-US"/>
              </a:p>
            </p:txBody>
          </p:sp>
          <p:sp>
            <p:nvSpPr>
              <p:cNvPr id="183" name="Line 55"/>
              <p:cNvSpPr>
                <a:spLocks noChangeAspect="1" noChangeShapeType="1"/>
              </p:cNvSpPr>
              <p:nvPr/>
            </p:nvSpPr>
            <p:spPr bwMode="auto">
              <a:xfrm flipH="1">
                <a:off x="1552" y="1539"/>
                <a:ext cx="62" cy="62"/>
              </a:xfrm>
              <a:prstGeom prst="line">
                <a:avLst/>
              </a:prstGeom>
              <a:noFill/>
              <a:ln w="19050">
                <a:solidFill>
                  <a:schemeClr val="tx1"/>
                </a:solidFill>
                <a:round/>
                <a:headEnd/>
                <a:tailEnd/>
              </a:ln>
            </p:spPr>
            <p:txBody>
              <a:bodyPr wrap="none" anchor="ctr"/>
              <a:lstStyle/>
              <a:p>
                <a:endParaRPr lang="zh-CN" altLang="en-US"/>
              </a:p>
            </p:txBody>
          </p:sp>
          <p:sp>
            <p:nvSpPr>
              <p:cNvPr id="184" name="Line 56"/>
              <p:cNvSpPr>
                <a:spLocks noChangeAspect="1" noChangeShapeType="1"/>
              </p:cNvSpPr>
              <p:nvPr/>
            </p:nvSpPr>
            <p:spPr bwMode="auto">
              <a:xfrm flipH="1">
                <a:off x="1648" y="1539"/>
                <a:ext cx="62" cy="62"/>
              </a:xfrm>
              <a:prstGeom prst="line">
                <a:avLst/>
              </a:prstGeom>
              <a:noFill/>
              <a:ln w="19050">
                <a:solidFill>
                  <a:schemeClr val="tx1"/>
                </a:solidFill>
                <a:round/>
                <a:headEnd/>
                <a:tailEnd/>
              </a:ln>
            </p:spPr>
            <p:txBody>
              <a:bodyPr wrap="none" anchor="ctr"/>
              <a:lstStyle/>
              <a:p>
                <a:endParaRPr lang="zh-CN" altLang="en-US"/>
              </a:p>
            </p:txBody>
          </p:sp>
          <p:sp>
            <p:nvSpPr>
              <p:cNvPr id="185" name="Line 57"/>
              <p:cNvSpPr>
                <a:spLocks noChangeAspect="1" noChangeShapeType="1"/>
              </p:cNvSpPr>
              <p:nvPr/>
            </p:nvSpPr>
            <p:spPr bwMode="auto">
              <a:xfrm flipH="1">
                <a:off x="1744" y="1539"/>
                <a:ext cx="62" cy="62"/>
              </a:xfrm>
              <a:prstGeom prst="line">
                <a:avLst/>
              </a:prstGeom>
              <a:noFill/>
              <a:ln w="19050">
                <a:solidFill>
                  <a:schemeClr val="tx1"/>
                </a:solidFill>
                <a:round/>
                <a:headEnd/>
                <a:tailEnd/>
              </a:ln>
            </p:spPr>
            <p:txBody>
              <a:bodyPr wrap="none" anchor="ctr"/>
              <a:lstStyle/>
              <a:p>
                <a:endParaRPr lang="zh-CN" altLang="en-US"/>
              </a:p>
            </p:txBody>
          </p:sp>
          <p:sp>
            <p:nvSpPr>
              <p:cNvPr id="187" name="Line 59"/>
              <p:cNvSpPr>
                <a:spLocks noChangeAspect="1" noChangeShapeType="1"/>
              </p:cNvSpPr>
              <p:nvPr/>
            </p:nvSpPr>
            <p:spPr bwMode="auto">
              <a:xfrm flipH="1">
                <a:off x="1840" y="1539"/>
                <a:ext cx="62" cy="62"/>
              </a:xfrm>
              <a:prstGeom prst="line">
                <a:avLst/>
              </a:prstGeom>
              <a:noFill/>
              <a:ln w="19050">
                <a:solidFill>
                  <a:schemeClr val="tx1"/>
                </a:solidFill>
                <a:round/>
                <a:headEnd/>
                <a:tailEnd/>
              </a:ln>
            </p:spPr>
            <p:txBody>
              <a:bodyPr wrap="none" anchor="ctr"/>
              <a:lstStyle/>
              <a:p>
                <a:endParaRPr lang="zh-CN" altLang="en-US"/>
              </a:p>
            </p:txBody>
          </p:sp>
          <p:sp>
            <p:nvSpPr>
              <p:cNvPr id="176" name="Oval 48"/>
              <p:cNvSpPr>
                <a:spLocks noChangeArrowheads="1"/>
              </p:cNvSpPr>
              <p:nvPr/>
            </p:nvSpPr>
            <p:spPr bwMode="auto">
              <a:xfrm>
                <a:off x="1518" y="1472"/>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sp>
            <p:nvSpPr>
              <p:cNvPr id="177" name="Oval 49"/>
              <p:cNvSpPr>
                <a:spLocks noChangeArrowheads="1"/>
              </p:cNvSpPr>
              <p:nvPr/>
            </p:nvSpPr>
            <p:spPr bwMode="auto">
              <a:xfrm>
                <a:off x="1632" y="1344"/>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sp>
            <p:nvSpPr>
              <p:cNvPr id="178" name="Oval 50"/>
              <p:cNvSpPr>
                <a:spLocks noChangeArrowheads="1"/>
              </p:cNvSpPr>
              <p:nvPr/>
            </p:nvSpPr>
            <p:spPr bwMode="auto">
              <a:xfrm>
                <a:off x="1755" y="1472"/>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grpSp>
        <p:grpSp>
          <p:nvGrpSpPr>
            <p:cNvPr id="12" name="Group 60"/>
            <p:cNvGrpSpPr>
              <a:grpSpLocks/>
            </p:cNvGrpSpPr>
            <p:nvPr/>
          </p:nvGrpSpPr>
          <p:grpSpPr bwMode="auto">
            <a:xfrm>
              <a:off x="1784" y="3552"/>
              <a:ext cx="457" cy="250"/>
              <a:chOff x="1448" y="1344"/>
              <a:chExt cx="457" cy="250"/>
            </a:xfrm>
          </p:grpSpPr>
          <p:sp>
            <p:nvSpPr>
              <p:cNvPr id="167" name="Line 64"/>
              <p:cNvSpPr>
                <a:spLocks noChangeShapeType="1"/>
              </p:cNvSpPr>
              <p:nvPr/>
            </p:nvSpPr>
            <p:spPr bwMode="auto">
              <a:xfrm>
                <a:off x="1458" y="1520"/>
                <a:ext cx="447" cy="0"/>
              </a:xfrm>
              <a:prstGeom prst="line">
                <a:avLst/>
              </a:prstGeom>
              <a:noFill/>
              <a:ln w="38100">
                <a:solidFill>
                  <a:schemeClr val="tx1"/>
                </a:solidFill>
                <a:round/>
                <a:headEnd/>
                <a:tailEnd/>
              </a:ln>
            </p:spPr>
            <p:txBody>
              <a:bodyPr wrap="none" anchor="ctr"/>
              <a:lstStyle/>
              <a:p>
                <a:endParaRPr lang="zh-CN" altLang="en-US"/>
              </a:p>
            </p:txBody>
          </p:sp>
          <p:sp>
            <p:nvSpPr>
              <p:cNvPr id="168" name="Line 65"/>
              <p:cNvSpPr>
                <a:spLocks noChangeShapeType="1"/>
              </p:cNvSpPr>
              <p:nvPr/>
            </p:nvSpPr>
            <p:spPr bwMode="auto">
              <a:xfrm flipH="1">
                <a:off x="1568" y="1410"/>
                <a:ext cx="96" cy="96"/>
              </a:xfrm>
              <a:prstGeom prst="line">
                <a:avLst/>
              </a:prstGeom>
              <a:noFill/>
              <a:ln w="38100">
                <a:solidFill>
                  <a:schemeClr val="tx1"/>
                </a:solidFill>
                <a:round/>
                <a:headEnd/>
                <a:tailEnd/>
              </a:ln>
            </p:spPr>
            <p:txBody>
              <a:bodyPr wrap="none" anchor="ctr"/>
              <a:lstStyle/>
              <a:p>
                <a:endParaRPr lang="zh-CN" altLang="en-US"/>
              </a:p>
            </p:txBody>
          </p:sp>
          <p:sp>
            <p:nvSpPr>
              <p:cNvPr id="169" name="Line 66"/>
              <p:cNvSpPr>
                <a:spLocks noChangeShapeType="1"/>
              </p:cNvSpPr>
              <p:nvPr/>
            </p:nvSpPr>
            <p:spPr bwMode="auto">
              <a:xfrm>
                <a:off x="1680" y="1401"/>
                <a:ext cx="96" cy="96"/>
              </a:xfrm>
              <a:prstGeom prst="line">
                <a:avLst/>
              </a:prstGeom>
              <a:noFill/>
              <a:ln w="38100">
                <a:solidFill>
                  <a:schemeClr val="tx1"/>
                </a:solidFill>
                <a:round/>
                <a:headEnd/>
                <a:tailEnd/>
              </a:ln>
            </p:spPr>
            <p:txBody>
              <a:bodyPr wrap="none" anchor="ctr"/>
              <a:lstStyle/>
              <a:p>
                <a:endParaRPr lang="zh-CN" altLang="en-US"/>
              </a:p>
            </p:txBody>
          </p:sp>
          <p:sp>
            <p:nvSpPr>
              <p:cNvPr id="170" name="Line 67"/>
              <p:cNvSpPr>
                <a:spLocks noChangeAspect="1" noChangeShapeType="1"/>
              </p:cNvSpPr>
              <p:nvPr/>
            </p:nvSpPr>
            <p:spPr bwMode="auto">
              <a:xfrm flipH="1">
                <a:off x="1448" y="1532"/>
                <a:ext cx="62" cy="62"/>
              </a:xfrm>
              <a:prstGeom prst="line">
                <a:avLst/>
              </a:prstGeom>
              <a:noFill/>
              <a:ln w="19050">
                <a:solidFill>
                  <a:schemeClr val="tx1"/>
                </a:solidFill>
                <a:round/>
                <a:headEnd/>
                <a:tailEnd/>
              </a:ln>
            </p:spPr>
            <p:txBody>
              <a:bodyPr wrap="none" anchor="ctr"/>
              <a:lstStyle/>
              <a:p>
                <a:endParaRPr lang="zh-CN" altLang="en-US"/>
              </a:p>
            </p:txBody>
          </p:sp>
          <p:sp>
            <p:nvSpPr>
              <p:cNvPr id="171" name="Line 68"/>
              <p:cNvSpPr>
                <a:spLocks noChangeAspect="1" noChangeShapeType="1"/>
              </p:cNvSpPr>
              <p:nvPr/>
            </p:nvSpPr>
            <p:spPr bwMode="auto">
              <a:xfrm flipH="1">
                <a:off x="1544" y="1532"/>
                <a:ext cx="62" cy="62"/>
              </a:xfrm>
              <a:prstGeom prst="line">
                <a:avLst/>
              </a:prstGeom>
              <a:noFill/>
              <a:ln w="19050">
                <a:solidFill>
                  <a:schemeClr val="tx1"/>
                </a:solidFill>
                <a:round/>
                <a:headEnd/>
                <a:tailEnd/>
              </a:ln>
            </p:spPr>
            <p:txBody>
              <a:bodyPr wrap="none" anchor="ctr"/>
              <a:lstStyle/>
              <a:p>
                <a:endParaRPr lang="zh-CN" altLang="en-US"/>
              </a:p>
            </p:txBody>
          </p:sp>
          <p:sp>
            <p:nvSpPr>
              <p:cNvPr id="172" name="Line 69"/>
              <p:cNvSpPr>
                <a:spLocks noChangeAspect="1" noChangeShapeType="1"/>
              </p:cNvSpPr>
              <p:nvPr/>
            </p:nvSpPr>
            <p:spPr bwMode="auto">
              <a:xfrm flipH="1">
                <a:off x="1640" y="1532"/>
                <a:ext cx="62" cy="62"/>
              </a:xfrm>
              <a:prstGeom prst="line">
                <a:avLst/>
              </a:prstGeom>
              <a:noFill/>
              <a:ln w="19050">
                <a:solidFill>
                  <a:schemeClr val="tx1"/>
                </a:solidFill>
                <a:round/>
                <a:headEnd/>
                <a:tailEnd/>
              </a:ln>
            </p:spPr>
            <p:txBody>
              <a:bodyPr wrap="none" anchor="ctr"/>
              <a:lstStyle/>
              <a:p>
                <a:endParaRPr lang="zh-CN" altLang="en-US"/>
              </a:p>
            </p:txBody>
          </p:sp>
          <p:sp>
            <p:nvSpPr>
              <p:cNvPr id="173" name="Line 70"/>
              <p:cNvSpPr>
                <a:spLocks noChangeAspect="1" noChangeShapeType="1"/>
              </p:cNvSpPr>
              <p:nvPr/>
            </p:nvSpPr>
            <p:spPr bwMode="auto">
              <a:xfrm flipH="1">
                <a:off x="1736" y="1532"/>
                <a:ext cx="62" cy="62"/>
              </a:xfrm>
              <a:prstGeom prst="line">
                <a:avLst/>
              </a:prstGeom>
              <a:noFill/>
              <a:ln w="19050">
                <a:solidFill>
                  <a:schemeClr val="tx1"/>
                </a:solidFill>
                <a:round/>
                <a:headEnd/>
                <a:tailEnd/>
              </a:ln>
            </p:spPr>
            <p:txBody>
              <a:bodyPr wrap="none" anchor="ctr"/>
              <a:lstStyle/>
              <a:p>
                <a:endParaRPr lang="zh-CN" altLang="en-US"/>
              </a:p>
            </p:txBody>
          </p:sp>
          <p:sp>
            <p:nvSpPr>
              <p:cNvPr id="175" name="Line 72"/>
              <p:cNvSpPr>
                <a:spLocks noChangeAspect="1" noChangeShapeType="1"/>
              </p:cNvSpPr>
              <p:nvPr/>
            </p:nvSpPr>
            <p:spPr bwMode="auto">
              <a:xfrm flipH="1">
                <a:off x="1832" y="1532"/>
                <a:ext cx="62" cy="62"/>
              </a:xfrm>
              <a:prstGeom prst="line">
                <a:avLst/>
              </a:prstGeom>
              <a:noFill/>
              <a:ln w="19050">
                <a:solidFill>
                  <a:schemeClr val="tx1"/>
                </a:solidFill>
                <a:round/>
                <a:headEnd/>
                <a:tailEnd/>
              </a:ln>
            </p:spPr>
            <p:txBody>
              <a:bodyPr wrap="none" anchor="ctr"/>
              <a:lstStyle/>
              <a:p>
                <a:endParaRPr lang="zh-CN" altLang="en-US"/>
              </a:p>
            </p:txBody>
          </p:sp>
          <p:sp>
            <p:nvSpPr>
              <p:cNvPr id="164" name="Oval 61"/>
              <p:cNvSpPr>
                <a:spLocks noChangeArrowheads="1"/>
              </p:cNvSpPr>
              <p:nvPr/>
            </p:nvSpPr>
            <p:spPr bwMode="auto">
              <a:xfrm>
                <a:off x="1516" y="1472"/>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sp>
            <p:nvSpPr>
              <p:cNvPr id="165" name="Oval 62"/>
              <p:cNvSpPr>
                <a:spLocks noChangeArrowheads="1"/>
              </p:cNvSpPr>
              <p:nvPr/>
            </p:nvSpPr>
            <p:spPr bwMode="auto">
              <a:xfrm>
                <a:off x="1632" y="1344"/>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sp>
            <p:nvSpPr>
              <p:cNvPr id="166" name="Oval 63"/>
              <p:cNvSpPr>
                <a:spLocks noChangeArrowheads="1"/>
              </p:cNvSpPr>
              <p:nvPr/>
            </p:nvSpPr>
            <p:spPr bwMode="auto">
              <a:xfrm>
                <a:off x="1734" y="1472"/>
                <a:ext cx="96" cy="96"/>
              </a:xfrm>
              <a:prstGeom prst="ellipse">
                <a:avLst/>
              </a:prstGeom>
              <a:solidFill>
                <a:schemeClr val="bg1"/>
              </a:solidFill>
              <a:ln w="38100">
                <a:solidFill>
                  <a:schemeClr val="tx1"/>
                </a:solidFill>
                <a:round/>
                <a:headEnd/>
                <a:tailEnd/>
              </a:ln>
            </p:spPr>
            <p:txBody>
              <a:bodyPr wrap="none" anchor="ctr"/>
              <a:lstStyle/>
              <a:p>
                <a:endParaRPr lang="zh-CN" altLang="en-US"/>
              </a:p>
            </p:txBody>
          </p:sp>
        </p:grpSp>
        <p:sp>
          <p:nvSpPr>
            <p:cNvPr id="154" name="Line 73"/>
            <p:cNvSpPr>
              <a:spLocks noChangeShapeType="1"/>
            </p:cNvSpPr>
            <p:nvPr/>
          </p:nvSpPr>
          <p:spPr bwMode="auto">
            <a:xfrm flipV="1">
              <a:off x="2016" y="2496"/>
              <a:ext cx="0" cy="1056"/>
            </a:xfrm>
            <a:prstGeom prst="line">
              <a:avLst/>
            </a:prstGeom>
            <a:noFill/>
            <a:ln w="38100">
              <a:solidFill>
                <a:schemeClr val="tx1"/>
              </a:solidFill>
              <a:round/>
              <a:headEnd/>
              <a:tailEnd/>
            </a:ln>
          </p:spPr>
          <p:txBody>
            <a:bodyPr wrap="none" anchor="ctr"/>
            <a:lstStyle/>
            <a:p>
              <a:endParaRPr lang="zh-CN" altLang="en-US"/>
            </a:p>
          </p:txBody>
        </p:sp>
        <p:sp>
          <p:nvSpPr>
            <p:cNvPr id="155" name="Line 74"/>
            <p:cNvSpPr>
              <a:spLocks noChangeShapeType="1"/>
            </p:cNvSpPr>
            <p:nvPr/>
          </p:nvSpPr>
          <p:spPr bwMode="auto">
            <a:xfrm>
              <a:off x="2016" y="2496"/>
              <a:ext cx="576" cy="0"/>
            </a:xfrm>
            <a:prstGeom prst="line">
              <a:avLst/>
            </a:prstGeom>
            <a:noFill/>
            <a:ln w="38100">
              <a:solidFill>
                <a:schemeClr val="tx1"/>
              </a:solidFill>
              <a:round/>
              <a:headEnd/>
              <a:tailEnd/>
            </a:ln>
          </p:spPr>
          <p:txBody>
            <a:bodyPr wrap="none" anchor="ctr"/>
            <a:lstStyle/>
            <a:p>
              <a:endParaRPr lang="zh-CN" altLang="en-US"/>
            </a:p>
          </p:txBody>
        </p:sp>
        <p:sp>
          <p:nvSpPr>
            <p:cNvPr id="156" name="Line 75"/>
            <p:cNvSpPr>
              <a:spLocks noChangeShapeType="1"/>
            </p:cNvSpPr>
            <p:nvPr/>
          </p:nvSpPr>
          <p:spPr bwMode="auto">
            <a:xfrm>
              <a:off x="2688" y="2496"/>
              <a:ext cx="624" cy="0"/>
            </a:xfrm>
            <a:prstGeom prst="line">
              <a:avLst/>
            </a:prstGeom>
            <a:noFill/>
            <a:ln w="38100">
              <a:solidFill>
                <a:schemeClr val="tx1"/>
              </a:solidFill>
              <a:round/>
              <a:headEnd/>
              <a:tailEnd/>
            </a:ln>
          </p:spPr>
          <p:txBody>
            <a:bodyPr wrap="none" anchor="ctr"/>
            <a:lstStyle/>
            <a:p>
              <a:endParaRPr lang="zh-CN" altLang="en-US"/>
            </a:p>
          </p:txBody>
        </p:sp>
        <p:sp>
          <p:nvSpPr>
            <p:cNvPr id="157" name="Line 76"/>
            <p:cNvSpPr>
              <a:spLocks noChangeShapeType="1"/>
            </p:cNvSpPr>
            <p:nvPr/>
          </p:nvSpPr>
          <p:spPr bwMode="auto">
            <a:xfrm>
              <a:off x="3312" y="2496"/>
              <a:ext cx="0" cy="1056"/>
            </a:xfrm>
            <a:prstGeom prst="line">
              <a:avLst/>
            </a:prstGeom>
            <a:noFill/>
            <a:ln w="38100">
              <a:solidFill>
                <a:schemeClr val="tx1"/>
              </a:solidFill>
              <a:round/>
              <a:headEnd/>
              <a:tailEnd/>
            </a:ln>
          </p:spPr>
          <p:txBody>
            <a:bodyPr wrap="none" anchor="ctr"/>
            <a:lstStyle/>
            <a:p>
              <a:endParaRPr lang="zh-CN" altLang="en-US"/>
            </a:p>
          </p:txBody>
        </p:sp>
        <p:sp>
          <p:nvSpPr>
            <p:cNvPr id="158" name="Text Box 77"/>
            <p:cNvSpPr txBox="1">
              <a:spLocks noChangeArrowheads="1"/>
            </p:cNvSpPr>
            <p:nvPr/>
          </p:nvSpPr>
          <p:spPr bwMode="auto">
            <a:xfrm>
              <a:off x="2523" y="2147"/>
              <a:ext cx="336" cy="252"/>
            </a:xfrm>
            <a:prstGeom prst="rect">
              <a:avLst/>
            </a:prstGeom>
            <a:noFill/>
            <a:ln w="9525">
              <a:noFill/>
              <a:miter lim="800000"/>
              <a:headEnd/>
              <a:tailEnd/>
            </a:ln>
          </p:spPr>
          <p:txBody>
            <a:bodyPr>
              <a:spAutoFit/>
            </a:bodyPr>
            <a:lstStyle/>
            <a:p>
              <a:r>
                <a:rPr lang="en-US" altLang="zh-CN" sz="2000" b="1" i="1">
                  <a:latin typeface="Times New Roman" pitchFamily="18" charset="0"/>
                  <a:ea typeface="宋体" charset="-122"/>
                  <a:cs typeface="Times New Roman" pitchFamily="18" charset="0"/>
                </a:rPr>
                <a:t>C</a:t>
              </a:r>
            </a:p>
          </p:txBody>
        </p:sp>
        <p:graphicFrame>
          <p:nvGraphicFramePr>
            <p:cNvPr id="161" name="Object 80"/>
            <p:cNvGraphicFramePr>
              <a:graphicFrameLocks noChangeAspect="1"/>
            </p:cNvGraphicFramePr>
            <p:nvPr/>
          </p:nvGraphicFramePr>
          <p:xfrm>
            <a:off x="3523" y="3192"/>
            <a:ext cx="819" cy="327"/>
          </p:xfrm>
          <a:graphic>
            <a:graphicData uri="http://schemas.openxmlformats.org/presentationml/2006/ole">
              <mc:AlternateContent xmlns:mc="http://schemas.openxmlformats.org/markup-compatibility/2006">
                <mc:Choice xmlns:v="urn:schemas-microsoft-com:vml" Requires="v">
                  <p:oleObj spid="_x0000_s397325" name="Equation" r:id="rId14" imgW="571320" imgH="228600" progId="Equation.DSMT4">
                    <p:embed/>
                  </p:oleObj>
                </mc:Choice>
                <mc:Fallback>
                  <p:oleObj name="Equation" r:id="rId14" imgW="571320" imgH="228600" progId="Equation.DSMT4">
                    <p:embed/>
                    <p:pic>
                      <p:nvPicPr>
                        <p:cNvPr id="0" name="Object 8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23" y="3192"/>
                          <a:ext cx="819" cy="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3" name="Group 83"/>
          <p:cNvGrpSpPr>
            <a:grpSpLocks/>
          </p:cNvGrpSpPr>
          <p:nvPr/>
        </p:nvGrpSpPr>
        <p:grpSpPr bwMode="auto">
          <a:xfrm>
            <a:off x="5643845" y="4118163"/>
            <a:ext cx="1050925" cy="762000"/>
            <a:chOff x="2362" y="2256"/>
            <a:chExt cx="662" cy="480"/>
          </a:xfrm>
        </p:grpSpPr>
        <p:sp>
          <p:nvSpPr>
            <p:cNvPr id="189" name="Arc 84"/>
            <p:cNvSpPr>
              <a:spLocks/>
            </p:cNvSpPr>
            <p:nvPr/>
          </p:nvSpPr>
          <p:spPr bwMode="auto">
            <a:xfrm flipH="1">
              <a:off x="2736" y="2256"/>
              <a:ext cx="288" cy="480"/>
            </a:xfrm>
            <a:custGeom>
              <a:avLst/>
              <a:gdLst>
                <a:gd name="T0" fmla="*/ 0 w 21600"/>
                <a:gd name="T1" fmla="*/ 0 h 39550"/>
                <a:gd name="T2" fmla="*/ 160 w 21600"/>
                <a:gd name="T3" fmla="*/ 480 h 39550"/>
                <a:gd name="T4" fmla="*/ 0 w 21600"/>
                <a:gd name="T5" fmla="*/ 262 h 39550"/>
                <a:gd name="T6" fmla="*/ 0 60000 65536"/>
                <a:gd name="T7" fmla="*/ 0 60000 65536"/>
                <a:gd name="T8" fmla="*/ 0 60000 65536"/>
                <a:gd name="T9" fmla="*/ 0 w 21600"/>
                <a:gd name="T10" fmla="*/ 0 h 39550"/>
                <a:gd name="T11" fmla="*/ 21600 w 21600"/>
                <a:gd name="T12" fmla="*/ 39550 h 39550"/>
              </a:gdLst>
              <a:ahLst/>
              <a:cxnLst>
                <a:cxn ang="T6">
                  <a:pos x="T0" y="T1"/>
                </a:cxn>
                <a:cxn ang="T7">
                  <a:pos x="T2" y="T3"/>
                </a:cxn>
                <a:cxn ang="T8">
                  <a:pos x="T4" y="T5"/>
                </a:cxn>
              </a:cxnLst>
              <a:rect l="T9" t="T10" r="T11" b="T12"/>
              <a:pathLst>
                <a:path w="21600" h="39550" fill="none" extrusionOk="0">
                  <a:moveTo>
                    <a:pt x="-1" y="0"/>
                  </a:moveTo>
                  <a:cubicBezTo>
                    <a:pt x="11929" y="0"/>
                    <a:pt x="21600" y="9670"/>
                    <a:pt x="21600" y="21600"/>
                  </a:cubicBezTo>
                  <a:cubicBezTo>
                    <a:pt x="21600" y="28807"/>
                    <a:pt x="18004" y="35540"/>
                    <a:pt x="12014" y="39549"/>
                  </a:cubicBezTo>
                </a:path>
                <a:path w="21600" h="39550" stroke="0" extrusionOk="0">
                  <a:moveTo>
                    <a:pt x="-1" y="0"/>
                  </a:moveTo>
                  <a:cubicBezTo>
                    <a:pt x="11929" y="0"/>
                    <a:pt x="21600" y="9670"/>
                    <a:pt x="21600" y="21600"/>
                  </a:cubicBezTo>
                  <a:cubicBezTo>
                    <a:pt x="21600" y="28807"/>
                    <a:pt x="18004" y="35540"/>
                    <a:pt x="12014" y="39549"/>
                  </a:cubicBezTo>
                  <a:lnTo>
                    <a:pt x="0" y="21600"/>
                  </a:lnTo>
                  <a:close/>
                </a:path>
              </a:pathLst>
            </a:custGeom>
            <a:noFill/>
            <a:ln w="38100">
              <a:solidFill>
                <a:srgbClr val="C00000"/>
              </a:solidFill>
              <a:round/>
              <a:headEnd type="triangle" w="med" len="med"/>
              <a:tailEnd/>
            </a:ln>
          </p:spPr>
          <p:txBody>
            <a:bodyPr wrap="none" anchor="ctr"/>
            <a:lstStyle/>
            <a:p>
              <a:endParaRPr lang="zh-CN" altLang="en-US"/>
            </a:p>
          </p:txBody>
        </p:sp>
        <p:sp>
          <p:nvSpPr>
            <p:cNvPr id="190" name="Arc 85"/>
            <p:cNvSpPr>
              <a:spLocks/>
            </p:cNvSpPr>
            <p:nvPr/>
          </p:nvSpPr>
          <p:spPr bwMode="auto">
            <a:xfrm rot="-805524">
              <a:off x="2362" y="2257"/>
              <a:ext cx="191" cy="477"/>
            </a:xfrm>
            <a:custGeom>
              <a:avLst/>
              <a:gdLst>
                <a:gd name="T0" fmla="*/ 0 w 21600"/>
                <a:gd name="T1" fmla="*/ 0 h 42997"/>
                <a:gd name="T2" fmla="*/ 26 w 21600"/>
                <a:gd name="T3" fmla="*/ 477 h 42997"/>
                <a:gd name="T4" fmla="*/ 0 w 21600"/>
                <a:gd name="T5" fmla="*/ 240 h 42997"/>
                <a:gd name="T6" fmla="*/ 0 60000 65536"/>
                <a:gd name="T7" fmla="*/ 0 60000 65536"/>
                <a:gd name="T8" fmla="*/ 0 60000 65536"/>
                <a:gd name="T9" fmla="*/ 0 w 21600"/>
                <a:gd name="T10" fmla="*/ 0 h 42997"/>
                <a:gd name="T11" fmla="*/ 21600 w 21600"/>
                <a:gd name="T12" fmla="*/ 42997 h 42997"/>
              </a:gdLst>
              <a:ahLst/>
              <a:cxnLst>
                <a:cxn ang="T6">
                  <a:pos x="T0" y="T1"/>
                </a:cxn>
                <a:cxn ang="T7">
                  <a:pos x="T2" y="T3"/>
                </a:cxn>
                <a:cxn ang="T8">
                  <a:pos x="T4" y="T5"/>
                </a:cxn>
              </a:cxnLst>
              <a:rect l="T9" t="T10" r="T11" b="T12"/>
              <a:pathLst>
                <a:path w="21600" h="42997" fill="none" extrusionOk="0">
                  <a:moveTo>
                    <a:pt x="-1" y="0"/>
                  </a:moveTo>
                  <a:cubicBezTo>
                    <a:pt x="11929" y="0"/>
                    <a:pt x="21600" y="9670"/>
                    <a:pt x="21600" y="21600"/>
                  </a:cubicBezTo>
                  <a:cubicBezTo>
                    <a:pt x="21600" y="32386"/>
                    <a:pt x="13642" y="41519"/>
                    <a:pt x="2956" y="42996"/>
                  </a:cubicBezTo>
                </a:path>
                <a:path w="21600" h="42997" stroke="0" extrusionOk="0">
                  <a:moveTo>
                    <a:pt x="-1" y="0"/>
                  </a:moveTo>
                  <a:cubicBezTo>
                    <a:pt x="11929" y="0"/>
                    <a:pt x="21600" y="9670"/>
                    <a:pt x="21600" y="21600"/>
                  </a:cubicBezTo>
                  <a:cubicBezTo>
                    <a:pt x="21600" y="32386"/>
                    <a:pt x="13642" y="41519"/>
                    <a:pt x="2956" y="42996"/>
                  </a:cubicBezTo>
                  <a:lnTo>
                    <a:pt x="0" y="21600"/>
                  </a:lnTo>
                  <a:close/>
                </a:path>
              </a:pathLst>
            </a:custGeom>
            <a:noFill/>
            <a:ln w="38100">
              <a:solidFill>
                <a:srgbClr val="C00000"/>
              </a:solidFill>
              <a:round/>
              <a:headEnd type="triangle" w="med" len="med"/>
              <a:tailEnd/>
            </a:ln>
          </p:spPr>
          <p:txBody>
            <a:bodyPr wrap="none" anchor="ctr"/>
            <a:lstStyle/>
            <a:p>
              <a:endParaRPr lang="zh-CN" altLang="en-US"/>
            </a:p>
          </p:txBody>
        </p:sp>
      </p:grpSp>
      <p:grpSp>
        <p:nvGrpSpPr>
          <p:cNvPr id="14" name="Group 86"/>
          <p:cNvGrpSpPr>
            <a:grpSpLocks/>
          </p:cNvGrpSpPr>
          <p:nvPr/>
        </p:nvGrpSpPr>
        <p:grpSpPr bwMode="auto">
          <a:xfrm>
            <a:off x="4813577" y="3887401"/>
            <a:ext cx="2901951" cy="414338"/>
            <a:chOff x="1697" y="2067"/>
            <a:chExt cx="1828" cy="261"/>
          </a:xfrm>
        </p:grpSpPr>
        <p:sp>
          <p:nvSpPr>
            <p:cNvPr id="192" name="Text Box 87"/>
            <p:cNvSpPr txBox="1">
              <a:spLocks noChangeArrowheads="1"/>
            </p:cNvSpPr>
            <p:nvPr/>
          </p:nvSpPr>
          <p:spPr bwMode="auto">
            <a:xfrm>
              <a:off x="1697" y="2076"/>
              <a:ext cx="624" cy="252"/>
            </a:xfrm>
            <a:prstGeom prst="rect">
              <a:avLst/>
            </a:prstGeom>
            <a:noFill/>
            <a:ln w="9525">
              <a:noFill/>
              <a:miter lim="800000"/>
              <a:headEnd/>
              <a:tailEnd/>
            </a:ln>
          </p:spPr>
          <p:txBody>
            <a:bodyPr>
              <a:spAutoFit/>
            </a:bodyPr>
            <a:lstStyle/>
            <a:p>
              <a:r>
                <a:rPr lang="en-US" altLang="zh-CN" sz="2000" b="1" i="1">
                  <a:latin typeface="Times New Roman" pitchFamily="18" charset="0"/>
                  <a:ea typeface="宋体" charset="-122"/>
                  <a:cs typeface="Times New Roman" pitchFamily="18" charset="0"/>
                </a:rPr>
                <a:t>F </a:t>
              </a:r>
              <a:r>
                <a:rPr lang="en-US" altLang="zh-CN" sz="2000" b="1">
                  <a:latin typeface="Times New Roman" pitchFamily="18" charset="0"/>
                  <a:ea typeface="宋体" charset="-122"/>
                  <a:cs typeface="Times New Roman" pitchFamily="18" charset="0"/>
                </a:rPr>
                <a:t>= 1</a:t>
              </a:r>
            </a:p>
          </p:txBody>
        </p:sp>
        <p:sp>
          <p:nvSpPr>
            <p:cNvPr id="193" name="Text Box 88"/>
            <p:cNvSpPr txBox="1">
              <a:spLocks noChangeArrowheads="1"/>
            </p:cNvSpPr>
            <p:nvPr/>
          </p:nvSpPr>
          <p:spPr bwMode="auto">
            <a:xfrm>
              <a:off x="2901" y="2067"/>
              <a:ext cx="624" cy="252"/>
            </a:xfrm>
            <a:prstGeom prst="rect">
              <a:avLst/>
            </a:prstGeom>
            <a:noFill/>
            <a:ln w="9525">
              <a:noFill/>
              <a:miter lim="800000"/>
              <a:headEnd/>
              <a:tailEnd/>
            </a:ln>
          </p:spPr>
          <p:txBody>
            <a:bodyPr>
              <a:spAutoFit/>
            </a:bodyPr>
            <a:lstStyle/>
            <a:p>
              <a:r>
                <a:rPr lang="en-US" altLang="zh-CN" sz="2000" b="1" i="1">
                  <a:latin typeface="Times New Roman" pitchFamily="18" charset="0"/>
                  <a:ea typeface="宋体" charset="-122"/>
                  <a:cs typeface="Times New Roman" pitchFamily="18" charset="0"/>
                </a:rPr>
                <a:t>F </a:t>
              </a:r>
              <a:r>
                <a:rPr lang="en-US" altLang="zh-CN" sz="2000" b="1">
                  <a:latin typeface="Times New Roman" pitchFamily="18" charset="0"/>
                  <a:ea typeface="宋体" charset="-122"/>
                  <a:cs typeface="Times New Roman" pitchFamily="18" charset="0"/>
                </a:rPr>
                <a:t>= 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4/3*#ppt_w"/>
                                          </p:val>
                                        </p:tav>
                                        <p:tav tm="100000">
                                          <p:val>
                                            <p:strVal val="#ppt_w"/>
                                          </p:val>
                                        </p:tav>
                                      </p:tavLst>
                                    </p:anim>
                                    <p:anim calcmode="lin" valueType="num">
                                      <p:cBhvr>
                                        <p:cTn id="8" dur="500" fill="hold"/>
                                        <p:tgtEl>
                                          <p:spTgt spid="6"/>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strVal val="4/3*#ppt_w"/>
                                          </p:val>
                                        </p:tav>
                                        <p:tav tm="100000">
                                          <p:val>
                                            <p:strVal val="#ppt_w"/>
                                          </p:val>
                                        </p:tav>
                                      </p:tavLst>
                                    </p:anim>
                                    <p:anim calcmode="lin" valueType="num">
                                      <p:cBhvr>
                                        <p:cTn id="13" dur="500" fill="hold"/>
                                        <p:tgtEl>
                                          <p:spTgt spid="9"/>
                                        </p:tgtEl>
                                        <p:attrNameLst>
                                          <p:attrName>ppt_h</p:attrName>
                                        </p:attrNameLst>
                                      </p:cBhvr>
                                      <p:tavLst>
                                        <p:tav tm="0">
                                          <p:val>
                                            <p:strVal val="4/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28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strVal val="4/3*#ppt_w"/>
                                          </p:val>
                                        </p:tav>
                                        <p:tav tm="100000">
                                          <p:val>
                                            <p:strVal val="#ppt_w"/>
                                          </p:val>
                                        </p:tav>
                                      </p:tavLst>
                                    </p:anim>
                                    <p:anim calcmode="lin" valueType="num">
                                      <p:cBhvr>
                                        <p:cTn id="19" dur="500" fill="hold"/>
                                        <p:tgtEl>
                                          <p:spTgt spid="7"/>
                                        </p:tgtEl>
                                        <p:attrNameLst>
                                          <p:attrName>ppt_h</p:attrName>
                                        </p:attrNameLst>
                                      </p:cBhvr>
                                      <p:tavLst>
                                        <p:tav tm="0">
                                          <p:val>
                                            <p:strVal val="4/3*#ppt_h"/>
                                          </p:val>
                                        </p:tav>
                                        <p:tav tm="100000">
                                          <p:val>
                                            <p:strVal val="#ppt_h"/>
                                          </p:val>
                                        </p:tav>
                                      </p:tavLst>
                                    </p:anim>
                                  </p:childTnLst>
                                </p:cTn>
                              </p:par>
                            </p:childTnLst>
                          </p:cTn>
                        </p:par>
                        <p:par>
                          <p:cTn id="20" fill="hold">
                            <p:stCondLst>
                              <p:cond delay="500"/>
                            </p:stCondLst>
                            <p:childTnLst>
                              <p:par>
                                <p:cTn id="21" presetID="23" presetClass="entr" presetSubtype="288"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strVal val="4/3*#ppt_w"/>
                                          </p:val>
                                        </p:tav>
                                        <p:tav tm="100000">
                                          <p:val>
                                            <p:strVal val="#ppt_w"/>
                                          </p:val>
                                        </p:tav>
                                      </p:tavLst>
                                    </p:anim>
                                    <p:anim calcmode="lin" valueType="num">
                                      <p:cBhvr>
                                        <p:cTn id="24" dur="5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9"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0-#ppt_h/2"/>
                                          </p:val>
                                        </p:tav>
                                        <p:tav tm="100000">
                                          <p:val>
                                            <p:strVal val="#ppt_y"/>
                                          </p:val>
                                        </p:tav>
                                      </p:tavLst>
                                    </p:anim>
                                  </p:childTnLst>
                                </p:cTn>
                              </p:par>
                            </p:childTnLst>
                          </p:cTn>
                        </p:par>
                        <p:par>
                          <p:cTn id="31" fill="hold">
                            <p:stCondLst>
                              <p:cond delay="500"/>
                            </p:stCondLst>
                            <p:childTnLst>
                              <p:par>
                                <p:cTn id="32" presetID="2" presetClass="entr" presetSubtype="3"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367383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21" name="TextBox 20"/>
          <p:cNvSpPr txBox="1"/>
          <p:nvPr/>
        </p:nvSpPr>
        <p:spPr>
          <a:xfrm>
            <a:off x="1214414" y="2214554"/>
            <a:ext cx="4572032" cy="2308324"/>
          </a:xfrm>
          <a:prstGeom prst="rect">
            <a:avLst/>
          </a:prstGeom>
          <a:noFill/>
          <a:ln w="28575">
            <a:noFill/>
          </a:ln>
        </p:spPr>
        <p:txBody>
          <a:bodyPr wrap="square" rtlCol="0">
            <a:spAutoFit/>
          </a:bodyPr>
          <a:lstStyle/>
          <a:p>
            <a:pPr algn="just">
              <a:lnSpc>
                <a:spcPct val="120000"/>
              </a:lnSpc>
            </a:pPr>
            <a:r>
              <a:rPr lang="zh-CN" altLang="en-US" sz="2000" b="1">
                <a:latin typeface="Times New Roman" pitchFamily="18" charset="0"/>
                <a:cs typeface="Times New Roman" pitchFamily="18" charset="0"/>
              </a:rPr>
              <a:t>例：如图所示刚架，由于长期使用，侧壁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30000">
                <a:latin typeface="Times New Roman" pitchFamily="18" charset="0"/>
                <a:cs typeface="Times New Roman" pitchFamily="18" charset="0"/>
              </a:rPr>
              <a:t> 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 ，现于</a:t>
            </a:r>
            <a:r>
              <a:rPr lang="en-US" altLang="zh-CN" sz="2000" b="1" i="1">
                <a:latin typeface="Times New Roman" pitchFamily="18" charset="0"/>
                <a:cs typeface="Times New Roman" pitchFamily="18" charset="0"/>
              </a:rPr>
              <a:t>E</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E</a:t>
            </a:r>
            <a:r>
              <a:rPr lang="zh-CN" altLang="en-US" sz="2000" b="1">
                <a:latin typeface="Times New Roman" pitchFamily="18" charset="0"/>
                <a:cs typeface="Times New Roman" pitchFamily="18" charset="0"/>
              </a:rPr>
              <a:t> ，使得</a:t>
            </a:r>
            <a:r>
              <a:rPr lang="en-US" altLang="zh-CN" sz="2000" b="1" i="1">
                <a:latin typeface="Times New Roman" pitchFamily="18" charset="0"/>
                <a:cs typeface="Times New Roman" pitchFamily="18" charset="0"/>
              </a:rPr>
              <a:t>AE</a:t>
            </a:r>
            <a:r>
              <a:rPr lang="zh-CN" altLang="en-US" sz="2000" b="1">
                <a:latin typeface="Times New Roman" pitchFamily="18" charset="0"/>
                <a:cs typeface="Times New Roman" pitchFamily="18" charset="0"/>
              </a:rPr>
              <a:t>杆件产生向内的水平挠度</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E</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zh-CN" altLang="en-US" sz="2000" b="1">
                <a:cs typeface="Times New Roman" pitchFamily="18" charset="0"/>
              </a:rPr>
              <a:t>∫</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w</a:t>
            </a:r>
            <a:r>
              <a:rPr lang="en-US" altLang="zh-CN" sz="2000" b="1" baseline="30000">
                <a:latin typeface="Times New Roman" pitchFamily="18" charset="0"/>
                <a:cs typeface="Times New Roman" pitchFamily="18" charset="0"/>
              </a:rPr>
              <a:t> 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en-US" altLang="zh-CN" sz="2000" b="1" baseline="30000">
                <a:latin typeface="Times New Roman" pitchFamily="18" charset="0"/>
                <a:cs typeface="Times New Roman" pitchFamily="18" charset="0"/>
              </a:rPr>
              <a:t> </a:t>
            </a:r>
            <a:r>
              <a:rPr lang="en-US" altLang="zh-CN" sz="2000" b="1">
                <a:latin typeface="+mn-ea"/>
                <a:cs typeface="Times New Roman" pitchFamily="18" charset="0"/>
              </a:rPr>
              <a:t>-</a:t>
            </a:r>
            <a:r>
              <a:rPr lang="en-US" altLang="zh-CN" sz="2000" b="1" baseline="30000">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a:t>
            </a:r>
            <a:r>
              <a:rPr lang="el-GR" altLang="zh-CN" sz="2000" b="1" i="1">
                <a:latin typeface="Times New Roman" pitchFamily="18" charset="0"/>
                <a:cs typeface="Times New Roman" pitchFamily="18" charset="0"/>
              </a:rPr>
              <a:t>Δ</a:t>
            </a:r>
            <a:r>
              <a:rPr lang="en-US" altLang="zh-CN" sz="2000" b="1">
                <a:latin typeface="Times New Roman" pitchFamily="18" charset="0"/>
                <a:cs typeface="Times New Roman" pitchFamily="18" charset="0"/>
              </a:rPr>
              <a:t>?</a:t>
            </a:r>
          </a:p>
          <a:p>
            <a:pPr algn="just">
              <a:lnSpc>
                <a:spcPct val="120000"/>
              </a:lnSpc>
            </a:pP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不考虑轴向变形和剪切变形的影响</a:t>
            </a:r>
            <a:r>
              <a:rPr lang="en-US" altLang="zh-CN" sz="2000" b="1">
                <a:latin typeface="Times New Roman" pitchFamily="18" charset="0"/>
                <a:cs typeface="Times New Roman" pitchFamily="18" charset="0"/>
              </a:rPr>
              <a:t>)</a:t>
            </a:r>
            <a:endParaRPr lang="zh-CN" altLang="en-US" sz="2000" b="1">
              <a:latin typeface="Times New Roman" pitchFamily="18" charset="0"/>
              <a:cs typeface="Times New Roman" pitchFamily="18" charset="0"/>
            </a:endParaRPr>
          </a:p>
        </p:txBody>
      </p:sp>
      <p:grpSp>
        <p:nvGrpSpPr>
          <p:cNvPr id="191" name="组合 190"/>
          <p:cNvGrpSpPr/>
          <p:nvPr/>
        </p:nvGrpSpPr>
        <p:grpSpPr>
          <a:xfrm>
            <a:off x="5732185" y="1845222"/>
            <a:ext cx="3224687" cy="2555392"/>
            <a:chOff x="5732185" y="1845222"/>
            <a:chExt cx="3224687" cy="2555392"/>
          </a:xfrm>
        </p:grpSpPr>
        <p:pic>
          <p:nvPicPr>
            <p:cNvPr id="93" name="Picture 8"/>
            <p:cNvPicPr>
              <a:picLocks noChangeAspect="1" noChangeArrowheads="1"/>
            </p:cNvPicPr>
            <p:nvPr/>
          </p:nvPicPr>
          <p:blipFill>
            <a:blip r:embed="rId3"/>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5" name="直接连接符 94"/>
            <p:cNvCxnSpPr/>
            <p:nvPr/>
          </p:nvCxnSpPr>
          <p:spPr bwMode="auto">
            <a:xfrm flipV="1">
              <a:off x="8375391" y="3649437"/>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916139" y="377404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nvGrpSpPr>
            <p:cNvPr id="121" name="组合 120"/>
            <p:cNvGrpSpPr/>
            <p:nvPr/>
          </p:nvGrpSpPr>
          <p:grpSpPr>
            <a:xfrm>
              <a:off x="8122634" y="2071678"/>
              <a:ext cx="705580" cy="428628"/>
              <a:chOff x="8130453" y="1772479"/>
              <a:chExt cx="705580" cy="428628"/>
            </a:xfrm>
          </p:grpSpPr>
          <p:cxnSp>
            <p:nvCxnSpPr>
              <p:cNvPr id="123" name="直接箭头连接符 122"/>
              <p:cNvCxnSpPr/>
              <p:nvPr/>
            </p:nvCxnSpPr>
            <p:spPr bwMode="auto">
              <a:xfrm flipV="1">
                <a:off x="8130453" y="2201107"/>
                <a:ext cx="481430" cy="0"/>
              </a:xfrm>
              <a:prstGeom prst="straightConnector1">
                <a:avLst/>
              </a:prstGeom>
              <a:solidFill>
                <a:schemeClr val="accent1"/>
              </a:solidFill>
              <a:ln w="38100" cap="flat" cmpd="sng" algn="ctr">
                <a:solidFill>
                  <a:srgbClr val="C00000"/>
                </a:solidFill>
                <a:prstDash val="solid"/>
                <a:round/>
                <a:headEnd type="arrow" w="med" len="med"/>
                <a:tailEnd type="none" w="med" len="med"/>
              </a:ln>
              <a:effectLst/>
            </p:spPr>
          </p:cxnSp>
          <p:sp>
            <p:nvSpPr>
              <p:cNvPr id="125" name="TextBox 124"/>
              <p:cNvSpPr txBox="1"/>
              <p:nvPr/>
            </p:nvSpPr>
            <p:spPr>
              <a:xfrm>
                <a:off x="8366033" y="1772479"/>
                <a:ext cx="470000"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E</a:t>
                </a:r>
                <a:endParaRPr lang="zh-CN" altLang="en-US" sz="2000" b="1" baseline="-25000">
                  <a:solidFill>
                    <a:srgbClr val="C00000"/>
                  </a:solidFill>
                  <a:latin typeface="Times New Roman" pitchFamily="18" charset="0"/>
                  <a:cs typeface="Times New Roman" pitchFamily="18" charset="0"/>
                </a:endParaRPr>
              </a:p>
            </p:txBody>
          </p:sp>
        </p:gr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nvGrpSpPr>
            <p:cNvPr id="137" name="组合 136"/>
            <p:cNvGrpSpPr/>
            <p:nvPr/>
          </p:nvGrpSpPr>
          <p:grpSpPr>
            <a:xfrm>
              <a:off x="8104361" y="2643182"/>
              <a:ext cx="785818" cy="1007951"/>
              <a:chOff x="5961221" y="2656629"/>
              <a:chExt cx="785818" cy="1007951"/>
            </a:xfrm>
          </p:grpSpPr>
          <p:cxnSp>
            <p:nvCxnSpPr>
              <p:cNvPr id="132" name="直接箭头连接符 131"/>
              <p:cNvCxnSpPr/>
              <p:nvPr/>
            </p:nvCxnSpPr>
            <p:spPr bwMode="auto">
              <a:xfrm>
                <a:off x="5961221" y="3664580"/>
                <a:ext cx="785818" cy="0"/>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cxnSp>
            <p:nvCxnSpPr>
              <p:cNvPr id="136" name="直接箭头连接符 135"/>
              <p:cNvCxnSpPr/>
              <p:nvPr/>
            </p:nvCxnSpPr>
            <p:spPr bwMode="auto">
              <a:xfrm rot="5400000" flipH="1" flipV="1">
                <a:off x="5466783" y="3155901"/>
                <a:ext cx="1000132" cy="1588"/>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grpSp>
        <p:sp>
          <p:nvSpPr>
            <p:cNvPr id="140" name="TextBox 139"/>
            <p:cNvSpPr txBox="1"/>
            <p:nvPr/>
          </p:nvSpPr>
          <p:spPr>
            <a:xfrm>
              <a:off x="8643966" y="3643314"/>
              <a:ext cx="312906"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x</a:t>
              </a:r>
              <a:endParaRPr lang="zh-CN" altLang="en-US" sz="2000" b="1" i="1">
                <a:solidFill>
                  <a:srgbClr val="0033CC"/>
                </a:solidFill>
                <a:latin typeface="Times New Roman" pitchFamily="18" charset="0"/>
                <a:cs typeface="Times New Roman" pitchFamily="18" charset="0"/>
              </a:endParaRPr>
            </a:p>
          </p:txBody>
        </p:sp>
        <p:sp>
          <p:nvSpPr>
            <p:cNvPr id="143" name="TextBox 142"/>
            <p:cNvSpPr txBox="1"/>
            <p:nvPr/>
          </p:nvSpPr>
          <p:spPr>
            <a:xfrm>
              <a:off x="8162173" y="2571744"/>
              <a:ext cx="298480"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y</a:t>
              </a:r>
              <a:endParaRPr lang="zh-CN" altLang="en-US" sz="2000" b="1" i="1">
                <a:solidFill>
                  <a:srgbClr val="0033CC"/>
                </a:solidFill>
                <a:latin typeface="Times New Roman" pitchFamily="18" charset="0"/>
                <a:cs typeface="Times New Roman" pitchFamily="18" charset="0"/>
              </a:endParaRPr>
            </a:p>
          </p:txBody>
        </p:sp>
        <p:sp>
          <p:nvSpPr>
            <p:cNvPr id="146" name="任意多边形 145"/>
            <p:cNvSpPr/>
            <p:nvPr/>
          </p:nvSpPr>
          <p:spPr bwMode="auto">
            <a:xfrm>
              <a:off x="7858148" y="2161389"/>
              <a:ext cx="264486" cy="1452282"/>
            </a:xfrm>
            <a:custGeom>
              <a:avLst/>
              <a:gdLst>
                <a:gd name="connsiteX0" fmla="*/ 109817 w 123264"/>
                <a:gd name="connsiteY0" fmla="*/ 1452282 h 1452282"/>
                <a:gd name="connsiteX1" fmla="*/ 2241 w 123264"/>
                <a:gd name="connsiteY1" fmla="*/ 779929 h 1452282"/>
                <a:gd name="connsiteX2" fmla="*/ 123264 w 123264"/>
                <a:gd name="connsiteY2" fmla="*/ 0 h 1452282"/>
              </a:gdLst>
              <a:ahLst/>
              <a:cxnLst>
                <a:cxn ang="0">
                  <a:pos x="connsiteX0" y="connsiteY0"/>
                </a:cxn>
                <a:cxn ang="0">
                  <a:pos x="connsiteX1" y="connsiteY1"/>
                </a:cxn>
                <a:cxn ang="0">
                  <a:pos x="connsiteX2" y="connsiteY2"/>
                </a:cxn>
              </a:cxnLst>
              <a:rect l="l" t="t" r="r" b="b"/>
              <a:pathLst>
                <a:path w="123264" h="1452282">
                  <a:moveTo>
                    <a:pt x="109817" y="1452282"/>
                  </a:moveTo>
                  <a:cubicBezTo>
                    <a:pt x="54908" y="1237129"/>
                    <a:pt x="0" y="1021976"/>
                    <a:pt x="2241" y="779929"/>
                  </a:cubicBezTo>
                  <a:cubicBezTo>
                    <a:pt x="4482" y="537882"/>
                    <a:pt x="63873" y="268941"/>
                    <a:pt x="123264"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cxnSp>
          <p:nvCxnSpPr>
            <p:cNvPr id="153" name="直接连接符 152"/>
            <p:cNvCxnSpPr/>
            <p:nvPr/>
          </p:nvCxnSpPr>
          <p:spPr bwMode="auto">
            <a:xfrm flipV="1">
              <a:off x="7429520" y="250030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9" name="直接箭头连接符 158"/>
            <p:cNvCxnSpPr/>
            <p:nvPr/>
          </p:nvCxnSpPr>
          <p:spPr bwMode="auto">
            <a:xfrm rot="5400000">
              <a:off x="7001289" y="3071413"/>
              <a:ext cx="1143008"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62" name="TextBox 161"/>
            <p:cNvSpPr txBox="1"/>
            <p:nvPr/>
          </p:nvSpPr>
          <p:spPr>
            <a:xfrm rot="16200000">
              <a:off x="7337564" y="2892546"/>
              <a:ext cx="44114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r>
                <a:rPr lang="en-US" altLang="zh-CN" sz="2000" b="1" i="1" baseline="-25000">
                  <a:latin typeface="Times New Roman" pitchFamily="18" charset="0"/>
                  <a:cs typeface="Times New Roman" pitchFamily="18" charset="0"/>
                </a:rPr>
                <a:t>E</a:t>
              </a:r>
              <a:endParaRPr lang="zh-CN" altLang="en-US" sz="2000" b="1" i="1" baseline="-25000">
                <a:latin typeface="Times New Roman" pitchFamily="18" charset="0"/>
                <a:cs typeface="Times New Roman" pitchFamily="18" charset="0"/>
              </a:endParaRPr>
            </a:p>
          </p:txBody>
        </p:sp>
        <p:sp>
          <p:nvSpPr>
            <p:cNvPr id="163" name="TextBox 162"/>
            <p:cNvSpPr txBox="1"/>
            <p:nvPr/>
          </p:nvSpPr>
          <p:spPr>
            <a:xfrm>
              <a:off x="7786710" y="213097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E</a:t>
              </a:r>
              <a:endParaRPr lang="zh-CN" altLang="en-US" b="1" i="1">
                <a:latin typeface="Times New Roman" pitchFamily="18" charset="0"/>
                <a:cs typeface="Times New Roman" pitchFamily="18" charset="0"/>
              </a:endParaRPr>
            </a:p>
          </p:txBody>
        </p:sp>
        <p:sp>
          <p:nvSpPr>
            <p:cNvPr id="186" name="任意多边形 185"/>
            <p:cNvSpPr/>
            <p:nvPr/>
          </p:nvSpPr>
          <p:spPr bwMode="auto">
            <a:xfrm>
              <a:off x="5975498" y="3646966"/>
              <a:ext cx="2137144" cy="210661"/>
            </a:xfrm>
            <a:custGeom>
              <a:avLst/>
              <a:gdLst>
                <a:gd name="connsiteX0" fmla="*/ 0 w 2137144"/>
                <a:gd name="connsiteY0" fmla="*/ 0 h 150628"/>
                <a:gd name="connsiteX1" fmla="*/ 1063255 w 2137144"/>
                <a:gd name="connsiteY1" fmla="*/ 148856 h 150628"/>
                <a:gd name="connsiteX2" fmla="*/ 2137144 w 2137144"/>
                <a:gd name="connsiteY2" fmla="*/ 10633 h 150628"/>
              </a:gdLst>
              <a:ahLst/>
              <a:cxnLst>
                <a:cxn ang="0">
                  <a:pos x="connsiteX0" y="connsiteY0"/>
                </a:cxn>
                <a:cxn ang="0">
                  <a:pos x="connsiteX1" y="connsiteY1"/>
                </a:cxn>
                <a:cxn ang="0">
                  <a:pos x="connsiteX2" y="connsiteY2"/>
                </a:cxn>
              </a:cxnLst>
              <a:rect l="l" t="t" r="r" b="b"/>
              <a:pathLst>
                <a:path w="2137144" h="150628">
                  <a:moveTo>
                    <a:pt x="0" y="0"/>
                  </a:moveTo>
                  <a:cubicBezTo>
                    <a:pt x="353532" y="73542"/>
                    <a:pt x="707064" y="147084"/>
                    <a:pt x="1063255" y="148856"/>
                  </a:cubicBezTo>
                  <a:cubicBezTo>
                    <a:pt x="1419446" y="150628"/>
                    <a:pt x="1778295" y="80630"/>
                    <a:pt x="2137144" y="10633"/>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88" name="任意多边形 187"/>
            <p:cNvSpPr/>
            <p:nvPr/>
          </p:nvSpPr>
          <p:spPr bwMode="auto">
            <a:xfrm flipH="1">
              <a:off x="5979494" y="2143116"/>
              <a:ext cx="164142" cy="1452282"/>
            </a:xfrm>
            <a:custGeom>
              <a:avLst/>
              <a:gdLst>
                <a:gd name="connsiteX0" fmla="*/ 109817 w 123264"/>
                <a:gd name="connsiteY0" fmla="*/ 1452282 h 1452282"/>
                <a:gd name="connsiteX1" fmla="*/ 2241 w 123264"/>
                <a:gd name="connsiteY1" fmla="*/ 779929 h 1452282"/>
                <a:gd name="connsiteX2" fmla="*/ 123264 w 123264"/>
                <a:gd name="connsiteY2" fmla="*/ 0 h 1452282"/>
              </a:gdLst>
              <a:ahLst/>
              <a:cxnLst>
                <a:cxn ang="0">
                  <a:pos x="connsiteX0" y="connsiteY0"/>
                </a:cxn>
                <a:cxn ang="0">
                  <a:pos x="connsiteX1" y="connsiteY1"/>
                </a:cxn>
                <a:cxn ang="0">
                  <a:pos x="connsiteX2" y="connsiteY2"/>
                </a:cxn>
              </a:cxnLst>
              <a:rect l="l" t="t" r="r" b="b"/>
              <a:pathLst>
                <a:path w="123264" h="1452282">
                  <a:moveTo>
                    <a:pt x="109817" y="1452282"/>
                  </a:moveTo>
                  <a:cubicBezTo>
                    <a:pt x="54908" y="1237129"/>
                    <a:pt x="0" y="1021976"/>
                    <a:pt x="2241" y="779929"/>
                  </a:cubicBezTo>
                  <a:cubicBezTo>
                    <a:pt x="4482" y="537882"/>
                    <a:pt x="63873" y="268941"/>
                    <a:pt x="123264"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sp>
        <p:nvSpPr>
          <p:cNvPr id="194" name="矩形 193"/>
          <p:cNvSpPr/>
          <p:nvPr/>
        </p:nvSpPr>
        <p:spPr>
          <a:xfrm>
            <a:off x="1214414" y="4500570"/>
            <a:ext cx="7429552" cy="400110"/>
          </a:xfrm>
          <a:prstGeom prst="rect">
            <a:avLst/>
          </a:prstGeom>
        </p:spPr>
        <p:txBody>
          <a:bodyPr wrap="square">
            <a:spAutoFit/>
          </a:bodyPr>
          <a:lstStyle/>
          <a:p>
            <a:r>
              <a:rPr lang="zh-CN" altLang="en-US" sz="2000" b="1">
                <a:latin typeface="+mn-ea"/>
              </a:rPr>
              <a:t>解：</a:t>
            </a:r>
            <a:r>
              <a:rPr lang="zh-CN" altLang="en-US" b="1">
                <a:solidFill>
                  <a:srgbClr val="0033CC"/>
                </a:solidFill>
                <a:latin typeface="+mn-ea"/>
              </a:rPr>
              <a:t>由于</a:t>
            </a:r>
            <a:r>
              <a:rPr lang="en-US" altLang="zh-CN" b="1" i="1">
                <a:solidFill>
                  <a:srgbClr val="0033CC"/>
                </a:solidFill>
                <a:latin typeface="Times New Roman" pitchFamily="18" charset="0"/>
                <a:cs typeface="Times New Roman" pitchFamily="18" charset="0"/>
              </a:rPr>
              <a:t>w</a:t>
            </a:r>
            <a:r>
              <a:rPr lang="en-US" altLang="zh-CN" b="1" baseline="30000">
                <a:solidFill>
                  <a:srgbClr val="0033CC"/>
                </a:solidFill>
                <a:latin typeface="Times New Roman" pitchFamily="18" charset="0"/>
                <a:cs typeface="Times New Roman" pitchFamily="18" charset="0"/>
              </a:rPr>
              <a:t> 0</a:t>
            </a:r>
            <a:r>
              <a:rPr lang="en-US" altLang="zh-CN"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y</a:t>
            </a:r>
            <a:r>
              <a:rPr lang="en-US" altLang="zh-CN" b="1">
                <a:solidFill>
                  <a:srgbClr val="0033CC"/>
                </a:solidFill>
                <a:latin typeface="Times New Roman" pitchFamily="18" charset="0"/>
                <a:cs typeface="Times New Roman" pitchFamily="18" charset="0"/>
              </a:rPr>
              <a:t>)</a:t>
            </a:r>
            <a:r>
              <a:rPr lang="zh-CN" altLang="en-US" b="1">
                <a:solidFill>
                  <a:srgbClr val="0033CC"/>
                </a:solidFill>
                <a:latin typeface="Times New Roman" pitchFamily="18" charset="0"/>
                <a:cs typeface="Times New Roman" pitchFamily="18" charset="0"/>
              </a:rPr>
              <a:t>已知，关键在于求</a:t>
            </a:r>
            <a:r>
              <a:rPr lang="en-US" altLang="zh-CN" b="1" i="1">
                <a:solidFill>
                  <a:srgbClr val="0033CC"/>
                </a:solidFill>
                <a:latin typeface="Times New Roman" pitchFamily="18" charset="0"/>
                <a:cs typeface="Times New Roman" pitchFamily="18" charset="0"/>
              </a:rPr>
              <a:t>F</a:t>
            </a:r>
            <a:r>
              <a:rPr lang="en-US" altLang="zh-CN" b="1" i="1" baseline="-25000">
                <a:solidFill>
                  <a:srgbClr val="0033CC"/>
                </a:solidFill>
                <a:latin typeface="Times New Roman" pitchFamily="18" charset="0"/>
                <a:cs typeface="Times New Roman" pitchFamily="18" charset="0"/>
              </a:rPr>
              <a:t>E </a:t>
            </a:r>
            <a:r>
              <a:rPr lang="zh-CN" altLang="en-US" b="1">
                <a:solidFill>
                  <a:srgbClr val="0033CC"/>
                </a:solidFill>
                <a:latin typeface="+mn-ea"/>
              </a:rPr>
              <a:t>引起的挠度积分 </a:t>
            </a:r>
            <a:r>
              <a:rPr lang="zh-CN" altLang="en-US" b="1">
                <a:solidFill>
                  <a:srgbClr val="0033CC"/>
                </a:solidFill>
                <a:cs typeface="Times New Roman" pitchFamily="18" charset="0"/>
              </a:rPr>
              <a:t>∫</a:t>
            </a:r>
            <a:r>
              <a:rPr lang="en-US" altLang="zh-CN" b="1" i="1">
                <a:solidFill>
                  <a:srgbClr val="0033CC"/>
                </a:solidFill>
                <a:latin typeface="Times New Roman" pitchFamily="18" charset="0"/>
                <a:cs typeface="Times New Roman" pitchFamily="18" charset="0"/>
              </a:rPr>
              <a:t>w</a:t>
            </a:r>
            <a:r>
              <a:rPr lang="en-US" altLang="zh-CN"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y</a:t>
            </a:r>
            <a:r>
              <a:rPr lang="en-US" altLang="zh-CN" b="1">
                <a:solidFill>
                  <a:srgbClr val="0033CC"/>
                </a:solidFill>
                <a:latin typeface="Times New Roman" pitchFamily="18" charset="0"/>
                <a:cs typeface="Times New Roman" pitchFamily="18" charset="0"/>
              </a:rPr>
              <a:t>)d</a:t>
            </a:r>
            <a:r>
              <a:rPr lang="en-US" altLang="zh-CN" b="1" i="1">
                <a:solidFill>
                  <a:srgbClr val="0033CC"/>
                </a:solidFill>
                <a:latin typeface="Times New Roman" pitchFamily="18" charset="0"/>
                <a:cs typeface="Times New Roman" pitchFamily="18" charset="0"/>
              </a:rPr>
              <a:t>y</a:t>
            </a:r>
            <a:r>
              <a:rPr lang="zh-CN" altLang="en-US" b="1">
                <a:solidFill>
                  <a:srgbClr val="0033CC"/>
                </a:solidFill>
                <a:latin typeface="Times New Roman" pitchFamily="18" charset="0"/>
                <a:cs typeface="Times New Roman" pitchFamily="18" charset="0"/>
              </a:rPr>
              <a:t>；</a:t>
            </a:r>
            <a:endParaRPr lang="en-US" altLang="zh-CN" b="1">
              <a:solidFill>
                <a:srgbClr val="0033CC"/>
              </a:solidFill>
              <a:latin typeface="+mn-ea"/>
            </a:endParaRPr>
          </a:p>
        </p:txBody>
      </p:sp>
      <p:sp>
        <p:nvSpPr>
          <p:cNvPr id="195" name="矩形 194"/>
          <p:cNvSpPr/>
          <p:nvPr/>
        </p:nvSpPr>
        <p:spPr>
          <a:xfrm>
            <a:off x="1762309" y="4968737"/>
            <a:ext cx="6667344" cy="707886"/>
          </a:xfrm>
          <a:prstGeom prst="rect">
            <a:avLst/>
          </a:prstGeom>
        </p:spPr>
        <p:txBody>
          <a:bodyPr wrap="square">
            <a:spAutoFit/>
          </a:bodyPr>
          <a:lstStyle/>
          <a:p>
            <a:pPr marL="265113" indent="-265113"/>
            <a:r>
              <a:rPr lang="zh-CN" altLang="en-US" sz="2000" b="1">
                <a:latin typeface="+mn-ea"/>
              </a:rPr>
              <a:t>⑴不考虑轴向变形和剪切变形，设</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E</a:t>
            </a:r>
            <a:r>
              <a:rPr lang="zh-CN" altLang="en-US" sz="2000" b="1">
                <a:latin typeface="Times New Roman" pitchFamily="18" charset="0"/>
                <a:cs typeface="Times New Roman" pitchFamily="18" charset="0"/>
              </a:rPr>
              <a:t>引起的曲率变化为   </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AC</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AB</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BD</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endParaRPr lang="en-US" altLang="zh-CN" sz="2000" b="1">
              <a:latin typeface="+mn-ea"/>
            </a:endParaRPr>
          </a:p>
        </p:txBody>
      </p:sp>
      <p:sp>
        <p:nvSpPr>
          <p:cNvPr id="196" name="TextBox 195"/>
          <p:cNvSpPr txBox="1"/>
          <p:nvPr/>
        </p:nvSpPr>
        <p:spPr>
          <a:xfrm>
            <a:off x="5058287" y="5328920"/>
            <a:ext cx="2871299" cy="369332"/>
          </a:xfrm>
          <a:prstGeom prst="rect">
            <a:avLst/>
          </a:prstGeom>
          <a:noFill/>
          <a:ln w="28575">
            <a:noFill/>
          </a:ln>
        </p:spPr>
        <p:txBody>
          <a:bodyPr wrap="none" rtlCol="0">
            <a:spAutoFit/>
          </a:bodyPr>
          <a:lstStyle/>
          <a:p>
            <a:r>
              <a:rPr lang="el-GR" altLang="zh-CN" b="1" i="1">
                <a:solidFill>
                  <a:srgbClr val="0033CC"/>
                </a:solidFill>
                <a:latin typeface="Times New Roman" pitchFamily="18" charset="0"/>
                <a:cs typeface="Times New Roman" pitchFamily="18" charset="0"/>
              </a:rPr>
              <a:t>κ</a:t>
            </a:r>
            <a:r>
              <a:rPr lang="en-US" altLang="zh-CN"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y</a:t>
            </a:r>
            <a:r>
              <a:rPr lang="en-US" altLang="zh-CN" b="1">
                <a:solidFill>
                  <a:srgbClr val="0033CC"/>
                </a:solidFill>
                <a:latin typeface="Times New Roman" pitchFamily="18" charset="0"/>
                <a:cs typeface="Times New Roman" pitchFamily="18" charset="0"/>
              </a:rPr>
              <a:t>)</a:t>
            </a:r>
            <a:r>
              <a:rPr lang="zh-CN" altLang="en-US" b="1">
                <a:solidFill>
                  <a:srgbClr val="0033CC"/>
                </a:solidFill>
              </a:rPr>
              <a:t>怎么求，参见下一节；</a:t>
            </a:r>
          </a:p>
        </p:txBody>
      </p:sp>
      <p:sp>
        <p:nvSpPr>
          <p:cNvPr id="197" name="TextBox 196"/>
          <p:cNvSpPr txBox="1"/>
          <p:nvPr/>
        </p:nvSpPr>
        <p:spPr>
          <a:xfrm>
            <a:off x="1997239" y="5715016"/>
            <a:ext cx="3283271" cy="400110"/>
          </a:xfrm>
          <a:prstGeom prst="rect">
            <a:avLst/>
          </a:prstGeom>
          <a:noFill/>
          <a:ln w="28575">
            <a:noFill/>
          </a:ln>
        </p:spPr>
        <p:txBody>
          <a:bodyPr wrap="none" rtlCol="0">
            <a:spAutoFit/>
          </a:bodyPr>
          <a:lstStyle/>
          <a:p>
            <a:r>
              <a:rPr lang="zh-CN" altLang="en-US" sz="2000" b="1">
                <a:solidFill>
                  <a:srgbClr val="C00000"/>
                </a:solidFill>
              </a:rPr>
              <a:t>已知</a:t>
            </a:r>
            <a:r>
              <a:rPr lang="el-GR" altLang="zh-CN" sz="2000" b="1" i="1">
                <a:solidFill>
                  <a:srgbClr val="C00000"/>
                </a:solidFill>
                <a:latin typeface="Times New Roman" pitchFamily="18" charset="0"/>
                <a:cs typeface="Times New Roman" pitchFamily="18" charset="0"/>
              </a:rPr>
              <a:t>κ</a:t>
            </a:r>
            <a:r>
              <a:rPr lang="zh-CN" altLang="en-US" sz="2000" b="1">
                <a:solidFill>
                  <a:srgbClr val="C00000"/>
                </a:solidFill>
              </a:rPr>
              <a:t>，如何求积分</a:t>
            </a:r>
            <a:r>
              <a:rPr lang="zh-CN" altLang="en-US" sz="2000" b="1">
                <a:solidFill>
                  <a:srgbClr val="C00000"/>
                </a:solidFill>
                <a:cs typeface="Times New Roman" pitchFamily="18" charset="0"/>
              </a:rPr>
              <a:t>∫</a:t>
            </a:r>
            <a:r>
              <a:rPr lang="en-US" altLang="zh-CN" sz="2000" b="1" i="1">
                <a:solidFill>
                  <a:srgbClr val="C00000"/>
                </a:solidFill>
                <a:latin typeface="Times New Roman" pitchFamily="18" charset="0"/>
                <a:cs typeface="Times New Roman" pitchFamily="18" charset="0"/>
              </a:rPr>
              <a:t>w</a:t>
            </a:r>
            <a:r>
              <a:rPr lang="en-US" altLang="zh-CN" sz="2000" b="1">
                <a:solidFill>
                  <a:srgbClr val="C00000"/>
                </a:solidFill>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y</a:t>
            </a:r>
            <a:r>
              <a:rPr lang="en-US" altLang="zh-CN" sz="2000" b="1">
                <a:solidFill>
                  <a:srgbClr val="C00000"/>
                </a:solidFill>
                <a:latin typeface="Times New Roman" pitchFamily="18" charset="0"/>
                <a:cs typeface="Times New Roman" pitchFamily="18" charset="0"/>
              </a:rPr>
              <a:t>)d</a:t>
            </a:r>
            <a:r>
              <a:rPr lang="en-US" altLang="zh-CN" sz="2000" b="1" i="1">
                <a:solidFill>
                  <a:srgbClr val="C00000"/>
                </a:solidFill>
                <a:latin typeface="Times New Roman" pitchFamily="18" charset="0"/>
                <a:cs typeface="Times New Roman" pitchFamily="18" charset="0"/>
              </a:rPr>
              <a:t>y</a:t>
            </a:r>
            <a:r>
              <a:rPr lang="en-US" altLang="zh-CN" sz="2000" b="1">
                <a:solidFill>
                  <a:srgbClr val="C00000"/>
                </a:solidFill>
                <a:latin typeface="Times New Roman" pitchFamily="18" charset="0"/>
                <a:cs typeface="Times New Roman" pitchFamily="18" charset="0"/>
              </a:rPr>
              <a:t>?</a:t>
            </a:r>
            <a:endParaRPr lang="en-US" altLang="zh-CN" sz="2000" b="1">
              <a:solidFill>
                <a:srgbClr val="C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191"/>
                                        </p:tgtEl>
                                        <p:attrNameLst>
                                          <p:attrName>style.visibility</p:attrName>
                                        </p:attrNameLst>
                                      </p:cBhvr>
                                      <p:to>
                                        <p:strVal val="visible"/>
                                      </p:to>
                                    </p:set>
                                    <p:animEffect transition="in" filter="blinds(horizontal)">
                                      <p:cBhvr>
                                        <p:cTn id="11" dur="500"/>
                                        <p:tgtEl>
                                          <p:spTgt spid="19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94"/>
                                        </p:tgtEl>
                                        <p:attrNameLst>
                                          <p:attrName>style.visibility</p:attrName>
                                        </p:attrNameLst>
                                      </p:cBhvr>
                                      <p:to>
                                        <p:strVal val="visible"/>
                                      </p:to>
                                    </p:set>
                                    <p:anim calcmode="lin" valueType="num">
                                      <p:cBhvr additive="base">
                                        <p:cTn id="16" dur="500" fill="hold"/>
                                        <p:tgtEl>
                                          <p:spTgt spid="194"/>
                                        </p:tgtEl>
                                        <p:attrNameLst>
                                          <p:attrName>ppt_x</p:attrName>
                                        </p:attrNameLst>
                                      </p:cBhvr>
                                      <p:tavLst>
                                        <p:tav tm="0">
                                          <p:val>
                                            <p:strVal val="#ppt_x"/>
                                          </p:val>
                                        </p:tav>
                                        <p:tav tm="100000">
                                          <p:val>
                                            <p:strVal val="#ppt_x"/>
                                          </p:val>
                                        </p:tav>
                                      </p:tavLst>
                                    </p:anim>
                                    <p:anim calcmode="lin" valueType="num">
                                      <p:cBhvr additive="base">
                                        <p:cTn id="17" dur="500" fill="hold"/>
                                        <p:tgtEl>
                                          <p:spTgt spid="194"/>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195"/>
                                        </p:tgtEl>
                                        <p:attrNameLst>
                                          <p:attrName>style.visibility</p:attrName>
                                        </p:attrNameLst>
                                      </p:cBhvr>
                                      <p:to>
                                        <p:strVal val="visible"/>
                                      </p:to>
                                    </p:set>
                                    <p:anim calcmode="lin" valueType="num">
                                      <p:cBhvr additive="base">
                                        <p:cTn id="21" dur="500" fill="hold"/>
                                        <p:tgtEl>
                                          <p:spTgt spid="195"/>
                                        </p:tgtEl>
                                        <p:attrNameLst>
                                          <p:attrName>ppt_x</p:attrName>
                                        </p:attrNameLst>
                                      </p:cBhvr>
                                      <p:tavLst>
                                        <p:tav tm="0">
                                          <p:val>
                                            <p:strVal val="#ppt_x"/>
                                          </p:val>
                                        </p:tav>
                                        <p:tav tm="100000">
                                          <p:val>
                                            <p:strVal val="#ppt_x"/>
                                          </p:val>
                                        </p:tav>
                                      </p:tavLst>
                                    </p:anim>
                                    <p:anim calcmode="lin" valueType="num">
                                      <p:cBhvr additive="base">
                                        <p:cTn id="22" dur="500" fill="hold"/>
                                        <p:tgtEl>
                                          <p:spTgt spid="19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96"/>
                                        </p:tgtEl>
                                        <p:attrNameLst>
                                          <p:attrName>style.visibility</p:attrName>
                                        </p:attrNameLst>
                                      </p:cBhvr>
                                      <p:to>
                                        <p:strVal val="visible"/>
                                      </p:to>
                                    </p:set>
                                    <p:anim calcmode="lin" valueType="num">
                                      <p:cBhvr additive="base">
                                        <p:cTn id="27" dur="500" fill="hold"/>
                                        <p:tgtEl>
                                          <p:spTgt spid="196"/>
                                        </p:tgtEl>
                                        <p:attrNameLst>
                                          <p:attrName>ppt_x</p:attrName>
                                        </p:attrNameLst>
                                      </p:cBhvr>
                                      <p:tavLst>
                                        <p:tav tm="0">
                                          <p:val>
                                            <p:strVal val="1+#ppt_w/2"/>
                                          </p:val>
                                        </p:tav>
                                        <p:tav tm="100000">
                                          <p:val>
                                            <p:strVal val="#ppt_x"/>
                                          </p:val>
                                        </p:tav>
                                      </p:tavLst>
                                    </p:anim>
                                    <p:anim calcmode="lin" valueType="num">
                                      <p:cBhvr additive="base">
                                        <p:cTn id="28" dur="500" fill="hold"/>
                                        <p:tgtEl>
                                          <p:spTgt spid="19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7"/>
                                        </p:tgtEl>
                                        <p:attrNameLst>
                                          <p:attrName>style.visibility</p:attrName>
                                        </p:attrNameLst>
                                      </p:cBhvr>
                                      <p:to>
                                        <p:strVal val="visible"/>
                                      </p:to>
                                    </p:set>
                                    <p:anim calcmode="lin" valueType="num">
                                      <p:cBhvr additive="base">
                                        <p:cTn id="33" dur="500" fill="hold"/>
                                        <p:tgtEl>
                                          <p:spTgt spid="197"/>
                                        </p:tgtEl>
                                        <p:attrNameLst>
                                          <p:attrName>ppt_x</p:attrName>
                                        </p:attrNameLst>
                                      </p:cBhvr>
                                      <p:tavLst>
                                        <p:tav tm="0">
                                          <p:val>
                                            <p:strVal val="#ppt_x"/>
                                          </p:val>
                                        </p:tav>
                                        <p:tav tm="100000">
                                          <p:val>
                                            <p:strVal val="#ppt_x"/>
                                          </p:val>
                                        </p:tav>
                                      </p:tavLst>
                                    </p:anim>
                                    <p:anim calcmode="lin" valueType="num">
                                      <p:cBhvr additive="base">
                                        <p:cTn id="34" dur="500" fill="hold"/>
                                        <p:tgtEl>
                                          <p:spTgt spid="1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94" grpId="0"/>
      <p:bldP spid="195" grpId="0"/>
      <p:bldP spid="196" grpId="0"/>
      <p:bldP spid="19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广义位移的计算</a:t>
            </a:r>
            <a:r>
              <a:rPr lang="en-US" altLang="zh-CN" sz="2400">
                <a:solidFill>
                  <a:srgbClr val="C00000"/>
                </a:solidFill>
              </a:rPr>
              <a:t>——</a:t>
            </a:r>
            <a:r>
              <a:rPr lang="zh-CN" altLang="en-US" sz="2400">
                <a:solidFill>
                  <a:srgbClr val="C00000"/>
                </a:solidFill>
              </a:rPr>
              <a:t>虚设广义单位荷载</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结构体位移计算的单位荷载法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3673832"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广义力和广义位移</a:t>
            </a:r>
            <a:endParaRPr lang="en-US" altLang="zh-CN" sz="2000" b="1">
              <a:latin typeface="Times New Roman" pitchFamily="18" charset="0"/>
              <a:cs typeface="Times New Roman" pitchFamily="18" charset="0"/>
            </a:endParaRPr>
          </a:p>
        </p:txBody>
      </p:sp>
      <p:sp>
        <p:nvSpPr>
          <p:cNvPr id="21" name="TextBox 20"/>
          <p:cNvSpPr txBox="1"/>
          <p:nvPr/>
        </p:nvSpPr>
        <p:spPr>
          <a:xfrm>
            <a:off x="1214414" y="2214554"/>
            <a:ext cx="4572032" cy="2308324"/>
          </a:xfrm>
          <a:prstGeom prst="rect">
            <a:avLst/>
          </a:prstGeom>
          <a:noFill/>
          <a:ln w="28575">
            <a:noFill/>
          </a:ln>
        </p:spPr>
        <p:txBody>
          <a:bodyPr wrap="square" rtlCol="0">
            <a:spAutoFit/>
          </a:bodyPr>
          <a:lstStyle/>
          <a:p>
            <a:pPr algn="just">
              <a:lnSpc>
                <a:spcPct val="120000"/>
              </a:lnSpc>
            </a:pPr>
            <a:r>
              <a:rPr lang="zh-CN" altLang="en-US" sz="2000" b="1">
                <a:latin typeface="Times New Roman" pitchFamily="18" charset="0"/>
                <a:cs typeface="Times New Roman" pitchFamily="18" charset="0"/>
              </a:rPr>
              <a:t>例：如图所示刚架，由于长期使用，侧壁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30000">
                <a:latin typeface="Times New Roman" pitchFamily="18" charset="0"/>
                <a:cs typeface="Times New Roman" pitchFamily="18" charset="0"/>
              </a:rPr>
              <a:t> 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 ，现于</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 ，使得</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杆件产生向内的水平挠度</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zh-CN" altLang="en-US" sz="2000" b="1">
                <a:cs typeface="Times New Roman" pitchFamily="18" charset="0"/>
              </a:rPr>
              <a:t>∫</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w</a:t>
            </a:r>
            <a:r>
              <a:rPr lang="en-US" altLang="zh-CN" sz="2000" b="1" baseline="30000">
                <a:latin typeface="Times New Roman" pitchFamily="18" charset="0"/>
                <a:cs typeface="Times New Roman" pitchFamily="18" charset="0"/>
              </a:rPr>
              <a:t> 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en-US" altLang="zh-CN" sz="2000" b="1" baseline="30000">
                <a:latin typeface="Times New Roman" pitchFamily="18" charset="0"/>
                <a:cs typeface="Times New Roman" pitchFamily="18" charset="0"/>
              </a:rPr>
              <a:t> </a:t>
            </a:r>
            <a:r>
              <a:rPr lang="en-US" altLang="zh-CN" sz="2000" b="1">
                <a:latin typeface="+mn-ea"/>
                <a:cs typeface="Times New Roman" pitchFamily="18" charset="0"/>
              </a:rPr>
              <a:t>-</a:t>
            </a:r>
            <a:r>
              <a:rPr lang="en-US" altLang="zh-CN" sz="2000" b="1" baseline="30000">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a:t>
            </a:r>
            <a:r>
              <a:rPr lang="el-GR" altLang="zh-CN" sz="2000" b="1" i="1">
                <a:latin typeface="Times New Roman" pitchFamily="18" charset="0"/>
                <a:cs typeface="Times New Roman" pitchFamily="18" charset="0"/>
              </a:rPr>
              <a:t>Δ</a:t>
            </a:r>
            <a:r>
              <a:rPr lang="en-US" altLang="zh-CN" sz="2000" b="1">
                <a:latin typeface="Times New Roman" pitchFamily="18" charset="0"/>
                <a:cs typeface="Times New Roman" pitchFamily="18" charset="0"/>
              </a:rPr>
              <a:t>?</a:t>
            </a:r>
          </a:p>
          <a:p>
            <a:pPr algn="just">
              <a:lnSpc>
                <a:spcPct val="120000"/>
              </a:lnSpc>
            </a:pP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不考虑轴向变形和剪切变形的影响</a:t>
            </a:r>
            <a:r>
              <a:rPr lang="en-US" altLang="zh-CN" sz="2000" b="1">
                <a:latin typeface="Times New Roman" pitchFamily="18" charset="0"/>
                <a:cs typeface="Times New Roman" pitchFamily="18" charset="0"/>
              </a:rPr>
              <a:t>)</a:t>
            </a:r>
            <a:endParaRPr lang="zh-CN" altLang="en-US" sz="2000" b="1">
              <a:latin typeface="Times New Roman" pitchFamily="18" charset="0"/>
              <a:cs typeface="Times New Roman" pitchFamily="18" charset="0"/>
            </a:endParaRPr>
          </a:p>
        </p:txBody>
      </p:sp>
      <p:sp>
        <p:nvSpPr>
          <p:cNvPr id="194" name="矩形 193"/>
          <p:cNvSpPr/>
          <p:nvPr/>
        </p:nvSpPr>
        <p:spPr>
          <a:xfrm>
            <a:off x="1214414" y="4500570"/>
            <a:ext cx="7429552" cy="400110"/>
          </a:xfrm>
          <a:prstGeom prst="rect">
            <a:avLst/>
          </a:prstGeom>
        </p:spPr>
        <p:txBody>
          <a:bodyPr wrap="square">
            <a:spAutoFit/>
          </a:bodyPr>
          <a:lstStyle/>
          <a:p>
            <a:r>
              <a:rPr lang="zh-CN" altLang="en-US" sz="2000" b="1">
                <a:latin typeface="+mn-ea"/>
              </a:rPr>
              <a:t>解： ⑴ </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AC</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AB</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BD</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en-US" altLang="zh-CN" sz="2000" b="1">
                <a:solidFill>
                  <a:srgbClr val="0033CC"/>
                </a:solidFill>
                <a:latin typeface="+mn-ea"/>
              </a:rPr>
              <a:t> </a:t>
            </a:r>
            <a:r>
              <a:rPr lang="zh-CN" altLang="en-US" sz="2000" b="1">
                <a:latin typeface="+mn-ea"/>
              </a:rPr>
              <a:t>已知；</a:t>
            </a:r>
            <a:endParaRPr lang="en-US" altLang="zh-CN" sz="2000" b="1">
              <a:latin typeface="+mn-ea"/>
            </a:endParaRPr>
          </a:p>
        </p:txBody>
      </p:sp>
      <p:sp>
        <p:nvSpPr>
          <p:cNvPr id="195" name="矩形 194"/>
          <p:cNvSpPr/>
          <p:nvPr/>
        </p:nvSpPr>
        <p:spPr>
          <a:xfrm>
            <a:off x="1806450" y="4929198"/>
            <a:ext cx="6667344" cy="707886"/>
          </a:xfrm>
          <a:prstGeom prst="rect">
            <a:avLst/>
          </a:prstGeom>
        </p:spPr>
        <p:txBody>
          <a:bodyPr wrap="square">
            <a:spAutoFit/>
          </a:bodyPr>
          <a:lstStyle/>
          <a:p>
            <a:pPr marL="265113" indent="-265113"/>
            <a:r>
              <a:rPr lang="en-US" altLang="zh-CN" sz="2000" b="1">
                <a:latin typeface="+mn-ea"/>
              </a:rPr>
              <a:t>⑵ </a:t>
            </a:r>
            <a:r>
              <a:rPr lang="zh-CN" altLang="en-US" sz="2000" b="1">
                <a:latin typeface="+mn-ea"/>
              </a:rPr>
              <a:t>如图施加广义单位荷载，由单位荷载法知，需要求出单位荷载产生的</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弯矩</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AC</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AB</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BD</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a:t>
            </a:r>
            <a:endParaRPr lang="en-US" altLang="zh-CN" sz="2000" b="1">
              <a:latin typeface="+mn-ea"/>
            </a:endParaRPr>
          </a:p>
        </p:txBody>
      </p:sp>
      <p:grpSp>
        <p:nvGrpSpPr>
          <p:cNvPr id="54" name="组合 53"/>
          <p:cNvGrpSpPr/>
          <p:nvPr/>
        </p:nvGrpSpPr>
        <p:grpSpPr>
          <a:xfrm>
            <a:off x="5736697" y="1845222"/>
            <a:ext cx="2607393" cy="2555392"/>
            <a:chOff x="5732185" y="1845222"/>
            <a:chExt cx="2607393" cy="2555392"/>
          </a:xfrm>
        </p:grpSpPr>
        <p:pic>
          <p:nvPicPr>
            <p:cNvPr id="93" name="Picture 8"/>
            <p:cNvPicPr>
              <a:picLocks noChangeAspect="1" noChangeArrowheads="1"/>
            </p:cNvPicPr>
            <p:nvPr/>
          </p:nvPicPr>
          <p:blipFill>
            <a:blip r:embed="rId3"/>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916139" y="377404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3" name="直接连接符 152"/>
            <p:cNvCxnSpPr/>
            <p:nvPr/>
          </p:nvCxnSpPr>
          <p:spPr bwMode="auto">
            <a:xfrm flipV="1">
              <a:off x="7429520" y="250030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9" name="直接箭头连接符 158"/>
            <p:cNvCxnSpPr/>
            <p:nvPr/>
          </p:nvCxnSpPr>
          <p:spPr bwMode="auto">
            <a:xfrm rot="5400000">
              <a:off x="7001289" y="3071413"/>
              <a:ext cx="1143008"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62" name="TextBox 161"/>
            <p:cNvSpPr txBox="1"/>
            <p:nvPr/>
          </p:nvSpPr>
          <p:spPr>
            <a:xfrm rot="16200000">
              <a:off x="7337564" y="2892546"/>
              <a:ext cx="44114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r>
                <a:rPr lang="en-US" altLang="zh-CN" sz="2000" b="1" i="1" baseline="-25000">
                  <a:latin typeface="Times New Roman" pitchFamily="18" charset="0"/>
                  <a:cs typeface="Times New Roman" pitchFamily="18" charset="0"/>
                </a:rPr>
                <a:t>E</a:t>
              </a:r>
              <a:endParaRPr lang="zh-CN" altLang="en-US" sz="2000" b="1" i="1" baseline="-25000">
                <a:latin typeface="Times New Roman" pitchFamily="18" charset="0"/>
                <a:cs typeface="Times New Roman" pitchFamily="18" charset="0"/>
              </a:endParaRPr>
            </a:p>
          </p:txBody>
        </p:sp>
        <p:sp>
          <p:nvSpPr>
            <p:cNvPr id="163" name="TextBox 162"/>
            <p:cNvSpPr txBox="1"/>
            <p:nvPr/>
          </p:nvSpPr>
          <p:spPr>
            <a:xfrm>
              <a:off x="7786710" y="213097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E</a:t>
              </a:r>
              <a:endParaRPr lang="zh-CN" altLang="en-US" b="1" i="1">
                <a:latin typeface="Times New Roman" pitchFamily="18" charset="0"/>
                <a:cs typeface="Times New Roman" pitchFamily="18" charset="0"/>
              </a:endParaRPr>
            </a:p>
          </p:txBody>
        </p:sp>
      </p:grpSp>
      <p:grpSp>
        <p:nvGrpSpPr>
          <p:cNvPr id="53" name="组合 52"/>
          <p:cNvGrpSpPr/>
          <p:nvPr/>
        </p:nvGrpSpPr>
        <p:grpSpPr>
          <a:xfrm>
            <a:off x="8134089" y="2203537"/>
            <a:ext cx="888724" cy="1428760"/>
            <a:chOff x="8130457" y="2215348"/>
            <a:chExt cx="888724" cy="1428760"/>
          </a:xfrm>
        </p:grpSpPr>
        <p:grpSp>
          <p:nvGrpSpPr>
            <p:cNvPr id="52" name="组合 51"/>
            <p:cNvGrpSpPr/>
            <p:nvPr/>
          </p:nvGrpSpPr>
          <p:grpSpPr>
            <a:xfrm>
              <a:off x="8130457" y="2215348"/>
              <a:ext cx="371427" cy="1428760"/>
              <a:chOff x="8130457" y="2215348"/>
              <a:chExt cx="371427" cy="1428760"/>
            </a:xfrm>
          </p:grpSpPr>
          <p:cxnSp>
            <p:nvCxnSpPr>
              <p:cNvPr id="123" name="直接箭头连接符 122"/>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49" name="组合 48"/>
              <p:cNvGrpSpPr/>
              <p:nvPr/>
            </p:nvGrpSpPr>
            <p:grpSpPr>
              <a:xfrm>
                <a:off x="8130457" y="2215348"/>
                <a:ext cx="371427" cy="1428760"/>
                <a:chOff x="8130457" y="2215348"/>
                <a:chExt cx="371427" cy="1428760"/>
              </a:xfrm>
            </p:grpSpPr>
            <p:cxnSp>
              <p:nvCxnSpPr>
                <p:cNvPr id="40" name="直接箭头连接符 3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1" name="直接箭头连接符 4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2" name="直接箭头连接符 4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3" name="直接箭头连接符 4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4" name="直接箭头连接符 4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5" name="直接箭头连接符 4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6" name="直接箭头连接符 4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8" name="直接连接符 47"/>
                <p:cNvCxnSpPr/>
                <p:nvPr/>
              </p:nvCxnSpPr>
              <p:spPr bwMode="auto">
                <a:xfrm rot="5400000">
                  <a:off x="7786710"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51" name="TextBox 50"/>
            <p:cNvSpPr txBox="1"/>
            <p:nvPr/>
          </p:nvSpPr>
          <p:spPr>
            <a:xfrm>
              <a:off x="8501090" y="2786058"/>
              <a:ext cx="518091" cy="338554"/>
            </a:xfrm>
            <a:prstGeom prst="rect">
              <a:avLst/>
            </a:prstGeom>
            <a:noFill/>
            <a:ln w="28575">
              <a:noFill/>
            </a:ln>
          </p:spPr>
          <p:txBody>
            <a:bodyPr wrap="none" rtlCol="0">
              <a:spAutoFit/>
            </a:bodyPr>
            <a:lstStyle/>
            <a:p>
              <a:r>
                <a:rPr lang="en-US" altLang="zh-CN" sz="1600" b="1" i="1">
                  <a:solidFill>
                    <a:srgbClr val="C00000"/>
                  </a:solidFill>
                  <a:latin typeface="Times New Roman" pitchFamily="18" charset="0"/>
                  <a:cs typeface="Times New Roman" pitchFamily="18" charset="0"/>
                </a:rPr>
                <a:t>q</a:t>
              </a:r>
              <a:r>
                <a:rPr lang="en-US" altLang="zh-CN" sz="1600" b="1">
                  <a:solidFill>
                    <a:srgbClr val="C00000"/>
                  </a:solidFill>
                  <a:latin typeface="Times New Roman" pitchFamily="18" charset="0"/>
                  <a:cs typeface="Times New Roman" pitchFamily="18" charset="0"/>
                </a:rPr>
                <a:t>=1</a:t>
              </a:r>
              <a:endParaRPr lang="zh-CN" altLang="en-US" sz="1600" b="1">
                <a:solidFill>
                  <a:srgbClr val="C00000"/>
                </a:solidFill>
                <a:latin typeface="Times New Roman" pitchFamily="18" charset="0"/>
                <a:cs typeface="Times New Roman" pitchFamily="18" charset="0"/>
              </a:endParaRPr>
            </a:p>
          </p:txBody>
        </p:sp>
      </p:grpSp>
      <p:sp>
        <p:nvSpPr>
          <p:cNvPr id="55" name="TextBox 54"/>
          <p:cNvSpPr txBox="1"/>
          <p:nvPr/>
        </p:nvSpPr>
        <p:spPr>
          <a:xfrm>
            <a:off x="6858016" y="4572008"/>
            <a:ext cx="1467068" cy="400110"/>
          </a:xfrm>
          <a:prstGeom prst="rect">
            <a:avLst/>
          </a:prstGeom>
          <a:noFill/>
          <a:ln w="28575">
            <a:noFill/>
          </a:ln>
        </p:spPr>
        <p:txBody>
          <a:bodyPr wrap="none" rtlCol="0">
            <a:spAutoFit/>
          </a:bodyPr>
          <a:lstStyle/>
          <a:p>
            <a:r>
              <a:rPr lang="zh-CN" altLang="en-US" sz="2000" b="1">
                <a:solidFill>
                  <a:srgbClr val="C00000"/>
                </a:solidFill>
              </a:rPr>
              <a:t>自行推导！</a:t>
            </a:r>
          </a:p>
        </p:txBody>
      </p:sp>
      <p:sp>
        <p:nvSpPr>
          <p:cNvPr id="56" name="矩形 55"/>
          <p:cNvSpPr/>
          <p:nvPr/>
        </p:nvSpPr>
        <p:spPr>
          <a:xfrm>
            <a:off x="1803252" y="5672096"/>
            <a:ext cx="6667344" cy="400110"/>
          </a:xfrm>
          <a:prstGeom prst="rect">
            <a:avLst/>
          </a:prstGeom>
        </p:spPr>
        <p:txBody>
          <a:bodyPr wrap="square">
            <a:spAutoFit/>
          </a:bodyPr>
          <a:lstStyle/>
          <a:p>
            <a:pPr marL="265113" indent="-265113"/>
            <a:r>
              <a:rPr lang="en-US" altLang="zh-CN" sz="2000" b="1">
                <a:latin typeface="+mn-ea"/>
              </a:rPr>
              <a:t>⑶ </a:t>
            </a:r>
            <a:r>
              <a:rPr lang="zh-CN" altLang="en-US" sz="2000" b="1">
                <a:latin typeface="+mn-ea"/>
              </a:rPr>
              <a:t>由单位荷载法知，</a:t>
            </a:r>
            <a:endParaRPr lang="en-US" altLang="zh-CN" sz="2000" b="1">
              <a:latin typeface="+mn-ea"/>
            </a:endParaRPr>
          </a:p>
        </p:txBody>
      </p:sp>
      <p:sp>
        <p:nvSpPr>
          <p:cNvPr id="57" name="矩形 56"/>
          <p:cNvSpPr/>
          <p:nvPr/>
        </p:nvSpPr>
        <p:spPr>
          <a:xfrm>
            <a:off x="4286248" y="5715016"/>
            <a:ext cx="4059125" cy="754053"/>
          </a:xfrm>
          <a:prstGeom prst="rect">
            <a:avLst/>
          </a:prstGeom>
        </p:spPr>
        <p:txBody>
          <a:bodyPr wrap="none">
            <a:spAutoFit/>
          </a:bodyPr>
          <a:lstStyle/>
          <a:p>
            <a:r>
              <a:rPr lang="zh-CN" altLang="en-US" sz="2000" b="1">
                <a:solidFill>
                  <a:srgbClr val="000000"/>
                </a:solidFill>
                <a:cs typeface="Times New Roman" pitchFamily="18" charset="0"/>
              </a:rPr>
              <a:t>∫</a:t>
            </a:r>
            <a:r>
              <a:rPr lang="en-US" altLang="zh-CN" sz="2000" b="1" i="1">
                <a:solidFill>
                  <a:srgbClr val="000000"/>
                </a:solidFill>
                <a:latin typeface="Times New Roman" pitchFamily="18" charset="0"/>
                <a:cs typeface="Times New Roman" pitchFamily="18" charset="0"/>
              </a:rPr>
              <a:t>w</a:t>
            </a:r>
            <a:r>
              <a:rPr lang="en-US" altLang="zh-CN" sz="2000" b="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y</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y =   </a:t>
            </a:r>
            <a:r>
              <a:rPr lang="zh-CN" altLang="en-US" sz="2000" b="1">
                <a:solidFill>
                  <a:srgbClr val="000000"/>
                </a:solidFill>
                <a:cs typeface="Times New Roman" pitchFamily="18" charset="0"/>
              </a:rPr>
              <a:t>∫</a:t>
            </a:r>
            <a:r>
              <a:rPr lang="zh-CN" altLang="en-US" sz="2000" b="1" baseline="-25000">
                <a:solidFill>
                  <a:srgbClr val="000000"/>
                </a:solidFill>
                <a:cs typeface="Times New Roman" pitchFamily="18" charset="0"/>
              </a:rPr>
              <a:t> </a:t>
            </a:r>
            <a:r>
              <a:rPr lang="en-US" altLang="zh-CN" b="1" i="1">
                <a:latin typeface="Times New Roman" pitchFamily="18" charset="0"/>
                <a:cs typeface="Times New Roman" pitchFamily="18" charset="0"/>
              </a:rPr>
              <a:t>M</a:t>
            </a:r>
            <a:r>
              <a:rPr lang="en-US" altLang="zh-CN" b="1" i="1" baseline="-25000">
                <a:latin typeface="Times New Roman" pitchFamily="18" charset="0"/>
                <a:cs typeface="Times New Roman" pitchFamily="18" charset="0"/>
              </a:rPr>
              <a:t>AC </a:t>
            </a:r>
            <a:r>
              <a:rPr lang="el-GR" altLang="zh-CN" sz="2000" b="1" i="1">
                <a:solidFill>
                  <a:srgbClr val="000000"/>
                </a:solidFill>
                <a:latin typeface="Times New Roman" pitchFamily="18" charset="0"/>
                <a:cs typeface="Times New Roman" pitchFamily="18" charset="0"/>
              </a:rPr>
              <a:t>κ</a:t>
            </a:r>
            <a:r>
              <a:rPr lang="en-US" altLang="zh-CN" sz="2000" b="1" i="1" baseline="-25000">
                <a:solidFill>
                  <a:srgbClr val="000000"/>
                </a:solidFill>
                <a:latin typeface="Times New Roman" pitchFamily="18" charset="0"/>
                <a:cs typeface="Times New Roman" pitchFamily="18" charset="0"/>
              </a:rPr>
              <a:t>AC </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y +</a:t>
            </a:r>
            <a:r>
              <a:rPr lang="zh-CN" altLang="en-US" b="1">
                <a:solidFill>
                  <a:srgbClr val="000000"/>
                </a:solidFill>
                <a:cs typeface="Times New Roman" pitchFamily="18" charset="0"/>
              </a:rPr>
              <a:t> ∫ </a:t>
            </a:r>
            <a:r>
              <a:rPr lang="en-US" altLang="zh-CN" b="1" i="1">
                <a:latin typeface="Times New Roman" pitchFamily="18" charset="0"/>
                <a:cs typeface="Times New Roman" pitchFamily="18" charset="0"/>
              </a:rPr>
              <a:t>M</a:t>
            </a:r>
            <a:r>
              <a:rPr lang="en-US" altLang="zh-CN" b="1" i="1" baseline="-25000">
                <a:latin typeface="Times New Roman" pitchFamily="18" charset="0"/>
                <a:cs typeface="Times New Roman" pitchFamily="18" charset="0"/>
              </a:rPr>
              <a:t>AB </a:t>
            </a:r>
            <a:r>
              <a:rPr lang="el-GR" altLang="zh-CN" b="1" i="1">
                <a:solidFill>
                  <a:srgbClr val="000000"/>
                </a:solidFill>
                <a:latin typeface="Times New Roman" pitchFamily="18" charset="0"/>
                <a:cs typeface="Times New Roman" pitchFamily="18" charset="0"/>
              </a:rPr>
              <a:t>κ</a:t>
            </a:r>
            <a:r>
              <a:rPr lang="en-US" altLang="zh-CN" b="1" i="1" baseline="-25000">
                <a:solidFill>
                  <a:srgbClr val="000000"/>
                </a:solidFill>
                <a:latin typeface="Times New Roman" pitchFamily="18" charset="0"/>
                <a:cs typeface="Times New Roman" pitchFamily="18" charset="0"/>
              </a:rPr>
              <a:t>AB </a:t>
            </a:r>
            <a:r>
              <a:rPr lang="en-US" altLang="zh-CN" b="1">
                <a:solidFill>
                  <a:srgbClr val="000000"/>
                </a:solidFill>
                <a:latin typeface="Times New Roman" pitchFamily="18" charset="0"/>
                <a:cs typeface="Times New Roman" pitchFamily="18" charset="0"/>
              </a:rPr>
              <a:t>d</a:t>
            </a:r>
            <a:r>
              <a:rPr lang="en-US" altLang="zh-CN" b="1" i="1">
                <a:solidFill>
                  <a:srgbClr val="000000"/>
                </a:solidFill>
                <a:latin typeface="Times New Roman" pitchFamily="18" charset="0"/>
                <a:cs typeface="Times New Roman" pitchFamily="18" charset="0"/>
              </a:rPr>
              <a:t>x</a:t>
            </a:r>
          </a:p>
          <a:p>
            <a:pPr>
              <a:spcBef>
                <a:spcPts val="600"/>
              </a:spcBef>
            </a:pPr>
            <a:r>
              <a:rPr lang="en-US" altLang="zh-CN" b="1" i="1">
                <a:solidFill>
                  <a:srgbClr val="000000"/>
                </a:solidFill>
                <a:latin typeface="Times New Roman" pitchFamily="18" charset="0"/>
                <a:cs typeface="Times New Roman" pitchFamily="18" charset="0"/>
              </a:rPr>
              <a:t>                  + </a:t>
            </a:r>
            <a:r>
              <a:rPr lang="zh-CN" altLang="en-US" b="1">
                <a:solidFill>
                  <a:srgbClr val="000000"/>
                </a:solidFill>
                <a:cs typeface="Times New Roman" pitchFamily="18" charset="0"/>
              </a:rPr>
              <a:t>∫ </a:t>
            </a:r>
            <a:r>
              <a:rPr lang="en-US" altLang="zh-CN" b="1" i="1">
                <a:latin typeface="Times New Roman" pitchFamily="18" charset="0"/>
                <a:cs typeface="Times New Roman" pitchFamily="18" charset="0"/>
              </a:rPr>
              <a:t>M</a:t>
            </a:r>
            <a:r>
              <a:rPr lang="en-US" altLang="zh-CN" b="1" i="1" baseline="-25000">
                <a:latin typeface="Times New Roman" pitchFamily="18" charset="0"/>
                <a:cs typeface="Times New Roman" pitchFamily="18" charset="0"/>
              </a:rPr>
              <a:t>BD </a:t>
            </a:r>
            <a:r>
              <a:rPr lang="el-GR" altLang="zh-CN" b="1" i="1">
                <a:solidFill>
                  <a:srgbClr val="000000"/>
                </a:solidFill>
                <a:latin typeface="Times New Roman" pitchFamily="18" charset="0"/>
                <a:cs typeface="Times New Roman" pitchFamily="18" charset="0"/>
              </a:rPr>
              <a:t>κ</a:t>
            </a:r>
            <a:r>
              <a:rPr lang="en-US" altLang="zh-CN" b="1" i="1" baseline="-25000">
                <a:solidFill>
                  <a:srgbClr val="000000"/>
                </a:solidFill>
                <a:latin typeface="Times New Roman" pitchFamily="18" charset="0"/>
                <a:cs typeface="Times New Roman" pitchFamily="18" charset="0"/>
              </a:rPr>
              <a:t>BD </a:t>
            </a:r>
            <a:r>
              <a:rPr lang="en-US" altLang="zh-CN" b="1">
                <a:solidFill>
                  <a:srgbClr val="000000"/>
                </a:solidFill>
                <a:latin typeface="Times New Roman" pitchFamily="18" charset="0"/>
                <a:cs typeface="Times New Roman" pitchFamily="18" charset="0"/>
              </a:rPr>
              <a:t>d</a:t>
            </a:r>
            <a:r>
              <a:rPr lang="en-US" altLang="zh-CN" b="1" i="1">
                <a:solidFill>
                  <a:srgbClr val="000000"/>
                </a:solidFill>
                <a:latin typeface="Times New Roman" pitchFamily="18" charset="0"/>
                <a:cs typeface="Times New Roman" pitchFamily="18" charset="0"/>
              </a:rPr>
              <a:t>y</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
                                        </p:tgtEl>
                                        <p:attrNameLst>
                                          <p:attrName>style.visibility</p:attrName>
                                        </p:attrNameLst>
                                      </p:cBhvr>
                                      <p:to>
                                        <p:strVal val="visible"/>
                                      </p:to>
                                    </p:set>
                                    <p:anim calcmode="lin" valueType="num">
                                      <p:cBhvr additive="base">
                                        <p:cTn id="13" dur="500" fill="hold"/>
                                        <p:tgtEl>
                                          <p:spTgt spid="194"/>
                                        </p:tgtEl>
                                        <p:attrNameLst>
                                          <p:attrName>ppt_x</p:attrName>
                                        </p:attrNameLst>
                                      </p:cBhvr>
                                      <p:tavLst>
                                        <p:tav tm="0">
                                          <p:val>
                                            <p:strVal val="#ppt_x"/>
                                          </p:val>
                                        </p:tav>
                                        <p:tav tm="100000">
                                          <p:val>
                                            <p:strVal val="#ppt_x"/>
                                          </p:val>
                                        </p:tav>
                                      </p:tavLst>
                                    </p:anim>
                                    <p:anim calcmode="lin" valueType="num">
                                      <p:cBhvr additive="base">
                                        <p:cTn id="14"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5"/>
                                        </p:tgtEl>
                                        <p:attrNameLst>
                                          <p:attrName>style.visibility</p:attrName>
                                        </p:attrNameLst>
                                      </p:cBhvr>
                                      <p:to>
                                        <p:strVal val="visible"/>
                                      </p:to>
                                    </p:set>
                                    <p:anim calcmode="lin" valueType="num">
                                      <p:cBhvr additive="base">
                                        <p:cTn id="19" dur="500" fill="hold"/>
                                        <p:tgtEl>
                                          <p:spTgt spid="195"/>
                                        </p:tgtEl>
                                        <p:attrNameLst>
                                          <p:attrName>ppt_x</p:attrName>
                                        </p:attrNameLst>
                                      </p:cBhvr>
                                      <p:tavLst>
                                        <p:tav tm="0">
                                          <p:val>
                                            <p:strVal val="#ppt_x"/>
                                          </p:val>
                                        </p:tav>
                                        <p:tav tm="100000">
                                          <p:val>
                                            <p:strVal val="#ppt_x"/>
                                          </p:val>
                                        </p:tav>
                                      </p:tavLst>
                                    </p:anim>
                                    <p:anim calcmode="lin" valueType="num">
                                      <p:cBhvr additive="base">
                                        <p:cTn id="20" dur="500" fill="hold"/>
                                        <p:tgtEl>
                                          <p:spTgt spid="19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additive="base">
                                        <p:cTn id="25" dur="500" fill="hold"/>
                                        <p:tgtEl>
                                          <p:spTgt spid="53"/>
                                        </p:tgtEl>
                                        <p:attrNameLst>
                                          <p:attrName>ppt_x</p:attrName>
                                        </p:attrNameLst>
                                      </p:cBhvr>
                                      <p:tavLst>
                                        <p:tav tm="0">
                                          <p:val>
                                            <p:strVal val="1+#ppt_w/2"/>
                                          </p:val>
                                        </p:tav>
                                        <p:tav tm="100000">
                                          <p:val>
                                            <p:strVal val="#ppt_x"/>
                                          </p:val>
                                        </p:tav>
                                      </p:tavLst>
                                    </p:anim>
                                    <p:anim calcmode="lin" valueType="num">
                                      <p:cBhvr additive="base">
                                        <p:cTn id="26"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anim calcmode="lin" valueType="num">
                                      <p:cBhvr additive="base">
                                        <p:cTn id="31" dur="500" fill="hold"/>
                                        <p:tgtEl>
                                          <p:spTgt spid="55"/>
                                        </p:tgtEl>
                                        <p:attrNameLst>
                                          <p:attrName>ppt_x</p:attrName>
                                        </p:attrNameLst>
                                      </p:cBhvr>
                                      <p:tavLst>
                                        <p:tav tm="0">
                                          <p:val>
                                            <p:strVal val="1+#ppt_w/2"/>
                                          </p:val>
                                        </p:tav>
                                        <p:tav tm="100000">
                                          <p:val>
                                            <p:strVal val="#ppt_x"/>
                                          </p:val>
                                        </p:tav>
                                      </p:tavLst>
                                    </p:anim>
                                    <p:anim calcmode="lin" valueType="num">
                                      <p:cBhvr additive="base">
                                        <p:cTn id="32"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500" fill="hold"/>
                                        <p:tgtEl>
                                          <p:spTgt spid="56"/>
                                        </p:tgtEl>
                                        <p:attrNameLst>
                                          <p:attrName>ppt_x</p:attrName>
                                        </p:attrNameLst>
                                      </p:cBhvr>
                                      <p:tavLst>
                                        <p:tav tm="0">
                                          <p:val>
                                            <p:strVal val="#ppt_x"/>
                                          </p:val>
                                        </p:tav>
                                        <p:tav tm="100000">
                                          <p:val>
                                            <p:strVal val="#ppt_x"/>
                                          </p:val>
                                        </p:tav>
                                      </p:tavLst>
                                    </p:anim>
                                    <p:anim calcmode="lin" valueType="num">
                                      <p:cBhvr additive="base">
                                        <p:cTn id="3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blinds(horizontal)">
                                      <p:cBhvr>
                                        <p:cTn id="4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94" grpId="0"/>
      <p:bldP spid="195" grpId="0"/>
      <p:bldP spid="55" grpId="0"/>
      <p:bldP spid="56" grpId="0"/>
      <p:bldP spid="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t>静定结构总结、虚力原理、单位荷载法</a:t>
            </a:r>
            <a:endParaRPr lang="en-US" altLang="zh-CN">
              <a:solidFill>
                <a:schemeClr val="tx1"/>
              </a:solidFill>
            </a:endParaRPr>
          </a:p>
          <a:p>
            <a:pPr>
              <a:buNone/>
            </a:pPr>
            <a:r>
              <a:rPr lang="en-US" altLang="zh-CN">
                <a:solidFill>
                  <a:schemeClr val="tx1"/>
                </a:solidFill>
              </a:rPr>
              <a:t>	     5-1</a:t>
            </a:r>
          </a:p>
          <a:p>
            <a:pPr>
              <a:buNone/>
            </a:pPr>
            <a:r>
              <a:rPr lang="en-US" altLang="zh-CN">
                <a:solidFill>
                  <a:schemeClr val="tx1"/>
                </a:solidFill>
              </a:rPr>
              <a:t>         5-4</a:t>
            </a:r>
          </a:p>
          <a:p>
            <a:pPr>
              <a:buNone/>
            </a:pPr>
            <a:r>
              <a:rPr lang="en-US" altLang="zh-CN">
                <a:solidFill>
                  <a:schemeClr val="tx1"/>
                </a:solidFill>
              </a:rPr>
              <a:t>	     5-6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0" algn="r">
              <a:defRPr/>
            </a:pPr>
            <a:r>
              <a:rPr lang="zh-CN" altLang="en-US"/>
              <a:t>第五章 </a:t>
            </a:r>
            <a:r>
              <a:rPr lang="zh-CN" altLang="en-US">
                <a:effectLst>
                  <a:outerShdw blurRad="38100" dist="38100" dir="2700000" algn="tl">
                    <a:srgbClr val="000000">
                      <a:alpha val="43137"/>
                    </a:srgbClr>
                  </a:outerShdw>
                </a:effectLst>
              </a:rPr>
              <a:t>虚功原理与结构位移计算</a:t>
            </a:r>
            <a:endParaRPr lang="zh-CN" altLang="en-US" sz="3600" dirty="0"/>
          </a:p>
        </p:txBody>
      </p:sp>
      <p:sp>
        <p:nvSpPr>
          <p:cNvPr id="3" name="内容占位符 2"/>
          <p:cNvSpPr>
            <a:spLocks noGrp="1"/>
          </p:cNvSpPr>
          <p:nvPr>
            <p:ph idx="1"/>
          </p:nvPr>
        </p:nvSpPr>
        <p:spPr>
          <a:ln>
            <a:noFill/>
          </a:ln>
        </p:spPr>
        <p:txBody>
          <a:bodyPr/>
          <a:lstStyle/>
          <a:p>
            <a:pPr>
              <a:buClrTx/>
            </a:pPr>
            <a:r>
              <a:rPr lang="zh-CN" altLang="en-US"/>
              <a:t>主要内容</a:t>
            </a:r>
            <a:endParaRPr lang="en-US" altLang="zh-CN"/>
          </a:p>
          <a:p>
            <a:pPr lvl="1">
              <a:lnSpc>
                <a:spcPct val="150000"/>
              </a:lnSpc>
            </a:pPr>
            <a:r>
              <a:rPr lang="zh-CN" altLang="en-US">
                <a:solidFill>
                  <a:schemeClr val="bg1">
                    <a:lumMod val="50000"/>
                  </a:schemeClr>
                </a:solidFill>
              </a:rPr>
              <a:t>应用虚力原理求刚体体系的位移           </a:t>
            </a:r>
            <a:endParaRPr lang="en-US" altLang="zh-CN">
              <a:solidFill>
                <a:schemeClr val="bg1">
                  <a:lumMod val="50000"/>
                </a:schemeClr>
              </a:solidFill>
            </a:endParaRPr>
          </a:p>
          <a:p>
            <a:pPr lvl="1">
              <a:lnSpc>
                <a:spcPct val="150000"/>
              </a:lnSpc>
            </a:pPr>
            <a:r>
              <a:rPr lang="zh-CN" altLang="en-US">
                <a:solidFill>
                  <a:schemeClr val="bg1">
                    <a:lumMod val="50000"/>
                  </a:schemeClr>
                </a:solidFill>
              </a:rPr>
              <a:t>结构体位移计算的单位荷载法</a:t>
            </a:r>
            <a:endParaRPr lang="en-US" altLang="zh-CN">
              <a:solidFill>
                <a:schemeClr val="bg1">
                  <a:lumMod val="50000"/>
                </a:schemeClr>
              </a:solidFill>
            </a:endParaRPr>
          </a:p>
          <a:p>
            <a:pPr lvl="1">
              <a:lnSpc>
                <a:spcPct val="150000"/>
              </a:lnSpc>
            </a:pPr>
            <a:r>
              <a:rPr lang="zh-CN" altLang="en-US">
                <a:solidFill>
                  <a:srgbClr val="C00000"/>
                </a:solidFill>
              </a:rPr>
              <a:t>荷载作用下的位移计算及举例</a:t>
            </a:r>
            <a:endParaRPr lang="en-US" altLang="zh-CN">
              <a:solidFill>
                <a:srgbClr val="C00000"/>
              </a:solidFill>
            </a:endParaRPr>
          </a:p>
          <a:p>
            <a:pPr lvl="1">
              <a:lnSpc>
                <a:spcPct val="150000"/>
              </a:lnSpc>
            </a:pPr>
            <a:r>
              <a:rPr lang="zh-CN" altLang="en-US">
                <a:solidFill>
                  <a:srgbClr val="C00000"/>
                </a:solidFill>
              </a:rPr>
              <a:t>图乘法</a:t>
            </a:r>
            <a:endParaRPr lang="en-US" altLang="zh-CN">
              <a:solidFill>
                <a:srgbClr val="C00000"/>
              </a:solidFill>
            </a:endParaRPr>
          </a:p>
          <a:p>
            <a:pPr lvl="1">
              <a:lnSpc>
                <a:spcPct val="150000"/>
              </a:lnSpc>
            </a:pPr>
            <a:r>
              <a:rPr lang="zh-CN" altLang="en-US"/>
              <a:t>温度改变时的位移计算</a:t>
            </a:r>
            <a:endParaRPr lang="en-US" altLang="zh-CN"/>
          </a:p>
          <a:p>
            <a:pPr lvl="1">
              <a:lnSpc>
                <a:spcPct val="150000"/>
              </a:lnSpc>
            </a:pPr>
            <a:r>
              <a:rPr lang="zh-CN" altLang="en-US"/>
              <a:t>变形体的虚功原理</a:t>
            </a:r>
            <a:endParaRPr lang="en-US" altLang="zh-CN"/>
          </a:p>
          <a:p>
            <a:pPr lvl="1">
              <a:lnSpc>
                <a:spcPct val="150000"/>
              </a:lnSpc>
            </a:pPr>
            <a:r>
              <a:rPr lang="zh-CN" altLang="en-US"/>
              <a:t>互等定理</a:t>
            </a:r>
            <a:endParaRPr lang="en-US" altLang="zh-CN"/>
          </a:p>
          <a:p>
            <a:pPr lvl="1">
              <a:lnSpc>
                <a:spcPct val="150000"/>
              </a:lnSpc>
            </a:pPr>
            <a:r>
              <a:rPr lang="zh-CN" altLang="en-US"/>
              <a:t>思考与小结</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结构位移计算的一般公式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268546"/>
            <a:ext cx="8245864" cy="86177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普遍性：</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变形因素：</a:t>
            </a:r>
            <a:r>
              <a:rPr lang="zh-CN" altLang="en-US" sz="2000" b="1">
                <a:solidFill>
                  <a:srgbClr val="C00000"/>
                </a:solidFill>
                <a:latin typeface="Times New Roman" pitchFamily="18" charset="0"/>
                <a:cs typeface="Times New Roman" pitchFamily="18" charset="0"/>
              </a:rPr>
              <a:t>荷载引起</a:t>
            </a:r>
            <a:r>
              <a:rPr lang="zh-CN" altLang="en-US" sz="2000" b="1">
                <a:latin typeface="Times New Roman" pitchFamily="18" charset="0"/>
                <a:cs typeface="Times New Roman" pitchFamily="18" charset="0"/>
              </a:rPr>
              <a:t>的位移、温度或支座移动引起的位移；</a:t>
            </a:r>
            <a:endParaRPr lang="en-US" altLang="zh-CN" sz="2000" b="1">
              <a:latin typeface="Times New Roman" pitchFamily="18" charset="0"/>
              <a:cs typeface="Times New Roman" pitchFamily="18" charset="0"/>
            </a:endParaRPr>
          </a:p>
        </p:txBody>
      </p:sp>
      <p:grpSp>
        <p:nvGrpSpPr>
          <p:cNvPr id="4" name="组合 55"/>
          <p:cNvGrpSpPr/>
          <p:nvPr/>
        </p:nvGrpSpPr>
        <p:grpSpPr>
          <a:xfrm>
            <a:off x="2297859" y="1817023"/>
            <a:ext cx="4560157" cy="492443"/>
            <a:chOff x="2797925" y="4238757"/>
            <a:chExt cx="4560157" cy="492443"/>
          </a:xfrm>
        </p:grpSpPr>
        <p:grpSp>
          <p:nvGrpSpPr>
            <p:cNvPr id="5" name="组合 38"/>
            <p:cNvGrpSpPr/>
            <p:nvPr/>
          </p:nvGrpSpPr>
          <p:grpSpPr>
            <a:xfrm>
              <a:off x="2797925" y="4238757"/>
              <a:ext cx="4560157" cy="492443"/>
              <a:chOff x="2143108" y="5715015"/>
              <a:chExt cx="4560157" cy="484936"/>
            </a:xfrm>
          </p:grpSpPr>
          <p:sp>
            <p:nvSpPr>
              <p:cNvPr id="51" name="矩形 50"/>
              <p:cNvSpPr/>
              <p:nvPr/>
            </p:nvSpPr>
            <p:spPr>
              <a:xfrm>
                <a:off x="2143108" y="5715015"/>
                <a:ext cx="4560157" cy="484936"/>
              </a:xfrm>
              <a:prstGeom prst="rect">
                <a:avLst/>
              </a:prstGeom>
              <a:ln w="19050">
                <a:no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52" name="直接连接符 51"/>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5" name="直接连接符 54"/>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9" name="Rectangle 6"/>
          <p:cNvSpPr>
            <a:spLocks noChangeArrowheads="1"/>
          </p:cNvSpPr>
          <p:nvPr/>
        </p:nvSpPr>
        <p:spPr bwMode="auto">
          <a:xfrm>
            <a:off x="464221" y="3625211"/>
            <a:ext cx="8245864" cy="272690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求出各截面的内力</a:t>
            </a:r>
            <a:r>
              <a:rPr lang="en-US" altLang="zh-CN" sz="2000" b="1" i="1">
                <a:latin typeface="Times New Roman"/>
                <a:cs typeface="Times New Roman"/>
              </a:rPr>
              <a:t>M</a:t>
            </a:r>
            <a:r>
              <a:rPr lang="en-US" altLang="zh-CN" sz="2000" b="1" baseline="-25000">
                <a:latin typeface="Times New Roman"/>
                <a:cs typeface="Times New Roman"/>
              </a:rPr>
              <a:t>P</a:t>
            </a:r>
            <a:r>
              <a:rPr lang="zh-CN" altLang="en-US" sz="2000" b="1">
                <a:latin typeface="Times New Roman"/>
                <a:cs typeface="Times New Roman"/>
              </a:rPr>
              <a:t>、</a:t>
            </a:r>
            <a:r>
              <a:rPr lang="en-US" altLang="zh-CN" sz="2000" b="1" i="1">
                <a:latin typeface="Times New Roman"/>
                <a:cs typeface="Times New Roman"/>
              </a:rPr>
              <a:t>F</a:t>
            </a:r>
            <a:r>
              <a:rPr lang="en-US" altLang="zh-CN" sz="2000" b="1" baseline="-25000">
                <a:latin typeface="Times New Roman"/>
                <a:cs typeface="Times New Roman"/>
              </a:rPr>
              <a:t>NP</a:t>
            </a:r>
            <a:r>
              <a:rPr lang="zh-CN" altLang="en-US" sz="2000" b="1">
                <a:latin typeface="Times New Roman"/>
                <a:cs typeface="Times New Roman"/>
              </a:rPr>
              <a:t>、</a:t>
            </a:r>
            <a:r>
              <a:rPr lang="en-US" altLang="zh-CN" sz="2000" b="1" i="1">
                <a:latin typeface="Times New Roman"/>
                <a:cs typeface="Times New Roman"/>
              </a:rPr>
              <a:t>F</a:t>
            </a:r>
            <a:r>
              <a:rPr lang="en-US" altLang="zh-CN" sz="2000" b="1" baseline="-25000">
                <a:latin typeface="Times New Roman"/>
                <a:cs typeface="Times New Roman"/>
              </a:rPr>
              <a:t>QP</a:t>
            </a:r>
            <a:r>
              <a:rPr lang="zh-CN" altLang="en-US" sz="2000" b="1">
                <a:latin typeface="Times New Roman"/>
                <a:cs typeface="Times New Roman"/>
              </a:rPr>
              <a:t>；</a:t>
            </a:r>
            <a:endParaRPr lang="en-US" altLang="zh-CN" sz="2000" b="1">
              <a:latin typeface="Times New Roman"/>
              <a:cs typeface="Times New Roman"/>
            </a:endParaRPr>
          </a:p>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求出相应的弯曲、拉伸和剪切应变</a:t>
            </a:r>
            <a:endParaRPr lang="en-US" altLang="zh-CN" sz="2000" b="1">
              <a:latin typeface="Times New Roman"/>
              <a:cs typeface="Times New Roman"/>
            </a:endParaRPr>
          </a:p>
          <a:p>
            <a:pPr marL="742950" lvl="1" indent="-285750" algn="just" fontAlgn="base">
              <a:lnSpc>
                <a:spcPct val="120000"/>
              </a:lnSpc>
              <a:spcBef>
                <a:spcPct val="20000"/>
              </a:spcBef>
              <a:spcAft>
                <a:spcPct val="0"/>
              </a:spcAft>
            </a:pPr>
            <a:r>
              <a:rPr lang="en-US" altLang="zh-CN" sz="2000" b="1">
                <a:latin typeface="Times New Roman"/>
                <a:cs typeface="Times New Roman"/>
              </a:rPr>
              <a:t>    ⑴ </a:t>
            </a:r>
            <a:r>
              <a:rPr lang="zh-CN" altLang="en-US" sz="2000" b="1">
                <a:latin typeface="Times New Roman"/>
                <a:cs typeface="Times New Roman"/>
              </a:rPr>
              <a:t>曲率 </a:t>
            </a:r>
            <a:r>
              <a:rPr lang="el-GR" altLang="zh-CN" sz="2000" b="1" i="1">
                <a:latin typeface="Times New Roman" pitchFamily="18" charset="0"/>
                <a:cs typeface="Times New Roman" pitchFamily="18" charset="0"/>
              </a:rPr>
              <a:t>κ</a:t>
            </a:r>
            <a:r>
              <a:rPr lang="en-US" altLang="zh-CN" sz="2000" b="1" i="1">
                <a:latin typeface="Times New Roman" pitchFamily="18" charset="0"/>
                <a:cs typeface="Times New Roman" pitchFamily="18" charset="0"/>
              </a:rPr>
              <a:t> = M</a:t>
            </a:r>
            <a:r>
              <a:rPr lang="en-US" altLang="zh-CN" sz="2000" b="1" baseline="-25000">
                <a:latin typeface="Times New Roman" pitchFamily="18" charset="0"/>
                <a:cs typeface="Times New Roman" pitchFamily="18" charset="0"/>
              </a:rPr>
              <a:t>P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EI </a:t>
            </a:r>
            <a:r>
              <a:rPr lang="en-US" altLang="zh-CN" sz="2000" b="1">
                <a:latin typeface="Times New Roman" pitchFamily="18" charset="0"/>
                <a:cs typeface="Times New Roman" pitchFamily="18" charset="0"/>
              </a:rPr>
              <a:t>;</a:t>
            </a:r>
          </a:p>
          <a:p>
            <a:pPr marL="742950" lvl="1" indent="-285750" algn="just" fontAlgn="base">
              <a:lnSpc>
                <a:spcPct val="120000"/>
              </a:lnSpc>
              <a:spcAft>
                <a:spcPct val="0"/>
              </a:spcAft>
            </a:pPr>
            <a:r>
              <a:rPr lang="en-US" altLang="zh-CN" b="1">
                <a:solidFill>
                  <a:srgbClr val="0033CC"/>
                </a:solidFill>
                <a:latin typeface="Times New Roman" pitchFamily="18" charset="0"/>
                <a:cs typeface="Times New Roman" pitchFamily="18" charset="0"/>
              </a:rPr>
              <a:t>            </a:t>
            </a:r>
            <a:r>
              <a:rPr lang="en-US" altLang="zh-CN" b="1" i="1">
                <a:solidFill>
                  <a:srgbClr val="0033CC"/>
                </a:solidFill>
                <a:latin typeface="Times New Roman" pitchFamily="18" charset="0"/>
                <a:cs typeface="Times New Roman" pitchFamily="18" charset="0"/>
              </a:rPr>
              <a:t>I</a:t>
            </a:r>
            <a:r>
              <a:rPr lang="zh-CN" altLang="en-US" b="1">
                <a:solidFill>
                  <a:srgbClr val="0033CC"/>
                </a:solidFill>
                <a:latin typeface="Times New Roman" pitchFamily="18" charset="0"/>
                <a:cs typeface="Times New Roman" pitchFamily="18" charset="0"/>
              </a:rPr>
              <a:t>是截面惯性矩；</a:t>
            </a:r>
            <a:endParaRPr lang="en-US" altLang="zh-CN" b="1">
              <a:solidFill>
                <a:srgbClr val="0033CC"/>
              </a:solidFill>
              <a:latin typeface="Times New Roman" pitchFamily="18" charset="0"/>
              <a:cs typeface="Times New Roman" pitchFamily="18" charset="0"/>
            </a:endParaRPr>
          </a:p>
          <a:p>
            <a:pPr marL="742950" lvl="1" indent="-285750" algn="just" fontAlgn="base">
              <a:lnSpc>
                <a:spcPct val="120000"/>
              </a:lnSpc>
              <a:spcAft>
                <a:spcPct val="0"/>
              </a:spcAft>
            </a:pPr>
            <a:r>
              <a:rPr lang="en-US" altLang="zh-CN" sz="2000" b="1">
                <a:solidFill>
                  <a:srgbClr val="000000"/>
                </a:solidFill>
                <a:latin typeface="Times New Roman"/>
                <a:cs typeface="Times New Roman"/>
              </a:rPr>
              <a:t>    ⑵ </a:t>
            </a:r>
            <a:r>
              <a:rPr lang="zh-CN" altLang="en-US" sz="2000" b="1">
                <a:solidFill>
                  <a:srgbClr val="000000"/>
                </a:solidFill>
                <a:latin typeface="Times New Roman"/>
                <a:cs typeface="Times New Roman"/>
              </a:rPr>
              <a:t>拉伸 </a:t>
            </a:r>
            <a:r>
              <a:rPr lang="el-GR" altLang="zh-CN" sz="2000" b="1" i="1">
                <a:latin typeface="Times New Roman" pitchFamily="18" charset="0"/>
                <a:cs typeface="Times New Roman" pitchFamily="18" charset="0"/>
              </a:rPr>
              <a:t>ε</a:t>
            </a:r>
            <a:r>
              <a:rPr lang="en-US" altLang="zh-CN" sz="2000" b="1" i="1">
                <a:solidFill>
                  <a:srgbClr val="000000"/>
                </a:solidFill>
                <a:latin typeface="Times New Roman" pitchFamily="18" charset="0"/>
                <a:cs typeface="Times New Roman" pitchFamily="18" charset="0"/>
              </a:rPr>
              <a:t> = </a:t>
            </a:r>
            <a:r>
              <a:rPr lang="en-US" altLang="zh-CN" sz="2000" b="1" i="1">
                <a:latin typeface="Times New Roman"/>
                <a:cs typeface="Times New Roman"/>
              </a:rPr>
              <a:t>F</a:t>
            </a:r>
            <a:r>
              <a:rPr lang="en-US" altLang="zh-CN" sz="2000" b="1" baseline="-25000">
                <a:latin typeface="Times New Roman"/>
                <a:cs typeface="Times New Roman"/>
              </a:rPr>
              <a:t>NP</a:t>
            </a:r>
            <a:r>
              <a:rPr lang="en-US" altLang="zh-CN" sz="2000" b="1" baseline="-25000">
                <a:solidFill>
                  <a:srgbClr val="000000"/>
                </a:solidFill>
                <a:latin typeface="Times New Roman" pitchFamily="18" charset="0"/>
                <a:cs typeface="Times New Roman" pitchFamily="18" charset="0"/>
              </a:rPr>
              <a:t> </a:t>
            </a:r>
            <a:r>
              <a:rPr lang="en-US" altLang="zh-CN" sz="2000" b="1">
                <a:solidFill>
                  <a:srgbClr val="000000"/>
                </a:solidFill>
                <a:latin typeface="Times New Roman" pitchFamily="18" charset="0"/>
                <a:cs typeface="Times New Roman" pitchFamily="18" charset="0"/>
              </a:rPr>
              <a:t>/</a:t>
            </a:r>
            <a:r>
              <a:rPr lang="en-US" altLang="zh-CN" sz="2000" b="1" baseline="-25000">
                <a:solidFill>
                  <a:srgbClr val="000000"/>
                </a:solidFill>
                <a:latin typeface="Times New Roman" pitchFamily="18" charset="0"/>
                <a:cs typeface="Times New Roman" pitchFamily="18" charset="0"/>
              </a:rPr>
              <a:t> </a:t>
            </a:r>
            <a:r>
              <a:rPr lang="en-US" altLang="zh-CN" sz="2000" b="1" i="1">
                <a:solidFill>
                  <a:srgbClr val="000000"/>
                </a:solidFill>
                <a:latin typeface="Times New Roman" pitchFamily="18" charset="0"/>
                <a:cs typeface="Times New Roman" pitchFamily="18" charset="0"/>
              </a:rPr>
              <a:t>EA</a:t>
            </a:r>
            <a:r>
              <a:rPr lang="en-US" altLang="zh-CN" sz="2000" b="1">
                <a:solidFill>
                  <a:srgbClr val="000000"/>
                </a:solidFill>
                <a:latin typeface="Times New Roman" pitchFamily="18" charset="0"/>
                <a:cs typeface="Times New Roman" pitchFamily="18" charset="0"/>
              </a:rPr>
              <a:t>;</a:t>
            </a:r>
            <a:endParaRPr lang="en-US" altLang="zh-CN" b="1">
              <a:solidFill>
                <a:srgbClr val="0033CC"/>
              </a:solidFill>
              <a:latin typeface="Times New Roman"/>
              <a:cs typeface="Times New Roman"/>
            </a:endParaRPr>
          </a:p>
          <a:p>
            <a:pPr marL="742950" lvl="1" indent="-285750" algn="just" fontAlgn="base">
              <a:lnSpc>
                <a:spcPct val="120000"/>
              </a:lnSpc>
              <a:spcAft>
                <a:spcPct val="0"/>
              </a:spcAft>
            </a:pPr>
            <a:r>
              <a:rPr lang="en-US" altLang="zh-CN" b="1">
                <a:solidFill>
                  <a:srgbClr val="0033CC"/>
                </a:solidFill>
                <a:latin typeface="Times New Roman" pitchFamily="18" charset="0"/>
                <a:cs typeface="Times New Roman" pitchFamily="18" charset="0"/>
              </a:rPr>
              <a:t>            </a:t>
            </a:r>
            <a:r>
              <a:rPr lang="en-US" altLang="zh-CN" b="1" i="1">
                <a:solidFill>
                  <a:srgbClr val="0033CC"/>
                </a:solidFill>
                <a:latin typeface="Times New Roman" pitchFamily="18" charset="0"/>
                <a:cs typeface="Times New Roman" pitchFamily="18" charset="0"/>
              </a:rPr>
              <a:t>A</a:t>
            </a:r>
            <a:r>
              <a:rPr lang="zh-CN" altLang="en-US" b="1">
                <a:solidFill>
                  <a:srgbClr val="0033CC"/>
                </a:solidFill>
                <a:latin typeface="Times New Roman" pitchFamily="18" charset="0"/>
                <a:cs typeface="Times New Roman" pitchFamily="18" charset="0"/>
              </a:rPr>
              <a:t>是截面面积；</a:t>
            </a:r>
            <a:endParaRPr lang="en-US" altLang="zh-CN" b="1">
              <a:solidFill>
                <a:srgbClr val="0033CC"/>
              </a:solidFill>
              <a:latin typeface="Times New Roman" pitchFamily="18" charset="0"/>
              <a:cs typeface="Times New Roman" pitchFamily="18" charset="0"/>
            </a:endParaRPr>
          </a:p>
          <a:p>
            <a:pPr marL="742950" lvl="1" indent="-285750" algn="just" fontAlgn="base">
              <a:lnSpc>
                <a:spcPct val="120000"/>
              </a:lnSpc>
              <a:spcAft>
                <a:spcPct val="0"/>
              </a:spcAft>
            </a:pPr>
            <a:r>
              <a:rPr lang="en-US" altLang="zh-CN" sz="2000" b="1">
                <a:solidFill>
                  <a:srgbClr val="000000"/>
                </a:solidFill>
                <a:latin typeface="Times New Roman"/>
                <a:cs typeface="Times New Roman"/>
              </a:rPr>
              <a:t>    ⑶ </a:t>
            </a:r>
            <a:r>
              <a:rPr lang="zh-CN" altLang="en-US" sz="2000" b="1">
                <a:solidFill>
                  <a:srgbClr val="000000"/>
                </a:solidFill>
                <a:latin typeface="Times New Roman"/>
                <a:cs typeface="Times New Roman"/>
              </a:rPr>
              <a:t>剪切 </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i="1">
                <a:solidFill>
                  <a:srgbClr val="000000"/>
                </a:solidFill>
                <a:latin typeface="Times New Roman" pitchFamily="18" charset="0"/>
                <a:cs typeface="Times New Roman" pitchFamily="18" charset="0"/>
              </a:rPr>
              <a:t> = k</a:t>
            </a:r>
            <a:r>
              <a:rPr lang="en-US" altLang="zh-CN" sz="2000" b="1" i="1">
                <a:latin typeface="Times New Roman"/>
                <a:cs typeface="Times New Roman"/>
              </a:rPr>
              <a:t>F</a:t>
            </a:r>
            <a:r>
              <a:rPr lang="en-US" altLang="zh-CN" sz="2000" b="1" baseline="-25000">
                <a:latin typeface="Times New Roman"/>
                <a:cs typeface="Times New Roman"/>
              </a:rPr>
              <a:t>QP</a:t>
            </a:r>
            <a:r>
              <a:rPr lang="en-US" altLang="zh-CN" sz="2000" b="1" baseline="-25000">
                <a:solidFill>
                  <a:srgbClr val="000000"/>
                </a:solidFill>
                <a:latin typeface="Times New Roman" pitchFamily="18" charset="0"/>
                <a:cs typeface="Times New Roman" pitchFamily="18" charset="0"/>
              </a:rPr>
              <a:t> </a:t>
            </a:r>
            <a:r>
              <a:rPr lang="en-US" altLang="zh-CN" sz="2000" b="1">
                <a:solidFill>
                  <a:srgbClr val="000000"/>
                </a:solidFill>
                <a:latin typeface="Times New Roman" pitchFamily="18" charset="0"/>
                <a:cs typeface="Times New Roman" pitchFamily="18" charset="0"/>
              </a:rPr>
              <a:t>/</a:t>
            </a:r>
            <a:r>
              <a:rPr lang="en-US" altLang="zh-CN" sz="2000" b="1" baseline="-25000">
                <a:solidFill>
                  <a:srgbClr val="000000"/>
                </a:solidFill>
                <a:latin typeface="Times New Roman" pitchFamily="18" charset="0"/>
                <a:cs typeface="Times New Roman" pitchFamily="18" charset="0"/>
              </a:rPr>
              <a:t> </a:t>
            </a:r>
            <a:r>
              <a:rPr lang="en-US" altLang="zh-CN" sz="2000" b="1" i="1">
                <a:solidFill>
                  <a:srgbClr val="000000"/>
                </a:solidFill>
                <a:latin typeface="Times New Roman" pitchFamily="18" charset="0"/>
                <a:cs typeface="Times New Roman" pitchFamily="18" charset="0"/>
              </a:rPr>
              <a:t>GA</a:t>
            </a:r>
            <a:r>
              <a:rPr lang="en-US" altLang="zh-CN" sz="2000" b="1">
                <a:solidFill>
                  <a:srgbClr val="000000"/>
                </a:solidFill>
                <a:latin typeface="Times New Roman" pitchFamily="18" charset="0"/>
                <a:cs typeface="Times New Roman" pitchFamily="18" charset="0"/>
              </a:rPr>
              <a:t>;</a:t>
            </a:r>
            <a:r>
              <a:rPr lang="en-US" altLang="zh-CN" sz="2000" b="1">
                <a:solidFill>
                  <a:srgbClr val="0033CC"/>
                </a:solidFill>
                <a:latin typeface="Times New Roman"/>
                <a:cs typeface="Times New Roman"/>
              </a:rPr>
              <a:t>  </a:t>
            </a:r>
            <a:r>
              <a:rPr lang="en-US" altLang="zh-CN" sz="2000" b="1" i="1">
                <a:solidFill>
                  <a:srgbClr val="0033CC"/>
                </a:solidFill>
                <a:latin typeface="Times New Roman" pitchFamily="18" charset="0"/>
                <a:cs typeface="Times New Roman" pitchFamily="18" charset="0"/>
              </a:rPr>
              <a:t>k</a:t>
            </a:r>
            <a:r>
              <a:rPr lang="zh-CN" altLang="en-US" sz="2000" b="1">
                <a:solidFill>
                  <a:srgbClr val="0033CC"/>
                </a:solidFill>
                <a:latin typeface="Times New Roman" pitchFamily="18" charset="0"/>
                <a:cs typeface="Times New Roman" pitchFamily="18" charset="0"/>
              </a:rPr>
              <a:t>是形状系数；</a:t>
            </a:r>
            <a:endParaRPr lang="en-US" altLang="zh-CN" sz="2000" b="1">
              <a:latin typeface="Times New Roman" pitchFamily="18" charset="0"/>
              <a:cs typeface="Times New Roman" pitchFamily="18" charset="0"/>
            </a:endParaRPr>
          </a:p>
        </p:txBody>
      </p:sp>
      <p:sp>
        <p:nvSpPr>
          <p:cNvPr id="68" name="TextBox 67"/>
          <p:cNvSpPr txBox="1"/>
          <p:nvPr/>
        </p:nvSpPr>
        <p:spPr>
          <a:xfrm>
            <a:off x="5357818" y="3697306"/>
            <a:ext cx="2416046" cy="369332"/>
          </a:xfrm>
          <a:prstGeom prst="rect">
            <a:avLst/>
          </a:prstGeom>
          <a:noFill/>
          <a:ln w="28575">
            <a:noFill/>
          </a:ln>
        </p:spPr>
        <p:txBody>
          <a:bodyPr wrap="none" rtlCol="0">
            <a:spAutoFit/>
          </a:bodyPr>
          <a:lstStyle/>
          <a:p>
            <a:r>
              <a:rPr lang="zh-CN" altLang="en-US" b="1">
                <a:solidFill>
                  <a:srgbClr val="0033CC"/>
                </a:solidFill>
              </a:rPr>
              <a:t>下标</a:t>
            </a:r>
            <a:r>
              <a:rPr lang="en-US" altLang="zh-CN" b="1">
                <a:solidFill>
                  <a:srgbClr val="0033CC"/>
                </a:solidFill>
                <a:latin typeface="Times New Roman" pitchFamily="18" charset="0"/>
                <a:cs typeface="Times New Roman" pitchFamily="18" charset="0"/>
              </a:rPr>
              <a:t>P</a:t>
            </a:r>
            <a:r>
              <a:rPr lang="zh-CN" altLang="en-US" b="1">
                <a:solidFill>
                  <a:srgbClr val="0033CC"/>
                </a:solidFill>
              </a:rPr>
              <a:t>表示由荷载引起</a:t>
            </a:r>
          </a:p>
        </p:txBody>
      </p:sp>
      <p:sp>
        <p:nvSpPr>
          <p:cNvPr id="33" name="内容占位符 2"/>
          <p:cNvSpPr txBox="1">
            <a:spLocks/>
          </p:cNvSpPr>
          <p:nvPr/>
        </p:nvSpPr>
        <p:spPr bwMode="auto">
          <a:xfrm>
            <a:off x="472738" y="3108355"/>
            <a:ext cx="8207375" cy="517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1" indent="-342900" algn="l" defTabSz="914400" rtl="0" eaLnBrk="1" fontAlgn="base" latinLnBrk="0" hangingPunct="1">
              <a:lnSpc>
                <a:spcPct val="120000"/>
              </a:lnSpc>
              <a:spcBef>
                <a:spcPct val="20000"/>
              </a:spcBef>
              <a:spcAft>
                <a:spcPct val="0"/>
              </a:spcAft>
              <a:buClrTx/>
              <a:buSzTx/>
              <a:buFont typeface="Wingdings" pitchFamily="2" charset="2"/>
              <a:buChar char="n"/>
              <a:tabLst/>
              <a:defRPr/>
            </a:pPr>
            <a:r>
              <a:rPr kumimoji="0" lang="zh-CN" altLang="en-US" sz="2400" b="1" i="0" u="none" strike="noStrike" kern="0" cap="none" spc="0" normalizeH="0" baseline="0" noProof="0">
                <a:ln>
                  <a:noFill/>
                </a:ln>
                <a:solidFill>
                  <a:srgbClr val="C00000"/>
                </a:solidFill>
                <a:effectLst/>
                <a:uLnTx/>
                <a:uFillTx/>
                <a:latin typeface="+mn-lt"/>
                <a:ea typeface="+mn-ea"/>
              </a:rPr>
              <a:t>荷载引起的位移的计算公式</a:t>
            </a:r>
            <a:endParaRPr kumimoji="0" lang="en-US" altLang="zh-CN" sz="2400" b="1" i="0" u="none" strike="noStrike" kern="0" cap="none" spc="0" normalizeH="0" baseline="0" noProof="0">
              <a:ln>
                <a:noFill/>
              </a:ln>
              <a:solidFill>
                <a:srgbClr val="C00000"/>
              </a:solidFill>
              <a:effectLst/>
              <a:uLnTx/>
              <a:uFillTx/>
              <a:latin typeface="+mn-lt"/>
              <a:ea typeface="+mn-ea"/>
            </a:endParaRPr>
          </a:p>
        </p:txBody>
      </p:sp>
      <p:graphicFrame>
        <p:nvGraphicFramePr>
          <p:cNvPr id="361485" name="Object 13"/>
          <p:cNvGraphicFramePr>
            <a:graphicFrameLocks noChangeAspect="1"/>
          </p:cNvGraphicFramePr>
          <p:nvPr/>
        </p:nvGraphicFramePr>
        <p:xfrm>
          <a:off x="5143504" y="4197372"/>
          <a:ext cx="2089150" cy="2303462"/>
        </p:xfrm>
        <a:graphic>
          <a:graphicData uri="http://schemas.openxmlformats.org/presentationml/2006/ole">
            <mc:AlternateContent xmlns:mc="http://schemas.openxmlformats.org/markup-compatibility/2006">
              <mc:Choice xmlns:v="urn:schemas-microsoft-com:vml" Requires="v">
                <p:oleObj spid="_x0000_s431107" name="AutoCAD Drawing" r:id="rId4" imgW="5743440" imgH="3781440" progId="">
                  <p:embed/>
                </p:oleObj>
              </mc:Choice>
              <mc:Fallback>
                <p:oleObj name="AutoCAD Drawing" r:id="rId4" imgW="5743440" imgH="3781440" progId="">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l="5057" t="17976" r="46368"/>
                      <a:stretch>
                        <a:fillRect/>
                      </a:stretch>
                    </p:blipFill>
                    <p:spPr bwMode="auto">
                      <a:xfrm>
                        <a:off x="5143504" y="4197372"/>
                        <a:ext cx="2089150" cy="23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1" name="组合 70"/>
          <p:cNvGrpSpPr/>
          <p:nvPr/>
        </p:nvGrpSpPr>
        <p:grpSpPr>
          <a:xfrm>
            <a:off x="7429520" y="4197372"/>
            <a:ext cx="1235475" cy="1404484"/>
            <a:chOff x="7500958" y="4357694"/>
            <a:chExt cx="1235475" cy="1404484"/>
          </a:xfrm>
        </p:grpSpPr>
        <p:grpSp>
          <p:nvGrpSpPr>
            <p:cNvPr id="39" name="组合 38"/>
            <p:cNvGrpSpPr/>
            <p:nvPr/>
          </p:nvGrpSpPr>
          <p:grpSpPr>
            <a:xfrm>
              <a:off x="7500958" y="4357694"/>
              <a:ext cx="928694" cy="1000132"/>
              <a:chOff x="7715272" y="4357694"/>
              <a:chExt cx="928694" cy="1000132"/>
            </a:xfrm>
          </p:grpSpPr>
          <p:sp>
            <p:nvSpPr>
              <p:cNvPr id="35" name="矩形 34"/>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37" name="直接连接符 36"/>
              <p:cNvCxnSpPr/>
              <p:nvPr/>
            </p:nvCxnSpPr>
            <p:spPr bwMode="auto">
              <a:xfrm>
                <a:off x="7715272" y="4857760"/>
                <a:ext cx="928694" cy="1588"/>
              </a:xfrm>
              <a:prstGeom prst="line">
                <a:avLst/>
              </a:prstGeom>
              <a:solidFill>
                <a:schemeClr val="accent1"/>
              </a:solidFill>
              <a:ln w="28575" cap="flat" cmpd="sng" algn="ctr">
                <a:solidFill>
                  <a:srgbClr val="00B050"/>
                </a:solidFill>
                <a:prstDash val="lgDashDot"/>
                <a:round/>
                <a:headEnd type="none" w="med" len="med"/>
                <a:tailEnd type="none" w="med" len="med"/>
              </a:ln>
              <a:effectLst/>
            </p:spPr>
          </p:cxnSp>
        </p:grpSp>
        <p:cxnSp>
          <p:nvCxnSpPr>
            <p:cNvPr id="41" name="直接连接符 40"/>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48" name="TextBox 47"/>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50" name="直接连接符 49"/>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1" name="直接连接符 60"/>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3" name="直接连接符 62"/>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grpSp>
        <p:nvGrpSpPr>
          <p:cNvPr id="82" name="组合 81"/>
          <p:cNvGrpSpPr/>
          <p:nvPr/>
        </p:nvGrpSpPr>
        <p:grpSpPr>
          <a:xfrm>
            <a:off x="7429520" y="5483256"/>
            <a:ext cx="1130438" cy="627788"/>
            <a:chOff x="7429520" y="5755960"/>
            <a:chExt cx="1130438" cy="627788"/>
          </a:xfrm>
        </p:grpSpPr>
        <p:sp>
          <p:nvSpPr>
            <p:cNvPr id="75" name="TextBox 74"/>
            <p:cNvSpPr txBox="1"/>
            <p:nvPr/>
          </p:nvSpPr>
          <p:spPr>
            <a:xfrm>
              <a:off x="7429520" y="5857892"/>
              <a:ext cx="113043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I </a:t>
              </a:r>
              <a:r>
                <a:rPr lang="en-US" altLang="zh-CN" b="1">
                  <a:latin typeface="Times New Roman" pitchFamily="18" charset="0"/>
                  <a:cs typeface="Times New Roman" pitchFamily="18" charset="0"/>
                </a:rPr>
                <a:t>= —</a:t>
              </a:r>
              <a:r>
                <a:rPr lang="en-US" altLang="zh-CN" b="1">
                  <a:latin typeface="+mn-ea"/>
                  <a:cs typeface="Times New Roman" pitchFamily="18" charset="0"/>
                </a:rPr>
                <a:t> </a:t>
              </a:r>
              <a:r>
                <a:rPr lang="en-US" altLang="zh-CN" b="1" i="1">
                  <a:latin typeface="Times New Roman" pitchFamily="18" charset="0"/>
                  <a:cs typeface="Times New Roman" pitchFamily="18" charset="0"/>
                </a:rPr>
                <a:t>bh</a:t>
              </a:r>
              <a:r>
                <a:rPr lang="en-US" altLang="zh-CN" b="1" baseline="30000">
                  <a:latin typeface="Times New Roman" pitchFamily="18" charset="0"/>
                  <a:cs typeface="Times New Roman" pitchFamily="18" charset="0"/>
                </a:rPr>
                <a:t>3</a:t>
              </a:r>
              <a:endParaRPr lang="zh-CN" altLang="en-US" b="1" baseline="30000">
                <a:latin typeface="Times New Roman" pitchFamily="18" charset="0"/>
                <a:cs typeface="Times New Roman" pitchFamily="18" charset="0"/>
              </a:endParaRPr>
            </a:p>
          </p:txBody>
        </p:sp>
        <p:sp>
          <p:nvSpPr>
            <p:cNvPr id="76" name="TextBox 75"/>
            <p:cNvSpPr txBox="1"/>
            <p:nvPr/>
          </p:nvSpPr>
          <p:spPr>
            <a:xfrm>
              <a:off x="7838104" y="5755960"/>
              <a:ext cx="300082"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sp>
          <p:nvSpPr>
            <p:cNvPr id="80" name="TextBox 79"/>
            <p:cNvSpPr txBox="1"/>
            <p:nvPr/>
          </p:nvSpPr>
          <p:spPr>
            <a:xfrm>
              <a:off x="7773062" y="6014416"/>
              <a:ext cx="415498"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12</a:t>
              </a:r>
              <a:endParaRPr lang="zh-CN" altLang="en-US" b="1">
                <a:latin typeface="Times New Roman" pitchFamily="18" charset="0"/>
                <a:cs typeface="Times New Roman" pitchFamily="18" charset="0"/>
              </a:endParaRPr>
            </a:p>
          </p:txBody>
        </p:sp>
      </p:grpSp>
      <p:sp>
        <p:nvSpPr>
          <p:cNvPr id="84" name="TextBox 83"/>
          <p:cNvSpPr txBox="1"/>
          <p:nvPr/>
        </p:nvSpPr>
        <p:spPr>
          <a:xfrm>
            <a:off x="7429520" y="6054760"/>
            <a:ext cx="777777"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k </a:t>
            </a:r>
            <a:r>
              <a:rPr lang="en-US" altLang="zh-CN" b="1">
                <a:latin typeface="Times New Roman" pitchFamily="18" charset="0"/>
                <a:cs typeface="Times New Roman" pitchFamily="18" charset="0"/>
              </a:rPr>
              <a:t>=1.2</a:t>
            </a:r>
            <a:endParaRPr lang="zh-CN" altLang="en-US" b="1" baseline="30000">
              <a:latin typeface="Times New Roman" pitchFamily="18" charset="0"/>
              <a:cs typeface="Times New Roman" pitchFamily="18" charset="0"/>
            </a:endParaRPr>
          </a:p>
        </p:txBody>
      </p:sp>
      <p:sp>
        <p:nvSpPr>
          <p:cNvPr id="34" name="TextBox 33"/>
          <p:cNvSpPr txBox="1"/>
          <p:nvPr/>
        </p:nvSpPr>
        <p:spPr>
          <a:xfrm>
            <a:off x="3500430" y="4899610"/>
            <a:ext cx="1569660" cy="369332"/>
          </a:xfrm>
          <a:prstGeom prst="rect">
            <a:avLst/>
          </a:prstGeom>
          <a:noFill/>
          <a:ln w="28575">
            <a:noFill/>
          </a:ln>
        </p:spPr>
        <p:txBody>
          <a:bodyPr wrap="none" rtlCol="0">
            <a:spAutoFit/>
          </a:bodyPr>
          <a:lstStyle/>
          <a:p>
            <a:r>
              <a:rPr lang="zh-CN" altLang="en-US" b="1">
                <a:solidFill>
                  <a:srgbClr val="C00000"/>
                </a:solidFill>
              </a:rPr>
              <a:t>前提是什么？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wipe(down)">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wipe(down)">
                                      <p:cBhvr>
                                        <p:cTn id="17" dur="500"/>
                                        <p:tgtEl>
                                          <p:spTgt spid="3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9">
                                            <p:txEl>
                                              <p:pRg st="0" end="0"/>
                                            </p:txEl>
                                          </p:spTgt>
                                        </p:tgtEl>
                                        <p:attrNameLst>
                                          <p:attrName>style.visibility</p:attrName>
                                        </p:attrNameLst>
                                      </p:cBhvr>
                                      <p:to>
                                        <p:strVal val="visible"/>
                                      </p:to>
                                    </p:set>
                                    <p:animEffect transition="in" filter="wipe(down)">
                                      <p:cBhvr>
                                        <p:cTn id="22" dur="500"/>
                                        <p:tgtEl>
                                          <p:spTgt spid="4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fill="hold"/>
                                        <p:tgtEl>
                                          <p:spTgt spid="68"/>
                                        </p:tgtEl>
                                        <p:attrNameLst>
                                          <p:attrName>ppt_x</p:attrName>
                                        </p:attrNameLst>
                                      </p:cBhvr>
                                      <p:tavLst>
                                        <p:tav tm="0">
                                          <p:val>
                                            <p:strVal val="1+#ppt_w/2"/>
                                          </p:val>
                                        </p:tav>
                                        <p:tav tm="100000">
                                          <p:val>
                                            <p:strVal val="#ppt_x"/>
                                          </p:val>
                                        </p:tav>
                                      </p:tavLst>
                                    </p:anim>
                                    <p:anim calcmode="lin" valueType="num">
                                      <p:cBhvr additive="base">
                                        <p:cTn id="28"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9">
                                            <p:txEl>
                                              <p:pRg st="1" end="1"/>
                                            </p:txEl>
                                          </p:spTgt>
                                        </p:tgtEl>
                                        <p:attrNameLst>
                                          <p:attrName>style.visibility</p:attrName>
                                        </p:attrNameLst>
                                      </p:cBhvr>
                                      <p:to>
                                        <p:strVal val="visible"/>
                                      </p:to>
                                    </p:set>
                                    <p:animEffect transition="in" filter="wipe(down)">
                                      <p:cBhvr>
                                        <p:cTn id="33" dur="500"/>
                                        <p:tgtEl>
                                          <p:spTgt spid="49">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9">
                                            <p:txEl>
                                              <p:pRg st="2" end="2"/>
                                            </p:txEl>
                                          </p:spTgt>
                                        </p:tgtEl>
                                        <p:attrNameLst>
                                          <p:attrName>style.visibility</p:attrName>
                                        </p:attrNameLst>
                                      </p:cBhvr>
                                      <p:to>
                                        <p:strVal val="visible"/>
                                      </p:to>
                                    </p:set>
                                    <p:animEffect transition="in" filter="wipe(down)">
                                      <p:cBhvr>
                                        <p:cTn id="38" dur="500"/>
                                        <p:tgtEl>
                                          <p:spTgt spid="49">
                                            <p:txEl>
                                              <p:pRg st="2" end="2"/>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49">
                                            <p:txEl>
                                              <p:pRg st="3" end="3"/>
                                            </p:txEl>
                                          </p:spTgt>
                                        </p:tgtEl>
                                        <p:attrNameLst>
                                          <p:attrName>style.visibility</p:attrName>
                                        </p:attrNameLst>
                                      </p:cBhvr>
                                      <p:to>
                                        <p:strVal val="visible"/>
                                      </p:to>
                                    </p:set>
                                    <p:animEffect transition="in" filter="wipe(down)">
                                      <p:cBhvr>
                                        <p:cTn id="41" dur="500"/>
                                        <p:tgtEl>
                                          <p:spTgt spid="49">
                                            <p:txEl>
                                              <p:pRg st="3" end="3"/>
                                            </p:txEl>
                                          </p:spTgt>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361485"/>
                                        </p:tgtEl>
                                        <p:attrNameLst>
                                          <p:attrName>style.visibility</p:attrName>
                                        </p:attrNameLst>
                                      </p:cBhvr>
                                      <p:to>
                                        <p:strVal val="visible"/>
                                      </p:to>
                                    </p:set>
                                    <p:animEffect transition="in" filter="wipe(left)">
                                      <p:cBhvr>
                                        <p:cTn id="45" dur="500"/>
                                        <p:tgtEl>
                                          <p:spTgt spid="361485"/>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71"/>
                                        </p:tgtEl>
                                        <p:attrNameLst>
                                          <p:attrName>style.visibility</p:attrName>
                                        </p:attrNameLst>
                                      </p:cBhvr>
                                      <p:to>
                                        <p:strVal val="visible"/>
                                      </p:to>
                                    </p:set>
                                    <p:anim calcmode="lin" valueType="num">
                                      <p:cBhvr additive="base">
                                        <p:cTn id="50" dur="500" fill="hold"/>
                                        <p:tgtEl>
                                          <p:spTgt spid="71"/>
                                        </p:tgtEl>
                                        <p:attrNameLst>
                                          <p:attrName>ppt_x</p:attrName>
                                        </p:attrNameLst>
                                      </p:cBhvr>
                                      <p:tavLst>
                                        <p:tav tm="0">
                                          <p:val>
                                            <p:strVal val="#ppt_x"/>
                                          </p:val>
                                        </p:tav>
                                        <p:tav tm="100000">
                                          <p:val>
                                            <p:strVal val="#ppt_x"/>
                                          </p:val>
                                        </p:tav>
                                      </p:tavLst>
                                    </p:anim>
                                    <p:anim calcmode="lin" valueType="num">
                                      <p:cBhvr additive="base">
                                        <p:cTn id="51"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82"/>
                                        </p:tgtEl>
                                        <p:attrNameLst>
                                          <p:attrName>style.visibility</p:attrName>
                                        </p:attrNameLst>
                                      </p:cBhvr>
                                      <p:to>
                                        <p:strVal val="visible"/>
                                      </p:to>
                                    </p:set>
                                    <p:anim calcmode="lin" valueType="num">
                                      <p:cBhvr additive="base">
                                        <p:cTn id="56" dur="500" fill="hold"/>
                                        <p:tgtEl>
                                          <p:spTgt spid="82"/>
                                        </p:tgtEl>
                                        <p:attrNameLst>
                                          <p:attrName>ppt_x</p:attrName>
                                        </p:attrNameLst>
                                      </p:cBhvr>
                                      <p:tavLst>
                                        <p:tav tm="0">
                                          <p:val>
                                            <p:strVal val="#ppt_x"/>
                                          </p:val>
                                        </p:tav>
                                        <p:tav tm="100000">
                                          <p:val>
                                            <p:strVal val="#ppt_x"/>
                                          </p:val>
                                        </p:tav>
                                      </p:tavLst>
                                    </p:anim>
                                    <p:anim calcmode="lin" valueType="num">
                                      <p:cBhvr additive="base">
                                        <p:cTn id="57" dur="500" fill="hold"/>
                                        <p:tgtEl>
                                          <p:spTgt spid="82"/>
                                        </p:tgtEl>
                                        <p:attrNameLst>
                                          <p:attrName>ppt_y</p:attrName>
                                        </p:attrNameLst>
                                      </p:cBhvr>
                                      <p:tavLst>
                                        <p:tav tm="0">
                                          <p:val>
                                            <p:strVal val="1+#ppt_h/2"/>
                                          </p:val>
                                        </p:tav>
                                        <p:tav tm="100000">
                                          <p:val>
                                            <p:strVal val="#ppt_y"/>
                                          </p:val>
                                        </p:tav>
                                      </p:tavLst>
                                    </p:anim>
                                  </p:childTnLst>
                                </p:cTn>
                              </p:par>
                            </p:childTnLst>
                          </p:cTn>
                        </p:par>
                        <p:par>
                          <p:cTn id="58" fill="hold">
                            <p:stCondLst>
                              <p:cond delay="500"/>
                            </p:stCondLst>
                            <p:childTnLst>
                              <p:par>
                                <p:cTn id="59" presetID="2" presetClass="entr" presetSubtype="4"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 calcmode="lin" valueType="num">
                                      <p:cBhvr additive="base">
                                        <p:cTn id="61" dur="500" fill="hold"/>
                                        <p:tgtEl>
                                          <p:spTgt spid="34"/>
                                        </p:tgtEl>
                                        <p:attrNameLst>
                                          <p:attrName>ppt_x</p:attrName>
                                        </p:attrNameLst>
                                      </p:cBhvr>
                                      <p:tavLst>
                                        <p:tav tm="0">
                                          <p:val>
                                            <p:strVal val="#ppt_x"/>
                                          </p:val>
                                        </p:tav>
                                        <p:tav tm="100000">
                                          <p:val>
                                            <p:strVal val="#ppt_x"/>
                                          </p:val>
                                        </p:tav>
                                      </p:tavLst>
                                    </p:anim>
                                    <p:anim calcmode="lin" valueType="num">
                                      <p:cBhvr additive="base">
                                        <p:cTn id="6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49">
                                            <p:txEl>
                                              <p:pRg st="4" end="4"/>
                                            </p:txEl>
                                          </p:spTgt>
                                        </p:tgtEl>
                                        <p:attrNameLst>
                                          <p:attrName>style.visibility</p:attrName>
                                        </p:attrNameLst>
                                      </p:cBhvr>
                                      <p:to>
                                        <p:strVal val="visible"/>
                                      </p:to>
                                    </p:set>
                                    <p:animEffect transition="in" filter="wipe(down)">
                                      <p:cBhvr>
                                        <p:cTn id="67" dur="500"/>
                                        <p:tgtEl>
                                          <p:spTgt spid="49">
                                            <p:txEl>
                                              <p:pRg st="4" end="4"/>
                                            </p:txEl>
                                          </p:spTgt>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49">
                                            <p:txEl>
                                              <p:pRg st="5" end="5"/>
                                            </p:txEl>
                                          </p:spTgt>
                                        </p:tgtEl>
                                        <p:attrNameLst>
                                          <p:attrName>style.visibility</p:attrName>
                                        </p:attrNameLst>
                                      </p:cBhvr>
                                      <p:to>
                                        <p:strVal val="visible"/>
                                      </p:to>
                                    </p:set>
                                    <p:animEffect transition="in" filter="wipe(down)">
                                      <p:cBhvr>
                                        <p:cTn id="70" dur="500"/>
                                        <p:tgtEl>
                                          <p:spTgt spid="49">
                                            <p:txEl>
                                              <p:pRg st="5" end="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49">
                                            <p:txEl>
                                              <p:pRg st="6" end="6"/>
                                            </p:txEl>
                                          </p:spTgt>
                                        </p:tgtEl>
                                        <p:attrNameLst>
                                          <p:attrName>style.visibility</p:attrName>
                                        </p:attrNameLst>
                                      </p:cBhvr>
                                      <p:to>
                                        <p:strVal val="visible"/>
                                      </p:to>
                                    </p:set>
                                    <p:animEffect transition="in" filter="wipe(down)">
                                      <p:cBhvr>
                                        <p:cTn id="75" dur="500"/>
                                        <p:tgtEl>
                                          <p:spTgt spid="49">
                                            <p:txEl>
                                              <p:pRg st="6" end="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84"/>
                                        </p:tgtEl>
                                        <p:attrNameLst>
                                          <p:attrName>style.visibility</p:attrName>
                                        </p:attrNameLst>
                                      </p:cBhvr>
                                      <p:to>
                                        <p:strVal val="visible"/>
                                      </p:to>
                                    </p:set>
                                    <p:anim calcmode="lin" valueType="num">
                                      <p:cBhvr additive="base">
                                        <p:cTn id="80" dur="500" fill="hold"/>
                                        <p:tgtEl>
                                          <p:spTgt spid="84"/>
                                        </p:tgtEl>
                                        <p:attrNameLst>
                                          <p:attrName>ppt_x</p:attrName>
                                        </p:attrNameLst>
                                      </p:cBhvr>
                                      <p:tavLst>
                                        <p:tav tm="0">
                                          <p:val>
                                            <p:strVal val="#ppt_x"/>
                                          </p:val>
                                        </p:tav>
                                        <p:tav tm="100000">
                                          <p:val>
                                            <p:strVal val="#ppt_x"/>
                                          </p:val>
                                        </p:tav>
                                      </p:tavLst>
                                    </p:anim>
                                    <p:anim calcmode="lin" valueType="num">
                                      <p:cBhvr additive="base">
                                        <p:cTn id="81"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allAtOnce"/>
      <p:bldP spid="49" grpId="0" uiExpand="1" build="allAtOnce"/>
      <p:bldP spid="68" grpId="0"/>
      <p:bldP spid="33" grpId="0" build="allAtOnce"/>
      <p:bldP spid="84" grpId="0"/>
      <p:bldP spid="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荷载引起的位移的计算公式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500306"/>
            <a:ext cx="8245864" cy="126188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两类力</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⑴ </a:t>
            </a:r>
            <a:r>
              <a:rPr lang="zh-CN" altLang="en-US" sz="2000" b="1">
                <a:latin typeface="Times New Roman" pitchFamily="18" charset="0"/>
                <a:cs typeface="Times New Roman" pitchFamily="18" charset="0"/>
              </a:rPr>
              <a:t>实 际 荷 载 引 起 的 内 力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NP</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QP</a:t>
            </a:r>
            <a:r>
              <a:rPr lang="zh-CN" altLang="en-US" sz="2000" b="1">
                <a:latin typeface="Times New Roman" pitchFamily="18" charset="0"/>
                <a:cs typeface="Times New Roman" pitchFamily="18" charset="0"/>
              </a:rPr>
              <a:t> ；</a:t>
            </a:r>
            <a:endParaRPr lang="en-US" altLang="zh-CN" sz="2000" b="1" baseline="-25000">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虚设单位荷载引起的内力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zh-CN" altLang="en-US" sz="2000" b="1">
                <a:latin typeface="Times New Roman" pitchFamily="18" charset="0"/>
                <a:cs typeface="Times New Roman" pitchFamily="18" charset="0"/>
              </a:rPr>
              <a:t> ；</a:t>
            </a:r>
            <a:endParaRPr lang="en-US" altLang="zh-CN" sz="2000" b="1">
              <a:latin typeface="Times New Roman" pitchFamily="18" charset="0"/>
              <a:cs typeface="Times New Roman" pitchFamily="18" charset="0"/>
            </a:endParaRPr>
          </a:p>
        </p:txBody>
      </p:sp>
      <p:graphicFrame>
        <p:nvGraphicFramePr>
          <p:cNvPr id="432131" name="Object 3"/>
          <p:cNvGraphicFramePr>
            <a:graphicFrameLocks noChangeAspect="1"/>
          </p:cNvGraphicFramePr>
          <p:nvPr/>
        </p:nvGraphicFramePr>
        <p:xfrm>
          <a:off x="2266968" y="1785926"/>
          <a:ext cx="4948238" cy="709612"/>
        </p:xfrm>
        <a:graphic>
          <a:graphicData uri="http://schemas.openxmlformats.org/presentationml/2006/ole">
            <mc:AlternateContent xmlns:mc="http://schemas.openxmlformats.org/markup-compatibility/2006">
              <mc:Choice xmlns:v="urn:schemas-microsoft-com:vml" Requires="v">
                <p:oleObj spid="_x0000_s432132" name="Equation" r:id="rId4" imgW="3098520" imgH="444240" progId="Equation.DSMT4">
                  <p:embed/>
                </p:oleObj>
              </mc:Choice>
              <mc:Fallback>
                <p:oleObj name="Equation" r:id="rId4" imgW="3098520" imgH="44424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6968" y="1785926"/>
                        <a:ext cx="4948238"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6" name="组合 55"/>
          <p:cNvGrpSpPr/>
          <p:nvPr/>
        </p:nvGrpSpPr>
        <p:grpSpPr>
          <a:xfrm>
            <a:off x="4959684" y="3384858"/>
            <a:ext cx="1299532" cy="4786"/>
            <a:chOff x="5000628" y="3313420"/>
            <a:chExt cx="1299532" cy="4786"/>
          </a:xfrm>
        </p:grpSpPr>
        <p:cxnSp>
          <p:nvCxnSpPr>
            <p:cNvPr id="43" name="直接连接符 42"/>
            <p:cNvCxnSpPr/>
            <p:nvPr/>
          </p:nvCxnSpPr>
          <p:spPr bwMode="auto">
            <a:xfrm>
              <a:off x="5000628" y="3313420"/>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p:nvPr/>
          </p:nvCxnSpPr>
          <p:spPr bwMode="auto">
            <a:xfrm>
              <a:off x="5487046" y="3316618"/>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p:nvPr/>
          </p:nvCxnSpPr>
          <p:spPr bwMode="auto">
            <a:xfrm>
              <a:off x="6085846" y="3313420"/>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57" name="Rectangle 6"/>
          <p:cNvSpPr>
            <a:spLocks noChangeArrowheads="1"/>
          </p:cNvSpPr>
          <p:nvPr/>
        </p:nvSpPr>
        <p:spPr bwMode="auto">
          <a:xfrm>
            <a:off x="469540" y="3838709"/>
            <a:ext cx="8245864" cy="1661993"/>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内力的正负号规定</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⑴ </a:t>
            </a:r>
            <a:r>
              <a:rPr lang="zh-CN" altLang="en-US" sz="2000" b="1">
                <a:latin typeface="Times New Roman" pitchFamily="18" charset="0"/>
                <a:cs typeface="Times New Roman" pitchFamily="18" charset="0"/>
              </a:rPr>
              <a:t>轴力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NP</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以拉力为正；</a:t>
            </a:r>
            <a:endParaRPr lang="en-US" altLang="zh-CN" sz="2000" b="1" baseline="-25000">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剪力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QP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使微段顺时针转动者为正；</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⑶ </a:t>
            </a:r>
            <a:r>
              <a:rPr lang="zh-CN" altLang="en-US" sz="2000" b="1">
                <a:latin typeface="Times New Roman" pitchFamily="18" charset="0"/>
                <a:cs typeface="Times New Roman" pitchFamily="18" charset="0"/>
              </a:rPr>
              <a:t>弯矩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   —</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 与</a:t>
            </a:r>
            <a:r>
              <a:rPr lang="en-US" altLang="zh-CN" sz="2000" b="1" i="1">
                <a:latin typeface="Times New Roman" pitchFamily="18" charset="0"/>
                <a:cs typeface="Times New Roman" pitchFamily="18" charset="0"/>
              </a:rPr>
              <a:t> M</a:t>
            </a:r>
            <a:r>
              <a:rPr lang="zh-CN" altLang="en-US" sz="2000" b="1">
                <a:latin typeface="Times New Roman" pitchFamily="18" charset="0"/>
                <a:cs typeface="Times New Roman" pitchFamily="18" charset="0"/>
              </a:rPr>
              <a:t>使杆件同侧受拉，则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 </a:t>
            </a:r>
            <a:r>
              <a:rPr lang="zh-CN" altLang="en-US" sz="2000" b="1">
                <a:latin typeface="Times New Roman" pitchFamily="18" charset="0"/>
                <a:cs typeface="Times New Roman" pitchFamily="18" charset="0"/>
              </a:rPr>
              <a:t>为正；</a:t>
            </a:r>
            <a:r>
              <a:rPr lang="en-US" altLang="zh-CN" sz="2000" b="1" i="1">
                <a:latin typeface="Times New Roman" pitchFamily="18" charset="0"/>
                <a:cs typeface="Times New Roman" pitchFamily="18" charset="0"/>
              </a:rPr>
              <a:t> </a:t>
            </a:r>
            <a:endParaRPr lang="en-US" altLang="zh-CN" sz="2000" b="1">
              <a:latin typeface="Times New Roman" pitchFamily="18" charset="0"/>
              <a:cs typeface="Times New Roman" pitchFamily="18" charset="0"/>
            </a:endParaRPr>
          </a:p>
        </p:txBody>
      </p:sp>
      <p:cxnSp>
        <p:nvCxnSpPr>
          <p:cNvPr id="58" name="直接连接符 57"/>
          <p:cNvCxnSpPr/>
          <p:nvPr/>
        </p:nvCxnSpPr>
        <p:spPr bwMode="auto">
          <a:xfrm>
            <a:off x="2871136" y="434207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p:cNvCxnSpPr/>
          <p:nvPr/>
        </p:nvCxnSpPr>
        <p:spPr bwMode="auto">
          <a:xfrm>
            <a:off x="2874334" y="4729755"/>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0" name="直接连接符 59"/>
          <p:cNvCxnSpPr/>
          <p:nvPr/>
        </p:nvCxnSpPr>
        <p:spPr bwMode="auto">
          <a:xfrm>
            <a:off x="2878388" y="512788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2" name="直接连接符 61"/>
          <p:cNvCxnSpPr/>
          <p:nvPr/>
        </p:nvCxnSpPr>
        <p:spPr bwMode="auto">
          <a:xfrm>
            <a:off x="7303490" y="5114241"/>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4" name="TextBox 63"/>
          <p:cNvSpPr txBox="1"/>
          <p:nvPr/>
        </p:nvSpPr>
        <p:spPr>
          <a:xfrm>
            <a:off x="1785918" y="5743534"/>
            <a:ext cx="3518912" cy="400110"/>
          </a:xfrm>
          <a:prstGeom prst="rect">
            <a:avLst/>
          </a:prstGeom>
          <a:noFill/>
          <a:ln w="28575">
            <a:noFill/>
          </a:ln>
        </p:spPr>
        <p:txBody>
          <a:bodyPr wrap="none" rtlCol="0">
            <a:spAutoFit/>
          </a:bodyPr>
          <a:lstStyle/>
          <a:p>
            <a:r>
              <a:rPr lang="zh-CN" altLang="en-US" sz="2000" b="1">
                <a:solidFill>
                  <a:srgbClr val="C00000"/>
                </a:solidFill>
              </a:rPr>
              <a:t>定义正负号一定要便于计算！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wipe(down)">
                                      <p:cBhvr>
                                        <p:cTn id="12" dur="500"/>
                                        <p:tgtEl>
                                          <p:spTgt spid="46">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6">
                                            <p:txEl>
                                              <p:pRg st="2" end="2"/>
                                            </p:txEl>
                                          </p:spTgt>
                                        </p:tgtEl>
                                        <p:attrNameLst>
                                          <p:attrName>style.visibility</p:attrName>
                                        </p:attrNameLst>
                                      </p:cBhvr>
                                      <p:to>
                                        <p:strVal val="visible"/>
                                      </p:to>
                                    </p:set>
                                    <p:animEffect transition="in" filter="wipe(down)">
                                      <p:cBhvr>
                                        <p:cTn id="15" dur="500"/>
                                        <p:tgtEl>
                                          <p:spTgt spid="46">
                                            <p:txEl>
                                              <p:pRg st="2" end="2"/>
                                            </p:txEl>
                                          </p:spTgt>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7">
                                            <p:txEl>
                                              <p:pRg st="0" end="0"/>
                                            </p:txEl>
                                          </p:spTgt>
                                        </p:tgtEl>
                                        <p:attrNameLst>
                                          <p:attrName>style.visibility</p:attrName>
                                        </p:attrNameLst>
                                      </p:cBhvr>
                                      <p:to>
                                        <p:strVal val="visible"/>
                                      </p:to>
                                    </p:set>
                                    <p:animEffect transition="in" filter="wipe(down)">
                                      <p:cBhvr>
                                        <p:cTn id="23" dur="500"/>
                                        <p:tgtEl>
                                          <p:spTgt spid="5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7">
                                            <p:txEl>
                                              <p:pRg st="1" end="1"/>
                                            </p:txEl>
                                          </p:spTgt>
                                        </p:tgtEl>
                                        <p:attrNameLst>
                                          <p:attrName>style.visibility</p:attrName>
                                        </p:attrNameLst>
                                      </p:cBhvr>
                                      <p:to>
                                        <p:strVal val="visible"/>
                                      </p:to>
                                    </p:set>
                                    <p:animEffect transition="in" filter="wipe(down)">
                                      <p:cBhvr>
                                        <p:cTn id="28" dur="500"/>
                                        <p:tgtEl>
                                          <p:spTgt spid="57">
                                            <p:txEl>
                                              <p:pRg st="1" end="1"/>
                                            </p:txEl>
                                          </p:spTgt>
                                        </p:tgtEl>
                                      </p:cBhvr>
                                    </p:animEffect>
                                  </p:childTnLst>
                                </p:cTn>
                              </p:par>
                              <p:par>
                                <p:cTn id="29" presetID="1"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7">
                                            <p:txEl>
                                              <p:pRg st="2" end="2"/>
                                            </p:txEl>
                                          </p:spTgt>
                                        </p:tgtEl>
                                        <p:attrNameLst>
                                          <p:attrName>style.visibility</p:attrName>
                                        </p:attrNameLst>
                                      </p:cBhvr>
                                      <p:to>
                                        <p:strVal val="visible"/>
                                      </p:to>
                                    </p:set>
                                    <p:animEffect transition="in" filter="wipe(down)">
                                      <p:cBhvr>
                                        <p:cTn id="35" dur="500"/>
                                        <p:tgtEl>
                                          <p:spTgt spid="57">
                                            <p:txEl>
                                              <p:pRg st="2" end="2"/>
                                            </p:txEl>
                                          </p:spTgt>
                                        </p:tgtEl>
                                      </p:cBhvr>
                                    </p:animEffect>
                                  </p:childTnLst>
                                </p:cTn>
                              </p:par>
                              <p:par>
                                <p:cTn id="36" presetID="1" presetClass="entr" presetSubtype="0" fill="hold" nodeType="withEffect">
                                  <p:stCondLst>
                                    <p:cond delay="0"/>
                                  </p:stCondLst>
                                  <p:childTnLst>
                                    <p:set>
                                      <p:cBhvr>
                                        <p:cTn id="37" dur="1" fill="hold">
                                          <p:stCondLst>
                                            <p:cond delay="0"/>
                                          </p:stCondLst>
                                        </p:cTn>
                                        <p:tgtEl>
                                          <p:spTgt spid="5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7">
                                            <p:txEl>
                                              <p:pRg st="3" end="3"/>
                                            </p:txEl>
                                          </p:spTgt>
                                        </p:tgtEl>
                                        <p:attrNameLst>
                                          <p:attrName>style.visibility</p:attrName>
                                        </p:attrNameLst>
                                      </p:cBhvr>
                                      <p:to>
                                        <p:strVal val="visible"/>
                                      </p:to>
                                    </p:set>
                                    <p:animEffect transition="in" filter="wipe(down)">
                                      <p:cBhvr>
                                        <p:cTn id="42" dur="500"/>
                                        <p:tgtEl>
                                          <p:spTgt spid="57">
                                            <p:txEl>
                                              <p:pRg st="3" end="3"/>
                                            </p:txEl>
                                          </p:spTgt>
                                        </p:tgtEl>
                                      </p:cBhvr>
                                    </p:animEffec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animEffect transition="in" filter="box(in)">
                                      <p:cBhvr>
                                        <p:cTn id="5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allAtOnce"/>
      <p:bldP spid="57" grpId="0" uiExpand="1" build="allAtOnce"/>
      <p:bldP spid="6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荷载引起的位移的计算公式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500306"/>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例：正负号的规范用法</a:t>
            </a:r>
            <a:endParaRPr lang="en-US" altLang="zh-CN" sz="2000" b="1">
              <a:latin typeface="Times New Roman" pitchFamily="18" charset="0"/>
              <a:cs typeface="Times New Roman" pitchFamily="18" charset="0"/>
            </a:endParaRPr>
          </a:p>
        </p:txBody>
      </p:sp>
      <p:graphicFrame>
        <p:nvGraphicFramePr>
          <p:cNvPr id="432131" name="Object 3"/>
          <p:cNvGraphicFramePr>
            <a:graphicFrameLocks noChangeAspect="1"/>
          </p:cNvGraphicFramePr>
          <p:nvPr/>
        </p:nvGraphicFramePr>
        <p:xfrm>
          <a:off x="2266968" y="1785926"/>
          <a:ext cx="4948238" cy="709612"/>
        </p:xfrm>
        <a:graphic>
          <a:graphicData uri="http://schemas.openxmlformats.org/presentationml/2006/ole">
            <mc:AlternateContent xmlns:mc="http://schemas.openxmlformats.org/markup-compatibility/2006">
              <mc:Choice xmlns:v="urn:schemas-microsoft-com:vml" Requires="v">
                <p:oleObj spid="_x0000_s435203" name="Equation" r:id="rId4" imgW="3098520" imgH="444240" progId="Equation.DSMT4">
                  <p:embed/>
                </p:oleObj>
              </mc:Choice>
              <mc:Fallback>
                <p:oleObj name="Equation" r:id="rId4" imgW="3098520" imgH="4442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6968" y="1785926"/>
                        <a:ext cx="4948238"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组合 22"/>
          <p:cNvGrpSpPr/>
          <p:nvPr/>
        </p:nvGrpSpPr>
        <p:grpSpPr>
          <a:xfrm>
            <a:off x="1357290" y="3022285"/>
            <a:ext cx="2281950" cy="1835475"/>
            <a:chOff x="785786" y="3071810"/>
            <a:chExt cx="2281950" cy="1835475"/>
          </a:xfrm>
        </p:grpSpPr>
        <p:grpSp>
          <p:nvGrpSpPr>
            <p:cNvPr id="20" name="组合 19"/>
            <p:cNvGrpSpPr/>
            <p:nvPr/>
          </p:nvGrpSpPr>
          <p:grpSpPr>
            <a:xfrm>
              <a:off x="785786" y="3071810"/>
              <a:ext cx="1643074" cy="1835475"/>
              <a:chOff x="571472" y="3071810"/>
              <a:chExt cx="1643074" cy="1835475"/>
            </a:xfrm>
          </p:grpSpPr>
          <p:pic>
            <p:nvPicPr>
              <p:cNvPr id="435203" name="Picture 3"/>
              <p:cNvPicPr>
                <a:picLocks noChangeAspect="1" noChangeArrowheads="1"/>
              </p:cNvPicPr>
              <p:nvPr/>
            </p:nvPicPr>
            <p:blipFill>
              <a:blip r:embed="rId6"/>
              <a:srcRect/>
              <a:stretch>
                <a:fillRect/>
              </a:stretch>
            </p:blipFill>
            <p:spPr bwMode="auto">
              <a:xfrm>
                <a:off x="571472" y="3143248"/>
                <a:ext cx="1643074" cy="1764037"/>
              </a:xfrm>
              <a:prstGeom prst="rect">
                <a:avLst/>
              </a:prstGeom>
              <a:noFill/>
              <a:ln w="9525">
                <a:noFill/>
                <a:miter lim="800000"/>
                <a:headEnd/>
                <a:tailEnd/>
              </a:ln>
              <a:effectLst/>
            </p:spPr>
          </p:pic>
          <p:sp>
            <p:nvSpPr>
              <p:cNvPr id="18" name="TextBox 17"/>
              <p:cNvSpPr txBox="1"/>
              <p:nvPr/>
            </p:nvSpPr>
            <p:spPr>
              <a:xfrm>
                <a:off x="642910" y="3929066"/>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9" name="TextBox 18"/>
              <p:cNvSpPr txBox="1"/>
              <p:nvPr/>
            </p:nvSpPr>
            <p:spPr>
              <a:xfrm>
                <a:off x="1000100" y="3071810"/>
                <a:ext cx="341760"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P</a:t>
                </a:r>
                <a:endParaRPr lang="zh-CN" altLang="en-US" sz="2000" b="1" i="1">
                  <a:solidFill>
                    <a:srgbClr val="C00000"/>
                  </a:solidFill>
                  <a:latin typeface="Times New Roman" pitchFamily="18" charset="0"/>
                  <a:cs typeface="Times New Roman" pitchFamily="18" charset="0"/>
                </a:endParaRPr>
              </a:p>
            </p:txBody>
          </p:sp>
        </p:grpSp>
        <p:sp>
          <p:nvSpPr>
            <p:cNvPr id="22" name="TextBox 21"/>
            <p:cNvSpPr txBox="1"/>
            <p:nvPr/>
          </p:nvSpPr>
          <p:spPr>
            <a:xfrm>
              <a:off x="1714480" y="3429000"/>
              <a:ext cx="1353256" cy="400110"/>
            </a:xfrm>
            <a:prstGeom prst="rect">
              <a:avLst/>
            </a:prstGeom>
            <a:noFill/>
            <a:ln w="28575">
              <a:noFill/>
            </a:ln>
          </p:spPr>
          <p:txBody>
            <a:bodyPr wrap="none" rtlCol="0">
              <a:spAutoFit/>
            </a:bodyPr>
            <a:lstStyle/>
            <a:p>
              <a:r>
                <a:rPr lang="zh-CN" altLang="en-US" sz="2000" b="1"/>
                <a:t>求</a:t>
              </a:r>
              <a:r>
                <a:rPr lang="en-US" altLang="zh-CN" sz="2000" b="1" i="1">
                  <a:latin typeface="Times New Roman" pitchFamily="18" charset="0"/>
                  <a:cs typeface="Times New Roman" pitchFamily="18" charset="0"/>
                </a:rPr>
                <a:t>a</a:t>
              </a:r>
              <a:r>
                <a:rPr lang="zh-CN" altLang="en-US" sz="2000" b="1"/>
                <a:t>杆轴力</a:t>
              </a:r>
            </a:p>
          </p:txBody>
        </p:sp>
      </p:grpSp>
      <p:sp>
        <p:nvSpPr>
          <p:cNvPr id="24" name="TextBox 23"/>
          <p:cNvSpPr txBox="1"/>
          <p:nvPr/>
        </p:nvSpPr>
        <p:spPr>
          <a:xfrm>
            <a:off x="428596" y="4786322"/>
            <a:ext cx="4503272" cy="1508105"/>
          </a:xfrm>
          <a:prstGeom prst="rect">
            <a:avLst/>
          </a:prstGeom>
          <a:noFill/>
          <a:ln w="28575">
            <a:noFill/>
          </a:ln>
        </p:spPr>
        <p:txBody>
          <a:bodyPr wrap="square" rtlCol="0">
            <a:spAutoFit/>
          </a:bodyPr>
          <a:lstStyle/>
          <a:p>
            <a:pPr>
              <a:lnSpc>
                <a:spcPct val="130000"/>
              </a:lnSpc>
              <a:buFont typeface="Arial" pitchFamily="34" charset="0"/>
              <a:buChar char="•"/>
            </a:pPr>
            <a:r>
              <a:rPr lang="zh-CN" altLang="en-US" sz="2000" b="1"/>
              <a:t> 表述一：</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en-US" altLang="zh-CN" sz="2000" b="1" i="1" baseline="-25000">
                <a:latin typeface="Times New Roman" pitchFamily="18" charset="0"/>
                <a:cs typeface="Times New Roman" pitchFamily="18" charset="0"/>
              </a:rPr>
              <a:t>a</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a:t>
            </a:r>
            <a:r>
              <a:rPr lang="en-US" altLang="zh-CN" sz="2000" b="1" i="1">
                <a:latin typeface="Times New Roman" pitchFamily="18" charset="0"/>
                <a:cs typeface="Times New Roman" pitchFamily="18" charset="0"/>
              </a:rPr>
              <a:t>P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受压</a:t>
            </a:r>
            <a:r>
              <a:rPr lang="en-US" altLang="zh-CN" sz="2000" b="1">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a:t>
            </a:r>
          </a:p>
          <a:p>
            <a:pPr>
              <a:lnSpc>
                <a:spcPct val="130000"/>
              </a:lnSpc>
              <a:buFont typeface="Arial" pitchFamily="34" charset="0"/>
              <a:buChar char="•"/>
            </a:pPr>
            <a:r>
              <a:rPr lang="zh-CN" altLang="en-US" sz="2000" b="1"/>
              <a:t> 表述二：</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en-US" altLang="zh-CN" sz="2000" b="1" i="1" baseline="-25000">
                <a:latin typeface="Times New Roman" pitchFamily="18" charset="0"/>
                <a:cs typeface="Times New Roman" pitchFamily="18" charset="0"/>
              </a:rPr>
              <a:t>a</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P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受压为正</a:t>
            </a:r>
            <a:r>
              <a:rPr lang="en-US" altLang="zh-CN" sz="2000" b="1">
                <a:latin typeface="Times New Roman" pitchFamily="18" charset="0"/>
                <a:cs typeface="Times New Roman" pitchFamily="18" charset="0"/>
              </a:rPr>
              <a:t>) </a:t>
            </a:r>
          </a:p>
          <a:p>
            <a:r>
              <a:rPr lang="zh-CN" altLang="en-US" b="1">
                <a:solidFill>
                  <a:srgbClr val="0033CC"/>
                </a:solidFill>
                <a:latin typeface="Times New Roman" pitchFamily="18" charset="0"/>
                <a:cs typeface="Times New Roman" pitchFamily="18" charset="0"/>
              </a:rPr>
              <a:t>                      （给计算带来不便）</a:t>
            </a:r>
            <a:endParaRPr lang="en-US" altLang="zh-CN" b="1">
              <a:solidFill>
                <a:srgbClr val="0033CC"/>
              </a:solidFill>
              <a:latin typeface="Times New Roman" pitchFamily="18" charset="0"/>
              <a:cs typeface="Times New Roman" pitchFamily="18" charset="0"/>
            </a:endParaRPr>
          </a:p>
          <a:p>
            <a:pPr>
              <a:lnSpc>
                <a:spcPct val="110000"/>
              </a:lnSpc>
              <a:buFont typeface="Arial" pitchFamily="34" charset="0"/>
              <a:buChar char="•"/>
            </a:pPr>
            <a:r>
              <a:rPr lang="zh-CN" altLang="en-US" sz="2000" b="1">
                <a:solidFill>
                  <a:srgbClr val="C00000"/>
                </a:solidFill>
                <a:latin typeface="Times New Roman" pitchFamily="18" charset="0"/>
                <a:cs typeface="Times New Roman" pitchFamily="18" charset="0"/>
              </a:rPr>
              <a:t> 表述三：</a:t>
            </a:r>
            <a:r>
              <a:rPr lang="en-US" altLang="zh-CN" sz="2000" b="1" i="1">
                <a:solidFill>
                  <a:srgbClr val="C00000"/>
                </a:solidFill>
                <a:latin typeface="Times New Roman" pitchFamily="18" charset="0"/>
                <a:cs typeface="Times New Roman" pitchFamily="18" charset="0"/>
              </a:rPr>
              <a:t> F</a:t>
            </a:r>
            <a:r>
              <a:rPr lang="en-US" altLang="zh-CN" sz="2000" b="1" baseline="-25000">
                <a:solidFill>
                  <a:srgbClr val="C00000"/>
                </a:solidFill>
                <a:latin typeface="Times New Roman" pitchFamily="18" charset="0"/>
                <a:cs typeface="Times New Roman" pitchFamily="18" charset="0"/>
              </a:rPr>
              <a:t>N</a:t>
            </a:r>
            <a:r>
              <a:rPr lang="en-US" altLang="zh-CN" sz="2000" b="1" i="1" baseline="-25000">
                <a:solidFill>
                  <a:srgbClr val="C00000"/>
                </a:solidFill>
                <a:latin typeface="Times New Roman" pitchFamily="18" charset="0"/>
                <a:cs typeface="Times New Roman" pitchFamily="18" charset="0"/>
              </a:rPr>
              <a:t>a</a:t>
            </a:r>
            <a:r>
              <a:rPr lang="en-US" altLang="zh-CN" sz="2000" b="1" i="1">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n-US" altLang="zh-CN" sz="2000" b="1">
                <a:solidFill>
                  <a:srgbClr val="C00000"/>
                </a:solidFill>
                <a:latin typeface="+mn-ea"/>
                <a:cs typeface="Times New Roman" pitchFamily="18" charset="0"/>
              </a:rPr>
              <a:t>- </a:t>
            </a:r>
            <a:r>
              <a:rPr lang="en-US" altLang="zh-CN" sz="2000" b="1" i="1">
                <a:solidFill>
                  <a:srgbClr val="C00000"/>
                </a:solidFill>
                <a:latin typeface="Times New Roman" pitchFamily="18" charset="0"/>
                <a:cs typeface="Times New Roman" pitchFamily="18" charset="0"/>
              </a:rPr>
              <a:t>P</a:t>
            </a:r>
            <a:endParaRPr lang="zh-CN" altLang="en-US" sz="2000" b="1" baseline="-25000">
              <a:solidFill>
                <a:srgbClr val="C00000"/>
              </a:solidFill>
              <a:latin typeface="Times New Roman" pitchFamily="18" charset="0"/>
              <a:cs typeface="Times New Roman" pitchFamily="18" charset="0"/>
            </a:endParaRPr>
          </a:p>
        </p:txBody>
      </p:sp>
      <p:grpSp>
        <p:nvGrpSpPr>
          <p:cNvPr id="31" name="组合 30"/>
          <p:cNvGrpSpPr>
            <a:grpSpLocks noChangeAspect="1"/>
          </p:cNvGrpSpPr>
          <p:nvPr/>
        </p:nvGrpSpPr>
        <p:grpSpPr>
          <a:xfrm>
            <a:off x="4071934" y="5286388"/>
            <a:ext cx="250033" cy="256700"/>
            <a:chOff x="4786314" y="5357826"/>
            <a:chExt cx="428628" cy="366714"/>
          </a:xfrm>
        </p:grpSpPr>
        <p:cxnSp>
          <p:nvCxnSpPr>
            <p:cNvPr id="26" name="直接连接符 25"/>
            <p:cNvCxnSpPr/>
            <p:nvPr/>
          </p:nvCxnSpPr>
          <p:spPr bwMode="auto">
            <a:xfrm rot="16200000" flipH="1">
              <a:off x="4786314" y="5572140"/>
              <a:ext cx="142876" cy="14287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8" name="直接连接符 27"/>
            <p:cNvCxnSpPr/>
            <p:nvPr/>
          </p:nvCxnSpPr>
          <p:spPr bwMode="auto">
            <a:xfrm rot="5400000" flipH="1" flipV="1">
              <a:off x="4893471" y="5403069"/>
              <a:ext cx="366714" cy="27622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cxnSp>
        <p:nvCxnSpPr>
          <p:cNvPr id="33" name="直接连接符 32"/>
          <p:cNvCxnSpPr/>
          <p:nvPr/>
        </p:nvCxnSpPr>
        <p:spPr bwMode="auto">
          <a:xfrm rot="16200000" flipH="1">
            <a:off x="4143372" y="5357826"/>
            <a:ext cx="142876" cy="142876"/>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nvGrpSpPr>
          <p:cNvPr id="34" name="组合 33"/>
          <p:cNvGrpSpPr>
            <a:grpSpLocks noChangeAspect="1"/>
          </p:cNvGrpSpPr>
          <p:nvPr/>
        </p:nvGrpSpPr>
        <p:grpSpPr>
          <a:xfrm>
            <a:off x="4107653" y="5929330"/>
            <a:ext cx="250033" cy="256700"/>
            <a:chOff x="4786314" y="5357826"/>
            <a:chExt cx="428628" cy="366714"/>
          </a:xfrm>
        </p:grpSpPr>
        <p:cxnSp>
          <p:nvCxnSpPr>
            <p:cNvPr id="35" name="直接连接符 34"/>
            <p:cNvCxnSpPr/>
            <p:nvPr/>
          </p:nvCxnSpPr>
          <p:spPr bwMode="auto">
            <a:xfrm rot="16200000" flipH="1">
              <a:off x="4786314" y="5572140"/>
              <a:ext cx="142876" cy="14287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36" name="直接连接符 35"/>
            <p:cNvCxnSpPr/>
            <p:nvPr/>
          </p:nvCxnSpPr>
          <p:spPr bwMode="auto">
            <a:xfrm rot="5400000" flipH="1" flipV="1">
              <a:off x="4893471" y="5403069"/>
              <a:ext cx="366714" cy="27622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44" name="矩形 43"/>
          <p:cNvSpPr/>
          <p:nvPr/>
        </p:nvSpPr>
        <p:spPr>
          <a:xfrm>
            <a:off x="1645720" y="6202940"/>
            <a:ext cx="2492990" cy="369332"/>
          </a:xfrm>
          <a:prstGeom prst="rect">
            <a:avLst/>
          </a:prstGeom>
        </p:spPr>
        <p:txBody>
          <a:bodyPr wrap="none">
            <a:spAutoFit/>
          </a:bodyPr>
          <a:lstStyle/>
          <a:p>
            <a:r>
              <a:rPr lang="zh-CN" altLang="en-US" b="1">
                <a:solidFill>
                  <a:srgbClr val="0033CC"/>
                </a:solidFill>
                <a:latin typeface="Times New Roman" pitchFamily="18" charset="0"/>
                <a:cs typeface="Times New Roman" pitchFamily="18" charset="0"/>
              </a:rPr>
              <a:t>（统一采用默认规范）</a:t>
            </a:r>
            <a:endParaRPr lang="zh-CN" altLang="en-US"/>
          </a:p>
        </p:txBody>
      </p:sp>
      <p:grpSp>
        <p:nvGrpSpPr>
          <p:cNvPr id="56" name="组合 55"/>
          <p:cNvGrpSpPr/>
          <p:nvPr/>
        </p:nvGrpSpPr>
        <p:grpSpPr>
          <a:xfrm>
            <a:off x="4572000" y="2506429"/>
            <a:ext cx="2714644" cy="1994141"/>
            <a:chOff x="4572000" y="2857496"/>
            <a:chExt cx="2714644" cy="1994141"/>
          </a:xfrm>
        </p:grpSpPr>
        <p:pic>
          <p:nvPicPr>
            <p:cNvPr id="435204" name="Picture 4"/>
            <p:cNvPicPr>
              <a:picLocks noChangeAspect="1" noChangeArrowheads="1"/>
            </p:cNvPicPr>
            <p:nvPr/>
          </p:nvPicPr>
          <p:blipFill>
            <a:blip r:embed="rId7"/>
            <a:srcRect/>
            <a:stretch>
              <a:fillRect/>
            </a:stretch>
          </p:blipFill>
          <p:spPr bwMode="auto">
            <a:xfrm>
              <a:off x="5572132" y="2928934"/>
              <a:ext cx="1714512" cy="1922703"/>
            </a:xfrm>
            <a:prstGeom prst="rect">
              <a:avLst/>
            </a:prstGeom>
            <a:noFill/>
            <a:ln w="9525">
              <a:noFill/>
              <a:miter lim="800000"/>
              <a:headEnd/>
              <a:tailEnd/>
            </a:ln>
            <a:effectLst/>
          </p:spPr>
        </p:pic>
        <p:sp>
          <p:nvSpPr>
            <p:cNvPr id="48" name="TextBox 47"/>
            <p:cNvSpPr txBox="1"/>
            <p:nvPr/>
          </p:nvSpPr>
          <p:spPr>
            <a:xfrm>
              <a:off x="6929454" y="2857496"/>
              <a:ext cx="341760"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P</a:t>
              </a:r>
              <a:endParaRPr lang="zh-CN" altLang="en-US" sz="2000" b="1" i="1">
                <a:solidFill>
                  <a:srgbClr val="C00000"/>
                </a:solidFill>
                <a:latin typeface="Times New Roman" pitchFamily="18" charset="0"/>
                <a:cs typeface="Times New Roman" pitchFamily="18" charset="0"/>
              </a:endParaRPr>
            </a:p>
          </p:txBody>
        </p:sp>
        <p:sp>
          <p:nvSpPr>
            <p:cNvPr id="49" name="TextBox 48"/>
            <p:cNvSpPr txBox="1"/>
            <p:nvPr/>
          </p:nvSpPr>
          <p:spPr>
            <a:xfrm>
              <a:off x="5715008" y="321468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D</a:t>
              </a:r>
              <a:endParaRPr lang="zh-CN" altLang="en-US" sz="2000" b="1" i="1">
                <a:latin typeface="Times New Roman" pitchFamily="18" charset="0"/>
                <a:cs typeface="Times New Roman" pitchFamily="18" charset="0"/>
              </a:endParaRPr>
            </a:p>
          </p:txBody>
        </p:sp>
        <p:cxnSp>
          <p:nvCxnSpPr>
            <p:cNvPr id="51" name="直接连接符 50"/>
            <p:cNvCxnSpPr/>
            <p:nvPr/>
          </p:nvCxnSpPr>
          <p:spPr bwMode="auto">
            <a:xfrm rot="5400000">
              <a:off x="6839454" y="4518338"/>
              <a:ext cx="18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箭头连接符 52"/>
            <p:cNvCxnSpPr/>
            <p:nvPr/>
          </p:nvCxnSpPr>
          <p:spPr bwMode="auto">
            <a:xfrm rot="10800000">
              <a:off x="6072198" y="4527866"/>
              <a:ext cx="85725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54" name="TextBox 53"/>
            <p:cNvSpPr txBox="1"/>
            <p:nvPr/>
          </p:nvSpPr>
          <p:spPr>
            <a:xfrm>
              <a:off x="6429388" y="4071942"/>
              <a:ext cx="25519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sp>
          <p:nvSpPr>
            <p:cNvPr id="55" name="TextBox 54"/>
            <p:cNvSpPr txBox="1"/>
            <p:nvPr/>
          </p:nvSpPr>
          <p:spPr>
            <a:xfrm>
              <a:off x="4572000" y="3922943"/>
              <a:ext cx="1396536" cy="400110"/>
            </a:xfrm>
            <a:prstGeom prst="rect">
              <a:avLst/>
            </a:prstGeom>
            <a:noFill/>
            <a:ln w="28575">
              <a:noFill/>
            </a:ln>
          </p:spPr>
          <p:txBody>
            <a:bodyPr wrap="none" rtlCol="0">
              <a:spAutoFit/>
            </a:bodyPr>
            <a:lstStyle/>
            <a:p>
              <a:r>
                <a:rPr lang="zh-CN" altLang="en-US" sz="2000" b="1"/>
                <a:t>求</a:t>
              </a:r>
              <a:r>
                <a:rPr lang="en-US" altLang="zh-CN" sz="2000" b="1" i="1">
                  <a:latin typeface="Times New Roman" pitchFamily="18" charset="0"/>
                  <a:cs typeface="Times New Roman" pitchFamily="18" charset="0"/>
                </a:rPr>
                <a:t>D</a:t>
              </a:r>
              <a:r>
                <a:rPr lang="zh-CN" altLang="en-US" sz="2000" b="1"/>
                <a:t>处弯矩</a:t>
              </a:r>
            </a:p>
          </p:txBody>
        </p:sp>
      </p:grpSp>
      <p:sp>
        <p:nvSpPr>
          <p:cNvPr id="61" name="TextBox 60"/>
          <p:cNvSpPr txBox="1"/>
          <p:nvPr/>
        </p:nvSpPr>
        <p:spPr>
          <a:xfrm>
            <a:off x="4857752" y="4500570"/>
            <a:ext cx="4286248" cy="1908215"/>
          </a:xfrm>
          <a:prstGeom prst="rect">
            <a:avLst/>
          </a:prstGeom>
          <a:noFill/>
          <a:ln w="28575">
            <a:noFill/>
          </a:ln>
        </p:spPr>
        <p:txBody>
          <a:bodyPr wrap="square" rtlCol="0">
            <a:spAutoFit/>
          </a:bodyPr>
          <a:lstStyle/>
          <a:p>
            <a:pPr>
              <a:lnSpc>
                <a:spcPct val="130000"/>
              </a:lnSpc>
              <a:buFont typeface="Arial" pitchFamily="34" charset="0"/>
              <a:buChar char="•"/>
            </a:pPr>
            <a:r>
              <a:rPr lang="zh-CN" altLang="en-US" sz="2000" b="1"/>
              <a:t> 表述一：</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D</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Pl </a:t>
            </a:r>
            <a:r>
              <a:rPr lang="zh-CN" altLang="en-US" b="1">
                <a:solidFill>
                  <a:srgbClr val="0033CC"/>
                </a:solidFill>
                <a:latin typeface="Times New Roman" pitchFamily="18" charset="0"/>
                <a:cs typeface="Times New Roman" pitchFamily="18" charset="0"/>
              </a:rPr>
              <a:t>（正负？）       </a:t>
            </a:r>
            <a:r>
              <a:rPr lang="en-US" altLang="zh-CN" sz="2000" b="1">
                <a:solidFill>
                  <a:srgbClr val="C00000"/>
                </a:solidFill>
                <a:latin typeface="Times New Roman" pitchFamily="18" charset="0"/>
                <a:cs typeface="Times New Roman" pitchFamily="18" charset="0"/>
              </a:rPr>
              <a:t>×</a:t>
            </a:r>
          </a:p>
          <a:p>
            <a:pPr>
              <a:lnSpc>
                <a:spcPct val="130000"/>
              </a:lnSpc>
              <a:buFont typeface="Arial" pitchFamily="34" charset="0"/>
              <a:buChar char="•"/>
            </a:pPr>
            <a:r>
              <a:rPr lang="zh-CN" altLang="en-US" sz="2000" b="1"/>
              <a:t> 表述二：</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D</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Pl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顺时针为正</a:t>
            </a:r>
            <a:r>
              <a:rPr lang="en-US" altLang="zh-CN" sz="2000" b="1">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r>
              <a:rPr lang="zh-CN" altLang="en-US" b="1">
                <a:solidFill>
                  <a:srgbClr val="0033CC"/>
                </a:solidFill>
                <a:latin typeface="Times New Roman" pitchFamily="18" charset="0"/>
                <a:cs typeface="Times New Roman" pitchFamily="18" charset="0"/>
              </a:rPr>
              <a:t>（内力成对，一个顺时针，一个逆时针）</a:t>
            </a:r>
            <a:endParaRPr lang="en-US" altLang="zh-CN" b="1">
              <a:solidFill>
                <a:srgbClr val="0033CC"/>
              </a:solidFill>
              <a:latin typeface="Times New Roman" pitchFamily="18" charset="0"/>
              <a:cs typeface="Times New Roman" pitchFamily="18" charset="0"/>
            </a:endParaRPr>
          </a:p>
          <a:p>
            <a:pPr>
              <a:lnSpc>
                <a:spcPct val="110000"/>
              </a:lnSpc>
              <a:buFont typeface="Arial" pitchFamily="34" charset="0"/>
              <a:buChar char="•"/>
            </a:pPr>
            <a:r>
              <a:rPr lang="zh-CN" altLang="en-US" sz="2000" b="1">
                <a:latin typeface="Times New Roman" pitchFamily="18" charset="0"/>
                <a:cs typeface="Times New Roman" pitchFamily="18" charset="0"/>
              </a:rPr>
              <a:t> 表述三：</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D</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Pl  </a:t>
            </a:r>
            <a:r>
              <a:rPr lang="en-US" altLang="zh-CN" b="1">
                <a:solidFill>
                  <a:srgbClr val="0033CC"/>
                </a:solidFill>
                <a:latin typeface="Times New Roman" pitchFamily="18" charset="0"/>
                <a:cs typeface="Times New Roman" pitchFamily="18" charset="0"/>
              </a:rPr>
              <a:t>(</a:t>
            </a:r>
            <a:r>
              <a:rPr lang="zh-CN" altLang="en-US" b="1">
                <a:solidFill>
                  <a:srgbClr val="0033CC"/>
                </a:solidFill>
                <a:latin typeface="Times New Roman" pitchFamily="18" charset="0"/>
                <a:cs typeface="Times New Roman" pitchFamily="18" charset="0"/>
              </a:rPr>
              <a:t>前文已作图</a:t>
            </a:r>
            <a:r>
              <a:rPr lang="en-US" altLang="zh-CN" b="1">
                <a:solidFill>
                  <a:srgbClr val="0033CC"/>
                </a:solidFill>
                <a:latin typeface="Times New Roman" pitchFamily="18" charset="0"/>
                <a:cs typeface="Times New Roman" pitchFamily="18" charset="0"/>
              </a:rPr>
              <a:t>)</a:t>
            </a:r>
          </a:p>
          <a:p>
            <a:pPr>
              <a:lnSpc>
                <a:spcPct val="130000"/>
              </a:lnSpc>
              <a:buFont typeface="Arial" pitchFamily="34" charset="0"/>
              <a:buChar char="•"/>
            </a:pPr>
            <a:r>
              <a:rPr lang="zh-CN" altLang="en-US" sz="2000" b="1">
                <a:latin typeface="Times New Roman" pitchFamily="18" charset="0"/>
                <a:cs typeface="Times New Roman" pitchFamily="18" charset="0"/>
              </a:rPr>
              <a:t> 表述四：</a:t>
            </a:r>
            <a:r>
              <a:rPr lang="en-US" altLang="zh-CN" sz="2000" b="1" i="1">
                <a:latin typeface="Times New Roman" pitchFamily="18" charset="0"/>
                <a:cs typeface="Times New Roman" pitchFamily="18" charset="0"/>
              </a:rPr>
              <a:t> M</a:t>
            </a:r>
            <a:r>
              <a:rPr lang="en-US" altLang="zh-CN" sz="2000" b="1" i="1" baseline="-25000">
                <a:latin typeface="Times New Roman" pitchFamily="18" charset="0"/>
                <a:cs typeface="Times New Roman" pitchFamily="18" charset="0"/>
              </a:rPr>
              <a:t>D</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Pl </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内侧受拉为正</a:t>
            </a:r>
            <a:r>
              <a:rPr lang="en-US" altLang="zh-CN" sz="2000" b="1">
                <a:latin typeface="Times New Roman" pitchFamily="18" charset="0"/>
                <a:cs typeface="Times New Roman" pitchFamily="18" charset="0"/>
              </a:rPr>
              <a:t>) </a:t>
            </a:r>
            <a:endParaRPr lang="zh-CN" altLang="en-US" sz="2000" b="1" baseline="-25000">
              <a:latin typeface="Times New Roman" pitchFamily="18" charset="0"/>
              <a:cs typeface="Times New Roman" pitchFamily="18" charset="0"/>
            </a:endParaRPr>
          </a:p>
        </p:txBody>
      </p:sp>
      <p:grpSp>
        <p:nvGrpSpPr>
          <p:cNvPr id="74" name="组合 73"/>
          <p:cNvGrpSpPr/>
          <p:nvPr/>
        </p:nvGrpSpPr>
        <p:grpSpPr>
          <a:xfrm>
            <a:off x="7500958" y="2856702"/>
            <a:ext cx="1084994" cy="1286678"/>
            <a:chOff x="7558972" y="2786058"/>
            <a:chExt cx="1084994" cy="1286678"/>
          </a:xfrm>
        </p:grpSpPr>
        <p:cxnSp>
          <p:nvCxnSpPr>
            <p:cNvPr id="65" name="直接连接符 64"/>
            <p:cNvCxnSpPr/>
            <p:nvPr/>
          </p:nvCxnSpPr>
          <p:spPr bwMode="auto">
            <a:xfrm>
              <a:off x="8001024" y="3065687"/>
              <a:ext cx="642942"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rot="5400000">
              <a:off x="7500958" y="3643314"/>
              <a:ext cx="857256"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1" name="TextBox 70"/>
            <p:cNvSpPr txBox="1"/>
            <p:nvPr/>
          </p:nvSpPr>
          <p:spPr>
            <a:xfrm>
              <a:off x="7558972" y="2786058"/>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D</a:t>
              </a:r>
              <a:endParaRPr lang="zh-CN" altLang="en-US" sz="2000" b="1" i="1">
                <a:latin typeface="Times New Roman" pitchFamily="18" charset="0"/>
                <a:cs typeface="Times New Roman" pitchFamily="18" charset="0"/>
              </a:endParaRPr>
            </a:p>
          </p:txBody>
        </p:sp>
        <p:sp>
          <p:nvSpPr>
            <p:cNvPr id="72" name="弧形 71"/>
            <p:cNvSpPr/>
            <p:nvPr/>
          </p:nvSpPr>
          <p:spPr bwMode="auto">
            <a:xfrm>
              <a:off x="7674328" y="3170544"/>
              <a:ext cx="357158" cy="500066"/>
            </a:xfrm>
            <a:prstGeom prst="arc">
              <a:avLst>
                <a:gd name="adj1" fmla="val 11783542"/>
                <a:gd name="adj2" fmla="val 0"/>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sp>
          <p:nvSpPr>
            <p:cNvPr id="73" name="弧形 72"/>
            <p:cNvSpPr/>
            <p:nvPr/>
          </p:nvSpPr>
          <p:spPr bwMode="auto">
            <a:xfrm rot="17087916" flipH="1">
              <a:off x="8038359" y="2813489"/>
              <a:ext cx="357158" cy="500066"/>
            </a:xfrm>
            <a:prstGeom prst="arc">
              <a:avLst>
                <a:gd name="adj1" fmla="val 11783542"/>
                <a:gd name="adj2" fmla="val 0"/>
              </a:avLst>
            </a:prstGeom>
            <a:noFill/>
            <a:ln w="38100" cap="flat" cmpd="sng" algn="ctr">
              <a:solidFill>
                <a:srgbClr val="C00000"/>
              </a:solidFill>
              <a:prstDash val="solid"/>
              <a:round/>
              <a:headEnd type="triangle" w="med" len="med"/>
              <a:tailEnd type="none" w="med" len="med"/>
            </a:ln>
            <a:effectLst/>
          </p:spPr>
          <p:txBody>
            <a:bodyPr rtlCol="0" anchor="ctr"/>
            <a:lstStyle/>
            <a:p>
              <a:pPr algn="ctr"/>
              <a:endParaRPr lang="zh-CN" altLang="en-US"/>
            </a:p>
          </p:txBody>
        </p:sp>
      </p:grpSp>
      <p:grpSp>
        <p:nvGrpSpPr>
          <p:cNvPr id="75" name="组合 74"/>
          <p:cNvGrpSpPr>
            <a:grpSpLocks noChangeAspect="1"/>
          </p:cNvGrpSpPr>
          <p:nvPr/>
        </p:nvGrpSpPr>
        <p:grpSpPr>
          <a:xfrm>
            <a:off x="8715404" y="5643578"/>
            <a:ext cx="250033" cy="256700"/>
            <a:chOff x="4786314" y="5357826"/>
            <a:chExt cx="428628" cy="366714"/>
          </a:xfrm>
        </p:grpSpPr>
        <p:cxnSp>
          <p:nvCxnSpPr>
            <p:cNvPr id="76" name="直接连接符 75"/>
            <p:cNvCxnSpPr/>
            <p:nvPr/>
          </p:nvCxnSpPr>
          <p:spPr bwMode="auto">
            <a:xfrm rot="16200000" flipH="1">
              <a:off x="4786314" y="5572140"/>
              <a:ext cx="142876" cy="14287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77" name="直接连接符 76"/>
            <p:cNvCxnSpPr/>
            <p:nvPr/>
          </p:nvCxnSpPr>
          <p:spPr bwMode="auto">
            <a:xfrm rot="5400000" flipH="1" flipV="1">
              <a:off x="4893471" y="5403069"/>
              <a:ext cx="366714" cy="27622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nvGrpSpPr>
          <p:cNvPr id="78" name="组合 77"/>
          <p:cNvGrpSpPr>
            <a:grpSpLocks noChangeAspect="1"/>
          </p:cNvGrpSpPr>
          <p:nvPr/>
        </p:nvGrpSpPr>
        <p:grpSpPr>
          <a:xfrm>
            <a:off x="6715140" y="6286520"/>
            <a:ext cx="250033" cy="256700"/>
            <a:chOff x="4786314" y="5357826"/>
            <a:chExt cx="428628" cy="366714"/>
          </a:xfrm>
        </p:grpSpPr>
        <p:cxnSp>
          <p:nvCxnSpPr>
            <p:cNvPr id="79" name="直接连接符 78"/>
            <p:cNvCxnSpPr/>
            <p:nvPr/>
          </p:nvCxnSpPr>
          <p:spPr bwMode="auto">
            <a:xfrm rot="16200000" flipH="1">
              <a:off x="4786314" y="5572140"/>
              <a:ext cx="142876" cy="14287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80" name="直接连接符 79"/>
            <p:cNvCxnSpPr/>
            <p:nvPr/>
          </p:nvCxnSpPr>
          <p:spPr bwMode="auto">
            <a:xfrm rot="5400000" flipH="1" flipV="1">
              <a:off x="4893471" y="5403069"/>
              <a:ext cx="366714" cy="27622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ppt_x"/>
                                          </p:val>
                                        </p:tav>
                                        <p:tav tm="100000">
                                          <p:val>
                                            <p:strVal val="#ppt_x"/>
                                          </p:val>
                                        </p:tav>
                                      </p:tavLst>
                                    </p:anim>
                                    <p:anim calcmode="lin" valueType="num">
                                      <p:cBhvr additive="base">
                                        <p:cTn id="1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4">
                                            <p:txEl>
                                              <p:pRg st="0" end="0"/>
                                            </p:txEl>
                                          </p:spTgt>
                                        </p:tgtEl>
                                        <p:attrNameLst>
                                          <p:attrName>style.visibility</p:attrName>
                                        </p:attrNameLst>
                                      </p:cBhvr>
                                      <p:to>
                                        <p:strVal val="visible"/>
                                      </p:to>
                                    </p:set>
                                    <p:animEffect transition="in" filter="wipe(down)">
                                      <p:cBhvr>
                                        <p:cTn id="18" dur="500"/>
                                        <p:tgtEl>
                                          <p:spTgt spid="2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animEffect transition="in" filter="wipe(down)">
                                      <p:cBhvr>
                                        <p:cTn id="23" dur="500"/>
                                        <p:tgtEl>
                                          <p:spTgt spid="2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par>
                          <p:cTn id="32" fill="hold">
                            <p:stCondLst>
                              <p:cond delay="0"/>
                            </p:stCondLst>
                            <p:childTnLst>
                              <p:par>
                                <p:cTn id="33" presetID="22" presetClass="entr" presetSubtype="4" fill="hold" grpId="0" nodeType="afterEffect">
                                  <p:stCondLst>
                                    <p:cond delay="0"/>
                                  </p:stCondLst>
                                  <p:childTnLst>
                                    <p:set>
                                      <p:cBhvr>
                                        <p:cTn id="34" dur="1" fill="hold">
                                          <p:stCondLst>
                                            <p:cond delay="0"/>
                                          </p:stCondLst>
                                        </p:cTn>
                                        <p:tgtEl>
                                          <p:spTgt spid="24">
                                            <p:txEl>
                                              <p:pRg st="2" end="2"/>
                                            </p:txEl>
                                          </p:spTgt>
                                        </p:tgtEl>
                                        <p:attrNameLst>
                                          <p:attrName>style.visibility</p:attrName>
                                        </p:attrNameLst>
                                      </p:cBhvr>
                                      <p:to>
                                        <p:strVal val="visible"/>
                                      </p:to>
                                    </p:set>
                                    <p:animEffect transition="in" filter="wipe(down)">
                                      <p:cBhvr>
                                        <p:cTn id="35" dur="500"/>
                                        <p:tgtEl>
                                          <p:spTgt spid="2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4">
                                            <p:txEl>
                                              <p:pRg st="3" end="3"/>
                                            </p:txEl>
                                          </p:spTgt>
                                        </p:tgtEl>
                                        <p:attrNameLst>
                                          <p:attrName>style.visibility</p:attrName>
                                        </p:attrNameLst>
                                      </p:cBhvr>
                                      <p:to>
                                        <p:strVal val="visible"/>
                                      </p:to>
                                    </p:set>
                                    <p:animEffect transition="in" filter="wipe(down)">
                                      <p:cBhvr>
                                        <p:cTn id="40" dur="500"/>
                                        <p:tgtEl>
                                          <p:spTgt spid="24">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anim calcmode="lin" valueType="num">
                                      <p:cBhvr additive="base">
                                        <p:cTn id="49" dur="500" fill="hold"/>
                                        <p:tgtEl>
                                          <p:spTgt spid="44"/>
                                        </p:tgtEl>
                                        <p:attrNameLst>
                                          <p:attrName>ppt_x</p:attrName>
                                        </p:attrNameLst>
                                      </p:cBhvr>
                                      <p:tavLst>
                                        <p:tav tm="0">
                                          <p:val>
                                            <p:strVal val="#ppt_x"/>
                                          </p:val>
                                        </p:tav>
                                        <p:tav tm="100000">
                                          <p:val>
                                            <p:strVal val="#ppt_x"/>
                                          </p:val>
                                        </p:tav>
                                      </p:tavLst>
                                    </p:anim>
                                    <p:anim calcmode="lin" valueType="num">
                                      <p:cBhvr additive="base">
                                        <p:cTn id="5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blinds(horizontal)">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61">
                                            <p:txEl>
                                              <p:pRg st="0" end="0"/>
                                            </p:txEl>
                                          </p:spTgt>
                                        </p:tgtEl>
                                        <p:attrNameLst>
                                          <p:attrName>style.visibility</p:attrName>
                                        </p:attrNameLst>
                                      </p:cBhvr>
                                      <p:to>
                                        <p:strVal val="visible"/>
                                      </p:to>
                                    </p:set>
                                    <p:animEffect transition="in" filter="wipe(down)">
                                      <p:cBhvr>
                                        <p:cTn id="60" dur="500"/>
                                        <p:tgtEl>
                                          <p:spTgt spid="61">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61">
                                            <p:txEl>
                                              <p:pRg st="1" end="1"/>
                                            </p:txEl>
                                          </p:spTgt>
                                        </p:tgtEl>
                                        <p:attrNameLst>
                                          <p:attrName>style.visibility</p:attrName>
                                        </p:attrNameLst>
                                      </p:cBhvr>
                                      <p:to>
                                        <p:strVal val="visible"/>
                                      </p:to>
                                    </p:set>
                                    <p:animEffect transition="in" filter="wipe(down)">
                                      <p:cBhvr>
                                        <p:cTn id="65" dur="500"/>
                                        <p:tgtEl>
                                          <p:spTgt spid="61">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 calcmode="lin" valueType="num">
                                      <p:cBhvr additive="base">
                                        <p:cTn id="70" dur="500" fill="hold"/>
                                        <p:tgtEl>
                                          <p:spTgt spid="74"/>
                                        </p:tgtEl>
                                        <p:attrNameLst>
                                          <p:attrName>ppt_x</p:attrName>
                                        </p:attrNameLst>
                                      </p:cBhvr>
                                      <p:tavLst>
                                        <p:tav tm="0">
                                          <p:val>
                                            <p:strVal val="1+#ppt_w/2"/>
                                          </p:val>
                                        </p:tav>
                                        <p:tav tm="100000">
                                          <p:val>
                                            <p:strVal val="#ppt_x"/>
                                          </p:val>
                                        </p:tav>
                                      </p:tavLst>
                                    </p:anim>
                                    <p:anim calcmode="lin" valueType="num">
                                      <p:cBhvr additive="base">
                                        <p:cTn id="71" dur="500" fill="hold"/>
                                        <p:tgtEl>
                                          <p:spTgt spid="74"/>
                                        </p:tgtEl>
                                        <p:attrNameLst>
                                          <p:attrName>ppt_y</p:attrName>
                                        </p:attrNameLst>
                                      </p:cBhvr>
                                      <p:tavLst>
                                        <p:tav tm="0">
                                          <p:val>
                                            <p:strVal val="#ppt_y"/>
                                          </p:val>
                                        </p:tav>
                                        <p:tav tm="100000">
                                          <p:val>
                                            <p:strVal val="#ppt_y"/>
                                          </p:val>
                                        </p:tav>
                                      </p:tavLst>
                                    </p:anim>
                                  </p:childTnLst>
                                </p:cTn>
                              </p:par>
                            </p:childTnLst>
                          </p:cTn>
                        </p:par>
                        <p:par>
                          <p:cTn id="72" fill="hold">
                            <p:stCondLst>
                              <p:cond delay="500"/>
                            </p:stCondLst>
                            <p:childTnLst>
                              <p:par>
                                <p:cTn id="73" presetID="22" presetClass="entr" presetSubtype="4" fill="hold" grpId="0" nodeType="afterEffect">
                                  <p:stCondLst>
                                    <p:cond delay="0"/>
                                  </p:stCondLst>
                                  <p:childTnLst>
                                    <p:set>
                                      <p:cBhvr>
                                        <p:cTn id="74" dur="1" fill="hold">
                                          <p:stCondLst>
                                            <p:cond delay="0"/>
                                          </p:stCondLst>
                                        </p:cTn>
                                        <p:tgtEl>
                                          <p:spTgt spid="61">
                                            <p:txEl>
                                              <p:pRg st="2" end="2"/>
                                            </p:txEl>
                                          </p:spTgt>
                                        </p:tgtEl>
                                        <p:attrNameLst>
                                          <p:attrName>style.visibility</p:attrName>
                                        </p:attrNameLst>
                                      </p:cBhvr>
                                      <p:to>
                                        <p:strVal val="visible"/>
                                      </p:to>
                                    </p:set>
                                    <p:animEffect transition="in" filter="wipe(down)">
                                      <p:cBhvr>
                                        <p:cTn id="75" dur="500"/>
                                        <p:tgtEl>
                                          <p:spTgt spid="61">
                                            <p:txEl>
                                              <p:pRg st="2" end="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1">
                                            <p:txEl>
                                              <p:pRg st="3" end="3"/>
                                            </p:txEl>
                                          </p:spTgt>
                                        </p:tgtEl>
                                        <p:attrNameLst>
                                          <p:attrName>style.visibility</p:attrName>
                                        </p:attrNameLst>
                                      </p:cBhvr>
                                      <p:to>
                                        <p:strVal val="visible"/>
                                      </p:to>
                                    </p:set>
                                    <p:animEffect transition="in" filter="wipe(down)">
                                      <p:cBhvr>
                                        <p:cTn id="80" dur="500"/>
                                        <p:tgtEl>
                                          <p:spTgt spid="61">
                                            <p:txEl>
                                              <p:pRg st="3" end="3"/>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61">
                                            <p:txEl>
                                              <p:pRg st="4" end="4"/>
                                            </p:txEl>
                                          </p:spTgt>
                                        </p:tgtEl>
                                        <p:attrNameLst>
                                          <p:attrName>style.visibility</p:attrName>
                                        </p:attrNameLst>
                                      </p:cBhvr>
                                      <p:to>
                                        <p:strVal val="visible"/>
                                      </p:to>
                                    </p:set>
                                    <p:animEffect transition="in" filter="wipe(down)">
                                      <p:cBhvr>
                                        <p:cTn id="89" dur="500"/>
                                        <p:tgtEl>
                                          <p:spTgt spid="61">
                                            <p:txEl>
                                              <p:pRg st="4" end="4"/>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allAtOnce"/>
      <p:bldP spid="24" grpId="0" uiExpand="1" build="p"/>
      <p:bldP spid="44" grpId="0"/>
      <p:bldP spid="61"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3453284"/>
            <a:ext cx="4816840"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5-3 </a:t>
            </a:r>
            <a:r>
              <a:rPr lang="zh-CN" altLang="en-US" sz="2000" b="1">
                <a:latin typeface="Times New Roman" pitchFamily="18" charset="0"/>
                <a:cs typeface="Times New Roman" pitchFamily="18" charset="0"/>
              </a:rPr>
              <a:t>试求图示悬臂梁在</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端的竖直位移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，并比较弯曲变形和剪切变形对位移的影响。设梁的截面为矩形，泊松比</a:t>
            </a:r>
            <a:r>
              <a:rPr lang="en-US" altLang="zh-CN" sz="2000" b="1">
                <a:latin typeface="Times New Roman" pitchFamily="18" charset="0"/>
                <a:cs typeface="Times New Roman" pitchFamily="18" charset="0"/>
              </a:rPr>
              <a:t>1/3</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aphicFrame>
        <p:nvGraphicFramePr>
          <p:cNvPr id="432131" name="Object 3"/>
          <p:cNvGraphicFramePr>
            <a:graphicFrameLocks noChangeAspect="1"/>
          </p:cNvGraphicFramePr>
          <p:nvPr/>
        </p:nvGraphicFramePr>
        <p:xfrm>
          <a:off x="2266968" y="1785926"/>
          <a:ext cx="4948238" cy="709612"/>
        </p:xfrm>
        <a:graphic>
          <a:graphicData uri="http://schemas.openxmlformats.org/presentationml/2006/ole">
            <mc:AlternateContent xmlns:mc="http://schemas.openxmlformats.org/markup-compatibility/2006">
              <mc:Choice xmlns:v="urn:schemas-microsoft-com:vml" Requires="v">
                <p:oleObj spid="_x0000_s436227" name="Equation" r:id="rId4" imgW="3098520" imgH="444240" progId="Equation.DSMT4">
                  <p:embed/>
                </p:oleObj>
              </mc:Choice>
              <mc:Fallback>
                <p:oleObj name="Equation" r:id="rId4" imgW="3098520" imgH="4442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6968" y="1785926"/>
                        <a:ext cx="4948238"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p:nvPr/>
        </p:nvSpPr>
        <p:spPr bwMode="auto">
          <a:xfrm>
            <a:off x="3115944" y="1785926"/>
            <a:ext cx="857256" cy="714380"/>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18" name="TextBox 17"/>
          <p:cNvSpPr txBox="1"/>
          <p:nvPr/>
        </p:nvSpPr>
        <p:spPr>
          <a:xfrm>
            <a:off x="2963938" y="2497108"/>
            <a:ext cx="1107996" cy="369332"/>
          </a:xfrm>
          <a:prstGeom prst="rect">
            <a:avLst/>
          </a:prstGeom>
          <a:noFill/>
          <a:ln w="28575">
            <a:noFill/>
          </a:ln>
        </p:spPr>
        <p:txBody>
          <a:bodyPr wrap="none" rtlCol="0">
            <a:spAutoFit/>
          </a:bodyPr>
          <a:lstStyle/>
          <a:p>
            <a:r>
              <a:rPr lang="zh-CN" altLang="en-US" b="1">
                <a:solidFill>
                  <a:srgbClr val="C00000"/>
                </a:solidFill>
              </a:rPr>
              <a:t>弯曲变形</a:t>
            </a:r>
          </a:p>
        </p:txBody>
      </p:sp>
      <p:sp>
        <p:nvSpPr>
          <p:cNvPr id="20" name="矩形 19"/>
          <p:cNvSpPr/>
          <p:nvPr/>
        </p:nvSpPr>
        <p:spPr bwMode="auto">
          <a:xfrm>
            <a:off x="4575198" y="1785926"/>
            <a:ext cx="942342" cy="714380"/>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21" name="TextBox 20"/>
          <p:cNvSpPr txBox="1"/>
          <p:nvPr/>
        </p:nvSpPr>
        <p:spPr>
          <a:xfrm>
            <a:off x="4464136" y="2500306"/>
            <a:ext cx="1107996" cy="369332"/>
          </a:xfrm>
          <a:prstGeom prst="rect">
            <a:avLst/>
          </a:prstGeom>
          <a:noFill/>
          <a:ln w="28575">
            <a:noFill/>
          </a:ln>
        </p:spPr>
        <p:txBody>
          <a:bodyPr wrap="none" rtlCol="0">
            <a:spAutoFit/>
          </a:bodyPr>
          <a:lstStyle/>
          <a:p>
            <a:r>
              <a:rPr lang="zh-CN" altLang="en-US" b="1">
                <a:solidFill>
                  <a:srgbClr val="0033CC"/>
                </a:solidFill>
              </a:rPr>
              <a:t>拉伸变形</a:t>
            </a:r>
          </a:p>
        </p:txBody>
      </p:sp>
      <p:sp>
        <p:nvSpPr>
          <p:cNvPr id="22" name="矩形 21"/>
          <p:cNvSpPr/>
          <p:nvPr/>
        </p:nvSpPr>
        <p:spPr bwMode="auto">
          <a:xfrm>
            <a:off x="6129988" y="1785926"/>
            <a:ext cx="1085218" cy="714380"/>
          </a:xfrm>
          <a:prstGeom prst="rect">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23" name="TextBox 22"/>
          <p:cNvSpPr txBox="1"/>
          <p:nvPr/>
        </p:nvSpPr>
        <p:spPr>
          <a:xfrm>
            <a:off x="6107210" y="2500306"/>
            <a:ext cx="1107996" cy="369332"/>
          </a:xfrm>
          <a:prstGeom prst="rect">
            <a:avLst/>
          </a:prstGeom>
          <a:noFill/>
          <a:ln w="28575">
            <a:noFill/>
          </a:ln>
        </p:spPr>
        <p:txBody>
          <a:bodyPr wrap="none" rtlCol="0">
            <a:spAutoFit/>
          </a:bodyPr>
          <a:lstStyle/>
          <a:p>
            <a:r>
              <a:rPr lang="zh-CN" altLang="en-US" b="1">
                <a:solidFill>
                  <a:srgbClr val="00B050"/>
                </a:solidFill>
              </a:rPr>
              <a:t>剪切变形</a:t>
            </a:r>
          </a:p>
        </p:txBody>
      </p:sp>
      <p:sp>
        <p:nvSpPr>
          <p:cNvPr id="24" name="Rectangle 6"/>
          <p:cNvSpPr>
            <a:spLocks noChangeArrowheads="1"/>
          </p:cNvSpPr>
          <p:nvPr/>
        </p:nvSpPr>
        <p:spPr bwMode="auto">
          <a:xfrm>
            <a:off x="449068" y="2891546"/>
            <a:ext cx="8245864" cy="452368"/>
          </a:xfrm>
          <a:prstGeom prst="rect">
            <a:avLst/>
          </a:prstGeom>
          <a:noFill/>
          <a:ln w="9525">
            <a:noFill/>
            <a:miter lim="800000"/>
            <a:headEnd/>
            <a:tailEnd/>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0850" lvl="1" algn="just" fontAlgn="base">
              <a:lnSpc>
                <a:spcPct val="130000"/>
              </a:lnSpc>
              <a:spcAft>
                <a:spcPct val="0"/>
              </a:spcAft>
            </a:pPr>
            <a:r>
              <a:rPr lang="zh-CN" altLang="en-US" sz="2000" b="1">
                <a:latin typeface="Times New Roman" pitchFamily="18" charset="0"/>
                <a:cs typeface="Times New Roman" pitchFamily="18" charset="0"/>
              </a:rPr>
              <a:t>各类结构中三种变形的影响所占比重各不相同，故可简化；</a:t>
            </a:r>
            <a:endParaRPr lang="en-US" altLang="zh-CN" sz="2000" b="1">
              <a:latin typeface="Times New Roman" pitchFamily="18" charset="0"/>
              <a:cs typeface="Times New Roman" pitchFamily="18" charset="0"/>
            </a:endParaRPr>
          </a:p>
        </p:txBody>
      </p:sp>
      <p:grpSp>
        <p:nvGrpSpPr>
          <p:cNvPr id="42" name="组合 41"/>
          <p:cNvGrpSpPr/>
          <p:nvPr/>
        </p:nvGrpSpPr>
        <p:grpSpPr>
          <a:xfrm>
            <a:off x="5374664" y="3354550"/>
            <a:ext cx="3581348" cy="1395068"/>
            <a:chOff x="5374664" y="3272476"/>
            <a:chExt cx="3581348" cy="1395068"/>
          </a:xfrm>
        </p:grpSpPr>
        <p:pic>
          <p:nvPicPr>
            <p:cNvPr id="436227" name="Picture 3" descr="C:\Users\Administrator\AppData\Roaming\Tencent\Users\174520645\QQ\WinTemp\RichOle\RNF$XY_LUR]C0[@H{M3E[)H.png"/>
            <p:cNvPicPr>
              <a:picLocks noChangeAspect="1" noChangeArrowheads="1"/>
            </p:cNvPicPr>
            <p:nvPr/>
          </p:nvPicPr>
          <p:blipFill>
            <a:blip r:embed="rId6"/>
            <a:srcRect/>
            <a:stretch>
              <a:fillRect/>
            </a:stretch>
          </p:blipFill>
          <p:spPr bwMode="auto">
            <a:xfrm>
              <a:off x="5499692" y="3429000"/>
              <a:ext cx="3286148" cy="887399"/>
            </a:xfrm>
            <a:prstGeom prst="rect">
              <a:avLst/>
            </a:prstGeom>
            <a:noFill/>
          </p:spPr>
        </p:pic>
        <p:sp>
          <p:nvSpPr>
            <p:cNvPr id="26" name="TextBox 25"/>
            <p:cNvSpPr txBox="1"/>
            <p:nvPr/>
          </p:nvSpPr>
          <p:spPr>
            <a:xfrm>
              <a:off x="7028330" y="3272476"/>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27" name="TextBox 26"/>
            <p:cNvSpPr txBox="1"/>
            <p:nvPr/>
          </p:nvSpPr>
          <p:spPr>
            <a:xfrm>
              <a:off x="5374664" y="3775740"/>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8" name="TextBox 27"/>
            <p:cNvSpPr txBox="1"/>
            <p:nvPr/>
          </p:nvSpPr>
          <p:spPr>
            <a:xfrm>
              <a:off x="8599824" y="375889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30" name="直接连接符 29"/>
            <p:cNvCxnSpPr/>
            <p:nvPr/>
          </p:nvCxnSpPr>
          <p:spPr bwMode="auto">
            <a:xfrm rot="5400000">
              <a:off x="5525150" y="4309140"/>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直接连接符 30"/>
            <p:cNvCxnSpPr>
              <a:cxnSpLocks noChangeAspect="1"/>
            </p:cNvCxnSpPr>
            <p:nvPr/>
          </p:nvCxnSpPr>
          <p:spPr bwMode="auto">
            <a:xfrm rot="5400000">
              <a:off x="8455537" y="4467495"/>
              <a:ext cx="178595" cy="79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5772798" y="4470076"/>
              <a:ext cx="2786082"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36" name="TextBox 35"/>
            <p:cNvSpPr txBox="1"/>
            <p:nvPr/>
          </p:nvSpPr>
          <p:spPr>
            <a:xfrm>
              <a:off x="7072330" y="426743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cxnSp>
          <p:nvCxnSpPr>
            <p:cNvPr id="37" name="直接连接符 36"/>
            <p:cNvCxnSpPr>
              <a:cxnSpLocks noChangeAspect="1"/>
            </p:cNvCxnSpPr>
            <p:nvPr/>
          </p:nvCxnSpPr>
          <p:spPr bwMode="auto">
            <a:xfrm rot="5400000">
              <a:off x="6535221" y="419311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5755952" y="4228466"/>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41" name="TextBox 40"/>
            <p:cNvSpPr txBox="1"/>
            <p:nvPr/>
          </p:nvSpPr>
          <p:spPr>
            <a:xfrm>
              <a:off x="6055352" y="4071942"/>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44" name="Rectangle 6"/>
          <p:cNvSpPr>
            <a:spLocks noChangeArrowheads="1"/>
          </p:cNvSpPr>
          <p:nvPr/>
        </p:nvSpPr>
        <p:spPr bwMode="auto">
          <a:xfrm>
            <a:off x="500034" y="4967599"/>
            <a:ext cx="4816840"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解：应用单位荷载法</a:t>
            </a:r>
            <a:endParaRPr lang="en-US" altLang="zh-CN" sz="2000" b="1">
              <a:latin typeface="Times New Roman" pitchFamily="18" charset="0"/>
              <a:cs typeface="Times New Roman" pitchFamily="18" charset="0"/>
            </a:endParaRPr>
          </a:p>
        </p:txBody>
      </p:sp>
      <p:grpSp>
        <p:nvGrpSpPr>
          <p:cNvPr id="55" name="组合 54"/>
          <p:cNvGrpSpPr/>
          <p:nvPr/>
        </p:nvGrpSpPr>
        <p:grpSpPr>
          <a:xfrm>
            <a:off x="3857620" y="5000636"/>
            <a:ext cx="3584546" cy="1170304"/>
            <a:chOff x="5371466" y="4901902"/>
            <a:chExt cx="3584546" cy="1170304"/>
          </a:xfrm>
        </p:grpSpPr>
        <p:pic>
          <p:nvPicPr>
            <p:cNvPr id="436228" name="Picture 4"/>
            <p:cNvPicPr>
              <a:picLocks noChangeAspect="1" noChangeArrowheads="1"/>
            </p:cNvPicPr>
            <p:nvPr/>
          </p:nvPicPr>
          <p:blipFill>
            <a:blip r:embed="rId7"/>
            <a:srcRect/>
            <a:stretch>
              <a:fillRect/>
            </a:stretch>
          </p:blipFill>
          <p:spPr bwMode="auto">
            <a:xfrm>
              <a:off x="5487046" y="5000636"/>
              <a:ext cx="3292101" cy="1000132"/>
            </a:xfrm>
            <a:prstGeom prst="rect">
              <a:avLst/>
            </a:prstGeom>
            <a:noFill/>
            <a:ln w="9525">
              <a:noFill/>
              <a:miter lim="800000"/>
              <a:headEnd/>
              <a:tailEnd/>
            </a:ln>
            <a:effectLst/>
          </p:spPr>
        </p:pic>
        <p:sp>
          <p:nvSpPr>
            <p:cNvPr id="48" name="TextBox 47"/>
            <p:cNvSpPr txBox="1"/>
            <p:nvPr/>
          </p:nvSpPr>
          <p:spPr>
            <a:xfrm>
              <a:off x="5371466" y="545778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49" name="TextBox 48"/>
            <p:cNvSpPr txBox="1"/>
            <p:nvPr/>
          </p:nvSpPr>
          <p:spPr>
            <a:xfrm>
              <a:off x="8599824" y="5459758"/>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50" name="TextBox 49"/>
            <p:cNvSpPr txBox="1"/>
            <p:nvPr/>
          </p:nvSpPr>
          <p:spPr>
            <a:xfrm>
              <a:off x="5772798" y="4901902"/>
              <a:ext cx="312906" cy="400110"/>
            </a:xfrm>
            <a:prstGeom prst="rect">
              <a:avLst/>
            </a:prstGeom>
            <a:noFill/>
            <a:ln w="28575">
              <a:noFill/>
            </a:ln>
          </p:spPr>
          <p:txBody>
            <a:bodyPr wrap="none" rtlCol="0">
              <a:spAutoFit/>
            </a:body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cxnSp>
          <p:nvCxnSpPr>
            <p:cNvPr id="51" name="直接连接符 50"/>
            <p:cNvCxnSpPr>
              <a:cxnSpLocks noChangeAspect="1"/>
            </p:cNvCxnSpPr>
            <p:nvPr/>
          </p:nvCxnSpPr>
          <p:spPr bwMode="auto">
            <a:xfrm rot="5400000">
              <a:off x="6536182" y="591082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2" name="直接连接符 51"/>
            <p:cNvCxnSpPr>
              <a:cxnSpLocks noChangeAspect="1"/>
            </p:cNvCxnSpPr>
            <p:nvPr/>
          </p:nvCxnSpPr>
          <p:spPr bwMode="auto">
            <a:xfrm rot="5400000">
              <a:off x="5662080" y="5922782"/>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742304" y="5924544"/>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54" name="TextBox 53"/>
            <p:cNvSpPr txBox="1"/>
            <p:nvPr/>
          </p:nvSpPr>
          <p:spPr>
            <a:xfrm>
              <a:off x="6072198" y="5764429"/>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56" name="组合 55"/>
          <p:cNvGrpSpPr/>
          <p:nvPr/>
        </p:nvGrpSpPr>
        <p:grpSpPr>
          <a:xfrm>
            <a:off x="7500958" y="5000636"/>
            <a:ext cx="1235475" cy="1404484"/>
            <a:chOff x="7500958" y="4357694"/>
            <a:chExt cx="1235475" cy="1404484"/>
          </a:xfrm>
        </p:grpSpPr>
        <p:grpSp>
          <p:nvGrpSpPr>
            <p:cNvPr id="61" name="组合 38"/>
            <p:cNvGrpSpPr/>
            <p:nvPr/>
          </p:nvGrpSpPr>
          <p:grpSpPr>
            <a:xfrm>
              <a:off x="7500958" y="4357694"/>
              <a:ext cx="928694" cy="1000132"/>
              <a:chOff x="7715272" y="4357694"/>
              <a:chExt cx="928694" cy="1000132"/>
            </a:xfrm>
          </p:grpSpPr>
          <p:sp>
            <p:nvSpPr>
              <p:cNvPr id="72" name="矩形 71"/>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73" name="直接连接符 72"/>
              <p:cNvCxnSpPr/>
              <p:nvPr/>
            </p:nvCxnSpPr>
            <p:spPr bwMode="auto">
              <a:xfrm>
                <a:off x="7715272" y="4857760"/>
                <a:ext cx="928694" cy="1588"/>
              </a:xfrm>
              <a:prstGeom prst="line">
                <a:avLst/>
              </a:prstGeom>
              <a:solidFill>
                <a:schemeClr val="accent1"/>
              </a:solidFill>
              <a:ln w="28575" cap="flat" cmpd="sng" algn="ctr">
                <a:solidFill>
                  <a:srgbClr val="00B050"/>
                </a:solidFill>
                <a:prstDash val="lgDashDot"/>
                <a:round/>
                <a:headEnd type="none" w="med" len="med"/>
                <a:tailEnd type="none" w="med" len="med"/>
              </a:ln>
              <a:effectLst/>
            </p:spPr>
          </p:cxnSp>
        </p:grpSp>
        <p:cxnSp>
          <p:nvCxnSpPr>
            <p:cNvPr id="63" name="直接连接符 62"/>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68" name="直接连接符 67"/>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71" name="TextBox 70"/>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linds(horizontal)">
                                      <p:cBhvr>
                                        <p:cTn id="16" dur="500"/>
                                        <p:tgtEl>
                                          <p:spTgt spid="2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linds(horizont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linds(horizontal)">
                                      <p:cBhvr>
                                        <p:cTn id="25" dur="500"/>
                                        <p:tgtEl>
                                          <p:spTgt spid="22"/>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ppt_x"/>
                                          </p:val>
                                        </p:tav>
                                        <p:tav tm="100000">
                                          <p:val>
                                            <p:strVal val="#ppt_x"/>
                                          </p:val>
                                        </p:tav>
                                      </p:tavLst>
                                    </p:anim>
                                    <p:anim calcmode="lin" valueType="num">
                                      <p:cBhvr additive="base">
                                        <p:cTn id="3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46">
                                            <p:txEl>
                                              <p:pRg st="0" end="0"/>
                                            </p:txEl>
                                          </p:spTgt>
                                        </p:tgtEl>
                                        <p:attrNameLst>
                                          <p:attrName>style.visibility</p:attrName>
                                        </p:attrNameLst>
                                      </p:cBhvr>
                                      <p:to>
                                        <p:strVal val="visible"/>
                                      </p:to>
                                    </p:set>
                                    <p:animEffect transition="in" filter="wipe(down)">
                                      <p:cBhvr>
                                        <p:cTn id="40" dur="500"/>
                                        <p:tgtEl>
                                          <p:spTgt spid="46">
                                            <p:txEl>
                                              <p:pRg st="0" end="0"/>
                                            </p:txEl>
                                          </p:spTgt>
                                        </p:tgtEl>
                                      </p:cBhvr>
                                    </p:animEffect>
                                  </p:childTnLst>
                                </p:cTn>
                              </p:par>
                            </p:childTnLst>
                          </p:cTn>
                        </p:par>
                        <p:par>
                          <p:cTn id="41" fill="hold">
                            <p:stCondLst>
                              <p:cond delay="500"/>
                            </p:stCondLst>
                            <p:childTnLst>
                              <p:par>
                                <p:cTn id="42" presetID="2" presetClass="entr" presetSubtype="4" fill="hold" nodeType="afterEffect">
                                  <p:stCondLst>
                                    <p:cond delay="0"/>
                                  </p:stCondLst>
                                  <p:childTnLst>
                                    <p:set>
                                      <p:cBhvr>
                                        <p:cTn id="43" dur="1" fill="hold">
                                          <p:stCondLst>
                                            <p:cond delay="0"/>
                                          </p:stCondLst>
                                        </p:cTn>
                                        <p:tgtEl>
                                          <p:spTgt spid="56"/>
                                        </p:tgtEl>
                                        <p:attrNameLst>
                                          <p:attrName>style.visibility</p:attrName>
                                        </p:attrNameLst>
                                      </p:cBhvr>
                                      <p:to>
                                        <p:strVal val="visible"/>
                                      </p:to>
                                    </p:set>
                                    <p:anim calcmode="lin" valueType="num">
                                      <p:cBhvr additive="base">
                                        <p:cTn id="44" dur="500" fill="hold"/>
                                        <p:tgtEl>
                                          <p:spTgt spid="56"/>
                                        </p:tgtEl>
                                        <p:attrNameLst>
                                          <p:attrName>ppt_x</p:attrName>
                                        </p:attrNameLst>
                                      </p:cBhvr>
                                      <p:tavLst>
                                        <p:tav tm="0">
                                          <p:val>
                                            <p:strVal val="#ppt_x"/>
                                          </p:val>
                                        </p:tav>
                                        <p:tav tm="100000">
                                          <p:val>
                                            <p:strVal val="#ppt_x"/>
                                          </p:val>
                                        </p:tav>
                                      </p:tavLst>
                                    </p:anim>
                                    <p:anim calcmode="lin" valueType="num">
                                      <p:cBhvr additive="base">
                                        <p:cTn id="45" dur="500" fill="hold"/>
                                        <p:tgtEl>
                                          <p:spTgt spid="56"/>
                                        </p:tgtEl>
                                        <p:attrNameLst>
                                          <p:attrName>ppt_y</p:attrName>
                                        </p:attrNameLst>
                                      </p:cBhvr>
                                      <p:tavLst>
                                        <p:tav tm="0">
                                          <p:val>
                                            <p:strVal val="1+#ppt_h/2"/>
                                          </p:val>
                                        </p:tav>
                                        <p:tav tm="100000">
                                          <p:val>
                                            <p:strVal val="#ppt_y"/>
                                          </p:val>
                                        </p:tav>
                                      </p:tavLst>
                                    </p:anim>
                                  </p:childTnLst>
                                </p:cTn>
                              </p:par>
                              <p:par>
                                <p:cTn id="46" presetID="3" presetClass="entr" presetSubtype="10"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blinds(horizontal)">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44">
                                            <p:txEl>
                                              <p:pRg st="0" end="0"/>
                                            </p:txEl>
                                          </p:spTgt>
                                        </p:tgtEl>
                                        <p:attrNameLst>
                                          <p:attrName>style.visibility</p:attrName>
                                        </p:attrNameLst>
                                      </p:cBhvr>
                                      <p:to>
                                        <p:strVal val="visible"/>
                                      </p:to>
                                    </p:set>
                                    <p:animEffect transition="in" filter="wipe(down)">
                                      <p:cBhvr>
                                        <p:cTn id="53" dur="500"/>
                                        <p:tgtEl>
                                          <p:spTgt spid="44">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additive="base">
                                        <p:cTn id="58" dur="500" fill="hold"/>
                                        <p:tgtEl>
                                          <p:spTgt spid="55"/>
                                        </p:tgtEl>
                                        <p:attrNameLst>
                                          <p:attrName>ppt_x</p:attrName>
                                        </p:attrNameLst>
                                      </p:cBhvr>
                                      <p:tavLst>
                                        <p:tav tm="0">
                                          <p:val>
                                            <p:strVal val="#ppt_x"/>
                                          </p:val>
                                        </p:tav>
                                        <p:tav tm="100000">
                                          <p:val>
                                            <p:strVal val="#ppt_x"/>
                                          </p:val>
                                        </p:tav>
                                      </p:tavLst>
                                    </p:anim>
                                    <p:anim calcmode="lin" valueType="num">
                                      <p:cBhvr additive="base">
                                        <p:cTn id="59"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allAtOnce"/>
      <p:bldP spid="17" grpId="0" animBg="1"/>
      <p:bldP spid="18" grpId="0"/>
      <p:bldP spid="20" grpId="0" animBg="1"/>
      <p:bldP spid="21" grpId="0"/>
      <p:bldP spid="22" grpId="0" animBg="1"/>
      <p:bldP spid="23" grpId="0"/>
      <p:bldP spid="24" grpId="0"/>
      <p:bldP spid="44"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5-3 </a:t>
            </a:r>
            <a:r>
              <a:rPr lang="zh-CN" altLang="en-US" sz="2000" b="1">
                <a:latin typeface="Times New Roman" pitchFamily="18" charset="0"/>
                <a:cs typeface="Times New Roman" pitchFamily="18" charset="0"/>
              </a:rPr>
              <a:t>试求图示悬臂梁在</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端的竖直位移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，并比较弯曲变形和剪切变形对位移的影响。设梁的截面为矩形，泊松比</a:t>
            </a:r>
            <a:r>
              <a:rPr lang="en-US" altLang="zh-CN" sz="2000" b="1">
                <a:latin typeface="Times New Roman" pitchFamily="18" charset="0"/>
                <a:cs typeface="Times New Roman" pitchFamily="18" charset="0"/>
              </a:rPr>
              <a:t>1/3</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4" name="组合 41"/>
          <p:cNvGrpSpPr/>
          <p:nvPr/>
        </p:nvGrpSpPr>
        <p:grpSpPr>
          <a:xfrm>
            <a:off x="479005" y="2571744"/>
            <a:ext cx="3214710" cy="1252192"/>
            <a:chOff x="5374664" y="3272476"/>
            <a:chExt cx="3581348" cy="1395068"/>
          </a:xfrm>
        </p:grpSpPr>
        <p:pic>
          <p:nvPicPr>
            <p:cNvPr id="436227" name="Picture 3" descr="C:\Users\Administrator\AppData\Roaming\Tencent\Users\174520645\QQ\WinTemp\RichOle\RNF$XY_LUR]C0[@H{M3E[)H.png"/>
            <p:cNvPicPr>
              <a:picLocks noChangeAspect="1" noChangeArrowheads="1"/>
            </p:cNvPicPr>
            <p:nvPr/>
          </p:nvPicPr>
          <p:blipFill>
            <a:blip r:embed="rId4"/>
            <a:srcRect/>
            <a:stretch>
              <a:fillRect/>
            </a:stretch>
          </p:blipFill>
          <p:spPr bwMode="auto">
            <a:xfrm>
              <a:off x="5499692" y="3429000"/>
              <a:ext cx="3286148" cy="887399"/>
            </a:xfrm>
            <a:prstGeom prst="rect">
              <a:avLst/>
            </a:prstGeom>
            <a:noFill/>
          </p:spPr>
        </p:pic>
        <p:sp>
          <p:nvSpPr>
            <p:cNvPr id="26" name="TextBox 25"/>
            <p:cNvSpPr txBox="1"/>
            <p:nvPr/>
          </p:nvSpPr>
          <p:spPr>
            <a:xfrm>
              <a:off x="7028330" y="3272476"/>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27" name="TextBox 26"/>
            <p:cNvSpPr txBox="1"/>
            <p:nvPr/>
          </p:nvSpPr>
          <p:spPr>
            <a:xfrm>
              <a:off x="5374664" y="3775740"/>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8" name="TextBox 27"/>
            <p:cNvSpPr txBox="1"/>
            <p:nvPr/>
          </p:nvSpPr>
          <p:spPr>
            <a:xfrm>
              <a:off x="8599823" y="3789304"/>
              <a:ext cx="356189"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30" name="直接连接符 29"/>
            <p:cNvCxnSpPr/>
            <p:nvPr/>
          </p:nvCxnSpPr>
          <p:spPr bwMode="auto">
            <a:xfrm rot="5400000">
              <a:off x="5525150" y="4309140"/>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直接连接符 30"/>
            <p:cNvCxnSpPr>
              <a:cxnSpLocks noChangeAspect="1"/>
            </p:cNvCxnSpPr>
            <p:nvPr/>
          </p:nvCxnSpPr>
          <p:spPr bwMode="auto">
            <a:xfrm rot="5400000">
              <a:off x="8455537" y="4467495"/>
              <a:ext cx="178595" cy="79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5772798" y="4470076"/>
              <a:ext cx="2786082"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36" name="TextBox 35"/>
            <p:cNvSpPr txBox="1"/>
            <p:nvPr/>
          </p:nvSpPr>
          <p:spPr>
            <a:xfrm>
              <a:off x="7072330" y="426743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cxnSp>
          <p:nvCxnSpPr>
            <p:cNvPr id="37" name="直接连接符 36"/>
            <p:cNvCxnSpPr>
              <a:cxnSpLocks noChangeAspect="1"/>
            </p:cNvCxnSpPr>
            <p:nvPr/>
          </p:nvCxnSpPr>
          <p:spPr bwMode="auto">
            <a:xfrm rot="5400000">
              <a:off x="6535221" y="419311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5755952" y="4228466"/>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41" name="TextBox 40"/>
            <p:cNvSpPr txBox="1"/>
            <p:nvPr/>
          </p:nvSpPr>
          <p:spPr>
            <a:xfrm>
              <a:off x="6055352" y="4071942"/>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5" name="组合 54"/>
          <p:cNvGrpSpPr/>
          <p:nvPr/>
        </p:nvGrpSpPr>
        <p:grpSpPr>
          <a:xfrm>
            <a:off x="3908029" y="2602238"/>
            <a:ext cx="3286148" cy="928694"/>
            <a:chOff x="5371466" y="4901902"/>
            <a:chExt cx="3584546" cy="1170304"/>
          </a:xfrm>
        </p:grpSpPr>
        <p:pic>
          <p:nvPicPr>
            <p:cNvPr id="436228" name="Picture 4"/>
            <p:cNvPicPr>
              <a:picLocks noChangeAspect="1" noChangeArrowheads="1"/>
            </p:cNvPicPr>
            <p:nvPr/>
          </p:nvPicPr>
          <p:blipFill>
            <a:blip r:embed="rId5"/>
            <a:srcRect/>
            <a:stretch>
              <a:fillRect/>
            </a:stretch>
          </p:blipFill>
          <p:spPr bwMode="auto">
            <a:xfrm>
              <a:off x="5487046" y="5000636"/>
              <a:ext cx="3292101" cy="1000132"/>
            </a:xfrm>
            <a:prstGeom prst="rect">
              <a:avLst/>
            </a:prstGeom>
            <a:noFill/>
            <a:ln w="9525">
              <a:noFill/>
              <a:miter lim="800000"/>
              <a:headEnd/>
              <a:tailEnd/>
            </a:ln>
            <a:effectLst/>
          </p:spPr>
        </p:pic>
        <p:sp>
          <p:nvSpPr>
            <p:cNvPr id="48" name="TextBox 47"/>
            <p:cNvSpPr txBox="1"/>
            <p:nvPr/>
          </p:nvSpPr>
          <p:spPr>
            <a:xfrm>
              <a:off x="5371466" y="545778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49" name="TextBox 48"/>
            <p:cNvSpPr txBox="1"/>
            <p:nvPr/>
          </p:nvSpPr>
          <p:spPr>
            <a:xfrm>
              <a:off x="8599824" y="547695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50" name="TextBox 49"/>
            <p:cNvSpPr txBox="1"/>
            <p:nvPr/>
          </p:nvSpPr>
          <p:spPr>
            <a:xfrm>
              <a:off x="5772798" y="4901902"/>
              <a:ext cx="312906" cy="400110"/>
            </a:xfrm>
            <a:prstGeom prst="rect">
              <a:avLst/>
            </a:prstGeom>
            <a:noFill/>
            <a:ln w="28575">
              <a:noFill/>
            </a:ln>
          </p:spPr>
          <p:txBody>
            <a:bodyPr wrap="none" rtlCol="0">
              <a:spAutoFit/>
            </a:body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cxnSp>
          <p:nvCxnSpPr>
            <p:cNvPr id="51" name="直接连接符 50"/>
            <p:cNvCxnSpPr>
              <a:cxnSpLocks noChangeAspect="1"/>
            </p:cNvCxnSpPr>
            <p:nvPr/>
          </p:nvCxnSpPr>
          <p:spPr bwMode="auto">
            <a:xfrm rot="5400000">
              <a:off x="6536182" y="591082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2" name="直接连接符 51"/>
            <p:cNvCxnSpPr>
              <a:cxnSpLocks noChangeAspect="1"/>
            </p:cNvCxnSpPr>
            <p:nvPr/>
          </p:nvCxnSpPr>
          <p:spPr bwMode="auto">
            <a:xfrm rot="5400000">
              <a:off x="5662080" y="5922782"/>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742304" y="5924544"/>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54" name="TextBox 53"/>
            <p:cNvSpPr txBox="1"/>
            <p:nvPr/>
          </p:nvSpPr>
          <p:spPr>
            <a:xfrm>
              <a:off x="6072198" y="5764429"/>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6" name="组合 55"/>
          <p:cNvGrpSpPr/>
          <p:nvPr/>
        </p:nvGrpSpPr>
        <p:grpSpPr>
          <a:xfrm>
            <a:off x="7572396" y="2453144"/>
            <a:ext cx="1214446" cy="1404484"/>
            <a:chOff x="7521987" y="4357694"/>
            <a:chExt cx="1214446" cy="1404484"/>
          </a:xfrm>
        </p:grpSpPr>
        <p:grpSp>
          <p:nvGrpSpPr>
            <p:cNvPr id="7" name="组合 38"/>
            <p:cNvGrpSpPr/>
            <p:nvPr/>
          </p:nvGrpSpPr>
          <p:grpSpPr>
            <a:xfrm>
              <a:off x="7521987" y="4357694"/>
              <a:ext cx="928694" cy="1000132"/>
              <a:chOff x="7736301" y="4357694"/>
              <a:chExt cx="928694" cy="1000132"/>
            </a:xfrm>
          </p:grpSpPr>
          <p:sp>
            <p:nvSpPr>
              <p:cNvPr id="72" name="矩形 71"/>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73" name="直接连接符 72"/>
              <p:cNvCxnSpPr/>
              <p:nvPr/>
            </p:nvCxnSpPr>
            <p:spPr bwMode="auto">
              <a:xfrm>
                <a:off x="7736301" y="4857760"/>
                <a:ext cx="928694" cy="1588"/>
              </a:xfrm>
              <a:prstGeom prst="line">
                <a:avLst/>
              </a:prstGeom>
              <a:solidFill>
                <a:schemeClr val="accent1"/>
              </a:solidFill>
              <a:ln w="28575" cap="flat" cmpd="sng" algn="ctr">
                <a:solidFill>
                  <a:srgbClr val="00B050"/>
                </a:solidFill>
                <a:prstDash val="dashDot"/>
                <a:round/>
                <a:headEnd type="none" w="med" len="med"/>
                <a:tailEnd type="none" w="med" len="med"/>
              </a:ln>
              <a:effectLst/>
            </p:spPr>
          </p:cxnSp>
        </p:grpSp>
        <p:cxnSp>
          <p:nvCxnSpPr>
            <p:cNvPr id="63" name="直接连接符 62"/>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68" name="直接连接符 67"/>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71" name="TextBox 70"/>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grpSp>
        <p:nvGrpSpPr>
          <p:cNvPr id="85" name="组合 84"/>
          <p:cNvGrpSpPr/>
          <p:nvPr/>
        </p:nvGrpSpPr>
        <p:grpSpPr>
          <a:xfrm>
            <a:off x="285720" y="3852864"/>
            <a:ext cx="3500462" cy="1332007"/>
            <a:chOff x="285720" y="3852864"/>
            <a:chExt cx="3500462" cy="1332007"/>
          </a:xfrm>
        </p:grpSpPr>
        <p:grpSp>
          <p:nvGrpSpPr>
            <p:cNvPr id="82" name="组合 81"/>
            <p:cNvGrpSpPr/>
            <p:nvPr/>
          </p:nvGrpSpPr>
          <p:grpSpPr>
            <a:xfrm>
              <a:off x="714348" y="3929066"/>
              <a:ext cx="3071834" cy="1255805"/>
              <a:chOff x="714348" y="3929066"/>
              <a:chExt cx="3071834" cy="1255805"/>
            </a:xfrm>
          </p:grpSpPr>
          <p:grpSp>
            <p:nvGrpSpPr>
              <p:cNvPr id="80" name="组合 79"/>
              <p:cNvGrpSpPr/>
              <p:nvPr/>
            </p:nvGrpSpPr>
            <p:grpSpPr>
              <a:xfrm>
                <a:off x="714348" y="4304990"/>
                <a:ext cx="2786082" cy="879881"/>
                <a:chOff x="714348" y="4304990"/>
                <a:chExt cx="2786082" cy="879881"/>
              </a:xfrm>
            </p:grpSpPr>
            <p:pic>
              <p:nvPicPr>
                <p:cNvPr id="451587" name="Picture 3"/>
                <p:cNvPicPr>
                  <a:picLocks noChangeAspect="1" noChangeArrowheads="1"/>
                </p:cNvPicPr>
                <p:nvPr/>
              </p:nvPicPr>
              <p:blipFill>
                <a:blip r:embed="rId6"/>
                <a:srcRect/>
                <a:stretch>
                  <a:fillRect/>
                </a:stretch>
              </p:blipFill>
              <p:spPr bwMode="auto">
                <a:xfrm>
                  <a:off x="714348" y="4500570"/>
                  <a:ext cx="2786082" cy="684301"/>
                </a:xfrm>
                <a:prstGeom prst="rect">
                  <a:avLst/>
                </a:prstGeom>
                <a:noFill/>
                <a:ln w="9525">
                  <a:noFill/>
                  <a:miter lim="800000"/>
                  <a:headEnd/>
                  <a:tailEnd/>
                </a:ln>
                <a:effectLst/>
              </p:spPr>
            </p:pic>
            <p:cxnSp>
              <p:nvCxnSpPr>
                <p:cNvPr id="76" name="直接连接符 75"/>
                <p:cNvCxnSpPr/>
                <p:nvPr/>
              </p:nvCxnSpPr>
              <p:spPr bwMode="auto">
                <a:xfrm rot="5400000" flipH="1" flipV="1">
                  <a:off x="3039162" y="4589948"/>
                  <a:ext cx="57150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79" name="任意多边形 78"/>
                <p:cNvSpPr/>
                <p:nvPr/>
              </p:nvSpPr>
              <p:spPr bwMode="auto">
                <a:xfrm>
                  <a:off x="914401" y="4310743"/>
                  <a:ext cx="2404373" cy="544286"/>
                </a:xfrm>
                <a:custGeom>
                  <a:avLst/>
                  <a:gdLst>
                    <a:gd name="connsiteX0" fmla="*/ 0 w 2471057"/>
                    <a:gd name="connsiteY0" fmla="*/ 544286 h 544286"/>
                    <a:gd name="connsiteX1" fmla="*/ 1186543 w 2471057"/>
                    <a:gd name="connsiteY1" fmla="*/ 446314 h 544286"/>
                    <a:gd name="connsiteX2" fmla="*/ 2471057 w 2471057"/>
                    <a:gd name="connsiteY2" fmla="*/ 0 h 544286"/>
                  </a:gdLst>
                  <a:ahLst/>
                  <a:cxnLst>
                    <a:cxn ang="0">
                      <a:pos x="connsiteX0" y="connsiteY0"/>
                    </a:cxn>
                    <a:cxn ang="0">
                      <a:pos x="connsiteX1" y="connsiteY1"/>
                    </a:cxn>
                    <a:cxn ang="0">
                      <a:pos x="connsiteX2" y="connsiteY2"/>
                    </a:cxn>
                  </a:cxnLst>
                  <a:rect l="l" t="t" r="r" b="b"/>
                  <a:pathLst>
                    <a:path w="2471057" h="544286">
                      <a:moveTo>
                        <a:pt x="0" y="544286"/>
                      </a:moveTo>
                      <a:cubicBezTo>
                        <a:pt x="387350" y="540657"/>
                        <a:pt x="774700" y="537028"/>
                        <a:pt x="1186543" y="446314"/>
                      </a:cubicBezTo>
                      <a:cubicBezTo>
                        <a:pt x="1598386" y="355600"/>
                        <a:pt x="2034721" y="177800"/>
                        <a:pt x="2471057" y="0"/>
                      </a:cubicBezTo>
                    </a:path>
                  </a:pathLst>
                </a:custGeom>
                <a:noFill/>
                <a:ln w="38100"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grpSp>
          <p:sp>
            <p:nvSpPr>
              <p:cNvPr id="81" name="TextBox 80"/>
              <p:cNvSpPr txBox="1"/>
              <p:nvPr/>
            </p:nvSpPr>
            <p:spPr>
              <a:xfrm>
                <a:off x="2997183" y="3929066"/>
                <a:ext cx="788999" cy="400110"/>
              </a:xfrm>
              <a:prstGeom prst="rect">
                <a:avLst/>
              </a:prstGeom>
              <a:noFill/>
              <a:ln w="28575">
                <a:noFill/>
              </a:ln>
            </p:spPr>
            <p:txBody>
              <a:bodyPr wrap="none" rtlCol="0">
                <a:spAutoFit/>
              </a:bodyPr>
              <a:lstStyle/>
              <a:p>
                <a:r>
                  <a:rPr lang="en-US" altLang="zh-CN" sz="2000" b="1">
                    <a:solidFill>
                      <a:srgbClr val="0033CC"/>
                    </a:solidFill>
                    <a:latin typeface="Times New Roman" pitchFamily="18" charset="0"/>
                    <a:cs typeface="Times New Roman" pitchFamily="18" charset="0"/>
                  </a:rPr>
                  <a:t>0.5</a:t>
                </a:r>
                <a:r>
                  <a:rPr lang="en-US" altLang="zh-CN" sz="2000" b="1" i="1">
                    <a:solidFill>
                      <a:srgbClr val="0033CC"/>
                    </a:solidFill>
                    <a:latin typeface="Times New Roman" pitchFamily="18" charset="0"/>
                    <a:cs typeface="Times New Roman" pitchFamily="18" charset="0"/>
                  </a:rPr>
                  <a:t>ql</a:t>
                </a:r>
                <a:r>
                  <a:rPr lang="en-US" altLang="zh-CN" sz="2000" b="1" baseline="30000">
                    <a:solidFill>
                      <a:srgbClr val="0033CC"/>
                    </a:solidFill>
                    <a:latin typeface="Times New Roman" pitchFamily="18" charset="0"/>
                    <a:cs typeface="Times New Roman" pitchFamily="18" charset="0"/>
                  </a:rPr>
                  <a:t>2</a:t>
                </a:r>
                <a:endParaRPr lang="zh-CN" altLang="en-US" sz="2000" b="1" baseline="30000">
                  <a:solidFill>
                    <a:srgbClr val="0033CC"/>
                  </a:solidFill>
                  <a:latin typeface="Times New Roman" pitchFamily="18" charset="0"/>
                  <a:cs typeface="Times New Roman" pitchFamily="18" charset="0"/>
                </a:endParaRPr>
              </a:p>
            </p:txBody>
          </p:sp>
        </p:grpSp>
        <p:graphicFrame>
          <p:nvGraphicFramePr>
            <p:cNvPr id="451588" name="Object 4"/>
            <p:cNvGraphicFramePr>
              <a:graphicFrameLocks noChangeAspect="1"/>
            </p:cNvGraphicFramePr>
            <p:nvPr/>
          </p:nvGraphicFramePr>
          <p:xfrm>
            <a:off x="400702" y="3852864"/>
            <a:ext cx="1339850" cy="630237"/>
          </p:xfrm>
          <a:graphic>
            <a:graphicData uri="http://schemas.openxmlformats.org/presentationml/2006/ole">
              <mc:AlternateContent xmlns:mc="http://schemas.openxmlformats.org/markup-compatibility/2006">
                <mc:Choice xmlns:v="urn:schemas-microsoft-com:vml" Requires="v">
                  <p:oleObj spid="_x0000_s451592" name="Equation" r:id="rId7" imgW="838080" imgH="393480" progId="Equation.DSMT4">
                    <p:embed/>
                  </p:oleObj>
                </mc:Choice>
                <mc:Fallback>
                  <p:oleObj name="Equation" r:id="rId7" imgW="838080" imgH="3934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702" y="3852864"/>
                          <a:ext cx="1339850" cy="63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 name="TextBox 83"/>
            <p:cNvSpPr txBox="1"/>
            <p:nvPr/>
          </p:nvSpPr>
          <p:spPr>
            <a:xfrm>
              <a:off x="285720" y="4418246"/>
              <a:ext cx="1714512" cy="369332"/>
            </a:xfrm>
            <a:prstGeom prst="rect">
              <a:avLst/>
            </a:prstGeom>
            <a:noFill/>
            <a:ln w="28575">
              <a:noFill/>
            </a:ln>
          </p:spPr>
          <p:txBody>
            <a:bodyPr wrap="square" rtlCol="0">
              <a:spAutoFit/>
            </a:bodyPr>
            <a:lstStyle/>
            <a:p>
              <a:r>
                <a:rPr lang="en-US" altLang="zh-CN" b="1"/>
                <a:t>(</a:t>
              </a:r>
              <a:r>
                <a:rPr lang="zh-CN" altLang="en-US" b="1"/>
                <a:t>下方受拉为正</a:t>
              </a:r>
              <a:r>
                <a:rPr lang="en-US" altLang="zh-CN" b="1"/>
                <a:t>)</a:t>
              </a:r>
              <a:endParaRPr lang="zh-CN" altLang="en-US" b="1"/>
            </a:p>
          </p:txBody>
        </p:sp>
      </p:grpSp>
      <p:grpSp>
        <p:nvGrpSpPr>
          <p:cNvPr id="98" name="组合 97"/>
          <p:cNvGrpSpPr/>
          <p:nvPr/>
        </p:nvGrpSpPr>
        <p:grpSpPr>
          <a:xfrm>
            <a:off x="4214810" y="3916709"/>
            <a:ext cx="2786082" cy="1268162"/>
            <a:chOff x="4214810" y="3916709"/>
            <a:chExt cx="2786082" cy="1268162"/>
          </a:xfrm>
        </p:grpSpPr>
        <p:pic>
          <p:nvPicPr>
            <p:cNvPr id="93" name="Picture 3"/>
            <p:cNvPicPr>
              <a:picLocks noChangeAspect="1" noChangeArrowheads="1"/>
            </p:cNvPicPr>
            <p:nvPr/>
          </p:nvPicPr>
          <p:blipFill>
            <a:blip r:embed="rId6"/>
            <a:srcRect/>
            <a:stretch>
              <a:fillRect/>
            </a:stretch>
          </p:blipFill>
          <p:spPr bwMode="auto">
            <a:xfrm>
              <a:off x="4214810" y="4500570"/>
              <a:ext cx="2786082" cy="684301"/>
            </a:xfrm>
            <a:prstGeom prst="rect">
              <a:avLst/>
            </a:prstGeom>
            <a:noFill/>
            <a:ln w="9525">
              <a:noFill/>
              <a:miter lim="800000"/>
              <a:headEnd/>
              <a:tailEnd/>
            </a:ln>
            <a:effectLst/>
          </p:spPr>
        </p:pic>
        <p:cxnSp>
          <p:nvCxnSpPr>
            <p:cNvPr id="94" name="直接连接符 93"/>
            <p:cNvCxnSpPr/>
            <p:nvPr/>
          </p:nvCxnSpPr>
          <p:spPr bwMode="auto">
            <a:xfrm flipV="1">
              <a:off x="4370043" y="4310970"/>
              <a:ext cx="2448000" cy="540000"/>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5" name="直接连接符 94"/>
            <p:cNvCxnSpPr/>
            <p:nvPr/>
          </p:nvCxnSpPr>
          <p:spPr bwMode="auto">
            <a:xfrm rot="5400000" flipH="1" flipV="1">
              <a:off x="6548344" y="4571214"/>
              <a:ext cx="57150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96" name="TextBox 95"/>
            <p:cNvSpPr txBox="1"/>
            <p:nvPr/>
          </p:nvSpPr>
          <p:spPr>
            <a:xfrm>
              <a:off x="6733337" y="3916709"/>
              <a:ext cx="255198"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l</a:t>
              </a:r>
              <a:endParaRPr lang="zh-CN" altLang="en-US" sz="2000" b="1" baseline="30000">
                <a:solidFill>
                  <a:srgbClr val="0033CC"/>
                </a:solidFill>
                <a:latin typeface="Times New Roman" pitchFamily="18" charset="0"/>
                <a:cs typeface="Times New Roman" pitchFamily="18" charset="0"/>
              </a:endParaRPr>
            </a:p>
          </p:txBody>
        </p:sp>
        <p:graphicFrame>
          <p:nvGraphicFramePr>
            <p:cNvPr id="97" name="Object 4"/>
            <p:cNvGraphicFramePr>
              <a:graphicFrameLocks noChangeAspect="1"/>
            </p:cNvGraphicFramePr>
            <p:nvPr/>
          </p:nvGraphicFramePr>
          <p:xfrm>
            <a:off x="4323319" y="3966637"/>
            <a:ext cx="831850" cy="346075"/>
          </p:xfrm>
          <a:graphic>
            <a:graphicData uri="http://schemas.openxmlformats.org/presentationml/2006/ole">
              <mc:AlternateContent xmlns:mc="http://schemas.openxmlformats.org/markup-compatibility/2006">
                <mc:Choice xmlns:v="urn:schemas-microsoft-com:vml" Requires="v">
                  <p:oleObj spid="_x0000_s451593" name="Equation" r:id="rId9" imgW="520560" imgH="215640" progId="Equation.DSMT4">
                    <p:embed/>
                  </p:oleObj>
                </mc:Choice>
                <mc:Fallback>
                  <p:oleObj name="Equation" r:id="rId9" imgW="520560" imgH="21564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3319" y="3966637"/>
                          <a:ext cx="8318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7" name="组合 106"/>
          <p:cNvGrpSpPr/>
          <p:nvPr/>
        </p:nvGrpSpPr>
        <p:grpSpPr>
          <a:xfrm>
            <a:off x="536554" y="5286388"/>
            <a:ext cx="2990124" cy="1400242"/>
            <a:chOff x="536554" y="5286388"/>
            <a:chExt cx="2990124" cy="1400242"/>
          </a:xfrm>
        </p:grpSpPr>
        <p:grpSp>
          <p:nvGrpSpPr>
            <p:cNvPr id="92" name="组合 91"/>
            <p:cNvGrpSpPr/>
            <p:nvPr/>
          </p:nvGrpSpPr>
          <p:grpSpPr>
            <a:xfrm>
              <a:off x="536554" y="5286388"/>
              <a:ext cx="2990124" cy="1400242"/>
              <a:chOff x="536554" y="5286388"/>
              <a:chExt cx="2990124" cy="1400242"/>
            </a:xfrm>
          </p:grpSpPr>
          <p:pic>
            <p:nvPicPr>
              <p:cNvPr id="86" name="Picture 3"/>
              <p:cNvPicPr>
                <a:picLocks noChangeAspect="1" noChangeArrowheads="1"/>
              </p:cNvPicPr>
              <p:nvPr/>
            </p:nvPicPr>
            <p:blipFill>
              <a:blip r:embed="rId6"/>
              <a:srcRect/>
              <a:stretch>
                <a:fillRect/>
              </a:stretch>
            </p:blipFill>
            <p:spPr bwMode="auto">
              <a:xfrm>
                <a:off x="714348" y="5357826"/>
                <a:ext cx="2786082" cy="684301"/>
              </a:xfrm>
              <a:prstGeom prst="rect">
                <a:avLst/>
              </a:prstGeom>
              <a:noFill/>
              <a:ln w="9525">
                <a:noFill/>
                <a:miter lim="800000"/>
                <a:headEnd/>
                <a:tailEnd/>
              </a:ln>
              <a:effectLst/>
            </p:spPr>
          </p:pic>
          <p:cxnSp>
            <p:nvCxnSpPr>
              <p:cNvPr id="87" name="直接连接符 86"/>
              <p:cNvCxnSpPr/>
              <p:nvPr/>
            </p:nvCxnSpPr>
            <p:spPr bwMode="auto">
              <a:xfrm rot="5400000" flipH="1" flipV="1">
                <a:off x="3033343" y="5999974"/>
                <a:ext cx="57150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89" name="直接连接符 88"/>
              <p:cNvCxnSpPr/>
              <p:nvPr/>
            </p:nvCxnSpPr>
            <p:spPr bwMode="auto">
              <a:xfrm>
                <a:off x="884120" y="5745429"/>
                <a:ext cx="2448000" cy="540000"/>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90" name="TextBox 89"/>
              <p:cNvSpPr txBox="1"/>
              <p:nvPr/>
            </p:nvSpPr>
            <p:spPr>
              <a:xfrm>
                <a:off x="3143240" y="6286520"/>
                <a:ext cx="383438" cy="400110"/>
              </a:xfrm>
              <a:prstGeom prst="rect">
                <a:avLst/>
              </a:prstGeom>
              <a:noFill/>
              <a:ln w="28575">
                <a:noFill/>
              </a:ln>
            </p:spPr>
            <p:txBody>
              <a:bodyPr wrap="none" rtlCol="0">
                <a:spAutoFit/>
              </a:bodyPr>
              <a:lstStyle/>
              <a:p>
                <a:r>
                  <a:rPr lang="en-US" altLang="zh-CN" sz="2000" b="1" i="1">
                    <a:solidFill>
                      <a:srgbClr val="0033CC"/>
                    </a:solidFill>
                    <a:latin typeface="Times New Roman" pitchFamily="18" charset="0"/>
                    <a:cs typeface="Times New Roman" pitchFamily="18" charset="0"/>
                  </a:rPr>
                  <a:t>ql</a:t>
                </a:r>
                <a:endParaRPr lang="zh-CN" altLang="en-US" sz="2000" b="1" baseline="30000">
                  <a:solidFill>
                    <a:srgbClr val="0033CC"/>
                  </a:solidFill>
                  <a:latin typeface="Times New Roman" pitchFamily="18" charset="0"/>
                  <a:cs typeface="Times New Roman" pitchFamily="18" charset="0"/>
                </a:endParaRPr>
              </a:p>
            </p:txBody>
          </p:sp>
          <p:graphicFrame>
            <p:nvGraphicFramePr>
              <p:cNvPr id="91" name="Object 4"/>
              <p:cNvGraphicFramePr>
                <a:graphicFrameLocks noChangeAspect="1"/>
              </p:cNvGraphicFramePr>
              <p:nvPr/>
            </p:nvGraphicFramePr>
            <p:xfrm>
              <a:off x="536554" y="5286388"/>
              <a:ext cx="1035050" cy="385762"/>
            </p:xfrm>
            <a:graphic>
              <a:graphicData uri="http://schemas.openxmlformats.org/presentationml/2006/ole">
                <mc:AlternateContent xmlns:mc="http://schemas.openxmlformats.org/markup-compatibility/2006">
                  <mc:Choice xmlns:v="urn:schemas-microsoft-com:vml" Requires="v">
                    <p:oleObj spid="_x0000_s451594" name="Equation" r:id="rId11" imgW="647640" imgH="241200" progId="Equation.DSMT4">
                      <p:embed/>
                    </p:oleObj>
                  </mc:Choice>
                  <mc:Fallback>
                    <p:oleObj name="Equation" r:id="rId11" imgW="647640" imgH="241200" progId="Equation.DSMT4">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554" y="5286388"/>
                            <a:ext cx="10350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5" name="TextBox 104"/>
            <p:cNvSpPr txBox="1"/>
            <p:nvPr/>
          </p:nvSpPr>
          <p:spPr>
            <a:xfrm>
              <a:off x="2304620" y="5572140"/>
              <a:ext cx="338554" cy="646331"/>
            </a:xfrm>
            <a:prstGeom prst="rect">
              <a:avLst/>
            </a:prstGeom>
            <a:noFill/>
            <a:ln w="28575">
              <a:noFill/>
            </a:ln>
          </p:spPr>
          <p:txBody>
            <a:bodyPr wrap="none" rtlCol="0">
              <a:spAutoFit/>
            </a:bodyPr>
            <a:lstStyle/>
            <a:p>
              <a:r>
                <a:rPr lang="en-US" altLang="zh-CN" sz="3600" b="1">
                  <a:solidFill>
                    <a:srgbClr val="0033CC"/>
                  </a:solidFill>
                  <a:latin typeface="+mn-ea"/>
                </a:rPr>
                <a:t>-</a:t>
              </a:r>
              <a:endParaRPr lang="zh-CN" altLang="en-US" sz="3600" b="1">
                <a:solidFill>
                  <a:srgbClr val="0033CC"/>
                </a:solidFill>
                <a:latin typeface="+mn-ea"/>
              </a:endParaRPr>
            </a:p>
          </p:txBody>
        </p:sp>
      </p:grpSp>
      <p:grpSp>
        <p:nvGrpSpPr>
          <p:cNvPr id="109" name="组合 108"/>
          <p:cNvGrpSpPr/>
          <p:nvPr/>
        </p:nvGrpSpPr>
        <p:grpSpPr>
          <a:xfrm>
            <a:off x="4214810" y="5276850"/>
            <a:ext cx="2786082" cy="1266904"/>
            <a:chOff x="4214810" y="5276850"/>
            <a:chExt cx="2786082" cy="1266904"/>
          </a:xfrm>
        </p:grpSpPr>
        <p:pic>
          <p:nvPicPr>
            <p:cNvPr id="99" name="Picture 3"/>
            <p:cNvPicPr>
              <a:picLocks noChangeAspect="1" noChangeArrowheads="1"/>
            </p:cNvPicPr>
            <p:nvPr/>
          </p:nvPicPr>
          <p:blipFill>
            <a:blip r:embed="rId6"/>
            <a:srcRect/>
            <a:stretch>
              <a:fillRect/>
            </a:stretch>
          </p:blipFill>
          <p:spPr bwMode="auto">
            <a:xfrm>
              <a:off x="4214810" y="5353538"/>
              <a:ext cx="2786082" cy="684301"/>
            </a:xfrm>
            <a:prstGeom prst="rect">
              <a:avLst/>
            </a:prstGeom>
            <a:noFill/>
            <a:ln w="9525">
              <a:noFill/>
              <a:miter lim="800000"/>
              <a:headEnd/>
              <a:tailEnd/>
            </a:ln>
            <a:effectLst/>
          </p:spPr>
        </p:pic>
        <p:cxnSp>
          <p:nvCxnSpPr>
            <p:cNvPr id="100" name="直接连接符 99"/>
            <p:cNvCxnSpPr/>
            <p:nvPr/>
          </p:nvCxnSpPr>
          <p:spPr bwMode="auto">
            <a:xfrm rot="5400000" flipH="1" flipV="1">
              <a:off x="6636096" y="5921875"/>
              <a:ext cx="396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101" name="直接连接符 100"/>
            <p:cNvCxnSpPr/>
            <p:nvPr/>
          </p:nvCxnSpPr>
          <p:spPr bwMode="auto">
            <a:xfrm rot="5400000" flipH="1" flipV="1">
              <a:off x="4185194" y="5926182"/>
              <a:ext cx="396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103" name="直接连接符 102"/>
            <p:cNvCxnSpPr/>
            <p:nvPr/>
          </p:nvCxnSpPr>
          <p:spPr bwMode="auto">
            <a:xfrm>
              <a:off x="4371646" y="6121116"/>
              <a:ext cx="2469600"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sp>
          <p:nvSpPr>
            <p:cNvPr id="104" name="TextBox 103"/>
            <p:cNvSpPr txBox="1"/>
            <p:nvPr/>
          </p:nvSpPr>
          <p:spPr>
            <a:xfrm>
              <a:off x="5500694" y="6143644"/>
              <a:ext cx="312906" cy="400110"/>
            </a:xfrm>
            <a:prstGeom prst="rect">
              <a:avLst/>
            </a:prstGeom>
            <a:noFill/>
            <a:ln w="28575">
              <a:noFill/>
            </a:ln>
          </p:spPr>
          <p:txBody>
            <a:bodyPr wrap="none" rtlCol="0">
              <a:spAutoFit/>
            </a:bodyPr>
            <a:lstStyle/>
            <a:p>
              <a:r>
                <a:rPr lang="en-US" altLang="zh-CN" sz="2000" b="1">
                  <a:solidFill>
                    <a:srgbClr val="0033CC"/>
                  </a:solidFill>
                  <a:latin typeface="Times New Roman" pitchFamily="18" charset="0"/>
                  <a:cs typeface="Times New Roman" pitchFamily="18" charset="0"/>
                </a:rPr>
                <a:t>1</a:t>
              </a:r>
              <a:endParaRPr lang="zh-CN" altLang="en-US" sz="2000" b="1" baseline="30000">
                <a:solidFill>
                  <a:srgbClr val="0033CC"/>
                </a:solidFill>
                <a:latin typeface="Times New Roman" pitchFamily="18" charset="0"/>
                <a:cs typeface="Times New Roman" pitchFamily="18" charset="0"/>
              </a:endParaRPr>
            </a:p>
          </p:txBody>
        </p:sp>
        <p:sp>
          <p:nvSpPr>
            <p:cNvPr id="106" name="TextBox 105"/>
            <p:cNvSpPr txBox="1"/>
            <p:nvPr/>
          </p:nvSpPr>
          <p:spPr>
            <a:xfrm>
              <a:off x="5451834" y="5572140"/>
              <a:ext cx="338554" cy="646331"/>
            </a:xfrm>
            <a:prstGeom prst="rect">
              <a:avLst/>
            </a:prstGeom>
            <a:noFill/>
            <a:ln w="28575">
              <a:noFill/>
            </a:ln>
          </p:spPr>
          <p:txBody>
            <a:bodyPr wrap="none" rtlCol="0">
              <a:spAutoFit/>
            </a:bodyPr>
            <a:lstStyle/>
            <a:p>
              <a:r>
                <a:rPr lang="en-US" altLang="zh-CN" sz="3600" b="1">
                  <a:solidFill>
                    <a:srgbClr val="0033CC"/>
                  </a:solidFill>
                  <a:latin typeface="+mn-ea"/>
                </a:rPr>
                <a:t>-</a:t>
              </a:r>
              <a:endParaRPr lang="zh-CN" altLang="en-US" sz="3600" b="1">
                <a:solidFill>
                  <a:srgbClr val="0033CC"/>
                </a:solidFill>
                <a:latin typeface="+mn-ea"/>
              </a:endParaRPr>
            </a:p>
          </p:txBody>
        </p:sp>
        <p:graphicFrame>
          <p:nvGraphicFramePr>
            <p:cNvPr id="108" name="Object 4"/>
            <p:cNvGraphicFramePr>
              <a:graphicFrameLocks noChangeAspect="1"/>
            </p:cNvGraphicFramePr>
            <p:nvPr/>
          </p:nvGraphicFramePr>
          <p:xfrm>
            <a:off x="4298950" y="5276850"/>
            <a:ext cx="871538" cy="366713"/>
          </p:xfrm>
          <a:graphic>
            <a:graphicData uri="http://schemas.openxmlformats.org/presentationml/2006/ole">
              <mc:AlternateContent xmlns:mc="http://schemas.openxmlformats.org/markup-compatibility/2006">
                <mc:Choice xmlns:v="urn:schemas-microsoft-com:vml" Requires="v">
                  <p:oleObj spid="_x0000_s451595" name="Equation" r:id="rId13" imgW="545760" imgH="228600" progId="Equation.DSMT4">
                    <p:embed/>
                  </p:oleObj>
                </mc:Choice>
                <mc:Fallback>
                  <p:oleObj name="Equation" r:id="rId13" imgW="545760" imgH="22860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8950" y="5276850"/>
                          <a:ext cx="871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1" name="组合 110"/>
          <p:cNvGrpSpPr/>
          <p:nvPr/>
        </p:nvGrpSpPr>
        <p:grpSpPr>
          <a:xfrm>
            <a:off x="7513528" y="4301410"/>
            <a:ext cx="1130438" cy="627788"/>
            <a:chOff x="7429520" y="5755960"/>
            <a:chExt cx="1130438" cy="627788"/>
          </a:xfrm>
        </p:grpSpPr>
        <p:sp>
          <p:nvSpPr>
            <p:cNvPr id="112" name="TextBox 111"/>
            <p:cNvSpPr txBox="1"/>
            <p:nvPr/>
          </p:nvSpPr>
          <p:spPr>
            <a:xfrm>
              <a:off x="7429520" y="5857892"/>
              <a:ext cx="113043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I </a:t>
              </a:r>
              <a:r>
                <a:rPr lang="en-US" altLang="zh-CN" b="1">
                  <a:latin typeface="Times New Roman" pitchFamily="18" charset="0"/>
                  <a:cs typeface="Times New Roman" pitchFamily="18" charset="0"/>
                </a:rPr>
                <a:t>= —</a:t>
              </a:r>
              <a:r>
                <a:rPr lang="en-US" altLang="zh-CN" b="1">
                  <a:latin typeface="+mn-ea"/>
                  <a:cs typeface="Times New Roman" pitchFamily="18" charset="0"/>
                </a:rPr>
                <a:t> </a:t>
              </a:r>
              <a:r>
                <a:rPr lang="en-US" altLang="zh-CN" b="1" i="1">
                  <a:latin typeface="Times New Roman" pitchFamily="18" charset="0"/>
                  <a:cs typeface="Times New Roman" pitchFamily="18" charset="0"/>
                </a:rPr>
                <a:t>bh</a:t>
              </a:r>
              <a:r>
                <a:rPr lang="en-US" altLang="zh-CN" b="1" baseline="30000">
                  <a:latin typeface="Times New Roman" pitchFamily="18" charset="0"/>
                  <a:cs typeface="Times New Roman" pitchFamily="18" charset="0"/>
                </a:rPr>
                <a:t>3</a:t>
              </a:r>
              <a:endParaRPr lang="zh-CN" altLang="en-US" b="1" baseline="30000">
                <a:latin typeface="Times New Roman" pitchFamily="18" charset="0"/>
                <a:cs typeface="Times New Roman" pitchFamily="18" charset="0"/>
              </a:endParaRPr>
            </a:p>
          </p:txBody>
        </p:sp>
        <p:sp>
          <p:nvSpPr>
            <p:cNvPr id="113" name="TextBox 112"/>
            <p:cNvSpPr txBox="1"/>
            <p:nvPr/>
          </p:nvSpPr>
          <p:spPr>
            <a:xfrm>
              <a:off x="7838104" y="5755960"/>
              <a:ext cx="300082"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sp>
          <p:nvSpPr>
            <p:cNvPr id="114" name="TextBox 113"/>
            <p:cNvSpPr txBox="1"/>
            <p:nvPr/>
          </p:nvSpPr>
          <p:spPr>
            <a:xfrm>
              <a:off x="7773062" y="6014416"/>
              <a:ext cx="415498"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12</a:t>
              </a:r>
              <a:endParaRPr lang="zh-CN" altLang="en-US" b="1">
                <a:latin typeface="Times New Roman" pitchFamily="18" charset="0"/>
                <a:cs typeface="Times New Roman" pitchFamily="18" charset="0"/>
              </a:endParaRPr>
            </a:p>
          </p:txBody>
        </p:sp>
      </p:grpSp>
      <p:sp>
        <p:nvSpPr>
          <p:cNvPr id="116" name="TextBox 115"/>
          <p:cNvSpPr txBox="1"/>
          <p:nvPr/>
        </p:nvSpPr>
        <p:spPr>
          <a:xfrm>
            <a:off x="7513528" y="5617788"/>
            <a:ext cx="758606"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 </a:t>
            </a:r>
            <a:r>
              <a:rPr lang="en-US" altLang="zh-CN" b="1">
                <a:latin typeface="Times New Roman" pitchFamily="18" charset="0"/>
                <a:cs typeface="Times New Roman" pitchFamily="18" charset="0"/>
              </a:rPr>
              <a:t>=</a:t>
            </a:r>
            <a:r>
              <a:rPr lang="en-US" altLang="zh-CN" b="1" i="1">
                <a:latin typeface="Times New Roman" pitchFamily="18" charset="0"/>
                <a:cs typeface="Times New Roman" pitchFamily="18" charset="0"/>
              </a:rPr>
              <a:t>bh</a:t>
            </a:r>
            <a:endParaRPr lang="zh-CN" altLang="en-US" b="1" baseline="30000">
              <a:latin typeface="Times New Roman" pitchFamily="18" charset="0"/>
              <a:cs typeface="Times New Roman" pitchFamily="18" charset="0"/>
            </a:endParaRPr>
          </a:p>
        </p:txBody>
      </p:sp>
      <p:sp>
        <p:nvSpPr>
          <p:cNvPr id="75" name="TextBox 74"/>
          <p:cNvSpPr txBox="1"/>
          <p:nvPr/>
        </p:nvSpPr>
        <p:spPr>
          <a:xfrm>
            <a:off x="857224" y="4929198"/>
            <a:ext cx="2031325" cy="369332"/>
          </a:xfrm>
          <a:prstGeom prst="rect">
            <a:avLst/>
          </a:prstGeom>
          <a:noFill/>
          <a:ln w="28575">
            <a:noFill/>
          </a:ln>
        </p:spPr>
        <p:txBody>
          <a:bodyPr wrap="none" rtlCol="0">
            <a:spAutoFit/>
          </a:bodyPr>
          <a:lstStyle/>
          <a:p>
            <a:r>
              <a:rPr lang="zh-CN" altLang="en-US" b="1">
                <a:solidFill>
                  <a:srgbClr val="0033CC"/>
                </a:solidFill>
              </a:rPr>
              <a:t>荷载↓，弯矩图↓凸</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
                                        </p:tgtEl>
                                        <p:attrNameLst>
                                          <p:attrName>style.visibility</p:attrName>
                                        </p:attrNameLst>
                                      </p:cBhvr>
                                      <p:to>
                                        <p:strVal val="visible"/>
                                      </p:to>
                                    </p:set>
                                    <p:anim calcmode="lin" valueType="num">
                                      <p:cBhvr additive="base">
                                        <p:cTn id="13" dur="500" fill="hold"/>
                                        <p:tgtEl>
                                          <p:spTgt spid="75"/>
                                        </p:tgtEl>
                                        <p:attrNameLst>
                                          <p:attrName>ppt_x</p:attrName>
                                        </p:attrNameLst>
                                      </p:cBhvr>
                                      <p:tavLst>
                                        <p:tav tm="0">
                                          <p:val>
                                            <p:strVal val="#ppt_x"/>
                                          </p:val>
                                        </p:tav>
                                        <p:tav tm="100000">
                                          <p:val>
                                            <p:strVal val="#ppt_x"/>
                                          </p:val>
                                        </p:tav>
                                      </p:tavLst>
                                    </p:anim>
                                    <p:anim calcmode="lin" valueType="num">
                                      <p:cBhvr additive="base">
                                        <p:cTn id="1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
                                        </p:tgtEl>
                                        <p:attrNameLst>
                                          <p:attrName>style.visibility</p:attrName>
                                        </p:attrNameLst>
                                      </p:cBhvr>
                                      <p:to>
                                        <p:strVal val="visible"/>
                                      </p:to>
                                    </p:set>
                                    <p:anim calcmode="lin" valueType="num">
                                      <p:cBhvr additive="base">
                                        <p:cTn id="19" dur="500" fill="hold"/>
                                        <p:tgtEl>
                                          <p:spTgt spid="107"/>
                                        </p:tgtEl>
                                        <p:attrNameLst>
                                          <p:attrName>ppt_x</p:attrName>
                                        </p:attrNameLst>
                                      </p:cBhvr>
                                      <p:tavLst>
                                        <p:tav tm="0">
                                          <p:val>
                                            <p:strVal val="#ppt_x"/>
                                          </p:val>
                                        </p:tav>
                                        <p:tav tm="100000">
                                          <p:val>
                                            <p:strVal val="#ppt_x"/>
                                          </p:val>
                                        </p:tav>
                                      </p:tavLst>
                                    </p:anim>
                                    <p:anim calcmode="lin" valueType="num">
                                      <p:cBhvr additive="base">
                                        <p:cTn id="20"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gtEl>
                                        <p:attrNameLst>
                                          <p:attrName>style.visibility</p:attrName>
                                        </p:attrNameLst>
                                      </p:cBhvr>
                                      <p:to>
                                        <p:strVal val="visible"/>
                                      </p:to>
                                    </p:set>
                                    <p:anim calcmode="lin" valueType="num">
                                      <p:cBhvr additive="base">
                                        <p:cTn id="25" dur="500" fill="hold"/>
                                        <p:tgtEl>
                                          <p:spTgt spid="98"/>
                                        </p:tgtEl>
                                        <p:attrNameLst>
                                          <p:attrName>ppt_x</p:attrName>
                                        </p:attrNameLst>
                                      </p:cBhvr>
                                      <p:tavLst>
                                        <p:tav tm="0">
                                          <p:val>
                                            <p:strVal val="#ppt_x"/>
                                          </p:val>
                                        </p:tav>
                                        <p:tav tm="100000">
                                          <p:val>
                                            <p:strVal val="#ppt_x"/>
                                          </p:val>
                                        </p:tav>
                                      </p:tavLst>
                                    </p:anim>
                                    <p:anim calcmode="lin" valueType="num">
                                      <p:cBhvr additive="base">
                                        <p:cTn id="26"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 calcmode="lin" valueType="num">
                                      <p:cBhvr additive="base">
                                        <p:cTn id="31" dur="500" fill="hold"/>
                                        <p:tgtEl>
                                          <p:spTgt spid="109"/>
                                        </p:tgtEl>
                                        <p:attrNameLst>
                                          <p:attrName>ppt_x</p:attrName>
                                        </p:attrNameLst>
                                      </p:cBhvr>
                                      <p:tavLst>
                                        <p:tav tm="0">
                                          <p:val>
                                            <p:strVal val="#ppt_x"/>
                                          </p:val>
                                        </p:tav>
                                        <p:tav tm="100000">
                                          <p:val>
                                            <p:strVal val="#ppt_x"/>
                                          </p:val>
                                        </p:tav>
                                      </p:tavLst>
                                    </p:anim>
                                    <p:anim calcmode="lin" valueType="num">
                                      <p:cBhvr additive="base">
                                        <p:cTn id="32"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1"/>
                                        </p:tgtEl>
                                        <p:attrNameLst>
                                          <p:attrName>style.visibility</p:attrName>
                                        </p:attrNameLst>
                                      </p:cBhvr>
                                      <p:to>
                                        <p:strVal val="visible"/>
                                      </p:to>
                                    </p:set>
                                    <p:anim calcmode="lin" valueType="num">
                                      <p:cBhvr additive="base">
                                        <p:cTn id="37" dur="500" fill="hold"/>
                                        <p:tgtEl>
                                          <p:spTgt spid="111"/>
                                        </p:tgtEl>
                                        <p:attrNameLst>
                                          <p:attrName>ppt_x</p:attrName>
                                        </p:attrNameLst>
                                      </p:cBhvr>
                                      <p:tavLst>
                                        <p:tav tm="0">
                                          <p:val>
                                            <p:strVal val="#ppt_x"/>
                                          </p:val>
                                        </p:tav>
                                        <p:tav tm="100000">
                                          <p:val>
                                            <p:strVal val="#ppt_x"/>
                                          </p:val>
                                        </p:tav>
                                      </p:tavLst>
                                    </p:anim>
                                    <p:anim calcmode="lin" valueType="num">
                                      <p:cBhvr additive="base">
                                        <p:cTn id="38"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6"/>
                                        </p:tgtEl>
                                        <p:attrNameLst>
                                          <p:attrName>style.visibility</p:attrName>
                                        </p:attrNameLst>
                                      </p:cBhvr>
                                      <p:to>
                                        <p:strVal val="visible"/>
                                      </p:to>
                                    </p:set>
                                    <p:anim calcmode="lin" valueType="num">
                                      <p:cBhvr additive="base">
                                        <p:cTn id="43" dur="500" fill="hold"/>
                                        <p:tgtEl>
                                          <p:spTgt spid="116"/>
                                        </p:tgtEl>
                                        <p:attrNameLst>
                                          <p:attrName>ppt_x</p:attrName>
                                        </p:attrNameLst>
                                      </p:cBhvr>
                                      <p:tavLst>
                                        <p:tav tm="0">
                                          <p:val>
                                            <p:strVal val="#ppt_x"/>
                                          </p:val>
                                        </p:tav>
                                        <p:tav tm="100000">
                                          <p:val>
                                            <p:strVal val="#ppt_x"/>
                                          </p:val>
                                        </p:tav>
                                      </p:tavLst>
                                    </p:anim>
                                    <p:anim calcmode="lin" valueType="num">
                                      <p:cBhvr additive="base">
                                        <p:cTn id="44"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7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5-3 </a:t>
            </a:r>
            <a:r>
              <a:rPr lang="zh-CN" altLang="en-US" sz="2000" b="1">
                <a:latin typeface="Times New Roman" pitchFamily="18" charset="0"/>
                <a:cs typeface="Times New Roman" pitchFamily="18" charset="0"/>
              </a:rPr>
              <a:t>试求图示悬臂梁在</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端的竖直位移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，并比较弯曲变形和剪切变形对位移的影响。设梁的截面为矩形，泊松比</a:t>
            </a:r>
            <a:r>
              <a:rPr lang="en-US" altLang="zh-CN" sz="2000" b="1">
                <a:latin typeface="Times New Roman" pitchFamily="18" charset="0"/>
                <a:cs typeface="Times New Roman" pitchFamily="18" charset="0"/>
              </a:rPr>
              <a:t>1/3</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4" name="组合 41"/>
          <p:cNvGrpSpPr/>
          <p:nvPr/>
        </p:nvGrpSpPr>
        <p:grpSpPr>
          <a:xfrm>
            <a:off x="479005" y="2571744"/>
            <a:ext cx="3214710" cy="1252192"/>
            <a:chOff x="5374664" y="3272476"/>
            <a:chExt cx="3581348" cy="1395068"/>
          </a:xfrm>
        </p:grpSpPr>
        <p:pic>
          <p:nvPicPr>
            <p:cNvPr id="436227" name="Picture 3" descr="C:\Users\Administrator\AppData\Roaming\Tencent\Users\174520645\QQ\WinTemp\RichOle\RNF$XY_LUR]C0[@H{M3E[)H.png"/>
            <p:cNvPicPr>
              <a:picLocks noChangeAspect="1" noChangeArrowheads="1"/>
            </p:cNvPicPr>
            <p:nvPr/>
          </p:nvPicPr>
          <p:blipFill>
            <a:blip r:embed="rId4"/>
            <a:srcRect/>
            <a:stretch>
              <a:fillRect/>
            </a:stretch>
          </p:blipFill>
          <p:spPr bwMode="auto">
            <a:xfrm>
              <a:off x="5499692" y="3429000"/>
              <a:ext cx="3286148" cy="887399"/>
            </a:xfrm>
            <a:prstGeom prst="rect">
              <a:avLst/>
            </a:prstGeom>
            <a:noFill/>
          </p:spPr>
        </p:pic>
        <p:sp>
          <p:nvSpPr>
            <p:cNvPr id="26" name="TextBox 25"/>
            <p:cNvSpPr txBox="1"/>
            <p:nvPr/>
          </p:nvSpPr>
          <p:spPr>
            <a:xfrm>
              <a:off x="7028330" y="3272476"/>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27" name="TextBox 26"/>
            <p:cNvSpPr txBox="1"/>
            <p:nvPr/>
          </p:nvSpPr>
          <p:spPr>
            <a:xfrm>
              <a:off x="5374664" y="3775740"/>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8" name="TextBox 27"/>
            <p:cNvSpPr txBox="1"/>
            <p:nvPr/>
          </p:nvSpPr>
          <p:spPr>
            <a:xfrm>
              <a:off x="8599823" y="3789304"/>
              <a:ext cx="356189"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30" name="直接连接符 29"/>
            <p:cNvCxnSpPr/>
            <p:nvPr/>
          </p:nvCxnSpPr>
          <p:spPr bwMode="auto">
            <a:xfrm rot="5400000">
              <a:off x="5525150" y="4309140"/>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直接连接符 30"/>
            <p:cNvCxnSpPr>
              <a:cxnSpLocks noChangeAspect="1"/>
            </p:cNvCxnSpPr>
            <p:nvPr/>
          </p:nvCxnSpPr>
          <p:spPr bwMode="auto">
            <a:xfrm rot="5400000">
              <a:off x="8455537" y="4467495"/>
              <a:ext cx="178595" cy="79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5772798" y="4470076"/>
              <a:ext cx="2786082"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36" name="TextBox 35"/>
            <p:cNvSpPr txBox="1"/>
            <p:nvPr/>
          </p:nvSpPr>
          <p:spPr>
            <a:xfrm>
              <a:off x="7072330" y="426743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cxnSp>
          <p:nvCxnSpPr>
            <p:cNvPr id="37" name="直接连接符 36"/>
            <p:cNvCxnSpPr>
              <a:cxnSpLocks noChangeAspect="1"/>
            </p:cNvCxnSpPr>
            <p:nvPr/>
          </p:nvCxnSpPr>
          <p:spPr bwMode="auto">
            <a:xfrm rot="5400000">
              <a:off x="6535221" y="419311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5755952" y="4228466"/>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41" name="TextBox 40"/>
            <p:cNvSpPr txBox="1"/>
            <p:nvPr/>
          </p:nvSpPr>
          <p:spPr>
            <a:xfrm>
              <a:off x="6055352" y="4071942"/>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5" name="组合 54"/>
          <p:cNvGrpSpPr/>
          <p:nvPr/>
        </p:nvGrpSpPr>
        <p:grpSpPr>
          <a:xfrm>
            <a:off x="3908029" y="2602238"/>
            <a:ext cx="3286148" cy="928694"/>
            <a:chOff x="5371466" y="4901902"/>
            <a:chExt cx="3584546" cy="1170304"/>
          </a:xfrm>
        </p:grpSpPr>
        <p:pic>
          <p:nvPicPr>
            <p:cNvPr id="436228" name="Picture 4"/>
            <p:cNvPicPr>
              <a:picLocks noChangeAspect="1" noChangeArrowheads="1"/>
            </p:cNvPicPr>
            <p:nvPr/>
          </p:nvPicPr>
          <p:blipFill>
            <a:blip r:embed="rId5"/>
            <a:srcRect/>
            <a:stretch>
              <a:fillRect/>
            </a:stretch>
          </p:blipFill>
          <p:spPr bwMode="auto">
            <a:xfrm>
              <a:off x="5487046" y="5000636"/>
              <a:ext cx="3292101" cy="1000132"/>
            </a:xfrm>
            <a:prstGeom prst="rect">
              <a:avLst/>
            </a:prstGeom>
            <a:noFill/>
            <a:ln w="9525">
              <a:noFill/>
              <a:miter lim="800000"/>
              <a:headEnd/>
              <a:tailEnd/>
            </a:ln>
            <a:effectLst/>
          </p:spPr>
        </p:pic>
        <p:sp>
          <p:nvSpPr>
            <p:cNvPr id="48" name="TextBox 47"/>
            <p:cNvSpPr txBox="1"/>
            <p:nvPr/>
          </p:nvSpPr>
          <p:spPr>
            <a:xfrm>
              <a:off x="5371466" y="545778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49" name="TextBox 48"/>
            <p:cNvSpPr txBox="1"/>
            <p:nvPr/>
          </p:nvSpPr>
          <p:spPr>
            <a:xfrm>
              <a:off x="8599824" y="547695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50" name="TextBox 49"/>
            <p:cNvSpPr txBox="1"/>
            <p:nvPr/>
          </p:nvSpPr>
          <p:spPr>
            <a:xfrm>
              <a:off x="5772798" y="4901902"/>
              <a:ext cx="312906" cy="400110"/>
            </a:xfrm>
            <a:prstGeom prst="rect">
              <a:avLst/>
            </a:prstGeom>
            <a:noFill/>
            <a:ln w="28575">
              <a:noFill/>
            </a:ln>
          </p:spPr>
          <p:txBody>
            <a:bodyPr wrap="none" rtlCol="0">
              <a:spAutoFit/>
            </a:body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cxnSp>
          <p:nvCxnSpPr>
            <p:cNvPr id="51" name="直接连接符 50"/>
            <p:cNvCxnSpPr>
              <a:cxnSpLocks noChangeAspect="1"/>
            </p:cNvCxnSpPr>
            <p:nvPr/>
          </p:nvCxnSpPr>
          <p:spPr bwMode="auto">
            <a:xfrm rot="5400000">
              <a:off x="6536182" y="591082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2" name="直接连接符 51"/>
            <p:cNvCxnSpPr>
              <a:cxnSpLocks noChangeAspect="1"/>
            </p:cNvCxnSpPr>
            <p:nvPr/>
          </p:nvCxnSpPr>
          <p:spPr bwMode="auto">
            <a:xfrm rot="5400000">
              <a:off x="5662080" y="5922782"/>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742304" y="5924544"/>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54" name="TextBox 53"/>
            <p:cNvSpPr txBox="1"/>
            <p:nvPr/>
          </p:nvSpPr>
          <p:spPr>
            <a:xfrm>
              <a:off x="6072198" y="5764429"/>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6" name="组合 55"/>
          <p:cNvGrpSpPr/>
          <p:nvPr/>
        </p:nvGrpSpPr>
        <p:grpSpPr>
          <a:xfrm>
            <a:off x="7551367" y="2453144"/>
            <a:ext cx="1235475" cy="1404484"/>
            <a:chOff x="7500958" y="4357694"/>
            <a:chExt cx="1235475" cy="1404484"/>
          </a:xfrm>
        </p:grpSpPr>
        <p:grpSp>
          <p:nvGrpSpPr>
            <p:cNvPr id="7" name="组合 38"/>
            <p:cNvGrpSpPr/>
            <p:nvPr/>
          </p:nvGrpSpPr>
          <p:grpSpPr>
            <a:xfrm>
              <a:off x="7500958" y="4357694"/>
              <a:ext cx="928694" cy="1000132"/>
              <a:chOff x="7715272" y="4357694"/>
              <a:chExt cx="928694" cy="1000132"/>
            </a:xfrm>
          </p:grpSpPr>
          <p:sp>
            <p:nvSpPr>
              <p:cNvPr id="72" name="矩形 71"/>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73" name="直接连接符 72"/>
              <p:cNvCxnSpPr/>
              <p:nvPr/>
            </p:nvCxnSpPr>
            <p:spPr bwMode="auto">
              <a:xfrm>
                <a:off x="7715272" y="4857760"/>
                <a:ext cx="928694" cy="1588"/>
              </a:xfrm>
              <a:prstGeom prst="line">
                <a:avLst/>
              </a:prstGeom>
              <a:solidFill>
                <a:schemeClr val="accent1"/>
              </a:solidFill>
              <a:ln w="28575" cap="flat" cmpd="sng" algn="ctr">
                <a:solidFill>
                  <a:srgbClr val="00B050"/>
                </a:solidFill>
                <a:prstDash val="lgDashDot"/>
                <a:round/>
                <a:headEnd type="none" w="med" len="med"/>
                <a:tailEnd type="none" w="med" len="med"/>
              </a:ln>
              <a:effectLst/>
            </p:spPr>
          </p:cxnSp>
        </p:grpSp>
        <p:cxnSp>
          <p:nvCxnSpPr>
            <p:cNvPr id="63" name="直接连接符 62"/>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68" name="直接连接符 67"/>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71" name="TextBox 70"/>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graphicFrame>
        <p:nvGraphicFramePr>
          <p:cNvPr id="82" name="表格 81"/>
          <p:cNvGraphicFramePr>
            <a:graphicFrameLocks noGrp="1"/>
          </p:cNvGraphicFramePr>
          <p:nvPr/>
        </p:nvGraphicFramePr>
        <p:xfrm>
          <a:off x="725637" y="3880206"/>
          <a:ext cx="7715304" cy="1285884"/>
        </p:xfrm>
        <a:graphic>
          <a:graphicData uri="http://schemas.openxmlformats.org/drawingml/2006/table">
            <a:tbl>
              <a:tblPr firstRow="1" bandRow="1">
                <a:tableStyleId>{ED083AE6-46FA-4A59-8FB0-9F97EB10719F}</a:tableStyleId>
              </a:tblPr>
              <a:tblGrid>
                <a:gridCol w="1928826">
                  <a:extLst>
                    <a:ext uri="{9D8B030D-6E8A-4147-A177-3AD203B41FA5}">
                      <a16:colId xmlns:a16="http://schemas.microsoft.com/office/drawing/2014/main" val="20000"/>
                    </a:ext>
                  </a:extLst>
                </a:gridCol>
                <a:gridCol w="1928826">
                  <a:extLst>
                    <a:ext uri="{9D8B030D-6E8A-4147-A177-3AD203B41FA5}">
                      <a16:colId xmlns:a16="http://schemas.microsoft.com/office/drawing/2014/main" val="20001"/>
                    </a:ext>
                  </a:extLst>
                </a:gridCol>
                <a:gridCol w="1928826">
                  <a:extLst>
                    <a:ext uri="{9D8B030D-6E8A-4147-A177-3AD203B41FA5}">
                      <a16:colId xmlns:a16="http://schemas.microsoft.com/office/drawing/2014/main" val="20002"/>
                    </a:ext>
                  </a:extLst>
                </a:gridCol>
                <a:gridCol w="1928826">
                  <a:extLst>
                    <a:ext uri="{9D8B030D-6E8A-4147-A177-3AD203B41FA5}">
                      <a16:colId xmlns:a16="http://schemas.microsoft.com/office/drawing/2014/main" val="20003"/>
                    </a:ext>
                  </a:extLst>
                </a:gridCol>
              </a:tblGrid>
              <a:tr h="357190">
                <a:tc>
                  <a:txBody>
                    <a:bodyPr/>
                    <a:lstStyle/>
                    <a:p>
                      <a:pPr algn="ctr"/>
                      <a:r>
                        <a:rPr lang="zh-CN" altLang="en-US"/>
                        <a:t>变形类型</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t>真实荷载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t>虚设荷载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t>截面参数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460062">
                <a:tc>
                  <a:txBody>
                    <a:bodyPr/>
                    <a:lstStyle/>
                    <a:p>
                      <a:pPr algn="ctr"/>
                      <a:r>
                        <a:rPr lang="zh-CN" altLang="en-US" b="1"/>
                        <a:t>弯曲</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460062">
                <a:tc>
                  <a:txBody>
                    <a:bodyPr/>
                    <a:lstStyle/>
                    <a:p>
                      <a:pPr algn="ctr"/>
                      <a:r>
                        <a:rPr lang="zh-CN" altLang="en-US" b="1"/>
                        <a:t>剪切</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bl>
          </a:graphicData>
        </a:graphic>
      </p:graphicFrame>
      <p:grpSp>
        <p:nvGrpSpPr>
          <p:cNvPr id="83" name="组合 82"/>
          <p:cNvGrpSpPr/>
          <p:nvPr/>
        </p:nvGrpSpPr>
        <p:grpSpPr>
          <a:xfrm>
            <a:off x="2994200" y="4143380"/>
            <a:ext cx="5387479" cy="991133"/>
            <a:chOff x="3268663" y="5060785"/>
            <a:chExt cx="5387479" cy="991133"/>
          </a:xfrm>
        </p:grpSpPr>
        <p:graphicFrame>
          <p:nvGraphicFramePr>
            <p:cNvPr id="451588" name="Object 4"/>
            <p:cNvGraphicFramePr>
              <a:graphicFrameLocks noChangeAspect="1"/>
            </p:cNvGraphicFramePr>
            <p:nvPr/>
          </p:nvGraphicFramePr>
          <p:xfrm>
            <a:off x="3268663" y="5192372"/>
            <a:ext cx="1374775" cy="374650"/>
          </p:xfrm>
          <a:graphic>
            <a:graphicData uri="http://schemas.openxmlformats.org/presentationml/2006/ole">
              <mc:AlternateContent xmlns:mc="http://schemas.openxmlformats.org/markup-compatibility/2006">
                <mc:Choice xmlns:v="urn:schemas-microsoft-com:vml" Requires="v">
                  <p:oleObj spid="_x0000_s452618" name="Equation" r:id="rId6" imgW="888840" imgH="241200" progId="Equation.DSMT4">
                    <p:embed/>
                  </p:oleObj>
                </mc:Choice>
                <mc:Fallback>
                  <p:oleObj name="Equation" r:id="rId6" imgW="888840" imgH="2412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8663" y="5192372"/>
                          <a:ext cx="13747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 name="Object 4"/>
            <p:cNvGraphicFramePr>
              <a:graphicFrameLocks noChangeAspect="1"/>
            </p:cNvGraphicFramePr>
            <p:nvPr/>
          </p:nvGraphicFramePr>
          <p:xfrm>
            <a:off x="3394074" y="5666156"/>
            <a:ext cx="1035050" cy="385762"/>
          </p:xfrm>
          <a:graphic>
            <a:graphicData uri="http://schemas.openxmlformats.org/presentationml/2006/ole">
              <mc:AlternateContent xmlns:mc="http://schemas.openxmlformats.org/markup-compatibility/2006">
                <mc:Choice xmlns:v="urn:schemas-microsoft-com:vml" Requires="v">
                  <p:oleObj spid="_x0000_s452619" name="Equation" r:id="rId8" imgW="647640" imgH="241200" progId="Equation.DSMT4">
                    <p:embed/>
                  </p:oleObj>
                </mc:Choice>
                <mc:Fallback>
                  <p:oleObj name="Equation" r:id="rId8" imgW="64764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94074" y="5666156"/>
                          <a:ext cx="10350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 name="组合 110"/>
            <p:cNvGrpSpPr/>
            <p:nvPr/>
          </p:nvGrpSpPr>
          <p:grpSpPr>
            <a:xfrm>
              <a:off x="7286644" y="5060785"/>
              <a:ext cx="1130438" cy="627788"/>
              <a:chOff x="7429520" y="5755960"/>
              <a:chExt cx="1130438" cy="627788"/>
            </a:xfrm>
          </p:grpSpPr>
          <p:sp>
            <p:nvSpPr>
              <p:cNvPr id="112" name="TextBox 111"/>
              <p:cNvSpPr txBox="1"/>
              <p:nvPr/>
            </p:nvSpPr>
            <p:spPr>
              <a:xfrm>
                <a:off x="7429520" y="5857892"/>
                <a:ext cx="113043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I </a:t>
                </a:r>
                <a:r>
                  <a:rPr lang="en-US" altLang="zh-CN" b="1">
                    <a:latin typeface="Times New Roman" pitchFamily="18" charset="0"/>
                    <a:cs typeface="Times New Roman" pitchFamily="18" charset="0"/>
                  </a:rPr>
                  <a:t>= —</a:t>
                </a:r>
                <a:r>
                  <a:rPr lang="en-US" altLang="zh-CN" b="1">
                    <a:latin typeface="+mn-ea"/>
                    <a:cs typeface="Times New Roman" pitchFamily="18" charset="0"/>
                  </a:rPr>
                  <a:t> </a:t>
                </a:r>
                <a:r>
                  <a:rPr lang="en-US" altLang="zh-CN" b="1" i="1">
                    <a:latin typeface="Times New Roman" pitchFamily="18" charset="0"/>
                    <a:cs typeface="Times New Roman" pitchFamily="18" charset="0"/>
                  </a:rPr>
                  <a:t>bh</a:t>
                </a:r>
                <a:r>
                  <a:rPr lang="en-US" altLang="zh-CN" b="1" baseline="30000">
                    <a:latin typeface="Times New Roman" pitchFamily="18" charset="0"/>
                    <a:cs typeface="Times New Roman" pitchFamily="18" charset="0"/>
                  </a:rPr>
                  <a:t>3</a:t>
                </a:r>
                <a:endParaRPr lang="zh-CN" altLang="en-US" b="1" baseline="30000">
                  <a:latin typeface="Times New Roman" pitchFamily="18" charset="0"/>
                  <a:cs typeface="Times New Roman" pitchFamily="18" charset="0"/>
                </a:endParaRPr>
              </a:p>
            </p:txBody>
          </p:sp>
          <p:sp>
            <p:nvSpPr>
              <p:cNvPr id="113" name="TextBox 112"/>
              <p:cNvSpPr txBox="1"/>
              <p:nvPr/>
            </p:nvSpPr>
            <p:spPr>
              <a:xfrm>
                <a:off x="7838104" y="5755960"/>
                <a:ext cx="300082"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sp>
            <p:nvSpPr>
              <p:cNvPr id="114" name="TextBox 113"/>
              <p:cNvSpPr txBox="1"/>
              <p:nvPr/>
            </p:nvSpPr>
            <p:spPr>
              <a:xfrm>
                <a:off x="7773062" y="6014416"/>
                <a:ext cx="415498"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12</a:t>
                </a:r>
                <a:endParaRPr lang="zh-CN" altLang="en-US" b="1">
                  <a:latin typeface="Times New Roman" pitchFamily="18" charset="0"/>
                  <a:cs typeface="Times New Roman" pitchFamily="18" charset="0"/>
                </a:endParaRPr>
              </a:p>
            </p:txBody>
          </p:sp>
        </p:grpSp>
        <p:graphicFrame>
          <p:nvGraphicFramePr>
            <p:cNvPr id="75" name="Object 4"/>
            <p:cNvGraphicFramePr>
              <a:graphicFrameLocks noChangeAspect="1"/>
            </p:cNvGraphicFramePr>
            <p:nvPr/>
          </p:nvGraphicFramePr>
          <p:xfrm>
            <a:off x="5429256" y="5214950"/>
            <a:ext cx="831850" cy="346075"/>
          </p:xfrm>
          <a:graphic>
            <a:graphicData uri="http://schemas.openxmlformats.org/presentationml/2006/ole">
              <mc:AlternateContent xmlns:mc="http://schemas.openxmlformats.org/markup-compatibility/2006">
                <mc:Choice xmlns:v="urn:schemas-microsoft-com:vml" Requires="v">
                  <p:oleObj spid="_x0000_s452620" name="Equation" r:id="rId10" imgW="520560" imgH="215640" progId="Equation.DSMT4">
                    <p:embed/>
                  </p:oleObj>
                </mc:Choice>
                <mc:Fallback>
                  <p:oleObj name="Equation" r:id="rId10" imgW="520560" imgH="21564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9256" y="5214950"/>
                          <a:ext cx="8318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 name="Object 4"/>
            <p:cNvGraphicFramePr>
              <a:graphicFrameLocks noChangeAspect="1"/>
            </p:cNvGraphicFramePr>
            <p:nvPr/>
          </p:nvGraphicFramePr>
          <p:xfrm>
            <a:off x="5429256" y="5643578"/>
            <a:ext cx="871538" cy="366713"/>
          </p:xfrm>
          <a:graphic>
            <a:graphicData uri="http://schemas.openxmlformats.org/presentationml/2006/ole">
              <mc:AlternateContent xmlns:mc="http://schemas.openxmlformats.org/markup-compatibility/2006">
                <mc:Choice xmlns:v="urn:schemas-microsoft-com:vml" Requires="v">
                  <p:oleObj spid="_x0000_s452621" name="Equation" r:id="rId12" imgW="545760" imgH="228600" progId="Equation.DSMT4">
                    <p:embed/>
                  </p:oleObj>
                </mc:Choice>
                <mc:Fallback>
                  <p:oleObj name="Equation" r:id="rId12" imgW="545760" imgH="2286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29256" y="5643578"/>
                          <a:ext cx="871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 name="TextBox 115"/>
            <p:cNvSpPr txBox="1"/>
            <p:nvPr/>
          </p:nvSpPr>
          <p:spPr>
            <a:xfrm>
              <a:off x="7015885" y="5654867"/>
              <a:ext cx="1640257"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 </a:t>
              </a:r>
              <a:r>
                <a:rPr lang="en-US" altLang="zh-CN" b="1">
                  <a:latin typeface="Times New Roman" pitchFamily="18" charset="0"/>
                  <a:cs typeface="Times New Roman" pitchFamily="18" charset="0"/>
                </a:rPr>
                <a:t>=</a:t>
              </a:r>
              <a:r>
                <a:rPr lang="en-US" altLang="zh-CN" b="1" i="1">
                  <a:latin typeface="Times New Roman" pitchFamily="18" charset="0"/>
                  <a:cs typeface="Times New Roman" pitchFamily="18" charset="0"/>
                </a:rPr>
                <a:t>bh</a:t>
              </a:r>
              <a:r>
                <a:rPr lang="zh-CN" altLang="en-US" b="1">
                  <a:latin typeface="Times New Roman" pitchFamily="18" charset="0"/>
                  <a:cs typeface="Times New Roman" pitchFamily="18" charset="0"/>
                </a:rPr>
                <a:t>，</a:t>
              </a:r>
              <a:r>
                <a:rPr lang="en-US" altLang="zh-CN" b="1" i="1">
                  <a:latin typeface="Times New Roman" pitchFamily="18" charset="0"/>
                  <a:cs typeface="Times New Roman" pitchFamily="18" charset="0"/>
                </a:rPr>
                <a:t>k</a:t>
              </a:r>
              <a:r>
                <a:rPr lang="en-US" altLang="zh-CN" b="1" i="1" baseline="-25000">
                  <a:latin typeface="Times New Roman" pitchFamily="18" charset="0"/>
                  <a:cs typeface="Times New Roman" pitchFamily="18" charset="0"/>
                </a:rPr>
                <a:t> </a:t>
              </a:r>
              <a:r>
                <a:rPr lang="en-US" altLang="zh-CN" b="1">
                  <a:latin typeface="Times New Roman" pitchFamily="18" charset="0"/>
                  <a:cs typeface="Times New Roman" pitchFamily="18" charset="0"/>
                </a:rPr>
                <a:t>=</a:t>
              </a:r>
              <a:r>
                <a:rPr lang="en-US" altLang="zh-CN" b="1" baseline="-25000">
                  <a:latin typeface="Times New Roman" pitchFamily="18" charset="0"/>
                  <a:cs typeface="Times New Roman" pitchFamily="18" charset="0"/>
                </a:rPr>
                <a:t> </a:t>
              </a:r>
              <a:r>
                <a:rPr lang="en-US" altLang="zh-CN" b="1">
                  <a:latin typeface="Times New Roman" pitchFamily="18" charset="0"/>
                  <a:cs typeface="Times New Roman" pitchFamily="18" charset="0"/>
                </a:rPr>
                <a:t>1.2</a:t>
              </a:r>
              <a:endParaRPr lang="zh-CN" altLang="en-US" b="1" baseline="30000">
                <a:latin typeface="Times New Roman" pitchFamily="18" charset="0"/>
                <a:cs typeface="Times New Roman" pitchFamily="18" charset="0"/>
              </a:endParaRPr>
            </a:p>
          </p:txBody>
        </p:sp>
      </p:grpSp>
      <p:grpSp>
        <p:nvGrpSpPr>
          <p:cNvPr id="85" name="组合 84"/>
          <p:cNvGrpSpPr/>
          <p:nvPr/>
        </p:nvGrpSpPr>
        <p:grpSpPr>
          <a:xfrm>
            <a:off x="1285852" y="5192360"/>
            <a:ext cx="7546146" cy="673100"/>
            <a:chOff x="1285852" y="5252508"/>
            <a:chExt cx="7546146" cy="673100"/>
          </a:xfrm>
        </p:grpSpPr>
        <p:sp>
          <p:nvSpPr>
            <p:cNvPr id="78" name="Rectangle 6"/>
            <p:cNvSpPr>
              <a:spLocks noChangeArrowheads="1"/>
            </p:cNvSpPr>
            <p:nvPr/>
          </p:nvSpPr>
          <p:spPr bwMode="auto">
            <a:xfrm>
              <a:off x="1285852" y="5369115"/>
              <a:ext cx="4786346"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latin typeface="Times New Roman" pitchFamily="18" charset="0"/>
                  <a:cs typeface="Times New Roman" pitchFamily="18" charset="0"/>
                </a:rPr>
                <a:t>⑴ 弯曲变形引起的位移</a:t>
              </a:r>
              <a:endParaRPr lang="en-US" altLang="zh-CN" sz="2000" b="1" baseline="-25000">
                <a:latin typeface="Times New Roman" pitchFamily="18" charset="0"/>
                <a:cs typeface="Times New Roman" pitchFamily="18" charset="0"/>
              </a:endParaRPr>
            </a:p>
          </p:txBody>
        </p:sp>
        <p:graphicFrame>
          <p:nvGraphicFramePr>
            <p:cNvPr id="452616" name="Object 8"/>
            <p:cNvGraphicFramePr>
              <a:graphicFrameLocks noChangeAspect="1"/>
            </p:cNvGraphicFramePr>
            <p:nvPr/>
          </p:nvGraphicFramePr>
          <p:xfrm>
            <a:off x="4082198" y="5252508"/>
            <a:ext cx="4749800" cy="673100"/>
          </p:xfrm>
          <a:graphic>
            <a:graphicData uri="http://schemas.openxmlformats.org/presentationml/2006/ole">
              <mc:AlternateContent xmlns:mc="http://schemas.openxmlformats.org/markup-compatibility/2006">
                <mc:Choice xmlns:v="urn:schemas-microsoft-com:vml" Requires="v">
                  <p:oleObj spid="_x0000_s452622" name="Equation" r:id="rId14" imgW="3225600" imgH="457200" progId="Equation.DSMT4">
                    <p:embed/>
                  </p:oleObj>
                </mc:Choice>
                <mc:Fallback>
                  <p:oleObj name="Equation" r:id="rId14" imgW="3225600" imgH="457200" progId="Equation.DSMT4">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82198" y="5252508"/>
                          <a:ext cx="47498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8" name="组合 97"/>
          <p:cNvGrpSpPr/>
          <p:nvPr/>
        </p:nvGrpSpPr>
        <p:grpSpPr>
          <a:xfrm>
            <a:off x="1285852" y="5891306"/>
            <a:ext cx="7358114" cy="654050"/>
            <a:chOff x="1285852" y="5891306"/>
            <a:chExt cx="7358114" cy="654050"/>
          </a:xfrm>
        </p:grpSpPr>
        <p:sp>
          <p:nvSpPr>
            <p:cNvPr id="88" name="Rectangle 6"/>
            <p:cNvSpPr>
              <a:spLocks noChangeArrowheads="1"/>
            </p:cNvSpPr>
            <p:nvPr/>
          </p:nvSpPr>
          <p:spPr bwMode="auto">
            <a:xfrm>
              <a:off x="1285852" y="6000768"/>
              <a:ext cx="4786346"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latin typeface="Times New Roman" pitchFamily="18" charset="0"/>
                  <a:cs typeface="Times New Roman" pitchFamily="18" charset="0"/>
                </a:rPr>
                <a:t>⑵ 剪切变形引起的位移</a:t>
              </a:r>
              <a:endParaRPr lang="en-US" altLang="zh-CN" sz="2000" b="1" baseline="-25000">
                <a:latin typeface="Times New Roman" pitchFamily="18" charset="0"/>
                <a:cs typeface="Times New Roman" pitchFamily="18" charset="0"/>
              </a:endParaRPr>
            </a:p>
          </p:txBody>
        </p:sp>
        <p:graphicFrame>
          <p:nvGraphicFramePr>
            <p:cNvPr id="92" name="Object 8"/>
            <p:cNvGraphicFramePr>
              <a:graphicFrameLocks noChangeAspect="1"/>
            </p:cNvGraphicFramePr>
            <p:nvPr/>
          </p:nvGraphicFramePr>
          <p:xfrm>
            <a:off x="4098953" y="5891306"/>
            <a:ext cx="4545013" cy="654050"/>
          </p:xfrm>
          <a:graphic>
            <a:graphicData uri="http://schemas.openxmlformats.org/presentationml/2006/ole">
              <mc:AlternateContent xmlns:mc="http://schemas.openxmlformats.org/markup-compatibility/2006">
                <mc:Choice xmlns:v="urn:schemas-microsoft-com:vml" Requires="v">
                  <p:oleObj spid="_x0000_s452623" name="Equation" r:id="rId16" imgW="3085920" imgH="444240" progId="Equation.DSMT4">
                    <p:embed/>
                  </p:oleObj>
                </mc:Choice>
                <mc:Fallback>
                  <p:oleObj name="Equation" r:id="rId16" imgW="3085920" imgH="444240" progId="Equation.DSMT4">
                    <p:embed/>
                    <p:pic>
                      <p:nvPicPr>
                        <p:cNvPr id="0" name="Picture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98953" y="5891306"/>
                          <a:ext cx="4545013"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gtEl>
                                        <p:attrNameLst>
                                          <p:attrName>style.visibility</p:attrName>
                                        </p:attrNameLst>
                                      </p:cBhvr>
                                      <p:to>
                                        <p:strVal val="visible"/>
                                      </p:to>
                                    </p:set>
                                    <p:anim calcmode="lin" valueType="num">
                                      <p:cBhvr additive="base">
                                        <p:cTn id="13" dur="500" fill="hold"/>
                                        <p:tgtEl>
                                          <p:spTgt spid="98"/>
                                        </p:tgtEl>
                                        <p:attrNameLst>
                                          <p:attrName>ppt_x</p:attrName>
                                        </p:attrNameLst>
                                      </p:cBhvr>
                                      <p:tavLst>
                                        <p:tav tm="0">
                                          <p:val>
                                            <p:strVal val="#ppt_x"/>
                                          </p:val>
                                        </p:tav>
                                        <p:tav tm="100000">
                                          <p:val>
                                            <p:strVal val="#ppt_x"/>
                                          </p:val>
                                        </p:tav>
                                      </p:tavLst>
                                    </p:anim>
                                    <p:anim calcmode="lin" valueType="num">
                                      <p:cBhvr additive="base">
                                        <p:cTn id="14"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5-3 </a:t>
            </a:r>
            <a:r>
              <a:rPr lang="zh-CN" altLang="en-US" sz="2000" b="1">
                <a:latin typeface="Times New Roman" pitchFamily="18" charset="0"/>
                <a:cs typeface="Times New Roman" pitchFamily="18" charset="0"/>
              </a:rPr>
              <a:t>试求图示悬臂梁在</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端的竖直位移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，并比较弯曲变形和剪切变形对位移的影响。设梁的截面为矩形，泊松比</a:t>
            </a:r>
            <a:r>
              <a:rPr lang="en-US" altLang="zh-CN" sz="2000" b="1">
                <a:latin typeface="Times New Roman" pitchFamily="18" charset="0"/>
                <a:cs typeface="Times New Roman" pitchFamily="18" charset="0"/>
              </a:rPr>
              <a:t>1/3</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4" name="组合 41"/>
          <p:cNvGrpSpPr/>
          <p:nvPr/>
        </p:nvGrpSpPr>
        <p:grpSpPr>
          <a:xfrm>
            <a:off x="479005" y="2571744"/>
            <a:ext cx="3214710" cy="1252192"/>
            <a:chOff x="5374664" y="3272476"/>
            <a:chExt cx="3581348" cy="1395068"/>
          </a:xfrm>
        </p:grpSpPr>
        <p:pic>
          <p:nvPicPr>
            <p:cNvPr id="436227" name="Picture 3" descr="C:\Users\Administrator\AppData\Roaming\Tencent\Users\174520645\QQ\WinTemp\RichOle\RNF$XY_LUR]C0[@H{M3E[)H.png"/>
            <p:cNvPicPr>
              <a:picLocks noChangeAspect="1" noChangeArrowheads="1"/>
            </p:cNvPicPr>
            <p:nvPr/>
          </p:nvPicPr>
          <p:blipFill>
            <a:blip r:embed="rId4"/>
            <a:srcRect/>
            <a:stretch>
              <a:fillRect/>
            </a:stretch>
          </p:blipFill>
          <p:spPr bwMode="auto">
            <a:xfrm>
              <a:off x="5499692" y="3429000"/>
              <a:ext cx="3286148" cy="887399"/>
            </a:xfrm>
            <a:prstGeom prst="rect">
              <a:avLst/>
            </a:prstGeom>
            <a:noFill/>
          </p:spPr>
        </p:pic>
        <p:sp>
          <p:nvSpPr>
            <p:cNvPr id="26" name="TextBox 25"/>
            <p:cNvSpPr txBox="1"/>
            <p:nvPr/>
          </p:nvSpPr>
          <p:spPr>
            <a:xfrm>
              <a:off x="7028330" y="3272476"/>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27" name="TextBox 26"/>
            <p:cNvSpPr txBox="1"/>
            <p:nvPr/>
          </p:nvSpPr>
          <p:spPr>
            <a:xfrm>
              <a:off x="5374664" y="3775740"/>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8" name="TextBox 27"/>
            <p:cNvSpPr txBox="1"/>
            <p:nvPr/>
          </p:nvSpPr>
          <p:spPr>
            <a:xfrm>
              <a:off x="8599823" y="3789304"/>
              <a:ext cx="356189"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30" name="直接连接符 29"/>
            <p:cNvCxnSpPr/>
            <p:nvPr/>
          </p:nvCxnSpPr>
          <p:spPr bwMode="auto">
            <a:xfrm rot="5400000">
              <a:off x="5525150" y="4309140"/>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直接连接符 30"/>
            <p:cNvCxnSpPr>
              <a:cxnSpLocks noChangeAspect="1"/>
            </p:cNvCxnSpPr>
            <p:nvPr/>
          </p:nvCxnSpPr>
          <p:spPr bwMode="auto">
            <a:xfrm rot="5400000">
              <a:off x="8455537" y="4467495"/>
              <a:ext cx="178595" cy="79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5772798" y="4470076"/>
              <a:ext cx="2786082"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36" name="TextBox 35"/>
            <p:cNvSpPr txBox="1"/>
            <p:nvPr/>
          </p:nvSpPr>
          <p:spPr>
            <a:xfrm>
              <a:off x="7072330" y="426743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cxnSp>
          <p:nvCxnSpPr>
            <p:cNvPr id="37" name="直接连接符 36"/>
            <p:cNvCxnSpPr>
              <a:cxnSpLocks noChangeAspect="1"/>
            </p:cNvCxnSpPr>
            <p:nvPr/>
          </p:nvCxnSpPr>
          <p:spPr bwMode="auto">
            <a:xfrm rot="5400000">
              <a:off x="6535221" y="419311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5755952" y="4228466"/>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41" name="TextBox 40"/>
            <p:cNvSpPr txBox="1"/>
            <p:nvPr/>
          </p:nvSpPr>
          <p:spPr>
            <a:xfrm>
              <a:off x="6055352" y="4071942"/>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5" name="组合 54"/>
          <p:cNvGrpSpPr/>
          <p:nvPr/>
        </p:nvGrpSpPr>
        <p:grpSpPr>
          <a:xfrm>
            <a:off x="3908029" y="2602238"/>
            <a:ext cx="3286148" cy="928694"/>
            <a:chOff x="5371466" y="4901902"/>
            <a:chExt cx="3584546" cy="1170304"/>
          </a:xfrm>
        </p:grpSpPr>
        <p:pic>
          <p:nvPicPr>
            <p:cNvPr id="436228" name="Picture 4"/>
            <p:cNvPicPr>
              <a:picLocks noChangeAspect="1" noChangeArrowheads="1"/>
            </p:cNvPicPr>
            <p:nvPr/>
          </p:nvPicPr>
          <p:blipFill>
            <a:blip r:embed="rId5"/>
            <a:srcRect/>
            <a:stretch>
              <a:fillRect/>
            </a:stretch>
          </p:blipFill>
          <p:spPr bwMode="auto">
            <a:xfrm>
              <a:off x="5487046" y="5000636"/>
              <a:ext cx="3292101" cy="1000132"/>
            </a:xfrm>
            <a:prstGeom prst="rect">
              <a:avLst/>
            </a:prstGeom>
            <a:noFill/>
            <a:ln w="9525">
              <a:noFill/>
              <a:miter lim="800000"/>
              <a:headEnd/>
              <a:tailEnd/>
            </a:ln>
            <a:effectLst/>
          </p:spPr>
        </p:pic>
        <p:sp>
          <p:nvSpPr>
            <p:cNvPr id="48" name="TextBox 47"/>
            <p:cNvSpPr txBox="1"/>
            <p:nvPr/>
          </p:nvSpPr>
          <p:spPr>
            <a:xfrm>
              <a:off x="5371466" y="545778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49" name="TextBox 48"/>
            <p:cNvSpPr txBox="1"/>
            <p:nvPr/>
          </p:nvSpPr>
          <p:spPr>
            <a:xfrm>
              <a:off x="8599824" y="547695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50" name="TextBox 49"/>
            <p:cNvSpPr txBox="1"/>
            <p:nvPr/>
          </p:nvSpPr>
          <p:spPr>
            <a:xfrm>
              <a:off x="5772798" y="4901902"/>
              <a:ext cx="312906" cy="400110"/>
            </a:xfrm>
            <a:prstGeom prst="rect">
              <a:avLst/>
            </a:prstGeom>
            <a:noFill/>
            <a:ln w="28575">
              <a:noFill/>
            </a:ln>
          </p:spPr>
          <p:txBody>
            <a:bodyPr wrap="none" rtlCol="0">
              <a:spAutoFit/>
            </a:body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cxnSp>
          <p:nvCxnSpPr>
            <p:cNvPr id="51" name="直接连接符 50"/>
            <p:cNvCxnSpPr>
              <a:cxnSpLocks noChangeAspect="1"/>
            </p:cNvCxnSpPr>
            <p:nvPr/>
          </p:nvCxnSpPr>
          <p:spPr bwMode="auto">
            <a:xfrm rot="5400000">
              <a:off x="6536182" y="5910820"/>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2" name="直接连接符 51"/>
            <p:cNvCxnSpPr>
              <a:cxnSpLocks noChangeAspect="1"/>
            </p:cNvCxnSpPr>
            <p:nvPr/>
          </p:nvCxnSpPr>
          <p:spPr bwMode="auto">
            <a:xfrm rot="5400000">
              <a:off x="5662080" y="5922782"/>
              <a:ext cx="216000" cy="9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742304" y="5924544"/>
              <a:ext cx="907200"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54" name="TextBox 53"/>
            <p:cNvSpPr txBox="1"/>
            <p:nvPr/>
          </p:nvSpPr>
          <p:spPr>
            <a:xfrm>
              <a:off x="6072198" y="5764429"/>
              <a:ext cx="312906" cy="307777"/>
            </a:xfrm>
            <a:prstGeom prst="rect">
              <a:avLst/>
            </a:prstGeom>
            <a:solidFill>
              <a:schemeClr val="bg1"/>
            </a:solidFill>
            <a:ln w="28575">
              <a:noFill/>
            </a:ln>
          </p:spPr>
          <p:txBody>
            <a:bodyPr wrap="none" tIns="0" bIns="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6" name="组合 55"/>
          <p:cNvGrpSpPr/>
          <p:nvPr/>
        </p:nvGrpSpPr>
        <p:grpSpPr>
          <a:xfrm>
            <a:off x="7551367" y="2453144"/>
            <a:ext cx="1235475" cy="1404484"/>
            <a:chOff x="7500958" y="4357694"/>
            <a:chExt cx="1235475" cy="1404484"/>
          </a:xfrm>
        </p:grpSpPr>
        <p:grpSp>
          <p:nvGrpSpPr>
            <p:cNvPr id="7" name="组合 38"/>
            <p:cNvGrpSpPr/>
            <p:nvPr/>
          </p:nvGrpSpPr>
          <p:grpSpPr>
            <a:xfrm>
              <a:off x="7500958" y="4357694"/>
              <a:ext cx="928694" cy="1000132"/>
              <a:chOff x="7715272" y="4357694"/>
              <a:chExt cx="928694" cy="1000132"/>
            </a:xfrm>
          </p:grpSpPr>
          <p:sp>
            <p:nvSpPr>
              <p:cNvPr id="72" name="矩形 71"/>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73" name="直接连接符 72"/>
              <p:cNvCxnSpPr/>
              <p:nvPr/>
            </p:nvCxnSpPr>
            <p:spPr bwMode="auto">
              <a:xfrm>
                <a:off x="7715272" y="4857760"/>
                <a:ext cx="928694" cy="1588"/>
              </a:xfrm>
              <a:prstGeom prst="line">
                <a:avLst/>
              </a:prstGeom>
              <a:solidFill>
                <a:schemeClr val="accent1"/>
              </a:solidFill>
              <a:ln w="28575" cap="flat" cmpd="sng" algn="ctr">
                <a:solidFill>
                  <a:srgbClr val="00B050"/>
                </a:solidFill>
                <a:prstDash val="dashDot"/>
                <a:round/>
                <a:headEnd type="none" w="med" len="med"/>
                <a:tailEnd type="none" w="med" len="med"/>
              </a:ln>
              <a:effectLst/>
            </p:spPr>
          </p:cxnSp>
        </p:grpSp>
        <p:cxnSp>
          <p:nvCxnSpPr>
            <p:cNvPr id="63" name="直接连接符 62"/>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68" name="直接连接符 67"/>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71" name="TextBox 70"/>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graphicFrame>
        <p:nvGraphicFramePr>
          <p:cNvPr id="82" name="表格 81"/>
          <p:cNvGraphicFramePr>
            <a:graphicFrameLocks noGrp="1"/>
          </p:cNvGraphicFramePr>
          <p:nvPr/>
        </p:nvGraphicFramePr>
        <p:xfrm>
          <a:off x="725637" y="3880206"/>
          <a:ext cx="7715304" cy="1285884"/>
        </p:xfrm>
        <a:graphic>
          <a:graphicData uri="http://schemas.openxmlformats.org/drawingml/2006/table">
            <a:tbl>
              <a:tblPr firstRow="1" bandRow="1">
                <a:tableStyleId>{ED083AE6-46FA-4A59-8FB0-9F97EB10719F}</a:tableStyleId>
              </a:tblPr>
              <a:tblGrid>
                <a:gridCol w="1928826">
                  <a:extLst>
                    <a:ext uri="{9D8B030D-6E8A-4147-A177-3AD203B41FA5}">
                      <a16:colId xmlns:a16="http://schemas.microsoft.com/office/drawing/2014/main" val="20000"/>
                    </a:ext>
                  </a:extLst>
                </a:gridCol>
                <a:gridCol w="1928826">
                  <a:extLst>
                    <a:ext uri="{9D8B030D-6E8A-4147-A177-3AD203B41FA5}">
                      <a16:colId xmlns:a16="http://schemas.microsoft.com/office/drawing/2014/main" val="20001"/>
                    </a:ext>
                  </a:extLst>
                </a:gridCol>
                <a:gridCol w="1928826">
                  <a:extLst>
                    <a:ext uri="{9D8B030D-6E8A-4147-A177-3AD203B41FA5}">
                      <a16:colId xmlns:a16="http://schemas.microsoft.com/office/drawing/2014/main" val="20002"/>
                    </a:ext>
                  </a:extLst>
                </a:gridCol>
                <a:gridCol w="1928826">
                  <a:extLst>
                    <a:ext uri="{9D8B030D-6E8A-4147-A177-3AD203B41FA5}">
                      <a16:colId xmlns:a16="http://schemas.microsoft.com/office/drawing/2014/main" val="20003"/>
                    </a:ext>
                  </a:extLst>
                </a:gridCol>
              </a:tblGrid>
              <a:tr h="357190">
                <a:tc>
                  <a:txBody>
                    <a:bodyPr/>
                    <a:lstStyle/>
                    <a:p>
                      <a:pPr algn="ctr"/>
                      <a:r>
                        <a:rPr lang="zh-CN" altLang="en-US"/>
                        <a:t>变形类型</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t>真实荷载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t>虚设荷载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a:solidFill>
                            <a:srgbClr val="C00000"/>
                          </a:solidFill>
                        </a:rPr>
                        <a:t>引起的位移</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460062">
                <a:tc>
                  <a:txBody>
                    <a:bodyPr/>
                    <a:lstStyle/>
                    <a:p>
                      <a:pPr algn="ctr"/>
                      <a:r>
                        <a:rPr lang="zh-CN" altLang="en-US" b="1"/>
                        <a:t>弯曲</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460062">
                <a:tc>
                  <a:txBody>
                    <a:bodyPr/>
                    <a:lstStyle/>
                    <a:p>
                      <a:pPr algn="ctr"/>
                      <a:r>
                        <a:rPr lang="zh-CN" altLang="en-US" b="1"/>
                        <a:t>剪切</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bl>
          </a:graphicData>
        </a:graphic>
      </p:graphicFrame>
      <p:graphicFrame>
        <p:nvGraphicFramePr>
          <p:cNvPr id="451588" name="Object 4"/>
          <p:cNvGraphicFramePr>
            <a:graphicFrameLocks noChangeAspect="1"/>
          </p:cNvGraphicFramePr>
          <p:nvPr/>
        </p:nvGraphicFramePr>
        <p:xfrm>
          <a:off x="2994200" y="4274967"/>
          <a:ext cx="1374775" cy="374650"/>
        </p:xfrm>
        <a:graphic>
          <a:graphicData uri="http://schemas.openxmlformats.org/presentationml/2006/ole">
            <mc:AlternateContent xmlns:mc="http://schemas.openxmlformats.org/markup-compatibility/2006">
              <mc:Choice xmlns:v="urn:schemas-microsoft-com:vml" Requires="v">
                <p:oleObj spid="_x0000_s453644" name="Equation" r:id="rId6" imgW="888840" imgH="241200" progId="Equation.DSMT4">
                  <p:embed/>
                </p:oleObj>
              </mc:Choice>
              <mc:Fallback>
                <p:oleObj name="Equation" r:id="rId6" imgW="888840" imgH="2412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4200" y="4274967"/>
                        <a:ext cx="13747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 name="Object 4"/>
          <p:cNvGraphicFramePr>
            <a:graphicFrameLocks noChangeAspect="1"/>
          </p:cNvGraphicFramePr>
          <p:nvPr/>
        </p:nvGraphicFramePr>
        <p:xfrm>
          <a:off x="3119611" y="4748751"/>
          <a:ext cx="1035050" cy="385762"/>
        </p:xfrm>
        <a:graphic>
          <a:graphicData uri="http://schemas.openxmlformats.org/presentationml/2006/ole">
            <mc:AlternateContent xmlns:mc="http://schemas.openxmlformats.org/markup-compatibility/2006">
              <mc:Choice xmlns:v="urn:schemas-microsoft-com:vml" Requires="v">
                <p:oleObj spid="_x0000_s453645" name="Equation" r:id="rId8" imgW="647640" imgH="241200" progId="Equation.DSMT4">
                  <p:embed/>
                </p:oleObj>
              </mc:Choice>
              <mc:Fallback>
                <p:oleObj name="Equation" r:id="rId8" imgW="64764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19611" y="4748751"/>
                        <a:ext cx="10350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Object 4"/>
          <p:cNvGraphicFramePr>
            <a:graphicFrameLocks noChangeAspect="1"/>
          </p:cNvGraphicFramePr>
          <p:nvPr/>
        </p:nvGraphicFramePr>
        <p:xfrm>
          <a:off x="5154793" y="4297545"/>
          <a:ext cx="831850" cy="346075"/>
        </p:xfrm>
        <a:graphic>
          <a:graphicData uri="http://schemas.openxmlformats.org/presentationml/2006/ole">
            <mc:AlternateContent xmlns:mc="http://schemas.openxmlformats.org/markup-compatibility/2006">
              <mc:Choice xmlns:v="urn:schemas-microsoft-com:vml" Requires="v">
                <p:oleObj spid="_x0000_s453646" name="Equation" r:id="rId10" imgW="520560" imgH="215640" progId="Equation.DSMT4">
                  <p:embed/>
                </p:oleObj>
              </mc:Choice>
              <mc:Fallback>
                <p:oleObj name="Equation" r:id="rId10" imgW="520560" imgH="21564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54793" y="4297545"/>
                        <a:ext cx="8318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 name="Object 4"/>
          <p:cNvGraphicFramePr>
            <a:graphicFrameLocks noChangeAspect="1"/>
          </p:cNvGraphicFramePr>
          <p:nvPr/>
        </p:nvGraphicFramePr>
        <p:xfrm>
          <a:off x="5154793" y="4726173"/>
          <a:ext cx="871538" cy="366713"/>
        </p:xfrm>
        <a:graphic>
          <a:graphicData uri="http://schemas.openxmlformats.org/presentationml/2006/ole">
            <mc:AlternateContent xmlns:mc="http://schemas.openxmlformats.org/markup-compatibility/2006">
              <mc:Choice xmlns:v="urn:schemas-microsoft-com:vml" Requires="v">
                <p:oleObj spid="_x0000_s453647" name="Equation" r:id="rId12" imgW="545760" imgH="228600" progId="Equation.DSMT4">
                  <p:embed/>
                </p:oleObj>
              </mc:Choice>
              <mc:Fallback>
                <p:oleObj name="Equation" r:id="rId12" imgW="545760" imgH="2286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4793" y="4726173"/>
                        <a:ext cx="871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3640" name="Object 8"/>
          <p:cNvGraphicFramePr>
            <a:graphicFrameLocks noChangeAspect="1"/>
          </p:cNvGraphicFramePr>
          <p:nvPr/>
        </p:nvGraphicFramePr>
        <p:xfrm>
          <a:off x="6596442" y="4317479"/>
          <a:ext cx="1784350" cy="363538"/>
        </p:xfrm>
        <a:graphic>
          <a:graphicData uri="http://schemas.openxmlformats.org/presentationml/2006/ole">
            <mc:AlternateContent xmlns:mc="http://schemas.openxmlformats.org/markup-compatibility/2006">
              <mc:Choice xmlns:v="urn:schemas-microsoft-com:vml" Requires="v">
                <p:oleObj spid="_x0000_s453648" name="Equation" r:id="rId14" imgW="1180800" imgH="241200" progId="Equation.DSMT4">
                  <p:embed/>
                </p:oleObj>
              </mc:Choice>
              <mc:Fallback>
                <p:oleObj name="Equation" r:id="rId14" imgW="1180800" imgH="241200" progId="Equation.DSMT4">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96442" y="4317479"/>
                        <a:ext cx="17843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8"/>
          <p:cNvGraphicFramePr>
            <a:graphicFrameLocks noChangeAspect="1"/>
          </p:cNvGraphicFramePr>
          <p:nvPr/>
        </p:nvGraphicFramePr>
        <p:xfrm>
          <a:off x="6633810" y="4772025"/>
          <a:ext cx="1666875" cy="377825"/>
        </p:xfrm>
        <a:graphic>
          <a:graphicData uri="http://schemas.openxmlformats.org/presentationml/2006/ole">
            <mc:AlternateContent xmlns:mc="http://schemas.openxmlformats.org/markup-compatibility/2006">
              <mc:Choice xmlns:v="urn:schemas-microsoft-com:vml" Requires="v">
                <p:oleObj spid="_x0000_s453649" name="Equation" r:id="rId16" imgW="1117440" imgH="253800" progId="Equation.DSMT4">
                  <p:embed/>
                </p:oleObj>
              </mc:Choice>
              <mc:Fallback>
                <p:oleObj name="Equation" r:id="rId16" imgW="1117440" imgH="253800"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33810" y="4772025"/>
                        <a:ext cx="1666875"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 name="组合 61"/>
          <p:cNvGrpSpPr/>
          <p:nvPr/>
        </p:nvGrpSpPr>
        <p:grpSpPr>
          <a:xfrm>
            <a:off x="1285852" y="5594718"/>
            <a:ext cx="4786346" cy="742950"/>
            <a:chOff x="1285852" y="5692438"/>
            <a:chExt cx="4786346" cy="742950"/>
          </a:xfrm>
        </p:grpSpPr>
        <p:graphicFrame>
          <p:nvGraphicFramePr>
            <p:cNvPr id="453642" name="Object 10"/>
            <p:cNvGraphicFramePr>
              <a:graphicFrameLocks noChangeAspect="1"/>
            </p:cNvGraphicFramePr>
            <p:nvPr/>
          </p:nvGraphicFramePr>
          <p:xfrm>
            <a:off x="3000364" y="5692438"/>
            <a:ext cx="2513012" cy="742950"/>
          </p:xfrm>
          <a:graphic>
            <a:graphicData uri="http://schemas.openxmlformats.org/presentationml/2006/ole">
              <mc:AlternateContent xmlns:mc="http://schemas.openxmlformats.org/markup-compatibility/2006">
                <mc:Choice xmlns:v="urn:schemas-microsoft-com:vml" Requires="v">
                  <p:oleObj spid="_x0000_s453650" name="Equation" r:id="rId18" imgW="1625400" imgH="482400" progId="Equation.DSMT4">
                    <p:embed/>
                  </p:oleObj>
                </mc:Choice>
                <mc:Fallback>
                  <p:oleObj name="Equation" r:id="rId18" imgW="1625400" imgH="482400" progId="Equation.DSMT4">
                    <p:embed/>
                    <p:pic>
                      <p:nvPicPr>
                        <p:cNvPr id="0" name="Picture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00364" y="5692438"/>
                          <a:ext cx="2513012"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Rectangle 6"/>
            <p:cNvSpPr>
              <a:spLocks noChangeArrowheads="1"/>
            </p:cNvSpPr>
            <p:nvPr/>
          </p:nvSpPr>
          <p:spPr bwMode="auto">
            <a:xfrm>
              <a:off x="1285852" y="5786454"/>
              <a:ext cx="4786346"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latin typeface="Times New Roman" pitchFamily="18" charset="0"/>
                  <a:cs typeface="Times New Roman" pitchFamily="18" charset="0"/>
                </a:rPr>
                <a:t>⑷ 位移比较</a:t>
              </a:r>
              <a:endParaRPr lang="en-US" altLang="zh-CN" sz="2000" b="1" baseline="-25000">
                <a:latin typeface="Times New Roman" pitchFamily="18" charset="0"/>
                <a:cs typeface="Times New Roman" pitchFamily="18" charset="0"/>
              </a:endParaRPr>
            </a:p>
          </p:txBody>
        </p:sp>
      </p:grpSp>
      <p:grpSp>
        <p:nvGrpSpPr>
          <p:cNvPr id="61" name="组合 60"/>
          <p:cNvGrpSpPr/>
          <p:nvPr/>
        </p:nvGrpSpPr>
        <p:grpSpPr>
          <a:xfrm>
            <a:off x="1285852" y="5192372"/>
            <a:ext cx="4786346" cy="461665"/>
            <a:chOff x="1285852" y="5286388"/>
            <a:chExt cx="4786346" cy="461665"/>
          </a:xfrm>
        </p:grpSpPr>
        <p:sp>
          <p:nvSpPr>
            <p:cNvPr id="88" name="Rectangle 6"/>
            <p:cNvSpPr>
              <a:spLocks noChangeArrowheads="1"/>
            </p:cNvSpPr>
            <p:nvPr/>
          </p:nvSpPr>
          <p:spPr bwMode="auto">
            <a:xfrm>
              <a:off x="1285852" y="5286388"/>
              <a:ext cx="4786346"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latin typeface="Times New Roman" pitchFamily="18" charset="0"/>
                  <a:cs typeface="Times New Roman" pitchFamily="18" charset="0"/>
                </a:rPr>
                <a:t>⑶ 总位移</a:t>
              </a:r>
              <a:endParaRPr lang="en-US" altLang="zh-CN" sz="2000" b="1" baseline="-25000">
                <a:latin typeface="Times New Roman" pitchFamily="18" charset="0"/>
                <a:cs typeface="Times New Roman" pitchFamily="18" charset="0"/>
              </a:endParaRPr>
            </a:p>
          </p:txBody>
        </p:sp>
        <p:graphicFrame>
          <p:nvGraphicFramePr>
            <p:cNvPr id="453643" name="Object 11"/>
            <p:cNvGraphicFramePr>
              <a:graphicFrameLocks noChangeAspect="1"/>
            </p:cNvGraphicFramePr>
            <p:nvPr/>
          </p:nvGraphicFramePr>
          <p:xfrm>
            <a:off x="3049224" y="5346537"/>
            <a:ext cx="1257300" cy="371475"/>
          </p:xfrm>
          <a:graphic>
            <a:graphicData uri="http://schemas.openxmlformats.org/presentationml/2006/ole">
              <mc:AlternateContent xmlns:mc="http://schemas.openxmlformats.org/markup-compatibility/2006">
                <mc:Choice xmlns:v="urn:schemas-microsoft-com:vml" Requires="v">
                  <p:oleObj spid="_x0000_s453651" name="Equation" r:id="rId20" imgW="812520" imgH="241200" progId="Equation.DSMT4">
                    <p:embed/>
                  </p:oleObj>
                </mc:Choice>
                <mc:Fallback>
                  <p:oleObj name="Equation" r:id="rId20" imgW="812520" imgH="241200" progId="Equation.DSMT4">
                    <p:embed/>
                    <p:pic>
                      <p:nvPicPr>
                        <p:cNvPr id="0" name="Picture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49224" y="5346537"/>
                          <a:ext cx="12573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4" name="TextBox 63"/>
          <p:cNvSpPr txBox="1"/>
          <p:nvPr/>
        </p:nvSpPr>
        <p:spPr>
          <a:xfrm>
            <a:off x="5786446" y="5786454"/>
            <a:ext cx="2002471"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E</a:t>
            </a:r>
            <a:r>
              <a:rPr lang="en-US" altLang="zh-CN"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G </a:t>
            </a:r>
            <a:r>
              <a:rPr lang="en-US" altLang="zh-CN" b="1">
                <a:solidFill>
                  <a:srgbClr val="0033CC"/>
                </a:solidFill>
                <a:latin typeface="Times New Roman" pitchFamily="18" charset="0"/>
                <a:cs typeface="Times New Roman" pitchFamily="18" charset="0"/>
              </a:rPr>
              <a:t>= 2(1+</a:t>
            </a:r>
            <a:r>
              <a:rPr lang="el-GR" altLang="zh-CN" b="1" i="1">
                <a:solidFill>
                  <a:srgbClr val="0033CC"/>
                </a:solidFill>
                <a:latin typeface="Times New Roman" pitchFamily="18" charset="0"/>
                <a:cs typeface="Times New Roman" pitchFamily="18" charset="0"/>
              </a:rPr>
              <a:t>μ</a:t>
            </a:r>
            <a:r>
              <a:rPr lang="en-US" altLang="zh-CN" b="1">
                <a:solidFill>
                  <a:srgbClr val="0033CC"/>
                </a:solidFill>
                <a:latin typeface="Times New Roman" pitchFamily="18" charset="0"/>
                <a:cs typeface="Times New Roman" pitchFamily="18" charset="0"/>
              </a:rPr>
              <a:t>) = 8/3</a:t>
            </a:r>
            <a:endParaRPr lang="zh-CN" altLang="en-US" b="1">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ppt_x"/>
                                          </p:val>
                                        </p:tav>
                                        <p:tav tm="100000">
                                          <p:val>
                                            <p:strVal val="#ppt_x"/>
                                          </p:val>
                                        </p:tav>
                                      </p:tavLst>
                                    </p:anim>
                                    <p:anim calcmode="lin" valueType="num">
                                      <p:cBhvr additive="base">
                                        <p:cTn id="14" dur="500" fill="hold"/>
                                        <p:tgtEl>
                                          <p:spTgt spid="62"/>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5-3 </a:t>
            </a:r>
            <a:r>
              <a:rPr lang="zh-CN" altLang="en-US" sz="2000" b="1">
                <a:latin typeface="Times New Roman" pitchFamily="18" charset="0"/>
                <a:cs typeface="Times New Roman" pitchFamily="18" charset="0"/>
              </a:rPr>
              <a:t>试求图示悬臂梁在</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端的竖直位移</a:t>
            </a:r>
            <a:r>
              <a:rPr lang="el-GR" altLang="zh-CN" sz="2000" b="1" i="1">
                <a:latin typeface="Times New Roman" pitchFamily="18" charset="0"/>
                <a:cs typeface="Times New Roman" pitchFamily="18" charset="0"/>
              </a:rPr>
              <a:t>Δ</a:t>
            </a:r>
            <a:r>
              <a:rPr lang="zh-CN" altLang="en-US" sz="2000" b="1">
                <a:latin typeface="Times New Roman" pitchFamily="18" charset="0"/>
                <a:cs typeface="Times New Roman" pitchFamily="18" charset="0"/>
              </a:rPr>
              <a:t>，并比较弯曲变形和剪切变形对位移的影响。设梁的截面为矩形，泊松比</a:t>
            </a:r>
            <a:r>
              <a:rPr lang="en-US" altLang="zh-CN" sz="2000" b="1">
                <a:latin typeface="Times New Roman" pitchFamily="18" charset="0"/>
                <a:cs typeface="Times New Roman" pitchFamily="18" charset="0"/>
              </a:rPr>
              <a:t>1/3</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4" name="组合 41"/>
          <p:cNvGrpSpPr/>
          <p:nvPr/>
        </p:nvGrpSpPr>
        <p:grpSpPr>
          <a:xfrm>
            <a:off x="500034" y="2571745"/>
            <a:ext cx="3214710" cy="1176874"/>
            <a:chOff x="5374658" y="3272475"/>
            <a:chExt cx="3581344" cy="1311156"/>
          </a:xfrm>
        </p:grpSpPr>
        <p:pic>
          <p:nvPicPr>
            <p:cNvPr id="436227" name="Picture 3" descr="C:\Users\Administrator\AppData\Roaming\Tencent\Users\174520645\QQ\WinTemp\RichOle\RNF$XY_LUR]C0[@H{M3E[)H.png"/>
            <p:cNvPicPr>
              <a:picLocks noChangeAspect="1" noChangeArrowheads="1"/>
            </p:cNvPicPr>
            <p:nvPr/>
          </p:nvPicPr>
          <p:blipFill>
            <a:blip r:embed="rId4"/>
            <a:srcRect/>
            <a:stretch>
              <a:fillRect/>
            </a:stretch>
          </p:blipFill>
          <p:spPr bwMode="auto">
            <a:xfrm>
              <a:off x="5499686" y="3428999"/>
              <a:ext cx="3286145" cy="887399"/>
            </a:xfrm>
            <a:prstGeom prst="rect">
              <a:avLst/>
            </a:prstGeom>
            <a:noFill/>
          </p:spPr>
        </p:pic>
        <p:sp>
          <p:nvSpPr>
            <p:cNvPr id="26" name="TextBox 25"/>
            <p:cNvSpPr txBox="1"/>
            <p:nvPr/>
          </p:nvSpPr>
          <p:spPr>
            <a:xfrm>
              <a:off x="7028322" y="3272475"/>
              <a:ext cx="312905"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27" name="TextBox 26"/>
            <p:cNvSpPr txBox="1"/>
            <p:nvPr/>
          </p:nvSpPr>
          <p:spPr>
            <a:xfrm>
              <a:off x="5374658" y="366825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8" name="TextBox 27"/>
            <p:cNvSpPr txBox="1"/>
            <p:nvPr/>
          </p:nvSpPr>
          <p:spPr>
            <a:xfrm>
              <a:off x="8599814" y="3670419"/>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30" name="直接连接符 29"/>
            <p:cNvCxnSpPr>
              <a:cxnSpLocks noChangeAspect="1"/>
            </p:cNvCxnSpPr>
            <p:nvPr/>
          </p:nvCxnSpPr>
          <p:spPr bwMode="auto">
            <a:xfrm rot="5400000">
              <a:off x="5558720" y="4288367"/>
              <a:ext cx="401076" cy="136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直接连接符 30"/>
            <p:cNvCxnSpPr>
              <a:cxnSpLocks noChangeAspect="1"/>
            </p:cNvCxnSpPr>
            <p:nvPr/>
          </p:nvCxnSpPr>
          <p:spPr bwMode="auto">
            <a:xfrm rot="5400000">
              <a:off x="8455527" y="4376616"/>
              <a:ext cx="178595" cy="79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5772791" y="4386163"/>
              <a:ext cx="2786079" cy="1588"/>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36" name="TextBox 35"/>
            <p:cNvSpPr txBox="1"/>
            <p:nvPr/>
          </p:nvSpPr>
          <p:spPr>
            <a:xfrm>
              <a:off x="7072323" y="4183521"/>
              <a:ext cx="255197"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grpSp>
      <p:grpSp>
        <p:nvGrpSpPr>
          <p:cNvPr id="6" name="组合 55"/>
          <p:cNvGrpSpPr/>
          <p:nvPr/>
        </p:nvGrpSpPr>
        <p:grpSpPr>
          <a:xfrm>
            <a:off x="7551367" y="2453144"/>
            <a:ext cx="1235475" cy="1404484"/>
            <a:chOff x="7500958" y="4357694"/>
            <a:chExt cx="1235475" cy="1404484"/>
          </a:xfrm>
        </p:grpSpPr>
        <p:grpSp>
          <p:nvGrpSpPr>
            <p:cNvPr id="7" name="组合 38"/>
            <p:cNvGrpSpPr/>
            <p:nvPr/>
          </p:nvGrpSpPr>
          <p:grpSpPr>
            <a:xfrm>
              <a:off x="7500958" y="4357694"/>
              <a:ext cx="928694" cy="1000132"/>
              <a:chOff x="7715272" y="4357694"/>
              <a:chExt cx="928694" cy="1000132"/>
            </a:xfrm>
          </p:grpSpPr>
          <p:sp>
            <p:nvSpPr>
              <p:cNvPr id="72" name="矩形 71"/>
              <p:cNvSpPr/>
              <p:nvPr/>
            </p:nvSpPr>
            <p:spPr bwMode="auto">
              <a:xfrm>
                <a:off x="7858148" y="4357694"/>
                <a:ext cx="642942" cy="100013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73" name="直接连接符 72"/>
              <p:cNvCxnSpPr/>
              <p:nvPr/>
            </p:nvCxnSpPr>
            <p:spPr bwMode="auto">
              <a:xfrm>
                <a:off x="7715272" y="4857760"/>
                <a:ext cx="928694" cy="1588"/>
              </a:xfrm>
              <a:prstGeom prst="line">
                <a:avLst/>
              </a:prstGeom>
              <a:solidFill>
                <a:schemeClr val="accent1"/>
              </a:solidFill>
              <a:ln w="19050" cap="flat" cmpd="sng" algn="ctr">
                <a:solidFill>
                  <a:schemeClr val="tx1"/>
                </a:solidFill>
                <a:prstDash val="dashDot"/>
                <a:round/>
                <a:headEnd type="none" w="med" len="med"/>
                <a:tailEnd type="none" w="med" len="med"/>
              </a:ln>
              <a:effectLst/>
            </p:spPr>
          </p:cxnSp>
        </p:grpSp>
        <p:cxnSp>
          <p:nvCxnSpPr>
            <p:cNvPr id="63" name="直接连接符 62"/>
            <p:cNvCxnSpPr/>
            <p:nvPr/>
          </p:nvCxnSpPr>
          <p:spPr bwMode="auto">
            <a:xfrm rot="5400000">
              <a:off x="7537471"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8180413" y="553562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643834" y="5572140"/>
              <a:ext cx="642942" cy="1588"/>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67" name="TextBox 66"/>
            <p:cNvSpPr txBox="1"/>
            <p:nvPr/>
          </p:nvSpPr>
          <p:spPr>
            <a:xfrm>
              <a:off x="7858148" y="5392846"/>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cxnSp>
          <p:nvCxnSpPr>
            <p:cNvPr id="68" name="直接连接符 67"/>
            <p:cNvCxnSpPr/>
            <p:nvPr/>
          </p:nvCxnSpPr>
          <p:spPr bwMode="auto">
            <a:xfrm rot="10800000">
              <a:off x="8429652" y="4357694"/>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10800000">
              <a:off x="8429652" y="535782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cxnSpLocks noChangeAspect="1"/>
            </p:cNvCxnSpPr>
            <p:nvPr/>
          </p:nvCxnSpPr>
          <p:spPr bwMode="auto">
            <a:xfrm rot="5400000">
              <a:off x="8069772" y="4860450"/>
              <a:ext cx="1008000" cy="2489"/>
            </a:xfrm>
            <a:prstGeom prst="line">
              <a:avLst/>
            </a:prstGeom>
            <a:solidFill>
              <a:schemeClr val="accent1"/>
            </a:solidFill>
            <a:ln w="19050" cap="flat" cmpd="sng" algn="ctr">
              <a:solidFill>
                <a:schemeClr val="tx1"/>
              </a:solidFill>
              <a:prstDash val="solid"/>
              <a:round/>
              <a:headEnd type="stealth" w="med" len="lg"/>
              <a:tailEnd type="stealth" w="med" len="lg"/>
            </a:ln>
            <a:effectLst/>
          </p:spPr>
        </p:cxnSp>
        <p:sp>
          <p:nvSpPr>
            <p:cNvPr id="71" name="TextBox 70"/>
            <p:cNvSpPr txBox="1"/>
            <p:nvPr/>
          </p:nvSpPr>
          <p:spPr>
            <a:xfrm rot="16200000">
              <a:off x="8444610" y="4644077"/>
              <a:ext cx="214314" cy="369332"/>
            </a:xfrm>
            <a:prstGeom prst="rect">
              <a:avLst/>
            </a:prstGeom>
            <a:solidFill>
              <a:schemeClr val="bg1"/>
            </a:solidFill>
            <a:ln w="28575">
              <a:noFill/>
            </a:ln>
          </p:spPr>
          <p:txBody>
            <a:bodyPr wrap="square" lIns="36000" rIns="36000" rtlCol="0">
              <a:spAutoFit/>
            </a:bodyPr>
            <a:lstStyle/>
            <a:p>
              <a:pPr algn="ctr"/>
              <a:r>
                <a:rPr lang="en-US" altLang="zh-CN" b="1" i="1">
                  <a:latin typeface="Times New Roman" pitchFamily="18" charset="0"/>
                  <a:cs typeface="Times New Roman" pitchFamily="18" charset="0"/>
                </a:rPr>
                <a:t>h</a:t>
              </a:r>
              <a:endParaRPr lang="zh-CN" altLang="en-US" b="1" i="1">
                <a:latin typeface="Times New Roman" pitchFamily="18" charset="0"/>
                <a:cs typeface="Times New Roman" pitchFamily="18" charset="0"/>
              </a:endParaRPr>
            </a:p>
          </p:txBody>
        </p:sp>
      </p:grpSp>
      <p:grpSp>
        <p:nvGrpSpPr>
          <p:cNvPr id="8" name="组合 61"/>
          <p:cNvGrpSpPr/>
          <p:nvPr/>
        </p:nvGrpSpPr>
        <p:grpSpPr>
          <a:xfrm>
            <a:off x="714348" y="3900496"/>
            <a:ext cx="2857520" cy="742950"/>
            <a:chOff x="1285852" y="5647278"/>
            <a:chExt cx="2363627" cy="742950"/>
          </a:xfrm>
        </p:grpSpPr>
        <p:graphicFrame>
          <p:nvGraphicFramePr>
            <p:cNvPr id="453642" name="Object 10"/>
            <p:cNvGraphicFramePr>
              <a:graphicFrameLocks noChangeAspect="1"/>
            </p:cNvGraphicFramePr>
            <p:nvPr/>
          </p:nvGraphicFramePr>
          <p:xfrm>
            <a:off x="2098493" y="5647278"/>
            <a:ext cx="1550986" cy="742950"/>
          </p:xfrm>
          <a:graphic>
            <a:graphicData uri="http://schemas.openxmlformats.org/presentationml/2006/ole">
              <mc:AlternateContent xmlns:mc="http://schemas.openxmlformats.org/markup-compatibility/2006">
                <mc:Choice xmlns:v="urn:schemas-microsoft-com:vml" Requires="v">
                  <p:oleObj spid="_x0000_s454668" name="Equation" r:id="rId5" imgW="1002960" imgH="482400" progId="Equation.DSMT4">
                    <p:embed/>
                  </p:oleObj>
                </mc:Choice>
                <mc:Fallback>
                  <p:oleObj name="Equation" r:id="rId5" imgW="1002960" imgH="4824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8493" y="5647278"/>
                          <a:ext cx="1550986"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Rectangle 6"/>
            <p:cNvSpPr>
              <a:spLocks noChangeArrowheads="1"/>
            </p:cNvSpPr>
            <p:nvPr/>
          </p:nvSpPr>
          <p:spPr bwMode="auto">
            <a:xfrm>
              <a:off x="1285852" y="5786454"/>
              <a:ext cx="1004542"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latin typeface="Times New Roman" pitchFamily="18" charset="0"/>
                  <a:cs typeface="Times New Roman" pitchFamily="18" charset="0"/>
                </a:rPr>
                <a:t>悬臂梁</a:t>
              </a:r>
              <a:endParaRPr lang="en-US" altLang="zh-CN" sz="2000" b="1" baseline="-25000">
                <a:latin typeface="Times New Roman" pitchFamily="18" charset="0"/>
                <a:cs typeface="Times New Roman" pitchFamily="18" charset="0"/>
              </a:endParaRPr>
            </a:p>
          </p:txBody>
        </p:sp>
      </p:grpSp>
      <p:graphicFrame>
        <p:nvGraphicFramePr>
          <p:cNvPr id="83" name="Object 10"/>
          <p:cNvGraphicFramePr>
            <a:graphicFrameLocks noChangeAspect="1"/>
          </p:cNvGraphicFramePr>
          <p:nvPr/>
        </p:nvGraphicFramePr>
        <p:xfrm>
          <a:off x="5143504" y="3900496"/>
          <a:ext cx="3584575" cy="742950"/>
        </p:xfrm>
        <a:graphic>
          <a:graphicData uri="http://schemas.openxmlformats.org/presentationml/2006/ole">
            <mc:AlternateContent xmlns:mc="http://schemas.openxmlformats.org/markup-compatibility/2006">
              <mc:Choice xmlns:v="urn:schemas-microsoft-com:vml" Requires="v">
                <p:oleObj spid="_x0000_s454669" name="Equation" r:id="rId7" imgW="1917360" imgH="482400" progId="Equation.DSMT4">
                  <p:embed/>
                </p:oleObj>
              </mc:Choice>
              <mc:Fallback>
                <p:oleObj name="Equation" r:id="rId7" imgW="1917360" imgH="482400" progId="Equation.DSMT4">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3504" y="3900496"/>
                        <a:ext cx="3584575"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 name="Rectangle 6"/>
          <p:cNvSpPr>
            <a:spLocks noChangeArrowheads="1"/>
          </p:cNvSpPr>
          <p:nvPr/>
        </p:nvSpPr>
        <p:spPr bwMode="auto">
          <a:xfrm>
            <a:off x="4000496" y="4038905"/>
            <a:ext cx="1214447" cy="461665"/>
          </a:xfrm>
          <a:prstGeom prst="rect">
            <a:avLst/>
          </a:prstGeom>
          <a:noFill/>
          <a:ln w="9525">
            <a:noFill/>
            <a:miter lim="800000"/>
            <a:headEnd/>
            <a:tailEnd/>
          </a:ln>
        </p:spPr>
        <p:txBody>
          <a:bodyPr wrap="square">
            <a:spAutoFit/>
          </a:bodyPr>
          <a:lstStyle/>
          <a:p>
            <a:pPr marL="0" lvl="1" algn="just" fontAlgn="base">
              <a:lnSpc>
                <a:spcPct val="120000"/>
              </a:lnSpc>
              <a:spcBef>
                <a:spcPct val="20000"/>
              </a:spcBef>
              <a:spcAft>
                <a:spcPct val="0"/>
              </a:spcAft>
            </a:pPr>
            <a:r>
              <a:rPr lang="zh-CN" altLang="en-US" sz="2000" b="1">
                <a:solidFill>
                  <a:srgbClr val="C00000"/>
                </a:solidFill>
                <a:latin typeface="Times New Roman" pitchFamily="18" charset="0"/>
                <a:cs typeface="Times New Roman" pitchFamily="18" charset="0"/>
              </a:rPr>
              <a:t>简支梁？</a:t>
            </a:r>
            <a:endParaRPr lang="en-US" altLang="zh-CN" sz="2000" b="1" baseline="-25000">
              <a:solidFill>
                <a:srgbClr val="C00000"/>
              </a:solidFill>
              <a:latin typeface="Times New Roman" pitchFamily="18" charset="0"/>
              <a:cs typeface="Times New Roman" pitchFamily="18" charset="0"/>
            </a:endParaRPr>
          </a:p>
        </p:txBody>
      </p:sp>
      <p:cxnSp>
        <p:nvCxnSpPr>
          <p:cNvPr id="86" name="直接连接符 85"/>
          <p:cNvCxnSpPr/>
          <p:nvPr/>
        </p:nvCxnSpPr>
        <p:spPr bwMode="auto">
          <a:xfrm rot="5400000">
            <a:off x="702265" y="3395133"/>
            <a:ext cx="285752" cy="1588"/>
          </a:xfrm>
          <a:prstGeom prst="line">
            <a:avLst/>
          </a:prstGeom>
          <a:solidFill>
            <a:schemeClr val="accent1"/>
          </a:solidFill>
          <a:ln w="38100" cap="flat" cmpd="sng" algn="ctr">
            <a:solidFill>
              <a:srgbClr val="0033CC"/>
            </a:solidFill>
            <a:prstDash val="solid"/>
            <a:round/>
            <a:headEnd type="none" w="med" len="med"/>
            <a:tailEnd type="triangle" w="med" len="med"/>
          </a:ln>
          <a:effectLst/>
        </p:spPr>
      </p:cxnSp>
      <p:sp>
        <p:nvSpPr>
          <p:cNvPr id="87" name="矩形 86"/>
          <p:cNvSpPr/>
          <p:nvPr/>
        </p:nvSpPr>
        <p:spPr>
          <a:xfrm>
            <a:off x="494421" y="3192108"/>
            <a:ext cx="328936" cy="369332"/>
          </a:xfrm>
          <a:prstGeom prst="rect">
            <a:avLst/>
          </a:prstGeom>
        </p:spPr>
        <p:txBody>
          <a:bodyPr wrap="none">
            <a:spAutoFit/>
          </a:bodyPr>
          <a:lstStyle/>
          <a:p>
            <a:r>
              <a:rPr lang="el-GR" altLang="zh-CN" b="1" i="1">
                <a:solidFill>
                  <a:srgbClr val="0033CC"/>
                </a:solidFill>
                <a:latin typeface="Times New Roman" pitchFamily="18" charset="0"/>
                <a:cs typeface="Times New Roman" pitchFamily="18" charset="0"/>
              </a:rPr>
              <a:t>Δ</a:t>
            </a:r>
            <a:endParaRPr lang="zh-CN" altLang="en-US">
              <a:solidFill>
                <a:srgbClr val="0033CC"/>
              </a:solidFill>
            </a:endParaRPr>
          </a:p>
        </p:txBody>
      </p:sp>
      <p:sp>
        <p:nvSpPr>
          <p:cNvPr id="92" name="任意多边形 91"/>
          <p:cNvSpPr/>
          <p:nvPr/>
        </p:nvSpPr>
        <p:spPr bwMode="auto">
          <a:xfrm>
            <a:off x="857956" y="3239911"/>
            <a:ext cx="2483555" cy="270933"/>
          </a:xfrm>
          <a:custGeom>
            <a:avLst/>
            <a:gdLst>
              <a:gd name="connsiteX0" fmla="*/ 2483555 w 2483555"/>
              <a:gd name="connsiteY0" fmla="*/ 0 h 270933"/>
              <a:gd name="connsiteX1" fmla="*/ 1027288 w 2483555"/>
              <a:gd name="connsiteY1" fmla="*/ 45156 h 270933"/>
              <a:gd name="connsiteX2" fmla="*/ 0 w 2483555"/>
              <a:gd name="connsiteY2" fmla="*/ 270933 h 270933"/>
            </a:gdLst>
            <a:ahLst/>
            <a:cxnLst>
              <a:cxn ang="0">
                <a:pos x="connsiteX0" y="connsiteY0"/>
              </a:cxn>
              <a:cxn ang="0">
                <a:pos x="connsiteX1" y="connsiteY1"/>
              </a:cxn>
              <a:cxn ang="0">
                <a:pos x="connsiteX2" y="connsiteY2"/>
              </a:cxn>
            </a:cxnLst>
            <a:rect l="l" t="t" r="r" b="b"/>
            <a:pathLst>
              <a:path w="2483555" h="270933">
                <a:moveTo>
                  <a:pt x="2483555" y="0"/>
                </a:moveTo>
                <a:cubicBezTo>
                  <a:pt x="1962384" y="0"/>
                  <a:pt x="1441214" y="1"/>
                  <a:pt x="1027288" y="45156"/>
                </a:cubicBezTo>
                <a:cubicBezTo>
                  <a:pt x="613362" y="90311"/>
                  <a:pt x="306681" y="180622"/>
                  <a:pt x="0" y="270933"/>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nvGrpSpPr>
          <p:cNvPr id="98" name="组合 97"/>
          <p:cNvGrpSpPr/>
          <p:nvPr/>
        </p:nvGrpSpPr>
        <p:grpSpPr>
          <a:xfrm>
            <a:off x="4011785" y="2583033"/>
            <a:ext cx="3301141" cy="1203157"/>
            <a:chOff x="4011785" y="2583033"/>
            <a:chExt cx="3301141" cy="1203157"/>
          </a:xfrm>
        </p:grpSpPr>
        <p:grpSp>
          <p:nvGrpSpPr>
            <p:cNvPr id="80" name="组合 79"/>
            <p:cNvGrpSpPr/>
            <p:nvPr/>
          </p:nvGrpSpPr>
          <p:grpSpPr>
            <a:xfrm>
              <a:off x="4011785" y="2583033"/>
              <a:ext cx="3301141" cy="1203157"/>
              <a:chOff x="4011785" y="2583033"/>
              <a:chExt cx="3301141" cy="1203157"/>
            </a:xfrm>
          </p:grpSpPr>
          <p:pic>
            <p:nvPicPr>
              <p:cNvPr id="454666" name="Picture 10"/>
              <p:cNvPicPr>
                <a:picLocks noChangeAspect="1" noChangeArrowheads="1"/>
              </p:cNvPicPr>
              <p:nvPr/>
            </p:nvPicPr>
            <p:blipFill>
              <a:blip r:embed="rId9"/>
              <a:srcRect/>
              <a:stretch>
                <a:fillRect/>
              </a:stretch>
            </p:blipFill>
            <p:spPr bwMode="auto">
              <a:xfrm>
                <a:off x="4143372" y="2714620"/>
                <a:ext cx="3000396" cy="902661"/>
              </a:xfrm>
              <a:prstGeom prst="rect">
                <a:avLst/>
              </a:prstGeom>
              <a:noFill/>
              <a:ln w="9525">
                <a:noFill/>
                <a:miter lim="800000"/>
                <a:headEnd/>
                <a:tailEnd/>
              </a:ln>
              <a:effectLst/>
            </p:spPr>
          </p:pic>
          <p:sp>
            <p:nvSpPr>
              <p:cNvPr id="55" name="TextBox 54"/>
              <p:cNvSpPr txBox="1"/>
              <p:nvPr/>
            </p:nvSpPr>
            <p:spPr>
              <a:xfrm>
                <a:off x="5556122" y="2583033"/>
                <a:ext cx="280872" cy="359133"/>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sp>
            <p:nvSpPr>
              <p:cNvPr id="56" name="TextBox 55"/>
              <p:cNvSpPr txBox="1"/>
              <p:nvPr/>
            </p:nvSpPr>
            <p:spPr>
              <a:xfrm>
                <a:off x="4011785" y="2928934"/>
                <a:ext cx="319724" cy="359133"/>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58" name="TextBox 57"/>
              <p:cNvSpPr txBox="1"/>
              <p:nvPr/>
            </p:nvSpPr>
            <p:spPr>
              <a:xfrm>
                <a:off x="6993202" y="2964562"/>
                <a:ext cx="319724" cy="359133"/>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60" name="直接连接符 59"/>
              <p:cNvCxnSpPr/>
              <p:nvPr/>
            </p:nvCxnSpPr>
            <p:spPr bwMode="auto">
              <a:xfrm rot="5400000">
                <a:off x="4308874" y="3606039"/>
                <a:ext cx="216000" cy="1425"/>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1" name="直接连接符 60"/>
              <p:cNvCxnSpPr>
                <a:cxnSpLocks noChangeAspect="1"/>
              </p:cNvCxnSpPr>
              <p:nvPr/>
            </p:nvCxnSpPr>
            <p:spPr bwMode="auto">
              <a:xfrm rot="5400000">
                <a:off x="6859801" y="3634243"/>
                <a:ext cx="160304" cy="713"/>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2" name="直接连接符 61"/>
              <p:cNvCxnSpPr/>
              <p:nvPr/>
            </p:nvCxnSpPr>
            <p:spPr bwMode="auto">
              <a:xfrm>
                <a:off x="4429124" y="3641889"/>
                <a:ext cx="2500859" cy="1425"/>
              </a:xfrm>
              <a:prstGeom prst="line">
                <a:avLst/>
              </a:prstGeom>
              <a:solidFill>
                <a:schemeClr val="accent1"/>
              </a:solidFill>
              <a:ln w="28575" cap="flat" cmpd="sng" algn="ctr">
                <a:solidFill>
                  <a:schemeClr val="tx1"/>
                </a:solidFill>
                <a:prstDash val="solid"/>
                <a:round/>
                <a:headEnd type="stealth" w="med" len="lg"/>
                <a:tailEnd type="stealth" w="med" len="lg"/>
              </a:ln>
              <a:effectLst/>
            </p:spPr>
          </p:cxnSp>
          <p:sp>
            <p:nvSpPr>
              <p:cNvPr id="74" name="TextBox 73"/>
              <p:cNvSpPr txBox="1"/>
              <p:nvPr/>
            </p:nvSpPr>
            <p:spPr>
              <a:xfrm>
                <a:off x="5584329" y="3427057"/>
                <a:ext cx="229072" cy="359133"/>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grpSp>
        <p:sp>
          <p:nvSpPr>
            <p:cNvPr id="93" name="任意多边形 92"/>
            <p:cNvSpPr/>
            <p:nvPr/>
          </p:nvSpPr>
          <p:spPr bwMode="auto">
            <a:xfrm>
              <a:off x="4391378" y="3262489"/>
              <a:ext cx="2596444" cy="237949"/>
            </a:xfrm>
            <a:custGeom>
              <a:avLst/>
              <a:gdLst>
                <a:gd name="connsiteX0" fmla="*/ 0 w 2596444"/>
                <a:gd name="connsiteY0" fmla="*/ 0 h 282222"/>
                <a:gd name="connsiteX1" fmla="*/ 1309511 w 2596444"/>
                <a:gd name="connsiteY1" fmla="*/ 282222 h 282222"/>
                <a:gd name="connsiteX2" fmla="*/ 2596444 w 2596444"/>
                <a:gd name="connsiteY2" fmla="*/ 0 h 282222"/>
              </a:gdLst>
              <a:ahLst/>
              <a:cxnLst>
                <a:cxn ang="0">
                  <a:pos x="connsiteX0" y="connsiteY0"/>
                </a:cxn>
                <a:cxn ang="0">
                  <a:pos x="connsiteX1" y="connsiteY1"/>
                </a:cxn>
                <a:cxn ang="0">
                  <a:pos x="connsiteX2" y="connsiteY2"/>
                </a:cxn>
              </a:cxnLst>
              <a:rect l="l" t="t" r="r" b="b"/>
              <a:pathLst>
                <a:path w="2596444" h="282222">
                  <a:moveTo>
                    <a:pt x="0" y="0"/>
                  </a:moveTo>
                  <a:cubicBezTo>
                    <a:pt x="438385" y="141111"/>
                    <a:pt x="876770" y="282222"/>
                    <a:pt x="1309511" y="282222"/>
                  </a:cubicBezTo>
                  <a:cubicBezTo>
                    <a:pt x="1742252" y="282222"/>
                    <a:pt x="2169348" y="141111"/>
                    <a:pt x="2596444"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cxnSp>
          <p:nvCxnSpPr>
            <p:cNvPr id="94" name="直接连接符 93"/>
            <p:cNvCxnSpPr/>
            <p:nvPr/>
          </p:nvCxnSpPr>
          <p:spPr bwMode="auto">
            <a:xfrm rot="5400000">
              <a:off x="5599411" y="3400927"/>
              <a:ext cx="230400" cy="794"/>
            </a:xfrm>
            <a:prstGeom prst="line">
              <a:avLst/>
            </a:prstGeom>
            <a:solidFill>
              <a:schemeClr val="accent1"/>
            </a:solidFill>
            <a:ln w="38100" cap="flat" cmpd="sng" algn="ctr">
              <a:solidFill>
                <a:srgbClr val="0033CC"/>
              </a:solidFill>
              <a:prstDash val="solid"/>
              <a:round/>
              <a:headEnd type="none" w="med" len="med"/>
              <a:tailEnd type="triangle" w="med" len="med"/>
            </a:ln>
            <a:effectLst/>
          </p:spPr>
        </p:cxnSp>
        <p:sp>
          <p:nvSpPr>
            <p:cNvPr id="97" name="矩形 96"/>
            <p:cNvSpPr/>
            <p:nvPr/>
          </p:nvSpPr>
          <p:spPr>
            <a:xfrm>
              <a:off x="5386072" y="3177115"/>
              <a:ext cx="328936" cy="369332"/>
            </a:xfrm>
            <a:prstGeom prst="rect">
              <a:avLst/>
            </a:prstGeom>
          </p:spPr>
          <p:txBody>
            <a:bodyPr wrap="none">
              <a:spAutoFit/>
            </a:bodyPr>
            <a:lstStyle/>
            <a:p>
              <a:r>
                <a:rPr lang="el-GR" altLang="zh-CN" b="1" i="1">
                  <a:solidFill>
                    <a:srgbClr val="0033CC"/>
                  </a:solidFill>
                  <a:latin typeface="Times New Roman" pitchFamily="18" charset="0"/>
                  <a:cs typeface="Times New Roman" pitchFamily="18" charset="0"/>
                </a:rPr>
                <a:t>Δ</a:t>
              </a:r>
              <a:endParaRPr lang="zh-CN" altLang="en-US">
                <a:solidFill>
                  <a:srgbClr val="0033CC"/>
                </a:solidFill>
              </a:endParaRPr>
            </a:p>
          </p:txBody>
        </p:sp>
      </p:grpSp>
      <p:sp>
        <p:nvSpPr>
          <p:cNvPr id="99" name="TextBox 98"/>
          <p:cNvSpPr txBox="1"/>
          <p:nvPr/>
        </p:nvSpPr>
        <p:spPr>
          <a:xfrm>
            <a:off x="1214414" y="4814840"/>
            <a:ext cx="7215238" cy="1600438"/>
          </a:xfrm>
          <a:prstGeom prst="rect">
            <a:avLst/>
          </a:prstGeom>
          <a:noFill/>
          <a:ln w="28575">
            <a:noFill/>
          </a:ln>
        </p:spPr>
        <p:txBody>
          <a:bodyPr wrap="square" rtlCol="0">
            <a:spAutoFit/>
          </a:bodyPr>
          <a:lstStyle/>
          <a:p>
            <a:pPr>
              <a:lnSpc>
                <a:spcPct val="130000"/>
              </a:lnSpc>
            </a:pPr>
            <a:r>
              <a:rPr lang="zh-CN" altLang="en-US" sz="2000" b="1"/>
              <a:t>结论： ⑴ 剪力影响</a:t>
            </a:r>
            <a:r>
              <a:rPr lang="zh-CN" altLang="en-US" sz="2000" b="1">
                <a:latin typeface="Times New Roman" pitchFamily="18" charset="0"/>
                <a:cs typeface="Times New Roman" pitchFamily="18" charset="0"/>
              </a:rPr>
              <a:t> </a:t>
            </a:r>
            <a:r>
              <a:rPr lang="en-US" altLang="zh-CN" sz="2000" b="1">
                <a:latin typeface="+mn-ea"/>
                <a:cs typeface="Times New Roman" pitchFamily="18" charset="0"/>
              </a:rPr>
              <a:t>/</a:t>
            </a:r>
            <a:r>
              <a:rPr lang="zh-CN" altLang="en-US" sz="2000" b="1"/>
              <a:t>弯矩影响 </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h</a:t>
            </a:r>
            <a:r>
              <a:rPr lang="en-US" altLang="zh-CN" sz="2000" b="1" baseline="30000">
                <a:latin typeface="Times New Roman" pitchFamily="18" charset="0"/>
                <a:cs typeface="Times New Roman" pitchFamily="18" charset="0"/>
              </a:rPr>
              <a:t>2</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l</a:t>
            </a:r>
            <a:r>
              <a:rPr lang="en-US" altLang="zh-CN" sz="2000" b="1" baseline="30000">
                <a:latin typeface="Times New Roman" pitchFamily="18" charset="0"/>
                <a:cs typeface="Times New Roman" pitchFamily="18" charset="0"/>
              </a:rPr>
              <a:t>2</a:t>
            </a:r>
            <a:r>
              <a:rPr lang="zh-CN" altLang="en-US" sz="2000" b="1"/>
              <a:t>；</a:t>
            </a:r>
            <a:endParaRPr lang="en-US" altLang="zh-CN" sz="2000" b="1"/>
          </a:p>
          <a:p>
            <a:pPr indent="801688">
              <a:lnSpc>
                <a:spcPct val="130000"/>
              </a:lnSpc>
            </a:pPr>
            <a:r>
              <a:rPr lang="zh-CN" altLang="en-US" sz="2000" b="1">
                <a:latin typeface="Times New Roman" pitchFamily="18" charset="0"/>
                <a:cs typeface="Times New Roman" pitchFamily="18" charset="0"/>
              </a:rPr>
              <a:t> ⑵ 若</a:t>
            </a:r>
            <a:r>
              <a:rPr lang="en-US" altLang="zh-CN" sz="2000" b="1" i="1">
                <a:latin typeface="Times New Roman" pitchFamily="18" charset="0"/>
                <a:cs typeface="Times New Roman" pitchFamily="18" charset="0"/>
              </a:rPr>
              <a:t>h</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l </a:t>
            </a:r>
            <a:r>
              <a:rPr lang="en-US" altLang="zh-CN" sz="2000" b="1">
                <a:latin typeface="Times New Roman" pitchFamily="18" charset="0"/>
                <a:cs typeface="Times New Roman" pitchFamily="18" charset="0"/>
              </a:rPr>
              <a:t>&lt; 1/10</a:t>
            </a:r>
            <a:r>
              <a:rPr lang="zh-CN" altLang="en-US" sz="2000" b="1">
                <a:latin typeface="Times New Roman" pitchFamily="18" charset="0"/>
                <a:cs typeface="Times New Roman" pitchFamily="18" charset="0"/>
              </a:rPr>
              <a:t> </a:t>
            </a:r>
            <a:r>
              <a:rPr lang="zh-CN" altLang="en-US" sz="2000" b="1"/>
              <a:t>，则剪力影响可以忽略；</a:t>
            </a:r>
            <a:endParaRPr lang="en-US" altLang="zh-CN" sz="2000" b="1"/>
          </a:p>
          <a:p>
            <a:pPr indent="801688"/>
            <a:r>
              <a:rPr lang="en-US" altLang="zh-CN" sz="2000" b="1"/>
              <a:t>      </a:t>
            </a:r>
            <a:r>
              <a:rPr lang="zh-CN" altLang="en-US" b="1">
                <a:solidFill>
                  <a:srgbClr val="0033CC"/>
                </a:solidFill>
              </a:rPr>
              <a:t>大部分梁满足这个条件；</a:t>
            </a:r>
            <a:endParaRPr lang="en-US" altLang="zh-CN" b="1">
              <a:solidFill>
                <a:srgbClr val="0033CC"/>
              </a:solidFill>
            </a:endParaRPr>
          </a:p>
          <a:p>
            <a:pPr indent="801688">
              <a:lnSpc>
                <a:spcPct val="130000"/>
              </a:lnSpc>
            </a:pPr>
            <a:r>
              <a:rPr lang="zh-CN" altLang="en-US" sz="2000" b="1">
                <a:latin typeface="Times New Roman" pitchFamily="18" charset="0"/>
                <a:cs typeface="Times New Roman" pitchFamily="18" charset="0"/>
              </a:rPr>
              <a:t> ⑶ 若</a:t>
            </a:r>
            <a:r>
              <a:rPr lang="en-US" altLang="zh-CN" sz="2000" b="1" i="1">
                <a:latin typeface="Times New Roman" pitchFamily="18" charset="0"/>
                <a:cs typeface="Times New Roman" pitchFamily="18" charset="0"/>
              </a:rPr>
              <a:t>h</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l </a:t>
            </a:r>
            <a:r>
              <a:rPr lang="en-US" altLang="zh-CN" sz="2000" b="1">
                <a:latin typeface="Times New Roman" pitchFamily="18" charset="0"/>
                <a:cs typeface="Times New Roman" pitchFamily="18" charset="0"/>
              </a:rPr>
              <a:t>&gt; 1/5</a:t>
            </a:r>
            <a:r>
              <a:rPr lang="zh-CN" altLang="en-US" sz="2000" b="1">
                <a:latin typeface="Times New Roman" pitchFamily="18" charset="0"/>
                <a:cs typeface="Times New Roman" pitchFamily="18" charset="0"/>
              </a:rPr>
              <a:t> ，则剪力影响变得重要；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blinds(horizontal)">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 calcmode="lin" valueType="num">
                                      <p:cBhvr additive="base">
                                        <p:cTn id="17" dur="500" fill="hold"/>
                                        <p:tgtEl>
                                          <p:spTgt spid="83"/>
                                        </p:tgtEl>
                                        <p:attrNameLst>
                                          <p:attrName>ppt_x</p:attrName>
                                        </p:attrNameLst>
                                      </p:cBhvr>
                                      <p:tavLst>
                                        <p:tav tm="0">
                                          <p:val>
                                            <p:strVal val="#ppt_x"/>
                                          </p:val>
                                        </p:tav>
                                        <p:tav tm="100000">
                                          <p:val>
                                            <p:strVal val="#ppt_x"/>
                                          </p:val>
                                        </p:tav>
                                      </p:tavLst>
                                    </p:anim>
                                    <p:anim calcmode="lin" valueType="num">
                                      <p:cBhvr additive="base">
                                        <p:cTn id="18"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down)">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Effect transition="in" filter="wipe(down)">
                                      <p:cBhvr>
                                        <p:cTn id="28" dur="500"/>
                                        <p:tgtEl>
                                          <p:spTgt spid="99">
                                            <p:txEl>
                                              <p:pRg st="1" end="1"/>
                                            </p:txEl>
                                          </p:spTgt>
                                        </p:tgtEl>
                                      </p:cBhvr>
                                    </p:animEffect>
                                  </p:childTnLst>
                                </p:cTn>
                              </p:par>
                            </p:childTnLst>
                          </p:cTn>
                        </p:par>
                        <p:par>
                          <p:cTn id="29" fill="hold">
                            <p:stCondLst>
                              <p:cond delay="500"/>
                            </p:stCondLst>
                            <p:childTnLst>
                              <p:par>
                                <p:cTn id="30" presetID="22" presetClass="entr" presetSubtype="4" fill="hold" grpId="0" nodeType="afterEffect">
                                  <p:stCondLst>
                                    <p:cond delay="0"/>
                                  </p:stCondLst>
                                  <p:childTnLst>
                                    <p:set>
                                      <p:cBhvr>
                                        <p:cTn id="31" dur="1" fill="hold">
                                          <p:stCondLst>
                                            <p:cond delay="0"/>
                                          </p:stCondLst>
                                        </p:cTn>
                                        <p:tgtEl>
                                          <p:spTgt spid="99">
                                            <p:txEl>
                                              <p:pRg st="2" end="2"/>
                                            </p:txEl>
                                          </p:spTgt>
                                        </p:tgtEl>
                                        <p:attrNameLst>
                                          <p:attrName>style.visibility</p:attrName>
                                        </p:attrNameLst>
                                      </p:cBhvr>
                                      <p:to>
                                        <p:strVal val="visible"/>
                                      </p:to>
                                    </p:set>
                                    <p:animEffect transition="in" filter="wipe(down)">
                                      <p:cBhvr>
                                        <p:cTn id="32" dur="500"/>
                                        <p:tgtEl>
                                          <p:spTgt spid="9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9">
                                            <p:txEl>
                                              <p:pRg st="3" end="3"/>
                                            </p:txEl>
                                          </p:spTgt>
                                        </p:tgtEl>
                                        <p:attrNameLst>
                                          <p:attrName>style.visibility</p:attrName>
                                        </p:attrNameLst>
                                      </p:cBhvr>
                                      <p:to>
                                        <p:strVal val="visible"/>
                                      </p:to>
                                    </p:set>
                                    <p:animEffect transition="in" filter="wipe(down)">
                                      <p:cBhvr>
                                        <p:cTn id="37"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99"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3357562"/>
            <a:ext cx="4816840" cy="3262432"/>
          </a:xfrm>
          <a:prstGeom prst="rect">
            <a:avLst/>
          </a:prstGeom>
          <a:noFill/>
          <a:ln w="9525">
            <a:noFill/>
            <a:miter lim="800000"/>
            <a:headEnd/>
            <a:tailEnd/>
          </a:ln>
        </p:spPr>
        <p:txBody>
          <a:bodyPr wrap="square">
            <a:spAutoFit/>
          </a:bodyPr>
          <a:lstStyle/>
          <a:p>
            <a:pPr marL="742950" lvl="1" indent="-285750" algn="just" fontAlgn="base">
              <a:spcAft>
                <a:spcPct val="0"/>
              </a:spcAft>
              <a:buFont typeface="Wingdings" pitchFamily="2" charset="2"/>
              <a:buChar char="n"/>
            </a:pPr>
            <a:r>
              <a:rPr lang="zh-CN" altLang="en-US" sz="2000" b="1">
                <a:latin typeface="Times New Roman" pitchFamily="18" charset="0"/>
                <a:cs typeface="Times New Roman" pitchFamily="18" charset="0"/>
              </a:rPr>
              <a:t>梁和刚架</a:t>
            </a:r>
            <a:endParaRPr lang="en-US" altLang="zh-CN" sz="2000" b="1">
              <a:latin typeface="Times New Roman" pitchFamily="18" charset="0"/>
              <a:cs typeface="Times New Roman" pitchFamily="18" charset="0"/>
            </a:endParaRPr>
          </a:p>
          <a:p>
            <a:pPr marL="742950" lvl="1" indent="-285750" algn="just" fontAlgn="base">
              <a:spcAft>
                <a:spcPct val="0"/>
              </a:spcAft>
            </a:pPr>
            <a:r>
              <a:rPr lang="en-US" altLang="zh-CN" b="1">
                <a:solidFill>
                  <a:srgbClr val="0033CC"/>
                </a:solidFill>
                <a:latin typeface="Times New Roman" pitchFamily="18" charset="0"/>
                <a:cs typeface="Times New Roman" pitchFamily="18" charset="0"/>
              </a:rPr>
              <a:t>	</a:t>
            </a:r>
            <a:r>
              <a:rPr lang="zh-CN" altLang="en-US" b="1">
                <a:solidFill>
                  <a:srgbClr val="C00000"/>
                </a:solidFill>
                <a:latin typeface="Times New Roman" pitchFamily="18" charset="0"/>
                <a:cs typeface="Times New Roman" pitchFamily="18" charset="0"/>
              </a:rPr>
              <a:t>弯曲变形主导</a:t>
            </a:r>
            <a:endParaRPr lang="en-US" altLang="zh-CN" b="1">
              <a:solidFill>
                <a:srgbClr val="C00000"/>
              </a:solidFill>
              <a:latin typeface="Times New Roman" pitchFamily="18" charset="0"/>
              <a:cs typeface="Times New Roman" pitchFamily="18" charset="0"/>
            </a:endParaRPr>
          </a:p>
          <a:p>
            <a:pPr marL="742950" lvl="1" indent="-285750" algn="just" fontAlgn="base">
              <a:spcBef>
                <a:spcPts val="1200"/>
              </a:spcBef>
              <a:spcAft>
                <a:spcPct val="0"/>
              </a:spcAft>
              <a:buFont typeface="Wingdings" pitchFamily="2" charset="2"/>
              <a:buChar char="n"/>
            </a:pPr>
            <a:r>
              <a:rPr lang="zh-CN" altLang="en-US" sz="2000" b="1">
                <a:latin typeface="Times New Roman" pitchFamily="18" charset="0"/>
                <a:cs typeface="Times New Roman" pitchFamily="18" charset="0"/>
              </a:rPr>
              <a:t>桁架</a:t>
            </a:r>
            <a:endParaRPr lang="en-US" altLang="zh-CN" sz="2000" b="1">
              <a:latin typeface="Times New Roman" pitchFamily="18" charset="0"/>
              <a:cs typeface="Times New Roman" pitchFamily="18" charset="0"/>
            </a:endParaRPr>
          </a:p>
          <a:p>
            <a:pPr marL="742950" lvl="1" indent="-285750" algn="just" fontAlgn="base">
              <a:spcAft>
                <a:spcPct val="0"/>
              </a:spcAft>
            </a:pPr>
            <a:r>
              <a:rPr lang="en-US" altLang="zh-CN" sz="2000" b="1">
                <a:latin typeface="Times New Roman" pitchFamily="18" charset="0"/>
                <a:cs typeface="Times New Roman" pitchFamily="18" charset="0"/>
              </a:rPr>
              <a:t>	</a:t>
            </a:r>
            <a:r>
              <a:rPr lang="zh-CN" altLang="en-US" b="1">
                <a:solidFill>
                  <a:srgbClr val="0033CC"/>
                </a:solidFill>
                <a:latin typeface="Times New Roman" pitchFamily="18" charset="0"/>
                <a:cs typeface="Times New Roman" pitchFamily="18" charset="0"/>
              </a:rPr>
              <a:t>只受轴力</a:t>
            </a:r>
            <a:endParaRPr lang="en-US" altLang="zh-CN" b="1">
              <a:solidFill>
                <a:srgbClr val="0033CC"/>
              </a:solidFill>
              <a:latin typeface="Times New Roman" pitchFamily="18" charset="0"/>
              <a:cs typeface="Times New Roman" pitchFamily="18" charset="0"/>
            </a:endParaRPr>
          </a:p>
          <a:p>
            <a:pPr marL="742950" lvl="1" indent="-285750" algn="just" fontAlgn="base">
              <a:spcBef>
                <a:spcPts val="1200"/>
              </a:spcBef>
              <a:spcAft>
                <a:spcPct val="0"/>
              </a:spcAft>
              <a:buFont typeface="Wingdings" pitchFamily="2" charset="2"/>
              <a:buChar char="n"/>
            </a:pPr>
            <a:r>
              <a:rPr lang="zh-CN" altLang="en-US" sz="2000" b="1">
                <a:latin typeface="Times New Roman" pitchFamily="18" charset="0"/>
                <a:cs typeface="Times New Roman" pitchFamily="18" charset="0"/>
              </a:rPr>
              <a:t>桁梁组合结构</a:t>
            </a:r>
            <a:endParaRPr lang="en-US" altLang="zh-CN" sz="2000" b="1">
              <a:latin typeface="Times New Roman" pitchFamily="18" charset="0"/>
              <a:cs typeface="Times New Roman" pitchFamily="18" charset="0"/>
            </a:endParaRPr>
          </a:p>
          <a:p>
            <a:pPr marL="742950" lvl="1" indent="-285750" algn="just" fontAlgn="base">
              <a:spcAft>
                <a:spcPct val="0"/>
              </a:spcAft>
            </a:pPr>
            <a:r>
              <a:rPr lang="en-US" altLang="zh-CN" sz="2000" b="1">
                <a:latin typeface="Times New Roman" pitchFamily="18" charset="0"/>
                <a:cs typeface="Times New Roman" pitchFamily="18" charset="0"/>
              </a:rPr>
              <a:t>	</a:t>
            </a:r>
            <a:r>
              <a:rPr lang="zh-CN" altLang="en-US" b="1">
                <a:solidFill>
                  <a:srgbClr val="C00000"/>
                </a:solidFill>
                <a:latin typeface="Times New Roman" pitchFamily="18" charset="0"/>
                <a:cs typeface="Times New Roman" pitchFamily="18" charset="0"/>
              </a:rPr>
              <a:t>梁式杆弯矩主导</a:t>
            </a:r>
            <a:r>
              <a:rPr lang="zh-CN" altLang="en-US" b="1">
                <a:solidFill>
                  <a:srgbClr val="0033CC"/>
                </a:solidFill>
                <a:latin typeface="Times New Roman" pitchFamily="18" charset="0"/>
                <a:cs typeface="Times New Roman" pitchFamily="18" charset="0"/>
              </a:rPr>
              <a:t>，</a:t>
            </a:r>
            <a:endParaRPr lang="en-US" altLang="zh-CN" b="1">
              <a:solidFill>
                <a:srgbClr val="0033CC"/>
              </a:solidFill>
              <a:latin typeface="Times New Roman" pitchFamily="18" charset="0"/>
              <a:cs typeface="Times New Roman" pitchFamily="18" charset="0"/>
            </a:endParaRPr>
          </a:p>
          <a:p>
            <a:pPr marL="742950" lvl="1" indent="-285750" algn="just" fontAlgn="base">
              <a:spcAft>
                <a:spcPct val="0"/>
              </a:spcAft>
            </a:pPr>
            <a:r>
              <a:rPr lang="en-US" altLang="zh-CN" b="1">
                <a:solidFill>
                  <a:srgbClr val="0033CC"/>
                </a:solidFill>
                <a:latin typeface="Times New Roman" pitchFamily="18" charset="0"/>
                <a:cs typeface="Times New Roman" pitchFamily="18" charset="0"/>
              </a:rPr>
              <a:t>     </a:t>
            </a:r>
            <a:r>
              <a:rPr lang="zh-CN" altLang="en-US" b="1">
                <a:solidFill>
                  <a:srgbClr val="0033CC"/>
                </a:solidFill>
                <a:latin typeface="Times New Roman" pitchFamily="18" charset="0"/>
                <a:cs typeface="Times New Roman" pitchFamily="18" charset="0"/>
              </a:rPr>
              <a:t>链杆只受轴力</a:t>
            </a:r>
            <a:endParaRPr lang="en-US" altLang="zh-CN" b="1">
              <a:solidFill>
                <a:srgbClr val="0033CC"/>
              </a:solidFill>
              <a:latin typeface="Times New Roman" pitchFamily="18" charset="0"/>
              <a:cs typeface="Times New Roman" pitchFamily="18" charset="0"/>
            </a:endParaRPr>
          </a:p>
          <a:p>
            <a:pPr marL="742950" lvl="1" indent="-285750" algn="just" fontAlgn="base">
              <a:spcBef>
                <a:spcPts val="600"/>
              </a:spcBef>
              <a:spcAft>
                <a:spcPct val="0"/>
              </a:spcAft>
              <a:buFont typeface="Wingdings" pitchFamily="2" charset="2"/>
              <a:buChar char="n"/>
            </a:pPr>
            <a:r>
              <a:rPr lang="zh-CN" altLang="en-US" sz="2000" b="1">
                <a:latin typeface="Times New Roman" pitchFamily="18" charset="0"/>
                <a:cs typeface="Times New Roman" pitchFamily="18" charset="0"/>
              </a:rPr>
              <a:t>拱</a:t>
            </a:r>
            <a:endParaRPr lang="en-US" altLang="zh-CN" sz="2000" b="1">
              <a:latin typeface="Times New Roman" pitchFamily="18" charset="0"/>
              <a:cs typeface="Times New Roman" pitchFamily="18" charset="0"/>
            </a:endParaRPr>
          </a:p>
          <a:p>
            <a:pPr marL="742950" lvl="1" indent="-285750" algn="just" fontAlgn="base">
              <a:spcAft>
                <a:spcPct val="0"/>
              </a:spcAft>
            </a:pPr>
            <a:r>
              <a:rPr lang="en-US" altLang="zh-CN" b="1">
                <a:solidFill>
                  <a:srgbClr val="0033CC"/>
                </a:solidFill>
                <a:latin typeface="Times New Roman" pitchFamily="18" charset="0"/>
                <a:cs typeface="Times New Roman" pitchFamily="18" charset="0"/>
              </a:rPr>
              <a:t>	</a:t>
            </a:r>
            <a:r>
              <a:rPr lang="zh-CN" altLang="en-US" b="1">
                <a:solidFill>
                  <a:srgbClr val="C00000"/>
                </a:solidFill>
                <a:latin typeface="Times New Roman" pitchFamily="18" charset="0"/>
                <a:cs typeface="Times New Roman" pitchFamily="18" charset="0"/>
              </a:rPr>
              <a:t>弯矩</a:t>
            </a:r>
            <a:r>
              <a:rPr lang="zh-CN" altLang="en-US" b="1">
                <a:solidFill>
                  <a:srgbClr val="0033CC"/>
                </a:solidFill>
                <a:latin typeface="Times New Roman" pitchFamily="18" charset="0"/>
                <a:cs typeface="Times New Roman" pitchFamily="18" charset="0"/>
              </a:rPr>
              <a:t>轴力都重要</a:t>
            </a:r>
            <a:endParaRPr lang="en-US" altLang="zh-CN" b="1">
              <a:solidFill>
                <a:srgbClr val="0033CC"/>
              </a:solidFill>
              <a:latin typeface="Times New Roman" pitchFamily="18" charset="0"/>
              <a:cs typeface="Times New Roman" pitchFamily="18" charset="0"/>
            </a:endParaRPr>
          </a:p>
        </p:txBody>
      </p:sp>
      <p:graphicFrame>
        <p:nvGraphicFramePr>
          <p:cNvPr id="432131" name="Object 3"/>
          <p:cNvGraphicFramePr>
            <a:graphicFrameLocks noChangeAspect="1"/>
          </p:cNvGraphicFramePr>
          <p:nvPr/>
        </p:nvGraphicFramePr>
        <p:xfrm>
          <a:off x="2266968" y="1785926"/>
          <a:ext cx="4948238" cy="709612"/>
        </p:xfrm>
        <a:graphic>
          <a:graphicData uri="http://schemas.openxmlformats.org/presentationml/2006/ole">
            <mc:AlternateContent xmlns:mc="http://schemas.openxmlformats.org/markup-compatibility/2006">
              <mc:Choice xmlns:v="urn:schemas-microsoft-com:vml" Requires="v">
                <p:oleObj spid="_x0000_s455687" name="Equation" r:id="rId4" imgW="3098520" imgH="444240" progId="Equation.DSMT4">
                  <p:embed/>
                </p:oleObj>
              </mc:Choice>
              <mc:Fallback>
                <p:oleObj name="Equation" r:id="rId4" imgW="3098520" imgH="4442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6968" y="1785926"/>
                        <a:ext cx="4948238"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p:nvPr/>
        </p:nvSpPr>
        <p:spPr bwMode="auto">
          <a:xfrm>
            <a:off x="3115944" y="1785926"/>
            <a:ext cx="857256" cy="714380"/>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18" name="TextBox 17"/>
          <p:cNvSpPr txBox="1"/>
          <p:nvPr/>
        </p:nvSpPr>
        <p:spPr>
          <a:xfrm>
            <a:off x="2963938" y="2497108"/>
            <a:ext cx="1107996" cy="369332"/>
          </a:xfrm>
          <a:prstGeom prst="rect">
            <a:avLst/>
          </a:prstGeom>
          <a:noFill/>
          <a:ln w="28575">
            <a:noFill/>
          </a:ln>
        </p:spPr>
        <p:txBody>
          <a:bodyPr wrap="none" rtlCol="0">
            <a:spAutoFit/>
          </a:bodyPr>
          <a:lstStyle/>
          <a:p>
            <a:r>
              <a:rPr lang="zh-CN" altLang="en-US" b="1">
                <a:solidFill>
                  <a:srgbClr val="C00000"/>
                </a:solidFill>
              </a:rPr>
              <a:t>弯曲变形</a:t>
            </a:r>
          </a:p>
        </p:txBody>
      </p:sp>
      <p:sp>
        <p:nvSpPr>
          <p:cNvPr id="20" name="矩形 19"/>
          <p:cNvSpPr/>
          <p:nvPr/>
        </p:nvSpPr>
        <p:spPr bwMode="auto">
          <a:xfrm>
            <a:off x="4575198" y="1785926"/>
            <a:ext cx="942342" cy="714380"/>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21" name="TextBox 20"/>
          <p:cNvSpPr txBox="1"/>
          <p:nvPr/>
        </p:nvSpPr>
        <p:spPr>
          <a:xfrm>
            <a:off x="4464136" y="2500306"/>
            <a:ext cx="1107996" cy="369332"/>
          </a:xfrm>
          <a:prstGeom prst="rect">
            <a:avLst/>
          </a:prstGeom>
          <a:noFill/>
          <a:ln w="28575">
            <a:noFill/>
          </a:ln>
        </p:spPr>
        <p:txBody>
          <a:bodyPr wrap="none" rtlCol="0">
            <a:spAutoFit/>
          </a:bodyPr>
          <a:lstStyle/>
          <a:p>
            <a:r>
              <a:rPr lang="zh-CN" altLang="en-US" b="1">
                <a:solidFill>
                  <a:srgbClr val="0033CC"/>
                </a:solidFill>
              </a:rPr>
              <a:t>拉伸变形</a:t>
            </a:r>
          </a:p>
        </p:txBody>
      </p:sp>
      <p:sp>
        <p:nvSpPr>
          <p:cNvPr id="22" name="矩形 21"/>
          <p:cNvSpPr/>
          <p:nvPr/>
        </p:nvSpPr>
        <p:spPr bwMode="auto">
          <a:xfrm>
            <a:off x="6129988" y="1785926"/>
            <a:ext cx="1085218" cy="714380"/>
          </a:xfrm>
          <a:prstGeom prst="rect">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23" name="TextBox 22"/>
          <p:cNvSpPr txBox="1"/>
          <p:nvPr/>
        </p:nvSpPr>
        <p:spPr>
          <a:xfrm>
            <a:off x="6107210" y="2500306"/>
            <a:ext cx="1107996" cy="369332"/>
          </a:xfrm>
          <a:prstGeom prst="rect">
            <a:avLst/>
          </a:prstGeom>
          <a:noFill/>
          <a:ln w="28575">
            <a:noFill/>
          </a:ln>
        </p:spPr>
        <p:txBody>
          <a:bodyPr wrap="none" rtlCol="0">
            <a:spAutoFit/>
          </a:bodyPr>
          <a:lstStyle/>
          <a:p>
            <a:r>
              <a:rPr lang="zh-CN" altLang="en-US" b="1">
                <a:solidFill>
                  <a:srgbClr val="00B050"/>
                </a:solidFill>
              </a:rPr>
              <a:t>剪切变形</a:t>
            </a:r>
          </a:p>
        </p:txBody>
      </p:sp>
      <p:sp>
        <p:nvSpPr>
          <p:cNvPr id="24" name="Rectangle 6"/>
          <p:cNvSpPr>
            <a:spLocks noChangeArrowheads="1"/>
          </p:cNvSpPr>
          <p:nvPr/>
        </p:nvSpPr>
        <p:spPr bwMode="auto">
          <a:xfrm>
            <a:off x="449068" y="2891546"/>
            <a:ext cx="8245864" cy="452368"/>
          </a:xfrm>
          <a:prstGeom prst="rect">
            <a:avLst/>
          </a:prstGeom>
          <a:noFill/>
          <a:ln w="9525">
            <a:noFill/>
            <a:miter lim="800000"/>
            <a:headEnd/>
            <a:tailEnd/>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0850" lvl="1" algn="just" fontAlgn="base">
              <a:lnSpc>
                <a:spcPct val="130000"/>
              </a:lnSpc>
              <a:spcAft>
                <a:spcPct val="0"/>
              </a:spcAft>
            </a:pPr>
            <a:r>
              <a:rPr lang="zh-CN" altLang="en-US" sz="2000" b="1">
                <a:latin typeface="Times New Roman" pitchFamily="18" charset="0"/>
                <a:cs typeface="Times New Roman" pitchFamily="18" charset="0"/>
              </a:rPr>
              <a:t>各类结构中三种变形的影响所占比重各不相同，故可简化；</a:t>
            </a:r>
            <a:endParaRPr lang="en-US" altLang="zh-CN" sz="2000" b="1">
              <a:latin typeface="Times New Roman" pitchFamily="18" charset="0"/>
              <a:cs typeface="Times New Roman" pitchFamily="18" charset="0"/>
            </a:endParaRPr>
          </a:p>
        </p:txBody>
      </p:sp>
      <p:graphicFrame>
        <p:nvGraphicFramePr>
          <p:cNvPr id="455683" name="Object 3"/>
          <p:cNvGraphicFramePr>
            <a:graphicFrameLocks noChangeAspect="1"/>
          </p:cNvGraphicFramePr>
          <p:nvPr/>
        </p:nvGraphicFramePr>
        <p:xfrm>
          <a:off x="3143240" y="3357562"/>
          <a:ext cx="1673225" cy="668338"/>
        </p:xfrm>
        <a:graphic>
          <a:graphicData uri="http://schemas.openxmlformats.org/presentationml/2006/ole">
            <mc:AlternateContent xmlns:mc="http://schemas.openxmlformats.org/markup-compatibility/2006">
              <mc:Choice xmlns:v="urn:schemas-microsoft-com:vml" Requires="v">
                <p:oleObj spid="_x0000_s455688" name="Equation" r:id="rId6" imgW="1079280" imgH="431640" progId="Equation.DSMT4">
                  <p:embed/>
                </p:oleObj>
              </mc:Choice>
              <mc:Fallback>
                <p:oleObj name="Equation" r:id="rId6" imgW="1079280" imgH="4316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40" y="3357562"/>
                        <a:ext cx="167322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6" name="组合 55"/>
          <p:cNvGrpSpPr/>
          <p:nvPr/>
        </p:nvGrpSpPr>
        <p:grpSpPr>
          <a:xfrm>
            <a:off x="3147429" y="4071942"/>
            <a:ext cx="5782289" cy="668337"/>
            <a:chOff x="2928926" y="4189413"/>
            <a:chExt cx="5782289" cy="668337"/>
          </a:xfrm>
        </p:grpSpPr>
        <p:graphicFrame>
          <p:nvGraphicFramePr>
            <p:cNvPr id="455684" name="Object 3"/>
            <p:cNvGraphicFramePr>
              <a:graphicFrameLocks noChangeAspect="1"/>
            </p:cNvGraphicFramePr>
            <p:nvPr/>
          </p:nvGraphicFramePr>
          <p:xfrm>
            <a:off x="2928926" y="4189413"/>
            <a:ext cx="3011488" cy="668337"/>
          </p:xfrm>
          <a:graphic>
            <a:graphicData uri="http://schemas.openxmlformats.org/presentationml/2006/ole">
              <mc:AlternateContent xmlns:mc="http://schemas.openxmlformats.org/markup-compatibility/2006">
                <mc:Choice xmlns:v="urn:schemas-microsoft-com:vml" Requires="v">
                  <p:oleObj spid="_x0000_s455689" name="Equation" r:id="rId8" imgW="1942920" imgH="431640" progId="Equation.DSMT4">
                    <p:embed/>
                  </p:oleObj>
                </mc:Choice>
                <mc:Fallback>
                  <p:oleObj name="Equation" r:id="rId8" imgW="1942920" imgH="43164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926" y="4189413"/>
                          <a:ext cx="3011488"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TextBox 54"/>
            <p:cNvSpPr txBox="1"/>
            <p:nvPr/>
          </p:nvSpPr>
          <p:spPr>
            <a:xfrm>
              <a:off x="5910448" y="4485577"/>
              <a:ext cx="2800767" cy="369332"/>
            </a:xfrm>
            <a:prstGeom prst="rect">
              <a:avLst/>
            </a:prstGeom>
            <a:noFill/>
            <a:ln w="28575">
              <a:noFill/>
            </a:ln>
          </p:spPr>
          <p:txBody>
            <a:bodyPr wrap="none" rtlCol="0">
              <a:spAutoFit/>
            </a:bodyPr>
            <a:lstStyle/>
            <a:p>
              <a:r>
                <a:rPr lang="zh-CN" altLang="en-US" b="1">
                  <a:solidFill>
                    <a:srgbClr val="0033CC"/>
                  </a:solidFill>
                </a:rPr>
                <a:t>（一般</a:t>
              </a:r>
              <a:r>
                <a:rPr lang="en-US" altLang="zh-CN" b="1" i="1">
                  <a:solidFill>
                    <a:srgbClr val="0033CC"/>
                  </a:solidFill>
                  <a:latin typeface="Times New Roman" pitchFamily="18" charset="0"/>
                  <a:cs typeface="Times New Roman" pitchFamily="18" charset="0"/>
                </a:rPr>
                <a:t>EA</a:t>
              </a:r>
              <a:r>
                <a:rPr lang="zh-CN" altLang="en-US" b="1">
                  <a:solidFill>
                    <a:srgbClr val="0033CC"/>
                  </a:solidFill>
                </a:rPr>
                <a:t>和轴力是常数）</a:t>
              </a:r>
            </a:p>
          </p:txBody>
        </p:sp>
      </p:grpSp>
      <p:graphicFrame>
        <p:nvGraphicFramePr>
          <p:cNvPr id="455685" name="Object 5"/>
          <p:cNvGraphicFramePr>
            <a:graphicFrameLocks noChangeAspect="1"/>
          </p:cNvGraphicFramePr>
          <p:nvPr/>
        </p:nvGraphicFramePr>
        <p:xfrm>
          <a:off x="3143240" y="4880328"/>
          <a:ext cx="2894013" cy="668338"/>
        </p:xfrm>
        <a:graphic>
          <a:graphicData uri="http://schemas.openxmlformats.org/presentationml/2006/ole">
            <mc:AlternateContent xmlns:mc="http://schemas.openxmlformats.org/markup-compatibility/2006">
              <mc:Choice xmlns:v="urn:schemas-microsoft-com:vml" Requires="v">
                <p:oleObj spid="_x0000_s455690" name="Equation" r:id="rId10" imgW="1866600" imgH="431640" progId="Equation.DSMT4">
                  <p:embed/>
                </p:oleObj>
              </mc:Choice>
              <mc:Fallback>
                <p:oleObj name="Equation" r:id="rId10" imgW="1866600" imgH="43164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43240" y="4880328"/>
                        <a:ext cx="2894013"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5686" name="Object 6"/>
          <p:cNvGraphicFramePr>
            <a:graphicFrameLocks noChangeAspect="1"/>
          </p:cNvGraphicFramePr>
          <p:nvPr/>
        </p:nvGraphicFramePr>
        <p:xfrm>
          <a:off x="3168663" y="5715016"/>
          <a:ext cx="3189287" cy="668338"/>
        </p:xfrm>
        <a:graphic>
          <a:graphicData uri="http://schemas.openxmlformats.org/presentationml/2006/ole">
            <mc:AlternateContent xmlns:mc="http://schemas.openxmlformats.org/markup-compatibility/2006">
              <mc:Choice xmlns:v="urn:schemas-microsoft-com:vml" Requires="v">
                <p:oleObj spid="_x0000_s455691" name="Equation" r:id="rId12" imgW="2057400" imgH="431640" progId="Equation.DSMT4">
                  <p:embed/>
                </p:oleObj>
              </mc:Choice>
              <mc:Fallback>
                <p:oleObj name="Equation" r:id="rId12" imgW="2057400" imgH="431640" progId="Equation.DSMT4">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68663" y="5715016"/>
                        <a:ext cx="3189287"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 name="矩形 56"/>
          <p:cNvSpPr/>
          <p:nvPr/>
        </p:nvSpPr>
        <p:spPr>
          <a:xfrm>
            <a:off x="6429388" y="5572140"/>
            <a:ext cx="2357486" cy="923330"/>
          </a:xfrm>
          <a:prstGeom prst="rect">
            <a:avLst/>
          </a:prstGeom>
        </p:spPr>
        <p:txBody>
          <a:bodyPr wrap="square">
            <a:spAutoFit/>
          </a:bodyPr>
          <a:lstStyle/>
          <a:p>
            <a:r>
              <a:rPr lang="zh-CN" altLang="en-US" b="1">
                <a:solidFill>
                  <a:srgbClr val="0033CC"/>
                </a:solidFill>
              </a:rPr>
              <a:t>拱坝等拱形结构，因厚度较大，其</a:t>
            </a:r>
            <a:r>
              <a:rPr lang="zh-CN" altLang="en-US" b="1">
                <a:solidFill>
                  <a:srgbClr val="00B050"/>
                </a:solidFill>
              </a:rPr>
              <a:t>剪力</a:t>
            </a:r>
            <a:r>
              <a:rPr lang="zh-CN" altLang="en-US" b="1">
                <a:solidFill>
                  <a:srgbClr val="0033CC"/>
                </a:solidFill>
              </a:rPr>
              <a:t>也是不可忽略的。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6">
                                            <p:txEl>
                                              <p:pRg st="1" end="1"/>
                                            </p:txEl>
                                          </p:spTgt>
                                        </p:tgtEl>
                                        <p:attrNameLst>
                                          <p:attrName>style.visibility</p:attrName>
                                        </p:attrNameLst>
                                      </p:cBhvr>
                                      <p:to>
                                        <p:strVal val="visible"/>
                                      </p:to>
                                    </p:set>
                                    <p:animEffect transition="in" filter="wipe(down)">
                                      <p:cBhvr>
                                        <p:cTn id="10" dur="500"/>
                                        <p:tgtEl>
                                          <p:spTgt spid="4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55683"/>
                                        </p:tgtEl>
                                        <p:attrNameLst>
                                          <p:attrName>style.visibility</p:attrName>
                                        </p:attrNameLst>
                                      </p:cBhvr>
                                      <p:to>
                                        <p:strVal val="visible"/>
                                      </p:to>
                                    </p:set>
                                    <p:animEffect transition="in" filter="blinds(horizontal)">
                                      <p:cBhvr>
                                        <p:cTn id="15" dur="500"/>
                                        <p:tgtEl>
                                          <p:spTgt spid="45568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6">
                                            <p:txEl>
                                              <p:pRg st="2" end="2"/>
                                            </p:txEl>
                                          </p:spTgt>
                                        </p:tgtEl>
                                        <p:attrNameLst>
                                          <p:attrName>style.visibility</p:attrName>
                                        </p:attrNameLst>
                                      </p:cBhvr>
                                      <p:to>
                                        <p:strVal val="visible"/>
                                      </p:to>
                                    </p:set>
                                    <p:animEffect transition="in" filter="wipe(down)">
                                      <p:cBhvr>
                                        <p:cTn id="20" dur="500"/>
                                        <p:tgtEl>
                                          <p:spTgt spid="46">
                                            <p:txEl>
                                              <p:pRg st="2" end="2"/>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6">
                                            <p:txEl>
                                              <p:pRg st="3" end="3"/>
                                            </p:txEl>
                                          </p:spTgt>
                                        </p:tgtEl>
                                        <p:attrNameLst>
                                          <p:attrName>style.visibility</p:attrName>
                                        </p:attrNameLst>
                                      </p:cBhvr>
                                      <p:to>
                                        <p:strVal val="visible"/>
                                      </p:to>
                                    </p:set>
                                    <p:animEffect transition="in" filter="wipe(down)">
                                      <p:cBhvr>
                                        <p:cTn id="23" dur="500"/>
                                        <p:tgtEl>
                                          <p:spTgt spid="4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blinds(horizontal)">
                                      <p:cBhvr>
                                        <p:cTn id="28" dur="500"/>
                                        <p:tgtEl>
                                          <p:spTgt spid="5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6">
                                            <p:txEl>
                                              <p:pRg st="4" end="4"/>
                                            </p:txEl>
                                          </p:spTgt>
                                        </p:tgtEl>
                                        <p:attrNameLst>
                                          <p:attrName>style.visibility</p:attrName>
                                        </p:attrNameLst>
                                      </p:cBhvr>
                                      <p:to>
                                        <p:strVal val="visible"/>
                                      </p:to>
                                    </p:set>
                                    <p:animEffect transition="in" filter="wipe(down)">
                                      <p:cBhvr>
                                        <p:cTn id="33" dur="500"/>
                                        <p:tgtEl>
                                          <p:spTgt spid="46">
                                            <p:txEl>
                                              <p:pRg st="4" end="4"/>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46">
                                            <p:txEl>
                                              <p:pRg st="5" end="5"/>
                                            </p:txEl>
                                          </p:spTgt>
                                        </p:tgtEl>
                                        <p:attrNameLst>
                                          <p:attrName>style.visibility</p:attrName>
                                        </p:attrNameLst>
                                      </p:cBhvr>
                                      <p:to>
                                        <p:strVal val="visible"/>
                                      </p:to>
                                    </p:set>
                                    <p:animEffect transition="in" filter="wipe(down)">
                                      <p:cBhvr>
                                        <p:cTn id="36" dur="500"/>
                                        <p:tgtEl>
                                          <p:spTgt spid="46">
                                            <p:txEl>
                                              <p:pRg st="5" end="5"/>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6">
                                            <p:txEl>
                                              <p:pRg st="6" end="6"/>
                                            </p:txEl>
                                          </p:spTgt>
                                        </p:tgtEl>
                                        <p:attrNameLst>
                                          <p:attrName>style.visibility</p:attrName>
                                        </p:attrNameLst>
                                      </p:cBhvr>
                                      <p:to>
                                        <p:strVal val="visible"/>
                                      </p:to>
                                    </p:set>
                                    <p:animEffect transition="in" filter="wipe(down)">
                                      <p:cBhvr>
                                        <p:cTn id="39" dur="500"/>
                                        <p:tgtEl>
                                          <p:spTgt spid="46">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455685"/>
                                        </p:tgtEl>
                                        <p:attrNameLst>
                                          <p:attrName>style.visibility</p:attrName>
                                        </p:attrNameLst>
                                      </p:cBhvr>
                                      <p:to>
                                        <p:strVal val="visible"/>
                                      </p:to>
                                    </p:set>
                                    <p:animEffect transition="in" filter="blinds(horizontal)">
                                      <p:cBhvr>
                                        <p:cTn id="44" dur="500"/>
                                        <p:tgtEl>
                                          <p:spTgt spid="45568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46">
                                            <p:txEl>
                                              <p:pRg st="7" end="7"/>
                                            </p:txEl>
                                          </p:spTgt>
                                        </p:tgtEl>
                                        <p:attrNameLst>
                                          <p:attrName>style.visibility</p:attrName>
                                        </p:attrNameLst>
                                      </p:cBhvr>
                                      <p:to>
                                        <p:strVal val="visible"/>
                                      </p:to>
                                    </p:set>
                                    <p:animEffect transition="in" filter="wipe(down)">
                                      <p:cBhvr>
                                        <p:cTn id="49" dur="500"/>
                                        <p:tgtEl>
                                          <p:spTgt spid="46">
                                            <p:txEl>
                                              <p:pRg st="7" end="7"/>
                                            </p:txEl>
                                          </p:spTgt>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46">
                                            <p:txEl>
                                              <p:pRg st="8" end="8"/>
                                            </p:txEl>
                                          </p:spTgt>
                                        </p:tgtEl>
                                        <p:attrNameLst>
                                          <p:attrName>style.visibility</p:attrName>
                                        </p:attrNameLst>
                                      </p:cBhvr>
                                      <p:to>
                                        <p:strVal val="visible"/>
                                      </p:to>
                                    </p:set>
                                    <p:animEffect transition="in" filter="wipe(down)">
                                      <p:cBhvr>
                                        <p:cTn id="52" dur="500"/>
                                        <p:tgtEl>
                                          <p:spTgt spid="4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55686"/>
                                        </p:tgtEl>
                                        <p:attrNameLst>
                                          <p:attrName>style.visibility</p:attrName>
                                        </p:attrNameLst>
                                      </p:cBhvr>
                                      <p:to>
                                        <p:strVal val="visible"/>
                                      </p:to>
                                    </p:set>
                                    <p:animEffect transition="in" filter="blinds(horizontal)">
                                      <p:cBhvr>
                                        <p:cTn id="57" dur="500"/>
                                        <p:tgtEl>
                                          <p:spTgt spid="455686"/>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57"/>
                                        </p:tgtEl>
                                        <p:attrNameLst>
                                          <p:attrName>style.visibility</p:attrName>
                                        </p:attrNameLst>
                                      </p:cBhvr>
                                      <p:to>
                                        <p:strVal val="visible"/>
                                      </p:to>
                                    </p:set>
                                    <p:anim calcmode="lin" valueType="num">
                                      <p:cBhvr additive="base">
                                        <p:cTn id="62" dur="500" fill="hold"/>
                                        <p:tgtEl>
                                          <p:spTgt spid="57"/>
                                        </p:tgtEl>
                                        <p:attrNameLst>
                                          <p:attrName>ppt_x</p:attrName>
                                        </p:attrNameLst>
                                      </p:cBhvr>
                                      <p:tavLst>
                                        <p:tav tm="0">
                                          <p:val>
                                            <p:strVal val="#ppt_x"/>
                                          </p:val>
                                        </p:tav>
                                        <p:tav tm="100000">
                                          <p:val>
                                            <p:strVal val="#ppt_x"/>
                                          </p:val>
                                        </p:tav>
                                      </p:tavLst>
                                    </p:anim>
                                    <p:anim calcmode="lin" valueType="num">
                                      <p:cBhvr additive="base">
                                        <p:cTn id="63"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P spid="5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959848"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：图示刚架，已知各杆的弹性模量</a:t>
            </a:r>
            <a:r>
              <a:rPr lang="en-US" altLang="zh-CN" sz="2000" b="1" i="1">
                <a:latin typeface="Times New Roman" pitchFamily="18" charset="0"/>
                <a:cs typeface="Times New Roman" pitchFamily="18" charset="0"/>
              </a:rPr>
              <a:t>E</a:t>
            </a:r>
            <a:r>
              <a:rPr lang="zh-CN" altLang="en-US" sz="2000" b="1">
                <a:latin typeface="Times New Roman" pitchFamily="18" charset="0"/>
                <a:cs typeface="Times New Roman" pitchFamily="18" charset="0"/>
              </a:rPr>
              <a:t>和截面惯性矩</a:t>
            </a:r>
            <a:r>
              <a:rPr lang="en-US" altLang="zh-CN" sz="2000" b="1" i="1">
                <a:latin typeface="Times New Roman" pitchFamily="18" charset="0"/>
                <a:cs typeface="Times New Roman" pitchFamily="18" charset="0"/>
              </a:rPr>
              <a:t>I</a:t>
            </a:r>
            <a:r>
              <a:rPr lang="zh-CN" altLang="en-US" sz="2000" b="1">
                <a:latin typeface="Times New Roman" pitchFamily="18" charset="0"/>
                <a:cs typeface="Times New Roman" pitchFamily="18" charset="0"/>
              </a:rPr>
              <a:t>均为常数，试求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，和位移量</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aphicFrame>
        <p:nvGraphicFramePr>
          <p:cNvPr id="406531" name="Object 3"/>
          <p:cNvGraphicFramePr>
            <a:graphicFrameLocks noChangeAspect="1"/>
          </p:cNvGraphicFramePr>
          <p:nvPr/>
        </p:nvGraphicFramePr>
        <p:xfrm>
          <a:off x="6500826" y="1143003"/>
          <a:ext cx="2738438" cy="2714625"/>
        </p:xfrm>
        <a:graphic>
          <a:graphicData uri="http://schemas.openxmlformats.org/presentationml/2006/ole">
            <mc:AlternateContent xmlns:mc="http://schemas.openxmlformats.org/markup-compatibility/2006">
              <mc:Choice xmlns:v="urn:schemas-microsoft-com:vml" Requires="v">
                <p:oleObj spid="_x0000_s456717" r:id="rId4" imgW="8943975" imgH="4933950" progId="">
                  <p:embed/>
                </p:oleObj>
              </mc:Choice>
              <mc:Fallback>
                <p:oleObj r:id="rId4" imgW="8943975" imgH="493395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65347" t="32693" r="12970" b="27846"/>
                      <a:stretch>
                        <a:fillRect/>
                      </a:stretch>
                    </p:blipFill>
                    <p:spPr bwMode="auto">
                      <a:xfrm>
                        <a:off x="6500826" y="1143003"/>
                        <a:ext cx="2738438"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4"/>
          <p:cNvSpPr>
            <a:spLocks noChangeArrowheads="1"/>
          </p:cNvSpPr>
          <p:nvPr/>
        </p:nvSpPr>
        <p:spPr bwMode="auto">
          <a:xfrm>
            <a:off x="928662" y="2863990"/>
            <a:ext cx="5500726" cy="830997"/>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en-US" altLang="zh-CN" sz="2000" b="1">
                <a:solidFill>
                  <a:srgbClr val="000000"/>
                </a:solidFill>
                <a:latin typeface="+mn-ea"/>
              </a:rPr>
              <a:t>⑴ </a:t>
            </a:r>
            <a:r>
              <a:rPr kumimoji="1" lang="zh-CN" altLang="en-US" sz="2000" b="1">
                <a:solidFill>
                  <a:srgbClr val="000000"/>
                </a:solidFill>
                <a:latin typeface="+mn-ea"/>
              </a:rPr>
              <a:t>刚架可忽略轴向变形，故只要</a:t>
            </a:r>
            <a:r>
              <a:rPr kumimoji="1" lang="zh-CN" altLang="en-US" sz="2000" b="1" kern="1200">
                <a:solidFill>
                  <a:srgbClr val="000000"/>
                </a:solidFill>
                <a:latin typeface="+mn-ea"/>
                <a:cs typeface="+mn-cs"/>
              </a:rPr>
              <a:t>作出荷载作用下的弯矩图，写出各杆的弯矩方程；</a:t>
            </a:r>
          </a:p>
        </p:txBody>
      </p:sp>
      <p:grpSp>
        <p:nvGrpSpPr>
          <p:cNvPr id="31" name="组合 30"/>
          <p:cNvGrpSpPr/>
          <p:nvPr/>
        </p:nvGrpSpPr>
        <p:grpSpPr>
          <a:xfrm>
            <a:off x="6590900" y="4203429"/>
            <a:ext cx="2090637" cy="2011653"/>
            <a:chOff x="6696205" y="4203429"/>
            <a:chExt cx="2090637" cy="2011653"/>
          </a:xfrm>
          <a:noFill/>
        </p:grpSpPr>
        <p:pic>
          <p:nvPicPr>
            <p:cNvPr id="456712" name="Picture 8"/>
            <p:cNvPicPr>
              <a:picLocks noChangeAspect="1" noChangeArrowheads="1"/>
            </p:cNvPicPr>
            <p:nvPr/>
          </p:nvPicPr>
          <p:blipFill>
            <a:blip r:embed="rId6"/>
            <a:srcRect/>
            <a:stretch>
              <a:fillRect/>
            </a:stretch>
          </p:blipFill>
          <p:spPr bwMode="auto">
            <a:xfrm>
              <a:off x="6715140" y="4203429"/>
              <a:ext cx="2071702" cy="2011653"/>
            </a:xfrm>
            <a:prstGeom prst="rect">
              <a:avLst/>
            </a:prstGeom>
            <a:grpFill/>
            <a:ln w="9525">
              <a:noFill/>
              <a:miter lim="800000"/>
              <a:headEnd/>
              <a:tailEnd/>
            </a:ln>
            <a:effectLst/>
          </p:spPr>
        </p:pic>
        <p:sp>
          <p:nvSpPr>
            <p:cNvPr id="28" name="TextBox 27"/>
            <p:cNvSpPr txBox="1"/>
            <p:nvPr/>
          </p:nvSpPr>
          <p:spPr>
            <a:xfrm>
              <a:off x="6696205" y="4308834"/>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29" name="TextBox 28"/>
            <p:cNvSpPr txBox="1"/>
            <p:nvPr/>
          </p:nvSpPr>
          <p:spPr>
            <a:xfrm>
              <a:off x="8106329" y="457200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30" name="TextBox 29"/>
            <p:cNvSpPr txBox="1"/>
            <p:nvPr/>
          </p:nvSpPr>
          <p:spPr>
            <a:xfrm>
              <a:off x="8072462" y="564357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grpSp>
        <p:nvGrpSpPr>
          <p:cNvPr id="38" name="组合 37"/>
          <p:cNvGrpSpPr/>
          <p:nvPr/>
        </p:nvGrpSpPr>
        <p:grpSpPr>
          <a:xfrm>
            <a:off x="6871228" y="4071089"/>
            <a:ext cx="2201334" cy="433178"/>
            <a:chOff x="6976533" y="4071089"/>
            <a:chExt cx="2201334" cy="433178"/>
          </a:xfrm>
        </p:grpSpPr>
        <p:cxnSp>
          <p:nvCxnSpPr>
            <p:cNvPr id="33" name="直接连接符 32"/>
            <p:cNvCxnSpPr/>
            <p:nvPr/>
          </p:nvCxnSpPr>
          <p:spPr bwMode="auto">
            <a:xfrm rot="5400000" flipH="1" flipV="1">
              <a:off x="8275487" y="4286256"/>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35" name="任意多边形 34"/>
            <p:cNvSpPr/>
            <p:nvPr/>
          </p:nvSpPr>
          <p:spPr bwMode="auto">
            <a:xfrm>
              <a:off x="6976533" y="4071942"/>
              <a:ext cx="1524000" cy="432325"/>
            </a:xfrm>
            <a:custGeom>
              <a:avLst/>
              <a:gdLst>
                <a:gd name="connsiteX0" fmla="*/ 0 w 1524000"/>
                <a:gd name="connsiteY0" fmla="*/ 395111 h 395111"/>
                <a:gd name="connsiteX1" fmla="*/ 914400 w 1524000"/>
                <a:gd name="connsiteY1" fmla="*/ 270933 h 395111"/>
                <a:gd name="connsiteX2" fmla="*/ 1524000 w 1524000"/>
                <a:gd name="connsiteY2" fmla="*/ 0 h 395111"/>
              </a:gdLst>
              <a:ahLst/>
              <a:cxnLst>
                <a:cxn ang="0">
                  <a:pos x="connsiteX0" y="connsiteY0"/>
                </a:cxn>
                <a:cxn ang="0">
                  <a:pos x="connsiteX1" y="connsiteY1"/>
                </a:cxn>
                <a:cxn ang="0">
                  <a:pos x="connsiteX2" y="connsiteY2"/>
                </a:cxn>
              </a:cxnLst>
              <a:rect l="l" t="t" r="r" b="b"/>
              <a:pathLst>
                <a:path w="1524000" h="395111">
                  <a:moveTo>
                    <a:pt x="0" y="395111"/>
                  </a:moveTo>
                  <a:cubicBezTo>
                    <a:pt x="330200" y="365948"/>
                    <a:pt x="660400" y="336785"/>
                    <a:pt x="914400" y="270933"/>
                  </a:cubicBezTo>
                  <a:cubicBezTo>
                    <a:pt x="1168400" y="205081"/>
                    <a:pt x="1346200" y="102540"/>
                    <a:pt x="1524000" y="0"/>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37" name="TextBox 36"/>
            <p:cNvSpPr txBox="1"/>
            <p:nvPr/>
          </p:nvSpPr>
          <p:spPr>
            <a:xfrm>
              <a:off x="8497873" y="4071089"/>
              <a:ext cx="67999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a:t>
              </a:r>
              <a:r>
                <a:rPr lang="en-US" altLang="zh-CN" sz="2000" b="1" baseline="30000">
                  <a:solidFill>
                    <a:srgbClr val="C00000"/>
                  </a:solidFill>
                  <a:latin typeface="Times New Roman" pitchFamily="18" charset="0"/>
                  <a:cs typeface="Times New Roman" pitchFamily="18" charset="0"/>
                </a:rPr>
                <a:t>2</a:t>
              </a:r>
              <a:r>
                <a:rPr lang="en-US" altLang="zh-CN" b="1">
                  <a:solidFill>
                    <a:srgbClr val="C00000"/>
                  </a:solidFill>
                  <a:latin typeface="Times New Roman" pitchFamily="18" charset="0"/>
                  <a:cs typeface="Times New Roman" pitchFamily="18" charset="0"/>
                </a:rPr>
                <a:t>/2</a:t>
              </a:r>
              <a:endParaRPr lang="zh-CN" altLang="en-US" b="1">
                <a:solidFill>
                  <a:srgbClr val="C00000"/>
                </a:solidFill>
                <a:latin typeface="Times New Roman" pitchFamily="18" charset="0"/>
                <a:cs typeface="Times New Roman" pitchFamily="18" charset="0"/>
              </a:endParaRPr>
            </a:p>
          </p:txBody>
        </p:sp>
      </p:grpSp>
      <p:grpSp>
        <p:nvGrpSpPr>
          <p:cNvPr id="42" name="组合 41"/>
          <p:cNvGrpSpPr/>
          <p:nvPr/>
        </p:nvGrpSpPr>
        <p:grpSpPr>
          <a:xfrm>
            <a:off x="8388200" y="4510270"/>
            <a:ext cx="436213" cy="1517574"/>
            <a:chOff x="8493505" y="4510270"/>
            <a:chExt cx="436213" cy="1517574"/>
          </a:xfrm>
        </p:grpSpPr>
        <p:cxnSp>
          <p:nvCxnSpPr>
            <p:cNvPr id="36" name="直接连接符 35"/>
            <p:cNvCxnSpPr/>
            <p:nvPr/>
          </p:nvCxnSpPr>
          <p:spPr bwMode="auto">
            <a:xfrm rot="10800000" flipH="1" flipV="1">
              <a:off x="8493505" y="451027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39" name="直接连接符 38"/>
            <p:cNvCxnSpPr/>
            <p:nvPr/>
          </p:nvCxnSpPr>
          <p:spPr bwMode="auto">
            <a:xfrm rot="10800000" flipH="1" flipV="1">
              <a:off x="8501090" y="6021757"/>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41" name="直接连接符 40"/>
            <p:cNvCxnSpPr/>
            <p:nvPr/>
          </p:nvCxnSpPr>
          <p:spPr bwMode="auto">
            <a:xfrm rot="5400000">
              <a:off x="8168330" y="5276951"/>
              <a:ext cx="150019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44" name="Rectangle 5"/>
          <p:cNvSpPr>
            <a:spLocks noChangeArrowheads="1"/>
          </p:cNvSpPr>
          <p:nvPr/>
        </p:nvSpPr>
        <p:spPr bwMode="auto">
          <a:xfrm>
            <a:off x="1652598" y="3671832"/>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① 横梁</a:t>
            </a:r>
            <a:r>
              <a:rPr kumimoji="1" lang="en-US" altLang="zh-CN" sz="2000" b="1" i="1" kern="1200">
                <a:solidFill>
                  <a:srgbClr val="000000"/>
                </a:solidFill>
                <a:latin typeface="Times New Roman" pitchFamily="18" charset="0"/>
                <a:ea typeface="楷体_GB2312" pitchFamily="49" charset="-122"/>
                <a:cs typeface="+mn-cs"/>
              </a:rPr>
              <a:t>BC</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graphicFrame>
        <p:nvGraphicFramePr>
          <p:cNvPr id="456713" name="Object 9"/>
          <p:cNvGraphicFramePr>
            <a:graphicFrameLocks noChangeAspect="1"/>
          </p:cNvGraphicFramePr>
          <p:nvPr/>
        </p:nvGraphicFramePr>
        <p:xfrm>
          <a:off x="1748347" y="4103696"/>
          <a:ext cx="1420812" cy="611188"/>
        </p:xfrm>
        <a:graphic>
          <a:graphicData uri="http://schemas.openxmlformats.org/presentationml/2006/ole">
            <mc:AlternateContent xmlns:mc="http://schemas.openxmlformats.org/markup-compatibility/2006">
              <mc:Choice xmlns:v="urn:schemas-microsoft-com:vml" Requires="v">
                <p:oleObj spid="_x0000_s456718" name="Equation" r:id="rId7" imgW="914400" imgH="393480" progId="Equation.DSMT4">
                  <p:embed/>
                </p:oleObj>
              </mc:Choice>
              <mc:Fallback>
                <p:oleObj name="Equation" r:id="rId7" imgW="914400" imgH="393480" progId="Equation.DSMT4">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8347" y="4103696"/>
                        <a:ext cx="1420812"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6714" name="Object 10"/>
          <p:cNvGraphicFramePr>
            <a:graphicFrameLocks noChangeAspect="1"/>
          </p:cNvGraphicFramePr>
          <p:nvPr/>
        </p:nvGraphicFramePr>
        <p:xfrm>
          <a:off x="3345194" y="4226643"/>
          <a:ext cx="1079500" cy="392112"/>
        </p:xfrm>
        <a:graphic>
          <a:graphicData uri="http://schemas.openxmlformats.org/presentationml/2006/ole">
            <mc:AlternateContent xmlns:mc="http://schemas.openxmlformats.org/markup-compatibility/2006">
              <mc:Choice xmlns:v="urn:schemas-microsoft-com:vml" Requires="v">
                <p:oleObj spid="_x0000_s456719" name="Equation" r:id="rId9" imgW="698400" imgH="253800" progId="Equation.DSMT4">
                  <p:embed/>
                </p:oleObj>
              </mc:Choice>
              <mc:Fallback>
                <p:oleObj name="Equation" r:id="rId9" imgW="698400" imgH="253800" progId="Equation.DSMT4">
                  <p:embed/>
                  <p:pic>
                    <p:nvPicPr>
                      <p:cNvPr id="0"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5194" y="4226643"/>
                        <a:ext cx="1079500"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Rectangle 5"/>
          <p:cNvSpPr>
            <a:spLocks noChangeArrowheads="1"/>
          </p:cNvSpPr>
          <p:nvPr/>
        </p:nvSpPr>
        <p:spPr bwMode="auto">
          <a:xfrm>
            <a:off x="1654331" y="4743402"/>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② 竖柱</a:t>
            </a:r>
            <a:r>
              <a:rPr kumimoji="1" lang="en-US" altLang="zh-CN" sz="2000" b="1" i="1" kern="1200">
                <a:solidFill>
                  <a:srgbClr val="000000"/>
                </a:solidFill>
                <a:latin typeface="Times New Roman" pitchFamily="18" charset="0"/>
                <a:ea typeface="楷体_GB2312" pitchFamily="49" charset="-122"/>
                <a:cs typeface="+mn-cs"/>
              </a:rPr>
              <a:t>CA</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graphicFrame>
        <p:nvGraphicFramePr>
          <p:cNvPr id="456715" name="Object 11"/>
          <p:cNvGraphicFramePr>
            <a:graphicFrameLocks noChangeAspect="1"/>
          </p:cNvGraphicFramePr>
          <p:nvPr/>
        </p:nvGraphicFramePr>
        <p:xfrm>
          <a:off x="1774816" y="5143512"/>
          <a:ext cx="1439862" cy="611187"/>
        </p:xfrm>
        <a:graphic>
          <a:graphicData uri="http://schemas.openxmlformats.org/presentationml/2006/ole">
            <mc:AlternateContent xmlns:mc="http://schemas.openxmlformats.org/markup-compatibility/2006">
              <mc:Choice xmlns:v="urn:schemas-microsoft-com:vml" Requires="v">
                <p:oleObj spid="_x0000_s456720" name="Equation" r:id="rId11" imgW="927000" imgH="393480" progId="Equation.DSMT4">
                  <p:embed/>
                </p:oleObj>
              </mc:Choice>
              <mc:Fallback>
                <p:oleObj name="Equation" r:id="rId11" imgW="927000" imgH="39348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4816" y="5143512"/>
                        <a:ext cx="1439862"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6716" name="Object 12"/>
          <p:cNvGraphicFramePr>
            <a:graphicFrameLocks noChangeAspect="1"/>
          </p:cNvGraphicFramePr>
          <p:nvPr/>
        </p:nvGraphicFramePr>
        <p:xfrm>
          <a:off x="3349624" y="5286388"/>
          <a:ext cx="1079500" cy="392113"/>
        </p:xfrm>
        <a:graphic>
          <a:graphicData uri="http://schemas.openxmlformats.org/presentationml/2006/ole">
            <mc:AlternateContent xmlns:mc="http://schemas.openxmlformats.org/markup-compatibility/2006">
              <mc:Choice xmlns:v="urn:schemas-microsoft-com:vml" Requires="v">
                <p:oleObj spid="_x0000_s456721" name="Equation" r:id="rId13" imgW="698400" imgH="253800" progId="Equation.DSMT4">
                  <p:embed/>
                </p:oleObj>
              </mc:Choice>
              <mc:Fallback>
                <p:oleObj name="Equation" r:id="rId13" imgW="698400" imgH="253800" progId="Equation.DSMT4">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9624" y="5286388"/>
                        <a:ext cx="1079500"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TextBox 46"/>
          <p:cNvSpPr txBox="1"/>
          <p:nvPr/>
        </p:nvSpPr>
        <p:spPr>
          <a:xfrm>
            <a:off x="7072330" y="5429264"/>
            <a:ext cx="5164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endParaRPr lang="zh-CN" altLang="en-US" sz="2000" b="1" baseline="-25000">
              <a:latin typeface="Times New Roman" pitchFamily="18" charset="0"/>
              <a:cs typeface="Times New Roman" pitchFamily="18" charset="0"/>
            </a:endParaRPr>
          </a:p>
        </p:txBody>
      </p:sp>
      <p:sp>
        <p:nvSpPr>
          <p:cNvPr id="48" name="TextBox 47"/>
          <p:cNvSpPr txBox="1"/>
          <p:nvPr/>
        </p:nvSpPr>
        <p:spPr>
          <a:xfrm>
            <a:off x="928662" y="5783065"/>
            <a:ext cx="3714776" cy="646331"/>
          </a:xfrm>
          <a:prstGeom prst="rect">
            <a:avLst/>
          </a:prstGeom>
          <a:noFill/>
          <a:ln w="28575">
            <a:noFill/>
          </a:ln>
        </p:spPr>
        <p:txBody>
          <a:bodyPr wrap="square" rtlCol="0">
            <a:spAutoFit/>
          </a:bodyPr>
          <a:lstStyle/>
          <a:p>
            <a:pPr marL="722313" indent="-722313"/>
            <a:r>
              <a:rPr lang="zh-CN" altLang="en-US" b="1">
                <a:solidFill>
                  <a:srgbClr val="C00000"/>
                </a:solidFill>
              </a:rPr>
              <a:t>思考：根据弯矩图，能否估计刚架变形后的形状？</a:t>
            </a:r>
          </a:p>
        </p:txBody>
      </p:sp>
      <p:sp>
        <p:nvSpPr>
          <p:cNvPr id="49" name="TextBox 48"/>
          <p:cNvSpPr txBox="1"/>
          <p:nvPr/>
        </p:nvSpPr>
        <p:spPr>
          <a:xfrm>
            <a:off x="4414610" y="4214818"/>
            <a:ext cx="2143140" cy="2262158"/>
          </a:xfrm>
          <a:prstGeom prst="rect">
            <a:avLst/>
          </a:prstGeom>
          <a:noFill/>
          <a:ln w="28575">
            <a:noFill/>
          </a:ln>
        </p:spPr>
        <p:txBody>
          <a:bodyPr wrap="square" rtlCol="0">
            <a:spAutoFit/>
          </a:bodyPr>
          <a:lstStyle/>
          <a:p>
            <a:pPr marL="271463" indent="-271463">
              <a:spcBef>
                <a:spcPts val="600"/>
              </a:spcBef>
            </a:pPr>
            <a:r>
              <a:rPr lang="zh-CN" altLang="en-US" b="1">
                <a:solidFill>
                  <a:srgbClr val="00B050"/>
                </a:solidFill>
              </a:rPr>
              <a:t>① </a:t>
            </a:r>
            <a:r>
              <a:rPr lang="en-US" altLang="zh-CN" b="1" i="1">
                <a:solidFill>
                  <a:srgbClr val="00B050"/>
                </a:solidFill>
                <a:latin typeface="Times New Roman" pitchFamily="18" charset="0"/>
                <a:cs typeface="Times New Roman" pitchFamily="18" charset="0"/>
              </a:rPr>
              <a:t>B</a:t>
            </a:r>
            <a:r>
              <a:rPr lang="zh-CN" altLang="en-US" b="1">
                <a:solidFill>
                  <a:srgbClr val="00B050"/>
                </a:solidFill>
              </a:rPr>
              <a:t>点竖直位移↓；</a:t>
            </a:r>
            <a:endParaRPr lang="en-US" altLang="zh-CN" b="1">
              <a:solidFill>
                <a:srgbClr val="00B050"/>
              </a:solidFill>
            </a:endParaRPr>
          </a:p>
          <a:p>
            <a:pPr marL="271463" indent="-271463">
              <a:spcBef>
                <a:spcPts val="600"/>
              </a:spcBef>
            </a:pPr>
            <a:r>
              <a:rPr lang="zh-CN" altLang="en-US" b="1">
                <a:solidFill>
                  <a:srgbClr val="00B050"/>
                </a:solidFill>
              </a:rPr>
              <a:t>② </a:t>
            </a:r>
            <a:r>
              <a:rPr lang="en-US" altLang="zh-CN" b="1" i="1">
                <a:solidFill>
                  <a:srgbClr val="00B050"/>
                </a:solidFill>
                <a:latin typeface="Times New Roman" pitchFamily="18" charset="0"/>
                <a:cs typeface="Times New Roman" pitchFamily="18" charset="0"/>
              </a:rPr>
              <a:t>C</a:t>
            </a:r>
            <a:r>
              <a:rPr lang="zh-CN" altLang="en-US" b="1">
                <a:solidFill>
                  <a:srgbClr val="00B050"/>
                </a:solidFill>
              </a:rPr>
              <a:t>点水平位移←；</a:t>
            </a:r>
            <a:endParaRPr lang="en-US" altLang="zh-CN" b="1">
              <a:solidFill>
                <a:srgbClr val="00B050"/>
              </a:solidFill>
            </a:endParaRPr>
          </a:p>
          <a:p>
            <a:pPr marL="271463" indent="-271463">
              <a:spcBef>
                <a:spcPts val="600"/>
              </a:spcBef>
            </a:pPr>
            <a:r>
              <a:rPr lang="zh-CN" altLang="en-US" b="1">
                <a:solidFill>
                  <a:srgbClr val="00B050"/>
                </a:solidFill>
              </a:rPr>
              <a:t>③ 因忽略轴向变形，故有：</a:t>
            </a:r>
            <a:endParaRPr lang="en-US" altLang="zh-CN" b="1">
              <a:solidFill>
                <a:srgbClr val="00B050"/>
              </a:solidFill>
            </a:endParaRPr>
          </a:p>
          <a:p>
            <a:pPr indent="271463"/>
            <a:r>
              <a:rPr lang="en-US" altLang="zh-CN" b="1" i="1">
                <a:solidFill>
                  <a:srgbClr val="00B050"/>
                </a:solidFill>
                <a:latin typeface="Times New Roman" pitchFamily="18" charset="0"/>
                <a:cs typeface="Times New Roman" pitchFamily="18" charset="0"/>
              </a:rPr>
              <a:t>C</a:t>
            </a:r>
            <a:r>
              <a:rPr lang="zh-CN" altLang="en-US" b="1">
                <a:solidFill>
                  <a:srgbClr val="00B050"/>
                </a:solidFill>
              </a:rPr>
              <a:t>点无竖直位移；</a:t>
            </a:r>
            <a:endParaRPr lang="en-US" altLang="zh-CN" b="1">
              <a:solidFill>
                <a:srgbClr val="00B050"/>
              </a:solidFill>
            </a:endParaRPr>
          </a:p>
          <a:p>
            <a:pPr indent="271463"/>
            <a:r>
              <a:rPr lang="en-US" altLang="zh-CN" b="1" i="1">
                <a:solidFill>
                  <a:srgbClr val="00B050"/>
                </a:solidFill>
                <a:latin typeface="Times New Roman" pitchFamily="18" charset="0"/>
                <a:cs typeface="Times New Roman" pitchFamily="18" charset="0"/>
              </a:rPr>
              <a:t>B</a:t>
            </a:r>
            <a:r>
              <a:rPr lang="zh-CN" altLang="en-US" b="1">
                <a:solidFill>
                  <a:srgbClr val="00B050"/>
                </a:solidFill>
                <a:latin typeface="Times New Roman" pitchFamily="18" charset="0"/>
                <a:cs typeface="Times New Roman" pitchFamily="18" charset="0"/>
              </a:rPr>
              <a:t>点水平位移同</a:t>
            </a:r>
            <a:r>
              <a:rPr lang="en-US" altLang="zh-CN" b="1" i="1">
                <a:solidFill>
                  <a:srgbClr val="00B050"/>
                </a:solidFill>
                <a:latin typeface="Times New Roman" pitchFamily="18" charset="0"/>
                <a:cs typeface="Times New Roman" pitchFamily="18" charset="0"/>
              </a:rPr>
              <a:t>C</a:t>
            </a:r>
          </a:p>
          <a:p>
            <a:pPr marL="271463" indent="-271463">
              <a:spcBef>
                <a:spcPts val="600"/>
              </a:spcBef>
            </a:pPr>
            <a:r>
              <a:rPr lang="zh-CN" altLang="en-US" b="1">
                <a:solidFill>
                  <a:srgbClr val="00B050"/>
                </a:solidFill>
              </a:rPr>
              <a:t>④ 曲率正比于弯矩；</a:t>
            </a:r>
            <a:endParaRPr lang="en-US" altLang="zh-CN" b="1">
              <a:solidFill>
                <a:srgbClr val="00B050"/>
              </a:solidFill>
            </a:endParaRPr>
          </a:p>
        </p:txBody>
      </p:sp>
      <p:sp>
        <p:nvSpPr>
          <p:cNvPr id="51" name="TextBox 50"/>
          <p:cNvSpPr txBox="1"/>
          <p:nvPr/>
        </p:nvSpPr>
        <p:spPr>
          <a:xfrm>
            <a:off x="6500826" y="4702742"/>
            <a:ext cx="41549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52" name="TextBox 51"/>
          <p:cNvSpPr txBox="1"/>
          <p:nvPr/>
        </p:nvSpPr>
        <p:spPr>
          <a:xfrm>
            <a:off x="7643834" y="4572008"/>
            <a:ext cx="41549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nvGrpSpPr>
          <p:cNvPr id="34" name="组合 33"/>
          <p:cNvGrpSpPr/>
          <p:nvPr/>
        </p:nvGrpSpPr>
        <p:grpSpPr>
          <a:xfrm>
            <a:off x="6706752" y="4538994"/>
            <a:ext cx="1680980" cy="2932454"/>
            <a:chOff x="6706752" y="4538994"/>
            <a:chExt cx="1680980" cy="2932454"/>
          </a:xfrm>
        </p:grpSpPr>
        <p:sp>
          <p:nvSpPr>
            <p:cNvPr id="56" name="任意多边形 55"/>
            <p:cNvSpPr/>
            <p:nvPr/>
          </p:nvSpPr>
          <p:spPr bwMode="auto">
            <a:xfrm>
              <a:off x="6706752" y="4538994"/>
              <a:ext cx="1505966" cy="247327"/>
            </a:xfrm>
            <a:custGeom>
              <a:avLst/>
              <a:gdLst>
                <a:gd name="connsiteX0" fmla="*/ 0 w 1395351"/>
                <a:gd name="connsiteY0" fmla="*/ 285008 h 290945"/>
                <a:gd name="connsiteX1" fmla="*/ 492826 w 1395351"/>
                <a:gd name="connsiteY1" fmla="*/ 243444 h 290945"/>
                <a:gd name="connsiteX2" fmla="*/ 1395351 w 1395351"/>
                <a:gd name="connsiteY2" fmla="*/ 0 h 290945"/>
              </a:gdLst>
              <a:ahLst/>
              <a:cxnLst>
                <a:cxn ang="0">
                  <a:pos x="connsiteX0" y="connsiteY0"/>
                </a:cxn>
                <a:cxn ang="0">
                  <a:pos x="connsiteX1" y="connsiteY1"/>
                </a:cxn>
                <a:cxn ang="0">
                  <a:pos x="connsiteX2" y="connsiteY2"/>
                </a:cxn>
              </a:cxnLst>
              <a:rect l="l" t="t" r="r" b="b"/>
              <a:pathLst>
                <a:path w="1395351" h="290945">
                  <a:moveTo>
                    <a:pt x="0" y="285008"/>
                  </a:moveTo>
                  <a:cubicBezTo>
                    <a:pt x="130134" y="287976"/>
                    <a:pt x="260268" y="290945"/>
                    <a:pt x="492826" y="243444"/>
                  </a:cubicBezTo>
                  <a:cubicBezTo>
                    <a:pt x="725384" y="195943"/>
                    <a:pt x="1060367" y="97971"/>
                    <a:pt x="1395351"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57" name="弧形 56"/>
            <p:cNvSpPr/>
            <p:nvPr/>
          </p:nvSpPr>
          <p:spPr bwMode="auto">
            <a:xfrm>
              <a:off x="8001024" y="4542490"/>
              <a:ext cx="386708" cy="2928958"/>
            </a:xfrm>
            <a:prstGeom prst="arc">
              <a:avLst>
                <a:gd name="adj1" fmla="val 16200000"/>
                <a:gd name="adj2" fmla="val 21518681"/>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06531"/>
                                        </p:tgtEl>
                                        <p:attrNameLst>
                                          <p:attrName>style.visibility</p:attrName>
                                        </p:attrNameLst>
                                      </p:cBhvr>
                                      <p:to>
                                        <p:strVal val="visible"/>
                                      </p:to>
                                    </p:set>
                                    <p:animEffect transition="in" filter="slide(fromBottom)">
                                      <p:cBhvr>
                                        <p:cTn id="13" dur="2000"/>
                                        <p:tgtEl>
                                          <p:spTgt spid="40653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ox(in)">
                                      <p:cBhvr>
                                        <p:cTn id="18" dur="500"/>
                                        <p:tgtEl>
                                          <p:spTgt spid="27"/>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blinds(vertical)">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blinds(horizontal)">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456713"/>
                                        </p:tgtEl>
                                        <p:attrNameLst>
                                          <p:attrName>style.visibility</p:attrName>
                                        </p:attrNameLst>
                                      </p:cBhvr>
                                      <p:to>
                                        <p:strVal val="visible"/>
                                      </p:to>
                                    </p:set>
                                    <p:anim calcmode="lin" valueType="num">
                                      <p:cBhvr additive="base">
                                        <p:cTn id="45" dur="500" fill="hold"/>
                                        <p:tgtEl>
                                          <p:spTgt spid="456713"/>
                                        </p:tgtEl>
                                        <p:attrNameLst>
                                          <p:attrName>ppt_x</p:attrName>
                                        </p:attrNameLst>
                                      </p:cBhvr>
                                      <p:tavLst>
                                        <p:tav tm="0">
                                          <p:val>
                                            <p:strVal val="0-#ppt_w/2"/>
                                          </p:val>
                                        </p:tav>
                                        <p:tav tm="100000">
                                          <p:val>
                                            <p:strVal val="#ppt_x"/>
                                          </p:val>
                                        </p:tav>
                                      </p:tavLst>
                                    </p:anim>
                                    <p:anim calcmode="lin" valueType="num">
                                      <p:cBhvr additive="base">
                                        <p:cTn id="46" dur="500" fill="hold"/>
                                        <p:tgtEl>
                                          <p:spTgt spid="456713"/>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456714"/>
                                        </p:tgtEl>
                                        <p:attrNameLst>
                                          <p:attrName>style.visibility</p:attrName>
                                        </p:attrNameLst>
                                      </p:cBhvr>
                                      <p:to>
                                        <p:strVal val="visible"/>
                                      </p:to>
                                    </p:set>
                                    <p:anim calcmode="lin" valueType="num">
                                      <p:cBhvr additive="base">
                                        <p:cTn id="49" dur="500" fill="hold"/>
                                        <p:tgtEl>
                                          <p:spTgt spid="456714"/>
                                        </p:tgtEl>
                                        <p:attrNameLst>
                                          <p:attrName>ppt_x</p:attrName>
                                        </p:attrNameLst>
                                      </p:cBhvr>
                                      <p:tavLst>
                                        <p:tav tm="0">
                                          <p:val>
                                            <p:strVal val="0-#ppt_w/2"/>
                                          </p:val>
                                        </p:tav>
                                        <p:tav tm="100000">
                                          <p:val>
                                            <p:strVal val="#ppt_x"/>
                                          </p:val>
                                        </p:tav>
                                      </p:tavLst>
                                    </p:anim>
                                    <p:anim calcmode="lin" valueType="num">
                                      <p:cBhvr additive="base">
                                        <p:cTn id="50" dur="500" fill="hold"/>
                                        <p:tgtEl>
                                          <p:spTgt spid="45671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left)">
                                      <p:cBhvr>
                                        <p:cTn id="55" dur="5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456715"/>
                                        </p:tgtEl>
                                        <p:attrNameLst>
                                          <p:attrName>style.visibility</p:attrName>
                                        </p:attrNameLst>
                                      </p:cBhvr>
                                      <p:to>
                                        <p:strVal val="visible"/>
                                      </p:to>
                                    </p:set>
                                    <p:anim calcmode="lin" valueType="num">
                                      <p:cBhvr additive="base">
                                        <p:cTn id="60" dur="500" fill="hold"/>
                                        <p:tgtEl>
                                          <p:spTgt spid="456715"/>
                                        </p:tgtEl>
                                        <p:attrNameLst>
                                          <p:attrName>ppt_x</p:attrName>
                                        </p:attrNameLst>
                                      </p:cBhvr>
                                      <p:tavLst>
                                        <p:tav tm="0">
                                          <p:val>
                                            <p:strVal val="0-#ppt_w/2"/>
                                          </p:val>
                                        </p:tav>
                                        <p:tav tm="100000">
                                          <p:val>
                                            <p:strVal val="#ppt_x"/>
                                          </p:val>
                                        </p:tav>
                                      </p:tavLst>
                                    </p:anim>
                                    <p:anim calcmode="lin" valueType="num">
                                      <p:cBhvr additive="base">
                                        <p:cTn id="61" dur="500" fill="hold"/>
                                        <p:tgtEl>
                                          <p:spTgt spid="456715"/>
                                        </p:tgtEl>
                                        <p:attrNameLst>
                                          <p:attrName>ppt_y</p:attrName>
                                        </p:attrNameLst>
                                      </p:cBhvr>
                                      <p:tavLst>
                                        <p:tav tm="0">
                                          <p:val>
                                            <p:strVal val="#ppt_y"/>
                                          </p:val>
                                        </p:tav>
                                        <p:tav tm="100000">
                                          <p:val>
                                            <p:strVal val="#ppt_y"/>
                                          </p:val>
                                        </p:tav>
                                      </p:tavLst>
                                    </p:anim>
                                  </p:childTnLst>
                                </p:cTn>
                              </p:par>
                              <p:par>
                                <p:cTn id="62" presetID="2" presetClass="entr" presetSubtype="8" fill="hold" nodeType="withEffect">
                                  <p:stCondLst>
                                    <p:cond delay="0"/>
                                  </p:stCondLst>
                                  <p:childTnLst>
                                    <p:set>
                                      <p:cBhvr>
                                        <p:cTn id="63" dur="1" fill="hold">
                                          <p:stCondLst>
                                            <p:cond delay="0"/>
                                          </p:stCondLst>
                                        </p:cTn>
                                        <p:tgtEl>
                                          <p:spTgt spid="456716"/>
                                        </p:tgtEl>
                                        <p:attrNameLst>
                                          <p:attrName>style.visibility</p:attrName>
                                        </p:attrNameLst>
                                      </p:cBhvr>
                                      <p:to>
                                        <p:strVal val="visible"/>
                                      </p:to>
                                    </p:set>
                                    <p:anim calcmode="lin" valueType="num">
                                      <p:cBhvr additive="base">
                                        <p:cTn id="64" dur="500" fill="hold"/>
                                        <p:tgtEl>
                                          <p:spTgt spid="456716"/>
                                        </p:tgtEl>
                                        <p:attrNameLst>
                                          <p:attrName>ppt_x</p:attrName>
                                        </p:attrNameLst>
                                      </p:cBhvr>
                                      <p:tavLst>
                                        <p:tav tm="0">
                                          <p:val>
                                            <p:strVal val="0-#ppt_w/2"/>
                                          </p:val>
                                        </p:tav>
                                        <p:tav tm="100000">
                                          <p:val>
                                            <p:strVal val="#ppt_x"/>
                                          </p:val>
                                        </p:tav>
                                      </p:tavLst>
                                    </p:anim>
                                    <p:anim calcmode="lin" valueType="num">
                                      <p:cBhvr additive="base">
                                        <p:cTn id="65" dur="500" fill="hold"/>
                                        <p:tgtEl>
                                          <p:spTgt spid="456716"/>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 calcmode="lin" valueType="num">
                                      <p:cBhvr additive="base">
                                        <p:cTn id="70" dur="500" fill="hold"/>
                                        <p:tgtEl>
                                          <p:spTgt spid="48"/>
                                        </p:tgtEl>
                                        <p:attrNameLst>
                                          <p:attrName>ppt_x</p:attrName>
                                        </p:attrNameLst>
                                      </p:cBhvr>
                                      <p:tavLst>
                                        <p:tav tm="0">
                                          <p:val>
                                            <p:strVal val="#ppt_x"/>
                                          </p:val>
                                        </p:tav>
                                        <p:tav tm="100000">
                                          <p:val>
                                            <p:strVal val="#ppt_x"/>
                                          </p:val>
                                        </p:tav>
                                      </p:tavLst>
                                    </p:anim>
                                    <p:anim calcmode="lin" valueType="num">
                                      <p:cBhvr additive="base">
                                        <p:cTn id="7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49">
                                            <p:txEl>
                                              <p:pRg st="0" end="0"/>
                                            </p:txEl>
                                          </p:spTgt>
                                        </p:tgtEl>
                                        <p:attrNameLst>
                                          <p:attrName>style.visibility</p:attrName>
                                        </p:attrNameLst>
                                      </p:cBhvr>
                                      <p:to>
                                        <p:strVal val="visible"/>
                                      </p:to>
                                    </p:set>
                                    <p:animEffect transition="in" filter="wipe(down)">
                                      <p:cBhvr>
                                        <p:cTn id="76" dur="500"/>
                                        <p:tgtEl>
                                          <p:spTgt spid="49">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49">
                                            <p:txEl>
                                              <p:pRg st="1" end="1"/>
                                            </p:txEl>
                                          </p:spTgt>
                                        </p:tgtEl>
                                        <p:attrNameLst>
                                          <p:attrName>style.visibility</p:attrName>
                                        </p:attrNameLst>
                                      </p:cBhvr>
                                      <p:to>
                                        <p:strVal val="visible"/>
                                      </p:to>
                                    </p:set>
                                    <p:animEffect transition="in" filter="wipe(down)">
                                      <p:cBhvr>
                                        <p:cTn id="81" dur="500"/>
                                        <p:tgtEl>
                                          <p:spTgt spid="49">
                                            <p:txEl>
                                              <p:pRg st="1" end="1"/>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49">
                                            <p:txEl>
                                              <p:pRg st="2" end="2"/>
                                            </p:txEl>
                                          </p:spTgt>
                                        </p:tgtEl>
                                        <p:attrNameLst>
                                          <p:attrName>style.visibility</p:attrName>
                                        </p:attrNameLst>
                                      </p:cBhvr>
                                      <p:to>
                                        <p:strVal val="visible"/>
                                      </p:to>
                                    </p:set>
                                    <p:animEffect transition="in" filter="wipe(down)">
                                      <p:cBhvr>
                                        <p:cTn id="86" dur="500"/>
                                        <p:tgtEl>
                                          <p:spTgt spid="49">
                                            <p:txEl>
                                              <p:pRg st="2" end="2"/>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49">
                                            <p:txEl>
                                              <p:pRg st="3" end="3"/>
                                            </p:txEl>
                                          </p:spTgt>
                                        </p:tgtEl>
                                        <p:attrNameLst>
                                          <p:attrName>style.visibility</p:attrName>
                                        </p:attrNameLst>
                                      </p:cBhvr>
                                      <p:to>
                                        <p:strVal val="visible"/>
                                      </p:to>
                                    </p:set>
                                    <p:animEffect transition="in" filter="wipe(down)">
                                      <p:cBhvr>
                                        <p:cTn id="91" dur="500"/>
                                        <p:tgtEl>
                                          <p:spTgt spid="49">
                                            <p:txEl>
                                              <p:pRg st="3" end="3"/>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49">
                                            <p:txEl>
                                              <p:pRg st="4" end="4"/>
                                            </p:txEl>
                                          </p:spTgt>
                                        </p:tgtEl>
                                        <p:attrNameLst>
                                          <p:attrName>style.visibility</p:attrName>
                                        </p:attrNameLst>
                                      </p:cBhvr>
                                      <p:to>
                                        <p:strVal val="visible"/>
                                      </p:to>
                                    </p:set>
                                    <p:animEffect transition="in" filter="wipe(down)">
                                      <p:cBhvr>
                                        <p:cTn id="96" dur="500"/>
                                        <p:tgtEl>
                                          <p:spTgt spid="49">
                                            <p:txEl>
                                              <p:pRg st="4" end="4"/>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blinds(horizontal)">
                                      <p:cBhvr>
                                        <p:cTn id="101" dur="500"/>
                                        <p:tgtEl>
                                          <p:spTgt spid="51"/>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49">
                                            <p:txEl>
                                              <p:pRg st="5" end="5"/>
                                            </p:txEl>
                                          </p:spTgt>
                                        </p:tgtEl>
                                        <p:attrNameLst>
                                          <p:attrName>style.visibility</p:attrName>
                                        </p:attrNameLst>
                                      </p:cBhvr>
                                      <p:to>
                                        <p:strVal val="visible"/>
                                      </p:to>
                                    </p:set>
                                    <p:animEffect transition="in" filter="wipe(down)">
                                      <p:cBhvr>
                                        <p:cTn id="110" dur="500"/>
                                        <p:tgtEl>
                                          <p:spTgt spid="49">
                                            <p:txEl>
                                              <p:pRg st="5" end="5"/>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44" grpId="0"/>
      <p:bldP spid="45" grpId="0"/>
      <p:bldP spid="47" grpId="0"/>
      <p:bldP spid="48" grpId="0"/>
      <p:bldP spid="49" grpId="0" uiExpand="1" build="p"/>
      <p:bldP spid="51" grpId="0"/>
      <p:bldP spid="5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959848"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：图示刚架，已知各杆的弹性模量</a:t>
            </a:r>
            <a:r>
              <a:rPr lang="en-US" altLang="zh-CN" sz="2000" b="1" i="1">
                <a:latin typeface="Times New Roman" pitchFamily="18" charset="0"/>
                <a:cs typeface="Times New Roman" pitchFamily="18" charset="0"/>
              </a:rPr>
              <a:t>E</a:t>
            </a:r>
            <a:r>
              <a:rPr lang="zh-CN" altLang="en-US" sz="2000" b="1">
                <a:latin typeface="Times New Roman" pitchFamily="18" charset="0"/>
                <a:cs typeface="Times New Roman" pitchFamily="18" charset="0"/>
              </a:rPr>
              <a:t>和截面惯性矩</a:t>
            </a:r>
            <a:r>
              <a:rPr lang="en-US" altLang="zh-CN" sz="2000" b="1" i="1">
                <a:latin typeface="Times New Roman" pitchFamily="18" charset="0"/>
                <a:cs typeface="Times New Roman" pitchFamily="18" charset="0"/>
              </a:rPr>
              <a:t>I</a:t>
            </a:r>
            <a:r>
              <a:rPr lang="zh-CN" altLang="en-US" sz="2000" b="1">
                <a:latin typeface="Times New Roman" pitchFamily="18" charset="0"/>
                <a:cs typeface="Times New Roman" pitchFamily="18" charset="0"/>
              </a:rPr>
              <a:t>均为常数，试求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，和位移量</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aphicFrame>
        <p:nvGraphicFramePr>
          <p:cNvPr id="406531" name="Object 3"/>
          <p:cNvGraphicFramePr>
            <a:graphicFrameLocks noChangeAspect="1"/>
          </p:cNvGraphicFramePr>
          <p:nvPr/>
        </p:nvGraphicFramePr>
        <p:xfrm>
          <a:off x="6500826" y="1143003"/>
          <a:ext cx="2738438" cy="2714625"/>
        </p:xfrm>
        <a:graphic>
          <a:graphicData uri="http://schemas.openxmlformats.org/presentationml/2006/ole">
            <mc:AlternateContent xmlns:mc="http://schemas.openxmlformats.org/markup-compatibility/2006">
              <mc:Choice xmlns:v="urn:schemas-microsoft-com:vml" Requires="v">
                <p:oleObj spid="_x0000_s457742" r:id="rId4" imgW="8943975" imgH="4933950" progId="">
                  <p:embed/>
                </p:oleObj>
              </mc:Choice>
              <mc:Fallback>
                <p:oleObj r:id="rId4" imgW="8943975" imgH="493395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65347" t="32693" r="12970" b="27846"/>
                      <a:stretch>
                        <a:fillRect/>
                      </a:stretch>
                    </p:blipFill>
                    <p:spPr bwMode="auto">
                      <a:xfrm>
                        <a:off x="6500826" y="1143003"/>
                        <a:ext cx="2738438"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4"/>
          <p:cNvSpPr>
            <a:spLocks noChangeArrowheads="1"/>
          </p:cNvSpPr>
          <p:nvPr/>
        </p:nvSpPr>
        <p:spPr bwMode="auto">
          <a:xfrm>
            <a:off x="928662" y="2863990"/>
            <a:ext cx="5500726"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en-US" altLang="zh-CN" sz="2000" b="1">
                <a:solidFill>
                  <a:srgbClr val="000000"/>
                </a:solidFill>
                <a:latin typeface="+mn-ea"/>
              </a:rPr>
              <a:t>⑵ </a:t>
            </a:r>
            <a:r>
              <a:rPr kumimoji="1" lang="zh-CN" altLang="en-US" sz="2000" b="1">
                <a:solidFill>
                  <a:srgbClr val="000000"/>
                </a:solidFill>
                <a:latin typeface="+mn-ea"/>
              </a:rPr>
              <a:t>求</a:t>
            </a:r>
            <a:r>
              <a:rPr kumimoji="1" lang="en-US" altLang="zh-CN" sz="2000" b="1" i="1">
                <a:solidFill>
                  <a:srgbClr val="000000"/>
                </a:solidFill>
                <a:latin typeface="Times New Roman" pitchFamily="18" charset="0"/>
                <a:ea typeface="楷体_GB2312" pitchFamily="49" charset="-122"/>
              </a:rPr>
              <a:t>B</a:t>
            </a:r>
            <a:r>
              <a:rPr kumimoji="1" lang="zh-CN" altLang="en-US" sz="2000" b="1">
                <a:solidFill>
                  <a:srgbClr val="000000"/>
                </a:solidFill>
                <a:latin typeface="+mn-ea"/>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 </a:t>
            </a:r>
            <a:r>
              <a:rPr kumimoji="1" lang="zh-CN" altLang="en-US" sz="2000" b="1" kern="1200">
                <a:solidFill>
                  <a:srgbClr val="000000"/>
                </a:solidFill>
                <a:latin typeface="+mn-ea"/>
                <a:cs typeface="+mn-cs"/>
              </a:rPr>
              <a:t>；</a:t>
            </a:r>
          </a:p>
        </p:txBody>
      </p:sp>
      <p:sp>
        <p:nvSpPr>
          <p:cNvPr id="44" name="Rectangle 5"/>
          <p:cNvSpPr>
            <a:spLocks noChangeArrowheads="1"/>
          </p:cNvSpPr>
          <p:nvPr/>
        </p:nvSpPr>
        <p:spPr bwMode="auto">
          <a:xfrm>
            <a:off x="1652598" y="4071942"/>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① 横梁</a:t>
            </a:r>
            <a:r>
              <a:rPr kumimoji="1" lang="en-US" altLang="zh-CN" sz="2000" b="1" i="1" kern="1200">
                <a:solidFill>
                  <a:srgbClr val="000000"/>
                </a:solidFill>
                <a:latin typeface="Times New Roman" pitchFamily="18" charset="0"/>
                <a:ea typeface="楷体_GB2312" pitchFamily="49" charset="-122"/>
                <a:cs typeface="+mn-cs"/>
              </a:rPr>
              <a:t>BC</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sp>
        <p:nvSpPr>
          <p:cNvPr id="45" name="Rectangle 5"/>
          <p:cNvSpPr>
            <a:spLocks noChangeArrowheads="1"/>
          </p:cNvSpPr>
          <p:nvPr/>
        </p:nvSpPr>
        <p:spPr bwMode="auto">
          <a:xfrm>
            <a:off x="1654331" y="4442195"/>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② 竖柱</a:t>
            </a:r>
            <a:r>
              <a:rPr kumimoji="1" lang="en-US" altLang="zh-CN" sz="2000" b="1" i="1" kern="1200">
                <a:solidFill>
                  <a:srgbClr val="000000"/>
                </a:solidFill>
                <a:latin typeface="Times New Roman" pitchFamily="18" charset="0"/>
                <a:ea typeface="楷体_GB2312" pitchFamily="49" charset="-122"/>
                <a:cs typeface="+mn-cs"/>
              </a:rPr>
              <a:t>CA</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sp>
        <p:nvSpPr>
          <p:cNvPr id="42" name="矩形 41"/>
          <p:cNvSpPr/>
          <p:nvPr/>
        </p:nvSpPr>
        <p:spPr bwMode="auto">
          <a:xfrm>
            <a:off x="6572264" y="1285860"/>
            <a:ext cx="2357454" cy="2357454"/>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grpSp>
        <p:nvGrpSpPr>
          <p:cNvPr id="40" name="组合 39"/>
          <p:cNvGrpSpPr/>
          <p:nvPr/>
        </p:nvGrpSpPr>
        <p:grpSpPr>
          <a:xfrm>
            <a:off x="6590900" y="1571612"/>
            <a:ext cx="2481662" cy="3400359"/>
            <a:chOff x="6590900" y="4071089"/>
            <a:chExt cx="2481662" cy="3400359"/>
          </a:xfrm>
        </p:grpSpPr>
        <p:grpSp>
          <p:nvGrpSpPr>
            <p:cNvPr id="4" name="组合 30"/>
            <p:cNvGrpSpPr/>
            <p:nvPr/>
          </p:nvGrpSpPr>
          <p:grpSpPr>
            <a:xfrm>
              <a:off x="6590900" y="4203429"/>
              <a:ext cx="2090637" cy="2011653"/>
              <a:chOff x="6696205" y="4203429"/>
              <a:chExt cx="2090637" cy="2011653"/>
            </a:xfrm>
            <a:noFill/>
          </p:grpSpPr>
          <p:pic>
            <p:nvPicPr>
              <p:cNvPr id="456712" name="Picture 8"/>
              <p:cNvPicPr>
                <a:picLocks noChangeAspect="1" noChangeArrowheads="1"/>
              </p:cNvPicPr>
              <p:nvPr/>
            </p:nvPicPr>
            <p:blipFill>
              <a:blip r:embed="rId6"/>
              <a:srcRect/>
              <a:stretch>
                <a:fillRect/>
              </a:stretch>
            </p:blipFill>
            <p:spPr bwMode="auto">
              <a:xfrm>
                <a:off x="6715140" y="4203429"/>
                <a:ext cx="2071702" cy="2011653"/>
              </a:xfrm>
              <a:prstGeom prst="rect">
                <a:avLst/>
              </a:prstGeom>
              <a:grpFill/>
              <a:ln w="9525">
                <a:noFill/>
                <a:miter lim="800000"/>
                <a:headEnd/>
                <a:tailEnd/>
              </a:ln>
              <a:effectLst/>
            </p:spPr>
          </p:pic>
          <p:sp>
            <p:nvSpPr>
              <p:cNvPr id="28" name="TextBox 27"/>
              <p:cNvSpPr txBox="1"/>
              <p:nvPr/>
            </p:nvSpPr>
            <p:spPr>
              <a:xfrm>
                <a:off x="6696205" y="4308834"/>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29" name="TextBox 28"/>
              <p:cNvSpPr txBox="1"/>
              <p:nvPr/>
            </p:nvSpPr>
            <p:spPr>
              <a:xfrm>
                <a:off x="8106329" y="457200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30" name="TextBox 29"/>
              <p:cNvSpPr txBox="1"/>
              <p:nvPr/>
            </p:nvSpPr>
            <p:spPr>
              <a:xfrm>
                <a:off x="8072462" y="564357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grpSp>
          <p:nvGrpSpPr>
            <p:cNvPr id="38" name="组合 37"/>
            <p:cNvGrpSpPr/>
            <p:nvPr/>
          </p:nvGrpSpPr>
          <p:grpSpPr>
            <a:xfrm>
              <a:off x="6706752" y="4071089"/>
              <a:ext cx="2365810" cy="3400359"/>
              <a:chOff x="6706752" y="4071089"/>
              <a:chExt cx="2365810" cy="3400359"/>
            </a:xfrm>
          </p:grpSpPr>
          <p:grpSp>
            <p:nvGrpSpPr>
              <p:cNvPr id="5" name="组合 37"/>
              <p:cNvGrpSpPr/>
              <p:nvPr/>
            </p:nvGrpSpPr>
            <p:grpSpPr>
              <a:xfrm>
                <a:off x="6871228" y="4071089"/>
                <a:ext cx="2201334" cy="433178"/>
                <a:chOff x="6976533" y="4071089"/>
                <a:chExt cx="2201334" cy="433178"/>
              </a:xfrm>
            </p:grpSpPr>
            <p:cxnSp>
              <p:nvCxnSpPr>
                <p:cNvPr id="33" name="直接连接符 32"/>
                <p:cNvCxnSpPr/>
                <p:nvPr/>
              </p:nvCxnSpPr>
              <p:spPr bwMode="auto">
                <a:xfrm rot="5400000" flipH="1" flipV="1">
                  <a:off x="8275487" y="4286256"/>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35" name="任意多边形 34"/>
                <p:cNvSpPr/>
                <p:nvPr/>
              </p:nvSpPr>
              <p:spPr bwMode="auto">
                <a:xfrm>
                  <a:off x="6976533" y="4071942"/>
                  <a:ext cx="1524000" cy="432325"/>
                </a:xfrm>
                <a:custGeom>
                  <a:avLst/>
                  <a:gdLst>
                    <a:gd name="connsiteX0" fmla="*/ 0 w 1524000"/>
                    <a:gd name="connsiteY0" fmla="*/ 395111 h 395111"/>
                    <a:gd name="connsiteX1" fmla="*/ 914400 w 1524000"/>
                    <a:gd name="connsiteY1" fmla="*/ 270933 h 395111"/>
                    <a:gd name="connsiteX2" fmla="*/ 1524000 w 1524000"/>
                    <a:gd name="connsiteY2" fmla="*/ 0 h 395111"/>
                  </a:gdLst>
                  <a:ahLst/>
                  <a:cxnLst>
                    <a:cxn ang="0">
                      <a:pos x="connsiteX0" y="connsiteY0"/>
                    </a:cxn>
                    <a:cxn ang="0">
                      <a:pos x="connsiteX1" y="connsiteY1"/>
                    </a:cxn>
                    <a:cxn ang="0">
                      <a:pos x="connsiteX2" y="connsiteY2"/>
                    </a:cxn>
                  </a:cxnLst>
                  <a:rect l="l" t="t" r="r" b="b"/>
                  <a:pathLst>
                    <a:path w="1524000" h="395111">
                      <a:moveTo>
                        <a:pt x="0" y="395111"/>
                      </a:moveTo>
                      <a:cubicBezTo>
                        <a:pt x="330200" y="365948"/>
                        <a:pt x="660400" y="336785"/>
                        <a:pt x="914400" y="270933"/>
                      </a:cubicBezTo>
                      <a:cubicBezTo>
                        <a:pt x="1168400" y="205081"/>
                        <a:pt x="1346200" y="102540"/>
                        <a:pt x="1524000" y="0"/>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37" name="TextBox 36"/>
                <p:cNvSpPr txBox="1"/>
                <p:nvPr/>
              </p:nvSpPr>
              <p:spPr>
                <a:xfrm>
                  <a:off x="8497873" y="4071089"/>
                  <a:ext cx="67999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a:t>
                  </a:r>
                  <a:r>
                    <a:rPr lang="en-US" altLang="zh-CN" sz="2000" b="1" baseline="30000">
                      <a:solidFill>
                        <a:srgbClr val="C00000"/>
                      </a:solidFill>
                      <a:latin typeface="Times New Roman" pitchFamily="18" charset="0"/>
                      <a:cs typeface="Times New Roman" pitchFamily="18" charset="0"/>
                    </a:rPr>
                    <a:t>2</a:t>
                  </a:r>
                  <a:r>
                    <a:rPr lang="en-US" altLang="zh-CN" b="1">
                      <a:solidFill>
                        <a:srgbClr val="C00000"/>
                      </a:solidFill>
                      <a:latin typeface="Times New Roman" pitchFamily="18" charset="0"/>
                      <a:cs typeface="Times New Roman" pitchFamily="18" charset="0"/>
                    </a:rPr>
                    <a:t>/2</a:t>
                  </a:r>
                  <a:endParaRPr lang="zh-CN" altLang="en-US" b="1">
                    <a:solidFill>
                      <a:srgbClr val="C00000"/>
                    </a:solidFill>
                    <a:latin typeface="Times New Roman" pitchFamily="18" charset="0"/>
                    <a:cs typeface="Times New Roman" pitchFamily="18" charset="0"/>
                  </a:endParaRPr>
                </a:p>
              </p:txBody>
            </p:sp>
          </p:grpSp>
          <p:grpSp>
            <p:nvGrpSpPr>
              <p:cNvPr id="6" name="组合 41"/>
              <p:cNvGrpSpPr/>
              <p:nvPr/>
            </p:nvGrpSpPr>
            <p:grpSpPr>
              <a:xfrm>
                <a:off x="8388200" y="4510270"/>
                <a:ext cx="436213" cy="1517574"/>
                <a:chOff x="8493505" y="4510270"/>
                <a:chExt cx="436213" cy="1517574"/>
              </a:xfrm>
            </p:grpSpPr>
            <p:cxnSp>
              <p:nvCxnSpPr>
                <p:cNvPr id="36" name="直接连接符 35"/>
                <p:cNvCxnSpPr/>
                <p:nvPr/>
              </p:nvCxnSpPr>
              <p:spPr bwMode="auto">
                <a:xfrm rot="10800000" flipH="1" flipV="1">
                  <a:off x="8493505" y="451027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39" name="直接连接符 38"/>
                <p:cNvCxnSpPr/>
                <p:nvPr/>
              </p:nvCxnSpPr>
              <p:spPr bwMode="auto">
                <a:xfrm rot="10800000" flipH="1" flipV="1">
                  <a:off x="8501090" y="6021757"/>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41" name="直接连接符 40"/>
                <p:cNvCxnSpPr/>
                <p:nvPr/>
              </p:nvCxnSpPr>
              <p:spPr bwMode="auto">
                <a:xfrm rot="5400000">
                  <a:off x="8168330" y="5276951"/>
                  <a:ext cx="150019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47" name="TextBox 46"/>
              <p:cNvSpPr txBox="1"/>
              <p:nvPr/>
            </p:nvSpPr>
            <p:spPr>
              <a:xfrm>
                <a:off x="7072330" y="5429264"/>
                <a:ext cx="5164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endParaRPr lang="zh-CN" altLang="en-US" sz="2000" b="1" baseline="-25000">
                  <a:latin typeface="Times New Roman" pitchFamily="18" charset="0"/>
                  <a:cs typeface="Times New Roman" pitchFamily="18" charset="0"/>
                </a:endParaRPr>
              </a:p>
            </p:txBody>
          </p:sp>
          <p:sp>
            <p:nvSpPr>
              <p:cNvPr id="56" name="任意多边形 55"/>
              <p:cNvSpPr/>
              <p:nvPr/>
            </p:nvSpPr>
            <p:spPr bwMode="auto">
              <a:xfrm>
                <a:off x="6706752" y="4538994"/>
                <a:ext cx="1505966" cy="247327"/>
              </a:xfrm>
              <a:custGeom>
                <a:avLst/>
                <a:gdLst>
                  <a:gd name="connsiteX0" fmla="*/ 0 w 1395351"/>
                  <a:gd name="connsiteY0" fmla="*/ 285008 h 290945"/>
                  <a:gd name="connsiteX1" fmla="*/ 492826 w 1395351"/>
                  <a:gd name="connsiteY1" fmla="*/ 243444 h 290945"/>
                  <a:gd name="connsiteX2" fmla="*/ 1395351 w 1395351"/>
                  <a:gd name="connsiteY2" fmla="*/ 0 h 290945"/>
                </a:gdLst>
                <a:ahLst/>
                <a:cxnLst>
                  <a:cxn ang="0">
                    <a:pos x="connsiteX0" y="connsiteY0"/>
                  </a:cxn>
                  <a:cxn ang="0">
                    <a:pos x="connsiteX1" y="connsiteY1"/>
                  </a:cxn>
                  <a:cxn ang="0">
                    <a:pos x="connsiteX2" y="connsiteY2"/>
                  </a:cxn>
                </a:cxnLst>
                <a:rect l="l" t="t" r="r" b="b"/>
                <a:pathLst>
                  <a:path w="1395351" h="290945">
                    <a:moveTo>
                      <a:pt x="0" y="285008"/>
                    </a:moveTo>
                    <a:cubicBezTo>
                      <a:pt x="130134" y="287976"/>
                      <a:pt x="260268" y="290945"/>
                      <a:pt x="492826" y="243444"/>
                    </a:cubicBezTo>
                    <a:cubicBezTo>
                      <a:pt x="725384" y="195943"/>
                      <a:pt x="1060367" y="97971"/>
                      <a:pt x="1395351"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57" name="弧形 56"/>
              <p:cNvSpPr/>
              <p:nvPr/>
            </p:nvSpPr>
            <p:spPr bwMode="auto">
              <a:xfrm>
                <a:off x="8001024" y="4542490"/>
                <a:ext cx="386708" cy="2928958"/>
              </a:xfrm>
              <a:prstGeom prst="arc">
                <a:avLst>
                  <a:gd name="adj1" fmla="val 16200000"/>
                  <a:gd name="adj2" fmla="val 21518681"/>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grpSp>
      <p:sp>
        <p:nvSpPr>
          <p:cNvPr id="46" name="Rectangle 4"/>
          <p:cNvSpPr>
            <a:spLocks noChangeArrowheads="1"/>
          </p:cNvSpPr>
          <p:nvPr/>
        </p:nvSpPr>
        <p:spPr bwMode="auto">
          <a:xfrm>
            <a:off x="1357290" y="3273432"/>
            <a:ext cx="5072098" cy="830997"/>
          </a:xfrm>
          <a:prstGeom prst="rect">
            <a:avLst/>
          </a:prstGeom>
          <a:noFill/>
          <a:ln w="9525">
            <a:noFill/>
            <a:miter lim="800000"/>
            <a:headEnd/>
            <a:tailEnd/>
          </a:ln>
        </p:spPr>
        <p:txBody>
          <a:bodyPr wrap="square">
            <a:spAutoFit/>
          </a:bodyPr>
          <a:lstStyle/>
          <a:p>
            <a:pPr algn="just" rtl="0" fontAlgn="base">
              <a:lnSpc>
                <a:spcPct val="120000"/>
              </a:lnSpc>
              <a:spcBef>
                <a:spcPct val="0"/>
              </a:spcBef>
              <a:spcAft>
                <a:spcPct val="0"/>
              </a:spcAft>
            </a:pPr>
            <a:r>
              <a:rPr kumimoji="1" lang="zh-CN" altLang="en-US" sz="2000" b="1" kern="1200">
                <a:solidFill>
                  <a:srgbClr val="000000"/>
                </a:solidFill>
                <a:latin typeface="+mn-ea"/>
                <a:cs typeface="+mn-cs"/>
              </a:rPr>
              <a:t>    作单位力，写出各杆单位力作用下的弯矩方程式，画出弯矩图（外侧受拉为正）；</a:t>
            </a:r>
            <a:endParaRPr kumimoji="1" lang="zh-CN" altLang="en-US" sz="2000" kern="1200">
              <a:solidFill>
                <a:srgbClr val="000000"/>
              </a:solidFill>
              <a:latin typeface="+mn-ea"/>
              <a:cs typeface="+mn-cs"/>
            </a:endParaRPr>
          </a:p>
        </p:txBody>
      </p:sp>
      <p:grpSp>
        <p:nvGrpSpPr>
          <p:cNvPr id="50" name="组合 49"/>
          <p:cNvGrpSpPr/>
          <p:nvPr/>
        </p:nvGrpSpPr>
        <p:grpSpPr>
          <a:xfrm>
            <a:off x="6590900" y="4274867"/>
            <a:ext cx="2090637" cy="2011653"/>
            <a:chOff x="6696205" y="4203429"/>
            <a:chExt cx="2090637" cy="2011653"/>
          </a:xfrm>
          <a:noFill/>
        </p:grpSpPr>
        <p:pic>
          <p:nvPicPr>
            <p:cNvPr id="53" name="Picture 8"/>
            <p:cNvPicPr>
              <a:picLocks noChangeAspect="1" noChangeArrowheads="1"/>
            </p:cNvPicPr>
            <p:nvPr/>
          </p:nvPicPr>
          <p:blipFill>
            <a:blip r:embed="rId6"/>
            <a:srcRect/>
            <a:stretch>
              <a:fillRect/>
            </a:stretch>
          </p:blipFill>
          <p:spPr bwMode="auto">
            <a:xfrm>
              <a:off x="6715140" y="4203429"/>
              <a:ext cx="2071702" cy="2011653"/>
            </a:xfrm>
            <a:prstGeom prst="rect">
              <a:avLst/>
            </a:prstGeom>
            <a:grpFill/>
            <a:ln w="9525">
              <a:noFill/>
              <a:miter lim="800000"/>
              <a:headEnd/>
              <a:tailEnd/>
            </a:ln>
            <a:effectLst/>
          </p:spPr>
        </p:pic>
        <p:sp>
          <p:nvSpPr>
            <p:cNvPr id="54" name="TextBox 53"/>
            <p:cNvSpPr txBox="1"/>
            <p:nvPr/>
          </p:nvSpPr>
          <p:spPr>
            <a:xfrm>
              <a:off x="6696205" y="448842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55" name="TextBox 54"/>
            <p:cNvSpPr txBox="1"/>
            <p:nvPr/>
          </p:nvSpPr>
          <p:spPr>
            <a:xfrm>
              <a:off x="8106329" y="457200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58" name="TextBox 57"/>
            <p:cNvSpPr txBox="1"/>
            <p:nvPr/>
          </p:nvSpPr>
          <p:spPr>
            <a:xfrm>
              <a:off x="8072462" y="564357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graphicFrame>
        <p:nvGraphicFramePr>
          <p:cNvPr id="457735" name="Object 7"/>
          <p:cNvGraphicFramePr>
            <a:graphicFrameLocks noChangeAspect="1"/>
          </p:cNvGraphicFramePr>
          <p:nvPr/>
        </p:nvGraphicFramePr>
        <p:xfrm>
          <a:off x="7215206" y="5643578"/>
          <a:ext cx="315913" cy="315913"/>
        </p:xfrm>
        <a:graphic>
          <a:graphicData uri="http://schemas.openxmlformats.org/presentationml/2006/ole">
            <mc:AlternateContent xmlns:mc="http://schemas.openxmlformats.org/markup-compatibility/2006">
              <mc:Choice xmlns:v="urn:schemas-microsoft-com:vml" Requires="v">
                <p:oleObj spid="_x0000_s457743" name="Equation" r:id="rId7" imgW="203040" imgH="203040" progId="Equation.DSMT4">
                  <p:embed/>
                </p:oleObj>
              </mc:Choice>
              <mc:Fallback>
                <p:oleObj name="Equation" r:id="rId7" imgW="203040" imgH="20304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15206" y="5643578"/>
                        <a:ext cx="315913"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3" name="组合 62"/>
          <p:cNvGrpSpPr/>
          <p:nvPr/>
        </p:nvGrpSpPr>
        <p:grpSpPr>
          <a:xfrm>
            <a:off x="6603246" y="3844565"/>
            <a:ext cx="300082" cy="750818"/>
            <a:chOff x="6603246" y="3844565"/>
            <a:chExt cx="300082" cy="750818"/>
          </a:xfrm>
        </p:grpSpPr>
        <p:cxnSp>
          <p:nvCxnSpPr>
            <p:cNvPr id="60" name="直接箭头连接符 59"/>
            <p:cNvCxnSpPr/>
            <p:nvPr/>
          </p:nvCxnSpPr>
          <p:spPr bwMode="auto">
            <a:xfrm rot="5400000">
              <a:off x="6642016" y="4378589"/>
              <a:ext cx="432000" cy="158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61" name="TextBox 60"/>
            <p:cNvSpPr txBox="1"/>
            <p:nvPr/>
          </p:nvSpPr>
          <p:spPr>
            <a:xfrm>
              <a:off x="6603246" y="3844565"/>
              <a:ext cx="300082"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grpSp>
      <p:grpSp>
        <p:nvGrpSpPr>
          <p:cNvPr id="68" name="组合 67"/>
          <p:cNvGrpSpPr/>
          <p:nvPr/>
        </p:nvGrpSpPr>
        <p:grpSpPr>
          <a:xfrm>
            <a:off x="6864680" y="4144174"/>
            <a:ext cx="1526599" cy="428756"/>
            <a:chOff x="6864680" y="4144174"/>
            <a:chExt cx="1526599" cy="428756"/>
          </a:xfrm>
        </p:grpSpPr>
        <p:cxnSp>
          <p:nvCxnSpPr>
            <p:cNvPr id="65" name="直接连接符 64"/>
            <p:cNvCxnSpPr/>
            <p:nvPr/>
          </p:nvCxnSpPr>
          <p:spPr bwMode="auto">
            <a:xfrm rot="5400000" flipH="1" flipV="1">
              <a:off x="8176149" y="4357694"/>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67" name="直接连接符 66"/>
            <p:cNvCxnSpPr/>
            <p:nvPr/>
          </p:nvCxnSpPr>
          <p:spPr bwMode="auto">
            <a:xfrm rot="5400000" flipH="1" flipV="1">
              <a:off x="7419737" y="3601387"/>
              <a:ext cx="416486" cy="1526599"/>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graphicFrame>
        <p:nvGraphicFramePr>
          <p:cNvPr id="457736" name="Object 8"/>
          <p:cNvGraphicFramePr>
            <a:graphicFrameLocks noChangeAspect="1"/>
          </p:cNvGraphicFramePr>
          <p:nvPr/>
        </p:nvGraphicFramePr>
        <p:xfrm>
          <a:off x="3117114" y="4091128"/>
          <a:ext cx="2127250" cy="374650"/>
        </p:xfrm>
        <a:graphic>
          <a:graphicData uri="http://schemas.openxmlformats.org/presentationml/2006/ole">
            <mc:AlternateContent xmlns:mc="http://schemas.openxmlformats.org/markup-compatibility/2006">
              <mc:Choice xmlns:v="urn:schemas-microsoft-com:vml" Requires="v">
                <p:oleObj spid="_x0000_s457744" name="Equation" r:id="rId9" imgW="1371600" imgH="241200" progId="Equation.DSMT4">
                  <p:embed/>
                </p:oleObj>
              </mc:Choice>
              <mc:Fallback>
                <p:oleObj name="Equation" r:id="rId9" imgW="1371600" imgH="241200" progId="Equation.DSMT4">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7114" y="4091128"/>
                        <a:ext cx="21272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3" name="组合 72"/>
          <p:cNvGrpSpPr/>
          <p:nvPr/>
        </p:nvGrpSpPr>
        <p:grpSpPr>
          <a:xfrm>
            <a:off x="8397403" y="4585865"/>
            <a:ext cx="434751" cy="1500198"/>
            <a:chOff x="8397403" y="4585865"/>
            <a:chExt cx="434751" cy="1500198"/>
          </a:xfrm>
        </p:grpSpPr>
        <p:cxnSp>
          <p:nvCxnSpPr>
            <p:cNvPr id="69" name="直接连接符 68"/>
            <p:cNvCxnSpPr/>
            <p:nvPr/>
          </p:nvCxnSpPr>
          <p:spPr bwMode="auto">
            <a:xfrm rot="10800000" flipH="1" flipV="1">
              <a:off x="8397403" y="4588472"/>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70" name="直接连接符 69"/>
            <p:cNvCxnSpPr/>
            <p:nvPr/>
          </p:nvCxnSpPr>
          <p:spPr bwMode="auto">
            <a:xfrm rot="10800000" flipH="1" flipV="1">
              <a:off x="8403526" y="6072206"/>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72" name="直接连接符 71"/>
            <p:cNvCxnSpPr/>
            <p:nvPr/>
          </p:nvCxnSpPr>
          <p:spPr bwMode="auto">
            <a:xfrm rot="5400000">
              <a:off x="8062869" y="5335170"/>
              <a:ext cx="150019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74" name="TextBox 73"/>
          <p:cNvSpPr txBox="1"/>
          <p:nvPr/>
        </p:nvSpPr>
        <p:spPr>
          <a:xfrm>
            <a:off x="8501090" y="413123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a</a:t>
            </a:r>
            <a:endParaRPr lang="zh-CN" altLang="en-US" b="1">
              <a:solidFill>
                <a:srgbClr val="C00000"/>
              </a:solidFill>
              <a:latin typeface="Times New Roman" pitchFamily="18" charset="0"/>
              <a:cs typeface="Times New Roman" pitchFamily="18" charset="0"/>
            </a:endParaRPr>
          </a:p>
        </p:txBody>
      </p:sp>
      <p:graphicFrame>
        <p:nvGraphicFramePr>
          <p:cNvPr id="457737" name="Object 9"/>
          <p:cNvGraphicFramePr>
            <a:graphicFrameLocks noChangeAspect="1"/>
          </p:cNvGraphicFramePr>
          <p:nvPr/>
        </p:nvGraphicFramePr>
        <p:xfrm>
          <a:off x="3117114" y="4467504"/>
          <a:ext cx="2127250" cy="374650"/>
        </p:xfrm>
        <a:graphic>
          <a:graphicData uri="http://schemas.openxmlformats.org/presentationml/2006/ole">
            <mc:AlternateContent xmlns:mc="http://schemas.openxmlformats.org/markup-compatibility/2006">
              <mc:Choice xmlns:v="urn:schemas-microsoft-com:vml" Requires="v">
                <p:oleObj spid="_x0000_s457745" name="Equation" r:id="rId11" imgW="1371600" imgH="241200" progId="Equation.DSMT4">
                  <p:embed/>
                </p:oleObj>
              </mc:Choice>
              <mc:Fallback>
                <p:oleObj name="Equation" r:id="rId11" imgW="1371600" imgH="241200" progId="Equation.DSMT4">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17114" y="4467504"/>
                        <a:ext cx="21272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 name="Rectangle 5"/>
          <p:cNvSpPr>
            <a:spLocks noChangeArrowheads="1"/>
          </p:cNvSpPr>
          <p:nvPr/>
        </p:nvSpPr>
        <p:spPr bwMode="auto">
          <a:xfrm>
            <a:off x="1643042" y="4834026"/>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③ 计算位移</a:t>
            </a:r>
            <a:endParaRPr kumimoji="1" lang="en-US" altLang="zh-CN" sz="2000" b="1" kern="1200">
              <a:solidFill>
                <a:srgbClr val="000000"/>
              </a:solidFill>
              <a:latin typeface="Times New Roman" pitchFamily="18" charset="0"/>
              <a:ea typeface="楷体_GB2312" pitchFamily="49" charset="-122"/>
              <a:cs typeface="+mn-cs"/>
            </a:endParaRPr>
          </a:p>
        </p:txBody>
      </p:sp>
      <p:graphicFrame>
        <p:nvGraphicFramePr>
          <p:cNvPr id="457738" name="Object 10"/>
          <p:cNvGraphicFramePr>
            <a:graphicFrameLocks/>
          </p:cNvGraphicFramePr>
          <p:nvPr/>
        </p:nvGraphicFramePr>
        <p:xfrm>
          <a:off x="2000232" y="5214950"/>
          <a:ext cx="1927225" cy="749300"/>
        </p:xfrm>
        <a:graphic>
          <a:graphicData uri="http://schemas.openxmlformats.org/presentationml/2006/ole">
            <mc:AlternateContent xmlns:mc="http://schemas.openxmlformats.org/markup-compatibility/2006">
              <mc:Choice xmlns:v="urn:schemas-microsoft-com:vml" Requires="v">
                <p:oleObj spid="_x0000_s457746" name="Equation" r:id="rId13" imgW="1244520" imgH="482400" progId="Equation.DSMT4">
                  <p:embed/>
                </p:oleObj>
              </mc:Choice>
              <mc:Fallback>
                <p:oleObj name="Equation" r:id="rId13" imgW="1244520" imgH="482400" progId="Equation.DSMT4">
                  <p:embed/>
                  <p:pic>
                    <p:nvPicPr>
                      <p:cNvPr id="0" name="Picture 1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32" y="5214950"/>
                        <a:ext cx="192722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7740" name="Object 12"/>
          <p:cNvGraphicFramePr>
            <a:graphicFrameLocks noChangeAspect="1"/>
          </p:cNvGraphicFramePr>
          <p:nvPr/>
        </p:nvGraphicFramePr>
        <p:xfrm>
          <a:off x="3929058" y="5241076"/>
          <a:ext cx="2908300" cy="727075"/>
        </p:xfrm>
        <a:graphic>
          <a:graphicData uri="http://schemas.openxmlformats.org/presentationml/2006/ole">
            <mc:AlternateContent xmlns:mc="http://schemas.openxmlformats.org/markup-compatibility/2006">
              <mc:Choice xmlns:v="urn:schemas-microsoft-com:vml" Requires="v">
                <p:oleObj spid="_x0000_s457747" name="Equation" r:id="rId15" imgW="1879560" imgH="469800" progId="Equation.DSMT4">
                  <p:embed/>
                </p:oleObj>
              </mc:Choice>
              <mc:Fallback>
                <p:oleObj name="Equation" r:id="rId15" imgW="1879560" imgH="469800" progId="Equation.DSMT4">
                  <p:embed/>
                  <p:pic>
                    <p:nvPicPr>
                      <p:cNvPr id="0" name="Picture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9058" y="5241076"/>
                        <a:ext cx="290830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7741" name="Object 13"/>
          <p:cNvGraphicFramePr>
            <a:graphicFrameLocks noChangeAspect="1"/>
          </p:cNvGraphicFramePr>
          <p:nvPr/>
        </p:nvGraphicFramePr>
        <p:xfrm>
          <a:off x="2396611" y="5904021"/>
          <a:ext cx="809625" cy="652463"/>
        </p:xfrm>
        <a:graphic>
          <a:graphicData uri="http://schemas.openxmlformats.org/presentationml/2006/ole">
            <mc:AlternateContent xmlns:mc="http://schemas.openxmlformats.org/markup-compatibility/2006">
              <mc:Choice xmlns:v="urn:schemas-microsoft-com:vml" Requires="v">
                <p:oleObj spid="_x0000_s457748" name="Equation" r:id="rId17" imgW="520560" imgH="419040" progId="Equation.DSMT4">
                  <p:embed/>
                </p:oleObj>
              </mc:Choice>
              <mc:Fallback>
                <p:oleObj name="Equation" r:id="rId17" imgW="520560" imgH="419040" progId="Equation.DSMT4">
                  <p:embed/>
                  <p:pic>
                    <p:nvPicPr>
                      <p:cNvPr id="0" name="Picture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96611" y="5904021"/>
                        <a:ext cx="809625"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 name="TextBox 75"/>
          <p:cNvSpPr txBox="1"/>
          <p:nvPr/>
        </p:nvSpPr>
        <p:spPr>
          <a:xfrm>
            <a:off x="3500430" y="6131502"/>
            <a:ext cx="3647152" cy="369332"/>
          </a:xfrm>
          <a:prstGeom prst="rect">
            <a:avLst/>
          </a:prstGeom>
          <a:noFill/>
          <a:ln w="28575">
            <a:noFill/>
          </a:ln>
        </p:spPr>
        <p:txBody>
          <a:bodyPr wrap="none" rtlCol="0">
            <a:spAutoFit/>
          </a:bodyPr>
          <a:lstStyle/>
          <a:p>
            <a:r>
              <a:rPr lang="zh-CN" altLang="en-US" b="1">
                <a:solidFill>
                  <a:srgbClr val="0033CC"/>
                </a:solidFill>
              </a:rPr>
              <a:t>正值，说明位移与虚设力方向相同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horizontal)">
                                      <p:cBhvr>
                                        <p:cTn id="7" dur="500"/>
                                        <p:tgtEl>
                                          <p:spTgt spid="4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ox(in)">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box(in)">
                                      <p:cBhvr>
                                        <p:cTn id="22" dur="500"/>
                                        <p:tgtEl>
                                          <p:spTgt spid="46"/>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blinds(horizontal)">
                                      <p:cBhvr>
                                        <p:cTn id="26" dur="500"/>
                                        <p:tgtEl>
                                          <p:spTgt spid="50"/>
                                        </p:tgtEl>
                                      </p:cBhvr>
                                    </p:animEffect>
                                  </p:childTnLst>
                                </p:cTn>
                              </p:par>
                              <p:par>
                                <p:cTn id="27" presetID="1" presetClass="entr" presetSubtype="0"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77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nodeType="click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blinds(vertical)">
                                      <p:cBhvr>
                                        <p:cTn id="40" dur="500"/>
                                        <p:tgtEl>
                                          <p:spTgt spid="68"/>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7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457736"/>
                                        </p:tgtEl>
                                        <p:attrNameLst>
                                          <p:attrName>style.visibility</p:attrName>
                                        </p:attrNameLst>
                                      </p:cBhvr>
                                      <p:to>
                                        <p:strVal val="visible"/>
                                      </p:to>
                                    </p:set>
                                    <p:anim calcmode="lin" valueType="num">
                                      <p:cBhvr additive="base">
                                        <p:cTn id="48" dur="500" fill="hold"/>
                                        <p:tgtEl>
                                          <p:spTgt spid="457736"/>
                                        </p:tgtEl>
                                        <p:attrNameLst>
                                          <p:attrName>ppt_x</p:attrName>
                                        </p:attrNameLst>
                                      </p:cBhvr>
                                      <p:tavLst>
                                        <p:tav tm="0">
                                          <p:val>
                                            <p:strVal val="0-#ppt_w/2"/>
                                          </p:val>
                                        </p:tav>
                                        <p:tav tm="100000">
                                          <p:val>
                                            <p:strVal val="#ppt_x"/>
                                          </p:val>
                                        </p:tav>
                                      </p:tavLst>
                                    </p:anim>
                                    <p:anim calcmode="lin" valueType="num">
                                      <p:cBhvr additive="base">
                                        <p:cTn id="49" dur="500" fill="hold"/>
                                        <p:tgtEl>
                                          <p:spTgt spid="457736"/>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ipe(left)">
                                      <p:cBhvr>
                                        <p:cTn id="54" dur="500"/>
                                        <p:tgtEl>
                                          <p:spTgt spid="45"/>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blinds(horizontal)">
                                      <p:cBhvr>
                                        <p:cTn id="59" dur="500"/>
                                        <p:tgtEl>
                                          <p:spTgt spid="73"/>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stCondLst>
                                    <p:cond delay="0"/>
                                  </p:stCondLst>
                                  <p:childTnLst>
                                    <p:set>
                                      <p:cBhvr>
                                        <p:cTn id="63" dur="1" fill="hold">
                                          <p:stCondLst>
                                            <p:cond delay="0"/>
                                          </p:stCondLst>
                                        </p:cTn>
                                        <p:tgtEl>
                                          <p:spTgt spid="457737"/>
                                        </p:tgtEl>
                                        <p:attrNameLst>
                                          <p:attrName>style.visibility</p:attrName>
                                        </p:attrNameLst>
                                      </p:cBhvr>
                                      <p:to>
                                        <p:strVal val="visible"/>
                                      </p:to>
                                    </p:set>
                                    <p:anim calcmode="lin" valueType="num">
                                      <p:cBhvr additive="base">
                                        <p:cTn id="64" dur="500" fill="hold"/>
                                        <p:tgtEl>
                                          <p:spTgt spid="457737"/>
                                        </p:tgtEl>
                                        <p:attrNameLst>
                                          <p:attrName>ppt_x</p:attrName>
                                        </p:attrNameLst>
                                      </p:cBhvr>
                                      <p:tavLst>
                                        <p:tav tm="0">
                                          <p:val>
                                            <p:strVal val="0-#ppt_w/2"/>
                                          </p:val>
                                        </p:tav>
                                        <p:tav tm="100000">
                                          <p:val>
                                            <p:strVal val="#ppt_x"/>
                                          </p:val>
                                        </p:tav>
                                      </p:tavLst>
                                    </p:anim>
                                    <p:anim calcmode="lin" valueType="num">
                                      <p:cBhvr additive="base">
                                        <p:cTn id="65" dur="500" fill="hold"/>
                                        <p:tgtEl>
                                          <p:spTgt spid="457737"/>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5"/>
                                        </p:tgtEl>
                                        <p:attrNameLst>
                                          <p:attrName>style.visibility</p:attrName>
                                        </p:attrNameLst>
                                      </p:cBhvr>
                                      <p:to>
                                        <p:strVal val="visible"/>
                                      </p:to>
                                    </p:set>
                                    <p:animEffect transition="in" filter="wipe(left)">
                                      <p:cBhvr>
                                        <p:cTn id="70" dur="500"/>
                                        <p:tgtEl>
                                          <p:spTgt spid="75"/>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457738"/>
                                        </p:tgtEl>
                                        <p:attrNameLst>
                                          <p:attrName>style.visibility</p:attrName>
                                        </p:attrNameLst>
                                      </p:cBhvr>
                                      <p:to>
                                        <p:strVal val="visible"/>
                                      </p:to>
                                    </p:set>
                                    <p:anim calcmode="lin" valueType="num">
                                      <p:cBhvr additive="base">
                                        <p:cTn id="75" dur="500" fill="hold"/>
                                        <p:tgtEl>
                                          <p:spTgt spid="457738"/>
                                        </p:tgtEl>
                                        <p:attrNameLst>
                                          <p:attrName>ppt_x</p:attrName>
                                        </p:attrNameLst>
                                      </p:cBhvr>
                                      <p:tavLst>
                                        <p:tav tm="0">
                                          <p:val>
                                            <p:strVal val="0-#ppt_w/2"/>
                                          </p:val>
                                        </p:tav>
                                        <p:tav tm="100000">
                                          <p:val>
                                            <p:strVal val="#ppt_x"/>
                                          </p:val>
                                        </p:tav>
                                      </p:tavLst>
                                    </p:anim>
                                    <p:anim calcmode="lin" valueType="num">
                                      <p:cBhvr additive="base">
                                        <p:cTn id="76" dur="500" fill="hold"/>
                                        <p:tgtEl>
                                          <p:spTgt spid="457738"/>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nodeType="clickEffect">
                                  <p:stCondLst>
                                    <p:cond delay="0"/>
                                  </p:stCondLst>
                                  <p:childTnLst>
                                    <p:set>
                                      <p:cBhvr>
                                        <p:cTn id="80" dur="1" fill="hold">
                                          <p:stCondLst>
                                            <p:cond delay="0"/>
                                          </p:stCondLst>
                                        </p:cTn>
                                        <p:tgtEl>
                                          <p:spTgt spid="457740"/>
                                        </p:tgtEl>
                                        <p:attrNameLst>
                                          <p:attrName>style.visibility</p:attrName>
                                        </p:attrNameLst>
                                      </p:cBhvr>
                                      <p:to>
                                        <p:strVal val="visible"/>
                                      </p:to>
                                    </p:set>
                                    <p:anim calcmode="lin" valueType="num">
                                      <p:cBhvr additive="base">
                                        <p:cTn id="81" dur="500" fill="hold"/>
                                        <p:tgtEl>
                                          <p:spTgt spid="457740"/>
                                        </p:tgtEl>
                                        <p:attrNameLst>
                                          <p:attrName>ppt_x</p:attrName>
                                        </p:attrNameLst>
                                      </p:cBhvr>
                                      <p:tavLst>
                                        <p:tav tm="0">
                                          <p:val>
                                            <p:strVal val="1+#ppt_w/2"/>
                                          </p:val>
                                        </p:tav>
                                        <p:tav tm="100000">
                                          <p:val>
                                            <p:strVal val="#ppt_x"/>
                                          </p:val>
                                        </p:tav>
                                      </p:tavLst>
                                    </p:anim>
                                    <p:anim calcmode="lin" valueType="num">
                                      <p:cBhvr additive="base">
                                        <p:cTn id="82" dur="500" fill="hold"/>
                                        <p:tgtEl>
                                          <p:spTgt spid="457740"/>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457741"/>
                                        </p:tgtEl>
                                        <p:attrNameLst>
                                          <p:attrName>style.visibility</p:attrName>
                                        </p:attrNameLst>
                                      </p:cBhvr>
                                      <p:to>
                                        <p:strVal val="visible"/>
                                      </p:to>
                                    </p:set>
                                    <p:anim calcmode="lin" valueType="num">
                                      <p:cBhvr additive="base">
                                        <p:cTn id="87" dur="500" fill="hold"/>
                                        <p:tgtEl>
                                          <p:spTgt spid="457741"/>
                                        </p:tgtEl>
                                        <p:attrNameLst>
                                          <p:attrName>ppt_x</p:attrName>
                                        </p:attrNameLst>
                                      </p:cBhvr>
                                      <p:tavLst>
                                        <p:tav tm="0">
                                          <p:val>
                                            <p:strVal val="#ppt_x"/>
                                          </p:val>
                                        </p:tav>
                                        <p:tav tm="100000">
                                          <p:val>
                                            <p:strVal val="#ppt_x"/>
                                          </p:val>
                                        </p:tav>
                                      </p:tavLst>
                                    </p:anim>
                                    <p:anim calcmode="lin" valueType="num">
                                      <p:cBhvr additive="base">
                                        <p:cTn id="88" dur="500" fill="hold"/>
                                        <p:tgtEl>
                                          <p:spTgt spid="457741"/>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4" grpId="0"/>
      <p:bldP spid="45" grpId="0"/>
      <p:bldP spid="42" grpId="0" animBg="1"/>
      <p:bldP spid="46" grpId="0"/>
      <p:bldP spid="74" grpId="0"/>
      <p:bldP spid="75" grpId="0"/>
      <p:bldP spid="7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959848"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：图示刚架，已知各杆的弹性模量</a:t>
            </a:r>
            <a:r>
              <a:rPr lang="en-US" altLang="zh-CN" sz="2000" b="1" i="1">
                <a:latin typeface="Times New Roman" pitchFamily="18" charset="0"/>
                <a:cs typeface="Times New Roman" pitchFamily="18" charset="0"/>
              </a:rPr>
              <a:t>E</a:t>
            </a:r>
            <a:r>
              <a:rPr lang="zh-CN" altLang="en-US" sz="2000" b="1">
                <a:latin typeface="Times New Roman" pitchFamily="18" charset="0"/>
                <a:cs typeface="Times New Roman" pitchFamily="18" charset="0"/>
              </a:rPr>
              <a:t>和截面惯性矩</a:t>
            </a:r>
            <a:r>
              <a:rPr lang="en-US" altLang="zh-CN" sz="2000" b="1" i="1">
                <a:latin typeface="Times New Roman" pitchFamily="18" charset="0"/>
                <a:cs typeface="Times New Roman" pitchFamily="18" charset="0"/>
              </a:rPr>
              <a:t>I</a:t>
            </a:r>
            <a:r>
              <a:rPr lang="zh-CN" altLang="en-US" sz="2000" b="1">
                <a:latin typeface="Times New Roman" pitchFamily="18" charset="0"/>
                <a:cs typeface="Times New Roman" pitchFamily="18" charset="0"/>
              </a:rPr>
              <a:t>均为常数，试求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，和位移量</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928662" y="2863990"/>
            <a:ext cx="5500726"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en-US" altLang="zh-CN" sz="2000" b="1">
                <a:solidFill>
                  <a:srgbClr val="000000"/>
                </a:solidFill>
                <a:latin typeface="+mn-ea"/>
              </a:rPr>
              <a:t>⑶ </a:t>
            </a:r>
            <a:r>
              <a:rPr kumimoji="1" lang="zh-CN" altLang="en-US" sz="2000" b="1">
                <a:solidFill>
                  <a:srgbClr val="000000"/>
                </a:solidFill>
                <a:latin typeface="+mn-ea"/>
              </a:rPr>
              <a:t>求</a:t>
            </a:r>
            <a:r>
              <a:rPr kumimoji="1" lang="en-US" altLang="zh-CN" sz="2000" b="1" i="1">
                <a:solidFill>
                  <a:srgbClr val="000000"/>
                </a:solidFill>
                <a:latin typeface="Times New Roman" pitchFamily="18" charset="0"/>
                <a:ea typeface="楷体_GB2312" pitchFamily="49" charset="-122"/>
              </a:rPr>
              <a:t>B</a:t>
            </a:r>
            <a:r>
              <a:rPr kumimoji="1" lang="zh-CN" altLang="en-US" sz="2000" b="1">
                <a:solidFill>
                  <a:srgbClr val="000000"/>
                </a:solidFill>
                <a:latin typeface="+mn-ea"/>
              </a:rPr>
              <a:t>点的水平位移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H </a:t>
            </a:r>
            <a:r>
              <a:rPr kumimoji="1" lang="zh-CN" altLang="en-US" sz="2000" b="1" kern="1200">
                <a:solidFill>
                  <a:srgbClr val="000000"/>
                </a:solidFill>
                <a:latin typeface="+mn-ea"/>
                <a:cs typeface="+mn-cs"/>
              </a:rPr>
              <a:t>；</a:t>
            </a:r>
          </a:p>
        </p:txBody>
      </p:sp>
      <p:sp>
        <p:nvSpPr>
          <p:cNvPr id="44" name="Rectangle 5"/>
          <p:cNvSpPr>
            <a:spLocks noChangeArrowheads="1"/>
          </p:cNvSpPr>
          <p:nvPr/>
        </p:nvSpPr>
        <p:spPr bwMode="auto">
          <a:xfrm>
            <a:off x="1652598" y="3643314"/>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① 横梁</a:t>
            </a:r>
            <a:r>
              <a:rPr kumimoji="1" lang="en-US" altLang="zh-CN" sz="2000" b="1" i="1" kern="1200">
                <a:solidFill>
                  <a:srgbClr val="000000"/>
                </a:solidFill>
                <a:latin typeface="Times New Roman" pitchFamily="18" charset="0"/>
                <a:ea typeface="楷体_GB2312" pitchFamily="49" charset="-122"/>
                <a:cs typeface="+mn-cs"/>
              </a:rPr>
              <a:t>BC</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sp>
        <p:nvSpPr>
          <p:cNvPr id="45" name="Rectangle 5"/>
          <p:cNvSpPr>
            <a:spLocks noChangeArrowheads="1"/>
          </p:cNvSpPr>
          <p:nvPr/>
        </p:nvSpPr>
        <p:spPr bwMode="auto">
          <a:xfrm>
            <a:off x="1654331" y="4013567"/>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② 竖柱</a:t>
            </a:r>
            <a:r>
              <a:rPr kumimoji="1" lang="en-US" altLang="zh-CN" sz="2000" b="1" i="1" kern="1200">
                <a:solidFill>
                  <a:srgbClr val="000000"/>
                </a:solidFill>
                <a:latin typeface="Times New Roman" pitchFamily="18" charset="0"/>
                <a:ea typeface="楷体_GB2312" pitchFamily="49" charset="-122"/>
                <a:cs typeface="+mn-cs"/>
              </a:rPr>
              <a:t>CA</a:t>
            </a:r>
            <a:r>
              <a:rPr kumimoji="1" lang="en-US" altLang="zh-CN" sz="2000" b="1" kern="1200">
                <a:solidFill>
                  <a:srgbClr val="000000"/>
                </a:solidFill>
                <a:latin typeface="宋体" charset="-122"/>
                <a:ea typeface="楷体_GB2312" pitchFamily="49" charset="-122"/>
                <a:cs typeface="+mn-cs"/>
              </a:rPr>
              <a:t> </a:t>
            </a:r>
            <a:endParaRPr kumimoji="1" lang="en-US" altLang="zh-CN" sz="2000" b="1" kern="1200">
              <a:solidFill>
                <a:srgbClr val="000000"/>
              </a:solidFill>
              <a:latin typeface="Times New Roman" pitchFamily="18" charset="0"/>
              <a:ea typeface="楷体_GB2312" pitchFamily="49" charset="-122"/>
              <a:cs typeface="+mn-cs"/>
            </a:endParaRPr>
          </a:p>
        </p:txBody>
      </p:sp>
      <p:grpSp>
        <p:nvGrpSpPr>
          <p:cNvPr id="4" name="组合 39"/>
          <p:cNvGrpSpPr/>
          <p:nvPr/>
        </p:nvGrpSpPr>
        <p:grpSpPr>
          <a:xfrm>
            <a:off x="6590932" y="1571612"/>
            <a:ext cx="2481662" cy="3400359"/>
            <a:chOff x="6590900" y="4071089"/>
            <a:chExt cx="2481662" cy="3400359"/>
          </a:xfrm>
        </p:grpSpPr>
        <p:grpSp>
          <p:nvGrpSpPr>
            <p:cNvPr id="5" name="组合 30"/>
            <p:cNvGrpSpPr/>
            <p:nvPr/>
          </p:nvGrpSpPr>
          <p:grpSpPr>
            <a:xfrm>
              <a:off x="6590900" y="4203429"/>
              <a:ext cx="2090637" cy="2011653"/>
              <a:chOff x="6696205" y="4203429"/>
              <a:chExt cx="2090637" cy="2011653"/>
            </a:xfrm>
            <a:noFill/>
          </p:grpSpPr>
          <p:pic>
            <p:nvPicPr>
              <p:cNvPr id="456712" name="Picture 8"/>
              <p:cNvPicPr>
                <a:picLocks noChangeAspect="1" noChangeArrowheads="1"/>
              </p:cNvPicPr>
              <p:nvPr/>
            </p:nvPicPr>
            <p:blipFill>
              <a:blip r:embed="rId4"/>
              <a:srcRect/>
              <a:stretch>
                <a:fillRect/>
              </a:stretch>
            </p:blipFill>
            <p:spPr bwMode="auto">
              <a:xfrm>
                <a:off x="6715140" y="4203429"/>
                <a:ext cx="2071702" cy="2011653"/>
              </a:xfrm>
              <a:prstGeom prst="rect">
                <a:avLst/>
              </a:prstGeom>
              <a:grpFill/>
              <a:ln w="9525">
                <a:noFill/>
                <a:miter lim="800000"/>
                <a:headEnd/>
                <a:tailEnd/>
              </a:ln>
              <a:effectLst/>
            </p:spPr>
          </p:pic>
          <p:sp>
            <p:nvSpPr>
              <p:cNvPr id="28" name="TextBox 27"/>
              <p:cNvSpPr txBox="1"/>
              <p:nvPr/>
            </p:nvSpPr>
            <p:spPr>
              <a:xfrm>
                <a:off x="6696205" y="4308834"/>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29" name="TextBox 28"/>
              <p:cNvSpPr txBox="1"/>
              <p:nvPr/>
            </p:nvSpPr>
            <p:spPr>
              <a:xfrm>
                <a:off x="8106329" y="457200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30" name="TextBox 29"/>
              <p:cNvSpPr txBox="1"/>
              <p:nvPr/>
            </p:nvSpPr>
            <p:spPr>
              <a:xfrm>
                <a:off x="8072462" y="564357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grpSp>
          <p:nvGrpSpPr>
            <p:cNvPr id="6" name="组合 37"/>
            <p:cNvGrpSpPr/>
            <p:nvPr/>
          </p:nvGrpSpPr>
          <p:grpSpPr>
            <a:xfrm>
              <a:off x="6706752" y="4071089"/>
              <a:ext cx="2365810" cy="3400359"/>
              <a:chOff x="6706752" y="4071089"/>
              <a:chExt cx="2365810" cy="3400359"/>
            </a:xfrm>
          </p:grpSpPr>
          <p:grpSp>
            <p:nvGrpSpPr>
              <p:cNvPr id="7" name="组合 37"/>
              <p:cNvGrpSpPr/>
              <p:nvPr/>
            </p:nvGrpSpPr>
            <p:grpSpPr>
              <a:xfrm>
                <a:off x="6871228" y="4071089"/>
                <a:ext cx="2201334" cy="433178"/>
                <a:chOff x="6976533" y="4071089"/>
                <a:chExt cx="2201334" cy="433178"/>
              </a:xfrm>
            </p:grpSpPr>
            <p:cxnSp>
              <p:nvCxnSpPr>
                <p:cNvPr id="33" name="直接连接符 32"/>
                <p:cNvCxnSpPr/>
                <p:nvPr/>
              </p:nvCxnSpPr>
              <p:spPr bwMode="auto">
                <a:xfrm rot="5400000" flipH="1" flipV="1">
                  <a:off x="8275487" y="4286256"/>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35" name="任意多边形 34"/>
                <p:cNvSpPr/>
                <p:nvPr/>
              </p:nvSpPr>
              <p:spPr bwMode="auto">
                <a:xfrm>
                  <a:off x="6976533" y="4071942"/>
                  <a:ext cx="1524000" cy="432325"/>
                </a:xfrm>
                <a:custGeom>
                  <a:avLst/>
                  <a:gdLst>
                    <a:gd name="connsiteX0" fmla="*/ 0 w 1524000"/>
                    <a:gd name="connsiteY0" fmla="*/ 395111 h 395111"/>
                    <a:gd name="connsiteX1" fmla="*/ 914400 w 1524000"/>
                    <a:gd name="connsiteY1" fmla="*/ 270933 h 395111"/>
                    <a:gd name="connsiteX2" fmla="*/ 1524000 w 1524000"/>
                    <a:gd name="connsiteY2" fmla="*/ 0 h 395111"/>
                  </a:gdLst>
                  <a:ahLst/>
                  <a:cxnLst>
                    <a:cxn ang="0">
                      <a:pos x="connsiteX0" y="connsiteY0"/>
                    </a:cxn>
                    <a:cxn ang="0">
                      <a:pos x="connsiteX1" y="connsiteY1"/>
                    </a:cxn>
                    <a:cxn ang="0">
                      <a:pos x="connsiteX2" y="connsiteY2"/>
                    </a:cxn>
                  </a:cxnLst>
                  <a:rect l="l" t="t" r="r" b="b"/>
                  <a:pathLst>
                    <a:path w="1524000" h="395111">
                      <a:moveTo>
                        <a:pt x="0" y="395111"/>
                      </a:moveTo>
                      <a:cubicBezTo>
                        <a:pt x="330200" y="365948"/>
                        <a:pt x="660400" y="336785"/>
                        <a:pt x="914400" y="270933"/>
                      </a:cubicBezTo>
                      <a:cubicBezTo>
                        <a:pt x="1168400" y="205081"/>
                        <a:pt x="1346200" y="102540"/>
                        <a:pt x="1524000" y="0"/>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37" name="TextBox 36"/>
                <p:cNvSpPr txBox="1"/>
                <p:nvPr/>
              </p:nvSpPr>
              <p:spPr>
                <a:xfrm>
                  <a:off x="8497873" y="4071089"/>
                  <a:ext cx="67999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a:t>
                  </a:r>
                  <a:r>
                    <a:rPr lang="en-US" altLang="zh-CN" sz="2000" b="1" baseline="30000">
                      <a:solidFill>
                        <a:srgbClr val="C00000"/>
                      </a:solidFill>
                      <a:latin typeface="Times New Roman" pitchFamily="18" charset="0"/>
                      <a:cs typeface="Times New Roman" pitchFamily="18" charset="0"/>
                    </a:rPr>
                    <a:t>2</a:t>
                  </a:r>
                  <a:r>
                    <a:rPr lang="en-US" altLang="zh-CN" b="1">
                      <a:solidFill>
                        <a:srgbClr val="C00000"/>
                      </a:solidFill>
                      <a:latin typeface="Times New Roman" pitchFamily="18" charset="0"/>
                      <a:cs typeface="Times New Roman" pitchFamily="18" charset="0"/>
                    </a:rPr>
                    <a:t>/2</a:t>
                  </a:r>
                  <a:endParaRPr lang="zh-CN" altLang="en-US" b="1">
                    <a:solidFill>
                      <a:srgbClr val="C00000"/>
                    </a:solidFill>
                    <a:latin typeface="Times New Roman" pitchFamily="18" charset="0"/>
                    <a:cs typeface="Times New Roman" pitchFamily="18" charset="0"/>
                  </a:endParaRPr>
                </a:p>
              </p:txBody>
            </p:sp>
          </p:grpSp>
          <p:grpSp>
            <p:nvGrpSpPr>
              <p:cNvPr id="8" name="组合 41"/>
              <p:cNvGrpSpPr/>
              <p:nvPr/>
            </p:nvGrpSpPr>
            <p:grpSpPr>
              <a:xfrm>
                <a:off x="8388200" y="4510270"/>
                <a:ext cx="436213" cy="1517574"/>
                <a:chOff x="8493505" y="4510270"/>
                <a:chExt cx="436213" cy="1517574"/>
              </a:xfrm>
            </p:grpSpPr>
            <p:cxnSp>
              <p:nvCxnSpPr>
                <p:cNvPr id="36" name="直接连接符 35"/>
                <p:cNvCxnSpPr/>
                <p:nvPr/>
              </p:nvCxnSpPr>
              <p:spPr bwMode="auto">
                <a:xfrm rot="10800000" flipH="1" flipV="1">
                  <a:off x="8493505" y="451027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39" name="直接连接符 38"/>
                <p:cNvCxnSpPr/>
                <p:nvPr/>
              </p:nvCxnSpPr>
              <p:spPr bwMode="auto">
                <a:xfrm rot="10800000" flipH="1" flipV="1">
                  <a:off x="8501090" y="6021757"/>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41" name="直接连接符 40"/>
                <p:cNvCxnSpPr/>
                <p:nvPr/>
              </p:nvCxnSpPr>
              <p:spPr bwMode="auto">
                <a:xfrm rot="5400000">
                  <a:off x="8168330" y="5276951"/>
                  <a:ext cx="150019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47" name="TextBox 46"/>
              <p:cNvSpPr txBox="1"/>
              <p:nvPr/>
            </p:nvSpPr>
            <p:spPr>
              <a:xfrm>
                <a:off x="7072330" y="5429264"/>
                <a:ext cx="5164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endParaRPr lang="zh-CN" altLang="en-US" sz="2000" b="1" baseline="-25000">
                  <a:latin typeface="Times New Roman" pitchFamily="18" charset="0"/>
                  <a:cs typeface="Times New Roman" pitchFamily="18" charset="0"/>
                </a:endParaRPr>
              </a:p>
            </p:txBody>
          </p:sp>
          <p:sp>
            <p:nvSpPr>
              <p:cNvPr id="56" name="任意多边形 55"/>
              <p:cNvSpPr/>
              <p:nvPr/>
            </p:nvSpPr>
            <p:spPr bwMode="auto">
              <a:xfrm>
                <a:off x="6706752" y="4538994"/>
                <a:ext cx="1505966" cy="247327"/>
              </a:xfrm>
              <a:custGeom>
                <a:avLst/>
                <a:gdLst>
                  <a:gd name="connsiteX0" fmla="*/ 0 w 1395351"/>
                  <a:gd name="connsiteY0" fmla="*/ 285008 h 290945"/>
                  <a:gd name="connsiteX1" fmla="*/ 492826 w 1395351"/>
                  <a:gd name="connsiteY1" fmla="*/ 243444 h 290945"/>
                  <a:gd name="connsiteX2" fmla="*/ 1395351 w 1395351"/>
                  <a:gd name="connsiteY2" fmla="*/ 0 h 290945"/>
                </a:gdLst>
                <a:ahLst/>
                <a:cxnLst>
                  <a:cxn ang="0">
                    <a:pos x="connsiteX0" y="connsiteY0"/>
                  </a:cxn>
                  <a:cxn ang="0">
                    <a:pos x="connsiteX1" y="connsiteY1"/>
                  </a:cxn>
                  <a:cxn ang="0">
                    <a:pos x="connsiteX2" y="connsiteY2"/>
                  </a:cxn>
                </a:cxnLst>
                <a:rect l="l" t="t" r="r" b="b"/>
                <a:pathLst>
                  <a:path w="1395351" h="290945">
                    <a:moveTo>
                      <a:pt x="0" y="285008"/>
                    </a:moveTo>
                    <a:cubicBezTo>
                      <a:pt x="130134" y="287976"/>
                      <a:pt x="260268" y="290945"/>
                      <a:pt x="492826" y="243444"/>
                    </a:cubicBezTo>
                    <a:cubicBezTo>
                      <a:pt x="725384" y="195943"/>
                      <a:pt x="1060367" y="97971"/>
                      <a:pt x="1395351" y="0"/>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57" name="弧形 56"/>
              <p:cNvSpPr/>
              <p:nvPr/>
            </p:nvSpPr>
            <p:spPr bwMode="auto">
              <a:xfrm>
                <a:off x="8001024" y="4542490"/>
                <a:ext cx="386708" cy="2928958"/>
              </a:xfrm>
              <a:prstGeom prst="arc">
                <a:avLst>
                  <a:gd name="adj1" fmla="val 16200000"/>
                  <a:gd name="adj2" fmla="val 21518681"/>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grpSp>
      <p:sp>
        <p:nvSpPr>
          <p:cNvPr id="46" name="Rectangle 4"/>
          <p:cNvSpPr>
            <a:spLocks noChangeArrowheads="1"/>
          </p:cNvSpPr>
          <p:nvPr/>
        </p:nvSpPr>
        <p:spPr bwMode="auto">
          <a:xfrm>
            <a:off x="1357290" y="3273432"/>
            <a:ext cx="5072098" cy="461665"/>
          </a:xfrm>
          <a:prstGeom prst="rect">
            <a:avLst/>
          </a:prstGeom>
          <a:noFill/>
          <a:ln w="9525">
            <a:noFill/>
            <a:miter lim="800000"/>
            <a:headEnd/>
            <a:tailEnd/>
          </a:ln>
        </p:spPr>
        <p:txBody>
          <a:bodyPr wrap="square">
            <a:spAutoFit/>
          </a:bodyPr>
          <a:lstStyle/>
          <a:p>
            <a:pPr algn="just" rtl="0" fontAlgn="base">
              <a:lnSpc>
                <a:spcPct val="120000"/>
              </a:lnSpc>
              <a:spcBef>
                <a:spcPct val="0"/>
              </a:spcBef>
              <a:spcAft>
                <a:spcPct val="0"/>
              </a:spcAft>
            </a:pPr>
            <a:r>
              <a:rPr kumimoji="1" lang="zh-CN" altLang="en-US" sz="2000" b="1" kern="1200">
                <a:solidFill>
                  <a:srgbClr val="000000"/>
                </a:solidFill>
                <a:latin typeface="+mn-ea"/>
                <a:cs typeface="+mn-cs"/>
              </a:rPr>
              <a:t>    作单位力，画出弯矩图（外侧受拉为正）；</a:t>
            </a:r>
            <a:endParaRPr kumimoji="1" lang="zh-CN" altLang="en-US" sz="2000" kern="1200">
              <a:solidFill>
                <a:srgbClr val="000000"/>
              </a:solidFill>
              <a:latin typeface="+mn-ea"/>
              <a:cs typeface="+mn-cs"/>
            </a:endParaRPr>
          </a:p>
        </p:txBody>
      </p:sp>
      <p:grpSp>
        <p:nvGrpSpPr>
          <p:cNvPr id="9" name="组合 49"/>
          <p:cNvGrpSpPr/>
          <p:nvPr/>
        </p:nvGrpSpPr>
        <p:grpSpPr>
          <a:xfrm>
            <a:off x="6609835" y="4274867"/>
            <a:ext cx="2177007" cy="2011653"/>
            <a:chOff x="6715140" y="4203429"/>
            <a:chExt cx="2177007" cy="2011653"/>
          </a:xfrm>
          <a:noFill/>
        </p:grpSpPr>
        <p:pic>
          <p:nvPicPr>
            <p:cNvPr id="53" name="Picture 8"/>
            <p:cNvPicPr>
              <a:picLocks noChangeAspect="1" noChangeArrowheads="1"/>
            </p:cNvPicPr>
            <p:nvPr/>
          </p:nvPicPr>
          <p:blipFill>
            <a:blip r:embed="rId4"/>
            <a:srcRect/>
            <a:stretch>
              <a:fillRect/>
            </a:stretch>
          </p:blipFill>
          <p:spPr bwMode="auto">
            <a:xfrm>
              <a:off x="6715140" y="4203429"/>
              <a:ext cx="2071702" cy="2011653"/>
            </a:xfrm>
            <a:prstGeom prst="rect">
              <a:avLst/>
            </a:prstGeom>
            <a:grpFill/>
            <a:ln w="9525">
              <a:noFill/>
              <a:miter lim="800000"/>
              <a:headEnd/>
              <a:tailEnd/>
            </a:ln>
            <a:effectLst/>
          </p:spPr>
        </p:pic>
        <p:sp>
          <p:nvSpPr>
            <p:cNvPr id="54" name="TextBox 53"/>
            <p:cNvSpPr txBox="1"/>
            <p:nvPr/>
          </p:nvSpPr>
          <p:spPr>
            <a:xfrm>
              <a:off x="6784369" y="4551374"/>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55" name="TextBox 54"/>
            <p:cNvSpPr txBox="1"/>
            <p:nvPr/>
          </p:nvSpPr>
          <p:spPr>
            <a:xfrm>
              <a:off x="8482155" y="457200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58" name="TextBox 57"/>
            <p:cNvSpPr txBox="1"/>
            <p:nvPr/>
          </p:nvSpPr>
          <p:spPr>
            <a:xfrm>
              <a:off x="8553593" y="5643578"/>
              <a:ext cx="338554" cy="369332"/>
            </a:xfrm>
            <a:prstGeom prst="rect">
              <a:avLst/>
            </a:prstGeom>
            <a:grp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grpSp>
      <p:graphicFrame>
        <p:nvGraphicFramePr>
          <p:cNvPr id="457735" name="Object 7"/>
          <p:cNvGraphicFramePr>
            <a:graphicFrameLocks noChangeAspect="1"/>
          </p:cNvGraphicFramePr>
          <p:nvPr/>
        </p:nvGraphicFramePr>
        <p:xfrm>
          <a:off x="7215206" y="5643578"/>
          <a:ext cx="315913" cy="315913"/>
        </p:xfrm>
        <a:graphic>
          <a:graphicData uri="http://schemas.openxmlformats.org/presentationml/2006/ole">
            <mc:AlternateContent xmlns:mc="http://schemas.openxmlformats.org/markup-compatibility/2006">
              <mc:Choice xmlns:v="urn:schemas-microsoft-com:vml" Requires="v">
                <p:oleObj spid="_x0000_s458762" name="Equation" r:id="rId5" imgW="203040" imgH="203040" progId="Equation.DSMT4">
                  <p:embed/>
                </p:oleObj>
              </mc:Choice>
              <mc:Fallback>
                <p:oleObj name="Equation" r:id="rId5" imgW="203040" imgH="20304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5206" y="5643578"/>
                        <a:ext cx="315913"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组合 62"/>
          <p:cNvGrpSpPr/>
          <p:nvPr/>
        </p:nvGrpSpPr>
        <p:grpSpPr>
          <a:xfrm>
            <a:off x="6441112" y="4143380"/>
            <a:ext cx="432000" cy="457078"/>
            <a:chOff x="6441112" y="4143380"/>
            <a:chExt cx="432000" cy="457078"/>
          </a:xfrm>
        </p:grpSpPr>
        <p:cxnSp>
          <p:nvCxnSpPr>
            <p:cNvPr id="60" name="直接箭头连接符 59"/>
            <p:cNvCxnSpPr/>
            <p:nvPr/>
          </p:nvCxnSpPr>
          <p:spPr bwMode="auto">
            <a:xfrm>
              <a:off x="6441112" y="4598870"/>
              <a:ext cx="432000" cy="158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61" name="TextBox 60"/>
            <p:cNvSpPr txBox="1"/>
            <p:nvPr/>
          </p:nvSpPr>
          <p:spPr>
            <a:xfrm>
              <a:off x="6500826" y="4143380"/>
              <a:ext cx="300082"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grpSp>
      <p:graphicFrame>
        <p:nvGraphicFramePr>
          <p:cNvPr id="457736" name="Object 8"/>
          <p:cNvGraphicFramePr>
            <a:graphicFrameLocks noChangeAspect="1"/>
          </p:cNvGraphicFramePr>
          <p:nvPr/>
        </p:nvGraphicFramePr>
        <p:xfrm>
          <a:off x="3117114" y="3662500"/>
          <a:ext cx="2127250" cy="374650"/>
        </p:xfrm>
        <a:graphic>
          <a:graphicData uri="http://schemas.openxmlformats.org/presentationml/2006/ole">
            <mc:AlternateContent xmlns:mc="http://schemas.openxmlformats.org/markup-compatibility/2006">
              <mc:Choice xmlns:v="urn:schemas-microsoft-com:vml" Requires="v">
                <p:oleObj spid="_x0000_s458763" name="Equation" r:id="rId7" imgW="1371600" imgH="241200" progId="Equation.DSMT4">
                  <p:embed/>
                </p:oleObj>
              </mc:Choice>
              <mc:Fallback>
                <p:oleObj name="Equation" r:id="rId7" imgW="1371600" imgH="241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7114" y="3662500"/>
                        <a:ext cx="21272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 name="组合 72"/>
          <p:cNvGrpSpPr/>
          <p:nvPr/>
        </p:nvGrpSpPr>
        <p:grpSpPr>
          <a:xfrm>
            <a:off x="7949654" y="4592556"/>
            <a:ext cx="438902" cy="1501786"/>
            <a:chOff x="7949654" y="4592556"/>
            <a:chExt cx="438902" cy="1501786"/>
          </a:xfrm>
        </p:grpSpPr>
        <p:cxnSp>
          <p:nvCxnSpPr>
            <p:cNvPr id="70" name="直接连接符 69"/>
            <p:cNvCxnSpPr/>
            <p:nvPr/>
          </p:nvCxnSpPr>
          <p:spPr bwMode="auto">
            <a:xfrm rot="10800000" flipH="1" flipV="1">
              <a:off x="7949654" y="6092754"/>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72" name="直接连接符 71"/>
            <p:cNvCxnSpPr/>
            <p:nvPr/>
          </p:nvCxnSpPr>
          <p:spPr bwMode="auto">
            <a:xfrm rot="5400000">
              <a:off x="7424143" y="5128341"/>
              <a:ext cx="1500198" cy="428628"/>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sp>
        <p:nvSpPr>
          <p:cNvPr id="74" name="TextBox 73"/>
          <p:cNvSpPr txBox="1"/>
          <p:nvPr/>
        </p:nvSpPr>
        <p:spPr>
          <a:xfrm>
            <a:off x="7643834" y="5888714"/>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a</a:t>
            </a:r>
            <a:endParaRPr lang="zh-CN" altLang="en-US" b="1">
              <a:solidFill>
                <a:srgbClr val="C00000"/>
              </a:solidFill>
              <a:latin typeface="Times New Roman" pitchFamily="18" charset="0"/>
              <a:cs typeface="Times New Roman" pitchFamily="18" charset="0"/>
            </a:endParaRPr>
          </a:p>
        </p:txBody>
      </p:sp>
      <p:graphicFrame>
        <p:nvGraphicFramePr>
          <p:cNvPr id="457737" name="Object 9"/>
          <p:cNvGraphicFramePr>
            <a:graphicFrameLocks noChangeAspect="1"/>
          </p:cNvGraphicFramePr>
          <p:nvPr/>
        </p:nvGraphicFramePr>
        <p:xfrm>
          <a:off x="3117114" y="4038876"/>
          <a:ext cx="2127250" cy="374650"/>
        </p:xfrm>
        <a:graphic>
          <a:graphicData uri="http://schemas.openxmlformats.org/presentationml/2006/ole">
            <mc:AlternateContent xmlns:mc="http://schemas.openxmlformats.org/markup-compatibility/2006">
              <mc:Choice xmlns:v="urn:schemas-microsoft-com:vml" Requires="v">
                <p:oleObj spid="_x0000_s458764" name="Equation" r:id="rId9" imgW="1371600" imgH="241200" progId="Equation.DSMT4">
                  <p:embed/>
                </p:oleObj>
              </mc:Choice>
              <mc:Fallback>
                <p:oleObj name="Equation" r:id="rId9" imgW="1371600" imgH="2412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7114" y="4038876"/>
                        <a:ext cx="21272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 name="Rectangle 5"/>
          <p:cNvSpPr>
            <a:spLocks noChangeArrowheads="1"/>
          </p:cNvSpPr>
          <p:nvPr/>
        </p:nvSpPr>
        <p:spPr bwMode="auto">
          <a:xfrm>
            <a:off x="1643042" y="4405398"/>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③ 计算位移</a:t>
            </a:r>
            <a:endParaRPr kumimoji="1" lang="en-US" altLang="zh-CN" sz="2000" b="1" kern="1200">
              <a:solidFill>
                <a:srgbClr val="000000"/>
              </a:solidFill>
              <a:latin typeface="Times New Roman" pitchFamily="18" charset="0"/>
              <a:ea typeface="楷体_GB2312" pitchFamily="49" charset="-122"/>
              <a:cs typeface="+mn-cs"/>
            </a:endParaRPr>
          </a:p>
        </p:txBody>
      </p:sp>
      <p:graphicFrame>
        <p:nvGraphicFramePr>
          <p:cNvPr id="457738" name="Object 10"/>
          <p:cNvGraphicFramePr>
            <a:graphicFrameLocks/>
          </p:cNvGraphicFramePr>
          <p:nvPr/>
        </p:nvGraphicFramePr>
        <p:xfrm>
          <a:off x="2051602" y="4795835"/>
          <a:ext cx="2419350" cy="728662"/>
        </p:xfrm>
        <a:graphic>
          <a:graphicData uri="http://schemas.openxmlformats.org/presentationml/2006/ole">
            <mc:AlternateContent xmlns:mc="http://schemas.openxmlformats.org/markup-compatibility/2006">
              <mc:Choice xmlns:v="urn:schemas-microsoft-com:vml" Requires="v">
                <p:oleObj spid="_x0000_s458765" name="Equation" r:id="rId11" imgW="1562040" imgH="469800" progId="Equation.DSMT4">
                  <p:embed/>
                </p:oleObj>
              </mc:Choice>
              <mc:Fallback>
                <p:oleObj name="Equation" r:id="rId11" imgW="1562040" imgH="469800" progId="Equation.DSMT4">
                  <p:embed/>
                  <p:pic>
                    <p:nvPicPr>
                      <p:cNvPr id="0" name="Object 1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602" y="4795835"/>
                        <a:ext cx="2419350"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7741" name="Object 13"/>
          <p:cNvGraphicFramePr>
            <a:graphicFrameLocks noChangeAspect="1"/>
          </p:cNvGraphicFramePr>
          <p:nvPr/>
        </p:nvGraphicFramePr>
        <p:xfrm>
          <a:off x="2441567" y="5475285"/>
          <a:ext cx="987425" cy="652462"/>
        </p:xfrm>
        <a:graphic>
          <a:graphicData uri="http://schemas.openxmlformats.org/presentationml/2006/ole">
            <mc:AlternateContent xmlns:mc="http://schemas.openxmlformats.org/markup-compatibility/2006">
              <mc:Choice xmlns:v="urn:schemas-microsoft-com:vml" Requires="v">
                <p:oleObj spid="_x0000_s458766" name="Equation" r:id="rId13" imgW="634680" imgH="419040" progId="Equation.DSMT4">
                  <p:embed/>
                </p:oleObj>
              </mc:Choice>
              <mc:Fallback>
                <p:oleObj name="Equation" r:id="rId13" imgW="634680" imgH="41904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1567" y="5475285"/>
                        <a:ext cx="987425" cy="6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 name="TextBox 75"/>
          <p:cNvSpPr txBox="1"/>
          <p:nvPr/>
        </p:nvSpPr>
        <p:spPr>
          <a:xfrm>
            <a:off x="1428728" y="6103028"/>
            <a:ext cx="3647152" cy="369332"/>
          </a:xfrm>
          <a:prstGeom prst="rect">
            <a:avLst/>
          </a:prstGeom>
          <a:noFill/>
          <a:ln w="28575">
            <a:noFill/>
          </a:ln>
        </p:spPr>
        <p:txBody>
          <a:bodyPr wrap="none" rtlCol="0">
            <a:spAutoFit/>
          </a:bodyPr>
          <a:lstStyle/>
          <a:p>
            <a:r>
              <a:rPr lang="zh-CN" altLang="en-US" b="1">
                <a:solidFill>
                  <a:srgbClr val="0033CC"/>
                </a:solidFill>
              </a:rPr>
              <a:t>负值，说明位移与虚设力方向相反</a:t>
            </a:r>
          </a:p>
        </p:txBody>
      </p:sp>
      <p:sp>
        <p:nvSpPr>
          <p:cNvPr id="64" name="Rectangle 4"/>
          <p:cNvSpPr>
            <a:spLocks noChangeArrowheads="1"/>
          </p:cNvSpPr>
          <p:nvPr/>
        </p:nvSpPr>
        <p:spPr bwMode="auto">
          <a:xfrm>
            <a:off x="4929190" y="4929198"/>
            <a:ext cx="1571636"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en-US" altLang="zh-CN" sz="2000" b="1">
                <a:solidFill>
                  <a:srgbClr val="000000"/>
                </a:solidFill>
                <a:latin typeface="+mn-ea"/>
              </a:rPr>
              <a:t>⑷</a:t>
            </a:r>
            <a:r>
              <a:rPr kumimoji="1" lang="zh-CN" altLang="en-US" sz="2000" b="1">
                <a:solidFill>
                  <a:srgbClr val="000000"/>
                </a:solidFill>
                <a:latin typeface="+mn-ea"/>
              </a:rPr>
              <a:t>位移量</a:t>
            </a:r>
            <a:endParaRPr kumimoji="1" lang="zh-CN" altLang="en-US" sz="2000" kern="1200">
              <a:solidFill>
                <a:srgbClr val="000000"/>
              </a:solidFill>
              <a:latin typeface="Times New Roman" pitchFamily="18" charset="0"/>
              <a:cs typeface="Times New Roman" pitchFamily="18" charset="0"/>
            </a:endParaRPr>
          </a:p>
        </p:txBody>
      </p:sp>
      <p:graphicFrame>
        <p:nvGraphicFramePr>
          <p:cNvPr id="458761" name="Object 9"/>
          <p:cNvGraphicFramePr>
            <a:graphicFrameLocks noChangeAspect="1"/>
          </p:cNvGraphicFramePr>
          <p:nvPr/>
        </p:nvGraphicFramePr>
        <p:xfrm>
          <a:off x="5286380" y="5417415"/>
          <a:ext cx="1571636" cy="1083419"/>
        </p:xfrm>
        <a:graphic>
          <a:graphicData uri="http://schemas.openxmlformats.org/presentationml/2006/ole">
            <mc:AlternateContent xmlns:mc="http://schemas.openxmlformats.org/markup-compatibility/2006">
              <mc:Choice xmlns:v="urn:schemas-microsoft-com:vml" Requires="v">
                <p:oleObj spid="_x0000_s458767" name="Equation" r:id="rId15" imgW="1066680" imgH="736560" progId="Equation.DSMT4">
                  <p:embed/>
                </p:oleObj>
              </mc:Choice>
              <mc:Fallback>
                <p:oleObj name="Equation" r:id="rId15" imgW="1066680" imgH="73656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86380" y="5417415"/>
                        <a:ext cx="1571636" cy="1083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box(in)">
                                      <p:cBhvr>
                                        <p:cTn id="12" dur="500"/>
                                        <p:tgtEl>
                                          <p:spTgt spid="46"/>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77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left)">
                                      <p:cBhvr>
                                        <p:cTn id="25" dur="500"/>
                                        <p:tgtEl>
                                          <p:spTgt spid="4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457736"/>
                                        </p:tgtEl>
                                        <p:attrNameLst>
                                          <p:attrName>style.visibility</p:attrName>
                                        </p:attrNameLst>
                                      </p:cBhvr>
                                      <p:to>
                                        <p:strVal val="visible"/>
                                      </p:to>
                                    </p:set>
                                    <p:anim calcmode="lin" valueType="num">
                                      <p:cBhvr additive="base">
                                        <p:cTn id="30" dur="500" fill="hold"/>
                                        <p:tgtEl>
                                          <p:spTgt spid="457736"/>
                                        </p:tgtEl>
                                        <p:attrNameLst>
                                          <p:attrName>ppt_x</p:attrName>
                                        </p:attrNameLst>
                                      </p:cBhvr>
                                      <p:tavLst>
                                        <p:tav tm="0">
                                          <p:val>
                                            <p:strVal val="0-#ppt_w/2"/>
                                          </p:val>
                                        </p:tav>
                                        <p:tav tm="100000">
                                          <p:val>
                                            <p:strVal val="#ppt_x"/>
                                          </p:val>
                                        </p:tav>
                                      </p:tavLst>
                                    </p:anim>
                                    <p:anim calcmode="lin" valueType="num">
                                      <p:cBhvr additive="base">
                                        <p:cTn id="31" dur="500" fill="hold"/>
                                        <p:tgtEl>
                                          <p:spTgt spid="45773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wipe(left)">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linds(horizontal)">
                                      <p:cBhvr>
                                        <p:cTn id="41" dur="500"/>
                                        <p:tgtEl>
                                          <p:spTgt spid="12"/>
                                        </p:tgtEl>
                                      </p:cBhvr>
                                    </p:animEffect>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57737"/>
                                        </p:tgtEl>
                                        <p:attrNameLst>
                                          <p:attrName>style.visibility</p:attrName>
                                        </p:attrNameLst>
                                      </p:cBhvr>
                                      <p:to>
                                        <p:strVal val="visible"/>
                                      </p:to>
                                    </p:set>
                                    <p:anim calcmode="lin" valueType="num">
                                      <p:cBhvr additive="base">
                                        <p:cTn id="49" dur="500" fill="hold"/>
                                        <p:tgtEl>
                                          <p:spTgt spid="457737"/>
                                        </p:tgtEl>
                                        <p:attrNameLst>
                                          <p:attrName>ppt_x</p:attrName>
                                        </p:attrNameLst>
                                      </p:cBhvr>
                                      <p:tavLst>
                                        <p:tav tm="0">
                                          <p:val>
                                            <p:strVal val="0-#ppt_w/2"/>
                                          </p:val>
                                        </p:tav>
                                        <p:tav tm="100000">
                                          <p:val>
                                            <p:strVal val="#ppt_x"/>
                                          </p:val>
                                        </p:tav>
                                      </p:tavLst>
                                    </p:anim>
                                    <p:anim calcmode="lin" valueType="num">
                                      <p:cBhvr additive="base">
                                        <p:cTn id="50" dur="500" fill="hold"/>
                                        <p:tgtEl>
                                          <p:spTgt spid="45773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wipe(left)">
                                      <p:cBhvr>
                                        <p:cTn id="55" dur="500"/>
                                        <p:tgtEl>
                                          <p:spTgt spid="75"/>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457738"/>
                                        </p:tgtEl>
                                        <p:attrNameLst>
                                          <p:attrName>style.visibility</p:attrName>
                                        </p:attrNameLst>
                                      </p:cBhvr>
                                      <p:to>
                                        <p:strVal val="visible"/>
                                      </p:to>
                                    </p:set>
                                    <p:anim calcmode="lin" valueType="num">
                                      <p:cBhvr additive="base">
                                        <p:cTn id="60" dur="500" fill="hold"/>
                                        <p:tgtEl>
                                          <p:spTgt spid="457738"/>
                                        </p:tgtEl>
                                        <p:attrNameLst>
                                          <p:attrName>ppt_x</p:attrName>
                                        </p:attrNameLst>
                                      </p:cBhvr>
                                      <p:tavLst>
                                        <p:tav tm="0">
                                          <p:val>
                                            <p:strVal val="0-#ppt_w/2"/>
                                          </p:val>
                                        </p:tav>
                                        <p:tav tm="100000">
                                          <p:val>
                                            <p:strVal val="#ppt_x"/>
                                          </p:val>
                                        </p:tav>
                                      </p:tavLst>
                                    </p:anim>
                                    <p:anim calcmode="lin" valueType="num">
                                      <p:cBhvr additive="base">
                                        <p:cTn id="61" dur="500" fill="hold"/>
                                        <p:tgtEl>
                                          <p:spTgt spid="457738"/>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457741"/>
                                        </p:tgtEl>
                                        <p:attrNameLst>
                                          <p:attrName>style.visibility</p:attrName>
                                        </p:attrNameLst>
                                      </p:cBhvr>
                                      <p:to>
                                        <p:strVal val="visible"/>
                                      </p:to>
                                    </p:set>
                                    <p:anim calcmode="lin" valueType="num">
                                      <p:cBhvr additive="base">
                                        <p:cTn id="66" dur="500" fill="hold"/>
                                        <p:tgtEl>
                                          <p:spTgt spid="457741"/>
                                        </p:tgtEl>
                                        <p:attrNameLst>
                                          <p:attrName>ppt_x</p:attrName>
                                        </p:attrNameLst>
                                      </p:cBhvr>
                                      <p:tavLst>
                                        <p:tav tm="0">
                                          <p:val>
                                            <p:strVal val="#ppt_x"/>
                                          </p:val>
                                        </p:tav>
                                        <p:tav tm="100000">
                                          <p:val>
                                            <p:strVal val="#ppt_x"/>
                                          </p:val>
                                        </p:tav>
                                      </p:tavLst>
                                    </p:anim>
                                    <p:anim calcmode="lin" valueType="num">
                                      <p:cBhvr additive="base">
                                        <p:cTn id="67" dur="500" fill="hold"/>
                                        <p:tgtEl>
                                          <p:spTgt spid="457741"/>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76"/>
                                        </p:tgtEl>
                                        <p:attrNameLst>
                                          <p:attrName>style.visibility</p:attrName>
                                        </p:attrNameLst>
                                      </p:cBhvr>
                                      <p:to>
                                        <p:strVal val="visible"/>
                                      </p:to>
                                    </p:set>
                                    <p:anim calcmode="lin" valueType="num">
                                      <p:cBhvr additive="base">
                                        <p:cTn id="72" dur="500" fill="hold"/>
                                        <p:tgtEl>
                                          <p:spTgt spid="76"/>
                                        </p:tgtEl>
                                        <p:attrNameLst>
                                          <p:attrName>ppt_x</p:attrName>
                                        </p:attrNameLst>
                                      </p:cBhvr>
                                      <p:tavLst>
                                        <p:tav tm="0">
                                          <p:val>
                                            <p:strVal val="#ppt_x"/>
                                          </p:val>
                                        </p:tav>
                                        <p:tav tm="100000">
                                          <p:val>
                                            <p:strVal val="#ppt_x"/>
                                          </p:val>
                                        </p:tav>
                                      </p:tavLst>
                                    </p:anim>
                                    <p:anim calcmode="lin" valueType="num">
                                      <p:cBhvr additive="base">
                                        <p:cTn id="73"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 presetClass="entr" presetSubtype="16" fill="hold" grpId="0" nodeType="clickEffect">
                                  <p:stCondLst>
                                    <p:cond delay="0"/>
                                  </p:stCondLst>
                                  <p:childTnLst>
                                    <p:set>
                                      <p:cBhvr>
                                        <p:cTn id="77" dur="1" fill="hold">
                                          <p:stCondLst>
                                            <p:cond delay="0"/>
                                          </p:stCondLst>
                                        </p:cTn>
                                        <p:tgtEl>
                                          <p:spTgt spid="64"/>
                                        </p:tgtEl>
                                        <p:attrNameLst>
                                          <p:attrName>style.visibility</p:attrName>
                                        </p:attrNameLst>
                                      </p:cBhvr>
                                      <p:to>
                                        <p:strVal val="visible"/>
                                      </p:to>
                                    </p:set>
                                    <p:animEffect transition="in" filter="box(in)">
                                      <p:cBhvr>
                                        <p:cTn id="78" dur="500"/>
                                        <p:tgtEl>
                                          <p:spTgt spid="64"/>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458761"/>
                                        </p:tgtEl>
                                        <p:attrNameLst>
                                          <p:attrName>style.visibility</p:attrName>
                                        </p:attrNameLst>
                                      </p:cBhvr>
                                      <p:to>
                                        <p:strVal val="visible"/>
                                      </p:to>
                                    </p:set>
                                    <p:anim calcmode="lin" valueType="num">
                                      <p:cBhvr additive="base">
                                        <p:cTn id="83" dur="500" fill="hold"/>
                                        <p:tgtEl>
                                          <p:spTgt spid="458761"/>
                                        </p:tgtEl>
                                        <p:attrNameLst>
                                          <p:attrName>ppt_x</p:attrName>
                                        </p:attrNameLst>
                                      </p:cBhvr>
                                      <p:tavLst>
                                        <p:tav tm="0">
                                          <p:val>
                                            <p:strVal val="#ppt_x"/>
                                          </p:val>
                                        </p:tav>
                                        <p:tav tm="100000">
                                          <p:val>
                                            <p:strVal val="#ppt_x"/>
                                          </p:val>
                                        </p:tav>
                                      </p:tavLst>
                                    </p:anim>
                                    <p:anim calcmode="lin" valueType="num">
                                      <p:cBhvr additive="base">
                                        <p:cTn id="84" dur="500" fill="hold"/>
                                        <p:tgtEl>
                                          <p:spTgt spid="4587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4" grpId="0"/>
      <p:bldP spid="45" grpId="0"/>
      <p:bldP spid="46" grpId="0"/>
      <p:bldP spid="74" grpId="0"/>
      <p:bldP spid="75" grpId="0"/>
      <p:bldP spid="76" grpId="0"/>
      <p:bldP spid="6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：平面桁架如图，已知各杆截面积均为</a:t>
            </a:r>
            <a:r>
              <a:rPr lang="en-US" altLang="zh-CN" sz="2000" b="1" i="1">
                <a:latin typeface="Times New Roman" pitchFamily="18" charset="0"/>
                <a:cs typeface="Times New Roman" pitchFamily="18" charset="0"/>
              </a:rPr>
              <a:t>A</a:t>
            </a:r>
            <a:r>
              <a:rPr lang="en-US" altLang="zh-CN" sz="2000" b="1">
                <a:latin typeface="Times New Roman" pitchFamily="18" charset="0"/>
                <a:cs typeface="Times New Roman" pitchFamily="18" charset="0"/>
              </a:rPr>
              <a:t>=0.4×10</a:t>
            </a:r>
            <a:r>
              <a:rPr lang="en-US" altLang="zh-CN" sz="2000" b="1" baseline="30000">
                <a:latin typeface="Times New Roman" pitchFamily="18" charset="0"/>
                <a:cs typeface="Times New Roman" pitchFamily="18" charset="0"/>
              </a:rPr>
              <a:t>-2</a:t>
            </a:r>
            <a:r>
              <a:rPr lang="en-US" altLang="zh-CN" sz="2000" b="1">
                <a:latin typeface="Times New Roman" pitchFamily="18" charset="0"/>
                <a:cs typeface="Times New Roman" pitchFamily="18" charset="0"/>
              </a:rPr>
              <a:t>m</a:t>
            </a:r>
            <a:r>
              <a:rPr lang="en-US" altLang="zh-CN" sz="2000" b="1" baseline="30000">
                <a:latin typeface="Times New Roman" pitchFamily="18" charset="0"/>
                <a:cs typeface="Times New Roman" pitchFamily="18" charset="0"/>
              </a:rPr>
              <a:t>2</a:t>
            </a:r>
            <a:r>
              <a:rPr lang="zh-CN" altLang="en-US" sz="2000" b="1">
                <a:latin typeface="Times New Roman" pitchFamily="18" charset="0"/>
                <a:cs typeface="Times New Roman" pitchFamily="18" charset="0"/>
              </a:rPr>
              <a:t>弹性横量</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E</a:t>
            </a:r>
            <a:r>
              <a:rPr lang="en-US" altLang="zh-CN" sz="2000" b="1">
                <a:latin typeface="Times New Roman" pitchFamily="18" charset="0"/>
                <a:cs typeface="Times New Roman" pitchFamily="18" charset="0"/>
              </a:rPr>
              <a:t>=200GPa</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点和</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lang="zh-CN" altLang="en-US" sz="2000" b="1" i="1">
                <a:latin typeface="Times New Roman" pitchFamily="18" charset="0"/>
                <a:cs typeface="Times New Roman" pitchFamily="18" charset="0"/>
              </a:rPr>
              <a:t>、</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928662" y="4786322"/>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en-US" altLang="zh-CN" sz="2000" b="1">
                <a:solidFill>
                  <a:srgbClr val="000000"/>
                </a:solidFill>
                <a:latin typeface="+mn-ea"/>
              </a:rPr>
              <a:t>⑴ </a:t>
            </a:r>
            <a:r>
              <a:rPr kumimoji="1" lang="zh-CN" altLang="en-US" sz="2000" b="1">
                <a:solidFill>
                  <a:srgbClr val="000000"/>
                </a:solidFill>
                <a:latin typeface="+mn-ea"/>
              </a:rPr>
              <a:t>求出实际荷载状态下各杆的内力；</a:t>
            </a:r>
            <a:endParaRPr kumimoji="1" lang="zh-CN" altLang="en-US" sz="2000" b="1" kern="1200">
              <a:solidFill>
                <a:srgbClr val="000000"/>
              </a:solidFill>
              <a:latin typeface="+mn-ea"/>
              <a:cs typeface="+mn-cs"/>
            </a:endParaRPr>
          </a:p>
        </p:txBody>
      </p:sp>
      <p:sp>
        <p:nvSpPr>
          <p:cNvPr id="46" name="Rectangle 4"/>
          <p:cNvSpPr>
            <a:spLocks noChangeArrowheads="1"/>
          </p:cNvSpPr>
          <p:nvPr/>
        </p:nvSpPr>
        <p:spPr bwMode="auto">
          <a:xfrm>
            <a:off x="1342050" y="5195764"/>
            <a:ext cx="6301784" cy="461665"/>
          </a:xfrm>
          <a:prstGeom prst="rect">
            <a:avLst/>
          </a:prstGeom>
          <a:noFill/>
          <a:ln w="9525">
            <a:noFill/>
            <a:miter lim="800000"/>
            <a:headEnd/>
            <a:tailEnd/>
          </a:ln>
        </p:spPr>
        <p:txBody>
          <a:bodyPr wrap="square">
            <a:spAutoFit/>
          </a:bodyPr>
          <a:lstStyle/>
          <a:p>
            <a:pPr algn="just" fontAlgn="base">
              <a:lnSpc>
                <a:spcPct val="120000"/>
              </a:lnSpc>
              <a:spcBef>
                <a:spcPct val="0"/>
              </a:spcBef>
              <a:spcAft>
                <a:spcPct val="0"/>
              </a:spcAft>
            </a:pPr>
            <a:r>
              <a:rPr kumimoji="1" lang="zh-CN" altLang="en-US" sz="2000" b="1">
                <a:solidFill>
                  <a:srgbClr val="000000"/>
                </a:solidFill>
                <a:latin typeface="+mn-ea"/>
              </a:rPr>
              <a:t>⑵</a:t>
            </a:r>
            <a:r>
              <a:rPr kumimoji="1" lang="en-US" altLang="zh-CN" sz="2000" b="1">
                <a:solidFill>
                  <a:srgbClr val="000000"/>
                </a:solidFill>
                <a:latin typeface="+mn-ea"/>
              </a:rPr>
              <a:t> </a:t>
            </a:r>
            <a:r>
              <a:rPr kumimoji="1" lang="zh-CN" altLang="en-US" sz="2000" b="1">
                <a:solidFill>
                  <a:srgbClr val="000000"/>
                </a:solidFill>
                <a:latin typeface="+mn-ea"/>
              </a:rPr>
              <a:t>求</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kumimoji="1" lang="zh-CN" altLang="en-US" sz="2000" b="1">
                <a:solidFill>
                  <a:srgbClr val="000000"/>
                </a:solidFill>
                <a:latin typeface="+mn-ea"/>
              </a:rPr>
              <a:t>；</a:t>
            </a:r>
            <a:endParaRPr kumimoji="1" lang="zh-CN" altLang="en-US" sz="2000" kern="1200">
              <a:solidFill>
                <a:srgbClr val="000000"/>
              </a:solidFill>
              <a:latin typeface="+mn-ea"/>
              <a:cs typeface="+mn-cs"/>
            </a:endParaRPr>
          </a:p>
        </p:txBody>
      </p:sp>
      <p:grpSp>
        <p:nvGrpSpPr>
          <p:cNvPr id="51" name="组合 50"/>
          <p:cNvGrpSpPr/>
          <p:nvPr/>
        </p:nvGrpSpPr>
        <p:grpSpPr>
          <a:xfrm>
            <a:off x="1476374" y="2428868"/>
            <a:ext cx="3024188" cy="2266950"/>
            <a:chOff x="1262060" y="2428868"/>
            <a:chExt cx="3024188" cy="2266950"/>
          </a:xfrm>
        </p:grpSpPr>
        <p:graphicFrame>
          <p:nvGraphicFramePr>
            <p:cNvPr id="420867" name="Object 3"/>
            <p:cNvGraphicFramePr>
              <a:graphicFrameLocks noChangeAspect="1"/>
            </p:cNvGraphicFramePr>
            <p:nvPr/>
          </p:nvGraphicFramePr>
          <p:xfrm>
            <a:off x="1262060" y="2428868"/>
            <a:ext cx="3024188" cy="2266950"/>
          </p:xfrm>
          <a:graphic>
            <a:graphicData uri="http://schemas.openxmlformats.org/presentationml/2006/ole">
              <mc:AlternateContent xmlns:mc="http://schemas.openxmlformats.org/markup-compatibility/2006">
                <mc:Choice xmlns:v="urn:schemas-microsoft-com:vml" Requires="v">
                  <p:oleObj spid="_x0000_s459786" name="AutoCAD Drawing" r:id="rId4" imgW="9067680" imgH="5267160" progId="">
                    <p:embed/>
                  </p:oleObj>
                </mc:Choice>
                <mc:Fallback>
                  <p:oleObj name="AutoCAD Drawing" r:id="rId4" imgW="9067680" imgH="526716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1227" t="8179" r="50066" b="40561"/>
                        <a:stretch>
                          <a:fillRect/>
                        </a:stretch>
                      </p:blipFill>
                      <p:spPr bwMode="auto">
                        <a:xfrm>
                          <a:off x="1262060" y="2428868"/>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TextBox 49"/>
            <p:cNvSpPr txBox="1"/>
            <p:nvPr/>
          </p:nvSpPr>
          <p:spPr>
            <a:xfrm>
              <a:off x="2673668" y="3843980"/>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67" name="组合 66"/>
          <p:cNvGrpSpPr/>
          <p:nvPr/>
        </p:nvGrpSpPr>
        <p:grpSpPr>
          <a:xfrm>
            <a:off x="5218446" y="2428868"/>
            <a:ext cx="3068330" cy="2286016"/>
            <a:chOff x="5027924" y="2571744"/>
            <a:chExt cx="3068330" cy="2286016"/>
          </a:xfrm>
        </p:grpSpPr>
        <p:graphicFrame>
          <p:nvGraphicFramePr>
            <p:cNvPr id="52" name="Object 3"/>
            <p:cNvGraphicFramePr>
              <a:graphicFrameLocks noChangeAspect="1"/>
            </p:cNvGraphicFramePr>
            <p:nvPr/>
          </p:nvGraphicFramePr>
          <p:xfrm>
            <a:off x="5072066" y="2571744"/>
            <a:ext cx="3024188" cy="2266950"/>
          </p:xfrm>
          <a:graphic>
            <a:graphicData uri="http://schemas.openxmlformats.org/presentationml/2006/ole">
              <mc:AlternateContent xmlns:mc="http://schemas.openxmlformats.org/markup-compatibility/2006">
                <mc:Choice xmlns:v="urn:schemas-microsoft-com:vml" Requires="v">
                  <p:oleObj spid="_x0000_s459787" name="AutoCAD Drawing" r:id="rId6" imgW="9067680" imgH="5267160" progId="">
                    <p:embed/>
                  </p:oleObj>
                </mc:Choice>
                <mc:Fallback>
                  <p:oleObj name="AutoCAD Drawing" r:id="rId6" imgW="9067680" imgH="5267160" progId="">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l="11227" t="8179" r="50066" b="40561"/>
                        <a:stretch>
                          <a:fillRect/>
                        </a:stretch>
                      </p:blipFill>
                      <p:spPr bwMode="auto">
                        <a:xfrm>
                          <a:off x="5072066" y="2571744"/>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3" name="组合 62"/>
            <p:cNvGrpSpPr/>
            <p:nvPr/>
          </p:nvGrpSpPr>
          <p:grpSpPr>
            <a:xfrm>
              <a:off x="5715008" y="4572008"/>
              <a:ext cx="2000264" cy="285752"/>
              <a:chOff x="5715008" y="4572008"/>
              <a:chExt cx="2000264" cy="285752"/>
            </a:xfrm>
          </p:grpSpPr>
          <p:sp>
            <p:nvSpPr>
              <p:cNvPr id="59" name="矩形 58"/>
              <p:cNvSpPr/>
              <p:nvPr/>
            </p:nvSpPr>
            <p:spPr bwMode="auto">
              <a:xfrm>
                <a:off x="5715008" y="4572008"/>
                <a:ext cx="1857388"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sp>
            <p:nvSpPr>
              <p:cNvPr id="62" name="矩形 61"/>
              <p:cNvSpPr/>
              <p:nvPr/>
            </p:nvSpPr>
            <p:spPr bwMode="auto">
              <a:xfrm>
                <a:off x="7572396" y="4710908"/>
                <a:ext cx="142876" cy="142876"/>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65" name="矩形 64"/>
            <p:cNvSpPr/>
            <p:nvPr/>
          </p:nvSpPr>
          <p:spPr bwMode="auto">
            <a:xfrm>
              <a:off x="5027924" y="2928934"/>
              <a:ext cx="357190" cy="107157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66" name="TextBox 65"/>
            <p:cNvSpPr txBox="1"/>
            <p:nvPr/>
          </p:nvSpPr>
          <p:spPr>
            <a:xfrm>
              <a:off x="6500826" y="4010954"/>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sp>
        <p:nvSpPr>
          <p:cNvPr id="69" name="TextBox 68"/>
          <p:cNvSpPr txBox="1"/>
          <p:nvPr/>
        </p:nvSpPr>
        <p:spPr>
          <a:xfrm>
            <a:off x="6741335" y="3442648"/>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1" name="TextBox 70"/>
          <p:cNvSpPr txBox="1"/>
          <p:nvPr/>
        </p:nvSpPr>
        <p:spPr>
          <a:xfrm>
            <a:off x="6341104" y="3442648"/>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3" name="TextBox 72"/>
          <p:cNvSpPr txBox="1"/>
          <p:nvPr/>
        </p:nvSpPr>
        <p:spPr>
          <a:xfrm>
            <a:off x="7125984" y="3398662"/>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7" name="TextBox 76"/>
          <p:cNvSpPr txBox="1"/>
          <p:nvPr/>
        </p:nvSpPr>
        <p:spPr>
          <a:xfrm>
            <a:off x="6268728" y="2968181"/>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8" name="TextBox 77"/>
          <p:cNvSpPr txBox="1"/>
          <p:nvPr/>
        </p:nvSpPr>
        <p:spPr>
          <a:xfrm>
            <a:off x="7067996" y="3673808"/>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79" name="TextBox 78"/>
          <p:cNvSpPr txBox="1"/>
          <p:nvPr/>
        </p:nvSpPr>
        <p:spPr>
          <a:xfrm>
            <a:off x="6245886" y="3673808"/>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80" name="TextBox 79"/>
          <p:cNvSpPr txBox="1"/>
          <p:nvPr/>
        </p:nvSpPr>
        <p:spPr>
          <a:xfrm>
            <a:off x="5786446" y="3214686"/>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-24</a:t>
            </a:r>
            <a:endParaRPr lang="zh-CN" altLang="en-US" b="1">
              <a:solidFill>
                <a:srgbClr val="C00000"/>
              </a:solidFill>
              <a:latin typeface="Times New Roman" pitchFamily="18" charset="0"/>
              <a:cs typeface="Times New Roman" pitchFamily="18" charset="0"/>
            </a:endParaRPr>
          </a:p>
        </p:txBody>
      </p:sp>
      <p:sp>
        <p:nvSpPr>
          <p:cNvPr id="81" name="TextBox 80"/>
          <p:cNvSpPr txBox="1"/>
          <p:nvPr/>
        </p:nvSpPr>
        <p:spPr>
          <a:xfrm>
            <a:off x="1714480" y="5600658"/>
            <a:ext cx="3775393" cy="400110"/>
          </a:xfrm>
          <a:prstGeom prst="rect">
            <a:avLst/>
          </a:prstGeom>
          <a:noFill/>
          <a:ln w="28575">
            <a:noFill/>
          </a:ln>
        </p:spPr>
        <p:txBody>
          <a:bodyPr wrap="none" rtlCol="0">
            <a:spAutoFit/>
          </a:bodyPr>
          <a:lstStyle/>
          <a:p>
            <a:r>
              <a:rPr lang="zh-CN" altLang="en-US" sz="2000" b="1">
                <a:solidFill>
                  <a:srgbClr val="C00000"/>
                </a:solidFill>
              </a:rPr>
              <a:t>思考：能否预估桁架变形情况？</a:t>
            </a:r>
          </a:p>
        </p:txBody>
      </p:sp>
      <p:grpSp>
        <p:nvGrpSpPr>
          <p:cNvPr id="112" name="组合 111"/>
          <p:cNvGrpSpPr/>
          <p:nvPr/>
        </p:nvGrpSpPr>
        <p:grpSpPr>
          <a:xfrm>
            <a:off x="2184552" y="2989424"/>
            <a:ext cx="1673068" cy="1082518"/>
            <a:chOff x="2184552" y="2989424"/>
            <a:chExt cx="1673068" cy="1082518"/>
          </a:xfrm>
        </p:grpSpPr>
        <p:cxnSp>
          <p:nvCxnSpPr>
            <p:cNvPr id="90" name="直接连接符 89"/>
            <p:cNvCxnSpPr/>
            <p:nvPr/>
          </p:nvCxnSpPr>
          <p:spPr bwMode="auto">
            <a:xfrm>
              <a:off x="2228506" y="3843668"/>
              <a:ext cx="771858" cy="85398"/>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91" name="直接连接符 90"/>
            <p:cNvCxnSpPr/>
            <p:nvPr/>
          </p:nvCxnSpPr>
          <p:spPr bwMode="auto">
            <a:xfrm>
              <a:off x="3064822" y="3943026"/>
              <a:ext cx="792798" cy="128916"/>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93" name="直接连接符 92"/>
            <p:cNvCxnSpPr/>
            <p:nvPr/>
          </p:nvCxnSpPr>
          <p:spPr bwMode="auto">
            <a:xfrm rot="5400000">
              <a:off x="1792437" y="3381539"/>
              <a:ext cx="785818"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98" name="直接连接符 97"/>
            <p:cNvCxnSpPr>
              <a:cxnSpLocks noChangeAspect="1"/>
            </p:cNvCxnSpPr>
            <p:nvPr/>
          </p:nvCxnSpPr>
          <p:spPr bwMode="auto">
            <a:xfrm rot="5400000" flipH="1" flipV="1">
              <a:off x="2848787" y="3670448"/>
              <a:ext cx="435729" cy="80498"/>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01" name="直接连接符 100"/>
            <p:cNvCxnSpPr>
              <a:cxnSpLocks noChangeAspect="1"/>
            </p:cNvCxnSpPr>
            <p:nvPr/>
          </p:nvCxnSpPr>
          <p:spPr bwMode="auto">
            <a:xfrm flipV="1">
              <a:off x="2236822" y="3441793"/>
              <a:ext cx="899438" cy="366219"/>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05" name="直接连接符 104"/>
            <p:cNvCxnSpPr>
              <a:cxnSpLocks/>
            </p:cNvCxnSpPr>
            <p:nvPr/>
          </p:nvCxnSpPr>
          <p:spPr bwMode="auto">
            <a:xfrm>
              <a:off x="2188795" y="3002422"/>
              <a:ext cx="936000" cy="432000"/>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10" name="直接连接符 109"/>
            <p:cNvCxnSpPr>
              <a:cxnSpLocks/>
            </p:cNvCxnSpPr>
            <p:nvPr/>
          </p:nvCxnSpPr>
          <p:spPr bwMode="auto">
            <a:xfrm>
              <a:off x="3143240" y="3456920"/>
              <a:ext cx="714380" cy="615022"/>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 presetClass="entr" presetSubtype="16"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ox(in)">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ox(in)">
                                      <p:cBhvr>
                                        <p:cTn id="17" dur="500"/>
                                        <p:tgtEl>
                                          <p:spTgt spid="27"/>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
                                        </p:tgtEl>
                                        <p:attrNameLst>
                                          <p:attrName>style.visibility</p:attrName>
                                        </p:attrNameLst>
                                      </p:cBhvr>
                                      <p:to>
                                        <p:strVal val="visible"/>
                                      </p:to>
                                    </p:set>
                                    <p:anim calcmode="lin" valueType="num">
                                      <p:cBhvr additive="base">
                                        <p:cTn id="25" dur="500" fill="hold"/>
                                        <p:tgtEl>
                                          <p:spTgt spid="71"/>
                                        </p:tgtEl>
                                        <p:attrNameLst>
                                          <p:attrName>ppt_x</p:attrName>
                                        </p:attrNameLst>
                                      </p:cBhvr>
                                      <p:tavLst>
                                        <p:tav tm="0">
                                          <p:val>
                                            <p:strVal val="#ppt_x"/>
                                          </p:val>
                                        </p:tav>
                                        <p:tav tm="100000">
                                          <p:val>
                                            <p:strVal val="#ppt_x"/>
                                          </p:val>
                                        </p:tav>
                                      </p:tavLst>
                                    </p:anim>
                                    <p:anim calcmode="lin" valueType="num">
                                      <p:cBhvr additive="base">
                                        <p:cTn id="26" dur="500" fill="hold"/>
                                        <p:tgtEl>
                                          <p:spTgt spid="7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anim calcmode="lin" valueType="num">
                                      <p:cBhvr additive="base">
                                        <p:cTn id="29" dur="500" fill="hold"/>
                                        <p:tgtEl>
                                          <p:spTgt spid="69"/>
                                        </p:tgtEl>
                                        <p:attrNameLst>
                                          <p:attrName>ppt_x</p:attrName>
                                        </p:attrNameLst>
                                      </p:cBhvr>
                                      <p:tavLst>
                                        <p:tav tm="0">
                                          <p:val>
                                            <p:strVal val="#ppt_x"/>
                                          </p:val>
                                        </p:tav>
                                        <p:tav tm="100000">
                                          <p:val>
                                            <p:strVal val="#ppt_x"/>
                                          </p:val>
                                        </p:tav>
                                      </p:tavLst>
                                    </p:anim>
                                    <p:anim calcmode="lin" valueType="num">
                                      <p:cBhvr additive="base">
                                        <p:cTn id="3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anim calcmode="lin" valueType="num">
                                      <p:cBhvr additive="base">
                                        <p:cTn id="35" dur="500" fill="hold"/>
                                        <p:tgtEl>
                                          <p:spTgt spid="73"/>
                                        </p:tgtEl>
                                        <p:attrNameLst>
                                          <p:attrName>ppt_x</p:attrName>
                                        </p:attrNameLst>
                                      </p:cBhvr>
                                      <p:tavLst>
                                        <p:tav tm="0">
                                          <p:val>
                                            <p:strVal val="#ppt_x"/>
                                          </p:val>
                                        </p:tav>
                                        <p:tav tm="100000">
                                          <p:val>
                                            <p:strVal val="#ppt_x"/>
                                          </p:val>
                                        </p:tav>
                                      </p:tavLst>
                                    </p:anim>
                                    <p:anim calcmode="lin" valueType="num">
                                      <p:cBhvr additive="base">
                                        <p:cTn id="36" dur="500" fill="hold"/>
                                        <p:tgtEl>
                                          <p:spTgt spid="7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anim calcmode="lin" valueType="num">
                                      <p:cBhvr additive="base">
                                        <p:cTn id="39" dur="500" fill="hold"/>
                                        <p:tgtEl>
                                          <p:spTgt spid="77"/>
                                        </p:tgtEl>
                                        <p:attrNameLst>
                                          <p:attrName>ppt_x</p:attrName>
                                        </p:attrNameLst>
                                      </p:cBhvr>
                                      <p:tavLst>
                                        <p:tav tm="0">
                                          <p:val>
                                            <p:strVal val="#ppt_x"/>
                                          </p:val>
                                        </p:tav>
                                        <p:tav tm="100000">
                                          <p:val>
                                            <p:strVal val="#ppt_x"/>
                                          </p:val>
                                        </p:tav>
                                      </p:tavLst>
                                    </p:anim>
                                    <p:anim calcmode="lin" valueType="num">
                                      <p:cBhvr additive="base">
                                        <p:cTn id="40" dur="500" fill="hold"/>
                                        <p:tgtEl>
                                          <p:spTgt spid="7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 calcmode="lin" valueType="num">
                                      <p:cBhvr additive="base">
                                        <p:cTn id="43" dur="500" fill="hold"/>
                                        <p:tgtEl>
                                          <p:spTgt spid="78"/>
                                        </p:tgtEl>
                                        <p:attrNameLst>
                                          <p:attrName>ppt_x</p:attrName>
                                        </p:attrNameLst>
                                      </p:cBhvr>
                                      <p:tavLst>
                                        <p:tav tm="0">
                                          <p:val>
                                            <p:strVal val="#ppt_x"/>
                                          </p:val>
                                        </p:tav>
                                        <p:tav tm="100000">
                                          <p:val>
                                            <p:strVal val="#ppt_x"/>
                                          </p:val>
                                        </p:tav>
                                      </p:tavLst>
                                    </p:anim>
                                    <p:anim calcmode="lin" valueType="num">
                                      <p:cBhvr additive="base">
                                        <p:cTn id="44" dur="500" fill="hold"/>
                                        <p:tgtEl>
                                          <p:spTgt spid="7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anim calcmode="lin" valueType="num">
                                      <p:cBhvr additive="base">
                                        <p:cTn id="47" dur="500" fill="hold"/>
                                        <p:tgtEl>
                                          <p:spTgt spid="79"/>
                                        </p:tgtEl>
                                        <p:attrNameLst>
                                          <p:attrName>ppt_x</p:attrName>
                                        </p:attrNameLst>
                                      </p:cBhvr>
                                      <p:tavLst>
                                        <p:tav tm="0">
                                          <p:val>
                                            <p:strVal val="#ppt_x"/>
                                          </p:val>
                                        </p:tav>
                                        <p:tav tm="100000">
                                          <p:val>
                                            <p:strVal val="#ppt_x"/>
                                          </p:val>
                                        </p:tav>
                                      </p:tavLst>
                                    </p:anim>
                                    <p:anim calcmode="lin" valueType="num">
                                      <p:cBhvr additive="base">
                                        <p:cTn id="48"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80"/>
                                        </p:tgtEl>
                                        <p:attrNameLst>
                                          <p:attrName>style.visibility</p:attrName>
                                        </p:attrNameLst>
                                      </p:cBhvr>
                                      <p:to>
                                        <p:strVal val="visible"/>
                                      </p:to>
                                    </p:set>
                                    <p:anim calcmode="lin" valueType="num">
                                      <p:cBhvr additive="base">
                                        <p:cTn id="53" dur="500" fill="hold"/>
                                        <p:tgtEl>
                                          <p:spTgt spid="80"/>
                                        </p:tgtEl>
                                        <p:attrNameLst>
                                          <p:attrName>ppt_x</p:attrName>
                                        </p:attrNameLst>
                                      </p:cBhvr>
                                      <p:tavLst>
                                        <p:tav tm="0">
                                          <p:val>
                                            <p:strVal val="#ppt_x"/>
                                          </p:val>
                                        </p:tav>
                                        <p:tav tm="100000">
                                          <p:val>
                                            <p:strVal val="#ppt_x"/>
                                          </p:val>
                                        </p:tav>
                                      </p:tavLst>
                                    </p:anim>
                                    <p:anim calcmode="lin" valueType="num">
                                      <p:cBhvr additive="base">
                                        <p:cTn id="54"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box(in)">
                                      <p:cBhvr>
                                        <p:cTn id="59" dur="500"/>
                                        <p:tgtEl>
                                          <p:spTgt spid="46"/>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81"/>
                                        </p:tgtEl>
                                        <p:attrNameLst>
                                          <p:attrName>style.visibility</p:attrName>
                                        </p:attrNameLst>
                                      </p:cBhvr>
                                      <p:to>
                                        <p:strVal val="visible"/>
                                      </p:to>
                                    </p:set>
                                    <p:anim calcmode="lin" valueType="num">
                                      <p:cBhvr additive="base">
                                        <p:cTn id="64" dur="500" fill="hold"/>
                                        <p:tgtEl>
                                          <p:spTgt spid="81"/>
                                        </p:tgtEl>
                                        <p:attrNameLst>
                                          <p:attrName>ppt_x</p:attrName>
                                        </p:attrNameLst>
                                      </p:cBhvr>
                                      <p:tavLst>
                                        <p:tav tm="0">
                                          <p:val>
                                            <p:strVal val="#ppt_x"/>
                                          </p:val>
                                        </p:tav>
                                        <p:tav tm="100000">
                                          <p:val>
                                            <p:strVal val="#ppt_x"/>
                                          </p:val>
                                        </p:tav>
                                      </p:tavLst>
                                    </p:anim>
                                    <p:anim calcmode="lin" valueType="num">
                                      <p:cBhvr additive="base">
                                        <p:cTn id="65"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112"/>
                                        </p:tgtEl>
                                        <p:attrNameLst>
                                          <p:attrName>style.visibility</p:attrName>
                                        </p:attrNameLst>
                                      </p:cBhvr>
                                      <p:to>
                                        <p:strVal val="visible"/>
                                      </p:to>
                                    </p:set>
                                    <p:anim calcmode="lin" valueType="num">
                                      <p:cBhvr additive="base">
                                        <p:cTn id="70" dur="500" fill="hold"/>
                                        <p:tgtEl>
                                          <p:spTgt spid="112"/>
                                        </p:tgtEl>
                                        <p:attrNameLst>
                                          <p:attrName>ppt_x</p:attrName>
                                        </p:attrNameLst>
                                      </p:cBhvr>
                                      <p:tavLst>
                                        <p:tav tm="0">
                                          <p:val>
                                            <p:strVal val="#ppt_x"/>
                                          </p:val>
                                        </p:tav>
                                        <p:tav tm="100000">
                                          <p:val>
                                            <p:strVal val="#ppt_x"/>
                                          </p:val>
                                        </p:tav>
                                      </p:tavLst>
                                    </p:anim>
                                    <p:anim calcmode="lin" valueType="num">
                                      <p:cBhvr additive="base">
                                        <p:cTn id="71"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46" grpId="0"/>
      <p:bldP spid="69" grpId="0" animBg="1"/>
      <p:bldP spid="71" grpId="0" animBg="1"/>
      <p:bldP spid="73" grpId="0" animBg="1"/>
      <p:bldP spid="77" grpId="0" animBg="1"/>
      <p:bldP spid="78" grpId="0" animBg="1"/>
      <p:bldP spid="79" grpId="0" animBg="1"/>
      <p:bldP spid="80" grpId="0" animBg="1"/>
      <p:bldP spid="8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：平面桁架如图，已知各杆截面积均为</a:t>
            </a:r>
            <a:r>
              <a:rPr lang="en-US" altLang="zh-CN" sz="2000" b="1" i="1">
                <a:latin typeface="Times New Roman" pitchFamily="18" charset="0"/>
                <a:cs typeface="Times New Roman" pitchFamily="18" charset="0"/>
              </a:rPr>
              <a:t>A</a:t>
            </a:r>
            <a:r>
              <a:rPr lang="en-US" altLang="zh-CN" sz="2000" b="1">
                <a:latin typeface="Times New Roman" pitchFamily="18" charset="0"/>
                <a:cs typeface="Times New Roman" pitchFamily="18" charset="0"/>
              </a:rPr>
              <a:t>=0.4×10</a:t>
            </a:r>
            <a:r>
              <a:rPr lang="en-US" altLang="zh-CN" sz="2000" b="1" baseline="30000">
                <a:latin typeface="Times New Roman" pitchFamily="18" charset="0"/>
                <a:cs typeface="Times New Roman" pitchFamily="18" charset="0"/>
              </a:rPr>
              <a:t>-2</a:t>
            </a:r>
            <a:r>
              <a:rPr lang="en-US" altLang="zh-CN" sz="2000" b="1">
                <a:latin typeface="Times New Roman" pitchFamily="18" charset="0"/>
                <a:cs typeface="Times New Roman" pitchFamily="18" charset="0"/>
              </a:rPr>
              <a:t>m</a:t>
            </a:r>
            <a:r>
              <a:rPr lang="en-US" altLang="zh-CN" sz="2000" b="1" baseline="30000">
                <a:latin typeface="Times New Roman" pitchFamily="18" charset="0"/>
                <a:cs typeface="Times New Roman" pitchFamily="18" charset="0"/>
              </a:rPr>
              <a:t>2</a:t>
            </a:r>
            <a:r>
              <a:rPr lang="zh-CN" altLang="en-US" sz="2000" b="1">
                <a:latin typeface="Times New Roman" pitchFamily="18" charset="0"/>
                <a:cs typeface="Times New Roman" pitchFamily="18" charset="0"/>
              </a:rPr>
              <a:t>弹性横量</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E</a:t>
            </a:r>
            <a:r>
              <a:rPr lang="en-US" altLang="zh-CN" sz="2000" b="1">
                <a:latin typeface="Times New Roman" pitchFamily="18" charset="0"/>
                <a:cs typeface="Times New Roman" pitchFamily="18" charset="0"/>
              </a:rPr>
              <a:t>=200GPa</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点和</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lang="zh-CN" altLang="en-US" sz="2000" b="1" i="1">
                <a:latin typeface="Times New Roman" pitchFamily="18" charset="0"/>
                <a:cs typeface="Times New Roman" pitchFamily="18" charset="0"/>
              </a:rPr>
              <a:t>、</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928662" y="4786322"/>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⑵</a:t>
            </a:r>
            <a:r>
              <a:rPr kumimoji="1" lang="en-US" altLang="zh-CN" sz="2000" b="1">
                <a:solidFill>
                  <a:srgbClr val="000000"/>
                </a:solidFill>
                <a:latin typeface="+mn-ea"/>
              </a:rPr>
              <a:t> </a:t>
            </a:r>
            <a:r>
              <a:rPr kumimoji="1" lang="zh-CN" altLang="en-US" sz="2000" b="1">
                <a:solidFill>
                  <a:srgbClr val="000000"/>
                </a:solidFill>
                <a:latin typeface="+mn-ea"/>
              </a:rPr>
              <a:t>求</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kumimoji="1" lang="zh-CN" altLang="en-US" sz="2000" b="1">
                <a:solidFill>
                  <a:srgbClr val="000000"/>
                </a:solidFill>
                <a:latin typeface="+mn-ea"/>
              </a:rPr>
              <a:t>：在</a:t>
            </a:r>
            <a:r>
              <a:rPr kumimoji="1" lang="en-US" altLang="zh-CN" sz="2000" b="1" i="1">
                <a:solidFill>
                  <a:srgbClr val="000000"/>
                </a:solidFill>
                <a:latin typeface="Times New Roman" pitchFamily="18" charset="0"/>
                <a:ea typeface="楷体_GB2312" pitchFamily="49" charset="-122"/>
              </a:rPr>
              <a:t>B</a:t>
            </a:r>
            <a:r>
              <a:rPr kumimoji="1" lang="zh-CN" altLang="en-US" sz="2000" b="1">
                <a:solidFill>
                  <a:srgbClr val="000000"/>
                </a:solidFill>
                <a:latin typeface="+mn-ea"/>
              </a:rPr>
              <a:t>点施加向下的单位荷载；</a:t>
            </a:r>
            <a:endParaRPr kumimoji="1" lang="zh-CN" altLang="en-US" sz="2000" b="1" kern="1200">
              <a:solidFill>
                <a:srgbClr val="000000"/>
              </a:solidFill>
              <a:latin typeface="+mn-ea"/>
              <a:cs typeface="+mn-cs"/>
            </a:endParaRPr>
          </a:p>
        </p:txBody>
      </p:sp>
      <p:sp>
        <p:nvSpPr>
          <p:cNvPr id="44" name="Rectangle 5"/>
          <p:cNvSpPr>
            <a:spLocks noChangeArrowheads="1"/>
          </p:cNvSpPr>
          <p:nvPr/>
        </p:nvSpPr>
        <p:spPr bwMode="auto">
          <a:xfrm>
            <a:off x="1652598" y="5172030"/>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Times New Roman" pitchFamily="18" charset="0"/>
                <a:cs typeface="Times New Roman" pitchFamily="18" charset="0"/>
              </a:rPr>
              <a:t>① 求此单位力引起的各杆轴力</a:t>
            </a:r>
            <a:r>
              <a:rPr kumimoji="1" lang="en-US" altLang="zh-CN" sz="2000" b="1" i="1">
                <a:solidFill>
                  <a:srgbClr val="000000"/>
                </a:solidFill>
                <a:latin typeface="Times New Roman" pitchFamily="18" charset="0"/>
                <a:cs typeface="Times New Roman" pitchFamily="18" charset="0"/>
              </a:rPr>
              <a:t>F</a:t>
            </a:r>
            <a:r>
              <a:rPr kumimoji="1" lang="en-US" altLang="zh-CN" sz="2000" b="1" baseline="-25000">
                <a:solidFill>
                  <a:srgbClr val="000000"/>
                </a:solidFill>
                <a:latin typeface="Times New Roman" pitchFamily="18" charset="0"/>
                <a:cs typeface="Times New Roman" pitchFamily="18" charset="0"/>
              </a:rPr>
              <a:t>N</a:t>
            </a:r>
            <a:r>
              <a:rPr kumimoji="1" lang="zh-CN" altLang="en-US" sz="2000" b="1">
                <a:solidFill>
                  <a:srgbClr val="000000"/>
                </a:solidFill>
                <a:latin typeface="Times New Roman" pitchFamily="18" charset="0"/>
                <a:cs typeface="Times New Roman" pitchFamily="18" charset="0"/>
              </a:rPr>
              <a:t>；</a:t>
            </a:r>
            <a:endParaRPr kumimoji="1" lang="en-US" altLang="zh-CN" sz="2000" b="1" kern="1200">
              <a:solidFill>
                <a:srgbClr val="000000"/>
              </a:solidFill>
              <a:latin typeface="Times New Roman" pitchFamily="18" charset="0"/>
              <a:ea typeface="楷体_GB2312" pitchFamily="49" charset="-122"/>
              <a:cs typeface="Times New Roman" pitchFamily="18" charset="0"/>
            </a:endParaRPr>
          </a:p>
        </p:txBody>
      </p:sp>
      <p:sp>
        <p:nvSpPr>
          <p:cNvPr id="45" name="Rectangle 5"/>
          <p:cNvSpPr>
            <a:spLocks noChangeArrowheads="1"/>
          </p:cNvSpPr>
          <p:nvPr/>
        </p:nvSpPr>
        <p:spPr bwMode="auto">
          <a:xfrm>
            <a:off x="1654331" y="5600658"/>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②</a:t>
            </a:r>
            <a:endParaRPr kumimoji="1" lang="en-US" altLang="zh-CN" sz="2000" b="1" kern="1200">
              <a:solidFill>
                <a:srgbClr val="000000"/>
              </a:solidFill>
              <a:latin typeface="Times New Roman" pitchFamily="18" charset="0"/>
              <a:ea typeface="楷体_GB2312" pitchFamily="49" charset="-122"/>
              <a:cs typeface="+mn-cs"/>
            </a:endParaRPr>
          </a:p>
        </p:txBody>
      </p:sp>
      <p:grpSp>
        <p:nvGrpSpPr>
          <p:cNvPr id="4" name="组合 50"/>
          <p:cNvGrpSpPr/>
          <p:nvPr/>
        </p:nvGrpSpPr>
        <p:grpSpPr>
          <a:xfrm>
            <a:off x="1476374" y="2428868"/>
            <a:ext cx="3024188" cy="2266950"/>
            <a:chOff x="1262060" y="2428868"/>
            <a:chExt cx="3024188" cy="2266950"/>
          </a:xfrm>
        </p:grpSpPr>
        <p:graphicFrame>
          <p:nvGraphicFramePr>
            <p:cNvPr id="420867" name="Object 3"/>
            <p:cNvGraphicFramePr>
              <a:graphicFrameLocks noChangeAspect="1"/>
            </p:cNvGraphicFramePr>
            <p:nvPr/>
          </p:nvGraphicFramePr>
          <p:xfrm>
            <a:off x="1262060" y="2428868"/>
            <a:ext cx="3024188" cy="2266950"/>
          </p:xfrm>
          <a:graphic>
            <a:graphicData uri="http://schemas.openxmlformats.org/presentationml/2006/ole">
              <mc:AlternateContent xmlns:mc="http://schemas.openxmlformats.org/markup-compatibility/2006">
                <mc:Choice xmlns:v="urn:schemas-microsoft-com:vml" Requires="v">
                  <p:oleObj spid="_x0000_s460807" name="AutoCAD Drawing" r:id="rId4" imgW="9067680" imgH="5267160" progId="">
                    <p:embed/>
                  </p:oleObj>
                </mc:Choice>
                <mc:Fallback>
                  <p:oleObj name="AutoCAD Drawing" r:id="rId4" imgW="9067680" imgH="526716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1227" t="8179" r="50066" b="40561"/>
                        <a:stretch>
                          <a:fillRect/>
                        </a:stretch>
                      </p:blipFill>
                      <p:spPr bwMode="auto">
                        <a:xfrm>
                          <a:off x="1262060" y="2428868"/>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TextBox 49"/>
            <p:cNvSpPr txBox="1"/>
            <p:nvPr/>
          </p:nvSpPr>
          <p:spPr>
            <a:xfrm>
              <a:off x="2673668" y="3843980"/>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28" name="组合 27"/>
          <p:cNvGrpSpPr/>
          <p:nvPr/>
        </p:nvGrpSpPr>
        <p:grpSpPr>
          <a:xfrm>
            <a:off x="1989782" y="2960088"/>
            <a:ext cx="1662030" cy="982626"/>
            <a:chOff x="2071670" y="2960088"/>
            <a:chExt cx="1662030" cy="982626"/>
          </a:xfrm>
        </p:grpSpPr>
        <p:sp>
          <p:nvSpPr>
            <p:cNvPr id="69" name="TextBox 68"/>
            <p:cNvSpPr txBox="1"/>
            <p:nvPr/>
          </p:nvSpPr>
          <p:spPr>
            <a:xfrm>
              <a:off x="3026559"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1" name="TextBox 70"/>
            <p:cNvSpPr txBox="1"/>
            <p:nvPr/>
          </p:nvSpPr>
          <p:spPr>
            <a:xfrm>
              <a:off x="2626328"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3" name="TextBox 72"/>
            <p:cNvSpPr txBox="1"/>
            <p:nvPr/>
          </p:nvSpPr>
          <p:spPr>
            <a:xfrm>
              <a:off x="3411208" y="3390569"/>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7" name="TextBox 76"/>
            <p:cNvSpPr txBox="1"/>
            <p:nvPr/>
          </p:nvSpPr>
          <p:spPr>
            <a:xfrm>
              <a:off x="2553952" y="2960088"/>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8" name="TextBox 77"/>
            <p:cNvSpPr txBox="1"/>
            <p:nvPr/>
          </p:nvSpPr>
          <p:spPr>
            <a:xfrm>
              <a:off x="3353220" y="3665715"/>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79" name="TextBox 78"/>
            <p:cNvSpPr txBox="1"/>
            <p:nvPr/>
          </p:nvSpPr>
          <p:spPr>
            <a:xfrm>
              <a:off x="2531110" y="3665715"/>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80" name="TextBox 79"/>
            <p:cNvSpPr txBox="1"/>
            <p:nvPr/>
          </p:nvSpPr>
          <p:spPr>
            <a:xfrm>
              <a:off x="2071670" y="3206593"/>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-24</a:t>
              </a:r>
              <a:endParaRPr lang="zh-CN" altLang="en-US" b="1">
                <a:solidFill>
                  <a:srgbClr val="C00000"/>
                </a:solidFill>
                <a:latin typeface="Times New Roman" pitchFamily="18" charset="0"/>
                <a:cs typeface="Times New Roman" pitchFamily="18" charset="0"/>
              </a:endParaRPr>
            </a:p>
          </p:txBody>
        </p:sp>
      </p:grpSp>
      <p:grpSp>
        <p:nvGrpSpPr>
          <p:cNvPr id="30" name="组合 29"/>
          <p:cNvGrpSpPr/>
          <p:nvPr/>
        </p:nvGrpSpPr>
        <p:grpSpPr>
          <a:xfrm>
            <a:off x="5218446" y="2445714"/>
            <a:ext cx="3126120" cy="2286016"/>
            <a:chOff x="5218446" y="2500306"/>
            <a:chExt cx="3126120" cy="2286016"/>
          </a:xfrm>
        </p:grpSpPr>
        <p:grpSp>
          <p:nvGrpSpPr>
            <p:cNvPr id="5" name="组合 66"/>
            <p:cNvGrpSpPr/>
            <p:nvPr/>
          </p:nvGrpSpPr>
          <p:grpSpPr>
            <a:xfrm>
              <a:off x="5218446" y="2500306"/>
              <a:ext cx="3068330" cy="2286016"/>
              <a:chOff x="5027924" y="2571744"/>
              <a:chExt cx="3068330" cy="2286016"/>
            </a:xfrm>
          </p:grpSpPr>
          <p:graphicFrame>
            <p:nvGraphicFramePr>
              <p:cNvPr id="52" name="Object 3"/>
              <p:cNvGraphicFramePr>
                <a:graphicFrameLocks noChangeAspect="1"/>
              </p:cNvGraphicFramePr>
              <p:nvPr/>
            </p:nvGraphicFramePr>
            <p:xfrm>
              <a:off x="5072066" y="2571744"/>
              <a:ext cx="3024188" cy="2266950"/>
            </p:xfrm>
            <a:graphic>
              <a:graphicData uri="http://schemas.openxmlformats.org/presentationml/2006/ole">
                <mc:AlternateContent xmlns:mc="http://schemas.openxmlformats.org/markup-compatibility/2006">
                  <mc:Choice xmlns:v="urn:schemas-microsoft-com:vml" Requires="v">
                    <p:oleObj spid="_x0000_s460808" name="AutoCAD Drawing" r:id="rId6" imgW="9067680" imgH="5267160" progId="">
                      <p:embed/>
                    </p:oleObj>
                  </mc:Choice>
                  <mc:Fallback>
                    <p:oleObj name="AutoCAD Drawing" r:id="rId6" imgW="9067680" imgH="526716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l="11227" t="8179" r="50066" b="40561"/>
                          <a:stretch>
                            <a:fillRect/>
                          </a:stretch>
                        </p:blipFill>
                        <p:spPr bwMode="auto">
                          <a:xfrm>
                            <a:off x="5072066" y="2571744"/>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组合 62"/>
              <p:cNvGrpSpPr/>
              <p:nvPr/>
            </p:nvGrpSpPr>
            <p:grpSpPr>
              <a:xfrm>
                <a:off x="5715008" y="4572008"/>
                <a:ext cx="2000264" cy="285752"/>
                <a:chOff x="5715008" y="4572008"/>
                <a:chExt cx="2000264" cy="285752"/>
              </a:xfrm>
            </p:grpSpPr>
            <p:sp>
              <p:nvSpPr>
                <p:cNvPr id="59" name="矩形 58"/>
                <p:cNvSpPr/>
                <p:nvPr/>
              </p:nvSpPr>
              <p:spPr bwMode="auto">
                <a:xfrm>
                  <a:off x="5715008" y="4572008"/>
                  <a:ext cx="1857388"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sp>
              <p:nvSpPr>
                <p:cNvPr id="62" name="矩形 61"/>
                <p:cNvSpPr/>
                <p:nvPr/>
              </p:nvSpPr>
              <p:spPr bwMode="auto">
                <a:xfrm>
                  <a:off x="7572396" y="4710908"/>
                  <a:ext cx="142876" cy="142876"/>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65" name="矩形 64"/>
              <p:cNvSpPr/>
              <p:nvPr/>
            </p:nvSpPr>
            <p:spPr bwMode="auto">
              <a:xfrm>
                <a:off x="5027924" y="2928934"/>
                <a:ext cx="357190" cy="107157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66" name="TextBox 65"/>
              <p:cNvSpPr txBox="1"/>
              <p:nvPr/>
            </p:nvSpPr>
            <p:spPr>
              <a:xfrm>
                <a:off x="6500826" y="4010954"/>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sp>
          <p:nvSpPr>
            <p:cNvPr id="29" name="TextBox 28"/>
            <p:cNvSpPr txBox="1"/>
            <p:nvPr/>
          </p:nvSpPr>
          <p:spPr>
            <a:xfrm>
              <a:off x="7897991" y="4214818"/>
              <a:ext cx="446575" cy="276999"/>
            </a:xfrm>
            <a:prstGeom prst="rect">
              <a:avLst/>
            </a:prstGeom>
            <a:solidFill>
              <a:schemeClr val="bg1"/>
            </a:solidFill>
            <a:ln w="28575">
              <a:noFill/>
            </a:ln>
          </p:spPr>
          <p:txBody>
            <a:bodyPr wrap="square" lIns="36000" tIns="0" rIns="36000" bIns="0"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grpSp>
      <p:grpSp>
        <p:nvGrpSpPr>
          <p:cNvPr id="31" name="组合 30"/>
          <p:cNvGrpSpPr/>
          <p:nvPr/>
        </p:nvGrpSpPr>
        <p:grpSpPr>
          <a:xfrm>
            <a:off x="5794786" y="2990582"/>
            <a:ext cx="1698854" cy="982626"/>
            <a:chOff x="2098966" y="2960088"/>
            <a:chExt cx="1698854" cy="982626"/>
          </a:xfrm>
        </p:grpSpPr>
        <p:sp>
          <p:nvSpPr>
            <p:cNvPr id="32" name="TextBox 31"/>
            <p:cNvSpPr txBox="1"/>
            <p:nvPr/>
          </p:nvSpPr>
          <p:spPr>
            <a:xfrm>
              <a:off x="3026559"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33" name="TextBox 32"/>
            <p:cNvSpPr txBox="1"/>
            <p:nvPr/>
          </p:nvSpPr>
          <p:spPr>
            <a:xfrm>
              <a:off x="2626328" y="3407259"/>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34" name="TextBox 33"/>
            <p:cNvSpPr txBox="1"/>
            <p:nvPr/>
          </p:nvSpPr>
          <p:spPr>
            <a:xfrm>
              <a:off x="3411208" y="3363273"/>
              <a:ext cx="36765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5/3</a:t>
              </a:r>
              <a:endParaRPr lang="zh-CN" altLang="en-US" b="1">
                <a:solidFill>
                  <a:srgbClr val="C00000"/>
                </a:solidFill>
                <a:latin typeface="Times New Roman" pitchFamily="18" charset="0"/>
                <a:cs typeface="Times New Roman" pitchFamily="18" charset="0"/>
              </a:endParaRPr>
            </a:p>
          </p:txBody>
        </p:sp>
        <p:sp>
          <p:nvSpPr>
            <p:cNvPr id="35" name="TextBox 34"/>
            <p:cNvSpPr txBox="1"/>
            <p:nvPr/>
          </p:nvSpPr>
          <p:spPr>
            <a:xfrm>
              <a:off x="2553952" y="2960088"/>
              <a:ext cx="36765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5/3</a:t>
              </a:r>
              <a:endParaRPr lang="zh-CN" altLang="en-US" b="1">
                <a:solidFill>
                  <a:srgbClr val="C00000"/>
                </a:solidFill>
                <a:latin typeface="Times New Roman" pitchFamily="18" charset="0"/>
                <a:cs typeface="Times New Roman" pitchFamily="18" charset="0"/>
              </a:endParaRPr>
            </a:p>
          </p:txBody>
        </p:sp>
        <p:sp>
          <p:nvSpPr>
            <p:cNvPr id="36" name="TextBox 35"/>
            <p:cNvSpPr txBox="1"/>
            <p:nvPr/>
          </p:nvSpPr>
          <p:spPr>
            <a:xfrm>
              <a:off x="3353220" y="3665715"/>
              <a:ext cx="44460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4/3</a:t>
              </a:r>
              <a:endParaRPr lang="zh-CN" altLang="en-US" b="1">
                <a:solidFill>
                  <a:srgbClr val="C00000"/>
                </a:solidFill>
                <a:latin typeface="Times New Roman" pitchFamily="18" charset="0"/>
                <a:cs typeface="Times New Roman" pitchFamily="18" charset="0"/>
              </a:endParaRPr>
            </a:p>
          </p:txBody>
        </p:sp>
        <p:sp>
          <p:nvSpPr>
            <p:cNvPr id="37" name="TextBox 36"/>
            <p:cNvSpPr txBox="1"/>
            <p:nvPr/>
          </p:nvSpPr>
          <p:spPr>
            <a:xfrm>
              <a:off x="2531110" y="3665715"/>
              <a:ext cx="44460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4/3</a:t>
              </a:r>
              <a:endParaRPr lang="zh-CN" altLang="en-US" b="1">
                <a:solidFill>
                  <a:srgbClr val="C00000"/>
                </a:solidFill>
                <a:latin typeface="Times New Roman" pitchFamily="18" charset="0"/>
                <a:cs typeface="Times New Roman" pitchFamily="18" charset="0"/>
              </a:endParaRPr>
            </a:p>
          </p:txBody>
        </p:sp>
        <p:sp>
          <p:nvSpPr>
            <p:cNvPr id="38" name="TextBox 37"/>
            <p:cNvSpPr txBox="1"/>
            <p:nvPr/>
          </p:nvSpPr>
          <p:spPr>
            <a:xfrm>
              <a:off x="2098966" y="3206593"/>
              <a:ext cx="265063"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cxnSp>
        <p:nvCxnSpPr>
          <p:cNvPr id="40" name="直接连接符 39"/>
          <p:cNvCxnSpPr/>
          <p:nvPr/>
        </p:nvCxnSpPr>
        <p:spPr bwMode="auto">
          <a:xfrm>
            <a:off x="5157152" y="5242246"/>
            <a:ext cx="18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aphicFrame>
        <p:nvGraphicFramePr>
          <p:cNvPr id="460804" name="Object 4"/>
          <p:cNvGraphicFramePr>
            <a:graphicFrameLocks noChangeAspect="1"/>
          </p:cNvGraphicFramePr>
          <p:nvPr/>
        </p:nvGraphicFramePr>
        <p:xfrm>
          <a:off x="2071688" y="5470194"/>
          <a:ext cx="1951037" cy="669925"/>
        </p:xfrm>
        <a:graphic>
          <a:graphicData uri="http://schemas.openxmlformats.org/presentationml/2006/ole">
            <mc:AlternateContent xmlns:mc="http://schemas.openxmlformats.org/markup-compatibility/2006">
              <mc:Choice xmlns:v="urn:schemas-microsoft-com:vml" Requires="v">
                <p:oleObj spid="_x0000_s460809" name="Equation" r:id="rId8" imgW="1257120" imgH="431640" progId="Equation.DSMT4">
                  <p:embed/>
                </p:oleObj>
              </mc:Choice>
              <mc:Fallback>
                <p:oleObj name="Equation" r:id="rId8" imgW="1257120" imgH="43164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1688" y="5470194"/>
                        <a:ext cx="195103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05" name="Object 5"/>
          <p:cNvGraphicFramePr>
            <a:graphicFrameLocks noChangeAspect="1"/>
          </p:cNvGraphicFramePr>
          <p:nvPr/>
        </p:nvGraphicFramePr>
        <p:xfrm>
          <a:off x="2459354" y="6100763"/>
          <a:ext cx="5345112" cy="614362"/>
        </p:xfrm>
        <a:graphic>
          <a:graphicData uri="http://schemas.openxmlformats.org/presentationml/2006/ole">
            <mc:AlternateContent xmlns:mc="http://schemas.openxmlformats.org/markup-compatibility/2006">
              <mc:Choice xmlns:v="urn:schemas-microsoft-com:vml" Requires="v">
                <p:oleObj spid="_x0000_s460810" name="Equation" r:id="rId10" imgW="3429000" imgH="393480" progId="Equation.DSMT4">
                  <p:embed/>
                </p:oleObj>
              </mc:Choice>
              <mc:Fallback>
                <p:oleObj name="Equation" r:id="rId10" imgW="3429000" imgH="39348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59354" y="6100763"/>
                        <a:ext cx="5345112" cy="6143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06" name="Object 6"/>
          <p:cNvGraphicFramePr>
            <a:graphicFrameLocks noChangeAspect="1"/>
          </p:cNvGraphicFramePr>
          <p:nvPr/>
        </p:nvGraphicFramePr>
        <p:xfrm>
          <a:off x="4030990" y="5643578"/>
          <a:ext cx="1366837" cy="317500"/>
        </p:xfrm>
        <a:graphic>
          <a:graphicData uri="http://schemas.openxmlformats.org/presentationml/2006/ole">
            <mc:AlternateContent xmlns:mc="http://schemas.openxmlformats.org/markup-compatibility/2006">
              <mc:Choice xmlns:v="urn:schemas-microsoft-com:vml" Requires="v">
                <p:oleObj spid="_x0000_s460811" name="Equation" r:id="rId12" imgW="876240" imgH="203040" progId="Equation.DSMT4">
                  <p:embed/>
                </p:oleObj>
              </mc:Choice>
              <mc:Fallback>
                <p:oleObj name="Equation" r:id="rId12" imgW="876240" imgH="203040" progId="Equation.DSMT4">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0990" y="5643578"/>
                        <a:ext cx="1366837"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ppt_x"/>
                                          </p:val>
                                        </p:tav>
                                        <p:tav tm="100000">
                                          <p:val>
                                            <p:strVal val="#ppt_x"/>
                                          </p:val>
                                        </p:tav>
                                      </p:tavLst>
                                    </p:anim>
                                    <p:anim calcmode="lin" valueType="num">
                                      <p:cBhvr additive="base">
                                        <p:cTn id="1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left)">
                                      <p:cBhvr>
                                        <p:cTn id="18" dur="500"/>
                                        <p:tgtEl>
                                          <p:spTgt spid="44"/>
                                        </p:tgtEl>
                                      </p:cBhvr>
                                    </p:animEffec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par>
                          <p:cTn id="21" fill="hold">
                            <p:stCondLst>
                              <p:cond delay="500"/>
                            </p:stCondLst>
                            <p:childTnLst>
                              <p:par>
                                <p:cTn id="22" presetID="4" presetClass="entr" presetSubtype="16" fill="hold"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box(in)">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500"/>
                                        <p:tgtEl>
                                          <p:spTgt spid="45"/>
                                        </p:tgtEl>
                                      </p:cBhvr>
                                    </p:animEffect>
                                  </p:childTnLst>
                                </p:cTn>
                              </p:par>
                              <p:par>
                                <p:cTn id="30" presetID="2" presetClass="entr" presetSubtype="4" fill="hold" nodeType="withEffect">
                                  <p:stCondLst>
                                    <p:cond delay="0"/>
                                  </p:stCondLst>
                                  <p:childTnLst>
                                    <p:set>
                                      <p:cBhvr>
                                        <p:cTn id="31" dur="1" fill="hold">
                                          <p:stCondLst>
                                            <p:cond delay="0"/>
                                          </p:stCondLst>
                                        </p:cTn>
                                        <p:tgtEl>
                                          <p:spTgt spid="460804"/>
                                        </p:tgtEl>
                                        <p:attrNameLst>
                                          <p:attrName>style.visibility</p:attrName>
                                        </p:attrNameLst>
                                      </p:cBhvr>
                                      <p:to>
                                        <p:strVal val="visible"/>
                                      </p:to>
                                    </p:set>
                                    <p:anim calcmode="lin" valueType="num">
                                      <p:cBhvr additive="base">
                                        <p:cTn id="32" dur="500" fill="hold"/>
                                        <p:tgtEl>
                                          <p:spTgt spid="460804"/>
                                        </p:tgtEl>
                                        <p:attrNameLst>
                                          <p:attrName>ppt_x</p:attrName>
                                        </p:attrNameLst>
                                      </p:cBhvr>
                                      <p:tavLst>
                                        <p:tav tm="0">
                                          <p:val>
                                            <p:strVal val="#ppt_x"/>
                                          </p:val>
                                        </p:tav>
                                        <p:tav tm="100000">
                                          <p:val>
                                            <p:strVal val="#ppt_x"/>
                                          </p:val>
                                        </p:tav>
                                      </p:tavLst>
                                    </p:anim>
                                    <p:anim calcmode="lin" valueType="num">
                                      <p:cBhvr additive="base">
                                        <p:cTn id="33" dur="500" fill="hold"/>
                                        <p:tgtEl>
                                          <p:spTgt spid="46080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60805"/>
                                        </p:tgtEl>
                                        <p:attrNameLst>
                                          <p:attrName>style.visibility</p:attrName>
                                        </p:attrNameLst>
                                      </p:cBhvr>
                                      <p:to>
                                        <p:strVal val="visible"/>
                                      </p:to>
                                    </p:set>
                                    <p:anim calcmode="lin" valueType="num">
                                      <p:cBhvr additive="base">
                                        <p:cTn id="38" dur="500" fill="hold"/>
                                        <p:tgtEl>
                                          <p:spTgt spid="460805"/>
                                        </p:tgtEl>
                                        <p:attrNameLst>
                                          <p:attrName>ppt_x</p:attrName>
                                        </p:attrNameLst>
                                      </p:cBhvr>
                                      <p:tavLst>
                                        <p:tav tm="0">
                                          <p:val>
                                            <p:strVal val="#ppt_x"/>
                                          </p:val>
                                        </p:tav>
                                        <p:tav tm="100000">
                                          <p:val>
                                            <p:strVal val="#ppt_x"/>
                                          </p:val>
                                        </p:tav>
                                      </p:tavLst>
                                    </p:anim>
                                    <p:anim calcmode="lin" valueType="num">
                                      <p:cBhvr additive="base">
                                        <p:cTn id="39" dur="500" fill="hold"/>
                                        <p:tgtEl>
                                          <p:spTgt spid="46080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460805"/>
                                        </p:tgtEl>
                                      </p:cBhvr>
                                    </p:animEffect>
                                    <p:set>
                                      <p:cBhvr>
                                        <p:cTn id="44" dur="1" fill="hold">
                                          <p:stCondLst>
                                            <p:cond delay="499"/>
                                          </p:stCondLst>
                                        </p:cTn>
                                        <p:tgtEl>
                                          <p:spTgt spid="46080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460806"/>
                                        </p:tgtEl>
                                        <p:attrNameLst>
                                          <p:attrName>style.visibility</p:attrName>
                                        </p:attrNameLst>
                                      </p:cBhvr>
                                      <p:to>
                                        <p:strVal val="visible"/>
                                      </p:to>
                                    </p:set>
                                    <p:animEffect transition="in" filter="wipe(down)">
                                      <p:cBhvr>
                                        <p:cTn id="49" dur="500"/>
                                        <p:tgtEl>
                                          <p:spTgt spid="460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4" grpId="0"/>
      <p:bldP spid="4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5157152" y="2445714"/>
            <a:ext cx="3201062" cy="2743528"/>
            <a:chOff x="5157152" y="2500306"/>
            <a:chExt cx="3201062" cy="2743528"/>
          </a:xfrm>
        </p:grpSpPr>
        <p:grpSp>
          <p:nvGrpSpPr>
            <p:cNvPr id="6" name="组合 29"/>
            <p:cNvGrpSpPr/>
            <p:nvPr/>
          </p:nvGrpSpPr>
          <p:grpSpPr>
            <a:xfrm>
              <a:off x="5218446" y="2500306"/>
              <a:ext cx="3068330" cy="2286016"/>
              <a:chOff x="5218446" y="2500306"/>
              <a:chExt cx="3068330" cy="2286016"/>
            </a:xfrm>
          </p:grpSpPr>
          <p:grpSp>
            <p:nvGrpSpPr>
              <p:cNvPr id="7" name="组合 66"/>
              <p:cNvGrpSpPr/>
              <p:nvPr/>
            </p:nvGrpSpPr>
            <p:grpSpPr>
              <a:xfrm>
                <a:off x="5218446" y="2500306"/>
                <a:ext cx="3068330" cy="2286016"/>
                <a:chOff x="5027924" y="2571744"/>
                <a:chExt cx="3068330" cy="2286016"/>
              </a:xfrm>
            </p:grpSpPr>
            <p:graphicFrame>
              <p:nvGraphicFramePr>
                <p:cNvPr id="52" name="Object 3"/>
                <p:cNvGraphicFramePr>
                  <a:graphicFrameLocks noChangeAspect="1"/>
                </p:cNvGraphicFramePr>
                <p:nvPr/>
              </p:nvGraphicFramePr>
              <p:xfrm>
                <a:off x="5072066" y="2571744"/>
                <a:ext cx="3024188" cy="2266950"/>
              </p:xfrm>
              <a:graphic>
                <a:graphicData uri="http://schemas.openxmlformats.org/presentationml/2006/ole">
                  <mc:AlternateContent xmlns:mc="http://schemas.openxmlformats.org/markup-compatibility/2006">
                    <mc:Choice xmlns:v="urn:schemas-microsoft-com:vml" Requires="v">
                      <p:oleObj spid="_x0000_s461831" name="AutoCAD Drawing" r:id="rId4" imgW="9067680" imgH="5267160" progId="">
                        <p:embed/>
                      </p:oleObj>
                    </mc:Choice>
                    <mc:Fallback>
                      <p:oleObj name="AutoCAD Drawing" r:id="rId4" imgW="9067680" imgH="526716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l="11227" t="8179" r="50066" b="40561"/>
                            <a:stretch>
                              <a:fillRect/>
                            </a:stretch>
                          </p:blipFill>
                          <p:spPr bwMode="auto">
                            <a:xfrm>
                              <a:off x="5072066" y="2571744"/>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62"/>
                <p:cNvGrpSpPr/>
                <p:nvPr/>
              </p:nvGrpSpPr>
              <p:grpSpPr>
                <a:xfrm>
                  <a:off x="5715008" y="4572008"/>
                  <a:ext cx="2000264" cy="285752"/>
                  <a:chOff x="5715008" y="4572008"/>
                  <a:chExt cx="2000264" cy="285752"/>
                </a:xfrm>
              </p:grpSpPr>
              <p:sp>
                <p:nvSpPr>
                  <p:cNvPr id="59" name="矩形 58"/>
                  <p:cNvSpPr/>
                  <p:nvPr/>
                </p:nvSpPr>
                <p:spPr bwMode="auto">
                  <a:xfrm>
                    <a:off x="5715008" y="4572008"/>
                    <a:ext cx="1857388"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sp>
                <p:nvSpPr>
                  <p:cNvPr id="62" name="矩形 61"/>
                  <p:cNvSpPr/>
                  <p:nvPr/>
                </p:nvSpPr>
                <p:spPr bwMode="auto">
                  <a:xfrm>
                    <a:off x="7572396" y="4710908"/>
                    <a:ext cx="142876" cy="142876"/>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grpSp>
            <p:sp>
              <p:nvSpPr>
                <p:cNvPr id="65" name="矩形 64"/>
                <p:cNvSpPr/>
                <p:nvPr/>
              </p:nvSpPr>
              <p:spPr bwMode="auto">
                <a:xfrm>
                  <a:off x="5027924" y="2928934"/>
                  <a:ext cx="357190" cy="1071570"/>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66" name="TextBox 65"/>
                <p:cNvSpPr txBox="1"/>
                <p:nvPr/>
              </p:nvSpPr>
              <p:spPr>
                <a:xfrm>
                  <a:off x="6624208" y="3956362"/>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sp>
            <p:nvSpPr>
              <p:cNvPr id="29" name="TextBox 28"/>
              <p:cNvSpPr txBox="1"/>
              <p:nvPr/>
            </p:nvSpPr>
            <p:spPr>
              <a:xfrm>
                <a:off x="6572264" y="4295009"/>
                <a:ext cx="446575" cy="276999"/>
              </a:xfrm>
              <a:prstGeom prst="rect">
                <a:avLst/>
              </a:prstGeom>
              <a:solidFill>
                <a:schemeClr val="bg1"/>
              </a:solidFill>
              <a:ln w="28575">
                <a:noFill/>
              </a:ln>
            </p:spPr>
            <p:txBody>
              <a:bodyPr wrap="square" lIns="36000" tIns="0" rIns="36000" bIns="0" rtlCol="0">
                <a:spAutoFit/>
              </a:bodyPr>
              <a:lstStyle/>
              <a:p>
                <a:r>
                  <a:rPr lang="en-US" altLang="zh-CN" b="1">
                    <a:latin typeface="Times New Roman" pitchFamily="18" charset="0"/>
                    <a:cs typeface="Times New Roman" pitchFamily="18" charset="0"/>
                  </a:rPr>
                  <a:t>1</a:t>
                </a:r>
                <a:endParaRPr lang="zh-CN" altLang="en-US" b="1">
                  <a:latin typeface="Times New Roman" pitchFamily="18" charset="0"/>
                  <a:cs typeface="Times New Roman" pitchFamily="18" charset="0"/>
                </a:endParaRPr>
              </a:p>
            </p:txBody>
          </p:sp>
        </p:grpSp>
        <p:cxnSp>
          <p:nvCxnSpPr>
            <p:cNvPr id="40" name="直接连接符 39"/>
            <p:cNvCxnSpPr/>
            <p:nvPr/>
          </p:nvCxnSpPr>
          <p:spPr bwMode="auto">
            <a:xfrm>
              <a:off x="5157152" y="5242246"/>
              <a:ext cx="18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41" name="矩形 40"/>
            <p:cNvSpPr/>
            <p:nvPr/>
          </p:nvSpPr>
          <p:spPr bwMode="auto">
            <a:xfrm>
              <a:off x="7728920" y="3986856"/>
              <a:ext cx="629294" cy="64294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cxnSp>
          <p:nvCxnSpPr>
            <p:cNvPr id="43" name="直接箭头连接符 42"/>
            <p:cNvCxnSpPr/>
            <p:nvPr/>
          </p:nvCxnSpPr>
          <p:spPr bwMode="auto">
            <a:xfrm rot="5400000">
              <a:off x="6522897" y="4192747"/>
              <a:ext cx="642942" cy="1588"/>
            </a:xfrm>
            <a:prstGeom prst="straightConnector1">
              <a:avLst/>
            </a:prstGeom>
            <a:solidFill>
              <a:schemeClr val="accent1"/>
            </a:solidFill>
            <a:ln w="38100" cap="flat" cmpd="sng" algn="ctr">
              <a:solidFill>
                <a:srgbClr val="FF0000"/>
              </a:solidFill>
              <a:prstDash val="solid"/>
              <a:round/>
              <a:headEnd type="none" w="med" len="med"/>
              <a:tailEnd type="triangle" w="med" len="lg"/>
            </a:ln>
            <a:effectLst/>
          </p:spPr>
        </p:cxnSp>
      </p:grpSp>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：平面桁架如图，已知各杆截面积均为</a:t>
            </a:r>
            <a:r>
              <a:rPr lang="en-US" altLang="zh-CN" sz="2000" b="1" i="1">
                <a:latin typeface="Times New Roman" pitchFamily="18" charset="0"/>
                <a:cs typeface="Times New Roman" pitchFamily="18" charset="0"/>
              </a:rPr>
              <a:t>A</a:t>
            </a:r>
            <a:r>
              <a:rPr lang="en-US" altLang="zh-CN" sz="2000" b="1">
                <a:latin typeface="Times New Roman" pitchFamily="18" charset="0"/>
                <a:cs typeface="Times New Roman" pitchFamily="18" charset="0"/>
              </a:rPr>
              <a:t>=0.4×10</a:t>
            </a:r>
            <a:r>
              <a:rPr lang="en-US" altLang="zh-CN" sz="2000" b="1" baseline="30000">
                <a:latin typeface="Times New Roman" pitchFamily="18" charset="0"/>
                <a:cs typeface="Times New Roman" pitchFamily="18" charset="0"/>
              </a:rPr>
              <a:t>-2</a:t>
            </a:r>
            <a:r>
              <a:rPr lang="en-US" altLang="zh-CN" sz="2000" b="1">
                <a:latin typeface="Times New Roman" pitchFamily="18" charset="0"/>
                <a:cs typeface="Times New Roman" pitchFamily="18" charset="0"/>
              </a:rPr>
              <a:t>m</a:t>
            </a:r>
            <a:r>
              <a:rPr lang="en-US" altLang="zh-CN" sz="2000" b="1" baseline="30000">
                <a:latin typeface="Times New Roman" pitchFamily="18" charset="0"/>
                <a:cs typeface="Times New Roman" pitchFamily="18" charset="0"/>
              </a:rPr>
              <a:t>2</a:t>
            </a:r>
            <a:r>
              <a:rPr lang="zh-CN" altLang="en-US" sz="2000" b="1">
                <a:latin typeface="Times New Roman" pitchFamily="18" charset="0"/>
                <a:cs typeface="Times New Roman" pitchFamily="18" charset="0"/>
              </a:rPr>
              <a:t>弹性横量</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E</a:t>
            </a:r>
            <a:r>
              <a:rPr lang="en-US" altLang="zh-CN" sz="2000" b="1">
                <a:latin typeface="Times New Roman" pitchFamily="18" charset="0"/>
                <a:cs typeface="Times New Roman" pitchFamily="18" charset="0"/>
              </a:rPr>
              <a:t>=200GPa</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点和</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lang="zh-CN" altLang="en-US" sz="2000" b="1" i="1">
                <a:latin typeface="Times New Roman" pitchFamily="18" charset="0"/>
                <a:cs typeface="Times New Roman" pitchFamily="18" charset="0"/>
              </a:rPr>
              <a:t>、</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928662" y="4786322"/>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⑶</a:t>
            </a:r>
            <a:r>
              <a:rPr kumimoji="1" lang="en-US" altLang="zh-CN" sz="2000" b="1">
                <a:solidFill>
                  <a:srgbClr val="000000"/>
                </a:solidFill>
                <a:latin typeface="+mn-ea"/>
              </a:rPr>
              <a:t> </a:t>
            </a:r>
            <a:r>
              <a:rPr kumimoji="1" lang="zh-CN" altLang="en-US" sz="2000" b="1">
                <a:solidFill>
                  <a:srgbClr val="000000"/>
                </a:solidFill>
                <a:latin typeface="+mn-ea"/>
              </a:rPr>
              <a:t>求</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el-GR" altLang="zh-CN" sz="2000" b="1" i="1">
                <a:latin typeface="Times New Roman" pitchFamily="18" charset="0"/>
                <a:cs typeface="Times New Roman" pitchFamily="18" charset="0"/>
              </a:rPr>
              <a:t> </a:t>
            </a:r>
            <a:r>
              <a:rPr kumimoji="1" lang="zh-CN" altLang="en-US" sz="2000" b="1">
                <a:solidFill>
                  <a:srgbClr val="000000"/>
                </a:solidFill>
                <a:latin typeface="+mn-ea"/>
              </a:rPr>
              <a:t>：在</a:t>
            </a:r>
            <a:r>
              <a:rPr kumimoji="1" lang="en-US" altLang="zh-CN" sz="2000" b="1" i="1">
                <a:solidFill>
                  <a:srgbClr val="000000"/>
                </a:solidFill>
                <a:latin typeface="Times New Roman" pitchFamily="18" charset="0"/>
                <a:ea typeface="楷体_GB2312" pitchFamily="49" charset="-122"/>
              </a:rPr>
              <a:t>D</a:t>
            </a:r>
            <a:r>
              <a:rPr kumimoji="1" lang="zh-CN" altLang="en-US" sz="2000" b="1">
                <a:solidFill>
                  <a:srgbClr val="000000"/>
                </a:solidFill>
                <a:latin typeface="+mn-ea"/>
              </a:rPr>
              <a:t>点施加向下的单位荷载；</a:t>
            </a:r>
            <a:endParaRPr kumimoji="1" lang="zh-CN" altLang="en-US" sz="2000" b="1" kern="1200">
              <a:solidFill>
                <a:srgbClr val="000000"/>
              </a:solidFill>
              <a:latin typeface="+mn-ea"/>
              <a:cs typeface="+mn-cs"/>
            </a:endParaRPr>
          </a:p>
        </p:txBody>
      </p:sp>
      <p:sp>
        <p:nvSpPr>
          <p:cNvPr id="44" name="Rectangle 5"/>
          <p:cNvSpPr>
            <a:spLocks noChangeArrowheads="1"/>
          </p:cNvSpPr>
          <p:nvPr/>
        </p:nvSpPr>
        <p:spPr bwMode="auto">
          <a:xfrm>
            <a:off x="1652598" y="5172030"/>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Times New Roman" pitchFamily="18" charset="0"/>
                <a:cs typeface="Times New Roman" pitchFamily="18" charset="0"/>
              </a:rPr>
              <a:t>① 求此单位力引起的各杆轴力</a:t>
            </a:r>
            <a:r>
              <a:rPr kumimoji="1" lang="en-US" altLang="zh-CN" sz="2000" b="1" i="1">
                <a:solidFill>
                  <a:srgbClr val="000000"/>
                </a:solidFill>
                <a:latin typeface="Times New Roman" pitchFamily="18" charset="0"/>
                <a:cs typeface="Times New Roman" pitchFamily="18" charset="0"/>
              </a:rPr>
              <a:t>F</a:t>
            </a:r>
            <a:r>
              <a:rPr kumimoji="1" lang="en-US" altLang="zh-CN" sz="2000" b="1" baseline="-25000">
                <a:solidFill>
                  <a:srgbClr val="000000"/>
                </a:solidFill>
                <a:latin typeface="Times New Roman" pitchFamily="18" charset="0"/>
                <a:cs typeface="Times New Roman" pitchFamily="18" charset="0"/>
              </a:rPr>
              <a:t>N</a:t>
            </a:r>
            <a:r>
              <a:rPr kumimoji="1" lang="zh-CN" altLang="en-US" sz="2000" b="1">
                <a:solidFill>
                  <a:srgbClr val="000000"/>
                </a:solidFill>
                <a:latin typeface="Times New Roman" pitchFamily="18" charset="0"/>
                <a:cs typeface="Times New Roman" pitchFamily="18" charset="0"/>
              </a:rPr>
              <a:t>；</a:t>
            </a:r>
            <a:endParaRPr kumimoji="1" lang="en-US" altLang="zh-CN" sz="2000" b="1" kern="1200">
              <a:solidFill>
                <a:srgbClr val="000000"/>
              </a:solidFill>
              <a:latin typeface="Times New Roman" pitchFamily="18" charset="0"/>
              <a:ea typeface="楷体_GB2312" pitchFamily="49" charset="-122"/>
              <a:cs typeface="Times New Roman" pitchFamily="18" charset="0"/>
            </a:endParaRPr>
          </a:p>
        </p:txBody>
      </p:sp>
      <p:sp>
        <p:nvSpPr>
          <p:cNvPr id="45" name="Rectangle 5"/>
          <p:cNvSpPr>
            <a:spLocks noChangeArrowheads="1"/>
          </p:cNvSpPr>
          <p:nvPr/>
        </p:nvSpPr>
        <p:spPr bwMode="auto">
          <a:xfrm>
            <a:off x="1654331" y="5600658"/>
            <a:ext cx="470535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mn-ea"/>
              </a:rPr>
              <a:t>②</a:t>
            </a:r>
            <a:endParaRPr kumimoji="1" lang="en-US" altLang="zh-CN" sz="2000" b="1" kern="1200">
              <a:solidFill>
                <a:srgbClr val="000000"/>
              </a:solidFill>
              <a:latin typeface="Times New Roman" pitchFamily="18" charset="0"/>
              <a:ea typeface="楷体_GB2312" pitchFamily="49" charset="-122"/>
              <a:cs typeface="+mn-cs"/>
            </a:endParaRPr>
          </a:p>
        </p:txBody>
      </p:sp>
      <p:grpSp>
        <p:nvGrpSpPr>
          <p:cNvPr id="4" name="组合 50"/>
          <p:cNvGrpSpPr/>
          <p:nvPr/>
        </p:nvGrpSpPr>
        <p:grpSpPr>
          <a:xfrm>
            <a:off x="1476374" y="2428868"/>
            <a:ext cx="3024188" cy="2266950"/>
            <a:chOff x="1262060" y="2428868"/>
            <a:chExt cx="3024188" cy="2266950"/>
          </a:xfrm>
        </p:grpSpPr>
        <p:graphicFrame>
          <p:nvGraphicFramePr>
            <p:cNvPr id="420867" name="Object 3"/>
            <p:cNvGraphicFramePr>
              <a:graphicFrameLocks noChangeAspect="1"/>
            </p:cNvGraphicFramePr>
            <p:nvPr/>
          </p:nvGraphicFramePr>
          <p:xfrm>
            <a:off x="1262060" y="2428868"/>
            <a:ext cx="3024188" cy="2266950"/>
          </p:xfrm>
          <a:graphic>
            <a:graphicData uri="http://schemas.openxmlformats.org/presentationml/2006/ole">
              <mc:AlternateContent xmlns:mc="http://schemas.openxmlformats.org/markup-compatibility/2006">
                <mc:Choice xmlns:v="urn:schemas-microsoft-com:vml" Requires="v">
                  <p:oleObj spid="_x0000_s461832" name="AutoCAD Drawing" r:id="rId6" imgW="9067680" imgH="5267160" progId="">
                    <p:embed/>
                  </p:oleObj>
                </mc:Choice>
                <mc:Fallback>
                  <p:oleObj name="AutoCAD Drawing" r:id="rId6" imgW="9067680" imgH="526716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1227" t="8179" r="50066" b="40561"/>
                        <a:stretch>
                          <a:fillRect/>
                        </a:stretch>
                      </p:blipFill>
                      <p:spPr bwMode="auto">
                        <a:xfrm>
                          <a:off x="1262060" y="2428868"/>
                          <a:ext cx="302418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TextBox 49"/>
            <p:cNvSpPr txBox="1"/>
            <p:nvPr/>
          </p:nvSpPr>
          <p:spPr>
            <a:xfrm>
              <a:off x="2673668" y="3843980"/>
              <a:ext cx="357190"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5" name="组合 27"/>
          <p:cNvGrpSpPr/>
          <p:nvPr/>
        </p:nvGrpSpPr>
        <p:grpSpPr>
          <a:xfrm>
            <a:off x="1989782" y="2960088"/>
            <a:ext cx="1662030" cy="982626"/>
            <a:chOff x="2071670" y="2960088"/>
            <a:chExt cx="1662030" cy="982626"/>
          </a:xfrm>
        </p:grpSpPr>
        <p:sp>
          <p:nvSpPr>
            <p:cNvPr id="69" name="TextBox 68"/>
            <p:cNvSpPr txBox="1"/>
            <p:nvPr/>
          </p:nvSpPr>
          <p:spPr>
            <a:xfrm>
              <a:off x="3026559"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1" name="TextBox 70"/>
            <p:cNvSpPr txBox="1"/>
            <p:nvPr/>
          </p:nvSpPr>
          <p:spPr>
            <a:xfrm>
              <a:off x="2626328"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73" name="TextBox 72"/>
            <p:cNvSpPr txBox="1"/>
            <p:nvPr/>
          </p:nvSpPr>
          <p:spPr>
            <a:xfrm>
              <a:off x="3411208" y="3390569"/>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7" name="TextBox 76"/>
            <p:cNvSpPr txBox="1"/>
            <p:nvPr/>
          </p:nvSpPr>
          <p:spPr>
            <a:xfrm>
              <a:off x="2553952" y="2960088"/>
              <a:ext cx="30353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40</a:t>
              </a:r>
              <a:endParaRPr lang="zh-CN" altLang="en-US" b="1">
                <a:solidFill>
                  <a:srgbClr val="C00000"/>
                </a:solidFill>
                <a:latin typeface="Times New Roman" pitchFamily="18" charset="0"/>
                <a:cs typeface="Times New Roman" pitchFamily="18" charset="0"/>
              </a:endParaRPr>
            </a:p>
          </p:txBody>
        </p:sp>
        <p:sp>
          <p:nvSpPr>
            <p:cNvPr id="78" name="TextBox 77"/>
            <p:cNvSpPr txBox="1"/>
            <p:nvPr/>
          </p:nvSpPr>
          <p:spPr>
            <a:xfrm>
              <a:off x="3353220" y="3665715"/>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79" name="TextBox 78"/>
            <p:cNvSpPr txBox="1"/>
            <p:nvPr/>
          </p:nvSpPr>
          <p:spPr>
            <a:xfrm>
              <a:off x="2531110" y="3665715"/>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mn-ea"/>
                  <a:cs typeface="Times New Roman" pitchFamily="18" charset="0"/>
                </a:rPr>
                <a:t>-</a:t>
              </a:r>
              <a:r>
                <a:rPr lang="en-US" altLang="zh-CN" b="1">
                  <a:solidFill>
                    <a:srgbClr val="C00000"/>
                  </a:solidFill>
                  <a:latin typeface="Times New Roman" pitchFamily="18" charset="0"/>
                  <a:cs typeface="Times New Roman" pitchFamily="18" charset="0"/>
                </a:rPr>
                <a:t>32</a:t>
              </a:r>
              <a:endParaRPr lang="zh-CN" altLang="en-US" b="1">
                <a:solidFill>
                  <a:srgbClr val="C00000"/>
                </a:solidFill>
                <a:latin typeface="Times New Roman" pitchFamily="18" charset="0"/>
                <a:cs typeface="Times New Roman" pitchFamily="18" charset="0"/>
              </a:endParaRPr>
            </a:p>
          </p:txBody>
        </p:sp>
        <p:sp>
          <p:nvSpPr>
            <p:cNvPr id="80" name="TextBox 79"/>
            <p:cNvSpPr txBox="1"/>
            <p:nvPr/>
          </p:nvSpPr>
          <p:spPr>
            <a:xfrm>
              <a:off x="2071670" y="3206593"/>
              <a:ext cx="38048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-24</a:t>
              </a:r>
              <a:endParaRPr lang="zh-CN" altLang="en-US" b="1">
                <a:solidFill>
                  <a:srgbClr val="C00000"/>
                </a:solidFill>
                <a:latin typeface="Times New Roman" pitchFamily="18" charset="0"/>
                <a:cs typeface="Times New Roman" pitchFamily="18" charset="0"/>
              </a:endParaRPr>
            </a:p>
          </p:txBody>
        </p:sp>
      </p:grpSp>
      <p:grpSp>
        <p:nvGrpSpPr>
          <p:cNvPr id="9" name="组合 30"/>
          <p:cNvGrpSpPr/>
          <p:nvPr/>
        </p:nvGrpSpPr>
        <p:grpSpPr>
          <a:xfrm>
            <a:off x="5715008" y="2990582"/>
            <a:ext cx="1616879" cy="982626"/>
            <a:chOff x="2019188" y="2960088"/>
            <a:chExt cx="1616879" cy="982626"/>
          </a:xfrm>
        </p:grpSpPr>
        <p:sp>
          <p:nvSpPr>
            <p:cNvPr id="32" name="TextBox 31"/>
            <p:cNvSpPr txBox="1"/>
            <p:nvPr/>
          </p:nvSpPr>
          <p:spPr>
            <a:xfrm>
              <a:off x="3067503" y="343455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sp>
          <p:nvSpPr>
            <p:cNvPr id="33" name="TextBox 32"/>
            <p:cNvSpPr txBox="1"/>
            <p:nvPr/>
          </p:nvSpPr>
          <p:spPr>
            <a:xfrm>
              <a:off x="2434168" y="3371210"/>
              <a:ext cx="502308"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- 5/6</a:t>
              </a:r>
              <a:endParaRPr lang="zh-CN" altLang="en-US" b="1">
                <a:solidFill>
                  <a:srgbClr val="C00000"/>
                </a:solidFill>
                <a:latin typeface="Times New Roman" pitchFamily="18" charset="0"/>
                <a:cs typeface="Times New Roman" pitchFamily="18" charset="0"/>
              </a:endParaRPr>
            </a:p>
          </p:txBody>
        </p:sp>
        <p:sp>
          <p:nvSpPr>
            <p:cNvPr id="34" name="TextBox 33"/>
            <p:cNvSpPr txBox="1"/>
            <p:nvPr/>
          </p:nvSpPr>
          <p:spPr>
            <a:xfrm>
              <a:off x="3438504" y="3363273"/>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35" name="TextBox 34"/>
            <p:cNvSpPr txBox="1"/>
            <p:nvPr/>
          </p:nvSpPr>
          <p:spPr>
            <a:xfrm>
              <a:off x="2553952" y="2960088"/>
              <a:ext cx="367656"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5/6</a:t>
              </a:r>
              <a:endParaRPr lang="zh-CN" altLang="en-US" b="1">
                <a:solidFill>
                  <a:srgbClr val="C00000"/>
                </a:solidFill>
                <a:latin typeface="Times New Roman" pitchFamily="18" charset="0"/>
                <a:cs typeface="Times New Roman" pitchFamily="18" charset="0"/>
              </a:endParaRPr>
            </a:p>
          </p:txBody>
        </p:sp>
        <p:sp>
          <p:nvSpPr>
            <p:cNvPr id="36" name="TextBox 35"/>
            <p:cNvSpPr txBox="1"/>
            <p:nvPr/>
          </p:nvSpPr>
          <p:spPr>
            <a:xfrm>
              <a:off x="3447948" y="366571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37" name="TextBox 36"/>
            <p:cNvSpPr txBox="1"/>
            <p:nvPr/>
          </p:nvSpPr>
          <p:spPr>
            <a:xfrm>
              <a:off x="2630535" y="3665715"/>
              <a:ext cx="188119"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38" name="TextBox 37"/>
            <p:cNvSpPr txBox="1"/>
            <p:nvPr/>
          </p:nvSpPr>
          <p:spPr>
            <a:xfrm>
              <a:off x="2019188" y="3206593"/>
              <a:ext cx="444600" cy="276999"/>
            </a:xfrm>
            <a:prstGeom prst="rect">
              <a:avLst/>
            </a:prstGeom>
            <a:solidFill>
              <a:schemeClr val="bg1"/>
            </a:solidFill>
            <a:ln w="28575">
              <a:noFill/>
            </a:ln>
          </p:spPr>
          <p:txBody>
            <a:bodyPr wrap="none" lIns="36000" tIns="0" rIns="36000" bIns="0" rtlCol="0">
              <a:spAutoFit/>
            </a:bodyPr>
            <a:lstStyle/>
            <a:p>
              <a:r>
                <a:rPr lang="en-US" altLang="zh-CN" b="1">
                  <a:solidFill>
                    <a:srgbClr val="C00000"/>
                  </a:solidFill>
                  <a:latin typeface="Times New Roman" pitchFamily="18" charset="0"/>
                  <a:cs typeface="Times New Roman" pitchFamily="18" charset="0"/>
                </a:rPr>
                <a:t>-1/2</a:t>
              </a:r>
              <a:endParaRPr lang="zh-CN" altLang="en-US" b="1">
                <a:solidFill>
                  <a:srgbClr val="C00000"/>
                </a:solidFill>
                <a:latin typeface="Times New Roman" pitchFamily="18" charset="0"/>
                <a:cs typeface="Times New Roman" pitchFamily="18" charset="0"/>
              </a:endParaRPr>
            </a:p>
          </p:txBody>
        </p:sp>
      </p:grpSp>
      <p:graphicFrame>
        <p:nvGraphicFramePr>
          <p:cNvPr id="460804" name="Object 4"/>
          <p:cNvGraphicFramePr>
            <a:graphicFrameLocks noChangeAspect="1"/>
          </p:cNvGraphicFramePr>
          <p:nvPr/>
        </p:nvGraphicFramePr>
        <p:xfrm>
          <a:off x="2062163" y="5470525"/>
          <a:ext cx="1971675" cy="669925"/>
        </p:xfrm>
        <a:graphic>
          <a:graphicData uri="http://schemas.openxmlformats.org/presentationml/2006/ole">
            <mc:AlternateContent xmlns:mc="http://schemas.openxmlformats.org/markup-compatibility/2006">
              <mc:Choice xmlns:v="urn:schemas-microsoft-com:vml" Requires="v">
                <p:oleObj spid="_x0000_s461833" name="Equation" r:id="rId7" imgW="1269720" imgH="431640" progId="Equation.DSMT4">
                  <p:embed/>
                </p:oleObj>
              </mc:Choice>
              <mc:Fallback>
                <p:oleObj name="Equation" r:id="rId7" imgW="1269720" imgH="43164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2163" y="5470525"/>
                        <a:ext cx="19716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05" name="Object 5"/>
          <p:cNvGraphicFramePr>
            <a:graphicFrameLocks noChangeAspect="1"/>
          </p:cNvGraphicFramePr>
          <p:nvPr/>
        </p:nvGraphicFramePr>
        <p:xfrm>
          <a:off x="3997343" y="5527998"/>
          <a:ext cx="3146425" cy="614362"/>
        </p:xfrm>
        <a:graphic>
          <a:graphicData uri="http://schemas.openxmlformats.org/presentationml/2006/ole">
            <mc:AlternateContent xmlns:mc="http://schemas.openxmlformats.org/markup-compatibility/2006">
              <mc:Choice xmlns:v="urn:schemas-microsoft-com:vml" Requires="v">
                <p:oleObj spid="_x0000_s461834" name="Equation" r:id="rId9" imgW="2019240" imgH="393480" progId="Equation.DSMT4">
                  <p:embed/>
                </p:oleObj>
              </mc:Choice>
              <mc:Fallback>
                <p:oleObj name="Equation" r:id="rId9" imgW="2019240" imgH="39348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7343" y="5527998"/>
                        <a:ext cx="3146425" cy="6143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06" name="Object 6"/>
          <p:cNvGraphicFramePr>
            <a:graphicFrameLocks noChangeAspect="1"/>
          </p:cNvGraphicFramePr>
          <p:nvPr/>
        </p:nvGraphicFramePr>
        <p:xfrm>
          <a:off x="7113615" y="5643563"/>
          <a:ext cx="1387475" cy="317500"/>
        </p:xfrm>
        <a:graphic>
          <a:graphicData uri="http://schemas.openxmlformats.org/presentationml/2006/ole">
            <mc:AlternateContent xmlns:mc="http://schemas.openxmlformats.org/markup-compatibility/2006">
              <mc:Choice xmlns:v="urn:schemas-microsoft-com:vml" Requires="v">
                <p:oleObj spid="_x0000_s461835" name="Equation" r:id="rId11" imgW="888840" imgH="203040" progId="Equation.DSMT4">
                  <p:embed/>
                </p:oleObj>
              </mc:Choice>
              <mc:Fallback>
                <p:oleObj name="Equation" r:id="rId11" imgW="888840" imgH="20304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13615" y="5643563"/>
                        <a:ext cx="138747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ppt_x"/>
                                          </p:val>
                                        </p:tav>
                                        <p:tav tm="100000">
                                          <p:val>
                                            <p:strVal val="#ppt_x"/>
                                          </p:val>
                                        </p:tav>
                                      </p:tavLst>
                                    </p:anim>
                                    <p:anim calcmode="lin" valueType="num">
                                      <p:cBhvr additive="base">
                                        <p:cTn id="13"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left)">
                                      <p:cBhvr>
                                        <p:cTn id="18" dur="500"/>
                                        <p:tgtEl>
                                          <p:spTgt spid="44"/>
                                        </p:tgtEl>
                                      </p:cBhvr>
                                    </p:animEffect>
                                  </p:childTnLst>
                                </p:cTn>
                              </p:par>
                            </p:childTnLst>
                          </p:cTn>
                        </p:par>
                        <p:par>
                          <p:cTn id="19" fill="hold">
                            <p:stCondLst>
                              <p:cond delay="500"/>
                            </p:stCondLst>
                            <p:childTnLst>
                              <p:par>
                                <p:cTn id="20" presetID="4" presetClass="entr" presetSubtype="16"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500"/>
                                        <p:tgtEl>
                                          <p:spTgt spid="45"/>
                                        </p:tgtEl>
                                      </p:cBhvr>
                                    </p:animEffect>
                                  </p:childTnLst>
                                </p:cTn>
                              </p:par>
                              <p:par>
                                <p:cTn id="28" presetID="2" presetClass="entr" presetSubtype="4" fill="hold" nodeType="withEffect">
                                  <p:stCondLst>
                                    <p:cond delay="0"/>
                                  </p:stCondLst>
                                  <p:childTnLst>
                                    <p:set>
                                      <p:cBhvr>
                                        <p:cTn id="29" dur="1" fill="hold">
                                          <p:stCondLst>
                                            <p:cond delay="0"/>
                                          </p:stCondLst>
                                        </p:cTn>
                                        <p:tgtEl>
                                          <p:spTgt spid="460804"/>
                                        </p:tgtEl>
                                        <p:attrNameLst>
                                          <p:attrName>style.visibility</p:attrName>
                                        </p:attrNameLst>
                                      </p:cBhvr>
                                      <p:to>
                                        <p:strVal val="visible"/>
                                      </p:to>
                                    </p:set>
                                    <p:anim calcmode="lin" valueType="num">
                                      <p:cBhvr additive="base">
                                        <p:cTn id="30" dur="500" fill="hold"/>
                                        <p:tgtEl>
                                          <p:spTgt spid="460804"/>
                                        </p:tgtEl>
                                        <p:attrNameLst>
                                          <p:attrName>ppt_x</p:attrName>
                                        </p:attrNameLst>
                                      </p:cBhvr>
                                      <p:tavLst>
                                        <p:tav tm="0">
                                          <p:val>
                                            <p:strVal val="#ppt_x"/>
                                          </p:val>
                                        </p:tav>
                                        <p:tav tm="100000">
                                          <p:val>
                                            <p:strVal val="#ppt_x"/>
                                          </p:val>
                                        </p:tav>
                                      </p:tavLst>
                                    </p:anim>
                                    <p:anim calcmode="lin" valueType="num">
                                      <p:cBhvr additive="base">
                                        <p:cTn id="31" dur="500" fill="hold"/>
                                        <p:tgtEl>
                                          <p:spTgt spid="46080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60805"/>
                                        </p:tgtEl>
                                        <p:attrNameLst>
                                          <p:attrName>style.visibility</p:attrName>
                                        </p:attrNameLst>
                                      </p:cBhvr>
                                      <p:to>
                                        <p:strVal val="visible"/>
                                      </p:to>
                                    </p:set>
                                    <p:anim calcmode="lin" valueType="num">
                                      <p:cBhvr additive="base">
                                        <p:cTn id="36" dur="500" fill="hold"/>
                                        <p:tgtEl>
                                          <p:spTgt spid="460805"/>
                                        </p:tgtEl>
                                        <p:attrNameLst>
                                          <p:attrName>ppt_x</p:attrName>
                                        </p:attrNameLst>
                                      </p:cBhvr>
                                      <p:tavLst>
                                        <p:tav tm="0">
                                          <p:val>
                                            <p:strVal val="#ppt_x"/>
                                          </p:val>
                                        </p:tav>
                                        <p:tav tm="100000">
                                          <p:val>
                                            <p:strVal val="#ppt_x"/>
                                          </p:val>
                                        </p:tav>
                                      </p:tavLst>
                                    </p:anim>
                                    <p:anim calcmode="lin" valueType="num">
                                      <p:cBhvr additive="base">
                                        <p:cTn id="37" dur="500" fill="hold"/>
                                        <p:tgtEl>
                                          <p:spTgt spid="46080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60806"/>
                                        </p:tgtEl>
                                        <p:attrNameLst>
                                          <p:attrName>style.visibility</p:attrName>
                                        </p:attrNameLst>
                                      </p:cBhvr>
                                      <p:to>
                                        <p:strVal val="visible"/>
                                      </p:to>
                                    </p:set>
                                    <p:animEffect transition="in" filter="wipe(down)">
                                      <p:cBhvr>
                                        <p:cTn id="42" dur="500"/>
                                        <p:tgtEl>
                                          <p:spTgt spid="460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4" grpId="0"/>
      <p:bldP spid="4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5-5</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如图所示为一等截面圆弧形曲杆</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，截面为矩形，圆弧</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的圆心角为</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857224" y="3286124"/>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⑴</a:t>
            </a:r>
            <a:r>
              <a:rPr kumimoji="1" lang="en-US" altLang="zh-CN" sz="2000" b="1">
                <a:solidFill>
                  <a:srgbClr val="000000"/>
                </a:solidFill>
                <a:latin typeface="+mn-ea"/>
              </a:rPr>
              <a:t> </a:t>
            </a:r>
            <a:r>
              <a:rPr kumimoji="1" lang="zh-CN" altLang="en-US" sz="2000" b="1">
                <a:solidFill>
                  <a:srgbClr val="000000"/>
                </a:solidFill>
                <a:latin typeface="+mn-ea"/>
              </a:rPr>
              <a:t>在</a:t>
            </a:r>
            <a:r>
              <a:rPr kumimoji="1" lang="en-US" altLang="zh-CN" sz="2000" b="1" i="1">
                <a:solidFill>
                  <a:srgbClr val="000000"/>
                </a:solidFill>
                <a:latin typeface="Times New Roman" pitchFamily="18" charset="0"/>
                <a:cs typeface="Times New Roman" pitchFamily="18" charset="0"/>
              </a:rPr>
              <a:t>B</a:t>
            </a:r>
            <a:r>
              <a:rPr kumimoji="1" lang="zh-CN" altLang="en-US" sz="2000" b="1">
                <a:solidFill>
                  <a:srgbClr val="000000"/>
                </a:solidFill>
                <a:latin typeface="+mn-ea"/>
              </a:rPr>
              <a:t>点虚设向下的单位荷载；</a:t>
            </a:r>
            <a:endParaRPr kumimoji="1" lang="en-US" altLang="zh-CN" sz="2000" b="1">
              <a:solidFill>
                <a:srgbClr val="000000"/>
              </a:solidFill>
              <a:latin typeface="+mn-ea"/>
            </a:endParaRPr>
          </a:p>
        </p:txBody>
      </p:sp>
      <p:graphicFrame>
        <p:nvGraphicFramePr>
          <p:cNvPr id="414723" name="Object 3"/>
          <p:cNvGraphicFramePr>
            <a:graphicFrameLocks noChangeAspect="1"/>
          </p:cNvGraphicFramePr>
          <p:nvPr/>
        </p:nvGraphicFramePr>
        <p:xfrm>
          <a:off x="6286512" y="1262068"/>
          <a:ext cx="2333625" cy="3024188"/>
        </p:xfrm>
        <a:graphic>
          <a:graphicData uri="http://schemas.openxmlformats.org/presentationml/2006/ole">
            <mc:AlternateContent xmlns:mc="http://schemas.openxmlformats.org/markup-compatibility/2006">
              <mc:Choice xmlns:v="urn:schemas-microsoft-com:vml" Requires="v">
                <p:oleObj spid="_x0000_s462865" name="AutoCAD Drawing" r:id="rId4" imgW="8943840" imgH="4981680" progId="">
                  <p:embed/>
                </p:oleObj>
              </mc:Choice>
              <mc:Fallback>
                <p:oleObj name="AutoCAD Drawing" r:id="rId4" imgW="8943840" imgH="498168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4891" t="34248" r="43550" b="15175"/>
                      <a:stretch>
                        <a:fillRect/>
                      </a:stretch>
                    </p:blipFill>
                    <p:spPr bwMode="auto">
                      <a:xfrm>
                        <a:off x="6286512" y="1262068"/>
                        <a:ext cx="2333625"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6785" name="Object 17"/>
          <p:cNvGraphicFramePr>
            <a:graphicFrameLocks noGrp="1" noChangeAspect="1"/>
          </p:cNvGraphicFramePr>
          <p:nvPr/>
        </p:nvGraphicFramePr>
        <p:xfrm>
          <a:off x="6194455" y="4000504"/>
          <a:ext cx="2735263" cy="2565400"/>
        </p:xfrm>
        <a:graphic>
          <a:graphicData uri="http://schemas.openxmlformats.org/presentationml/2006/ole">
            <mc:AlternateContent xmlns:mc="http://schemas.openxmlformats.org/markup-compatibility/2006">
              <mc:Choice xmlns:v="urn:schemas-microsoft-com:vml" Requires="v">
                <p:oleObj spid="_x0000_s462866" name="AutoCAD Drawing" r:id="rId6" imgW="8943840" imgH="4981680" progId="">
                  <p:embed/>
                </p:oleObj>
              </mc:Choice>
              <mc:Fallback>
                <p:oleObj name="AutoCAD Drawing" r:id="rId6" imgW="8943840" imgH="4981680" progId="">
                  <p:embed/>
                  <p:pic>
                    <p:nvPicPr>
                      <p:cNvPr id="0" name="Object 17"/>
                      <p:cNvPicPr>
                        <a:picLocks noGrp="1" noChangeAspect="1" noChangeArrowheads="1"/>
                      </p:cNvPicPr>
                      <p:nvPr/>
                    </p:nvPicPr>
                    <p:blipFill>
                      <a:blip r:embed="rId7">
                        <a:extLst>
                          <a:ext uri="{28A0092B-C50C-407E-A947-70E740481C1C}">
                            <a14:useLocalDpi xmlns:a14="http://schemas.microsoft.com/office/drawing/2010/main" val="0"/>
                          </a:ext>
                        </a:extLst>
                      </a:blip>
                      <a:srcRect l="37460" t="16978" r="21541" b="5011"/>
                      <a:stretch>
                        <a:fillRect/>
                      </a:stretch>
                    </p:blipFill>
                    <p:spPr bwMode="auto">
                      <a:xfrm>
                        <a:off x="6194455" y="4000504"/>
                        <a:ext cx="2735263"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Rectangle 4"/>
          <p:cNvSpPr>
            <a:spLocks noChangeArrowheads="1"/>
          </p:cNvSpPr>
          <p:nvPr/>
        </p:nvSpPr>
        <p:spPr bwMode="auto">
          <a:xfrm>
            <a:off x="843368" y="3714095"/>
            <a:ext cx="5228829"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a:solidFill>
                  <a:srgbClr val="000000"/>
                </a:solidFill>
                <a:latin typeface="+mn-ea"/>
              </a:rPr>
              <a:t>      ⑵</a:t>
            </a:r>
            <a:r>
              <a:rPr kumimoji="1" lang="en-US" altLang="zh-CN" sz="2000" b="1">
                <a:solidFill>
                  <a:srgbClr val="000000"/>
                </a:solidFill>
                <a:latin typeface="+mn-ea"/>
              </a:rPr>
              <a:t> 	</a:t>
            </a:r>
            <a:r>
              <a:rPr kumimoji="1" lang="zh-CN" altLang="en-US" sz="2000" b="1">
                <a:solidFill>
                  <a:srgbClr val="000000"/>
                </a:solidFill>
                <a:latin typeface="+mn-ea"/>
              </a:rPr>
              <a:t>求出实际荷载和虚设荷载作用下的内力；</a:t>
            </a:r>
            <a:endParaRPr kumimoji="1" lang="en-US" altLang="zh-CN" sz="2000" b="1">
              <a:solidFill>
                <a:srgbClr val="000000"/>
              </a:solidFill>
              <a:latin typeface="+mn-ea"/>
            </a:endParaRPr>
          </a:p>
        </p:txBody>
      </p:sp>
      <p:graphicFrame>
        <p:nvGraphicFramePr>
          <p:cNvPr id="51" name="表格 50"/>
          <p:cNvGraphicFramePr>
            <a:graphicFrameLocks noGrp="1"/>
          </p:cNvGraphicFramePr>
          <p:nvPr/>
        </p:nvGraphicFramePr>
        <p:xfrm>
          <a:off x="1000101" y="4214818"/>
          <a:ext cx="5143535" cy="2169424"/>
        </p:xfrm>
        <a:graphic>
          <a:graphicData uri="http://schemas.openxmlformats.org/drawingml/2006/table">
            <a:tbl>
              <a:tblPr firstRow="1" bandRow="1">
                <a:tableStyleId>{5C22544A-7EE6-4342-B048-85BDC9FD1C3A}</a:tableStyleId>
              </a:tblPr>
              <a:tblGrid>
                <a:gridCol w="1202385">
                  <a:extLst>
                    <a:ext uri="{9D8B030D-6E8A-4147-A177-3AD203B41FA5}">
                      <a16:colId xmlns:a16="http://schemas.microsoft.com/office/drawing/2014/main" val="20000"/>
                    </a:ext>
                  </a:extLst>
                </a:gridCol>
                <a:gridCol w="1937176">
                  <a:extLst>
                    <a:ext uri="{9D8B030D-6E8A-4147-A177-3AD203B41FA5}">
                      <a16:colId xmlns:a16="http://schemas.microsoft.com/office/drawing/2014/main" val="20001"/>
                    </a:ext>
                  </a:extLst>
                </a:gridCol>
                <a:gridCol w="2003974">
                  <a:extLst>
                    <a:ext uri="{9D8B030D-6E8A-4147-A177-3AD203B41FA5}">
                      <a16:colId xmlns:a16="http://schemas.microsoft.com/office/drawing/2014/main" val="20002"/>
                    </a:ext>
                  </a:extLst>
                </a:gridCol>
              </a:tblGrid>
              <a:tr h="393046">
                <a:tc>
                  <a:txBody>
                    <a:bodyPr/>
                    <a:lstStyle/>
                    <a:p>
                      <a:pPr algn="ctr"/>
                      <a:r>
                        <a:rPr lang="zh-CN" altLang="en-US">
                          <a:solidFill>
                            <a:schemeClr val="tx1"/>
                          </a:solidFill>
                        </a:rPr>
                        <a:t>内力类型</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实际荷载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虚设单位荷载</a:t>
                      </a: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749962">
                <a:tc>
                  <a:txBody>
                    <a:bodyPr/>
                    <a:lstStyle/>
                    <a:p>
                      <a:pPr algn="ctr"/>
                      <a:r>
                        <a:rPr lang="zh-CN" altLang="en-US" b="1">
                          <a:solidFill>
                            <a:schemeClr val="tx1"/>
                          </a:solidFill>
                        </a:rPr>
                        <a:t>弯矩</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513208">
                <a:tc>
                  <a:txBody>
                    <a:bodyPr/>
                    <a:lstStyle/>
                    <a:p>
                      <a:pPr algn="ctr"/>
                      <a:r>
                        <a:rPr lang="zh-CN" altLang="en-US" b="1">
                          <a:solidFill>
                            <a:schemeClr val="tx1"/>
                          </a:solidFill>
                        </a:rPr>
                        <a:t>轴力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513208">
                <a:tc>
                  <a:txBody>
                    <a:bodyPr/>
                    <a:lstStyle/>
                    <a:p>
                      <a:pPr algn="ctr"/>
                      <a:r>
                        <a:rPr lang="zh-CN" altLang="en-US" b="1">
                          <a:solidFill>
                            <a:schemeClr val="tx1"/>
                          </a:solidFill>
                        </a:rPr>
                        <a:t>剪力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graphicFrame>
        <p:nvGraphicFramePr>
          <p:cNvPr id="462859" name="Object 11"/>
          <p:cNvGraphicFramePr>
            <a:graphicFrameLocks noChangeAspect="1"/>
          </p:cNvGraphicFramePr>
          <p:nvPr/>
        </p:nvGraphicFramePr>
        <p:xfrm>
          <a:off x="2554283" y="4675200"/>
          <a:ext cx="1303337" cy="611188"/>
        </p:xfrm>
        <a:graphic>
          <a:graphicData uri="http://schemas.openxmlformats.org/presentationml/2006/ole">
            <mc:AlternateContent xmlns:mc="http://schemas.openxmlformats.org/markup-compatibility/2006">
              <mc:Choice xmlns:v="urn:schemas-microsoft-com:vml" Requires="v">
                <p:oleObj spid="_x0000_s462867" name="Equation" r:id="rId8" imgW="838080" imgH="393480" progId="Equation.DSMT4">
                  <p:embed/>
                </p:oleObj>
              </mc:Choice>
              <mc:Fallback>
                <p:oleObj name="Equation" r:id="rId8" imgW="838080" imgH="393480" progId="Equation.DSMT4">
                  <p:embed/>
                  <p:pic>
                    <p:nvPicPr>
                      <p:cNvPr id="0"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4283" y="4675200"/>
                        <a:ext cx="1303337"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60" name="Object 12"/>
          <p:cNvGraphicFramePr>
            <a:graphicFrameLocks noChangeAspect="1"/>
          </p:cNvGraphicFramePr>
          <p:nvPr/>
        </p:nvGraphicFramePr>
        <p:xfrm>
          <a:off x="4762507" y="4822405"/>
          <a:ext cx="809625" cy="334962"/>
        </p:xfrm>
        <a:graphic>
          <a:graphicData uri="http://schemas.openxmlformats.org/presentationml/2006/ole">
            <mc:AlternateContent xmlns:mc="http://schemas.openxmlformats.org/markup-compatibility/2006">
              <mc:Choice xmlns:v="urn:schemas-microsoft-com:vml" Requires="v">
                <p:oleObj spid="_x0000_s462868" name="Equation" r:id="rId10" imgW="520560" imgH="215640" progId="Equation.DSMT4">
                  <p:embed/>
                </p:oleObj>
              </mc:Choice>
              <mc:Fallback>
                <p:oleObj name="Equation" r:id="rId10" imgW="520560" imgH="215640" progId="Equation.DSMT4">
                  <p:embed/>
                  <p:pic>
                    <p:nvPicPr>
                      <p:cNvPr id="0"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62507" y="4822405"/>
                        <a:ext cx="809625"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61" name="Object 13"/>
          <p:cNvGraphicFramePr>
            <a:graphicFrameLocks noChangeAspect="1"/>
          </p:cNvGraphicFramePr>
          <p:nvPr/>
        </p:nvGraphicFramePr>
        <p:xfrm>
          <a:off x="2442715" y="5474998"/>
          <a:ext cx="1501775" cy="355600"/>
        </p:xfrm>
        <a:graphic>
          <a:graphicData uri="http://schemas.openxmlformats.org/presentationml/2006/ole">
            <mc:AlternateContent xmlns:mc="http://schemas.openxmlformats.org/markup-compatibility/2006">
              <mc:Choice xmlns:v="urn:schemas-microsoft-com:vml" Requires="v">
                <p:oleObj spid="_x0000_s462869" name="Equation" r:id="rId12" imgW="965160" imgH="228600" progId="Equation.DSMT4">
                  <p:embed/>
                </p:oleObj>
              </mc:Choice>
              <mc:Fallback>
                <p:oleObj name="Equation" r:id="rId12" imgW="965160" imgH="228600" progId="Equation.DSMT4">
                  <p:embed/>
                  <p:pic>
                    <p:nvPicPr>
                      <p:cNvPr id="0"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2715" y="5474998"/>
                        <a:ext cx="150177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62" name="Object 14"/>
          <p:cNvGraphicFramePr>
            <a:graphicFrameLocks noChangeAspect="1"/>
          </p:cNvGraphicFramePr>
          <p:nvPr/>
        </p:nvGraphicFramePr>
        <p:xfrm>
          <a:off x="4543425" y="5464175"/>
          <a:ext cx="1244600" cy="374650"/>
        </p:xfrm>
        <a:graphic>
          <a:graphicData uri="http://schemas.openxmlformats.org/presentationml/2006/ole">
            <mc:AlternateContent xmlns:mc="http://schemas.openxmlformats.org/markup-compatibility/2006">
              <mc:Choice xmlns:v="urn:schemas-microsoft-com:vml" Requires="v">
                <p:oleObj spid="_x0000_s462870" name="Equation" r:id="rId14" imgW="799920" imgH="241200" progId="Equation.DSMT4">
                  <p:embed/>
                </p:oleObj>
              </mc:Choice>
              <mc:Fallback>
                <p:oleObj name="Equation" r:id="rId14" imgW="799920" imgH="241200" progId="Equation.DSMT4">
                  <p:embed/>
                  <p:pic>
                    <p:nvPicPr>
                      <p:cNvPr id="0"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43425" y="5464175"/>
                        <a:ext cx="124460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63" name="Object 15"/>
          <p:cNvGraphicFramePr>
            <a:graphicFrameLocks noChangeAspect="1"/>
          </p:cNvGraphicFramePr>
          <p:nvPr/>
        </p:nvGraphicFramePr>
        <p:xfrm>
          <a:off x="2450810" y="5950815"/>
          <a:ext cx="1403350" cy="374650"/>
        </p:xfrm>
        <a:graphic>
          <a:graphicData uri="http://schemas.openxmlformats.org/presentationml/2006/ole">
            <mc:AlternateContent xmlns:mc="http://schemas.openxmlformats.org/markup-compatibility/2006">
              <mc:Choice xmlns:v="urn:schemas-microsoft-com:vml" Requires="v">
                <p:oleObj spid="_x0000_s462871" name="Equation" r:id="rId16" imgW="901440" imgH="241200" progId="Equation.DSMT4">
                  <p:embed/>
                </p:oleObj>
              </mc:Choice>
              <mc:Fallback>
                <p:oleObj name="Equation" r:id="rId16" imgW="901440" imgH="241200" progId="Equation.DSMT4">
                  <p:embed/>
                  <p:pic>
                    <p:nvPicPr>
                      <p:cNvPr id="0" name="Picture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50810" y="5950815"/>
                        <a:ext cx="14033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64" name="Object 16"/>
          <p:cNvGraphicFramePr>
            <a:graphicFrameLocks noChangeAspect="1"/>
          </p:cNvGraphicFramePr>
          <p:nvPr/>
        </p:nvGraphicFramePr>
        <p:xfrm>
          <a:off x="4562475" y="5929313"/>
          <a:ext cx="1263650" cy="374650"/>
        </p:xfrm>
        <a:graphic>
          <a:graphicData uri="http://schemas.openxmlformats.org/presentationml/2006/ole">
            <mc:AlternateContent xmlns:mc="http://schemas.openxmlformats.org/markup-compatibility/2006">
              <mc:Choice xmlns:v="urn:schemas-microsoft-com:vml" Requires="v">
                <p:oleObj spid="_x0000_s462872" name="Equation" r:id="rId18" imgW="812520" imgH="241200" progId="Equation.DSMT4">
                  <p:embed/>
                </p:oleObj>
              </mc:Choice>
              <mc:Fallback>
                <p:oleObj name="Equation" r:id="rId18" imgW="812520" imgH="241200" progId="Equation.DSMT4">
                  <p:embed/>
                  <p:pic>
                    <p:nvPicPr>
                      <p:cNvPr id="0" name="Picture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62475" y="5929313"/>
                        <a:ext cx="12636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 name="TextBox 56"/>
          <p:cNvSpPr txBox="1"/>
          <p:nvPr/>
        </p:nvSpPr>
        <p:spPr>
          <a:xfrm>
            <a:off x="4647296" y="2857496"/>
            <a:ext cx="1210588" cy="400110"/>
          </a:xfrm>
          <a:prstGeom prst="rect">
            <a:avLst/>
          </a:prstGeom>
          <a:noFill/>
          <a:ln w="28575">
            <a:noFill/>
          </a:ln>
        </p:spPr>
        <p:txBody>
          <a:bodyPr wrap="none" rtlCol="0">
            <a:spAutoFit/>
          </a:bodyPr>
          <a:lstStyle/>
          <a:p>
            <a:r>
              <a:rPr lang="zh-CN" altLang="en-US" sz="2000" b="1">
                <a:solidFill>
                  <a:srgbClr val="C00000"/>
                </a:solidFill>
              </a:rPr>
              <a:t>是拱吗？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7" presetClass="entr" presetSubtype="4" fill="hold" nodeType="withEffect">
                                  <p:stCondLst>
                                    <p:cond delay="0"/>
                                  </p:stCondLst>
                                  <p:childTnLst>
                                    <p:set>
                                      <p:cBhvr>
                                        <p:cTn id="10" dur="1" fill="hold">
                                          <p:stCondLst>
                                            <p:cond delay="0"/>
                                          </p:stCondLst>
                                        </p:cTn>
                                        <p:tgtEl>
                                          <p:spTgt spid="414723"/>
                                        </p:tgtEl>
                                        <p:attrNameLst>
                                          <p:attrName>style.visibility</p:attrName>
                                        </p:attrNameLst>
                                      </p:cBhvr>
                                      <p:to>
                                        <p:strVal val="visible"/>
                                      </p:to>
                                    </p:set>
                                    <p:anim calcmode="lin" valueType="num">
                                      <p:cBhvr additive="base">
                                        <p:cTn id="11" dur="1000" fill="hold"/>
                                        <p:tgtEl>
                                          <p:spTgt spid="414723"/>
                                        </p:tgtEl>
                                        <p:attrNameLst>
                                          <p:attrName>ppt_x</p:attrName>
                                        </p:attrNameLst>
                                      </p:cBhvr>
                                      <p:tavLst>
                                        <p:tav tm="0">
                                          <p:val>
                                            <p:strVal val="#ppt_x"/>
                                          </p:val>
                                        </p:tav>
                                        <p:tav tm="100000">
                                          <p:val>
                                            <p:strVal val="#ppt_x"/>
                                          </p:val>
                                        </p:tav>
                                      </p:tavLst>
                                    </p:anim>
                                    <p:anim calcmode="lin" valueType="num">
                                      <p:cBhvr additive="base">
                                        <p:cTn id="12" dur="1000" fill="hold"/>
                                        <p:tgtEl>
                                          <p:spTgt spid="4147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ppt_x"/>
                                          </p:val>
                                        </p:tav>
                                        <p:tav tm="100000">
                                          <p:val>
                                            <p:strVal val="#ppt_x"/>
                                          </p:val>
                                        </p:tav>
                                      </p:tavLst>
                                    </p:anim>
                                    <p:anim calcmode="lin" valueType="num">
                                      <p:cBhvr additive="base">
                                        <p:cTn id="1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ox(in)">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416785"/>
                                        </p:tgtEl>
                                        <p:attrNameLst>
                                          <p:attrName>style.visibility</p:attrName>
                                        </p:attrNameLst>
                                      </p:cBhvr>
                                      <p:to>
                                        <p:strVal val="visible"/>
                                      </p:to>
                                    </p:set>
                                    <p:animEffect transition="in" filter="box(in)">
                                      <p:cBhvr>
                                        <p:cTn id="28" dur="500"/>
                                        <p:tgtEl>
                                          <p:spTgt spid="416785"/>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box(in)">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51"/>
                                        </p:tgtEl>
                                        <p:attrNameLst>
                                          <p:attrName>style.visibility</p:attrName>
                                        </p:attrNameLst>
                                      </p:cBhvr>
                                      <p:to>
                                        <p:strVal val="visible"/>
                                      </p:to>
                                    </p:set>
                                    <p:anim calcmode="lin" valueType="num">
                                      <p:cBhvr additive="base">
                                        <p:cTn id="38" dur="500" fill="hold"/>
                                        <p:tgtEl>
                                          <p:spTgt spid="51"/>
                                        </p:tgtEl>
                                        <p:attrNameLst>
                                          <p:attrName>ppt_x</p:attrName>
                                        </p:attrNameLst>
                                      </p:cBhvr>
                                      <p:tavLst>
                                        <p:tav tm="0">
                                          <p:val>
                                            <p:strVal val="#ppt_x"/>
                                          </p:val>
                                        </p:tav>
                                        <p:tav tm="100000">
                                          <p:val>
                                            <p:strVal val="#ppt_x"/>
                                          </p:val>
                                        </p:tav>
                                      </p:tavLst>
                                    </p:anim>
                                    <p:anim calcmode="lin" valueType="num">
                                      <p:cBhvr additive="base">
                                        <p:cTn id="39"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462859"/>
                                        </p:tgtEl>
                                        <p:attrNameLst>
                                          <p:attrName>style.visibility</p:attrName>
                                        </p:attrNameLst>
                                      </p:cBhvr>
                                      <p:to>
                                        <p:strVal val="visible"/>
                                      </p:to>
                                    </p:set>
                                    <p:animEffect transition="in" filter="wipe(down)">
                                      <p:cBhvr>
                                        <p:cTn id="44" dur="500"/>
                                        <p:tgtEl>
                                          <p:spTgt spid="462859"/>
                                        </p:tgtEl>
                                      </p:cBhvr>
                                    </p:animEffect>
                                  </p:childTnLst>
                                </p:cTn>
                              </p:par>
                            </p:childTnLst>
                          </p:cTn>
                        </p:par>
                        <p:par>
                          <p:cTn id="45" fill="hold">
                            <p:stCondLst>
                              <p:cond delay="500"/>
                            </p:stCondLst>
                            <p:childTnLst>
                              <p:par>
                                <p:cTn id="46" presetID="22" presetClass="entr" presetSubtype="4" fill="hold" nodeType="afterEffect">
                                  <p:stCondLst>
                                    <p:cond delay="0"/>
                                  </p:stCondLst>
                                  <p:childTnLst>
                                    <p:set>
                                      <p:cBhvr>
                                        <p:cTn id="47" dur="1" fill="hold">
                                          <p:stCondLst>
                                            <p:cond delay="0"/>
                                          </p:stCondLst>
                                        </p:cTn>
                                        <p:tgtEl>
                                          <p:spTgt spid="462860"/>
                                        </p:tgtEl>
                                        <p:attrNameLst>
                                          <p:attrName>style.visibility</p:attrName>
                                        </p:attrNameLst>
                                      </p:cBhvr>
                                      <p:to>
                                        <p:strVal val="visible"/>
                                      </p:to>
                                    </p:set>
                                    <p:animEffect transition="in" filter="wipe(down)">
                                      <p:cBhvr>
                                        <p:cTn id="48" dur="500"/>
                                        <p:tgtEl>
                                          <p:spTgt spid="46286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462861"/>
                                        </p:tgtEl>
                                        <p:attrNameLst>
                                          <p:attrName>style.visibility</p:attrName>
                                        </p:attrNameLst>
                                      </p:cBhvr>
                                      <p:to>
                                        <p:strVal val="visible"/>
                                      </p:to>
                                    </p:set>
                                    <p:animEffect transition="in" filter="wipe(down)">
                                      <p:cBhvr>
                                        <p:cTn id="53" dur="500"/>
                                        <p:tgtEl>
                                          <p:spTgt spid="462861"/>
                                        </p:tgtEl>
                                      </p:cBhvr>
                                    </p:animEffect>
                                  </p:childTnLst>
                                </p:cTn>
                              </p:par>
                            </p:childTnLst>
                          </p:cTn>
                        </p:par>
                        <p:par>
                          <p:cTn id="54" fill="hold">
                            <p:stCondLst>
                              <p:cond delay="500"/>
                            </p:stCondLst>
                            <p:childTnLst>
                              <p:par>
                                <p:cTn id="55" presetID="22" presetClass="entr" presetSubtype="4" fill="hold" nodeType="afterEffect">
                                  <p:stCondLst>
                                    <p:cond delay="0"/>
                                  </p:stCondLst>
                                  <p:childTnLst>
                                    <p:set>
                                      <p:cBhvr>
                                        <p:cTn id="56" dur="1" fill="hold">
                                          <p:stCondLst>
                                            <p:cond delay="0"/>
                                          </p:stCondLst>
                                        </p:cTn>
                                        <p:tgtEl>
                                          <p:spTgt spid="462862"/>
                                        </p:tgtEl>
                                        <p:attrNameLst>
                                          <p:attrName>style.visibility</p:attrName>
                                        </p:attrNameLst>
                                      </p:cBhvr>
                                      <p:to>
                                        <p:strVal val="visible"/>
                                      </p:to>
                                    </p:set>
                                    <p:animEffect transition="in" filter="wipe(down)">
                                      <p:cBhvr>
                                        <p:cTn id="57" dur="500"/>
                                        <p:tgtEl>
                                          <p:spTgt spid="46286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462863"/>
                                        </p:tgtEl>
                                        <p:attrNameLst>
                                          <p:attrName>style.visibility</p:attrName>
                                        </p:attrNameLst>
                                      </p:cBhvr>
                                      <p:to>
                                        <p:strVal val="visible"/>
                                      </p:to>
                                    </p:set>
                                    <p:animEffect transition="in" filter="wipe(down)">
                                      <p:cBhvr>
                                        <p:cTn id="62" dur="500"/>
                                        <p:tgtEl>
                                          <p:spTgt spid="462863"/>
                                        </p:tgtEl>
                                      </p:cBhvr>
                                    </p:animEffect>
                                  </p:childTnLst>
                                </p:cTn>
                              </p:par>
                            </p:childTnLst>
                          </p:cTn>
                        </p:par>
                        <p:par>
                          <p:cTn id="63" fill="hold">
                            <p:stCondLst>
                              <p:cond delay="500"/>
                            </p:stCondLst>
                            <p:childTnLst>
                              <p:par>
                                <p:cTn id="64" presetID="22" presetClass="entr" presetSubtype="4" fill="hold" nodeType="afterEffect">
                                  <p:stCondLst>
                                    <p:cond delay="0"/>
                                  </p:stCondLst>
                                  <p:childTnLst>
                                    <p:set>
                                      <p:cBhvr>
                                        <p:cTn id="65" dur="1" fill="hold">
                                          <p:stCondLst>
                                            <p:cond delay="0"/>
                                          </p:stCondLst>
                                        </p:cTn>
                                        <p:tgtEl>
                                          <p:spTgt spid="462864"/>
                                        </p:tgtEl>
                                        <p:attrNameLst>
                                          <p:attrName>style.visibility</p:attrName>
                                        </p:attrNameLst>
                                      </p:cBhvr>
                                      <p:to>
                                        <p:strVal val="visible"/>
                                      </p:to>
                                    </p:set>
                                    <p:animEffect transition="in" filter="wipe(down)">
                                      <p:cBhvr>
                                        <p:cTn id="66" dur="500"/>
                                        <p:tgtEl>
                                          <p:spTgt spid="462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49" grpId="0"/>
      <p:bldP spid="5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5-5</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如图所示为一等截面圆弧形曲杆</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，截面为矩形，圆弧</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的圆心角为</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857224" y="3286124"/>
            <a:ext cx="5357850" cy="797975"/>
          </a:xfrm>
          <a:prstGeom prst="rect">
            <a:avLst/>
          </a:prstGeom>
          <a:noFill/>
          <a:ln w="9525">
            <a:noFill/>
            <a:miter lim="800000"/>
            <a:headEnd/>
            <a:tailEnd/>
          </a:ln>
        </p:spPr>
        <p:txBody>
          <a:bodyPr wrap="square">
            <a:spAutoFit/>
          </a:bodyPr>
          <a:lstStyle/>
          <a:p>
            <a:pPr marL="722313" indent="-722313"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⑶</a:t>
            </a:r>
            <a:r>
              <a:rPr kumimoji="1" lang="en-US" altLang="zh-CN" sz="2000" b="1">
                <a:solidFill>
                  <a:srgbClr val="000000"/>
                </a:solidFill>
                <a:latin typeface="+mn-ea"/>
              </a:rPr>
              <a:t> </a:t>
            </a:r>
            <a:r>
              <a:rPr kumimoji="1" lang="zh-CN" altLang="en-US" sz="2000" b="1">
                <a:solidFill>
                  <a:srgbClr val="000000"/>
                </a:solidFill>
                <a:latin typeface="+mn-ea"/>
              </a:rPr>
              <a:t>代入位移公式，求得弯矩、轴力、剪力对位移的贡献；</a:t>
            </a:r>
            <a:endParaRPr kumimoji="1" lang="en-US" altLang="zh-CN" sz="2000" b="1">
              <a:solidFill>
                <a:srgbClr val="000000"/>
              </a:solidFill>
              <a:latin typeface="+mn-ea"/>
            </a:endParaRPr>
          </a:p>
        </p:txBody>
      </p:sp>
      <p:graphicFrame>
        <p:nvGraphicFramePr>
          <p:cNvPr id="414723" name="Object 3"/>
          <p:cNvGraphicFramePr>
            <a:graphicFrameLocks noChangeAspect="1"/>
          </p:cNvGraphicFramePr>
          <p:nvPr/>
        </p:nvGraphicFramePr>
        <p:xfrm>
          <a:off x="6286512" y="1262068"/>
          <a:ext cx="2333625" cy="3024188"/>
        </p:xfrm>
        <a:graphic>
          <a:graphicData uri="http://schemas.openxmlformats.org/presentationml/2006/ole">
            <mc:AlternateContent xmlns:mc="http://schemas.openxmlformats.org/markup-compatibility/2006">
              <mc:Choice xmlns:v="urn:schemas-microsoft-com:vml" Requires="v">
                <p:oleObj spid="_x0000_s463888" name="AutoCAD Drawing" r:id="rId4" imgW="8943840" imgH="4981680" progId="">
                  <p:embed/>
                </p:oleObj>
              </mc:Choice>
              <mc:Fallback>
                <p:oleObj name="AutoCAD Drawing" r:id="rId4" imgW="8943840" imgH="498168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4891" t="34248" r="43550" b="15175"/>
                      <a:stretch>
                        <a:fillRect/>
                      </a:stretch>
                    </p:blipFill>
                    <p:spPr bwMode="auto">
                      <a:xfrm>
                        <a:off x="6286512" y="1262068"/>
                        <a:ext cx="2333625"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6785" name="Object 17"/>
          <p:cNvGraphicFramePr>
            <a:graphicFrameLocks noGrp="1" noChangeAspect="1"/>
          </p:cNvGraphicFramePr>
          <p:nvPr/>
        </p:nvGraphicFramePr>
        <p:xfrm>
          <a:off x="6194455" y="4000504"/>
          <a:ext cx="2735263" cy="2565400"/>
        </p:xfrm>
        <a:graphic>
          <a:graphicData uri="http://schemas.openxmlformats.org/presentationml/2006/ole">
            <mc:AlternateContent xmlns:mc="http://schemas.openxmlformats.org/markup-compatibility/2006">
              <mc:Choice xmlns:v="urn:schemas-microsoft-com:vml" Requires="v">
                <p:oleObj spid="_x0000_s463889" name="AutoCAD Drawing" r:id="rId6" imgW="8943840" imgH="4981680" progId="">
                  <p:embed/>
                </p:oleObj>
              </mc:Choice>
              <mc:Fallback>
                <p:oleObj name="AutoCAD Drawing" r:id="rId6" imgW="8943840" imgH="4981680" progId="">
                  <p:embed/>
                  <p:pic>
                    <p:nvPicPr>
                      <p:cNvPr id="0" name="Object 17"/>
                      <p:cNvPicPr>
                        <a:picLocks noGrp="1" noChangeAspect="1" noChangeArrowheads="1"/>
                      </p:cNvPicPr>
                      <p:nvPr/>
                    </p:nvPicPr>
                    <p:blipFill>
                      <a:blip r:embed="rId7">
                        <a:extLst>
                          <a:ext uri="{28A0092B-C50C-407E-A947-70E740481C1C}">
                            <a14:useLocalDpi xmlns:a14="http://schemas.microsoft.com/office/drawing/2010/main" val="0"/>
                          </a:ext>
                        </a:extLst>
                      </a:blip>
                      <a:srcRect l="37460" t="16978" r="21541" b="5011"/>
                      <a:stretch>
                        <a:fillRect/>
                      </a:stretch>
                    </p:blipFill>
                    <p:spPr bwMode="auto">
                      <a:xfrm>
                        <a:off x="6194455" y="4000504"/>
                        <a:ext cx="2735263"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3"/>
          <p:cNvGraphicFramePr>
            <a:graphicFrameLocks noChangeAspect="1"/>
          </p:cNvGraphicFramePr>
          <p:nvPr/>
        </p:nvGraphicFramePr>
        <p:xfrm>
          <a:off x="1711325" y="4214813"/>
          <a:ext cx="1847850" cy="2043112"/>
        </p:xfrm>
        <a:graphic>
          <a:graphicData uri="http://schemas.openxmlformats.org/presentationml/2006/ole">
            <mc:AlternateContent xmlns:mc="http://schemas.openxmlformats.org/markup-compatibility/2006">
              <mc:Choice xmlns:v="urn:schemas-microsoft-com:vml" Requires="v">
                <p:oleObj spid="_x0000_s463890" name="Equation" r:id="rId8" imgW="1193760" imgH="1320480" progId="Equation.DSMT4">
                  <p:embed/>
                </p:oleObj>
              </mc:Choice>
              <mc:Fallback>
                <p:oleObj name="Equation" r:id="rId8" imgW="1193760" imgH="1320480" progId="Equation.DSMT4">
                  <p:embed/>
                  <p:pic>
                    <p:nvPicPr>
                      <p:cNvPr id="0"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1325" y="4214813"/>
                        <a:ext cx="1847850" cy="204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3885" name="Object 13"/>
          <p:cNvGraphicFramePr>
            <a:graphicFrameLocks noChangeAspect="1"/>
          </p:cNvGraphicFramePr>
          <p:nvPr/>
        </p:nvGraphicFramePr>
        <p:xfrm>
          <a:off x="3472729" y="4256383"/>
          <a:ext cx="1357313" cy="609600"/>
        </p:xfrm>
        <a:graphic>
          <a:graphicData uri="http://schemas.openxmlformats.org/presentationml/2006/ole">
            <mc:AlternateContent xmlns:mc="http://schemas.openxmlformats.org/markup-compatibility/2006">
              <mc:Choice xmlns:v="urn:schemas-microsoft-com:vml" Requires="v">
                <p:oleObj spid="_x0000_s463891" name="Equation" r:id="rId10" imgW="876240" imgH="393480" progId="Equation.DSMT4">
                  <p:embed/>
                </p:oleObj>
              </mc:Choice>
              <mc:Fallback>
                <p:oleObj name="Equation" r:id="rId10" imgW="876240" imgH="393480" progId="Equation.DSMT4">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2729" y="4256383"/>
                        <a:ext cx="135731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3886" name="Object 14"/>
          <p:cNvGraphicFramePr>
            <a:graphicFrameLocks noChangeAspect="1"/>
          </p:cNvGraphicFramePr>
          <p:nvPr/>
        </p:nvGraphicFramePr>
        <p:xfrm>
          <a:off x="3460321" y="4929198"/>
          <a:ext cx="1768476" cy="609600"/>
        </p:xfrm>
        <a:graphic>
          <a:graphicData uri="http://schemas.openxmlformats.org/presentationml/2006/ole">
            <mc:AlternateContent xmlns:mc="http://schemas.openxmlformats.org/markup-compatibility/2006">
              <mc:Choice xmlns:v="urn:schemas-microsoft-com:vml" Requires="v">
                <p:oleObj spid="_x0000_s463892" name="Equation" r:id="rId12" imgW="1143000" imgH="393480" progId="Equation.DSMT4">
                  <p:embed/>
                </p:oleObj>
              </mc:Choice>
              <mc:Fallback>
                <p:oleObj name="Equation" r:id="rId12" imgW="1143000" imgH="393480" progId="Equation.DSMT4">
                  <p:embed/>
                  <p:pic>
                    <p:nvPicPr>
                      <p:cNvPr id="0"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60321" y="4929198"/>
                        <a:ext cx="1768476"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3887" name="Object 15"/>
          <p:cNvGraphicFramePr>
            <a:graphicFrameLocks noChangeAspect="1"/>
          </p:cNvGraphicFramePr>
          <p:nvPr/>
        </p:nvGraphicFramePr>
        <p:xfrm>
          <a:off x="3529017" y="5629723"/>
          <a:ext cx="1828801" cy="609600"/>
        </p:xfrm>
        <a:graphic>
          <a:graphicData uri="http://schemas.openxmlformats.org/presentationml/2006/ole">
            <mc:AlternateContent xmlns:mc="http://schemas.openxmlformats.org/markup-compatibility/2006">
              <mc:Choice xmlns:v="urn:schemas-microsoft-com:vml" Requires="v">
                <p:oleObj spid="_x0000_s463893" name="Equation" r:id="rId14" imgW="1180800" imgH="393480" progId="Equation.DSMT4">
                  <p:embed/>
                </p:oleObj>
              </mc:Choice>
              <mc:Fallback>
                <p:oleObj name="Equation" r:id="rId14" imgW="1180800" imgH="393480" progId="Equation.DSMT4">
                  <p:embed/>
                  <p:pic>
                    <p:nvPicPr>
                      <p:cNvPr id="0" name="Picture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29017" y="5629723"/>
                        <a:ext cx="1828801"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63885"/>
                                        </p:tgtEl>
                                        <p:attrNameLst>
                                          <p:attrName>style.visibility</p:attrName>
                                        </p:attrNameLst>
                                      </p:cBhvr>
                                      <p:to>
                                        <p:strVal val="visible"/>
                                      </p:to>
                                    </p:set>
                                    <p:animEffect transition="in" filter="wipe(left)">
                                      <p:cBhvr>
                                        <p:cTn id="18" dur="500"/>
                                        <p:tgtEl>
                                          <p:spTgt spid="46388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63886"/>
                                        </p:tgtEl>
                                        <p:attrNameLst>
                                          <p:attrName>style.visibility</p:attrName>
                                        </p:attrNameLst>
                                      </p:cBhvr>
                                      <p:to>
                                        <p:strVal val="visible"/>
                                      </p:to>
                                    </p:set>
                                    <p:animEffect transition="in" filter="wipe(left)">
                                      <p:cBhvr>
                                        <p:cTn id="23" dur="500"/>
                                        <p:tgtEl>
                                          <p:spTgt spid="46388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63887"/>
                                        </p:tgtEl>
                                        <p:attrNameLst>
                                          <p:attrName>style.visibility</p:attrName>
                                        </p:attrNameLst>
                                      </p:cBhvr>
                                      <p:to>
                                        <p:strVal val="visible"/>
                                      </p:to>
                                    </p:set>
                                    <p:animEffect transition="in" filter="wipe(left)">
                                      <p:cBhvr>
                                        <p:cTn id="28" dur="500"/>
                                        <p:tgtEl>
                                          <p:spTgt spid="463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5-5</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如图所示为一等截面圆弧形曲杆</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，截面为矩形，圆弧</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的圆心角为</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857224" y="3286124"/>
            <a:ext cx="5357850" cy="797975"/>
          </a:xfrm>
          <a:prstGeom prst="rect">
            <a:avLst/>
          </a:prstGeom>
          <a:noFill/>
          <a:ln w="9525">
            <a:noFill/>
            <a:miter lim="800000"/>
            <a:headEnd/>
            <a:tailEnd/>
          </a:ln>
        </p:spPr>
        <p:txBody>
          <a:bodyPr wrap="square">
            <a:spAutoFit/>
          </a:bodyPr>
          <a:lstStyle/>
          <a:p>
            <a:pPr marL="722313" indent="-722313"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⑶</a:t>
            </a:r>
            <a:r>
              <a:rPr kumimoji="1" lang="en-US" altLang="zh-CN" sz="2000" b="1">
                <a:solidFill>
                  <a:srgbClr val="000000"/>
                </a:solidFill>
                <a:latin typeface="+mn-ea"/>
              </a:rPr>
              <a:t> </a:t>
            </a:r>
            <a:r>
              <a:rPr lang="zh-CN" altLang="en-US" sz="2000" b="1">
                <a:latin typeface="Times New Roman" pitchFamily="18" charset="0"/>
                <a:cs typeface="Times New Roman" pitchFamily="18" charset="0"/>
              </a:rPr>
              <a:t>利用 </a:t>
            </a:r>
            <a:r>
              <a:rPr lang="en-US" altLang="zh-CN" sz="2000" b="1" i="1">
                <a:latin typeface="Times New Roman" pitchFamily="18" charset="0"/>
                <a:cs typeface="Times New Roman" pitchFamily="18" charset="0"/>
              </a:rPr>
              <a:t>x</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a:latin typeface="Times New Roman" pitchFamily="18" charset="0"/>
                <a:cs typeface="Times New Roman" pitchFamily="18" charset="0"/>
              </a:rPr>
              <a:t>sin</a:t>
            </a:r>
            <a:r>
              <a:rPr kumimoji="1" lang="en-US" altLang="zh-CN" sz="2000" b="1" i="1">
                <a:latin typeface="Times New Roman" pitchFamily="18" charset="0"/>
                <a:ea typeface="幼圆" pitchFamily="49" charset="-122"/>
                <a:cs typeface="Times New Roman" pitchFamily="18" charset="0"/>
              </a:rPr>
              <a:t>φ</a:t>
            </a:r>
            <a:r>
              <a:rPr kumimoji="1" lang="zh-CN" altLang="en-US" sz="2000" b="1">
                <a:latin typeface="+mn-ea"/>
                <a:cs typeface="Times New Roman" pitchFamily="18" charset="0"/>
              </a:rPr>
              <a:t>，</a:t>
            </a:r>
            <a:r>
              <a:rPr lang="en-US" altLang="zh-CN" sz="2000" b="1" i="1">
                <a:latin typeface="Times New Roman" pitchFamily="18" charset="0"/>
                <a:cs typeface="Times New Roman" pitchFamily="18" charset="0"/>
              </a:rPr>
              <a:t> s</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kumimoji="1" lang="en-US" altLang="zh-CN" sz="2000" b="1" i="1">
                <a:latin typeface="Times New Roman" pitchFamily="18" charset="0"/>
                <a:ea typeface="幼圆" pitchFamily="49" charset="-122"/>
                <a:cs typeface="Times New Roman" pitchFamily="18" charset="0"/>
              </a:rPr>
              <a:t>φ</a:t>
            </a:r>
            <a:r>
              <a:rPr kumimoji="1" lang="zh-CN" altLang="en-US" sz="2000" b="1">
                <a:latin typeface="+mn-ea"/>
                <a:cs typeface="Times New Roman" pitchFamily="18" charset="0"/>
              </a:rPr>
              <a:t>可得：</a:t>
            </a:r>
            <a:endParaRPr lang="zh-CN" altLang="en-US" sz="2000" b="1">
              <a:latin typeface="+mn-ea"/>
              <a:cs typeface="Times New Roman" pitchFamily="18" charset="0"/>
            </a:endParaRPr>
          </a:p>
          <a:p>
            <a:pPr marL="722313" indent="-722313" fontAlgn="base">
              <a:lnSpc>
                <a:spcPct val="120000"/>
              </a:lnSpc>
              <a:spcBef>
                <a:spcPct val="0"/>
              </a:spcBef>
              <a:spcAft>
                <a:spcPct val="0"/>
              </a:spcAft>
            </a:pPr>
            <a:endParaRPr kumimoji="1" lang="en-US" altLang="zh-CN" sz="2000" b="1">
              <a:solidFill>
                <a:srgbClr val="000000"/>
              </a:solidFill>
              <a:latin typeface="+mn-ea"/>
            </a:endParaRPr>
          </a:p>
        </p:txBody>
      </p:sp>
      <p:graphicFrame>
        <p:nvGraphicFramePr>
          <p:cNvPr id="414723" name="Object 3"/>
          <p:cNvGraphicFramePr>
            <a:graphicFrameLocks noChangeAspect="1"/>
          </p:cNvGraphicFramePr>
          <p:nvPr/>
        </p:nvGraphicFramePr>
        <p:xfrm>
          <a:off x="6286512" y="1262068"/>
          <a:ext cx="2333625" cy="3024188"/>
        </p:xfrm>
        <a:graphic>
          <a:graphicData uri="http://schemas.openxmlformats.org/presentationml/2006/ole">
            <mc:AlternateContent xmlns:mc="http://schemas.openxmlformats.org/markup-compatibility/2006">
              <mc:Choice xmlns:v="urn:schemas-microsoft-com:vml" Requires="v">
                <p:oleObj spid="_x0000_s464911" name="AutoCAD Drawing" r:id="rId4" imgW="8943840" imgH="4981680" progId="">
                  <p:embed/>
                </p:oleObj>
              </mc:Choice>
              <mc:Fallback>
                <p:oleObj name="AutoCAD Drawing" r:id="rId4" imgW="8943840" imgH="498168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4891" t="34248" r="43550" b="15175"/>
                      <a:stretch>
                        <a:fillRect/>
                      </a:stretch>
                    </p:blipFill>
                    <p:spPr bwMode="auto">
                      <a:xfrm>
                        <a:off x="6286512" y="1262068"/>
                        <a:ext cx="2333625"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6785" name="Object 17"/>
          <p:cNvGraphicFramePr>
            <a:graphicFrameLocks noGrp="1" noChangeAspect="1"/>
          </p:cNvGraphicFramePr>
          <p:nvPr/>
        </p:nvGraphicFramePr>
        <p:xfrm>
          <a:off x="6194455" y="4000504"/>
          <a:ext cx="2735263" cy="2565400"/>
        </p:xfrm>
        <a:graphic>
          <a:graphicData uri="http://schemas.openxmlformats.org/presentationml/2006/ole">
            <mc:AlternateContent xmlns:mc="http://schemas.openxmlformats.org/markup-compatibility/2006">
              <mc:Choice xmlns:v="urn:schemas-microsoft-com:vml" Requires="v">
                <p:oleObj spid="_x0000_s464912" name="AutoCAD Drawing" r:id="rId6" imgW="8943840" imgH="4981680" progId="">
                  <p:embed/>
                </p:oleObj>
              </mc:Choice>
              <mc:Fallback>
                <p:oleObj name="AutoCAD Drawing" r:id="rId6" imgW="8943840" imgH="4981680" progId="">
                  <p:embed/>
                  <p:pic>
                    <p:nvPicPr>
                      <p:cNvPr id="0" name="Object 17"/>
                      <p:cNvPicPr>
                        <a:picLocks noGrp="1" noChangeAspect="1" noChangeArrowheads="1"/>
                      </p:cNvPicPr>
                      <p:nvPr/>
                    </p:nvPicPr>
                    <p:blipFill>
                      <a:blip r:embed="rId7">
                        <a:extLst>
                          <a:ext uri="{28A0092B-C50C-407E-A947-70E740481C1C}">
                            <a14:useLocalDpi xmlns:a14="http://schemas.microsoft.com/office/drawing/2010/main" val="0"/>
                          </a:ext>
                        </a:extLst>
                      </a:blip>
                      <a:srcRect l="37460" t="16978" r="21541" b="5011"/>
                      <a:stretch>
                        <a:fillRect/>
                      </a:stretch>
                    </p:blipFill>
                    <p:spPr bwMode="auto">
                      <a:xfrm>
                        <a:off x="6194455" y="4000504"/>
                        <a:ext cx="2735263"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5" name="Object 9"/>
          <p:cNvGraphicFramePr>
            <a:graphicFrameLocks noChangeAspect="1"/>
          </p:cNvGraphicFramePr>
          <p:nvPr/>
        </p:nvGraphicFramePr>
        <p:xfrm>
          <a:off x="1889131" y="3683001"/>
          <a:ext cx="1711325" cy="609600"/>
        </p:xfrm>
        <a:graphic>
          <a:graphicData uri="http://schemas.openxmlformats.org/presentationml/2006/ole">
            <mc:AlternateContent xmlns:mc="http://schemas.openxmlformats.org/markup-compatibility/2006">
              <mc:Choice xmlns:v="urn:schemas-microsoft-com:vml" Requires="v">
                <p:oleObj spid="_x0000_s464913" name="Equation" r:id="rId8" imgW="1104840" imgH="393480" progId="Equation.DSMT4">
                  <p:embed/>
                </p:oleObj>
              </mc:Choice>
              <mc:Fallback>
                <p:oleObj name="Equation" r:id="rId8" imgW="1104840" imgH="393480" progId="Equation.DSMT4">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9131" y="3683001"/>
                        <a:ext cx="17113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6" name="Object 10"/>
          <p:cNvGraphicFramePr>
            <a:graphicFrameLocks noChangeAspect="1"/>
          </p:cNvGraphicFramePr>
          <p:nvPr/>
        </p:nvGraphicFramePr>
        <p:xfrm>
          <a:off x="3600456" y="3643314"/>
          <a:ext cx="1828800" cy="649287"/>
        </p:xfrm>
        <a:graphic>
          <a:graphicData uri="http://schemas.openxmlformats.org/presentationml/2006/ole">
            <mc:AlternateContent xmlns:mc="http://schemas.openxmlformats.org/markup-compatibility/2006">
              <mc:Choice xmlns:v="urn:schemas-microsoft-com:vml" Requires="v">
                <p:oleObj spid="_x0000_s464914" name="Equation" r:id="rId10" imgW="1180800" imgH="419040" progId="Equation.DSMT4">
                  <p:embed/>
                </p:oleObj>
              </mc:Choice>
              <mc:Fallback>
                <p:oleObj name="Equation" r:id="rId10" imgW="1180800" imgH="419040" progId="Equation.DSMT4">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0456" y="3643314"/>
                        <a:ext cx="18288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8" name="Object 12"/>
          <p:cNvGraphicFramePr>
            <a:graphicFrameLocks noChangeAspect="1"/>
          </p:cNvGraphicFramePr>
          <p:nvPr/>
        </p:nvGraphicFramePr>
        <p:xfrm>
          <a:off x="2207794" y="4286250"/>
          <a:ext cx="2909888" cy="688975"/>
        </p:xfrm>
        <a:graphic>
          <a:graphicData uri="http://schemas.openxmlformats.org/presentationml/2006/ole">
            <mc:AlternateContent xmlns:mc="http://schemas.openxmlformats.org/markup-compatibility/2006">
              <mc:Choice xmlns:v="urn:schemas-microsoft-com:vml" Requires="v">
                <p:oleObj spid="_x0000_s464915" name="Equation" r:id="rId12" imgW="1879560" imgH="444240" progId="Equation.DSMT4">
                  <p:embed/>
                </p:oleObj>
              </mc:Choice>
              <mc:Fallback>
                <p:oleObj name="Equation" r:id="rId12" imgW="1879560" imgH="444240" progId="Equation.DSMT4">
                  <p:embed/>
                  <p:pic>
                    <p:nvPicPr>
                      <p:cNvPr id="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7794" y="4286250"/>
                        <a:ext cx="2909888"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Box 20"/>
          <p:cNvSpPr txBox="1"/>
          <p:nvPr/>
        </p:nvSpPr>
        <p:spPr>
          <a:xfrm>
            <a:off x="1643042" y="4929198"/>
            <a:ext cx="1467068" cy="400110"/>
          </a:xfrm>
          <a:prstGeom prst="rect">
            <a:avLst/>
          </a:prstGeom>
          <a:noFill/>
          <a:ln w="28575">
            <a:noFill/>
          </a:ln>
        </p:spPr>
        <p:txBody>
          <a:bodyPr wrap="none" rtlCol="0">
            <a:spAutoFit/>
          </a:bodyPr>
          <a:lstStyle/>
          <a:p>
            <a:r>
              <a:rPr lang="zh-CN" altLang="en-US" sz="2000" b="1"/>
              <a:t>同理，可得</a:t>
            </a:r>
          </a:p>
        </p:txBody>
      </p:sp>
      <p:graphicFrame>
        <p:nvGraphicFramePr>
          <p:cNvPr id="464909" name="Object 13"/>
          <p:cNvGraphicFramePr>
            <a:graphicFrameLocks noChangeAspect="1"/>
          </p:cNvGraphicFramePr>
          <p:nvPr/>
        </p:nvGraphicFramePr>
        <p:xfrm>
          <a:off x="1871211" y="5311775"/>
          <a:ext cx="3167063" cy="688975"/>
        </p:xfrm>
        <a:graphic>
          <a:graphicData uri="http://schemas.openxmlformats.org/presentationml/2006/ole">
            <mc:AlternateContent xmlns:mc="http://schemas.openxmlformats.org/markup-compatibility/2006">
              <mc:Choice xmlns:v="urn:schemas-microsoft-com:vml" Requires="v">
                <p:oleObj spid="_x0000_s464916" name="Equation" r:id="rId14" imgW="2044440" imgH="444240" progId="Equation.DSMT4">
                  <p:embed/>
                </p:oleObj>
              </mc:Choice>
              <mc:Fallback>
                <p:oleObj name="Equation" r:id="rId14" imgW="2044440" imgH="444240" progId="Equation.DSMT4">
                  <p:embed/>
                  <p:pic>
                    <p:nvPicPr>
                      <p:cNvPr id="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1211" y="5311775"/>
                        <a:ext cx="3167063"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10" name="Object 14"/>
          <p:cNvGraphicFramePr>
            <a:graphicFrameLocks noChangeAspect="1"/>
          </p:cNvGraphicFramePr>
          <p:nvPr/>
        </p:nvGraphicFramePr>
        <p:xfrm>
          <a:off x="1859824" y="6061075"/>
          <a:ext cx="2184400" cy="649288"/>
        </p:xfrm>
        <a:graphic>
          <a:graphicData uri="http://schemas.openxmlformats.org/presentationml/2006/ole">
            <mc:AlternateContent xmlns:mc="http://schemas.openxmlformats.org/markup-compatibility/2006">
              <mc:Choice xmlns:v="urn:schemas-microsoft-com:vml" Requires="v">
                <p:oleObj spid="_x0000_s464917" name="Equation" r:id="rId16" imgW="1409400" imgH="419040" progId="Equation.DSMT4">
                  <p:embed/>
                </p:oleObj>
              </mc:Choice>
              <mc:Fallback>
                <p:oleObj name="Equation" r:id="rId16" imgW="1409400" imgH="419040" progId="Equation.DSMT4">
                  <p:embed/>
                  <p:pic>
                    <p:nvPicPr>
                      <p:cNvPr id="0" name="Picture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59824" y="6061075"/>
                        <a:ext cx="2184400" cy="649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64905"/>
                                        </p:tgtEl>
                                        <p:attrNameLst>
                                          <p:attrName>style.visibility</p:attrName>
                                        </p:attrNameLst>
                                      </p:cBhvr>
                                      <p:to>
                                        <p:strVal val="visible"/>
                                      </p:to>
                                    </p:set>
                                    <p:anim calcmode="lin" valueType="num">
                                      <p:cBhvr additive="base">
                                        <p:cTn id="12" dur="500" fill="hold"/>
                                        <p:tgtEl>
                                          <p:spTgt spid="464905"/>
                                        </p:tgtEl>
                                        <p:attrNameLst>
                                          <p:attrName>ppt_x</p:attrName>
                                        </p:attrNameLst>
                                      </p:cBhvr>
                                      <p:tavLst>
                                        <p:tav tm="0">
                                          <p:val>
                                            <p:strVal val="#ppt_x"/>
                                          </p:val>
                                        </p:tav>
                                        <p:tav tm="100000">
                                          <p:val>
                                            <p:strVal val="#ppt_x"/>
                                          </p:val>
                                        </p:tav>
                                      </p:tavLst>
                                    </p:anim>
                                    <p:anim calcmode="lin" valueType="num">
                                      <p:cBhvr additive="base">
                                        <p:cTn id="13" dur="500" fill="hold"/>
                                        <p:tgtEl>
                                          <p:spTgt spid="46490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64906"/>
                                        </p:tgtEl>
                                        <p:attrNameLst>
                                          <p:attrName>style.visibility</p:attrName>
                                        </p:attrNameLst>
                                      </p:cBhvr>
                                      <p:to>
                                        <p:strVal val="visible"/>
                                      </p:to>
                                    </p:set>
                                    <p:animEffect transition="in" filter="wipe(left)">
                                      <p:cBhvr>
                                        <p:cTn id="18" dur="500"/>
                                        <p:tgtEl>
                                          <p:spTgt spid="46490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64908"/>
                                        </p:tgtEl>
                                        <p:attrNameLst>
                                          <p:attrName>style.visibility</p:attrName>
                                        </p:attrNameLst>
                                      </p:cBhvr>
                                      <p:to>
                                        <p:strVal val="visible"/>
                                      </p:to>
                                    </p:set>
                                    <p:animEffect transition="in" filter="wipe(left)">
                                      <p:cBhvr>
                                        <p:cTn id="23" dur="500"/>
                                        <p:tgtEl>
                                          <p:spTgt spid="464908"/>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ox(in)">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64909"/>
                                        </p:tgtEl>
                                        <p:attrNameLst>
                                          <p:attrName>style.visibility</p:attrName>
                                        </p:attrNameLst>
                                      </p:cBhvr>
                                      <p:to>
                                        <p:strVal val="visible"/>
                                      </p:to>
                                    </p:set>
                                    <p:anim calcmode="lin" valueType="num">
                                      <p:cBhvr additive="base">
                                        <p:cTn id="33" dur="500" fill="hold"/>
                                        <p:tgtEl>
                                          <p:spTgt spid="464909"/>
                                        </p:tgtEl>
                                        <p:attrNameLst>
                                          <p:attrName>ppt_x</p:attrName>
                                        </p:attrNameLst>
                                      </p:cBhvr>
                                      <p:tavLst>
                                        <p:tav tm="0">
                                          <p:val>
                                            <p:strVal val="#ppt_x"/>
                                          </p:val>
                                        </p:tav>
                                        <p:tav tm="100000">
                                          <p:val>
                                            <p:strVal val="#ppt_x"/>
                                          </p:val>
                                        </p:tav>
                                      </p:tavLst>
                                    </p:anim>
                                    <p:anim calcmode="lin" valueType="num">
                                      <p:cBhvr additive="base">
                                        <p:cTn id="34" dur="500" fill="hold"/>
                                        <p:tgtEl>
                                          <p:spTgt spid="46490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64910"/>
                                        </p:tgtEl>
                                        <p:attrNameLst>
                                          <p:attrName>style.visibility</p:attrName>
                                        </p:attrNameLst>
                                      </p:cBhvr>
                                      <p:to>
                                        <p:strVal val="visible"/>
                                      </p:to>
                                    </p:set>
                                    <p:anim calcmode="lin" valueType="num">
                                      <p:cBhvr additive="base">
                                        <p:cTn id="39" dur="500" fill="hold"/>
                                        <p:tgtEl>
                                          <p:spTgt spid="464910"/>
                                        </p:tgtEl>
                                        <p:attrNameLst>
                                          <p:attrName>ppt_x</p:attrName>
                                        </p:attrNameLst>
                                      </p:cBhvr>
                                      <p:tavLst>
                                        <p:tav tm="0">
                                          <p:val>
                                            <p:strVal val="#ppt_x"/>
                                          </p:val>
                                        </p:tav>
                                        <p:tav tm="100000">
                                          <p:val>
                                            <p:strVal val="#ppt_x"/>
                                          </p:val>
                                        </p:tav>
                                      </p:tavLst>
                                    </p:anim>
                                    <p:anim calcmode="lin" valueType="num">
                                      <p:cBhvr additive="base">
                                        <p:cTn id="40" dur="500" fill="hold"/>
                                        <p:tgtEl>
                                          <p:spTgt spid="4649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5-5</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如图所示为一等截面圆弧形曲杆</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，截面为矩形，圆弧</a:t>
            </a:r>
            <a:r>
              <a:rPr kumimoji="1" lang="en-US" altLang="zh-CN" sz="2000" b="1" i="1">
                <a:solidFill>
                  <a:srgbClr val="000000"/>
                </a:solidFill>
                <a:latin typeface="Times New Roman" pitchFamily="18" charset="0"/>
                <a:ea typeface="楷体_GB2312" pitchFamily="49" charset="-122"/>
              </a:rPr>
              <a:t>AB</a:t>
            </a:r>
            <a:r>
              <a:rPr kumimoji="1" lang="zh-CN" altLang="en-US" sz="2000" b="1">
                <a:solidFill>
                  <a:srgbClr val="000000"/>
                </a:solidFill>
                <a:latin typeface="+mn-ea"/>
              </a:rPr>
              <a:t>的圆心角为</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27" name="Rectangle 4"/>
          <p:cNvSpPr>
            <a:spLocks noChangeArrowheads="1"/>
          </p:cNvSpPr>
          <p:nvPr/>
        </p:nvSpPr>
        <p:spPr bwMode="auto">
          <a:xfrm>
            <a:off x="857224" y="3286124"/>
            <a:ext cx="5286412" cy="830997"/>
          </a:xfrm>
          <a:prstGeom prst="rect">
            <a:avLst/>
          </a:prstGeom>
          <a:noFill/>
          <a:ln w="9525">
            <a:noFill/>
            <a:miter lim="800000"/>
            <a:headEnd/>
            <a:tailEnd/>
          </a:ln>
        </p:spPr>
        <p:txBody>
          <a:bodyPr wrap="square">
            <a:spAutoFit/>
          </a:bodyPr>
          <a:lstStyle/>
          <a:p>
            <a:pPr marL="722313" indent="-722313"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⑷</a:t>
            </a:r>
            <a:r>
              <a:rPr kumimoji="1" lang="en-US" altLang="zh-CN" sz="2000" b="1">
                <a:solidFill>
                  <a:srgbClr val="000000"/>
                </a:solidFill>
                <a:latin typeface="+mn-ea"/>
              </a:rPr>
              <a:t> </a:t>
            </a:r>
            <a:r>
              <a:rPr kumimoji="1" lang="zh-CN" altLang="en-US" sz="2000" b="1">
                <a:solidFill>
                  <a:srgbClr val="000000"/>
                </a:solidFill>
                <a:latin typeface="+mn-ea"/>
              </a:rPr>
              <a:t>若</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 </a:t>
            </a:r>
            <a:r>
              <a:rPr kumimoji="1" lang="en-US" altLang="zh-CN" sz="2000" b="1">
                <a:latin typeface="Times New Roman" pitchFamily="18" charset="0"/>
                <a:ea typeface="楷体_GB2312" pitchFamily="49" charset="-122"/>
                <a:cs typeface="Times New Roman" pitchFamily="18" charset="0"/>
              </a:rPr>
              <a:t>= 90</a:t>
            </a:r>
            <a:r>
              <a:rPr kumimoji="1" lang="zh-CN" altLang="en-US" sz="2000" b="1">
                <a:latin typeface="Times New Roman" pitchFamily="18" charset="0"/>
                <a:ea typeface="楷体_GB2312" pitchFamily="49" charset="-122"/>
                <a:cs typeface="Times New Roman" pitchFamily="18" charset="0"/>
              </a:rPr>
              <a:t>，</a:t>
            </a:r>
            <a:r>
              <a:rPr kumimoji="1" lang="en-US" altLang="zh-CN" sz="2000" b="1" i="1">
                <a:solidFill>
                  <a:srgbClr val="000000"/>
                </a:solidFill>
                <a:latin typeface="Times New Roman" pitchFamily="18" charset="0"/>
                <a:cs typeface="Times New Roman" pitchFamily="18" charset="0"/>
              </a:rPr>
              <a:t>h</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r</a:t>
            </a:r>
            <a:r>
              <a:rPr kumimoji="1" lang="en-US" altLang="zh-CN" sz="2000" b="1" i="1" baseline="-25000">
                <a:solidFill>
                  <a:srgbClr val="000000"/>
                </a:solidFill>
                <a:latin typeface="Times New Roman" pitchFamily="18" charset="0"/>
                <a:cs typeface="Times New Roman" pitchFamily="18" charset="0"/>
              </a:rPr>
              <a:t> </a:t>
            </a:r>
            <a:r>
              <a:rPr kumimoji="1" lang="en-US" altLang="zh-CN" sz="2000" b="1">
                <a:solidFill>
                  <a:srgbClr val="000000"/>
                </a:solidFill>
                <a:latin typeface="Times New Roman" pitchFamily="18" charset="0"/>
                <a:cs typeface="Times New Roman" pitchFamily="18" charset="0"/>
              </a:rPr>
              <a:t>=0.1</a:t>
            </a:r>
            <a:r>
              <a:rPr kumimoji="1" lang="zh-CN" altLang="en-US" sz="2000" b="1">
                <a:solidFill>
                  <a:srgbClr val="000000"/>
                </a:solidFill>
                <a:latin typeface="+mn-ea"/>
              </a:rPr>
              <a:t>，</a:t>
            </a:r>
            <a:r>
              <a:rPr kumimoji="1" lang="en-US" altLang="zh-CN" sz="2000" b="1" i="1">
                <a:solidFill>
                  <a:srgbClr val="000000"/>
                </a:solidFill>
                <a:latin typeface="Times New Roman" pitchFamily="18" charset="0"/>
                <a:cs typeface="Times New Roman" pitchFamily="18" charset="0"/>
              </a:rPr>
              <a:t>E</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G</a:t>
            </a:r>
            <a:r>
              <a:rPr kumimoji="1" lang="en-US" altLang="zh-CN" sz="2000" b="1">
                <a:solidFill>
                  <a:srgbClr val="000000"/>
                </a:solidFill>
                <a:latin typeface="Times New Roman" pitchFamily="18" charset="0"/>
                <a:cs typeface="Times New Roman" pitchFamily="18" charset="0"/>
              </a:rPr>
              <a:t>=8/3</a:t>
            </a:r>
            <a:r>
              <a:rPr kumimoji="1" lang="zh-CN" altLang="en-US" sz="2000" b="1">
                <a:solidFill>
                  <a:srgbClr val="000000"/>
                </a:solidFill>
                <a:latin typeface="Times New Roman" pitchFamily="18" charset="0"/>
                <a:cs typeface="Times New Roman" pitchFamily="18" charset="0"/>
              </a:rPr>
              <a:t>，</a:t>
            </a:r>
            <a:r>
              <a:rPr kumimoji="1" lang="zh-CN" altLang="en-US" sz="2000" b="1">
                <a:solidFill>
                  <a:srgbClr val="000000"/>
                </a:solidFill>
                <a:latin typeface="+mn-ea"/>
              </a:rPr>
              <a:t>矩形截面</a:t>
            </a:r>
            <a:r>
              <a:rPr kumimoji="1" lang="en-US" altLang="zh-CN" sz="2000" b="1" i="1">
                <a:solidFill>
                  <a:srgbClr val="000000"/>
                </a:solidFill>
                <a:latin typeface="Times New Roman" pitchFamily="18" charset="0"/>
                <a:cs typeface="Times New Roman" pitchFamily="18" charset="0"/>
              </a:rPr>
              <a:t>I</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A</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h</a:t>
            </a:r>
            <a:r>
              <a:rPr kumimoji="1" lang="en-US" altLang="zh-CN" sz="2000" b="1" baseline="30000">
                <a:solidFill>
                  <a:srgbClr val="000000"/>
                </a:solidFill>
                <a:latin typeface="Times New Roman" pitchFamily="18" charset="0"/>
                <a:cs typeface="Times New Roman" pitchFamily="18" charset="0"/>
              </a:rPr>
              <a:t>2</a:t>
            </a:r>
            <a:r>
              <a:rPr kumimoji="1" lang="en-US" altLang="zh-CN" sz="2000" b="1">
                <a:solidFill>
                  <a:srgbClr val="000000"/>
                </a:solidFill>
                <a:latin typeface="Times New Roman" pitchFamily="18" charset="0"/>
                <a:cs typeface="Times New Roman" pitchFamily="18" charset="0"/>
              </a:rPr>
              <a:t>/12</a:t>
            </a:r>
            <a:r>
              <a:rPr kumimoji="1" lang="zh-CN" altLang="en-US"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k</a:t>
            </a:r>
            <a:r>
              <a:rPr kumimoji="1" lang="en-US" altLang="zh-CN" sz="2000" b="1">
                <a:solidFill>
                  <a:srgbClr val="000000"/>
                </a:solidFill>
                <a:latin typeface="Times New Roman" pitchFamily="18" charset="0"/>
                <a:cs typeface="Times New Roman" pitchFamily="18" charset="0"/>
              </a:rPr>
              <a:t>=1.2</a:t>
            </a:r>
            <a:r>
              <a:rPr kumimoji="1" lang="zh-CN" altLang="en-US" sz="2000" b="1">
                <a:solidFill>
                  <a:srgbClr val="000000"/>
                </a:solidFill>
                <a:latin typeface="Times New Roman" pitchFamily="18" charset="0"/>
                <a:cs typeface="Times New Roman" pitchFamily="18" charset="0"/>
              </a:rPr>
              <a:t>。各</a:t>
            </a:r>
            <a:r>
              <a:rPr kumimoji="1" lang="zh-CN" altLang="en-US" sz="2000" b="1">
                <a:solidFill>
                  <a:srgbClr val="000000"/>
                </a:solidFill>
                <a:latin typeface="+mn-ea"/>
              </a:rPr>
              <a:t>种变形的贡献：</a:t>
            </a:r>
            <a:endParaRPr lang="zh-CN" altLang="en-US" sz="2000" b="1">
              <a:latin typeface="+mn-ea"/>
              <a:cs typeface="Times New Roman" pitchFamily="18" charset="0"/>
            </a:endParaRPr>
          </a:p>
        </p:txBody>
      </p:sp>
      <p:graphicFrame>
        <p:nvGraphicFramePr>
          <p:cNvPr id="414723" name="Object 3"/>
          <p:cNvGraphicFramePr>
            <a:graphicFrameLocks noChangeAspect="1"/>
          </p:cNvGraphicFramePr>
          <p:nvPr/>
        </p:nvGraphicFramePr>
        <p:xfrm>
          <a:off x="6286512" y="1262068"/>
          <a:ext cx="2333625" cy="3024188"/>
        </p:xfrm>
        <a:graphic>
          <a:graphicData uri="http://schemas.openxmlformats.org/presentationml/2006/ole">
            <mc:AlternateContent xmlns:mc="http://schemas.openxmlformats.org/markup-compatibility/2006">
              <mc:Choice xmlns:v="urn:schemas-microsoft-com:vml" Requires="v">
                <p:oleObj spid="_x0000_s465940" name="AutoCAD Drawing" r:id="rId4" imgW="8943840" imgH="4981680" progId="">
                  <p:embed/>
                </p:oleObj>
              </mc:Choice>
              <mc:Fallback>
                <p:oleObj name="AutoCAD Drawing" r:id="rId4" imgW="8943840" imgH="498168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4891" t="34248" r="43550" b="15175"/>
                      <a:stretch>
                        <a:fillRect/>
                      </a:stretch>
                    </p:blipFill>
                    <p:spPr bwMode="auto">
                      <a:xfrm>
                        <a:off x="6286512" y="1262068"/>
                        <a:ext cx="2333625"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6785" name="Object 17"/>
          <p:cNvGraphicFramePr>
            <a:graphicFrameLocks noGrp="1" noChangeAspect="1"/>
          </p:cNvGraphicFramePr>
          <p:nvPr/>
        </p:nvGraphicFramePr>
        <p:xfrm>
          <a:off x="6194455" y="4000504"/>
          <a:ext cx="2735263" cy="2565400"/>
        </p:xfrm>
        <a:graphic>
          <a:graphicData uri="http://schemas.openxmlformats.org/presentationml/2006/ole">
            <mc:AlternateContent xmlns:mc="http://schemas.openxmlformats.org/markup-compatibility/2006">
              <mc:Choice xmlns:v="urn:schemas-microsoft-com:vml" Requires="v">
                <p:oleObj spid="_x0000_s465941" name="AutoCAD Drawing" r:id="rId6" imgW="8943840" imgH="4981680" progId="">
                  <p:embed/>
                </p:oleObj>
              </mc:Choice>
              <mc:Fallback>
                <p:oleObj name="AutoCAD Drawing" r:id="rId6" imgW="8943840" imgH="4981680" progId="">
                  <p:embed/>
                  <p:pic>
                    <p:nvPicPr>
                      <p:cNvPr id="0" name="Object 17"/>
                      <p:cNvPicPr>
                        <a:picLocks noGrp="1" noChangeAspect="1" noChangeArrowheads="1"/>
                      </p:cNvPicPr>
                      <p:nvPr/>
                    </p:nvPicPr>
                    <p:blipFill>
                      <a:blip r:embed="rId7">
                        <a:extLst>
                          <a:ext uri="{28A0092B-C50C-407E-A947-70E740481C1C}">
                            <a14:useLocalDpi xmlns:a14="http://schemas.microsoft.com/office/drawing/2010/main" val="0"/>
                          </a:ext>
                        </a:extLst>
                      </a:blip>
                      <a:srcRect l="37460" t="16978" r="21541" b="5011"/>
                      <a:stretch>
                        <a:fillRect/>
                      </a:stretch>
                    </p:blipFill>
                    <p:spPr bwMode="auto">
                      <a:xfrm>
                        <a:off x="6194455" y="4000504"/>
                        <a:ext cx="2735263"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表格 14"/>
          <p:cNvGraphicFramePr>
            <a:graphicFrameLocks noGrp="1"/>
          </p:cNvGraphicFramePr>
          <p:nvPr/>
        </p:nvGraphicFramePr>
        <p:xfrm>
          <a:off x="714348" y="4144382"/>
          <a:ext cx="5357850" cy="2358636"/>
        </p:xfrm>
        <a:graphic>
          <a:graphicData uri="http://schemas.openxmlformats.org/drawingml/2006/table">
            <a:tbl>
              <a:tblPr firstRow="1" bandRow="1">
                <a:tableStyleId>{5C22544A-7EE6-4342-B048-85BDC9FD1C3A}</a:tableStyleId>
              </a:tblPr>
              <a:tblGrid>
                <a:gridCol w="1218634">
                  <a:extLst>
                    <a:ext uri="{9D8B030D-6E8A-4147-A177-3AD203B41FA5}">
                      <a16:colId xmlns:a16="http://schemas.microsoft.com/office/drawing/2014/main" val="20000"/>
                    </a:ext>
                  </a:extLst>
                </a:gridCol>
                <a:gridCol w="1894712">
                  <a:extLst>
                    <a:ext uri="{9D8B030D-6E8A-4147-A177-3AD203B41FA5}">
                      <a16:colId xmlns:a16="http://schemas.microsoft.com/office/drawing/2014/main" val="20001"/>
                    </a:ext>
                  </a:extLst>
                </a:gridCol>
                <a:gridCol w="2244504">
                  <a:extLst>
                    <a:ext uri="{9D8B030D-6E8A-4147-A177-3AD203B41FA5}">
                      <a16:colId xmlns:a16="http://schemas.microsoft.com/office/drawing/2014/main" val="20002"/>
                    </a:ext>
                  </a:extLst>
                </a:gridCol>
              </a:tblGrid>
              <a:tr h="388630">
                <a:tc>
                  <a:txBody>
                    <a:bodyPr/>
                    <a:lstStyle/>
                    <a:p>
                      <a:pPr algn="ctr"/>
                      <a:r>
                        <a:rPr lang="zh-CN" altLang="en-US">
                          <a:solidFill>
                            <a:schemeClr val="tx1"/>
                          </a:solidFill>
                        </a:rPr>
                        <a:t>变形类型</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位移贡献</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el-GR" altLang="zh-CN" sz="1800" b="1" i="1">
                          <a:solidFill>
                            <a:schemeClr val="tx1"/>
                          </a:solidFill>
                          <a:latin typeface="Times New Roman" pitchFamily="18" charset="0"/>
                          <a:cs typeface="Times New Roman" pitchFamily="18" charset="0"/>
                        </a:rPr>
                        <a:t>Δ</a:t>
                      </a:r>
                      <a:r>
                        <a:rPr lang="en-US" altLang="zh-CN" sz="1800" b="1" i="0">
                          <a:solidFill>
                            <a:schemeClr val="tx1"/>
                          </a:solidFill>
                          <a:latin typeface="Times New Roman" pitchFamily="18" charset="0"/>
                          <a:cs typeface="Times New Roman" pitchFamily="18" charset="0"/>
                        </a:rPr>
                        <a:t>/</a:t>
                      </a:r>
                      <a:r>
                        <a:rPr lang="el-GR" altLang="zh-CN" sz="1800" b="1" i="1">
                          <a:solidFill>
                            <a:schemeClr val="tx1"/>
                          </a:solidFill>
                          <a:latin typeface="Times New Roman" pitchFamily="18" charset="0"/>
                          <a:cs typeface="Times New Roman" pitchFamily="18" charset="0"/>
                        </a:rPr>
                        <a:t>Δ</a:t>
                      </a:r>
                      <a:r>
                        <a:rPr lang="en-US" altLang="zh-CN" sz="1800" b="1" baseline="-25000">
                          <a:solidFill>
                            <a:schemeClr val="tx1"/>
                          </a:solidFill>
                          <a:latin typeface="Times New Roman" pitchFamily="18" charset="0"/>
                          <a:cs typeface="Times New Roman" pitchFamily="18" charset="0"/>
                        </a:rPr>
                        <a:t>M</a:t>
                      </a:r>
                      <a:endParaRPr lang="zh-CN" altLang="en-US" baseline="0">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610500">
                <a:tc>
                  <a:txBody>
                    <a:bodyPr/>
                    <a:lstStyle/>
                    <a:p>
                      <a:pPr algn="ctr"/>
                      <a:r>
                        <a:rPr lang="zh-CN" altLang="en-US" b="1">
                          <a:solidFill>
                            <a:schemeClr val="tx1"/>
                          </a:solidFill>
                        </a:rPr>
                        <a:t>弯曲</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b="1">
                          <a:solidFill>
                            <a:schemeClr val="tx1"/>
                          </a:solidFill>
                          <a:latin typeface="Times New Roman" pitchFamily="18" charset="0"/>
                          <a:cs typeface="Times New Roman" pitchFamily="18" charset="0"/>
                        </a:rPr>
                        <a:t>1</a:t>
                      </a:r>
                      <a:endParaRPr lang="zh-CN" altLang="en-US" b="1">
                        <a:solidFill>
                          <a:schemeClr val="tx1"/>
                        </a:solidFill>
                        <a:latin typeface="Times New Roman" pitchFamily="18" charset="0"/>
                        <a:cs typeface="Times New Roman" pitchFamily="18"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679753">
                <a:tc>
                  <a:txBody>
                    <a:bodyPr/>
                    <a:lstStyle/>
                    <a:p>
                      <a:pPr algn="ctr"/>
                      <a:r>
                        <a:rPr lang="zh-CN" altLang="en-US" b="1">
                          <a:solidFill>
                            <a:schemeClr val="tx1"/>
                          </a:solidFill>
                        </a:rPr>
                        <a:t>拉伸</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679753">
                <a:tc>
                  <a:txBody>
                    <a:bodyPr/>
                    <a:lstStyle/>
                    <a:p>
                      <a:pPr algn="ctr"/>
                      <a:r>
                        <a:rPr lang="zh-CN" altLang="en-US" b="1">
                          <a:solidFill>
                            <a:schemeClr val="tx1"/>
                          </a:solidFill>
                        </a:rPr>
                        <a:t>剪切</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graphicFrame>
        <p:nvGraphicFramePr>
          <p:cNvPr id="465935" name="Object 15"/>
          <p:cNvGraphicFramePr>
            <a:graphicFrameLocks noChangeAspect="1"/>
          </p:cNvGraphicFramePr>
          <p:nvPr/>
        </p:nvGraphicFramePr>
        <p:xfrm>
          <a:off x="2428860" y="4484552"/>
          <a:ext cx="1003300" cy="649287"/>
        </p:xfrm>
        <a:graphic>
          <a:graphicData uri="http://schemas.openxmlformats.org/presentationml/2006/ole">
            <mc:AlternateContent xmlns:mc="http://schemas.openxmlformats.org/markup-compatibility/2006">
              <mc:Choice xmlns:v="urn:schemas-microsoft-com:vml" Requires="v">
                <p:oleObj spid="_x0000_s465942" name="Equation" r:id="rId8" imgW="647640" imgH="419040" progId="Equation.DSMT4">
                  <p:embed/>
                </p:oleObj>
              </mc:Choice>
              <mc:Fallback>
                <p:oleObj name="Equation" r:id="rId8" imgW="647640" imgH="419040" progId="Equation.DSMT4">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8860" y="4484552"/>
                        <a:ext cx="10033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36" name="Object 16"/>
          <p:cNvGraphicFramePr>
            <a:graphicFrameLocks noChangeAspect="1"/>
          </p:cNvGraphicFramePr>
          <p:nvPr/>
        </p:nvGraphicFramePr>
        <p:xfrm>
          <a:off x="2456570" y="5157367"/>
          <a:ext cx="1063625" cy="649288"/>
        </p:xfrm>
        <a:graphic>
          <a:graphicData uri="http://schemas.openxmlformats.org/presentationml/2006/ole">
            <mc:AlternateContent xmlns:mc="http://schemas.openxmlformats.org/markup-compatibility/2006">
              <mc:Choice xmlns:v="urn:schemas-microsoft-com:vml" Requires="v">
                <p:oleObj spid="_x0000_s465943" name="Equation" r:id="rId10" imgW="685800" imgH="419040" progId="Equation.DSMT4">
                  <p:embed/>
                </p:oleObj>
              </mc:Choice>
              <mc:Fallback>
                <p:oleObj name="Equation" r:id="rId10" imgW="685800" imgH="419040" progId="Equation.DSMT4">
                  <p:embed/>
                  <p:pic>
                    <p:nvPicPr>
                      <p:cNvPr id="0"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56570" y="5157367"/>
                        <a:ext cx="1063625"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37" name="Object 17"/>
          <p:cNvGraphicFramePr>
            <a:graphicFrameLocks noChangeAspect="1"/>
          </p:cNvGraphicFramePr>
          <p:nvPr/>
        </p:nvGraphicFramePr>
        <p:xfrm>
          <a:off x="2470425" y="5823836"/>
          <a:ext cx="1023937" cy="649288"/>
        </p:xfrm>
        <a:graphic>
          <a:graphicData uri="http://schemas.openxmlformats.org/presentationml/2006/ole">
            <mc:AlternateContent xmlns:mc="http://schemas.openxmlformats.org/markup-compatibility/2006">
              <mc:Choice xmlns:v="urn:schemas-microsoft-com:vml" Requires="v">
                <p:oleObj spid="_x0000_s465944" name="Equation" r:id="rId12" imgW="660240" imgH="419040" progId="Equation.DSMT4">
                  <p:embed/>
                </p:oleObj>
              </mc:Choice>
              <mc:Fallback>
                <p:oleObj name="Equation" r:id="rId12" imgW="660240" imgH="419040" progId="Equation.DSMT4">
                  <p:embed/>
                  <p:pic>
                    <p:nvPicPr>
                      <p:cNvPr id="0" name="Picture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70425" y="5823836"/>
                        <a:ext cx="1023937" cy="649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38" name="Object 18"/>
          <p:cNvGraphicFramePr>
            <a:graphicFrameLocks noChangeAspect="1"/>
          </p:cNvGraphicFramePr>
          <p:nvPr/>
        </p:nvGraphicFramePr>
        <p:xfrm>
          <a:off x="4071938" y="5143500"/>
          <a:ext cx="1695450" cy="708025"/>
        </p:xfrm>
        <a:graphic>
          <a:graphicData uri="http://schemas.openxmlformats.org/presentationml/2006/ole">
            <mc:AlternateContent xmlns:mc="http://schemas.openxmlformats.org/markup-compatibility/2006">
              <mc:Choice xmlns:v="urn:schemas-microsoft-com:vml" Requires="v">
                <p:oleObj spid="_x0000_s465945" name="Equation" r:id="rId14" imgW="1091880" imgH="457200" progId="Equation.DSMT4">
                  <p:embed/>
                </p:oleObj>
              </mc:Choice>
              <mc:Fallback>
                <p:oleObj name="Equation" r:id="rId14" imgW="1091880" imgH="457200" progId="Equation.DSMT4">
                  <p:embed/>
                  <p:pic>
                    <p:nvPicPr>
                      <p:cNvPr id="0" name="Picture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71938" y="5143500"/>
                        <a:ext cx="16954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39" name="Object 19"/>
          <p:cNvGraphicFramePr>
            <a:graphicFrameLocks noChangeAspect="1"/>
          </p:cNvGraphicFramePr>
          <p:nvPr/>
        </p:nvGraphicFramePr>
        <p:xfrm>
          <a:off x="3977112" y="5806664"/>
          <a:ext cx="2030413" cy="708025"/>
        </p:xfrm>
        <a:graphic>
          <a:graphicData uri="http://schemas.openxmlformats.org/presentationml/2006/ole">
            <mc:AlternateContent xmlns:mc="http://schemas.openxmlformats.org/markup-compatibility/2006">
              <mc:Choice xmlns:v="urn:schemas-microsoft-com:vml" Requires="v">
                <p:oleObj spid="_x0000_s465946" name="Equation" r:id="rId16" imgW="1307880" imgH="457200" progId="Equation.DSMT4">
                  <p:embed/>
                </p:oleObj>
              </mc:Choice>
              <mc:Fallback>
                <p:oleObj name="Equation" r:id="rId16" imgW="1307880" imgH="457200" progId="Equation.DSMT4">
                  <p:embed/>
                  <p:pic>
                    <p:nvPicPr>
                      <p:cNvPr id="0" name="Picture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77112" y="5806664"/>
                        <a:ext cx="203041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Box 27"/>
          <p:cNvSpPr txBox="1"/>
          <p:nvPr/>
        </p:nvSpPr>
        <p:spPr>
          <a:xfrm>
            <a:off x="4357686" y="2915079"/>
            <a:ext cx="1210588" cy="400110"/>
          </a:xfrm>
          <a:prstGeom prst="rect">
            <a:avLst/>
          </a:prstGeom>
          <a:noFill/>
          <a:ln w="28575">
            <a:solidFill>
              <a:srgbClr val="C00000"/>
            </a:solidFill>
          </a:ln>
        </p:spPr>
        <p:txBody>
          <a:bodyPr wrap="none" rtlCol="0">
            <a:spAutoFit/>
          </a:bodyPr>
          <a:lstStyle/>
          <a:p>
            <a:r>
              <a:rPr lang="zh-CN" altLang="en-US" sz="2000" b="1">
                <a:solidFill>
                  <a:srgbClr val="C00000"/>
                </a:solidFill>
              </a:rPr>
              <a:t>弯矩主导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65935"/>
                                        </p:tgtEl>
                                        <p:attrNameLst>
                                          <p:attrName>style.visibility</p:attrName>
                                        </p:attrNameLst>
                                      </p:cBhvr>
                                      <p:to>
                                        <p:strVal val="visible"/>
                                      </p:to>
                                    </p:set>
                                    <p:animEffect transition="in" filter="wipe(left)">
                                      <p:cBhvr>
                                        <p:cTn id="18" dur="500"/>
                                        <p:tgtEl>
                                          <p:spTgt spid="46593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5936"/>
                                        </p:tgtEl>
                                        <p:attrNameLst>
                                          <p:attrName>style.visibility</p:attrName>
                                        </p:attrNameLst>
                                      </p:cBhvr>
                                      <p:to>
                                        <p:strVal val="visible"/>
                                      </p:to>
                                    </p:set>
                                    <p:anim calcmode="lin" valueType="num">
                                      <p:cBhvr additive="base">
                                        <p:cTn id="23" dur="500" fill="hold"/>
                                        <p:tgtEl>
                                          <p:spTgt spid="465936"/>
                                        </p:tgtEl>
                                        <p:attrNameLst>
                                          <p:attrName>ppt_x</p:attrName>
                                        </p:attrNameLst>
                                      </p:cBhvr>
                                      <p:tavLst>
                                        <p:tav tm="0">
                                          <p:val>
                                            <p:strVal val="#ppt_x"/>
                                          </p:val>
                                        </p:tav>
                                        <p:tav tm="100000">
                                          <p:val>
                                            <p:strVal val="#ppt_x"/>
                                          </p:val>
                                        </p:tav>
                                      </p:tavLst>
                                    </p:anim>
                                    <p:anim calcmode="lin" valueType="num">
                                      <p:cBhvr additive="base">
                                        <p:cTn id="24" dur="500" fill="hold"/>
                                        <p:tgtEl>
                                          <p:spTgt spid="46593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65938"/>
                                        </p:tgtEl>
                                        <p:attrNameLst>
                                          <p:attrName>style.visibility</p:attrName>
                                        </p:attrNameLst>
                                      </p:cBhvr>
                                      <p:to>
                                        <p:strVal val="visible"/>
                                      </p:to>
                                    </p:set>
                                    <p:anim calcmode="lin" valueType="num">
                                      <p:cBhvr additive="base">
                                        <p:cTn id="29" dur="500" fill="hold"/>
                                        <p:tgtEl>
                                          <p:spTgt spid="465938"/>
                                        </p:tgtEl>
                                        <p:attrNameLst>
                                          <p:attrName>ppt_x</p:attrName>
                                        </p:attrNameLst>
                                      </p:cBhvr>
                                      <p:tavLst>
                                        <p:tav tm="0">
                                          <p:val>
                                            <p:strVal val="#ppt_x"/>
                                          </p:val>
                                        </p:tav>
                                        <p:tav tm="100000">
                                          <p:val>
                                            <p:strVal val="#ppt_x"/>
                                          </p:val>
                                        </p:tav>
                                      </p:tavLst>
                                    </p:anim>
                                    <p:anim calcmode="lin" valueType="num">
                                      <p:cBhvr additive="base">
                                        <p:cTn id="30" dur="500" fill="hold"/>
                                        <p:tgtEl>
                                          <p:spTgt spid="46593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65937"/>
                                        </p:tgtEl>
                                        <p:attrNameLst>
                                          <p:attrName>style.visibility</p:attrName>
                                        </p:attrNameLst>
                                      </p:cBhvr>
                                      <p:to>
                                        <p:strVal val="visible"/>
                                      </p:to>
                                    </p:set>
                                    <p:anim calcmode="lin" valueType="num">
                                      <p:cBhvr additive="base">
                                        <p:cTn id="35" dur="500" fill="hold"/>
                                        <p:tgtEl>
                                          <p:spTgt spid="465937"/>
                                        </p:tgtEl>
                                        <p:attrNameLst>
                                          <p:attrName>ppt_x</p:attrName>
                                        </p:attrNameLst>
                                      </p:cBhvr>
                                      <p:tavLst>
                                        <p:tav tm="0">
                                          <p:val>
                                            <p:strVal val="#ppt_x"/>
                                          </p:val>
                                        </p:tav>
                                        <p:tav tm="100000">
                                          <p:val>
                                            <p:strVal val="#ppt_x"/>
                                          </p:val>
                                        </p:tav>
                                      </p:tavLst>
                                    </p:anim>
                                    <p:anim calcmode="lin" valueType="num">
                                      <p:cBhvr additive="base">
                                        <p:cTn id="36" dur="500" fill="hold"/>
                                        <p:tgtEl>
                                          <p:spTgt spid="46593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65939"/>
                                        </p:tgtEl>
                                        <p:attrNameLst>
                                          <p:attrName>style.visibility</p:attrName>
                                        </p:attrNameLst>
                                      </p:cBhvr>
                                      <p:to>
                                        <p:strVal val="visible"/>
                                      </p:to>
                                    </p:set>
                                    <p:anim calcmode="lin" valueType="num">
                                      <p:cBhvr additive="base">
                                        <p:cTn id="41" dur="500" fill="hold"/>
                                        <p:tgtEl>
                                          <p:spTgt spid="465939"/>
                                        </p:tgtEl>
                                        <p:attrNameLst>
                                          <p:attrName>ppt_x</p:attrName>
                                        </p:attrNameLst>
                                      </p:cBhvr>
                                      <p:tavLst>
                                        <p:tav tm="0">
                                          <p:val>
                                            <p:strVal val="#ppt_x"/>
                                          </p:val>
                                        </p:tav>
                                        <p:tav tm="100000">
                                          <p:val>
                                            <p:strVal val="#ppt_x"/>
                                          </p:val>
                                        </p:tav>
                                      </p:tavLst>
                                    </p:anim>
                                    <p:anim calcmode="lin" valueType="num">
                                      <p:cBhvr additive="base">
                                        <p:cTn id="42" dur="500" fill="hold"/>
                                        <p:tgtEl>
                                          <p:spTgt spid="46593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box(in)">
                                      <p:cBhvr>
                                        <p:cTn id="4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8245864"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，截面为矩形，圆弧</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grpSp>
        <p:nvGrpSpPr>
          <p:cNvPr id="98" name="组合 97"/>
          <p:cNvGrpSpPr/>
          <p:nvPr/>
        </p:nvGrpSpPr>
        <p:grpSpPr>
          <a:xfrm>
            <a:off x="4929190" y="2643182"/>
            <a:ext cx="3902196" cy="4500594"/>
            <a:chOff x="1169870" y="2928934"/>
            <a:chExt cx="3902196" cy="4500594"/>
          </a:xfrm>
        </p:grpSpPr>
        <p:grpSp>
          <p:nvGrpSpPr>
            <p:cNvPr id="5" name="组合 80"/>
            <p:cNvGrpSpPr/>
            <p:nvPr/>
          </p:nvGrpSpPr>
          <p:grpSpPr>
            <a:xfrm>
              <a:off x="1169870" y="3550817"/>
              <a:ext cx="3902196" cy="3878711"/>
              <a:chOff x="884118" y="3407941"/>
              <a:chExt cx="3902196" cy="3878711"/>
            </a:xfrm>
          </p:grpSpPr>
          <p:grpSp>
            <p:nvGrpSpPr>
              <p:cNvPr id="6" name="组合 70"/>
              <p:cNvGrpSpPr/>
              <p:nvPr/>
            </p:nvGrpSpPr>
            <p:grpSpPr>
              <a:xfrm>
                <a:off x="884118" y="3585323"/>
                <a:ext cx="3902196" cy="3701329"/>
                <a:chOff x="884118" y="3585323"/>
                <a:chExt cx="3902196" cy="3701329"/>
              </a:xfrm>
            </p:grpSpPr>
            <p:sp>
              <p:nvSpPr>
                <p:cNvPr id="17" name="弧形 16"/>
                <p:cNvSpPr>
                  <a:spLocks noChangeAspect="1"/>
                </p:cNvSpPr>
                <p:nvPr/>
              </p:nvSpPr>
              <p:spPr bwMode="auto">
                <a:xfrm>
                  <a:off x="1000100" y="3643314"/>
                  <a:ext cx="3643338" cy="3643338"/>
                </a:xfrm>
                <a:prstGeom prst="arc">
                  <a:avLst>
                    <a:gd name="adj1" fmla="val 12468429"/>
                    <a:gd name="adj2" fmla="val 1998755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64" name="椭圆 63"/>
                <p:cNvSpPr>
                  <a:spLocks noChangeAspect="1"/>
                </p:cNvSpPr>
                <p:nvPr/>
              </p:nvSpPr>
              <p:spPr bwMode="auto">
                <a:xfrm>
                  <a:off x="2776382" y="3585323"/>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66" name="直接连接符 65"/>
                <p:cNvCxnSpPr>
                  <a:stCxn id="17" idx="1"/>
                  <a:endCxn id="17" idx="0"/>
                </p:cNvCxnSpPr>
                <p:nvPr/>
              </p:nvCxnSpPr>
              <p:spPr bwMode="auto">
                <a:xfrm rot="16200000" flipV="1">
                  <a:off x="1591214" y="4234428"/>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7" name="直接连接符 66"/>
                <p:cNvCxnSpPr/>
                <p:nvPr/>
              </p:nvCxnSpPr>
              <p:spPr bwMode="auto">
                <a:xfrm rot="5400000" flipH="1" flipV="1">
                  <a:off x="3198568" y="4229805"/>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 name="组合 53"/>
                <p:cNvGrpSpPr/>
                <p:nvPr/>
              </p:nvGrpSpPr>
              <p:grpSpPr>
                <a:xfrm>
                  <a:off x="4223287" y="4585455"/>
                  <a:ext cx="406704" cy="303260"/>
                  <a:chOff x="1000100" y="4582205"/>
                  <a:chExt cx="406704" cy="303260"/>
                </a:xfrm>
              </p:grpSpPr>
              <p:sp>
                <p:nvSpPr>
                  <p:cNvPr id="55" name="等腰三角形 54"/>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56" name="直接连接符 55"/>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57" name="直接连接符 56"/>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0" name="直接连接符 59"/>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1" name="椭圆 60"/>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62" name="椭圆 61"/>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63" name="椭圆 62"/>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nvGrpSpPr>
                <p:cNvPr id="8" name="组合 40"/>
                <p:cNvGrpSpPr/>
                <p:nvPr/>
              </p:nvGrpSpPr>
              <p:grpSpPr>
                <a:xfrm>
                  <a:off x="1000100" y="4582205"/>
                  <a:ext cx="406704" cy="303260"/>
                  <a:chOff x="1000100" y="4582205"/>
                  <a:chExt cx="406704" cy="303260"/>
                </a:xfrm>
              </p:grpSpPr>
              <p:sp>
                <p:nvSpPr>
                  <p:cNvPr id="20" name="等腰三角形 19"/>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 name="直接连接符 23"/>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0" name="直接连接符 29"/>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3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5" name="直接连接符 3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8" name="椭圆 37"/>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39" name="椭圆 38"/>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40" name="椭圆 39"/>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68" name="TextBox 67"/>
                <p:cNvSpPr txBox="1"/>
                <p:nvPr/>
              </p:nvSpPr>
              <p:spPr>
                <a:xfrm>
                  <a:off x="884118" y="4183721"/>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69" name="TextBox 68"/>
                <p:cNvSpPr txBox="1"/>
                <p:nvPr/>
              </p:nvSpPr>
              <p:spPr>
                <a:xfrm>
                  <a:off x="2858490" y="367183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70" name="TextBox 69"/>
                <p:cNvSpPr txBox="1"/>
                <p:nvPr/>
              </p:nvSpPr>
              <p:spPr>
                <a:xfrm>
                  <a:off x="4430126" y="424333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C</a:t>
                  </a:r>
                  <a:endParaRPr lang="zh-CN" altLang="en-US" sz="2000" b="1" i="1">
                    <a:latin typeface="Times New Roman" pitchFamily="18" charset="0"/>
                    <a:cs typeface="Times New Roman" pitchFamily="18" charset="0"/>
                  </a:endParaRPr>
                </a:p>
              </p:txBody>
            </p:sp>
          </p:grpSp>
          <p:sp>
            <p:nvSpPr>
              <p:cNvPr id="72" name="弧形 71"/>
              <p:cNvSpPr>
                <a:spLocks noChangeAspect="1"/>
              </p:cNvSpPr>
              <p:nvPr/>
            </p:nvSpPr>
            <p:spPr bwMode="auto">
              <a:xfrm>
                <a:off x="2299431" y="4942645"/>
                <a:ext cx="1071570" cy="1071570"/>
              </a:xfrm>
              <a:prstGeom prst="arc">
                <a:avLst>
                  <a:gd name="adj1" fmla="val 12468429"/>
                  <a:gd name="adj2" fmla="val 1998755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73" name="矩形 72"/>
              <p:cNvSpPr/>
              <p:nvPr/>
            </p:nvSpPr>
            <p:spPr>
              <a:xfrm>
                <a:off x="2935495" y="4616552"/>
                <a:ext cx="591829" cy="400110"/>
              </a:xfrm>
              <a:prstGeom prst="rect">
                <a:avLst/>
              </a:prstGeom>
            </p:spPr>
            <p:txBody>
              <a:bodyPr wrap="none">
                <a:spAutoFit/>
              </a:bodyPr>
              <a:lstStyle/>
              <a:p>
                <a:r>
                  <a:rPr kumimoji="1" lang="en-US" altLang="zh-CN" sz="2000" b="1">
                    <a:solidFill>
                      <a:srgbClr val="000000"/>
                    </a:solidFill>
                    <a:latin typeface="Times New Roman" pitchFamily="18" charset="0"/>
                    <a:cs typeface="Times New Roman" pitchFamily="18" charset="0"/>
                  </a:rPr>
                  <a:t>2</a:t>
                </a:r>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74" name="直接连接符 73"/>
              <p:cNvCxnSpPr/>
              <p:nvPr/>
            </p:nvCxnSpPr>
            <p:spPr bwMode="auto">
              <a:xfrm rot="17400000" flipV="1">
                <a:off x="1794440" y="3979880"/>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76" name="矩形 75"/>
              <p:cNvSpPr/>
              <p:nvPr/>
            </p:nvSpPr>
            <p:spPr>
              <a:xfrm>
                <a:off x="1643042" y="4286256"/>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77" name="TextBox 76"/>
              <p:cNvSpPr txBox="1"/>
              <p:nvPr/>
            </p:nvSpPr>
            <p:spPr>
              <a:xfrm>
                <a:off x="2875138" y="5330932"/>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79" name="直接连接符 78"/>
              <p:cNvCxnSpPr/>
              <p:nvPr/>
            </p:nvCxnSpPr>
            <p:spPr bwMode="auto">
              <a:xfrm rot="5400000">
                <a:off x="1692391" y="4541147"/>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sp>
          <p:nvSpPr>
            <p:cNvPr id="94" name="TextBox 93"/>
            <p:cNvSpPr txBox="1"/>
            <p:nvPr/>
          </p:nvSpPr>
          <p:spPr>
            <a:xfrm>
              <a:off x="3000364" y="2928934"/>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nvGrpSpPr>
            <p:cNvPr id="97" name="组合 96"/>
            <p:cNvGrpSpPr/>
            <p:nvPr/>
          </p:nvGrpSpPr>
          <p:grpSpPr>
            <a:xfrm>
              <a:off x="1486719" y="3357562"/>
              <a:ext cx="3286148" cy="357190"/>
              <a:chOff x="1486719" y="3098704"/>
              <a:chExt cx="3286148" cy="357190"/>
            </a:xfrm>
          </p:grpSpPr>
          <p:grpSp>
            <p:nvGrpSpPr>
              <p:cNvPr id="54" name="组合 55"/>
              <p:cNvGrpSpPr/>
              <p:nvPr/>
            </p:nvGrpSpPr>
            <p:grpSpPr>
              <a:xfrm>
                <a:off x="1527060" y="3098704"/>
                <a:ext cx="3214710" cy="357190"/>
                <a:chOff x="1214414" y="2357430"/>
                <a:chExt cx="6858842" cy="428628"/>
              </a:xfrm>
            </p:grpSpPr>
            <p:cxnSp>
              <p:nvCxnSpPr>
                <p:cNvPr id="65" name="直接连接符 64"/>
                <p:cNvCxnSpPr/>
                <p:nvPr/>
              </p:nvCxnSpPr>
              <p:spPr bwMode="auto">
                <a:xfrm>
                  <a:off x="1214414" y="2357430"/>
                  <a:ext cx="685804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71" name="直接箭头连接符 70"/>
                <p:cNvCxnSpPr/>
                <p:nvPr/>
              </p:nvCxnSpPr>
              <p:spPr bwMode="auto">
                <a:xfrm rot="5400000">
                  <a:off x="1000894"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75" name="直接箭头连接符 74"/>
                <p:cNvCxnSpPr/>
                <p:nvPr/>
              </p:nvCxnSpPr>
              <p:spPr bwMode="auto">
                <a:xfrm rot="5400000">
                  <a:off x="785894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78" name="直接箭头连接符 77"/>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0" name="直接箭头连接符 79"/>
                <p:cNvCxnSpPr/>
                <p:nvPr/>
              </p:nvCxnSpPr>
              <p:spPr bwMode="auto">
                <a:xfrm rot="5400000">
                  <a:off x="2657616"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1" name="直接箭头连接符 80"/>
                <p:cNvCxnSpPr/>
                <p:nvPr/>
              </p:nvCxnSpPr>
              <p:spPr bwMode="auto">
                <a:xfrm rot="5400000">
                  <a:off x="60729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2" name="直接箭头连接符 81"/>
                <p:cNvCxnSpPr/>
                <p:nvPr/>
              </p:nvCxnSpPr>
              <p:spPr bwMode="auto">
                <a:xfrm rot="5400000">
                  <a:off x="17867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3" name="直接箭头连接符 82"/>
                <p:cNvCxnSpPr/>
                <p:nvPr/>
              </p:nvCxnSpPr>
              <p:spPr bwMode="auto">
                <a:xfrm rot="5400000">
                  <a:off x="7001686"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4" name="直接箭头连接符 83"/>
                <p:cNvCxnSpPr/>
                <p:nvPr/>
              </p:nvCxnSpPr>
              <p:spPr bwMode="auto">
                <a:xfrm rot="5400000">
                  <a:off x="350122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5" name="直接箭头连接符 84"/>
                <p:cNvCxnSpPr/>
                <p:nvPr/>
              </p:nvCxnSpPr>
              <p:spPr bwMode="auto">
                <a:xfrm rot="5400000">
                  <a:off x="5215736"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6" name="直接箭头连接符 85"/>
                <p:cNvCxnSpPr/>
                <p:nvPr/>
              </p:nvCxnSpPr>
              <p:spPr bwMode="auto">
                <a:xfrm rot="5400000">
                  <a:off x="13853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7" name="直接箭头连接符 86"/>
                <p:cNvCxnSpPr/>
                <p:nvPr/>
              </p:nvCxnSpPr>
              <p:spPr bwMode="auto">
                <a:xfrm rot="5400000">
                  <a:off x="221534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8" name="直接箭头连接符 87"/>
                <p:cNvCxnSpPr/>
                <p:nvPr/>
              </p:nvCxnSpPr>
              <p:spPr bwMode="auto">
                <a:xfrm rot="5400000">
                  <a:off x="3072596"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89" name="直接箭头连接符 88"/>
                <p:cNvCxnSpPr/>
                <p:nvPr/>
              </p:nvCxnSpPr>
              <p:spPr bwMode="auto">
                <a:xfrm rot="5400000">
                  <a:off x="39162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90" name="直接箭头连接符 89"/>
                <p:cNvCxnSpPr/>
                <p:nvPr/>
              </p:nvCxnSpPr>
              <p:spPr bwMode="auto">
                <a:xfrm rot="5400000">
                  <a:off x="4787108"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91" name="直接箭头连接符 90"/>
                <p:cNvCxnSpPr/>
                <p:nvPr/>
              </p:nvCxnSpPr>
              <p:spPr bwMode="auto">
                <a:xfrm rot="5400000">
                  <a:off x="564436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92" name="直接箭头连接符 91"/>
                <p:cNvCxnSpPr/>
                <p:nvPr/>
              </p:nvCxnSpPr>
              <p:spPr bwMode="auto">
                <a:xfrm rot="5400000">
                  <a:off x="6528916"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93" name="直接箭头连接符 92"/>
                <p:cNvCxnSpPr/>
                <p:nvPr/>
              </p:nvCxnSpPr>
              <p:spPr bwMode="auto">
                <a:xfrm rot="5400000">
                  <a:off x="744396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cxnSp>
            <p:nvCxnSpPr>
              <p:cNvPr id="96" name="直接连接符 95"/>
              <p:cNvCxnSpPr/>
              <p:nvPr/>
            </p:nvCxnSpPr>
            <p:spPr bwMode="auto">
              <a:xfrm>
                <a:off x="1486719" y="3429000"/>
                <a:ext cx="3286148" cy="1588"/>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grpSp>
      <p:sp>
        <p:nvSpPr>
          <p:cNvPr id="99" name="Rectangle 4"/>
          <p:cNvSpPr>
            <a:spLocks noChangeArrowheads="1"/>
          </p:cNvSpPr>
          <p:nvPr/>
        </p:nvSpPr>
        <p:spPr bwMode="auto">
          <a:xfrm>
            <a:off x="857224" y="2928934"/>
            <a:ext cx="4214842" cy="1200329"/>
          </a:xfrm>
          <a:prstGeom prst="rect">
            <a:avLst/>
          </a:prstGeom>
          <a:noFill/>
          <a:ln w="9525">
            <a:noFill/>
            <a:miter lim="800000"/>
            <a:headEnd/>
            <a:tailEnd/>
          </a:ln>
        </p:spPr>
        <p:txBody>
          <a:bodyPr wrap="square">
            <a:spAutoFit/>
          </a:bodyPr>
          <a:lstStyle/>
          <a:p>
            <a:pPr marL="444500" indent="-444500"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利用对称性，只讨论左半边结构即可。</a:t>
            </a:r>
            <a:endParaRPr lang="zh-CN" altLang="en-US" sz="2000" b="1">
              <a:latin typeface="+mn-ea"/>
              <a:cs typeface="Times New Roman" pitchFamily="18" charset="0"/>
            </a:endParaRPr>
          </a:p>
          <a:p>
            <a:pPr marL="722313" indent="-722313" fontAlgn="base">
              <a:lnSpc>
                <a:spcPct val="120000"/>
              </a:lnSpc>
              <a:spcBef>
                <a:spcPct val="0"/>
              </a:spcBef>
              <a:spcAft>
                <a:spcPct val="0"/>
              </a:spcAft>
            </a:pPr>
            <a:endParaRPr kumimoji="1" lang="en-US" altLang="zh-CN" sz="2000" b="1">
              <a:solidFill>
                <a:srgbClr val="000000"/>
              </a:solidFill>
              <a:latin typeface="+mn-ea"/>
            </a:endParaRPr>
          </a:p>
        </p:txBody>
      </p:sp>
      <p:grpSp>
        <p:nvGrpSpPr>
          <p:cNvPr id="178" name="组合 177"/>
          <p:cNvGrpSpPr/>
          <p:nvPr/>
        </p:nvGrpSpPr>
        <p:grpSpPr>
          <a:xfrm>
            <a:off x="2000232" y="3357562"/>
            <a:ext cx="3759320" cy="4506747"/>
            <a:chOff x="714348" y="3596820"/>
            <a:chExt cx="3759320" cy="4506747"/>
          </a:xfrm>
        </p:grpSpPr>
        <p:sp>
          <p:nvSpPr>
            <p:cNvPr id="108" name="弧形 107"/>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0" name="直接连接符 109"/>
            <p:cNvCxnSpPr>
              <a:stCxn id="108" idx="1"/>
              <a:endCxn id="108"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113"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14" name="TextBox 113"/>
            <p:cNvSpPr txBox="1"/>
            <p:nvPr/>
          </p:nvSpPr>
          <p:spPr>
            <a:xfrm>
              <a:off x="714348" y="500063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15" name="TextBox 114"/>
            <p:cNvSpPr txBox="1"/>
            <p:nvPr/>
          </p:nvSpPr>
          <p:spPr>
            <a:xfrm>
              <a:off x="2285984" y="442913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102" name="弧形 10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103" name="矩形 10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104" name="直接连接符 10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105" name="矩形 10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106" name="TextBox 10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107" name="直接连接符 10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158" name="直接连接符 157"/>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163" name="组合 162"/>
            <p:cNvGrpSpPr/>
            <p:nvPr/>
          </p:nvGrpSpPr>
          <p:grpSpPr>
            <a:xfrm>
              <a:off x="1020865" y="3596820"/>
              <a:ext cx="1643074" cy="747427"/>
              <a:chOff x="1020865" y="3596820"/>
              <a:chExt cx="1643074" cy="747427"/>
            </a:xfrm>
          </p:grpSpPr>
          <p:grpSp>
            <p:nvGrpSpPr>
              <p:cNvPr id="137" name="组合 55"/>
              <p:cNvGrpSpPr/>
              <p:nvPr/>
            </p:nvGrpSpPr>
            <p:grpSpPr>
              <a:xfrm>
                <a:off x="1020865" y="3987057"/>
                <a:ext cx="1643074" cy="357190"/>
                <a:chOff x="1214414" y="2357430"/>
                <a:chExt cx="3371651" cy="428628"/>
              </a:xfrm>
            </p:grpSpPr>
            <p:cxnSp>
              <p:nvCxnSpPr>
                <p:cNvPr id="138" name="直接连接符 137"/>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39" name="直接箭头连接符 138"/>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1" name="直接箭头连接符 140"/>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2" name="直接箭头连接符 141"/>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4" name="直接箭头连接符 143"/>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6" name="直接箭头连接符 145"/>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8" name="直接箭头连接符 147"/>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49" name="直接箭头连接符 148"/>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50" name="直接箭头连接符 149"/>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51" name="直接箭头连接符 150"/>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62"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177" name="组合 176"/>
            <p:cNvGrpSpPr/>
            <p:nvPr/>
          </p:nvGrpSpPr>
          <p:grpSpPr>
            <a:xfrm rot="16200000">
              <a:off x="2676391" y="4334809"/>
              <a:ext cx="295201" cy="260087"/>
              <a:chOff x="3276667" y="4826364"/>
              <a:chExt cx="295201" cy="260087"/>
            </a:xfrm>
          </p:grpSpPr>
          <p:cxnSp>
            <p:nvCxnSpPr>
              <p:cNvPr id="176" name="直接连接符 175"/>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64" name="组合 40"/>
              <p:cNvGrpSpPr/>
              <p:nvPr/>
            </p:nvGrpSpPr>
            <p:grpSpPr>
              <a:xfrm>
                <a:off x="3276667" y="4930194"/>
                <a:ext cx="295201" cy="156257"/>
                <a:chOff x="990651" y="4726077"/>
                <a:chExt cx="295201" cy="156257"/>
              </a:xfrm>
            </p:grpSpPr>
            <p:cxnSp>
              <p:nvCxnSpPr>
                <p:cNvPr id="166" name="直接连接符 165"/>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7" name="直接连接符 166"/>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8" name="直接连接符 167"/>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9" name="直接连接符 168"/>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71" name="椭圆 170"/>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109" name="椭圆 108"/>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79" name="TextBox 178"/>
          <p:cNvSpPr txBox="1"/>
          <p:nvPr/>
        </p:nvSpPr>
        <p:spPr>
          <a:xfrm flipH="1">
            <a:off x="4357686" y="5505481"/>
            <a:ext cx="4572032" cy="852477"/>
          </a:xfrm>
          <a:prstGeom prst="rect">
            <a:avLst/>
          </a:prstGeom>
          <a:noFill/>
          <a:ln w="28575">
            <a:noFill/>
          </a:ln>
        </p:spPr>
        <p:txBody>
          <a:bodyPr wrap="square" rtlCol="0">
            <a:spAutoFit/>
          </a:bodyPr>
          <a:lstStyle/>
          <a:p>
            <a:pPr>
              <a:lnSpc>
                <a:spcPct val="130000"/>
              </a:lnSpc>
            </a:pPr>
            <a:r>
              <a:rPr lang="zh-CN" altLang="en-US" sz="2000" b="1">
                <a:solidFill>
                  <a:srgbClr val="C00000"/>
                </a:solidFill>
                <a:latin typeface="Times New Roman" pitchFamily="18" charset="0"/>
                <a:cs typeface="Times New Roman" pitchFamily="18" charset="0"/>
              </a:rPr>
              <a:t>思考：</a:t>
            </a:r>
            <a:r>
              <a:rPr lang="en-US" altLang="zh-CN" sz="2000" b="1">
                <a:solidFill>
                  <a:srgbClr val="C00000"/>
                </a:solidFill>
                <a:latin typeface="Times New Roman" pitchFamily="18" charset="0"/>
                <a:cs typeface="Times New Roman" pitchFamily="18" charset="0"/>
              </a:rPr>
              <a:t>1 </a:t>
            </a:r>
            <a:r>
              <a:rPr lang="zh-CN" altLang="en-US" sz="2000" b="1">
                <a:solidFill>
                  <a:srgbClr val="C00000"/>
                </a:solidFill>
                <a:latin typeface="Times New Roman" pitchFamily="18" charset="0"/>
                <a:cs typeface="Times New Roman" pitchFamily="18" charset="0"/>
              </a:rPr>
              <a:t>该结构和例</a:t>
            </a:r>
            <a:r>
              <a:rPr lang="en-US" altLang="zh-CN" sz="2000" b="1">
                <a:solidFill>
                  <a:srgbClr val="C00000"/>
                </a:solidFill>
                <a:latin typeface="Times New Roman" pitchFamily="18" charset="0"/>
                <a:cs typeface="Times New Roman" pitchFamily="18" charset="0"/>
              </a:rPr>
              <a:t>5-5</a:t>
            </a:r>
            <a:r>
              <a:rPr lang="zh-CN" altLang="en-US" sz="2000" b="1">
                <a:solidFill>
                  <a:srgbClr val="C00000"/>
                </a:solidFill>
                <a:latin typeface="Times New Roman" pitchFamily="18" charset="0"/>
                <a:cs typeface="Times New Roman" pitchFamily="18" charset="0"/>
              </a:rPr>
              <a:t>有何不同？</a:t>
            </a:r>
            <a:endParaRPr lang="en-US" altLang="zh-CN" sz="2000" b="1">
              <a:solidFill>
                <a:srgbClr val="C00000"/>
              </a:solidFill>
              <a:latin typeface="Times New Roman" pitchFamily="18" charset="0"/>
              <a:cs typeface="Times New Roman" pitchFamily="18" charset="0"/>
            </a:endParaRPr>
          </a:p>
          <a:p>
            <a:pPr indent="803275">
              <a:lnSpc>
                <a:spcPct val="130000"/>
              </a:lnSpc>
            </a:pPr>
            <a:r>
              <a:rPr lang="en-US" altLang="zh-CN" sz="2000" b="1">
                <a:solidFill>
                  <a:srgbClr val="C00000"/>
                </a:solidFill>
                <a:latin typeface="Times New Roman" pitchFamily="18" charset="0"/>
                <a:cs typeface="Times New Roman" pitchFamily="18" charset="0"/>
              </a:rPr>
              <a:t>2 </a:t>
            </a:r>
            <a:r>
              <a:rPr lang="zh-CN" altLang="en-US" sz="2000" b="1">
                <a:solidFill>
                  <a:srgbClr val="C00000"/>
                </a:solidFill>
                <a:latin typeface="Times New Roman" pitchFamily="18" charset="0"/>
                <a:cs typeface="Times New Roman" pitchFamily="18" charset="0"/>
              </a:rPr>
              <a:t>弯矩依然主导么？为什么？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anim calcmode="lin" valueType="num">
                                      <p:cBhvr additive="base">
                                        <p:cTn id="11" dur="500" fill="hold"/>
                                        <p:tgtEl>
                                          <p:spTgt spid="98"/>
                                        </p:tgtEl>
                                        <p:attrNameLst>
                                          <p:attrName>ppt_x</p:attrName>
                                        </p:attrNameLst>
                                      </p:cBhvr>
                                      <p:tavLst>
                                        <p:tav tm="0">
                                          <p:val>
                                            <p:strVal val="#ppt_x"/>
                                          </p:val>
                                        </p:tav>
                                        <p:tav tm="100000">
                                          <p:val>
                                            <p:strVal val="#ppt_x"/>
                                          </p:val>
                                        </p:tav>
                                      </p:tavLst>
                                    </p:anim>
                                    <p:anim calcmode="lin" valueType="num">
                                      <p:cBhvr additive="base">
                                        <p:cTn id="12"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box(in)">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8"/>
                                        </p:tgtEl>
                                        <p:attrNameLst>
                                          <p:attrName>style.visibility</p:attrName>
                                        </p:attrNameLst>
                                      </p:cBhvr>
                                      <p:to>
                                        <p:strVal val="visible"/>
                                      </p:to>
                                    </p:set>
                                    <p:anim calcmode="lin" valueType="num">
                                      <p:cBhvr additive="base">
                                        <p:cTn id="22" dur="500" fill="hold"/>
                                        <p:tgtEl>
                                          <p:spTgt spid="178"/>
                                        </p:tgtEl>
                                        <p:attrNameLst>
                                          <p:attrName>ppt_x</p:attrName>
                                        </p:attrNameLst>
                                      </p:cBhvr>
                                      <p:tavLst>
                                        <p:tav tm="0">
                                          <p:val>
                                            <p:strVal val="#ppt_x"/>
                                          </p:val>
                                        </p:tav>
                                        <p:tav tm="100000">
                                          <p:val>
                                            <p:strVal val="#ppt_x"/>
                                          </p:val>
                                        </p:tav>
                                      </p:tavLst>
                                    </p:anim>
                                    <p:anim calcmode="lin" valueType="num">
                                      <p:cBhvr additive="base">
                                        <p:cTn id="23" dur="500" fill="hold"/>
                                        <p:tgtEl>
                                          <p:spTgt spid="17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79"/>
                                        </p:tgtEl>
                                        <p:attrNameLst>
                                          <p:attrName>style.visibility</p:attrName>
                                        </p:attrNameLst>
                                      </p:cBhvr>
                                      <p:to>
                                        <p:strVal val="visible"/>
                                      </p:to>
                                    </p:set>
                                    <p:anim calcmode="lin" valueType="num">
                                      <p:cBhvr additive="base">
                                        <p:cTn id="28" dur="500" fill="hold"/>
                                        <p:tgtEl>
                                          <p:spTgt spid="179"/>
                                        </p:tgtEl>
                                        <p:attrNameLst>
                                          <p:attrName>ppt_x</p:attrName>
                                        </p:attrNameLst>
                                      </p:cBhvr>
                                      <p:tavLst>
                                        <p:tav tm="0">
                                          <p:val>
                                            <p:strVal val="#ppt_x"/>
                                          </p:val>
                                        </p:tav>
                                        <p:tav tm="100000">
                                          <p:val>
                                            <p:strVal val="#ppt_x"/>
                                          </p:val>
                                        </p:tav>
                                      </p:tavLst>
                                    </p:anim>
                                    <p:anim calcmode="lin" valueType="num">
                                      <p:cBhvr additive="base">
                                        <p:cTn id="29" dur="500" fill="hold"/>
                                        <p:tgtEl>
                                          <p:spTgt spid="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99" grpId="0"/>
      <p:bldP spid="17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141" name="Rectangle 4"/>
          <p:cNvSpPr>
            <a:spLocks noChangeArrowheads="1"/>
          </p:cNvSpPr>
          <p:nvPr/>
        </p:nvSpPr>
        <p:spPr bwMode="auto">
          <a:xfrm>
            <a:off x="857224" y="3167962"/>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⑴</a:t>
            </a:r>
            <a:r>
              <a:rPr kumimoji="1" lang="en-US" altLang="zh-CN" sz="2000" b="1">
                <a:solidFill>
                  <a:srgbClr val="000000"/>
                </a:solidFill>
                <a:latin typeface="+mn-ea"/>
              </a:rPr>
              <a:t> </a:t>
            </a:r>
            <a:r>
              <a:rPr kumimoji="1" lang="zh-CN" altLang="en-US" sz="2000" b="1">
                <a:solidFill>
                  <a:srgbClr val="000000"/>
                </a:solidFill>
                <a:latin typeface="+mn-ea"/>
              </a:rPr>
              <a:t>在</a:t>
            </a:r>
            <a:r>
              <a:rPr kumimoji="1" lang="en-US" altLang="zh-CN" sz="2000" b="1" i="1">
                <a:solidFill>
                  <a:srgbClr val="000000"/>
                </a:solidFill>
                <a:latin typeface="Times New Roman" pitchFamily="18" charset="0"/>
                <a:cs typeface="Times New Roman" pitchFamily="18" charset="0"/>
              </a:rPr>
              <a:t>B</a:t>
            </a:r>
            <a:r>
              <a:rPr kumimoji="1" lang="zh-CN" altLang="en-US" sz="2000" b="1">
                <a:solidFill>
                  <a:srgbClr val="000000"/>
                </a:solidFill>
                <a:latin typeface="+mn-ea"/>
              </a:rPr>
              <a:t>点虚设向下的单位荷载；</a:t>
            </a:r>
            <a:endParaRPr kumimoji="1" lang="en-US" altLang="zh-CN" sz="2000" b="1">
              <a:solidFill>
                <a:srgbClr val="000000"/>
              </a:solidFill>
              <a:latin typeface="+mn-ea"/>
            </a:endParaRPr>
          </a:p>
        </p:txBody>
      </p:sp>
      <p:grpSp>
        <p:nvGrpSpPr>
          <p:cNvPr id="195" name="组合 194"/>
          <p:cNvGrpSpPr/>
          <p:nvPr/>
        </p:nvGrpSpPr>
        <p:grpSpPr>
          <a:xfrm>
            <a:off x="6333236" y="1208269"/>
            <a:ext cx="3712596" cy="4506747"/>
            <a:chOff x="6333236" y="1208269"/>
            <a:chExt cx="3712596" cy="4506747"/>
          </a:xfrm>
        </p:grpSpPr>
        <p:grpSp>
          <p:nvGrpSpPr>
            <p:cNvPr id="140" name="组合 139"/>
            <p:cNvGrpSpPr/>
            <p:nvPr/>
          </p:nvGrpSpPr>
          <p:grpSpPr>
            <a:xfrm>
              <a:off x="6333236" y="1208269"/>
              <a:ext cx="3712596" cy="4506747"/>
              <a:chOff x="6333236" y="1208269"/>
              <a:chExt cx="3712596" cy="4506747"/>
            </a:xfrm>
          </p:grpSpPr>
          <p:grpSp>
            <p:nvGrpSpPr>
              <p:cNvPr id="82" name="组合 81"/>
              <p:cNvGrpSpPr/>
              <p:nvPr/>
            </p:nvGrpSpPr>
            <p:grpSpPr>
              <a:xfrm>
                <a:off x="6392317" y="1208269"/>
                <a:ext cx="3653515" cy="4506747"/>
                <a:chOff x="820153" y="3596820"/>
                <a:chExt cx="3653515" cy="4506747"/>
              </a:xfrm>
            </p:grpSpPr>
            <p:sp>
              <p:nvSpPr>
                <p:cNvPr id="83" name="弧形 82"/>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84" name="直接连接符 83"/>
                <p:cNvCxnSpPr>
                  <a:stCxn id="83" idx="1"/>
                  <a:endCxn id="83"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85"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6" name="TextBox 85"/>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87" name="TextBox 86"/>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88" name="弧形 87"/>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89" name="矩形 88"/>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90" name="直接连接符 89"/>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91" name="矩形 90"/>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92" name="TextBox 91"/>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93" name="直接连接符 92"/>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94" name="直接连接符 93"/>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95" name="组合 162"/>
                <p:cNvGrpSpPr/>
                <p:nvPr/>
              </p:nvGrpSpPr>
              <p:grpSpPr>
                <a:xfrm>
                  <a:off x="1020865" y="3596820"/>
                  <a:ext cx="1643074" cy="747187"/>
                  <a:chOff x="1020865" y="3596820"/>
                  <a:chExt cx="1643074" cy="747187"/>
                </a:xfrm>
              </p:grpSpPr>
              <p:grpSp>
                <p:nvGrpSpPr>
                  <p:cNvPr id="105" name="组合 55"/>
                  <p:cNvGrpSpPr/>
                  <p:nvPr/>
                </p:nvGrpSpPr>
                <p:grpSpPr>
                  <a:xfrm>
                    <a:off x="1020865" y="3986854"/>
                    <a:ext cx="1643074" cy="357153"/>
                    <a:chOff x="1214414" y="2357430"/>
                    <a:chExt cx="3371651" cy="428628"/>
                  </a:xfrm>
                </p:grpSpPr>
                <p:cxnSp>
                  <p:nvCxnSpPr>
                    <p:cNvPr id="107" name="直接连接符 106"/>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08" name="直接箭头连接符 107"/>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09" name="直接箭头连接符 108"/>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0" name="直接箭头连接符 109"/>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1" name="直接箭头连接符 110"/>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2" name="直接箭头连接符 111"/>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3" name="直接箭头连接符 112"/>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4" name="直接箭头连接符 113"/>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5" name="直接箭头连接符 114"/>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6" name="直接箭头连接符 115"/>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06"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96" name="组合 176"/>
                <p:cNvGrpSpPr/>
                <p:nvPr/>
              </p:nvGrpSpPr>
              <p:grpSpPr>
                <a:xfrm rot="16200000">
                  <a:off x="2676393" y="4334811"/>
                  <a:ext cx="295201" cy="260087"/>
                  <a:chOff x="3276667" y="4826364"/>
                  <a:chExt cx="295201" cy="260087"/>
                </a:xfrm>
              </p:grpSpPr>
              <p:cxnSp>
                <p:nvCxnSpPr>
                  <p:cNvPr id="98" name="直接连接符 97"/>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99" name="组合 40"/>
                  <p:cNvGrpSpPr/>
                  <p:nvPr/>
                </p:nvGrpSpPr>
                <p:grpSpPr>
                  <a:xfrm>
                    <a:off x="3276667" y="4930194"/>
                    <a:ext cx="295201" cy="156257"/>
                    <a:chOff x="990651" y="4726077"/>
                    <a:chExt cx="295201" cy="156257"/>
                  </a:xfrm>
                </p:grpSpPr>
                <p:cxnSp>
                  <p:nvCxnSpPr>
                    <p:cNvPr id="100" name="直接连接符 99"/>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1" name="直接连接符 100"/>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2" name="直接连接符 101"/>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97" name="椭圆 96"/>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7" name="直接连接符 126"/>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箭头连接符 128"/>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3" name="TextBox 13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cxnSp>
            <p:nvCxnSpPr>
              <p:cNvPr id="135" name="直接连接符 134"/>
              <p:cNvCxnSpPr/>
              <p:nvPr/>
            </p:nvCxnSpPr>
            <p:spPr bwMode="auto">
              <a:xfrm rot="10800000">
                <a:off x="6537897" y="2557799"/>
                <a:ext cx="35719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箭头连接符 135"/>
              <p:cNvCxnSpPr/>
              <p:nvPr/>
            </p:nvCxnSpPr>
            <p:spPr bwMode="auto">
              <a:xfrm rot="5400000">
                <a:off x="6385782" y="2804950"/>
                <a:ext cx="468000"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9" name="矩形 138"/>
              <p:cNvSpPr/>
              <p:nvPr/>
            </p:nvSpPr>
            <p:spPr>
              <a:xfrm>
                <a:off x="6333236" y="2581612"/>
                <a:ext cx="287258" cy="369332"/>
              </a:xfrm>
              <a:prstGeom prst="rect">
                <a:avLst/>
              </a:prstGeom>
            </p:spPr>
            <p:txBody>
              <a:bodyPr wrap="none">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193" name="弧形 192"/>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4" name="矩形 193"/>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grpSp>
        <p:nvGrpSpPr>
          <p:cNvPr id="196" name="组合 195"/>
          <p:cNvGrpSpPr/>
          <p:nvPr/>
        </p:nvGrpSpPr>
        <p:grpSpPr>
          <a:xfrm>
            <a:off x="6382140" y="4000504"/>
            <a:ext cx="3653515" cy="4220995"/>
            <a:chOff x="6392317" y="1494021"/>
            <a:chExt cx="3653515" cy="4220995"/>
          </a:xfrm>
        </p:grpSpPr>
        <p:grpSp>
          <p:nvGrpSpPr>
            <p:cNvPr id="197" name="组合 139"/>
            <p:cNvGrpSpPr/>
            <p:nvPr/>
          </p:nvGrpSpPr>
          <p:grpSpPr>
            <a:xfrm>
              <a:off x="6392317" y="1494021"/>
              <a:ext cx="3653515" cy="4220995"/>
              <a:chOff x="6392317" y="1494021"/>
              <a:chExt cx="3653515" cy="4220995"/>
            </a:xfrm>
          </p:grpSpPr>
          <p:grpSp>
            <p:nvGrpSpPr>
              <p:cNvPr id="200" name="组合 81"/>
              <p:cNvGrpSpPr/>
              <p:nvPr/>
            </p:nvGrpSpPr>
            <p:grpSpPr>
              <a:xfrm>
                <a:off x="6392317" y="1494021"/>
                <a:ext cx="3653515" cy="4220995"/>
                <a:chOff x="820153" y="3882572"/>
                <a:chExt cx="3653515" cy="4220995"/>
              </a:xfrm>
            </p:grpSpPr>
            <p:sp>
              <p:nvSpPr>
                <p:cNvPr id="207" name="弧形 206"/>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08" name="直接连接符 207"/>
                <p:cNvCxnSpPr>
                  <a:stCxn id="207" idx="1"/>
                  <a:endCxn id="207"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209" name="组合 40"/>
                <p:cNvGrpSpPr/>
                <p:nvPr/>
              </p:nvGrpSpPr>
              <p:grpSpPr>
                <a:xfrm>
                  <a:off x="830330" y="5399120"/>
                  <a:ext cx="406704" cy="303260"/>
                  <a:chOff x="1000100" y="4582205"/>
                  <a:chExt cx="406704" cy="303260"/>
                </a:xfrm>
              </p:grpSpPr>
              <p:sp>
                <p:nvSpPr>
                  <p:cNvPr id="241" name="等腰三角形 240"/>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2" name="直接连接符 241"/>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3" name="直接连接符 242"/>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4" name="直接连接符 24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5" name="直接连接符 24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6" name="直接连接符 24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7" name="椭圆 246"/>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8" name="椭圆 247"/>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9" name="椭圆 248"/>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10" name="TextBox 209"/>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1" name="TextBox 210"/>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212" name="弧形 21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213" name="矩形 21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214" name="直接连接符 21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215" name="矩形 21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216" name="TextBox 21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217" name="直接连接符 21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nvGrpSpPr>
                <p:cNvPr id="219" name="组合 162"/>
                <p:cNvGrpSpPr/>
                <p:nvPr/>
              </p:nvGrpSpPr>
              <p:grpSpPr>
                <a:xfrm>
                  <a:off x="2342885" y="3882572"/>
                  <a:ext cx="314587" cy="460773"/>
                  <a:chOff x="2342885" y="3882572"/>
                  <a:chExt cx="314587" cy="460773"/>
                </a:xfrm>
              </p:grpSpPr>
              <p:cxnSp>
                <p:nvCxnSpPr>
                  <p:cNvPr id="233" name="直接箭头连接符 232"/>
                  <p:cNvCxnSpPr/>
                  <p:nvPr/>
                </p:nvCxnSpPr>
                <p:spPr bwMode="auto">
                  <a:xfrm rot="5400000">
                    <a:off x="2479033" y="4164906"/>
                    <a:ext cx="356491" cy="387"/>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sp>
                <p:nvSpPr>
                  <p:cNvPr id="230" name="TextBox 93"/>
                  <p:cNvSpPr txBox="1"/>
                  <p:nvPr/>
                </p:nvSpPr>
                <p:spPr>
                  <a:xfrm>
                    <a:off x="2342885" y="3882572"/>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grpSp>
            <p:grpSp>
              <p:nvGrpSpPr>
                <p:cNvPr id="220" name="组合 176"/>
                <p:cNvGrpSpPr/>
                <p:nvPr/>
              </p:nvGrpSpPr>
              <p:grpSpPr>
                <a:xfrm rot="16200000">
                  <a:off x="2676395" y="4334813"/>
                  <a:ext cx="295201" cy="260087"/>
                  <a:chOff x="3276667" y="4826364"/>
                  <a:chExt cx="295201" cy="260087"/>
                </a:xfrm>
              </p:grpSpPr>
              <p:cxnSp>
                <p:nvCxnSpPr>
                  <p:cNvPr id="222" name="直接连接符 221"/>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223" name="组合 40"/>
                  <p:cNvGrpSpPr/>
                  <p:nvPr/>
                </p:nvGrpSpPr>
                <p:grpSpPr>
                  <a:xfrm>
                    <a:off x="3276667" y="4930194"/>
                    <a:ext cx="295201" cy="156257"/>
                    <a:chOff x="990651" y="4726077"/>
                    <a:chExt cx="295201" cy="156257"/>
                  </a:xfrm>
                </p:grpSpPr>
                <p:cxnSp>
                  <p:nvCxnSpPr>
                    <p:cNvPr id="224" name="直接连接符 223"/>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5" name="直接连接符 224"/>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6" name="直接连接符 225"/>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7" name="直接连接符 226"/>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8" name="椭圆 227"/>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221" name="椭圆 220"/>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201" name="直接连接符 200"/>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2" name="直接箭头连接符 201"/>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203" name="TextBox 20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198" name="弧形 197"/>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9" name="矩形 198"/>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sp>
        <p:nvSpPr>
          <p:cNvPr id="250" name="Rectangle 4"/>
          <p:cNvSpPr>
            <a:spLocks noChangeArrowheads="1"/>
          </p:cNvSpPr>
          <p:nvPr/>
        </p:nvSpPr>
        <p:spPr bwMode="auto">
          <a:xfrm>
            <a:off x="869581" y="3525152"/>
            <a:ext cx="5228829"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a:solidFill>
                  <a:srgbClr val="000000"/>
                </a:solidFill>
                <a:latin typeface="+mn-ea"/>
              </a:rPr>
              <a:t>      ⑵</a:t>
            </a:r>
            <a:r>
              <a:rPr kumimoji="1" lang="en-US" altLang="zh-CN" sz="2000" b="1">
                <a:solidFill>
                  <a:srgbClr val="000000"/>
                </a:solidFill>
                <a:latin typeface="+mn-ea"/>
              </a:rPr>
              <a:t> 	</a:t>
            </a:r>
            <a:r>
              <a:rPr kumimoji="1" lang="zh-CN" altLang="en-US" sz="2000" b="1">
                <a:solidFill>
                  <a:srgbClr val="000000"/>
                </a:solidFill>
                <a:latin typeface="+mn-ea"/>
              </a:rPr>
              <a:t>求出实际荷载和虚设荷载作用下的内力；</a:t>
            </a:r>
            <a:endParaRPr kumimoji="1" lang="en-US" altLang="zh-CN" sz="2000" b="1">
              <a:solidFill>
                <a:srgbClr val="000000"/>
              </a:solidFill>
              <a:latin typeface="+mn-ea"/>
            </a:endParaRPr>
          </a:p>
        </p:txBody>
      </p:sp>
      <p:graphicFrame>
        <p:nvGraphicFramePr>
          <p:cNvPr id="251" name="表格 250"/>
          <p:cNvGraphicFramePr>
            <a:graphicFrameLocks noGrp="1"/>
          </p:cNvGraphicFramePr>
          <p:nvPr/>
        </p:nvGraphicFramePr>
        <p:xfrm>
          <a:off x="406585" y="3986817"/>
          <a:ext cx="5786478" cy="2524125"/>
        </p:xfrm>
        <a:graphic>
          <a:graphicData uri="http://schemas.openxmlformats.org/drawingml/2006/table">
            <a:tbl>
              <a:tblPr firstRow="1" bandRow="1">
                <a:tableStyleId>{5C22544A-7EE6-4342-B048-85BDC9FD1C3A}</a:tableStyleId>
              </a:tblPr>
              <a:tblGrid>
                <a:gridCol w="714380">
                  <a:extLst>
                    <a:ext uri="{9D8B030D-6E8A-4147-A177-3AD203B41FA5}">
                      <a16:colId xmlns:a16="http://schemas.microsoft.com/office/drawing/2014/main" val="20000"/>
                    </a:ext>
                  </a:extLst>
                </a:gridCol>
                <a:gridCol w="3000396">
                  <a:extLst>
                    <a:ext uri="{9D8B030D-6E8A-4147-A177-3AD203B41FA5}">
                      <a16:colId xmlns:a16="http://schemas.microsoft.com/office/drawing/2014/main" val="20001"/>
                    </a:ext>
                  </a:extLst>
                </a:gridCol>
                <a:gridCol w="2071702">
                  <a:extLst>
                    <a:ext uri="{9D8B030D-6E8A-4147-A177-3AD203B41FA5}">
                      <a16:colId xmlns:a16="http://schemas.microsoft.com/office/drawing/2014/main" val="20002"/>
                    </a:ext>
                  </a:extLst>
                </a:gridCol>
              </a:tblGrid>
              <a:tr h="355654">
                <a:tc>
                  <a:txBody>
                    <a:bodyPr/>
                    <a:lstStyle/>
                    <a:p>
                      <a:pPr algn="ctr"/>
                      <a:r>
                        <a:rPr lang="zh-CN" altLang="en-US">
                          <a:solidFill>
                            <a:schemeClr val="tx1"/>
                          </a:solidFill>
                        </a:rPr>
                        <a:t>内力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实际荷载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虚设单位荷载</a:t>
                      </a: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719455">
                <a:tc>
                  <a:txBody>
                    <a:bodyPr/>
                    <a:lstStyle/>
                    <a:p>
                      <a:pPr algn="ctr"/>
                      <a:r>
                        <a:rPr lang="zh-CN" altLang="en-US" b="1">
                          <a:solidFill>
                            <a:schemeClr val="tx1"/>
                          </a:solidFill>
                        </a:rPr>
                        <a:t>弯矩</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719455">
                <a:tc>
                  <a:txBody>
                    <a:bodyPr/>
                    <a:lstStyle/>
                    <a:p>
                      <a:pPr algn="ctr"/>
                      <a:r>
                        <a:rPr lang="zh-CN" altLang="en-US" b="1">
                          <a:solidFill>
                            <a:schemeClr val="tx1"/>
                          </a:solidFill>
                        </a:rPr>
                        <a:t>轴力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19455">
                <a:tc>
                  <a:txBody>
                    <a:bodyPr/>
                    <a:lstStyle/>
                    <a:p>
                      <a:pPr algn="ctr"/>
                      <a:r>
                        <a:rPr lang="zh-CN" altLang="en-US" b="1">
                          <a:solidFill>
                            <a:schemeClr val="tx1"/>
                          </a:solidFill>
                        </a:rPr>
                        <a:t>剪力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graphicFrame>
        <p:nvGraphicFramePr>
          <p:cNvPr id="467978" name="Object 11"/>
          <p:cNvGraphicFramePr>
            <a:graphicFrameLocks noChangeAspect="1"/>
          </p:cNvGraphicFramePr>
          <p:nvPr/>
        </p:nvGraphicFramePr>
        <p:xfrm>
          <a:off x="1549594" y="4357688"/>
          <a:ext cx="2332038" cy="749300"/>
        </p:xfrm>
        <a:graphic>
          <a:graphicData uri="http://schemas.openxmlformats.org/presentationml/2006/ole">
            <mc:AlternateContent xmlns:mc="http://schemas.openxmlformats.org/markup-compatibility/2006">
              <mc:Choice xmlns:v="urn:schemas-microsoft-com:vml" Requires="v">
                <p:oleObj spid="_x0000_s467984" name="Equation" r:id="rId4" imgW="1498320" imgH="482400" progId="Equation.DSMT4">
                  <p:embed/>
                </p:oleObj>
              </mc:Choice>
              <mc:Fallback>
                <p:oleObj name="Equation" r:id="rId4" imgW="1498320" imgH="4824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9594" y="4357688"/>
                        <a:ext cx="2332038"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9" name="Object 11"/>
          <p:cNvGraphicFramePr>
            <a:graphicFrameLocks noChangeAspect="1"/>
          </p:cNvGraphicFramePr>
          <p:nvPr/>
        </p:nvGraphicFramePr>
        <p:xfrm>
          <a:off x="4264238" y="4397375"/>
          <a:ext cx="1738313" cy="669925"/>
        </p:xfrm>
        <a:graphic>
          <a:graphicData uri="http://schemas.openxmlformats.org/presentationml/2006/ole">
            <mc:AlternateContent xmlns:mc="http://schemas.openxmlformats.org/markup-compatibility/2006">
              <mc:Choice xmlns:v="urn:schemas-microsoft-com:vml" Requires="v">
                <p:oleObj spid="_x0000_s467985" name="Equation" r:id="rId6" imgW="1117440" imgH="431640" progId="Equation.DSMT4">
                  <p:embed/>
                </p:oleObj>
              </mc:Choice>
              <mc:Fallback>
                <p:oleObj name="Equation" r:id="rId6" imgW="1117440" imgH="431640" progId="Equation.DSMT4">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4238" y="4397375"/>
                        <a:ext cx="173831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0" name="Object 13"/>
          <p:cNvGraphicFramePr>
            <a:graphicFrameLocks noChangeAspect="1"/>
          </p:cNvGraphicFramePr>
          <p:nvPr/>
        </p:nvGraphicFramePr>
        <p:xfrm>
          <a:off x="1136862" y="5115268"/>
          <a:ext cx="2984500" cy="673100"/>
        </p:xfrm>
        <a:graphic>
          <a:graphicData uri="http://schemas.openxmlformats.org/presentationml/2006/ole">
            <mc:AlternateContent xmlns:mc="http://schemas.openxmlformats.org/markup-compatibility/2006">
              <mc:Choice xmlns:v="urn:schemas-microsoft-com:vml" Requires="v">
                <p:oleObj spid="_x0000_s467986" name="Equation" r:id="rId8" imgW="1917360" imgH="431640" progId="Equation.DSMT4">
                  <p:embed/>
                </p:oleObj>
              </mc:Choice>
              <mc:Fallback>
                <p:oleObj name="Equation" r:id="rId8" imgW="1917360" imgH="43164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6862" y="5115268"/>
                        <a:ext cx="29845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1" name="Object 13"/>
          <p:cNvGraphicFramePr>
            <a:graphicFrameLocks noChangeAspect="1"/>
          </p:cNvGraphicFramePr>
          <p:nvPr/>
        </p:nvGraphicFramePr>
        <p:xfrm>
          <a:off x="4184876" y="5252021"/>
          <a:ext cx="1936750" cy="376237"/>
        </p:xfrm>
        <a:graphic>
          <a:graphicData uri="http://schemas.openxmlformats.org/presentationml/2006/ole">
            <mc:AlternateContent xmlns:mc="http://schemas.openxmlformats.org/markup-compatibility/2006">
              <mc:Choice xmlns:v="urn:schemas-microsoft-com:vml" Requires="v">
                <p:oleObj spid="_x0000_s467987" name="Equation" r:id="rId10" imgW="1244520" imgH="241200" progId="Equation.DSMT4">
                  <p:embed/>
                </p:oleObj>
              </mc:Choice>
              <mc:Fallback>
                <p:oleObj name="Equation" r:id="rId10" imgW="1244520" imgH="241200" progId="Equation.DSMT4">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84876" y="5252021"/>
                        <a:ext cx="1936750"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2" name="Object 13"/>
          <p:cNvGraphicFramePr>
            <a:graphicFrameLocks noChangeAspect="1"/>
          </p:cNvGraphicFramePr>
          <p:nvPr/>
        </p:nvGraphicFramePr>
        <p:xfrm>
          <a:off x="1136862" y="5833178"/>
          <a:ext cx="2984500" cy="673100"/>
        </p:xfrm>
        <a:graphic>
          <a:graphicData uri="http://schemas.openxmlformats.org/presentationml/2006/ole">
            <mc:AlternateContent xmlns:mc="http://schemas.openxmlformats.org/markup-compatibility/2006">
              <mc:Choice xmlns:v="urn:schemas-microsoft-com:vml" Requires="v">
                <p:oleObj spid="_x0000_s467988" name="Equation" r:id="rId12" imgW="1917360" imgH="431640" progId="Equation.DSMT4">
                  <p:embed/>
                </p:oleObj>
              </mc:Choice>
              <mc:Fallback>
                <p:oleObj name="Equation" r:id="rId12" imgW="1917360" imgH="431640" progId="Equation.DSMT4">
                  <p:embed/>
                  <p:pic>
                    <p:nvPicPr>
                      <p:cNvPr id="0"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6862" y="5833178"/>
                        <a:ext cx="29845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3" name="Object 13"/>
          <p:cNvGraphicFramePr>
            <a:graphicFrameLocks noChangeAspect="1"/>
          </p:cNvGraphicFramePr>
          <p:nvPr/>
        </p:nvGraphicFramePr>
        <p:xfrm>
          <a:off x="4182172" y="5980799"/>
          <a:ext cx="1936750" cy="376237"/>
        </p:xfrm>
        <a:graphic>
          <a:graphicData uri="http://schemas.openxmlformats.org/presentationml/2006/ole">
            <mc:AlternateContent xmlns:mc="http://schemas.openxmlformats.org/markup-compatibility/2006">
              <mc:Choice xmlns:v="urn:schemas-microsoft-com:vml" Requires="v">
                <p:oleObj spid="_x0000_s467989" name="Equation" r:id="rId14" imgW="1244520" imgH="241200" progId="Equation.DSMT4">
                  <p:embed/>
                </p:oleObj>
              </mc:Choice>
              <mc:Fallback>
                <p:oleObj name="Equation" r:id="rId14" imgW="1244520" imgH="241200" progId="Equation.DSMT4">
                  <p:embed/>
                  <p:pic>
                    <p:nvPicPr>
                      <p:cNvPr id="0" name="Picture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82172" y="5980799"/>
                        <a:ext cx="1936750"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box(in)">
                                      <p:cBhvr>
                                        <p:cTn id="7" dur="5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6"/>
                                        </p:tgtEl>
                                        <p:attrNameLst>
                                          <p:attrName>style.visibility</p:attrName>
                                        </p:attrNameLst>
                                      </p:cBhvr>
                                      <p:to>
                                        <p:strVal val="visible"/>
                                      </p:to>
                                    </p:set>
                                    <p:animEffect transition="in" filter="box(in)">
                                      <p:cBhvr>
                                        <p:cTn id="12" dur="500"/>
                                        <p:tgtEl>
                                          <p:spTgt spid="19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50"/>
                                        </p:tgtEl>
                                        <p:attrNameLst>
                                          <p:attrName>style.visibility</p:attrName>
                                        </p:attrNameLst>
                                      </p:cBhvr>
                                      <p:to>
                                        <p:strVal val="visible"/>
                                      </p:to>
                                    </p:set>
                                    <p:animEffect transition="in" filter="box(in)">
                                      <p:cBhvr>
                                        <p:cTn id="17" dur="500"/>
                                        <p:tgtEl>
                                          <p:spTgt spid="25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1"/>
                                        </p:tgtEl>
                                        <p:attrNameLst>
                                          <p:attrName>style.visibility</p:attrName>
                                        </p:attrNameLst>
                                      </p:cBhvr>
                                      <p:to>
                                        <p:strVal val="visible"/>
                                      </p:to>
                                    </p:set>
                                    <p:anim calcmode="lin" valueType="num">
                                      <p:cBhvr additive="base">
                                        <p:cTn id="22" dur="500" fill="hold"/>
                                        <p:tgtEl>
                                          <p:spTgt spid="251"/>
                                        </p:tgtEl>
                                        <p:attrNameLst>
                                          <p:attrName>ppt_x</p:attrName>
                                        </p:attrNameLst>
                                      </p:cBhvr>
                                      <p:tavLst>
                                        <p:tav tm="0">
                                          <p:val>
                                            <p:strVal val="#ppt_x"/>
                                          </p:val>
                                        </p:tav>
                                        <p:tav tm="100000">
                                          <p:val>
                                            <p:strVal val="#ppt_x"/>
                                          </p:val>
                                        </p:tav>
                                      </p:tavLst>
                                    </p:anim>
                                    <p:anim calcmode="lin" valueType="num">
                                      <p:cBhvr additive="base">
                                        <p:cTn id="23" dur="500" fill="hold"/>
                                        <p:tgtEl>
                                          <p:spTgt spid="25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67978"/>
                                        </p:tgtEl>
                                        <p:attrNameLst>
                                          <p:attrName>style.visibility</p:attrName>
                                        </p:attrNameLst>
                                      </p:cBhvr>
                                      <p:to>
                                        <p:strVal val="visible"/>
                                      </p:to>
                                    </p:set>
                                    <p:animEffect transition="in" filter="wipe(down)">
                                      <p:cBhvr>
                                        <p:cTn id="28" dur="500"/>
                                        <p:tgtEl>
                                          <p:spTgt spid="46797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67979"/>
                                        </p:tgtEl>
                                        <p:attrNameLst>
                                          <p:attrName>style.visibility</p:attrName>
                                        </p:attrNameLst>
                                      </p:cBhvr>
                                      <p:to>
                                        <p:strVal val="visible"/>
                                      </p:to>
                                    </p:set>
                                    <p:animEffect transition="in" filter="wipe(down)">
                                      <p:cBhvr>
                                        <p:cTn id="33" dur="500"/>
                                        <p:tgtEl>
                                          <p:spTgt spid="46797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467980"/>
                                        </p:tgtEl>
                                        <p:attrNameLst>
                                          <p:attrName>style.visibility</p:attrName>
                                        </p:attrNameLst>
                                      </p:cBhvr>
                                      <p:to>
                                        <p:strVal val="visible"/>
                                      </p:to>
                                    </p:set>
                                    <p:animEffect transition="in" filter="wipe(down)">
                                      <p:cBhvr>
                                        <p:cTn id="38" dur="500"/>
                                        <p:tgtEl>
                                          <p:spTgt spid="46798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67981"/>
                                        </p:tgtEl>
                                        <p:attrNameLst>
                                          <p:attrName>style.visibility</p:attrName>
                                        </p:attrNameLst>
                                      </p:cBhvr>
                                      <p:to>
                                        <p:strVal val="visible"/>
                                      </p:to>
                                    </p:set>
                                    <p:animEffect transition="in" filter="wipe(down)">
                                      <p:cBhvr>
                                        <p:cTn id="43" dur="500"/>
                                        <p:tgtEl>
                                          <p:spTgt spid="46798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467982"/>
                                        </p:tgtEl>
                                        <p:attrNameLst>
                                          <p:attrName>style.visibility</p:attrName>
                                        </p:attrNameLst>
                                      </p:cBhvr>
                                      <p:to>
                                        <p:strVal val="visible"/>
                                      </p:to>
                                    </p:set>
                                    <p:animEffect transition="in" filter="wipe(down)">
                                      <p:cBhvr>
                                        <p:cTn id="48" dur="500"/>
                                        <p:tgtEl>
                                          <p:spTgt spid="46798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467983"/>
                                        </p:tgtEl>
                                        <p:attrNameLst>
                                          <p:attrName>style.visibility</p:attrName>
                                        </p:attrNameLst>
                                      </p:cBhvr>
                                      <p:to>
                                        <p:strVal val="visible"/>
                                      </p:to>
                                    </p:set>
                                    <p:animEffect transition="in" filter="wipe(down)">
                                      <p:cBhvr>
                                        <p:cTn id="53" dur="500"/>
                                        <p:tgtEl>
                                          <p:spTgt spid="467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25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sp>
        <p:nvSpPr>
          <p:cNvPr id="141" name="Rectangle 4"/>
          <p:cNvSpPr>
            <a:spLocks noChangeArrowheads="1"/>
          </p:cNvSpPr>
          <p:nvPr/>
        </p:nvSpPr>
        <p:spPr bwMode="auto">
          <a:xfrm>
            <a:off x="857224" y="3167962"/>
            <a:ext cx="7786742"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⑵</a:t>
            </a:r>
            <a:r>
              <a:rPr kumimoji="1" lang="en-US" altLang="zh-CN" sz="2000" b="1">
                <a:solidFill>
                  <a:srgbClr val="000000"/>
                </a:solidFill>
                <a:latin typeface="+mn-ea"/>
              </a:rPr>
              <a:t> 	</a:t>
            </a:r>
            <a:r>
              <a:rPr kumimoji="1" lang="zh-CN" altLang="en-US" sz="2000" b="1">
                <a:solidFill>
                  <a:srgbClr val="000000"/>
                </a:solidFill>
                <a:latin typeface="+mn-ea"/>
              </a:rPr>
              <a:t>求出实际荷载和虚设荷载作用下的内力；</a:t>
            </a:r>
            <a:endParaRPr kumimoji="1" lang="en-US" altLang="zh-CN" sz="2000" b="1">
              <a:solidFill>
                <a:srgbClr val="000000"/>
              </a:solidFill>
              <a:latin typeface="+mn-ea"/>
            </a:endParaRPr>
          </a:p>
        </p:txBody>
      </p:sp>
      <p:grpSp>
        <p:nvGrpSpPr>
          <p:cNvPr id="4" name="组合 194"/>
          <p:cNvGrpSpPr/>
          <p:nvPr/>
        </p:nvGrpSpPr>
        <p:grpSpPr>
          <a:xfrm>
            <a:off x="6333236" y="1208269"/>
            <a:ext cx="3712596" cy="4506747"/>
            <a:chOff x="6333236" y="1208269"/>
            <a:chExt cx="3712596" cy="4506747"/>
          </a:xfrm>
        </p:grpSpPr>
        <p:grpSp>
          <p:nvGrpSpPr>
            <p:cNvPr id="5" name="组合 139"/>
            <p:cNvGrpSpPr/>
            <p:nvPr/>
          </p:nvGrpSpPr>
          <p:grpSpPr>
            <a:xfrm>
              <a:off x="6333236" y="1208269"/>
              <a:ext cx="3712596" cy="4506747"/>
              <a:chOff x="6333236" y="1208269"/>
              <a:chExt cx="3712596" cy="4506747"/>
            </a:xfrm>
          </p:grpSpPr>
          <p:grpSp>
            <p:nvGrpSpPr>
              <p:cNvPr id="6" name="组合 81"/>
              <p:cNvGrpSpPr/>
              <p:nvPr/>
            </p:nvGrpSpPr>
            <p:grpSpPr>
              <a:xfrm>
                <a:off x="6392317" y="1208269"/>
                <a:ext cx="3653515" cy="4506747"/>
                <a:chOff x="820153" y="3596820"/>
                <a:chExt cx="3653515" cy="4506747"/>
              </a:xfrm>
            </p:grpSpPr>
            <p:sp>
              <p:nvSpPr>
                <p:cNvPr id="83" name="弧形 82"/>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84" name="直接连接符 83"/>
                <p:cNvCxnSpPr>
                  <a:stCxn id="83" idx="1"/>
                  <a:endCxn id="83"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6" name="TextBox 85"/>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87" name="TextBox 86"/>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88" name="弧形 87"/>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89" name="矩形 88"/>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90" name="直接连接符 89"/>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91" name="矩形 90"/>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92" name="TextBox 91"/>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93" name="直接连接符 92"/>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94" name="直接连接符 93"/>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8" name="组合 162"/>
                <p:cNvGrpSpPr/>
                <p:nvPr/>
              </p:nvGrpSpPr>
              <p:grpSpPr>
                <a:xfrm>
                  <a:off x="1020865" y="3596820"/>
                  <a:ext cx="1643074" cy="747187"/>
                  <a:chOff x="1020865" y="3596820"/>
                  <a:chExt cx="1643074" cy="747187"/>
                </a:xfrm>
              </p:grpSpPr>
              <p:grpSp>
                <p:nvGrpSpPr>
                  <p:cNvPr id="9" name="组合 55"/>
                  <p:cNvGrpSpPr/>
                  <p:nvPr/>
                </p:nvGrpSpPr>
                <p:grpSpPr>
                  <a:xfrm>
                    <a:off x="1020865" y="3986854"/>
                    <a:ext cx="1643074" cy="357153"/>
                    <a:chOff x="1214414" y="2357430"/>
                    <a:chExt cx="3371651" cy="428628"/>
                  </a:xfrm>
                </p:grpSpPr>
                <p:cxnSp>
                  <p:nvCxnSpPr>
                    <p:cNvPr id="107" name="直接连接符 106"/>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08" name="直接箭头连接符 107"/>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09" name="直接箭头连接符 108"/>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0" name="直接箭头连接符 109"/>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1" name="直接箭头连接符 110"/>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2" name="直接箭头连接符 111"/>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3" name="直接箭头连接符 112"/>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4" name="直接箭头连接符 113"/>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5" name="直接箭头连接符 114"/>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6" name="直接箭头连接符 115"/>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06"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10" name="组合 176"/>
                <p:cNvGrpSpPr/>
                <p:nvPr/>
              </p:nvGrpSpPr>
              <p:grpSpPr>
                <a:xfrm rot="16200000">
                  <a:off x="2676393" y="4334811"/>
                  <a:ext cx="295201" cy="260087"/>
                  <a:chOff x="3276667" y="4826364"/>
                  <a:chExt cx="295201" cy="260087"/>
                </a:xfrm>
              </p:grpSpPr>
              <p:cxnSp>
                <p:nvCxnSpPr>
                  <p:cNvPr id="98" name="直接连接符 97"/>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1" name="组合 40"/>
                  <p:cNvGrpSpPr/>
                  <p:nvPr/>
                </p:nvGrpSpPr>
                <p:grpSpPr>
                  <a:xfrm>
                    <a:off x="3276667" y="4930194"/>
                    <a:ext cx="295201" cy="156257"/>
                    <a:chOff x="990651" y="4726077"/>
                    <a:chExt cx="295201" cy="156257"/>
                  </a:xfrm>
                </p:grpSpPr>
                <p:cxnSp>
                  <p:nvCxnSpPr>
                    <p:cNvPr id="100" name="直接连接符 99"/>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1" name="直接连接符 100"/>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2" name="直接连接符 101"/>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97" name="椭圆 96"/>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7" name="直接连接符 126"/>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箭头连接符 128"/>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3" name="TextBox 13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cxnSp>
            <p:nvCxnSpPr>
              <p:cNvPr id="135" name="直接连接符 134"/>
              <p:cNvCxnSpPr/>
              <p:nvPr/>
            </p:nvCxnSpPr>
            <p:spPr bwMode="auto">
              <a:xfrm rot="10800000">
                <a:off x="6537897" y="2557799"/>
                <a:ext cx="35719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箭头连接符 135"/>
              <p:cNvCxnSpPr/>
              <p:nvPr/>
            </p:nvCxnSpPr>
            <p:spPr bwMode="auto">
              <a:xfrm rot="5400000">
                <a:off x="6385782" y="2804950"/>
                <a:ext cx="468000"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9" name="矩形 138"/>
              <p:cNvSpPr/>
              <p:nvPr/>
            </p:nvSpPr>
            <p:spPr>
              <a:xfrm>
                <a:off x="6333236" y="2581612"/>
                <a:ext cx="287258" cy="369332"/>
              </a:xfrm>
              <a:prstGeom prst="rect">
                <a:avLst/>
              </a:prstGeom>
            </p:spPr>
            <p:txBody>
              <a:bodyPr wrap="none">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193" name="弧形 192"/>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4" name="矩形 193"/>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grpSp>
        <p:nvGrpSpPr>
          <p:cNvPr id="12" name="组合 195"/>
          <p:cNvGrpSpPr/>
          <p:nvPr/>
        </p:nvGrpSpPr>
        <p:grpSpPr>
          <a:xfrm>
            <a:off x="6382140" y="4000504"/>
            <a:ext cx="3653515" cy="4220995"/>
            <a:chOff x="6392317" y="1494021"/>
            <a:chExt cx="3653515" cy="4220995"/>
          </a:xfrm>
        </p:grpSpPr>
        <p:grpSp>
          <p:nvGrpSpPr>
            <p:cNvPr id="13" name="组合 139"/>
            <p:cNvGrpSpPr/>
            <p:nvPr/>
          </p:nvGrpSpPr>
          <p:grpSpPr>
            <a:xfrm>
              <a:off x="6392317" y="1494021"/>
              <a:ext cx="3653515" cy="4220995"/>
              <a:chOff x="6392317" y="1494021"/>
              <a:chExt cx="3653515" cy="4220995"/>
            </a:xfrm>
          </p:grpSpPr>
          <p:grpSp>
            <p:nvGrpSpPr>
              <p:cNvPr id="14" name="组合 81"/>
              <p:cNvGrpSpPr/>
              <p:nvPr/>
            </p:nvGrpSpPr>
            <p:grpSpPr>
              <a:xfrm>
                <a:off x="6392317" y="1494021"/>
                <a:ext cx="3653515" cy="4220995"/>
                <a:chOff x="820153" y="3882572"/>
                <a:chExt cx="3653515" cy="4220995"/>
              </a:xfrm>
            </p:grpSpPr>
            <p:sp>
              <p:nvSpPr>
                <p:cNvPr id="207" name="弧形 206"/>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08" name="直接连接符 207"/>
                <p:cNvCxnSpPr>
                  <a:stCxn id="207" idx="1"/>
                  <a:endCxn id="207"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15" name="组合 40"/>
                <p:cNvGrpSpPr/>
                <p:nvPr/>
              </p:nvGrpSpPr>
              <p:grpSpPr>
                <a:xfrm>
                  <a:off x="830330" y="5399120"/>
                  <a:ext cx="406704" cy="303260"/>
                  <a:chOff x="1000100" y="4582205"/>
                  <a:chExt cx="406704" cy="303260"/>
                </a:xfrm>
              </p:grpSpPr>
              <p:sp>
                <p:nvSpPr>
                  <p:cNvPr id="241" name="等腰三角形 240"/>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2" name="直接连接符 241"/>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3" name="直接连接符 242"/>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4" name="直接连接符 24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5" name="直接连接符 24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6" name="直接连接符 24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7" name="椭圆 246"/>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8" name="椭圆 247"/>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9" name="椭圆 248"/>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10" name="TextBox 209"/>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1" name="TextBox 210"/>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212" name="弧形 21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213" name="矩形 21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214" name="直接连接符 21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215" name="矩形 21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216" name="TextBox 21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217" name="直接连接符 21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nvGrpSpPr>
                <p:cNvPr id="16" name="组合 162"/>
                <p:cNvGrpSpPr/>
                <p:nvPr/>
              </p:nvGrpSpPr>
              <p:grpSpPr>
                <a:xfrm>
                  <a:off x="2342885" y="3882572"/>
                  <a:ext cx="314587" cy="460773"/>
                  <a:chOff x="2342885" y="3882572"/>
                  <a:chExt cx="314587" cy="460773"/>
                </a:xfrm>
              </p:grpSpPr>
              <p:cxnSp>
                <p:nvCxnSpPr>
                  <p:cNvPr id="233" name="直接箭头连接符 232"/>
                  <p:cNvCxnSpPr/>
                  <p:nvPr/>
                </p:nvCxnSpPr>
                <p:spPr bwMode="auto">
                  <a:xfrm rot="5400000">
                    <a:off x="2479033" y="4164906"/>
                    <a:ext cx="356491" cy="387"/>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sp>
                <p:nvSpPr>
                  <p:cNvPr id="230" name="TextBox 93"/>
                  <p:cNvSpPr txBox="1"/>
                  <p:nvPr/>
                </p:nvSpPr>
                <p:spPr>
                  <a:xfrm>
                    <a:off x="2342885" y="3882572"/>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grpSp>
            <p:grpSp>
              <p:nvGrpSpPr>
                <p:cNvPr id="17" name="组合 176"/>
                <p:cNvGrpSpPr/>
                <p:nvPr/>
              </p:nvGrpSpPr>
              <p:grpSpPr>
                <a:xfrm rot="16200000">
                  <a:off x="2676395" y="4334813"/>
                  <a:ext cx="295201" cy="260087"/>
                  <a:chOff x="3276667" y="4826364"/>
                  <a:chExt cx="295201" cy="260087"/>
                </a:xfrm>
              </p:grpSpPr>
              <p:cxnSp>
                <p:nvCxnSpPr>
                  <p:cNvPr id="222" name="直接连接符 221"/>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8" name="组合 40"/>
                  <p:cNvGrpSpPr/>
                  <p:nvPr/>
                </p:nvGrpSpPr>
                <p:grpSpPr>
                  <a:xfrm>
                    <a:off x="3276667" y="4930194"/>
                    <a:ext cx="295201" cy="156257"/>
                    <a:chOff x="990651" y="4726077"/>
                    <a:chExt cx="295201" cy="156257"/>
                  </a:xfrm>
                </p:grpSpPr>
                <p:cxnSp>
                  <p:nvCxnSpPr>
                    <p:cNvPr id="224" name="直接连接符 223"/>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5" name="直接连接符 224"/>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6" name="直接连接符 225"/>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7" name="直接连接符 226"/>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8" name="椭圆 227"/>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221" name="椭圆 220"/>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201" name="直接连接符 200"/>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2" name="直接箭头连接符 201"/>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203" name="TextBox 20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198" name="弧形 197"/>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9" name="矩形 198"/>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sp>
        <p:nvSpPr>
          <p:cNvPr id="250" name="Rectangle 4"/>
          <p:cNvSpPr>
            <a:spLocks noChangeArrowheads="1"/>
          </p:cNvSpPr>
          <p:nvPr/>
        </p:nvSpPr>
        <p:spPr bwMode="auto">
          <a:xfrm>
            <a:off x="869581" y="3525152"/>
            <a:ext cx="5228829" cy="461665"/>
          </a:xfrm>
          <a:prstGeom prst="rect">
            <a:avLst/>
          </a:prstGeom>
          <a:noFill/>
          <a:ln w="9525">
            <a:noFill/>
            <a:miter lim="800000"/>
            <a:headEnd/>
            <a:tailEnd/>
          </a:ln>
        </p:spPr>
        <p:txBody>
          <a:bodyPr wrap="square">
            <a:spAutoFit/>
          </a:bodyPr>
          <a:lstStyle/>
          <a:p>
            <a:pPr marL="722313" indent="-722313" algn="just" fontAlgn="base">
              <a:lnSpc>
                <a:spcPct val="120000"/>
              </a:lnSpc>
              <a:spcBef>
                <a:spcPct val="0"/>
              </a:spcBef>
              <a:spcAft>
                <a:spcPct val="0"/>
              </a:spcAft>
            </a:pPr>
            <a:r>
              <a:rPr kumimoji="1" lang="zh-CN" altLang="en-US" sz="2000" b="1">
                <a:solidFill>
                  <a:srgbClr val="000000"/>
                </a:solidFill>
                <a:latin typeface="+mn-ea"/>
              </a:rPr>
              <a:t>           利用</a:t>
            </a:r>
            <a:r>
              <a:rPr lang="en-US" altLang="zh-CN" sz="2000" b="1" i="1">
                <a:latin typeface="Times New Roman" pitchFamily="18" charset="0"/>
                <a:cs typeface="Times New Roman" pitchFamily="18" charset="0"/>
              </a:rPr>
              <a:t>x</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a:latin typeface="Times New Roman" pitchFamily="18" charset="0"/>
                <a:cs typeface="Times New Roman" pitchFamily="18" charset="0"/>
              </a:rPr>
              <a:t>sin</a:t>
            </a:r>
            <a:r>
              <a:rPr kumimoji="1" lang="en-US" altLang="zh-CN" sz="2000" b="1" i="1">
                <a:latin typeface="Times New Roman" pitchFamily="18" charset="0"/>
                <a:ea typeface="幼圆" pitchFamily="49" charset="-122"/>
                <a:cs typeface="Times New Roman" pitchFamily="18" charset="0"/>
              </a:rPr>
              <a:t>φ</a:t>
            </a:r>
            <a:r>
              <a:rPr kumimoji="1" lang="zh-CN" altLang="en-US" sz="2000" b="1">
                <a:latin typeface="+mn-ea"/>
                <a:cs typeface="Times New Roman" pitchFamily="18" charset="0"/>
              </a:rPr>
              <a:t>，</a:t>
            </a:r>
            <a:r>
              <a:rPr lang="en-US" altLang="zh-CN" sz="2000" b="1" i="1">
                <a:latin typeface="Times New Roman" pitchFamily="18" charset="0"/>
                <a:cs typeface="Times New Roman" pitchFamily="18" charset="0"/>
              </a:rPr>
              <a:t> y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a:latin typeface="Times New Roman" pitchFamily="18" charset="0"/>
                <a:cs typeface="Times New Roman" pitchFamily="18" charset="0"/>
              </a:rPr>
              <a:t>cos</a:t>
            </a:r>
            <a:r>
              <a:rPr kumimoji="1" lang="en-US" altLang="zh-CN" sz="2000" b="1" i="1">
                <a:latin typeface="Times New Roman" pitchFamily="18" charset="0"/>
                <a:ea typeface="幼圆" pitchFamily="49" charset="-122"/>
                <a:cs typeface="Times New Roman" pitchFamily="18" charset="0"/>
              </a:rPr>
              <a:t>φ</a:t>
            </a:r>
            <a:r>
              <a:rPr kumimoji="1" lang="zh-CN" altLang="en-US" sz="2000" b="1">
                <a:latin typeface="+mn-ea"/>
                <a:cs typeface="Times New Roman" pitchFamily="18" charset="0"/>
              </a:rPr>
              <a:t>简化</a:t>
            </a:r>
            <a:r>
              <a:rPr kumimoji="1" lang="en-US" altLang="zh-CN" sz="2000" b="1" i="1">
                <a:latin typeface="Times New Roman" pitchFamily="18" charset="0"/>
                <a:ea typeface="幼圆" pitchFamily="49" charset="-122"/>
                <a:cs typeface="Times New Roman" pitchFamily="18" charset="0"/>
              </a:rPr>
              <a:t> </a:t>
            </a:r>
            <a:r>
              <a:rPr kumimoji="1" lang="zh-CN" altLang="en-US" sz="2000" b="1">
                <a:solidFill>
                  <a:srgbClr val="000000"/>
                </a:solidFill>
                <a:latin typeface="+mn-ea"/>
              </a:rPr>
              <a:t>；</a:t>
            </a:r>
            <a:endParaRPr kumimoji="1" lang="en-US" altLang="zh-CN" sz="2000" b="1">
              <a:solidFill>
                <a:srgbClr val="000000"/>
              </a:solidFill>
              <a:latin typeface="+mn-ea"/>
            </a:endParaRPr>
          </a:p>
        </p:txBody>
      </p:sp>
      <p:graphicFrame>
        <p:nvGraphicFramePr>
          <p:cNvPr id="251" name="表格 250"/>
          <p:cNvGraphicFramePr>
            <a:graphicFrameLocks noGrp="1"/>
          </p:cNvGraphicFramePr>
          <p:nvPr/>
        </p:nvGraphicFramePr>
        <p:xfrm>
          <a:off x="283014" y="3986817"/>
          <a:ext cx="6022803" cy="2515482"/>
        </p:xfrm>
        <a:graphic>
          <a:graphicData uri="http://schemas.openxmlformats.org/drawingml/2006/table">
            <a:tbl>
              <a:tblPr firstRow="1" bandRow="1">
                <a:tableStyleId>{5C22544A-7EE6-4342-B048-85BDC9FD1C3A}</a:tableStyleId>
              </a:tblPr>
              <a:tblGrid>
                <a:gridCol w="743556">
                  <a:extLst>
                    <a:ext uri="{9D8B030D-6E8A-4147-A177-3AD203B41FA5}">
                      <a16:colId xmlns:a16="http://schemas.microsoft.com/office/drawing/2014/main" val="20000"/>
                    </a:ext>
                  </a:extLst>
                </a:gridCol>
                <a:gridCol w="2921794">
                  <a:extLst>
                    <a:ext uri="{9D8B030D-6E8A-4147-A177-3AD203B41FA5}">
                      <a16:colId xmlns:a16="http://schemas.microsoft.com/office/drawing/2014/main" val="20001"/>
                    </a:ext>
                  </a:extLst>
                </a:gridCol>
                <a:gridCol w="2357453">
                  <a:extLst>
                    <a:ext uri="{9D8B030D-6E8A-4147-A177-3AD203B41FA5}">
                      <a16:colId xmlns:a16="http://schemas.microsoft.com/office/drawing/2014/main" val="20002"/>
                    </a:ext>
                  </a:extLst>
                </a:gridCol>
              </a:tblGrid>
              <a:tr h="364295">
                <a:tc>
                  <a:txBody>
                    <a:bodyPr/>
                    <a:lstStyle/>
                    <a:p>
                      <a:pPr algn="ctr"/>
                      <a:r>
                        <a:rPr lang="zh-CN" altLang="en-US">
                          <a:solidFill>
                            <a:schemeClr val="tx1"/>
                          </a:solidFill>
                        </a:rPr>
                        <a:t>内力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实际荷载</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虚设单位荷载</a:t>
                      </a: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716574">
                <a:tc>
                  <a:txBody>
                    <a:bodyPr/>
                    <a:lstStyle/>
                    <a:p>
                      <a:pPr algn="ctr"/>
                      <a:r>
                        <a:rPr lang="zh-CN" altLang="en-US" b="1">
                          <a:solidFill>
                            <a:schemeClr val="tx1"/>
                          </a:solidFill>
                        </a:rPr>
                        <a:t>弯矩</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716574">
                <a:tc>
                  <a:txBody>
                    <a:bodyPr/>
                    <a:lstStyle/>
                    <a:p>
                      <a:pPr algn="ctr"/>
                      <a:r>
                        <a:rPr lang="zh-CN" altLang="en-US" b="1">
                          <a:solidFill>
                            <a:schemeClr val="tx1"/>
                          </a:solidFill>
                        </a:rPr>
                        <a:t>轴力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16574">
                <a:tc>
                  <a:txBody>
                    <a:bodyPr/>
                    <a:lstStyle/>
                    <a:p>
                      <a:pPr algn="ctr"/>
                      <a:r>
                        <a:rPr lang="zh-CN" altLang="en-US" b="1">
                          <a:solidFill>
                            <a:schemeClr val="tx1"/>
                          </a:solidFill>
                        </a:rPr>
                        <a:t>剪力</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graphicFrame>
        <p:nvGraphicFramePr>
          <p:cNvPr id="467978" name="Object 11"/>
          <p:cNvGraphicFramePr>
            <a:graphicFrameLocks noChangeAspect="1"/>
          </p:cNvGraphicFramePr>
          <p:nvPr/>
        </p:nvGraphicFramePr>
        <p:xfrm>
          <a:off x="1078487" y="4425950"/>
          <a:ext cx="2905125" cy="611188"/>
        </p:xfrm>
        <a:graphic>
          <a:graphicData uri="http://schemas.openxmlformats.org/presentationml/2006/ole">
            <mc:AlternateContent xmlns:mc="http://schemas.openxmlformats.org/markup-compatibility/2006">
              <mc:Choice xmlns:v="urn:schemas-microsoft-com:vml" Requires="v">
                <p:oleObj spid="_x0000_s472072" name="Equation" r:id="rId4" imgW="1866600" imgH="393480" progId="Equation.DSMT4">
                  <p:embed/>
                </p:oleObj>
              </mc:Choice>
              <mc:Fallback>
                <p:oleObj name="Equation" r:id="rId4" imgW="1866600" imgH="39348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8487" y="4425950"/>
                        <a:ext cx="2905125"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9" name="Object 11"/>
          <p:cNvGraphicFramePr>
            <a:graphicFrameLocks noChangeAspect="1"/>
          </p:cNvGraphicFramePr>
          <p:nvPr/>
        </p:nvGraphicFramePr>
        <p:xfrm>
          <a:off x="4019802" y="4537641"/>
          <a:ext cx="2311400" cy="414338"/>
        </p:xfrm>
        <a:graphic>
          <a:graphicData uri="http://schemas.openxmlformats.org/presentationml/2006/ole">
            <mc:AlternateContent xmlns:mc="http://schemas.openxmlformats.org/markup-compatibility/2006">
              <mc:Choice xmlns:v="urn:schemas-microsoft-com:vml" Requires="v">
                <p:oleObj spid="_x0000_s472073" name="Equation" r:id="rId6" imgW="1485720" imgH="266400" progId="Equation.DSMT4">
                  <p:embed/>
                </p:oleObj>
              </mc:Choice>
              <mc:Fallback>
                <p:oleObj name="Equation" r:id="rId6" imgW="1485720" imgH="26640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9802" y="4537641"/>
                        <a:ext cx="231140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0" name="Object 13"/>
          <p:cNvGraphicFramePr>
            <a:graphicFrameLocks noChangeAspect="1"/>
          </p:cNvGraphicFramePr>
          <p:nvPr/>
        </p:nvGraphicFramePr>
        <p:xfrm>
          <a:off x="1123049" y="5119688"/>
          <a:ext cx="2687637" cy="614362"/>
        </p:xfrm>
        <a:graphic>
          <a:graphicData uri="http://schemas.openxmlformats.org/presentationml/2006/ole">
            <mc:AlternateContent xmlns:mc="http://schemas.openxmlformats.org/markup-compatibility/2006">
              <mc:Choice xmlns:v="urn:schemas-microsoft-com:vml" Requires="v">
                <p:oleObj spid="_x0000_s472074" name="Equation" r:id="rId8" imgW="1726920" imgH="393480" progId="Equation.DSMT4">
                  <p:embed/>
                </p:oleObj>
              </mc:Choice>
              <mc:Fallback>
                <p:oleObj name="Equation" r:id="rId8" imgW="1726920" imgH="39348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3049" y="5119688"/>
                        <a:ext cx="2687637" cy="61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1" name="Object 13"/>
          <p:cNvGraphicFramePr>
            <a:graphicFrameLocks noChangeAspect="1"/>
          </p:cNvGraphicFramePr>
          <p:nvPr/>
        </p:nvGraphicFramePr>
        <p:xfrm>
          <a:off x="4036592" y="5241710"/>
          <a:ext cx="1936750" cy="376237"/>
        </p:xfrm>
        <a:graphic>
          <a:graphicData uri="http://schemas.openxmlformats.org/presentationml/2006/ole">
            <mc:AlternateContent xmlns:mc="http://schemas.openxmlformats.org/markup-compatibility/2006">
              <mc:Choice xmlns:v="urn:schemas-microsoft-com:vml" Requires="v">
                <p:oleObj spid="_x0000_s472075" name="Equation" r:id="rId10" imgW="1244520" imgH="241200" progId="Equation.DSMT4">
                  <p:embed/>
                </p:oleObj>
              </mc:Choice>
              <mc:Fallback>
                <p:oleObj name="Equation" r:id="rId10" imgW="1244520" imgH="24120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6592" y="5241710"/>
                        <a:ext cx="1936750"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2" name="Object 13"/>
          <p:cNvGraphicFramePr>
            <a:graphicFrameLocks noChangeAspect="1"/>
          </p:cNvGraphicFramePr>
          <p:nvPr/>
        </p:nvGraphicFramePr>
        <p:xfrm>
          <a:off x="1080098" y="5849379"/>
          <a:ext cx="2825750" cy="614363"/>
        </p:xfrm>
        <a:graphic>
          <a:graphicData uri="http://schemas.openxmlformats.org/presentationml/2006/ole">
            <mc:AlternateContent xmlns:mc="http://schemas.openxmlformats.org/markup-compatibility/2006">
              <mc:Choice xmlns:v="urn:schemas-microsoft-com:vml" Requires="v">
                <p:oleObj spid="_x0000_s472076" name="Equation" r:id="rId12" imgW="1815840" imgH="393480" progId="Equation.DSMT4">
                  <p:embed/>
                </p:oleObj>
              </mc:Choice>
              <mc:Fallback>
                <p:oleObj name="Equation" r:id="rId12" imgW="1815840" imgH="39348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0098" y="5849379"/>
                        <a:ext cx="282575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83" name="Object 13"/>
          <p:cNvGraphicFramePr>
            <a:graphicFrameLocks noChangeAspect="1"/>
          </p:cNvGraphicFramePr>
          <p:nvPr/>
        </p:nvGraphicFramePr>
        <p:xfrm>
          <a:off x="4062422" y="5968442"/>
          <a:ext cx="1938338" cy="376237"/>
        </p:xfrm>
        <a:graphic>
          <a:graphicData uri="http://schemas.openxmlformats.org/presentationml/2006/ole">
            <mc:AlternateContent xmlns:mc="http://schemas.openxmlformats.org/markup-compatibility/2006">
              <mc:Choice xmlns:v="urn:schemas-microsoft-com:vml" Requires="v">
                <p:oleObj spid="_x0000_s472077" name="Equation" r:id="rId14" imgW="1244520" imgH="241200" progId="Equation.DSMT4">
                  <p:embed/>
                </p:oleObj>
              </mc:Choice>
              <mc:Fallback>
                <p:oleObj name="Equation" r:id="rId14" imgW="1244520" imgH="24120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2422" y="5968442"/>
                        <a:ext cx="1938338"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box(in)">
                                      <p:cBhvr>
                                        <p:cTn id="7" dur="500"/>
                                        <p:tgtEl>
                                          <p:spTgt spid="2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1"/>
                                        </p:tgtEl>
                                        <p:attrNameLst>
                                          <p:attrName>style.visibility</p:attrName>
                                        </p:attrNameLst>
                                      </p:cBhvr>
                                      <p:to>
                                        <p:strVal val="visible"/>
                                      </p:to>
                                    </p:set>
                                    <p:anim calcmode="lin" valueType="num">
                                      <p:cBhvr additive="base">
                                        <p:cTn id="12" dur="500" fill="hold"/>
                                        <p:tgtEl>
                                          <p:spTgt spid="251"/>
                                        </p:tgtEl>
                                        <p:attrNameLst>
                                          <p:attrName>ppt_x</p:attrName>
                                        </p:attrNameLst>
                                      </p:cBhvr>
                                      <p:tavLst>
                                        <p:tav tm="0">
                                          <p:val>
                                            <p:strVal val="#ppt_x"/>
                                          </p:val>
                                        </p:tav>
                                        <p:tav tm="100000">
                                          <p:val>
                                            <p:strVal val="#ppt_x"/>
                                          </p:val>
                                        </p:tav>
                                      </p:tavLst>
                                    </p:anim>
                                    <p:anim calcmode="lin" valueType="num">
                                      <p:cBhvr additive="base">
                                        <p:cTn id="13" dur="500" fill="hold"/>
                                        <p:tgtEl>
                                          <p:spTgt spid="25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67978"/>
                                        </p:tgtEl>
                                        <p:attrNameLst>
                                          <p:attrName>style.visibility</p:attrName>
                                        </p:attrNameLst>
                                      </p:cBhvr>
                                      <p:to>
                                        <p:strVal val="visible"/>
                                      </p:to>
                                    </p:set>
                                    <p:animEffect transition="in" filter="wipe(down)">
                                      <p:cBhvr>
                                        <p:cTn id="18" dur="500"/>
                                        <p:tgtEl>
                                          <p:spTgt spid="46797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67979"/>
                                        </p:tgtEl>
                                        <p:attrNameLst>
                                          <p:attrName>style.visibility</p:attrName>
                                        </p:attrNameLst>
                                      </p:cBhvr>
                                      <p:to>
                                        <p:strVal val="visible"/>
                                      </p:to>
                                    </p:set>
                                    <p:animEffect transition="in" filter="wipe(down)">
                                      <p:cBhvr>
                                        <p:cTn id="23" dur="500"/>
                                        <p:tgtEl>
                                          <p:spTgt spid="46797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67980"/>
                                        </p:tgtEl>
                                        <p:attrNameLst>
                                          <p:attrName>style.visibility</p:attrName>
                                        </p:attrNameLst>
                                      </p:cBhvr>
                                      <p:to>
                                        <p:strVal val="visible"/>
                                      </p:to>
                                    </p:set>
                                    <p:animEffect transition="in" filter="wipe(down)">
                                      <p:cBhvr>
                                        <p:cTn id="28" dur="500"/>
                                        <p:tgtEl>
                                          <p:spTgt spid="46798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67981"/>
                                        </p:tgtEl>
                                        <p:attrNameLst>
                                          <p:attrName>style.visibility</p:attrName>
                                        </p:attrNameLst>
                                      </p:cBhvr>
                                      <p:to>
                                        <p:strVal val="visible"/>
                                      </p:to>
                                    </p:set>
                                    <p:animEffect transition="in" filter="wipe(down)">
                                      <p:cBhvr>
                                        <p:cTn id="33" dur="500"/>
                                        <p:tgtEl>
                                          <p:spTgt spid="46798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467982"/>
                                        </p:tgtEl>
                                        <p:attrNameLst>
                                          <p:attrName>style.visibility</p:attrName>
                                        </p:attrNameLst>
                                      </p:cBhvr>
                                      <p:to>
                                        <p:strVal val="visible"/>
                                      </p:to>
                                    </p:set>
                                    <p:animEffect transition="in" filter="wipe(down)">
                                      <p:cBhvr>
                                        <p:cTn id="38" dur="500"/>
                                        <p:tgtEl>
                                          <p:spTgt spid="46798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67983"/>
                                        </p:tgtEl>
                                        <p:attrNameLst>
                                          <p:attrName>style.visibility</p:attrName>
                                        </p:attrNameLst>
                                      </p:cBhvr>
                                      <p:to>
                                        <p:strVal val="visible"/>
                                      </p:to>
                                    </p:set>
                                    <p:animEffect transition="in" filter="wipe(down)">
                                      <p:cBhvr>
                                        <p:cTn id="43" dur="500"/>
                                        <p:tgtEl>
                                          <p:spTgt spid="467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grpSp>
        <p:nvGrpSpPr>
          <p:cNvPr id="4" name="组合 194"/>
          <p:cNvGrpSpPr/>
          <p:nvPr/>
        </p:nvGrpSpPr>
        <p:grpSpPr>
          <a:xfrm>
            <a:off x="6333236" y="1208269"/>
            <a:ext cx="3712596" cy="4506747"/>
            <a:chOff x="6333236" y="1208269"/>
            <a:chExt cx="3712596" cy="4506747"/>
          </a:xfrm>
        </p:grpSpPr>
        <p:grpSp>
          <p:nvGrpSpPr>
            <p:cNvPr id="5" name="组合 139"/>
            <p:cNvGrpSpPr/>
            <p:nvPr/>
          </p:nvGrpSpPr>
          <p:grpSpPr>
            <a:xfrm>
              <a:off x="6333236" y="1208269"/>
              <a:ext cx="3712596" cy="4506747"/>
              <a:chOff x="6333236" y="1208269"/>
              <a:chExt cx="3712596" cy="4506747"/>
            </a:xfrm>
          </p:grpSpPr>
          <p:grpSp>
            <p:nvGrpSpPr>
              <p:cNvPr id="6" name="组合 81"/>
              <p:cNvGrpSpPr/>
              <p:nvPr/>
            </p:nvGrpSpPr>
            <p:grpSpPr>
              <a:xfrm>
                <a:off x="6392317" y="1208269"/>
                <a:ext cx="3653515" cy="4506747"/>
                <a:chOff x="820153" y="3596820"/>
                <a:chExt cx="3653515" cy="4506747"/>
              </a:xfrm>
            </p:grpSpPr>
            <p:sp>
              <p:nvSpPr>
                <p:cNvPr id="83" name="弧形 82"/>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84" name="直接连接符 83"/>
                <p:cNvCxnSpPr>
                  <a:stCxn id="83" idx="1"/>
                  <a:endCxn id="83"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6" name="TextBox 85"/>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87" name="TextBox 86"/>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88" name="弧形 87"/>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89" name="矩形 88"/>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90" name="直接连接符 89"/>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91" name="矩形 90"/>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92" name="TextBox 91"/>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93" name="直接连接符 92"/>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94" name="直接连接符 93"/>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8" name="组合 162"/>
                <p:cNvGrpSpPr/>
                <p:nvPr/>
              </p:nvGrpSpPr>
              <p:grpSpPr>
                <a:xfrm>
                  <a:off x="1020865" y="3596820"/>
                  <a:ext cx="1643074" cy="747187"/>
                  <a:chOff x="1020865" y="3596820"/>
                  <a:chExt cx="1643074" cy="747187"/>
                </a:xfrm>
              </p:grpSpPr>
              <p:grpSp>
                <p:nvGrpSpPr>
                  <p:cNvPr id="9" name="组合 55"/>
                  <p:cNvGrpSpPr/>
                  <p:nvPr/>
                </p:nvGrpSpPr>
                <p:grpSpPr>
                  <a:xfrm>
                    <a:off x="1020865" y="3986854"/>
                    <a:ext cx="1643074" cy="357153"/>
                    <a:chOff x="1214414" y="2357430"/>
                    <a:chExt cx="3371651" cy="428628"/>
                  </a:xfrm>
                </p:grpSpPr>
                <p:cxnSp>
                  <p:nvCxnSpPr>
                    <p:cNvPr id="107" name="直接连接符 106"/>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08" name="直接箭头连接符 107"/>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09" name="直接箭头连接符 108"/>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0" name="直接箭头连接符 109"/>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1" name="直接箭头连接符 110"/>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2" name="直接箭头连接符 111"/>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3" name="直接箭头连接符 112"/>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4" name="直接箭头连接符 113"/>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5" name="直接箭头连接符 114"/>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6" name="直接箭头连接符 115"/>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06"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10" name="组合 176"/>
                <p:cNvGrpSpPr/>
                <p:nvPr/>
              </p:nvGrpSpPr>
              <p:grpSpPr>
                <a:xfrm rot="16200000">
                  <a:off x="2676393" y="4334811"/>
                  <a:ext cx="295201" cy="260087"/>
                  <a:chOff x="3276667" y="4826364"/>
                  <a:chExt cx="295201" cy="260087"/>
                </a:xfrm>
              </p:grpSpPr>
              <p:cxnSp>
                <p:nvCxnSpPr>
                  <p:cNvPr id="98" name="直接连接符 97"/>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1" name="组合 40"/>
                  <p:cNvGrpSpPr/>
                  <p:nvPr/>
                </p:nvGrpSpPr>
                <p:grpSpPr>
                  <a:xfrm>
                    <a:off x="3276667" y="4930194"/>
                    <a:ext cx="295201" cy="156257"/>
                    <a:chOff x="990651" y="4726077"/>
                    <a:chExt cx="295201" cy="156257"/>
                  </a:xfrm>
                </p:grpSpPr>
                <p:cxnSp>
                  <p:nvCxnSpPr>
                    <p:cNvPr id="100" name="直接连接符 99"/>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1" name="直接连接符 100"/>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2" name="直接连接符 101"/>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97" name="椭圆 96"/>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7" name="直接连接符 126"/>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箭头连接符 128"/>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3" name="TextBox 13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cxnSp>
            <p:nvCxnSpPr>
              <p:cNvPr id="135" name="直接连接符 134"/>
              <p:cNvCxnSpPr/>
              <p:nvPr/>
            </p:nvCxnSpPr>
            <p:spPr bwMode="auto">
              <a:xfrm rot="10800000">
                <a:off x="6537897" y="2557799"/>
                <a:ext cx="35719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箭头连接符 135"/>
              <p:cNvCxnSpPr/>
              <p:nvPr/>
            </p:nvCxnSpPr>
            <p:spPr bwMode="auto">
              <a:xfrm rot="5400000">
                <a:off x="6385782" y="2804950"/>
                <a:ext cx="468000"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9" name="矩形 138"/>
              <p:cNvSpPr/>
              <p:nvPr/>
            </p:nvSpPr>
            <p:spPr>
              <a:xfrm>
                <a:off x="6333236" y="2581612"/>
                <a:ext cx="287258" cy="369332"/>
              </a:xfrm>
              <a:prstGeom prst="rect">
                <a:avLst/>
              </a:prstGeom>
            </p:spPr>
            <p:txBody>
              <a:bodyPr wrap="none">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193" name="弧形 192"/>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4" name="矩形 193"/>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grpSp>
        <p:nvGrpSpPr>
          <p:cNvPr id="12" name="组合 195"/>
          <p:cNvGrpSpPr/>
          <p:nvPr/>
        </p:nvGrpSpPr>
        <p:grpSpPr>
          <a:xfrm>
            <a:off x="6382140" y="4000504"/>
            <a:ext cx="3653515" cy="4220995"/>
            <a:chOff x="6392317" y="1494021"/>
            <a:chExt cx="3653515" cy="4220995"/>
          </a:xfrm>
        </p:grpSpPr>
        <p:grpSp>
          <p:nvGrpSpPr>
            <p:cNvPr id="13" name="组合 139"/>
            <p:cNvGrpSpPr/>
            <p:nvPr/>
          </p:nvGrpSpPr>
          <p:grpSpPr>
            <a:xfrm>
              <a:off x="6392317" y="1494021"/>
              <a:ext cx="3653515" cy="4220995"/>
              <a:chOff x="6392317" y="1494021"/>
              <a:chExt cx="3653515" cy="4220995"/>
            </a:xfrm>
          </p:grpSpPr>
          <p:grpSp>
            <p:nvGrpSpPr>
              <p:cNvPr id="14" name="组合 81"/>
              <p:cNvGrpSpPr/>
              <p:nvPr/>
            </p:nvGrpSpPr>
            <p:grpSpPr>
              <a:xfrm>
                <a:off x="6392317" y="1494021"/>
                <a:ext cx="3653515" cy="4220995"/>
                <a:chOff x="820153" y="3882572"/>
                <a:chExt cx="3653515" cy="4220995"/>
              </a:xfrm>
            </p:grpSpPr>
            <p:sp>
              <p:nvSpPr>
                <p:cNvPr id="207" name="弧形 206"/>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08" name="直接连接符 207"/>
                <p:cNvCxnSpPr>
                  <a:stCxn id="207" idx="1"/>
                  <a:endCxn id="207"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15" name="组合 40"/>
                <p:cNvGrpSpPr/>
                <p:nvPr/>
              </p:nvGrpSpPr>
              <p:grpSpPr>
                <a:xfrm>
                  <a:off x="830330" y="5399120"/>
                  <a:ext cx="406704" cy="303260"/>
                  <a:chOff x="1000100" y="4582205"/>
                  <a:chExt cx="406704" cy="303260"/>
                </a:xfrm>
              </p:grpSpPr>
              <p:sp>
                <p:nvSpPr>
                  <p:cNvPr id="241" name="等腰三角形 240"/>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2" name="直接连接符 241"/>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3" name="直接连接符 242"/>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4" name="直接连接符 24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5" name="直接连接符 24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6" name="直接连接符 24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7" name="椭圆 246"/>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8" name="椭圆 247"/>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9" name="椭圆 248"/>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10" name="TextBox 209"/>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1" name="TextBox 210"/>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212" name="弧形 21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213" name="矩形 21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214" name="直接连接符 21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215" name="矩形 21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216" name="TextBox 21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217" name="直接连接符 21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nvGrpSpPr>
                <p:cNvPr id="16" name="组合 162"/>
                <p:cNvGrpSpPr/>
                <p:nvPr/>
              </p:nvGrpSpPr>
              <p:grpSpPr>
                <a:xfrm>
                  <a:off x="2342885" y="3882572"/>
                  <a:ext cx="314587" cy="460773"/>
                  <a:chOff x="2342885" y="3882572"/>
                  <a:chExt cx="314587" cy="460773"/>
                </a:xfrm>
              </p:grpSpPr>
              <p:cxnSp>
                <p:nvCxnSpPr>
                  <p:cNvPr id="233" name="直接箭头连接符 232"/>
                  <p:cNvCxnSpPr/>
                  <p:nvPr/>
                </p:nvCxnSpPr>
                <p:spPr bwMode="auto">
                  <a:xfrm rot="5400000">
                    <a:off x="2479033" y="4164906"/>
                    <a:ext cx="356491" cy="387"/>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sp>
                <p:nvSpPr>
                  <p:cNvPr id="230" name="TextBox 93"/>
                  <p:cNvSpPr txBox="1"/>
                  <p:nvPr/>
                </p:nvSpPr>
                <p:spPr>
                  <a:xfrm>
                    <a:off x="2342885" y="3882572"/>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grpSp>
            <p:grpSp>
              <p:nvGrpSpPr>
                <p:cNvPr id="17" name="组合 176"/>
                <p:cNvGrpSpPr/>
                <p:nvPr/>
              </p:nvGrpSpPr>
              <p:grpSpPr>
                <a:xfrm rot="16200000">
                  <a:off x="2676395" y="4334813"/>
                  <a:ext cx="295201" cy="260087"/>
                  <a:chOff x="3276667" y="4826364"/>
                  <a:chExt cx="295201" cy="260087"/>
                </a:xfrm>
              </p:grpSpPr>
              <p:cxnSp>
                <p:nvCxnSpPr>
                  <p:cNvPr id="222" name="直接连接符 221"/>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8" name="组合 40"/>
                  <p:cNvGrpSpPr/>
                  <p:nvPr/>
                </p:nvGrpSpPr>
                <p:grpSpPr>
                  <a:xfrm>
                    <a:off x="3276667" y="4930194"/>
                    <a:ext cx="295201" cy="156257"/>
                    <a:chOff x="990651" y="4726077"/>
                    <a:chExt cx="295201" cy="156257"/>
                  </a:xfrm>
                </p:grpSpPr>
                <p:cxnSp>
                  <p:nvCxnSpPr>
                    <p:cNvPr id="224" name="直接连接符 223"/>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5" name="直接连接符 224"/>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6" name="直接连接符 225"/>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7" name="直接连接符 226"/>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8" name="椭圆 227"/>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221" name="椭圆 220"/>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201" name="直接连接符 200"/>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2" name="直接箭头连接符 201"/>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203" name="TextBox 20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198" name="弧形 197"/>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9" name="矩形 198"/>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sp>
        <p:nvSpPr>
          <p:cNvPr id="126" name="Rectangle 4"/>
          <p:cNvSpPr>
            <a:spLocks noChangeArrowheads="1"/>
          </p:cNvSpPr>
          <p:nvPr/>
        </p:nvSpPr>
        <p:spPr bwMode="auto">
          <a:xfrm>
            <a:off x="857224" y="3273767"/>
            <a:ext cx="5357850" cy="461665"/>
          </a:xfrm>
          <a:prstGeom prst="rect">
            <a:avLst/>
          </a:prstGeom>
          <a:noFill/>
          <a:ln w="9525">
            <a:noFill/>
            <a:miter lim="800000"/>
            <a:headEnd/>
            <a:tailEnd/>
          </a:ln>
        </p:spPr>
        <p:txBody>
          <a:bodyPr wrap="square">
            <a:spAutoFit/>
          </a:bodyPr>
          <a:lstStyle/>
          <a:p>
            <a:pPr marL="722313" indent="-722313"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⑶</a:t>
            </a:r>
            <a:r>
              <a:rPr kumimoji="1" lang="en-US" altLang="zh-CN" sz="2000" b="1">
                <a:solidFill>
                  <a:srgbClr val="000000"/>
                </a:solidFill>
                <a:latin typeface="+mn-ea"/>
              </a:rPr>
              <a:t> </a:t>
            </a:r>
            <a:r>
              <a:rPr kumimoji="1" lang="zh-CN" altLang="en-US" sz="2000" b="1">
                <a:solidFill>
                  <a:srgbClr val="000000"/>
                </a:solidFill>
                <a:latin typeface="+mn-ea"/>
              </a:rPr>
              <a:t>代入位移公式，求得变形对位移的贡献；</a:t>
            </a:r>
            <a:endParaRPr kumimoji="1" lang="en-US" altLang="zh-CN" sz="2000" b="1">
              <a:solidFill>
                <a:srgbClr val="000000"/>
              </a:solidFill>
              <a:latin typeface="+mn-ea"/>
            </a:endParaRPr>
          </a:p>
        </p:txBody>
      </p:sp>
      <p:graphicFrame>
        <p:nvGraphicFramePr>
          <p:cNvPr id="471049" name="Object 9"/>
          <p:cNvGraphicFramePr>
            <a:graphicFrameLocks noChangeAspect="1"/>
          </p:cNvGraphicFramePr>
          <p:nvPr/>
        </p:nvGraphicFramePr>
        <p:xfrm>
          <a:off x="1357290" y="3710008"/>
          <a:ext cx="5008562" cy="1296987"/>
        </p:xfrm>
        <a:graphic>
          <a:graphicData uri="http://schemas.openxmlformats.org/presentationml/2006/ole">
            <mc:AlternateContent xmlns:mc="http://schemas.openxmlformats.org/markup-compatibility/2006">
              <mc:Choice xmlns:v="urn:schemas-microsoft-com:vml" Requires="v">
                <p:oleObj spid="_x0000_s471052" name="Equation" r:id="rId4" imgW="3238200" imgH="838080" progId="Equation.DSMT4">
                  <p:embed/>
                </p:oleObj>
              </mc:Choice>
              <mc:Fallback>
                <p:oleObj name="Equation" r:id="rId4" imgW="3238200" imgH="83808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290" y="3710008"/>
                        <a:ext cx="5008562"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050" name="Object 10"/>
          <p:cNvGraphicFramePr>
            <a:graphicFrameLocks noChangeAspect="1"/>
          </p:cNvGraphicFramePr>
          <p:nvPr/>
        </p:nvGraphicFramePr>
        <p:xfrm>
          <a:off x="1643042" y="5138754"/>
          <a:ext cx="1336675" cy="647700"/>
        </p:xfrm>
        <a:graphic>
          <a:graphicData uri="http://schemas.openxmlformats.org/presentationml/2006/ole">
            <mc:AlternateContent xmlns:mc="http://schemas.openxmlformats.org/markup-compatibility/2006">
              <mc:Choice xmlns:v="urn:schemas-microsoft-com:vml" Requires="v">
                <p:oleObj spid="_x0000_s471053" name="Equation" r:id="rId6" imgW="863280" imgH="419040" progId="Equation.DSMT4">
                  <p:embed/>
                </p:oleObj>
              </mc:Choice>
              <mc:Fallback>
                <p:oleObj name="Equation" r:id="rId6" imgW="863280" imgH="419040" progId="Equation.DSMT4">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3042" y="5138754"/>
                        <a:ext cx="13366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 name="TextBox 127"/>
          <p:cNvSpPr txBox="1"/>
          <p:nvPr/>
        </p:nvSpPr>
        <p:spPr>
          <a:xfrm>
            <a:off x="1571604" y="5897017"/>
            <a:ext cx="954107" cy="400110"/>
          </a:xfrm>
          <a:prstGeom prst="rect">
            <a:avLst/>
          </a:prstGeom>
          <a:noFill/>
          <a:ln w="28575">
            <a:noFill/>
          </a:ln>
        </p:spPr>
        <p:txBody>
          <a:bodyPr wrap="none" rtlCol="0">
            <a:spAutoFit/>
          </a:bodyPr>
          <a:lstStyle/>
          <a:p>
            <a:r>
              <a:rPr lang="zh-CN" altLang="en-US" sz="2000" b="1"/>
              <a:t>同理，</a:t>
            </a:r>
          </a:p>
        </p:txBody>
      </p:sp>
      <p:graphicFrame>
        <p:nvGraphicFramePr>
          <p:cNvPr id="471051" name="Object 10"/>
          <p:cNvGraphicFramePr>
            <a:graphicFrameLocks noChangeAspect="1"/>
          </p:cNvGraphicFramePr>
          <p:nvPr/>
        </p:nvGraphicFramePr>
        <p:xfrm>
          <a:off x="2500298" y="5786454"/>
          <a:ext cx="3616325" cy="647700"/>
        </p:xfrm>
        <a:graphic>
          <a:graphicData uri="http://schemas.openxmlformats.org/presentationml/2006/ole">
            <mc:AlternateContent xmlns:mc="http://schemas.openxmlformats.org/markup-compatibility/2006">
              <mc:Choice xmlns:v="urn:schemas-microsoft-com:vml" Requires="v">
                <p:oleObj spid="_x0000_s471054" name="Equation" r:id="rId8" imgW="2336760" imgH="419040" progId="Equation.DSMT4">
                  <p:embed/>
                </p:oleObj>
              </mc:Choice>
              <mc:Fallback>
                <p:oleObj name="Equation" r:id="rId8" imgW="2336760" imgH="41904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0298" y="5786454"/>
                        <a:ext cx="36163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box(in)">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71049"/>
                                        </p:tgtEl>
                                        <p:attrNameLst>
                                          <p:attrName>style.visibility</p:attrName>
                                        </p:attrNameLst>
                                      </p:cBhvr>
                                      <p:to>
                                        <p:strVal val="visible"/>
                                      </p:to>
                                    </p:set>
                                    <p:anim calcmode="lin" valueType="num">
                                      <p:cBhvr additive="base">
                                        <p:cTn id="12" dur="500" fill="hold"/>
                                        <p:tgtEl>
                                          <p:spTgt spid="471049"/>
                                        </p:tgtEl>
                                        <p:attrNameLst>
                                          <p:attrName>ppt_x</p:attrName>
                                        </p:attrNameLst>
                                      </p:cBhvr>
                                      <p:tavLst>
                                        <p:tav tm="0">
                                          <p:val>
                                            <p:strVal val="#ppt_x"/>
                                          </p:val>
                                        </p:tav>
                                        <p:tav tm="100000">
                                          <p:val>
                                            <p:strVal val="#ppt_x"/>
                                          </p:val>
                                        </p:tav>
                                      </p:tavLst>
                                    </p:anim>
                                    <p:anim calcmode="lin" valueType="num">
                                      <p:cBhvr additive="base">
                                        <p:cTn id="13" dur="500" fill="hold"/>
                                        <p:tgtEl>
                                          <p:spTgt spid="47104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71050"/>
                                        </p:tgtEl>
                                        <p:attrNameLst>
                                          <p:attrName>style.visibility</p:attrName>
                                        </p:attrNameLst>
                                      </p:cBhvr>
                                      <p:to>
                                        <p:strVal val="visible"/>
                                      </p:to>
                                    </p:set>
                                    <p:anim calcmode="lin" valueType="num">
                                      <p:cBhvr additive="base">
                                        <p:cTn id="18" dur="500" fill="hold"/>
                                        <p:tgtEl>
                                          <p:spTgt spid="471050"/>
                                        </p:tgtEl>
                                        <p:attrNameLst>
                                          <p:attrName>ppt_x</p:attrName>
                                        </p:attrNameLst>
                                      </p:cBhvr>
                                      <p:tavLst>
                                        <p:tav tm="0">
                                          <p:val>
                                            <p:strVal val="#ppt_x"/>
                                          </p:val>
                                        </p:tav>
                                        <p:tav tm="100000">
                                          <p:val>
                                            <p:strVal val="#ppt_x"/>
                                          </p:val>
                                        </p:tav>
                                      </p:tavLst>
                                    </p:anim>
                                    <p:anim calcmode="lin" valueType="num">
                                      <p:cBhvr additive="base">
                                        <p:cTn id="19" dur="500" fill="hold"/>
                                        <p:tgtEl>
                                          <p:spTgt spid="47105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8"/>
                                        </p:tgtEl>
                                        <p:attrNameLst>
                                          <p:attrName>style.visibility</p:attrName>
                                        </p:attrNameLst>
                                      </p:cBhvr>
                                      <p:to>
                                        <p:strVal val="visible"/>
                                      </p:to>
                                    </p:set>
                                    <p:anim calcmode="lin" valueType="num">
                                      <p:cBhvr additive="base">
                                        <p:cTn id="24" dur="500" fill="hold"/>
                                        <p:tgtEl>
                                          <p:spTgt spid="128"/>
                                        </p:tgtEl>
                                        <p:attrNameLst>
                                          <p:attrName>ppt_x</p:attrName>
                                        </p:attrNameLst>
                                      </p:cBhvr>
                                      <p:tavLst>
                                        <p:tav tm="0">
                                          <p:val>
                                            <p:strVal val="#ppt_x"/>
                                          </p:val>
                                        </p:tav>
                                        <p:tav tm="100000">
                                          <p:val>
                                            <p:strVal val="#ppt_x"/>
                                          </p:val>
                                        </p:tav>
                                      </p:tavLst>
                                    </p:anim>
                                    <p:anim calcmode="lin" valueType="num">
                                      <p:cBhvr additive="base">
                                        <p:cTn id="25"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71051"/>
                                        </p:tgtEl>
                                        <p:attrNameLst>
                                          <p:attrName>style.visibility</p:attrName>
                                        </p:attrNameLst>
                                      </p:cBhvr>
                                      <p:to>
                                        <p:strVal val="visible"/>
                                      </p:to>
                                    </p:set>
                                    <p:anim calcmode="lin" valueType="num">
                                      <p:cBhvr additive="base">
                                        <p:cTn id="30" dur="500" fill="hold"/>
                                        <p:tgtEl>
                                          <p:spTgt spid="471051"/>
                                        </p:tgtEl>
                                        <p:attrNameLst>
                                          <p:attrName>ppt_x</p:attrName>
                                        </p:attrNameLst>
                                      </p:cBhvr>
                                      <p:tavLst>
                                        <p:tav tm="0">
                                          <p:val>
                                            <p:strVal val="#ppt_x"/>
                                          </p:val>
                                        </p:tav>
                                        <p:tav tm="100000">
                                          <p:val>
                                            <p:strVal val="#ppt_x"/>
                                          </p:val>
                                        </p:tav>
                                      </p:tavLst>
                                    </p:anim>
                                    <p:anim calcmode="lin" valueType="num">
                                      <p:cBhvr additive="base">
                                        <p:cTn id="31" dur="500" fill="hold"/>
                                        <p:tgtEl>
                                          <p:spTgt spid="471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grpSp>
        <p:nvGrpSpPr>
          <p:cNvPr id="4" name="组合 194"/>
          <p:cNvGrpSpPr/>
          <p:nvPr/>
        </p:nvGrpSpPr>
        <p:grpSpPr>
          <a:xfrm>
            <a:off x="6333236" y="1208269"/>
            <a:ext cx="3712596" cy="4506747"/>
            <a:chOff x="6333236" y="1208269"/>
            <a:chExt cx="3712596" cy="4506747"/>
          </a:xfrm>
        </p:grpSpPr>
        <p:grpSp>
          <p:nvGrpSpPr>
            <p:cNvPr id="5" name="组合 139"/>
            <p:cNvGrpSpPr/>
            <p:nvPr/>
          </p:nvGrpSpPr>
          <p:grpSpPr>
            <a:xfrm>
              <a:off x="6333236" y="1208269"/>
              <a:ext cx="3712596" cy="4506747"/>
              <a:chOff x="6333236" y="1208269"/>
              <a:chExt cx="3712596" cy="4506747"/>
            </a:xfrm>
          </p:grpSpPr>
          <p:grpSp>
            <p:nvGrpSpPr>
              <p:cNvPr id="6" name="组合 81"/>
              <p:cNvGrpSpPr/>
              <p:nvPr/>
            </p:nvGrpSpPr>
            <p:grpSpPr>
              <a:xfrm>
                <a:off x="6392317" y="1208269"/>
                <a:ext cx="3653515" cy="4506747"/>
                <a:chOff x="820153" y="3596820"/>
                <a:chExt cx="3653515" cy="4506747"/>
              </a:xfrm>
            </p:grpSpPr>
            <p:sp>
              <p:nvSpPr>
                <p:cNvPr id="83" name="弧形 82"/>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84" name="直接连接符 83"/>
                <p:cNvCxnSpPr>
                  <a:stCxn id="83" idx="1"/>
                  <a:endCxn id="83"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6" name="TextBox 85"/>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87" name="TextBox 86"/>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88" name="弧形 87"/>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89" name="矩形 88"/>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90" name="直接连接符 89"/>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91" name="矩形 90"/>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92" name="TextBox 91"/>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93" name="直接连接符 92"/>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94" name="直接连接符 93"/>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8" name="组合 162"/>
                <p:cNvGrpSpPr/>
                <p:nvPr/>
              </p:nvGrpSpPr>
              <p:grpSpPr>
                <a:xfrm>
                  <a:off x="1020865" y="3596820"/>
                  <a:ext cx="1643074" cy="747187"/>
                  <a:chOff x="1020865" y="3596820"/>
                  <a:chExt cx="1643074" cy="747187"/>
                </a:xfrm>
              </p:grpSpPr>
              <p:grpSp>
                <p:nvGrpSpPr>
                  <p:cNvPr id="9" name="组合 55"/>
                  <p:cNvGrpSpPr/>
                  <p:nvPr/>
                </p:nvGrpSpPr>
                <p:grpSpPr>
                  <a:xfrm>
                    <a:off x="1020865" y="3986854"/>
                    <a:ext cx="1643074" cy="357153"/>
                    <a:chOff x="1214414" y="2357430"/>
                    <a:chExt cx="3371651" cy="428628"/>
                  </a:xfrm>
                </p:grpSpPr>
                <p:cxnSp>
                  <p:nvCxnSpPr>
                    <p:cNvPr id="107" name="直接连接符 106"/>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08" name="直接箭头连接符 107"/>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09" name="直接箭头连接符 108"/>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0" name="直接箭头连接符 109"/>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1" name="直接箭头连接符 110"/>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2" name="直接箭头连接符 111"/>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3" name="直接箭头连接符 112"/>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4" name="直接箭头连接符 113"/>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5" name="直接箭头连接符 114"/>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6" name="直接箭头连接符 115"/>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06"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10" name="组合 176"/>
                <p:cNvGrpSpPr/>
                <p:nvPr/>
              </p:nvGrpSpPr>
              <p:grpSpPr>
                <a:xfrm rot="16200000">
                  <a:off x="2676393" y="4334811"/>
                  <a:ext cx="295201" cy="260087"/>
                  <a:chOff x="3276667" y="4826364"/>
                  <a:chExt cx="295201" cy="260087"/>
                </a:xfrm>
              </p:grpSpPr>
              <p:cxnSp>
                <p:nvCxnSpPr>
                  <p:cNvPr id="98" name="直接连接符 97"/>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1" name="组合 40"/>
                  <p:cNvGrpSpPr/>
                  <p:nvPr/>
                </p:nvGrpSpPr>
                <p:grpSpPr>
                  <a:xfrm>
                    <a:off x="3276667" y="4930194"/>
                    <a:ext cx="295201" cy="156257"/>
                    <a:chOff x="990651" y="4726077"/>
                    <a:chExt cx="295201" cy="156257"/>
                  </a:xfrm>
                </p:grpSpPr>
                <p:cxnSp>
                  <p:nvCxnSpPr>
                    <p:cNvPr id="100" name="直接连接符 99"/>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1" name="直接连接符 100"/>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2" name="直接连接符 101"/>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97" name="椭圆 96"/>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7" name="直接连接符 126"/>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箭头连接符 128"/>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3" name="TextBox 13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cxnSp>
            <p:nvCxnSpPr>
              <p:cNvPr id="135" name="直接连接符 134"/>
              <p:cNvCxnSpPr/>
              <p:nvPr/>
            </p:nvCxnSpPr>
            <p:spPr bwMode="auto">
              <a:xfrm rot="10800000">
                <a:off x="6537897" y="2557799"/>
                <a:ext cx="35719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箭头连接符 135"/>
              <p:cNvCxnSpPr/>
              <p:nvPr/>
            </p:nvCxnSpPr>
            <p:spPr bwMode="auto">
              <a:xfrm rot="5400000">
                <a:off x="6385782" y="2804950"/>
                <a:ext cx="468000"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9" name="矩形 138"/>
              <p:cNvSpPr/>
              <p:nvPr/>
            </p:nvSpPr>
            <p:spPr>
              <a:xfrm>
                <a:off x="6333236" y="2581612"/>
                <a:ext cx="287258" cy="369332"/>
              </a:xfrm>
              <a:prstGeom prst="rect">
                <a:avLst/>
              </a:prstGeom>
            </p:spPr>
            <p:txBody>
              <a:bodyPr wrap="none">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193" name="弧形 192"/>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4" name="矩形 193"/>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grpSp>
        <p:nvGrpSpPr>
          <p:cNvPr id="12" name="组合 195"/>
          <p:cNvGrpSpPr/>
          <p:nvPr/>
        </p:nvGrpSpPr>
        <p:grpSpPr>
          <a:xfrm>
            <a:off x="6382140" y="4000504"/>
            <a:ext cx="3653515" cy="4220995"/>
            <a:chOff x="6392317" y="1494021"/>
            <a:chExt cx="3653515" cy="4220995"/>
          </a:xfrm>
        </p:grpSpPr>
        <p:grpSp>
          <p:nvGrpSpPr>
            <p:cNvPr id="13" name="组合 139"/>
            <p:cNvGrpSpPr/>
            <p:nvPr/>
          </p:nvGrpSpPr>
          <p:grpSpPr>
            <a:xfrm>
              <a:off x="6392317" y="1494021"/>
              <a:ext cx="3653515" cy="4220995"/>
              <a:chOff x="6392317" y="1494021"/>
              <a:chExt cx="3653515" cy="4220995"/>
            </a:xfrm>
          </p:grpSpPr>
          <p:grpSp>
            <p:nvGrpSpPr>
              <p:cNvPr id="14" name="组合 81"/>
              <p:cNvGrpSpPr/>
              <p:nvPr/>
            </p:nvGrpSpPr>
            <p:grpSpPr>
              <a:xfrm>
                <a:off x="6392317" y="1494021"/>
                <a:ext cx="3653515" cy="4220995"/>
                <a:chOff x="820153" y="3882572"/>
                <a:chExt cx="3653515" cy="4220995"/>
              </a:xfrm>
            </p:grpSpPr>
            <p:sp>
              <p:nvSpPr>
                <p:cNvPr id="207" name="弧形 206"/>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08" name="直接连接符 207"/>
                <p:cNvCxnSpPr>
                  <a:stCxn id="207" idx="1"/>
                  <a:endCxn id="207"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15" name="组合 40"/>
                <p:cNvGrpSpPr/>
                <p:nvPr/>
              </p:nvGrpSpPr>
              <p:grpSpPr>
                <a:xfrm>
                  <a:off x="830330" y="5399120"/>
                  <a:ext cx="406704" cy="303260"/>
                  <a:chOff x="1000100" y="4582205"/>
                  <a:chExt cx="406704" cy="303260"/>
                </a:xfrm>
              </p:grpSpPr>
              <p:sp>
                <p:nvSpPr>
                  <p:cNvPr id="241" name="等腰三角形 240"/>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2" name="直接连接符 241"/>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3" name="直接连接符 242"/>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4" name="直接连接符 24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5" name="直接连接符 24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6" name="直接连接符 24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7" name="椭圆 246"/>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8" name="椭圆 247"/>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9" name="椭圆 248"/>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10" name="TextBox 209"/>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1" name="TextBox 210"/>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212" name="弧形 21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213" name="矩形 21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214" name="直接连接符 21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215" name="矩形 21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216" name="TextBox 21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217" name="直接连接符 21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nvGrpSpPr>
                <p:cNvPr id="16" name="组合 162"/>
                <p:cNvGrpSpPr/>
                <p:nvPr/>
              </p:nvGrpSpPr>
              <p:grpSpPr>
                <a:xfrm>
                  <a:off x="2342885" y="3882572"/>
                  <a:ext cx="314587" cy="460773"/>
                  <a:chOff x="2342885" y="3882572"/>
                  <a:chExt cx="314587" cy="460773"/>
                </a:xfrm>
              </p:grpSpPr>
              <p:cxnSp>
                <p:nvCxnSpPr>
                  <p:cNvPr id="233" name="直接箭头连接符 232"/>
                  <p:cNvCxnSpPr/>
                  <p:nvPr/>
                </p:nvCxnSpPr>
                <p:spPr bwMode="auto">
                  <a:xfrm rot="5400000">
                    <a:off x="2479033" y="4164906"/>
                    <a:ext cx="356491" cy="387"/>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sp>
                <p:nvSpPr>
                  <p:cNvPr id="230" name="TextBox 93"/>
                  <p:cNvSpPr txBox="1"/>
                  <p:nvPr/>
                </p:nvSpPr>
                <p:spPr>
                  <a:xfrm>
                    <a:off x="2342885" y="3882572"/>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grpSp>
            <p:grpSp>
              <p:nvGrpSpPr>
                <p:cNvPr id="17" name="组合 176"/>
                <p:cNvGrpSpPr/>
                <p:nvPr/>
              </p:nvGrpSpPr>
              <p:grpSpPr>
                <a:xfrm rot="16200000">
                  <a:off x="2676395" y="4334813"/>
                  <a:ext cx="295201" cy="260087"/>
                  <a:chOff x="3276667" y="4826364"/>
                  <a:chExt cx="295201" cy="260087"/>
                </a:xfrm>
              </p:grpSpPr>
              <p:cxnSp>
                <p:nvCxnSpPr>
                  <p:cNvPr id="222" name="直接连接符 221"/>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8" name="组合 40"/>
                  <p:cNvGrpSpPr/>
                  <p:nvPr/>
                </p:nvGrpSpPr>
                <p:grpSpPr>
                  <a:xfrm>
                    <a:off x="3276667" y="4930194"/>
                    <a:ext cx="295201" cy="156257"/>
                    <a:chOff x="990651" y="4726077"/>
                    <a:chExt cx="295201" cy="156257"/>
                  </a:xfrm>
                </p:grpSpPr>
                <p:cxnSp>
                  <p:nvCxnSpPr>
                    <p:cNvPr id="224" name="直接连接符 223"/>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5" name="直接连接符 224"/>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6" name="直接连接符 225"/>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7" name="直接连接符 226"/>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8" name="椭圆 227"/>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221" name="椭圆 220"/>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201" name="直接连接符 200"/>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2" name="直接箭头连接符 201"/>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203" name="TextBox 20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198" name="弧形 197"/>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9" name="矩形 198"/>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sp>
        <p:nvSpPr>
          <p:cNvPr id="126" name="Rectangle 4"/>
          <p:cNvSpPr>
            <a:spLocks noChangeArrowheads="1"/>
          </p:cNvSpPr>
          <p:nvPr/>
        </p:nvSpPr>
        <p:spPr bwMode="auto">
          <a:xfrm>
            <a:off x="857224" y="3249053"/>
            <a:ext cx="5357850" cy="830997"/>
          </a:xfrm>
          <a:prstGeom prst="rect">
            <a:avLst/>
          </a:prstGeom>
          <a:noFill/>
          <a:ln w="9525">
            <a:noFill/>
            <a:miter lim="800000"/>
            <a:headEnd/>
            <a:tailEnd/>
          </a:ln>
        </p:spPr>
        <p:txBody>
          <a:bodyPr wrap="square">
            <a:spAutoFit/>
          </a:bodyPr>
          <a:lstStyle/>
          <a:p>
            <a:pPr marL="722313" indent="-722313" fontAlgn="base">
              <a:lnSpc>
                <a:spcPct val="120000"/>
              </a:lnSpc>
              <a:spcBef>
                <a:spcPct val="0"/>
              </a:spcBef>
              <a:spcAft>
                <a:spcPct val="0"/>
              </a:spcAft>
            </a:pPr>
            <a:r>
              <a:rPr kumimoji="1" lang="zh-CN" altLang="en-US" sz="2000" b="1" kern="1200">
                <a:solidFill>
                  <a:srgbClr val="000000"/>
                </a:solidFill>
                <a:latin typeface="+mn-ea"/>
                <a:cs typeface="+mn-cs"/>
              </a:rPr>
              <a:t>解</a:t>
            </a:r>
            <a:r>
              <a:rPr kumimoji="1" lang="en-US" altLang="zh-CN" sz="2000" b="1" kern="1200">
                <a:solidFill>
                  <a:srgbClr val="000000"/>
                </a:solidFill>
                <a:latin typeface="+mn-ea"/>
                <a:cs typeface="+mn-cs"/>
              </a:rPr>
              <a:t>: </a:t>
            </a:r>
            <a:r>
              <a:rPr kumimoji="1" lang="zh-CN" altLang="en-US" sz="2000" b="1">
                <a:solidFill>
                  <a:srgbClr val="000000"/>
                </a:solidFill>
                <a:latin typeface="+mn-ea"/>
              </a:rPr>
              <a:t>⑷</a:t>
            </a:r>
            <a:r>
              <a:rPr kumimoji="1" lang="en-US" altLang="zh-CN" sz="2000" b="1">
                <a:solidFill>
                  <a:srgbClr val="000000"/>
                </a:solidFill>
                <a:latin typeface="+mn-ea"/>
              </a:rPr>
              <a:t> </a:t>
            </a:r>
            <a:r>
              <a:rPr kumimoji="1" lang="zh-CN" altLang="en-US" sz="2000" b="1">
                <a:solidFill>
                  <a:srgbClr val="000000"/>
                </a:solidFill>
                <a:latin typeface="+mn-ea"/>
              </a:rPr>
              <a:t>若</a:t>
            </a:r>
            <a:r>
              <a:rPr kumimoji="1" lang="en-US" altLang="zh-CN" sz="2000" b="1" i="1">
                <a:solidFill>
                  <a:srgbClr val="000000"/>
                </a:solidFill>
                <a:latin typeface="Times New Roman" pitchFamily="18" charset="0"/>
                <a:cs typeface="Times New Roman" pitchFamily="18" charset="0"/>
              </a:rPr>
              <a:t>h</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r</a:t>
            </a:r>
            <a:r>
              <a:rPr kumimoji="1" lang="en-US" altLang="zh-CN" sz="2000" b="1" i="1" baseline="-25000">
                <a:solidFill>
                  <a:srgbClr val="000000"/>
                </a:solidFill>
                <a:latin typeface="Times New Roman" pitchFamily="18" charset="0"/>
                <a:cs typeface="Times New Roman" pitchFamily="18" charset="0"/>
              </a:rPr>
              <a:t> </a:t>
            </a:r>
            <a:r>
              <a:rPr kumimoji="1" lang="en-US" altLang="zh-CN" sz="2000" b="1">
                <a:solidFill>
                  <a:srgbClr val="000000"/>
                </a:solidFill>
                <a:latin typeface="Times New Roman" pitchFamily="18" charset="0"/>
                <a:cs typeface="Times New Roman" pitchFamily="18" charset="0"/>
              </a:rPr>
              <a:t>=0.1</a:t>
            </a:r>
            <a:r>
              <a:rPr kumimoji="1" lang="zh-CN" altLang="en-US" sz="2000" b="1">
                <a:solidFill>
                  <a:srgbClr val="000000"/>
                </a:solidFill>
                <a:latin typeface="+mn-ea"/>
              </a:rPr>
              <a:t>，</a:t>
            </a:r>
            <a:r>
              <a:rPr kumimoji="1" lang="en-US" altLang="zh-CN" sz="2000" b="1" i="1">
                <a:solidFill>
                  <a:srgbClr val="000000"/>
                </a:solidFill>
                <a:latin typeface="Times New Roman" pitchFamily="18" charset="0"/>
                <a:cs typeface="Times New Roman" pitchFamily="18" charset="0"/>
              </a:rPr>
              <a:t>E</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G</a:t>
            </a:r>
            <a:r>
              <a:rPr kumimoji="1" lang="en-US" altLang="zh-CN" sz="2000" b="1">
                <a:solidFill>
                  <a:srgbClr val="000000"/>
                </a:solidFill>
                <a:latin typeface="Times New Roman" pitchFamily="18" charset="0"/>
                <a:cs typeface="Times New Roman" pitchFamily="18" charset="0"/>
              </a:rPr>
              <a:t>=8/3</a:t>
            </a:r>
            <a:r>
              <a:rPr kumimoji="1" lang="zh-CN" altLang="en-US" sz="2000" b="1">
                <a:solidFill>
                  <a:srgbClr val="000000"/>
                </a:solidFill>
                <a:latin typeface="Times New Roman" pitchFamily="18" charset="0"/>
                <a:cs typeface="Times New Roman" pitchFamily="18" charset="0"/>
              </a:rPr>
              <a:t>，</a:t>
            </a:r>
            <a:r>
              <a:rPr kumimoji="1" lang="zh-CN" altLang="en-US" sz="2000" b="1">
                <a:solidFill>
                  <a:srgbClr val="000000"/>
                </a:solidFill>
                <a:latin typeface="+mn-ea"/>
              </a:rPr>
              <a:t>矩形截面</a:t>
            </a:r>
            <a:r>
              <a:rPr kumimoji="1" lang="en-US" altLang="zh-CN" sz="2000" b="1" i="1">
                <a:solidFill>
                  <a:srgbClr val="000000"/>
                </a:solidFill>
                <a:latin typeface="Times New Roman" pitchFamily="18" charset="0"/>
                <a:cs typeface="Times New Roman" pitchFamily="18" charset="0"/>
              </a:rPr>
              <a:t>k</a:t>
            </a:r>
            <a:r>
              <a:rPr kumimoji="1" lang="en-US" altLang="zh-CN" sz="2000" b="1" i="1" baseline="-25000">
                <a:solidFill>
                  <a:srgbClr val="000000"/>
                </a:solidFill>
                <a:latin typeface="Times New Roman" pitchFamily="18" charset="0"/>
                <a:cs typeface="Times New Roman" pitchFamily="18" charset="0"/>
              </a:rPr>
              <a:t> </a:t>
            </a:r>
            <a:r>
              <a:rPr kumimoji="1" lang="en-US" altLang="zh-CN" sz="2000" b="1">
                <a:solidFill>
                  <a:srgbClr val="000000"/>
                </a:solidFill>
                <a:latin typeface="Times New Roman" pitchFamily="18" charset="0"/>
                <a:cs typeface="Times New Roman" pitchFamily="18" charset="0"/>
              </a:rPr>
              <a:t>=</a:t>
            </a:r>
            <a:r>
              <a:rPr kumimoji="1" lang="en-US" altLang="zh-CN" sz="2000" b="1" baseline="-25000">
                <a:solidFill>
                  <a:srgbClr val="000000"/>
                </a:solidFill>
                <a:latin typeface="Times New Roman" pitchFamily="18" charset="0"/>
                <a:cs typeface="Times New Roman" pitchFamily="18" charset="0"/>
              </a:rPr>
              <a:t> </a:t>
            </a:r>
            <a:r>
              <a:rPr kumimoji="1" lang="en-US" altLang="zh-CN" sz="2000" b="1">
                <a:solidFill>
                  <a:srgbClr val="000000"/>
                </a:solidFill>
                <a:latin typeface="Times New Roman" pitchFamily="18" charset="0"/>
                <a:cs typeface="Times New Roman" pitchFamily="18" charset="0"/>
              </a:rPr>
              <a:t>1.2</a:t>
            </a:r>
            <a:r>
              <a:rPr kumimoji="1" lang="zh-CN" altLang="en-US"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I</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A</a:t>
            </a:r>
            <a:r>
              <a:rPr kumimoji="1" lang="en-US" altLang="zh-CN" sz="2000" b="1">
                <a:solidFill>
                  <a:srgbClr val="000000"/>
                </a:solidFill>
                <a:latin typeface="Times New Roman" pitchFamily="18" charset="0"/>
                <a:cs typeface="Times New Roman" pitchFamily="18" charset="0"/>
              </a:rPr>
              <a:t>=</a:t>
            </a:r>
            <a:r>
              <a:rPr kumimoji="1" lang="en-US" altLang="zh-CN" sz="2000" b="1" i="1">
                <a:solidFill>
                  <a:srgbClr val="000000"/>
                </a:solidFill>
                <a:latin typeface="Times New Roman" pitchFamily="18" charset="0"/>
                <a:cs typeface="Times New Roman" pitchFamily="18" charset="0"/>
              </a:rPr>
              <a:t>h</a:t>
            </a:r>
            <a:r>
              <a:rPr kumimoji="1" lang="en-US" altLang="zh-CN" sz="2000" b="1" baseline="30000">
                <a:solidFill>
                  <a:srgbClr val="000000"/>
                </a:solidFill>
                <a:latin typeface="Times New Roman" pitchFamily="18" charset="0"/>
                <a:cs typeface="Times New Roman" pitchFamily="18" charset="0"/>
              </a:rPr>
              <a:t>2</a:t>
            </a:r>
            <a:r>
              <a:rPr kumimoji="1" lang="en-US" altLang="zh-CN" sz="2000" b="1">
                <a:solidFill>
                  <a:srgbClr val="000000"/>
                </a:solidFill>
                <a:latin typeface="Times New Roman" pitchFamily="18" charset="0"/>
                <a:cs typeface="Times New Roman" pitchFamily="18" charset="0"/>
              </a:rPr>
              <a:t>/12</a:t>
            </a:r>
            <a:r>
              <a:rPr kumimoji="1" lang="zh-CN" altLang="en-US" sz="2000" b="1">
                <a:solidFill>
                  <a:srgbClr val="000000"/>
                </a:solidFill>
                <a:latin typeface="Times New Roman" pitchFamily="18" charset="0"/>
                <a:cs typeface="Times New Roman" pitchFamily="18" charset="0"/>
              </a:rPr>
              <a:t>。各</a:t>
            </a:r>
            <a:r>
              <a:rPr kumimoji="1" lang="zh-CN" altLang="en-US" sz="2000" b="1">
                <a:solidFill>
                  <a:srgbClr val="000000"/>
                </a:solidFill>
                <a:latin typeface="+mn-ea"/>
              </a:rPr>
              <a:t>种变形的贡献：</a:t>
            </a:r>
            <a:endParaRPr kumimoji="1" lang="en-US" altLang="zh-CN" sz="2000" b="1">
              <a:solidFill>
                <a:srgbClr val="000000"/>
              </a:solidFill>
              <a:latin typeface="+mn-ea"/>
            </a:endParaRPr>
          </a:p>
        </p:txBody>
      </p:sp>
      <p:graphicFrame>
        <p:nvGraphicFramePr>
          <p:cNvPr id="105" name="表格 104"/>
          <p:cNvGraphicFramePr>
            <a:graphicFrameLocks noGrp="1"/>
          </p:cNvGraphicFramePr>
          <p:nvPr/>
        </p:nvGraphicFramePr>
        <p:xfrm>
          <a:off x="418943" y="4144382"/>
          <a:ext cx="5857916" cy="2358636"/>
        </p:xfrm>
        <a:graphic>
          <a:graphicData uri="http://schemas.openxmlformats.org/drawingml/2006/table">
            <a:tbl>
              <a:tblPr firstRow="1" bandRow="1">
                <a:tableStyleId>{5C22544A-7EE6-4342-B048-85BDC9FD1C3A}</a:tableStyleId>
              </a:tblPr>
              <a:tblGrid>
                <a:gridCol w="1152661">
                  <a:extLst>
                    <a:ext uri="{9D8B030D-6E8A-4147-A177-3AD203B41FA5}">
                      <a16:colId xmlns:a16="http://schemas.microsoft.com/office/drawing/2014/main" val="20000"/>
                    </a:ext>
                  </a:extLst>
                </a:gridCol>
                <a:gridCol w="1785950">
                  <a:extLst>
                    <a:ext uri="{9D8B030D-6E8A-4147-A177-3AD203B41FA5}">
                      <a16:colId xmlns:a16="http://schemas.microsoft.com/office/drawing/2014/main" val="20001"/>
                    </a:ext>
                  </a:extLst>
                </a:gridCol>
                <a:gridCol w="2919305">
                  <a:extLst>
                    <a:ext uri="{9D8B030D-6E8A-4147-A177-3AD203B41FA5}">
                      <a16:colId xmlns:a16="http://schemas.microsoft.com/office/drawing/2014/main" val="20002"/>
                    </a:ext>
                  </a:extLst>
                </a:gridCol>
              </a:tblGrid>
              <a:tr h="388630">
                <a:tc>
                  <a:txBody>
                    <a:bodyPr/>
                    <a:lstStyle/>
                    <a:p>
                      <a:pPr algn="ctr"/>
                      <a:r>
                        <a:rPr lang="zh-CN" altLang="en-US">
                          <a:solidFill>
                            <a:schemeClr val="tx1"/>
                          </a:solidFill>
                        </a:rPr>
                        <a:t>变形类型</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zh-CN" altLang="en-US">
                          <a:solidFill>
                            <a:schemeClr val="tx1"/>
                          </a:solidFill>
                        </a:rPr>
                        <a:t>位移贡献</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r>
                        <a:rPr lang="el-GR" altLang="zh-CN" sz="1800" b="1" i="1">
                          <a:solidFill>
                            <a:schemeClr val="tx1"/>
                          </a:solidFill>
                          <a:latin typeface="Times New Roman" pitchFamily="18" charset="0"/>
                          <a:cs typeface="Times New Roman" pitchFamily="18" charset="0"/>
                        </a:rPr>
                        <a:t>Δ</a:t>
                      </a:r>
                      <a:r>
                        <a:rPr lang="en-US" altLang="zh-CN" sz="1800" b="1" i="0">
                          <a:solidFill>
                            <a:schemeClr val="tx1"/>
                          </a:solidFill>
                          <a:latin typeface="Times New Roman" pitchFamily="18" charset="0"/>
                          <a:cs typeface="Times New Roman" pitchFamily="18" charset="0"/>
                        </a:rPr>
                        <a:t>/</a:t>
                      </a:r>
                      <a:r>
                        <a:rPr lang="el-GR" altLang="zh-CN" sz="1800" b="1" i="1">
                          <a:solidFill>
                            <a:schemeClr val="tx1"/>
                          </a:solidFill>
                          <a:latin typeface="Times New Roman" pitchFamily="18" charset="0"/>
                          <a:cs typeface="Times New Roman" pitchFamily="18" charset="0"/>
                        </a:rPr>
                        <a:t>Δ</a:t>
                      </a:r>
                      <a:r>
                        <a:rPr lang="en-US" altLang="zh-CN" sz="1800" b="1" baseline="-25000">
                          <a:solidFill>
                            <a:schemeClr val="tx1"/>
                          </a:solidFill>
                          <a:latin typeface="Times New Roman" pitchFamily="18" charset="0"/>
                          <a:cs typeface="Times New Roman" pitchFamily="18" charset="0"/>
                        </a:rPr>
                        <a:t>M</a:t>
                      </a:r>
                      <a:endParaRPr lang="zh-CN" altLang="en-US" baseline="0">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610500">
                <a:tc>
                  <a:txBody>
                    <a:bodyPr/>
                    <a:lstStyle/>
                    <a:p>
                      <a:pPr algn="ctr"/>
                      <a:r>
                        <a:rPr lang="zh-CN" altLang="en-US" b="1">
                          <a:solidFill>
                            <a:schemeClr val="tx1"/>
                          </a:solidFill>
                        </a:rPr>
                        <a:t>弯曲</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0">
                          <a:solidFill>
                            <a:schemeClr val="tx1"/>
                          </a:solidFill>
                          <a:latin typeface="Times New Roman" pitchFamily="18" charset="0"/>
                          <a:cs typeface="Times New Roman" pitchFamily="18" charset="0"/>
                        </a:rPr>
                        <a:t>1</a:t>
                      </a:r>
                      <a:r>
                        <a:rPr lang="zh-CN" altLang="en-US" b="0">
                          <a:solidFill>
                            <a:schemeClr val="tx1"/>
                          </a:solidFill>
                          <a:latin typeface="Times New Roman" pitchFamily="18" charset="0"/>
                          <a:cs typeface="Times New Roman" pitchFamily="18" charset="0"/>
                        </a:rPr>
                        <a:t>，</a:t>
                      </a:r>
                      <a:r>
                        <a:rPr lang="el-GR" altLang="zh-CN" sz="1800" b="0" i="1">
                          <a:solidFill>
                            <a:schemeClr val="tx1"/>
                          </a:solidFill>
                          <a:latin typeface="Times New Roman" pitchFamily="18" charset="0"/>
                          <a:cs typeface="Times New Roman" pitchFamily="18" charset="0"/>
                        </a:rPr>
                        <a:t>Δ</a:t>
                      </a:r>
                      <a:r>
                        <a:rPr lang="en-US" altLang="zh-CN" sz="1800" b="0" i="0" baseline="-25000">
                          <a:solidFill>
                            <a:schemeClr val="tx1"/>
                          </a:solidFill>
                          <a:latin typeface="Times New Roman" pitchFamily="18" charset="0"/>
                          <a:cs typeface="Times New Roman" pitchFamily="18" charset="0"/>
                        </a:rPr>
                        <a:t>M</a:t>
                      </a:r>
                      <a:r>
                        <a:rPr lang="en-US" altLang="zh-CN" sz="1800" b="0" i="0">
                          <a:solidFill>
                            <a:schemeClr val="tx1"/>
                          </a:solidFill>
                          <a:latin typeface="Times New Roman" pitchFamily="18" charset="0"/>
                          <a:cs typeface="Times New Roman" pitchFamily="18" charset="0"/>
                        </a:rPr>
                        <a:t>/</a:t>
                      </a:r>
                      <a:r>
                        <a:rPr lang="el-GR" altLang="zh-CN" sz="1800" b="0" i="1">
                          <a:solidFill>
                            <a:schemeClr val="tx1"/>
                          </a:solidFill>
                          <a:latin typeface="Times New Roman" pitchFamily="18" charset="0"/>
                          <a:cs typeface="Times New Roman" pitchFamily="18" charset="0"/>
                        </a:rPr>
                        <a:t>Δ</a:t>
                      </a:r>
                      <a:r>
                        <a:rPr lang="en-US" altLang="zh-CN" sz="1800" b="0" i="0" baseline="30000">
                          <a:solidFill>
                            <a:schemeClr val="tx1"/>
                          </a:solidFill>
                          <a:latin typeface="Times New Roman" pitchFamily="18" charset="0"/>
                          <a:cs typeface="Times New Roman" pitchFamily="18" charset="0"/>
                        </a:rPr>
                        <a:t>0</a:t>
                      </a:r>
                      <a:r>
                        <a:rPr lang="en-US" altLang="zh-CN" sz="1800" b="0" baseline="-25000">
                          <a:solidFill>
                            <a:schemeClr val="tx1"/>
                          </a:solidFill>
                          <a:latin typeface="Times New Roman" pitchFamily="18" charset="0"/>
                          <a:cs typeface="Times New Roman" pitchFamily="18" charset="0"/>
                        </a:rPr>
                        <a:t>M</a:t>
                      </a:r>
                      <a:r>
                        <a:rPr lang="en-US" altLang="zh-CN" sz="1800" b="1" baseline="-25000">
                          <a:solidFill>
                            <a:schemeClr val="tx1"/>
                          </a:solidFill>
                          <a:latin typeface="Times New Roman" pitchFamily="18" charset="0"/>
                          <a:cs typeface="Times New Roman" pitchFamily="18" charset="0"/>
                        </a:rPr>
                        <a:t> </a:t>
                      </a:r>
                      <a:r>
                        <a:rPr lang="en-US" altLang="zh-CN" sz="1800" b="1" i="0">
                          <a:solidFill>
                            <a:schemeClr val="tx1"/>
                          </a:solidFill>
                          <a:latin typeface="Times New Roman" pitchFamily="18" charset="0"/>
                          <a:cs typeface="Times New Roman" pitchFamily="18" charset="0"/>
                        </a:rPr>
                        <a:t>= </a:t>
                      </a:r>
                      <a:r>
                        <a:rPr lang="en-US" altLang="zh-CN" sz="1800" b="0" i="0">
                          <a:solidFill>
                            <a:schemeClr val="tx1"/>
                          </a:solidFill>
                          <a:latin typeface="Times New Roman" pitchFamily="18" charset="0"/>
                          <a:cs typeface="Times New Roman" pitchFamily="18" charset="0"/>
                        </a:rPr>
                        <a:t>10.6%</a:t>
                      </a:r>
                      <a:endParaRPr lang="zh-CN" altLang="en-US" b="1">
                        <a:solidFill>
                          <a:schemeClr val="tx1"/>
                        </a:solidFill>
                        <a:latin typeface="Times New Roman" pitchFamily="18" charset="0"/>
                        <a:cs typeface="Times New Roman" pitchFamily="18"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679753">
                <a:tc>
                  <a:txBody>
                    <a:bodyPr/>
                    <a:lstStyle/>
                    <a:p>
                      <a:pPr algn="ctr"/>
                      <a:r>
                        <a:rPr lang="zh-CN" altLang="en-US" b="1">
                          <a:solidFill>
                            <a:schemeClr val="tx1"/>
                          </a:solidFill>
                        </a:rPr>
                        <a:t>拉伸</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679753">
                <a:tc>
                  <a:txBody>
                    <a:bodyPr/>
                    <a:lstStyle/>
                    <a:p>
                      <a:pPr algn="ctr"/>
                      <a:r>
                        <a:rPr lang="zh-CN" altLang="en-US" b="1">
                          <a:solidFill>
                            <a:schemeClr val="tx1"/>
                          </a:solidFill>
                        </a:rPr>
                        <a:t>剪切</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FFFF"/>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a:solidFill>
                          <a:schemeClr val="tx1"/>
                        </a:solidFill>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graphicFrame>
        <p:nvGraphicFramePr>
          <p:cNvPr id="476164" name="Object 4"/>
          <p:cNvGraphicFramePr>
            <a:graphicFrameLocks noChangeAspect="1"/>
          </p:cNvGraphicFramePr>
          <p:nvPr/>
        </p:nvGraphicFramePr>
        <p:xfrm>
          <a:off x="1645746" y="4521759"/>
          <a:ext cx="1671638" cy="649287"/>
        </p:xfrm>
        <a:graphic>
          <a:graphicData uri="http://schemas.openxmlformats.org/presentationml/2006/ole">
            <mc:AlternateContent xmlns:mc="http://schemas.openxmlformats.org/markup-compatibility/2006">
              <mc:Choice xmlns:v="urn:schemas-microsoft-com:vml" Requires="v">
                <p:oleObj spid="_x0000_s476169" name="Equation" r:id="rId4" imgW="1079280" imgH="419040" progId="Equation.DSMT4">
                  <p:embed/>
                </p:oleObj>
              </mc:Choice>
              <mc:Fallback>
                <p:oleObj name="Equation" r:id="rId4" imgW="1079280" imgH="419040" progId="Equation.DSMT4">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5746" y="4521759"/>
                        <a:ext cx="1671638"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6165" name="Object 5"/>
          <p:cNvGraphicFramePr>
            <a:graphicFrameLocks noChangeAspect="1"/>
          </p:cNvGraphicFramePr>
          <p:nvPr/>
        </p:nvGraphicFramePr>
        <p:xfrm>
          <a:off x="1633389" y="5145431"/>
          <a:ext cx="1714500" cy="649287"/>
        </p:xfrm>
        <a:graphic>
          <a:graphicData uri="http://schemas.openxmlformats.org/presentationml/2006/ole">
            <mc:AlternateContent xmlns:mc="http://schemas.openxmlformats.org/markup-compatibility/2006">
              <mc:Choice xmlns:v="urn:schemas-microsoft-com:vml" Requires="v">
                <p:oleObj spid="_x0000_s476170" name="Equation" r:id="rId6" imgW="1104840" imgH="419040" progId="Equation.DSMT4">
                  <p:embed/>
                </p:oleObj>
              </mc:Choice>
              <mc:Fallback>
                <p:oleObj name="Equation" r:id="rId6" imgW="1104840" imgH="419040" progId="Equation.DSMT4">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3389" y="5145431"/>
                        <a:ext cx="17145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6166" name="Object 6"/>
          <p:cNvGraphicFramePr>
            <a:graphicFrameLocks noChangeAspect="1"/>
          </p:cNvGraphicFramePr>
          <p:nvPr/>
        </p:nvGraphicFramePr>
        <p:xfrm>
          <a:off x="3441349" y="5128113"/>
          <a:ext cx="2582863" cy="727075"/>
        </p:xfrm>
        <a:graphic>
          <a:graphicData uri="http://schemas.openxmlformats.org/presentationml/2006/ole">
            <mc:AlternateContent xmlns:mc="http://schemas.openxmlformats.org/markup-compatibility/2006">
              <mc:Choice xmlns:v="urn:schemas-microsoft-com:vml" Requires="v">
                <p:oleObj spid="_x0000_s476171" name="Equation" r:id="rId8" imgW="1663560" imgH="469800" progId="Equation.DSMT4">
                  <p:embed/>
                </p:oleObj>
              </mc:Choice>
              <mc:Fallback>
                <p:oleObj name="Equation" r:id="rId8" imgW="1663560" imgH="469800" progId="Equation.DSMT4">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1349" y="5128113"/>
                        <a:ext cx="2582863"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6167" name="Object 7"/>
          <p:cNvGraphicFramePr>
            <a:graphicFrameLocks noChangeAspect="1"/>
          </p:cNvGraphicFramePr>
          <p:nvPr/>
        </p:nvGraphicFramePr>
        <p:xfrm>
          <a:off x="1643042" y="5824538"/>
          <a:ext cx="1692275" cy="649287"/>
        </p:xfrm>
        <a:graphic>
          <a:graphicData uri="http://schemas.openxmlformats.org/presentationml/2006/ole">
            <mc:AlternateContent xmlns:mc="http://schemas.openxmlformats.org/markup-compatibility/2006">
              <mc:Choice xmlns:v="urn:schemas-microsoft-com:vml" Requires="v">
                <p:oleObj spid="_x0000_s476172" name="Equation" r:id="rId10" imgW="1091880" imgH="419040" progId="Equation.DSMT4">
                  <p:embed/>
                </p:oleObj>
              </mc:Choice>
              <mc:Fallback>
                <p:oleObj name="Equation" r:id="rId10" imgW="1091880" imgH="41904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43042" y="5824538"/>
                        <a:ext cx="1692275" cy="6492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6168" name="Object 8"/>
          <p:cNvGraphicFramePr>
            <a:graphicFrameLocks noChangeAspect="1"/>
          </p:cNvGraphicFramePr>
          <p:nvPr/>
        </p:nvGraphicFramePr>
        <p:xfrm>
          <a:off x="3401338" y="5822264"/>
          <a:ext cx="2838450" cy="727075"/>
        </p:xfrm>
        <a:graphic>
          <a:graphicData uri="http://schemas.openxmlformats.org/presentationml/2006/ole">
            <mc:AlternateContent xmlns:mc="http://schemas.openxmlformats.org/markup-compatibility/2006">
              <mc:Choice xmlns:v="urn:schemas-microsoft-com:vml" Requires="v">
                <p:oleObj spid="_x0000_s476173" name="Equation" r:id="rId12" imgW="1828800" imgH="469800" progId="Equation.DSMT4">
                  <p:embed/>
                </p:oleObj>
              </mc:Choice>
              <mc:Fallback>
                <p:oleObj name="Equation" r:id="rId12" imgW="1828800" imgH="469800" progId="Equation.DSMT4">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1338" y="5822264"/>
                        <a:ext cx="283845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box(in)">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 calcmode="lin" valueType="num">
                                      <p:cBhvr additive="base">
                                        <p:cTn id="12" dur="500" fill="hold"/>
                                        <p:tgtEl>
                                          <p:spTgt spid="105"/>
                                        </p:tgtEl>
                                        <p:attrNameLst>
                                          <p:attrName>ppt_x</p:attrName>
                                        </p:attrNameLst>
                                      </p:cBhvr>
                                      <p:tavLst>
                                        <p:tav tm="0">
                                          <p:val>
                                            <p:strVal val="#ppt_x"/>
                                          </p:val>
                                        </p:tav>
                                        <p:tav tm="100000">
                                          <p:val>
                                            <p:strVal val="#ppt_x"/>
                                          </p:val>
                                        </p:tav>
                                      </p:tavLst>
                                    </p:anim>
                                    <p:anim calcmode="lin" valueType="num">
                                      <p:cBhvr additive="base">
                                        <p:cTn id="13"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76164"/>
                                        </p:tgtEl>
                                        <p:attrNameLst>
                                          <p:attrName>style.visibility</p:attrName>
                                        </p:attrNameLst>
                                      </p:cBhvr>
                                      <p:to>
                                        <p:strVal val="visible"/>
                                      </p:to>
                                    </p:set>
                                    <p:animEffect transition="in" filter="wipe(left)">
                                      <p:cBhvr>
                                        <p:cTn id="18" dur="500"/>
                                        <p:tgtEl>
                                          <p:spTgt spid="47616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76165"/>
                                        </p:tgtEl>
                                        <p:attrNameLst>
                                          <p:attrName>style.visibility</p:attrName>
                                        </p:attrNameLst>
                                      </p:cBhvr>
                                      <p:to>
                                        <p:strVal val="visible"/>
                                      </p:to>
                                    </p:set>
                                    <p:anim calcmode="lin" valueType="num">
                                      <p:cBhvr additive="base">
                                        <p:cTn id="23" dur="500" fill="hold"/>
                                        <p:tgtEl>
                                          <p:spTgt spid="476165"/>
                                        </p:tgtEl>
                                        <p:attrNameLst>
                                          <p:attrName>ppt_x</p:attrName>
                                        </p:attrNameLst>
                                      </p:cBhvr>
                                      <p:tavLst>
                                        <p:tav tm="0">
                                          <p:val>
                                            <p:strVal val="#ppt_x"/>
                                          </p:val>
                                        </p:tav>
                                        <p:tav tm="100000">
                                          <p:val>
                                            <p:strVal val="#ppt_x"/>
                                          </p:val>
                                        </p:tav>
                                      </p:tavLst>
                                    </p:anim>
                                    <p:anim calcmode="lin" valueType="num">
                                      <p:cBhvr additive="base">
                                        <p:cTn id="24" dur="500" fill="hold"/>
                                        <p:tgtEl>
                                          <p:spTgt spid="47616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76166"/>
                                        </p:tgtEl>
                                        <p:attrNameLst>
                                          <p:attrName>style.visibility</p:attrName>
                                        </p:attrNameLst>
                                      </p:cBhvr>
                                      <p:to>
                                        <p:strVal val="visible"/>
                                      </p:to>
                                    </p:set>
                                    <p:anim calcmode="lin" valueType="num">
                                      <p:cBhvr additive="base">
                                        <p:cTn id="29" dur="500" fill="hold"/>
                                        <p:tgtEl>
                                          <p:spTgt spid="476166"/>
                                        </p:tgtEl>
                                        <p:attrNameLst>
                                          <p:attrName>ppt_x</p:attrName>
                                        </p:attrNameLst>
                                      </p:cBhvr>
                                      <p:tavLst>
                                        <p:tav tm="0">
                                          <p:val>
                                            <p:strVal val="#ppt_x"/>
                                          </p:val>
                                        </p:tav>
                                        <p:tav tm="100000">
                                          <p:val>
                                            <p:strVal val="#ppt_x"/>
                                          </p:val>
                                        </p:tav>
                                      </p:tavLst>
                                    </p:anim>
                                    <p:anim calcmode="lin" valueType="num">
                                      <p:cBhvr additive="base">
                                        <p:cTn id="30" dur="500" fill="hold"/>
                                        <p:tgtEl>
                                          <p:spTgt spid="47616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76167"/>
                                        </p:tgtEl>
                                        <p:attrNameLst>
                                          <p:attrName>style.visibility</p:attrName>
                                        </p:attrNameLst>
                                      </p:cBhvr>
                                      <p:to>
                                        <p:strVal val="visible"/>
                                      </p:to>
                                    </p:set>
                                    <p:anim calcmode="lin" valueType="num">
                                      <p:cBhvr additive="base">
                                        <p:cTn id="35" dur="500" fill="hold"/>
                                        <p:tgtEl>
                                          <p:spTgt spid="476167"/>
                                        </p:tgtEl>
                                        <p:attrNameLst>
                                          <p:attrName>ppt_x</p:attrName>
                                        </p:attrNameLst>
                                      </p:cBhvr>
                                      <p:tavLst>
                                        <p:tav tm="0">
                                          <p:val>
                                            <p:strVal val="#ppt_x"/>
                                          </p:val>
                                        </p:tav>
                                        <p:tav tm="100000">
                                          <p:val>
                                            <p:strVal val="#ppt_x"/>
                                          </p:val>
                                        </p:tav>
                                      </p:tavLst>
                                    </p:anim>
                                    <p:anim calcmode="lin" valueType="num">
                                      <p:cBhvr additive="base">
                                        <p:cTn id="36" dur="500" fill="hold"/>
                                        <p:tgtEl>
                                          <p:spTgt spid="47616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76168"/>
                                        </p:tgtEl>
                                        <p:attrNameLst>
                                          <p:attrName>style.visibility</p:attrName>
                                        </p:attrNameLst>
                                      </p:cBhvr>
                                      <p:to>
                                        <p:strVal val="visible"/>
                                      </p:to>
                                    </p:set>
                                    <p:anim calcmode="lin" valueType="num">
                                      <p:cBhvr additive="base">
                                        <p:cTn id="41" dur="500" fill="hold"/>
                                        <p:tgtEl>
                                          <p:spTgt spid="476168"/>
                                        </p:tgtEl>
                                        <p:attrNameLst>
                                          <p:attrName>ppt_x</p:attrName>
                                        </p:attrNameLst>
                                      </p:cBhvr>
                                      <p:tavLst>
                                        <p:tav tm="0">
                                          <p:val>
                                            <p:strVal val="#ppt_x"/>
                                          </p:val>
                                        </p:tav>
                                        <p:tav tm="100000">
                                          <p:val>
                                            <p:strVal val="#ppt_x"/>
                                          </p:val>
                                        </p:tav>
                                      </p:tavLst>
                                    </p:anim>
                                    <p:anim calcmode="lin" valueType="num">
                                      <p:cBhvr additive="base">
                                        <p:cTn id="42" dur="500" fill="hold"/>
                                        <p:tgtEl>
                                          <p:spTgt spid="476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各类结构的位移公式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荷载作用下的位移计算及举例</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714488"/>
            <a:ext cx="560265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a:t>
            </a:r>
            <a:r>
              <a:rPr kumimoji="1" lang="zh-CN" altLang="en-US" sz="2000" b="1">
                <a:solidFill>
                  <a:srgbClr val="000000"/>
                </a:solidFill>
                <a:latin typeface="+mn-ea"/>
              </a:rPr>
              <a:t>如图所示为一等截面半圆形拱</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，截面为矩形，</a:t>
            </a:r>
            <a:r>
              <a:rPr kumimoji="1" lang="en-US" altLang="zh-CN" sz="2000" b="1" i="1">
                <a:solidFill>
                  <a:srgbClr val="000000"/>
                </a:solidFill>
                <a:latin typeface="Times New Roman" pitchFamily="18" charset="0"/>
                <a:ea typeface="楷体_GB2312" pitchFamily="49" charset="-122"/>
              </a:rPr>
              <a:t>ABC</a:t>
            </a:r>
            <a:r>
              <a:rPr kumimoji="1" lang="zh-CN" altLang="en-US" sz="2000" b="1">
                <a:solidFill>
                  <a:srgbClr val="000000"/>
                </a:solidFill>
                <a:latin typeface="+mn-ea"/>
              </a:rPr>
              <a:t>的圆心角为</a:t>
            </a:r>
            <a:r>
              <a:rPr kumimoji="1" lang="en-US" altLang="zh-CN" sz="2000" b="1">
                <a:solidFill>
                  <a:srgbClr val="000000"/>
                </a:solidFill>
                <a:latin typeface="Times New Roman" pitchFamily="18" charset="0"/>
                <a:cs typeface="Times New Roman" pitchFamily="18" charset="0"/>
              </a:rPr>
              <a:t>2</a:t>
            </a:r>
            <a:r>
              <a:rPr kumimoji="1" lang="en-US" altLang="zh-CN" sz="2000" b="1" i="1">
                <a:latin typeface="Times New Roman" pitchFamily="18" charset="0"/>
                <a:ea typeface="幼圆" pitchFamily="49" charset="-122"/>
                <a:cs typeface="Times New Roman" pitchFamily="18" charset="0"/>
              </a:rPr>
              <a:t>φ</a:t>
            </a:r>
            <a:r>
              <a:rPr kumimoji="1" lang="en-US" altLang="zh-CN" sz="2000" b="1" baseline="-25000">
                <a:latin typeface="Times New Roman" pitchFamily="18" charset="0"/>
                <a:ea typeface="楷体_GB2312" pitchFamily="49" charset="-122"/>
                <a:cs typeface="Times New Roman" pitchFamily="18" charset="0"/>
              </a:rPr>
              <a:t>0</a:t>
            </a:r>
            <a:r>
              <a:rPr kumimoji="1" lang="en-US" altLang="zh-CN" sz="2000" b="1">
                <a:latin typeface="Times New Roman" pitchFamily="18" charset="0"/>
                <a:ea typeface="楷体_GB2312" pitchFamily="49" charset="-122"/>
                <a:cs typeface="Times New Roman" pitchFamily="18" charset="0"/>
              </a:rPr>
              <a:t>=180°</a:t>
            </a:r>
            <a:r>
              <a:rPr kumimoji="1" lang="zh-CN" altLang="en-US" sz="2000" b="1">
                <a:solidFill>
                  <a:srgbClr val="000000"/>
                </a:solidFill>
                <a:latin typeface="宋体" charset="-122"/>
                <a:ea typeface="楷体_GB2312" pitchFamily="49" charset="-122"/>
              </a:rPr>
              <a:t>，</a:t>
            </a:r>
            <a:r>
              <a:rPr kumimoji="1" lang="zh-CN" altLang="en-US" sz="2000" b="1">
                <a:solidFill>
                  <a:srgbClr val="000000"/>
                </a:solidFill>
                <a:latin typeface="+mn-ea"/>
              </a:rPr>
              <a:t>半径为</a:t>
            </a:r>
            <a:r>
              <a:rPr kumimoji="1" lang="en-US" altLang="zh-CN" sz="2000" b="1" i="1">
                <a:solidFill>
                  <a:srgbClr val="000000"/>
                </a:solidFill>
                <a:latin typeface="Times New Roman" pitchFamily="18" charset="0"/>
                <a:ea typeface="楷体_GB2312" pitchFamily="49" charset="-122"/>
                <a:cs typeface="Times New Roman" pitchFamily="18" charset="0"/>
              </a:rPr>
              <a:t>r</a:t>
            </a:r>
            <a:r>
              <a:rPr kumimoji="1" lang="zh-CN" altLang="en-US" sz="2000" b="1">
                <a:solidFill>
                  <a:srgbClr val="000000"/>
                </a:solidFill>
                <a:latin typeface="+mn-ea"/>
                <a:cs typeface="Times New Roman" pitchFamily="18" charset="0"/>
              </a:rPr>
              <a:t>。设均布竖向荷载</a:t>
            </a:r>
            <a:r>
              <a:rPr kumimoji="1" lang="zh-CN" altLang="en-US" sz="2000" b="1" baseline="-25000">
                <a:solidFill>
                  <a:srgbClr val="000000"/>
                </a:solidFill>
                <a:latin typeface="+mn-ea"/>
                <a:cs typeface="Times New Roman" pitchFamily="18" charset="0"/>
              </a:rPr>
              <a:t> </a:t>
            </a:r>
            <a:r>
              <a:rPr kumimoji="1" lang="en-US" altLang="zh-CN" sz="2000" b="1" i="1">
                <a:latin typeface="Times New Roman" pitchFamily="18" charset="0"/>
                <a:ea typeface="楷体_GB2312" pitchFamily="49" charset="-122"/>
              </a:rPr>
              <a:t>q</a:t>
            </a:r>
            <a:r>
              <a:rPr kumimoji="1" lang="en-US" altLang="zh-CN" sz="2000" b="1" i="1" baseline="-25000">
                <a:latin typeface="Times New Roman" pitchFamily="18" charset="0"/>
                <a:ea typeface="楷体_GB2312" pitchFamily="49" charset="-122"/>
              </a:rPr>
              <a:t> </a:t>
            </a:r>
            <a:r>
              <a:rPr kumimoji="1" lang="zh-CN" altLang="en-US" sz="2000" b="1">
                <a:solidFill>
                  <a:srgbClr val="000000"/>
                </a:solidFill>
                <a:latin typeface="+mn-ea"/>
              </a:rPr>
              <a:t>沿水平线分布。</a:t>
            </a:r>
            <a:r>
              <a:rPr lang="zh-CN" altLang="en-US" sz="2000" b="1">
                <a:latin typeface="Times New Roman" pitchFamily="18" charset="0"/>
                <a:cs typeface="Times New Roman" pitchFamily="18" charset="0"/>
              </a:rPr>
              <a:t>试求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en-US" altLang="zh-CN" sz="2000" b="1" baseline="-25000">
                <a:latin typeface="Times New Roman" pitchFamily="18" charset="0"/>
                <a:cs typeface="Times New Roman" pitchFamily="18" charset="0"/>
              </a:rPr>
              <a:t>V</a:t>
            </a:r>
            <a:r>
              <a:rPr kumimoji="1" lang="zh-CN" altLang="en-US" sz="2000" b="1">
                <a:solidFill>
                  <a:srgbClr val="000000"/>
                </a:solidFill>
                <a:latin typeface="+mn-ea"/>
              </a:rPr>
              <a:t>。</a:t>
            </a:r>
            <a:endParaRPr lang="en-US" altLang="zh-CN" sz="2000" b="1">
              <a:latin typeface="Times New Roman" pitchFamily="18" charset="0"/>
              <a:cs typeface="Times New Roman" pitchFamily="18" charset="0"/>
            </a:endParaRPr>
          </a:p>
        </p:txBody>
      </p:sp>
      <p:grpSp>
        <p:nvGrpSpPr>
          <p:cNvPr id="4" name="组合 194"/>
          <p:cNvGrpSpPr/>
          <p:nvPr/>
        </p:nvGrpSpPr>
        <p:grpSpPr>
          <a:xfrm>
            <a:off x="6333236" y="1208269"/>
            <a:ext cx="3712596" cy="4506747"/>
            <a:chOff x="6333236" y="1208269"/>
            <a:chExt cx="3712596" cy="4506747"/>
          </a:xfrm>
        </p:grpSpPr>
        <p:grpSp>
          <p:nvGrpSpPr>
            <p:cNvPr id="5" name="组合 139"/>
            <p:cNvGrpSpPr/>
            <p:nvPr/>
          </p:nvGrpSpPr>
          <p:grpSpPr>
            <a:xfrm>
              <a:off x="6333236" y="1208269"/>
              <a:ext cx="3712596" cy="4506747"/>
              <a:chOff x="6333236" y="1208269"/>
              <a:chExt cx="3712596" cy="4506747"/>
            </a:xfrm>
          </p:grpSpPr>
          <p:grpSp>
            <p:nvGrpSpPr>
              <p:cNvPr id="6" name="组合 81"/>
              <p:cNvGrpSpPr/>
              <p:nvPr/>
            </p:nvGrpSpPr>
            <p:grpSpPr>
              <a:xfrm>
                <a:off x="6392317" y="1208269"/>
                <a:ext cx="3653515" cy="4506747"/>
                <a:chOff x="820153" y="3596820"/>
                <a:chExt cx="3653515" cy="4506747"/>
              </a:xfrm>
            </p:grpSpPr>
            <p:sp>
              <p:nvSpPr>
                <p:cNvPr id="83" name="弧形 82"/>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84" name="直接连接符 83"/>
                <p:cNvCxnSpPr>
                  <a:stCxn id="83" idx="1"/>
                  <a:endCxn id="83"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 name="组合 40"/>
                <p:cNvGrpSpPr/>
                <p:nvPr/>
              </p:nvGrpSpPr>
              <p:grpSpPr>
                <a:xfrm>
                  <a:off x="830330" y="5399120"/>
                  <a:ext cx="406704" cy="303260"/>
                  <a:chOff x="1000100" y="4582205"/>
                  <a:chExt cx="406704" cy="303260"/>
                </a:xfrm>
              </p:grpSpPr>
              <p:sp>
                <p:nvSpPr>
                  <p:cNvPr id="117" name="等腰三角形 116"/>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118" name="直接连接符 117"/>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9" name="直接连接符 118"/>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直接连接符 120"/>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2" name="直接连接符 121"/>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椭圆 122"/>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4" name="椭圆 123"/>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5" name="椭圆 124"/>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86" name="TextBox 85"/>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87" name="TextBox 86"/>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88" name="弧形 87"/>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89" name="矩形 88"/>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90" name="直接连接符 89"/>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91" name="矩形 90"/>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92" name="TextBox 91"/>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93" name="直接连接符 92"/>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cxnSp>
              <p:nvCxnSpPr>
                <p:cNvPr id="94" name="直接连接符 93"/>
                <p:cNvCxnSpPr/>
                <p:nvPr/>
              </p:nvCxnSpPr>
              <p:spPr bwMode="auto">
                <a:xfrm flipV="1">
                  <a:off x="1022916" y="4345835"/>
                  <a:ext cx="1656000"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8" name="组合 162"/>
                <p:cNvGrpSpPr/>
                <p:nvPr/>
              </p:nvGrpSpPr>
              <p:grpSpPr>
                <a:xfrm>
                  <a:off x="1020865" y="3596820"/>
                  <a:ext cx="1643074" cy="747187"/>
                  <a:chOff x="1020865" y="3596820"/>
                  <a:chExt cx="1643074" cy="747187"/>
                </a:xfrm>
              </p:grpSpPr>
              <p:grpSp>
                <p:nvGrpSpPr>
                  <p:cNvPr id="9" name="组合 55"/>
                  <p:cNvGrpSpPr/>
                  <p:nvPr/>
                </p:nvGrpSpPr>
                <p:grpSpPr>
                  <a:xfrm>
                    <a:off x="1020865" y="3986854"/>
                    <a:ext cx="1643074" cy="357153"/>
                    <a:chOff x="1214414" y="2357430"/>
                    <a:chExt cx="3371651" cy="428628"/>
                  </a:xfrm>
                </p:grpSpPr>
                <p:cxnSp>
                  <p:nvCxnSpPr>
                    <p:cNvPr id="107" name="直接连接符 106"/>
                    <p:cNvCxnSpPr/>
                    <p:nvPr/>
                  </p:nvCxnSpPr>
                  <p:spPr bwMode="auto">
                    <a:xfrm>
                      <a:off x="1214414" y="2357430"/>
                      <a:ext cx="3371651" cy="1913"/>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08" name="直接箭头连接符 107"/>
                    <p:cNvCxnSpPr/>
                    <p:nvPr/>
                  </p:nvCxnSpPr>
                  <p:spPr bwMode="auto">
                    <a:xfrm rot="5400000">
                      <a:off x="1039088" y="2571744"/>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09" name="直接箭头连接符 108"/>
                    <p:cNvCxnSpPr/>
                    <p:nvPr/>
                  </p:nvCxnSpPr>
                  <p:spPr bwMode="auto">
                    <a:xfrm rot="5400000">
                      <a:off x="435848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0" name="直接箭头连接符 109"/>
                    <p:cNvCxnSpPr/>
                    <p:nvPr/>
                  </p:nvCxnSpPr>
                  <p:spPr bwMode="auto">
                    <a:xfrm rot="5400000">
                      <a:off x="271280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1" name="直接箭头连接符 110"/>
                    <p:cNvCxnSpPr/>
                    <p:nvPr/>
                  </p:nvCxnSpPr>
                  <p:spPr bwMode="auto">
                    <a:xfrm rot="5400000">
                      <a:off x="186949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2" name="直接箭头连接符 111"/>
                    <p:cNvCxnSpPr/>
                    <p:nvPr/>
                  </p:nvCxnSpPr>
                  <p:spPr bwMode="auto">
                    <a:xfrm rot="5400000">
                      <a:off x="3556412"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3" name="直接箭头连接符 112"/>
                    <p:cNvCxnSpPr/>
                    <p:nvPr/>
                  </p:nvCxnSpPr>
                  <p:spPr bwMode="auto">
                    <a:xfrm rot="5400000">
                      <a:off x="1440567"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4" name="直接箭头连接符 113"/>
                    <p:cNvCxnSpPr/>
                    <p:nvPr/>
                  </p:nvCxnSpPr>
                  <p:spPr bwMode="auto">
                    <a:xfrm rot="5400000">
                      <a:off x="2298120"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5" name="直接箭头连接符 114"/>
                    <p:cNvCxnSpPr/>
                    <p:nvPr/>
                  </p:nvCxnSpPr>
                  <p:spPr bwMode="auto">
                    <a:xfrm rot="5400000">
                      <a:off x="3127784"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cxnSp>
                  <p:nvCxnSpPr>
                    <p:cNvPr id="116" name="直接箭头连接符 115"/>
                    <p:cNvCxnSpPr/>
                    <p:nvPr/>
                  </p:nvCxnSpPr>
                  <p:spPr bwMode="auto">
                    <a:xfrm rot="5400000">
                      <a:off x="3971391" y="2570950"/>
                      <a:ext cx="427834" cy="794"/>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grpSp>
              <p:sp>
                <p:nvSpPr>
                  <p:cNvPr id="106" name="TextBox 93"/>
                  <p:cNvSpPr txBox="1"/>
                  <p:nvPr/>
                </p:nvSpPr>
                <p:spPr>
                  <a:xfrm>
                    <a:off x="1693816" y="3596820"/>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i="1">
                        <a:latin typeface="Times New Roman" pitchFamily="18" charset="0"/>
                        <a:cs typeface="Times New Roman" pitchFamily="18" charset="0"/>
                      </a:rPr>
                      <a:t>q</a:t>
                    </a:r>
                    <a:endParaRPr lang="zh-CN" altLang="en-US" sz="2000" b="1" i="1">
                      <a:latin typeface="Times New Roman" pitchFamily="18" charset="0"/>
                      <a:cs typeface="Times New Roman" pitchFamily="18" charset="0"/>
                    </a:endParaRPr>
                  </a:p>
                </p:txBody>
              </p:sp>
            </p:grpSp>
            <p:grpSp>
              <p:nvGrpSpPr>
                <p:cNvPr id="10" name="组合 176"/>
                <p:cNvGrpSpPr/>
                <p:nvPr/>
              </p:nvGrpSpPr>
              <p:grpSpPr>
                <a:xfrm rot="16200000">
                  <a:off x="2676393" y="4334811"/>
                  <a:ext cx="295201" cy="260087"/>
                  <a:chOff x="3276667" y="4826364"/>
                  <a:chExt cx="295201" cy="260087"/>
                </a:xfrm>
              </p:grpSpPr>
              <p:cxnSp>
                <p:nvCxnSpPr>
                  <p:cNvPr id="98" name="直接连接符 97"/>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1" name="组合 40"/>
                  <p:cNvGrpSpPr/>
                  <p:nvPr/>
                </p:nvGrpSpPr>
                <p:grpSpPr>
                  <a:xfrm>
                    <a:off x="3276667" y="4930194"/>
                    <a:ext cx="295201" cy="156257"/>
                    <a:chOff x="990651" y="4726077"/>
                    <a:chExt cx="295201" cy="156257"/>
                  </a:xfrm>
                </p:grpSpPr>
                <p:cxnSp>
                  <p:nvCxnSpPr>
                    <p:cNvPr id="100" name="直接连接符 99"/>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1" name="直接连接符 100"/>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2" name="直接连接符 101"/>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97" name="椭圆 96"/>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7" name="直接连接符 126"/>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箭头连接符 128"/>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3" name="TextBox 13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cxnSp>
            <p:nvCxnSpPr>
              <p:cNvPr id="135" name="直接连接符 134"/>
              <p:cNvCxnSpPr/>
              <p:nvPr/>
            </p:nvCxnSpPr>
            <p:spPr bwMode="auto">
              <a:xfrm rot="10800000">
                <a:off x="6537897" y="2557799"/>
                <a:ext cx="35719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箭头连接符 135"/>
              <p:cNvCxnSpPr/>
              <p:nvPr/>
            </p:nvCxnSpPr>
            <p:spPr bwMode="auto">
              <a:xfrm rot="5400000">
                <a:off x="6385782" y="2804950"/>
                <a:ext cx="468000"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139" name="矩形 138"/>
              <p:cNvSpPr/>
              <p:nvPr/>
            </p:nvSpPr>
            <p:spPr>
              <a:xfrm>
                <a:off x="6333236" y="2581612"/>
                <a:ext cx="287258" cy="369332"/>
              </a:xfrm>
              <a:prstGeom prst="rect">
                <a:avLst/>
              </a:prstGeom>
            </p:spPr>
            <p:txBody>
              <a:bodyPr wrap="none">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193" name="弧形 192"/>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4" name="矩形 193"/>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grpSp>
        <p:nvGrpSpPr>
          <p:cNvPr id="12" name="组合 195"/>
          <p:cNvGrpSpPr/>
          <p:nvPr/>
        </p:nvGrpSpPr>
        <p:grpSpPr>
          <a:xfrm>
            <a:off x="6382140" y="4000504"/>
            <a:ext cx="3653515" cy="4220995"/>
            <a:chOff x="6392317" y="1494021"/>
            <a:chExt cx="3653515" cy="4220995"/>
          </a:xfrm>
        </p:grpSpPr>
        <p:grpSp>
          <p:nvGrpSpPr>
            <p:cNvPr id="13" name="组合 139"/>
            <p:cNvGrpSpPr/>
            <p:nvPr/>
          </p:nvGrpSpPr>
          <p:grpSpPr>
            <a:xfrm>
              <a:off x="6392317" y="1494021"/>
              <a:ext cx="3653515" cy="4220995"/>
              <a:chOff x="6392317" y="1494021"/>
              <a:chExt cx="3653515" cy="4220995"/>
            </a:xfrm>
          </p:grpSpPr>
          <p:grpSp>
            <p:nvGrpSpPr>
              <p:cNvPr id="14" name="组合 81"/>
              <p:cNvGrpSpPr/>
              <p:nvPr/>
            </p:nvGrpSpPr>
            <p:grpSpPr>
              <a:xfrm>
                <a:off x="6392317" y="1494021"/>
                <a:ext cx="3653515" cy="4220995"/>
                <a:chOff x="820153" y="3882572"/>
                <a:chExt cx="3653515" cy="4220995"/>
              </a:xfrm>
            </p:grpSpPr>
            <p:sp>
              <p:nvSpPr>
                <p:cNvPr id="207" name="弧形 206"/>
                <p:cNvSpPr>
                  <a:spLocks noChangeAspect="1"/>
                </p:cNvSpPr>
                <p:nvPr/>
              </p:nvSpPr>
              <p:spPr bwMode="auto">
                <a:xfrm>
                  <a:off x="830330" y="4460229"/>
                  <a:ext cx="3643338" cy="3643338"/>
                </a:xfrm>
                <a:prstGeom prst="arc">
                  <a:avLst>
                    <a:gd name="adj1" fmla="val 12468429"/>
                    <a:gd name="adj2" fmla="val 16222327"/>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08" name="直接连接符 207"/>
                <p:cNvCxnSpPr>
                  <a:stCxn id="207" idx="1"/>
                  <a:endCxn id="207" idx="0"/>
                </p:cNvCxnSpPr>
                <p:nvPr/>
              </p:nvCxnSpPr>
              <p:spPr bwMode="auto">
                <a:xfrm rot="16200000" flipV="1">
                  <a:off x="1421444" y="5051343"/>
                  <a:ext cx="849803" cy="161130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15" name="组合 40"/>
                <p:cNvGrpSpPr/>
                <p:nvPr/>
              </p:nvGrpSpPr>
              <p:grpSpPr>
                <a:xfrm>
                  <a:off x="830330" y="5399120"/>
                  <a:ext cx="406704" cy="303260"/>
                  <a:chOff x="1000100" y="4582205"/>
                  <a:chExt cx="406704" cy="303260"/>
                </a:xfrm>
              </p:grpSpPr>
              <p:sp>
                <p:nvSpPr>
                  <p:cNvPr id="241" name="等腰三角形 240"/>
                  <p:cNvSpPr/>
                  <p:nvPr/>
                </p:nvSpPr>
                <p:spPr bwMode="auto">
                  <a:xfrm>
                    <a:off x="1100575" y="4615736"/>
                    <a:ext cx="214314" cy="170586"/>
                  </a:xfrm>
                  <a:prstGeom prst="triangle">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242" name="直接连接符 241"/>
                  <p:cNvCxnSpPr/>
                  <p:nvPr/>
                </p:nvCxnSpPr>
                <p:spPr bwMode="auto">
                  <a:xfrm>
                    <a:off x="1000100" y="4786322"/>
                    <a:ext cx="406704"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3" name="直接连接符 242"/>
                  <p:cNvCxnSpPr>
                    <a:cxnSpLocks noChangeAspect="1"/>
                  </p:cNvCxnSpPr>
                  <p:nvPr/>
                </p:nvCxnSpPr>
                <p:spPr bwMode="auto">
                  <a:xfrm rot="5400000" flipH="1" flipV="1">
                    <a:off x="1001204"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4" name="直接连接符 243"/>
                  <p:cNvCxnSpPr>
                    <a:cxnSpLocks noChangeAspect="1"/>
                  </p:cNvCxnSpPr>
                  <p:nvPr/>
                </p:nvCxnSpPr>
                <p:spPr bwMode="auto">
                  <a:xfrm rot="5400000" flipH="1" flipV="1">
                    <a:off x="109625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5" name="直接连接符 244"/>
                  <p:cNvCxnSpPr>
                    <a:cxnSpLocks noChangeAspect="1"/>
                  </p:cNvCxnSpPr>
                  <p:nvPr/>
                </p:nvCxnSpPr>
                <p:spPr bwMode="auto">
                  <a:xfrm rot="5400000" flipH="1" flipV="1">
                    <a:off x="1189619"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6" name="直接连接符 245"/>
                  <p:cNvCxnSpPr>
                    <a:cxnSpLocks noChangeAspect="1"/>
                  </p:cNvCxnSpPr>
                  <p:nvPr/>
                </p:nvCxnSpPr>
                <p:spPr bwMode="auto">
                  <a:xfrm rot="5400000" flipH="1" flipV="1">
                    <a:off x="1276678" y="4789233"/>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7" name="椭圆 246"/>
                  <p:cNvSpPr>
                    <a:spLocks noChangeAspect="1"/>
                  </p:cNvSpPr>
                  <p:nvPr/>
                </p:nvSpPr>
                <p:spPr bwMode="auto">
                  <a:xfrm>
                    <a:off x="1061875"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8" name="椭圆 247"/>
                  <p:cNvSpPr>
                    <a:spLocks noChangeAspect="1"/>
                  </p:cNvSpPr>
                  <p:nvPr/>
                </p:nvSpPr>
                <p:spPr bwMode="auto">
                  <a:xfrm>
                    <a:off x="1249290" y="4728480"/>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49" name="椭圆 248"/>
                  <p:cNvSpPr>
                    <a:spLocks noChangeAspect="1"/>
                  </p:cNvSpPr>
                  <p:nvPr/>
                </p:nvSpPr>
                <p:spPr bwMode="auto">
                  <a:xfrm>
                    <a:off x="1159971" y="4582205"/>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10" name="TextBox 209"/>
                <p:cNvSpPr txBox="1"/>
                <p:nvPr/>
              </p:nvSpPr>
              <p:spPr>
                <a:xfrm>
                  <a:off x="820153" y="563760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1" name="TextBox 210"/>
                <p:cNvSpPr txBox="1"/>
                <p:nvPr/>
              </p:nvSpPr>
              <p:spPr>
                <a:xfrm>
                  <a:off x="2929928" y="4245915"/>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212" name="弧形 211"/>
                <p:cNvSpPr>
                  <a:spLocks noChangeAspect="1"/>
                </p:cNvSpPr>
                <p:nvPr/>
              </p:nvSpPr>
              <p:spPr bwMode="auto">
                <a:xfrm>
                  <a:off x="2129661" y="5759560"/>
                  <a:ext cx="1071570" cy="1071570"/>
                </a:xfrm>
                <a:prstGeom prst="arc">
                  <a:avLst>
                    <a:gd name="adj1" fmla="val 12468429"/>
                    <a:gd name="adj2" fmla="val 16365367"/>
                  </a:avLst>
                </a:prstGeom>
                <a:noFill/>
                <a:ln w="28575" cap="flat" cmpd="sng" algn="ctr">
                  <a:solidFill>
                    <a:schemeClr val="tx1"/>
                  </a:solidFill>
                  <a:prstDash val="solid"/>
                  <a:round/>
                  <a:headEnd type="triangle" w="med" len="lg"/>
                  <a:tailEnd type="triangle" w="med" len="lg"/>
                </a:ln>
                <a:effectLst/>
              </p:spPr>
              <p:txBody>
                <a:bodyPr rtlCol="0" anchor="ctr"/>
                <a:lstStyle/>
                <a:p>
                  <a:pPr algn="ctr"/>
                  <a:endParaRPr lang="zh-CN" altLang="en-US"/>
                </a:p>
              </p:txBody>
            </p:sp>
            <p:sp>
              <p:nvSpPr>
                <p:cNvPr id="213" name="矩形 212"/>
                <p:cNvSpPr/>
                <p:nvPr/>
              </p:nvSpPr>
              <p:spPr>
                <a:xfrm>
                  <a:off x="2214546" y="5357826"/>
                  <a:ext cx="46358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r>
                    <a:rPr kumimoji="1" lang="en-US" altLang="zh-CN" sz="2000" b="1" baseline="-25000">
                      <a:solidFill>
                        <a:srgbClr val="000000"/>
                      </a:solidFill>
                      <a:latin typeface="Times New Roman" pitchFamily="18" charset="0"/>
                      <a:ea typeface="楷体_GB2312" pitchFamily="49" charset="-122"/>
                      <a:cs typeface="Times New Roman" pitchFamily="18" charset="0"/>
                    </a:rPr>
                    <a:t>0 </a:t>
                  </a:r>
                  <a:endParaRPr lang="zh-CN" altLang="en-US"/>
                </a:p>
              </p:txBody>
            </p:sp>
            <p:cxnSp>
              <p:nvCxnSpPr>
                <p:cNvPr id="214" name="直接连接符 213"/>
                <p:cNvCxnSpPr/>
                <p:nvPr/>
              </p:nvCxnSpPr>
              <p:spPr bwMode="auto">
                <a:xfrm rot="17400000" flipV="1">
                  <a:off x="1624670" y="4796795"/>
                  <a:ext cx="849803" cy="1611308"/>
                </a:xfrm>
                <a:prstGeom prst="line">
                  <a:avLst/>
                </a:prstGeom>
                <a:solidFill>
                  <a:schemeClr val="accent1"/>
                </a:solidFill>
                <a:ln w="19050" cap="flat" cmpd="sng" algn="ctr">
                  <a:solidFill>
                    <a:schemeClr val="tx1"/>
                  </a:solidFill>
                  <a:prstDash val="solid"/>
                  <a:round/>
                  <a:headEnd type="none" w="med" len="med"/>
                  <a:tailEnd type="triangle" w="med" len="lg"/>
                </a:ln>
                <a:effectLst/>
              </p:spPr>
            </p:cxnSp>
            <p:sp>
              <p:nvSpPr>
                <p:cNvPr id="215" name="矩形 214"/>
                <p:cNvSpPr/>
                <p:nvPr/>
              </p:nvSpPr>
              <p:spPr>
                <a:xfrm>
                  <a:off x="1473272" y="5103171"/>
                  <a:ext cx="337144" cy="400110"/>
                </a:xfrm>
                <a:prstGeom prst="rect">
                  <a:avLst/>
                </a:prstGeom>
              </p:spPr>
              <p:txBody>
                <a:bodyPr wrap="none">
                  <a:spAutoFit/>
                </a:bodyPr>
                <a:lstStyle/>
                <a:p>
                  <a:r>
                    <a:rPr kumimoji="1" lang="en-US" altLang="zh-CN" sz="2000" b="1" i="1">
                      <a:solidFill>
                        <a:srgbClr val="000000"/>
                      </a:solidFill>
                      <a:latin typeface="Times New Roman" pitchFamily="18" charset="0"/>
                      <a:cs typeface="Times New Roman" pitchFamily="18" charset="0"/>
                    </a:rPr>
                    <a:t>r</a:t>
                  </a:r>
                  <a:r>
                    <a:rPr kumimoji="1" lang="en-US" altLang="zh-CN" sz="2000" b="1" baseline="-25000">
                      <a:solidFill>
                        <a:srgbClr val="000000"/>
                      </a:solidFill>
                      <a:latin typeface="Times New Roman" pitchFamily="18" charset="0"/>
                      <a:ea typeface="楷体_GB2312" pitchFamily="49" charset="-122"/>
                      <a:cs typeface="Times New Roman" pitchFamily="18" charset="0"/>
                    </a:rPr>
                    <a:t> </a:t>
                  </a:r>
                  <a:endParaRPr lang="zh-CN" altLang="en-US"/>
                </a:p>
              </p:txBody>
            </p:sp>
            <p:sp>
              <p:nvSpPr>
                <p:cNvPr id="216" name="TextBox 215"/>
                <p:cNvSpPr txBox="1"/>
                <p:nvPr/>
              </p:nvSpPr>
              <p:spPr>
                <a:xfrm>
                  <a:off x="2701188" y="607220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O</a:t>
                  </a:r>
                  <a:endParaRPr lang="zh-CN" altLang="en-US" sz="2000" b="1" i="1">
                    <a:latin typeface="Times New Roman" pitchFamily="18" charset="0"/>
                    <a:cs typeface="Times New Roman" pitchFamily="18" charset="0"/>
                  </a:endParaRPr>
                </a:p>
              </p:txBody>
            </p:sp>
            <p:cxnSp>
              <p:nvCxnSpPr>
                <p:cNvPr id="217" name="直接连接符 216"/>
                <p:cNvCxnSpPr/>
                <p:nvPr/>
              </p:nvCxnSpPr>
              <p:spPr bwMode="auto">
                <a:xfrm rot="5400000">
                  <a:off x="1522621" y="5358062"/>
                  <a:ext cx="2268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nvGrpSpPr>
                <p:cNvPr id="16" name="组合 162"/>
                <p:cNvGrpSpPr/>
                <p:nvPr/>
              </p:nvGrpSpPr>
              <p:grpSpPr>
                <a:xfrm>
                  <a:off x="2342885" y="3882572"/>
                  <a:ext cx="314587" cy="460773"/>
                  <a:chOff x="2342885" y="3882572"/>
                  <a:chExt cx="314587" cy="460773"/>
                </a:xfrm>
              </p:grpSpPr>
              <p:cxnSp>
                <p:nvCxnSpPr>
                  <p:cNvPr id="233" name="直接箭头连接符 232"/>
                  <p:cNvCxnSpPr/>
                  <p:nvPr/>
                </p:nvCxnSpPr>
                <p:spPr bwMode="auto">
                  <a:xfrm rot="5400000">
                    <a:off x="2479033" y="4164906"/>
                    <a:ext cx="356491" cy="387"/>
                  </a:xfrm>
                  <a:prstGeom prst="straightConnector1">
                    <a:avLst/>
                  </a:prstGeom>
                  <a:solidFill>
                    <a:schemeClr val="accent1"/>
                  </a:solidFill>
                  <a:ln w="38100" cap="flat" cmpd="sng" algn="ctr">
                    <a:solidFill>
                      <a:srgbClr val="C00000"/>
                    </a:solidFill>
                    <a:prstDash val="solid"/>
                    <a:round/>
                    <a:headEnd type="none" w="med" len="med"/>
                    <a:tailEnd type="stealth" w="med" len="lg"/>
                  </a:ln>
                  <a:effectLst/>
                </p:spPr>
              </p:cxnSp>
              <p:sp>
                <p:nvSpPr>
                  <p:cNvPr id="230" name="TextBox 93"/>
                  <p:cNvSpPr txBox="1"/>
                  <p:nvPr/>
                </p:nvSpPr>
                <p:spPr>
                  <a:xfrm>
                    <a:off x="2342885" y="3882572"/>
                    <a:ext cx="312906" cy="400110"/>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Times New Roman" pitchFamily="18" charset="0"/>
                        <a:cs typeface="Times New Roman" pitchFamily="18" charset="0"/>
                      </a:rPr>
                      <a:t>1</a:t>
                    </a:r>
                    <a:endParaRPr lang="zh-CN" altLang="en-US" sz="2000" b="1">
                      <a:latin typeface="Times New Roman" pitchFamily="18" charset="0"/>
                      <a:cs typeface="Times New Roman" pitchFamily="18" charset="0"/>
                    </a:endParaRPr>
                  </a:p>
                </p:txBody>
              </p:sp>
            </p:grpSp>
            <p:grpSp>
              <p:nvGrpSpPr>
                <p:cNvPr id="17" name="组合 176"/>
                <p:cNvGrpSpPr/>
                <p:nvPr/>
              </p:nvGrpSpPr>
              <p:grpSpPr>
                <a:xfrm rot="16200000">
                  <a:off x="2676395" y="4334813"/>
                  <a:ext cx="295201" cy="260087"/>
                  <a:chOff x="3276667" y="4826364"/>
                  <a:chExt cx="295201" cy="260087"/>
                </a:xfrm>
              </p:grpSpPr>
              <p:cxnSp>
                <p:nvCxnSpPr>
                  <p:cNvPr id="222" name="直接连接符 221"/>
                  <p:cNvCxnSpPr/>
                  <p:nvPr/>
                </p:nvCxnSpPr>
                <p:spPr bwMode="auto">
                  <a:xfrm rot="5400000" flipH="1">
                    <a:off x="3376932" y="4880364"/>
                    <a:ext cx="10800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8" name="组合 40"/>
                  <p:cNvGrpSpPr/>
                  <p:nvPr/>
                </p:nvGrpSpPr>
                <p:grpSpPr>
                  <a:xfrm>
                    <a:off x="3276667" y="4930194"/>
                    <a:ext cx="295201" cy="156257"/>
                    <a:chOff x="990651" y="4726077"/>
                    <a:chExt cx="295201" cy="156257"/>
                  </a:xfrm>
                </p:grpSpPr>
                <p:cxnSp>
                  <p:nvCxnSpPr>
                    <p:cNvPr id="224" name="直接连接符 223"/>
                    <p:cNvCxnSpPr/>
                    <p:nvPr/>
                  </p:nvCxnSpPr>
                  <p:spPr bwMode="auto">
                    <a:xfrm>
                      <a:off x="1000100" y="4786322"/>
                      <a:ext cx="28575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5" name="直接连接符 224"/>
                    <p:cNvCxnSpPr>
                      <a:cxnSpLocks noChangeAspect="1"/>
                    </p:cNvCxnSpPr>
                    <p:nvPr/>
                  </p:nvCxnSpPr>
                  <p:spPr bwMode="auto">
                    <a:xfrm rot="5400000" flipH="1" flipV="1">
                      <a:off x="990872" y="4786102"/>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6" name="直接连接符 225"/>
                    <p:cNvCxnSpPr>
                      <a:cxnSpLocks noChangeAspect="1"/>
                    </p:cNvCxnSpPr>
                    <p:nvPr/>
                  </p:nvCxnSpPr>
                  <p:spPr bwMode="auto">
                    <a:xfrm rot="5400000" flipH="1" flipV="1">
                      <a:off x="1085925"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7" name="直接连接符 226"/>
                    <p:cNvCxnSpPr>
                      <a:cxnSpLocks noChangeAspect="1"/>
                    </p:cNvCxnSpPr>
                    <p:nvPr/>
                  </p:nvCxnSpPr>
                  <p:spPr bwMode="auto">
                    <a:xfrm rot="5400000" flipH="1" flipV="1">
                      <a:off x="1179287" y="4786101"/>
                      <a:ext cx="96011" cy="964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8" name="椭圆 227"/>
                    <p:cNvSpPr>
                      <a:spLocks noChangeAspect="1"/>
                    </p:cNvSpPr>
                    <p:nvPr/>
                  </p:nvSpPr>
                  <p:spPr bwMode="auto">
                    <a:xfrm>
                      <a:off x="1090916" y="4726077"/>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sp>
              <p:nvSpPr>
                <p:cNvPr id="221" name="椭圆 220"/>
                <p:cNvSpPr>
                  <a:spLocks noChangeAspect="1"/>
                </p:cNvSpPr>
                <p:nvPr/>
              </p:nvSpPr>
              <p:spPr bwMode="auto">
                <a:xfrm>
                  <a:off x="2606612" y="4402238"/>
                  <a:ext cx="108000" cy="108000"/>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201" name="直接连接符 200"/>
              <p:cNvCxnSpPr/>
              <p:nvPr/>
            </p:nvCxnSpPr>
            <p:spPr bwMode="auto">
              <a:xfrm rot="5400000">
                <a:off x="6834258" y="2452626"/>
                <a:ext cx="357983"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2" name="直接箭头连接符 201"/>
              <p:cNvCxnSpPr/>
              <p:nvPr/>
            </p:nvCxnSpPr>
            <p:spPr bwMode="auto">
              <a:xfrm>
                <a:off x="7000892" y="2355842"/>
                <a:ext cx="1214446" cy="1588"/>
              </a:xfrm>
              <a:prstGeom prst="straightConnector1">
                <a:avLst/>
              </a:prstGeom>
              <a:solidFill>
                <a:schemeClr val="accent1"/>
              </a:solidFill>
              <a:ln w="28575" cap="flat" cmpd="sng" algn="ctr">
                <a:solidFill>
                  <a:schemeClr val="tx1"/>
                </a:solidFill>
                <a:prstDash val="solid"/>
                <a:round/>
                <a:headEnd type="stealth" w="med" len="lg"/>
                <a:tailEnd type="stealth" w="med" len="lg"/>
              </a:ln>
              <a:effectLst/>
            </p:spPr>
          </p:cxnSp>
          <p:sp>
            <p:nvSpPr>
              <p:cNvPr id="203" name="TextBox 202"/>
              <p:cNvSpPr txBox="1"/>
              <p:nvPr/>
            </p:nvSpPr>
            <p:spPr>
              <a:xfrm>
                <a:off x="7441877" y="2248921"/>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198" name="弧形 197"/>
            <p:cNvSpPr>
              <a:spLocks noChangeAspect="1"/>
            </p:cNvSpPr>
            <p:nvPr/>
          </p:nvSpPr>
          <p:spPr bwMode="auto">
            <a:xfrm>
              <a:off x="7227563" y="2897271"/>
              <a:ext cx="2000264" cy="2000264"/>
            </a:xfrm>
            <a:prstGeom prst="arc">
              <a:avLst>
                <a:gd name="adj1" fmla="val 13621984"/>
                <a:gd name="adj2" fmla="val 16210032"/>
              </a:avLst>
            </a:prstGeom>
            <a:noFill/>
            <a:ln w="28575"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99" name="矩形 198"/>
            <p:cNvSpPr/>
            <p:nvPr/>
          </p:nvSpPr>
          <p:spPr>
            <a:xfrm>
              <a:off x="7737114" y="2537377"/>
              <a:ext cx="335348" cy="400110"/>
            </a:xfrm>
            <a:prstGeom prst="rect">
              <a:avLst/>
            </a:prstGeom>
          </p:spPr>
          <p:txBody>
            <a:bodyPr wrap="none">
              <a:spAutoFit/>
            </a:bodyPr>
            <a:lstStyle/>
            <a:p>
              <a:r>
                <a:rPr kumimoji="1" lang="en-US" altLang="zh-CN" sz="2000" b="1" i="1">
                  <a:solidFill>
                    <a:srgbClr val="000000"/>
                  </a:solidFill>
                  <a:latin typeface="Times New Roman" pitchFamily="18" charset="0"/>
                  <a:ea typeface="幼圆" pitchFamily="49" charset="-122"/>
                  <a:cs typeface="Times New Roman" pitchFamily="18" charset="0"/>
                </a:rPr>
                <a:t>φ</a:t>
              </a:r>
              <a:endParaRPr lang="zh-CN" altLang="en-US"/>
            </a:p>
          </p:txBody>
        </p:sp>
      </p:grpSp>
      <p:sp>
        <p:nvSpPr>
          <p:cNvPr id="128" name="TextBox 127"/>
          <p:cNvSpPr txBox="1"/>
          <p:nvPr/>
        </p:nvSpPr>
        <p:spPr>
          <a:xfrm>
            <a:off x="869581" y="3357562"/>
            <a:ext cx="5131180" cy="1646605"/>
          </a:xfrm>
          <a:prstGeom prst="rect">
            <a:avLst/>
          </a:prstGeom>
          <a:noFill/>
          <a:ln w="28575">
            <a:noFill/>
          </a:ln>
        </p:spPr>
        <p:txBody>
          <a:bodyPr wrap="square" rtlCol="0">
            <a:spAutoFit/>
          </a:bodyPr>
          <a:lstStyle/>
          <a:p>
            <a:pPr marL="1162050" indent="-1162050" algn="just">
              <a:lnSpc>
                <a:spcPct val="120000"/>
              </a:lnSpc>
              <a:tabLst>
                <a:tab pos="1074738" algn="l"/>
              </a:tabLst>
            </a:pPr>
            <a:r>
              <a:rPr lang="zh-CN" altLang="en-US" sz="2000" b="1"/>
              <a:t>结论：① 弯曲变形减小，轴力、剪力对位移的贡献明显增加；</a:t>
            </a:r>
            <a:endParaRPr lang="en-US" altLang="zh-CN" sz="2000" b="1"/>
          </a:p>
          <a:p>
            <a:pPr marL="1162050" indent="-358775">
              <a:lnSpc>
                <a:spcPct val="120000"/>
              </a:lnSpc>
              <a:spcBef>
                <a:spcPts val="600"/>
              </a:spcBef>
            </a:pPr>
            <a:r>
              <a:rPr lang="zh-CN" altLang="en-US" sz="2000" b="1"/>
              <a:t>② 远离合理拱轴线，轴力、剪力对位移的贡献依然很小；</a:t>
            </a:r>
          </a:p>
        </p:txBody>
      </p:sp>
      <p:sp>
        <p:nvSpPr>
          <p:cNvPr id="131" name="TextBox 130"/>
          <p:cNvSpPr txBox="1"/>
          <p:nvPr/>
        </p:nvSpPr>
        <p:spPr>
          <a:xfrm>
            <a:off x="869581" y="5143512"/>
            <a:ext cx="5202617" cy="707886"/>
          </a:xfrm>
          <a:prstGeom prst="rect">
            <a:avLst/>
          </a:prstGeom>
          <a:noFill/>
          <a:ln w="28575">
            <a:noFill/>
          </a:ln>
        </p:spPr>
        <p:txBody>
          <a:bodyPr wrap="square" rtlCol="0">
            <a:spAutoFit/>
          </a:bodyPr>
          <a:lstStyle/>
          <a:p>
            <a:pPr marL="803275" indent="-803275"/>
            <a:r>
              <a:rPr lang="zh-CN" altLang="en-US" sz="2000" b="1">
                <a:solidFill>
                  <a:srgbClr val="C00000"/>
                </a:solidFill>
              </a:rPr>
              <a:t>课后：拱轴线为合理拱轴线时，比较各变形的贡献。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wipe(down)">
                                      <p:cBhvr>
                                        <p:cTn id="7" dur="500"/>
                                        <p:tgtEl>
                                          <p:spTgt spid="1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8">
                                            <p:txEl>
                                              <p:pRg st="1" end="1"/>
                                            </p:txEl>
                                          </p:spTgt>
                                        </p:tgtEl>
                                        <p:attrNameLst>
                                          <p:attrName>style.visibility</p:attrName>
                                        </p:attrNameLst>
                                      </p:cBhvr>
                                      <p:to>
                                        <p:strVal val="visible"/>
                                      </p:to>
                                    </p:set>
                                    <p:animEffect transition="in" filter="wipe(down)">
                                      <p:cBhvr>
                                        <p:cTn id="12" dur="500"/>
                                        <p:tgtEl>
                                          <p:spTgt spid="1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1"/>
                                        </p:tgtEl>
                                        <p:attrNameLst>
                                          <p:attrName>style.visibility</p:attrName>
                                        </p:attrNameLst>
                                      </p:cBhvr>
                                      <p:to>
                                        <p:strVal val="visible"/>
                                      </p:to>
                                    </p:set>
                                    <p:anim calcmode="lin" valueType="num">
                                      <p:cBhvr additive="base">
                                        <p:cTn id="17" dur="500" fill="hold"/>
                                        <p:tgtEl>
                                          <p:spTgt spid="131"/>
                                        </p:tgtEl>
                                        <p:attrNameLst>
                                          <p:attrName>ppt_x</p:attrName>
                                        </p:attrNameLst>
                                      </p:cBhvr>
                                      <p:tavLst>
                                        <p:tav tm="0">
                                          <p:val>
                                            <p:strVal val="#ppt_x"/>
                                          </p:val>
                                        </p:tav>
                                        <p:tav tm="100000">
                                          <p:val>
                                            <p:strVal val="#ppt_x"/>
                                          </p:val>
                                        </p:tav>
                                      </p:tavLst>
                                    </p:anim>
                                    <p:anim calcmode="lin" valueType="num">
                                      <p:cBhvr additive="base">
                                        <p:cTn id="18" dur="500" fill="hold"/>
                                        <p:tgtEl>
                                          <p:spTgt spid="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P spid="13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已有基础</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132343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静定结构的内力计算：</a:t>
            </a:r>
            <a:r>
              <a:rPr lang="en-US" altLang="zh-CN" sz="2000" b="1" i="1">
                <a:latin typeface="Times New Roman" pitchFamily="18" charset="0"/>
                <a:cs typeface="Times New Roman" pitchFamily="18" charset="0"/>
              </a:rPr>
              <a:t>M</a:t>
            </a:r>
            <a:r>
              <a:rPr lang="zh-CN" altLang="en-US" sz="2000" b="1">
                <a:latin typeface="Times New Roman" pitchFamily="18" charset="0"/>
                <a:cs typeface="Times New Roman" pitchFamily="18" charset="0"/>
              </a:rPr>
              <a:t>图，</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zh-CN" altLang="en-US" sz="2000" b="1">
                <a:latin typeface="Times New Roman" pitchFamily="18" charset="0"/>
                <a:cs typeface="Times New Roman" pitchFamily="18" charset="0"/>
              </a:rPr>
              <a:t>图，</a:t>
            </a: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Q</a:t>
            </a:r>
            <a:r>
              <a:rPr lang="zh-CN" altLang="en-US" sz="2000" b="1">
                <a:latin typeface="Times New Roman" pitchFamily="18" charset="0"/>
                <a:cs typeface="Times New Roman" pitchFamily="18" charset="0"/>
              </a:rPr>
              <a:t>图；</a:t>
            </a:r>
            <a:endParaRPr lang="en-US" altLang="zh-CN" sz="2000" b="1">
              <a:latin typeface="Times New Roman" pitchFamily="18" charset="0"/>
              <a:cs typeface="Times New Roman" pitchFamily="18" charset="0"/>
            </a:endParaRPr>
          </a:p>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利用位移计算公式求静定结构的位移；</a:t>
            </a:r>
            <a:endParaRPr lang="en-US" altLang="zh-CN" sz="2000" b="1">
              <a:latin typeface="Times New Roman" pitchFamily="18" charset="0"/>
              <a:cs typeface="Times New Roman" pitchFamily="18" charset="0"/>
            </a:endParaRPr>
          </a:p>
          <a:p>
            <a:pPr marL="742950" lvl="1" indent="-285750" algn="just" fontAlgn="base">
              <a:lnSpc>
                <a:spcPct val="120000"/>
              </a:lnSpc>
              <a:spcBef>
                <a:spcPct val="20000"/>
              </a:spcBef>
              <a:spcAft>
                <a:spcPct val="0"/>
              </a:spcAft>
              <a:buFont typeface="Wingdings" pitchFamily="2" charset="2"/>
              <a:buChar char="n"/>
            </a:pPr>
            <a:r>
              <a:rPr lang="zh-CN" altLang="en-US" sz="2000" b="1">
                <a:solidFill>
                  <a:srgbClr val="C00000"/>
                </a:solidFill>
                <a:latin typeface="Times New Roman" pitchFamily="18" charset="0"/>
                <a:cs typeface="Times New Roman" pitchFamily="18" charset="0"/>
              </a:rPr>
              <a:t>刚架与梁在荷载作用下的位移计算公式：</a:t>
            </a:r>
            <a:endParaRPr lang="en-US" altLang="zh-CN" sz="2000" b="1">
              <a:solidFill>
                <a:srgbClr val="C00000"/>
              </a:solidFill>
              <a:latin typeface="Times New Roman" pitchFamily="18" charset="0"/>
              <a:cs typeface="Times New Roman" pitchFamily="18" charset="0"/>
            </a:endParaRPr>
          </a:p>
        </p:txBody>
      </p:sp>
      <p:graphicFrame>
        <p:nvGraphicFramePr>
          <p:cNvPr id="478214" name="Object 6"/>
          <p:cNvGraphicFramePr>
            <a:graphicFrameLocks noChangeAspect="1"/>
          </p:cNvGraphicFramePr>
          <p:nvPr/>
        </p:nvGraphicFramePr>
        <p:xfrm>
          <a:off x="3502033" y="3130554"/>
          <a:ext cx="2141537" cy="798512"/>
        </p:xfrm>
        <a:graphic>
          <a:graphicData uri="http://schemas.openxmlformats.org/presentationml/2006/ole">
            <mc:AlternateContent xmlns:mc="http://schemas.openxmlformats.org/markup-compatibility/2006">
              <mc:Choice xmlns:v="urn:schemas-microsoft-com:vml" Requires="v">
                <p:oleObj spid="_x0000_s478215" name="Equation" r:id="rId4" imgW="1155600" imgH="431640" progId="Equation.DSMT4">
                  <p:embed/>
                </p:oleObj>
              </mc:Choice>
              <mc:Fallback>
                <p:oleObj name="Equation" r:id="rId4" imgW="1155600" imgH="431640" progId="Equation.DSMT4">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2033" y="3130554"/>
                        <a:ext cx="2141537" cy="79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 name="Rectangle 4"/>
          <p:cNvSpPr>
            <a:spLocks noChangeArrowheads="1"/>
          </p:cNvSpPr>
          <p:nvPr/>
        </p:nvSpPr>
        <p:spPr bwMode="auto">
          <a:xfrm>
            <a:off x="1214414" y="3893754"/>
            <a:ext cx="7500990" cy="1800493"/>
          </a:xfrm>
          <a:prstGeom prst="rect">
            <a:avLst/>
          </a:prstGeom>
          <a:noFill/>
          <a:ln w="9525">
            <a:noFill/>
            <a:miter lim="800000"/>
            <a:headEnd/>
            <a:tailEnd/>
          </a:ln>
        </p:spPr>
        <p:txBody>
          <a:bodyPr wrap="square">
            <a:spAutoFit/>
          </a:bodyPr>
          <a:lstStyle/>
          <a:p>
            <a:pPr marL="722313" indent="-722313" fontAlgn="base">
              <a:lnSpc>
                <a:spcPct val="120000"/>
              </a:lnSpc>
              <a:spcBef>
                <a:spcPts val="600"/>
              </a:spcBef>
              <a:spcAft>
                <a:spcPct val="0"/>
              </a:spcAft>
            </a:pPr>
            <a:r>
              <a:rPr kumimoji="1" lang="zh-CN" altLang="en-US" sz="2000" b="1">
                <a:solidFill>
                  <a:srgbClr val="000000"/>
                </a:solidFill>
                <a:latin typeface="+mn-ea"/>
              </a:rPr>
              <a:t>常用的求解方法：</a:t>
            </a:r>
            <a:endParaRPr kumimoji="1" lang="en-US" altLang="zh-CN" sz="2000" b="1">
              <a:solidFill>
                <a:srgbClr val="000000"/>
              </a:solidFill>
              <a:latin typeface="+mn-ea"/>
            </a:endParaRPr>
          </a:p>
          <a:p>
            <a:pPr marL="722313" indent="-722313" fontAlgn="base">
              <a:lnSpc>
                <a:spcPct val="120000"/>
              </a:lnSpc>
              <a:spcBef>
                <a:spcPts val="600"/>
              </a:spcBef>
              <a:spcAft>
                <a:spcPct val="0"/>
              </a:spcAft>
            </a:pPr>
            <a:r>
              <a:rPr kumimoji="1" lang="en-US" altLang="zh-CN" sz="2000" b="1">
                <a:solidFill>
                  <a:srgbClr val="000000"/>
                </a:solidFill>
                <a:latin typeface="+mn-ea"/>
              </a:rPr>
              <a:t>     ① </a:t>
            </a:r>
            <a:r>
              <a:rPr kumimoji="1" lang="zh-CN" altLang="en-US" sz="2000" b="1">
                <a:solidFill>
                  <a:srgbClr val="000000"/>
                </a:solidFill>
                <a:latin typeface="+mn-ea"/>
              </a:rPr>
              <a:t>直接积分；</a:t>
            </a:r>
            <a:r>
              <a:rPr kumimoji="1" lang="zh-CN" altLang="en-US" b="1">
                <a:solidFill>
                  <a:srgbClr val="0033CC"/>
                </a:solidFill>
                <a:latin typeface="+mn-ea"/>
              </a:rPr>
              <a:t>杆件数量多的情况下，不方便；</a:t>
            </a:r>
            <a:endParaRPr kumimoji="1" lang="en-US" altLang="zh-CN" b="1">
              <a:solidFill>
                <a:srgbClr val="0033CC"/>
              </a:solidFill>
              <a:latin typeface="+mn-ea"/>
            </a:endParaRPr>
          </a:p>
          <a:p>
            <a:pPr marL="722313" indent="-722313" fontAlgn="base">
              <a:lnSpc>
                <a:spcPct val="120000"/>
              </a:lnSpc>
              <a:spcBef>
                <a:spcPts val="600"/>
              </a:spcBef>
              <a:spcAft>
                <a:spcPct val="0"/>
              </a:spcAft>
            </a:pPr>
            <a:r>
              <a:rPr kumimoji="1" lang="en-US" altLang="zh-CN" sz="2000" b="1">
                <a:solidFill>
                  <a:srgbClr val="000000"/>
                </a:solidFill>
                <a:latin typeface="+mn-ea"/>
              </a:rPr>
              <a:t>     ② </a:t>
            </a:r>
            <a:r>
              <a:rPr kumimoji="1" lang="zh-CN" altLang="en-US" sz="2000" b="1">
                <a:solidFill>
                  <a:srgbClr val="000000"/>
                </a:solidFill>
                <a:latin typeface="+mn-ea"/>
              </a:rPr>
              <a:t>数值积分；</a:t>
            </a:r>
            <a:r>
              <a:rPr kumimoji="1" lang="zh-CN" altLang="en-US" b="1">
                <a:solidFill>
                  <a:srgbClr val="0033CC"/>
                </a:solidFill>
                <a:latin typeface="华文细黑"/>
              </a:rPr>
              <a:t>近似解，</a:t>
            </a:r>
            <a:r>
              <a:rPr kumimoji="1" lang="zh-CN" altLang="en-US" b="1">
                <a:solidFill>
                  <a:srgbClr val="0033CC"/>
                </a:solidFill>
                <a:latin typeface="+mn-ea"/>
              </a:rPr>
              <a:t>如高斯积分法，见有限元书籍；</a:t>
            </a:r>
            <a:endParaRPr kumimoji="1" lang="en-US" altLang="zh-CN" b="1">
              <a:solidFill>
                <a:srgbClr val="0033CC"/>
              </a:solidFill>
              <a:latin typeface="+mn-ea"/>
            </a:endParaRPr>
          </a:p>
          <a:p>
            <a:pPr marL="722313" indent="-722313" fontAlgn="base">
              <a:lnSpc>
                <a:spcPct val="120000"/>
              </a:lnSpc>
              <a:spcBef>
                <a:spcPts val="600"/>
              </a:spcBef>
              <a:spcAft>
                <a:spcPct val="0"/>
              </a:spcAft>
            </a:pPr>
            <a:r>
              <a:rPr kumimoji="1" lang="en-US" altLang="zh-CN" sz="2000" b="1">
                <a:solidFill>
                  <a:srgbClr val="000000"/>
                </a:solidFill>
                <a:latin typeface="+mn-ea"/>
              </a:rPr>
              <a:t>     </a:t>
            </a:r>
            <a:r>
              <a:rPr kumimoji="1" lang="en-US" altLang="zh-CN" sz="2000" b="1">
                <a:solidFill>
                  <a:srgbClr val="C00000"/>
                </a:solidFill>
                <a:latin typeface="+mn-ea"/>
              </a:rPr>
              <a:t>③ </a:t>
            </a:r>
            <a:r>
              <a:rPr kumimoji="1" lang="zh-CN" altLang="en-US" sz="2000" b="1">
                <a:solidFill>
                  <a:srgbClr val="C00000"/>
                </a:solidFill>
                <a:latin typeface="+mn-ea"/>
              </a:rPr>
              <a:t>图乘法</a:t>
            </a:r>
            <a:r>
              <a:rPr kumimoji="1" lang="zh-CN" altLang="en-US" sz="2000" b="1">
                <a:solidFill>
                  <a:srgbClr val="000000"/>
                </a:solidFill>
                <a:latin typeface="+mn-ea"/>
              </a:rPr>
              <a:t>；    </a:t>
            </a:r>
            <a:r>
              <a:rPr kumimoji="1" lang="zh-CN" altLang="en-US" b="1" baseline="-25000">
                <a:solidFill>
                  <a:srgbClr val="000000"/>
                </a:solidFill>
                <a:latin typeface="+mn-ea"/>
              </a:rPr>
              <a:t> </a:t>
            </a:r>
            <a:r>
              <a:rPr kumimoji="1" lang="zh-CN" altLang="en-US" b="1">
                <a:solidFill>
                  <a:srgbClr val="0033CC"/>
                </a:solidFill>
                <a:latin typeface="+mn-ea"/>
              </a:rPr>
              <a:t>精确解，较复杂结构关键位置的估算；</a:t>
            </a:r>
            <a:endParaRPr kumimoji="1" lang="en-US" altLang="zh-CN" b="1">
              <a:solidFill>
                <a:srgbClr val="0033CC"/>
              </a:solidFill>
              <a:latin typeface="+mn-ea"/>
            </a:endParaRPr>
          </a:p>
        </p:txBody>
      </p:sp>
      <p:sp>
        <p:nvSpPr>
          <p:cNvPr id="80" name="TextBox 79"/>
          <p:cNvSpPr txBox="1"/>
          <p:nvPr/>
        </p:nvSpPr>
        <p:spPr>
          <a:xfrm>
            <a:off x="1677409" y="5631221"/>
            <a:ext cx="4071966" cy="400110"/>
          </a:xfrm>
          <a:prstGeom prst="rect">
            <a:avLst/>
          </a:prstGeom>
          <a:noFill/>
          <a:ln w="28575">
            <a:noFill/>
          </a:ln>
        </p:spPr>
        <p:txBody>
          <a:bodyPr wrap="square" rtlCol="0">
            <a:spAutoFit/>
          </a:bodyPr>
          <a:lstStyle/>
          <a:p>
            <a:pPr>
              <a:spcBef>
                <a:spcPct val="0"/>
              </a:spcBef>
            </a:pPr>
            <a:r>
              <a:rPr lang="zh-CN" altLang="en-US" sz="2000" b="1">
                <a:latin typeface="楷体_GB2312" pitchFamily="49" charset="-122"/>
              </a:rPr>
              <a:t>（</a:t>
            </a:r>
            <a:r>
              <a:rPr lang="en-US" altLang="zh-CN" sz="2000" b="1">
                <a:latin typeface="楷体_GB2312" pitchFamily="49" charset="-122"/>
              </a:rPr>
              <a:t>Vereshagin</a:t>
            </a:r>
            <a:r>
              <a:rPr lang="zh-CN" altLang="en-US" sz="2000" b="1">
                <a:latin typeface="楷体_GB2312" pitchFamily="49" charset="-122"/>
              </a:rPr>
              <a:t>，</a:t>
            </a:r>
            <a:r>
              <a:rPr lang="en-US" altLang="zh-CN" sz="2000" b="1">
                <a:latin typeface="楷体_GB2312" pitchFamily="49" charset="-122"/>
              </a:rPr>
              <a:t>1925</a:t>
            </a:r>
            <a:r>
              <a:rPr lang="zh-CN" altLang="en-US" sz="2000" b="1">
                <a:latin typeface="楷体_GB2312" pitchFamily="49" charset="-122"/>
              </a:rPr>
              <a:t>）</a:t>
            </a:r>
            <a:endParaRPr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 calcmode="lin" valueType="num">
                                      <p:cBhvr additive="base">
                                        <p:cTn id="7"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
                                            <p:txEl>
                                              <p:pRg st="1" end="1"/>
                                            </p:txEl>
                                          </p:spTgt>
                                        </p:tgtEl>
                                        <p:attrNameLst>
                                          <p:attrName>style.visibility</p:attrName>
                                        </p:attrNameLst>
                                      </p:cBhvr>
                                      <p:to>
                                        <p:strVal val="visible"/>
                                      </p:to>
                                    </p:set>
                                    <p:anim calcmode="lin" valueType="num">
                                      <p:cBhvr additive="base">
                                        <p:cTn id="13" dur="500" fill="hold"/>
                                        <p:tgtEl>
                                          <p:spTgt spid="4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
                                            <p:txEl>
                                              <p:pRg st="2" end="2"/>
                                            </p:txEl>
                                          </p:spTgt>
                                        </p:tgtEl>
                                        <p:attrNameLst>
                                          <p:attrName>style.visibility</p:attrName>
                                        </p:attrNameLst>
                                      </p:cBhvr>
                                      <p:to>
                                        <p:strVal val="visible"/>
                                      </p:to>
                                    </p:set>
                                    <p:anim calcmode="lin" valueType="num">
                                      <p:cBhvr additive="base">
                                        <p:cTn id="19" dur="500" fill="hold"/>
                                        <p:tgtEl>
                                          <p:spTgt spid="4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78214"/>
                                        </p:tgtEl>
                                        <p:attrNameLst>
                                          <p:attrName>style.visibility</p:attrName>
                                        </p:attrNameLst>
                                      </p:cBhvr>
                                      <p:to>
                                        <p:strVal val="visible"/>
                                      </p:to>
                                    </p:set>
                                    <p:animEffect transition="in" filter="blinds(horizontal)">
                                      <p:cBhvr>
                                        <p:cTn id="25" dur="500"/>
                                        <p:tgtEl>
                                          <p:spTgt spid="4782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77">
                                            <p:txEl>
                                              <p:pRg st="0" end="0"/>
                                            </p:txEl>
                                          </p:spTgt>
                                        </p:tgtEl>
                                        <p:attrNameLst>
                                          <p:attrName>style.visibility</p:attrName>
                                        </p:attrNameLst>
                                      </p:cBhvr>
                                      <p:to>
                                        <p:strVal val="visible"/>
                                      </p:to>
                                    </p:set>
                                    <p:animEffect transition="in" filter="wipe(down)">
                                      <p:cBhvr>
                                        <p:cTn id="30" dur="500"/>
                                        <p:tgtEl>
                                          <p:spTgt spid="7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77">
                                            <p:txEl>
                                              <p:pRg st="1" end="1"/>
                                            </p:txEl>
                                          </p:spTgt>
                                        </p:tgtEl>
                                        <p:attrNameLst>
                                          <p:attrName>style.visibility</p:attrName>
                                        </p:attrNameLst>
                                      </p:cBhvr>
                                      <p:to>
                                        <p:strVal val="visible"/>
                                      </p:to>
                                    </p:set>
                                    <p:animEffect transition="in" filter="wipe(down)">
                                      <p:cBhvr>
                                        <p:cTn id="35" dur="500"/>
                                        <p:tgtEl>
                                          <p:spTgt spid="7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77">
                                            <p:txEl>
                                              <p:pRg st="2" end="2"/>
                                            </p:txEl>
                                          </p:spTgt>
                                        </p:tgtEl>
                                        <p:attrNameLst>
                                          <p:attrName>style.visibility</p:attrName>
                                        </p:attrNameLst>
                                      </p:cBhvr>
                                      <p:to>
                                        <p:strVal val="visible"/>
                                      </p:to>
                                    </p:set>
                                    <p:animEffect transition="in" filter="wipe(down)">
                                      <p:cBhvr>
                                        <p:cTn id="40" dur="500"/>
                                        <p:tgtEl>
                                          <p:spTgt spid="77">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7">
                                            <p:txEl>
                                              <p:pRg st="3" end="3"/>
                                            </p:txEl>
                                          </p:spTgt>
                                        </p:tgtEl>
                                        <p:attrNameLst>
                                          <p:attrName>style.visibility</p:attrName>
                                        </p:attrNameLst>
                                      </p:cBhvr>
                                      <p:to>
                                        <p:strVal val="visible"/>
                                      </p:to>
                                    </p:set>
                                    <p:animEffect transition="in" filter="wipe(down)">
                                      <p:cBhvr>
                                        <p:cTn id="45" dur="500"/>
                                        <p:tgtEl>
                                          <p:spTgt spid="77">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80"/>
                                        </p:tgtEl>
                                        <p:attrNameLst>
                                          <p:attrName>style.visibility</p:attrName>
                                        </p:attrNameLst>
                                      </p:cBhvr>
                                      <p:to>
                                        <p:strVal val="visible"/>
                                      </p:to>
                                    </p:set>
                                    <p:anim calcmode="lin" valueType="num">
                                      <p:cBhvr additive="base">
                                        <p:cTn id="50" dur="500" fill="hold"/>
                                        <p:tgtEl>
                                          <p:spTgt spid="80"/>
                                        </p:tgtEl>
                                        <p:attrNameLst>
                                          <p:attrName>ppt_x</p:attrName>
                                        </p:attrNameLst>
                                      </p:cBhvr>
                                      <p:tavLst>
                                        <p:tav tm="0">
                                          <p:val>
                                            <p:strVal val="#ppt_x"/>
                                          </p:val>
                                        </p:tav>
                                        <p:tav tm="100000">
                                          <p:val>
                                            <p:strVal val="#ppt_x"/>
                                          </p:val>
                                        </p:tav>
                                      </p:tavLst>
                                    </p:anim>
                                    <p:anim calcmode="lin" valueType="num">
                                      <p:cBhvr additive="base">
                                        <p:cTn id="51"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P spid="77" grpId="0" build="p"/>
      <p:bldP spid="8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计算</a:t>
            </a:r>
            <a:endParaRPr lang="en-US" altLang="zh-CN" sz="2000" b="1">
              <a:latin typeface="Times New Roman" pitchFamily="18" charset="0"/>
              <a:cs typeface="Times New Roman" pitchFamily="18" charset="0"/>
            </a:endParaRPr>
          </a:p>
        </p:txBody>
      </p:sp>
      <p:graphicFrame>
        <p:nvGraphicFramePr>
          <p:cNvPr id="479235" name="Object 3"/>
          <p:cNvGraphicFramePr>
            <a:graphicFrameLocks noChangeAspect="1"/>
          </p:cNvGraphicFramePr>
          <p:nvPr/>
        </p:nvGraphicFramePr>
        <p:xfrm>
          <a:off x="1889125" y="1717675"/>
          <a:ext cx="1127125" cy="611188"/>
        </p:xfrm>
        <a:graphic>
          <a:graphicData uri="http://schemas.openxmlformats.org/presentationml/2006/ole">
            <mc:AlternateContent xmlns:mc="http://schemas.openxmlformats.org/markup-compatibility/2006">
              <mc:Choice xmlns:v="urn:schemas-microsoft-com:vml" Requires="v">
                <p:oleObj spid="_x0000_s481289" name="Equation" r:id="rId4" imgW="723600" imgH="393480" progId="Equation.DSMT4">
                  <p:embed/>
                </p:oleObj>
              </mc:Choice>
              <mc:Fallback>
                <p:oleObj name="Equation" r:id="rId4" imgW="72360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125" y="1717675"/>
                        <a:ext cx="1127125"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79236" name="Picture 4" descr="C:\Users\Administrator\Pictures\2015-10-31\图乘法.jpg"/>
          <p:cNvPicPr>
            <a:picLocks noChangeAspect="1" noChangeArrowheads="1"/>
          </p:cNvPicPr>
          <p:nvPr/>
        </p:nvPicPr>
        <p:blipFill>
          <a:blip r:embed="rId6"/>
          <a:srcRect/>
          <a:stretch>
            <a:fillRect/>
          </a:stretch>
        </p:blipFill>
        <p:spPr bwMode="auto">
          <a:xfrm>
            <a:off x="5929322" y="1785926"/>
            <a:ext cx="2899573" cy="2428892"/>
          </a:xfrm>
          <a:prstGeom prst="rect">
            <a:avLst/>
          </a:prstGeom>
          <a:noFill/>
          <a:ln>
            <a:solidFill>
              <a:schemeClr val="tx1"/>
            </a:solidFill>
          </a:ln>
        </p:spPr>
      </p:pic>
      <p:graphicFrame>
        <p:nvGraphicFramePr>
          <p:cNvPr id="479238" name="Object 6"/>
          <p:cNvGraphicFramePr>
            <a:graphicFrameLocks noChangeAspect="1"/>
          </p:cNvGraphicFramePr>
          <p:nvPr/>
        </p:nvGraphicFramePr>
        <p:xfrm>
          <a:off x="1285852" y="2340420"/>
          <a:ext cx="2670175" cy="611187"/>
        </p:xfrm>
        <a:graphic>
          <a:graphicData uri="http://schemas.openxmlformats.org/presentationml/2006/ole">
            <mc:AlternateContent xmlns:mc="http://schemas.openxmlformats.org/markup-compatibility/2006">
              <mc:Choice xmlns:v="urn:schemas-microsoft-com:vml" Requires="v">
                <p:oleObj spid="_x0000_s481290" name="Equation" r:id="rId7" imgW="1714320" imgH="393480" progId="Equation.DSMT4">
                  <p:embed/>
                </p:oleObj>
              </mc:Choice>
              <mc:Fallback>
                <p:oleObj name="Equation" r:id="rId7" imgW="1714320" imgH="39348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52" y="2340420"/>
                        <a:ext cx="2670175"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Box 12"/>
          <p:cNvSpPr txBox="1"/>
          <p:nvPr/>
        </p:nvSpPr>
        <p:spPr>
          <a:xfrm>
            <a:off x="3786182" y="2451538"/>
            <a:ext cx="1800493" cy="369332"/>
          </a:xfrm>
          <a:prstGeom prst="rect">
            <a:avLst/>
          </a:prstGeom>
          <a:noFill/>
          <a:ln w="28575">
            <a:noFill/>
          </a:ln>
        </p:spPr>
        <p:txBody>
          <a:bodyPr wrap="none" rtlCol="0">
            <a:spAutoFit/>
          </a:bodyPr>
          <a:lstStyle/>
          <a:p>
            <a:r>
              <a:rPr lang="zh-CN" altLang="en-US" b="1">
                <a:solidFill>
                  <a:srgbClr val="0033CC"/>
                </a:solidFill>
                <a:latin typeface="+mn-ea"/>
              </a:rPr>
              <a:t>（等截面杆件）</a:t>
            </a:r>
          </a:p>
        </p:txBody>
      </p:sp>
      <p:graphicFrame>
        <p:nvGraphicFramePr>
          <p:cNvPr id="479239" name="Object 7"/>
          <p:cNvGraphicFramePr>
            <a:graphicFrameLocks noChangeAspect="1"/>
          </p:cNvGraphicFramePr>
          <p:nvPr/>
        </p:nvGraphicFramePr>
        <p:xfrm>
          <a:off x="2369779" y="2983359"/>
          <a:ext cx="1582737" cy="611187"/>
        </p:xfrm>
        <a:graphic>
          <a:graphicData uri="http://schemas.openxmlformats.org/presentationml/2006/ole">
            <mc:AlternateContent xmlns:mc="http://schemas.openxmlformats.org/markup-compatibility/2006">
              <mc:Choice xmlns:v="urn:schemas-microsoft-com:vml" Requires="v">
                <p:oleObj spid="_x0000_s481291" name="Equation" r:id="rId9" imgW="1015920" imgH="393480" progId="Equation.DSMT4">
                  <p:embed/>
                </p:oleObj>
              </mc:Choice>
              <mc:Fallback>
                <p:oleObj name="Equation" r:id="rId9" imgW="1015920" imgH="39348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9779" y="2983359"/>
                        <a:ext cx="1582737"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矩形 14"/>
          <p:cNvSpPr/>
          <p:nvPr/>
        </p:nvSpPr>
        <p:spPr>
          <a:xfrm>
            <a:off x="3773825" y="3106837"/>
            <a:ext cx="1107996" cy="369332"/>
          </a:xfrm>
          <a:prstGeom prst="rect">
            <a:avLst/>
          </a:prstGeom>
        </p:spPr>
        <p:txBody>
          <a:bodyPr wrap="none">
            <a:spAutoFit/>
          </a:bodyPr>
          <a:lstStyle/>
          <a:p>
            <a:r>
              <a:rPr lang="zh-CN" altLang="en-US" b="1">
                <a:solidFill>
                  <a:srgbClr val="0033CC"/>
                </a:solidFill>
                <a:latin typeface="+mn-ea"/>
              </a:rPr>
              <a:t>（直杆）</a:t>
            </a:r>
          </a:p>
        </p:txBody>
      </p:sp>
      <p:graphicFrame>
        <p:nvGraphicFramePr>
          <p:cNvPr id="479240" name="Object 8"/>
          <p:cNvGraphicFramePr>
            <a:graphicFrameLocks noChangeAspect="1"/>
          </p:cNvGraphicFramePr>
          <p:nvPr/>
        </p:nvGraphicFramePr>
        <p:xfrm>
          <a:off x="6786578" y="4251394"/>
          <a:ext cx="1246188" cy="355600"/>
        </p:xfrm>
        <a:graphic>
          <a:graphicData uri="http://schemas.openxmlformats.org/presentationml/2006/ole">
            <mc:AlternateContent xmlns:mc="http://schemas.openxmlformats.org/markup-compatibility/2006">
              <mc:Choice xmlns:v="urn:schemas-microsoft-com:vml" Requires="v">
                <p:oleObj spid="_x0000_s481292" name="Equation" r:id="rId11" imgW="799920" imgH="228600" progId="Equation.DSMT4">
                  <p:embed/>
                </p:oleObj>
              </mc:Choice>
              <mc:Fallback>
                <p:oleObj name="Equation" r:id="rId11" imgW="799920" imgH="2286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6578" y="4251394"/>
                        <a:ext cx="1246188"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p:nvPr/>
        </p:nvSpPr>
        <p:spPr>
          <a:xfrm>
            <a:off x="3768808" y="3712923"/>
            <a:ext cx="1851789" cy="369332"/>
          </a:xfrm>
          <a:prstGeom prst="rect">
            <a:avLst/>
          </a:prstGeom>
        </p:spPr>
        <p:txBody>
          <a:bodyPr wrap="none">
            <a:spAutoFit/>
          </a:bodyPr>
          <a:lstStyle/>
          <a:p>
            <a:r>
              <a:rPr lang="zh-CN" altLang="en-US" b="1">
                <a:solidFill>
                  <a:srgbClr val="0033CC"/>
                </a:solidFill>
                <a:latin typeface="+mn-ea"/>
              </a:rPr>
              <a:t>（</a:t>
            </a:r>
            <a:r>
              <a:rPr lang="en-US" altLang="zh-CN" b="1" i="1">
                <a:solidFill>
                  <a:srgbClr val="0033CC"/>
                </a:solidFill>
                <a:latin typeface="Times New Roman" pitchFamily="18" charset="0"/>
                <a:cs typeface="Times New Roman" pitchFamily="18" charset="0"/>
              </a:rPr>
              <a:t>M</a:t>
            </a:r>
            <a:r>
              <a:rPr lang="en-US" altLang="zh-CN" b="1" baseline="-25000">
                <a:solidFill>
                  <a:srgbClr val="0033CC"/>
                </a:solidFill>
                <a:latin typeface="Times New Roman" pitchFamily="18" charset="0"/>
                <a:cs typeface="Times New Roman" pitchFamily="18" charset="0"/>
              </a:rPr>
              <a:t>i</a:t>
            </a:r>
            <a:r>
              <a:rPr lang="zh-CN" altLang="en-US" b="1">
                <a:solidFill>
                  <a:srgbClr val="0033CC"/>
                </a:solidFill>
                <a:latin typeface="+mn-ea"/>
              </a:rPr>
              <a:t>图为直线）</a:t>
            </a:r>
          </a:p>
        </p:txBody>
      </p:sp>
      <p:graphicFrame>
        <p:nvGraphicFramePr>
          <p:cNvPr id="479241" name="Object 9"/>
          <p:cNvGraphicFramePr>
            <a:graphicFrameLocks noChangeAspect="1"/>
          </p:cNvGraphicFramePr>
          <p:nvPr/>
        </p:nvGraphicFramePr>
        <p:xfrm>
          <a:off x="2365439" y="3594545"/>
          <a:ext cx="1641475" cy="611187"/>
        </p:xfrm>
        <a:graphic>
          <a:graphicData uri="http://schemas.openxmlformats.org/presentationml/2006/ole">
            <mc:AlternateContent xmlns:mc="http://schemas.openxmlformats.org/markup-compatibility/2006">
              <mc:Choice xmlns:v="urn:schemas-microsoft-com:vml" Requires="v">
                <p:oleObj spid="_x0000_s481293" name="Equation" r:id="rId13" imgW="1054080" imgH="393480" progId="Equation.DSMT4">
                  <p:embed/>
                </p:oleObj>
              </mc:Choice>
              <mc:Fallback>
                <p:oleObj name="Equation" r:id="rId13" imgW="1054080" imgH="39348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5439" y="3594545"/>
                        <a:ext cx="1641475"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9242" name="Object 10"/>
          <p:cNvGraphicFramePr>
            <a:graphicFrameLocks noChangeAspect="1"/>
          </p:cNvGraphicFramePr>
          <p:nvPr/>
        </p:nvGraphicFramePr>
        <p:xfrm>
          <a:off x="2359631" y="4244848"/>
          <a:ext cx="1147762" cy="611188"/>
        </p:xfrm>
        <a:graphic>
          <a:graphicData uri="http://schemas.openxmlformats.org/presentationml/2006/ole">
            <mc:AlternateContent xmlns:mc="http://schemas.openxmlformats.org/markup-compatibility/2006">
              <mc:Choice xmlns:v="urn:schemas-microsoft-com:vml" Requires="v">
                <p:oleObj spid="_x0000_s481294" name="Equation" r:id="rId15" imgW="736560" imgH="393480" progId="Equation.DSMT4">
                  <p:embed/>
                </p:oleObj>
              </mc:Choice>
              <mc:Fallback>
                <p:oleObj name="Equation" r:id="rId15" imgW="736560" imgH="39348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9631" y="4244848"/>
                        <a:ext cx="1147762"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Box 19"/>
          <p:cNvSpPr txBox="1"/>
          <p:nvPr/>
        </p:nvSpPr>
        <p:spPr>
          <a:xfrm>
            <a:off x="285720" y="3498724"/>
            <a:ext cx="1928826" cy="679545"/>
          </a:xfrm>
          <a:prstGeom prst="rect">
            <a:avLst/>
          </a:prstGeom>
          <a:noFill/>
          <a:ln w="28575">
            <a:noFill/>
          </a:ln>
        </p:spPr>
        <p:txBody>
          <a:bodyPr wrap="square" rtlCol="0">
            <a:spAutoFit/>
          </a:bodyPr>
          <a:lstStyle/>
          <a:p>
            <a:pPr algn="just">
              <a:lnSpc>
                <a:spcPct val="110000"/>
              </a:lnSpc>
            </a:pPr>
            <a:r>
              <a:rPr lang="en-US" altLang="zh-CN" b="1" i="1">
                <a:solidFill>
                  <a:srgbClr val="C00000"/>
                </a:solidFill>
                <a:latin typeface="Times New Roman" pitchFamily="18" charset="0"/>
                <a:cs typeface="Times New Roman" pitchFamily="18" charset="0"/>
              </a:rPr>
              <a:t>M</a:t>
            </a:r>
            <a:r>
              <a:rPr lang="en-US" altLang="zh-CN" b="1" baseline="-25000">
                <a:solidFill>
                  <a:srgbClr val="C00000"/>
                </a:solidFill>
                <a:latin typeface="Times New Roman" pitchFamily="18" charset="0"/>
                <a:cs typeface="Times New Roman" pitchFamily="18" charset="0"/>
              </a:rPr>
              <a:t>K</a:t>
            </a:r>
            <a:r>
              <a:rPr lang="zh-CN" altLang="en-US" b="1">
                <a:solidFill>
                  <a:srgbClr val="C00000"/>
                </a:solidFill>
                <a:latin typeface="Times New Roman" pitchFamily="18" charset="0"/>
                <a:cs typeface="Times New Roman" pitchFamily="18" charset="0"/>
              </a:rPr>
              <a:t>图对</a:t>
            </a:r>
            <a:r>
              <a:rPr lang="en-US" altLang="zh-CN" b="1" i="1">
                <a:solidFill>
                  <a:srgbClr val="C00000"/>
                </a:solidFill>
                <a:latin typeface="Times New Roman" pitchFamily="18" charset="0"/>
                <a:cs typeface="Times New Roman" pitchFamily="18" charset="0"/>
              </a:rPr>
              <a:t>y</a:t>
            </a:r>
            <a:r>
              <a:rPr lang="zh-CN" altLang="en-US" b="1">
                <a:solidFill>
                  <a:srgbClr val="C00000"/>
                </a:solidFill>
                <a:latin typeface="Times New Roman" pitchFamily="18" charset="0"/>
                <a:cs typeface="Times New Roman" pitchFamily="18" charset="0"/>
              </a:rPr>
              <a:t>轴的面积矩</a:t>
            </a:r>
          </a:p>
        </p:txBody>
      </p:sp>
      <p:sp>
        <p:nvSpPr>
          <p:cNvPr id="24" name="矩形 23"/>
          <p:cNvSpPr/>
          <p:nvPr/>
        </p:nvSpPr>
        <p:spPr bwMode="auto">
          <a:xfrm>
            <a:off x="3132927" y="3641270"/>
            <a:ext cx="857256" cy="500066"/>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solidFill>
                <a:srgbClr val="C00000"/>
              </a:solidFill>
            </a:endParaRPr>
          </a:p>
        </p:txBody>
      </p:sp>
      <p:sp>
        <p:nvSpPr>
          <p:cNvPr id="27" name="矩形 26"/>
          <p:cNvSpPr/>
          <p:nvPr/>
        </p:nvSpPr>
        <p:spPr bwMode="auto">
          <a:xfrm>
            <a:off x="3120570" y="4355980"/>
            <a:ext cx="428628" cy="428628"/>
          </a:xfrm>
          <a:prstGeom prst="rect">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28" name="TextBox 27"/>
          <p:cNvSpPr txBox="1"/>
          <p:nvPr/>
        </p:nvSpPr>
        <p:spPr>
          <a:xfrm>
            <a:off x="322296" y="4154315"/>
            <a:ext cx="1928826" cy="701731"/>
          </a:xfrm>
          <a:prstGeom prst="rect">
            <a:avLst/>
          </a:prstGeom>
          <a:noFill/>
          <a:ln w="28575">
            <a:noFill/>
          </a:ln>
        </p:spPr>
        <p:txBody>
          <a:bodyPr wrap="square" rtlCol="0">
            <a:spAutoFit/>
          </a:bodyPr>
          <a:lstStyle/>
          <a:p>
            <a:pPr>
              <a:lnSpc>
                <a:spcPct val="110000"/>
              </a:lnSpc>
            </a:pPr>
            <a:r>
              <a:rPr lang="en-US" altLang="zh-CN" b="1" i="1">
                <a:solidFill>
                  <a:srgbClr val="00B050"/>
                </a:solidFill>
                <a:latin typeface="Times New Roman" pitchFamily="18" charset="0"/>
                <a:cs typeface="Times New Roman" pitchFamily="18" charset="0"/>
              </a:rPr>
              <a:t>A</a:t>
            </a:r>
            <a:r>
              <a:rPr lang="en-US" altLang="zh-CN" b="1" i="1" baseline="-25000">
                <a:solidFill>
                  <a:srgbClr val="00B050"/>
                </a:solidFill>
                <a:latin typeface="Times New Roman" pitchFamily="18" charset="0"/>
                <a:cs typeface="Times New Roman" pitchFamily="18" charset="0"/>
              </a:rPr>
              <a:t> </a:t>
            </a:r>
            <a:r>
              <a:rPr lang="en-US" altLang="zh-CN" b="1">
                <a:solidFill>
                  <a:srgbClr val="00B050"/>
                </a:solidFill>
                <a:latin typeface="Times New Roman" pitchFamily="18" charset="0"/>
                <a:cs typeface="Times New Roman" pitchFamily="18" charset="0"/>
              </a:rPr>
              <a:t>: </a:t>
            </a:r>
            <a:r>
              <a:rPr lang="en-US" altLang="zh-CN" b="1" i="1">
                <a:solidFill>
                  <a:srgbClr val="00B050"/>
                </a:solidFill>
                <a:latin typeface="Times New Roman" pitchFamily="18" charset="0"/>
                <a:cs typeface="Times New Roman" pitchFamily="18" charset="0"/>
              </a:rPr>
              <a:t>M</a:t>
            </a:r>
            <a:r>
              <a:rPr lang="en-US" altLang="zh-CN" b="1" baseline="-25000">
                <a:solidFill>
                  <a:srgbClr val="00B050"/>
                </a:solidFill>
                <a:latin typeface="Times New Roman" pitchFamily="18" charset="0"/>
                <a:cs typeface="Times New Roman" pitchFamily="18" charset="0"/>
              </a:rPr>
              <a:t>K</a:t>
            </a:r>
            <a:r>
              <a:rPr lang="zh-CN" altLang="en-US" b="1">
                <a:solidFill>
                  <a:srgbClr val="00B050"/>
                </a:solidFill>
                <a:latin typeface="Times New Roman" pitchFamily="18" charset="0"/>
                <a:cs typeface="Times New Roman" pitchFamily="18" charset="0"/>
              </a:rPr>
              <a:t>图面积；</a:t>
            </a:r>
            <a:endParaRPr lang="en-US" altLang="zh-CN" b="1">
              <a:solidFill>
                <a:srgbClr val="00B050"/>
              </a:solidFill>
              <a:latin typeface="Times New Roman" pitchFamily="18" charset="0"/>
              <a:cs typeface="Times New Roman" pitchFamily="18" charset="0"/>
            </a:endParaRPr>
          </a:p>
          <a:p>
            <a:pPr>
              <a:lnSpc>
                <a:spcPct val="110000"/>
              </a:lnSpc>
            </a:pPr>
            <a:r>
              <a:rPr lang="en-US" altLang="zh-CN" b="1" i="1">
                <a:solidFill>
                  <a:srgbClr val="00B050"/>
                </a:solidFill>
                <a:latin typeface="Times New Roman" pitchFamily="18" charset="0"/>
                <a:cs typeface="Times New Roman" pitchFamily="18" charset="0"/>
              </a:rPr>
              <a:t>x</a:t>
            </a:r>
            <a:r>
              <a:rPr lang="en-US" altLang="zh-CN" b="1" baseline="-25000">
                <a:solidFill>
                  <a:srgbClr val="00B050"/>
                </a:solidFill>
                <a:latin typeface="Times New Roman" pitchFamily="18" charset="0"/>
                <a:cs typeface="Times New Roman" pitchFamily="18" charset="0"/>
              </a:rPr>
              <a:t>0</a:t>
            </a:r>
            <a:r>
              <a:rPr lang="en-US" altLang="zh-CN" b="1">
                <a:solidFill>
                  <a:srgbClr val="00B050"/>
                </a:solidFill>
                <a:latin typeface="Times New Roman" pitchFamily="18" charset="0"/>
                <a:cs typeface="Times New Roman" pitchFamily="18" charset="0"/>
              </a:rPr>
              <a:t>:</a:t>
            </a:r>
            <a:r>
              <a:rPr lang="en-US" altLang="zh-CN" b="1" i="1">
                <a:solidFill>
                  <a:srgbClr val="00B050"/>
                </a:solidFill>
                <a:latin typeface="Times New Roman" pitchFamily="18" charset="0"/>
                <a:cs typeface="Times New Roman" pitchFamily="18" charset="0"/>
              </a:rPr>
              <a:t> M</a:t>
            </a:r>
            <a:r>
              <a:rPr lang="en-US" altLang="zh-CN" b="1" baseline="-25000">
                <a:solidFill>
                  <a:srgbClr val="00B050"/>
                </a:solidFill>
                <a:latin typeface="Times New Roman" pitchFamily="18" charset="0"/>
                <a:cs typeface="Times New Roman" pitchFamily="18" charset="0"/>
              </a:rPr>
              <a:t>K</a:t>
            </a:r>
            <a:r>
              <a:rPr lang="zh-CN" altLang="en-US" b="1">
                <a:solidFill>
                  <a:srgbClr val="00B050"/>
                </a:solidFill>
                <a:latin typeface="Times New Roman" pitchFamily="18" charset="0"/>
                <a:cs typeface="Times New Roman" pitchFamily="18" charset="0"/>
              </a:rPr>
              <a:t>图形心</a:t>
            </a:r>
            <a:r>
              <a:rPr lang="en-US" altLang="zh-CN" b="1" i="1">
                <a:solidFill>
                  <a:srgbClr val="00B050"/>
                </a:solidFill>
                <a:latin typeface="Times New Roman" pitchFamily="18" charset="0"/>
                <a:cs typeface="Times New Roman" pitchFamily="18" charset="0"/>
              </a:rPr>
              <a:t>x</a:t>
            </a:r>
            <a:r>
              <a:rPr lang="zh-CN" altLang="en-US" b="1">
                <a:solidFill>
                  <a:srgbClr val="00B050"/>
                </a:solidFill>
                <a:latin typeface="Times New Roman" pitchFamily="18" charset="0"/>
                <a:cs typeface="Times New Roman" pitchFamily="18" charset="0"/>
              </a:rPr>
              <a:t>值</a:t>
            </a:r>
          </a:p>
        </p:txBody>
      </p:sp>
      <p:graphicFrame>
        <p:nvGraphicFramePr>
          <p:cNvPr id="479244" name="Object 12"/>
          <p:cNvGraphicFramePr>
            <a:graphicFrameLocks noChangeAspect="1"/>
          </p:cNvGraphicFramePr>
          <p:nvPr/>
        </p:nvGraphicFramePr>
        <p:xfrm>
          <a:off x="3679882" y="4272344"/>
          <a:ext cx="930275" cy="611187"/>
        </p:xfrm>
        <a:graphic>
          <a:graphicData uri="http://schemas.openxmlformats.org/presentationml/2006/ole">
            <mc:AlternateContent xmlns:mc="http://schemas.openxmlformats.org/markup-compatibility/2006">
              <mc:Choice xmlns:v="urn:schemas-microsoft-com:vml" Requires="v">
                <p:oleObj spid="_x0000_s481295" name="Equation" r:id="rId17" imgW="596880" imgH="393480" progId="Equation.DSMT4">
                  <p:embed/>
                </p:oleObj>
              </mc:Choice>
              <mc:Fallback>
                <p:oleObj name="Equation" r:id="rId17" imgW="596880" imgH="393480" progId="Equation.DSMT4">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79882" y="4272344"/>
                        <a:ext cx="930275"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矩形 30"/>
          <p:cNvSpPr/>
          <p:nvPr/>
        </p:nvSpPr>
        <p:spPr bwMode="auto">
          <a:xfrm>
            <a:off x="4382070" y="4415226"/>
            <a:ext cx="285752" cy="357190"/>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33" name="TextBox 32"/>
          <p:cNvSpPr txBox="1"/>
          <p:nvPr/>
        </p:nvSpPr>
        <p:spPr>
          <a:xfrm>
            <a:off x="642910" y="4916910"/>
            <a:ext cx="4429156" cy="1606594"/>
          </a:xfrm>
          <a:prstGeom prst="rect">
            <a:avLst/>
          </a:prstGeom>
          <a:noFill/>
          <a:ln w="28575">
            <a:solidFill>
              <a:srgbClr val="C00000"/>
            </a:solidFill>
          </a:ln>
        </p:spPr>
        <p:txBody>
          <a:bodyPr wrap="square" rtlCol="0">
            <a:spAutoFit/>
          </a:bodyPr>
          <a:lstStyle/>
          <a:p>
            <a:pPr marL="1073150" indent="-1073150" algn="ctr">
              <a:lnSpc>
                <a:spcPct val="120000"/>
              </a:lnSpc>
            </a:pPr>
            <a:r>
              <a:rPr lang="zh-CN" altLang="en-US" sz="2200" b="1">
                <a:solidFill>
                  <a:srgbClr val="C00000"/>
                </a:solidFill>
              </a:rPr>
              <a:t>图乘法</a:t>
            </a:r>
            <a:endParaRPr lang="en-US" altLang="zh-CN" sz="2200" b="1">
              <a:solidFill>
                <a:srgbClr val="C00000"/>
              </a:solidFill>
            </a:endParaRPr>
          </a:p>
          <a:p>
            <a:pPr>
              <a:lnSpc>
                <a:spcPct val="120000"/>
              </a:lnSpc>
            </a:pPr>
            <a:r>
              <a:rPr lang="zh-CN" altLang="en-US" sz="2000" b="1">
                <a:latin typeface="Times New Roman" pitchFamily="18" charset="0"/>
                <a:cs typeface="Times New Roman" pitchFamily="18" charset="0"/>
              </a:rPr>
              <a:t>⑴ 积分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K</a:t>
            </a:r>
            <a:r>
              <a:rPr lang="zh-CN" altLang="en-US" sz="2000" b="1">
                <a:latin typeface="Times New Roman" pitchFamily="18" charset="0"/>
                <a:cs typeface="Times New Roman" pitchFamily="18" charset="0"/>
              </a:rPr>
              <a:t>图面积</a:t>
            </a:r>
            <a:r>
              <a:rPr lang="en-US" altLang="zh-CN" sz="2000" b="1"/>
              <a:t>× </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K</a:t>
            </a:r>
            <a:r>
              <a:rPr lang="zh-CN" altLang="en-US" sz="2000" b="1">
                <a:latin typeface="Times New Roman" pitchFamily="18" charset="0"/>
                <a:cs typeface="Times New Roman" pitchFamily="18" charset="0"/>
              </a:rPr>
              <a:t>图形心</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处</a:t>
            </a:r>
            <a:r>
              <a:rPr lang="en-US" altLang="zh-CN" sz="2000" b="1">
                <a:latin typeface="Times New Roman" pitchFamily="18" charset="0"/>
                <a:cs typeface="Times New Roman" pitchFamily="18" charset="0"/>
              </a:rPr>
              <a:t>	   </a:t>
            </a:r>
            <a:r>
              <a:rPr lang="zh-CN" altLang="en-US" sz="2000" b="1"/>
              <a:t>直线弯矩图</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i</a:t>
            </a:r>
            <a:r>
              <a:rPr lang="zh-CN" altLang="en-US" sz="2000" b="1">
                <a:latin typeface="Times New Roman" pitchFamily="18" charset="0"/>
                <a:cs typeface="Times New Roman" pitchFamily="18" charset="0"/>
              </a:rPr>
              <a:t>值；</a:t>
            </a:r>
            <a:endParaRPr lang="en-US" altLang="zh-CN" sz="2000" b="1">
              <a:latin typeface="Times New Roman" pitchFamily="18" charset="0"/>
              <a:cs typeface="Times New Roman" pitchFamily="18" charset="0"/>
            </a:endParaRPr>
          </a:p>
          <a:p>
            <a:pPr>
              <a:lnSpc>
                <a:spcPct val="120000"/>
              </a:lnSpc>
            </a:pPr>
            <a:r>
              <a:rPr lang="en-US" altLang="zh-CN" sz="2000" b="1">
                <a:latin typeface="Times New Roman" pitchFamily="18" charset="0"/>
                <a:cs typeface="Times New Roman" pitchFamily="18" charset="0"/>
              </a:rPr>
              <a:t>⑵ </a:t>
            </a:r>
            <a:r>
              <a:rPr lang="zh-CN" altLang="en-US" sz="2000" b="1">
                <a:latin typeface="Times New Roman" pitchFamily="18" charset="0"/>
                <a:cs typeface="Times New Roman" pitchFamily="18" charset="0"/>
              </a:rPr>
              <a:t>若</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与</a:t>
            </a: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0</a:t>
            </a:r>
            <a:r>
              <a:rPr lang="zh-CN" altLang="en-US" sz="2000" b="1">
                <a:latin typeface="Times New Roman" pitchFamily="18" charset="0"/>
                <a:cs typeface="Times New Roman" pitchFamily="18" charset="0"/>
              </a:rPr>
              <a:t>同侧，则积分取正值；</a:t>
            </a:r>
            <a:endParaRPr lang="zh-CN" altLang="en-US" sz="2000" b="1"/>
          </a:p>
        </p:txBody>
      </p:sp>
      <p:sp>
        <p:nvSpPr>
          <p:cNvPr id="34" name="TextBox 33"/>
          <p:cNvSpPr txBox="1"/>
          <p:nvPr/>
        </p:nvSpPr>
        <p:spPr>
          <a:xfrm>
            <a:off x="5429256" y="6131502"/>
            <a:ext cx="3568606" cy="369332"/>
          </a:xfrm>
          <a:prstGeom prst="rect">
            <a:avLst/>
          </a:prstGeom>
          <a:noFill/>
          <a:ln w="28575">
            <a:noFill/>
          </a:ln>
        </p:spPr>
        <p:txBody>
          <a:bodyPr wrap="none" rtlCol="0">
            <a:spAutoFit/>
          </a:bodyPr>
          <a:lstStyle/>
          <a:p>
            <a:r>
              <a:rPr lang="zh-CN" altLang="en-US" b="1">
                <a:solidFill>
                  <a:srgbClr val="0033CC"/>
                </a:solidFill>
              </a:rPr>
              <a:t>关键：</a:t>
            </a:r>
            <a:r>
              <a:rPr lang="en-US" altLang="zh-CN" b="1" i="1">
                <a:solidFill>
                  <a:srgbClr val="0033CC"/>
                </a:solidFill>
                <a:latin typeface="Times New Roman" pitchFamily="18" charset="0"/>
                <a:cs typeface="Times New Roman" pitchFamily="18" charset="0"/>
              </a:rPr>
              <a:t> M</a:t>
            </a:r>
            <a:r>
              <a:rPr lang="en-US" altLang="zh-CN" b="1" baseline="-25000">
                <a:solidFill>
                  <a:srgbClr val="0033CC"/>
                </a:solidFill>
                <a:latin typeface="Times New Roman" pitchFamily="18" charset="0"/>
                <a:cs typeface="Times New Roman" pitchFamily="18" charset="0"/>
              </a:rPr>
              <a:t>K</a:t>
            </a:r>
            <a:r>
              <a:rPr lang="zh-CN" altLang="en-US" b="1">
                <a:solidFill>
                  <a:srgbClr val="0033CC"/>
                </a:solidFill>
                <a:latin typeface="Times New Roman" pitchFamily="18" charset="0"/>
                <a:cs typeface="Times New Roman" pitchFamily="18" charset="0"/>
              </a:rPr>
              <a:t>图的面积与形心位置；</a:t>
            </a:r>
            <a:endParaRPr lang="zh-CN" altLang="en-US" b="1">
              <a:solidFill>
                <a:srgbClr val="0033CC"/>
              </a:solidFill>
            </a:endParaRPr>
          </a:p>
        </p:txBody>
      </p:sp>
      <p:sp>
        <p:nvSpPr>
          <p:cNvPr id="35" name="TextBox 34"/>
          <p:cNvSpPr txBox="1"/>
          <p:nvPr/>
        </p:nvSpPr>
        <p:spPr>
          <a:xfrm>
            <a:off x="5596754" y="4786322"/>
            <a:ext cx="3332964" cy="1237262"/>
          </a:xfrm>
          <a:prstGeom prst="rect">
            <a:avLst/>
          </a:prstGeom>
          <a:noFill/>
          <a:ln w="28575">
            <a:solidFill>
              <a:srgbClr val="0033CC"/>
            </a:solidFill>
          </a:ln>
        </p:spPr>
        <p:txBody>
          <a:bodyPr wrap="none" rtlCol="0">
            <a:spAutoFit/>
          </a:bodyPr>
          <a:lstStyle/>
          <a:p>
            <a:pPr algn="ctr">
              <a:lnSpc>
                <a:spcPct val="120000"/>
              </a:lnSpc>
            </a:pPr>
            <a:r>
              <a:rPr lang="zh-CN" altLang="en-US" sz="2200" b="1">
                <a:solidFill>
                  <a:srgbClr val="0033CC"/>
                </a:solidFill>
              </a:rPr>
              <a:t>应用条件</a:t>
            </a:r>
            <a:endParaRPr lang="en-US" altLang="zh-CN" sz="2200" b="1">
              <a:solidFill>
                <a:srgbClr val="0033CC"/>
              </a:solidFill>
            </a:endParaRPr>
          </a:p>
          <a:p>
            <a:pPr>
              <a:lnSpc>
                <a:spcPct val="120000"/>
              </a:lnSpc>
            </a:pPr>
            <a:r>
              <a:rPr lang="zh-CN" altLang="en-US" sz="2000" b="1"/>
              <a:t>⑴ 等截面抗弯刚度的直杆；</a:t>
            </a:r>
            <a:endParaRPr lang="en-US" altLang="zh-CN" sz="2000" b="1"/>
          </a:p>
          <a:p>
            <a:pPr>
              <a:lnSpc>
                <a:spcPct val="120000"/>
              </a:lnSpc>
            </a:pPr>
            <a:r>
              <a:rPr lang="en-US" altLang="zh-CN" sz="2000" b="1"/>
              <a:t>⑵ </a:t>
            </a:r>
            <a:r>
              <a:rPr lang="zh-CN" altLang="en-US" sz="2000" b="1"/>
              <a:t>至少一个弯矩图为直线。</a:t>
            </a:r>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 calcmode="lin" valueType="num">
                                      <p:cBhvr additive="base">
                                        <p:cTn id="7"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479235"/>
                                        </p:tgtEl>
                                        <p:attrNameLst>
                                          <p:attrName>style.visibility</p:attrName>
                                        </p:attrNameLst>
                                      </p:cBhvr>
                                      <p:to>
                                        <p:strVal val="visible"/>
                                      </p:to>
                                    </p:set>
                                    <p:animEffect transition="in" filter="blinds(horizontal)">
                                      <p:cBhvr>
                                        <p:cTn id="11" dur="500"/>
                                        <p:tgtEl>
                                          <p:spTgt spid="47923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79238"/>
                                        </p:tgtEl>
                                        <p:attrNameLst>
                                          <p:attrName>style.visibility</p:attrName>
                                        </p:attrNameLst>
                                      </p:cBhvr>
                                      <p:to>
                                        <p:strVal val="visible"/>
                                      </p:to>
                                    </p:set>
                                    <p:animEffect transition="in" filter="blinds(horizontal)">
                                      <p:cBhvr>
                                        <p:cTn id="16" dur="500"/>
                                        <p:tgtEl>
                                          <p:spTgt spid="47923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9239"/>
                                        </p:tgtEl>
                                        <p:attrNameLst>
                                          <p:attrName>style.visibility</p:attrName>
                                        </p:attrNameLst>
                                      </p:cBhvr>
                                      <p:to>
                                        <p:strVal val="visible"/>
                                      </p:to>
                                    </p:set>
                                    <p:animEffect transition="in" filter="blinds(horizontal)">
                                      <p:cBhvr>
                                        <p:cTn id="27" dur="500"/>
                                        <p:tgtEl>
                                          <p:spTgt spid="47923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79236"/>
                                        </p:tgtEl>
                                        <p:attrNameLst>
                                          <p:attrName>style.visibility</p:attrName>
                                        </p:attrNameLst>
                                      </p:cBhvr>
                                      <p:to>
                                        <p:strVal val="visible"/>
                                      </p:to>
                                    </p:set>
                                    <p:anim calcmode="lin" valueType="num">
                                      <p:cBhvr additive="base">
                                        <p:cTn id="38" dur="500" fill="hold"/>
                                        <p:tgtEl>
                                          <p:spTgt spid="479236"/>
                                        </p:tgtEl>
                                        <p:attrNameLst>
                                          <p:attrName>ppt_x</p:attrName>
                                        </p:attrNameLst>
                                      </p:cBhvr>
                                      <p:tavLst>
                                        <p:tav tm="0">
                                          <p:val>
                                            <p:strVal val="#ppt_x"/>
                                          </p:val>
                                        </p:tav>
                                        <p:tav tm="100000">
                                          <p:val>
                                            <p:strVal val="#ppt_x"/>
                                          </p:val>
                                        </p:tav>
                                      </p:tavLst>
                                    </p:anim>
                                    <p:anim calcmode="lin" valueType="num">
                                      <p:cBhvr additive="base">
                                        <p:cTn id="39" dur="500" fill="hold"/>
                                        <p:tgtEl>
                                          <p:spTgt spid="479236"/>
                                        </p:tgtEl>
                                        <p:attrNameLst>
                                          <p:attrName>ppt_y</p:attrName>
                                        </p:attrNameLst>
                                      </p:cBhvr>
                                      <p:tavLst>
                                        <p:tav tm="0">
                                          <p:val>
                                            <p:strVal val="1+#ppt_h/2"/>
                                          </p:val>
                                        </p:tav>
                                        <p:tav tm="100000">
                                          <p:val>
                                            <p:strVal val="#ppt_y"/>
                                          </p:val>
                                        </p:tav>
                                      </p:tavLst>
                                    </p:anim>
                                  </p:childTnLst>
                                </p:cTn>
                              </p:par>
                              <p:par>
                                <p:cTn id="40" presetID="3" presetClass="entr" presetSubtype="10" fill="hold" nodeType="withEffect">
                                  <p:stCondLst>
                                    <p:cond delay="0"/>
                                  </p:stCondLst>
                                  <p:childTnLst>
                                    <p:set>
                                      <p:cBhvr>
                                        <p:cTn id="41" dur="1" fill="hold">
                                          <p:stCondLst>
                                            <p:cond delay="0"/>
                                          </p:stCondLst>
                                        </p:cTn>
                                        <p:tgtEl>
                                          <p:spTgt spid="479240"/>
                                        </p:tgtEl>
                                        <p:attrNameLst>
                                          <p:attrName>style.visibility</p:attrName>
                                        </p:attrNameLst>
                                      </p:cBhvr>
                                      <p:to>
                                        <p:strVal val="visible"/>
                                      </p:to>
                                    </p:set>
                                    <p:animEffect transition="in" filter="blinds(horizontal)">
                                      <p:cBhvr>
                                        <p:cTn id="42" dur="500"/>
                                        <p:tgtEl>
                                          <p:spTgt spid="47924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79241"/>
                                        </p:tgtEl>
                                        <p:attrNameLst>
                                          <p:attrName>style.visibility</p:attrName>
                                        </p:attrNameLst>
                                      </p:cBhvr>
                                      <p:to>
                                        <p:strVal val="visible"/>
                                      </p:to>
                                    </p:set>
                                    <p:animEffect transition="in" filter="blinds(horizontal)">
                                      <p:cBhvr>
                                        <p:cTn id="47" dur="500"/>
                                        <p:tgtEl>
                                          <p:spTgt spid="479241"/>
                                        </p:tgtEl>
                                      </p:cBhvr>
                                    </p:animEffect>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blinds(horizontal)">
                                      <p:cBhvr>
                                        <p:cTn id="57" dur="500"/>
                                        <p:tgtEl>
                                          <p:spTgt spid="20"/>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blinds(horizontal)">
                                      <p:cBhvr>
                                        <p:cTn id="60" dur="500"/>
                                        <p:tgtEl>
                                          <p:spTgt spid="24"/>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479242"/>
                                        </p:tgtEl>
                                        <p:attrNameLst>
                                          <p:attrName>style.visibility</p:attrName>
                                        </p:attrNameLst>
                                      </p:cBhvr>
                                      <p:to>
                                        <p:strVal val="visible"/>
                                      </p:to>
                                    </p:set>
                                    <p:animEffect transition="in" filter="blinds(horizontal)">
                                      <p:cBhvr>
                                        <p:cTn id="65" dur="500"/>
                                        <p:tgtEl>
                                          <p:spTgt spid="479242"/>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479244"/>
                                        </p:tgtEl>
                                        <p:attrNameLst>
                                          <p:attrName>style.visibility</p:attrName>
                                        </p:attrNameLst>
                                      </p:cBhvr>
                                      <p:to>
                                        <p:strVal val="visible"/>
                                      </p:to>
                                    </p:set>
                                    <p:animEffect transition="in" filter="blinds(horizontal)">
                                      <p:cBhvr>
                                        <p:cTn id="70" dur="500"/>
                                        <p:tgtEl>
                                          <p:spTgt spid="479244"/>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blinds(horizontal)">
                                      <p:cBhvr>
                                        <p:cTn id="75" dur="500"/>
                                        <p:tgtEl>
                                          <p:spTgt spid="27"/>
                                        </p:tgtEl>
                                      </p:cBhvr>
                                    </p:animEffect>
                                  </p:childTnLst>
                                </p:cTn>
                              </p:par>
                            </p:childTnLst>
                          </p:cTn>
                        </p:par>
                        <p:par>
                          <p:cTn id="76" fill="hold">
                            <p:stCondLst>
                              <p:cond delay="500"/>
                            </p:stCondLst>
                            <p:childTnLst>
                              <p:par>
                                <p:cTn id="77" presetID="3" presetClass="entr" presetSubtype="10" fill="hold" grpId="0"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blinds(horizontal)">
                                      <p:cBhvr>
                                        <p:cTn id="79" dur="500"/>
                                        <p:tgtEl>
                                          <p:spTgt spid="31"/>
                                        </p:tgtEl>
                                      </p:cBhvr>
                                    </p:animEffect>
                                  </p:childTnLst>
                                </p:cTn>
                              </p:par>
                            </p:childTnLst>
                          </p:cTn>
                        </p:par>
                        <p:par>
                          <p:cTn id="80" fill="hold">
                            <p:stCondLst>
                              <p:cond delay="1000"/>
                            </p:stCondLst>
                            <p:childTnLst>
                              <p:par>
                                <p:cTn id="81" presetID="3" presetClass="entr" presetSubtype="10" fill="hold" grpId="0"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blinds(horizontal)">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33"/>
                                        </p:tgtEl>
                                        <p:attrNameLst>
                                          <p:attrName>style.visibility</p:attrName>
                                        </p:attrNameLst>
                                      </p:cBhvr>
                                      <p:to>
                                        <p:strVal val="visible"/>
                                      </p:to>
                                    </p:set>
                                    <p:anim calcmode="lin" valueType="num">
                                      <p:cBhvr additive="base">
                                        <p:cTn id="88" dur="500" fill="hold"/>
                                        <p:tgtEl>
                                          <p:spTgt spid="33"/>
                                        </p:tgtEl>
                                        <p:attrNameLst>
                                          <p:attrName>ppt_x</p:attrName>
                                        </p:attrNameLst>
                                      </p:cBhvr>
                                      <p:tavLst>
                                        <p:tav tm="0">
                                          <p:val>
                                            <p:strVal val="#ppt_x"/>
                                          </p:val>
                                        </p:tav>
                                        <p:tav tm="100000">
                                          <p:val>
                                            <p:strVal val="#ppt_x"/>
                                          </p:val>
                                        </p:tav>
                                      </p:tavLst>
                                    </p:anim>
                                    <p:anim calcmode="lin" valueType="num">
                                      <p:cBhvr additive="base">
                                        <p:cTn id="8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35"/>
                                        </p:tgtEl>
                                        <p:attrNameLst>
                                          <p:attrName>style.visibility</p:attrName>
                                        </p:attrNameLst>
                                      </p:cBhvr>
                                      <p:to>
                                        <p:strVal val="visible"/>
                                      </p:to>
                                    </p:set>
                                    <p:anim calcmode="lin" valueType="num">
                                      <p:cBhvr additive="base">
                                        <p:cTn id="100" dur="500" fill="hold"/>
                                        <p:tgtEl>
                                          <p:spTgt spid="35"/>
                                        </p:tgtEl>
                                        <p:attrNameLst>
                                          <p:attrName>ppt_x</p:attrName>
                                        </p:attrNameLst>
                                      </p:cBhvr>
                                      <p:tavLst>
                                        <p:tav tm="0">
                                          <p:val>
                                            <p:strVal val="#ppt_x"/>
                                          </p:val>
                                        </p:tav>
                                        <p:tav tm="100000">
                                          <p:val>
                                            <p:strVal val="#ppt_x"/>
                                          </p:val>
                                        </p:tav>
                                      </p:tavLst>
                                    </p:anim>
                                    <p:anim calcmode="lin" valueType="num">
                                      <p:cBhvr additive="base">
                                        <p:cTn id="10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P spid="13" grpId="0"/>
      <p:bldP spid="15" grpId="0"/>
      <p:bldP spid="17" grpId="0"/>
      <p:bldP spid="20" grpId="0"/>
      <p:bldP spid="24" grpId="0" animBg="1"/>
      <p:bldP spid="27" grpId="0" animBg="1"/>
      <p:bldP spid="28" grpId="0"/>
      <p:bldP spid="31" grpId="0" animBg="1"/>
      <p:bldP spid="33" grpId="0" animBg="1"/>
      <p:bldP spid="34" grpId="0"/>
      <p:bldP spid="3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关键：</a:t>
            </a:r>
            <a:r>
              <a:rPr lang="en-US"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求得</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K</a:t>
            </a:r>
            <a:r>
              <a:rPr lang="zh-CN" altLang="en-US" sz="2000" b="1">
                <a:latin typeface="Times New Roman" pitchFamily="18" charset="0"/>
                <a:cs typeface="Times New Roman" pitchFamily="18" charset="0"/>
              </a:rPr>
              <a:t>图面积与形心位置；</a:t>
            </a:r>
            <a:endParaRPr lang="en-US" altLang="zh-CN" sz="2000" b="1">
              <a:latin typeface="Times New Roman" pitchFamily="18" charset="0"/>
              <a:cs typeface="Times New Roman" pitchFamily="18" charset="0"/>
            </a:endParaRPr>
          </a:p>
        </p:txBody>
      </p:sp>
      <p:sp>
        <p:nvSpPr>
          <p:cNvPr id="37" name="Rectangle 6"/>
          <p:cNvSpPr>
            <a:spLocks noChangeArrowheads="1"/>
          </p:cNvSpPr>
          <p:nvPr/>
        </p:nvSpPr>
        <p:spPr bwMode="auto">
          <a:xfrm>
            <a:off x="469540" y="2213897"/>
            <a:ext cx="817442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常见图形的面积与形心；</a:t>
            </a:r>
            <a:endParaRPr lang="en-US" altLang="zh-CN" sz="2000" b="1">
              <a:latin typeface="Times New Roman" pitchFamily="18" charset="0"/>
              <a:cs typeface="Times New Roman" pitchFamily="18" charset="0"/>
            </a:endParaRPr>
          </a:p>
        </p:txBody>
      </p:sp>
      <p:pic>
        <p:nvPicPr>
          <p:cNvPr id="479246" name="Picture 14" descr="C:\Users\Administrator\Pictures\2015-10-31\形心.jpg"/>
          <p:cNvPicPr>
            <a:picLocks noChangeAspect="1" noChangeArrowheads="1"/>
          </p:cNvPicPr>
          <p:nvPr/>
        </p:nvPicPr>
        <p:blipFill>
          <a:blip r:embed="rId4"/>
          <a:srcRect l="2467" r="51891" b="65018"/>
          <a:stretch>
            <a:fillRect/>
          </a:stretch>
        </p:blipFill>
        <p:spPr bwMode="auto">
          <a:xfrm>
            <a:off x="714348" y="2786058"/>
            <a:ext cx="2643206" cy="1785950"/>
          </a:xfrm>
          <a:prstGeom prst="rect">
            <a:avLst/>
          </a:prstGeom>
          <a:noFill/>
          <a:ln>
            <a:solidFill>
              <a:schemeClr val="tx1"/>
            </a:solidFill>
          </a:ln>
        </p:spPr>
      </p:pic>
      <p:pic>
        <p:nvPicPr>
          <p:cNvPr id="479247" name="Picture 15" descr="C:\Users\Administrator\Pictures\2015-10-31\形心.jpg"/>
          <p:cNvPicPr>
            <a:picLocks noChangeAspect="1" noChangeArrowheads="1"/>
          </p:cNvPicPr>
          <p:nvPr/>
        </p:nvPicPr>
        <p:blipFill>
          <a:blip r:embed="rId4"/>
          <a:srcRect l="2467" t="34608" r="51891" b="32183"/>
          <a:stretch>
            <a:fillRect/>
          </a:stretch>
        </p:blipFill>
        <p:spPr bwMode="auto">
          <a:xfrm>
            <a:off x="714348" y="4786322"/>
            <a:ext cx="2643206" cy="1695468"/>
          </a:xfrm>
          <a:prstGeom prst="rect">
            <a:avLst/>
          </a:prstGeom>
          <a:noFill/>
          <a:ln>
            <a:solidFill>
              <a:schemeClr val="tx1"/>
            </a:solidFill>
          </a:ln>
        </p:spPr>
      </p:pic>
      <p:pic>
        <p:nvPicPr>
          <p:cNvPr id="479248" name="Picture 16" descr="C:\Users\Administrator\Pictures\2015-10-31\形心.jpg"/>
          <p:cNvPicPr>
            <a:picLocks noChangeAspect="1" noChangeArrowheads="1"/>
          </p:cNvPicPr>
          <p:nvPr/>
        </p:nvPicPr>
        <p:blipFill>
          <a:blip r:embed="rId4"/>
          <a:srcRect l="56168" t="34608" b="31810"/>
          <a:stretch>
            <a:fillRect/>
          </a:stretch>
        </p:blipFill>
        <p:spPr bwMode="auto">
          <a:xfrm>
            <a:off x="3533788" y="4786322"/>
            <a:ext cx="2538410" cy="1714512"/>
          </a:xfrm>
          <a:prstGeom prst="rect">
            <a:avLst/>
          </a:prstGeom>
          <a:noFill/>
          <a:ln>
            <a:solidFill>
              <a:schemeClr val="tx1"/>
            </a:solidFill>
          </a:ln>
        </p:spPr>
      </p:pic>
      <p:grpSp>
        <p:nvGrpSpPr>
          <p:cNvPr id="71" name="组合 70"/>
          <p:cNvGrpSpPr/>
          <p:nvPr/>
        </p:nvGrpSpPr>
        <p:grpSpPr>
          <a:xfrm>
            <a:off x="3571868" y="2686202"/>
            <a:ext cx="2073388" cy="1981556"/>
            <a:chOff x="3643306" y="2686202"/>
            <a:chExt cx="2073388" cy="1981556"/>
          </a:xfrm>
        </p:grpSpPr>
        <p:sp>
          <p:nvSpPr>
            <p:cNvPr id="47" name="直角三角形 46"/>
            <p:cNvSpPr/>
            <p:nvPr/>
          </p:nvSpPr>
          <p:spPr bwMode="auto">
            <a:xfrm flipH="1">
              <a:off x="3714744" y="3143248"/>
              <a:ext cx="1643074" cy="714380"/>
            </a:xfrm>
            <a:prstGeom prst="rtTriangle">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49" name="直接连接符 48"/>
            <p:cNvCxnSpPr/>
            <p:nvPr/>
          </p:nvCxnSpPr>
          <p:spPr bwMode="auto">
            <a:xfrm>
              <a:off x="5500694" y="3000372"/>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a:off x="5500694" y="3843848"/>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rot="5400000">
              <a:off x="5202750" y="3429000"/>
              <a:ext cx="857256" cy="1588"/>
            </a:xfrm>
            <a:prstGeom prst="line">
              <a:avLst/>
            </a:prstGeom>
            <a:solidFill>
              <a:schemeClr val="accent1"/>
            </a:solidFill>
            <a:ln w="28575" cap="flat" cmpd="sng" algn="ctr">
              <a:solidFill>
                <a:schemeClr val="tx1"/>
              </a:solidFill>
              <a:prstDash val="solid"/>
              <a:round/>
              <a:headEnd type="triangle" w="med" len="lg"/>
              <a:tailEnd type="triangle" w="med" len="lg"/>
            </a:ln>
            <a:effectLst/>
          </p:spPr>
        </p:cxnSp>
        <p:sp>
          <p:nvSpPr>
            <p:cNvPr id="55" name="TextBox 54"/>
            <p:cNvSpPr txBox="1"/>
            <p:nvPr/>
          </p:nvSpPr>
          <p:spPr>
            <a:xfrm rot="16200000">
              <a:off x="5360053" y="3222929"/>
              <a:ext cx="309700" cy="338554"/>
            </a:xfrm>
            <a:prstGeom prst="rect">
              <a:avLst/>
            </a:prstGeom>
            <a:noFill/>
            <a:ln w="28575">
              <a:noFill/>
            </a:ln>
          </p:spPr>
          <p:txBody>
            <a:bodyPr wrap="none" rtlCol="0">
              <a:spAutoFit/>
            </a:bodyPr>
            <a:lstStyle/>
            <a:p>
              <a:r>
                <a:rPr lang="en-US" altLang="zh-CN" sz="1600" b="1" i="1">
                  <a:latin typeface="Times New Roman" pitchFamily="18" charset="0"/>
                  <a:cs typeface="Times New Roman" pitchFamily="18" charset="0"/>
                </a:rPr>
                <a:t>h</a:t>
              </a:r>
              <a:endParaRPr lang="zh-CN" altLang="en-US" sz="1600" b="1" i="1">
                <a:latin typeface="Times New Roman" pitchFamily="18" charset="0"/>
                <a:cs typeface="Times New Roman" pitchFamily="18" charset="0"/>
              </a:endParaRPr>
            </a:p>
          </p:txBody>
        </p:sp>
        <p:cxnSp>
          <p:nvCxnSpPr>
            <p:cNvPr id="56" name="直接连接符 55"/>
            <p:cNvCxnSpPr/>
            <p:nvPr/>
          </p:nvCxnSpPr>
          <p:spPr bwMode="auto">
            <a:xfrm rot="5400000">
              <a:off x="3607538" y="2999592"/>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7" name="直接连接符 56"/>
            <p:cNvCxnSpPr/>
            <p:nvPr/>
          </p:nvCxnSpPr>
          <p:spPr bwMode="auto">
            <a:xfrm rot="5400000">
              <a:off x="5249024" y="2997878"/>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p:nvPr/>
          </p:nvCxnSpPr>
          <p:spPr bwMode="auto">
            <a:xfrm rot="10800000">
              <a:off x="3702552" y="3000372"/>
              <a:ext cx="1655266" cy="1588"/>
            </a:xfrm>
            <a:prstGeom prst="line">
              <a:avLst/>
            </a:prstGeom>
            <a:solidFill>
              <a:schemeClr val="accent1"/>
            </a:solidFill>
            <a:ln w="28575" cap="flat" cmpd="sng" algn="ctr">
              <a:solidFill>
                <a:schemeClr val="tx1"/>
              </a:solidFill>
              <a:prstDash val="solid"/>
              <a:round/>
              <a:headEnd type="triangle" w="med" len="lg"/>
              <a:tailEnd type="triangle" w="med" len="lg"/>
            </a:ln>
            <a:effectLst/>
          </p:spPr>
        </p:cxnSp>
        <p:sp>
          <p:nvSpPr>
            <p:cNvPr id="60" name="TextBox 59"/>
            <p:cNvSpPr txBox="1"/>
            <p:nvPr/>
          </p:nvSpPr>
          <p:spPr>
            <a:xfrm>
              <a:off x="4416932" y="2686202"/>
              <a:ext cx="242374" cy="338554"/>
            </a:xfrm>
            <a:prstGeom prst="rect">
              <a:avLst/>
            </a:prstGeom>
            <a:noFill/>
            <a:ln w="28575">
              <a:noFill/>
            </a:ln>
          </p:spPr>
          <p:txBody>
            <a:bodyPr wrap="none" rtlCol="0">
              <a:spAutoFit/>
            </a:bodyPr>
            <a:lstStyle/>
            <a:p>
              <a:r>
                <a:rPr lang="en-US" altLang="zh-CN" sz="1600" b="1" i="1">
                  <a:latin typeface="Times New Roman" pitchFamily="18" charset="0"/>
                  <a:cs typeface="Times New Roman" pitchFamily="18" charset="0"/>
                </a:rPr>
                <a:t>l</a:t>
              </a:r>
              <a:endParaRPr lang="zh-CN" altLang="en-US" sz="1600" b="1" i="1">
                <a:latin typeface="Times New Roman" pitchFamily="18" charset="0"/>
                <a:cs typeface="Times New Roman" pitchFamily="18" charset="0"/>
              </a:endParaRPr>
            </a:p>
          </p:txBody>
        </p:sp>
        <p:sp>
          <p:nvSpPr>
            <p:cNvPr id="61" name="椭圆 60"/>
            <p:cNvSpPr/>
            <p:nvPr/>
          </p:nvSpPr>
          <p:spPr bwMode="auto">
            <a:xfrm>
              <a:off x="4812033" y="3621979"/>
              <a:ext cx="45719" cy="45719"/>
            </a:xfrm>
            <a:prstGeom prst="ellipse">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62" name="TextBox 61"/>
            <p:cNvSpPr txBox="1"/>
            <p:nvPr/>
          </p:nvSpPr>
          <p:spPr>
            <a:xfrm>
              <a:off x="4857752" y="3357562"/>
              <a:ext cx="320922" cy="338554"/>
            </a:xfrm>
            <a:prstGeom prst="rect">
              <a:avLst/>
            </a:prstGeom>
            <a:noFill/>
            <a:ln w="28575">
              <a:noFill/>
            </a:ln>
          </p:spPr>
          <p:txBody>
            <a:bodyPr wrap="none" rtlCol="0">
              <a:spAutoFit/>
            </a:bodyPr>
            <a:lstStyle/>
            <a:p>
              <a:r>
                <a:rPr lang="en-US" altLang="zh-CN" sz="1600" b="1" i="1">
                  <a:latin typeface="Times New Roman" pitchFamily="18" charset="0"/>
                  <a:cs typeface="Times New Roman" pitchFamily="18" charset="0"/>
                </a:rPr>
                <a:t>C</a:t>
              </a:r>
              <a:endParaRPr lang="zh-CN" altLang="en-US" sz="1600" b="1" i="1">
                <a:latin typeface="Times New Roman" pitchFamily="18" charset="0"/>
                <a:cs typeface="Times New Roman" pitchFamily="18" charset="0"/>
              </a:endParaRPr>
            </a:p>
          </p:txBody>
        </p:sp>
        <p:cxnSp>
          <p:nvCxnSpPr>
            <p:cNvPr id="63" name="直接连接符 62"/>
            <p:cNvCxnSpPr/>
            <p:nvPr/>
          </p:nvCxnSpPr>
          <p:spPr bwMode="auto">
            <a:xfrm rot="5400000">
              <a:off x="3607538" y="4034586"/>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rot="5400000">
              <a:off x="5250612" y="4036272"/>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4738354" y="4034586"/>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rot="10800000">
              <a:off x="4819210" y="4037080"/>
              <a:ext cx="550800" cy="1588"/>
            </a:xfrm>
            <a:prstGeom prst="line">
              <a:avLst/>
            </a:prstGeom>
            <a:solidFill>
              <a:schemeClr val="accent1"/>
            </a:solidFill>
            <a:ln w="28575" cap="flat" cmpd="sng" algn="ctr">
              <a:solidFill>
                <a:schemeClr val="tx1"/>
              </a:solidFill>
              <a:prstDash val="solid"/>
              <a:round/>
              <a:headEnd type="triangle" w="med" len="lg"/>
              <a:tailEnd type="triangle" w="med" len="lg"/>
            </a:ln>
            <a:effectLst/>
          </p:spPr>
        </p:cxnSp>
        <p:cxnSp>
          <p:nvCxnSpPr>
            <p:cNvPr id="67" name="直接连接符 66"/>
            <p:cNvCxnSpPr>
              <a:cxnSpLocks noChangeAspect="1"/>
            </p:cNvCxnSpPr>
            <p:nvPr/>
          </p:nvCxnSpPr>
          <p:spPr bwMode="auto">
            <a:xfrm rot="10800000">
              <a:off x="3721290" y="4032189"/>
              <a:ext cx="1101600" cy="3176"/>
            </a:xfrm>
            <a:prstGeom prst="line">
              <a:avLst/>
            </a:prstGeom>
            <a:solidFill>
              <a:schemeClr val="accent1"/>
            </a:solidFill>
            <a:ln w="28575" cap="flat" cmpd="sng" algn="ctr">
              <a:solidFill>
                <a:schemeClr val="tx1"/>
              </a:solidFill>
              <a:prstDash val="solid"/>
              <a:round/>
              <a:headEnd type="triangle" w="med" len="lg"/>
              <a:tailEnd type="triangle" w="med" len="lg"/>
            </a:ln>
            <a:effectLst/>
          </p:spPr>
        </p:cxnSp>
        <p:sp>
          <p:nvSpPr>
            <p:cNvPr id="68" name="TextBox 67"/>
            <p:cNvSpPr txBox="1"/>
            <p:nvPr/>
          </p:nvSpPr>
          <p:spPr>
            <a:xfrm>
              <a:off x="4059742" y="4006948"/>
              <a:ext cx="505267" cy="338554"/>
            </a:xfrm>
            <a:prstGeom prst="rect">
              <a:avLst/>
            </a:prstGeom>
            <a:noFill/>
            <a:ln w="28575">
              <a:noFill/>
            </a:ln>
          </p:spPr>
          <p:txBody>
            <a:bodyPr wrap="none" rtlCol="0">
              <a:spAutoFit/>
            </a:bodyPr>
            <a:lstStyle/>
            <a:p>
              <a:r>
                <a:rPr lang="en-US" altLang="zh-CN" sz="1600" b="1">
                  <a:latin typeface="Times New Roman" pitchFamily="18" charset="0"/>
                  <a:cs typeface="Times New Roman" pitchFamily="18" charset="0"/>
                </a:rPr>
                <a:t>2</a:t>
              </a:r>
              <a:r>
                <a:rPr lang="en-US" altLang="zh-CN" sz="1600" b="1" i="1">
                  <a:latin typeface="Times New Roman" pitchFamily="18" charset="0"/>
                  <a:cs typeface="Times New Roman" pitchFamily="18" charset="0"/>
                </a:rPr>
                <a:t>l</a:t>
              </a:r>
              <a:r>
                <a:rPr lang="en-US" altLang="zh-CN" sz="1600" b="1">
                  <a:latin typeface="Times New Roman" pitchFamily="18" charset="0"/>
                  <a:cs typeface="Times New Roman" pitchFamily="18" charset="0"/>
                </a:rPr>
                <a:t>/3</a:t>
              </a:r>
              <a:endParaRPr lang="zh-CN" altLang="en-US" sz="1600" b="1">
                <a:latin typeface="Times New Roman" pitchFamily="18" charset="0"/>
                <a:cs typeface="Times New Roman" pitchFamily="18" charset="0"/>
              </a:endParaRPr>
            </a:p>
          </p:txBody>
        </p:sp>
        <p:sp>
          <p:nvSpPr>
            <p:cNvPr id="69" name="TextBox 68"/>
            <p:cNvSpPr txBox="1"/>
            <p:nvPr/>
          </p:nvSpPr>
          <p:spPr>
            <a:xfrm>
              <a:off x="4882136" y="4000504"/>
              <a:ext cx="402674" cy="338554"/>
            </a:xfrm>
            <a:prstGeom prst="rect">
              <a:avLst/>
            </a:prstGeom>
            <a:noFill/>
            <a:ln w="28575">
              <a:noFill/>
            </a:ln>
          </p:spPr>
          <p:txBody>
            <a:bodyPr wrap="none" rtlCol="0">
              <a:spAutoFit/>
            </a:bodyPr>
            <a:lstStyle/>
            <a:p>
              <a:r>
                <a:rPr lang="en-US" altLang="zh-CN" sz="1600" b="1" i="1">
                  <a:latin typeface="Times New Roman" pitchFamily="18" charset="0"/>
                  <a:cs typeface="Times New Roman" pitchFamily="18" charset="0"/>
                </a:rPr>
                <a:t>l</a:t>
              </a:r>
              <a:r>
                <a:rPr lang="en-US" altLang="zh-CN" sz="1600" b="1">
                  <a:latin typeface="Times New Roman" pitchFamily="18" charset="0"/>
                  <a:cs typeface="Times New Roman" pitchFamily="18" charset="0"/>
                </a:rPr>
                <a:t>/3</a:t>
              </a:r>
              <a:endParaRPr lang="zh-CN" altLang="en-US" sz="1600" b="1">
                <a:latin typeface="Times New Roman" pitchFamily="18" charset="0"/>
                <a:cs typeface="Times New Roman" pitchFamily="18" charset="0"/>
              </a:endParaRPr>
            </a:p>
          </p:txBody>
        </p:sp>
        <p:sp>
          <p:nvSpPr>
            <p:cNvPr id="70" name="TextBox 69"/>
            <p:cNvSpPr txBox="1"/>
            <p:nvPr/>
          </p:nvSpPr>
          <p:spPr>
            <a:xfrm>
              <a:off x="3643306" y="4286256"/>
              <a:ext cx="1627369" cy="338554"/>
            </a:xfrm>
            <a:prstGeom prst="rect">
              <a:avLst/>
            </a:prstGeom>
            <a:noFill/>
            <a:ln w="28575">
              <a:noFill/>
            </a:ln>
          </p:spPr>
          <p:txBody>
            <a:bodyPr wrap="none" rtlCol="0">
              <a:spAutoFit/>
            </a:bodyPr>
            <a:lstStyle/>
            <a:p>
              <a:r>
                <a:rPr lang="zh-CN" altLang="en-US" sz="1600" b="1">
                  <a:latin typeface="仿宋" pitchFamily="49" charset="-122"/>
                  <a:ea typeface="仿宋" pitchFamily="49" charset="-122"/>
                </a:rPr>
                <a:t>直角三角形</a:t>
              </a:r>
              <a:r>
                <a:rPr lang="zh-CN" altLang="en-US" sz="1600" b="1" baseline="-25000">
                  <a:latin typeface="仿宋" pitchFamily="49" charset="-122"/>
                  <a:ea typeface="仿宋" pitchFamily="49" charset="-122"/>
                </a:rPr>
                <a:t> </a:t>
              </a:r>
              <a:r>
                <a:rPr lang="en-US" altLang="zh-CN" sz="1600" b="1" i="1">
                  <a:latin typeface="Times New Roman" pitchFamily="18" charset="0"/>
                  <a:ea typeface="仿宋" pitchFamily="49" charset="-122"/>
                  <a:cs typeface="Times New Roman" pitchFamily="18" charset="0"/>
                </a:rPr>
                <a:t>A</a:t>
              </a:r>
              <a:r>
                <a:rPr lang="en-US" altLang="zh-CN" sz="1600" b="1">
                  <a:latin typeface="Times New Roman" pitchFamily="18" charset="0"/>
                  <a:ea typeface="仿宋" pitchFamily="49" charset="-122"/>
                  <a:cs typeface="Times New Roman" pitchFamily="18" charset="0"/>
                </a:rPr>
                <a:t>= </a:t>
              </a:r>
              <a:endParaRPr lang="zh-CN" altLang="en-US" sz="1600" b="1">
                <a:latin typeface="Times New Roman" pitchFamily="18" charset="0"/>
                <a:ea typeface="仿宋" pitchFamily="49" charset="-122"/>
                <a:cs typeface="Times New Roman" pitchFamily="18" charset="0"/>
              </a:endParaRPr>
            </a:p>
          </p:txBody>
        </p:sp>
        <p:graphicFrame>
          <p:nvGraphicFramePr>
            <p:cNvPr id="479249" name="Object 17"/>
            <p:cNvGraphicFramePr>
              <a:graphicFrameLocks noChangeAspect="1"/>
            </p:cNvGraphicFramePr>
            <p:nvPr/>
          </p:nvGraphicFramePr>
          <p:xfrm>
            <a:off x="5124958" y="4224846"/>
            <a:ext cx="228600" cy="442912"/>
          </p:xfrm>
          <a:graphic>
            <a:graphicData uri="http://schemas.openxmlformats.org/presentationml/2006/ole">
              <mc:AlternateContent xmlns:mc="http://schemas.openxmlformats.org/markup-compatibility/2006">
                <mc:Choice xmlns:v="urn:schemas-microsoft-com:vml" Requires="v">
                  <p:oleObj spid="_x0000_s479252" name="Equation" r:id="rId5" imgW="203040" imgH="393480" progId="Equation.DSMT4">
                    <p:embed/>
                  </p:oleObj>
                </mc:Choice>
                <mc:Fallback>
                  <p:oleObj name="Equation" r:id="rId5" imgW="203040" imgH="39348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4958" y="4224846"/>
                          <a:ext cx="228600"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479250" name="Picture 18" descr="C:\Users\Administrator\Pictures\2015-10-31\形心.jpg"/>
          <p:cNvPicPr>
            <a:picLocks noChangeAspect="1" noChangeArrowheads="1"/>
          </p:cNvPicPr>
          <p:nvPr/>
        </p:nvPicPr>
        <p:blipFill>
          <a:blip r:embed="rId4"/>
          <a:srcRect l="56168" t="66791"/>
          <a:stretch>
            <a:fillRect/>
          </a:stretch>
        </p:blipFill>
        <p:spPr bwMode="auto">
          <a:xfrm>
            <a:off x="6248432" y="4786322"/>
            <a:ext cx="2538410" cy="1695444"/>
          </a:xfrm>
          <a:prstGeom prst="rect">
            <a:avLst/>
          </a:prstGeom>
          <a:noFill/>
          <a:ln>
            <a:solidFill>
              <a:schemeClr val="tx1"/>
            </a:solidFill>
          </a:ln>
        </p:spPr>
      </p:pic>
      <p:graphicFrame>
        <p:nvGraphicFramePr>
          <p:cNvPr id="479251" name="Object 6"/>
          <p:cNvGraphicFramePr>
            <a:graphicFrameLocks noChangeAspect="1"/>
          </p:cNvGraphicFramePr>
          <p:nvPr/>
        </p:nvGraphicFramePr>
        <p:xfrm>
          <a:off x="6643702" y="4071942"/>
          <a:ext cx="1641475" cy="433387"/>
        </p:xfrm>
        <a:graphic>
          <a:graphicData uri="http://schemas.openxmlformats.org/presentationml/2006/ole">
            <mc:AlternateContent xmlns:mc="http://schemas.openxmlformats.org/markup-compatibility/2006">
              <mc:Choice xmlns:v="urn:schemas-microsoft-com:vml" Requires="v">
                <p:oleObj spid="_x0000_s479253" name="Equation" r:id="rId7" imgW="1054080" imgH="279360" progId="Equation.DSMT4">
                  <p:embed/>
                </p:oleObj>
              </mc:Choice>
              <mc:Fallback>
                <p:oleObj name="Equation" r:id="rId7" imgW="1054080" imgH="27936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3702" y="4071942"/>
                        <a:ext cx="1641475"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4" name="Picture 4" descr="C:\Users\Administrator\Pictures\2015-10-31\图乘法.jpg"/>
          <p:cNvPicPr>
            <a:picLocks noChangeAspect="1" noChangeArrowheads="1"/>
          </p:cNvPicPr>
          <p:nvPr/>
        </p:nvPicPr>
        <p:blipFill>
          <a:blip r:embed="rId9"/>
          <a:srcRect/>
          <a:stretch>
            <a:fillRect/>
          </a:stretch>
        </p:blipFill>
        <p:spPr bwMode="auto">
          <a:xfrm>
            <a:off x="6000760" y="1500174"/>
            <a:ext cx="2899573" cy="2428892"/>
          </a:xfrm>
          <a:prstGeom prst="rect">
            <a:avLst/>
          </a:prstGeom>
          <a:noFill/>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9246"/>
                                        </p:tgtEl>
                                        <p:attrNameLst>
                                          <p:attrName>style.visibility</p:attrName>
                                        </p:attrNameLst>
                                      </p:cBhvr>
                                      <p:to>
                                        <p:strVal val="visible"/>
                                      </p:to>
                                    </p:set>
                                    <p:anim calcmode="lin" valueType="num">
                                      <p:cBhvr additive="base">
                                        <p:cTn id="13" dur="500" fill="hold"/>
                                        <p:tgtEl>
                                          <p:spTgt spid="479246"/>
                                        </p:tgtEl>
                                        <p:attrNameLst>
                                          <p:attrName>ppt_x</p:attrName>
                                        </p:attrNameLst>
                                      </p:cBhvr>
                                      <p:tavLst>
                                        <p:tav tm="0">
                                          <p:val>
                                            <p:strVal val="#ppt_x"/>
                                          </p:val>
                                        </p:tav>
                                        <p:tav tm="100000">
                                          <p:val>
                                            <p:strVal val="#ppt_x"/>
                                          </p:val>
                                        </p:tav>
                                      </p:tavLst>
                                    </p:anim>
                                    <p:anim calcmode="lin" valueType="num">
                                      <p:cBhvr additive="base">
                                        <p:cTn id="14" dur="500" fill="hold"/>
                                        <p:tgtEl>
                                          <p:spTgt spid="4792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500" fill="hold"/>
                                        <p:tgtEl>
                                          <p:spTgt spid="71"/>
                                        </p:tgtEl>
                                        <p:attrNameLst>
                                          <p:attrName>ppt_x</p:attrName>
                                        </p:attrNameLst>
                                      </p:cBhvr>
                                      <p:tavLst>
                                        <p:tav tm="0">
                                          <p:val>
                                            <p:strVal val="#ppt_x"/>
                                          </p:val>
                                        </p:tav>
                                        <p:tav tm="100000">
                                          <p:val>
                                            <p:strVal val="#ppt_x"/>
                                          </p:val>
                                        </p:tav>
                                      </p:tavLst>
                                    </p:anim>
                                    <p:anim calcmode="lin" valueType="num">
                                      <p:cBhvr additive="base">
                                        <p:cTn id="20"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9247"/>
                                        </p:tgtEl>
                                        <p:attrNameLst>
                                          <p:attrName>style.visibility</p:attrName>
                                        </p:attrNameLst>
                                      </p:cBhvr>
                                      <p:to>
                                        <p:strVal val="visible"/>
                                      </p:to>
                                    </p:set>
                                    <p:anim calcmode="lin" valueType="num">
                                      <p:cBhvr additive="base">
                                        <p:cTn id="25" dur="500" fill="hold"/>
                                        <p:tgtEl>
                                          <p:spTgt spid="479247"/>
                                        </p:tgtEl>
                                        <p:attrNameLst>
                                          <p:attrName>ppt_x</p:attrName>
                                        </p:attrNameLst>
                                      </p:cBhvr>
                                      <p:tavLst>
                                        <p:tav tm="0">
                                          <p:val>
                                            <p:strVal val="#ppt_x"/>
                                          </p:val>
                                        </p:tav>
                                        <p:tav tm="100000">
                                          <p:val>
                                            <p:strVal val="#ppt_x"/>
                                          </p:val>
                                        </p:tav>
                                      </p:tavLst>
                                    </p:anim>
                                    <p:anim calcmode="lin" valueType="num">
                                      <p:cBhvr additive="base">
                                        <p:cTn id="26" dur="500" fill="hold"/>
                                        <p:tgtEl>
                                          <p:spTgt spid="47924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9248"/>
                                        </p:tgtEl>
                                        <p:attrNameLst>
                                          <p:attrName>style.visibility</p:attrName>
                                        </p:attrNameLst>
                                      </p:cBhvr>
                                      <p:to>
                                        <p:strVal val="visible"/>
                                      </p:to>
                                    </p:set>
                                    <p:anim calcmode="lin" valueType="num">
                                      <p:cBhvr additive="base">
                                        <p:cTn id="31" dur="500" fill="hold"/>
                                        <p:tgtEl>
                                          <p:spTgt spid="479248"/>
                                        </p:tgtEl>
                                        <p:attrNameLst>
                                          <p:attrName>ppt_x</p:attrName>
                                        </p:attrNameLst>
                                      </p:cBhvr>
                                      <p:tavLst>
                                        <p:tav tm="0">
                                          <p:val>
                                            <p:strVal val="#ppt_x"/>
                                          </p:val>
                                        </p:tav>
                                        <p:tav tm="100000">
                                          <p:val>
                                            <p:strVal val="#ppt_x"/>
                                          </p:val>
                                        </p:tav>
                                      </p:tavLst>
                                    </p:anim>
                                    <p:anim calcmode="lin" valueType="num">
                                      <p:cBhvr additive="base">
                                        <p:cTn id="32" dur="500" fill="hold"/>
                                        <p:tgtEl>
                                          <p:spTgt spid="47924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79250"/>
                                        </p:tgtEl>
                                        <p:attrNameLst>
                                          <p:attrName>style.visibility</p:attrName>
                                        </p:attrNameLst>
                                      </p:cBhvr>
                                      <p:to>
                                        <p:strVal val="visible"/>
                                      </p:to>
                                    </p:set>
                                    <p:anim calcmode="lin" valueType="num">
                                      <p:cBhvr additive="base">
                                        <p:cTn id="37" dur="500" fill="hold"/>
                                        <p:tgtEl>
                                          <p:spTgt spid="479250"/>
                                        </p:tgtEl>
                                        <p:attrNameLst>
                                          <p:attrName>ppt_x</p:attrName>
                                        </p:attrNameLst>
                                      </p:cBhvr>
                                      <p:tavLst>
                                        <p:tav tm="0">
                                          <p:val>
                                            <p:strVal val="#ppt_x"/>
                                          </p:val>
                                        </p:tav>
                                        <p:tav tm="100000">
                                          <p:val>
                                            <p:strVal val="#ppt_x"/>
                                          </p:val>
                                        </p:tav>
                                      </p:tavLst>
                                    </p:anim>
                                    <p:anim calcmode="lin" valueType="num">
                                      <p:cBhvr additive="base">
                                        <p:cTn id="38" dur="500" fill="hold"/>
                                        <p:tgtEl>
                                          <p:spTgt spid="4792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5174030"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a:t>
            </a:r>
            <a:r>
              <a:rPr lang="zh-CN" altLang="en-US" sz="2000" b="1">
                <a:latin typeface="Times New Roman" pitchFamily="18" charset="0"/>
                <a:cs typeface="Times New Roman" pitchFamily="18" charset="0"/>
              </a:rPr>
              <a:t>：如图所示刚架，由于长期使用，侧壁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，现于</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，使得</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杆件产生向内的水平挠度</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 -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|&lt;Δ?</a:t>
            </a:r>
          </a:p>
        </p:txBody>
      </p:sp>
      <p:sp>
        <p:nvSpPr>
          <p:cNvPr id="195" name="矩形 194"/>
          <p:cNvSpPr/>
          <p:nvPr/>
        </p:nvSpPr>
        <p:spPr>
          <a:xfrm>
            <a:off x="1769874" y="4500570"/>
            <a:ext cx="6667344" cy="400110"/>
          </a:xfrm>
          <a:prstGeom prst="rect">
            <a:avLst/>
          </a:prstGeom>
        </p:spPr>
        <p:txBody>
          <a:bodyPr wrap="square">
            <a:spAutoFit/>
          </a:bodyPr>
          <a:lstStyle/>
          <a:p>
            <a:pPr marL="265113" indent="-265113"/>
            <a:r>
              <a:rPr lang="en-US" altLang="zh-CN" sz="2000" b="1">
                <a:latin typeface="+mn-ea"/>
              </a:rPr>
              <a:t>⑵ </a:t>
            </a:r>
            <a:r>
              <a:rPr lang="zh-CN" altLang="en-US" sz="2000" b="1">
                <a:latin typeface="+mn-ea"/>
              </a:rPr>
              <a:t>由位移荷载法知，</a:t>
            </a:r>
            <a:endParaRPr lang="en-US" altLang="zh-CN" sz="2000" b="1">
              <a:latin typeface="+mn-ea"/>
            </a:endParaRPr>
          </a:p>
        </p:txBody>
      </p:sp>
      <p:grpSp>
        <p:nvGrpSpPr>
          <p:cNvPr id="4" name="组合 53"/>
          <p:cNvGrpSpPr/>
          <p:nvPr/>
        </p:nvGrpSpPr>
        <p:grpSpPr>
          <a:xfrm>
            <a:off x="5854863" y="1522894"/>
            <a:ext cx="2607393" cy="2555392"/>
            <a:chOff x="5732185" y="1845222"/>
            <a:chExt cx="2607393" cy="2555392"/>
          </a:xfrm>
        </p:grpSpPr>
        <p:pic>
          <p:nvPicPr>
            <p:cNvPr id="93"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916139" y="377404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grpSp>
        <p:nvGrpSpPr>
          <p:cNvPr id="5" name="组合 52"/>
          <p:cNvGrpSpPr/>
          <p:nvPr/>
        </p:nvGrpSpPr>
        <p:grpSpPr>
          <a:xfrm>
            <a:off x="7652973" y="1881209"/>
            <a:ext cx="970709" cy="1428760"/>
            <a:chOff x="7531175" y="2215348"/>
            <a:chExt cx="970709" cy="1428760"/>
          </a:xfrm>
        </p:grpSpPr>
        <p:grpSp>
          <p:nvGrpSpPr>
            <p:cNvPr id="6" name="组合 51"/>
            <p:cNvGrpSpPr/>
            <p:nvPr/>
          </p:nvGrpSpPr>
          <p:grpSpPr>
            <a:xfrm>
              <a:off x="8130457" y="2215348"/>
              <a:ext cx="371427" cy="1428760"/>
              <a:chOff x="8130457" y="2215348"/>
              <a:chExt cx="371427" cy="1428760"/>
            </a:xfrm>
          </p:grpSpPr>
          <p:cxnSp>
            <p:nvCxnSpPr>
              <p:cNvPr id="123" name="直接箭头连接符 122"/>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7" name="组合 48"/>
              <p:cNvGrpSpPr/>
              <p:nvPr/>
            </p:nvGrpSpPr>
            <p:grpSpPr>
              <a:xfrm>
                <a:off x="8130457" y="2215348"/>
                <a:ext cx="371427" cy="1428760"/>
                <a:chOff x="8130457" y="2215348"/>
                <a:chExt cx="371427" cy="1428760"/>
              </a:xfrm>
            </p:grpSpPr>
            <p:cxnSp>
              <p:nvCxnSpPr>
                <p:cNvPr id="40" name="直接箭头连接符 3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1" name="直接箭头连接符 4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2" name="直接箭头连接符 4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3" name="直接箭头连接符 4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4" name="直接箭头连接符 4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5" name="直接箭头连接符 4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6" name="直接箭头连接符 4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8" name="直接连接符 47"/>
                <p:cNvCxnSpPr/>
                <p:nvPr/>
              </p:nvCxnSpPr>
              <p:spPr bwMode="auto">
                <a:xfrm rot="5400000">
                  <a:off x="7786710"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51" name="TextBox 50"/>
            <p:cNvSpPr txBox="1"/>
            <p:nvPr/>
          </p:nvSpPr>
          <p:spPr>
            <a:xfrm>
              <a:off x="7531175" y="2763007"/>
              <a:ext cx="546945"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sp>
        <p:nvSpPr>
          <p:cNvPr id="56" name="矩形 55"/>
          <p:cNvSpPr/>
          <p:nvPr/>
        </p:nvSpPr>
        <p:spPr>
          <a:xfrm>
            <a:off x="1803252" y="5690632"/>
            <a:ext cx="6667344" cy="369332"/>
          </a:xfrm>
          <a:prstGeom prst="rect">
            <a:avLst/>
          </a:prstGeom>
        </p:spPr>
        <p:txBody>
          <a:bodyPr wrap="square">
            <a:spAutoFit/>
          </a:bodyPr>
          <a:lstStyle/>
          <a:p>
            <a:pPr marL="265113" indent="-265113"/>
            <a:r>
              <a:rPr lang="en-US" altLang="zh-CN" b="1">
                <a:latin typeface="Times New Roman" pitchFamily="18" charset="0"/>
                <a:cs typeface="Times New Roman" pitchFamily="18" charset="0"/>
              </a:rPr>
              <a:t>     </a:t>
            </a:r>
            <a:r>
              <a:rPr lang="en-US" altLang="zh-CN" b="1" i="1">
                <a:latin typeface="Times New Roman" pitchFamily="18" charset="0"/>
                <a:cs typeface="Times New Roman" pitchFamily="18" charset="0"/>
              </a:rPr>
              <a:t>EI</a:t>
            </a:r>
            <a:r>
              <a:rPr lang="en-US" altLang="zh-CN" b="1" i="1" baseline="-25000">
                <a:latin typeface="Times New Roman" pitchFamily="18" charset="0"/>
                <a:cs typeface="Times New Roman" pitchFamily="18" charset="0"/>
              </a:rPr>
              <a:t>AC</a:t>
            </a:r>
            <a:r>
              <a:rPr lang="zh-CN" altLang="en-US" b="1">
                <a:latin typeface="Times New Roman" pitchFamily="18" charset="0"/>
                <a:cs typeface="Times New Roman" pitchFamily="18" charset="0"/>
              </a:rPr>
              <a:t>，</a:t>
            </a:r>
            <a:r>
              <a:rPr lang="en-US" altLang="zh-CN" b="1" i="1">
                <a:latin typeface="Times New Roman" pitchFamily="18" charset="0"/>
                <a:cs typeface="Times New Roman" pitchFamily="18" charset="0"/>
              </a:rPr>
              <a:t> EI</a:t>
            </a:r>
            <a:r>
              <a:rPr lang="en-US" altLang="zh-CN" b="1" i="1" baseline="-25000">
                <a:latin typeface="Times New Roman" pitchFamily="18" charset="0"/>
                <a:cs typeface="Times New Roman" pitchFamily="18" charset="0"/>
              </a:rPr>
              <a:t>AB</a:t>
            </a:r>
            <a:r>
              <a:rPr lang="zh-CN" altLang="en-US" b="1">
                <a:latin typeface="Times New Roman" pitchFamily="18" charset="0"/>
                <a:cs typeface="Times New Roman" pitchFamily="18" charset="0"/>
              </a:rPr>
              <a:t>，</a:t>
            </a:r>
            <a:r>
              <a:rPr lang="en-US" altLang="zh-CN" b="1" i="1">
                <a:latin typeface="Times New Roman" pitchFamily="18" charset="0"/>
                <a:cs typeface="Times New Roman" pitchFamily="18" charset="0"/>
              </a:rPr>
              <a:t>EI</a:t>
            </a:r>
            <a:r>
              <a:rPr lang="en-US" altLang="zh-CN" b="1" i="1" baseline="-25000">
                <a:latin typeface="Times New Roman" pitchFamily="18" charset="0"/>
                <a:cs typeface="Times New Roman" pitchFamily="18" charset="0"/>
              </a:rPr>
              <a:t>BD</a:t>
            </a:r>
            <a:r>
              <a:rPr lang="zh-CN" altLang="en-US" b="1">
                <a:latin typeface="Times New Roman" pitchFamily="18" charset="0"/>
                <a:cs typeface="Times New Roman" pitchFamily="18" charset="0"/>
              </a:rPr>
              <a:t> 分别为各杆的弯曲刚度；</a:t>
            </a:r>
            <a:endParaRPr lang="en-US" altLang="zh-CN" b="1">
              <a:latin typeface="Times New Roman" pitchFamily="18" charset="0"/>
              <a:cs typeface="Times New Roman" pitchFamily="18" charset="0"/>
            </a:endParaRPr>
          </a:p>
        </p:txBody>
      </p:sp>
      <p:grpSp>
        <p:nvGrpSpPr>
          <p:cNvPr id="88" name="组合 87"/>
          <p:cNvGrpSpPr/>
          <p:nvPr/>
        </p:nvGrpSpPr>
        <p:grpSpPr>
          <a:xfrm>
            <a:off x="8244212" y="1500174"/>
            <a:ext cx="661122" cy="381448"/>
            <a:chOff x="8126046" y="1822502"/>
            <a:chExt cx="661122" cy="381448"/>
          </a:xfrm>
        </p:grpSpPr>
        <p:cxnSp>
          <p:nvCxnSpPr>
            <p:cNvPr id="49" name="直接箭头连接符 48"/>
            <p:cNvCxnSpPr/>
            <p:nvPr/>
          </p:nvCxnSpPr>
          <p:spPr bwMode="auto">
            <a:xfrm rot="10800000">
              <a:off x="8126046" y="2202362"/>
              <a:ext cx="540591" cy="1588"/>
            </a:xfrm>
            <a:prstGeom prst="straightConnector1">
              <a:avLst/>
            </a:prstGeom>
            <a:solidFill>
              <a:schemeClr val="accent1"/>
            </a:solidFill>
            <a:ln w="38100" cap="flat" cmpd="sng" algn="ctr">
              <a:solidFill>
                <a:srgbClr val="0033CC"/>
              </a:solidFill>
              <a:prstDash val="solid"/>
              <a:round/>
              <a:headEnd type="none" w="med" len="med"/>
              <a:tailEnd type="triangle" w="med" len="lg"/>
            </a:ln>
            <a:effectLst/>
          </p:spPr>
        </p:cxnSp>
        <p:sp>
          <p:nvSpPr>
            <p:cNvPr id="52" name="TextBox 51"/>
            <p:cNvSpPr txBox="1"/>
            <p:nvPr/>
          </p:nvSpPr>
          <p:spPr>
            <a:xfrm>
              <a:off x="8346022" y="1822502"/>
              <a:ext cx="441146"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grpSp>
      <p:graphicFrame>
        <p:nvGraphicFramePr>
          <p:cNvPr id="483330" name="Object 2"/>
          <p:cNvGraphicFramePr>
            <a:graphicFrameLocks noChangeAspect="1"/>
          </p:cNvGraphicFramePr>
          <p:nvPr/>
        </p:nvGraphicFramePr>
        <p:xfrm>
          <a:off x="2152650" y="4972118"/>
          <a:ext cx="6396038" cy="669925"/>
        </p:xfrm>
        <a:graphic>
          <a:graphicData uri="http://schemas.openxmlformats.org/presentationml/2006/ole">
            <mc:AlternateContent xmlns:mc="http://schemas.openxmlformats.org/markup-compatibility/2006">
              <mc:Choice xmlns:v="urn:schemas-microsoft-com:vml" Requires="v">
                <p:oleObj spid="_x0000_s484355" name="Equation" r:id="rId5" imgW="4127400" imgH="431640" progId="Equation.DSMT4">
                  <p:embed/>
                </p:oleObj>
              </mc:Choice>
              <mc:Fallback>
                <p:oleObj name="Equation" r:id="rId5" imgW="4127400" imgH="43164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2650" y="4972118"/>
                        <a:ext cx="6396038"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 name="矩形 85"/>
          <p:cNvSpPr/>
          <p:nvPr/>
        </p:nvSpPr>
        <p:spPr>
          <a:xfrm>
            <a:off x="1785918" y="4114862"/>
            <a:ext cx="6858048" cy="400110"/>
          </a:xfrm>
          <a:prstGeom prst="rect">
            <a:avLst/>
          </a:prstGeom>
        </p:spPr>
        <p:txBody>
          <a:bodyPr wrap="square">
            <a:spAutoFit/>
          </a:bodyPr>
          <a:lstStyle/>
          <a:p>
            <a:r>
              <a:rPr lang="zh-CN" altLang="en-US" sz="2000" b="1">
                <a:latin typeface="+mn-ea"/>
              </a:rPr>
              <a:t>⑴ 求</a:t>
            </a:r>
            <a:r>
              <a:rPr lang="en-US" altLang="zh-CN" sz="2000" b="1">
                <a:solidFill>
                  <a:srgbClr val="000000"/>
                </a:solidFill>
                <a:latin typeface="Times New Roman" pitchFamily="18" charset="0"/>
                <a:cs typeface="Times New Roman" pitchFamily="18" charset="0"/>
              </a:rPr>
              <a:t>∫ </a:t>
            </a:r>
            <a:r>
              <a:rPr lang="en-US" altLang="zh-CN" sz="2000" b="1" i="1">
                <a:solidFill>
                  <a:srgbClr val="000000"/>
                </a:solidFill>
                <a:latin typeface="Times New Roman" pitchFamily="18" charset="0"/>
                <a:cs typeface="Times New Roman" pitchFamily="18" charset="0"/>
              </a:rPr>
              <a:t>w</a:t>
            </a:r>
            <a:r>
              <a:rPr lang="en-US" altLang="zh-CN" sz="2000" b="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y</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y</a:t>
            </a:r>
            <a:r>
              <a:rPr lang="zh-CN" altLang="en-US" sz="2000" b="1">
                <a:latin typeface="Times New Roman" pitchFamily="18" charset="0"/>
                <a:cs typeface="Times New Roman" pitchFamily="18" charset="0"/>
              </a:rPr>
              <a:t>，施加单位荷载如图</a:t>
            </a:r>
            <a:r>
              <a:rPr lang="zh-CN" altLang="en-US" sz="2000" b="1">
                <a:latin typeface="+mn-ea"/>
              </a:rPr>
              <a:t>；</a:t>
            </a:r>
            <a:endParaRPr lang="en-US" altLang="zh-CN" sz="2000" b="1">
              <a:latin typeface="+mn-ea"/>
            </a:endParaRPr>
          </a:p>
        </p:txBody>
      </p:sp>
      <p:sp>
        <p:nvSpPr>
          <p:cNvPr id="87" name="矩形 86"/>
          <p:cNvSpPr/>
          <p:nvPr/>
        </p:nvSpPr>
        <p:spPr>
          <a:xfrm>
            <a:off x="1214414" y="3714752"/>
            <a:ext cx="4572032" cy="400110"/>
          </a:xfrm>
          <a:prstGeom prst="rect">
            <a:avLst/>
          </a:prstGeom>
        </p:spPr>
        <p:txBody>
          <a:bodyPr wrap="square">
            <a:spAutoFit/>
          </a:bodyPr>
          <a:lstStyle/>
          <a:p>
            <a:r>
              <a:rPr lang="zh-CN" altLang="en-US" sz="2000" b="1">
                <a:latin typeface="+mn-ea"/>
              </a:rPr>
              <a:t>解： 刚架只需考虑弯曲变形；</a:t>
            </a:r>
            <a:endParaRPr lang="en-US" altLang="zh-CN" sz="2000" b="1">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500" fill="hold"/>
                                        <p:tgtEl>
                                          <p:spTgt spid="87"/>
                                        </p:tgtEl>
                                        <p:attrNameLst>
                                          <p:attrName>ppt_x</p:attrName>
                                        </p:attrNameLst>
                                      </p:cBhvr>
                                      <p:tavLst>
                                        <p:tav tm="0">
                                          <p:val>
                                            <p:strVal val="#ppt_x"/>
                                          </p:val>
                                        </p:tav>
                                        <p:tav tm="100000">
                                          <p:val>
                                            <p:strVal val="#ppt_x"/>
                                          </p:val>
                                        </p:tav>
                                      </p:tavLst>
                                    </p:anim>
                                    <p:anim calcmode="lin" valueType="num">
                                      <p:cBhvr additive="base">
                                        <p:cTn id="8"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additive="base">
                                        <p:cTn id="13" dur="500" fill="hold"/>
                                        <p:tgtEl>
                                          <p:spTgt spid="86"/>
                                        </p:tgtEl>
                                        <p:attrNameLst>
                                          <p:attrName>ppt_x</p:attrName>
                                        </p:attrNameLst>
                                      </p:cBhvr>
                                      <p:tavLst>
                                        <p:tav tm="0">
                                          <p:val>
                                            <p:strVal val="#ppt_x"/>
                                          </p:val>
                                        </p:tav>
                                        <p:tav tm="100000">
                                          <p:val>
                                            <p:strVal val="#ppt_x"/>
                                          </p:val>
                                        </p:tav>
                                      </p:tavLst>
                                    </p:anim>
                                    <p:anim calcmode="lin" valueType="num">
                                      <p:cBhvr additive="base">
                                        <p:cTn id="14"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5"/>
                                        </p:tgtEl>
                                        <p:attrNameLst>
                                          <p:attrName>style.visibility</p:attrName>
                                        </p:attrNameLst>
                                      </p:cBhvr>
                                      <p:to>
                                        <p:strVal val="visible"/>
                                      </p:to>
                                    </p:set>
                                    <p:anim calcmode="lin" valueType="num">
                                      <p:cBhvr additive="base">
                                        <p:cTn id="25" dur="500" fill="hold"/>
                                        <p:tgtEl>
                                          <p:spTgt spid="195"/>
                                        </p:tgtEl>
                                        <p:attrNameLst>
                                          <p:attrName>ppt_x</p:attrName>
                                        </p:attrNameLst>
                                      </p:cBhvr>
                                      <p:tavLst>
                                        <p:tav tm="0">
                                          <p:val>
                                            <p:strVal val="#ppt_x"/>
                                          </p:val>
                                        </p:tav>
                                        <p:tav tm="100000">
                                          <p:val>
                                            <p:strVal val="#ppt_x"/>
                                          </p:val>
                                        </p:tav>
                                      </p:tavLst>
                                    </p:anim>
                                    <p:anim calcmode="lin" valueType="num">
                                      <p:cBhvr additive="base">
                                        <p:cTn id="26" dur="500" fill="hold"/>
                                        <p:tgtEl>
                                          <p:spTgt spid="19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83330"/>
                                        </p:tgtEl>
                                        <p:attrNameLst>
                                          <p:attrName>style.visibility</p:attrName>
                                        </p:attrNameLst>
                                      </p:cBhvr>
                                      <p:to>
                                        <p:strVal val="visible"/>
                                      </p:to>
                                    </p:set>
                                    <p:anim calcmode="lin" valueType="num">
                                      <p:cBhvr additive="base">
                                        <p:cTn id="31" dur="500" fill="hold"/>
                                        <p:tgtEl>
                                          <p:spTgt spid="483330"/>
                                        </p:tgtEl>
                                        <p:attrNameLst>
                                          <p:attrName>ppt_x</p:attrName>
                                        </p:attrNameLst>
                                      </p:cBhvr>
                                      <p:tavLst>
                                        <p:tav tm="0">
                                          <p:val>
                                            <p:strVal val="#ppt_x"/>
                                          </p:val>
                                        </p:tav>
                                        <p:tav tm="100000">
                                          <p:val>
                                            <p:strVal val="#ppt_x"/>
                                          </p:val>
                                        </p:tav>
                                      </p:tavLst>
                                    </p:anim>
                                    <p:anim calcmode="lin" valueType="num">
                                      <p:cBhvr additive="base">
                                        <p:cTn id="32" dur="500" fill="hold"/>
                                        <p:tgtEl>
                                          <p:spTgt spid="4833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500" fill="hold"/>
                                        <p:tgtEl>
                                          <p:spTgt spid="56"/>
                                        </p:tgtEl>
                                        <p:attrNameLst>
                                          <p:attrName>ppt_x</p:attrName>
                                        </p:attrNameLst>
                                      </p:cBhvr>
                                      <p:tavLst>
                                        <p:tav tm="0">
                                          <p:val>
                                            <p:strVal val="#ppt_x"/>
                                          </p:val>
                                        </p:tav>
                                        <p:tav tm="100000">
                                          <p:val>
                                            <p:strVal val="#ppt_x"/>
                                          </p:val>
                                        </p:tav>
                                      </p:tavLst>
                                    </p:anim>
                                    <p:anim calcmode="lin" valueType="num">
                                      <p:cBhvr additive="base">
                                        <p:cTn id="3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P spid="56" grpId="0"/>
      <p:bldP spid="86" grpId="0"/>
      <p:bldP spid="8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5174030"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a:t>
            </a:r>
            <a:r>
              <a:rPr lang="zh-CN" altLang="en-US" sz="2000" b="1">
                <a:latin typeface="Times New Roman" pitchFamily="18" charset="0"/>
                <a:cs typeface="Times New Roman" pitchFamily="18" charset="0"/>
              </a:rPr>
              <a:t>：如图所示刚架，由于长期使用，侧壁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，现于</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，使得</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杆件产生向内的水平挠度</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 -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|&lt;Δ?</a:t>
            </a:r>
          </a:p>
        </p:txBody>
      </p:sp>
      <p:grpSp>
        <p:nvGrpSpPr>
          <p:cNvPr id="4" name="组合 53"/>
          <p:cNvGrpSpPr/>
          <p:nvPr/>
        </p:nvGrpSpPr>
        <p:grpSpPr>
          <a:xfrm>
            <a:off x="5857884" y="1522894"/>
            <a:ext cx="2607393" cy="2555392"/>
            <a:chOff x="5732185" y="1845222"/>
            <a:chExt cx="2607393" cy="2555392"/>
          </a:xfrm>
        </p:grpSpPr>
        <p:pic>
          <p:nvPicPr>
            <p:cNvPr id="93"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811378" y="33105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50" name="矩形 49"/>
          <p:cNvSpPr/>
          <p:nvPr/>
        </p:nvSpPr>
        <p:spPr>
          <a:xfrm>
            <a:off x="1214414" y="3714752"/>
            <a:ext cx="4572032" cy="400110"/>
          </a:xfrm>
          <a:prstGeom prst="rect">
            <a:avLst/>
          </a:prstGeom>
        </p:spPr>
        <p:txBody>
          <a:bodyPr wrap="square">
            <a:spAutoFit/>
          </a:bodyPr>
          <a:lstStyle/>
          <a:p>
            <a:r>
              <a:rPr lang="zh-CN" altLang="en-US" sz="2000" b="1">
                <a:latin typeface="+mn-ea"/>
              </a:rPr>
              <a:t>解： ⑶ 用图乘法求各杆弯矩积分；</a:t>
            </a:r>
            <a:endParaRPr lang="en-US" altLang="zh-CN" sz="2000" b="1">
              <a:latin typeface="+mn-ea"/>
            </a:endParaRPr>
          </a:p>
        </p:txBody>
      </p:sp>
      <p:grpSp>
        <p:nvGrpSpPr>
          <p:cNvPr id="53" name="组合 52"/>
          <p:cNvGrpSpPr/>
          <p:nvPr/>
        </p:nvGrpSpPr>
        <p:grpSpPr>
          <a:xfrm>
            <a:off x="8247233" y="1500174"/>
            <a:ext cx="661122" cy="381448"/>
            <a:chOff x="8126046" y="1822502"/>
            <a:chExt cx="661122" cy="381448"/>
          </a:xfrm>
        </p:grpSpPr>
        <p:cxnSp>
          <p:nvCxnSpPr>
            <p:cNvPr id="49" name="直接箭头连接符 48"/>
            <p:cNvCxnSpPr/>
            <p:nvPr/>
          </p:nvCxnSpPr>
          <p:spPr bwMode="auto">
            <a:xfrm rot="10800000">
              <a:off x="8126046" y="2202362"/>
              <a:ext cx="540591" cy="1588"/>
            </a:xfrm>
            <a:prstGeom prst="straightConnector1">
              <a:avLst/>
            </a:prstGeom>
            <a:solidFill>
              <a:schemeClr val="accent1"/>
            </a:solidFill>
            <a:ln w="38100" cap="flat" cmpd="sng" algn="ctr">
              <a:solidFill>
                <a:srgbClr val="0033CC"/>
              </a:solidFill>
              <a:prstDash val="solid"/>
              <a:round/>
              <a:headEnd type="none" w="med" len="med"/>
              <a:tailEnd type="triangle" w="med" len="lg"/>
            </a:ln>
            <a:effectLst/>
          </p:spPr>
        </p:cxnSp>
        <p:sp>
          <p:nvSpPr>
            <p:cNvPr id="52" name="TextBox 51"/>
            <p:cNvSpPr txBox="1"/>
            <p:nvPr/>
          </p:nvSpPr>
          <p:spPr>
            <a:xfrm>
              <a:off x="8346022" y="1822502"/>
              <a:ext cx="441146"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grpSp>
      <p:grpSp>
        <p:nvGrpSpPr>
          <p:cNvPr id="54" name="组合 53"/>
          <p:cNvGrpSpPr/>
          <p:nvPr/>
        </p:nvGrpSpPr>
        <p:grpSpPr>
          <a:xfrm>
            <a:off x="5893697" y="4143380"/>
            <a:ext cx="2607393" cy="2315808"/>
            <a:chOff x="5732185" y="1845222"/>
            <a:chExt cx="2607393" cy="2315808"/>
          </a:xfrm>
        </p:grpSpPr>
        <p:pic>
          <p:nvPicPr>
            <p:cNvPr id="58"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sp>
          <p:nvSpPr>
            <p:cNvPr id="65" name="TextBox 64"/>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66" name="TextBox 65"/>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67" name="TextBox 6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78" name="组合 77"/>
          <p:cNvGrpSpPr/>
          <p:nvPr/>
        </p:nvGrpSpPr>
        <p:grpSpPr>
          <a:xfrm>
            <a:off x="6072198" y="1893940"/>
            <a:ext cx="2791456" cy="1892250"/>
            <a:chOff x="6072198" y="1893940"/>
            <a:chExt cx="2791456" cy="1892250"/>
          </a:xfrm>
        </p:grpSpPr>
        <p:cxnSp>
          <p:nvCxnSpPr>
            <p:cNvPr id="71" name="直接连接符 70"/>
            <p:cNvCxnSpPr/>
            <p:nvPr/>
          </p:nvCxnSpPr>
          <p:spPr bwMode="auto">
            <a:xfrm>
              <a:off x="8269883" y="332098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3" name="直接连接符 72"/>
            <p:cNvCxnSpPr>
              <a:cxnSpLocks noChangeAspect="1"/>
            </p:cNvCxnSpPr>
            <p:nvPr/>
          </p:nvCxnSpPr>
          <p:spPr bwMode="auto">
            <a:xfrm rot="16200000" flipH="1">
              <a:off x="7755781" y="2397584"/>
              <a:ext cx="1421376" cy="4140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sp>
          <p:nvSpPr>
            <p:cNvPr id="74" name="TextBox 73"/>
            <p:cNvSpPr txBox="1"/>
            <p:nvPr/>
          </p:nvSpPr>
          <p:spPr>
            <a:xfrm>
              <a:off x="8294267" y="3416858"/>
              <a:ext cx="569387"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hF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cxnSp>
          <p:nvCxnSpPr>
            <p:cNvPr id="75" name="直接连接符 74"/>
            <p:cNvCxnSpPr/>
            <p:nvPr/>
          </p:nvCxnSpPr>
          <p:spPr bwMode="auto">
            <a:xfrm rot="5400000">
              <a:off x="8042583" y="353450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7" name="直接连接符 76"/>
            <p:cNvCxnSpPr>
              <a:cxnSpLocks noChangeAspect="1"/>
            </p:cNvCxnSpPr>
            <p:nvPr/>
          </p:nvCxnSpPr>
          <p:spPr bwMode="auto">
            <a:xfrm>
              <a:off x="6072198" y="3333178"/>
              <a:ext cx="2192432" cy="424342"/>
            </a:xfrm>
            <a:prstGeom prst="line">
              <a:avLst/>
            </a:prstGeom>
            <a:solidFill>
              <a:schemeClr val="accent1"/>
            </a:solidFill>
            <a:ln w="38100" cap="flat" cmpd="sng" algn="ctr">
              <a:solidFill>
                <a:srgbClr val="0033CC"/>
              </a:solidFill>
              <a:prstDash val="solid"/>
              <a:round/>
              <a:headEnd type="none" w="med" len="med"/>
              <a:tailEnd type="none" w="med" len="med"/>
            </a:ln>
            <a:effectLst/>
          </p:spPr>
        </p:cxnSp>
      </p:grpSp>
      <p:grpSp>
        <p:nvGrpSpPr>
          <p:cNvPr id="5" name="组合 52"/>
          <p:cNvGrpSpPr/>
          <p:nvPr/>
        </p:nvGrpSpPr>
        <p:grpSpPr>
          <a:xfrm>
            <a:off x="7358082" y="4500570"/>
            <a:ext cx="920928" cy="1428760"/>
            <a:chOff x="7580956" y="2215348"/>
            <a:chExt cx="920928" cy="1428760"/>
          </a:xfrm>
        </p:grpSpPr>
        <p:grpSp>
          <p:nvGrpSpPr>
            <p:cNvPr id="6" name="组合 51"/>
            <p:cNvGrpSpPr/>
            <p:nvPr/>
          </p:nvGrpSpPr>
          <p:grpSpPr>
            <a:xfrm>
              <a:off x="8130457" y="2215348"/>
              <a:ext cx="371427" cy="1428760"/>
              <a:chOff x="8130457" y="2215348"/>
              <a:chExt cx="371427" cy="1428760"/>
            </a:xfrm>
          </p:grpSpPr>
          <p:cxnSp>
            <p:nvCxnSpPr>
              <p:cNvPr id="123" name="直接箭头连接符 122"/>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7" name="组合 48"/>
              <p:cNvGrpSpPr/>
              <p:nvPr/>
            </p:nvGrpSpPr>
            <p:grpSpPr>
              <a:xfrm>
                <a:off x="8130457" y="2215348"/>
                <a:ext cx="371427" cy="1428760"/>
                <a:chOff x="8130457" y="2215348"/>
                <a:chExt cx="371427" cy="1428760"/>
              </a:xfrm>
            </p:grpSpPr>
            <p:cxnSp>
              <p:nvCxnSpPr>
                <p:cNvPr id="40" name="直接箭头连接符 3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1" name="直接箭头连接符 4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2" name="直接箭头连接符 4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3" name="直接箭头连接符 4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4" name="直接箭头连接符 4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5" name="直接箭头连接符 4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6" name="直接箭头连接符 4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8" name="直接连接符 47"/>
                <p:cNvCxnSpPr/>
                <p:nvPr/>
              </p:nvCxnSpPr>
              <p:spPr bwMode="auto">
                <a:xfrm rot="5400000">
                  <a:off x="7786710"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51" name="TextBox 50"/>
            <p:cNvSpPr txBox="1"/>
            <p:nvPr/>
          </p:nvSpPr>
          <p:spPr>
            <a:xfrm>
              <a:off x="7580956" y="2703272"/>
              <a:ext cx="546945"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sp>
        <p:nvSpPr>
          <p:cNvPr id="79" name="TextBox 78"/>
          <p:cNvSpPr txBox="1"/>
          <p:nvPr/>
        </p:nvSpPr>
        <p:spPr>
          <a:xfrm>
            <a:off x="7000892" y="1500174"/>
            <a:ext cx="5261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a:t>
            </a:r>
            <a:endParaRPr lang="zh-CN" altLang="en-US" sz="2000" b="1" i="1" baseline="-25000">
              <a:latin typeface="Times New Roman" pitchFamily="18" charset="0"/>
              <a:cs typeface="Times New Roman" pitchFamily="18" charset="0"/>
            </a:endParaRPr>
          </a:p>
        </p:txBody>
      </p:sp>
      <p:grpSp>
        <p:nvGrpSpPr>
          <p:cNvPr id="83" name="组合 82"/>
          <p:cNvGrpSpPr/>
          <p:nvPr/>
        </p:nvGrpSpPr>
        <p:grpSpPr>
          <a:xfrm>
            <a:off x="7013084" y="4190434"/>
            <a:ext cx="412292" cy="400110"/>
            <a:chOff x="7072330" y="4214818"/>
            <a:chExt cx="412292" cy="400110"/>
          </a:xfrm>
        </p:grpSpPr>
        <p:sp>
          <p:nvSpPr>
            <p:cNvPr id="80" name="TextBox 79"/>
            <p:cNvSpPr txBox="1"/>
            <p:nvPr/>
          </p:nvSpPr>
          <p:spPr>
            <a:xfrm>
              <a:off x="7072330" y="4214818"/>
              <a:ext cx="412292"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endParaRPr lang="zh-CN" altLang="en-US" sz="2000" b="1" i="1" baseline="-25000">
                <a:latin typeface="Times New Roman" pitchFamily="18" charset="0"/>
                <a:cs typeface="Times New Roman" pitchFamily="18" charset="0"/>
              </a:endParaRPr>
            </a:p>
          </p:txBody>
        </p:sp>
        <p:cxnSp>
          <p:nvCxnSpPr>
            <p:cNvPr id="82" name="直接连接符 81"/>
            <p:cNvCxnSpPr/>
            <p:nvPr/>
          </p:nvCxnSpPr>
          <p:spPr bwMode="auto">
            <a:xfrm>
              <a:off x="7180344" y="4284668"/>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98" name="组合 97"/>
          <p:cNvGrpSpPr/>
          <p:nvPr/>
        </p:nvGrpSpPr>
        <p:grpSpPr>
          <a:xfrm>
            <a:off x="6143636" y="4498848"/>
            <a:ext cx="2857520" cy="1859110"/>
            <a:chOff x="6143636" y="4498848"/>
            <a:chExt cx="2857520" cy="1859110"/>
          </a:xfrm>
        </p:grpSpPr>
        <p:grpSp>
          <p:nvGrpSpPr>
            <p:cNvPr id="87" name="组合 86"/>
            <p:cNvGrpSpPr/>
            <p:nvPr/>
          </p:nvGrpSpPr>
          <p:grpSpPr>
            <a:xfrm>
              <a:off x="8278368" y="4498848"/>
              <a:ext cx="437036" cy="1438656"/>
              <a:chOff x="8278368" y="4498848"/>
              <a:chExt cx="437036" cy="1438656"/>
            </a:xfrm>
          </p:grpSpPr>
          <p:cxnSp>
            <p:nvCxnSpPr>
              <p:cNvPr id="85" name="直接连接符 84"/>
              <p:cNvCxnSpPr/>
              <p:nvPr/>
            </p:nvCxnSpPr>
            <p:spPr bwMode="auto">
              <a:xfrm>
                <a:off x="8286776" y="592933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86" name="任意多边形 85"/>
              <p:cNvSpPr/>
              <p:nvPr/>
            </p:nvSpPr>
            <p:spPr bwMode="auto">
              <a:xfrm>
                <a:off x="8278368" y="4498848"/>
                <a:ext cx="426720" cy="1438656"/>
              </a:xfrm>
              <a:custGeom>
                <a:avLst/>
                <a:gdLst>
                  <a:gd name="connsiteX0" fmla="*/ 0 w 426720"/>
                  <a:gd name="connsiteY0" fmla="*/ 0 h 1438656"/>
                  <a:gd name="connsiteX1" fmla="*/ 121920 w 426720"/>
                  <a:gd name="connsiteY1" fmla="*/ 792480 h 1438656"/>
                  <a:gd name="connsiteX2" fmla="*/ 426720 w 426720"/>
                  <a:gd name="connsiteY2" fmla="*/ 1438656 h 1438656"/>
                </a:gdLst>
                <a:ahLst/>
                <a:cxnLst>
                  <a:cxn ang="0">
                    <a:pos x="connsiteX0" y="connsiteY0"/>
                  </a:cxn>
                  <a:cxn ang="0">
                    <a:pos x="connsiteX1" y="connsiteY1"/>
                  </a:cxn>
                  <a:cxn ang="0">
                    <a:pos x="connsiteX2" y="connsiteY2"/>
                  </a:cxn>
                </a:cxnLst>
                <a:rect l="l" t="t" r="r" b="b"/>
                <a:pathLst>
                  <a:path w="426720" h="1438656">
                    <a:moveTo>
                      <a:pt x="0" y="0"/>
                    </a:moveTo>
                    <a:cubicBezTo>
                      <a:pt x="25400" y="276352"/>
                      <a:pt x="50800" y="552704"/>
                      <a:pt x="121920" y="792480"/>
                    </a:cubicBezTo>
                    <a:cubicBezTo>
                      <a:pt x="193040" y="1032256"/>
                      <a:pt x="309880" y="1235456"/>
                      <a:pt x="426720" y="1438656"/>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grpSp>
          <p:nvGrpSpPr>
            <p:cNvPr id="95" name="组合 94"/>
            <p:cNvGrpSpPr/>
            <p:nvPr/>
          </p:nvGrpSpPr>
          <p:grpSpPr>
            <a:xfrm>
              <a:off x="6143636" y="5929330"/>
              <a:ext cx="2857520" cy="428628"/>
              <a:chOff x="6143636" y="5929330"/>
              <a:chExt cx="2857520" cy="428628"/>
            </a:xfrm>
          </p:grpSpPr>
          <p:sp>
            <p:nvSpPr>
              <p:cNvPr id="88" name="TextBox 87"/>
              <p:cNvSpPr txBox="1"/>
              <p:nvPr/>
            </p:nvSpPr>
            <p:spPr>
              <a:xfrm>
                <a:off x="8322765" y="5988626"/>
                <a:ext cx="678391"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0.5</a:t>
                </a:r>
                <a:r>
                  <a:rPr lang="en-US" altLang="zh-CN" b="1" i="1">
                    <a:solidFill>
                      <a:srgbClr val="C00000"/>
                    </a:solidFill>
                    <a:latin typeface="Times New Roman" pitchFamily="18" charset="0"/>
                    <a:cs typeface="Times New Roman" pitchFamily="18" charset="0"/>
                  </a:rPr>
                  <a:t>h</a:t>
                </a:r>
                <a:r>
                  <a:rPr lang="en-US" altLang="zh-CN" b="1" baseline="30000">
                    <a:solidFill>
                      <a:srgbClr val="C00000"/>
                    </a:solidFill>
                    <a:latin typeface="Times New Roman" pitchFamily="18" charset="0"/>
                    <a:cs typeface="Times New Roman" pitchFamily="18" charset="0"/>
                  </a:rPr>
                  <a:t>2</a:t>
                </a:r>
                <a:endParaRPr lang="zh-CN" altLang="en-US" b="1" i="1" baseline="-25000">
                  <a:solidFill>
                    <a:srgbClr val="C00000"/>
                  </a:solidFill>
                  <a:latin typeface="Times New Roman" pitchFamily="18" charset="0"/>
                  <a:cs typeface="Times New Roman" pitchFamily="18" charset="0"/>
                </a:endParaRPr>
              </a:p>
            </p:txBody>
          </p:sp>
          <p:grpSp>
            <p:nvGrpSpPr>
              <p:cNvPr id="92" name="组合 91"/>
              <p:cNvGrpSpPr/>
              <p:nvPr/>
            </p:nvGrpSpPr>
            <p:grpSpPr>
              <a:xfrm>
                <a:off x="6143636" y="5929330"/>
                <a:ext cx="2143140" cy="428628"/>
                <a:chOff x="6143636" y="5929330"/>
                <a:chExt cx="2143140" cy="428628"/>
              </a:xfrm>
            </p:grpSpPr>
            <p:cxnSp>
              <p:nvCxnSpPr>
                <p:cNvPr id="89" name="直接连接符 88"/>
                <p:cNvCxnSpPr/>
                <p:nvPr/>
              </p:nvCxnSpPr>
              <p:spPr bwMode="auto">
                <a:xfrm rot="5400000">
                  <a:off x="8063830" y="614285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91" name="直接连接符 90"/>
                <p:cNvCxnSpPr/>
                <p:nvPr/>
              </p:nvCxnSpPr>
              <p:spPr bwMode="auto">
                <a:xfrm rot="10800000">
                  <a:off x="6143636" y="5961958"/>
                  <a:ext cx="2143140" cy="396000"/>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grpSp>
      </p:grpSp>
      <p:graphicFrame>
        <p:nvGraphicFramePr>
          <p:cNvPr id="483331" name="Object 2"/>
          <p:cNvGraphicFramePr>
            <a:graphicFrameLocks noChangeAspect="1"/>
          </p:cNvGraphicFramePr>
          <p:nvPr/>
        </p:nvGraphicFramePr>
        <p:xfrm>
          <a:off x="1413931" y="4183063"/>
          <a:ext cx="2125663" cy="512762"/>
        </p:xfrm>
        <a:graphic>
          <a:graphicData uri="http://schemas.openxmlformats.org/presentationml/2006/ole">
            <mc:AlternateContent xmlns:mc="http://schemas.openxmlformats.org/markup-compatibility/2006">
              <mc:Choice xmlns:v="urn:schemas-microsoft-com:vml" Requires="v">
                <p:oleObj spid="_x0000_s483338" name="Equation" r:id="rId5" imgW="1371600" imgH="330120" progId="Equation.DSMT4">
                  <p:embed/>
                </p:oleObj>
              </mc:Choice>
              <mc:Fallback>
                <p:oleObj name="Equation" r:id="rId5" imgW="1371600" imgH="33012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3931" y="4183063"/>
                        <a:ext cx="2125663"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 name="椭圆 100"/>
          <p:cNvSpPr/>
          <p:nvPr/>
        </p:nvSpPr>
        <p:spPr bwMode="auto">
          <a:xfrm>
            <a:off x="8365648" y="5597859"/>
            <a:ext cx="45719" cy="45719"/>
          </a:xfrm>
          <a:prstGeom prst="ellipse">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aphicFrame>
        <p:nvGraphicFramePr>
          <p:cNvPr id="483333" name="Object 2"/>
          <p:cNvGraphicFramePr>
            <a:graphicFrameLocks noChangeAspect="1"/>
          </p:cNvGraphicFramePr>
          <p:nvPr/>
        </p:nvGraphicFramePr>
        <p:xfrm>
          <a:off x="2479661" y="4655627"/>
          <a:ext cx="2085975" cy="669925"/>
        </p:xfrm>
        <a:graphic>
          <a:graphicData uri="http://schemas.openxmlformats.org/presentationml/2006/ole">
            <mc:AlternateContent xmlns:mc="http://schemas.openxmlformats.org/markup-compatibility/2006">
              <mc:Choice xmlns:v="urn:schemas-microsoft-com:vml" Requires="v">
                <p:oleObj spid="_x0000_s483339" name="Equation" r:id="rId7" imgW="1346040" imgH="431640" progId="Equation.DSMT4">
                  <p:embed/>
                </p:oleObj>
              </mc:Choice>
              <mc:Fallback>
                <p:oleObj name="Equation" r:id="rId7" imgW="1346040" imgH="43164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9661" y="4655627"/>
                        <a:ext cx="20859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07" name="直接连接符 106"/>
          <p:cNvCxnSpPr/>
          <p:nvPr/>
        </p:nvCxnSpPr>
        <p:spPr bwMode="auto">
          <a:xfrm>
            <a:off x="8237372" y="3016725"/>
            <a:ext cx="357190"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graphicFrame>
        <p:nvGraphicFramePr>
          <p:cNvPr id="483334" name="Object 6"/>
          <p:cNvGraphicFramePr>
            <a:graphicFrameLocks noChangeAspect="1"/>
          </p:cNvGraphicFramePr>
          <p:nvPr/>
        </p:nvGraphicFramePr>
        <p:xfrm>
          <a:off x="4576394" y="4675200"/>
          <a:ext cx="866775" cy="611188"/>
        </p:xfrm>
        <a:graphic>
          <a:graphicData uri="http://schemas.openxmlformats.org/presentationml/2006/ole">
            <mc:AlternateContent xmlns:mc="http://schemas.openxmlformats.org/markup-compatibility/2006">
              <mc:Choice xmlns:v="urn:schemas-microsoft-com:vml" Requires="v">
                <p:oleObj spid="_x0000_s483340" name="Equation" r:id="rId9" imgW="558720" imgH="393480" progId="Equation.DSMT4">
                  <p:embed/>
                </p:oleObj>
              </mc:Choice>
              <mc:Fallback>
                <p:oleObj name="Equation" r:id="rId9" imgW="558720" imgH="39348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6394" y="4675200"/>
                        <a:ext cx="866775"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3335" name="Object 2"/>
          <p:cNvGraphicFramePr>
            <a:graphicFrameLocks noChangeAspect="1"/>
          </p:cNvGraphicFramePr>
          <p:nvPr/>
        </p:nvGraphicFramePr>
        <p:xfrm>
          <a:off x="1409700" y="5323613"/>
          <a:ext cx="2082800" cy="512763"/>
        </p:xfrm>
        <a:graphic>
          <a:graphicData uri="http://schemas.openxmlformats.org/presentationml/2006/ole">
            <mc:AlternateContent xmlns:mc="http://schemas.openxmlformats.org/markup-compatibility/2006">
              <mc:Choice xmlns:v="urn:schemas-microsoft-com:vml" Requires="v">
                <p:oleObj spid="_x0000_s483341" name="Equation" r:id="rId11" imgW="1346040" imgH="330120" progId="Equation.DSMT4">
                  <p:embed/>
                </p:oleObj>
              </mc:Choice>
              <mc:Fallback>
                <p:oleObj name="Equation" r:id="rId11" imgW="1346040" imgH="33012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9700" y="5323613"/>
                        <a:ext cx="208280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3336" name="Object 8"/>
          <p:cNvGraphicFramePr>
            <a:graphicFrameLocks noChangeAspect="1"/>
          </p:cNvGraphicFramePr>
          <p:nvPr/>
        </p:nvGraphicFramePr>
        <p:xfrm>
          <a:off x="2511056" y="5775680"/>
          <a:ext cx="2224088" cy="669925"/>
        </p:xfrm>
        <a:graphic>
          <a:graphicData uri="http://schemas.openxmlformats.org/presentationml/2006/ole">
            <mc:AlternateContent xmlns:mc="http://schemas.openxmlformats.org/markup-compatibility/2006">
              <mc:Choice xmlns:v="urn:schemas-microsoft-com:vml" Requires="v">
                <p:oleObj spid="_x0000_s483342" name="Equation" r:id="rId13" imgW="1434960" imgH="431640" progId="Equation.DSMT4">
                  <p:embed/>
                </p:oleObj>
              </mc:Choice>
              <mc:Fallback>
                <p:oleObj name="Equation" r:id="rId13" imgW="1434960" imgH="43164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1056" y="5775680"/>
                        <a:ext cx="2224088"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3337" name="Object 9"/>
          <p:cNvGraphicFramePr>
            <a:graphicFrameLocks noChangeAspect="1"/>
          </p:cNvGraphicFramePr>
          <p:nvPr/>
        </p:nvGraphicFramePr>
        <p:xfrm>
          <a:off x="4679950" y="5786438"/>
          <a:ext cx="985838" cy="611187"/>
        </p:xfrm>
        <a:graphic>
          <a:graphicData uri="http://schemas.openxmlformats.org/presentationml/2006/ole">
            <mc:AlternateContent xmlns:mc="http://schemas.openxmlformats.org/markup-compatibility/2006">
              <mc:Choice xmlns:v="urn:schemas-microsoft-com:vml" Requires="v">
                <p:oleObj spid="_x0000_s483343" name="Equation" r:id="rId15" imgW="634680" imgH="393480" progId="Equation.DSMT4">
                  <p:embed/>
                </p:oleObj>
              </mc:Choice>
              <mc:Fallback>
                <p:oleObj name="Equation" r:id="rId15" imgW="634680" imgH="39348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79950" y="5786438"/>
                        <a:ext cx="985838"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blinds(horizontal)">
                                      <p:cBhvr>
                                        <p:cTn id="13" dur="500"/>
                                        <p:tgtEl>
                                          <p:spTgt spid="78"/>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4"/>
                                        </p:tgtEl>
                                        <p:attrNameLst>
                                          <p:attrName>style.visibility</p:attrName>
                                        </p:attrNameLst>
                                      </p:cBhvr>
                                      <p:to>
                                        <p:strVal val="visible"/>
                                      </p:to>
                                    </p:set>
                                    <p:anim calcmode="lin" valueType="num">
                                      <p:cBhvr additive="base">
                                        <p:cTn id="20" dur="500" fill="hold"/>
                                        <p:tgtEl>
                                          <p:spTgt spid="54"/>
                                        </p:tgtEl>
                                        <p:attrNameLst>
                                          <p:attrName>ppt_x</p:attrName>
                                        </p:attrNameLst>
                                      </p:cBhvr>
                                      <p:tavLst>
                                        <p:tav tm="0">
                                          <p:val>
                                            <p:strVal val="#ppt_x"/>
                                          </p:val>
                                        </p:tav>
                                        <p:tav tm="100000">
                                          <p:val>
                                            <p:strVal val="#ppt_x"/>
                                          </p:val>
                                        </p:tav>
                                      </p:tavLst>
                                    </p:anim>
                                    <p:anim calcmode="lin" valueType="num">
                                      <p:cBhvr additive="base">
                                        <p:cTn id="21" dur="500" fill="hold"/>
                                        <p:tgtEl>
                                          <p:spTgt spid="54"/>
                                        </p:tgtEl>
                                        <p:attrNameLst>
                                          <p:attrName>ppt_y</p:attrName>
                                        </p:attrNameLst>
                                      </p:cBhvr>
                                      <p:tavLst>
                                        <p:tav tm="0">
                                          <p:val>
                                            <p:strVal val="1+#ppt_h/2"/>
                                          </p:val>
                                        </p:tav>
                                        <p:tav tm="100000">
                                          <p:val>
                                            <p:strVal val="#ppt_y"/>
                                          </p:val>
                                        </p:tav>
                                      </p:tavLst>
                                    </p:anim>
                                  </p:childTnLst>
                                </p:cTn>
                              </p:par>
                            </p:childTnLst>
                          </p:cTn>
                        </p:par>
                        <p:par>
                          <p:cTn id="22" fill="hold">
                            <p:stCondLst>
                              <p:cond delay="500"/>
                            </p:stCondLst>
                            <p:childTnLst>
                              <p:par>
                                <p:cTn id="23" presetID="2" presetClass="entr" presetSubtype="2"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0"/>
                                          </p:stCondLst>
                                        </p:cTn>
                                        <p:tgtEl>
                                          <p:spTgt spid="8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8"/>
                                        </p:tgtEl>
                                        <p:attrNameLst>
                                          <p:attrName>style.visibility</p:attrName>
                                        </p:attrNameLst>
                                      </p:cBhvr>
                                      <p:to>
                                        <p:strVal val="visible"/>
                                      </p:to>
                                    </p:set>
                                    <p:animEffect transition="in" filter="blinds(horizontal)">
                                      <p:cBhvr>
                                        <p:cTn id="34" dur="500"/>
                                        <p:tgtEl>
                                          <p:spTgt spid="9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83331"/>
                                        </p:tgtEl>
                                        <p:attrNameLst>
                                          <p:attrName>style.visibility</p:attrName>
                                        </p:attrNameLst>
                                      </p:cBhvr>
                                      <p:to>
                                        <p:strVal val="visible"/>
                                      </p:to>
                                    </p:set>
                                    <p:anim calcmode="lin" valueType="num">
                                      <p:cBhvr additive="base">
                                        <p:cTn id="39" dur="500" fill="hold"/>
                                        <p:tgtEl>
                                          <p:spTgt spid="483331"/>
                                        </p:tgtEl>
                                        <p:attrNameLst>
                                          <p:attrName>ppt_x</p:attrName>
                                        </p:attrNameLst>
                                      </p:cBhvr>
                                      <p:tavLst>
                                        <p:tav tm="0">
                                          <p:val>
                                            <p:strVal val="#ppt_x"/>
                                          </p:val>
                                        </p:tav>
                                        <p:tav tm="100000">
                                          <p:val>
                                            <p:strVal val="#ppt_x"/>
                                          </p:val>
                                        </p:tav>
                                      </p:tavLst>
                                    </p:anim>
                                    <p:anim calcmode="lin" valueType="num">
                                      <p:cBhvr additive="base">
                                        <p:cTn id="40" dur="500" fill="hold"/>
                                        <p:tgtEl>
                                          <p:spTgt spid="48333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1"/>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10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83333"/>
                                        </p:tgtEl>
                                        <p:attrNameLst>
                                          <p:attrName>style.visibility</p:attrName>
                                        </p:attrNameLst>
                                      </p:cBhvr>
                                      <p:to>
                                        <p:strVal val="visible"/>
                                      </p:to>
                                    </p:set>
                                    <p:anim calcmode="lin" valueType="num">
                                      <p:cBhvr additive="base">
                                        <p:cTn id="52" dur="500" fill="hold"/>
                                        <p:tgtEl>
                                          <p:spTgt spid="483333"/>
                                        </p:tgtEl>
                                        <p:attrNameLst>
                                          <p:attrName>ppt_x</p:attrName>
                                        </p:attrNameLst>
                                      </p:cBhvr>
                                      <p:tavLst>
                                        <p:tav tm="0">
                                          <p:val>
                                            <p:strVal val="#ppt_x"/>
                                          </p:val>
                                        </p:tav>
                                        <p:tav tm="100000">
                                          <p:val>
                                            <p:strVal val="#ppt_x"/>
                                          </p:val>
                                        </p:tav>
                                      </p:tavLst>
                                    </p:anim>
                                    <p:anim calcmode="lin" valueType="num">
                                      <p:cBhvr additive="base">
                                        <p:cTn id="53" dur="500" fill="hold"/>
                                        <p:tgtEl>
                                          <p:spTgt spid="483333"/>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483334"/>
                                        </p:tgtEl>
                                        <p:attrNameLst>
                                          <p:attrName>style.visibility</p:attrName>
                                        </p:attrNameLst>
                                      </p:cBhvr>
                                      <p:to>
                                        <p:strVal val="visible"/>
                                      </p:to>
                                    </p:set>
                                    <p:anim calcmode="lin" valueType="num">
                                      <p:cBhvr additive="base">
                                        <p:cTn id="58" dur="500" fill="hold"/>
                                        <p:tgtEl>
                                          <p:spTgt spid="483334"/>
                                        </p:tgtEl>
                                        <p:attrNameLst>
                                          <p:attrName>ppt_x</p:attrName>
                                        </p:attrNameLst>
                                      </p:cBhvr>
                                      <p:tavLst>
                                        <p:tav tm="0">
                                          <p:val>
                                            <p:strVal val="#ppt_x"/>
                                          </p:val>
                                        </p:tav>
                                        <p:tav tm="100000">
                                          <p:val>
                                            <p:strVal val="#ppt_x"/>
                                          </p:val>
                                        </p:tav>
                                      </p:tavLst>
                                    </p:anim>
                                    <p:anim calcmode="lin" valueType="num">
                                      <p:cBhvr additive="base">
                                        <p:cTn id="59" dur="500" fill="hold"/>
                                        <p:tgtEl>
                                          <p:spTgt spid="483334"/>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483335"/>
                                        </p:tgtEl>
                                        <p:attrNameLst>
                                          <p:attrName>style.visibility</p:attrName>
                                        </p:attrNameLst>
                                      </p:cBhvr>
                                      <p:to>
                                        <p:strVal val="visible"/>
                                      </p:to>
                                    </p:set>
                                    <p:anim calcmode="lin" valueType="num">
                                      <p:cBhvr additive="base">
                                        <p:cTn id="64" dur="500" fill="hold"/>
                                        <p:tgtEl>
                                          <p:spTgt spid="483335"/>
                                        </p:tgtEl>
                                        <p:attrNameLst>
                                          <p:attrName>ppt_x</p:attrName>
                                        </p:attrNameLst>
                                      </p:cBhvr>
                                      <p:tavLst>
                                        <p:tav tm="0">
                                          <p:val>
                                            <p:strVal val="#ppt_x"/>
                                          </p:val>
                                        </p:tav>
                                        <p:tav tm="100000">
                                          <p:val>
                                            <p:strVal val="#ppt_x"/>
                                          </p:val>
                                        </p:tav>
                                      </p:tavLst>
                                    </p:anim>
                                    <p:anim calcmode="lin" valueType="num">
                                      <p:cBhvr additive="base">
                                        <p:cTn id="65" dur="500" fill="hold"/>
                                        <p:tgtEl>
                                          <p:spTgt spid="48333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483336"/>
                                        </p:tgtEl>
                                        <p:attrNameLst>
                                          <p:attrName>style.visibility</p:attrName>
                                        </p:attrNameLst>
                                      </p:cBhvr>
                                      <p:to>
                                        <p:strVal val="visible"/>
                                      </p:to>
                                    </p:set>
                                    <p:anim calcmode="lin" valueType="num">
                                      <p:cBhvr additive="base">
                                        <p:cTn id="70" dur="500" fill="hold"/>
                                        <p:tgtEl>
                                          <p:spTgt spid="483336"/>
                                        </p:tgtEl>
                                        <p:attrNameLst>
                                          <p:attrName>ppt_x</p:attrName>
                                        </p:attrNameLst>
                                      </p:cBhvr>
                                      <p:tavLst>
                                        <p:tav tm="0">
                                          <p:val>
                                            <p:strVal val="#ppt_x"/>
                                          </p:val>
                                        </p:tav>
                                        <p:tav tm="100000">
                                          <p:val>
                                            <p:strVal val="#ppt_x"/>
                                          </p:val>
                                        </p:tav>
                                      </p:tavLst>
                                    </p:anim>
                                    <p:anim calcmode="lin" valueType="num">
                                      <p:cBhvr additive="base">
                                        <p:cTn id="71" dur="500" fill="hold"/>
                                        <p:tgtEl>
                                          <p:spTgt spid="48333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483337"/>
                                        </p:tgtEl>
                                        <p:attrNameLst>
                                          <p:attrName>style.visibility</p:attrName>
                                        </p:attrNameLst>
                                      </p:cBhvr>
                                      <p:to>
                                        <p:strVal val="visible"/>
                                      </p:to>
                                    </p:set>
                                    <p:anim calcmode="lin" valueType="num">
                                      <p:cBhvr additive="base">
                                        <p:cTn id="76" dur="500" fill="hold"/>
                                        <p:tgtEl>
                                          <p:spTgt spid="483337"/>
                                        </p:tgtEl>
                                        <p:attrNameLst>
                                          <p:attrName>ppt_x</p:attrName>
                                        </p:attrNameLst>
                                      </p:cBhvr>
                                      <p:tavLst>
                                        <p:tav tm="0">
                                          <p:val>
                                            <p:strVal val="#ppt_x"/>
                                          </p:val>
                                        </p:tav>
                                        <p:tav tm="100000">
                                          <p:val>
                                            <p:strVal val="#ppt_x"/>
                                          </p:val>
                                        </p:tav>
                                      </p:tavLst>
                                    </p:anim>
                                    <p:anim calcmode="lin" valueType="num">
                                      <p:cBhvr additive="base">
                                        <p:cTn id="77" dur="500" fill="hold"/>
                                        <p:tgtEl>
                                          <p:spTgt spid="4833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79" grpId="0"/>
      <p:bldP spid="10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5174030"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a:t>
            </a:r>
            <a:r>
              <a:rPr lang="zh-CN" altLang="en-US" sz="2000" b="1">
                <a:latin typeface="Times New Roman" pitchFamily="18" charset="0"/>
                <a:cs typeface="Times New Roman" pitchFamily="18" charset="0"/>
              </a:rPr>
              <a:t>：如图所示刚架，由于长期使用，侧壁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，现于</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，使得</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杆件产生向内的水平挠度</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 -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|&lt;Δ?</a:t>
            </a:r>
          </a:p>
        </p:txBody>
      </p:sp>
      <p:grpSp>
        <p:nvGrpSpPr>
          <p:cNvPr id="4" name="组合 53"/>
          <p:cNvGrpSpPr/>
          <p:nvPr/>
        </p:nvGrpSpPr>
        <p:grpSpPr>
          <a:xfrm>
            <a:off x="5857884" y="1522894"/>
            <a:ext cx="2607393" cy="2555392"/>
            <a:chOff x="5732185" y="1845222"/>
            <a:chExt cx="2607393" cy="2555392"/>
          </a:xfrm>
        </p:grpSpPr>
        <p:pic>
          <p:nvPicPr>
            <p:cNvPr id="93"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811378" y="33105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50" name="矩形 49"/>
          <p:cNvSpPr/>
          <p:nvPr/>
        </p:nvSpPr>
        <p:spPr>
          <a:xfrm>
            <a:off x="1214414" y="3714752"/>
            <a:ext cx="4572032" cy="400110"/>
          </a:xfrm>
          <a:prstGeom prst="rect">
            <a:avLst/>
          </a:prstGeom>
        </p:spPr>
        <p:txBody>
          <a:bodyPr wrap="square">
            <a:spAutoFit/>
          </a:bodyPr>
          <a:lstStyle/>
          <a:p>
            <a:r>
              <a:rPr lang="zh-CN" altLang="en-US" sz="2000" b="1">
                <a:latin typeface="+mn-ea"/>
              </a:rPr>
              <a:t>解： ⑶ 用图乘法求各杆弯矩积分；</a:t>
            </a:r>
            <a:endParaRPr lang="en-US" altLang="zh-CN" sz="2000" b="1">
              <a:latin typeface="+mn-ea"/>
            </a:endParaRPr>
          </a:p>
        </p:txBody>
      </p:sp>
      <p:grpSp>
        <p:nvGrpSpPr>
          <p:cNvPr id="5" name="组合 52"/>
          <p:cNvGrpSpPr/>
          <p:nvPr/>
        </p:nvGrpSpPr>
        <p:grpSpPr>
          <a:xfrm>
            <a:off x="8247233" y="1500174"/>
            <a:ext cx="661122" cy="381448"/>
            <a:chOff x="8126046" y="1822502"/>
            <a:chExt cx="661122" cy="381448"/>
          </a:xfrm>
        </p:grpSpPr>
        <p:cxnSp>
          <p:nvCxnSpPr>
            <p:cNvPr id="49" name="直接箭头连接符 48"/>
            <p:cNvCxnSpPr/>
            <p:nvPr/>
          </p:nvCxnSpPr>
          <p:spPr bwMode="auto">
            <a:xfrm rot="10800000">
              <a:off x="8126046" y="2202362"/>
              <a:ext cx="540591" cy="1588"/>
            </a:xfrm>
            <a:prstGeom prst="straightConnector1">
              <a:avLst/>
            </a:prstGeom>
            <a:solidFill>
              <a:schemeClr val="accent1"/>
            </a:solidFill>
            <a:ln w="38100" cap="flat" cmpd="sng" algn="ctr">
              <a:solidFill>
                <a:srgbClr val="0033CC"/>
              </a:solidFill>
              <a:prstDash val="solid"/>
              <a:round/>
              <a:headEnd type="none" w="med" len="med"/>
              <a:tailEnd type="triangle" w="med" len="lg"/>
            </a:ln>
            <a:effectLst/>
          </p:spPr>
        </p:cxnSp>
        <p:sp>
          <p:nvSpPr>
            <p:cNvPr id="52" name="TextBox 51"/>
            <p:cNvSpPr txBox="1"/>
            <p:nvPr/>
          </p:nvSpPr>
          <p:spPr>
            <a:xfrm>
              <a:off x="8346022" y="1822502"/>
              <a:ext cx="441146"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grpSp>
      <p:grpSp>
        <p:nvGrpSpPr>
          <p:cNvPr id="6" name="组合 53"/>
          <p:cNvGrpSpPr/>
          <p:nvPr/>
        </p:nvGrpSpPr>
        <p:grpSpPr>
          <a:xfrm>
            <a:off x="5893697" y="4143380"/>
            <a:ext cx="2607393" cy="2315808"/>
            <a:chOff x="5732185" y="1845222"/>
            <a:chExt cx="2607393" cy="2315808"/>
          </a:xfrm>
        </p:grpSpPr>
        <p:pic>
          <p:nvPicPr>
            <p:cNvPr id="58"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sp>
          <p:nvSpPr>
            <p:cNvPr id="65" name="TextBox 64"/>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66" name="TextBox 65"/>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67" name="TextBox 6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7" name="组合 77"/>
          <p:cNvGrpSpPr/>
          <p:nvPr/>
        </p:nvGrpSpPr>
        <p:grpSpPr>
          <a:xfrm>
            <a:off x="6072198" y="1893940"/>
            <a:ext cx="2791456" cy="1892250"/>
            <a:chOff x="6072198" y="1893940"/>
            <a:chExt cx="2791456" cy="1892250"/>
          </a:xfrm>
        </p:grpSpPr>
        <p:cxnSp>
          <p:nvCxnSpPr>
            <p:cNvPr id="71" name="直接连接符 70"/>
            <p:cNvCxnSpPr/>
            <p:nvPr/>
          </p:nvCxnSpPr>
          <p:spPr bwMode="auto">
            <a:xfrm>
              <a:off x="8269883" y="332098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3" name="直接连接符 72"/>
            <p:cNvCxnSpPr>
              <a:cxnSpLocks noChangeAspect="1"/>
            </p:cNvCxnSpPr>
            <p:nvPr/>
          </p:nvCxnSpPr>
          <p:spPr bwMode="auto">
            <a:xfrm rot="16200000" flipH="1">
              <a:off x="7755781" y="2397584"/>
              <a:ext cx="1421376" cy="4140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sp>
          <p:nvSpPr>
            <p:cNvPr id="74" name="TextBox 73"/>
            <p:cNvSpPr txBox="1"/>
            <p:nvPr/>
          </p:nvSpPr>
          <p:spPr>
            <a:xfrm>
              <a:off x="8294267" y="3416858"/>
              <a:ext cx="569387"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hF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cxnSp>
          <p:nvCxnSpPr>
            <p:cNvPr id="75" name="直接连接符 74"/>
            <p:cNvCxnSpPr/>
            <p:nvPr/>
          </p:nvCxnSpPr>
          <p:spPr bwMode="auto">
            <a:xfrm rot="5400000">
              <a:off x="8042583" y="353450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7" name="直接连接符 76"/>
            <p:cNvCxnSpPr>
              <a:cxnSpLocks noChangeAspect="1"/>
            </p:cNvCxnSpPr>
            <p:nvPr/>
          </p:nvCxnSpPr>
          <p:spPr bwMode="auto">
            <a:xfrm>
              <a:off x="6072198" y="3333178"/>
              <a:ext cx="2192432" cy="424342"/>
            </a:xfrm>
            <a:prstGeom prst="line">
              <a:avLst/>
            </a:prstGeom>
            <a:solidFill>
              <a:schemeClr val="accent1"/>
            </a:solidFill>
            <a:ln w="38100" cap="flat" cmpd="sng" algn="ctr">
              <a:solidFill>
                <a:srgbClr val="0033CC"/>
              </a:solidFill>
              <a:prstDash val="solid"/>
              <a:round/>
              <a:headEnd type="none" w="med" len="med"/>
              <a:tailEnd type="none" w="med" len="med"/>
            </a:ln>
            <a:effectLst/>
          </p:spPr>
        </p:cxnSp>
      </p:grpSp>
      <p:grpSp>
        <p:nvGrpSpPr>
          <p:cNvPr id="8" name="组合 52"/>
          <p:cNvGrpSpPr/>
          <p:nvPr/>
        </p:nvGrpSpPr>
        <p:grpSpPr>
          <a:xfrm>
            <a:off x="7358082" y="4500570"/>
            <a:ext cx="920928" cy="1428760"/>
            <a:chOff x="7580956" y="2215348"/>
            <a:chExt cx="920928" cy="1428760"/>
          </a:xfrm>
        </p:grpSpPr>
        <p:grpSp>
          <p:nvGrpSpPr>
            <p:cNvPr id="9" name="组合 51"/>
            <p:cNvGrpSpPr/>
            <p:nvPr/>
          </p:nvGrpSpPr>
          <p:grpSpPr>
            <a:xfrm>
              <a:off x="8130457" y="2215348"/>
              <a:ext cx="371427" cy="1428760"/>
              <a:chOff x="8130457" y="2215348"/>
              <a:chExt cx="371427" cy="1428760"/>
            </a:xfrm>
          </p:grpSpPr>
          <p:cxnSp>
            <p:nvCxnSpPr>
              <p:cNvPr id="123" name="直接箭头连接符 122"/>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10" name="组合 48"/>
              <p:cNvGrpSpPr/>
              <p:nvPr/>
            </p:nvGrpSpPr>
            <p:grpSpPr>
              <a:xfrm>
                <a:off x="8130457" y="2215348"/>
                <a:ext cx="371427" cy="1428760"/>
                <a:chOff x="8130457" y="2215348"/>
                <a:chExt cx="371427" cy="1428760"/>
              </a:xfrm>
            </p:grpSpPr>
            <p:cxnSp>
              <p:nvCxnSpPr>
                <p:cNvPr id="40" name="直接箭头连接符 3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1" name="直接箭头连接符 4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2" name="直接箭头连接符 4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3" name="直接箭头连接符 4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4" name="直接箭头连接符 4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5" name="直接箭头连接符 4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6" name="直接箭头连接符 4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8" name="直接连接符 47"/>
                <p:cNvCxnSpPr/>
                <p:nvPr/>
              </p:nvCxnSpPr>
              <p:spPr bwMode="auto">
                <a:xfrm rot="5400000">
                  <a:off x="7786710"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51" name="TextBox 50"/>
            <p:cNvSpPr txBox="1"/>
            <p:nvPr/>
          </p:nvSpPr>
          <p:spPr>
            <a:xfrm>
              <a:off x="7580956" y="2703272"/>
              <a:ext cx="546945"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sp>
        <p:nvSpPr>
          <p:cNvPr id="79" name="TextBox 78"/>
          <p:cNvSpPr txBox="1"/>
          <p:nvPr/>
        </p:nvSpPr>
        <p:spPr>
          <a:xfrm>
            <a:off x="7000892" y="1500174"/>
            <a:ext cx="5261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a:t>
            </a:r>
            <a:endParaRPr lang="zh-CN" altLang="en-US" sz="2000" b="1" i="1" baseline="-25000">
              <a:latin typeface="Times New Roman" pitchFamily="18" charset="0"/>
              <a:cs typeface="Times New Roman" pitchFamily="18" charset="0"/>
            </a:endParaRPr>
          </a:p>
        </p:txBody>
      </p:sp>
      <p:grpSp>
        <p:nvGrpSpPr>
          <p:cNvPr id="11" name="组合 82"/>
          <p:cNvGrpSpPr/>
          <p:nvPr/>
        </p:nvGrpSpPr>
        <p:grpSpPr>
          <a:xfrm>
            <a:off x="7013084" y="4190434"/>
            <a:ext cx="412292" cy="400110"/>
            <a:chOff x="7072330" y="4214818"/>
            <a:chExt cx="412292" cy="400110"/>
          </a:xfrm>
        </p:grpSpPr>
        <p:sp>
          <p:nvSpPr>
            <p:cNvPr id="80" name="TextBox 79"/>
            <p:cNvSpPr txBox="1"/>
            <p:nvPr/>
          </p:nvSpPr>
          <p:spPr>
            <a:xfrm>
              <a:off x="7072330" y="4214818"/>
              <a:ext cx="412292"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endParaRPr lang="zh-CN" altLang="en-US" sz="2000" b="1" i="1" baseline="-25000">
                <a:latin typeface="Times New Roman" pitchFamily="18" charset="0"/>
                <a:cs typeface="Times New Roman" pitchFamily="18" charset="0"/>
              </a:endParaRPr>
            </a:p>
          </p:txBody>
        </p:sp>
        <p:cxnSp>
          <p:nvCxnSpPr>
            <p:cNvPr id="82" name="直接连接符 81"/>
            <p:cNvCxnSpPr/>
            <p:nvPr/>
          </p:nvCxnSpPr>
          <p:spPr bwMode="auto">
            <a:xfrm>
              <a:off x="7180344" y="4284668"/>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12" name="组合 97"/>
          <p:cNvGrpSpPr/>
          <p:nvPr/>
        </p:nvGrpSpPr>
        <p:grpSpPr>
          <a:xfrm>
            <a:off x="6143636" y="4498848"/>
            <a:ext cx="2857520" cy="1859110"/>
            <a:chOff x="6143636" y="4498848"/>
            <a:chExt cx="2857520" cy="1859110"/>
          </a:xfrm>
        </p:grpSpPr>
        <p:grpSp>
          <p:nvGrpSpPr>
            <p:cNvPr id="13" name="组合 86"/>
            <p:cNvGrpSpPr/>
            <p:nvPr/>
          </p:nvGrpSpPr>
          <p:grpSpPr>
            <a:xfrm>
              <a:off x="8278368" y="4498848"/>
              <a:ext cx="437036" cy="1438656"/>
              <a:chOff x="8278368" y="4498848"/>
              <a:chExt cx="437036" cy="1438656"/>
            </a:xfrm>
          </p:grpSpPr>
          <p:cxnSp>
            <p:nvCxnSpPr>
              <p:cNvPr id="85" name="直接连接符 84"/>
              <p:cNvCxnSpPr/>
              <p:nvPr/>
            </p:nvCxnSpPr>
            <p:spPr bwMode="auto">
              <a:xfrm>
                <a:off x="8286776" y="592933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86" name="任意多边形 85"/>
              <p:cNvSpPr/>
              <p:nvPr/>
            </p:nvSpPr>
            <p:spPr bwMode="auto">
              <a:xfrm>
                <a:off x="8278368" y="4498848"/>
                <a:ext cx="426720" cy="1438656"/>
              </a:xfrm>
              <a:custGeom>
                <a:avLst/>
                <a:gdLst>
                  <a:gd name="connsiteX0" fmla="*/ 0 w 426720"/>
                  <a:gd name="connsiteY0" fmla="*/ 0 h 1438656"/>
                  <a:gd name="connsiteX1" fmla="*/ 121920 w 426720"/>
                  <a:gd name="connsiteY1" fmla="*/ 792480 h 1438656"/>
                  <a:gd name="connsiteX2" fmla="*/ 426720 w 426720"/>
                  <a:gd name="connsiteY2" fmla="*/ 1438656 h 1438656"/>
                </a:gdLst>
                <a:ahLst/>
                <a:cxnLst>
                  <a:cxn ang="0">
                    <a:pos x="connsiteX0" y="connsiteY0"/>
                  </a:cxn>
                  <a:cxn ang="0">
                    <a:pos x="connsiteX1" y="connsiteY1"/>
                  </a:cxn>
                  <a:cxn ang="0">
                    <a:pos x="connsiteX2" y="connsiteY2"/>
                  </a:cxn>
                </a:cxnLst>
                <a:rect l="l" t="t" r="r" b="b"/>
                <a:pathLst>
                  <a:path w="426720" h="1438656">
                    <a:moveTo>
                      <a:pt x="0" y="0"/>
                    </a:moveTo>
                    <a:cubicBezTo>
                      <a:pt x="25400" y="276352"/>
                      <a:pt x="50800" y="552704"/>
                      <a:pt x="121920" y="792480"/>
                    </a:cubicBezTo>
                    <a:cubicBezTo>
                      <a:pt x="193040" y="1032256"/>
                      <a:pt x="309880" y="1235456"/>
                      <a:pt x="426720" y="1438656"/>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grpSp>
          <p:nvGrpSpPr>
            <p:cNvPr id="14" name="组合 94"/>
            <p:cNvGrpSpPr/>
            <p:nvPr/>
          </p:nvGrpSpPr>
          <p:grpSpPr>
            <a:xfrm>
              <a:off x="6143636" y="5929330"/>
              <a:ext cx="2857520" cy="428628"/>
              <a:chOff x="6143636" y="5929330"/>
              <a:chExt cx="2857520" cy="428628"/>
            </a:xfrm>
          </p:grpSpPr>
          <p:sp>
            <p:nvSpPr>
              <p:cNvPr id="88" name="TextBox 87"/>
              <p:cNvSpPr txBox="1"/>
              <p:nvPr/>
            </p:nvSpPr>
            <p:spPr>
              <a:xfrm>
                <a:off x="8322765" y="5988626"/>
                <a:ext cx="678391"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0.5</a:t>
                </a:r>
                <a:r>
                  <a:rPr lang="en-US" altLang="zh-CN" b="1" i="1">
                    <a:solidFill>
                      <a:srgbClr val="C00000"/>
                    </a:solidFill>
                    <a:latin typeface="Times New Roman" pitchFamily="18" charset="0"/>
                    <a:cs typeface="Times New Roman" pitchFamily="18" charset="0"/>
                  </a:rPr>
                  <a:t>h</a:t>
                </a:r>
                <a:r>
                  <a:rPr lang="en-US" altLang="zh-CN" b="1" baseline="30000">
                    <a:solidFill>
                      <a:srgbClr val="C00000"/>
                    </a:solidFill>
                    <a:latin typeface="Times New Roman" pitchFamily="18" charset="0"/>
                    <a:cs typeface="Times New Roman" pitchFamily="18" charset="0"/>
                  </a:rPr>
                  <a:t>2</a:t>
                </a:r>
                <a:endParaRPr lang="zh-CN" altLang="en-US" b="1" i="1" baseline="-25000">
                  <a:solidFill>
                    <a:srgbClr val="C00000"/>
                  </a:solidFill>
                  <a:latin typeface="Times New Roman" pitchFamily="18" charset="0"/>
                  <a:cs typeface="Times New Roman" pitchFamily="18" charset="0"/>
                </a:endParaRPr>
              </a:p>
            </p:txBody>
          </p:sp>
          <p:grpSp>
            <p:nvGrpSpPr>
              <p:cNvPr id="15" name="组合 91"/>
              <p:cNvGrpSpPr/>
              <p:nvPr/>
            </p:nvGrpSpPr>
            <p:grpSpPr>
              <a:xfrm>
                <a:off x="6143636" y="5929330"/>
                <a:ext cx="2143140" cy="428628"/>
                <a:chOff x="6143636" y="5929330"/>
                <a:chExt cx="2143140" cy="428628"/>
              </a:xfrm>
            </p:grpSpPr>
            <p:cxnSp>
              <p:nvCxnSpPr>
                <p:cNvPr id="89" name="直接连接符 88"/>
                <p:cNvCxnSpPr/>
                <p:nvPr/>
              </p:nvCxnSpPr>
              <p:spPr bwMode="auto">
                <a:xfrm rot="5400000">
                  <a:off x="8063830" y="614285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91" name="直接连接符 90"/>
                <p:cNvCxnSpPr/>
                <p:nvPr/>
              </p:nvCxnSpPr>
              <p:spPr bwMode="auto">
                <a:xfrm rot="10800000">
                  <a:off x="6143636" y="5961958"/>
                  <a:ext cx="2143140" cy="396000"/>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grpSp>
      </p:grpSp>
      <p:graphicFrame>
        <p:nvGraphicFramePr>
          <p:cNvPr id="483331" name="Object 2"/>
          <p:cNvGraphicFramePr>
            <a:graphicFrameLocks noChangeAspect="1"/>
          </p:cNvGraphicFramePr>
          <p:nvPr/>
        </p:nvGraphicFramePr>
        <p:xfrm>
          <a:off x="2217388" y="4133850"/>
          <a:ext cx="1968500" cy="611188"/>
        </p:xfrm>
        <a:graphic>
          <a:graphicData uri="http://schemas.openxmlformats.org/presentationml/2006/ole">
            <mc:AlternateContent xmlns:mc="http://schemas.openxmlformats.org/markup-compatibility/2006">
              <mc:Choice xmlns:v="urn:schemas-microsoft-com:vml" Requires="v">
                <p:oleObj spid="_x0000_s485385" name="Equation" r:id="rId5" imgW="1269720" imgH="393480" progId="Equation.DSMT4">
                  <p:embed/>
                </p:oleObj>
              </mc:Choice>
              <mc:Fallback>
                <p:oleObj name="Equation" r:id="rId5" imgW="1269720" imgH="39348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7388" y="4133850"/>
                        <a:ext cx="1968500"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3335" name="Object 2"/>
          <p:cNvGraphicFramePr>
            <a:graphicFrameLocks noChangeAspect="1"/>
          </p:cNvGraphicFramePr>
          <p:nvPr/>
        </p:nvGraphicFramePr>
        <p:xfrm>
          <a:off x="2224085" y="4714884"/>
          <a:ext cx="2062163" cy="611188"/>
        </p:xfrm>
        <a:graphic>
          <a:graphicData uri="http://schemas.openxmlformats.org/presentationml/2006/ole">
            <mc:AlternateContent xmlns:mc="http://schemas.openxmlformats.org/markup-compatibility/2006">
              <mc:Choice xmlns:v="urn:schemas-microsoft-com:vml" Requires="v">
                <p:oleObj spid="_x0000_s485386" name="Equation" r:id="rId7" imgW="1333440" imgH="393480" progId="Equation.DSMT4">
                  <p:embed/>
                </p:oleObj>
              </mc:Choice>
              <mc:Fallback>
                <p:oleObj name="Equation" r:id="rId7" imgW="1333440" imgH="39348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4085" y="4714884"/>
                        <a:ext cx="2062163"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5384" name="Object 2"/>
          <p:cNvGraphicFramePr>
            <a:graphicFrameLocks noChangeAspect="1"/>
          </p:cNvGraphicFramePr>
          <p:nvPr/>
        </p:nvGraphicFramePr>
        <p:xfrm>
          <a:off x="2214546" y="5643578"/>
          <a:ext cx="3405188" cy="749300"/>
        </p:xfrm>
        <a:graphic>
          <a:graphicData uri="http://schemas.openxmlformats.org/presentationml/2006/ole">
            <mc:AlternateContent xmlns:mc="http://schemas.openxmlformats.org/markup-compatibility/2006">
              <mc:Choice xmlns:v="urn:schemas-microsoft-com:vml" Requires="v">
                <p:oleObj spid="_x0000_s485387" name="Equation" r:id="rId9" imgW="2197080" imgH="482400" progId="Equation.DSMT4">
                  <p:embed/>
                </p:oleObj>
              </mc:Choice>
              <mc:Fallback>
                <p:oleObj name="Equation" r:id="rId9" imgW="2197080" imgH="482400" progId="Equation.DSMT4">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4546" y="5643578"/>
                        <a:ext cx="3405188"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 name="矩形 68"/>
          <p:cNvSpPr/>
          <p:nvPr/>
        </p:nvSpPr>
        <p:spPr>
          <a:xfrm>
            <a:off x="2103944" y="5297146"/>
            <a:ext cx="1467924" cy="400110"/>
          </a:xfrm>
          <a:prstGeom prst="rect">
            <a:avLst/>
          </a:prstGeom>
        </p:spPr>
        <p:txBody>
          <a:bodyPr wrap="square">
            <a:spAutoFit/>
          </a:bodyPr>
          <a:lstStyle/>
          <a:p>
            <a:r>
              <a:rPr lang="zh-CN" altLang="en-US" sz="2000" b="1">
                <a:latin typeface="+mn-ea"/>
              </a:rPr>
              <a:t>故积分，</a:t>
            </a:r>
            <a:endParaRPr lang="en-US" altLang="zh-CN" sz="2000" b="1">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3331"/>
                                        </p:tgtEl>
                                        <p:attrNameLst>
                                          <p:attrName>style.visibility</p:attrName>
                                        </p:attrNameLst>
                                      </p:cBhvr>
                                      <p:to>
                                        <p:strVal val="visible"/>
                                      </p:to>
                                    </p:set>
                                    <p:anim calcmode="lin" valueType="num">
                                      <p:cBhvr additive="base">
                                        <p:cTn id="7" dur="500" fill="hold"/>
                                        <p:tgtEl>
                                          <p:spTgt spid="483331"/>
                                        </p:tgtEl>
                                        <p:attrNameLst>
                                          <p:attrName>ppt_x</p:attrName>
                                        </p:attrNameLst>
                                      </p:cBhvr>
                                      <p:tavLst>
                                        <p:tav tm="0">
                                          <p:val>
                                            <p:strVal val="#ppt_x"/>
                                          </p:val>
                                        </p:tav>
                                        <p:tav tm="100000">
                                          <p:val>
                                            <p:strVal val="#ppt_x"/>
                                          </p:val>
                                        </p:tav>
                                      </p:tavLst>
                                    </p:anim>
                                    <p:anim calcmode="lin" valueType="num">
                                      <p:cBhvr additive="base">
                                        <p:cTn id="8" dur="500" fill="hold"/>
                                        <p:tgtEl>
                                          <p:spTgt spid="4833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3335"/>
                                        </p:tgtEl>
                                        <p:attrNameLst>
                                          <p:attrName>style.visibility</p:attrName>
                                        </p:attrNameLst>
                                      </p:cBhvr>
                                      <p:to>
                                        <p:strVal val="visible"/>
                                      </p:to>
                                    </p:set>
                                    <p:anim calcmode="lin" valueType="num">
                                      <p:cBhvr additive="base">
                                        <p:cTn id="11" dur="500" fill="hold"/>
                                        <p:tgtEl>
                                          <p:spTgt spid="483335"/>
                                        </p:tgtEl>
                                        <p:attrNameLst>
                                          <p:attrName>ppt_x</p:attrName>
                                        </p:attrNameLst>
                                      </p:cBhvr>
                                      <p:tavLst>
                                        <p:tav tm="0">
                                          <p:val>
                                            <p:strVal val="#ppt_x"/>
                                          </p:val>
                                        </p:tav>
                                        <p:tav tm="100000">
                                          <p:val>
                                            <p:strVal val="#ppt_x"/>
                                          </p:val>
                                        </p:tav>
                                      </p:tavLst>
                                    </p:anim>
                                    <p:anim calcmode="lin" valueType="num">
                                      <p:cBhvr additive="base">
                                        <p:cTn id="12" dur="500" fill="hold"/>
                                        <p:tgtEl>
                                          <p:spTgt spid="48333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additive="base">
                                        <p:cTn id="17" dur="500" fill="hold"/>
                                        <p:tgtEl>
                                          <p:spTgt spid="69"/>
                                        </p:tgtEl>
                                        <p:attrNameLst>
                                          <p:attrName>ppt_x</p:attrName>
                                        </p:attrNameLst>
                                      </p:cBhvr>
                                      <p:tavLst>
                                        <p:tav tm="0">
                                          <p:val>
                                            <p:strVal val="#ppt_x"/>
                                          </p:val>
                                        </p:tav>
                                        <p:tav tm="100000">
                                          <p:val>
                                            <p:strVal val="#ppt_x"/>
                                          </p:val>
                                        </p:tav>
                                      </p:tavLst>
                                    </p:anim>
                                    <p:anim calcmode="lin" valueType="num">
                                      <p:cBhvr additive="base">
                                        <p:cTn id="18" dur="500" fill="hold"/>
                                        <p:tgtEl>
                                          <p:spTgt spid="6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85384"/>
                                        </p:tgtEl>
                                        <p:attrNameLst>
                                          <p:attrName>style.visibility</p:attrName>
                                        </p:attrNameLst>
                                      </p:cBhvr>
                                      <p:to>
                                        <p:strVal val="visible"/>
                                      </p:to>
                                    </p:set>
                                    <p:anim calcmode="lin" valueType="num">
                                      <p:cBhvr additive="base">
                                        <p:cTn id="21" dur="500" fill="hold"/>
                                        <p:tgtEl>
                                          <p:spTgt spid="485384"/>
                                        </p:tgtEl>
                                        <p:attrNameLst>
                                          <p:attrName>ppt_x</p:attrName>
                                        </p:attrNameLst>
                                      </p:cBhvr>
                                      <p:tavLst>
                                        <p:tav tm="0">
                                          <p:val>
                                            <p:strVal val="#ppt_x"/>
                                          </p:val>
                                        </p:tav>
                                        <p:tav tm="100000">
                                          <p:val>
                                            <p:strVal val="#ppt_x"/>
                                          </p:val>
                                        </p:tav>
                                      </p:tavLst>
                                    </p:anim>
                                    <p:anim calcmode="lin" valueType="num">
                                      <p:cBhvr additive="base">
                                        <p:cTn id="22" dur="500" fill="hold"/>
                                        <p:tgtEl>
                                          <p:spTgt spid="4853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1017579"/>
          </a:xfrm>
          <a:ln>
            <a:noFill/>
          </a:ln>
        </p:spPr>
        <p:txBody>
          <a:bodyPr/>
          <a:lstStyle/>
          <a:p>
            <a:pPr marL="342900" lvl="1" indent="-342900"/>
            <a:r>
              <a:rPr lang="zh-CN" altLang="en-US" sz="2400">
                <a:solidFill>
                  <a:srgbClr val="C00000"/>
                </a:solidFill>
              </a:rPr>
              <a:t>图乘法及其应用条件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endParaRPr lang="zh-CN" altLang="en-US" sz="3600" dirty="0"/>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6"/>
          <p:cNvSpPr>
            <a:spLocks noChangeArrowheads="1"/>
          </p:cNvSpPr>
          <p:nvPr/>
        </p:nvSpPr>
        <p:spPr bwMode="auto">
          <a:xfrm>
            <a:off x="469540" y="1796794"/>
            <a:ext cx="5174030"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a:t>
            </a:r>
            <a:r>
              <a:rPr lang="zh-CN" altLang="en-US" sz="2000" b="1">
                <a:latin typeface="Times New Roman" pitchFamily="18" charset="0"/>
                <a:cs typeface="Times New Roman" pitchFamily="18" charset="0"/>
              </a:rPr>
              <a:t>：如图所示刚架，由于长期使用，侧壁</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段产生向外的弯曲</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，现于</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点施加一个作用力</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，使得</a:t>
            </a:r>
            <a:r>
              <a:rPr lang="en-US" altLang="zh-CN" sz="2000" b="1" i="1">
                <a:latin typeface="Times New Roman" pitchFamily="18" charset="0"/>
                <a:cs typeface="Times New Roman" pitchFamily="18" charset="0"/>
              </a:rPr>
              <a:t>AC</a:t>
            </a:r>
            <a:r>
              <a:rPr lang="zh-CN" altLang="en-US" sz="2000" b="1">
                <a:latin typeface="Times New Roman" pitchFamily="18" charset="0"/>
                <a:cs typeface="Times New Roman" pitchFamily="18" charset="0"/>
              </a:rPr>
              <a:t>杆件产生向内的水平挠度</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。问</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a:t>
            </a:r>
            <a:r>
              <a:rPr lang="zh-CN" altLang="en-US" sz="2000" b="1">
                <a:latin typeface="Times New Roman" pitchFamily="18" charset="0"/>
                <a:cs typeface="Times New Roman" pitchFamily="18" charset="0"/>
              </a:rPr>
              <a:t>为何值时，才能使得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 - </a:t>
            </a:r>
            <a:r>
              <a:rPr lang="en-US" altLang="zh-CN" sz="2000" b="1" i="1">
                <a:latin typeface="Times New Roman" pitchFamily="18" charset="0"/>
                <a:cs typeface="Times New Roman" pitchFamily="18" charset="0"/>
              </a:rPr>
              <a:t>w</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y</a:t>
            </a:r>
            <a:r>
              <a:rPr lang="en-US" altLang="zh-CN" sz="2000" b="1">
                <a:latin typeface="Times New Roman" pitchFamily="18" charset="0"/>
                <a:cs typeface="Times New Roman" pitchFamily="18" charset="0"/>
              </a:rPr>
              <a:t>|&lt;Δ?</a:t>
            </a:r>
          </a:p>
        </p:txBody>
      </p:sp>
      <p:grpSp>
        <p:nvGrpSpPr>
          <p:cNvPr id="4" name="组合 53"/>
          <p:cNvGrpSpPr/>
          <p:nvPr/>
        </p:nvGrpSpPr>
        <p:grpSpPr>
          <a:xfrm>
            <a:off x="5857884" y="1522894"/>
            <a:ext cx="2607393" cy="2555392"/>
            <a:chOff x="5732185" y="1845222"/>
            <a:chExt cx="2607393" cy="2555392"/>
          </a:xfrm>
        </p:grpSpPr>
        <p:pic>
          <p:nvPicPr>
            <p:cNvPr id="93"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cxnSp>
          <p:nvCxnSpPr>
            <p:cNvPr id="94" name="直接连接符 93"/>
            <p:cNvCxnSpPr/>
            <p:nvPr/>
          </p:nvCxnSpPr>
          <p:spPr bwMode="auto">
            <a:xfrm flipV="1">
              <a:off x="6193420"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箭头连接符 95"/>
            <p:cNvCxnSpPr/>
            <p:nvPr/>
          </p:nvCxnSpPr>
          <p:spPr bwMode="auto">
            <a:xfrm rot="5400000">
              <a:off x="5621122"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97" name="TextBox 96"/>
            <p:cNvSpPr txBox="1"/>
            <p:nvPr/>
          </p:nvSpPr>
          <p:spPr>
            <a:xfrm rot="16200000">
              <a:off x="6158370"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99" name="直接箭头连接符 98"/>
            <p:cNvCxnSpPr/>
            <p:nvPr/>
          </p:nvCxnSpPr>
          <p:spPr bwMode="auto">
            <a:xfrm rot="10800000">
              <a:off x="5959562" y="4214818"/>
              <a:ext cx="2184338" cy="2373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00" name="TextBox 99"/>
            <p:cNvSpPr txBox="1"/>
            <p:nvPr/>
          </p:nvSpPr>
          <p:spPr>
            <a:xfrm>
              <a:off x="6858016" y="4000504"/>
              <a:ext cx="441146" cy="400110"/>
            </a:xfrm>
            <a:prstGeom prst="rect">
              <a:avLst/>
            </a:prstGeom>
            <a:solidFill>
              <a:schemeClr val="bg1"/>
            </a:solidFill>
            <a:ln w="28575">
              <a:noFill/>
            </a:ln>
          </p:spPr>
          <p:txBody>
            <a:bodyPr wrap="none" rtlCol="0">
              <a:spAutoFit/>
            </a:bodyPr>
            <a:lstStyle/>
            <a:p>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104" name="TextBox 103"/>
            <p:cNvSpPr txBox="1"/>
            <p:nvPr/>
          </p:nvSpPr>
          <p:spPr>
            <a:xfrm>
              <a:off x="7811378" y="331055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06" name="TextBox 105"/>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14" name="TextBox 113"/>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27" name="TextBox 12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28" name="直接连接符 127"/>
            <p:cNvCxnSpPr/>
            <p:nvPr/>
          </p:nvCxnSpPr>
          <p:spPr bwMode="auto">
            <a:xfrm rot="5400000" flipV="1">
              <a:off x="5846645"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rot="5400000" flipV="1">
              <a:off x="8007434" y="4239504"/>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50" name="矩形 49"/>
          <p:cNvSpPr/>
          <p:nvPr/>
        </p:nvSpPr>
        <p:spPr>
          <a:xfrm>
            <a:off x="1214414" y="3714752"/>
            <a:ext cx="4572032" cy="400110"/>
          </a:xfrm>
          <a:prstGeom prst="rect">
            <a:avLst/>
          </a:prstGeom>
        </p:spPr>
        <p:txBody>
          <a:bodyPr wrap="square">
            <a:spAutoFit/>
          </a:bodyPr>
          <a:lstStyle/>
          <a:p>
            <a:r>
              <a:rPr lang="zh-CN" altLang="en-US" sz="2000" b="1">
                <a:latin typeface="+mn-ea"/>
              </a:rPr>
              <a:t>解： ⑷ 确定</a:t>
            </a:r>
            <a:r>
              <a:rPr lang="en-US" altLang="zh-CN" sz="2000" b="1" i="1">
                <a:latin typeface="Times New Roman" pitchFamily="18" charset="0"/>
                <a:cs typeface="Times New Roman" pitchFamily="18" charset="0"/>
              </a:rPr>
              <a:t>F</a:t>
            </a:r>
            <a:r>
              <a:rPr lang="en-US" altLang="zh-CN" sz="2000" b="1" i="1" baseline="-25000">
                <a:latin typeface="Times New Roman" pitchFamily="18" charset="0"/>
                <a:cs typeface="Times New Roman" pitchFamily="18" charset="0"/>
              </a:rPr>
              <a:t>C </a:t>
            </a:r>
            <a:r>
              <a:rPr lang="zh-CN" altLang="en-US" sz="2000" b="1">
                <a:latin typeface="Times New Roman" pitchFamily="18" charset="0"/>
                <a:cs typeface="Times New Roman" pitchFamily="18" charset="0"/>
              </a:rPr>
              <a:t>的范围</a:t>
            </a:r>
            <a:r>
              <a:rPr lang="zh-CN" altLang="en-US" sz="2000" b="1">
                <a:latin typeface="+mn-ea"/>
              </a:rPr>
              <a:t>：由要求知，</a:t>
            </a:r>
            <a:endParaRPr lang="en-US" altLang="zh-CN" sz="2000" b="1">
              <a:latin typeface="+mn-ea"/>
            </a:endParaRPr>
          </a:p>
        </p:txBody>
      </p:sp>
      <p:grpSp>
        <p:nvGrpSpPr>
          <p:cNvPr id="5" name="组合 52"/>
          <p:cNvGrpSpPr/>
          <p:nvPr/>
        </p:nvGrpSpPr>
        <p:grpSpPr>
          <a:xfrm>
            <a:off x="8247233" y="1500174"/>
            <a:ext cx="661122" cy="381448"/>
            <a:chOff x="8126046" y="1822502"/>
            <a:chExt cx="661122" cy="381448"/>
          </a:xfrm>
        </p:grpSpPr>
        <p:cxnSp>
          <p:nvCxnSpPr>
            <p:cNvPr id="49" name="直接箭头连接符 48"/>
            <p:cNvCxnSpPr/>
            <p:nvPr/>
          </p:nvCxnSpPr>
          <p:spPr bwMode="auto">
            <a:xfrm rot="10800000">
              <a:off x="8126046" y="2202362"/>
              <a:ext cx="540591" cy="1588"/>
            </a:xfrm>
            <a:prstGeom prst="straightConnector1">
              <a:avLst/>
            </a:prstGeom>
            <a:solidFill>
              <a:schemeClr val="accent1"/>
            </a:solidFill>
            <a:ln w="38100" cap="flat" cmpd="sng" algn="ctr">
              <a:solidFill>
                <a:srgbClr val="0033CC"/>
              </a:solidFill>
              <a:prstDash val="solid"/>
              <a:round/>
              <a:headEnd type="none" w="med" len="med"/>
              <a:tailEnd type="triangle" w="med" len="lg"/>
            </a:ln>
            <a:effectLst/>
          </p:spPr>
        </p:cxnSp>
        <p:sp>
          <p:nvSpPr>
            <p:cNvPr id="52" name="TextBox 51"/>
            <p:cNvSpPr txBox="1"/>
            <p:nvPr/>
          </p:nvSpPr>
          <p:spPr>
            <a:xfrm>
              <a:off x="8346022" y="1822502"/>
              <a:ext cx="441146"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grpSp>
      <p:grpSp>
        <p:nvGrpSpPr>
          <p:cNvPr id="6" name="组合 53"/>
          <p:cNvGrpSpPr/>
          <p:nvPr/>
        </p:nvGrpSpPr>
        <p:grpSpPr>
          <a:xfrm>
            <a:off x="5893697" y="4143380"/>
            <a:ext cx="2607393" cy="2315808"/>
            <a:chOff x="5732185" y="1845222"/>
            <a:chExt cx="2607393" cy="2315808"/>
          </a:xfrm>
        </p:grpSpPr>
        <p:pic>
          <p:nvPicPr>
            <p:cNvPr id="58"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sp>
          <p:nvSpPr>
            <p:cNvPr id="65" name="TextBox 64"/>
            <p:cNvSpPr txBox="1"/>
            <p:nvPr/>
          </p:nvSpPr>
          <p:spPr>
            <a:xfrm>
              <a:off x="5805082" y="379169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66" name="TextBox 65"/>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67" name="TextBox 6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grpSp>
      <p:grpSp>
        <p:nvGrpSpPr>
          <p:cNvPr id="7" name="组合 77"/>
          <p:cNvGrpSpPr/>
          <p:nvPr/>
        </p:nvGrpSpPr>
        <p:grpSpPr>
          <a:xfrm>
            <a:off x="6072198" y="1893940"/>
            <a:ext cx="2791456" cy="1892250"/>
            <a:chOff x="6072198" y="1893940"/>
            <a:chExt cx="2791456" cy="1892250"/>
          </a:xfrm>
        </p:grpSpPr>
        <p:cxnSp>
          <p:nvCxnSpPr>
            <p:cNvPr id="71" name="直接连接符 70"/>
            <p:cNvCxnSpPr/>
            <p:nvPr/>
          </p:nvCxnSpPr>
          <p:spPr bwMode="auto">
            <a:xfrm>
              <a:off x="8269883" y="332098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3" name="直接连接符 72"/>
            <p:cNvCxnSpPr>
              <a:cxnSpLocks noChangeAspect="1"/>
            </p:cNvCxnSpPr>
            <p:nvPr/>
          </p:nvCxnSpPr>
          <p:spPr bwMode="auto">
            <a:xfrm rot="16200000" flipH="1">
              <a:off x="7755781" y="2397584"/>
              <a:ext cx="1421376" cy="4140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sp>
          <p:nvSpPr>
            <p:cNvPr id="74" name="TextBox 73"/>
            <p:cNvSpPr txBox="1"/>
            <p:nvPr/>
          </p:nvSpPr>
          <p:spPr>
            <a:xfrm>
              <a:off x="8294267" y="3416858"/>
              <a:ext cx="569387"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hF</a:t>
              </a:r>
              <a:r>
                <a:rPr lang="en-US" altLang="zh-CN" b="1" i="1" baseline="-25000">
                  <a:solidFill>
                    <a:srgbClr val="0033CC"/>
                  </a:solidFill>
                  <a:latin typeface="Times New Roman" pitchFamily="18" charset="0"/>
                  <a:cs typeface="Times New Roman" pitchFamily="18" charset="0"/>
                </a:rPr>
                <a:t>C</a:t>
              </a:r>
              <a:endParaRPr lang="zh-CN" altLang="en-US" b="1" i="1" baseline="-25000">
                <a:solidFill>
                  <a:srgbClr val="0033CC"/>
                </a:solidFill>
                <a:latin typeface="Times New Roman" pitchFamily="18" charset="0"/>
                <a:cs typeface="Times New Roman" pitchFamily="18" charset="0"/>
              </a:endParaRPr>
            </a:p>
          </p:txBody>
        </p:sp>
        <p:cxnSp>
          <p:nvCxnSpPr>
            <p:cNvPr id="75" name="直接连接符 74"/>
            <p:cNvCxnSpPr/>
            <p:nvPr/>
          </p:nvCxnSpPr>
          <p:spPr bwMode="auto">
            <a:xfrm rot="5400000">
              <a:off x="8042583" y="3534506"/>
              <a:ext cx="428628" cy="1588"/>
            </a:xfrm>
            <a:prstGeom prst="line">
              <a:avLst/>
            </a:prstGeom>
            <a:solidFill>
              <a:schemeClr val="accent1"/>
            </a:solidFill>
            <a:ln w="38100" cap="flat" cmpd="sng" algn="ctr">
              <a:solidFill>
                <a:srgbClr val="0033CC"/>
              </a:solidFill>
              <a:prstDash val="solid"/>
              <a:round/>
              <a:headEnd type="none" w="med" len="med"/>
              <a:tailEnd type="none" w="med" len="med"/>
            </a:ln>
            <a:effectLst/>
          </p:spPr>
        </p:cxnSp>
        <p:cxnSp>
          <p:nvCxnSpPr>
            <p:cNvPr id="77" name="直接连接符 76"/>
            <p:cNvCxnSpPr>
              <a:cxnSpLocks noChangeAspect="1"/>
            </p:cNvCxnSpPr>
            <p:nvPr/>
          </p:nvCxnSpPr>
          <p:spPr bwMode="auto">
            <a:xfrm>
              <a:off x="6072198" y="3333178"/>
              <a:ext cx="2192432" cy="424342"/>
            </a:xfrm>
            <a:prstGeom prst="line">
              <a:avLst/>
            </a:prstGeom>
            <a:solidFill>
              <a:schemeClr val="accent1"/>
            </a:solidFill>
            <a:ln w="38100" cap="flat" cmpd="sng" algn="ctr">
              <a:solidFill>
                <a:srgbClr val="0033CC"/>
              </a:solidFill>
              <a:prstDash val="solid"/>
              <a:round/>
              <a:headEnd type="none" w="med" len="med"/>
              <a:tailEnd type="none" w="med" len="med"/>
            </a:ln>
            <a:effectLst/>
          </p:spPr>
        </p:cxnSp>
      </p:grpSp>
      <p:grpSp>
        <p:nvGrpSpPr>
          <p:cNvPr id="8" name="组合 52"/>
          <p:cNvGrpSpPr/>
          <p:nvPr/>
        </p:nvGrpSpPr>
        <p:grpSpPr>
          <a:xfrm>
            <a:off x="7358082" y="4500570"/>
            <a:ext cx="920928" cy="1428760"/>
            <a:chOff x="7580956" y="2215348"/>
            <a:chExt cx="920928" cy="1428760"/>
          </a:xfrm>
        </p:grpSpPr>
        <p:grpSp>
          <p:nvGrpSpPr>
            <p:cNvPr id="9" name="组合 51"/>
            <p:cNvGrpSpPr/>
            <p:nvPr/>
          </p:nvGrpSpPr>
          <p:grpSpPr>
            <a:xfrm>
              <a:off x="8130457" y="2215348"/>
              <a:ext cx="371427" cy="1428760"/>
              <a:chOff x="8130457" y="2215348"/>
              <a:chExt cx="371427" cy="1428760"/>
            </a:xfrm>
          </p:grpSpPr>
          <p:cxnSp>
            <p:nvCxnSpPr>
              <p:cNvPr id="123" name="直接箭头连接符 122"/>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10" name="组合 48"/>
              <p:cNvGrpSpPr/>
              <p:nvPr/>
            </p:nvGrpSpPr>
            <p:grpSpPr>
              <a:xfrm>
                <a:off x="8130457" y="2215348"/>
                <a:ext cx="371427" cy="1428760"/>
                <a:chOff x="8130457" y="2215348"/>
                <a:chExt cx="371427" cy="1428760"/>
              </a:xfrm>
            </p:grpSpPr>
            <p:cxnSp>
              <p:nvCxnSpPr>
                <p:cNvPr id="40" name="直接箭头连接符 3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1" name="直接箭头连接符 4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2" name="直接箭头连接符 4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3" name="直接箭头连接符 4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4" name="直接箭头连接符 4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5" name="直接箭头连接符 4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6" name="直接箭头连接符 4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48" name="直接连接符 47"/>
                <p:cNvCxnSpPr/>
                <p:nvPr/>
              </p:nvCxnSpPr>
              <p:spPr bwMode="auto">
                <a:xfrm rot="5400000">
                  <a:off x="7786710"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51" name="TextBox 50"/>
            <p:cNvSpPr txBox="1"/>
            <p:nvPr/>
          </p:nvSpPr>
          <p:spPr>
            <a:xfrm>
              <a:off x="7580956" y="2703272"/>
              <a:ext cx="546945"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sp>
        <p:nvSpPr>
          <p:cNvPr id="79" name="TextBox 78"/>
          <p:cNvSpPr txBox="1"/>
          <p:nvPr/>
        </p:nvSpPr>
        <p:spPr>
          <a:xfrm>
            <a:off x="7000892" y="1500174"/>
            <a:ext cx="5261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a:t>
            </a:r>
            <a:endParaRPr lang="zh-CN" altLang="en-US" sz="2000" b="1" i="1" baseline="-25000">
              <a:latin typeface="Times New Roman" pitchFamily="18" charset="0"/>
              <a:cs typeface="Times New Roman" pitchFamily="18" charset="0"/>
            </a:endParaRPr>
          </a:p>
        </p:txBody>
      </p:sp>
      <p:grpSp>
        <p:nvGrpSpPr>
          <p:cNvPr id="11" name="组合 82"/>
          <p:cNvGrpSpPr/>
          <p:nvPr/>
        </p:nvGrpSpPr>
        <p:grpSpPr>
          <a:xfrm>
            <a:off x="7013084" y="4190434"/>
            <a:ext cx="412292" cy="400110"/>
            <a:chOff x="7072330" y="4214818"/>
            <a:chExt cx="412292" cy="400110"/>
          </a:xfrm>
        </p:grpSpPr>
        <p:sp>
          <p:nvSpPr>
            <p:cNvPr id="80" name="TextBox 79"/>
            <p:cNvSpPr txBox="1"/>
            <p:nvPr/>
          </p:nvSpPr>
          <p:spPr>
            <a:xfrm>
              <a:off x="7072330" y="4214818"/>
              <a:ext cx="412292"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M</a:t>
              </a:r>
              <a:endParaRPr lang="zh-CN" altLang="en-US" sz="2000" b="1" i="1" baseline="-25000">
                <a:latin typeface="Times New Roman" pitchFamily="18" charset="0"/>
                <a:cs typeface="Times New Roman" pitchFamily="18" charset="0"/>
              </a:endParaRPr>
            </a:p>
          </p:txBody>
        </p:sp>
        <p:cxnSp>
          <p:nvCxnSpPr>
            <p:cNvPr id="82" name="直接连接符 81"/>
            <p:cNvCxnSpPr/>
            <p:nvPr/>
          </p:nvCxnSpPr>
          <p:spPr bwMode="auto">
            <a:xfrm>
              <a:off x="7180344" y="4284668"/>
              <a:ext cx="21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12" name="组合 97"/>
          <p:cNvGrpSpPr/>
          <p:nvPr/>
        </p:nvGrpSpPr>
        <p:grpSpPr>
          <a:xfrm>
            <a:off x="6143636" y="4498848"/>
            <a:ext cx="2857520" cy="1859110"/>
            <a:chOff x="6143636" y="4498848"/>
            <a:chExt cx="2857520" cy="1859110"/>
          </a:xfrm>
        </p:grpSpPr>
        <p:grpSp>
          <p:nvGrpSpPr>
            <p:cNvPr id="13" name="组合 86"/>
            <p:cNvGrpSpPr/>
            <p:nvPr/>
          </p:nvGrpSpPr>
          <p:grpSpPr>
            <a:xfrm>
              <a:off x="8278368" y="4498848"/>
              <a:ext cx="437036" cy="1438656"/>
              <a:chOff x="8278368" y="4498848"/>
              <a:chExt cx="437036" cy="1438656"/>
            </a:xfrm>
          </p:grpSpPr>
          <p:cxnSp>
            <p:nvCxnSpPr>
              <p:cNvPr id="85" name="直接连接符 84"/>
              <p:cNvCxnSpPr/>
              <p:nvPr/>
            </p:nvCxnSpPr>
            <p:spPr bwMode="auto">
              <a:xfrm>
                <a:off x="8286776" y="592933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86" name="任意多边形 85"/>
              <p:cNvSpPr/>
              <p:nvPr/>
            </p:nvSpPr>
            <p:spPr bwMode="auto">
              <a:xfrm>
                <a:off x="8278368" y="4498848"/>
                <a:ext cx="426720" cy="1438656"/>
              </a:xfrm>
              <a:custGeom>
                <a:avLst/>
                <a:gdLst>
                  <a:gd name="connsiteX0" fmla="*/ 0 w 426720"/>
                  <a:gd name="connsiteY0" fmla="*/ 0 h 1438656"/>
                  <a:gd name="connsiteX1" fmla="*/ 121920 w 426720"/>
                  <a:gd name="connsiteY1" fmla="*/ 792480 h 1438656"/>
                  <a:gd name="connsiteX2" fmla="*/ 426720 w 426720"/>
                  <a:gd name="connsiteY2" fmla="*/ 1438656 h 1438656"/>
                </a:gdLst>
                <a:ahLst/>
                <a:cxnLst>
                  <a:cxn ang="0">
                    <a:pos x="connsiteX0" y="connsiteY0"/>
                  </a:cxn>
                  <a:cxn ang="0">
                    <a:pos x="connsiteX1" y="connsiteY1"/>
                  </a:cxn>
                  <a:cxn ang="0">
                    <a:pos x="connsiteX2" y="connsiteY2"/>
                  </a:cxn>
                </a:cxnLst>
                <a:rect l="l" t="t" r="r" b="b"/>
                <a:pathLst>
                  <a:path w="426720" h="1438656">
                    <a:moveTo>
                      <a:pt x="0" y="0"/>
                    </a:moveTo>
                    <a:cubicBezTo>
                      <a:pt x="25400" y="276352"/>
                      <a:pt x="50800" y="552704"/>
                      <a:pt x="121920" y="792480"/>
                    </a:cubicBezTo>
                    <a:cubicBezTo>
                      <a:pt x="193040" y="1032256"/>
                      <a:pt x="309880" y="1235456"/>
                      <a:pt x="426720" y="1438656"/>
                    </a:cubicBezTo>
                  </a:path>
                </a:pathLst>
              </a:custGeom>
              <a:noFill/>
              <a:ln w="38100"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grpSp>
          <p:nvGrpSpPr>
            <p:cNvPr id="14" name="组合 94"/>
            <p:cNvGrpSpPr/>
            <p:nvPr/>
          </p:nvGrpSpPr>
          <p:grpSpPr>
            <a:xfrm>
              <a:off x="6143636" y="5929330"/>
              <a:ext cx="2857520" cy="428628"/>
              <a:chOff x="6143636" y="5929330"/>
              <a:chExt cx="2857520" cy="428628"/>
            </a:xfrm>
          </p:grpSpPr>
          <p:sp>
            <p:nvSpPr>
              <p:cNvPr id="88" name="TextBox 87"/>
              <p:cNvSpPr txBox="1"/>
              <p:nvPr/>
            </p:nvSpPr>
            <p:spPr>
              <a:xfrm>
                <a:off x="8322765" y="5988626"/>
                <a:ext cx="678391"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0.5</a:t>
                </a:r>
                <a:r>
                  <a:rPr lang="en-US" altLang="zh-CN" b="1" i="1">
                    <a:solidFill>
                      <a:srgbClr val="C00000"/>
                    </a:solidFill>
                    <a:latin typeface="Times New Roman" pitchFamily="18" charset="0"/>
                    <a:cs typeface="Times New Roman" pitchFamily="18" charset="0"/>
                  </a:rPr>
                  <a:t>h</a:t>
                </a:r>
                <a:r>
                  <a:rPr lang="en-US" altLang="zh-CN" b="1" baseline="30000">
                    <a:solidFill>
                      <a:srgbClr val="C00000"/>
                    </a:solidFill>
                    <a:latin typeface="Times New Roman" pitchFamily="18" charset="0"/>
                    <a:cs typeface="Times New Roman" pitchFamily="18" charset="0"/>
                  </a:rPr>
                  <a:t>2</a:t>
                </a:r>
                <a:endParaRPr lang="zh-CN" altLang="en-US" b="1" i="1" baseline="-25000">
                  <a:solidFill>
                    <a:srgbClr val="C00000"/>
                  </a:solidFill>
                  <a:latin typeface="Times New Roman" pitchFamily="18" charset="0"/>
                  <a:cs typeface="Times New Roman" pitchFamily="18" charset="0"/>
                </a:endParaRPr>
              </a:p>
            </p:txBody>
          </p:sp>
          <p:grpSp>
            <p:nvGrpSpPr>
              <p:cNvPr id="15" name="组合 91"/>
              <p:cNvGrpSpPr/>
              <p:nvPr/>
            </p:nvGrpSpPr>
            <p:grpSpPr>
              <a:xfrm>
                <a:off x="6143636" y="5929330"/>
                <a:ext cx="2143140" cy="428628"/>
                <a:chOff x="6143636" y="5929330"/>
                <a:chExt cx="2143140" cy="428628"/>
              </a:xfrm>
            </p:grpSpPr>
            <p:cxnSp>
              <p:nvCxnSpPr>
                <p:cNvPr id="89" name="直接连接符 88"/>
                <p:cNvCxnSpPr/>
                <p:nvPr/>
              </p:nvCxnSpPr>
              <p:spPr bwMode="auto">
                <a:xfrm rot="5400000">
                  <a:off x="8063830" y="6142850"/>
                  <a:ext cx="428628" cy="158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91" name="直接连接符 90"/>
                <p:cNvCxnSpPr/>
                <p:nvPr/>
              </p:nvCxnSpPr>
              <p:spPr bwMode="auto">
                <a:xfrm rot="10800000">
                  <a:off x="6143636" y="5961958"/>
                  <a:ext cx="2143140" cy="396000"/>
                </a:xfrm>
                <a:prstGeom prst="line">
                  <a:avLst/>
                </a:prstGeom>
                <a:solidFill>
                  <a:schemeClr val="accent1"/>
                </a:solidFill>
                <a:ln w="38100" cap="flat" cmpd="sng" algn="ctr">
                  <a:solidFill>
                    <a:srgbClr val="C00000"/>
                  </a:solidFill>
                  <a:prstDash val="solid"/>
                  <a:round/>
                  <a:headEnd type="none" w="med" len="med"/>
                  <a:tailEnd type="none" w="med" len="med"/>
                </a:ln>
                <a:effectLst/>
              </p:spPr>
            </p:cxnSp>
          </p:grpSp>
        </p:grpSp>
      </p:grpSp>
      <p:graphicFrame>
        <p:nvGraphicFramePr>
          <p:cNvPr id="485384" name="Object 2"/>
          <p:cNvGraphicFramePr>
            <a:graphicFrameLocks noChangeAspect="1"/>
          </p:cNvGraphicFramePr>
          <p:nvPr/>
        </p:nvGraphicFramePr>
        <p:xfrm>
          <a:off x="1868114" y="4636556"/>
          <a:ext cx="3405188" cy="749300"/>
        </p:xfrm>
        <a:graphic>
          <a:graphicData uri="http://schemas.openxmlformats.org/presentationml/2006/ole">
            <mc:AlternateContent xmlns:mc="http://schemas.openxmlformats.org/markup-compatibility/2006">
              <mc:Choice xmlns:v="urn:schemas-microsoft-com:vml" Requires="v">
                <p:oleObj spid="_x0000_s486409" name="Equation" r:id="rId5" imgW="2197080" imgH="482400" progId="Equation.DSMT4">
                  <p:embed/>
                </p:oleObj>
              </mc:Choice>
              <mc:Fallback>
                <p:oleObj name="Equation" r:id="rId5" imgW="2197080" imgH="4824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8114" y="4636556"/>
                        <a:ext cx="3405188"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 name="矩形 68"/>
          <p:cNvSpPr/>
          <p:nvPr/>
        </p:nvSpPr>
        <p:spPr>
          <a:xfrm>
            <a:off x="1214414" y="4786434"/>
            <a:ext cx="4429156" cy="1092607"/>
          </a:xfrm>
          <a:prstGeom prst="rect">
            <a:avLst/>
          </a:prstGeom>
        </p:spPr>
        <p:txBody>
          <a:bodyPr wrap="square">
            <a:spAutoFit/>
          </a:bodyPr>
          <a:lstStyle/>
          <a:p>
            <a:r>
              <a:rPr lang="zh-CN" altLang="en-US" sz="2000" b="1">
                <a:latin typeface="+mn-ea"/>
              </a:rPr>
              <a:t>代入                                                       ，</a:t>
            </a:r>
            <a:endParaRPr lang="en-US" altLang="zh-CN" sz="2000" b="1">
              <a:latin typeface="+mn-ea"/>
            </a:endParaRPr>
          </a:p>
          <a:p>
            <a:pPr>
              <a:spcBef>
                <a:spcPts val="2700"/>
              </a:spcBef>
            </a:pPr>
            <a:r>
              <a:rPr lang="zh-CN" altLang="en-US" sz="2000" b="1">
                <a:latin typeface="+mn-ea"/>
              </a:rPr>
              <a:t>    可得</a:t>
            </a:r>
            <a:endParaRPr lang="en-US" altLang="zh-CN" sz="2000" b="1">
              <a:latin typeface="+mn-ea"/>
            </a:endParaRPr>
          </a:p>
        </p:txBody>
      </p:sp>
      <p:graphicFrame>
        <p:nvGraphicFramePr>
          <p:cNvPr id="486405" name="Object 8"/>
          <p:cNvGraphicFramePr>
            <a:graphicFrameLocks noChangeAspect="1"/>
          </p:cNvGraphicFramePr>
          <p:nvPr/>
        </p:nvGraphicFramePr>
        <p:xfrm>
          <a:off x="1428728" y="4143380"/>
          <a:ext cx="4349750" cy="512763"/>
        </p:xfrm>
        <a:graphic>
          <a:graphicData uri="http://schemas.openxmlformats.org/presentationml/2006/ole">
            <mc:AlternateContent xmlns:mc="http://schemas.openxmlformats.org/markup-compatibility/2006">
              <mc:Choice xmlns:v="urn:schemas-microsoft-com:vml" Requires="v">
                <p:oleObj spid="_x0000_s486410" name="Equation" r:id="rId7" imgW="2806560" imgH="330120" progId="Equation.DSMT4">
                  <p:embed/>
                </p:oleObj>
              </mc:Choice>
              <mc:Fallback>
                <p:oleObj name="Equation" r:id="rId7" imgW="2806560" imgH="33012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8728" y="4143380"/>
                        <a:ext cx="434975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6406" name="Object 8"/>
          <p:cNvGraphicFramePr>
            <a:graphicFrameLocks noChangeAspect="1"/>
          </p:cNvGraphicFramePr>
          <p:nvPr/>
        </p:nvGraphicFramePr>
        <p:xfrm>
          <a:off x="2185990" y="5336310"/>
          <a:ext cx="2814638" cy="611187"/>
        </p:xfrm>
        <a:graphic>
          <a:graphicData uri="http://schemas.openxmlformats.org/presentationml/2006/ole">
            <mc:AlternateContent xmlns:mc="http://schemas.openxmlformats.org/markup-compatibility/2006">
              <mc:Choice xmlns:v="urn:schemas-microsoft-com:vml" Requires="v">
                <p:oleObj spid="_x0000_s486411" name="Equation" r:id="rId9" imgW="1815840" imgH="393480" progId="Equation.DSMT4">
                  <p:embed/>
                </p:oleObj>
              </mc:Choice>
              <mc:Fallback>
                <p:oleObj name="Equation" r:id="rId9" imgW="1815840" imgH="39348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5990" y="5336310"/>
                        <a:ext cx="2814638"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矩形 67"/>
          <p:cNvSpPr/>
          <p:nvPr/>
        </p:nvSpPr>
        <p:spPr>
          <a:xfrm>
            <a:off x="1214414" y="5970728"/>
            <a:ext cx="4429156" cy="400110"/>
          </a:xfrm>
          <a:prstGeom prst="rect">
            <a:avLst/>
          </a:prstGeom>
        </p:spPr>
        <p:txBody>
          <a:bodyPr wrap="square">
            <a:spAutoFit/>
          </a:bodyPr>
          <a:lstStyle/>
          <a:p>
            <a:r>
              <a:rPr lang="zh-CN" altLang="en-US" sz="2000" b="1">
                <a:latin typeface="+mn-ea"/>
              </a:rPr>
              <a:t>其中                          ，</a:t>
            </a:r>
            <a:endParaRPr lang="en-US" altLang="zh-CN" sz="2000" b="1">
              <a:latin typeface="+mn-ea"/>
            </a:endParaRPr>
          </a:p>
        </p:txBody>
      </p:sp>
      <p:graphicFrame>
        <p:nvGraphicFramePr>
          <p:cNvPr id="486407" name="Object 7"/>
          <p:cNvGraphicFramePr>
            <a:graphicFrameLocks noChangeAspect="1"/>
          </p:cNvGraphicFramePr>
          <p:nvPr/>
        </p:nvGraphicFramePr>
        <p:xfrm>
          <a:off x="1894234" y="5924562"/>
          <a:ext cx="1595438" cy="512762"/>
        </p:xfrm>
        <a:graphic>
          <a:graphicData uri="http://schemas.openxmlformats.org/presentationml/2006/ole">
            <mc:AlternateContent xmlns:mc="http://schemas.openxmlformats.org/markup-compatibility/2006">
              <mc:Choice xmlns:v="urn:schemas-microsoft-com:vml" Requires="v">
                <p:oleObj spid="_x0000_s486412" name="Equation" r:id="rId11" imgW="1028520" imgH="330120" progId="Equation.DSMT4">
                  <p:embed/>
                </p:oleObj>
              </mc:Choice>
              <mc:Fallback>
                <p:oleObj name="Equation" r:id="rId11" imgW="1028520" imgH="33012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94234" y="5924562"/>
                        <a:ext cx="1595438"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6408" name="Object 8"/>
          <p:cNvGraphicFramePr>
            <a:graphicFrameLocks noChangeAspect="1"/>
          </p:cNvGraphicFramePr>
          <p:nvPr/>
        </p:nvGraphicFramePr>
        <p:xfrm>
          <a:off x="3654077" y="5857892"/>
          <a:ext cx="1928813" cy="709612"/>
        </p:xfrm>
        <a:graphic>
          <a:graphicData uri="http://schemas.openxmlformats.org/presentationml/2006/ole">
            <mc:AlternateContent xmlns:mc="http://schemas.openxmlformats.org/markup-compatibility/2006">
              <mc:Choice xmlns:v="urn:schemas-microsoft-com:vml" Requires="v">
                <p:oleObj spid="_x0000_s486413" name="Equation" r:id="rId13" imgW="1244520" imgH="457200" progId="Equation.DSMT4">
                  <p:embed/>
                </p:oleObj>
              </mc:Choice>
              <mc:Fallback>
                <p:oleObj name="Equation" r:id="rId13" imgW="1244520" imgH="45720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4077" y="5857892"/>
                        <a:ext cx="1928813"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6405"/>
                                        </p:tgtEl>
                                        <p:attrNameLst>
                                          <p:attrName>style.visibility</p:attrName>
                                        </p:attrNameLst>
                                      </p:cBhvr>
                                      <p:to>
                                        <p:strVal val="visible"/>
                                      </p:to>
                                    </p:set>
                                    <p:anim calcmode="lin" valueType="num">
                                      <p:cBhvr additive="base">
                                        <p:cTn id="7" dur="500" fill="hold"/>
                                        <p:tgtEl>
                                          <p:spTgt spid="486405"/>
                                        </p:tgtEl>
                                        <p:attrNameLst>
                                          <p:attrName>ppt_x</p:attrName>
                                        </p:attrNameLst>
                                      </p:cBhvr>
                                      <p:tavLst>
                                        <p:tav tm="0">
                                          <p:val>
                                            <p:strVal val="#ppt_x"/>
                                          </p:val>
                                        </p:tav>
                                        <p:tav tm="100000">
                                          <p:val>
                                            <p:strVal val="#ppt_x"/>
                                          </p:val>
                                        </p:tav>
                                      </p:tavLst>
                                    </p:anim>
                                    <p:anim calcmode="lin" valueType="num">
                                      <p:cBhvr additive="base">
                                        <p:cTn id="8" dur="500" fill="hold"/>
                                        <p:tgtEl>
                                          <p:spTgt spid="4864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5384"/>
                                        </p:tgtEl>
                                        <p:attrNameLst>
                                          <p:attrName>style.visibility</p:attrName>
                                        </p:attrNameLst>
                                      </p:cBhvr>
                                      <p:to>
                                        <p:strVal val="visible"/>
                                      </p:to>
                                    </p:set>
                                    <p:anim calcmode="lin" valueType="num">
                                      <p:cBhvr additive="base">
                                        <p:cTn id="13" dur="500" fill="hold"/>
                                        <p:tgtEl>
                                          <p:spTgt spid="485384"/>
                                        </p:tgtEl>
                                        <p:attrNameLst>
                                          <p:attrName>ppt_x</p:attrName>
                                        </p:attrNameLst>
                                      </p:cBhvr>
                                      <p:tavLst>
                                        <p:tav tm="0">
                                          <p:val>
                                            <p:strVal val="#ppt_x"/>
                                          </p:val>
                                        </p:tav>
                                        <p:tav tm="100000">
                                          <p:val>
                                            <p:strVal val="#ppt_x"/>
                                          </p:val>
                                        </p:tav>
                                      </p:tavLst>
                                    </p:anim>
                                    <p:anim calcmode="lin" valueType="num">
                                      <p:cBhvr additive="base">
                                        <p:cTn id="14" dur="500" fill="hold"/>
                                        <p:tgtEl>
                                          <p:spTgt spid="48538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additive="base">
                                        <p:cTn id="17" dur="500" fill="hold"/>
                                        <p:tgtEl>
                                          <p:spTgt spid="69"/>
                                        </p:tgtEl>
                                        <p:attrNameLst>
                                          <p:attrName>ppt_x</p:attrName>
                                        </p:attrNameLst>
                                      </p:cBhvr>
                                      <p:tavLst>
                                        <p:tav tm="0">
                                          <p:val>
                                            <p:strVal val="#ppt_x"/>
                                          </p:val>
                                        </p:tav>
                                        <p:tav tm="100000">
                                          <p:val>
                                            <p:strVal val="#ppt_x"/>
                                          </p:val>
                                        </p:tav>
                                      </p:tavLst>
                                    </p:anim>
                                    <p:anim calcmode="lin" valueType="num">
                                      <p:cBhvr additive="base">
                                        <p:cTn id="18"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86406"/>
                                        </p:tgtEl>
                                        <p:attrNameLst>
                                          <p:attrName>style.visibility</p:attrName>
                                        </p:attrNameLst>
                                      </p:cBhvr>
                                      <p:to>
                                        <p:strVal val="visible"/>
                                      </p:to>
                                    </p:set>
                                    <p:anim calcmode="lin" valueType="num">
                                      <p:cBhvr additive="base">
                                        <p:cTn id="23" dur="500" fill="hold"/>
                                        <p:tgtEl>
                                          <p:spTgt spid="486406"/>
                                        </p:tgtEl>
                                        <p:attrNameLst>
                                          <p:attrName>ppt_x</p:attrName>
                                        </p:attrNameLst>
                                      </p:cBhvr>
                                      <p:tavLst>
                                        <p:tav tm="0">
                                          <p:val>
                                            <p:strVal val="#ppt_x"/>
                                          </p:val>
                                        </p:tav>
                                        <p:tav tm="100000">
                                          <p:val>
                                            <p:strVal val="#ppt_x"/>
                                          </p:val>
                                        </p:tav>
                                      </p:tavLst>
                                    </p:anim>
                                    <p:anim calcmode="lin" valueType="num">
                                      <p:cBhvr additive="base">
                                        <p:cTn id="24" dur="500" fill="hold"/>
                                        <p:tgtEl>
                                          <p:spTgt spid="48640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fill="hold"/>
                                        <p:tgtEl>
                                          <p:spTgt spid="68"/>
                                        </p:tgtEl>
                                        <p:attrNameLst>
                                          <p:attrName>ppt_x</p:attrName>
                                        </p:attrNameLst>
                                      </p:cBhvr>
                                      <p:tavLst>
                                        <p:tav tm="0">
                                          <p:val>
                                            <p:strVal val="#ppt_x"/>
                                          </p:val>
                                        </p:tav>
                                        <p:tav tm="100000">
                                          <p:val>
                                            <p:strVal val="#ppt_x"/>
                                          </p:val>
                                        </p:tav>
                                      </p:tavLst>
                                    </p:anim>
                                    <p:anim calcmode="lin" valueType="num">
                                      <p:cBhvr additive="base">
                                        <p:cTn id="28" dur="500" fill="hold"/>
                                        <p:tgtEl>
                                          <p:spTgt spid="6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86407"/>
                                        </p:tgtEl>
                                        <p:attrNameLst>
                                          <p:attrName>style.visibility</p:attrName>
                                        </p:attrNameLst>
                                      </p:cBhvr>
                                      <p:to>
                                        <p:strVal val="visible"/>
                                      </p:to>
                                    </p:set>
                                    <p:anim calcmode="lin" valueType="num">
                                      <p:cBhvr additive="base">
                                        <p:cTn id="31" dur="500" fill="hold"/>
                                        <p:tgtEl>
                                          <p:spTgt spid="486407"/>
                                        </p:tgtEl>
                                        <p:attrNameLst>
                                          <p:attrName>ppt_x</p:attrName>
                                        </p:attrNameLst>
                                      </p:cBhvr>
                                      <p:tavLst>
                                        <p:tav tm="0">
                                          <p:val>
                                            <p:strVal val="#ppt_x"/>
                                          </p:val>
                                        </p:tav>
                                        <p:tav tm="100000">
                                          <p:val>
                                            <p:strVal val="#ppt_x"/>
                                          </p:val>
                                        </p:tav>
                                      </p:tavLst>
                                    </p:anim>
                                    <p:anim calcmode="lin" valueType="num">
                                      <p:cBhvr additive="base">
                                        <p:cTn id="32" dur="500" fill="hold"/>
                                        <p:tgtEl>
                                          <p:spTgt spid="48640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86408"/>
                                        </p:tgtEl>
                                        <p:attrNameLst>
                                          <p:attrName>style.visibility</p:attrName>
                                        </p:attrNameLst>
                                      </p:cBhvr>
                                      <p:to>
                                        <p:strVal val="visible"/>
                                      </p:to>
                                    </p:set>
                                    <p:anim calcmode="lin" valueType="num">
                                      <p:cBhvr additive="base">
                                        <p:cTn id="35" dur="500" fill="hold"/>
                                        <p:tgtEl>
                                          <p:spTgt spid="486408"/>
                                        </p:tgtEl>
                                        <p:attrNameLst>
                                          <p:attrName>ppt_x</p:attrName>
                                        </p:attrNameLst>
                                      </p:cBhvr>
                                      <p:tavLst>
                                        <p:tav tm="0">
                                          <p:val>
                                            <p:strVal val="#ppt_x"/>
                                          </p:val>
                                        </p:tav>
                                        <p:tav tm="100000">
                                          <p:val>
                                            <p:strVal val="#ppt_x"/>
                                          </p:val>
                                        </p:tav>
                                      </p:tavLst>
                                    </p:anim>
                                    <p:anim calcmode="lin" valueType="num">
                                      <p:cBhvr additive="base">
                                        <p:cTn id="36" dur="500" fill="hold"/>
                                        <p:tgtEl>
                                          <p:spTgt spid="4864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6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几个具体问题</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391313"/>
            <a:ext cx="5316906" cy="169277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0</a:t>
            </a:r>
            <a:r>
              <a:rPr lang="zh-CN" altLang="en-US" sz="2000" b="1">
                <a:latin typeface="Times New Roman" pitchFamily="18" charset="0"/>
                <a:cs typeface="Times New Roman" pitchFamily="18" charset="0"/>
              </a:rPr>
              <a:t>只能取自直线图形；</a:t>
            </a:r>
            <a:endParaRPr lang="en-US" altLang="zh-CN" sz="2000" b="1">
              <a:latin typeface="Times New Roman" pitchFamily="18" charset="0"/>
              <a:cs typeface="Times New Roman" pitchFamily="18" charset="0"/>
            </a:endParaRPr>
          </a:p>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复杂图形处理；</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⑴ </a:t>
            </a:r>
            <a:r>
              <a:rPr lang="zh-CN" altLang="en-US" sz="2000" b="1">
                <a:latin typeface="Times New Roman" pitchFamily="18" charset="0"/>
                <a:cs typeface="Times New Roman" pitchFamily="18" charset="0"/>
              </a:rPr>
              <a:t>分段法；</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叠加法；</a:t>
            </a:r>
            <a:endParaRPr lang="en-US" altLang="zh-CN" sz="2000" b="1">
              <a:latin typeface="Times New Roman" pitchFamily="18" charset="0"/>
              <a:cs typeface="Times New Roman" pitchFamily="18" charset="0"/>
            </a:endParaRPr>
          </a:p>
        </p:txBody>
      </p:sp>
      <p:pic>
        <p:nvPicPr>
          <p:cNvPr id="9" name="Picture 4" descr="C:\Users\Administrator\Pictures\2015-10-31\图乘法.jpg"/>
          <p:cNvPicPr>
            <a:picLocks noChangeAspect="1" noChangeArrowheads="1"/>
          </p:cNvPicPr>
          <p:nvPr/>
        </p:nvPicPr>
        <p:blipFill>
          <a:blip r:embed="rId4" cstate="print"/>
          <a:srcRect/>
          <a:stretch>
            <a:fillRect/>
          </a:stretch>
        </p:blipFill>
        <p:spPr bwMode="auto">
          <a:xfrm>
            <a:off x="3857652" y="1714488"/>
            <a:ext cx="2473165" cy="2071702"/>
          </a:xfrm>
          <a:prstGeom prst="rect">
            <a:avLst/>
          </a:prstGeom>
          <a:noFill/>
          <a:ln>
            <a:solidFill>
              <a:schemeClr val="tx1"/>
            </a:solidFill>
          </a:ln>
        </p:spPr>
      </p:pic>
      <p:graphicFrame>
        <p:nvGraphicFramePr>
          <p:cNvPr id="487427" name="Object 6"/>
          <p:cNvGraphicFramePr>
            <a:graphicFrameLocks noChangeAspect="1"/>
          </p:cNvGraphicFramePr>
          <p:nvPr/>
        </p:nvGraphicFramePr>
        <p:xfrm>
          <a:off x="1466842" y="1839905"/>
          <a:ext cx="1962150" cy="517525"/>
        </p:xfrm>
        <a:graphic>
          <a:graphicData uri="http://schemas.openxmlformats.org/presentationml/2006/ole">
            <mc:AlternateContent xmlns:mc="http://schemas.openxmlformats.org/markup-compatibility/2006">
              <mc:Choice xmlns:v="urn:schemas-microsoft-com:vml" Requires="v">
                <p:oleObj spid="_x0000_s487448" name="Equation" r:id="rId5" imgW="1054080" imgH="279360" progId="Equation.DSMT4">
                  <p:embed/>
                </p:oleObj>
              </mc:Choice>
              <mc:Fallback>
                <p:oleObj name="Equation" r:id="rId5" imgW="1054080" imgH="27936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6842" y="1839905"/>
                        <a:ext cx="19621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 name="组合 14"/>
          <p:cNvGrpSpPr/>
          <p:nvPr/>
        </p:nvGrpSpPr>
        <p:grpSpPr>
          <a:xfrm>
            <a:off x="3857652" y="1714488"/>
            <a:ext cx="2643174" cy="2071702"/>
            <a:chOff x="6000760" y="4214818"/>
            <a:chExt cx="2862274" cy="2232023"/>
          </a:xfrm>
        </p:grpSpPr>
        <p:pic>
          <p:nvPicPr>
            <p:cNvPr id="487429" name="Picture 5"/>
            <p:cNvPicPr>
              <a:picLocks noChangeAspect="1" noChangeArrowheads="1"/>
            </p:cNvPicPr>
            <p:nvPr/>
          </p:nvPicPr>
          <p:blipFill>
            <a:blip r:embed="rId7"/>
            <a:srcRect/>
            <a:stretch>
              <a:fillRect/>
            </a:stretch>
          </p:blipFill>
          <p:spPr bwMode="auto">
            <a:xfrm>
              <a:off x="6000760" y="4214818"/>
              <a:ext cx="2862274" cy="2232023"/>
            </a:xfrm>
            <a:prstGeom prst="rect">
              <a:avLst/>
            </a:prstGeom>
            <a:noFill/>
            <a:ln>
              <a:solidFill>
                <a:schemeClr val="tx1"/>
              </a:solidFill>
            </a:ln>
          </p:spPr>
        </p:pic>
        <p:sp>
          <p:nvSpPr>
            <p:cNvPr id="12" name="TextBox 11"/>
            <p:cNvSpPr txBox="1"/>
            <p:nvPr/>
          </p:nvSpPr>
          <p:spPr>
            <a:xfrm>
              <a:off x="6572264" y="4472164"/>
              <a:ext cx="285752" cy="246221"/>
            </a:xfrm>
            <a:prstGeom prst="rect">
              <a:avLst/>
            </a:prstGeom>
            <a:solidFill>
              <a:schemeClr val="bg1"/>
            </a:solidFill>
            <a:ln w="28575">
              <a:noFill/>
            </a:ln>
          </p:spPr>
          <p:txBody>
            <a:bodyPr wrap="square" lIns="0" tIns="0" rIns="0" bIns="0" rtlCol="0">
              <a:spAutoFit/>
            </a:body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1</a:t>
              </a:r>
              <a:endParaRPr lang="zh-CN" altLang="en-US" sz="1600" b="1" baseline="-25000">
                <a:latin typeface="Times New Roman" pitchFamily="18" charset="0"/>
                <a:cs typeface="Times New Roman" pitchFamily="18" charset="0"/>
              </a:endParaRPr>
            </a:p>
          </p:txBody>
        </p:sp>
        <p:sp>
          <p:nvSpPr>
            <p:cNvPr id="13" name="TextBox 12"/>
            <p:cNvSpPr txBox="1"/>
            <p:nvPr/>
          </p:nvSpPr>
          <p:spPr>
            <a:xfrm>
              <a:off x="7304292" y="4429132"/>
              <a:ext cx="285752" cy="246221"/>
            </a:xfrm>
            <a:prstGeom prst="rect">
              <a:avLst/>
            </a:prstGeom>
            <a:solidFill>
              <a:schemeClr val="bg1"/>
            </a:solidFill>
            <a:ln w="28575">
              <a:noFill/>
            </a:ln>
          </p:spPr>
          <p:txBody>
            <a:bodyPr wrap="square" lIns="0" tIns="0" rIns="0" bIns="0" rtlCol="0">
              <a:spAutoFit/>
            </a:body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2</a:t>
              </a:r>
              <a:endParaRPr lang="zh-CN" altLang="en-US" sz="1600" b="1" baseline="-25000">
                <a:latin typeface="Times New Roman" pitchFamily="18" charset="0"/>
                <a:cs typeface="Times New Roman" pitchFamily="18" charset="0"/>
              </a:endParaRPr>
            </a:p>
          </p:txBody>
        </p:sp>
        <p:sp>
          <p:nvSpPr>
            <p:cNvPr id="14" name="TextBox 13"/>
            <p:cNvSpPr txBox="1"/>
            <p:nvPr/>
          </p:nvSpPr>
          <p:spPr>
            <a:xfrm>
              <a:off x="8001024" y="4613806"/>
              <a:ext cx="285752" cy="246221"/>
            </a:xfrm>
            <a:prstGeom prst="rect">
              <a:avLst/>
            </a:prstGeom>
            <a:solidFill>
              <a:schemeClr val="bg1"/>
            </a:solidFill>
            <a:ln w="28575">
              <a:noFill/>
            </a:ln>
          </p:spPr>
          <p:txBody>
            <a:bodyPr wrap="square" lIns="0" tIns="0" rIns="0" bIns="0" rtlCol="0">
              <a:spAutoFit/>
            </a:body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3</a:t>
              </a:r>
              <a:endParaRPr lang="zh-CN" altLang="en-US" sz="1600" b="1" baseline="-25000">
                <a:latin typeface="Times New Roman" pitchFamily="18" charset="0"/>
                <a:cs typeface="Times New Roman" pitchFamily="18" charset="0"/>
              </a:endParaRPr>
            </a:p>
          </p:txBody>
        </p:sp>
      </p:grpSp>
      <p:grpSp>
        <p:nvGrpSpPr>
          <p:cNvPr id="31" name="组合 30"/>
          <p:cNvGrpSpPr/>
          <p:nvPr/>
        </p:nvGrpSpPr>
        <p:grpSpPr>
          <a:xfrm>
            <a:off x="6648477" y="2273295"/>
            <a:ext cx="1924051" cy="869953"/>
            <a:chOff x="6192378" y="3929066"/>
            <a:chExt cx="1924051" cy="869953"/>
          </a:xfrm>
        </p:grpSpPr>
        <p:graphicFrame>
          <p:nvGraphicFramePr>
            <p:cNvPr id="432132" name="Object 4"/>
            <p:cNvGraphicFramePr>
              <a:graphicFrameLocks noChangeAspect="1"/>
            </p:cNvGraphicFramePr>
            <p:nvPr/>
          </p:nvGraphicFramePr>
          <p:xfrm>
            <a:off x="6263816" y="4357694"/>
            <a:ext cx="1852613" cy="441325"/>
          </p:xfrm>
          <a:graphic>
            <a:graphicData uri="http://schemas.openxmlformats.org/presentationml/2006/ole">
              <mc:AlternateContent xmlns:mc="http://schemas.openxmlformats.org/markup-compatibility/2006">
                <mc:Choice xmlns:v="urn:schemas-microsoft-com:vml" Requires="v">
                  <p:oleObj spid="_x0000_s487449" name="Equation" r:id="rId8" imgW="1307880" imgH="279360" progId="Equation.DSMT4">
                    <p:embed/>
                  </p:oleObj>
                </mc:Choice>
                <mc:Fallback>
                  <p:oleObj name="Equation" r:id="rId8" imgW="1307880" imgH="27936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63816" y="4357694"/>
                          <a:ext cx="1852613" cy="44132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22" name="TextBox 21"/>
            <p:cNvSpPr txBox="1"/>
            <p:nvPr/>
          </p:nvSpPr>
          <p:spPr>
            <a:xfrm>
              <a:off x="6192378" y="3929066"/>
              <a:ext cx="1165704"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⑴ </a:t>
              </a:r>
              <a:r>
                <a:rPr lang="zh-CN" altLang="en-US" b="1"/>
                <a:t>分段法</a:t>
              </a:r>
            </a:p>
          </p:txBody>
        </p:sp>
      </p:grpSp>
      <p:grpSp>
        <p:nvGrpSpPr>
          <p:cNvPr id="27" name="组合 26"/>
          <p:cNvGrpSpPr/>
          <p:nvPr/>
        </p:nvGrpSpPr>
        <p:grpSpPr>
          <a:xfrm>
            <a:off x="1142976" y="4104191"/>
            <a:ext cx="2928958" cy="1928826"/>
            <a:chOff x="5214942" y="4297985"/>
            <a:chExt cx="3000396" cy="2059973"/>
          </a:xfrm>
        </p:grpSpPr>
        <p:pic>
          <p:nvPicPr>
            <p:cNvPr id="487435" name="Picture 11"/>
            <p:cNvPicPr>
              <a:picLocks noChangeAspect="1" noChangeArrowheads="1"/>
            </p:cNvPicPr>
            <p:nvPr/>
          </p:nvPicPr>
          <p:blipFill>
            <a:blip r:embed="rId10"/>
            <a:srcRect/>
            <a:stretch>
              <a:fillRect/>
            </a:stretch>
          </p:blipFill>
          <p:spPr bwMode="auto">
            <a:xfrm>
              <a:off x="5214942" y="4297985"/>
              <a:ext cx="3000396" cy="2059973"/>
            </a:xfrm>
            <a:prstGeom prst="rect">
              <a:avLst/>
            </a:prstGeom>
            <a:noFill/>
            <a:ln>
              <a:solidFill>
                <a:schemeClr val="tx1"/>
              </a:solidFill>
            </a:ln>
          </p:spPr>
        </p:pic>
        <p:graphicFrame>
          <p:nvGraphicFramePr>
            <p:cNvPr id="487436" name="Object 12"/>
            <p:cNvGraphicFramePr>
              <a:graphicFrameLocks/>
            </p:cNvGraphicFramePr>
            <p:nvPr/>
          </p:nvGraphicFramePr>
          <p:xfrm>
            <a:off x="7698193" y="4978051"/>
            <a:ext cx="442332" cy="376387"/>
          </p:xfrm>
          <a:graphic>
            <a:graphicData uri="http://schemas.openxmlformats.org/presentationml/2006/ole">
              <mc:AlternateContent xmlns:mc="http://schemas.openxmlformats.org/markup-compatibility/2006">
                <mc:Choice xmlns:v="urn:schemas-microsoft-com:vml" Requires="v">
                  <p:oleObj spid="_x0000_s487450" name="Equation" r:id="rId11" imgW="279360" imgH="228600" progId="Equation.DSMT4">
                    <p:embed/>
                  </p:oleObj>
                </mc:Choice>
                <mc:Fallback>
                  <p:oleObj name="Equation" r:id="rId11" imgW="279360" imgH="228600" progId="Equation.DSMT4">
                    <p:embed/>
                    <p:pic>
                      <p:nvPicPr>
                        <p:cNvPr id="0" name="Picture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98193" y="4978051"/>
                          <a:ext cx="442332" cy="376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7437" name="Object 13"/>
            <p:cNvGraphicFramePr>
              <a:graphicFrameLocks/>
            </p:cNvGraphicFramePr>
            <p:nvPr/>
          </p:nvGraphicFramePr>
          <p:xfrm>
            <a:off x="7717708" y="5815598"/>
            <a:ext cx="361021" cy="376387"/>
          </p:xfrm>
          <a:graphic>
            <a:graphicData uri="http://schemas.openxmlformats.org/presentationml/2006/ole">
              <mc:AlternateContent xmlns:mc="http://schemas.openxmlformats.org/markup-compatibility/2006">
                <mc:Choice xmlns:v="urn:schemas-microsoft-com:vml" Requires="v">
                  <p:oleObj spid="_x0000_s487451" name="Equation" r:id="rId13" imgW="228600" imgH="228600" progId="Equation.DSMT4">
                    <p:embed/>
                  </p:oleObj>
                </mc:Choice>
                <mc:Fallback>
                  <p:oleObj name="Equation" r:id="rId13" imgW="228600" imgH="228600" progId="Equation.DSMT4">
                    <p:embed/>
                    <p:pic>
                      <p:nvPicPr>
                        <p:cNvPr id="0" name="Picture 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17708" y="5815598"/>
                          <a:ext cx="361021" cy="376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TextBox 24"/>
            <p:cNvSpPr txBox="1"/>
            <p:nvPr/>
          </p:nvSpPr>
          <p:spPr>
            <a:xfrm>
              <a:off x="5857884" y="4643446"/>
              <a:ext cx="263878" cy="228536"/>
            </a:xfrm>
            <a:prstGeom prst="rect">
              <a:avLst/>
            </a:prstGeom>
            <a:solidFill>
              <a:schemeClr val="bg1"/>
            </a:solidFill>
            <a:ln w="28575">
              <a:noFill/>
            </a:ln>
          </p:spPr>
          <p:txBody>
            <a:bodyPr wrap="square" lIns="0" tIns="0" rIns="0" bIns="0" rtlCol="0">
              <a:spAutoFit/>
            </a:body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1</a:t>
              </a:r>
              <a:endParaRPr lang="zh-CN" altLang="en-US" sz="1600" b="1" baseline="-25000">
                <a:latin typeface="Times New Roman" pitchFamily="18" charset="0"/>
                <a:cs typeface="Times New Roman" pitchFamily="18" charset="0"/>
              </a:endParaRPr>
            </a:p>
          </p:txBody>
        </p:sp>
        <p:sp>
          <p:nvSpPr>
            <p:cNvPr id="26" name="TextBox 25"/>
            <p:cNvSpPr txBox="1"/>
            <p:nvPr/>
          </p:nvSpPr>
          <p:spPr>
            <a:xfrm>
              <a:off x="7000892" y="4843538"/>
              <a:ext cx="263878" cy="228536"/>
            </a:xfrm>
            <a:prstGeom prst="rect">
              <a:avLst/>
            </a:prstGeom>
            <a:solidFill>
              <a:schemeClr val="bg1"/>
            </a:solidFill>
            <a:ln w="28575">
              <a:noFill/>
            </a:ln>
          </p:spPr>
          <p:txBody>
            <a:bodyPr wrap="square" lIns="0" tIns="0" rIns="0" bIns="0" rtlCol="0">
              <a:spAutoFit/>
            </a:body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2</a:t>
              </a:r>
              <a:endParaRPr lang="zh-CN" altLang="en-US" sz="1600" b="1" baseline="-25000">
                <a:latin typeface="Times New Roman" pitchFamily="18" charset="0"/>
                <a:cs typeface="Times New Roman" pitchFamily="18" charset="0"/>
              </a:endParaRPr>
            </a:p>
          </p:txBody>
        </p:sp>
      </p:grpSp>
      <p:grpSp>
        <p:nvGrpSpPr>
          <p:cNvPr id="30" name="组合 29"/>
          <p:cNvGrpSpPr/>
          <p:nvPr/>
        </p:nvGrpSpPr>
        <p:grpSpPr>
          <a:xfrm>
            <a:off x="1005771" y="6104455"/>
            <a:ext cx="3566229" cy="441325"/>
            <a:chOff x="2555167" y="6098673"/>
            <a:chExt cx="3566229" cy="441325"/>
          </a:xfrm>
        </p:grpSpPr>
        <p:sp>
          <p:nvSpPr>
            <p:cNvPr id="28" name="TextBox 27"/>
            <p:cNvSpPr txBox="1"/>
            <p:nvPr/>
          </p:nvSpPr>
          <p:spPr>
            <a:xfrm>
              <a:off x="2555167" y="6109986"/>
              <a:ext cx="1396536"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① </a:t>
              </a:r>
              <a:r>
                <a:rPr lang="zh-CN" altLang="en-US" b="1">
                  <a:latin typeface="Times New Roman" pitchFamily="18" charset="0"/>
                  <a:cs typeface="Times New Roman" pitchFamily="18" charset="0"/>
                </a:rPr>
                <a:t>同侧组合</a:t>
              </a:r>
              <a:endParaRPr lang="zh-CN" altLang="en-US" b="1"/>
            </a:p>
          </p:txBody>
        </p:sp>
        <p:graphicFrame>
          <p:nvGraphicFramePr>
            <p:cNvPr id="5" name="Object 4"/>
            <p:cNvGraphicFramePr>
              <a:graphicFrameLocks noChangeAspect="1"/>
            </p:cNvGraphicFramePr>
            <p:nvPr/>
          </p:nvGraphicFramePr>
          <p:xfrm>
            <a:off x="4000496" y="6098673"/>
            <a:ext cx="2120900" cy="441325"/>
          </p:xfrm>
          <a:graphic>
            <a:graphicData uri="http://schemas.openxmlformats.org/presentationml/2006/ole">
              <mc:AlternateContent xmlns:mc="http://schemas.openxmlformats.org/markup-compatibility/2006">
                <mc:Choice xmlns:v="urn:schemas-microsoft-com:vml" Requires="v">
                  <p:oleObj spid="_x0000_s487452" name="Equation" r:id="rId15" imgW="1498320" imgH="279360" progId="Equation.DSMT4">
                    <p:embed/>
                  </p:oleObj>
                </mc:Choice>
                <mc:Fallback>
                  <p:oleObj name="Equation" r:id="rId15" imgW="1498320" imgH="279360" progId="Equation.DSMT4">
                    <p:embed/>
                    <p:pic>
                      <p:nvPicPr>
                        <p:cNvPr id="0" name="Picture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0496" y="6098673"/>
                          <a:ext cx="2120900" cy="44132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pSp>
      <p:grpSp>
        <p:nvGrpSpPr>
          <p:cNvPr id="84" name="组合 83"/>
          <p:cNvGrpSpPr/>
          <p:nvPr/>
        </p:nvGrpSpPr>
        <p:grpSpPr>
          <a:xfrm>
            <a:off x="4896966" y="4111131"/>
            <a:ext cx="3000396" cy="1944000"/>
            <a:chOff x="4786314" y="4111131"/>
            <a:chExt cx="3000396" cy="1944000"/>
          </a:xfrm>
        </p:grpSpPr>
        <p:grpSp>
          <p:nvGrpSpPr>
            <p:cNvPr id="62" name="Group 29"/>
            <p:cNvGrpSpPr>
              <a:grpSpLocks/>
            </p:cNvGrpSpPr>
            <p:nvPr/>
          </p:nvGrpSpPr>
          <p:grpSpPr bwMode="auto">
            <a:xfrm>
              <a:off x="4847996" y="4286256"/>
              <a:ext cx="2841150" cy="1593755"/>
              <a:chOff x="933" y="972"/>
              <a:chExt cx="3543" cy="1445"/>
            </a:xfrm>
          </p:grpSpPr>
          <p:sp>
            <p:nvSpPr>
              <p:cNvPr id="63" name="Line 30"/>
              <p:cNvSpPr>
                <a:spLocks noChangeShapeType="1"/>
              </p:cNvSpPr>
              <p:nvPr/>
            </p:nvSpPr>
            <p:spPr bwMode="auto">
              <a:xfrm>
                <a:off x="1296" y="972"/>
                <a:ext cx="0" cy="528"/>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64" name="Line 31"/>
              <p:cNvSpPr>
                <a:spLocks noChangeShapeType="1"/>
              </p:cNvSpPr>
              <p:nvPr/>
            </p:nvSpPr>
            <p:spPr bwMode="auto">
              <a:xfrm>
                <a:off x="1296" y="1500"/>
                <a:ext cx="2496"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65" name="Line 32"/>
              <p:cNvSpPr>
                <a:spLocks noChangeShapeType="1"/>
              </p:cNvSpPr>
              <p:nvPr/>
            </p:nvSpPr>
            <p:spPr bwMode="auto">
              <a:xfrm>
                <a:off x="3792" y="1500"/>
                <a:ext cx="0" cy="288"/>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66" name="Line 33"/>
              <p:cNvSpPr>
                <a:spLocks noChangeShapeType="1"/>
              </p:cNvSpPr>
              <p:nvPr/>
            </p:nvSpPr>
            <p:spPr bwMode="auto">
              <a:xfrm flipH="1" flipV="1">
                <a:off x="1296" y="972"/>
                <a:ext cx="2496" cy="816"/>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67" name="Text Box 34"/>
              <p:cNvSpPr txBox="1">
                <a:spLocks noChangeArrowheads="1"/>
              </p:cNvSpPr>
              <p:nvPr/>
            </p:nvSpPr>
            <p:spPr bwMode="auto">
              <a:xfrm>
                <a:off x="933" y="1077"/>
                <a:ext cx="288" cy="307"/>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endParaRPr kumimoji="1" lang="en-US" altLang="zh-CN" sz="16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8" name="Text Box 35"/>
              <p:cNvSpPr txBox="1">
                <a:spLocks noChangeArrowheads="1"/>
              </p:cNvSpPr>
              <p:nvPr/>
            </p:nvSpPr>
            <p:spPr bwMode="auto">
              <a:xfrm>
                <a:off x="3791" y="1420"/>
                <a:ext cx="240" cy="307"/>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1" u="none" strike="noStrike" kern="1200" cap="none" spc="0" normalizeH="0" baseline="0" noProof="0">
                    <a:ln>
                      <a:noFill/>
                    </a:ln>
                    <a:solidFill>
                      <a:srgbClr val="000000"/>
                    </a:solidFill>
                    <a:effectLst/>
                    <a:uLnTx/>
                    <a:uFillTx/>
                    <a:latin typeface="Times New Roman" pitchFamily="18" charset="0"/>
                    <a:ea typeface="宋体" charset="-122"/>
                    <a:cs typeface="+mn-cs"/>
                  </a:rPr>
                  <a:t>b</a:t>
                </a:r>
                <a:endParaRPr kumimoji="1" lang="en-US" altLang="zh-CN" sz="16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9" name="Line 36"/>
              <p:cNvSpPr>
                <a:spLocks noChangeShapeType="1"/>
              </p:cNvSpPr>
              <p:nvPr/>
            </p:nvSpPr>
            <p:spPr bwMode="auto">
              <a:xfrm>
                <a:off x="1296" y="2116"/>
                <a:ext cx="2496"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0" name="Line 37"/>
              <p:cNvSpPr>
                <a:spLocks noChangeShapeType="1"/>
              </p:cNvSpPr>
              <p:nvPr/>
            </p:nvSpPr>
            <p:spPr bwMode="auto">
              <a:xfrm flipV="1">
                <a:off x="3792" y="1876"/>
                <a:ext cx="0" cy="24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1" name="Line 38"/>
              <p:cNvSpPr>
                <a:spLocks noChangeShapeType="1"/>
              </p:cNvSpPr>
              <p:nvPr/>
            </p:nvSpPr>
            <p:spPr bwMode="auto">
              <a:xfrm flipH="1">
                <a:off x="1296" y="1876"/>
                <a:ext cx="2496" cy="48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2" name="Line 39"/>
              <p:cNvSpPr>
                <a:spLocks noChangeShapeType="1"/>
              </p:cNvSpPr>
              <p:nvPr/>
            </p:nvSpPr>
            <p:spPr bwMode="auto">
              <a:xfrm>
                <a:off x="1296" y="2116"/>
                <a:ext cx="0" cy="24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73" name="Text Box 40"/>
              <p:cNvSpPr txBox="1">
                <a:spLocks noChangeArrowheads="1"/>
              </p:cNvSpPr>
              <p:nvPr/>
            </p:nvSpPr>
            <p:spPr bwMode="auto">
              <a:xfrm>
                <a:off x="995" y="2090"/>
                <a:ext cx="192" cy="307"/>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1" u="none" strike="noStrike" kern="1200" cap="none" spc="0" normalizeH="0" baseline="0" noProof="0">
                    <a:ln>
                      <a:noFill/>
                    </a:ln>
                    <a:solidFill>
                      <a:srgbClr val="000000"/>
                    </a:solidFill>
                    <a:effectLst/>
                    <a:uLnTx/>
                    <a:uFillTx/>
                    <a:latin typeface="Times New Roman" pitchFamily="18" charset="0"/>
                    <a:ea typeface="宋体" charset="-122"/>
                    <a:cs typeface="+mn-cs"/>
                  </a:rPr>
                  <a:t>c</a:t>
                </a:r>
                <a:endParaRPr kumimoji="1" lang="en-US" altLang="zh-CN" sz="16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74" name="Text Box 41"/>
              <p:cNvSpPr txBox="1">
                <a:spLocks noChangeArrowheads="1"/>
              </p:cNvSpPr>
              <p:nvPr/>
            </p:nvSpPr>
            <p:spPr bwMode="auto">
              <a:xfrm>
                <a:off x="3768" y="1826"/>
                <a:ext cx="240" cy="307"/>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1" u="none" strike="noStrike" kern="1200" cap="none" spc="0" normalizeH="0" baseline="0" noProof="0">
                    <a:ln>
                      <a:noFill/>
                    </a:ln>
                    <a:solidFill>
                      <a:srgbClr val="000000"/>
                    </a:solidFill>
                    <a:effectLst/>
                    <a:uLnTx/>
                    <a:uFillTx/>
                    <a:latin typeface="Times New Roman" pitchFamily="18" charset="0"/>
                    <a:ea typeface="宋体" charset="-122"/>
                    <a:cs typeface="+mn-cs"/>
                  </a:rPr>
                  <a:t>d</a:t>
                </a:r>
                <a:endParaRPr kumimoji="1" lang="en-US" altLang="zh-CN" sz="16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81" name="Object 43"/>
              <p:cNvGraphicFramePr>
                <a:graphicFrameLocks/>
              </p:cNvGraphicFramePr>
              <p:nvPr/>
            </p:nvGraphicFramePr>
            <p:xfrm>
              <a:off x="4037" y="1125"/>
              <a:ext cx="439" cy="259"/>
            </p:xfrm>
            <a:graphic>
              <a:graphicData uri="http://schemas.openxmlformats.org/presentationml/2006/ole">
                <mc:AlternateContent xmlns:mc="http://schemas.openxmlformats.org/markup-compatibility/2006">
                  <mc:Choice xmlns:v="urn:schemas-microsoft-com:vml" Requires="v">
                    <p:oleObj spid="_x0000_s487453" name="公式" r:id="rId17" imgW="520560" imgH="368280" progId="Equation.3">
                      <p:embed/>
                    </p:oleObj>
                  </mc:Choice>
                  <mc:Fallback>
                    <p:oleObj name="公式" r:id="rId17" imgW="520560" imgH="368280" progId="Equation.3">
                      <p:embed/>
                      <p:pic>
                        <p:nvPicPr>
                          <p:cNvPr id="0" name="Object 4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37" y="1125"/>
                            <a:ext cx="439"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 name="Object 46"/>
              <p:cNvGraphicFramePr>
                <a:graphicFrameLocks/>
              </p:cNvGraphicFramePr>
              <p:nvPr/>
            </p:nvGraphicFramePr>
            <p:xfrm>
              <a:off x="3984" y="2097"/>
              <a:ext cx="422" cy="320"/>
            </p:xfrm>
            <a:graphic>
              <a:graphicData uri="http://schemas.openxmlformats.org/presentationml/2006/ole">
                <mc:AlternateContent xmlns:mc="http://schemas.openxmlformats.org/markup-compatibility/2006">
                  <mc:Choice xmlns:v="urn:schemas-microsoft-com:vml" Requires="v">
                    <p:oleObj spid="_x0000_s487454" name="Equation" r:id="rId19" imgW="228600" imgH="228600" progId="Equation.DSMT4">
                      <p:embed/>
                    </p:oleObj>
                  </mc:Choice>
                  <mc:Fallback>
                    <p:oleObj name="Equation" r:id="rId19" imgW="228600" imgH="228600" progId="Equation.DSMT4">
                      <p:embed/>
                      <p:pic>
                        <p:nvPicPr>
                          <p:cNvPr id="0" name="Object 4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84" y="2097"/>
                            <a:ext cx="422" cy="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3" name="矩形 82"/>
            <p:cNvSpPr/>
            <p:nvPr/>
          </p:nvSpPr>
          <p:spPr bwMode="auto">
            <a:xfrm>
              <a:off x="4786314" y="4111131"/>
              <a:ext cx="3000396" cy="1944000"/>
            </a:xfrm>
            <a:prstGeom prst="rect">
              <a:avLst/>
            </a:prstGeom>
            <a:noFill/>
            <a:ln w="28575" cap="flat" cmpd="sng" algn="ctr">
              <a:solidFill>
                <a:schemeClr val="bg1">
                  <a:lumMod val="50000"/>
                </a:schemeClr>
              </a:solidFill>
              <a:prstDash val="solid"/>
              <a:round/>
              <a:headEnd type="none" w="med" len="med"/>
              <a:tailEnd type="none" w="med" len="med"/>
            </a:ln>
            <a:effectLst/>
          </p:spPr>
          <p:txBody>
            <a:bodyPr rtlCol="0" anchor="ctr"/>
            <a:lstStyle/>
            <a:p>
              <a:pPr algn="ctr"/>
              <a:endParaRPr lang="zh-CN" altLang="en-US"/>
            </a:p>
          </p:txBody>
        </p:sp>
      </p:grpSp>
      <p:sp>
        <p:nvSpPr>
          <p:cNvPr id="85" name="TextBox 84"/>
          <p:cNvSpPr txBox="1"/>
          <p:nvPr/>
        </p:nvSpPr>
        <p:spPr>
          <a:xfrm>
            <a:off x="4786314" y="6117518"/>
            <a:ext cx="1396536"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② </a:t>
            </a:r>
            <a:r>
              <a:rPr lang="zh-CN" altLang="en-US" b="1">
                <a:latin typeface="Times New Roman" pitchFamily="18" charset="0"/>
                <a:cs typeface="Times New Roman" pitchFamily="18" charset="0"/>
              </a:rPr>
              <a:t>异侧组合</a:t>
            </a:r>
            <a:endParaRPr lang="zh-CN" altLang="en-US" b="1"/>
          </a:p>
        </p:txBody>
      </p:sp>
      <p:grpSp>
        <p:nvGrpSpPr>
          <p:cNvPr id="86" name="Group 3"/>
          <p:cNvGrpSpPr>
            <a:grpSpLocks/>
          </p:cNvGrpSpPr>
          <p:nvPr/>
        </p:nvGrpSpPr>
        <p:grpSpPr bwMode="auto">
          <a:xfrm>
            <a:off x="5254156" y="4286256"/>
            <a:ext cx="2000264" cy="1409695"/>
            <a:chOff x="1296" y="864"/>
            <a:chExt cx="2496" cy="1298"/>
          </a:xfrm>
        </p:grpSpPr>
        <p:sp>
          <p:nvSpPr>
            <p:cNvPr id="87" name="Line 4"/>
            <p:cNvSpPr>
              <a:spLocks noChangeShapeType="1"/>
            </p:cNvSpPr>
            <p:nvPr/>
          </p:nvSpPr>
          <p:spPr bwMode="auto">
            <a:xfrm>
              <a:off x="1920" y="2018"/>
              <a:ext cx="0" cy="144"/>
            </a:xfrm>
            <a:prstGeom prst="line">
              <a:avLst/>
            </a:prstGeom>
            <a:noFill/>
            <a:ln w="57150" cap="sq">
              <a:solidFill>
                <a:srgbClr val="4D8CD1"/>
              </a:solidFill>
              <a:round/>
              <a:headEnd type="none" w="sm" len="sm"/>
              <a:tailEnd type="none" w="sm" len="sm"/>
            </a:ln>
          </p:spPr>
          <p:txBody>
            <a:bodyPr wrap="none" anchor="ctr"/>
            <a:lstStyle/>
            <a:p>
              <a:endParaRPr lang="zh-CN" altLang="en-US"/>
            </a:p>
          </p:txBody>
        </p:sp>
        <p:grpSp>
          <p:nvGrpSpPr>
            <p:cNvPr id="88" name="Group 5"/>
            <p:cNvGrpSpPr>
              <a:grpSpLocks/>
            </p:cNvGrpSpPr>
            <p:nvPr/>
          </p:nvGrpSpPr>
          <p:grpSpPr bwMode="auto">
            <a:xfrm>
              <a:off x="1296" y="864"/>
              <a:ext cx="2496" cy="1280"/>
              <a:chOff x="1296" y="864"/>
              <a:chExt cx="2496" cy="1280"/>
            </a:xfrm>
          </p:grpSpPr>
          <p:sp>
            <p:nvSpPr>
              <p:cNvPr id="89" name="Freeform 6"/>
              <p:cNvSpPr>
                <a:spLocks/>
              </p:cNvSpPr>
              <p:nvPr/>
            </p:nvSpPr>
            <p:spPr bwMode="auto">
              <a:xfrm>
                <a:off x="1296" y="864"/>
                <a:ext cx="2496" cy="528"/>
              </a:xfrm>
              <a:custGeom>
                <a:avLst/>
                <a:gdLst>
                  <a:gd name="T0" fmla="*/ 0 w 2496"/>
                  <a:gd name="T1" fmla="*/ 0 h 528"/>
                  <a:gd name="T2" fmla="*/ 0 w 2496"/>
                  <a:gd name="T3" fmla="*/ 528 h 528"/>
                  <a:gd name="T4" fmla="*/ 2496 w 2496"/>
                  <a:gd name="T5" fmla="*/ 528 h 528"/>
                  <a:gd name="T6" fmla="*/ 0 w 2496"/>
                  <a:gd name="T7" fmla="*/ 0 h 528"/>
                  <a:gd name="T8" fmla="*/ 0 60000 65536"/>
                  <a:gd name="T9" fmla="*/ 0 60000 65536"/>
                  <a:gd name="T10" fmla="*/ 0 60000 65536"/>
                  <a:gd name="T11" fmla="*/ 0 60000 65536"/>
                  <a:gd name="T12" fmla="*/ 0 w 2496"/>
                  <a:gd name="T13" fmla="*/ 0 h 528"/>
                  <a:gd name="T14" fmla="*/ 2496 w 2496"/>
                  <a:gd name="T15" fmla="*/ 528 h 528"/>
                </a:gdLst>
                <a:ahLst/>
                <a:cxnLst>
                  <a:cxn ang="T8">
                    <a:pos x="T0" y="T1"/>
                  </a:cxn>
                  <a:cxn ang="T9">
                    <a:pos x="T2" y="T3"/>
                  </a:cxn>
                  <a:cxn ang="T10">
                    <a:pos x="T4" y="T5"/>
                  </a:cxn>
                  <a:cxn ang="T11">
                    <a:pos x="T6" y="T7"/>
                  </a:cxn>
                </a:cxnLst>
                <a:rect l="T12" t="T13" r="T14" b="T15"/>
                <a:pathLst>
                  <a:path w="2496" h="528">
                    <a:moveTo>
                      <a:pt x="0" y="0"/>
                    </a:moveTo>
                    <a:lnTo>
                      <a:pt x="0" y="528"/>
                    </a:lnTo>
                    <a:lnTo>
                      <a:pt x="2496" y="528"/>
                    </a:lnTo>
                    <a:lnTo>
                      <a:pt x="0" y="0"/>
                    </a:lnTo>
                    <a:close/>
                  </a:path>
                </a:pathLst>
              </a:custGeom>
              <a:solidFill>
                <a:srgbClr val="0000FF">
                  <a:alpha val="50195"/>
                </a:srgbClr>
              </a:solidFill>
              <a:ln w="12700" cap="sq">
                <a:noFill/>
                <a:round/>
                <a:headEnd type="none" w="sm" len="sm"/>
                <a:tailEnd type="none" w="sm" len="sm"/>
              </a:ln>
            </p:spPr>
            <p:txBody>
              <a:bodyPr wrap="none" anchor="ctr"/>
              <a:lstStyle/>
              <a:p>
                <a:endParaRPr lang="zh-CN" altLang="en-US"/>
              </a:p>
            </p:txBody>
          </p:sp>
          <p:sp>
            <p:nvSpPr>
              <p:cNvPr id="90" name="Line 7"/>
              <p:cNvSpPr>
                <a:spLocks noChangeShapeType="1"/>
              </p:cNvSpPr>
              <p:nvPr/>
            </p:nvSpPr>
            <p:spPr bwMode="auto">
              <a:xfrm>
                <a:off x="1296" y="864"/>
                <a:ext cx="2496" cy="528"/>
              </a:xfrm>
              <a:prstGeom prst="line">
                <a:avLst/>
              </a:prstGeom>
              <a:noFill/>
              <a:ln w="38100" cap="rnd">
                <a:solidFill>
                  <a:schemeClr val="tx1"/>
                </a:solidFill>
                <a:prstDash val="sysDot"/>
                <a:round/>
                <a:headEnd/>
                <a:tailEnd/>
              </a:ln>
            </p:spPr>
            <p:txBody>
              <a:bodyPr wrap="none" anchor="ctr"/>
              <a:lstStyle/>
              <a:p>
                <a:endParaRPr lang="zh-CN" altLang="en-US"/>
              </a:p>
            </p:txBody>
          </p:sp>
          <p:sp>
            <p:nvSpPr>
              <p:cNvPr id="91" name="Oval 8"/>
              <p:cNvSpPr>
                <a:spLocks noChangeArrowheads="1"/>
              </p:cNvSpPr>
              <p:nvPr/>
            </p:nvSpPr>
            <p:spPr bwMode="auto">
              <a:xfrm>
                <a:off x="1872" y="1104"/>
                <a:ext cx="90" cy="66"/>
              </a:xfrm>
              <a:prstGeom prst="ellipse">
                <a:avLst/>
              </a:prstGeom>
              <a:noFill/>
              <a:ln w="19050">
                <a:solidFill>
                  <a:schemeClr val="tx1"/>
                </a:solidFill>
                <a:round/>
                <a:headEnd/>
                <a:tailEnd/>
              </a:ln>
            </p:spPr>
            <p:txBody>
              <a:bodyPr wrap="none" anchor="ctr"/>
              <a:lstStyle/>
              <a:p>
                <a:endParaRPr lang="zh-CN" altLang="en-US"/>
              </a:p>
            </p:txBody>
          </p:sp>
          <p:sp>
            <p:nvSpPr>
              <p:cNvPr id="92" name="Line 9"/>
              <p:cNvSpPr>
                <a:spLocks noChangeShapeType="1"/>
              </p:cNvSpPr>
              <p:nvPr/>
            </p:nvSpPr>
            <p:spPr bwMode="auto">
              <a:xfrm>
                <a:off x="1920" y="1179"/>
                <a:ext cx="0" cy="961"/>
              </a:xfrm>
              <a:prstGeom prst="line">
                <a:avLst/>
              </a:prstGeom>
              <a:noFill/>
              <a:ln w="12700" cap="rnd">
                <a:solidFill>
                  <a:schemeClr val="tx1"/>
                </a:solidFill>
                <a:prstDash val="solid"/>
                <a:round/>
                <a:headEnd/>
                <a:tailEnd/>
              </a:ln>
            </p:spPr>
            <p:txBody>
              <a:bodyPr wrap="none" anchor="ctr"/>
              <a:lstStyle/>
              <a:p>
                <a:endParaRPr lang="zh-CN" altLang="en-US"/>
              </a:p>
            </p:txBody>
          </p:sp>
          <p:sp>
            <p:nvSpPr>
              <p:cNvPr id="93" name="Line 10"/>
              <p:cNvSpPr>
                <a:spLocks noChangeShapeType="1"/>
              </p:cNvSpPr>
              <p:nvPr/>
            </p:nvSpPr>
            <p:spPr bwMode="auto">
              <a:xfrm>
                <a:off x="1920" y="2048"/>
                <a:ext cx="0" cy="96"/>
              </a:xfrm>
              <a:prstGeom prst="line">
                <a:avLst/>
              </a:prstGeom>
              <a:noFill/>
              <a:ln w="38100">
                <a:solidFill>
                  <a:schemeClr val="tx1"/>
                </a:solidFill>
                <a:round/>
                <a:headEnd/>
                <a:tailEnd/>
              </a:ln>
            </p:spPr>
            <p:txBody>
              <a:bodyPr wrap="none" anchor="ctr"/>
              <a:lstStyle/>
              <a:p>
                <a:endParaRPr lang="zh-CN" altLang="en-US"/>
              </a:p>
            </p:txBody>
          </p:sp>
          <p:graphicFrame>
            <p:nvGraphicFramePr>
              <p:cNvPr id="94" name="Object 11"/>
              <p:cNvGraphicFramePr>
                <a:graphicFrameLocks noChangeAspect="1"/>
              </p:cNvGraphicFramePr>
              <p:nvPr/>
            </p:nvGraphicFramePr>
            <p:xfrm>
              <a:off x="1478" y="1038"/>
              <a:ext cx="359" cy="349"/>
            </p:xfrm>
            <a:graphic>
              <a:graphicData uri="http://schemas.openxmlformats.org/presentationml/2006/ole">
                <mc:AlternateContent xmlns:mc="http://schemas.openxmlformats.org/markup-compatibility/2006">
                  <mc:Choice xmlns:v="urn:schemas-microsoft-com:vml" Requires="v">
                    <p:oleObj spid="_x0000_s487455" name="Equation" r:id="rId21" imgW="164880" imgH="228600" progId="Equation.DSMT4">
                      <p:embed/>
                    </p:oleObj>
                  </mc:Choice>
                  <mc:Fallback>
                    <p:oleObj name="Equation" r:id="rId21" imgW="164880" imgH="228600" progId="Equation.DSMT4">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78" y="1038"/>
                            <a:ext cx="359"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 name="Freeform 12"/>
              <p:cNvSpPr>
                <a:spLocks/>
              </p:cNvSpPr>
              <p:nvPr/>
            </p:nvSpPr>
            <p:spPr bwMode="auto">
              <a:xfrm>
                <a:off x="1653" y="1851"/>
                <a:ext cx="281" cy="263"/>
              </a:xfrm>
              <a:custGeom>
                <a:avLst/>
                <a:gdLst>
                  <a:gd name="T0" fmla="*/ 192 w 192"/>
                  <a:gd name="T1" fmla="*/ 192 h 224"/>
                  <a:gd name="T2" fmla="*/ 48 w 192"/>
                  <a:gd name="T3" fmla="*/ 192 h 224"/>
                  <a:gd name="T4" fmla="*/ 0 w 192"/>
                  <a:gd name="T5" fmla="*/ 0 h 224"/>
                  <a:gd name="T6" fmla="*/ 0 60000 65536"/>
                  <a:gd name="T7" fmla="*/ 0 60000 65536"/>
                  <a:gd name="T8" fmla="*/ 0 60000 65536"/>
                  <a:gd name="T9" fmla="*/ 0 w 192"/>
                  <a:gd name="T10" fmla="*/ 0 h 224"/>
                  <a:gd name="T11" fmla="*/ 192 w 192"/>
                  <a:gd name="T12" fmla="*/ 224 h 224"/>
                </a:gdLst>
                <a:ahLst/>
                <a:cxnLst>
                  <a:cxn ang="T6">
                    <a:pos x="T0" y="T1"/>
                  </a:cxn>
                  <a:cxn ang="T7">
                    <a:pos x="T2" y="T3"/>
                  </a:cxn>
                  <a:cxn ang="T8">
                    <a:pos x="T4" y="T5"/>
                  </a:cxn>
                </a:cxnLst>
                <a:rect l="T9" t="T10" r="T11" b="T12"/>
                <a:pathLst>
                  <a:path w="192" h="224">
                    <a:moveTo>
                      <a:pt x="192" y="192"/>
                    </a:moveTo>
                    <a:cubicBezTo>
                      <a:pt x="136" y="208"/>
                      <a:pt x="80" y="224"/>
                      <a:pt x="48" y="192"/>
                    </a:cubicBezTo>
                    <a:cubicBezTo>
                      <a:pt x="16" y="160"/>
                      <a:pt x="16" y="40"/>
                      <a:pt x="0" y="0"/>
                    </a:cubicBezTo>
                  </a:path>
                </a:pathLst>
              </a:custGeom>
              <a:noFill/>
              <a:ln w="9525">
                <a:solidFill>
                  <a:schemeClr val="tx1"/>
                </a:solidFill>
                <a:round/>
                <a:headEnd/>
                <a:tailEnd/>
              </a:ln>
            </p:spPr>
            <p:txBody>
              <a:bodyPr wrap="none" anchor="ctr"/>
              <a:lstStyle/>
              <a:p>
                <a:endParaRPr lang="zh-CN" altLang="en-US"/>
              </a:p>
            </p:txBody>
          </p:sp>
          <p:graphicFrame>
            <p:nvGraphicFramePr>
              <p:cNvPr id="96" name="Object 13"/>
              <p:cNvGraphicFramePr>
                <a:graphicFrameLocks noChangeAspect="1"/>
              </p:cNvGraphicFramePr>
              <p:nvPr/>
            </p:nvGraphicFramePr>
            <p:xfrm>
              <a:off x="1547" y="1593"/>
              <a:ext cx="191" cy="232"/>
            </p:xfrm>
            <a:graphic>
              <a:graphicData uri="http://schemas.openxmlformats.org/presentationml/2006/ole">
                <mc:AlternateContent xmlns:mc="http://schemas.openxmlformats.org/markup-compatibility/2006">
                  <mc:Choice xmlns:v="urn:schemas-microsoft-com:vml" Requires="v">
                    <p:oleObj spid="_x0000_s487456" name="公式" r:id="rId23" imgW="304560" imgH="368280" progId="Equation.3">
                      <p:embed/>
                    </p:oleObj>
                  </mc:Choice>
                  <mc:Fallback>
                    <p:oleObj name="公式" r:id="rId23" imgW="304560" imgH="368280"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47" y="1593"/>
                            <a:ext cx="191" cy="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97" name="Group 14"/>
          <p:cNvGrpSpPr>
            <a:grpSpLocks/>
          </p:cNvGrpSpPr>
          <p:nvPr/>
        </p:nvGrpSpPr>
        <p:grpSpPr bwMode="auto">
          <a:xfrm>
            <a:off x="5257668" y="4872341"/>
            <a:ext cx="1996752" cy="1023798"/>
            <a:chOff x="1296" y="1392"/>
            <a:chExt cx="2496" cy="942"/>
          </a:xfrm>
        </p:grpSpPr>
        <p:sp>
          <p:nvSpPr>
            <p:cNvPr id="98" name="Freeform 15"/>
            <p:cNvSpPr>
              <a:spLocks/>
            </p:cNvSpPr>
            <p:nvPr/>
          </p:nvSpPr>
          <p:spPr bwMode="auto">
            <a:xfrm>
              <a:off x="1296" y="1392"/>
              <a:ext cx="2496" cy="288"/>
            </a:xfrm>
            <a:custGeom>
              <a:avLst/>
              <a:gdLst>
                <a:gd name="T0" fmla="*/ 0 w 2496"/>
                <a:gd name="T1" fmla="*/ 0 h 288"/>
                <a:gd name="T2" fmla="*/ 2496 w 2496"/>
                <a:gd name="T3" fmla="*/ 0 h 288"/>
                <a:gd name="T4" fmla="*/ 2496 w 2496"/>
                <a:gd name="T5" fmla="*/ 288 h 288"/>
                <a:gd name="T6" fmla="*/ 0 w 2496"/>
                <a:gd name="T7" fmla="*/ 0 h 288"/>
                <a:gd name="T8" fmla="*/ 0 60000 65536"/>
                <a:gd name="T9" fmla="*/ 0 60000 65536"/>
                <a:gd name="T10" fmla="*/ 0 60000 65536"/>
                <a:gd name="T11" fmla="*/ 0 60000 65536"/>
                <a:gd name="T12" fmla="*/ 0 w 2496"/>
                <a:gd name="T13" fmla="*/ 0 h 288"/>
                <a:gd name="T14" fmla="*/ 2496 w 2496"/>
                <a:gd name="T15" fmla="*/ 288 h 288"/>
              </a:gdLst>
              <a:ahLst/>
              <a:cxnLst>
                <a:cxn ang="T8">
                  <a:pos x="T0" y="T1"/>
                </a:cxn>
                <a:cxn ang="T9">
                  <a:pos x="T2" y="T3"/>
                </a:cxn>
                <a:cxn ang="T10">
                  <a:pos x="T4" y="T5"/>
                </a:cxn>
                <a:cxn ang="T11">
                  <a:pos x="T6" y="T7"/>
                </a:cxn>
              </a:cxnLst>
              <a:rect l="T12" t="T13" r="T14" b="T15"/>
              <a:pathLst>
                <a:path w="2496" h="288">
                  <a:moveTo>
                    <a:pt x="0" y="0"/>
                  </a:moveTo>
                  <a:lnTo>
                    <a:pt x="2496" y="0"/>
                  </a:lnTo>
                  <a:lnTo>
                    <a:pt x="2496" y="288"/>
                  </a:lnTo>
                  <a:lnTo>
                    <a:pt x="0" y="0"/>
                  </a:lnTo>
                  <a:close/>
                </a:path>
              </a:pathLst>
            </a:custGeom>
            <a:solidFill>
              <a:srgbClr val="FF00FF">
                <a:alpha val="50195"/>
              </a:srgbClr>
            </a:solidFill>
            <a:ln w="12700" cap="sq">
              <a:noFill/>
              <a:round/>
              <a:headEnd type="none" w="sm" len="sm"/>
              <a:tailEnd type="none" w="sm" len="sm"/>
            </a:ln>
          </p:spPr>
          <p:txBody>
            <a:bodyPr wrap="none" anchor="ctr"/>
            <a:lstStyle/>
            <a:p>
              <a:endParaRPr lang="zh-CN" altLang="en-US"/>
            </a:p>
          </p:txBody>
        </p:sp>
        <p:sp>
          <p:nvSpPr>
            <p:cNvPr id="99" name="Line 16"/>
            <p:cNvSpPr>
              <a:spLocks noChangeShapeType="1"/>
            </p:cNvSpPr>
            <p:nvPr/>
          </p:nvSpPr>
          <p:spPr bwMode="auto">
            <a:xfrm>
              <a:off x="2928" y="1942"/>
              <a:ext cx="0" cy="66"/>
            </a:xfrm>
            <a:prstGeom prst="line">
              <a:avLst/>
            </a:prstGeom>
            <a:noFill/>
            <a:ln w="57150" cap="sq">
              <a:solidFill>
                <a:srgbClr val="F63CD7"/>
              </a:solidFill>
              <a:round/>
              <a:headEnd type="none" w="sm" len="sm"/>
              <a:tailEnd type="none" w="sm" len="sm"/>
            </a:ln>
          </p:spPr>
          <p:txBody>
            <a:bodyPr wrap="none" anchor="ctr"/>
            <a:lstStyle/>
            <a:p>
              <a:endParaRPr lang="zh-CN" altLang="en-US"/>
            </a:p>
          </p:txBody>
        </p:sp>
        <p:sp>
          <p:nvSpPr>
            <p:cNvPr id="100" name="Line 17"/>
            <p:cNvSpPr>
              <a:spLocks noChangeShapeType="1"/>
            </p:cNvSpPr>
            <p:nvPr/>
          </p:nvSpPr>
          <p:spPr bwMode="auto">
            <a:xfrm>
              <a:off x="1296" y="1392"/>
              <a:ext cx="2496" cy="288"/>
            </a:xfrm>
            <a:prstGeom prst="line">
              <a:avLst/>
            </a:prstGeom>
            <a:noFill/>
            <a:ln w="38100" cap="rnd">
              <a:solidFill>
                <a:schemeClr val="tx1"/>
              </a:solidFill>
              <a:prstDash val="sysDot"/>
              <a:round/>
              <a:headEnd/>
              <a:tailEnd/>
            </a:ln>
          </p:spPr>
          <p:txBody>
            <a:bodyPr wrap="none" anchor="ctr"/>
            <a:lstStyle/>
            <a:p>
              <a:endParaRPr lang="zh-CN" altLang="en-US"/>
            </a:p>
          </p:txBody>
        </p:sp>
        <p:sp>
          <p:nvSpPr>
            <p:cNvPr id="101" name="Oval 18"/>
            <p:cNvSpPr>
              <a:spLocks noChangeArrowheads="1"/>
            </p:cNvSpPr>
            <p:nvPr/>
          </p:nvSpPr>
          <p:spPr bwMode="auto">
            <a:xfrm>
              <a:off x="2885" y="1440"/>
              <a:ext cx="90" cy="66"/>
            </a:xfrm>
            <a:prstGeom prst="ellipse">
              <a:avLst/>
            </a:prstGeom>
            <a:noFill/>
            <a:ln w="19050">
              <a:solidFill>
                <a:schemeClr val="tx1"/>
              </a:solidFill>
              <a:round/>
              <a:headEnd/>
              <a:tailEnd/>
            </a:ln>
          </p:spPr>
          <p:txBody>
            <a:bodyPr wrap="none" anchor="ctr"/>
            <a:lstStyle/>
            <a:p>
              <a:endParaRPr lang="zh-CN" altLang="en-US"/>
            </a:p>
          </p:txBody>
        </p:sp>
        <p:sp>
          <p:nvSpPr>
            <p:cNvPr id="102" name="Line 19"/>
            <p:cNvSpPr>
              <a:spLocks noChangeShapeType="1"/>
            </p:cNvSpPr>
            <p:nvPr/>
          </p:nvSpPr>
          <p:spPr bwMode="auto">
            <a:xfrm>
              <a:off x="2927" y="1518"/>
              <a:ext cx="0" cy="497"/>
            </a:xfrm>
            <a:prstGeom prst="line">
              <a:avLst/>
            </a:prstGeom>
            <a:noFill/>
            <a:ln w="19050" cap="rnd">
              <a:solidFill>
                <a:schemeClr val="tx1"/>
              </a:solidFill>
              <a:prstDash val="solid"/>
              <a:round/>
              <a:headEnd/>
              <a:tailEnd/>
            </a:ln>
          </p:spPr>
          <p:txBody>
            <a:bodyPr wrap="none" anchor="ctr"/>
            <a:lstStyle/>
            <a:p>
              <a:endParaRPr lang="zh-CN" altLang="en-US"/>
            </a:p>
          </p:txBody>
        </p:sp>
        <p:sp>
          <p:nvSpPr>
            <p:cNvPr id="103" name="Line 20"/>
            <p:cNvSpPr>
              <a:spLocks noChangeShapeType="1"/>
            </p:cNvSpPr>
            <p:nvPr/>
          </p:nvSpPr>
          <p:spPr bwMode="auto">
            <a:xfrm>
              <a:off x="2927" y="1925"/>
              <a:ext cx="0" cy="96"/>
            </a:xfrm>
            <a:prstGeom prst="line">
              <a:avLst/>
            </a:prstGeom>
            <a:noFill/>
            <a:ln w="38100">
              <a:solidFill>
                <a:schemeClr val="tx1"/>
              </a:solidFill>
              <a:round/>
              <a:headEnd/>
              <a:tailEnd/>
            </a:ln>
          </p:spPr>
          <p:txBody>
            <a:bodyPr wrap="none" anchor="ctr"/>
            <a:lstStyle/>
            <a:p>
              <a:endParaRPr lang="zh-CN" altLang="en-US"/>
            </a:p>
          </p:txBody>
        </p:sp>
        <p:graphicFrame>
          <p:nvGraphicFramePr>
            <p:cNvPr id="104" name="Object 21"/>
            <p:cNvGraphicFramePr>
              <a:graphicFrameLocks noChangeAspect="1"/>
            </p:cNvGraphicFramePr>
            <p:nvPr/>
          </p:nvGraphicFramePr>
          <p:xfrm>
            <a:off x="2474" y="1510"/>
            <a:ext cx="446" cy="358"/>
          </p:xfrm>
          <a:graphic>
            <a:graphicData uri="http://schemas.openxmlformats.org/presentationml/2006/ole">
              <mc:AlternateContent xmlns:mc="http://schemas.openxmlformats.org/markup-compatibility/2006">
                <mc:Choice xmlns:v="urn:schemas-microsoft-com:vml" Requires="v">
                  <p:oleObj spid="_x0000_s487457" name="Equation" r:id="rId25" imgW="190440" imgH="228600" progId="Equation.DSMT4">
                    <p:embed/>
                  </p:oleObj>
                </mc:Choice>
                <mc:Fallback>
                  <p:oleObj name="Equation" r:id="rId25" imgW="190440" imgH="228600" progId="Equation.DSMT4">
                    <p:embed/>
                    <p:pic>
                      <p:nvPicPr>
                        <p:cNvPr id="0" name="Object 2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74" y="1510"/>
                          <a:ext cx="446"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 name="Object 22"/>
            <p:cNvGraphicFramePr>
              <a:graphicFrameLocks noChangeAspect="1"/>
            </p:cNvGraphicFramePr>
            <p:nvPr/>
          </p:nvGraphicFramePr>
          <p:xfrm>
            <a:off x="3120" y="2102"/>
            <a:ext cx="208" cy="232"/>
          </p:xfrm>
          <a:graphic>
            <a:graphicData uri="http://schemas.openxmlformats.org/presentationml/2006/ole">
              <mc:AlternateContent xmlns:mc="http://schemas.openxmlformats.org/markup-compatibility/2006">
                <mc:Choice xmlns:v="urn:schemas-microsoft-com:vml" Requires="v">
                  <p:oleObj spid="_x0000_s487458" name="公式" r:id="rId27" imgW="330120" imgH="368280" progId="Equation.3">
                    <p:embed/>
                  </p:oleObj>
                </mc:Choice>
                <mc:Fallback>
                  <p:oleObj name="公式" r:id="rId27" imgW="330120" imgH="368280" progId="Equation.3">
                    <p:embed/>
                    <p:pic>
                      <p:nvPicPr>
                        <p:cNvPr id="0" name="Object 2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20" y="2102"/>
                          <a:ext cx="208" cy="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 name="Freeform 23"/>
            <p:cNvSpPr>
              <a:spLocks/>
            </p:cNvSpPr>
            <p:nvPr/>
          </p:nvSpPr>
          <p:spPr bwMode="auto">
            <a:xfrm flipH="1">
              <a:off x="2943" y="1970"/>
              <a:ext cx="144" cy="288"/>
            </a:xfrm>
            <a:custGeom>
              <a:avLst/>
              <a:gdLst>
                <a:gd name="T0" fmla="*/ 0 w 144"/>
                <a:gd name="T1" fmla="*/ 288 h 288"/>
                <a:gd name="T2" fmla="*/ 96 w 144"/>
                <a:gd name="T3" fmla="*/ 144 h 288"/>
                <a:gd name="T4" fmla="*/ 144 w 144"/>
                <a:gd name="T5" fmla="*/ 0 h 288"/>
                <a:gd name="T6" fmla="*/ 0 60000 65536"/>
                <a:gd name="T7" fmla="*/ 0 60000 65536"/>
                <a:gd name="T8" fmla="*/ 0 60000 65536"/>
                <a:gd name="T9" fmla="*/ 0 w 144"/>
                <a:gd name="T10" fmla="*/ 0 h 288"/>
                <a:gd name="T11" fmla="*/ 144 w 144"/>
                <a:gd name="T12" fmla="*/ 288 h 288"/>
              </a:gdLst>
              <a:ahLst/>
              <a:cxnLst>
                <a:cxn ang="T6">
                  <a:pos x="T0" y="T1"/>
                </a:cxn>
                <a:cxn ang="T7">
                  <a:pos x="T2" y="T3"/>
                </a:cxn>
                <a:cxn ang="T8">
                  <a:pos x="T4" y="T5"/>
                </a:cxn>
              </a:cxnLst>
              <a:rect l="T9" t="T10" r="T11" b="T12"/>
              <a:pathLst>
                <a:path w="144" h="288">
                  <a:moveTo>
                    <a:pt x="0" y="288"/>
                  </a:moveTo>
                  <a:cubicBezTo>
                    <a:pt x="36" y="240"/>
                    <a:pt x="72" y="192"/>
                    <a:pt x="96" y="144"/>
                  </a:cubicBezTo>
                  <a:cubicBezTo>
                    <a:pt x="120" y="96"/>
                    <a:pt x="136" y="24"/>
                    <a:pt x="144" y="0"/>
                  </a:cubicBezTo>
                </a:path>
              </a:pathLst>
            </a:custGeom>
            <a:noFill/>
            <a:ln w="9525">
              <a:solidFill>
                <a:schemeClr val="tx1"/>
              </a:solidFill>
              <a:round/>
              <a:headEnd/>
              <a:tailEnd/>
            </a:ln>
          </p:spPr>
          <p:txBody>
            <a:bodyPr wrap="none" anchor="ctr"/>
            <a:lstStyle/>
            <a:p>
              <a:endParaRPr lang="zh-CN" altLang="en-US"/>
            </a:p>
          </p:txBody>
        </p:sp>
      </p:grpSp>
      <p:graphicFrame>
        <p:nvGraphicFramePr>
          <p:cNvPr id="107" name="Object 4"/>
          <p:cNvGraphicFramePr>
            <a:graphicFrameLocks noChangeAspect="1"/>
          </p:cNvGraphicFramePr>
          <p:nvPr/>
        </p:nvGraphicFramePr>
        <p:xfrm>
          <a:off x="6149529" y="6105525"/>
          <a:ext cx="2462213" cy="441325"/>
        </p:xfrm>
        <a:graphic>
          <a:graphicData uri="http://schemas.openxmlformats.org/presentationml/2006/ole">
            <mc:AlternateContent xmlns:mc="http://schemas.openxmlformats.org/markup-compatibility/2006">
              <mc:Choice xmlns:v="urn:schemas-microsoft-com:vml" Requires="v">
                <p:oleObj spid="_x0000_s487459" name="Equation" r:id="rId29" imgW="1739880" imgH="279360" progId="Equation.DSMT4">
                  <p:embed/>
                </p:oleObj>
              </mc:Choice>
              <mc:Fallback>
                <p:oleObj name="Equation" r:id="rId29" imgW="1739880" imgH="279360" progId="Equation.DSMT4">
                  <p:embed/>
                  <p:pic>
                    <p:nvPicPr>
                      <p:cNvPr id="0" name="Picture 2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149529" y="6105525"/>
                        <a:ext cx="2462213" cy="44132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108" name="矩形 107"/>
          <p:cNvSpPr/>
          <p:nvPr/>
        </p:nvSpPr>
        <p:spPr>
          <a:xfrm>
            <a:off x="3357554" y="3916924"/>
            <a:ext cx="2286016" cy="369332"/>
          </a:xfrm>
          <a:prstGeom prst="rect">
            <a:avLst/>
          </a:prstGeom>
          <a:solidFill>
            <a:schemeClr val="bg1"/>
          </a:solidFill>
          <a:ln w="28575">
            <a:solidFill>
              <a:srgbClr val="C00000"/>
            </a:solidFill>
          </a:ln>
        </p:spPr>
        <p:txBody>
          <a:bodyPr wrap="square">
            <a:spAutoFit/>
          </a:bodyPr>
          <a:lstStyle/>
          <a:p>
            <a:r>
              <a:rPr lang="en-US" altLang="zh-CN" b="1" i="1">
                <a:solidFill>
                  <a:srgbClr val="C00000"/>
                </a:solidFill>
                <a:latin typeface="Times New Roman" pitchFamily="18" charset="0"/>
                <a:cs typeface="Times New Roman" pitchFamily="18" charset="0"/>
              </a:rPr>
              <a:t>A</a:t>
            </a:r>
            <a:r>
              <a:rPr lang="zh-CN" altLang="en-US" b="1">
                <a:solidFill>
                  <a:srgbClr val="C00000"/>
                </a:solidFill>
                <a:latin typeface="Times New Roman" pitchFamily="18" charset="0"/>
                <a:cs typeface="Times New Roman" pitchFamily="18" charset="0"/>
              </a:rPr>
              <a:t>与</a:t>
            </a:r>
            <a:r>
              <a:rPr lang="en-US" altLang="zh-CN" b="1" i="1">
                <a:solidFill>
                  <a:srgbClr val="C00000"/>
                </a:solidFill>
                <a:latin typeface="Times New Roman" pitchFamily="18" charset="0"/>
                <a:cs typeface="Times New Roman" pitchFamily="18" charset="0"/>
              </a:rPr>
              <a:t>y</a:t>
            </a:r>
            <a:r>
              <a:rPr lang="en-US" altLang="zh-CN" b="1" baseline="-25000">
                <a:solidFill>
                  <a:srgbClr val="C00000"/>
                </a:solidFill>
                <a:latin typeface="Times New Roman" pitchFamily="18" charset="0"/>
                <a:cs typeface="Times New Roman" pitchFamily="18" charset="0"/>
              </a:rPr>
              <a:t>0</a:t>
            </a:r>
            <a:r>
              <a:rPr lang="zh-CN" altLang="en-US" b="1">
                <a:solidFill>
                  <a:srgbClr val="C00000"/>
                </a:solidFill>
                <a:latin typeface="Times New Roman" pitchFamily="18" charset="0"/>
                <a:cs typeface="Times New Roman" pitchFamily="18" charset="0"/>
              </a:rPr>
              <a:t>同侧，取正值；</a:t>
            </a:r>
            <a:endParaRPr lang="zh-CN" altLang="en-US">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 calcmode="lin" valueType="num">
                                      <p:cBhvr additive="base">
                                        <p:cTn id="7"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
                                            <p:txEl>
                                              <p:pRg st="1" end="1"/>
                                            </p:txEl>
                                          </p:spTgt>
                                        </p:tgtEl>
                                        <p:attrNameLst>
                                          <p:attrName>style.visibility</p:attrName>
                                        </p:attrNameLst>
                                      </p:cBhvr>
                                      <p:to>
                                        <p:strVal val="visible"/>
                                      </p:to>
                                    </p:set>
                                    <p:anim calcmode="lin" valueType="num">
                                      <p:cBhvr additive="base">
                                        <p:cTn id="13" dur="500" fill="hold"/>
                                        <p:tgtEl>
                                          <p:spTgt spid="4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
                                            <p:txEl>
                                              <p:pRg st="2" end="2"/>
                                            </p:txEl>
                                          </p:spTgt>
                                        </p:tgtEl>
                                        <p:attrNameLst>
                                          <p:attrName>style.visibility</p:attrName>
                                        </p:attrNameLst>
                                      </p:cBhvr>
                                      <p:to>
                                        <p:strVal val="visible"/>
                                      </p:to>
                                    </p:set>
                                    <p:anim calcmode="lin" valueType="num">
                                      <p:cBhvr additive="base">
                                        <p:cTn id="25" dur="500" fill="hold"/>
                                        <p:tgtEl>
                                          <p:spTgt spid="4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
                                            <p:txEl>
                                              <p:pRg st="2" end="2"/>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2" fill="hold" nodeType="after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500" fill="hold"/>
                                        <p:tgtEl>
                                          <p:spTgt spid="31"/>
                                        </p:tgtEl>
                                        <p:attrNameLst>
                                          <p:attrName>ppt_x</p:attrName>
                                        </p:attrNameLst>
                                      </p:cBhvr>
                                      <p:tavLst>
                                        <p:tav tm="0">
                                          <p:val>
                                            <p:strVal val="1+#ppt_w/2"/>
                                          </p:val>
                                        </p:tav>
                                        <p:tav tm="100000">
                                          <p:val>
                                            <p:strVal val="#ppt_x"/>
                                          </p:val>
                                        </p:tav>
                                      </p:tavLst>
                                    </p:anim>
                                    <p:anim calcmode="lin" valueType="num">
                                      <p:cBhvr additive="base">
                                        <p:cTn id="31"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6">
                                            <p:txEl>
                                              <p:pRg st="3" end="3"/>
                                            </p:txEl>
                                          </p:spTgt>
                                        </p:tgtEl>
                                        <p:attrNameLst>
                                          <p:attrName>style.visibility</p:attrName>
                                        </p:attrNameLst>
                                      </p:cBhvr>
                                      <p:to>
                                        <p:strVal val="visible"/>
                                      </p:to>
                                    </p:set>
                                    <p:anim calcmode="lin" valueType="num">
                                      <p:cBhvr additive="base">
                                        <p:cTn id="36" dur="500" fill="hold"/>
                                        <p:tgtEl>
                                          <p:spTgt spid="46">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ppt_x"/>
                                          </p:val>
                                        </p:tav>
                                        <p:tav tm="100000">
                                          <p:val>
                                            <p:strVal val="#ppt_x"/>
                                          </p:val>
                                        </p:tav>
                                      </p:tavLst>
                                    </p:anim>
                                    <p:anim calcmode="lin" valueType="num">
                                      <p:cBhvr additive="base">
                                        <p:cTn id="4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fill="hold"/>
                                        <p:tgtEl>
                                          <p:spTgt spid="30"/>
                                        </p:tgtEl>
                                        <p:attrNameLst>
                                          <p:attrName>ppt_x</p:attrName>
                                        </p:attrNameLst>
                                      </p:cBhvr>
                                      <p:tavLst>
                                        <p:tav tm="0">
                                          <p:val>
                                            <p:strVal val="#ppt_x"/>
                                          </p:val>
                                        </p:tav>
                                        <p:tav tm="100000">
                                          <p:val>
                                            <p:strVal val="#ppt_x"/>
                                          </p:val>
                                        </p:tav>
                                      </p:tavLst>
                                    </p:anim>
                                    <p:anim calcmode="lin" valueType="num">
                                      <p:cBhvr additive="base">
                                        <p:cTn id="4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84"/>
                                        </p:tgtEl>
                                        <p:attrNameLst>
                                          <p:attrName>style.visibility</p:attrName>
                                        </p:attrNameLst>
                                      </p:cBhvr>
                                      <p:to>
                                        <p:strVal val="visible"/>
                                      </p:to>
                                    </p:set>
                                    <p:anim calcmode="lin" valueType="num">
                                      <p:cBhvr additive="base">
                                        <p:cTn id="54" dur="500" fill="hold"/>
                                        <p:tgtEl>
                                          <p:spTgt spid="84"/>
                                        </p:tgtEl>
                                        <p:attrNameLst>
                                          <p:attrName>ppt_x</p:attrName>
                                        </p:attrNameLst>
                                      </p:cBhvr>
                                      <p:tavLst>
                                        <p:tav tm="0">
                                          <p:val>
                                            <p:strVal val="#ppt_x"/>
                                          </p:val>
                                        </p:tav>
                                        <p:tav tm="100000">
                                          <p:val>
                                            <p:strVal val="#ppt_x"/>
                                          </p:val>
                                        </p:tav>
                                      </p:tavLst>
                                    </p:anim>
                                    <p:anim calcmode="lin" valueType="num">
                                      <p:cBhvr additive="base">
                                        <p:cTn id="55"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85"/>
                                        </p:tgtEl>
                                        <p:attrNameLst>
                                          <p:attrName>style.visibility</p:attrName>
                                        </p:attrNameLst>
                                      </p:cBhvr>
                                      <p:to>
                                        <p:strVal val="visible"/>
                                      </p:to>
                                    </p:set>
                                    <p:anim calcmode="lin" valueType="num">
                                      <p:cBhvr additive="base">
                                        <p:cTn id="60" dur="500" fill="hold"/>
                                        <p:tgtEl>
                                          <p:spTgt spid="85"/>
                                        </p:tgtEl>
                                        <p:attrNameLst>
                                          <p:attrName>ppt_x</p:attrName>
                                        </p:attrNameLst>
                                      </p:cBhvr>
                                      <p:tavLst>
                                        <p:tav tm="0">
                                          <p:val>
                                            <p:strVal val="#ppt_x"/>
                                          </p:val>
                                        </p:tav>
                                        <p:tav tm="100000">
                                          <p:val>
                                            <p:strVal val="#ppt_x"/>
                                          </p:val>
                                        </p:tav>
                                      </p:tavLst>
                                    </p:anim>
                                    <p:anim calcmode="lin" valueType="num">
                                      <p:cBhvr additive="base">
                                        <p:cTn id="61"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86"/>
                                        </p:tgtEl>
                                        <p:attrNameLst>
                                          <p:attrName>style.visibility</p:attrName>
                                        </p:attrNameLst>
                                      </p:cBhvr>
                                      <p:to>
                                        <p:strVal val="visible"/>
                                      </p:to>
                                    </p:set>
                                    <p:animEffect transition="in" filter="box(in)">
                                      <p:cBhvr>
                                        <p:cTn id="66" dur="500"/>
                                        <p:tgtEl>
                                          <p:spTgt spid="86"/>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nodeType="clickEffect">
                                  <p:stCondLst>
                                    <p:cond delay="0"/>
                                  </p:stCondLst>
                                  <p:childTnLst>
                                    <p:set>
                                      <p:cBhvr>
                                        <p:cTn id="70" dur="1" fill="hold">
                                          <p:stCondLst>
                                            <p:cond delay="0"/>
                                          </p:stCondLst>
                                        </p:cTn>
                                        <p:tgtEl>
                                          <p:spTgt spid="97"/>
                                        </p:tgtEl>
                                        <p:attrNameLst>
                                          <p:attrName>style.visibility</p:attrName>
                                        </p:attrNameLst>
                                      </p:cBhvr>
                                      <p:to>
                                        <p:strVal val="visible"/>
                                      </p:to>
                                    </p:set>
                                    <p:animEffect transition="in" filter="checkerboard(across)">
                                      <p:cBhvr>
                                        <p:cTn id="71" dur="500"/>
                                        <p:tgtEl>
                                          <p:spTgt spid="97"/>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107"/>
                                        </p:tgtEl>
                                        <p:attrNameLst>
                                          <p:attrName>style.visibility</p:attrName>
                                        </p:attrNameLst>
                                      </p:cBhvr>
                                      <p:to>
                                        <p:strVal val="visible"/>
                                      </p:to>
                                    </p:set>
                                    <p:anim calcmode="lin" valueType="num">
                                      <p:cBhvr additive="base">
                                        <p:cTn id="76" dur="500" fill="hold"/>
                                        <p:tgtEl>
                                          <p:spTgt spid="107"/>
                                        </p:tgtEl>
                                        <p:attrNameLst>
                                          <p:attrName>ppt_x</p:attrName>
                                        </p:attrNameLst>
                                      </p:cBhvr>
                                      <p:tavLst>
                                        <p:tav tm="0">
                                          <p:val>
                                            <p:strVal val="#ppt_x"/>
                                          </p:val>
                                        </p:tav>
                                        <p:tav tm="100000">
                                          <p:val>
                                            <p:strVal val="#ppt_x"/>
                                          </p:val>
                                        </p:tav>
                                      </p:tavLst>
                                    </p:anim>
                                    <p:anim calcmode="lin" valueType="num">
                                      <p:cBhvr additive="base">
                                        <p:cTn id="77"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08"/>
                                        </p:tgtEl>
                                        <p:attrNameLst>
                                          <p:attrName>style.visibility</p:attrName>
                                        </p:attrNameLst>
                                      </p:cBhvr>
                                      <p:to>
                                        <p:strVal val="visible"/>
                                      </p:to>
                                    </p:set>
                                    <p:animEffect transition="in" filter="blinds(horizontal)">
                                      <p:cBhvr>
                                        <p:cTn id="8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P spid="85" grpId="0"/>
      <p:bldP spid="10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几个具体问题</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813222"/>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复杂图形处理；</a:t>
            </a:r>
            <a:endParaRPr lang="en-US" altLang="zh-CN" sz="2000" b="1">
              <a:latin typeface="Times New Roman" pitchFamily="18" charset="0"/>
              <a:cs typeface="Times New Roman" pitchFamily="18" charset="0"/>
            </a:endParaRPr>
          </a:p>
        </p:txBody>
      </p:sp>
      <p:sp>
        <p:nvSpPr>
          <p:cNvPr id="129" name="AutoShape 15"/>
          <p:cNvSpPr>
            <a:spLocks noChangeAspect="1" noChangeArrowheads="1" noTextEdit="1"/>
          </p:cNvSpPr>
          <p:nvPr/>
        </p:nvSpPr>
        <p:spPr bwMode="auto">
          <a:xfrm>
            <a:off x="1355729" y="2531078"/>
            <a:ext cx="6195874" cy="1397988"/>
          </a:xfrm>
          <a:prstGeom prst="rect">
            <a:avLst/>
          </a:prstGeom>
          <a:noFill/>
          <a:ln w="9525">
            <a:noFill/>
            <a:miter lim="800000"/>
            <a:headEnd/>
            <a:tailEnd/>
          </a:ln>
        </p:spPr>
        <p:txBody>
          <a:bodyP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31" name="Rectangle 16"/>
          <p:cNvSpPr>
            <a:spLocks noChangeArrowheads="1"/>
          </p:cNvSpPr>
          <p:nvPr/>
        </p:nvSpPr>
        <p:spPr bwMode="auto">
          <a:xfrm>
            <a:off x="6143636" y="3181649"/>
            <a:ext cx="183453" cy="461665"/>
          </a:xfrm>
          <a:prstGeom prst="rect">
            <a:avLst/>
          </a:prstGeom>
          <a:noFill/>
          <a:ln w="9525">
            <a:noFill/>
            <a:miter lim="800000"/>
            <a:headEnd/>
            <a:tailEnd/>
          </a:ln>
        </p:spPr>
        <p:txBody>
          <a:bodyPr wrap="square" lIns="0" tIns="0" rIns="0" bIns="0">
            <a:spAutoFit/>
          </a:bodyPr>
          <a:lstStyle/>
          <a:p>
            <a:pPr algn="l" rtl="0" fontAlgn="base">
              <a:spcBef>
                <a:spcPct val="0"/>
              </a:spcBef>
              <a:spcAft>
                <a:spcPct val="0"/>
              </a:spcAft>
            </a:pPr>
            <a:r>
              <a:rPr lang="en-US" altLang="zh-CN" sz="3000" b="1" kern="1200">
                <a:solidFill>
                  <a:srgbClr val="000000"/>
                </a:solidFill>
                <a:latin typeface="Times New Roman" pitchFamily="18" charset="0"/>
                <a:ea typeface="宋体" charset="-122"/>
                <a:cs typeface="+mn-cs"/>
              </a:rPr>
              <a:t>+</a:t>
            </a:r>
            <a:endParaRPr lang="en-US" altLang="zh-CN" sz="3000" kern="1200">
              <a:solidFill>
                <a:srgbClr val="000000"/>
              </a:solidFill>
              <a:latin typeface="Times New Roman" pitchFamily="18" charset="0"/>
              <a:ea typeface="宋体" charset="-122"/>
              <a:cs typeface="+mn-cs"/>
            </a:endParaRPr>
          </a:p>
        </p:txBody>
      </p:sp>
      <p:sp>
        <p:nvSpPr>
          <p:cNvPr id="132" name="Rectangle 17"/>
          <p:cNvSpPr>
            <a:spLocks noChangeArrowheads="1"/>
          </p:cNvSpPr>
          <p:nvPr/>
        </p:nvSpPr>
        <p:spPr bwMode="auto">
          <a:xfrm>
            <a:off x="3571868" y="3175497"/>
            <a:ext cx="183453" cy="461665"/>
          </a:xfrm>
          <a:prstGeom prst="rect">
            <a:avLst/>
          </a:prstGeom>
          <a:noFill/>
          <a:ln w="9525">
            <a:noFill/>
            <a:miter lim="800000"/>
            <a:headEnd/>
            <a:tailEnd/>
          </a:ln>
        </p:spPr>
        <p:txBody>
          <a:bodyPr wrap="square" lIns="0" tIns="0" rIns="0" bIns="0">
            <a:spAutoFit/>
          </a:bodyPr>
          <a:lstStyle/>
          <a:p>
            <a:pPr algn="l" rtl="0" fontAlgn="base">
              <a:spcBef>
                <a:spcPct val="0"/>
              </a:spcBef>
              <a:spcAft>
                <a:spcPct val="0"/>
              </a:spcAft>
            </a:pPr>
            <a:r>
              <a:rPr lang="en-US" altLang="zh-CN" sz="3000" b="1" kern="1200">
                <a:solidFill>
                  <a:srgbClr val="000000"/>
                </a:solidFill>
                <a:latin typeface="Times New Roman" pitchFamily="18" charset="0"/>
                <a:ea typeface="宋体" charset="-122"/>
                <a:cs typeface="+mn-cs"/>
              </a:rPr>
              <a:t>=</a:t>
            </a:r>
            <a:endParaRPr lang="en-US" altLang="zh-CN" sz="3000" kern="1200">
              <a:solidFill>
                <a:srgbClr val="000000"/>
              </a:solidFill>
              <a:latin typeface="Times New Roman" pitchFamily="18" charset="0"/>
              <a:ea typeface="宋体" charset="-122"/>
              <a:cs typeface="+mn-cs"/>
            </a:endParaRPr>
          </a:p>
        </p:txBody>
      </p:sp>
      <p:grpSp>
        <p:nvGrpSpPr>
          <p:cNvPr id="133" name="Group 18"/>
          <p:cNvGrpSpPr>
            <a:grpSpLocks/>
          </p:cNvGrpSpPr>
          <p:nvPr/>
        </p:nvGrpSpPr>
        <p:grpSpPr bwMode="auto">
          <a:xfrm>
            <a:off x="1343028" y="2516790"/>
            <a:ext cx="1859968" cy="1313349"/>
            <a:chOff x="649" y="1244"/>
            <a:chExt cx="1389" cy="1051"/>
          </a:xfrm>
        </p:grpSpPr>
        <p:grpSp>
          <p:nvGrpSpPr>
            <p:cNvPr id="134" name="Group 19"/>
            <p:cNvGrpSpPr>
              <a:grpSpLocks/>
            </p:cNvGrpSpPr>
            <p:nvPr/>
          </p:nvGrpSpPr>
          <p:grpSpPr bwMode="auto">
            <a:xfrm>
              <a:off x="674" y="1244"/>
              <a:ext cx="1364" cy="561"/>
              <a:chOff x="674" y="1244"/>
              <a:chExt cx="1364" cy="561"/>
            </a:xfrm>
          </p:grpSpPr>
          <p:sp>
            <p:nvSpPr>
              <p:cNvPr id="140" name="Line 20"/>
              <p:cNvSpPr>
                <a:spLocks noChangeShapeType="1"/>
              </p:cNvSpPr>
              <p:nvPr/>
            </p:nvSpPr>
            <p:spPr bwMode="auto">
              <a:xfrm>
                <a:off x="677" y="1474"/>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1" name="Line 21"/>
              <p:cNvSpPr>
                <a:spLocks noChangeShapeType="1"/>
              </p:cNvSpPr>
              <p:nvPr/>
            </p:nvSpPr>
            <p:spPr bwMode="auto">
              <a:xfrm>
                <a:off x="677" y="1247"/>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2" name="Line 22"/>
              <p:cNvSpPr>
                <a:spLocks noChangeShapeType="1"/>
              </p:cNvSpPr>
              <p:nvPr/>
            </p:nvSpPr>
            <p:spPr bwMode="auto">
              <a:xfrm>
                <a:off x="2037" y="1474"/>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3" name="Freeform 23"/>
              <p:cNvSpPr>
                <a:spLocks noEditPoints="1"/>
              </p:cNvSpPr>
              <p:nvPr/>
            </p:nvSpPr>
            <p:spPr bwMode="auto">
              <a:xfrm>
                <a:off x="674" y="1244"/>
                <a:ext cx="1344" cy="452"/>
              </a:xfrm>
              <a:custGeom>
                <a:avLst/>
                <a:gdLst>
                  <a:gd name="T0" fmla="*/ 123 w 3585"/>
                  <a:gd name="T1" fmla="*/ 47 h 1207"/>
                  <a:gd name="T2" fmla="*/ 2 w 3585"/>
                  <a:gd name="T3" fmla="*/ 7 h 1207"/>
                  <a:gd name="T4" fmla="*/ 300 w 3585"/>
                  <a:gd name="T5" fmla="*/ 98 h 1207"/>
                  <a:gd name="T6" fmla="*/ 189 w 3585"/>
                  <a:gd name="T7" fmla="*/ 77 h 1207"/>
                  <a:gd name="T8" fmla="*/ 376 w 3585"/>
                  <a:gd name="T9" fmla="*/ 123 h 1207"/>
                  <a:gd name="T10" fmla="*/ 477 w 3585"/>
                  <a:gd name="T11" fmla="*/ 174 h 1207"/>
                  <a:gd name="T12" fmla="*/ 376 w 3585"/>
                  <a:gd name="T13" fmla="*/ 123 h 1207"/>
                  <a:gd name="T14" fmla="*/ 669 w 3585"/>
                  <a:gd name="T15" fmla="*/ 229 h 1207"/>
                  <a:gd name="T16" fmla="*/ 548 w 3585"/>
                  <a:gd name="T17" fmla="*/ 189 h 1207"/>
                  <a:gd name="T18" fmla="*/ 847 w 3585"/>
                  <a:gd name="T19" fmla="*/ 280 h 1207"/>
                  <a:gd name="T20" fmla="*/ 735 w 3585"/>
                  <a:gd name="T21" fmla="*/ 260 h 1207"/>
                  <a:gd name="T22" fmla="*/ 922 w 3585"/>
                  <a:gd name="T23" fmla="*/ 305 h 1207"/>
                  <a:gd name="T24" fmla="*/ 1024 w 3585"/>
                  <a:gd name="T25" fmla="*/ 356 h 1207"/>
                  <a:gd name="T26" fmla="*/ 922 w 3585"/>
                  <a:gd name="T27" fmla="*/ 305 h 1207"/>
                  <a:gd name="T28" fmla="*/ 1216 w 3585"/>
                  <a:gd name="T29" fmla="*/ 411 h 1207"/>
                  <a:gd name="T30" fmla="*/ 1094 w 3585"/>
                  <a:gd name="T31" fmla="*/ 371 h 1207"/>
                  <a:gd name="T32" fmla="*/ 1393 w 3585"/>
                  <a:gd name="T33" fmla="*/ 462 h 1207"/>
                  <a:gd name="T34" fmla="*/ 1282 w 3585"/>
                  <a:gd name="T35" fmla="*/ 442 h 1207"/>
                  <a:gd name="T36" fmla="*/ 1469 w 3585"/>
                  <a:gd name="T37" fmla="*/ 487 h 1207"/>
                  <a:gd name="T38" fmla="*/ 1570 w 3585"/>
                  <a:gd name="T39" fmla="*/ 538 h 1207"/>
                  <a:gd name="T40" fmla="*/ 1469 w 3585"/>
                  <a:gd name="T41" fmla="*/ 487 h 1207"/>
                  <a:gd name="T42" fmla="*/ 1762 w 3585"/>
                  <a:gd name="T43" fmla="*/ 594 h 1207"/>
                  <a:gd name="T44" fmla="*/ 1641 w 3585"/>
                  <a:gd name="T45" fmla="*/ 553 h 1207"/>
                  <a:gd name="T46" fmla="*/ 1939 w 3585"/>
                  <a:gd name="T47" fmla="*/ 644 h 1207"/>
                  <a:gd name="T48" fmla="*/ 1828 w 3585"/>
                  <a:gd name="T49" fmla="*/ 624 h 1207"/>
                  <a:gd name="T50" fmla="*/ 2015 w 3585"/>
                  <a:gd name="T51" fmla="*/ 669 h 1207"/>
                  <a:gd name="T52" fmla="*/ 2116 w 3585"/>
                  <a:gd name="T53" fmla="*/ 720 h 1207"/>
                  <a:gd name="T54" fmla="*/ 2015 w 3585"/>
                  <a:gd name="T55" fmla="*/ 669 h 1207"/>
                  <a:gd name="T56" fmla="*/ 2309 w 3585"/>
                  <a:gd name="T57" fmla="*/ 776 h 1207"/>
                  <a:gd name="T58" fmla="*/ 2187 w 3585"/>
                  <a:gd name="T59" fmla="*/ 735 h 1207"/>
                  <a:gd name="T60" fmla="*/ 2486 w 3585"/>
                  <a:gd name="T61" fmla="*/ 826 h 1207"/>
                  <a:gd name="T62" fmla="*/ 2375 w 3585"/>
                  <a:gd name="T63" fmla="*/ 806 h 1207"/>
                  <a:gd name="T64" fmla="*/ 2562 w 3585"/>
                  <a:gd name="T65" fmla="*/ 852 h 1207"/>
                  <a:gd name="T66" fmla="*/ 2663 w 3585"/>
                  <a:gd name="T67" fmla="*/ 902 h 1207"/>
                  <a:gd name="T68" fmla="*/ 2562 w 3585"/>
                  <a:gd name="T69" fmla="*/ 852 h 1207"/>
                  <a:gd name="T70" fmla="*/ 2855 w 3585"/>
                  <a:gd name="T71" fmla="*/ 958 h 1207"/>
                  <a:gd name="T72" fmla="*/ 2734 w 3585"/>
                  <a:gd name="T73" fmla="*/ 917 h 1207"/>
                  <a:gd name="T74" fmla="*/ 3032 w 3585"/>
                  <a:gd name="T75" fmla="*/ 1008 h 1207"/>
                  <a:gd name="T76" fmla="*/ 2921 w 3585"/>
                  <a:gd name="T77" fmla="*/ 988 h 1207"/>
                  <a:gd name="T78" fmla="*/ 3108 w 3585"/>
                  <a:gd name="T79" fmla="*/ 1034 h 1207"/>
                  <a:gd name="T80" fmla="*/ 3209 w 3585"/>
                  <a:gd name="T81" fmla="*/ 1084 h 1207"/>
                  <a:gd name="T82" fmla="*/ 3108 w 3585"/>
                  <a:gd name="T83" fmla="*/ 1034 h 1207"/>
                  <a:gd name="T84" fmla="*/ 3402 w 3585"/>
                  <a:gd name="T85" fmla="*/ 1140 h 1207"/>
                  <a:gd name="T86" fmla="*/ 3280 w 3585"/>
                  <a:gd name="T87" fmla="*/ 1100 h 1207"/>
                  <a:gd name="T88" fmla="*/ 3579 w 3585"/>
                  <a:gd name="T89" fmla="*/ 1191 h 1207"/>
                  <a:gd name="T90" fmla="*/ 3467 w 3585"/>
                  <a:gd name="T91" fmla="*/ 1170 h 12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585"/>
                  <a:gd name="T139" fmla="*/ 0 h 1207"/>
                  <a:gd name="T140" fmla="*/ 3585 w 3585"/>
                  <a:gd name="T141" fmla="*/ 1207 h 120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585" h="1207">
                    <a:moveTo>
                      <a:pt x="12" y="2"/>
                    </a:moveTo>
                    <a:lnTo>
                      <a:pt x="118" y="37"/>
                    </a:lnTo>
                    <a:cubicBezTo>
                      <a:pt x="122" y="38"/>
                      <a:pt x="124" y="43"/>
                      <a:pt x="123" y="47"/>
                    </a:cubicBezTo>
                    <a:cubicBezTo>
                      <a:pt x="122" y="51"/>
                      <a:pt x="117" y="54"/>
                      <a:pt x="113" y="52"/>
                    </a:cubicBezTo>
                    <a:lnTo>
                      <a:pt x="7" y="17"/>
                    </a:lnTo>
                    <a:cubicBezTo>
                      <a:pt x="2" y="15"/>
                      <a:pt x="0" y="11"/>
                      <a:pt x="2" y="7"/>
                    </a:cubicBezTo>
                    <a:cubicBezTo>
                      <a:pt x="3" y="2"/>
                      <a:pt x="7" y="0"/>
                      <a:pt x="12" y="2"/>
                    </a:cubicBezTo>
                    <a:close/>
                    <a:moveTo>
                      <a:pt x="194" y="62"/>
                    </a:moveTo>
                    <a:lnTo>
                      <a:pt x="300" y="98"/>
                    </a:lnTo>
                    <a:cubicBezTo>
                      <a:pt x="304" y="99"/>
                      <a:pt x="307" y="104"/>
                      <a:pt x="305" y="108"/>
                    </a:cubicBezTo>
                    <a:cubicBezTo>
                      <a:pt x="304" y="112"/>
                      <a:pt x="299" y="114"/>
                      <a:pt x="295" y="113"/>
                    </a:cubicBezTo>
                    <a:lnTo>
                      <a:pt x="189" y="77"/>
                    </a:lnTo>
                    <a:cubicBezTo>
                      <a:pt x="185" y="76"/>
                      <a:pt x="182" y="72"/>
                      <a:pt x="184" y="67"/>
                    </a:cubicBezTo>
                    <a:cubicBezTo>
                      <a:pt x="185" y="63"/>
                      <a:pt x="190" y="61"/>
                      <a:pt x="194" y="62"/>
                    </a:cubicBezTo>
                    <a:close/>
                    <a:moveTo>
                      <a:pt x="376" y="123"/>
                    </a:moveTo>
                    <a:lnTo>
                      <a:pt x="482" y="158"/>
                    </a:lnTo>
                    <a:cubicBezTo>
                      <a:pt x="486" y="160"/>
                      <a:pt x="489" y="164"/>
                      <a:pt x="487" y="169"/>
                    </a:cubicBezTo>
                    <a:cubicBezTo>
                      <a:pt x="486" y="173"/>
                      <a:pt x="481" y="175"/>
                      <a:pt x="477" y="174"/>
                    </a:cubicBezTo>
                    <a:lnTo>
                      <a:pt x="371" y="138"/>
                    </a:lnTo>
                    <a:cubicBezTo>
                      <a:pt x="367" y="137"/>
                      <a:pt x="364" y="132"/>
                      <a:pt x="366" y="128"/>
                    </a:cubicBezTo>
                    <a:cubicBezTo>
                      <a:pt x="367" y="124"/>
                      <a:pt x="372" y="122"/>
                      <a:pt x="376" y="123"/>
                    </a:cubicBezTo>
                    <a:close/>
                    <a:moveTo>
                      <a:pt x="558" y="184"/>
                    </a:moveTo>
                    <a:lnTo>
                      <a:pt x="664" y="219"/>
                    </a:lnTo>
                    <a:cubicBezTo>
                      <a:pt x="669" y="221"/>
                      <a:pt x="671" y="225"/>
                      <a:pt x="669" y="229"/>
                    </a:cubicBezTo>
                    <a:cubicBezTo>
                      <a:pt x="668" y="233"/>
                      <a:pt x="664" y="236"/>
                      <a:pt x="659" y="234"/>
                    </a:cubicBezTo>
                    <a:lnTo>
                      <a:pt x="553" y="199"/>
                    </a:lnTo>
                    <a:cubicBezTo>
                      <a:pt x="549" y="197"/>
                      <a:pt x="547" y="193"/>
                      <a:pt x="548" y="189"/>
                    </a:cubicBezTo>
                    <a:cubicBezTo>
                      <a:pt x="549" y="185"/>
                      <a:pt x="554" y="182"/>
                      <a:pt x="558" y="184"/>
                    </a:cubicBezTo>
                    <a:close/>
                    <a:moveTo>
                      <a:pt x="740" y="244"/>
                    </a:moveTo>
                    <a:lnTo>
                      <a:pt x="847" y="280"/>
                    </a:lnTo>
                    <a:cubicBezTo>
                      <a:pt x="851" y="281"/>
                      <a:pt x="853" y="286"/>
                      <a:pt x="852" y="290"/>
                    </a:cubicBezTo>
                    <a:cubicBezTo>
                      <a:pt x="850" y="294"/>
                      <a:pt x="846" y="296"/>
                      <a:pt x="841" y="295"/>
                    </a:cubicBezTo>
                    <a:lnTo>
                      <a:pt x="735" y="260"/>
                    </a:lnTo>
                    <a:cubicBezTo>
                      <a:pt x="731" y="258"/>
                      <a:pt x="729" y="254"/>
                      <a:pt x="730" y="249"/>
                    </a:cubicBezTo>
                    <a:cubicBezTo>
                      <a:pt x="732" y="245"/>
                      <a:pt x="736" y="243"/>
                      <a:pt x="740" y="244"/>
                    </a:cubicBezTo>
                    <a:close/>
                    <a:moveTo>
                      <a:pt x="922" y="305"/>
                    </a:moveTo>
                    <a:lnTo>
                      <a:pt x="1029" y="341"/>
                    </a:lnTo>
                    <a:cubicBezTo>
                      <a:pt x="1033" y="342"/>
                      <a:pt x="1035" y="346"/>
                      <a:pt x="1034" y="351"/>
                    </a:cubicBezTo>
                    <a:cubicBezTo>
                      <a:pt x="1032" y="355"/>
                      <a:pt x="1028" y="357"/>
                      <a:pt x="1024" y="356"/>
                    </a:cubicBezTo>
                    <a:lnTo>
                      <a:pt x="917" y="320"/>
                    </a:lnTo>
                    <a:cubicBezTo>
                      <a:pt x="913" y="319"/>
                      <a:pt x="911" y="314"/>
                      <a:pt x="912" y="310"/>
                    </a:cubicBezTo>
                    <a:cubicBezTo>
                      <a:pt x="914" y="306"/>
                      <a:pt x="918" y="304"/>
                      <a:pt x="922" y="305"/>
                    </a:cubicBezTo>
                    <a:close/>
                    <a:moveTo>
                      <a:pt x="1105" y="366"/>
                    </a:moveTo>
                    <a:lnTo>
                      <a:pt x="1211" y="401"/>
                    </a:lnTo>
                    <a:cubicBezTo>
                      <a:pt x="1215" y="403"/>
                      <a:pt x="1217" y="407"/>
                      <a:pt x="1216" y="411"/>
                    </a:cubicBezTo>
                    <a:cubicBezTo>
                      <a:pt x="1214" y="416"/>
                      <a:pt x="1210" y="418"/>
                      <a:pt x="1206" y="416"/>
                    </a:cubicBezTo>
                    <a:lnTo>
                      <a:pt x="1100" y="381"/>
                    </a:lnTo>
                    <a:cubicBezTo>
                      <a:pt x="1095" y="380"/>
                      <a:pt x="1093" y="375"/>
                      <a:pt x="1094" y="371"/>
                    </a:cubicBezTo>
                    <a:cubicBezTo>
                      <a:pt x="1096" y="367"/>
                      <a:pt x="1100" y="364"/>
                      <a:pt x="1105" y="366"/>
                    </a:cubicBezTo>
                    <a:close/>
                    <a:moveTo>
                      <a:pt x="1287" y="427"/>
                    </a:moveTo>
                    <a:lnTo>
                      <a:pt x="1393" y="462"/>
                    </a:lnTo>
                    <a:cubicBezTo>
                      <a:pt x="1397" y="463"/>
                      <a:pt x="1399" y="468"/>
                      <a:pt x="1398" y="472"/>
                    </a:cubicBezTo>
                    <a:cubicBezTo>
                      <a:pt x="1397" y="476"/>
                      <a:pt x="1392" y="479"/>
                      <a:pt x="1388" y="477"/>
                    </a:cubicBezTo>
                    <a:lnTo>
                      <a:pt x="1282" y="442"/>
                    </a:lnTo>
                    <a:cubicBezTo>
                      <a:pt x="1277" y="440"/>
                      <a:pt x="1275" y="436"/>
                      <a:pt x="1277" y="432"/>
                    </a:cubicBezTo>
                    <a:cubicBezTo>
                      <a:pt x="1278" y="427"/>
                      <a:pt x="1283" y="425"/>
                      <a:pt x="1287" y="427"/>
                    </a:cubicBezTo>
                    <a:close/>
                    <a:moveTo>
                      <a:pt x="1469" y="487"/>
                    </a:moveTo>
                    <a:lnTo>
                      <a:pt x="1575" y="523"/>
                    </a:lnTo>
                    <a:cubicBezTo>
                      <a:pt x="1579" y="524"/>
                      <a:pt x="1582" y="529"/>
                      <a:pt x="1580" y="533"/>
                    </a:cubicBezTo>
                    <a:cubicBezTo>
                      <a:pt x="1579" y="537"/>
                      <a:pt x="1574" y="539"/>
                      <a:pt x="1570" y="538"/>
                    </a:cubicBezTo>
                    <a:lnTo>
                      <a:pt x="1464" y="502"/>
                    </a:lnTo>
                    <a:cubicBezTo>
                      <a:pt x="1460" y="501"/>
                      <a:pt x="1457" y="497"/>
                      <a:pt x="1459" y="492"/>
                    </a:cubicBezTo>
                    <a:cubicBezTo>
                      <a:pt x="1460" y="488"/>
                      <a:pt x="1465" y="486"/>
                      <a:pt x="1469" y="487"/>
                    </a:cubicBezTo>
                    <a:close/>
                    <a:moveTo>
                      <a:pt x="1651" y="548"/>
                    </a:moveTo>
                    <a:lnTo>
                      <a:pt x="1757" y="583"/>
                    </a:lnTo>
                    <a:cubicBezTo>
                      <a:pt x="1761" y="585"/>
                      <a:pt x="1764" y="589"/>
                      <a:pt x="1762" y="594"/>
                    </a:cubicBezTo>
                    <a:cubicBezTo>
                      <a:pt x="1761" y="598"/>
                      <a:pt x="1756" y="600"/>
                      <a:pt x="1752" y="599"/>
                    </a:cubicBezTo>
                    <a:lnTo>
                      <a:pt x="1646" y="563"/>
                    </a:lnTo>
                    <a:cubicBezTo>
                      <a:pt x="1642" y="562"/>
                      <a:pt x="1639" y="557"/>
                      <a:pt x="1641" y="553"/>
                    </a:cubicBezTo>
                    <a:cubicBezTo>
                      <a:pt x="1642" y="549"/>
                      <a:pt x="1647" y="547"/>
                      <a:pt x="1651" y="548"/>
                    </a:cubicBezTo>
                    <a:close/>
                    <a:moveTo>
                      <a:pt x="1833" y="609"/>
                    </a:moveTo>
                    <a:lnTo>
                      <a:pt x="1939" y="644"/>
                    </a:lnTo>
                    <a:cubicBezTo>
                      <a:pt x="1944" y="646"/>
                      <a:pt x="1946" y="650"/>
                      <a:pt x="1944" y="654"/>
                    </a:cubicBezTo>
                    <a:cubicBezTo>
                      <a:pt x="1943" y="658"/>
                      <a:pt x="1939" y="661"/>
                      <a:pt x="1934" y="659"/>
                    </a:cubicBezTo>
                    <a:lnTo>
                      <a:pt x="1828" y="624"/>
                    </a:lnTo>
                    <a:cubicBezTo>
                      <a:pt x="1824" y="622"/>
                      <a:pt x="1822" y="618"/>
                      <a:pt x="1823" y="614"/>
                    </a:cubicBezTo>
                    <a:cubicBezTo>
                      <a:pt x="1824" y="610"/>
                      <a:pt x="1829" y="607"/>
                      <a:pt x="1833" y="609"/>
                    </a:cubicBezTo>
                    <a:close/>
                    <a:moveTo>
                      <a:pt x="2015" y="669"/>
                    </a:moveTo>
                    <a:lnTo>
                      <a:pt x="2122" y="705"/>
                    </a:lnTo>
                    <a:cubicBezTo>
                      <a:pt x="2126" y="706"/>
                      <a:pt x="2128" y="711"/>
                      <a:pt x="2127" y="715"/>
                    </a:cubicBezTo>
                    <a:cubicBezTo>
                      <a:pt x="2125" y="719"/>
                      <a:pt x="2121" y="721"/>
                      <a:pt x="2116" y="720"/>
                    </a:cubicBezTo>
                    <a:lnTo>
                      <a:pt x="2010" y="685"/>
                    </a:lnTo>
                    <a:cubicBezTo>
                      <a:pt x="2006" y="683"/>
                      <a:pt x="2004" y="679"/>
                      <a:pt x="2005" y="674"/>
                    </a:cubicBezTo>
                    <a:cubicBezTo>
                      <a:pt x="2007" y="670"/>
                      <a:pt x="2011" y="668"/>
                      <a:pt x="2015" y="669"/>
                    </a:cubicBezTo>
                    <a:close/>
                    <a:moveTo>
                      <a:pt x="2197" y="730"/>
                    </a:moveTo>
                    <a:lnTo>
                      <a:pt x="2304" y="766"/>
                    </a:lnTo>
                    <a:cubicBezTo>
                      <a:pt x="2308" y="767"/>
                      <a:pt x="2310" y="771"/>
                      <a:pt x="2309" y="776"/>
                    </a:cubicBezTo>
                    <a:cubicBezTo>
                      <a:pt x="2307" y="780"/>
                      <a:pt x="2303" y="782"/>
                      <a:pt x="2299" y="781"/>
                    </a:cubicBezTo>
                    <a:lnTo>
                      <a:pt x="2192" y="745"/>
                    </a:lnTo>
                    <a:cubicBezTo>
                      <a:pt x="2188" y="744"/>
                      <a:pt x="2186" y="739"/>
                      <a:pt x="2187" y="735"/>
                    </a:cubicBezTo>
                    <a:cubicBezTo>
                      <a:pt x="2189" y="731"/>
                      <a:pt x="2193" y="729"/>
                      <a:pt x="2197" y="730"/>
                    </a:cubicBezTo>
                    <a:close/>
                    <a:moveTo>
                      <a:pt x="2380" y="791"/>
                    </a:moveTo>
                    <a:lnTo>
                      <a:pt x="2486" y="826"/>
                    </a:lnTo>
                    <a:cubicBezTo>
                      <a:pt x="2490" y="828"/>
                      <a:pt x="2492" y="832"/>
                      <a:pt x="2491" y="836"/>
                    </a:cubicBezTo>
                    <a:cubicBezTo>
                      <a:pt x="2490" y="841"/>
                      <a:pt x="2485" y="843"/>
                      <a:pt x="2481" y="841"/>
                    </a:cubicBezTo>
                    <a:lnTo>
                      <a:pt x="2375" y="806"/>
                    </a:lnTo>
                    <a:cubicBezTo>
                      <a:pt x="2370" y="805"/>
                      <a:pt x="2368" y="800"/>
                      <a:pt x="2369" y="796"/>
                    </a:cubicBezTo>
                    <a:cubicBezTo>
                      <a:pt x="2371" y="792"/>
                      <a:pt x="2375" y="789"/>
                      <a:pt x="2380" y="791"/>
                    </a:cubicBezTo>
                    <a:close/>
                    <a:moveTo>
                      <a:pt x="2562" y="852"/>
                    </a:moveTo>
                    <a:lnTo>
                      <a:pt x="2668" y="887"/>
                    </a:lnTo>
                    <a:cubicBezTo>
                      <a:pt x="2672" y="888"/>
                      <a:pt x="2674" y="893"/>
                      <a:pt x="2673" y="897"/>
                    </a:cubicBezTo>
                    <a:cubicBezTo>
                      <a:pt x="2672" y="901"/>
                      <a:pt x="2667" y="904"/>
                      <a:pt x="2663" y="902"/>
                    </a:cubicBezTo>
                    <a:lnTo>
                      <a:pt x="2557" y="867"/>
                    </a:lnTo>
                    <a:cubicBezTo>
                      <a:pt x="2552" y="865"/>
                      <a:pt x="2550" y="861"/>
                      <a:pt x="2552" y="857"/>
                    </a:cubicBezTo>
                    <a:cubicBezTo>
                      <a:pt x="2553" y="852"/>
                      <a:pt x="2558" y="850"/>
                      <a:pt x="2562" y="852"/>
                    </a:cubicBezTo>
                    <a:close/>
                    <a:moveTo>
                      <a:pt x="2744" y="912"/>
                    </a:moveTo>
                    <a:lnTo>
                      <a:pt x="2850" y="948"/>
                    </a:lnTo>
                    <a:cubicBezTo>
                      <a:pt x="2854" y="949"/>
                      <a:pt x="2857" y="954"/>
                      <a:pt x="2855" y="958"/>
                    </a:cubicBezTo>
                    <a:cubicBezTo>
                      <a:pt x="2854" y="962"/>
                      <a:pt x="2849" y="964"/>
                      <a:pt x="2845" y="963"/>
                    </a:cubicBezTo>
                    <a:lnTo>
                      <a:pt x="2739" y="927"/>
                    </a:lnTo>
                    <a:cubicBezTo>
                      <a:pt x="2735" y="926"/>
                      <a:pt x="2732" y="922"/>
                      <a:pt x="2734" y="917"/>
                    </a:cubicBezTo>
                    <a:cubicBezTo>
                      <a:pt x="2735" y="913"/>
                      <a:pt x="2740" y="911"/>
                      <a:pt x="2744" y="912"/>
                    </a:cubicBezTo>
                    <a:close/>
                    <a:moveTo>
                      <a:pt x="2926" y="973"/>
                    </a:moveTo>
                    <a:lnTo>
                      <a:pt x="3032" y="1008"/>
                    </a:lnTo>
                    <a:cubicBezTo>
                      <a:pt x="3036" y="1010"/>
                      <a:pt x="3039" y="1014"/>
                      <a:pt x="3037" y="1019"/>
                    </a:cubicBezTo>
                    <a:cubicBezTo>
                      <a:pt x="3036" y="1023"/>
                      <a:pt x="3031" y="1025"/>
                      <a:pt x="3027" y="1024"/>
                    </a:cubicBezTo>
                    <a:lnTo>
                      <a:pt x="2921" y="988"/>
                    </a:lnTo>
                    <a:cubicBezTo>
                      <a:pt x="2917" y="987"/>
                      <a:pt x="2915" y="982"/>
                      <a:pt x="2916" y="978"/>
                    </a:cubicBezTo>
                    <a:cubicBezTo>
                      <a:pt x="2917" y="974"/>
                      <a:pt x="2922" y="972"/>
                      <a:pt x="2926" y="973"/>
                    </a:cubicBezTo>
                    <a:close/>
                    <a:moveTo>
                      <a:pt x="3108" y="1034"/>
                    </a:moveTo>
                    <a:lnTo>
                      <a:pt x="3214" y="1069"/>
                    </a:lnTo>
                    <a:cubicBezTo>
                      <a:pt x="3219" y="1071"/>
                      <a:pt x="3221" y="1075"/>
                      <a:pt x="3219" y="1079"/>
                    </a:cubicBezTo>
                    <a:cubicBezTo>
                      <a:pt x="3218" y="1083"/>
                      <a:pt x="3214" y="1086"/>
                      <a:pt x="3209" y="1084"/>
                    </a:cubicBezTo>
                    <a:lnTo>
                      <a:pt x="3103" y="1049"/>
                    </a:lnTo>
                    <a:cubicBezTo>
                      <a:pt x="3099" y="1048"/>
                      <a:pt x="3097" y="1043"/>
                      <a:pt x="3098" y="1039"/>
                    </a:cubicBezTo>
                    <a:cubicBezTo>
                      <a:pt x="3099" y="1035"/>
                      <a:pt x="3104" y="1032"/>
                      <a:pt x="3108" y="1034"/>
                    </a:cubicBezTo>
                    <a:close/>
                    <a:moveTo>
                      <a:pt x="3290" y="1094"/>
                    </a:moveTo>
                    <a:lnTo>
                      <a:pt x="3397" y="1130"/>
                    </a:lnTo>
                    <a:cubicBezTo>
                      <a:pt x="3401" y="1131"/>
                      <a:pt x="3403" y="1136"/>
                      <a:pt x="3402" y="1140"/>
                    </a:cubicBezTo>
                    <a:cubicBezTo>
                      <a:pt x="3400" y="1144"/>
                      <a:pt x="3396" y="1146"/>
                      <a:pt x="3392" y="1145"/>
                    </a:cubicBezTo>
                    <a:lnTo>
                      <a:pt x="3285" y="1110"/>
                    </a:lnTo>
                    <a:cubicBezTo>
                      <a:pt x="3281" y="1108"/>
                      <a:pt x="3279" y="1104"/>
                      <a:pt x="3280" y="1100"/>
                    </a:cubicBezTo>
                    <a:cubicBezTo>
                      <a:pt x="3282" y="1095"/>
                      <a:pt x="3286" y="1093"/>
                      <a:pt x="3290" y="1094"/>
                    </a:cubicBezTo>
                    <a:close/>
                    <a:moveTo>
                      <a:pt x="3472" y="1155"/>
                    </a:moveTo>
                    <a:lnTo>
                      <a:pt x="3579" y="1191"/>
                    </a:lnTo>
                    <a:cubicBezTo>
                      <a:pt x="3583" y="1192"/>
                      <a:pt x="3585" y="1197"/>
                      <a:pt x="3584" y="1201"/>
                    </a:cubicBezTo>
                    <a:cubicBezTo>
                      <a:pt x="3582" y="1205"/>
                      <a:pt x="3578" y="1207"/>
                      <a:pt x="3574" y="1206"/>
                    </a:cubicBezTo>
                    <a:lnTo>
                      <a:pt x="3467" y="1170"/>
                    </a:lnTo>
                    <a:cubicBezTo>
                      <a:pt x="3463" y="1169"/>
                      <a:pt x="3461" y="1164"/>
                      <a:pt x="3462" y="1160"/>
                    </a:cubicBezTo>
                    <a:cubicBezTo>
                      <a:pt x="3464" y="1156"/>
                      <a:pt x="3468" y="1154"/>
                      <a:pt x="3472" y="1155"/>
                    </a:cubicBezTo>
                    <a:close/>
                  </a:path>
                </a:pathLst>
              </a:custGeom>
              <a:solidFill>
                <a:srgbClr val="000000"/>
              </a:solidFill>
              <a:ln w="19050">
                <a:solidFill>
                  <a:srgbClr val="000000"/>
                </a:solidFill>
                <a:bevel/>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4" name="Freeform 24"/>
              <p:cNvSpPr>
                <a:spLocks/>
              </p:cNvSpPr>
              <p:nvPr/>
            </p:nvSpPr>
            <p:spPr bwMode="auto">
              <a:xfrm>
                <a:off x="677" y="1247"/>
                <a:ext cx="1360" cy="558"/>
              </a:xfrm>
              <a:custGeom>
                <a:avLst/>
                <a:gdLst>
                  <a:gd name="T0" fmla="*/ 1360 w 1360"/>
                  <a:gd name="T1" fmla="*/ 454 h 558"/>
                  <a:gd name="T2" fmla="*/ 0 w 1360"/>
                  <a:gd name="T3" fmla="*/ 0 h 558"/>
                  <a:gd name="T4" fmla="*/ 0 60000 65536"/>
                  <a:gd name="T5" fmla="*/ 0 60000 65536"/>
                  <a:gd name="T6" fmla="*/ 0 w 1360"/>
                  <a:gd name="T7" fmla="*/ 0 h 558"/>
                  <a:gd name="T8" fmla="*/ 1360 w 1360"/>
                  <a:gd name="T9" fmla="*/ 558 h 558"/>
                </a:gdLst>
                <a:ahLst/>
                <a:cxnLst>
                  <a:cxn ang="T4">
                    <a:pos x="T0" y="T1"/>
                  </a:cxn>
                  <a:cxn ang="T5">
                    <a:pos x="T2" y="T3"/>
                  </a:cxn>
                </a:cxnLst>
                <a:rect l="T6" t="T7" r="T8" b="T9"/>
                <a:pathLst>
                  <a:path w="1360" h="558">
                    <a:moveTo>
                      <a:pt x="1360" y="454"/>
                    </a:moveTo>
                    <a:cubicBezTo>
                      <a:pt x="859" y="558"/>
                      <a:pt x="339" y="385"/>
                      <a:pt x="0" y="0"/>
                    </a:cubicBezTo>
                  </a:path>
                </a:pathLst>
              </a:cu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35" name="Rectangle 25"/>
            <p:cNvSpPr>
              <a:spLocks noChangeArrowheads="1"/>
            </p:cNvSpPr>
            <p:nvPr/>
          </p:nvSpPr>
          <p:spPr bwMode="auto">
            <a:xfrm>
              <a:off x="1261" y="1769"/>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endParaRPr kumimoji="0" lang="en-US" altLang="zh-CN" sz="3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136" name="Group 26"/>
            <p:cNvGrpSpPr>
              <a:grpSpLocks/>
            </p:cNvGrpSpPr>
            <p:nvPr/>
          </p:nvGrpSpPr>
          <p:grpSpPr bwMode="auto">
            <a:xfrm>
              <a:off x="649" y="2068"/>
              <a:ext cx="1361" cy="227"/>
              <a:chOff x="677" y="2041"/>
              <a:chExt cx="1361" cy="227"/>
            </a:xfrm>
          </p:grpSpPr>
          <p:sp>
            <p:nvSpPr>
              <p:cNvPr id="137" name="Line 27"/>
              <p:cNvSpPr>
                <a:spLocks noChangeShapeType="1"/>
              </p:cNvSpPr>
              <p:nvPr/>
            </p:nvSpPr>
            <p:spPr bwMode="auto">
              <a:xfrm>
                <a:off x="677" y="2267"/>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8" name="Line 28"/>
              <p:cNvSpPr>
                <a:spLocks noChangeShapeType="1"/>
              </p:cNvSpPr>
              <p:nvPr/>
            </p:nvSpPr>
            <p:spPr bwMode="auto">
              <a:xfrm>
                <a:off x="2037" y="2041"/>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9" name="Line 29"/>
              <p:cNvSpPr>
                <a:spLocks noChangeShapeType="1"/>
              </p:cNvSpPr>
              <p:nvPr/>
            </p:nvSpPr>
            <p:spPr bwMode="auto">
              <a:xfrm flipV="1">
                <a:off x="677" y="2041"/>
                <a:ext cx="1360"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145" name="Group 30"/>
          <p:cNvGrpSpPr>
            <a:grpSpLocks/>
          </p:cNvGrpSpPr>
          <p:nvPr/>
        </p:nvGrpSpPr>
        <p:grpSpPr bwMode="auto">
          <a:xfrm>
            <a:off x="3965578" y="2521553"/>
            <a:ext cx="1834525" cy="1298353"/>
            <a:chOff x="2301" y="1247"/>
            <a:chExt cx="1370" cy="1039"/>
          </a:xfrm>
        </p:grpSpPr>
        <p:grpSp>
          <p:nvGrpSpPr>
            <p:cNvPr id="146" name="Group 31"/>
            <p:cNvGrpSpPr>
              <a:grpSpLocks/>
            </p:cNvGrpSpPr>
            <p:nvPr/>
          </p:nvGrpSpPr>
          <p:grpSpPr bwMode="auto">
            <a:xfrm>
              <a:off x="2310" y="1247"/>
              <a:ext cx="1361" cy="454"/>
              <a:chOff x="2310" y="1247"/>
              <a:chExt cx="1361" cy="454"/>
            </a:xfrm>
          </p:grpSpPr>
          <p:sp>
            <p:nvSpPr>
              <p:cNvPr id="152" name="Line 32"/>
              <p:cNvSpPr>
                <a:spLocks noChangeShapeType="1"/>
              </p:cNvSpPr>
              <p:nvPr/>
            </p:nvSpPr>
            <p:spPr bwMode="auto">
              <a:xfrm>
                <a:off x="2310" y="1474"/>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3" name="Line 33"/>
              <p:cNvSpPr>
                <a:spLocks noChangeShapeType="1"/>
              </p:cNvSpPr>
              <p:nvPr/>
            </p:nvSpPr>
            <p:spPr bwMode="auto">
              <a:xfrm>
                <a:off x="2310" y="1247"/>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4" name="Line 34"/>
              <p:cNvSpPr>
                <a:spLocks noChangeShapeType="1"/>
              </p:cNvSpPr>
              <p:nvPr/>
            </p:nvSpPr>
            <p:spPr bwMode="auto">
              <a:xfrm>
                <a:off x="3670" y="1474"/>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5" name="Line 35"/>
              <p:cNvSpPr>
                <a:spLocks noChangeShapeType="1"/>
              </p:cNvSpPr>
              <p:nvPr/>
            </p:nvSpPr>
            <p:spPr bwMode="auto">
              <a:xfrm>
                <a:off x="2310" y="1247"/>
                <a:ext cx="1360" cy="454"/>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47" name="Rectangle 36"/>
            <p:cNvSpPr>
              <a:spLocks noChangeArrowheads="1"/>
            </p:cNvSpPr>
            <p:nvPr/>
          </p:nvSpPr>
          <p:spPr bwMode="auto">
            <a:xfrm>
              <a:off x="2854" y="1769"/>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endParaRPr kumimoji="0" lang="en-US" altLang="zh-CN" sz="3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148" name="Group 37"/>
            <p:cNvGrpSpPr>
              <a:grpSpLocks/>
            </p:cNvGrpSpPr>
            <p:nvPr/>
          </p:nvGrpSpPr>
          <p:grpSpPr bwMode="auto">
            <a:xfrm>
              <a:off x="2301" y="2059"/>
              <a:ext cx="1361" cy="227"/>
              <a:chOff x="2310" y="2041"/>
              <a:chExt cx="1361" cy="227"/>
            </a:xfrm>
          </p:grpSpPr>
          <p:sp>
            <p:nvSpPr>
              <p:cNvPr id="149" name="Line 38"/>
              <p:cNvSpPr>
                <a:spLocks noChangeShapeType="1"/>
              </p:cNvSpPr>
              <p:nvPr/>
            </p:nvSpPr>
            <p:spPr bwMode="auto">
              <a:xfrm>
                <a:off x="2310" y="2267"/>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0" name="Line 39"/>
              <p:cNvSpPr>
                <a:spLocks noChangeShapeType="1"/>
              </p:cNvSpPr>
              <p:nvPr/>
            </p:nvSpPr>
            <p:spPr bwMode="auto">
              <a:xfrm>
                <a:off x="3670" y="2041"/>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1" name="Line 40"/>
              <p:cNvSpPr>
                <a:spLocks noChangeShapeType="1"/>
              </p:cNvSpPr>
              <p:nvPr/>
            </p:nvSpPr>
            <p:spPr bwMode="auto">
              <a:xfrm flipV="1">
                <a:off x="2310" y="2041"/>
                <a:ext cx="1360"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156" name="Group 41"/>
          <p:cNvGrpSpPr>
            <a:grpSpLocks/>
          </p:cNvGrpSpPr>
          <p:nvPr/>
        </p:nvGrpSpPr>
        <p:grpSpPr bwMode="auto">
          <a:xfrm>
            <a:off x="6535741" y="2881915"/>
            <a:ext cx="1822473" cy="992197"/>
            <a:chOff x="3920" y="1474"/>
            <a:chExt cx="1361" cy="794"/>
          </a:xfrm>
        </p:grpSpPr>
        <p:grpSp>
          <p:nvGrpSpPr>
            <p:cNvPr id="157" name="Group 42"/>
            <p:cNvGrpSpPr>
              <a:grpSpLocks/>
            </p:cNvGrpSpPr>
            <p:nvPr/>
          </p:nvGrpSpPr>
          <p:grpSpPr bwMode="auto">
            <a:xfrm>
              <a:off x="3920" y="1474"/>
              <a:ext cx="1360" cy="258"/>
              <a:chOff x="3920" y="1474"/>
              <a:chExt cx="1360" cy="258"/>
            </a:xfrm>
          </p:grpSpPr>
          <p:sp>
            <p:nvSpPr>
              <p:cNvPr id="163" name="Freeform 43"/>
              <p:cNvSpPr>
                <a:spLocks/>
              </p:cNvSpPr>
              <p:nvPr/>
            </p:nvSpPr>
            <p:spPr bwMode="auto">
              <a:xfrm>
                <a:off x="3920" y="1474"/>
                <a:ext cx="1360" cy="258"/>
              </a:xfrm>
              <a:custGeom>
                <a:avLst/>
                <a:gdLst>
                  <a:gd name="T0" fmla="*/ 1360 w 1360"/>
                  <a:gd name="T1" fmla="*/ 0 h 258"/>
                  <a:gd name="T2" fmla="*/ 0 w 1360"/>
                  <a:gd name="T3" fmla="*/ 0 h 258"/>
                  <a:gd name="T4" fmla="*/ 0 60000 65536"/>
                  <a:gd name="T5" fmla="*/ 0 60000 65536"/>
                  <a:gd name="T6" fmla="*/ 0 w 1360"/>
                  <a:gd name="T7" fmla="*/ 0 h 258"/>
                  <a:gd name="T8" fmla="*/ 1360 w 1360"/>
                  <a:gd name="T9" fmla="*/ 258 h 258"/>
                </a:gdLst>
                <a:ahLst/>
                <a:cxnLst>
                  <a:cxn ang="T4">
                    <a:pos x="T0" y="T1"/>
                  </a:cxn>
                  <a:cxn ang="T5">
                    <a:pos x="T2" y="T3"/>
                  </a:cxn>
                </a:cxnLst>
                <a:rect l="T6" t="T7" r="T8" b="T9"/>
                <a:pathLst>
                  <a:path w="1360" h="258">
                    <a:moveTo>
                      <a:pt x="1360" y="0"/>
                    </a:moveTo>
                    <a:cubicBezTo>
                      <a:pt x="940" y="258"/>
                      <a:pt x="420" y="258"/>
                      <a:pt x="0" y="0"/>
                    </a:cubicBezTo>
                  </a:path>
                </a:pathLst>
              </a:cu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4" name="Line 44"/>
              <p:cNvSpPr>
                <a:spLocks noChangeShapeType="1"/>
              </p:cNvSpPr>
              <p:nvPr/>
            </p:nvSpPr>
            <p:spPr bwMode="auto">
              <a:xfrm>
                <a:off x="3920" y="1474"/>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58" name="Rectangle 45"/>
            <p:cNvSpPr>
              <a:spLocks noChangeArrowheads="1"/>
            </p:cNvSpPr>
            <p:nvPr/>
          </p:nvSpPr>
          <p:spPr bwMode="auto">
            <a:xfrm>
              <a:off x="4504" y="1769"/>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p>
          </p:txBody>
        </p:sp>
        <p:grpSp>
          <p:nvGrpSpPr>
            <p:cNvPr id="159" name="Group 46"/>
            <p:cNvGrpSpPr>
              <a:grpSpLocks/>
            </p:cNvGrpSpPr>
            <p:nvPr/>
          </p:nvGrpSpPr>
          <p:grpSpPr bwMode="auto">
            <a:xfrm>
              <a:off x="3920" y="2041"/>
              <a:ext cx="1361" cy="227"/>
              <a:chOff x="3920" y="2041"/>
              <a:chExt cx="1361" cy="227"/>
            </a:xfrm>
          </p:grpSpPr>
          <p:sp>
            <p:nvSpPr>
              <p:cNvPr id="160" name="Line 47"/>
              <p:cNvSpPr>
                <a:spLocks noChangeShapeType="1"/>
              </p:cNvSpPr>
              <p:nvPr/>
            </p:nvSpPr>
            <p:spPr bwMode="auto">
              <a:xfrm>
                <a:off x="3920" y="2267"/>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1" name="Line 48"/>
              <p:cNvSpPr>
                <a:spLocks noChangeShapeType="1"/>
              </p:cNvSpPr>
              <p:nvPr/>
            </p:nvSpPr>
            <p:spPr bwMode="auto">
              <a:xfrm>
                <a:off x="5280" y="2041"/>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62" name="Line 49"/>
              <p:cNvSpPr>
                <a:spLocks noChangeShapeType="1"/>
              </p:cNvSpPr>
              <p:nvPr/>
            </p:nvSpPr>
            <p:spPr bwMode="auto">
              <a:xfrm flipV="1">
                <a:off x="3920" y="2041"/>
                <a:ext cx="1360"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sp>
        <p:nvSpPr>
          <p:cNvPr id="165" name="AutoShape 50"/>
          <p:cNvSpPr>
            <a:spLocks noChangeAspect="1" noChangeArrowheads="1" noTextEdit="1"/>
          </p:cNvSpPr>
          <p:nvPr/>
        </p:nvSpPr>
        <p:spPr bwMode="auto">
          <a:xfrm>
            <a:off x="1214068" y="4127513"/>
            <a:ext cx="6448445" cy="1928819"/>
          </a:xfrm>
          <a:prstGeom prst="rect">
            <a:avLst/>
          </a:prstGeom>
          <a:noFill/>
          <a:ln w="9525">
            <a:noFill/>
            <a:miter lim="800000"/>
            <a:headEnd/>
            <a:tailEnd/>
          </a:ln>
        </p:spPr>
        <p:txBody>
          <a:bodyP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6" name="Rectangle 51"/>
          <p:cNvSpPr>
            <a:spLocks noChangeArrowheads="1"/>
          </p:cNvSpPr>
          <p:nvPr/>
        </p:nvSpPr>
        <p:spPr bwMode="auto">
          <a:xfrm>
            <a:off x="6000760" y="5224983"/>
            <a:ext cx="190931" cy="461665"/>
          </a:xfrm>
          <a:prstGeom prst="rect">
            <a:avLst/>
          </a:prstGeom>
          <a:noFill/>
          <a:ln w="9525">
            <a:noFill/>
            <a:miter lim="800000"/>
            <a:headEnd/>
            <a:tailEnd/>
          </a:ln>
        </p:spPr>
        <p:txBody>
          <a:bodyPr wrap="square" lIns="0" tIns="0" rIns="0" bIns="0">
            <a:spAutoFit/>
          </a:bodyPr>
          <a:lstStyle/>
          <a:p>
            <a:pPr algn="l" rtl="0" fontAlgn="base">
              <a:spcBef>
                <a:spcPct val="0"/>
              </a:spcBef>
              <a:spcAft>
                <a:spcPct val="0"/>
              </a:spcAft>
            </a:pPr>
            <a:r>
              <a:rPr lang="en-US" altLang="zh-CN" sz="3000" b="1" kern="1200">
                <a:solidFill>
                  <a:srgbClr val="000000"/>
                </a:solidFill>
                <a:latin typeface="Times New Roman" pitchFamily="18" charset="0"/>
                <a:ea typeface="宋体" charset="-122"/>
                <a:cs typeface="+mn-cs"/>
              </a:rPr>
              <a:t>+</a:t>
            </a:r>
            <a:endParaRPr lang="en-US" altLang="zh-CN" sz="3000" kern="1200">
              <a:solidFill>
                <a:srgbClr val="000000"/>
              </a:solidFill>
              <a:latin typeface="Times New Roman" pitchFamily="18" charset="0"/>
              <a:ea typeface="宋体" charset="-122"/>
              <a:cs typeface="+mn-cs"/>
            </a:endParaRPr>
          </a:p>
        </p:txBody>
      </p:sp>
      <p:sp>
        <p:nvSpPr>
          <p:cNvPr id="167" name="Rectangle 52"/>
          <p:cNvSpPr>
            <a:spLocks noChangeArrowheads="1"/>
          </p:cNvSpPr>
          <p:nvPr/>
        </p:nvSpPr>
        <p:spPr bwMode="auto">
          <a:xfrm>
            <a:off x="3455118" y="5181913"/>
            <a:ext cx="190930" cy="461665"/>
          </a:xfrm>
          <a:prstGeom prst="rect">
            <a:avLst/>
          </a:prstGeom>
          <a:noFill/>
          <a:ln w="9525">
            <a:noFill/>
            <a:miter lim="800000"/>
            <a:headEnd/>
            <a:tailEnd/>
          </a:ln>
        </p:spPr>
        <p:txBody>
          <a:bodyPr wrap="square" lIns="0" tIns="0" rIns="0" bIns="0">
            <a:spAutoFit/>
          </a:bodyPr>
          <a:lstStyle/>
          <a:p>
            <a:pPr algn="l" rtl="0" fontAlgn="base">
              <a:spcBef>
                <a:spcPct val="0"/>
              </a:spcBef>
              <a:spcAft>
                <a:spcPct val="0"/>
              </a:spcAft>
            </a:pPr>
            <a:r>
              <a:rPr lang="en-US" altLang="zh-CN" sz="3000" b="1" kern="1200">
                <a:solidFill>
                  <a:srgbClr val="000000"/>
                </a:solidFill>
                <a:latin typeface="Times New Roman" pitchFamily="18" charset="0"/>
                <a:ea typeface="宋体" charset="-122"/>
                <a:cs typeface="+mn-cs"/>
              </a:rPr>
              <a:t>=</a:t>
            </a:r>
          </a:p>
        </p:txBody>
      </p:sp>
      <p:grpSp>
        <p:nvGrpSpPr>
          <p:cNvPr id="168" name="Group 53"/>
          <p:cNvGrpSpPr>
            <a:grpSpLocks/>
          </p:cNvGrpSpPr>
          <p:nvPr/>
        </p:nvGrpSpPr>
        <p:grpSpPr bwMode="auto">
          <a:xfrm>
            <a:off x="6432182" y="4989435"/>
            <a:ext cx="1926032" cy="1124048"/>
            <a:chOff x="3990" y="3151"/>
            <a:chExt cx="1382" cy="928"/>
          </a:xfrm>
        </p:grpSpPr>
        <p:grpSp>
          <p:nvGrpSpPr>
            <p:cNvPr id="169" name="Group 54"/>
            <p:cNvGrpSpPr>
              <a:grpSpLocks/>
            </p:cNvGrpSpPr>
            <p:nvPr/>
          </p:nvGrpSpPr>
          <p:grpSpPr bwMode="auto">
            <a:xfrm>
              <a:off x="4012" y="3151"/>
              <a:ext cx="1360" cy="363"/>
              <a:chOff x="4003" y="3078"/>
              <a:chExt cx="1360" cy="363"/>
            </a:xfrm>
          </p:grpSpPr>
          <p:sp>
            <p:nvSpPr>
              <p:cNvPr id="176" name="Freeform 55"/>
              <p:cNvSpPr>
                <a:spLocks/>
              </p:cNvSpPr>
              <p:nvPr/>
            </p:nvSpPr>
            <p:spPr bwMode="auto">
              <a:xfrm>
                <a:off x="4003" y="3078"/>
                <a:ext cx="1360" cy="363"/>
              </a:xfrm>
              <a:custGeom>
                <a:avLst/>
                <a:gdLst>
                  <a:gd name="T0" fmla="*/ 1360 w 1360"/>
                  <a:gd name="T1" fmla="*/ 0 h 363"/>
                  <a:gd name="T2" fmla="*/ 0 w 1360"/>
                  <a:gd name="T3" fmla="*/ 0 h 363"/>
                  <a:gd name="T4" fmla="*/ 0 60000 65536"/>
                  <a:gd name="T5" fmla="*/ 0 60000 65536"/>
                  <a:gd name="T6" fmla="*/ 0 w 1360"/>
                  <a:gd name="T7" fmla="*/ 0 h 363"/>
                  <a:gd name="T8" fmla="*/ 1360 w 1360"/>
                  <a:gd name="T9" fmla="*/ 363 h 363"/>
                </a:gdLst>
                <a:ahLst/>
                <a:cxnLst>
                  <a:cxn ang="T4">
                    <a:pos x="T0" y="T1"/>
                  </a:cxn>
                  <a:cxn ang="T5">
                    <a:pos x="T2" y="T3"/>
                  </a:cxn>
                </a:cxnLst>
                <a:rect l="T6" t="T7" r="T8" b="T9"/>
                <a:pathLst>
                  <a:path w="1360" h="363">
                    <a:moveTo>
                      <a:pt x="1360" y="0"/>
                    </a:moveTo>
                    <a:cubicBezTo>
                      <a:pt x="940" y="363"/>
                      <a:pt x="420" y="363"/>
                      <a:pt x="0" y="0"/>
                    </a:cubicBezTo>
                  </a:path>
                </a:pathLst>
              </a:cu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7" name="Line 56"/>
              <p:cNvSpPr>
                <a:spLocks noChangeShapeType="1"/>
              </p:cNvSpPr>
              <p:nvPr/>
            </p:nvSpPr>
            <p:spPr bwMode="auto">
              <a:xfrm>
                <a:off x="4003" y="3078"/>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70" name="Rectangle 57"/>
            <p:cNvSpPr>
              <a:spLocks noChangeArrowheads="1"/>
            </p:cNvSpPr>
            <p:nvPr/>
          </p:nvSpPr>
          <p:spPr bwMode="auto">
            <a:xfrm>
              <a:off x="4542" y="3401"/>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endParaRPr kumimoji="0" lang="en-US" altLang="zh-CN" sz="3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171" name="Group 58"/>
            <p:cNvGrpSpPr>
              <a:grpSpLocks/>
            </p:cNvGrpSpPr>
            <p:nvPr/>
          </p:nvGrpSpPr>
          <p:grpSpPr bwMode="auto">
            <a:xfrm>
              <a:off x="3990" y="3626"/>
              <a:ext cx="1362" cy="453"/>
              <a:chOff x="3980" y="3645"/>
              <a:chExt cx="1362" cy="453"/>
            </a:xfrm>
          </p:grpSpPr>
          <p:sp>
            <p:nvSpPr>
              <p:cNvPr id="172" name="Line 59"/>
              <p:cNvSpPr>
                <a:spLocks noChangeShapeType="1"/>
              </p:cNvSpPr>
              <p:nvPr/>
            </p:nvSpPr>
            <p:spPr bwMode="auto">
              <a:xfrm>
                <a:off x="3980" y="3872"/>
                <a:ext cx="1361"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3" name="Line 60"/>
              <p:cNvSpPr>
                <a:spLocks noChangeShapeType="1"/>
              </p:cNvSpPr>
              <p:nvPr/>
            </p:nvSpPr>
            <p:spPr bwMode="auto">
              <a:xfrm>
                <a:off x="3980" y="3645"/>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4" name="Line 61"/>
              <p:cNvSpPr>
                <a:spLocks noChangeShapeType="1"/>
              </p:cNvSpPr>
              <p:nvPr/>
            </p:nvSpPr>
            <p:spPr bwMode="auto">
              <a:xfrm>
                <a:off x="5341" y="3872"/>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5" name="Line 62"/>
              <p:cNvSpPr>
                <a:spLocks noChangeShapeType="1"/>
              </p:cNvSpPr>
              <p:nvPr/>
            </p:nvSpPr>
            <p:spPr bwMode="auto">
              <a:xfrm>
                <a:off x="3980" y="3645"/>
                <a:ext cx="1361" cy="453"/>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178" name="Group 63"/>
          <p:cNvGrpSpPr>
            <a:grpSpLocks/>
          </p:cNvGrpSpPr>
          <p:nvPr/>
        </p:nvGrpSpPr>
        <p:grpSpPr bwMode="auto">
          <a:xfrm>
            <a:off x="1299793" y="4583543"/>
            <a:ext cx="1900946" cy="1560101"/>
            <a:chOff x="757" y="2810"/>
            <a:chExt cx="1364" cy="1288"/>
          </a:xfrm>
        </p:grpSpPr>
        <p:sp>
          <p:nvSpPr>
            <p:cNvPr id="179" name="Rectangle 64"/>
            <p:cNvSpPr>
              <a:spLocks noChangeArrowheads="1"/>
            </p:cNvSpPr>
            <p:nvPr/>
          </p:nvSpPr>
          <p:spPr bwMode="auto">
            <a:xfrm>
              <a:off x="1372" y="3319"/>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endParaRPr kumimoji="0" lang="en-US" altLang="zh-CN" sz="3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180" name="Group 65"/>
            <p:cNvGrpSpPr>
              <a:grpSpLocks/>
            </p:cNvGrpSpPr>
            <p:nvPr/>
          </p:nvGrpSpPr>
          <p:grpSpPr bwMode="auto">
            <a:xfrm>
              <a:off x="760" y="3645"/>
              <a:ext cx="1361" cy="453"/>
              <a:chOff x="760" y="3645"/>
              <a:chExt cx="1361" cy="453"/>
            </a:xfrm>
          </p:grpSpPr>
          <p:sp>
            <p:nvSpPr>
              <p:cNvPr id="187" name="Line 66"/>
              <p:cNvSpPr>
                <a:spLocks noChangeShapeType="1"/>
              </p:cNvSpPr>
              <p:nvPr/>
            </p:nvSpPr>
            <p:spPr bwMode="auto">
              <a:xfrm>
                <a:off x="760" y="3872"/>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8" name="Line 67"/>
              <p:cNvSpPr>
                <a:spLocks noChangeShapeType="1"/>
              </p:cNvSpPr>
              <p:nvPr/>
            </p:nvSpPr>
            <p:spPr bwMode="auto">
              <a:xfrm>
                <a:off x="760" y="3645"/>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9" name="Line 68"/>
              <p:cNvSpPr>
                <a:spLocks noChangeShapeType="1"/>
              </p:cNvSpPr>
              <p:nvPr/>
            </p:nvSpPr>
            <p:spPr bwMode="auto">
              <a:xfrm>
                <a:off x="2120" y="3872"/>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0" name="Line 69"/>
              <p:cNvSpPr>
                <a:spLocks noChangeShapeType="1"/>
              </p:cNvSpPr>
              <p:nvPr/>
            </p:nvSpPr>
            <p:spPr bwMode="auto">
              <a:xfrm>
                <a:off x="760" y="3645"/>
                <a:ext cx="1360" cy="453"/>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81" name="Group 70"/>
            <p:cNvGrpSpPr>
              <a:grpSpLocks/>
            </p:cNvGrpSpPr>
            <p:nvPr/>
          </p:nvGrpSpPr>
          <p:grpSpPr bwMode="auto">
            <a:xfrm>
              <a:off x="757" y="2810"/>
              <a:ext cx="1364" cy="550"/>
              <a:chOff x="757" y="2737"/>
              <a:chExt cx="1364" cy="550"/>
            </a:xfrm>
          </p:grpSpPr>
          <p:sp>
            <p:nvSpPr>
              <p:cNvPr id="182" name="Line 71"/>
              <p:cNvSpPr>
                <a:spLocks noChangeShapeType="1"/>
              </p:cNvSpPr>
              <p:nvPr/>
            </p:nvSpPr>
            <p:spPr bwMode="auto">
              <a:xfrm>
                <a:off x="760" y="3078"/>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3" name="Line 72"/>
              <p:cNvSpPr>
                <a:spLocks noChangeShapeType="1"/>
              </p:cNvSpPr>
              <p:nvPr/>
            </p:nvSpPr>
            <p:spPr bwMode="auto">
              <a:xfrm>
                <a:off x="760" y="2852"/>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4" name="Freeform 73"/>
              <p:cNvSpPr>
                <a:spLocks/>
              </p:cNvSpPr>
              <p:nvPr/>
            </p:nvSpPr>
            <p:spPr bwMode="auto">
              <a:xfrm>
                <a:off x="760" y="2738"/>
                <a:ext cx="1360" cy="549"/>
              </a:xfrm>
              <a:custGeom>
                <a:avLst/>
                <a:gdLst>
                  <a:gd name="T0" fmla="*/ 1360 w 1360"/>
                  <a:gd name="T1" fmla="*/ 0 h 549"/>
                  <a:gd name="T2" fmla="*/ 0 w 1360"/>
                  <a:gd name="T3" fmla="*/ 114 h 549"/>
                  <a:gd name="T4" fmla="*/ 0 60000 65536"/>
                  <a:gd name="T5" fmla="*/ 0 60000 65536"/>
                  <a:gd name="T6" fmla="*/ 0 w 1360"/>
                  <a:gd name="T7" fmla="*/ 0 h 549"/>
                  <a:gd name="T8" fmla="*/ 1360 w 1360"/>
                  <a:gd name="T9" fmla="*/ 549 h 549"/>
                </a:gdLst>
                <a:ahLst/>
                <a:cxnLst>
                  <a:cxn ang="T4">
                    <a:pos x="T0" y="T1"/>
                  </a:cxn>
                  <a:cxn ang="T5">
                    <a:pos x="T2" y="T3"/>
                  </a:cxn>
                </a:cxnLst>
                <a:rect l="T6" t="T7" r="T8" b="T9"/>
                <a:pathLst>
                  <a:path w="1360" h="549">
                    <a:moveTo>
                      <a:pt x="1360" y="0"/>
                    </a:moveTo>
                    <a:cubicBezTo>
                      <a:pt x="979" y="505"/>
                      <a:pt x="460" y="549"/>
                      <a:pt x="0" y="114"/>
                    </a:cubicBezTo>
                  </a:path>
                </a:pathLst>
              </a:cu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5" name="Line 74"/>
              <p:cNvSpPr>
                <a:spLocks noChangeShapeType="1"/>
              </p:cNvSpPr>
              <p:nvPr/>
            </p:nvSpPr>
            <p:spPr bwMode="auto">
              <a:xfrm flipV="1">
                <a:off x="2120" y="2738"/>
                <a:ext cx="1" cy="340"/>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6" name="Freeform 75"/>
              <p:cNvSpPr>
                <a:spLocks noEditPoints="1"/>
              </p:cNvSpPr>
              <p:nvPr/>
            </p:nvSpPr>
            <p:spPr bwMode="auto">
              <a:xfrm>
                <a:off x="757" y="2737"/>
                <a:ext cx="1339" cy="118"/>
              </a:xfrm>
              <a:custGeom>
                <a:avLst/>
                <a:gdLst>
                  <a:gd name="T0" fmla="*/ 128 w 3572"/>
                  <a:gd name="T1" fmla="*/ 295 h 313"/>
                  <a:gd name="T2" fmla="*/ 0 w 3572"/>
                  <a:gd name="T3" fmla="*/ 305 h 313"/>
                  <a:gd name="T4" fmla="*/ 310 w 3572"/>
                  <a:gd name="T5" fmla="*/ 271 h 313"/>
                  <a:gd name="T6" fmla="*/ 200 w 3572"/>
                  <a:gd name="T7" fmla="*/ 297 h 313"/>
                  <a:gd name="T8" fmla="*/ 390 w 3572"/>
                  <a:gd name="T9" fmla="*/ 265 h 313"/>
                  <a:gd name="T10" fmla="*/ 503 w 3572"/>
                  <a:gd name="T11" fmla="*/ 271 h 313"/>
                  <a:gd name="T12" fmla="*/ 390 w 3572"/>
                  <a:gd name="T13" fmla="*/ 265 h 313"/>
                  <a:gd name="T14" fmla="*/ 702 w 3572"/>
                  <a:gd name="T15" fmla="*/ 247 h 313"/>
                  <a:gd name="T16" fmla="*/ 574 w 3572"/>
                  <a:gd name="T17" fmla="*/ 257 h 313"/>
                  <a:gd name="T18" fmla="*/ 884 w 3572"/>
                  <a:gd name="T19" fmla="*/ 223 h 313"/>
                  <a:gd name="T20" fmla="*/ 774 w 3572"/>
                  <a:gd name="T21" fmla="*/ 249 h 313"/>
                  <a:gd name="T22" fmla="*/ 964 w 3572"/>
                  <a:gd name="T23" fmla="*/ 217 h 313"/>
                  <a:gd name="T24" fmla="*/ 1077 w 3572"/>
                  <a:gd name="T25" fmla="*/ 223 h 313"/>
                  <a:gd name="T26" fmla="*/ 964 w 3572"/>
                  <a:gd name="T27" fmla="*/ 217 h 313"/>
                  <a:gd name="T28" fmla="*/ 1276 w 3572"/>
                  <a:gd name="T29" fmla="*/ 199 h 313"/>
                  <a:gd name="T30" fmla="*/ 1148 w 3572"/>
                  <a:gd name="T31" fmla="*/ 210 h 313"/>
                  <a:gd name="T32" fmla="*/ 1458 w 3572"/>
                  <a:gd name="T33" fmla="*/ 176 h 313"/>
                  <a:gd name="T34" fmla="*/ 1348 w 3572"/>
                  <a:gd name="T35" fmla="*/ 201 h 313"/>
                  <a:gd name="T36" fmla="*/ 1538 w 3572"/>
                  <a:gd name="T37" fmla="*/ 169 h 313"/>
                  <a:gd name="T38" fmla="*/ 1651 w 3572"/>
                  <a:gd name="T39" fmla="*/ 176 h 313"/>
                  <a:gd name="T40" fmla="*/ 1538 w 3572"/>
                  <a:gd name="T41" fmla="*/ 169 h 313"/>
                  <a:gd name="T42" fmla="*/ 1850 w 3572"/>
                  <a:gd name="T43" fmla="*/ 151 h 313"/>
                  <a:gd name="T44" fmla="*/ 1722 w 3572"/>
                  <a:gd name="T45" fmla="*/ 162 h 313"/>
                  <a:gd name="T46" fmla="*/ 2032 w 3572"/>
                  <a:gd name="T47" fmla="*/ 128 h 313"/>
                  <a:gd name="T48" fmla="*/ 1922 w 3572"/>
                  <a:gd name="T49" fmla="*/ 153 h 313"/>
                  <a:gd name="T50" fmla="*/ 2112 w 3572"/>
                  <a:gd name="T51" fmla="*/ 121 h 313"/>
                  <a:gd name="T52" fmla="*/ 2225 w 3572"/>
                  <a:gd name="T53" fmla="*/ 128 h 313"/>
                  <a:gd name="T54" fmla="*/ 2112 w 3572"/>
                  <a:gd name="T55" fmla="*/ 121 h 313"/>
                  <a:gd name="T56" fmla="*/ 2424 w 3572"/>
                  <a:gd name="T57" fmla="*/ 103 h 313"/>
                  <a:gd name="T58" fmla="*/ 2296 w 3572"/>
                  <a:gd name="T59" fmla="*/ 114 h 313"/>
                  <a:gd name="T60" fmla="*/ 2606 w 3572"/>
                  <a:gd name="T61" fmla="*/ 80 h 313"/>
                  <a:gd name="T62" fmla="*/ 2496 w 3572"/>
                  <a:gd name="T63" fmla="*/ 105 h 313"/>
                  <a:gd name="T64" fmla="*/ 2686 w 3572"/>
                  <a:gd name="T65" fmla="*/ 73 h 313"/>
                  <a:gd name="T66" fmla="*/ 2799 w 3572"/>
                  <a:gd name="T67" fmla="*/ 80 h 313"/>
                  <a:gd name="T68" fmla="*/ 2686 w 3572"/>
                  <a:gd name="T69" fmla="*/ 73 h 313"/>
                  <a:gd name="T70" fmla="*/ 2998 w 3572"/>
                  <a:gd name="T71" fmla="*/ 55 h 313"/>
                  <a:gd name="T72" fmla="*/ 2870 w 3572"/>
                  <a:gd name="T73" fmla="*/ 66 h 313"/>
                  <a:gd name="T74" fmla="*/ 3180 w 3572"/>
                  <a:gd name="T75" fmla="*/ 32 h 313"/>
                  <a:gd name="T76" fmla="*/ 3070 w 3572"/>
                  <a:gd name="T77" fmla="*/ 57 h 313"/>
                  <a:gd name="T78" fmla="*/ 3260 w 3572"/>
                  <a:gd name="T79" fmla="*/ 25 h 313"/>
                  <a:gd name="T80" fmla="*/ 3373 w 3572"/>
                  <a:gd name="T81" fmla="*/ 32 h 313"/>
                  <a:gd name="T82" fmla="*/ 3260 w 3572"/>
                  <a:gd name="T83" fmla="*/ 25 h 313"/>
                  <a:gd name="T84" fmla="*/ 3572 w 3572"/>
                  <a:gd name="T85" fmla="*/ 8 h 313"/>
                  <a:gd name="T86" fmla="*/ 3444 w 3572"/>
                  <a:gd name="T87" fmla="*/ 18 h 3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572"/>
                  <a:gd name="T133" fmla="*/ 0 h 313"/>
                  <a:gd name="T134" fmla="*/ 3572 w 3572"/>
                  <a:gd name="T135" fmla="*/ 313 h 3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572" h="313">
                    <a:moveTo>
                      <a:pt x="7" y="297"/>
                    </a:moveTo>
                    <a:lnTo>
                      <a:pt x="119" y="287"/>
                    </a:lnTo>
                    <a:cubicBezTo>
                      <a:pt x="124" y="287"/>
                      <a:pt x="127" y="290"/>
                      <a:pt x="128" y="295"/>
                    </a:cubicBezTo>
                    <a:cubicBezTo>
                      <a:pt x="128" y="299"/>
                      <a:pt x="125" y="303"/>
                      <a:pt x="120" y="303"/>
                    </a:cubicBezTo>
                    <a:lnTo>
                      <a:pt x="9" y="312"/>
                    </a:lnTo>
                    <a:cubicBezTo>
                      <a:pt x="4" y="313"/>
                      <a:pt x="1" y="310"/>
                      <a:pt x="0" y="305"/>
                    </a:cubicBezTo>
                    <a:cubicBezTo>
                      <a:pt x="0" y="301"/>
                      <a:pt x="3" y="297"/>
                      <a:pt x="7" y="297"/>
                    </a:cubicBezTo>
                    <a:close/>
                    <a:moveTo>
                      <a:pt x="199" y="281"/>
                    </a:moveTo>
                    <a:lnTo>
                      <a:pt x="310" y="271"/>
                    </a:lnTo>
                    <a:cubicBezTo>
                      <a:pt x="315" y="271"/>
                      <a:pt x="319" y="274"/>
                      <a:pt x="319" y="279"/>
                    </a:cubicBezTo>
                    <a:cubicBezTo>
                      <a:pt x="319" y="283"/>
                      <a:pt x="316" y="287"/>
                      <a:pt x="312" y="287"/>
                    </a:cubicBezTo>
                    <a:lnTo>
                      <a:pt x="200" y="297"/>
                    </a:lnTo>
                    <a:cubicBezTo>
                      <a:pt x="196" y="297"/>
                      <a:pt x="192" y="294"/>
                      <a:pt x="192" y="289"/>
                    </a:cubicBezTo>
                    <a:cubicBezTo>
                      <a:pt x="191" y="285"/>
                      <a:pt x="194" y="281"/>
                      <a:pt x="199" y="281"/>
                    </a:cubicBezTo>
                    <a:close/>
                    <a:moveTo>
                      <a:pt x="390" y="265"/>
                    </a:moveTo>
                    <a:lnTo>
                      <a:pt x="502" y="255"/>
                    </a:lnTo>
                    <a:cubicBezTo>
                      <a:pt x="506" y="255"/>
                      <a:pt x="510" y="258"/>
                      <a:pt x="510" y="263"/>
                    </a:cubicBezTo>
                    <a:cubicBezTo>
                      <a:pt x="511" y="267"/>
                      <a:pt x="508" y="271"/>
                      <a:pt x="503" y="271"/>
                    </a:cubicBezTo>
                    <a:lnTo>
                      <a:pt x="391" y="281"/>
                    </a:lnTo>
                    <a:cubicBezTo>
                      <a:pt x="387" y="281"/>
                      <a:pt x="383" y="278"/>
                      <a:pt x="383" y="273"/>
                    </a:cubicBezTo>
                    <a:cubicBezTo>
                      <a:pt x="382" y="269"/>
                      <a:pt x="386" y="265"/>
                      <a:pt x="390" y="265"/>
                    </a:cubicBezTo>
                    <a:close/>
                    <a:moveTo>
                      <a:pt x="581" y="249"/>
                    </a:moveTo>
                    <a:lnTo>
                      <a:pt x="693" y="239"/>
                    </a:lnTo>
                    <a:cubicBezTo>
                      <a:pt x="698" y="239"/>
                      <a:pt x="701" y="242"/>
                      <a:pt x="702" y="247"/>
                    </a:cubicBezTo>
                    <a:cubicBezTo>
                      <a:pt x="702" y="251"/>
                      <a:pt x="699" y="255"/>
                      <a:pt x="694" y="255"/>
                    </a:cubicBezTo>
                    <a:lnTo>
                      <a:pt x="583" y="265"/>
                    </a:lnTo>
                    <a:cubicBezTo>
                      <a:pt x="578" y="265"/>
                      <a:pt x="575" y="262"/>
                      <a:pt x="574" y="257"/>
                    </a:cubicBezTo>
                    <a:cubicBezTo>
                      <a:pt x="574" y="253"/>
                      <a:pt x="577" y="249"/>
                      <a:pt x="581" y="249"/>
                    </a:cubicBezTo>
                    <a:close/>
                    <a:moveTo>
                      <a:pt x="773" y="233"/>
                    </a:moveTo>
                    <a:lnTo>
                      <a:pt x="884" y="223"/>
                    </a:lnTo>
                    <a:cubicBezTo>
                      <a:pt x="889" y="223"/>
                      <a:pt x="893" y="226"/>
                      <a:pt x="893" y="231"/>
                    </a:cubicBezTo>
                    <a:cubicBezTo>
                      <a:pt x="893" y="235"/>
                      <a:pt x="890" y="239"/>
                      <a:pt x="886" y="239"/>
                    </a:cubicBezTo>
                    <a:lnTo>
                      <a:pt x="774" y="249"/>
                    </a:lnTo>
                    <a:cubicBezTo>
                      <a:pt x="770" y="249"/>
                      <a:pt x="766" y="246"/>
                      <a:pt x="766" y="241"/>
                    </a:cubicBezTo>
                    <a:cubicBezTo>
                      <a:pt x="765" y="237"/>
                      <a:pt x="768" y="233"/>
                      <a:pt x="773" y="233"/>
                    </a:cubicBezTo>
                    <a:close/>
                    <a:moveTo>
                      <a:pt x="964" y="217"/>
                    </a:moveTo>
                    <a:lnTo>
                      <a:pt x="1076" y="208"/>
                    </a:lnTo>
                    <a:cubicBezTo>
                      <a:pt x="1080" y="207"/>
                      <a:pt x="1084" y="210"/>
                      <a:pt x="1084" y="215"/>
                    </a:cubicBezTo>
                    <a:cubicBezTo>
                      <a:pt x="1085" y="219"/>
                      <a:pt x="1082" y="223"/>
                      <a:pt x="1077" y="223"/>
                    </a:cubicBezTo>
                    <a:lnTo>
                      <a:pt x="965" y="233"/>
                    </a:lnTo>
                    <a:cubicBezTo>
                      <a:pt x="961" y="233"/>
                      <a:pt x="957" y="230"/>
                      <a:pt x="957" y="225"/>
                    </a:cubicBezTo>
                    <a:cubicBezTo>
                      <a:pt x="956" y="221"/>
                      <a:pt x="960" y="217"/>
                      <a:pt x="964" y="217"/>
                    </a:cubicBezTo>
                    <a:close/>
                    <a:moveTo>
                      <a:pt x="1156" y="201"/>
                    </a:moveTo>
                    <a:lnTo>
                      <a:pt x="1267" y="192"/>
                    </a:lnTo>
                    <a:cubicBezTo>
                      <a:pt x="1272" y="191"/>
                      <a:pt x="1275" y="194"/>
                      <a:pt x="1276" y="199"/>
                    </a:cubicBezTo>
                    <a:cubicBezTo>
                      <a:pt x="1276" y="203"/>
                      <a:pt x="1273" y="207"/>
                      <a:pt x="1268" y="208"/>
                    </a:cubicBezTo>
                    <a:lnTo>
                      <a:pt x="1157" y="217"/>
                    </a:lnTo>
                    <a:cubicBezTo>
                      <a:pt x="1152" y="217"/>
                      <a:pt x="1149" y="214"/>
                      <a:pt x="1148" y="210"/>
                    </a:cubicBezTo>
                    <a:cubicBezTo>
                      <a:pt x="1148" y="205"/>
                      <a:pt x="1151" y="201"/>
                      <a:pt x="1156" y="201"/>
                    </a:cubicBezTo>
                    <a:close/>
                    <a:moveTo>
                      <a:pt x="1347" y="185"/>
                    </a:moveTo>
                    <a:lnTo>
                      <a:pt x="1458" y="176"/>
                    </a:lnTo>
                    <a:cubicBezTo>
                      <a:pt x="1463" y="175"/>
                      <a:pt x="1467" y="179"/>
                      <a:pt x="1467" y="183"/>
                    </a:cubicBezTo>
                    <a:cubicBezTo>
                      <a:pt x="1467" y="187"/>
                      <a:pt x="1464" y="191"/>
                      <a:pt x="1460" y="192"/>
                    </a:cubicBezTo>
                    <a:lnTo>
                      <a:pt x="1348" y="201"/>
                    </a:lnTo>
                    <a:cubicBezTo>
                      <a:pt x="1344" y="201"/>
                      <a:pt x="1340" y="198"/>
                      <a:pt x="1340" y="194"/>
                    </a:cubicBezTo>
                    <a:cubicBezTo>
                      <a:pt x="1339" y="189"/>
                      <a:pt x="1342" y="185"/>
                      <a:pt x="1347" y="185"/>
                    </a:cubicBezTo>
                    <a:close/>
                    <a:moveTo>
                      <a:pt x="1538" y="169"/>
                    </a:moveTo>
                    <a:lnTo>
                      <a:pt x="1650" y="160"/>
                    </a:lnTo>
                    <a:cubicBezTo>
                      <a:pt x="1654" y="159"/>
                      <a:pt x="1658" y="163"/>
                      <a:pt x="1658" y="167"/>
                    </a:cubicBezTo>
                    <a:cubicBezTo>
                      <a:pt x="1659" y="171"/>
                      <a:pt x="1656" y="175"/>
                      <a:pt x="1651" y="176"/>
                    </a:cubicBezTo>
                    <a:lnTo>
                      <a:pt x="1540" y="185"/>
                    </a:lnTo>
                    <a:cubicBezTo>
                      <a:pt x="1535" y="185"/>
                      <a:pt x="1531" y="182"/>
                      <a:pt x="1531" y="178"/>
                    </a:cubicBezTo>
                    <a:cubicBezTo>
                      <a:pt x="1531" y="173"/>
                      <a:pt x="1534" y="169"/>
                      <a:pt x="1538" y="169"/>
                    </a:cubicBezTo>
                    <a:close/>
                    <a:moveTo>
                      <a:pt x="1730" y="153"/>
                    </a:moveTo>
                    <a:lnTo>
                      <a:pt x="1841" y="144"/>
                    </a:lnTo>
                    <a:cubicBezTo>
                      <a:pt x="1846" y="143"/>
                      <a:pt x="1849" y="147"/>
                      <a:pt x="1850" y="151"/>
                    </a:cubicBezTo>
                    <a:cubicBezTo>
                      <a:pt x="1850" y="155"/>
                      <a:pt x="1847" y="159"/>
                      <a:pt x="1842" y="160"/>
                    </a:cubicBezTo>
                    <a:lnTo>
                      <a:pt x="1731" y="169"/>
                    </a:lnTo>
                    <a:cubicBezTo>
                      <a:pt x="1726" y="169"/>
                      <a:pt x="1723" y="166"/>
                      <a:pt x="1722" y="162"/>
                    </a:cubicBezTo>
                    <a:cubicBezTo>
                      <a:pt x="1722" y="157"/>
                      <a:pt x="1725" y="153"/>
                      <a:pt x="1730" y="153"/>
                    </a:cubicBezTo>
                    <a:close/>
                    <a:moveTo>
                      <a:pt x="1921" y="137"/>
                    </a:moveTo>
                    <a:lnTo>
                      <a:pt x="2032" y="128"/>
                    </a:lnTo>
                    <a:cubicBezTo>
                      <a:pt x="2037" y="127"/>
                      <a:pt x="2041" y="131"/>
                      <a:pt x="2041" y="135"/>
                    </a:cubicBezTo>
                    <a:cubicBezTo>
                      <a:pt x="2041" y="140"/>
                      <a:pt x="2038" y="143"/>
                      <a:pt x="2034" y="144"/>
                    </a:cubicBezTo>
                    <a:lnTo>
                      <a:pt x="1922" y="153"/>
                    </a:lnTo>
                    <a:cubicBezTo>
                      <a:pt x="1918" y="153"/>
                      <a:pt x="1914" y="150"/>
                      <a:pt x="1914" y="146"/>
                    </a:cubicBezTo>
                    <a:cubicBezTo>
                      <a:pt x="1913" y="141"/>
                      <a:pt x="1916" y="137"/>
                      <a:pt x="1921" y="137"/>
                    </a:cubicBezTo>
                    <a:close/>
                    <a:moveTo>
                      <a:pt x="2112" y="121"/>
                    </a:moveTo>
                    <a:lnTo>
                      <a:pt x="2224" y="112"/>
                    </a:lnTo>
                    <a:cubicBezTo>
                      <a:pt x="2228" y="111"/>
                      <a:pt x="2232" y="115"/>
                      <a:pt x="2232" y="119"/>
                    </a:cubicBezTo>
                    <a:cubicBezTo>
                      <a:pt x="2233" y="124"/>
                      <a:pt x="2230" y="127"/>
                      <a:pt x="2225" y="128"/>
                    </a:cubicBezTo>
                    <a:lnTo>
                      <a:pt x="2114" y="137"/>
                    </a:lnTo>
                    <a:cubicBezTo>
                      <a:pt x="2109" y="137"/>
                      <a:pt x="2105" y="134"/>
                      <a:pt x="2105" y="130"/>
                    </a:cubicBezTo>
                    <a:cubicBezTo>
                      <a:pt x="2105" y="125"/>
                      <a:pt x="2108" y="122"/>
                      <a:pt x="2112" y="121"/>
                    </a:cubicBezTo>
                    <a:close/>
                    <a:moveTo>
                      <a:pt x="2304" y="105"/>
                    </a:moveTo>
                    <a:lnTo>
                      <a:pt x="2415" y="96"/>
                    </a:lnTo>
                    <a:cubicBezTo>
                      <a:pt x="2420" y="96"/>
                      <a:pt x="2423" y="99"/>
                      <a:pt x="2424" y="103"/>
                    </a:cubicBezTo>
                    <a:cubicBezTo>
                      <a:pt x="2424" y="108"/>
                      <a:pt x="2421" y="111"/>
                      <a:pt x="2416" y="112"/>
                    </a:cubicBezTo>
                    <a:lnTo>
                      <a:pt x="2305" y="121"/>
                    </a:lnTo>
                    <a:cubicBezTo>
                      <a:pt x="2300" y="122"/>
                      <a:pt x="2297" y="118"/>
                      <a:pt x="2296" y="114"/>
                    </a:cubicBezTo>
                    <a:cubicBezTo>
                      <a:pt x="2296" y="109"/>
                      <a:pt x="2299" y="106"/>
                      <a:pt x="2304" y="105"/>
                    </a:cubicBezTo>
                    <a:close/>
                    <a:moveTo>
                      <a:pt x="2495" y="89"/>
                    </a:moveTo>
                    <a:lnTo>
                      <a:pt x="2606" y="80"/>
                    </a:lnTo>
                    <a:cubicBezTo>
                      <a:pt x="2611" y="80"/>
                      <a:pt x="2615" y="83"/>
                      <a:pt x="2615" y="87"/>
                    </a:cubicBezTo>
                    <a:cubicBezTo>
                      <a:pt x="2615" y="92"/>
                      <a:pt x="2612" y="96"/>
                      <a:pt x="2608" y="96"/>
                    </a:cubicBezTo>
                    <a:lnTo>
                      <a:pt x="2496" y="105"/>
                    </a:lnTo>
                    <a:cubicBezTo>
                      <a:pt x="2492" y="106"/>
                      <a:pt x="2488" y="102"/>
                      <a:pt x="2488" y="98"/>
                    </a:cubicBezTo>
                    <a:cubicBezTo>
                      <a:pt x="2487" y="93"/>
                      <a:pt x="2490" y="90"/>
                      <a:pt x="2495" y="89"/>
                    </a:cubicBezTo>
                    <a:close/>
                    <a:moveTo>
                      <a:pt x="2686" y="73"/>
                    </a:moveTo>
                    <a:lnTo>
                      <a:pt x="2798" y="64"/>
                    </a:lnTo>
                    <a:cubicBezTo>
                      <a:pt x="2802" y="64"/>
                      <a:pt x="2806" y="67"/>
                      <a:pt x="2806" y="71"/>
                    </a:cubicBezTo>
                    <a:cubicBezTo>
                      <a:pt x="2807" y="76"/>
                      <a:pt x="2804" y="80"/>
                      <a:pt x="2799" y="80"/>
                    </a:cubicBezTo>
                    <a:lnTo>
                      <a:pt x="2688" y="89"/>
                    </a:lnTo>
                    <a:cubicBezTo>
                      <a:pt x="2683" y="90"/>
                      <a:pt x="2679" y="86"/>
                      <a:pt x="2679" y="82"/>
                    </a:cubicBezTo>
                    <a:cubicBezTo>
                      <a:pt x="2679" y="78"/>
                      <a:pt x="2682" y="74"/>
                      <a:pt x="2686" y="73"/>
                    </a:cubicBezTo>
                    <a:close/>
                    <a:moveTo>
                      <a:pt x="2878" y="57"/>
                    </a:moveTo>
                    <a:lnTo>
                      <a:pt x="2989" y="48"/>
                    </a:lnTo>
                    <a:cubicBezTo>
                      <a:pt x="2994" y="48"/>
                      <a:pt x="2997" y="51"/>
                      <a:pt x="2998" y="55"/>
                    </a:cubicBezTo>
                    <a:cubicBezTo>
                      <a:pt x="2998" y="60"/>
                      <a:pt x="2995" y="64"/>
                      <a:pt x="2990" y="64"/>
                    </a:cubicBezTo>
                    <a:lnTo>
                      <a:pt x="2879" y="73"/>
                    </a:lnTo>
                    <a:cubicBezTo>
                      <a:pt x="2874" y="74"/>
                      <a:pt x="2871" y="70"/>
                      <a:pt x="2870" y="66"/>
                    </a:cubicBezTo>
                    <a:cubicBezTo>
                      <a:pt x="2870" y="62"/>
                      <a:pt x="2873" y="58"/>
                      <a:pt x="2878" y="57"/>
                    </a:cubicBezTo>
                    <a:close/>
                    <a:moveTo>
                      <a:pt x="3069" y="41"/>
                    </a:moveTo>
                    <a:lnTo>
                      <a:pt x="3180" y="32"/>
                    </a:lnTo>
                    <a:cubicBezTo>
                      <a:pt x="3185" y="32"/>
                      <a:pt x="3189" y="35"/>
                      <a:pt x="3189" y="39"/>
                    </a:cubicBezTo>
                    <a:cubicBezTo>
                      <a:pt x="3189" y="44"/>
                      <a:pt x="3186" y="48"/>
                      <a:pt x="3182" y="48"/>
                    </a:cubicBezTo>
                    <a:lnTo>
                      <a:pt x="3070" y="57"/>
                    </a:lnTo>
                    <a:cubicBezTo>
                      <a:pt x="3066" y="58"/>
                      <a:pt x="3062" y="54"/>
                      <a:pt x="3062" y="50"/>
                    </a:cubicBezTo>
                    <a:cubicBezTo>
                      <a:pt x="3061" y="46"/>
                      <a:pt x="3064" y="42"/>
                      <a:pt x="3069" y="41"/>
                    </a:cubicBezTo>
                    <a:close/>
                    <a:moveTo>
                      <a:pt x="3260" y="25"/>
                    </a:moveTo>
                    <a:lnTo>
                      <a:pt x="3372" y="16"/>
                    </a:lnTo>
                    <a:cubicBezTo>
                      <a:pt x="3376" y="16"/>
                      <a:pt x="3380" y="19"/>
                      <a:pt x="3380" y="23"/>
                    </a:cubicBezTo>
                    <a:cubicBezTo>
                      <a:pt x="3381" y="28"/>
                      <a:pt x="3378" y="32"/>
                      <a:pt x="3373" y="32"/>
                    </a:cubicBezTo>
                    <a:lnTo>
                      <a:pt x="3262" y="41"/>
                    </a:lnTo>
                    <a:cubicBezTo>
                      <a:pt x="3257" y="42"/>
                      <a:pt x="3253" y="39"/>
                      <a:pt x="3253" y="34"/>
                    </a:cubicBezTo>
                    <a:cubicBezTo>
                      <a:pt x="3253" y="30"/>
                      <a:pt x="3256" y="26"/>
                      <a:pt x="3260" y="25"/>
                    </a:cubicBezTo>
                    <a:close/>
                    <a:moveTo>
                      <a:pt x="3452" y="10"/>
                    </a:moveTo>
                    <a:lnTo>
                      <a:pt x="3563" y="0"/>
                    </a:lnTo>
                    <a:cubicBezTo>
                      <a:pt x="3568" y="0"/>
                      <a:pt x="3571" y="3"/>
                      <a:pt x="3572" y="8"/>
                    </a:cubicBezTo>
                    <a:cubicBezTo>
                      <a:pt x="3572" y="12"/>
                      <a:pt x="3569" y="16"/>
                      <a:pt x="3564" y="16"/>
                    </a:cubicBezTo>
                    <a:lnTo>
                      <a:pt x="3453" y="25"/>
                    </a:lnTo>
                    <a:cubicBezTo>
                      <a:pt x="3448" y="26"/>
                      <a:pt x="3445" y="23"/>
                      <a:pt x="3444" y="18"/>
                    </a:cubicBezTo>
                    <a:cubicBezTo>
                      <a:pt x="3444" y="14"/>
                      <a:pt x="3447" y="10"/>
                      <a:pt x="3452" y="10"/>
                    </a:cubicBezTo>
                    <a:close/>
                  </a:path>
                </a:pathLst>
              </a:custGeom>
              <a:solidFill>
                <a:srgbClr val="000000"/>
              </a:solidFill>
              <a:ln w="19050">
                <a:solidFill>
                  <a:srgbClr val="000000"/>
                </a:solidFill>
                <a:bevel/>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191" name="Group 76"/>
          <p:cNvGrpSpPr>
            <a:grpSpLocks/>
          </p:cNvGrpSpPr>
          <p:nvPr/>
        </p:nvGrpSpPr>
        <p:grpSpPr bwMode="auto">
          <a:xfrm>
            <a:off x="3896943" y="4573853"/>
            <a:ext cx="1896766" cy="1569791"/>
            <a:chOff x="2393" y="2802"/>
            <a:chExt cx="1361" cy="1296"/>
          </a:xfrm>
        </p:grpSpPr>
        <p:sp>
          <p:nvSpPr>
            <p:cNvPr id="192" name="Rectangle 77"/>
            <p:cNvSpPr>
              <a:spLocks noChangeArrowheads="1"/>
            </p:cNvSpPr>
            <p:nvPr/>
          </p:nvSpPr>
          <p:spPr bwMode="auto">
            <a:xfrm>
              <a:off x="2974" y="3337"/>
              <a:ext cx="241" cy="28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1" i="0" u="none" strike="noStrike" kern="1200" cap="none" spc="0" normalizeH="0" baseline="0" noProof="0">
                  <a:ln>
                    <a:noFill/>
                  </a:ln>
                  <a:solidFill>
                    <a:srgbClr val="000000"/>
                  </a:solidFill>
                  <a:effectLst/>
                  <a:uLnTx/>
                  <a:uFillTx/>
                  <a:latin typeface="Times New Roman" pitchFamily="18" charset="0"/>
                  <a:ea typeface="宋体" charset="-122"/>
                  <a:cs typeface="+mn-cs"/>
                </a:rPr>
                <a:t>×</a:t>
              </a:r>
              <a:endParaRPr kumimoji="0" lang="en-US" altLang="zh-CN" sz="30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193" name="Group 78"/>
            <p:cNvGrpSpPr>
              <a:grpSpLocks/>
            </p:cNvGrpSpPr>
            <p:nvPr/>
          </p:nvGrpSpPr>
          <p:grpSpPr bwMode="auto">
            <a:xfrm>
              <a:off x="2393" y="3645"/>
              <a:ext cx="1361" cy="453"/>
              <a:chOff x="2393" y="3645"/>
              <a:chExt cx="1361" cy="453"/>
            </a:xfrm>
          </p:grpSpPr>
          <p:sp>
            <p:nvSpPr>
              <p:cNvPr id="199" name="Line 79"/>
              <p:cNvSpPr>
                <a:spLocks noChangeShapeType="1"/>
              </p:cNvSpPr>
              <p:nvPr/>
            </p:nvSpPr>
            <p:spPr bwMode="auto">
              <a:xfrm>
                <a:off x="2393" y="3872"/>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00" name="Line 80"/>
              <p:cNvSpPr>
                <a:spLocks noChangeShapeType="1"/>
              </p:cNvSpPr>
              <p:nvPr/>
            </p:nvSpPr>
            <p:spPr bwMode="auto">
              <a:xfrm>
                <a:off x="2393" y="3645"/>
                <a:ext cx="1" cy="227"/>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01" name="Line 81"/>
              <p:cNvSpPr>
                <a:spLocks noChangeShapeType="1"/>
              </p:cNvSpPr>
              <p:nvPr/>
            </p:nvSpPr>
            <p:spPr bwMode="auto">
              <a:xfrm>
                <a:off x="3753" y="3872"/>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02" name="Line 82"/>
              <p:cNvSpPr>
                <a:spLocks noChangeShapeType="1"/>
              </p:cNvSpPr>
              <p:nvPr/>
            </p:nvSpPr>
            <p:spPr bwMode="auto">
              <a:xfrm>
                <a:off x="2393" y="3645"/>
                <a:ext cx="1360" cy="453"/>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94" name="Group 83"/>
            <p:cNvGrpSpPr>
              <a:grpSpLocks/>
            </p:cNvGrpSpPr>
            <p:nvPr/>
          </p:nvGrpSpPr>
          <p:grpSpPr bwMode="auto">
            <a:xfrm>
              <a:off x="2393" y="2802"/>
              <a:ext cx="1361" cy="341"/>
              <a:chOff x="2393" y="2738"/>
              <a:chExt cx="1361" cy="341"/>
            </a:xfrm>
          </p:grpSpPr>
          <p:sp>
            <p:nvSpPr>
              <p:cNvPr id="195" name="Line 84"/>
              <p:cNvSpPr>
                <a:spLocks noChangeShapeType="1"/>
              </p:cNvSpPr>
              <p:nvPr/>
            </p:nvSpPr>
            <p:spPr bwMode="auto">
              <a:xfrm>
                <a:off x="2393" y="3078"/>
                <a:ext cx="1360" cy="1"/>
              </a:xfrm>
              <a:prstGeom prst="line">
                <a:avLst/>
              </a:prstGeom>
              <a:noFill/>
              <a:ln w="57150" cap="rnd">
                <a:solidFill>
                  <a:srgbClr val="000000"/>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6" name="Line 85"/>
              <p:cNvSpPr>
                <a:spLocks noChangeShapeType="1"/>
              </p:cNvSpPr>
              <p:nvPr/>
            </p:nvSpPr>
            <p:spPr bwMode="auto">
              <a:xfrm>
                <a:off x="2393" y="2852"/>
                <a:ext cx="1" cy="226"/>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7" name="Line 86"/>
              <p:cNvSpPr>
                <a:spLocks noChangeShapeType="1"/>
              </p:cNvSpPr>
              <p:nvPr/>
            </p:nvSpPr>
            <p:spPr bwMode="auto">
              <a:xfrm flipV="1">
                <a:off x="3753" y="2738"/>
                <a:ext cx="1" cy="340"/>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98" name="Line 87"/>
              <p:cNvSpPr>
                <a:spLocks noChangeShapeType="1"/>
              </p:cNvSpPr>
              <p:nvPr/>
            </p:nvSpPr>
            <p:spPr bwMode="auto">
              <a:xfrm flipV="1">
                <a:off x="2393" y="2738"/>
                <a:ext cx="1360" cy="114"/>
              </a:xfrm>
              <a:prstGeom prst="line">
                <a:avLst/>
              </a:prstGeom>
              <a:noFill/>
              <a:ln w="38100" cap="rnd">
                <a:solidFill>
                  <a:srgbClr val="333399"/>
                </a:solidFill>
                <a:round/>
                <a:headEnd/>
                <a:tailEnd/>
              </a:ln>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blinds(horizontal)">
                                      <p:cBhvr>
                                        <p:cTn id="7" dur="500"/>
                                        <p:tgtEl>
                                          <p:spTgt spid="1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blinds(horizontal)">
                                      <p:cBhvr>
                                        <p:cTn id="12" dur="5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blinds(horizontal)">
                                      <p:cBhvr>
                                        <p:cTn id="17" dur="500"/>
                                        <p:tgtEl>
                                          <p:spTgt spid="14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1"/>
                                        </p:tgtEl>
                                        <p:attrNameLst>
                                          <p:attrName>style.visibility</p:attrName>
                                        </p:attrNameLst>
                                      </p:cBhvr>
                                      <p:to>
                                        <p:strVal val="visible"/>
                                      </p:to>
                                    </p:set>
                                    <p:animEffect transition="in" filter="blinds(horizontal)">
                                      <p:cBhvr>
                                        <p:cTn id="22" dur="500"/>
                                        <p:tgtEl>
                                          <p:spTgt spid="13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6"/>
                                        </p:tgtEl>
                                        <p:attrNameLst>
                                          <p:attrName>style.visibility</p:attrName>
                                        </p:attrNameLst>
                                      </p:cBhvr>
                                      <p:to>
                                        <p:strVal val="visible"/>
                                      </p:to>
                                    </p:set>
                                    <p:animEffect transition="in" filter="blinds(horizontal)">
                                      <p:cBhvr>
                                        <p:cTn id="27" dur="500"/>
                                        <p:tgtEl>
                                          <p:spTgt spid="15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8"/>
                                        </p:tgtEl>
                                        <p:attrNameLst>
                                          <p:attrName>style.visibility</p:attrName>
                                        </p:attrNameLst>
                                      </p:cBhvr>
                                      <p:to>
                                        <p:strVal val="visible"/>
                                      </p:to>
                                    </p:set>
                                    <p:animEffect transition="in" filter="blinds(horizontal)">
                                      <p:cBhvr>
                                        <p:cTn id="32" dur="500"/>
                                        <p:tgtEl>
                                          <p:spTgt spid="17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7"/>
                                        </p:tgtEl>
                                        <p:attrNameLst>
                                          <p:attrName>style.visibility</p:attrName>
                                        </p:attrNameLst>
                                      </p:cBhvr>
                                      <p:to>
                                        <p:strVal val="visible"/>
                                      </p:to>
                                    </p:set>
                                    <p:animEffect transition="in" filter="blinds(horizontal)">
                                      <p:cBhvr>
                                        <p:cTn id="37" dur="500"/>
                                        <p:tgtEl>
                                          <p:spTgt spid="16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1"/>
                                        </p:tgtEl>
                                        <p:attrNameLst>
                                          <p:attrName>style.visibility</p:attrName>
                                        </p:attrNameLst>
                                      </p:cBhvr>
                                      <p:to>
                                        <p:strVal val="visible"/>
                                      </p:to>
                                    </p:set>
                                    <p:animEffect transition="in" filter="blinds(horizontal)">
                                      <p:cBhvr>
                                        <p:cTn id="42" dur="500"/>
                                        <p:tgtEl>
                                          <p:spTgt spid="19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6"/>
                                        </p:tgtEl>
                                        <p:attrNameLst>
                                          <p:attrName>style.visibility</p:attrName>
                                        </p:attrNameLst>
                                      </p:cBhvr>
                                      <p:to>
                                        <p:strVal val="visible"/>
                                      </p:to>
                                    </p:set>
                                    <p:animEffect transition="in" filter="blinds(horizontal)">
                                      <p:cBhvr>
                                        <p:cTn id="47" dur="500"/>
                                        <p:tgtEl>
                                          <p:spTgt spid="16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8"/>
                                        </p:tgtEl>
                                        <p:attrNameLst>
                                          <p:attrName>style.visibility</p:attrName>
                                        </p:attrNameLst>
                                      </p:cBhvr>
                                      <p:to>
                                        <p:strVal val="visible"/>
                                      </p:to>
                                    </p:set>
                                    <p:animEffect transition="in" filter="blinds(horizontal)">
                                      <p:cBhvr>
                                        <p:cTn id="52"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2" grpId="0"/>
      <p:bldP spid="166" grpId="0"/>
      <p:bldP spid="16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几个具体问题</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1714488"/>
            <a:ext cx="817442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a:t>
            </a:r>
            <a:r>
              <a:rPr lang="zh-CN" altLang="en-US" sz="2000" b="1">
                <a:latin typeface="Times New Roman" pitchFamily="18" charset="0"/>
                <a:cs typeface="Times New Roman" pitchFamily="18" charset="0"/>
              </a:rPr>
              <a:t>：求</a:t>
            </a:r>
            <a:endParaRPr lang="en-US" altLang="zh-CN" sz="2000" b="1">
              <a:latin typeface="Times New Roman" pitchFamily="18" charset="0"/>
              <a:cs typeface="Times New Roman" pitchFamily="18" charset="0"/>
            </a:endParaRPr>
          </a:p>
        </p:txBody>
      </p:sp>
      <p:grpSp>
        <p:nvGrpSpPr>
          <p:cNvPr id="309" name="Group 2"/>
          <p:cNvGrpSpPr>
            <a:grpSpLocks/>
          </p:cNvGrpSpPr>
          <p:nvPr/>
        </p:nvGrpSpPr>
        <p:grpSpPr bwMode="auto">
          <a:xfrm>
            <a:off x="1549400" y="2136987"/>
            <a:ext cx="2867025" cy="981075"/>
            <a:chOff x="1248139" y="1008"/>
            <a:chExt cx="2867025" cy="618"/>
          </a:xfrm>
        </p:grpSpPr>
        <p:graphicFrame>
          <p:nvGraphicFramePr>
            <p:cNvPr id="310" name="Object 3"/>
            <p:cNvGraphicFramePr>
              <a:graphicFrameLocks noChangeAspect="1"/>
            </p:cNvGraphicFramePr>
            <p:nvPr/>
          </p:nvGraphicFramePr>
          <p:xfrm>
            <a:off x="1248139" y="1008"/>
            <a:ext cx="2867025" cy="618"/>
          </p:xfrm>
          <a:graphic>
            <a:graphicData uri="http://schemas.openxmlformats.org/presentationml/2006/ole">
              <mc:AlternateContent xmlns:mc="http://schemas.openxmlformats.org/markup-compatibility/2006">
                <mc:Choice xmlns:v="urn:schemas-microsoft-com:vml" Requires="v">
                  <p:oleObj spid="_x0000_s488479" name="BMP 图像" r:id="rId4" imgW="2866667" imgH="980952" progId="PBrush">
                    <p:embed/>
                  </p:oleObj>
                </mc:Choice>
                <mc:Fallback>
                  <p:oleObj name="BMP 图像" r:id="rId4" imgW="2866667" imgH="980952"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48139" y="1008"/>
                          <a:ext cx="2867025" cy="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1" name="Line 4"/>
            <p:cNvSpPr>
              <a:spLocks noChangeShapeType="1"/>
            </p:cNvSpPr>
            <p:nvPr/>
          </p:nvSpPr>
          <p:spPr bwMode="auto">
            <a:xfrm flipV="1">
              <a:off x="4114800" y="1008"/>
              <a:ext cx="0" cy="432"/>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13" name="Group 9"/>
          <p:cNvGrpSpPr>
            <a:grpSpLocks/>
          </p:cNvGrpSpPr>
          <p:nvPr/>
        </p:nvGrpSpPr>
        <p:grpSpPr bwMode="auto">
          <a:xfrm>
            <a:off x="1143000" y="4033849"/>
            <a:ext cx="3657600" cy="1109663"/>
            <a:chOff x="528" y="2181"/>
            <a:chExt cx="2304" cy="699"/>
          </a:xfrm>
        </p:grpSpPr>
        <p:sp>
          <p:nvSpPr>
            <p:cNvPr id="316" name="Oval 12"/>
            <p:cNvSpPr>
              <a:spLocks noChangeArrowheads="1"/>
            </p:cNvSpPr>
            <p:nvPr/>
          </p:nvSpPr>
          <p:spPr bwMode="auto">
            <a:xfrm>
              <a:off x="2592"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7" name="Line 13"/>
            <p:cNvSpPr>
              <a:spLocks noChangeShapeType="1"/>
            </p:cNvSpPr>
            <p:nvPr/>
          </p:nvSpPr>
          <p:spPr bwMode="auto">
            <a:xfrm>
              <a:off x="672" y="2544"/>
              <a:ext cx="9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14"/>
            <p:cNvSpPr>
              <a:spLocks noChangeShapeType="1"/>
            </p:cNvSpPr>
            <p:nvPr/>
          </p:nvSpPr>
          <p:spPr bwMode="auto">
            <a:xfrm>
              <a:off x="816" y="2592"/>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9" name="Line 15"/>
            <p:cNvSpPr>
              <a:spLocks noChangeShapeType="1"/>
            </p:cNvSpPr>
            <p:nvPr/>
          </p:nvSpPr>
          <p:spPr bwMode="auto">
            <a:xfrm>
              <a:off x="2640" y="2592"/>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16"/>
            <p:cNvSpPr>
              <a:spLocks noChangeShapeType="1"/>
            </p:cNvSpPr>
            <p:nvPr/>
          </p:nvSpPr>
          <p:spPr bwMode="auto">
            <a:xfrm>
              <a:off x="528" y="2496"/>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1" name="Line 17"/>
            <p:cNvSpPr>
              <a:spLocks noChangeShapeType="1"/>
            </p:cNvSpPr>
            <p:nvPr/>
          </p:nvSpPr>
          <p:spPr bwMode="auto">
            <a:xfrm>
              <a:off x="528" y="259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2" name="Line 18"/>
            <p:cNvSpPr>
              <a:spLocks noChangeShapeType="1"/>
            </p:cNvSpPr>
            <p:nvPr/>
          </p:nvSpPr>
          <p:spPr bwMode="auto">
            <a:xfrm>
              <a:off x="576" y="264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3" name="Line 19"/>
            <p:cNvSpPr>
              <a:spLocks noChangeShapeType="1"/>
            </p:cNvSpPr>
            <p:nvPr/>
          </p:nvSpPr>
          <p:spPr bwMode="auto">
            <a:xfrm>
              <a:off x="624" y="268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4" name="Line 20"/>
            <p:cNvSpPr>
              <a:spLocks noChangeShapeType="1"/>
            </p:cNvSpPr>
            <p:nvPr/>
          </p:nvSpPr>
          <p:spPr bwMode="auto">
            <a:xfrm>
              <a:off x="672" y="273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Line 21"/>
            <p:cNvSpPr>
              <a:spLocks noChangeShapeType="1"/>
            </p:cNvSpPr>
            <p:nvPr/>
          </p:nvSpPr>
          <p:spPr bwMode="auto">
            <a:xfrm>
              <a:off x="720" y="278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6" name="Line 22"/>
            <p:cNvSpPr>
              <a:spLocks noChangeShapeType="1"/>
            </p:cNvSpPr>
            <p:nvPr/>
          </p:nvSpPr>
          <p:spPr bwMode="auto">
            <a:xfrm>
              <a:off x="768" y="28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7" name="Line 23"/>
            <p:cNvSpPr>
              <a:spLocks noChangeShapeType="1"/>
            </p:cNvSpPr>
            <p:nvPr/>
          </p:nvSpPr>
          <p:spPr bwMode="auto">
            <a:xfrm>
              <a:off x="816" y="28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8" name="Line 24"/>
            <p:cNvSpPr>
              <a:spLocks noChangeShapeType="1"/>
            </p:cNvSpPr>
            <p:nvPr/>
          </p:nvSpPr>
          <p:spPr bwMode="auto">
            <a:xfrm>
              <a:off x="2448" y="2784"/>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9" name="Line 25"/>
            <p:cNvSpPr>
              <a:spLocks noChangeShapeType="1"/>
            </p:cNvSpPr>
            <p:nvPr/>
          </p:nvSpPr>
          <p:spPr bwMode="auto">
            <a:xfrm flipV="1">
              <a:off x="2448"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0" name="Line 26"/>
            <p:cNvSpPr>
              <a:spLocks noChangeShapeType="1"/>
            </p:cNvSpPr>
            <p:nvPr/>
          </p:nvSpPr>
          <p:spPr bwMode="auto">
            <a:xfrm flipV="1">
              <a:off x="2496"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1" name="Line 27"/>
            <p:cNvSpPr>
              <a:spLocks noChangeShapeType="1"/>
            </p:cNvSpPr>
            <p:nvPr/>
          </p:nvSpPr>
          <p:spPr bwMode="auto">
            <a:xfrm flipV="1">
              <a:off x="2544"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2" name="Line 28"/>
            <p:cNvSpPr>
              <a:spLocks noChangeShapeType="1"/>
            </p:cNvSpPr>
            <p:nvPr/>
          </p:nvSpPr>
          <p:spPr bwMode="auto">
            <a:xfrm flipV="1">
              <a:off x="2592"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3" name="Line 29"/>
            <p:cNvSpPr>
              <a:spLocks noChangeShapeType="1"/>
            </p:cNvSpPr>
            <p:nvPr/>
          </p:nvSpPr>
          <p:spPr bwMode="auto">
            <a:xfrm flipV="1">
              <a:off x="2640"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4" name="Line 30"/>
            <p:cNvSpPr>
              <a:spLocks noChangeShapeType="1"/>
            </p:cNvSpPr>
            <p:nvPr/>
          </p:nvSpPr>
          <p:spPr bwMode="auto">
            <a:xfrm flipV="1">
              <a:off x="2688"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Line 31"/>
            <p:cNvSpPr>
              <a:spLocks noChangeShapeType="1"/>
            </p:cNvSpPr>
            <p:nvPr/>
          </p:nvSpPr>
          <p:spPr bwMode="auto">
            <a:xfrm flipV="1">
              <a:off x="2736"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6" name="Line 32"/>
            <p:cNvSpPr>
              <a:spLocks noChangeShapeType="1"/>
            </p:cNvSpPr>
            <p:nvPr/>
          </p:nvSpPr>
          <p:spPr bwMode="auto">
            <a:xfrm flipV="1">
              <a:off x="2400" y="278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33"/>
            <p:cNvSpPr>
              <a:spLocks noChangeShapeType="1"/>
            </p:cNvSpPr>
            <p:nvPr/>
          </p:nvSpPr>
          <p:spPr bwMode="auto">
            <a:xfrm>
              <a:off x="816" y="2544"/>
              <a:ext cx="17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Oval 34"/>
            <p:cNvSpPr>
              <a:spLocks noChangeArrowheads="1"/>
            </p:cNvSpPr>
            <p:nvPr/>
          </p:nvSpPr>
          <p:spPr bwMode="auto">
            <a:xfrm>
              <a:off x="2592"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Freeform 36"/>
            <p:cNvSpPr>
              <a:spLocks/>
            </p:cNvSpPr>
            <p:nvPr/>
          </p:nvSpPr>
          <p:spPr bwMode="auto">
            <a:xfrm rot="5400000">
              <a:off x="2283" y="2421"/>
              <a:ext cx="377" cy="240"/>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41" name="Object 37"/>
            <p:cNvGraphicFramePr>
              <a:graphicFrameLocks noChangeAspect="1"/>
            </p:cNvGraphicFramePr>
            <p:nvPr/>
          </p:nvGraphicFramePr>
          <p:xfrm>
            <a:off x="2711" y="2181"/>
            <a:ext cx="112" cy="209"/>
          </p:xfrm>
          <a:graphic>
            <a:graphicData uri="http://schemas.openxmlformats.org/presentationml/2006/ole">
              <mc:AlternateContent xmlns:mc="http://schemas.openxmlformats.org/markup-compatibility/2006">
                <mc:Choice xmlns:v="urn:schemas-microsoft-com:vml" Requires="v">
                  <p:oleObj spid="_x0000_s488480" name="Equation" r:id="rId6" imgW="88560" imgH="164880" progId="Equation.DSMT4">
                    <p:embed/>
                  </p:oleObj>
                </mc:Choice>
                <mc:Fallback>
                  <p:oleObj name="Equation" r:id="rId6" imgW="88560" imgH="164880" progId="Equation.DSMT4">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1" y="2181"/>
                          <a:ext cx="112"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5" name="Oval 11"/>
            <p:cNvSpPr>
              <a:spLocks noChangeArrowheads="1"/>
            </p:cNvSpPr>
            <p:nvPr/>
          </p:nvSpPr>
          <p:spPr bwMode="auto">
            <a:xfrm>
              <a:off x="576"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Oval 35"/>
            <p:cNvSpPr>
              <a:spLocks noChangeArrowheads="1"/>
            </p:cNvSpPr>
            <p:nvPr/>
          </p:nvSpPr>
          <p:spPr bwMode="auto">
            <a:xfrm>
              <a:off x="768"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4" name="Oval 10"/>
            <p:cNvSpPr>
              <a:spLocks noChangeArrowheads="1"/>
            </p:cNvSpPr>
            <p:nvPr/>
          </p:nvSpPr>
          <p:spPr bwMode="auto">
            <a:xfrm>
              <a:off x="768"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42" name="Group 38"/>
          <p:cNvGrpSpPr>
            <a:grpSpLocks/>
          </p:cNvGrpSpPr>
          <p:nvPr/>
        </p:nvGrpSpPr>
        <p:grpSpPr bwMode="auto">
          <a:xfrm>
            <a:off x="1600200" y="4052256"/>
            <a:ext cx="2895600" cy="533400"/>
            <a:chOff x="816" y="2208"/>
            <a:chExt cx="1824" cy="336"/>
          </a:xfrm>
        </p:grpSpPr>
        <p:sp>
          <p:nvSpPr>
            <p:cNvPr id="343" name="Line 39"/>
            <p:cNvSpPr>
              <a:spLocks noChangeShapeType="1"/>
            </p:cNvSpPr>
            <p:nvPr/>
          </p:nvSpPr>
          <p:spPr bwMode="auto">
            <a:xfrm flipV="1">
              <a:off x="2640" y="2208"/>
              <a:ext cx="0" cy="288"/>
            </a:xfrm>
            <a:prstGeom prst="line">
              <a:avLst/>
            </a:prstGeom>
            <a:noFill/>
            <a:ln w="3810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44" name="Line 40"/>
            <p:cNvSpPr>
              <a:spLocks noChangeShapeType="1"/>
            </p:cNvSpPr>
            <p:nvPr/>
          </p:nvSpPr>
          <p:spPr bwMode="auto">
            <a:xfrm flipH="1">
              <a:off x="816" y="2208"/>
              <a:ext cx="1824" cy="336"/>
            </a:xfrm>
            <a:prstGeom prst="line">
              <a:avLst/>
            </a:prstGeom>
            <a:noFill/>
            <a:ln w="3810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sp>
        <p:nvSpPr>
          <p:cNvPr id="345" name="Oval 41"/>
          <p:cNvSpPr>
            <a:spLocks noChangeArrowheads="1"/>
          </p:cNvSpPr>
          <p:nvPr/>
        </p:nvSpPr>
        <p:spPr bwMode="auto">
          <a:xfrm>
            <a:off x="542900" y="267174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46" name="Oval 42"/>
          <p:cNvSpPr>
            <a:spLocks noChangeArrowheads="1"/>
          </p:cNvSpPr>
          <p:nvPr/>
        </p:nvSpPr>
        <p:spPr bwMode="auto">
          <a:xfrm>
            <a:off x="500034" y="4238634"/>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charset="-122"/>
                <a:cs typeface="+mn-cs"/>
              </a:rPr>
              <a:t>i</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347" name="Group 43"/>
          <p:cNvGrpSpPr>
            <a:grpSpLocks/>
          </p:cNvGrpSpPr>
          <p:nvPr/>
        </p:nvGrpSpPr>
        <p:grpSpPr bwMode="auto">
          <a:xfrm>
            <a:off x="1500489" y="5581526"/>
            <a:ext cx="6523580" cy="776432"/>
            <a:chOff x="531" y="2793"/>
            <a:chExt cx="4387" cy="552"/>
          </a:xfrm>
        </p:grpSpPr>
        <p:graphicFrame>
          <p:nvGraphicFramePr>
            <p:cNvPr id="348" name="Object 44"/>
            <p:cNvGraphicFramePr>
              <a:graphicFrameLocks noChangeAspect="1"/>
            </p:cNvGraphicFramePr>
            <p:nvPr/>
          </p:nvGraphicFramePr>
          <p:xfrm>
            <a:off x="531" y="2793"/>
            <a:ext cx="4387" cy="552"/>
          </p:xfrm>
          <a:graphic>
            <a:graphicData uri="http://schemas.openxmlformats.org/presentationml/2006/ole">
              <mc:AlternateContent xmlns:mc="http://schemas.openxmlformats.org/markup-compatibility/2006">
                <mc:Choice xmlns:v="urn:schemas-microsoft-com:vml" Requires="v">
                  <p:oleObj spid="_x0000_s488481" name="Equation" r:id="rId8" imgW="3352680" imgH="419040" progId="Equation.DSMT4">
                    <p:embed/>
                  </p:oleObj>
                </mc:Choice>
                <mc:Fallback>
                  <p:oleObj name="Equation" r:id="rId8" imgW="3352680" imgH="419040" progId="Equation.DSMT4">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 y="2793"/>
                          <a:ext cx="4387" cy="5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9" name="Freeform 45"/>
            <p:cNvSpPr>
              <a:spLocks/>
            </p:cNvSpPr>
            <p:nvPr/>
          </p:nvSpPr>
          <p:spPr bwMode="auto">
            <a:xfrm rot="4597338">
              <a:off x="4500" y="2961"/>
              <a:ext cx="288" cy="193"/>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0000"/>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50" name="Group 46"/>
          <p:cNvGrpSpPr>
            <a:grpSpLocks/>
          </p:cNvGrpSpPr>
          <p:nvPr/>
        </p:nvGrpSpPr>
        <p:grpSpPr bwMode="auto">
          <a:xfrm>
            <a:off x="1066800" y="1928800"/>
            <a:ext cx="3927476" cy="1857376"/>
            <a:chOff x="480" y="876"/>
            <a:chExt cx="2474" cy="1170"/>
          </a:xfrm>
        </p:grpSpPr>
        <p:sp>
          <p:nvSpPr>
            <p:cNvPr id="353" name="Oval 49"/>
            <p:cNvSpPr>
              <a:spLocks noChangeArrowheads="1"/>
            </p:cNvSpPr>
            <p:nvPr/>
          </p:nvSpPr>
          <p:spPr bwMode="auto">
            <a:xfrm>
              <a:off x="2544" y="1632"/>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4" name="Line 50"/>
            <p:cNvSpPr>
              <a:spLocks noChangeShapeType="1"/>
            </p:cNvSpPr>
            <p:nvPr/>
          </p:nvSpPr>
          <p:spPr bwMode="auto">
            <a:xfrm>
              <a:off x="624" y="1488"/>
              <a:ext cx="9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5" name="Line 51"/>
            <p:cNvSpPr>
              <a:spLocks noChangeShapeType="1"/>
            </p:cNvSpPr>
            <p:nvPr/>
          </p:nvSpPr>
          <p:spPr bwMode="auto">
            <a:xfrm>
              <a:off x="768" y="1536"/>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6" name="Line 52"/>
            <p:cNvSpPr>
              <a:spLocks noChangeShapeType="1"/>
            </p:cNvSpPr>
            <p:nvPr/>
          </p:nvSpPr>
          <p:spPr bwMode="auto">
            <a:xfrm>
              <a:off x="2592" y="1536"/>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7" name="Line 53"/>
            <p:cNvSpPr>
              <a:spLocks noChangeShapeType="1"/>
            </p:cNvSpPr>
            <p:nvPr/>
          </p:nvSpPr>
          <p:spPr bwMode="auto">
            <a:xfrm>
              <a:off x="480" y="1440"/>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8" name="Line 54"/>
            <p:cNvSpPr>
              <a:spLocks noChangeShapeType="1"/>
            </p:cNvSpPr>
            <p:nvPr/>
          </p:nvSpPr>
          <p:spPr bwMode="auto">
            <a:xfrm>
              <a:off x="480" y="153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9" name="Line 55"/>
            <p:cNvSpPr>
              <a:spLocks noChangeShapeType="1"/>
            </p:cNvSpPr>
            <p:nvPr/>
          </p:nvSpPr>
          <p:spPr bwMode="auto">
            <a:xfrm>
              <a:off x="528" y="158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0" name="Line 56"/>
            <p:cNvSpPr>
              <a:spLocks noChangeShapeType="1"/>
            </p:cNvSpPr>
            <p:nvPr/>
          </p:nvSpPr>
          <p:spPr bwMode="auto">
            <a:xfrm>
              <a:off x="576" y="16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1" name="Line 57"/>
            <p:cNvSpPr>
              <a:spLocks noChangeShapeType="1"/>
            </p:cNvSpPr>
            <p:nvPr/>
          </p:nvSpPr>
          <p:spPr bwMode="auto">
            <a:xfrm>
              <a:off x="624" y="16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2" name="Line 58"/>
            <p:cNvSpPr>
              <a:spLocks noChangeShapeType="1"/>
            </p:cNvSpPr>
            <p:nvPr/>
          </p:nvSpPr>
          <p:spPr bwMode="auto">
            <a:xfrm>
              <a:off x="672" y="172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3" name="Line 59"/>
            <p:cNvSpPr>
              <a:spLocks noChangeShapeType="1"/>
            </p:cNvSpPr>
            <p:nvPr/>
          </p:nvSpPr>
          <p:spPr bwMode="auto">
            <a:xfrm>
              <a:off x="720" y="177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4" name="Line 60"/>
            <p:cNvSpPr>
              <a:spLocks noChangeShapeType="1"/>
            </p:cNvSpPr>
            <p:nvPr/>
          </p:nvSpPr>
          <p:spPr bwMode="auto">
            <a:xfrm>
              <a:off x="768" y="182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5" name="Line 61"/>
            <p:cNvSpPr>
              <a:spLocks noChangeShapeType="1"/>
            </p:cNvSpPr>
            <p:nvPr/>
          </p:nvSpPr>
          <p:spPr bwMode="auto">
            <a:xfrm>
              <a:off x="2400" y="1728"/>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Line 62"/>
            <p:cNvSpPr>
              <a:spLocks noChangeShapeType="1"/>
            </p:cNvSpPr>
            <p:nvPr/>
          </p:nvSpPr>
          <p:spPr bwMode="auto">
            <a:xfrm flipV="1">
              <a:off x="2400"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7" name="Line 63"/>
            <p:cNvSpPr>
              <a:spLocks noChangeShapeType="1"/>
            </p:cNvSpPr>
            <p:nvPr/>
          </p:nvSpPr>
          <p:spPr bwMode="auto">
            <a:xfrm flipV="1">
              <a:off x="2448"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64"/>
            <p:cNvSpPr>
              <a:spLocks noChangeShapeType="1"/>
            </p:cNvSpPr>
            <p:nvPr/>
          </p:nvSpPr>
          <p:spPr bwMode="auto">
            <a:xfrm flipV="1">
              <a:off x="2496"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65"/>
            <p:cNvSpPr>
              <a:spLocks noChangeShapeType="1"/>
            </p:cNvSpPr>
            <p:nvPr/>
          </p:nvSpPr>
          <p:spPr bwMode="auto">
            <a:xfrm flipV="1">
              <a:off x="2544"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66"/>
            <p:cNvSpPr>
              <a:spLocks noChangeShapeType="1"/>
            </p:cNvSpPr>
            <p:nvPr/>
          </p:nvSpPr>
          <p:spPr bwMode="auto">
            <a:xfrm flipV="1">
              <a:off x="2592"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1" name="Line 67"/>
            <p:cNvSpPr>
              <a:spLocks noChangeShapeType="1"/>
            </p:cNvSpPr>
            <p:nvPr/>
          </p:nvSpPr>
          <p:spPr bwMode="auto">
            <a:xfrm flipV="1">
              <a:off x="2640"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2" name="Line 68"/>
            <p:cNvSpPr>
              <a:spLocks noChangeShapeType="1"/>
            </p:cNvSpPr>
            <p:nvPr/>
          </p:nvSpPr>
          <p:spPr bwMode="auto">
            <a:xfrm flipV="1">
              <a:off x="2688"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69"/>
            <p:cNvSpPr>
              <a:spLocks noChangeShapeType="1"/>
            </p:cNvSpPr>
            <p:nvPr/>
          </p:nvSpPr>
          <p:spPr bwMode="auto">
            <a:xfrm flipV="1">
              <a:off x="2352" y="172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70"/>
            <p:cNvSpPr>
              <a:spLocks noChangeShapeType="1"/>
            </p:cNvSpPr>
            <p:nvPr/>
          </p:nvSpPr>
          <p:spPr bwMode="auto">
            <a:xfrm>
              <a:off x="768" y="1488"/>
              <a:ext cx="17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Oval 71"/>
            <p:cNvSpPr>
              <a:spLocks noChangeArrowheads="1"/>
            </p:cNvSpPr>
            <p:nvPr/>
          </p:nvSpPr>
          <p:spPr bwMode="auto">
            <a:xfrm>
              <a:off x="2544" y="1440"/>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6" name="Oval 72"/>
            <p:cNvSpPr>
              <a:spLocks noChangeArrowheads="1"/>
            </p:cNvSpPr>
            <p:nvPr/>
          </p:nvSpPr>
          <p:spPr bwMode="auto">
            <a:xfrm>
              <a:off x="720" y="1440"/>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77" name="Object 73"/>
            <p:cNvGraphicFramePr>
              <a:graphicFrameLocks noChangeAspect="1"/>
            </p:cNvGraphicFramePr>
            <p:nvPr/>
          </p:nvGraphicFramePr>
          <p:xfrm>
            <a:off x="576" y="1248"/>
            <a:ext cx="167" cy="167"/>
          </p:xfrm>
          <a:graphic>
            <a:graphicData uri="http://schemas.openxmlformats.org/presentationml/2006/ole">
              <mc:AlternateContent xmlns:mc="http://schemas.openxmlformats.org/markup-compatibility/2006">
                <mc:Choice xmlns:v="urn:schemas-microsoft-com:vml" Requires="v">
                  <p:oleObj spid="_x0000_s488482" name="公式" r:id="rId10" imgW="266400" imgH="266400" progId="Equation.3">
                    <p:embed/>
                  </p:oleObj>
                </mc:Choice>
                <mc:Fallback>
                  <p:oleObj name="公式" r:id="rId10" imgW="266400" imgH="266400" progId="Equation.3">
                    <p:embed/>
                    <p:pic>
                      <p:nvPicPr>
                        <p:cNvPr id="0" name="Object 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 y="1248"/>
                          <a:ext cx="167" cy="1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 name="Object 74"/>
            <p:cNvGraphicFramePr>
              <a:graphicFrameLocks noChangeAspect="1"/>
            </p:cNvGraphicFramePr>
            <p:nvPr/>
          </p:nvGraphicFramePr>
          <p:xfrm>
            <a:off x="2671" y="1371"/>
            <a:ext cx="197" cy="213"/>
          </p:xfrm>
          <a:graphic>
            <a:graphicData uri="http://schemas.openxmlformats.org/presentationml/2006/ole">
              <mc:AlternateContent xmlns:mc="http://schemas.openxmlformats.org/markup-compatibility/2006">
                <mc:Choice xmlns:v="urn:schemas-microsoft-com:vml" Requires="v">
                  <p:oleObj spid="_x0000_s488483" name="公式" r:id="rId12" imgW="152280" imgH="164880" progId="Equation.3">
                    <p:embed/>
                  </p:oleObj>
                </mc:Choice>
                <mc:Fallback>
                  <p:oleObj name="公式" r:id="rId12" imgW="152280" imgH="164880" progId="Equation.3">
                    <p:embed/>
                    <p:pic>
                      <p:nvPicPr>
                        <p:cNvPr id="0" name="Object 7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1" y="1371"/>
                          <a:ext cx="197" cy="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 name="Freeform 75"/>
            <p:cNvSpPr>
              <a:spLocks/>
            </p:cNvSpPr>
            <p:nvPr/>
          </p:nvSpPr>
          <p:spPr bwMode="auto">
            <a:xfrm rot="5400000">
              <a:off x="2389" y="1376"/>
              <a:ext cx="315" cy="216"/>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0" name="Object 76"/>
            <p:cNvGraphicFramePr>
              <a:graphicFrameLocks noChangeAspect="1"/>
            </p:cNvGraphicFramePr>
            <p:nvPr/>
          </p:nvGraphicFramePr>
          <p:xfrm>
            <a:off x="2643" y="876"/>
            <a:ext cx="311" cy="489"/>
          </p:xfrm>
          <a:graphic>
            <a:graphicData uri="http://schemas.openxmlformats.org/presentationml/2006/ole">
              <mc:AlternateContent xmlns:mc="http://schemas.openxmlformats.org/markup-compatibility/2006">
                <mc:Choice xmlns:v="urn:schemas-microsoft-com:vml" Requires="v">
                  <p:oleObj spid="_x0000_s488484" name="Equation" r:id="rId14" imgW="266400" imgH="419040" progId="Equation.DSMT4">
                    <p:embed/>
                  </p:oleObj>
                </mc:Choice>
                <mc:Fallback>
                  <p:oleObj name="Equation" r:id="rId14" imgW="266400" imgH="419040" progId="Equation.DSMT4">
                    <p:embed/>
                    <p:pic>
                      <p:nvPicPr>
                        <p:cNvPr id="0" name="Object 7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43" y="876"/>
                          <a:ext cx="311" cy="4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1" name="Line 77"/>
            <p:cNvSpPr>
              <a:spLocks noChangeShapeType="1"/>
            </p:cNvSpPr>
            <p:nvPr/>
          </p:nvSpPr>
          <p:spPr bwMode="auto">
            <a:xfrm>
              <a:off x="768" y="1956"/>
              <a:ext cx="1872" cy="0"/>
            </a:xfrm>
            <a:prstGeom prst="line">
              <a:avLst/>
            </a:prstGeom>
            <a:noFill/>
            <a:ln w="9525">
              <a:solidFill>
                <a:srgbClr val="000000"/>
              </a:solidFill>
              <a:round/>
              <a:headEnd type="stealth" w="med" len="lg"/>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2" name="Line 78"/>
            <p:cNvSpPr>
              <a:spLocks noChangeShapeType="1"/>
            </p:cNvSpPr>
            <p:nvPr/>
          </p:nvSpPr>
          <p:spPr bwMode="auto">
            <a:xfrm>
              <a:off x="768" y="1905"/>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3" name="Line 79"/>
            <p:cNvSpPr>
              <a:spLocks noChangeShapeType="1"/>
            </p:cNvSpPr>
            <p:nvPr/>
          </p:nvSpPr>
          <p:spPr bwMode="auto">
            <a:xfrm>
              <a:off x="2640" y="1911"/>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4" name="Object 80"/>
            <p:cNvGraphicFramePr>
              <a:graphicFrameLocks noChangeAspect="1"/>
            </p:cNvGraphicFramePr>
            <p:nvPr/>
          </p:nvGraphicFramePr>
          <p:xfrm>
            <a:off x="1653" y="1821"/>
            <a:ext cx="111" cy="225"/>
          </p:xfrm>
          <a:graphic>
            <a:graphicData uri="http://schemas.openxmlformats.org/presentationml/2006/ole">
              <mc:AlternateContent xmlns:mc="http://schemas.openxmlformats.org/markup-compatibility/2006">
                <mc:Choice xmlns:v="urn:schemas-microsoft-com:vml" Requires="v">
                  <p:oleObj spid="_x0000_s488485" name="公式" r:id="rId16" imgW="88560" imgH="177480" progId="Equation.3">
                    <p:embed/>
                  </p:oleObj>
                </mc:Choice>
                <mc:Fallback>
                  <p:oleObj name="公式" r:id="rId16" imgW="88560" imgH="177480" progId="Equation.3">
                    <p:embed/>
                    <p:pic>
                      <p:nvPicPr>
                        <p:cNvPr id="0" name="Object 8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53" y="1821"/>
                          <a:ext cx="111" cy="225"/>
                        </a:xfrm>
                        <a:prstGeom prst="rect">
                          <a:avLst/>
                        </a:prstGeom>
                        <a:solidFill>
                          <a:schemeClr val="bg1"/>
                        </a:solidFill>
                      </p:spPr>
                    </p:pic>
                  </p:oleObj>
                </mc:Fallback>
              </mc:AlternateContent>
            </a:graphicData>
          </a:graphic>
        </p:graphicFrame>
        <p:graphicFrame>
          <p:nvGraphicFramePr>
            <p:cNvPr id="385" name="Object 81"/>
            <p:cNvGraphicFramePr>
              <a:graphicFrameLocks noChangeAspect="1"/>
            </p:cNvGraphicFramePr>
            <p:nvPr/>
          </p:nvGraphicFramePr>
          <p:xfrm>
            <a:off x="1584" y="1551"/>
            <a:ext cx="273" cy="209"/>
          </p:xfrm>
          <a:graphic>
            <a:graphicData uri="http://schemas.openxmlformats.org/presentationml/2006/ole">
              <mc:AlternateContent xmlns:mc="http://schemas.openxmlformats.org/markup-compatibility/2006">
                <mc:Choice xmlns:v="urn:schemas-microsoft-com:vml" Requires="v">
                  <p:oleObj spid="_x0000_s488486" name="公式" r:id="rId18" imgW="215640" imgH="164880" progId="Equation.3">
                    <p:embed/>
                  </p:oleObj>
                </mc:Choice>
                <mc:Fallback>
                  <p:oleObj name="公式" r:id="rId18" imgW="215640" imgH="164880" progId="Equation.3">
                    <p:embed/>
                    <p:pic>
                      <p:nvPicPr>
                        <p:cNvPr id="0" name="Object 8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4" y="1551"/>
                          <a:ext cx="273"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6" name="Line 82"/>
            <p:cNvSpPr>
              <a:spLocks noChangeShapeType="1"/>
            </p:cNvSpPr>
            <p:nvPr/>
          </p:nvSpPr>
          <p:spPr bwMode="auto">
            <a:xfrm>
              <a:off x="816"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83"/>
            <p:cNvSpPr>
              <a:spLocks noChangeShapeType="1"/>
            </p:cNvSpPr>
            <p:nvPr/>
          </p:nvSpPr>
          <p:spPr bwMode="auto">
            <a:xfrm>
              <a:off x="960"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84"/>
            <p:cNvSpPr>
              <a:spLocks noChangeShapeType="1"/>
            </p:cNvSpPr>
            <p:nvPr/>
          </p:nvSpPr>
          <p:spPr bwMode="auto">
            <a:xfrm>
              <a:off x="1104"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9" name="Line 85"/>
            <p:cNvSpPr>
              <a:spLocks noChangeShapeType="1"/>
            </p:cNvSpPr>
            <p:nvPr/>
          </p:nvSpPr>
          <p:spPr bwMode="auto">
            <a:xfrm>
              <a:off x="1248"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0" name="Line 86"/>
            <p:cNvSpPr>
              <a:spLocks noChangeShapeType="1"/>
            </p:cNvSpPr>
            <p:nvPr/>
          </p:nvSpPr>
          <p:spPr bwMode="auto">
            <a:xfrm>
              <a:off x="1392"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87"/>
            <p:cNvSpPr>
              <a:spLocks noChangeShapeType="1"/>
            </p:cNvSpPr>
            <p:nvPr/>
          </p:nvSpPr>
          <p:spPr bwMode="auto">
            <a:xfrm>
              <a:off x="1536"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88"/>
            <p:cNvSpPr>
              <a:spLocks noChangeShapeType="1"/>
            </p:cNvSpPr>
            <p:nvPr/>
          </p:nvSpPr>
          <p:spPr bwMode="auto">
            <a:xfrm>
              <a:off x="1680"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3" name="Line 89"/>
            <p:cNvSpPr>
              <a:spLocks noChangeShapeType="1"/>
            </p:cNvSpPr>
            <p:nvPr/>
          </p:nvSpPr>
          <p:spPr bwMode="auto">
            <a:xfrm>
              <a:off x="1824"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4" name="Line 90"/>
            <p:cNvSpPr>
              <a:spLocks noChangeShapeType="1"/>
            </p:cNvSpPr>
            <p:nvPr/>
          </p:nvSpPr>
          <p:spPr bwMode="auto">
            <a:xfrm>
              <a:off x="816" y="1248"/>
              <a:ext cx="1008"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5" name="Line 91"/>
            <p:cNvSpPr>
              <a:spLocks noChangeShapeType="1"/>
            </p:cNvSpPr>
            <p:nvPr/>
          </p:nvSpPr>
          <p:spPr bwMode="auto">
            <a:xfrm>
              <a:off x="1968"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6" name="Line 92"/>
            <p:cNvSpPr>
              <a:spLocks noChangeShapeType="1"/>
            </p:cNvSpPr>
            <p:nvPr/>
          </p:nvSpPr>
          <p:spPr bwMode="auto">
            <a:xfrm>
              <a:off x="2112"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7" name="Line 93"/>
            <p:cNvSpPr>
              <a:spLocks noChangeShapeType="1"/>
            </p:cNvSpPr>
            <p:nvPr/>
          </p:nvSpPr>
          <p:spPr bwMode="auto">
            <a:xfrm>
              <a:off x="2256"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8" name="Line 94"/>
            <p:cNvSpPr>
              <a:spLocks noChangeShapeType="1"/>
            </p:cNvSpPr>
            <p:nvPr/>
          </p:nvSpPr>
          <p:spPr bwMode="auto">
            <a:xfrm>
              <a:off x="2400"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9" name="Line 95"/>
            <p:cNvSpPr>
              <a:spLocks noChangeShapeType="1"/>
            </p:cNvSpPr>
            <p:nvPr/>
          </p:nvSpPr>
          <p:spPr bwMode="auto">
            <a:xfrm>
              <a:off x="2544" y="1248"/>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0" name="Line 96"/>
            <p:cNvSpPr>
              <a:spLocks noChangeShapeType="1"/>
            </p:cNvSpPr>
            <p:nvPr/>
          </p:nvSpPr>
          <p:spPr bwMode="auto">
            <a:xfrm>
              <a:off x="1824" y="1248"/>
              <a:ext cx="720"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1" name="Object 97"/>
            <p:cNvGraphicFramePr>
              <a:graphicFrameLocks noChangeAspect="1"/>
            </p:cNvGraphicFramePr>
            <p:nvPr/>
          </p:nvGraphicFramePr>
          <p:xfrm>
            <a:off x="1680" y="1056"/>
            <a:ext cx="120" cy="176"/>
          </p:xfrm>
          <a:graphic>
            <a:graphicData uri="http://schemas.openxmlformats.org/presentationml/2006/ole">
              <mc:AlternateContent xmlns:mc="http://schemas.openxmlformats.org/markup-compatibility/2006">
                <mc:Choice xmlns:v="urn:schemas-microsoft-com:vml" Requires="v">
                  <p:oleObj spid="_x0000_s488487" name="公式" r:id="rId20" imgW="190440" imgH="279360" progId="Equation.3">
                    <p:embed/>
                  </p:oleObj>
                </mc:Choice>
                <mc:Fallback>
                  <p:oleObj name="公式" r:id="rId20" imgW="190440" imgH="279360" progId="Equation.3">
                    <p:embed/>
                    <p:pic>
                      <p:nvPicPr>
                        <p:cNvPr id="0" name="Object 9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80" y="1056"/>
                          <a:ext cx="120"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1" name="Oval 47"/>
            <p:cNvSpPr>
              <a:spLocks noChangeArrowheads="1"/>
            </p:cNvSpPr>
            <p:nvPr/>
          </p:nvSpPr>
          <p:spPr bwMode="auto">
            <a:xfrm>
              <a:off x="720" y="1632"/>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2" name="Oval 48"/>
            <p:cNvSpPr>
              <a:spLocks noChangeArrowheads="1"/>
            </p:cNvSpPr>
            <p:nvPr/>
          </p:nvSpPr>
          <p:spPr bwMode="auto">
            <a:xfrm>
              <a:off x="528" y="1440"/>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402" name="Group 98"/>
          <p:cNvGrpSpPr>
            <a:grpSpLocks/>
          </p:cNvGrpSpPr>
          <p:nvPr/>
        </p:nvGrpSpPr>
        <p:grpSpPr bwMode="auto">
          <a:xfrm>
            <a:off x="5029201" y="1643053"/>
            <a:ext cx="4029075" cy="3190876"/>
            <a:chOff x="3072" y="21"/>
            <a:chExt cx="2538" cy="2010"/>
          </a:xfrm>
        </p:grpSpPr>
        <p:graphicFrame>
          <p:nvGraphicFramePr>
            <p:cNvPr id="403" name="Object 99"/>
            <p:cNvGraphicFramePr>
              <a:graphicFrameLocks noChangeAspect="1"/>
            </p:cNvGraphicFramePr>
            <p:nvPr/>
          </p:nvGraphicFramePr>
          <p:xfrm>
            <a:off x="3360" y="816"/>
            <a:ext cx="1824" cy="264"/>
          </p:xfrm>
          <a:graphic>
            <a:graphicData uri="http://schemas.openxmlformats.org/presentationml/2006/ole">
              <mc:AlternateContent xmlns:mc="http://schemas.openxmlformats.org/markup-compatibility/2006">
                <mc:Choice xmlns:v="urn:schemas-microsoft-com:vml" Requires="v">
                  <p:oleObj spid="_x0000_s488488" name="BMP 图象" r:id="rId22" imgW="2895238" imgH="419048" progId="PBrush">
                    <p:embed/>
                  </p:oleObj>
                </mc:Choice>
                <mc:Fallback>
                  <p:oleObj name="BMP 图象" r:id="rId22" imgW="2895238" imgH="419048" progId="PBrush">
                    <p:embed/>
                    <p:pic>
                      <p:nvPicPr>
                        <p:cNvPr id="0" name="Object 99"/>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0" y="816"/>
                          <a:ext cx="18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6" name="Oval 102"/>
            <p:cNvSpPr>
              <a:spLocks noChangeArrowheads="1"/>
            </p:cNvSpPr>
            <p:nvPr/>
          </p:nvSpPr>
          <p:spPr bwMode="auto">
            <a:xfrm>
              <a:off x="5136" y="96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103"/>
            <p:cNvSpPr>
              <a:spLocks noChangeShapeType="1"/>
            </p:cNvSpPr>
            <p:nvPr/>
          </p:nvSpPr>
          <p:spPr bwMode="auto">
            <a:xfrm>
              <a:off x="3216" y="816"/>
              <a:ext cx="9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8" name="Line 104"/>
            <p:cNvSpPr>
              <a:spLocks noChangeShapeType="1"/>
            </p:cNvSpPr>
            <p:nvPr/>
          </p:nvSpPr>
          <p:spPr bwMode="auto">
            <a:xfrm>
              <a:off x="3360" y="864"/>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9" name="Line 105"/>
            <p:cNvSpPr>
              <a:spLocks noChangeShapeType="1"/>
            </p:cNvSpPr>
            <p:nvPr/>
          </p:nvSpPr>
          <p:spPr bwMode="auto">
            <a:xfrm>
              <a:off x="5184" y="864"/>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0" name="Line 106"/>
            <p:cNvSpPr>
              <a:spLocks noChangeShapeType="1"/>
            </p:cNvSpPr>
            <p:nvPr/>
          </p:nvSpPr>
          <p:spPr bwMode="auto">
            <a:xfrm>
              <a:off x="3072" y="768"/>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1" name="Line 107"/>
            <p:cNvSpPr>
              <a:spLocks noChangeShapeType="1"/>
            </p:cNvSpPr>
            <p:nvPr/>
          </p:nvSpPr>
          <p:spPr bwMode="auto">
            <a:xfrm>
              <a:off x="3072" y="8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2" name="Line 108"/>
            <p:cNvSpPr>
              <a:spLocks noChangeShapeType="1"/>
            </p:cNvSpPr>
            <p:nvPr/>
          </p:nvSpPr>
          <p:spPr bwMode="auto">
            <a:xfrm>
              <a:off x="3120" y="9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3" name="Line 109"/>
            <p:cNvSpPr>
              <a:spLocks noChangeShapeType="1"/>
            </p:cNvSpPr>
            <p:nvPr/>
          </p:nvSpPr>
          <p:spPr bwMode="auto">
            <a:xfrm>
              <a:off x="3168" y="9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4" name="Line 110"/>
            <p:cNvSpPr>
              <a:spLocks noChangeShapeType="1"/>
            </p:cNvSpPr>
            <p:nvPr/>
          </p:nvSpPr>
          <p:spPr bwMode="auto">
            <a:xfrm>
              <a:off x="3216" y="10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5" name="Line 111"/>
            <p:cNvSpPr>
              <a:spLocks noChangeShapeType="1"/>
            </p:cNvSpPr>
            <p:nvPr/>
          </p:nvSpPr>
          <p:spPr bwMode="auto">
            <a:xfrm>
              <a:off x="3264" y="10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6" name="Line 112"/>
            <p:cNvSpPr>
              <a:spLocks noChangeShapeType="1"/>
            </p:cNvSpPr>
            <p:nvPr/>
          </p:nvSpPr>
          <p:spPr bwMode="auto">
            <a:xfrm>
              <a:off x="3312" y="110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7" name="Line 113"/>
            <p:cNvSpPr>
              <a:spLocks noChangeShapeType="1"/>
            </p:cNvSpPr>
            <p:nvPr/>
          </p:nvSpPr>
          <p:spPr bwMode="auto">
            <a:xfrm>
              <a:off x="3360" y="115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8" name="Line 114"/>
            <p:cNvSpPr>
              <a:spLocks noChangeShapeType="1"/>
            </p:cNvSpPr>
            <p:nvPr/>
          </p:nvSpPr>
          <p:spPr bwMode="auto">
            <a:xfrm>
              <a:off x="4992" y="105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9" name="Line 115"/>
            <p:cNvSpPr>
              <a:spLocks noChangeShapeType="1"/>
            </p:cNvSpPr>
            <p:nvPr/>
          </p:nvSpPr>
          <p:spPr bwMode="auto">
            <a:xfrm flipV="1">
              <a:off x="4992"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0" name="Line 116"/>
            <p:cNvSpPr>
              <a:spLocks noChangeShapeType="1"/>
            </p:cNvSpPr>
            <p:nvPr/>
          </p:nvSpPr>
          <p:spPr bwMode="auto">
            <a:xfrm flipV="1">
              <a:off x="5040"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1" name="Line 117"/>
            <p:cNvSpPr>
              <a:spLocks noChangeShapeType="1"/>
            </p:cNvSpPr>
            <p:nvPr/>
          </p:nvSpPr>
          <p:spPr bwMode="auto">
            <a:xfrm flipV="1">
              <a:off x="5088"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2" name="Line 118"/>
            <p:cNvSpPr>
              <a:spLocks noChangeShapeType="1"/>
            </p:cNvSpPr>
            <p:nvPr/>
          </p:nvSpPr>
          <p:spPr bwMode="auto">
            <a:xfrm flipV="1">
              <a:off x="5136"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3" name="Line 119"/>
            <p:cNvSpPr>
              <a:spLocks noChangeShapeType="1"/>
            </p:cNvSpPr>
            <p:nvPr/>
          </p:nvSpPr>
          <p:spPr bwMode="auto">
            <a:xfrm flipV="1">
              <a:off x="5184"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4" name="Line 120"/>
            <p:cNvSpPr>
              <a:spLocks noChangeShapeType="1"/>
            </p:cNvSpPr>
            <p:nvPr/>
          </p:nvSpPr>
          <p:spPr bwMode="auto">
            <a:xfrm flipV="1">
              <a:off x="5232"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5" name="Line 121"/>
            <p:cNvSpPr>
              <a:spLocks noChangeShapeType="1"/>
            </p:cNvSpPr>
            <p:nvPr/>
          </p:nvSpPr>
          <p:spPr bwMode="auto">
            <a:xfrm flipV="1">
              <a:off x="5280"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6" name="Line 122"/>
            <p:cNvSpPr>
              <a:spLocks noChangeShapeType="1"/>
            </p:cNvSpPr>
            <p:nvPr/>
          </p:nvSpPr>
          <p:spPr bwMode="auto">
            <a:xfrm flipV="1">
              <a:off x="4944" y="10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7" name="Line 123"/>
            <p:cNvSpPr>
              <a:spLocks noChangeShapeType="1"/>
            </p:cNvSpPr>
            <p:nvPr/>
          </p:nvSpPr>
          <p:spPr bwMode="auto">
            <a:xfrm>
              <a:off x="3360" y="816"/>
              <a:ext cx="17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8" name="Oval 124"/>
            <p:cNvSpPr>
              <a:spLocks noChangeArrowheads="1"/>
            </p:cNvSpPr>
            <p:nvPr/>
          </p:nvSpPr>
          <p:spPr bwMode="auto">
            <a:xfrm>
              <a:off x="5136" y="76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9" name="Oval 125"/>
            <p:cNvSpPr>
              <a:spLocks noChangeArrowheads="1"/>
            </p:cNvSpPr>
            <p:nvPr/>
          </p:nvSpPr>
          <p:spPr bwMode="auto">
            <a:xfrm>
              <a:off x="3312" y="76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2" name="Oval 128"/>
            <p:cNvSpPr>
              <a:spLocks noChangeArrowheads="1"/>
            </p:cNvSpPr>
            <p:nvPr/>
          </p:nvSpPr>
          <p:spPr bwMode="auto">
            <a:xfrm>
              <a:off x="5184" y="1839"/>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3" name="Line 129"/>
            <p:cNvSpPr>
              <a:spLocks noChangeShapeType="1"/>
            </p:cNvSpPr>
            <p:nvPr/>
          </p:nvSpPr>
          <p:spPr bwMode="auto">
            <a:xfrm>
              <a:off x="3264" y="1695"/>
              <a:ext cx="9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4" name="Line 130"/>
            <p:cNvSpPr>
              <a:spLocks noChangeShapeType="1"/>
            </p:cNvSpPr>
            <p:nvPr/>
          </p:nvSpPr>
          <p:spPr bwMode="auto">
            <a:xfrm>
              <a:off x="3408" y="1743"/>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5" name="Line 131"/>
            <p:cNvSpPr>
              <a:spLocks noChangeShapeType="1"/>
            </p:cNvSpPr>
            <p:nvPr/>
          </p:nvSpPr>
          <p:spPr bwMode="auto">
            <a:xfrm>
              <a:off x="5232" y="1743"/>
              <a:ext cx="0" cy="9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6" name="Line 132"/>
            <p:cNvSpPr>
              <a:spLocks noChangeShapeType="1"/>
            </p:cNvSpPr>
            <p:nvPr/>
          </p:nvSpPr>
          <p:spPr bwMode="auto">
            <a:xfrm>
              <a:off x="3120" y="1647"/>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7" name="Line 133"/>
            <p:cNvSpPr>
              <a:spLocks noChangeShapeType="1"/>
            </p:cNvSpPr>
            <p:nvPr/>
          </p:nvSpPr>
          <p:spPr bwMode="auto">
            <a:xfrm>
              <a:off x="3120" y="1743"/>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8" name="Line 134"/>
            <p:cNvSpPr>
              <a:spLocks noChangeShapeType="1"/>
            </p:cNvSpPr>
            <p:nvPr/>
          </p:nvSpPr>
          <p:spPr bwMode="auto">
            <a:xfrm>
              <a:off x="3168" y="1791"/>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9" name="Line 135"/>
            <p:cNvSpPr>
              <a:spLocks noChangeShapeType="1"/>
            </p:cNvSpPr>
            <p:nvPr/>
          </p:nvSpPr>
          <p:spPr bwMode="auto">
            <a:xfrm>
              <a:off x="3216" y="1839"/>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0" name="Line 136"/>
            <p:cNvSpPr>
              <a:spLocks noChangeShapeType="1"/>
            </p:cNvSpPr>
            <p:nvPr/>
          </p:nvSpPr>
          <p:spPr bwMode="auto">
            <a:xfrm>
              <a:off x="3264" y="1887"/>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1" name="Line 137"/>
            <p:cNvSpPr>
              <a:spLocks noChangeShapeType="1"/>
            </p:cNvSpPr>
            <p:nvPr/>
          </p:nvSpPr>
          <p:spPr bwMode="auto">
            <a:xfrm>
              <a:off x="3312" y="1935"/>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2" name="Line 138"/>
            <p:cNvSpPr>
              <a:spLocks noChangeShapeType="1"/>
            </p:cNvSpPr>
            <p:nvPr/>
          </p:nvSpPr>
          <p:spPr bwMode="auto">
            <a:xfrm>
              <a:off x="3360" y="1983"/>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3" name="Line 139"/>
            <p:cNvSpPr>
              <a:spLocks noChangeShapeType="1"/>
            </p:cNvSpPr>
            <p:nvPr/>
          </p:nvSpPr>
          <p:spPr bwMode="auto">
            <a:xfrm>
              <a:off x="3408" y="2031"/>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4" name="Line 140"/>
            <p:cNvSpPr>
              <a:spLocks noChangeShapeType="1"/>
            </p:cNvSpPr>
            <p:nvPr/>
          </p:nvSpPr>
          <p:spPr bwMode="auto">
            <a:xfrm>
              <a:off x="5040" y="1935"/>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5" name="Line 141"/>
            <p:cNvSpPr>
              <a:spLocks noChangeShapeType="1"/>
            </p:cNvSpPr>
            <p:nvPr/>
          </p:nvSpPr>
          <p:spPr bwMode="auto">
            <a:xfrm flipV="1">
              <a:off x="5040"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6" name="Line 142"/>
            <p:cNvSpPr>
              <a:spLocks noChangeShapeType="1"/>
            </p:cNvSpPr>
            <p:nvPr/>
          </p:nvSpPr>
          <p:spPr bwMode="auto">
            <a:xfrm flipV="1">
              <a:off x="5088"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7" name="Line 143"/>
            <p:cNvSpPr>
              <a:spLocks noChangeShapeType="1"/>
            </p:cNvSpPr>
            <p:nvPr/>
          </p:nvSpPr>
          <p:spPr bwMode="auto">
            <a:xfrm flipV="1">
              <a:off x="5136"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8" name="Line 144"/>
            <p:cNvSpPr>
              <a:spLocks noChangeShapeType="1"/>
            </p:cNvSpPr>
            <p:nvPr/>
          </p:nvSpPr>
          <p:spPr bwMode="auto">
            <a:xfrm flipV="1">
              <a:off x="5184"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9" name="Line 145"/>
            <p:cNvSpPr>
              <a:spLocks noChangeShapeType="1"/>
            </p:cNvSpPr>
            <p:nvPr/>
          </p:nvSpPr>
          <p:spPr bwMode="auto">
            <a:xfrm flipV="1">
              <a:off x="5232"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0" name="Line 146"/>
            <p:cNvSpPr>
              <a:spLocks noChangeShapeType="1"/>
            </p:cNvSpPr>
            <p:nvPr/>
          </p:nvSpPr>
          <p:spPr bwMode="auto">
            <a:xfrm flipV="1">
              <a:off x="5280"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1" name="Line 147"/>
            <p:cNvSpPr>
              <a:spLocks noChangeShapeType="1"/>
            </p:cNvSpPr>
            <p:nvPr/>
          </p:nvSpPr>
          <p:spPr bwMode="auto">
            <a:xfrm flipV="1">
              <a:off x="5328"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2" name="Line 148"/>
            <p:cNvSpPr>
              <a:spLocks noChangeShapeType="1"/>
            </p:cNvSpPr>
            <p:nvPr/>
          </p:nvSpPr>
          <p:spPr bwMode="auto">
            <a:xfrm flipV="1">
              <a:off x="4992" y="1935"/>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3" name="Line 149"/>
            <p:cNvSpPr>
              <a:spLocks noChangeShapeType="1"/>
            </p:cNvSpPr>
            <p:nvPr/>
          </p:nvSpPr>
          <p:spPr bwMode="auto">
            <a:xfrm>
              <a:off x="3408" y="1695"/>
              <a:ext cx="17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4" name="Oval 150"/>
            <p:cNvSpPr>
              <a:spLocks noChangeArrowheads="1"/>
            </p:cNvSpPr>
            <p:nvPr/>
          </p:nvSpPr>
          <p:spPr bwMode="auto">
            <a:xfrm>
              <a:off x="5184" y="1647"/>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5" name="Oval 151"/>
            <p:cNvSpPr>
              <a:spLocks noChangeArrowheads="1"/>
            </p:cNvSpPr>
            <p:nvPr/>
          </p:nvSpPr>
          <p:spPr bwMode="auto">
            <a:xfrm>
              <a:off x="3360" y="1647"/>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6" name="Freeform 152"/>
            <p:cNvSpPr>
              <a:spLocks/>
            </p:cNvSpPr>
            <p:nvPr/>
          </p:nvSpPr>
          <p:spPr bwMode="auto">
            <a:xfrm rot="5400000">
              <a:off x="4875" y="1572"/>
              <a:ext cx="377" cy="240"/>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7" name="Line 153"/>
            <p:cNvSpPr>
              <a:spLocks noChangeShapeType="1"/>
            </p:cNvSpPr>
            <p:nvPr/>
          </p:nvSpPr>
          <p:spPr bwMode="auto">
            <a:xfrm flipV="1">
              <a:off x="4320" y="816"/>
              <a:ext cx="0" cy="240"/>
            </a:xfrm>
            <a:prstGeom prst="line">
              <a:avLst/>
            </a:prstGeom>
            <a:noFill/>
            <a:ln w="28575">
              <a:solidFill>
                <a:srgbClr val="FF0000"/>
              </a:solidFill>
              <a:round/>
              <a:headEnd type="triangle" w="med" len="me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8" name="Line 154"/>
            <p:cNvSpPr>
              <a:spLocks noChangeShapeType="1"/>
            </p:cNvSpPr>
            <p:nvPr/>
          </p:nvSpPr>
          <p:spPr bwMode="auto">
            <a:xfrm flipV="1">
              <a:off x="4320" y="471"/>
              <a:ext cx="264" cy="441"/>
            </a:xfrm>
            <a:prstGeom prst="lin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9" name="Line 155"/>
            <p:cNvSpPr>
              <a:spLocks noChangeShapeType="1"/>
            </p:cNvSpPr>
            <p:nvPr/>
          </p:nvSpPr>
          <p:spPr bwMode="auto">
            <a:xfrm flipV="1">
              <a:off x="5232" y="1392"/>
              <a:ext cx="0" cy="24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0" name="Line 156"/>
            <p:cNvSpPr>
              <a:spLocks noChangeShapeType="1"/>
            </p:cNvSpPr>
            <p:nvPr/>
          </p:nvSpPr>
          <p:spPr bwMode="auto">
            <a:xfrm flipH="1">
              <a:off x="3456" y="1392"/>
              <a:ext cx="1776" cy="28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61" name="Object 157"/>
            <p:cNvGraphicFramePr>
              <a:graphicFrameLocks noChangeAspect="1"/>
            </p:cNvGraphicFramePr>
            <p:nvPr/>
          </p:nvGraphicFramePr>
          <p:xfrm>
            <a:off x="5304" y="1241"/>
            <a:ext cx="306" cy="487"/>
          </p:xfrm>
          <a:graphic>
            <a:graphicData uri="http://schemas.openxmlformats.org/presentationml/2006/ole">
              <mc:AlternateContent xmlns:mc="http://schemas.openxmlformats.org/markup-compatibility/2006">
                <mc:Choice xmlns:v="urn:schemas-microsoft-com:vml" Requires="v">
                  <p:oleObj spid="_x0000_s488489" name="公式" r:id="rId24" imgW="266400" imgH="419040" progId="Equation.3">
                    <p:embed/>
                  </p:oleObj>
                </mc:Choice>
                <mc:Fallback>
                  <p:oleObj name="公式" r:id="rId24" imgW="266400" imgH="419040" progId="Equation.3">
                    <p:embed/>
                    <p:pic>
                      <p:nvPicPr>
                        <p:cNvPr id="0" name="Object 15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304" y="1241"/>
                          <a:ext cx="306" cy="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2" name="Object 158"/>
            <p:cNvGraphicFramePr>
              <a:graphicFrameLocks noChangeAspect="1"/>
            </p:cNvGraphicFramePr>
            <p:nvPr/>
          </p:nvGraphicFramePr>
          <p:xfrm>
            <a:off x="4584" y="21"/>
            <a:ext cx="306" cy="485"/>
          </p:xfrm>
          <a:graphic>
            <a:graphicData uri="http://schemas.openxmlformats.org/presentationml/2006/ole">
              <mc:AlternateContent xmlns:mc="http://schemas.openxmlformats.org/markup-compatibility/2006">
                <mc:Choice xmlns:v="urn:schemas-microsoft-com:vml" Requires="v">
                  <p:oleObj spid="_x0000_s488490" name="Equation" r:id="rId26" imgW="266400" imgH="419040" progId="Equation.DSMT4">
                    <p:embed/>
                  </p:oleObj>
                </mc:Choice>
                <mc:Fallback>
                  <p:oleObj name="Equation" r:id="rId26" imgW="266400" imgH="419040" progId="Equation.DSMT4">
                    <p:embed/>
                    <p:pic>
                      <p:nvPicPr>
                        <p:cNvPr id="0" name="Object 15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84" y="21"/>
                          <a:ext cx="306" cy="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3" name="Line 159"/>
            <p:cNvSpPr>
              <a:spLocks noChangeShapeType="1"/>
            </p:cNvSpPr>
            <p:nvPr/>
          </p:nvSpPr>
          <p:spPr bwMode="auto">
            <a:xfrm>
              <a:off x="3408"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4" name="Line 160"/>
            <p:cNvSpPr>
              <a:spLocks noChangeShapeType="1"/>
            </p:cNvSpPr>
            <p:nvPr/>
          </p:nvSpPr>
          <p:spPr bwMode="auto">
            <a:xfrm>
              <a:off x="3552"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5" name="Line 161"/>
            <p:cNvSpPr>
              <a:spLocks noChangeShapeType="1"/>
            </p:cNvSpPr>
            <p:nvPr/>
          </p:nvSpPr>
          <p:spPr bwMode="auto">
            <a:xfrm>
              <a:off x="3696"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6" name="Line 162"/>
            <p:cNvSpPr>
              <a:spLocks noChangeShapeType="1"/>
            </p:cNvSpPr>
            <p:nvPr/>
          </p:nvSpPr>
          <p:spPr bwMode="auto">
            <a:xfrm>
              <a:off x="3840"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7" name="Line 163"/>
            <p:cNvSpPr>
              <a:spLocks noChangeShapeType="1"/>
            </p:cNvSpPr>
            <p:nvPr/>
          </p:nvSpPr>
          <p:spPr bwMode="auto">
            <a:xfrm>
              <a:off x="3984"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8" name="Line 164"/>
            <p:cNvSpPr>
              <a:spLocks noChangeShapeType="1"/>
            </p:cNvSpPr>
            <p:nvPr/>
          </p:nvSpPr>
          <p:spPr bwMode="auto">
            <a:xfrm>
              <a:off x="4128"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9" name="Line 165"/>
            <p:cNvSpPr>
              <a:spLocks noChangeShapeType="1"/>
            </p:cNvSpPr>
            <p:nvPr/>
          </p:nvSpPr>
          <p:spPr bwMode="auto">
            <a:xfrm>
              <a:off x="4272"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0" name="Line 166"/>
            <p:cNvSpPr>
              <a:spLocks noChangeShapeType="1"/>
            </p:cNvSpPr>
            <p:nvPr/>
          </p:nvSpPr>
          <p:spPr bwMode="auto">
            <a:xfrm>
              <a:off x="4416"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1" name="Line 167"/>
            <p:cNvSpPr>
              <a:spLocks noChangeShapeType="1"/>
            </p:cNvSpPr>
            <p:nvPr/>
          </p:nvSpPr>
          <p:spPr bwMode="auto">
            <a:xfrm>
              <a:off x="3408" y="576"/>
              <a:ext cx="1008"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2" name="Line 168"/>
            <p:cNvSpPr>
              <a:spLocks noChangeShapeType="1"/>
            </p:cNvSpPr>
            <p:nvPr/>
          </p:nvSpPr>
          <p:spPr bwMode="auto">
            <a:xfrm>
              <a:off x="4560"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3" name="Line 169"/>
            <p:cNvSpPr>
              <a:spLocks noChangeShapeType="1"/>
            </p:cNvSpPr>
            <p:nvPr/>
          </p:nvSpPr>
          <p:spPr bwMode="auto">
            <a:xfrm>
              <a:off x="4704"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4" name="Line 170"/>
            <p:cNvSpPr>
              <a:spLocks noChangeShapeType="1"/>
            </p:cNvSpPr>
            <p:nvPr/>
          </p:nvSpPr>
          <p:spPr bwMode="auto">
            <a:xfrm>
              <a:off x="4848"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5" name="Line 171"/>
            <p:cNvSpPr>
              <a:spLocks noChangeShapeType="1"/>
            </p:cNvSpPr>
            <p:nvPr/>
          </p:nvSpPr>
          <p:spPr bwMode="auto">
            <a:xfrm>
              <a:off x="4992"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6" name="Line 172"/>
            <p:cNvSpPr>
              <a:spLocks noChangeShapeType="1"/>
            </p:cNvSpPr>
            <p:nvPr/>
          </p:nvSpPr>
          <p:spPr bwMode="auto">
            <a:xfrm>
              <a:off x="5136" y="57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7" name="Line 173"/>
            <p:cNvSpPr>
              <a:spLocks noChangeShapeType="1"/>
            </p:cNvSpPr>
            <p:nvPr/>
          </p:nvSpPr>
          <p:spPr bwMode="auto">
            <a:xfrm>
              <a:off x="4416" y="576"/>
              <a:ext cx="720"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78" name="Object 174"/>
            <p:cNvGraphicFramePr>
              <a:graphicFrameLocks noChangeAspect="1"/>
            </p:cNvGraphicFramePr>
            <p:nvPr/>
          </p:nvGraphicFramePr>
          <p:xfrm>
            <a:off x="4224" y="336"/>
            <a:ext cx="120" cy="176"/>
          </p:xfrm>
          <a:graphic>
            <a:graphicData uri="http://schemas.openxmlformats.org/presentationml/2006/ole">
              <mc:AlternateContent xmlns:mc="http://schemas.openxmlformats.org/markup-compatibility/2006">
                <mc:Choice xmlns:v="urn:schemas-microsoft-com:vml" Requires="v">
                  <p:oleObj spid="_x0000_s488491" name="公式" r:id="rId28" imgW="190440" imgH="279360" progId="Equation.3">
                    <p:embed/>
                  </p:oleObj>
                </mc:Choice>
                <mc:Fallback>
                  <p:oleObj name="公式" r:id="rId28" imgW="190440" imgH="279360" progId="Equation.3">
                    <p:embed/>
                    <p:pic>
                      <p:nvPicPr>
                        <p:cNvPr id="0" name="Object 17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224" y="336"/>
                          <a:ext cx="120"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4" name="Oval 100"/>
            <p:cNvSpPr>
              <a:spLocks noChangeArrowheads="1"/>
            </p:cNvSpPr>
            <p:nvPr/>
          </p:nvSpPr>
          <p:spPr bwMode="auto">
            <a:xfrm>
              <a:off x="3312" y="96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5" name="Oval 101"/>
            <p:cNvSpPr>
              <a:spLocks noChangeArrowheads="1"/>
            </p:cNvSpPr>
            <p:nvPr/>
          </p:nvSpPr>
          <p:spPr bwMode="auto">
            <a:xfrm>
              <a:off x="3120" y="76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1" name="Oval 127"/>
            <p:cNvSpPr>
              <a:spLocks noChangeArrowheads="1"/>
            </p:cNvSpPr>
            <p:nvPr/>
          </p:nvSpPr>
          <p:spPr bwMode="auto">
            <a:xfrm>
              <a:off x="3168" y="1647"/>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0" name="Oval 126"/>
            <p:cNvSpPr>
              <a:spLocks noChangeArrowheads="1"/>
            </p:cNvSpPr>
            <p:nvPr/>
          </p:nvSpPr>
          <p:spPr bwMode="auto">
            <a:xfrm>
              <a:off x="3360" y="1839"/>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483" name="Object 7"/>
          <p:cNvGraphicFramePr>
            <a:graphicFrameLocks noChangeAspect="1"/>
          </p:cNvGraphicFramePr>
          <p:nvPr/>
        </p:nvGraphicFramePr>
        <p:xfrm>
          <a:off x="2214563" y="1746749"/>
          <a:ext cx="434975" cy="400050"/>
        </p:xfrm>
        <a:graphic>
          <a:graphicData uri="http://schemas.openxmlformats.org/presentationml/2006/ole">
            <mc:AlternateContent xmlns:mc="http://schemas.openxmlformats.org/markup-compatibility/2006">
              <mc:Choice xmlns:v="urn:schemas-microsoft-com:vml" Requires="v">
                <p:oleObj spid="_x0000_s488492" name="公式" r:id="rId30" imgW="203040" imgH="215640" progId="Equation.3">
                  <p:embed/>
                </p:oleObj>
              </mc:Choice>
              <mc:Fallback>
                <p:oleObj name="公式" r:id="rId30" imgW="203040" imgH="215640" progId="Equation.3">
                  <p:embed/>
                  <p:pic>
                    <p:nvPicPr>
                      <p:cNvPr id="0" name="Object 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214563" y="1746749"/>
                        <a:ext cx="434975"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 calcmode="lin" valueType="num">
                                      <p:cBhvr additive="base">
                                        <p:cTn id="7" dur="500" fill="hold"/>
                                        <p:tgtEl>
                                          <p:spTgt spid="313"/>
                                        </p:tgtEl>
                                        <p:attrNameLst>
                                          <p:attrName>ppt_x</p:attrName>
                                        </p:attrNameLst>
                                      </p:cBhvr>
                                      <p:tavLst>
                                        <p:tav tm="0">
                                          <p:val>
                                            <p:strVal val="0-#ppt_w/2"/>
                                          </p:val>
                                        </p:tav>
                                        <p:tav tm="100000">
                                          <p:val>
                                            <p:strVal val="#ppt_x"/>
                                          </p:val>
                                        </p:tav>
                                      </p:tavLst>
                                    </p:anim>
                                    <p:anim calcmode="lin" valueType="num">
                                      <p:cBhvr additive="base">
                                        <p:cTn id="8" dur="500" fill="hold"/>
                                        <p:tgtEl>
                                          <p:spTgt spid="3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09"/>
                                        </p:tgtEl>
                                        <p:attrNameLst>
                                          <p:attrName>style.visibility</p:attrName>
                                        </p:attrNameLst>
                                      </p:cBhvr>
                                      <p:to>
                                        <p:strVal val="visible"/>
                                      </p:to>
                                    </p:set>
                                    <p:anim calcmode="lin" valueType="num">
                                      <p:cBhvr additive="base">
                                        <p:cTn id="13" dur="500" fill="hold"/>
                                        <p:tgtEl>
                                          <p:spTgt spid="309"/>
                                        </p:tgtEl>
                                        <p:attrNameLst>
                                          <p:attrName>ppt_x</p:attrName>
                                        </p:attrNameLst>
                                      </p:cBhvr>
                                      <p:tavLst>
                                        <p:tav tm="0">
                                          <p:val>
                                            <p:strVal val="0-#ppt_w/2"/>
                                          </p:val>
                                        </p:tav>
                                        <p:tav tm="100000">
                                          <p:val>
                                            <p:strVal val="#ppt_x"/>
                                          </p:val>
                                        </p:tav>
                                      </p:tavLst>
                                    </p:anim>
                                    <p:anim calcmode="lin" valueType="num">
                                      <p:cBhvr additive="base">
                                        <p:cTn id="14" dur="500" fill="hold"/>
                                        <p:tgtEl>
                                          <p:spTgt spid="30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5"/>
                                        </p:tgtEl>
                                        <p:attrNameLst>
                                          <p:attrName>style.visibility</p:attrName>
                                        </p:attrNameLst>
                                      </p:cBhvr>
                                      <p:to>
                                        <p:strVal val="visible"/>
                                      </p:to>
                                    </p:set>
                                    <p:anim calcmode="lin" valueType="num">
                                      <p:cBhvr additive="base">
                                        <p:cTn id="19" dur="500" fill="hold"/>
                                        <p:tgtEl>
                                          <p:spTgt spid="345"/>
                                        </p:tgtEl>
                                        <p:attrNameLst>
                                          <p:attrName>ppt_x</p:attrName>
                                        </p:attrNameLst>
                                      </p:cBhvr>
                                      <p:tavLst>
                                        <p:tav tm="0">
                                          <p:val>
                                            <p:strVal val="0-#ppt_w/2"/>
                                          </p:val>
                                        </p:tav>
                                        <p:tav tm="100000">
                                          <p:val>
                                            <p:strVal val="#ppt_x"/>
                                          </p:val>
                                        </p:tav>
                                      </p:tavLst>
                                    </p:anim>
                                    <p:anim calcmode="lin" valueType="num">
                                      <p:cBhvr additive="base">
                                        <p:cTn id="20" dur="500" fill="hold"/>
                                        <p:tgtEl>
                                          <p:spTgt spid="3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42"/>
                                        </p:tgtEl>
                                        <p:attrNameLst>
                                          <p:attrName>style.visibility</p:attrName>
                                        </p:attrNameLst>
                                      </p:cBhvr>
                                      <p:to>
                                        <p:strVal val="visible"/>
                                      </p:to>
                                    </p:set>
                                    <p:anim calcmode="lin" valueType="num">
                                      <p:cBhvr additive="base">
                                        <p:cTn id="25" dur="500" fill="hold"/>
                                        <p:tgtEl>
                                          <p:spTgt spid="342"/>
                                        </p:tgtEl>
                                        <p:attrNameLst>
                                          <p:attrName>ppt_x</p:attrName>
                                        </p:attrNameLst>
                                      </p:cBhvr>
                                      <p:tavLst>
                                        <p:tav tm="0">
                                          <p:val>
                                            <p:strVal val="0-#ppt_w/2"/>
                                          </p:val>
                                        </p:tav>
                                        <p:tav tm="100000">
                                          <p:val>
                                            <p:strVal val="#ppt_x"/>
                                          </p:val>
                                        </p:tav>
                                      </p:tavLst>
                                    </p:anim>
                                    <p:anim calcmode="lin" valueType="num">
                                      <p:cBhvr additive="base">
                                        <p:cTn id="26" dur="500" fill="hold"/>
                                        <p:tgtEl>
                                          <p:spTgt spid="3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6"/>
                                        </p:tgtEl>
                                        <p:attrNameLst>
                                          <p:attrName>style.visibility</p:attrName>
                                        </p:attrNameLst>
                                      </p:cBhvr>
                                      <p:to>
                                        <p:strVal val="visible"/>
                                      </p:to>
                                    </p:set>
                                    <p:anim calcmode="lin" valueType="num">
                                      <p:cBhvr additive="base">
                                        <p:cTn id="31" dur="500" fill="hold"/>
                                        <p:tgtEl>
                                          <p:spTgt spid="346"/>
                                        </p:tgtEl>
                                        <p:attrNameLst>
                                          <p:attrName>ppt_x</p:attrName>
                                        </p:attrNameLst>
                                      </p:cBhvr>
                                      <p:tavLst>
                                        <p:tav tm="0">
                                          <p:val>
                                            <p:strVal val="0-#ppt_w/2"/>
                                          </p:val>
                                        </p:tav>
                                        <p:tav tm="100000">
                                          <p:val>
                                            <p:strVal val="#ppt_x"/>
                                          </p:val>
                                        </p:tav>
                                      </p:tavLst>
                                    </p:anim>
                                    <p:anim calcmode="lin" valueType="num">
                                      <p:cBhvr additive="base">
                                        <p:cTn id="32" dur="500" fill="hold"/>
                                        <p:tgtEl>
                                          <p:spTgt spid="34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02"/>
                                        </p:tgtEl>
                                        <p:attrNameLst>
                                          <p:attrName>style.visibility</p:attrName>
                                        </p:attrNameLst>
                                      </p:cBhvr>
                                      <p:to>
                                        <p:strVal val="visible"/>
                                      </p:to>
                                    </p:set>
                                    <p:anim calcmode="lin" valueType="num">
                                      <p:cBhvr additive="base">
                                        <p:cTn id="37" dur="500" fill="hold"/>
                                        <p:tgtEl>
                                          <p:spTgt spid="402"/>
                                        </p:tgtEl>
                                        <p:attrNameLst>
                                          <p:attrName>ppt_x</p:attrName>
                                        </p:attrNameLst>
                                      </p:cBhvr>
                                      <p:tavLst>
                                        <p:tav tm="0">
                                          <p:val>
                                            <p:strVal val="0-#ppt_w/2"/>
                                          </p:val>
                                        </p:tav>
                                        <p:tav tm="100000">
                                          <p:val>
                                            <p:strVal val="#ppt_x"/>
                                          </p:val>
                                        </p:tav>
                                      </p:tavLst>
                                    </p:anim>
                                    <p:anim calcmode="lin" valueType="num">
                                      <p:cBhvr additive="base">
                                        <p:cTn id="38" dur="500" fill="hold"/>
                                        <p:tgtEl>
                                          <p:spTgt spid="40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47"/>
                                        </p:tgtEl>
                                        <p:attrNameLst>
                                          <p:attrName>style.visibility</p:attrName>
                                        </p:attrNameLst>
                                      </p:cBhvr>
                                      <p:to>
                                        <p:strVal val="visible"/>
                                      </p:to>
                                    </p:set>
                                    <p:anim calcmode="lin" valueType="num">
                                      <p:cBhvr additive="base">
                                        <p:cTn id="43" dur="500" fill="hold"/>
                                        <p:tgtEl>
                                          <p:spTgt spid="347"/>
                                        </p:tgtEl>
                                        <p:attrNameLst>
                                          <p:attrName>ppt_x</p:attrName>
                                        </p:attrNameLst>
                                      </p:cBhvr>
                                      <p:tavLst>
                                        <p:tav tm="0">
                                          <p:val>
                                            <p:strVal val="0-#ppt_w/2"/>
                                          </p:val>
                                        </p:tav>
                                        <p:tav tm="100000">
                                          <p:val>
                                            <p:strVal val="#ppt_x"/>
                                          </p:val>
                                        </p:tav>
                                      </p:tavLst>
                                    </p:anim>
                                    <p:anim calcmode="lin" valueType="num">
                                      <p:cBhvr additive="base">
                                        <p:cTn id="44" dur="500" fill="hold"/>
                                        <p:tgtEl>
                                          <p:spTgt spid="3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 grpId="0" animBg="1" autoUpdateAnimBg="0"/>
      <p:bldP spid="346"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796794"/>
            <a:ext cx="5174030"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：已知</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CD</a:t>
            </a:r>
            <a:r>
              <a:rPr lang="zh-CN" altLang="en-US" sz="2000" b="1">
                <a:latin typeface="Times New Roman" pitchFamily="18" charset="0"/>
                <a:cs typeface="Times New Roman" pitchFamily="18" charset="0"/>
              </a:rPr>
              <a:t>两点的相对水平位移 </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CD</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177" name="组合 176"/>
          <p:cNvGrpSpPr/>
          <p:nvPr/>
        </p:nvGrpSpPr>
        <p:grpSpPr>
          <a:xfrm>
            <a:off x="5786446" y="1500174"/>
            <a:ext cx="2928958" cy="2512472"/>
            <a:chOff x="5553496" y="1500174"/>
            <a:chExt cx="2928958" cy="2512472"/>
          </a:xfrm>
        </p:grpSpPr>
        <p:pic>
          <p:nvPicPr>
            <p:cNvPr id="178" name="Picture 8"/>
            <p:cNvPicPr>
              <a:picLocks noChangeAspect="1" noChangeArrowheads="1"/>
            </p:cNvPicPr>
            <p:nvPr/>
          </p:nvPicPr>
          <p:blipFill>
            <a:blip r:embed="rId4"/>
            <a:srcRect/>
            <a:stretch>
              <a:fillRect/>
            </a:stretch>
          </p:blipFill>
          <p:spPr bwMode="auto">
            <a:xfrm>
              <a:off x="5732185" y="1947988"/>
              <a:ext cx="2571768" cy="2020674"/>
            </a:xfrm>
            <a:prstGeom prst="rect">
              <a:avLst/>
            </a:prstGeom>
            <a:noFill/>
            <a:ln w="9525">
              <a:noFill/>
              <a:miter lim="800000"/>
              <a:headEnd/>
              <a:tailEnd/>
            </a:ln>
            <a:effectLst/>
          </p:spPr>
        </p:pic>
        <p:cxnSp>
          <p:nvCxnSpPr>
            <p:cNvPr id="179" name="直接连接符 178"/>
            <p:cNvCxnSpPr/>
            <p:nvPr/>
          </p:nvCxnSpPr>
          <p:spPr bwMode="auto">
            <a:xfrm flipV="1">
              <a:off x="6053562" y="2198891"/>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0" name="直接箭头连接符 179"/>
            <p:cNvCxnSpPr/>
            <p:nvPr/>
          </p:nvCxnSpPr>
          <p:spPr bwMode="auto">
            <a:xfrm rot="5400000">
              <a:off x="5481264" y="2921994"/>
              <a:ext cx="1429554"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81" name="TextBox 180"/>
            <p:cNvSpPr txBox="1"/>
            <p:nvPr/>
          </p:nvSpPr>
          <p:spPr>
            <a:xfrm rot="16200000">
              <a:off x="6018512" y="2755793"/>
              <a:ext cx="327334"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endParaRPr lang="zh-CN" altLang="en-US" sz="2000" b="1" i="1">
                <a:latin typeface="Times New Roman" pitchFamily="18" charset="0"/>
                <a:cs typeface="Times New Roman" pitchFamily="18" charset="0"/>
              </a:endParaRPr>
            </a:p>
          </p:txBody>
        </p:sp>
        <p:cxnSp>
          <p:nvCxnSpPr>
            <p:cNvPr id="182" name="直接箭头连接符 181"/>
            <p:cNvCxnSpPr/>
            <p:nvPr/>
          </p:nvCxnSpPr>
          <p:spPr bwMode="auto">
            <a:xfrm rot="10800000">
              <a:off x="5959562" y="1714488"/>
              <a:ext cx="2184338" cy="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83" name="TextBox 182"/>
            <p:cNvSpPr txBox="1"/>
            <p:nvPr/>
          </p:nvSpPr>
          <p:spPr>
            <a:xfrm>
              <a:off x="6858016" y="150017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sp>
          <p:nvSpPr>
            <p:cNvPr id="184" name="TextBox 183"/>
            <p:cNvSpPr txBox="1"/>
            <p:nvPr/>
          </p:nvSpPr>
          <p:spPr>
            <a:xfrm>
              <a:off x="8143900" y="364331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85" name="TextBox 184"/>
            <p:cNvSpPr txBox="1"/>
            <p:nvPr/>
          </p:nvSpPr>
          <p:spPr>
            <a:xfrm>
              <a:off x="5553496" y="3633586"/>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sp>
          <p:nvSpPr>
            <p:cNvPr id="186" name="TextBox 185"/>
            <p:cNvSpPr txBox="1"/>
            <p:nvPr/>
          </p:nvSpPr>
          <p:spPr>
            <a:xfrm>
              <a:off x="8001024" y="184522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sp>
          <p:nvSpPr>
            <p:cNvPr id="187" name="TextBox 186"/>
            <p:cNvSpPr txBox="1"/>
            <p:nvPr/>
          </p:nvSpPr>
          <p:spPr>
            <a:xfrm>
              <a:off x="5786446" y="1872116"/>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D</a:t>
              </a:r>
              <a:endParaRPr lang="zh-CN" altLang="en-US" b="1" i="1">
                <a:latin typeface="Times New Roman" pitchFamily="18" charset="0"/>
                <a:cs typeface="Times New Roman" pitchFamily="18" charset="0"/>
              </a:endParaRPr>
            </a:p>
          </p:txBody>
        </p:sp>
        <p:cxnSp>
          <p:nvCxnSpPr>
            <p:cNvPr id="188" name="直接连接符 187"/>
            <p:cNvCxnSpPr/>
            <p:nvPr/>
          </p:nvCxnSpPr>
          <p:spPr bwMode="auto">
            <a:xfrm rot="5400000" flipV="1">
              <a:off x="5846645" y="173434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9" name="直接连接符 188"/>
            <p:cNvCxnSpPr/>
            <p:nvPr/>
          </p:nvCxnSpPr>
          <p:spPr bwMode="auto">
            <a:xfrm rot="5400000" flipV="1">
              <a:off x="8007434" y="173434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0" name="直接连接符 189"/>
            <p:cNvCxnSpPr/>
            <p:nvPr/>
          </p:nvCxnSpPr>
          <p:spPr bwMode="auto">
            <a:xfrm flipV="1">
              <a:off x="6482190" y="2500306"/>
              <a:ext cx="246036"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1" name="直接箭头连接符 190"/>
            <p:cNvCxnSpPr/>
            <p:nvPr/>
          </p:nvCxnSpPr>
          <p:spPr bwMode="auto">
            <a:xfrm rot="5400000">
              <a:off x="6032617" y="3071413"/>
              <a:ext cx="1143008" cy="794"/>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192" name="TextBox 191"/>
            <p:cNvSpPr txBox="1"/>
            <p:nvPr/>
          </p:nvSpPr>
          <p:spPr>
            <a:xfrm rot="16200000">
              <a:off x="6390234" y="2878015"/>
              <a:ext cx="441146"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h</a:t>
              </a:r>
              <a:r>
                <a:rPr lang="en-US" altLang="zh-CN" sz="2000" b="1" i="1" baseline="-25000">
                  <a:latin typeface="Times New Roman" pitchFamily="18" charset="0"/>
                  <a:cs typeface="Times New Roman" pitchFamily="18" charset="0"/>
                </a:rPr>
                <a:t>E</a:t>
              </a:r>
              <a:endParaRPr lang="zh-CN" altLang="en-US" sz="2000" b="1" i="1" baseline="-25000">
                <a:latin typeface="Times New Roman" pitchFamily="18" charset="0"/>
                <a:cs typeface="Times New Roman" pitchFamily="18" charset="0"/>
              </a:endParaRPr>
            </a:p>
          </p:txBody>
        </p:sp>
      </p:grpSp>
      <p:sp>
        <p:nvSpPr>
          <p:cNvPr id="196" name="TextBox 195"/>
          <p:cNvSpPr txBox="1"/>
          <p:nvPr/>
        </p:nvSpPr>
        <p:spPr>
          <a:xfrm>
            <a:off x="7334480" y="2804694"/>
            <a:ext cx="1095172" cy="338554"/>
          </a:xfrm>
          <a:prstGeom prst="rect">
            <a:avLst/>
          </a:prstGeom>
          <a:noFill/>
          <a:ln w="28575">
            <a:noFill/>
          </a:ln>
        </p:spPr>
        <p:txBody>
          <a:bodyPr wrap="none" rtlCol="0">
            <a:spAutoFit/>
          </a:bodyPr>
          <a:lstStyle/>
          <a:p>
            <a:r>
              <a:rPr lang="en-US" altLang="zh-CN" sz="1600" b="1" i="1">
                <a:solidFill>
                  <a:srgbClr val="C00000"/>
                </a:solidFill>
                <a:latin typeface="Times New Roman" pitchFamily="18" charset="0"/>
                <a:cs typeface="Times New Roman" pitchFamily="18" charset="0"/>
              </a:rPr>
              <a:t>q</a:t>
            </a:r>
            <a:r>
              <a:rPr lang="en-US" altLang="zh-CN" sz="1600" b="1">
                <a:solidFill>
                  <a:srgbClr val="C00000"/>
                </a:solidFill>
                <a:latin typeface="Times New Roman" pitchFamily="18" charset="0"/>
                <a:cs typeface="Times New Roman" pitchFamily="18" charset="0"/>
              </a:rPr>
              <a:t>=</a:t>
            </a:r>
            <a:r>
              <a:rPr lang="en-US" altLang="zh-CN" sz="1600" b="1" i="1">
                <a:solidFill>
                  <a:srgbClr val="C00000"/>
                </a:solidFill>
                <a:latin typeface="Times New Roman" pitchFamily="18" charset="0"/>
                <a:cs typeface="Times New Roman" pitchFamily="18" charset="0"/>
              </a:rPr>
              <a:t>p</a:t>
            </a:r>
            <a:r>
              <a:rPr lang="en-US" altLang="zh-CN" sz="1600" b="1">
                <a:solidFill>
                  <a:srgbClr val="C00000"/>
                </a:solidFill>
                <a:latin typeface="Times New Roman" pitchFamily="18" charset="0"/>
                <a:cs typeface="Times New Roman" pitchFamily="18" charset="0"/>
              </a:rPr>
              <a:t>(</a:t>
            </a:r>
            <a:r>
              <a:rPr lang="en-US" altLang="zh-CN" sz="1600" b="1" i="1">
                <a:solidFill>
                  <a:srgbClr val="C00000"/>
                </a:solidFill>
                <a:latin typeface="Times New Roman" pitchFamily="18" charset="0"/>
                <a:cs typeface="Times New Roman" pitchFamily="18" charset="0"/>
              </a:rPr>
              <a:t>h</a:t>
            </a:r>
            <a:r>
              <a:rPr lang="en-US" altLang="zh-CN" sz="1600" b="1" i="1" baseline="-25000">
                <a:solidFill>
                  <a:srgbClr val="C00000"/>
                </a:solidFill>
                <a:latin typeface="Times New Roman" pitchFamily="18" charset="0"/>
                <a:cs typeface="Times New Roman" pitchFamily="18" charset="0"/>
              </a:rPr>
              <a:t>E </a:t>
            </a:r>
            <a:r>
              <a:rPr lang="en-US" altLang="zh-CN" sz="1600" b="1">
                <a:solidFill>
                  <a:srgbClr val="C00000"/>
                </a:solidFill>
                <a:latin typeface="Times New Roman" pitchFamily="18" charset="0"/>
                <a:cs typeface="Times New Roman" pitchFamily="18" charset="0"/>
              </a:rPr>
              <a:t>-</a:t>
            </a:r>
            <a:r>
              <a:rPr lang="en-US" altLang="zh-CN" sz="1600" b="1" baseline="-25000">
                <a:solidFill>
                  <a:srgbClr val="C00000"/>
                </a:solidFill>
                <a:latin typeface="Times New Roman" pitchFamily="18" charset="0"/>
                <a:cs typeface="Times New Roman" pitchFamily="18" charset="0"/>
              </a:rPr>
              <a:t> </a:t>
            </a:r>
            <a:r>
              <a:rPr lang="en-US" altLang="zh-CN" sz="1600" b="1" i="1">
                <a:solidFill>
                  <a:srgbClr val="C00000"/>
                </a:solidFill>
                <a:latin typeface="Times New Roman" pitchFamily="18" charset="0"/>
                <a:cs typeface="Times New Roman" pitchFamily="18" charset="0"/>
              </a:rPr>
              <a:t>y</a:t>
            </a:r>
            <a:r>
              <a:rPr lang="en-US" altLang="zh-CN" sz="1600" b="1">
                <a:solidFill>
                  <a:srgbClr val="C00000"/>
                </a:solidFill>
                <a:latin typeface="Times New Roman" pitchFamily="18" charset="0"/>
                <a:cs typeface="Times New Roman" pitchFamily="18" charset="0"/>
              </a:rPr>
              <a:t>)</a:t>
            </a:r>
            <a:endParaRPr lang="zh-CN" altLang="en-US" sz="1600" b="1">
              <a:solidFill>
                <a:srgbClr val="C00000"/>
              </a:solidFill>
              <a:latin typeface="Times New Roman" pitchFamily="18" charset="0"/>
              <a:cs typeface="Times New Roman" pitchFamily="18" charset="0"/>
            </a:endParaRPr>
          </a:p>
        </p:txBody>
      </p:sp>
      <p:grpSp>
        <p:nvGrpSpPr>
          <p:cNvPr id="207" name="组合 51"/>
          <p:cNvGrpSpPr/>
          <p:nvPr/>
        </p:nvGrpSpPr>
        <p:grpSpPr>
          <a:xfrm rot="16200000">
            <a:off x="7090130" y="2758191"/>
            <a:ext cx="363538" cy="2160000"/>
            <a:chOff x="8130457" y="2215348"/>
            <a:chExt cx="363538" cy="1428760"/>
          </a:xfrm>
        </p:grpSpPr>
        <p:cxnSp>
          <p:nvCxnSpPr>
            <p:cNvPr id="208" name="直接箭头连接符 207"/>
            <p:cNvCxnSpPr/>
            <p:nvPr/>
          </p:nvCxnSpPr>
          <p:spPr bwMode="auto">
            <a:xfrm flipV="1">
              <a:off x="8130656" y="222359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209" name="组合 48"/>
            <p:cNvGrpSpPr/>
            <p:nvPr/>
          </p:nvGrpSpPr>
          <p:grpSpPr>
            <a:xfrm>
              <a:off x="8130457" y="2215348"/>
              <a:ext cx="363538" cy="1428760"/>
              <a:chOff x="8130457" y="2215348"/>
              <a:chExt cx="363538" cy="1428760"/>
            </a:xfrm>
          </p:grpSpPr>
          <p:cxnSp>
            <p:nvCxnSpPr>
              <p:cNvPr id="210" name="直接箭头连接符 209"/>
              <p:cNvCxnSpPr/>
              <p:nvPr/>
            </p:nvCxnSpPr>
            <p:spPr bwMode="auto">
              <a:xfrm flipV="1">
                <a:off x="8130457" y="2418235"/>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1" name="直接箭头连接符 210"/>
              <p:cNvCxnSpPr/>
              <p:nvPr/>
            </p:nvCxnSpPr>
            <p:spPr bwMode="auto">
              <a:xfrm flipV="1">
                <a:off x="8133267" y="261427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2" name="直接箭头连接符 211"/>
              <p:cNvCxnSpPr/>
              <p:nvPr/>
            </p:nvCxnSpPr>
            <p:spPr bwMode="auto">
              <a:xfrm flipV="1">
                <a:off x="8133267" y="2817957"/>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3" name="直接箭头连接符 212"/>
              <p:cNvCxnSpPr/>
              <p:nvPr/>
            </p:nvCxnSpPr>
            <p:spPr bwMode="auto">
              <a:xfrm flipV="1">
                <a:off x="8133267" y="3021638"/>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4" name="直接箭头连接符 213"/>
              <p:cNvCxnSpPr/>
              <p:nvPr/>
            </p:nvCxnSpPr>
            <p:spPr bwMode="auto">
              <a:xfrm flipV="1">
                <a:off x="8133267" y="3235952"/>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5" name="直接箭头连接符 214"/>
              <p:cNvCxnSpPr/>
              <p:nvPr/>
            </p:nvCxnSpPr>
            <p:spPr bwMode="auto">
              <a:xfrm flipV="1">
                <a:off x="8133267" y="3632681"/>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6" name="直接箭头连接符 215"/>
              <p:cNvCxnSpPr/>
              <p:nvPr/>
            </p:nvCxnSpPr>
            <p:spPr bwMode="auto">
              <a:xfrm flipV="1">
                <a:off x="8133995" y="3442626"/>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17" name="直接连接符 216"/>
              <p:cNvCxnSpPr/>
              <p:nvPr/>
            </p:nvCxnSpPr>
            <p:spPr bwMode="auto">
              <a:xfrm rot="5400000">
                <a:off x="7436327" y="2928934"/>
                <a:ext cx="142876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cxnSp>
        <p:nvCxnSpPr>
          <p:cNvPr id="224" name="直接箭头连接符 223"/>
          <p:cNvCxnSpPr/>
          <p:nvPr/>
        </p:nvCxnSpPr>
        <p:spPr bwMode="auto">
          <a:xfrm rot="10800000">
            <a:off x="8358214" y="3429000"/>
            <a:ext cx="285752"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25" name="直接箭头连接符 224"/>
          <p:cNvCxnSpPr/>
          <p:nvPr/>
        </p:nvCxnSpPr>
        <p:spPr bwMode="auto">
          <a:xfrm flipH="1" flipV="1">
            <a:off x="8358214" y="364331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29" name="直接连接符 228"/>
          <p:cNvCxnSpPr/>
          <p:nvPr/>
        </p:nvCxnSpPr>
        <p:spPr bwMode="auto">
          <a:xfrm rot="16200000" flipH="1">
            <a:off x="7965305" y="2893215"/>
            <a:ext cx="1143008" cy="35719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31" name="直接箭头连接符 230"/>
          <p:cNvCxnSpPr/>
          <p:nvPr/>
        </p:nvCxnSpPr>
        <p:spPr bwMode="auto">
          <a:xfrm rot="10800000">
            <a:off x="8357984" y="3214686"/>
            <a:ext cx="234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33" name="直接箭头连接符 232"/>
          <p:cNvCxnSpPr/>
          <p:nvPr/>
        </p:nvCxnSpPr>
        <p:spPr bwMode="auto">
          <a:xfrm rot="10800000">
            <a:off x="8363344" y="2990644"/>
            <a:ext cx="180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35" name="直接箭头连接符 234"/>
          <p:cNvCxnSpPr/>
          <p:nvPr/>
        </p:nvCxnSpPr>
        <p:spPr bwMode="auto">
          <a:xfrm rot="10800000">
            <a:off x="8367942" y="2786058"/>
            <a:ext cx="108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nvGrpSpPr>
          <p:cNvPr id="242" name="组合 241"/>
          <p:cNvGrpSpPr/>
          <p:nvPr/>
        </p:nvGrpSpPr>
        <p:grpSpPr>
          <a:xfrm flipH="1">
            <a:off x="5815630" y="2490578"/>
            <a:ext cx="360230" cy="1143008"/>
            <a:chOff x="5214712" y="3571876"/>
            <a:chExt cx="360230" cy="1143008"/>
          </a:xfrm>
        </p:grpSpPr>
        <p:cxnSp>
          <p:nvCxnSpPr>
            <p:cNvPr id="236" name="直接箭头连接符 235"/>
            <p:cNvCxnSpPr/>
            <p:nvPr/>
          </p:nvCxnSpPr>
          <p:spPr bwMode="auto">
            <a:xfrm rot="10800000">
              <a:off x="5214942" y="4500570"/>
              <a:ext cx="285752"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37" name="直接箭头连接符 236"/>
            <p:cNvCxnSpPr/>
            <p:nvPr/>
          </p:nvCxnSpPr>
          <p:spPr bwMode="auto">
            <a:xfrm flipH="1" flipV="1">
              <a:off x="5214942" y="4714884"/>
              <a:ext cx="360000" cy="0"/>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38" name="直接连接符 237"/>
            <p:cNvCxnSpPr/>
            <p:nvPr/>
          </p:nvCxnSpPr>
          <p:spPr bwMode="auto">
            <a:xfrm rot="16200000" flipH="1">
              <a:off x="4822033" y="3964785"/>
              <a:ext cx="1143008" cy="35719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39" name="直接箭头连接符 238"/>
            <p:cNvCxnSpPr/>
            <p:nvPr/>
          </p:nvCxnSpPr>
          <p:spPr bwMode="auto">
            <a:xfrm rot="10800000">
              <a:off x="5214712" y="4286256"/>
              <a:ext cx="234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40" name="直接箭头连接符 239"/>
            <p:cNvCxnSpPr/>
            <p:nvPr/>
          </p:nvCxnSpPr>
          <p:spPr bwMode="auto">
            <a:xfrm rot="10800000">
              <a:off x="5220072" y="4062214"/>
              <a:ext cx="180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cxnSp>
          <p:nvCxnSpPr>
            <p:cNvPr id="241" name="直接箭头连接符 240"/>
            <p:cNvCxnSpPr/>
            <p:nvPr/>
          </p:nvCxnSpPr>
          <p:spPr bwMode="auto">
            <a:xfrm rot="10800000">
              <a:off x="5224670" y="3857628"/>
              <a:ext cx="108000" cy="1588"/>
            </a:xfrm>
            <a:prstGeom prst="straightConnector1">
              <a:avLst/>
            </a:prstGeom>
            <a:solidFill>
              <a:schemeClr val="accent1"/>
            </a:solidFill>
            <a:ln w="28575" cap="flat" cmpd="sng" algn="ctr">
              <a:solidFill>
                <a:srgbClr val="C00000"/>
              </a:solidFill>
              <a:prstDash val="solid"/>
              <a:round/>
              <a:headEnd type="triangle" w="med" len="lg"/>
              <a:tailEnd type="none" w="med" len="med"/>
            </a:ln>
            <a:effectLst/>
          </p:spPr>
        </p:cxnSp>
      </p:grpSp>
      <p:sp>
        <p:nvSpPr>
          <p:cNvPr id="244" name="TextBox 243"/>
          <p:cNvSpPr txBox="1"/>
          <p:nvPr/>
        </p:nvSpPr>
        <p:spPr>
          <a:xfrm>
            <a:off x="7000892" y="4000504"/>
            <a:ext cx="712054" cy="338554"/>
          </a:xfrm>
          <a:prstGeom prst="rect">
            <a:avLst/>
          </a:prstGeom>
          <a:noFill/>
          <a:ln w="28575">
            <a:noFill/>
          </a:ln>
        </p:spPr>
        <p:txBody>
          <a:bodyPr wrap="none" rtlCol="0">
            <a:spAutoFit/>
          </a:bodyPr>
          <a:lstStyle/>
          <a:p>
            <a:r>
              <a:rPr lang="en-US" altLang="zh-CN" sz="1600" b="1" i="1">
                <a:solidFill>
                  <a:srgbClr val="C00000"/>
                </a:solidFill>
                <a:latin typeface="Times New Roman" pitchFamily="18" charset="0"/>
                <a:cs typeface="Times New Roman" pitchFamily="18" charset="0"/>
              </a:rPr>
              <a:t>q</a:t>
            </a:r>
            <a:r>
              <a:rPr lang="en-US" altLang="zh-CN" sz="1600" b="1">
                <a:solidFill>
                  <a:srgbClr val="C00000"/>
                </a:solidFill>
                <a:latin typeface="Times New Roman" pitchFamily="18" charset="0"/>
                <a:cs typeface="Times New Roman" pitchFamily="18" charset="0"/>
              </a:rPr>
              <a:t>=</a:t>
            </a:r>
            <a:r>
              <a:rPr lang="en-US" altLang="zh-CN" sz="1600" b="1" i="1">
                <a:solidFill>
                  <a:srgbClr val="C00000"/>
                </a:solidFill>
                <a:latin typeface="Times New Roman" pitchFamily="18" charset="0"/>
                <a:cs typeface="Times New Roman" pitchFamily="18" charset="0"/>
              </a:rPr>
              <a:t>ph</a:t>
            </a:r>
            <a:r>
              <a:rPr lang="en-US" altLang="zh-CN" sz="1600" b="1" i="1" baseline="-25000">
                <a:solidFill>
                  <a:srgbClr val="C00000"/>
                </a:solidFill>
                <a:latin typeface="Times New Roman" pitchFamily="18" charset="0"/>
                <a:cs typeface="Times New Roman" pitchFamily="18" charset="0"/>
              </a:rPr>
              <a:t>E</a:t>
            </a:r>
            <a:endParaRPr lang="zh-CN" altLang="en-US" sz="1600" b="1" i="1" baseline="-25000">
              <a:solidFill>
                <a:srgbClr val="C00000"/>
              </a:solidFill>
              <a:latin typeface="Times New Roman" pitchFamily="18" charset="0"/>
              <a:cs typeface="Times New Roman" pitchFamily="18" charset="0"/>
            </a:endParaRPr>
          </a:p>
        </p:txBody>
      </p:sp>
      <p:sp>
        <p:nvSpPr>
          <p:cNvPr id="246" name="Text Box 141"/>
          <p:cNvSpPr txBox="1">
            <a:spLocks noChangeArrowheads="1"/>
          </p:cNvSpPr>
          <p:nvPr/>
        </p:nvSpPr>
        <p:spPr bwMode="auto">
          <a:xfrm>
            <a:off x="1257304" y="2643182"/>
            <a:ext cx="4386266" cy="400110"/>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000" b="1" kern="1200">
                <a:solidFill>
                  <a:srgbClr val="000000"/>
                </a:solidFill>
                <a:latin typeface="+mn-ea"/>
                <a:cs typeface="+mn-cs"/>
              </a:rPr>
              <a:t>解</a:t>
            </a:r>
            <a:r>
              <a:rPr kumimoji="1" lang="zh-CN" altLang="en-US" sz="2000" b="1">
                <a:solidFill>
                  <a:srgbClr val="000000"/>
                </a:solidFill>
                <a:latin typeface="+mn-ea"/>
              </a:rPr>
              <a:t>：作</a:t>
            </a:r>
            <a:r>
              <a:rPr kumimoji="1" lang="zh-CN" altLang="en-US" sz="2000" b="1" kern="1200">
                <a:solidFill>
                  <a:srgbClr val="000000"/>
                </a:solidFill>
                <a:latin typeface="+mn-ea"/>
                <a:cs typeface="+mn-cs"/>
              </a:rPr>
              <a:t>荷载弯矩图和单位荷载弯矩图</a:t>
            </a:r>
          </a:p>
        </p:txBody>
      </p:sp>
      <p:pic>
        <p:nvPicPr>
          <p:cNvPr id="247" name="Picture 8"/>
          <p:cNvPicPr>
            <a:picLocks noChangeAspect="1" noChangeArrowheads="1"/>
          </p:cNvPicPr>
          <p:nvPr/>
        </p:nvPicPr>
        <p:blipFill>
          <a:blip r:embed="rId4"/>
          <a:srcRect/>
          <a:stretch>
            <a:fillRect/>
          </a:stretch>
        </p:blipFill>
        <p:spPr bwMode="auto">
          <a:xfrm>
            <a:off x="500034" y="3071810"/>
            <a:ext cx="2273028" cy="1785950"/>
          </a:xfrm>
          <a:prstGeom prst="rect">
            <a:avLst/>
          </a:prstGeom>
          <a:noFill/>
          <a:ln w="9525">
            <a:noFill/>
            <a:miter lim="800000"/>
            <a:headEnd/>
            <a:tailEnd/>
          </a:ln>
          <a:effectLst/>
        </p:spPr>
      </p:pic>
      <p:pic>
        <p:nvPicPr>
          <p:cNvPr id="248" name="Picture 8"/>
          <p:cNvPicPr>
            <a:picLocks noChangeAspect="1" noChangeArrowheads="1"/>
          </p:cNvPicPr>
          <p:nvPr/>
        </p:nvPicPr>
        <p:blipFill>
          <a:blip r:embed="rId4"/>
          <a:srcRect/>
          <a:stretch>
            <a:fillRect/>
          </a:stretch>
        </p:blipFill>
        <p:spPr bwMode="auto">
          <a:xfrm>
            <a:off x="3281354" y="3071810"/>
            <a:ext cx="2286016" cy="1796155"/>
          </a:xfrm>
          <a:prstGeom prst="rect">
            <a:avLst/>
          </a:prstGeom>
          <a:noFill/>
          <a:ln w="9525">
            <a:noFill/>
            <a:miter lim="800000"/>
            <a:headEnd/>
            <a:tailEnd/>
          </a:ln>
          <a:effectLst/>
        </p:spPr>
      </p:pic>
      <p:sp>
        <p:nvSpPr>
          <p:cNvPr id="251" name="Oval 41"/>
          <p:cNvSpPr>
            <a:spLocks noChangeArrowheads="1"/>
          </p:cNvSpPr>
          <p:nvPr/>
        </p:nvSpPr>
        <p:spPr bwMode="auto">
          <a:xfrm>
            <a:off x="1428728" y="314324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264" name="组合 263"/>
          <p:cNvGrpSpPr/>
          <p:nvPr/>
        </p:nvGrpSpPr>
        <p:grpSpPr>
          <a:xfrm>
            <a:off x="234350" y="3643314"/>
            <a:ext cx="2387998" cy="1115333"/>
            <a:chOff x="234350" y="3643314"/>
            <a:chExt cx="2387998" cy="1115333"/>
          </a:xfrm>
        </p:grpSpPr>
        <p:sp>
          <p:nvSpPr>
            <p:cNvPr id="249" name="任意多边形 248"/>
            <p:cNvSpPr/>
            <p:nvPr/>
          </p:nvSpPr>
          <p:spPr bwMode="auto">
            <a:xfrm>
              <a:off x="696686" y="3657600"/>
              <a:ext cx="261257" cy="928914"/>
            </a:xfrm>
            <a:custGeom>
              <a:avLst/>
              <a:gdLst>
                <a:gd name="connsiteX0" fmla="*/ 0 w 261257"/>
                <a:gd name="connsiteY0" fmla="*/ 0 h 928914"/>
                <a:gd name="connsiteX1" fmla="*/ 101600 w 261257"/>
                <a:gd name="connsiteY1" fmla="*/ 551543 h 928914"/>
                <a:gd name="connsiteX2" fmla="*/ 261257 w 261257"/>
                <a:gd name="connsiteY2" fmla="*/ 928914 h 928914"/>
              </a:gdLst>
              <a:ahLst/>
              <a:cxnLst>
                <a:cxn ang="0">
                  <a:pos x="connsiteX0" y="connsiteY0"/>
                </a:cxn>
                <a:cxn ang="0">
                  <a:pos x="connsiteX1" y="connsiteY1"/>
                </a:cxn>
                <a:cxn ang="0">
                  <a:pos x="connsiteX2" y="connsiteY2"/>
                </a:cxn>
              </a:cxnLst>
              <a:rect l="l" t="t" r="r" b="b"/>
              <a:pathLst>
                <a:path w="261257" h="928914">
                  <a:moveTo>
                    <a:pt x="0" y="0"/>
                  </a:moveTo>
                  <a:cubicBezTo>
                    <a:pt x="29028" y="198362"/>
                    <a:pt x="58057" y="396724"/>
                    <a:pt x="101600" y="551543"/>
                  </a:cubicBezTo>
                  <a:cubicBezTo>
                    <a:pt x="145143" y="706362"/>
                    <a:pt x="203200" y="817638"/>
                    <a:pt x="261257" y="928914"/>
                  </a:cubicBezTo>
                </a:path>
              </a:pathLst>
            </a:cu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250" name="任意多边形 249"/>
            <p:cNvSpPr/>
            <p:nvPr/>
          </p:nvSpPr>
          <p:spPr bwMode="auto">
            <a:xfrm flipH="1">
              <a:off x="2351095" y="3643314"/>
              <a:ext cx="261257" cy="928914"/>
            </a:xfrm>
            <a:custGeom>
              <a:avLst/>
              <a:gdLst>
                <a:gd name="connsiteX0" fmla="*/ 0 w 261257"/>
                <a:gd name="connsiteY0" fmla="*/ 0 h 928914"/>
                <a:gd name="connsiteX1" fmla="*/ 101600 w 261257"/>
                <a:gd name="connsiteY1" fmla="*/ 551543 h 928914"/>
                <a:gd name="connsiteX2" fmla="*/ 261257 w 261257"/>
                <a:gd name="connsiteY2" fmla="*/ 928914 h 928914"/>
              </a:gdLst>
              <a:ahLst/>
              <a:cxnLst>
                <a:cxn ang="0">
                  <a:pos x="connsiteX0" y="connsiteY0"/>
                </a:cxn>
                <a:cxn ang="0">
                  <a:pos x="connsiteX1" y="connsiteY1"/>
                </a:cxn>
                <a:cxn ang="0">
                  <a:pos x="connsiteX2" y="connsiteY2"/>
                </a:cxn>
              </a:cxnLst>
              <a:rect l="l" t="t" r="r" b="b"/>
              <a:pathLst>
                <a:path w="261257" h="928914">
                  <a:moveTo>
                    <a:pt x="0" y="0"/>
                  </a:moveTo>
                  <a:cubicBezTo>
                    <a:pt x="29028" y="198362"/>
                    <a:pt x="58057" y="396724"/>
                    <a:pt x="101600" y="551543"/>
                  </a:cubicBezTo>
                  <a:cubicBezTo>
                    <a:pt x="145143" y="706362"/>
                    <a:pt x="203200" y="817638"/>
                    <a:pt x="261257" y="928914"/>
                  </a:cubicBezTo>
                </a:path>
              </a:pathLst>
            </a:cu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cxnSp>
          <p:nvCxnSpPr>
            <p:cNvPr id="253" name="直接连接符 252"/>
            <p:cNvCxnSpPr/>
            <p:nvPr/>
          </p:nvCxnSpPr>
          <p:spPr bwMode="auto">
            <a:xfrm>
              <a:off x="714348" y="4286256"/>
              <a:ext cx="1908000" cy="1588"/>
            </a:xfrm>
            <a:prstGeom prst="line">
              <a:avLst/>
            </a:prstGeom>
            <a:solidFill>
              <a:schemeClr val="accent1"/>
            </a:solidFill>
            <a:ln w="19050" cap="flat" cmpd="sng" algn="ctr">
              <a:solidFill>
                <a:srgbClr val="0033CC"/>
              </a:solidFill>
              <a:prstDash val="lgDash"/>
              <a:round/>
              <a:headEnd type="none" w="med" len="med"/>
              <a:tailEnd type="none" w="med" len="med"/>
            </a:ln>
            <a:effectLst/>
          </p:spPr>
        </p:cxnSp>
        <p:graphicFrame>
          <p:nvGraphicFramePr>
            <p:cNvPr id="489489" name="Object 17"/>
            <p:cNvGraphicFramePr>
              <a:graphicFrameLocks noChangeAspect="1"/>
            </p:cNvGraphicFramePr>
            <p:nvPr/>
          </p:nvGraphicFramePr>
          <p:xfrm>
            <a:off x="234350" y="4204544"/>
            <a:ext cx="406400" cy="393700"/>
          </p:xfrm>
          <a:graphic>
            <a:graphicData uri="http://schemas.openxmlformats.org/presentationml/2006/ole">
              <mc:AlternateContent xmlns:mc="http://schemas.openxmlformats.org/markup-compatibility/2006">
                <mc:Choice xmlns:v="urn:schemas-microsoft-com:vml" Requires="v">
                  <p:oleObj spid="_x0000_s489498" name="Equation" r:id="rId5" imgW="406080" imgH="393480" progId="Equation.DSMT4">
                    <p:embed/>
                  </p:oleObj>
                </mc:Choice>
                <mc:Fallback>
                  <p:oleObj name="Equation" r:id="rId5" imgW="406080" imgH="39348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350" y="4204544"/>
                          <a:ext cx="406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7" name="任意多边形 256"/>
            <p:cNvSpPr/>
            <p:nvPr/>
          </p:nvSpPr>
          <p:spPr bwMode="auto">
            <a:xfrm>
              <a:off x="698643" y="4284324"/>
              <a:ext cx="1900719" cy="474323"/>
            </a:xfrm>
            <a:custGeom>
              <a:avLst/>
              <a:gdLst>
                <a:gd name="connsiteX0" fmla="*/ 0 w 1900719"/>
                <a:gd name="connsiteY0" fmla="*/ 0 h 474323"/>
                <a:gd name="connsiteX1" fmla="*/ 924674 w 1900719"/>
                <a:gd name="connsiteY1" fmla="*/ 472611 h 474323"/>
                <a:gd name="connsiteX2" fmla="*/ 1900719 w 1900719"/>
                <a:gd name="connsiteY2" fmla="*/ 10274 h 474323"/>
              </a:gdLst>
              <a:ahLst/>
              <a:cxnLst>
                <a:cxn ang="0">
                  <a:pos x="connsiteX0" y="connsiteY0"/>
                </a:cxn>
                <a:cxn ang="0">
                  <a:pos x="connsiteX1" y="connsiteY1"/>
                </a:cxn>
                <a:cxn ang="0">
                  <a:pos x="connsiteX2" y="connsiteY2"/>
                </a:cxn>
              </a:cxnLst>
              <a:rect l="l" t="t" r="r" b="b"/>
              <a:pathLst>
                <a:path w="1900719" h="474323">
                  <a:moveTo>
                    <a:pt x="0" y="0"/>
                  </a:moveTo>
                  <a:cubicBezTo>
                    <a:pt x="303944" y="235449"/>
                    <a:pt x="607888" y="470899"/>
                    <a:pt x="924674" y="472611"/>
                  </a:cubicBezTo>
                  <a:cubicBezTo>
                    <a:pt x="1241461" y="474323"/>
                    <a:pt x="1571090" y="242298"/>
                    <a:pt x="1900719" y="10274"/>
                  </a:cubicBezTo>
                </a:path>
              </a:pathLst>
            </a:cu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cxnSp>
          <p:nvCxnSpPr>
            <p:cNvPr id="259" name="直接连接符 258"/>
            <p:cNvCxnSpPr>
              <a:stCxn id="257" idx="1"/>
            </p:cNvCxnSpPr>
            <p:nvPr/>
          </p:nvCxnSpPr>
          <p:spPr bwMode="auto">
            <a:xfrm flipV="1">
              <a:off x="1623317" y="4286256"/>
              <a:ext cx="0" cy="470679"/>
            </a:xfrm>
            <a:prstGeom prst="line">
              <a:avLst/>
            </a:prstGeom>
            <a:solidFill>
              <a:schemeClr val="accent1"/>
            </a:solidFill>
            <a:ln w="19050" cap="flat" cmpd="sng" algn="ctr">
              <a:solidFill>
                <a:srgbClr val="0033CC"/>
              </a:solidFill>
              <a:prstDash val="solid"/>
              <a:round/>
              <a:headEnd type="triangle" w="med" len="med"/>
              <a:tailEnd type="triangle" w="med" len="med"/>
            </a:ln>
            <a:effectLst/>
          </p:spPr>
        </p:cxnSp>
        <p:graphicFrame>
          <p:nvGraphicFramePr>
            <p:cNvPr id="489490" name="Object 18"/>
            <p:cNvGraphicFramePr>
              <a:graphicFrameLocks noChangeAspect="1"/>
            </p:cNvGraphicFramePr>
            <p:nvPr/>
          </p:nvGraphicFramePr>
          <p:xfrm>
            <a:off x="1643042" y="3714752"/>
            <a:ext cx="520700" cy="393700"/>
          </p:xfrm>
          <a:graphic>
            <a:graphicData uri="http://schemas.openxmlformats.org/presentationml/2006/ole">
              <mc:AlternateContent xmlns:mc="http://schemas.openxmlformats.org/markup-compatibility/2006">
                <mc:Choice xmlns:v="urn:schemas-microsoft-com:vml" Requires="v">
                  <p:oleObj spid="_x0000_s489499" name="Equation" r:id="rId7" imgW="520560" imgH="393480" progId="Equation.DSMT4">
                    <p:embed/>
                  </p:oleObj>
                </mc:Choice>
                <mc:Fallback>
                  <p:oleObj name="Equation" r:id="rId7" imgW="520560" imgH="393480" progId="Equation.DSMT4">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3042" y="3714752"/>
                          <a:ext cx="520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3" name="直接连接符 262"/>
            <p:cNvCxnSpPr/>
            <p:nvPr/>
          </p:nvCxnSpPr>
          <p:spPr bwMode="auto">
            <a:xfrm rot="5400000" flipH="1" flipV="1">
              <a:off x="1571604" y="4214818"/>
              <a:ext cx="285752" cy="142876"/>
            </a:xfrm>
            <a:prstGeom prst="line">
              <a:avLst/>
            </a:prstGeom>
            <a:solidFill>
              <a:schemeClr val="accent1"/>
            </a:solidFill>
            <a:ln w="19050" cap="flat" cmpd="sng" algn="ctr">
              <a:solidFill>
                <a:srgbClr val="0033CC"/>
              </a:solidFill>
              <a:prstDash val="solid"/>
              <a:round/>
              <a:headEnd type="none" w="med" len="med"/>
              <a:tailEnd type="none" w="med" len="med"/>
            </a:ln>
            <a:effectLst/>
          </p:spPr>
        </p:cxnSp>
      </p:grpSp>
      <p:cxnSp>
        <p:nvCxnSpPr>
          <p:cNvPr id="266" name="直接箭头连接符 265"/>
          <p:cNvCxnSpPr/>
          <p:nvPr/>
        </p:nvCxnSpPr>
        <p:spPr bwMode="auto">
          <a:xfrm>
            <a:off x="3046402" y="3286124"/>
            <a:ext cx="428628" cy="1588"/>
          </a:xfrm>
          <a:prstGeom prst="straightConnector1">
            <a:avLst/>
          </a:prstGeom>
          <a:solidFill>
            <a:schemeClr val="accent1"/>
          </a:solidFill>
          <a:ln w="38100" cap="flat" cmpd="sng" algn="ctr">
            <a:solidFill>
              <a:srgbClr val="0033CC"/>
            </a:solidFill>
            <a:prstDash val="solid"/>
            <a:round/>
            <a:headEnd type="none" w="med" len="med"/>
            <a:tailEnd type="triangle" w="med" len="med"/>
          </a:ln>
          <a:effectLst/>
        </p:spPr>
      </p:cxnSp>
      <p:cxnSp>
        <p:nvCxnSpPr>
          <p:cNvPr id="268" name="直接箭头连接符 267"/>
          <p:cNvCxnSpPr/>
          <p:nvPr/>
        </p:nvCxnSpPr>
        <p:spPr bwMode="auto">
          <a:xfrm>
            <a:off x="5378456" y="3286124"/>
            <a:ext cx="428628" cy="1588"/>
          </a:xfrm>
          <a:prstGeom prst="straightConnector1">
            <a:avLst/>
          </a:prstGeom>
          <a:solidFill>
            <a:schemeClr val="accent1"/>
          </a:solidFill>
          <a:ln w="38100" cap="flat" cmpd="sng" algn="ctr">
            <a:solidFill>
              <a:srgbClr val="0033CC"/>
            </a:solidFill>
            <a:prstDash val="solid"/>
            <a:round/>
            <a:headEnd type="triangle" w="med" len="med"/>
            <a:tailEnd type="none" w="med" len="med"/>
          </a:ln>
          <a:effectLst/>
        </p:spPr>
      </p:cxnSp>
      <p:sp>
        <p:nvSpPr>
          <p:cNvPr id="269" name="TextBox 268"/>
          <p:cNvSpPr txBox="1"/>
          <p:nvPr/>
        </p:nvSpPr>
        <p:spPr>
          <a:xfrm>
            <a:off x="3571868" y="3143248"/>
            <a:ext cx="300082" cy="369332"/>
          </a:xfrm>
          <a:prstGeom prst="rect">
            <a:avLst/>
          </a:prstGeom>
          <a:noFill/>
          <a:ln w="28575">
            <a:noFill/>
          </a:ln>
        </p:spPr>
        <p:txBody>
          <a:bodyPr wrap="none" rtlCol="0">
            <a:spAutoFit/>
          </a:bodyPr>
          <a:lstStyle/>
          <a:p>
            <a:r>
              <a:rPr lang="en-US" altLang="zh-CN" b="1">
                <a:solidFill>
                  <a:srgbClr val="0033CC"/>
                </a:solidFill>
                <a:latin typeface="Times New Roman" pitchFamily="18" charset="0"/>
                <a:cs typeface="Times New Roman" pitchFamily="18" charset="0"/>
              </a:rPr>
              <a:t>1</a:t>
            </a:r>
            <a:endParaRPr lang="zh-CN" altLang="en-US" b="1">
              <a:solidFill>
                <a:srgbClr val="0033CC"/>
              </a:solidFill>
              <a:latin typeface="Times New Roman" pitchFamily="18" charset="0"/>
              <a:cs typeface="Times New Roman" pitchFamily="18" charset="0"/>
            </a:endParaRPr>
          </a:p>
        </p:txBody>
      </p:sp>
      <p:sp>
        <p:nvSpPr>
          <p:cNvPr id="270" name="TextBox 269"/>
          <p:cNvSpPr txBox="1"/>
          <p:nvPr/>
        </p:nvSpPr>
        <p:spPr>
          <a:xfrm>
            <a:off x="5072066" y="3143248"/>
            <a:ext cx="300082" cy="369332"/>
          </a:xfrm>
          <a:prstGeom prst="rect">
            <a:avLst/>
          </a:prstGeom>
          <a:noFill/>
          <a:ln w="28575">
            <a:noFill/>
          </a:ln>
        </p:spPr>
        <p:txBody>
          <a:bodyPr wrap="none" rtlCol="0">
            <a:spAutoFit/>
          </a:bodyPr>
          <a:lstStyle/>
          <a:p>
            <a:r>
              <a:rPr lang="en-US" altLang="zh-CN" b="1">
                <a:solidFill>
                  <a:srgbClr val="0033CC"/>
                </a:solidFill>
                <a:latin typeface="Times New Roman" pitchFamily="18" charset="0"/>
                <a:cs typeface="Times New Roman" pitchFamily="18" charset="0"/>
              </a:rPr>
              <a:t>1</a:t>
            </a:r>
            <a:endParaRPr lang="zh-CN" altLang="en-US" b="1">
              <a:solidFill>
                <a:srgbClr val="0033CC"/>
              </a:solidFill>
              <a:latin typeface="Times New Roman" pitchFamily="18" charset="0"/>
              <a:cs typeface="Times New Roman" pitchFamily="18" charset="0"/>
            </a:endParaRPr>
          </a:p>
        </p:txBody>
      </p:sp>
      <p:sp>
        <p:nvSpPr>
          <p:cNvPr id="272" name="Oval 42"/>
          <p:cNvSpPr>
            <a:spLocks noChangeArrowheads="1"/>
          </p:cNvSpPr>
          <p:nvPr/>
        </p:nvSpPr>
        <p:spPr bwMode="auto">
          <a:xfrm>
            <a:off x="4243386" y="315594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charset="-122"/>
                <a:cs typeface="+mn-cs"/>
              </a:rPr>
              <a:t>i</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285" name="组合 284"/>
          <p:cNvGrpSpPr/>
          <p:nvPr/>
        </p:nvGrpSpPr>
        <p:grpSpPr>
          <a:xfrm>
            <a:off x="3124602" y="3286124"/>
            <a:ext cx="2653082" cy="1656712"/>
            <a:chOff x="3124602" y="3286124"/>
            <a:chExt cx="2653082" cy="1656712"/>
          </a:xfrm>
        </p:grpSpPr>
        <p:cxnSp>
          <p:nvCxnSpPr>
            <p:cNvPr id="274" name="直接连接符 273"/>
            <p:cNvCxnSpPr/>
            <p:nvPr/>
          </p:nvCxnSpPr>
          <p:spPr bwMode="auto">
            <a:xfrm rot="10800000">
              <a:off x="3124602" y="4572008"/>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75" name="直接连接符 274"/>
            <p:cNvCxnSpPr/>
            <p:nvPr/>
          </p:nvCxnSpPr>
          <p:spPr bwMode="auto">
            <a:xfrm rot="10800000">
              <a:off x="5420494" y="4572008"/>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77" name="直接连接符 276"/>
            <p:cNvCxnSpPr/>
            <p:nvPr/>
          </p:nvCxnSpPr>
          <p:spPr bwMode="auto">
            <a:xfrm rot="5400000" flipH="1" flipV="1">
              <a:off x="2672955" y="3750471"/>
              <a:ext cx="1285884" cy="357190"/>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78" name="直接连接符 277"/>
            <p:cNvCxnSpPr/>
            <p:nvPr/>
          </p:nvCxnSpPr>
          <p:spPr bwMode="auto">
            <a:xfrm rot="16200000" flipV="1">
              <a:off x="4947095" y="3750472"/>
              <a:ext cx="1285884" cy="357190"/>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79" name="直接连接符 278"/>
            <p:cNvCxnSpPr/>
            <p:nvPr/>
          </p:nvCxnSpPr>
          <p:spPr bwMode="auto">
            <a:xfrm rot="16200000">
              <a:off x="3299525" y="4756682"/>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81" name="直接连接符 280"/>
            <p:cNvCxnSpPr/>
            <p:nvPr/>
          </p:nvCxnSpPr>
          <p:spPr bwMode="auto">
            <a:xfrm rot="16200000">
              <a:off x="5228351" y="4758470"/>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83" name="直接连接符 282"/>
            <p:cNvCxnSpPr/>
            <p:nvPr/>
          </p:nvCxnSpPr>
          <p:spPr bwMode="auto">
            <a:xfrm>
              <a:off x="3468156" y="4929198"/>
              <a:ext cx="1944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284" name="TextBox 283"/>
            <p:cNvSpPr txBox="1"/>
            <p:nvPr/>
          </p:nvSpPr>
          <p:spPr>
            <a:xfrm>
              <a:off x="5461530" y="4604282"/>
              <a:ext cx="298480" cy="338554"/>
            </a:xfrm>
            <a:prstGeom prst="rect">
              <a:avLst/>
            </a:prstGeom>
            <a:noFill/>
            <a:ln w="28575">
              <a:noFill/>
            </a:ln>
          </p:spPr>
          <p:txBody>
            <a:bodyPr wrap="none" rtlCol="0">
              <a:spAutoFit/>
            </a:bodyPr>
            <a:lstStyle/>
            <a:p>
              <a:r>
                <a:rPr lang="en-US" altLang="zh-CN" sz="1600" b="1" i="1">
                  <a:solidFill>
                    <a:srgbClr val="0033CC"/>
                  </a:solidFill>
                  <a:latin typeface="Times New Roman" pitchFamily="18" charset="0"/>
                  <a:cs typeface="Times New Roman" pitchFamily="18" charset="0"/>
                </a:rPr>
                <a:t>h</a:t>
              </a:r>
              <a:endParaRPr lang="zh-CN" altLang="en-US" sz="1600" b="1" i="1">
                <a:solidFill>
                  <a:srgbClr val="0033CC"/>
                </a:solidFill>
                <a:latin typeface="Times New Roman" pitchFamily="18" charset="0"/>
                <a:cs typeface="Times New Roman" pitchFamily="18" charset="0"/>
              </a:endParaRPr>
            </a:p>
          </p:txBody>
        </p:sp>
      </p:grpSp>
      <p:graphicFrame>
        <p:nvGraphicFramePr>
          <p:cNvPr id="489492" name="Object 20"/>
          <p:cNvGraphicFramePr>
            <a:graphicFrameLocks noChangeAspect="1"/>
          </p:cNvGraphicFramePr>
          <p:nvPr/>
        </p:nvGraphicFramePr>
        <p:xfrm>
          <a:off x="1520828" y="5000636"/>
          <a:ext cx="3551238" cy="558800"/>
        </p:xfrm>
        <a:graphic>
          <a:graphicData uri="http://schemas.openxmlformats.org/presentationml/2006/ole">
            <mc:AlternateContent xmlns:mc="http://schemas.openxmlformats.org/markup-compatibility/2006">
              <mc:Choice xmlns:v="urn:schemas-microsoft-com:vml" Requires="v">
                <p:oleObj spid="_x0000_s489500" name="Equation" r:id="rId9" imgW="2501640" imgH="393480" progId="Equation.DSMT4">
                  <p:embed/>
                </p:oleObj>
              </mc:Choice>
              <mc:Fallback>
                <p:oleObj name="Equation" r:id="rId9" imgW="2501640" imgH="393480" progId="Equation.DSMT4">
                  <p:embed/>
                  <p:pic>
                    <p:nvPicPr>
                      <p:cNvPr id="0"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0828" y="5000636"/>
                        <a:ext cx="3551238"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9493" name="Object 21"/>
          <p:cNvGraphicFramePr>
            <a:graphicFrameLocks noChangeAspect="1"/>
          </p:cNvGraphicFramePr>
          <p:nvPr/>
        </p:nvGraphicFramePr>
        <p:xfrm>
          <a:off x="1857356" y="5600720"/>
          <a:ext cx="6237287" cy="685800"/>
        </p:xfrm>
        <a:graphic>
          <a:graphicData uri="http://schemas.openxmlformats.org/presentationml/2006/ole">
            <mc:AlternateContent xmlns:mc="http://schemas.openxmlformats.org/markup-compatibility/2006">
              <mc:Choice xmlns:v="urn:schemas-microsoft-com:vml" Requires="v">
                <p:oleObj spid="_x0000_s489501" name="Equation" r:id="rId11" imgW="4394160" imgH="482400" progId="Equation.DSMT4">
                  <p:embed/>
                </p:oleObj>
              </mc:Choice>
              <mc:Fallback>
                <p:oleObj name="Equation" r:id="rId11" imgW="4394160" imgH="482400" progId="Equation.DSMT4">
                  <p:embed/>
                  <p:pic>
                    <p:nvPicPr>
                      <p:cNvPr id="0" name="Picture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7356" y="5600720"/>
                        <a:ext cx="62372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9494" name="Object 22"/>
          <p:cNvGraphicFramePr>
            <a:graphicFrameLocks noChangeAspect="1"/>
          </p:cNvGraphicFramePr>
          <p:nvPr/>
        </p:nvGraphicFramePr>
        <p:xfrm>
          <a:off x="5072066" y="5000636"/>
          <a:ext cx="3298825" cy="558800"/>
        </p:xfrm>
        <a:graphic>
          <a:graphicData uri="http://schemas.openxmlformats.org/presentationml/2006/ole">
            <mc:AlternateContent xmlns:mc="http://schemas.openxmlformats.org/markup-compatibility/2006">
              <mc:Choice xmlns:v="urn:schemas-microsoft-com:vml" Requires="v">
                <p:oleObj spid="_x0000_s489502" name="Equation" r:id="rId13" imgW="2323800" imgH="393480" progId="Equation.DSMT4">
                  <p:embed/>
                </p:oleObj>
              </mc:Choice>
              <mc:Fallback>
                <p:oleObj name="Equation" r:id="rId13" imgW="2323800" imgH="393480" progId="Equation.DSMT4">
                  <p:embed/>
                  <p:pic>
                    <p:nvPicPr>
                      <p:cNvPr id="0" name="Picture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2066" y="5000636"/>
                        <a:ext cx="32988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0" name="矩形 289"/>
          <p:cNvSpPr/>
          <p:nvPr/>
        </p:nvSpPr>
        <p:spPr bwMode="auto">
          <a:xfrm>
            <a:off x="1428728" y="5583826"/>
            <a:ext cx="6858048" cy="702693"/>
          </a:xfrm>
          <a:prstGeom prst="rect">
            <a:avLst/>
          </a:prstGeom>
          <a:solidFill>
            <a:schemeClr val="bg1"/>
          </a:solidFill>
          <a:ln w="28575" cap="flat" cmpd="sng" algn="ctr">
            <a:noFill/>
            <a:prstDash val="solid"/>
            <a:round/>
            <a:headEnd type="none" w="med" len="med"/>
            <a:tailEnd type="none" w="med" len="med"/>
          </a:ln>
          <a:effectLst/>
        </p:spPr>
        <p:txBody>
          <a:bodyPr rtlCol="0" anchor="ctr"/>
          <a:lstStyle/>
          <a:p>
            <a:pPr algn="ctr"/>
            <a:endParaRPr lang="zh-CN" altLang="en-US"/>
          </a:p>
        </p:txBody>
      </p:sp>
      <p:sp>
        <p:nvSpPr>
          <p:cNvPr id="291" name="TextBox 290"/>
          <p:cNvSpPr txBox="1"/>
          <p:nvPr/>
        </p:nvSpPr>
        <p:spPr>
          <a:xfrm>
            <a:off x="1500166" y="5703141"/>
            <a:ext cx="1762021" cy="400110"/>
          </a:xfrm>
          <a:prstGeom prst="rect">
            <a:avLst/>
          </a:prstGeom>
          <a:noFill/>
          <a:ln w="28575">
            <a:noFill/>
          </a:ln>
        </p:spPr>
        <p:txBody>
          <a:bodyPr wrap="none" rtlCol="0">
            <a:spAutoFit/>
          </a:bodyPr>
          <a:lstStyle/>
          <a:p>
            <a:r>
              <a:rPr lang="zh-CN" altLang="en-US" sz="2000" b="1"/>
              <a:t>若</a:t>
            </a:r>
            <a:r>
              <a:rPr lang="en-US" altLang="zh-CN" sz="2000" b="1" i="1">
                <a:latin typeface="Times New Roman" pitchFamily="18" charset="0"/>
                <a:cs typeface="Times New Roman" pitchFamily="18" charset="0"/>
              </a:rPr>
              <a:t>h</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0.8</a:t>
            </a:r>
            <a:r>
              <a:rPr lang="en-US" altLang="zh-CN" sz="2000" b="1" i="1">
                <a:latin typeface="Times New Roman" pitchFamily="18" charset="0"/>
                <a:cs typeface="Times New Roman" pitchFamily="18" charset="0"/>
              </a:rPr>
              <a:t>l</a:t>
            </a:r>
            <a:r>
              <a:rPr lang="zh-CN" altLang="en-US" sz="2000" b="1">
                <a:latin typeface="Times New Roman" pitchFamily="18" charset="0"/>
                <a:cs typeface="Times New Roman" pitchFamily="18" charset="0"/>
              </a:rPr>
              <a:t>，则</a:t>
            </a:r>
          </a:p>
        </p:txBody>
      </p:sp>
      <p:graphicFrame>
        <p:nvGraphicFramePr>
          <p:cNvPr id="489496" name="Object 24"/>
          <p:cNvGraphicFramePr>
            <a:graphicFrameLocks noChangeAspect="1"/>
          </p:cNvGraphicFramePr>
          <p:nvPr/>
        </p:nvGraphicFramePr>
        <p:xfrm>
          <a:off x="3214678" y="5584015"/>
          <a:ext cx="4559300" cy="685800"/>
        </p:xfrm>
        <a:graphic>
          <a:graphicData uri="http://schemas.openxmlformats.org/presentationml/2006/ole">
            <mc:AlternateContent xmlns:mc="http://schemas.openxmlformats.org/markup-compatibility/2006">
              <mc:Choice xmlns:v="urn:schemas-microsoft-com:vml" Requires="v">
                <p:oleObj spid="_x0000_s489503" name="Equation" r:id="rId15" imgW="3213000" imgH="482400" progId="Equation.DSMT4">
                  <p:embed/>
                </p:oleObj>
              </mc:Choice>
              <mc:Fallback>
                <p:oleObj name="Equation" r:id="rId15" imgW="3213000" imgH="482400" progId="Equation.DSMT4">
                  <p:embed/>
                  <p:pic>
                    <p:nvPicPr>
                      <p:cNvPr id="0" name="Picture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14678" y="5584015"/>
                        <a:ext cx="45593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9497" name="Object 25"/>
          <p:cNvGraphicFramePr>
            <a:graphicFrameLocks noChangeAspect="1"/>
          </p:cNvGraphicFramePr>
          <p:nvPr/>
        </p:nvGraphicFramePr>
        <p:xfrm>
          <a:off x="6286512" y="6215082"/>
          <a:ext cx="857257" cy="360950"/>
        </p:xfrm>
        <a:graphic>
          <a:graphicData uri="http://schemas.openxmlformats.org/presentationml/2006/ole">
            <mc:AlternateContent xmlns:mc="http://schemas.openxmlformats.org/markup-compatibility/2006">
              <mc:Choice xmlns:v="urn:schemas-microsoft-com:vml" Requires="v">
                <p:oleObj spid="_x0000_s489504" name="Equation" r:id="rId17" imgW="482400" imgH="203040" progId="Equation.DSMT4">
                  <p:embed/>
                </p:oleObj>
              </mc:Choice>
              <mc:Fallback>
                <p:oleObj name="Equation" r:id="rId17" imgW="482400" imgH="203040" progId="Equation.DSMT4">
                  <p:embed/>
                  <p:pic>
                    <p:nvPicPr>
                      <p:cNvPr id="0" name="Picture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86512" y="6215082"/>
                        <a:ext cx="857257" cy="36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
                                        </p:tgtEl>
                                        <p:attrNameLst>
                                          <p:attrName>style.visibility</p:attrName>
                                        </p:attrNameLst>
                                      </p:cBhvr>
                                      <p:to>
                                        <p:strVal val="visible"/>
                                      </p:to>
                                    </p:set>
                                    <p:anim calcmode="lin" valueType="num">
                                      <p:cBhvr additive="base">
                                        <p:cTn id="7" dur="500" fill="hold"/>
                                        <p:tgtEl>
                                          <p:spTgt spid="246"/>
                                        </p:tgtEl>
                                        <p:attrNameLst>
                                          <p:attrName>ppt_x</p:attrName>
                                        </p:attrNameLst>
                                      </p:cBhvr>
                                      <p:tavLst>
                                        <p:tav tm="0">
                                          <p:val>
                                            <p:strVal val="0-#ppt_w/2"/>
                                          </p:val>
                                        </p:tav>
                                        <p:tav tm="100000">
                                          <p:val>
                                            <p:strVal val="#ppt_x"/>
                                          </p:val>
                                        </p:tav>
                                      </p:tavLst>
                                    </p:anim>
                                    <p:anim calcmode="lin" valueType="num">
                                      <p:cBhvr additive="base">
                                        <p:cTn id="8" dur="500" fill="hold"/>
                                        <p:tgtEl>
                                          <p:spTgt spid="2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7"/>
                                        </p:tgtEl>
                                        <p:attrNameLst>
                                          <p:attrName>style.visibility</p:attrName>
                                        </p:attrNameLst>
                                      </p:cBhvr>
                                      <p:to>
                                        <p:strVal val="visible"/>
                                      </p:to>
                                    </p:set>
                                    <p:anim calcmode="lin" valueType="num">
                                      <p:cBhvr additive="base">
                                        <p:cTn id="13" dur="500" fill="hold"/>
                                        <p:tgtEl>
                                          <p:spTgt spid="247"/>
                                        </p:tgtEl>
                                        <p:attrNameLst>
                                          <p:attrName>ppt_x</p:attrName>
                                        </p:attrNameLst>
                                      </p:cBhvr>
                                      <p:tavLst>
                                        <p:tav tm="0">
                                          <p:val>
                                            <p:strVal val="#ppt_x"/>
                                          </p:val>
                                        </p:tav>
                                        <p:tav tm="100000">
                                          <p:val>
                                            <p:strVal val="#ppt_x"/>
                                          </p:val>
                                        </p:tav>
                                      </p:tavLst>
                                    </p:anim>
                                    <p:anim calcmode="lin" valueType="num">
                                      <p:cBhvr additive="base">
                                        <p:cTn id="14" dur="500" fill="hold"/>
                                        <p:tgtEl>
                                          <p:spTgt spid="247"/>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51"/>
                                        </p:tgtEl>
                                        <p:attrNameLst>
                                          <p:attrName>style.visibility</p:attrName>
                                        </p:attrNameLst>
                                      </p:cBhvr>
                                      <p:to>
                                        <p:strVal val="visible"/>
                                      </p:to>
                                    </p:set>
                                    <p:anim calcmode="lin" valueType="num">
                                      <p:cBhvr additive="base">
                                        <p:cTn id="18" dur="500" fill="hold"/>
                                        <p:tgtEl>
                                          <p:spTgt spid="251"/>
                                        </p:tgtEl>
                                        <p:attrNameLst>
                                          <p:attrName>ppt_x</p:attrName>
                                        </p:attrNameLst>
                                      </p:cBhvr>
                                      <p:tavLst>
                                        <p:tav tm="0">
                                          <p:val>
                                            <p:strVal val="0-#ppt_w/2"/>
                                          </p:val>
                                        </p:tav>
                                        <p:tav tm="100000">
                                          <p:val>
                                            <p:strVal val="#ppt_x"/>
                                          </p:val>
                                        </p:tav>
                                      </p:tavLst>
                                    </p:anim>
                                    <p:anim calcmode="lin" valueType="num">
                                      <p:cBhvr additive="base">
                                        <p:cTn id="19" dur="500" fill="hold"/>
                                        <p:tgtEl>
                                          <p:spTgt spid="25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64"/>
                                        </p:tgtEl>
                                        <p:attrNameLst>
                                          <p:attrName>style.visibility</p:attrName>
                                        </p:attrNameLst>
                                      </p:cBhvr>
                                      <p:to>
                                        <p:strVal val="visible"/>
                                      </p:to>
                                    </p:set>
                                    <p:animEffect transition="in" filter="box(in)">
                                      <p:cBhvr>
                                        <p:cTn id="24" dur="500"/>
                                        <p:tgtEl>
                                          <p:spTgt spid="26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8"/>
                                        </p:tgtEl>
                                        <p:attrNameLst>
                                          <p:attrName>style.visibility</p:attrName>
                                        </p:attrNameLst>
                                      </p:cBhvr>
                                      <p:to>
                                        <p:strVal val="visible"/>
                                      </p:to>
                                    </p:set>
                                    <p:anim calcmode="lin" valueType="num">
                                      <p:cBhvr additive="base">
                                        <p:cTn id="29" dur="500" fill="hold"/>
                                        <p:tgtEl>
                                          <p:spTgt spid="248"/>
                                        </p:tgtEl>
                                        <p:attrNameLst>
                                          <p:attrName>ppt_x</p:attrName>
                                        </p:attrNameLst>
                                      </p:cBhvr>
                                      <p:tavLst>
                                        <p:tav tm="0">
                                          <p:val>
                                            <p:strVal val="#ppt_x"/>
                                          </p:val>
                                        </p:tav>
                                        <p:tav tm="100000">
                                          <p:val>
                                            <p:strVal val="#ppt_x"/>
                                          </p:val>
                                        </p:tav>
                                      </p:tavLst>
                                    </p:anim>
                                    <p:anim calcmode="lin" valueType="num">
                                      <p:cBhvr additive="base">
                                        <p:cTn id="30" dur="500" fill="hold"/>
                                        <p:tgtEl>
                                          <p:spTgt spid="248"/>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3" presetClass="entr" presetSubtype="5" fill="hold" nodeType="afterEffect">
                                  <p:stCondLst>
                                    <p:cond delay="0"/>
                                  </p:stCondLst>
                                  <p:childTnLst>
                                    <p:set>
                                      <p:cBhvr>
                                        <p:cTn id="33" dur="1" fill="hold">
                                          <p:stCondLst>
                                            <p:cond delay="0"/>
                                          </p:stCondLst>
                                        </p:cTn>
                                        <p:tgtEl>
                                          <p:spTgt spid="268"/>
                                        </p:tgtEl>
                                        <p:attrNameLst>
                                          <p:attrName>style.visibility</p:attrName>
                                        </p:attrNameLst>
                                      </p:cBhvr>
                                      <p:to>
                                        <p:strVal val="visible"/>
                                      </p:to>
                                    </p:set>
                                    <p:animEffect transition="in" filter="blinds(vertical)">
                                      <p:cBhvr>
                                        <p:cTn id="34" dur="500"/>
                                        <p:tgtEl>
                                          <p:spTgt spid="268"/>
                                        </p:tgtEl>
                                      </p:cBhvr>
                                    </p:animEffect>
                                  </p:childTnLst>
                                </p:cTn>
                              </p:par>
                            </p:childTnLst>
                          </p:cTn>
                        </p:par>
                        <p:par>
                          <p:cTn id="35" fill="hold">
                            <p:stCondLst>
                              <p:cond delay="1000"/>
                            </p:stCondLst>
                            <p:childTnLst>
                              <p:par>
                                <p:cTn id="36" presetID="3" presetClass="entr" presetSubtype="5" fill="hold" grpId="0" nodeType="afterEffect">
                                  <p:stCondLst>
                                    <p:cond delay="0"/>
                                  </p:stCondLst>
                                  <p:childTnLst>
                                    <p:set>
                                      <p:cBhvr>
                                        <p:cTn id="37" dur="1" fill="hold">
                                          <p:stCondLst>
                                            <p:cond delay="0"/>
                                          </p:stCondLst>
                                        </p:cTn>
                                        <p:tgtEl>
                                          <p:spTgt spid="270"/>
                                        </p:tgtEl>
                                        <p:attrNameLst>
                                          <p:attrName>style.visibility</p:attrName>
                                        </p:attrNameLst>
                                      </p:cBhvr>
                                      <p:to>
                                        <p:strVal val="visible"/>
                                      </p:to>
                                    </p:set>
                                    <p:animEffect transition="in" filter="blinds(vertical)">
                                      <p:cBhvr>
                                        <p:cTn id="38" dur="500"/>
                                        <p:tgtEl>
                                          <p:spTgt spid="270"/>
                                        </p:tgtEl>
                                      </p:cBhvr>
                                    </p:animEffect>
                                  </p:childTnLst>
                                </p:cTn>
                              </p:par>
                            </p:childTnLst>
                          </p:cTn>
                        </p:par>
                        <p:par>
                          <p:cTn id="39" fill="hold">
                            <p:stCondLst>
                              <p:cond delay="1500"/>
                            </p:stCondLst>
                            <p:childTnLst>
                              <p:par>
                                <p:cTn id="40" presetID="3" presetClass="entr" presetSubtype="5" fill="hold" nodeType="afterEffect">
                                  <p:stCondLst>
                                    <p:cond delay="0"/>
                                  </p:stCondLst>
                                  <p:childTnLst>
                                    <p:set>
                                      <p:cBhvr>
                                        <p:cTn id="41" dur="1" fill="hold">
                                          <p:stCondLst>
                                            <p:cond delay="0"/>
                                          </p:stCondLst>
                                        </p:cTn>
                                        <p:tgtEl>
                                          <p:spTgt spid="266"/>
                                        </p:tgtEl>
                                        <p:attrNameLst>
                                          <p:attrName>style.visibility</p:attrName>
                                        </p:attrNameLst>
                                      </p:cBhvr>
                                      <p:to>
                                        <p:strVal val="visible"/>
                                      </p:to>
                                    </p:set>
                                    <p:animEffect transition="in" filter="blinds(vertical)">
                                      <p:cBhvr>
                                        <p:cTn id="42" dur="500"/>
                                        <p:tgtEl>
                                          <p:spTgt spid="266"/>
                                        </p:tgtEl>
                                      </p:cBhvr>
                                    </p:animEffect>
                                  </p:childTnLst>
                                </p:cTn>
                              </p:par>
                            </p:childTnLst>
                          </p:cTn>
                        </p:par>
                        <p:par>
                          <p:cTn id="43" fill="hold">
                            <p:stCondLst>
                              <p:cond delay="2000"/>
                            </p:stCondLst>
                            <p:childTnLst>
                              <p:par>
                                <p:cTn id="44" presetID="3" presetClass="entr" presetSubtype="5" fill="hold" grpId="0" nodeType="afterEffect">
                                  <p:stCondLst>
                                    <p:cond delay="0"/>
                                  </p:stCondLst>
                                  <p:childTnLst>
                                    <p:set>
                                      <p:cBhvr>
                                        <p:cTn id="45" dur="1" fill="hold">
                                          <p:stCondLst>
                                            <p:cond delay="0"/>
                                          </p:stCondLst>
                                        </p:cTn>
                                        <p:tgtEl>
                                          <p:spTgt spid="269"/>
                                        </p:tgtEl>
                                        <p:attrNameLst>
                                          <p:attrName>style.visibility</p:attrName>
                                        </p:attrNameLst>
                                      </p:cBhvr>
                                      <p:to>
                                        <p:strVal val="visible"/>
                                      </p:to>
                                    </p:set>
                                    <p:animEffect transition="in" filter="blinds(vertical)">
                                      <p:cBhvr>
                                        <p:cTn id="46" dur="500"/>
                                        <p:tgtEl>
                                          <p:spTgt spid="269"/>
                                        </p:tgtEl>
                                      </p:cBhvr>
                                    </p:animEffect>
                                  </p:childTnLst>
                                </p:cTn>
                              </p:par>
                            </p:childTnLst>
                          </p:cTn>
                        </p:par>
                        <p:par>
                          <p:cTn id="47" fill="hold">
                            <p:stCondLst>
                              <p:cond delay="2500"/>
                            </p:stCondLst>
                            <p:childTnLst>
                              <p:par>
                                <p:cTn id="48" presetID="2" presetClass="entr" presetSubtype="8" fill="hold" grpId="0" nodeType="afterEffect">
                                  <p:stCondLst>
                                    <p:cond delay="0"/>
                                  </p:stCondLst>
                                  <p:childTnLst>
                                    <p:set>
                                      <p:cBhvr>
                                        <p:cTn id="49" dur="1" fill="hold">
                                          <p:stCondLst>
                                            <p:cond delay="0"/>
                                          </p:stCondLst>
                                        </p:cTn>
                                        <p:tgtEl>
                                          <p:spTgt spid="272"/>
                                        </p:tgtEl>
                                        <p:attrNameLst>
                                          <p:attrName>style.visibility</p:attrName>
                                        </p:attrNameLst>
                                      </p:cBhvr>
                                      <p:to>
                                        <p:strVal val="visible"/>
                                      </p:to>
                                    </p:set>
                                    <p:anim calcmode="lin" valueType="num">
                                      <p:cBhvr additive="base">
                                        <p:cTn id="50" dur="500" fill="hold"/>
                                        <p:tgtEl>
                                          <p:spTgt spid="272"/>
                                        </p:tgtEl>
                                        <p:attrNameLst>
                                          <p:attrName>ppt_x</p:attrName>
                                        </p:attrNameLst>
                                      </p:cBhvr>
                                      <p:tavLst>
                                        <p:tav tm="0">
                                          <p:val>
                                            <p:strVal val="0-#ppt_w/2"/>
                                          </p:val>
                                        </p:tav>
                                        <p:tav tm="100000">
                                          <p:val>
                                            <p:strVal val="#ppt_x"/>
                                          </p:val>
                                        </p:tav>
                                      </p:tavLst>
                                    </p:anim>
                                    <p:anim calcmode="lin" valueType="num">
                                      <p:cBhvr additive="base">
                                        <p:cTn id="51" dur="500" fill="hold"/>
                                        <p:tgtEl>
                                          <p:spTgt spid="272"/>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285"/>
                                        </p:tgtEl>
                                        <p:attrNameLst>
                                          <p:attrName>style.visibility</p:attrName>
                                        </p:attrNameLst>
                                      </p:cBhvr>
                                      <p:to>
                                        <p:strVal val="visible"/>
                                      </p:to>
                                    </p:set>
                                    <p:animEffect transition="in" filter="box(in)">
                                      <p:cBhvr>
                                        <p:cTn id="56" dur="500"/>
                                        <p:tgtEl>
                                          <p:spTgt spid="285"/>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89492"/>
                                        </p:tgtEl>
                                        <p:attrNameLst>
                                          <p:attrName>style.visibility</p:attrName>
                                        </p:attrNameLst>
                                      </p:cBhvr>
                                      <p:to>
                                        <p:strVal val="visible"/>
                                      </p:to>
                                    </p:set>
                                    <p:anim calcmode="lin" valueType="num">
                                      <p:cBhvr additive="base">
                                        <p:cTn id="61" dur="500" fill="hold"/>
                                        <p:tgtEl>
                                          <p:spTgt spid="489492"/>
                                        </p:tgtEl>
                                        <p:attrNameLst>
                                          <p:attrName>ppt_x</p:attrName>
                                        </p:attrNameLst>
                                      </p:cBhvr>
                                      <p:tavLst>
                                        <p:tav tm="0">
                                          <p:val>
                                            <p:strVal val="#ppt_x"/>
                                          </p:val>
                                        </p:tav>
                                        <p:tav tm="100000">
                                          <p:val>
                                            <p:strVal val="#ppt_x"/>
                                          </p:val>
                                        </p:tav>
                                      </p:tavLst>
                                    </p:anim>
                                    <p:anim calcmode="lin" valueType="num">
                                      <p:cBhvr additive="base">
                                        <p:cTn id="62" dur="500" fill="hold"/>
                                        <p:tgtEl>
                                          <p:spTgt spid="48949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89493"/>
                                        </p:tgtEl>
                                        <p:attrNameLst>
                                          <p:attrName>style.visibility</p:attrName>
                                        </p:attrNameLst>
                                      </p:cBhvr>
                                      <p:to>
                                        <p:strVal val="visible"/>
                                      </p:to>
                                    </p:set>
                                    <p:anim calcmode="lin" valueType="num">
                                      <p:cBhvr additive="base">
                                        <p:cTn id="67" dur="500" fill="hold"/>
                                        <p:tgtEl>
                                          <p:spTgt spid="489493"/>
                                        </p:tgtEl>
                                        <p:attrNameLst>
                                          <p:attrName>ppt_x</p:attrName>
                                        </p:attrNameLst>
                                      </p:cBhvr>
                                      <p:tavLst>
                                        <p:tav tm="0">
                                          <p:val>
                                            <p:strVal val="#ppt_x"/>
                                          </p:val>
                                        </p:tav>
                                        <p:tav tm="100000">
                                          <p:val>
                                            <p:strVal val="#ppt_x"/>
                                          </p:val>
                                        </p:tav>
                                      </p:tavLst>
                                    </p:anim>
                                    <p:anim calcmode="lin" valueType="num">
                                      <p:cBhvr additive="base">
                                        <p:cTn id="68" dur="500" fill="hold"/>
                                        <p:tgtEl>
                                          <p:spTgt spid="48949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489494"/>
                                        </p:tgtEl>
                                        <p:attrNameLst>
                                          <p:attrName>style.visibility</p:attrName>
                                        </p:attrNameLst>
                                      </p:cBhvr>
                                      <p:to>
                                        <p:strVal val="visible"/>
                                      </p:to>
                                    </p:set>
                                    <p:anim calcmode="lin" valueType="num">
                                      <p:cBhvr additive="base">
                                        <p:cTn id="73" dur="500" fill="hold"/>
                                        <p:tgtEl>
                                          <p:spTgt spid="489494"/>
                                        </p:tgtEl>
                                        <p:attrNameLst>
                                          <p:attrName>ppt_x</p:attrName>
                                        </p:attrNameLst>
                                      </p:cBhvr>
                                      <p:tavLst>
                                        <p:tav tm="0">
                                          <p:val>
                                            <p:strVal val="1+#ppt_w/2"/>
                                          </p:val>
                                        </p:tav>
                                        <p:tav tm="100000">
                                          <p:val>
                                            <p:strVal val="#ppt_x"/>
                                          </p:val>
                                        </p:tav>
                                      </p:tavLst>
                                    </p:anim>
                                    <p:anim calcmode="lin" valueType="num">
                                      <p:cBhvr additive="base">
                                        <p:cTn id="74" dur="500" fill="hold"/>
                                        <p:tgtEl>
                                          <p:spTgt spid="489494"/>
                                        </p:tgtEl>
                                        <p:attrNameLst>
                                          <p:attrName>ppt_y</p:attrName>
                                        </p:attrNameLst>
                                      </p:cBhvr>
                                      <p:tavLst>
                                        <p:tav tm="0">
                                          <p:val>
                                            <p:strVal val="#ppt_y"/>
                                          </p:val>
                                        </p:tav>
                                        <p:tav tm="100000">
                                          <p:val>
                                            <p:strVal val="#ppt_y"/>
                                          </p:val>
                                        </p:tav>
                                      </p:tavLst>
                                    </p:anim>
                                  </p:childTnLst>
                                </p:cTn>
                              </p:par>
                            </p:childTnLst>
                          </p:cTn>
                        </p:par>
                        <p:par>
                          <p:cTn id="75" fill="hold">
                            <p:stCondLst>
                              <p:cond delay="500"/>
                            </p:stCondLst>
                            <p:childTnLst>
                              <p:par>
                                <p:cTn id="76" presetID="3" presetClass="entr" presetSubtype="5" fill="hold" grpId="0" nodeType="afterEffect">
                                  <p:stCondLst>
                                    <p:cond delay="0"/>
                                  </p:stCondLst>
                                  <p:childTnLst>
                                    <p:set>
                                      <p:cBhvr>
                                        <p:cTn id="77" dur="1" fill="hold">
                                          <p:stCondLst>
                                            <p:cond delay="0"/>
                                          </p:stCondLst>
                                        </p:cTn>
                                        <p:tgtEl>
                                          <p:spTgt spid="290"/>
                                        </p:tgtEl>
                                        <p:attrNameLst>
                                          <p:attrName>style.visibility</p:attrName>
                                        </p:attrNameLst>
                                      </p:cBhvr>
                                      <p:to>
                                        <p:strVal val="visible"/>
                                      </p:to>
                                    </p:set>
                                    <p:animEffect transition="in" filter="blinds(vertical)">
                                      <p:cBhvr>
                                        <p:cTn id="78" dur="500"/>
                                        <p:tgtEl>
                                          <p:spTgt spid="290"/>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91"/>
                                        </p:tgtEl>
                                        <p:attrNameLst>
                                          <p:attrName>style.visibility</p:attrName>
                                        </p:attrNameLst>
                                      </p:cBhvr>
                                      <p:to>
                                        <p:strVal val="visible"/>
                                      </p:to>
                                    </p:set>
                                    <p:anim calcmode="lin" valueType="num">
                                      <p:cBhvr additive="base">
                                        <p:cTn id="83" dur="500" fill="hold"/>
                                        <p:tgtEl>
                                          <p:spTgt spid="291"/>
                                        </p:tgtEl>
                                        <p:attrNameLst>
                                          <p:attrName>ppt_x</p:attrName>
                                        </p:attrNameLst>
                                      </p:cBhvr>
                                      <p:tavLst>
                                        <p:tav tm="0">
                                          <p:val>
                                            <p:strVal val="#ppt_x"/>
                                          </p:val>
                                        </p:tav>
                                        <p:tav tm="100000">
                                          <p:val>
                                            <p:strVal val="#ppt_x"/>
                                          </p:val>
                                        </p:tav>
                                      </p:tavLst>
                                    </p:anim>
                                    <p:anim calcmode="lin" valueType="num">
                                      <p:cBhvr additive="base">
                                        <p:cTn id="84" dur="500" fill="hold"/>
                                        <p:tgtEl>
                                          <p:spTgt spid="291"/>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489496"/>
                                        </p:tgtEl>
                                        <p:attrNameLst>
                                          <p:attrName>style.visibility</p:attrName>
                                        </p:attrNameLst>
                                      </p:cBhvr>
                                      <p:to>
                                        <p:strVal val="visible"/>
                                      </p:to>
                                    </p:set>
                                    <p:anim calcmode="lin" valueType="num">
                                      <p:cBhvr additive="base">
                                        <p:cTn id="89" dur="500" fill="hold"/>
                                        <p:tgtEl>
                                          <p:spTgt spid="489496"/>
                                        </p:tgtEl>
                                        <p:attrNameLst>
                                          <p:attrName>ppt_x</p:attrName>
                                        </p:attrNameLst>
                                      </p:cBhvr>
                                      <p:tavLst>
                                        <p:tav tm="0">
                                          <p:val>
                                            <p:strVal val="#ppt_x"/>
                                          </p:val>
                                        </p:tav>
                                        <p:tav tm="100000">
                                          <p:val>
                                            <p:strVal val="#ppt_x"/>
                                          </p:val>
                                        </p:tav>
                                      </p:tavLst>
                                    </p:anim>
                                    <p:anim calcmode="lin" valueType="num">
                                      <p:cBhvr additive="base">
                                        <p:cTn id="90" dur="500" fill="hold"/>
                                        <p:tgtEl>
                                          <p:spTgt spid="489496"/>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489497"/>
                                        </p:tgtEl>
                                        <p:attrNameLst>
                                          <p:attrName>style.visibility</p:attrName>
                                        </p:attrNameLst>
                                      </p:cBhvr>
                                      <p:to>
                                        <p:strVal val="visible"/>
                                      </p:to>
                                    </p:set>
                                    <p:anim calcmode="lin" valueType="num">
                                      <p:cBhvr additive="base">
                                        <p:cTn id="95" dur="500" fill="hold"/>
                                        <p:tgtEl>
                                          <p:spTgt spid="489497"/>
                                        </p:tgtEl>
                                        <p:attrNameLst>
                                          <p:attrName>ppt_x</p:attrName>
                                        </p:attrNameLst>
                                      </p:cBhvr>
                                      <p:tavLst>
                                        <p:tav tm="0">
                                          <p:val>
                                            <p:strVal val="#ppt_x"/>
                                          </p:val>
                                        </p:tav>
                                        <p:tav tm="100000">
                                          <p:val>
                                            <p:strVal val="#ppt_x"/>
                                          </p:val>
                                        </p:tav>
                                      </p:tavLst>
                                    </p:anim>
                                    <p:anim calcmode="lin" valueType="num">
                                      <p:cBhvr additive="base">
                                        <p:cTn id="96" dur="500" fill="hold"/>
                                        <p:tgtEl>
                                          <p:spTgt spid="4894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 grpId="0" autoUpdateAnimBg="0"/>
      <p:bldP spid="251" grpId="0" animBg="1" autoUpdateAnimBg="0"/>
      <p:bldP spid="269" grpId="0"/>
      <p:bldP spid="270" grpId="0"/>
      <p:bldP spid="272" grpId="0" animBg="1" autoUpdateAnimBg="0"/>
      <p:bldP spid="290" grpId="0" animBg="1"/>
      <p:bldP spid="29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796794"/>
            <a:ext cx="567409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：图示梁</a:t>
            </a:r>
            <a:r>
              <a:rPr lang="en-US" altLang="zh-CN" sz="2000" b="1" i="1">
                <a:latin typeface="Times New Roman" pitchFamily="18" charset="0"/>
                <a:cs typeface="Times New Roman" pitchFamily="18" charset="0"/>
              </a:rPr>
              <a:t>EI</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点竖向位移。</a:t>
            </a:r>
            <a:endParaRPr lang="en-US" altLang="zh-CN" sz="2000" b="1">
              <a:latin typeface="Times New Roman" pitchFamily="18" charset="0"/>
              <a:cs typeface="Times New Roman" pitchFamily="18" charset="0"/>
            </a:endParaRPr>
          </a:p>
        </p:txBody>
      </p:sp>
      <p:grpSp>
        <p:nvGrpSpPr>
          <p:cNvPr id="354" name="Group 4"/>
          <p:cNvGrpSpPr>
            <a:grpSpLocks/>
          </p:cNvGrpSpPr>
          <p:nvPr/>
        </p:nvGrpSpPr>
        <p:grpSpPr bwMode="auto">
          <a:xfrm>
            <a:off x="685794" y="3940180"/>
            <a:ext cx="2225678" cy="946150"/>
            <a:chOff x="-106" y="1882"/>
            <a:chExt cx="1402" cy="596"/>
          </a:xfrm>
        </p:grpSpPr>
        <p:grpSp>
          <p:nvGrpSpPr>
            <p:cNvPr id="355" name="Group 5"/>
            <p:cNvGrpSpPr>
              <a:grpSpLocks/>
            </p:cNvGrpSpPr>
            <p:nvPr/>
          </p:nvGrpSpPr>
          <p:grpSpPr bwMode="auto">
            <a:xfrm>
              <a:off x="-106" y="2190"/>
              <a:ext cx="288" cy="288"/>
              <a:chOff x="4454" y="1662"/>
              <a:chExt cx="288" cy="288"/>
            </a:xfrm>
          </p:grpSpPr>
          <p:graphicFrame>
            <p:nvGraphicFramePr>
              <p:cNvPr id="359" name="Object 6"/>
              <p:cNvGraphicFramePr>
                <a:graphicFrameLocks noChangeAspect="1"/>
              </p:cNvGraphicFramePr>
              <p:nvPr/>
            </p:nvGraphicFramePr>
            <p:xfrm>
              <a:off x="4472" y="1662"/>
              <a:ext cx="259" cy="288"/>
            </p:xfrm>
            <a:graphic>
              <a:graphicData uri="http://schemas.openxmlformats.org/presentationml/2006/ole">
                <mc:AlternateContent xmlns:mc="http://schemas.openxmlformats.org/markup-compatibility/2006">
                  <mc:Choice xmlns:v="urn:schemas-microsoft-com:vml" Requires="v">
                    <p:oleObj spid="_x0000_s491575" name="Equation" r:id="rId4" imgW="215640" imgH="241200" progId="Equation.DSMT4">
                      <p:embed/>
                    </p:oleObj>
                  </mc:Choice>
                  <mc:Fallback>
                    <p:oleObj name="Equation" r:id="rId4" imgW="215640" imgH="2412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2" y="1662"/>
                            <a:ext cx="25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0" name="Oval 7"/>
              <p:cNvSpPr>
                <a:spLocks noChangeArrowheads="1"/>
              </p:cNvSpPr>
              <p:nvPr/>
            </p:nvSpPr>
            <p:spPr bwMode="auto">
              <a:xfrm>
                <a:off x="4454" y="1662"/>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356" name="Line 8"/>
            <p:cNvSpPr>
              <a:spLocks noChangeShapeType="1"/>
            </p:cNvSpPr>
            <p:nvPr/>
          </p:nvSpPr>
          <p:spPr bwMode="auto">
            <a:xfrm>
              <a:off x="624" y="2016"/>
              <a:ext cx="0" cy="33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7" name="Line 9"/>
            <p:cNvSpPr>
              <a:spLocks noChangeShapeType="1"/>
            </p:cNvSpPr>
            <p:nvPr/>
          </p:nvSpPr>
          <p:spPr bwMode="auto">
            <a:xfrm>
              <a:off x="624" y="2016"/>
              <a:ext cx="672" cy="33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58" name="Object 10"/>
            <p:cNvGraphicFramePr>
              <a:graphicFrameLocks noChangeAspect="1"/>
            </p:cNvGraphicFramePr>
            <p:nvPr/>
          </p:nvGraphicFramePr>
          <p:xfrm>
            <a:off x="355" y="1882"/>
            <a:ext cx="150" cy="386"/>
          </p:xfrm>
          <a:graphic>
            <a:graphicData uri="http://schemas.openxmlformats.org/presentationml/2006/ole">
              <mc:AlternateContent xmlns:mc="http://schemas.openxmlformats.org/markup-compatibility/2006">
                <mc:Choice xmlns:v="urn:schemas-microsoft-com:vml" Requires="v">
                  <p:oleObj spid="_x0000_s491576" name="Equation" r:id="rId6" imgW="152280" imgH="393480" progId="Equation.DSMT4">
                    <p:embed/>
                  </p:oleObj>
                </mc:Choice>
                <mc:Fallback>
                  <p:oleObj name="Equation" r:id="rId6" imgW="152280" imgH="3934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 y="1882"/>
                          <a:ext cx="150" cy="3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61" name="Group 11"/>
          <p:cNvGrpSpPr>
            <a:grpSpLocks/>
          </p:cNvGrpSpPr>
          <p:nvPr/>
        </p:nvGrpSpPr>
        <p:grpSpPr bwMode="auto">
          <a:xfrm>
            <a:off x="1687508" y="2409810"/>
            <a:ext cx="2312988" cy="1438275"/>
            <a:chOff x="720" y="966"/>
            <a:chExt cx="1457" cy="906"/>
          </a:xfrm>
        </p:grpSpPr>
        <p:graphicFrame>
          <p:nvGraphicFramePr>
            <p:cNvPr id="362" name="Object 12"/>
            <p:cNvGraphicFramePr>
              <a:graphicFrameLocks noChangeAspect="1"/>
            </p:cNvGraphicFramePr>
            <p:nvPr/>
          </p:nvGraphicFramePr>
          <p:xfrm>
            <a:off x="838" y="1461"/>
            <a:ext cx="159" cy="174"/>
          </p:xfrm>
          <a:graphic>
            <a:graphicData uri="http://schemas.openxmlformats.org/presentationml/2006/ole">
              <mc:AlternateContent xmlns:mc="http://schemas.openxmlformats.org/markup-compatibility/2006">
                <mc:Choice xmlns:v="urn:schemas-microsoft-com:vml" Requires="v">
                  <p:oleObj spid="_x0000_s491577" name="公式" r:id="rId8" imgW="152280" imgH="164880" progId="Equation.3">
                    <p:embed/>
                  </p:oleObj>
                </mc:Choice>
                <mc:Fallback>
                  <p:oleObj name="公式" r:id="rId8" imgW="152280" imgH="16488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 y="1461"/>
                          <a:ext cx="159" cy="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3" name="Line 13"/>
            <p:cNvSpPr>
              <a:spLocks noChangeShapeType="1"/>
            </p:cNvSpPr>
            <p:nvPr/>
          </p:nvSpPr>
          <p:spPr bwMode="auto">
            <a:xfrm>
              <a:off x="816" y="1440"/>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4" name="Line 14"/>
            <p:cNvSpPr>
              <a:spLocks noChangeShapeType="1"/>
            </p:cNvSpPr>
            <p:nvPr/>
          </p:nvSpPr>
          <p:spPr bwMode="auto">
            <a:xfrm>
              <a:off x="816" y="1680"/>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5" name="Line 15"/>
            <p:cNvSpPr>
              <a:spLocks noChangeShapeType="1"/>
            </p:cNvSpPr>
            <p:nvPr/>
          </p:nvSpPr>
          <p:spPr bwMode="auto">
            <a:xfrm>
              <a:off x="2064" y="1680"/>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Rectangle 16"/>
            <p:cNvSpPr>
              <a:spLocks noChangeArrowheads="1"/>
            </p:cNvSpPr>
            <p:nvPr/>
          </p:nvSpPr>
          <p:spPr bwMode="auto">
            <a:xfrm>
              <a:off x="1041" y="1551"/>
              <a:ext cx="286"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r>
                <a:rPr kumimoji="1" lang="en-US" altLang="zh-CN" sz="2000" b="1" u="none" strike="noStrike" kern="1200" cap="none" spc="0" normalizeH="0" baseline="0" noProof="0">
                  <a:ln>
                    <a:noFill/>
                  </a:ln>
                  <a:effectLst/>
                  <a:uLnTx/>
                  <a:uFillTx/>
                  <a:latin typeface="Times New Roman" pitchFamily="18" charset="0"/>
                  <a:ea typeface="宋体" charset="-122"/>
                  <a:cs typeface="+mn-cs"/>
                </a:rPr>
                <a:t>/2</a:t>
              </a:r>
            </a:p>
          </p:txBody>
        </p:sp>
        <p:sp>
          <p:nvSpPr>
            <p:cNvPr id="367" name="Rectangle 17"/>
            <p:cNvSpPr>
              <a:spLocks noChangeArrowheads="1"/>
            </p:cNvSpPr>
            <p:nvPr/>
          </p:nvSpPr>
          <p:spPr bwMode="auto">
            <a:xfrm>
              <a:off x="1311" y="966"/>
              <a:ext cx="197"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q</a:t>
              </a:r>
              <a:endPar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68" name="Line 18"/>
            <p:cNvSpPr>
              <a:spLocks noChangeShapeType="1"/>
            </p:cNvSpPr>
            <p:nvPr/>
          </p:nvSpPr>
          <p:spPr bwMode="auto">
            <a:xfrm>
              <a:off x="816" y="1776"/>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69" name="Group 19"/>
            <p:cNvGrpSpPr>
              <a:grpSpLocks/>
            </p:cNvGrpSpPr>
            <p:nvPr/>
          </p:nvGrpSpPr>
          <p:grpSpPr bwMode="auto">
            <a:xfrm rot="-7647">
              <a:off x="804" y="1253"/>
              <a:ext cx="1257" cy="197"/>
              <a:chOff x="1104" y="1624"/>
              <a:chExt cx="1257" cy="248"/>
            </a:xfrm>
          </p:grpSpPr>
          <p:sp>
            <p:nvSpPr>
              <p:cNvPr id="385" name="Line 20"/>
              <p:cNvSpPr>
                <a:spLocks noChangeShapeType="1"/>
              </p:cNvSpPr>
              <p:nvPr/>
            </p:nvSpPr>
            <p:spPr bwMode="auto">
              <a:xfrm>
                <a:off x="1300" y="1624"/>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Line 21"/>
              <p:cNvSpPr>
                <a:spLocks noChangeShapeType="1"/>
              </p:cNvSpPr>
              <p:nvPr/>
            </p:nvSpPr>
            <p:spPr bwMode="auto">
              <a:xfrm>
                <a:off x="1104" y="1632"/>
                <a:ext cx="0" cy="240"/>
              </a:xfrm>
              <a:prstGeom prst="line">
                <a:avLst/>
              </a:prstGeom>
              <a:noFill/>
              <a:ln w="9525">
                <a:solidFill>
                  <a:srgbClr val="000000"/>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22"/>
              <p:cNvSpPr>
                <a:spLocks noChangeShapeType="1"/>
              </p:cNvSpPr>
              <p:nvPr/>
            </p:nvSpPr>
            <p:spPr bwMode="auto">
              <a:xfrm>
                <a:off x="2355" y="163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23"/>
              <p:cNvSpPr>
                <a:spLocks noChangeShapeType="1"/>
              </p:cNvSpPr>
              <p:nvPr/>
            </p:nvSpPr>
            <p:spPr bwMode="auto">
              <a:xfrm>
                <a:off x="1512" y="1626"/>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9" name="Line 24"/>
              <p:cNvSpPr>
                <a:spLocks noChangeShapeType="1"/>
              </p:cNvSpPr>
              <p:nvPr/>
            </p:nvSpPr>
            <p:spPr bwMode="auto">
              <a:xfrm>
                <a:off x="1727" y="1625"/>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0" name="Line 25"/>
              <p:cNvSpPr>
                <a:spLocks noChangeShapeType="1"/>
              </p:cNvSpPr>
              <p:nvPr/>
            </p:nvSpPr>
            <p:spPr bwMode="auto">
              <a:xfrm>
                <a:off x="1939" y="1625"/>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26"/>
              <p:cNvSpPr>
                <a:spLocks noChangeShapeType="1"/>
              </p:cNvSpPr>
              <p:nvPr/>
            </p:nvSpPr>
            <p:spPr bwMode="auto">
              <a:xfrm>
                <a:off x="2149" y="1626"/>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27"/>
              <p:cNvSpPr>
                <a:spLocks noChangeShapeType="1"/>
              </p:cNvSpPr>
              <p:nvPr/>
            </p:nvSpPr>
            <p:spPr bwMode="auto">
              <a:xfrm>
                <a:off x="1116" y="1633"/>
                <a:ext cx="1245"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370" name="Object 28"/>
            <p:cNvGraphicFramePr>
              <a:graphicFrameLocks noChangeAspect="1"/>
            </p:cNvGraphicFramePr>
            <p:nvPr/>
          </p:nvGraphicFramePr>
          <p:xfrm>
            <a:off x="2016" y="1468"/>
            <a:ext cx="161" cy="173"/>
          </p:xfrm>
          <a:graphic>
            <a:graphicData uri="http://schemas.openxmlformats.org/presentationml/2006/ole">
              <mc:AlternateContent xmlns:mc="http://schemas.openxmlformats.org/markup-compatibility/2006">
                <mc:Choice xmlns:v="urn:schemas-microsoft-com:vml" Requires="v">
                  <p:oleObj spid="_x0000_s491578" name="公式" r:id="rId10" imgW="152280" imgH="164880" progId="Equation.3">
                    <p:embed/>
                  </p:oleObj>
                </mc:Choice>
                <mc:Fallback>
                  <p:oleObj name="公式" r:id="rId10" imgW="152280" imgH="164880"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16" y="1468"/>
                          <a:ext cx="161"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 name="Object 29"/>
            <p:cNvGraphicFramePr>
              <a:graphicFrameLocks noChangeAspect="1"/>
            </p:cNvGraphicFramePr>
            <p:nvPr/>
          </p:nvGraphicFramePr>
          <p:xfrm>
            <a:off x="1401" y="1461"/>
            <a:ext cx="158" cy="184"/>
          </p:xfrm>
          <a:graphic>
            <a:graphicData uri="http://schemas.openxmlformats.org/presentationml/2006/ole">
              <mc:AlternateContent xmlns:mc="http://schemas.openxmlformats.org/markup-compatibility/2006">
                <mc:Choice xmlns:v="urn:schemas-microsoft-com:vml" Requires="v">
                  <p:oleObj spid="_x0000_s491579" name="公式" r:id="rId12" imgW="152280" imgH="177480" progId="Equation.3">
                    <p:embed/>
                  </p:oleObj>
                </mc:Choice>
                <mc:Fallback>
                  <p:oleObj name="公式" r:id="rId12" imgW="152280" imgH="177480" progId="Equation.3">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1" y="1461"/>
                          <a:ext cx="158"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 name="Line 30"/>
            <p:cNvSpPr>
              <a:spLocks noChangeShapeType="1"/>
            </p:cNvSpPr>
            <p:nvPr/>
          </p:nvSpPr>
          <p:spPr bwMode="auto">
            <a:xfrm>
              <a:off x="1488" y="1728"/>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Rectangle 31"/>
            <p:cNvSpPr>
              <a:spLocks noChangeArrowheads="1"/>
            </p:cNvSpPr>
            <p:nvPr/>
          </p:nvSpPr>
          <p:spPr bwMode="auto">
            <a:xfrm>
              <a:off x="1671" y="1569"/>
              <a:ext cx="286"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r>
                <a:rPr kumimoji="1" lang="en-US" altLang="zh-CN" sz="2000" b="1" u="none" strike="noStrike" kern="1200" cap="none" spc="0" normalizeH="0" baseline="0" noProof="0">
                  <a:ln>
                    <a:noFill/>
                  </a:ln>
                  <a:effectLst/>
                  <a:uLnTx/>
                  <a:uFillTx/>
                  <a:latin typeface="Times New Roman" pitchFamily="18" charset="0"/>
                  <a:ea typeface="宋体" charset="-122"/>
                  <a:cs typeface="+mn-cs"/>
                </a:rPr>
                <a:t>/2</a:t>
              </a:r>
            </a:p>
          </p:txBody>
        </p:sp>
        <p:grpSp>
          <p:nvGrpSpPr>
            <p:cNvPr id="374" name="Group 32"/>
            <p:cNvGrpSpPr>
              <a:grpSpLocks/>
            </p:cNvGrpSpPr>
            <p:nvPr/>
          </p:nvGrpSpPr>
          <p:grpSpPr bwMode="auto">
            <a:xfrm rot="5370004">
              <a:off x="552" y="1368"/>
              <a:ext cx="432" cy="96"/>
              <a:chOff x="5136" y="2256"/>
              <a:chExt cx="432" cy="96"/>
            </a:xfrm>
          </p:grpSpPr>
          <p:sp>
            <p:nvSpPr>
              <p:cNvPr id="376" name="Line 33"/>
              <p:cNvSpPr>
                <a:spLocks noChangeShapeType="1"/>
              </p:cNvSpPr>
              <p:nvPr/>
            </p:nvSpPr>
            <p:spPr bwMode="auto">
              <a:xfrm>
                <a:off x="5184" y="2256"/>
                <a:ext cx="384"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34"/>
              <p:cNvSpPr>
                <a:spLocks noChangeShapeType="1"/>
              </p:cNvSpPr>
              <p:nvPr/>
            </p:nvSpPr>
            <p:spPr bwMode="auto">
              <a:xfrm flipV="1">
                <a:off x="518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35"/>
              <p:cNvSpPr>
                <a:spLocks noChangeShapeType="1"/>
              </p:cNvSpPr>
              <p:nvPr/>
            </p:nvSpPr>
            <p:spPr bwMode="auto">
              <a:xfrm flipV="1">
                <a:off x="523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Line 36"/>
              <p:cNvSpPr>
                <a:spLocks noChangeShapeType="1"/>
              </p:cNvSpPr>
              <p:nvPr/>
            </p:nvSpPr>
            <p:spPr bwMode="auto">
              <a:xfrm flipV="1">
                <a:off x="5280"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Line 37"/>
              <p:cNvSpPr>
                <a:spLocks noChangeShapeType="1"/>
              </p:cNvSpPr>
              <p:nvPr/>
            </p:nvSpPr>
            <p:spPr bwMode="auto">
              <a:xfrm flipV="1">
                <a:off x="5328"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1" name="Line 38"/>
              <p:cNvSpPr>
                <a:spLocks noChangeShapeType="1"/>
              </p:cNvSpPr>
              <p:nvPr/>
            </p:nvSpPr>
            <p:spPr bwMode="auto">
              <a:xfrm flipV="1">
                <a:off x="537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2" name="Line 39"/>
              <p:cNvSpPr>
                <a:spLocks noChangeShapeType="1"/>
              </p:cNvSpPr>
              <p:nvPr/>
            </p:nvSpPr>
            <p:spPr bwMode="auto">
              <a:xfrm flipV="1">
                <a:off x="542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3" name="Line 40"/>
              <p:cNvSpPr>
                <a:spLocks noChangeShapeType="1"/>
              </p:cNvSpPr>
              <p:nvPr/>
            </p:nvSpPr>
            <p:spPr bwMode="auto">
              <a:xfrm flipV="1">
                <a:off x="547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4" name="Line 41"/>
              <p:cNvSpPr>
                <a:spLocks noChangeShapeType="1"/>
              </p:cNvSpPr>
              <p:nvPr/>
            </p:nvSpPr>
            <p:spPr bwMode="auto">
              <a:xfrm flipV="1">
                <a:off x="513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75" name="Line 42"/>
            <p:cNvSpPr>
              <a:spLocks noChangeShapeType="1"/>
            </p:cNvSpPr>
            <p:nvPr/>
          </p:nvSpPr>
          <p:spPr bwMode="auto">
            <a:xfrm>
              <a:off x="1488" y="1392"/>
              <a:ext cx="0" cy="9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93" name="Group 43"/>
          <p:cNvGrpSpPr>
            <a:grpSpLocks/>
          </p:cNvGrpSpPr>
          <p:nvPr/>
        </p:nvGrpSpPr>
        <p:grpSpPr bwMode="auto">
          <a:xfrm>
            <a:off x="685793" y="2409810"/>
            <a:ext cx="3140079" cy="976313"/>
            <a:chOff x="-106" y="1062"/>
            <a:chExt cx="1978" cy="615"/>
          </a:xfrm>
        </p:grpSpPr>
        <p:sp>
          <p:nvSpPr>
            <p:cNvPr id="394" name="Oval 44"/>
            <p:cNvSpPr>
              <a:spLocks noChangeArrowheads="1"/>
            </p:cNvSpPr>
            <p:nvPr/>
          </p:nvSpPr>
          <p:spPr bwMode="auto">
            <a:xfrm>
              <a:off x="-106" y="1389"/>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95" name="Line 45"/>
            <p:cNvSpPr>
              <a:spLocks noChangeShapeType="1"/>
            </p:cNvSpPr>
            <p:nvPr/>
          </p:nvSpPr>
          <p:spPr bwMode="auto">
            <a:xfrm flipV="1">
              <a:off x="617" y="1152"/>
              <a:ext cx="0" cy="384"/>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6" name="Object 46"/>
            <p:cNvGraphicFramePr>
              <a:graphicFrameLocks noChangeAspect="1"/>
            </p:cNvGraphicFramePr>
            <p:nvPr/>
          </p:nvGraphicFramePr>
          <p:xfrm>
            <a:off x="261" y="1062"/>
            <a:ext cx="258" cy="410"/>
          </p:xfrm>
          <a:graphic>
            <a:graphicData uri="http://schemas.openxmlformats.org/presentationml/2006/ole">
              <mc:AlternateContent xmlns:mc="http://schemas.openxmlformats.org/markup-compatibility/2006">
                <mc:Choice xmlns:v="urn:schemas-microsoft-com:vml" Requires="v">
                  <p:oleObj spid="_x0000_s491580" name="Equation" r:id="rId14" imgW="266400" imgH="419040" progId="Equation.DSMT4">
                    <p:embed/>
                  </p:oleObj>
                </mc:Choice>
                <mc:Fallback>
                  <p:oleObj name="Equation" r:id="rId14" imgW="266400" imgH="419040" progId="Equation.DSMT4">
                    <p:embed/>
                    <p:pic>
                      <p:nvPicPr>
                        <p:cNvPr id="0" name="Object 4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 y="1062"/>
                          <a:ext cx="258"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 name="Object 47"/>
            <p:cNvGraphicFramePr>
              <a:graphicFrameLocks noChangeAspect="1"/>
            </p:cNvGraphicFramePr>
            <p:nvPr/>
          </p:nvGraphicFramePr>
          <p:xfrm>
            <a:off x="624" y="1127"/>
            <a:ext cx="1248" cy="420"/>
          </p:xfrm>
          <a:graphic>
            <a:graphicData uri="http://schemas.openxmlformats.org/presentationml/2006/ole">
              <mc:AlternateContent xmlns:mc="http://schemas.openxmlformats.org/markup-compatibility/2006">
                <mc:Choice xmlns:v="urn:schemas-microsoft-com:vml" Requires="v">
                  <p:oleObj spid="_x0000_s491581" name="BMP 图象" r:id="rId16" imgW="1980952" imgH="666667" progId="PBrush">
                    <p:embed/>
                  </p:oleObj>
                </mc:Choice>
                <mc:Fallback>
                  <p:oleObj name="BMP 图象" r:id="rId16" imgW="1980952" imgH="666667" progId="PBrush">
                    <p:embed/>
                    <p:pic>
                      <p:nvPicPr>
                        <p:cNvPr id="0" name="Object 47"/>
                        <p:cNvPicPr>
                          <a:picLocks noChangeAspect="1" noChangeArrowheads="1"/>
                        </p:cNvPicPr>
                        <p:nvPr/>
                      </p:nvPicPr>
                      <p:blipFill>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4" y="1127"/>
                          <a:ext cx="1248" cy="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98" name="Group 48"/>
          <p:cNvGrpSpPr>
            <a:grpSpLocks/>
          </p:cNvGrpSpPr>
          <p:nvPr/>
        </p:nvGrpSpPr>
        <p:grpSpPr bwMode="auto">
          <a:xfrm>
            <a:off x="1692269" y="4152904"/>
            <a:ext cx="2133600" cy="900112"/>
            <a:chOff x="432" y="2448"/>
            <a:chExt cx="1344" cy="567"/>
          </a:xfrm>
        </p:grpSpPr>
        <p:sp>
          <p:nvSpPr>
            <p:cNvPr id="399" name="Line 49"/>
            <p:cNvSpPr>
              <a:spLocks noChangeShapeType="1"/>
            </p:cNvSpPr>
            <p:nvPr/>
          </p:nvSpPr>
          <p:spPr bwMode="auto">
            <a:xfrm flipV="1">
              <a:off x="1200" y="2496"/>
              <a:ext cx="0" cy="288"/>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0" name="Object 50"/>
            <p:cNvGraphicFramePr>
              <a:graphicFrameLocks noChangeAspect="1"/>
            </p:cNvGraphicFramePr>
            <p:nvPr/>
          </p:nvGraphicFramePr>
          <p:xfrm>
            <a:off x="1248" y="2448"/>
            <a:ext cx="112" cy="212"/>
          </p:xfrm>
          <a:graphic>
            <a:graphicData uri="http://schemas.openxmlformats.org/presentationml/2006/ole">
              <mc:AlternateContent xmlns:mc="http://schemas.openxmlformats.org/markup-compatibility/2006">
                <mc:Choice xmlns:v="urn:schemas-microsoft-com:vml" Requires="v">
                  <p:oleObj spid="_x0000_s491582" name="公式" r:id="rId18" imgW="88560" imgH="164880" progId="Equation.3">
                    <p:embed/>
                  </p:oleObj>
                </mc:Choice>
                <mc:Fallback>
                  <p:oleObj name="公式" r:id="rId18" imgW="88560" imgH="164880" progId="Equation.3">
                    <p:embed/>
                    <p:pic>
                      <p:nvPicPr>
                        <p:cNvPr id="0" name="Object 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48" y="2448"/>
                          <a:ext cx="112"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1" name="Line 51"/>
            <p:cNvSpPr>
              <a:spLocks noChangeShapeType="1"/>
            </p:cNvSpPr>
            <p:nvPr/>
          </p:nvSpPr>
          <p:spPr bwMode="auto">
            <a:xfrm>
              <a:off x="528" y="2775"/>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2" name="Object 52"/>
            <p:cNvGraphicFramePr>
              <a:graphicFrameLocks noChangeAspect="1"/>
            </p:cNvGraphicFramePr>
            <p:nvPr/>
          </p:nvGraphicFramePr>
          <p:xfrm>
            <a:off x="1104" y="2835"/>
            <a:ext cx="154" cy="180"/>
          </p:xfrm>
          <a:graphic>
            <a:graphicData uri="http://schemas.openxmlformats.org/presentationml/2006/ole">
              <mc:AlternateContent xmlns:mc="http://schemas.openxmlformats.org/markup-compatibility/2006">
                <mc:Choice xmlns:v="urn:schemas-microsoft-com:vml" Requires="v">
                  <p:oleObj spid="_x0000_s491583" name="公式" r:id="rId20" imgW="152280" imgH="177480" progId="Equation.3">
                    <p:embed/>
                  </p:oleObj>
                </mc:Choice>
                <mc:Fallback>
                  <p:oleObj name="公式" r:id="rId20" imgW="152280" imgH="177480" progId="Equation.3">
                    <p:embed/>
                    <p:pic>
                      <p:nvPicPr>
                        <p:cNvPr id="0"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04" y="2835"/>
                          <a:ext cx="154"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03" name="Group 53"/>
            <p:cNvGrpSpPr>
              <a:grpSpLocks/>
            </p:cNvGrpSpPr>
            <p:nvPr/>
          </p:nvGrpSpPr>
          <p:grpSpPr bwMode="auto">
            <a:xfrm rot="5370004">
              <a:off x="264" y="2703"/>
              <a:ext cx="432" cy="96"/>
              <a:chOff x="5136" y="2256"/>
              <a:chExt cx="432" cy="96"/>
            </a:xfrm>
          </p:grpSpPr>
          <p:sp>
            <p:nvSpPr>
              <p:cNvPr id="404" name="Line 54"/>
              <p:cNvSpPr>
                <a:spLocks noChangeShapeType="1"/>
              </p:cNvSpPr>
              <p:nvPr/>
            </p:nvSpPr>
            <p:spPr bwMode="auto">
              <a:xfrm>
                <a:off x="5184" y="2256"/>
                <a:ext cx="384"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5" name="Line 55"/>
              <p:cNvSpPr>
                <a:spLocks noChangeShapeType="1"/>
              </p:cNvSpPr>
              <p:nvPr/>
            </p:nvSpPr>
            <p:spPr bwMode="auto">
              <a:xfrm flipV="1">
                <a:off x="518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6" name="Line 56"/>
              <p:cNvSpPr>
                <a:spLocks noChangeShapeType="1"/>
              </p:cNvSpPr>
              <p:nvPr/>
            </p:nvSpPr>
            <p:spPr bwMode="auto">
              <a:xfrm flipV="1">
                <a:off x="523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57"/>
              <p:cNvSpPr>
                <a:spLocks noChangeShapeType="1"/>
              </p:cNvSpPr>
              <p:nvPr/>
            </p:nvSpPr>
            <p:spPr bwMode="auto">
              <a:xfrm flipV="1">
                <a:off x="5280"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8" name="Line 58"/>
              <p:cNvSpPr>
                <a:spLocks noChangeShapeType="1"/>
              </p:cNvSpPr>
              <p:nvPr/>
            </p:nvSpPr>
            <p:spPr bwMode="auto">
              <a:xfrm flipV="1">
                <a:off x="5328"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9" name="Line 59"/>
              <p:cNvSpPr>
                <a:spLocks noChangeShapeType="1"/>
              </p:cNvSpPr>
              <p:nvPr/>
            </p:nvSpPr>
            <p:spPr bwMode="auto">
              <a:xfrm flipV="1">
                <a:off x="537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0" name="Line 60"/>
              <p:cNvSpPr>
                <a:spLocks noChangeShapeType="1"/>
              </p:cNvSpPr>
              <p:nvPr/>
            </p:nvSpPr>
            <p:spPr bwMode="auto">
              <a:xfrm flipV="1">
                <a:off x="542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1" name="Line 61"/>
              <p:cNvSpPr>
                <a:spLocks noChangeShapeType="1"/>
              </p:cNvSpPr>
              <p:nvPr/>
            </p:nvSpPr>
            <p:spPr bwMode="auto">
              <a:xfrm flipV="1">
                <a:off x="547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2" name="Line 62"/>
              <p:cNvSpPr>
                <a:spLocks noChangeShapeType="1"/>
              </p:cNvSpPr>
              <p:nvPr/>
            </p:nvSpPr>
            <p:spPr bwMode="auto">
              <a:xfrm flipV="1">
                <a:off x="513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aphicFrame>
        <p:nvGraphicFramePr>
          <p:cNvPr id="413" name="Object 63"/>
          <p:cNvGraphicFramePr>
            <a:graphicFrameLocks noChangeAspect="1"/>
          </p:cNvGraphicFramePr>
          <p:nvPr/>
        </p:nvGraphicFramePr>
        <p:xfrm>
          <a:off x="2770188" y="5143500"/>
          <a:ext cx="5421312" cy="1428750"/>
        </p:xfrm>
        <a:graphic>
          <a:graphicData uri="http://schemas.openxmlformats.org/presentationml/2006/ole">
            <mc:AlternateContent xmlns:mc="http://schemas.openxmlformats.org/markup-compatibility/2006">
              <mc:Choice xmlns:v="urn:schemas-microsoft-com:vml" Requires="v">
                <p:oleObj spid="_x0000_s491584" name="Equation" r:id="rId22" imgW="2984400" imgH="838080" progId="Equation.DSMT4">
                  <p:embed/>
                </p:oleObj>
              </mc:Choice>
              <mc:Fallback>
                <p:oleObj name="Equation" r:id="rId22" imgW="2984400" imgH="838080" progId="Equation.DSMT4">
                  <p:embed/>
                  <p:pic>
                    <p:nvPicPr>
                      <p:cNvPr id="0" name="Object 6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70188" y="5143500"/>
                        <a:ext cx="5421312"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4" name="Group 64"/>
          <p:cNvGrpSpPr>
            <a:grpSpLocks/>
          </p:cNvGrpSpPr>
          <p:nvPr/>
        </p:nvGrpSpPr>
        <p:grpSpPr bwMode="auto">
          <a:xfrm>
            <a:off x="1820849" y="2143116"/>
            <a:ext cx="1931988" cy="928688"/>
            <a:chOff x="561" y="873"/>
            <a:chExt cx="1217" cy="585"/>
          </a:xfrm>
        </p:grpSpPr>
        <p:sp>
          <p:nvSpPr>
            <p:cNvPr id="415" name="Line 65"/>
            <p:cNvSpPr>
              <a:spLocks noChangeShapeType="1"/>
            </p:cNvSpPr>
            <p:nvPr/>
          </p:nvSpPr>
          <p:spPr bwMode="auto">
            <a:xfrm flipH="1">
              <a:off x="561" y="1446"/>
              <a:ext cx="720" cy="0"/>
            </a:xfrm>
            <a:prstGeom prst="line">
              <a:avLst/>
            </a:prstGeom>
            <a:noFill/>
            <a:ln w="12700">
              <a:solidFill>
                <a:srgbClr val="00B05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16" name="Object 66"/>
            <p:cNvGraphicFramePr>
              <a:graphicFrameLocks noChangeAspect="1"/>
            </p:cNvGraphicFramePr>
            <p:nvPr/>
          </p:nvGraphicFramePr>
          <p:xfrm>
            <a:off x="1517" y="873"/>
            <a:ext cx="261" cy="413"/>
          </p:xfrm>
          <a:graphic>
            <a:graphicData uri="http://schemas.openxmlformats.org/presentationml/2006/ole">
              <mc:AlternateContent xmlns:mc="http://schemas.openxmlformats.org/markup-compatibility/2006">
                <mc:Choice xmlns:v="urn:schemas-microsoft-com:vml" Requires="v">
                  <p:oleObj spid="_x0000_s491585" name="Equation" r:id="rId24" imgW="266400" imgH="419040" progId="Equation.DSMT4">
                    <p:embed/>
                  </p:oleObj>
                </mc:Choice>
                <mc:Fallback>
                  <p:oleObj name="Equation" r:id="rId24" imgW="266400" imgH="419040" progId="Equation.DSMT4">
                    <p:embed/>
                    <p:pic>
                      <p:nvPicPr>
                        <p:cNvPr id="0" name="Object 6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17" y="873"/>
                          <a:ext cx="261" cy="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7" name="Line 67"/>
            <p:cNvSpPr>
              <a:spLocks noChangeShapeType="1"/>
            </p:cNvSpPr>
            <p:nvPr/>
          </p:nvSpPr>
          <p:spPr bwMode="auto">
            <a:xfrm flipV="1">
              <a:off x="1248" y="1221"/>
              <a:ext cx="270" cy="237"/>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418" name="Object 68"/>
          <p:cNvGraphicFramePr>
            <a:graphicFrameLocks noChangeAspect="1"/>
          </p:cNvGraphicFramePr>
          <p:nvPr/>
        </p:nvGraphicFramePr>
        <p:xfrm>
          <a:off x="4583113" y="2571750"/>
          <a:ext cx="3478212" cy="1466850"/>
        </p:xfrm>
        <a:graphic>
          <a:graphicData uri="http://schemas.openxmlformats.org/presentationml/2006/ole">
            <mc:AlternateContent xmlns:mc="http://schemas.openxmlformats.org/markup-compatibility/2006">
              <mc:Choice xmlns:v="urn:schemas-microsoft-com:vml" Requires="v">
                <p:oleObj spid="_x0000_s491586" name="Equation" r:id="rId26" imgW="1993680" imgH="838080" progId="Equation.DSMT4">
                  <p:embed/>
                </p:oleObj>
              </mc:Choice>
              <mc:Fallback>
                <p:oleObj name="Equation" r:id="rId26" imgW="1993680" imgH="838080" progId="Equation.DSMT4">
                  <p:embed/>
                  <p:pic>
                    <p:nvPicPr>
                      <p:cNvPr id="0" name="Object 6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83113" y="2571750"/>
                        <a:ext cx="3478212" cy="146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9" name="Group 69"/>
          <p:cNvGrpSpPr>
            <a:grpSpLocks/>
          </p:cNvGrpSpPr>
          <p:nvPr/>
        </p:nvGrpSpPr>
        <p:grpSpPr bwMode="auto">
          <a:xfrm>
            <a:off x="5286380" y="2643182"/>
            <a:ext cx="2133600" cy="1143000"/>
            <a:chOff x="3120" y="1392"/>
            <a:chExt cx="1344" cy="720"/>
          </a:xfrm>
        </p:grpSpPr>
        <p:sp>
          <p:nvSpPr>
            <p:cNvPr id="420" name="Line 70"/>
            <p:cNvSpPr>
              <a:spLocks noChangeShapeType="1"/>
            </p:cNvSpPr>
            <p:nvPr/>
          </p:nvSpPr>
          <p:spPr bwMode="auto">
            <a:xfrm flipH="1">
              <a:off x="3120" y="1392"/>
              <a:ext cx="1344" cy="720"/>
            </a:xfrm>
            <a:prstGeom prst="line">
              <a:avLst/>
            </a:prstGeom>
            <a:noFill/>
            <a:ln w="5715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421" name="Line 71"/>
            <p:cNvSpPr>
              <a:spLocks noChangeShapeType="1"/>
            </p:cNvSpPr>
            <p:nvPr/>
          </p:nvSpPr>
          <p:spPr bwMode="auto">
            <a:xfrm>
              <a:off x="3312" y="1392"/>
              <a:ext cx="1056" cy="672"/>
            </a:xfrm>
            <a:prstGeom prst="line">
              <a:avLst/>
            </a:prstGeom>
            <a:noFill/>
            <a:ln w="5715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grpSp>
        <p:nvGrpSpPr>
          <p:cNvPr id="422" name="Group 72"/>
          <p:cNvGrpSpPr>
            <a:grpSpLocks/>
          </p:cNvGrpSpPr>
          <p:nvPr/>
        </p:nvGrpSpPr>
        <p:grpSpPr bwMode="auto">
          <a:xfrm>
            <a:off x="4572000" y="5072074"/>
            <a:ext cx="2133600" cy="1143000"/>
            <a:chOff x="3120" y="1392"/>
            <a:chExt cx="1344" cy="720"/>
          </a:xfrm>
        </p:grpSpPr>
        <p:sp>
          <p:nvSpPr>
            <p:cNvPr id="423" name="Line 73"/>
            <p:cNvSpPr>
              <a:spLocks noChangeShapeType="1"/>
            </p:cNvSpPr>
            <p:nvPr/>
          </p:nvSpPr>
          <p:spPr bwMode="auto">
            <a:xfrm flipH="1">
              <a:off x="3120" y="1392"/>
              <a:ext cx="1344" cy="720"/>
            </a:xfrm>
            <a:prstGeom prst="line">
              <a:avLst/>
            </a:prstGeom>
            <a:noFill/>
            <a:ln w="5715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424" name="Line 74"/>
            <p:cNvSpPr>
              <a:spLocks noChangeShapeType="1"/>
            </p:cNvSpPr>
            <p:nvPr/>
          </p:nvSpPr>
          <p:spPr bwMode="auto">
            <a:xfrm>
              <a:off x="3312" y="1392"/>
              <a:ext cx="1056" cy="672"/>
            </a:xfrm>
            <a:prstGeom prst="line">
              <a:avLst/>
            </a:prstGeom>
            <a:noFill/>
            <a:ln w="57150">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anim calcmode="lin" valueType="num">
                                      <p:cBhvr additive="base">
                                        <p:cTn id="7" dur="500" fill="hold"/>
                                        <p:tgtEl>
                                          <p:spTgt spid="398"/>
                                        </p:tgtEl>
                                        <p:attrNameLst>
                                          <p:attrName>ppt_x</p:attrName>
                                        </p:attrNameLst>
                                      </p:cBhvr>
                                      <p:tavLst>
                                        <p:tav tm="0">
                                          <p:val>
                                            <p:strVal val="0-#ppt_w/2"/>
                                          </p:val>
                                        </p:tav>
                                        <p:tav tm="100000">
                                          <p:val>
                                            <p:strVal val="#ppt_x"/>
                                          </p:val>
                                        </p:tav>
                                      </p:tavLst>
                                    </p:anim>
                                    <p:anim calcmode="lin" valueType="num">
                                      <p:cBhvr additive="base">
                                        <p:cTn id="8" dur="500" fill="hold"/>
                                        <p:tgtEl>
                                          <p:spTgt spid="3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93"/>
                                        </p:tgtEl>
                                        <p:attrNameLst>
                                          <p:attrName>style.visibility</p:attrName>
                                        </p:attrNameLst>
                                      </p:cBhvr>
                                      <p:to>
                                        <p:strVal val="visible"/>
                                      </p:to>
                                    </p:set>
                                    <p:anim calcmode="lin" valueType="num">
                                      <p:cBhvr additive="base">
                                        <p:cTn id="13" dur="500" fill="hold"/>
                                        <p:tgtEl>
                                          <p:spTgt spid="393"/>
                                        </p:tgtEl>
                                        <p:attrNameLst>
                                          <p:attrName>ppt_x</p:attrName>
                                        </p:attrNameLst>
                                      </p:cBhvr>
                                      <p:tavLst>
                                        <p:tav tm="0">
                                          <p:val>
                                            <p:strVal val="0-#ppt_w/2"/>
                                          </p:val>
                                        </p:tav>
                                        <p:tav tm="100000">
                                          <p:val>
                                            <p:strVal val="#ppt_x"/>
                                          </p:val>
                                        </p:tav>
                                      </p:tavLst>
                                    </p:anim>
                                    <p:anim calcmode="lin" valueType="num">
                                      <p:cBhvr additive="base">
                                        <p:cTn id="14" dur="500" fill="hold"/>
                                        <p:tgtEl>
                                          <p:spTgt spid="3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54"/>
                                        </p:tgtEl>
                                        <p:attrNameLst>
                                          <p:attrName>style.visibility</p:attrName>
                                        </p:attrNameLst>
                                      </p:cBhvr>
                                      <p:to>
                                        <p:strVal val="visible"/>
                                      </p:to>
                                    </p:set>
                                    <p:anim calcmode="lin" valueType="num">
                                      <p:cBhvr additive="base">
                                        <p:cTn id="19" dur="500" fill="hold"/>
                                        <p:tgtEl>
                                          <p:spTgt spid="354"/>
                                        </p:tgtEl>
                                        <p:attrNameLst>
                                          <p:attrName>ppt_x</p:attrName>
                                        </p:attrNameLst>
                                      </p:cBhvr>
                                      <p:tavLst>
                                        <p:tav tm="0">
                                          <p:val>
                                            <p:strVal val="0-#ppt_w/2"/>
                                          </p:val>
                                        </p:tav>
                                        <p:tav tm="100000">
                                          <p:val>
                                            <p:strVal val="#ppt_x"/>
                                          </p:val>
                                        </p:tav>
                                      </p:tavLst>
                                    </p:anim>
                                    <p:anim calcmode="lin" valueType="num">
                                      <p:cBhvr additive="base">
                                        <p:cTn id="20" dur="500" fill="hold"/>
                                        <p:tgtEl>
                                          <p:spTgt spid="35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18"/>
                                        </p:tgtEl>
                                        <p:attrNameLst>
                                          <p:attrName>style.visibility</p:attrName>
                                        </p:attrNameLst>
                                      </p:cBhvr>
                                      <p:to>
                                        <p:strVal val="visible"/>
                                      </p:to>
                                    </p:set>
                                    <p:anim calcmode="lin" valueType="num">
                                      <p:cBhvr additive="base">
                                        <p:cTn id="25" dur="500" fill="hold"/>
                                        <p:tgtEl>
                                          <p:spTgt spid="418"/>
                                        </p:tgtEl>
                                        <p:attrNameLst>
                                          <p:attrName>ppt_x</p:attrName>
                                        </p:attrNameLst>
                                      </p:cBhvr>
                                      <p:tavLst>
                                        <p:tav tm="0">
                                          <p:val>
                                            <p:strVal val="0-#ppt_w/2"/>
                                          </p:val>
                                        </p:tav>
                                        <p:tav tm="100000">
                                          <p:val>
                                            <p:strVal val="#ppt_x"/>
                                          </p:val>
                                        </p:tav>
                                      </p:tavLst>
                                    </p:anim>
                                    <p:anim calcmode="lin" valueType="num">
                                      <p:cBhvr additive="base">
                                        <p:cTn id="26" dur="500" fill="hold"/>
                                        <p:tgtEl>
                                          <p:spTgt spid="4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19"/>
                                        </p:tgtEl>
                                        <p:attrNameLst>
                                          <p:attrName>style.visibility</p:attrName>
                                        </p:attrNameLst>
                                      </p:cBhvr>
                                      <p:to>
                                        <p:strVal val="visible"/>
                                      </p:to>
                                    </p:set>
                                    <p:anim calcmode="lin" valueType="num">
                                      <p:cBhvr additive="base">
                                        <p:cTn id="31" dur="500" fill="hold"/>
                                        <p:tgtEl>
                                          <p:spTgt spid="419"/>
                                        </p:tgtEl>
                                        <p:attrNameLst>
                                          <p:attrName>ppt_x</p:attrName>
                                        </p:attrNameLst>
                                      </p:cBhvr>
                                      <p:tavLst>
                                        <p:tav tm="0">
                                          <p:val>
                                            <p:strVal val="0-#ppt_w/2"/>
                                          </p:val>
                                        </p:tav>
                                        <p:tav tm="100000">
                                          <p:val>
                                            <p:strVal val="#ppt_x"/>
                                          </p:val>
                                        </p:tav>
                                      </p:tavLst>
                                    </p:anim>
                                    <p:anim calcmode="lin" valueType="num">
                                      <p:cBhvr additive="base">
                                        <p:cTn id="32" dur="500" fill="hold"/>
                                        <p:tgtEl>
                                          <p:spTgt spid="4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14"/>
                                        </p:tgtEl>
                                        <p:attrNameLst>
                                          <p:attrName>style.visibility</p:attrName>
                                        </p:attrNameLst>
                                      </p:cBhvr>
                                      <p:to>
                                        <p:strVal val="visible"/>
                                      </p:to>
                                    </p:set>
                                    <p:anim calcmode="lin" valueType="num">
                                      <p:cBhvr additive="base">
                                        <p:cTn id="37" dur="500" fill="hold"/>
                                        <p:tgtEl>
                                          <p:spTgt spid="414"/>
                                        </p:tgtEl>
                                        <p:attrNameLst>
                                          <p:attrName>ppt_x</p:attrName>
                                        </p:attrNameLst>
                                      </p:cBhvr>
                                      <p:tavLst>
                                        <p:tav tm="0">
                                          <p:val>
                                            <p:strVal val="0-#ppt_w/2"/>
                                          </p:val>
                                        </p:tav>
                                        <p:tav tm="100000">
                                          <p:val>
                                            <p:strVal val="#ppt_x"/>
                                          </p:val>
                                        </p:tav>
                                      </p:tavLst>
                                    </p:anim>
                                    <p:anim calcmode="lin" valueType="num">
                                      <p:cBhvr additive="base">
                                        <p:cTn id="38" dur="500" fill="hold"/>
                                        <p:tgtEl>
                                          <p:spTgt spid="41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4" presetClass="entr" presetSubtype="0" fill="hold" nodeType="clickEffect">
                                  <p:stCondLst>
                                    <p:cond delay="0"/>
                                  </p:stCondLst>
                                  <p:childTnLst>
                                    <p:set>
                                      <p:cBhvr>
                                        <p:cTn id="42" dur="1" fill="hold">
                                          <p:stCondLst>
                                            <p:cond delay="499"/>
                                          </p:stCondLst>
                                        </p:cTn>
                                        <p:tgtEl>
                                          <p:spTgt spid="413"/>
                                        </p:tgtEl>
                                        <p:attrNameLst>
                                          <p:attrName>style.visibility</p:attrName>
                                        </p:attrNameLst>
                                      </p:cBhvr>
                                      <p:to>
                                        <p:strVal val="visible"/>
                                      </p:to>
                                    </p:set>
                                    <p:anim to="" calcmode="lin" valueType="num">
                                      <p:cBhvr>
                                        <p:cTn id="43" dur="1" fill="hold"/>
                                        <p:tgtEl>
                                          <p:spTgt spid="413"/>
                                        </p:tgtEl>
                                        <p:attrNameLst>
                                          <p:attrName/>
                                        </p:attrNameLst>
                                      </p:cBhvr>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422"/>
                                        </p:tgtEl>
                                        <p:attrNameLst>
                                          <p:attrName>style.visibility</p:attrName>
                                        </p:attrNameLst>
                                      </p:cBhvr>
                                      <p:to>
                                        <p:strVal val="visible"/>
                                      </p:to>
                                    </p:set>
                                    <p:anim calcmode="lin" valueType="num">
                                      <p:cBhvr additive="base">
                                        <p:cTn id="48" dur="500" fill="hold"/>
                                        <p:tgtEl>
                                          <p:spTgt spid="422"/>
                                        </p:tgtEl>
                                        <p:attrNameLst>
                                          <p:attrName>ppt_x</p:attrName>
                                        </p:attrNameLst>
                                      </p:cBhvr>
                                      <p:tavLst>
                                        <p:tav tm="0">
                                          <p:val>
                                            <p:strVal val="0-#ppt_w/2"/>
                                          </p:val>
                                        </p:tav>
                                        <p:tav tm="100000">
                                          <p:val>
                                            <p:strVal val="#ppt_x"/>
                                          </p:val>
                                        </p:tav>
                                      </p:tavLst>
                                    </p:anim>
                                    <p:anim calcmode="lin" valueType="num">
                                      <p:cBhvr additive="base">
                                        <p:cTn id="49" dur="500" fill="hold"/>
                                        <p:tgtEl>
                                          <p:spTgt spid="4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796794"/>
            <a:ext cx="567409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：图示梁</a:t>
            </a:r>
            <a:r>
              <a:rPr lang="en-US" altLang="zh-CN" sz="2000" b="1" i="1">
                <a:latin typeface="Times New Roman" pitchFamily="18" charset="0"/>
                <a:cs typeface="Times New Roman" pitchFamily="18" charset="0"/>
              </a:rPr>
              <a:t>EI</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点竖向位移。</a:t>
            </a:r>
            <a:endParaRPr lang="en-US" altLang="zh-CN" sz="2000" b="1">
              <a:latin typeface="Times New Roman" pitchFamily="18" charset="0"/>
              <a:cs typeface="Times New Roman" pitchFamily="18" charset="0"/>
            </a:endParaRPr>
          </a:p>
        </p:txBody>
      </p:sp>
      <p:grpSp>
        <p:nvGrpSpPr>
          <p:cNvPr id="4" name="Group 4"/>
          <p:cNvGrpSpPr>
            <a:grpSpLocks/>
          </p:cNvGrpSpPr>
          <p:nvPr/>
        </p:nvGrpSpPr>
        <p:grpSpPr bwMode="auto">
          <a:xfrm>
            <a:off x="5232404" y="2428868"/>
            <a:ext cx="3154366" cy="946150"/>
            <a:chOff x="355" y="1882"/>
            <a:chExt cx="1987" cy="596"/>
          </a:xfrm>
        </p:grpSpPr>
        <p:grpSp>
          <p:nvGrpSpPr>
            <p:cNvPr id="5" name="Group 5"/>
            <p:cNvGrpSpPr>
              <a:grpSpLocks/>
            </p:cNvGrpSpPr>
            <p:nvPr/>
          </p:nvGrpSpPr>
          <p:grpSpPr bwMode="auto">
            <a:xfrm>
              <a:off x="2054" y="2179"/>
              <a:ext cx="288" cy="299"/>
              <a:chOff x="6614" y="1651"/>
              <a:chExt cx="288" cy="299"/>
            </a:xfrm>
          </p:grpSpPr>
          <p:graphicFrame>
            <p:nvGraphicFramePr>
              <p:cNvPr id="359" name="Object 6"/>
              <p:cNvGraphicFramePr>
                <a:graphicFrameLocks noChangeAspect="1"/>
              </p:cNvGraphicFramePr>
              <p:nvPr/>
            </p:nvGraphicFramePr>
            <p:xfrm>
              <a:off x="6631" y="1651"/>
              <a:ext cx="259" cy="288"/>
            </p:xfrm>
            <a:graphic>
              <a:graphicData uri="http://schemas.openxmlformats.org/presentationml/2006/ole">
                <mc:AlternateContent xmlns:mc="http://schemas.openxmlformats.org/markup-compatibility/2006">
                  <mc:Choice xmlns:v="urn:schemas-microsoft-com:vml" Requires="v">
                    <p:oleObj spid="_x0000_s492574" name="Equation" r:id="rId4" imgW="215640" imgH="241200" progId="Equation.DSMT4">
                      <p:embed/>
                    </p:oleObj>
                  </mc:Choice>
                  <mc:Fallback>
                    <p:oleObj name="Equation" r:id="rId4" imgW="215640" imgH="2412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1" y="1651"/>
                            <a:ext cx="25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0" name="Oval 7"/>
              <p:cNvSpPr>
                <a:spLocks noChangeArrowheads="1"/>
              </p:cNvSpPr>
              <p:nvPr/>
            </p:nvSpPr>
            <p:spPr bwMode="auto">
              <a:xfrm>
                <a:off x="6614" y="1662"/>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356" name="Line 8"/>
            <p:cNvSpPr>
              <a:spLocks noChangeShapeType="1"/>
            </p:cNvSpPr>
            <p:nvPr/>
          </p:nvSpPr>
          <p:spPr bwMode="auto">
            <a:xfrm>
              <a:off x="624" y="2016"/>
              <a:ext cx="0" cy="33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7" name="Line 9"/>
            <p:cNvSpPr>
              <a:spLocks noChangeShapeType="1"/>
            </p:cNvSpPr>
            <p:nvPr/>
          </p:nvSpPr>
          <p:spPr bwMode="auto">
            <a:xfrm>
              <a:off x="624" y="2016"/>
              <a:ext cx="672" cy="33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58" name="Object 10"/>
            <p:cNvGraphicFramePr>
              <a:graphicFrameLocks noChangeAspect="1"/>
            </p:cNvGraphicFramePr>
            <p:nvPr/>
          </p:nvGraphicFramePr>
          <p:xfrm>
            <a:off x="355" y="1882"/>
            <a:ext cx="150" cy="386"/>
          </p:xfrm>
          <a:graphic>
            <a:graphicData uri="http://schemas.openxmlformats.org/presentationml/2006/ole">
              <mc:AlternateContent xmlns:mc="http://schemas.openxmlformats.org/markup-compatibility/2006">
                <mc:Choice xmlns:v="urn:schemas-microsoft-com:vml" Requires="v">
                  <p:oleObj spid="_x0000_s492575" name="Equation" r:id="rId6" imgW="152280" imgH="393480" progId="Equation.DSMT4">
                    <p:embed/>
                  </p:oleObj>
                </mc:Choice>
                <mc:Fallback>
                  <p:oleObj name="Equation" r:id="rId6" imgW="152280" imgH="3934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 y="1882"/>
                          <a:ext cx="150" cy="3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11"/>
          <p:cNvGrpSpPr>
            <a:grpSpLocks/>
          </p:cNvGrpSpPr>
          <p:nvPr/>
        </p:nvGrpSpPr>
        <p:grpSpPr bwMode="auto">
          <a:xfrm>
            <a:off x="1687508" y="2409810"/>
            <a:ext cx="2312988" cy="1438275"/>
            <a:chOff x="720" y="966"/>
            <a:chExt cx="1457" cy="906"/>
          </a:xfrm>
        </p:grpSpPr>
        <p:graphicFrame>
          <p:nvGraphicFramePr>
            <p:cNvPr id="362" name="Object 12"/>
            <p:cNvGraphicFramePr>
              <a:graphicFrameLocks noChangeAspect="1"/>
            </p:cNvGraphicFramePr>
            <p:nvPr/>
          </p:nvGraphicFramePr>
          <p:xfrm>
            <a:off x="838" y="1461"/>
            <a:ext cx="159" cy="174"/>
          </p:xfrm>
          <a:graphic>
            <a:graphicData uri="http://schemas.openxmlformats.org/presentationml/2006/ole">
              <mc:AlternateContent xmlns:mc="http://schemas.openxmlformats.org/markup-compatibility/2006">
                <mc:Choice xmlns:v="urn:schemas-microsoft-com:vml" Requires="v">
                  <p:oleObj spid="_x0000_s492576" name="公式" r:id="rId8" imgW="152280" imgH="164880" progId="Equation.3">
                    <p:embed/>
                  </p:oleObj>
                </mc:Choice>
                <mc:Fallback>
                  <p:oleObj name="公式" r:id="rId8" imgW="152280" imgH="16488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 y="1461"/>
                          <a:ext cx="159" cy="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3" name="Line 13"/>
            <p:cNvSpPr>
              <a:spLocks noChangeShapeType="1"/>
            </p:cNvSpPr>
            <p:nvPr/>
          </p:nvSpPr>
          <p:spPr bwMode="auto">
            <a:xfrm>
              <a:off x="816" y="1440"/>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4" name="Line 14"/>
            <p:cNvSpPr>
              <a:spLocks noChangeShapeType="1"/>
            </p:cNvSpPr>
            <p:nvPr/>
          </p:nvSpPr>
          <p:spPr bwMode="auto">
            <a:xfrm>
              <a:off x="816" y="1680"/>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5" name="Line 15"/>
            <p:cNvSpPr>
              <a:spLocks noChangeShapeType="1"/>
            </p:cNvSpPr>
            <p:nvPr/>
          </p:nvSpPr>
          <p:spPr bwMode="auto">
            <a:xfrm>
              <a:off x="2064" y="1680"/>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Rectangle 16"/>
            <p:cNvSpPr>
              <a:spLocks noChangeArrowheads="1"/>
            </p:cNvSpPr>
            <p:nvPr/>
          </p:nvSpPr>
          <p:spPr bwMode="auto">
            <a:xfrm>
              <a:off x="1041" y="1551"/>
              <a:ext cx="286"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r>
                <a:rPr kumimoji="1" lang="en-US" altLang="zh-CN" sz="2000" b="1" u="none" strike="noStrike" kern="1200" cap="none" spc="0" normalizeH="0" baseline="0" noProof="0">
                  <a:ln>
                    <a:noFill/>
                  </a:ln>
                  <a:effectLst/>
                  <a:uLnTx/>
                  <a:uFillTx/>
                  <a:latin typeface="Times New Roman" pitchFamily="18" charset="0"/>
                  <a:ea typeface="宋体" charset="-122"/>
                  <a:cs typeface="+mn-cs"/>
                </a:rPr>
                <a:t>/2</a:t>
              </a:r>
            </a:p>
          </p:txBody>
        </p:sp>
        <p:sp>
          <p:nvSpPr>
            <p:cNvPr id="367" name="Rectangle 17"/>
            <p:cNvSpPr>
              <a:spLocks noChangeArrowheads="1"/>
            </p:cNvSpPr>
            <p:nvPr/>
          </p:nvSpPr>
          <p:spPr bwMode="auto">
            <a:xfrm>
              <a:off x="1311" y="966"/>
              <a:ext cx="197"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q</a:t>
              </a:r>
              <a:endPar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68" name="Line 18"/>
            <p:cNvSpPr>
              <a:spLocks noChangeShapeType="1"/>
            </p:cNvSpPr>
            <p:nvPr/>
          </p:nvSpPr>
          <p:spPr bwMode="auto">
            <a:xfrm>
              <a:off x="816" y="1776"/>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7" name="Group 19"/>
            <p:cNvGrpSpPr>
              <a:grpSpLocks/>
            </p:cNvGrpSpPr>
            <p:nvPr/>
          </p:nvGrpSpPr>
          <p:grpSpPr bwMode="auto">
            <a:xfrm rot="-7647">
              <a:off x="804" y="1253"/>
              <a:ext cx="1257" cy="197"/>
              <a:chOff x="1104" y="1624"/>
              <a:chExt cx="1257" cy="248"/>
            </a:xfrm>
          </p:grpSpPr>
          <p:sp>
            <p:nvSpPr>
              <p:cNvPr id="385" name="Line 20"/>
              <p:cNvSpPr>
                <a:spLocks noChangeShapeType="1"/>
              </p:cNvSpPr>
              <p:nvPr/>
            </p:nvSpPr>
            <p:spPr bwMode="auto">
              <a:xfrm>
                <a:off x="1300" y="1624"/>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Line 21"/>
              <p:cNvSpPr>
                <a:spLocks noChangeShapeType="1"/>
              </p:cNvSpPr>
              <p:nvPr/>
            </p:nvSpPr>
            <p:spPr bwMode="auto">
              <a:xfrm>
                <a:off x="1104" y="1632"/>
                <a:ext cx="0" cy="240"/>
              </a:xfrm>
              <a:prstGeom prst="line">
                <a:avLst/>
              </a:prstGeom>
              <a:noFill/>
              <a:ln w="9525">
                <a:solidFill>
                  <a:srgbClr val="000000"/>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22"/>
              <p:cNvSpPr>
                <a:spLocks noChangeShapeType="1"/>
              </p:cNvSpPr>
              <p:nvPr/>
            </p:nvSpPr>
            <p:spPr bwMode="auto">
              <a:xfrm>
                <a:off x="2355" y="163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23"/>
              <p:cNvSpPr>
                <a:spLocks noChangeShapeType="1"/>
              </p:cNvSpPr>
              <p:nvPr/>
            </p:nvSpPr>
            <p:spPr bwMode="auto">
              <a:xfrm>
                <a:off x="1512" y="1626"/>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9" name="Line 24"/>
              <p:cNvSpPr>
                <a:spLocks noChangeShapeType="1"/>
              </p:cNvSpPr>
              <p:nvPr/>
            </p:nvSpPr>
            <p:spPr bwMode="auto">
              <a:xfrm>
                <a:off x="1727" y="1625"/>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0" name="Line 25"/>
              <p:cNvSpPr>
                <a:spLocks noChangeShapeType="1"/>
              </p:cNvSpPr>
              <p:nvPr/>
            </p:nvSpPr>
            <p:spPr bwMode="auto">
              <a:xfrm>
                <a:off x="1939" y="1625"/>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26"/>
              <p:cNvSpPr>
                <a:spLocks noChangeShapeType="1"/>
              </p:cNvSpPr>
              <p:nvPr/>
            </p:nvSpPr>
            <p:spPr bwMode="auto">
              <a:xfrm>
                <a:off x="2149" y="1626"/>
                <a:ext cx="0" cy="23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27"/>
              <p:cNvSpPr>
                <a:spLocks noChangeShapeType="1"/>
              </p:cNvSpPr>
              <p:nvPr/>
            </p:nvSpPr>
            <p:spPr bwMode="auto">
              <a:xfrm>
                <a:off x="1116" y="1633"/>
                <a:ext cx="1245"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370" name="Object 28"/>
            <p:cNvGraphicFramePr>
              <a:graphicFrameLocks noChangeAspect="1"/>
            </p:cNvGraphicFramePr>
            <p:nvPr/>
          </p:nvGraphicFramePr>
          <p:xfrm>
            <a:off x="2016" y="1468"/>
            <a:ext cx="161" cy="173"/>
          </p:xfrm>
          <a:graphic>
            <a:graphicData uri="http://schemas.openxmlformats.org/presentationml/2006/ole">
              <mc:AlternateContent xmlns:mc="http://schemas.openxmlformats.org/markup-compatibility/2006">
                <mc:Choice xmlns:v="urn:schemas-microsoft-com:vml" Requires="v">
                  <p:oleObj spid="_x0000_s492577" name="公式" r:id="rId10" imgW="152280" imgH="164880" progId="Equation.3">
                    <p:embed/>
                  </p:oleObj>
                </mc:Choice>
                <mc:Fallback>
                  <p:oleObj name="公式" r:id="rId10" imgW="152280" imgH="164880"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16" y="1468"/>
                          <a:ext cx="161"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 name="Object 29"/>
            <p:cNvGraphicFramePr>
              <a:graphicFrameLocks noChangeAspect="1"/>
            </p:cNvGraphicFramePr>
            <p:nvPr/>
          </p:nvGraphicFramePr>
          <p:xfrm>
            <a:off x="1401" y="1461"/>
            <a:ext cx="158" cy="184"/>
          </p:xfrm>
          <a:graphic>
            <a:graphicData uri="http://schemas.openxmlformats.org/presentationml/2006/ole">
              <mc:AlternateContent xmlns:mc="http://schemas.openxmlformats.org/markup-compatibility/2006">
                <mc:Choice xmlns:v="urn:schemas-microsoft-com:vml" Requires="v">
                  <p:oleObj spid="_x0000_s492578" name="公式" r:id="rId12" imgW="152280" imgH="177480" progId="Equation.3">
                    <p:embed/>
                  </p:oleObj>
                </mc:Choice>
                <mc:Fallback>
                  <p:oleObj name="公式" r:id="rId12" imgW="152280" imgH="177480" progId="Equation.3">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1" y="1461"/>
                          <a:ext cx="158"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 name="Line 30"/>
            <p:cNvSpPr>
              <a:spLocks noChangeShapeType="1"/>
            </p:cNvSpPr>
            <p:nvPr/>
          </p:nvSpPr>
          <p:spPr bwMode="auto">
            <a:xfrm>
              <a:off x="1488" y="1728"/>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Rectangle 31"/>
            <p:cNvSpPr>
              <a:spLocks noChangeArrowheads="1"/>
            </p:cNvSpPr>
            <p:nvPr/>
          </p:nvSpPr>
          <p:spPr bwMode="auto">
            <a:xfrm>
              <a:off x="1671" y="1569"/>
              <a:ext cx="286"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r>
                <a:rPr kumimoji="1" lang="en-US" altLang="zh-CN" sz="2000" b="1" u="none" strike="noStrike" kern="1200" cap="none" spc="0" normalizeH="0" baseline="0" noProof="0">
                  <a:ln>
                    <a:noFill/>
                  </a:ln>
                  <a:effectLst/>
                  <a:uLnTx/>
                  <a:uFillTx/>
                  <a:latin typeface="Times New Roman" pitchFamily="18" charset="0"/>
                  <a:ea typeface="宋体" charset="-122"/>
                  <a:cs typeface="+mn-cs"/>
                </a:rPr>
                <a:t>/2</a:t>
              </a:r>
            </a:p>
          </p:txBody>
        </p:sp>
        <p:grpSp>
          <p:nvGrpSpPr>
            <p:cNvPr id="8" name="Group 32"/>
            <p:cNvGrpSpPr>
              <a:grpSpLocks/>
            </p:cNvGrpSpPr>
            <p:nvPr/>
          </p:nvGrpSpPr>
          <p:grpSpPr bwMode="auto">
            <a:xfrm rot="5370004">
              <a:off x="552" y="1368"/>
              <a:ext cx="432" cy="96"/>
              <a:chOff x="5136" y="2256"/>
              <a:chExt cx="432" cy="96"/>
            </a:xfrm>
          </p:grpSpPr>
          <p:sp>
            <p:nvSpPr>
              <p:cNvPr id="376" name="Line 33"/>
              <p:cNvSpPr>
                <a:spLocks noChangeShapeType="1"/>
              </p:cNvSpPr>
              <p:nvPr/>
            </p:nvSpPr>
            <p:spPr bwMode="auto">
              <a:xfrm>
                <a:off x="5184" y="2256"/>
                <a:ext cx="384"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34"/>
              <p:cNvSpPr>
                <a:spLocks noChangeShapeType="1"/>
              </p:cNvSpPr>
              <p:nvPr/>
            </p:nvSpPr>
            <p:spPr bwMode="auto">
              <a:xfrm flipV="1">
                <a:off x="518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35"/>
              <p:cNvSpPr>
                <a:spLocks noChangeShapeType="1"/>
              </p:cNvSpPr>
              <p:nvPr/>
            </p:nvSpPr>
            <p:spPr bwMode="auto">
              <a:xfrm flipV="1">
                <a:off x="523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Line 36"/>
              <p:cNvSpPr>
                <a:spLocks noChangeShapeType="1"/>
              </p:cNvSpPr>
              <p:nvPr/>
            </p:nvSpPr>
            <p:spPr bwMode="auto">
              <a:xfrm flipV="1">
                <a:off x="5280"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Line 37"/>
              <p:cNvSpPr>
                <a:spLocks noChangeShapeType="1"/>
              </p:cNvSpPr>
              <p:nvPr/>
            </p:nvSpPr>
            <p:spPr bwMode="auto">
              <a:xfrm flipV="1">
                <a:off x="5328"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1" name="Line 38"/>
              <p:cNvSpPr>
                <a:spLocks noChangeShapeType="1"/>
              </p:cNvSpPr>
              <p:nvPr/>
            </p:nvSpPr>
            <p:spPr bwMode="auto">
              <a:xfrm flipV="1">
                <a:off x="537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2" name="Line 39"/>
              <p:cNvSpPr>
                <a:spLocks noChangeShapeType="1"/>
              </p:cNvSpPr>
              <p:nvPr/>
            </p:nvSpPr>
            <p:spPr bwMode="auto">
              <a:xfrm flipV="1">
                <a:off x="542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3" name="Line 40"/>
              <p:cNvSpPr>
                <a:spLocks noChangeShapeType="1"/>
              </p:cNvSpPr>
              <p:nvPr/>
            </p:nvSpPr>
            <p:spPr bwMode="auto">
              <a:xfrm flipV="1">
                <a:off x="547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4" name="Line 41"/>
              <p:cNvSpPr>
                <a:spLocks noChangeShapeType="1"/>
              </p:cNvSpPr>
              <p:nvPr/>
            </p:nvSpPr>
            <p:spPr bwMode="auto">
              <a:xfrm flipV="1">
                <a:off x="513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75" name="Line 42"/>
            <p:cNvSpPr>
              <a:spLocks noChangeShapeType="1"/>
            </p:cNvSpPr>
            <p:nvPr/>
          </p:nvSpPr>
          <p:spPr bwMode="auto">
            <a:xfrm>
              <a:off x="1488" y="1392"/>
              <a:ext cx="0" cy="9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9" name="Group 43"/>
          <p:cNvGrpSpPr>
            <a:grpSpLocks/>
          </p:cNvGrpSpPr>
          <p:nvPr/>
        </p:nvGrpSpPr>
        <p:grpSpPr bwMode="auto">
          <a:xfrm>
            <a:off x="685793" y="2409810"/>
            <a:ext cx="3140079" cy="976313"/>
            <a:chOff x="-106" y="1062"/>
            <a:chExt cx="1978" cy="615"/>
          </a:xfrm>
        </p:grpSpPr>
        <p:sp>
          <p:nvSpPr>
            <p:cNvPr id="394" name="Oval 44"/>
            <p:cNvSpPr>
              <a:spLocks noChangeArrowheads="1"/>
            </p:cNvSpPr>
            <p:nvPr/>
          </p:nvSpPr>
          <p:spPr bwMode="auto">
            <a:xfrm>
              <a:off x="-106" y="1389"/>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95" name="Line 45"/>
            <p:cNvSpPr>
              <a:spLocks noChangeShapeType="1"/>
            </p:cNvSpPr>
            <p:nvPr/>
          </p:nvSpPr>
          <p:spPr bwMode="auto">
            <a:xfrm flipV="1">
              <a:off x="617" y="1152"/>
              <a:ext cx="0" cy="384"/>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6" name="Object 46"/>
            <p:cNvGraphicFramePr>
              <a:graphicFrameLocks noChangeAspect="1"/>
            </p:cNvGraphicFramePr>
            <p:nvPr/>
          </p:nvGraphicFramePr>
          <p:xfrm>
            <a:off x="261" y="1062"/>
            <a:ext cx="258" cy="410"/>
          </p:xfrm>
          <a:graphic>
            <a:graphicData uri="http://schemas.openxmlformats.org/presentationml/2006/ole">
              <mc:AlternateContent xmlns:mc="http://schemas.openxmlformats.org/markup-compatibility/2006">
                <mc:Choice xmlns:v="urn:schemas-microsoft-com:vml" Requires="v">
                  <p:oleObj spid="_x0000_s492579" name="Equation" r:id="rId14" imgW="266400" imgH="419040" progId="Equation.DSMT4">
                    <p:embed/>
                  </p:oleObj>
                </mc:Choice>
                <mc:Fallback>
                  <p:oleObj name="Equation" r:id="rId14" imgW="266400" imgH="419040" progId="Equation.DSMT4">
                    <p:embed/>
                    <p:pic>
                      <p:nvPicPr>
                        <p:cNvPr id="0" name="Object 4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1" y="1062"/>
                          <a:ext cx="258"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 name="Object 47"/>
            <p:cNvGraphicFramePr>
              <a:graphicFrameLocks noChangeAspect="1"/>
            </p:cNvGraphicFramePr>
            <p:nvPr/>
          </p:nvGraphicFramePr>
          <p:xfrm>
            <a:off x="624" y="1127"/>
            <a:ext cx="1248" cy="420"/>
          </p:xfrm>
          <a:graphic>
            <a:graphicData uri="http://schemas.openxmlformats.org/presentationml/2006/ole">
              <mc:AlternateContent xmlns:mc="http://schemas.openxmlformats.org/markup-compatibility/2006">
                <mc:Choice xmlns:v="urn:schemas-microsoft-com:vml" Requires="v">
                  <p:oleObj spid="_x0000_s492580" name="BMP 图象" r:id="rId16" imgW="1980952" imgH="666667" progId="PBrush">
                    <p:embed/>
                  </p:oleObj>
                </mc:Choice>
                <mc:Fallback>
                  <p:oleObj name="BMP 图象" r:id="rId16" imgW="1980952" imgH="666667" progId="PBrush">
                    <p:embed/>
                    <p:pic>
                      <p:nvPicPr>
                        <p:cNvPr id="0" name="Object 47"/>
                        <p:cNvPicPr>
                          <a:picLocks noChangeAspect="1" noChangeArrowheads="1"/>
                        </p:cNvPicPr>
                        <p:nvPr/>
                      </p:nvPicPr>
                      <p:blipFill>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4" y="1127"/>
                          <a:ext cx="1248" cy="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Group 48"/>
          <p:cNvGrpSpPr>
            <a:grpSpLocks/>
          </p:cNvGrpSpPr>
          <p:nvPr/>
        </p:nvGrpSpPr>
        <p:grpSpPr bwMode="auto">
          <a:xfrm>
            <a:off x="5507037" y="2641592"/>
            <a:ext cx="2133600" cy="858837"/>
            <a:chOff x="432" y="2448"/>
            <a:chExt cx="1344" cy="541"/>
          </a:xfrm>
        </p:grpSpPr>
        <p:sp>
          <p:nvSpPr>
            <p:cNvPr id="399" name="Line 49"/>
            <p:cNvSpPr>
              <a:spLocks noChangeShapeType="1"/>
            </p:cNvSpPr>
            <p:nvPr/>
          </p:nvSpPr>
          <p:spPr bwMode="auto">
            <a:xfrm flipV="1">
              <a:off x="1200" y="2496"/>
              <a:ext cx="0" cy="288"/>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0" name="Object 50"/>
            <p:cNvGraphicFramePr>
              <a:graphicFrameLocks noChangeAspect="1"/>
            </p:cNvGraphicFramePr>
            <p:nvPr/>
          </p:nvGraphicFramePr>
          <p:xfrm>
            <a:off x="1248" y="2448"/>
            <a:ext cx="112" cy="212"/>
          </p:xfrm>
          <a:graphic>
            <a:graphicData uri="http://schemas.openxmlformats.org/presentationml/2006/ole">
              <mc:AlternateContent xmlns:mc="http://schemas.openxmlformats.org/markup-compatibility/2006">
                <mc:Choice xmlns:v="urn:schemas-microsoft-com:vml" Requires="v">
                  <p:oleObj spid="_x0000_s492581" name="公式" r:id="rId18" imgW="88560" imgH="164880" progId="Equation.3">
                    <p:embed/>
                  </p:oleObj>
                </mc:Choice>
                <mc:Fallback>
                  <p:oleObj name="公式" r:id="rId18" imgW="88560" imgH="164880" progId="Equation.3">
                    <p:embed/>
                    <p:pic>
                      <p:nvPicPr>
                        <p:cNvPr id="0" name="Object 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48" y="2448"/>
                          <a:ext cx="112"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1" name="Line 51"/>
            <p:cNvSpPr>
              <a:spLocks noChangeShapeType="1"/>
            </p:cNvSpPr>
            <p:nvPr/>
          </p:nvSpPr>
          <p:spPr bwMode="auto">
            <a:xfrm>
              <a:off x="528" y="2775"/>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2" name="Object 52"/>
            <p:cNvGraphicFramePr>
              <a:graphicFrameLocks noChangeAspect="1"/>
            </p:cNvGraphicFramePr>
            <p:nvPr/>
          </p:nvGraphicFramePr>
          <p:xfrm>
            <a:off x="1104" y="2809"/>
            <a:ext cx="154" cy="180"/>
          </p:xfrm>
          <a:graphic>
            <a:graphicData uri="http://schemas.openxmlformats.org/presentationml/2006/ole">
              <mc:AlternateContent xmlns:mc="http://schemas.openxmlformats.org/markup-compatibility/2006">
                <mc:Choice xmlns:v="urn:schemas-microsoft-com:vml" Requires="v">
                  <p:oleObj spid="_x0000_s492582" name="公式" r:id="rId20" imgW="152280" imgH="177480" progId="Equation.3">
                    <p:embed/>
                  </p:oleObj>
                </mc:Choice>
                <mc:Fallback>
                  <p:oleObj name="公式" r:id="rId20" imgW="152280" imgH="177480" progId="Equation.3">
                    <p:embed/>
                    <p:pic>
                      <p:nvPicPr>
                        <p:cNvPr id="0"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04" y="2809"/>
                          <a:ext cx="154"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53"/>
            <p:cNvGrpSpPr>
              <a:grpSpLocks/>
            </p:cNvGrpSpPr>
            <p:nvPr/>
          </p:nvGrpSpPr>
          <p:grpSpPr bwMode="auto">
            <a:xfrm rot="5370004">
              <a:off x="264" y="2703"/>
              <a:ext cx="432" cy="96"/>
              <a:chOff x="5136" y="2256"/>
              <a:chExt cx="432" cy="96"/>
            </a:xfrm>
          </p:grpSpPr>
          <p:sp>
            <p:nvSpPr>
              <p:cNvPr id="404" name="Line 54"/>
              <p:cNvSpPr>
                <a:spLocks noChangeShapeType="1"/>
              </p:cNvSpPr>
              <p:nvPr/>
            </p:nvSpPr>
            <p:spPr bwMode="auto">
              <a:xfrm>
                <a:off x="5184" y="2256"/>
                <a:ext cx="384"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5" name="Line 55"/>
              <p:cNvSpPr>
                <a:spLocks noChangeShapeType="1"/>
              </p:cNvSpPr>
              <p:nvPr/>
            </p:nvSpPr>
            <p:spPr bwMode="auto">
              <a:xfrm flipV="1">
                <a:off x="518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6" name="Line 56"/>
              <p:cNvSpPr>
                <a:spLocks noChangeShapeType="1"/>
              </p:cNvSpPr>
              <p:nvPr/>
            </p:nvSpPr>
            <p:spPr bwMode="auto">
              <a:xfrm flipV="1">
                <a:off x="523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57"/>
              <p:cNvSpPr>
                <a:spLocks noChangeShapeType="1"/>
              </p:cNvSpPr>
              <p:nvPr/>
            </p:nvSpPr>
            <p:spPr bwMode="auto">
              <a:xfrm flipV="1">
                <a:off x="5280"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8" name="Line 58"/>
              <p:cNvSpPr>
                <a:spLocks noChangeShapeType="1"/>
              </p:cNvSpPr>
              <p:nvPr/>
            </p:nvSpPr>
            <p:spPr bwMode="auto">
              <a:xfrm flipV="1">
                <a:off x="5328"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9" name="Line 59"/>
              <p:cNvSpPr>
                <a:spLocks noChangeShapeType="1"/>
              </p:cNvSpPr>
              <p:nvPr/>
            </p:nvSpPr>
            <p:spPr bwMode="auto">
              <a:xfrm flipV="1">
                <a:off x="537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0" name="Line 60"/>
              <p:cNvSpPr>
                <a:spLocks noChangeShapeType="1"/>
              </p:cNvSpPr>
              <p:nvPr/>
            </p:nvSpPr>
            <p:spPr bwMode="auto">
              <a:xfrm flipV="1">
                <a:off x="5424"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1" name="Line 61"/>
              <p:cNvSpPr>
                <a:spLocks noChangeShapeType="1"/>
              </p:cNvSpPr>
              <p:nvPr/>
            </p:nvSpPr>
            <p:spPr bwMode="auto">
              <a:xfrm flipV="1">
                <a:off x="5472"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2" name="Line 62"/>
              <p:cNvSpPr>
                <a:spLocks noChangeShapeType="1"/>
              </p:cNvSpPr>
              <p:nvPr/>
            </p:nvSpPr>
            <p:spPr bwMode="auto">
              <a:xfrm flipV="1">
                <a:off x="5136" y="2256"/>
                <a:ext cx="96" cy="96"/>
              </a:xfrm>
              <a:prstGeom prst="line">
                <a:avLst/>
              </a:prstGeom>
              <a:noFill/>
              <a:ln w="190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12" name="Group 64"/>
          <p:cNvGrpSpPr>
            <a:grpSpLocks/>
          </p:cNvGrpSpPr>
          <p:nvPr/>
        </p:nvGrpSpPr>
        <p:grpSpPr bwMode="auto">
          <a:xfrm>
            <a:off x="1820849" y="2143116"/>
            <a:ext cx="1931988" cy="928688"/>
            <a:chOff x="561" y="873"/>
            <a:chExt cx="1217" cy="585"/>
          </a:xfrm>
        </p:grpSpPr>
        <p:sp>
          <p:nvSpPr>
            <p:cNvPr id="415" name="Line 65"/>
            <p:cNvSpPr>
              <a:spLocks noChangeShapeType="1"/>
            </p:cNvSpPr>
            <p:nvPr/>
          </p:nvSpPr>
          <p:spPr bwMode="auto">
            <a:xfrm flipH="1">
              <a:off x="561" y="1446"/>
              <a:ext cx="720" cy="0"/>
            </a:xfrm>
            <a:prstGeom prst="line">
              <a:avLst/>
            </a:prstGeom>
            <a:noFill/>
            <a:ln w="12700">
              <a:solidFill>
                <a:srgbClr val="00B05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16" name="Object 66"/>
            <p:cNvGraphicFramePr>
              <a:graphicFrameLocks noChangeAspect="1"/>
            </p:cNvGraphicFramePr>
            <p:nvPr/>
          </p:nvGraphicFramePr>
          <p:xfrm>
            <a:off x="1517" y="873"/>
            <a:ext cx="261" cy="413"/>
          </p:xfrm>
          <a:graphic>
            <a:graphicData uri="http://schemas.openxmlformats.org/presentationml/2006/ole">
              <mc:AlternateContent xmlns:mc="http://schemas.openxmlformats.org/markup-compatibility/2006">
                <mc:Choice xmlns:v="urn:schemas-microsoft-com:vml" Requires="v">
                  <p:oleObj spid="_x0000_s492583" name="Equation" r:id="rId22" imgW="266400" imgH="419040" progId="Equation.DSMT4">
                    <p:embed/>
                  </p:oleObj>
                </mc:Choice>
                <mc:Fallback>
                  <p:oleObj name="Equation" r:id="rId22" imgW="266400" imgH="419040" progId="Equation.DSMT4">
                    <p:embed/>
                    <p:pic>
                      <p:nvPicPr>
                        <p:cNvPr id="0" name="Object 6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17" y="873"/>
                          <a:ext cx="261" cy="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7" name="Line 67"/>
            <p:cNvSpPr>
              <a:spLocks noChangeShapeType="1"/>
            </p:cNvSpPr>
            <p:nvPr/>
          </p:nvSpPr>
          <p:spPr bwMode="auto">
            <a:xfrm flipV="1">
              <a:off x="1248" y="1221"/>
              <a:ext cx="270" cy="237"/>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203" name="Group 2"/>
          <p:cNvGrpSpPr>
            <a:grpSpLocks/>
          </p:cNvGrpSpPr>
          <p:nvPr/>
        </p:nvGrpSpPr>
        <p:grpSpPr bwMode="auto">
          <a:xfrm>
            <a:off x="1538693" y="5000657"/>
            <a:ext cx="2254250" cy="687389"/>
            <a:chOff x="717" y="3186"/>
            <a:chExt cx="1420" cy="433"/>
          </a:xfrm>
        </p:grpSpPr>
        <p:grpSp>
          <p:nvGrpSpPr>
            <p:cNvPr id="204" name="Group 3"/>
            <p:cNvGrpSpPr>
              <a:grpSpLocks/>
            </p:cNvGrpSpPr>
            <p:nvPr/>
          </p:nvGrpSpPr>
          <p:grpSpPr bwMode="auto">
            <a:xfrm>
              <a:off x="717" y="3192"/>
              <a:ext cx="1059" cy="410"/>
              <a:chOff x="717" y="3192"/>
              <a:chExt cx="1059" cy="410"/>
            </a:xfrm>
          </p:grpSpPr>
          <p:grpSp>
            <p:nvGrpSpPr>
              <p:cNvPr id="208" name="Group 4"/>
              <p:cNvGrpSpPr>
                <a:grpSpLocks/>
              </p:cNvGrpSpPr>
              <p:nvPr/>
            </p:nvGrpSpPr>
            <p:grpSpPr bwMode="auto">
              <a:xfrm>
                <a:off x="926" y="3192"/>
                <a:ext cx="712" cy="149"/>
                <a:chOff x="1814" y="2758"/>
                <a:chExt cx="712" cy="250"/>
              </a:xfrm>
            </p:grpSpPr>
            <p:sp>
              <p:nvSpPr>
                <p:cNvPr id="239" name="Line 5"/>
                <p:cNvSpPr>
                  <a:spLocks noChangeShapeType="1"/>
                </p:cNvSpPr>
                <p:nvPr/>
              </p:nvSpPr>
              <p:spPr bwMode="auto">
                <a:xfrm>
                  <a:off x="1816" y="2766"/>
                  <a:ext cx="0" cy="242"/>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240" name="Line 6"/>
                <p:cNvSpPr>
                  <a:spLocks noChangeShapeType="1"/>
                </p:cNvSpPr>
                <p:nvPr/>
              </p:nvSpPr>
              <p:spPr bwMode="auto">
                <a:xfrm>
                  <a:off x="1986" y="2758"/>
                  <a:ext cx="0" cy="241"/>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241" name="Line 7"/>
                <p:cNvSpPr>
                  <a:spLocks noChangeShapeType="1"/>
                </p:cNvSpPr>
                <p:nvPr/>
              </p:nvSpPr>
              <p:spPr bwMode="auto">
                <a:xfrm>
                  <a:off x="2166" y="2762"/>
                  <a:ext cx="0" cy="241"/>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242" name="Line 8"/>
                <p:cNvSpPr>
                  <a:spLocks noChangeShapeType="1"/>
                </p:cNvSpPr>
                <p:nvPr/>
              </p:nvSpPr>
              <p:spPr bwMode="auto">
                <a:xfrm>
                  <a:off x="2344" y="2765"/>
                  <a:ext cx="0" cy="242"/>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243" name="Line 9"/>
                <p:cNvSpPr>
                  <a:spLocks noChangeShapeType="1"/>
                </p:cNvSpPr>
                <p:nvPr/>
              </p:nvSpPr>
              <p:spPr bwMode="auto">
                <a:xfrm>
                  <a:off x="2526" y="2766"/>
                  <a:ext cx="0" cy="242"/>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244" name="Line 10"/>
                <p:cNvSpPr>
                  <a:spLocks noChangeShapeType="1"/>
                </p:cNvSpPr>
                <p:nvPr/>
              </p:nvSpPr>
              <p:spPr bwMode="auto">
                <a:xfrm>
                  <a:off x="1814" y="2766"/>
                  <a:ext cx="712" cy="0"/>
                </a:xfrm>
                <a:prstGeom prst="line">
                  <a:avLst/>
                </a:prstGeom>
                <a:noFill/>
                <a:ln w="28575">
                  <a:solidFill>
                    <a:srgbClr val="0033CC"/>
                  </a:solidFill>
                  <a:round/>
                  <a:headEnd/>
                  <a:tailEnd/>
                </a:ln>
              </p:spPr>
              <p:txBody>
                <a:bodyPr wrap="none" anchor="ctr"/>
                <a:lstStyle/>
                <a:p>
                  <a:endParaRPr lang="zh-CN" altLang="en-US"/>
                </a:p>
              </p:txBody>
            </p:sp>
          </p:grpSp>
          <p:grpSp>
            <p:nvGrpSpPr>
              <p:cNvPr id="209" name="Group 11"/>
              <p:cNvGrpSpPr>
                <a:grpSpLocks/>
              </p:cNvGrpSpPr>
              <p:nvPr/>
            </p:nvGrpSpPr>
            <p:grpSpPr bwMode="auto">
              <a:xfrm>
                <a:off x="717" y="3312"/>
                <a:ext cx="1059" cy="290"/>
                <a:chOff x="381" y="2880"/>
                <a:chExt cx="1059" cy="290"/>
              </a:xfrm>
            </p:grpSpPr>
            <p:sp>
              <p:nvSpPr>
                <p:cNvPr id="211" name="Line 12"/>
                <p:cNvSpPr>
                  <a:spLocks noChangeShapeType="1"/>
                </p:cNvSpPr>
                <p:nvPr/>
              </p:nvSpPr>
              <p:spPr bwMode="auto">
                <a:xfrm>
                  <a:off x="624" y="2928"/>
                  <a:ext cx="672" cy="0"/>
                </a:xfrm>
                <a:prstGeom prst="line">
                  <a:avLst/>
                </a:prstGeom>
                <a:noFill/>
                <a:ln w="57150">
                  <a:solidFill>
                    <a:schemeClr val="tx1"/>
                  </a:solidFill>
                  <a:round/>
                  <a:headEnd/>
                  <a:tailEnd/>
                </a:ln>
              </p:spPr>
              <p:txBody>
                <a:bodyPr wrap="none" anchor="ctr"/>
                <a:lstStyle/>
                <a:p>
                  <a:endParaRPr lang="zh-CN" altLang="en-US"/>
                </a:p>
              </p:txBody>
            </p:sp>
            <p:grpSp>
              <p:nvGrpSpPr>
                <p:cNvPr id="212" name="Group 13"/>
                <p:cNvGrpSpPr>
                  <a:grpSpLocks/>
                </p:cNvGrpSpPr>
                <p:nvPr/>
              </p:nvGrpSpPr>
              <p:grpSpPr bwMode="auto">
                <a:xfrm>
                  <a:off x="381" y="2898"/>
                  <a:ext cx="282" cy="272"/>
                  <a:chOff x="576" y="3324"/>
                  <a:chExt cx="379" cy="360"/>
                </a:xfrm>
              </p:grpSpPr>
              <p:sp>
                <p:nvSpPr>
                  <p:cNvPr id="228" name="Line 16"/>
                  <p:cNvSpPr>
                    <a:spLocks noChangeShapeType="1"/>
                  </p:cNvSpPr>
                  <p:nvPr/>
                </p:nvSpPr>
                <p:spPr bwMode="auto">
                  <a:xfrm>
                    <a:off x="718" y="3369"/>
                    <a:ext cx="95" cy="0"/>
                  </a:xfrm>
                  <a:prstGeom prst="line">
                    <a:avLst/>
                  </a:prstGeom>
                  <a:noFill/>
                  <a:ln w="28575">
                    <a:solidFill>
                      <a:schemeClr val="tx1"/>
                    </a:solidFill>
                    <a:round/>
                    <a:headEnd/>
                    <a:tailEnd/>
                  </a:ln>
                </p:spPr>
                <p:txBody>
                  <a:bodyPr wrap="none" anchor="ctr"/>
                  <a:lstStyle/>
                  <a:p>
                    <a:endParaRPr lang="zh-CN" altLang="en-US"/>
                  </a:p>
                </p:txBody>
              </p:sp>
              <p:sp>
                <p:nvSpPr>
                  <p:cNvPr id="229" name="Line 17"/>
                  <p:cNvSpPr>
                    <a:spLocks noChangeShapeType="1"/>
                  </p:cNvSpPr>
                  <p:nvPr/>
                </p:nvSpPr>
                <p:spPr bwMode="auto">
                  <a:xfrm>
                    <a:off x="860" y="3414"/>
                    <a:ext cx="0" cy="90"/>
                  </a:xfrm>
                  <a:prstGeom prst="line">
                    <a:avLst/>
                  </a:prstGeom>
                  <a:noFill/>
                  <a:ln w="28575">
                    <a:solidFill>
                      <a:schemeClr val="tx1"/>
                    </a:solidFill>
                    <a:round/>
                    <a:headEnd/>
                    <a:tailEnd/>
                  </a:ln>
                </p:spPr>
                <p:txBody>
                  <a:bodyPr wrap="none" anchor="ctr"/>
                  <a:lstStyle/>
                  <a:p>
                    <a:endParaRPr lang="zh-CN" altLang="en-US"/>
                  </a:p>
                </p:txBody>
              </p:sp>
              <p:sp>
                <p:nvSpPr>
                  <p:cNvPr id="230" name="Line 18"/>
                  <p:cNvSpPr>
                    <a:spLocks noChangeShapeType="1"/>
                  </p:cNvSpPr>
                  <p:nvPr/>
                </p:nvSpPr>
                <p:spPr bwMode="auto">
                  <a:xfrm>
                    <a:off x="576" y="3324"/>
                    <a:ext cx="379" cy="360"/>
                  </a:xfrm>
                  <a:prstGeom prst="line">
                    <a:avLst/>
                  </a:prstGeom>
                  <a:noFill/>
                  <a:ln w="38100">
                    <a:solidFill>
                      <a:schemeClr val="tx1"/>
                    </a:solidFill>
                    <a:round/>
                    <a:headEnd/>
                    <a:tailEnd/>
                  </a:ln>
                </p:spPr>
                <p:txBody>
                  <a:bodyPr wrap="none" anchor="ctr"/>
                  <a:lstStyle/>
                  <a:p>
                    <a:endParaRPr lang="zh-CN" altLang="en-US"/>
                  </a:p>
                </p:txBody>
              </p:sp>
              <p:sp>
                <p:nvSpPr>
                  <p:cNvPr id="231" name="Line 19"/>
                  <p:cNvSpPr>
                    <a:spLocks noChangeShapeType="1"/>
                  </p:cNvSpPr>
                  <p:nvPr/>
                </p:nvSpPr>
                <p:spPr bwMode="auto">
                  <a:xfrm>
                    <a:off x="576" y="3414"/>
                    <a:ext cx="95" cy="0"/>
                  </a:xfrm>
                  <a:prstGeom prst="line">
                    <a:avLst/>
                  </a:prstGeom>
                  <a:noFill/>
                  <a:ln w="9525">
                    <a:solidFill>
                      <a:schemeClr val="tx1"/>
                    </a:solidFill>
                    <a:round/>
                    <a:headEnd/>
                    <a:tailEnd/>
                  </a:ln>
                </p:spPr>
                <p:txBody>
                  <a:bodyPr wrap="none" anchor="ctr"/>
                  <a:lstStyle/>
                  <a:p>
                    <a:endParaRPr lang="zh-CN" altLang="en-US"/>
                  </a:p>
                </p:txBody>
              </p:sp>
              <p:sp>
                <p:nvSpPr>
                  <p:cNvPr id="232" name="Line 20"/>
                  <p:cNvSpPr>
                    <a:spLocks noChangeShapeType="1"/>
                  </p:cNvSpPr>
                  <p:nvPr/>
                </p:nvSpPr>
                <p:spPr bwMode="auto">
                  <a:xfrm>
                    <a:off x="623" y="3459"/>
                    <a:ext cx="95" cy="0"/>
                  </a:xfrm>
                  <a:prstGeom prst="line">
                    <a:avLst/>
                  </a:prstGeom>
                  <a:noFill/>
                  <a:ln w="9525">
                    <a:solidFill>
                      <a:schemeClr val="tx1"/>
                    </a:solidFill>
                    <a:round/>
                    <a:headEnd/>
                    <a:tailEnd/>
                  </a:ln>
                </p:spPr>
                <p:txBody>
                  <a:bodyPr wrap="none" anchor="ctr"/>
                  <a:lstStyle/>
                  <a:p>
                    <a:endParaRPr lang="zh-CN" altLang="en-US"/>
                  </a:p>
                </p:txBody>
              </p:sp>
              <p:sp>
                <p:nvSpPr>
                  <p:cNvPr id="233" name="Line 21"/>
                  <p:cNvSpPr>
                    <a:spLocks noChangeShapeType="1"/>
                  </p:cNvSpPr>
                  <p:nvPr/>
                </p:nvSpPr>
                <p:spPr bwMode="auto">
                  <a:xfrm>
                    <a:off x="671" y="3504"/>
                    <a:ext cx="94" cy="0"/>
                  </a:xfrm>
                  <a:prstGeom prst="line">
                    <a:avLst/>
                  </a:prstGeom>
                  <a:noFill/>
                  <a:ln w="9525">
                    <a:solidFill>
                      <a:schemeClr val="tx1"/>
                    </a:solidFill>
                    <a:round/>
                    <a:headEnd/>
                    <a:tailEnd/>
                  </a:ln>
                </p:spPr>
                <p:txBody>
                  <a:bodyPr wrap="none" anchor="ctr"/>
                  <a:lstStyle/>
                  <a:p>
                    <a:endParaRPr lang="zh-CN" altLang="en-US"/>
                  </a:p>
                </p:txBody>
              </p:sp>
              <p:sp>
                <p:nvSpPr>
                  <p:cNvPr id="234" name="Line 22"/>
                  <p:cNvSpPr>
                    <a:spLocks noChangeShapeType="1"/>
                  </p:cNvSpPr>
                  <p:nvPr/>
                </p:nvSpPr>
                <p:spPr bwMode="auto">
                  <a:xfrm>
                    <a:off x="718" y="3549"/>
                    <a:ext cx="95" cy="0"/>
                  </a:xfrm>
                  <a:prstGeom prst="line">
                    <a:avLst/>
                  </a:prstGeom>
                  <a:noFill/>
                  <a:ln w="9525">
                    <a:solidFill>
                      <a:schemeClr val="tx1"/>
                    </a:solidFill>
                    <a:round/>
                    <a:headEnd/>
                    <a:tailEnd/>
                  </a:ln>
                </p:spPr>
                <p:txBody>
                  <a:bodyPr wrap="none" anchor="ctr"/>
                  <a:lstStyle/>
                  <a:p>
                    <a:endParaRPr lang="zh-CN" altLang="en-US"/>
                  </a:p>
                </p:txBody>
              </p:sp>
              <p:sp>
                <p:nvSpPr>
                  <p:cNvPr id="235" name="Line 23"/>
                  <p:cNvSpPr>
                    <a:spLocks noChangeShapeType="1"/>
                  </p:cNvSpPr>
                  <p:nvPr/>
                </p:nvSpPr>
                <p:spPr bwMode="auto">
                  <a:xfrm>
                    <a:off x="765" y="3594"/>
                    <a:ext cx="95" cy="0"/>
                  </a:xfrm>
                  <a:prstGeom prst="line">
                    <a:avLst/>
                  </a:prstGeom>
                  <a:noFill/>
                  <a:ln w="9525">
                    <a:solidFill>
                      <a:schemeClr val="tx1"/>
                    </a:solidFill>
                    <a:round/>
                    <a:headEnd/>
                    <a:tailEnd/>
                  </a:ln>
                </p:spPr>
                <p:txBody>
                  <a:bodyPr wrap="none" anchor="ctr"/>
                  <a:lstStyle/>
                  <a:p>
                    <a:endParaRPr lang="zh-CN" altLang="en-US"/>
                  </a:p>
                </p:txBody>
              </p:sp>
              <p:sp>
                <p:nvSpPr>
                  <p:cNvPr id="236" name="Line 24"/>
                  <p:cNvSpPr>
                    <a:spLocks noChangeShapeType="1"/>
                  </p:cNvSpPr>
                  <p:nvPr/>
                </p:nvSpPr>
                <p:spPr bwMode="auto">
                  <a:xfrm>
                    <a:off x="813" y="3639"/>
                    <a:ext cx="94" cy="0"/>
                  </a:xfrm>
                  <a:prstGeom prst="line">
                    <a:avLst/>
                  </a:prstGeom>
                  <a:noFill/>
                  <a:ln w="9525">
                    <a:solidFill>
                      <a:schemeClr val="tx1"/>
                    </a:solidFill>
                    <a:round/>
                    <a:headEnd/>
                    <a:tailEnd/>
                  </a:ln>
                </p:spPr>
                <p:txBody>
                  <a:bodyPr wrap="none" anchor="ctr"/>
                  <a:lstStyle/>
                  <a:p>
                    <a:endParaRPr lang="zh-CN" altLang="en-US"/>
                  </a:p>
                </p:txBody>
              </p:sp>
              <p:sp>
                <p:nvSpPr>
                  <p:cNvPr id="237" name="Line 25"/>
                  <p:cNvSpPr>
                    <a:spLocks noChangeShapeType="1"/>
                  </p:cNvSpPr>
                  <p:nvPr/>
                </p:nvSpPr>
                <p:spPr bwMode="auto">
                  <a:xfrm>
                    <a:off x="860" y="3684"/>
                    <a:ext cx="95" cy="0"/>
                  </a:xfrm>
                  <a:prstGeom prst="line">
                    <a:avLst/>
                  </a:prstGeom>
                  <a:noFill/>
                  <a:ln w="9525">
                    <a:solidFill>
                      <a:schemeClr val="tx1"/>
                    </a:solidFill>
                    <a:round/>
                    <a:headEnd/>
                    <a:tailEnd/>
                  </a:ln>
                </p:spPr>
                <p:txBody>
                  <a:bodyPr wrap="none" anchor="ctr"/>
                  <a:lstStyle/>
                  <a:p>
                    <a:endParaRPr lang="zh-CN" altLang="en-US"/>
                  </a:p>
                </p:txBody>
              </p:sp>
              <p:sp>
                <p:nvSpPr>
                  <p:cNvPr id="226" name="Oval 14"/>
                  <p:cNvSpPr>
                    <a:spLocks noChangeArrowheads="1"/>
                  </p:cNvSpPr>
                  <p:nvPr/>
                </p:nvSpPr>
                <p:spPr bwMode="auto">
                  <a:xfrm>
                    <a:off x="813" y="350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38" name="Oval 26"/>
                  <p:cNvSpPr>
                    <a:spLocks noChangeArrowheads="1"/>
                  </p:cNvSpPr>
                  <p:nvPr/>
                </p:nvSpPr>
                <p:spPr bwMode="auto">
                  <a:xfrm>
                    <a:off x="813" y="332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27" name="Oval 15"/>
                  <p:cNvSpPr>
                    <a:spLocks noChangeArrowheads="1"/>
                  </p:cNvSpPr>
                  <p:nvPr/>
                </p:nvSpPr>
                <p:spPr bwMode="auto">
                  <a:xfrm>
                    <a:off x="623" y="3324"/>
                    <a:ext cx="95" cy="90"/>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nvGrpSpPr>
                <p:cNvPr id="213" name="Group 27"/>
                <p:cNvGrpSpPr>
                  <a:grpSpLocks/>
                </p:cNvGrpSpPr>
                <p:nvPr/>
              </p:nvGrpSpPr>
              <p:grpSpPr bwMode="auto">
                <a:xfrm>
                  <a:off x="1152" y="2880"/>
                  <a:ext cx="288" cy="288"/>
                  <a:chOff x="4612" y="2928"/>
                  <a:chExt cx="432" cy="384"/>
                </a:xfrm>
              </p:grpSpPr>
              <p:sp>
                <p:nvSpPr>
                  <p:cNvPr id="215" name="Line 29"/>
                  <p:cNvSpPr>
                    <a:spLocks noChangeShapeType="1"/>
                  </p:cNvSpPr>
                  <p:nvPr/>
                </p:nvSpPr>
                <p:spPr bwMode="auto">
                  <a:xfrm>
                    <a:off x="4852" y="3024"/>
                    <a:ext cx="0" cy="96"/>
                  </a:xfrm>
                  <a:prstGeom prst="line">
                    <a:avLst/>
                  </a:prstGeom>
                  <a:noFill/>
                  <a:ln w="28575">
                    <a:solidFill>
                      <a:schemeClr val="tx1"/>
                    </a:solidFill>
                    <a:round/>
                    <a:headEnd/>
                    <a:tailEnd/>
                  </a:ln>
                </p:spPr>
                <p:txBody>
                  <a:bodyPr wrap="none" anchor="ctr"/>
                  <a:lstStyle/>
                  <a:p>
                    <a:endParaRPr lang="zh-CN" altLang="en-US"/>
                  </a:p>
                </p:txBody>
              </p:sp>
              <p:sp>
                <p:nvSpPr>
                  <p:cNvPr id="216" name="Line 30"/>
                  <p:cNvSpPr>
                    <a:spLocks noChangeShapeType="1"/>
                  </p:cNvSpPr>
                  <p:nvPr/>
                </p:nvSpPr>
                <p:spPr bwMode="auto">
                  <a:xfrm>
                    <a:off x="4660" y="3216"/>
                    <a:ext cx="384" cy="0"/>
                  </a:xfrm>
                  <a:prstGeom prst="line">
                    <a:avLst/>
                  </a:prstGeom>
                  <a:noFill/>
                  <a:ln w="28575">
                    <a:solidFill>
                      <a:schemeClr val="tx1"/>
                    </a:solidFill>
                    <a:round/>
                    <a:headEnd/>
                    <a:tailEnd/>
                  </a:ln>
                </p:spPr>
                <p:txBody>
                  <a:bodyPr wrap="none" anchor="ctr"/>
                  <a:lstStyle/>
                  <a:p>
                    <a:endParaRPr lang="zh-CN" altLang="en-US"/>
                  </a:p>
                </p:txBody>
              </p:sp>
              <p:sp>
                <p:nvSpPr>
                  <p:cNvPr id="217" name="Line 31"/>
                  <p:cNvSpPr>
                    <a:spLocks noChangeShapeType="1"/>
                  </p:cNvSpPr>
                  <p:nvPr/>
                </p:nvSpPr>
                <p:spPr bwMode="auto">
                  <a:xfrm flipV="1">
                    <a:off x="4660" y="3216"/>
                    <a:ext cx="96" cy="96"/>
                  </a:xfrm>
                  <a:prstGeom prst="line">
                    <a:avLst/>
                  </a:prstGeom>
                  <a:noFill/>
                  <a:ln w="19050">
                    <a:solidFill>
                      <a:schemeClr val="tx1"/>
                    </a:solidFill>
                    <a:round/>
                    <a:headEnd/>
                    <a:tailEnd/>
                  </a:ln>
                </p:spPr>
                <p:txBody>
                  <a:bodyPr wrap="none" anchor="ctr"/>
                  <a:lstStyle/>
                  <a:p>
                    <a:endParaRPr lang="zh-CN" altLang="en-US"/>
                  </a:p>
                </p:txBody>
              </p:sp>
              <p:sp>
                <p:nvSpPr>
                  <p:cNvPr id="218" name="Line 32"/>
                  <p:cNvSpPr>
                    <a:spLocks noChangeShapeType="1"/>
                  </p:cNvSpPr>
                  <p:nvPr/>
                </p:nvSpPr>
                <p:spPr bwMode="auto">
                  <a:xfrm flipV="1">
                    <a:off x="4708" y="3216"/>
                    <a:ext cx="96" cy="96"/>
                  </a:xfrm>
                  <a:prstGeom prst="line">
                    <a:avLst/>
                  </a:prstGeom>
                  <a:noFill/>
                  <a:ln w="19050">
                    <a:solidFill>
                      <a:schemeClr val="tx1"/>
                    </a:solidFill>
                    <a:round/>
                    <a:headEnd/>
                    <a:tailEnd/>
                  </a:ln>
                </p:spPr>
                <p:txBody>
                  <a:bodyPr wrap="none" anchor="ctr"/>
                  <a:lstStyle/>
                  <a:p>
                    <a:endParaRPr lang="zh-CN" altLang="en-US"/>
                  </a:p>
                </p:txBody>
              </p:sp>
              <p:sp>
                <p:nvSpPr>
                  <p:cNvPr id="219" name="Line 33"/>
                  <p:cNvSpPr>
                    <a:spLocks noChangeShapeType="1"/>
                  </p:cNvSpPr>
                  <p:nvPr/>
                </p:nvSpPr>
                <p:spPr bwMode="auto">
                  <a:xfrm flipV="1">
                    <a:off x="4756" y="3216"/>
                    <a:ext cx="96" cy="96"/>
                  </a:xfrm>
                  <a:prstGeom prst="line">
                    <a:avLst/>
                  </a:prstGeom>
                  <a:noFill/>
                  <a:ln w="19050">
                    <a:solidFill>
                      <a:schemeClr val="tx1"/>
                    </a:solidFill>
                    <a:round/>
                    <a:headEnd/>
                    <a:tailEnd/>
                  </a:ln>
                </p:spPr>
                <p:txBody>
                  <a:bodyPr wrap="none" anchor="ctr"/>
                  <a:lstStyle/>
                  <a:p>
                    <a:endParaRPr lang="zh-CN" altLang="en-US"/>
                  </a:p>
                </p:txBody>
              </p:sp>
              <p:sp>
                <p:nvSpPr>
                  <p:cNvPr id="220" name="Line 34"/>
                  <p:cNvSpPr>
                    <a:spLocks noChangeShapeType="1"/>
                  </p:cNvSpPr>
                  <p:nvPr/>
                </p:nvSpPr>
                <p:spPr bwMode="auto">
                  <a:xfrm flipV="1">
                    <a:off x="4804" y="3216"/>
                    <a:ext cx="96" cy="96"/>
                  </a:xfrm>
                  <a:prstGeom prst="line">
                    <a:avLst/>
                  </a:prstGeom>
                  <a:noFill/>
                  <a:ln w="19050">
                    <a:solidFill>
                      <a:schemeClr val="tx1"/>
                    </a:solidFill>
                    <a:round/>
                    <a:headEnd/>
                    <a:tailEnd/>
                  </a:ln>
                </p:spPr>
                <p:txBody>
                  <a:bodyPr wrap="none" anchor="ctr"/>
                  <a:lstStyle/>
                  <a:p>
                    <a:endParaRPr lang="zh-CN" altLang="en-US"/>
                  </a:p>
                </p:txBody>
              </p:sp>
              <p:sp>
                <p:nvSpPr>
                  <p:cNvPr id="221" name="Line 35"/>
                  <p:cNvSpPr>
                    <a:spLocks noChangeShapeType="1"/>
                  </p:cNvSpPr>
                  <p:nvPr/>
                </p:nvSpPr>
                <p:spPr bwMode="auto">
                  <a:xfrm flipV="1">
                    <a:off x="4852" y="3216"/>
                    <a:ext cx="96" cy="96"/>
                  </a:xfrm>
                  <a:prstGeom prst="line">
                    <a:avLst/>
                  </a:prstGeom>
                  <a:noFill/>
                  <a:ln w="19050">
                    <a:solidFill>
                      <a:schemeClr val="tx1"/>
                    </a:solidFill>
                    <a:round/>
                    <a:headEnd/>
                    <a:tailEnd/>
                  </a:ln>
                </p:spPr>
                <p:txBody>
                  <a:bodyPr wrap="none" anchor="ctr"/>
                  <a:lstStyle/>
                  <a:p>
                    <a:endParaRPr lang="zh-CN" altLang="en-US"/>
                  </a:p>
                </p:txBody>
              </p:sp>
              <p:sp>
                <p:nvSpPr>
                  <p:cNvPr id="222" name="Line 36"/>
                  <p:cNvSpPr>
                    <a:spLocks noChangeShapeType="1"/>
                  </p:cNvSpPr>
                  <p:nvPr/>
                </p:nvSpPr>
                <p:spPr bwMode="auto">
                  <a:xfrm flipV="1">
                    <a:off x="4900" y="3216"/>
                    <a:ext cx="96" cy="96"/>
                  </a:xfrm>
                  <a:prstGeom prst="line">
                    <a:avLst/>
                  </a:prstGeom>
                  <a:noFill/>
                  <a:ln w="19050">
                    <a:solidFill>
                      <a:schemeClr val="tx1"/>
                    </a:solidFill>
                    <a:round/>
                    <a:headEnd/>
                    <a:tailEnd/>
                  </a:ln>
                </p:spPr>
                <p:txBody>
                  <a:bodyPr wrap="none" anchor="ctr"/>
                  <a:lstStyle/>
                  <a:p>
                    <a:endParaRPr lang="zh-CN" altLang="en-US"/>
                  </a:p>
                </p:txBody>
              </p:sp>
              <p:sp>
                <p:nvSpPr>
                  <p:cNvPr id="223" name="Line 37"/>
                  <p:cNvSpPr>
                    <a:spLocks noChangeShapeType="1"/>
                  </p:cNvSpPr>
                  <p:nvPr/>
                </p:nvSpPr>
                <p:spPr bwMode="auto">
                  <a:xfrm flipV="1">
                    <a:off x="4948" y="3216"/>
                    <a:ext cx="96" cy="96"/>
                  </a:xfrm>
                  <a:prstGeom prst="line">
                    <a:avLst/>
                  </a:prstGeom>
                  <a:noFill/>
                  <a:ln w="19050">
                    <a:solidFill>
                      <a:schemeClr val="tx1"/>
                    </a:solidFill>
                    <a:round/>
                    <a:headEnd/>
                    <a:tailEnd/>
                  </a:ln>
                </p:spPr>
                <p:txBody>
                  <a:bodyPr wrap="none" anchor="ctr"/>
                  <a:lstStyle/>
                  <a:p>
                    <a:endParaRPr lang="zh-CN" altLang="en-US"/>
                  </a:p>
                </p:txBody>
              </p:sp>
              <p:sp>
                <p:nvSpPr>
                  <p:cNvPr id="224" name="Line 38"/>
                  <p:cNvSpPr>
                    <a:spLocks noChangeShapeType="1"/>
                  </p:cNvSpPr>
                  <p:nvPr/>
                </p:nvSpPr>
                <p:spPr bwMode="auto">
                  <a:xfrm flipV="1">
                    <a:off x="4612" y="3216"/>
                    <a:ext cx="96" cy="96"/>
                  </a:xfrm>
                  <a:prstGeom prst="line">
                    <a:avLst/>
                  </a:prstGeom>
                  <a:noFill/>
                  <a:ln w="19050">
                    <a:solidFill>
                      <a:schemeClr val="tx1"/>
                    </a:solidFill>
                    <a:round/>
                    <a:headEnd/>
                    <a:tailEnd/>
                  </a:ln>
                </p:spPr>
                <p:txBody>
                  <a:bodyPr wrap="none" anchor="ctr"/>
                  <a:lstStyle/>
                  <a:p>
                    <a:endParaRPr lang="zh-CN" altLang="en-US"/>
                  </a:p>
                </p:txBody>
              </p:sp>
              <p:sp>
                <p:nvSpPr>
                  <p:cNvPr id="225" name="Oval 39"/>
                  <p:cNvSpPr>
                    <a:spLocks noChangeArrowheads="1"/>
                  </p:cNvSpPr>
                  <p:nvPr/>
                </p:nvSpPr>
                <p:spPr bwMode="auto">
                  <a:xfrm>
                    <a:off x="4804" y="2928"/>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14" name="Oval 28"/>
                  <p:cNvSpPr>
                    <a:spLocks noChangeArrowheads="1"/>
                  </p:cNvSpPr>
                  <p:nvPr/>
                </p:nvSpPr>
                <p:spPr bwMode="auto">
                  <a:xfrm>
                    <a:off x="4804" y="3120"/>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graphicFrame>
            <p:nvGraphicFramePr>
              <p:cNvPr id="210" name="Object 40"/>
              <p:cNvGraphicFramePr>
                <a:graphicFrameLocks noChangeAspect="1"/>
              </p:cNvGraphicFramePr>
              <p:nvPr/>
            </p:nvGraphicFramePr>
            <p:xfrm>
              <a:off x="942" y="3360"/>
              <a:ext cx="696" cy="138"/>
            </p:xfrm>
            <a:graphic>
              <a:graphicData uri="http://schemas.openxmlformats.org/presentationml/2006/ole">
                <mc:AlternateContent xmlns:mc="http://schemas.openxmlformats.org/markup-compatibility/2006">
                  <mc:Choice xmlns:v="urn:schemas-microsoft-com:vml" Requires="v">
                    <p:oleObj spid="_x0000_s492584" name="BMP 图象" r:id="rId24" imgW="1104762" imgH="219222" progId="PBrush">
                      <p:embed/>
                    </p:oleObj>
                  </mc:Choice>
                  <mc:Fallback>
                    <p:oleObj name="BMP 图象" r:id="rId24" imgW="1104762" imgH="219222" progId="PBrush">
                      <p:embed/>
                      <p:pic>
                        <p:nvPicPr>
                          <p:cNvPr id="0" name="Object 40"/>
                          <p:cNvPicPr>
                            <a:picLocks noChangeAspect="1" noChangeArrowheads="1"/>
                          </p:cNvPicPr>
                          <p:nvPr/>
                        </p:nvPicPr>
                        <p:blipFill>
                          <a:blip r:embed="rId2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2" y="3360"/>
                            <a:ext cx="696"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05" name="Object 41"/>
            <p:cNvGraphicFramePr>
              <a:graphicFrameLocks noChangeAspect="1"/>
            </p:cNvGraphicFramePr>
            <p:nvPr/>
          </p:nvGraphicFramePr>
          <p:xfrm>
            <a:off x="1863" y="3186"/>
            <a:ext cx="274" cy="433"/>
          </p:xfrm>
          <a:graphic>
            <a:graphicData uri="http://schemas.openxmlformats.org/presentationml/2006/ole">
              <mc:AlternateContent xmlns:mc="http://schemas.openxmlformats.org/markup-compatibility/2006">
                <mc:Choice xmlns:v="urn:schemas-microsoft-com:vml" Requires="v">
                  <p:oleObj spid="_x0000_s492585" name="Equation" r:id="rId26" imgW="266400" imgH="419040" progId="Equation.DSMT4">
                    <p:embed/>
                  </p:oleObj>
                </mc:Choice>
                <mc:Fallback>
                  <p:oleObj name="Equation" r:id="rId26" imgW="266400" imgH="419040" progId="Equation.DSMT4">
                    <p:embed/>
                    <p:pic>
                      <p:nvPicPr>
                        <p:cNvPr id="0" name="Object 4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863" y="3186"/>
                          <a:ext cx="274"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 name="Line 42"/>
            <p:cNvSpPr>
              <a:spLocks noChangeShapeType="1"/>
            </p:cNvSpPr>
            <p:nvPr/>
          </p:nvSpPr>
          <p:spPr bwMode="auto">
            <a:xfrm>
              <a:off x="1280" y="3360"/>
              <a:ext cx="0" cy="96"/>
            </a:xfrm>
            <a:prstGeom prst="line">
              <a:avLst/>
            </a:prstGeom>
            <a:noFill/>
            <a:ln w="9525">
              <a:solidFill>
                <a:schemeClr val="tx1"/>
              </a:solidFill>
              <a:round/>
              <a:headEnd/>
              <a:tailEnd/>
            </a:ln>
          </p:spPr>
          <p:txBody>
            <a:bodyPr wrap="none" anchor="ctr"/>
            <a:lstStyle/>
            <a:p>
              <a:endParaRPr lang="zh-CN" altLang="en-US"/>
            </a:p>
          </p:txBody>
        </p:sp>
        <p:sp>
          <p:nvSpPr>
            <p:cNvPr id="207" name="Line 43"/>
            <p:cNvSpPr>
              <a:spLocks noChangeShapeType="1"/>
            </p:cNvSpPr>
            <p:nvPr/>
          </p:nvSpPr>
          <p:spPr bwMode="auto">
            <a:xfrm>
              <a:off x="1296" y="3408"/>
              <a:ext cx="522" cy="29"/>
            </a:xfrm>
            <a:prstGeom prst="line">
              <a:avLst/>
            </a:prstGeom>
            <a:noFill/>
            <a:ln w="9525">
              <a:solidFill>
                <a:schemeClr val="tx1"/>
              </a:solidFill>
              <a:round/>
              <a:headEnd/>
              <a:tailEnd/>
            </a:ln>
          </p:spPr>
          <p:txBody>
            <a:bodyPr wrap="none" anchor="ctr"/>
            <a:lstStyle/>
            <a:p>
              <a:endParaRPr lang="zh-CN" altLang="en-US"/>
            </a:p>
          </p:txBody>
        </p:sp>
      </p:grpSp>
      <p:grpSp>
        <p:nvGrpSpPr>
          <p:cNvPr id="245" name="Group 108"/>
          <p:cNvGrpSpPr>
            <a:grpSpLocks/>
          </p:cNvGrpSpPr>
          <p:nvPr/>
        </p:nvGrpSpPr>
        <p:grpSpPr bwMode="auto">
          <a:xfrm>
            <a:off x="1538693" y="6143647"/>
            <a:ext cx="1681163" cy="431800"/>
            <a:chOff x="381" y="2898"/>
            <a:chExt cx="1059" cy="272"/>
          </a:xfrm>
        </p:grpSpPr>
        <p:sp>
          <p:nvSpPr>
            <p:cNvPr id="246" name="Line 109"/>
            <p:cNvSpPr>
              <a:spLocks noChangeShapeType="1"/>
            </p:cNvSpPr>
            <p:nvPr/>
          </p:nvSpPr>
          <p:spPr bwMode="auto">
            <a:xfrm>
              <a:off x="624" y="2928"/>
              <a:ext cx="672" cy="0"/>
            </a:xfrm>
            <a:prstGeom prst="line">
              <a:avLst/>
            </a:prstGeom>
            <a:noFill/>
            <a:ln w="57150">
              <a:solidFill>
                <a:schemeClr val="tx1"/>
              </a:solidFill>
              <a:round/>
              <a:headEnd/>
              <a:tailEnd/>
            </a:ln>
          </p:spPr>
          <p:txBody>
            <a:bodyPr wrap="none" anchor="ctr"/>
            <a:lstStyle/>
            <a:p>
              <a:endParaRPr lang="zh-CN" altLang="en-US"/>
            </a:p>
          </p:txBody>
        </p:sp>
        <p:grpSp>
          <p:nvGrpSpPr>
            <p:cNvPr id="247" name="Group 110"/>
            <p:cNvGrpSpPr>
              <a:grpSpLocks/>
            </p:cNvGrpSpPr>
            <p:nvPr/>
          </p:nvGrpSpPr>
          <p:grpSpPr bwMode="auto">
            <a:xfrm>
              <a:off x="381" y="2898"/>
              <a:ext cx="282" cy="272"/>
              <a:chOff x="576" y="3324"/>
              <a:chExt cx="379" cy="360"/>
            </a:xfrm>
          </p:grpSpPr>
          <p:sp>
            <p:nvSpPr>
              <p:cNvPr id="263" name="Line 113"/>
              <p:cNvSpPr>
                <a:spLocks noChangeShapeType="1"/>
              </p:cNvSpPr>
              <p:nvPr/>
            </p:nvSpPr>
            <p:spPr bwMode="auto">
              <a:xfrm>
                <a:off x="718" y="3369"/>
                <a:ext cx="95" cy="0"/>
              </a:xfrm>
              <a:prstGeom prst="line">
                <a:avLst/>
              </a:prstGeom>
              <a:noFill/>
              <a:ln w="28575">
                <a:solidFill>
                  <a:schemeClr val="tx1"/>
                </a:solidFill>
                <a:round/>
                <a:headEnd/>
                <a:tailEnd/>
              </a:ln>
            </p:spPr>
            <p:txBody>
              <a:bodyPr wrap="none" anchor="ctr"/>
              <a:lstStyle/>
              <a:p>
                <a:endParaRPr lang="zh-CN" altLang="en-US"/>
              </a:p>
            </p:txBody>
          </p:sp>
          <p:sp>
            <p:nvSpPr>
              <p:cNvPr id="264" name="Line 114"/>
              <p:cNvSpPr>
                <a:spLocks noChangeShapeType="1"/>
              </p:cNvSpPr>
              <p:nvPr/>
            </p:nvSpPr>
            <p:spPr bwMode="auto">
              <a:xfrm>
                <a:off x="860" y="3414"/>
                <a:ext cx="0" cy="90"/>
              </a:xfrm>
              <a:prstGeom prst="line">
                <a:avLst/>
              </a:prstGeom>
              <a:noFill/>
              <a:ln w="28575">
                <a:solidFill>
                  <a:schemeClr val="tx1"/>
                </a:solidFill>
                <a:round/>
                <a:headEnd/>
                <a:tailEnd/>
              </a:ln>
            </p:spPr>
            <p:txBody>
              <a:bodyPr wrap="none" anchor="ctr"/>
              <a:lstStyle/>
              <a:p>
                <a:endParaRPr lang="zh-CN" altLang="en-US"/>
              </a:p>
            </p:txBody>
          </p:sp>
          <p:sp>
            <p:nvSpPr>
              <p:cNvPr id="265" name="Line 115"/>
              <p:cNvSpPr>
                <a:spLocks noChangeShapeType="1"/>
              </p:cNvSpPr>
              <p:nvPr/>
            </p:nvSpPr>
            <p:spPr bwMode="auto">
              <a:xfrm>
                <a:off x="576" y="3324"/>
                <a:ext cx="379" cy="360"/>
              </a:xfrm>
              <a:prstGeom prst="line">
                <a:avLst/>
              </a:prstGeom>
              <a:noFill/>
              <a:ln w="38100">
                <a:solidFill>
                  <a:schemeClr val="tx1"/>
                </a:solidFill>
                <a:round/>
                <a:headEnd/>
                <a:tailEnd/>
              </a:ln>
            </p:spPr>
            <p:txBody>
              <a:bodyPr wrap="none" anchor="ctr"/>
              <a:lstStyle/>
              <a:p>
                <a:endParaRPr lang="zh-CN" altLang="en-US"/>
              </a:p>
            </p:txBody>
          </p:sp>
          <p:sp>
            <p:nvSpPr>
              <p:cNvPr id="266" name="Line 116"/>
              <p:cNvSpPr>
                <a:spLocks noChangeShapeType="1"/>
              </p:cNvSpPr>
              <p:nvPr/>
            </p:nvSpPr>
            <p:spPr bwMode="auto">
              <a:xfrm>
                <a:off x="576" y="3414"/>
                <a:ext cx="95" cy="0"/>
              </a:xfrm>
              <a:prstGeom prst="line">
                <a:avLst/>
              </a:prstGeom>
              <a:noFill/>
              <a:ln w="9525">
                <a:solidFill>
                  <a:schemeClr val="tx1"/>
                </a:solidFill>
                <a:round/>
                <a:headEnd/>
                <a:tailEnd/>
              </a:ln>
            </p:spPr>
            <p:txBody>
              <a:bodyPr wrap="none" anchor="ctr"/>
              <a:lstStyle/>
              <a:p>
                <a:endParaRPr lang="zh-CN" altLang="en-US"/>
              </a:p>
            </p:txBody>
          </p:sp>
          <p:sp>
            <p:nvSpPr>
              <p:cNvPr id="267" name="Line 117"/>
              <p:cNvSpPr>
                <a:spLocks noChangeShapeType="1"/>
              </p:cNvSpPr>
              <p:nvPr/>
            </p:nvSpPr>
            <p:spPr bwMode="auto">
              <a:xfrm>
                <a:off x="623" y="3459"/>
                <a:ext cx="95" cy="0"/>
              </a:xfrm>
              <a:prstGeom prst="line">
                <a:avLst/>
              </a:prstGeom>
              <a:noFill/>
              <a:ln w="9525">
                <a:solidFill>
                  <a:schemeClr val="tx1"/>
                </a:solidFill>
                <a:round/>
                <a:headEnd/>
                <a:tailEnd/>
              </a:ln>
            </p:spPr>
            <p:txBody>
              <a:bodyPr wrap="none" anchor="ctr"/>
              <a:lstStyle/>
              <a:p>
                <a:endParaRPr lang="zh-CN" altLang="en-US"/>
              </a:p>
            </p:txBody>
          </p:sp>
          <p:sp>
            <p:nvSpPr>
              <p:cNvPr id="268" name="Line 118"/>
              <p:cNvSpPr>
                <a:spLocks noChangeShapeType="1"/>
              </p:cNvSpPr>
              <p:nvPr/>
            </p:nvSpPr>
            <p:spPr bwMode="auto">
              <a:xfrm>
                <a:off x="671" y="3504"/>
                <a:ext cx="94" cy="0"/>
              </a:xfrm>
              <a:prstGeom prst="line">
                <a:avLst/>
              </a:prstGeom>
              <a:noFill/>
              <a:ln w="9525">
                <a:solidFill>
                  <a:schemeClr val="tx1"/>
                </a:solidFill>
                <a:round/>
                <a:headEnd/>
                <a:tailEnd/>
              </a:ln>
            </p:spPr>
            <p:txBody>
              <a:bodyPr wrap="none" anchor="ctr"/>
              <a:lstStyle/>
              <a:p>
                <a:endParaRPr lang="zh-CN" altLang="en-US"/>
              </a:p>
            </p:txBody>
          </p:sp>
          <p:sp>
            <p:nvSpPr>
              <p:cNvPr id="269" name="Line 119"/>
              <p:cNvSpPr>
                <a:spLocks noChangeShapeType="1"/>
              </p:cNvSpPr>
              <p:nvPr/>
            </p:nvSpPr>
            <p:spPr bwMode="auto">
              <a:xfrm>
                <a:off x="718" y="3549"/>
                <a:ext cx="95" cy="0"/>
              </a:xfrm>
              <a:prstGeom prst="line">
                <a:avLst/>
              </a:prstGeom>
              <a:noFill/>
              <a:ln w="9525">
                <a:solidFill>
                  <a:schemeClr val="tx1"/>
                </a:solidFill>
                <a:round/>
                <a:headEnd/>
                <a:tailEnd/>
              </a:ln>
            </p:spPr>
            <p:txBody>
              <a:bodyPr wrap="none" anchor="ctr"/>
              <a:lstStyle/>
              <a:p>
                <a:endParaRPr lang="zh-CN" altLang="en-US"/>
              </a:p>
            </p:txBody>
          </p:sp>
          <p:sp>
            <p:nvSpPr>
              <p:cNvPr id="270" name="Line 120"/>
              <p:cNvSpPr>
                <a:spLocks noChangeShapeType="1"/>
              </p:cNvSpPr>
              <p:nvPr/>
            </p:nvSpPr>
            <p:spPr bwMode="auto">
              <a:xfrm>
                <a:off x="765" y="3594"/>
                <a:ext cx="95" cy="0"/>
              </a:xfrm>
              <a:prstGeom prst="line">
                <a:avLst/>
              </a:prstGeom>
              <a:noFill/>
              <a:ln w="9525">
                <a:solidFill>
                  <a:schemeClr val="tx1"/>
                </a:solidFill>
                <a:round/>
                <a:headEnd/>
                <a:tailEnd/>
              </a:ln>
            </p:spPr>
            <p:txBody>
              <a:bodyPr wrap="none" anchor="ctr"/>
              <a:lstStyle/>
              <a:p>
                <a:endParaRPr lang="zh-CN" altLang="en-US"/>
              </a:p>
            </p:txBody>
          </p:sp>
          <p:sp>
            <p:nvSpPr>
              <p:cNvPr id="271" name="Line 121"/>
              <p:cNvSpPr>
                <a:spLocks noChangeShapeType="1"/>
              </p:cNvSpPr>
              <p:nvPr/>
            </p:nvSpPr>
            <p:spPr bwMode="auto">
              <a:xfrm>
                <a:off x="813" y="3639"/>
                <a:ext cx="94" cy="0"/>
              </a:xfrm>
              <a:prstGeom prst="line">
                <a:avLst/>
              </a:prstGeom>
              <a:noFill/>
              <a:ln w="9525">
                <a:solidFill>
                  <a:schemeClr val="tx1"/>
                </a:solidFill>
                <a:round/>
                <a:headEnd/>
                <a:tailEnd/>
              </a:ln>
            </p:spPr>
            <p:txBody>
              <a:bodyPr wrap="none" anchor="ctr"/>
              <a:lstStyle/>
              <a:p>
                <a:endParaRPr lang="zh-CN" altLang="en-US"/>
              </a:p>
            </p:txBody>
          </p:sp>
          <p:sp>
            <p:nvSpPr>
              <p:cNvPr id="272" name="Line 122"/>
              <p:cNvSpPr>
                <a:spLocks noChangeShapeType="1"/>
              </p:cNvSpPr>
              <p:nvPr/>
            </p:nvSpPr>
            <p:spPr bwMode="auto">
              <a:xfrm>
                <a:off x="860" y="3684"/>
                <a:ext cx="95" cy="0"/>
              </a:xfrm>
              <a:prstGeom prst="line">
                <a:avLst/>
              </a:prstGeom>
              <a:noFill/>
              <a:ln w="9525">
                <a:solidFill>
                  <a:schemeClr val="tx1"/>
                </a:solidFill>
                <a:round/>
                <a:headEnd/>
                <a:tailEnd/>
              </a:ln>
            </p:spPr>
            <p:txBody>
              <a:bodyPr wrap="none" anchor="ctr"/>
              <a:lstStyle/>
              <a:p>
                <a:endParaRPr lang="zh-CN" altLang="en-US"/>
              </a:p>
            </p:txBody>
          </p:sp>
          <p:sp>
            <p:nvSpPr>
              <p:cNvPr id="261" name="Oval 111"/>
              <p:cNvSpPr>
                <a:spLocks noChangeArrowheads="1"/>
              </p:cNvSpPr>
              <p:nvPr/>
            </p:nvSpPr>
            <p:spPr bwMode="auto">
              <a:xfrm>
                <a:off x="813" y="350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62" name="Oval 112"/>
              <p:cNvSpPr>
                <a:spLocks noChangeArrowheads="1"/>
              </p:cNvSpPr>
              <p:nvPr/>
            </p:nvSpPr>
            <p:spPr bwMode="auto">
              <a:xfrm>
                <a:off x="623" y="3324"/>
                <a:ext cx="95"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73" name="Oval 123"/>
              <p:cNvSpPr>
                <a:spLocks noChangeArrowheads="1"/>
              </p:cNvSpPr>
              <p:nvPr/>
            </p:nvSpPr>
            <p:spPr bwMode="auto">
              <a:xfrm>
                <a:off x="813" y="332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nvGrpSpPr>
            <p:cNvPr id="248" name="Group 124"/>
            <p:cNvGrpSpPr>
              <a:grpSpLocks/>
            </p:cNvGrpSpPr>
            <p:nvPr/>
          </p:nvGrpSpPr>
          <p:grpSpPr bwMode="auto">
            <a:xfrm>
              <a:off x="1152" y="2898"/>
              <a:ext cx="288" cy="270"/>
              <a:chOff x="4612" y="2952"/>
              <a:chExt cx="432" cy="360"/>
            </a:xfrm>
          </p:grpSpPr>
          <p:sp>
            <p:nvSpPr>
              <p:cNvPr id="249" name="Oval 125"/>
              <p:cNvSpPr>
                <a:spLocks noChangeArrowheads="1"/>
              </p:cNvSpPr>
              <p:nvPr/>
            </p:nvSpPr>
            <p:spPr bwMode="auto">
              <a:xfrm>
                <a:off x="4804" y="3120"/>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50" name="Line 126"/>
              <p:cNvSpPr>
                <a:spLocks noChangeShapeType="1"/>
              </p:cNvSpPr>
              <p:nvPr/>
            </p:nvSpPr>
            <p:spPr bwMode="auto">
              <a:xfrm>
                <a:off x="4852" y="3024"/>
                <a:ext cx="0" cy="96"/>
              </a:xfrm>
              <a:prstGeom prst="line">
                <a:avLst/>
              </a:prstGeom>
              <a:noFill/>
              <a:ln w="28575">
                <a:solidFill>
                  <a:schemeClr val="tx1"/>
                </a:solidFill>
                <a:round/>
                <a:headEnd/>
                <a:tailEnd/>
              </a:ln>
            </p:spPr>
            <p:txBody>
              <a:bodyPr wrap="none" anchor="ctr"/>
              <a:lstStyle/>
              <a:p>
                <a:endParaRPr lang="zh-CN" altLang="en-US"/>
              </a:p>
            </p:txBody>
          </p:sp>
          <p:sp>
            <p:nvSpPr>
              <p:cNvPr id="251" name="Line 127"/>
              <p:cNvSpPr>
                <a:spLocks noChangeShapeType="1"/>
              </p:cNvSpPr>
              <p:nvPr/>
            </p:nvSpPr>
            <p:spPr bwMode="auto">
              <a:xfrm>
                <a:off x="4660" y="3216"/>
                <a:ext cx="384" cy="0"/>
              </a:xfrm>
              <a:prstGeom prst="line">
                <a:avLst/>
              </a:prstGeom>
              <a:noFill/>
              <a:ln w="28575">
                <a:solidFill>
                  <a:schemeClr val="tx1"/>
                </a:solidFill>
                <a:round/>
                <a:headEnd/>
                <a:tailEnd/>
              </a:ln>
            </p:spPr>
            <p:txBody>
              <a:bodyPr wrap="none" anchor="ctr"/>
              <a:lstStyle/>
              <a:p>
                <a:endParaRPr lang="zh-CN" altLang="en-US"/>
              </a:p>
            </p:txBody>
          </p:sp>
          <p:sp>
            <p:nvSpPr>
              <p:cNvPr id="252" name="Line 128"/>
              <p:cNvSpPr>
                <a:spLocks noChangeShapeType="1"/>
              </p:cNvSpPr>
              <p:nvPr/>
            </p:nvSpPr>
            <p:spPr bwMode="auto">
              <a:xfrm flipV="1">
                <a:off x="4660" y="3216"/>
                <a:ext cx="96" cy="96"/>
              </a:xfrm>
              <a:prstGeom prst="line">
                <a:avLst/>
              </a:prstGeom>
              <a:noFill/>
              <a:ln w="19050">
                <a:solidFill>
                  <a:schemeClr val="tx1"/>
                </a:solidFill>
                <a:round/>
                <a:headEnd/>
                <a:tailEnd/>
              </a:ln>
            </p:spPr>
            <p:txBody>
              <a:bodyPr wrap="none" anchor="ctr"/>
              <a:lstStyle/>
              <a:p>
                <a:endParaRPr lang="zh-CN" altLang="en-US"/>
              </a:p>
            </p:txBody>
          </p:sp>
          <p:sp>
            <p:nvSpPr>
              <p:cNvPr id="253" name="Line 129"/>
              <p:cNvSpPr>
                <a:spLocks noChangeShapeType="1"/>
              </p:cNvSpPr>
              <p:nvPr/>
            </p:nvSpPr>
            <p:spPr bwMode="auto">
              <a:xfrm flipV="1">
                <a:off x="4708" y="3216"/>
                <a:ext cx="96" cy="96"/>
              </a:xfrm>
              <a:prstGeom prst="line">
                <a:avLst/>
              </a:prstGeom>
              <a:noFill/>
              <a:ln w="19050">
                <a:solidFill>
                  <a:schemeClr val="tx1"/>
                </a:solidFill>
                <a:round/>
                <a:headEnd/>
                <a:tailEnd/>
              </a:ln>
            </p:spPr>
            <p:txBody>
              <a:bodyPr wrap="none" anchor="ctr"/>
              <a:lstStyle/>
              <a:p>
                <a:endParaRPr lang="zh-CN" altLang="en-US"/>
              </a:p>
            </p:txBody>
          </p:sp>
          <p:sp>
            <p:nvSpPr>
              <p:cNvPr id="254" name="Line 130"/>
              <p:cNvSpPr>
                <a:spLocks noChangeShapeType="1"/>
              </p:cNvSpPr>
              <p:nvPr/>
            </p:nvSpPr>
            <p:spPr bwMode="auto">
              <a:xfrm flipV="1">
                <a:off x="4756" y="3216"/>
                <a:ext cx="96" cy="96"/>
              </a:xfrm>
              <a:prstGeom prst="line">
                <a:avLst/>
              </a:prstGeom>
              <a:noFill/>
              <a:ln w="19050">
                <a:solidFill>
                  <a:schemeClr val="tx1"/>
                </a:solidFill>
                <a:round/>
                <a:headEnd/>
                <a:tailEnd/>
              </a:ln>
            </p:spPr>
            <p:txBody>
              <a:bodyPr wrap="none" anchor="ctr"/>
              <a:lstStyle/>
              <a:p>
                <a:endParaRPr lang="zh-CN" altLang="en-US"/>
              </a:p>
            </p:txBody>
          </p:sp>
          <p:sp>
            <p:nvSpPr>
              <p:cNvPr id="255" name="Line 131"/>
              <p:cNvSpPr>
                <a:spLocks noChangeShapeType="1"/>
              </p:cNvSpPr>
              <p:nvPr/>
            </p:nvSpPr>
            <p:spPr bwMode="auto">
              <a:xfrm flipV="1">
                <a:off x="4804" y="3216"/>
                <a:ext cx="96" cy="96"/>
              </a:xfrm>
              <a:prstGeom prst="line">
                <a:avLst/>
              </a:prstGeom>
              <a:noFill/>
              <a:ln w="19050">
                <a:solidFill>
                  <a:schemeClr val="tx1"/>
                </a:solidFill>
                <a:round/>
                <a:headEnd/>
                <a:tailEnd/>
              </a:ln>
            </p:spPr>
            <p:txBody>
              <a:bodyPr wrap="none" anchor="ctr"/>
              <a:lstStyle/>
              <a:p>
                <a:endParaRPr lang="zh-CN" altLang="en-US"/>
              </a:p>
            </p:txBody>
          </p:sp>
          <p:sp>
            <p:nvSpPr>
              <p:cNvPr id="256" name="Line 132"/>
              <p:cNvSpPr>
                <a:spLocks noChangeShapeType="1"/>
              </p:cNvSpPr>
              <p:nvPr/>
            </p:nvSpPr>
            <p:spPr bwMode="auto">
              <a:xfrm flipV="1">
                <a:off x="4852" y="3216"/>
                <a:ext cx="96" cy="96"/>
              </a:xfrm>
              <a:prstGeom prst="line">
                <a:avLst/>
              </a:prstGeom>
              <a:noFill/>
              <a:ln w="19050">
                <a:solidFill>
                  <a:schemeClr val="tx1"/>
                </a:solidFill>
                <a:round/>
                <a:headEnd/>
                <a:tailEnd/>
              </a:ln>
            </p:spPr>
            <p:txBody>
              <a:bodyPr wrap="none" anchor="ctr"/>
              <a:lstStyle/>
              <a:p>
                <a:endParaRPr lang="zh-CN" altLang="en-US"/>
              </a:p>
            </p:txBody>
          </p:sp>
          <p:sp>
            <p:nvSpPr>
              <p:cNvPr id="257" name="Line 133"/>
              <p:cNvSpPr>
                <a:spLocks noChangeShapeType="1"/>
              </p:cNvSpPr>
              <p:nvPr/>
            </p:nvSpPr>
            <p:spPr bwMode="auto">
              <a:xfrm flipV="1">
                <a:off x="4900" y="3216"/>
                <a:ext cx="96" cy="96"/>
              </a:xfrm>
              <a:prstGeom prst="line">
                <a:avLst/>
              </a:prstGeom>
              <a:noFill/>
              <a:ln w="19050">
                <a:solidFill>
                  <a:schemeClr val="tx1"/>
                </a:solidFill>
                <a:round/>
                <a:headEnd/>
                <a:tailEnd/>
              </a:ln>
            </p:spPr>
            <p:txBody>
              <a:bodyPr wrap="none" anchor="ctr"/>
              <a:lstStyle/>
              <a:p>
                <a:endParaRPr lang="zh-CN" altLang="en-US"/>
              </a:p>
            </p:txBody>
          </p:sp>
          <p:sp>
            <p:nvSpPr>
              <p:cNvPr id="258" name="Line 134"/>
              <p:cNvSpPr>
                <a:spLocks noChangeShapeType="1"/>
              </p:cNvSpPr>
              <p:nvPr/>
            </p:nvSpPr>
            <p:spPr bwMode="auto">
              <a:xfrm flipV="1">
                <a:off x="4948" y="3216"/>
                <a:ext cx="96" cy="96"/>
              </a:xfrm>
              <a:prstGeom prst="line">
                <a:avLst/>
              </a:prstGeom>
              <a:noFill/>
              <a:ln w="19050">
                <a:solidFill>
                  <a:schemeClr val="tx1"/>
                </a:solidFill>
                <a:round/>
                <a:headEnd/>
                <a:tailEnd/>
              </a:ln>
            </p:spPr>
            <p:txBody>
              <a:bodyPr wrap="none" anchor="ctr"/>
              <a:lstStyle/>
              <a:p>
                <a:endParaRPr lang="zh-CN" altLang="en-US"/>
              </a:p>
            </p:txBody>
          </p:sp>
          <p:sp>
            <p:nvSpPr>
              <p:cNvPr id="259" name="Line 135"/>
              <p:cNvSpPr>
                <a:spLocks noChangeShapeType="1"/>
              </p:cNvSpPr>
              <p:nvPr/>
            </p:nvSpPr>
            <p:spPr bwMode="auto">
              <a:xfrm flipV="1">
                <a:off x="4612" y="3216"/>
                <a:ext cx="96" cy="96"/>
              </a:xfrm>
              <a:prstGeom prst="line">
                <a:avLst/>
              </a:prstGeom>
              <a:noFill/>
              <a:ln w="19050">
                <a:solidFill>
                  <a:schemeClr val="tx1"/>
                </a:solidFill>
                <a:round/>
                <a:headEnd/>
                <a:tailEnd/>
              </a:ln>
            </p:spPr>
            <p:txBody>
              <a:bodyPr wrap="none" anchor="ctr"/>
              <a:lstStyle/>
              <a:p>
                <a:endParaRPr lang="zh-CN" altLang="en-US"/>
              </a:p>
            </p:txBody>
          </p:sp>
          <p:sp>
            <p:nvSpPr>
              <p:cNvPr id="260" name="Oval 136"/>
              <p:cNvSpPr>
                <a:spLocks noChangeArrowheads="1"/>
              </p:cNvSpPr>
              <p:nvPr/>
            </p:nvSpPr>
            <p:spPr bwMode="auto">
              <a:xfrm>
                <a:off x="4804" y="2952"/>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graphicFrame>
        <p:nvGraphicFramePr>
          <p:cNvPr id="274" name="Object 137"/>
          <p:cNvGraphicFramePr>
            <a:graphicFrameLocks noChangeAspect="1"/>
          </p:cNvGraphicFramePr>
          <p:nvPr/>
        </p:nvGraphicFramePr>
        <p:xfrm>
          <a:off x="2357422" y="3929066"/>
          <a:ext cx="193675" cy="254000"/>
        </p:xfrm>
        <a:graphic>
          <a:graphicData uri="http://schemas.openxmlformats.org/presentationml/2006/ole">
            <mc:AlternateContent xmlns:mc="http://schemas.openxmlformats.org/markup-compatibility/2006">
              <mc:Choice xmlns:v="urn:schemas-microsoft-com:vml" Requires="v">
                <p:oleObj spid="_x0000_s492586" name="Equation" r:id="rId28" imgW="126720" imgH="164880" progId="Equation.DSMT4">
                  <p:embed/>
                </p:oleObj>
              </mc:Choice>
              <mc:Fallback>
                <p:oleObj name="Equation" r:id="rId28" imgW="126720" imgH="164880" progId="Equation.DSMT4">
                  <p:embed/>
                  <p:pic>
                    <p:nvPicPr>
                      <p:cNvPr id="0" name="Object 13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57422" y="3929066"/>
                        <a:ext cx="193675"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5" name="Object 138"/>
          <p:cNvGraphicFramePr>
            <a:graphicFrameLocks noChangeAspect="1"/>
          </p:cNvGraphicFramePr>
          <p:nvPr/>
        </p:nvGraphicFramePr>
        <p:xfrm>
          <a:off x="1844656" y="3752852"/>
          <a:ext cx="1186969" cy="714380"/>
        </p:xfrm>
        <a:graphic>
          <a:graphicData uri="http://schemas.openxmlformats.org/presentationml/2006/ole">
            <mc:AlternateContent xmlns:mc="http://schemas.openxmlformats.org/markup-compatibility/2006">
              <mc:Choice xmlns:v="urn:schemas-microsoft-com:vml" Requires="v">
                <p:oleObj spid="_x0000_s492587" name="BMP 图象" r:id="rId30" imgW="1028844" imgH="619211" progId="PBrush">
                  <p:embed/>
                </p:oleObj>
              </mc:Choice>
              <mc:Fallback>
                <p:oleObj name="BMP 图象" r:id="rId30" imgW="1028844" imgH="619211" progId="PBrush">
                  <p:embed/>
                  <p:pic>
                    <p:nvPicPr>
                      <p:cNvPr id="0" name="Object 138"/>
                      <p:cNvPicPr>
                        <a:picLocks noChangeAspect="1" noChangeArrowheads="1"/>
                      </p:cNvPicPr>
                      <p:nvPr/>
                    </p:nvPicPr>
                    <p:blipFill>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44656" y="3752852"/>
                        <a:ext cx="1186969"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 name="Line 139"/>
          <p:cNvSpPr>
            <a:spLocks noChangeShapeType="1"/>
          </p:cNvSpPr>
          <p:nvPr/>
        </p:nvSpPr>
        <p:spPr bwMode="auto">
          <a:xfrm>
            <a:off x="1873066" y="3849762"/>
            <a:ext cx="0" cy="609600"/>
          </a:xfrm>
          <a:prstGeom prst="line">
            <a:avLst/>
          </a:prstGeom>
          <a:noFill/>
          <a:ln w="38100">
            <a:solidFill>
              <a:srgbClr val="FF0000"/>
            </a:solidFill>
            <a:round/>
            <a:headEnd/>
            <a:tailEnd/>
          </a:ln>
        </p:spPr>
        <p:txBody>
          <a:bodyPr wrap="none" anchor="ctr"/>
          <a:lstStyle/>
          <a:p>
            <a:endParaRPr lang="zh-CN" altLang="en-US"/>
          </a:p>
        </p:txBody>
      </p:sp>
      <p:grpSp>
        <p:nvGrpSpPr>
          <p:cNvPr id="277" name="Group 140"/>
          <p:cNvGrpSpPr>
            <a:grpSpLocks/>
          </p:cNvGrpSpPr>
          <p:nvPr/>
        </p:nvGrpSpPr>
        <p:grpSpPr bwMode="auto">
          <a:xfrm>
            <a:off x="1000530" y="4071962"/>
            <a:ext cx="2792413" cy="827088"/>
            <a:chOff x="378" y="2601"/>
            <a:chExt cx="1759" cy="521"/>
          </a:xfrm>
        </p:grpSpPr>
        <p:grpSp>
          <p:nvGrpSpPr>
            <p:cNvPr id="278" name="Group 141"/>
            <p:cNvGrpSpPr>
              <a:grpSpLocks/>
            </p:cNvGrpSpPr>
            <p:nvPr/>
          </p:nvGrpSpPr>
          <p:grpSpPr bwMode="auto">
            <a:xfrm>
              <a:off x="927" y="2716"/>
              <a:ext cx="711" cy="152"/>
              <a:chOff x="1815" y="2676"/>
              <a:chExt cx="711" cy="247"/>
            </a:xfrm>
          </p:grpSpPr>
          <p:sp>
            <p:nvSpPr>
              <p:cNvPr id="313" name="Line 142"/>
              <p:cNvSpPr>
                <a:spLocks noChangeShapeType="1"/>
              </p:cNvSpPr>
              <p:nvPr/>
            </p:nvSpPr>
            <p:spPr bwMode="auto">
              <a:xfrm>
                <a:off x="1818" y="2685"/>
                <a:ext cx="0" cy="238"/>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314" name="Line 143"/>
              <p:cNvSpPr>
                <a:spLocks noChangeShapeType="1"/>
              </p:cNvSpPr>
              <p:nvPr/>
            </p:nvSpPr>
            <p:spPr bwMode="auto">
              <a:xfrm>
                <a:off x="1986" y="2680"/>
                <a:ext cx="0" cy="238"/>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315" name="Line 144"/>
              <p:cNvSpPr>
                <a:spLocks noChangeShapeType="1"/>
              </p:cNvSpPr>
              <p:nvPr/>
            </p:nvSpPr>
            <p:spPr bwMode="auto">
              <a:xfrm>
                <a:off x="2166" y="2680"/>
                <a:ext cx="0" cy="238"/>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316" name="Line 145"/>
              <p:cNvSpPr>
                <a:spLocks noChangeShapeType="1"/>
              </p:cNvSpPr>
              <p:nvPr/>
            </p:nvSpPr>
            <p:spPr bwMode="auto">
              <a:xfrm>
                <a:off x="2346" y="2676"/>
                <a:ext cx="0" cy="233"/>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317" name="Line 146"/>
              <p:cNvSpPr>
                <a:spLocks noChangeShapeType="1"/>
              </p:cNvSpPr>
              <p:nvPr/>
            </p:nvSpPr>
            <p:spPr bwMode="auto">
              <a:xfrm>
                <a:off x="2526" y="2678"/>
                <a:ext cx="0" cy="233"/>
              </a:xfrm>
              <a:prstGeom prst="line">
                <a:avLst/>
              </a:prstGeom>
              <a:noFill/>
              <a:ln w="19050">
                <a:solidFill>
                  <a:srgbClr val="0033CC"/>
                </a:solidFill>
                <a:round/>
                <a:headEnd/>
                <a:tailEnd type="triangle" w="med" len="med"/>
              </a:ln>
            </p:spPr>
            <p:txBody>
              <a:bodyPr wrap="none" anchor="ctr"/>
              <a:lstStyle/>
              <a:p>
                <a:endParaRPr lang="zh-CN" altLang="en-US"/>
              </a:p>
            </p:txBody>
          </p:sp>
          <p:sp>
            <p:nvSpPr>
              <p:cNvPr id="318" name="Line 147"/>
              <p:cNvSpPr>
                <a:spLocks noChangeShapeType="1"/>
              </p:cNvSpPr>
              <p:nvPr/>
            </p:nvSpPr>
            <p:spPr bwMode="auto">
              <a:xfrm flipV="1">
                <a:off x="1815" y="2688"/>
                <a:ext cx="711" cy="0"/>
              </a:xfrm>
              <a:prstGeom prst="line">
                <a:avLst/>
              </a:prstGeom>
              <a:noFill/>
              <a:ln w="28575">
                <a:solidFill>
                  <a:srgbClr val="0033CC"/>
                </a:solidFill>
                <a:round/>
                <a:headEnd/>
                <a:tailEnd/>
              </a:ln>
            </p:spPr>
            <p:txBody>
              <a:bodyPr wrap="none" anchor="ctr"/>
              <a:lstStyle/>
              <a:p>
                <a:endParaRPr lang="zh-CN" altLang="en-US"/>
              </a:p>
            </p:txBody>
          </p:sp>
        </p:grpSp>
        <p:grpSp>
          <p:nvGrpSpPr>
            <p:cNvPr id="279" name="Group 148"/>
            <p:cNvGrpSpPr>
              <a:grpSpLocks/>
            </p:cNvGrpSpPr>
            <p:nvPr/>
          </p:nvGrpSpPr>
          <p:grpSpPr bwMode="auto">
            <a:xfrm>
              <a:off x="717" y="2832"/>
              <a:ext cx="1059" cy="290"/>
              <a:chOff x="381" y="2880"/>
              <a:chExt cx="1059" cy="290"/>
            </a:xfrm>
          </p:grpSpPr>
          <p:sp>
            <p:nvSpPr>
              <p:cNvPr id="285" name="Line 149"/>
              <p:cNvSpPr>
                <a:spLocks noChangeShapeType="1"/>
              </p:cNvSpPr>
              <p:nvPr/>
            </p:nvSpPr>
            <p:spPr bwMode="auto">
              <a:xfrm>
                <a:off x="624" y="2928"/>
                <a:ext cx="672" cy="0"/>
              </a:xfrm>
              <a:prstGeom prst="line">
                <a:avLst/>
              </a:prstGeom>
              <a:noFill/>
              <a:ln w="57150">
                <a:solidFill>
                  <a:schemeClr val="tx1"/>
                </a:solidFill>
                <a:round/>
                <a:headEnd/>
                <a:tailEnd/>
              </a:ln>
            </p:spPr>
            <p:txBody>
              <a:bodyPr wrap="none" anchor="ctr"/>
              <a:lstStyle/>
              <a:p>
                <a:endParaRPr lang="zh-CN" altLang="en-US"/>
              </a:p>
            </p:txBody>
          </p:sp>
          <p:grpSp>
            <p:nvGrpSpPr>
              <p:cNvPr id="286" name="Group 150"/>
              <p:cNvGrpSpPr>
                <a:grpSpLocks/>
              </p:cNvGrpSpPr>
              <p:nvPr/>
            </p:nvGrpSpPr>
            <p:grpSpPr bwMode="auto">
              <a:xfrm>
                <a:off x="381" y="2898"/>
                <a:ext cx="282" cy="272"/>
                <a:chOff x="576" y="3324"/>
                <a:chExt cx="379" cy="360"/>
              </a:xfrm>
            </p:grpSpPr>
            <p:sp>
              <p:nvSpPr>
                <p:cNvPr id="302" name="Line 153"/>
                <p:cNvSpPr>
                  <a:spLocks noChangeShapeType="1"/>
                </p:cNvSpPr>
                <p:nvPr/>
              </p:nvSpPr>
              <p:spPr bwMode="auto">
                <a:xfrm>
                  <a:off x="718" y="3369"/>
                  <a:ext cx="95" cy="0"/>
                </a:xfrm>
                <a:prstGeom prst="line">
                  <a:avLst/>
                </a:prstGeom>
                <a:noFill/>
                <a:ln w="28575">
                  <a:solidFill>
                    <a:schemeClr val="tx1"/>
                  </a:solidFill>
                  <a:round/>
                  <a:headEnd/>
                  <a:tailEnd/>
                </a:ln>
              </p:spPr>
              <p:txBody>
                <a:bodyPr wrap="none" anchor="ctr"/>
                <a:lstStyle/>
                <a:p>
                  <a:endParaRPr lang="zh-CN" altLang="en-US"/>
                </a:p>
              </p:txBody>
            </p:sp>
            <p:sp>
              <p:nvSpPr>
                <p:cNvPr id="303" name="Line 154"/>
                <p:cNvSpPr>
                  <a:spLocks noChangeShapeType="1"/>
                </p:cNvSpPr>
                <p:nvPr/>
              </p:nvSpPr>
              <p:spPr bwMode="auto">
                <a:xfrm>
                  <a:off x="860" y="3414"/>
                  <a:ext cx="0" cy="90"/>
                </a:xfrm>
                <a:prstGeom prst="line">
                  <a:avLst/>
                </a:prstGeom>
                <a:noFill/>
                <a:ln w="28575">
                  <a:solidFill>
                    <a:schemeClr val="tx1"/>
                  </a:solidFill>
                  <a:round/>
                  <a:headEnd/>
                  <a:tailEnd/>
                </a:ln>
              </p:spPr>
              <p:txBody>
                <a:bodyPr wrap="none" anchor="ctr"/>
                <a:lstStyle/>
                <a:p>
                  <a:endParaRPr lang="zh-CN" altLang="en-US"/>
                </a:p>
              </p:txBody>
            </p:sp>
            <p:sp>
              <p:nvSpPr>
                <p:cNvPr id="304" name="Line 155"/>
                <p:cNvSpPr>
                  <a:spLocks noChangeShapeType="1"/>
                </p:cNvSpPr>
                <p:nvPr/>
              </p:nvSpPr>
              <p:spPr bwMode="auto">
                <a:xfrm>
                  <a:off x="576" y="3324"/>
                  <a:ext cx="379" cy="360"/>
                </a:xfrm>
                <a:prstGeom prst="line">
                  <a:avLst/>
                </a:prstGeom>
                <a:noFill/>
                <a:ln w="38100">
                  <a:solidFill>
                    <a:schemeClr val="tx1"/>
                  </a:solidFill>
                  <a:round/>
                  <a:headEnd/>
                  <a:tailEnd/>
                </a:ln>
              </p:spPr>
              <p:txBody>
                <a:bodyPr wrap="none" anchor="ctr"/>
                <a:lstStyle/>
                <a:p>
                  <a:endParaRPr lang="zh-CN" altLang="en-US"/>
                </a:p>
              </p:txBody>
            </p:sp>
            <p:sp>
              <p:nvSpPr>
                <p:cNvPr id="305" name="Line 156"/>
                <p:cNvSpPr>
                  <a:spLocks noChangeShapeType="1"/>
                </p:cNvSpPr>
                <p:nvPr/>
              </p:nvSpPr>
              <p:spPr bwMode="auto">
                <a:xfrm>
                  <a:off x="576" y="3414"/>
                  <a:ext cx="95" cy="0"/>
                </a:xfrm>
                <a:prstGeom prst="line">
                  <a:avLst/>
                </a:prstGeom>
                <a:noFill/>
                <a:ln w="9525">
                  <a:solidFill>
                    <a:schemeClr val="tx1"/>
                  </a:solidFill>
                  <a:round/>
                  <a:headEnd/>
                  <a:tailEnd/>
                </a:ln>
              </p:spPr>
              <p:txBody>
                <a:bodyPr wrap="none" anchor="ctr"/>
                <a:lstStyle/>
                <a:p>
                  <a:endParaRPr lang="zh-CN" altLang="en-US"/>
                </a:p>
              </p:txBody>
            </p:sp>
            <p:sp>
              <p:nvSpPr>
                <p:cNvPr id="306" name="Line 157"/>
                <p:cNvSpPr>
                  <a:spLocks noChangeShapeType="1"/>
                </p:cNvSpPr>
                <p:nvPr/>
              </p:nvSpPr>
              <p:spPr bwMode="auto">
                <a:xfrm>
                  <a:off x="623" y="3459"/>
                  <a:ext cx="95" cy="0"/>
                </a:xfrm>
                <a:prstGeom prst="line">
                  <a:avLst/>
                </a:prstGeom>
                <a:noFill/>
                <a:ln w="9525">
                  <a:solidFill>
                    <a:schemeClr val="tx1"/>
                  </a:solidFill>
                  <a:round/>
                  <a:headEnd/>
                  <a:tailEnd/>
                </a:ln>
              </p:spPr>
              <p:txBody>
                <a:bodyPr wrap="none" anchor="ctr"/>
                <a:lstStyle/>
                <a:p>
                  <a:endParaRPr lang="zh-CN" altLang="en-US"/>
                </a:p>
              </p:txBody>
            </p:sp>
            <p:sp>
              <p:nvSpPr>
                <p:cNvPr id="307" name="Line 158"/>
                <p:cNvSpPr>
                  <a:spLocks noChangeShapeType="1"/>
                </p:cNvSpPr>
                <p:nvPr/>
              </p:nvSpPr>
              <p:spPr bwMode="auto">
                <a:xfrm>
                  <a:off x="671" y="3504"/>
                  <a:ext cx="94" cy="0"/>
                </a:xfrm>
                <a:prstGeom prst="line">
                  <a:avLst/>
                </a:prstGeom>
                <a:noFill/>
                <a:ln w="9525">
                  <a:solidFill>
                    <a:schemeClr val="tx1"/>
                  </a:solidFill>
                  <a:round/>
                  <a:headEnd/>
                  <a:tailEnd/>
                </a:ln>
              </p:spPr>
              <p:txBody>
                <a:bodyPr wrap="none" anchor="ctr"/>
                <a:lstStyle/>
                <a:p>
                  <a:endParaRPr lang="zh-CN" altLang="en-US"/>
                </a:p>
              </p:txBody>
            </p:sp>
            <p:sp>
              <p:nvSpPr>
                <p:cNvPr id="308" name="Line 159"/>
                <p:cNvSpPr>
                  <a:spLocks noChangeShapeType="1"/>
                </p:cNvSpPr>
                <p:nvPr/>
              </p:nvSpPr>
              <p:spPr bwMode="auto">
                <a:xfrm>
                  <a:off x="718" y="3549"/>
                  <a:ext cx="95" cy="0"/>
                </a:xfrm>
                <a:prstGeom prst="line">
                  <a:avLst/>
                </a:prstGeom>
                <a:noFill/>
                <a:ln w="9525">
                  <a:solidFill>
                    <a:schemeClr val="tx1"/>
                  </a:solidFill>
                  <a:round/>
                  <a:headEnd/>
                  <a:tailEnd/>
                </a:ln>
              </p:spPr>
              <p:txBody>
                <a:bodyPr wrap="none" anchor="ctr"/>
                <a:lstStyle/>
                <a:p>
                  <a:endParaRPr lang="zh-CN" altLang="en-US"/>
                </a:p>
              </p:txBody>
            </p:sp>
            <p:sp>
              <p:nvSpPr>
                <p:cNvPr id="309" name="Line 160"/>
                <p:cNvSpPr>
                  <a:spLocks noChangeShapeType="1"/>
                </p:cNvSpPr>
                <p:nvPr/>
              </p:nvSpPr>
              <p:spPr bwMode="auto">
                <a:xfrm>
                  <a:off x="765" y="3594"/>
                  <a:ext cx="95" cy="0"/>
                </a:xfrm>
                <a:prstGeom prst="line">
                  <a:avLst/>
                </a:prstGeom>
                <a:noFill/>
                <a:ln w="9525">
                  <a:solidFill>
                    <a:schemeClr val="tx1"/>
                  </a:solidFill>
                  <a:round/>
                  <a:headEnd/>
                  <a:tailEnd/>
                </a:ln>
              </p:spPr>
              <p:txBody>
                <a:bodyPr wrap="none" anchor="ctr"/>
                <a:lstStyle/>
                <a:p>
                  <a:endParaRPr lang="zh-CN" altLang="en-US"/>
                </a:p>
              </p:txBody>
            </p:sp>
            <p:sp>
              <p:nvSpPr>
                <p:cNvPr id="310" name="Line 161"/>
                <p:cNvSpPr>
                  <a:spLocks noChangeShapeType="1"/>
                </p:cNvSpPr>
                <p:nvPr/>
              </p:nvSpPr>
              <p:spPr bwMode="auto">
                <a:xfrm>
                  <a:off x="813" y="3639"/>
                  <a:ext cx="94" cy="0"/>
                </a:xfrm>
                <a:prstGeom prst="line">
                  <a:avLst/>
                </a:prstGeom>
                <a:noFill/>
                <a:ln w="9525">
                  <a:solidFill>
                    <a:schemeClr val="tx1"/>
                  </a:solidFill>
                  <a:round/>
                  <a:headEnd/>
                  <a:tailEnd/>
                </a:ln>
              </p:spPr>
              <p:txBody>
                <a:bodyPr wrap="none" anchor="ctr"/>
                <a:lstStyle/>
                <a:p>
                  <a:endParaRPr lang="zh-CN" altLang="en-US"/>
                </a:p>
              </p:txBody>
            </p:sp>
            <p:sp>
              <p:nvSpPr>
                <p:cNvPr id="311" name="Line 162"/>
                <p:cNvSpPr>
                  <a:spLocks noChangeShapeType="1"/>
                </p:cNvSpPr>
                <p:nvPr/>
              </p:nvSpPr>
              <p:spPr bwMode="auto">
                <a:xfrm>
                  <a:off x="860" y="3684"/>
                  <a:ext cx="95" cy="0"/>
                </a:xfrm>
                <a:prstGeom prst="line">
                  <a:avLst/>
                </a:prstGeom>
                <a:noFill/>
                <a:ln w="9525">
                  <a:solidFill>
                    <a:schemeClr val="tx1"/>
                  </a:solidFill>
                  <a:round/>
                  <a:headEnd/>
                  <a:tailEnd/>
                </a:ln>
              </p:spPr>
              <p:txBody>
                <a:bodyPr wrap="none" anchor="ctr"/>
                <a:lstStyle/>
                <a:p>
                  <a:endParaRPr lang="zh-CN" altLang="en-US"/>
                </a:p>
              </p:txBody>
            </p:sp>
            <p:sp>
              <p:nvSpPr>
                <p:cNvPr id="300" name="Oval 151"/>
                <p:cNvSpPr>
                  <a:spLocks noChangeArrowheads="1"/>
                </p:cNvSpPr>
                <p:nvPr/>
              </p:nvSpPr>
              <p:spPr bwMode="auto">
                <a:xfrm>
                  <a:off x="813" y="350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301" name="Oval 152"/>
                <p:cNvSpPr>
                  <a:spLocks noChangeArrowheads="1"/>
                </p:cNvSpPr>
                <p:nvPr/>
              </p:nvSpPr>
              <p:spPr bwMode="auto">
                <a:xfrm>
                  <a:off x="623" y="3324"/>
                  <a:ext cx="95" cy="90"/>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312" name="Oval 163"/>
                <p:cNvSpPr>
                  <a:spLocks noChangeArrowheads="1"/>
                </p:cNvSpPr>
                <p:nvPr/>
              </p:nvSpPr>
              <p:spPr bwMode="auto">
                <a:xfrm>
                  <a:off x="807" y="3324"/>
                  <a:ext cx="94" cy="90"/>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nvGrpSpPr>
              <p:cNvPr id="287" name="Group 164"/>
              <p:cNvGrpSpPr>
                <a:grpSpLocks/>
              </p:cNvGrpSpPr>
              <p:nvPr/>
            </p:nvGrpSpPr>
            <p:grpSpPr bwMode="auto">
              <a:xfrm>
                <a:off x="1152" y="2880"/>
                <a:ext cx="288" cy="288"/>
                <a:chOff x="4612" y="2928"/>
                <a:chExt cx="432" cy="384"/>
              </a:xfrm>
            </p:grpSpPr>
            <p:sp>
              <p:nvSpPr>
                <p:cNvPr id="288" name="Oval 165"/>
                <p:cNvSpPr>
                  <a:spLocks noChangeArrowheads="1"/>
                </p:cNvSpPr>
                <p:nvPr/>
              </p:nvSpPr>
              <p:spPr bwMode="auto">
                <a:xfrm>
                  <a:off x="4804" y="3120"/>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289" name="Line 166"/>
                <p:cNvSpPr>
                  <a:spLocks noChangeShapeType="1"/>
                </p:cNvSpPr>
                <p:nvPr/>
              </p:nvSpPr>
              <p:spPr bwMode="auto">
                <a:xfrm>
                  <a:off x="4852" y="3024"/>
                  <a:ext cx="0" cy="96"/>
                </a:xfrm>
                <a:prstGeom prst="line">
                  <a:avLst/>
                </a:prstGeom>
                <a:noFill/>
                <a:ln w="28575">
                  <a:solidFill>
                    <a:schemeClr val="tx1"/>
                  </a:solidFill>
                  <a:round/>
                  <a:headEnd/>
                  <a:tailEnd/>
                </a:ln>
              </p:spPr>
              <p:txBody>
                <a:bodyPr wrap="none" anchor="ctr"/>
                <a:lstStyle/>
                <a:p>
                  <a:endParaRPr lang="zh-CN" altLang="en-US"/>
                </a:p>
              </p:txBody>
            </p:sp>
            <p:sp>
              <p:nvSpPr>
                <p:cNvPr id="290" name="Line 167"/>
                <p:cNvSpPr>
                  <a:spLocks noChangeShapeType="1"/>
                </p:cNvSpPr>
                <p:nvPr/>
              </p:nvSpPr>
              <p:spPr bwMode="auto">
                <a:xfrm>
                  <a:off x="4660" y="3216"/>
                  <a:ext cx="384" cy="0"/>
                </a:xfrm>
                <a:prstGeom prst="line">
                  <a:avLst/>
                </a:prstGeom>
                <a:noFill/>
                <a:ln w="28575">
                  <a:solidFill>
                    <a:schemeClr val="tx1"/>
                  </a:solidFill>
                  <a:round/>
                  <a:headEnd/>
                  <a:tailEnd/>
                </a:ln>
              </p:spPr>
              <p:txBody>
                <a:bodyPr wrap="none" anchor="ctr"/>
                <a:lstStyle/>
                <a:p>
                  <a:endParaRPr lang="zh-CN" altLang="en-US"/>
                </a:p>
              </p:txBody>
            </p:sp>
            <p:sp>
              <p:nvSpPr>
                <p:cNvPr id="291" name="Line 168"/>
                <p:cNvSpPr>
                  <a:spLocks noChangeShapeType="1"/>
                </p:cNvSpPr>
                <p:nvPr/>
              </p:nvSpPr>
              <p:spPr bwMode="auto">
                <a:xfrm flipV="1">
                  <a:off x="4660" y="3216"/>
                  <a:ext cx="96" cy="96"/>
                </a:xfrm>
                <a:prstGeom prst="line">
                  <a:avLst/>
                </a:prstGeom>
                <a:noFill/>
                <a:ln w="19050">
                  <a:solidFill>
                    <a:schemeClr val="tx1"/>
                  </a:solidFill>
                  <a:round/>
                  <a:headEnd/>
                  <a:tailEnd/>
                </a:ln>
              </p:spPr>
              <p:txBody>
                <a:bodyPr wrap="none" anchor="ctr"/>
                <a:lstStyle/>
                <a:p>
                  <a:endParaRPr lang="zh-CN" altLang="en-US"/>
                </a:p>
              </p:txBody>
            </p:sp>
            <p:sp>
              <p:nvSpPr>
                <p:cNvPr id="292" name="Line 169"/>
                <p:cNvSpPr>
                  <a:spLocks noChangeShapeType="1"/>
                </p:cNvSpPr>
                <p:nvPr/>
              </p:nvSpPr>
              <p:spPr bwMode="auto">
                <a:xfrm flipV="1">
                  <a:off x="4708" y="3216"/>
                  <a:ext cx="96" cy="96"/>
                </a:xfrm>
                <a:prstGeom prst="line">
                  <a:avLst/>
                </a:prstGeom>
                <a:noFill/>
                <a:ln w="19050">
                  <a:solidFill>
                    <a:schemeClr val="tx1"/>
                  </a:solidFill>
                  <a:round/>
                  <a:headEnd/>
                  <a:tailEnd/>
                </a:ln>
              </p:spPr>
              <p:txBody>
                <a:bodyPr wrap="none" anchor="ctr"/>
                <a:lstStyle/>
                <a:p>
                  <a:endParaRPr lang="zh-CN" altLang="en-US"/>
                </a:p>
              </p:txBody>
            </p:sp>
            <p:sp>
              <p:nvSpPr>
                <p:cNvPr id="293" name="Line 170"/>
                <p:cNvSpPr>
                  <a:spLocks noChangeShapeType="1"/>
                </p:cNvSpPr>
                <p:nvPr/>
              </p:nvSpPr>
              <p:spPr bwMode="auto">
                <a:xfrm flipV="1">
                  <a:off x="4756" y="3216"/>
                  <a:ext cx="96" cy="96"/>
                </a:xfrm>
                <a:prstGeom prst="line">
                  <a:avLst/>
                </a:prstGeom>
                <a:noFill/>
                <a:ln w="19050">
                  <a:solidFill>
                    <a:schemeClr val="tx1"/>
                  </a:solidFill>
                  <a:round/>
                  <a:headEnd/>
                  <a:tailEnd/>
                </a:ln>
              </p:spPr>
              <p:txBody>
                <a:bodyPr wrap="none" anchor="ctr"/>
                <a:lstStyle/>
                <a:p>
                  <a:endParaRPr lang="zh-CN" altLang="en-US"/>
                </a:p>
              </p:txBody>
            </p:sp>
            <p:sp>
              <p:nvSpPr>
                <p:cNvPr id="294" name="Line 171"/>
                <p:cNvSpPr>
                  <a:spLocks noChangeShapeType="1"/>
                </p:cNvSpPr>
                <p:nvPr/>
              </p:nvSpPr>
              <p:spPr bwMode="auto">
                <a:xfrm flipV="1">
                  <a:off x="4804" y="3216"/>
                  <a:ext cx="96" cy="96"/>
                </a:xfrm>
                <a:prstGeom prst="line">
                  <a:avLst/>
                </a:prstGeom>
                <a:noFill/>
                <a:ln w="19050">
                  <a:solidFill>
                    <a:schemeClr val="tx1"/>
                  </a:solidFill>
                  <a:round/>
                  <a:headEnd/>
                  <a:tailEnd/>
                </a:ln>
              </p:spPr>
              <p:txBody>
                <a:bodyPr wrap="none" anchor="ctr"/>
                <a:lstStyle/>
                <a:p>
                  <a:endParaRPr lang="zh-CN" altLang="en-US"/>
                </a:p>
              </p:txBody>
            </p:sp>
            <p:sp>
              <p:nvSpPr>
                <p:cNvPr id="295" name="Line 172"/>
                <p:cNvSpPr>
                  <a:spLocks noChangeShapeType="1"/>
                </p:cNvSpPr>
                <p:nvPr/>
              </p:nvSpPr>
              <p:spPr bwMode="auto">
                <a:xfrm flipV="1">
                  <a:off x="4852" y="3216"/>
                  <a:ext cx="96" cy="96"/>
                </a:xfrm>
                <a:prstGeom prst="line">
                  <a:avLst/>
                </a:prstGeom>
                <a:noFill/>
                <a:ln w="19050">
                  <a:solidFill>
                    <a:schemeClr val="tx1"/>
                  </a:solidFill>
                  <a:round/>
                  <a:headEnd/>
                  <a:tailEnd/>
                </a:ln>
              </p:spPr>
              <p:txBody>
                <a:bodyPr wrap="none" anchor="ctr"/>
                <a:lstStyle/>
                <a:p>
                  <a:endParaRPr lang="zh-CN" altLang="en-US"/>
                </a:p>
              </p:txBody>
            </p:sp>
            <p:sp>
              <p:nvSpPr>
                <p:cNvPr id="296" name="Line 173"/>
                <p:cNvSpPr>
                  <a:spLocks noChangeShapeType="1"/>
                </p:cNvSpPr>
                <p:nvPr/>
              </p:nvSpPr>
              <p:spPr bwMode="auto">
                <a:xfrm flipV="1">
                  <a:off x="4900" y="3216"/>
                  <a:ext cx="96" cy="96"/>
                </a:xfrm>
                <a:prstGeom prst="line">
                  <a:avLst/>
                </a:prstGeom>
                <a:noFill/>
                <a:ln w="19050">
                  <a:solidFill>
                    <a:schemeClr val="tx1"/>
                  </a:solidFill>
                  <a:round/>
                  <a:headEnd/>
                  <a:tailEnd/>
                </a:ln>
              </p:spPr>
              <p:txBody>
                <a:bodyPr wrap="none" anchor="ctr"/>
                <a:lstStyle/>
                <a:p>
                  <a:endParaRPr lang="zh-CN" altLang="en-US"/>
                </a:p>
              </p:txBody>
            </p:sp>
            <p:sp>
              <p:nvSpPr>
                <p:cNvPr id="297" name="Line 174"/>
                <p:cNvSpPr>
                  <a:spLocks noChangeShapeType="1"/>
                </p:cNvSpPr>
                <p:nvPr/>
              </p:nvSpPr>
              <p:spPr bwMode="auto">
                <a:xfrm flipV="1">
                  <a:off x="4948" y="3216"/>
                  <a:ext cx="96" cy="96"/>
                </a:xfrm>
                <a:prstGeom prst="line">
                  <a:avLst/>
                </a:prstGeom>
                <a:noFill/>
                <a:ln w="19050">
                  <a:solidFill>
                    <a:schemeClr val="tx1"/>
                  </a:solidFill>
                  <a:round/>
                  <a:headEnd/>
                  <a:tailEnd/>
                </a:ln>
              </p:spPr>
              <p:txBody>
                <a:bodyPr wrap="none" anchor="ctr"/>
                <a:lstStyle/>
                <a:p>
                  <a:endParaRPr lang="zh-CN" altLang="en-US"/>
                </a:p>
              </p:txBody>
            </p:sp>
            <p:sp>
              <p:nvSpPr>
                <p:cNvPr id="298" name="Line 175"/>
                <p:cNvSpPr>
                  <a:spLocks noChangeShapeType="1"/>
                </p:cNvSpPr>
                <p:nvPr/>
              </p:nvSpPr>
              <p:spPr bwMode="auto">
                <a:xfrm flipV="1">
                  <a:off x="4612" y="3216"/>
                  <a:ext cx="96" cy="96"/>
                </a:xfrm>
                <a:prstGeom prst="line">
                  <a:avLst/>
                </a:prstGeom>
                <a:noFill/>
                <a:ln w="19050">
                  <a:solidFill>
                    <a:schemeClr val="tx1"/>
                  </a:solidFill>
                  <a:round/>
                  <a:headEnd/>
                  <a:tailEnd/>
                </a:ln>
              </p:spPr>
              <p:txBody>
                <a:bodyPr wrap="none" anchor="ctr"/>
                <a:lstStyle/>
                <a:p>
                  <a:endParaRPr lang="zh-CN" altLang="en-US"/>
                </a:p>
              </p:txBody>
            </p:sp>
            <p:sp>
              <p:nvSpPr>
                <p:cNvPr id="299" name="Oval 176"/>
                <p:cNvSpPr>
                  <a:spLocks noChangeArrowheads="1"/>
                </p:cNvSpPr>
                <p:nvPr/>
              </p:nvSpPr>
              <p:spPr bwMode="auto">
                <a:xfrm>
                  <a:off x="4804" y="2928"/>
                  <a:ext cx="96" cy="96"/>
                </a:xfrm>
                <a:prstGeom prst="ellipse">
                  <a:avLst/>
                </a:prstGeom>
                <a:solidFill>
                  <a:schemeClr val="bg1"/>
                </a:solidFill>
                <a:ln w="28575">
                  <a:solidFill>
                    <a:schemeClr val="tx1"/>
                  </a:solidFill>
                  <a:round/>
                  <a:headEnd/>
                  <a:tailEnd/>
                </a:ln>
              </p:spPr>
              <p:txBody>
                <a:bodyPr wrap="none" anchor="ctr"/>
                <a:lstStyle/>
                <a:p>
                  <a:endParaRPr lang="zh-CN" altLang="en-US"/>
                </a:p>
              </p:txBody>
            </p:sp>
          </p:grpSp>
        </p:grpSp>
        <p:sp>
          <p:nvSpPr>
            <p:cNvPr id="280" name="Freeform 177"/>
            <p:cNvSpPr>
              <a:spLocks/>
            </p:cNvSpPr>
            <p:nvPr/>
          </p:nvSpPr>
          <p:spPr bwMode="auto">
            <a:xfrm rot="5400000">
              <a:off x="1611" y="2789"/>
              <a:ext cx="288" cy="145"/>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endParaRPr lang="zh-CN" altLang="en-US"/>
            </a:p>
          </p:txBody>
        </p:sp>
        <p:sp>
          <p:nvSpPr>
            <p:cNvPr id="281" name="Freeform 178"/>
            <p:cNvSpPr>
              <a:spLocks/>
            </p:cNvSpPr>
            <p:nvPr/>
          </p:nvSpPr>
          <p:spPr bwMode="auto">
            <a:xfrm rot="16200000" flipH="1">
              <a:off x="576" y="2784"/>
              <a:ext cx="336" cy="144"/>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endParaRPr lang="zh-CN" altLang="en-US"/>
            </a:p>
          </p:txBody>
        </p:sp>
        <p:graphicFrame>
          <p:nvGraphicFramePr>
            <p:cNvPr id="282" name="Object 179"/>
            <p:cNvGraphicFramePr>
              <a:graphicFrameLocks noChangeAspect="1"/>
            </p:cNvGraphicFramePr>
            <p:nvPr/>
          </p:nvGraphicFramePr>
          <p:xfrm>
            <a:off x="1863" y="2601"/>
            <a:ext cx="274" cy="433"/>
          </p:xfrm>
          <a:graphic>
            <a:graphicData uri="http://schemas.openxmlformats.org/presentationml/2006/ole">
              <mc:AlternateContent xmlns:mc="http://schemas.openxmlformats.org/markup-compatibility/2006">
                <mc:Choice xmlns:v="urn:schemas-microsoft-com:vml" Requires="v">
                  <p:oleObj spid="_x0000_s492588" name="Equation" r:id="rId32" imgW="266400" imgH="419040" progId="Equation.DSMT4">
                    <p:embed/>
                  </p:oleObj>
                </mc:Choice>
                <mc:Fallback>
                  <p:oleObj name="Equation" r:id="rId32" imgW="266400" imgH="419040" progId="Equation.DSMT4">
                    <p:embed/>
                    <p:pic>
                      <p:nvPicPr>
                        <p:cNvPr id="0" name="Object 17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863" y="2601"/>
                          <a:ext cx="274"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3" name="Object 180"/>
            <p:cNvGraphicFramePr>
              <a:graphicFrameLocks noChangeAspect="1"/>
            </p:cNvGraphicFramePr>
            <p:nvPr/>
          </p:nvGraphicFramePr>
          <p:xfrm>
            <a:off x="378" y="2601"/>
            <a:ext cx="274" cy="435"/>
          </p:xfrm>
          <a:graphic>
            <a:graphicData uri="http://schemas.openxmlformats.org/presentationml/2006/ole">
              <mc:AlternateContent xmlns:mc="http://schemas.openxmlformats.org/markup-compatibility/2006">
                <mc:Choice xmlns:v="urn:schemas-microsoft-com:vml" Requires="v">
                  <p:oleObj spid="_x0000_s492589" name="Equation" r:id="rId34" imgW="266400" imgH="419040" progId="Equation.DSMT4">
                    <p:embed/>
                  </p:oleObj>
                </mc:Choice>
                <mc:Fallback>
                  <p:oleObj name="Equation" r:id="rId34" imgW="266400" imgH="419040" progId="Equation.DSMT4">
                    <p:embed/>
                    <p:pic>
                      <p:nvPicPr>
                        <p:cNvPr id="0" name="Object 18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78" y="2601"/>
                          <a:ext cx="274" cy="4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4" name="Line 181"/>
            <p:cNvSpPr>
              <a:spLocks noChangeShapeType="1"/>
            </p:cNvSpPr>
            <p:nvPr/>
          </p:nvSpPr>
          <p:spPr bwMode="auto">
            <a:xfrm>
              <a:off x="1645" y="2817"/>
              <a:ext cx="0" cy="96"/>
            </a:xfrm>
            <a:prstGeom prst="line">
              <a:avLst/>
            </a:prstGeom>
            <a:noFill/>
            <a:ln w="38100">
              <a:solidFill>
                <a:srgbClr val="FF0000"/>
              </a:solidFill>
              <a:round/>
              <a:headEnd/>
              <a:tailEnd/>
            </a:ln>
          </p:spPr>
          <p:txBody>
            <a:bodyPr wrap="none" anchor="ctr"/>
            <a:lstStyle/>
            <a:p>
              <a:endParaRPr lang="zh-CN" altLang="en-US"/>
            </a:p>
          </p:txBody>
        </p:sp>
      </p:grpSp>
      <p:grpSp>
        <p:nvGrpSpPr>
          <p:cNvPr id="319" name="Group 182"/>
          <p:cNvGrpSpPr>
            <a:grpSpLocks/>
          </p:cNvGrpSpPr>
          <p:nvPr/>
        </p:nvGrpSpPr>
        <p:grpSpPr bwMode="auto">
          <a:xfrm>
            <a:off x="1889531" y="5686447"/>
            <a:ext cx="1135063" cy="498475"/>
            <a:chOff x="938" y="3618"/>
            <a:chExt cx="715" cy="314"/>
          </a:xfrm>
        </p:grpSpPr>
        <p:sp>
          <p:nvSpPr>
            <p:cNvPr id="320" name="Line 183"/>
            <p:cNvSpPr>
              <a:spLocks noChangeShapeType="1"/>
            </p:cNvSpPr>
            <p:nvPr/>
          </p:nvSpPr>
          <p:spPr bwMode="auto">
            <a:xfrm flipV="1">
              <a:off x="938" y="3618"/>
              <a:ext cx="0" cy="288"/>
            </a:xfrm>
            <a:prstGeom prst="line">
              <a:avLst/>
            </a:prstGeom>
            <a:noFill/>
            <a:ln w="38100">
              <a:solidFill>
                <a:srgbClr val="FF0000"/>
              </a:solidFill>
              <a:round/>
              <a:headEnd/>
              <a:tailEnd/>
            </a:ln>
          </p:spPr>
          <p:txBody>
            <a:bodyPr wrap="none" anchor="ctr"/>
            <a:lstStyle/>
            <a:p>
              <a:endParaRPr lang="zh-CN" altLang="en-US"/>
            </a:p>
          </p:txBody>
        </p:sp>
        <p:sp>
          <p:nvSpPr>
            <p:cNvPr id="321" name="Line 184"/>
            <p:cNvSpPr>
              <a:spLocks noChangeShapeType="1"/>
            </p:cNvSpPr>
            <p:nvPr/>
          </p:nvSpPr>
          <p:spPr bwMode="auto">
            <a:xfrm flipV="1">
              <a:off x="1653" y="3836"/>
              <a:ext cx="0" cy="96"/>
            </a:xfrm>
            <a:prstGeom prst="line">
              <a:avLst/>
            </a:prstGeom>
            <a:noFill/>
            <a:ln w="38100">
              <a:solidFill>
                <a:srgbClr val="FF0000"/>
              </a:solidFill>
              <a:round/>
              <a:headEnd/>
              <a:tailEnd/>
            </a:ln>
          </p:spPr>
          <p:txBody>
            <a:bodyPr wrap="none" anchor="ctr"/>
            <a:lstStyle/>
            <a:p>
              <a:endParaRPr lang="zh-CN" altLang="en-US"/>
            </a:p>
          </p:txBody>
        </p:sp>
        <p:sp>
          <p:nvSpPr>
            <p:cNvPr id="322" name="Line 185"/>
            <p:cNvSpPr>
              <a:spLocks noChangeShapeType="1"/>
            </p:cNvSpPr>
            <p:nvPr/>
          </p:nvSpPr>
          <p:spPr bwMode="auto">
            <a:xfrm>
              <a:off x="940" y="3625"/>
              <a:ext cx="713" cy="227"/>
            </a:xfrm>
            <a:prstGeom prst="line">
              <a:avLst/>
            </a:prstGeom>
            <a:noFill/>
            <a:ln w="38100">
              <a:solidFill>
                <a:srgbClr val="FF0000"/>
              </a:solidFill>
              <a:round/>
              <a:headEnd/>
              <a:tailEnd/>
            </a:ln>
          </p:spPr>
          <p:txBody>
            <a:bodyPr wrap="none" anchor="ctr"/>
            <a:lstStyle/>
            <a:p>
              <a:endParaRPr lang="zh-CN" altLang="en-US"/>
            </a:p>
          </p:txBody>
        </p:sp>
      </p:grpSp>
      <p:sp>
        <p:nvSpPr>
          <p:cNvPr id="323" name="Line 186"/>
          <p:cNvSpPr>
            <a:spLocks noChangeShapeType="1"/>
          </p:cNvSpPr>
          <p:nvPr/>
        </p:nvSpPr>
        <p:spPr bwMode="auto">
          <a:xfrm flipV="1">
            <a:off x="1869232" y="6048454"/>
            <a:ext cx="1143000" cy="152400"/>
          </a:xfrm>
          <a:prstGeom prst="line">
            <a:avLst/>
          </a:prstGeom>
          <a:noFill/>
          <a:ln w="19050">
            <a:solidFill>
              <a:srgbClr val="00B050"/>
            </a:solidFill>
            <a:prstDash val="sysDot"/>
            <a:round/>
            <a:headEnd/>
            <a:tailEnd/>
          </a:ln>
        </p:spPr>
        <p:txBody>
          <a:bodyPr wrap="none" anchor="ctr"/>
          <a:lstStyle/>
          <a:p>
            <a:endParaRPr lang="zh-CN" altLang="en-US"/>
          </a:p>
        </p:txBody>
      </p:sp>
      <p:grpSp>
        <p:nvGrpSpPr>
          <p:cNvPr id="324" name="Group 187"/>
          <p:cNvGrpSpPr>
            <a:grpSpLocks/>
          </p:cNvGrpSpPr>
          <p:nvPr/>
        </p:nvGrpSpPr>
        <p:grpSpPr bwMode="auto">
          <a:xfrm>
            <a:off x="929093" y="5786471"/>
            <a:ext cx="2863850" cy="785814"/>
            <a:chOff x="189" y="3681"/>
            <a:chExt cx="1804" cy="495"/>
          </a:xfrm>
        </p:grpSpPr>
        <p:graphicFrame>
          <p:nvGraphicFramePr>
            <p:cNvPr id="325" name="Object 188"/>
            <p:cNvGraphicFramePr>
              <a:graphicFrameLocks noChangeAspect="1"/>
            </p:cNvGraphicFramePr>
            <p:nvPr/>
          </p:nvGraphicFramePr>
          <p:xfrm>
            <a:off x="189" y="3681"/>
            <a:ext cx="274" cy="435"/>
          </p:xfrm>
          <a:graphic>
            <a:graphicData uri="http://schemas.openxmlformats.org/presentationml/2006/ole">
              <mc:AlternateContent xmlns:mc="http://schemas.openxmlformats.org/markup-compatibility/2006">
                <mc:Choice xmlns:v="urn:schemas-microsoft-com:vml" Requires="v">
                  <p:oleObj spid="_x0000_s492590" name="Equation" r:id="rId36" imgW="266400" imgH="419040" progId="Equation.DSMT4">
                    <p:embed/>
                  </p:oleObj>
                </mc:Choice>
                <mc:Fallback>
                  <p:oleObj name="Equation" r:id="rId36" imgW="266400" imgH="419040" progId="Equation.DSMT4">
                    <p:embed/>
                    <p:pic>
                      <p:nvPicPr>
                        <p:cNvPr id="0" name="Object 18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89" y="3681"/>
                          <a:ext cx="274" cy="4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 name="Object 189"/>
            <p:cNvGraphicFramePr>
              <a:graphicFrameLocks noChangeAspect="1"/>
            </p:cNvGraphicFramePr>
            <p:nvPr/>
          </p:nvGraphicFramePr>
          <p:xfrm>
            <a:off x="1719" y="3743"/>
            <a:ext cx="274" cy="433"/>
          </p:xfrm>
          <a:graphic>
            <a:graphicData uri="http://schemas.openxmlformats.org/presentationml/2006/ole">
              <mc:AlternateContent xmlns:mc="http://schemas.openxmlformats.org/markup-compatibility/2006">
                <mc:Choice xmlns:v="urn:schemas-microsoft-com:vml" Requires="v">
                  <p:oleObj spid="_x0000_s492591" name="Equation" r:id="rId38" imgW="266400" imgH="419040" progId="Equation.DSMT4">
                    <p:embed/>
                  </p:oleObj>
                </mc:Choice>
                <mc:Fallback>
                  <p:oleObj name="Equation" r:id="rId38" imgW="266400" imgH="419040" progId="Equation.DSMT4">
                    <p:embed/>
                    <p:pic>
                      <p:nvPicPr>
                        <p:cNvPr id="0" name="Object 189"/>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719" y="3743"/>
                          <a:ext cx="274"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 name="Freeform 190"/>
            <p:cNvSpPr>
              <a:spLocks/>
            </p:cNvSpPr>
            <p:nvPr/>
          </p:nvSpPr>
          <p:spPr bwMode="auto">
            <a:xfrm rot="5400000">
              <a:off x="1465" y="3911"/>
              <a:ext cx="288" cy="145"/>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endParaRPr lang="zh-CN" altLang="en-US"/>
            </a:p>
          </p:txBody>
        </p:sp>
        <p:sp>
          <p:nvSpPr>
            <p:cNvPr id="328" name="Freeform 191"/>
            <p:cNvSpPr>
              <a:spLocks/>
            </p:cNvSpPr>
            <p:nvPr/>
          </p:nvSpPr>
          <p:spPr bwMode="auto">
            <a:xfrm rot="16200000" flipH="1">
              <a:off x="384" y="3888"/>
              <a:ext cx="336" cy="144"/>
            </a:xfrm>
            <a:custGeom>
              <a:avLst/>
              <a:gdLst>
                <a:gd name="T0" fmla="*/ 0 w 480"/>
                <a:gd name="T1" fmla="*/ 192 h 240"/>
                <a:gd name="T2" fmla="*/ 96 w 480"/>
                <a:gd name="T3" fmla="*/ 48 h 240"/>
                <a:gd name="T4" fmla="*/ 240 w 480"/>
                <a:gd name="T5" fmla="*/ 0 h 240"/>
                <a:gd name="T6" fmla="*/ 384 w 480"/>
                <a:gd name="T7" fmla="*/ 48 h 240"/>
                <a:gd name="T8" fmla="*/ 480 w 480"/>
                <a:gd name="T9" fmla="*/ 240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endParaRPr lang="zh-CN" altLang="en-US"/>
            </a:p>
          </p:txBody>
        </p:sp>
      </p:grpSp>
      <p:graphicFrame>
        <p:nvGraphicFramePr>
          <p:cNvPr id="444521" name="Object 105"/>
          <p:cNvGraphicFramePr>
            <a:graphicFrameLocks noChangeAspect="1"/>
          </p:cNvGraphicFramePr>
          <p:nvPr/>
        </p:nvGraphicFramePr>
        <p:xfrm>
          <a:off x="4214810" y="3571876"/>
          <a:ext cx="4392612" cy="2765425"/>
        </p:xfrm>
        <a:graphic>
          <a:graphicData uri="http://schemas.openxmlformats.org/presentationml/2006/ole">
            <mc:AlternateContent xmlns:mc="http://schemas.openxmlformats.org/markup-compatibility/2006">
              <mc:Choice xmlns:v="urn:schemas-microsoft-com:vml" Requires="v">
                <p:oleObj spid="_x0000_s492592" name="Equation" r:id="rId40" imgW="2654280" imgH="1676160" progId="Equation.DSMT4">
                  <p:embed/>
                </p:oleObj>
              </mc:Choice>
              <mc:Fallback>
                <p:oleObj name="Equation" r:id="rId40" imgW="2654280" imgH="1676160" progId="Equation.DSMT4">
                  <p:embed/>
                  <p:pic>
                    <p:nvPicPr>
                      <p:cNvPr id="0" name="Object 105"/>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214810" y="3571876"/>
                        <a:ext cx="4392612" cy="276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6" name="TextBox 195"/>
          <p:cNvSpPr txBox="1"/>
          <p:nvPr/>
        </p:nvSpPr>
        <p:spPr>
          <a:xfrm>
            <a:off x="6286512" y="5786454"/>
            <a:ext cx="2357454" cy="400110"/>
          </a:xfrm>
          <a:prstGeom prst="rect">
            <a:avLst/>
          </a:prstGeom>
          <a:noFill/>
          <a:ln w="28575">
            <a:noFill/>
          </a:ln>
        </p:spPr>
        <p:txBody>
          <a:bodyPr wrap="square" rtlCol="0">
            <a:spAutoFit/>
          </a:bodyPr>
          <a:lstStyle/>
          <a:p>
            <a:pPr marL="808038" indent="-808038"/>
            <a:r>
              <a:rPr lang="zh-CN" altLang="en-US" sz="2000" b="1">
                <a:solidFill>
                  <a:srgbClr val="C00000"/>
                </a:solidFill>
              </a:rPr>
              <a:t>思考：还能更快么？</a:t>
            </a:r>
          </a:p>
        </p:txBody>
      </p:sp>
      <p:sp>
        <p:nvSpPr>
          <p:cNvPr id="197" name="TextBox 196"/>
          <p:cNvSpPr txBox="1"/>
          <p:nvPr/>
        </p:nvSpPr>
        <p:spPr>
          <a:xfrm>
            <a:off x="6286700" y="6191520"/>
            <a:ext cx="1587294" cy="369332"/>
          </a:xfrm>
          <a:prstGeom prst="rect">
            <a:avLst/>
          </a:prstGeom>
          <a:noFill/>
          <a:ln w="28575">
            <a:noFill/>
          </a:ln>
        </p:spPr>
        <p:txBody>
          <a:bodyPr wrap="none" rtlCol="0">
            <a:spAutoFit/>
          </a:bodyPr>
          <a:lstStyle/>
          <a:p>
            <a:r>
              <a:rPr lang="zh-CN" altLang="en-US" b="1">
                <a:solidFill>
                  <a:srgbClr val="0033CC"/>
                </a:solidFill>
              </a:rPr>
              <a:t>提示：延长</a:t>
            </a:r>
            <a:r>
              <a:rPr lang="en-US" altLang="zh-CN" b="1" i="1">
                <a:solidFill>
                  <a:srgbClr val="0033CC"/>
                </a:solidFill>
                <a:latin typeface="Times New Roman" pitchFamily="18" charset="0"/>
                <a:cs typeface="Times New Roman" pitchFamily="18" charset="0"/>
              </a:rPr>
              <a:t>M</a:t>
            </a:r>
            <a:r>
              <a:rPr lang="en-US" altLang="zh-CN" b="1" i="1" baseline="-25000">
                <a:solidFill>
                  <a:srgbClr val="0033CC"/>
                </a:solidFill>
                <a:latin typeface="Times New Roman" pitchFamily="18" charset="0"/>
                <a:cs typeface="Times New Roman" pitchFamily="18" charset="0"/>
              </a:rPr>
              <a:t>i</a:t>
            </a:r>
            <a:endParaRPr lang="zh-CN" altLang="en-US" b="1" i="1" baseline="-25000">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77"/>
                                        </p:tgtEl>
                                        <p:attrNameLst>
                                          <p:attrName>style.visibility</p:attrName>
                                        </p:attrNameLst>
                                      </p:cBhvr>
                                      <p:to>
                                        <p:strVal val="visible"/>
                                      </p:to>
                                    </p:set>
                                    <p:anim calcmode="lin" valueType="num">
                                      <p:cBhvr additive="base">
                                        <p:cTn id="13" dur="500" fill="hold"/>
                                        <p:tgtEl>
                                          <p:spTgt spid="277"/>
                                        </p:tgtEl>
                                        <p:attrNameLst>
                                          <p:attrName>ppt_x</p:attrName>
                                        </p:attrNameLst>
                                      </p:cBhvr>
                                      <p:tavLst>
                                        <p:tav tm="0">
                                          <p:val>
                                            <p:strVal val="0-#ppt_w/2"/>
                                          </p:val>
                                        </p:tav>
                                        <p:tav tm="100000">
                                          <p:val>
                                            <p:strVal val="#ppt_x"/>
                                          </p:val>
                                        </p:tav>
                                      </p:tavLst>
                                    </p:anim>
                                    <p:anim calcmode="lin" valueType="num">
                                      <p:cBhvr additive="base">
                                        <p:cTn id="14" dur="500" fill="hold"/>
                                        <p:tgtEl>
                                          <p:spTgt spid="2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3"/>
                                        </p:tgtEl>
                                        <p:attrNameLst>
                                          <p:attrName>style.visibility</p:attrName>
                                        </p:attrNameLst>
                                      </p:cBhvr>
                                      <p:to>
                                        <p:strVal val="visible"/>
                                      </p:to>
                                    </p:set>
                                    <p:anim calcmode="lin" valueType="num">
                                      <p:cBhvr additive="base">
                                        <p:cTn id="19" dur="500" fill="hold"/>
                                        <p:tgtEl>
                                          <p:spTgt spid="203"/>
                                        </p:tgtEl>
                                        <p:attrNameLst>
                                          <p:attrName>ppt_x</p:attrName>
                                        </p:attrNameLst>
                                      </p:cBhvr>
                                      <p:tavLst>
                                        <p:tav tm="0">
                                          <p:val>
                                            <p:strVal val="0-#ppt_w/2"/>
                                          </p:val>
                                        </p:tav>
                                        <p:tav tm="100000">
                                          <p:val>
                                            <p:strVal val="#ppt_x"/>
                                          </p:val>
                                        </p:tav>
                                      </p:tavLst>
                                    </p:anim>
                                    <p:anim calcmode="lin" valueType="num">
                                      <p:cBhvr additive="base">
                                        <p:cTn id="20" dur="500" fill="hold"/>
                                        <p:tgtEl>
                                          <p:spTgt spid="20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45"/>
                                        </p:tgtEl>
                                        <p:attrNameLst>
                                          <p:attrName>style.visibility</p:attrName>
                                        </p:attrNameLst>
                                      </p:cBhvr>
                                      <p:to>
                                        <p:strVal val="visible"/>
                                      </p:to>
                                    </p:set>
                                    <p:anim calcmode="lin" valueType="num">
                                      <p:cBhvr additive="base">
                                        <p:cTn id="25" dur="500" fill="hold"/>
                                        <p:tgtEl>
                                          <p:spTgt spid="245"/>
                                        </p:tgtEl>
                                        <p:attrNameLst>
                                          <p:attrName>ppt_x</p:attrName>
                                        </p:attrNameLst>
                                      </p:cBhvr>
                                      <p:tavLst>
                                        <p:tav tm="0">
                                          <p:val>
                                            <p:strVal val="0-#ppt_w/2"/>
                                          </p:val>
                                        </p:tav>
                                        <p:tav tm="100000">
                                          <p:val>
                                            <p:strVal val="#ppt_x"/>
                                          </p:val>
                                        </p:tav>
                                      </p:tavLst>
                                    </p:anim>
                                    <p:anim calcmode="lin" valueType="num">
                                      <p:cBhvr additive="base">
                                        <p:cTn id="26" dur="500" fill="hold"/>
                                        <p:tgtEl>
                                          <p:spTgt spid="24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24"/>
                                        </p:tgtEl>
                                        <p:attrNameLst>
                                          <p:attrName>style.visibility</p:attrName>
                                        </p:attrNameLst>
                                      </p:cBhvr>
                                      <p:to>
                                        <p:strVal val="visible"/>
                                      </p:to>
                                    </p:set>
                                    <p:anim calcmode="lin" valueType="num">
                                      <p:cBhvr additive="base">
                                        <p:cTn id="31" dur="500" fill="hold"/>
                                        <p:tgtEl>
                                          <p:spTgt spid="324"/>
                                        </p:tgtEl>
                                        <p:attrNameLst>
                                          <p:attrName>ppt_x</p:attrName>
                                        </p:attrNameLst>
                                      </p:cBhvr>
                                      <p:tavLst>
                                        <p:tav tm="0">
                                          <p:val>
                                            <p:strVal val="0-#ppt_w/2"/>
                                          </p:val>
                                        </p:tav>
                                        <p:tav tm="100000">
                                          <p:val>
                                            <p:strVal val="#ppt_x"/>
                                          </p:val>
                                        </p:tav>
                                      </p:tavLst>
                                    </p:anim>
                                    <p:anim calcmode="lin" valueType="num">
                                      <p:cBhvr additive="base">
                                        <p:cTn id="32" dur="500" fill="hold"/>
                                        <p:tgtEl>
                                          <p:spTgt spid="32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74"/>
                                        </p:tgtEl>
                                        <p:attrNameLst>
                                          <p:attrName>style.visibility</p:attrName>
                                        </p:attrNameLst>
                                      </p:cBhvr>
                                      <p:to>
                                        <p:strVal val="visible"/>
                                      </p:to>
                                    </p:set>
                                    <p:anim calcmode="lin" valueType="num">
                                      <p:cBhvr additive="base">
                                        <p:cTn id="37" dur="500" fill="hold"/>
                                        <p:tgtEl>
                                          <p:spTgt spid="274"/>
                                        </p:tgtEl>
                                        <p:attrNameLst>
                                          <p:attrName>ppt_x</p:attrName>
                                        </p:attrNameLst>
                                      </p:cBhvr>
                                      <p:tavLst>
                                        <p:tav tm="0">
                                          <p:val>
                                            <p:strVal val="0-#ppt_w/2"/>
                                          </p:val>
                                        </p:tav>
                                        <p:tav tm="100000">
                                          <p:val>
                                            <p:strVal val="#ppt_x"/>
                                          </p:val>
                                        </p:tav>
                                      </p:tavLst>
                                    </p:anim>
                                    <p:anim calcmode="lin" valueType="num">
                                      <p:cBhvr additive="base">
                                        <p:cTn id="38" dur="500" fill="hold"/>
                                        <p:tgtEl>
                                          <p:spTgt spid="274"/>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 presetClass="entr" presetSubtype="8" fill="hold" grpId="0" nodeType="afterEffect">
                                  <p:stCondLst>
                                    <p:cond delay="0"/>
                                  </p:stCondLst>
                                  <p:childTnLst>
                                    <p:set>
                                      <p:cBhvr>
                                        <p:cTn id="41" dur="1" fill="hold">
                                          <p:stCondLst>
                                            <p:cond delay="0"/>
                                          </p:stCondLst>
                                        </p:cTn>
                                        <p:tgtEl>
                                          <p:spTgt spid="276"/>
                                        </p:tgtEl>
                                        <p:attrNameLst>
                                          <p:attrName>style.visibility</p:attrName>
                                        </p:attrNameLst>
                                      </p:cBhvr>
                                      <p:to>
                                        <p:strVal val="visible"/>
                                      </p:to>
                                    </p:set>
                                    <p:anim calcmode="lin" valueType="num">
                                      <p:cBhvr additive="base">
                                        <p:cTn id="42" dur="500" fill="hold"/>
                                        <p:tgtEl>
                                          <p:spTgt spid="276"/>
                                        </p:tgtEl>
                                        <p:attrNameLst>
                                          <p:attrName>ppt_x</p:attrName>
                                        </p:attrNameLst>
                                      </p:cBhvr>
                                      <p:tavLst>
                                        <p:tav tm="0">
                                          <p:val>
                                            <p:strVal val="0-#ppt_w/2"/>
                                          </p:val>
                                        </p:tav>
                                        <p:tav tm="100000">
                                          <p:val>
                                            <p:strVal val="#ppt_x"/>
                                          </p:val>
                                        </p:tav>
                                      </p:tavLst>
                                    </p:anim>
                                    <p:anim calcmode="lin" valueType="num">
                                      <p:cBhvr additive="base">
                                        <p:cTn id="43" dur="500" fill="hold"/>
                                        <p:tgtEl>
                                          <p:spTgt spid="276"/>
                                        </p:tgtEl>
                                        <p:attrNameLst>
                                          <p:attrName>ppt_y</p:attrName>
                                        </p:attrNameLst>
                                      </p:cBhvr>
                                      <p:tavLst>
                                        <p:tav tm="0">
                                          <p:val>
                                            <p:strVal val="#ppt_y"/>
                                          </p:val>
                                        </p:tav>
                                        <p:tav tm="100000">
                                          <p:val>
                                            <p:strVal val="#ppt_y"/>
                                          </p:val>
                                        </p:tav>
                                      </p:tavLst>
                                    </p:anim>
                                  </p:childTnLst>
                                </p:cTn>
                              </p:par>
                            </p:childTnLst>
                          </p:cTn>
                        </p:par>
                        <p:par>
                          <p:cTn id="44" fill="hold">
                            <p:stCondLst>
                              <p:cond delay="1000"/>
                            </p:stCondLst>
                            <p:childTnLst>
                              <p:par>
                                <p:cTn id="45" presetID="2" presetClass="entr" presetSubtype="8" fill="hold" nodeType="afterEffect">
                                  <p:stCondLst>
                                    <p:cond delay="0"/>
                                  </p:stCondLst>
                                  <p:childTnLst>
                                    <p:set>
                                      <p:cBhvr>
                                        <p:cTn id="46" dur="1" fill="hold">
                                          <p:stCondLst>
                                            <p:cond delay="0"/>
                                          </p:stCondLst>
                                        </p:cTn>
                                        <p:tgtEl>
                                          <p:spTgt spid="275"/>
                                        </p:tgtEl>
                                        <p:attrNameLst>
                                          <p:attrName>style.visibility</p:attrName>
                                        </p:attrNameLst>
                                      </p:cBhvr>
                                      <p:to>
                                        <p:strVal val="visible"/>
                                      </p:to>
                                    </p:set>
                                    <p:anim calcmode="lin" valueType="num">
                                      <p:cBhvr additive="base">
                                        <p:cTn id="47" dur="500" fill="hold"/>
                                        <p:tgtEl>
                                          <p:spTgt spid="275"/>
                                        </p:tgtEl>
                                        <p:attrNameLst>
                                          <p:attrName>ppt_x</p:attrName>
                                        </p:attrNameLst>
                                      </p:cBhvr>
                                      <p:tavLst>
                                        <p:tav tm="0">
                                          <p:val>
                                            <p:strVal val="0-#ppt_w/2"/>
                                          </p:val>
                                        </p:tav>
                                        <p:tav tm="100000">
                                          <p:val>
                                            <p:strVal val="#ppt_x"/>
                                          </p:val>
                                        </p:tav>
                                      </p:tavLst>
                                    </p:anim>
                                    <p:anim calcmode="lin" valueType="num">
                                      <p:cBhvr additive="base">
                                        <p:cTn id="48" dur="500" fill="hold"/>
                                        <p:tgtEl>
                                          <p:spTgt spid="27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319"/>
                                        </p:tgtEl>
                                        <p:attrNameLst>
                                          <p:attrName>style.visibility</p:attrName>
                                        </p:attrNameLst>
                                      </p:cBhvr>
                                      <p:to>
                                        <p:strVal val="visible"/>
                                      </p:to>
                                    </p:set>
                                    <p:anim calcmode="lin" valueType="num">
                                      <p:cBhvr additive="base">
                                        <p:cTn id="53" dur="500" fill="hold"/>
                                        <p:tgtEl>
                                          <p:spTgt spid="319"/>
                                        </p:tgtEl>
                                        <p:attrNameLst>
                                          <p:attrName>ppt_x</p:attrName>
                                        </p:attrNameLst>
                                      </p:cBhvr>
                                      <p:tavLst>
                                        <p:tav tm="0">
                                          <p:val>
                                            <p:strVal val="0-#ppt_w/2"/>
                                          </p:val>
                                        </p:tav>
                                        <p:tav tm="100000">
                                          <p:val>
                                            <p:strVal val="#ppt_x"/>
                                          </p:val>
                                        </p:tav>
                                      </p:tavLst>
                                    </p:anim>
                                    <p:anim calcmode="lin" valueType="num">
                                      <p:cBhvr additive="base">
                                        <p:cTn id="54" dur="500" fill="hold"/>
                                        <p:tgtEl>
                                          <p:spTgt spid="319"/>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323"/>
                                        </p:tgtEl>
                                        <p:attrNameLst>
                                          <p:attrName>style.visibility</p:attrName>
                                        </p:attrNameLst>
                                      </p:cBhvr>
                                      <p:to>
                                        <p:strVal val="visible"/>
                                      </p:to>
                                    </p:set>
                                    <p:anim calcmode="lin" valueType="num">
                                      <p:cBhvr additive="base">
                                        <p:cTn id="59" dur="500" fill="hold"/>
                                        <p:tgtEl>
                                          <p:spTgt spid="323"/>
                                        </p:tgtEl>
                                        <p:attrNameLst>
                                          <p:attrName>ppt_x</p:attrName>
                                        </p:attrNameLst>
                                      </p:cBhvr>
                                      <p:tavLst>
                                        <p:tav tm="0">
                                          <p:val>
                                            <p:strVal val="0-#ppt_w/2"/>
                                          </p:val>
                                        </p:tav>
                                        <p:tav tm="100000">
                                          <p:val>
                                            <p:strVal val="#ppt_x"/>
                                          </p:val>
                                        </p:tav>
                                      </p:tavLst>
                                    </p:anim>
                                    <p:anim calcmode="lin" valueType="num">
                                      <p:cBhvr additive="base">
                                        <p:cTn id="60" dur="500" fill="hold"/>
                                        <p:tgtEl>
                                          <p:spTgt spid="323"/>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444521"/>
                                        </p:tgtEl>
                                        <p:attrNameLst>
                                          <p:attrName>style.visibility</p:attrName>
                                        </p:attrNameLst>
                                      </p:cBhvr>
                                      <p:to>
                                        <p:strVal val="visible"/>
                                      </p:to>
                                    </p:set>
                                    <p:anim calcmode="lin" valueType="num">
                                      <p:cBhvr additive="base">
                                        <p:cTn id="65" dur="500" fill="hold"/>
                                        <p:tgtEl>
                                          <p:spTgt spid="444521"/>
                                        </p:tgtEl>
                                        <p:attrNameLst>
                                          <p:attrName>ppt_x</p:attrName>
                                        </p:attrNameLst>
                                      </p:cBhvr>
                                      <p:tavLst>
                                        <p:tav tm="0">
                                          <p:val>
                                            <p:strVal val="0-#ppt_w/2"/>
                                          </p:val>
                                        </p:tav>
                                        <p:tav tm="100000">
                                          <p:val>
                                            <p:strVal val="#ppt_x"/>
                                          </p:val>
                                        </p:tav>
                                      </p:tavLst>
                                    </p:anim>
                                    <p:anim calcmode="lin" valueType="num">
                                      <p:cBhvr additive="base">
                                        <p:cTn id="66" dur="500" fill="hold"/>
                                        <p:tgtEl>
                                          <p:spTgt spid="444521"/>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96"/>
                                        </p:tgtEl>
                                        <p:attrNameLst>
                                          <p:attrName>style.visibility</p:attrName>
                                        </p:attrNameLst>
                                      </p:cBhvr>
                                      <p:to>
                                        <p:strVal val="visible"/>
                                      </p:to>
                                    </p:set>
                                    <p:anim calcmode="lin" valueType="num">
                                      <p:cBhvr additive="base">
                                        <p:cTn id="71" dur="500" fill="hold"/>
                                        <p:tgtEl>
                                          <p:spTgt spid="196"/>
                                        </p:tgtEl>
                                        <p:attrNameLst>
                                          <p:attrName>ppt_x</p:attrName>
                                        </p:attrNameLst>
                                      </p:cBhvr>
                                      <p:tavLst>
                                        <p:tav tm="0">
                                          <p:val>
                                            <p:strVal val="#ppt_x"/>
                                          </p:val>
                                        </p:tav>
                                        <p:tav tm="100000">
                                          <p:val>
                                            <p:strVal val="#ppt_x"/>
                                          </p:val>
                                        </p:tav>
                                      </p:tavLst>
                                    </p:anim>
                                    <p:anim calcmode="lin" valueType="num">
                                      <p:cBhvr additive="base">
                                        <p:cTn id="72" dur="500" fill="hold"/>
                                        <p:tgtEl>
                                          <p:spTgt spid="19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97"/>
                                        </p:tgtEl>
                                        <p:attrNameLst>
                                          <p:attrName>style.visibility</p:attrName>
                                        </p:attrNameLst>
                                      </p:cBhvr>
                                      <p:to>
                                        <p:strVal val="visible"/>
                                      </p:to>
                                    </p:set>
                                    <p:animEffect transition="in" filter="wipe(down)">
                                      <p:cBhvr>
                                        <p:cTn id="77"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animBg="1"/>
      <p:bldP spid="323" grpId="0" animBg="1"/>
      <p:bldP spid="196" grpId="0"/>
      <p:bldP spid="19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796794"/>
            <a:ext cx="567409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：试求图示结构</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点竖向位移。</a:t>
            </a:r>
            <a:endParaRPr lang="en-US" altLang="zh-CN" sz="2000" b="1">
              <a:latin typeface="Times New Roman" pitchFamily="18" charset="0"/>
              <a:cs typeface="Times New Roman" pitchFamily="18" charset="0"/>
            </a:endParaRPr>
          </a:p>
        </p:txBody>
      </p:sp>
      <p:sp>
        <p:nvSpPr>
          <p:cNvPr id="422" name="Text Box 3"/>
          <p:cNvSpPr txBox="1">
            <a:spLocks noChangeArrowheads="1"/>
          </p:cNvSpPr>
          <p:nvPr/>
        </p:nvSpPr>
        <p:spPr bwMode="auto">
          <a:xfrm>
            <a:off x="1285852" y="2928934"/>
            <a:ext cx="3500462"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解：刚架弯曲主导</a:t>
            </a:r>
            <a:endParaRPr kumimoji="1" lang="en-US" altLang="zh-CN" sz="2000" b="1" kern="1200">
              <a:solidFill>
                <a:srgbClr val="000000"/>
              </a:solidFill>
              <a:latin typeface="+mn-ea"/>
              <a:cs typeface="+mn-cs"/>
            </a:endParaRPr>
          </a:p>
        </p:txBody>
      </p:sp>
      <p:graphicFrame>
        <p:nvGraphicFramePr>
          <p:cNvPr id="423" name="Object 4"/>
          <p:cNvGraphicFramePr>
            <a:graphicFrameLocks noChangeAspect="1"/>
          </p:cNvGraphicFramePr>
          <p:nvPr/>
        </p:nvGraphicFramePr>
        <p:xfrm>
          <a:off x="1785918" y="3429000"/>
          <a:ext cx="1971675" cy="668338"/>
        </p:xfrm>
        <a:graphic>
          <a:graphicData uri="http://schemas.openxmlformats.org/presentationml/2006/ole">
            <mc:AlternateContent xmlns:mc="http://schemas.openxmlformats.org/markup-compatibility/2006">
              <mc:Choice xmlns:v="urn:schemas-microsoft-com:vml" Requires="v">
                <p:oleObj spid="_x0000_s521261" name="Equation" r:id="rId4" imgW="1193760" imgH="406080" progId="Equation.DSMT4">
                  <p:embed/>
                </p:oleObj>
              </mc:Choice>
              <mc:Fallback>
                <p:oleObj name="Equation" r:id="rId4" imgW="1193760" imgH="4060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18" y="3429000"/>
                        <a:ext cx="1971675" cy="66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4" name="Object 5"/>
          <p:cNvGraphicFramePr>
            <a:graphicFrameLocks noChangeAspect="1"/>
          </p:cNvGraphicFramePr>
          <p:nvPr/>
        </p:nvGraphicFramePr>
        <p:xfrm>
          <a:off x="3824289" y="3446466"/>
          <a:ext cx="1017588" cy="650875"/>
        </p:xfrm>
        <a:graphic>
          <a:graphicData uri="http://schemas.openxmlformats.org/presentationml/2006/ole">
            <mc:AlternateContent xmlns:mc="http://schemas.openxmlformats.org/markup-compatibility/2006">
              <mc:Choice xmlns:v="urn:schemas-microsoft-com:vml" Requires="v">
                <p:oleObj spid="_x0000_s521262" name="Equation" r:id="rId6" imgW="609480" imgH="393480" progId="Equation.DSMT4">
                  <p:embed/>
                </p:oleObj>
              </mc:Choice>
              <mc:Fallback>
                <p:oleObj name="Equation" r:id="rId6" imgW="609480" imgH="39348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4289" y="3446466"/>
                        <a:ext cx="1017588" cy="65087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pSp>
        <p:nvGrpSpPr>
          <p:cNvPr id="425" name="Group 6"/>
          <p:cNvGrpSpPr>
            <a:grpSpLocks/>
          </p:cNvGrpSpPr>
          <p:nvPr/>
        </p:nvGrpSpPr>
        <p:grpSpPr bwMode="auto">
          <a:xfrm>
            <a:off x="6191537" y="1781177"/>
            <a:ext cx="1881188" cy="1695450"/>
            <a:chOff x="591" y="612"/>
            <a:chExt cx="1185" cy="1068"/>
          </a:xfrm>
        </p:grpSpPr>
        <p:sp>
          <p:nvSpPr>
            <p:cNvPr id="426" name="Line 7"/>
            <p:cNvSpPr>
              <a:spLocks noChangeShapeType="1"/>
            </p:cNvSpPr>
            <p:nvPr/>
          </p:nvSpPr>
          <p:spPr bwMode="auto">
            <a:xfrm>
              <a:off x="624" y="864"/>
              <a:ext cx="0" cy="81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7" name="Line 8"/>
            <p:cNvSpPr>
              <a:spLocks noChangeShapeType="1"/>
            </p:cNvSpPr>
            <p:nvPr/>
          </p:nvSpPr>
          <p:spPr bwMode="auto">
            <a:xfrm flipV="1">
              <a:off x="624" y="864"/>
              <a:ext cx="240" cy="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28" name="Object 9"/>
            <p:cNvGraphicFramePr>
              <a:graphicFrameLocks noChangeAspect="1"/>
            </p:cNvGraphicFramePr>
            <p:nvPr/>
          </p:nvGraphicFramePr>
          <p:xfrm>
            <a:off x="591" y="612"/>
            <a:ext cx="209" cy="183"/>
          </p:xfrm>
          <a:graphic>
            <a:graphicData uri="http://schemas.openxmlformats.org/presentationml/2006/ole">
              <mc:AlternateContent xmlns:mc="http://schemas.openxmlformats.org/markup-compatibility/2006">
                <mc:Choice xmlns:v="urn:schemas-microsoft-com:vml" Requires="v">
                  <p:oleObj spid="_x0000_s521263" name="公式" r:id="rId8" imgW="203040" imgH="177480" progId="Equation.3">
                    <p:embed/>
                  </p:oleObj>
                </mc:Choice>
                <mc:Fallback>
                  <p:oleObj name="公式" r:id="rId8" imgW="203040" imgH="17748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1" y="612"/>
                          <a:ext cx="209" cy="1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 name="Line 10"/>
            <p:cNvSpPr>
              <a:spLocks noChangeShapeType="1"/>
            </p:cNvSpPr>
            <p:nvPr/>
          </p:nvSpPr>
          <p:spPr bwMode="auto">
            <a:xfrm>
              <a:off x="864" y="624"/>
              <a:ext cx="0" cy="24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0" name="Line 11"/>
            <p:cNvSpPr>
              <a:spLocks noChangeShapeType="1"/>
            </p:cNvSpPr>
            <p:nvPr/>
          </p:nvSpPr>
          <p:spPr bwMode="auto">
            <a:xfrm flipH="1" flipV="1">
              <a:off x="864" y="624"/>
              <a:ext cx="912" cy="24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431" name="Oval 12"/>
          <p:cNvSpPr>
            <a:spLocks noChangeArrowheads="1"/>
          </p:cNvSpPr>
          <p:nvPr/>
        </p:nvSpPr>
        <p:spPr bwMode="auto">
          <a:xfrm>
            <a:off x="7310724" y="2714627"/>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0"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432" name="Oval 13"/>
          <p:cNvSpPr>
            <a:spLocks noChangeArrowheads="1"/>
          </p:cNvSpPr>
          <p:nvPr/>
        </p:nvSpPr>
        <p:spPr bwMode="auto">
          <a:xfrm>
            <a:off x="7329514" y="5300682"/>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0" u="none" strike="noStrike" kern="1200" cap="none" spc="0" normalizeH="0" baseline="0" noProof="0">
                <a:ln>
                  <a:noFill/>
                </a:ln>
                <a:solidFill>
                  <a:srgbClr val="000000"/>
                </a:solidFill>
                <a:effectLst/>
                <a:uLnTx/>
                <a:uFillTx/>
                <a:latin typeface="Times New Roman" pitchFamily="18" charset="0"/>
                <a:ea typeface="宋体" charset="-122"/>
                <a:cs typeface="+mn-cs"/>
              </a:rPr>
              <a:t>i</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433" name="Object 14"/>
          <p:cNvGraphicFramePr>
            <a:graphicFrameLocks noChangeAspect="1"/>
          </p:cNvGraphicFramePr>
          <p:nvPr/>
        </p:nvGraphicFramePr>
        <p:xfrm>
          <a:off x="2183940" y="4176265"/>
          <a:ext cx="2805113" cy="1384300"/>
        </p:xfrm>
        <a:graphic>
          <a:graphicData uri="http://schemas.openxmlformats.org/presentationml/2006/ole">
            <mc:AlternateContent xmlns:mc="http://schemas.openxmlformats.org/markup-compatibility/2006">
              <mc:Choice xmlns:v="urn:schemas-microsoft-com:vml" Requires="v">
                <p:oleObj spid="_x0000_s521264" name="Equation" r:id="rId10" imgW="1688760" imgH="838080" progId="Equation.DSMT4">
                  <p:embed/>
                </p:oleObj>
              </mc:Choice>
              <mc:Fallback>
                <p:oleObj name="Equation" r:id="rId10" imgW="1688760" imgH="83808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83940" y="4176265"/>
                        <a:ext cx="2805113" cy="138430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pSp>
        <p:nvGrpSpPr>
          <p:cNvPr id="434" name="Group 15"/>
          <p:cNvGrpSpPr>
            <a:grpSpLocks/>
          </p:cNvGrpSpPr>
          <p:nvPr/>
        </p:nvGrpSpPr>
        <p:grpSpPr bwMode="auto">
          <a:xfrm>
            <a:off x="6262715" y="4157682"/>
            <a:ext cx="2309813" cy="2057400"/>
            <a:chOff x="2304" y="480"/>
            <a:chExt cx="1455" cy="1296"/>
          </a:xfrm>
        </p:grpSpPr>
        <p:graphicFrame>
          <p:nvGraphicFramePr>
            <p:cNvPr id="435" name="Object 16"/>
            <p:cNvGraphicFramePr>
              <a:graphicFrameLocks noChangeAspect="1"/>
            </p:cNvGraphicFramePr>
            <p:nvPr/>
          </p:nvGraphicFramePr>
          <p:xfrm>
            <a:off x="3647" y="480"/>
            <a:ext cx="112" cy="208"/>
          </p:xfrm>
          <a:graphic>
            <a:graphicData uri="http://schemas.openxmlformats.org/presentationml/2006/ole">
              <mc:AlternateContent xmlns:mc="http://schemas.openxmlformats.org/markup-compatibility/2006">
                <mc:Choice xmlns:v="urn:schemas-microsoft-com:vml" Requires="v">
                  <p:oleObj spid="_x0000_s521265" name="Equation" r:id="rId12" imgW="88560" imgH="164880" progId="Equation.DSMT4">
                    <p:embed/>
                  </p:oleObj>
                </mc:Choice>
                <mc:Fallback>
                  <p:oleObj name="Equation" r:id="rId12" imgW="88560" imgH="164880"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7" y="480"/>
                          <a:ext cx="112"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6" name="Line 17"/>
            <p:cNvSpPr>
              <a:spLocks noChangeShapeType="1"/>
            </p:cNvSpPr>
            <p:nvPr/>
          </p:nvSpPr>
          <p:spPr bwMode="auto">
            <a:xfrm flipV="1">
              <a:off x="2544" y="864"/>
              <a:ext cx="0" cy="81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7" name="Line 18"/>
            <p:cNvSpPr>
              <a:spLocks noChangeShapeType="1"/>
            </p:cNvSpPr>
            <p:nvPr/>
          </p:nvSpPr>
          <p:spPr bwMode="auto">
            <a:xfrm>
              <a:off x="3504" y="480"/>
              <a:ext cx="0" cy="384"/>
            </a:xfrm>
            <a:prstGeom prst="line">
              <a:avLst/>
            </a:prstGeom>
            <a:noFill/>
            <a:ln w="38100">
              <a:solidFill>
                <a:srgbClr val="0033CC"/>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8" name="Line 19"/>
            <p:cNvSpPr>
              <a:spLocks noChangeShapeType="1"/>
            </p:cNvSpPr>
            <p:nvPr/>
          </p:nvSpPr>
          <p:spPr bwMode="auto">
            <a:xfrm>
              <a:off x="2544" y="864"/>
              <a:ext cx="96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439" name="Group 20"/>
            <p:cNvGrpSpPr>
              <a:grpSpLocks/>
            </p:cNvGrpSpPr>
            <p:nvPr/>
          </p:nvGrpSpPr>
          <p:grpSpPr bwMode="auto">
            <a:xfrm>
              <a:off x="2304" y="1680"/>
              <a:ext cx="432" cy="96"/>
              <a:chOff x="5136" y="2256"/>
              <a:chExt cx="432" cy="96"/>
            </a:xfrm>
          </p:grpSpPr>
          <p:sp>
            <p:nvSpPr>
              <p:cNvPr id="440" name="Line 21"/>
              <p:cNvSpPr>
                <a:spLocks noChangeShapeType="1"/>
              </p:cNvSpPr>
              <p:nvPr/>
            </p:nvSpPr>
            <p:spPr bwMode="auto">
              <a:xfrm>
                <a:off x="5184" y="225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1" name="Line 22"/>
              <p:cNvSpPr>
                <a:spLocks noChangeShapeType="1"/>
              </p:cNvSpPr>
              <p:nvPr/>
            </p:nvSpPr>
            <p:spPr bwMode="auto">
              <a:xfrm flipV="1">
                <a:off x="518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2" name="Line 23"/>
              <p:cNvSpPr>
                <a:spLocks noChangeShapeType="1"/>
              </p:cNvSpPr>
              <p:nvPr/>
            </p:nvSpPr>
            <p:spPr bwMode="auto">
              <a:xfrm flipV="1">
                <a:off x="523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3" name="Line 24"/>
              <p:cNvSpPr>
                <a:spLocks noChangeShapeType="1"/>
              </p:cNvSpPr>
              <p:nvPr/>
            </p:nvSpPr>
            <p:spPr bwMode="auto">
              <a:xfrm flipV="1">
                <a:off x="5280"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4" name="Line 25"/>
              <p:cNvSpPr>
                <a:spLocks noChangeShapeType="1"/>
              </p:cNvSpPr>
              <p:nvPr/>
            </p:nvSpPr>
            <p:spPr bwMode="auto">
              <a:xfrm flipV="1">
                <a:off x="5328"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5" name="Line 26"/>
              <p:cNvSpPr>
                <a:spLocks noChangeShapeType="1"/>
              </p:cNvSpPr>
              <p:nvPr/>
            </p:nvSpPr>
            <p:spPr bwMode="auto">
              <a:xfrm flipV="1">
                <a:off x="537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6" name="Line 27"/>
              <p:cNvSpPr>
                <a:spLocks noChangeShapeType="1"/>
              </p:cNvSpPr>
              <p:nvPr/>
            </p:nvSpPr>
            <p:spPr bwMode="auto">
              <a:xfrm flipV="1">
                <a:off x="542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7" name="Line 28"/>
              <p:cNvSpPr>
                <a:spLocks noChangeShapeType="1"/>
              </p:cNvSpPr>
              <p:nvPr/>
            </p:nvSpPr>
            <p:spPr bwMode="auto">
              <a:xfrm flipV="1">
                <a:off x="547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8" name="Line 29"/>
              <p:cNvSpPr>
                <a:spLocks noChangeShapeType="1"/>
              </p:cNvSpPr>
              <p:nvPr/>
            </p:nvSpPr>
            <p:spPr bwMode="auto">
              <a:xfrm flipV="1">
                <a:off x="513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449" name="Group 30"/>
          <p:cNvGrpSpPr>
            <a:grpSpLocks/>
          </p:cNvGrpSpPr>
          <p:nvPr/>
        </p:nvGrpSpPr>
        <p:grpSpPr bwMode="auto">
          <a:xfrm>
            <a:off x="5850226" y="1500190"/>
            <a:ext cx="2625726" cy="2357438"/>
            <a:chOff x="376" y="435"/>
            <a:chExt cx="1654" cy="1485"/>
          </a:xfrm>
        </p:grpSpPr>
        <p:sp>
          <p:nvSpPr>
            <p:cNvPr id="450" name="Line 31"/>
            <p:cNvSpPr>
              <a:spLocks noChangeShapeType="1"/>
            </p:cNvSpPr>
            <p:nvPr/>
          </p:nvSpPr>
          <p:spPr bwMode="auto">
            <a:xfrm>
              <a:off x="912" y="1824"/>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1" name="Line 32"/>
            <p:cNvSpPr>
              <a:spLocks noChangeShapeType="1"/>
            </p:cNvSpPr>
            <p:nvPr/>
          </p:nvSpPr>
          <p:spPr bwMode="auto">
            <a:xfrm>
              <a:off x="1824" y="1824"/>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52" name="Object 33"/>
            <p:cNvGraphicFramePr>
              <a:graphicFrameLocks noChangeAspect="1"/>
            </p:cNvGraphicFramePr>
            <p:nvPr/>
          </p:nvGraphicFramePr>
          <p:xfrm>
            <a:off x="1326" y="1672"/>
            <a:ext cx="90" cy="182"/>
          </p:xfrm>
          <a:graphic>
            <a:graphicData uri="http://schemas.openxmlformats.org/presentationml/2006/ole">
              <mc:AlternateContent xmlns:mc="http://schemas.openxmlformats.org/markup-compatibility/2006">
                <mc:Choice xmlns:v="urn:schemas-microsoft-com:vml" Requires="v">
                  <p:oleObj spid="_x0000_s521266" name="公式" r:id="rId14" imgW="88560" imgH="177480" progId="Equation.3">
                    <p:embed/>
                  </p:oleObj>
                </mc:Choice>
                <mc:Fallback>
                  <p:oleObj name="公式" r:id="rId14" imgW="88560" imgH="177480" progId="Equation.3">
                    <p:embed/>
                    <p:pic>
                      <p:nvPicPr>
                        <p:cNvPr id="0" name="Object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26" y="1672"/>
                          <a:ext cx="90" cy="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53" name="Group 34"/>
            <p:cNvGrpSpPr>
              <a:grpSpLocks/>
            </p:cNvGrpSpPr>
            <p:nvPr/>
          </p:nvGrpSpPr>
          <p:grpSpPr bwMode="auto">
            <a:xfrm>
              <a:off x="624" y="435"/>
              <a:ext cx="1406" cy="1341"/>
              <a:chOff x="624" y="435"/>
              <a:chExt cx="1406" cy="1341"/>
            </a:xfrm>
          </p:grpSpPr>
          <p:sp>
            <p:nvSpPr>
              <p:cNvPr id="459" name="Line 35"/>
              <p:cNvSpPr>
                <a:spLocks noChangeShapeType="1"/>
              </p:cNvSpPr>
              <p:nvPr/>
            </p:nvSpPr>
            <p:spPr bwMode="auto">
              <a:xfrm flipV="1">
                <a:off x="864" y="864"/>
                <a:ext cx="0" cy="81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0" name="Line 36"/>
              <p:cNvSpPr>
                <a:spLocks noChangeShapeType="1"/>
              </p:cNvSpPr>
              <p:nvPr/>
            </p:nvSpPr>
            <p:spPr bwMode="auto">
              <a:xfrm>
                <a:off x="1824" y="480"/>
                <a:ext cx="0" cy="384"/>
              </a:xfrm>
              <a:prstGeom prst="line">
                <a:avLst/>
              </a:prstGeom>
              <a:noFill/>
              <a:ln w="38100">
                <a:solidFill>
                  <a:srgbClr val="0033CC"/>
                </a:solidFill>
                <a:round/>
                <a:headEnd/>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61" name="Object 37"/>
              <p:cNvGraphicFramePr>
                <a:graphicFrameLocks noChangeAspect="1"/>
              </p:cNvGraphicFramePr>
              <p:nvPr/>
            </p:nvGraphicFramePr>
            <p:xfrm>
              <a:off x="1626" y="435"/>
              <a:ext cx="180" cy="195"/>
            </p:xfrm>
            <a:graphic>
              <a:graphicData uri="http://schemas.openxmlformats.org/presentationml/2006/ole">
                <mc:AlternateContent xmlns:mc="http://schemas.openxmlformats.org/markup-compatibility/2006">
                  <mc:Choice xmlns:v="urn:schemas-microsoft-com:vml" Requires="v">
                    <p:oleObj spid="_x0000_s521267" name="Equation" r:id="rId16" imgW="152280" imgH="164880" progId="Equation.DSMT4">
                      <p:embed/>
                    </p:oleObj>
                  </mc:Choice>
                  <mc:Fallback>
                    <p:oleObj name="Equation" r:id="rId16" imgW="152280" imgH="164880" progId="Equation.DSMT4">
                      <p:embed/>
                      <p:pic>
                        <p:nvPicPr>
                          <p:cNvPr id="0"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26" y="435"/>
                            <a:ext cx="180" cy="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2" name="Object 38"/>
              <p:cNvGraphicFramePr>
                <a:graphicFrameLocks noChangeAspect="1"/>
              </p:cNvGraphicFramePr>
              <p:nvPr/>
            </p:nvGraphicFramePr>
            <p:xfrm>
              <a:off x="1215" y="909"/>
              <a:ext cx="224" cy="171"/>
            </p:xfrm>
            <a:graphic>
              <a:graphicData uri="http://schemas.openxmlformats.org/presentationml/2006/ole">
                <mc:AlternateContent xmlns:mc="http://schemas.openxmlformats.org/markup-compatibility/2006">
                  <mc:Choice xmlns:v="urn:schemas-microsoft-com:vml" Requires="v">
                    <p:oleObj spid="_x0000_s521268" name="公式" r:id="rId18" imgW="215640" imgH="164880" progId="Equation.3">
                      <p:embed/>
                    </p:oleObj>
                  </mc:Choice>
                  <mc:Fallback>
                    <p:oleObj name="公式" r:id="rId18" imgW="215640" imgH="164880" progId="Equation.3">
                      <p:embed/>
                      <p:pic>
                        <p:nvPicPr>
                          <p:cNvPr id="0"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15" y="909"/>
                            <a:ext cx="224"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3" name="Line 39"/>
              <p:cNvSpPr>
                <a:spLocks noChangeShapeType="1"/>
              </p:cNvSpPr>
              <p:nvPr/>
            </p:nvSpPr>
            <p:spPr bwMode="auto">
              <a:xfrm>
                <a:off x="864" y="864"/>
                <a:ext cx="96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64" name="Object 40"/>
              <p:cNvGraphicFramePr>
                <a:graphicFrameLocks noChangeAspect="1"/>
              </p:cNvGraphicFramePr>
              <p:nvPr/>
            </p:nvGraphicFramePr>
            <p:xfrm>
              <a:off x="1872" y="768"/>
              <a:ext cx="158" cy="171"/>
            </p:xfrm>
            <a:graphic>
              <a:graphicData uri="http://schemas.openxmlformats.org/presentationml/2006/ole">
                <mc:AlternateContent xmlns:mc="http://schemas.openxmlformats.org/markup-compatibility/2006">
                  <mc:Choice xmlns:v="urn:schemas-microsoft-com:vml" Requires="v">
                    <p:oleObj spid="_x0000_s521269" name="公式" r:id="rId20" imgW="152280" imgH="164880" progId="Equation.3">
                      <p:embed/>
                    </p:oleObj>
                  </mc:Choice>
                  <mc:Fallback>
                    <p:oleObj name="公式" r:id="rId20" imgW="152280" imgH="164880" progId="Equation.3">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72" y="768"/>
                            <a:ext cx="158"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5" name="Group 41"/>
              <p:cNvGrpSpPr>
                <a:grpSpLocks/>
              </p:cNvGrpSpPr>
              <p:nvPr/>
            </p:nvGrpSpPr>
            <p:grpSpPr bwMode="auto">
              <a:xfrm>
                <a:off x="624" y="1680"/>
                <a:ext cx="432" cy="96"/>
                <a:chOff x="5136" y="2256"/>
                <a:chExt cx="432" cy="96"/>
              </a:xfrm>
            </p:grpSpPr>
            <p:sp>
              <p:nvSpPr>
                <p:cNvPr id="467" name="Line 42"/>
                <p:cNvSpPr>
                  <a:spLocks noChangeShapeType="1"/>
                </p:cNvSpPr>
                <p:nvPr/>
              </p:nvSpPr>
              <p:spPr bwMode="auto">
                <a:xfrm>
                  <a:off x="5184" y="225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8" name="Line 43"/>
                <p:cNvSpPr>
                  <a:spLocks noChangeShapeType="1"/>
                </p:cNvSpPr>
                <p:nvPr/>
              </p:nvSpPr>
              <p:spPr bwMode="auto">
                <a:xfrm flipV="1">
                  <a:off x="518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9" name="Line 44"/>
                <p:cNvSpPr>
                  <a:spLocks noChangeShapeType="1"/>
                </p:cNvSpPr>
                <p:nvPr/>
              </p:nvSpPr>
              <p:spPr bwMode="auto">
                <a:xfrm flipV="1">
                  <a:off x="523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0" name="Line 45"/>
                <p:cNvSpPr>
                  <a:spLocks noChangeShapeType="1"/>
                </p:cNvSpPr>
                <p:nvPr/>
              </p:nvSpPr>
              <p:spPr bwMode="auto">
                <a:xfrm flipV="1">
                  <a:off x="5280"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1" name="Line 46"/>
                <p:cNvSpPr>
                  <a:spLocks noChangeShapeType="1"/>
                </p:cNvSpPr>
                <p:nvPr/>
              </p:nvSpPr>
              <p:spPr bwMode="auto">
                <a:xfrm flipV="1">
                  <a:off x="5328"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2" name="Line 47"/>
                <p:cNvSpPr>
                  <a:spLocks noChangeShapeType="1"/>
                </p:cNvSpPr>
                <p:nvPr/>
              </p:nvSpPr>
              <p:spPr bwMode="auto">
                <a:xfrm flipV="1">
                  <a:off x="537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3" name="Line 48"/>
                <p:cNvSpPr>
                  <a:spLocks noChangeShapeType="1"/>
                </p:cNvSpPr>
                <p:nvPr/>
              </p:nvSpPr>
              <p:spPr bwMode="auto">
                <a:xfrm flipV="1">
                  <a:off x="542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4" name="Line 49"/>
                <p:cNvSpPr>
                  <a:spLocks noChangeShapeType="1"/>
                </p:cNvSpPr>
                <p:nvPr/>
              </p:nvSpPr>
              <p:spPr bwMode="auto">
                <a:xfrm flipV="1">
                  <a:off x="547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5" name="Line 50"/>
                <p:cNvSpPr>
                  <a:spLocks noChangeShapeType="1"/>
                </p:cNvSpPr>
                <p:nvPr/>
              </p:nvSpPr>
              <p:spPr bwMode="auto">
                <a:xfrm flipV="1">
                  <a:off x="513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466" name="Object 51"/>
              <p:cNvGraphicFramePr>
                <a:graphicFrameLocks noChangeAspect="1"/>
              </p:cNvGraphicFramePr>
              <p:nvPr/>
            </p:nvGraphicFramePr>
            <p:xfrm>
              <a:off x="912" y="1200"/>
              <a:ext cx="224" cy="171"/>
            </p:xfrm>
            <a:graphic>
              <a:graphicData uri="http://schemas.openxmlformats.org/presentationml/2006/ole">
                <mc:AlternateContent xmlns:mc="http://schemas.openxmlformats.org/markup-compatibility/2006">
                  <mc:Choice xmlns:v="urn:schemas-microsoft-com:vml" Requires="v">
                    <p:oleObj spid="_x0000_s521270" name="公式" r:id="rId22" imgW="215640" imgH="164880" progId="Equation.3">
                      <p:embed/>
                    </p:oleObj>
                  </mc:Choice>
                  <mc:Fallback>
                    <p:oleObj name="公式" r:id="rId22" imgW="215640" imgH="164880" progId="Equation.3">
                      <p:embed/>
                      <p:pic>
                        <p:nvPicPr>
                          <p:cNvPr id="0" name="Object 5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2" y="1200"/>
                            <a:ext cx="224"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54" name="Line 52"/>
            <p:cNvSpPr>
              <a:spLocks noChangeShapeType="1"/>
            </p:cNvSpPr>
            <p:nvPr/>
          </p:nvSpPr>
          <p:spPr bwMode="auto">
            <a:xfrm>
              <a:off x="912" y="1872"/>
              <a:ext cx="912"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5" name="Line 53"/>
            <p:cNvSpPr>
              <a:spLocks noChangeShapeType="1"/>
            </p:cNvSpPr>
            <p:nvPr/>
          </p:nvSpPr>
          <p:spPr bwMode="auto">
            <a:xfrm>
              <a:off x="523" y="864"/>
              <a:ext cx="0" cy="81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6" name="Line 54"/>
            <p:cNvSpPr>
              <a:spLocks noChangeShapeType="1"/>
            </p:cNvSpPr>
            <p:nvPr/>
          </p:nvSpPr>
          <p:spPr bwMode="auto">
            <a:xfrm>
              <a:off x="475" y="8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7" name="Line 55"/>
            <p:cNvSpPr>
              <a:spLocks noChangeShapeType="1"/>
            </p:cNvSpPr>
            <p:nvPr/>
          </p:nvSpPr>
          <p:spPr bwMode="auto">
            <a:xfrm>
              <a:off x="475" y="16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58" name="Object 56"/>
            <p:cNvGraphicFramePr>
              <a:graphicFrameLocks noChangeAspect="1"/>
            </p:cNvGraphicFramePr>
            <p:nvPr/>
          </p:nvGraphicFramePr>
          <p:xfrm>
            <a:off x="376" y="1152"/>
            <a:ext cx="100" cy="183"/>
          </p:xfrm>
          <a:graphic>
            <a:graphicData uri="http://schemas.openxmlformats.org/presentationml/2006/ole">
              <mc:AlternateContent xmlns:mc="http://schemas.openxmlformats.org/markup-compatibility/2006">
                <mc:Choice xmlns:v="urn:schemas-microsoft-com:vml" Requires="v">
                  <p:oleObj spid="_x0000_s521271" name="公式" r:id="rId24" imgW="88560" imgH="177480" progId="Equation.3">
                    <p:embed/>
                  </p:oleObj>
                </mc:Choice>
                <mc:Fallback>
                  <p:oleObj name="公式" r:id="rId24" imgW="88560" imgH="177480" progId="Equation.3">
                    <p:embed/>
                    <p:pic>
                      <p:nvPicPr>
                        <p:cNvPr id="0" name="Object 5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6" y="1152"/>
                          <a:ext cx="100" cy="1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6" name="Group 57"/>
          <p:cNvGrpSpPr>
            <a:grpSpLocks/>
          </p:cNvGrpSpPr>
          <p:nvPr/>
        </p:nvGrpSpPr>
        <p:grpSpPr bwMode="auto">
          <a:xfrm>
            <a:off x="6262714" y="4386282"/>
            <a:ext cx="1828800" cy="1676400"/>
            <a:chOff x="2304" y="624"/>
            <a:chExt cx="1152" cy="1056"/>
          </a:xfrm>
        </p:grpSpPr>
        <p:sp>
          <p:nvSpPr>
            <p:cNvPr id="477" name="Line 58"/>
            <p:cNvSpPr>
              <a:spLocks noChangeShapeType="1"/>
            </p:cNvSpPr>
            <p:nvPr/>
          </p:nvSpPr>
          <p:spPr bwMode="auto">
            <a:xfrm>
              <a:off x="2304" y="864"/>
              <a:ext cx="0" cy="81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8" name="Line 59"/>
            <p:cNvSpPr>
              <a:spLocks noChangeShapeType="1"/>
            </p:cNvSpPr>
            <p:nvPr/>
          </p:nvSpPr>
          <p:spPr bwMode="auto">
            <a:xfrm flipV="1">
              <a:off x="2304" y="864"/>
              <a:ext cx="240" cy="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79" name="Object 60"/>
            <p:cNvGraphicFramePr>
              <a:graphicFrameLocks noChangeAspect="1"/>
            </p:cNvGraphicFramePr>
            <p:nvPr/>
          </p:nvGraphicFramePr>
          <p:xfrm>
            <a:off x="2352" y="624"/>
            <a:ext cx="106" cy="216"/>
          </p:xfrm>
          <a:graphic>
            <a:graphicData uri="http://schemas.openxmlformats.org/presentationml/2006/ole">
              <mc:AlternateContent xmlns:mc="http://schemas.openxmlformats.org/markup-compatibility/2006">
                <mc:Choice xmlns:v="urn:schemas-microsoft-com:vml" Requires="v">
                  <p:oleObj spid="_x0000_s521272" name="公式" r:id="rId26" imgW="88560" imgH="177480" progId="Equation.3">
                    <p:embed/>
                  </p:oleObj>
                </mc:Choice>
                <mc:Fallback>
                  <p:oleObj name="公式" r:id="rId26" imgW="88560" imgH="177480" progId="Equation.3">
                    <p:embed/>
                    <p:pic>
                      <p:nvPicPr>
                        <p:cNvPr id="0" name="Object 6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2" y="624"/>
                          <a:ext cx="106"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0" name="Line 61"/>
            <p:cNvSpPr>
              <a:spLocks noChangeShapeType="1"/>
            </p:cNvSpPr>
            <p:nvPr/>
          </p:nvSpPr>
          <p:spPr bwMode="auto">
            <a:xfrm>
              <a:off x="2544" y="624"/>
              <a:ext cx="0" cy="24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1" name="Line 62"/>
            <p:cNvSpPr>
              <a:spLocks noChangeShapeType="1"/>
            </p:cNvSpPr>
            <p:nvPr/>
          </p:nvSpPr>
          <p:spPr bwMode="auto">
            <a:xfrm flipH="1" flipV="1">
              <a:off x="2544" y="624"/>
              <a:ext cx="912" cy="24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482" name="TextBox 481"/>
          <p:cNvSpPr txBox="1"/>
          <p:nvPr/>
        </p:nvSpPr>
        <p:spPr>
          <a:xfrm>
            <a:off x="1928794" y="2285992"/>
            <a:ext cx="1210588" cy="400110"/>
          </a:xfrm>
          <a:prstGeom prst="rect">
            <a:avLst/>
          </a:prstGeom>
          <a:noFill/>
          <a:ln w="28575">
            <a:noFill/>
          </a:ln>
        </p:spPr>
        <p:txBody>
          <a:bodyPr wrap="none" rtlCol="0">
            <a:spAutoFit/>
          </a:bodyPr>
          <a:lstStyle/>
          <a:p>
            <a:r>
              <a:rPr lang="zh-CN" altLang="en-US" sz="2000" b="1">
                <a:solidFill>
                  <a:srgbClr val="C00000"/>
                </a:solidFill>
              </a:rPr>
              <a:t>随堂练习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500" fill="hold"/>
                                        <p:tgtEl>
                                          <p:spTgt spid="482"/>
                                        </p:tgtEl>
                                        <p:attrNameLst>
                                          <p:attrName>ppt_x</p:attrName>
                                        </p:attrNameLst>
                                      </p:cBhvr>
                                      <p:tavLst>
                                        <p:tav tm="0">
                                          <p:val>
                                            <p:strVal val="#ppt_x"/>
                                          </p:val>
                                        </p:tav>
                                        <p:tav tm="100000">
                                          <p:val>
                                            <p:strVal val="#ppt_x"/>
                                          </p:val>
                                        </p:tav>
                                      </p:tavLst>
                                    </p:anim>
                                    <p:anim calcmode="lin" valueType="num">
                                      <p:cBhvr additive="base">
                                        <p:cTn id="8" dur="500" fill="hold"/>
                                        <p:tgtEl>
                                          <p:spTgt spid="4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2"/>
                                        </p:tgtEl>
                                        <p:attrNameLst>
                                          <p:attrName>style.visibility</p:attrName>
                                        </p:attrNameLst>
                                      </p:cBhvr>
                                      <p:to>
                                        <p:strVal val="visible"/>
                                      </p:to>
                                    </p:set>
                                    <p:anim calcmode="lin" valueType="num">
                                      <p:cBhvr additive="base">
                                        <p:cTn id="13" dur="500" fill="hold"/>
                                        <p:tgtEl>
                                          <p:spTgt spid="422"/>
                                        </p:tgtEl>
                                        <p:attrNameLst>
                                          <p:attrName>ppt_x</p:attrName>
                                        </p:attrNameLst>
                                      </p:cBhvr>
                                      <p:tavLst>
                                        <p:tav tm="0">
                                          <p:val>
                                            <p:strVal val="0-#ppt_w/2"/>
                                          </p:val>
                                        </p:tav>
                                        <p:tav tm="100000">
                                          <p:val>
                                            <p:strVal val="#ppt_x"/>
                                          </p:val>
                                        </p:tav>
                                      </p:tavLst>
                                    </p:anim>
                                    <p:anim calcmode="lin" valueType="num">
                                      <p:cBhvr additive="base">
                                        <p:cTn id="14" dur="500" fill="hold"/>
                                        <p:tgtEl>
                                          <p:spTgt spid="4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34"/>
                                        </p:tgtEl>
                                        <p:attrNameLst>
                                          <p:attrName>style.visibility</p:attrName>
                                        </p:attrNameLst>
                                      </p:cBhvr>
                                      <p:to>
                                        <p:strVal val="visible"/>
                                      </p:to>
                                    </p:set>
                                    <p:anim calcmode="lin" valueType="num">
                                      <p:cBhvr additive="base">
                                        <p:cTn id="19" dur="500" fill="hold"/>
                                        <p:tgtEl>
                                          <p:spTgt spid="434"/>
                                        </p:tgtEl>
                                        <p:attrNameLst>
                                          <p:attrName>ppt_x</p:attrName>
                                        </p:attrNameLst>
                                      </p:cBhvr>
                                      <p:tavLst>
                                        <p:tav tm="0">
                                          <p:val>
                                            <p:strVal val="0-#ppt_w/2"/>
                                          </p:val>
                                        </p:tav>
                                        <p:tav tm="100000">
                                          <p:val>
                                            <p:strVal val="#ppt_x"/>
                                          </p:val>
                                        </p:tav>
                                      </p:tavLst>
                                    </p:anim>
                                    <p:anim calcmode="lin" valueType="num">
                                      <p:cBhvr additive="base">
                                        <p:cTn id="20" dur="500" fill="hold"/>
                                        <p:tgtEl>
                                          <p:spTgt spid="43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25"/>
                                        </p:tgtEl>
                                        <p:attrNameLst>
                                          <p:attrName>style.visibility</p:attrName>
                                        </p:attrNameLst>
                                      </p:cBhvr>
                                      <p:to>
                                        <p:strVal val="visible"/>
                                      </p:to>
                                    </p:set>
                                    <p:anim calcmode="lin" valueType="num">
                                      <p:cBhvr additive="base">
                                        <p:cTn id="25" dur="500" fill="hold"/>
                                        <p:tgtEl>
                                          <p:spTgt spid="425"/>
                                        </p:tgtEl>
                                        <p:attrNameLst>
                                          <p:attrName>ppt_x</p:attrName>
                                        </p:attrNameLst>
                                      </p:cBhvr>
                                      <p:tavLst>
                                        <p:tav tm="0">
                                          <p:val>
                                            <p:strVal val="0-#ppt_w/2"/>
                                          </p:val>
                                        </p:tav>
                                        <p:tav tm="100000">
                                          <p:val>
                                            <p:strVal val="#ppt_x"/>
                                          </p:val>
                                        </p:tav>
                                      </p:tavLst>
                                    </p:anim>
                                    <p:anim calcmode="lin" valueType="num">
                                      <p:cBhvr additive="base">
                                        <p:cTn id="26" dur="500" fill="hold"/>
                                        <p:tgtEl>
                                          <p:spTgt spid="42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31"/>
                                        </p:tgtEl>
                                        <p:attrNameLst>
                                          <p:attrName>style.visibility</p:attrName>
                                        </p:attrNameLst>
                                      </p:cBhvr>
                                      <p:to>
                                        <p:strVal val="visible"/>
                                      </p:to>
                                    </p:set>
                                    <p:anim calcmode="lin" valueType="num">
                                      <p:cBhvr additive="base">
                                        <p:cTn id="29" dur="500" fill="hold"/>
                                        <p:tgtEl>
                                          <p:spTgt spid="431"/>
                                        </p:tgtEl>
                                        <p:attrNameLst>
                                          <p:attrName>ppt_x</p:attrName>
                                        </p:attrNameLst>
                                      </p:cBhvr>
                                      <p:tavLst>
                                        <p:tav tm="0">
                                          <p:val>
                                            <p:strVal val="0-#ppt_w/2"/>
                                          </p:val>
                                        </p:tav>
                                        <p:tav tm="100000">
                                          <p:val>
                                            <p:strVal val="#ppt_x"/>
                                          </p:val>
                                        </p:tav>
                                      </p:tavLst>
                                    </p:anim>
                                    <p:anim calcmode="lin" valueType="num">
                                      <p:cBhvr additive="base">
                                        <p:cTn id="30" dur="500" fill="hold"/>
                                        <p:tgtEl>
                                          <p:spTgt spid="43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476"/>
                                        </p:tgtEl>
                                        <p:attrNameLst>
                                          <p:attrName>style.visibility</p:attrName>
                                        </p:attrNameLst>
                                      </p:cBhvr>
                                      <p:to>
                                        <p:strVal val="visible"/>
                                      </p:to>
                                    </p:set>
                                    <p:anim calcmode="lin" valueType="num">
                                      <p:cBhvr additive="base">
                                        <p:cTn id="35" dur="500" fill="hold"/>
                                        <p:tgtEl>
                                          <p:spTgt spid="476"/>
                                        </p:tgtEl>
                                        <p:attrNameLst>
                                          <p:attrName>ppt_x</p:attrName>
                                        </p:attrNameLst>
                                      </p:cBhvr>
                                      <p:tavLst>
                                        <p:tav tm="0">
                                          <p:val>
                                            <p:strVal val="0-#ppt_w/2"/>
                                          </p:val>
                                        </p:tav>
                                        <p:tav tm="100000">
                                          <p:val>
                                            <p:strVal val="#ppt_x"/>
                                          </p:val>
                                        </p:tav>
                                      </p:tavLst>
                                    </p:anim>
                                    <p:anim calcmode="lin" valueType="num">
                                      <p:cBhvr additive="base">
                                        <p:cTn id="36" dur="500" fill="hold"/>
                                        <p:tgtEl>
                                          <p:spTgt spid="476"/>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32"/>
                                        </p:tgtEl>
                                        <p:attrNameLst>
                                          <p:attrName>style.visibility</p:attrName>
                                        </p:attrNameLst>
                                      </p:cBhvr>
                                      <p:to>
                                        <p:strVal val="visible"/>
                                      </p:to>
                                    </p:set>
                                    <p:anim calcmode="lin" valueType="num">
                                      <p:cBhvr additive="base">
                                        <p:cTn id="39" dur="500" fill="hold"/>
                                        <p:tgtEl>
                                          <p:spTgt spid="432"/>
                                        </p:tgtEl>
                                        <p:attrNameLst>
                                          <p:attrName>ppt_x</p:attrName>
                                        </p:attrNameLst>
                                      </p:cBhvr>
                                      <p:tavLst>
                                        <p:tav tm="0">
                                          <p:val>
                                            <p:strVal val="0-#ppt_w/2"/>
                                          </p:val>
                                        </p:tav>
                                        <p:tav tm="100000">
                                          <p:val>
                                            <p:strVal val="#ppt_x"/>
                                          </p:val>
                                        </p:tav>
                                      </p:tavLst>
                                    </p:anim>
                                    <p:anim calcmode="lin" valueType="num">
                                      <p:cBhvr additive="base">
                                        <p:cTn id="40" dur="500" fill="hold"/>
                                        <p:tgtEl>
                                          <p:spTgt spid="43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423"/>
                                        </p:tgtEl>
                                        <p:attrNameLst>
                                          <p:attrName>style.visibility</p:attrName>
                                        </p:attrNameLst>
                                      </p:cBhvr>
                                      <p:to>
                                        <p:strVal val="visible"/>
                                      </p:to>
                                    </p:set>
                                    <p:anim calcmode="lin" valueType="num">
                                      <p:cBhvr additive="base">
                                        <p:cTn id="45" dur="500" fill="hold"/>
                                        <p:tgtEl>
                                          <p:spTgt spid="423"/>
                                        </p:tgtEl>
                                        <p:attrNameLst>
                                          <p:attrName>ppt_x</p:attrName>
                                        </p:attrNameLst>
                                      </p:cBhvr>
                                      <p:tavLst>
                                        <p:tav tm="0">
                                          <p:val>
                                            <p:strVal val="0-#ppt_w/2"/>
                                          </p:val>
                                        </p:tav>
                                        <p:tav tm="100000">
                                          <p:val>
                                            <p:strVal val="#ppt_x"/>
                                          </p:val>
                                        </p:tav>
                                      </p:tavLst>
                                    </p:anim>
                                    <p:anim calcmode="lin" valueType="num">
                                      <p:cBhvr additive="base">
                                        <p:cTn id="46" dur="500" fill="hold"/>
                                        <p:tgtEl>
                                          <p:spTgt spid="42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424"/>
                                        </p:tgtEl>
                                        <p:attrNameLst>
                                          <p:attrName>style.visibility</p:attrName>
                                        </p:attrNameLst>
                                      </p:cBhvr>
                                      <p:to>
                                        <p:strVal val="visible"/>
                                      </p:to>
                                    </p:set>
                                    <p:anim calcmode="lin" valueType="num">
                                      <p:cBhvr additive="base">
                                        <p:cTn id="51" dur="500" fill="hold"/>
                                        <p:tgtEl>
                                          <p:spTgt spid="424"/>
                                        </p:tgtEl>
                                        <p:attrNameLst>
                                          <p:attrName>ppt_x</p:attrName>
                                        </p:attrNameLst>
                                      </p:cBhvr>
                                      <p:tavLst>
                                        <p:tav tm="0">
                                          <p:val>
                                            <p:strVal val="0-#ppt_w/2"/>
                                          </p:val>
                                        </p:tav>
                                        <p:tav tm="100000">
                                          <p:val>
                                            <p:strVal val="#ppt_x"/>
                                          </p:val>
                                        </p:tav>
                                      </p:tavLst>
                                    </p:anim>
                                    <p:anim calcmode="lin" valueType="num">
                                      <p:cBhvr additive="base">
                                        <p:cTn id="52" dur="500" fill="hold"/>
                                        <p:tgtEl>
                                          <p:spTgt spid="42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433"/>
                                        </p:tgtEl>
                                        <p:attrNameLst>
                                          <p:attrName>style.visibility</p:attrName>
                                        </p:attrNameLst>
                                      </p:cBhvr>
                                      <p:to>
                                        <p:strVal val="visible"/>
                                      </p:to>
                                    </p:set>
                                    <p:anim calcmode="lin" valueType="num">
                                      <p:cBhvr additive="base">
                                        <p:cTn id="57" dur="500" fill="hold"/>
                                        <p:tgtEl>
                                          <p:spTgt spid="433"/>
                                        </p:tgtEl>
                                        <p:attrNameLst>
                                          <p:attrName>ppt_x</p:attrName>
                                        </p:attrNameLst>
                                      </p:cBhvr>
                                      <p:tavLst>
                                        <p:tav tm="0">
                                          <p:val>
                                            <p:strVal val="0-#ppt_w/2"/>
                                          </p:val>
                                        </p:tav>
                                        <p:tav tm="100000">
                                          <p:val>
                                            <p:strVal val="#ppt_x"/>
                                          </p:val>
                                        </p:tav>
                                      </p:tavLst>
                                    </p:anim>
                                    <p:anim calcmode="lin" valueType="num">
                                      <p:cBhvr additive="base">
                                        <p:cTn id="58" dur="500" fill="hold"/>
                                        <p:tgtEl>
                                          <p:spTgt spid="4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 grpId="0" autoUpdateAnimBg="0"/>
      <p:bldP spid="431" grpId="0" animBg="1" autoUpdateAnimBg="0"/>
      <p:bldP spid="432" grpId="0" animBg="1" autoUpdateAnimBg="0"/>
      <p:bldP spid="48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796794"/>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a:t>
            </a:r>
            <a:r>
              <a:rPr lang="zh-CN" altLang="en-US" sz="2000" b="1">
                <a:latin typeface="Times New Roman" pitchFamily="18" charset="0"/>
                <a:cs typeface="Times New Roman" pitchFamily="18" charset="0"/>
              </a:rPr>
              <a:t>：已知</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为常数，求铰</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两侧截面相对转角</a:t>
            </a:r>
            <a:r>
              <a:rPr lang="el-GR" altLang="zh-CN" sz="2000" b="1" i="1">
                <a:latin typeface="Times New Roman"/>
                <a:cs typeface="Times New Roman"/>
              </a:rPr>
              <a:t>φ</a:t>
            </a:r>
            <a:r>
              <a:rPr lang="en-US" altLang="zh-CN" sz="2000" b="1" i="1" baseline="-25000">
                <a:latin typeface="Times New Roman"/>
                <a:cs typeface="Times New Roman"/>
              </a:rPr>
              <a:t>C</a:t>
            </a:r>
            <a:r>
              <a:rPr lang="zh-CN" altLang="en-US" sz="2000" b="1">
                <a:latin typeface="Times New Roman" pitchFamily="18" charset="0"/>
                <a:cs typeface="Times New Roman" pitchFamily="18" charset="0"/>
              </a:rPr>
              <a:t> </a:t>
            </a:r>
            <a:endParaRPr lang="en-US" altLang="zh-CN" sz="2000" b="1">
              <a:latin typeface="Times New Roman" pitchFamily="18" charset="0"/>
              <a:cs typeface="Times New Roman" pitchFamily="18" charset="0"/>
            </a:endParaRPr>
          </a:p>
        </p:txBody>
      </p:sp>
      <p:sp>
        <p:nvSpPr>
          <p:cNvPr id="243" name="Text Box 6"/>
          <p:cNvSpPr txBox="1">
            <a:spLocks noChangeArrowheads="1"/>
          </p:cNvSpPr>
          <p:nvPr/>
        </p:nvSpPr>
        <p:spPr bwMode="auto">
          <a:xfrm>
            <a:off x="4214810" y="4643446"/>
            <a:ext cx="4400576"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pSp>
        <p:nvGrpSpPr>
          <p:cNvPr id="244" name="Group 7"/>
          <p:cNvGrpSpPr>
            <a:grpSpLocks/>
          </p:cNvGrpSpPr>
          <p:nvPr/>
        </p:nvGrpSpPr>
        <p:grpSpPr bwMode="auto">
          <a:xfrm>
            <a:off x="342901" y="2295532"/>
            <a:ext cx="3543301" cy="2133600"/>
            <a:chOff x="168" y="1104"/>
            <a:chExt cx="2232" cy="1344"/>
          </a:xfrm>
        </p:grpSpPr>
        <p:graphicFrame>
          <p:nvGraphicFramePr>
            <p:cNvPr id="245" name="Object 8"/>
            <p:cNvGraphicFramePr>
              <a:graphicFrameLocks noChangeAspect="1"/>
            </p:cNvGraphicFramePr>
            <p:nvPr/>
          </p:nvGraphicFramePr>
          <p:xfrm>
            <a:off x="912" y="1824"/>
            <a:ext cx="158" cy="171"/>
          </p:xfrm>
          <a:graphic>
            <a:graphicData uri="http://schemas.openxmlformats.org/presentationml/2006/ole">
              <mc:AlternateContent xmlns:mc="http://schemas.openxmlformats.org/markup-compatibility/2006">
                <mc:Choice xmlns:v="urn:schemas-microsoft-com:vml" Requires="v">
                  <p:oleObj spid="_x0000_s522284" name="公式" r:id="rId4" imgW="152280" imgH="164880" progId="Equation.3">
                    <p:embed/>
                  </p:oleObj>
                </mc:Choice>
                <mc:Fallback>
                  <p:oleObj name="公式" r:id="rId4" imgW="152280" imgH="16488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 y="1824"/>
                          <a:ext cx="158"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6" name="Line 9"/>
            <p:cNvSpPr>
              <a:spLocks noChangeShapeType="1"/>
            </p:cNvSpPr>
            <p:nvPr/>
          </p:nvSpPr>
          <p:spPr bwMode="auto">
            <a:xfrm>
              <a:off x="864" y="1152"/>
              <a:ext cx="120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47" name="Group 10"/>
            <p:cNvGrpSpPr>
              <a:grpSpLocks/>
            </p:cNvGrpSpPr>
            <p:nvPr/>
          </p:nvGrpSpPr>
          <p:grpSpPr bwMode="auto">
            <a:xfrm>
              <a:off x="576" y="1872"/>
              <a:ext cx="384" cy="384"/>
              <a:chOff x="528" y="1872"/>
              <a:chExt cx="384" cy="384"/>
            </a:xfrm>
          </p:grpSpPr>
          <p:sp>
            <p:nvSpPr>
              <p:cNvPr id="291" name="Line 15"/>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2" name="Line 16"/>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3" name="Line 17"/>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4" name="Line 18"/>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5" name="Line 19"/>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6" name="Line 20"/>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7" name="Line 21"/>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8" name="Line 22"/>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7" name="Oval 11"/>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8" name="Oval 12"/>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9" name="Line 13"/>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0" name="Line 14"/>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9" name="Oval 23"/>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48" name="Line 24"/>
            <p:cNvSpPr>
              <a:spLocks noChangeShapeType="1"/>
            </p:cNvSpPr>
            <p:nvPr/>
          </p:nvSpPr>
          <p:spPr bwMode="auto">
            <a:xfrm>
              <a:off x="816" y="225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9" name="Line 25"/>
            <p:cNvSpPr>
              <a:spLocks noChangeShapeType="1"/>
            </p:cNvSpPr>
            <p:nvPr/>
          </p:nvSpPr>
          <p:spPr bwMode="auto">
            <a:xfrm>
              <a:off x="2064" y="225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0" name="Rectangle 26"/>
            <p:cNvSpPr>
              <a:spLocks noChangeArrowheads="1"/>
            </p:cNvSpPr>
            <p:nvPr/>
          </p:nvSpPr>
          <p:spPr bwMode="auto">
            <a:xfrm>
              <a:off x="1104" y="2142"/>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251" name="Rectangle 27"/>
            <p:cNvSpPr>
              <a:spLocks noChangeArrowheads="1"/>
            </p:cNvSpPr>
            <p:nvPr/>
          </p:nvSpPr>
          <p:spPr bwMode="auto">
            <a:xfrm>
              <a:off x="395" y="1392"/>
              <a:ext cx="197"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q</a:t>
              </a:r>
              <a:endPar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252" name="Line 28"/>
            <p:cNvSpPr>
              <a:spLocks noChangeShapeType="1"/>
            </p:cNvSpPr>
            <p:nvPr/>
          </p:nvSpPr>
          <p:spPr bwMode="auto">
            <a:xfrm flipV="1">
              <a:off x="864"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3" name="Line 29"/>
            <p:cNvSpPr>
              <a:spLocks noChangeShapeType="1"/>
            </p:cNvSpPr>
            <p:nvPr/>
          </p:nvSpPr>
          <p:spPr bwMode="auto">
            <a:xfrm flipV="1">
              <a:off x="2064"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4" name="Line 30"/>
            <p:cNvSpPr>
              <a:spLocks noChangeShapeType="1"/>
            </p:cNvSpPr>
            <p:nvPr/>
          </p:nvSpPr>
          <p:spPr bwMode="auto">
            <a:xfrm>
              <a:off x="816" y="2352"/>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55" name="Group 31"/>
            <p:cNvGrpSpPr>
              <a:grpSpLocks/>
            </p:cNvGrpSpPr>
            <p:nvPr/>
          </p:nvGrpSpPr>
          <p:grpSpPr bwMode="auto">
            <a:xfrm rot="-5400000">
              <a:off x="370" y="1396"/>
              <a:ext cx="748" cy="240"/>
              <a:chOff x="735" y="1626"/>
              <a:chExt cx="748" cy="240"/>
            </a:xfrm>
          </p:grpSpPr>
          <p:sp>
            <p:nvSpPr>
              <p:cNvPr id="279" name="Line 32"/>
              <p:cNvSpPr>
                <a:spLocks noChangeShapeType="1"/>
              </p:cNvSpPr>
              <p:nvPr/>
            </p:nvSpPr>
            <p:spPr bwMode="auto">
              <a:xfrm>
                <a:off x="747"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0" name="Line 33"/>
              <p:cNvSpPr>
                <a:spLocks noChangeShapeType="1"/>
              </p:cNvSpPr>
              <p:nvPr/>
            </p:nvSpPr>
            <p:spPr bwMode="auto">
              <a:xfrm>
                <a:off x="891"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1" name="Line 34"/>
              <p:cNvSpPr>
                <a:spLocks noChangeShapeType="1"/>
              </p:cNvSpPr>
              <p:nvPr/>
            </p:nvSpPr>
            <p:spPr bwMode="auto">
              <a:xfrm>
                <a:off x="1035"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2" name="Line 35"/>
              <p:cNvSpPr>
                <a:spLocks noChangeShapeType="1"/>
              </p:cNvSpPr>
              <p:nvPr/>
            </p:nvSpPr>
            <p:spPr bwMode="auto">
              <a:xfrm>
                <a:off x="1179"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3" name="Line 36"/>
              <p:cNvSpPr>
                <a:spLocks noChangeShapeType="1"/>
              </p:cNvSpPr>
              <p:nvPr/>
            </p:nvSpPr>
            <p:spPr bwMode="auto">
              <a:xfrm>
                <a:off x="1326"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4" name="Line 37"/>
              <p:cNvSpPr>
                <a:spLocks noChangeShapeType="1"/>
              </p:cNvSpPr>
              <p:nvPr/>
            </p:nvSpPr>
            <p:spPr bwMode="auto">
              <a:xfrm>
                <a:off x="1467" y="1626"/>
                <a:ext cx="0" cy="240"/>
              </a:xfrm>
              <a:prstGeom prst="line">
                <a:avLst/>
              </a:prstGeom>
              <a:noFill/>
              <a:ln w="28575">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6" name="Line 39"/>
              <p:cNvSpPr>
                <a:spLocks noChangeShapeType="1"/>
              </p:cNvSpPr>
              <p:nvPr/>
            </p:nvSpPr>
            <p:spPr bwMode="auto">
              <a:xfrm>
                <a:off x="735" y="1626"/>
                <a:ext cx="748"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56" name="Object 40"/>
            <p:cNvGraphicFramePr>
              <a:graphicFrameLocks noChangeAspect="1"/>
            </p:cNvGraphicFramePr>
            <p:nvPr/>
          </p:nvGraphicFramePr>
          <p:xfrm>
            <a:off x="1842" y="1833"/>
            <a:ext cx="158" cy="171"/>
          </p:xfrm>
          <a:graphic>
            <a:graphicData uri="http://schemas.openxmlformats.org/presentationml/2006/ole">
              <mc:AlternateContent xmlns:mc="http://schemas.openxmlformats.org/markup-compatibility/2006">
                <mc:Choice xmlns:v="urn:schemas-microsoft-com:vml" Requires="v">
                  <p:oleObj spid="_x0000_s522285" name="公式" r:id="rId6" imgW="152280" imgH="164880" progId="Equation.3">
                    <p:embed/>
                  </p:oleObj>
                </mc:Choice>
                <mc:Fallback>
                  <p:oleObj name="公式" r:id="rId6" imgW="152280" imgH="164880" progId="Equation.3">
                    <p:embed/>
                    <p:pic>
                      <p:nvPicPr>
                        <p:cNvPr id="0" name="Object 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2" y="1833"/>
                          <a:ext cx="158"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 name="Line 41"/>
            <p:cNvSpPr>
              <a:spLocks noChangeShapeType="1"/>
            </p:cNvSpPr>
            <p:nvPr/>
          </p:nvSpPr>
          <p:spPr bwMode="auto">
            <a:xfrm>
              <a:off x="366" y="1152"/>
              <a:ext cx="0" cy="768"/>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8" name="Line 42"/>
            <p:cNvSpPr>
              <a:spLocks noChangeShapeType="1"/>
            </p:cNvSpPr>
            <p:nvPr/>
          </p:nvSpPr>
          <p:spPr bwMode="auto">
            <a:xfrm>
              <a:off x="318" y="115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9" name="Line 43"/>
            <p:cNvSpPr>
              <a:spLocks noChangeShapeType="1"/>
            </p:cNvSpPr>
            <p:nvPr/>
          </p:nvSpPr>
          <p:spPr bwMode="auto">
            <a:xfrm>
              <a:off x="318" y="192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0" name="Rectangle 44"/>
            <p:cNvSpPr>
              <a:spLocks noChangeArrowheads="1"/>
            </p:cNvSpPr>
            <p:nvPr/>
          </p:nvSpPr>
          <p:spPr bwMode="auto">
            <a:xfrm>
              <a:off x="168" y="1419"/>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p>
          </p:txBody>
        </p:sp>
        <p:sp>
          <p:nvSpPr>
            <p:cNvPr id="261" name="Oval 45"/>
            <p:cNvSpPr>
              <a:spLocks noChangeArrowheads="1"/>
            </p:cNvSpPr>
            <p:nvPr/>
          </p:nvSpPr>
          <p:spPr bwMode="auto">
            <a:xfrm>
              <a:off x="1392" y="110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62" name="Group 46"/>
            <p:cNvGrpSpPr>
              <a:grpSpLocks/>
            </p:cNvGrpSpPr>
            <p:nvPr/>
          </p:nvGrpSpPr>
          <p:grpSpPr bwMode="auto">
            <a:xfrm rot="-5463325">
              <a:off x="2016" y="1824"/>
              <a:ext cx="384" cy="384"/>
              <a:chOff x="528" y="1872"/>
              <a:chExt cx="384" cy="384"/>
            </a:xfrm>
          </p:grpSpPr>
          <p:sp>
            <p:nvSpPr>
              <p:cNvPr id="270" name="Line 51"/>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1" name="Line 52"/>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2" name="Line 53"/>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3" name="Line 54"/>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4" name="Line 55"/>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5" name="Line 56"/>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6" name="Line 57"/>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7" name="Line 58"/>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6" name="Oval 47"/>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7" name="Oval 48"/>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8" name="Line 49"/>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9" name="Line 50"/>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8" name="Oval 59"/>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63" name="Object 60"/>
            <p:cNvGraphicFramePr>
              <a:graphicFrameLocks noChangeAspect="1"/>
            </p:cNvGraphicFramePr>
            <p:nvPr/>
          </p:nvGraphicFramePr>
          <p:xfrm>
            <a:off x="1369" y="1235"/>
            <a:ext cx="158" cy="184"/>
          </p:xfrm>
          <a:graphic>
            <a:graphicData uri="http://schemas.openxmlformats.org/presentationml/2006/ole">
              <mc:AlternateContent xmlns:mc="http://schemas.openxmlformats.org/markup-compatibility/2006">
                <mc:Choice xmlns:v="urn:schemas-microsoft-com:vml" Requires="v">
                  <p:oleObj spid="_x0000_s522286" name="公式" r:id="rId8" imgW="152280" imgH="177480" progId="Equation.3">
                    <p:embed/>
                  </p:oleObj>
                </mc:Choice>
                <mc:Fallback>
                  <p:oleObj name="公式" r:id="rId8" imgW="152280" imgH="177480" progId="Equation.3">
                    <p:embed/>
                    <p:pic>
                      <p:nvPicPr>
                        <p:cNvPr id="0" name="Object 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9" y="1235"/>
                          <a:ext cx="158"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4" name="Line 61"/>
            <p:cNvSpPr>
              <a:spLocks noChangeShapeType="1"/>
            </p:cNvSpPr>
            <p:nvPr/>
          </p:nvSpPr>
          <p:spPr bwMode="auto">
            <a:xfrm>
              <a:off x="1488" y="2304"/>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5" name="Rectangle 62"/>
            <p:cNvSpPr>
              <a:spLocks noChangeArrowheads="1"/>
            </p:cNvSpPr>
            <p:nvPr/>
          </p:nvSpPr>
          <p:spPr bwMode="auto">
            <a:xfrm>
              <a:off x="1646" y="2139"/>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pSp>
      <p:grpSp>
        <p:nvGrpSpPr>
          <p:cNvPr id="300" name="Group 63"/>
          <p:cNvGrpSpPr>
            <a:grpSpLocks/>
          </p:cNvGrpSpPr>
          <p:nvPr/>
        </p:nvGrpSpPr>
        <p:grpSpPr bwMode="auto">
          <a:xfrm>
            <a:off x="714377" y="4832689"/>
            <a:ext cx="3171827" cy="1828800"/>
            <a:chOff x="402" y="2688"/>
            <a:chExt cx="1998" cy="1152"/>
          </a:xfrm>
        </p:grpSpPr>
        <p:sp>
          <p:nvSpPr>
            <p:cNvPr id="301" name="Line 64"/>
            <p:cNvSpPr>
              <a:spLocks noChangeShapeType="1"/>
            </p:cNvSpPr>
            <p:nvPr/>
          </p:nvSpPr>
          <p:spPr bwMode="auto">
            <a:xfrm>
              <a:off x="864" y="2736"/>
              <a:ext cx="120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02" name="Group 65"/>
            <p:cNvGrpSpPr>
              <a:grpSpLocks/>
            </p:cNvGrpSpPr>
            <p:nvPr/>
          </p:nvGrpSpPr>
          <p:grpSpPr bwMode="auto">
            <a:xfrm>
              <a:off x="576" y="3456"/>
              <a:ext cx="384" cy="384"/>
              <a:chOff x="528" y="1872"/>
              <a:chExt cx="384" cy="384"/>
            </a:xfrm>
          </p:grpSpPr>
          <p:sp>
            <p:nvSpPr>
              <p:cNvPr id="332" name="Line 68"/>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3" name="Line 69"/>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4" name="Line 70"/>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Line 71"/>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6" name="Line 72"/>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73"/>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Line 74"/>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75"/>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76"/>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Line 77"/>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2" name="Oval 78"/>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0" name="Oval 66"/>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1" name="Oval 67"/>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03" name="Rectangle 79"/>
            <p:cNvSpPr>
              <a:spLocks noChangeArrowheads="1"/>
            </p:cNvSpPr>
            <p:nvPr/>
          </p:nvSpPr>
          <p:spPr bwMode="auto">
            <a:xfrm>
              <a:off x="402" y="2967"/>
              <a:ext cx="197"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q</a:t>
              </a:r>
              <a:endPar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04" name="Line 80"/>
            <p:cNvSpPr>
              <a:spLocks noChangeShapeType="1"/>
            </p:cNvSpPr>
            <p:nvPr/>
          </p:nvSpPr>
          <p:spPr bwMode="auto">
            <a:xfrm flipV="1">
              <a:off x="864" y="2736"/>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5" name="Line 81"/>
            <p:cNvSpPr>
              <a:spLocks noChangeShapeType="1"/>
            </p:cNvSpPr>
            <p:nvPr/>
          </p:nvSpPr>
          <p:spPr bwMode="auto">
            <a:xfrm flipV="1">
              <a:off x="2064" y="2736"/>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06" name="Group 82"/>
            <p:cNvGrpSpPr>
              <a:grpSpLocks/>
            </p:cNvGrpSpPr>
            <p:nvPr/>
          </p:nvGrpSpPr>
          <p:grpSpPr bwMode="auto">
            <a:xfrm rot="-5400000">
              <a:off x="380" y="2980"/>
              <a:ext cx="734" cy="246"/>
              <a:chOff x="750" y="1615"/>
              <a:chExt cx="734" cy="246"/>
            </a:xfrm>
          </p:grpSpPr>
          <p:sp>
            <p:nvSpPr>
              <p:cNvPr id="322" name="Line 83"/>
              <p:cNvSpPr>
                <a:spLocks noChangeShapeType="1"/>
              </p:cNvSpPr>
              <p:nvPr/>
            </p:nvSpPr>
            <p:spPr bwMode="auto">
              <a:xfrm>
                <a:off x="750"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3" name="Line 84"/>
              <p:cNvSpPr>
                <a:spLocks noChangeShapeType="1"/>
              </p:cNvSpPr>
              <p:nvPr/>
            </p:nvSpPr>
            <p:spPr bwMode="auto">
              <a:xfrm>
                <a:off x="894"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4" name="Line 85"/>
              <p:cNvSpPr>
                <a:spLocks noChangeShapeType="1"/>
              </p:cNvSpPr>
              <p:nvPr/>
            </p:nvSpPr>
            <p:spPr bwMode="auto">
              <a:xfrm>
                <a:off x="1038"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Line 86"/>
              <p:cNvSpPr>
                <a:spLocks noChangeShapeType="1"/>
              </p:cNvSpPr>
              <p:nvPr/>
            </p:nvSpPr>
            <p:spPr bwMode="auto">
              <a:xfrm>
                <a:off x="1182"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6" name="Line 87"/>
              <p:cNvSpPr>
                <a:spLocks noChangeShapeType="1"/>
              </p:cNvSpPr>
              <p:nvPr/>
            </p:nvSpPr>
            <p:spPr bwMode="auto">
              <a:xfrm>
                <a:off x="1326"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7" name="Line 88"/>
              <p:cNvSpPr>
                <a:spLocks noChangeShapeType="1"/>
              </p:cNvSpPr>
              <p:nvPr/>
            </p:nvSpPr>
            <p:spPr bwMode="auto">
              <a:xfrm>
                <a:off x="1469" y="1621"/>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9" name="Line 90"/>
              <p:cNvSpPr>
                <a:spLocks noChangeShapeType="1"/>
              </p:cNvSpPr>
              <p:nvPr/>
            </p:nvSpPr>
            <p:spPr bwMode="auto">
              <a:xfrm>
                <a:off x="758" y="1615"/>
                <a:ext cx="726"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07" name="Oval 91"/>
            <p:cNvSpPr>
              <a:spLocks noChangeArrowheads="1"/>
            </p:cNvSpPr>
            <p:nvPr/>
          </p:nvSpPr>
          <p:spPr bwMode="auto">
            <a:xfrm>
              <a:off x="1392"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08" name="Group 92"/>
            <p:cNvGrpSpPr>
              <a:grpSpLocks/>
            </p:cNvGrpSpPr>
            <p:nvPr/>
          </p:nvGrpSpPr>
          <p:grpSpPr bwMode="auto">
            <a:xfrm rot="-5463325">
              <a:off x="2016" y="3408"/>
              <a:ext cx="384" cy="384"/>
              <a:chOff x="528" y="1872"/>
              <a:chExt cx="384" cy="384"/>
            </a:xfrm>
          </p:grpSpPr>
          <p:sp>
            <p:nvSpPr>
              <p:cNvPr id="311" name="Line 95"/>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2" name="Line 96"/>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3" name="Line 97"/>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4" name="Line 98"/>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5" name="Line 99"/>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6" name="Line 100"/>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7" name="Line 101"/>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102"/>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9" name="Line 103"/>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104"/>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1" name="Oval 105"/>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9" name="Oval 93"/>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0" name="Oval 94"/>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348" name="Group 111"/>
          <p:cNvGrpSpPr>
            <a:grpSpLocks/>
          </p:cNvGrpSpPr>
          <p:nvPr/>
        </p:nvGrpSpPr>
        <p:grpSpPr bwMode="auto">
          <a:xfrm>
            <a:off x="1447800" y="4604089"/>
            <a:ext cx="2286000" cy="1476375"/>
            <a:chOff x="864" y="2544"/>
            <a:chExt cx="1440" cy="930"/>
          </a:xfrm>
        </p:grpSpPr>
        <p:sp>
          <p:nvSpPr>
            <p:cNvPr id="349" name="Oval 112"/>
            <p:cNvSpPr>
              <a:spLocks noChangeArrowheads="1"/>
            </p:cNvSpPr>
            <p:nvPr/>
          </p:nvSpPr>
          <p:spPr bwMode="auto">
            <a:xfrm>
              <a:off x="1344" y="3072"/>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350" name="Line 113"/>
            <p:cNvSpPr>
              <a:spLocks noChangeShapeType="1"/>
            </p:cNvSpPr>
            <p:nvPr/>
          </p:nvSpPr>
          <p:spPr bwMode="auto">
            <a:xfrm flipV="1">
              <a:off x="2064" y="2736"/>
              <a:ext cx="240" cy="72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1" name="Line 114"/>
            <p:cNvSpPr>
              <a:spLocks noChangeShapeType="1"/>
            </p:cNvSpPr>
            <p:nvPr/>
          </p:nvSpPr>
          <p:spPr bwMode="auto">
            <a:xfrm flipH="1">
              <a:off x="2064" y="2736"/>
              <a:ext cx="24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2" name="Line 115"/>
            <p:cNvSpPr>
              <a:spLocks noChangeShapeType="1"/>
            </p:cNvSpPr>
            <p:nvPr/>
          </p:nvSpPr>
          <p:spPr bwMode="auto">
            <a:xfrm flipV="1">
              <a:off x="2064" y="2544"/>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3" name="Line 116"/>
            <p:cNvSpPr>
              <a:spLocks noChangeShapeType="1"/>
            </p:cNvSpPr>
            <p:nvPr/>
          </p:nvSpPr>
          <p:spPr bwMode="auto">
            <a:xfrm flipH="1">
              <a:off x="864" y="2544"/>
              <a:ext cx="1200"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4" name="Line 117"/>
            <p:cNvSpPr>
              <a:spLocks noChangeShapeType="1"/>
            </p:cNvSpPr>
            <p:nvPr/>
          </p:nvSpPr>
          <p:spPr bwMode="auto">
            <a:xfrm flipH="1">
              <a:off x="878" y="2724"/>
              <a:ext cx="192" cy="720"/>
            </a:xfrm>
            <a:prstGeom prst="line">
              <a:avLst/>
            </a:prstGeom>
            <a:noFill/>
            <a:ln w="12700">
              <a:solidFill>
                <a:srgbClr val="FF0000"/>
              </a:solidFill>
              <a:prstDash val="lgDash"/>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55" name="Object 118"/>
            <p:cNvGraphicFramePr>
              <a:graphicFrameLocks noChangeAspect="1"/>
            </p:cNvGraphicFramePr>
            <p:nvPr/>
          </p:nvGraphicFramePr>
          <p:xfrm>
            <a:off x="866" y="2718"/>
            <a:ext cx="282" cy="756"/>
          </p:xfrm>
          <a:graphic>
            <a:graphicData uri="http://schemas.openxmlformats.org/presentationml/2006/ole">
              <mc:AlternateContent xmlns:mc="http://schemas.openxmlformats.org/markup-compatibility/2006">
                <mc:Choice xmlns:v="urn:schemas-microsoft-com:vml" Requires="v">
                  <p:oleObj spid="_x0000_s522287" name="BMP 图象" r:id="rId10" imgW="447856" imgH="1200318" progId="PBrush">
                    <p:embed/>
                  </p:oleObj>
                </mc:Choice>
                <mc:Fallback>
                  <p:oleObj name="BMP 图象" r:id="rId10" imgW="447856" imgH="1200318" progId="PBrush">
                    <p:embed/>
                    <p:pic>
                      <p:nvPicPr>
                        <p:cNvPr id="0" name="Object 118"/>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6" y="2718"/>
                          <a:ext cx="282"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56" name="Group 119"/>
          <p:cNvGrpSpPr>
            <a:grpSpLocks/>
          </p:cNvGrpSpPr>
          <p:nvPr/>
        </p:nvGrpSpPr>
        <p:grpSpPr bwMode="auto">
          <a:xfrm>
            <a:off x="4800600" y="2438391"/>
            <a:ext cx="2895600" cy="1981200"/>
            <a:chOff x="2688" y="1200"/>
            <a:chExt cx="1824" cy="1248"/>
          </a:xfrm>
        </p:grpSpPr>
        <p:graphicFrame>
          <p:nvGraphicFramePr>
            <p:cNvPr id="357" name="Object 120"/>
            <p:cNvGraphicFramePr>
              <a:graphicFrameLocks noChangeAspect="1"/>
            </p:cNvGraphicFramePr>
            <p:nvPr/>
          </p:nvGraphicFramePr>
          <p:xfrm>
            <a:off x="3330" y="1536"/>
            <a:ext cx="114" cy="212"/>
          </p:xfrm>
          <a:graphic>
            <a:graphicData uri="http://schemas.openxmlformats.org/presentationml/2006/ole">
              <mc:AlternateContent xmlns:mc="http://schemas.openxmlformats.org/markup-compatibility/2006">
                <mc:Choice xmlns:v="urn:schemas-microsoft-com:vml" Requires="v">
                  <p:oleObj spid="_x0000_s522288" name="Equation" r:id="rId12" imgW="88560" imgH="164880" progId="Equation.DSMT4">
                    <p:embed/>
                  </p:oleObj>
                </mc:Choice>
                <mc:Fallback>
                  <p:oleObj name="Equation" r:id="rId12" imgW="88560" imgH="164880" progId="Equation.DSMT4">
                    <p:embed/>
                    <p:pic>
                      <p:nvPicPr>
                        <p:cNvPr id="0" name="Object 1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30" y="1536"/>
                          <a:ext cx="11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 name="Object 121"/>
            <p:cNvGraphicFramePr>
              <a:graphicFrameLocks noChangeAspect="1"/>
            </p:cNvGraphicFramePr>
            <p:nvPr/>
          </p:nvGraphicFramePr>
          <p:xfrm>
            <a:off x="3714" y="1536"/>
            <a:ext cx="114" cy="212"/>
          </p:xfrm>
          <a:graphic>
            <a:graphicData uri="http://schemas.openxmlformats.org/presentationml/2006/ole">
              <mc:AlternateContent xmlns:mc="http://schemas.openxmlformats.org/markup-compatibility/2006">
                <mc:Choice xmlns:v="urn:schemas-microsoft-com:vml" Requires="v">
                  <p:oleObj spid="_x0000_s522289" name="Equation" r:id="rId14" imgW="88560" imgH="164880" progId="Equation.DSMT4">
                    <p:embed/>
                  </p:oleObj>
                </mc:Choice>
                <mc:Fallback>
                  <p:oleObj name="Equation" r:id="rId14" imgW="88560" imgH="164880" progId="Equation.DSMT4">
                    <p:embed/>
                    <p:pic>
                      <p:nvPicPr>
                        <p:cNvPr id="0" name="Object 1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14" y="1536"/>
                          <a:ext cx="11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 name="Line 122"/>
            <p:cNvSpPr>
              <a:spLocks noChangeShapeType="1"/>
            </p:cNvSpPr>
            <p:nvPr/>
          </p:nvSpPr>
          <p:spPr bwMode="auto">
            <a:xfrm>
              <a:off x="2976" y="1344"/>
              <a:ext cx="120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60" name="Group 123"/>
            <p:cNvGrpSpPr>
              <a:grpSpLocks/>
            </p:cNvGrpSpPr>
            <p:nvPr/>
          </p:nvGrpSpPr>
          <p:grpSpPr bwMode="auto">
            <a:xfrm>
              <a:off x="2688" y="2064"/>
              <a:ext cx="384" cy="384"/>
              <a:chOff x="528" y="1872"/>
              <a:chExt cx="384" cy="384"/>
            </a:xfrm>
          </p:grpSpPr>
          <p:sp>
            <p:nvSpPr>
              <p:cNvPr id="384" name="Line 128"/>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5" name="Line 129"/>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Line 130"/>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131"/>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132"/>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9" name="Line 133"/>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0" name="Line 134"/>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135"/>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Oval 124"/>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1" name="Oval 125"/>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2" name="Line 126"/>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3" name="Line 127"/>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Oval 136"/>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61" name="Line 137"/>
            <p:cNvSpPr>
              <a:spLocks noChangeShapeType="1"/>
            </p:cNvSpPr>
            <p:nvPr/>
          </p:nvSpPr>
          <p:spPr bwMode="auto">
            <a:xfrm flipV="1">
              <a:off x="2976" y="1344"/>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2" name="Line 138"/>
            <p:cNvSpPr>
              <a:spLocks noChangeShapeType="1"/>
            </p:cNvSpPr>
            <p:nvPr/>
          </p:nvSpPr>
          <p:spPr bwMode="auto">
            <a:xfrm flipV="1">
              <a:off x="4176" y="1344"/>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64" name="Group 140"/>
            <p:cNvGrpSpPr>
              <a:grpSpLocks/>
            </p:cNvGrpSpPr>
            <p:nvPr/>
          </p:nvGrpSpPr>
          <p:grpSpPr bwMode="auto">
            <a:xfrm rot="-5463325">
              <a:off x="4128" y="2016"/>
              <a:ext cx="384" cy="384"/>
              <a:chOff x="528" y="1872"/>
              <a:chExt cx="384" cy="384"/>
            </a:xfrm>
          </p:grpSpPr>
          <p:sp>
            <p:nvSpPr>
              <p:cNvPr id="371" name="Line 145"/>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2" name="Line 146"/>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147"/>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148"/>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149"/>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6" name="Line 150"/>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151"/>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152"/>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7" name="Oval 141"/>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Oval 142"/>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143"/>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144"/>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Oval 153"/>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65" name="Freeform 154"/>
            <p:cNvSpPr>
              <a:spLocks/>
            </p:cNvSpPr>
            <p:nvPr/>
          </p:nvSpPr>
          <p:spPr bwMode="auto">
            <a:xfrm rot="5400000">
              <a:off x="3233" y="1279"/>
              <a:ext cx="336" cy="177"/>
            </a:xfrm>
            <a:custGeom>
              <a:avLst/>
              <a:gdLst>
                <a:gd name="T0" fmla="*/ 0 w 480"/>
                <a:gd name="T1" fmla="*/ 142 h 240"/>
                <a:gd name="T2" fmla="*/ 67 w 480"/>
                <a:gd name="T3" fmla="*/ 35 h 240"/>
                <a:gd name="T4" fmla="*/ 168 w 480"/>
                <a:gd name="T5" fmla="*/ 0 h 240"/>
                <a:gd name="T6" fmla="*/ 269 w 480"/>
                <a:gd name="T7" fmla="*/ 35 h 240"/>
                <a:gd name="T8" fmla="*/ 336 w 480"/>
                <a:gd name="T9" fmla="*/ 177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Freeform 155"/>
            <p:cNvSpPr>
              <a:spLocks/>
            </p:cNvSpPr>
            <p:nvPr/>
          </p:nvSpPr>
          <p:spPr bwMode="auto">
            <a:xfrm rot="16200000" flipH="1">
              <a:off x="3552" y="1296"/>
              <a:ext cx="336" cy="144"/>
            </a:xfrm>
            <a:custGeom>
              <a:avLst/>
              <a:gdLst>
                <a:gd name="T0" fmla="*/ 0 w 480"/>
                <a:gd name="T1" fmla="*/ 115 h 240"/>
                <a:gd name="T2" fmla="*/ 67 w 480"/>
                <a:gd name="T3" fmla="*/ 29 h 240"/>
                <a:gd name="T4" fmla="*/ 168 w 480"/>
                <a:gd name="T5" fmla="*/ 0 h 240"/>
                <a:gd name="T6" fmla="*/ 269 w 480"/>
                <a:gd name="T7" fmla="*/ 29 h 240"/>
                <a:gd name="T8" fmla="*/ 336 w 480"/>
                <a:gd name="T9" fmla="*/ 144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3" name="Oval 139"/>
            <p:cNvSpPr>
              <a:spLocks noChangeArrowheads="1"/>
            </p:cNvSpPr>
            <p:nvPr/>
          </p:nvSpPr>
          <p:spPr bwMode="auto">
            <a:xfrm>
              <a:off x="3504" y="12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98" name="Group 161"/>
          <p:cNvGrpSpPr>
            <a:grpSpLocks/>
          </p:cNvGrpSpPr>
          <p:nvPr/>
        </p:nvGrpSpPr>
        <p:grpSpPr bwMode="auto">
          <a:xfrm>
            <a:off x="4800600" y="2285992"/>
            <a:ext cx="2819400" cy="1604963"/>
            <a:chOff x="2688" y="1104"/>
            <a:chExt cx="1776" cy="1011"/>
          </a:xfrm>
        </p:grpSpPr>
        <p:sp>
          <p:nvSpPr>
            <p:cNvPr id="399" name="Line 162"/>
            <p:cNvSpPr>
              <a:spLocks noChangeShapeType="1"/>
            </p:cNvSpPr>
            <p:nvPr/>
          </p:nvSpPr>
          <p:spPr bwMode="auto">
            <a:xfrm flipH="1">
              <a:off x="2976" y="1104"/>
              <a:ext cx="120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0" name="Line 163"/>
            <p:cNvSpPr>
              <a:spLocks noChangeShapeType="1"/>
            </p:cNvSpPr>
            <p:nvPr/>
          </p:nvSpPr>
          <p:spPr bwMode="auto">
            <a:xfrm>
              <a:off x="4176" y="1104"/>
              <a:ext cx="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1" name="Line 164"/>
            <p:cNvSpPr>
              <a:spLocks noChangeShapeType="1"/>
            </p:cNvSpPr>
            <p:nvPr/>
          </p:nvSpPr>
          <p:spPr bwMode="auto">
            <a:xfrm>
              <a:off x="2688" y="1344"/>
              <a:ext cx="28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2" name="Line 165"/>
            <p:cNvSpPr>
              <a:spLocks noChangeShapeType="1"/>
            </p:cNvSpPr>
            <p:nvPr/>
          </p:nvSpPr>
          <p:spPr bwMode="auto">
            <a:xfrm>
              <a:off x="4185" y="1344"/>
              <a:ext cx="27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3" name="Line 166"/>
            <p:cNvSpPr>
              <a:spLocks noChangeShapeType="1"/>
            </p:cNvSpPr>
            <p:nvPr/>
          </p:nvSpPr>
          <p:spPr bwMode="auto">
            <a:xfrm flipH="1">
              <a:off x="4176" y="1344"/>
              <a:ext cx="288" cy="72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04" name="Object 167"/>
            <p:cNvGraphicFramePr>
              <a:graphicFrameLocks noChangeAspect="1"/>
            </p:cNvGraphicFramePr>
            <p:nvPr/>
          </p:nvGraphicFramePr>
          <p:xfrm>
            <a:off x="4248" y="1112"/>
            <a:ext cx="112" cy="212"/>
          </p:xfrm>
          <a:graphic>
            <a:graphicData uri="http://schemas.openxmlformats.org/presentationml/2006/ole">
              <mc:AlternateContent xmlns:mc="http://schemas.openxmlformats.org/markup-compatibility/2006">
                <mc:Choice xmlns:v="urn:schemas-microsoft-com:vml" Requires="v">
                  <p:oleObj spid="_x0000_s522290" name="公式" r:id="rId16" imgW="88560" imgH="164880" progId="Equation.3">
                    <p:embed/>
                  </p:oleObj>
                </mc:Choice>
                <mc:Fallback>
                  <p:oleObj name="公式" r:id="rId16" imgW="88560" imgH="164880" progId="Equation.3">
                    <p:embed/>
                    <p:pic>
                      <p:nvPicPr>
                        <p:cNvPr id="0" name="Object 16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8" y="1112"/>
                          <a:ext cx="112"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05" name="Group 168"/>
            <p:cNvGrpSpPr>
              <a:grpSpLocks/>
            </p:cNvGrpSpPr>
            <p:nvPr/>
          </p:nvGrpSpPr>
          <p:grpSpPr bwMode="auto">
            <a:xfrm>
              <a:off x="3456" y="1824"/>
              <a:ext cx="291" cy="291"/>
              <a:chOff x="4800" y="1728"/>
              <a:chExt cx="291" cy="291"/>
            </a:xfrm>
          </p:grpSpPr>
          <p:graphicFrame>
            <p:nvGraphicFramePr>
              <p:cNvPr id="408" name="Object 169"/>
              <p:cNvGraphicFramePr>
                <a:graphicFrameLocks noChangeAspect="1"/>
              </p:cNvGraphicFramePr>
              <p:nvPr/>
            </p:nvGraphicFramePr>
            <p:xfrm>
              <a:off x="4816" y="1731"/>
              <a:ext cx="275" cy="288"/>
            </p:xfrm>
            <a:graphic>
              <a:graphicData uri="http://schemas.openxmlformats.org/presentationml/2006/ole">
                <mc:AlternateContent xmlns:mc="http://schemas.openxmlformats.org/markup-compatibility/2006">
                  <mc:Choice xmlns:v="urn:schemas-microsoft-com:vml" Requires="v">
                    <p:oleObj spid="_x0000_s522291" name="公式" r:id="rId18" imgW="228600" imgH="241200" progId="Equation.3">
                      <p:embed/>
                    </p:oleObj>
                  </mc:Choice>
                  <mc:Fallback>
                    <p:oleObj name="公式" r:id="rId18" imgW="228600" imgH="241200" progId="Equation.3">
                      <p:embed/>
                      <p:pic>
                        <p:nvPicPr>
                          <p:cNvPr id="0" name="Object 16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16" y="1731"/>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 name="Oval 170"/>
              <p:cNvSpPr>
                <a:spLocks noChangeArrowheads="1"/>
              </p:cNvSpPr>
              <p:nvPr/>
            </p:nvSpPr>
            <p:spPr bwMode="auto">
              <a:xfrm>
                <a:off x="4800" y="172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406" name="Line 171"/>
            <p:cNvSpPr>
              <a:spLocks noChangeShapeType="1"/>
            </p:cNvSpPr>
            <p:nvPr/>
          </p:nvSpPr>
          <p:spPr bwMode="auto">
            <a:xfrm>
              <a:off x="2976" y="1104"/>
              <a:ext cx="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172"/>
            <p:cNvSpPr>
              <a:spLocks noChangeShapeType="1"/>
            </p:cNvSpPr>
            <p:nvPr/>
          </p:nvSpPr>
          <p:spPr bwMode="auto">
            <a:xfrm>
              <a:off x="2688" y="1344"/>
              <a:ext cx="288" cy="72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410" name="Group 173"/>
          <p:cNvGrpSpPr>
            <a:grpSpLocks/>
          </p:cNvGrpSpPr>
          <p:nvPr/>
        </p:nvGrpSpPr>
        <p:grpSpPr bwMode="auto">
          <a:xfrm>
            <a:off x="4863068" y="5047582"/>
            <a:ext cx="3413124" cy="1381814"/>
            <a:chOff x="2942" y="2995"/>
            <a:chExt cx="2580" cy="910"/>
          </a:xfrm>
        </p:grpSpPr>
        <p:graphicFrame>
          <p:nvGraphicFramePr>
            <p:cNvPr id="411" name="Object 174"/>
            <p:cNvGraphicFramePr>
              <a:graphicFrameLocks noChangeAspect="1"/>
            </p:cNvGraphicFramePr>
            <p:nvPr/>
          </p:nvGraphicFramePr>
          <p:xfrm>
            <a:off x="2942" y="2995"/>
            <a:ext cx="2580" cy="910"/>
          </p:xfrm>
          <a:graphic>
            <a:graphicData uri="http://schemas.openxmlformats.org/presentationml/2006/ole">
              <mc:AlternateContent xmlns:mc="http://schemas.openxmlformats.org/markup-compatibility/2006">
                <mc:Choice xmlns:v="urn:schemas-microsoft-com:vml" Requires="v">
                  <p:oleObj spid="_x0000_s522292" name="Equation" r:id="rId20" imgW="2082600" imgH="838080" progId="Equation.DSMT4">
                    <p:embed/>
                  </p:oleObj>
                </mc:Choice>
                <mc:Fallback>
                  <p:oleObj name="Equation" r:id="rId20" imgW="2082600" imgH="838080" progId="Equation.DSMT4">
                    <p:embed/>
                    <p:pic>
                      <p:nvPicPr>
                        <p:cNvPr id="0" name="Object 17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42" y="2995"/>
                          <a:ext cx="2580" cy="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 name="Freeform 175"/>
            <p:cNvSpPr>
              <a:spLocks noChangeAspect="1"/>
            </p:cNvSpPr>
            <p:nvPr/>
          </p:nvSpPr>
          <p:spPr bwMode="auto">
            <a:xfrm rot="5400000">
              <a:off x="3955" y="3649"/>
              <a:ext cx="225" cy="75"/>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28575">
              <a:solidFill>
                <a:srgbClr val="000000"/>
              </a:solidFill>
              <a:round/>
              <a:headEnd type="stealth" w="sm"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3" name="Freeform 176"/>
            <p:cNvSpPr>
              <a:spLocks noChangeAspect="1"/>
            </p:cNvSpPr>
            <p:nvPr/>
          </p:nvSpPr>
          <p:spPr bwMode="auto">
            <a:xfrm rot="16200000" flipH="1">
              <a:off x="4140" y="3655"/>
              <a:ext cx="225" cy="75"/>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28575">
              <a:solidFill>
                <a:srgbClr val="000000"/>
              </a:solidFill>
              <a:round/>
              <a:headEnd type="stealth" w="sm"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414" name="Group 177"/>
          <p:cNvGrpSpPr>
            <a:grpSpLocks/>
          </p:cNvGrpSpPr>
          <p:nvPr/>
        </p:nvGrpSpPr>
        <p:grpSpPr bwMode="auto">
          <a:xfrm>
            <a:off x="928688" y="4214823"/>
            <a:ext cx="2940051" cy="714375"/>
            <a:chOff x="537" y="2274"/>
            <a:chExt cx="1852" cy="450"/>
          </a:xfrm>
        </p:grpSpPr>
        <p:graphicFrame>
          <p:nvGraphicFramePr>
            <p:cNvPr id="415" name="Object 178"/>
            <p:cNvGraphicFramePr>
              <a:graphicFrameLocks noChangeAspect="1"/>
            </p:cNvGraphicFramePr>
            <p:nvPr/>
          </p:nvGraphicFramePr>
          <p:xfrm>
            <a:off x="2112" y="2274"/>
            <a:ext cx="277" cy="438"/>
          </p:xfrm>
          <a:graphic>
            <a:graphicData uri="http://schemas.openxmlformats.org/presentationml/2006/ole">
              <mc:AlternateContent xmlns:mc="http://schemas.openxmlformats.org/markup-compatibility/2006">
                <mc:Choice xmlns:v="urn:schemas-microsoft-com:vml" Requires="v">
                  <p:oleObj spid="_x0000_s522293" name="Equation" r:id="rId22" imgW="266400" imgH="419040" progId="Equation.DSMT4">
                    <p:embed/>
                  </p:oleObj>
                </mc:Choice>
                <mc:Fallback>
                  <p:oleObj name="Equation" r:id="rId22" imgW="266400" imgH="419040" progId="Equation.DSMT4">
                    <p:embed/>
                    <p:pic>
                      <p:nvPicPr>
                        <p:cNvPr id="0" name="Object 17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12" y="2274"/>
                          <a:ext cx="277" cy="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6" name="Object 179"/>
            <p:cNvGraphicFramePr>
              <a:graphicFrameLocks noChangeAspect="1"/>
            </p:cNvGraphicFramePr>
            <p:nvPr/>
          </p:nvGraphicFramePr>
          <p:xfrm>
            <a:off x="537" y="2291"/>
            <a:ext cx="274" cy="433"/>
          </p:xfrm>
          <a:graphic>
            <a:graphicData uri="http://schemas.openxmlformats.org/presentationml/2006/ole">
              <mc:AlternateContent xmlns:mc="http://schemas.openxmlformats.org/markup-compatibility/2006">
                <mc:Choice xmlns:v="urn:schemas-microsoft-com:vml" Requires="v">
                  <p:oleObj spid="_x0000_s522294" name="Equation" r:id="rId24" imgW="266400" imgH="419040" progId="Equation.DSMT4">
                    <p:embed/>
                  </p:oleObj>
                </mc:Choice>
                <mc:Fallback>
                  <p:oleObj name="Equation" r:id="rId24" imgW="266400" imgH="419040" progId="Equation.DSMT4">
                    <p:embed/>
                    <p:pic>
                      <p:nvPicPr>
                        <p:cNvPr id="0" name="Object 17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37" y="2291"/>
                          <a:ext cx="274"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anim calcmode="lin" valueType="num">
                                      <p:cBhvr additive="base">
                                        <p:cTn id="7" dur="500" fill="hold"/>
                                        <p:tgtEl>
                                          <p:spTgt spid="244"/>
                                        </p:tgtEl>
                                        <p:attrNameLst>
                                          <p:attrName>ppt_x</p:attrName>
                                        </p:attrNameLst>
                                      </p:cBhvr>
                                      <p:tavLst>
                                        <p:tav tm="0">
                                          <p:val>
                                            <p:strVal val="0-#ppt_w/2"/>
                                          </p:val>
                                        </p:tav>
                                        <p:tav tm="100000">
                                          <p:val>
                                            <p:strVal val="#ppt_x"/>
                                          </p:val>
                                        </p:tav>
                                      </p:tavLst>
                                    </p:anim>
                                    <p:anim calcmode="lin" valueType="num">
                                      <p:cBhvr additive="base">
                                        <p:cTn id="8" dur="500" fill="hold"/>
                                        <p:tgtEl>
                                          <p:spTgt spid="2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00"/>
                                        </p:tgtEl>
                                        <p:attrNameLst>
                                          <p:attrName>style.visibility</p:attrName>
                                        </p:attrNameLst>
                                      </p:cBhvr>
                                      <p:to>
                                        <p:strVal val="visible"/>
                                      </p:to>
                                    </p:set>
                                    <p:anim calcmode="lin" valueType="num">
                                      <p:cBhvr additive="base">
                                        <p:cTn id="13" dur="500" fill="hold"/>
                                        <p:tgtEl>
                                          <p:spTgt spid="300"/>
                                        </p:tgtEl>
                                        <p:attrNameLst>
                                          <p:attrName>ppt_x</p:attrName>
                                        </p:attrNameLst>
                                      </p:cBhvr>
                                      <p:tavLst>
                                        <p:tav tm="0">
                                          <p:val>
                                            <p:strVal val="0-#ppt_w/2"/>
                                          </p:val>
                                        </p:tav>
                                        <p:tav tm="100000">
                                          <p:val>
                                            <p:strVal val="#ppt_x"/>
                                          </p:val>
                                        </p:tav>
                                      </p:tavLst>
                                    </p:anim>
                                    <p:anim calcmode="lin" valueType="num">
                                      <p:cBhvr additive="base">
                                        <p:cTn id="14" dur="500" fill="hold"/>
                                        <p:tgtEl>
                                          <p:spTgt spid="30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48"/>
                                        </p:tgtEl>
                                        <p:attrNameLst>
                                          <p:attrName>style.visibility</p:attrName>
                                        </p:attrNameLst>
                                      </p:cBhvr>
                                      <p:to>
                                        <p:strVal val="visible"/>
                                      </p:to>
                                    </p:set>
                                    <p:anim calcmode="lin" valueType="num">
                                      <p:cBhvr additive="base">
                                        <p:cTn id="19" dur="500" fill="hold"/>
                                        <p:tgtEl>
                                          <p:spTgt spid="348"/>
                                        </p:tgtEl>
                                        <p:attrNameLst>
                                          <p:attrName>ppt_x</p:attrName>
                                        </p:attrNameLst>
                                      </p:cBhvr>
                                      <p:tavLst>
                                        <p:tav tm="0">
                                          <p:val>
                                            <p:strVal val="0-#ppt_w/2"/>
                                          </p:val>
                                        </p:tav>
                                        <p:tav tm="100000">
                                          <p:val>
                                            <p:strVal val="#ppt_x"/>
                                          </p:val>
                                        </p:tav>
                                      </p:tavLst>
                                    </p:anim>
                                    <p:anim calcmode="lin" valueType="num">
                                      <p:cBhvr additive="base">
                                        <p:cTn id="20" dur="500" fill="hold"/>
                                        <p:tgtEl>
                                          <p:spTgt spid="3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14"/>
                                        </p:tgtEl>
                                        <p:attrNameLst>
                                          <p:attrName>style.visibility</p:attrName>
                                        </p:attrNameLst>
                                      </p:cBhvr>
                                      <p:to>
                                        <p:strVal val="visible"/>
                                      </p:to>
                                    </p:set>
                                    <p:anim calcmode="lin" valueType="num">
                                      <p:cBhvr additive="base">
                                        <p:cTn id="25" dur="500" fill="hold"/>
                                        <p:tgtEl>
                                          <p:spTgt spid="414"/>
                                        </p:tgtEl>
                                        <p:attrNameLst>
                                          <p:attrName>ppt_x</p:attrName>
                                        </p:attrNameLst>
                                      </p:cBhvr>
                                      <p:tavLst>
                                        <p:tav tm="0">
                                          <p:val>
                                            <p:strVal val="0-#ppt_w/2"/>
                                          </p:val>
                                        </p:tav>
                                        <p:tav tm="100000">
                                          <p:val>
                                            <p:strVal val="#ppt_x"/>
                                          </p:val>
                                        </p:tav>
                                      </p:tavLst>
                                    </p:anim>
                                    <p:anim calcmode="lin" valueType="num">
                                      <p:cBhvr additive="base">
                                        <p:cTn id="26" dur="500" fill="hold"/>
                                        <p:tgtEl>
                                          <p:spTgt spid="41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56"/>
                                        </p:tgtEl>
                                        <p:attrNameLst>
                                          <p:attrName>style.visibility</p:attrName>
                                        </p:attrNameLst>
                                      </p:cBhvr>
                                      <p:to>
                                        <p:strVal val="visible"/>
                                      </p:to>
                                    </p:set>
                                    <p:anim calcmode="lin" valueType="num">
                                      <p:cBhvr additive="base">
                                        <p:cTn id="31" dur="500" fill="hold"/>
                                        <p:tgtEl>
                                          <p:spTgt spid="356"/>
                                        </p:tgtEl>
                                        <p:attrNameLst>
                                          <p:attrName>ppt_x</p:attrName>
                                        </p:attrNameLst>
                                      </p:cBhvr>
                                      <p:tavLst>
                                        <p:tav tm="0">
                                          <p:val>
                                            <p:strVal val="0-#ppt_w/2"/>
                                          </p:val>
                                        </p:tav>
                                        <p:tav tm="100000">
                                          <p:val>
                                            <p:strVal val="#ppt_x"/>
                                          </p:val>
                                        </p:tav>
                                      </p:tavLst>
                                    </p:anim>
                                    <p:anim calcmode="lin" valueType="num">
                                      <p:cBhvr additive="base">
                                        <p:cTn id="32" dur="500" fill="hold"/>
                                        <p:tgtEl>
                                          <p:spTgt spid="35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98"/>
                                        </p:tgtEl>
                                        <p:attrNameLst>
                                          <p:attrName>style.visibility</p:attrName>
                                        </p:attrNameLst>
                                      </p:cBhvr>
                                      <p:to>
                                        <p:strVal val="visible"/>
                                      </p:to>
                                    </p:set>
                                    <p:anim calcmode="lin" valueType="num">
                                      <p:cBhvr additive="base">
                                        <p:cTn id="37" dur="500" fill="hold"/>
                                        <p:tgtEl>
                                          <p:spTgt spid="398"/>
                                        </p:tgtEl>
                                        <p:attrNameLst>
                                          <p:attrName>ppt_x</p:attrName>
                                        </p:attrNameLst>
                                      </p:cBhvr>
                                      <p:tavLst>
                                        <p:tav tm="0">
                                          <p:val>
                                            <p:strVal val="0-#ppt_w/2"/>
                                          </p:val>
                                        </p:tav>
                                        <p:tav tm="100000">
                                          <p:val>
                                            <p:strVal val="#ppt_x"/>
                                          </p:val>
                                        </p:tav>
                                      </p:tavLst>
                                    </p:anim>
                                    <p:anim calcmode="lin" valueType="num">
                                      <p:cBhvr additive="base">
                                        <p:cTn id="38" dur="500" fill="hold"/>
                                        <p:tgtEl>
                                          <p:spTgt spid="39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3"/>
                                        </p:tgtEl>
                                        <p:attrNameLst>
                                          <p:attrName>style.visibility</p:attrName>
                                        </p:attrNameLst>
                                      </p:cBhvr>
                                      <p:to>
                                        <p:strVal val="visible"/>
                                      </p:to>
                                    </p:set>
                                    <p:anim calcmode="lin" valueType="num">
                                      <p:cBhvr additive="base">
                                        <p:cTn id="43" dur="500" fill="hold"/>
                                        <p:tgtEl>
                                          <p:spTgt spid="243"/>
                                        </p:tgtEl>
                                        <p:attrNameLst>
                                          <p:attrName>ppt_x</p:attrName>
                                        </p:attrNameLst>
                                      </p:cBhvr>
                                      <p:tavLst>
                                        <p:tav tm="0">
                                          <p:val>
                                            <p:strVal val="0-#ppt_w/2"/>
                                          </p:val>
                                        </p:tav>
                                        <p:tav tm="100000">
                                          <p:val>
                                            <p:strVal val="#ppt_x"/>
                                          </p:val>
                                        </p:tav>
                                      </p:tavLst>
                                    </p:anim>
                                    <p:anim calcmode="lin" valueType="num">
                                      <p:cBhvr additive="base">
                                        <p:cTn id="44" dur="500" fill="hold"/>
                                        <p:tgtEl>
                                          <p:spTgt spid="24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10"/>
                                        </p:tgtEl>
                                        <p:attrNameLst>
                                          <p:attrName>style.visibility</p:attrName>
                                        </p:attrNameLst>
                                      </p:cBhvr>
                                      <p:to>
                                        <p:strVal val="visible"/>
                                      </p:to>
                                    </p:set>
                                    <p:anim calcmode="lin" valueType="num">
                                      <p:cBhvr additive="base">
                                        <p:cTn id="49" dur="500" fill="hold"/>
                                        <p:tgtEl>
                                          <p:spTgt spid="410"/>
                                        </p:tgtEl>
                                        <p:attrNameLst>
                                          <p:attrName>ppt_x</p:attrName>
                                        </p:attrNameLst>
                                      </p:cBhvr>
                                      <p:tavLst>
                                        <p:tav tm="0">
                                          <p:val>
                                            <p:strVal val="0-#ppt_w/2"/>
                                          </p:val>
                                        </p:tav>
                                        <p:tav tm="100000">
                                          <p:val>
                                            <p:strVal val="#ppt_x"/>
                                          </p:val>
                                        </p:tav>
                                      </p:tavLst>
                                    </p:anim>
                                    <p:anim calcmode="lin" valueType="num">
                                      <p:cBhvr additive="base">
                                        <p:cTn id="50" dur="500" fill="hold"/>
                                        <p:tgtEl>
                                          <p:spTgt spid="4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5</a:t>
            </a:r>
            <a:r>
              <a:rPr lang="zh-CN" altLang="en-US" sz="2000" b="1">
                <a:latin typeface="Times New Roman" pitchFamily="18" charset="0"/>
                <a:cs typeface="Times New Roman" pitchFamily="18" charset="0"/>
              </a:rPr>
              <a:t>：已知 </a:t>
            </a:r>
            <a:r>
              <a:rPr lang="en-US" altLang="zh-CN" sz="2000" b="1" i="1">
                <a:latin typeface="Times New Roman" pitchFamily="18" charset="0"/>
                <a:cs typeface="Times New Roman" pitchFamily="18" charset="0"/>
              </a:rPr>
              <a:t>EI</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点竖向位移 </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a:t>
            </a:r>
            <a:r>
              <a:rPr lang="zh-CN" altLang="en-US" sz="2000" b="1">
                <a:latin typeface="Times New Roman" pitchFamily="18" charset="0"/>
                <a:cs typeface="Times New Roman" pitchFamily="18" charset="0"/>
              </a:rPr>
              <a:t>。</a:t>
            </a:r>
            <a:endParaRPr lang="en-US" altLang="zh-CN" sz="2000" b="1" baseline="-25000">
              <a:latin typeface="Times New Roman" pitchFamily="18" charset="0"/>
              <a:cs typeface="Times New Roman" pitchFamily="18" charset="0"/>
            </a:endParaRPr>
          </a:p>
        </p:txBody>
      </p:sp>
      <p:grpSp>
        <p:nvGrpSpPr>
          <p:cNvPr id="446" name="Group 7"/>
          <p:cNvGrpSpPr>
            <a:grpSpLocks/>
          </p:cNvGrpSpPr>
          <p:nvPr/>
        </p:nvGrpSpPr>
        <p:grpSpPr bwMode="auto">
          <a:xfrm>
            <a:off x="642909" y="2100196"/>
            <a:ext cx="2368550" cy="2824163"/>
            <a:chOff x="285" y="1101"/>
            <a:chExt cx="1492" cy="1779"/>
          </a:xfrm>
        </p:grpSpPr>
        <p:graphicFrame>
          <p:nvGraphicFramePr>
            <p:cNvPr id="447" name="Object 8"/>
            <p:cNvGraphicFramePr>
              <a:graphicFrameLocks noChangeAspect="1"/>
            </p:cNvGraphicFramePr>
            <p:nvPr/>
          </p:nvGraphicFramePr>
          <p:xfrm>
            <a:off x="1344" y="1488"/>
            <a:ext cx="159" cy="174"/>
          </p:xfrm>
          <a:graphic>
            <a:graphicData uri="http://schemas.openxmlformats.org/presentationml/2006/ole">
              <mc:AlternateContent xmlns:mc="http://schemas.openxmlformats.org/markup-compatibility/2006">
                <mc:Choice xmlns:v="urn:schemas-microsoft-com:vml" Requires="v">
                  <p:oleObj spid="_x0000_s524318" name="公式" r:id="rId4" imgW="152280" imgH="164880" progId="Equation.3">
                    <p:embed/>
                  </p:oleObj>
                </mc:Choice>
                <mc:Fallback>
                  <p:oleObj name="公式" r:id="rId4" imgW="152280" imgH="16488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4" y="1488"/>
                          <a:ext cx="159" cy="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48" name="Group 9"/>
            <p:cNvGrpSpPr>
              <a:grpSpLocks/>
            </p:cNvGrpSpPr>
            <p:nvPr/>
          </p:nvGrpSpPr>
          <p:grpSpPr bwMode="auto">
            <a:xfrm>
              <a:off x="285" y="1101"/>
              <a:ext cx="1492" cy="1779"/>
              <a:chOff x="285" y="1101"/>
              <a:chExt cx="1492" cy="1779"/>
            </a:xfrm>
          </p:grpSpPr>
          <p:sp>
            <p:nvSpPr>
              <p:cNvPr id="453" name="Line 14"/>
              <p:cNvSpPr>
                <a:spLocks noChangeShapeType="1"/>
              </p:cNvSpPr>
              <p:nvPr/>
            </p:nvSpPr>
            <p:spPr bwMode="auto">
              <a:xfrm>
                <a:off x="432" y="2496"/>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4" name="Line 15"/>
              <p:cNvSpPr>
                <a:spLocks noChangeShapeType="1"/>
              </p:cNvSpPr>
              <p:nvPr/>
            </p:nvSpPr>
            <p:spPr bwMode="auto">
              <a:xfrm>
                <a:off x="432" y="259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5" name="Line 16"/>
              <p:cNvSpPr>
                <a:spLocks noChangeShapeType="1"/>
              </p:cNvSpPr>
              <p:nvPr/>
            </p:nvSpPr>
            <p:spPr bwMode="auto">
              <a:xfrm>
                <a:off x="480" y="264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6" name="Line 17"/>
              <p:cNvSpPr>
                <a:spLocks noChangeShapeType="1"/>
              </p:cNvSpPr>
              <p:nvPr/>
            </p:nvSpPr>
            <p:spPr bwMode="auto">
              <a:xfrm>
                <a:off x="528" y="268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7" name="Line 18"/>
              <p:cNvSpPr>
                <a:spLocks noChangeShapeType="1"/>
              </p:cNvSpPr>
              <p:nvPr/>
            </p:nvSpPr>
            <p:spPr bwMode="auto">
              <a:xfrm>
                <a:off x="576" y="273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8" name="Line 19"/>
              <p:cNvSpPr>
                <a:spLocks noChangeShapeType="1"/>
              </p:cNvSpPr>
              <p:nvPr/>
            </p:nvSpPr>
            <p:spPr bwMode="auto">
              <a:xfrm>
                <a:off x="624" y="278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9" name="Line 20"/>
              <p:cNvSpPr>
                <a:spLocks noChangeShapeType="1"/>
              </p:cNvSpPr>
              <p:nvPr/>
            </p:nvSpPr>
            <p:spPr bwMode="auto">
              <a:xfrm>
                <a:off x="672" y="28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0" name="Line 21"/>
              <p:cNvSpPr>
                <a:spLocks noChangeShapeType="1"/>
              </p:cNvSpPr>
              <p:nvPr/>
            </p:nvSpPr>
            <p:spPr bwMode="auto">
              <a:xfrm>
                <a:off x="720" y="28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1" name="Line 22"/>
              <p:cNvSpPr>
                <a:spLocks noChangeShapeType="1"/>
              </p:cNvSpPr>
              <p:nvPr/>
            </p:nvSpPr>
            <p:spPr bwMode="auto">
              <a:xfrm flipV="1">
                <a:off x="720" y="1392"/>
                <a:ext cx="672"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4" name="Line 25"/>
              <p:cNvSpPr>
                <a:spLocks noChangeShapeType="1"/>
              </p:cNvSpPr>
              <p:nvPr/>
            </p:nvSpPr>
            <p:spPr bwMode="auto">
              <a:xfrm rot="-5349760">
                <a:off x="1535" y="1391"/>
                <a:ext cx="288"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5" name="Line 26"/>
              <p:cNvSpPr>
                <a:spLocks noChangeShapeType="1"/>
              </p:cNvSpPr>
              <p:nvPr/>
            </p:nvSpPr>
            <p:spPr bwMode="auto">
              <a:xfrm rot="16250240" flipV="1">
                <a:off x="1678" y="149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6" name="Line 27"/>
              <p:cNvSpPr>
                <a:spLocks noChangeShapeType="1"/>
              </p:cNvSpPr>
              <p:nvPr/>
            </p:nvSpPr>
            <p:spPr bwMode="auto">
              <a:xfrm rot="16250240" flipV="1">
                <a:off x="1678" y="1442"/>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7" name="Line 28"/>
              <p:cNvSpPr>
                <a:spLocks noChangeShapeType="1"/>
              </p:cNvSpPr>
              <p:nvPr/>
            </p:nvSpPr>
            <p:spPr bwMode="auto">
              <a:xfrm rot="16250240" flipV="1">
                <a:off x="1679" y="139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8" name="Line 29"/>
              <p:cNvSpPr>
                <a:spLocks noChangeShapeType="1"/>
              </p:cNvSpPr>
              <p:nvPr/>
            </p:nvSpPr>
            <p:spPr bwMode="auto">
              <a:xfrm rot="16250240" flipV="1">
                <a:off x="1680" y="134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9" name="Line 30"/>
              <p:cNvSpPr>
                <a:spLocks noChangeShapeType="1"/>
              </p:cNvSpPr>
              <p:nvPr/>
            </p:nvSpPr>
            <p:spPr bwMode="auto">
              <a:xfrm rot="16250240" flipV="1">
                <a:off x="1662" y="1297"/>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0" name="Line 31"/>
              <p:cNvSpPr>
                <a:spLocks noChangeShapeType="1"/>
              </p:cNvSpPr>
              <p:nvPr/>
            </p:nvSpPr>
            <p:spPr bwMode="auto">
              <a:xfrm rot="16250240" flipV="1">
                <a:off x="1681" y="125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4" name="Line 35"/>
              <p:cNvSpPr>
                <a:spLocks noChangeShapeType="1"/>
              </p:cNvSpPr>
              <p:nvPr/>
            </p:nvSpPr>
            <p:spPr bwMode="auto">
              <a:xfrm>
                <a:off x="1488" y="245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5" name="Rectangle 36"/>
              <p:cNvSpPr>
                <a:spLocks noChangeArrowheads="1"/>
              </p:cNvSpPr>
              <p:nvPr/>
            </p:nvSpPr>
            <p:spPr bwMode="auto">
              <a:xfrm>
                <a:off x="510" y="1101"/>
                <a:ext cx="197"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q</a:t>
                </a:r>
                <a:endPar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476" name="Line 37"/>
              <p:cNvSpPr>
                <a:spLocks noChangeShapeType="1"/>
              </p:cNvSpPr>
              <p:nvPr/>
            </p:nvSpPr>
            <p:spPr bwMode="auto">
              <a:xfrm flipV="1">
                <a:off x="720" y="1920"/>
                <a:ext cx="0" cy="57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7" name="Line 38"/>
              <p:cNvSpPr>
                <a:spLocks noChangeShapeType="1"/>
              </p:cNvSpPr>
              <p:nvPr/>
            </p:nvSpPr>
            <p:spPr bwMode="auto">
              <a:xfrm>
                <a:off x="720" y="2546"/>
                <a:ext cx="76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8" name="Line 39"/>
              <p:cNvSpPr>
                <a:spLocks noChangeShapeType="1"/>
              </p:cNvSpPr>
              <p:nvPr/>
            </p:nvSpPr>
            <p:spPr bwMode="auto">
              <a:xfrm>
                <a:off x="480" y="1392"/>
                <a:ext cx="0" cy="110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9" name="Line 40"/>
              <p:cNvSpPr>
                <a:spLocks noChangeShapeType="1"/>
              </p:cNvSpPr>
              <p:nvPr/>
            </p:nvSpPr>
            <p:spPr bwMode="auto">
              <a:xfrm>
                <a:off x="432" y="249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0" name="Line 41"/>
              <p:cNvSpPr>
                <a:spLocks noChangeShapeType="1"/>
              </p:cNvSpPr>
              <p:nvPr/>
            </p:nvSpPr>
            <p:spPr bwMode="auto">
              <a:xfrm>
                <a:off x="432" y="192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1" name="Rectangle 42"/>
              <p:cNvSpPr>
                <a:spLocks noChangeArrowheads="1"/>
              </p:cNvSpPr>
              <p:nvPr/>
            </p:nvSpPr>
            <p:spPr bwMode="auto">
              <a:xfrm>
                <a:off x="285" y="15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482" name="Line 43"/>
              <p:cNvSpPr>
                <a:spLocks noChangeShapeType="1"/>
              </p:cNvSpPr>
              <p:nvPr/>
            </p:nvSpPr>
            <p:spPr bwMode="auto">
              <a:xfrm>
                <a:off x="432" y="139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3" name="Rectangle 44"/>
              <p:cNvSpPr>
                <a:spLocks noChangeArrowheads="1"/>
              </p:cNvSpPr>
              <p:nvPr/>
            </p:nvSpPr>
            <p:spPr bwMode="auto">
              <a:xfrm>
                <a:off x="285" y="2046"/>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484" name="Rectangle 45"/>
              <p:cNvSpPr>
                <a:spLocks noChangeArrowheads="1"/>
              </p:cNvSpPr>
              <p:nvPr/>
            </p:nvSpPr>
            <p:spPr bwMode="auto">
              <a:xfrm>
                <a:off x="1024" y="2343"/>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pSp>
            <p:nvGrpSpPr>
              <p:cNvPr id="485" name="Group 46"/>
              <p:cNvGrpSpPr>
                <a:grpSpLocks/>
              </p:cNvGrpSpPr>
              <p:nvPr/>
            </p:nvGrpSpPr>
            <p:grpSpPr bwMode="auto">
              <a:xfrm>
                <a:off x="720" y="1200"/>
                <a:ext cx="720" cy="144"/>
                <a:chOff x="720" y="1104"/>
                <a:chExt cx="720" cy="240"/>
              </a:xfrm>
            </p:grpSpPr>
            <p:sp>
              <p:nvSpPr>
                <p:cNvPr id="486" name="Line 47"/>
                <p:cNvSpPr>
                  <a:spLocks noChangeShapeType="1"/>
                </p:cNvSpPr>
                <p:nvPr/>
              </p:nvSpPr>
              <p:spPr bwMode="auto">
                <a:xfrm>
                  <a:off x="720"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7" name="Line 48"/>
                <p:cNvSpPr>
                  <a:spLocks noChangeShapeType="1"/>
                </p:cNvSpPr>
                <p:nvPr/>
              </p:nvSpPr>
              <p:spPr bwMode="auto">
                <a:xfrm>
                  <a:off x="864"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8" name="Line 49"/>
                <p:cNvSpPr>
                  <a:spLocks noChangeShapeType="1"/>
                </p:cNvSpPr>
                <p:nvPr/>
              </p:nvSpPr>
              <p:spPr bwMode="auto">
                <a:xfrm>
                  <a:off x="1008"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89" name="Line 50"/>
                <p:cNvSpPr>
                  <a:spLocks noChangeShapeType="1"/>
                </p:cNvSpPr>
                <p:nvPr/>
              </p:nvSpPr>
              <p:spPr bwMode="auto">
                <a:xfrm>
                  <a:off x="1152"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0" name="Line 51"/>
                <p:cNvSpPr>
                  <a:spLocks noChangeShapeType="1"/>
                </p:cNvSpPr>
                <p:nvPr/>
              </p:nvSpPr>
              <p:spPr bwMode="auto">
                <a:xfrm>
                  <a:off x="1296"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1" name="Line 52"/>
                <p:cNvSpPr>
                  <a:spLocks noChangeShapeType="1"/>
                </p:cNvSpPr>
                <p:nvPr/>
              </p:nvSpPr>
              <p:spPr bwMode="auto">
                <a:xfrm>
                  <a:off x="1440"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2" name="Line 53"/>
                <p:cNvSpPr>
                  <a:spLocks noChangeShapeType="1"/>
                </p:cNvSpPr>
                <p:nvPr/>
              </p:nvSpPr>
              <p:spPr bwMode="auto">
                <a:xfrm>
                  <a:off x="720" y="1104"/>
                  <a:ext cx="720"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3" name="Line 54"/>
                <p:cNvSpPr>
                  <a:spLocks noChangeShapeType="1"/>
                </p:cNvSpPr>
                <p:nvPr/>
              </p:nvSpPr>
              <p:spPr bwMode="auto">
                <a:xfrm>
                  <a:off x="720" y="1344"/>
                  <a:ext cx="720" cy="0"/>
                </a:xfrm>
                <a:prstGeom prst="line">
                  <a:avLst/>
                </a:prstGeom>
                <a:noFill/>
                <a:ln w="19050">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449" name="Oval 10"/>
              <p:cNvSpPr>
                <a:spLocks noChangeArrowheads="1"/>
              </p:cNvSpPr>
              <p:nvPr/>
            </p:nvSpPr>
            <p:spPr bwMode="auto">
              <a:xfrm>
                <a:off x="672"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0" name="Oval 11"/>
              <p:cNvSpPr>
                <a:spLocks noChangeArrowheads="1"/>
              </p:cNvSpPr>
              <p:nvPr/>
            </p:nvSpPr>
            <p:spPr bwMode="auto">
              <a:xfrm>
                <a:off x="480"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1" name="Line 12"/>
              <p:cNvSpPr>
                <a:spLocks noChangeShapeType="1"/>
              </p:cNvSpPr>
              <p:nvPr/>
            </p:nvSpPr>
            <p:spPr bwMode="auto">
              <a:xfrm>
                <a:off x="576" y="2544"/>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2" name="Line 13"/>
              <p:cNvSpPr>
                <a:spLocks noChangeShapeType="1"/>
              </p:cNvSpPr>
              <p:nvPr/>
            </p:nvSpPr>
            <p:spPr bwMode="auto">
              <a:xfrm>
                <a:off x="720" y="2592"/>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2" name="Oval 23"/>
              <p:cNvSpPr>
                <a:spLocks noChangeArrowheads="1"/>
              </p:cNvSpPr>
              <p:nvPr/>
            </p:nvSpPr>
            <p:spPr bwMode="auto">
              <a:xfrm rot="-5349760">
                <a:off x="1584" y="134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63" name="Line 24"/>
              <p:cNvSpPr>
                <a:spLocks noChangeShapeType="1"/>
              </p:cNvSpPr>
              <p:nvPr/>
            </p:nvSpPr>
            <p:spPr bwMode="auto">
              <a:xfrm rot="-5349760">
                <a:off x="1536" y="1343"/>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1" name="Oval 32"/>
              <p:cNvSpPr>
                <a:spLocks noChangeArrowheads="1"/>
              </p:cNvSpPr>
              <p:nvPr/>
            </p:nvSpPr>
            <p:spPr bwMode="auto">
              <a:xfrm rot="-5349760">
                <a:off x="1392" y="1341"/>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72" name="Oval 33"/>
              <p:cNvSpPr>
                <a:spLocks noChangeArrowheads="1"/>
              </p:cNvSpPr>
              <p:nvPr/>
            </p:nvSpPr>
            <p:spPr bwMode="auto">
              <a:xfrm>
                <a:off x="672"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sp>
        <p:nvSpPr>
          <p:cNvPr id="494" name="Rectangle 55"/>
          <p:cNvSpPr>
            <a:spLocks noChangeArrowheads="1"/>
          </p:cNvSpPr>
          <p:nvPr/>
        </p:nvSpPr>
        <p:spPr bwMode="auto">
          <a:xfrm>
            <a:off x="3714744" y="2100196"/>
            <a:ext cx="312906" cy="400110"/>
          </a:xfrm>
          <a:prstGeom prst="rect">
            <a:avLst/>
          </a:prstGeom>
          <a:noFill/>
          <a:ln w="9525">
            <a:noFill/>
            <a:miter lim="800000"/>
            <a:headEnd/>
            <a:tailEnd/>
          </a:ln>
        </p:spPr>
        <p:txBody>
          <a:bodyPr wrap="none">
            <a:spAutoFit/>
          </a:bodyPr>
          <a:lstStyle/>
          <a:p>
            <a:pPr algn="l" rtl="0" fontAlgn="base">
              <a:spcBef>
                <a:spcPct val="0"/>
              </a:spcBef>
              <a:spcAft>
                <a:spcPct val="0"/>
              </a:spcAft>
            </a:pPr>
            <a:r>
              <a:rPr kumimoji="1" lang="en-US" altLang="zh-CN" sz="2000" b="1" i="1" kern="1200">
                <a:solidFill>
                  <a:srgbClr val="0033CC"/>
                </a:solidFill>
                <a:latin typeface="Times New Roman" pitchFamily="18" charset="0"/>
                <a:ea typeface="宋体" charset="-122"/>
                <a:cs typeface="+mn-cs"/>
              </a:rPr>
              <a:t>q</a:t>
            </a:r>
            <a:endParaRPr kumimoji="1" lang="en-US" altLang="zh-CN" sz="2000" b="1" kern="1200">
              <a:solidFill>
                <a:srgbClr val="0033CC"/>
              </a:solidFill>
              <a:latin typeface="Times New Roman" pitchFamily="18" charset="0"/>
              <a:ea typeface="宋体" charset="-122"/>
              <a:cs typeface="+mn-cs"/>
            </a:endParaRPr>
          </a:p>
        </p:txBody>
      </p:sp>
      <p:grpSp>
        <p:nvGrpSpPr>
          <p:cNvPr id="495" name="Group 56"/>
          <p:cNvGrpSpPr>
            <a:grpSpLocks/>
          </p:cNvGrpSpPr>
          <p:nvPr/>
        </p:nvGrpSpPr>
        <p:grpSpPr bwMode="auto">
          <a:xfrm>
            <a:off x="3162273" y="2257358"/>
            <a:ext cx="2590800" cy="2667000"/>
            <a:chOff x="1776" y="1200"/>
            <a:chExt cx="1632" cy="1680"/>
          </a:xfrm>
        </p:grpSpPr>
        <p:sp>
          <p:nvSpPr>
            <p:cNvPr id="496" name="Line 57"/>
            <p:cNvSpPr>
              <a:spLocks noChangeShapeType="1"/>
            </p:cNvSpPr>
            <p:nvPr/>
          </p:nvSpPr>
          <p:spPr bwMode="auto">
            <a:xfrm>
              <a:off x="2016" y="1920"/>
              <a:ext cx="336" cy="62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7" name="Line 58"/>
            <p:cNvSpPr>
              <a:spLocks noChangeShapeType="1"/>
            </p:cNvSpPr>
            <p:nvPr/>
          </p:nvSpPr>
          <p:spPr bwMode="auto">
            <a:xfrm>
              <a:off x="2016" y="1920"/>
              <a:ext cx="336"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98" name="Line 59"/>
            <p:cNvSpPr>
              <a:spLocks noChangeShapeType="1"/>
            </p:cNvSpPr>
            <p:nvPr/>
          </p:nvSpPr>
          <p:spPr bwMode="auto">
            <a:xfrm flipH="1" flipV="1">
              <a:off x="2112" y="1680"/>
              <a:ext cx="24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99" name="Object 60"/>
            <p:cNvGraphicFramePr>
              <a:graphicFrameLocks noChangeAspect="1"/>
            </p:cNvGraphicFramePr>
            <p:nvPr/>
          </p:nvGraphicFramePr>
          <p:xfrm>
            <a:off x="1809" y="2089"/>
            <a:ext cx="210" cy="407"/>
          </p:xfrm>
          <a:graphic>
            <a:graphicData uri="http://schemas.openxmlformats.org/presentationml/2006/ole">
              <mc:AlternateContent xmlns:mc="http://schemas.openxmlformats.org/markup-compatibility/2006">
                <mc:Choice xmlns:v="urn:schemas-microsoft-com:vml" Requires="v">
                  <p:oleObj spid="_x0000_s524319" name="Equation" r:id="rId6" imgW="203040" imgH="393480" progId="Equation.DSMT4">
                    <p:embed/>
                  </p:oleObj>
                </mc:Choice>
                <mc:Fallback>
                  <p:oleObj name="Equation" r:id="rId6" imgW="203040" imgH="393480" progId="Equation.DSMT4">
                    <p:embed/>
                    <p:pic>
                      <p:nvPicPr>
                        <p:cNvPr id="0"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9" y="2089"/>
                          <a:ext cx="210" cy="4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0" name="Oval 61"/>
            <p:cNvSpPr>
              <a:spLocks noChangeArrowheads="1"/>
            </p:cNvSpPr>
            <p:nvPr/>
          </p:nvSpPr>
          <p:spPr bwMode="auto">
            <a:xfrm>
              <a:off x="2688" y="2112"/>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505" name="Line 66"/>
            <p:cNvSpPr>
              <a:spLocks noChangeShapeType="1"/>
            </p:cNvSpPr>
            <p:nvPr/>
          </p:nvSpPr>
          <p:spPr bwMode="auto">
            <a:xfrm>
              <a:off x="2063" y="2496"/>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6" name="Line 67"/>
            <p:cNvSpPr>
              <a:spLocks noChangeShapeType="1"/>
            </p:cNvSpPr>
            <p:nvPr/>
          </p:nvSpPr>
          <p:spPr bwMode="auto">
            <a:xfrm>
              <a:off x="2063" y="259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7" name="Line 68"/>
            <p:cNvSpPr>
              <a:spLocks noChangeShapeType="1"/>
            </p:cNvSpPr>
            <p:nvPr/>
          </p:nvSpPr>
          <p:spPr bwMode="auto">
            <a:xfrm>
              <a:off x="2111" y="264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8" name="Line 69"/>
            <p:cNvSpPr>
              <a:spLocks noChangeShapeType="1"/>
            </p:cNvSpPr>
            <p:nvPr/>
          </p:nvSpPr>
          <p:spPr bwMode="auto">
            <a:xfrm>
              <a:off x="2159" y="268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9" name="Line 70"/>
            <p:cNvSpPr>
              <a:spLocks noChangeShapeType="1"/>
            </p:cNvSpPr>
            <p:nvPr/>
          </p:nvSpPr>
          <p:spPr bwMode="auto">
            <a:xfrm>
              <a:off x="2207" y="273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0" name="Line 71"/>
            <p:cNvSpPr>
              <a:spLocks noChangeShapeType="1"/>
            </p:cNvSpPr>
            <p:nvPr/>
          </p:nvSpPr>
          <p:spPr bwMode="auto">
            <a:xfrm>
              <a:off x="2255" y="278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1" name="Line 72"/>
            <p:cNvSpPr>
              <a:spLocks noChangeShapeType="1"/>
            </p:cNvSpPr>
            <p:nvPr/>
          </p:nvSpPr>
          <p:spPr bwMode="auto">
            <a:xfrm>
              <a:off x="2303" y="28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2" name="Line 73"/>
            <p:cNvSpPr>
              <a:spLocks noChangeShapeType="1"/>
            </p:cNvSpPr>
            <p:nvPr/>
          </p:nvSpPr>
          <p:spPr bwMode="auto">
            <a:xfrm>
              <a:off x="2351" y="28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3" name="Line 74"/>
            <p:cNvSpPr>
              <a:spLocks noChangeShapeType="1"/>
            </p:cNvSpPr>
            <p:nvPr/>
          </p:nvSpPr>
          <p:spPr bwMode="auto">
            <a:xfrm flipV="1">
              <a:off x="2351" y="1392"/>
              <a:ext cx="672"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6" name="Line 77"/>
            <p:cNvSpPr>
              <a:spLocks noChangeShapeType="1"/>
            </p:cNvSpPr>
            <p:nvPr/>
          </p:nvSpPr>
          <p:spPr bwMode="auto">
            <a:xfrm rot="-5349760">
              <a:off x="3166" y="1391"/>
              <a:ext cx="288"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7" name="Line 78"/>
            <p:cNvSpPr>
              <a:spLocks noChangeShapeType="1"/>
            </p:cNvSpPr>
            <p:nvPr/>
          </p:nvSpPr>
          <p:spPr bwMode="auto">
            <a:xfrm rot="16250240" flipV="1">
              <a:off x="3309" y="149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8" name="Line 79"/>
            <p:cNvSpPr>
              <a:spLocks noChangeShapeType="1"/>
            </p:cNvSpPr>
            <p:nvPr/>
          </p:nvSpPr>
          <p:spPr bwMode="auto">
            <a:xfrm rot="16250240" flipV="1">
              <a:off x="3309" y="1442"/>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9" name="Line 80"/>
            <p:cNvSpPr>
              <a:spLocks noChangeShapeType="1"/>
            </p:cNvSpPr>
            <p:nvPr/>
          </p:nvSpPr>
          <p:spPr bwMode="auto">
            <a:xfrm rot="16250240" flipV="1">
              <a:off x="3310" y="139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0" name="Line 81"/>
            <p:cNvSpPr>
              <a:spLocks noChangeShapeType="1"/>
            </p:cNvSpPr>
            <p:nvPr/>
          </p:nvSpPr>
          <p:spPr bwMode="auto">
            <a:xfrm rot="16250240" flipV="1">
              <a:off x="3311" y="134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1" name="Line 82"/>
            <p:cNvSpPr>
              <a:spLocks noChangeShapeType="1"/>
            </p:cNvSpPr>
            <p:nvPr/>
          </p:nvSpPr>
          <p:spPr bwMode="auto">
            <a:xfrm rot="16250240" flipV="1">
              <a:off x="3293" y="1297"/>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2" name="Line 83"/>
            <p:cNvSpPr>
              <a:spLocks noChangeShapeType="1"/>
            </p:cNvSpPr>
            <p:nvPr/>
          </p:nvSpPr>
          <p:spPr bwMode="auto">
            <a:xfrm rot="16250240" flipV="1">
              <a:off x="3312" y="125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5" name="Line 86"/>
            <p:cNvSpPr>
              <a:spLocks noChangeShapeType="1"/>
            </p:cNvSpPr>
            <p:nvPr/>
          </p:nvSpPr>
          <p:spPr bwMode="auto">
            <a:xfrm flipV="1">
              <a:off x="2351" y="1920"/>
              <a:ext cx="0" cy="57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526" name="Group 87"/>
            <p:cNvGrpSpPr>
              <a:grpSpLocks/>
            </p:cNvGrpSpPr>
            <p:nvPr/>
          </p:nvGrpSpPr>
          <p:grpSpPr bwMode="auto">
            <a:xfrm>
              <a:off x="2351" y="1200"/>
              <a:ext cx="720" cy="144"/>
              <a:chOff x="720" y="1104"/>
              <a:chExt cx="720" cy="240"/>
            </a:xfrm>
          </p:grpSpPr>
          <p:sp>
            <p:nvSpPr>
              <p:cNvPr id="531" name="Line 88"/>
              <p:cNvSpPr>
                <a:spLocks noChangeShapeType="1"/>
              </p:cNvSpPr>
              <p:nvPr/>
            </p:nvSpPr>
            <p:spPr bwMode="auto">
              <a:xfrm>
                <a:off x="720"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2" name="Line 89"/>
              <p:cNvSpPr>
                <a:spLocks noChangeShapeType="1"/>
              </p:cNvSpPr>
              <p:nvPr/>
            </p:nvSpPr>
            <p:spPr bwMode="auto">
              <a:xfrm>
                <a:off x="864"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3" name="Line 90"/>
              <p:cNvSpPr>
                <a:spLocks noChangeShapeType="1"/>
              </p:cNvSpPr>
              <p:nvPr/>
            </p:nvSpPr>
            <p:spPr bwMode="auto">
              <a:xfrm>
                <a:off x="1008"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4" name="Line 91"/>
              <p:cNvSpPr>
                <a:spLocks noChangeShapeType="1"/>
              </p:cNvSpPr>
              <p:nvPr/>
            </p:nvSpPr>
            <p:spPr bwMode="auto">
              <a:xfrm>
                <a:off x="1152"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5" name="Line 92"/>
              <p:cNvSpPr>
                <a:spLocks noChangeShapeType="1"/>
              </p:cNvSpPr>
              <p:nvPr/>
            </p:nvSpPr>
            <p:spPr bwMode="auto">
              <a:xfrm>
                <a:off x="1296"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6" name="Line 93"/>
              <p:cNvSpPr>
                <a:spLocks noChangeShapeType="1"/>
              </p:cNvSpPr>
              <p:nvPr/>
            </p:nvSpPr>
            <p:spPr bwMode="auto">
              <a:xfrm>
                <a:off x="1440" y="1104"/>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7" name="Line 94"/>
              <p:cNvSpPr>
                <a:spLocks noChangeShapeType="1"/>
              </p:cNvSpPr>
              <p:nvPr/>
            </p:nvSpPr>
            <p:spPr bwMode="auto">
              <a:xfrm>
                <a:off x="720" y="1104"/>
                <a:ext cx="720"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38" name="Line 95"/>
              <p:cNvSpPr>
                <a:spLocks noChangeShapeType="1"/>
              </p:cNvSpPr>
              <p:nvPr/>
            </p:nvSpPr>
            <p:spPr bwMode="auto">
              <a:xfrm>
                <a:off x="720" y="1344"/>
                <a:ext cx="720" cy="0"/>
              </a:xfrm>
              <a:prstGeom prst="line">
                <a:avLst/>
              </a:prstGeom>
              <a:noFill/>
              <a:ln w="19050">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527" name="Line 96"/>
            <p:cNvSpPr>
              <a:spLocks noChangeShapeType="1"/>
            </p:cNvSpPr>
            <p:nvPr/>
          </p:nvSpPr>
          <p:spPr bwMode="auto">
            <a:xfrm>
              <a:off x="1776" y="2544"/>
              <a:ext cx="336" cy="0"/>
            </a:xfrm>
            <a:prstGeom prst="line">
              <a:avLst/>
            </a:prstGeom>
            <a:noFill/>
            <a:ln w="38100">
              <a:solidFill>
                <a:srgbClr val="FF0000"/>
              </a:solidFill>
              <a:round/>
              <a:headEnd/>
              <a:tailEnd type="stealth"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8" name="Line 97"/>
            <p:cNvSpPr>
              <a:spLocks noChangeShapeType="1"/>
            </p:cNvSpPr>
            <p:nvPr/>
          </p:nvSpPr>
          <p:spPr bwMode="auto">
            <a:xfrm flipV="1">
              <a:off x="2112" y="1392"/>
              <a:ext cx="912" cy="288"/>
            </a:xfrm>
            <a:prstGeom prst="line">
              <a:avLst/>
            </a:prstGeom>
            <a:noFill/>
            <a:ln w="19050">
              <a:solidFill>
                <a:srgbClr val="FF0000"/>
              </a:solidFill>
              <a:prstDash val="lgDash"/>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529" name="Object 98"/>
            <p:cNvGraphicFramePr>
              <a:graphicFrameLocks noChangeAspect="1"/>
            </p:cNvGraphicFramePr>
            <p:nvPr/>
          </p:nvGraphicFramePr>
          <p:xfrm>
            <a:off x="2111" y="1395"/>
            <a:ext cx="906" cy="360"/>
          </p:xfrm>
          <a:graphic>
            <a:graphicData uri="http://schemas.openxmlformats.org/presentationml/2006/ole">
              <mc:AlternateContent xmlns:mc="http://schemas.openxmlformats.org/markup-compatibility/2006">
                <mc:Choice xmlns:v="urn:schemas-microsoft-com:vml" Requires="v">
                  <p:oleObj spid="_x0000_s524320" name="BMP 图象" r:id="rId8" imgW="1438095" imgH="571731" progId="PBrush">
                    <p:embed/>
                  </p:oleObj>
                </mc:Choice>
                <mc:Fallback>
                  <p:oleObj name="BMP 图象" r:id="rId8" imgW="1438095" imgH="571731" progId="PBrush">
                    <p:embed/>
                    <p:pic>
                      <p:nvPicPr>
                        <p:cNvPr id="0" name="Object 98"/>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1" y="1395"/>
                          <a:ext cx="90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0" name="Object 99"/>
            <p:cNvGraphicFramePr>
              <a:graphicFrameLocks noChangeAspect="1"/>
            </p:cNvGraphicFramePr>
            <p:nvPr/>
          </p:nvGraphicFramePr>
          <p:xfrm>
            <a:off x="1804" y="1520"/>
            <a:ext cx="275" cy="436"/>
          </p:xfrm>
          <a:graphic>
            <a:graphicData uri="http://schemas.openxmlformats.org/presentationml/2006/ole">
              <mc:AlternateContent xmlns:mc="http://schemas.openxmlformats.org/markup-compatibility/2006">
                <mc:Choice xmlns:v="urn:schemas-microsoft-com:vml" Requires="v">
                  <p:oleObj spid="_x0000_s524321" name="Equation" r:id="rId10" imgW="266400" imgH="419040" progId="Equation.DSMT4">
                    <p:embed/>
                  </p:oleObj>
                </mc:Choice>
                <mc:Fallback>
                  <p:oleObj name="Equation" r:id="rId10" imgW="266400" imgH="419040" progId="Equation.DSMT4">
                    <p:embed/>
                    <p:pic>
                      <p:nvPicPr>
                        <p:cNvPr id="0" name="Object 9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04" y="1520"/>
                          <a:ext cx="275" cy="4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 name="Oval 62"/>
            <p:cNvSpPr>
              <a:spLocks noChangeArrowheads="1"/>
            </p:cNvSpPr>
            <p:nvPr/>
          </p:nvSpPr>
          <p:spPr bwMode="auto">
            <a:xfrm>
              <a:off x="2303"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2" name="Oval 63"/>
            <p:cNvSpPr>
              <a:spLocks noChangeArrowheads="1"/>
            </p:cNvSpPr>
            <p:nvPr/>
          </p:nvSpPr>
          <p:spPr bwMode="auto">
            <a:xfrm>
              <a:off x="2111"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3" name="Line 64"/>
            <p:cNvSpPr>
              <a:spLocks noChangeShapeType="1"/>
            </p:cNvSpPr>
            <p:nvPr/>
          </p:nvSpPr>
          <p:spPr bwMode="auto">
            <a:xfrm>
              <a:off x="2207" y="2544"/>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04" name="Line 65"/>
            <p:cNvSpPr>
              <a:spLocks noChangeShapeType="1"/>
            </p:cNvSpPr>
            <p:nvPr/>
          </p:nvSpPr>
          <p:spPr bwMode="auto">
            <a:xfrm>
              <a:off x="2351" y="2592"/>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4" name="Oval 75"/>
            <p:cNvSpPr>
              <a:spLocks noChangeArrowheads="1"/>
            </p:cNvSpPr>
            <p:nvPr/>
          </p:nvSpPr>
          <p:spPr bwMode="auto">
            <a:xfrm rot="-5349760">
              <a:off x="3215" y="134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15" name="Line 76"/>
            <p:cNvSpPr>
              <a:spLocks noChangeShapeType="1"/>
            </p:cNvSpPr>
            <p:nvPr/>
          </p:nvSpPr>
          <p:spPr bwMode="auto">
            <a:xfrm rot="-5349760">
              <a:off x="3167" y="1343"/>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3" name="Oval 84"/>
            <p:cNvSpPr>
              <a:spLocks noChangeArrowheads="1"/>
            </p:cNvSpPr>
            <p:nvPr/>
          </p:nvSpPr>
          <p:spPr bwMode="auto">
            <a:xfrm rot="-5349760">
              <a:off x="3023" y="1341"/>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24" name="Oval 85"/>
            <p:cNvSpPr>
              <a:spLocks noChangeArrowheads="1"/>
            </p:cNvSpPr>
            <p:nvPr/>
          </p:nvSpPr>
          <p:spPr bwMode="auto">
            <a:xfrm>
              <a:off x="2303"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539" name="Group 100"/>
          <p:cNvGrpSpPr>
            <a:grpSpLocks/>
          </p:cNvGrpSpPr>
          <p:nvPr/>
        </p:nvGrpSpPr>
        <p:grpSpPr bwMode="auto">
          <a:xfrm>
            <a:off x="5905472" y="2104958"/>
            <a:ext cx="2590800" cy="2819400"/>
            <a:chOff x="3504" y="1104"/>
            <a:chExt cx="1632" cy="1776"/>
          </a:xfrm>
        </p:grpSpPr>
        <p:graphicFrame>
          <p:nvGraphicFramePr>
            <p:cNvPr id="540" name="Object 101"/>
            <p:cNvGraphicFramePr>
              <a:graphicFrameLocks noChangeAspect="1"/>
            </p:cNvGraphicFramePr>
            <p:nvPr/>
          </p:nvGraphicFramePr>
          <p:xfrm>
            <a:off x="3542" y="2136"/>
            <a:ext cx="157" cy="406"/>
          </p:xfrm>
          <a:graphic>
            <a:graphicData uri="http://schemas.openxmlformats.org/presentationml/2006/ole">
              <mc:AlternateContent xmlns:mc="http://schemas.openxmlformats.org/markup-compatibility/2006">
                <mc:Choice xmlns:v="urn:schemas-microsoft-com:vml" Requires="v">
                  <p:oleObj spid="_x0000_s524322" name="Equation" r:id="rId12" imgW="152280" imgH="393480" progId="Equation.DSMT4">
                    <p:embed/>
                  </p:oleObj>
                </mc:Choice>
                <mc:Fallback>
                  <p:oleObj name="Equation" r:id="rId12" imgW="152280" imgH="393480" progId="Equation.DSMT4">
                    <p:embed/>
                    <p:pic>
                      <p:nvPicPr>
                        <p:cNvPr id="0" name="Object 10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42" y="2136"/>
                          <a:ext cx="157" cy="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1" name="Object 102"/>
            <p:cNvGraphicFramePr>
              <a:graphicFrameLocks noChangeAspect="1"/>
            </p:cNvGraphicFramePr>
            <p:nvPr/>
          </p:nvGraphicFramePr>
          <p:xfrm>
            <a:off x="4641" y="1107"/>
            <a:ext cx="93" cy="174"/>
          </p:xfrm>
          <a:graphic>
            <a:graphicData uri="http://schemas.openxmlformats.org/presentationml/2006/ole">
              <mc:AlternateContent xmlns:mc="http://schemas.openxmlformats.org/markup-compatibility/2006">
                <mc:Choice xmlns:v="urn:schemas-microsoft-com:vml" Requires="v">
                  <p:oleObj spid="_x0000_s524323" name="Equation" r:id="rId14" imgW="88560" imgH="164880" progId="Equation.DSMT4">
                    <p:embed/>
                  </p:oleObj>
                </mc:Choice>
                <mc:Fallback>
                  <p:oleObj name="Equation" r:id="rId14" imgW="88560" imgH="164880" progId="Equation.DSMT4">
                    <p:embed/>
                    <p:pic>
                      <p:nvPicPr>
                        <p:cNvPr id="0" name="Object 10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1" y="1107"/>
                          <a:ext cx="93" cy="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 name="Line 103"/>
            <p:cNvSpPr>
              <a:spLocks noChangeShapeType="1"/>
            </p:cNvSpPr>
            <p:nvPr/>
          </p:nvSpPr>
          <p:spPr bwMode="auto">
            <a:xfrm>
              <a:off x="3936" y="1776"/>
              <a:ext cx="144"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43" name="Line 104"/>
            <p:cNvSpPr>
              <a:spLocks noChangeShapeType="1"/>
            </p:cNvSpPr>
            <p:nvPr/>
          </p:nvSpPr>
          <p:spPr bwMode="auto">
            <a:xfrm>
              <a:off x="3840" y="1920"/>
              <a:ext cx="24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44" name="Line 105"/>
            <p:cNvSpPr>
              <a:spLocks noChangeShapeType="1"/>
            </p:cNvSpPr>
            <p:nvPr/>
          </p:nvSpPr>
          <p:spPr bwMode="auto">
            <a:xfrm>
              <a:off x="3840" y="1920"/>
              <a:ext cx="240" cy="62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545" name="Group 106"/>
            <p:cNvGrpSpPr>
              <a:grpSpLocks/>
            </p:cNvGrpSpPr>
            <p:nvPr/>
          </p:nvGrpSpPr>
          <p:grpSpPr bwMode="auto">
            <a:xfrm>
              <a:off x="4560" y="2112"/>
              <a:ext cx="290" cy="288"/>
              <a:chOff x="4800" y="1728"/>
              <a:chExt cx="290" cy="288"/>
            </a:xfrm>
          </p:grpSpPr>
          <p:graphicFrame>
            <p:nvGraphicFramePr>
              <p:cNvPr id="575" name="Object 107"/>
              <p:cNvGraphicFramePr>
                <a:graphicFrameLocks noChangeAspect="1"/>
              </p:cNvGraphicFramePr>
              <p:nvPr/>
            </p:nvGraphicFramePr>
            <p:xfrm>
              <a:off x="4815" y="1728"/>
              <a:ext cx="275" cy="288"/>
            </p:xfrm>
            <a:graphic>
              <a:graphicData uri="http://schemas.openxmlformats.org/presentationml/2006/ole">
                <mc:AlternateContent xmlns:mc="http://schemas.openxmlformats.org/markup-compatibility/2006">
                  <mc:Choice xmlns:v="urn:schemas-microsoft-com:vml" Requires="v">
                    <p:oleObj spid="_x0000_s524324" name="公式" r:id="rId16" imgW="228600" imgH="241200" progId="Equation.3">
                      <p:embed/>
                    </p:oleObj>
                  </mc:Choice>
                  <mc:Fallback>
                    <p:oleObj name="公式" r:id="rId16" imgW="228600" imgH="241200" progId="Equation.3">
                      <p:embed/>
                      <p:pic>
                        <p:nvPicPr>
                          <p:cNvPr id="0" name="Object 10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15" y="1728"/>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 name="Oval 108"/>
              <p:cNvSpPr>
                <a:spLocks noChangeArrowheads="1"/>
              </p:cNvSpPr>
              <p:nvPr/>
            </p:nvSpPr>
            <p:spPr bwMode="auto">
              <a:xfrm>
                <a:off x="4800" y="172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550" name="Line 113"/>
            <p:cNvSpPr>
              <a:spLocks noChangeShapeType="1"/>
            </p:cNvSpPr>
            <p:nvPr/>
          </p:nvSpPr>
          <p:spPr bwMode="auto">
            <a:xfrm>
              <a:off x="3791" y="2496"/>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1" name="Line 114"/>
            <p:cNvSpPr>
              <a:spLocks noChangeShapeType="1"/>
            </p:cNvSpPr>
            <p:nvPr/>
          </p:nvSpPr>
          <p:spPr bwMode="auto">
            <a:xfrm>
              <a:off x="3791" y="259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2" name="Line 115"/>
            <p:cNvSpPr>
              <a:spLocks noChangeShapeType="1"/>
            </p:cNvSpPr>
            <p:nvPr/>
          </p:nvSpPr>
          <p:spPr bwMode="auto">
            <a:xfrm>
              <a:off x="3839" y="264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3" name="Line 116"/>
            <p:cNvSpPr>
              <a:spLocks noChangeShapeType="1"/>
            </p:cNvSpPr>
            <p:nvPr/>
          </p:nvSpPr>
          <p:spPr bwMode="auto">
            <a:xfrm>
              <a:off x="3887" y="268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4" name="Line 117"/>
            <p:cNvSpPr>
              <a:spLocks noChangeShapeType="1"/>
            </p:cNvSpPr>
            <p:nvPr/>
          </p:nvSpPr>
          <p:spPr bwMode="auto">
            <a:xfrm>
              <a:off x="3935" y="273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5" name="Line 118"/>
            <p:cNvSpPr>
              <a:spLocks noChangeShapeType="1"/>
            </p:cNvSpPr>
            <p:nvPr/>
          </p:nvSpPr>
          <p:spPr bwMode="auto">
            <a:xfrm>
              <a:off x="3983" y="278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6" name="Line 119"/>
            <p:cNvSpPr>
              <a:spLocks noChangeShapeType="1"/>
            </p:cNvSpPr>
            <p:nvPr/>
          </p:nvSpPr>
          <p:spPr bwMode="auto">
            <a:xfrm>
              <a:off x="4031" y="28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7" name="Line 120"/>
            <p:cNvSpPr>
              <a:spLocks noChangeShapeType="1"/>
            </p:cNvSpPr>
            <p:nvPr/>
          </p:nvSpPr>
          <p:spPr bwMode="auto">
            <a:xfrm>
              <a:off x="4079" y="288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8" name="Line 121"/>
            <p:cNvSpPr>
              <a:spLocks noChangeShapeType="1"/>
            </p:cNvSpPr>
            <p:nvPr/>
          </p:nvSpPr>
          <p:spPr bwMode="auto">
            <a:xfrm flipV="1">
              <a:off x="4079" y="1392"/>
              <a:ext cx="672"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1" name="Line 124"/>
            <p:cNvSpPr>
              <a:spLocks noChangeShapeType="1"/>
            </p:cNvSpPr>
            <p:nvPr/>
          </p:nvSpPr>
          <p:spPr bwMode="auto">
            <a:xfrm rot="-5349760">
              <a:off x="4894" y="1391"/>
              <a:ext cx="288"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2" name="Line 125"/>
            <p:cNvSpPr>
              <a:spLocks noChangeShapeType="1"/>
            </p:cNvSpPr>
            <p:nvPr/>
          </p:nvSpPr>
          <p:spPr bwMode="auto">
            <a:xfrm rot="16250240" flipV="1">
              <a:off x="5037" y="149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3" name="Line 126"/>
            <p:cNvSpPr>
              <a:spLocks noChangeShapeType="1"/>
            </p:cNvSpPr>
            <p:nvPr/>
          </p:nvSpPr>
          <p:spPr bwMode="auto">
            <a:xfrm rot="16250240" flipV="1">
              <a:off x="5037" y="1442"/>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4" name="Line 127"/>
            <p:cNvSpPr>
              <a:spLocks noChangeShapeType="1"/>
            </p:cNvSpPr>
            <p:nvPr/>
          </p:nvSpPr>
          <p:spPr bwMode="auto">
            <a:xfrm rot="16250240" flipV="1">
              <a:off x="5038" y="1394"/>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5" name="Line 128"/>
            <p:cNvSpPr>
              <a:spLocks noChangeShapeType="1"/>
            </p:cNvSpPr>
            <p:nvPr/>
          </p:nvSpPr>
          <p:spPr bwMode="auto">
            <a:xfrm rot="16250240" flipV="1">
              <a:off x="5039" y="134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6" name="Line 129"/>
            <p:cNvSpPr>
              <a:spLocks noChangeShapeType="1"/>
            </p:cNvSpPr>
            <p:nvPr/>
          </p:nvSpPr>
          <p:spPr bwMode="auto">
            <a:xfrm rot="16250240" flipV="1">
              <a:off x="5021" y="1297"/>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7" name="Line 130"/>
            <p:cNvSpPr>
              <a:spLocks noChangeShapeType="1"/>
            </p:cNvSpPr>
            <p:nvPr/>
          </p:nvSpPr>
          <p:spPr bwMode="auto">
            <a:xfrm rot="16250240" flipV="1">
              <a:off x="5040" y="125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70" name="Line 133"/>
            <p:cNvSpPr>
              <a:spLocks noChangeShapeType="1"/>
            </p:cNvSpPr>
            <p:nvPr/>
          </p:nvSpPr>
          <p:spPr bwMode="auto">
            <a:xfrm flipV="1">
              <a:off x="4079" y="1920"/>
              <a:ext cx="0" cy="576"/>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71" name="Line 134"/>
            <p:cNvSpPr>
              <a:spLocks noChangeShapeType="1"/>
            </p:cNvSpPr>
            <p:nvPr/>
          </p:nvSpPr>
          <p:spPr bwMode="auto">
            <a:xfrm>
              <a:off x="4800" y="1104"/>
              <a:ext cx="0" cy="240"/>
            </a:xfrm>
            <a:prstGeom prst="line">
              <a:avLst/>
            </a:prstGeom>
            <a:noFill/>
            <a:ln w="38100">
              <a:solidFill>
                <a:srgbClr val="0033CC"/>
              </a:solidFill>
              <a:round/>
              <a:headEnd type="none" w="sm" len="lg"/>
              <a:tailEnd type="stealth"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72" name="Line 135"/>
            <p:cNvSpPr>
              <a:spLocks noChangeShapeType="1"/>
            </p:cNvSpPr>
            <p:nvPr/>
          </p:nvSpPr>
          <p:spPr bwMode="auto">
            <a:xfrm>
              <a:off x="3504" y="2544"/>
              <a:ext cx="336" cy="0"/>
            </a:xfrm>
            <a:prstGeom prst="line">
              <a:avLst/>
            </a:prstGeom>
            <a:noFill/>
            <a:ln w="38100">
              <a:solidFill>
                <a:srgbClr val="FF0000"/>
              </a:solidFill>
              <a:round/>
              <a:headEnd type="none" w="sm" len="lg"/>
              <a:tailEnd type="stealth"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73" name="Line 136"/>
            <p:cNvSpPr>
              <a:spLocks noChangeShapeType="1"/>
            </p:cNvSpPr>
            <p:nvPr/>
          </p:nvSpPr>
          <p:spPr bwMode="auto">
            <a:xfrm flipH="1">
              <a:off x="3936" y="1392"/>
              <a:ext cx="816"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574" name="Object 137"/>
            <p:cNvGraphicFramePr>
              <a:graphicFrameLocks noChangeAspect="1"/>
            </p:cNvGraphicFramePr>
            <p:nvPr/>
          </p:nvGraphicFramePr>
          <p:xfrm>
            <a:off x="3695" y="1527"/>
            <a:ext cx="156" cy="405"/>
          </p:xfrm>
          <a:graphic>
            <a:graphicData uri="http://schemas.openxmlformats.org/presentationml/2006/ole">
              <mc:AlternateContent xmlns:mc="http://schemas.openxmlformats.org/markup-compatibility/2006">
                <mc:Choice xmlns:v="urn:schemas-microsoft-com:vml" Requires="v">
                  <p:oleObj spid="_x0000_s524325" name="Equation" r:id="rId18" imgW="152280" imgH="393480" progId="Equation.DSMT4">
                    <p:embed/>
                  </p:oleObj>
                </mc:Choice>
                <mc:Fallback>
                  <p:oleObj name="Equation" r:id="rId18" imgW="152280" imgH="393480" progId="Equation.DSMT4">
                    <p:embed/>
                    <p:pic>
                      <p:nvPicPr>
                        <p:cNvPr id="0" name="Object 1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95" y="1527"/>
                          <a:ext cx="156" cy="4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6" name="Oval 109"/>
            <p:cNvSpPr>
              <a:spLocks noChangeArrowheads="1"/>
            </p:cNvSpPr>
            <p:nvPr/>
          </p:nvSpPr>
          <p:spPr bwMode="auto">
            <a:xfrm>
              <a:off x="4031" y="268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47" name="Oval 110"/>
            <p:cNvSpPr>
              <a:spLocks noChangeArrowheads="1"/>
            </p:cNvSpPr>
            <p:nvPr/>
          </p:nvSpPr>
          <p:spPr bwMode="auto">
            <a:xfrm>
              <a:off x="3839"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48" name="Line 111"/>
            <p:cNvSpPr>
              <a:spLocks noChangeShapeType="1"/>
            </p:cNvSpPr>
            <p:nvPr/>
          </p:nvSpPr>
          <p:spPr bwMode="auto">
            <a:xfrm>
              <a:off x="3935" y="2544"/>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49" name="Line 112"/>
            <p:cNvSpPr>
              <a:spLocks noChangeShapeType="1"/>
            </p:cNvSpPr>
            <p:nvPr/>
          </p:nvSpPr>
          <p:spPr bwMode="auto">
            <a:xfrm>
              <a:off x="4079" y="2592"/>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59" name="Oval 122"/>
            <p:cNvSpPr>
              <a:spLocks noChangeArrowheads="1"/>
            </p:cNvSpPr>
            <p:nvPr/>
          </p:nvSpPr>
          <p:spPr bwMode="auto">
            <a:xfrm rot="-5349760">
              <a:off x="4943" y="134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0" name="Line 123"/>
            <p:cNvSpPr>
              <a:spLocks noChangeShapeType="1"/>
            </p:cNvSpPr>
            <p:nvPr/>
          </p:nvSpPr>
          <p:spPr bwMode="auto">
            <a:xfrm rot="-5349760">
              <a:off x="4895" y="1343"/>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8" name="Oval 131"/>
            <p:cNvSpPr>
              <a:spLocks noChangeArrowheads="1"/>
            </p:cNvSpPr>
            <p:nvPr/>
          </p:nvSpPr>
          <p:spPr bwMode="auto">
            <a:xfrm rot="-5349760">
              <a:off x="4751" y="1341"/>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569" name="Oval 132"/>
            <p:cNvSpPr>
              <a:spLocks noChangeArrowheads="1"/>
            </p:cNvSpPr>
            <p:nvPr/>
          </p:nvSpPr>
          <p:spPr bwMode="auto">
            <a:xfrm>
              <a:off x="4031" y="2496"/>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578" name="Text Box 6"/>
          <p:cNvSpPr txBox="1">
            <a:spLocks noChangeArrowheads="1"/>
          </p:cNvSpPr>
          <p:nvPr/>
        </p:nvSpPr>
        <p:spPr bwMode="auto">
          <a:xfrm>
            <a:off x="1202839" y="4929198"/>
            <a:ext cx="4714908"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aphicFrame>
        <p:nvGraphicFramePr>
          <p:cNvPr id="442373" name="Object 5"/>
          <p:cNvGraphicFramePr>
            <a:graphicFrameLocks noChangeAspect="1"/>
          </p:cNvGraphicFramePr>
          <p:nvPr/>
        </p:nvGraphicFramePr>
        <p:xfrm>
          <a:off x="1343025" y="5298150"/>
          <a:ext cx="7056438" cy="1322388"/>
        </p:xfrm>
        <a:graphic>
          <a:graphicData uri="http://schemas.openxmlformats.org/presentationml/2006/ole">
            <mc:AlternateContent xmlns:mc="http://schemas.openxmlformats.org/markup-compatibility/2006">
              <mc:Choice xmlns:v="urn:schemas-microsoft-com:vml" Requires="v">
                <p:oleObj spid="_x0000_s524326" name="Equation" r:id="rId20" imgW="4546440" imgH="863280" progId="Equation.DSMT4">
                  <p:embed/>
                </p:oleObj>
              </mc:Choice>
              <mc:Fallback>
                <p:oleObj name="Equation" r:id="rId20" imgW="4546440" imgH="863280" progId="Equation.DSMT4">
                  <p:embed/>
                  <p:pic>
                    <p:nvPicPr>
                      <p:cNvPr id="0" name="Object 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43025" y="5298150"/>
                        <a:ext cx="7056438" cy="1322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6"/>
                                        </p:tgtEl>
                                        <p:attrNameLst>
                                          <p:attrName>style.visibility</p:attrName>
                                        </p:attrNameLst>
                                      </p:cBhvr>
                                      <p:to>
                                        <p:strVal val="visible"/>
                                      </p:to>
                                    </p:set>
                                    <p:anim calcmode="lin" valueType="num">
                                      <p:cBhvr additive="base">
                                        <p:cTn id="7" dur="500" fill="hold"/>
                                        <p:tgtEl>
                                          <p:spTgt spid="446"/>
                                        </p:tgtEl>
                                        <p:attrNameLst>
                                          <p:attrName>ppt_x</p:attrName>
                                        </p:attrNameLst>
                                      </p:cBhvr>
                                      <p:tavLst>
                                        <p:tav tm="0">
                                          <p:val>
                                            <p:strVal val="0-#ppt_w/2"/>
                                          </p:val>
                                        </p:tav>
                                        <p:tav tm="100000">
                                          <p:val>
                                            <p:strVal val="#ppt_x"/>
                                          </p:val>
                                        </p:tav>
                                      </p:tavLst>
                                    </p:anim>
                                    <p:anim calcmode="lin" valueType="num">
                                      <p:cBhvr additive="base">
                                        <p:cTn id="8" dur="500" fill="hold"/>
                                        <p:tgtEl>
                                          <p:spTgt spid="4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8"/>
                                        </p:tgtEl>
                                        <p:attrNameLst>
                                          <p:attrName>style.visibility</p:attrName>
                                        </p:attrNameLst>
                                      </p:cBhvr>
                                      <p:to>
                                        <p:strVal val="visible"/>
                                      </p:to>
                                    </p:set>
                                    <p:anim calcmode="lin" valueType="num">
                                      <p:cBhvr additive="base">
                                        <p:cTn id="13" dur="500" fill="hold"/>
                                        <p:tgtEl>
                                          <p:spTgt spid="578"/>
                                        </p:tgtEl>
                                        <p:attrNameLst>
                                          <p:attrName>ppt_x</p:attrName>
                                        </p:attrNameLst>
                                      </p:cBhvr>
                                      <p:tavLst>
                                        <p:tav tm="0">
                                          <p:val>
                                            <p:strVal val="0-#ppt_w/2"/>
                                          </p:val>
                                        </p:tav>
                                        <p:tav tm="100000">
                                          <p:val>
                                            <p:strVal val="#ppt_x"/>
                                          </p:val>
                                        </p:tav>
                                      </p:tavLst>
                                    </p:anim>
                                    <p:anim calcmode="lin" valueType="num">
                                      <p:cBhvr additive="base">
                                        <p:cTn id="14" dur="500" fill="hold"/>
                                        <p:tgtEl>
                                          <p:spTgt spid="57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95"/>
                                        </p:tgtEl>
                                        <p:attrNameLst>
                                          <p:attrName>style.visibility</p:attrName>
                                        </p:attrNameLst>
                                      </p:cBhvr>
                                      <p:to>
                                        <p:strVal val="visible"/>
                                      </p:to>
                                    </p:set>
                                    <p:anim calcmode="lin" valueType="num">
                                      <p:cBhvr additive="base">
                                        <p:cTn id="19" dur="500" fill="hold"/>
                                        <p:tgtEl>
                                          <p:spTgt spid="495"/>
                                        </p:tgtEl>
                                        <p:attrNameLst>
                                          <p:attrName>ppt_x</p:attrName>
                                        </p:attrNameLst>
                                      </p:cBhvr>
                                      <p:tavLst>
                                        <p:tav tm="0">
                                          <p:val>
                                            <p:strVal val="0-#ppt_w/2"/>
                                          </p:val>
                                        </p:tav>
                                        <p:tav tm="100000">
                                          <p:val>
                                            <p:strVal val="#ppt_x"/>
                                          </p:val>
                                        </p:tav>
                                      </p:tavLst>
                                    </p:anim>
                                    <p:anim calcmode="lin" valueType="num">
                                      <p:cBhvr additive="base">
                                        <p:cTn id="20" dur="500" fill="hold"/>
                                        <p:tgtEl>
                                          <p:spTgt spid="495"/>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494"/>
                                        </p:tgtEl>
                                        <p:attrNameLst>
                                          <p:attrName>style.visibility</p:attrName>
                                        </p:attrNameLst>
                                      </p:cBhvr>
                                      <p:to>
                                        <p:strVal val="visible"/>
                                      </p:to>
                                    </p:set>
                                    <p:anim calcmode="lin" valueType="num">
                                      <p:cBhvr additive="base">
                                        <p:cTn id="24" dur="500" fill="hold"/>
                                        <p:tgtEl>
                                          <p:spTgt spid="494"/>
                                        </p:tgtEl>
                                        <p:attrNameLst>
                                          <p:attrName>ppt_x</p:attrName>
                                        </p:attrNameLst>
                                      </p:cBhvr>
                                      <p:tavLst>
                                        <p:tav tm="0">
                                          <p:val>
                                            <p:strVal val="0-#ppt_w/2"/>
                                          </p:val>
                                        </p:tav>
                                        <p:tav tm="100000">
                                          <p:val>
                                            <p:strVal val="#ppt_x"/>
                                          </p:val>
                                        </p:tav>
                                      </p:tavLst>
                                    </p:anim>
                                    <p:anim calcmode="lin" valueType="num">
                                      <p:cBhvr additive="base">
                                        <p:cTn id="25" dur="500" fill="hold"/>
                                        <p:tgtEl>
                                          <p:spTgt spid="49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539"/>
                                        </p:tgtEl>
                                        <p:attrNameLst>
                                          <p:attrName>style.visibility</p:attrName>
                                        </p:attrNameLst>
                                      </p:cBhvr>
                                      <p:to>
                                        <p:strVal val="visible"/>
                                      </p:to>
                                    </p:set>
                                    <p:anim calcmode="lin" valueType="num">
                                      <p:cBhvr additive="base">
                                        <p:cTn id="30" dur="500" fill="hold"/>
                                        <p:tgtEl>
                                          <p:spTgt spid="539"/>
                                        </p:tgtEl>
                                        <p:attrNameLst>
                                          <p:attrName>ppt_x</p:attrName>
                                        </p:attrNameLst>
                                      </p:cBhvr>
                                      <p:tavLst>
                                        <p:tav tm="0">
                                          <p:val>
                                            <p:strVal val="0-#ppt_w/2"/>
                                          </p:val>
                                        </p:tav>
                                        <p:tav tm="100000">
                                          <p:val>
                                            <p:strVal val="#ppt_x"/>
                                          </p:val>
                                        </p:tav>
                                      </p:tavLst>
                                    </p:anim>
                                    <p:anim calcmode="lin" valueType="num">
                                      <p:cBhvr additive="base">
                                        <p:cTn id="31" dur="500" fill="hold"/>
                                        <p:tgtEl>
                                          <p:spTgt spid="53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42373"/>
                                        </p:tgtEl>
                                        <p:attrNameLst>
                                          <p:attrName>style.visibility</p:attrName>
                                        </p:attrNameLst>
                                      </p:cBhvr>
                                      <p:to>
                                        <p:strVal val="visible"/>
                                      </p:to>
                                    </p:set>
                                    <p:anim calcmode="lin" valueType="num">
                                      <p:cBhvr additive="base">
                                        <p:cTn id="36" dur="500" fill="hold"/>
                                        <p:tgtEl>
                                          <p:spTgt spid="442373"/>
                                        </p:tgtEl>
                                        <p:attrNameLst>
                                          <p:attrName>ppt_x</p:attrName>
                                        </p:attrNameLst>
                                      </p:cBhvr>
                                      <p:tavLst>
                                        <p:tav tm="0">
                                          <p:val>
                                            <p:strVal val="0-#ppt_w/2"/>
                                          </p:val>
                                        </p:tav>
                                        <p:tav tm="100000">
                                          <p:val>
                                            <p:strVal val="#ppt_x"/>
                                          </p:val>
                                        </p:tav>
                                      </p:tavLst>
                                    </p:anim>
                                    <p:anim calcmode="lin" valueType="num">
                                      <p:cBhvr additive="base">
                                        <p:cTn id="37" dur="500" fill="hold"/>
                                        <p:tgtEl>
                                          <p:spTgt spid="4423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 grpId="0" autoUpdateAnimBg="0"/>
      <p:bldP spid="578"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6</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a:t>
            </a:r>
            <a:r>
              <a:rPr lang="zh-CN" altLang="en-US" sz="2000" b="1">
                <a:latin typeface="Times New Roman" pitchFamily="18" charset="0"/>
                <a:cs typeface="Times New Roman" pitchFamily="18" charset="0"/>
              </a:rPr>
              <a:t>。</a:t>
            </a:r>
            <a:endParaRPr lang="en-US" altLang="zh-CN" sz="2000" b="1" baseline="-25000">
              <a:latin typeface="Times New Roman" pitchFamily="18" charset="0"/>
              <a:cs typeface="Times New Roman" pitchFamily="18" charset="0"/>
            </a:endParaRPr>
          </a:p>
        </p:txBody>
      </p:sp>
      <p:sp>
        <p:nvSpPr>
          <p:cNvPr id="236" name="Text Box 4"/>
          <p:cNvSpPr txBox="1">
            <a:spLocks noChangeArrowheads="1"/>
          </p:cNvSpPr>
          <p:nvPr/>
        </p:nvSpPr>
        <p:spPr bwMode="auto">
          <a:xfrm>
            <a:off x="1266852" y="4471998"/>
            <a:ext cx="7162800" cy="400110"/>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zh-CN" altLang="en-US" sz="2000" b="1" kern="1200">
                <a:solidFill>
                  <a:srgbClr val="000000"/>
                </a:solidFill>
                <a:latin typeface="+mn-ea"/>
                <a:cs typeface="Times New Roman" pitchFamily="18" charset="0"/>
              </a:rPr>
              <a:t>解：作荷载弯矩图和单位荷载弯矩图</a:t>
            </a:r>
          </a:p>
        </p:txBody>
      </p:sp>
      <p:grpSp>
        <p:nvGrpSpPr>
          <p:cNvPr id="237" name="Group 5"/>
          <p:cNvGrpSpPr>
            <a:grpSpLocks/>
          </p:cNvGrpSpPr>
          <p:nvPr/>
        </p:nvGrpSpPr>
        <p:grpSpPr bwMode="auto">
          <a:xfrm>
            <a:off x="1752632" y="2265354"/>
            <a:ext cx="1905000" cy="1219200"/>
            <a:chOff x="864" y="1152"/>
            <a:chExt cx="1200" cy="768"/>
          </a:xfrm>
        </p:grpSpPr>
        <p:sp>
          <p:nvSpPr>
            <p:cNvPr id="238" name="Oval 6"/>
            <p:cNvSpPr>
              <a:spLocks noChangeArrowheads="1"/>
            </p:cNvSpPr>
            <p:nvPr/>
          </p:nvSpPr>
          <p:spPr bwMode="auto">
            <a:xfrm>
              <a:off x="1296" y="1536"/>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39" name="Line 7"/>
            <p:cNvSpPr>
              <a:spLocks noChangeShapeType="1"/>
            </p:cNvSpPr>
            <p:nvPr/>
          </p:nvSpPr>
          <p:spPr bwMode="auto">
            <a:xfrm flipH="1">
              <a:off x="864" y="1152"/>
              <a:ext cx="336" cy="76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0" name="Line 8"/>
            <p:cNvSpPr>
              <a:spLocks noChangeShapeType="1"/>
            </p:cNvSpPr>
            <p:nvPr/>
          </p:nvSpPr>
          <p:spPr bwMode="auto">
            <a:xfrm>
              <a:off x="1776" y="1152"/>
              <a:ext cx="288" cy="76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1" name="Line 9"/>
            <p:cNvSpPr>
              <a:spLocks noChangeShapeType="1"/>
            </p:cNvSpPr>
            <p:nvPr/>
          </p:nvSpPr>
          <p:spPr bwMode="auto">
            <a:xfrm flipH="1">
              <a:off x="864" y="1392"/>
              <a:ext cx="1200" cy="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42" name="Object 10"/>
          <p:cNvGraphicFramePr>
            <a:graphicFrameLocks noChangeAspect="1"/>
          </p:cNvGraphicFramePr>
          <p:nvPr/>
        </p:nvGraphicFramePr>
        <p:xfrm>
          <a:off x="1868488" y="4929188"/>
          <a:ext cx="5702300" cy="1385887"/>
        </p:xfrm>
        <a:graphic>
          <a:graphicData uri="http://schemas.openxmlformats.org/presentationml/2006/ole">
            <mc:AlternateContent xmlns:mc="http://schemas.openxmlformats.org/markup-compatibility/2006">
              <mc:Choice xmlns:v="urn:schemas-microsoft-com:vml" Requires="v">
                <p:oleObj spid="_x0000_s525345" name="Equation" r:id="rId4" imgW="3022560" imgH="838080" progId="Equation.DSMT4">
                  <p:embed/>
                </p:oleObj>
              </mc:Choice>
              <mc:Fallback>
                <p:oleObj name="Equation" r:id="rId4" imgW="3022560" imgH="83808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8488" y="4929188"/>
                        <a:ext cx="5702300" cy="1385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3" name="Object 11"/>
          <p:cNvGraphicFramePr>
            <a:graphicFrameLocks noChangeAspect="1"/>
          </p:cNvGraphicFramePr>
          <p:nvPr/>
        </p:nvGraphicFramePr>
        <p:xfrm>
          <a:off x="3733800" y="2143116"/>
          <a:ext cx="331788" cy="290512"/>
        </p:xfrm>
        <a:graphic>
          <a:graphicData uri="http://schemas.openxmlformats.org/presentationml/2006/ole">
            <mc:AlternateContent xmlns:mc="http://schemas.openxmlformats.org/markup-compatibility/2006">
              <mc:Choice xmlns:v="urn:schemas-microsoft-com:vml" Requires="v">
                <p:oleObj spid="_x0000_s525346" name="公式" r:id="rId6" imgW="203040" imgH="177480" progId="Equation.3">
                  <p:embed/>
                </p:oleObj>
              </mc:Choice>
              <mc:Fallback>
                <p:oleObj name="公式" r:id="rId6" imgW="203040" imgH="17748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2143116"/>
                        <a:ext cx="331788" cy="29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4" name="Group 12"/>
          <p:cNvGrpSpPr>
            <a:grpSpLocks/>
          </p:cNvGrpSpPr>
          <p:nvPr/>
        </p:nvGrpSpPr>
        <p:grpSpPr bwMode="auto">
          <a:xfrm>
            <a:off x="785845" y="2265354"/>
            <a:ext cx="3538538" cy="2057400"/>
            <a:chOff x="255" y="1152"/>
            <a:chExt cx="2229" cy="1296"/>
          </a:xfrm>
        </p:grpSpPr>
        <p:graphicFrame>
          <p:nvGraphicFramePr>
            <p:cNvPr id="245" name="Object 13"/>
            <p:cNvGraphicFramePr>
              <a:graphicFrameLocks noChangeAspect="1"/>
            </p:cNvGraphicFramePr>
            <p:nvPr/>
          </p:nvGraphicFramePr>
          <p:xfrm>
            <a:off x="912" y="1824"/>
            <a:ext cx="159" cy="174"/>
          </p:xfrm>
          <a:graphic>
            <a:graphicData uri="http://schemas.openxmlformats.org/presentationml/2006/ole">
              <mc:AlternateContent xmlns:mc="http://schemas.openxmlformats.org/markup-compatibility/2006">
                <mc:Choice xmlns:v="urn:schemas-microsoft-com:vml" Requires="v">
                  <p:oleObj spid="_x0000_s525347" name="公式" r:id="rId8" imgW="152280" imgH="164880" progId="Equation.3">
                    <p:embed/>
                  </p:oleObj>
                </mc:Choice>
                <mc:Fallback>
                  <p:oleObj name="公式" r:id="rId8" imgW="152280" imgH="16488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2" y="1824"/>
                          <a:ext cx="159" cy="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6" name="Line 14"/>
            <p:cNvSpPr>
              <a:spLocks noChangeShapeType="1"/>
            </p:cNvSpPr>
            <p:nvPr/>
          </p:nvSpPr>
          <p:spPr bwMode="auto">
            <a:xfrm>
              <a:off x="864" y="1152"/>
              <a:ext cx="120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47" name="Group 15"/>
            <p:cNvGrpSpPr>
              <a:grpSpLocks/>
            </p:cNvGrpSpPr>
            <p:nvPr/>
          </p:nvGrpSpPr>
          <p:grpSpPr bwMode="auto">
            <a:xfrm>
              <a:off x="576" y="1872"/>
              <a:ext cx="384" cy="384"/>
              <a:chOff x="528" y="1872"/>
              <a:chExt cx="384" cy="384"/>
            </a:xfrm>
          </p:grpSpPr>
          <p:sp>
            <p:nvSpPr>
              <p:cNvPr id="281" name="Line 20"/>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2" name="Line 21"/>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3" name="Line 22"/>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4" name="Line 23"/>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5" name="Line 24"/>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6" name="Line 25"/>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7" name="Line 26"/>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8" name="Line 27"/>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7" name="Oval 16"/>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8" name="Oval 17"/>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9" name="Line 18"/>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0" name="Line 19"/>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9" name="Oval 28"/>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48" name="Line 29"/>
            <p:cNvSpPr>
              <a:spLocks noChangeShapeType="1"/>
            </p:cNvSpPr>
            <p:nvPr/>
          </p:nvSpPr>
          <p:spPr bwMode="auto">
            <a:xfrm>
              <a:off x="816" y="225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9" name="Line 30"/>
            <p:cNvSpPr>
              <a:spLocks noChangeShapeType="1"/>
            </p:cNvSpPr>
            <p:nvPr/>
          </p:nvSpPr>
          <p:spPr bwMode="auto">
            <a:xfrm>
              <a:off x="2064" y="225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0" name="Line 31"/>
            <p:cNvSpPr>
              <a:spLocks noChangeShapeType="1"/>
            </p:cNvSpPr>
            <p:nvPr/>
          </p:nvSpPr>
          <p:spPr bwMode="auto">
            <a:xfrm flipV="1">
              <a:off x="864"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1" name="Line 32"/>
            <p:cNvSpPr>
              <a:spLocks noChangeShapeType="1"/>
            </p:cNvSpPr>
            <p:nvPr/>
          </p:nvSpPr>
          <p:spPr bwMode="auto">
            <a:xfrm flipV="1">
              <a:off x="2064"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2" name="Line 33"/>
            <p:cNvSpPr>
              <a:spLocks noChangeShapeType="1"/>
            </p:cNvSpPr>
            <p:nvPr/>
          </p:nvSpPr>
          <p:spPr bwMode="auto">
            <a:xfrm>
              <a:off x="816" y="2352"/>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53" name="Object 34"/>
            <p:cNvGraphicFramePr>
              <a:graphicFrameLocks noChangeAspect="1"/>
            </p:cNvGraphicFramePr>
            <p:nvPr/>
          </p:nvGraphicFramePr>
          <p:xfrm>
            <a:off x="1830" y="1824"/>
            <a:ext cx="159" cy="172"/>
          </p:xfrm>
          <a:graphic>
            <a:graphicData uri="http://schemas.openxmlformats.org/presentationml/2006/ole">
              <mc:AlternateContent xmlns:mc="http://schemas.openxmlformats.org/markup-compatibility/2006">
                <mc:Choice xmlns:v="urn:schemas-microsoft-com:vml" Requires="v">
                  <p:oleObj spid="_x0000_s525348" name="公式" r:id="rId10" imgW="152280" imgH="164880" progId="Equation.3">
                    <p:embed/>
                  </p:oleObj>
                </mc:Choice>
                <mc:Fallback>
                  <p:oleObj name="公式" r:id="rId10" imgW="152280" imgH="164880" progId="Equation.3">
                    <p:embed/>
                    <p:pic>
                      <p:nvPicPr>
                        <p:cNvPr id="0"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0" y="1824"/>
                          <a:ext cx="159"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4" name="Line 35"/>
            <p:cNvSpPr>
              <a:spLocks noChangeShapeType="1"/>
            </p:cNvSpPr>
            <p:nvPr/>
          </p:nvSpPr>
          <p:spPr bwMode="auto">
            <a:xfrm>
              <a:off x="432" y="1152"/>
              <a:ext cx="0" cy="768"/>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5" name="Line 36"/>
            <p:cNvSpPr>
              <a:spLocks noChangeShapeType="1"/>
            </p:cNvSpPr>
            <p:nvPr/>
          </p:nvSpPr>
          <p:spPr bwMode="auto">
            <a:xfrm>
              <a:off x="384" y="115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6" name="Line 37"/>
            <p:cNvSpPr>
              <a:spLocks noChangeShapeType="1"/>
            </p:cNvSpPr>
            <p:nvPr/>
          </p:nvSpPr>
          <p:spPr bwMode="auto">
            <a:xfrm>
              <a:off x="384" y="192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7" name="Rectangle 38"/>
            <p:cNvSpPr>
              <a:spLocks noChangeArrowheads="1"/>
            </p:cNvSpPr>
            <p:nvPr/>
          </p:nvSpPr>
          <p:spPr bwMode="auto">
            <a:xfrm>
              <a:off x="255" y="1408"/>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p>
          </p:txBody>
        </p:sp>
        <p:sp>
          <p:nvSpPr>
            <p:cNvPr id="258" name="Rectangle 39"/>
            <p:cNvSpPr>
              <a:spLocks noChangeArrowheads="1"/>
            </p:cNvSpPr>
            <p:nvPr/>
          </p:nvSpPr>
          <p:spPr bwMode="auto">
            <a:xfrm>
              <a:off x="1354" y="2121"/>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aphicFrame>
          <p:nvGraphicFramePr>
            <p:cNvPr id="259" name="Object 40"/>
            <p:cNvGraphicFramePr>
              <a:graphicFrameLocks noChangeAspect="1"/>
            </p:cNvGraphicFramePr>
            <p:nvPr/>
          </p:nvGraphicFramePr>
          <p:xfrm>
            <a:off x="1290" y="1210"/>
            <a:ext cx="304" cy="172"/>
          </p:xfrm>
          <a:graphic>
            <a:graphicData uri="http://schemas.openxmlformats.org/presentationml/2006/ole">
              <mc:AlternateContent xmlns:mc="http://schemas.openxmlformats.org/markup-compatibility/2006">
                <mc:Choice xmlns:v="urn:schemas-microsoft-com:vml" Requires="v">
                  <p:oleObj spid="_x0000_s525349" name="公式" r:id="rId12" imgW="291960" imgH="164880" progId="Equation.3">
                    <p:embed/>
                  </p:oleObj>
                </mc:Choice>
                <mc:Fallback>
                  <p:oleObj name="公式" r:id="rId12" imgW="291960" imgH="164880" progId="Equation.3">
                    <p:embed/>
                    <p:pic>
                      <p:nvPicPr>
                        <p:cNvPr id="0" name="Object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0" y="1210"/>
                          <a:ext cx="304"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0" name="Line 41"/>
            <p:cNvSpPr>
              <a:spLocks noChangeShapeType="1"/>
            </p:cNvSpPr>
            <p:nvPr/>
          </p:nvSpPr>
          <p:spPr bwMode="auto">
            <a:xfrm flipH="1">
              <a:off x="2100" y="1913"/>
              <a:ext cx="384" cy="0"/>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61" name="Object 42"/>
            <p:cNvGraphicFramePr>
              <a:graphicFrameLocks noChangeAspect="1"/>
            </p:cNvGraphicFramePr>
            <p:nvPr/>
          </p:nvGraphicFramePr>
          <p:xfrm>
            <a:off x="2301" y="1962"/>
            <a:ext cx="177" cy="193"/>
          </p:xfrm>
          <a:graphic>
            <a:graphicData uri="http://schemas.openxmlformats.org/presentationml/2006/ole">
              <mc:AlternateContent xmlns:mc="http://schemas.openxmlformats.org/markup-compatibility/2006">
                <mc:Choice xmlns:v="urn:schemas-microsoft-com:vml" Requires="v">
                  <p:oleObj spid="_x0000_s525350" name="Equation" r:id="rId14" imgW="152280" imgH="164880" progId="Equation.DSMT4">
                    <p:embed/>
                  </p:oleObj>
                </mc:Choice>
                <mc:Fallback>
                  <p:oleObj name="Equation" r:id="rId14" imgW="152280" imgH="164880" progId="Equation.DSMT4">
                    <p:embed/>
                    <p:pic>
                      <p:nvPicPr>
                        <p:cNvPr id="0"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1" y="1962"/>
                          <a:ext cx="177"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62" name="Group 43"/>
            <p:cNvGrpSpPr>
              <a:grpSpLocks/>
            </p:cNvGrpSpPr>
            <p:nvPr/>
          </p:nvGrpSpPr>
          <p:grpSpPr bwMode="auto">
            <a:xfrm>
              <a:off x="1863" y="1872"/>
              <a:ext cx="383" cy="336"/>
              <a:chOff x="4612" y="2928"/>
              <a:chExt cx="432" cy="384"/>
            </a:xfrm>
          </p:grpSpPr>
          <p:sp>
            <p:nvSpPr>
              <p:cNvPr id="267" name="Line 46"/>
              <p:cNvSpPr>
                <a:spLocks noChangeShapeType="1"/>
              </p:cNvSpPr>
              <p:nvPr/>
            </p:nvSpPr>
            <p:spPr bwMode="auto">
              <a:xfrm>
                <a:off x="4660" y="321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8" name="Line 47"/>
              <p:cNvSpPr>
                <a:spLocks noChangeShapeType="1"/>
              </p:cNvSpPr>
              <p:nvPr/>
            </p:nvSpPr>
            <p:spPr bwMode="auto">
              <a:xfrm flipV="1">
                <a:off x="4660"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9" name="Line 48"/>
              <p:cNvSpPr>
                <a:spLocks noChangeShapeType="1"/>
              </p:cNvSpPr>
              <p:nvPr/>
            </p:nvSpPr>
            <p:spPr bwMode="auto">
              <a:xfrm flipV="1">
                <a:off x="4708"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0" name="Line 49"/>
              <p:cNvSpPr>
                <a:spLocks noChangeShapeType="1"/>
              </p:cNvSpPr>
              <p:nvPr/>
            </p:nvSpPr>
            <p:spPr bwMode="auto">
              <a:xfrm flipV="1">
                <a:off x="4756"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1" name="Line 50"/>
              <p:cNvSpPr>
                <a:spLocks noChangeShapeType="1"/>
              </p:cNvSpPr>
              <p:nvPr/>
            </p:nvSpPr>
            <p:spPr bwMode="auto">
              <a:xfrm flipV="1">
                <a:off x="4804"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2" name="Line 51"/>
              <p:cNvSpPr>
                <a:spLocks noChangeShapeType="1"/>
              </p:cNvSpPr>
              <p:nvPr/>
            </p:nvSpPr>
            <p:spPr bwMode="auto">
              <a:xfrm flipV="1">
                <a:off x="4852"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3" name="Line 52"/>
              <p:cNvSpPr>
                <a:spLocks noChangeShapeType="1"/>
              </p:cNvSpPr>
              <p:nvPr/>
            </p:nvSpPr>
            <p:spPr bwMode="auto">
              <a:xfrm flipV="1">
                <a:off x="4900"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4" name="Line 53"/>
              <p:cNvSpPr>
                <a:spLocks noChangeShapeType="1"/>
              </p:cNvSpPr>
              <p:nvPr/>
            </p:nvSpPr>
            <p:spPr bwMode="auto">
              <a:xfrm flipV="1">
                <a:off x="4948"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5" name="Line 54"/>
              <p:cNvSpPr>
                <a:spLocks noChangeShapeType="1"/>
              </p:cNvSpPr>
              <p:nvPr/>
            </p:nvSpPr>
            <p:spPr bwMode="auto">
              <a:xfrm flipV="1">
                <a:off x="4612"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5" name="Oval 44"/>
              <p:cNvSpPr>
                <a:spLocks noChangeArrowheads="1"/>
              </p:cNvSpPr>
              <p:nvPr/>
            </p:nvSpPr>
            <p:spPr bwMode="auto">
              <a:xfrm>
                <a:off x="4804" y="312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6" name="Line 45"/>
              <p:cNvSpPr>
                <a:spLocks noChangeShapeType="1"/>
              </p:cNvSpPr>
              <p:nvPr/>
            </p:nvSpPr>
            <p:spPr bwMode="auto">
              <a:xfrm>
                <a:off x="4852" y="3024"/>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6" name="Oval 55"/>
              <p:cNvSpPr>
                <a:spLocks noChangeArrowheads="1"/>
              </p:cNvSpPr>
              <p:nvPr/>
            </p:nvSpPr>
            <p:spPr bwMode="auto">
              <a:xfrm>
                <a:off x="4804" y="292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63" name="Object 56"/>
            <p:cNvGraphicFramePr>
              <a:graphicFrameLocks noChangeAspect="1"/>
            </p:cNvGraphicFramePr>
            <p:nvPr/>
          </p:nvGraphicFramePr>
          <p:xfrm>
            <a:off x="913" y="1440"/>
            <a:ext cx="224" cy="171"/>
          </p:xfrm>
          <a:graphic>
            <a:graphicData uri="http://schemas.openxmlformats.org/presentationml/2006/ole">
              <mc:AlternateContent xmlns:mc="http://schemas.openxmlformats.org/markup-compatibility/2006">
                <mc:Choice xmlns:v="urn:schemas-microsoft-com:vml" Requires="v">
                  <p:oleObj spid="_x0000_s525351" name="Equation" r:id="rId16" imgW="215640" imgH="164880" progId="Equation.DSMT4">
                    <p:embed/>
                  </p:oleObj>
                </mc:Choice>
                <mc:Fallback>
                  <p:oleObj name="Equation" r:id="rId16" imgW="215640" imgH="164880" progId="Equation.DSMT4">
                    <p:embed/>
                    <p:pic>
                      <p:nvPicPr>
                        <p:cNvPr id="0" name="Object 5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13" y="1440"/>
                          <a:ext cx="224"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4" name="Object 57"/>
            <p:cNvGraphicFramePr>
              <a:graphicFrameLocks noChangeAspect="1"/>
            </p:cNvGraphicFramePr>
            <p:nvPr/>
          </p:nvGraphicFramePr>
          <p:xfrm>
            <a:off x="2093" y="1440"/>
            <a:ext cx="224" cy="171"/>
          </p:xfrm>
          <a:graphic>
            <a:graphicData uri="http://schemas.openxmlformats.org/presentationml/2006/ole">
              <mc:AlternateContent xmlns:mc="http://schemas.openxmlformats.org/markup-compatibility/2006">
                <mc:Choice xmlns:v="urn:schemas-microsoft-com:vml" Requires="v">
                  <p:oleObj spid="_x0000_s525352" name="Equation" r:id="rId18" imgW="215640" imgH="164880" progId="Equation.DSMT4">
                    <p:embed/>
                  </p:oleObj>
                </mc:Choice>
                <mc:Fallback>
                  <p:oleObj name="Equation" r:id="rId18" imgW="215640" imgH="164880" progId="Equation.DSMT4">
                    <p:embed/>
                    <p:pic>
                      <p:nvPicPr>
                        <p:cNvPr id="0" name="Object 5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93" y="1440"/>
                          <a:ext cx="224" cy="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0" name="Group 58"/>
          <p:cNvGrpSpPr>
            <a:grpSpLocks/>
          </p:cNvGrpSpPr>
          <p:nvPr/>
        </p:nvGrpSpPr>
        <p:grpSpPr bwMode="auto">
          <a:xfrm>
            <a:off x="4953034" y="2265354"/>
            <a:ext cx="3051176" cy="1752600"/>
            <a:chOff x="2880" y="1152"/>
            <a:chExt cx="1922" cy="1104"/>
          </a:xfrm>
        </p:grpSpPr>
        <p:sp>
          <p:nvSpPr>
            <p:cNvPr id="291" name="Line 59"/>
            <p:cNvSpPr>
              <a:spLocks noChangeShapeType="1"/>
            </p:cNvSpPr>
            <p:nvPr/>
          </p:nvSpPr>
          <p:spPr bwMode="auto">
            <a:xfrm>
              <a:off x="3168" y="1152"/>
              <a:ext cx="120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92" name="Group 60"/>
            <p:cNvGrpSpPr>
              <a:grpSpLocks/>
            </p:cNvGrpSpPr>
            <p:nvPr/>
          </p:nvGrpSpPr>
          <p:grpSpPr bwMode="auto">
            <a:xfrm>
              <a:off x="2880" y="1872"/>
              <a:ext cx="384" cy="384"/>
              <a:chOff x="528" y="1872"/>
              <a:chExt cx="384" cy="384"/>
            </a:xfrm>
          </p:grpSpPr>
          <p:sp>
            <p:nvSpPr>
              <p:cNvPr id="310" name="Oval 61"/>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1" name="Oval 62"/>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2" name="Line 63"/>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3" name="Line 64"/>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4" name="Line 65"/>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5" name="Line 66"/>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6" name="Line 67"/>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7" name="Line 68"/>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69"/>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9" name="Line 70"/>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71"/>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1" name="Line 72"/>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2" name="Oval 73"/>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93" name="Line 74"/>
            <p:cNvSpPr>
              <a:spLocks noChangeShapeType="1"/>
            </p:cNvSpPr>
            <p:nvPr/>
          </p:nvSpPr>
          <p:spPr bwMode="auto">
            <a:xfrm flipV="1">
              <a:off x="3168"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4" name="Line 75"/>
            <p:cNvSpPr>
              <a:spLocks noChangeShapeType="1"/>
            </p:cNvSpPr>
            <p:nvPr/>
          </p:nvSpPr>
          <p:spPr bwMode="auto">
            <a:xfrm flipV="1">
              <a:off x="4368" y="115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5" name="Line 76"/>
            <p:cNvSpPr>
              <a:spLocks noChangeShapeType="1"/>
            </p:cNvSpPr>
            <p:nvPr/>
          </p:nvSpPr>
          <p:spPr bwMode="auto">
            <a:xfrm flipH="1">
              <a:off x="4418" y="1908"/>
              <a:ext cx="384" cy="0"/>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96" name="Object 77"/>
            <p:cNvGraphicFramePr>
              <a:graphicFrameLocks noChangeAspect="1"/>
            </p:cNvGraphicFramePr>
            <p:nvPr/>
          </p:nvGraphicFramePr>
          <p:xfrm>
            <a:off x="4696" y="1960"/>
            <a:ext cx="104" cy="195"/>
          </p:xfrm>
          <a:graphic>
            <a:graphicData uri="http://schemas.openxmlformats.org/presentationml/2006/ole">
              <mc:AlternateContent xmlns:mc="http://schemas.openxmlformats.org/markup-compatibility/2006">
                <mc:Choice xmlns:v="urn:schemas-microsoft-com:vml" Requires="v">
                  <p:oleObj spid="_x0000_s525353" name="Equation" r:id="rId20" imgW="88560" imgH="164880" progId="Equation.DSMT4">
                    <p:embed/>
                  </p:oleObj>
                </mc:Choice>
                <mc:Fallback>
                  <p:oleObj name="Equation" r:id="rId20" imgW="88560" imgH="164880" progId="Equation.DSMT4">
                    <p:embed/>
                    <p:pic>
                      <p:nvPicPr>
                        <p:cNvPr id="0" name="Object 7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96" y="1960"/>
                          <a:ext cx="104" cy="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7" name="Group 78"/>
            <p:cNvGrpSpPr>
              <a:grpSpLocks/>
            </p:cNvGrpSpPr>
            <p:nvPr/>
          </p:nvGrpSpPr>
          <p:grpSpPr bwMode="auto">
            <a:xfrm>
              <a:off x="4167" y="1872"/>
              <a:ext cx="383" cy="336"/>
              <a:chOff x="4612" y="2928"/>
              <a:chExt cx="432" cy="384"/>
            </a:xfrm>
          </p:grpSpPr>
          <p:sp>
            <p:nvSpPr>
              <p:cNvPr id="298" name="Oval 79"/>
              <p:cNvSpPr>
                <a:spLocks noChangeArrowheads="1"/>
              </p:cNvSpPr>
              <p:nvPr/>
            </p:nvSpPr>
            <p:spPr bwMode="auto">
              <a:xfrm>
                <a:off x="4804" y="312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9" name="Line 80"/>
              <p:cNvSpPr>
                <a:spLocks noChangeShapeType="1"/>
              </p:cNvSpPr>
              <p:nvPr/>
            </p:nvSpPr>
            <p:spPr bwMode="auto">
              <a:xfrm>
                <a:off x="4852" y="3024"/>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0" name="Line 81"/>
              <p:cNvSpPr>
                <a:spLocks noChangeShapeType="1"/>
              </p:cNvSpPr>
              <p:nvPr/>
            </p:nvSpPr>
            <p:spPr bwMode="auto">
              <a:xfrm>
                <a:off x="4660" y="321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1" name="Line 82"/>
              <p:cNvSpPr>
                <a:spLocks noChangeShapeType="1"/>
              </p:cNvSpPr>
              <p:nvPr/>
            </p:nvSpPr>
            <p:spPr bwMode="auto">
              <a:xfrm flipV="1">
                <a:off x="4660"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2" name="Line 83"/>
              <p:cNvSpPr>
                <a:spLocks noChangeShapeType="1"/>
              </p:cNvSpPr>
              <p:nvPr/>
            </p:nvSpPr>
            <p:spPr bwMode="auto">
              <a:xfrm flipV="1">
                <a:off x="4708"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3" name="Line 84"/>
              <p:cNvSpPr>
                <a:spLocks noChangeShapeType="1"/>
              </p:cNvSpPr>
              <p:nvPr/>
            </p:nvSpPr>
            <p:spPr bwMode="auto">
              <a:xfrm flipV="1">
                <a:off x="4756"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4" name="Line 85"/>
              <p:cNvSpPr>
                <a:spLocks noChangeShapeType="1"/>
              </p:cNvSpPr>
              <p:nvPr/>
            </p:nvSpPr>
            <p:spPr bwMode="auto">
              <a:xfrm flipV="1">
                <a:off x="4804"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5" name="Line 86"/>
              <p:cNvSpPr>
                <a:spLocks noChangeShapeType="1"/>
              </p:cNvSpPr>
              <p:nvPr/>
            </p:nvSpPr>
            <p:spPr bwMode="auto">
              <a:xfrm flipV="1">
                <a:off x="4852"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6" name="Line 87"/>
              <p:cNvSpPr>
                <a:spLocks noChangeShapeType="1"/>
              </p:cNvSpPr>
              <p:nvPr/>
            </p:nvSpPr>
            <p:spPr bwMode="auto">
              <a:xfrm flipV="1">
                <a:off x="4900"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7" name="Line 88"/>
              <p:cNvSpPr>
                <a:spLocks noChangeShapeType="1"/>
              </p:cNvSpPr>
              <p:nvPr/>
            </p:nvSpPr>
            <p:spPr bwMode="auto">
              <a:xfrm flipV="1">
                <a:off x="4948"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8" name="Line 89"/>
              <p:cNvSpPr>
                <a:spLocks noChangeShapeType="1"/>
              </p:cNvSpPr>
              <p:nvPr/>
            </p:nvSpPr>
            <p:spPr bwMode="auto">
              <a:xfrm flipV="1">
                <a:off x="4612" y="321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9" name="Oval 90"/>
              <p:cNvSpPr>
                <a:spLocks noChangeArrowheads="1"/>
              </p:cNvSpPr>
              <p:nvPr/>
            </p:nvSpPr>
            <p:spPr bwMode="auto">
              <a:xfrm>
                <a:off x="4804" y="292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sp>
        <p:nvSpPr>
          <p:cNvPr id="323" name="Rectangle 91"/>
          <p:cNvSpPr>
            <a:spLocks noChangeArrowheads="1"/>
          </p:cNvSpPr>
          <p:nvPr/>
        </p:nvSpPr>
        <p:spPr bwMode="auto">
          <a:xfrm>
            <a:off x="6500826" y="4103678"/>
            <a:ext cx="1938334" cy="754082"/>
          </a:xfrm>
          <a:prstGeom prst="rect">
            <a:avLst/>
          </a:prstGeom>
          <a:noFill/>
          <a:ln w="28575">
            <a:solidFill>
              <a:srgbClr val="C00000"/>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C00000"/>
                </a:solidFill>
                <a:effectLst/>
                <a:uLnTx/>
                <a:uFillTx/>
                <a:latin typeface="Times New Roman" pitchFamily="18" charset="0"/>
                <a:ea typeface="楷体_GB2312" pitchFamily="49" charset="-122"/>
                <a:cs typeface="Times New Roman" pitchFamily="18" charset="0"/>
              </a:rPr>
              <a:t>注意</a:t>
            </a:r>
            <a:r>
              <a:rPr kumimoji="1" lang="en-US" altLang="zh-CN" sz="2000" b="1" i="0" u="none" strike="noStrike" kern="1200" cap="none" spc="0" normalizeH="0" baseline="0" noProof="0">
                <a:ln>
                  <a:noFill/>
                </a:ln>
                <a:solidFill>
                  <a:srgbClr val="C00000"/>
                </a:solidFill>
                <a:effectLst/>
                <a:uLnTx/>
                <a:uFillTx/>
                <a:latin typeface="Times New Roman" pitchFamily="18" charset="0"/>
                <a:ea typeface="楷体_GB2312" pitchFamily="49" charset="-122"/>
                <a:cs typeface="Times New Roman" pitchFamily="18" charset="0"/>
              </a:rPr>
              <a:t>:</a:t>
            </a:r>
            <a:r>
              <a:rPr kumimoji="1" lang="zh-CN" altLang="en-US" sz="2000" b="1" i="0" u="none" strike="noStrike" kern="1200" cap="none" spc="0" normalizeH="0" baseline="0" noProof="0">
                <a:ln>
                  <a:noFill/>
                </a:ln>
                <a:solidFill>
                  <a:srgbClr val="C00000"/>
                </a:solidFill>
                <a:effectLst/>
                <a:uLnTx/>
                <a:uFillTx/>
                <a:latin typeface="Times New Roman" pitchFamily="18" charset="0"/>
                <a:ea typeface="楷体_GB2312" pitchFamily="49" charset="-122"/>
                <a:cs typeface="Times New Roman" pitchFamily="18" charset="0"/>
              </a:rPr>
              <a:t>各杆刚度</a:t>
            </a:r>
          </a:p>
          <a:p>
            <a:pPr marL="0" marR="0" lvl="0" indent="0" algn="ctr" defTabSz="914400" rtl="0" eaLnBrk="1" fontAlgn="base" latinLnBrk="0" hangingPunct="1">
              <a:lnSpc>
                <a:spcPct val="12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C00000"/>
                </a:solidFill>
                <a:effectLst/>
                <a:uLnTx/>
                <a:uFillTx/>
                <a:latin typeface="Times New Roman" pitchFamily="18" charset="0"/>
                <a:ea typeface="楷体_GB2312" pitchFamily="49" charset="-122"/>
                <a:cs typeface="Times New Roman" pitchFamily="18" charset="0"/>
              </a:rPr>
              <a:t>可能不同</a:t>
            </a:r>
            <a:endParaRPr kumimoji="1" lang="zh-CN" altLang="en-US" sz="2000" b="0" i="0" u="none" strike="noStrike" kern="1200" cap="none" spc="0" normalizeH="0" baseline="0" noProof="0">
              <a:ln>
                <a:noFill/>
              </a:ln>
              <a:solidFill>
                <a:srgbClr val="C00000"/>
              </a:solidFill>
              <a:effectLst/>
              <a:uLnTx/>
              <a:uFillTx/>
              <a:latin typeface="Times New Roman" pitchFamily="18" charset="0"/>
              <a:ea typeface="楷体_GB2312" pitchFamily="49" charset="-122"/>
              <a:cs typeface="Times New Roman" pitchFamily="18" charset="0"/>
            </a:endParaRPr>
          </a:p>
        </p:txBody>
      </p:sp>
      <p:grpSp>
        <p:nvGrpSpPr>
          <p:cNvPr id="324" name="Group 92"/>
          <p:cNvGrpSpPr>
            <a:grpSpLocks/>
          </p:cNvGrpSpPr>
          <p:nvPr/>
        </p:nvGrpSpPr>
        <p:grpSpPr bwMode="auto">
          <a:xfrm>
            <a:off x="5410232" y="2214554"/>
            <a:ext cx="2216150" cy="1270000"/>
            <a:chOff x="3168" y="1120"/>
            <a:chExt cx="1396" cy="800"/>
          </a:xfrm>
        </p:grpSpPr>
        <p:grpSp>
          <p:nvGrpSpPr>
            <p:cNvPr id="325" name="Group 93"/>
            <p:cNvGrpSpPr>
              <a:grpSpLocks/>
            </p:cNvGrpSpPr>
            <p:nvPr/>
          </p:nvGrpSpPr>
          <p:grpSpPr bwMode="auto">
            <a:xfrm>
              <a:off x="3168" y="1152"/>
              <a:ext cx="1200" cy="768"/>
              <a:chOff x="3168" y="1152"/>
              <a:chExt cx="1200" cy="768"/>
            </a:xfrm>
          </p:grpSpPr>
          <p:grpSp>
            <p:nvGrpSpPr>
              <p:cNvPr id="327" name="Group 94"/>
              <p:cNvGrpSpPr>
                <a:grpSpLocks/>
              </p:cNvGrpSpPr>
              <p:nvPr/>
            </p:nvGrpSpPr>
            <p:grpSpPr bwMode="auto">
              <a:xfrm>
                <a:off x="3630" y="1525"/>
                <a:ext cx="288" cy="292"/>
                <a:chOff x="4782" y="1669"/>
                <a:chExt cx="288" cy="292"/>
              </a:xfrm>
            </p:grpSpPr>
            <p:graphicFrame>
              <p:nvGraphicFramePr>
                <p:cNvPr id="331" name="Object 95"/>
                <p:cNvGraphicFramePr>
                  <a:graphicFrameLocks noChangeAspect="1"/>
                </p:cNvGraphicFramePr>
                <p:nvPr/>
              </p:nvGraphicFramePr>
              <p:xfrm>
                <a:off x="4793" y="1673"/>
                <a:ext cx="275" cy="288"/>
              </p:xfrm>
              <a:graphic>
                <a:graphicData uri="http://schemas.openxmlformats.org/presentationml/2006/ole">
                  <mc:AlternateContent xmlns:mc="http://schemas.openxmlformats.org/markup-compatibility/2006">
                    <mc:Choice xmlns:v="urn:schemas-microsoft-com:vml" Requires="v">
                      <p:oleObj spid="_x0000_s525354" name="公式" r:id="rId22" imgW="228600" imgH="241200" progId="Equation.3">
                        <p:embed/>
                      </p:oleObj>
                    </mc:Choice>
                    <mc:Fallback>
                      <p:oleObj name="公式" r:id="rId22" imgW="228600" imgH="241200" progId="Equation.3">
                        <p:embed/>
                        <p:pic>
                          <p:nvPicPr>
                            <p:cNvPr id="0" name="Object 9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93" y="1673"/>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2" name="Oval 96"/>
                <p:cNvSpPr>
                  <a:spLocks noChangeArrowheads="1"/>
                </p:cNvSpPr>
                <p:nvPr/>
              </p:nvSpPr>
              <p:spPr bwMode="auto">
                <a:xfrm>
                  <a:off x="4782" y="1669"/>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328" name="Line 97"/>
              <p:cNvSpPr>
                <a:spLocks noChangeShapeType="1"/>
              </p:cNvSpPr>
              <p:nvPr/>
            </p:nvSpPr>
            <p:spPr bwMode="auto">
              <a:xfrm flipH="1">
                <a:off x="3168" y="1152"/>
                <a:ext cx="336" cy="76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9" name="Line 98"/>
              <p:cNvSpPr>
                <a:spLocks noChangeShapeType="1"/>
              </p:cNvSpPr>
              <p:nvPr/>
            </p:nvSpPr>
            <p:spPr bwMode="auto">
              <a:xfrm>
                <a:off x="4080" y="1152"/>
                <a:ext cx="288" cy="76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0" name="Line 99"/>
              <p:cNvSpPr>
                <a:spLocks noChangeShapeType="1"/>
              </p:cNvSpPr>
              <p:nvPr/>
            </p:nvSpPr>
            <p:spPr bwMode="auto">
              <a:xfrm flipH="1">
                <a:off x="3168" y="1392"/>
                <a:ext cx="1200" cy="0"/>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326" name="Object 100"/>
            <p:cNvGraphicFramePr>
              <a:graphicFrameLocks noChangeAspect="1"/>
            </p:cNvGraphicFramePr>
            <p:nvPr/>
          </p:nvGraphicFramePr>
          <p:xfrm>
            <a:off x="4473" y="1120"/>
            <a:ext cx="91" cy="184"/>
          </p:xfrm>
          <a:graphic>
            <a:graphicData uri="http://schemas.openxmlformats.org/presentationml/2006/ole">
              <mc:AlternateContent xmlns:mc="http://schemas.openxmlformats.org/markup-compatibility/2006">
                <mc:Choice xmlns:v="urn:schemas-microsoft-com:vml" Requires="v">
                  <p:oleObj spid="_x0000_s525355" name="公式" r:id="rId24" imgW="88560" imgH="177480" progId="Equation.3">
                    <p:embed/>
                  </p:oleObj>
                </mc:Choice>
                <mc:Fallback>
                  <p:oleObj name="公式" r:id="rId24" imgW="88560" imgH="177480" progId="Equation.3">
                    <p:embed/>
                    <p:pic>
                      <p:nvPicPr>
                        <p:cNvPr id="0" name="Object 10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73" y="1120"/>
                          <a:ext cx="91"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 calcmode="lin" valueType="num">
                                      <p:cBhvr additive="base">
                                        <p:cTn id="7" dur="500" fill="hold"/>
                                        <p:tgtEl>
                                          <p:spTgt spid="290"/>
                                        </p:tgtEl>
                                        <p:attrNameLst>
                                          <p:attrName>ppt_x</p:attrName>
                                        </p:attrNameLst>
                                      </p:cBhvr>
                                      <p:tavLst>
                                        <p:tav tm="0">
                                          <p:val>
                                            <p:strVal val="0-#ppt_w/2"/>
                                          </p:val>
                                        </p:tav>
                                        <p:tav tm="100000">
                                          <p:val>
                                            <p:strVal val="#ppt_x"/>
                                          </p:val>
                                        </p:tav>
                                      </p:tavLst>
                                    </p:anim>
                                    <p:anim calcmode="lin" valueType="num">
                                      <p:cBhvr additive="base">
                                        <p:cTn id="8" dur="500" fill="hold"/>
                                        <p:tgtEl>
                                          <p:spTgt spid="2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500" fill="hold"/>
                                        <p:tgtEl>
                                          <p:spTgt spid="236"/>
                                        </p:tgtEl>
                                        <p:attrNameLst>
                                          <p:attrName>ppt_x</p:attrName>
                                        </p:attrNameLst>
                                      </p:cBhvr>
                                      <p:tavLst>
                                        <p:tav tm="0">
                                          <p:val>
                                            <p:strVal val="0-#ppt_w/2"/>
                                          </p:val>
                                        </p:tav>
                                        <p:tav tm="100000">
                                          <p:val>
                                            <p:strVal val="#ppt_x"/>
                                          </p:val>
                                        </p:tav>
                                      </p:tavLst>
                                    </p:anim>
                                    <p:anim calcmode="lin" valueType="num">
                                      <p:cBhvr additive="base">
                                        <p:cTn id="13" dur="500" fill="hold"/>
                                        <p:tgtEl>
                                          <p:spTgt spid="23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37"/>
                                        </p:tgtEl>
                                        <p:attrNameLst>
                                          <p:attrName>style.visibility</p:attrName>
                                        </p:attrNameLst>
                                      </p:cBhvr>
                                      <p:to>
                                        <p:strVal val="visible"/>
                                      </p:to>
                                    </p:set>
                                    <p:anim calcmode="lin" valueType="num">
                                      <p:cBhvr additive="base">
                                        <p:cTn id="18" dur="500" fill="hold"/>
                                        <p:tgtEl>
                                          <p:spTgt spid="237"/>
                                        </p:tgtEl>
                                        <p:attrNameLst>
                                          <p:attrName>ppt_x</p:attrName>
                                        </p:attrNameLst>
                                      </p:cBhvr>
                                      <p:tavLst>
                                        <p:tav tm="0">
                                          <p:val>
                                            <p:strVal val="0-#ppt_w/2"/>
                                          </p:val>
                                        </p:tav>
                                        <p:tav tm="100000">
                                          <p:val>
                                            <p:strVal val="#ppt_x"/>
                                          </p:val>
                                        </p:tav>
                                      </p:tavLst>
                                    </p:anim>
                                    <p:anim calcmode="lin" valueType="num">
                                      <p:cBhvr additive="base">
                                        <p:cTn id="19" dur="500" fill="hold"/>
                                        <p:tgtEl>
                                          <p:spTgt spid="237"/>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nodeType="afterEffect">
                                  <p:stCondLst>
                                    <p:cond delay="0"/>
                                  </p:stCondLst>
                                  <p:childTnLst>
                                    <p:set>
                                      <p:cBhvr>
                                        <p:cTn id="22" dur="1" fill="hold">
                                          <p:stCondLst>
                                            <p:cond delay="0"/>
                                          </p:stCondLst>
                                        </p:cTn>
                                        <p:tgtEl>
                                          <p:spTgt spid="243"/>
                                        </p:tgtEl>
                                        <p:attrNameLst>
                                          <p:attrName>style.visibility</p:attrName>
                                        </p:attrNameLst>
                                      </p:cBhvr>
                                      <p:to>
                                        <p:strVal val="visible"/>
                                      </p:to>
                                    </p:set>
                                    <p:anim calcmode="lin" valueType="num">
                                      <p:cBhvr additive="base">
                                        <p:cTn id="23" dur="500" fill="hold"/>
                                        <p:tgtEl>
                                          <p:spTgt spid="243"/>
                                        </p:tgtEl>
                                        <p:attrNameLst>
                                          <p:attrName>ppt_x</p:attrName>
                                        </p:attrNameLst>
                                      </p:cBhvr>
                                      <p:tavLst>
                                        <p:tav tm="0">
                                          <p:val>
                                            <p:strVal val="0-#ppt_w/2"/>
                                          </p:val>
                                        </p:tav>
                                        <p:tav tm="100000">
                                          <p:val>
                                            <p:strVal val="#ppt_x"/>
                                          </p:val>
                                        </p:tav>
                                      </p:tavLst>
                                    </p:anim>
                                    <p:anim calcmode="lin" valueType="num">
                                      <p:cBhvr additive="base">
                                        <p:cTn id="24" dur="500" fill="hold"/>
                                        <p:tgtEl>
                                          <p:spTgt spid="24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24"/>
                                        </p:tgtEl>
                                        <p:attrNameLst>
                                          <p:attrName>style.visibility</p:attrName>
                                        </p:attrNameLst>
                                      </p:cBhvr>
                                      <p:to>
                                        <p:strVal val="visible"/>
                                      </p:to>
                                    </p:set>
                                    <p:anim calcmode="lin" valueType="num">
                                      <p:cBhvr additive="base">
                                        <p:cTn id="29" dur="500" fill="hold"/>
                                        <p:tgtEl>
                                          <p:spTgt spid="324"/>
                                        </p:tgtEl>
                                        <p:attrNameLst>
                                          <p:attrName>ppt_x</p:attrName>
                                        </p:attrNameLst>
                                      </p:cBhvr>
                                      <p:tavLst>
                                        <p:tav tm="0">
                                          <p:val>
                                            <p:strVal val="0-#ppt_w/2"/>
                                          </p:val>
                                        </p:tav>
                                        <p:tav tm="100000">
                                          <p:val>
                                            <p:strVal val="#ppt_x"/>
                                          </p:val>
                                        </p:tav>
                                      </p:tavLst>
                                    </p:anim>
                                    <p:anim calcmode="lin" valueType="num">
                                      <p:cBhvr additive="base">
                                        <p:cTn id="30" dur="500" fill="hold"/>
                                        <p:tgtEl>
                                          <p:spTgt spid="32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42"/>
                                        </p:tgtEl>
                                        <p:attrNameLst>
                                          <p:attrName>style.visibility</p:attrName>
                                        </p:attrNameLst>
                                      </p:cBhvr>
                                      <p:to>
                                        <p:strVal val="visible"/>
                                      </p:to>
                                    </p:set>
                                    <p:anim calcmode="lin" valueType="num">
                                      <p:cBhvr additive="base">
                                        <p:cTn id="35" dur="500" fill="hold"/>
                                        <p:tgtEl>
                                          <p:spTgt spid="242"/>
                                        </p:tgtEl>
                                        <p:attrNameLst>
                                          <p:attrName>ppt_x</p:attrName>
                                        </p:attrNameLst>
                                      </p:cBhvr>
                                      <p:tavLst>
                                        <p:tav tm="0">
                                          <p:val>
                                            <p:strVal val="0-#ppt_w/2"/>
                                          </p:val>
                                        </p:tav>
                                        <p:tav tm="100000">
                                          <p:val>
                                            <p:strVal val="#ppt_x"/>
                                          </p:val>
                                        </p:tav>
                                      </p:tavLst>
                                    </p:anim>
                                    <p:anim calcmode="lin" valueType="num">
                                      <p:cBhvr additive="base">
                                        <p:cTn id="36" dur="500" fill="hold"/>
                                        <p:tgtEl>
                                          <p:spTgt spid="24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23"/>
                                        </p:tgtEl>
                                        <p:attrNameLst>
                                          <p:attrName>style.visibility</p:attrName>
                                        </p:attrNameLst>
                                      </p:cBhvr>
                                      <p:to>
                                        <p:strVal val="visible"/>
                                      </p:to>
                                    </p:set>
                                    <p:anim calcmode="lin" valueType="num">
                                      <p:cBhvr additive="base">
                                        <p:cTn id="41" dur="500" fill="hold"/>
                                        <p:tgtEl>
                                          <p:spTgt spid="323"/>
                                        </p:tgtEl>
                                        <p:attrNameLst>
                                          <p:attrName>ppt_x</p:attrName>
                                        </p:attrNameLst>
                                      </p:cBhvr>
                                      <p:tavLst>
                                        <p:tav tm="0">
                                          <p:val>
                                            <p:strVal val="0-#ppt_w/2"/>
                                          </p:val>
                                        </p:tav>
                                        <p:tav tm="100000">
                                          <p:val>
                                            <p:strVal val="#ppt_x"/>
                                          </p:val>
                                        </p:tav>
                                      </p:tavLst>
                                    </p:anim>
                                    <p:anim calcmode="lin" valueType="num">
                                      <p:cBhvr additive="base">
                                        <p:cTn id="42" dur="500" fill="hold"/>
                                        <p:tgtEl>
                                          <p:spTgt spid="3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autoUpdateAnimBg="0"/>
      <p:bldP spid="323"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7</a:t>
            </a:r>
            <a:r>
              <a:rPr lang="zh-CN" altLang="en-US" sz="2000" b="1">
                <a:latin typeface="Times New Roman" pitchFamily="18" charset="0"/>
                <a:cs typeface="Times New Roman" pitchFamily="18" charset="0"/>
              </a:rPr>
              <a:t>：已知</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截面转角</a:t>
            </a:r>
            <a:r>
              <a:rPr lang="el-GR" altLang="zh-CN" sz="2000" b="1" i="1">
                <a:latin typeface="Times New Roman" pitchFamily="18" charset="0"/>
                <a:cs typeface="Times New Roman" pitchFamily="18" charset="0"/>
              </a:rPr>
              <a:t>θ</a:t>
            </a:r>
            <a:r>
              <a:rPr lang="en-US" altLang="zh-CN" sz="2000" b="1" i="1" baseline="-25000">
                <a:latin typeface="Times New Roman" pitchFamily="18" charset="0"/>
                <a:cs typeface="Times New Roman" pitchFamily="18" charset="0"/>
              </a:rPr>
              <a:t>B</a:t>
            </a:r>
            <a:r>
              <a:rPr lang="zh-CN" altLang="en-US" sz="2000" b="1">
                <a:latin typeface="Times New Roman" pitchFamily="18" charset="0"/>
                <a:cs typeface="Times New Roman" pitchFamily="18" charset="0"/>
              </a:rPr>
              <a:t>。</a:t>
            </a:r>
            <a:endParaRPr lang="en-US" altLang="zh-CN" sz="2000" b="1" baseline="-25000">
              <a:latin typeface="Times New Roman" pitchFamily="18" charset="0"/>
              <a:cs typeface="Times New Roman" pitchFamily="18" charset="0"/>
            </a:endParaRPr>
          </a:p>
        </p:txBody>
      </p:sp>
      <p:sp>
        <p:nvSpPr>
          <p:cNvPr id="210" name="Oval 3"/>
          <p:cNvSpPr>
            <a:spLocks noChangeArrowheads="1"/>
          </p:cNvSpPr>
          <p:nvPr/>
        </p:nvSpPr>
        <p:spPr bwMode="auto">
          <a:xfrm>
            <a:off x="2643214" y="3267100"/>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211" name="Text Box 4"/>
          <p:cNvSpPr txBox="1">
            <a:spLocks noChangeArrowheads="1"/>
          </p:cNvSpPr>
          <p:nvPr/>
        </p:nvSpPr>
        <p:spPr bwMode="auto">
          <a:xfrm>
            <a:off x="1207289" y="4941073"/>
            <a:ext cx="7162800" cy="400110"/>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pSp>
        <p:nvGrpSpPr>
          <p:cNvPr id="212" name="Group 5"/>
          <p:cNvGrpSpPr>
            <a:grpSpLocks/>
          </p:cNvGrpSpPr>
          <p:nvPr/>
        </p:nvGrpSpPr>
        <p:grpSpPr bwMode="auto">
          <a:xfrm>
            <a:off x="893789" y="2181250"/>
            <a:ext cx="3983038" cy="2609850"/>
            <a:chOff x="28" y="612"/>
            <a:chExt cx="2509" cy="1644"/>
          </a:xfrm>
        </p:grpSpPr>
        <p:graphicFrame>
          <p:nvGraphicFramePr>
            <p:cNvPr id="213" name="Object 6"/>
            <p:cNvGraphicFramePr>
              <a:graphicFrameLocks noChangeAspect="1"/>
            </p:cNvGraphicFramePr>
            <p:nvPr/>
          </p:nvGraphicFramePr>
          <p:xfrm>
            <a:off x="1763" y="1655"/>
            <a:ext cx="177" cy="193"/>
          </p:xfrm>
          <a:graphic>
            <a:graphicData uri="http://schemas.openxmlformats.org/presentationml/2006/ole">
              <mc:AlternateContent xmlns:mc="http://schemas.openxmlformats.org/markup-compatibility/2006">
                <mc:Choice xmlns:v="urn:schemas-microsoft-com:vml" Requires="v">
                  <p:oleObj spid="_x0000_s526373" name="公式" r:id="rId4" imgW="152280" imgH="164880" progId="Equation.3">
                    <p:embed/>
                  </p:oleObj>
                </mc:Choice>
                <mc:Fallback>
                  <p:oleObj name="公式" r:id="rId4" imgW="152280" imgH="16488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 y="1655"/>
                          <a:ext cx="177"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4" name="Line 7"/>
            <p:cNvSpPr>
              <a:spLocks noChangeShapeType="1"/>
            </p:cNvSpPr>
            <p:nvPr/>
          </p:nvSpPr>
          <p:spPr bwMode="auto">
            <a:xfrm>
              <a:off x="624" y="1008"/>
              <a:ext cx="153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15" name="Line 8"/>
            <p:cNvSpPr>
              <a:spLocks noChangeShapeType="1"/>
            </p:cNvSpPr>
            <p:nvPr/>
          </p:nvSpPr>
          <p:spPr bwMode="auto">
            <a:xfrm>
              <a:off x="576" y="2064"/>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16" name="Line 9"/>
            <p:cNvSpPr>
              <a:spLocks noChangeShapeType="1"/>
            </p:cNvSpPr>
            <p:nvPr/>
          </p:nvSpPr>
          <p:spPr bwMode="auto">
            <a:xfrm flipV="1">
              <a:off x="1680" y="1008"/>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17" name="Line 10"/>
            <p:cNvSpPr>
              <a:spLocks noChangeShapeType="1"/>
            </p:cNvSpPr>
            <p:nvPr/>
          </p:nvSpPr>
          <p:spPr bwMode="auto">
            <a:xfrm>
              <a:off x="576" y="2160"/>
              <a:ext cx="1584"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18" name="Group 11"/>
            <p:cNvGrpSpPr>
              <a:grpSpLocks/>
            </p:cNvGrpSpPr>
            <p:nvPr/>
          </p:nvGrpSpPr>
          <p:grpSpPr bwMode="auto">
            <a:xfrm>
              <a:off x="590" y="816"/>
              <a:ext cx="1089" cy="192"/>
              <a:chOff x="729" y="768"/>
              <a:chExt cx="1089" cy="240"/>
            </a:xfrm>
          </p:grpSpPr>
          <p:sp>
            <p:nvSpPr>
              <p:cNvPr id="345" name="Line 13"/>
              <p:cNvSpPr>
                <a:spLocks noChangeShapeType="1"/>
              </p:cNvSpPr>
              <p:nvPr/>
            </p:nvSpPr>
            <p:spPr bwMode="auto">
              <a:xfrm>
                <a:off x="901"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6" name="Line 14"/>
              <p:cNvSpPr>
                <a:spLocks noChangeShapeType="1"/>
              </p:cNvSpPr>
              <p:nvPr/>
            </p:nvSpPr>
            <p:spPr bwMode="auto">
              <a:xfrm>
                <a:off x="1089"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7" name="Line 15"/>
              <p:cNvSpPr>
                <a:spLocks noChangeShapeType="1"/>
              </p:cNvSpPr>
              <p:nvPr/>
            </p:nvSpPr>
            <p:spPr bwMode="auto">
              <a:xfrm>
                <a:off x="1269"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8" name="Line 16"/>
              <p:cNvSpPr>
                <a:spLocks noChangeShapeType="1"/>
              </p:cNvSpPr>
              <p:nvPr/>
            </p:nvSpPr>
            <p:spPr bwMode="auto">
              <a:xfrm>
                <a:off x="1449"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9" name="Line 17"/>
              <p:cNvSpPr>
                <a:spLocks noChangeShapeType="1"/>
              </p:cNvSpPr>
              <p:nvPr/>
            </p:nvSpPr>
            <p:spPr bwMode="auto">
              <a:xfrm>
                <a:off x="1629"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0" name="Line 18"/>
              <p:cNvSpPr>
                <a:spLocks noChangeShapeType="1"/>
              </p:cNvSpPr>
              <p:nvPr/>
            </p:nvSpPr>
            <p:spPr bwMode="auto">
              <a:xfrm>
                <a:off x="1809" y="768"/>
                <a:ext cx="0" cy="240"/>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1" name="Line 19"/>
              <p:cNvSpPr>
                <a:spLocks noChangeShapeType="1"/>
              </p:cNvSpPr>
              <p:nvPr/>
            </p:nvSpPr>
            <p:spPr bwMode="auto">
              <a:xfrm>
                <a:off x="729" y="768"/>
                <a:ext cx="1089" cy="0"/>
              </a:xfrm>
              <a:prstGeom prst="line">
                <a:avLst/>
              </a:prstGeom>
              <a:noFill/>
              <a:ln w="28575">
                <a:solidFill>
                  <a:srgbClr val="0033CC"/>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4" name="Line 12"/>
              <p:cNvSpPr>
                <a:spLocks noChangeShapeType="1"/>
              </p:cNvSpPr>
              <p:nvPr/>
            </p:nvSpPr>
            <p:spPr bwMode="auto">
              <a:xfrm>
                <a:off x="729" y="768"/>
                <a:ext cx="0" cy="198"/>
              </a:xfrm>
              <a:prstGeom prst="line">
                <a:avLst/>
              </a:prstGeom>
              <a:noFill/>
              <a:ln w="19050">
                <a:solidFill>
                  <a:srgbClr val="0033CC"/>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19" name="Object 20"/>
            <p:cNvGraphicFramePr>
              <a:graphicFrameLocks noChangeAspect="1"/>
            </p:cNvGraphicFramePr>
            <p:nvPr/>
          </p:nvGraphicFramePr>
          <p:xfrm>
            <a:off x="336" y="858"/>
            <a:ext cx="179" cy="194"/>
          </p:xfrm>
          <a:graphic>
            <a:graphicData uri="http://schemas.openxmlformats.org/presentationml/2006/ole">
              <mc:AlternateContent xmlns:mc="http://schemas.openxmlformats.org/markup-compatibility/2006">
                <mc:Choice xmlns:v="urn:schemas-microsoft-com:vml" Requires="v">
                  <p:oleObj spid="_x0000_s526374" name="公式" r:id="rId6" imgW="152280" imgH="164880" progId="Equation.3">
                    <p:embed/>
                  </p:oleObj>
                </mc:Choice>
                <mc:Fallback>
                  <p:oleObj name="公式" r:id="rId6" imgW="152280" imgH="16488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 y="858"/>
                          <a:ext cx="179" cy="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 name="Line 21"/>
            <p:cNvSpPr>
              <a:spLocks noChangeShapeType="1"/>
            </p:cNvSpPr>
            <p:nvPr/>
          </p:nvSpPr>
          <p:spPr bwMode="auto">
            <a:xfrm>
              <a:off x="288" y="1008"/>
              <a:ext cx="0" cy="768"/>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1" name="Line 22"/>
            <p:cNvSpPr>
              <a:spLocks noChangeShapeType="1"/>
            </p:cNvSpPr>
            <p:nvPr/>
          </p:nvSpPr>
          <p:spPr bwMode="auto">
            <a:xfrm>
              <a:off x="240" y="10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2" name="Line 23"/>
            <p:cNvSpPr>
              <a:spLocks noChangeShapeType="1"/>
            </p:cNvSpPr>
            <p:nvPr/>
          </p:nvSpPr>
          <p:spPr bwMode="auto">
            <a:xfrm>
              <a:off x="240" y="177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3" name="Line 24"/>
            <p:cNvSpPr>
              <a:spLocks noChangeShapeType="1"/>
            </p:cNvSpPr>
            <p:nvPr/>
          </p:nvSpPr>
          <p:spPr bwMode="auto">
            <a:xfrm>
              <a:off x="2160" y="672"/>
              <a:ext cx="0" cy="336"/>
            </a:xfrm>
            <a:prstGeom prst="line">
              <a:avLst/>
            </a:prstGeom>
            <a:noFill/>
            <a:ln w="38100">
              <a:solidFill>
                <a:srgbClr val="0033CC"/>
              </a:solidFill>
              <a:round/>
              <a:headEnd type="none" w="med" len="med"/>
              <a:tailEnd type="triangl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24" name="Object 25"/>
            <p:cNvGraphicFramePr>
              <a:graphicFrameLocks noChangeAspect="1"/>
            </p:cNvGraphicFramePr>
            <p:nvPr/>
          </p:nvGraphicFramePr>
          <p:xfrm>
            <a:off x="860" y="612"/>
            <a:ext cx="485" cy="184"/>
          </p:xfrm>
          <a:graphic>
            <a:graphicData uri="http://schemas.openxmlformats.org/presentationml/2006/ole">
              <mc:AlternateContent xmlns:mc="http://schemas.openxmlformats.org/markup-compatibility/2006">
                <mc:Choice xmlns:v="urn:schemas-microsoft-com:vml" Requires="v">
                  <p:oleObj spid="_x0000_s526375" name="Equation" r:id="rId8" imgW="469800" imgH="177480" progId="Equation.DSMT4">
                    <p:embed/>
                  </p:oleObj>
                </mc:Choice>
                <mc:Fallback>
                  <p:oleObj name="Equation" r:id="rId8" imgW="469800" imgH="177480" progId="Equation.DSMT4">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0" y="612"/>
                          <a:ext cx="485"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 name="Oval 26"/>
            <p:cNvSpPr>
              <a:spLocks noChangeArrowheads="1"/>
            </p:cNvSpPr>
            <p:nvPr/>
          </p:nvSpPr>
          <p:spPr bwMode="auto">
            <a:xfrm>
              <a:off x="528" y="115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6" name="Line 27"/>
            <p:cNvSpPr>
              <a:spLocks noChangeShapeType="1"/>
            </p:cNvSpPr>
            <p:nvPr/>
          </p:nvSpPr>
          <p:spPr bwMode="auto">
            <a:xfrm>
              <a:off x="576" y="1056"/>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7" name="Line 28"/>
            <p:cNvSpPr>
              <a:spLocks noChangeShapeType="1"/>
            </p:cNvSpPr>
            <p:nvPr/>
          </p:nvSpPr>
          <p:spPr bwMode="auto">
            <a:xfrm>
              <a:off x="384" y="1248"/>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8" name="Line 29"/>
            <p:cNvSpPr>
              <a:spLocks noChangeShapeType="1"/>
            </p:cNvSpPr>
            <p:nvPr/>
          </p:nvSpPr>
          <p:spPr bwMode="auto">
            <a:xfrm flipV="1">
              <a:off x="384"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29" name="Line 30"/>
            <p:cNvSpPr>
              <a:spLocks noChangeShapeType="1"/>
            </p:cNvSpPr>
            <p:nvPr/>
          </p:nvSpPr>
          <p:spPr bwMode="auto">
            <a:xfrm flipV="1">
              <a:off x="432"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0" name="Line 31"/>
            <p:cNvSpPr>
              <a:spLocks noChangeShapeType="1"/>
            </p:cNvSpPr>
            <p:nvPr/>
          </p:nvSpPr>
          <p:spPr bwMode="auto">
            <a:xfrm flipV="1">
              <a:off x="480"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1" name="Line 32"/>
            <p:cNvSpPr>
              <a:spLocks noChangeShapeType="1"/>
            </p:cNvSpPr>
            <p:nvPr/>
          </p:nvSpPr>
          <p:spPr bwMode="auto">
            <a:xfrm flipV="1">
              <a:off x="528"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2" name="Line 33"/>
            <p:cNvSpPr>
              <a:spLocks noChangeShapeType="1"/>
            </p:cNvSpPr>
            <p:nvPr/>
          </p:nvSpPr>
          <p:spPr bwMode="auto">
            <a:xfrm flipV="1">
              <a:off x="576"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3" name="Line 34"/>
            <p:cNvSpPr>
              <a:spLocks noChangeShapeType="1"/>
            </p:cNvSpPr>
            <p:nvPr/>
          </p:nvSpPr>
          <p:spPr bwMode="auto">
            <a:xfrm flipV="1">
              <a:off x="624"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4" name="Line 35"/>
            <p:cNvSpPr>
              <a:spLocks noChangeShapeType="1"/>
            </p:cNvSpPr>
            <p:nvPr/>
          </p:nvSpPr>
          <p:spPr bwMode="auto">
            <a:xfrm flipV="1">
              <a:off x="672"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5" name="Line 36"/>
            <p:cNvSpPr>
              <a:spLocks noChangeShapeType="1"/>
            </p:cNvSpPr>
            <p:nvPr/>
          </p:nvSpPr>
          <p:spPr bwMode="auto">
            <a:xfrm flipV="1">
              <a:off x="336" y="1248"/>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7" name="Oval 37"/>
            <p:cNvSpPr>
              <a:spLocks noChangeArrowheads="1"/>
            </p:cNvSpPr>
            <p:nvPr/>
          </p:nvSpPr>
          <p:spPr bwMode="auto">
            <a:xfrm>
              <a:off x="528" y="96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44" name="Object 38"/>
            <p:cNvGraphicFramePr>
              <a:graphicFrameLocks noChangeAspect="1"/>
            </p:cNvGraphicFramePr>
            <p:nvPr/>
          </p:nvGraphicFramePr>
          <p:xfrm>
            <a:off x="1007" y="1973"/>
            <a:ext cx="258" cy="190"/>
          </p:xfrm>
          <a:graphic>
            <a:graphicData uri="http://schemas.openxmlformats.org/presentationml/2006/ole">
              <mc:AlternateContent xmlns:mc="http://schemas.openxmlformats.org/markup-compatibility/2006">
                <mc:Choice xmlns:v="urn:schemas-microsoft-com:vml" Requires="v">
                  <p:oleObj spid="_x0000_s526376" name="Equation" r:id="rId10" imgW="241200" imgH="177480" progId="Equation.DSMT4">
                    <p:embed/>
                  </p:oleObj>
                </mc:Choice>
                <mc:Fallback>
                  <p:oleObj name="Equation" r:id="rId10" imgW="241200" imgH="177480" progId="Equation.DSMT4">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7" y="1973"/>
                          <a:ext cx="258"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7" name="Group 39"/>
            <p:cNvGrpSpPr>
              <a:grpSpLocks/>
            </p:cNvGrpSpPr>
            <p:nvPr/>
          </p:nvGrpSpPr>
          <p:grpSpPr bwMode="auto">
            <a:xfrm>
              <a:off x="1392" y="1728"/>
              <a:ext cx="379" cy="360"/>
              <a:chOff x="576" y="3324"/>
              <a:chExt cx="379" cy="360"/>
            </a:xfrm>
          </p:grpSpPr>
          <p:sp>
            <p:nvSpPr>
              <p:cNvPr id="333" name="Line 42"/>
              <p:cNvSpPr>
                <a:spLocks noChangeShapeType="1"/>
              </p:cNvSpPr>
              <p:nvPr/>
            </p:nvSpPr>
            <p:spPr bwMode="auto">
              <a:xfrm>
                <a:off x="718" y="3369"/>
                <a:ext cx="95"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4" name="Line 43"/>
              <p:cNvSpPr>
                <a:spLocks noChangeShapeType="1"/>
              </p:cNvSpPr>
              <p:nvPr/>
            </p:nvSpPr>
            <p:spPr bwMode="auto">
              <a:xfrm>
                <a:off x="860" y="3414"/>
                <a:ext cx="0" cy="9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Line 44"/>
              <p:cNvSpPr>
                <a:spLocks noChangeShapeType="1"/>
              </p:cNvSpPr>
              <p:nvPr/>
            </p:nvSpPr>
            <p:spPr bwMode="auto">
              <a:xfrm>
                <a:off x="576" y="3324"/>
                <a:ext cx="379" cy="36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6" name="Line 45"/>
              <p:cNvSpPr>
                <a:spLocks noChangeShapeType="1"/>
              </p:cNvSpPr>
              <p:nvPr/>
            </p:nvSpPr>
            <p:spPr bwMode="auto">
              <a:xfrm>
                <a:off x="576" y="341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46"/>
              <p:cNvSpPr>
                <a:spLocks noChangeShapeType="1"/>
              </p:cNvSpPr>
              <p:nvPr/>
            </p:nvSpPr>
            <p:spPr bwMode="auto">
              <a:xfrm>
                <a:off x="623" y="3459"/>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Line 47"/>
              <p:cNvSpPr>
                <a:spLocks noChangeShapeType="1"/>
              </p:cNvSpPr>
              <p:nvPr/>
            </p:nvSpPr>
            <p:spPr bwMode="auto">
              <a:xfrm>
                <a:off x="671" y="3504"/>
                <a:ext cx="94"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48"/>
              <p:cNvSpPr>
                <a:spLocks noChangeShapeType="1"/>
              </p:cNvSpPr>
              <p:nvPr/>
            </p:nvSpPr>
            <p:spPr bwMode="auto">
              <a:xfrm>
                <a:off x="718" y="3549"/>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49"/>
              <p:cNvSpPr>
                <a:spLocks noChangeShapeType="1"/>
              </p:cNvSpPr>
              <p:nvPr/>
            </p:nvSpPr>
            <p:spPr bwMode="auto">
              <a:xfrm>
                <a:off x="765" y="359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Line 50"/>
              <p:cNvSpPr>
                <a:spLocks noChangeShapeType="1"/>
              </p:cNvSpPr>
              <p:nvPr/>
            </p:nvSpPr>
            <p:spPr bwMode="auto">
              <a:xfrm>
                <a:off x="813" y="3639"/>
                <a:ext cx="94"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2" name="Line 51"/>
              <p:cNvSpPr>
                <a:spLocks noChangeShapeType="1"/>
              </p:cNvSpPr>
              <p:nvPr/>
            </p:nvSpPr>
            <p:spPr bwMode="auto">
              <a:xfrm>
                <a:off x="860" y="368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3" name="Oval 52"/>
              <p:cNvSpPr>
                <a:spLocks noChangeArrowheads="1"/>
              </p:cNvSpPr>
              <p:nvPr/>
            </p:nvSpPr>
            <p:spPr bwMode="auto">
              <a:xfrm>
                <a:off x="813" y="3324"/>
                <a:ext cx="94" cy="90"/>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7" name="Oval 41"/>
              <p:cNvSpPr>
                <a:spLocks noChangeArrowheads="1"/>
              </p:cNvSpPr>
              <p:nvPr/>
            </p:nvSpPr>
            <p:spPr bwMode="auto">
              <a:xfrm>
                <a:off x="623" y="3324"/>
                <a:ext cx="95" cy="90"/>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Oval 40"/>
              <p:cNvSpPr>
                <a:spLocks noChangeArrowheads="1"/>
              </p:cNvSpPr>
              <p:nvPr/>
            </p:nvSpPr>
            <p:spPr bwMode="auto">
              <a:xfrm>
                <a:off x="813" y="3504"/>
                <a:ext cx="94" cy="90"/>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262" name="Object 53"/>
            <p:cNvGraphicFramePr>
              <a:graphicFrameLocks noChangeAspect="1"/>
            </p:cNvGraphicFramePr>
            <p:nvPr/>
          </p:nvGraphicFramePr>
          <p:xfrm>
            <a:off x="2211" y="624"/>
            <a:ext cx="326" cy="184"/>
          </p:xfrm>
          <a:graphic>
            <a:graphicData uri="http://schemas.openxmlformats.org/presentationml/2006/ole">
              <mc:AlternateContent xmlns:mc="http://schemas.openxmlformats.org/markup-compatibility/2006">
                <mc:Choice xmlns:v="urn:schemas-microsoft-com:vml" Requires="v">
                  <p:oleObj spid="_x0000_s526377" name="Equation" r:id="rId12" imgW="317160" imgH="177480" progId="Equation.DSMT4">
                    <p:embed/>
                  </p:oleObj>
                </mc:Choice>
                <mc:Fallback>
                  <p:oleObj name="Equation" r:id="rId12" imgW="317160" imgH="177480" progId="Equation.DSMT4">
                    <p:embed/>
                    <p:pic>
                      <p:nvPicPr>
                        <p:cNvPr id="0" name="Object 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11" y="624"/>
                          <a:ext cx="326"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0" name="Line 54"/>
            <p:cNvSpPr>
              <a:spLocks noChangeShapeType="1"/>
            </p:cNvSpPr>
            <p:nvPr/>
          </p:nvSpPr>
          <p:spPr bwMode="auto">
            <a:xfrm>
              <a:off x="1680" y="2112"/>
              <a:ext cx="0" cy="14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92" name="Object 55"/>
            <p:cNvGraphicFramePr>
              <a:graphicFrameLocks noChangeAspect="1"/>
            </p:cNvGraphicFramePr>
            <p:nvPr/>
          </p:nvGraphicFramePr>
          <p:xfrm>
            <a:off x="1805" y="1980"/>
            <a:ext cx="249" cy="183"/>
          </p:xfrm>
          <a:graphic>
            <a:graphicData uri="http://schemas.openxmlformats.org/presentationml/2006/ole">
              <mc:AlternateContent xmlns:mc="http://schemas.openxmlformats.org/markup-compatibility/2006">
                <mc:Choice xmlns:v="urn:schemas-microsoft-com:vml" Requires="v">
                  <p:oleObj spid="_x0000_s526378" name="公式" r:id="rId14" imgW="241200" imgH="177480" progId="Equation.3">
                    <p:embed/>
                  </p:oleObj>
                </mc:Choice>
                <mc:Fallback>
                  <p:oleObj name="公式" r:id="rId14" imgW="241200" imgH="177480" progId="Equation.3">
                    <p:embed/>
                    <p:pic>
                      <p:nvPicPr>
                        <p:cNvPr id="0" name="Object 5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05" y="1980"/>
                          <a:ext cx="249" cy="1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 name="Object 56"/>
            <p:cNvGraphicFramePr>
              <a:graphicFrameLocks noChangeAspect="1"/>
            </p:cNvGraphicFramePr>
            <p:nvPr/>
          </p:nvGraphicFramePr>
          <p:xfrm>
            <a:off x="28" y="1298"/>
            <a:ext cx="247" cy="190"/>
          </p:xfrm>
          <a:graphic>
            <a:graphicData uri="http://schemas.openxmlformats.org/presentationml/2006/ole">
              <mc:AlternateContent xmlns:mc="http://schemas.openxmlformats.org/markup-compatibility/2006">
                <mc:Choice xmlns:v="urn:schemas-microsoft-com:vml" Requires="v">
                  <p:oleObj spid="_x0000_s526379" name="公式" r:id="rId16" imgW="228600" imgH="177480" progId="Equation.3">
                    <p:embed/>
                  </p:oleObj>
                </mc:Choice>
                <mc:Fallback>
                  <p:oleObj name="公式" r:id="rId16" imgW="228600" imgH="177480" progId="Equation.3">
                    <p:embed/>
                    <p:pic>
                      <p:nvPicPr>
                        <p:cNvPr id="0" name="Object 5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 y="1298"/>
                          <a:ext cx="247"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4" name="Line 57"/>
            <p:cNvSpPr>
              <a:spLocks noChangeShapeType="1"/>
            </p:cNvSpPr>
            <p:nvPr/>
          </p:nvSpPr>
          <p:spPr bwMode="auto">
            <a:xfrm>
              <a:off x="2160" y="2112"/>
              <a:ext cx="0" cy="14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52" name="Group 58"/>
          <p:cNvGrpSpPr>
            <a:grpSpLocks/>
          </p:cNvGrpSpPr>
          <p:nvPr/>
        </p:nvGrpSpPr>
        <p:grpSpPr bwMode="auto">
          <a:xfrm>
            <a:off x="5386414" y="2733700"/>
            <a:ext cx="2895600" cy="1790700"/>
            <a:chOff x="3024" y="1008"/>
            <a:chExt cx="1824" cy="1128"/>
          </a:xfrm>
        </p:grpSpPr>
        <p:sp>
          <p:nvSpPr>
            <p:cNvPr id="353" name="Line 59"/>
            <p:cNvSpPr>
              <a:spLocks noChangeShapeType="1"/>
            </p:cNvSpPr>
            <p:nvPr/>
          </p:nvSpPr>
          <p:spPr bwMode="auto">
            <a:xfrm>
              <a:off x="3312" y="1056"/>
              <a:ext cx="153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4" name="Line 60"/>
            <p:cNvSpPr>
              <a:spLocks noChangeShapeType="1"/>
            </p:cNvSpPr>
            <p:nvPr/>
          </p:nvSpPr>
          <p:spPr bwMode="auto">
            <a:xfrm flipV="1">
              <a:off x="4368" y="1056"/>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7" name="Line 63"/>
            <p:cNvSpPr>
              <a:spLocks noChangeShapeType="1"/>
            </p:cNvSpPr>
            <p:nvPr/>
          </p:nvSpPr>
          <p:spPr bwMode="auto">
            <a:xfrm>
              <a:off x="3072" y="129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8" name="Line 64"/>
            <p:cNvSpPr>
              <a:spLocks noChangeShapeType="1"/>
            </p:cNvSpPr>
            <p:nvPr/>
          </p:nvSpPr>
          <p:spPr bwMode="auto">
            <a:xfrm flipV="1">
              <a:off x="3072"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9" name="Line 65"/>
            <p:cNvSpPr>
              <a:spLocks noChangeShapeType="1"/>
            </p:cNvSpPr>
            <p:nvPr/>
          </p:nvSpPr>
          <p:spPr bwMode="auto">
            <a:xfrm flipV="1">
              <a:off x="3120"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0" name="Line 66"/>
            <p:cNvSpPr>
              <a:spLocks noChangeShapeType="1"/>
            </p:cNvSpPr>
            <p:nvPr/>
          </p:nvSpPr>
          <p:spPr bwMode="auto">
            <a:xfrm flipV="1">
              <a:off x="3168"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1" name="Line 67"/>
            <p:cNvSpPr>
              <a:spLocks noChangeShapeType="1"/>
            </p:cNvSpPr>
            <p:nvPr/>
          </p:nvSpPr>
          <p:spPr bwMode="auto">
            <a:xfrm flipV="1">
              <a:off x="3216"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2" name="Line 68"/>
            <p:cNvSpPr>
              <a:spLocks noChangeShapeType="1"/>
            </p:cNvSpPr>
            <p:nvPr/>
          </p:nvSpPr>
          <p:spPr bwMode="auto">
            <a:xfrm flipV="1">
              <a:off x="3264"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3" name="Line 69"/>
            <p:cNvSpPr>
              <a:spLocks noChangeShapeType="1"/>
            </p:cNvSpPr>
            <p:nvPr/>
          </p:nvSpPr>
          <p:spPr bwMode="auto">
            <a:xfrm flipV="1">
              <a:off x="3312"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4" name="Line 70"/>
            <p:cNvSpPr>
              <a:spLocks noChangeShapeType="1"/>
            </p:cNvSpPr>
            <p:nvPr/>
          </p:nvSpPr>
          <p:spPr bwMode="auto">
            <a:xfrm flipV="1">
              <a:off x="3360"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5" name="Line 71"/>
            <p:cNvSpPr>
              <a:spLocks noChangeShapeType="1"/>
            </p:cNvSpPr>
            <p:nvPr/>
          </p:nvSpPr>
          <p:spPr bwMode="auto">
            <a:xfrm flipV="1">
              <a:off x="3024" y="129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67" name="Group 73"/>
            <p:cNvGrpSpPr>
              <a:grpSpLocks/>
            </p:cNvGrpSpPr>
            <p:nvPr/>
          </p:nvGrpSpPr>
          <p:grpSpPr bwMode="auto">
            <a:xfrm>
              <a:off x="4080" y="1776"/>
              <a:ext cx="379" cy="360"/>
              <a:chOff x="576" y="3324"/>
              <a:chExt cx="379" cy="360"/>
            </a:xfrm>
          </p:grpSpPr>
          <p:sp>
            <p:nvSpPr>
              <p:cNvPr id="372" name="Line 78"/>
              <p:cNvSpPr>
                <a:spLocks noChangeShapeType="1"/>
              </p:cNvSpPr>
              <p:nvPr/>
            </p:nvSpPr>
            <p:spPr bwMode="auto">
              <a:xfrm>
                <a:off x="576" y="3324"/>
                <a:ext cx="379" cy="360"/>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79"/>
              <p:cNvSpPr>
                <a:spLocks noChangeShapeType="1"/>
              </p:cNvSpPr>
              <p:nvPr/>
            </p:nvSpPr>
            <p:spPr bwMode="auto">
              <a:xfrm>
                <a:off x="576" y="341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80"/>
              <p:cNvSpPr>
                <a:spLocks noChangeShapeType="1"/>
              </p:cNvSpPr>
              <p:nvPr/>
            </p:nvSpPr>
            <p:spPr bwMode="auto">
              <a:xfrm>
                <a:off x="623" y="3459"/>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81"/>
              <p:cNvSpPr>
                <a:spLocks noChangeShapeType="1"/>
              </p:cNvSpPr>
              <p:nvPr/>
            </p:nvSpPr>
            <p:spPr bwMode="auto">
              <a:xfrm>
                <a:off x="671" y="3504"/>
                <a:ext cx="94"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6" name="Line 82"/>
              <p:cNvSpPr>
                <a:spLocks noChangeShapeType="1"/>
              </p:cNvSpPr>
              <p:nvPr/>
            </p:nvSpPr>
            <p:spPr bwMode="auto">
              <a:xfrm>
                <a:off x="718" y="3549"/>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83"/>
              <p:cNvSpPr>
                <a:spLocks noChangeShapeType="1"/>
              </p:cNvSpPr>
              <p:nvPr/>
            </p:nvSpPr>
            <p:spPr bwMode="auto">
              <a:xfrm>
                <a:off x="765" y="359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84"/>
              <p:cNvSpPr>
                <a:spLocks noChangeShapeType="1"/>
              </p:cNvSpPr>
              <p:nvPr/>
            </p:nvSpPr>
            <p:spPr bwMode="auto">
              <a:xfrm>
                <a:off x="813" y="3639"/>
                <a:ext cx="94"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Line 85"/>
              <p:cNvSpPr>
                <a:spLocks noChangeShapeType="1"/>
              </p:cNvSpPr>
              <p:nvPr/>
            </p:nvSpPr>
            <p:spPr bwMode="auto">
              <a:xfrm>
                <a:off x="860" y="3684"/>
                <a:ext cx="95"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Oval 74"/>
              <p:cNvSpPr>
                <a:spLocks noChangeArrowheads="1"/>
              </p:cNvSpPr>
              <p:nvPr/>
            </p:nvSpPr>
            <p:spPr bwMode="auto">
              <a:xfrm>
                <a:off x="813" y="3504"/>
                <a:ext cx="94" cy="90"/>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Oval 75"/>
              <p:cNvSpPr>
                <a:spLocks noChangeArrowheads="1"/>
              </p:cNvSpPr>
              <p:nvPr/>
            </p:nvSpPr>
            <p:spPr bwMode="auto">
              <a:xfrm>
                <a:off x="623" y="3324"/>
                <a:ext cx="95" cy="90"/>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76"/>
              <p:cNvSpPr>
                <a:spLocks noChangeShapeType="1"/>
              </p:cNvSpPr>
              <p:nvPr/>
            </p:nvSpPr>
            <p:spPr bwMode="auto">
              <a:xfrm>
                <a:off x="718" y="3369"/>
                <a:ext cx="95"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1" name="Line 77"/>
              <p:cNvSpPr>
                <a:spLocks noChangeShapeType="1"/>
              </p:cNvSpPr>
              <p:nvPr/>
            </p:nvSpPr>
            <p:spPr bwMode="auto">
              <a:xfrm>
                <a:off x="860" y="3414"/>
                <a:ext cx="0" cy="9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Oval 86"/>
              <p:cNvSpPr>
                <a:spLocks noChangeArrowheads="1"/>
              </p:cNvSpPr>
              <p:nvPr/>
            </p:nvSpPr>
            <p:spPr bwMode="auto">
              <a:xfrm>
                <a:off x="813" y="3324"/>
                <a:ext cx="94" cy="90"/>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55" name="Oval 61"/>
            <p:cNvSpPr>
              <a:spLocks noChangeArrowheads="1"/>
            </p:cNvSpPr>
            <p:nvPr/>
          </p:nvSpPr>
          <p:spPr bwMode="auto">
            <a:xfrm>
              <a:off x="3216" y="1200"/>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6" name="Line 62"/>
            <p:cNvSpPr>
              <a:spLocks noChangeShapeType="1"/>
            </p:cNvSpPr>
            <p:nvPr/>
          </p:nvSpPr>
          <p:spPr bwMode="auto">
            <a:xfrm>
              <a:off x="3264" y="1104"/>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Oval 72"/>
            <p:cNvSpPr>
              <a:spLocks noChangeArrowheads="1"/>
            </p:cNvSpPr>
            <p:nvPr/>
          </p:nvSpPr>
          <p:spPr bwMode="auto">
            <a:xfrm>
              <a:off x="3216" y="1008"/>
              <a:ext cx="96" cy="96"/>
            </a:xfrm>
            <a:prstGeom prst="ellipse">
              <a:avLst/>
            </a:prstGeom>
            <a:solidFill>
              <a:schemeClr val="bg1"/>
            </a:solid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81" name="Group 87"/>
          <p:cNvGrpSpPr>
            <a:grpSpLocks/>
          </p:cNvGrpSpPr>
          <p:nvPr/>
        </p:nvGrpSpPr>
        <p:grpSpPr bwMode="auto">
          <a:xfrm>
            <a:off x="5878540" y="2509862"/>
            <a:ext cx="517525" cy="755650"/>
            <a:chOff x="3334" y="867"/>
            <a:chExt cx="326" cy="476"/>
          </a:xfrm>
        </p:grpSpPr>
        <p:sp>
          <p:nvSpPr>
            <p:cNvPr id="382" name="Freeform 88"/>
            <p:cNvSpPr>
              <a:spLocks/>
            </p:cNvSpPr>
            <p:nvPr/>
          </p:nvSpPr>
          <p:spPr bwMode="auto">
            <a:xfrm rot="16200000" flipH="1">
              <a:off x="3238" y="963"/>
              <a:ext cx="384" cy="192"/>
            </a:xfrm>
            <a:custGeom>
              <a:avLst/>
              <a:gdLst>
                <a:gd name="T0" fmla="*/ 0 w 480"/>
                <a:gd name="T1" fmla="*/ 154 h 240"/>
                <a:gd name="T2" fmla="*/ 77 w 480"/>
                <a:gd name="T3" fmla="*/ 38 h 240"/>
                <a:gd name="T4" fmla="*/ 192 w 480"/>
                <a:gd name="T5" fmla="*/ 0 h 240"/>
                <a:gd name="T6" fmla="*/ 307 w 480"/>
                <a:gd name="T7" fmla="*/ 38 h 240"/>
                <a:gd name="T8" fmla="*/ 384 w 480"/>
                <a:gd name="T9" fmla="*/ 192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a:tailEnd type="triangl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3" name="Object 89"/>
            <p:cNvGraphicFramePr>
              <a:graphicFrameLocks noChangeAspect="1"/>
            </p:cNvGraphicFramePr>
            <p:nvPr/>
          </p:nvGraphicFramePr>
          <p:xfrm>
            <a:off x="3546" y="1131"/>
            <a:ext cx="114" cy="212"/>
          </p:xfrm>
          <a:graphic>
            <a:graphicData uri="http://schemas.openxmlformats.org/presentationml/2006/ole">
              <mc:AlternateContent xmlns:mc="http://schemas.openxmlformats.org/markup-compatibility/2006">
                <mc:Choice xmlns:v="urn:schemas-microsoft-com:vml" Requires="v">
                  <p:oleObj spid="_x0000_s526380" name="Equation" r:id="rId18" imgW="88560" imgH="164880" progId="Equation.DSMT4">
                    <p:embed/>
                  </p:oleObj>
                </mc:Choice>
                <mc:Fallback>
                  <p:oleObj name="Equation" r:id="rId18" imgW="88560" imgH="164880" progId="Equation.DSMT4">
                    <p:embed/>
                    <p:pic>
                      <p:nvPicPr>
                        <p:cNvPr id="0" name="Object 8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46" y="1131"/>
                          <a:ext cx="11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84" name="Group 90"/>
          <p:cNvGrpSpPr>
            <a:grpSpLocks/>
          </p:cNvGrpSpPr>
          <p:nvPr/>
        </p:nvGrpSpPr>
        <p:grpSpPr bwMode="auto">
          <a:xfrm>
            <a:off x="1816985" y="2175387"/>
            <a:ext cx="2449513" cy="1325563"/>
            <a:chOff x="761" y="624"/>
            <a:chExt cx="1543" cy="835"/>
          </a:xfrm>
        </p:grpSpPr>
        <p:sp>
          <p:nvSpPr>
            <p:cNvPr id="385" name="Line 91"/>
            <p:cNvSpPr>
              <a:spLocks noChangeShapeType="1"/>
            </p:cNvSpPr>
            <p:nvPr/>
          </p:nvSpPr>
          <p:spPr bwMode="auto">
            <a:xfrm flipH="1">
              <a:off x="1824" y="624"/>
              <a:ext cx="0" cy="384"/>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Line 92"/>
            <p:cNvSpPr>
              <a:spLocks noChangeShapeType="1"/>
            </p:cNvSpPr>
            <p:nvPr/>
          </p:nvSpPr>
          <p:spPr bwMode="auto">
            <a:xfrm>
              <a:off x="1824" y="624"/>
              <a:ext cx="480" cy="432"/>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93"/>
            <p:cNvSpPr>
              <a:spLocks noChangeShapeType="1"/>
            </p:cNvSpPr>
            <p:nvPr/>
          </p:nvSpPr>
          <p:spPr bwMode="auto">
            <a:xfrm flipH="1">
              <a:off x="768" y="624"/>
              <a:ext cx="1056" cy="432"/>
            </a:xfrm>
            <a:prstGeom prst="line">
              <a:avLst/>
            </a:prstGeom>
            <a:noFill/>
            <a:ln w="19050">
              <a:solidFill>
                <a:srgbClr val="FF0000"/>
              </a:solidFill>
              <a:prstDash val="lgDash"/>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8" name="Object 94"/>
            <p:cNvGraphicFramePr>
              <a:graphicFrameLocks noChangeAspect="1"/>
            </p:cNvGraphicFramePr>
            <p:nvPr/>
          </p:nvGraphicFramePr>
          <p:xfrm>
            <a:off x="761" y="624"/>
            <a:ext cx="1080" cy="546"/>
          </p:xfrm>
          <a:graphic>
            <a:graphicData uri="http://schemas.openxmlformats.org/presentationml/2006/ole">
              <mc:AlternateContent xmlns:mc="http://schemas.openxmlformats.org/markup-compatibility/2006">
                <mc:Choice xmlns:v="urn:schemas-microsoft-com:vml" Requires="v">
                  <p:oleObj spid="_x0000_s526381" name="BMP 图象" r:id="rId20" imgW="1714739" imgH="866896" progId="PBrush">
                    <p:embed/>
                  </p:oleObj>
                </mc:Choice>
                <mc:Fallback>
                  <p:oleObj name="BMP 图象" r:id="rId20" imgW="1714739" imgH="866896" progId="PBrush">
                    <p:embed/>
                    <p:pic>
                      <p:nvPicPr>
                        <p:cNvPr id="0" name="Object 94"/>
                        <p:cNvPicPr>
                          <a:picLocks noChangeAspect="1" noChangeArrowheads="1"/>
                        </p:cNvPicPr>
                        <p:nvPr/>
                      </p:nvPicPr>
                      <p:blipFill>
                        <a:blip r:embed="rId2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1" y="624"/>
                          <a:ext cx="1080"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 name="Line 95"/>
            <p:cNvSpPr>
              <a:spLocks noChangeShapeType="1"/>
            </p:cNvSpPr>
            <p:nvPr/>
          </p:nvSpPr>
          <p:spPr bwMode="auto">
            <a:xfrm>
              <a:off x="1824" y="864"/>
              <a:ext cx="288" cy="43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0" name="Object 96"/>
            <p:cNvGraphicFramePr>
              <a:graphicFrameLocks noChangeAspect="1"/>
            </p:cNvGraphicFramePr>
            <p:nvPr/>
          </p:nvGraphicFramePr>
          <p:xfrm>
            <a:off x="2091" y="1287"/>
            <a:ext cx="184" cy="172"/>
          </p:xfrm>
          <a:graphic>
            <a:graphicData uri="http://schemas.openxmlformats.org/presentationml/2006/ole">
              <mc:AlternateContent xmlns:mc="http://schemas.openxmlformats.org/markup-compatibility/2006">
                <mc:Choice xmlns:v="urn:schemas-microsoft-com:vml" Requires="v">
                  <p:oleObj spid="_x0000_s526382" name="Equation" r:id="rId22" imgW="177480" imgH="164880" progId="Equation.DSMT4">
                    <p:embed/>
                  </p:oleObj>
                </mc:Choice>
                <mc:Fallback>
                  <p:oleObj name="Equation" r:id="rId22" imgW="177480" imgH="164880" progId="Equation.DSMT4">
                    <p:embed/>
                    <p:pic>
                      <p:nvPicPr>
                        <p:cNvPr id="0" name="Object 9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91" y="1287"/>
                          <a:ext cx="184"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 name="Line 97"/>
            <p:cNvSpPr>
              <a:spLocks noChangeShapeType="1"/>
            </p:cNvSpPr>
            <p:nvPr/>
          </p:nvSpPr>
          <p:spPr bwMode="auto">
            <a:xfrm>
              <a:off x="1344" y="816"/>
              <a:ext cx="0" cy="288"/>
            </a:xfrm>
            <a:prstGeom prst="line">
              <a:avLst/>
            </a:prstGeom>
            <a:noFill/>
            <a:ln w="28575">
              <a:solidFill>
                <a:srgbClr val="FF0000"/>
              </a:solidFill>
              <a:round/>
              <a:headEnd type="arrow" w="med" len="med"/>
              <a:tailEnd type="arrow"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98"/>
            <p:cNvSpPr>
              <a:spLocks noChangeShapeType="1"/>
            </p:cNvSpPr>
            <p:nvPr/>
          </p:nvSpPr>
          <p:spPr bwMode="auto">
            <a:xfrm flipH="1">
              <a:off x="1104" y="960"/>
              <a:ext cx="240" cy="24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3" name="Object 99"/>
            <p:cNvGraphicFramePr>
              <a:graphicFrameLocks noChangeAspect="1"/>
            </p:cNvGraphicFramePr>
            <p:nvPr/>
          </p:nvGraphicFramePr>
          <p:xfrm>
            <a:off x="991" y="1152"/>
            <a:ext cx="131" cy="172"/>
          </p:xfrm>
          <a:graphic>
            <a:graphicData uri="http://schemas.openxmlformats.org/presentationml/2006/ole">
              <mc:AlternateContent xmlns:mc="http://schemas.openxmlformats.org/markup-compatibility/2006">
                <mc:Choice xmlns:v="urn:schemas-microsoft-com:vml" Requires="v">
                  <p:oleObj spid="_x0000_s526383" name="Equation" r:id="rId24" imgW="126720" imgH="164880" progId="Equation.DSMT4">
                    <p:embed/>
                  </p:oleObj>
                </mc:Choice>
                <mc:Fallback>
                  <p:oleObj name="Equation" r:id="rId24" imgW="126720" imgH="164880" progId="Equation.DSMT4">
                    <p:embed/>
                    <p:pic>
                      <p:nvPicPr>
                        <p:cNvPr id="0" name="Object 9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91" y="1152"/>
                          <a:ext cx="131"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94" name="Group 100"/>
          <p:cNvGrpSpPr>
            <a:grpSpLocks/>
          </p:cNvGrpSpPr>
          <p:nvPr/>
        </p:nvGrpSpPr>
        <p:grpSpPr bwMode="auto">
          <a:xfrm>
            <a:off x="5767414" y="2276500"/>
            <a:ext cx="1752600" cy="1524000"/>
            <a:chOff x="3264" y="720"/>
            <a:chExt cx="1104" cy="960"/>
          </a:xfrm>
        </p:grpSpPr>
        <p:grpSp>
          <p:nvGrpSpPr>
            <p:cNvPr id="395" name="Group 101"/>
            <p:cNvGrpSpPr>
              <a:grpSpLocks/>
            </p:cNvGrpSpPr>
            <p:nvPr/>
          </p:nvGrpSpPr>
          <p:grpSpPr bwMode="auto">
            <a:xfrm>
              <a:off x="3264" y="720"/>
              <a:ext cx="1104" cy="336"/>
              <a:chOff x="3264" y="720"/>
              <a:chExt cx="1104" cy="336"/>
            </a:xfrm>
          </p:grpSpPr>
          <p:sp>
            <p:nvSpPr>
              <p:cNvPr id="397" name="Line 102"/>
              <p:cNvSpPr>
                <a:spLocks noChangeShapeType="1"/>
              </p:cNvSpPr>
              <p:nvPr/>
            </p:nvSpPr>
            <p:spPr bwMode="auto">
              <a:xfrm>
                <a:off x="3264" y="720"/>
                <a:ext cx="0" cy="288"/>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8" name="Line 103"/>
              <p:cNvSpPr>
                <a:spLocks noChangeShapeType="1"/>
              </p:cNvSpPr>
              <p:nvPr/>
            </p:nvSpPr>
            <p:spPr bwMode="auto">
              <a:xfrm>
                <a:off x="3264" y="720"/>
                <a:ext cx="1104" cy="336"/>
              </a:xfrm>
              <a:prstGeom prst="line">
                <a:avLst/>
              </a:prstGeom>
              <a:noFill/>
              <a:ln w="3810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96" name="Oval 104"/>
            <p:cNvSpPr>
              <a:spLocks noChangeArrowheads="1"/>
            </p:cNvSpPr>
            <p:nvPr/>
          </p:nvSpPr>
          <p:spPr bwMode="auto">
            <a:xfrm>
              <a:off x="3648" y="1392"/>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i</a:t>
              </a:r>
              <a:endParaRPr kumimoji="1" lang="en-US" altLang="zh-CN" sz="2400" b="1"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grpSp>
        <p:nvGrpSpPr>
          <p:cNvPr id="399" name="Group 105"/>
          <p:cNvGrpSpPr>
            <a:grpSpLocks/>
          </p:cNvGrpSpPr>
          <p:nvPr/>
        </p:nvGrpSpPr>
        <p:grpSpPr bwMode="auto">
          <a:xfrm>
            <a:off x="1857356" y="5286388"/>
            <a:ext cx="4987925" cy="1341120"/>
            <a:chOff x="1011" y="2769"/>
            <a:chExt cx="3142" cy="880"/>
          </a:xfrm>
        </p:grpSpPr>
        <p:graphicFrame>
          <p:nvGraphicFramePr>
            <p:cNvPr id="400" name="Object 106"/>
            <p:cNvGraphicFramePr>
              <a:graphicFrameLocks noChangeAspect="1"/>
            </p:cNvGraphicFramePr>
            <p:nvPr/>
          </p:nvGraphicFramePr>
          <p:xfrm>
            <a:off x="1011" y="2769"/>
            <a:ext cx="3142" cy="880"/>
          </p:xfrm>
          <a:graphic>
            <a:graphicData uri="http://schemas.openxmlformats.org/presentationml/2006/ole">
              <mc:AlternateContent xmlns:mc="http://schemas.openxmlformats.org/markup-compatibility/2006">
                <mc:Choice xmlns:v="urn:schemas-microsoft-com:vml" Requires="v">
                  <p:oleObj spid="_x0000_s526384" name="Equation" r:id="rId26" imgW="3022560" imgH="812520" progId="Equation.DSMT4">
                    <p:embed/>
                  </p:oleObj>
                </mc:Choice>
                <mc:Fallback>
                  <p:oleObj name="Equation" r:id="rId26" imgW="3022560" imgH="812520" progId="Equation.DSMT4">
                    <p:embed/>
                    <p:pic>
                      <p:nvPicPr>
                        <p:cNvPr id="0" name="Object 10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11" y="2769"/>
                          <a:ext cx="3142" cy="8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1" name="Freeform 107"/>
            <p:cNvSpPr>
              <a:spLocks/>
            </p:cNvSpPr>
            <p:nvPr/>
          </p:nvSpPr>
          <p:spPr bwMode="auto">
            <a:xfrm rot="16200000" flipH="1">
              <a:off x="1747" y="3359"/>
              <a:ext cx="328" cy="180"/>
            </a:xfrm>
            <a:custGeom>
              <a:avLst/>
              <a:gdLst>
                <a:gd name="T0" fmla="*/ 0 w 480"/>
                <a:gd name="T1" fmla="*/ 154 h 240"/>
                <a:gd name="T2" fmla="*/ 75 w 480"/>
                <a:gd name="T3" fmla="*/ 38 h 240"/>
                <a:gd name="T4" fmla="*/ 189 w 480"/>
                <a:gd name="T5" fmla="*/ 0 h 240"/>
                <a:gd name="T6" fmla="*/ 302 w 480"/>
                <a:gd name="T7" fmla="*/ 38 h 240"/>
                <a:gd name="T8" fmla="*/ 377 w 480"/>
                <a:gd name="T9" fmla="*/ 192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chemeClr val="tx1"/>
              </a:solidFill>
              <a:round/>
              <a:headEnd/>
              <a:tailEnd type="triangl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12"/>
                                        </p:tgtEl>
                                        <p:attrNameLst>
                                          <p:attrName>style.visibility</p:attrName>
                                        </p:attrNameLst>
                                      </p:cBhvr>
                                      <p:to>
                                        <p:strVal val="visible"/>
                                      </p:to>
                                    </p:set>
                                    <p:anim calcmode="lin" valueType="num">
                                      <p:cBhvr additive="base">
                                        <p:cTn id="7" dur="500" fill="hold"/>
                                        <p:tgtEl>
                                          <p:spTgt spid="212"/>
                                        </p:tgtEl>
                                        <p:attrNameLst>
                                          <p:attrName>ppt_x</p:attrName>
                                        </p:attrNameLst>
                                      </p:cBhvr>
                                      <p:tavLst>
                                        <p:tav tm="0">
                                          <p:val>
                                            <p:strVal val="0-#ppt_w/2"/>
                                          </p:val>
                                        </p:tav>
                                        <p:tav tm="100000">
                                          <p:val>
                                            <p:strVal val="#ppt_x"/>
                                          </p:val>
                                        </p:tav>
                                      </p:tavLst>
                                    </p:anim>
                                    <p:anim calcmode="lin" valueType="num">
                                      <p:cBhvr additive="base">
                                        <p:cTn id="8"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52"/>
                                        </p:tgtEl>
                                        <p:attrNameLst>
                                          <p:attrName>style.visibility</p:attrName>
                                        </p:attrNameLst>
                                      </p:cBhvr>
                                      <p:to>
                                        <p:strVal val="visible"/>
                                      </p:to>
                                    </p:set>
                                    <p:anim calcmode="lin" valueType="num">
                                      <p:cBhvr additive="base">
                                        <p:cTn id="13" dur="500" fill="hold"/>
                                        <p:tgtEl>
                                          <p:spTgt spid="352"/>
                                        </p:tgtEl>
                                        <p:attrNameLst>
                                          <p:attrName>ppt_x</p:attrName>
                                        </p:attrNameLst>
                                      </p:cBhvr>
                                      <p:tavLst>
                                        <p:tav tm="0">
                                          <p:val>
                                            <p:strVal val="0-#ppt_w/2"/>
                                          </p:val>
                                        </p:tav>
                                        <p:tav tm="100000">
                                          <p:val>
                                            <p:strVal val="#ppt_x"/>
                                          </p:val>
                                        </p:tav>
                                      </p:tavLst>
                                    </p:anim>
                                    <p:anim calcmode="lin" valueType="num">
                                      <p:cBhvr additive="base">
                                        <p:cTn id="14" dur="500" fill="hold"/>
                                        <p:tgtEl>
                                          <p:spTgt spid="352"/>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381"/>
                                        </p:tgtEl>
                                        <p:attrNameLst>
                                          <p:attrName>style.visibility</p:attrName>
                                        </p:attrNameLst>
                                      </p:cBhvr>
                                      <p:to>
                                        <p:strVal val="visible"/>
                                      </p:to>
                                    </p:set>
                                    <p:anim calcmode="lin" valueType="num">
                                      <p:cBhvr additive="base">
                                        <p:cTn id="17" dur="500" fill="hold"/>
                                        <p:tgtEl>
                                          <p:spTgt spid="381"/>
                                        </p:tgtEl>
                                        <p:attrNameLst>
                                          <p:attrName>ppt_x</p:attrName>
                                        </p:attrNameLst>
                                      </p:cBhvr>
                                      <p:tavLst>
                                        <p:tav tm="0">
                                          <p:val>
                                            <p:strVal val="0-#ppt_w/2"/>
                                          </p:val>
                                        </p:tav>
                                        <p:tav tm="100000">
                                          <p:val>
                                            <p:strVal val="#ppt_x"/>
                                          </p:val>
                                        </p:tav>
                                      </p:tavLst>
                                    </p:anim>
                                    <p:anim calcmode="lin" valueType="num">
                                      <p:cBhvr additive="base">
                                        <p:cTn id="18" dur="500" fill="hold"/>
                                        <p:tgtEl>
                                          <p:spTgt spid="38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11"/>
                                        </p:tgtEl>
                                        <p:attrNameLst>
                                          <p:attrName>style.visibility</p:attrName>
                                        </p:attrNameLst>
                                      </p:cBhvr>
                                      <p:to>
                                        <p:strVal val="visible"/>
                                      </p:to>
                                    </p:set>
                                    <p:anim calcmode="lin" valueType="num">
                                      <p:cBhvr additive="base">
                                        <p:cTn id="23" dur="500" fill="hold"/>
                                        <p:tgtEl>
                                          <p:spTgt spid="211"/>
                                        </p:tgtEl>
                                        <p:attrNameLst>
                                          <p:attrName>ppt_x</p:attrName>
                                        </p:attrNameLst>
                                      </p:cBhvr>
                                      <p:tavLst>
                                        <p:tav tm="0">
                                          <p:val>
                                            <p:strVal val="0-#ppt_w/2"/>
                                          </p:val>
                                        </p:tav>
                                        <p:tav tm="100000">
                                          <p:val>
                                            <p:strVal val="#ppt_x"/>
                                          </p:val>
                                        </p:tav>
                                      </p:tavLst>
                                    </p:anim>
                                    <p:anim calcmode="lin" valueType="num">
                                      <p:cBhvr additive="base">
                                        <p:cTn id="24" dur="500" fill="hold"/>
                                        <p:tgtEl>
                                          <p:spTgt spid="21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84"/>
                                        </p:tgtEl>
                                        <p:attrNameLst>
                                          <p:attrName>style.visibility</p:attrName>
                                        </p:attrNameLst>
                                      </p:cBhvr>
                                      <p:to>
                                        <p:strVal val="visible"/>
                                      </p:to>
                                    </p:set>
                                    <p:anim calcmode="lin" valueType="num">
                                      <p:cBhvr additive="base">
                                        <p:cTn id="29" dur="500" fill="hold"/>
                                        <p:tgtEl>
                                          <p:spTgt spid="384"/>
                                        </p:tgtEl>
                                        <p:attrNameLst>
                                          <p:attrName>ppt_x</p:attrName>
                                        </p:attrNameLst>
                                      </p:cBhvr>
                                      <p:tavLst>
                                        <p:tav tm="0">
                                          <p:val>
                                            <p:strVal val="0-#ppt_w/2"/>
                                          </p:val>
                                        </p:tav>
                                        <p:tav tm="100000">
                                          <p:val>
                                            <p:strVal val="#ppt_x"/>
                                          </p:val>
                                        </p:tav>
                                      </p:tavLst>
                                    </p:anim>
                                    <p:anim calcmode="lin" valueType="num">
                                      <p:cBhvr additive="base">
                                        <p:cTn id="30" dur="500" fill="hold"/>
                                        <p:tgtEl>
                                          <p:spTgt spid="384"/>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10"/>
                                        </p:tgtEl>
                                        <p:attrNameLst>
                                          <p:attrName>style.visibility</p:attrName>
                                        </p:attrNameLst>
                                      </p:cBhvr>
                                      <p:to>
                                        <p:strVal val="visible"/>
                                      </p:to>
                                    </p:set>
                                    <p:anim calcmode="lin" valueType="num">
                                      <p:cBhvr additive="base">
                                        <p:cTn id="33" dur="500" fill="hold"/>
                                        <p:tgtEl>
                                          <p:spTgt spid="210"/>
                                        </p:tgtEl>
                                        <p:attrNameLst>
                                          <p:attrName>ppt_x</p:attrName>
                                        </p:attrNameLst>
                                      </p:cBhvr>
                                      <p:tavLst>
                                        <p:tav tm="0">
                                          <p:val>
                                            <p:strVal val="0-#ppt_w/2"/>
                                          </p:val>
                                        </p:tav>
                                        <p:tav tm="100000">
                                          <p:val>
                                            <p:strVal val="#ppt_x"/>
                                          </p:val>
                                        </p:tav>
                                      </p:tavLst>
                                    </p:anim>
                                    <p:anim calcmode="lin" valueType="num">
                                      <p:cBhvr additive="base">
                                        <p:cTn id="34" dur="500" fill="hold"/>
                                        <p:tgtEl>
                                          <p:spTgt spid="21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394"/>
                                        </p:tgtEl>
                                        <p:attrNameLst>
                                          <p:attrName>style.visibility</p:attrName>
                                        </p:attrNameLst>
                                      </p:cBhvr>
                                      <p:to>
                                        <p:strVal val="visible"/>
                                      </p:to>
                                    </p:set>
                                    <p:anim calcmode="lin" valueType="num">
                                      <p:cBhvr additive="base">
                                        <p:cTn id="39" dur="500" fill="hold"/>
                                        <p:tgtEl>
                                          <p:spTgt spid="394"/>
                                        </p:tgtEl>
                                        <p:attrNameLst>
                                          <p:attrName>ppt_x</p:attrName>
                                        </p:attrNameLst>
                                      </p:cBhvr>
                                      <p:tavLst>
                                        <p:tav tm="0">
                                          <p:val>
                                            <p:strVal val="0-#ppt_w/2"/>
                                          </p:val>
                                        </p:tav>
                                        <p:tav tm="100000">
                                          <p:val>
                                            <p:strVal val="#ppt_x"/>
                                          </p:val>
                                        </p:tav>
                                      </p:tavLst>
                                    </p:anim>
                                    <p:anim calcmode="lin" valueType="num">
                                      <p:cBhvr additive="base">
                                        <p:cTn id="40" dur="500" fill="hold"/>
                                        <p:tgtEl>
                                          <p:spTgt spid="39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399"/>
                                        </p:tgtEl>
                                        <p:attrNameLst>
                                          <p:attrName>style.visibility</p:attrName>
                                        </p:attrNameLst>
                                      </p:cBhvr>
                                      <p:to>
                                        <p:strVal val="visible"/>
                                      </p:to>
                                    </p:set>
                                    <p:anim calcmode="lin" valueType="num">
                                      <p:cBhvr additive="base">
                                        <p:cTn id="45" dur="500" fill="hold"/>
                                        <p:tgtEl>
                                          <p:spTgt spid="399"/>
                                        </p:tgtEl>
                                        <p:attrNameLst>
                                          <p:attrName>ppt_x</p:attrName>
                                        </p:attrNameLst>
                                      </p:cBhvr>
                                      <p:tavLst>
                                        <p:tav tm="0">
                                          <p:val>
                                            <p:strVal val="0-#ppt_w/2"/>
                                          </p:val>
                                        </p:tav>
                                        <p:tav tm="100000">
                                          <p:val>
                                            <p:strVal val="#ppt_x"/>
                                          </p:val>
                                        </p:tav>
                                      </p:tavLst>
                                    </p:anim>
                                    <p:anim calcmode="lin" valueType="num">
                                      <p:cBhvr additive="base">
                                        <p:cTn id="46" dur="500" fill="hold"/>
                                        <p:tgtEl>
                                          <p:spTgt spid="3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autoUpdateAnimBg="0"/>
      <p:bldP spid="211"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8</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B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EI</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常数。</a:t>
            </a:r>
            <a:endParaRPr lang="en-US" altLang="zh-CN" sz="2000" b="1" baseline="-25000">
              <a:latin typeface="Times New Roman" pitchFamily="18" charset="0"/>
              <a:cs typeface="Times New Roman" pitchFamily="18" charset="0"/>
            </a:endParaRPr>
          </a:p>
        </p:txBody>
      </p:sp>
      <p:graphicFrame>
        <p:nvGraphicFramePr>
          <p:cNvPr id="284" name="Object 2"/>
          <p:cNvGraphicFramePr>
            <a:graphicFrameLocks noChangeAspect="1"/>
          </p:cNvGraphicFramePr>
          <p:nvPr/>
        </p:nvGraphicFramePr>
        <p:xfrm>
          <a:off x="1095404" y="5128986"/>
          <a:ext cx="7548562" cy="1381125"/>
        </p:xfrm>
        <a:graphic>
          <a:graphicData uri="http://schemas.openxmlformats.org/presentationml/2006/ole">
            <mc:AlternateContent xmlns:mc="http://schemas.openxmlformats.org/markup-compatibility/2006">
              <mc:Choice xmlns:v="urn:schemas-microsoft-com:vml" Requires="v">
                <p:oleObj spid="_x0000_s527401" name="Equation" r:id="rId4" imgW="4203360" imgH="838080" progId="Equation.DSMT4">
                  <p:embed/>
                </p:oleObj>
              </mc:Choice>
              <mc:Fallback>
                <p:oleObj name="Equation" r:id="rId4" imgW="4203360" imgH="83808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404" y="5128986"/>
                        <a:ext cx="7548562" cy="138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5" name="Text Box 3"/>
          <p:cNvSpPr txBox="1">
            <a:spLocks noChangeArrowheads="1"/>
          </p:cNvSpPr>
          <p:nvPr/>
        </p:nvSpPr>
        <p:spPr bwMode="auto">
          <a:xfrm>
            <a:off x="1214414" y="4671964"/>
            <a:ext cx="7162800" cy="400110"/>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pSp>
        <p:nvGrpSpPr>
          <p:cNvPr id="286" name="Group 5"/>
          <p:cNvGrpSpPr>
            <a:grpSpLocks/>
          </p:cNvGrpSpPr>
          <p:nvPr/>
        </p:nvGrpSpPr>
        <p:grpSpPr bwMode="auto">
          <a:xfrm>
            <a:off x="1141413" y="2549517"/>
            <a:ext cx="3529013" cy="1887538"/>
            <a:chOff x="386" y="739"/>
            <a:chExt cx="2223" cy="1189"/>
          </a:xfrm>
        </p:grpSpPr>
        <p:graphicFrame>
          <p:nvGraphicFramePr>
            <p:cNvPr id="287" name="Object 6"/>
            <p:cNvGraphicFramePr>
              <a:graphicFrameLocks noChangeAspect="1"/>
            </p:cNvGraphicFramePr>
            <p:nvPr/>
          </p:nvGraphicFramePr>
          <p:xfrm>
            <a:off x="528" y="912"/>
            <a:ext cx="177" cy="193"/>
          </p:xfrm>
          <a:graphic>
            <a:graphicData uri="http://schemas.openxmlformats.org/presentationml/2006/ole">
              <mc:AlternateContent xmlns:mc="http://schemas.openxmlformats.org/markup-compatibility/2006">
                <mc:Choice xmlns:v="urn:schemas-microsoft-com:vml" Requires="v">
                  <p:oleObj spid="_x0000_s527402" name="公式" r:id="rId6" imgW="152280" imgH="164880" progId="Equation.3">
                    <p:embed/>
                  </p:oleObj>
                </mc:Choice>
                <mc:Fallback>
                  <p:oleObj name="公式" r:id="rId6" imgW="152280" imgH="16488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912"/>
                          <a:ext cx="177"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8" name="Line 7"/>
            <p:cNvSpPr>
              <a:spLocks noChangeShapeType="1"/>
            </p:cNvSpPr>
            <p:nvPr/>
          </p:nvSpPr>
          <p:spPr bwMode="auto">
            <a:xfrm>
              <a:off x="484" y="912"/>
              <a:ext cx="862"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9" name="Line 8"/>
            <p:cNvSpPr>
              <a:spLocks noChangeShapeType="1"/>
            </p:cNvSpPr>
            <p:nvPr/>
          </p:nvSpPr>
          <p:spPr bwMode="auto">
            <a:xfrm>
              <a:off x="480" y="173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1" name="Line 9"/>
            <p:cNvSpPr>
              <a:spLocks noChangeShapeType="1"/>
            </p:cNvSpPr>
            <p:nvPr/>
          </p:nvSpPr>
          <p:spPr bwMode="auto">
            <a:xfrm>
              <a:off x="1344" y="1736"/>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3" name="Rectangle 10"/>
            <p:cNvSpPr>
              <a:spLocks noChangeArrowheads="1"/>
            </p:cNvSpPr>
            <p:nvPr/>
          </p:nvSpPr>
          <p:spPr bwMode="auto">
            <a:xfrm>
              <a:off x="816" y="1622"/>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294" name="Rectangle 11"/>
            <p:cNvSpPr>
              <a:spLocks noChangeArrowheads="1"/>
            </p:cNvSpPr>
            <p:nvPr/>
          </p:nvSpPr>
          <p:spPr bwMode="auto">
            <a:xfrm>
              <a:off x="1968" y="1104"/>
              <a:ext cx="234" cy="291"/>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295" name="Line 12"/>
            <p:cNvSpPr>
              <a:spLocks noChangeShapeType="1"/>
            </p:cNvSpPr>
            <p:nvPr/>
          </p:nvSpPr>
          <p:spPr bwMode="auto">
            <a:xfrm flipV="1">
              <a:off x="1344" y="91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6" name="Line 13"/>
            <p:cNvSpPr>
              <a:spLocks noChangeShapeType="1"/>
            </p:cNvSpPr>
            <p:nvPr/>
          </p:nvSpPr>
          <p:spPr bwMode="auto">
            <a:xfrm flipH="1" flipV="1">
              <a:off x="1344" y="1632"/>
              <a:ext cx="864"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8" name="Line 14"/>
            <p:cNvSpPr>
              <a:spLocks noChangeShapeType="1"/>
            </p:cNvSpPr>
            <p:nvPr/>
          </p:nvSpPr>
          <p:spPr bwMode="auto">
            <a:xfrm>
              <a:off x="480" y="1832"/>
              <a:ext cx="172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99" name="Object 15"/>
            <p:cNvGraphicFramePr>
              <a:graphicFrameLocks noChangeAspect="1"/>
            </p:cNvGraphicFramePr>
            <p:nvPr/>
          </p:nvGraphicFramePr>
          <p:xfrm>
            <a:off x="2215" y="1542"/>
            <a:ext cx="179" cy="194"/>
          </p:xfrm>
          <a:graphic>
            <a:graphicData uri="http://schemas.openxmlformats.org/presentationml/2006/ole">
              <mc:AlternateContent xmlns:mc="http://schemas.openxmlformats.org/markup-compatibility/2006">
                <mc:Choice xmlns:v="urn:schemas-microsoft-com:vml" Requires="v">
                  <p:oleObj spid="_x0000_s527403" name="公式" r:id="rId8" imgW="152280" imgH="164880" progId="Equation.3">
                    <p:embed/>
                  </p:oleObj>
                </mc:Choice>
                <mc:Fallback>
                  <p:oleObj name="公式" r:id="rId8" imgW="152280" imgH="16488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15" y="1542"/>
                          <a:ext cx="179" cy="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0" name="Line 16"/>
            <p:cNvSpPr>
              <a:spLocks noChangeShapeType="1"/>
            </p:cNvSpPr>
            <p:nvPr/>
          </p:nvSpPr>
          <p:spPr bwMode="auto">
            <a:xfrm>
              <a:off x="2448" y="864"/>
              <a:ext cx="0" cy="768"/>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1" name="Line 17"/>
            <p:cNvSpPr>
              <a:spLocks noChangeShapeType="1"/>
            </p:cNvSpPr>
            <p:nvPr/>
          </p:nvSpPr>
          <p:spPr bwMode="auto">
            <a:xfrm>
              <a:off x="2208" y="1218"/>
              <a:ext cx="0" cy="432"/>
            </a:xfrm>
            <a:prstGeom prst="line">
              <a:avLst/>
            </a:prstGeom>
            <a:noFill/>
            <a:ln w="38100">
              <a:solidFill>
                <a:srgbClr val="0033CC"/>
              </a:solidFill>
              <a:round/>
              <a:headEnd type="none" w="med" len="med"/>
              <a:tailEnd type="triangl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2" name="Line 18"/>
            <p:cNvSpPr>
              <a:spLocks noChangeShapeType="1"/>
            </p:cNvSpPr>
            <p:nvPr/>
          </p:nvSpPr>
          <p:spPr bwMode="auto">
            <a:xfrm flipV="1">
              <a:off x="2208" y="1784"/>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03" name="Group 19"/>
            <p:cNvGrpSpPr>
              <a:grpSpLocks/>
            </p:cNvGrpSpPr>
            <p:nvPr/>
          </p:nvGrpSpPr>
          <p:grpSpPr bwMode="auto">
            <a:xfrm rot="5400000">
              <a:off x="270" y="855"/>
              <a:ext cx="330" cy="97"/>
              <a:chOff x="5124" y="2864"/>
              <a:chExt cx="460" cy="97"/>
            </a:xfrm>
          </p:grpSpPr>
          <p:sp>
            <p:nvSpPr>
              <p:cNvPr id="308" name="Line 20"/>
              <p:cNvSpPr>
                <a:spLocks noChangeShapeType="1"/>
              </p:cNvSpPr>
              <p:nvPr/>
            </p:nvSpPr>
            <p:spPr bwMode="auto">
              <a:xfrm>
                <a:off x="5197" y="2864"/>
                <a:ext cx="387"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9" name="Line 21"/>
              <p:cNvSpPr>
                <a:spLocks noChangeShapeType="1"/>
              </p:cNvSpPr>
              <p:nvPr/>
            </p:nvSpPr>
            <p:spPr bwMode="auto">
              <a:xfrm flipV="1">
                <a:off x="5216" y="2865"/>
                <a:ext cx="97"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1" name="Line 23"/>
              <p:cNvSpPr>
                <a:spLocks noChangeShapeType="1"/>
              </p:cNvSpPr>
              <p:nvPr/>
            </p:nvSpPr>
            <p:spPr bwMode="auto">
              <a:xfrm flipV="1">
                <a:off x="5309" y="2865"/>
                <a:ext cx="97"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3" name="Line 25"/>
              <p:cNvSpPr>
                <a:spLocks noChangeShapeType="1"/>
              </p:cNvSpPr>
              <p:nvPr/>
            </p:nvSpPr>
            <p:spPr bwMode="auto">
              <a:xfrm flipV="1">
                <a:off x="5398" y="2865"/>
                <a:ext cx="97"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5" name="Line 27"/>
              <p:cNvSpPr>
                <a:spLocks noChangeShapeType="1"/>
              </p:cNvSpPr>
              <p:nvPr/>
            </p:nvSpPr>
            <p:spPr bwMode="auto">
              <a:xfrm flipV="1">
                <a:off x="5483" y="2865"/>
                <a:ext cx="97"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6" name="Line 28"/>
              <p:cNvSpPr>
                <a:spLocks noChangeShapeType="1"/>
              </p:cNvSpPr>
              <p:nvPr/>
            </p:nvSpPr>
            <p:spPr bwMode="auto">
              <a:xfrm flipV="1">
                <a:off x="5124" y="2865"/>
                <a:ext cx="97"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04" name="Rectangle 29"/>
            <p:cNvSpPr>
              <a:spLocks noChangeArrowheads="1"/>
            </p:cNvSpPr>
            <p:nvPr/>
          </p:nvSpPr>
          <p:spPr bwMode="auto">
            <a:xfrm>
              <a:off x="1680" y="1622"/>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05" name="Rectangle 30"/>
            <p:cNvSpPr>
              <a:spLocks noChangeArrowheads="1"/>
            </p:cNvSpPr>
            <p:nvPr/>
          </p:nvSpPr>
          <p:spPr bwMode="auto">
            <a:xfrm>
              <a:off x="2448" y="1117"/>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06" name="Line 31"/>
            <p:cNvSpPr>
              <a:spLocks noChangeShapeType="1"/>
            </p:cNvSpPr>
            <p:nvPr/>
          </p:nvSpPr>
          <p:spPr bwMode="auto">
            <a:xfrm>
              <a:off x="2400" y="163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7" name="Line 32"/>
            <p:cNvSpPr>
              <a:spLocks noChangeShapeType="1"/>
            </p:cNvSpPr>
            <p:nvPr/>
          </p:nvSpPr>
          <p:spPr bwMode="auto">
            <a:xfrm>
              <a:off x="2400" y="8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17" name="Group 33"/>
          <p:cNvGrpSpPr>
            <a:grpSpLocks/>
          </p:cNvGrpSpPr>
          <p:nvPr/>
        </p:nvGrpSpPr>
        <p:grpSpPr bwMode="auto">
          <a:xfrm>
            <a:off x="763588" y="2214554"/>
            <a:ext cx="3270250" cy="1752600"/>
            <a:chOff x="148" y="528"/>
            <a:chExt cx="2060" cy="1104"/>
          </a:xfrm>
        </p:grpSpPr>
        <p:sp>
          <p:nvSpPr>
            <p:cNvPr id="318" name="Oval 34"/>
            <p:cNvSpPr>
              <a:spLocks noChangeArrowheads="1"/>
            </p:cNvSpPr>
            <p:nvPr/>
          </p:nvSpPr>
          <p:spPr bwMode="auto">
            <a:xfrm>
              <a:off x="816" y="124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aphicFrame>
          <p:nvGraphicFramePr>
            <p:cNvPr id="319" name="Object 35"/>
            <p:cNvGraphicFramePr>
              <a:graphicFrameLocks noChangeAspect="1"/>
            </p:cNvGraphicFramePr>
            <p:nvPr/>
          </p:nvGraphicFramePr>
          <p:xfrm>
            <a:off x="1377" y="670"/>
            <a:ext cx="236" cy="206"/>
          </p:xfrm>
          <a:graphic>
            <a:graphicData uri="http://schemas.openxmlformats.org/presentationml/2006/ole">
              <mc:AlternateContent xmlns:mc="http://schemas.openxmlformats.org/markup-compatibility/2006">
                <mc:Choice xmlns:v="urn:schemas-microsoft-com:vml" Requires="v">
                  <p:oleObj spid="_x0000_s527404" name="公式" r:id="rId10" imgW="203040" imgH="177480" progId="Equation.3">
                    <p:embed/>
                  </p:oleObj>
                </mc:Choice>
                <mc:Fallback>
                  <p:oleObj name="公式" r:id="rId10" imgW="203040" imgH="177480" progId="Equation.3">
                    <p:embed/>
                    <p:pic>
                      <p:nvPicPr>
                        <p:cNvPr id="0"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7" y="670"/>
                          <a:ext cx="236"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0" name="Group 36"/>
            <p:cNvGrpSpPr>
              <a:grpSpLocks/>
            </p:cNvGrpSpPr>
            <p:nvPr/>
          </p:nvGrpSpPr>
          <p:grpSpPr bwMode="auto">
            <a:xfrm>
              <a:off x="148" y="528"/>
              <a:ext cx="2060" cy="1104"/>
              <a:chOff x="148" y="528"/>
              <a:chExt cx="2060" cy="1104"/>
            </a:xfrm>
          </p:grpSpPr>
          <p:sp>
            <p:nvSpPr>
              <p:cNvPr id="321" name="Line 37"/>
              <p:cNvSpPr>
                <a:spLocks noChangeShapeType="1"/>
              </p:cNvSpPr>
              <p:nvPr/>
            </p:nvSpPr>
            <p:spPr bwMode="auto">
              <a:xfrm>
                <a:off x="1344" y="1392"/>
                <a:ext cx="864"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2" name="Line 38"/>
              <p:cNvSpPr>
                <a:spLocks noChangeShapeType="1"/>
              </p:cNvSpPr>
              <p:nvPr/>
            </p:nvSpPr>
            <p:spPr bwMode="auto">
              <a:xfrm flipV="1">
                <a:off x="1344" y="720"/>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3" name="Line 39"/>
              <p:cNvSpPr>
                <a:spLocks noChangeShapeType="1"/>
              </p:cNvSpPr>
              <p:nvPr/>
            </p:nvSpPr>
            <p:spPr bwMode="auto">
              <a:xfrm>
                <a:off x="480" y="528"/>
                <a:ext cx="864"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6" name="Line 40"/>
              <p:cNvSpPr>
                <a:spLocks noChangeShapeType="1"/>
              </p:cNvSpPr>
              <p:nvPr/>
            </p:nvSpPr>
            <p:spPr bwMode="auto">
              <a:xfrm>
                <a:off x="1344" y="912"/>
                <a:ext cx="24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8" name="Line 41"/>
              <p:cNvSpPr>
                <a:spLocks noChangeShapeType="1"/>
              </p:cNvSpPr>
              <p:nvPr/>
            </p:nvSpPr>
            <p:spPr bwMode="auto">
              <a:xfrm>
                <a:off x="1584" y="912"/>
                <a:ext cx="0" cy="72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9" name="Line 42"/>
              <p:cNvSpPr>
                <a:spLocks noChangeShapeType="1"/>
              </p:cNvSpPr>
              <p:nvPr/>
            </p:nvSpPr>
            <p:spPr bwMode="auto">
              <a:xfrm flipV="1">
                <a:off x="480" y="528"/>
                <a:ext cx="0" cy="28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30" name="Object 43"/>
              <p:cNvGraphicFramePr>
                <a:graphicFrameLocks noChangeAspect="1"/>
              </p:cNvGraphicFramePr>
              <p:nvPr/>
            </p:nvGraphicFramePr>
            <p:xfrm>
              <a:off x="148" y="546"/>
              <a:ext cx="329" cy="207"/>
            </p:xfrm>
            <a:graphic>
              <a:graphicData uri="http://schemas.openxmlformats.org/presentationml/2006/ole">
                <mc:AlternateContent xmlns:mc="http://schemas.openxmlformats.org/markup-compatibility/2006">
                  <mc:Choice xmlns:v="urn:schemas-microsoft-com:vml" Requires="v">
                    <p:oleObj spid="_x0000_s527405" name="公式" r:id="rId12" imgW="279360" imgH="177480" progId="Equation.3">
                      <p:embed/>
                    </p:oleObj>
                  </mc:Choice>
                  <mc:Fallback>
                    <p:oleObj name="公式" r:id="rId12" imgW="279360" imgH="177480" progId="Equation.3">
                      <p:embed/>
                      <p:pic>
                        <p:nvPicPr>
                          <p:cNvPr id="0" name="Object 4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 y="546"/>
                            <a:ext cx="329"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331" name="Group 44"/>
          <p:cNvGrpSpPr>
            <a:grpSpLocks/>
          </p:cNvGrpSpPr>
          <p:nvPr/>
        </p:nvGrpSpPr>
        <p:grpSpPr bwMode="auto">
          <a:xfrm>
            <a:off x="5335590" y="2554278"/>
            <a:ext cx="3238501" cy="1568450"/>
            <a:chOff x="3028" y="742"/>
            <a:chExt cx="2040" cy="988"/>
          </a:xfrm>
        </p:grpSpPr>
        <p:graphicFrame>
          <p:nvGraphicFramePr>
            <p:cNvPr id="332" name="Object 45"/>
            <p:cNvGraphicFramePr>
              <a:graphicFrameLocks noChangeAspect="1"/>
            </p:cNvGraphicFramePr>
            <p:nvPr/>
          </p:nvGraphicFramePr>
          <p:xfrm>
            <a:off x="3168" y="912"/>
            <a:ext cx="177" cy="193"/>
          </p:xfrm>
          <a:graphic>
            <a:graphicData uri="http://schemas.openxmlformats.org/presentationml/2006/ole">
              <mc:AlternateContent xmlns:mc="http://schemas.openxmlformats.org/markup-compatibility/2006">
                <mc:Choice xmlns:v="urn:schemas-microsoft-com:vml" Requires="v">
                  <p:oleObj spid="_x0000_s527406" name="公式" r:id="rId14" imgW="152280" imgH="164880" progId="Equation.3">
                    <p:embed/>
                  </p:oleObj>
                </mc:Choice>
                <mc:Fallback>
                  <p:oleObj name="公式" r:id="rId14" imgW="152280" imgH="164880" progId="Equation.3">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 y="912"/>
                          <a:ext cx="177"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2" name="Line 46"/>
            <p:cNvSpPr>
              <a:spLocks noChangeShapeType="1"/>
            </p:cNvSpPr>
            <p:nvPr/>
          </p:nvSpPr>
          <p:spPr bwMode="auto">
            <a:xfrm>
              <a:off x="3124" y="912"/>
              <a:ext cx="862"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7" name="Rectangle 47"/>
            <p:cNvSpPr>
              <a:spLocks noChangeArrowheads="1"/>
            </p:cNvSpPr>
            <p:nvPr/>
          </p:nvSpPr>
          <p:spPr bwMode="auto">
            <a:xfrm>
              <a:off x="4629" y="1104"/>
              <a:ext cx="213" cy="291"/>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u="none" strike="noStrike" kern="1200" cap="none" spc="0" normalizeH="0" baseline="0" noProof="0">
                  <a:ln>
                    <a:noFill/>
                  </a:ln>
                  <a:solidFill>
                    <a:srgbClr val="0033CC"/>
                  </a:solidFill>
                  <a:effectLst/>
                  <a:uLnTx/>
                  <a:uFillTx/>
                  <a:latin typeface="Times New Roman" pitchFamily="18" charset="0"/>
                  <a:ea typeface="宋体" charset="-122"/>
                  <a:cs typeface="+mn-cs"/>
                </a:rPr>
                <a:t>1</a:t>
              </a:r>
            </a:p>
          </p:txBody>
        </p:sp>
        <p:sp>
          <p:nvSpPr>
            <p:cNvPr id="381" name="Line 48"/>
            <p:cNvSpPr>
              <a:spLocks noChangeShapeType="1"/>
            </p:cNvSpPr>
            <p:nvPr/>
          </p:nvSpPr>
          <p:spPr bwMode="auto">
            <a:xfrm flipV="1">
              <a:off x="3984" y="912"/>
              <a:ext cx="0" cy="72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4" name="Line 49"/>
            <p:cNvSpPr>
              <a:spLocks noChangeShapeType="1"/>
            </p:cNvSpPr>
            <p:nvPr/>
          </p:nvSpPr>
          <p:spPr bwMode="auto">
            <a:xfrm flipH="1" flipV="1">
              <a:off x="3984" y="1632"/>
              <a:ext cx="864"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4" name="Object 50"/>
            <p:cNvGraphicFramePr>
              <a:graphicFrameLocks noChangeAspect="1"/>
            </p:cNvGraphicFramePr>
            <p:nvPr/>
          </p:nvGraphicFramePr>
          <p:xfrm>
            <a:off x="4889" y="1536"/>
            <a:ext cx="179" cy="194"/>
          </p:xfrm>
          <a:graphic>
            <a:graphicData uri="http://schemas.openxmlformats.org/presentationml/2006/ole">
              <mc:AlternateContent xmlns:mc="http://schemas.openxmlformats.org/markup-compatibility/2006">
                <mc:Choice xmlns:v="urn:schemas-microsoft-com:vml" Requires="v">
                  <p:oleObj spid="_x0000_s527407" name="Equation" r:id="rId15" imgW="152280" imgH="164880" progId="Equation.DSMT4">
                    <p:embed/>
                  </p:oleObj>
                </mc:Choice>
                <mc:Fallback>
                  <p:oleObj name="Equation" r:id="rId15" imgW="152280" imgH="164880" progId="Equation.DSMT4">
                    <p:embed/>
                    <p:pic>
                      <p:nvPicPr>
                        <p:cNvPr id="0" name="Object 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89" y="1536"/>
                          <a:ext cx="179" cy="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5" name="Line 51"/>
            <p:cNvSpPr>
              <a:spLocks noChangeShapeType="1"/>
            </p:cNvSpPr>
            <p:nvPr/>
          </p:nvSpPr>
          <p:spPr bwMode="auto">
            <a:xfrm>
              <a:off x="4826" y="1196"/>
              <a:ext cx="0" cy="432"/>
            </a:xfrm>
            <a:prstGeom prst="line">
              <a:avLst/>
            </a:prstGeom>
            <a:noFill/>
            <a:ln w="38100">
              <a:solidFill>
                <a:srgbClr val="0033CC"/>
              </a:solidFill>
              <a:round/>
              <a:headEnd type="none" w="med" len="med"/>
              <a:tailEnd type="triangl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99" name="Group 52"/>
            <p:cNvGrpSpPr>
              <a:grpSpLocks/>
            </p:cNvGrpSpPr>
            <p:nvPr/>
          </p:nvGrpSpPr>
          <p:grpSpPr bwMode="auto">
            <a:xfrm rot="5400000">
              <a:off x="2905" y="865"/>
              <a:ext cx="341" cy="96"/>
              <a:chOff x="5034" y="2863"/>
              <a:chExt cx="466" cy="96"/>
            </a:xfrm>
          </p:grpSpPr>
          <p:sp>
            <p:nvSpPr>
              <p:cNvPr id="402" name="Line 53"/>
              <p:cNvSpPr>
                <a:spLocks noChangeShapeType="1"/>
              </p:cNvSpPr>
              <p:nvPr/>
            </p:nvSpPr>
            <p:spPr bwMode="auto">
              <a:xfrm>
                <a:off x="5115" y="2863"/>
                <a:ext cx="379"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3" name="Line 54"/>
              <p:cNvSpPr>
                <a:spLocks noChangeShapeType="1"/>
              </p:cNvSpPr>
              <p:nvPr/>
            </p:nvSpPr>
            <p:spPr bwMode="auto">
              <a:xfrm flipV="1">
                <a:off x="5119" y="2863"/>
                <a:ext cx="95"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5" name="Line 56"/>
              <p:cNvSpPr>
                <a:spLocks noChangeShapeType="1"/>
              </p:cNvSpPr>
              <p:nvPr/>
            </p:nvSpPr>
            <p:spPr bwMode="auto">
              <a:xfrm flipV="1">
                <a:off x="5213" y="2863"/>
                <a:ext cx="95"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58"/>
              <p:cNvSpPr>
                <a:spLocks noChangeShapeType="1"/>
              </p:cNvSpPr>
              <p:nvPr/>
            </p:nvSpPr>
            <p:spPr bwMode="auto">
              <a:xfrm flipV="1">
                <a:off x="5308" y="2863"/>
                <a:ext cx="95"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9" name="Line 60"/>
              <p:cNvSpPr>
                <a:spLocks noChangeShapeType="1"/>
              </p:cNvSpPr>
              <p:nvPr/>
            </p:nvSpPr>
            <p:spPr bwMode="auto">
              <a:xfrm flipV="1">
                <a:off x="5405" y="2863"/>
                <a:ext cx="95"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0" name="Line 61"/>
              <p:cNvSpPr>
                <a:spLocks noChangeShapeType="1"/>
              </p:cNvSpPr>
              <p:nvPr/>
            </p:nvSpPr>
            <p:spPr bwMode="auto">
              <a:xfrm flipV="1">
                <a:off x="5034" y="2863"/>
                <a:ext cx="95"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411" name="Group 62"/>
          <p:cNvGrpSpPr>
            <a:grpSpLocks/>
          </p:cNvGrpSpPr>
          <p:nvPr/>
        </p:nvGrpSpPr>
        <p:grpSpPr bwMode="auto">
          <a:xfrm>
            <a:off x="5054600" y="2214554"/>
            <a:ext cx="3173413" cy="1752600"/>
            <a:chOff x="2851" y="528"/>
            <a:chExt cx="1999" cy="1104"/>
          </a:xfrm>
        </p:grpSpPr>
        <p:sp>
          <p:nvSpPr>
            <p:cNvPr id="412" name="Line 63"/>
            <p:cNvSpPr>
              <a:spLocks noChangeShapeType="1"/>
            </p:cNvSpPr>
            <p:nvPr/>
          </p:nvSpPr>
          <p:spPr bwMode="auto">
            <a:xfrm>
              <a:off x="3986" y="1392"/>
              <a:ext cx="864"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3" name="Line 64"/>
            <p:cNvSpPr>
              <a:spLocks noChangeShapeType="1"/>
            </p:cNvSpPr>
            <p:nvPr/>
          </p:nvSpPr>
          <p:spPr bwMode="auto">
            <a:xfrm flipV="1">
              <a:off x="3986" y="720"/>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4" name="Line 65"/>
            <p:cNvSpPr>
              <a:spLocks noChangeShapeType="1"/>
            </p:cNvSpPr>
            <p:nvPr/>
          </p:nvSpPr>
          <p:spPr bwMode="auto">
            <a:xfrm>
              <a:off x="3122" y="528"/>
              <a:ext cx="864"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5" name="Line 66"/>
            <p:cNvSpPr>
              <a:spLocks noChangeShapeType="1"/>
            </p:cNvSpPr>
            <p:nvPr/>
          </p:nvSpPr>
          <p:spPr bwMode="auto">
            <a:xfrm>
              <a:off x="3986" y="912"/>
              <a:ext cx="24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6" name="Line 67"/>
            <p:cNvSpPr>
              <a:spLocks noChangeShapeType="1"/>
            </p:cNvSpPr>
            <p:nvPr/>
          </p:nvSpPr>
          <p:spPr bwMode="auto">
            <a:xfrm>
              <a:off x="4226" y="912"/>
              <a:ext cx="0" cy="72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7" name="Line 68"/>
            <p:cNvSpPr>
              <a:spLocks noChangeShapeType="1"/>
            </p:cNvSpPr>
            <p:nvPr/>
          </p:nvSpPr>
          <p:spPr bwMode="auto">
            <a:xfrm flipV="1">
              <a:off x="3122" y="528"/>
              <a:ext cx="0" cy="28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18" name="Object 69"/>
            <p:cNvGraphicFramePr>
              <a:graphicFrameLocks noChangeAspect="1"/>
            </p:cNvGraphicFramePr>
            <p:nvPr/>
          </p:nvGraphicFramePr>
          <p:xfrm>
            <a:off x="2851" y="528"/>
            <a:ext cx="206" cy="206"/>
          </p:xfrm>
          <a:graphic>
            <a:graphicData uri="http://schemas.openxmlformats.org/presentationml/2006/ole">
              <mc:AlternateContent xmlns:mc="http://schemas.openxmlformats.org/markup-compatibility/2006">
                <mc:Choice xmlns:v="urn:schemas-microsoft-com:vml" Requires="v">
                  <p:oleObj spid="_x0000_s527408" name="公式" r:id="rId16" imgW="177480" imgH="177480" progId="Equation.3">
                    <p:embed/>
                  </p:oleObj>
                </mc:Choice>
                <mc:Fallback>
                  <p:oleObj name="公式" r:id="rId16" imgW="177480" imgH="177480" progId="Equation.3">
                    <p:embed/>
                    <p:pic>
                      <p:nvPicPr>
                        <p:cNvPr id="0" name="Object 6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1" y="528"/>
                          <a:ext cx="206"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 name="Oval 70"/>
            <p:cNvSpPr>
              <a:spLocks noChangeArrowheads="1"/>
            </p:cNvSpPr>
            <p:nvPr/>
          </p:nvSpPr>
          <p:spPr bwMode="auto">
            <a:xfrm>
              <a:off x="3458" y="124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2000" b="1"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1" i="0" u="none" strike="noStrike" kern="1200" cap="none" spc="0" normalizeH="0" baseline="-25000" noProof="0">
                <a:ln>
                  <a:noFill/>
                </a:ln>
                <a:solidFill>
                  <a:srgbClr val="000000"/>
                </a:solidFill>
                <a:effectLst/>
                <a:uLnTx/>
                <a:uFillTx/>
                <a:latin typeface="Times New Roman" pitchFamily="18" charset="0"/>
                <a:ea typeface="宋体" charset="-122"/>
                <a:cs typeface="+mn-cs"/>
              </a:endParaRPr>
            </a:p>
          </p:txBody>
        </p:sp>
        <p:graphicFrame>
          <p:nvGraphicFramePr>
            <p:cNvPr id="420" name="Object 71"/>
            <p:cNvGraphicFramePr>
              <a:graphicFrameLocks noChangeAspect="1"/>
            </p:cNvGraphicFramePr>
            <p:nvPr/>
          </p:nvGraphicFramePr>
          <p:xfrm>
            <a:off x="4057" y="679"/>
            <a:ext cx="102" cy="206"/>
          </p:xfrm>
          <a:graphic>
            <a:graphicData uri="http://schemas.openxmlformats.org/presentationml/2006/ole">
              <mc:AlternateContent xmlns:mc="http://schemas.openxmlformats.org/markup-compatibility/2006">
                <mc:Choice xmlns:v="urn:schemas-microsoft-com:vml" Requires="v">
                  <p:oleObj spid="_x0000_s527409" name="公式" r:id="rId18" imgW="88560" imgH="177480" progId="Equation.3">
                    <p:embed/>
                  </p:oleObj>
                </mc:Choice>
                <mc:Fallback>
                  <p:oleObj name="公式" r:id="rId18" imgW="88560" imgH="177480" progId="Equation.3">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57" y="679"/>
                          <a:ext cx="102"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21" name="Line 72"/>
          <p:cNvSpPr>
            <a:spLocks noChangeShapeType="1"/>
          </p:cNvSpPr>
          <p:nvPr/>
        </p:nvSpPr>
        <p:spPr bwMode="auto">
          <a:xfrm flipH="1">
            <a:off x="1290638" y="2519354"/>
            <a:ext cx="1371600" cy="0"/>
          </a:xfrm>
          <a:prstGeom prst="line">
            <a:avLst/>
          </a:prstGeom>
          <a:noFill/>
          <a:ln w="19050">
            <a:solidFill>
              <a:srgbClr val="FF0000"/>
            </a:solidFill>
            <a:prstDash val="lgDash"/>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2" name="Line 73"/>
          <p:cNvSpPr>
            <a:spLocks noChangeShapeType="1"/>
          </p:cNvSpPr>
          <p:nvPr/>
        </p:nvSpPr>
        <p:spPr bwMode="auto">
          <a:xfrm>
            <a:off x="5862638" y="2290754"/>
            <a:ext cx="0" cy="533400"/>
          </a:xfrm>
          <a:prstGeom prst="line">
            <a:avLst/>
          </a:prstGeom>
          <a:noFill/>
          <a:ln w="19050">
            <a:solidFill>
              <a:srgbClr val="FF0000"/>
            </a:solidFill>
            <a:round/>
            <a:headEnd type="arrow" w="med" len="med"/>
            <a:tailEnd type="arrow"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3" name="Line 74"/>
          <p:cNvSpPr>
            <a:spLocks noChangeShapeType="1"/>
          </p:cNvSpPr>
          <p:nvPr/>
        </p:nvSpPr>
        <p:spPr bwMode="auto">
          <a:xfrm>
            <a:off x="6167438" y="2366954"/>
            <a:ext cx="0" cy="457200"/>
          </a:xfrm>
          <a:prstGeom prst="line">
            <a:avLst/>
          </a:prstGeom>
          <a:noFill/>
          <a:ln w="19050">
            <a:solidFill>
              <a:srgbClr val="FF0000"/>
            </a:solidFill>
            <a:round/>
            <a:headEnd type="arrow" w="med" len="med"/>
            <a:tailEnd type="arrow"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 calcmode="lin" valueType="num">
                                      <p:cBhvr additive="base">
                                        <p:cTn id="7" dur="500" fill="hold"/>
                                        <p:tgtEl>
                                          <p:spTgt spid="331"/>
                                        </p:tgtEl>
                                        <p:attrNameLst>
                                          <p:attrName>ppt_x</p:attrName>
                                        </p:attrNameLst>
                                      </p:cBhvr>
                                      <p:tavLst>
                                        <p:tav tm="0">
                                          <p:val>
                                            <p:strVal val="0-#ppt_w/2"/>
                                          </p:val>
                                        </p:tav>
                                        <p:tav tm="100000">
                                          <p:val>
                                            <p:strVal val="#ppt_x"/>
                                          </p:val>
                                        </p:tav>
                                      </p:tavLst>
                                    </p:anim>
                                    <p:anim calcmode="lin" valueType="num">
                                      <p:cBhvr additive="base">
                                        <p:cTn id="8" dur="500" fill="hold"/>
                                        <p:tgtEl>
                                          <p:spTgt spid="3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5"/>
                                        </p:tgtEl>
                                        <p:attrNameLst>
                                          <p:attrName>style.visibility</p:attrName>
                                        </p:attrNameLst>
                                      </p:cBhvr>
                                      <p:to>
                                        <p:strVal val="visible"/>
                                      </p:to>
                                    </p:set>
                                    <p:anim calcmode="lin" valueType="num">
                                      <p:cBhvr additive="base">
                                        <p:cTn id="13" dur="500" fill="hold"/>
                                        <p:tgtEl>
                                          <p:spTgt spid="285"/>
                                        </p:tgtEl>
                                        <p:attrNameLst>
                                          <p:attrName>ppt_x</p:attrName>
                                        </p:attrNameLst>
                                      </p:cBhvr>
                                      <p:tavLst>
                                        <p:tav tm="0">
                                          <p:val>
                                            <p:strVal val="0-#ppt_w/2"/>
                                          </p:val>
                                        </p:tav>
                                        <p:tav tm="100000">
                                          <p:val>
                                            <p:strVal val="#ppt_x"/>
                                          </p:val>
                                        </p:tav>
                                      </p:tavLst>
                                    </p:anim>
                                    <p:anim calcmode="lin" valueType="num">
                                      <p:cBhvr additive="base">
                                        <p:cTn id="14" dur="500" fill="hold"/>
                                        <p:tgtEl>
                                          <p:spTgt spid="2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17"/>
                                        </p:tgtEl>
                                        <p:attrNameLst>
                                          <p:attrName>style.visibility</p:attrName>
                                        </p:attrNameLst>
                                      </p:cBhvr>
                                      <p:to>
                                        <p:strVal val="visible"/>
                                      </p:to>
                                    </p:set>
                                    <p:anim calcmode="lin" valueType="num">
                                      <p:cBhvr additive="base">
                                        <p:cTn id="19" dur="500" fill="hold"/>
                                        <p:tgtEl>
                                          <p:spTgt spid="317"/>
                                        </p:tgtEl>
                                        <p:attrNameLst>
                                          <p:attrName>ppt_x</p:attrName>
                                        </p:attrNameLst>
                                      </p:cBhvr>
                                      <p:tavLst>
                                        <p:tav tm="0">
                                          <p:val>
                                            <p:strVal val="0-#ppt_w/2"/>
                                          </p:val>
                                        </p:tav>
                                        <p:tav tm="100000">
                                          <p:val>
                                            <p:strVal val="#ppt_x"/>
                                          </p:val>
                                        </p:tav>
                                      </p:tavLst>
                                    </p:anim>
                                    <p:anim calcmode="lin" valueType="num">
                                      <p:cBhvr additive="base">
                                        <p:cTn id="20" dur="500" fill="hold"/>
                                        <p:tgtEl>
                                          <p:spTgt spid="3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11"/>
                                        </p:tgtEl>
                                        <p:attrNameLst>
                                          <p:attrName>style.visibility</p:attrName>
                                        </p:attrNameLst>
                                      </p:cBhvr>
                                      <p:to>
                                        <p:strVal val="visible"/>
                                      </p:to>
                                    </p:set>
                                    <p:anim calcmode="lin" valueType="num">
                                      <p:cBhvr additive="base">
                                        <p:cTn id="25" dur="500" fill="hold"/>
                                        <p:tgtEl>
                                          <p:spTgt spid="411"/>
                                        </p:tgtEl>
                                        <p:attrNameLst>
                                          <p:attrName>ppt_x</p:attrName>
                                        </p:attrNameLst>
                                      </p:cBhvr>
                                      <p:tavLst>
                                        <p:tav tm="0">
                                          <p:val>
                                            <p:strVal val="0-#ppt_w/2"/>
                                          </p:val>
                                        </p:tav>
                                        <p:tav tm="100000">
                                          <p:val>
                                            <p:strVal val="#ppt_x"/>
                                          </p:val>
                                        </p:tav>
                                      </p:tavLst>
                                    </p:anim>
                                    <p:anim calcmode="lin" valueType="num">
                                      <p:cBhvr additive="base">
                                        <p:cTn id="26" dur="500" fill="hold"/>
                                        <p:tgtEl>
                                          <p:spTgt spid="4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21"/>
                                        </p:tgtEl>
                                        <p:attrNameLst>
                                          <p:attrName>style.visibility</p:attrName>
                                        </p:attrNameLst>
                                      </p:cBhvr>
                                      <p:to>
                                        <p:strVal val="visible"/>
                                      </p:to>
                                    </p:set>
                                    <p:anim calcmode="lin" valueType="num">
                                      <p:cBhvr additive="base">
                                        <p:cTn id="31" dur="500" fill="hold"/>
                                        <p:tgtEl>
                                          <p:spTgt spid="421"/>
                                        </p:tgtEl>
                                        <p:attrNameLst>
                                          <p:attrName>ppt_x</p:attrName>
                                        </p:attrNameLst>
                                      </p:cBhvr>
                                      <p:tavLst>
                                        <p:tav tm="0">
                                          <p:val>
                                            <p:strVal val="0-#ppt_w/2"/>
                                          </p:val>
                                        </p:tav>
                                        <p:tav tm="100000">
                                          <p:val>
                                            <p:strVal val="#ppt_x"/>
                                          </p:val>
                                        </p:tav>
                                      </p:tavLst>
                                    </p:anim>
                                    <p:anim calcmode="lin" valueType="num">
                                      <p:cBhvr additive="base">
                                        <p:cTn id="32" dur="500" fill="hold"/>
                                        <p:tgtEl>
                                          <p:spTgt spid="421"/>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422"/>
                                        </p:tgtEl>
                                        <p:attrNameLst>
                                          <p:attrName>style.visibility</p:attrName>
                                        </p:attrNameLst>
                                      </p:cBhvr>
                                      <p:to>
                                        <p:strVal val="visible"/>
                                      </p:to>
                                    </p:set>
                                    <p:anim calcmode="lin" valueType="num">
                                      <p:cBhvr additive="base">
                                        <p:cTn id="36" dur="500" fill="hold"/>
                                        <p:tgtEl>
                                          <p:spTgt spid="422"/>
                                        </p:tgtEl>
                                        <p:attrNameLst>
                                          <p:attrName>ppt_x</p:attrName>
                                        </p:attrNameLst>
                                      </p:cBhvr>
                                      <p:tavLst>
                                        <p:tav tm="0">
                                          <p:val>
                                            <p:strVal val="0-#ppt_w/2"/>
                                          </p:val>
                                        </p:tav>
                                        <p:tav tm="100000">
                                          <p:val>
                                            <p:strVal val="#ppt_x"/>
                                          </p:val>
                                        </p:tav>
                                      </p:tavLst>
                                    </p:anim>
                                    <p:anim calcmode="lin" valueType="num">
                                      <p:cBhvr additive="base">
                                        <p:cTn id="37" dur="500" fill="hold"/>
                                        <p:tgtEl>
                                          <p:spTgt spid="422"/>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2" presetClass="entr" presetSubtype="8" fill="hold" grpId="0" nodeType="afterEffect">
                                  <p:stCondLst>
                                    <p:cond delay="0"/>
                                  </p:stCondLst>
                                  <p:childTnLst>
                                    <p:set>
                                      <p:cBhvr>
                                        <p:cTn id="40" dur="1" fill="hold">
                                          <p:stCondLst>
                                            <p:cond delay="0"/>
                                          </p:stCondLst>
                                        </p:cTn>
                                        <p:tgtEl>
                                          <p:spTgt spid="423"/>
                                        </p:tgtEl>
                                        <p:attrNameLst>
                                          <p:attrName>style.visibility</p:attrName>
                                        </p:attrNameLst>
                                      </p:cBhvr>
                                      <p:to>
                                        <p:strVal val="visible"/>
                                      </p:to>
                                    </p:set>
                                    <p:anim calcmode="lin" valueType="num">
                                      <p:cBhvr additive="base">
                                        <p:cTn id="41" dur="500" fill="hold"/>
                                        <p:tgtEl>
                                          <p:spTgt spid="423"/>
                                        </p:tgtEl>
                                        <p:attrNameLst>
                                          <p:attrName>ppt_x</p:attrName>
                                        </p:attrNameLst>
                                      </p:cBhvr>
                                      <p:tavLst>
                                        <p:tav tm="0">
                                          <p:val>
                                            <p:strVal val="0-#ppt_w/2"/>
                                          </p:val>
                                        </p:tav>
                                        <p:tav tm="100000">
                                          <p:val>
                                            <p:strVal val="#ppt_x"/>
                                          </p:val>
                                        </p:tav>
                                      </p:tavLst>
                                    </p:anim>
                                    <p:anim calcmode="lin" valueType="num">
                                      <p:cBhvr additive="base">
                                        <p:cTn id="42" dur="500" fill="hold"/>
                                        <p:tgtEl>
                                          <p:spTgt spid="42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84"/>
                                        </p:tgtEl>
                                        <p:attrNameLst>
                                          <p:attrName>style.visibility</p:attrName>
                                        </p:attrNameLst>
                                      </p:cBhvr>
                                      <p:to>
                                        <p:strVal val="visible"/>
                                      </p:to>
                                    </p:set>
                                    <p:anim calcmode="lin" valueType="num">
                                      <p:cBhvr additive="base">
                                        <p:cTn id="47" dur="500" fill="hold"/>
                                        <p:tgtEl>
                                          <p:spTgt spid="284"/>
                                        </p:tgtEl>
                                        <p:attrNameLst>
                                          <p:attrName>ppt_x</p:attrName>
                                        </p:attrNameLst>
                                      </p:cBhvr>
                                      <p:tavLst>
                                        <p:tav tm="0">
                                          <p:val>
                                            <p:strVal val="0-#ppt_w/2"/>
                                          </p:val>
                                        </p:tav>
                                        <p:tav tm="100000">
                                          <p:val>
                                            <p:strVal val="#ppt_x"/>
                                          </p:val>
                                        </p:tav>
                                      </p:tavLst>
                                    </p:anim>
                                    <p:anim calcmode="lin" valueType="num">
                                      <p:cBhvr additive="base">
                                        <p:cTn id="48" dur="500" fill="hold"/>
                                        <p:tgtEl>
                                          <p:spTgt spid="2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 grpId="0" autoUpdateAnimBg="0"/>
      <p:bldP spid="421" grpId="0" animBg="1"/>
      <p:bldP spid="422" grpId="0" animBg="1"/>
      <p:bldP spid="42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9</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D </a:t>
            </a:r>
            <a:r>
              <a:rPr lang="zh-CN" altLang="en-US" sz="2000" b="1">
                <a:latin typeface="Times New Roman" pitchFamily="18" charset="0"/>
                <a:cs typeface="Times New Roman" pitchFamily="18" charset="0"/>
              </a:rPr>
              <a:t>两点相对水平位移 </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CD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EI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常数。</a:t>
            </a:r>
            <a:endParaRPr lang="en-US" altLang="zh-CN" sz="2000" b="1" baseline="-25000">
              <a:latin typeface="Times New Roman" pitchFamily="18" charset="0"/>
              <a:cs typeface="Times New Roman" pitchFamily="18" charset="0"/>
            </a:endParaRPr>
          </a:p>
        </p:txBody>
      </p:sp>
      <p:sp>
        <p:nvSpPr>
          <p:cNvPr id="317" name="Text Box 3"/>
          <p:cNvSpPr txBox="1">
            <a:spLocks noChangeArrowheads="1"/>
          </p:cNvSpPr>
          <p:nvPr/>
        </p:nvSpPr>
        <p:spPr bwMode="auto">
          <a:xfrm>
            <a:off x="1207771" y="4743402"/>
            <a:ext cx="7162800" cy="400110"/>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aphicFrame>
        <p:nvGraphicFramePr>
          <p:cNvPr id="320" name="Object 4"/>
          <p:cNvGraphicFramePr>
            <a:graphicFrameLocks noChangeAspect="1"/>
          </p:cNvGraphicFramePr>
          <p:nvPr/>
        </p:nvGraphicFramePr>
        <p:xfrm>
          <a:off x="1500166" y="5146675"/>
          <a:ext cx="6792912" cy="1382713"/>
        </p:xfrm>
        <a:graphic>
          <a:graphicData uri="http://schemas.openxmlformats.org/presentationml/2006/ole">
            <mc:AlternateContent xmlns:mc="http://schemas.openxmlformats.org/markup-compatibility/2006">
              <mc:Choice xmlns:v="urn:schemas-microsoft-com:vml" Requires="v">
                <p:oleObj spid="_x0000_s528446" name="Equation" r:id="rId4" imgW="4114800" imgH="838080" progId="Equation.DSMT4">
                  <p:embed/>
                </p:oleObj>
              </mc:Choice>
              <mc:Fallback>
                <p:oleObj name="Equation" r:id="rId4" imgW="4114800" imgH="8380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66" y="5146675"/>
                        <a:ext cx="6792912" cy="1382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4" name="Group 8"/>
          <p:cNvGrpSpPr>
            <a:grpSpLocks/>
          </p:cNvGrpSpPr>
          <p:nvPr/>
        </p:nvGrpSpPr>
        <p:grpSpPr bwMode="auto">
          <a:xfrm>
            <a:off x="858872" y="2257305"/>
            <a:ext cx="3740152" cy="2376488"/>
            <a:chOff x="22" y="1104"/>
            <a:chExt cx="2356" cy="1497"/>
          </a:xfrm>
        </p:grpSpPr>
        <p:graphicFrame>
          <p:nvGraphicFramePr>
            <p:cNvPr id="325" name="Object 9"/>
            <p:cNvGraphicFramePr>
              <a:graphicFrameLocks noChangeAspect="1"/>
            </p:cNvGraphicFramePr>
            <p:nvPr/>
          </p:nvGraphicFramePr>
          <p:xfrm>
            <a:off x="672" y="2064"/>
            <a:ext cx="194" cy="212"/>
          </p:xfrm>
          <a:graphic>
            <a:graphicData uri="http://schemas.openxmlformats.org/presentationml/2006/ole">
              <mc:AlternateContent xmlns:mc="http://schemas.openxmlformats.org/markup-compatibility/2006">
                <mc:Choice xmlns:v="urn:schemas-microsoft-com:vml" Requires="v">
                  <p:oleObj spid="_x0000_s528447" name="公式" r:id="rId6" imgW="152280" imgH="164880" progId="Equation.3">
                    <p:embed/>
                  </p:oleObj>
                </mc:Choice>
                <mc:Fallback>
                  <p:oleObj name="公式" r:id="rId6" imgW="152280" imgH="16488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2" y="2064"/>
                          <a:ext cx="19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 name="Line 10"/>
            <p:cNvSpPr>
              <a:spLocks noChangeShapeType="1"/>
            </p:cNvSpPr>
            <p:nvPr/>
          </p:nvSpPr>
          <p:spPr bwMode="auto">
            <a:xfrm>
              <a:off x="720" y="1728"/>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1" name="Line 11"/>
            <p:cNvSpPr>
              <a:spLocks noChangeShapeType="1"/>
            </p:cNvSpPr>
            <p:nvPr/>
          </p:nvSpPr>
          <p:spPr bwMode="auto">
            <a:xfrm>
              <a:off x="672" y="2409"/>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4" name="Line 13"/>
            <p:cNvSpPr>
              <a:spLocks noChangeShapeType="1"/>
            </p:cNvSpPr>
            <p:nvPr/>
          </p:nvSpPr>
          <p:spPr bwMode="auto">
            <a:xfrm flipV="1">
              <a:off x="672" y="1200"/>
              <a:ext cx="0" cy="1104"/>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Line 14"/>
            <p:cNvSpPr>
              <a:spLocks noChangeShapeType="1"/>
            </p:cNvSpPr>
            <p:nvPr/>
          </p:nvSpPr>
          <p:spPr bwMode="auto">
            <a:xfrm flipV="1">
              <a:off x="1440" y="1200"/>
              <a:ext cx="0" cy="1104"/>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6" name="Line 15"/>
            <p:cNvSpPr>
              <a:spLocks noChangeShapeType="1"/>
            </p:cNvSpPr>
            <p:nvPr/>
          </p:nvSpPr>
          <p:spPr bwMode="auto">
            <a:xfrm>
              <a:off x="672" y="2499"/>
              <a:ext cx="76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37" name="Object 16"/>
            <p:cNvGraphicFramePr>
              <a:graphicFrameLocks noChangeAspect="1"/>
            </p:cNvGraphicFramePr>
            <p:nvPr/>
          </p:nvGraphicFramePr>
          <p:xfrm>
            <a:off x="1245" y="2093"/>
            <a:ext cx="195" cy="211"/>
          </p:xfrm>
          <a:graphic>
            <a:graphicData uri="http://schemas.openxmlformats.org/presentationml/2006/ole">
              <mc:AlternateContent xmlns:mc="http://schemas.openxmlformats.org/markup-compatibility/2006">
                <mc:Choice xmlns:v="urn:schemas-microsoft-com:vml" Requires="v">
                  <p:oleObj spid="_x0000_s528448" name="公式" r:id="rId8" imgW="152280" imgH="164880" progId="Equation.3">
                    <p:embed/>
                  </p:oleObj>
                </mc:Choice>
                <mc:Fallback>
                  <p:oleObj name="公式" r:id="rId8" imgW="152280" imgH="16488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5" y="2093"/>
                          <a:ext cx="195"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 name="Line 17"/>
            <p:cNvSpPr>
              <a:spLocks noChangeShapeType="1"/>
            </p:cNvSpPr>
            <p:nvPr/>
          </p:nvSpPr>
          <p:spPr bwMode="auto">
            <a:xfrm>
              <a:off x="2160" y="1200"/>
              <a:ext cx="0" cy="105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18"/>
            <p:cNvSpPr>
              <a:spLocks noChangeShapeType="1"/>
            </p:cNvSpPr>
            <p:nvPr/>
          </p:nvSpPr>
          <p:spPr bwMode="auto">
            <a:xfrm>
              <a:off x="2112" y="120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19"/>
            <p:cNvSpPr>
              <a:spLocks noChangeShapeType="1"/>
            </p:cNvSpPr>
            <p:nvPr/>
          </p:nvSpPr>
          <p:spPr bwMode="auto">
            <a:xfrm>
              <a:off x="2112" y="172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Rectangle 20"/>
            <p:cNvSpPr>
              <a:spLocks noChangeArrowheads="1"/>
            </p:cNvSpPr>
            <p:nvPr/>
          </p:nvSpPr>
          <p:spPr bwMode="auto">
            <a:xfrm>
              <a:off x="2208" y="1296"/>
              <a:ext cx="170" cy="291"/>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effectLst/>
                  <a:uLnTx/>
                  <a:uFillTx/>
                  <a:latin typeface="Times New Roman" pitchFamily="18" charset="0"/>
                  <a:ea typeface="宋体" charset="-122"/>
                  <a:cs typeface="+mn-cs"/>
                </a:rPr>
                <a:t>l</a:t>
              </a:r>
            </a:p>
          </p:txBody>
        </p:sp>
        <p:sp>
          <p:nvSpPr>
            <p:cNvPr id="342" name="Rectangle 21"/>
            <p:cNvSpPr>
              <a:spLocks noChangeArrowheads="1"/>
            </p:cNvSpPr>
            <p:nvPr/>
          </p:nvSpPr>
          <p:spPr bwMode="auto">
            <a:xfrm>
              <a:off x="2208" y="1824"/>
              <a:ext cx="170" cy="291"/>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400" b="1" i="0" u="none" strike="noStrike" kern="1200" cap="none" spc="0" normalizeH="0" baseline="0" noProof="0">
                <a:ln>
                  <a:noFill/>
                </a:ln>
                <a:effectLst/>
                <a:uLnTx/>
                <a:uFillTx/>
                <a:latin typeface="Times New Roman" pitchFamily="18" charset="0"/>
                <a:ea typeface="宋体" charset="-122"/>
                <a:cs typeface="+mn-cs"/>
              </a:endParaRPr>
            </a:p>
          </p:txBody>
        </p:sp>
        <p:graphicFrame>
          <p:nvGraphicFramePr>
            <p:cNvPr id="343" name="Object 22"/>
            <p:cNvGraphicFramePr>
              <a:graphicFrameLocks noChangeAspect="1"/>
            </p:cNvGraphicFramePr>
            <p:nvPr/>
          </p:nvGraphicFramePr>
          <p:xfrm>
            <a:off x="912" y="1728"/>
            <a:ext cx="310" cy="212"/>
          </p:xfrm>
          <a:graphic>
            <a:graphicData uri="http://schemas.openxmlformats.org/presentationml/2006/ole">
              <mc:AlternateContent xmlns:mc="http://schemas.openxmlformats.org/markup-compatibility/2006">
                <mc:Choice xmlns:v="urn:schemas-microsoft-com:vml" Requires="v">
                  <p:oleObj spid="_x0000_s528449" name="公式" r:id="rId10" imgW="241200" imgH="164880" progId="Equation.3">
                    <p:embed/>
                  </p:oleObj>
                </mc:Choice>
                <mc:Fallback>
                  <p:oleObj name="公式" r:id="rId10" imgW="241200" imgH="16488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2" y="1728"/>
                          <a:ext cx="310"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4" name="Line 23"/>
            <p:cNvSpPr>
              <a:spLocks noChangeShapeType="1"/>
            </p:cNvSpPr>
            <p:nvPr/>
          </p:nvSpPr>
          <p:spPr bwMode="auto">
            <a:xfrm flipH="1">
              <a:off x="288" y="1200"/>
              <a:ext cx="384" cy="0"/>
            </a:xfrm>
            <a:prstGeom prst="line">
              <a:avLst/>
            </a:prstGeom>
            <a:noFill/>
            <a:ln w="38100">
              <a:solidFill>
                <a:srgbClr val="0033CC"/>
              </a:solidFill>
              <a:round/>
              <a:headEnd type="triangle" w="med" len="med"/>
              <a:tailEnd type="non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45" name="Object 24"/>
            <p:cNvGraphicFramePr>
              <a:graphicFrameLocks noChangeAspect="1"/>
            </p:cNvGraphicFramePr>
            <p:nvPr/>
          </p:nvGraphicFramePr>
          <p:xfrm>
            <a:off x="1456" y="1464"/>
            <a:ext cx="277" cy="212"/>
          </p:xfrm>
          <a:graphic>
            <a:graphicData uri="http://schemas.openxmlformats.org/presentationml/2006/ole">
              <mc:AlternateContent xmlns:mc="http://schemas.openxmlformats.org/markup-compatibility/2006">
                <mc:Choice xmlns:v="urn:schemas-microsoft-com:vml" Requires="v">
                  <p:oleObj spid="_x0000_s528450" name="公式" r:id="rId12" imgW="215640" imgH="164880" progId="Equation.3">
                    <p:embed/>
                  </p:oleObj>
                </mc:Choice>
                <mc:Fallback>
                  <p:oleObj name="公式" r:id="rId12" imgW="215640" imgH="16488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56" y="1464"/>
                          <a:ext cx="277"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46" name="Group 25"/>
            <p:cNvGrpSpPr>
              <a:grpSpLocks/>
            </p:cNvGrpSpPr>
            <p:nvPr/>
          </p:nvGrpSpPr>
          <p:grpSpPr bwMode="auto">
            <a:xfrm rot="-5315280">
              <a:off x="1392" y="2208"/>
              <a:ext cx="384" cy="384"/>
              <a:chOff x="528" y="1872"/>
              <a:chExt cx="384" cy="384"/>
            </a:xfrm>
          </p:grpSpPr>
          <p:sp>
            <p:nvSpPr>
              <p:cNvPr id="373" name="Line 30"/>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31"/>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32"/>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6" name="Line 33"/>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7" name="Line 34"/>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35"/>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Line 36"/>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Line 37"/>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Oval 26"/>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Oval 27"/>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1" name="Line 28"/>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2" name="Line 29"/>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2" name="Oval 38"/>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47" name="Line 39"/>
            <p:cNvSpPr>
              <a:spLocks noChangeShapeType="1"/>
            </p:cNvSpPr>
            <p:nvPr/>
          </p:nvSpPr>
          <p:spPr bwMode="auto">
            <a:xfrm>
              <a:off x="1416" y="1203"/>
              <a:ext cx="384" cy="0"/>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48" name="Group 40"/>
            <p:cNvGrpSpPr>
              <a:grpSpLocks/>
            </p:cNvGrpSpPr>
            <p:nvPr/>
          </p:nvGrpSpPr>
          <p:grpSpPr bwMode="auto">
            <a:xfrm>
              <a:off x="432" y="2304"/>
              <a:ext cx="432" cy="96"/>
              <a:chOff x="5136" y="2256"/>
              <a:chExt cx="432" cy="96"/>
            </a:xfrm>
          </p:grpSpPr>
          <p:sp>
            <p:nvSpPr>
              <p:cNvPr id="359" name="Line 41"/>
              <p:cNvSpPr>
                <a:spLocks noChangeShapeType="1"/>
              </p:cNvSpPr>
              <p:nvPr/>
            </p:nvSpPr>
            <p:spPr bwMode="auto">
              <a:xfrm>
                <a:off x="5184" y="225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0" name="Line 42"/>
              <p:cNvSpPr>
                <a:spLocks noChangeShapeType="1"/>
              </p:cNvSpPr>
              <p:nvPr/>
            </p:nvSpPr>
            <p:spPr bwMode="auto">
              <a:xfrm flipV="1">
                <a:off x="518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1" name="Line 43"/>
              <p:cNvSpPr>
                <a:spLocks noChangeShapeType="1"/>
              </p:cNvSpPr>
              <p:nvPr/>
            </p:nvSpPr>
            <p:spPr bwMode="auto">
              <a:xfrm flipV="1">
                <a:off x="523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2" name="Line 44"/>
              <p:cNvSpPr>
                <a:spLocks noChangeShapeType="1"/>
              </p:cNvSpPr>
              <p:nvPr/>
            </p:nvSpPr>
            <p:spPr bwMode="auto">
              <a:xfrm flipV="1">
                <a:off x="5280"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3" name="Line 45"/>
              <p:cNvSpPr>
                <a:spLocks noChangeShapeType="1"/>
              </p:cNvSpPr>
              <p:nvPr/>
            </p:nvSpPr>
            <p:spPr bwMode="auto">
              <a:xfrm flipV="1">
                <a:off x="5328"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4" name="Line 46"/>
              <p:cNvSpPr>
                <a:spLocks noChangeShapeType="1"/>
              </p:cNvSpPr>
              <p:nvPr/>
            </p:nvSpPr>
            <p:spPr bwMode="auto">
              <a:xfrm flipV="1">
                <a:off x="537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5" name="Line 47"/>
              <p:cNvSpPr>
                <a:spLocks noChangeShapeType="1"/>
              </p:cNvSpPr>
              <p:nvPr/>
            </p:nvSpPr>
            <p:spPr bwMode="auto">
              <a:xfrm flipV="1">
                <a:off x="542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6" name="Line 48"/>
              <p:cNvSpPr>
                <a:spLocks noChangeShapeType="1"/>
              </p:cNvSpPr>
              <p:nvPr/>
            </p:nvSpPr>
            <p:spPr bwMode="auto">
              <a:xfrm flipV="1">
                <a:off x="547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49"/>
              <p:cNvSpPr>
                <a:spLocks noChangeShapeType="1"/>
              </p:cNvSpPr>
              <p:nvPr/>
            </p:nvSpPr>
            <p:spPr bwMode="auto">
              <a:xfrm flipV="1">
                <a:off x="513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351" name="Object 52"/>
            <p:cNvGraphicFramePr>
              <a:graphicFrameLocks noChangeAspect="1"/>
            </p:cNvGraphicFramePr>
            <p:nvPr/>
          </p:nvGraphicFramePr>
          <p:xfrm>
            <a:off x="720" y="1104"/>
            <a:ext cx="195" cy="227"/>
          </p:xfrm>
          <a:graphic>
            <a:graphicData uri="http://schemas.openxmlformats.org/presentationml/2006/ole">
              <mc:AlternateContent xmlns:mc="http://schemas.openxmlformats.org/markup-compatibility/2006">
                <mc:Choice xmlns:v="urn:schemas-microsoft-com:vml" Requires="v">
                  <p:oleObj spid="_x0000_s528451" name="公式" r:id="rId14" imgW="152280" imgH="177480" progId="Equation.3">
                    <p:embed/>
                  </p:oleObj>
                </mc:Choice>
                <mc:Fallback>
                  <p:oleObj name="公式" r:id="rId14" imgW="152280" imgH="177480" progId="Equation.3">
                    <p:embed/>
                    <p:pic>
                      <p:nvPicPr>
                        <p:cNvPr id="0" name="Object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0" y="1104"/>
                          <a:ext cx="195"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3" name="Object 53"/>
            <p:cNvGraphicFramePr>
              <a:graphicFrameLocks noChangeAspect="1"/>
            </p:cNvGraphicFramePr>
            <p:nvPr/>
          </p:nvGraphicFramePr>
          <p:xfrm>
            <a:off x="1200" y="1104"/>
            <a:ext cx="211" cy="211"/>
          </p:xfrm>
          <a:graphic>
            <a:graphicData uri="http://schemas.openxmlformats.org/presentationml/2006/ole">
              <mc:AlternateContent xmlns:mc="http://schemas.openxmlformats.org/markup-compatibility/2006">
                <mc:Choice xmlns:v="urn:schemas-microsoft-com:vml" Requires="v">
                  <p:oleObj spid="_x0000_s528452" name="公式" r:id="rId16" imgW="164880" imgH="164880" progId="Equation.3">
                    <p:embed/>
                  </p:oleObj>
                </mc:Choice>
                <mc:Fallback>
                  <p:oleObj name="公式" r:id="rId16" imgW="164880" imgH="164880" progId="Equation.3">
                    <p:embed/>
                    <p:pic>
                      <p:nvPicPr>
                        <p:cNvPr id="0" name="Object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00" y="1104"/>
                          <a:ext cx="211"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4" name="Object 54"/>
            <p:cNvGraphicFramePr>
              <a:graphicFrameLocks noChangeAspect="1"/>
            </p:cNvGraphicFramePr>
            <p:nvPr/>
          </p:nvGraphicFramePr>
          <p:xfrm>
            <a:off x="1812" y="1122"/>
            <a:ext cx="197" cy="211"/>
          </p:xfrm>
          <a:graphic>
            <a:graphicData uri="http://schemas.openxmlformats.org/presentationml/2006/ole">
              <mc:AlternateContent xmlns:mc="http://schemas.openxmlformats.org/markup-compatibility/2006">
                <mc:Choice xmlns:v="urn:schemas-microsoft-com:vml" Requires="v">
                  <p:oleObj spid="_x0000_s528453" name="Equation" r:id="rId18" imgW="152280" imgH="164880" progId="Equation.DSMT4">
                    <p:embed/>
                  </p:oleObj>
                </mc:Choice>
                <mc:Fallback>
                  <p:oleObj name="Equation" r:id="rId18" imgW="152280" imgH="164880" progId="Equation.DSMT4">
                    <p:embed/>
                    <p:pic>
                      <p:nvPicPr>
                        <p:cNvPr id="0" name="Object 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12" y="1122"/>
                          <a:ext cx="197"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5" name="Object 55"/>
            <p:cNvGraphicFramePr>
              <a:graphicFrameLocks noChangeAspect="1"/>
            </p:cNvGraphicFramePr>
            <p:nvPr/>
          </p:nvGraphicFramePr>
          <p:xfrm>
            <a:off x="22" y="1104"/>
            <a:ext cx="197" cy="211"/>
          </p:xfrm>
          <a:graphic>
            <a:graphicData uri="http://schemas.openxmlformats.org/presentationml/2006/ole">
              <mc:AlternateContent xmlns:mc="http://schemas.openxmlformats.org/markup-compatibility/2006">
                <mc:Choice xmlns:v="urn:schemas-microsoft-com:vml" Requires="v">
                  <p:oleObj spid="_x0000_s528454" name="Equation" r:id="rId20" imgW="152280" imgH="164880" progId="Equation.DSMT4">
                    <p:embed/>
                  </p:oleObj>
                </mc:Choice>
                <mc:Fallback>
                  <p:oleObj name="Equation" r:id="rId20" imgW="152280" imgH="164880" progId="Equation.DSMT4">
                    <p:embed/>
                    <p:pic>
                      <p:nvPicPr>
                        <p:cNvPr id="0" name="Object 5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 y="1104"/>
                          <a:ext cx="197"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6" name="Line 56"/>
            <p:cNvSpPr>
              <a:spLocks noChangeShapeType="1"/>
            </p:cNvSpPr>
            <p:nvPr/>
          </p:nvSpPr>
          <p:spPr bwMode="auto">
            <a:xfrm>
              <a:off x="2112"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57" name="Object 57"/>
            <p:cNvGraphicFramePr>
              <a:graphicFrameLocks noChangeAspect="1"/>
            </p:cNvGraphicFramePr>
            <p:nvPr/>
          </p:nvGraphicFramePr>
          <p:xfrm>
            <a:off x="341" y="1464"/>
            <a:ext cx="277" cy="212"/>
          </p:xfrm>
          <a:graphic>
            <a:graphicData uri="http://schemas.openxmlformats.org/presentationml/2006/ole">
              <mc:AlternateContent xmlns:mc="http://schemas.openxmlformats.org/markup-compatibility/2006">
                <mc:Choice xmlns:v="urn:schemas-microsoft-com:vml" Requires="v">
                  <p:oleObj spid="_x0000_s528455" name="公式" r:id="rId22" imgW="215640" imgH="164880" progId="Equation.3">
                    <p:embed/>
                  </p:oleObj>
                </mc:Choice>
                <mc:Fallback>
                  <p:oleObj name="公式" r:id="rId22" imgW="215640" imgH="164880" progId="Equation.3">
                    <p:embed/>
                    <p:pic>
                      <p:nvPicPr>
                        <p:cNvPr id="0" name="Object 5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1" y="1464"/>
                          <a:ext cx="277"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 name="Rectangle 58"/>
            <p:cNvSpPr>
              <a:spLocks noChangeArrowheads="1"/>
            </p:cNvSpPr>
            <p:nvPr/>
          </p:nvSpPr>
          <p:spPr bwMode="auto">
            <a:xfrm>
              <a:off x="960" y="2235"/>
              <a:ext cx="170" cy="291"/>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400" b="1" i="0" u="none" strike="noStrike" kern="1200" cap="none" spc="0" normalizeH="0" baseline="0" noProof="0">
                <a:ln>
                  <a:noFill/>
                </a:ln>
                <a:effectLst/>
                <a:uLnTx/>
                <a:uFillTx/>
                <a:latin typeface="Times New Roman" pitchFamily="18" charset="0"/>
                <a:ea typeface="宋体" charset="-122"/>
                <a:cs typeface="+mn-cs"/>
              </a:endParaRPr>
            </a:p>
          </p:txBody>
        </p:sp>
        <p:sp>
          <p:nvSpPr>
            <p:cNvPr id="349" name="Oval 50"/>
            <p:cNvSpPr>
              <a:spLocks noChangeArrowheads="1"/>
            </p:cNvSpPr>
            <p:nvPr/>
          </p:nvSpPr>
          <p:spPr bwMode="auto">
            <a:xfrm>
              <a:off x="672" y="168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0" name="Oval 51"/>
            <p:cNvSpPr>
              <a:spLocks noChangeArrowheads="1"/>
            </p:cNvSpPr>
            <p:nvPr/>
          </p:nvSpPr>
          <p:spPr bwMode="auto">
            <a:xfrm>
              <a:off x="1344" y="168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83" name="Group 59"/>
          <p:cNvGrpSpPr>
            <a:grpSpLocks/>
          </p:cNvGrpSpPr>
          <p:nvPr/>
        </p:nvGrpSpPr>
        <p:grpSpPr bwMode="auto">
          <a:xfrm>
            <a:off x="1106521" y="2409705"/>
            <a:ext cx="2744788" cy="1752600"/>
            <a:chOff x="178" y="1200"/>
            <a:chExt cx="1729" cy="1104"/>
          </a:xfrm>
        </p:grpSpPr>
        <p:sp>
          <p:nvSpPr>
            <p:cNvPr id="385" name="Oval 60"/>
            <p:cNvSpPr>
              <a:spLocks noChangeArrowheads="1"/>
            </p:cNvSpPr>
            <p:nvPr/>
          </p:nvSpPr>
          <p:spPr bwMode="auto">
            <a:xfrm>
              <a:off x="912" y="1329"/>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effectLst/>
                <a:uLnTx/>
                <a:uFillTx/>
                <a:latin typeface="Times New Roman" pitchFamily="18" charset="0"/>
                <a:ea typeface="宋体" charset="-122"/>
                <a:cs typeface="+mn-cs"/>
              </a:endParaRPr>
            </a:p>
          </p:txBody>
        </p:sp>
        <p:sp>
          <p:nvSpPr>
            <p:cNvPr id="386" name="Line 61"/>
            <p:cNvSpPr>
              <a:spLocks noChangeShapeType="1"/>
            </p:cNvSpPr>
            <p:nvPr/>
          </p:nvSpPr>
          <p:spPr bwMode="auto">
            <a:xfrm flipH="1">
              <a:off x="432" y="1200"/>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62"/>
            <p:cNvSpPr>
              <a:spLocks noChangeShapeType="1"/>
            </p:cNvSpPr>
            <p:nvPr/>
          </p:nvSpPr>
          <p:spPr bwMode="auto">
            <a:xfrm>
              <a:off x="432" y="1728"/>
              <a:ext cx="240" cy="576"/>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63"/>
            <p:cNvSpPr>
              <a:spLocks noChangeShapeType="1"/>
            </p:cNvSpPr>
            <p:nvPr/>
          </p:nvSpPr>
          <p:spPr bwMode="auto">
            <a:xfrm flipH="1">
              <a:off x="1440" y="1728"/>
              <a:ext cx="240" cy="0"/>
            </a:xfrm>
            <a:prstGeom prst="line">
              <a:avLst/>
            </a:prstGeom>
            <a:noFill/>
            <a:ln w="1905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9" name="Object 64"/>
            <p:cNvGraphicFramePr>
              <a:graphicFrameLocks noChangeAspect="1"/>
            </p:cNvGraphicFramePr>
            <p:nvPr/>
          </p:nvGraphicFramePr>
          <p:xfrm>
            <a:off x="1648" y="1816"/>
            <a:ext cx="259" cy="227"/>
          </p:xfrm>
          <a:graphic>
            <a:graphicData uri="http://schemas.openxmlformats.org/presentationml/2006/ole">
              <mc:AlternateContent xmlns:mc="http://schemas.openxmlformats.org/markup-compatibility/2006">
                <mc:Choice xmlns:v="urn:schemas-microsoft-com:vml" Requires="v">
                  <p:oleObj spid="_x0000_s528456" name="公式" r:id="rId24" imgW="203040" imgH="177480" progId="Equation.3">
                    <p:embed/>
                  </p:oleObj>
                </mc:Choice>
                <mc:Fallback>
                  <p:oleObj name="公式" r:id="rId24" imgW="203040" imgH="177480" progId="Equation.3">
                    <p:embed/>
                    <p:pic>
                      <p:nvPicPr>
                        <p:cNvPr id="0" name="Object 6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48" y="1816"/>
                          <a:ext cx="259"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0" name="Line 65"/>
            <p:cNvSpPr>
              <a:spLocks noChangeShapeType="1"/>
            </p:cNvSpPr>
            <p:nvPr/>
          </p:nvSpPr>
          <p:spPr bwMode="auto">
            <a:xfrm flipH="1">
              <a:off x="1440" y="1728"/>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1" name="Line 66"/>
            <p:cNvSpPr>
              <a:spLocks noChangeShapeType="1"/>
            </p:cNvSpPr>
            <p:nvPr/>
          </p:nvSpPr>
          <p:spPr bwMode="auto">
            <a:xfrm>
              <a:off x="1440" y="1200"/>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2" name="Line 67"/>
            <p:cNvSpPr>
              <a:spLocks noChangeShapeType="1"/>
            </p:cNvSpPr>
            <p:nvPr/>
          </p:nvSpPr>
          <p:spPr bwMode="auto">
            <a:xfrm flipH="1">
              <a:off x="432" y="1733"/>
              <a:ext cx="249" cy="0"/>
            </a:xfrm>
            <a:prstGeom prst="line">
              <a:avLst/>
            </a:prstGeom>
            <a:noFill/>
            <a:ln w="1905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93" name="Object 68"/>
            <p:cNvGraphicFramePr>
              <a:graphicFrameLocks noChangeAspect="1"/>
            </p:cNvGraphicFramePr>
            <p:nvPr/>
          </p:nvGraphicFramePr>
          <p:xfrm>
            <a:off x="178" y="1801"/>
            <a:ext cx="259" cy="227"/>
          </p:xfrm>
          <a:graphic>
            <a:graphicData uri="http://schemas.openxmlformats.org/presentationml/2006/ole">
              <mc:AlternateContent xmlns:mc="http://schemas.openxmlformats.org/markup-compatibility/2006">
                <mc:Choice xmlns:v="urn:schemas-microsoft-com:vml" Requires="v">
                  <p:oleObj spid="_x0000_s528457" name="公式" r:id="rId26" imgW="203040" imgH="177480" progId="Equation.3">
                    <p:embed/>
                  </p:oleObj>
                </mc:Choice>
                <mc:Fallback>
                  <p:oleObj name="公式" r:id="rId26" imgW="203040" imgH="177480" progId="Equation.3">
                    <p:embed/>
                    <p:pic>
                      <p:nvPicPr>
                        <p:cNvPr id="0" name="Object 6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78" y="1801"/>
                          <a:ext cx="259"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96" name="Group 69"/>
          <p:cNvGrpSpPr>
            <a:grpSpLocks/>
          </p:cNvGrpSpPr>
          <p:nvPr/>
        </p:nvGrpSpPr>
        <p:grpSpPr bwMode="auto">
          <a:xfrm>
            <a:off x="5429285" y="2262068"/>
            <a:ext cx="2847977" cy="2357438"/>
            <a:chOff x="2901" y="1107"/>
            <a:chExt cx="1794" cy="1485"/>
          </a:xfrm>
        </p:grpSpPr>
        <p:sp>
          <p:nvSpPr>
            <p:cNvPr id="397" name="Line 70"/>
            <p:cNvSpPr>
              <a:spLocks noChangeShapeType="1"/>
            </p:cNvSpPr>
            <p:nvPr/>
          </p:nvSpPr>
          <p:spPr bwMode="auto">
            <a:xfrm>
              <a:off x="3470" y="1728"/>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8" name="Line 71"/>
            <p:cNvSpPr>
              <a:spLocks noChangeShapeType="1"/>
            </p:cNvSpPr>
            <p:nvPr/>
          </p:nvSpPr>
          <p:spPr bwMode="auto">
            <a:xfrm flipV="1">
              <a:off x="3422" y="1200"/>
              <a:ext cx="0" cy="1104"/>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9" name="Line 72"/>
            <p:cNvSpPr>
              <a:spLocks noChangeShapeType="1"/>
            </p:cNvSpPr>
            <p:nvPr/>
          </p:nvSpPr>
          <p:spPr bwMode="auto">
            <a:xfrm flipV="1">
              <a:off x="4190" y="1200"/>
              <a:ext cx="0" cy="1104"/>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0" name="Line 73"/>
            <p:cNvSpPr>
              <a:spLocks noChangeShapeType="1"/>
            </p:cNvSpPr>
            <p:nvPr/>
          </p:nvSpPr>
          <p:spPr bwMode="auto">
            <a:xfrm flipH="1">
              <a:off x="3038" y="1200"/>
              <a:ext cx="384" cy="0"/>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401" name="Group 74"/>
            <p:cNvGrpSpPr>
              <a:grpSpLocks/>
            </p:cNvGrpSpPr>
            <p:nvPr/>
          </p:nvGrpSpPr>
          <p:grpSpPr bwMode="auto">
            <a:xfrm rot="-5315280">
              <a:off x="4142" y="2208"/>
              <a:ext cx="384" cy="384"/>
              <a:chOff x="528" y="1872"/>
              <a:chExt cx="384" cy="384"/>
            </a:xfrm>
          </p:grpSpPr>
          <p:sp>
            <p:nvSpPr>
              <p:cNvPr id="439" name="Line 79"/>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0" name="Line 80"/>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1" name="Line 81"/>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2" name="Line 82"/>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3" name="Line 83"/>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4" name="Line 84"/>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5" name="Line 85"/>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6" name="Line 86"/>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5" name="Oval 75"/>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6" name="Oval 76"/>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7" name="Line 77"/>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8" name="Line 78"/>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47" name="Oval 87"/>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404" name="Line 88"/>
            <p:cNvSpPr>
              <a:spLocks noChangeShapeType="1"/>
            </p:cNvSpPr>
            <p:nvPr/>
          </p:nvSpPr>
          <p:spPr bwMode="auto">
            <a:xfrm>
              <a:off x="4195" y="1207"/>
              <a:ext cx="384" cy="0"/>
            </a:xfrm>
            <a:prstGeom prst="line">
              <a:avLst/>
            </a:prstGeom>
            <a:noFill/>
            <a:ln w="38100">
              <a:solidFill>
                <a:srgbClr val="0033CC"/>
              </a:solidFill>
              <a:round/>
              <a:headEnd type="triangle" w="med" len="med"/>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406" name="Group 89"/>
            <p:cNvGrpSpPr>
              <a:grpSpLocks/>
            </p:cNvGrpSpPr>
            <p:nvPr/>
          </p:nvGrpSpPr>
          <p:grpSpPr bwMode="auto">
            <a:xfrm>
              <a:off x="3182" y="2304"/>
              <a:ext cx="432" cy="96"/>
              <a:chOff x="5136" y="2256"/>
              <a:chExt cx="432" cy="96"/>
            </a:xfrm>
          </p:grpSpPr>
          <p:sp>
            <p:nvSpPr>
              <p:cNvPr id="426" name="Line 90"/>
              <p:cNvSpPr>
                <a:spLocks noChangeShapeType="1"/>
              </p:cNvSpPr>
              <p:nvPr/>
            </p:nvSpPr>
            <p:spPr bwMode="auto">
              <a:xfrm>
                <a:off x="5184" y="225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7" name="Line 91"/>
              <p:cNvSpPr>
                <a:spLocks noChangeShapeType="1"/>
              </p:cNvSpPr>
              <p:nvPr/>
            </p:nvSpPr>
            <p:spPr bwMode="auto">
              <a:xfrm flipV="1">
                <a:off x="518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8" name="Line 92"/>
              <p:cNvSpPr>
                <a:spLocks noChangeShapeType="1"/>
              </p:cNvSpPr>
              <p:nvPr/>
            </p:nvSpPr>
            <p:spPr bwMode="auto">
              <a:xfrm flipV="1">
                <a:off x="523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29" name="Line 93"/>
              <p:cNvSpPr>
                <a:spLocks noChangeShapeType="1"/>
              </p:cNvSpPr>
              <p:nvPr/>
            </p:nvSpPr>
            <p:spPr bwMode="auto">
              <a:xfrm flipV="1">
                <a:off x="5280"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0" name="Line 94"/>
              <p:cNvSpPr>
                <a:spLocks noChangeShapeType="1"/>
              </p:cNvSpPr>
              <p:nvPr/>
            </p:nvSpPr>
            <p:spPr bwMode="auto">
              <a:xfrm flipV="1">
                <a:off x="5328"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1" name="Line 95"/>
              <p:cNvSpPr>
                <a:spLocks noChangeShapeType="1"/>
              </p:cNvSpPr>
              <p:nvPr/>
            </p:nvSpPr>
            <p:spPr bwMode="auto">
              <a:xfrm flipV="1">
                <a:off x="537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2" name="Line 96"/>
              <p:cNvSpPr>
                <a:spLocks noChangeShapeType="1"/>
              </p:cNvSpPr>
              <p:nvPr/>
            </p:nvSpPr>
            <p:spPr bwMode="auto">
              <a:xfrm flipV="1">
                <a:off x="5424"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3" name="Line 97"/>
              <p:cNvSpPr>
                <a:spLocks noChangeShapeType="1"/>
              </p:cNvSpPr>
              <p:nvPr/>
            </p:nvSpPr>
            <p:spPr bwMode="auto">
              <a:xfrm flipV="1">
                <a:off x="5472"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34" name="Line 98"/>
              <p:cNvSpPr>
                <a:spLocks noChangeShapeType="1"/>
              </p:cNvSpPr>
              <p:nvPr/>
            </p:nvSpPr>
            <p:spPr bwMode="auto">
              <a:xfrm flipV="1">
                <a:off x="5136" y="2256"/>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424" name="Object 101"/>
            <p:cNvGraphicFramePr>
              <a:graphicFrameLocks noChangeAspect="1"/>
            </p:cNvGraphicFramePr>
            <p:nvPr/>
          </p:nvGraphicFramePr>
          <p:xfrm>
            <a:off x="4582" y="1107"/>
            <a:ext cx="113" cy="211"/>
          </p:xfrm>
          <a:graphic>
            <a:graphicData uri="http://schemas.openxmlformats.org/presentationml/2006/ole">
              <mc:AlternateContent xmlns:mc="http://schemas.openxmlformats.org/markup-compatibility/2006">
                <mc:Choice xmlns:v="urn:schemas-microsoft-com:vml" Requires="v">
                  <p:oleObj spid="_x0000_s528458" name="Equation" r:id="rId28" imgW="88560" imgH="164880" progId="Equation.DSMT4">
                    <p:embed/>
                  </p:oleObj>
                </mc:Choice>
                <mc:Fallback>
                  <p:oleObj name="Equation" r:id="rId28" imgW="88560" imgH="164880" progId="Equation.DSMT4">
                    <p:embed/>
                    <p:pic>
                      <p:nvPicPr>
                        <p:cNvPr id="0" name="Object 10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582" y="1107"/>
                          <a:ext cx="113"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5" name="Object 102"/>
            <p:cNvGraphicFramePr>
              <a:graphicFrameLocks noChangeAspect="1"/>
            </p:cNvGraphicFramePr>
            <p:nvPr/>
          </p:nvGraphicFramePr>
          <p:xfrm>
            <a:off x="2901" y="1118"/>
            <a:ext cx="113" cy="211"/>
          </p:xfrm>
          <a:graphic>
            <a:graphicData uri="http://schemas.openxmlformats.org/presentationml/2006/ole">
              <mc:AlternateContent xmlns:mc="http://schemas.openxmlformats.org/markup-compatibility/2006">
                <mc:Choice xmlns:v="urn:schemas-microsoft-com:vml" Requires="v">
                  <p:oleObj spid="_x0000_s528459" name="Equation" r:id="rId30" imgW="88560" imgH="164880" progId="Equation.DSMT4">
                    <p:embed/>
                  </p:oleObj>
                </mc:Choice>
                <mc:Fallback>
                  <p:oleObj name="Equation" r:id="rId30" imgW="88560" imgH="164880" progId="Equation.DSMT4">
                    <p:embed/>
                    <p:pic>
                      <p:nvPicPr>
                        <p:cNvPr id="0" name="Object 10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901" y="1118"/>
                          <a:ext cx="113"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8" name="Oval 99"/>
            <p:cNvSpPr>
              <a:spLocks noChangeArrowheads="1"/>
            </p:cNvSpPr>
            <p:nvPr/>
          </p:nvSpPr>
          <p:spPr bwMode="auto">
            <a:xfrm>
              <a:off x="3422" y="168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1" name="Oval 100"/>
            <p:cNvSpPr>
              <a:spLocks noChangeArrowheads="1"/>
            </p:cNvSpPr>
            <p:nvPr/>
          </p:nvSpPr>
          <p:spPr bwMode="auto">
            <a:xfrm>
              <a:off x="4094" y="1680"/>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448" name="Group 103"/>
          <p:cNvGrpSpPr>
            <a:grpSpLocks/>
          </p:cNvGrpSpPr>
          <p:nvPr/>
        </p:nvGrpSpPr>
        <p:grpSpPr bwMode="auto">
          <a:xfrm>
            <a:off x="5632485" y="2409705"/>
            <a:ext cx="2449513" cy="1752600"/>
            <a:chOff x="3029" y="1200"/>
            <a:chExt cx="1543" cy="1104"/>
          </a:xfrm>
        </p:grpSpPr>
        <p:grpSp>
          <p:nvGrpSpPr>
            <p:cNvPr id="449" name="Group 104"/>
            <p:cNvGrpSpPr>
              <a:grpSpLocks/>
            </p:cNvGrpSpPr>
            <p:nvPr/>
          </p:nvGrpSpPr>
          <p:grpSpPr bwMode="auto">
            <a:xfrm>
              <a:off x="3696" y="1311"/>
              <a:ext cx="288" cy="288"/>
              <a:chOff x="4800" y="1119"/>
              <a:chExt cx="288" cy="288"/>
            </a:xfrm>
          </p:grpSpPr>
          <p:graphicFrame>
            <p:nvGraphicFramePr>
              <p:cNvPr id="458" name="Object 105"/>
              <p:cNvGraphicFramePr>
                <a:graphicFrameLocks noChangeAspect="1"/>
              </p:cNvGraphicFramePr>
              <p:nvPr/>
            </p:nvGraphicFramePr>
            <p:xfrm>
              <a:off x="4817" y="1119"/>
              <a:ext cx="260" cy="288"/>
            </p:xfrm>
            <a:graphic>
              <a:graphicData uri="http://schemas.openxmlformats.org/presentationml/2006/ole">
                <mc:AlternateContent xmlns:mc="http://schemas.openxmlformats.org/markup-compatibility/2006">
                  <mc:Choice xmlns:v="urn:schemas-microsoft-com:vml" Requires="v">
                    <p:oleObj spid="_x0000_s528460" name="Equation" r:id="rId32" imgW="215640" imgH="241200" progId="Equation.DSMT4">
                      <p:embed/>
                    </p:oleObj>
                  </mc:Choice>
                  <mc:Fallback>
                    <p:oleObj name="Equation" r:id="rId32" imgW="215640" imgH="241200" progId="Equation.DSMT4">
                      <p:embed/>
                      <p:pic>
                        <p:nvPicPr>
                          <p:cNvPr id="0" name="Object 10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817" y="1119"/>
                            <a:ext cx="26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9" name="Oval 106"/>
              <p:cNvSpPr>
                <a:spLocks noChangeArrowheads="1"/>
              </p:cNvSpPr>
              <p:nvPr/>
            </p:nvSpPr>
            <p:spPr bwMode="auto">
              <a:xfrm>
                <a:off x="4800" y="1119"/>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450" name="Line 107"/>
            <p:cNvSpPr>
              <a:spLocks noChangeShapeType="1"/>
            </p:cNvSpPr>
            <p:nvPr/>
          </p:nvSpPr>
          <p:spPr bwMode="auto">
            <a:xfrm flipH="1">
              <a:off x="3181" y="1200"/>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1" name="Line 108"/>
            <p:cNvSpPr>
              <a:spLocks noChangeShapeType="1"/>
            </p:cNvSpPr>
            <p:nvPr/>
          </p:nvSpPr>
          <p:spPr bwMode="auto">
            <a:xfrm>
              <a:off x="3181" y="1728"/>
              <a:ext cx="240" cy="576"/>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2" name="Line 109"/>
            <p:cNvSpPr>
              <a:spLocks noChangeShapeType="1"/>
            </p:cNvSpPr>
            <p:nvPr/>
          </p:nvSpPr>
          <p:spPr bwMode="auto">
            <a:xfrm flipH="1">
              <a:off x="4189" y="1728"/>
              <a:ext cx="227" cy="0"/>
            </a:xfrm>
            <a:prstGeom prst="line">
              <a:avLst/>
            </a:prstGeom>
            <a:noFill/>
            <a:ln w="1905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53" name="Object 110"/>
            <p:cNvGraphicFramePr>
              <a:graphicFrameLocks noChangeAspect="1"/>
            </p:cNvGraphicFramePr>
            <p:nvPr/>
          </p:nvGraphicFramePr>
          <p:xfrm>
            <a:off x="4470" y="1626"/>
            <a:ext cx="102" cy="206"/>
          </p:xfrm>
          <a:graphic>
            <a:graphicData uri="http://schemas.openxmlformats.org/presentationml/2006/ole">
              <mc:AlternateContent xmlns:mc="http://schemas.openxmlformats.org/markup-compatibility/2006">
                <mc:Choice xmlns:v="urn:schemas-microsoft-com:vml" Requires="v">
                  <p:oleObj spid="_x0000_s528461" name="公式" r:id="rId34" imgW="88560" imgH="177480" progId="Equation.3">
                    <p:embed/>
                  </p:oleObj>
                </mc:Choice>
                <mc:Fallback>
                  <p:oleObj name="公式" r:id="rId34" imgW="88560" imgH="177480" progId="Equation.3">
                    <p:embed/>
                    <p:pic>
                      <p:nvPicPr>
                        <p:cNvPr id="0" name="Object 1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470" y="1626"/>
                          <a:ext cx="102"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4" name="Line 111"/>
            <p:cNvSpPr>
              <a:spLocks noChangeShapeType="1"/>
            </p:cNvSpPr>
            <p:nvPr/>
          </p:nvSpPr>
          <p:spPr bwMode="auto">
            <a:xfrm flipH="1">
              <a:off x="4189" y="1728"/>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5" name="Line 112"/>
            <p:cNvSpPr>
              <a:spLocks noChangeShapeType="1"/>
            </p:cNvSpPr>
            <p:nvPr/>
          </p:nvSpPr>
          <p:spPr bwMode="auto">
            <a:xfrm>
              <a:off x="4189" y="1200"/>
              <a:ext cx="24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56" name="Line 113"/>
            <p:cNvSpPr>
              <a:spLocks noChangeShapeType="1"/>
            </p:cNvSpPr>
            <p:nvPr/>
          </p:nvSpPr>
          <p:spPr bwMode="auto">
            <a:xfrm flipH="1">
              <a:off x="3195" y="1728"/>
              <a:ext cx="249" cy="0"/>
            </a:xfrm>
            <a:prstGeom prst="line">
              <a:avLst/>
            </a:prstGeom>
            <a:noFill/>
            <a:ln w="19050">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457" name="Object 114"/>
            <p:cNvGraphicFramePr>
              <a:graphicFrameLocks noChangeAspect="1"/>
            </p:cNvGraphicFramePr>
            <p:nvPr/>
          </p:nvGraphicFramePr>
          <p:xfrm>
            <a:off x="3029" y="1618"/>
            <a:ext cx="102" cy="206"/>
          </p:xfrm>
          <a:graphic>
            <a:graphicData uri="http://schemas.openxmlformats.org/presentationml/2006/ole">
              <mc:AlternateContent xmlns:mc="http://schemas.openxmlformats.org/markup-compatibility/2006">
                <mc:Choice xmlns:v="urn:schemas-microsoft-com:vml" Requires="v">
                  <p:oleObj spid="_x0000_s528462" name="公式" r:id="rId36" imgW="88560" imgH="177480" progId="Equation.3">
                    <p:embed/>
                  </p:oleObj>
                </mc:Choice>
                <mc:Fallback>
                  <p:oleObj name="公式" r:id="rId36" imgW="88560" imgH="177480" progId="Equation.3">
                    <p:embed/>
                    <p:pic>
                      <p:nvPicPr>
                        <p:cNvPr id="0" name="Object 11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029" y="1618"/>
                          <a:ext cx="102"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anim calcmode="lin" valueType="num">
                                      <p:cBhvr additive="base">
                                        <p:cTn id="7" dur="500" fill="hold"/>
                                        <p:tgtEl>
                                          <p:spTgt spid="396"/>
                                        </p:tgtEl>
                                        <p:attrNameLst>
                                          <p:attrName>ppt_x</p:attrName>
                                        </p:attrNameLst>
                                      </p:cBhvr>
                                      <p:tavLst>
                                        <p:tav tm="0">
                                          <p:val>
                                            <p:strVal val="0-#ppt_w/2"/>
                                          </p:val>
                                        </p:tav>
                                        <p:tav tm="100000">
                                          <p:val>
                                            <p:strVal val="#ppt_x"/>
                                          </p:val>
                                        </p:tav>
                                      </p:tavLst>
                                    </p:anim>
                                    <p:anim calcmode="lin" valueType="num">
                                      <p:cBhvr additive="base">
                                        <p:cTn id="8" dur="500" fill="hold"/>
                                        <p:tgtEl>
                                          <p:spTgt spid="3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
                                        </p:tgtEl>
                                        <p:attrNameLst>
                                          <p:attrName>style.visibility</p:attrName>
                                        </p:attrNameLst>
                                      </p:cBhvr>
                                      <p:to>
                                        <p:strVal val="visible"/>
                                      </p:to>
                                    </p:set>
                                    <p:anim calcmode="lin" valueType="num">
                                      <p:cBhvr additive="base">
                                        <p:cTn id="13" dur="500" fill="hold"/>
                                        <p:tgtEl>
                                          <p:spTgt spid="317"/>
                                        </p:tgtEl>
                                        <p:attrNameLst>
                                          <p:attrName>ppt_x</p:attrName>
                                        </p:attrNameLst>
                                      </p:cBhvr>
                                      <p:tavLst>
                                        <p:tav tm="0">
                                          <p:val>
                                            <p:strVal val="0-#ppt_w/2"/>
                                          </p:val>
                                        </p:tav>
                                        <p:tav tm="100000">
                                          <p:val>
                                            <p:strVal val="#ppt_x"/>
                                          </p:val>
                                        </p:tav>
                                      </p:tavLst>
                                    </p:anim>
                                    <p:anim calcmode="lin" valueType="num">
                                      <p:cBhvr additive="base">
                                        <p:cTn id="14" dur="500" fill="hold"/>
                                        <p:tgtEl>
                                          <p:spTgt spid="3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83"/>
                                        </p:tgtEl>
                                        <p:attrNameLst>
                                          <p:attrName>style.visibility</p:attrName>
                                        </p:attrNameLst>
                                      </p:cBhvr>
                                      <p:to>
                                        <p:strVal val="visible"/>
                                      </p:to>
                                    </p:set>
                                    <p:anim calcmode="lin" valueType="num">
                                      <p:cBhvr additive="base">
                                        <p:cTn id="19" dur="500" fill="hold"/>
                                        <p:tgtEl>
                                          <p:spTgt spid="383"/>
                                        </p:tgtEl>
                                        <p:attrNameLst>
                                          <p:attrName>ppt_x</p:attrName>
                                        </p:attrNameLst>
                                      </p:cBhvr>
                                      <p:tavLst>
                                        <p:tav tm="0">
                                          <p:val>
                                            <p:strVal val="0-#ppt_w/2"/>
                                          </p:val>
                                        </p:tav>
                                        <p:tav tm="100000">
                                          <p:val>
                                            <p:strVal val="#ppt_x"/>
                                          </p:val>
                                        </p:tav>
                                      </p:tavLst>
                                    </p:anim>
                                    <p:anim calcmode="lin" valueType="num">
                                      <p:cBhvr additive="base">
                                        <p:cTn id="20" dur="500" fill="hold"/>
                                        <p:tgtEl>
                                          <p:spTgt spid="38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8"/>
                                        </p:tgtEl>
                                        <p:attrNameLst>
                                          <p:attrName>style.visibility</p:attrName>
                                        </p:attrNameLst>
                                      </p:cBhvr>
                                      <p:to>
                                        <p:strVal val="visible"/>
                                      </p:to>
                                    </p:set>
                                    <p:anim calcmode="lin" valueType="num">
                                      <p:cBhvr additive="base">
                                        <p:cTn id="25" dur="500" fill="hold"/>
                                        <p:tgtEl>
                                          <p:spTgt spid="448"/>
                                        </p:tgtEl>
                                        <p:attrNameLst>
                                          <p:attrName>ppt_x</p:attrName>
                                        </p:attrNameLst>
                                      </p:cBhvr>
                                      <p:tavLst>
                                        <p:tav tm="0">
                                          <p:val>
                                            <p:strVal val="0-#ppt_w/2"/>
                                          </p:val>
                                        </p:tav>
                                        <p:tav tm="100000">
                                          <p:val>
                                            <p:strVal val="#ppt_x"/>
                                          </p:val>
                                        </p:tav>
                                      </p:tavLst>
                                    </p:anim>
                                    <p:anim calcmode="lin" valueType="num">
                                      <p:cBhvr additive="base">
                                        <p:cTn id="26" dur="500" fill="hold"/>
                                        <p:tgtEl>
                                          <p:spTgt spid="44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20"/>
                                        </p:tgtEl>
                                        <p:attrNameLst>
                                          <p:attrName>style.visibility</p:attrName>
                                        </p:attrNameLst>
                                      </p:cBhvr>
                                      <p:to>
                                        <p:strVal val="visible"/>
                                      </p:to>
                                    </p:set>
                                    <p:anim calcmode="lin" valueType="num">
                                      <p:cBhvr additive="base">
                                        <p:cTn id="31" dur="500" fill="hold"/>
                                        <p:tgtEl>
                                          <p:spTgt spid="320"/>
                                        </p:tgtEl>
                                        <p:attrNameLst>
                                          <p:attrName>ppt_x</p:attrName>
                                        </p:attrNameLst>
                                      </p:cBhvr>
                                      <p:tavLst>
                                        <p:tav tm="0">
                                          <p:val>
                                            <p:strVal val="0-#ppt_w/2"/>
                                          </p:val>
                                        </p:tav>
                                        <p:tav tm="100000">
                                          <p:val>
                                            <p:strVal val="#ppt_x"/>
                                          </p:val>
                                        </p:tav>
                                      </p:tavLst>
                                    </p:anim>
                                    <p:anim calcmode="lin" valueType="num">
                                      <p:cBhvr additive="base">
                                        <p:cTn id="32" dur="500" fill="hold"/>
                                        <p:tgtEl>
                                          <p:spTgt spid="3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724573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10</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点竖向位移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 </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EI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常数 。</a:t>
            </a:r>
            <a:endParaRPr lang="en-US" altLang="zh-CN" sz="2000" b="1" baseline="-25000">
              <a:latin typeface="Times New Roman" pitchFamily="18" charset="0"/>
              <a:cs typeface="Times New Roman" pitchFamily="18" charset="0"/>
            </a:endParaRPr>
          </a:p>
        </p:txBody>
      </p:sp>
      <p:sp>
        <p:nvSpPr>
          <p:cNvPr id="232" name="Text Box 3"/>
          <p:cNvSpPr txBox="1">
            <a:spLocks noChangeArrowheads="1"/>
          </p:cNvSpPr>
          <p:nvPr/>
        </p:nvSpPr>
        <p:spPr bwMode="auto">
          <a:xfrm>
            <a:off x="1214414" y="4761439"/>
            <a:ext cx="7162800" cy="400110"/>
          </a:xfrm>
          <a:prstGeom prst="rect">
            <a:avLst/>
          </a:prstGeom>
          <a:noFill/>
          <a:ln w="9525">
            <a:noFill/>
            <a:miter lim="800000"/>
            <a:headEnd/>
            <a:tailEnd/>
          </a:ln>
        </p:spPr>
        <p:txBody>
          <a:bodyPr>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aphicFrame>
        <p:nvGraphicFramePr>
          <p:cNvPr id="233" name="Object 4"/>
          <p:cNvGraphicFramePr>
            <a:graphicFrameLocks/>
          </p:cNvGraphicFramePr>
          <p:nvPr/>
        </p:nvGraphicFramePr>
        <p:xfrm>
          <a:off x="1071538" y="5202259"/>
          <a:ext cx="7524750" cy="1298575"/>
        </p:xfrm>
        <a:graphic>
          <a:graphicData uri="http://schemas.openxmlformats.org/presentationml/2006/ole">
            <mc:AlternateContent xmlns:mc="http://schemas.openxmlformats.org/markup-compatibility/2006">
              <mc:Choice xmlns:v="urn:schemas-microsoft-com:vml" Requires="v">
                <p:oleObj spid="_x0000_s529443" name="Equation" r:id="rId4" imgW="4851360" imgH="838080" progId="Equation.DSMT4">
                  <p:embed/>
                </p:oleObj>
              </mc:Choice>
              <mc:Fallback>
                <p:oleObj name="Equation" r:id="rId4" imgW="4851360" imgH="83808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38" y="5202259"/>
                        <a:ext cx="7524750" cy="1298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4" name="Group 6"/>
          <p:cNvGrpSpPr>
            <a:grpSpLocks/>
          </p:cNvGrpSpPr>
          <p:nvPr/>
        </p:nvGrpSpPr>
        <p:grpSpPr bwMode="auto">
          <a:xfrm>
            <a:off x="5562601" y="2451136"/>
            <a:ext cx="2690813" cy="2393950"/>
            <a:chOff x="3168" y="1104"/>
            <a:chExt cx="1695" cy="1508"/>
          </a:xfrm>
        </p:grpSpPr>
        <p:sp>
          <p:nvSpPr>
            <p:cNvPr id="235" name="Line 7"/>
            <p:cNvSpPr>
              <a:spLocks noChangeShapeType="1"/>
            </p:cNvSpPr>
            <p:nvPr/>
          </p:nvSpPr>
          <p:spPr bwMode="auto">
            <a:xfrm flipH="1">
              <a:off x="3696" y="1104"/>
              <a:ext cx="0" cy="67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6" name="Line 8"/>
            <p:cNvSpPr>
              <a:spLocks noChangeShapeType="1"/>
            </p:cNvSpPr>
            <p:nvPr/>
          </p:nvSpPr>
          <p:spPr bwMode="auto">
            <a:xfrm flipV="1">
              <a:off x="3888" y="1776"/>
              <a:ext cx="72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7" name="Line 9"/>
            <p:cNvSpPr>
              <a:spLocks noChangeShapeType="1"/>
            </p:cNvSpPr>
            <p:nvPr/>
          </p:nvSpPr>
          <p:spPr bwMode="auto">
            <a:xfrm flipH="1">
              <a:off x="3696" y="1776"/>
              <a:ext cx="240"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8" name="Line 10"/>
            <p:cNvSpPr>
              <a:spLocks noChangeShapeType="1"/>
            </p:cNvSpPr>
            <p:nvPr/>
          </p:nvSpPr>
          <p:spPr bwMode="auto">
            <a:xfrm flipH="1">
              <a:off x="3888" y="1776"/>
              <a:ext cx="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39" name="Line 11"/>
            <p:cNvSpPr>
              <a:spLocks noChangeShapeType="1"/>
            </p:cNvSpPr>
            <p:nvPr/>
          </p:nvSpPr>
          <p:spPr bwMode="auto">
            <a:xfrm>
              <a:off x="3168" y="1104"/>
              <a:ext cx="720" cy="24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0" name="Line 12"/>
            <p:cNvSpPr>
              <a:spLocks noChangeShapeType="1"/>
            </p:cNvSpPr>
            <p:nvPr/>
          </p:nvSpPr>
          <p:spPr bwMode="auto">
            <a:xfrm>
              <a:off x="4682" y="2138"/>
              <a:ext cx="0" cy="384"/>
            </a:xfrm>
            <a:prstGeom prst="line">
              <a:avLst/>
            </a:prstGeom>
            <a:noFill/>
            <a:ln w="38100">
              <a:solidFill>
                <a:srgbClr val="FF0000"/>
              </a:solidFill>
              <a:round/>
              <a:headEnd type="stealth" w="sm" len="lg"/>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41" name="Object 13"/>
            <p:cNvGraphicFramePr>
              <a:graphicFrameLocks noChangeAspect="1"/>
            </p:cNvGraphicFramePr>
            <p:nvPr/>
          </p:nvGraphicFramePr>
          <p:xfrm>
            <a:off x="4704" y="2206"/>
            <a:ext cx="159" cy="406"/>
          </p:xfrm>
          <a:graphic>
            <a:graphicData uri="http://schemas.openxmlformats.org/presentationml/2006/ole">
              <mc:AlternateContent xmlns:mc="http://schemas.openxmlformats.org/markup-compatibility/2006">
                <mc:Choice xmlns:v="urn:schemas-microsoft-com:vml" Requires="v">
                  <p:oleObj spid="_x0000_s529444" name="Equation" r:id="rId6" imgW="152280" imgH="393480" progId="Equation.DSMT4">
                    <p:embed/>
                  </p:oleObj>
                </mc:Choice>
                <mc:Fallback>
                  <p:oleObj name="Equation" r:id="rId6" imgW="152280" imgH="393480"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4" y="2206"/>
                          <a:ext cx="159" cy="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2" name="Group 14"/>
            <p:cNvGrpSpPr>
              <a:grpSpLocks/>
            </p:cNvGrpSpPr>
            <p:nvPr/>
          </p:nvGrpSpPr>
          <p:grpSpPr bwMode="auto">
            <a:xfrm>
              <a:off x="3552" y="2064"/>
              <a:ext cx="288" cy="288"/>
              <a:chOff x="4800" y="1728"/>
              <a:chExt cx="288" cy="288"/>
            </a:xfrm>
          </p:grpSpPr>
          <p:graphicFrame>
            <p:nvGraphicFramePr>
              <p:cNvPr id="243" name="Object 15"/>
              <p:cNvGraphicFramePr>
                <a:graphicFrameLocks noChangeAspect="1"/>
              </p:cNvGraphicFramePr>
              <p:nvPr/>
            </p:nvGraphicFramePr>
            <p:xfrm>
              <a:off x="4804" y="1728"/>
              <a:ext cx="275" cy="288"/>
            </p:xfrm>
            <a:graphic>
              <a:graphicData uri="http://schemas.openxmlformats.org/presentationml/2006/ole">
                <mc:AlternateContent xmlns:mc="http://schemas.openxmlformats.org/markup-compatibility/2006">
                  <mc:Choice xmlns:v="urn:schemas-microsoft-com:vml" Requires="v">
                    <p:oleObj spid="_x0000_s529445" name="Equation" r:id="rId8" imgW="228600" imgH="241200" progId="Equation.DSMT4">
                      <p:embed/>
                    </p:oleObj>
                  </mc:Choice>
                  <mc:Fallback>
                    <p:oleObj name="Equation" r:id="rId8" imgW="228600" imgH="241200" progId="Equation.DSMT4">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4" y="1728"/>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4" name="Oval 16"/>
              <p:cNvSpPr>
                <a:spLocks noChangeArrowheads="1"/>
              </p:cNvSpPr>
              <p:nvPr/>
            </p:nvSpPr>
            <p:spPr bwMode="auto">
              <a:xfrm>
                <a:off x="4800" y="172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grpSp>
      <p:grpSp>
        <p:nvGrpSpPr>
          <p:cNvPr id="245" name="Group 17"/>
          <p:cNvGrpSpPr>
            <a:grpSpLocks/>
          </p:cNvGrpSpPr>
          <p:nvPr/>
        </p:nvGrpSpPr>
        <p:grpSpPr bwMode="auto">
          <a:xfrm>
            <a:off x="1752600" y="2114586"/>
            <a:ext cx="2747963" cy="2708277"/>
            <a:chOff x="768" y="892"/>
            <a:chExt cx="1731" cy="1706"/>
          </a:xfrm>
        </p:grpSpPr>
        <p:sp>
          <p:nvSpPr>
            <p:cNvPr id="246" name="Oval 18"/>
            <p:cNvSpPr>
              <a:spLocks noChangeArrowheads="1"/>
            </p:cNvSpPr>
            <p:nvPr/>
          </p:nvSpPr>
          <p:spPr bwMode="auto">
            <a:xfrm>
              <a:off x="960" y="148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247" name="Group 19"/>
            <p:cNvGrpSpPr>
              <a:grpSpLocks/>
            </p:cNvGrpSpPr>
            <p:nvPr/>
          </p:nvGrpSpPr>
          <p:grpSpPr bwMode="auto">
            <a:xfrm>
              <a:off x="768" y="892"/>
              <a:ext cx="1731" cy="1706"/>
              <a:chOff x="768" y="892"/>
              <a:chExt cx="1731" cy="1706"/>
            </a:xfrm>
          </p:grpSpPr>
          <p:graphicFrame>
            <p:nvGraphicFramePr>
              <p:cNvPr id="248" name="Object 20"/>
              <p:cNvGraphicFramePr>
                <a:graphicFrameLocks noChangeAspect="1"/>
              </p:cNvGraphicFramePr>
              <p:nvPr/>
            </p:nvGraphicFramePr>
            <p:xfrm>
              <a:off x="823" y="892"/>
              <a:ext cx="218" cy="190"/>
            </p:xfrm>
            <a:graphic>
              <a:graphicData uri="http://schemas.openxmlformats.org/presentationml/2006/ole">
                <mc:AlternateContent xmlns:mc="http://schemas.openxmlformats.org/markup-compatibility/2006">
                  <mc:Choice xmlns:v="urn:schemas-microsoft-com:vml" Requires="v">
                    <p:oleObj spid="_x0000_s529446" name="公式" r:id="rId10" imgW="203040" imgH="177480" progId="Equation.3">
                      <p:embed/>
                    </p:oleObj>
                  </mc:Choice>
                  <mc:Fallback>
                    <p:oleObj name="公式" r:id="rId10" imgW="203040" imgH="17748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3" y="892"/>
                            <a:ext cx="218"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0" name="Object 22"/>
              <p:cNvGraphicFramePr>
                <a:graphicFrameLocks noChangeAspect="1"/>
              </p:cNvGraphicFramePr>
              <p:nvPr/>
            </p:nvGraphicFramePr>
            <p:xfrm>
              <a:off x="1239" y="1787"/>
              <a:ext cx="224" cy="406"/>
            </p:xfrm>
            <a:graphic>
              <a:graphicData uri="http://schemas.openxmlformats.org/presentationml/2006/ole">
                <mc:AlternateContent xmlns:mc="http://schemas.openxmlformats.org/markup-compatibility/2006">
                  <mc:Choice xmlns:v="urn:schemas-microsoft-com:vml" Requires="v">
                    <p:oleObj spid="_x0000_s529447" name="Equation" r:id="rId12" imgW="215640" imgH="393480" progId="Equation.DSMT4">
                      <p:embed/>
                    </p:oleObj>
                  </mc:Choice>
                  <mc:Fallback>
                    <p:oleObj name="Equation" r:id="rId12" imgW="215640" imgH="39348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39" y="1787"/>
                            <a:ext cx="224" cy="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1" name="Object 23"/>
              <p:cNvGraphicFramePr>
                <a:graphicFrameLocks noChangeAspect="1"/>
              </p:cNvGraphicFramePr>
              <p:nvPr/>
            </p:nvGraphicFramePr>
            <p:xfrm>
              <a:off x="2315" y="2192"/>
              <a:ext cx="184" cy="406"/>
            </p:xfrm>
            <a:graphic>
              <a:graphicData uri="http://schemas.openxmlformats.org/presentationml/2006/ole">
                <mc:AlternateContent xmlns:mc="http://schemas.openxmlformats.org/markup-compatibility/2006">
                  <mc:Choice xmlns:v="urn:schemas-microsoft-com:vml" Requires="v">
                    <p:oleObj spid="_x0000_s529448" name="Equation" r:id="rId14" imgW="177480" imgH="393480" progId="Equation.DSMT4">
                      <p:embed/>
                    </p:oleObj>
                  </mc:Choice>
                  <mc:Fallback>
                    <p:oleObj name="Equation" r:id="rId14" imgW="177480" imgH="393480"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5" y="2192"/>
                            <a:ext cx="184" cy="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2" name="Line 24"/>
              <p:cNvSpPr>
                <a:spLocks noChangeShapeType="1"/>
              </p:cNvSpPr>
              <p:nvPr/>
            </p:nvSpPr>
            <p:spPr bwMode="auto">
              <a:xfrm flipH="1">
                <a:off x="1344" y="1776"/>
                <a:ext cx="144"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3" name="Line 25"/>
              <p:cNvSpPr>
                <a:spLocks noChangeShapeType="1"/>
              </p:cNvSpPr>
              <p:nvPr/>
            </p:nvSpPr>
            <p:spPr bwMode="auto">
              <a:xfrm>
                <a:off x="1344" y="1104"/>
                <a:ext cx="0" cy="67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4" name="Line 26"/>
              <p:cNvSpPr>
                <a:spLocks noChangeShapeType="1"/>
              </p:cNvSpPr>
              <p:nvPr/>
            </p:nvSpPr>
            <p:spPr bwMode="auto">
              <a:xfrm flipH="1" flipV="1">
                <a:off x="1488" y="1776"/>
                <a:ext cx="0"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5" name="Line 27"/>
              <p:cNvSpPr>
                <a:spLocks noChangeShapeType="1"/>
              </p:cNvSpPr>
              <p:nvPr/>
            </p:nvSpPr>
            <p:spPr bwMode="auto">
              <a:xfrm flipH="1">
                <a:off x="768" y="1104"/>
                <a:ext cx="336" cy="67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6" name="Line 28"/>
              <p:cNvSpPr>
                <a:spLocks noChangeShapeType="1"/>
              </p:cNvSpPr>
              <p:nvPr/>
            </p:nvSpPr>
            <p:spPr bwMode="auto">
              <a:xfrm flipH="1">
                <a:off x="1488" y="1776"/>
                <a:ext cx="768"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57" name="Line 29"/>
              <p:cNvSpPr>
                <a:spLocks noChangeShapeType="1"/>
              </p:cNvSpPr>
              <p:nvPr/>
            </p:nvSpPr>
            <p:spPr bwMode="auto">
              <a:xfrm flipH="1">
                <a:off x="768" y="1248"/>
                <a:ext cx="720"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49" name="Line 21"/>
              <p:cNvSpPr>
                <a:spLocks noChangeShapeType="1"/>
              </p:cNvSpPr>
              <p:nvPr/>
            </p:nvSpPr>
            <p:spPr bwMode="auto">
              <a:xfrm>
                <a:off x="2274" y="2117"/>
                <a:ext cx="0" cy="384"/>
              </a:xfrm>
              <a:prstGeom prst="line">
                <a:avLst/>
              </a:prstGeom>
              <a:noFill/>
              <a:ln w="38100">
                <a:solidFill>
                  <a:srgbClr val="FF0000"/>
                </a:solidFill>
                <a:round/>
                <a:headEnd type="stealth" w="sm" len="lg"/>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pSp>
        <p:nvGrpSpPr>
          <p:cNvPr id="258" name="Group 30"/>
          <p:cNvGrpSpPr>
            <a:grpSpLocks/>
          </p:cNvGrpSpPr>
          <p:nvPr/>
        </p:nvGrpSpPr>
        <p:grpSpPr bwMode="auto">
          <a:xfrm>
            <a:off x="785813" y="2214598"/>
            <a:ext cx="3709988" cy="2279650"/>
            <a:chOff x="159" y="955"/>
            <a:chExt cx="2337" cy="1436"/>
          </a:xfrm>
        </p:grpSpPr>
        <p:sp>
          <p:nvSpPr>
            <p:cNvPr id="259" name="Line 31"/>
            <p:cNvSpPr>
              <a:spLocks noChangeShapeType="1"/>
            </p:cNvSpPr>
            <p:nvPr/>
          </p:nvSpPr>
          <p:spPr bwMode="auto">
            <a:xfrm>
              <a:off x="768" y="1104"/>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0" name="Line 32"/>
            <p:cNvSpPr>
              <a:spLocks noChangeShapeType="1"/>
            </p:cNvSpPr>
            <p:nvPr/>
          </p:nvSpPr>
          <p:spPr bwMode="auto">
            <a:xfrm flipH="1" flipV="1">
              <a:off x="768" y="1104"/>
              <a:ext cx="0" cy="672"/>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1" name="Line 33"/>
            <p:cNvSpPr>
              <a:spLocks noChangeShapeType="1"/>
            </p:cNvSpPr>
            <p:nvPr/>
          </p:nvSpPr>
          <p:spPr bwMode="auto">
            <a:xfrm flipV="1">
              <a:off x="1488" y="1104"/>
              <a:ext cx="0" cy="672"/>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2" name="Line 34"/>
            <p:cNvSpPr>
              <a:spLocks noChangeShapeType="1"/>
            </p:cNvSpPr>
            <p:nvPr/>
          </p:nvSpPr>
          <p:spPr bwMode="auto">
            <a:xfrm>
              <a:off x="384" y="1104"/>
              <a:ext cx="0" cy="72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3" name="Line 35"/>
            <p:cNvSpPr>
              <a:spLocks noChangeShapeType="1"/>
            </p:cNvSpPr>
            <p:nvPr/>
          </p:nvSpPr>
          <p:spPr bwMode="auto">
            <a:xfrm>
              <a:off x="336" y="110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4" name="Rectangle 36"/>
            <p:cNvSpPr>
              <a:spLocks noChangeArrowheads="1"/>
            </p:cNvSpPr>
            <p:nvPr/>
          </p:nvSpPr>
          <p:spPr bwMode="auto">
            <a:xfrm>
              <a:off x="1824" y="2064"/>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p>
          </p:txBody>
        </p:sp>
        <p:sp>
          <p:nvSpPr>
            <p:cNvPr id="265" name="Rectangle 37"/>
            <p:cNvSpPr>
              <a:spLocks noChangeArrowheads="1"/>
            </p:cNvSpPr>
            <p:nvPr/>
          </p:nvSpPr>
          <p:spPr bwMode="auto">
            <a:xfrm>
              <a:off x="1056" y="2064"/>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266" name="Oval 38"/>
            <p:cNvSpPr>
              <a:spLocks noChangeArrowheads="1"/>
            </p:cNvSpPr>
            <p:nvPr/>
          </p:nvSpPr>
          <p:spPr bwMode="auto">
            <a:xfrm>
              <a:off x="2208" y="172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67" name="Object 39"/>
            <p:cNvGraphicFramePr>
              <a:graphicFrameLocks noChangeAspect="1"/>
            </p:cNvGraphicFramePr>
            <p:nvPr/>
          </p:nvGraphicFramePr>
          <p:xfrm>
            <a:off x="159" y="992"/>
            <a:ext cx="179" cy="192"/>
          </p:xfrm>
          <a:graphic>
            <a:graphicData uri="http://schemas.openxmlformats.org/presentationml/2006/ole">
              <mc:AlternateContent xmlns:mc="http://schemas.openxmlformats.org/markup-compatibility/2006">
                <mc:Choice xmlns:v="urn:schemas-microsoft-com:vml" Requires="v">
                  <p:oleObj spid="_x0000_s529449" name="Equation" r:id="rId16" imgW="152280" imgH="164880" progId="Equation.DSMT4">
                    <p:embed/>
                  </p:oleObj>
                </mc:Choice>
                <mc:Fallback>
                  <p:oleObj name="Equation" r:id="rId16" imgW="152280" imgH="164880" progId="Equation.DSMT4">
                    <p:embed/>
                    <p:pic>
                      <p:nvPicPr>
                        <p:cNvPr id="0" name="Object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9" y="992"/>
                          <a:ext cx="179"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8" name="Line 40"/>
            <p:cNvSpPr>
              <a:spLocks noChangeShapeType="1"/>
            </p:cNvSpPr>
            <p:nvPr/>
          </p:nvSpPr>
          <p:spPr bwMode="auto">
            <a:xfrm>
              <a:off x="336" y="182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69" name="Rectangle 41"/>
            <p:cNvSpPr>
              <a:spLocks noChangeArrowheads="1"/>
            </p:cNvSpPr>
            <p:nvPr/>
          </p:nvSpPr>
          <p:spPr bwMode="auto">
            <a:xfrm>
              <a:off x="384" y="1296"/>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270" name="Line 42"/>
            <p:cNvSpPr>
              <a:spLocks noChangeShapeType="1"/>
            </p:cNvSpPr>
            <p:nvPr/>
          </p:nvSpPr>
          <p:spPr bwMode="auto">
            <a:xfrm>
              <a:off x="1488" y="1776"/>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1" name="Line 43"/>
            <p:cNvSpPr>
              <a:spLocks noChangeShapeType="1"/>
            </p:cNvSpPr>
            <p:nvPr/>
          </p:nvSpPr>
          <p:spPr bwMode="auto">
            <a:xfrm flipH="1">
              <a:off x="384" y="1104"/>
              <a:ext cx="384" cy="0"/>
            </a:xfrm>
            <a:prstGeom prst="line">
              <a:avLst/>
            </a:prstGeom>
            <a:noFill/>
            <a:ln w="38100">
              <a:solidFill>
                <a:srgbClr val="0033CC"/>
              </a:solidFill>
              <a:round/>
              <a:headEnd type="triangle" w="med" len="lg"/>
              <a:tailEnd type="none" w="lg"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72" name="Group 44"/>
            <p:cNvGrpSpPr>
              <a:grpSpLocks/>
            </p:cNvGrpSpPr>
            <p:nvPr/>
          </p:nvGrpSpPr>
          <p:grpSpPr bwMode="auto">
            <a:xfrm rot="-113611">
              <a:off x="482" y="1776"/>
              <a:ext cx="384" cy="384"/>
              <a:chOff x="528" y="1872"/>
              <a:chExt cx="384" cy="384"/>
            </a:xfrm>
          </p:grpSpPr>
          <p:sp>
            <p:nvSpPr>
              <p:cNvPr id="296" name="Oval 45"/>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7" name="Oval 46"/>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8" name="Line 47"/>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9" name="Line 48"/>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0" name="Line 49"/>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1" name="Line 50"/>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2" name="Line 51"/>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3" name="Line 52"/>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4" name="Line 53"/>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5" name="Line 54"/>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6" name="Line 55"/>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7" name="Line 56"/>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08" name="Oval 57"/>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73" name="Text Box 58"/>
            <p:cNvSpPr txBox="1">
              <a:spLocks noChangeArrowheads="1"/>
            </p:cNvSpPr>
            <p:nvPr/>
          </p:nvSpPr>
          <p:spPr bwMode="auto">
            <a:xfrm>
              <a:off x="1554" y="955"/>
              <a:ext cx="205" cy="25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A</a:t>
              </a:r>
            </a:p>
          </p:txBody>
        </p:sp>
        <p:sp>
          <p:nvSpPr>
            <p:cNvPr id="274" name="Line 59"/>
            <p:cNvSpPr>
              <a:spLocks noChangeShapeType="1"/>
            </p:cNvSpPr>
            <p:nvPr/>
          </p:nvSpPr>
          <p:spPr bwMode="auto">
            <a:xfrm>
              <a:off x="761" y="2207"/>
              <a:ext cx="0" cy="18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5" name="Line 60"/>
            <p:cNvSpPr>
              <a:spLocks noChangeShapeType="1"/>
            </p:cNvSpPr>
            <p:nvPr/>
          </p:nvSpPr>
          <p:spPr bwMode="auto">
            <a:xfrm>
              <a:off x="1488" y="2207"/>
              <a:ext cx="0" cy="18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6" name="Line 61"/>
            <p:cNvSpPr>
              <a:spLocks noChangeShapeType="1"/>
            </p:cNvSpPr>
            <p:nvPr/>
          </p:nvSpPr>
          <p:spPr bwMode="auto">
            <a:xfrm>
              <a:off x="761" y="2297"/>
              <a:ext cx="727" cy="0"/>
            </a:xfrm>
            <a:prstGeom prst="line">
              <a:avLst/>
            </a:prstGeom>
            <a:noFill/>
            <a:ln w="12700">
              <a:solidFill>
                <a:srgbClr val="000000"/>
              </a:solidFill>
              <a:round/>
              <a:headEnd type="stealth" w="sm" len="lg"/>
              <a:tailEnd type="stealth"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7" name="Line 62"/>
            <p:cNvSpPr>
              <a:spLocks noChangeShapeType="1"/>
            </p:cNvSpPr>
            <p:nvPr/>
          </p:nvSpPr>
          <p:spPr bwMode="auto">
            <a:xfrm flipV="1">
              <a:off x="1440" y="2297"/>
              <a:ext cx="816" cy="0"/>
            </a:xfrm>
            <a:prstGeom prst="line">
              <a:avLst/>
            </a:prstGeom>
            <a:noFill/>
            <a:ln w="12700">
              <a:solidFill>
                <a:srgbClr val="000000"/>
              </a:solidFill>
              <a:round/>
              <a:headEnd type="stealth" w="sm" len="lg"/>
              <a:tailEnd type="stealth"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78" name="Text Box 63"/>
            <p:cNvSpPr txBox="1">
              <a:spLocks noChangeArrowheads="1"/>
            </p:cNvSpPr>
            <p:nvPr/>
          </p:nvSpPr>
          <p:spPr bwMode="auto">
            <a:xfrm>
              <a:off x="2016" y="1824"/>
              <a:ext cx="207" cy="25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k</a:t>
              </a:r>
            </a:p>
          </p:txBody>
        </p:sp>
        <p:sp>
          <p:nvSpPr>
            <p:cNvPr id="279" name="Line 64"/>
            <p:cNvSpPr>
              <a:spLocks noChangeShapeType="1"/>
            </p:cNvSpPr>
            <p:nvPr/>
          </p:nvSpPr>
          <p:spPr bwMode="auto">
            <a:xfrm>
              <a:off x="2256" y="1824"/>
              <a:ext cx="96" cy="96"/>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0" name="Line 65"/>
            <p:cNvSpPr>
              <a:spLocks noChangeShapeType="1"/>
            </p:cNvSpPr>
            <p:nvPr/>
          </p:nvSpPr>
          <p:spPr bwMode="auto">
            <a:xfrm flipH="1">
              <a:off x="2208" y="1920"/>
              <a:ext cx="144" cy="0"/>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1" name="Line 66"/>
            <p:cNvSpPr>
              <a:spLocks noChangeShapeType="1"/>
            </p:cNvSpPr>
            <p:nvPr/>
          </p:nvSpPr>
          <p:spPr bwMode="auto">
            <a:xfrm>
              <a:off x="2208" y="1920"/>
              <a:ext cx="144" cy="96"/>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2" name="Line 67"/>
            <p:cNvSpPr>
              <a:spLocks noChangeShapeType="1"/>
            </p:cNvSpPr>
            <p:nvPr/>
          </p:nvSpPr>
          <p:spPr bwMode="auto">
            <a:xfrm flipH="1">
              <a:off x="2204" y="2016"/>
              <a:ext cx="144" cy="0"/>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3" name="Line 68"/>
            <p:cNvSpPr>
              <a:spLocks noChangeShapeType="1"/>
            </p:cNvSpPr>
            <p:nvPr/>
          </p:nvSpPr>
          <p:spPr bwMode="auto">
            <a:xfrm>
              <a:off x="2208" y="2016"/>
              <a:ext cx="96" cy="48"/>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285" name="Group 70"/>
            <p:cNvGrpSpPr>
              <a:grpSpLocks/>
            </p:cNvGrpSpPr>
            <p:nvPr/>
          </p:nvGrpSpPr>
          <p:grpSpPr bwMode="auto">
            <a:xfrm>
              <a:off x="2064" y="2064"/>
              <a:ext cx="432" cy="144"/>
              <a:chOff x="2904" y="3312"/>
              <a:chExt cx="432" cy="144"/>
            </a:xfrm>
          </p:grpSpPr>
          <p:sp>
            <p:nvSpPr>
              <p:cNvPr id="286" name="Line 71"/>
              <p:cNvSpPr>
                <a:spLocks noChangeShapeType="1"/>
              </p:cNvSpPr>
              <p:nvPr/>
            </p:nvSpPr>
            <p:spPr bwMode="auto">
              <a:xfrm>
                <a:off x="2952" y="3360"/>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7" name="Line 72"/>
              <p:cNvSpPr>
                <a:spLocks noChangeShapeType="1"/>
              </p:cNvSpPr>
              <p:nvPr/>
            </p:nvSpPr>
            <p:spPr bwMode="auto">
              <a:xfrm flipV="1">
                <a:off x="2952"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8" name="Line 73"/>
              <p:cNvSpPr>
                <a:spLocks noChangeShapeType="1"/>
              </p:cNvSpPr>
              <p:nvPr/>
            </p:nvSpPr>
            <p:spPr bwMode="auto">
              <a:xfrm flipV="1">
                <a:off x="3000"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89" name="Line 74"/>
              <p:cNvSpPr>
                <a:spLocks noChangeShapeType="1"/>
              </p:cNvSpPr>
              <p:nvPr/>
            </p:nvSpPr>
            <p:spPr bwMode="auto">
              <a:xfrm flipV="1">
                <a:off x="3048"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0" name="Line 75"/>
              <p:cNvSpPr>
                <a:spLocks noChangeShapeType="1"/>
              </p:cNvSpPr>
              <p:nvPr/>
            </p:nvSpPr>
            <p:spPr bwMode="auto">
              <a:xfrm flipV="1">
                <a:off x="3096"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1" name="Line 76"/>
              <p:cNvSpPr>
                <a:spLocks noChangeShapeType="1"/>
              </p:cNvSpPr>
              <p:nvPr/>
            </p:nvSpPr>
            <p:spPr bwMode="auto">
              <a:xfrm flipV="1">
                <a:off x="3144"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2" name="Line 77"/>
              <p:cNvSpPr>
                <a:spLocks noChangeShapeType="1"/>
              </p:cNvSpPr>
              <p:nvPr/>
            </p:nvSpPr>
            <p:spPr bwMode="auto">
              <a:xfrm flipV="1">
                <a:off x="3192"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3" name="Line 78"/>
              <p:cNvSpPr>
                <a:spLocks noChangeShapeType="1"/>
              </p:cNvSpPr>
              <p:nvPr/>
            </p:nvSpPr>
            <p:spPr bwMode="auto">
              <a:xfrm flipV="1">
                <a:off x="3240"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4" name="Line 79"/>
              <p:cNvSpPr>
                <a:spLocks noChangeShapeType="1"/>
              </p:cNvSpPr>
              <p:nvPr/>
            </p:nvSpPr>
            <p:spPr bwMode="auto">
              <a:xfrm flipV="1">
                <a:off x="2904"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295" name="Oval 80"/>
              <p:cNvSpPr>
                <a:spLocks noChangeArrowheads="1"/>
              </p:cNvSpPr>
              <p:nvPr/>
            </p:nvSpPr>
            <p:spPr bwMode="auto">
              <a:xfrm>
                <a:off x="3072" y="331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284" name="Line 69"/>
            <p:cNvSpPr>
              <a:spLocks noChangeShapeType="1"/>
            </p:cNvSpPr>
            <p:nvPr/>
          </p:nvSpPr>
          <p:spPr bwMode="auto">
            <a:xfrm>
              <a:off x="2256" y="2203"/>
              <a:ext cx="0" cy="184"/>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09" name="Group 81"/>
          <p:cNvGrpSpPr>
            <a:grpSpLocks/>
          </p:cNvGrpSpPr>
          <p:nvPr/>
        </p:nvGrpSpPr>
        <p:grpSpPr bwMode="auto">
          <a:xfrm>
            <a:off x="5108575" y="1944724"/>
            <a:ext cx="3197225" cy="2259013"/>
            <a:chOff x="2882" y="785"/>
            <a:chExt cx="2014" cy="1423"/>
          </a:xfrm>
        </p:grpSpPr>
        <p:sp>
          <p:nvSpPr>
            <p:cNvPr id="310" name="Line 82"/>
            <p:cNvSpPr>
              <a:spLocks noChangeShapeType="1"/>
            </p:cNvSpPr>
            <p:nvPr/>
          </p:nvSpPr>
          <p:spPr bwMode="auto">
            <a:xfrm flipH="1" flipV="1">
              <a:off x="3888" y="816"/>
              <a:ext cx="0" cy="288"/>
            </a:xfrm>
            <a:prstGeom prst="line">
              <a:avLst/>
            </a:prstGeom>
            <a:noFill/>
            <a:ln w="38100">
              <a:solidFill>
                <a:srgbClr val="0033CC"/>
              </a:solidFill>
              <a:round/>
              <a:headEnd type="triangle" w="med" len="lg"/>
              <a:tailEnd type="non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11" name="Object 83"/>
            <p:cNvGraphicFramePr>
              <a:graphicFrameLocks noChangeAspect="1"/>
            </p:cNvGraphicFramePr>
            <p:nvPr/>
          </p:nvGraphicFramePr>
          <p:xfrm>
            <a:off x="3953" y="785"/>
            <a:ext cx="95" cy="177"/>
          </p:xfrm>
          <a:graphic>
            <a:graphicData uri="http://schemas.openxmlformats.org/presentationml/2006/ole">
              <mc:AlternateContent xmlns:mc="http://schemas.openxmlformats.org/markup-compatibility/2006">
                <mc:Choice xmlns:v="urn:schemas-microsoft-com:vml" Requires="v">
                  <p:oleObj spid="_x0000_s529450" name="Equation" r:id="rId18" imgW="88560" imgH="164880" progId="Equation.DSMT4">
                    <p:embed/>
                  </p:oleObj>
                </mc:Choice>
                <mc:Fallback>
                  <p:oleObj name="Equation" r:id="rId18" imgW="88560" imgH="164880" progId="Equation.DSMT4">
                    <p:embed/>
                    <p:pic>
                      <p:nvPicPr>
                        <p:cNvPr id="0" name="Object 8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53" y="785"/>
                          <a:ext cx="95"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2" name="Line 84"/>
            <p:cNvSpPr>
              <a:spLocks noChangeShapeType="1"/>
            </p:cNvSpPr>
            <p:nvPr/>
          </p:nvSpPr>
          <p:spPr bwMode="auto">
            <a:xfrm>
              <a:off x="3168" y="1104"/>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3" name="Line 85"/>
            <p:cNvSpPr>
              <a:spLocks noChangeShapeType="1"/>
            </p:cNvSpPr>
            <p:nvPr/>
          </p:nvSpPr>
          <p:spPr bwMode="auto">
            <a:xfrm flipH="1" flipV="1">
              <a:off x="3168" y="1104"/>
              <a:ext cx="0" cy="672"/>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4" name="Line 86"/>
            <p:cNvSpPr>
              <a:spLocks noChangeShapeType="1"/>
            </p:cNvSpPr>
            <p:nvPr/>
          </p:nvSpPr>
          <p:spPr bwMode="auto">
            <a:xfrm flipV="1">
              <a:off x="3888" y="1104"/>
              <a:ext cx="0" cy="672"/>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5" name="Oval 87"/>
            <p:cNvSpPr>
              <a:spLocks noChangeArrowheads="1"/>
            </p:cNvSpPr>
            <p:nvPr/>
          </p:nvSpPr>
          <p:spPr bwMode="auto">
            <a:xfrm>
              <a:off x="4608" y="1728"/>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6" name="Line 88"/>
            <p:cNvSpPr>
              <a:spLocks noChangeShapeType="1"/>
            </p:cNvSpPr>
            <p:nvPr/>
          </p:nvSpPr>
          <p:spPr bwMode="auto">
            <a:xfrm>
              <a:off x="3888" y="1776"/>
              <a:ext cx="720"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18" name="Group 89"/>
            <p:cNvGrpSpPr>
              <a:grpSpLocks/>
            </p:cNvGrpSpPr>
            <p:nvPr/>
          </p:nvGrpSpPr>
          <p:grpSpPr bwMode="auto">
            <a:xfrm rot="-113611">
              <a:off x="2882" y="1776"/>
              <a:ext cx="384" cy="384"/>
              <a:chOff x="528" y="1872"/>
              <a:chExt cx="384" cy="384"/>
            </a:xfrm>
          </p:grpSpPr>
          <p:sp>
            <p:nvSpPr>
              <p:cNvPr id="384" name="Oval 90"/>
              <p:cNvSpPr>
                <a:spLocks noChangeArrowheads="1"/>
              </p:cNvSpPr>
              <p:nvPr/>
            </p:nvSpPr>
            <p:spPr bwMode="auto">
              <a:xfrm>
                <a:off x="768" y="2064"/>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4" name="Oval 91"/>
              <p:cNvSpPr>
                <a:spLocks noChangeArrowheads="1"/>
              </p:cNvSpPr>
              <p:nvPr/>
            </p:nvSpPr>
            <p:spPr bwMode="auto">
              <a:xfrm>
                <a:off x="576"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5" name="Line 92"/>
              <p:cNvSpPr>
                <a:spLocks noChangeShapeType="1"/>
              </p:cNvSpPr>
              <p:nvPr/>
            </p:nvSpPr>
            <p:spPr bwMode="auto">
              <a:xfrm>
                <a:off x="672" y="1920"/>
                <a:ext cx="96" cy="0"/>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96" name="Line 93"/>
              <p:cNvSpPr>
                <a:spLocks noChangeShapeType="1"/>
              </p:cNvSpPr>
              <p:nvPr/>
            </p:nvSpPr>
            <p:spPr bwMode="auto">
              <a:xfrm>
                <a:off x="816" y="1968"/>
                <a:ext cx="0" cy="96"/>
              </a:xfrm>
              <a:prstGeom prst="lin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1" name="Line 94"/>
              <p:cNvSpPr>
                <a:spLocks noChangeShapeType="1"/>
              </p:cNvSpPr>
              <p:nvPr/>
            </p:nvSpPr>
            <p:spPr bwMode="auto">
              <a:xfrm>
                <a:off x="528" y="1872"/>
                <a:ext cx="384" cy="384"/>
              </a:xfrm>
              <a:prstGeom prst="line">
                <a:avLst/>
              </a:prstGeom>
              <a:noFill/>
              <a:ln w="3810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2" name="Line 95"/>
              <p:cNvSpPr>
                <a:spLocks noChangeShapeType="1"/>
              </p:cNvSpPr>
              <p:nvPr/>
            </p:nvSpPr>
            <p:spPr bwMode="auto">
              <a:xfrm>
                <a:off x="528" y="196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3" name="Line 96"/>
              <p:cNvSpPr>
                <a:spLocks noChangeShapeType="1"/>
              </p:cNvSpPr>
              <p:nvPr/>
            </p:nvSpPr>
            <p:spPr bwMode="auto">
              <a:xfrm>
                <a:off x="576" y="201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5" name="Line 97"/>
              <p:cNvSpPr>
                <a:spLocks noChangeShapeType="1"/>
              </p:cNvSpPr>
              <p:nvPr/>
            </p:nvSpPr>
            <p:spPr bwMode="auto">
              <a:xfrm>
                <a:off x="624" y="206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6" name="Line 98"/>
              <p:cNvSpPr>
                <a:spLocks noChangeShapeType="1"/>
              </p:cNvSpPr>
              <p:nvPr/>
            </p:nvSpPr>
            <p:spPr bwMode="auto">
              <a:xfrm>
                <a:off x="672" y="2112"/>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7" name="Line 99"/>
              <p:cNvSpPr>
                <a:spLocks noChangeShapeType="1"/>
              </p:cNvSpPr>
              <p:nvPr/>
            </p:nvSpPr>
            <p:spPr bwMode="auto">
              <a:xfrm>
                <a:off x="720" y="2160"/>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09" name="Line 100"/>
              <p:cNvSpPr>
                <a:spLocks noChangeShapeType="1"/>
              </p:cNvSpPr>
              <p:nvPr/>
            </p:nvSpPr>
            <p:spPr bwMode="auto">
              <a:xfrm>
                <a:off x="768" y="2208"/>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0" name="Line 101"/>
              <p:cNvSpPr>
                <a:spLocks noChangeShapeType="1"/>
              </p:cNvSpPr>
              <p:nvPr/>
            </p:nvSpPr>
            <p:spPr bwMode="auto">
              <a:xfrm>
                <a:off x="816" y="225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412" name="Oval 102"/>
              <p:cNvSpPr>
                <a:spLocks noChangeArrowheads="1"/>
              </p:cNvSpPr>
              <p:nvPr/>
            </p:nvSpPr>
            <p:spPr bwMode="auto">
              <a:xfrm>
                <a:off x="768" y="187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19" name="Text Box 103"/>
            <p:cNvSpPr txBox="1">
              <a:spLocks noChangeArrowheads="1"/>
            </p:cNvSpPr>
            <p:nvPr/>
          </p:nvSpPr>
          <p:spPr bwMode="auto">
            <a:xfrm>
              <a:off x="4416" y="1824"/>
              <a:ext cx="207" cy="25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k</a:t>
              </a:r>
            </a:p>
          </p:txBody>
        </p:sp>
        <p:sp>
          <p:nvSpPr>
            <p:cNvPr id="321" name="Line 104"/>
            <p:cNvSpPr>
              <a:spLocks noChangeShapeType="1"/>
            </p:cNvSpPr>
            <p:nvPr/>
          </p:nvSpPr>
          <p:spPr bwMode="auto">
            <a:xfrm>
              <a:off x="4656" y="1824"/>
              <a:ext cx="96" cy="96"/>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2" name="Line 105"/>
            <p:cNvSpPr>
              <a:spLocks noChangeShapeType="1"/>
            </p:cNvSpPr>
            <p:nvPr/>
          </p:nvSpPr>
          <p:spPr bwMode="auto">
            <a:xfrm flipH="1">
              <a:off x="4608" y="1920"/>
              <a:ext cx="144" cy="0"/>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3" name="Line 106"/>
            <p:cNvSpPr>
              <a:spLocks noChangeShapeType="1"/>
            </p:cNvSpPr>
            <p:nvPr/>
          </p:nvSpPr>
          <p:spPr bwMode="auto">
            <a:xfrm>
              <a:off x="4608" y="1920"/>
              <a:ext cx="144" cy="96"/>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4" name="Line 107"/>
            <p:cNvSpPr>
              <a:spLocks noChangeShapeType="1"/>
            </p:cNvSpPr>
            <p:nvPr/>
          </p:nvSpPr>
          <p:spPr bwMode="auto">
            <a:xfrm flipH="1">
              <a:off x="4604" y="2016"/>
              <a:ext cx="144" cy="0"/>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6" name="Line 108"/>
            <p:cNvSpPr>
              <a:spLocks noChangeShapeType="1"/>
            </p:cNvSpPr>
            <p:nvPr/>
          </p:nvSpPr>
          <p:spPr bwMode="auto">
            <a:xfrm>
              <a:off x="4608" y="2016"/>
              <a:ext cx="96" cy="48"/>
            </a:xfrm>
            <a:prstGeom prst="line">
              <a:avLst/>
            </a:prstGeom>
            <a:solidFill>
              <a:schemeClr val="bg1"/>
            </a:solidFill>
            <a:ln w="28575" cap="sq">
              <a:solidFill>
                <a:schemeClr val="tx1"/>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nvGrpSpPr>
            <p:cNvPr id="328" name="Group 109"/>
            <p:cNvGrpSpPr>
              <a:grpSpLocks/>
            </p:cNvGrpSpPr>
            <p:nvPr/>
          </p:nvGrpSpPr>
          <p:grpSpPr bwMode="auto">
            <a:xfrm>
              <a:off x="4464" y="2064"/>
              <a:ext cx="432" cy="144"/>
              <a:chOff x="2904" y="3312"/>
              <a:chExt cx="432" cy="144"/>
            </a:xfrm>
          </p:grpSpPr>
          <p:sp>
            <p:nvSpPr>
              <p:cNvPr id="329" name="Line 110"/>
              <p:cNvSpPr>
                <a:spLocks noChangeShapeType="1"/>
              </p:cNvSpPr>
              <p:nvPr/>
            </p:nvSpPr>
            <p:spPr bwMode="auto">
              <a:xfrm>
                <a:off x="2952" y="3360"/>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0" name="Line 111"/>
              <p:cNvSpPr>
                <a:spLocks noChangeShapeType="1"/>
              </p:cNvSpPr>
              <p:nvPr/>
            </p:nvSpPr>
            <p:spPr bwMode="auto">
              <a:xfrm flipV="1">
                <a:off x="2952"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2" name="Line 112"/>
              <p:cNvSpPr>
                <a:spLocks noChangeShapeType="1"/>
              </p:cNvSpPr>
              <p:nvPr/>
            </p:nvSpPr>
            <p:spPr bwMode="auto">
              <a:xfrm flipV="1">
                <a:off x="3000"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3" name="Line 113"/>
              <p:cNvSpPr>
                <a:spLocks noChangeShapeType="1"/>
              </p:cNvSpPr>
              <p:nvPr/>
            </p:nvSpPr>
            <p:spPr bwMode="auto">
              <a:xfrm flipV="1">
                <a:off x="3048"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6" name="Line 114"/>
              <p:cNvSpPr>
                <a:spLocks noChangeShapeType="1"/>
              </p:cNvSpPr>
              <p:nvPr/>
            </p:nvSpPr>
            <p:spPr bwMode="auto">
              <a:xfrm flipV="1">
                <a:off x="3096"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8" name="Line 115"/>
              <p:cNvSpPr>
                <a:spLocks noChangeShapeType="1"/>
              </p:cNvSpPr>
              <p:nvPr/>
            </p:nvSpPr>
            <p:spPr bwMode="auto">
              <a:xfrm flipV="1">
                <a:off x="3144"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52" name="Line 116"/>
              <p:cNvSpPr>
                <a:spLocks noChangeShapeType="1"/>
              </p:cNvSpPr>
              <p:nvPr/>
            </p:nvSpPr>
            <p:spPr bwMode="auto">
              <a:xfrm flipV="1">
                <a:off x="3192"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7" name="Line 117"/>
              <p:cNvSpPr>
                <a:spLocks noChangeShapeType="1"/>
              </p:cNvSpPr>
              <p:nvPr/>
            </p:nvSpPr>
            <p:spPr bwMode="auto">
              <a:xfrm flipV="1">
                <a:off x="3240"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1" name="Line 118"/>
              <p:cNvSpPr>
                <a:spLocks noChangeShapeType="1"/>
              </p:cNvSpPr>
              <p:nvPr/>
            </p:nvSpPr>
            <p:spPr bwMode="auto">
              <a:xfrm flipV="1">
                <a:off x="2904" y="3360"/>
                <a:ext cx="96" cy="96"/>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3" name="Oval 119"/>
              <p:cNvSpPr>
                <a:spLocks noChangeArrowheads="1"/>
              </p:cNvSpPr>
              <p:nvPr/>
            </p:nvSpPr>
            <p:spPr bwMode="auto">
              <a:xfrm>
                <a:off x="3072" y="3312"/>
                <a:ext cx="96" cy="96"/>
              </a:xfrm>
              <a:prstGeom prst="ellipse">
                <a:avLst/>
              </a:prstGeom>
              <a:solidFill>
                <a:schemeClr val="bg1"/>
              </a:solid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 calcmode="lin" valueType="num">
                                      <p:cBhvr additive="base">
                                        <p:cTn id="7" dur="500" fill="hold"/>
                                        <p:tgtEl>
                                          <p:spTgt spid="309"/>
                                        </p:tgtEl>
                                        <p:attrNameLst>
                                          <p:attrName>ppt_x</p:attrName>
                                        </p:attrNameLst>
                                      </p:cBhvr>
                                      <p:tavLst>
                                        <p:tav tm="0">
                                          <p:val>
                                            <p:strVal val="0-#ppt_w/2"/>
                                          </p:val>
                                        </p:tav>
                                        <p:tav tm="100000">
                                          <p:val>
                                            <p:strVal val="#ppt_x"/>
                                          </p:val>
                                        </p:tav>
                                      </p:tavLst>
                                    </p:anim>
                                    <p:anim calcmode="lin" valueType="num">
                                      <p:cBhvr additive="base">
                                        <p:cTn id="8" dur="500" fill="hold"/>
                                        <p:tgtEl>
                                          <p:spTgt spid="3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
                                        </p:tgtEl>
                                        <p:attrNameLst>
                                          <p:attrName>style.visibility</p:attrName>
                                        </p:attrNameLst>
                                      </p:cBhvr>
                                      <p:to>
                                        <p:strVal val="visible"/>
                                      </p:to>
                                    </p:set>
                                    <p:anim calcmode="lin" valueType="num">
                                      <p:cBhvr additive="base">
                                        <p:cTn id="13" dur="500" fill="hold"/>
                                        <p:tgtEl>
                                          <p:spTgt spid="232"/>
                                        </p:tgtEl>
                                        <p:attrNameLst>
                                          <p:attrName>ppt_x</p:attrName>
                                        </p:attrNameLst>
                                      </p:cBhvr>
                                      <p:tavLst>
                                        <p:tav tm="0">
                                          <p:val>
                                            <p:strVal val="0-#ppt_w/2"/>
                                          </p:val>
                                        </p:tav>
                                        <p:tav tm="100000">
                                          <p:val>
                                            <p:strVal val="#ppt_x"/>
                                          </p:val>
                                        </p:tav>
                                      </p:tavLst>
                                    </p:anim>
                                    <p:anim calcmode="lin" valueType="num">
                                      <p:cBhvr additive="base">
                                        <p:cTn id="14" dur="500" fill="hold"/>
                                        <p:tgtEl>
                                          <p:spTgt spid="2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45"/>
                                        </p:tgtEl>
                                        <p:attrNameLst>
                                          <p:attrName>style.visibility</p:attrName>
                                        </p:attrNameLst>
                                      </p:cBhvr>
                                      <p:to>
                                        <p:strVal val="visible"/>
                                      </p:to>
                                    </p:set>
                                    <p:anim calcmode="lin" valueType="num">
                                      <p:cBhvr additive="base">
                                        <p:cTn id="19" dur="500" fill="hold"/>
                                        <p:tgtEl>
                                          <p:spTgt spid="245"/>
                                        </p:tgtEl>
                                        <p:attrNameLst>
                                          <p:attrName>ppt_x</p:attrName>
                                        </p:attrNameLst>
                                      </p:cBhvr>
                                      <p:tavLst>
                                        <p:tav tm="0">
                                          <p:val>
                                            <p:strVal val="0-#ppt_w/2"/>
                                          </p:val>
                                        </p:tav>
                                        <p:tav tm="100000">
                                          <p:val>
                                            <p:strVal val="#ppt_x"/>
                                          </p:val>
                                        </p:tav>
                                      </p:tavLst>
                                    </p:anim>
                                    <p:anim calcmode="lin" valueType="num">
                                      <p:cBhvr additive="base">
                                        <p:cTn id="20" dur="500" fill="hold"/>
                                        <p:tgtEl>
                                          <p:spTgt spid="2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34"/>
                                        </p:tgtEl>
                                        <p:attrNameLst>
                                          <p:attrName>style.visibility</p:attrName>
                                        </p:attrNameLst>
                                      </p:cBhvr>
                                      <p:to>
                                        <p:strVal val="visible"/>
                                      </p:to>
                                    </p:set>
                                    <p:anim calcmode="lin" valueType="num">
                                      <p:cBhvr additive="base">
                                        <p:cTn id="25" dur="500" fill="hold"/>
                                        <p:tgtEl>
                                          <p:spTgt spid="234"/>
                                        </p:tgtEl>
                                        <p:attrNameLst>
                                          <p:attrName>ppt_x</p:attrName>
                                        </p:attrNameLst>
                                      </p:cBhvr>
                                      <p:tavLst>
                                        <p:tav tm="0">
                                          <p:val>
                                            <p:strVal val="0-#ppt_w/2"/>
                                          </p:val>
                                        </p:tav>
                                        <p:tav tm="100000">
                                          <p:val>
                                            <p:strVal val="#ppt_x"/>
                                          </p:val>
                                        </p:tav>
                                      </p:tavLst>
                                    </p:anim>
                                    <p:anim calcmode="lin" valueType="num">
                                      <p:cBhvr additive="base">
                                        <p:cTn id="26" dur="500" fill="hold"/>
                                        <p:tgtEl>
                                          <p:spTgt spid="23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33"/>
                                        </p:tgtEl>
                                        <p:attrNameLst>
                                          <p:attrName>style.visibility</p:attrName>
                                        </p:attrNameLst>
                                      </p:cBhvr>
                                      <p:to>
                                        <p:strVal val="visible"/>
                                      </p:to>
                                    </p:set>
                                    <p:anim calcmode="lin" valueType="num">
                                      <p:cBhvr additive="base">
                                        <p:cTn id="31" dur="500" fill="hold"/>
                                        <p:tgtEl>
                                          <p:spTgt spid="233"/>
                                        </p:tgtEl>
                                        <p:attrNameLst>
                                          <p:attrName>ppt_x</p:attrName>
                                        </p:attrNameLst>
                                      </p:cBhvr>
                                      <p:tavLst>
                                        <p:tav tm="0">
                                          <p:val>
                                            <p:strVal val="0-#ppt_w/2"/>
                                          </p:val>
                                        </p:tav>
                                        <p:tav tm="100000">
                                          <p:val>
                                            <p:strVal val="#ppt_x"/>
                                          </p:val>
                                        </p:tav>
                                      </p:tavLst>
                                    </p:anim>
                                    <p:anim calcmode="lin" valueType="num">
                                      <p:cBhvr additive="base">
                                        <p:cTn id="32" dur="500" fill="hold"/>
                                        <p:tgtEl>
                                          <p:spTgt spid="2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11</a:t>
            </a:r>
            <a:r>
              <a:rPr lang="zh-CN" altLang="en-US" sz="2000" b="1">
                <a:latin typeface="Times New Roman" pitchFamily="18" charset="0"/>
                <a:cs typeface="Times New Roman" pitchFamily="18" charset="0"/>
              </a:rPr>
              <a:t>：图示结构</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AB</a:t>
            </a:r>
            <a:r>
              <a:rPr lang="zh-CN" altLang="en-US" sz="2000" b="1">
                <a:latin typeface="Times New Roman" pitchFamily="18" charset="0"/>
                <a:cs typeface="Times New Roman" pitchFamily="18" charset="0"/>
              </a:rPr>
              <a:t>两点</a:t>
            </a:r>
            <a:r>
              <a:rPr lang="en-US" altLang="zh-CN" sz="2000" b="1">
                <a:latin typeface="Times New Roman" pitchFamily="18" charset="0"/>
                <a:cs typeface="Times New Roman" pitchFamily="18" charset="0"/>
              </a:rPr>
              <a:t>⑴</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⑵</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 ⑶</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相对转角</a:t>
            </a:r>
            <a:r>
              <a:rPr lang="el-GR" altLang="zh-CN" sz="2000" b="1" i="1">
                <a:latin typeface="Times New Roman"/>
                <a:cs typeface="Times New Roman"/>
              </a:rPr>
              <a:t>φ</a:t>
            </a:r>
            <a:r>
              <a:rPr lang="en-US" altLang="zh-CN" sz="2000" b="1" i="1" baseline="-25000">
                <a:latin typeface="Times New Roman" pitchFamily="18" charset="0"/>
                <a:cs typeface="Times New Roman" pitchFamily="18" charset="0"/>
              </a:rPr>
              <a:t>AB</a:t>
            </a:r>
            <a:r>
              <a:rPr lang="zh-CN" altLang="en-US" sz="2000" b="1">
                <a:latin typeface="Times New Roman" pitchFamily="18" charset="0"/>
                <a:cs typeface="Times New Roman" pitchFamily="18" charset="0"/>
              </a:rPr>
              <a:t> 。</a:t>
            </a:r>
            <a:endParaRPr lang="en-US" altLang="zh-CN" sz="2000" b="1" i="1" baseline="-25000">
              <a:latin typeface="Times New Roman" pitchFamily="18" charset="0"/>
              <a:cs typeface="Times New Roman" pitchFamily="18" charset="0"/>
            </a:endParaRPr>
          </a:p>
        </p:txBody>
      </p:sp>
      <p:grpSp>
        <p:nvGrpSpPr>
          <p:cNvPr id="285" name="Group 2"/>
          <p:cNvGrpSpPr>
            <a:grpSpLocks/>
          </p:cNvGrpSpPr>
          <p:nvPr/>
        </p:nvGrpSpPr>
        <p:grpSpPr bwMode="auto">
          <a:xfrm>
            <a:off x="571499" y="2432043"/>
            <a:ext cx="2566988" cy="2192338"/>
            <a:chOff x="207" y="914"/>
            <a:chExt cx="1617" cy="1381"/>
          </a:xfrm>
        </p:grpSpPr>
        <p:graphicFrame>
          <p:nvGraphicFramePr>
            <p:cNvPr id="309" name="Object 3"/>
            <p:cNvGraphicFramePr>
              <a:graphicFrameLocks noChangeAspect="1"/>
            </p:cNvGraphicFramePr>
            <p:nvPr/>
          </p:nvGraphicFramePr>
          <p:xfrm>
            <a:off x="1008" y="1296"/>
            <a:ext cx="194" cy="212"/>
          </p:xfrm>
          <a:graphic>
            <a:graphicData uri="http://schemas.openxmlformats.org/presentationml/2006/ole">
              <mc:AlternateContent xmlns:mc="http://schemas.openxmlformats.org/markup-compatibility/2006">
                <mc:Choice xmlns:v="urn:schemas-microsoft-com:vml" Requires="v">
                  <p:oleObj spid="_x0000_s530460" name="公式" r:id="rId4" imgW="152280" imgH="164880" progId="Equation.3">
                    <p:embed/>
                  </p:oleObj>
                </mc:Choice>
                <mc:Fallback>
                  <p:oleObj name="公式" r:id="rId4" imgW="152280" imgH="164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1296"/>
                          <a:ext cx="19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 name="Line 4"/>
            <p:cNvSpPr>
              <a:spLocks noChangeShapeType="1"/>
            </p:cNvSpPr>
            <p:nvPr/>
          </p:nvSpPr>
          <p:spPr bwMode="auto">
            <a:xfrm flipV="1">
              <a:off x="576"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5"/>
            <p:cNvSpPr>
              <a:spLocks noChangeShapeType="1"/>
            </p:cNvSpPr>
            <p:nvPr/>
          </p:nvSpPr>
          <p:spPr bwMode="auto">
            <a:xfrm>
              <a:off x="576"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6"/>
            <p:cNvSpPr>
              <a:spLocks noChangeShapeType="1"/>
            </p:cNvSpPr>
            <p:nvPr/>
          </p:nvSpPr>
          <p:spPr bwMode="auto">
            <a:xfrm>
              <a:off x="1824"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Rectangle 7"/>
            <p:cNvSpPr>
              <a:spLocks noChangeArrowheads="1"/>
            </p:cNvSpPr>
            <p:nvPr/>
          </p:nvSpPr>
          <p:spPr bwMode="auto">
            <a:xfrm>
              <a:off x="816"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27" name="Rectangle 8"/>
            <p:cNvSpPr>
              <a:spLocks noChangeArrowheads="1"/>
            </p:cNvSpPr>
            <p:nvPr/>
          </p:nvSpPr>
          <p:spPr bwMode="auto">
            <a:xfrm>
              <a:off x="1269" y="914"/>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28" name="Line 9"/>
            <p:cNvSpPr>
              <a:spLocks noChangeShapeType="1"/>
            </p:cNvSpPr>
            <p:nvPr/>
          </p:nvSpPr>
          <p:spPr bwMode="auto">
            <a:xfrm>
              <a:off x="576" y="2199"/>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31" name="Object 10"/>
            <p:cNvGraphicFramePr>
              <a:graphicFrameLocks noChangeAspect="1"/>
            </p:cNvGraphicFramePr>
            <p:nvPr/>
          </p:nvGraphicFramePr>
          <p:xfrm>
            <a:off x="1200" y="1296"/>
            <a:ext cx="195" cy="211"/>
          </p:xfrm>
          <a:graphic>
            <a:graphicData uri="http://schemas.openxmlformats.org/presentationml/2006/ole">
              <mc:AlternateContent xmlns:mc="http://schemas.openxmlformats.org/markup-compatibility/2006">
                <mc:Choice xmlns:v="urn:schemas-microsoft-com:vml" Requires="v">
                  <p:oleObj spid="_x0000_s530461" name="公式" r:id="rId6" imgW="152280" imgH="164880" progId="Equation.3">
                    <p:embed/>
                  </p:oleObj>
                </mc:Choice>
                <mc:Fallback>
                  <p:oleObj name="公式" r:id="rId6" imgW="152280" imgH="16488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 y="1296"/>
                          <a:ext cx="195"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4" name="Line 11"/>
            <p:cNvSpPr>
              <a:spLocks noChangeShapeType="1"/>
            </p:cNvSpPr>
            <p:nvPr/>
          </p:nvSpPr>
          <p:spPr bwMode="auto">
            <a:xfrm>
              <a:off x="1248" y="2151"/>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Rectangle 12"/>
            <p:cNvSpPr>
              <a:spLocks noChangeArrowheads="1"/>
            </p:cNvSpPr>
            <p:nvPr/>
          </p:nvSpPr>
          <p:spPr bwMode="auto">
            <a:xfrm>
              <a:off x="1392"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36" name="Line 13"/>
            <p:cNvSpPr>
              <a:spLocks noChangeShapeType="1"/>
            </p:cNvSpPr>
            <p:nvPr/>
          </p:nvSpPr>
          <p:spPr bwMode="auto">
            <a:xfrm>
              <a:off x="1248"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14"/>
            <p:cNvSpPr>
              <a:spLocks noChangeShapeType="1"/>
            </p:cNvSpPr>
            <p:nvPr/>
          </p:nvSpPr>
          <p:spPr bwMode="auto">
            <a:xfrm>
              <a:off x="576" y="1824"/>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Line 15"/>
            <p:cNvSpPr>
              <a:spLocks noChangeShapeType="1"/>
            </p:cNvSpPr>
            <p:nvPr/>
          </p:nvSpPr>
          <p:spPr bwMode="auto">
            <a:xfrm>
              <a:off x="1248" y="1296"/>
              <a:ext cx="576" cy="9"/>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16"/>
            <p:cNvSpPr>
              <a:spLocks noChangeShapeType="1"/>
            </p:cNvSpPr>
            <p:nvPr/>
          </p:nvSpPr>
          <p:spPr bwMode="auto">
            <a:xfrm flipV="1">
              <a:off x="1152"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17"/>
            <p:cNvSpPr>
              <a:spLocks noChangeShapeType="1"/>
            </p:cNvSpPr>
            <p:nvPr/>
          </p:nvSpPr>
          <p:spPr bwMode="auto">
            <a:xfrm flipH="1" flipV="1">
              <a:off x="1824"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Line 18"/>
            <p:cNvSpPr>
              <a:spLocks noChangeShapeType="1"/>
            </p:cNvSpPr>
            <p:nvPr/>
          </p:nvSpPr>
          <p:spPr bwMode="auto">
            <a:xfrm>
              <a:off x="576" y="1296"/>
              <a:ext cx="5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2" name="Rectangle 19"/>
            <p:cNvSpPr>
              <a:spLocks noChangeArrowheads="1"/>
            </p:cNvSpPr>
            <p:nvPr/>
          </p:nvSpPr>
          <p:spPr bwMode="auto">
            <a:xfrm>
              <a:off x="897" y="920"/>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43" name="Line 20"/>
            <p:cNvSpPr>
              <a:spLocks noChangeShapeType="1"/>
            </p:cNvSpPr>
            <p:nvPr/>
          </p:nvSpPr>
          <p:spPr bwMode="auto">
            <a:xfrm>
              <a:off x="384" y="1290"/>
              <a:ext cx="0" cy="52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4" name="Line 21"/>
            <p:cNvSpPr>
              <a:spLocks noChangeShapeType="1"/>
            </p:cNvSpPr>
            <p:nvPr/>
          </p:nvSpPr>
          <p:spPr bwMode="auto">
            <a:xfrm>
              <a:off x="336" y="128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5" name="Line 22"/>
            <p:cNvSpPr>
              <a:spLocks noChangeShapeType="1"/>
            </p:cNvSpPr>
            <p:nvPr/>
          </p:nvSpPr>
          <p:spPr bwMode="auto">
            <a:xfrm>
              <a:off x="336" y="182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7" name="Rectangle 23"/>
            <p:cNvSpPr>
              <a:spLocks noChangeArrowheads="1"/>
            </p:cNvSpPr>
            <p:nvPr/>
          </p:nvSpPr>
          <p:spPr bwMode="auto">
            <a:xfrm>
              <a:off x="207" y="1407"/>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pSp>
      <p:graphicFrame>
        <p:nvGraphicFramePr>
          <p:cNvPr id="349" name="Object 24"/>
          <p:cNvGraphicFramePr>
            <a:graphicFrameLocks noChangeAspect="1"/>
          </p:cNvGraphicFramePr>
          <p:nvPr/>
        </p:nvGraphicFramePr>
        <p:xfrm>
          <a:off x="4214810" y="2857496"/>
          <a:ext cx="4005262" cy="2036762"/>
        </p:xfrm>
        <a:graphic>
          <a:graphicData uri="http://schemas.openxmlformats.org/presentationml/2006/ole">
            <mc:AlternateContent xmlns:mc="http://schemas.openxmlformats.org/markup-compatibility/2006">
              <mc:Choice xmlns:v="urn:schemas-microsoft-com:vml" Requires="v">
                <p:oleObj spid="_x0000_s530462" name="Equation" r:id="rId8" imgW="2425680" imgH="1231560" progId="Equation.DSMT4">
                  <p:embed/>
                </p:oleObj>
              </mc:Choice>
              <mc:Fallback>
                <p:oleObj name="Equation" r:id="rId8" imgW="2425680" imgH="123156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4810" y="2857496"/>
                        <a:ext cx="4005262" cy="2036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50" name="Group 26"/>
          <p:cNvGrpSpPr>
            <a:grpSpLocks/>
          </p:cNvGrpSpPr>
          <p:nvPr/>
        </p:nvGrpSpPr>
        <p:grpSpPr bwMode="auto">
          <a:xfrm>
            <a:off x="3367086" y="5506614"/>
            <a:ext cx="457200" cy="469900"/>
            <a:chOff x="4800" y="1728"/>
            <a:chExt cx="288" cy="296"/>
          </a:xfrm>
        </p:grpSpPr>
        <p:graphicFrame>
          <p:nvGraphicFramePr>
            <p:cNvPr id="351" name="Object 27"/>
            <p:cNvGraphicFramePr>
              <a:graphicFrameLocks noChangeAspect="1"/>
            </p:cNvGraphicFramePr>
            <p:nvPr/>
          </p:nvGraphicFramePr>
          <p:xfrm>
            <a:off x="4808" y="1736"/>
            <a:ext cx="275" cy="288"/>
          </p:xfrm>
          <a:graphic>
            <a:graphicData uri="http://schemas.openxmlformats.org/presentationml/2006/ole">
              <mc:AlternateContent xmlns:mc="http://schemas.openxmlformats.org/markup-compatibility/2006">
                <mc:Choice xmlns:v="urn:schemas-microsoft-com:vml" Requires="v">
                  <p:oleObj spid="_x0000_s530463" name="公式" r:id="rId10" imgW="228600" imgH="241200" progId="Equation.3">
                    <p:embed/>
                  </p:oleObj>
                </mc:Choice>
                <mc:Fallback>
                  <p:oleObj name="公式" r:id="rId10" imgW="228600" imgH="241200" progId="Equation.3">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8" y="1736"/>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3" name="Oval 28"/>
            <p:cNvSpPr>
              <a:spLocks noChangeArrowheads="1"/>
            </p:cNvSpPr>
            <p:nvPr/>
          </p:nvSpPr>
          <p:spPr bwMode="auto">
            <a:xfrm>
              <a:off x="4800" y="1728"/>
              <a:ext cx="288" cy="288"/>
            </a:xfrm>
            <a:prstGeom prst="ellipse">
              <a:avLst/>
            </a:prstGeom>
            <a:noFill/>
            <a:ln w="28575">
              <a:solidFill>
                <a:schemeClr val="tx1"/>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354" name="Oval 29"/>
          <p:cNvSpPr>
            <a:spLocks noChangeArrowheads="1"/>
          </p:cNvSpPr>
          <p:nvPr/>
        </p:nvSpPr>
        <p:spPr bwMode="auto">
          <a:xfrm>
            <a:off x="3367086" y="334326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355" name="Group 31"/>
          <p:cNvGrpSpPr>
            <a:grpSpLocks/>
          </p:cNvGrpSpPr>
          <p:nvPr/>
        </p:nvGrpSpPr>
        <p:grpSpPr bwMode="auto">
          <a:xfrm>
            <a:off x="1157286" y="4779542"/>
            <a:ext cx="1981200" cy="1412876"/>
            <a:chOff x="576" y="2134"/>
            <a:chExt cx="1248" cy="890"/>
          </a:xfrm>
        </p:grpSpPr>
        <p:sp>
          <p:nvSpPr>
            <p:cNvPr id="356" name="Line 32"/>
            <p:cNvSpPr>
              <a:spLocks noChangeShapeType="1"/>
            </p:cNvSpPr>
            <p:nvPr/>
          </p:nvSpPr>
          <p:spPr bwMode="auto">
            <a:xfrm flipV="1">
              <a:off x="576" y="2496"/>
              <a:ext cx="0" cy="528"/>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57" name="Rectangle 33"/>
            <p:cNvSpPr>
              <a:spLocks noChangeArrowheads="1"/>
            </p:cNvSpPr>
            <p:nvPr/>
          </p:nvSpPr>
          <p:spPr bwMode="auto">
            <a:xfrm>
              <a:off x="1271" y="2134"/>
              <a:ext cx="196" cy="250"/>
            </a:xfrm>
            <a:prstGeom prst="rect">
              <a:avLst/>
            </a:prstGeom>
            <a:noFill/>
            <a:ln w="9525">
              <a:noFill/>
              <a:miter lim="800000"/>
              <a:headEnd/>
              <a:tailEnd/>
            </a:ln>
          </p:spPr>
          <p:txBody>
            <a:bodyPr wrap="none">
              <a:spAutoFit/>
            </a:bodyPr>
            <a:lstStyle/>
            <a:p>
              <a:pPr algn="l" rtl="0" fontAlgn="base">
                <a:spcBef>
                  <a:spcPct val="0"/>
                </a:spcBef>
                <a:spcAft>
                  <a:spcPct val="0"/>
                </a:spcAft>
              </a:pPr>
              <a:r>
                <a:rPr kumimoji="1" lang="en-US" altLang="zh-CN" sz="2000" b="1" kern="1200">
                  <a:solidFill>
                    <a:srgbClr val="0033CC"/>
                  </a:solidFill>
                  <a:latin typeface="Times New Roman" pitchFamily="18" charset="0"/>
                  <a:ea typeface="宋体" charset="-122"/>
                  <a:cs typeface="+mn-cs"/>
                </a:rPr>
                <a:t>1</a:t>
              </a:r>
              <a:endParaRPr kumimoji="1" lang="en-US" altLang="zh-CN" sz="2800" b="1" kern="1200">
                <a:solidFill>
                  <a:srgbClr val="0033CC"/>
                </a:solidFill>
                <a:latin typeface="Times New Roman" pitchFamily="18" charset="0"/>
                <a:ea typeface="宋体" charset="-122"/>
                <a:cs typeface="+mn-cs"/>
              </a:endParaRPr>
            </a:p>
          </p:txBody>
        </p:sp>
        <p:sp>
          <p:nvSpPr>
            <p:cNvPr id="358" name="Line 34"/>
            <p:cNvSpPr>
              <a:spLocks noChangeShapeType="1"/>
            </p:cNvSpPr>
            <p:nvPr/>
          </p:nvSpPr>
          <p:spPr bwMode="auto">
            <a:xfrm>
              <a:off x="1248" y="2208"/>
              <a:ext cx="0" cy="288"/>
            </a:xfrm>
            <a:prstGeom prst="line">
              <a:avLst/>
            </a:prstGeom>
            <a:noFill/>
            <a:ln w="38100">
              <a:solidFill>
                <a:srgbClr val="0033CC"/>
              </a:solidFill>
              <a:round/>
              <a:headEnd type="triangle" w="med" len="lg"/>
              <a:tailEnd type="none" w="sm" len="lg"/>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59" name="Line 35"/>
            <p:cNvSpPr>
              <a:spLocks noChangeShapeType="1"/>
            </p:cNvSpPr>
            <p:nvPr/>
          </p:nvSpPr>
          <p:spPr bwMode="auto">
            <a:xfrm>
              <a:off x="576" y="3024"/>
              <a:ext cx="1248" cy="0"/>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60" name="Line 36"/>
            <p:cNvSpPr>
              <a:spLocks noChangeShapeType="1"/>
            </p:cNvSpPr>
            <p:nvPr/>
          </p:nvSpPr>
          <p:spPr bwMode="auto">
            <a:xfrm>
              <a:off x="1248" y="2496"/>
              <a:ext cx="576" cy="9"/>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61" name="Line 37"/>
            <p:cNvSpPr>
              <a:spLocks noChangeShapeType="1"/>
            </p:cNvSpPr>
            <p:nvPr/>
          </p:nvSpPr>
          <p:spPr bwMode="auto">
            <a:xfrm flipV="1">
              <a:off x="1152" y="2208"/>
              <a:ext cx="0" cy="288"/>
            </a:xfrm>
            <a:prstGeom prst="line">
              <a:avLst/>
            </a:prstGeom>
            <a:noFill/>
            <a:ln w="38100">
              <a:solidFill>
                <a:srgbClr val="0033CC"/>
              </a:solidFill>
              <a:round/>
              <a:headEnd type="triangle" w="med" len="lg"/>
              <a:tailEnd type="none" w="sm" len="lg"/>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62" name="Line 38"/>
            <p:cNvSpPr>
              <a:spLocks noChangeShapeType="1"/>
            </p:cNvSpPr>
            <p:nvPr/>
          </p:nvSpPr>
          <p:spPr bwMode="auto">
            <a:xfrm flipH="1" flipV="1">
              <a:off x="1824" y="2496"/>
              <a:ext cx="0" cy="528"/>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63" name="Line 39"/>
            <p:cNvSpPr>
              <a:spLocks noChangeShapeType="1"/>
            </p:cNvSpPr>
            <p:nvPr/>
          </p:nvSpPr>
          <p:spPr bwMode="auto">
            <a:xfrm>
              <a:off x="576" y="2496"/>
              <a:ext cx="576" cy="0"/>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364" name="Rectangle 40"/>
            <p:cNvSpPr>
              <a:spLocks noChangeArrowheads="1"/>
            </p:cNvSpPr>
            <p:nvPr/>
          </p:nvSpPr>
          <p:spPr bwMode="auto">
            <a:xfrm>
              <a:off x="946" y="2138"/>
              <a:ext cx="196" cy="250"/>
            </a:xfrm>
            <a:prstGeom prst="rect">
              <a:avLst/>
            </a:prstGeom>
            <a:noFill/>
            <a:ln w="9525">
              <a:noFill/>
              <a:miter lim="800000"/>
              <a:headEnd/>
              <a:tailEnd/>
            </a:ln>
          </p:spPr>
          <p:txBody>
            <a:bodyPr wrap="none">
              <a:spAutoFit/>
            </a:bodyPr>
            <a:lstStyle/>
            <a:p>
              <a:pPr algn="l" rtl="0" fontAlgn="base">
                <a:spcBef>
                  <a:spcPct val="0"/>
                </a:spcBef>
                <a:spcAft>
                  <a:spcPct val="0"/>
                </a:spcAft>
              </a:pPr>
              <a:r>
                <a:rPr kumimoji="1" lang="en-US" altLang="zh-CN" sz="2000" b="1" kern="1200">
                  <a:solidFill>
                    <a:srgbClr val="0033CC"/>
                  </a:solidFill>
                  <a:latin typeface="Times New Roman" pitchFamily="18" charset="0"/>
                  <a:ea typeface="宋体" charset="-122"/>
                  <a:cs typeface="+mn-cs"/>
                </a:rPr>
                <a:t>1</a:t>
              </a:r>
              <a:endParaRPr kumimoji="1" lang="en-US" altLang="zh-CN" sz="2800" b="1" kern="1200">
                <a:solidFill>
                  <a:srgbClr val="0033CC"/>
                </a:solidFill>
                <a:latin typeface="Times New Roman" pitchFamily="18" charset="0"/>
                <a:ea typeface="宋体" charset="-122"/>
                <a:cs typeface="+mn-cs"/>
              </a:endParaRPr>
            </a:p>
          </p:txBody>
        </p:sp>
      </p:grpSp>
      <p:grpSp>
        <p:nvGrpSpPr>
          <p:cNvPr id="365" name="Group 41"/>
          <p:cNvGrpSpPr>
            <a:grpSpLocks/>
          </p:cNvGrpSpPr>
          <p:nvPr/>
        </p:nvGrpSpPr>
        <p:grpSpPr bwMode="auto">
          <a:xfrm>
            <a:off x="750889" y="2593968"/>
            <a:ext cx="2387601" cy="1587500"/>
            <a:chOff x="3513" y="2840"/>
            <a:chExt cx="1504" cy="1000"/>
          </a:xfrm>
        </p:grpSpPr>
        <p:sp>
          <p:nvSpPr>
            <p:cNvPr id="366" name="Line 42"/>
            <p:cNvSpPr>
              <a:spLocks noChangeShapeType="1"/>
            </p:cNvSpPr>
            <p:nvPr/>
          </p:nvSpPr>
          <p:spPr bwMode="auto">
            <a:xfrm flipH="1" flipV="1">
              <a:off x="3577" y="3120"/>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43"/>
            <p:cNvSpPr>
              <a:spLocks noChangeShapeType="1"/>
            </p:cNvSpPr>
            <p:nvPr/>
          </p:nvSpPr>
          <p:spPr bwMode="auto">
            <a:xfrm>
              <a:off x="3769" y="2928"/>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44"/>
            <p:cNvSpPr>
              <a:spLocks noChangeShapeType="1"/>
            </p:cNvSpPr>
            <p:nvPr/>
          </p:nvSpPr>
          <p:spPr bwMode="auto">
            <a:xfrm flipV="1">
              <a:off x="3769" y="292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45"/>
            <p:cNvSpPr>
              <a:spLocks noChangeShapeType="1"/>
            </p:cNvSpPr>
            <p:nvPr/>
          </p:nvSpPr>
          <p:spPr bwMode="auto">
            <a:xfrm flipH="1" flipV="1">
              <a:off x="4825" y="3146"/>
              <a:ext cx="0" cy="4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71" name="Object 46"/>
            <p:cNvGraphicFramePr>
              <a:graphicFrameLocks noChangeAspect="1"/>
            </p:cNvGraphicFramePr>
            <p:nvPr/>
          </p:nvGraphicFramePr>
          <p:xfrm>
            <a:off x="3513" y="2840"/>
            <a:ext cx="236" cy="207"/>
          </p:xfrm>
          <a:graphic>
            <a:graphicData uri="http://schemas.openxmlformats.org/presentationml/2006/ole">
              <mc:AlternateContent xmlns:mc="http://schemas.openxmlformats.org/markup-compatibility/2006">
                <mc:Choice xmlns:v="urn:schemas-microsoft-com:vml" Requires="v">
                  <p:oleObj spid="_x0000_s530464" name="公式" r:id="rId12" imgW="203040" imgH="177480" progId="Equation.3">
                    <p:embed/>
                  </p:oleObj>
                </mc:Choice>
                <mc:Fallback>
                  <p:oleObj name="公式" r:id="rId12" imgW="203040" imgH="177480" progId="Equation.3">
                    <p:embed/>
                    <p:pic>
                      <p:nvPicPr>
                        <p:cNvPr id="0" name="Object 4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13" y="2840"/>
                          <a:ext cx="236"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 name="Line 47"/>
            <p:cNvSpPr>
              <a:spLocks noChangeShapeType="1"/>
            </p:cNvSpPr>
            <p:nvPr/>
          </p:nvSpPr>
          <p:spPr bwMode="auto">
            <a:xfrm>
              <a:off x="3577" y="3120"/>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48"/>
            <p:cNvSpPr>
              <a:spLocks noChangeShapeType="1"/>
            </p:cNvSpPr>
            <p:nvPr/>
          </p:nvSpPr>
          <p:spPr bwMode="auto">
            <a:xfrm flipV="1">
              <a:off x="3769" y="364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49"/>
            <p:cNvSpPr>
              <a:spLocks noChangeShapeType="1"/>
            </p:cNvSpPr>
            <p:nvPr/>
          </p:nvSpPr>
          <p:spPr bwMode="auto">
            <a:xfrm flipH="1">
              <a:off x="3577" y="3648"/>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50"/>
            <p:cNvSpPr>
              <a:spLocks noChangeShapeType="1"/>
            </p:cNvSpPr>
            <p:nvPr/>
          </p:nvSpPr>
          <p:spPr bwMode="auto">
            <a:xfrm flipV="1">
              <a:off x="3769" y="3456"/>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376" name="Group 51"/>
          <p:cNvGrpSpPr>
            <a:grpSpLocks/>
          </p:cNvGrpSpPr>
          <p:nvPr/>
        </p:nvGrpSpPr>
        <p:grpSpPr bwMode="auto">
          <a:xfrm>
            <a:off x="831848" y="4928764"/>
            <a:ext cx="2286000" cy="1549400"/>
            <a:chOff x="2742" y="2996"/>
            <a:chExt cx="1440" cy="976"/>
          </a:xfrm>
        </p:grpSpPr>
        <p:sp>
          <p:nvSpPr>
            <p:cNvPr id="377" name="Line 52"/>
            <p:cNvSpPr>
              <a:spLocks noChangeShapeType="1"/>
            </p:cNvSpPr>
            <p:nvPr/>
          </p:nvSpPr>
          <p:spPr bwMode="auto">
            <a:xfrm flipH="1" flipV="1">
              <a:off x="2742" y="3252"/>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8" name="Line 53"/>
            <p:cNvSpPr>
              <a:spLocks noChangeShapeType="1"/>
            </p:cNvSpPr>
            <p:nvPr/>
          </p:nvSpPr>
          <p:spPr bwMode="auto">
            <a:xfrm>
              <a:off x="2934" y="3060"/>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9" name="Line 54"/>
            <p:cNvSpPr>
              <a:spLocks noChangeShapeType="1"/>
            </p:cNvSpPr>
            <p:nvPr/>
          </p:nvSpPr>
          <p:spPr bwMode="auto">
            <a:xfrm flipV="1">
              <a:off x="2942" y="3060"/>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0" name="Line 55"/>
            <p:cNvSpPr>
              <a:spLocks noChangeShapeType="1"/>
            </p:cNvSpPr>
            <p:nvPr/>
          </p:nvSpPr>
          <p:spPr bwMode="auto">
            <a:xfrm flipH="1" flipV="1">
              <a:off x="3990" y="3292"/>
              <a:ext cx="0" cy="4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82" name="Object 56"/>
            <p:cNvGraphicFramePr>
              <a:graphicFrameLocks noChangeAspect="1"/>
            </p:cNvGraphicFramePr>
            <p:nvPr/>
          </p:nvGraphicFramePr>
          <p:xfrm>
            <a:off x="2758" y="2996"/>
            <a:ext cx="102" cy="208"/>
          </p:xfrm>
          <a:graphic>
            <a:graphicData uri="http://schemas.openxmlformats.org/presentationml/2006/ole">
              <mc:AlternateContent xmlns:mc="http://schemas.openxmlformats.org/markup-compatibility/2006">
                <mc:Choice xmlns:v="urn:schemas-microsoft-com:vml" Requires="v">
                  <p:oleObj spid="_x0000_s530465" name="公式" r:id="rId14" imgW="88560" imgH="177480" progId="Equation.3">
                    <p:embed/>
                  </p:oleObj>
                </mc:Choice>
                <mc:Fallback>
                  <p:oleObj name="公式" r:id="rId14" imgW="88560" imgH="177480" progId="Equation.3">
                    <p:embed/>
                    <p:pic>
                      <p:nvPicPr>
                        <p:cNvPr id="0" name="Object 5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58" y="2996"/>
                          <a:ext cx="102"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5" name="Line 57"/>
            <p:cNvSpPr>
              <a:spLocks noChangeShapeType="1"/>
            </p:cNvSpPr>
            <p:nvPr/>
          </p:nvSpPr>
          <p:spPr bwMode="auto">
            <a:xfrm>
              <a:off x="2742" y="3252"/>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6" name="Line 58"/>
            <p:cNvSpPr>
              <a:spLocks noChangeShapeType="1"/>
            </p:cNvSpPr>
            <p:nvPr/>
          </p:nvSpPr>
          <p:spPr bwMode="auto">
            <a:xfrm flipV="1">
              <a:off x="2942" y="3780"/>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7" name="Line 59"/>
            <p:cNvSpPr>
              <a:spLocks noChangeShapeType="1"/>
            </p:cNvSpPr>
            <p:nvPr/>
          </p:nvSpPr>
          <p:spPr bwMode="auto">
            <a:xfrm flipH="1">
              <a:off x="2742" y="3780"/>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88" name="Line 60"/>
            <p:cNvSpPr>
              <a:spLocks noChangeShapeType="1"/>
            </p:cNvSpPr>
            <p:nvPr/>
          </p:nvSpPr>
          <p:spPr bwMode="auto">
            <a:xfrm flipV="1">
              <a:off x="2934" y="3588"/>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89" name="Text Box 3"/>
          <p:cNvSpPr txBox="1">
            <a:spLocks noChangeArrowheads="1"/>
          </p:cNvSpPr>
          <p:nvPr/>
        </p:nvSpPr>
        <p:spPr bwMode="auto">
          <a:xfrm>
            <a:off x="3981496" y="2500306"/>
            <a:ext cx="4519594"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5"/>
                                        </p:tgtEl>
                                        <p:attrNameLst>
                                          <p:attrName>style.visibility</p:attrName>
                                        </p:attrNameLst>
                                      </p:cBhvr>
                                      <p:to>
                                        <p:strVal val="visible"/>
                                      </p:to>
                                    </p:set>
                                    <p:anim calcmode="lin" valueType="num">
                                      <p:cBhvr additive="base">
                                        <p:cTn id="7" dur="500" fill="hold"/>
                                        <p:tgtEl>
                                          <p:spTgt spid="355"/>
                                        </p:tgtEl>
                                        <p:attrNameLst>
                                          <p:attrName>ppt_x</p:attrName>
                                        </p:attrNameLst>
                                      </p:cBhvr>
                                      <p:tavLst>
                                        <p:tav tm="0">
                                          <p:val>
                                            <p:strVal val="0-#ppt_w/2"/>
                                          </p:val>
                                        </p:tav>
                                        <p:tav tm="100000">
                                          <p:val>
                                            <p:strVal val="#ppt_x"/>
                                          </p:val>
                                        </p:tav>
                                      </p:tavLst>
                                    </p:anim>
                                    <p:anim calcmode="lin" valueType="num">
                                      <p:cBhvr additive="base">
                                        <p:cTn id="8" dur="500" fill="hold"/>
                                        <p:tgtEl>
                                          <p:spTgt spid="3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
                                        </p:tgtEl>
                                        <p:attrNameLst>
                                          <p:attrName>style.visibility</p:attrName>
                                        </p:attrNameLst>
                                      </p:cBhvr>
                                      <p:to>
                                        <p:strVal val="visible"/>
                                      </p:to>
                                    </p:set>
                                    <p:anim calcmode="lin" valueType="num">
                                      <p:cBhvr additive="base">
                                        <p:cTn id="13" dur="500" fill="hold"/>
                                        <p:tgtEl>
                                          <p:spTgt spid="389"/>
                                        </p:tgtEl>
                                        <p:attrNameLst>
                                          <p:attrName>ppt_x</p:attrName>
                                        </p:attrNameLst>
                                      </p:cBhvr>
                                      <p:tavLst>
                                        <p:tav tm="0">
                                          <p:val>
                                            <p:strVal val="0-#ppt_w/2"/>
                                          </p:val>
                                        </p:tav>
                                        <p:tav tm="100000">
                                          <p:val>
                                            <p:strVal val="#ppt_x"/>
                                          </p:val>
                                        </p:tav>
                                      </p:tavLst>
                                    </p:anim>
                                    <p:anim calcmode="lin" valueType="num">
                                      <p:cBhvr additive="base">
                                        <p:cTn id="14" dur="500" fill="hold"/>
                                        <p:tgtEl>
                                          <p:spTgt spid="38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65"/>
                                        </p:tgtEl>
                                        <p:attrNameLst>
                                          <p:attrName>style.visibility</p:attrName>
                                        </p:attrNameLst>
                                      </p:cBhvr>
                                      <p:to>
                                        <p:strVal val="visible"/>
                                      </p:to>
                                    </p:set>
                                    <p:anim calcmode="lin" valueType="num">
                                      <p:cBhvr additive="base">
                                        <p:cTn id="19" dur="500" fill="hold"/>
                                        <p:tgtEl>
                                          <p:spTgt spid="365"/>
                                        </p:tgtEl>
                                        <p:attrNameLst>
                                          <p:attrName>ppt_x</p:attrName>
                                        </p:attrNameLst>
                                      </p:cBhvr>
                                      <p:tavLst>
                                        <p:tav tm="0">
                                          <p:val>
                                            <p:strVal val="0-#ppt_w/2"/>
                                          </p:val>
                                        </p:tav>
                                        <p:tav tm="100000">
                                          <p:val>
                                            <p:strVal val="#ppt_x"/>
                                          </p:val>
                                        </p:tav>
                                      </p:tavLst>
                                    </p:anim>
                                    <p:anim calcmode="lin" valueType="num">
                                      <p:cBhvr additive="base">
                                        <p:cTn id="20" dur="500" fill="hold"/>
                                        <p:tgtEl>
                                          <p:spTgt spid="36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4"/>
                                        </p:tgtEl>
                                        <p:attrNameLst>
                                          <p:attrName>style.visibility</p:attrName>
                                        </p:attrNameLst>
                                      </p:cBhvr>
                                      <p:to>
                                        <p:strVal val="visible"/>
                                      </p:to>
                                    </p:set>
                                    <p:anim calcmode="lin" valueType="num">
                                      <p:cBhvr additive="base">
                                        <p:cTn id="25" dur="500" fill="hold"/>
                                        <p:tgtEl>
                                          <p:spTgt spid="354"/>
                                        </p:tgtEl>
                                        <p:attrNameLst>
                                          <p:attrName>ppt_x</p:attrName>
                                        </p:attrNameLst>
                                      </p:cBhvr>
                                      <p:tavLst>
                                        <p:tav tm="0">
                                          <p:val>
                                            <p:strVal val="0-#ppt_w/2"/>
                                          </p:val>
                                        </p:tav>
                                        <p:tav tm="100000">
                                          <p:val>
                                            <p:strVal val="#ppt_x"/>
                                          </p:val>
                                        </p:tav>
                                      </p:tavLst>
                                    </p:anim>
                                    <p:anim calcmode="lin" valueType="num">
                                      <p:cBhvr additive="base">
                                        <p:cTn id="26" dur="500" fill="hold"/>
                                        <p:tgtEl>
                                          <p:spTgt spid="35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76"/>
                                        </p:tgtEl>
                                        <p:attrNameLst>
                                          <p:attrName>style.visibility</p:attrName>
                                        </p:attrNameLst>
                                      </p:cBhvr>
                                      <p:to>
                                        <p:strVal val="visible"/>
                                      </p:to>
                                    </p:set>
                                    <p:anim calcmode="lin" valueType="num">
                                      <p:cBhvr additive="base">
                                        <p:cTn id="31" dur="500" fill="hold"/>
                                        <p:tgtEl>
                                          <p:spTgt spid="376"/>
                                        </p:tgtEl>
                                        <p:attrNameLst>
                                          <p:attrName>ppt_x</p:attrName>
                                        </p:attrNameLst>
                                      </p:cBhvr>
                                      <p:tavLst>
                                        <p:tav tm="0">
                                          <p:val>
                                            <p:strVal val="0-#ppt_w/2"/>
                                          </p:val>
                                        </p:tav>
                                        <p:tav tm="100000">
                                          <p:val>
                                            <p:strVal val="#ppt_x"/>
                                          </p:val>
                                        </p:tav>
                                      </p:tavLst>
                                    </p:anim>
                                    <p:anim calcmode="lin" valueType="num">
                                      <p:cBhvr additive="base">
                                        <p:cTn id="32" dur="500" fill="hold"/>
                                        <p:tgtEl>
                                          <p:spTgt spid="37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50"/>
                                        </p:tgtEl>
                                        <p:attrNameLst>
                                          <p:attrName>style.visibility</p:attrName>
                                        </p:attrNameLst>
                                      </p:cBhvr>
                                      <p:to>
                                        <p:strVal val="visible"/>
                                      </p:to>
                                    </p:set>
                                    <p:anim calcmode="lin" valueType="num">
                                      <p:cBhvr additive="base">
                                        <p:cTn id="37" dur="500" fill="hold"/>
                                        <p:tgtEl>
                                          <p:spTgt spid="350"/>
                                        </p:tgtEl>
                                        <p:attrNameLst>
                                          <p:attrName>ppt_x</p:attrName>
                                        </p:attrNameLst>
                                      </p:cBhvr>
                                      <p:tavLst>
                                        <p:tav tm="0">
                                          <p:val>
                                            <p:strVal val="0-#ppt_w/2"/>
                                          </p:val>
                                        </p:tav>
                                        <p:tav tm="100000">
                                          <p:val>
                                            <p:strVal val="#ppt_x"/>
                                          </p:val>
                                        </p:tav>
                                      </p:tavLst>
                                    </p:anim>
                                    <p:anim calcmode="lin" valueType="num">
                                      <p:cBhvr additive="base">
                                        <p:cTn id="38" dur="500" fill="hold"/>
                                        <p:tgtEl>
                                          <p:spTgt spid="35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49"/>
                                        </p:tgtEl>
                                        <p:attrNameLst>
                                          <p:attrName>style.visibility</p:attrName>
                                        </p:attrNameLst>
                                      </p:cBhvr>
                                      <p:to>
                                        <p:strVal val="visible"/>
                                      </p:to>
                                    </p:set>
                                    <p:anim calcmode="lin" valueType="num">
                                      <p:cBhvr additive="base">
                                        <p:cTn id="43" dur="500" fill="hold"/>
                                        <p:tgtEl>
                                          <p:spTgt spid="349"/>
                                        </p:tgtEl>
                                        <p:attrNameLst>
                                          <p:attrName>ppt_x</p:attrName>
                                        </p:attrNameLst>
                                      </p:cBhvr>
                                      <p:tavLst>
                                        <p:tav tm="0">
                                          <p:val>
                                            <p:strVal val="0-#ppt_w/2"/>
                                          </p:val>
                                        </p:tav>
                                        <p:tav tm="100000">
                                          <p:val>
                                            <p:strVal val="#ppt_x"/>
                                          </p:val>
                                        </p:tav>
                                      </p:tavLst>
                                    </p:anim>
                                    <p:anim calcmode="lin" valueType="num">
                                      <p:cBhvr additive="base">
                                        <p:cTn id="44" dur="500" fill="hold"/>
                                        <p:tgtEl>
                                          <p:spTgt spid="3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 grpId="0" animBg="1" autoUpdateAnimBg="0"/>
      <p:bldP spid="389"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11</a:t>
            </a:r>
            <a:r>
              <a:rPr lang="zh-CN" altLang="en-US" sz="2000" b="1">
                <a:latin typeface="Times New Roman" pitchFamily="18" charset="0"/>
                <a:cs typeface="Times New Roman" pitchFamily="18" charset="0"/>
              </a:rPr>
              <a:t>：图示结构</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AB</a:t>
            </a:r>
            <a:r>
              <a:rPr lang="zh-CN" altLang="en-US" sz="2000" b="1">
                <a:latin typeface="Times New Roman" pitchFamily="18" charset="0"/>
                <a:cs typeface="Times New Roman" pitchFamily="18" charset="0"/>
              </a:rPr>
              <a:t>两点</a:t>
            </a:r>
            <a:r>
              <a:rPr lang="en-US" altLang="zh-CN" sz="2000" b="1">
                <a:latin typeface="Times New Roman" pitchFamily="18" charset="0"/>
                <a:cs typeface="Times New Roman" pitchFamily="18" charset="0"/>
              </a:rPr>
              <a:t>⑴</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⑵</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 ⑶</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相对转角</a:t>
            </a:r>
            <a:r>
              <a:rPr lang="el-GR" altLang="zh-CN" sz="2000" b="1" i="1">
                <a:latin typeface="Times New Roman"/>
                <a:cs typeface="Times New Roman"/>
              </a:rPr>
              <a:t>φ</a:t>
            </a:r>
            <a:r>
              <a:rPr lang="en-US" altLang="zh-CN" sz="2000" b="1" i="1" baseline="-25000">
                <a:latin typeface="Times New Roman" pitchFamily="18" charset="0"/>
                <a:cs typeface="Times New Roman" pitchFamily="18" charset="0"/>
              </a:rPr>
              <a:t>AB</a:t>
            </a:r>
            <a:r>
              <a:rPr lang="zh-CN" altLang="en-US" sz="2000" b="1">
                <a:latin typeface="Times New Roman" pitchFamily="18" charset="0"/>
                <a:cs typeface="Times New Roman" pitchFamily="18" charset="0"/>
              </a:rPr>
              <a:t> 。</a:t>
            </a:r>
            <a:endParaRPr lang="en-US" altLang="zh-CN" sz="2000" b="1" i="1" baseline="-25000">
              <a:latin typeface="Times New Roman" pitchFamily="18" charset="0"/>
              <a:cs typeface="Times New Roman" pitchFamily="18" charset="0"/>
            </a:endParaRPr>
          </a:p>
        </p:txBody>
      </p:sp>
      <p:grpSp>
        <p:nvGrpSpPr>
          <p:cNvPr id="4" name="Group 2"/>
          <p:cNvGrpSpPr>
            <a:grpSpLocks/>
          </p:cNvGrpSpPr>
          <p:nvPr/>
        </p:nvGrpSpPr>
        <p:grpSpPr bwMode="auto">
          <a:xfrm>
            <a:off x="571499" y="2432043"/>
            <a:ext cx="2566988" cy="2192338"/>
            <a:chOff x="207" y="914"/>
            <a:chExt cx="1617" cy="1381"/>
          </a:xfrm>
        </p:grpSpPr>
        <p:graphicFrame>
          <p:nvGraphicFramePr>
            <p:cNvPr id="309" name="Object 3"/>
            <p:cNvGraphicFramePr>
              <a:graphicFrameLocks noChangeAspect="1"/>
            </p:cNvGraphicFramePr>
            <p:nvPr/>
          </p:nvGraphicFramePr>
          <p:xfrm>
            <a:off x="1008" y="1296"/>
            <a:ext cx="194" cy="212"/>
          </p:xfrm>
          <a:graphic>
            <a:graphicData uri="http://schemas.openxmlformats.org/presentationml/2006/ole">
              <mc:AlternateContent xmlns:mc="http://schemas.openxmlformats.org/markup-compatibility/2006">
                <mc:Choice xmlns:v="urn:schemas-microsoft-com:vml" Requires="v">
                  <p:oleObj spid="_x0000_s531471" name="公式" r:id="rId4" imgW="152280" imgH="164880" progId="Equation.3">
                    <p:embed/>
                  </p:oleObj>
                </mc:Choice>
                <mc:Fallback>
                  <p:oleObj name="公式" r:id="rId4" imgW="152280" imgH="164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1296"/>
                          <a:ext cx="19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 name="Line 4"/>
            <p:cNvSpPr>
              <a:spLocks noChangeShapeType="1"/>
            </p:cNvSpPr>
            <p:nvPr/>
          </p:nvSpPr>
          <p:spPr bwMode="auto">
            <a:xfrm flipV="1">
              <a:off x="576"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5"/>
            <p:cNvSpPr>
              <a:spLocks noChangeShapeType="1"/>
            </p:cNvSpPr>
            <p:nvPr/>
          </p:nvSpPr>
          <p:spPr bwMode="auto">
            <a:xfrm>
              <a:off x="576"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6"/>
            <p:cNvSpPr>
              <a:spLocks noChangeShapeType="1"/>
            </p:cNvSpPr>
            <p:nvPr/>
          </p:nvSpPr>
          <p:spPr bwMode="auto">
            <a:xfrm>
              <a:off x="1824"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Rectangle 7"/>
            <p:cNvSpPr>
              <a:spLocks noChangeArrowheads="1"/>
            </p:cNvSpPr>
            <p:nvPr/>
          </p:nvSpPr>
          <p:spPr bwMode="auto">
            <a:xfrm>
              <a:off x="816"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27" name="Rectangle 8"/>
            <p:cNvSpPr>
              <a:spLocks noChangeArrowheads="1"/>
            </p:cNvSpPr>
            <p:nvPr/>
          </p:nvSpPr>
          <p:spPr bwMode="auto">
            <a:xfrm>
              <a:off x="1269" y="914"/>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28" name="Line 9"/>
            <p:cNvSpPr>
              <a:spLocks noChangeShapeType="1"/>
            </p:cNvSpPr>
            <p:nvPr/>
          </p:nvSpPr>
          <p:spPr bwMode="auto">
            <a:xfrm>
              <a:off x="576" y="2199"/>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31" name="Object 10"/>
            <p:cNvGraphicFramePr>
              <a:graphicFrameLocks noChangeAspect="1"/>
            </p:cNvGraphicFramePr>
            <p:nvPr/>
          </p:nvGraphicFramePr>
          <p:xfrm>
            <a:off x="1200" y="1296"/>
            <a:ext cx="195" cy="211"/>
          </p:xfrm>
          <a:graphic>
            <a:graphicData uri="http://schemas.openxmlformats.org/presentationml/2006/ole">
              <mc:AlternateContent xmlns:mc="http://schemas.openxmlformats.org/markup-compatibility/2006">
                <mc:Choice xmlns:v="urn:schemas-microsoft-com:vml" Requires="v">
                  <p:oleObj spid="_x0000_s531472" name="公式" r:id="rId6" imgW="152280" imgH="164880" progId="Equation.3">
                    <p:embed/>
                  </p:oleObj>
                </mc:Choice>
                <mc:Fallback>
                  <p:oleObj name="公式" r:id="rId6" imgW="152280" imgH="16488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 y="1296"/>
                          <a:ext cx="195"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4" name="Line 11"/>
            <p:cNvSpPr>
              <a:spLocks noChangeShapeType="1"/>
            </p:cNvSpPr>
            <p:nvPr/>
          </p:nvSpPr>
          <p:spPr bwMode="auto">
            <a:xfrm>
              <a:off x="1248" y="2151"/>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Rectangle 12"/>
            <p:cNvSpPr>
              <a:spLocks noChangeArrowheads="1"/>
            </p:cNvSpPr>
            <p:nvPr/>
          </p:nvSpPr>
          <p:spPr bwMode="auto">
            <a:xfrm>
              <a:off x="1392"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36" name="Line 13"/>
            <p:cNvSpPr>
              <a:spLocks noChangeShapeType="1"/>
            </p:cNvSpPr>
            <p:nvPr/>
          </p:nvSpPr>
          <p:spPr bwMode="auto">
            <a:xfrm>
              <a:off x="1248"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14"/>
            <p:cNvSpPr>
              <a:spLocks noChangeShapeType="1"/>
            </p:cNvSpPr>
            <p:nvPr/>
          </p:nvSpPr>
          <p:spPr bwMode="auto">
            <a:xfrm>
              <a:off x="576" y="1824"/>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Line 15"/>
            <p:cNvSpPr>
              <a:spLocks noChangeShapeType="1"/>
            </p:cNvSpPr>
            <p:nvPr/>
          </p:nvSpPr>
          <p:spPr bwMode="auto">
            <a:xfrm>
              <a:off x="1248" y="1296"/>
              <a:ext cx="576" cy="9"/>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16"/>
            <p:cNvSpPr>
              <a:spLocks noChangeShapeType="1"/>
            </p:cNvSpPr>
            <p:nvPr/>
          </p:nvSpPr>
          <p:spPr bwMode="auto">
            <a:xfrm flipV="1">
              <a:off x="1152"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17"/>
            <p:cNvSpPr>
              <a:spLocks noChangeShapeType="1"/>
            </p:cNvSpPr>
            <p:nvPr/>
          </p:nvSpPr>
          <p:spPr bwMode="auto">
            <a:xfrm flipH="1" flipV="1">
              <a:off x="1824"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Line 18"/>
            <p:cNvSpPr>
              <a:spLocks noChangeShapeType="1"/>
            </p:cNvSpPr>
            <p:nvPr/>
          </p:nvSpPr>
          <p:spPr bwMode="auto">
            <a:xfrm>
              <a:off x="576" y="1296"/>
              <a:ext cx="5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2" name="Rectangle 19"/>
            <p:cNvSpPr>
              <a:spLocks noChangeArrowheads="1"/>
            </p:cNvSpPr>
            <p:nvPr/>
          </p:nvSpPr>
          <p:spPr bwMode="auto">
            <a:xfrm>
              <a:off x="897" y="920"/>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43" name="Line 20"/>
            <p:cNvSpPr>
              <a:spLocks noChangeShapeType="1"/>
            </p:cNvSpPr>
            <p:nvPr/>
          </p:nvSpPr>
          <p:spPr bwMode="auto">
            <a:xfrm>
              <a:off x="384" y="1290"/>
              <a:ext cx="0" cy="52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4" name="Line 21"/>
            <p:cNvSpPr>
              <a:spLocks noChangeShapeType="1"/>
            </p:cNvSpPr>
            <p:nvPr/>
          </p:nvSpPr>
          <p:spPr bwMode="auto">
            <a:xfrm>
              <a:off x="336" y="128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5" name="Line 22"/>
            <p:cNvSpPr>
              <a:spLocks noChangeShapeType="1"/>
            </p:cNvSpPr>
            <p:nvPr/>
          </p:nvSpPr>
          <p:spPr bwMode="auto">
            <a:xfrm>
              <a:off x="336" y="182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7" name="Rectangle 23"/>
            <p:cNvSpPr>
              <a:spLocks noChangeArrowheads="1"/>
            </p:cNvSpPr>
            <p:nvPr/>
          </p:nvSpPr>
          <p:spPr bwMode="auto">
            <a:xfrm>
              <a:off x="207" y="1407"/>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pSp>
      <p:graphicFrame>
        <p:nvGraphicFramePr>
          <p:cNvPr id="349" name="Object 24"/>
          <p:cNvGraphicFramePr>
            <a:graphicFrameLocks noChangeAspect="1"/>
          </p:cNvGraphicFramePr>
          <p:nvPr/>
        </p:nvGraphicFramePr>
        <p:xfrm>
          <a:off x="4714897" y="2928934"/>
          <a:ext cx="3000375" cy="693738"/>
        </p:xfrm>
        <a:graphic>
          <a:graphicData uri="http://schemas.openxmlformats.org/presentationml/2006/ole">
            <mc:AlternateContent xmlns:mc="http://schemas.openxmlformats.org/markup-compatibility/2006">
              <mc:Choice xmlns:v="urn:schemas-microsoft-com:vml" Requires="v">
                <p:oleObj spid="_x0000_s531473" name="Equation" r:id="rId8" imgW="1815840" imgH="419040" progId="Equation.DSMT4">
                  <p:embed/>
                </p:oleObj>
              </mc:Choice>
              <mc:Fallback>
                <p:oleObj name="Equation" r:id="rId8" imgW="1815840" imgH="41904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4897" y="2928934"/>
                        <a:ext cx="3000375" cy="693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4" name="Oval 29"/>
          <p:cNvSpPr>
            <a:spLocks noChangeArrowheads="1"/>
          </p:cNvSpPr>
          <p:nvPr/>
        </p:nvSpPr>
        <p:spPr bwMode="auto">
          <a:xfrm>
            <a:off x="3367086" y="334326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7" name="Group 41"/>
          <p:cNvGrpSpPr>
            <a:grpSpLocks/>
          </p:cNvGrpSpPr>
          <p:nvPr/>
        </p:nvGrpSpPr>
        <p:grpSpPr bwMode="auto">
          <a:xfrm>
            <a:off x="750889" y="2593968"/>
            <a:ext cx="2387601" cy="1587500"/>
            <a:chOff x="3513" y="2840"/>
            <a:chExt cx="1504" cy="1000"/>
          </a:xfrm>
        </p:grpSpPr>
        <p:sp>
          <p:nvSpPr>
            <p:cNvPr id="366" name="Line 42"/>
            <p:cNvSpPr>
              <a:spLocks noChangeShapeType="1"/>
            </p:cNvSpPr>
            <p:nvPr/>
          </p:nvSpPr>
          <p:spPr bwMode="auto">
            <a:xfrm flipH="1" flipV="1">
              <a:off x="3577" y="3120"/>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43"/>
            <p:cNvSpPr>
              <a:spLocks noChangeShapeType="1"/>
            </p:cNvSpPr>
            <p:nvPr/>
          </p:nvSpPr>
          <p:spPr bwMode="auto">
            <a:xfrm>
              <a:off x="3769" y="2928"/>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44"/>
            <p:cNvSpPr>
              <a:spLocks noChangeShapeType="1"/>
            </p:cNvSpPr>
            <p:nvPr/>
          </p:nvSpPr>
          <p:spPr bwMode="auto">
            <a:xfrm flipV="1">
              <a:off x="3769" y="292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45"/>
            <p:cNvSpPr>
              <a:spLocks noChangeShapeType="1"/>
            </p:cNvSpPr>
            <p:nvPr/>
          </p:nvSpPr>
          <p:spPr bwMode="auto">
            <a:xfrm flipH="1" flipV="1">
              <a:off x="4825" y="3146"/>
              <a:ext cx="0" cy="4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71" name="Object 46"/>
            <p:cNvGraphicFramePr>
              <a:graphicFrameLocks noChangeAspect="1"/>
            </p:cNvGraphicFramePr>
            <p:nvPr/>
          </p:nvGraphicFramePr>
          <p:xfrm>
            <a:off x="3513" y="2840"/>
            <a:ext cx="236" cy="207"/>
          </p:xfrm>
          <a:graphic>
            <a:graphicData uri="http://schemas.openxmlformats.org/presentationml/2006/ole">
              <mc:AlternateContent xmlns:mc="http://schemas.openxmlformats.org/markup-compatibility/2006">
                <mc:Choice xmlns:v="urn:schemas-microsoft-com:vml" Requires="v">
                  <p:oleObj spid="_x0000_s531474" name="公式" r:id="rId10" imgW="203040" imgH="177480" progId="Equation.3">
                    <p:embed/>
                  </p:oleObj>
                </mc:Choice>
                <mc:Fallback>
                  <p:oleObj name="公式" r:id="rId10" imgW="203040" imgH="177480" progId="Equation.3">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3" y="2840"/>
                          <a:ext cx="236"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 name="Line 47"/>
            <p:cNvSpPr>
              <a:spLocks noChangeShapeType="1"/>
            </p:cNvSpPr>
            <p:nvPr/>
          </p:nvSpPr>
          <p:spPr bwMode="auto">
            <a:xfrm>
              <a:off x="3577" y="3120"/>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48"/>
            <p:cNvSpPr>
              <a:spLocks noChangeShapeType="1"/>
            </p:cNvSpPr>
            <p:nvPr/>
          </p:nvSpPr>
          <p:spPr bwMode="auto">
            <a:xfrm flipV="1">
              <a:off x="3769" y="364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49"/>
            <p:cNvSpPr>
              <a:spLocks noChangeShapeType="1"/>
            </p:cNvSpPr>
            <p:nvPr/>
          </p:nvSpPr>
          <p:spPr bwMode="auto">
            <a:xfrm flipH="1">
              <a:off x="3577" y="3648"/>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50"/>
            <p:cNvSpPr>
              <a:spLocks noChangeShapeType="1"/>
            </p:cNvSpPr>
            <p:nvPr/>
          </p:nvSpPr>
          <p:spPr bwMode="auto">
            <a:xfrm flipV="1">
              <a:off x="3769" y="3456"/>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89" name="Text Box 3"/>
          <p:cNvSpPr txBox="1">
            <a:spLocks noChangeArrowheads="1"/>
          </p:cNvSpPr>
          <p:nvPr/>
        </p:nvSpPr>
        <p:spPr bwMode="auto">
          <a:xfrm>
            <a:off x="3981496" y="2500306"/>
            <a:ext cx="4519594"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grpSp>
        <p:nvGrpSpPr>
          <p:cNvPr id="86" name="Group 61"/>
          <p:cNvGrpSpPr>
            <a:grpSpLocks/>
          </p:cNvGrpSpPr>
          <p:nvPr/>
        </p:nvGrpSpPr>
        <p:grpSpPr bwMode="auto">
          <a:xfrm>
            <a:off x="865183" y="4679957"/>
            <a:ext cx="2992438" cy="1673225"/>
            <a:chOff x="419" y="3158"/>
            <a:chExt cx="1885" cy="1054"/>
          </a:xfrm>
        </p:grpSpPr>
        <p:sp>
          <p:nvSpPr>
            <p:cNvPr id="87" name="Line 62"/>
            <p:cNvSpPr>
              <a:spLocks noChangeShapeType="1"/>
            </p:cNvSpPr>
            <p:nvPr/>
          </p:nvSpPr>
          <p:spPr bwMode="auto">
            <a:xfrm flipV="1">
              <a:off x="576" y="345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88" name="Rectangle 63"/>
            <p:cNvSpPr>
              <a:spLocks noChangeArrowheads="1"/>
            </p:cNvSpPr>
            <p:nvPr/>
          </p:nvSpPr>
          <p:spPr bwMode="auto">
            <a:xfrm>
              <a:off x="1296" y="3159"/>
              <a:ext cx="196"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89" name="Line 64"/>
            <p:cNvSpPr>
              <a:spLocks noChangeShapeType="1"/>
            </p:cNvSpPr>
            <p:nvPr/>
          </p:nvSpPr>
          <p:spPr bwMode="auto">
            <a:xfrm>
              <a:off x="1248" y="3408"/>
              <a:ext cx="240" cy="0"/>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0" name="Line 65"/>
            <p:cNvSpPr>
              <a:spLocks noChangeShapeType="1"/>
            </p:cNvSpPr>
            <p:nvPr/>
          </p:nvSpPr>
          <p:spPr bwMode="auto">
            <a:xfrm>
              <a:off x="576" y="3984"/>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1" name="Line 66"/>
            <p:cNvSpPr>
              <a:spLocks noChangeShapeType="1"/>
            </p:cNvSpPr>
            <p:nvPr/>
          </p:nvSpPr>
          <p:spPr bwMode="auto">
            <a:xfrm>
              <a:off x="1248" y="3456"/>
              <a:ext cx="576" cy="9"/>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2" name="Line 67"/>
            <p:cNvSpPr>
              <a:spLocks noChangeShapeType="1"/>
            </p:cNvSpPr>
            <p:nvPr/>
          </p:nvSpPr>
          <p:spPr bwMode="auto">
            <a:xfrm flipH="1" flipV="1">
              <a:off x="912" y="3408"/>
              <a:ext cx="240" cy="0"/>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3" name="Line 68"/>
            <p:cNvSpPr>
              <a:spLocks noChangeShapeType="1"/>
            </p:cNvSpPr>
            <p:nvPr/>
          </p:nvSpPr>
          <p:spPr bwMode="auto">
            <a:xfrm flipH="1" flipV="1">
              <a:off x="1824" y="345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4" name="Line 69"/>
            <p:cNvSpPr>
              <a:spLocks noChangeShapeType="1"/>
            </p:cNvSpPr>
            <p:nvPr/>
          </p:nvSpPr>
          <p:spPr bwMode="auto">
            <a:xfrm>
              <a:off x="576" y="3456"/>
              <a:ext cx="5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5" name="Rectangle 70"/>
            <p:cNvSpPr>
              <a:spLocks noChangeArrowheads="1"/>
            </p:cNvSpPr>
            <p:nvPr/>
          </p:nvSpPr>
          <p:spPr bwMode="auto">
            <a:xfrm>
              <a:off x="1008" y="3158"/>
              <a:ext cx="196"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96" name="Line 71"/>
            <p:cNvSpPr>
              <a:spLocks noChangeShapeType="1"/>
            </p:cNvSpPr>
            <p:nvPr/>
          </p:nvSpPr>
          <p:spPr bwMode="auto">
            <a:xfrm flipH="1">
              <a:off x="419" y="3456"/>
              <a:ext cx="144"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7" name="Line 72"/>
            <p:cNvSpPr>
              <a:spLocks noChangeShapeType="1"/>
            </p:cNvSpPr>
            <p:nvPr/>
          </p:nvSpPr>
          <p:spPr bwMode="auto">
            <a:xfrm>
              <a:off x="419" y="3984"/>
              <a:ext cx="144"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8" name="Line 73"/>
            <p:cNvSpPr>
              <a:spLocks noChangeShapeType="1"/>
            </p:cNvSpPr>
            <p:nvPr/>
          </p:nvSpPr>
          <p:spPr bwMode="auto">
            <a:xfrm>
              <a:off x="576" y="4005"/>
              <a:ext cx="0"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99" name="Line 74"/>
            <p:cNvSpPr>
              <a:spLocks noChangeShapeType="1"/>
            </p:cNvSpPr>
            <p:nvPr/>
          </p:nvSpPr>
          <p:spPr bwMode="auto">
            <a:xfrm>
              <a:off x="576" y="4149"/>
              <a:ext cx="124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0" name="Line 75"/>
            <p:cNvSpPr>
              <a:spLocks noChangeShapeType="1"/>
            </p:cNvSpPr>
            <p:nvPr/>
          </p:nvSpPr>
          <p:spPr bwMode="auto">
            <a:xfrm flipV="1">
              <a:off x="1824" y="4005"/>
              <a:ext cx="0" cy="14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1" name="Line 76"/>
            <p:cNvSpPr>
              <a:spLocks noChangeShapeType="1"/>
            </p:cNvSpPr>
            <p:nvPr/>
          </p:nvSpPr>
          <p:spPr bwMode="auto">
            <a:xfrm>
              <a:off x="1837" y="3984"/>
              <a:ext cx="144"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2" name="Line 77"/>
            <p:cNvSpPr>
              <a:spLocks noChangeShapeType="1"/>
            </p:cNvSpPr>
            <p:nvPr/>
          </p:nvSpPr>
          <p:spPr bwMode="auto">
            <a:xfrm flipH="1" flipV="1">
              <a:off x="1837" y="3456"/>
              <a:ext cx="144"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03" name="Object 78"/>
            <p:cNvGraphicFramePr>
              <a:graphicFrameLocks noChangeAspect="1"/>
            </p:cNvGraphicFramePr>
            <p:nvPr/>
          </p:nvGraphicFramePr>
          <p:xfrm>
            <a:off x="1850" y="4004"/>
            <a:ext cx="102" cy="208"/>
          </p:xfrm>
          <a:graphic>
            <a:graphicData uri="http://schemas.openxmlformats.org/presentationml/2006/ole">
              <mc:AlternateContent xmlns:mc="http://schemas.openxmlformats.org/markup-compatibility/2006">
                <mc:Choice xmlns:v="urn:schemas-microsoft-com:vml" Requires="v">
                  <p:oleObj spid="_x0000_s531475" name="公式" r:id="rId12" imgW="88560" imgH="177480" progId="Equation.3">
                    <p:embed/>
                  </p:oleObj>
                </mc:Choice>
                <mc:Fallback>
                  <p:oleObj name="公式" r:id="rId12" imgW="88560" imgH="177480" progId="Equation.3">
                    <p:embed/>
                    <p:pic>
                      <p:nvPicPr>
                        <p:cNvPr id="0" name="Object 7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 y="4004"/>
                          <a:ext cx="102"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 name="Object 79"/>
            <p:cNvGraphicFramePr>
              <a:graphicFrameLocks noChangeAspect="1"/>
            </p:cNvGraphicFramePr>
            <p:nvPr/>
          </p:nvGraphicFramePr>
          <p:xfrm>
            <a:off x="432" y="4004"/>
            <a:ext cx="102" cy="208"/>
          </p:xfrm>
          <a:graphic>
            <a:graphicData uri="http://schemas.openxmlformats.org/presentationml/2006/ole">
              <mc:AlternateContent xmlns:mc="http://schemas.openxmlformats.org/markup-compatibility/2006">
                <mc:Choice xmlns:v="urn:schemas-microsoft-com:vml" Requires="v">
                  <p:oleObj spid="_x0000_s531476" name="公式" r:id="rId14" imgW="88560" imgH="177480" progId="Equation.3">
                    <p:embed/>
                  </p:oleObj>
                </mc:Choice>
                <mc:Fallback>
                  <p:oleObj name="公式" r:id="rId14" imgW="88560" imgH="177480" progId="Equation.3">
                    <p:embed/>
                    <p:pic>
                      <p:nvPicPr>
                        <p:cNvPr id="0" name="Object 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2" y="4004"/>
                          <a:ext cx="102"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5" name="Group 80"/>
            <p:cNvGrpSpPr>
              <a:grpSpLocks/>
            </p:cNvGrpSpPr>
            <p:nvPr/>
          </p:nvGrpSpPr>
          <p:grpSpPr bwMode="auto">
            <a:xfrm>
              <a:off x="2016" y="3600"/>
              <a:ext cx="288" cy="288"/>
              <a:chOff x="4800" y="1728"/>
              <a:chExt cx="288" cy="288"/>
            </a:xfrm>
          </p:grpSpPr>
          <p:graphicFrame>
            <p:nvGraphicFramePr>
              <p:cNvPr id="106" name="Object 81"/>
              <p:cNvGraphicFramePr>
                <a:graphicFrameLocks noChangeAspect="1"/>
              </p:cNvGraphicFramePr>
              <p:nvPr/>
            </p:nvGraphicFramePr>
            <p:xfrm>
              <a:off x="4800" y="1728"/>
              <a:ext cx="275" cy="288"/>
            </p:xfrm>
            <a:graphic>
              <a:graphicData uri="http://schemas.openxmlformats.org/presentationml/2006/ole">
                <mc:AlternateContent xmlns:mc="http://schemas.openxmlformats.org/markup-compatibility/2006">
                  <mc:Choice xmlns:v="urn:schemas-microsoft-com:vml" Requires="v">
                    <p:oleObj spid="_x0000_s531477" name="公式" r:id="rId16" imgW="228600" imgH="241200" progId="Equation.3">
                      <p:embed/>
                    </p:oleObj>
                  </mc:Choice>
                  <mc:Fallback>
                    <p:oleObj name="公式" r:id="rId16" imgW="228600" imgH="241200" progId="Equation.3">
                      <p:embed/>
                      <p:pic>
                        <p:nvPicPr>
                          <p:cNvPr id="0" name="Object 8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00" y="1728"/>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 name="Oval 82"/>
              <p:cNvSpPr>
                <a:spLocks noChangeArrowheads="1"/>
              </p:cNvSpPr>
              <p:nvPr/>
            </p:nvSpPr>
            <p:spPr bwMode="auto">
              <a:xfrm>
                <a:off x="4800" y="1728"/>
                <a:ext cx="288" cy="288"/>
              </a:xfrm>
              <a:prstGeom prst="ellipse">
                <a:avLst/>
              </a:prstGeom>
              <a:noFill/>
              <a:ln w="28575">
                <a:solidFill>
                  <a:schemeClr val="tx1"/>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grpSp>
      <p:sp>
        <p:nvSpPr>
          <p:cNvPr id="109" name="AutoShape 86"/>
          <p:cNvSpPr>
            <a:spLocks noChangeArrowheads="1"/>
          </p:cNvSpPr>
          <p:nvPr/>
        </p:nvSpPr>
        <p:spPr bwMode="auto">
          <a:xfrm>
            <a:off x="2857488" y="4143380"/>
            <a:ext cx="1752600" cy="533400"/>
          </a:xfrm>
          <a:prstGeom prst="wedgeRoundRectCallout">
            <a:avLst>
              <a:gd name="adj1" fmla="val -50273"/>
              <a:gd name="adj2" fmla="val -94347"/>
              <a:gd name="adj3" fmla="val 16667"/>
            </a:avLst>
          </a:prstGeom>
          <a:solidFill>
            <a:schemeClr val="bg1"/>
          </a:solidFill>
          <a:ln w="28575">
            <a:solidFill>
              <a:srgbClr val="0033CC"/>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反对称弯矩图</a:t>
            </a:r>
          </a:p>
        </p:txBody>
      </p:sp>
      <p:sp>
        <p:nvSpPr>
          <p:cNvPr id="110" name="AutoShape 85"/>
          <p:cNvSpPr>
            <a:spLocks noChangeArrowheads="1"/>
          </p:cNvSpPr>
          <p:nvPr/>
        </p:nvSpPr>
        <p:spPr bwMode="auto">
          <a:xfrm>
            <a:off x="3000364" y="4786322"/>
            <a:ext cx="1600200" cy="533400"/>
          </a:xfrm>
          <a:prstGeom prst="wedgeRoundRectCallout">
            <a:avLst>
              <a:gd name="adj1" fmla="val -37434"/>
              <a:gd name="adj2" fmla="val 71276"/>
              <a:gd name="adj3" fmla="val 16667"/>
            </a:avLst>
          </a:prstGeom>
          <a:solidFill>
            <a:schemeClr val="bg1"/>
          </a:solidFill>
          <a:ln w="28575">
            <a:solidFill>
              <a:srgbClr val="0033CC"/>
            </a:solidFill>
            <a:miter lim="800000"/>
            <a:headEnd/>
            <a:tailEnd/>
          </a:ln>
        </p:spPr>
        <p:txBody>
          <a:bodyPr wrap="none" anchor="ctr"/>
          <a:lstStyle/>
          <a:p>
            <a:pPr algn="ctr">
              <a:spcBef>
                <a:spcPct val="0"/>
              </a:spcBef>
            </a:pPr>
            <a:r>
              <a:rPr lang="zh-CN" altLang="en-US" sz="2000" b="1">
                <a:solidFill>
                  <a:srgbClr val="0033CC"/>
                </a:solidFill>
                <a:ea typeface="宋体" charset="-122"/>
              </a:rPr>
              <a:t>对称弯矩图</a:t>
            </a:r>
            <a:endParaRPr lang="zh-CN" altLang="en-US" b="1">
              <a:solidFill>
                <a:srgbClr val="0033CC"/>
              </a:solidFill>
              <a:ea typeface="宋体" charset="-122"/>
            </a:endParaRPr>
          </a:p>
        </p:txBody>
      </p:sp>
      <p:graphicFrame>
        <p:nvGraphicFramePr>
          <p:cNvPr id="446547" name="Object 83"/>
          <p:cNvGraphicFramePr>
            <a:graphicFrameLocks noChangeAspect="1"/>
          </p:cNvGraphicFramePr>
          <p:nvPr/>
        </p:nvGraphicFramePr>
        <p:xfrm>
          <a:off x="4643438" y="3643314"/>
          <a:ext cx="1885950" cy="647700"/>
        </p:xfrm>
        <a:graphic>
          <a:graphicData uri="http://schemas.openxmlformats.org/presentationml/2006/ole">
            <mc:AlternateContent xmlns:mc="http://schemas.openxmlformats.org/markup-compatibility/2006">
              <mc:Choice xmlns:v="urn:schemas-microsoft-com:vml" Requires="v">
                <p:oleObj spid="_x0000_s531478" name="Equation" r:id="rId18" imgW="1143000" imgH="393480" progId="Equation.DSMT4">
                  <p:embed/>
                </p:oleObj>
              </mc:Choice>
              <mc:Fallback>
                <p:oleObj name="Equation" r:id="rId18" imgW="1143000" imgH="393480" progId="Equation.DSMT4">
                  <p:embed/>
                  <p:pic>
                    <p:nvPicPr>
                      <p:cNvPr id="0" name="Object 8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3438" y="3643314"/>
                        <a:ext cx="188595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 name="TextBox 111"/>
          <p:cNvSpPr txBox="1"/>
          <p:nvPr/>
        </p:nvSpPr>
        <p:spPr>
          <a:xfrm>
            <a:off x="4643438" y="5143512"/>
            <a:ext cx="3262432" cy="1169551"/>
          </a:xfrm>
          <a:prstGeom prst="rect">
            <a:avLst/>
          </a:prstGeom>
          <a:solidFill>
            <a:schemeClr val="bg1"/>
          </a:solidFill>
          <a:ln w="28575">
            <a:solidFill>
              <a:srgbClr val="C00000"/>
            </a:solidFill>
          </a:ln>
        </p:spPr>
        <p:txBody>
          <a:bodyPr wrap="none" rtlCol="0">
            <a:spAutoFit/>
          </a:bodyPr>
          <a:lstStyle/>
          <a:p>
            <a:pPr algn="ctr"/>
            <a:r>
              <a:rPr lang="zh-CN" altLang="en-US" sz="2000" b="1">
                <a:solidFill>
                  <a:srgbClr val="C00000"/>
                </a:solidFill>
              </a:rPr>
              <a:t>对称结构</a:t>
            </a:r>
            <a:endParaRPr lang="en-US" altLang="zh-CN" sz="2000" b="1">
              <a:solidFill>
                <a:srgbClr val="C00000"/>
              </a:solidFill>
            </a:endParaRPr>
          </a:p>
          <a:p>
            <a:pPr algn="ctr">
              <a:spcBef>
                <a:spcPts val="600"/>
              </a:spcBef>
            </a:pPr>
            <a:r>
              <a:rPr lang="zh-CN" altLang="en-US" sz="2000" b="1"/>
              <a:t>荷载对称，变形对称；</a:t>
            </a:r>
            <a:endParaRPr lang="en-US" altLang="zh-CN" sz="2000" b="1"/>
          </a:p>
          <a:p>
            <a:pPr algn="ctr">
              <a:spcBef>
                <a:spcPts val="600"/>
              </a:spcBef>
            </a:pPr>
            <a:r>
              <a:rPr lang="zh-CN" altLang="en-US" sz="2000" b="1"/>
              <a:t>荷载反对称，变形反对称。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additive="base">
                                        <p:cTn id="7" dur="500" fill="hold"/>
                                        <p:tgtEl>
                                          <p:spTgt spid="86"/>
                                        </p:tgtEl>
                                        <p:attrNameLst>
                                          <p:attrName>ppt_x</p:attrName>
                                        </p:attrNameLst>
                                      </p:cBhvr>
                                      <p:tavLst>
                                        <p:tav tm="0">
                                          <p:val>
                                            <p:strVal val="0-#ppt_w/2"/>
                                          </p:val>
                                        </p:tav>
                                        <p:tav tm="100000">
                                          <p:val>
                                            <p:strVal val="#ppt_x"/>
                                          </p:val>
                                        </p:tav>
                                      </p:tavLst>
                                    </p:anim>
                                    <p:anim calcmode="lin" valueType="num">
                                      <p:cBhvr additive="base">
                                        <p:cTn id="8"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
                                        </p:tgtEl>
                                        <p:attrNameLst>
                                          <p:attrName>style.visibility</p:attrName>
                                        </p:attrNameLst>
                                      </p:cBhvr>
                                      <p:to>
                                        <p:strVal val="visible"/>
                                      </p:to>
                                    </p:set>
                                    <p:anim calcmode="lin" valueType="num">
                                      <p:cBhvr additive="base">
                                        <p:cTn id="13" dur="500" fill="hold"/>
                                        <p:tgtEl>
                                          <p:spTgt spid="109"/>
                                        </p:tgtEl>
                                        <p:attrNameLst>
                                          <p:attrName>ppt_x</p:attrName>
                                        </p:attrNameLst>
                                      </p:cBhvr>
                                      <p:tavLst>
                                        <p:tav tm="0">
                                          <p:val>
                                            <p:strVal val="0-#ppt_w/2"/>
                                          </p:val>
                                        </p:tav>
                                        <p:tav tm="100000">
                                          <p:val>
                                            <p:strVal val="#ppt_x"/>
                                          </p:val>
                                        </p:tav>
                                      </p:tavLst>
                                    </p:anim>
                                    <p:anim calcmode="lin" valueType="num">
                                      <p:cBhvr additive="base">
                                        <p:cTn id="14" dur="500" fill="hold"/>
                                        <p:tgtEl>
                                          <p:spTgt spid="10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0"/>
                                        </p:tgtEl>
                                        <p:attrNameLst>
                                          <p:attrName>style.visibility</p:attrName>
                                        </p:attrNameLst>
                                      </p:cBhvr>
                                      <p:to>
                                        <p:strVal val="visible"/>
                                      </p:to>
                                    </p:set>
                                    <p:anim calcmode="lin" valueType="num">
                                      <p:cBhvr additive="base">
                                        <p:cTn id="19" dur="500" fill="hold"/>
                                        <p:tgtEl>
                                          <p:spTgt spid="110"/>
                                        </p:tgtEl>
                                        <p:attrNameLst>
                                          <p:attrName>ppt_x</p:attrName>
                                        </p:attrNameLst>
                                      </p:cBhvr>
                                      <p:tavLst>
                                        <p:tav tm="0">
                                          <p:val>
                                            <p:strVal val="0-#ppt_w/2"/>
                                          </p:val>
                                        </p:tav>
                                        <p:tav tm="100000">
                                          <p:val>
                                            <p:strVal val="#ppt_x"/>
                                          </p:val>
                                        </p:tav>
                                      </p:tavLst>
                                    </p:anim>
                                    <p:anim calcmode="lin" valueType="num">
                                      <p:cBhvr additive="base">
                                        <p:cTn id="20" dur="500" fill="hold"/>
                                        <p:tgtEl>
                                          <p:spTgt spid="1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6547"/>
                                        </p:tgtEl>
                                        <p:attrNameLst>
                                          <p:attrName>style.visibility</p:attrName>
                                        </p:attrNameLst>
                                      </p:cBhvr>
                                      <p:to>
                                        <p:strVal val="visible"/>
                                      </p:to>
                                    </p:set>
                                    <p:anim calcmode="lin" valueType="num">
                                      <p:cBhvr additive="base">
                                        <p:cTn id="25" dur="500" fill="hold"/>
                                        <p:tgtEl>
                                          <p:spTgt spid="446547"/>
                                        </p:tgtEl>
                                        <p:attrNameLst>
                                          <p:attrName>ppt_x</p:attrName>
                                        </p:attrNameLst>
                                      </p:cBhvr>
                                      <p:tavLst>
                                        <p:tav tm="0">
                                          <p:val>
                                            <p:strVal val="0-#ppt_w/2"/>
                                          </p:val>
                                        </p:tav>
                                        <p:tav tm="100000">
                                          <p:val>
                                            <p:strVal val="#ppt_x"/>
                                          </p:val>
                                        </p:tav>
                                      </p:tavLst>
                                    </p:anim>
                                    <p:anim calcmode="lin" valueType="num">
                                      <p:cBhvr additive="base">
                                        <p:cTn id="26" dur="500" fill="hold"/>
                                        <p:tgtEl>
                                          <p:spTgt spid="44654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
                                        </p:tgtEl>
                                        <p:attrNameLst>
                                          <p:attrName>style.visibility</p:attrName>
                                        </p:attrNameLst>
                                      </p:cBhvr>
                                      <p:to>
                                        <p:strVal val="visible"/>
                                      </p:to>
                                    </p:set>
                                    <p:anim calcmode="lin" valueType="num">
                                      <p:cBhvr additive="base">
                                        <p:cTn id="31" dur="500" fill="hold"/>
                                        <p:tgtEl>
                                          <p:spTgt spid="112"/>
                                        </p:tgtEl>
                                        <p:attrNameLst>
                                          <p:attrName>ppt_x</p:attrName>
                                        </p:attrNameLst>
                                      </p:cBhvr>
                                      <p:tavLst>
                                        <p:tav tm="0">
                                          <p:val>
                                            <p:strVal val="#ppt_x"/>
                                          </p:val>
                                        </p:tav>
                                        <p:tav tm="100000">
                                          <p:val>
                                            <p:strVal val="#ppt_x"/>
                                          </p:val>
                                        </p:tav>
                                      </p:tavLst>
                                    </p:anim>
                                    <p:anim calcmode="lin" valueType="num">
                                      <p:cBhvr additive="base">
                                        <p:cTn id="32"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autoUpdateAnimBg="0"/>
      <p:bldP spid="110" grpId="0" animBg="1" autoUpdateAnimBg="0"/>
      <p:bldP spid="11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682436"/>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11</a:t>
            </a:r>
            <a:r>
              <a:rPr lang="zh-CN" altLang="en-US" sz="2000" b="1">
                <a:latin typeface="Times New Roman" pitchFamily="18" charset="0"/>
                <a:cs typeface="Times New Roman" pitchFamily="18" charset="0"/>
              </a:rPr>
              <a:t>：图示结构</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为常数，求</a:t>
            </a:r>
            <a:r>
              <a:rPr lang="en-US" altLang="zh-CN" sz="2000" b="1" i="1">
                <a:latin typeface="Times New Roman" pitchFamily="18" charset="0"/>
                <a:cs typeface="Times New Roman" pitchFamily="18" charset="0"/>
              </a:rPr>
              <a:t>AB</a:t>
            </a:r>
            <a:r>
              <a:rPr lang="zh-CN" altLang="en-US" sz="2000" b="1">
                <a:latin typeface="Times New Roman" pitchFamily="18" charset="0"/>
                <a:cs typeface="Times New Roman" pitchFamily="18" charset="0"/>
              </a:rPr>
              <a:t>两点</a:t>
            </a:r>
            <a:r>
              <a:rPr lang="en-US" altLang="zh-CN" sz="2000" b="1">
                <a:latin typeface="Times New Roman" pitchFamily="18" charset="0"/>
                <a:cs typeface="Times New Roman" pitchFamily="18" charset="0"/>
              </a:rPr>
              <a:t>⑴</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⑵</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相对水平位移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AB</a:t>
            </a:r>
            <a:r>
              <a:rPr lang="en-US" altLang="zh-CN" sz="2000" b="1" baseline="-25000">
                <a:latin typeface="Times New Roman" pitchFamily="18" charset="0"/>
                <a:cs typeface="Times New Roman" pitchFamily="18" charset="0"/>
              </a:rPr>
              <a:t>H</a:t>
            </a:r>
            <a:r>
              <a:rPr lang="zh-CN" altLang="en-US" sz="2000" b="1">
                <a:latin typeface="Times New Roman" pitchFamily="18" charset="0"/>
                <a:cs typeface="Times New Roman" pitchFamily="18" charset="0"/>
              </a:rPr>
              <a:t>，</a:t>
            </a:r>
            <a:r>
              <a:rPr lang="en-US" altLang="zh-CN" sz="2000" b="1">
                <a:latin typeface="Times New Roman" pitchFamily="18" charset="0"/>
                <a:cs typeface="Times New Roman" pitchFamily="18" charset="0"/>
              </a:rPr>
              <a:t> ⑶</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相对转角</a:t>
            </a:r>
            <a:r>
              <a:rPr lang="el-GR" altLang="zh-CN" sz="2000" b="1" i="1">
                <a:latin typeface="Times New Roman"/>
                <a:cs typeface="Times New Roman"/>
              </a:rPr>
              <a:t>φ</a:t>
            </a:r>
            <a:r>
              <a:rPr lang="en-US" altLang="zh-CN" sz="2000" b="1" i="1" baseline="-25000">
                <a:latin typeface="Times New Roman" pitchFamily="18" charset="0"/>
                <a:cs typeface="Times New Roman" pitchFamily="18" charset="0"/>
              </a:rPr>
              <a:t>AB</a:t>
            </a:r>
            <a:r>
              <a:rPr lang="zh-CN" altLang="en-US" sz="2000" b="1">
                <a:latin typeface="Times New Roman" pitchFamily="18" charset="0"/>
                <a:cs typeface="Times New Roman" pitchFamily="18" charset="0"/>
              </a:rPr>
              <a:t> 。</a:t>
            </a:r>
            <a:endParaRPr lang="en-US" altLang="zh-CN" sz="2000" b="1" i="1" baseline="-25000">
              <a:latin typeface="Times New Roman" pitchFamily="18" charset="0"/>
              <a:cs typeface="Times New Roman" pitchFamily="18" charset="0"/>
            </a:endParaRPr>
          </a:p>
        </p:txBody>
      </p:sp>
      <p:grpSp>
        <p:nvGrpSpPr>
          <p:cNvPr id="4" name="Group 2"/>
          <p:cNvGrpSpPr>
            <a:grpSpLocks/>
          </p:cNvGrpSpPr>
          <p:nvPr/>
        </p:nvGrpSpPr>
        <p:grpSpPr bwMode="auto">
          <a:xfrm>
            <a:off x="571499" y="2432043"/>
            <a:ext cx="2566988" cy="2192338"/>
            <a:chOff x="207" y="914"/>
            <a:chExt cx="1617" cy="1381"/>
          </a:xfrm>
        </p:grpSpPr>
        <p:graphicFrame>
          <p:nvGraphicFramePr>
            <p:cNvPr id="309" name="Object 3"/>
            <p:cNvGraphicFramePr>
              <a:graphicFrameLocks noChangeAspect="1"/>
            </p:cNvGraphicFramePr>
            <p:nvPr/>
          </p:nvGraphicFramePr>
          <p:xfrm>
            <a:off x="1008" y="1296"/>
            <a:ext cx="194" cy="212"/>
          </p:xfrm>
          <a:graphic>
            <a:graphicData uri="http://schemas.openxmlformats.org/presentationml/2006/ole">
              <mc:AlternateContent xmlns:mc="http://schemas.openxmlformats.org/markup-compatibility/2006">
                <mc:Choice xmlns:v="urn:schemas-microsoft-com:vml" Requires="v">
                  <p:oleObj spid="_x0000_s532500" name="公式" r:id="rId4" imgW="152280" imgH="164880" progId="Equation.3">
                    <p:embed/>
                  </p:oleObj>
                </mc:Choice>
                <mc:Fallback>
                  <p:oleObj name="公式" r:id="rId4" imgW="152280" imgH="164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1296"/>
                          <a:ext cx="194"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 name="Line 4"/>
            <p:cNvSpPr>
              <a:spLocks noChangeShapeType="1"/>
            </p:cNvSpPr>
            <p:nvPr/>
          </p:nvSpPr>
          <p:spPr bwMode="auto">
            <a:xfrm flipV="1">
              <a:off x="576"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18" name="Line 5"/>
            <p:cNvSpPr>
              <a:spLocks noChangeShapeType="1"/>
            </p:cNvSpPr>
            <p:nvPr/>
          </p:nvSpPr>
          <p:spPr bwMode="auto">
            <a:xfrm>
              <a:off x="576"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0" name="Line 6"/>
            <p:cNvSpPr>
              <a:spLocks noChangeShapeType="1"/>
            </p:cNvSpPr>
            <p:nvPr/>
          </p:nvSpPr>
          <p:spPr bwMode="auto">
            <a:xfrm>
              <a:off x="1824" y="2103"/>
              <a:ext cx="0" cy="19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25" name="Rectangle 7"/>
            <p:cNvSpPr>
              <a:spLocks noChangeArrowheads="1"/>
            </p:cNvSpPr>
            <p:nvPr/>
          </p:nvSpPr>
          <p:spPr bwMode="auto">
            <a:xfrm>
              <a:off x="816"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27" name="Rectangle 8"/>
            <p:cNvSpPr>
              <a:spLocks noChangeArrowheads="1"/>
            </p:cNvSpPr>
            <p:nvPr/>
          </p:nvSpPr>
          <p:spPr bwMode="auto">
            <a:xfrm>
              <a:off x="1269" y="914"/>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28" name="Line 9"/>
            <p:cNvSpPr>
              <a:spLocks noChangeShapeType="1"/>
            </p:cNvSpPr>
            <p:nvPr/>
          </p:nvSpPr>
          <p:spPr bwMode="auto">
            <a:xfrm>
              <a:off x="576" y="2199"/>
              <a:ext cx="1248"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31" name="Object 10"/>
            <p:cNvGraphicFramePr>
              <a:graphicFrameLocks noChangeAspect="1"/>
            </p:cNvGraphicFramePr>
            <p:nvPr/>
          </p:nvGraphicFramePr>
          <p:xfrm>
            <a:off x="1200" y="1296"/>
            <a:ext cx="195" cy="211"/>
          </p:xfrm>
          <a:graphic>
            <a:graphicData uri="http://schemas.openxmlformats.org/presentationml/2006/ole">
              <mc:AlternateContent xmlns:mc="http://schemas.openxmlformats.org/markup-compatibility/2006">
                <mc:Choice xmlns:v="urn:schemas-microsoft-com:vml" Requires="v">
                  <p:oleObj spid="_x0000_s532501" name="公式" r:id="rId6" imgW="152280" imgH="164880" progId="Equation.3">
                    <p:embed/>
                  </p:oleObj>
                </mc:Choice>
                <mc:Fallback>
                  <p:oleObj name="公式" r:id="rId6" imgW="152280" imgH="16488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 y="1296"/>
                          <a:ext cx="195"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4" name="Line 11"/>
            <p:cNvSpPr>
              <a:spLocks noChangeShapeType="1"/>
            </p:cNvSpPr>
            <p:nvPr/>
          </p:nvSpPr>
          <p:spPr bwMode="auto">
            <a:xfrm>
              <a:off x="1248" y="2151"/>
              <a:ext cx="0" cy="96"/>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5" name="Rectangle 12"/>
            <p:cNvSpPr>
              <a:spLocks noChangeArrowheads="1"/>
            </p:cNvSpPr>
            <p:nvPr/>
          </p:nvSpPr>
          <p:spPr bwMode="auto">
            <a:xfrm>
              <a:off x="1392" y="1920"/>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sp>
          <p:nvSpPr>
            <p:cNvPr id="336" name="Line 13"/>
            <p:cNvSpPr>
              <a:spLocks noChangeShapeType="1"/>
            </p:cNvSpPr>
            <p:nvPr/>
          </p:nvSpPr>
          <p:spPr bwMode="auto">
            <a:xfrm>
              <a:off x="1248"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7" name="Line 14"/>
            <p:cNvSpPr>
              <a:spLocks noChangeShapeType="1"/>
            </p:cNvSpPr>
            <p:nvPr/>
          </p:nvSpPr>
          <p:spPr bwMode="auto">
            <a:xfrm>
              <a:off x="576" y="1824"/>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8" name="Line 15"/>
            <p:cNvSpPr>
              <a:spLocks noChangeShapeType="1"/>
            </p:cNvSpPr>
            <p:nvPr/>
          </p:nvSpPr>
          <p:spPr bwMode="auto">
            <a:xfrm>
              <a:off x="1248" y="1296"/>
              <a:ext cx="576" cy="9"/>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39" name="Line 16"/>
            <p:cNvSpPr>
              <a:spLocks noChangeShapeType="1"/>
            </p:cNvSpPr>
            <p:nvPr/>
          </p:nvSpPr>
          <p:spPr bwMode="auto">
            <a:xfrm flipV="1">
              <a:off x="1152" y="1008"/>
              <a:ext cx="0" cy="288"/>
            </a:xfrm>
            <a:prstGeom prst="line">
              <a:avLst/>
            </a:prstGeom>
            <a:noFill/>
            <a:ln w="38100">
              <a:solidFill>
                <a:srgbClr val="0033CC"/>
              </a:solidFill>
              <a:round/>
              <a:headEnd type="triangle" w="med"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0" name="Line 17"/>
            <p:cNvSpPr>
              <a:spLocks noChangeShapeType="1"/>
            </p:cNvSpPr>
            <p:nvPr/>
          </p:nvSpPr>
          <p:spPr bwMode="auto">
            <a:xfrm flipH="1" flipV="1">
              <a:off x="1824" y="1296"/>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1" name="Line 18"/>
            <p:cNvSpPr>
              <a:spLocks noChangeShapeType="1"/>
            </p:cNvSpPr>
            <p:nvPr/>
          </p:nvSpPr>
          <p:spPr bwMode="auto">
            <a:xfrm>
              <a:off x="576" y="1296"/>
              <a:ext cx="5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2" name="Rectangle 19"/>
            <p:cNvSpPr>
              <a:spLocks noChangeArrowheads="1"/>
            </p:cNvSpPr>
            <p:nvPr/>
          </p:nvSpPr>
          <p:spPr bwMode="auto">
            <a:xfrm>
              <a:off x="897" y="920"/>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343" name="Line 20"/>
            <p:cNvSpPr>
              <a:spLocks noChangeShapeType="1"/>
            </p:cNvSpPr>
            <p:nvPr/>
          </p:nvSpPr>
          <p:spPr bwMode="auto">
            <a:xfrm>
              <a:off x="384" y="1290"/>
              <a:ext cx="0" cy="522"/>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4" name="Line 21"/>
            <p:cNvSpPr>
              <a:spLocks noChangeShapeType="1"/>
            </p:cNvSpPr>
            <p:nvPr/>
          </p:nvSpPr>
          <p:spPr bwMode="auto">
            <a:xfrm>
              <a:off x="336" y="1286"/>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5" name="Line 22"/>
            <p:cNvSpPr>
              <a:spLocks noChangeShapeType="1"/>
            </p:cNvSpPr>
            <p:nvPr/>
          </p:nvSpPr>
          <p:spPr bwMode="auto">
            <a:xfrm>
              <a:off x="336" y="1824"/>
              <a:ext cx="96" cy="0"/>
            </a:xfrm>
            <a:prstGeom prst="line">
              <a:avLst/>
            </a:prstGeom>
            <a:no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47" name="Rectangle 23"/>
            <p:cNvSpPr>
              <a:spLocks noChangeArrowheads="1"/>
            </p:cNvSpPr>
            <p:nvPr/>
          </p:nvSpPr>
          <p:spPr bwMode="auto">
            <a:xfrm>
              <a:off x="207" y="1407"/>
              <a:ext cx="161" cy="25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effectLst/>
                  <a:uLnTx/>
                  <a:uFillTx/>
                  <a:latin typeface="Times New Roman" pitchFamily="18" charset="0"/>
                  <a:ea typeface="宋体" charset="-122"/>
                  <a:cs typeface="+mn-cs"/>
                </a:rPr>
                <a:t>l</a:t>
              </a:r>
              <a:endParaRPr kumimoji="1" lang="en-US" altLang="zh-CN" sz="2000" b="1" i="0" u="none" strike="noStrike" kern="1200" cap="none" spc="0" normalizeH="0" baseline="0" noProof="0">
                <a:ln>
                  <a:noFill/>
                </a:ln>
                <a:effectLst/>
                <a:uLnTx/>
                <a:uFillTx/>
                <a:latin typeface="Times New Roman" pitchFamily="18" charset="0"/>
                <a:ea typeface="宋体" charset="-122"/>
                <a:cs typeface="+mn-cs"/>
              </a:endParaRPr>
            </a:p>
          </p:txBody>
        </p:sp>
      </p:grpSp>
      <p:graphicFrame>
        <p:nvGraphicFramePr>
          <p:cNvPr id="349" name="Object 24"/>
          <p:cNvGraphicFramePr>
            <a:graphicFrameLocks noChangeAspect="1"/>
          </p:cNvGraphicFramePr>
          <p:nvPr/>
        </p:nvGraphicFramePr>
        <p:xfrm>
          <a:off x="4652984" y="2928934"/>
          <a:ext cx="3062288" cy="693737"/>
        </p:xfrm>
        <a:graphic>
          <a:graphicData uri="http://schemas.openxmlformats.org/presentationml/2006/ole">
            <mc:AlternateContent xmlns:mc="http://schemas.openxmlformats.org/markup-compatibility/2006">
              <mc:Choice xmlns:v="urn:schemas-microsoft-com:vml" Requires="v">
                <p:oleObj spid="_x0000_s532502" name="Equation" r:id="rId8" imgW="1854000" imgH="419040" progId="Equation.DSMT4">
                  <p:embed/>
                </p:oleObj>
              </mc:Choice>
              <mc:Fallback>
                <p:oleObj name="Equation" r:id="rId8" imgW="1854000" imgH="41904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2984" y="2928934"/>
                        <a:ext cx="3062288"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4" name="Oval 29"/>
          <p:cNvSpPr>
            <a:spLocks noChangeArrowheads="1"/>
          </p:cNvSpPr>
          <p:nvPr/>
        </p:nvSpPr>
        <p:spPr bwMode="auto">
          <a:xfrm>
            <a:off x="3367086" y="3343268"/>
            <a:ext cx="457200" cy="457200"/>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itchFamily="18" charset="0"/>
                <a:ea typeface="宋体" charset="-122"/>
                <a:cs typeface="+mn-cs"/>
              </a:rPr>
              <a:t>M</a:t>
            </a:r>
            <a:r>
              <a:rPr kumimoji="1" lang="en-US" altLang="zh-CN" sz="1200" b="1" i="1" u="none" strike="noStrike" kern="1200" cap="none" spc="0" normalizeH="0" baseline="0" noProof="0">
                <a:ln>
                  <a:noFill/>
                </a:ln>
                <a:solidFill>
                  <a:srgbClr val="000000"/>
                </a:solidFill>
                <a:effectLst/>
                <a:uLnTx/>
                <a:uFillTx/>
                <a:latin typeface="Times New Roman" pitchFamily="18" charset="0"/>
                <a:ea typeface="宋体" charset="-122"/>
                <a:cs typeface="+mn-cs"/>
              </a:rPr>
              <a:t>P</a:t>
            </a:r>
            <a:endParaRPr kumimoji="1" lang="en-US" altLang="zh-CN" sz="24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5" name="Group 41"/>
          <p:cNvGrpSpPr>
            <a:grpSpLocks/>
          </p:cNvGrpSpPr>
          <p:nvPr/>
        </p:nvGrpSpPr>
        <p:grpSpPr bwMode="auto">
          <a:xfrm>
            <a:off x="750889" y="2593968"/>
            <a:ext cx="2387601" cy="1587500"/>
            <a:chOff x="3513" y="2840"/>
            <a:chExt cx="1504" cy="1000"/>
          </a:xfrm>
        </p:grpSpPr>
        <p:sp>
          <p:nvSpPr>
            <p:cNvPr id="366" name="Line 42"/>
            <p:cNvSpPr>
              <a:spLocks noChangeShapeType="1"/>
            </p:cNvSpPr>
            <p:nvPr/>
          </p:nvSpPr>
          <p:spPr bwMode="auto">
            <a:xfrm flipH="1" flipV="1">
              <a:off x="3577" y="3120"/>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8" name="Line 43"/>
            <p:cNvSpPr>
              <a:spLocks noChangeShapeType="1"/>
            </p:cNvSpPr>
            <p:nvPr/>
          </p:nvSpPr>
          <p:spPr bwMode="auto">
            <a:xfrm>
              <a:off x="3769" y="2928"/>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69" name="Line 44"/>
            <p:cNvSpPr>
              <a:spLocks noChangeShapeType="1"/>
            </p:cNvSpPr>
            <p:nvPr/>
          </p:nvSpPr>
          <p:spPr bwMode="auto">
            <a:xfrm flipV="1">
              <a:off x="3769" y="292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0" name="Line 45"/>
            <p:cNvSpPr>
              <a:spLocks noChangeShapeType="1"/>
            </p:cNvSpPr>
            <p:nvPr/>
          </p:nvSpPr>
          <p:spPr bwMode="auto">
            <a:xfrm flipH="1" flipV="1">
              <a:off x="4825" y="3146"/>
              <a:ext cx="0" cy="4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371" name="Object 46"/>
            <p:cNvGraphicFramePr>
              <a:graphicFrameLocks noChangeAspect="1"/>
            </p:cNvGraphicFramePr>
            <p:nvPr/>
          </p:nvGraphicFramePr>
          <p:xfrm>
            <a:off x="3513" y="2840"/>
            <a:ext cx="236" cy="207"/>
          </p:xfrm>
          <a:graphic>
            <a:graphicData uri="http://schemas.openxmlformats.org/presentationml/2006/ole">
              <mc:AlternateContent xmlns:mc="http://schemas.openxmlformats.org/markup-compatibility/2006">
                <mc:Choice xmlns:v="urn:schemas-microsoft-com:vml" Requires="v">
                  <p:oleObj spid="_x0000_s532503" name="公式" r:id="rId10" imgW="203040" imgH="177480" progId="Equation.3">
                    <p:embed/>
                  </p:oleObj>
                </mc:Choice>
                <mc:Fallback>
                  <p:oleObj name="公式" r:id="rId10" imgW="203040" imgH="177480" progId="Equation.3">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3" y="2840"/>
                          <a:ext cx="236"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 name="Line 47"/>
            <p:cNvSpPr>
              <a:spLocks noChangeShapeType="1"/>
            </p:cNvSpPr>
            <p:nvPr/>
          </p:nvSpPr>
          <p:spPr bwMode="auto">
            <a:xfrm>
              <a:off x="3577" y="3120"/>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3" name="Line 48"/>
            <p:cNvSpPr>
              <a:spLocks noChangeShapeType="1"/>
            </p:cNvSpPr>
            <p:nvPr/>
          </p:nvSpPr>
          <p:spPr bwMode="auto">
            <a:xfrm flipV="1">
              <a:off x="3769" y="3648"/>
              <a:ext cx="0" cy="192"/>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4" name="Line 49"/>
            <p:cNvSpPr>
              <a:spLocks noChangeShapeType="1"/>
            </p:cNvSpPr>
            <p:nvPr/>
          </p:nvSpPr>
          <p:spPr bwMode="auto">
            <a:xfrm flipH="1">
              <a:off x="3577" y="3648"/>
              <a:ext cx="192"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375" name="Line 50"/>
            <p:cNvSpPr>
              <a:spLocks noChangeShapeType="1"/>
            </p:cNvSpPr>
            <p:nvPr/>
          </p:nvSpPr>
          <p:spPr bwMode="auto">
            <a:xfrm flipV="1">
              <a:off x="3769" y="3456"/>
              <a:ext cx="1248" cy="384"/>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389" name="Text Box 3"/>
          <p:cNvSpPr txBox="1">
            <a:spLocks noChangeArrowheads="1"/>
          </p:cNvSpPr>
          <p:nvPr/>
        </p:nvSpPr>
        <p:spPr bwMode="auto">
          <a:xfrm>
            <a:off x="3981496" y="2500306"/>
            <a:ext cx="4519594" cy="400110"/>
          </a:xfrm>
          <a:prstGeom prst="rect">
            <a:avLst/>
          </a:prstGeom>
          <a:noFill/>
          <a:ln w="9525">
            <a:noFill/>
            <a:miter lim="800000"/>
            <a:headEnd/>
            <a:tailEnd/>
          </a:ln>
        </p:spPr>
        <p:txBody>
          <a:bodyPr wrap="square">
            <a:spAutoFit/>
          </a:bodyPr>
          <a:lstStyle/>
          <a:p>
            <a:pPr algn="l" rtl="0" fontAlgn="base">
              <a:spcBef>
                <a:spcPct val="50000"/>
              </a:spcBef>
              <a:spcAft>
                <a:spcPct val="0"/>
              </a:spcAft>
            </a:pPr>
            <a:r>
              <a:rPr kumimoji="1" lang="zh-CN" altLang="en-US" sz="2000" b="1" kern="1200">
                <a:solidFill>
                  <a:srgbClr val="000000"/>
                </a:solidFill>
                <a:latin typeface="+mn-ea"/>
                <a:cs typeface="+mn-cs"/>
              </a:rPr>
              <a:t>解：作荷载弯矩图和单位荷载弯矩图</a:t>
            </a:r>
          </a:p>
        </p:txBody>
      </p:sp>
      <p:sp>
        <p:nvSpPr>
          <p:cNvPr id="109" name="AutoShape 86"/>
          <p:cNvSpPr>
            <a:spLocks noChangeArrowheads="1"/>
          </p:cNvSpPr>
          <p:nvPr/>
        </p:nvSpPr>
        <p:spPr bwMode="auto">
          <a:xfrm>
            <a:off x="2857488" y="4143380"/>
            <a:ext cx="1752600" cy="533400"/>
          </a:xfrm>
          <a:prstGeom prst="wedgeRoundRectCallout">
            <a:avLst>
              <a:gd name="adj1" fmla="val -50273"/>
              <a:gd name="adj2" fmla="val -94347"/>
              <a:gd name="adj3" fmla="val 16667"/>
            </a:avLst>
          </a:prstGeom>
          <a:solidFill>
            <a:schemeClr val="bg1"/>
          </a:solidFill>
          <a:ln w="28575">
            <a:solidFill>
              <a:srgbClr val="0033CC"/>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反对称弯矩图</a:t>
            </a:r>
          </a:p>
        </p:txBody>
      </p:sp>
      <p:graphicFrame>
        <p:nvGraphicFramePr>
          <p:cNvPr id="446547" name="Object 83"/>
          <p:cNvGraphicFramePr>
            <a:graphicFrameLocks noChangeAspect="1"/>
          </p:cNvGraphicFramePr>
          <p:nvPr/>
        </p:nvGraphicFramePr>
        <p:xfrm>
          <a:off x="4643438" y="3643314"/>
          <a:ext cx="1885950" cy="647700"/>
        </p:xfrm>
        <a:graphic>
          <a:graphicData uri="http://schemas.openxmlformats.org/presentationml/2006/ole">
            <mc:AlternateContent xmlns:mc="http://schemas.openxmlformats.org/markup-compatibility/2006">
              <mc:Choice xmlns:v="urn:schemas-microsoft-com:vml" Requires="v">
                <p:oleObj spid="_x0000_s532504" name="Equation" r:id="rId12" imgW="1143000" imgH="393480" progId="Equation.DSMT4">
                  <p:embed/>
                </p:oleObj>
              </mc:Choice>
              <mc:Fallback>
                <p:oleObj name="Equation" r:id="rId12" imgW="1143000" imgH="393480" progId="Equation.DSMT4">
                  <p:embed/>
                  <p:pic>
                    <p:nvPicPr>
                      <p:cNvPr id="0" name="Object 8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43438" y="3643314"/>
                        <a:ext cx="188595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8" name="Group 88"/>
          <p:cNvGrpSpPr>
            <a:grpSpLocks/>
          </p:cNvGrpSpPr>
          <p:nvPr/>
        </p:nvGrpSpPr>
        <p:grpSpPr bwMode="auto">
          <a:xfrm>
            <a:off x="941382" y="4832042"/>
            <a:ext cx="2916238" cy="1385888"/>
            <a:chOff x="2880" y="3216"/>
            <a:chExt cx="1837" cy="873"/>
          </a:xfrm>
        </p:grpSpPr>
        <p:sp>
          <p:nvSpPr>
            <p:cNvPr id="129" name="Rectangle 89"/>
            <p:cNvSpPr>
              <a:spLocks noChangeArrowheads="1"/>
            </p:cNvSpPr>
            <p:nvPr/>
          </p:nvSpPr>
          <p:spPr bwMode="auto">
            <a:xfrm>
              <a:off x="3792" y="3216"/>
              <a:ext cx="196"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131" name="Rectangle 90"/>
            <p:cNvSpPr>
              <a:spLocks noChangeArrowheads="1"/>
            </p:cNvSpPr>
            <p:nvPr/>
          </p:nvSpPr>
          <p:spPr bwMode="auto">
            <a:xfrm>
              <a:off x="3312" y="3216"/>
              <a:ext cx="196"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grpSp>
          <p:nvGrpSpPr>
            <p:cNvPr id="132" name="Group 91"/>
            <p:cNvGrpSpPr>
              <a:grpSpLocks/>
            </p:cNvGrpSpPr>
            <p:nvPr/>
          </p:nvGrpSpPr>
          <p:grpSpPr bwMode="auto">
            <a:xfrm>
              <a:off x="2880" y="3312"/>
              <a:ext cx="1837" cy="777"/>
              <a:chOff x="2784" y="3216"/>
              <a:chExt cx="1837" cy="777"/>
            </a:xfrm>
          </p:grpSpPr>
          <p:sp>
            <p:nvSpPr>
              <p:cNvPr id="133" name="Line 92"/>
              <p:cNvSpPr>
                <a:spLocks noChangeShapeType="1"/>
              </p:cNvSpPr>
              <p:nvPr/>
            </p:nvSpPr>
            <p:spPr bwMode="auto">
              <a:xfrm flipV="1">
                <a:off x="2928" y="3393"/>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4" name="Line 93"/>
              <p:cNvSpPr>
                <a:spLocks noChangeShapeType="1"/>
              </p:cNvSpPr>
              <p:nvPr/>
            </p:nvSpPr>
            <p:spPr bwMode="auto">
              <a:xfrm>
                <a:off x="2928" y="3921"/>
                <a:ext cx="1248"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5" name="Line 94"/>
              <p:cNvSpPr>
                <a:spLocks noChangeShapeType="1"/>
              </p:cNvSpPr>
              <p:nvPr/>
            </p:nvSpPr>
            <p:spPr bwMode="auto">
              <a:xfrm>
                <a:off x="3600" y="3393"/>
                <a:ext cx="576" cy="9"/>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6" name="Line 95"/>
              <p:cNvSpPr>
                <a:spLocks noChangeShapeType="1"/>
              </p:cNvSpPr>
              <p:nvPr/>
            </p:nvSpPr>
            <p:spPr bwMode="auto">
              <a:xfrm flipH="1" flipV="1">
                <a:off x="4176" y="3393"/>
                <a:ext cx="0" cy="528"/>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7" name="Line 96"/>
              <p:cNvSpPr>
                <a:spLocks noChangeShapeType="1"/>
              </p:cNvSpPr>
              <p:nvPr/>
            </p:nvSpPr>
            <p:spPr bwMode="auto">
              <a:xfrm>
                <a:off x="2928" y="3393"/>
                <a:ext cx="576" cy="0"/>
              </a:xfrm>
              <a:prstGeom prst="line">
                <a:avLst/>
              </a:prstGeom>
              <a:noFill/>
              <a:ln w="5715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8" name="Line 97"/>
              <p:cNvSpPr>
                <a:spLocks noChangeShapeType="1"/>
              </p:cNvSpPr>
              <p:nvPr/>
            </p:nvSpPr>
            <p:spPr bwMode="auto">
              <a:xfrm flipH="1">
                <a:off x="3072" y="3408"/>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39" name="Line 98"/>
              <p:cNvSpPr>
                <a:spLocks noChangeShapeType="1"/>
              </p:cNvSpPr>
              <p:nvPr/>
            </p:nvSpPr>
            <p:spPr bwMode="auto">
              <a:xfrm>
                <a:off x="2928" y="3552"/>
                <a:ext cx="124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0" name="Line 99"/>
              <p:cNvSpPr>
                <a:spLocks noChangeShapeType="1"/>
              </p:cNvSpPr>
              <p:nvPr/>
            </p:nvSpPr>
            <p:spPr bwMode="auto">
              <a:xfrm>
                <a:off x="2928" y="3792"/>
                <a:ext cx="124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1" name="Line 100"/>
              <p:cNvSpPr>
                <a:spLocks noChangeShapeType="1"/>
              </p:cNvSpPr>
              <p:nvPr/>
            </p:nvSpPr>
            <p:spPr bwMode="auto">
              <a:xfrm flipH="1" flipV="1">
                <a:off x="4032" y="3408"/>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42" name="Object 101"/>
              <p:cNvGraphicFramePr>
                <a:graphicFrameLocks noChangeAspect="1"/>
              </p:cNvGraphicFramePr>
              <p:nvPr/>
            </p:nvGraphicFramePr>
            <p:xfrm>
              <a:off x="4224" y="3368"/>
              <a:ext cx="102" cy="193"/>
            </p:xfrm>
            <a:graphic>
              <a:graphicData uri="http://schemas.openxmlformats.org/presentationml/2006/ole">
                <mc:AlternateContent xmlns:mc="http://schemas.openxmlformats.org/markup-compatibility/2006">
                  <mc:Choice xmlns:v="urn:schemas-microsoft-com:vml" Requires="v">
                    <p:oleObj spid="_x0000_s532505" name="公式" r:id="rId14" imgW="88560" imgH="164880" progId="Equation.3">
                      <p:embed/>
                    </p:oleObj>
                  </mc:Choice>
                  <mc:Fallback>
                    <p:oleObj name="公式" r:id="rId14" imgW="88560" imgH="164880" progId="Equation.3">
                      <p:embed/>
                      <p:pic>
                        <p:nvPicPr>
                          <p:cNvPr id="0" name="Object 10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24" y="3368"/>
                            <a:ext cx="102"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 name="Object 102"/>
              <p:cNvGraphicFramePr>
                <a:graphicFrameLocks noChangeAspect="1"/>
              </p:cNvGraphicFramePr>
              <p:nvPr/>
            </p:nvGraphicFramePr>
            <p:xfrm>
              <a:off x="2784" y="3800"/>
              <a:ext cx="102" cy="193"/>
            </p:xfrm>
            <a:graphic>
              <a:graphicData uri="http://schemas.openxmlformats.org/presentationml/2006/ole">
                <mc:AlternateContent xmlns:mc="http://schemas.openxmlformats.org/markup-compatibility/2006">
                  <mc:Choice xmlns:v="urn:schemas-microsoft-com:vml" Requires="v">
                    <p:oleObj spid="_x0000_s532506" name="公式" r:id="rId16" imgW="88560" imgH="164880" progId="Equation.3">
                      <p:embed/>
                    </p:oleObj>
                  </mc:Choice>
                  <mc:Fallback>
                    <p:oleObj name="公式" r:id="rId16" imgW="88560" imgH="164880" progId="Equation.3">
                      <p:embed/>
                      <p:pic>
                        <p:nvPicPr>
                          <p:cNvPr id="0" name="Object 10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4" y="3800"/>
                            <a:ext cx="102"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4" name="Group 103"/>
              <p:cNvGrpSpPr>
                <a:grpSpLocks/>
              </p:cNvGrpSpPr>
              <p:nvPr/>
            </p:nvGrpSpPr>
            <p:grpSpPr bwMode="auto">
              <a:xfrm>
                <a:off x="4333" y="3537"/>
                <a:ext cx="288" cy="288"/>
                <a:chOff x="4765" y="1728"/>
                <a:chExt cx="288" cy="288"/>
              </a:xfrm>
            </p:grpSpPr>
            <p:graphicFrame>
              <p:nvGraphicFramePr>
                <p:cNvPr id="147" name="Object 104"/>
                <p:cNvGraphicFramePr>
                  <a:graphicFrameLocks noChangeAspect="1"/>
                </p:cNvGraphicFramePr>
                <p:nvPr/>
              </p:nvGraphicFramePr>
              <p:xfrm>
                <a:off x="4765" y="1728"/>
                <a:ext cx="275" cy="288"/>
              </p:xfrm>
              <a:graphic>
                <a:graphicData uri="http://schemas.openxmlformats.org/presentationml/2006/ole">
                  <mc:AlternateContent xmlns:mc="http://schemas.openxmlformats.org/markup-compatibility/2006">
                    <mc:Choice xmlns:v="urn:schemas-microsoft-com:vml" Requires="v">
                      <p:oleObj spid="_x0000_s532507" name="公式" r:id="rId18" imgW="228600" imgH="241200" progId="Equation.3">
                        <p:embed/>
                      </p:oleObj>
                    </mc:Choice>
                    <mc:Fallback>
                      <p:oleObj name="公式" r:id="rId18" imgW="228600" imgH="241200" progId="Equation.3">
                        <p:embed/>
                        <p:pic>
                          <p:nvPicPr>
                            <p:cNvPr id="0" name="Object 10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65" y="1728"/>
                              <a:ext cx="27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8" name="Oval 105"/>
                <p:cNvSpPr>
                  <a:spLocks noChangeArrowheads="1"/>
                </p:cNvSpPr>
                <p:nvPr/>
              </p:nvSpPr>
              <p:spPr bwMode="auto">
                <a:xfrm>
                  <a:off x="4765" y="1728"/>
                  <a:ext cx="288" cy="288"/>
                </a:xfrm>
                <a:prstGeom prst="ellipse">
                  <a:avLst/>
                </a:prstGeom>
                <a:noFill/>
                <a:ln w="2857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145" name="Freeform 106"/>
              <p:cNvSpPr>
                <a:spLocks/>
              </p:cNvSpPr>
              <p:nvPr/>
            </p:nvSpPr>
            <p:spPr bwMode="auto">
              <a:xfrm rot="5400000">
                <a:off x="3312" y="3312"/>
                <a:ext cx="288" cy="96"/>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type="triangle" w="med" len="med"/>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6" name="Freeform 107"/>
              <p:cNvSpPr>
                <a:spLocks/>
              </p:cNvSpPr>
              <p:nvPr/>
            </p:nvSpPr>
            <p:spPr bwMode="auto">
              <a:xfrm rot="16200000" flipH="1">
                <a:off x="3504" y="3312"/>
                <a:ext cx="288" cy="96"/>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type="triangle" w="med" len="med"/>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graphicFrame>
        <p:nvGraphicFramePr>
          <p:cNvPr id="8" name="Object 83"/>
          <p:cNvGraphicFramePr>
            <a:graphicFrameLocks noChangeAspect="1"/>
          </p:cNvGraphicFramePr>
          <p:nvPr/>
        </p:nvGraphicFramePr>
        <p:xfrm>
          <a:off x="4744789" y="4281498"/>
          <a:ext cx="1781175" cy="647700"/>
        </p:xfrm>
        <a:graphic>
          <a:graphicData uri="http://schemas.openxmlformats.org/presentationml/2006/ole">
            <mc:AlternateContent xmlns:mc="http://schemas.openxmlformats.org/markup-compatibility/2006">
              <mc:Choice xmlns:v="urn:schemas-microsoft-com:vml" Requires="v">
                <p:oleObj spid="_x0000_s532508" name="Equation" r:id="rId20" imgW="1079280" imgH="393480" progId="Equation.DSMT4">
                  <p:embed/>
                </p:oleObj>
              </mc:Choice>
              <mc:Fallback>
                <p:oleObj name="Equation" r:id="rId20" imgW="1079280" imgH="393480" progId="Equation.DSMT4">
                  <p:embed/>
                  <p:pic>
                    <p:nvPicPr>
                      <p:cNvPr id="0" name="Picture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44789" y="4281498"/>
                        <a:ext cx="1781175"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 name="TextBox 148"/>
          <p:cNvSpPr txBox="1"/>
          <p:nvPr/>
        </p:nvSpPr>
        <p:spPr>
          <a:xfrm>
            <a:off x="4643438" y="5143512"/>
            <a:ext cx="3262432" cy="1169551"/>
          </a:xfrm>
          <a:prstGeom prst="rect">
            <a:avLst/>
          </a:prstGeom>
          <a:solidFill>
            <a:schemeClr val="bg1"/>
          </a:solidFill>
          <a:ln w="28575">
            <a:solidFill>
              <a:srgbClr val="C00000"/>
            </a:solidFill>
          </a:ln>
        </p:spPr>
        <p:txBody>
          <a:bodyPr wrap="none" rtlCol="0">
            <a:spAutoFit/>
          </a:bodyPr>
          <a:lstStyle/>
          <a:p>
            <a:pPr algn="ctr"/>
            <a:r>
              <a:rPr lang="zh-CN" altLang="en-US" sz="2000" b="1">
                <a:solidFill>
                  <a:srgbClr val="C00000"/>
                </a:solidFill>
              </a:rPr>
              <a:t>对称结构</a:t>
            </a:r>
            <a:endParaRPr lang="en-US" altLang="zh-CN" sz="2000" b="1">
              <a:solidFill>
                <a:srgbClr val="C00000"/>
              </a:solidFill>
            </a:endParaRPr>
          </a:p>
          <a:p>
            <a:pPr algn="ctr">
              <a:spcBef>
                <a:spcPts val="600"/>
              </a:spcBef>
            </a:pPr>
            <a:r>
              <a:rPr lang="zh-CN" altLang="en-US" sz="2000" b="1"/>
              <a:t>荷载对称，变形对称；</a:t>
            </a:r>
            <a:endParaRPr lang="en-US" altLang="zh-CN" sz="2000" b="1"/>
          </a:p>
          <a:p>
            <a:pPr algn="ctr">
              <a:spcBef>
                <a:spcPts val="600"/>
              </a:spcBef>
            </a:pPr>
            <a:r>
              <a:rPr lang="zh-CN" altLang="en-US" sz="2000" b="1"/>
              <a:t>荷载反对称，变形反对称。</a:t>
            </a:r>
          </a:p>
        </p:txBody>
      </p:sp>
      <p:sp>
        <p:nvSpPr>
          <p:cNvPr id="150" name="AutoShape 85"/>
          <p:cNvSpPr>
            <a:spLocks noChangeArrowheads="1"/>
          </p:cNvSpPr>
          <p:nvPr/>
        </p:nvSpPr>
        <p:spPr bwMode="auto">
          <a:xfrm>
            <a:off x="3000364" y="4786322"/>
            <a:ext cx="1600200" cy="533400"/>
          </a:xfrm>
          <a:prstGeom prst="wedgeRoundRectCallout">
            <a:avLst>
              <a:gd name="adj1" fmla="val -37434"/>
              <a:gd name="adj2" fmla="val 71276"/>
              <a:gd name="adj3" fmla="val 16667"/>
            </a:avLst>
          </a:prstGeom>
          <a:solidFill>
            <a:schemeClr val="bg1"/>
          </a:solidFill>
          <a:ln w="28575">
            <a:solidFill>
              <a:srgbClr val="0033CC"/>
            </a:solidFill>
            <a:miter lim="800000"/>
            <a:headEnd/>
            <a:tailEnd/>
          </a:ln>
        </p:spPr>
        <p:txBody>
          <a:bodyPr wrap="none" anchor="ctr"/>
          <a:lstStyle/>
          <a:p>
            <a:pPr algn="ctr">
              <a:spcBef>
                <a:spcPct val="0"/>
              </a:spcBef>
            </a:pPr>
            <a:r>
              <a:rPr lang="zh-CN" altLang="en-US" sz="2000" b="1">
                <a:solidFill>
                  <a:srgbClr val="0033CC"/>
                </a:solidFill>
                <a:ea typeface="宋体" charset="-122"/>
              </a:rPr>
              <a:t>对称弯矩图</a:t>
            </a:r>
            <a:endParaRPr lang="zh-CN" altLang="en-US" b="1">
              <a:solidFill>
                <a:srgbClr val="0033CC"/>
              </a:solidFill>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 calcmode="lin" valueType="num">
                                      <p:cBhvr additive="base">
                                        <p:cTn id="7" dur="500" fill="hold"/>
                                        <p:tgtEl>
                                          <p:spTgt spid="128"/>
                                        </p:tgtEl>
                                        <p:attrNameLst>
                                          <p:attrName>ppt_x</p:attrName>
                                        </p:attrNameLst>
                                      </p:cBhvr>
                                      <p:tavLst>
                                        <p:tav tm="0">
                                          <p:val>
                                            <p:strVal val="0-#ppt_w/2"/>
                                          </p:val>
                                        </p:tav>
                                        <p:tav tm="100000">
                                          <p:val>
                                            <p:strVal val="#ppt_x"/>
                                          </p:val>
                                        </p:tav>
                                      </p:tavLst>
                                    </p:anim>
                                    <p:anim calcmode="lin" valueType="num">
                                      <p:cBhvr additive="base">
                                        <p:cTn id="8" dur="500" fill="hold"/>
                                        <p:tgtEl>
                                          <p:spTgt spid="1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0"/>
                                        </p:tgtEl>
                                        <p:attrNameLst>
                                          <p:attrName>style.visibility</p:attrName>
                                        </p:attrNameLst>
                                      </p:cBhvr>
                                      <p:to>
                                        <p:strVal val="visible"/>
                                      </p:to>
                                    </p:set>
                                    <p:anim calcmode="lin" valueType="num">
                                      <p:cBhvr additive="base">
                                        <p:cTn id="13" dur="500" fill="hold"/>
                                        <p:tgtEl>
                                          <p:spTgt spid="150"/>
                                        </p:tgtEl>
                                        <p:attrNameLst>
                                          <p:attrName>ppt_x</p:attrName>
                                        </p:attrNameLst>
                                      </p:cBhvr>
                                      <p:tavLst>
                                        <p:tav tm="0">
                                          <p:val>
                                            <p:strVal val="0-#ppt_w/2"/>
                                          </p:val>
                                        </p:tav>
                                        <p:tav tm="100000">
                                          <p:val>
                                            <p:strVal val="#ppt_x"/>
                                          </p:val>
                                        </p:tav>
                                      </p:tavLst>
                                    </p:anim>
                                    <p:anim calcmode="lin" valueType="num">
                                      <p:cBhvr additive="base">
                                        <p:cTn id="14" dur="500" fill="hold"/>
                                        <p:tgtEl>
                                          <p:spTgt spid="15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812185"/>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变形图的绘制：应根据弯矩图判断杆件的凹凸方向，注意反弯点</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的利用。</a:t>
            </a:r>
          </a:p>
        </p:txBody>
      </p:sp>
      <p:graphicFrame>
        <p:nvGraphicFramePr>
          <p:cNvPr id="117" name="Object 2"/>
          <p:cNvGraphicFramePr>
            <a:graphicFrameLocks noChangeAspect="1"/>
          </p:cNvGraphicFramePr>
          <p:nvPr/>
        </p:nvGraphicFramePr>
        <p:xfrm>
          <a:off x="5448304" y="4762520"/>
          <a:ext cx="3000375" cy="1524000"/>
        </p:xfrm>
        <a:graphic>
          <a:graphicData uri="http://schemas.openxmlformats.org/presentationml/2006/ole">
            <mc:AlternateContent xmlns:mc="http://schemas.openxmlformats.org/markup-compatibility/2006">
              <mc:Choice xmlns:v="urn:schemas-microsoft-com:vml" Requires="v">
                <p:oleObj spid="_x0000_s533528" name="BMP 图象" r:id="rId4" imgW="3000000" imgH="1523810" progId="PBrush">
                  <p:embed/>
                </p:oleObj>
              </mc:Choice>
              <mc:Fallback>
                <p:oleObj name="BMP 图象" r:id="rId4" imgW="3000000" imgH="1523810" progId="PBrush">
                  <p:embed/>
                  <p:pic>
                    <p:nvPicPr>
                      <p:cNvPr id="0" name="Object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48304" y="4762520"/>
                        <a:ext cx="30003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8" name="Group 4"/>
          <p:cNvGrpSpPr>
            <a:grpSpLocks/>
          </p:cNvGrpSpPr>
          <p:nvPr/>
        </p:nvGrpSpPr>
        <p:grpSpPr bwMode="auto">
          <a:xfrm>
            <a:off x="1044567" y="2543185"/>
            <a:ext cx="3228976" cy="2386013"/>
            <a:chOff x="654" y="634"/>
            <a:chExt cx="2034" cy="1503"/>
          </a:xfrm>
        </p:grpSpPr>
        <p:graphicFrame>
          <p:nvGraphicFramePr>
            <p:cNvPr id="119" name="Object 5"/>
            <p:cNvGraphicFramePr>
              <a:graphicFrameLocks noChangeAspect="1"/>
            </p:cNvGraphicFramePr>
            <p:nvPr/>
          </p:nvGraphicFramePr>
          <p:xfrm>
            <a:off x="792" y="768"/>
            <a:ext cx="1896" cy="1212"/>
          </p:xfrm>
          <a:graphic>
            <a:graphicData uri="http://schemas.openxmlformats.org/presentationml/2006/ole">
              <mc:AlternateContent xmlns:mc="http://schemas.openxmlformats.org/markup-compatibility/2006">
                <mc:Choice xmlns:v="urn:schemas-microsoft-com:vml" Requires="v">
                  <p:oleObj spid="_x0000_s533529" name="BMP 图像" r:id="rId6" imgW="3010320" imgH="1924319" progId="PBrush">
                    <p:embed/>
                  </p:oleObj>
                </mc:Choice>
                <mc:Fallback>
                  <p:oleObj name="BMP 图像" r:id="rId6" imgW="3010320" imgH="1924319" progId="PBrush">
                    <p:embed/>
                    <p:pic>
                      <p:nvPicPr>
                        <p:cNvPr id="0" name="Object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 y="768"/>
                          <a:ext cx="1896" cy="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Line 6"/>
            <p:cNvSpPr>
              <a:spLocks noChangeShapeType="1"/>
            </p:cNvSpPr>
            <p:nvPr/>
          </p:nvSpPr>
          <p:spPr bwMode="auto">
            <a:xfrm flipV="1">
              <a:off x="914" y="1088"/>
              <a:ext cx="0" cy="769"/>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1" name="Rectangle 7"/>
            <p:cNvSpPr>
              <a:spLocks noChangeArrowheads="1"/>
            </p:cNvSpPr>
            <p:nvPr/>
          </p:nvSpPr>
          <p:spPr bwMode="auto">
            <a:xfrm>
              <a:off x="1886" y="634"/>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122" name="Line 8"/>
            <p:cNvSpPr>
              <a:spLocks noChangeShapeType="1"/>
            </p:cNvSpPr>
            <p:nvPr/>
          </p:nvSpPr>
          <p:spPr bwMode="auto">
            <a:xfrm>
              <a:off x="1833" y="741"/>
              <a:ext cx="0" cy="340"/>
            </a:xfrm>
            <a:prstGeom prst="line">
              <a:avLst/>
            </a:prstGeom>
            <a:noFill/>
            <a:ln w="38100">
              <a:solidFill>
                <a:srgbClr val="0033CC"/>
              </a:solidFill>
              <a:round/>
              <a:headEnd type="triangle" w="med" len="lg"/>
              <a:tailEnd type="non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3" name="Line 9"/>
            <p:cNvSpPr>
              <a:spLocks noChangeShapeType="1"/>
            </p:cNvSpPr>
            <p:nvPr/>
          </p:nvSpPr>
          <p:spPr bwMode="auto">
            <a:xfrm>
              <a:off x="914" y="1857"/>
              <a:ext cx="1707" cy="0"/>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4" name="Line 10"/>
            <p:cNvSpPr>
              <a:spLocks noChangeShapeType="1"/>
            </p:cNvSpPr>
            <p:nvPr/>
          </p:nvSpPr>
          <p:spPr bwMode="auto">
            <a:xfrm>
              <a:off x="1833" y="1088"/>
              <a:ext cx="788" cy="13"/>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5" name="Line 11"/>
            <p:cNvSpPr>
              <a:spLocks noChangeShapeType="1"/>
            </p:cNvSpPr>
            <p:nvPr/>
          </p:nvSpPr>
          <p:spPr bwMode="auto">
            <a:xfrm flipV="1">
              <a:off x="1702" y="758"/>
              <a:ext cx="0" cy="340"/>
            </a:xfrm>
            <a:prstGeom prst="line">
              <a:avLst/>
            </a:prstGeom>
            <a:noFill/>
            <a:ln w="38100">
              <a:solidFill>
                <a:srgbClr val="0033CC"/>
              </a:solidFill>
              <a:round/>
              <a:headEnd type="triangle" w="med" len="lg"/>
              <a:tailEnd type="none" w="med"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6" name="Line 12"/>
            <p:cNvSpPr>
              <a:spLocks noChangeShapeType="1"/>
            </p:cNvSpPr>
            <p:nvPr/>
          </p:nvSpPr>
          <p:spPr bwMode="auto">
            <a:xfrm flipH="1" flipV="1">
              <a:off x="2621" y="1088"/>
              <a:ext cx="0" cy="769"/>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7" name="Line 13"/>
            <p:cNvSpPr>
              <a:spLocks noChangeShapeType="1"/>
            </p:cNvSpPr>
            <p:nvPr/>
          </p:nvSpPr>
          <p:spPr bwMode="auto">
            <a:xfrm>
              <a:off x="914" y="1088"/>
              <a:ext cx="788" cy="0"/>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28" name="Rectangle 14"/>
            <p:cNvSpPr>
              <a:spLocks noChangeArrowheads="1"/>
            </p:cNvSpPr>
            <p:nvPr/>
          </p:nvSpPr>
          <p:spPr bwMode="auto">
            <a:xfrm>
              <a:off x="1481" y="634"/>
              <a:ext cx="214" cy="2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33CC"/>
                  </a:solidFill>
                  <a:effectLst/>
                  <a:uLnTx/>
                  <a:uFillTx/>
                  <a:latin typeface="Times New Roman" pitchFamily="18" charset="0"/>
                  <a:ea typeface="宋体" charset="-122"/>
                  <a:cs typeface="+mn-cs"/>
                </a:rPr>
                <a:t>P</a:t>
              </a:r>
              <a:endParaRPr kumimoji="1" lang="en-US" altLang="zh-CN" sz="2800" b="1" i="1"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132" name="Line 15"/>
            <p:cNvSpPr>
              <a:spLocks noChangeShapeType="1"/>
            </p:cNvSpPr>
            <p:nvPr/>
          </p:nvSpPr>
          <p:spPr bwMode="auto">
            <a:xfrm flipH="1" flipV="1">
              <a:off x="654" y="1088"/>
              <a:ext cx="263"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44" name="Line 16"/>
            <p:cNvSpPr>
              <a:spLocks noChangeShapeType="1"/>
            </p:cNvSpPr>
            <p:nvPr/>
          </p:nvSpPr>
          <p:spPr bwMode="auto">
            <a:xfrm>
              <a:off x="917" y="808"/>
              <a:ext cx="1706" cy="559"/>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1" name="Line 17"/>
            <p:cNvSpPr>
              <a:spLocks noChangeShapeType="1"/>
            </p:cNvSpPr>
            <p:nvPr/>
          </p:nvSpPr>
          <p:spPr bwMode="auto">
            <a:xfrm flipV="1">
              <a:off x="917" y="808"/>
              <a:ext cx="0" cy="2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2" name="Line 18"/>
            <p:cNvSpPr>
              <a:spLocks noChangeShapeType="1"/>
            </p:cNvSpPr>
            <p:nvPr/>
          </p:nvSpPr>
          <p:spPr bwMode="auto">
            <a:xfrm flipH="1" flipV="1">
              <a:off x="2377" y="1116"/>
              <a:ext cx="0" cy="74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53" name="Object 19"/>
            <p:cNvGraphicFramePr>
              <a:graphicFrameLocks/>
            </p:cNvGraphicFramePr>
            <p:nvPr/>
          </p:nvGraphicFramePr>
          <p:xfrm>
            <a:off x="671" y="788"/>
            <a:ext cx="236" cy="206"/>
          </p:xfrm>
          <a:graphic>
            <a:graphicData uri="http://schemas.openxmlformats.org/presentationml/2006/ole">
              <mc:AlternateContent xmlns:mc="http://schemas.openxmlformats.org/markup-compatibility/2006">
                <mc:Choice xmlns:v="urn:schemas-microsoft-com:vml" Requires="v">
                  <p:oleObj spid="_x0000_s533530" name="公式" r:id="rId8" imgW="203040" imgH="177480" progId="Equation.3">
                    <p:embed/>
                  </p:oleObj>
                </mc:Choice>
                <mc:Fallback>
                  <p:oleObj name="公式" r:id="rId8" imgW="203040" imgH="177480" progId="Equation.3">
                    <p:embed/>
                    <p:pic>
                      <p:nvPicPr>
                        <p:cNvPr id="0"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1" y="788"/>
                          <a:ext cx="236"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4" name="Line 20"/>
            <p:cNvSpPr>
              <a:spLocks noChangeShapeType="1"/>
            </p:cNvSpPr>
            <p:nvPr/>
          </p:nvSpPr>
          <p:spPr bwMode="auto">
            <a:xfrm>
              <a:off x="672" y="1104"/>
              <a:ext cx="0" cy="769"/>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5" name="Line 21"/>
            <p:cNvSpPr>
              <a:spLocks noChangeShapeType="1"/>
            </p:cNvSpPr>
            <p:nvPr/>
          </p:nvSpPr>
          <p:spPr bwMode="auto">
            <a:xfrm flipV="1">
              <a:off x="917" y="1857"/>
              <a:ext cx="0" cy="28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6" name="Line 22"/>
            <p:cNvSpPr>
              <a:spLocks noChangeShapeType="1"/>
            </p:cNvSpPr>
            <p:nvPr/>
          </p:nvSpPr>
          <p:spPr bwMode="auto">
            <a:xfrm flipH="1">
              <a:off x="671" y="1857"/>
              <a:ext cx="263"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57" name="Line 23"/>
            <p:cNvSpPr>
              <a:spLocks noChangeShapeType="1"/>
            </p:cNvSpPr>
            <p:nvPr/>
          </p:nvSpPr>
          <p:spPr bwMode="auto">
            <a:xfrm flipV="1">
              <a:off x="917" y="1577"/>
              <a:ext cx="1706" cy="56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58" name="Group 24"/>
          <p:cNvGrpSpPr>
            <a:grpSpLocks/>
          </p:cNvGrpSpPr>
          <p:nvPr/>
        </p:nvGrpSpPr>
        <p:grpSpPr bwMode="auto">
          <a:xfrm>
            <a:off x="5567354" y="2753564"/>
            <a:ext cx="2743200" cy="1376363"/>
            <a:chOff x="3120" y="1488"/>
            <a:chExt cx="1248" cy="578"/>
          </a:xfrm>
        </p:grpSpPr>
        <p:sp>
          <p:nvSpPr>
            <p:cNvPr id="159" name="Line 25"/>
            <p:cNvSpPr>
              <a:spLocks noChangeShapeType="1"/>
            </p:cNvSpPr>
            <p:nvPr/>
          </p:nvSpPr>
          <p:spPr bwMode="auto">
            <a:xfrm flipV="1">
              <a:off x="3120" y="1536"/>
              <a:ext cx="0" cy="528"/>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0" name="Line 26"/>
            <p:cNvSpPr>
              <a:spLocks noChangeShapeType="1"/>
            </p:cNvSpPr>
            <p:nvPr/>
          </p:nvSpPr>
          <p:spPr bwMode="auto">
            <a:xfrm>
              <a:off x="3792" y="1488"/>
              <a:ext cx="240" cy="0"/>
            </a:xfrm>
            <a:prstGeom prst="line">
              <a:avLst/>
            </a:prstGeom>
            <a:noFill/>
            <a:ln w="38100">
              <a:solidFill>
                <a:srgbClr val="0033CC"/>
              </a:solidFill>
              <a:round/>
              <a:headEnd type="none" w="med" len="lg"/>
              <a:tailEnd type="triangle" w="med" len="lg"/>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1" name="Line 27"/>
            <p:cNvSpPr>
              <a:spLocks noChangeShapeType="1"/>
            </p:cNvSpPr>
            <p:nvPr/>
          </p:nvSpPr>
          <p:spPr bwMode="auto">
            <a:xfrm>
              <a:off x="3120" y="2064"/>
              <a:ext cx="1248" cy="0"/>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2" name="Line 28"/>
            <p:cNvSpPr>
              <a:spLocks noChangeShapeType="1"/>
            </p:cNvSpPr>
            <p:nvPr/>
          </p:nvSpPr>
          <p:spPr bwMode="auto">
            <a:xfrm>
              <a:off x="3792" y="1536"/>
              <a:ext cx="576" cy="9"/>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3" name="Line 29"/>
            <p:cNvSpPr>
              <a:spLocks noChangeShapeType="1"/>
            </p:cNvSpPr>
            <p:nvPr/>
          </p:nvSpPr>
          <p:spPr bwMode="auto">
            <a:xfrm flipH="1" flipV="1">
              <a:off x="3456" y="1488"/>
              <a:ext cx="240" cy="0"/>
            </a:xfrm>
            <a:prstGeom prst="line">
              <a:avLst/>
            </a:prstGeom>
            <a:noFill/>
            <a:ln w="38100">
              <a:solidFill>
                <a:srgbClr val="0033CC"/>
              </a:solidFill>
              <a:round/>
              <a:headEnd type="none" w="med" len="lg"/>
              <a:tailEnd type="triangle" w="med" len="lg"/>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4" name="Line 30"/>
            <p:cNvSpPr>
              <a:spLocks noChangeShapeType="1"/>
            </p:cNvSpPr>
            <p:nvPr/>
          </p:nvSpPr>
          <p:spPr bwMode="auto">
            <a:xfrm flipH="1" flipV="1">
              <a:off x="4368" y="1536"/>
              <a:ext cx="0" cy="528"/>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5" name="Line 31"/>
            <p:cNvSpPr>
              <a:spLocks noChangeShapeType="1"/>
            </p:cNvSpPr>
            <p:nvPr/>
          </p:nvSpPr>
          <p:spPr bwMode="auto">
            <a:xfrm>
              <a:off x="3120" y="1536"/>
              <a:ext cx="576" cy="0"/>
            </a:xfrm>
            <a:prstGeom prst="line">
              <a:avLst/>
            </a:prstGeom>
            <a:noFill/>
            <a:ln w="57150">
              <a:solidFill>
                <a:srgbClr val="990033"/>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6" name="Line 32"/>
            <p:cNvSpPr>
              <a:spLocks noChangeShapeType="1"/>
            </p:cNvSpPr>
            <p:nvPr/>
          </p:nvSpPr>
          <p:spPr bwMode="auto">
            <a:xfrm>
              <a:off x="3120" y="1536"/>
              <a:ext cx="197" cy="530"/>
            </a:xfrm>
            <a:prstGeom prst="line">
              <a:avLst/>
            </a:prstGeom>
            <a:noFill/>
            <a:ln w="28575">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7" name="Line 33"/>
            <p:cNvSpPr>
              <a:spLocks noChangeShapeType="1"/>
            </p:cNvSpPr>
            <p:nvPr/>
          </p:nvSpPr>
          <p:spPr bwMode="auto">
            <a:xfrm>
              <a:off x="3120" y="1920"/>
              <a:ext cx="1248" cy="0"/>
            </a:xfrm>
            <a:prstGeom prst="line">
              <a:avLst/>
            </a:prstGeom>
            <a:noFill/>
            <a:ln w="28575">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sp>
          <p:nvSpPr>
            <p:cNvPr id="168" name="Line 34"/>
            <p:cNvSpPr>
              <a:spLocks noChangeShapeType="1"/>
            </p:cNvSpPr>
            <p:nvPr/>
          </p:nvSpPr>
          <p:spPr bwMode="auto">
            <a:xfrm flipV="1">
              <a:off x="4176" y="1536"/>
              <a:ext cx="192" cy="528"/>
            </a:xfrm>
            <a:prstGeom prst="line">
              <a:avLst/>
            </a:prstGeom>
            <a:noFill/>
            <a:ln w="28575">
              <a:solidFill>
                <a:srgbClr val="FF0000"/>
              </a:solidFill>
              <a:round/>
              <a:headEnd/>
              <a:tailEnd/>
            </a:ln>
          </p:spPr>
          <p:txBody>
            <a:bodyPr wrap="none" anchor="ctr"/>
            <a:lstStyle/>
            <a:p>
              <a:pPr algn="l" rtl="0" fontAlgn="base">
                <a:spcBef>
                  <a:spcPct val="50000"/>
                </a:spcBef>
                <a:spcAft>
                  <a:spcPct val="0"/>
                </a:spcAft>
              </a:pPr>
              <a:endParaRPr kumimoji="1" lang="zh-CN" altLang="en-US" sz="2400" b="1" kern="1200">
                <a:solidFill>
                  <a:srgbClr val="000000"/>
                </a:solidFill>
                <a:latin typeface="Times New Roman" pitchFamily="18" charset="0"/>
                <a:ea typeface="楷体_GB2312" pitchFamily="49" charset="-122"/>
                <a:cs typeface="+mn-cs"/>
              </a:endParaRPr>
            </a:p>
          </p:txBody>
        </p:sp>
      </p:grpSp>
      <p:grpSp>
        <p:nvGrpSpPr>
          <p:cNvPr id="169" name="Group 35"/>
          <p:cNvGrpSpPr>
            <a:grpSpLocks/>
          </p:cNvGrpSpPr>
          <p:nvPr/>
        </p:nvGrpSpPr>
        <p:grpSpPr bwMode="auto">
          <a:xfrm>
            <a:off x="5143504" y="4457720"/>
            <a:ext cx="3493711" cy="1821103"/>
            <a:chOff x="1536" y="2928"/>
            <a:chExt cx="1514" cy="819"/>
          </a:xfrm>
        </p:grpSpPr>
        <p:sp>
          <p:nvSpPr>
            <p:cNvPr id="170" name="Rectangle 36"/>
            <p:cNvSpPr>
              <a:spLocks noChangeArrowheads="1"/>
            </p:cNvSpPr>
            <p:nvPr/>
          </p:nvSpPr>
          <p:spPr bwMode="auto">
            <a:xfrm>
              <a:off x="2448" y="2928"/>
              <a:ext cx="136" cy="18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171" name="Rectangle 37"/>
            <p:cNvSpPr>
              <a:spLocks noChangeArrowheads="1"/>
            </p:cNvSpPr>
            <p:nvPr/>
          </p:nvSpPr>
          <p:spPr bwMode="auto">
            <a:xfrm>
              <a:off x="2009" y="2928"/>
              <a:ext cx="136" cy="18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33CC"/>
                  </a:solidFill>
                  <a:effectLst/>
                  <a:uLnTx/>
                  <a:uFillTx/>
                  <a:latin typeface="Times New Roman" pitchFamily="18" charset="0"/>
                  <a:ea typeface="宋体" charset="-122"/>
                  <a:cs typeface="+mn-cs"/>
                </a:rPr>
                <a:t>1</a:t>
              </a:r>
              <a:endParaRPr kumimoji="1" lang="en-US" altLang="zh-CN" sz="2800" b="1" i="0" u="none" strike="noStrike" kern="1200" cap="none" spc="0" normalizeH="0" baseline="0" noProof="0">
                <a:ln>
                  <a:noFill/>
                </a:ln>
                <a:solidFill>
                  <a:srgbClr val="0033CC"/>
                </a:solidFill>
                <a:effectLst/>
                <a:uLnTx/>
                <a:uFillTx/>
                <a:latin typeface="Times New Roman" pitchFamily="18" charset="0"/>
                <a:ea typeface="宋体" charset="-122"/>
                <a:cs typeface="+mn-cs"/>
              </a:endParaRPr>
            </a:p>
          </p:txBody>
        </p:sp>
        <p:sp>
          <p:nvSpPr>
            <p:cNvPr id="172" name="Line 38"/>
            <p:cNvSpPr>
              <a:spLocks noChangeShapeType="1"/>
            </p:cNvSpPr>
            <p:nvPr/>
          </p:nvSpPr>
          <p:spPr bwMode="auto">
            <a:xfrm flipV="1">
              <a:off x="1680" y="3201"/>
              <a:ext cx="0" cy="528"/>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3" name="Line 39"/>
            <p:cNvSpPr>
              <a:spLocks noChangeShapeType="1"/>
            </p:cNvSpPr>
            <p:nvPr/>
          </p:nvSpPr>
          <p:spPr bwMode="auto">
            <a:xfrm>
              <a:off x="1680" y="3729"/>
              <a:ext cx="1248" cy="0"/>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4" name="Line 40"/>
            <p:cNvSpPr>
              <a:spLocks noChangeShapeType="1"/>
            </p:cNvSpPr>
            <p:nvPr/>
          </p:nvSpPr>
          <p:spPr bwMode="auto">
            <a:xfrm>
              <a:off x="2352" y="3201"/>
              <a:ext cx="576" cy="9"/>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5" name="Line 41"/>
            <p:cNvSpPr>
              <a:spLocks noChangeShapeType="1"/>
            </p:cNvSpPr>
            <p:nvPr/>
          </p:nvSpPr>
          <p:spPr bwMode="auto">
            <a:xfrm flipH="1" flipV="1">
              <a:off x="2928" y="3201"/>
              <a:ext cx="0" cy="528"/>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7" name="Line 42"/>
            <p:cNvSpPr>
              <a:spLocks noChangeShapeType="1"/>
            </p:cNvSpPr>
            <p:nvPr/>
          </p:nvSpPr>
          <p:spPr bwMode="auto">
            <a:xfrm>
              <a:off x="1680" y="3201"/>
              <a:ext cx="576" cy="0"/>
            </a:xfrm>
            <a:prstGeom prst="line">
              <a:avLst/>
            </a:prstGeom>
            <a:noFill/>
            <a:ln w="57150">
              <a:solidFill>
                <a:srgbClr val="990033"/>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8" name="Line 43"/>
            <p:cNvSpPr>
              <a:spLocks noChangeShapeType="1"/>
            </p:cNvSpPr>
            <p:nvPr/>
          </p:nvSpPr>
          <p:spPr bwMode="auto">
            <a:xfrm flipH="1">
              <a:off x="1824" y="3216"/>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79" name="Line 44"/>
            <p:cNvSpPr>
              <a:spLocks noChangeShapeType="1"/>
            </p:cNvSpPr>
            <p:nvPr/>
          </p:nvSpPr>
          <p:spPr bwMode="auto">
            <a:xfrm>
              <a:off x="1680" y="3360"/>
              <a:ext cx="124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0" name="Line 45"/>
            <p:cNvSpPr>
              <a:spLocks noChangeShapeType="1"/>
            </p:cNvSpPr>
            <p:nvPr/>
          </p:nvSpPr>
          <p:spPr bwMode="auto">
            <a:xfrm>
              <a:off x="1680" y="3600"/>
              <a:ext cx="1248" cy="0"/>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1" name="Line 46"/>
            <p:cNvSpPr>
              <a:spLocks noChangeShapeType="1"/>
            </p:cNvSpPr>
            <p:nvPr/>
          </p:nvSpPr>
          <p:spPr bwMode="auto">
            <a:xfrm flipH="1" flipV="1">
              <a:off x="2784" y="3216"/>
              <a:ext cx="0" cy="528"/>
            </a:xfrm>
            <a:prstGeom prst="line">
              <a:avLst/>
            </a:prstGeom>
            <a:noFill/>
            <a:ln w="2857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82" name="Object 47"/>
            <p:cNvGraphicFramePr>
              <a:graphicFrameLocks noChangeAspect="1"/>
            </p:cNvGraphicFramePr>
            <p:nvPr/>
          </p:nvGraphicFramePr>
          <p:xfrm>
            <a:off x="2976" y="3176"/>
            <a:ext cx="74" cy="139"/>
          </p:xfrm>
          <a:graphic>
            <a:graphicData uri="http://schemas.openxmlformats.org/presentationml/2006/ole">
              <mc:AlternateContent xmlns:mc="http://schemas.openxmlformats.org/markup-compatibility/2006">
                <mc:Choice xmlns:v="urn:schemas-microsoft-com:vml" Requires="v">
                  <p:oleObj spid="_x0000_s533531" name="Equation" r:id="rId10" imgW="88560" imgH="164880" progId="Equation.DSMT4">
                    <p:embed/>
                  </p:oleObj>
                </mc:Choice>
                <mc:Fallback>
                  <p:oleObj name="Equation" r:id="rId10" imgW="88560" imgH="164880" progId="Equation.DSMT4">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6" y="3176"/>
                          <a:ext cx="74" cy="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3" name="Object 48"/>
            <p:cNvGraphicFramePr>
              <a:graphicFrameLocks noChangeAspect="1"/>
            </p:cNvGraphicFramePr>
            <p:nvPr/>
          </p:nvGraphicFramePr>
          <p:xfrm>
            <a:off x="1536" y="3608"/>
            <a:ext cx="74" cy="139"/>
          </p:xfrm>
          <a:graphic>
            <a:graphicData uri="http://schemas.openxmlformats.org/presentationml/2006/ole">
              <mc:AlternateContent xmlns:mc="http://schemas.openxmlformats.org/markup-compatibility/2006">
                <mc:Choice xmlns:v="urn:schemas-microsoft-com:vml" Requires="v">
                  <p:oleObj spid="_x0000_s533532" name="公式" r:id="rId12" imgW="88560" imgH="164880" progId="Equation.3">
                    <p:embed/>
                  </p:oleObj>
                </mc:Choice>
                <mc:Fallback>
                  <p:oleObj name="公式" r:id="rId12" imgW="88560" imgH="164880" progId="Equation.3">
                    <p:embed/>
                    <p:pic>
                      <p:nvPicPr>
                        <p:cNvPr id="0" name="Object 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6" y="3608"/>
                          <a:ext cx="74" cy="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Freeform 49"/>
            <p:cNvSpPr>
              <a:spLocks/>
            </p:cNvSpPr>
            <p:nvPr/>
          </p:nvSpPr>
          <p:spPr bwMode="auto">
            <a:xfrm rot="5400000">
              <a:off x="2064" y="3120"/>
              <a:ext cx="288" cy="96"/>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type="stealth" w="sm"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85" name="Freeform 50"/>
            <p:cNvSpPr>
              <a:spLocks/>
            </p:cNvSpPr>
            <p:nvPr/>
          </p:nvSpPr>
          <p:spPr bwMode="auto">
            <a:xfrm rot="16200000" flipH="1">
              <a:off x="2256" y="3120"/>
              <a:ext cx="288" cy="96"/>
            </a:xfrm>
            <a:custGeom>
              <a:avLst/>
              <a:gdLst>
                <a:gd name="T0" fmla="*/ 0 w 480"/>
                <a:gd name="T1" fmla="*/ 77 h 240"/>
                <a:gd name="T2" fmla="*/ 58 w 480"/>
                <a:gd name="T3" fmla="*/ 19 h 240"/>
                <a:gd name="T4" fmla="*/ 144 w 480"/>
                <a:gd name="T5" fmla="*/ 0 h 240"/>
                <a:gd name="T6" fmla="*/ 230 w 480"/>
                <a:gd name="T7" fmla="*/ 19 h 240"/>
                <a:gd name="T8" fmla="*/ 288 w 480"/>
                <a:gd name="T9" fmla="*/ 96 h 240"/>
                <a:gd name="T10" fmla="*/ 0 60000 65536"/>
                <a:gd name="T11" fmla="*/ 0 60000 65536"/>
                <a:gd name="T12" fmla="*/ 0 60000 65536"/>
                <a:gd name="T13" fmla="*/ 0 60000 65536"/>
                <a:gd name="T14" fmla="*/ 0 60000 65536"/>
                <a:gd name="T15" fmla="*/ 0 w 480"/>
                <a:gd name="T16" fmla="*/ 0 h 240"/>
                <a:gd name="T17" fmla="*/ 480 w 480"/>
                <a:gd name="T18" fmla="*/ 240 h 240"/>
              </a:gdLst>
              <a:ahLst/>
              <a:cxnLst>
                <a:cxn ang="T10">
                  <a:pos x="T0" y="T1"/>
                </a:cxn>
                <a:cxn ang="T11">
                  <a:pos x="T2" y="T3"/>
                </a:cxn>
                <a:cxn ang="T12">
                  <a:pos x="T4" y="T5"/>
                </a:cxn>
                <a:cxn ang="T13">
                  <a:pos x="T6" y="T7"/>
                </a:cxn>
                <a:cxn ang="T14">
                  <a:pos x="T8" y="T9"/>
                </a:cxn>
              </a:cxnLst>
              <a:rect l="T15" t="T16" r="T17" b="T18"/>
              <a:pathLst>
                <a:path w="480" h="240">
                  <a:moveTo>
                    <a:pt x="0" y="192"/>
                  </a:moveTo>
                  <a:cubicBezTo>
                    <a:pt x="28" y="136"/>
                    <a:pt x="56" y="80"/>
                    <a:pt x="96" y="48"/>
                  </a:cubicBezTo>
                  <a:cubicBezTo>
                    <a:pt x="136" y="16"/>
                    <a:pt x="192" y="0"/>
                    <a:pt x="240" y="0"/>
                  </a:cubicBezTo>
                  <a:cubicBezTo>
                    <a:pt x="288" y="0"/>
                    <a:pt x="344" y="8"/>
                    <a:pt x="384" y="48"/>
                  </a:cubicBezTo>
                  <a:cubicBezTo>
                    <a:pt x="424" y="88"/>
                    <a:pt x="464" y="208"/>
                    <a:pt x="480" y="240"/>
                  </a:cubicBezTo>
                </a:path>
              </a:pathLst>
            </a:custGeom>
            <a:noFill/>
            <a:ln w="38100">
              <a:solidFill>
                <a:srgbClr val="0033CC"/>
              </a:solidFill>
              <a:round/>
              <a:headEnd type="stealth" w="sm" len="lg"/>
              <a:tailEnd type="none" w="sm" len="lg"/>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aphicFrame>
        <p:nvGraphicFramePr>
          <p:cNvPr id="186" name="Object 52"/>
          <p:cNvGraphicFramePr>
            <a:graphicFrameLocks noChangeAspect="1"/>
          </p:cNvGraphicFramePr>
          <p:nvPr/>
        </p:nvGraphicFramePr>
        <p:xfrm>
          <a:off x="5262554" y="2500306"/>
          <a:ext cx="3352800" cy="1685925"/>
        </p:xfrm>
        <a:graphic>
          <a:graphicData uri="http://schemas.openxmlformats.org/presentationml/2006/ole">
            <mc:AlternateContent xmlns:mc="http://schemas.openxmlformats.org/markup-compatibility/2006">
              <mc:Choice xmlns:v="urn:schemas-microsoft-com:vml" Requires="v">
                <p:oleObj spid="_x0000_s533533" name="BMP 图像" r:id="rId13" imgW="3352381" imgH="1685714" progId="PBrush">
                  <p:embed/>
                </p:oleObj>
              </mc:Choice>
              <mc:Fallback>
                <p:oleObj name="BMP 图像" r:id="rId13" imgW="3352381" imgH="1685714" progId="PBrush">
                  <p:embed/>
                  <p:pic>
                    <p:nvPicPr>
                      <p:cNvPr id="0" name="Object 52"/>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62554" y="2500306"/>
                        <a:ext cx="3352800"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3527" name="Object 23"/>
          <p:cNvGraphicFramePr>
            <a:graphicFrameLocks noChangeAspect="1"/>
          </p:cNvGraphicFramePr>
          <p:nvPr/>
        </p:nvGraphicFramePr>
        <p:xfrm>
          <a:off x="1500166" y="5072074"/>
          <a:ext cx="1935163" cy="650875"/>
        </p:xfrm>
        <a:graphic>
          <a:graphicData uri="http://schemas.openxmlformats.org/presentationml/2006/ole">
            <mc:AlternateContent xmlns:mc="http://schemas.openxmlformats.org/markup-compatibility/2006">
              <mc:Choice xmlns:v="urn:schemas-microsoft-com:vml" Requires="v">
                <p:oleObj spid="_x0000_s533534" name="Equation" r:id="rId15" imgW="1244520" imgH="419040" progId="Equation.DSMT4">
                  <p:embed/>
                </p:oleObj>
              </mc:Choice>
              <mc:Fallback>
                <p:oleObj name="Equation" r:id="rId15" imgW="1244520" imgH="419040" progId="Equation.DSMT4">
                  <p:embed/>
                  <p:pic>
                    <p:nvPicPr>
                      <p:cNvPr id="0" name="Picture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0166" y="5072074"/>
                        <a:ext cx="1935163"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8" name="矩形 187"/>
          <p:cNvSpPr/>
          <p:nvPr/>
        </p:nvSpPr>
        <p:spPr>
          <a:xfrm>
            <a:off x="1428728" y="5857892"/>
            <a:ext cx="3791423" cy="369332"/>
          </a:xfrm>
          <a:prstGeom prst="rect">
            <a:avLst/>
          </a:prstGeom>
        </p:spPr>
        <p:txBody>
          <a:bodyPr wrap="none">
            <a:spAutoFit/>
          </a:bodyPr>
          <a:lstStyle/>
          <a:p>
            <a:r>
              <a:rPr lang="zh-CN" altLang="en-US" b="1">
                <a:latin typeface="Times New Roman" pitchFamily="18" charset="0"/>
                <a:cs typeface="Times New Roman" pitchFamily="18" charset="0"/>
              </a:rPr>
              <a:t>反弯点：</a:t>
            </a:r>
            <a:r>
              <a:rPr lang="en-US" altLang="zh-CN" b="1" i="1">
                <a:latin typeface="Times New Roman" pitchFamily="18" charset="0"/>
                <a:cs typeface="Times New Roman" pitchFamily="18" charset="0"/>
              </a:rPr>
              <a:t>M</a:t>
            </a:r>
            <a:r>
              <a:rPr lang="en-US" altLang="zh-CN" b="1" i="1" baseline="-25000">
                <a:latin typeface="Times New Roman" pitchFamily="18" charset="0"/>
                <a:cs typeface="Times New Roman" pitchFamily="18" charset="0"/>
              </a:rPr>
              <a:t> </a:t>
            </a:r>
            <a:r>
              <a:rPr lang="en-US" altLang="zh-CN" b="1">
                <a:latin typeface="Times New Roman" pitchFamily="18" charset="0"/>
                <a:cs typeface="Times New Roman" pitchFamily="18" charset="0"/>
              </a:rPr>
              <a:t>=</a:t>
            </a:r>
            <a:r>
              <a:rPr lang="en-US" altLang="zh-CN" b="1" baseline="-25000">
                <a:latin typeface="Times New Roman" pitchFamily="18" charset="0"/>
                <a:cs typeface="Times New Roman" pitchFamily="18" charset="0"/>
              </a:rPr>
              <a:t> </a:t>
            </a:r>
            <a:r>
              <a:rPr lang="en-US" altLang="zh-CN" b="1">
                <a:latin typeface="Times New Roman" pitchFamily="18" charset="0"/>
                <a:cs typeface="Times New Roman" pitchFamily="18" charset="0"/>
              </a:rPr>
              <a:t>0 </a:t>
            </a:r>
            <a:r>
              <a:rPr lang="zh-CN" altLang="en-US" b="1">
                <a:latin typeface="Times New Roman" pitchFamily="18" charset="0"/>
                <a:cs typeface="Times New Roman" pitchFamily="18" charset="0"/>
              </a:rPr>
              <a:t>的点，挠度的拐点；</a:t>
            </a:r>
            <a:endParaRPr lang="zh-CN" altLang="en-US"/>
          </a:p>
        </p:txBody>
      </p:sp>
      <p:sp>
        <p:nvSpPr>
          <p:cNvPr id="189" name="椭圆 188"/>
          <p:cNvSpPr>
            <a:spLocks noChangeAspect="1"/>
          </p:cNvSpPr>
          <p:nvPr/>
        </p:nvSpPr>
        <p:spPr bwMode="auto">
          <a:xfrm>
            <a:off x="2714612" y="4362316"/>
            <a:ext cx="214314" cy="250033"/>
          </a:xfrm>
          <a:prstGeom prst="ellipse">
            <a:avLst/>
          </a:prstGeom>
          <a:noFill/>
          <a:ln w="28575"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 calcmode="lin" valueType="num">
                                      <p:cBhvr additive="base">
                                        <p:cTn id="7" dur="500" fill="hold"/>
                                        <p:tgtEl>
                                          <p:spTgt spid="118"/>
                                        </p:tgtEl>
                                        <p:attrNameLst>
                                          <p:attrName>ppt_x</p:attrName>
                                        </p:attrNameLst>
                                      </p:cBhvr>
                                      <p:tavLst>
                                        <p:tav tm="0">
                                          <p:val>
                                            <p:strVal val="0-#ppt_w/2"/>
                                          </p:val>
                                        </p:tav>
                                        <p:tav tm="100000">
                                          <p:val>
                                            <p:strVal val="#ppt_x"/>
                                          </p:val>
                                        </p:tav>
                                      </p:tavLst>
                                    </p:anim>
                                    <p:anim calcmode="lin" valueType="num">
                                      <p:cBhvr additive="base">
                                        <p:cTn id="8" dur="500" fill="hold"/>
                                        <p:tgtEl>
                                          <p:spTgt spid="1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3527"/>
                                        </p:tgtEl>
                                        <p:attrNameLst>
                                          <p:attrName>style.visibility</p:attrName>
                                        </p:attrNameLst>
                                      </p:cBhvr>
                                      <p:to>
                                        <p:strVal val="visible"/>
                                      </p:to>
                                    </p:set>
                                    <p:anim calcmode="lin" valueType="num">
                                      <p:cBhvr additive="base">
                                        <p:cTn id="13" dur="500" fill="hold"/>
                                        <p:tgtEl>
                                          <p:spTgt spid="533527"/>
                                        </p:tgtEl>
                                        <p:attrNameLst>
                                          <p:attrName>ppt_x</p:attrName>
                                        </p:attrNameLst>
                                      </p:cBhvr>
                                      <p:tavLst>
                                        <p:tav tm="0">
                                          <p:val>
                                            <p:strVal val="#ppt_x"/>
                                          </p:val>
                                        </p:tav>
                                        <p:tav tm="100000">
                                          <p:val>
                                            <p:strVal val="#ppt_x"/>
                                          </p:val>
                                        </p:tav>
                                      </p:tavLst>
                                    </p:anim>
                                    <p:anim calcmode="lin" valueType="num">
                                      <p:cBhvr additive="base">
                                        <p:cTn id="14" dur="500" fill="hold"/>
                                        <p:tgtEl>
                                          <p:spTgt spid="53352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8"/>
                                        </p:tgtEl>
                                        <p:attrNameLst>
                                          <p:attrName>style.visibility</p:attrName>
                                        </p:attrNameLst>
                                      </p:cBhvr>
                                      <p:to>
                                        <p:strVal val="visible"/>
                                      </p:to>
                                    </p:set>
                                    <p:anim calcmode="lin" valueType="num">
                                      <p:cBhvr additive="base">
                                        <p:cTn id="17" dur="500" fill="hold"/>
                                        <p:tgtEl>
                                          <p:spTgt spid="188"/>
                                        </p:tgtEl>
                                        <p:attrNameLst>
                                          <p:attrName>ppt_x</p:attrName>
                                        </p:attrNameLst>
                                      </p:cBhvr>
                                      <p:tavLst>
                                        <p:tav tm="0">
                                          <p:val>
                                            <p:strVal val="#ppt_x"/>
                                          </p:val>
                                        </p:tav>
                                        <p:tav tm="100000">
                                          <p:val>
                                            <p:strVal val="#ppt_x"/>
                                          </p:val>
                                        </p:tav>
                                      </p:tavLst>
                                    </p:anim>
                                    <p:anim calcmode="lin" valueType="num">
                                      <p:cBhvr additive="base">
                                        <p:cTn id="18" dur="500" fill="hold"/>
                                        <p:tgtEl>
                                          <p:spTgt spid="18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9"/>
                                        </p:tgtEl>
                                        <p:attrNameLst>
                                          <p:attrName>style.visibility</p:attrName>
                                        </p:attrNameLst>
                                      </p:cBhvr>
                                      <p:to>
                                        <p:strVal val="visible"/>
                                      </p:to>
                                    </p:set>
                                  </p:childTnLst>
                                </p:cTn>
                              </p:par>
                            </p:childTnLst>
                          </p:cTn>
                        </p:par>
                        <p:par>
                          <p:cTn id="23" fill="hold">
                            <p:stCondLst>
                              <p:cond delay="0"/>
                            </p:stCondLst>
                            <p:childTnLst>
                              <p:par>
                                <p:cTn id="24" presetID="6" presetClass="emph" presetSubtype="0" fill="hold" grpId="1" nodeType="afterEffect">
                                  <p:stCondLst>
                                    <p:cond delay="0"/>
                                  </p:stCondLst>
                                  <p:childTnLst>
                                    <p:animScale>
                                      <p:cBhvr>
                                        <p:cTn id="25" dur="2000" fill="hold"/>
                                        <p:tgtEl>
                                          <p:spTgt spid="189"/>
                                        </p:tgtEl>
                                      </p:cBhvr>
                                      <p:by x="150000" y="150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58"/>
                                        </p:tgtEl>
                                        <p:attrNameLst>
                                          <p:attrName>style.visibility</p:attrName>
                                        </p:attrNameLst>
                                      </p:cBhvr>
                                      <p:to>
                                        <p:strVal val="visible"/>
                                      </p:to>
                                    </p:set>
                                    <p:anim calcmode="lin" valueType="num">
                                      <p:cBhvr additive="base">
                                        <p:cTn id="30" dur="500" fill="hold"/>
                                        <p:tgtEl>
                                          <p:spTgt spid="158"/>
                                        </p:tgtEl>
                                        <p:attrNameLst>
                                          <p:attrName>ppt_x</p:attrName>
                                        </p:attrNameLst>
                                      </p:cBhvr>
                                      <p:tavLst>
                                        <p:tav tm="0">
                                          <p:val>
                                            <p:strVal val="0-#ppt_w/2"/>
                                          </p:val>
                                        </p:tav>
                                        <p:tav tm="100000">
                                          <p:val>
                                            <p:strVal val="#ppt_x"/>
                                          </p:val>
                                        </p:tav>
                                      </p:tavLst>
                                    </p:anim>
                                    <p:anim calcmode="lin" valueType="num">
                                      <p:cBhvr additive="base">
                                        <p:cTn id="31" dur="500" fill="hold"/>
                                        <p:tgtEl>
                                          <p:spTgt spid="15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86"/>
                                        </p:tgtEl>
                                        <p:attrNameLst>
                                          <p:attrName>style.visibility</p:attrName>
                                        </p:attrNameLst>
                                      </p:cBhvr>
                                      <p:to>
                                        <p:strVal val="visible"/>
                                      </p:to>
                                    </p:set>
                                    <p:anim calcmode="lin" valueType="num">
                                      <p:cBhvr additive="base">
                                        <p:cTn id="36" dur="500" fill="hold"/>
                                        <p:tgtEl>
                                          <p:spTgt spid="186"/>
                                        </p:tgtEl>
                                        <p:attrNameLst>
                                          <p:attrName>ppt_x</p:attrName>
                                        </p:attrNameLst>
                                      </p:cBhvr>
                                      <p:tavLst>
                                        <p:tav tm="0">
                                          <p:val>
                                            <p:strVal val="0-#ppt_w/2"/>
                                          </p:val>
                                        </p:tav>
                                        <p:tav tm="100000">
                                          <p:val>
                                            <p:strVal val="#ppt_x"/>
                                          </p:val>
                                        </p:tav>
                                      </p:tavLst>
                                    </p:anim>
                                    <p:anim calcmode="lin" valueType="num">
                                      <p:cBhvr additive="base">
                                        <p:cTn id="37" dur="500" fill="hold"/>
                                        <p:tgtEl>
                                          <p:spTgt spid="186"/>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69"/>
                                        </p:tgtEl>
                                        <p:attrNameLst>
                                          <p:attrName>style.visibility</p:attrName>
                                        </p:attrNameLst>
                                      </p:cBhvr>
                                      <p:to>
                                        <p:strVal val="visible"/>
                                      </p:to>
                                    </p:set>
                                    <p:anim calcmode="lin" valueType="num">
                                      <p:cBhvr additive="base">
                                        <p:cTn id="42" dur="500" fill="hold"/>
                                        <p:tgtEl>
                                          <p:spTgt spid="169"/>
                                        </p:tgtEl>
                                        <p:attrNameLst>
                                          <p:attrName>ppt_x</p:attrName>
                                        </p:attrNameLst>
                                      </p:cBhvr>
                                      <p:tavLst>
                                        <p:tav tm="0">
                                          <p:val>
                                            <p:strVal val="0-#ppt_w/2"/>
                                          </p:val>
                                        </p:tav>
                                        <p:tav tm="100000">
                                          <p:val>
                                            <p:strVal val="#ppt_x"/>
                                          </p:val>
                                        </p:tav>
                                      </p:tavLst>
                                    </p:anim>
                                    <p:anim calcmode="lin" valueType="num">
                                      <p:cBhvr additive="base">
                                        <p:cTn id="43" dur="500" fill="hold"/>
                                        <p:tgtEl>
                                          <p:spTgt spid="169"/>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117"/>
                                        </p:tgtEl>
                                        <p:attrNameLst>
                                          <p:attrName>style.visibility</p:attrName>
                                        </p:attrNameLst>
                                      </p:cBhvr>
                                      <p:to>
                                        <p:strVal val="visible"/>
                                      </p:to>
                                    </p:set>
                                    <p:anim calcmode="lin" valueType="num">
                                      <p:cBhvr additive="base">
                                        <p:cTn id="48" dur="500" fill="hold"/>
                                        <p:tgtEl>
                                          <p:spTgt spid="117"/>
                                        </p:tgtEl>
                                        <p:attrNameLst>
                                          <p:attrName>ppt_x</p:attrName>
                                        </p:attrNameLst>
                                      </p:cBhvr>
                                      <p:tavLst>
                                        <p:tav tm="0">
                                          <p:val>
                                            <p:strVal val="0-#ppt_w/2"/>
                                          </p:val>
                                        </p:tav>
                                        <p:tav tm="100000">
                                          <p:val>
                                            <p:strVal val="#ppt_x"/>
                                          </p:val>
                                        </p:tav>
                                      </p:tavLst>
                                    </p:anim>
                                    <p:anim calcmode="lin" valueType="num">
                                      <p:cBhvr additive="base">
                                        <p:cTn id="49" dur="500" fill="hold"/>
                                        <p:tgtEl>
                                          <p:spTgt spid="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P spid="189" grpId="0" animBg="1"/>
      <p:bldP spid="189"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应用举例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图乘法</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6" name="Rectangle 6"/>
          <p:cNvSpPr>
            <a:spLocks noChangeArrowheads="1"/>
          </p:cNvSpPr>
          <p:nvPr/>
        </p:nvSpPr>
        <p:spPr bwMode="auto">
          <a:xfrm>
            <a:off x="469540" y="1812185"/>
            <a:ext cx="82458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变形趋势的判断：</a:t>
            </a:r>
            <a:endParaRPr lang="en-US" altLang="zh-CN" sz="2000" b="1">
              <a:latin typeface="Times New Roman" pitchFamily="18" charset="0"/>
              <a:cs typeface="Times New Roman" pitchFamily="18" charset="0"/>
            </a:endParaRPr>
          </a:p>
          <a:p>
            <a:pPr marL="742950" lvl="1" indent="-285750" algn="just" fontAlgn="base">
              <a:lnSpc>
                <a:spcPct val="120000"/>
              </a:lnSpc>
              <a:spcAft>
                <a:spcPct val="0"/>
              </a:spcAft>
            </a:pPr>
            <a:r>
              <a:rPr lang="zh-CN" altLang="en-US" sz="2000" b="1">
                <a:latin typeface="Times New Roman" pitchFamily="18" charset="0"/>
                <a:cs typeface="Times New Roman" pitchFamily="18" charset="0"/>
              </a:rPr>
              <a:t>     例：判断</a:t>
            </a:r>
            <a:r>
              <a:rPr lang="en-US" altLang="zh-CN" sz="2000" b="1" i="1">
                <a:latin typeface="Times New Roman" pitchFamily="18" charset="0"/>
                <a:cs typeface="Times New Roman" pitchFamily="18" charset="0"/>
              </a:rPr>
              <a:t>A</a:t>
            </a:r>
            <a:r>
              <a:rPr lang="zh-CN" altLang="en-US" sz="2000" b="1">
                <a:latin typeface="Times New Roman" pitchFamily="18" charset="0"/>
                <a:cs typeface="Times New Roman" pitchFamily="18" charset="0"/>
              </a:rPr>
              <a:t>点的位移方向</a:t>
            </a:r>
          </a:p>
        </p:txBody>
      </p:sp>
      <p:sp>
        <p:nvSpPr>
          <p:cNvPr id="66" name="TextBox 65"/>
          <p:cNvSpPr txBox="1"/>
          <p:nvPr/>
        </p:nvSpPr>
        <p:spPr>
          <a:xfrm>
            <a:off x="857224" y="5500702"/>
            <a:ext cx="2996461" cy="784830"/>
          </a:xfrm>
          <a:prstGeom prst="rect">
            <a:avLst/>
          </a:prstGeom>
          <a:noFill/>
          <a:ln w="28575">
            <a:noFill/>
          </a:ln>
        </p:spPr>
        <p:txBody>
          <a:bodyPr wrap="none" rtlCol="0">
            <a:spAutoFit/>
          </a:bodyPr>
          <a:lstStyle/>
          <a:p>
            <a:r>
              <a:rPr lang="zh-CN" altLang="en-US" sz="2000" b="1"/>
              <a:t>⑴ </a:t>
            </a:r>
            <a:r>
              <a:rPr lang="en-US" altLang="zh-CN" sz="2000" b="1" i="1">
                <a:latin typeface="Times New Roman" pitchFamily="18" charset="0"/>
                <a:cs typeface="Times New Roman" pitchFamily="18" charset="0"/>
              </a:rPr>
              <a:t>A</a:t>
            </a:r>
            <a:r>
              <a:rPr lang="zh-CN" altLang="en-US" sz="2000" b="1"/>
              <a:t>水平位移必然向左；</a:t>
            </a:r>
            <a:endParaRPr lang="en-US" altLang="zh-CN" sz="2000" b="1"/>
          </a:p>
          <a:p>
            <a:pPr>
              <a:spcBef>
                <a:spcPts val="600"/>
              </a:spcBef>
            </a:pPr>
            <a:r>
              <a:rPr lang="zh-CN" altLang="en-US" sz="2000" b="1"/>
              <a:t>    </a:t>
            </a:r>
            <a:r>
              <a:rPr lang="zh-CN" altLang="en-US" sz="2000" b="1">
                <a:solidFill>
                  <a:srgbClr val="C00000"/>
                </a:solidFill>
              </a:rPr>
              <a:t>为什么？</a:t>
            </a:r>
          </a:p>
        </p:txBody>
      </p:sp>
      <p:grpSp>
        <p:nvGrpSpPr>
          <p:cNvPr id="70" name="组合 69"/>
          <p:cNvGrpSpPr/>
          <p:nvPr/>
        </p:nvGrpSpPr>
        <p:grpSpPr>
          <a:xfrm>
            <a:off x="1000100" y="2815824"/>
            <a:ext cx="2357454" cy="2684878"/>
            <a:chOff x="857224" y="2786058"/>
            <a:chExt cx="2357454" cy="2684878"/>
          </a:xfrm>
        </p:grpSpPr>
        <p:grpSp>
          <p:nvGrpSpPr>
            <p:cNvPr id="65" name="组合 64"/>
            <p:cNvGrpSpPr/>
            <p:nvPr/>
          </p:nvGrpSpPr>
          <p:grpSpPr>
            <a:xfrm>
              <a:off x="857224" y="2786058"/>
              <a:ext cx="2357454" cy="2684878"/>
              <a:chOff x="857224" y="2786058"/>
              <a:chExt cx="2357454" cy="2684878"/>
            </a:xfrm>
          </p:grpSpPr>
          <p:pic>
            <p:nvPicPr>
              <p:cNvPr id="534539" name="Picture 11"/>
              <p:cNvPicPr>
                <a:picLocks noChangeAspect="1" noChangeArrowheads="1"/>
              </p:cNvPicPr>
              <p:nvPr/>
            </p:nvPicPr>
            <p:blipFill>
              <a:blip r:embed="rId3"/>
              <a:srcRect/>
              <a:stretch>
                <a:fillRect/>
              </a:stretch>
            </p:blipFill>
            <p:spPr bwMode="auto">
              <a:xfrm>
                <a:off x="857224" y="2786058"/>
                <a:ext cx="2357454" cy="2684878"/>
              </a:xfrm>
              <a:prstGeom prst="rect">
                <a:avLst/>
              </a:prstGeom>
              <a:noFill/>
              <a:ln w="9525">
                <a:noFill/>
                <a:miter lim="800000"/>
                <a:headEnd/>
                <a:tailEnd/>
              </a:ln>
              <a:effectLst/>
            </p:spPr>
          </p:pic>
          <p:sp>
            <p:nvSpPr>
              <p:cNvPr id="64" name="TextBox 63"/>
              <p:cNvSpPr txBox="1"/>
              <p:nvPr/>
            </p:nvSpPr>
            <p:spPr>
              <a:xfrm>
                <a:off x="2571736" y="4214818"/>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grpSp>
        <p:sp>
          <p:nvSpPr>
            <p:cNvPr id="69" name="TextBox 68"/>
            <p:cNvSpPr txBox="1"/>
            <p:nvPr/>
          </p:nvSpPr>
          <p:spPr>
            <a:xfrm>
              <a:off x="2857488" y="3670208"/>
              <a:ext cx="341760"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P</a:t>
              </a:r>
              <a:endParaRPr lang="zh-CN" altLang="en-US" sz="2000" b="1" i="1">
                <a:solidFill>
                  <a:srgbClr val="C00000"/>
                </a:solidFill>
                <a:latin typeface="Times New Roman" pitchFamily="18" charset="0"/>
                <a:cs typeface="Times New Roman" pitchFamily="18" charset="0"/>
              </a:endParaRPr>
            </a:p>
          </p:txBody>
        </p:sp>
      </p:grpSp>
      <p:grpSp>
        <p:nvGrpSpPr>
          <p:cNvPr id="85" name="组合 84"/>
          <p:cNvGrpSpPr/>
          <p:nvPr/>
        </p:nvGrpSpPr>
        <p:grpSpPr>
          <a:xfrm>
            <a:off x="843777" y="2686395"/>
            <a:ext cx="2401997" cy="2571768"/>
            <a:chOff x="700901" y="2656629"/>
            <a:chExt cx="2401997" cy="2571768"/>
          </a:xfrm>
        </p:grpSpPr>
        <p:cxnSp>
          <p:nvCxnSpPr>
            <p:cNvPr id="72" name="直接连接符 71"/>
            <p:cNvCxnSpPr>
              <a:cxnSpLocks noChangeAspect="1"/>
            </p:cNvCxnSpPr>
            <p:nvPr/>
          </p:nvCxnSpPr>
          <p:spPr bwMode="auto">
            <a:xfrm rot="5400000" flipH="1" flipV="1">
              <a:off x="2338514" y="3400212"/>
              <a:ext cx="1146576" cy="382193"/>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74" name="直接连接符 73"/>
            <p:cNvCxnSpPr/>
            <p:nvPr/>
          </p:nvCxnSpPr>
          <p:spPr bwMode="auto">
            <a:xfrm rot="10800000">
              <a:off x="2729452" y="303146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75" name="直接连接符 74"/>
            <p:cNvCxnSpPr/>
            <p:nvPr/>
          </p:nvCxnSpPr>
          <p:spPr bwMode="auto">
            <a:xfrm rot="16200000">
              <a:off x="2521959" y="284003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76" name="直接连接符 75"/>
            <p:cNvCxnSpPr/>
            <p:nvPr/>
          </p:nvCxnSpPr>
          <p:spPr bwMode="auto">
            <a:xfrm rot="16200000">
              <a:off x="890744" y="2840038"/>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78" name="直接连接符 77"/>
            <p:cNvCxnSpPr/>
            <p:nvPr/>
          </p:nvCxnSpPr>
          <p:spPr bwMode="auto">
            <a:xfrm>
              <a:off x="1058091" y="2656629"/>
              <a:ext cx="164307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79" name="直接连接符 78"/>
            <p:cNvCxnSpPr/>
            <p:nvPr/>
          </p:nvCxnSpPr>
          <p:spPr bwMode="auto">
            <a:xfrm rot="10800000">
              <a:off x="700901" y="303146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82" name="直接连接符 81"/>
            <p:cNvCxnSpPr/>
            <p:nvPr/>
          </p:nvCxnSpPr>
          <p:spPr bwMode="auto">
            <a:xfrm rot="10800000">
              <a:off x="1028386" y="5199915"/>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84" name="直接连接符 83"/>
            <p:cNvCxnSpPr/>
            <p:nvPr/>
          </p:nvCxnSpPr>
          <p:spPr bwMode="auto">
            <a:xfrm rot="16200000" flipH="1">
              <a:off x="-49198" y="3763918"/>
              <a:ext cx="2214578" cy="714380"/>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grpSp>
        <p:nvGrpSpPr>
          <p:cNvPr id="100" name="组合 99"/>
          <p:cNvGrpSpPr/>
          <p:nvPr/>
        </p:nvGrpSpPr>
        <p:grpSpPr>
          <a:xfrm>
            <a:off x="3469333" y="2701173"/>
            <a:ext cx="2513777" cy="2814307"/>
            <a:chOff x="3469333" y="2701173"/>
            <a:chExt cx="2513777" cy="2814307"/>
          </a:xfrm>
        </p:grpSpPr>
        <p:grpSp>
          <p:nvGrpSpPr>
            <p:cNvPr id="86" name="组合 85"/>
            <p:cNvGrpSpPr/>
            <p:nvPr/>
          </p:nvGrpSpPr>
          <p:grpSpPr>
            <a:xfrm>
              <a:off x="3625656" y="2830602"/>
              <a:ext cx="2357454" cy="2684878"/>
              <a:chOff x="857224" y="2786058"/>
              <a:chExt cx="2357454" cy="2684878"/>
            </a:xfrm>
          </p:grpSpPr>
          <p:pic>
            <p:nvPicPr>
              <p:cNvPr id="89" name="Picture 11"/>
              <p:cNvPicPr>
                <a:picLocks noChangeAspect="1" noChangeArrowheads="1"/>
              </p:cNvPicPr>
              <p:nvPr/>
            </p:nvPicPr>
            <p:blipFill>
              <a:blip r:embed="rId3"/>
              <a:srcRect/>
              <a:stretch>
                <a:fillRect/>
              </a:stretch>
            </p:blipFill>
            <p:spPr bwMode="auto">
              <a:xfrm>
                <a:off x="857224" y="2786058"/>
                <a:ext cx="2357454" cy="2684878"/>
              </a:xfrm>
              <a:prstGeom prst="rect">
                <a:avLst/>
              </a:prstGeom>
              <a:noFill/>
              <a:ln w="9525">
                <a:noFill/>
                <a:miter lim="800000"/>
                <a:headEnd/>
                <a:tailEnd/>
              </a:ln>
              <a:effectLst/>
            </p:spPr>
          </p:pic>
          <p:sp>
            <p:nvSpPr>
              <p:cNvPr id="88" name="TextBox 87"/>
              <p:cNvSpPr txBox="1"/>
              <p:nvPr/>
            </p:nvSpPr>
            <p:spPr>
              <a:xfrm>
                <a:off x="2857488" y="3670208"/>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grpSp>
          <p:nvGrpSpPr>
            <p:cNvPr id="91" name="组合 90"/>
            <p:cNvGrpSpPr/>
            <p:nvPr/>
          </p:nvGrpSpPr>
          <p:grpSpPr>
            <a:xfrm>
              <a:off x="3469333" y="2701173"/>
              <a:ext cx="2401997" cy="2571768"/>
              <a:chOff x="700901" y="2656629"/>
              <a:chExt cx="2401997" cy="2571768"/>
            </a:xfrm>
          </p:grpSpPr>
          <p:cxnSp>
            <p:nvCxnSpPr>
              <p:cNvPr id="92" name="直接连接符 91"/>
              <p:cNvCxnSpPr>
                <a:cxnSpLocks noChangeAspect="1"/>
              </p:cNvCxnSpPr>
              <p:nvPr/>
            </p:nvCxnSpPr>
            <p:spPr bwMode="auto">
              <a:xfrm rot="5400000" flipH="1" flipV="1">
                <a:off x="2338514" y="3400212"/>
                <a:ext cx="1146576" cy="382193"/>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3" name="直接连接符 92"/>
              <p:cNvCxnSpPr/>
              <p:nvPr/>
            </p:nvCxnSpPr>
            <p:spPr bwMode="auto">
              <a:xfrm rot="10800000">
                <a:off x="2729452" y="303146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4" name="直接连接符 93"/>
              <p:cNvCxnSpPr/>
              <p:nvPr/>
            </p:nvCxnSpPr>
            <p:spPr bwMode="auto">
              <a:xfrm rot="16200000">
                <a:off x="2521959" y="284003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5" name="直接连接符 94"/>
              <p:cNvCxnSpPr/>
              <p:nvPr/>
            </p:nvCxnSpPr>
            <p:spPr bwMode="auto">
              <a:xfrm rot="16200000">
                <a:off x="890744" y="2840038"/>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6" name="直接连接符 95"/>
              <p:cNvCxnSpPr/>
              <p:nvPr/>
            </p:nvCxnSpPr>
            <p:spPr bwMode="auto">
              <a:xfrm>
                <a:off x="1058091" y="2656629"/>
                <a:ext cx="164307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7" name="直接连接符 96"/>
              <p:cNvCxnSpPr/>
              <p:nvPr/>
            </p:nvCxnSpPr>
            <p:spPr bwMode="auto">
              <a:xfrm rot="10800000">
                <a:off x="700901" y="3031469"/>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8" name="直接连接符 97"/>
              <p:cNvCxnSpPr/>
              <p:nvPr/>
            </p:nvCxnSpPr>
            <p:spPr bwMode="auto">
              <a:xfrm rot="10800000">
                <a:off x="1028386" y="5199915"/>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99" name="直接连接符 98"/>
              <p:cNvCxnSpPr/>
              <p:nvPr/>
            </p:nvCxnSpPr>
            <p:spPr bwMode="auto">
              <a:xfrm rot="16200000" flipH="1">
                <a:off x="-49198" y="3763918"/>
                <a:ext cx="2214578" cy="714380"/>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grpSp>
      <p:sp>
        <p:nvSpPr>
          <p:cNvPr id="101" name="TextBox 100"/>
          <p:cNvSpPr txBox="1"/>
          <p:nvPr/>
        </p:nvSpPr>
        <p:spPr>
          <a:xfrm>
            <a:off x="3714744" y="5886410"/>
            <a:ext cx="2408032"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A</a:t>
            </a:r>
            <a:r>
              <a:rPr lang="zh-CN" altLang="en-US" sz="2000" b="1">
                <a:solidFill>
                  <a:srgbClr val="C00000"/>
                </a:solidFill>
                <a:latin typeface="Times New Roman" pitchFamily="18" charset="0"/>
                <a:cs typeface="Times New Roman" pitchFamily="18" charset="0"/>
              </a:rPr>
              <a:t>竖直位移的方向？</a:t>
            </a:r>
          </a:p>
        </p:txBody>
      </p:sp>
      <p:grpSp>
        <p:nvGrpSpPr>
          <p:cNvPr id="106" name="组合 105"/>
          <p:cNvGrpSpPr/>
          <p:nvPr/>
        </p:nvGrpSpPr>
        <p:grpSpPr>
          <a:xfrm>
            <a:off x="6408924" y="2857496"/>
            <a:ext cx="2262196" cy="2552224"/>
            <a:chOff x="6408924" y="2857496"/>
            <a:chExt cx="2262196" cy="2552224"/>
          </a:xfrm>
        </p:grpSpPr>
        <p:pic>
          <p:nvPicPr>
            <p:cNvPr id="534540" name="Picture 12"/>
            <p:cNvPicPr>
              <a:picLocks noChangeAspect="1" noChangeArrowheads="1"/>
            </p:cNvPicPr>
            <p:nvPr/>
          </p:nvPicPr>
          <p:blipFill>
            <a:blip r:embed="rId4"/>
            <a:srcRect/>
            <a:stretch>
              <a:fillRect/>
            </a:stretch>
          </p:blipFill>
          <p:spPr bwMode="auto">
            <a:xfrm>
              <a:off x="6408924" y="2857496"/>
              <a:ext cx="2092166" cy="2552224"/>
            </a:xfrm>
            <a:prstGeom prst="rect">
              <a:avLst/>
            </a:prstGeom>
            <a:noFill/>
            <a:ln w="9525">
              <a:noFill/>
              <a:miter lim="800000"/>
              <a:headEnd/>
              <a:tailEnd/>
            </a:ln>
            <a:effectLst/>
          </p:spPr>
        </p:pic>
        <p:sp>
          <p:nvSpPr>
            <p:cNvPr id="105" name="TextBox 104"/>
            <p:cNvSpPr txBox="1"/>
            <p:nvPr/>
          </p:nvSpPr>
          <p:spPr>
            <a:xfrm>
              <a:off x="8358214" y="4214818"/>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grpSp>
        <p:nvGrpSpPr>
          <p:cNvPr id="110" name="组合 109"/>
          <p:cNvGrpSpPr/>
          <p:nvPr/>
        </p:nvGrpSpPr>
        <p:grpSpPr>
          <a:xfrm>
            <a:off x="6630255" y="3054160"/>
            <a:ext cx="1643074" cy="2174236"/>
            <a:chOff x="6630255" y="3054160"/>
            <a:chExt cx="1643074" cy="2174236"/>
          </a:xfrm>
        </p:grpSpPr>
        <p:cxnSp>
          <p:nvCxnSpPr>
            <p:cNvPr id="104" name="直接连接符 103"/>
            <p:cNvCxnSpPr/>
            <p:nvPr/>
          </p:nvCxnSpPr>
          <p:spPr bwMode="auto">
            <a:xfrm rot="10800000" flipV="1">
              <a:off x="6630255" y="3054160"/>
              <a:ext cx="1643074" cy="357190"/>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107" name="直接连接符 106"/>
            <p:cNvCxnSpPr/>
            <p:nvPr/>
          </p:nvCxnSpPr>
          <p:spPr bwMode="auto">
            <a:xfrm rot="10800000">
              <a:off x="6657149" y="5226808"/>
              <a:ext cx="36000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109" name="直接连接符 108"/>
            <p:cNvCxnSpPr/>
            <p:nvPr/>
          </p:nvCxnSpPr>
          <p:spPr bwMode="auto">
            <a:xfrm rot="5400000" flipH="1" flipV="1">
              <a:off x="5929322" y="4143380"/>
              <a:ext cx="214314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sp>
        <p:nvSpPr>
          <p:cNvPr id="111" name="TextBox 110"/>
          <p:cNvSpPr txBox="1"/>
          <p:nvPr/>
        </p:nvSpPr>
        <p:spPr>
          <a:xfrm>
            <a:off x="3643306" y="5527596"/>
            <a:ext cx="2478564" cy="400110"/>
          </a:xfrm>
          <a:prstGeom prst="rect">
            <a:avLst/>
          </a:prstGeom>
          <a:noFill/>
          <a:ln w="28575">
            <a:noFill/>
          </a:ln>
        </p:spPr>
        <p:txBody>
          <a:bodyPr wrap="none" rtlCol="0">
            <a:spAutoFit/>
          </a:bodyPr>
          <a:lstStyle/>
          <a:p>
            <a:r>
              <a:rPr lang="zh-CN" altLang="en-US" sz="2000" b="1"/>
              <a:t>⑵ </a:t>
            </a:r>
            <a:r>
              <a:rPr lang="en-US" altLang="zh-CN" sz="2000" b="1" i="1">
                <a:latin typeface="Times New Roman" pitchFamily="18" charset="0"/>
                <a:cs typeface="Times New Roman" pitchFamily="18" charset="0"/>
              </a:rPr>
              <a:t>A</a:t>
            </a:r>
            <a:r>
              <a:rPr lang="zh-CN" altLang="en-US" sz="2000" b="1"/>
              <a:t>竖直位移向下；</a:t>
            </a:r>
            <a:endParaRPr lang="en-US" altLang="zh-CN" sz="2000" b="1"/>
          </a:p>
        </p:txBody>
      </p:sp>
      <p:sp>
        <p:nvSpPr>
          <p:cNvPr id="112" name="TextBox 111"/>
          <p:cNvSpPr txBox="1"/>
          <p:nvPr/>
        </p:nvSpPr>
        <p:spPr>
          <a:xfrm>
            <a:off x="6357950" y="5572140"/>
            <a:ext cx="2357454" cy="707886"/>
          </a:xfrm>
          <a:prstGeom prst="rect">
            <a:avLst/>
          </a:prstGeom>
          <a:noFill/>
          <a:ln w="28575">
            <a:noFill/>
          </a:ln>
        </p:spPr>
        <p:txBody>
          <a:bodyPr wrap="square" rtlCol="0">
            <a:spAutoFit/>
          </a:bodyPr>
          <a:lstStyle/>
          <a:p>
            <a:r>
              <a:rPr lang="zh-CN" altLang="en-US" sz="2000" b="1">
                <a:solidFill>
                  <a:srgbClr val="0033CC"/>
                </a:solidFill>
                <a:latin typeface="Times New Roman" pitchFamily="18" charset="0"/>
                <a:cs typeface="Times New Roman" pitchFamily="18" charset="0"/>
              </a:rPr>
              <a:t>定性地画出刚架变形后的位形</a:t>
            </a:r>
          </a:p>
        </p:txBody>
      </p:sp>
      <p:grpSp>
        <p:nvGrpSpPr>
          <p:cNvPr id="135" name="组合 134"/>
          <p:cNvGrpSpPr/>
          <p:nvPr/>
        </p:nvGrpSpPr>
        <p:grpSpPr>
          <a:xfrm>
            <a:off x="-3857984" y="3052482"/>
            <a:ext cx="10072758" cy="10091786"/>
            <a:chOff x="-3857984" y="3052482"/>
            <a:chExt cx="10072758" cy="10091786"/>
          </a:xfrm>
        </p:grpSpPr>
        <p:sp>
          <p:nvSpPr>
            <p:cNvPr id="116" name="弧形 115"/>
            <p:cNvSpPr>
              <a:spLocks noChangeAspect="1"/>
            </p:cNvSpPr>
            <p:nvPr/>
          </p:nvSpPr>
          <p:spPr bwMode="auto">
            <a:xfrm rot="21428335">
              <a:off x="-3857984" y="3071510"/>
              <a:ext cx="10072758" cy="10072758"/>
            </a:xfrm>
            <a:prstGeom prst="arc">
              <a:avLst>
                <a:gd name="adj1" fmla="val 16200000"/>
                <a:gd name="adj2" fmla="val 17382773"/>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18" name="任意多边形 117"/>
            <p:cNvSpPr/>
            <p:nvPr/>
          </p:nvSpPr>
          <p:spPr bwMode="auto">
            <a:xfrm>
              <a:off x="914400" y="3052482"/>
              <a:ext cx="282388" cy="2178424"/>
            </a:xfrm>
            <a:custGeom>
              <a:avLst/>
              <a:gdLst>
                <a:gd name="connsiteX0" fmla="*/ 282388 w 282388"/>
                <a:gd name="connsiteY0" fmla="*/ 2178424 h 2178424"/>
                <a:gd name="connsiteX1" fmla="*/ 242047 w 282388"/>
                <a:gd name="connsiteY1" fmla="*/ 1707777 h 2178424"/>
                <a:gd name="connsiteX2" fmla="*/ 161365 w 282388"/>
                <a:gd name="connsiteY2" fmla="*/ 1075765 h 2178424"/>
                <a:gd name="connsiteX3" fmla="*/ 26894 w 282388"/>
                <a:gd name="connsiteY3" fmla="*/ 389965 h 2178424"/>
                <a:gd name="connsiteX4" fmla="*/ 0 w 282388"/>
                <a:gd name="connsiteY4" fmla="*/ 0 h 2178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8" h="2178424">
                  <a:moveTo>
                    <a:pt x="282388" y="2178424"/>
                  </a:moveTo>
                  <a:cubicBezTo>
                    <a:pt x="272302" y="2034988"/>
                    <a:pt x="262217" y="1891553"/>
                    <a:pt x="242047" y="1707777"/>
                  </a:cubicBezTo>
                  <a:cubicBezTo>
                    <a:pt x="221877" y="1524001"/>
                    <a:pt x="197224" y="1295400"/>
                    <a:pt x="161365" y="1075765"/>
                  </a:cubicBezTo>
                  <a:cubicBezTo>
                    <a:pt x="125506" y="856130"/>
                    <a:pt x="53788" y="569259"/>
                    <a:pt x="26894" y="389965"/>
                  </a:cubicBezTo>
                  <a:cubicBezTo>
                    <a:pt x="0" y="210671"/>
                    <a:pt x="0" y="105335"/>
                    <a:pt x="0" y="0"/>
                  </a:cubicBezTo>
                </a:path>
              </a:pathLst>
            </a:custGeom>
            <a:solidFill>
              <a:schemeClr val="accent1"/>
            </a:solid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34" name="任意多边形 133"/>
            <p:cNvSpPr/>
            <p:nvPr/>
          </p:nvSpPr>
          <p:spPr bwMode="auto">
            <a:xfrm>
              <a:off x="2143108" y="3294528"/>
              <a:ext cx="479068" cy="1063165"/>
            </a:xfrm>
            <a:custGeom>
              <a:avLst/>
              <a:gdLst>
                <a:gd name="connsiteX0" fmla="*/ 363070 w 363070"/>
                <a:gd name="connsiteY0" fmla="*/ 0 h 860612"/>
                <a:gd name="connsiteX1" fmla="*/ 174812 w 363070"/>
                <a:gd name="connsiteY1" fmla="*/ 484095 h 860612"/>
                <a:gd name="connsiteX2" fmla="*/ 0 w 363070"/>
                <a:gd name="connsiteY2" fmla="*/ 860612 h 860612"/>
              </a:gdLst>
              <a:ahLst/>
              <a:cxnLst>
                <a:cxn ang="0">
                  <a:pos x="connsiteX0" y="connsiteY0"/>
                </a:cxn>
                <a:cxn ang="0">
                  <a:pos x="connsiteX1" y="connsiteY1"/>
                </a:cxn>
                <a:cxn ang="0">
                  <a:pos x="connsiteX2" y="connsiteY2"/>
                </a:cxn>
              </a:cxnLst>
              <a:rect l="l" t="t" r="r" b="b"/>
              <a:pathLst>
                <a:path w="363070" h="860612">
                  <a:moveTo>
                    <a:pt x="363070" y="0"/>
                  </a:moveTo>
                  <a:cubicBezTo>
                    <a:pt x="299197" y="170330"/>
                    <a:pt x="235324" y="340660"/>
                    <a:pt x="174812" y="484095"/>
                  </a:cubicBezTo>
                  <a:cubicBezTo>
                    <a:pt x="114300" y="627530"/>
                    <a:pt x="57150" y="744071"/>
                    <a:pt x="0" y="860612"/>
                  </a:cubicBezTo>
                </a:path>
              </a:pathLst>
            </a:custGeom>
            <a:solidFill>
              <a:schemeClr val="accent1"/>
            </a:solid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fill="hold"/>
                                        <p:tgtEl>
                                          <p:spTgt spid="70"/>
                                        </p:tgtEl>
                                        <p:attrNameLst>
                                          <p:attrName>ppt_x</p:attrName>
                                        </p:attrNameLst>
                                      </p:cBhvr>
                                      <p:tavLst>
                                        <p:tav tm="0">
                                          <p:val>
                                            <p:strVal val="#ppt_x"/>
                                          </p:val>
                                        </p:tav>
                                        <p:tav tm="100000">
                                          <p:val>
                                            <p:strVal val="#ppt_x"/>
                                          </p:val>
                                        </p:tav>
                                      </p:tavLst>
                                    </p:anim>
                                    <p:anim calcmode="lin" valueType="num">
                                      <p:cBhvr additive="base">
                                        <p:cTn id="8"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
                                        </p:tgtEl>
                                        <p:attrNameLst>
                                          <p:attrName>style.visibility</p:attrName>
                                        </p:attrNameLst>
                                      </p:cBhvr>
                                      <p:to>
                                        <p:strVal val="visible"/>
                                      </p:to>
                                    </p:set>
                                    <p:anim calcmode="lin" valueType="num">
                                      <p:cBhvr additive="base">
                                        <p:cTn id="13" dur="500" fill="hold"/>
                                        <p:tgtEl>
                                          <p:spTgt spid="66"/>
                                        </p:tgtEl>
                                        <p:attrNameLst>
                                          <p:attrName>ppt_x</p:attrName>
                                        </p:attrNameLst>
                                      </p:cBhvr>
                                      <p:tavLst>
                                        <p:tav tm="0">
                                          <p:val>
                                            <p:strVal val="#ppt_x"/>
                                          </p:val>
                                        </p:tav>
                                        <p:tav tm="100000">
                                          <p:val>
                                            <p:strVal val="#ppt_x"/>
                                          </p:val>
                                        </p:tav>
                                      </p:tavLst>
                                    </p:anim>
                                    <p:anim calcmode="lin" valueType="num">
                                      <p:cBhvr additive="base">
                                        <p:cTn id="14"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blinds(horizontal)">
                                      <p:cBhvr>
                                        <p:cTn id="19" dur="500"/>
                                        <p:tgtEl>
                                          <p:spTgt spid="8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0"/>
                                        </p:tgtEl>
                                        <p:attrNameLst>
                                          <p:attrName>style.visibility</p:attrName>
                                        </p:attrNameLst>
                                      </p:cBhvr>
                                      <p:to>
                                        <p:strVal val="visible"/>
                                      </p:to>
                                    </p:set>
                                    <p:anim calcmode="lin" valueType="num">
                                      <p:cBhvr additive="base">
                                        <p:cTn id="24" dur="500" fill="hold"/>
                                        <p:tgtEl>
                                          <p:spTgt spid="100"/>
                                        </p:tgtEl>
                                        <p:attrNameLst>
                                          <p:attrName>ppt_x</p:attrName>
                                        </p:attrNameLst>
                                      </p:cBhvr>
                                      <p:tavLst>
                                        <p:tav tm="0">
                                          <p:val>
                                            <p:strVal val="#ppt_x"/>
                                          </p:val>
                                        </p:tav>
                                        <p:tav tm="100000">
                                          <p:val>
                                            <p:strVal val="#ppt_x"/>
                                          </p:val>
                                        </p:tav>
                                      </p:tavLst>
                                    </p:anim>
                                    <p:anim calcmode="lin" valueType="num">
                                      <p:cBhvr additive="base">
                                        <p:cTn id="25"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1"/>
                                        </p:tgtEl>
                                        <p:attrNameLst>
                                          <p:attrName>style.visibility</p:attrName>
                                        </p:attrNameLst>
                                      </p:cBhvr>
                                      <p:to>
                                        <p:strVal val="visible"/>
                                      </p:to>
                                    </p:set>
                                    <p:anim calcmode="lin" valueType="num">
                                      <p:cBhvr additive="base">
                                        <p:cTn id="30" dur="500" fill="hold"/>
                                        <p:tgtEl>
                                          <p:spTgt spid="101"/>
                                        </p:tgtEl>
                                        <p:attrNameLst>
                                          <p:attrName>ppt_x</p:attrName>
                                        </p:attrNameLst>
                                      </p:cBhvr>
                                      <p:tavLst>
                                        <p:tav tm="0">
                                          <p:val>
                                            <p:strVal val="#ppt_x"/>
                                          </p:val>
                                        </p:tav>
                                        <p:tav tm="100000">
                                          <p:val>
                                            <p:strVal val="#ppt_x"/>
                                          </p:val>
                                        </p:tav>
                                      </p:tavLst>
                                    </p:anim>
                                    <p:anim calcmode="lin" valueType="num">
                                      <p:cBhvr additive="base">
                                        <p:cTn id="31"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06"/>
                                        </p:tgtEl>
                                        <p:attrNameLst>
                                          <p:attrName>style.visibility</p:attrName>
                                        </p:attrNameLst>
                                      </p:cBhvr>
                                      <p:to>
                                        <p:strVal val="visible"/>
                                      </p:to>
                                    </p:set>
                                    <p:anim calcmode="lin" valueType="num">
                                      <p:cBhvr additive="base">
                                        <p:cTn id="36" dur="500" fill="hold"/>
                                        <p:tgtEl>
                                          <p:spTgt spid="106"/>
                                        </p:tgtEl>
                                        <p:attrNameLst>
                                          <p:attrName>ppt_x</p:attrName>
                                        </p:attrNameLst>
                                      </p:cBhvr>
                                      <p:tavLst>
                                        <p:tav tm="0">
                                          <p:val>
                                            <p:strVal val="#ppt_x"/>
                                          </p:val>
                                        </p:tav>
                                        <p:tav tm="100000">
                                          <p:val>
                                            <p:strVal val="#ppt_x"/>
                                          </p:val>
                                        </p:tav>
                                      </p:tavLst>
                                    </p:anim>
                                    <p:anim calcmode="lin" valueType="num">
                                      <p:cBhvr additive="base">
                                        <p:cTn id="37"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10"/>
                                        </p:tgtEl>
                                        <p:attrNameLst>
                                          <p:attrName>style.visibility</p:attrName>
                                        </p:attrNameLst>
                                      </p:cBhvr>
                                      <p:to>
                                        <p:strVal val="visible"/>
                                      </p:to>
                                    </p:set>
                                    <p:animEffect transition="in" filter="box(in)">
                                      <p:cBhvr>
                                        <p:cTn id="42" dur="500"/>
                                        <p:tgtEl>
                                          <p:spTgt spid="110"/>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1"/>
                                        </p:tgtEl>
                                        <p:attrNameLst>
                                          <p:attrName>style.visibility</p:attrName>
                                        </p:attrNameLst>
                                      </p:cBhvr>
                                      <p:to>
                                        <p:strVal val="visible"/>
                                      </p:to>
                                    </p:set>
                                    <p:anim calcmode="lin" valueType="num">
                                      <p:cBhvr additive="base">
                                        <p:cTn id="47" dur="500" fill="hold"/>
                                        <p:tgtEl>
                                          <p:spTgt spid="111"/>
                                        </p:tgtEl>
                                        <p:attrNameLst>
                                          <p:attrName>ppt_x</p:attrName>
                                        </p:attrNameLst>
                                      </p:cBhvr>
                                      <p:tavLst>
                                        <p:tav tm="0">
                                          <p:val>
                                            <p:strVal val="#ppt_x"/>
                                          </p:val>
                                        </p:tav>
                                        <p:tav tm="100000">
                                          <p:val>
                                            <p:strVal val="#ppt_x"/>
                                          </p:val>
                                        </p:tav>
                                      </p:tavLst>
                                    </p:anim>
                                    <p:anim calcmode="lin" valueType="num">
                                      <p:cBhvr additive="base">
                                        <p:cTn id="48"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2"/>
                                        </p:tgtEl>
                                        <p:attrNameLst>
                                          <p:attrName>style.visibility</p:attrName>
                                        </p:attrNameLst>
                                      </p:cBhvr>
                                      <p:to>
                                        <p:strVal val="visible"/>
                                      </p:to>
                                    </p:set>
                                    <p:anim calcmode="lin" valueType="num">
                                      <p:cBhvr additive="base">
                                        <p:cTn id="53" dur="500" fill="hold"/>
                                        <p:tgtEl>
                                          <p:spTgt spid="112"/>
                                        </p:tgtEl>
                                        <p:attrNameLst>
                                          <p:attrName>ppt_x</p:attrName>
                                        </p:attrNameLst>
                                      </p:cBhvr>
                                      <p:tavLst>
                                        <p:tav tm="0">
                                          <p:val>
                                            <p:strVal val="#ppt_x"/>
                                          </p:val>
                                        </p:tav>
                                        <p:tav tm="100000">
                                          <p:val>
                                            <p:strVal val="#ppt_x"/>
                                          </p:val>
                                        </p:tav>
                                      </p:tavLst>
                                    </p:anim>
                                    <p:anim calcmode="lin" valueType="num">
                                      <p:cBhvr additive="base">
                                        <p:cTn id="54"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35"/>
                                        </p:tgtEl>
                                        <p:attrNameLst>
                                          <p:attrName>style.visibility</p:attrName>
                                        </p:attrNameLst>
                                      </p:cBhvr>
                                      <p:to>
                                        <p:strVal val="visible"/>
                                      </p:to>
                                    </p:set>
                                    <p:anim calcmode="lin" valueType="num">
                                      <p:cBhvr additive="base">
                                        <p:cTn id="59" dur="500" fill="hold"/>
                                        <p:tgtEl>
                                          <p:spTgt spid="135"/>
                                        </p:tgtEl>
                                        <p:attrNameLst>
                                          <p:attrName>ppt_x</p:attrName>
                                        </p:attrNameLst>
                                      </p:cBhvr>
                                      <p:tavLst>
                                        <p:tav tm="0">
                                          <p:val>
                                            <p:strVal val="#ppt_x"/>
                                          </p:val>
                                        </p:tav>
                                        <p:tav tm="100000">
                                          <p:val>
                                            <p:strVal val="#ppt_x"/>
                                          </p:val>
                                        </p:tav>
                                      </p:tavLst>
                                    </p:anim>
                                    <p:anim calcmode="lin" valueType="num">
                                      <p:cBhvr additive="base">
                                        <p:cTn id="60" dur="500" fill="hold"/>
                                        <p:tgtEl>
                                          <p:spTgt spid="1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101" grpId="0"/>
      <p:bldP spid="111" grpId="0"/>
      <p:bldP spid="11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solidFill>
                  <a:schemeClr val="tx1"/>
                </a:solidFill>
              </a:rPr>
              <a:t>荷载</a:t>
            </a:r>
            <a:r>
              <a:rPr lang="zh-CN" altLang="en-US"/>
              <a:t>作用下的位移计算、图乘法</a:t>
            </a:r>
            <a:endParaRPr lang="en-US" altLang="zh-CN">
              <a:solidFill>
                <a:schemeClr val="tx1"/>
              </a:solidFill>
            </a:endParaRPr>
          </a:p>
          <a:p>
            <a:pPr>
              <a:buNone/>
            </a:pPr>
            <a:r>
              <a:rPr lang="en-US" altLang="zh-CN">
                <a:solidFill>
                  <a:schemeClr val="tx1"/>
                </a:solidFill>
              </a:rPr>
              <a:t>	     5-9</a:t>
            </a:r>
          </a:p>
          <a:p>
            <a:pPr>
              <a:buNone/>
            </a:pPr>
            <a:r>
              <a:rPr lang="en-US" altLang="zh-CN">
                <a:solidFill>
                  <a:schemeClr val="tx1"/>
                </a:solidFill>
              </a:rPr>
              <a:t>         5-11</a:t>
            </a:r>
          </a:p>
          <a:p>
            <a:pPr>
              <a:buNone/>
            </a:pPr>
            <a:r>
              <a:rPr lang="en-US" altLang="zh-CN">
                <a:solidFill>
                  <a:schemeClr val="tx1"/>
                </a:solidFill>
              </a:rPr>
              <a:t>         5-15</a:t>
            </a:r>
          </a:p>
          <a:p>
            <a:pPr>
              <a:buNone/>
            </a:pPr>
            <a:r>
              <a:rPr lang="en-US" altLang="zh-CN">
                <a:solidFill>
                  <a:schemeClr val="tx1"/>
                </a:solidFill>
              </a:rPr>
              <a:t>         5-16</a:t>
            </a:r>
          </a:p>
          <a:p>
            <a:pPr>
              <a:buNone/>
            </a:pPr>
            <a:r>
              <a:rPr lang="en-US" altLang="zh-CN">
                <a:solidFill>
                  <a:schemeClr val="tx1"/>
                </a:solidFill>
              </a:rPr>
              <a:t>         5-18</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0" algn="r">
              <a:defRPr/>
            </a:pPr>
            <a:r>
              <a:rPr lang="zh-CN" altLang="en-US"/>
              <a:t>第五章 </a:t>
            </a:r>
            <a:r>
              <a:rPr lang="zh-CN" altLang="en-US">
                <a:effectLst>
                  <a:outerShdw blurRad="38100" dist="38100" dir="2700000" algn="tl">
                    <a:srgbClr val="000000">
                      <a:alpha val="43137"/>
                    </a:srgbClr>
                  </a:outerShdw>
                </a:effectLst>
              </a:rPr>
              <a:t>虚功原理与结构位移计算</a:t>
            </a:r>
            <a:endParaRPr lang="zh-CN" altLang="en-US" sz="3600" dirty="0"/>
          </a:p>
        </p:txBody>
      </p:sp>
      <p:sp>
        <p:nvSpPr>
          <p:cNvPr id="3" name="内容占位符 2"/>
          <p:cNvSpPr>
            <a:spLocks noGrp="1"/>
          </p:cNvSpPr>
          <p:nvPr>
            <p:ph idx="1"/>
          </p:nvPr>
        </p:nvSpPr>
        <p:spPr>
          <a:ln>
            <a:noFill/>
          </a:ln>
        </p:spPr>
        <p:txBody>
          <a:bodyPr/>
          <a:lstStyle/>
          <a:p>
            <a:pPr>
              <a:buClrTx/>
            </a:pPr>
            <a:r>
              <a:rPr lang="zh-CN" altLang="en-US"/>
              <a:t>主要内容</a:t>
            </a:r>
            <a:endParaRPr lang="en-US" altLang="zh-CN"/>
          </a:p>
          <a:p>
            <a:pPr lvl="1">
              <a:lnSpc>
                <a:spcPct val="150000"/>
              </a:lnSpc>
            </a:pPr>
            <a:r>
              <a:rPr lang="zh-CN" altLang="en-US">
                <a:solidFill>
                  <a:schemeClr val="bg1">
                    <a:lumMod val="50000"/>
                  </a:schemeClr>
                </a:solidFill>
              </a:rPr>
              <a:t>应用虚力原理求刚体体系的位移           </a:t>
            </a:r>
            <a:endParaRPr lang="en-US" altLang="zh-CN">
              <a:solidFill>
                <a:schemeClr val="bg1">
                  <a:lumMod val="50000"/>
                </a:schemeClr>
              </a:solidFill>
            </a:endParaRPr>
          </a:p>
          <a:p>
            <a:pPr lvl="1">
              <a:lnSpc>
                <a:spcPct val="150000"/>
              </a:lnSpc>
            </a:pPr>
            <a:r>
              <a:rPr lang="zh-CN" altLang="en-US">
                <a:solidFill>
                  <a:schemeClr val="bg1">
                    <a:lumMod val="50000"/>
                  </a:schemeClr>
                </a:solidFill>
              </a:rPr>
              <a:t>结构体位移计算的单位荷载法</a:t>
            </a:r>
            <a:endParaRPr lang="en-US" altLang="zh-CN">
              <a:solidFill>
                <a:schemeClr val="bg1">
                  <a:lumMod val="50000"/>
                </a:schemeClr>
              </a:solidFill>
            </a:endParaRPr>
          </a:p>
          <a:p>
            <a:pPr lvl="1">
              <a:lnSpc>
                <a:spcPct val="150000"/>
              </a:lnSpc>
            </a:pPr>
            <a:r>
              <a:rPr lang="zh-CN" altLang="en-US">
                <a:solidFill>
                  <a:schemeClr val="bg1">
                    <a:lumMod val="50000"/>
                  </a:schemeClr>
                </a:solidFill>
              </a:rPr>
              <a:t>荷载作用下的位移计算及举例</a:t>
            </a:r>
            <a:endParaRPr lang="en-US" altLang="zh-CN">
              <a:solidFill>
                <a:schemeClr val="bg1">
                  <a:lumMod val="50000"/>
                </a:schemeClr>
              </a:solidFill>
            </a:endParaRPr>
          </a:p>
          <a:p>
            <a:pPr lvl="1">
              <a:lnSpc>
                <a:spcPct val="150000"/>
              </a:lnSpc>
            </a:pPr>
            <a:r>
              <a:rPr lang="zh-CN" altLang="en-US">
                <a:solidFill>
                  <a:schemeClr val="bg1">
                    <a:lumMod val="50000"/>
                  </a:schemeClr>
                </a:solidFill>
              </a:rPr>
              <a:t>图乘法</a:t>
            </a:r>
            <a:endParaRPr lang="en-US" altLang="zh-CN">
              <a:solidFill>
                <a:schemeClr val="bg1">
                  <a:lumMod val="50000"/>
                </a:schemeClr>
              </a:solidFill>
            </a:endParaRPr>
          </a:p>
          <a:p>
            <a:pPr lvl="1">
              <a:lnSpc>
                <a:spcPct val="150000"/>
              </a:lnSpc>
            </a:pPr>
            <a:r>
              <a:rPr lang="zh-CN" altLang="en-US">
                <a:solidFill>
                  <a:srgbClr val="C00000"/>
                </a:solidFill>
              </a:rPr>
              <a:t>温度改变时的位移计算</a:t>
            </a:r>
            <a:endParaRPr lang="en-US" altLang="zh-CN">
              <a:solidFill>
                <a:srgbClr val="C00000"/>
              </a:solidFill>
            </a:endParaRPr>
          </a:p>
          <a:p>
            <a:pPr lvl="1">
              <a:lnSpc>
                <a:spcPct val="150000"/>
              </a:lnSpc>
            </a:pPr>
            <a:r>
              <a:rPr lang="zh-CN" altLang="en-US">
                <a:solidFill>
                  <a:srgbClr val="C00000"/>
                </a:solidFill>
              </a:rPr>
              <a:t>变形体的虚功原理</a:t>
            </a:r>
            <a:endParaRPr lang="en-US" altLang="zh-CN">
              <a:solidFill>
                <a:srgbClr val="C00000"/>
              </a:solidFill>
            </a:endParaRPr>
          </a:p>
          <a:p>
            <a:pPr lvl="1">
              <a:lnSpc>
                <a:spcPct val="150000"/>
              </a:lnSpc>
            </a:pPr>
            <a:r>
              <a:rPr lang="zh-CN" altLang="en-US">
                <a:solidFill>
                  <a:srgbClr val="C00000"/>
                </a:solidFill>
              </a:rPr>
              <a:t>互等定理</a:t>
            </a:r>
            <a:endParaRPr lang="en-US" altLang="zh-CN">
              <a:solidFill>
                <a:srgbClr val="C00000"/>
              </a:solidFill>
            </a:endParaRPr>
          </a:p>
          <a:p>
            <a:pPr lvl="1">
              <a:lnSpc>
                <a:spcPct val="150000"/>
              </a:lnSpc>
            </a:pPr>
            <a:r>
              <a:rPr lang="zh-CN" altLang="en-US">
                <a:solidFill>
                  <a:srgbClr val="C00000"/>
                </a:solidFill>
              </a:rPr>
              <a:t>思考与小结</a:t>
            </a:r>
            <a:endParaRPr lang="en-US" altLang="zh-CN">
              <a:solidFill>
                <a:srgbClr val="C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结构位移计算的一般公式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6" name="Rectangle 6"/>
          <p:cNvSpPr>
            <a:spLocks noChangeArrowheads="1"/>
          </p:cNvSpPr>
          <p:nvPr/>
        </p:nvSpPr>
        <p:spPr bwMode="auto">
          <a:xfrm>
            <a:off x="469540" y="2228001"/>
            <a:ext cx="8245864" cy="86177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普遍性</a:t>
            </a:r>
            <a:endParaRPr lang="en-US" altLang="zh-CN" sz="2000" b="1">
              <a:latin typeface="Times New Roman" pitchFamily="18" charset="0"/>
              <a:cs typeface="Times New Roman" pitchFamily="18" charset="0"/>
            </a:endParaRPr>
          </a:p>
          <a:p>
            <a:pPr marL="742950" lvl="1" indent="-285750" algn="just" fontAlgn="base">
              <a:lnSpc>
                <a:spcPct val="130000"/>
              </a:lnSpc>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变形因素：荷载、</a:t>
            </a:r>
            <a:r>
              <a:rPr lang="zh-CN" altLang="en-US" sz="2000" b="1">
                <a:solidFill>
                  <a:srgbClr val="C00000"/>
                </a:solidFill>
                <a:latin typeface="Times New Roman" pitchFamily="18" charset="0"/>
                <a:cs typeface="Times New Roman" pitchFamily="18" charset="0"/>
              </a:rPr>
              <a:t>温度改变</a:t>
            </a:r>
            <a:r>
              <a:rPr lang="zh-CN" altLang="en-US" sz="2000" b="1">
                <a:latin typeface="Times New Roman" pitchFamily="18" charset="0"/>
                <a:cs typeface="Times New Roman" pitchFamily="18" charset="0"/>
              </a:rPr>
              <a:t>或支座移动引起的位移；</a:t>
            </a:r>
            <a:endParaRPr lang="en-US" altLang="zh-CN" sz="2000" b="1">
              <a:latin typeface="Times New Roman" pitchFamily="18" charset="0"/>
              <a:cs typeface="Times New Roman" pitchFamily="18" charset="0"/>
            </a:endParaRPr>
          </a:p>
        </p:txBody>
      </p:sp>
      <p:grpSp>
        <p:nvGrpSpPr>
          <p:cNvPr id="4" name="组合 55"/>
          <p:cNvGrpSpPr/>
          <p:nvPr/>
        </p:nvGrpSpPr>
        <p:grpSpPr>
          <a:xfrm>
            <a:off x="2297859" y="1799373"/>
            <a:ext cx="4560157" cy="492443"/>
            <a:chOff x="2797925" y="4238757"/>
            <a:chExt cx="4560157" cy="492443"/>
          </a:xfrm>
        </p:grpSpPr>
        <p:grpSp>
          <p:nvGrpSpPr>
            <p:cNvPr id="5" name="组合 38"/>
            <p:cNvGrpSpPr/>
            <p:nvPr/>
          </p:nvGrpSpPr>
          <p:grpSpPr>
            <a:xfrm>
              <a:off x="2797925" y="4238757"/>
              <a:ext cx="4560157" cy="492443"/>
              <a:chOff x="2143108" y="5715015"/>
              <a:chExt cx="4560157" cy="484936"/>
            </a:xfrm>
          </p:grpSpPr>
          <p:sp>
            <p:nvSpPr>
              <p:cNvPr id="51" name="矩形 50"/>
              <p:cNvSpPr/>
              <p:nvPr/>
            </p:nvSpPr>
            <p:spPr>
              <a:xfrm>
                <a:off x="2143108" y="5715015"/>
                <a:ext cx="4560157" cy="484936"/>
              </a:xfrm>
              <a:prstGeom prst="rect">
                <a:avLst/>
              </a:prstGeom>
              <a:ln w="19050">
                <a:no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52" name="直接连接符 51"/>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5" name="直接连接符 54"/>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9" name="Rectangle 6"/>
          <p:cNvSpPr>
            <a:spLocks noChangeArrowheads="1"/>
          </p:cNvSpPr>
          <p:nvPr/>
        </p:nvSpPr>
        <p:spPr bwMode="auto">
          <a:xfrm>
            <a:off x="464221" y="3625211"/>
            <a:ext cx="824586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a:cs typeface="Times New Roman"/>
              </a:rPr>
              <a:t>应用背景</a:t>
            </a:r>
            <a:endParaRPr lang="en-US" altLang="zh-CN" sz="2000" b="1">
              <a:latin typeface="Times New Roman" pitchFamily="18" charset="0"/>
              <a:cs typeface="Times New Roman" pitchFamily="18" charset="0"/>
            </a:endParaRPr>
          </a:p>
        </p:txBody>
      </p:sp>
      <p:sp>
        <p:nvSpPr>
          <p:cNvPr id="33" name="内容占位符 2"/>
          <p:cNvSpPr txBox="1">
            <a:spLocks/>
          </p:cNvSpPr>
          <p:nvPr/>
        </p:nvSpPr>
        <p:spPr bwMode="auto">
          <a:xfrm>
            <a:off x="472738" y="3108355"/>
            <a:ext cx="8207375" cy="517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1" indent="-342900" algn="l" defTabSz="914400" rtl="0" eaLnBrk="1" fontAlgn="base" latinLnBrk="0" hangingPunct="1">
              <a:lnSpc>
                <a:spcPct val="120000"/>
              </a:lnSpc>
              <a:spcBef>
                <a:spcPct val="20000"/>
              </a:spcBef>
              <a:spcAft>
                <a:spcPct val="0"/>
              </a:spcAft>
              <a:buClrTx/>
              <a:buSzTx/>
              <a:buFont typeface="Wingdings" pitchFamily="2" charset="2"/>
              <a:buChar char="n"/>
              <a:tabLst/>
              <a:defRPr/>
            </a:pPr>
            <a:r>
              <a:rPr lang="zh-CN" altLang="en-US" sz="2400" b="1" kern="0">
                <a:solidFill>
                  <a:srgbClr val="C00000"/>
                </a:solidFill>
              </a:rPr>
              <a:t>温度改变的位移计算公式</a:t>
            </a:r>
            <a:endParaRPr kumimoji="0" lang="en-US" altLang="zh-CN" sz="2400" b="1" i="0" u="none" strike="noStrike" kern="0" cap="none" spc="0" normalizeH="0" baseline="0" noProof="0">
              <a:ln>
                <a:noFill/>
              </a:ln>
              <a:solidFill>
                <a:srgbClr val="C00000"/>
              </a:solidFill>
              <a:effectLst/>
              <a:uLnTx/>
              <a:uFillTx/>
              <a:latin typeface="+mn-lt"/>
              <a:ea typeface="+mn-ea"/>
            </a:endParaRPr>
          </a:p>
        </p:txBody>
      </p:sp>
      <p:pic>
        <p:nvPicPr>
          <p:cNvPr id="545796" name="Picture 4" descr="弯管式膨胀节"/>
          <p:cNvPicPr>
            <a:picLocks noChangeAspect="1" noChangeArrowheads="1"/>
          </p:cNvPicPr>
          <p:nvPr/>
        </p:nvPicPr>
        <p:blipFill>
          <a:blip r:embed="rId3"/>
          <a:srcRect/>
          <a:stretch>
            <a:fillRect/>
          </a:stretch>
        </p:blipFill>
        <p:spPr bwMode="auto">
          <a:xfrm>
            <a:off x="6643702" y="3071810"/>
            <a:ext cx="2071702" cy="1718294"/>
          </a:xfrm>
          <a:prstGeom prst="rect">
            <a:avLst/>
          </a:prstGeom>
          <a:noFill/>
        </p:spPr>
      </p:pic>
      <p:pic>
        <p:nvPicPr>
          <p:cNvPr id="545798" name="Picture 6" descr="膨胀节"/>
          <p:cNvPicPr>
            <a:picLocks noChangeAspect="1" noChangeArrowheads="1"/>
          </p:cNvPicPr>
          <p:nvPr/>
        </p:nvPicPr>
        <p:blipFill>
          <a:blip r:embed="rId4"/>
          <a:srcRect/>
          <a:stretch>
            <a:fillRect/>
          </a:stretch>
        </p:blipFill>
        <p:spPr bwMode="auto">
          <a:xfrm>
            <a:off x="6858016" y="4714884"/>
            <a:ext cx="1875248" cy="1714512"/>
          </a:xfrm>
          <a:prstGeom prst="rect">
            <a:avLst/>
          </a:prstGeom>
          <a:noFill/>
        </p:spPr>
      </p:pic>
      <p:pic>
        <p:nvPicPr>
          <p:cNvPr id="600066" name="Picture 2" descr="http://img2.imgtn.bdimg.com/it/u=2228495494,3963875678&amp;fm=21&amp;gp=0.jpg"/>
          <p:cNvPicPr>
            <a:picLocks noChangeAspect="1" noChangeArrowheads="1"/>
          </p:cNvPicPr>
          <p:nvPr/>
        </p:nvPicPr>
        <p:blipFill>
          <a:blip r:embed="rId5"/>
          <a:srcRect/>
          <a:stretch>
            <a:fillRect/>
          </a:stretch>
        </p:blipFill>
        <p:spPr bwMode="auto">
          <a:xfrm>
            <a:off x="4429124" y="3357562"/>
            <a:ext cx="2028825" cy="1885950"/>
          </a:xfrm>
          <a:prstGeom prst="rect">
            <a:avLst/>
          </a:prstGeom>
          <a:noFill/>
        </p:spPr>
      </p:pic>
      <p:pic>
        <p:nvPicPr>
          <p:cNvPr id="600068" name="Picture 4" descr="http://s9.sinaimg.cn/mw690/0025qY2Fgy6Lq2Hu2g068&amp;690"/>
          <p:cNvPicPr>
            <a:picLocks noChangeAspect="1" noChangeArrowheads="1"/>
          </p:cNvPicPr>
          <p:nvPr/>
        </p:nvPicPr>
        <p:blipFill>
          <a:blip r:embed="rId6"/>
          <a:srcRect/>
          <a:stretch>
            <a:fillRect/>
          </a:stretch>
        </p:blipFill>
        <p:spPr bwMode="auto">
          <a:xfrm>
            <a:off x="1071538" y="4143380"/>
            <a:ext cx="3143240" cy="2090938"/>
          </a:xfrm>
          <a:prstGeom prst="rect">
            <a:avLst/>
          </a:prstGeom>
          <a:noFill/>
        </p:spPr>
      </p:pic>
      <p:pic>
        <p:nvPicPr>
          <p:cNvPr id="600074" name="Picture 10" descr="http://www.cbe21.com/subject/physics/images/100102/2153/2153002.jpg"/>
          <p:cNvPicPr>
            <a:picLocks noChangeAspect="1" noChangeArrowheads="1"/>
          </p:cNvPicPr>
          <p:nvPr/>
        </p:nvPicPr>
        <p:blipFill>
          <a:blip r:embed="rId7"/>
          <a:srcRect/>
          <a:stretch>
            <a:fillRect/>
          </a:stretch>
        </p:blipFill>
        <p:spPr bwMode="auto">
          <a:xfrm>
            <a:off x="4357686" y="5572140"/>
            <a:ext cx="2226775" cy="64294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down)">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down)">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0068"/>
                                        </p:tgtEl>
                                        <p:attrNameLst>
                                          <p:attrName>style.visibility</p:attrName>
                                        </p:attrNameLst>
                                      </p:cBhvr>
                                      <p:to>
                                        <p:strVal val="visible"/>
                                      </p:to>
                                    </p:set>
                                    <p:anim calcmode="lin" valueType="num">
                                      <p:cBhvr additive="base">
                                        <p:cTn id="22" dur="500" fill="hold"/>
                                        <p:tgtEl>
                                          <p:spTgt spid="600068"/>
                                        </p:tgtEl>
                                        <p:attrNameLst>
                                          <p:attrName>ppt_x</p:attrName>
                                        </p:attrNameLst>
                                      </p:cBhvr>
                                      <p:tavLst>
                                        <p:tav tm="0">
                                          <p:val>
                                            <p:strVal val="#ppt_x"/>
                                          </p:val>
                                        </p:tav>
                                        <p:tav tm="100000">
                                          <p:val>
                                            <p:strVal val="#ppt_x"/>
                                          </p:val>
                                        </p:tav>
                                      </p:tavLst>
                                    </p:anim>
                                    <p:anim calcmode="lin" valueType="num">
                                      <p:cBhvr additive="base">
                                        <p:cTn id="23" dur="500" fill="hold"/>
                                        <p:tgtEl>
                                          <p:spTgt spid="600068"/>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600066"/>
                                        </p:tgtEl>
                                        <p:attrNameLst>
                                          <p:attrName>style.visibility</p:attrName>
                                        </p:attrNameLst>
                                      </p:cBhvr>
                                      <p:to>
                                        <p:strVal val="visible"/>
                                      </p:to>
                                    </p:set>
                                    <p:anim calcmode="lin" valueType="num">
                                      <p:cBhvr additive="base">
                                        <p:cTn id="27" dur="500" fill="hold"/>
                                        <p:tgtEl>
                                          <p:spTgt spid="600066"/>
                                        </p:tgtEl>
                                        <p:attrNameLst>
                                          <p:attrName>ppt_x</p:attrName>
                                        </p:attrNameLst>
                                      </p:cBhvr>
                                      <p:tavLst>
                                        <p:tav tm="0">
                                          <p:val>
                                            <p:strVal val="#ppt_x"/>
                                          </p:val>
                                        </p:tav>
                                        <p:tav tm="100000">
                                          <p:val>
                                            <p:strVal val="#ppt_x"/>
                                          </p:val>
                                        </p:tav>
                                      </p:tavLst>
                                    </p:anim>
                                    <p:anim calcmode="lin" valueType="num">
                                      <p:cBhvr additive="base">
                                        <p:cTn id="28" dur="500" fill="hold"/>
                                        <p:tgtEl>
                                          <p:spTgt spid="600066"/>
                                        </p:tgtEl>
                                        <p:attrNameLst>
                                          <p:attrName>ppt_y</p:attrName>
                                        </p:attrNameLst>
                                      </p:cBhvr>
                                      <p:tavLst>
                                        <p:tav tm="0">
                                          <p:val>
                                            <p:strVal val="1+#ppt_h/2"/>
                                          </p:val>
                                        </p:tav>
                                        <p:tav tm="100000">
                                          <p:val>
                                            <p:strVal val="#ppt_y"/>
                                          </p:val>
                                        </p:tav>
                                      </p:tavLst>
                                    </p:anim>
                                  </p:childTnLst>
                                </p:cTn>
                              </p:par>
                            </p:childTnLst>
                          </p:cTn>
                        </p:par>
                        <p:par>
                          <p:cTn id="29" fill="hold">
                            <p:stCondLst>
                              <p:cond delay="1000"/>
                            </p:stCondLst>
                            <p:childTnLst>
                              <p:par>
                                <p:cTn id="30" presetID="2" presetClass="entr" presetSubtype="4" fill="hold" nodeType="afterEffect">
                                  <p:stCondLst>
                                    <p:cond delay="0"/>
                                  </p:stCondLst>
                                  <p:childTnLst>
                                    <p:set>
                                      <p:cBhvr>
                                        <p:cTn id="31" dur="1" fill="hold">
                                          <p:stCondLst>
                                            <p:cond delay="0"/>
                                          </p:stCondLst>
                                        </p:cTn>
                                        <p:tgtEl>
                                          <p:spTgt spid="600074"/>
                                        </p:tgtEl>
                                        <p:attrNameLst>
                                          <p:attrName>style.visibility</p:attrName>
                                        </p:attrNameLst>
                                      </p:cBhvr>
                                      <p:to>
                                        <p:strVal val="visible"/>
                                      </p:to>
                                    </p:set>
                                    <p:anim calcmode="lin" valueType="num">
                                      <p:cBhvr additive="base">
                                        <p:cTn id="32" dur="500" fill="hold"/>
                                        <p:tgtEl>
                                          <p:spTgt spid="600074"/>
                                        </p:tgtEl>
                                        <p:attrNameLst>
                                          <p:attrName>ppt_x</p:attrName>
                                        </p:attrNameLst>
                                      </p:cBhvr>
                                      <p:tavLst>
                                        <p:tav tm="0">
                                          <p:val>
                                            <p:strVal val="#ppt_x"/>
                                          </p:val>
                                        </p:tav>
                                        <p:tav tm="100000">
                                          <p:val>
                                            <p:strVal val="#ppt_x"/>
                                          </p:val>
                                        </p:tav>
                                      </p:tavLst>
                                    </p:anim>
                                    <p:anim calcmode="lin" valueType="num">
                                      <p:cBhvr additive="base">
                                        <p:cTn id="33" dur="500" fill="hold"/>
                                        <p:tgtEl>
                                          <p:spTgt spid="600074"/>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2" presetClass="entr" presetSubtype="4" fill="hold" nodeType="afterEffect">
                                  <p:stCondLst>
                                    <p:cond delay="0"/>
                                  </p:stCondLst>
                                  <p:childTnLst>
                                    <p:set>
                                      <p:cBhvr>
                                        <p:cTn id="36" dur="1" fill="hold">
                                          <p:stCondLst>
                                            <p:cond delay="0"/>
                                          </p:stCondLst>
                                        </p:cTn>
                                        <p:tgtEl>
                                          <p:spTgt spid="545796"/>
                                        </p:tgtEl>
                                        <p:attrNameLst>
                                          <p:attrName>style.visibility</p:attrName>
                                        </p:attrNameLst>
                                      </p:cBhvr>
                                      <p:to>
                                        <p:strVal val="visible"/>
                                      </p:to>
                                    </p:set>
                                    <p:anim calcmode="lin" valueType="num">
                                      <p:cBhvr additive="base">
                                        <p:cTn id="37" dur="500" fill="hold"/>
                                        <p:tgtEl>
                                          <p:spTgt spid="545796"/>
                                        </p:tgtEl>
                                        <p:attrNameLst>
                                          <p:attrName>ppt_x</p:attrName>
                                        </p:attrNameLst>
                                      </p:cBhvr>
                                      <p:tavLst>
                                        <p:tav tm="0">
                                          <p:val>
                                            <p:strVal val="#ppt_x"/>
                                          </p:val>
                                        </p:tav>
                                        <p:tav tm="100000">
                                          <p:val>
                                            <p:strVal val="#ppt_x"/>
                                          </p:val>
                                        </p:tav>
                                      </p:tavLst>
                                    </p:anim>
                                    <p:anim calcmode="lin" valueType="num">
                                      <p:cBhvr additive="base">
                                        <p:cTn id="38" dur="500" fill="hold"/>
                                        <p:tgtEl>
                                          <p:spTgt spid="545796"/>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nodeType="afterEffect">
                                  <p:stCondLst>
                                    <p:cond delay="0"/>
                                  </p:stCondLst>
                                  <p:childTnLst>
                                    <p:set>
                                      <p:cBhvr>
                                        <p:cTn id="41" dur="1" fill="hold">
                                          <p:stCondLst>
                                            <p:cond delay="0"/>
                                          </p:stCondLst>
                                        </p:cTn>
                                        <p:tgtEl>
                                          <p:spTgt spid="545798"/>
                                        </p:tgtEl>
                                        <p:attrNameLst>
                                          <p:attrName>style.visibility</p:attrName>
                                        </p:attrNameLst>
                                      </p:cBhvr>
                                      <p:to>
                                        <p:strVal val="visible"/>
                                      </p:to>
                                    </p:set>
                                    <p:anim calcmode="lin" valueType="num">
                                      <p:cBhvr additive="base">
                                        <p:cTn id="42" dur="500" fill="hold"/>
                                        <p:tgtEl>
                                          <p:spTgt spid="545798"/>
                                        </p:tgtEl>
                                        <p:attrNameLst>
                                          <p:attrName>ppt_x</p:attrName>
                                        </p:attrNameLst>
                                      </p:cBhvr>
                                      <p:tavLst>
                                        <p:tav tm="0">
                                          <p:val>
                                            <p:strVal val="#ppt_x"/>
                                          </p:val>
                                        </p:tav>
                                        <p:tav tm="100000">
                                          <p:val>
                                            <p:strVal val="#ppt_x"/>
                                          </p:val>
                                        </p:tav>
                                      </p:tavLst>
                                    </p:anim>
                                    <p:anim calcmode="lin" valueType="num">
                                      <p:cBhvr additive="base">
                                        <p:cTn id="43" dur="500" fill="hold"/>
                                        <p:tgtEl>
                                          <p:spTgt spid="545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p:bldP spid="49" grpId="0" autoUpdateAnimBg="0"/>
      <p:bldP spid="33"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 name="Rectangle 6"/>
          <p:cNvSpPr>
            <a:spLocks noChangeArrowheads="1"/>
          </p:cNvSpPr>
          <p:nvPr/>
        </p:nvSpPr>
        <p:spPr bwMode="auto">
          <a:xfrm>
            <a:off x="469540" y="1813222"/>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基本假设</a:t>
            </a:r>
            <a:endParaRPr lang="en-US" altLang="zh-CN" sz="2000" b="1">
              <a:latin typeface="Times New Roman" pitchFamily="18" charset="0"/>
              <a:cs typeface="Times New Roman" pitchFamily="18" charset="0"/>
            </a:endParaRPr>
          </a:p>
        </p:txBody>
      </p:sp>
      <p:sp>
        <p:nvSpPr>
          <p:cNvPr id="19" name="矩形 18"/>
          <p:cNvSpPr/>
          <p:nvPr/>
        </p:nvSpPr>
        <p:spPr>
          <a:xfrm>
            <a:off x="1129529" y="2228001"/>
            <a:ext cx="3871099" cy="830997"/>
          </a:xfrm>
          <a:prstGeom prst="rect">
            <a:avLst/>
          </a:prstGeom>
        </p:spPr>
        <p:txBody>
          <a:bodyPr wrap="square">
            <a:spAutoFit/>
          </a:bodyPr>
          <a:lstStyle/>
          <a:p>
            <a:pPr marL="0" lvl="1" algn="just" fontAlgn="base">
              <a:lnSpc>
                <a:spcPct val="120000"/>
              </a:lnSpc>
              <a:spcBef>
                <a:spcPct val="20000"/>
              </a:spcBef>
              <a:spcAft>
                <a:spcPct val="0"/>
              </a:spcAft>
            </a:pPr>
            <a:r>
              <a:rPr lang="en-US" altLang="zh-CN" sz="2000" b="1">
                <a:latin typeface="Times New Roman" pitchFamily="18" charset="0"/>
                <a:cs typeface="Times New Roman" pitchFamily="18" charset="0"/>
              </a:rPr>
              <a:t> ⑴ </a:t>
            </a:r>
            <a:r>
              <a:rPr lang="zh-CN" altLang="en-US" sz="2000" b="1">
                <a:latin typeface="Times New Roman" pitchFamily="18" charset="0"/>
                <a:cs typeface="Times New Roman" pitchFamily="18" charset="0"/>
              </a:rPr>
              <a:t>线性关系：杆件的变形正比于 </a:t>
            </a:r>
            <a:endParaRPr lang="en-US" altLang="zh-CN" sz="2000" b="1">
              <a:latin typeface="Times New Roman" pitchFamily="18" charset="0"/>
              <a:cs typeface="Times New Roman" pitchFamily="18" charset="0"/>
            </a:endParaRPr>
          </a:p>
          <a:p>
            <a:pPr marL="0" lvl="1" algn="just" fontAlgn="base">
              <a:lnSpc>
                <a:spcPct val="120000"/>
              </a:lnSpc>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其温度变，且无历史效应；</a:t>
            </a:r>
            <a:endParaRPr lang="en-US" altLang="zh-CN" sz="2000" b="1">
              <a:latin typeface="Times New Roman" pitchFamily="18" charset="0"/>
              <a:cs typeface="Times New Roman" pitchFamily="18" charset="0"/>
            </a:endParaRPr>
          </a:p>
        </p:txBody>
      </p:sp>
      <p:sp>
        <p:nvSpPr>
          <p:cNvPr id="20" name="TextBox 19"/>
          <p:cNvSpPr txBox="1"/>
          <p:nvPr/>
        </p:nvSpPr>
        <p:spPr>
          <a:xfrm>
            <a:off x="2222863" y="3000372"/>
            <a:ext cx="2127505" cy="400110"/>
          </a:xfrm>
          <a:prstGeom prst="rect">
            <a:avLst/>
          </a:prstGeom>
          <a:noFill/>
          <a:ln w="28575">
            <a:noFill/>
          </a:ln>
        </p:spPr>
        <p:txBody>
          <a:bodyPr wrap="none" rtlCol="0">
            <a:spAutoFit/>
          </a:bodyPr>
          <a:lstStyle/>
          <a:p>
            <a:r>
              <a:rPr lang="el-GR" altLang="zh-CN" sz="2000" b="1" i="1">
                <a:latin typeface="Times New Roman" pitchFamily="18" charset="0"/>
                <a:cs typeface="Times New Roman" pitchFamily="18" charset="0"/>
              </a:rPr>
              <a:t>ε</a:t>
            </a:r>
            <a:r>
              <a:rPr lang="en-US" altLang="zh-CN" sz="2000" b="1">
                <a:latin typeface="Times New Roman" pitchFamily="18" charset="0"/>
                <a:cs typeface="Times New Roman" pitchFamily="18" charset="0"/>
              </a:rPr>
              <a:t> = </a:t>
            </a:r>
            <a:r>
              <a:rPr lang="el-GR" altLang="zh-CN" sz="2000" b="1" i="1">
                <a:latin typeface="Times New Roman" pitchFamily="18" charset="0"/>
                <a:cs typeface="Times New Roman" pitchFamily="18" charset="0"/>
              </a:rPr>
              <a:t>α</a:t>
            </a:r>
            <a:r>
              <a:rPr lang="en-US" altLang="zh-CN" sz="2000" b="1" i="1">
                <a:latin typeface="Times New Roman" pitchFamily="18" charset="0"/>
                <a:cs typeface="Times New Roman" pitchFamily="18" charset="0"/>
              </a:rPr>
              <a:t>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α</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const</a:t>
            </a:r>
            <a:endParaRPr lang="zh-CN" altLang="en-US" sz="2000" b="1">
              <a:latin typeface="Times New Roman" pitchFamily="18" charset="0"/>
              <a:cs typeface="Times New Roman" pitchFamily="18" charset="0"/>
            </a:endParaRPr>
          </a:p>
        </p:txBody>
      </p:sp>
      <p:sp>
        <p:nvSpPr>
          <p:cNvPr id="21" name="矩形 20"/>
          <p:cNvSpPr/>
          <p:nvPr/>
        </p:nvSpPr>
        <p:spPr>
          <a:xfrm>
            <a:off x="1129529" y="3357562"/>
            <a:ext cx="7585875" cy="830997"/>
          </a:xfrm>
          <a:prstGeom prst="rect">
            <a:avLst/>
          </a:prstGeom>
        </p:spPr>
        <p:txBody>
          <a:bodyPr wrap="square">
            <a:spAutoFit/>
          </a:bodyPr>
          <a:lstStyle/>
          <a:p>
            <a:pPr marL="363538" lvl="1" indent="-363538" algn="just" fontAlgn="base">
              <a:lnSpc>
                <a:spcPct val="120000"/>
              </a:lnSpc>
              <a:spcBef>
                <a:spcPct val="20000"/>
              </a:spcBef>
              <a:spcAft>
                <a:spcPct val="0"/>
              </a:spcAft>
            </a:pPr>
            <a:r>
              <a:rPr lang="en-US" altLang="zh-CN" sz="2000" b="1">
                <a:latin typeface="Times New Roman" pitchFamily="18" charset="0"/>
                <a:cs typeface="Times New Roman" pitchFamily="18" charset="0"/>
              </a:rPr>
              <a:t> ⑵ </a:t>
            </a:r>
            <a:r>
              <a:rPr lang="zh-CN" altLang="en-US" sz="2000" b="1">
                <a:latin typeface="Times New Roman" pitchFamily="18" charset="0"/>
                <a:cs typeface="Times New Roman" pitchFamily="18" charset="0"/>
              </a:rPr>
              <a:t>线性分布：杆件的两侧的温度可以是不同的，但从高温一侧到</a:t>
            </a:r>
            <a:r>
              <a:rPr lang="en-US" altLang="zh-CN" sz="2000" b="1">
                <a:latin typeface="Times New Roman" pitchFamily="18" charset="0"/>
                <a:cs typeface="Times New Roman" pitchFamily="18" charset="0"/>
              </a:rPr>
              <a:t> </a:t>
            </a:r>
          </a:p>
          <a:p>
            <a:pPr marL="363538" lvl="1" indent="-363538" algn="just" fontAlgn="base">
              <a:lnSpc>
                <a:spcPct val="120000"/>
              </a:lnSpc>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低温一侧温度是按直线变化的；</a:t>
            </a:r>
            <a:endParaRPr lang="zh-CN" altLang="en-US"/>
          </a:p>
        </p:txBody>
      </p:sp>
      <p:sp>
        <p:nvSpPr>
          <p:cNvPr id="18" name="矩形 17"/>
          <p:cNvSpPr/>
          <p:nvPr/>
        </p:nvSpPr>
        <p:spPr bwMode="auto">
          <a:xfrm>
            <a:off x="5857884" y="2143116"/>
            <a:ext cx="2286016" cy="642942"/>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nvGrpSpPr>
          <p:cNvPr id="30" name="组合 29"/>
          <p:cNvGrpSpPr/>
          <p:nvPr/>
        </p:nvGrpSpPr>
        <p:grpSpPr>
          <a:xfrm>
            <a:off x="5570626" y="1571612"/>
            <a:ext cx="3128011" cy="1272437"/>
            <a:chOff x="5557179" y="1571612"/>
            <a:chExt cx="3128011" cy="1272437"/>
          </a:xfrm>
        </p:grpSpPr>
        <p:cxnSp>
          <p:nvCxnSpPr>
            <p:cNvPr id="25" name="直接连接符 24"/>
            <p:cNvCxnSpPr>
              <a:cxnSpLocks/>
            </p:cNvCxnSpPr>
            <p:nvPr/>
          </p:nvCxnSpPr>
          <p:spPr bwMode="auto">
            <a:xfrm rot="10800000" flipH="1">
              <a:off x="5849564" y="2466176"/>
              <a:ext cx="2696070" cy="0"/>
            </a:xfrm>
            <a:prstGeom prst="line">
              <a:avLst/>
            </a:prstGeom>
            <a:solidFill>
              <a:schemeClr val="accent1"/>
            </a:solidFill>
            <a:ln w="19050" cap="flat" cmpd="sng" algn="ctr">
              <a:solidFill>
                <a:schemeClr val="tx1"/>
              </a:solidFill>
              <a:prstDash val="solid"/>
              <a:round/>
              <a:headEnd type="none" w="med" len="med"/>
              <a:tailEnd type="stealth" w="lg" len="lg"/>
            </a:ln>
            <a:effectLst/>
          </p:spPr>
        </p:cxnSp>
        <p:cxnSp>
          <p:nvCxnSpPr>
            <p:cNvPr id="27" name="直接连接符 26"/>
            <p:cNvCxnSpPr>
              <a:cxnSpLocks/>
            </p:cNvCxnSpPr>
            <p:nvPr/>
          </p:nvCxnSpPr>
          <p:spPr bwMode="auto">
            <a:xfrm rot="5400000" flipH="1">
              <a:off x="5484437" y="2105585"/>
              <a:ext cx="720000" cy="0"/>
            </a:xfrm>
            <a:prstGeom prst="line">
              <a:avLst/>
            </a:prstGeom>
            <a:solidFill>
              <a:schemeClr val="accent1"/>
            </a:solidFill>
            <a:ln w="19050" cap="flat" cmpd="sng" algn="ctr">
              <a:solidFill>
                <a:schemeClr val="tx1"/>
              </a:solidFill>
              <a:prstDash val="solid"/>
              <a:round/>
              <a:headEnd type="none" w="med" len="med"/>
              <a:tailEnd type="stealth" w="lg" len="lg"/>
            </a:ln>
            <a:effectLst/>
          </p:spPr>
        </p:cxnSp>
        <p:sp>
          <p:nvSpPr>
            <p:cNvPr id="28" name="TextBox 27"/>
            <p:cNvSpPr txBox="1"/>
            <p:nvPr/>
          </p:nvSpPr>
          <p:spPr>
            <a:xfrm>
              <a:off x="8385108" y="2474717"/>
              <a:ext cx="300082"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sp>
          <p:nvSpPr>
            <p:cNvPr id="29" name="TextBox 28"/>
            <p:cNvSpPr txBox="1"/>
            <p:nvPr/>
          </p:nvSpPr>
          <p:spPr>
            <a:xfrm>
              <a:off x="5557179" y="1571612"/>
              <a:ext cx="28725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grpSp>
      <p:sp>
        <p:nvSpPr>
          <p:cNvPr id="31" name="TextBox 30"/>
          <p:cNvSpPr txBox="1"/>
          <p:nvPr/>
        </p:nvSpPr>
        <p:spPr>
          <a:xfrm>
            <a:off x="5538226" y="1915355"/>
            <a:ext cx="364202"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y</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32" name="TextBox 31"/>
          <p:cNvSpPr txBox="1"/>
          <p:nvPr/>
        </p:nvSpPr>
        <p:spPr>
          <a:xfrm>
            <a:off x="5538226" y="2571744"/>
            <a:ext cx="364202"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y</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cxnSp>
        <p:nvCxnSpPr>
          <p:cNvPr id="35" name="直接连接符 34"/>
          <p:cNvCxnSpPr/>
          <p:nvPr/>
        </p:nvCxnSpPr>
        <p:spPr bwMode="auto">
          <a:xfrm rot="5400000">
            <a:off x="6035685" y="2464587"/>
            <a:ext cx="643736" cy="794"/>
          </a:xfrm>
          <a:prstGeom prst="line">
            <a:avLst/>
          </a:prstGeom>
          <a:solidFill>
            <a:schemeClr val="accent1"/>
          </a:solidFill>
          <a:ln w="28575" cap="flat" cmpd="sng" algn="ctr">
            <a:solidFill>
              <a:srgbClr val="0033CC"/>
            </a:solidFill>
            <a:prstDash val="dash"/>
            <a:round/>
            <a:headEnd type="none" w="med" len="med"/>
            <a:tailEnd type="none" w="med" len="med"/>
          </a:ln>
          <a:effectLst/>
        </p:spPr>
      </p:cxnSp>
      <p:sp>
        <p:nvSpPr>
          <p:cNvPr id="38" name="TextBox 37"/>
          <p:cNvSpPr txBox="1"/>
          <p:nvPr/>
        </p:nvSpPr>
        <p:spPr>
          <a:xfrm>
            <a:off x="6286512" y="1773784"/>
            <a:ext cx="325730"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t</a:t>
            </a:r>
            <a:r>
              <a:rPr lang="en-US" altLang="zh-CN" b="1" baseline="-25000">
                <a:solidFill>
                  <a:srgbClr val="0033CC"/>
                </a:solidFill>
                <a:latin typeface="Times New Roman" pitchFamily="18" charset="0"/>
                <a:cs typeface="Times New Roman" pitchFamily="18" charset="0"/>
              </a:rPr>
              <a:t>1</a:t>
            </a:r>
            <a:endParaRPr lang="zh-CN" altLang="en-US" b="1" baseline="-25000">
              <a:solidFill>
                <a:srgbClr val="0033CC"/>
              </a:solidFill>
              <a:latin typeface="Times New Roman" pitchFamily="18" charset="0"/>
              <a:cs typeface="Times New Roman" pitchFamily="18" charset="0"/>
            </a:endParaRPr>
          </a:p>
        </p:txBody>
      </p:sp>
      <p:sp>
        <p:nvSpPr>
          <p:cNvPr id="39" name="TextBox 38"/>
          <p:cNvSpPr txBox="1"/>
          <p:nvPr/>
        </p:nvSpPr>
        <p:spPr>
          <a:xfrm>
            <a:off x="6357950" y="2759164"/>
            <a:ext cx="325730"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t</a:t>
            </a:r>
            <a:r>
              <a:rPr lang="en-US" altLang="zh-CN" b="1" baseline="-25000">
                <a:solidFill>
                  <a:srgbClr val="0033CC"/>
                </a:solidFill>
                <a:latin typeface="Times New Roman" pitchFamily="18" charset="0"/>
                <a:cs typeface="Times New Roman" pitchFamily="18" charset="0"/>
              </a:rPr>
              <a:t>2</a:t>
            </a:r>
            <a:endParaRPr lang="zh-CN" altLang="en-US" b="1" baseline="-25000">
              <a:solidFill>
                <a:srgbClr val="0033CC"/>
              </a:solidFill>
              <a:latin typeface="Times New Roman" pitchFamily="18" charset="0"/>
              <a:cs typeface="Times New Roman" pitchFamily="18" charset="0"/>
            </a:endParaRPr>
          </a:p>
        </p:txBody>
      </p:sp>
      <p:cxnSp>
        <p:nvCxnSpPr>
          <p:cNvPr id="43" name="直接连接符 42"/>
          <p:cNvCxnSpPr/>
          <p:nvPr/>
        </p:nvCxnSpPr>
        <p:spPr bwMode="auto">
          <a:xfrm rot="16200000" flipH="1">
            <a:off x="6273065" y="2357430"/>
            <a:ext cx="642942" cy="214314"/>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47" name="TextBox 46"/>
          <p:cNvSpPr txBox="1"/>
          <p:nvPr/>
        </p:nvSpPr>
        <p:spPr>
          <a:xfrm>
            <a:off x="2243845" y="4171898"/>
            <a:ext cx="4971361"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y, x</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k</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a:t>
            </a:r>
            <a:r>
              <a:rPr lang="en-US" altLang="zh-CN" sz="2000" b="1" i="1">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  k =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a:t>
            </a:r>
            <a:r>
              <a:rPr lang="en-US" altLang="zh-CN" sz="2000" b="1" i="1">
                <a:latin typeface="Times New Roman" pitchFamily="18" charset="0"/>
                <a:cs typeface="Times New Roman" pitchFamily="18" charset="0"/>
              </a:rPr>
              <a:t> </a:t>
            </a:r>
            <a:r>
              <a:rPr lang="en-US" altLang="zh-CN" sz="2000" b="1">
                <a:latin typeface="+mn-ea"/>
                <a:cs typeface="Times New Roman" pitchFamily="18" charset="0"/>
              </a:rPr>
              <a:t>- </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 / (</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2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y</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 </a:t>
            </a:r>
            <a:endParaRPr lang="zh-CN" altLang="en-US" sz="2000" b="1" baseline="-25000">
              <a:latin typeface="Times New Roman" pitchFamily="18" charset="0"/>
              <a:cs typeface="Times New Roman" pitchFamily="18" charset="0"/>
            </a:endParaRPr>
          </a:p>
        </p:txBody>
      </p:sp>
      <p:sp>
        <p:nvSpPr>
          <p:cNvPr id="48" name="TextBox 47"/>
          <p:cNvSpPr txBox="1"/>
          <p:nvPr/>
        </p:nvSpPr>
        <p:spPr>
          <a:xfrm>
            <a:off x="1186551" y="4600526"/>
            <a:ext cx="5314275" cy="400110"/>
          </a:xfrm>
          <a:prstGeom prst="rect">
            <a:avLst/>
          </a:prstGeom>
          <a:noFill/>
          <a:ln w="28575">
            <a:noFill/>
          </a:ln>
        </p:spPr>
        <p:txBody>
          <a:bodyPr wrap="none" rtlCol="0">
            <a:spAutoFit/>
          </a:bodyPr>
          <a:lstStyle/>
          <a:p>
            <a:r>
              <a:rPr lang="zh-CN" altLang="en-US" sz="2000" b="1">
                <a:solidFill>
                  <a:srgbClr val="C00000"/>
                </a:solidFill>
              </a:rPr>
              <a:t>推论一：温度变化下，平截面假设依然成立！</a:t>
            </a:r>
          </a:p>
        </p:txBody>
      </p:sp>
      <p:sp>
        <p:nvSpPr>
          <p:cNvPr id="50" name="矩形 49"/>
          <p:cNvSpPr/>
          <p:nvPr/>
        </p:nvSpPr>
        <p:spPr>
          <a:xfrm>
            <a:off x="1129529" y="5000636"/>
            <a:ext cx="7585875" cy="461665"/>
          </a:xfrm>
          <a:prstGeom prst="rect">
            <a:avLst/>
          </a:prstGeom>
        </p:spPr>
        <p:txBody>
          <a:bodyPr wrap="square">
            <a:spAutoFit/>
          </a:bodyPr>
          <a:lstStyle/>
          <a:p>
            <a:pPr marL="363538" lvl="1" indent="-363538" algn="just" fontAlgn="base">
              <a:lnSpc>
                <a:spcPct val="120000"/>
              </a:lnSpc>
              <a:spcBef>
                <a:spcPct val="20000"/>
              </a:spcBef>
              <a:spcAft>
                <a:spcPct val="0"/>
              </a:spcAft>
            </a:pPr>
            <a:r>
              <a:rPr lang="en-US" altLang="zh-CN" sz="2000" b="1">
                <a:latin typeface="Times New Roman" pitchFamily="18" charset="0"/>
                <a:cs typeface="Times New Roman" pitchFamily="18" charset="0"/>
              </a:rPr>
              <a:t> ⑶ </a:t>
            </a:r>
            <a:r>
              <a:rPr lang="zh-CN" altLang="en-US" sz="2000" b="1">
                <a:latin typeface="Times New Roman" pitchFamily="18" charset="0"/>
                <a:cs typeface="Times New Roman" pitchFamily="18" charset="0"/>
              </a:rPr>
              <a:t>轴向均匀：温度沿杆长均匀分布，且不产生剪切变形；</a:t>
            </a:r>
            <a:endParaRPr lang="zh-CN" altLang="en-US"/>
          </a:p>
        </p:txBody>
      </p:sp>
      <p:grpSp>
        <p:nvGrpSpPr>
          <p:cNvPr id="60" name="组合 59"/>
          <p:cNvGrpSpPr/>
          <p:nvPr/>
        </p:nvGrpSpPr>
        <p:grpSpPr>
          <a:xfrm>
            <a:off x="7349201" y="1785926"/>
            <a:ext cx="437509" cy="1342570"/>
            <a:chOff x="7349201" y="1785926"/>
            <a:chExt cx="437509" cy="1342570"/>
          </a:xfrm>
        </p:grpSpPr>
        <p:cxnSp>
          <p:nvCxnSpPr>
            <p:cNvPr id="56" name="直接连接符 55"/>
            <p:cNvCxnSpPr/>
            <p:nvPr/>
          </p:nvCxnSpPr>
          <p:spPr bwMode="auto">
            <a:xfrm rot="5400000">
              <a:off x="7120702" y="2464588"/>
              <a:ext cx="643736" cy="794"/>
            </a:xfrm>
            <a:prstGeom prst="line">
              <a:avLst/>
            </a:prstGeom>
            <a:solidFill>
              <a:schemeClr val="accent1"/>
            </a:solidFill>
            <a:ln w="28575" cap="flat" cmpd="sng" algn="ctr">
              <a:solidFill>
                <a:srgbClr val="00B050"/>
              </a:solidFill>
              <a:prstDash val="dash"/>
              <a:round/>
              <a:headEnd type="none" w="med" len="med"/>
              <a:tailEnd type="none" w="med" len="med"/>
            </a:ln>
            <a:effectLst/>
          </p:spPr>
        </p:cxnSp>
        <p:cxnSp>
          <p:nvCxnSpPr>
            <p:cNvPr id="57" name="直接连接符 56"/>
            <p:cNvCxnSpPr/>
            <p:nvPr/>
          </p:nvCxnSpPr>
          <p:spPr bwMode="auto">
            <a:xfrm rot="16200000" flipH="1">
              <a:off x="7358082" y="2357431"/>
              <a:ext cx="642942" cy="214314"/>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58" name="TextBox 57"/>
            <p:cNvSpPr txBox="1"/>
            <p:nvPr/>
          </p:nvSpPr>
          <p:spPr>
            <a:xfrm>
              <a:off x="7349201" y="1785926"/>
              <a:ext cx="325730" cy="369332"/>
            </a:xfrm>
            <a:prstGeom prst="rect">
              <a:avLst/>
            </a:prstGeom>
            <a:noFill/>
            <a:ln w="28575">
              <a:noFill/>
            </a:ln>
          </p:spPr>
          <p:txBody>
            <a:bodyPr wrap="none" rtlCol="0">
              <a:spAutoFit/>
            </a:bodyPr>
            <a:lstStyle/>
            <a:p>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1</a:t>
              </a:r>
              <a:endParaRPr lang="zh-CN" altLang="en-US" b="1" baseline="-25000">
                <a:solidFill>
                  <a:srgbClr val="00B050"/>
                </a:solidFill>
                <a:latin typeface="Times New Roman" pitchFamily="18" charset="0"/>
                <a:cs typeface="Times New Roman" pitchFamily="18" charset="0"/>
              </a:endParaRPr>
            </a:p>
          </p:txBody>
        </p:sp>
        <p:sp>
          <p:nvSpPr>
            <p:cNvPr id="59" name="TextBox 58"/>
            <p:cNvSpPr txBox="1"/>
            <p:nvPr/>
          </p:nvSpPr>
          <p:spPr>
            <a:xfrm>
              <a:off x="7407192" y="2759164"/>
              <a:ext cx="325730" cy="369332"/>
            </a:xfrm>
            <a:prstGeom prst="rect">
              <a:avLst/>
            </a:prstGeom>
            <a:noFill/>
            <a:ln w="28575">
              <a:noFill/>
            </a:ln>
          </p:spPr>
          <p:txBody>
            <a:bodyPr wrap="none" rtlCol="0">
              <a:spAutoFit/>
            </a:bodyPr>
            <a:lstStyle/>
            <a:p>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2</a:t>
              </a:r>
              <a:endParaRPr lang="zh-CN" altLang="en-US" b="1" baseline="-25000">
                <a:solidFill>
                  <a:srgbClr val="00B050"/>
                </a:solidFill>
                <a:latin typeface="Times New Roman" pitchFamily="18" charset="0"/>
                <a:cs typeface="Times New Roman" pitchFamily="18" charset="0"/>
              </a:endParaRPr>
            </a:p>
          </p:txBody>
        </p:sp>
      </p:grpSp>
      <p:sp>
        <p:nvSpPr>
          <p:cNvPr id="61" name="矩形 60"/>
          <p:cNvSpPr/>
          <p:nvPr/>
        </p:nvSpPr>
        <p:spPr>
          <a:xfrm>
            <a:off x="2232921" y="5386344"/>
            <a:ext cx="1981889" cy="400110"/>
          </a:xfrm>
          <a:prstGeom prst="rect">
            <a:avLst/>
          </a:prstGeom>
        </p:spPr>
        <p:txBody>
          <a:bodyPr wrap="none">
            <a:spAutoFit/>
          </a:bodyPr>
          <a:lstStyle/>
          <a:p>
            <a:r>
              <a:rPr lang="en-US" altLang="zh-CN" sz="2000" b="1" i="1">
                <a:solidFill>
                  <a:srgbClr val="000000"/>
                </a:solidFill>
                <a:latin typeface="Times New Roman" pitchFamily="18" charset="0"/>
                <a:cs typeface="Times New Roman" pitchFamily="18" charset="0"/>
              </a:rPr>
              <a:t>t </a:t>
            </a:r>
            <a:r>
              <a:rPr lang="en-US" altLang="zh-CN" sz="2000" b="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y, x</a:t>
            </a:r>
            <a:r>
              <a:rPr lang="en-US" altLang="zh-CN" sz="2000" b="1" baseline="-25000">
                <a:solidFill>
                  <a:srgbClr val="000000"/>
                </a:solidFill>
                <a:latin typeface="Times New Roman" pitchFamily="18" charset="0"/>
                <a:cs typeface="Times New Roman" pitchFamily="18" charset="0"/>
              </a:rPr>
              <a:t>1</a:t>
            </a:r>
            <a:r>
              <a:rPr lang="en-US" altLang="zh-CN" sz="2000" b="1">
                <a:solidFill>
                  <a:srgbClr val="000000"/>
                </a:solidFill>
                <a:latin typeface="Times New Roman" pitchFamily="18" charset="0"/>
                <a:cs typeface="Times New Roman" pitchFamily="18" charset="0"/>
              </a:rPr>
              <a:t>) =</a:t>
            </a:r>
            <a:r>
              <a:rPr lang="en-US" altLang="zh-CN" sz="2000" b="1" i="1" baseline="-25000">
                <a:solidFill>
                  <a:srgbClr val="000000"/>
                </a:solidFill>
                <a:latin typeface="Times New Roman" pitchFamily="18" charset="0"/>
                <a:cs typeface="Times New Roman" pitchFamily="18" charset="0"/>
              </a:rPr>
              <a:t> </a:t>
            </a:r>
            <a:r>
              <a:rPr lang="en-US" altLang="zh-CN" sz="2000" b="1" i="1">
                <a:solidFill>
                  <a:srgbClr val="000000"/>
                </a:solidFill>
                <a:latin typeface="Times New Roman" pitchFamily="18" charset="0"/>
                <a:cs typeface="Times New Roman" pitchFamily="18" charset="0"/>
              </a:rPr>
              <a:t>t </a:t>
            </a:r>
            <a:r>
              <a:rPr lang="en-US" altLang="zh-CN" sz="2000" b="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y, x</a:t>
            </a:r>
            <a:r>
              <a:rPr lang="en-US" altLang="zh-CN" sz="2000" b="1" baseline="-25000">
                <a:solidFill>
                  <a:srgbClr val="000000"/>
                </a:solidFill>
                <a:latin typeface="Times New Roman" pitchFamily="18" charset="0"/>
                <a:cs typeface="Times New Roman" pitchFamily="18" charset="0"/>
              </a:rPr>
              <a:t>2</a:t>
            </a:r>
            <a:r>
              <a:rPr lang="en-US" altLang="zh-CN" sz="2000" b="1">
                <a:solidFill>
                  <a:srgbClr val="000000"/>
                </a:solidFill>
                <a:latin typeface="Times New Roman" pitchFamily="18" charset="0"/>
                <a:cs typeface="Times New Roman" pitchFamily="18" charset="0"/>
              </a:rPr>
              <a:t>)</a:t>
            </a:r>
            <a:r>
              <a:rPr lang="en-US" altLang="zh-CN" sz="2000" b="1" i="1" baseline="-25000">
                <a:solidFill>
                  <a:srgbClr val="000000"/>
                </a:solidFill>
                <a:latin typeface="Times New Roman" pitchFamily="18" charset="0"/>
                <a:cs typeface="Times New Roman" pitchFamily="18" charset="0"/>
              </a:rPr>
              <a:t> </a:t>
            </a:r>
            <a:endParaRPr lang="zh-CN" altLang="en-US"/>
          </a:p>
        </p:txBody>
      </p:sp>
      <p:sp>
        <p:nvSpPr>
          <p:cNvPr id="62" name="TextBox 61"/>
          <p:cNvSpPr txBox="1"/>
          <p:nvPr/>
        </p:nvSpPr>
        <p:spPr>
          <a:xfrm>
            <a:off x="1186550" y="5786454"/>
            <a:ext cx="7171663" cy="400110"/>
          </a:xfrm>
          <a:prstGeom prst="rect">
            <a:avLst/>
          </a:prstGeom>
          <a:noFill/>
          <a:ln w="28575">
            <a:noFill/>
          </a:ln>
        </p:spPr>
        <p:txBody>
          <a:bodyPr wrap="square" rtlCol="0">
            <a:spAutoFit/>
          </a:bodyPr>
          <a:lstStyle/>
          <a:p>
            <a:r>
              <a:rPr lang="zh-CN" altLang="en-US" sz="2000" b="1">
                <a:solidFill>
                  <a:srgbClr val="C00000"/>
                </a:solidFill>
              </a:rPr>
              <a:t>推论二：微元段变形仅限于：轴向变形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zh-CN" altLang="en-US" sz="2000" b="1">
                <a:solidFill>
                  <a:srgbClr val="C00000"/>
                </a:solidFill>
              </a:rPr>
              <a:t>，截面转角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θ</a:t>
            </a:r>
            <a:r>
              <a:rPr lang="zh-CN" altLang="en-US" sz="2000" b="1">
                <a:latin typeface="Times New Roman" pitchFamily="18" charset="0"/>
                <a:cs typeface="Times New Roman" pitchFamily="18" charset="0"/>
              </a:rPr>
              <a:t>；</a:t>
            </a:r>
            <a:endParaRPr lang="zh-CN" altLang="en-US" sz="2000"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down)">
                                      <p:cBhvr>
                                        <p:cTn id="7" dur="500"/>
                                        <p:tgtEl>
                                          <p:spTgt spid="1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animEffect transition="in" filter="wipe(down)">
                                      <p:cBhvr>
                                        <p:cTn id="10" dur="500"/>
                                        <p:tgtEl>
                                          <p:spTgt spid="19">
                                            <p:txEl>
                                              <p:pRg st="1" end="1"/>
                                            </p:txEl>
                                          </p:spTgt>
                                        </p:tgtEl>
                                      </p:cBhvr>
                                    </p:animEffect>
                                  </p:childTnLst>
                                </p:cTn>
                              </p:par>
                            </p:childTnLst>
                          </p:cTn>
                        </p:par>
                        <p:par>
                          <p:cTn id="11" fill="hold">
                            <p:stCondLst>
                              <p:cond delay="500"/>
                            </p:stCondLst>
                            <p:childTnLst>
                              <p:par>
                                <p:cTn id="12" presetID="2" presetClass="entr" presetSubtype="4" fill="hold" grpId="0" nodeType="after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500" fill="hold"/>
                                        <p:tgtEl>
                                          <p:spTgt spid="20"/>
                                        </p:tgtEl>
                                        <p:attrNameLst>
                                          <p:attrName>ppt_x</p:attrName>
                                        </p:attrNameLst>
                                      </p:cBhvr>
                                      <p:tavLst>
                                        <p:tav tm="0">
                                          <p:val>
                                            <p:strVal val="#ppt_x"/>
                                          </p:val>
                                        </p:tav>
                                        <p:tav tm="100000">
                                          <p:val>
                                            <p:strVal val="#ppt_x"/>
                                          </p:val>
                                        </p:tav>
                                      </p:tavLst>
                                    </p:anim>
                                    <p:anim calcmode="lin" valueType="num">
                                      <p:cBhvr additive="base">
                                        <p:cTn id="1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down)">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blinds(horizontal)">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blinds(vertical)">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box(in)">
                                      <p:cBhvr>
                                        <p:cTn id="45" dur="500"/>
                                        <p:tgtEl>
                                          <p:spTgt spid="43"/>
                                        </p:tgtEl>
                                      </p:cBhvr>
                                    </p:animEffect>
                                  </p:childTnLst>
                                </p:cTn>
                              </p:par>
                            </p:childTnLst>
                          </p:cTn>
                        </p:par>
                        <p:par>
                          <p:cTn id="46" fill="hold">
                            <p:stCondLst>
                              <p:cond delay="500"/>
                            </p:stCondLst>
                            <p:childTnLst>
                              <p:par>
                                <p:cTn id="47" presetID="2" presetClass="entr" presetSubtype="4" fill="hold" grpId="0" nodeType="after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ppt_x"/>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500" fill="hold"/>
                                        <p:tgtEl>
                                          <p:spTgt spid="48"/>
                                        </p:tgtEl>
                                        <p:attrNameLst>
                                          <p:attrName>ppt_x</p:attrName>
                                        </p:attrNameLst>
                                      </p:cBhvr>
                                      <p:tavLst>
                                        <p:tav tm="0">
                                          <p:val>
                                            <p:strVal val="#ppt_x"/>
                                          </p:val>
                                        </p:tav>
                                        <p:tav tm="100000">
                                          <p:val>
                                            <p:strVal val="#ppt_x"/>
                                          </p:val>
                                        </p:tav>
                                      </p:tavLst>
                                    </p:anim>
                                    <p:anim calcmode="lin" valueType="num">
                                      <p:cBhvr additive="base">
                                        <p:cTn id="5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down)">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blinds(horizontal)">
                                      <p:cBhvr>
                                        <p:cTn id="66" dur="500"/>
                                        <p:tgtEl>
                                          <p:spTgt spid="60"/>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61"/>
                                        </p:tgtEl>
                                        <p:attrNameLst>
                                          <p:attrName>style.visibility</p:attrName>
                                        </p:attrNameLst>
                                      </p:cBhvr>
                                      <p:to>
                                        <p:strVal val="visible"/>
                                      </p:to>
                                    </p:set>
                                    <p:anim calcmode="lin" valueType="num">
                                      <p:cBhvr additive="base">
                                        <p:cTn id="71" dur="500" fill="hold"/>
                                        <p:tgtEl>
                                          <p:spTgt spid="61"/>
                                        </p:tgtEl>
                                        <p:attrNameLst>
                                          <p:attrName>ppt_x</p:attrName>
                                        </p:attrNameLst>
                                      </p:cBhvr>
                                      <p:tavLst>
                                        <p:tav tm="0">
                                          <p:val>
                                            <p:strVal val="#ppt_x"/>
                                          </p:val>
                                        </p:tav>
                                        <p:tav tm="100000">
                                          <p:val>
                                            <p:strVal val="#ppt_x"/>
                                          </p:val>
                                        </p:tav>
                                      </p:tavLst>
                                    </p:anim>
                                    <p:anim calcmode="lin" valueType="num">
                                      <p:cBhvr additive="base">
                                        <p:cTn id="7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62"/>
                                        </p:tgtEl>
                                        <p:attrNameLst>
                                          <p:attrName>style.visibility</p:attrName>
                                        </p:attrNameLst>
                                      </p:cBhvr>
                                      <p:to>
                                        <p:strVal val="visible"/>
                                      </p:to>
                                    </p:set>
                                    <p:anim calcmode="lin" valueType="num">
                                      <p:cBhvr additive="base">
                                        <p:cTn id="77" dur="500" fill="hold"/>
                                        <p:tgtEl>
                                          <p:spTgt spid="62"/>
                                        </p:tgtEl>
                                        <p:attrNameLst>
                                          <p:attrName>ppt_x</p:attrName>
                                        </p:attrNameLst>
                                      </p:cBhvr>
                                      <p:tavLst>
                                        <p:tav tm="0">
                                          <p:val>
                                            <p:strVal val="#ppt_x"/>
                                          </p:val>
                                        </p:tav>
                                        <p:tav tm="100000">
                                          <p:val>
                                            <p:strVal val="#ppt_x"/>
                                          </p:val>
                                        </p:tav>
                                      </p:tavLst>
                                    </p:anim>
                                    <p:anim calcmode="lin" valueType="num">
                                      <p:cBhvr additive="base">
                                        <p:cTn id="7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uiExpand="1" build="allAtOnce"/>
      <p:bldP spid="20" grpId="0"/>
      <p:bldP spid="21" grpId="0"/>
      <p:bldP spid="31" grpId="0"/>
      <p:bldP spid="32" grpId="0"/>
      <p:bldP spid="38" grpId="0"/>
      <p:bldP spid="39" grpId="0"/>
      <p:bldP spid="47" grpId="0"/>
      <p:bldP spid="48" grpId="0"/>
      <p:bldP spid="50" grpId="0"/>
      <p:bldP spid="61" grpId="0"/>
      <p:bldP spid="6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 name="Rectangle 6"/>
          <p:cNvSpPr>
            <a:spLocks noChangeArrowheads="1"/>
          </p:cNvSpPr>
          <p:nvPr/>
        </p:nvSpPr>
        <p:spPr bwMode="auto">
          <a:xfrm>
            <a:off x="469540" y="1813222"/>
            <a:ext cx="4888278"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微元段变形分析</a:t>
            </a:r>
            <a:endParaRPr lang="zh-CN" altLang="en-US" sz="2000" b="1" i="1"/>
          </a:p>
        </p:txBody>
      </p:sp>
      <p:grpSp>
        <p:nvGrpSpPr>
          <p:cNvPr id="72" name="组合 71"/>
          <p:cNvGrpSpPr/>
          <p:nvPr/>
        </p:nvGrpSpPr>
        <p:grpSpPr>
          <a:xfrm>
            <a:off x="5572132" y="1790129"/>
            <a:ext cx="1685003" cy="1713207"/>
            <a:chOff x="5500694" y="1571612"/>
            <a:chExt cx="1685003" cy="1713207"/>
          </a:xfrm>
        </p:grpSpPr>
        <p:grpSp>
          <p:nvGrpSpPr>
            <p:cNvPr id="67" name="组合 66"/>
            <p:cNvGrpSpPr/>
            <p:nvPr/>
          </p:nvGrpSpPr>
          <p:grpSpPr>
            <a:xfrm>
              <a:off x="5500694" y="1571612"/>
              <a:ext cx="1680353" cy="1232096"/>
              <a:chOff x="5398159" y="1839714"/>
              <a:chExt cx="1680353" cy="1232096"/>
            </a:xfrm>
          </p:grpSpPr>
          <p:grpSp>
            <p:nvGrpSpPr>
              <p:cNvPr id="37" name="组合 36"/>
              <p:cNvGrpSpPr/>
              <p:nvPr/>
            </p:nvGrpSpPr>
            <p:grpSpPr>
              <a:xfrm>
                <a:off x="6286512" y="2214554"/>
                <a:ext cx="792000" cy="857256"/>
                <a:chOff x="6286512" y="2214554"/>
                <a:chExt cx="792000" cy="857256"/>
              </a:xfrm>
            </p:grpSpPr>
            <p:sp>
              <p:nvSpPr>
                <p:cNvPr id="18" name="矩形 17"/>
                <p:cNvSpPr/>
                <p:nvPr/>
              </p:nvSpPr>
              <p:spPr bwMode="auto">
                <a:xfrm>
                  <a:off x="6286512" y="2214554"/>
                  <a:ext cx="785818" cy="85725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34" name="直接连接符 33"/>
                <p:cNvCxnSpPr/>
                <p:nvPr/>
              </p:nvCxnSpPr>
              <p:spPr bwMode="auto">
                <a:xfrm>
                  <a:off x="6286512" y="2540647"/>
                  <a:ext cx="792000" cy="1588"/>
                </a:xfrm>
                <a:prstGeom prst="line">
                  <a:avLst/>
                </a:prstGeom>
                <a:solidFill>
                  <a:schemeClr val="accent1"/>
                </a:solidFill>
                <a:ln w="19050" cap="flat" cmpd="sng" algn="ctr">
                  <a:solidFill>
                    <a:schemeClr val="tx1"/>
                  </a:solidFill>
                  <a:prstDash val="lgDash"/>
                  <a:round/>
                  <a:headEnd type="none" w="med" len="med"/>
                  <a:tailEnd type="none" w="med" len="med"/>
                </a:ln>
                <a:effectLst/>
              </p:spPr>
            </p:cxnSp>
          </p:grpSp>
          <p:sp>
            <p:nvSpPr>
              <p:cNvPr id="40" name="TextBox 39"/>
              <p:cNvSpPr txBox="1"/>
              <p:nvPr/>
            </p:nvSpPr>
            <p:spPr>
              <a:xfrm>
                <a:off x="6527720" y="2696970"/>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sp>
            <p:nvSpPr>
              <p:cNvPr id="41" name="TextBox 40"/>
              <p:cNvSpPr txBox="1"/>
              <p:nvPr/>
            </p:nvSpPr>
            <p:spPr>
              <a:xfrm>
                <a:off x="6525890" y="1839714"/>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42" name="TextBox 41"/>
              <p:cNvSpPr txBox="1"/>
              <p:nvPr/>
            </p:nvSpPr>
            <p:spPr>
              <a:xfrm>
                <a:off x="6517858" y="2202412"/>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0</a:t>
                </a:r>
                <a:endParaRPr lang="zh-CN" altLang="en-US" b="1" baseline="-25000">
                  <a:latin typeface="Times New Roman" pitchFamily="18" charset="0"/>
                  <a:cs typeface="Times New Roman" pitchFamily="18" charset="0"/>
                </a:endParaRPr>
              </a:p>
            </p:txBody>
          </p:sp>
          <p:cxnSp>
            <p:nvCxnSpPr>
              <p:cNvPr id="45" name="直接连接符 44"/>
              <p:cNvCxnSpPr/>
              <p:nvPr/>
            </p:nvCxnSpPr>
            <p:spPr bwMode="auto">
              <a:xfrm>
                <a:off x="600076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45"/>
              <p:cNvCxnSpPr/>
              <p:nvPr/>
            </p:nvCxnSpPr>
            <p:spPr bwMode="auto">
              <a:xfrm>
                <a:off x="6010004" y="2556709"/>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p:nvPr/>
            </p:nvCxnSpPr>
            <p:spPr bwMode="auto">
              <a:xfrm>
                <a:off x="6000760" y="3056775"/>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rot="5400000">
                <a:off x="5658198" y="2628554"/>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3" name="TextBox 52"/>
              <p:cNvSpPr txBox="1"/>
              <p:nvPr/>
            </p:nvSpPr>
            <p:spPr>
              <a:xfrm>
                <a:off x="5768796" y="2187660"/>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54" name="TextBox 53"/>
              <p:cNvSpPr txBox="1"/>
              <p:nvPr/>
            </p:nvSpPr>
            <p:spPr>
              <a:xfrm>
                <a:off x="5766252" y="2604146"/>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cxnSp>
            <p:nvCxnSpPr>
              <p:cNvPr id="63" name="直接连接符 62"/>
              <p:cNvCxnSpPr/>
              <p:nvPr/>
            </p:nvCxnSpPr>
            <p:spPr bwMode="auto">
              <a:xfrm>
                <a:off x="5643570" y="3058363"/>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rot="5400000">
                <a:off x="5300214" y="2627760"/>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a:off x="564357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6" name="TextBox 65"/>
              <p:cNvSpPr txBox="1"/>
              <p:nvPr/>
            </p:nvSpPr>
            <p:spPr>
              <a:xfrm>
                <a:off x="5398159" y="2401974"/>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endParaRPr lang="zh-CN" altLang="en-US" b="1" baseline="-25000">
                  <a:latin typeface="Times New Roman" pitchFamily="18" charset="0"/>
                  <a:cs typeface="Times New Roman" pitchFamily="18" charset="0"/>
                </a:endParaRPr>
              </a:p>
            </p:txBody>
          </p:sp>
        </p:grpSp>
        <p:cxnSp>
          <p:nvCxnSpPr>
            <p:cNvPr id="68" name="直接连接符 67"/>
            <p:cNvCxnSpPr/>
            <p:nvPr/>
          </p:nvCxnSpPr>
          <p:spPr bwMode="auto">
            <a:xfrm rot="10800000">
              <a:off x="6397941" y="2942381"/>
              <a:ext cx="77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5400000">
              <a:off x="6316815" y="2942661"/>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rot="5400000">
              <a:off x="7113465" y="295503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1" name="TextBox 70"/>
            <p:cNvSpPr txBox="1"/>
            <p:nvPr/>
          </p:nvSpPr>
          <p:spPr>
            <a:xfrm>
              <a:off x="6585711" y="2915487"/>
              <a:ext cx="402674"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s</a:t>
              </a:r>
              <a:endParaRPr lang="zh-CN" altLang="en-US" b="1" baseline="-25000">
                <a:latin typeface="Times New Roman" pitchFamily="18" charset="0"/>
                <a:cs typeface="Times New Roman" pitchFamily="18" charset="0"/>
              </a:endParaRPr>
            </a:p>
          </p:txBody>
        </p:sp>
      </p:grpSp>
      <p:sp>
        <p:nvSpPr>
          <p:cNvPr id="74" name="Rectangle 6"/>
          <p:cNvSpPr>
            <a:spLocks noChangeArrowheads="1"/>
          </p:cNvSpPr>
          <p:nvPr/>
        </p:nvSpPr>
        <p:spPr bwMode="auto">
          <a:xfrm>
            <a:off x="1201929" y="2214554"/>
            <a:ext cx="4013013" cy="1485022"/>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000" b="1">
                <a:solidFill>
                  <a:srgbClr val="000000"/>
                </a:solidFill>
                <a:latin typeface="+mn-ea"/>
              </a:rPr>
              <a:t>⑴ 微元段</a:t>
            </a:r>
            <a:r>
              <a:rPr kumimoji="1" lang="zh-CN" altLang="en-US" sz="2000" b="1" kern="1200">
                <a:solidFill>
                  <a:srgbClr val="C00000"/>
                </a:solidFill>
                <a:latin typeface="+mn-ea"/>
                <a:cs typeface="+mn-cs"/>
              </a:rPr>
              <a:t> </a:t>
            </a:r>
            <a:r>
              <a:rPr kumimoji="1" lang="en-US" altLang="zh-CN" sz="2000" b="1" kern="1200">
                <a:solidFill>
                  <a:srgbClr val="C00000"/>
                </a:solidFill>
                <a:latin typeface="Times New Roman" pitchFamily="18" charset="0"/>
                <a:cs typeface="Times New Roman" pitchFamily="18" charset="0"/>
              </a:rPr>
              <a:t>d</a:t>
            </a:r>
            <a:r>
              <a:rPr kumimoji="1" lang="en-US" altLang="zh-CN" sz="2000" b="1" i="1" kern="1200">
                <a:solidFill>
                  <a:srgbClr val="C00000"/>
                </a:solidFill>
                <a:latin typeface="Times New Roman" pitchFamily="18" charset="0"/>
                <a:cs typeface="Times New Roman" pitchFamily="18" charset="0"/>
              </a:rPr>
              <a:t>s</a:t>
            </a:r>
            <a:r>
              <a:rPr kumimoji="1" lang="en-US" altLang="zh-CN" sz="2000" b="1" kern="1200">
                <a:solidFill>
                  <a:srgbClr val="C00000"/>
                </a:solidFill>
                <a:latin typeface="Times New Roman" pitchFamily="18" charset="0"/>
                <a:cs typeface="Times New Roman" pitchFamily="18" charset="0"/>
              </a:rPr>
              <a:t> </a:t>
            </a:r>
            <a:r>
              <a:rPr kumimoji="1" lang="zh-CN" altLang="en-US" sz="2000" b="1" kern="1200">
                <a:solidFill>
                  <a:srgbClr val="000000"/>
                </a:solidFill>
                <a:latin typeface="+mn-ea"/>
                <a:cs typeface="+mn-cs"/>
              </a:rPr>
              <a:t>的温度变</a:t>
            </a:r>
            <a:r>
              <a:rPr kumimoji="1" lang="zh-CN" altLang="en-US" sz="2000" b="1">
                <a:solidFill>
                  <a:srgbClr val="000000"/>
                </a:solidFill>
                <a:latin typeface="+mn-ea"/>
              </a:rPr>
              <a:t>如图所示，</a:t>
            </a:r>
            <a:endParaRPr kumimoji="1" lang="en-US" altLang="zh-CN" sz="2000" b="1">
              <a:solidFill>
                <a:srgbClr val="000000"/>
              </a:solidFill>
              <a:latin typeface="+mn-ea"/>
            </a:endParaRPr>
          </a:p>
          <a:p>
            <a:pPr fontAlgn="base">
              <a:spcBef>
                <a:spcPts val="300"/>
              </a:spcBef>
              <a:spcAft>
                <a:spcPct val="0"/>
              </a:spcAft>
            </a:pPr>
            <a:r>
              <a:rPr kumimoji="1" lang="zh-CN" altLang="en-US" sz="2000" b="1">
                <a:solidFill>
                  <a:srgbClr val="000000"/>
                </a:solidFill>
                <a:latin typeface="+mn-ea"/>
              </a:rPr>
              <a:t>     则温度引起的轴向变形为：</a:t>
            </a:r>
            <a:endParaRPr kumimoji="1" lang="en-US" altLang="zh-CN" sz="2000" b="1">
              <a:solidFill>
                <a:srgbClr val="000000"/>
              </a:solidFill>
              <a:latin typeface="+mn-ea"/>
            </a:endParaRPr>
          </a:p>
          <a:p>
            <a:pPr fontAlgn="base">
              <a:lnSpc>
                <a:spcPct val="120000"/>
              </a:lnSpc>
              <a:spcAft>
                <a:spcPct val="0"/>
              </a:spcAft>
            </a:pPr>
            <a:r>
              <a:rPr lang="en-US" altLang="zh-CN" sz="2000" b="1" i="1">
                <a:latin typeface="+mn-ea"/>
                <a:cs typeface="Times New Roman" pitchFamily="18" charset="0"/>
              </a:rPr>
              <a:t>                 </a:t>
            </a:r>
            <a:r>
              <a:rPr lang="el-GR" altLang="zh-CN" sz="2000" b="1" i="1">
                <a:latin typeface="Times New Roman" pitchFamily="18" charset="0"/>
                <a:cs typeface="Times New Roman" pitchFamily="18" charset="0"/>
              </a:rPr>
              <a:t>ε</a:t>
            </a:r>
            <a:r>
              <a:rPr lang="en-US" altLang="zh-CN" sz="2000" b="1">
                <a:latin typeface="Times New Roman" pitchFamily="18" charset="0"/>
                <a:cs typeface="Times New Roman" pitchFamily="18" charset="0"/>
              </a:rPr>
              <a:t> = </a:t>
            </a:r>
            <a:r>
              <a:rPr lang="el-GR" altLang="zh-CN" sz="2000" b="1" i="1">
                <a:latin typeface="Times New Roman" pitchFamily="18" charset="0"/>
                <a:cs typeface="Times New Roman" pitchFamily="18" charset="0"/>
              </a:rPr>
              <a:t>α</a:t>
            </a:r>
            <a:r>
              <a:rPr lang="en-US" altLang="zh-CN" sz="2000" b="1" i="1">
                <a:latin typeface="Times New Roman" pitchFamily="18" charset="0"/>
                <a:cs typeface="Times New Roman" pitchFamily="18" charset="0"/>
              </a:rPr>
              <a:t>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α</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const</a:t>
            </a:r>
            <a:endParaRPr lang="en-US" altLang="zh-CN" sz="2000" b="1" i="1">
              <a:latin typeface="Times New Roman" pitchFamily="18" charset="0"/>
              <a:cs typeface="Times New Roman" pitchFamily="18" charset="0"/>
            </a:endParaRPr>
          </a:p>
          <a:p>
            <a:pPr fontAlgn="base">
              <a:lnSpc>
                <a:spcPct val="120000"/>
              </a:lnSpc>
              <a:spcAft>
                <a:spcPct val="0"/>
              </a:spcAft>
            </a:pPr>
            <a:r>
              <a:rPr lang="en-US" altLang="zh-CN" sz="2000" b="1" i="1">
                <a:latin typeface="+mn-ea"/>
                <a:cs typeface="Times New Roman" pitchFamily="18" charset="0"/>
              </a:rPr>
              <a:t>      </a:t>
            </a:r>
            <a:r>
              <a:rPr lang="el-GR" altLang="zh-CN" sz="2000" b="1" i="1">
                <a:latin typeface="Times New Roman" pitchFamily="18" charset="0"/>
                <a:cs typeface="Times New Roman" pitchFamily="18" charset="0"/>
              </a:rPr>
              <a:t>α</a:t>
            </a:r>
            <a:r>
              <a:rPr lang="en-US" altLang="zh-CN" sz="2000" b="1" i="1" baseline="-25000">
                <a:latin typeface="Times New Roman" pitchFamily="18" charset="0"/>
                <a:cs typeface="Times New Roman" pitchFamily="18" charset="0"/>
              </a:rPr>
              <a:t> </a:t>
            </a:r>
            <a:r>
              <a:rPr lang="en-US" altLang="zh-CN" sz="2000" b="1">
                <a:latin typeface="+mn-ea"/>
                <a:cs typeface="Times New Roman" pitchFamily="18" charset="0"/>
              </a:rPr>
              <a:t>- </a:t>
            </a:r>
            <a:r>
              <a:rPr lang="zh-CN" altLang="en-US" sz="2000" b="1">
                <a:latin typeface="+mn-ea"/>
                <a:cs typeface="Times New Roman" pitchFamily="18" charset="0"/>
              </a:rPr>
              <a:t>材料的线膨胀系数；</a:t>
            </a:r>
          </a:p>
        </p:txBody>
      </p:sp>
      <p:sp>
        <p:nvSpPr>
          <p:cNvPr id="77" name="Rectangle 6"/>
          <p:cNvSpPr>
            <a:spLocks noChangeArrowheads="1"/>
          </p:cNvSpPr>
          <p:nvPr/>
        </p:nvSpPr>
        <p:spPr bwMode="auto">
          <a:xfrm>
            <a:off x="1201929" y="3638796"/>
            <a:ext cx="7513475" cy="1938992"/>
          </a:xfrm>
          <a:prstGeom prst="rect">
            <a:avLst/>
          </a:prstGeom>
          <a:noFill/>
          <a:ln w="9525">
            <a:noFill/>
            <a:miter lim="800000"/>
            <a:headEnd/>
            <a:tailEnd/>
          </a:ln>
        </p:spPr>
        <p:txBody>
          <a:bodyPr wrap="square">
            <a:spAutoFit/>
          </a:bodyPr>
          <a:lstStyle/>
          <a:p>
            <a:pPr fontAlgn="base">
              <a:lnSpc>
                <a:spcPct val="120000"/>
              </a:lnSpc>
              <a:spcAft>
                <a:spcPct val="0"/>
              </a:spcAft>
            </a:pPr>
            <a:r>
              <a:rPr kumimoji="1" lang="zh-CN" altLang="en-US" sz="2000" b="1">
                <a:solidFill>
                  <a:srgbClr val="000000"/>
                </a:solidFill>
                <a:latin typeface="+mn-ea"/>
              </a:rPr>
              <a:t>⑵ 上侧、下侧和中心轴处纤维的伸长分别为</a:t>
            </a:r>
            <a:endParaRPr kumimoji="1" lang="en-US" altLang="zh-CN" sz="2000" b="1">
              <a:solidFill>
                <a:srgbClr val="000000"/>
              </a:solidFill>
              <a:latin typeface="+mn-ea"/>
            </a:endParaRPr>
          </a:p>
          <a:p>
            <a:pPr fontAlgn="base">
              <a:lnSpc>
                <a:spcPct val="120000"/>
              </a:lnSpc>
              <a:spcAft>
                <a:spcPct val="0"/>
              </a:spcAft>
            </a:pPr>
            <a:r>
              <a:rPr kumimoji="1" lang="zh-CN" altLang="en-US" sz="2000" b="1">
                <a:solidFill>
                  <a:srgbClr val="000000"/>
                </a:solidFill>
                <a:latin typeface="+mn-ea"/>
              </a:rPr>
              <a:t>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 = </a:t>
            </a:r>
            <a:r>
              <a:rPr lang="el-GR" altLang="zh-CN" sz="2000" b="1" i="1">
                <a:latin typeface="Times New Roman" pitchFamily="18" charset="0"/>
                <a:cs typeface="Times New Roman" pitchFamily="18" charset="0"/>
              </a:rPr>
              <a:t>α</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fontAlgn="base">
              <a:lnSpc>
                <a:spcPct val="120000"/>
              </a:lnSpc>
              <a:spcAft>
                <a:spcPct val="0"/>
              </a:spcAft>
            </a:pPr>
            <a:r>
              <a:rPr kumimoji="1" lang="zh-CN" altLang="en-US" sz="2000" b="1">
                <a:solidFill>
                  <a:srgbClr val="000000"/>
                </a:solidFill>
                <a:latin typeface="+mn-ea"/>
              </a:rPr>
              <a:t>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 = </a:t>
            </a:r>
            <a:r>
              <a:rPr lang="el-GR" altLang="zh-CN" sz="2000" b="1" i="1">
                <a:latin typeface="Times New Roman" pitchFamily="18" charset="0"/>
                <a:cs typeface="Times New Roman" pitchFamily="18" charset="0"/>
              </a:rPr>
              <a:t>α</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fontAlgn="base">
              <a:lnSpc>
                <a:spcPct val="120000"/>
              </a:lnSpc>
              <a:spcAft>
                <a:spcPct val="0"/>
              </a:spcAft>
            </a:pPr>
            <a:r>
              <a:rPr kumimoji="1" lang="zh-CN" altLang="en-US" sz="2000" b="1">
                <a:solidFill>
                  <a:srgbClr val="000000"/>
                </a:solidFill>
                <a:latin typeface="+mn-ea"/>
              </a:rPr>
              <a:t>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 = </a:t>
            </a:r>
            <a:r>
              <a:rPr lang="el-GR" altLang="zh-CN" sz="2000" b="1" i="1">
                <a:latin typeface="Times New Roman" pitchFamily="18" charset="0"/>
                <a:cs typeface="Times New Roman" pitchFamily="18" charset="0"/>
              </a:rPr>
              <a:t>α</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endParaRPr lang="en-US" altLang="zh-CN" sz="2000" b="1">
              <a:latin typeface="Times New Roman" pitchFamily="18" charset="0"/>
              <a:cs typeface="Times New Roman" pitchFamily="18" charset="0"/>
            </a:endParaRPr>
          </a:p>
          <a:p>
            <a:pPr fontAlgn="base">
              <a:lnSpc>
                <a:spcPct val="120000"/>
              </a:lnSpc>
              <a:spcAft>
                <a:spcPct val="0"/>
              </a:spcAft>
            </a:pPr>
            <a:endParaRPr kumimoji="1" lang="zh-CN" altLang="en-US" sz="2000" b="1">
              <a:solidFill>
                <a:srgbClr val="000000"/>
              </a:solidFill>
              <a:latin typeface="+mn-ea"/>
            </a:endParaRPr>
          </a:p>
        </p:txBody>
      </p:sp>
      <p:grpSp>
        <p:nvGrpSpPr>
          <p:cNvPr id="88" name="组合 87"/>
          <p:cNvGrpSpPr/>
          <p:nvPr/>
        </p:nvGrpSpPr>
        <p:grpSpPr>
          <a:xfrm>
            <a:off x="7230713" y="1643050"/>
            <a:ext cx="671979" cy="517716"/>
            <a:chOff x="7159275" y="1567409"/>
            <a:chExt cx="671979" cy="517716"/>
          </a:xfrm>
        </p:grpSpPr>
        <p:cxnSp>
          <p:nvCxnSpPr>
            <p:cNvPr id="79" name="直接连接符 78"/>
            <p:cNvCxnSpPr/>
            <p:nvPr/>
          </p:nvCxnSpPr>
          <p:spPr bwMode="auto">
            <a:xfrm flipV="1">
              <a:off x="7174865" y="2085125"/>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80" name="矩形 79"/>
            <p:cNvSpPr/>
            <p:nvPr/>
          </p:nvSpPr>
          <p:spPr>
            <a:xfrm>
              <a:off x="7159275" y="1567409"/>
              <a:ext cx="671979" cy="369332"/>
            </a:xfrm>
            <a:prstGeom prst="rect">
              <a:avLst/>
            </a:prstGeom>
          </p:spPr>
          <p:txBody>
            <a:bodyPr wrap="none">
              <a:spAutoFit/>
            </a:bodyPr>
            <a:lstStyle/>
            <a:p>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1</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83" name="直接连接符 82"/>
            <p:cNvCxnSpPr/>
            <p:nvPr/>
          </p:nvCxnSpPr>
          <p:spPr bwMode="auto">
            <a:xfrm rot="5400000" flipH="1" flipV="1">
              <a:off x="7665312" y="1933424"/>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4" name="直接连接符 83"/>
            <p:cNvCxnSpPr/>
            <p:nvPr/>
          </p:nvCxnSpPr>
          <p:spPr bwMode="auto">
            <a:xfrm rot="5400000" flipH="1" flipV="1">
              <a:off x="7064299" y="1936833"/>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6" name="直接箭头连接符 85"/>
            <p:cNvCxnSpPr/>
            <p:nvPr/>
          </p:nvCxnSpPr>
          <p:spPr bwMode="auto">
            <a:xfrm>
              <a:off x="7184109" y="1928802"/>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95" name="组合 94"/>
          <p:cNvGrpSpPr/>
          <p:nvPr/>
        </p:nvGrpSpPr>
        <p:grpSpPr>
          <a:xfrm>
            <a:off x="7242097" y="3022225"/>
            <a:ext cx="990040" cy="468969"/>
            <a:chOff x="7170661" y="2946584"/>
            <a:chExt cx="636835" cy="468969"/>
          </a:xfrm>
        </p:grpSpPr>
        <p:cxnSp>
          <p:nvCxnSpPr>
            <p:cNvPr id="90" name="直接连接符 89"/>
            <p:cNvCxnSpPr/>
            <p:nvPr/>
          </p:nvCxnSpPr>
          <p:spPr bwMode="auto">
            <a:xfrm flipV="1">
              <a:off x="7186252" y="2946584"/>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91" name="矩形 90"/>
            <p:cNvSpPr/>
            <p:nvPr/>
          </p:nvSpPr>
          <p:spPr>
            <a:xfrm>
              <a:off x="7170661" y="3046221"/>
              <a:ext cx="543605"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2</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92" name="直接连接符 91"/>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3" name="直接连接符 92"/>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4" name="直接箭头连接符 93"/>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cxnSp>
        <p:nvCxnSpPr>
          <p:cNvPr id="98" name="直接连接符 97"/>
          <p:cNvCxnSpPr/>
          <p:nvPr/>
        </p:nvCxnSpPr>
        <p:spPr bwMode="auto">
          <a:xfrm rot="16200000" flipH="1">
            <a:off x="7594668" y="2397352"/>
            <a:ext cx="857256"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nvGrpSpPr>
          <p:cNvPr id="100" name="组合 99"/>
          <p:cNvGrpSpPr/>
          <p:nvPr/>
        </p:nvGrpSpPr>
        <p:grpSpPr>
          <a:xfrm>
            <a:off x="7228648" y="2406177"/>
            <a:ext cx="787394" cy="437078"/>
            <a:chOff x="7170660" y="2978475"/>
            <a:chExt cx="649222" cy="437078"/>
          </a:xfrm>
        </p:grpSpPr>
        <p:sp>
          <p:nvSpPr>
            <p:cNvPr id="102" name="矩形 101"/>
            <p:cNvSpPr/>
            <p:nvPr/>
          </p:nvSpPr>
          <p:spPr>
            <a:xfrm>
              <a:off x="7170660" y="3046221"/>
              <a:ext cx="649222"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0</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103" name="直接连接符 102"/>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4" name="直接连接符 103"/>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5" name="直接箭头连接符 104"/>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109" name="组合 108"/>
          <p:cNvGrpSpPr/>
          <p:nvPr/>
        </p:nvGrpSpPr>
        <p:grpSpPr>
          <a:xfrm>
            <a:off x="6286512" y="4143380"/>
            <a:ext cx="2143140" cy="928694"/>
            <a:chOff x="6643702" y="3714752"/>
            <a:chExt cx="2143140" cy="928694"/>
          </a:xfrm>
        </p:grpSpPr>
        <p:sp>
          <p:nvSpPr>
            <p:cNvPr id="96" name="TextBox 95"/>
            <p:cNvSpPr txBox="1"/>
            <p:nvPr/>
          </p:nvSpPr>
          <p:spPr>
            <a:xfrm>
              <a:off x="6643702" y="3714752"/>
              <a:ext cx="2143140" cy="928694"/>
            </a:xfrm>
            <a:prstGeom prst="rect">
              <a:avLst/>
            </a:prstGeom>
            <a:noFill/>
            <a:ln w="28575">
              <a:solidFill>
                <a:srgbClr val="0033CC"/>
              </a:solidFill>
            </a:ln>
          </p:spPr>
          <p:txBody>
            <a:bodyPr wrap="square" rtlCol="0">
              <a:noAutofit/>
            </a:bodyPr>
            <a:lstStyle/>
            <a:p>
              <a:pPr algn="ctr">
                <a:spcBef>
                  <a:spcPts val="600"/>
                </a:spcBef>
              </a:pPr>
              <a:r>
                <a:rPr lang="zh-CN" altLang="en-US" b="1">
                  <a:solidFill>
                    <a:srgbClr val="0033CC"/>
                  </a:solidFill>
                </a:rPr>
                <a:t>温度线性分布</a:t>
              </a:r>
              <a:endParaRPr lang="en-US" altLang="zh-CN" b="1">
                <a:solidFill>
                  <a:srgbClr val="0033CC"/>
                </a:solidFill>
              </a:endParaRPr>
            </a:p>
            <a:p>
              <a:pPr algn="ctr">
                <a:spcBef>
                  <a:spcPts val="900"/>
                </a:spcBef>
              </a:pPr>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0 </a:t>
              </a:r>
              <a:r>
                <a:rPr lang="en-US" altLang="zh-CN" b="1">
                  <a:latin typeface="+mn-ea"/>
                  <a:cs typeface="Times New Roman" pitchFamily="18" charset="0"/>
                </a:rPr>
                <a:t>-</a:t>
              </a:r>
              <a:r>
                <a:rPr lang="en-US" altLang="zh-CN" b="1" i="1">
                  <a:latin typeface="Times New Roman" pitchFamily="18" charset="0"/>
                  <a:cs typeface="Times New Roman" pitchFamily="18" charset="0"/>
                </a:rPr>
                <a:t> t</a:t>
              </a:r>
              <a:r>
                <a:rPr lang="en-US" altLang="zh-CN" b="1" baseline="-25000">
                  <a:latin typeface="Times New Roman" pitchFamily="18" charset="0"/>
                  <a:cs typeface="Times New Roman" pitchFamily="18" charset="0"/>
                </a:rPr>
                <a:t>1 </a:t>
              </a:r>
              <a:r>
                <a:rPr lang="en-US" altLang="zh-CN" b="1">
                  <a:latin typeface="Times New Roman" pitchFamily="18" charset="0"/>
                  <a:cs typeface="Times New Roman" pitchFamily="18" charset="0"/>
                </a:rPr>
                <a:t>= — (</a:t>
              </a:r>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2 </a:t>
              </a:r>
              <a:r>
                <a:rPr lang="en-US" altLang="zh-CN" b="1">
                  <a:latin typeface="+mn-ea"/>
                  <a:cs typeface="Times New Roman" pitchFamily="18" charset="0"/>
                </a:rPr>
                <a:t>-</a:t>
              </a:r>
              <a:r>
                <a:rPr lang="en-US" altLang="zh-CN" b="1" i="1">
                  <a:latin typeface="Times New Roman" pitchFamily="18" charset="0"/>
                  <a:cs typeface="Times New Roman" pitchFamily="18" charset="0"/>
                </a:rPr>
                <a:t> t</a:t>
              </a:r>
              <a:r>
                <a:rPr lang="en-US" altLang="zh-CN" b="1" baseline="-25000">
                  <a:latin typeface="Times New Roman" pitchFamily="18" charset="0"/>
                  <a:cs typeface="Times New Roman" pitchFamily="18" charset="0"/>
                </a:rPr>
                <a:t>1</a:t>
              </a:r>
              <a:r>
                <a:rPr lang="en-US" altLang="zh-CN" b="1">
                  <a:latin typeface="Times New Roman" pitchFamily="18" charset="0"/>
                  <a:cs typeface="Times New Roman" pitchFamily="18" charset="0"/>
                </a:rPr>
                <a:t>)</a:t>
              </a:r>
              <a:r>
                <a:rPr lang="en-US" altLang="zh-CN" b="1" baseline="-25000">
                  <a:latin typeface="Times New Roman" pitchFamily="18" charset="0"/>
                  <a:cs typeface="Times New Roman" pitchFamily="18" charset="0"/>
                </a:rPr>
                <a:t> </a:t>
              </a:r>
              <a:endParaRPr lang="zh-CN" altLang="en-US"/>
            </a:p>
          </p:txBody>
        </p:sp>
        <p:sp>
          <p:nvSpPr>
            <p:cNvPr id="107" name="矩形 106"/>
            <p:cNvSpPr/>
            <p:nvPr/>
          </p:nvSpPr>
          <p:spPr>
            <a:xfrm>
              <a:off x="7474064" y="4000504"/>
              <a:ext cx="447558" cy="369332"/>
            </a:xfrm>
            <a:prstGeom prst="rect">
              <a:avLst/>
            </a:prstGeom>
          </p:spPr>
          <p:txBody>
            <a:bodyPr wrap="square">
              <a:spAutoFit/>
            </a:bodyPr>
            <a:lstStyle/>
            <a:p>
              <a:r>
                <a:rPr lang="en-US" altLang="zh-CN" b="1">
                  <a:latin typeface="Times New Roman" pitchFamily="18" charset="0"/>
                  <a:cs typeface="Times New Roman" pitchFamily="18" charset="0"/>
                </a:rPr>
                <a:t> </a:t>
              </a:r>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1</a:t>
              </a:r>
              <a:endParaRPr lang="zh-CN" altLang="en-US" baseline="-25000"/>
            </a:p>
          </p:txBody>
        </p:sp>
        <p:sp>
          <p:nvSpPr>
            <p:cNvPr id="108" name="矩形 107"/>
            <p:cNvSpPr/>
            <p:nvPr/>
          </p:nvSpPr>
          <p:spPr>
            <a:xfrm>
              <a:off x="7500958" y="4241712"/>
              <a:ext cx="370614" cy="369332"/>
            </a:xfrm>
            <a:prstGeom prst="rect">
              <a:avLst/>
            </a:prstGeom>
          </p:spPr>
          <p:txBody>
            <a:bodyPr wrap="none">
              <a:spAutoFit/>
            </a:bodyPr>
            <a:lstStyle/>
            <a:p>
              <a:r>
                <a:rPr lang="en-US" altLang="zh-CN" b="1">
                  <a:latin typeface="Times New Roman" pitchFamily="18" charset="0"/>
                  <a:cs typeface="Times New Roman" pitchFamily="18" charset="0"/>
                </a:rPr>
                <a:t> </a:t>
              </a:r>
              <a:r>
                <a:rPr lang="en-US" altLang="zh-CN" b="1" i="1">
                  <a:latin typeface="Times New Roman" pitchFamily="18" charset="0"/>
                  <a:cs typeface="Times New Roman" pitchFamily="18" charset="0"/>
                </a:rPr>
                <a:t>h</a:t>
              </a:r>
              <a:endParaRPr lang="zh-CN" altLang="en-US" baseline="-25000"/>
            </a:p>
          </p:txBody>
        </p:sp>
      </p:grpSp>
      <p:grpSp>
        <p:nvGrpSpPr>
          <p:cNvPr id="112" name="组合 111"/>
          <p:cNvGrpSpPr/>
          <p:nvPr/>
        </p:nvGrpSpPr>
        <p:grpSpPr>
          <a:xfrm>
            <a:off x="3567812" y="4741778"/>
            <a:ext cx="2396810" cy="584775"/>
            <a:chOff x="4857752" y="5027530"/>
            <a:chExt cx="2396810" cy="584775"/>
          </a:xfrm>
        </p:grpSpPr>
        <p:sp>
          <p:nvSpPr>
            <p:cNvPr id="110" name="矩形 109"/>
            <p:cNvSpPr/>
            <p:nvPr/>
          </p:nvSpPr>
          <p:spPr>
            <a:xfrm>
              <a:off x="4857752" y="5072074"/>
              <a:ext cx="2396810" cy="400110"/>
            </a:xfrm>
            <a:prstGeom prst="rect">
              <a:avLst/>
            </a:prstGeom>
          </p:spPr>
          <p:txBody>
            <a:bodyPr wrap="none">
              <a:spAutoFit/>
            </a:bodyPr>
            <a:lstStyle/>
            <a:p>
              <a:r>
                <a:rPr lang="en-US" altLang="zh-CN" sz="2000" b="1">
                  <a:solidFill>
                    <a:srgbClr val="000000"/>
                  </a:solidFill>
                  <a:latin typeface="Times New Roman" pitchFamily="18" charset="0"/>
                  <a:cs typeface="Times New Roman" pitchFamily="18" charset="0"/>
                </a:rPr>
                <a:t>= — </a:t>
              </a:r>
              <a:r>
                <a:rPr lang="el-GR" altLang="zh-CN" sz="2000" b="1" i="1">
                  <a:solidFill>
                    <a:srgbClr val="000000"/>
                  </a:solidFill>
                  <a:latin typeface="Times New Roman" pitchFamily="18" charset="0"/>
                  <a:cs typeface="Times New Roman" pitchFamily="18" charset="0"/>
                </a:rPr>
                <a:t>α</a:t>
              </a:r>
              <a:r>
                <a:rPr lang="en-US" altLang="zh-CN" sz="2000" b="1" i="1" baseline="-25000">
                  <a:solidFill>
                    <a:srgbClr val="000000"/>
                  </a:solidFill>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a:t>
              </a:r>
              <a:r>
                <a:rPr lang="en-US" altLang="zh-CN" sz="2000" b="1" i="1">
                  <a:latin typeface="Times New Roman" pitchFamily="18" charset="0"/>
                  <a:cs typeface="Times New Roman" pitchFamily="18" charset="0"/>
                </a:rPr>
                <a:t>h</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 t</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h</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s</a:t>
              </a:r>
              <a:endParaRPr lang="zh-CN" altLang="en-US"/>
            </a:p>
          </p:txBody>
        </p:sp>
        <p:sp>
          <p:nvSpPr>
            <p:cNvPr id="111" name="矩形 110"/>
            <p:cNvSpPr/>
            <p:nvPr/>
          </p:nvSpPr>
          <p:spPr>
            <a:xfrm>
              <a:off x="5106924" y="5027530"/>
              <a:ext cx="447558" cy="584775"/>
            </a:xfrm>
            <a:prstGeom prst="rect">
              <a:avLst/>
            </a:prstGeom>
          </p:spPr>
          <p:txBody>
            <a:bodyPr wrap="square">
              <a:spAutoFit/>
            </a:bodyPr>
            <a:lstStyle/>
            <a:p>
              <a:pPr>
                <a:lnSpc>
                  <a:spcPct val="80000"/>
                </a:lnSpc>
              </a:pPr>
              <a:r>
                <a:rPr lang="en-US" altLang="zh-CN" sz="2000" b="1">
                  <a:latin typeface="Times New Roman" pitchFamily="18" charset="0"/>
                  <a:cs typeface="Times New Roman" pitchFamily="18" charset="0"/>
                </a:rPr>
                <a:t>1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grpSp>
      <p:grpSp>
        <p:nvGrpSpPr>
          <p:cNvPr id="118" name="组合 117"/>
          <p:cNvGrpSpPr/>
          <p:nvPr/>
        </p:nvGrpSpPr>
        <p:grpSpPr>
          <a:xfrm>
            <a:off x="7813606" y="2366674"/>
            <a:ext cx="784800" cy="1044680"/>
            <a:chOff x="7813606" y="2366674"/>
            <a:chExt cx="784800" cy="1044680"/>
          </a:xfrm>
        </p:grpSpPr>
        <p:cxnSp>
          <p:nvCxnSpPr>
            <p:cNvPr id="114" name="直接连接符 113"/>
            <p:cNvCxnSpPr/>
            <p:nvPr/>
          </p:nvCxnSpPr>
          <p:spPr bwMode="auto">
            <a:xfrm rot="5400000" flipH="1" flipV="1">
              <a:off x="7879626" y="2688145"/>
              <a:ext cx="643736" cy="794"/>
            </a:xfrm>
            <a:prstGeom prst="line">
              <a:avLst/>
            </a:prstGeom>
            <a:solidFill>
              <a:schemeClr val="accent1"/>
            </a:solidFill>
            <a:ln w="19050" cap="flat" cmpd="sng" algn="ctr">
              <a:solidFill>
                <a:srgbClr val="00B050"/>
              </a:solidFill>
              <a:prstDash val="solid"/>
              <a:round/>
              <a:headEnd type="none" w="med" len="med"/>
              <a:tailEnd type="none" w="med" len="med"/>
            </a:ln>
            <a:effectLst/>
          </p:spPr>
        </p:cxnSp>
        <p:sp>
          <p:nvSpPr>
            <p:cNvPr id="116" name="弧形 115"/>
            <p:cNvSpPr/>
            <p:nvPr/>
          </p:nvSpPr>
          <p:spPr bwMode="auto">
            <a:xfrm flipH="1">
              <a:off x="7813606" y="2625536"/>
              <a:ext cx="784800" cy="785818"/>
            </a:xfrm>
            <a:prstGeom prst="arc">
              <a:avLst>
                <a:gd name="adj1" fmla="val 16200000"/>
                <a:gd name="adj2" fmla="val 17588693"/>
              </a:avLst>
            </a:prstGeom>
            <a:noFill/>
            <a:ln w="1905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17" name="TextBox 116"/>
            <p:cNvSpPr txBox="1"/>
            <p:nvPr/>
          </p:nvSpPr>
          <p:spPr>
            <a:xfrm>
              <a:off x="8215338" y="2428868"/>
              <a:ext cx="304892" cy="369332"/>
            </a:xfrm>
            <a:prstGeom prst="rect">
              <a:avLst/>
            </a:prstGeom>
            <a:noFill/>
            <a:ln w="28575">
              <a:noFill/>
            </a:ln>
          </p:spPr>
          <p:txBody>
            <a:bodyPr wrap="none" rtlCol="0">
              <a:spAutoFit/>
            </a:bodyPr>
            <a:lstStyle/>
            <a:p>
              <a:r>
                <a:rPr lang="el-GR" altLang="zh-CN" b="1" i="1">
                  <a:solidFill>
                    <a:srgbClr val="00B050"/>
                  </a:solidFill>
                  <a:latin typeface="Times New Roman" pitchFamily="18" charset="0"/>
                  <a:cs typeface="Times New Roman" pitchFamily="18" charset="0"/>
                </a:rPr>
                <a:t>θ</a:t>
              </a:r>
              <a:endParaRPr lang="zh-CN" altLang="en-US" b="1" i="1">
                <a:solidFill>
                  <a:srgbClr val="00B050"/>
                </a:solidFill>
                <a:latin typeface="Times New Roman" pitchFamily="18" charset="0"/>
                <a:cs typeface="Times New Roman" pitchFamily="18" charset="0"/>
              </a:endParaRPr>
            </a:p>
          </p:txBody>
        </p:sp>
      </p:grpSp>
      <p:sp>
        <p:nvSpPr>
          <p:cNvPr id="119" name="Rectangle 6"/>
          <p:cNvSpPr>
            <a:spLocks noChangeArrowheads="1"/>
          </p:cNvSpPr>
          <p:nvPr/>
        </p:nvSpPr>
        <p:spPr bwMode="auto">
          <a:xfrm>
            <a:off x="1201929" y="5135605"/>
            <a:ext cx="7513475" cy="429285"/>
          </a:xfrm>
          <a:prstGeom prst="rect">
            <a:avLst/>
          </a:prstGeom>
          <a:noFill/>
          <a:ln w="9525">
            <a:noFill/>
            <a:miter lim="800000"/>
            <a:headEnd/>
            <a:tailEnd/>
          </a:ln>
        </p:spPr>
        <p:txBody>
          <a:bodyPr wrap="square">
            <a:spAutoFit/>
          </a:bodyPr>
          <a:lstStyle/>
          <a:p>
            <a:pPr fontAlgn="base">
              <a:lnSpc>
                <a:spcPct val="120000"/>
              </a:lnSpc>
              <a:spcAft>
                <a:spcPct val="0"/>
              </a:spcAft>
            </a:pPr>
            <a:r>
              <a:rPr kumimoji="1" lang="zh-CN" altLang="en-US" sz="2000" b="1">
                <a:solidFill>
                  <a:srgbClr val="000000"/>
                </a:solidFill>
                <a:latin typeface="+mn-ea"/>
              </a:rPr>
              <a:t>⑶ 截面的转角 </a:t>
            </a:r>
            <a:r>
              <a:rPr kumimoji="1" lang="en-US" altLang="zh-CN" sz="2000" b="1">
                <a:solidFill>
                  <a:srgbClr val="000000"/>
                </a:solidFill>
                <a:latin typeface="Times New Roman" pitchFamily="18" charset="0"/>
                <a:cs typeface="Times New Roman" pitchFamily="18" charset="0"/>
              </a:rPr>
              <a:t>d</a:t>
            </a:r>
            <a:r>
              <a:rPr kumimoji="1" lang="el-GR" altLang="zh-CN" sz="2000" b="1" i="1">
                <a:solidFill>
                  <a:srgbClr val="000000"/>
                </a:solidFill>
                <a:latin typeface="Times New Roman" pitchFamily="18" charset="0"/>
                <a:cs typeface="Times New Roman" pitchFamily="18" charset="0"/>
              </a:rPr>
              <a:t>θ</a:t>
            </a:r>
            <a:r>
              <a:rPr kumimoji="1" lang="en-US" altLang="zh-CN" sz="2000" b="1" i="1">
                <a:solidFill>
                  <a:srgbClr val="000000"/>
                </a:solidFill>
                <a:latin typeface="Times New Roman" pitchFamily="18" charset="0"/>
                <a:cs typeface="Times New Roman" pitchFamily="18" charset="0"/>
              </a:rPr>
              <a:t> </a:t>
            </a:r>
            <a:r>
              <a:rPr kumimoji="1" lang="zh-CN" altLang="en-US" sz="2000" b="1">
                <a:solidFill>
                  <a:srgbClr val="000000"/>
                </a:solidFill>
                <a:latin typeface="Times New Roman" pitchFamily="18" charset="0"/>
                <a:cs typeface="Times New Roman" pitchFamily="18" charset="0"/>
              </a:rPr>
              <a:t>为：</a:t>
            </a:r>
            <a:endParaRPr kumimoji="1" lang="en-US" altLang="zh-CN" sz="2000" b="1">
              <a:solidFill>
                <a:srgbClr val="000000"/>
              </a:solidFill>
              <a:latin typeface="+mn-ea"/>
            </a:endParaRPr>
          </a:p>
        </p:txBody>
      </p:sp>
      <p:grpSp>
        <p:nvGrpSpPr>
          <p:cNvPr id="123" name="组合 122"/>
          <p:cNvGrpSpPr/>
          <p:nvPr/>
        </p:nvGrpSpPr>
        <p:grpSpPr>
          <a:xfrm>
            <a:off x="2303769" y="5566161"/>
            <a:ext cx="7054577" cy="584775"/>
            <a:chOff x="2303769" y="5743203"/>
            <a:chExt cx="7054577" cy="584775"/>
          </a:xfrm>
        </p:grpSpPr>
        <p:sp>
          <p:nvSpPr>
            <p:cNvPr id="120" name="矩形 119"/>
            <p:cNvSpPr/>
            <p:nvPr/>
          </p:nvSpPr>
          <p:spPr>
            <a:xfrm>
              <a:off x="2303769" y="5786454"/>
              <a:ext cx="7054577" cy="400110"/>
            </a:xfrm>
            <a:prstGeom prst="rect">
              <a:avLst/>
            </a:prstGeom>
          </p:spPr>
          <p:txBody>
            <a:bodyPr wrap="square">
              <a:spAutoFit/>
            </a:bodyPr>
            <a:lstStyle/>
            <a:p>
              <a:r>
                <a:rPr lang="en-US" altLang="zh-CN" sz="2000" b="1">
                  <a:solidFill>
                    <a:srgbClr val="000000"/>
                  </a:solidFill>
                  <a:latin typeface="Times New Roman" pitchFamily="18" charset="0"/>
                  <a:cs typeface="Times New Roman" pitchFamily="18" charset="0"/>
                </a:rPr>
                <a:t>d</a:t>
              </a:r>
              <a:r>
                <a:rPr kumimoji="1" lang="el-GR" altLang="zh-CN" sz="2000" b="1" i="1">
                  <a:solidFill>
                    <a:srgbClr val="000000"/>
                  </a:solidFill>
                  <a:latin typeface="Times New Roman" pitchFamily="18" charset="0"/>
                  <a:cs typeface="Times New Roman" pitchFamily="18" charset="0"/>
                </a:rPr>
                <a:t>θ</a:t>
              </a:r>
              <a:r>
                <a:rPr kumimoji="1" lang="en-US" altLang="zh-CN" sz="2000" b="1" i="1">
                  <a:solidFill>
                    <a:srgbClr val="000000"/>
                  </a:solidFill>
                  <a:latin typeface="Times New Roman" pitchFamily="18" charset="0"/>
                  <a:cs typeface="Times New Roman" pitchFamily="18" charset="0"/>
                </a:rPr>
                <a:t> </a:t>
              </a:r>
              <a:r>
                <a:rPr lang="en-US" altLang="zh-CN" sz="2000" b="1">
                  <a:solidFill>
                    <a:srgbClr val="000000"/>
                  </a:solidFill>
                  <a:latin typeface="Times New Roman" pitchFamily="18" charset="0"/>
                  <a:cs typeface="Times New Roman" pitchFamily="18" charset="0"/>
                </a:rPr>
                <a:t>= </a:t>
              </a:r>
              <a:r>
                <a:rPr lang="en-US" altLang="zh-CN" b="1">
                  <a:solidFill>
                    <a:srgbClr val="000000"/>
                  </a:solidFill>
                  <a:latin typeface="Times New Roman" pitchFamily="18" charset="0"/>
                  <a:cs typeface="Times New Roman" pitchFamily="18" charset="0"/>
                </a:rPr>
                <a:t>—</a:t>
              </a:r>
              <a:r>
                <a:rPr lang="en-US" altLang="zh-CN" sz="2000" b="1" baseline="-25000">
                  <a:solidFill>
                    <a:srgbClr val="000000"/>
                  </a:solidFill>
                  <a:latin typeface="Times New Roman" pitchFamily="18" charset="0"/>
                  <a:cs typeface="Times New Roman" pitchFamily="18" charset="0"/>
                </a:rPr>
                <a:t>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2 </a:t>
              </a:r>
              <a:r>
                <a:rPr lang="en-US" altLang="zh-CN" sz="2000" b="1">
                  <a:solidFill>
                    <a:srgbClr val="000000"/>
                  </a:solidFill>
                  <a:latin typeface="+mn-ea"/>
                  <a:cs typeface="Times New Roman" pitchFamily="18" charset="0"/>
                </a:rPr>
                <a:t>-</a:t>
              </a:r>
              <a:r>
                <a:rPr lang="en-US" altLang="zh-CN" sz="2000" b="1">
                  <a:latin typeface="Times New Roman" pitchFamily="18" charset="0"/>
                  <a:cs typeface="Times New Roman" pitchFamily="18" charset="0"/>
                </a:rPr>
                <a:t> 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1</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b="1">
                  <a:solidFill>
                    <a:srgbClr val="000000"/>
                  </a:solidFill>
                  <a:latin typeface="Times New Roman" pitchFamily="18" charset="0"/>
                  <a:cs typeface="Times New Roman" pitchFamily="18" charset="0"/>
                </a:rPr>
                <a:t>= — </a:t>
              </a:r>
              <a:r>
                <a:rPr lang="el-GR" altLang="zh-CN" sz="2000" b="1" i="1">
                  <a:latin typeface="Times New Roman"/>
                  <a:cs typeface="Times New Roman"/>
                </a:rPr>
                <a:t>α</a:t>
              </a:r>
              <a:r>
                <a:rPr lang="el-GR" altLang="zh-CN" sz="2000" b="1" i="1">
                  <a:solidFill>
                    <a:srgbClr val="000000"/>
                  </a:solidFill>
                  <a:latin typeface="Times New Roman" pitchFamily="18" charset="0"/>
                  <a:cs typeface="Times New Roman" pitchFamily="18" charset="0"/>
                </a:rPr>
                <a:t>Δ</a:t>
              </a:r>
              <a:r>
                <a:rPr lang="en-US" altLang="zh-CN" sz="2000" b="1" i="1">
                  <a:solidFill>
                    <a:srgbClr val="000000"/>
                  </a:solidFill>
                  <a:latin typeface="Times New Roman" pitchFamily="18" charset="0"/>
                  <a:cs typeface="Times New Roman" pitchFamily="18" charset="0"/>
                </a:rPr>
                <a:t>t</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r>
                <a:rPr lang="zh-CN" altLang="en-US" sz="2000" b="1">
                  <a:latin typeface="Times New Roman" pitchFamily="18" charset="0"/>
                  <a:cs typeface="Times New Roman" pitchFamily="18" charset="0"/>
                </a:rPr>
                <a:t>，   其中</a:t>
              </a:r>
              <a:r>
                <a:rPr lang="el-GR" altLang="zh-CN" sz="2000" b="1" i="1">
                  <a:solidFill>
                    <a:srgbClr val="000000"/>
                  </a:solidFill>
                  <a:latin typeface="Times New Roman" pitchFamily="18" charset="0"/>
                  <a:cs typeface="Times New Roman" pitchFamily="18" charset="0"/>
                </a:rPr>
                <a:t>Δ</a:t>
              </a:r>
              <a:r>
                <a:rPr lang="en-US" altLang="zh-CN" sz="2000" b="1" i="1">
                  <a:solidFill>
                    <a:srgbClr val="000000"/>
                  </a:solidFill>
                  <a:latin typeface="Times New Roman" pitchFamily="18" charset="0"/>
                  <a:cs typeface="Times New Roman" pitchFamily="18" charset="0"/>
                </a:rPr>
                <a:t>t </a:t>
              </a:r>
              <a:r>
                <a:rPr lang="en-US" altLang="zh-CN" sz="2000" b="1">
                  <a:solidFill>
                    <a:srgbClr val="000000"/>
                  </a:solidFill>
                  <a:latin typeface="Times New Roman" pitchFamily="18" charset="0"/>
                  <a:cs typeface="Times New Roman" pitchFamily="18" charset="0"/>
                </a:rPr>
                <a:t>=</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 </a:t>
              </a:r>
              <a:r>
                <a:rPr lang="en-US" altLang="zh-CN" sz="2000" b="1">
                  <a:solidFill>
                    <a:srgbClr val="000000"/>
                  </a:solidFill>
                  <a:latin typeface="+mn-ea"/>
                  <a:cs typeface="Times New Roman" pitchFamily="18" charset="0"/>
                </a:rPr>
                <a:t>-</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1</a:t>
              </a:r>
              <a:r>
                <a:rPr lang="zh-CN" altLang="en-US" sz="2000" b="1">
                  <a:latin typeface="Times New Roman" pitchFamily="18" charset="0"/>
                  <a:cs typeface="Times New Roman" pitchFamily="18" charset="0"/>
                </a:rPr>
                <a:t> 为温差；</a:t>
              </a:r>
              <a:endParaRPr lang="zh-CN" altLang="en-US" sz="2000">
                <a:latin typeface="+mn-ea"/>
              </a:endParaRPr>
            </a:p>
          </p:txBody>
        </p:sp>
        <p:sp>
          <p:nvSpPr>
            <p:cNvPr id="121" name="矩形 120"/>
            <p:cNvSpPr/>
            <p:nvPr/>
          </p:nvSpPr>
          <p:spPr>
            <a:xfrm>
              <a:off x="2857488" y="5743203"/>
              <a:ext cx="447558" cy="584775"/>
            </a:xfrm>
            <a:prstGeom prst="rect">
              <a:avLst/>
            </a:prstGeom>
          </p:spPr>
          <p:txBody>
            <a:bodyPr wrap="square">
              <a:spAutoFit/>
            </a:bodyPr>
            <a:lstStyle/>
            <a:p>
              <a:pPr>
                <a:lnSpc>
                  <a:spcPct val="80000"/>
                </a:lnSpc>
              </a:pPr>
              <a:r>
                <a:rPr lang="en-US" altLang="zh-CN" sz="2000" b="1">
                  <a:latin typeface="Times New Roman" pitchFamily="18" charset="0"/>
                  <a:cs typeface="Times New Roman" pitchFamily="18" charset="0"/>
                </a:rPr>
                <a:t>1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sp>
          <p:nvSpPr>
            <p:cNvPr id="122" name="矩形 121"/>
            <p:cNvSpPr/>
            <p:nvPr/>
          </p:nvSpPr>
          <p:spPr>
            <a:xfrm>
              <a:off x="4478120" y="5743203"/>
              <a:ext cx="447558" cy="584775"/>
            </a:xfrm>
            <a:prstGeom prst="rect">
              <a:avLst/>
            </a:prstGeom>
          </p:spPr>
          <p:txBody>
            <a:bodyPr wrap="square">
              <a:spAutoFit/>
            </a:bodyPr>
            <a:lstStyle/>
            <a:p>
              <a:pPr>
                <a:lnSpc>
                  <a:spcPct val="80000"/>
                </a:lnSpc>
              </a:pPr>
              <a:r>
                <a:rPr lang="en-US" altLang="zh-CN" sz="2000" b="1">
                  <a:latin typeface="Times New Roman"/>
                  <a:cs typeface="Times New Roman"/>
                </a:rPr>
                <a:t>1</a:t>
              </a:r>
              <a:r>
                <a:rPr lang="en-US" altLang="zh-CN" sz="2000" b="1">
                  <a:latin typeface="Times New Roman" pitchFamily="18" charset="0"/>
                  <a:cs typeface="Times New Roman" pitchFamily="18" charset="0"/>
                </a:rPr>
                <a:t>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500" fill="hold"/>
                                        <p:tgtEl>
                                          <p:spTgt spid="72"/>
                                        </p:tgtEl>
                                        <p:attrNameLst>
                                          <p:attrName>ppt_x</p:attrName>
                                        </p:attrNameLst>
                                      </p:cBhvr>
                                      <p:tavLst>
                                        <p:tav tm="0">
                                          <p:val>
                                            <p:strVal val="#ppt_x"/>
                                          </p:val>
                                        </p:tav>
                                        <p:tav tm="100000">
                                          <p:val>
                                            <p:strVal val="#ppt_x"/>
                                          </p:val>
                                        </p:tav>
                                      </p:tavLst>
                                    </p:anim>
                                    <p:anim calcmode="lin" valueType="num">
                                      <p:cBhvr additive="base">
                                        <p:cTn id="8"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wipe(left)">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7">
                                            <p:txEl>
                                              <p:pRg st="0" end="0"/>
                                            </p:txEl>
                                          </p:spTgt>
                                        </p:tgtEl>
                                        <p:attrNameLst>
                                          <p:attrName>style.visibility</p:attrName>
                                        </p:attrNameLst>
                                      </p:cBhvr>
                                      <p:to>
                                        <p:strVal val="visible"/>
                                      </p:to>
                                    </p:set>
                                    <p:animEffect transition="in" filter="wipe(left)">
                                      <p:cBhvr>
                                        <p:cTn id="18" dur="1000"/>
                                        <p:tgtEl>
                                          <p:spTgt spid="7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7">
                                            <p:txEl>
                                              <p:pRg st="1" end="1"/>
                                            </p:txEl>
                                          </p:spTgt>
                                        </p:tgtEl>
                                        <p:attrNameLst>
                                          <p:attrName>style.visibility</p:attrName>
                                        </p:attrNameLst>
                                      </p:cBhvr>
                                      <p:to>
                                        <p:strVal val="visible"/>
                                      </p:to>
                                    </p:set>
                                    <p:animEffect transition="in" filter="wipe(left)">
                                      <p:cBhvr>
                                        <p:cTn id="23" dur="1000"/>
                                        <p:tgtEl>
                                          <p:spTgt spid="7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blinds(vertical)">
                                      <p:cBhvr>
                                        <p:cTn id="28" dur="500"/>
                                        <p:tgtEl>
                                          <p:spTgt spid="8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7">
                                            <p:txEl>
                                              <p:pRg st="2" end="2"/>
                                            </p:txEl>
                                          </p:spTgt>
                                        </p:tgtEl>
                                        <p:attrNameLst>
                                          <p:attrName>style.visibility</p:attrName>
                                        </p:attrNameLst>
                                      </p:cBhvr>
                                      <p:to>
                                        <p:strVal val="visible"/>
                                      </p:to>
                                    </p:set>
                                    <p:animEffect transition="in" filter="wipe(left)">
                                      <p:cBhvr>
                                        <p:cTn id="33" dur="1000"/>
                                        <p:tgtEl>
                                          <p:spTgt spid="7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nodeType="clickEffect">
                                  <p:stCondLst>
                                    <p:cond delay="0"/>
                                  </p:stCondLst>
                                  <p:childTnLst>
                                    <p:set>
                                      <p:cBhvr>
                                        <p:cTn id="37" dur="1" fill="hold">
                                          <p:stCondLst>
                                            <p:cond delay="0"/>
                                          </p:stCondLst>
                                        </p:cTn>
                                        <p:tgtEl>
                                          <p:spTgt spid="95"/>
                                        </p:tgtEl>
                                        <p:attrNameLst>
                                          <p:attrName>style.visibility</p:attrName>
                                        </p:attrNameLst>
                                      </p:cBhvr>
                                      <p:to>
                                        <p:strVal val="visible"/>
                                      </p:to>
                                    </p:set>
                                    <p:animEffect transition="in" filter="blinds(vertical)">
                                      <p:cBhvr>
                                        <p:cTn id="38" dur="500"/>
                                        <p:tgtEl>
                                          <p:spTgt spid="9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7">
                                            <p:txEl>
                                              <p:pRg st="3" end="3"/>
                                            </p:txEl>
                                          </p:spTgt>
                                        </p:tgtEl>
                                        <p:attrNameLst>
                                          <p:attrName>style.visibility</p:attrName>
                                        </p:attrNameLst>
                                      </p:cBhvr>
                                      <p:to>
                                        <p:strVal val="visible"/>
                                      </p:to>
                                    </p:set>
                                    <p:animEffect transition="in" filter="wipe(left)">
                                      <p:cBhvr>
                                        <p:cTn id="43" dur="1000"/>
                                        <p:tgtEl>
                                          <p:spTgt spid="77">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5" fill="hold" nodeType="clickEffect">
                                  <p:stCondLst>
                                    <p:cond delay="0"/>
                                  </p:stCondLst>
                                  <p:childTnLst>
                                    <p:set>
                                      <p:cBhvr>
                                        <p:cTn id="47" dur="1" fill="hold">
                                          <p:stCondLst>
                                            <p:cond delay="0"/>
                                          </p:stCondLst>
                                        </p:cTn>
                                        <p:tgtEl>
                                          <p:spTgt spid="100"/>
                                        </p:tgtEl>
                                        <p:attrNameLst>
                                          <p:attrName>style.visibility</p:attrName>
                                        </p:attrNameLst>
                                      </p:cBhvr>
                                      <p:to>
                                        <p:strVal val="visible"/>
                                      </p:to>
                                    </p:set>
                                    <p:animEffect transition="in" filter="blinds(vertical)">
                                      <p:cBhvr>
                                        <p:cTn id="48" dur="500"/>
                                        <p:tgtEl>
                                          <p:spTgt spid="100"/>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9"/>
                                        </p:tgtEl>
                                        <p:attrNameLst>
                                          <p:attrName>style.visibility</p:attrName>
                                        </p:attrNameLst>
                                      </p:cBhvr>
                                      <p:to>
                                        <p:strVal val="visible"/>
                                      </p:to>
                                    </p:set>
                                    <p:anim calcmode="lin" valueType="num">
                                      <p:cBhvr additive="base">
                                        <p:cTn id="53" dur="500" fill="hold"/>
                                        <p:tgtEl>
                                          <p:spTgt spid="109"/>
                                        </p:tgtEl>
                                        <p:attrNameLst>
                                          <p:attrName>ppt_x</p:attrName>
                                        </p:attrNameLst>
                                      </p:cBhvr>
                                      <p:tavLst>
                                        <p:tav tm="0">
                                          <p:val>
                                            <p:strVal val="#ppt_x"/>
                                          </p:val>
                                        </p:tav>
                                        <p:tav tm="100000">
                                          <p:val>
                                            <p:strVal val="#ppt_x"/>
                                          </p:val>
                                        </p:tav>
                                      </p:tavLst>
                                    </p:anim>
                                    <p:anim calcmode="lin" valueType="num">
                                      <p:cBhvr additive="base">
                                        <p:cTn id="54"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98"/>
                                        </p:tgtEl>
                                        <p:attrNameLst>
                                          <p:attrName>style.visibility</p:attrName>
                                        </p:attrNameLst>
                                      </p:cBhvr>
                                      <p:to>
                                        <p:strVal val="visible"/>
                                      </p:to>
                                    </p:set>
                                    <p:animEffect transition="in" filter="wipe(up)">
                                      <p:cBhvr>
                                        <p:cTn id="59" dur="500"/>
                                        <p:tgtEl>
                                          <p:spTgt spid="98"/>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12"/>
                                        </p:tgtEl>
                                        <p:attrNameLst>
                                          <p:attrName>style.visibility</p:attrName>
                                        </p:attrNameLst>
                                      </p:cBhvr>
                                      <p:to>
                                        <p:strVal val="visible"/>
                                      </p:to>
                                    </p:set>
                                    <p:animEffect transition="in" filter="wipe(left)">
                                      <p:cBhvr>
                                        <p:cTn id="63" dur="500"/>
                                        <p:tgtEl>
                                          <p:spTgt spid="11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18"/>
                                        </p:tgtEl>
                                        <p:attrNameLst>
                                          <p:attrName>style.visibility</p:attrName>
                                        </p:attrNameLst>
                                      </p:cBhvr>
                                      <p:to>
                                        <p:strVal val="visible"/>
                                      </p:to>
                                    </p:set>
                                    <p:animEffect transition="in" filter="blinds(horizontal)">
                                      <p:cBhvr>
                                        <p:cTn id="68" dur="500"/>
                                        <p:tgtEl>
                                          <p:spTgt spid="11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9">
                                            <p:txEl>
                                              <p:pRg st="0" end="0"/>
                                            </p:txEl>
                                          </p:spTgt>
                                        </p:tgtEl>
                                        <p:attrNameLst>
                                          <p:attrName>style.visibility</p:attrName>
                                        </p:attrNameLst>
                                      </p:cBhvr>
                                      <p:to>
                                        <p:strVal val="visible"/>
                                      </p:to>
                                    </p:set>
                                    <p:animEffect transition="in" filter="wipe(left)">
                                      <p:cBhvr>
                                        <p:cTn id="73" dur="1000"/>
                                        <p:tgtEl>
                                          <p:spTgt spid="119">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23"/>
                                        </p:tgtEl>
                                        <p:attrNameLst>
                                          <p:attrName>style.visibility</p:attrName>
                                        </p:attrNameLst>
                                      </p:cBhvr>
                                      <p:to>
                                        <p:strVal val="visible"/>
                                      </p:to>
                                    </p:set>
                                    <p:animEffect transition="in" filter="wipe(left)">
                                      <p:cBhvr>
                                        <p:cTn id="78"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7" grpId="0" uiExpand="1" build="p"/>
      <p:bldP spid="11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 name="Rectangle 6"/>
          <p:cNvSpPr>
            <a:spLocks noChangeArrowheads="1"/>
          </p:cNvSpPr>
          <p:nvPr/>
        </p:nvSpPr>
        <p:spPr bwMode="auto">
          <a:xfrm>
            <a:off x="469540" y="1813222"/>
            <a:ext cx="4888278"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微元段变形分析</a:t>
            </a:r>
            <a:endParaRPr lang="zh-CN" altLang="en-US" sz="2000" b="1" i="1"/>
          </a:p>
        </p:txBody>
      </p:sp>
      <p:grpSp>
        <p:nvGrpSpPr>
          <p:cNvPr id="72" name="组合 71"/>
          <p:cNvGrpSpPr/>
          <p:nvPr/>
        </p:nvGrpSpPr>
        <p:grpSpPr>
          <a:xfrm>
            <a:off x="1214414" y="2214554"/>
            <a:ext cx="7513475" cy="1238801"/>
            <a:chOff x="1201929" y="3638796"/>
            <a:chExt cx="7513475" cy="1238801"/>
          </a:xfrm>
        </p:grpSpPr>
        <p:sp>
          <p:nvSpPr>
            <p:cNvPr id="77" name="Rectangle 6"/>
            <p:cNvSpPr>
              <a:spLocks noChangeArrowheads="1"/>
            </p:cNvSpPr>
            <p:nvPr/>
          </p:nvSpPr>
          <p:spPr bwMode="auto">
            <a:xfrm>
              <a:off x="1201929" y="3638796"/>
              <a:ext cx="7513475" cy="1238801"/>
            </a:xfrm>
            <a:prstGeom prst="rect">
              <a:avLst/>
            </a:prstGeom>
            <a:noFill/>
            <a:ln w="9525">
              <a:noFill/>
              <a:miter lim="800000"/>
              <a:headEnd/>
              <a:tailEnd/>
            </a:ln>
          </p:spPr>
          <p:txBody>
            <a:bodyPr wrap="square">
              <a:spAutoFit/>
            </a:bodyPr>
            <a:lstStyle/>
            <a:p>
              <a:pPr fontAlgn="base">
                <a:lnSpc>
                  <a:spcPct val="120000"/>
                </a:lnSpc>
                <a:spcAft>
                  <a:spcPct val="0"/>
                </a:spcAft>
              </a:pPr>
              <a:r>
                <a:rPr kumimoji="1" lang="zh-CN" altLang="en-US" sz="2000" b="1">
                  <a:solidFill>
                    <a:srgbClr val="000000"/>
                  </a:solidFill>
                  <a:latin typeface="+mn-ea"/>
                </a:rPr>
                <a:t>⑵ 中心轴处纤维的伸长</a:t>
              </a:r>
              <a:endParaRPr kumimoji="1" lang="en-US" altLang="zh-CN" sz="2000" b="1">
                <a:solidFill>
                  <a:srgbClr val="000000"/>
                </a:solidFill>
                <a:latin typeface="+mn-ea"/>
              </a:endParaRPr>
            </a:p>
            <a:p>
              <a:pPr fontAlgn="base">
                <a:lnSpc>
                  <a:spcPct val="120000"/>
                </a:lnSpc>
                <a:spcBef>
                  <a:spcPts val="300"/>
                </a:spcBef>
                <a:spcAft>
                  <a:spcPct val="0"/>
                </a:spcAft>
              </a:pPr>
              <a:r>
                <a:rPr kumimoji="1" lang="zh-CN" altLang="en-US" sz="2000" b="1">
                  <a:solidFill>
                    <a:srgbClr val="000000"/>
                  </a:solidFill>
                  <a:latin typeface="+mn-ea"/>
                </a:rPr>
                <a:t>                 </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 </a:t>
              </a:r>
            </a:p>
            <a:p>
              <a:pPr fontAlgn="base">
                <a:lnSpc>
                  <a:spcPct val="120000"/>
                </a:lnSpc>
                <a:spcAft>
                  <a:spcPct val="0"/>
                </a:spcAft>
              </a:pPr>
              <a:endParaRPr kumimoji="1" lang="zh-CN" altLang="en-US" sz="2000" b="1">
                <a:solidFill>
                  <a:srgbClr val="000000"/>
                </a:solidFill>
                <a:latin typeface="+mn-ea"/>
              </a:endParaRPr>
            </a:p>
          </p:txBody>
        </p:sp>
        <p:grpSp>
          <p:nvGrpSpPr>
            <p:cNvPr id="11" name="组合 111"/>
            <p:cNvGrpSpPr/>
            <p:nvPr/>
          </p:nvGrpSpPr>
          <p:grpSpPr>
            <a:xfrm>
              <a:off x="2714612" y="4054153"/>
              <a:ext cx="2396810" cy="584775"/>
              <a:chOff x="4857752" y="5082972"/>
              <a:chExt cx="2396810" cy="584775"/>
            </a:xfrm>
          </p:grpSpPr>
          <p:sp>
            <p:nvSpPr>
              <p:cNvPr id="110" name="矩形 109"/>
              <p:cNvSpPr/>
              <p:nvPr/>
            </p:nvSpPr>
            <p:spPr>
              <a:xfrm>
                <a:off x="4857752" y="5127516"/>
                <a:ext cx="2396810" cy="400110"/>
              </a:xfrm>
              <a:prstGeom prst="rect">
                <a:avLst/>
              </a:prstGeom>
            </p:spPr>
            <p:txBody>
              <a:bodyPr wrap="none">
                <a:spAutoFit/>
              </a:bodyPr>
              <a:lstStyle/>
              <a:p>
                <a:r>
                  <a:rPr lang="en-US" altLang="zh-CN" sz="2000" b="1">
                    <a:solidFill>
                      <a:srgbClr val="000000"/>
                    </a:solidFill>
                    <a:latin typeface="Times New Roman" pitchFamily="18" charset="0"/>
                    <a:cs typeface="Times New Roman" pitchFamily="18" charset="0"/>
                  </a:rPr>
                  <a:t>= — </a:t>
                </a:r>
                <a:r>
                  <a:rPr lang="el-GR" altLang="zh-CN" sz="2000" b="1" i="1">
                    <a:solidFill>
                      <a:srgbClr val="000000"/>
                    </a:solidFill>
                    <a:latin typeface="Times New Roman" pitchFamily="18" charset="0"/>
                    <a:cs typeface="Times New Roman" pitchFamily="18" charset="0"/>
                  </a:rPr>
                  <a:t>α</a:t>
                </a:r>
                <a:r>
                  <a:rPr lang="en-US" altLang="zh-CN" sz="2000" b="1" i="1" baseline="-25000">
                    <a:solidFill>
                      <a:srgbClr val="000000"/>
                    </a:solidFill>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t</a:t>
                </a:r>
                <a:r>
                  <a:rPr lang="en-US" altLang="zh-CN" sz="2000" b="1" baseline="-25000">
                    <a:latin typeface="Times New Roman" pitchFamily="18" charset="0"/>
                    <a:cs typeface="Times New Roman" pitchFamily="18" charset="0"/>
                  </a:rPr>
                  <a:t>2</a:t>
                </a:r>
                <a:r>
                  <a:rPr lang="en-US" altLang="zh-CN" sz="2000" b="1" i="1">
                    <a:latin typeface="Times New Roman" pitchFamily="18" charset="0"/>
                    <a:cs typeface="Times New Roman" pitchFamily="18" charset="0"/>
                  </a:rPr>
                  <a:t>h</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 t</a:t>
                </a:r>
                <a:r>
                  <a:rPr lang="en-US" altLang="zh-CN" sz="2000" b="1" baseline="-25000">
                    <a:latin typeface="Times New Roman" pitchFamily="18" charset="0"/>
                    <a:cs typeface="Times New Roman" pitchFamily="18" charset="0"/>
                  </a:rPr>
                  <a:t>1</a:t>
                </a:r>
                <a:r>
                  <a:rPr lang="en-US" altLang="zh-CN" sz="2000" b="1" i="1">
                    <a:latin typeface="Times New Roman" pitchFamily="18" charset="0"/>
                    <a:cs typeface="Times New Roman" pitchFamily="18" charset="0"/>
                  </a:rPr>
                  <a:t>h</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s</a:t>
                </a:r>
                <a:endParaRPr lang="zh-CN" altLang="en-US"/>
              </a:p>
            </p:txBody>
          </p:sp>
          <p:sp>
            <p:nvSpPr>
              <p:cNvPr id="111" name="矩形 110"/>
              <p:cNvSpPr/>
              <p:nvPr/>
            </p:nvSpPr>
            <p:spPr>
              <a:xfrm>
                <a:off x="5106924" y="5082972"/>
                <a:ext cx="447558" cy="584775"/>
              </a:xfrm>
              <a:prstGeom prst="rect">
                <a:avLst/>
              </a:prstGeom>
            </p:spPr>
            <p:txBody>
              <a:bodyPr wrap="square">
                <a:spAutoFit/>
              </a:bodyPr>
              <a:lstStyle/>
              <a:p>
                <a:pPr>
                  <a:lnSpc>
                    <a:spcPct val="80000"/>
                  </a:lnSpc>
                </a:pPr>
                <a:r>
                  <a:rPr lang="en-US" altLang="zh-CN" sz="2000" b="1">
                    <a:latin typeface="Times New Roman" pitchFamily="18" charset="0"/>
                    <a:cs typeface="Times New Roman" pitchFamily="18" charset="0"/>
                  </a:rPr>
                  <a:t>1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grpSp>
      </p:grpSp>
      <p:grpSp>
        <p:nvGrpSpPr>
          <p:cNvPr id="76" name="组合 75"/>
          <p:cNvGrpSpPr/>
          <p:nvPr/>
        </p:nvGrpSpPr>
        <p:grpSpPr>
          <a:xfrm>
            <a:off x="5572132" y="1643050"/>
            <a:ext cx="3026274" cy="1860286"/>
            <a:chOff x="5572132" y="1643050"/>
            <a:chExt cx="3026274" cy="1860286"/>
          </a:xfrm>
        </p:grpSpPr>
        <p:grpSp>
          <p:nvGrpSpPr>
            <p:cNvPr id="4" name="组合 71"/>
            <p:cNvGrpSpPr/>
            <p:nvPr/>
          </p:nvGrpSpPr>
          <p:grpSpPr>
            <a:xfrm>
              <a:off x="5572132" y="1790129"/>
              <a:ext cx="1685003" cy="1713207"/>
              <a:chOff x="5500694" y="1571612"/>
              <a:chExt cx="1685003" cy="1713207"/>
            </a:xfrm>
          </p:grpSpPr>
          <p:grpSp>
            <p:nvGrpSpPr>
              <p:cNvPr id="5" name="组合 66"/>
              <p:cNvGrpSpPr/>
              <p:nvPr/>
            </p:nvGrpSpPr>
            <p:grpSpPr>
              <a:xfrm>
                <a:off x="5500694" y="1571612"/>
                <a:ext cx="1680353" cy="1232096"/>
                <a:chOff x="5398159" y="1839714"/>
                <a:chExt cx="1680353" cy="1232096"/>
              </a:xfrm>
            </p:grpSpPr>
            <p:grpSp>
              <p:nvGrpSpPr>
                <p:cNvPr id="6" name="组合 36"/>
                <p:cNvGrpSpPr/>
                <p:nvPr/>
              </p:nvGrpSpPr>
              <p:grpSpPr>
                <a:xfrm>
                  <a:off x="6286512" y="2214554"/>
                  <a:ext cx="792000" cy="857256"/>
                  <a:chOff x="6286512" y="2214554"/>
                  <a:chExt cx="792000" cy="857256"/>
                </a:xfrm>
              </p:grpSpPr>
              <p:sp>
                <p:nvSpPr>
                  <p:cNvPr id="18" name="矩形 17"/>
                  <p:cNvSpPr/>
                  <p:nvPr/>
                </p:nvSpPr>
                <p:spPr bwMode="auto">
                  <a:xfrm>
                    <a:off x="6286512" y="2214554"/>
                    <a:ext cx="785818" cy="85725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34" name="直接连接符 33"/>
                  <p:cNvCxnSpPr/>
                  <p:nvPr/>
                </p:nvCxnSpPr>
                <p:spPr bwMode="auto">
                  <a:xfrm>
                    <a:off x="6286512" y="2540647"/>
                    <a:ext cx="792000" cy="1588"/>
                  </a:xfrm>
                  <a:prstGeom prst="line">
                    <a:avLst/>
                  </a:prstGeom>
                  <a:solidFill>
                    <a:schemeClr val="accent1"/>
                  </a:solidFill>
                  <a:ln w="19050" cap="flat" cmpd="sng" algn="ctr">
                    <a:solidFill>
                      <a:schemeClr val="tx1"/>
                    </a:solidFill>
                    <a:prstDash val="lgDash"/>
                    <a:round/>
                    <a:headEnd type="none" w="med" len="med"/>
                    <a:tailEnd type="none" w="med" len="med"/>
                  </a:ln>
                  <a:effectLst/>
                </p:spPr>
              </p:cxnSp>
            </p:grpSp>
            <p:sp>
              <p:nvSpPr>
                <p:cNvPr id="40" name="TextBox 39"/>
                <p:cNvSpPr txBox="1"/>
                <p:nvPr/>
              </p:nvSpPr>
              <p:spPr>
                <a:xfrm>
                  <a:off x="6527720" y="2696970"/>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sp>
              <p:nvSpPr>
                <p:cNvPr id="41" name="TextBox 40"/>
                <p:cNvSpPr txBox="1"/>
                <p:nvPr/>
              </p:nvSpPr>
              <p:spPr>
                <a:xfrm>
                  <a:off x="6525890" y="1839714"/>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42" name="TextBox 41"/>
                <p:cNvSpPr txBox="1"/>
                <p:nvPr/>
              </p:nvSpPr>
              <p:spPr>
                <a:xfrm>
                  <a:off x="6517858" y="2202412"/>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0</a:t>
                  </a:r>
                  <a:endParaRPr lang="zh-CN" altLang="en-US" b="1" baseline="-25000">
                    <a:latin typeface="Times New Roman" pitchFamily="18" charset="0"/>
                    <a:cs typeface="Times New Roman" pitchFamily="18" charset="0"/>
                  </a:endParaRPr>
                </a:p>
              </p:txBody>
            </p:sp>
            <p:cxnSp>
              <p:nvCxnSpPr>
                <p:cNvPr id="45" name="直接连接符 44"/>
                <p:cNvCxnSpPr/>
                <p:nvPr/>
              </p:nvCxnSpPr>
              <p:spPr bwMode="auto">
                <a:xfrm>
                  <a:off x="600076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45"/>
                <p:cNvCxnSpPr/>
                <p:nvPr/>
              </p:nvCxnSpPr>
              <p:spPr bwMode="auto">
                <a:xfrm>
                  <a:off x="6010004" y="2556709"/>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p:nvPr/>
              </p:nvCxnSpPr>
              <p:spPr bwMode="auto">
                <a:xfrm>
                  <a:off x="6000760" y="3056775"/>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rot="5400000">
                  <a:off x="5658198" y="2628554"/>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3" name="TextBox 52"/>
                <p:cNvSpPr txBox="1"/>
                <p:nvPr/>
              </p:nvSpPr>
              <p:spPr>
                <a:xfrm>
                  <a:off x="5768796" y="2187660"/>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54" name="TextBox 53"/>
                <p:cNvSpPr txBox="1"/>
                <p:nvPr/>
              </p:nvSpPr>
              <p:spPr>
                <a:xfrm>
                  <a:off x="5766252" y="2604146"/>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cxnSp>
              <p:nvCxnSpPr>
                <p:cNvPr id="63" name="直接连接符 62"/>
                <p:cNvCxnSpPr/>
                <p:nvPr/>
              </p:nvCxnSpPr>
              <p:spPr bwMode="auto">
                <a:xfrm>
                  <a:off x="5643570" y="3058363"/>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rot="5400000">
                  <a:off x="5300214" y="2627760"/>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a:off x="564357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6" name="TextBox 65"/>
                <p:cNvSpPr txBox="1"/>
                <p:nvPr/>
              </p:nvSpPr>
              <p:spPr>
                <a:xfrm>
                  <a:off x="5398159" y="2401974"/>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endParaRPr lang="zh-CN" altLang="en-US" b="1" baseline="-25000">
                    <a:latin typeface="Times New Roman" pitchFamily="18" charset="0"/>
                    <a:cs typeface="Times New Roman" pitchFamily="18" charset="0"/>
                  </a:endParaRPr>
                </a:p>
              </p:txBody>
            </p:sp>
          </p:grpSp>
          <p:cxnSp>
            <p:nvCxnSpPr>
              <p:cNvPr id="68" name="直接连接符 67"/>
              <p:cNvCxnSpPr/>
              <p:nvPr/>
            </p:nvCxnSpPr>
            <p:spPr bwMode="auto">
              <a:xfrm rot="10800000">
                <a:off x="6397941" y="2942381"/>
                <a:ext cx="77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5400000">
                <a:off x="6316815" y="2942661"/>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rot="5400000">
                <a:off x="7113465" y="295503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1" name="TextBox 70"/>
              <p:cNvSpPr txBox="1"/>
              <p:nvPr/>
            </p:nvSpPr>
            <p:spPr>
              <a:xfrm>
                <a:off x="6585711" y="2915487"/>
                <a:ext cx="402674"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s</a:t>
                </a:r>
                <a:endParaRPr lang="zh-CN" altLang="en-US" b="1" baseline="-25000">
                  <a:latin typeface="Times New Roman" pitchFamily="18" charset="0"/>
                  <a:cs typeface="Times New Roman" pitchFamily="18" charset="0"/>
                </a:endParaRPr>
              </a:p>
            </p:txBody>
          </p:sp>
        </p:grpSp>
        <p:grpSp>
          <p:nvGrpSpPr>
            <p:cNvPr id="7" name="组合 87"/>
            <p:cNvGrpSpPr/>
            <p:nvPr/>
          </p:nvGrpSpPr>
          <p:grpSpPr>
            <a:xfrm>
              <a:off x="7230713" y="1643050"/>
              <a:ext cx="671979" cy="517716"/>
              <a:chOff x="7159275" y="1567409"/>
              <a:chExt cx="671979" cy="517716"/>
            </a:xfrm>
          </p:grpSpPr>
          <p:cxnSp>
            <p:nvCxnSpPr>
              <p:cNvPr id="79" name="直接连接符 78"/>
              <p:cNvCxnSpPr/>
              <p:nvPr/>
            </p:nvCxnSpPr>
            <p:spPr bwMode="auto">
              <a:xfrm flipV="1">
                <a:off x="7174865" y="2085125"/>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80" name="矩形 79"/>
              <p:cNvSpPr/>
              <p:nvPr/>
            </p:nvSpPr>
            <p:spPr>
              <a:xfrm>
                <a:off x="7159275" y="1567409"/>
                <a:ext cx="671979" cy="369332"/>
              </a:xfrm>
              <a:prstGeom prst="rect">
                <a:avLst/>
              </a:prstGeom>
            </p:spPr>
            <p:txBody>
              <a:bodyPr wrap="none">
                <a:spAutoFit/>
              </a:bodyPr>
              <a:lstStyle/>
              <a:p>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1</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83" name="直接连接符 82"/>
              <p:cNvCxnSpPr/>
              <p:nvPr/>
            </p:nvCxnSpPr>
            <p:spPr bwMode="auto">
              <a:xfrm rot="5400000" flipH="1" flipV="1">
                <a:off x="7665312" y="1933424"/>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4" name="直接连接符 83"/>
              <p:cNvCxnSpPr/>
              <p:nvPr/>
            </p:nvCxnSpPr>
            <p:spPr bwMode="auto">
              <a:xfrm rot="5400000" flipH="1" flipV="1">
                <a:off x="7064299" y="1936833"/>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6" name="直接箭头连接符 85"/>
              <p:cNvCxnSpPr/>
              <p:nvPr/>
            </p:nvCxnSpPr>
            <p:spPr bwMode="auto">
              <a:xfrm>
                <a:off x="7184109" y="1928802"/>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8" name="组合 94"/>
            <p:cNvGrpSpPr/>
            <p:nvPr/>
          </p:nvGrpSpPr>
          <p:grpSpPr>
            <a:xfrm>
              <a:off x="7242097" y="3022225"/>
              <a:ext cx="990040" cy="468969"/>
              <a:chOff x="7170661" y="2946584"/>
              <a:chExt cx="636835" cy="468969"/>
            </a:xfrm>
          </p:grpSpPr>
          <p:cxnSp>
            <p:nvCxnSpPr>
              <p:cNvPr id="90" name="直接连接符 89"/>
              <p:cNvCxnSpPr/>
              <p:nvPr/>
            </p:nvCxnSpPr>
            <p:spPr bwMode="auto">
              <a:xfrm flipV="1">
                <a:off x="7186252" y="2946584"/>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91" name="矩形 90"/>
              <p:cNvSpPr/>
              <p:nvPr/>
            </p:nvSpPr>
            <p:spPr>
              <a:xfrm>
                <a:off x="7170661" y="3046221"/>
                <a:ext cx="543605"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2</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92" name="直接连接符 91"/>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3" name="直接连接符 92"/>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4" name="直接箭头连接符 93"/>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cxnSp>
          <p:nvCxnSpPr>
            <p:cNvPr id="98" name="直接连接符 97"/>
            <p:cNvCxnSpPr/>
            <p:nvPr/>
          </p:nvCxnSpPr>
          <p:spPr bwMode="auto">
            <a:xfrm rot="16200000" flipH="1">
              <a:off x="7594668" y="2397352"/>
              <a:ext cx="857256"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nvGrpSpPr>
            <p:cNvPr id="9" name="组合 99"/>
            <p:cNvGrpSpPr/>
            <p:nvPr/>
          </p:nvGrpSpPr>
          <p:grpSpPr>
            <a:xfrm>
              <a:off x="7228648" y="2406177"/>
              <a:ext cx="787394" cy="437078"/>
              <a:chOff x="7170660" y="2978475"/>
              <a:chExt cx="649222" cy="437078"/>
            </a:xfrm>
          </p:grpSpPr>
          <p:sp>
            <p:nvSpPr>
              <p:cNvPr id="102" name="矩形 101"/>
              <p:cNvSpPr/>
              <p:nvPr/>
            </p:nvSpPr>
            <p:spPr>
              <a:xfrm>
                <a:off x="7170660" y="3046221"/>
                <a:ext cx="649222"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0</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103" name="直接连接符 102"/>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4" name="直接连接符 103"/>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5" name="直接箭头连接符 104"/>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12" name="组合 117"/>
            <p:cNvGrpSpPr/>
            <p:nvPr/>
          </p:nvGrpSpPr>
          <p:grpSpPr>
            <a:xfrm>
              <a:off x="7813606" y="2366674"/>
              <a:ext cx="784800" cy="1044680"/>
              <a:chOff x="7813606" y="2366674"/>
              <a:chExt cx="784800" cy="1044680"/>
            </a:xfrm>
          </p:grpSpPr>
          <p:cxnSp>
            <p:nvCxnSpPr>
              <p:cNvPr id="114" name="直接连接符 113"/>
              <p:cNvCxnSpPr/>
              <p:nvPr/>
            </p:nvCxnSpPr>
            <p:spPr bwMode="auto">
              <a:xfrm rot="5400000" flipH="1" flipV="1">
                <a:off x="7879626" y="2688145"/>
                <a:ext cx="643736" cy="794"/>
              </a:xfrm>
              <a:prstGeom prst="line">
                <a:avLst/>
              </a:prstGeom>
              <a:solidFill>
                <a:schemeClr val="accent1"/>
              </a:solidFill>
              <a:ln w="19050" cap="flat" cmpd="sng" algn="ctr">
                <a:solidFill>
                  <a:srgbClr val="00B050"/>
                </a:solidFill>
                <a:prstDash val="solid"/>
                <a:round/>
                <a:headEnd type="none" w="med" len="med"/>
                <a:tailEnd type="none" w="med" len="med"/>
              </a:ln>
              <a:effectLst/>
            </p:spPr>
          </p:cxnSp>
          <p:sp>
            <p:nvSpPr>
              <p:cNvPr id="116" name="弧形 115"/>
              <p:cNvSpPr/>
              <p:nvPr/>
            </p:nvSpPr>
            <p:spPr bwMode="auto">
              <a:xfrm flipH="1">
                <a:off x="7813606" y="2625536"/>
                <a:ext cx="784800" cy="785818"/>
              </a:xfrm>
              <a:prstGeom prst="arc">
                <a:avLst>
                  <a:gd name="adj1" fmla="val 16200000"/>
                  <a:gd name="adj2" fmla="val 17588693"/>
                </a:avLst>
              </a:prstGeom>
              <a:noFill/>
              <a:ln w="1905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17" name="TextBox 116"/>
              <p:cNvSpPr txBox="1"/>
              <p:nvPr/>
            </p:nvSpPr>
            <p:spPr>
              <a:xfrm>
                <a:off x="8215338" y="2428868"/>
                <a:ext cx="304892" cy="369332"/>
              </a:xfrm>
              <a:prstGeom prst="rect">
                <a:avLst/>
              </a:prstGeom>
              <a:noFill/>
              <a:ln w="28575">
                <a:noFill/>
              </a:ln>
            </p:spPr>
            <p:txBody>
              <a:bodyPr wrap="none" rtlCol="0">
                <a:spAutoFit/>
              </a:bodyPr>
              <a:lstStyle/>
              <a:p>
                <a:r>
                  <a:rPr lang="el-GR" altLang="zh-CN" b="1" i="1">
                    <a:solidFill>
                      <a:srgbClr val="00B050"/>
                    </a:solidFill>
                    <a:latin typeface="Times New Roman" pitchFamily="18" charset="0"/>
                    <a:cs typeface="Times New Roman" pitchFamily="18" charset="0"/>
                  </a:rPr>
                  <a:t>θ</a:t>
                </a:r>
                <a:endParaRPr lang="zh-CN" altLang="en-US" b="1" i="1">
                  <a:solidFill>
                    <a:srgbClr val="00B050"/>
                  </a:solidFill>
                  <a:latin typeface="Times New Roman" pitchFamily="18" charset="0"/>
                  <a:cs typeface="Times New Roman" pitchFamily="18" charset="0"/>
                </a:endParaRPr>
              </a:p>
            </p:txBody>
          </p:sp>
        </p:grpSp>
      </p:grpSp>
      <p:grpSp>
        <p:nvGrpSpPr>
          <p:cNvPr id="73" name="组合 72"/>
          <p:cNvGrpSpPr/>
          <p:nvPr/>
        </p:nvGrpSpPr>
        <p:grpSpPr>
          <a:xfrm>
            <a:off x="1216919" y="3110211"/>
            <a:ext cx="8082184" cy="1006701"/>
            <a:chOff x="1201929" y="5189205"/>
            <a:chExt cx="8082184" cy="1006701"/>
          </a:xfrm>
        </p:grpSpPr>
        <p:sp>
          <p:nvSpPr>
            <p:cNvPr id="119" name="Rectangle 6"/>
            <p:cNvSpPr>
              <a:spLocks noChangeArrowheads="1"/>
            </p:cNvSpPr>
            <p:nvPr/>
          </p:nvSpPr>
          <p:spPr bwMode="auto">
            <a:xfrm>
              <a:off x="1201929" y="5189205"/>
              <a:ext cx="7513475" cy="461665"/>
            </a:xfrm>
            <a:prstGeom prst="rect">
              <a:avLst/>
            </a:prstGeom>
            <a:noFill/>
            <a:ln w="9525">
              <a:noFill/>
              <a:miter lim="800000"/>
              <a:headEnd/>
              <a:tailEnd/>
            </a:ln>
          </p:spPr>
          <p:txBody>
            <a:bodyPr wrap="square">
              <a:spAutoFit/>
            </a:bodyPr>
            <a:lstStyle/>
            <a:p>
              <a:pPr fontAlgn="base">
                <a:lnSpc>
                  <a:spcPct val="120000"/>
                </a:lnSpc>
                <a:spcAft>
                  <a:spcPct val="0"/>
                </a:spcAft>
              </a:pPr>
              <a:r>
                <a:rPr kumimoji="1" lang="zh-CN" altLang="en-US" sz="2000" b="1">
                  <a:solidFill>
                    <a:srgbClr val="000000"/>
                  </a:solidFill>
                  <a:latin typeface="+mn-ea"/>
                </a:rPr>
                <a:t>⑶ 截面的转角 </a:t>
              </a:r>
              <a:r>
                <a:rPr kumimoji="1" lang="en-US" altLang="zh-CN" sz="2000" b="1">
                  <a:solidFill>
                    <a:srgbClr val="000000"/>
                  </a:solidFill>
                  <a:latin typeface="Times New Roman" pitchFamily="18" charset="0"/>
                  <a:cs typeface="Times New Roman" pitchFamily="18" charset="0"/>
                </a:rPr>
                <a:t>d</a:t>
              </a:r>
              <a:r>
                <a:rPr kumimoji="1" lang="el-GR" altLang="zh-CN" sz="2000" b="1" i="1">
                  <a:solidFill>
                    <a:srgbClr val="000000"/>
                  </a:solidFill>
                  <a:latin typeface="Times New Roman" pitchFamily="18" charset="0"/>
                  <a:cs typeface="Times New Roman" pitchFamily="18" charset="0"/>
                </a:rPr>
                <a:t>θ</a:t>
              </a:r>
              <a:endParaRPr kumimoji="1" lang="en-US" altLang="zh-CN" sz="2000" b="1">
                <a:solidFill>
                  <a:srgbClr val="000000"/>
                </a:solidFill>
                <a:latin typeface="+mn-ea"/>
              </a:endParaRPr>
            </a:p>
          </p:txBody>
        </p:sp>
        <p:grpSp>
          <p:nvGrpSpPr>
            <p:cNvPr id="13" name="组合 122"/>
            <p:cNvGrpSpPr/>
            <p:nvPr/>
          </p:nvGrpSpPr>
          <p:grpSpPr>
            <a:xfrm>
              <a:off x="2229536" y="5611131"/>
              <a:ext cx="7054577" cy="584775"/>
              <a:chOff x="2229536" y="5788173"/>
              <a:chExt cx="7054577" cy="584775"/>
            </a:xfrm>
          </p:grpSpPr>
          <p:sp>
            <p:nvSpPr>
              <p:cNvPr id="120" name="矩形 119"/>
              <p:cNvSpPr/>
              <p:nvPr/>
            </p:nvSpPr>
            <p:spPr>
              <a:xfrm>
                <a:off x="2229536" y="5827912"/>
                <a:ext cx="7054577" cy="400110"/>
              </a:xfrm>
              <a:prstGeom prst="rect">
                <a:avLst/>
              </a:prstGeom>
            </p:spPr>
            <p:txBody>
              <a:bodyPr wrap="square">
                <a:spAutoFit/>
              </a:bodyPr>
              <a:lstStyle/>
              <a:p>
                <a:r>
                  <a:rPr lang="en-US" altLang="zh-CN" sz="2000" b="1">
                    <a:solidFill>
                      <a:srgbClr val="000000"/>
                    </a:solidFill>
                    <a:latin typeface="Times New Roman" pitchFamily="18" charset="0"/>
                    <a:cs typeface="Times New Roman" pitchFamily="18" charset="0"/>
                  </a:rPr>
                  <a:t>d</a:t>
                </a:r>
                <a:r>
                  <a:rPr kumimoji="1" lang="el-GR" altLang="zh-CN" sz="2000" b="1" i="1">
                    <a:solidFill>
                      <a:srgbClr val="000000"/>
                    </a:solidFill>
                    <a:latin typeface="Times New Roman" pitchFamily="18" charset="0"/>
                    <a:cs typeface="Times New Roman" pitchFamily="18" charset="0"/>
                  </a:rPr>
                  <a:t>θ</a:t>
                </a:r>
                <a:r>
                  <a:rPr kumimoji="1" lang="en-US" altLang="zh-CN" sz="2000" b="1" i="1">
                    <a:solidFill>
                      <a:srgbClr val="000000"/>
                    </a:solidFill>
                    <a:latin typeface="Times New Roman" pitchFamily="18" charset="0"/>
                    <a:cs typeface="Times New Roman" pitchFamily="18" charset="0"/>
                  </a:rPr>
                  <a:t> </a:t>
                </a:r>
                <a:r>
                  <a:rPr lang="en-US" altLang="zh-CN" b="1">
                    <a:solidFill>
                      <a:srgbClr val="000000"/>
                    </a:solidFill>
                    <a:latin typeface="Times New Roman" pitchFamily="18" charset="0"/>
                    <a:cs typeface="Times New Roman" pitchFamily="18" charset="0"/>
                  </a:rPr>
                  <a:t>= — </a:t>
                </a:r>
                <a:r>
                  <a:rPr lang="el-GR" altLang="zh-CN" sz="2000" b="1" i="1">
                    <a:latin typeface="Times New Roman"/>
                    <a:cs typeface="Times New Roman"/>
                  </a:rPr>
                  <a:t>α</a:t>
                </a:r>
                <a:r>
                  <a:rPr lang="el-GR" altLang="zh-CN" sz="2000" b="1" i="1">
                    <a:solidFill>
                      <a:srgbClr val="000000"/>
                    </a:solidFill>
                    <a:latin typeface="Times New Roman" pitchFamily="18" charset="0"/>
                    <a:cs typeface="Times New Roman" pitchFamily="18" charset="0"/>
                  </a:rPr>
                  <a:t>Δ</a:t>
                </a:r>
                <a:r>
                  <a:rPr lang="en-US" altLang="zh-CN" sz="2000" b="1" i="1">
                    <a:solidFill>
                      <a:srgbClr val="000000"/>
                    </a:solidFill>
                    <a:latin typeface="Times New Roman" pitchFamily="18" charset="0"/>
                    <a:cs typeface="Times New Roman" pitchFamily="18" charset="0"/>
                  </a:rPr>
                  <a:t>t</a:t>
                </a:r>
                <a:r>
                  <a:rPr lang="en-US" altLang="zh-CN" sz="2000" b="1">
                    <a:latin typeface="Times New Roman" pitchFamily="18" charset="0"/>
                    <a:cs typeface="Times New Roman" pitchFamily="18" charset="0"/>
                  </a:rPr>
                  <a:t>d</a:t>
                </a:r>
                <a:r>
                  <a:rPr lang="en-US" altLang="zh-CN" sz="2000" b="1" i="1">
                    <a:latin typeface="Times New Roman" pitchFamily="18" charset="0"/>
                    <a:cs typeface="Times New Roman" pitchFamily="18" charset="0"/>
                  </a:rPr>
                  <a:t>s</a:t>
                </a:r>
                <a:endParaRPr lang="zh-CN" altLang="en-US" sz="2000">
                  <a:latin typeface="+mn-ea"/>
                </a:endParaRPr>
              </a:p>
            </p:txBody>
          </p:sp>
          <p:sp>
            <p:nvSpPr>
              <p:cNvPr id="121" name="矩形 120"/>
              <p:cNvSpPr/>
              <p:nvPr/>
            </p:nvSpPr>
            <p:spPr>
              <a:xfrm>
                <a:off x="2797100" y="5788173"/>
                <a:ext cx="447558" cy="584775"/>
              </a:xfrm>
              <a:prstGeom prst="rect">
                <a:avLst/>
              </a:prstGeom>
            </p:spPr>
            <p:txBody>
              <a:bodyPr wrap="square">
                <a:spAutoFit/>
              </a:bodyPr>
              <a:lstStyle/>
              <a:p>
                <a:pPr>
                  <a:lnSpc>
                    <a:spcPct val="80000"/>
                  </a:lnSpc>
                </a:pPr>
                <a:r>
                  <a:rPr lang="en-US" altLang="zh-CN" sz="2000" b="1">
                    <a:latin typeface="Times New Roman" pitchFamily="18" charset="0"/>
                    <a:cs typeface="Times New Roman" pitchFamily="18" charset="0"/>
                  </a:rPr>
                  <a:t>1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grpSp>
      </p:grpSp>
      <p:sp>
        <p:nvSpPr>
          <p:cNvPr id="75" name="矩形 74"/>
          <p:cNvSpPr/>
          <p:nvPr/>
        </p:nvSpPr>
        <p:spPr>
          <a:xfrm>
            <a:off x="1214414" y="4056952"/>
            <a:ext cx="7286676" cy="461665"/>
          </a:xfrm>
          <a:prstGeom prst="rect">
            <a:avLst/>
          </a:prstGeom>
        </p:spPr>
        <p:txBody>
          <a:bodyPr wrap="square">
            <a:spAutoFit/>
          </a:bodyPr>
          <a:lstStyle/>
          <a:p>
            <a:pPr lvl="0" fontAlgn="base">
              <a:lnSpc>
                <a:spcPct val="120000"/>
              </a:lnSpc>
              <a:spcAft>
                <a:spcPct val="0"/>
              </a:spcAft>
            </a:pPr>
            <a:r>
              <a:rPr kumimoji="1" lang="zh-CN" altLang="en-US" sz="2000" b="1">
                <a:solidFill>
                  <a:srgbClr val="000000"/>
                </a:solidFill>
                <a:latin typeface="华文细黑"/>
              </a:rPr>
              <a:t>⑷ 轴向伸长应变 </a:t>
            </a:r>
            <a:r>
              <a:rPr kumimoji="1" lang="el-GR" altLang="zh-CN" sz="2000" b="1" i="1">
                <a:solidFill>
                  <a:srgbClr val="000000"/>
                </a:solidFill>
                <a:latin typeface="Times New Roman"/>
                <a:cs typeface="Times New Roman"/>
              </a:rPr>
              <a:t>ε</a:t>
            </a:r>
            <a:r>
              <a:rPr kumimoji="1" lang="en-US" altLang="zh-CN" sz="2000" b="1" baseline="-25000">
                <a:solidFill>
                  <a:srgbClr val="000000"/>
                </a:solidFill>
                <a:latin typeface="Times New Roman"/>
                <a:cs typeface="Times New Roman"/>
              </a:rPr>
              <a:t>0 </a:t>
            </a:r>
            <a:r>
              <a:rPr kumimoji="1" lang="zh-CN" altLang="en-US" sz="2000" b="1">
                <a:solidFill>
                  <a:srgbClr val="000000"/>
                </a:solidFill>
                <a:latin typeface="华文细黑"/>
              </a:rPr>
              <a:t>和曲率 </a:t>
            </a:r>
            <a:r>
              <a:rPr kumimoji="1" lang="el-GR" altLang="zh-CN" sz="2000" b="1" i="1">
                <a:solidFill>
                  <a:srgbClr val="000000"/>
                </a:solidFill>
                <a:latin typeface="Times New Roman"/>
                <a:cs typeface="Times New Roman"/>
              </a:rPr>
              <a:t>κ</a:t>
            </a:r>
            <a:r>
              <a:rPr kumimoji="1" lang="zh-CN" altLang="en-US" sz="2000" b="1">
                <a:solidFill>
                  <a:srgbClr val="000000"/>
                </a:solidFill>
                <a:latin typeface="华文细黑"/>
              </a:rPr>
              <a:t>  </a:t>
            </a:r>
            <a:endParaRPr kumimoji="1" lang="en-US" altLang="zh-CN" sz="2000" b="1">
              <a:solidFill>
                <a:srgbClr val="000000"/>
              </a:solidFill>
              <a:latin typeface="华文细黑"/>
            </a:endParaRPr>
          </a:p>
        </p:txBody>
      </p:sp>
      <p:grpSp>
        <p:nvGrpSpPr>
          <p:cNvPr id="82" name="组合 81"/>
          <p:cNvGrpSpPr/>
          <p:nvPr/>
        </p:nvGrpSpPr>
        <p:grpSpPr>
          <a:xfrm>
            <a:off x="2214546" y="4415861"/>
            <a:ext cx="4134465" cy="584775"/>
            <a:chOff x="2214546" y="4601988"/>
            <a:chExt cx="4134465" cy="584775"/>
          </a:xfrm>
        </p:grpSpPr>
        <p:sp>
          <p:nvSpPr>
            <p:cNvPr id="78" name="TextBox 77"/>
            <p:cNvSpPr txBox="1"/>
            <p:nvPr/>
          </p:nvSpPr>
          <p:spPr>
            <a:xfrm>
              <a:off x="2214546" y="4643446"/>
              <a:ext cx="4134465" cy="400110"/>
            </a:xfrm>
            <a:prstGeom prst="rect">
              <a:avLst/>
            </a:prstGeom>
            <a:noFill/>
            <a:ln w="28575">
              <a:noFill/>
            </a:ln>
          </p:spPr>
          <p:txBody>
            <a:bodyPr wrap="none" rtlCol="0">
              <a:spAutoFit/>
            </a:bodyPr>
            <a:lstStyle/>
            <a:p>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 d</a:t>
              </a:r>
              <a:r>
                <a:rPr lang="en-US" altLang="zh-CN" sz="2000" b="1" i="1">
                  <a:latin typeface="Times New Roman" pitchFamily="18" charset="0"/>
                  <a:cs typeface="Times New Roman" pitchFamily="18" charset="0"/>
                </a:rPr>
                <a:t>u</a:t>
              </a:r>
              <a:r>
                <a:rPr lang="en-US" altLang="zh-CN" sz="2000" b="1" baseline="-25000">
                  <a:latin typeface="Times New Roman" pitchFamily="18" charset="0"/>
                  <a:cs typeface="Times New Roman" pitchFamily="18" charset="0"/>
                </a:rPr>
                <a:t>0</a:t>
              </a:r>
              <a:r>
                <a:rPr lang="en-US" altLang="zh-CN" sz="2000" b="1">
                  <a:latin typeface="Times New Roman" pitchFamily="18" charset="0"/>
                  <a:cs typeface="Times New Roman" pitchFamily="18" charset="0"/>
                </a:rPr>
                <a:t>/</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s</a:t>
              </a:r>
              <a:r>
                <a:rPr lang="zh-CN" altLang="en-US" sz="2000" baseline="-25000"/>
                <a:t> </a:t>
              </a:r>
              <a:r>
                <a:rPr lang="en-US" altLang="zh-CN" sz="2000" b="1">
                  <a:latin typeface="Times New Roman" pitchFamily="18" charset="0"/>
                  <a:cs typeface="Times New Roman" pitchFamily="18" charset="0"/>
                </a:rPr>
                <a:t>= </a:t>
              </a:r>
              <a:r>
                <a:rPr lang="el-GR" altLang="zh-CN" sz="2000" b="1" i="1">
                  <a:solidFill>
                    <a:srgbClr val="000000"/>
                  </a:solidFill>
                  <a:latin typeface="Times New Roman" pitchFamily="18" charset="0"/>
                  <a:cs typeface="Times New Roman" pitchFamily="18" charset="0"/>
                </a:rPr>
                <a:t>α</a:t>
              </a:r>
              <a:r>
                <a:rPr lang="en-US" altLang="zh-CN" sz="2000" b="1" i="1">
                  <a:solidFill>
                    <a:srgbClr val="000000"/>
                  </a:solidFill>
                  <a:latin typeface="Times New Roman" pitchFamily="18" charset="0"/>
                  <a:cs typeface="Times New Roman" pitchFamily="18" charset="0"/>
                </a:rPr>
                <a:t>t</a:t>
              </a:r>
              <a:r>
                <a:rPr lang="en-US" altLang="zh-CN" sz="2000" b="1" baseline="-25000">
                  <a:solidFill>
                    <a:srgbClr val="000000"/>
                  </a:solidFill>
                  <a:latin typeface="Times New Roman" pitchFamily="18" charset="0"/>
                  <a:cs typeface="Times New Roman" pitchFamily="18" charset="0"/>
                </a:rPr>
                <a:t>0</a:t>
              </a:r>
              <a:r>
                <a:rPr lang="zh-CN" altLang="en-US" sz="2000" b="1">
                  <a:solidFill>
                    <a:srgbClr val="000000"/>
                  </a:solidFill>
                  <a:latin typeface="Times New Roman" pitchFamily="18" charset="0"/>
                  <a:cs typeface="Times New Roman" pitchFamily="18" charset="0"/>
                </a:rPr>
                <a:t>，</a:t>
              </a:r>
              <a:r>
                <a:rPr kumimoji="1" lang="el-GR" altLang="zh-CN" sz="2000" b="1" i="1">
                  <a:solidFill>
                    <a:srgbClr val="000000"/>
                  </a:solidFill>
                  <a:latin typeface="Times New Roman"/>
                  <a:cs typeface="Times New Roman"/>
                </a:rPr>
                <a:t> κ</a:t>
              </a:r>
              <a:r>
                <a:rPr kumimoji="1" lang="en-US" altLang="zh-CN" sz="2000" b="1" baseline="-25000">
                  <a:solidFill>
                    <a:srgbClr val="000000"/>
                  </a:solidFill>
                  <a:latin typeface="Times New Roman"/>
                  <a:cs typeface="Times New Roman"/>
                </a:rPr>
                <a:t> </a:t>
              </a:r>
              <a:r>
                <a:rPr kumimoji="1" lang="en-US" altLang="zh-CN" sz="2000" b="1">
                  <a:solidFill>
                    <a:srgbClr val="000000"/>
                  </a:solidFill>
                  <a:latin typeface="Times New Roman"/>
                  <a:cs typeface="Times New Roman"/>
                </a:rPr>
                <a:t>= </a:t>
              </a:r>
              <a:r>
                <a:rPr lang="en-US" altLang="zh-CN" sz="2000" b="1">
                  <a:latin typeface="Times New Roman" pitchFamily="18" charset="0"/>
                  <a:cs typeface="Times New Roman" pitchFamily="18" charset="0"/>
                </a:rPr>
                <a:t>d</a:t>
              </a:r>
              <a:r>
                <a:rPr kumimoji="1" lang="el-GR" altLang="zh-CN" sz="2000" b="1" i="1">
                  <a:solidFill>
                    <a:srgbClr val="000000"/>
                  </a:solidFill>
                  <a:latin typeface="Times New Roman" pitchFamily="18" charset="0"/>
                  <a:cs typeface="Times New Roman" pitchFamily="18" charset="0"/>
                </a:rPr>
                <a:t>θ</a:t>
              </a:r>
              <a:r>
                <a:rPr lang="en-US" altLang="zh-CN" sz="2000" b="1">
                  <a:latin typeface="Times New Roman" pitchFamily="18" charset="0"/>
                  <a:cs typeface="Times New Roman" pitchFamily="18" charset="0"/>
                </a:rPr>
                <a:t>/</a:t>
              </a:r>
              <a:r>
                <a:rPr lang="en-US" altLang="zh-CN" sz="2000" b="1">
                  <a:solidFill>
                    <a:srgbClr val="000000"/>
                  </a:solidFill>
                  <a:latin typeface="Times New Roman" pitchFamily="18" charset="0"/>
                  <a:cs typeface="Times New Roman" pitchFamily="18" charset="0"/>
                </a:rPr>
                <a:t>d</a:t>
              </a:r>
              <a:r>
                <a:rPr lang="en-US" altLang="zh-CN" sz="2000" b="1" i="1">
                  <a:solidFill>
                    <a:srgbClr val="000000"/>
                  </a:solidFill>
                  <a:latin typeface="Times New Roman" pitchFamily="18" charset="0"/>
                  <a:cs typeface="Times New Roman" pitchFamily="18" charset="0"/>
                </a:rPr>
                <a:t>s</a:t>
              </a:r>
              <a:r>
                <a:rPr kumimoji="1" lang="en-US" altLang="zh-CN" sz="2000" b="1" baseline="-25000">
                  <a:solidFill>
                    <a:srgbClr val="000000"/>
                  </a:solidFill>
                  <a:latin typeface="Times New Roman"/>
                  <a:cs typeface="Times New Roman"/>
                </a:rPr>
                <a:t> </a:t>
              </a:r>
              <a:r>
                <a:rPr kumimoji="1" lang="en-US" altLang="zh-CN" sz="2000" b="1">
                  <a:solidFill>
                    <a:srgbClr val="000000"/>
                  </a:solidFill>
                  <a:latin typeface="Times New Roman"/>
                  <a:cs typeface="Times New Roman"/>
                </a:rPr>
                <a:t>= </a:t>
              </a:r>
              <a:r>
                <a:rPr lang="en-US" altLang="zh-CN" sz="2000" b="1">
                  <a:solidFill>
                    <a:srgbClr val="000000"/>
                  </a:solidFill>
                  <a:latin typeface="Times New Roman" pitchFamily="18" charset="0"/>
                  <a:cs typeface="Times New Roman" pitchFamily="18" charset="0"/>
                </a:rPr>
                <a:t>— </a:t>
              </a:r>
              <a:r>
                <a:rPr lang="el-GR" altLang="zh-CN" sz="2000" b="1" i="1">
                  <a:latin typeface="Times New Roman"/>
                  <a:cs typeface="Times New Roman"/>
                </a:rPr>
                <a:t>α</a:t>
              </a:r>
              <a:r>
                <a:rPr lang="el-GR" altLang="zh-CN" sz="2000" b="1" i="1">
                  <a:solidFill>
                    <a:srgbClr val="000000"/>
                  </a:solidFill>
                  <a:latin typeface="Times New Roman" pitchFamily="18" charset="0"/>
                  <a:cs typeface="Times New Roman" pitchFamily="18" charset="0"/>
                </a:rPr>
                <a:t>Δ</a:t>
              </a:r>
              <a:r>
                <a:rPr lang="en-US" altLang="zh-CN" sz="2000" b="1" i="1">
                  <a:solidFill>
                    <a:srgbClr val="000000"/>
                  </a:solidFill>
                  <a:latin typeface="Times New Roman" pitchFamily="18" charset="0"/>
                  <a:cs typeface="Times New Roman" pitchFamily="18" charset="0"/>
                </a:rPr>
                <a:t>t</a:t>
              </a:r>
              <a:r>
                <a:rPr lang="zh-CN" altLang="en-US" sz="2000" b="1">
                  <a:solidFill>
                    <a:srgbClr val="000000"/>
                  </a:solidFill>
                  <a:latin typeface="Times New Roman" pitchFamily="18" charset="0"/>
                  <a:cs typeface="Times New Roman" pitchFamily="18" charset="0"/>
                </a:rPr>
                <a:t> </a:t>
              </a:r>
              <a:endParaRPr lang="zh-CN" altLang="en-US" sz="2000" b="1" baseline="-25000">
                <a:latin typeface="Times New Roman" pitchFamily="18" charset="0"/>
                <a:cs typeface="Times New Roman" pitchFamily="18" charset="0"/>
              </a:endParaRPr>
            </a:p>
          </p:txBody>
        </p:sp>
        <p:sp>
          <p:nvSpPr>
            <p:cNvPr id="81" name="矩形 80"/>
            <p:cNvSpPr/>
            <p:nvPr/>
          </p:nvSpPr>
          <p:spPr>
            <a:xfrm>
              <a:off x="5425316" y="4601988"/>
              <a:ext cx="447558" cy="584775"/>
            </a:xfrm>
            <a:prstGeom prst="rect">
              <a:avLst/>
            </a:prstGeom>
          </p:spPr>
          <p:txBody>
            <a:bodyPr wrap="square">
              <a:spAutoFit/>
            </a:bodyPr>
            <a:lstStyle/>
            <a:p>
              <a:pPr>
                <a:lnSpc>
                  <a:spcPct val="80000"/>
                </a:lnSpc>
              </a:pPr>
              <a:r>
                <a:rPr lang="en-US" altLang="zh-CN" sz="2000" b="1">
                  <a:latin typeface="Times New Roman" pitchFamily="18" charset="0"/>
                  <a:cs typeface="Times New Roman" pitchFamily="18" charset="0"/>
                </a:rPr>
                <a:t>1 </a:t>
              </a:r>
            </a:p>
            <a:p>
              <a:pPr>
                <a:lnSpc>
                  <a:spcPct val="80000"/>
                </a:lnSpc>
              </a:pPr>
              <a:r>
                <a:rPr lang="en-US" altLang="zh-CN" sz="2000" b="1" i="1">
                  <a:latin typeface="Times New Roman" pitchFamily="18" charset="0"/>
                  <a:cs typeface="Times New Roman" pitchFamily="18" charset="0"/>
                </a:rPr>
                <a:t>h</a:t>
              </a:r>
              <a:endParaRPr lang="en-US" altLang="zh-CN" sz="2000" b="1" baseline="-25000">
                <a:latin typeface="Times New Roman" pitchFamily="18" charset="0"/>
                <a:cs typeface="Times New Roman" pitchFamily="18" charset="0"/>
              </a:endParaRPr>
            </a:p>
          </p:txBody>
        </p:sp>
      </p:grpSp>
      <p:sp>
        <p:nvSpPr>
          <p:cNvPr id="85" name="Rectangle 6"/>
          <p:cNvSpPr>
            <a:spLocks noChangeArrowheads="1"/>
          </p:cNvSpPr>
          <p:nvPr/>
        </p:nvSpPr>
        <p:spPr bwMode="auto">
          <a:xfrm>
            <a:off x="469540" y="4857760"/>
            <a:ext cx="4888278" cy="427746"/>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位移计算公式</a:t>
            </a:r>
          </a:p>
        </p:txBody>
      </p:sp>
      <p:graphicFrame>
        <p:nvGraphicFramePr>
          <p:cNvPr id="575490" name="Object 3"/>
          <p:cNvGraphicFramePr>
            <a:graphicFrameLocks noChangeAspect="1"/>
          </p:cNvGraphicFramePr>
          <p:nvPr/>
        </p:nvGraphicFramePr>
        <p:xfrm>
          <a:off x="2244526" y="5184272"/>
          <a:ext cx="3286125" cy="628650"/>
        </p:xfrm>
        <a:graphic>
          <a:graphicData uri="http://schemas.openxmlformats.org/presentationml/2006/ole">
            <mc:AlternateContent xmlns:mc="http://schemas.openxmlformats.org/markup-compatibility/2006">
              <mc:Choice xmlns:v="urn:schemas-microsoft-com:vml" Requires="v">
                <p:oleObj spid="_x0000_s575492" name="Equation" r:id="rId4" imgW="2057400" imgH="393480" progId="Equation.DSMT4">
                  <p:embed/>
                </p:oleObj>
              </mc:Choice>
              <mc:Fallback>
                <p:oleObj name="Equation" r:id="rId4" imgW="205740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4526" y="5184272"/>
                        <a:ext cx="32861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 name="TextBox 87"/>
          <p:cNvSpPr txBox="1"/>
          <p:nvPr/>
        </p:nvSpPr>
        <p:spPr>
          <a:xfrm>
            <a:off x="6072198" y="5286388"/>
            <a:ext cx="2143140" cy="428628"/>
          </a:xfrm>
          <a:prstGeom prst="rect">
            <a:avLst/>
          </a:prstGeom>
          <a:noFill/>
          <a:ln w="28575">
            <a:solidFill>
              <a:srgbClr val="C00000"/>
            </a:solidFill>
          </a:ln>
        </p:spPr>
        <p:txBody>
          <a:bodyPr wrap="square" rtlCol="0">
            <a:noAutofit/>
          </a:bodyPr>
          <a:lstStyle/>
          <a:p>
            <a:pPr algn="ctr">
              <a:spcBef>
                <a:spcPts val="600"/>
              </a:spcBef>
            </a:pPr>
            <a:r>
              <a:rPr lang="zh-CN" altLang="en-US" b="1">
                <a:solidFill>
                  <a:srgbClr val="C00000"/>
                </a:solidFill>
              </a:rPr>
              <a:t>忽略了剪切变形</a:t>
            </a:r>
            <a:endParaRPr lang="en-US" altLang="zh-CN" b="1">
              <a:solidFill>
                <a:srgbClr val="C00000"/>
              </a:solidFill>
            </a:endParaRPr>
          </a:p>
        </p:txBody>
      </p:sp>
      <p:grpSp>
        <p:nvGrpSpPr>
          <p:cNvPr id="99" name="组合 98"/>
          <p:cNvGrpSpPr/>
          <p:nvPr/>
        </p:nvGrpSpPr>
        <p:grpSpPr>
          <a:xfrm>
            <a:off x="1571604" y="5801444"/>
            <a:ext cx="3970342" cy="628650"/>
            <a:chOff x="1571604" y="5801444"/>
            <a:chExt cx="3970342" cy="628650"/>
          </a:xfrm>
        </p:grpSpPr>
        <p:graphicFrame>
          <p:nvGraphicFramePr>
            <p:cNvPr id="575491" name="Object 3"/>
            <p:cNvGraphicFramePr>
              <a:graphicFrameLocks noChangeAspect="1"/>
            </p:cNvGraphicFramePr>
            <p:nvPr/>
          </p:nvGraphicFramePr>
          <p:xfrm>
            <a:off x="2214546" y="5801444"/>
            <a:ext cx="3327400" cy="628650"/>
          </p:xfrm>
          <a:graphic>
            <a:graphicData uri="http://schemas.openxmlformats.org/presentationml/2006/ole">
              <mc:AlternateContent xmlns:mc="http://schemas.openxmlformats.org/markup-compatibility/2006">
                <mc:Choice xmlns:v="urn:schemas-microsoft-com:vml" Requires="v">
                  <p:oleObj spid="_x0000_s575493" name="Equation" r:id="rId6" imgW="2070000" imgH="393480" progId="Equation.DSMT4">
                    <p:embed/>
                  </p:oleObj>
                </mc:Choice>
                <mc:Fallback>
                  <p:oleObj name="Equation" r:id="rId6" imgW="2070000" imgH="39348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4546" y="5801444"/>
                          <a:ext cx="33274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 name="右箭头 96"/>
            <p:cNvSpPr/>
            <p:nvPr/>
          </p:nvSpPr>
          <p:spPr bwMode="auto">
            <a:xfrm>
              <a:off x="1571604" y="6000768"/>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00" name="TextBox 99"/>
          <p:cNvSpPr txBox="1"/>
          <p:nvPr/>
        </p:nvSpPr>
        <p:spPr>
          <a:xfrm>
            <a:off x="6072198" y="5929330"/>
            <a:ext cx="2143140" cy="428628"/>
          </a:xfrm>
          <a:prstGeom prst="rect">
            <a:avLst/>
          </a:prstGeom>
          <a:noFill/>
          <a:ln w="28575">
            <a:solidFill>
              <a:srgbClr val="C00000"/>
            </a:solidFill>
          </a:ln>
        </p:spPr>
        <p:txBody>
          <a:bodyPr wrap="square" rtlCol="0">
            <a:noAutofit/>
          </a:bodyPr>
          <a:lstStyle/>
          <a:p>
            <a:pPr algn="ctr">
              <a:spcBef>
                <a:spcPts val="600"/>
              </a:spcBef>
            </a:pPr>
            <a:r>
              <a:rPr lang="en-US" altLang="zh-CN" b="1" i="1">
                <a:solidFill>
                  <a:srgbClr val="C00000"/>
                </a:solidFill>
                <a:latin typeface="Times New Roman" pitchFamily="18" charset="0"/>
                <a:cs typeface="Times New Roman" pitchFamily="18" charset="0"/>
              </a:rPr>
              <a:t>t</a:t>
            </a:r>
            <a:r>
              <a:rPr lang="en-US" altLang="zh-CN" b="1" baseline="-25000">
                <a:solidFill>
                  <a:srgbClr val="C00000"/>
                </a:solidFill>
              </a:rPr>
              <a:t>0</a:t>
            </a:r>
            <a:r>
              <a:rPr lang="zh-CN" altLang="en-US" b="1">
                <a:solidFill>
                  <a:srgbClr val="C00000"/>
                </a:solidFill>
              </a:rPr>
              <a:t>，</a:t>
            </a:r>
            <a:r>
              <a:rPr lang="el-GR" altLang="zh-CN" b="1" i="1">
                <a:solidFill>
                  <a:srgbClr val="C00000"/>
                </a:solidFill>
                <a:latin typeface="Times New Roman" pitchFamily="18" charset="0"/>
                <a:cs typeface="Times New Roman" pitchFamily="18" charset="0"/>
              </a:rPr>
              <a:t>Δ</a:t>
            </a:r>
            <a:r>
              <a:rPr lang="en-US" altLang="zh-CN" b="1" i="1">
                <a:solidFill>
                  <a:srgbClr val="C00000"/>
                </a:solidFill>
                <a:latin typeface="Times New Roman" pitchFamily="18" charset="0"/>
                <a:cs typeface="Times New Roman" pitchFamily="18" charset="0"/>
              </a:rPr>
              <a:t>t</a:t>
            </a:r>
            <a:r>
              <a:rPr lang="zh-CN" altLang="en-US" b="1">
                <a:solidFill>
                  <a:srgbClr val="C00000"/>
                </a:solidFill>
                <a:latin typeface="Times New Roman" pitchFamily="18" charset="0"/>
                <a:cs typeface="Times New Roman" pitchFamily="18" charset="0"/>
              </a:rPr>
              <a:t>，</a:t>
            </a:r>
            <a:r>
              <a:rPr lang="en-US" altLang="zh-CN" b="1" i="1">
                <a:solidFill>
                  <a:srgbClr val="C00000"/>
                </a:solidFill>
                <a:latin typeface="Times New Roman" pitchFamily="18" charset="0"/>
                <a:cs typeface="Times New Roman" pitchFamily="18" charset="0"/>
              </a:rPr>
              <a:t>h</a:t>
            </a:r>
            <a:r>
              <a:rPr lang="zh-CN" altLang="en-US" b="1">
                <a:solidFill>
                  <a:srgbClr val="C00000"/>
                </a:solidFill>
                <a:latin typeface="Times New Roman" pitchFamily="18" charset="0"/>
                <a:cs typeface="Times New Roman" pitchFamily="18" charset="0"/>
              </a:rPr>
              <a:t>沿杆均匀</a:t>
            </a:r>
            <a:endParaRPr lang="en-US" altLang="zh-CN" b="1">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ppt_x"/>
                                          </p:val>
                                        </p:tav>
                                        <p:tav tm="100000">
                                          <p:val>
                                            <p:strVal val="#ppt_x"/>
                                          </p:val>
                                        </p:tav>
                                      </p:tavLst>
                                    </p:anim>
                                    <p:anim calcmode="lin" valueType="num">
                                      <p:cBhvr additive="base">
                                        <p:cTn id="8"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2"/>
                                        </p:tgtEl>
                                        <p:attrNameLst>
                                          <p:attrName>style.visibility</p:attrName>
                                        </p:attrNameLst>
                                      </p:cBhvr>
                                      <p:to>
                                        <p:strVal val="visible"/>
                                      </p:to>
                                    </p:set>
                                    <p:anim calcmode="lin" valueType="num">
                                      <p:cBhvr additive="base">
                                        <p:cTn id="13" dur="500" fill="hold"/>
                                        <p:tgtEl>
                                          <p:spTgt spid="82"/>
                                        </p:tgtEl>
                                        <p:attrNameLst>
                                          <p:attrName>ppt_x</p:attrName>
                                        </p:attrNameLst>
                                      </p:cBhvr>
                                      <p:tavLst>
                                        <p:tav tm="0">
                                          <p:val>
                                            <p:strVal val="#ppt_x"/>
                                          </p:val>
                                        </p:tav>
                                        <p:tav tm="100000">
                                          <p:val>
                                            <p:strVal val="#ppt_x"/>
                                          </p:val>
                                        </p:tav>
                                      </p:tavLst>
                                    </p:anim>
                                    <p:anim calcmode="lin" valueType="num">
                                      <p:cBhvr additive="base">
                                        <p:cTn id="14"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5"/>
                                        </p:tgtEl>
                                        <p:attrNameLst>
                                          <p:attrName>style.visibility</p:attrName>
                                        </p:attrNameLst>
                                      </p:cBhvr>
                                      <p:to>
                                        <p:strVal val="visible"/>
                                      </p:to>
                                    </p:set>
                                    <p:anim calcmode="lin" valueType="num">
                                      <p:cBhvr additive="base">
                                        <p:cTn id="19" dur="500" fill="hold"/>
                                        <p:tgtEl>
                                          <p:spTgt spid="85"/>
                                        </p:tgtEl>
                                        <p:attrNameLst>
                                          <p:attrName>ppt_x</p:attrName>
                                        </p:attrNameLst>
                                      </p:cBhvr>
                                      <p:tavLst>
                                        <p:tav tm="0">
                                          <p:val>
                                            <p:strVal val="#ppt_x"/>
                                          </p:val>
                                        </p:tav>
                                        <p:tav tm="100000">
                                          <p:val>
                                            <p:strVal val="#ppt_x"/>
                                          </p:val>
                                        </p:tav>
                                      </p:tavLst>
                                    </p:anim>
                                    <p:anim calcmode="lin" valueType="num">
                                      <p:cBhvr additive="base">
                                        <p:cTn id="20"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75490"/>
                                        </p:tgtEl>
                                        <p:attrNameLst>
                                          <p:attrName>style.visibility</p:attrName>
                                        </p:attrNameLst>
                                      </p:cBhvr>
                                      <p:to>
                                        <p:strVal val="visible"/>
                                      </p:to>
                                    </p:set>
                                    <p:anim calcmode="lin" valueType="num">
                                      <p:cBhvr additive="base">
                                        <p:cTn id="25" dur="500" fill="hold"/>
                                        <p:tgtEl>
                                          <p:spTgt spid="575490"/>
                                        </p:tgtEl>
                                        <p:attrNameLst>
                                          <p:attrName>ppt_x</p:attrName>
                                        </p:attrNameLst>
                                      </p:cBhvr>
                                      <p:tavLst>
                                        <p:tav tm="0">
                                          <p:val>
                                            <p:strVal val="#ppt_x"/>
                                          </p:val>
                                        </p:tav>
                                        <p:tav tm="100000">
                                          <p:val>
                                            <p:strVal val="#ppt_x"/>
                                          </p:val>
                                        </p:tav>
                                      </p:tavLst>
                                    </p:anim>
                                    <p:anim calcmode="lin" valueType="num">
                                      <p:cBhvr additive="base">
                                        <p:cTn id="26" dur="500" fill="hold"/>
                                        <p:tgtEl>
                                          <p:spTgt spid="575490"/>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88"/>
                                        </p:tgtEl>
                                        <p:attrNameLst>
                                          <p:attrName>style.visibility</p:attrName>
                                        </p:attrNameLst>
                                      </p:cBhvr>
                                      <p:to>
                                        <p:strVal val="visible"/>
                                      </p:to>
                                    </p:set>
                                    <p:animEffect transition="in" filter="wipe(up)">
                                      <p:cBhvr>
                                        <p:cTn id="30" dur="500"/>
                                        <p:tgtEl>
                                          <p:spTgt spid="8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99"/>
                                        </p:tgtEl>
                                        <p:attrNameLst>
                                          <p:attrName>style.visibility</p:attrName>
                                        </p:attrNameLst>
                                      </p:cBhvr>
                                      <p:to>
                                        <p:strVal val="visible"/>
                                      </p:to>
                                    </p:set>
                                    <p:anim calcmode="lin" valueType="num">
                                      <p:cBhvr additive="base">
                                        <p:cTn id="35" dur="500" fill="hold"/>
                                        <p:tgtEl>
                                          <p:spTgt spid="99"/>
                                        </p:tgtEl>
                                        <p:attrNameLst>
                                          <p:attrName>ppt_x</p:attrName>
                                        </p:attrNameLst>
                                      </p:cBhvr>
                                      <p:tavLst>
                                        <p:tav tm="0">
                                          <p:val>
                                            <p:strVal val="0-#ppt_w/2"/>
                                          </p:val>
                                        </p:tav>
                                        <p:tav tm="100000">
                                          <p:val>
                                            <p:strVal val="#ppt_x"/>
                                          </p:val>
                                        </p:tav>
                                      </p:tavLst>
                                    </p:anim>
                                    <p:anim calcmode="lin" valueType="num">
                                      <p:cBhvr additive="base">
                                        <p:cTn id="36" dur="500" fill="hold"/>
                                        <p:tgtEl>
                                          <p:spTgt spid="99"/>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100"/>
                                        </p:tgtEl>
                                        <p:attrNameLst>
                                          <p:attrName>style.visibility</p:attrName>
                                        </p:attrNameLst>
                                      </p:cBhvr>
                                      <p:to>
                                        <p:strVal val="visible"/>
                                      </p:to>
                                    </p:set>
                                    <p:animEffect transition="in" filter="wipe(up)">
                                      <p:cBhvr>
                                        <p:cTn id="40"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85" grpId="0"/>
      <p:bldP spid="88" grpId="0" animBg="1"/>
      <p:bldP spid="100"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6" name="组合 75"/>
          <p:cNvGrpSpPr/>
          <p:nvPr/>
        </p:nvGrpSpPr>
        <p:grpSpPr>
          <a:xfrm>
            <a:off x="5572132" y="1643050"/>
            <a:ext cx="3026274" cy="1860286"/>
            <a:chOff x="5572132" y="1643050"/>
            <a:chExt cx="3026274" cy="1860286"/>
          </a:xfrm>
        </p:grpSpPr>
        <p:grpSp>
          <p:nvGrpSpPr>
            <p:cNvPr id="7" name="组合 71"/>
            <p:cNvGrpSpPr/>
            <p:nvPr/>
          </p:nvGrpSpPr>
          <p:grpSpPr>
            <a:xfrm>
              <a:off x="5572132" y="1790129"/>
              <a:ext cx="1685003" cy="1713207"/>
              <a:chOff x="5500694" y="1571612"/>
              <a:chExt cx="1685003" cy="1713207"/>
            </a:xfrm>
          </p:grpSpPr>
          <p:grpSp>
            <p:nvGrpSpPr>
              <p:cNvPr id="8" name="组合 66"/>
              <p:cNvGrpSpPr/>
              <p:nvPr/>
            </p:nvGrpSpPr>
            <p:grpSpPr>
              <a:xfrm>
                <a:off x="5500694" y="1571612"/>
                <a:ext cx="1680353" cy="1232096"/>
                <a:chOff x="5398159" y="1839714"/>
                <a:chExt cx="1680353" cy="1232096"/>
              </a:xfrm>
            </p:grpSpPr>
            <p:grpSp>
              <p:nvGrpSpPr>
                <p:cNvPr id="9" name="组合 36"/>
                <p:cNvGrpSpPr/>
                <p:nvPr/>
              </p:nvGrpSpPr>
              <p:grpSpPr>
                <a:xfrm>
                  <a:off x="6286512" y="2214554"/>
                  <a:ext cx="792000" cy="857256"/>
                  <a:chOff x="6286512" y="2214554"/>
                  <a:chExt cx="792000" cy="857256"/>
                </a:xfrm>
              </p:grpSpPr>
              <p:sp>
                <p:nvSpPr>
                  <p:cNvPr id="18" name="矩形 17"/>
                  <p:cNvSpPr/>
                  <p:nvPr/>
                </p:nvSpPr>
                <p:spPr bwMode="auto">
                  <a:xfrm>
                    <a:off x="6286512" y="2214554"/>
                    <a:ext cx="785818" cy="85725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cxnSp>
                <p:nvCxnSpPr>
                  <p:cNvPr id="34" name="直接连接符 33"/>
                  <p:cNvCxnSpPr/>
                  <p:nvPr/>
                </p:nvCxnSpPr>
                <p:spPr bwMode="auto">
                  <a:xfrm>
                    <a:off x="6286512" y="2540647"/>
                    <a:ext cx="792000" cy="1588"/>
                  </a:xfrm>
                  <a:prstGeom prst="line">
                    <a:avLst/>
                  </a:prstGeom>
                  <a:solidFill>
                    <a:schemeClr val="accent1"/>
                  </a:solidFill>
                  <a:ln w="19050" cap="flat" cmpd="sng" algn="ctr">
                    <a:solidFill>
                      <a:schemeClr val="tx1"/>
                    </a:solidFill>
                    <a:prstDash val="lgDash"/>
                    <a:round/>
                    <a:headEnd type="none" w="med" len="med"/>
                    <a:tailEnd type="none" w="med" len="med"/>
                  </a:ln>
                  <a:effectLst/>
                </p:spPr>
              </p:cxnSp>
            </p:grpSp>
            <p:sp>
              <p:nvSpPr>
                <p:cNvPr id="40" name="TextBox 39"/>
                <p:cNvSpPr txBox="1"/>
                <p:nvPr/>
              </p:nvSpPr>
              <p:spPr>
                <a:xfrm>
                  <a:off x="6527720" y="2696970"/>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sp>
              <p:nvSpPr>
                <p:cNvPr id="41" name="TextBox 40"/>
                <p:cNvSpPr txBox="1"/>
                <p:nvPr/>
              </p:nvSpPr>
              <p:spPr>
                <a:xfrm>
                  <a:off x="6525890" y="1839714"/>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42" name="TextBox 41"/>
                <p:cNvSpPr txBox="1"/>
                <p:nvPr/>
              </p:nvSpPr>
              <p:spPr>
                <a:xfrm>
                  <a:off x="6517858" y="2202412"/>
                  <a:ext cx="325730"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t</a:t>
                  </a:r>
                  <a:r>
                    <a:rPr lang="en-US" altLang="zh-CN" b="1" baseline="-25000">
                      <a:latin typeface="Times New Roman" pitchFamily="18" charset="0"/>
                      <a:cs typeface="Times New Roman" pitchFamily="18" charset="0"/>
                    </a:rPr>
                    <a:t>0</a:t>
                  </a:r>
                  <a:endParaRPr lang="zh-CN" altLang="en-US" b="1" baseline="-25000">
                    <a:latin typeface="Times New Roman" pitchFamily="18" charset="0"/>
                    <a:cs typeface="Times New Roman" pitchFamily="18" charset="0"/>
                  </a:endParaRPr>
                </a:p>
              </p:txBody>
            </p:sp>
            <p:cxnSp>
              <p:nvCxnSpPr>
                <p:cNvPr id="45" name="直接连接符 44"/>
                <p:cNvCxnSpPr/>
                <p:nvPr/>
              </p:nvCxnSpPr>
              <p:spPr bwMode="auto">
                <a:xfrm>
                  <a:off x="600076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45"/>
                <p:cNvCxnSpPr/>
                <p:nvPr/>
              </p:nvCxnSpPr>
              <p:spPr bwMode="auto">
                <a:xfrm>
                  <a:off x="6010004" y="2556709"/>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p:nvPr/>
              </p:nvCxnSpPr>
              <p:spPr bwMode="auto">
                <a:xfrm>
                  <a:off x="6000760" y="3056775"/>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rot="5400000">
                  <a:off x="5658198" y="2628554"/>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3" name="TextBox 52"/>
                <p:cNvSpPr txBox="1"/>
                <p:nvPr/>
              </p:nvSpPr>
              <p:spPr>
                <a:xfrm>
                  <a:off x="5768796" y="2187660"/>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54" name="TextBox 53"/>
                <p:cNvSpPr txBox="1"/>
                <p:nvPr/>
              </p:nvSpPr>
              <p:spPr>
                <a:xfrm>
                  <a:off x="5766252" y="2604146"/>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cxnSp>
              <p:nvCxnSpPr>
                <p:cNvPr id="63" name="直接连接符 62"/>
                <p:cNvCxnSpPr/>
                <p:nvPr/>
              </p:nvCxnSpPr>
              <p:spPr bwMode="auto">
                <a:xfrm>
                  <a:off x="5643570" y="3058363"/>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rot="5400000">
                  <a:off x="5300214" y="2627760"/>
                  <a:ext cx="82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a:off x="5643570" y="221455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6" name="TextBox 65"/>
                <p:cNvSpPr txBox="1"/>
                <p:nvPr/>
              </p:nvSpPr>
              <p:spPr>
                <a:xfrm>
                  <a:off x="5398159" y="2401974"/>
                  <a:ext cx="404278" cy="369332"/>
                </a:xfrm>
                <a:prstGeom prst="rect">
                  <a:avLst/>
                </a:prstGeom>
                <a:noFill/>
                <a:ln w="28575">
                  <a:noFill/>
                </a:ln>
              </p:spPr>
              <p:txBody>
                <a:bodyPr wrap="square" rtlCol="0">
                  <a:spAutoFit/>
                </a:bodyPr>
                <a:lstStyle/>
                <a:p>
                  <a:r>
                    <a:rPr lang="en-US" altLang="zh-CN" b="1" i="1">
                      <a:latin typeface="Times New Roman" pitchFamily="18" charset="0"/>
                      <a:cs typeface="Times New Roman" pitchFamily="18" charset="0"/>
                    </a:rPr>
                    <a:t>h</a:t>
                  </a:r>
                  <a:endParaRPr lang="zh-CN" altLang="en-US" b="1" baseline="-25000">
                    <a:latin typeface="Times New Roman" pitchFamily="18" charset="0"/>
                    <a:cs typeface="Times New Roman" pitchFamily="18" charset="0"/>
                  </a:endParaRPr>
                </a:p>
              </p:txBody>
            </p:sp>
          </p:grpSp>
          <p:cxnSp>
            <p:nvCxnSpPr>
              <p:cNvPr id="68" name="直接连接符 67"/>
              <p:cNvCxnSpPr/>
              <p:nvPr/>
            </p:nvCxnSpPr>
            <p:spPr bwMode="auto">
              <a:xfrm rot="10800000">
                <a:off x="6397941" y="2942381"/>
                <a:ext cx="77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rot="5400000">
                <a:off x="6316815" y="2942661"/>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rot="5400000">
                <a:off x="7113465" y="2955034"/>
                <a:ext cx="142876"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1" name="TextBox 70"/>
              <p:cNvSpPr txBox="1"/>
              <p:nvPr/>
            </p:nvSpPr>
            <p:spPr>
              <a:xfrm>
                <a:off x="6585711" y="2915487"/>
                <a:ext cx="402674" cy="369332"/>
              </a:xfrm>
              <a:prstGeom prst="rect">
                <a:avLst/>
              </a:prstGeom>
              <a:noFill/>
              <a:ln w="28575">
                <a:noFill/>
              </a:ln>
            </p:spPr>
            <p:txBody>
              <a:bodyPr wrap="none"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s</a:t>
                </a:r>
                <a:endParaRPr lang="zh-CN" altLang="en-US" b="1" baseline="-25000">
                  <a:latin typeface="Times New Roman" pitchFamily="18" charset="0"/>
                  <a:cs typeface="Times New Roman" pitchFamily="18" charset="0"/>
                </a:endParaRPr>
              </a:p>
            </p:txBody>
          </p:sp>
        </p:grpSp>
        <p:grpSp>
          <p:nvGrpSpPr>
            <p:cNvPr id="10" name="组合 87"/>
            <p:cNvGrpSpPr/>
            <p:nvPr/>
          </p:nvGrpSpPr>
          <p:grpSpPr>
            <a:xfrm>
              <a:off x="7230713" y="1643050"/>
              <a:ext cx="671979" cy="517716"/>
              <a:chOff x="7159275" y="1567409"/>
              <a:chExt cx="671979" cy="517716"/>
            </a:xfrm>
          </p:grpSpPr>
          <p:cxnSp>
            <p:nvCxnSpPr>
              <p:cNvPr id="79" name="直接连接符 78"/>
              <p:cNvCxnSpPr/>
              <p:nvPr/>
            </p:nvCxnSpPr>
            <p:spPr bwMode="auto">
              <a:xfrm flipV="1">
                <a:off x="7174865" y="2085125"/>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80" name="矩形 79"/>
              <p:cNvSpPr/>
              <p:nvPr/>
            </p:nvSpPr>
            <p:spPr>
              <a:xfrm>
                <a:off x="7159275" y="1567409"/>
                <a:ext cx="671979" cy="369332"/>
              </a:xfrm>
              <a:prstGeom prst="rect">
                <a:avLst/>
              </a:prstGeom>
            </p:spPr>
            <p:txBody>
              <a:bodyPr wrap="none">
                <a:spAutoFit/>
              </a:bodyPr>
              <a:lstStyle/>
              <a:p>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1</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83" name="直接连接符 82"/>
              <p:cNvCxnSpPr/>
              <p:nvPr/>
            </p:nvCxnSpPr>
            <p:spPr bwMode="auto">
              <a:xfrm rot="5400000" flipH="1" flipV="1">
                <a:off x="7665312" y="1933424"/>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4" name="直接连接符 83"/>
              <p:cNvCxnSpPr/>
              <p:nvPr/>
            </p:nvCxnSpPr>
            <p:spPr bwMode="auto">
              <a:xfrm rot="5400000" flipH="1" flipV="1">
                <a:off x="7064299" y="1936833"/>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86" name="直接箭头连接符 85"/>
              <p:cNvCxnSpPr/>
              <p:nvPr/>
            </p:nvCxnSpPr>
            <p:spPr bwMode="auto">
              <a:xfrm>
                <a:off x="7184109" y="1928802"/>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11" name="组合 94"/>
            <p:cNvGrpSpPr/>
            <p:nvPr/>
          </p:nvGrpSpPr>
          <p:grpSpPr>
            <a:xfrm>
              <a:off x="7242097" y="3022225"/>
              <a:ext cx="990040" cy="468969"/>
              <a:chOff x="7170661" y="2946584"/>
              <a:chExt cx="636835" cy="468969"/>
            </a:xfrm>
          </p:grpSpPr>
          <p:cxnSp>
            <p:nvCxnSpPr>
              <p:cNvPr id="90" name="直接连接符 89"/>
              <p:cNvCxnSpPr/>
              <p:nvPr/>
            </p:nvCxnSpPr>
            <p:spPr bwMode="auto">
              <a:xfrm flipV="1">
                <a:off x="7186252" y="2946584"/>
                <a:ext cx="598398"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91" name="矩形 90"/>
              <p:cNvSpPr/>
              <p:nvPr/>
            </p:nvSpPr>
            <p:spPr>
              <a:xfrm>
                <a:off x="7170661" y="3046221"/>
                <a:ext cx="543605"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2</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92" name="直接连接符 91"/>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3" name="直接连接符 92"/>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94" name="直接箭头连接符 93"/>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cxnSp>
          <p:nvCxnSpPr>
            <p:cNvPr id="98" name="直接连接符 97"/>
            <p:cNvCxnSpPr/>
            <p:nvPr/>
          </p:nvCxnSpPr>
          <p:spPr bwMode="auto">
            <a:xfrm rot="16200000" flipH="1">
              <a:off x="7594668" y="2397352"/>
              <a:ext cx="857256"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nvGrpSpPr>
            <p:cNvPr id="12" name="组合 99"/>
            <p:cNvGrpSpPr/>
            <p:nvPr/>
          </p:nvGrpSpPr>
          <p:grpSpPr>
            <a:xfrm>
              <a:off x="7228648" y="2406177"/>
              <a:ext cx="787394" cy="437078"/>
              <a:chOff x="7170660" y="2978475"/>
              <a:chExt cx="649222" cy="437078"/>
            </a:xfrm>
          </p:grpSpPr>
          <p:sp>
            <p:nvSpPr>
              <p:cNvPr id="102" name="矩形 101"/>
              <p:cNvSpPr/>
              <p:nvPr/>
            </p:nvSpPr>
            <p:spPr>
              <a:xfrm>
                <a:off x="7170660" y="3046221"/>
                <a:ext cx="649222" cy="369332"/>
              </a:xfrm>
              <a:prstGeom prst="rect">
                <a:avLst/>
              </a:prstGeom>
            </p:spPr>
            <p:txBody>
              <a:bodyPr wrap="none">
                <a:spAutoFit/>
              </a:bodyPr>
              <a:lstStyle/>
              <a:p>
                <a:r>
                  <a:rPr lang="en-US" altLang="zh-CN" b="1" i="1">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α</a:t>
                </a:r>
                <a:r>
                  <a:rPr lang="en-US" altLang="zh-CN" b="1" i="1">
                    <a:solidFill>
                      <a:srgbClr val="00B050"/>
                    </a:solidFill>
                    <a:latin typeface="Times New Roman" pitchFamily="18" charset="0"/>
                    <a:cs typeface="Times New Roman" pitchFamily="18" charset="0"/>
                  </a:rPr>
                  <a:t>t</a:t>
                </a:r>
                <a:r>
                  <a:rPr lang="en-US" altLang="zh-CN" b="1" baseline="-25000">
                    <a:solidFill>
                      <a:srgbClr val="00B050"/>
                    </a:solidFill>
                    <a:latin typeface="Times New Roman" pitchFamily="18" charset="0"/>
                    <a:cs typeface="Times New Roman" pitchFamily="18" charset="0"/>
                  </a:rPr>
                  <a:t>0</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a:solidFill>
                    <a:srgbClr val="00B050"/>
                  </a:solidFill>
                </a:endParaRPr>
              </a:p>
            </p:txBody>
          </p:sp>
          <p:cxnSp>
            <p:nvCxnSpPr>
              <p:cNvPr id="103" name="直接连接符 102"/>
              <p:cNvCxnSpPr/>
              <p:nvPr/>
            </p:nvCxnSpPr>
            <p:spPr bwMode="auto">
              <a:xfrm rot="5400000" flipH="1" flipV="1">
                <a:off x="7676699" y="3084838"/>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4" name="直接连接符 103"/>
              <p:cNvCxnSpPr/>
              <p:nvPr/>
            </p:nvCxnSpPr>
            <p:spPr bwMode="auto">
              <a:xfrm rot="5400000" flipH="1" flipV="1">
                <a:off x="7075686" y="3088247"/>
                <a:ext cx="214314" cy="1588"/>
              </a:xfrm>
              <a:prstGeom prst="line">
                <a:avLst/>
              </a:prstGeom>
              <a:solidFill>
                <a:schemeClr val="accent1"/>
              </a:solidFill>
              <a:ln w="19050" cap="flat" cmpd="sng" algn="ctr">
                <a:solidFill>
                  <a:srgbClr val="00B050"/>
                </a:solidFill>
                <a:prstDash val="solid"/>
                <a:round/>
                <a:headEnd type="none" w="med" len="med"/>
                <a:tailEnd type="none" w="med" len="med"/>
              </a:ln>
              <a:effectLst/>
            </p:spPr>
          </p:cxnSp>
          <p:cxnSp>
            <p:nvCxnSpPr>
              <p:cNvPr id="105" name="直接箭头连接符 104"/>
              <p:cNvCxnSpPr/>
              <p:nvPr/>
            </p:nvCxnSpPr>
            <p:spPr bwMode="auto">
              <a:xfrm>
                <a:off x="7195496" y="3080216"/>
                <a:ext cx="612000" cy="1588"/>
              </a:xfrm>
              <a:prstGeom prst="straightConnector1">
                <a:avLst/>
              </a:prstGeom>
              <a:solidFill>
                <a:schemeClr val="accent1"/>
              </a:solidFill>
              <a:ln w="19050" cap="flat" cmpd="sng" algn="ctr">
                <a:solidFill>
                  <a:srgbClr val="00B050"/>
                </a:solidFill>
                <a:prstDash val="solid"/>
                <a:round/>
                <a:headEnd type="stealth" w="med" len="lg"/>
                <a:tailEnd type="stealth" w="med" len="lg"/>
              </a:ln>
              <a:effectLst/>
            </p:spPr>
          </p:cxnSp>
        </p:grpSp>
        <p:grpSp>
          <p:nvGrpSpPr>
            <p:cNvPr id="13" name="组合 117"/>
            <p:cNvGrpSpPr/>
            <p:nvPr/>
          </p:nvGrpSpPr>
          <p:grpSpPr>
            <a:xfrm>
              <a:off x="7813606" y="2366674"/>
              <a:ext cx="784800" cy="1044680"/>
              <a:chOff x="7813606" y="2366674"/>
              <a:chExt cx="784800" cy="1044680"/>
            </a:xfrm>
          </p:grpSpPr>
          <p:cxnSp>
            <p:nvCxnSpPr>
              <p:cNvPr id="114" name="直接连接符 113"/>
              <p:cNvCxnSpPr/>
              <p:nvPr/>
            </p:nvCxnSpPr>
            <p:spPr bwMode="auto">
              <a:xfrm rot="5400000" flipH="1" flipV="1">
                <a:off x="7879626" y="2688145"/>
                <a:ext cx="643736" cy="794"/>
              </a:xfrm>
              <a:prstGeom prst="line">
                <a:avLst/>
              </a:prstGeom>
              <a:solidFill>
                <a:schemeClr val="accent1"/>
              </a:solidFill>
              <a:ln w="19050" cap="flat" cmpd="sng" algn="ctr">
                <a:solidFill>
                  <a:srgbClr val="00B050"/>
                </a:solidFill>
                <a:prstDash val="solid"/>
                <a:round/>
                <a:headEnd type="none" w="med" len="med"/>
                <a:tailEnd type="none" w="med" len="med"/>
              </a:ln>
              <a:effectLst/>
            </p:spPr>
          </p:cxnSp>
          <p:sp>
            <p:nvSpPr>
              <p:cNvPr id="116" name="弧形 115"/>
              <p:cNvSpPr/>
              <p:nvPr/>
            </p:nvSpPr>
            <p:spPr bwMode="auto">
              <a:xfrm flipH="1">
                <a:off x="7813606" y="2625536"/>
                <a:ext cx="784800" cy="785818"/>
              </a:xfrm>
              <a:prstGeom prst="arc">
                <a:avLst>
                  <a:gd name="adj1" fmla="val 16200000"/>
                  <a:gd name="adj2" fmla="val 17588693"/>
                </a:avLst>
              </a:prstGeom>
              <a:noFill/>
              <a:ln w="1905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117" name="TextBox 116"/>
              <p:cNvSpPr txBox="1"/>
              <p:nvPr/>
            </p:nvSpPr>
            <p:spPr>
              <a:xfrm>
                <a:off x="8215338" y="2428868"/>
                <a:ext cx="304892" cy="369332"/>
              </a:xfrm>
              <a:prstGeom prst="rect">
                <a:avLst/>
              </a:prstGeom>
              <a:noFill/>
              <a:ln w="28575">
                <a:noFill/>
              </a:ln>
            </p:spPr>
            <p:txBody>
              <a:bodyPr wrap="none" rtlCol="0">
                <a:spAutoFit/>
              </a:bodyPr>
              <a:lstStyle/>
              <a:p>
                <a:r>
                  <a:rPr lang="el-GR" altLang="zh-CN" b="1" i="1">
                    <a:solidFill>
                      <a:srgbClr val="00B050"/>
                    </a:solidFill>
                    <a:latin typeface="Times New Roman" pitchFamily="18" charset="0"/>
                    <a:cs typeface="Times New Roman" pitchFamily="18" charset="0"/>
                  </a:rPr>
                  <a:t>θ</a:t>
                </a:r>
                <a:endParaRPr lang="zh-CN" altLang="en-US" b="1" i="1">
                  <a:solidFill>
                    <a:srgbClr val="00B050"/>
                  </a:solidFill>
                  <a:latin typeface="Times New Roman" pitchFamily="18" charset="0"/>
                  <a:cs typeface="Times New Roman" pitchFamily="18" charset="0"/>
                </a:endParaRPr>
              </a:p>
            </p:txBody>
          </p:sp>
        </p:grpSp>
      </p:grpSp>
      <p:grpSp>
        <p:nvGrpSpPr>
          <p:cNvPr id="72" name="组合 71"/>
          <p:cNvGrpSpPr/>
          <p:nvPr/>
        </p:nvGrpSpPr>
        <p:grpSpPr>
          <a:xfrm>
            <a:off x="469540" y="1830896"/>
            <a:ext cx="4888278" cy="1026600"/>
            <a:chOff x="469540" y="4857760"/>
            <a:chExt cx="4888278" cy="1026600"/>
          </a:xfrm>
        </p:grpSpPr>
        <p:sp>
          <p:nvSpPr>
            <p:cNvPr id="85" name="Rectangle 6"/>
            <p:cNvSpPr>
              <a:spLocks noChangeArrowheads="1"/>
            </p:cNvSpPr>
            <p:nvPr/>
          </p:nvSpPr>
          <p:spPr bwMode="auto">
            <a:xfrm>
              <a:off x="469540" y="4857760"/>
              <a:ext cx="4888278" cy="427746"/>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位移计算公式</a:t>
              </a:r>
            </a:p>
          </p:txBody>
        </p:sp>
        <p:graphicFrame>
          <p:nvGraphicFramePr>
            <p:cNvPr id="575490" name="Object 3"/>
            <p:cNvGraphicFramePr>
              <a:graphicFrameLocks noChangeAspect="1"/>
            </p:cNvGraphicFramePr>
            <p:nvPr/>
          </p:nvGraphicFramePr>
          <p:xfrm>
            <a:off x="1571627" y="5255710"/>
            <a:ext cx="3286125" cy="628650"/>
          </p:xfrm>
          <a:graphic>
            <a:graphicData uri="http://schemas.openxmlformats.org/presentationml/2006/ole">
              <mc:AlternateContent xmlns:mc="http://schemas.openxmlformats.org/markup-compatibility/2006">
                <mc:Choice xmlns:v="urn:schemas-microsoft-com:vml" Requires="v">
                  <p:oleObj spid="_x0000_s576520" name="Equation" r:id="rId4" imgW="2057400" imgH="393480" progId="Equation.DSMT4">
                    <p:embed/>
                  </p:oleObj>
                </mc:Choice>
                <mc:Fallback>
                  <p:oleObj name="Equation" r:id="rId4" imgW="205740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7" y="5255710"/>
                          <a:ext cx="32861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3" name="Rectangle 6"/>
          <p:cNvSpPr>
            <a:spLocks noChangeArrowheads="1"/>
          </p:cNvSpPr>
          <p:nvPr/>
        </p:nvSpPr>
        <p:spPr bwMode="auto">
          <a:xfrm>
            <a:off x="469540" y="2824459"/>
            <a:ext cx="7745798" cy="3108543"/>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正负号规定</a:t>
            </a:r>
          </a:p>
          <a:p>
            <a:pPr marL="1169988" lvl="2" indent="-255588" algn="just" fontAlgn="base">
              <a:lnSpc>
                <a:spcPct val="120000"/>
              </a:lnSpc>
              <a:spcBef>
                <a:spcPct val="20000"/>
              </a:spcBef>
              <a:spcAft>
                <a:spcPct val="0"/>
              </a:spcAft>
              <a:buFont typeface="Arial" pitchFamily="34" charset="0"/>
              <a:buChar char="•"/>
            </a:pPr>
            <a:r>
              <a:rPr lang="zh-CN" altLang="en-US" sz="2000" b="1"/>
              <a:t>轴向伸长应变</a:t>
            </a:r>
            <a:r>
              <a:rPr lang="el-GR" altLang="zh-CN" sz="2000" b="1" i="1">
                <a:latin typeface="Times New Roman" pitchFamily="18" charset="0"/>
                <a:cs typeface="Times New Roman" pitchFamily="18" charset="0"/>
              </a:rPr>
              <a:t>ε</a:t>
            </a:r>
            <a:r>
              <a:rPr lang="en-US" altLang="zh-CN" sz="2000" b="1" baseline="-25000">
                <a:latin typeface="Times New Roman" pitchFamily="18" charset="0"/>
                <a:cs typeface="Times New Roman" pitchFamily="18" charset="0"/>
              </a:rPr>
              <a:t>0</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1169988" lvl="2" algn="just" fontAlgn="base">
              <a:lnSpc>
                <a:spcPct val="120000"/>
              </a:lnSpc>
              <a:spcBef>
                <a:spcPct val="20000"/>
              </a:spcBef>
              <a:spcAft>
                <a:spcPct val="0"/>
              </a:spcAft>
            </a:pPr>
            <a:r>
              <a:rPr lang="zh-CN" altLang="en-US" sz="2000" b="1">
                <a:latin typeface="Times New Roman" pitchFamily="18" charset="0"/>
                <a:cs typeface="Times New Roman" pitchFamily="18" charset="0"/>
              </a:rPr>
              <a:t>若温度变化使杆件伸长，同时        使杆件受拉，则</a:t>
            </a:r>
            <a:endParaRPr lang="en-US" altLang="zh-CN" sz="2000" b="1">
              <a:latin typeface="Times New Roman" pitchFamily="18" charset="0"/>
              <a:cs typeface="Times New Roman" pitchFamily="18" charset="0"/>
            </a:endParaRPr>
          </a:p>
          <a:p>
            <a:pPr marL="1171575" lvl="2" indent="-285750" algn="just" fontAlgn="base">
              <a:lnSpc>
                <a:spcPct val="120000"/>
              </a:lnSpc>
              <a:spcBef>
                <a:spcPct val="200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为正；</a:t>
            </a:r>
            <a:endParaRPr lang="en-US" altLang="zh-CN" sz="2000" b="1">
              <a:latin typeface="Times New Roman" pitchFamily="18" charset="0"/>
              <a:cs typeface="Times New Roman" pitchFamily="18" charset="0"/>
            </a:endParaRPr>
          </a:p>
          <a:p>
            <a:pPr marL="1200150" lvl="2" indent="-285750" algn="just" fontAlgn="base">
              <a:lnSpc>
                <a:spcPct val="120000"/>
              </a:lnSpc>
              <a:spcBef>
                <a:spcPct val="20000"/>
              </a:spcBef>
              <a:spcAft>
                <a:spcPct val="0"/>
              </a:spcAft>
              <a:buFont typeface="Arial" pitchFamily="34" charset="0"/>
              <a:buChar char="•"/>
            </a:pPr>
            <a:r>
              <a:rPr lang="zh-CN" altLang="en-US" sz="2000" b="1"/>
              <a:t>曲率 </a:t>
            </a:r>
            <a:r>
              <a:rPr kumimoji="1" lang="el-GR" altLang="zh-CN" sz="2000" b="1" i="1">
                <a:solidFill>
                  <a:srgbClr val="000000"/>
                </a:solidFill>
                <a:latin typeface="Times New Roman"/>
                <a:cs typeface="Times New Roman"/>
              </a:rPr>
              <a:t>κ</a:t>
            </a:r>
            <a:r>
              <a:rPr lang="zh-CN" altLang="en-US" sz="2000" b="1"/>
              <a:t> ：</a:t>
            </a:r>
            <a:endParaRPr lang="en-US" altLang="zh-CN" sz="2000" b="1"/>
          </a:p>
          <a:p>
            <a:pPr marL="1169988" lvl="2" algn="just" fontAlgn="base">
              <a:lnSpc>
                <a:spcPct val="150000"/>
              </a:lnSpc>
              <a:spcAft>
                <a:spcPct val="0"/>
              </a:spcAft>
            </a:pPr>
            <a:r>
              <a:rPr lang="zh-CN" altLang="en-US" sz="2000" b="1">
                <a:latin typeface="Times New Roman" pitchFamily="18" charset="0"/>
                <a:cs typeface="Times New Roman" pitchFamily="18" charset="0"/>
              </a:rPr>
              <a:t>若温度差</a:t>
            </a:r>
            <a:r>
              <a:rPr lang="el-GR" altLang="zh-CN" sz="2000" b="1" i="1">
                <a:solidFill>
                  <a:srgbClr val="000000"/>
                </a:solidFill>
                <a:latin typeface="Times New Roman" pitchFamily="18" charset="0"/>
                <a:cs typeface="Times New Roman" pitchFamily="18" charset="0"/>
              </a:rPr>
              <a:t>Δ</a:t>
            </a:r>
            <a:r>
              <a:rPr lang="en-US" altLang="zh-CN" sz="2000" b="1" i="1">
                <a:solidFill>
                  <a:srgbClr val="000000"/>
                </a:solidFill>
                <a:latin typeface="Times New Roman" pitchFamily="18" charset="0"/>
                <a:cs typeface="Times New Roman" pitchFamily="18" charset="0"/>
              </a:rPr>
              <a:t>t</a:t>
            </a:r>
            <a:r>
              <a:rPr lang="zh-CN" altLang="en-US" sz="2000" b="1">
                <a:latin typeface="Times New Roman" pitchFamily="18" charset="0"/>
                <a:cs typeface="Times New Roman" pitchFamily="18" charset="0"/>
              </a:rPr>
              <a:t>使杆弯曲而某侧受拉，同时     使杆件同侧受拉，则</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为正；</a:t>
            </a:r>
            <a:endParaRPr lang="en-US" altLang="zh-CN" sz="2000" b="1"/>
          </a:p>
        </p:txBody>
      </p:sp>
      <p:grpSp>
        <p:nvGrpSpPr>
          <p:cNvPr id="82" name="组合 81"/>
          <p:cNvGrpSpPr/>
          <p:nvPr/>
        </p:nvGrpSpPr>
        <p:grpSpPr>
          <a:xfrm>
            <a:off x="5098530" y="3705225"/>
            <a:ext cx="3034780" cy="420688"/>
            <a:chOff x="5158490" y="3705225"/>
            <a:chExt cx="3034780" cy="420688"/>
          </a:xfrm>
        </p:grpSpPr>
        <p:graphicFrame>
          <p:nvGraphicFramePr>
            <p:cNvPr id="576516" name="Object 4"/>
            <p:cNvGraphicFramePr>
              <a:graphicFrameLocks noChangeAspect="1"/>
            </p:cNvGraphicFramePr>
            <p:nvPr/>
          </p:nvGraphicFramePr>
          <p:xfrm>
            <a:off x="5158490" y="3714750"/>
            <a:ext cx="400050" cy="358775"/>
          </p:xfrm>
          <a:graphic>
            <a:graphicData uri="http://schemas.openxmlformats.org/presentationml/2006/ole">
              <mc:AlternateContent xmlns:mc="http://schemas.openxmlformats.org/markup-compatibility/2006">
                <mc:Choice xmlns:v="urn:schemas-microsoft-com:vml" Requires="v">
                  <p:oleObj spid="_x0000_s576521" name="Equation" r:id="rId6" imgW="241200" imgH="215640" progId="Equation.DSMT4">
                    <p:embed/>
                  </p:oleObj>
                </mc:Choice>
                <mc:Fallback>
                  <p:oleObj name="Equation" r:id="rId6" imgW="241200" imgH="21564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8490" y="3714750"/>
                          <a:ext cx="400050"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6517" name="Object 5"/>
            <p:cNvGraphicFramePr>
              <a:graphicFrameLocks noChangeAspect="1"/>
            </p:cNvGraphicFramePr>
            <p:nvPr/>
          </p:nvGraphicFramePr>
          <p:xfrm>
            <a:off x="7480483" y="3705225"/>
            <a:ext cx="712787" cy="420688"/>
          </p:xfrm>
          <a:graphic>
            <a:graphicData uri="http://schemas.openxmlformats.org/presentationml/2006/ole">
              <mc:AlternateContent xmlns:mc="http://schemas.openxmlformats.org/markup-compatibility/2006">
                <mc:Choice xmlns:v="urn:schemas-microsoft-com:vml" Requires="v">
                  <p:oleObj spid="_x0000_s576522" name="Equation" r:id="rId8" imgW="431640" imgH="253800" progId="Equation.DSMT4">
                    <p:embed/>
                  </p:oleObj>
                </mc:Choice>
                <mc:Fallback>
                  <p:oleObj name="Equation" r:id="rId8" imgW="431640" imgH="25380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80483" y="3705225"/>
                          <a:ext cx="71278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76518" name="Object 6"/>
          <p:cNvGraphicFramePr>
            <a:graphicFrameLocks noChangeAspect="1"/>
          </p:cNvGraphicFramePr>
          <p:nvPr/>
        </p:nvGraphicFramePr>
        <p:xfrm>
          <a:off x="6015750" y="5008745"/>
          <a:ext cx="336550" cy="336550"/>
        </p:xfrm>
        <a:graphic>
          <a:graphicData uri="http://schemas.openxmlformats.org/presentationml/2006/ole">
            <mc:AlternateContent xmlns:mc="http://schemas.openxmlformats.org/markup-compatibility/2006">
              <mc:Choice xmlns:v="urn:schemas-microsoft-com:vml" Requires="v">
                <p:oleObj spid="_x0000_s576523" name="Equation" r:id="rId10" imgW="203040" imgH="203040" progId="Equation.DSMT4">
                  <p:embed/>
                </p:oleObj>
              </mc:Choice>
              <mc:Fallback>
                <p:oleObj name="Equation" r:id="rId10" imgW="203040" imgH="20304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5750" y="5008745"/>
                        <a:ext cx="336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6519" name="Object 7"/>
          <p:cNvGraphicFramePr>
            <a:graphicFrameLocks noChangeAspect="1"/>
          </p:cNvGraphicFramePr>
          <p:nvPr/>
        </p:nvGraphicFramePr>
        <p:xfrm>
          <a:off x="2045202" y="5384071"/>
          <a:ext cx="735525" cy="616698"/>
        </p:xfrm>
        <a:graphic>
          <a:graphicData uri="http://schemas.openxmlformats.org/presentationml/2006/ole">
            <mc:AlternateContent xmlns:mc="http://schemas.openxmlformats.org/markup-compatibility/2006">
              <mc:Choice xmlns:v="urn:schemas-microsoft-com:vml" Requires="v">
                <p:oleObj spid="_x0000_s576524" name="Equation" r:id="rId12" imgW="469800" imgH="393480" progId="Equation.DSMT4">
                  <p:embed/>
                </p:oleObj>
              </mc:Choice>
              <mc:Fallback>
                <p:oleObj name="Equation" r:id="rId12" imgW="469800" imgH="393480" progId="Equation.DSMT4">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45202" y="5384071"/>
                        <a:ext cx="735525" cy="616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anim calcmode="lin" valueType="num">
                                      <p:cBhvr additive="base">
                                        <p:cTn id="7"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
                                            <p:txEl>
                                              <p:pRg st="1" end="1"/>
                                            </p:txEl>
                                          </p:spTgt>
                                        </p:tgtEl>
                                        <p:attrNameLst>
                                          <p:attrName>style.visibility</p:attrName>
                                        </p:attrNameLst>
                                      </p:cBhvr>
                                      <p:to>
                                        <p:strVal val="visible"/>
                                      </p:to>
                                    </p:set>
                                    <p:anim calcmode="lin" valueType="num">
                                      <p:cBhvr additive="base">
                                        <p:cTn id="13" dur="500" fill="hold"/>
                                        <p:tgtEl>
                                          <p:spTgt spid="7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3">
                                            <p:txEl>
                                              <p:pRg st="2" end="2"/>
                                            </p:txEl>
                                          </p:spTgt>
                                        </p:tgtEl>
                                        <p:attrNameLst>
                                          <p:attrName>style.visibility</p:attrName>
                                        </p:attrNameLst>
                                      </p:cBhvr>
                                      <p:to>
                                        <p:strVal val="visible"/>
                                      </p:to>
                                    </p:set>
                                    <p:anim calcmode="lin" valueType="num">
                                      <p:cBhvr additive="base">
                                        <p:cTn id="19" dur="500" fill="hold"/>
                                        <p:tgtEl>
                                          <p:spTgt spid="7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3">
                                            <p:txEl>
                                              <p:pRg st="3" end="3"/>
                                            </p:txEl>
                                          </p:spTgt>
                                        </p:tgtEl>
                                        <p:attrNameLst>
                                          <p:attrName>style.visibility</p:attrName>
                                        </p:attrNameLst>
                                      </p:cBhvr>
                                      <p:to>
                                        <p:strVal val="visible"/>
                                      </p:to>
                                    </p:set>
                                    <p:anim calcmode="lin" valueType="num">
                                      <p:cBhvr additive="base">
                                        <p:cTn id="23" dur="500" fill="hold"/>
                                        <p:tgtEl>
                                          <p:spTgt spid="7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2"/>
                                        </p:tgtEl>
                                        <p:attrNameLst>
                                          <p:attrName>style.visibility</p:attrName>
                                        </p:attrNameLst>
                                      </p:cBhvr>
                                      <p:to>
                                        <p:strVal val="visible"/>
                                      </p:to>
                                    </p:set>
                                    <p:anim calcmode="lin" valueType="num">
                                      <p:cBhvr additive="base">
                                        <p:cTn id="27" dur="500" fill="hold"/>
                                        <p:tgtEl>
                                          <p:spTgt spid="82"/>
                                        </p:tgtEl>
                                        <p:attrNameLst>
                                          <p:attrName>ppt_x</p:attrName>
                                        </p:attrNameLst>
                                      </p:cBhvr>
                                      <p:tavLst>
                                        <p:tav tm="0">
                                          <p:val>
                                            <p:strVal val="#ppt_x"/>
                                          </p:val>
                                        </p:tav>
                                        <p:tav tm="100000">
                                          <p:val>
                                            <p:strVal val="#ppt_x"/>
                                          </p:val>
                                        </p:tav>
                                      </p:tavLst>
                                    </p:anim>
                                    <p:anim calcmode="lin" valueType="num">
                                      <p:cBhvr additive="base">
                                        <p:cTn id="28"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3">
                                            <p:txEl>
                                              <p:pRg st="4" end="4"/>
                                            </p:txEl>
                                          </p:spTgt>
                                        </p:tgtEl>
                                        <p:attrNameLst>
                                          <p:attrName>style.visibility</p:attrName>
                                        </p:attrNameLst>
                                      </p:cBhvr>
                                      <p:to>
                                        <p:strVal val="visible"/>
                                      </p:to>
                                    </p:set>
                                    <p:anim calcmode="lin" valueType="num">
                                      <p:cBhvr additive="base">
                                        <p:cTn id="33" dur="500" fill="hold"/>
                                        <p:tgtEl>
                                          <p:spTgt spid="7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3">
                                            <p:txEl>
                                              <p:pRg st="5" end="5"/>
                                            </p:txEl>
                                          </p:spTgt>
                                        </p:tgtEl>
                                        <p:attrNameLst>
                                          <p:attrName>style.visibility</p:attrName>
                                        </p:attrNameLst>
                                      </p:cBhvr>
                                      <p:to>
                                        <p:strVal val="visible"/>
                                      </p:to>
                                    </p:set>
                                    <p:anim calcmode="lin" valueType="num">
                                      <p:cBhvr additive="base">
                                        <p:cTn id="37" dur="500" fill="hold"/>
                                        <p:tgtEl>
                                          <p:spTgt spid="7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：图示刚架，各杆均为矩形截面，截面高</a:t>
            </a:r>
            <a:r>
              <a:rPr lang="en-US" altLang="zh-CN" sz="2000" b="1" i="1">
                <a:solidFill>
                  <a:srgbClr val="C00000"/>
                </a:solidFill>
                <a:latin typeface="Times New Roman" pitchFamily="18" charset="0"/>
                <a:cs typeface="Times New Roman" pitchFamily="18" charset="0"/>
              </a:rPr>
              <a:t>h=</a:t>
            </a:r>
            <a:r>
              <a:rPr lang="en-US" altLang="zh-CN" sz="2000" b="1">
                <a:solidFill>
                  <a:srgbClr val="C00000"/>
                </a:solidFill>
                <a:latin typeface="Times New Roman" pitchFamily="18" charset="0"/>
                <a:cs typeface="Times New Roman" pitchFamily="18" charset="0"/>
              </a:rPr>
              <a:t>40cm</a:t>
            </a:r>
            <a:r>
              <a:rPr lang="zh-CN" altLang="en-US" sz="2000" b="1">
                <a:latin typeface="Times New Roman" pitchFamily="18" charset="0"/>
                <a:cs typeface="Times New Roman" pitchFamily="18" charset="0"/>
              </a:rPr>
              <a:t>，截面形心位于截面高度</a:t>
            </a:r>
            <a:r>
              <a:rPr lang="en-US" altLang="zh-CN" sz="2000" b="1">
                <a:solidFill>
                  <a:srgbClr val="C00000"/>
                </a:solidFill>
                <a:latin typeface="Times New Roman" pitchFamily="18" charset="0"/>
                <a:cs typeface="Times New Roman" pitchFamily="18" charset="0"/>
              </a:rPr>
              <a:t>1/2</a:t>
            </a:r>
            <a:r>
              <a:rPr lang="zh-CN" altLang="en-US" sz="2000" b="1">
                <a:latin typeface="Times New Roman" pitchFamily="18" charset="0"/>
                <a:cs typeface="Times New Roman" pitchFamily="18" charset="0"/>
              </a:rPr>
              <a:t>处。设刚架内部温度上升</a:t>
            </a:r>
            <a:r>
              <a:rPr lang="en-US" altLang="zh-CN" sz="2000" b="1">
                <a:solidFill>
                  <a:srgbClr val="C00000"/>
                </a:solidFill>
                <a:latin typeface="Times New Roman" pitchFamily="18" charset="0"/>
                <a:cs typeface="Times New Roman" pitchFamily="18" charset="0"/>
              </a:rPr>
              <a:t>10℃</a:t>
            </a:r>
            <a:r>
              <a:rPr lang="zh-CN" altLang="en-US" sz="2000" b="1">
                <a:latin typeface="Times New Roman" pitchFamily="18" charset="0"/>
                <a:cs typeface="Times New Roman" pitchFamily="18" charset="0"/>
              </a:rPr>
              <a:t>外部下降</a:t>
            </a:r>
            <a:r>
              <a:rPr lang="en-US" altLang="zh-CN" sz="2000" b="1">
                <a:solidFill>
                  <a:srgbClr val="C00000"/>
                </a:solidFill>
                <a:latin typeface="Times New Roman" pitchFamily="18" charset="0"/>
                <a:cs typeface="Times New Roman" pitchFamily="18" charset="0"/>
              </a:rPr>
              <a:t>20℃</a:t>
            </a:r>
            <a:r>
              <a:rPr lang="zh-CN" altLang="en-US" sz="2000" b="1">
                <a:latin typeface="Times New Roman" pitchFamily="18" charset="0"/>
                <a:cs typeface="Times New Roman" pitchFamily="18" charset="0"/>
              </a:rPr>
              <a:t>。线膨胀系数</a:t>
            </a:r>
            <a:r>
              <a:rPr lang="en-US" altLang="zh-CN" sz="2000" b="1" i="1">
                <a:solidFill>
                  <a:srgbClr val="C00000"/>
                </a:solidFill>
                <a:latin typeface="Times New Roman" pitchFamily="18" charset="0"/>
                <a:cs typeface="Times New Roman" pitchFamily="18" charset="0"/>
              </a:rPr>
              <a:t>α</a:t>
            </a:r>
            <a:r>
              <a:rPr lang="en-US" altLang="zh-CN" sz="2000" b="1">
                <a:solidFill>
                  <a:srgbClr val="C00000"/>
                </a:solidFill>
                <a:latin typeface="Times New Roman" pitchFamily="18" charset="0"/>
                <a:cs typeface="Times New Roman" pitchFamily="18" charset="0"/>
              </a:rPr>
              <a:t>=1×10</a:t>
            </a:r>
            <a:r>
              <a:rPr lang="en-US" altLang="zh-CN" sz="2000" b="1" baseline="30000">
                <a:solidFill>
                  <a:srgbClr val="C00000"/>
                </a:solidFill>
                <a:latin typeface="Times New Roman" pitchFamily="18" charset="0"/>
                <a:cs typeface="Times New Roman" pitchFamily="18" charset="0"/>
              </a:rPr>
              <a:t>-5</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p>
        </p:txBody>
      </p:sp>
      <p:graphicFrame>
        <p:nvGraphicFramePr>
          <p:cNvPr id="467972" name="Object 4"/>
          <p:cNvGraphicFramePr>
            <a:graphicFrameLocks noChangeAspect="1"/>
          </p:cNvGraphicFramePr>
          <p:nvPr/>
        </p:nvGraphicFramePr>
        <p:xfrm>
          <a:off x="5500694" y="1785926"/>
          <a:ext cx="3313113" cy="2039938"/>
        </p:xfrm>
        <a:graphic>
          <a:graphicData uri="http://schemas.openxmlformats.org/presentationml/2006/ole">
            <mc:AlternateContent xmlns:mc="http://schemas.openxmlformats.org/markup-compatibility/2006">
              <mc:Choice xmlns:v="urn:schemas-microsoft-com:vml" Requires="v">
                <p:oleObj spid="_x0000_s577551" name="AutoCAD Drawing" r:id="rId4" imgW="8820000" imgH="4505400" progId="">
                  <p:embed/>
                </p:oleObj>
              </mc:Choice>
              <mc:Fallback>
                <p:oleObj name="AutoCAD Drawing" r:id="rId4" imgW="8820000" imgH="45054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t="6265" r="40022" b="20837"/>
                      <a:stretch>
                        <a:fillRect/>
                      </a:stretch>
                    </p:blipFill>
                    <p:spPr bwMode="auto">
                      <a:xfrm>
                        <a:off x="5500694" y="1785926"/>
                        <a:ext cx="3313113" cy="203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 name="组合 71"/>
          <p:cNvGrpSpPr/>
          <p:nvPr/>
        </p:nvGrpSpPr>
        <p:grpSpPr>
          <a:xfrm>
            <a:off x="7485174" y="2658172"/>
            <a:ext cx="315866" cy="583646"/>
            <a:chOff x="7485174" y="2643182"/>
            <a:chExt cx="315866" cy="583646"/>
          </a:xfrm>
        </p:grpSpPr>
        <p:cxnSp>
          <p:nvCxnSpPr>
            <p:cNvPr id="62" name="直接箭头连接符 61"/>
            <p:cNvCxnSpPr/>
            <p:nvPr/>
          </p:nvCxnSpPr>
          <p:spPr bwMode="auto">
            <a:xfrm rot="5400000" flipH="1" flipV="1">
              <a:off x="7271654" y="2856702"/>
              <a:ext cx="428628"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67" name="矩形 66"/>
            <p:cNvSpPr/>
            <p:nvPr/>
          </p:nvSpPr>
          <p:spPr>
            <a:xfrm>
              <a:off x="7500958" y="2857496"/>
              <a:ext cx="300082" cy="369332"/>
            </a:xfrm>
            <a:prstGeom prst="rect">
              <a:avLst/>
            </a:prstGeom>
          </p:spPr>
          <p:txBody>
            <a:bodyPr wrap="none">
              <a:spAutoFit/>
            </a:bodyPr>
            <a:lstStyle/>
            <a:p>
              <a:r>
                <a:rPr lang="en-US" altLang="zh-CN" b="1">
                  <a:solidFill>
                    <a:srgbClr val="C00000"/>
                  </a:solidFill>
                  <a:latin typeface="Times New Roman" pitchFamily="18" charset="0"/>
                  <a:cs typeface="Times New Roman" pitchFamily="18" charset="0"/>
                </a:rPr>
                <a:t>1</a:t>
              </a:r>
              <a:endParaRPr lang="zh-CN" altLang="en-US">
                <a:solidFill>
                  <a:srgbClr val="C00000"/>
                </a:solidFill>
              </a:endParaRPr>
            </a:p>
          </p:txBody>
        </p:sp>
      </p:grpSp>
      <p:grpSp>
        <p:nvGrpSpPr>
          <p:cNvPr id="74" name="组合 73"/>
          <p:cNvGrpSpPr/>
          <p:nvPr/>
        </p:nvGrpSpPr>
        <p:grpSpPr>
          <a:xfrm>
            <a:off x="469540" y="3776024"/>
            <a:ext cx="4888278" cy="830997"/>
            <a:chOff x="469540" y="3776024"/>
            <a:chExt cx="4888278" cy="830997"/>
          </a:xfrm>
        </p:grpSpPr>
        <p:sp>
          <p:nvSpPr>
            <p:cNvPr id="60" name="Rectangle 6"/>
            <p:cNvSpPr>
              <a:spLocks noChangeArrowheads="1"/>
            </p:cNvSpPr>
            <p:nvPr/>
          </p:nvSpPr>
          <p:spPr bwMode="auto">
            <a:xfrm>
              <a:off x="469540" y="3776024"/>
              <a:ext cx="4888278" cy="830997"/>
            </a:xfrm>
            <a:prstGeom prst="rect">
              <a:avLst/>
            </a:prstGeom>
            <a:noFill/>
            <a:ln w="9525">
              <a:noFill/>
              <a:miter lim="800000"/>
              <a:headEnd/>
              <a:tailEnd/>
            </a:ln>
          </p:spPr>
          <p:txBody>
            <a:bodyPr wrap="square">
              <a:spAutoFit/>
            </a:bodyPr>
            <a:lstStyle/>
            <a:p>
              <a:pPr marL="1258888" lvl="1" indent="-809625" fontAlgn="base">
                <a:lnSpc>
                  <a:spcPct val="120000"/>
                </a:lnSpc>
                <a:spcBef>
                  <a:spcPct val="20000"/>
                </a:spcBef>
                <a:spcAft>
                  <a:spcPct val="0"/>
                </a:spcAft>
              </a:pPr>
              <a:r>
                <a:rPr lang="zh-CN" altLang="en-US" sz="2000" b="1">
                  <a:latin typeface="Times New Roman" pitchFamily="18" charset="0"/>
                  <a:cs typeface="Times New Roman" pitchFamily="18" charset="0"/>
                </a:rPr>
                <a:t>解：⑴ 在</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点作用一向上的单位力</a:t>
              </a:r>
              <a:r>
                <a:rPr lang="en-US" altLang="zh-CN" sz="2000" b="1" i="1">
                  <a:latin typeface="Times New Roman" pitchFamily="18" charset="0"/>
                  <a:cs typeface="Times New Roman" pitchFamily="18" charset="0"/>
                </a:rPr>
                <a:t>F</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，作弯矩图      和轴力图      ；</a:t>
              </a:r>
            </a:p>
          </p:txBody>
        </p:sp>
        <p:graphicFrame>
          <p:nvGraphicFramePr>
            <p:cNvPr id="577545" name="Object 9"/>
            <p:cNvGraphicFramePr>
              <a:graphicFrameLocks noChangeAspect="1"/>
            </p:cNvGraphicFramePr>
            <p:nvPr/>
          </p:nvGraphicFramePr>
          <p:xfrm>
            <a:off x="2883956" y="4169848"/>
            <a:ext cx="336550" cy="336550"/>
          </p:xfrm>
          <a:graphic>
            <a:graphicData uri="http://schemas.openxmlformats.org/presentationml/2006/ole">
              <mc:AlternateContent xmlns:mc="http://schemas.openxmlformats.org/markup-compatibility/2006">
                <mc:Choice xmlns:v="urn:schemas-microsoft-com:vml" Requires="v">
                  <p:oleObj spid="_x0000_s577552" name="Equation" r:id="rId6" imgW="203040" imgH="203040" progId="Equation.DSMT4">
                    <p:embed/>
                  </p:oleObj>
                </mc:Choice>
                <mc:Fallback>
                  <p:oleObj name="Equation" r:id="rId6" imgW="203040" imgH="203040"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3956" y="4169848"/>
                          <a:ext cx="336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7546" name="Object 10"/>
            <p:cNvGraphicFramePr>
              <a:graphicFrameLocks noChangeAspect="1"/>
            </p:cNvGraphicFramePr>
            <p:nvPr/>
          </p:nvGraphicFramePr>
          <p:xfrm>
            <a:off x="4259780" y="4173360"/>
            <a:ext cx="400050" cy="357188"/>
          </p:xfrm>
          <a:graphic>
            <a:graphicData uri="http://schemas.openxmlformats.org/presentationml/2006/ole">
              <mc:AlternateContent xmlns:mc="http://schemas.openxmlformats.org/markup-compatibility/2006">
                <mc:Choice xmlns:v="urn:schemas-microsoft-com:vml" Requires="v">
                  <p:oleObj spid="_x0000_s577553" name="Equation" r:id="rId8" imgW="241200" imgH="215640" progId="Equation.DSMT4">
                    <p:embed/>
                  </p:oleObj>
                </mc:Choice>
                <mc:Fallback>
                  <p:oleObj name="Equation" r:id="rId8" imgW="241200" imgH="215640" progId="Equation.DSMT4">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59780" y="4173360"/>
                          <a:ext cx="4000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1" name="组合 80"/>
          <p:cNvGrpSpPr/>
          <p:nvPr/>
        </p:nvGrpSpPr>
        <p:grpSpPr>
          <a:xfrm>
            <a:off x="5512172" y="4124744"/>
            <a:ext cx="1500198" cy="1588445"/>
            <a:chOff x="5512172" y="4214818"/>
            <a:chExt cx="1500198" cy="1588445"/>
          </a:xfrm>
        </p:grpSpPr>
        <p:pic>
          <p:nvPicPr>
            <p:cNvPr id="577544" name="Picture 8"/>
            <p:cNvPicPr>
              <a:picLocks noChangeAspect="1" noChangeArrowheads="1"/>
            </p:cNvPicPr>
            <p:nvPr/>
          </p:nvPicPr>
          <p:blipFill>
            <a:blip r:embed="rId10"/>
            <a:srcRect l="13720" t="13804" r="8536" b="3373"/>
            <a:stretch>
              <a:fillRect/>
            </a:stretch>
          </p:blipFill>
          <p:spPr bwMode="auto">
            <a:xfrm>
              <a:off x="5512172" y="4214818"/>
              <a:ext cx="1500198" cy="1588445"/>
            </a:xfrm>
            <a:prstGeom prst="rect">
              <a:avLst/>
            </a:prstGeom>
            <a:noFill/>
            <a:ln w="9525">
              <a:noFill/>
              <a:miter lim="800000"/>
              <a:headEnd/>
              <a:tailEnd/>
            </a:ln>
            <a:effectLst/>
          </p:spPr>
        </p:pic>
        <p:graphicFrame>
          <p:nvGraphicFramePr>
            <p:cNvPr id="75" name="Object 9"/>
            <p:cNvGraphicFramePr>
              <a:graphicFrameLocks noChangeAspect="1"/>
            </p:cNvGraphicFramePr>
            <p:nvPr/>
          </p:nvGraphicFramePr>
          <p:xfrm>
            <a:off x="6247192" y="5429264"/>
            <a:ext cx="336550" cy="336550"/>
          </p:xfrm>
          <a:graphic>
            <a:graphicData uri="http://schemas.openxmlformats.org/presentationml/2006/ole">
              <mc:AlternateContent xmlns:mc="http://schemas.openxmlformats.org/markup-compatibility/2006">
                <mc:Choice xmlns:v="urn:schemas-microsoft-com:vml" Requires="v">
                  <p:oleObj spid="_x0000_s577554" name="Equation" r:id="rId11" imgW="203040" imgH="203040" progId="Equation.DSMT4">
                    <p:embed/>
                  </p:oleObj>
                </mc:Choice>
                <mc:Fallback>
                  <p:oleObj name="Equation" r:id="rId11" imgW="203040" imgH="20304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7192" y="5429264"/>
                          <a:ext cx="336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8" name="组合 77"/>
          <p:cNvGrpSpPr/>
          <p:nvPr/>
        </p:nvGrpSpPr>
        <p:grpSpPr>
          <a:xfrm>
            <a:off x="7358082" y="4119413"/>
            <a:ext cx="1500198" cy="1588445"/>
            <a:chOff x="7358082" y="4239467"/>
            <a:chExt cx="1500198" cy="1588445"/>
          </a:xfrm>
        </p:grpSpPr>
        <p:pic>
          <p:nvPicPr>
            <p:cNvPr id="76" name="Picture 8"/>
            <p:cNvPicPr>
              <a:picLocks noChangeAspect="1" noChangeArrowheads="1"/>
            </p:cNvPicPr>
            <p:nvPr/>
          </p:nvPicPr>
          <p:blipFill>
            <a:blip r:embed="rId10"/>
            <a:srcRect l="13720" t="13804" r="8536" b="3373"/>
            <a:stretch>
              <a:fillRect/>
            </a:stretch>
          </p:blipFill>
          <p:spPr bwMode="auto">
            <a:xfrm>
              <a:off x="7358082" y="4239467"/>
              <a:ext cx="1500198" cy="1588445"/>
            </a:xfrm>
            <a:prstGeom prst="rect">
              <a:avLst/>
            </a:prstGeom>
            <a:noFill/>
            <a:ln w="9525">
              <a:noFill/>
              <a:miter lim="800000"/>
              <a:headEnd/>
              <a:tailEnd/>
            </a:ln>
            <a:effectLst/>
          </p:spPr>
        </p:pic>
        <p:graphicFrame>
          <p:nvGraphicFramePr>
            <p:cNvPr id="77" name="Object 10"/>
            <p:cNvGraphicFramePr>
              <a:graphicFrameLocks noChangeAspect="1"/>
            </p:cNvGraphicFramePr>
            <p:nvPr/>
          </p:nvGraphicFramePr>
          <p:xfrm>
            <a:off x="8072462" y="5429264"/>
            <a:ext cx="400050" cy="357188"/>
          </p:xfrm>
          <a:graphic>
            <a:graphicData uri="http://schemas.openxmlformats.org/presentationml/2006/ole">
              <mc:AlternateContent xmlns:mc="http://schemas.openxmlformats.org/markup-compatibility/2006">
                <mc:Choice xmlns:v="urn:schemas-microsoft-com:vml" Requires="v">
                  <p:oleObj spid="_x0000_s577555" name="Equation" r:id="rId13" imgW="241200" imgH="215640" progId="Equation.DSMT4">
                    <p:embed/>
                  </p:oleObj>
                </mc:Choice>
                <mc:Fallback>
                  <p:oleObj name="Equation" r:id="rId13" imgW="241200" imgH="215640" progId="Equation.DSMT4">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72462" y="5429264"/>
                          <a:ext cx="4000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6" name="组合 95"/>
          <p:cNvGrpSpPr/>
          <p:nvPr/>
        </p:nvGrpSpPr>
        <p:grpSpPr>
          <a:xfrm flipV="1">
            <a:off x="5715008" y="4350347"/>
            <a:ext cx="1214446" cy="286546"/>
            <a:chOff x="5715008" y="4143380"/>
            <a:chExt cx="1214446" cy="286546"/>
          </a:xfrm>
        </p:grpSpPr>
        <p:cxnSp>
          <p:nvCxnSpPr>
            <p:cNvPr id="87" name="直接连接符 86"/>
            <p:cNvCxnSpPr/>
            <p:nvPr/>
          </p:nvCxnSpPr>
          <p:spPr bwMode="auto">
            <a:xfrm rot="5400000" flipH="1" flipV="1">
              <a:off x="5587122" y="4286256"/>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89" name="直接连接符 88"/>
            <p:cNvCxnSpPr/>
            <p:nvPr/>
          </p:nvCxnSpPr>
          <p:spPr bwMode="auto">
            <a:xfrm>
              <a:off x="5715008" y="4143380"/>
              <a:ext cx="1214446" cy="285752"/>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nvGrpSpPr>
          <p:cNvPr id="107" name="组合 106"/>
          <p:cNvGrpSpPr/>
          <p:nvPr/>
        </p:nvGrpSpPr>
        <p:grpSpPr>
          <a:xfrm flipH="1">
            <a:off x="5726108" y="4342713"/>
            <a:ext cx="297230" cy="1188000"/>
            <a:chOff x="5429256" y="4444076"/>
            <a:chExt cx="297230" cy="1188000"/>
          </a:xfrm>
        </p:grpSpPr>
        <p:cxnSp>
          <p:nvCxnSpPr>
            <p:cNvPr id="97" name="直接连接符 96"/>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99" name="直接连接符 98"/>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01" name="直接连接符 100"/>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08" name="TextBox 107"/>
          <p:cNvSpPr txBox="1"/>
          <p:nvPr/>
        </p:nvSpPr>
        <p:spPr>
          <a:xfrm>
            <a:off x="5549554" y="4000504"/>
            <a:ext cx="458780"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4m</a:t>
            </a:r>
            <a:endParaRPr lang="zh-CN" altLang="en-US" sz="1600" b="1">
              <a:solidFill>
                <a:srgbClr val="C00000"/>
              </a:solidFill>
              <a:latin typeface="Times New Roman" pitchFamily="18" charset="0"/>
              <a:cs typeface="Times New Roman" pitchFamily="18" charset="0"/>
            </a:endParaRPr>
          </a:p>
        </p:txBody>
      </p:sp>
      <p:grpSp>
        <p:nvGrpSpPr>
          <p:cNvPr id="119" name="组合 118"/>
          <p:cNvGrpSpPr/>
          <p:nvPr/>
        </p:nvGrpSpPr>
        <p:grpSpPr>
          <a:xfrm>
            <a:off x="8440941" y="4361636"/>
            <a:ext cx="297230" cy="578851"/>
            <a:chOff x="8440941" y="4361636"/>
            <a:chExt cx="297230" cy="578851"/>
          </a:xfrm>
        </p:grpSpPr>
        <p:grpSp>
          <p:nvGrpSpPr>
            <p:cNvPr id="109" name="组合 108"/>
            <p:cNvGrpSpPr/>
            <p:nvPr/>
          </p:nvGrpSpPr>
          <p:grpSpPr>
            <a:xfrm>
              <a:off x="8440941" y="4361636"/>
              <a:ext cx="297230" cy="578851"/>
              <a:chOff x="5429256" y="4444076"/>
              <a:chExt cx="297230" cy="1188000"/>
            </a:xfrm>
          </p:grpSpPr>
          <p:cxnSp>
            <p:nvCxnSpPr>
              <p:cNvPr id="110" name="直接连接符 109"/>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11" name="直接连接符 110"/>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12" name="直接连接符 111"/>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cxnSp>
          <p:nvCxnSpPr>
            <p:cNvPr id="118" name="直接连接符 117"/>
            <p:cNvCxnSpPr/>
            <p:nvPr/>
          </p:nvCxnSpPr>
          <p:spPr bwMode="auto">
            <a:xfrm>
              <a:off x="8561239" y="4643446"/>
              <a:ext cx="10800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nvGrpSpPr>
          <p:cNvPr id="127" name="组合 126"/>
          <p:cNvGrpSpPr/>
          <p:nvPr/>
        </p:nvGrpSpPr>
        <p:grpSpPr>
          <a:xfrm>
            <a:off x="7549818" y="4357694"/>
            <a:ext cx="333746" cy="1152000"/>
            <a:chOff x="7549818" y="4357694"/>
            <a:chExt cx="333746" cy="1152000"/>
          </a:xfrm>
        </p:grpSpPr>
        <p:grpSp>
          <p:nvGrpSpPr>
            <p:cNvPr id="121" name="组合 108"/>
            <p:cNvGrpSpPr/>
            <p:nvPr/>
          </p:nvGrpSpPr>
          <p:grpSpPr>
            <a:xfrm flipH="1">
              <a:off x="7572396" y="4357694"/>
              <a:ext cx="297230" cy="1152000"/>
              <a:chOff x="5429256" y="4444076"/>
              <a:chExt cx="297230" cy="1188000"/>
            </a:xfrm>
          </p:grpSpPr>
          <p:cxnSp>
            <p:nvCxnSpPr>
              <p:cNvPr id="123" name="直接连接符 122"/>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24" name="直接连接符 123"/>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25" name="直接连接符 124"/>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26" name="TextBox 125"/>
            <p:cNvSpPr txBox="1"/>
            <p:nvPr/>
          </p:nvSpPr>
          <p:spPr>
            <a:xfrm>
              <a:off x="7549818" y="4739698"/>
              <a:ext cx="333746" cy="400110"/>
            </a:xfrm>
            <a:prstGeom prst="rect">
              <a:avLst/>
            </a:prstGeom>
            <a:noFill/>
            <a:ln w="28575">
              <a:noFill/>
            </a:ln>
          </p:spPr>
          <p:txBody>
            <a:bodyPr wrap="none" rtlCol="0">
              <a:spAutoFit/>
            </a:bodyPr>
            <a:lstStyle/>
            <a:p>
              <a:r>
                <a:rPr lang="en-US" altLang="zh-CN" sz="2000" b="1">
                  <a:solidFill>
                    <a:srgbClr val="C00000"/>
                  </a:solidFill>
                </a:rPr>
                <a:t>+</a:t>
              </a:r>
              <a:endParaRPr lang="zh-CN" altLang="en-US" sz="2000" b="1">
                <a:solidFill>
                  <a:srgbClr val="C00000"/>
                </a:solidFill>
              </a:endParaRPr>
            </a:p>
          </p:txBody>
        </p:sp>
      </p:grpSp>
      <p:sp>
        <p:nvSpPr>
          <p:cNvPr id="128" name="Rectangle 6"/>
          <p:cNvSpPr>
            <a:spLocks noChangeArrowheads="1"/>
          </p:cNvSpPr>
          <p:nvPr/>
        </p:nvSpPr>
        <p:spPr bwMode="auto">
          <a:xfrm>
            <a:off x="469540" y="4598267"/>
            <a:ext cx="4888278" cy="830997"/>
          </a:xfrm>
          <a:prstGeom prst="rect">
            <a:avLst/>
          </a:prstGeom>
          <a:noFill/>
          <a:ln w="9525">
            <a:noFill/>
            <a:miter lim="800000"/>
            <a:headEnd/>
            <a:tailEnd/>
          </a:ln>
        </p:spPr>
        <p:txBody>
          <a:bodyPr wrap="square">
            <a:spAutoFit/>
          </a:bodyPr>
          <a:lstStyle/>
          <a:p>
            <a:pPr marL="1258888" lvl="1" indent="-809625" fontAlgn="base">
              <a:lnSpc>
                <a:spcPct val="120000"/>
              </a:lnSpc>
              <a:spcBef>
                <a:spcPct val="20000"/>
              </a:spcBef>
              <a:spcAft>
                <a:spcPct val="0"/>
              </a:spcAft>
            </a:pPr>
            <a:r>
              <a:rPr lang="zh-CN" altLang="en-US" sz="2000" b="1">
                <a:latin typeface="Times New Roman" pitchFamily="18" charset="0"/>
                <a:cs typeface="Times New Roman" pitchFamily="18" charset="0"/>
              </a:rPr>
              <a:t>        ⑵ 由于各杆 </a:t>
            </a:r>
            <a:r>
              <a:rPr lang="en-US" altLang="zh-CN" sz="2000" b="1" i="1">
                <a:latin typeface="Times New Roman" pitchFamily="18" charset="0"/>
                <a:cs typeface="Times New Roman" pitchFamily="18" charset="0"/>
              </a:rPr>
              <a:t>α</a:t>
            </a:r>
            <a:r>
              <a:rPr lang="zh-CN" altLang="en-US" sz="2000" b="1" i="1">
                <a:latin typeface="Times New Roman" pitchFamily="18" charset="0"/>
                <a:cs typeface="Times New Roman" pitchFamily="18" charset="0"/>
              </a:rPr>
              <a:t>，</a:t>
            </a:r>
            <a:r>
              <a:rPr lang="en-US" altLang="zh-CN" sz="2000" b="1" i="1">
                <a:latin typeface="Times New Roman" pitchFamily="18" charset="0"/>
                <a:cs typeface="Times New Roman" pitchFamily="18" charset="0"/>
              </a:rPr>
              <a:t>t</a:t>
            </a:r>
            <a:r>
              <a:rPr lang="en-US" altLang="zh-CN" sz="2000" b="1" baseline="-25000"/>
              <a:t>0</a:t>
            </a:r>
            <a:r>
              <a:rPr lang="zh-CN" altLang="en-US" sz="2000" b="1"/>
              <a:t>，</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t</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h</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相同，故可先计算</a:t>
            </a:r>
          </a:p>
        </p:txBody>
      </p:sp>
      <p:graphicFrame>
        <p:nvGraphicFramePr>
          <p:cNvPr id="577549" name="Object 3"/>
          <p:cNvGraphicFramePr>
            <a:graphicFrameLocks noChangeAspect="1"/>
          </p:cNvGraphicFramePr>
          <p:nvPr/>
        </p:nvGraphicFramePr>
        <p:xfrm>
          <a:off x="1785942" y="5357813"/>
          <a:ext cx="3429000" cy="628650"/>
        </p:xfrm>
        <a:graphic>
          <a:graphicData uri="http://schemas.openxmlformats.org/presentationml/2006/ole">
            <mc:AlternateContent xmlns:mc="http://schemas.openxmlformats.org/markup-compatibility/2006">
              <mc:Choice xmlns:v="urn:schemas-microsoft-com:vml" Requires="v">
                <p:oleObj spid="_x0000_s577556" name="Equation" r:id="rId15" imgW="2145960" imgH="393480" progId="Equation.DSMT4">
                  <p:embed/>
                </p:oleObj>
              </mc:Choice>
              <mc:Fallback>
                <p:oleObj name="Equation" r:id="rId15" imgW="2145960" imgH="393480" progId="Equation.DSMT4">
                  <p:embed/>
                  <p:pic>
                    <p:nvPicPr>
                      <p:cNvPr id="0" name="Object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5942" y="5357813"/>
                        <a:ext cx="34290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7550" name="Object 3"/>
          <p:cNvGraphicFramePr>
            <a:graphicFrameLocks noChangeAspect="1"/>
          </p:cNvGraphicFramePr>
          <p:nvPr/>
        </p:nvGraphicFramePr>
        <p:xfrm>
          <a:off x="1794209" y="6014416"/>
          <a:ext cx="3165475" cy="446088"/>
        </p:xfrm>
        <a:graphic>
          <a:graphicData uri="http://schemas.openxmlformats.org/presentationml/2006/ole">
            <mc:AlternateContent xmlns:mc="http://schemas.openxmlformats.org/markup-compatibility/2006">
              <mc:Choice xmlns:v="urn:schemas-microsoft-com:vml" Requires="v">
                <p:oleObj spid="_x0000_s577557" name="Equation" r:id="rId17" imgW="1981080" imgH="279360" progId="Equation.DSMT4">
                  <p:embed/>
                </p:oleObj>
              </mc:Choice>
              <mc:Fallback>
                <p:oleObj name="Equation" r:id="rId17" imgW="1981080" imgH="279360" progId="Equation.DSMT4">
                  <p:embed/>
                  <p:pic>
                    <p:nvPicPr>
                      <p:cNvPr id="0" name="Picture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94209" y="6014416"/>
                        <a:ext cx="316547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TextBox 128"/>
          <p:cNvSpPr txBox="1"/>
          <p:nvPr/>
        </p:nvSpPr>
        <p:spPr>
          <a:xfrm>
            <a:off x="8501090" y="4929198"/>
            <a:ext cx="287258"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1</a:t>
            </a:r>
            <a:endParaRPr lang="zh-CN" altLang="en-US" sz="1600" b="1">
              <a:solidFill>
                <a:srgbClr val="C00000"/>
              </a:solidFill>
              <a:latin typeface="Times New Roman" pitchFamily="18" charset="0"/>
              <a:cs typeface="Times New Roman" pitchFamily="18" charset="0"/>
            </a:endParaRPr>
          </a:p>
        </p:txBody>
      </p:sp>
      <p:sp>
        <p:nvSpPr>
          <p:cNvPr id="131" name="TextBox 130"/>
          <p:cNvSpPr txBox="1"/>
          <p:nvPr/>
        </p:nvSpPr>
        <p:spPr>
          <a:xfrm>
            <a:off x="7858148" y="4786322"/>
            <a:ext cx="287258"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1</a:t>
            </a:r>
            <a:endParaRPr lang="zh-CN" altLang="en-US" sz="1600" b="1">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67972"/>
                                        </p:tgtEl>
                                        <p:attrNameLst>
                                          <p:attrName>style.visibility</p:attrName>
                                        </p:attrNameLst>
                                      </p:cBhvr>
                                      <p:to>
                                        <p:strVal val="visible"/>
                                      </p:to>
                                    </p:set>
                                    <p:anim calcmode="lin" valueType="num">
                                      <p:cBhvr additive="base">
                                        <p:cTn id="7" dur="1000" fill="hold"/>
                                        <p:tgtEl>
                                          <p:spTgt spid="467972"/>
                                        </p:tgtEl>
                                        <p:attrNameLst>
                                          <p:attrName>ppt_x</p:attrName>
                                        </p:attrNameLst>
                                      </p:cBhvr>
                                      <p:tavLst>
                                        <p:tav tm="0">
                                          <p:val>
                                            <p:strVal val="#ppt_x"/>
                                          </p:val>
                                        </p:tav>
                                        <p:tav tm="100000">
                                          <p:val>
                                            <p:strVal val="#ppt_x"/>
                                          </p:val>
                                        </p:tav>
                                      </p:tavLst>
                                    </p:anim>
                                    <p:anim calcmode="lin" valueType="num">
                                      <p:cBhvr additive="base">
                                        <p:cTn id="8" dur="1000" fill="hold"/>
                                        <p:tgtEl>
                                          <p:spTgt spid="4679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wipe(up)">
                                      <p:cBhvr>
                                        <p:cTn id="13" dur="500"/>
                                        <p:tgtEl>
                                          <p:spTgt spid="74"/>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72"/>
                                        </p:tgtEl>
                                        <p:attrNameLst>
                                          <p:attrName>style.visibility</p:attrName>
                                        </p:attrNameLst>
                                      </p:cBhvr>
                                      <p:to>
                                        <p:strVal val="visible"/>
                                      </p:to>
                                    </p:set>
                                    <p:anim calcmode="lin" valueType="num">
                                      <p:cBhvr additive="base">
                                        <p:cTn id="17" dur="500" fill="hold"/>
                                        <p:tgtEl>
                                          <p:spTgt spid="72"/>
                                        </p:tgtEl>
                                        <p:attrNameLst>
                                          <p:attrName>ppt_x</p:attrName>
                                        </p:attrNameLst>
                                      </p:cBhvr>
                                      <p:tavLst>
                                        <p:tav tm="0">
                                          <p:val>
                                            <p:strVal val="#ppt_x"/>
                                          </p:val>
                                        </p:tav>
                                        <p:tav tm="100000">
                                          <p:val>
                                            <p:strVal val="#ppt_x"/>
                                          </p:val>
                                        </p:tav>
                                      </p:tavLst>
                                    </p:anim>
                                    <p:anim calcmode="lin" valueType="num">
                                      <p:cBhvr additive="base">
                                        <p:cTn id="18"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1"/>
                                        </p:tgtEl>
                                        <p:attrNameLst>
                                          <p:attrName>style.visibility</p:attrName>
                                        </p:attrNameLst>
                                      </p:cBhvr>
                                      <p:to>
                                        <p:strVal val="visible"/>
                                      </p:to>
                                    </p:set>
                                    <p:anim calcmode="lin" valueType="num">
                                      <p:cBhvr additive="base">
                                        <p:cTn id="23" dur="500" fill="hold"/>
                                        <p:tgtEl>
                                          <p:spTgt spid="81"/>
                                        </p:tgtEl>
                                        <p:attrNameLst>
                                          <p:attrName>ppt_x</p:attrName>
                                        </p:attrNameLst>
                                      </p:cBhvr>
                                      <p:tavLst>
                                        <p:tav tm="0">
                                          <p:val>
                                            <p:strVal val="#ppt_x"/>
                                          </p:val>
                                        </p:tav>
                                        <p:tav tm="100000">
                                          <p:val>
                                            <p:strVal val="#ppt_x"/>
                                          </p:val>
                                        </p:tav>
                                      </p:tavLst>
                                    </p:anim>
                                    <p:anim calcmode="lin" valueType="num">
                                      <p:cBhvr additive="base">
                                        <p:cTn id="24" dur="500" fill="hold"/>
                                        <p:tgtEl>
                                          <p:spTgt spid="81"/>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78"/>
                                        </p:tgtEl>
                                        <p:attrNameLst>
                                          <p:attrName>style.visibility</p:attrName>
                                        </p:attrNameLst>
                                      </p:cBhvr>
                                      <p:to>
                                        <p:strVal val="visible"/>
                                      </p:to>
                                    </p:set>
                                    <p:anim calcmode="lin" valueType="num">
                                      <p:cBhvr additive="base">
                                        <p:cTn id="28" dur="500" fill="hold"/>
                                        <p:tgtEl>
                                          <p:spTgt spid="78"/>
                                        </p:tgtEl>
                                        <p:attrNameLst>
                                          <p:attrName>ppt_x</p:attrName>
                                        </p:attrNameLst>
                                      </p:cBhvr>
                                      <p:tavLst>
                                        <p:tav tm="0">
                                          <p:val>
                                            <p:strVal val="#ppt_x"/>
                                          </p:val>
                                        </p:tav>
                                        <p:tav tm="100000">
                                          <p:val>
                                            <p:strVal val="#ppt_x"/>
                                          </p:val>
                                        </p:tav>
                                      </p:tavLst>
                                    </p:anim>
                                    <p:anim calcmode="lin" valueType="num">
                                      <p:cBhvr additive="base">
                                        <p:cTn id="29"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blinds(horizontal)">
                                      <p:cBhvr>
                                        <p:cTn id="34" dur="500"/>
                                        <p:tgtEl>
                                          <p:spTgt spid="96"/>
                                        </p:tgtEl>
                                      </p:cBhvr>
                                    </p:animEffec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108"/>
                                        </p:tgtEl>
                                        <p:attrNameLst>
                                          <p:attrName>style.visibility</p:attrName>
                                        </p:attrNameLst>
                                      </p:cBhvr>
                                      <p:to>
                                        <p:strVal val="visible"/>
                                      </p:to>
                                    </p:se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107"/>
                                        </p:tgtEl>
                                        <p:attrNameLst>
                                          <p:attrName>style.visibility</p:attrName>
                                        </p:attrNameLst>
                                      </p:cBhvr>
                                      <p:to>
                                        <p:strVal val="visible"/>
                                      </p:to>
                                    </p:set>
                                    <p:animEffect transition="in" filter="blinds(horizontal)">
                                      <p:cBhvr>
                                        <p:cTn id="41" dur="500"/>
                                        <p:tgtEl>
                                          <p:spTgt spid="10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19"/>
                                        </p:tgtEl>
                                        <p:attrNameLst>
                                          <p:attrName>style.visibility</p:attrName>
                                        </p:attrNameLst>
                                      </p:cBhvr>
                                      <p:to>
                                        <p:strVal val="visible"/>
                                      </p:to>
                                    </p:set>
                                    <p:animEffect transition="in" filter="blinds(horizontal)">
                                      <p:cBhvr>
                                        <p:cTn id="46" dur="500"/>
                                        <p:tgtEl>
                                          <p:spTgt spid="119"/>
                                        </p:tgtEl>
                                      </p:cBhvr>
                                    </p:animEffect>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127"/>
                                        </p:tgtEl>
                                        <p:attrNameLst>
                                          <p:attrName>style.visibility</p:attrName>
                                        </p:attrNameLst>
                                      </p:cBhvr>
                                      <p:to>
                                        <p:strVal val="visible"/>
                                      </p:to>
                                    </p:set>
                                    <p:animEffect transition="in" filter="blinds(horizontal)">
                                      <p:cBhvr>
                                        <p:cTn id="50" dur="500"/>
                                        <p:tgtEl>
                                          <p:spTgt spid="127"/>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9"/>
                                        </p:tgtEl>
                                        <p:attrNameLst>
                                          <p:attrName>style.visibility</p:attrName>
                                        </p:attrNameLst>
                                      </p:cBhvr>
                                      <p:to>
                                        <p:strVal val="visible"/>
                                      </p:to>
                                    </p:se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128"/>
                                        </p:tgtEl>
                                        <p:attrNameLst>
                                          <p:attrName>style.visibility</p:attrName>
                                        </p:attrNameLst>
                                      </p:cBhvr>
                                      <p:to>
                                        <p:strVal val="visible"/>
                                      </p:to>
                                    </p:set>
                                    <p:animEffect transition="in" filter="wipe(up)">
                                      <p:cBhvr>
                                        <p:cTn id="61" dur="500"/>
                                        <p:tgtEl>
                                          <p:spTgt spid="128"/>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577549"/>
                                        </p:tgtEl>
                                        <p:attrNameLst>
                                          <p:attrName>style.visibility</p:attrName>
                                        </p:attrNameLst>
                                      </p:cBhvr>
                                      <p:to>
                                        <p:strVal val="visible"/>
                                      </p:to>
                                    </p:set>
                                    <p:anim calcmode="lin" valueType="num">
                                      <p:cBhvr additive="base">
                                        <p:cTn id="66" dur="500" fill="hold"/>
                                        <p:tgtEl>
                                          <p:spTgt spid="577549"/>
                                        </p:tgtEl>
                                        <p:attrNameLst>
                                          <p:attrName>ppt_x</p:attrName>
                                        </p:attrNameLst>
                                      </p:cBhvr>
                                      <p:tavLst>
                                        <p:tav tm="0">
                                          <p:val>
                                            <p:strVal val="#ppt_x"/>
                                          </p:val>
                                        </p:tav>
                                        <p:tav tm="100000">
                                          <p:val>
                                            <p:strVal val="#ppt_x"/>
                                          </p:val>
                                        </p:tav>
                                      </p:tavLst>
                                    </p:anim>
                                    <p:anim calcmode="lin" valueType="num">
                                      <p:cBhvr additive="base">
                                        <p:cTn id="67" dur="500" fill="hold"/>
                                        <p:tgtEl>
                                          <p:spTgt spid="577549"/>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577550"/>
                                        </p:tgtEl>
                                        <p:attrNameLst>
                                          <p:attrName>style.visibility</p:attrName>
                                        </p:attrNameLst>
                                      </p:cBhvr>
                                      <p:to>
                                        <p:strVal val="visible"/>
                                      </p:to>
                                    </p:set>
                                    <p:anim calcmode="lin" valueType="num">
                                      <p:cBhvr additive="base">
                                        <p:cTn id="72" dur="500" fill="hold"/>
                                        <p:tgtEl>
                                          <p:spTgt spid="577550"/>
                                        </p:tgtEl>
                                        <p:attrNameLst>
                                          <p:attrName>ppt_x</p:attrName>
                                        </p:attrNameLst>
                                      </p:cBhvr>
                                      <p:tavLst>
                                        <p:tav tm="0">
                                          <p:val>
                                            <p:strVal val="#ppt_x"/>
                                          </p:val>
                                        </p:tav>
                                        <p:tav tm="100000">
                                          <p:val>
                                            <p:strVal val="#ppt_x"/>
                                          </p:val>
                                        </p:tav>
                                      </p:tavLst>
                                    </p:anim>
                                    <p:anim calcmode="lin" valueType="num">
                                      <p:cBhvr additive="base">
                                        <p:cTn id="73" dur="500" fill="hold"/>
                                        <p:tgtEl>
                                          <p:spTgt spid="5775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28" grpId="0"/>
      <p:bldP spid="129" grpId="0"/>
      <p:bldP spid="13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193899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：图示刚架，各杆均为矩形截面，截面高</a:t>
            </a:r>
            <a:r>
              <a:rPr lang="en-US" altLang="zh-CN" sz="2000" b="1" i="1">
                <a:solidFill>
                  <a:srgbClr val="C00000"/>
                </a:solidFill>
                <a:latin typeface="Times New Roman" pitchFamily="18" charset="0"/>
                <a:cs typeface="Times New Roman" pitchFamily="18" charset="0"/>
              </a:rPr>
              <a:t>h=</a:t>
            </a:r>
            <a:r>
              <a:rPr lang="en-US" altLang="zh-CN" sz="2000" b="1">
                <a:solidFill>
                  <a:srgbClr val="C00000"/>
                </a:solidFill>
                <a:latin typeface="Times New Roman" pitchFamily="18" charset="0"/>
                <a:cs typeface="Times New Roman" pitchFamily="18" charset="0"/>
              </a:rPr>
              <a:t>40cm</a:t>
            </a:r>
            <a:r>
              <a:rPr lang="zh-CN" altLang="en-US" sz="2000" b="1">
                <a:latin typeface="Times New Roman" pitchFamily="18" charset="0"/>
                <a:cs typeface="Times New Roman" pitchFamily="18" charset="0"/>
              </a:rPr>
              <a:t>，截面形心位于截面高度</a:t>
            </a:r>
            <a:r>
              <a:rPr lang="en-US" altLang="zh-CN" sz="2000" b="1">
                <a:solidFill>
                  <a:srgbClr val="C00000"/>
                </a:solidFill>
                <a:latin typeface="Times New Roman" pitchFamily="18" charset="0"/>
                <a:cs typeface="Times New Roman" pitchFamily="18" charset="0"/>
              </a:rPr>
              <a:t>1/2</a:t>
            </a:r>
            <a:r>
              <a:rPr lang="zh-CN" altLang="en-US" sz="2000" b="1">
                <a:latin typeface="Times New Roman" pitchFamily="18" charset="0"/>
                <a:cs typeface="Times New Roman" pitchFamily="18" charset="0"/>
              </a:rPr>
              <a:t>处。设刚架内部温度上升</a:t>
            </a:r>
            <a:r>
              <a:rPr lang="en-US" altLang="zh-CN" sz="2000" b="1">
                <a:solidFill>
                  <a:srgbClr val="C00000"/>
                </a:solidFill>
                <a:latin typeface="Times New Roman" pitchFamily="18" charset="0"/>
                <a:cs typeface="Times New Roman" pitchFamily="18" charset="0"/>
              </a:rPr>
              <a:t>10℃</a:t>
            </a:r>
            <a:r>
              <a:rPr lang="zh-CN" altLang="en-US" sz="2000" b="1">
                <a:latin typeface="Times New Roman" pitchFamily="18" charset="0"/>
                <a:cs typeface="Times New Roman" pitchFamily="18" charset="0"/>
              </a:rPr>
              <a:t>外部下降</a:t>
            </a:r>
            <a:r>
              <a:rPr lang="en-US" altLang="zh-CN" sz="2000" b="1">
                <a:solidFill>
                  <a:srgbClr val="C00000"/>
                </a:solidFill>
                <a:latin typeface="Times New Roman" pitchFamily="18" charset="0"/>
                <a:cs typeface="Times New Roman" pitchFamily="18" charset="0"/>
              </a:rPr>
              <a:t>20℃</a:t>
            </a:r>
            <a:r>
              <a:rPr lang="zh-CN" altLang="en-US" sz="2000" b="1">
                <a:latin typeface="Times New Roman" pitchFamily="18" charset="0"/>
                <a:cs typeface="Times New Roman" pitchFamily="18" charset="0"/>
              </a:rPr>
              <a:t>。线膨胀系数</a:t>
            </a:r>
            <a:r>
              <a:rPr lang="en-US" altLang="zh-CN" sz="2000" b="1" i="1">
                <a:solidFill>
                  <a:srgbClr val="C00000"/>
                </a:solidFill>
                <a:latin typeface="Times New Roman" pitchFamily="18" charset="0"/>
                <a:cs typeface="Times New Roman" pitchFamily="18" charset="0"/>
              </a:rPr>
              <a:t>α</a:t>
            </a:r>
            <a:r>
              <a:rPr lang="en-US" altLang="zh-CN" sz="2000" b="1">
                <a:solidFill>
                  <a:srgbClr val="C00000"/>
                </a:solidFill>
                <a:latin typeface="Times New Roman" pitchFamily="18" charset="0"/>
                <a:cs typeface="Times New Roman" pitchFamily="18" charset="0"/>
              </a:rPr>
              <a:t>=1×10</a:t>
            </a:r>
            <a:r>
              <a:rPr lang="en-US" altLang="zh-CN" sz="2000" b="1" baseline="30000">
                <a:solidFill>
                  <a:srgbClr val="C00000"/>
                </a:solidFill>
                <a:latin typeface="Times New Roman" pitchFamily="18" charset="0"/>
                <a:cs typeface="Times New Roman" pitchFamily="18" charset="0"/>
              </a:rPr>
              <a:t>-5</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D</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a:t>
            </a:r>
          </a:p>
        </p:txBody>
      </p:sp>
      <p:sp>
        <p:nvSpPr>
          <p:cNvPr id="60" name="Rectangle 6"/>
          <p:cNvSpPr>
            <a:spLocks noChangeArrowheads="1"/>
          </p:cNvSpPr>
          <p:nvPr/>
        </p:nvSpPr>
        <p:spPr bwMode="auto">
          <a:xfrm>
            <a:off x="414948" y="3714752"/>
            <a:ext cx="4888278" cy="429285"/>
          </a:xfrm>
          <a:prstGeom prst="rect">
            <a:avLst/>
          </a:prstGeom>
          <a:noFill/>
          <a:ln w="9525">
            <a:noFill/>
            <a:miter lim="800000"/>
            <a:headEnd/>
            <a:tailEnd/>
          </a:ln>
        </p:spPr>
        <p:txBody>
          <a:bodyPr wrap="square">
            <a:spAutoFit/>
          </a:bodyPr>
          <a:lstStyle/>
          <a:p>
            <a:pPr marL="1258888" lvl="1" indent="-809625" fontAlgn="base">
              <a:lnSpc>
                <a:spcPct val="120000"/>
              </a:lnSpc>
              <a:spcBef>
                <a:spcPct val="20000"/>
              </a:spcBef>
              <a:spcAft>
                <a:spcPct val="0"/>
              </a:spcAft>
            </a:pPr>
            <a:r>
              <a:rPr lang="zh-CN" altLang="en-US" sz="2000" b="1">
                <a:latin typeface="Times New Roman" pitchFamily="18" charset="0"/>
                <a:cs typeface="Times New Roman" pitchFamily="18" charset="0"/>
              </a:rPr>
              <a:t>解：⑵</a:t>
            </a:r>
          </a:p>
        </p:txBody>
      </p:sp>
      <p:sp>
        <p:nvSpPr>
          <p:cNvPr id="128" name="Rectangle 6"/>
          <p:cNvSpPr>
            <a:spLocks noChangeArrowheads="1"/>
          </p:cNvSpPr>
          <p:nvPr/>
        </p:nvSpPr>
        <p:spPr bwMode="auto">
          <a:xfrm>
            <a:off x="469540" y="4741143"/>
            <a:ext cx="4888278" cy="461665"/>
          </a:xfrm>
          <a:prstGeom prst="rect">
            <a:avLst/>
          </a:prstGeom>
          <a:noFill/>
          <a:ln w="9525">
            <a:noFill/>
            <a:miter lim="800000"/>
            <a:headEnd/>
            <a:tailEnd/>
          </a:ln>
        </p:spPr>
        <p:txBody>
          <a:bodyPr wrap="square">
            <a:spAutoFit/>
          </a:bodyPr>
          <a:lstStyle/>
          <a:p>
            <a:pPr marL="1258888" lvl="1" indent="-809625" fontAlgn="base">
              <a:lnSpc>
                <a:spcPct val="120000"/>
              </a:lnSpc>
              <a:spcBef>
                <a:spcPct val="20000"/>
              </a:spcBef>
              <a:spcAft>
                <a:spcPct val="0"/>
              </a:spcAft>
            </a:pPr>
            <a:r>
              <a:rPr lang="zh-CN" altLang="en-US" sz="2000" b="1">
                <a:latin typeface="Times New Roman" pitchFamily="18" charset="0"/>
                <a:cs typeface="Times New Roman" pitchFamily="18" charset="0"/>
              </a:rPr>
              <a:t>        ⑶ 计算温轴线处升与杆两侧温差</a:t>
            </a:r>
          </a:p>
        </p:txBody>
      </p:sp>
      <p:grpSp>
        <p:nvGrpSpPr>
          <p:cNvPr id="49" name="组合 48"/>
          <p:cNvGrpSpPr/>
          <p:nvPr/>
        </p:nvGrpSpPr>
        <p:grpSpPr>
          <a:xfrm>
            <a:off x="1799590" y="3674452"/>
            <a:ext cx="3429000" cy="1071553"/>
            <a:chOff x="1785942" y="5388951"/>
            <a:chExt cx="3429000" cy="1071553"/>
          </a:xfrm>
        </p:grpSpPr>
        <p:graphicFrame>
          <p:nvGraphicFramePr>
            <p:cNvPr id="577549" name="Object 3"/>
            <p:cNvGraphicFramePr>
              <a:graphicFrameLocks noChangeAspect="1"/>
            </p:cNvGraphicFramePr>
            <p:nvPr/>
          </p:nvGraphicFramePr>
          <p:xfrm>
            <a:off x="1785942" y="5388951"/>
            <a:ext cx="3429000" cy="628650"/>
          </p:xfrm>
          <a:graphic>
            <a:graphicData uri="http://schemas.openxmlformats.org/presentationml/2006/ole">
              <mc:AlternateContent xmlns:mc="http://schemas.openxmlformats.org/markup-compatibility/2006">
                <mc:Choice xmlns:v="urn:schemas-microsoft-com:vml" Requires="v">
                  <p:oleObj spid="_x0000_s578572" name="Equation" r:id="rId4" imgW="2145960" imgH="393480" progId="Equation.DSMT4">
                    <p:embed/>
                  </p:oleObj>
                </mc:Choice>
                <mc:Fallback>
                  <p:oleObj name="Equation" r:id="rId4" imgW="214596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42" y="5388951"/>
                          <a:ext cx="34290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7550" name="Object 3"/>
            <p:cNvGraphicFramePr>
              <a:graphicFrameLocks noChangeAspect="1"/>
            </p:cNvGraphicFramePr>
            <p:nvPr/>
          </p:nvGraphicFramePr>
          <p:xfrm>
            <a:off x="1794209" y="6014416"/>
            <a:ext cx="3165475" cy="446088"/>
          </p:xfrm>
          <a:graphic>
            <a:graphicData uri="http://schemas.openxmlformats.org/presentationml/2006/ole">
              <mc:AlternateContent xmlns:mc="http://schemas.openxmlformats.org/markup-compatibility/2006">
                <mc:Choice xmlns:v="urn:schemas-microsoft-com:vml" Requires="v">
                  <p:oleObj spid="_x0000_s578573" name="Equation" r:id="rId6" imgW="1981080" imgH="279360" progId="Equation.DSMT4">
                    <p:embed/>
                  </p:oleObj>
                </mc:Choice>
                <mc:Fallback>
                  <p:oleObj name="Equation" r:id="rId6" imgW="1981080" imgH="279360"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4209" y="6014416"/>
                          <a:ext cx="316547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8" name="组合 47"/>
          <p:cNvGrpSpPr/>
          <p:nvPr/>
        </p:nvGrpSpPr>
        <p:grpSpPr>
          <a:xfrm>
            <a:off x="5512172" y="1859191"/>
            <a:ext cx="3546394" cy="1712685"/>
            <a:chOff x="5512172" y="4000504"/>
            <a:chExt cx="3546394" cy="1712685"/>
          </a:xfrm>
        </p:grpSpPr>
        <p:grpSp>
          <p:nvGrpSpPr>
            <p:cNvPr id="6" name="组合 80"/>
            <p:cNvGrpSpPr/>
            <p:nvPr/>
          </p:nvGrpSpPr>
          <p:grpSpPr>
            <a:xfrm>
              <a:off x="5512172" y="4124744"/>
              <a:ext cx="1500198" cy="1588445"/>
              <a:chOff x="5512172" y="4214818"/>
              <a:chExt cx="1500198" cy="1588445"/>
            </a:xfrm>
          </p:grpSpPr>
          <p:pic>
            <p:nvPicPr>
              <p:cNvPr id="577544" name="Picture 8"/>
              <p:cNvPicPr>
                <a:picLocks noChangeAspect="1" noChangeArrowheads="1"/>
              </p:cNvPicPr>
              <p:nvPr/>
            </p:nvPicPr>
            <p:blipFill>
              <a:blip r:embed="rId8"/>
              <a:srcRect l="13720" t="13804" r="8536" b="3373"/>
              <a:stretch>
                <a:fillRect/>
              </a:stretch>
            </p:blipFill>
            <p:spPr bwMode="auto">
              <a:xfrm>
                <a:off x="5512172" y="4214818"/>
                <a:ext cx="1500198" cy="1588445"/>
              </a:xfrm>
              <a:prstGeom prst="rect">
                <a:avLst/>
              </a:prstGeom>
              <a:noFill/>
              <a:ln w="9525">
                <a:noFill/>
                <a:miter lim="800000"/>
                <a:headEnd/>
                <a:tailEnd/>
              </a:ln>
              <a:effectLst/>
            </p:spPr>
          </p:pic>
          <p:graphicFrame>
            <p:nvGraphicFramePr>
              <p:cNvPr id="75" name="Object 9"/>
              <p:cNvGraphicFramePr>
                <a:graphicFrameLocks noChangeAspect="1"/>
              </p:cNvGraphicFramePr>
              <p:nvPr/>
            </p:nvGraphicFramePr>
            <p:xfrm>
              <a:off x="6247192" y="5429264"/>
              <a:ext cx="336550" cy="336550"/>
            </p:xfrm>
            <a:graphic>
              <a:graphicData uri="http://schemas.openxmlformats.org/presentationml/2006/ole">
                <mc:AlternateContent xmlns:mc="http://schemas.openxmlformats.org/markup-compatibility/2006">
                  <mc:Choice xmlns:v="urn:schemas-microsoft-com:vml" Requires="v">
                    <p:oleObj spid="_x0000_s578574" name="Equation" r:id="rId9" imgW="203040" imgH="203040" progId="Equation.DSMT4">
                      <p:embed/>
                    </p:oleObj>
                  </mc:Choice>
                  <mc:Fallback>
                    <p:oleObj name="Equation" r:id="rId9" imgW="203040" imgH="20304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7192" y="5429264"/>
                            <a:ext cx="336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77"/>
            <p:cNvGrpSpPr/>
            <p:nvPr/>
          </p:nvGrpSpPr>
          <p:grpSpPr>
            <a:xfrm>
              <a:off x="7358082" y="4119413"/>
              <a:ext cx="1500198" cy="1588445"/>
              <a:chOff x="7358082" y="4239467"/>
              <a:chExt cx="1500198" cy="1588445"/>
            </a:xfrm>
          </p:grpSpPr>
          <p:pic>
            <p:nvPicPr>
              <p:cNvPr id="76" name="Picture 8"/>
              <p:cNvPicPr>
                <a:picLocks noChangeAspect="1" noChangeArrowheads="1"/>
              </p:cNvPicPr>
              <p:nvPr/>
            </p:nvPicPr>
            <p:blipFill>
              <a:blip r:embed="rId8"/>
              <a:srcRect l="13720" t="13804" r="8536" b="3373"/>
              <a:stretch>
                <a:fillRect/>
              </a:stretch>
            </p:blipFill>
            <p:spPr bwMode="auto">
              <a:xfrm>
                <a:off x="7358082" y="4239467"/>
                <a:ext cx="1500198" cy="1588445"/>
              </a:xfrm>
              <a:prstGeom prst="rect">
                <a:avLst/>
              </a:prstGeom>
              <a:noFill/>
              <a:ln w="9525">
                <a:noFill/>
                <a:miter lim="800000"/>
                <a:headEnd/>
                <a:tailEnd/>
              </a:ln>
              <a:effectLst/>
            </p:spPr>
          </p:pic>
          <p:graphicFrame>
            <p:nvGraphicFramePr>
              <p:cNvPr id="77" name="Object 10"/>
              <p:cNvGraphicFramePr>
                <a:graphicFrameLocks noChangeAspect="1"/>
              </p:cNvGraphicFramePr>
              <p:nvPr/>
            </p:nvGraphicFramePr>
            <p:xfrm>
              <a:off x="8072462" y="5429264"/>
              <a:ext cx="400050" cy="357188"/>
            </p:xfrm>
            <a:graphic>
              <a:graphicData uri="http://schemas.openxmlformats.org/presentationml/2006/ole">
                <mc:AlternateContent xmlns:mc="http://schemas.openxmlformats.org/markup-compatibility/2006">
                  <mc:Choice xmlns:v="urn:schemas-microsoft-com:vml" Requires="v">
                    <p:oleObj spid="_x0000_s578575" name="Equation" r:id="rId11" imgW="241200" imgH="215640" progId="Equation.DSMT4">
                      <p:embed/>
                    </p:oleObj>
                  </mc:Choice>
                  <mc:Fallback>
                    <p:oleObj name="Equation" r:id="rId11" imgW="241200" imgH="21564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72462" y="5429264"/>
                            <a:ext cx="4000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95"/>
            <p:cNvGrpSpPr/>
            <p:nvPr/>
          </p:nvGrpSpPr>
          <p:grpSpPr>
            <a:xfrm flipV="1">
              <a:off x="5715008" y="4350347"/>
              <a:ext cx="1214446" cy="286546"/>
              <a:chOff x="5715008" y="4143380"/>
              <a:chExt cx="1214446" cy="286546"/>
            </a:xfrm>
          </p:grpSpPr>
          <p:cxnSp>
            <p:nvCxnSpPr>
              <p:cNvPr id="87" name="直接连接符 86"/>
              <p:cNvCxnSpPr/>
              <p:nvPr/>
            </p:nvCxnSpPr>
            <p:spPr bwMode="auto">
              <a:xfrm rot="5400000" flipH="1" flipV="1">
                <a:off x="5587122" y="4286256"/>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89" name="直接连接符 88"/>
              <p:cNvCxnSpPr/>
              <p:nvPr/>
            </p:nvCxnSpPr>
            <p:spPr bwMode="auto">
              <a:xfrm>
                <a:off x="5715008" y="4143380"/>
                <a:ext cx="1214446" cy="285752"/>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nvGrpSpPr>
            <p:cNvPr id="9" name="组合 106"/>
            <p:cNvGrpSpPr/>
            <p:nvPr/>
          </p:nvGrpSpPr>
          <p:grpSpPr>
            <a:xfrm flipH="1">
              <a:off x="5726108" y="4342713"/>
              <a:ext cx="297230" cy="1188000"/>
              <a:chOff x="5429256" y="4444076"/>
              <a:chExt cx="297230" cy="1188000"/>
            </a:xfrm>
          </p:grpSpPr>
          <p:cxnSp>
            <p:nvCxnSpPr>
              <p:cNvPr id="97" name="直接连接符 96"/>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99" name="直接连接符 98"/>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01" name="直接连接符 100"/>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08" name="TextBox 107"/>
            <p:cNvSpPr txBox="1"/>
            <p:nvPr/>
          </p:nvSpPr>
          <p:spPr>
            <a:xfrm>
              <a:off x="5549554" y="4000504"/>
              <a:ext cx="458780"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4m</a:t>
              </a:r>
              <a:endParaRPr lang="zh-CN" altLang="en-US" sz="1600" b="1">
                <a:solidFill>
                  <a:srgbClr val="C00000"/>
                </a:solidFill>
                <a:latin typeface="Times New Roman" pitchFamily="18" charset="0"/>
                <a:cs typeface="Times New Roman" pitchFamily="18" charset="0"/>
              </a:endParaRPr>
            </a:p>
          </p:txBody>
        </p:sp>
        <p:grpSp>
          <p:nvGrpSpPr>
            <p:cNvPr id="10" name="组合 118"/>
            <p:cNvGrpSpPr/>
            <p:nvPr/>
          </p:nvGrpSpPr>
          <p:grpSpPr>
            <a:xfrm>
              <a:off x="8440941" y="4361636"/>
              <a:ext cx="297230" cy="578851"/>
              <a:chOff x="8440941" y="4361636"/>
              <a:chExt cx="297230" cy="578851"/>
            </a:xfrm>
          </p:grpSpPr>
          <p:grpSp>
            <p:nvGrpSpPr>
              <p:cNvPr id="11" name="组合 108"/>
              <p:cNvGrpSpPr/>
              <p:nvPr/>
            </p:nvGrpSpPr>
            <p:grpSpPr>
              <a:xfrm>
                <a:off x="8440941" y="4361636"/>
                <a:ext cx="297230" cy="578851"/>
                <a:chOff x="5429256" y="4444076"/>
                <a:chExt cx="297230" cy="1188000"/>
              </a:xfrm>
            </p:grpSpPr>
            <p:cxnSp>
              <p:nvCxnSpPr>
                <p:cNvPr id="110" name="直接连接符 109"/>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11" name="直接连接符 110"/>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12" name="直接连接符 111"/>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cxnSp>
            <p:nvCxnSpPr>
              <p:cNvPr id="118" name="直接连接符 117"/>
              <p:cNvCxnSpPr/>
              <p:nvPr/>
            </p:nvCxnSpPr>
            <p:spPr bwMode="auto">
              <a:xfrm>
                <a:off x="8561239" y="4643446"/>
                <a:ext cx="108000"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nvGrpSpPr>
            <p:cNvPr id="12" name="组合 126"/>
            <p:cNvGrpSpPr/>
            <p:nvPr/>
          </p:nvGrpSpPr>
          <p:grpSpPr>
            <a:xfrm>
              <a:off x="7549818" y="4357694"/>
              <a:ext cx="333746" cy="1152000"/>
              <a:chOff x="7549818" y="4357694"/>
              <a:chExt cx="333746" cy="1152000"/>
            </a:xfrm>
          </p:grpSpPr>
          <p:grpSp>
            <p:nvGrpSpPr>
              <p:cNvPr id="13" name="组合 108"/>
              <p:cNvGrpSpPr/>
              <p:nvPr/>
            </p:nvGrpSpPr>
            <p:grpSpPr>
              <a:xfrm flipH="1">
                <a:off x="7572396" y="4357694"/>
                <a:ext cx="297230" cy="1152000"/>
                <a:chOff x="5429256" y="4444076"/>
                <a:chExt cx="297230" cy="1188000"/>
              </a:xfrm>
            </p:grpSpPr>
            <p:cxnSp>
              <p:nvCxnSpPr>
                <p:cNvPr id="123" name="直接连接符 122"/>
                <p:cNvCxnSpPr/>
                <p:nvPr/>
              </p:nvCxnSpPr>
              <p:spPr bwMode="auto">
                <a:xfrm rot="10800000" flipH="1" flipV="1">
                  <a:off x="5429256" y="4444122"/>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24" name="直接连接符 123"/>
                <p:cNvCxnSpPr/>
                <p:nvPr/>
              </p:nvCxnSpPr>
              <p:spPr bwMode="auto">
                <a:xfrm rot="10800000" flipH="1" flipV="1">
                  <a:off x="5440734" y="5626999"/>
                  <a:ext cx="2857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25" name="直接连接符 124"/>
                <p:cNvCxnSpPr/>
                <p:nvPr/>
              </p:nvCxnSpPr>
              <p:spPr bwMode="auto">
                <a:xfrm rot="5400000">
                  <a:off x="4844098" y="5037679"/>
                  <a:ext cx="1188000" cy="79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26" name="TextBox 125"/>
              <p:cNvSpPr txBox="1"/>
              <p:nvPr/>
            </p:nvSpPr>
            <p:spPr>
              <a:xfrm>
                <a:off x="7549818" y="4739698"/>
                <a:ext cx="333746" cy="400110"/>
              </a:xfrm>
              <a:prstGeom prst="rect">
                <a:avLst/>
              </a:prstGeom>
              <a:noFill/>
              <a:ln w="28575">
                <a:noFill/>
              </a:ln>
            </p:spPr>
            <p:txBody>
              <a:bodyPr wrap="none" rtlCol="0">
                <a:spAutoFit/>
              </a:bodyPr>
              <a:lstStyle/>
              <a:p>
                <a:r>
                  <a:rPr lang="en-US" altLang="zh-CN" sz="2000" b="1">
                    <a:solidFill>
                      <a:srgbClr val="C00000"/>
                    </a:solidFill>
                  </a:rPr>
                  <a:t>+</a:t>
                </a:r>
                <a:endParaRPr lang="zh-CN" altLang="en-US" sz="2000" b="1">
                  <a:solidFill>
                    <a:srgbClr val="C00000"/>
                  </a:solidFill>
                </a:endParaRPr>
              </a:p>
            </p:txBody>
          </p:sp>
        </p:grpSp>
        <p:sp>
          <p:nvSpPr>
            <p:cNvPr id="129" name="TextBox 128"/>
            <p:cNvSpPr txBox="1"/>
            <p:nvPr/>
          </p:nvSpPr>
          <p:spPr>
            <a:xfrm>
              <a:off x="8501090" y="4929198"/>
              <a:ext cx="287258"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1</a:t>
              </a:r>
              <a:endParaRPr lang="zh-CN" altLang="en-US" sz="1600" b="1">
                <a:solidFill>
                  <a:srgbClr val="C00000"/>
                </a:solidFill>
                <a:latin typeface="Times New Roman" pitchFamily="18" charset="0"/>
                <a:cs typeface="Times New Roman" pitchFamily="18" charset="0"/>
              </a:endParaRPr>
            </a:p>
          </p:txBody>
        </p:sp>
        <p:sp>
          <p:nvSpPr>
            <p:cNvPr id="131" name="TextBox 130"/>
            <p:cNvSpPr txBox="1"/>
            <p:nvPr/>
          </p:nvSpPr>
          <p:spPr>
            <a:xfrm>
              <a:off x="7858148" y="4786322"/>
              <a:ext cx="287258" cy="338554"/>
            </a:xfrm>
            <a:prstGeom prst="rect">
              <a:avLst/>
            </a:prstGeom>
            <a:noFill/>
            <a:ln w="28575">
              <a:noFill/>
            </a:ln>
          </p:spPr>
          <p:txBody>
            <a:bodyPr wrap="none" rtlCol="0">
              <a:spAutoFit/>
            </a:bodyPr>
            <a:lstStyle/>
            <a:p>
              <a:r>
                <a:rPr lang="en-US" altLang="zh-CN" sz="1600" b="1">
                  <a:solidFill>
                    <a:srgbClr val="C00000"/>
                  </a:solidFill>
                  <a:latin typeface="Times New Roman" pitchFamily="18" charset="0"/>
                  <a:cs typeface="Times New Roman" pitchFamily="18" charset="0"/>
                </a:rPr>
                <a:t>1</a:t>
              </a:r>
              <a:endParaRPr lang="zh-CN" altLang="en-US" sz="1600" b="1">
                <a:solidFill>
                  <a:srgbClr val="C00000"/>
                </a:solidFill>
                <a:latin typeface="Times New Roman" pitchFamily="18" charset="0"/>
                <a:cs typeface="Times New Roman" pitchFamily="18" charset="0"/>
              </a:endParaRPr>
            </a:p>
          </p:txBody>
        </p:sp>
        <p:grpSp>
          <p:nvGrpSpPr>
            <p:cNvPr id="4" name="组合 71"/>
            <p:cNvGrpSpPr/>
            <p:nvPr/>
          </p:nvGrpSpPr>
          <p:grpSpPr>
            <a:xfrm>
              <a:off x="6902158" y="4946044"/>
              <a:ext cx="315866" cy="583646"/>
              <a:chOff x="7485174" y="2643182"/>
              <a:chExt cx="315866" cy="583646"/>
            </a:xfrm>
          </p:grpSpPr>
          <p:cxnSp>
            <p:nvCxnSpPr>
              <p:cNvPr id="62" name="直接箭头连接符 61"/>
              <p:cNvCxnSpPr/>
              <p:nvPr/>
            </p:nvCxnSpPr>
            <p:spPr bwMode="auto">
              <a:xfrm rot="5400000" flipH="1" flipV="1">
                <a:off x="7271654" y="2856702"/>
                <a:ext cx="428628"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67" name="矩形 66"/>
              <p:cNvSpPr/>
              <p:nvPr/>
            </p:nvSpPr>
            <p:spPr>
              <a:xfrm>
                <a:off x="7500958" y="2857496"/>
                <a:ext cx="300082" cy="369332"/>
              </a:xfrm>
              <a:prstGeom prst="rect">
                <a:avLst/>
              </a:prstGeom>
            </p:spPr>
            <p:txBody>
              <a:bodyPr wrap="none">
                <a:spAutoFit/>
              </a:bodyPr>
              <a:lstStyle/>
              <a:p>
                <a:r>
                  <a:rPr lang="en-US" altLang="zh-CN" b="1">
                    <a:solidFill>
                      <a:srgbClr val="C00000"/>
                    </a:solidFill>
                    <a:latin typeface="Times New Roman" pitchFamily="18" charset="0"/>
                    <a:cs typeface="Times New Roman" pitchFamily="18" charset="0"/>
                  </a:rPr>
                  <a:t>1</a:t>
                </a:r>
                <a:endParaRPr lang="zh-CN" altLang="en-US">
                  <a:solidFill>
                    <a:srgbClr val="C00000"/>
                  </a:solidFill>
                </a:endParaRPr>
              </a:p>
            </p:txBody>
          </p:sp>
        </p:grpSp>
        <p:grpSp>
          <p:nvGrpSpPr>
            <p:cNvPr id="45" name="组合 71"/>
            <p:cNvGrpSpPr/>
            <p:nvPr/>
          </p:nvGrpSpPr>
          <p:grpSpPr>
            <a:xfrm>
              <a:off x="8742700" y="4946044"/>
              <a:ext cx="315866" cy="583646"/>
              <a:chOff x="7485174" y="2643182"/>
              <a:chExt cx="315866" cy="583646"/>
            </a:xfrm>
          </p:grpSpPr>
          <p:cxnSp>
            <p:nvCxnSpPr>
              <p:cNvPr id="46" name="直接箭头连接符 45"/>
              <p:cNvCxnSpPr/>
              <p:nvPr/>
            </p:nvCxnSpPr>
            <p:spPr bwMode="auto">
              <a:xfrm rot="5400000" flipH="1" flipV="1">
                <a:off x="7271654" y="2856702"/>
                <a:ext cx="428628"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47" name="矩形 46"/>
              <p:cNvSpPr/>
              <p:nvPr/>
            </p:nvSpPr>
            <p:spPr>
              <a:xfrm>
                <a:off x="7500958" y="2857496"/>
                <a:ext cx="300082" cy="369332"/>
              </a:xfrm>
              <a:prstGeom prst="rect">
                <a:avLst/>
              </a:prstGeom>
            </p:spPr>
            <p:txBody>
              <a:bodyPr wrap="none">
                <a:spAutoFit/>
              </a:bodyPr>
              <a:lstStyle/>
              <a:p>
                <a:r>
                  <a:rPr lang="en-US" altLang="zh-CN" b="1">
                    <a:solidFill>
                      <a:srgbClr val="C00000"/>
                    </a:solidFill>
                    <a:latin typeface="Times New Roman" pitchFamily="18" charset="0"/>
                    <a:cs typeface="Times New Roman" pitchFamily="18" charset="0"/>
                  </a:rPr>
                  <a:t>1</a:t>
                </a:r>
                <a:endParaRPr lang="zh-CN" altLang="en-US">
                  <a:solidFill>
                    <a:srgbClr val="C00000"/>
                  </a:solidFill>
                </a:endParaRPr>
              </a:p>
            </p:txBody>
          </p:sp>
        </p:grpSp>
      </p:grpSp>
      <p:graphicFrame>
        <p:nvGraphicFramePr>
          <p:cNvPr id="578569" name="Object 3"/>
          <p:cNvGraphicFramePr>
            <a:graphicFrameLocks noChangeAspect="1"/>
          </p:cNvGraphicFramePr>
          <p:nvPr/>
        </p:nvGraphicFramePr>
        <p:xfrm>
          <a:off x="1914526" y="5158096"/>
          <a:ext cx="2800350" cy="628650"/>
        </p:xfrm>
        <a:graphic>
          <a:graphicData uri="http://schemas.openxmlformats.org/presentationml/2006/ole">
            <mc:AlternateContent xmlns:mc="http://schemas.openxmlformats.org/markup-compatibility/2006">
              <mc:Choice xmlns:v="urn:schemas-microsoft-com:vml" Requires="v">
                <p:oleObj spid="_x0000_s578576" name="Equation" r:id="rId13" imgW="1752480" imgH="393480" progId="Equation.DSMT4">
                  <p:embed/>
                </p:oleObj>
              </mc:Choice>
              <mc:Fallback>
                <p:oleObj name="Equation" r:id="rId13" imgW="1752480" imgH="393480" progId="Equation.DSMT4">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4526" y="5158096"/>
                        <a:ext cx="28003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8570" name="Object 10"/>
          <p:cNvGraphicFramePr>
            <a:graphicFrameLocks noChangeAspect="1"/>
          </p:cNvGraphicFramePr>
          <p:nvPr/>
        </p:nvGraphicFramePr>
        <p:xfrm>
          <a:off x="1857375" y="5813750"/>
          <a:ext cx="2800350" cy="404813"/>
        </p:xfrm>
        <a:graphic>
          <a:graphicData uri="http://schemas.openxmlformats.org/presentationml/2006/ole">
            <mc:AlternateContent xmlns:mc="http://schemas.openxmlformats.org/markup-compatibility/2006">
              <mc:Choice xmlns:v="urn:schemas-microsoft-com:vml" Requires="v">
                <p:oleObj spid="_x0000_s578577" name="Equation" r:id="rId15" imgW="1752480" imgH="253800" progId="Equation.DSMT4">
                  <p:embed/>
                </p:oleObj>
              </mc:Choice>
              <mc:Fallback>
                <p:oleObj name="Equation" r:id="rId15" imgW="1752480" imgH="253800" progId="Equation.DSMT4">
                  <p:embed/>
                  <p:pic>
                    <p:nvPicPr>
                      <p:cNvPr id="0"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57375" y="5813750"/>
                        <a:ext cx="280035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 name="Rectangle 6"/>
          <p:cNvSpPr>
            <a:spLocks noChangeArrowheads="1"/>
          </p:cNvSpPr>
          <p:nvPr/>
        </p:nvSpPr>
        <p:spPr bwMode="auto">
          <a:xfrm>
            <a:off x="5500694" y="3728400"/>
            <a:ext cx="3357586" cy="461665"/>
          </a:xfrm>
          <a:prstGeom prst="rect">
            <a:avLst/>
          </a:prstGeom>
          <a:noFill/>
          <a:ln w="9525">
            <a:noFill/>
            <a:miter lim="800000"/>
            <a:headEnd/>
            <a:tailEnd/>
          </a:ln>
        </p:spPr>
        <p:txBody>
          <a:bodyPr wrap="square">
            <a:spAutoFit/>
          </a:bodyPr>
          <a:lstStyle/>
          <a:p>
            <a:pPr marL="0" lvl="1" fontAlgn="base">
              <a:lnSpc>
                <a:spcPct val="120000"/>
              </a:lnSpc>
              <a:spcBef>
                <a:spcPct val="20000"/>
              </a:spcBef>
              <a:spcAft>
                <a:spcPct val="0"/>
              </a:spcAft>
            </a:pPr>
            <a:r>
              <a:rPr lang="zh-CN" altLang="en-US" sz="2000" b="1">
                <a:latin typeface="Times New Roman" pitchFamily="18" charset="0"/>
                <a:cs typeface="Times New Roman" pitchFamily="18" charset="0"/>
              </a:rPr>
              <a:t>⑷ 计算</a:t>
            </a:r>
            <a:r>
              <a:rPr lang="en-US" altLang="zh-CN" sz="2000" b="1" i="1">
                <a:latin typeface="Times New Roman" pitchFamily="18" charset="0"/>
                <a:cs typeface="Times New Roman" pitchFamily="18" charset="0"/>
              </a:rPr>
              <a:t>D</a:t>
            </a:r>
            <a:r>
              <a:rPr lang="zh-CN" altLang="en-US" sz="2000" b="1">
                <a:latin typeface="Times New Roman" pitchFamily="18" charset="0"/>
                <a:cs typeface="Times New Roman" pitchFamily="18" charset="0"/>
              </a:rPr>
              <a:t>点的竖向位移</a:t>
            </a:r>
          </a:p>
        </p:txBody>
      </p:sp>
      <p:graphicFrame>
        <p:nvGraphicFramePr>
          <p:cNvPr id="578571" name="Object 11"/>
          <p:cNvGraphicFramePr>
            <a:graphicFrameLocks noChangeAspect="1"/>
          </p:cNvGraphicFramePr>
          <p:nvPr/>
        </p:nvGraphicFramePr>
        <p:xfrm>
          <a:off x="5643563" y="4146569"/>
          <a:ext cx="3289300" cy="2068513"/>
        </p:xfrm>
        <a:graphic>
          <a:graphicData uri="http://schemas.openxmlformats.org/presentationml/2006/ole">
            <mc:AlternateContent xmlns:mc="http://schemas.openxmlformats.org/markup-compatibility/2006">
              <mc:Choice xmlns:v="urn:schemas-microsoft-com:vml" Requires="v">
                <p:oleObj spid="_x0000_s578578" name="Equation" r:id="rId17" imgW="2057400" imgH="1295280" progId="Equation.DSMT4">
                  <p:embed/>
                </p:oleObj>
              </mc:Choice>
              <mc:Fallback>
                <p:oleObj name="Equation" r:id="rId17" imgW="2057400" imgH="1295280" progId="Equation.DSMT4">
                  <p:embed/>
                  <p:pic>
                    <p:nvPicPr>
                      <p:cNvPr id="0" name="Picture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43563" y="4146569"/>
                        <a:ext cx="32893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TextBox 54"/>
          <p:cNvSpPr txBox="1"/>
          <p:nvPr/>
        </p:nvSpPr>
        <p:spPr>
          <a:xfrm>
            <a:off x="7286644" y="5857892"/>
            <a:ext cx="889987" cy="369332"/>
          </a:xfrm>
          <a:prstGeom prst="rect">
            <a:avLst/>
          </a:prstGeom>
          <a:noFill/>
          <a:ln w="28575">
            <a:noFill/>
          </a:ln>
        </p:spPr>
        <p:txBody>
          <a:bodyPr wrap="none" rtlCol="0">
            <a:spAutoFit/>
          </a:bodyPr>
          <a:lstStyle/>
          <a:p>
            <a:r>
              <a:rPr lang="zh-CN" altLang="en-US" b="1">
                <a:solidFill>
                  <a:srgbClr val="0033CC"/>
                </a:solidFill>
                <a:latin typeface="Times New Roman" pitchFamily="18" charset="0"/>
                <a:cs typeface="Times New Roman" pitchFamily="18" charset="0"/>
              </a:rPr>
              <a:t>（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wipe(up)">
                                      <p:cBhvr>
                                        <p:cTn id="7" dur="500"/>
                                        <p:tgtEl>
                                          <p:spTgt spid="1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8569"/>
                                        </p:tgtEl>
                                        <p:attrNameLst>
                                          <p:attrName>style.visibility</p:attrName>
                                        </p:attrNameLst>
                                      </p:cBhvr>
                                      <p:to>
                                        <p:strVal val="visible"/>
                                      </p:to>
                                    </p:set>
                                    <p:anim calcmode="lin" valueType="num">
                                      <p:cBhvr additive="base">
                                        <p:cTn id="12" dur="500" fill="hold"/>
                                        <p:tgtEl>
                                          <p:spTgt spid="578569"/>
                                        </p:tgtEl>
                                        <p:attrNameLst>
                                          <p:attrName>ppt_x</p:attrName>
                                        </p:attrNameLst>
                                      </p:cBhvr>
                                      <p:tavLst>
                                        <p:tav tm="0">
                                          <p:val>
                                            <p:strVal val="#ppt_x"/>
                                          </p:val>
                                        </p:tav>
                                        <p:tav tm="100000">
                                          <p:val>
                                            <p:strVal val="#ppt_x"/>
                                          </p:val>
                                        </p:tav>
                                      </p:tavLst>
                                    </p:anim>
                                    <p:anim calcmode="lin" valueType="num">
                                      <p:cBhvr additive="base">
                                        <p:cTn id="13" dur="500" fill="hold"/>
                                        <p:tgtEl>
                                          <p:spTgt spid="57856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78570"/>
                                        </p:tgtEl>
                                        <p:attrNameLst>
                                          <p:attrName>style.visibility</p:attrName>
                                        </p:attrNameLst>
                                      </p:cBhvr>
                                      <p:to>
                                        <p:strVal val="visible"/>
                                      </p:to>
                                    </p:set>
                                    <p:anim calcmode="lin" valueType="num">
                                      <p:cBhvr additive="base">
                                        <p:cTn id="18" dur="500" fill="hold"/>
                                        <p:tgtEl>
                                          <p:spTgt spid="578570"/>
                                        </p:tgtEl>
                                        <p:attrNameLst>
                                          <p:attrName>ppt_x</p:attrName>
                                        </p:attrNameLst>
                                      </p:cBhvr>
                                      <p:tavLst>
                                        <p:tav tm="0">
                                          <p:val>
                                            <p:strVal val="#ppt_x"/>
                                          </p:val>
                                        </p:tav>
                                        <p:tav tm="100000">
                                          <p:val>
                                            <p:strVal val="#ppt_x"/>
                                          </p:val>
                                        </p:tav>
                                      </p:tavLst>
                                    </p:anim>
                                    <p:anim calcmode="lin" valueType="num">
                                      <p:cBhvr additive="base">
                                        <p:cTn id="19" dur="500" fill="hold"/>
                                        <p:tgtEl>
                                          <p:spTgt spid="57857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up)">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78571"/>
                                        </p:tgtEl>
                                        <p:attrNameLst>
                                          <p:attrName>style.visibility</p:attrName>
                                        </p:attrNameLst>
                                      </p:cBhvr>
                                      <p:to>
                                        <p:strVal val="visible"/>
                                      </p:to>
                                    </p:set>
                                    <p:anim calcmode="lin" valueType="num">
                                      <p:cBhvr additive="base">
                                        <p:cTn id="29" dur="500" fill="hold"/>
                                        <p:tgtEl>
                                          <p:spTgt spid="578571"/>
                                        </p:tgtEl>
                                        <p:attrNameLst>
                                          <p:attrName>ppt_x</p:attrName>
                                        </p:attrNameLst>
                                      </p:cBhvr>
                                      <p:tavLst>
                                        <p:tav tm="0">
                                          <p:val>
                                            <p:strVal val="#ppt_x"/>
                                          </p:val>
                                        </p:tav>
                                        <p:tav tm="100000">
                                          <p:val>
                                            <p:strVal val="#ppt_x"/>
                                          </p:val>
                                        </p:tav>
                                      </p:tavLst>
                                    </p:anim>
                                    <p:anim calcmode="lin" valueType="num">
                                      <p:cBhvr additive="base">
                                        <p:cTn id="30" dur="500" fill="hold"/>
                                        <p:tgtEl>
                                          <p:spTgt spid="57857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 calcmode="lin" valueType="num">
                                      <p:cBhvr additive="base">
                                        <p:cTn id="35" dur="500" fill="hold"/>
                                        <p:tgtEl>
                                          <p:spTgt spid="55"/>
                                        </p:tgtEl>
                                        <p:attrNameLst>
                                          <p:attrName>ppt_x</p:attrName>
                                        </p:attrNameLst>
                                      </p:cBhvr>
                                      <p:tavLst>
                                        <p:tav tm="0">
                                          <p:val>
                                            <p:strVal val="#ppt_x"/>
                                          </p:val>
                                        </p:tav>
                                        <p:tav tm="100000">
                                          <p:val>
                                            <p:strVal val="#ppt_x"/>
                                          </p:val>
                                        </p:tav>
                                      </p:tavLst>
                                    </p:anim>
                                    <p:anim calcmode="lin" valueType="num">
                                      <p:cBhvr additive="base">
                                        <p:cTn id="3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P spid="52" grpId="0"/>
      <p:bldP spid="5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120032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：图示桁架，各杆受日照均匀温升</a:t>
            </a:r>
            <a:r>
              <a:rPr lang="en-US" altLang="zh-CN" sz="2000" b="1">
                <a:solidFill>
                  <a:srgbClr val="C00000"/>
                </a:solidFill>
                <a:latin typeface="Times New Roman" pitchFamily="18" charset="0"/>
                <a:cs typeface="Times New Roman" pitchFamily="18" charset="0"/>
              </a:rPr>
              <a:t>30℃</a:t>
            </a:r>
            <a:r>
              <a:rPr lang="zh-CN" altLang="en-US" sz="2000" b="1">
                <a:latin typeface="Times New Roman" pitchFamily="18" charset="0"/>
                <a:cs typeface="Times New Roman" pitchFamily="18" charset="0"/>
              </a:rPr>
              <a:t>。线膨胀系数</a:t>
            </a:r>
            <a:r>
              <a:rPr lang="en-US" altLang="zh-CN" sz="2000" b="1" i="1">
                <a:solidFill>
                  <a:srgbClr val="C00000"/>
                </a:solidFill>
                <a:latin typeface="Times New Roman" pitchFamily="18" charset="0"/>
                <a:cs typeface="Times New Roman" pitchFamily="18" charset="0"/>
              </a:rPr>
              <a:t>α</a:t>
            </a:r>
            <a:r>
              <a:rPr lang="en-US" altLang="zh-CN" sz="2000" b="1">
                <a:solidFill>
                  <a:srgbClr val="C00000"/>
                </a:solidFill>
                <a:latin typeface="Times New Roman" pitchFamily="18" charset="0"/>
                <a:cs typeface="Times New Roman" pitchFamily="18" charset="0"/>
              </a:rPr>
              <a:t>=1×10</a:t>
            </a:r>
            <a:r>
              <a:rPr lang="en-US" altLang="zh-CN" sz="2000" b="1" baseline="30000">
                <a:solidFill>
                  <a:srgbClr val="C00000"/>
                </a:solidFill>
                <a:latin typeface="Times New Roman" pitchFamily="18" charset="0"/>
                <a:cs typeface="Times New Roman" pitchFamily="18" charset="0"/>
              </a:rPr>
              <a:t>-5</a:t>
            </a:r>
            <a:r>
              <a:rPr lang="zh-CN" altLang="en-US" sz="2000" b="1">
                <a:latin typeface="Times New Roman" pitchFamily="18" charset="0"/>
                <a:cs typeface="Times New Roman" pitchFamily="18" charset="0"/>
              </a:rPr>
              <a:t>，求</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点竖向位移</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V </a:t>
            </a:r>
            <a:r>
              <a:rPr lang="zh-CN" altLang="en-US" sz="2000" b="1">
                <a:latin typeface="Times New Roman" pitchFamily="18" charset="0"/>
                <a:cs typeface="Times New Roman" pitchFamily="18" charset="0"/>
              </a:rPr>
              <a:t>。 </a:t>
            </a:r>
          </a:p>
        </p:txBody>
      </p:sp>
      <p:graphicFrame>
        <p:nvGraphicFramePr>
          <p:cNvPr id="472067" name="Object 3"/>
          <p:cNvGraphicFramePr>
            <a:graphicFrameLocks noChangeAspect="1"/>
          </p:cNvGraphicFramePr>
          <p:nvPr/>
        </p:nvGraphicFramePr>
        <p:xfrm>
          <a:off x="5643570" y="1785926"/>
          <a:ext cx="3014662" cy="1819275"/>
        </p:xfrm>
        <a:graphic>
          <a:graphicData uri="http://schemas.openxmlformats.org/presentationml/2006/ole">
            <mc:AlternateContent xmlns:mc="http://schemas.openxmlformats.org/markup-compatibility/2006">
              <mc:Choice xmlns:v="urn:schemas-microsoft-com:vml" Requires="v">
                <p:oleObj spid="_x0000_s579600" name="AutoCAD Drawing" r:id="rId4" imgW="8791560" imgH="4581360" progId="">
                  <p:embed/>
                </p:oleObj>
              </mc:Choice>
              <mc:Fallback>
                <p:oleObj name="AutoCAD Drawing" r:id="rId4" imgW="8791560" imgH="458136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8566" t="8400" r="22867" b="12071"/>
                      <a:stretch>
                        <a:fillRect/>
                      </a:stretch>
                    </p:blipFill>
                    <p:spPr bwMode="auto">
                      <a:xfrm>
                        <a:off x="5643570" y="1785926"/>
                        <a:ext cx="3014662" cy="181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TextBox 50"/>
          <p:cNvSpPr txBox="1"/>
          <p:nvPr/>
        </p:nvSpPr>
        <p:spPr>
          <a:xfrm>
            <a:off x="1187118" y="3000372"/>
            <a:ext cx="3504486" cy="400110"/>
          </a:xfrm>
          <a:prstGeom prst="rect">
            <a:avLst/>
          </a:prstGeom>
          <a:noFill/>
          <a:ln w="28575">
            <a:noFill/>
          </a:ln>
        </p:spPr>
        <p:txBody>
          <a:bodyPr wrap="none" rtlCol="0">
            <a:spAutoFit/>
          </a:bodyPr>
          <a:lstStyle/>
          <a:p>
            <a:r>
              <a:rPr lang="zh-CN" altLang="en-US" sz="2000" b="1">
                <a:solidFill>
                  <a:srgbClr val="C00000"/>
                </a:solidFill>
              </a:rPr>
              <a:t>思考：判断</a:t>
            </a:r>
            <a:r>
              <a:rPr lang="en-US" altLang="zh-CN" sz="2000" b="1" i="1">
                <a:solidFill>
                  <a:srgbClr val="C00000"/>
                </a:solidFill>
                <a:latin typeface="Times New Roman" pitchFamily="18" charset="0"/>
                <a:cs typeface="Times New Roman" pitchFamily="18" charset="0"/>
              </a:rPr>
              <a:t>C</a:t>
            </a:r>
            <a:r>
              <a:rPr lang="zh-CN" altLang="en-US" sz="2000" b="1">
                <a:solidFill>
                  <a:srgbClr val="C00000"/>
                </a:solidFill>
              </a:rPr>
              <a:t>点位移 ↑还是↓？</a:t>
            </a:r>
          </a:p>
        </p:txBody>
      </p:sp>
      <p:pic>
        <p:nvPicPr>
          <p:cNvPr id="579594" name="Picture 10"/>
          <p:cNvPicPr>
            <a:picLocks noChangeAspect="1" noChangeArrowheads="1"/>
          </p:cNvPicPr>
          <p:nvPr/>
        </p:nvPicPr>
        <p:blipFill>
          <a:blip r:embed="rId6"/>
          <a:srcRect/>
          <a:stretch>
            <a:fillRect/>
          </a:stretch>
        </p:blipFill>
        <p:spPr bwMode="auto">
          <a:xfrm>
            <a:off x="5868216" y="3500438"/>
            <a:ext cx="2333625" cy="1419225"/>
          </a:xfrm>
          <a:prstGeom prst="rect">
            <a:avLst/>
          </a:prstGeom>
          <a:noFill/>
          <a:ln w="9525">
            <a:noFill/>
            <a:miter lim="800000"/>
            <a:headEnd/>
            <a:tailEnd/>
          </a:ln>
          <a:effectLst/>
        </p:spPr>
      </p:pic>
      <p:sp>
        <p:nvSpPr>
          <p:cNvPr id="54" name="TextBox 53"/>
          <p:cNvSpPr txBox="1"/>
          <p:nvPr/>
        </p:nvSpPr>
        <p:spPr>
          <a:xfrm>
            <a:off x="7072330" y="3714752"/>
            <a:ext cx="1338828" cy="369332"/>
          </a:xfrm>
          <a:prstGeom prst="rect">
            <a:avLst/>
          </a:prstGeom>
          <a:noFill/>
          <a:ln w="28575">
            <a:noFill/>
          </a:ln>
        </p:spPr>
        <p:txBody>
          <a:bodyPr wrap="none" rtlCol="0">
            <a:spAutoFit/>
          </a:bodyPr>
          <a:lstStyle/>
          <a:p>
            <a:r>
              <a:rPr lang="zh-CN" altLang="en-US" b="1"/>
              <a:t>各杆膨胀后</a:t>
            </a:r>
          </a:p>
        </p:txBody>
      </p:sp>
      <p:grpSp>
        <p:nvGrpSpPr>
          <p:cNvPr id="78" name="组合 77"/>
          <p:cNvGrpSpPr/>
          <p:nvPr/>
        </p:nvGrpSpPr>
        <p:grpSpPr>
          <a:xfrm>
            <a:off x="6126443" y="3567504"/>
            <a:ext cx="2160333" cy="1116977"/>
            <a:chOff x="1544079" y="3638942"/>
            <a:chExt cx="2160333" cy="1116977"/>
          </a:xfrm>
        </p:grpSpPr>
        <p:cxnSp>
          <p:nvCxnSpPr>
            <p:cNvPr id="56" name="直接连接符 55"/>
            <p:cNvCxnSpPr/>
            <p:nvPr/>
          </p:nvCxnSpPr>
          <p:spPr bwMode="auto">
            <a:xfrm>
              <a:off x="1544412" y="4745378"/>
              <a:ext cx="2160000"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57" name="直接连接符 56"/>
            <p:cNvCxnSpPr>
              <a:cxnSpLocks noChangeAspect="1"/>
            </p:cNvCxnSpPr>
            <p:nvPr/>
          </p:nvCxnSpPr>
          <p:spPr bwMode="auto">
            <a:xfrm>
              <a:off x="1544079" y="3643314"/>
              <a:ext cx="2160333" cy="1112605"/>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64" name="直接连接符 63"/>
            <p:cNvCxnSpPr/>
            <p:nvPr/>
          </p:nvCxnSpPr>
          <p:spPr bwMode="auto">
            <a:xfrm rot="5400000">
              <a:off x="994620" y="4196148"/>
              <a:ext cx="1116000"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66" name="直接连接符 65"/>
            <p:cNvCxnSpPr>
              <a:cxnSpLocks/>
            </p:cNvCxnSpPr>
            <p:nvPr/>
          </p:nvCxnSpPr>
          <p:spPr bwMode="auto">
            <a:xfrm flipV="1">
              <a:off x="1548238" y="4199320"/>
              <a:ext cx="1080000" cy="540399"/>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73" name="直接连接符 72"/>
            <p:cNvCxnSpPr>
              <a:cxnSpLocks/>
            </p:cNvCxnSpPr>
            <p:nvPr/>
          </p:nvCxnSpPr>
          <p:spPr bwMode="auto">
            <a:xfrm rot="5400000" flipH="1" flipV="1">
              <a:off x="2348138" y="4463360"/>
              <a:ext cx="540000"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grpSp>
        <p:nvGrpSpPr>
          <p:cNvPr id="92" name="组合 91"/>
          <p:cNvGrpSpPr/>
          <p:nvPr/>
        </p:nvGrpSpPr>
        <p:grpSpPr>
          <a:xfrm>
            <a:off x="5915890" y="4868777"/>
            <a:ext cx="2376981" cy="1610647"/>
            <a:chOff x="5808050" y="3463767"/>
            <a:chExt cx="2376981" cy="1610647"/>
          </a:xfrm>
        </p:grpSpPr>
        <p:pic>
          <p:nvPicPr>
            <p:cNvPr id="579595" name="Picture 11"/>
            <p:cNvPicPr>
              <a:picLocks noChangeAspect="1" noChangeArrowheads="1"/>
            </p:cNvPicPr>
            <p:nvPr/>
          </p:nvPicPr>
          <p:blipFill>
            <a:blip r:embed="rId7"/>
            <a:srcRect/>
            <a:stretch>
              <a:fillRect/>
            </a:stretch>
          </p:blipFill>
          <p:spPr bwMode="auto">
            <a:xfrm>
              <a:off x="5808050" y="3655189"/>
              <a:ext cx="2276475" cy="1419225"/>
            </a:xfrm>
            <a:prstGeom prst="rect">
              <a:avLst/>
            </a:prstGeom>
            <a:noFill/>
            <a:ln w="9525">
              <a:noFill/>
              <a:miter lim="800000"/>
              <a:headEnd/>
              <a:tailEnd/>
            </a:ln>
            <a:effectLst/>
          </p:spPr>
        </p:pic>
        <p:grpSp>
          <p:nvGrpSpPr>
            <p:cNvPr id="90" name="组合 89"/>
            <p:cNvGrpSpPr/>
            <p:nvPr/>
          </p:nvGrpSpPr>
          <p:grpSpPr>
            <a:xfrm>
              <a:off x="6024698" y="3655189"/>
              <a:ext cx="2160333" cy="1112605"/>
              <a:chOff x="6024698" y="3655189"/>
              <a:chExt cx="2160333" cy="1112605"/>
            </a:xfrm>
          </p:grpSpPr>
          <p:cxnSp>
            <p:nvCxnSpPr>
              <p:cNvPr id="81" name="直接连接符 80"/>
              <p:cNvCxnSpPr/>
              <p:nvPr/>
            </p:nvCxnSpPr>
            <p:spPr bwMode="auto">
              <a:xfrm>
                <a:off x="6025031" y="4757253"/>
                <a:ext cx="2160000"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82" name="直接连接符 81"/>
              <p:cNvCxnSpPr>
                <a:cxnSpLocks noChangeAspect="1"/>
              </p:cNvCxnSpPr>
              <p:nvPr/>
            </p:nvCxnSpPr>
            <p:spPr bwMode="auto">
              <a:xfrm>
                <a:off x="6024698" y="3655189"/>
                <a:ext cx="2160333" cy="1112605"/>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84" name="直接连接符 83"/>
              <p:cNvCxnSpPr>
                <a:cxnSpLocks/>
              </p:cNvCxnSpPr>
              <p:nvPr/>
            </p:nvCxnSpPr>
            <p:spPr bwMode="auto">
              <a:xfrm flipV="1">
                <a:off x="6028857" y="4211195"/>
                <a:ext cx="1080000" cy="540399"/>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86" name="直接连接符 85"/>
              <p:cNvCxnSpPr>
                <a:cxnSpLocks/>
              </p:cNvCxnSpPr>
              <p:nvPr/>
            </p:nvCxnSpPr>
            <p:spPr bwMode="auto">
              <a:xfrm rot="5400000" flipH="1" flipV="1">
                <a:off x="6828757" y="4475235"/>
                <a:ext cx="540000"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grpSp>
        <p:sp>
          <p:nvSpPr>
            <p:cNvPr id="79" name="右箭头 78"/>
            <p:cNvSpPr/>
            <p:nvPr/>
          </p:nvSpPr>
          <p:spPr bwMode="auto">
            <a:xfrm rot="5400000">
              <a:off x="6928771" y="3428048"/>
              <a:ext cx="285752" cy="357190"/>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94" name="直接箭头连接符 93"/>
          <p:cNvCxnSpPr/>
          <p:nvPr/>
        </p:nvCxnSpPr>
        <p:spPr bwMode="auto">
          <a:xfrm rot="5400000">
            <a:off x="6013715" y="5119271"/>
            <a:ext cx="215108" cy="1588"/>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grpSp>
        <p:nvGrpSpPr>
          <p:cNvPr id="106" name="组合 105"/>
          <p:cNvGrpSpPr/>
          <p:nvPr/>
        </p:nvGrpSpPr>
        <p:grpSpPr>
          <a:xfrm>
            <a:off x="6150280" y="5180829"/>
            <a:ext cx="1085450" cy="1020114"/>
            <a:chOff x="5685250" y="3752069"/>
            <a:chExt cx="1085450" cy="1020114"/>
          </a:xfrm>
        </p:grpSpPr>
        <p:cxnSp>
          <p:nvCxnSpPr>
            <p:cNvPr id="102" name="直接连接符 101"/>
            <p:cNvCxnSpPr>
              <a:cxnSpLocks/>
            </p:cNvCxnSpPr>
            <p:nvPr/>
          </p:nvCxnSpPr>
          <p:spPr bwMode="auto">
            <a:xfrm rot="180000" flipV="1">
              <a:off x="5690700" y="4231784"/>
              <a:ext cx="1080000" cy="540399"/>
            </a:xfrm>
            <a:prstGeom prst="line">
              <a:avLst/>
            </a:prstGeom>
            <a:solidFill>
              <a:schemeClr val="accent1"/>
            </a:solidFill>
            <a:ln w="28575" cap="flat" cmpd="sng" algn="ctr">
              <a:solidFill>
                <a:srgbClr val="FF00FF"/>
              </a:solidFill>
              <a:prstDash val="solid"/>
              <a:round/>
              <a:headEnd type="none" w="med" len="med"/>
              <a:tailEnd type="none" w="med" len="med"/>
            </a:ln>
            <a:effectLst/>
          </p:spPr>
        </p:cxnSp>
        <p:cxnSp>
          <p:nvCxnSpPr>
            <p:cNvPr id="105" name="直接连接符 104"/>
            <p:cNvCxnSpPr>
              <a:cxnSpLocks/>
            </p:cNvCxnSpPr>
            <p:nvPr/>
          </p:nvCxnSpPr>
          <p:spPr bwMode="auto">
            <a:xfrm rot="21420000">
              <a:off x="5685250" y="3752069"/>
              <a:ext cx="1080000" cy="540399"/>
            </a:xfrm>
            <a:prstGeom prst="line">
              <a:avLst/>
            </a:prstGeom>
            <a:solidFill>
              <a:schemeClr val="accent1"/>
            </a:solidFill>
            <a:ln w="28575" cap="flat" cmpd="sng" algn="ctr">
              <a:solidFill>
                <a:srgbClr val="FF00FF"/>
              </a:solidFill>
              <a:prstDash val="solid"/>
              <a:round/>
              <a:headEnd type="none" w="med" len="med"/>
              <a:tailEnd type="none" w="med" len="med"/>
            </a:ln>
            <a:effectLst/>
          </p:spPr>
        </p:cxnSp>
      </p:grpSp>
      <p:grpSp>
        <p:nvGrpSpPr>
          <p:cNvPr id="117" name="组合 116"/>
          <p:cNvGrpSpPr/>
          <p:nvPr/>
        </p:nvGrpSpPr>
        <p:grpSpPr>
          <a:xfrm>
            <a:off x="6150477" y="5694262"/>
            <a:ext cx="2160000" cy="565479"/>
            <a:chOff x="5685447" y="4265502"/>
            <a:chExt cx="2160000" cy="565479"/>
          </a:xfrm>
        </p:grpSpPr>
        <p:cxnSp>
          <p:nvCxnSpPr>
            <p:cNvPr id="109" name="直接连接符 108"/>
            <p:cNvCxnSpPr/>
            <p:nvPr/>
          </p:nvCxnSpPr>
          <p:spPr bwMode="auto">
            <a:xfrm rot="180000">
              <a:off x="5685447" y="4799650"/>
              <a:ext cx="2160000" cy="1588"/>
            </a:xfrm>
            <a:prstGeom prst="line">
              <a:avLst/>
            </a:prstGeom>
            <a:solidFill>
              <a:schemeClr val="accent1"/>
            </a:solidFill>
            <a:ln w="28575" cap="flat" cmpd="sng" algn="ctr">
              <a:solidFill>
                <a:srgbClr val="FF00FF"/>
              </a:solidFill>
              <a:prstDash val="solid"/>
              <a:round/>
              <a:headEnd type="none" w="med" len="med"/>
              <a:tailEnd type="none" w="med" len="med"/>
            </a:ln>
            <a:effectLst/>
          </p:spPr>
        </p:cxnSp>
        <p:cxnSp>
          <p:nvCxnSpPr>
            <p:cNvPr id="113" name="直接连接符 112"/>
            <p:cNvCxnSpPr>
              <a:cxnSpLocks/>
            </p:cNvCxnSpPr>
            <p:nvPr/>
          </p:nvCxnSpPr>
          <p:spPr bwMode="auto">
            <a:xfrm rot="21780000">
              <a:off x="6761533" y="4290582"/>
              <a:ext cx="1080000" cy="540399"/>
            </a:xfrm>
            <a:prstGeom prst="line">
              <a:avLst/>
            </a:prstGeom>
            <a:solidFill>
              <a:schemeClr val="accent1"/>
            </a:solidFill>
            <a:ln w="28575" cap="flat" cmpd="sng" algn="ctr">
              <a:solidFill>
                <a:srgbClr val="FF00FF"/>
              </a:solidFill>
              <a:prstDash val="solid"/>
              <a:round/>
              <a:headEnd type="none" w="med" len="med"/>
              <a:tailEnd type="none" w="med" len="med"/>
            </a:ln>
            <a:effectLst/>
          </p:spPr>
        </p:cxnSp>
        <p:cxnSp>
          <p:nvCxnSpPr>
            <p:cNvPr id="116" name="直接连接符 115"/>
            <p:cNvCxnSpPr>
              <a:cxnSpLocks/>
            </p:cNvCxnSpPr>
            <p:nvPr/>
          </p:nvCxnSpPr>
          <p:spPr bwMode="auto">
            <a:xfrm rot="5580000" flipH="1" flipV="1">
              <a:off x="6492228" y="4534708"/>
              <a:ext cx="540000" cy="1588"/>
            </a:xfrm>
            <a:prstGeom prst="line">
              <a:avLst/>
            </a:prstGeom>
            <a:solidFill>
              <a:schemeClr val="accent1"/>
            </a:solidFill>
            <a:ln w="28575" cap="flat" cmpd="sng" algn="ctr">
              <a:solidFill>
                <a:srgbClr val="FF00FF"/>
              </a:solidFill>
              <a:prstDash val="solid"/>
              <a:round/>
              <a:headEnd type="none" w="med" len="med"/>
              <a:tailEnd type="none" w="med" len="med"/>
            </a:ln>
            <a:effectLst/>
          </p:spPr>
        </p:cxnSp>
      </p:grpSp>
      <p:sp>
        <p:nvSpPr>
          <p:cNvPr id="119" name="TextBox 118"/>
          <p:cNvSpPr txBox="1"/>
          <p:nvPr/>
        </p:nvSpPr>
        <p:spPr>
          <a:xfrm>
            <a:off x="1176027" y="3429000"/>
            <a:ext cx="2606804" cy="400110"/>
          </a:xfrm>
          <a:prstGeom prst="rect">
            <a:avLst/>
          </a:prstGeom>
          <a:noFill/>
          <a:ln w="28575">
            <a:noFill/>
          </a:ln>
        </p:spPr>
        <p:txBody>
          <a:bodyPr wrap="none" rtlCol="0">
            <a:spAutoFit/>
          </a:bodyPr>
          <a:lstStyle/>
          <a:p>
            <a:r>
              <a:rPr lang="zh-CN" altLang="en-US" sz="2000" b="1">
                <a:solidFill>
                  <a:srgbClr val="0033CC"/>
                </a:solidFill>
                <a:latin typeface="Times New Roman" pitchFamily="18" charset="0"/>
                <a:cs typeface="Times New Roman" pitchFamily="18" charset="0"/>
              </a:rPr>
              <a:t>定性判断：</a:t>
            </a:r>
            <a:r>
              <a:rPr lang="en-US" altLang="zh-CN" sz="2000" b="1" i="1">
                <a:solidFill>
                  <a:srgbClr val="0033CC"/>
                </a:solidFill>
                <a:latin typeface="Times New Roman" pitchFamily="18" charset="0"/>
                <a:cs typeface="Times New Roman" pitchFamily="18" charset="0"/>
              </a:rPr>
              <a:t>C</a:t>
            </a:r>
            <a:r>
              <a:rPr lang="zh-CN" altLang="en-US" sz="2000" b="1">
                <a:solidFill>
                  <a:srgbClr val="0033CC"/>
                </a:solidFill>
              </a:rPr>
              <a:t>点位移 ↓</a:t>
            </a:r>
          </a:p>
        </p:txBody>
      </p:sp>
      <p:grpSp>
        <p:nvGrpSpPr>
          <p:cNvPr id="127" name="组合 126"/>
          <p:cNvGrpSpPr/>
          <p:nvPr/>
        </p:nvGrpSpPr>
        <p:grpSpPr>
          <a:xfrm>
            <a:off x="1187451" y="3884924"/>
            <a:ext cx="4241805" cy="798617"/>
            <a:chOff x="1187451" y="3929066"/>
            <a:chExt cx="4241805" cy="798617"/>
          </a:xfrm>
        </p:grpSpPr>
        <p:sp>
          <p:nvSpPr>
            <p:cNvPr id="121" name="Rectangle 5"/>
            <p:cNvSpPr>
              <a:spLocks noChangeArrowheads="1"/>
            </p:cNvSpPr>
            <p:nvPr/>
          </p:nvSpPr>
          <p:spPr bwMode="auto">
            <a:xfrm>
              <a:off x="1187451" y="3929066"/>
              <a:ext cx="4241805" cy="798617"/>
            </a:xfrm>
            <a:prstGeom prst="rect">
              <a:avLst/>
            </a:prstGeom>
            <a:noFill/>
            <a:ln w="9525">
              <a:noFill/>
              <a:miter lim="800000"/>
              <a:headEnd/>
              <a:tailEnd/>
            </a:ln>
          </p:spPr>
          <p:txBody>
            <a:bodyPr wrap="square">
              <a:spAutoFit/>
            </a:bodyPr>
            <a:lstStyle/>
            <a:p>
              <a:pPr algn="l" rtl="0" fontAlgn="base">
                <a:lnSpc>
                  <a:spcPct val="120000"/>
                </a:lnSpc>
                <a:spcBef>
                  <a:spcPct val="0"/>
                </a:spcBef>
                <a:spcAft>
                  <a:spcPct val="0"/>
                </a:spcAft>
              </a:pPr>
              <a:r>
                <a:rPr kumimoji="1" lang="zh-CN" altLang="en-US" sz="2000" b="1" kern="1200">
                  <a:solidFill>
                    <a:srgbClr val="000000"/>
                  </a:solidFill>
                  <a:latin typeface="Times New Roman" pitchFamily="18" charset="0"/>
                  <a:cs typeface="Times New Roman" pitchFamily="18" charset="0"/>
                </a:rPr>
                <a:t>定量计算：在</a:t>
              </a:r>
              <a:r>
                <a:rPr kumimoji="1" lang="en-US" altLang="zh-CN" sz="2000" b="1" i="1" kern="1200">
                  <a:solidFill>
                    <a:srgbClr val="000000"/>
                  </a:solidFill>
                  <a:latin typeface="Times New Roman" pitchFamily="18" charset="0"/>
                  <a:cs typeface="Times New Roman" pitchFamily="18" charset="0"/>
                </a:rPr>
                <a:t>C</a:t>
              </a:r>
              <a:r>
                <a:rPr kumimoji="1" lang="zh-CN" altLang="en-US" sz="2000" b="1" kern="1200">
                  <a:solidFill>
                    <a:srgbClr val="000000"/>
                  </a:solidFill>
                  <a:latin typeface="Times New Roman" pitchFamily="18" charset="0"/>
                  <a:cs typeface="Times New Roman" pitchFamily="18" charset="0"/>
                </a:rPr>
                <a:t>点作向下的单位力并求出各杆轴力       。 </a:t>
              </a:r>
            </a:p>
          </p:txBody>
        </p:sp>
        <p:graphicFrame>
          <p:nvGraphicFramePr>
            <p:cNvPr id="122" name="Object 10"/>
            <p:cNvGraphicFramePr>
              <a:graphicFrameLocks noChangeAspect="1"/>
            </p:cNvGraphicFramePr>
            <p:nvPr/>
          </p:nvGraphicFramePr>
          <p:xfrm>
            <a:off x="2857488" y="4333598"/>
            <a:ext cx="400050" cy="357188"/>
          </p:xfrm>
          <a:graphic>
            <a:graphicData uri="http://schemas.openxmlformats.org/presentationml/2006/ole">
              <mc:AlternateContent xmlns:mc="http://schemas.openxmlformats.org/markup-compatibility/2006">
                <mc:Choice xmlns:v="urn:schemas-microsoft-com:vml" Requires="v">
                  <p:oleObj spid="_x0000_s579601" name="Equation" r:id="rId8" imgW="241200" imgH="215640" progId="Equation.DSMT4">
                    <p:embed/>
                  </p:oleObj>
                </mc:Choice>
                <mc:Fallback>
                  <p:oleObj name="Equation" r:id="rId8" imgW="241200" imgH="215640" progId="Equation.DSMT4">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7488" y="4333598"/>
                          <a:ext cx="4000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5" name="组合 134"/>
          <p:cNvGrpSpPr/>
          <p:nvPr/>
        </p:nvGrpSpPr>
        <p:grpSpPr>
          <a:xfrm>
            <a:off x="8200896" y="3086252"/>
            <a:ext cx="314524" cy="640642"/>
            <a:chOff x="8200896" y="3086252"/>
            <a:chExt cx="314524" cy="640642"/>
          </a:xfrm>
        </p:grpSpPr>
        <p:cxnSp>
          <p:nvCxnSpPr>
            <p:cNvPr id="133" name="直接箭头连接符 132"/>
            <p:cNvCxnSpPr/>
            <p:nvPr/>
          </p:nvCxnSpPr>
          <p:spPr bwMode="auto">
            <a:xfrm rot="5400000">
              <a:off x="7985690" y="3301458"/>
              <a:ext cx="43200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134" name="TextBox 133"/>
            <p:cNvSpPr txBox="1"/>
            <p:nvPr/>
          </p:nvSpPr>
          <p:spPr>
            <a:xfrm>
              <a:off x="8215338" y="3357562"/>
              <a:ext cx="300082" cy="369332"/>
            </a:xfrm>
            <a:prstGeom prst="rect">
              <a:avLst/>
            </a:prstGeom>
            <a:noFill/>
            <a:ln w="28575">
              <a:noFill/>
            </a:ln>
          </p:spPr>
          <p:txBody>
            <a:bodyPr wrap="none"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grpSp>
        <p:nvGrpSpPr>
          <p:cNvPr id="139" name="组合 138"/>
          <p:cNvGrpSpPr/>
          <p:nvPr/>
        </p:nvGrpSpPr>
        <p:grpSpPr>
          <a:xfrm>
            <a:off x="6686743" y="2664318"/>
            <a:ext cx="645144" cy="355862"/>
            <a:chOff x="6686743" y="2664318"/>
            <a:chExt cx="645144" cy="355862"/>
          </a:xfrm>
        </p:grpSpPr>
        <p:sp>
          <p:nvSpPr>
            <p:cNvPr id="136" name="TextBox 135"/>
            <p:cNvSpPr txBox="1"/>
            <p:nvPr/>
          </p:nvSpPr>
          <p:spPr>
            <a:xfrm>
              <a:off x="6686743" y="266431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137" name="TextBox 136"/>
            <p:cNvSpPr txBox="1"/>
            <p:nvPr/>
          </p:nvSpPr>
          <p:spPr>
            <a:xfrm>
              <a:off x="7143768" y="267047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grpSp>
      <p:grpSp>
        <p:nvGrpSpPr>
          <p:cNvPr id="143" name="组合 142"/>
          <p:cNvGrpSpPr/>
          <p:nvPr/>
        </p:nvGrpSpPr>
        <p:grpSpPr>
          <a:xfrm>
            <a:off x="6572264" y="2170412"/>
            <a:ext cx="1214446" cy="1115712"/>
            <a:chOff x="6572264" y="2170412"/>
            <a:chExt cx="1214446" cy="1115712"/>
          </a:xfrm>
        </p:grpSpPr>
        <p:sp>
          <p:nvSpPr>
            <p:cNvPr id="138" name="TextBox 137"/>
            <p:cNvSpPr txBox="1"/>
            <p:nvPr/>
          </p:nvSpPr>
          <p:spPr>
            <a:xfrm>
              <a:off x="7554449" y="256558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2</a:t>
              </a:r>
              <a:endParaRPr lang="zh-CN" altLang="en-US" b="1">
                <a:solidFill>
                  <a:srgbClr val="C00000"/>
                </a:solidFill>
                <a:latin typeface="Times New Roman" pitchFamily="18" charset="0"/>
                <a:cs typeface="Times New Roman" pitchFamily="18" charset="0"/>
              </a:endParaRPr>
            </a:p>
          </p:txBody>
        </p:sp>
        <p:sp>
          <p:nvSpPr>
            <p:cNvPr id="140" name="TextBox 139"/>
            <p:cNvSpPr txBox="1"/>
            <p:nvPr/>
          </p:nvSpPr>
          <p:spPr>
            <a:xfrm>
              <a:off x="7354934" y="2936422"/>
              <a:ext cx="431776"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mj-ea"/>
                  <a:ea typeface="+mj-ea"/>
                  <a:cs typeface="Times New Roman" pitchFamily="18" charset="0"/>
                </a:rPr>
                <a:t>-</a:t>
              </a:r>
              <a:r>
                <a:rPr lang="en-US" altLang="zh-CN" b="1">
                  <a:solidFill>
                    <a:srgbClr val="C00000"/>
                  </a:solidFill>
                  <a:latin typeface="Times New Roman" pitchFamily="18" charset="0"/>
                  <a:cs typeface="Times New Roman" pitchFamily="18" charset="0"/>
                </a:rPr>
                <a:t>√3</a:t>
              </a:r>
              <a:endParaRPr lang="zh-CN" altLang="en-US" b="1">
                <a:solidFill>
                  <a:srgbClr val="C00000"/>
                </a:solidFill>
                <a:latin typeface="Times New Roman" pitchFamily="18" charset="0"/>
                <a:cs typeface="Times New Roman" pitchFamily="18" charset="0"/>
              </a:endParaRPr>
            </a:p>
          </p:txBody>
        </p:sp>
        <p:sp>
          <p:nvSpPr>
            <p:cNvPr id="141" name="TextBox 140"/>
            <p:cNvSpPr txBox="1"/>
            <p:nvPr/>
          </p:nvSpPr>
          <p:spPr>
            <a:xfrm>
              <a:off x="6728788" y="2170412"/>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2</a:t>
              </a:r>
              <a:endParaRPr lang="zh-CN" altLang="en-US" b="1">
                <a:solidFill>
                  <a:srgbClr val="C00000"/>
                </a:solidFill>
                <a:latin typeface="Times New Roman" pitchFamily="18" charset="0"/>
                <a:cs typeface="Times New Roman" pitchFamily="18" charset="0"/>
              </a:endParaRPr>
            </a:p>
          </p:txBody>
        </p:sp>
        <p:sp>
          <p:nvSpPr>
            <p:cNvPr id="142" name="TextBox 141"/>
            <p:cNvSpPr txBox="1"/>
            <p:nvPr/>
          </p:nvSpPr>
          <p:spPr>
            <a:xfrm>
              <a:off x="6572264" y="2928934"/>
              <a:ext cx="431776"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mj-ea"/>
                  <a:ea typeface="+mj-ea"/>
                  <a:cs typeface="Times New Roman" pitchFamily="18" charset="0"/>
                </a:rPr>
                <a:t>-</a:t>
              </a:r>
              <a:r>
                <a:rPr lang="en-US" altLang="zh-CN" b="1">
                  <a:solidFill>
                    <a:srgbClr val="C00000"/>
                  </a:solidFill>
                  <a:latin typeface="Times New Roman" pitchFamily="18" charset="0"/>
                  <a:cs typeface="Times New Roman" pitchFamily="18" charset="0"/>
                </a:rPr>
                <a:t>√3</a:t>
              </a:r>
              <a:endParaRPr lang="zh-CN" altLang="en-US" b="1">
                <a:solidFill>
                  <a:srgbClr val="C00000"/>
                </a:solidFill>
                <a:latin typeface="Times New Roman" pitchFamily="18" charset="0"/>
                <a:cs typeface="Times New Roman" pitchFamily="18" charset="0"/>
              </a:endParaRPr>
            </a:p>
          </p:txBody>
        </p:sp>
      </p:grpSp>
      <p:graphicFrame>
        <p:nvGraphicFramePr>
          <p:cNvPr id="579598" name="Object 14"/>
          <p:cNvGraphicFramePr>
            <a:graphicFrameLocks noChangeAspect="1"/>
          </p:cNvGraphicFramePr>
          <p:nvPr/>
        </p:nvGraphicFramePr>
        <p:xfrm>
          <a:off x="1357290" y="4786322"/>
          <a:ext cx="3311525" cy="460375"/>
        </p:xfrm>
        <a:graphic>
          <a:graphicData uri="http://schemas.openxmlformats.org/presentationml/2006/ole">
            <mc:AlternateContent xmlns:mc="http://schemas.openxmlformats.org/markup-compatibility/2006">
              <mc:Choice xmlns:v="urn:schemas-microsoft-com:vml" Requires="v">
                <p:oleObj spid="_x0000_s579602" name="Equation" r:id="rId10" imgW="2006280" imgH="279360" progId="Equation.DSMT4">
                  <p:embed/>
                </p:oleObj>
              </mc:Choice>
              <mc:Fallback>
                <p:oleObj name="Equation" r:id="rId10" imgW="2006280" imgH="279360" progId="Equation.DSMT4">
                  <p:embed/>
                  <p:pic>
                    <p:nvPicPr>
                      <p:cNvPr id="0"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57290" y="4786322"/>
                        <a:ext cx="3311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9599" name="Object 15"/>
          <p:cNvGraphicFramePr>
            <a:graphicFrameLocks noChangeAspect="1"/>
          </p:cNvGraphicFramePr>
          <p:nvPr/>
        </p:nvGraphicFramePr>
        <p:xfrm>
          <a:off x="1785938" y="5294599"/>
          <a:ext cx="3375025" cy="920750"/>
        </p:xfrm>
        <a:graphic>
          <a:graphicData uri="http://schemas.openxmlformats.org/presentationml/2006/ole">
            <mc:AlternateContent xmlns:mc="http://schemas.openxmlformats.org/markup-compatibility/2006">
              <mc:Choice xmlns:v="urn:schemas-microsoft-com:vml" Requires="v">
                <p:oleObj spid="_x0000_s579603" name="Equation" r:id="rId12" imgW="2044440" imgH="558720" progId="Equation.DSMT4">
                  <p:embed/>
                </p:oleObj>
              </mc:Choice>
              <mc:Fallback>
                <p:oleObj name="Equation" r:id="rId12" imgW="2044440" imgH="558720" progId="Equation.DSMT4">
                  <p:embed/>
                  <p:pic>
                    <p:nvPicPr>
                      <p:cNvPr id="0"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38" y="5294599"/>
                        <a:ext cx="3375025"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4720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9594"/>
                                        </p:tgtEl>
                                        <p:attrNameLst>
                                          <p:attrName>style.visibility</p:attrName>
                                        </p:attrNameLst>
                                      </p:cBhvr>
                                      <p:to>
                                        <p:strVal val="visible"/>
                                      </p:to>
                                    </p:set>
                                    <p:anim calcmode="lin" valueType="num">
                                      <p:cBhvr additive="base">
                                        <p:cTn id="17" dur="500" fill="hold"/>
                                        <p:tgtEl>
                                          <p:spTgt spid="579594"/>
                                        </p:tgtEl>
                                        <p:attrNameLst>
                                          <p:attrName>ppt_x</p:attrName>
                                        </p:attrNameLst>
                                      </p:cBhvr>
                                      <p:tavLst>
                                        <p:tav tm="0">
                                          <p:val>
                                            <p:strVal val="#ppt_x"/>
                                          </p:val>
                                        </p:tav>
                                        <p:tav tm="100000">
                                          <p:val>
                                            <p:strVal val="#ppt_x"/>
                                          </p:val>
                                        </p:tav>
                                      </p:tavLst>
                                    </p:anim>
                                    <p:anim calcmode="lin" valueType="num">
                                      <p:cBhvr additive="base">
                                        <p:cTn id="18" dur="500" fill="hold"/>
                                        <p:tgtEl>
                                          <p:spTgt spid="57959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ppt_x"/>
                                          </p:val>
                                        </p:tav>
                                        <p:tav tm="100000">
                                          <p:val>
                                            <p:strVal val="#ppt_x"/>
                                          </p:val>
                                        </p:tav>
                                      </p:tavLst>
                                    </p:anim>
                                    <p:anim calcmode="lin" valueType="num">
                                      <p:cBhvr additive="base">
                                        <p:cTn id="24" dur="500" fill="hold"/>
                                        <p:tgtEl>
                                          <p:spTgt spid="54"/>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78"/>
                                        </p:tgtEl>
                                        <p:attrNameLst>
                                          <p:attrName>style.visibility</p:attrName>
                                        </p:attrNameLst>
                                      </p:cBhvr>
                                      <p:to>
                                        <p:strVal val="visible"/>
                                      </p:to>
                                    </p:set>
                                    <p:animEffect transition="in" filter="blinds(horizontal)">
                                      <p:cBhvr>
                                        <p:cTn id="28" dur="500"/>
                                        <p:tgtEl>
                                          <p:spTgt spid="7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92"/>
                                        </p:tgtEl>
                                        <p:attrNameLst>
                                          <p:attrName>style.visibility</p:attrName>
                                        </p:attrNameLst>
                                      </p:cBhvr>
                                      <p:to>
                                        <p:strVal val="visible"/>
                                      </p:to>
                                    </p:set>
                                    <p:anim calcmode="lin" valueType="num">
                                      <p:cBhvr additive="base">
                                        <p:cTn id="33" dur="500" fill="hold"/>
                                        <p:tgtEl>
                                          <p:spTgt spid="92"/>
                                        </p:tgtEl>
                                        <p:attrNameLst>
                                          <p:attrName>ppt_x</p:attrName>
                                        </p:attrNameLst>
                                      </p:cBhvr>
                                      <p:tavLst>
                                        <p:tav tm="0">
                                          <p:val>
                                            <p:strVal val="0-#ppt_w/2"/>
                                          </p:val>
                                        </p:tav>
                                        <p:tav tm="100000">
                                          <p:val>
                                            <p:strVal val="#ppt_x"/>
                                          </p:val>
                                        </p:tav>
                                      </p:tavLst>
                                    </p:anim>
                                    <p:anim calcmode="lin" valueType="num">
                                      <p:cBhvr additive="base">
                                        <p:cTn id="34"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4"/>
                                        </p:tgtEl>
                                        <p:attrNameLst>
                                          <p:attrName>style.visibility</p:attrName>
                                        </p:attrNameLst>
                                      </p:cBhvr>
                                      <p:to>
                                        <p:strVal val="visible"/>
                                      </p:to>
                                    </p:set>
                                    <p:anim calcmode="lin" valueType="num">
                                      <p:cBhvr additive="base">
                                        <p:cTn id="39" dur="500" fill="hold"/>
                                        <p:tgtEl>
                                          <p:spTgt spid="94"/>
                                        </p:tgtEl>
                                        <p:attrNameLst>
                                          <p:attrName>ppt_x</p:attrName>
                                        </p:attrNameLst>
                                      </p:cBhvr>
                                      <p:tavLst>
                                        <p:tav tm="0">
                                          <p:val>
                                            <p:strVal val="#ppt_x"/>
                                          </p:val>
                                        </p:tav>
                                        <p:tav tm="100000">
                                          <p:val>
                                            <p:strVal val="#ppt_x"/>
                                          </p:val>
                                        </p:tav>
                                      </p:tavLst>
                                    </p:anim>
                                    <p:anim calcmode="lin" valueType="num">
                                      <p:cBhvr additive="base">
                                        <p:cTn id="40"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blinds(horizontal)">
                                      <p:cBhvr>
                                        <p:cTn id="45" dur="500"/>
                                        <p:tgtEl>
                                          <p:spTgt spid="10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17"/>
                                        </p:tgtEl>
                                        <p:attrNameLst>
                                          <p:attrName>style.visibility</p:attrName>
                                        </p:attrNameLst>
                                      </p:cBhvr>
                                      <p:to>
                                        <p:strVal val="visible"/>
                                      </p:to>
                                    </p:set>
                                    <p:animEffect transition="in" filter="blinds(horizontal)">
                                      <p:cBhvr>
                                        <p:cTn id="50" dur="500"/>
                                        <p:tgtEl>
                                          <p:spTgt spid="117"/>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9"/>
                                        </p:tgtEl>
                                        <p:attrNameLst>
                                          <p:attrName>style.visibility</p:attrName>
                                        </p:attrNameLst>
                                      </p:cBhvr>
                                      <p:to>
                                        <p:strVal val="visible"/>
                                      </p:to>
                                    </p:set>
                                    <p:anim calcmode="lin" valueType="num">
                                      <p:cBhvr additive="base">
                                        <p:cTn id="55" dur="500" fill="hold"/>
                                        <p:tgtEl>
                                          <p:spTgt spid="119"/>
                                        </p:tgtEl>
                                        <p:attrNameLst>
                                          <p:attrName>ppt_x</p:attrName>
                                        </p:attrNameLst>
                                      </p:cBhvr>
                                      <p:tavLst>
                                        <p:tav tm="0">
                                          <p:val>
                                            <p:strVal val="#ppt_x"/>
                                          </p:val>
                                        </p:tav>
                                        <p:tav tm="100000">
                                          <p:val>
                                            <p:strVal val="#ppt_x"/>
                                          </p:val>
                                        </p:tav>
                                      </p:tavLst>
                                    </p:anim>
                                    <p:anim calcmode="lin" valueType="num">
                                      <p:cBhvr additive="base">
                                        <p:cTn id="56"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7"/>
                                        </p:tgtEl>
                                        <p:attrNameLst>
                                          <p:attrName>style.visibility</p:attrName>
                                        </p:attrNameLst>
                                      </p:cBhvr>
                                      <p:to>
                                        <p:strVal val="visible"/>
                                      </p:to>
                                    </p:set>
                                    <p:animEffect transition="in" filter="wipe(left)">
                                      <p:cBhvr>
                                        <p:cTn id="61" dur="500"/>
                                        <p:tgtEl>
                                          <p:spTgt spid="127"/>
                                        </p:tgtEl>
                                      </p:cBhvr>
                                    </p:animEffect>
                                  </p:childTnLst>
                                </p:cTn>
                              </p:par>
                            </p:childTnLst>
                          </p:cTn>
                        </p:par>
                        <p:par>
                          <p:cTn id="62" fill="hold">
                            <p:stCondLst>
                              <p:cond delay="500"/>
                            </p:stCondLst>
                            <p:childTnLst>
                              <p:par>
                                <p:cTn id="63" presetID="2" presetClass="entr" presetSubtype="1" fill="hold" nodeType="afterEffect">
                                  <p:stCondLst>
                                    <p:cond delay="0"/>
                                  </p:stCondLst>
                                  <p:childTnLst>
                                    <p:set>
                                      <p:cBhvr>
                                        <p:cTn id="64" dur="1" fill="hold">
                                          <p:stCondLst>
                                            <p:cond delay="0"/>
                                          </p:stCondLst>
                                        </p:cTn>
                                        <p:tgtEl>
                                          <p:spTgt spid="135"/>
                                        </p:tgtEl>
                                        <p:attrNameLst>
                                          <p:attrName>style.visibility</p:attrName>
                                        </p:attrNameLst>
                                      </p:cBhvr>
                                      <p:to>
                                        <p:strVal val="visible"/>
                                      </p:to>
                                    </p:set>
                                    <p:anim calcmode="lin" valueType="num">
                                      <p:cBhvr additive="base">
                                        <p:cTn id="65" dur="500" fill="hold"/>
                                        <p:tgtEl>
                                          <p:spTgt spid="135"/>
                                        </p:tgtEl>
                                        <p:attrNameLst>
                                          <p:attrName>ppt_x</p:attrName>
                                        </p:attrNameLst>
                                      </p:cBhvr>
                                      <p:tavLst>
                                        <p:tav tm="0">
                                          <p:val>
                                            <p:strVal val="#ppt_x"/>
                                          </p:val>
                                        </p:tav>
                                        <p:tav tm="100000">
                                          <p:val>
                                            <p:strVal val="#ppt_x"/>
                                          </p:val>
                                        </p:tav>
                                      </p:tavLst>
                                    </p:anim>
                                    <p:anim calcmode="lin" valueType="num">
                                      <p:cBhvr additive="base">
                                        <p:cTn id="66" dur="500" fill="hold"/>
                                        <p:tgtEl>
                                          <p:spTgt spid="135"/>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39"/>
                                        </p:tgtEl>
                                        <p:attrNameLst>
                                          <p:attrName>style.visibility</p:attrName>
                                        </p:attrNameLst>
                                      </p:cBhvr>
                                      <p:to>
                                        <p:strVal val="visible"/>
                                      </p:to>
                                    </p:set>
                                    <p:anim calcmode="lin" valueType="num">
                                      <p:cBhvr additive="base">
                                        <p:cTn id="71" dur="500" fill="hold"/>
                                        <p:tgtEl>
                                          <p:spTgt spid="139"/>
                                        </p:tgtEl>
                                        <p:attrNameLst>
                                          <p:attrName>ppt_x</p:attrName>
                                        </p:attrNameLst>
                                      </p:cBhvr>
                                      <p:tavLst>
                                        <p:tav tm="0">
                                          <p:val>
                                            <p:strVal val="#ppt_x"/>
                                          </p:val>
                                        </p:tav>
                                        <p:tav tm="100000">
                                          <p:val>
                                            <p:strVal val="#ppt_x"/>
                                          </p:val>
                                        </p:tav>
                                      </p:tavLst>
                                    </p:anim>
                                    <p:anim calcmode="lin" valueType="num">
                                      <p:cBhvr additive="base">
                                        <p:cTn id="72"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nodeType="clickEffect">
                                  <p:stCondLst>
                                    <p:cond delay="0"/>
                                  </p:stCondLst>
                                  <p:childTnLst>
                                    <p:set>
                                      <p:cBhvr>
                                        <p:cTn id="76" dur="1" fill="hold">
                                          <p:stCondLst>
                                            <p:cond delay="0"/>
                                          </p:stCondLst>
                                        </p:cTn>
                                        <p:tgtEl>
                                          <p:spTgt spid="143"/>
                                        </p:tgtEl>
                                        <p:attrNameLst>
                                          <p:attrName>style.visibility</p:attrName>
                                        </p:attrNameLst>
                                      </p:cBhvr>
                                      <p:to>
                                        <p:strVal val="visible"/>
                                      </p:to>
                                    </p:set>
                                    <p:animEffect transition="in" filter="box(in)">
                                      <p:cBhvr>
                                        <p:cTn id="77" dur="500"/>
                                        <p:tgtEl>
                                          <p:spTgt spid="143"/>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579598"/>
                                        </p:tgtEl>
                                        <p:attrNameLst>
                                          <p:attrName>style.visibility</p:attrName>
                                        </p:attrNameLst>
                                      </p:cBhvr>
                                      <p:to>
                                        <p:strVal val="visible"/>
                                      </p:to>
                                    </p:set>
                                    <p:anim calcmode="lin" valueType="num">
                                      <p:cBhvr additive="base">
                                        <p:cTn id="82" dur="500" fill="hold"/>
                                        <p:tgtEl>
                                          <p:spTgt spid="579598"/>
                                        </p:tgtEl>
                                        <p:attrNameLst>
                                          <p:attrName>ppt_x</p:attrName>
                                        </p:attrNameLst>
                                      </p:cBhvr>
                                      <p:tavLst>
                                        <p:tav tm="0">
                                          <p:val>
                                            <p:strVal val="#ppt_x"/>
                                          </p:val>
                                        </p:tav>
                                        <p:tav tm="100000">
                                          <p:val>
                                            <p:strVal val="#ppt_x"/>
                                          </p:val>
                                        </p:tav>
                                      </p:tavLst>
                                    </p:anim>
                                    <p:anim calcmode="lin" valueType="num">
                                      <p:cBhvr additive="base">
                                        <p:cTn id="83" dur="500" fill="hold"/>
                                        <p:tgtEl>
                                          <p:spTgt spid="579598"/>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579599"/>
                                        </p:tgtEl>
                                        <p:attrNameLst>
                                          <p:attrName>style.visibility</p:attrName>
                                        </p:attrNameLst>
                                      </p:cBhvr>
                                      <p:to>
                                        <p:strVal val="visible"/>
                                      </p:to>
                                    </p:set>
                                    <p:anim calcmode="lin" valueType="num">
                                      <p:cBhvr additive="base">
                                        <p:cTn id="88" dur="500" fill="hold"/>
                                        <p:tgtEl>
                                          <p:spTgt spid="579599"/>
                                        </p:tgtEl>
                                        <p:attrNameLst>
                                          <p:attrName>ppt_x</p:attrName>
                                        </p:attrNameLst>
                                      </p:cBhvr>
                                      <p:tavLst>
                                        <p:tav tm="0">
                                          <p:val>
                                            <p:strVal val="#ppt_x"/>
                                          </p:val>
                                        </p:tav>
                                        <p:tav tm="100000">
                                          <p:val>
                                            <p:strVal val="#ppt_x"/>
                                          </p:val>
                                        </p:tav>
                                      </p:tavLst>
                                    </p:anim>
                                    <p:anim calcmode="lin" valueType="num">
                                      <p:cBhvr additive="base">
                                        <p:cTn id="89" dur="500" fill="hold"/>
                                        <p:tgtEl>
                                          <p:spTgt spid="5795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4" grpId="0"/>
      <p:bldP spid="11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230832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：图示桁架，各杆受日照均匀温升</a:t>
            </a:r>
            <a:r>
              <a:rPr lang="en-US" altLang="zh-CN" sz="2000" b="1">
                <a:solidFill>
                  <a:srgbClr val="C00000"/>
                </a:solidFill>
                <a:latin typeface="Times New Roman" pitchFamily="18" charset="0"/>
                <a:cs typeface="Times New Roman" pitchFamily="18" charset="0"/>
              </a:rPr>
              <a:t>30℃</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点产生水平位移。现欲使</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点的水平位移为</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，求需要在</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点施加的水平外力</a:t>
            </a:r>
            <a:r>
              <a:rPr lang="en-US" altLang="zh-CN" sz="2000" b="1" i="1">
                <a:latin typeface="Times New Roman" pitchFamily="18" charset="0"/>
                <a:cs typeface="Times New Roman" pitchFamily="18" charset="0"/>
              </a:rPr>
              <a:t>F</a:t>
            </a:r>
            <a:r>
              <a:rPr lang="zh-CN" altLang="en-US" sz="2000" b="1">
                <a:latin typeface="Times New Roman" pitchFamily="18" charset="0"/>
                <a:cs typeface="Times New Roman" pitchFamily="18" charset="0"/>
              </a:rPr>
              <a:t>。（已知各杆线膨胀系数</a:t>
            </a:r>
            <a:r>
              <a:rPr lang="en-US" altLang="zh-CN" sz="2000" b="1" i="1">
                <a:solidFill>
                  <a:srgbClr val="C00000"/>
                </a:solidFill>
                <a:latin typeface="Times New Roman" pitchFamily="18" charset="0"/>
                <a:cs typeface="Times New Roman" pitchFamily="18" charset="0"/>
              </a:rPr>
              <a:t>α</a:t>
            </a:r>
            <a:r>
              <a:rPr lang="en-US" altLang="zh-CN" sz="2000" b="1">
                <a:solidFill>
                  <a:srgbClr val="C00000"/>
                </a:solidFill>
                <a:latin typeface="Times New Roman" pitchFamily="18" charset="0"/>
                <a:cs typeface="Times New Roman" pitchFamily="18" charset="0"/>
              </a:rPr>
              <a:t>=1×10</a:t>
            </a:r>
            <a:r>
              <a:rPr lang="en-US" altLang="zh-CN" sz="2000" b="1" baseline="30000">
                <a:solidFill>
                  <a:srgbClr val="C00000"/>
                </a:solidFill>
                <a:latin typeface="Times New Roman" pitchFamily="18" charset="0"/>
                <a:cs typeface="Times New Roman" pitchFamily="18" charset="0"/>
              </a:rPr>
              <a:t>-5</a:t>
            </a:r>
            <a:r>
              <a:rPr lang="zh-CN" altLang="en-US" sz="2000" b="1">
                <a:latin typeface="Times New Roman" pitchFamily="18" charset="0"/>
                <a:cs typeface="Times New Roman" pitchFamily="18" charset="0"/>
              </a:rPr>
              <a:t>，抗拉刚度</a:t>
            </a:r>
            <a:r>
              <a:rPr lang="en-US" altLang="zh-CN" sz="2000" b="1" i="1">
                <a:solidFill>
                  <a:srgbClr val="C00000"/>
                </a:solidFill>
                <a:latin typeface="Times New Roman" pitchFamily="18" charset="0"/>
                <a:cs typeface="Times New Roman" pitchFamily="18" charset="0"/>
              </a:rPr>
              <a:t>EA</a:t>
            </a:r>
            <a:r>
              <a:rPr lang="en-US" altLang="zh-CN" sz="2000" b="1">
                <a:solidFill>
                  <a:srgbClr val="C00000"/>
                </a:solidFill>
                <a:latin typeface="Times New Roman" pitchFamily="18" charset="0"/>
                <a:cs typeface="Times New Roman" pitchFamily="18" charset="0"/>
              </a:rPr>
              <a:t>=50kN</a:t>
            </a:r>
            <a:r>
              <a:rPr lang="zh-CN" altLang="en-US" sz="2000" b="1">
                <a:latin typeface="Times New Roman" pitchFamily="18" charset="0"/>
                <a:cs typeface="Times New Roman" pitchFamily="18" charset="0"/>
              </a:rPr>
              <a:t>）</a:t>
            </a:r>
          </a:p>
        </p:txBody>
      </p:sp>
      <p:grpSp>
        <p:nvGrpSpPr>
          <p:cNvPr id="72" name="组合 71"/>
          <p:cNvGrpSpPr/>
          <p:nvPr/>
        </p:nvGrpSpPr>
        <p:grpSpPr>
          <a:xfrm>
            <a:off x="5801834" y="1559470"/>
            <a:ext cx="3342167" cy="1877960"/>
            <a:chOff x="5801834" y="1559470"/>
            <a:chExt cx="3342167" cy="1877960"/>
          </a:xfrm>
        </p:grpSpPr>
        <p:grpSp>
          <p:nvGrpSpPr>
            <p:cNvPr id="68" name="组合 67"/>
            <p:cNvGrpSpPr/>
            <p:nvPr/>
          </p:nvGrpSpPr>
          <p:grpSpPr>
            <a:xfrm>
              <a:off x="5801834" y="1559470"/>
              <a:ext cx="3127884" cy="1877960"/>
              <a:chOff x="5801834" y="1559470"/>
              <a:chExt cx="3127884" cy="1877960"/>
            </a:xfrm>
          </p:grpSpPr>
          <p:pic>
            <p:nvPicPr>
              <p:cNvPr id="49" name="Picture 10"/>
              <p:cNvPicPr>
                <a:picLocks noChangeAspect="1" noChangeArrowheads="1"/>
              </p:cNvPicPr>
              <p:nvPr/>
            </p:nvPicPr>
            <p:blipFill>
              <a:blip r:embed="rId4"/>
              <a:srcRect/>
              <a:stretch>
                <a:fillRect/>
              </a:stretch>
            </p:blipFill>
            <p:spPr bwMode="auto">
              <a:xfrm>
                <a:off x="6215074" y="1714488"/>
                <a:ext cx="2333625" cy="1419225"/>
              </a:xfrm>
              <a:prstGeom prst="rect">
                <a:avLst/>
              </a:prstGeom>
              <a:noFill/>
              <a:ln w="9525">
                <a:noFill/>
                <a:miter lim="800000"/>
                <a:headEnd/>
                <a:tailEnd/>
              </a:ln>
              <a:effectLst/>
            </p:spPr>
          </p:pic>
          <p:grpSp>
            <p:nvGrpSpPr>
              <p:cNvPr id="60" name="组合 59"/>
              <p:cNvGrpSpPr/>
              <p:nvPr/>
            </p:nvGrpSpPr>
            <p:grpSpPr>
              <a:xfrm>
                <a:off x="5801834" y="1938337"/>
                <a:ext cx="404095" cy="957714"/>
                <a:chOff x="5739541" y="2143116"/>
                <a:chExt cx="404095" cy="957714"/>
              </a:xfrm>
            </p:grpSpPr>
            <p:cxnSp>
              <p:nvCxnSpPr>
                <p:cNvPr id="52" name="直接连接符 51"/>
                <p:cNvCxnSpPr/>
                <p:nvPr/>
              </p:nvCxnSpPr>
              <p:spPr bwMode="auto">
                <a:xfrm>
                  <a:off x="5929322" y="214311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929322" y="3099242"/>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p:nvPr/>
              </p:nvCxnSpPr>
              <p:spPr bwMode="auto">
                <a:xfrm rot="5400000">
                  <a:off x="5557828" y="2620116"/>
                  <a:ext cx="954000" cy="1588"/>
                </a:xfrm>
                <a:prstGeom prst="line">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59" name="矩形 58"/>
                <p:cNvSpPr/>
                <p:nvPr/>
              </p:nvSpPr>
              <p:spPr>
                <a:xfrm rot="16200000">
                  <a:off x="5679428" y="2448091"/>
                  <a:ext cx="458780" cy="338554"/>
                </a:xfrm>
                <a:prstGeom prst="rect">
                  <a:avLst/>
                </a:prstGeom>
              </p:spPr>
              <p:txBody>
                <a:bodyPr wrap="none">
                  <a:spAutoFit/>
                </a:bodyPr>
                <a:lstStyle/>
                <a:p>
                  <a:r>
                    <a:rPr lang="en-US" altLang="zh-CN" sz="1600" b="1">
                      <a:latin typeface="Times New Roman" pitchFamily="18" charset="0"/>
                      <a:cs typeface="Times New Roman" pitchFamily="18" charset="0"/>
                    </a:rPr>
                    <a:t>2m</a:t>
                  </a:r>
                  <a:endParaRPr lang="zh-CN" altLang="en-US" sz="1600"/>
                </a:p>
              </p:txBody>
            </p:sp>
          </p:grpSp>
          <p:sp>
            <p:nvSpPr>
              <p:cNvPr id="61" name="TextBox 60"/>
              <p:cNvSpPr txBox="1"/>
              <p:nvPr/>
            </p:nvSpPr>
            <p:spPr>
              <a:xfrm>
                <a:off x="6301026" y="300037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p>
            </p:txBody>
          </p:sp>
          <p:sp>
            <p:nvSpPr>
              <p:cNvPr id="62" name="TextBox 61"/>
              <p:cNvSpPr txBox="1"/>
              <p:nvPr/>
            </p:nvSpPr>
            <p:spPr>
              <a:xfrm>
                <a:off x="6519462" y="155947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p>
            </p:txBody>
          </p:sp>
          <p:sp>
            <p:nvSpPr>
              <p:cNvPr id="63" name="TextBox 62"/>
              <p:cNvSpPr txBox="1"/>
              <p:nvPr/>
            </p:nvSpPr>
            <p:spPr>
              <a:xfrm>
                <a:off x="8376850" y="291679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p>
            </p:txBody>
          </p:sp>
          <p:sp>
            <p:nvSpPr>
              <p:cNvPr id="65" name="弧形 64"/>
              <p:cNvSpPr/>
              <p:nvPr/>
            </p:nvSpPr>
            <p:spPr bwMode="auto">
              <a:xfrm flipH="1">
                <a:off x="7849718" y="2357430"/>
                <a:ext cx="1080000" cy="1080000"/>
              </a:xfrm>
              <a:prstGeom prst="arc">
                <a:avLst>
                  <a:gd name="adj1" fmla="val 19938473"/>
                  <a:gd name="adj2" fmla="val 0"/>
                </a:avLst>
              </a:prstGeom>
              <a:noFill/>
              <a:ln w="19050" cap="flat" cmpd="sng" algn="ctr">
                <a:solidFill>
                  <a:schemeClr val="tx1"/>
                </a:solidFill>
                <a:prstDash val="solid"/>
                <a:round/>
                <a:headEnd type="triangle" w="med" len="med"/>
                <a:tailEnd type="triangle" w="med" len="med"/>
              </a:ln>
              <a:effectLst/>
            </p:spPr>
            <p:txBody>
              <a:bodyPr rtlCol="0" anchor="ctr"/>
              <a:lstStyle/>
              <a:p>
                <a:pPr algn="ctr"/>
                <a:endParaRPr lang="zh-CN" altLang="en-US"/>
              </a:p>
            </p:txBody>
          </p:sp>
          <p:sp>
            <p:nvSpPr>
              <p:cNvPr id="67" name="矩形 66"/>
              <p:cNvSpPr/>
              <p:nvPr/>
            </p:nvSpPr>
            <p:spPr>
              <a:xfrm>
                <a:off x="7439403" y="2571744"/>
                <a:ext cx="633059" cy="338554"/>
              </a:xfrm>
              <a:prstGeom prst="rect">
                <a:avLst/>
              </a:prstGeom>
            </p:spPr>
            <p:txBody>
              <a:bodyPr wrap="square">
                <a:spAutoFit/>
              </a:bodyPr>
              <a:lstStyle/>
              <a:p>
                <a:r>
                  <a:rPr lang="en-US" altLang="zh-CN" sz="1600" b="1">
                    <a:latin typeface="Times New Roman" pitchFamily="18" charset="0"/>
                    <a:cs typeface="Times New Roman" pitchFamily="18" charset="0"/>
                  </a:rPr>
                  <a:t>30°</a:t>
                </a:r>
                <a:endParaRPr lang="zh-CN" altLang="en-US" sz="1600"/>
              </a:p>
            </p:txBody>
          </p:sp>
        </p:grpSp>
        <p:cxnSp>
          <p:nvCxnSpPr>
            <p:cNvPr id="70" name="直接箭头连接符 69"/>
            <p:cNvCxnSpPr/>
            <p:nvPr/>
          </p:nvCxnSpPr>
          <p:spPr bwMode="auto">
            <a:xfrm rot="10800000">
              <a:off x="8374232" y="2885206"/>
              <a:ext cx="484048"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71" name="TextBox 70"/>
            <p:cNvSpPr txBox="1"/>
            <p:nvPr/>
          </p:nvSpPr>
          <p:spPr>
            <a:xfrm>
              <a:off x="8243049" y="2442723"/>
              <a:ext cx="900952" cy="400110"/>
            </a:xfrm>
            <a:prstGeom prst="rect">
              <a:avLst/>
            </a:prstGeom>
            <a:noFill/>
            <a:ln w="28575">
              <a:noFill/>
            </a:ln>
          </p:spPr>
          <p:txBody>
            <a:bodyPr wrap="square" rtlCol="0">
              <a:spAutoFit/>
            </a:bodyPr>
            <a:lstStyle/>
            <a:p>
              <a:r>
                <a:rPr lang="en-US" altLang="zh-CN" sz="2000" b="1" i="1">
                  <a:solidFill>
                    <a:srgbClr val="C00000"/>
                  </a:solidFill>
                  <a:latin typeface="Times New Roman" pitchFamily="18" charset="0"/>
                  <a:cs typeface="Times New Roman" pitchFamily="18" charset="0"/>
                </a:rPr>
                <a:t>F</a:t>
              </a:r>
              <a:r>
                <a:rPr lang="en-US" altLang="zh-CN" sz="2000" b="1" i="1" baseline="-25000">
                  <a:solidFill>
                    <a:srgbClr val="C00000"/>
                  </a:solidFill>
                  <a:latin typeface="Times New Roman" pitchFamily="18" charset="0"/>
                  <a:cs typeface="Times New Roman" pitchFamily="18" charset="0"/>
                </a:rPr>
                <a:t>C</a:t>
              </a:r>
              <a:r>
                <a:rPr lang="en-US" altLang="zh-CN" sz="2000" b="1" baseline="-25000">
                  <a:solidFill>
                    <a:srgbClr val="C00000"/>
                  </a:solidFill>
                  <a:latin typeface="Times New Roman" pitchFamily="18" charset="0"/>
                  <a:cs typeface="Times New Roman" pitchFamily="18" charset="0"/>
                </a:rPr>
                <a:t>H</a:t>
              </a:r>
              <a:r>
                <a:rPr lang="en-US" altLang="zh-CN" sz="2000" b="1">
                  <a:solidFill>
                    <a:srgbClr val="C00000"/>
                  </a:solidFill>
                  <a:latin typeface="Times New Roman" pitchFamily="18" charset="0"/>
                  <a:cs typeface="Times New Roman" pitchFamily="18" charset="0"/>
                </a:rPr>
                <a:t>=</a:t>
              </a:r>
              <a:r>
                <a:rPr lang="zh-CN" altLang="en-US" sz="2000" b="1">
                  <a:solidFill>
                    <a:srgbClr val="C00000"/>
                  </a:solidFill>
                  <a:latin typeface="Times New Roman" pitchFamily="18" charset="0"/>
                  <a:cs typeface="Times New Roman" pitchFamily="18" charset="0"/>
                </a:rPr>
                <a:t>？</a:t>
              </a:r>
            </a:p>
          </p:txBody>
        </p:sp>
      </p:grpSp>
      <p:grpSp>
        <p:nvGrpSpPr>
          <p:cNvPr id="78" name="组合 77"/>
          <p:cNvGrpSpPr/>
          <p:nvPr/>
        </p:nvGrpSpPr>
        <p:grpSpPr>
          <a:xfrm>
            <a:off x="901699" y="4000504"/>
            <a:ext cx="4598995" cy="1200329"/>
            <a:chOff x="1187451" y="3929066"/>
            <a:chExt cx="4598995" cy="1200329"/>
          </a:xfrm>
        </p:grpSpPr>
        <p:sp>
          <p:nvSpPr>
            <p:cNvPr id="80" name="Rectangle 5"/>
            <p:cNvSpPr>
              <a:spLocks noChangeArrowheads="1"/>
            </p:cNvSpPr>
            <p:nvPr/>
          </p:nvSpPr>
          <p:spPr bwMode="auto">
            <a:xfrm>
              <a:off x="1187451" y="3929066"/>
              <a:ext cx="4598995" cy="1200329"/>
            </a:xfrm>
            <a:prstGeom prst="rect">
              <a:avLst/>
            </a:prstGeom>
            <a:noFill/>
            <a:ln w="9525">
              <a:noFill/>
              <a:miter lim="800000"/>
              <a:headEnd/>
              <a:tailEnd/>
            </a:ln>
          </p:spPr>
          <p:txBody>
            <a:bodyPr wrap="square">
              <a:spAutoFit/>
            </a:bodyPr>
            <a:lstStyle/>
            <a:p>
              <a:pPr fontAlgn="base">
                <a:lnSpc>
                  <a:spcPct val="120000"/>
                </a:lnSpc>
                <a:spcBef>
                  <a:spcPct val="0"/>
                </a:spcBef>
                <a:spcAft>
                  <a:spcPct val="0"/>
                </a:spcAft>
              </a:pPr>
              <a:r>
                <a:rPr kumimoji="1" lang="zh-CN" altLang="en-US" sz="2000" b="1">
                  <a:solidFill>
                    <a:srgbClr val="000000"/>
                  </a:solidFill>
                  <a:latin typeface="Times New Roman" pitchFamily="18" charset="0"/>
                  <a:cs typeface="Times New Roman" pitchFamily="18" charset="0"/>
                </a:rPr>
                <a:t>解： ⑴ 求温升产生的</a:t>
              </a:r>
              <a:r>
                <a:rPr kumimoji="1" lang="en-US" altLang="zh-CN" sz="2000" b="1" i="1">
                  <a:solidFill>
                    <a:srgbClr val="000000"/>
                  </a:solidFill>
                  <a:latin typeface="Times New Roman" pitchFamily="18" charset="0"/>
                  <a:cs typeface="Times New Roman" pitchFamily="18" charset="0"/>
                </a:rPr>
                <a:t>C</a:t>
              </a:r>
              <a:r>
                <a:rPr kumimoji="1" lang="zh-CN" altLang="en-US" sz="2000" b="1">
                  <a:solidFill>
                    <a:srgbClr val="000000"/>
                  </a:solidFill>
                  <a:latin typeface="Times New Roman" pitchFamily="18" charset="0"/>
                  <a:cs typeface="Times New Roman" pitchFamily="18" charset="0"/>
                </a:rPr>
                <a:t>点水平位移</a:t>
              </a:r>
              <a:r>
                <a:rPr kumimoji="1" lang="el-GR" altLang="zh-CN" sz="2000" b="1" i="1">
                  <a:solidFill>
                    <a:srgbClr val="000000"/>
                  </a:solidFill>
                  <a:latin typeface="Times New Roman" pitchFamily="18" charset="0"/>
                  <a:cs typeface="Times New Roman" pitchFamily="18" charset="0"/>
                </a:rPr>
                <a:t>Δ</a:t>
              </a:r>
              <a:r>
                <a:rPr kumimoji="1" lang="en-US" altLang="zh-CN" sz="2000" b="1" i="1" baseline="-25000">
                  <a:solidFill>
                    <a:srgbClr val="000000"/>
                  </a:solidFill>
                  <a:latin typeface="Times New Roman" pitchFamily="18" charset="0"/>
                  <a:cs typeface="Times New Roman" pitchFamily="18" charset="0"/>
                </a:rPr>
                <a:t>C</a:t>
              </a:r>
              <a:r>
                <a:rPr kumimoji="1" lang="en-US" altLang="zh-CN" sz="2000" b="1" baseline="-25000">
                  <a:solidFill>
                    <a:srgbClr val="000000"/>
                  </a:solidFill>
                  <a:latin typeface="Times New Roman" pitchFamily="18" charset="0"/>
                  <a:cs typeface="Times New Roman" pitchFamily="18" charset="0"/>
                </a:rPr>
                <a:t>H</a:t>
              </a:r>
              <a:r>
                <a:rPr kumimoji="1" lang="en-US" altLang="zh-CN" sz="2000" b="1" i="1" baseline="-25000">
                  <a:solidFill>
                    <a:srgbClr val="000000"/>
                  </a:solidFill>
                  <a:latin typeface="Times New Roman" pitchFamily="18" charset="0"/>
                  <a:cs typeface="Times New Roman" pitchFamily="18" charset="0"/>
                </a:rPr>
                <a:t>t</a:t>
              </a:r>
              <a:r>
                <a:rPr kumimoji="1" lang="zh-CN" altLang="en-US" sz="2000" b="1">
                  <a:solidFill>
                    <a:srgbClr val="000000"/>
                  </a:solidFill>
                  <a:latin typeface="Times New Roman" pitchFamily="18" charset="0"/>
                  <a:cs typeface="Times New Roman" pitchFamily="18" charset="0"/>
                </a:rPr>
                <a:t>：</a:t>
              </a:r>
              <a:r>
                <a:rPr kumimoji="1" lang="en-US" altLang="zh-CN" sz="2000" b="1">
                  <a:solidFill>
                    <a:srgbClr val="000000"/>
                  </a:solidFill>
                  <a:latin typeface="Times New Roman" pitchFamily="18" charset="0"/>
                  <a:cs typeface="Times New Roman" pitchFamily="18" charset="0"/>
                </a:rPr>
                <a:t>	</a:t>
              </a:r>
              <a:r>
                <a:rPr kumimoji="1" lang="zh-CN" altLang="en-US" sz="2000" b="1">
                  <a:solidFill>
                    <a:srgbClr val="000000"/>
                  </a:solidFill>
                  <a:latin typeface="Times New Roman" pitchFamily="18" charset="0"/>
                  <a:cs typeface="Times New Roman" pitchFamily="18" charset="0"/>
                </a:rPr>
                <a:t>作如图所示的</a:t>
              </a:r>
              <a:r>
                <a:rPr kumimoji="1" lang="zh-CN" altLang="en-US" sz="2000" b="1" kern="1200">
                  <a:solidFill>
                    <a:srgbClr val="000000"/>
                  </a:solidFill>
                  <a:latin typeface="Times New Roman" pitchFamily="18" charset="0"/>
                  <a:cs typeface="Times New Roman" pitchFamily="18" charset="0"/>
                </a:rPr>
                <a:t>单位力，求出各</a:t>
              </a:r>
              <a:r>
                <a:rPr kumimoji="1" lang="en-US" altLang="zh-CN" sz="2000" b="1" kern="1200">
                  <a:solidFill>
                    <a:srgbClr val="000000"/>
                  </a:solidFill>
                  <a:latin typeface="Times New Roman" pitchFamily="18" charset="0"/>
                  <a:cs typeface="Times New Roman" pitchFamily="18" charset="0"/>
                </a:rPr>
                <a:t>	</a:t>
              </a:r>
              <a:r>
                <a:rPr kumimoji="1" lang="zh-CN" altLang="en-US" sz="2000" b="1" kern="1200">
                  <a:solidFill>
                    <a:srgbClr val="000000"/>
                  </a:solidFill>
                  <a:latin typeface="Times New Roman" pitchFamily="18" charset="0"/>
                  <a:cs typeface="Times New Roman" pitchFamily="18" charset="0"/>
                </a:rPr>
                <a:t>杆轴力      。</a:t>
              </a:r>
            </a:p>
          </p:txBody>
        </p:sp>
        <p:graphicFrame>
          <p:nvGraphicFramePr>
            <p:cNvPr id="83" name="Object 10"/>
            <p:cNvGraphicFramePr>
              <a:graphicFrameLocks noChangeAspect="1"/>
            </p:cNvGraphicFramePr>
            <p:nvPr/>
          </p:nvGraphicFramePr>
          <p:xfrm>
            <a:off x="2986509" y="4714884"/>
            <a:ext cx="400050" cy="357188"/>
          </p:xfrm>
          <a:graphic>
            <a:graphicData uri="http://schemas.openxmlformats.org/presentationml/2006/ole">
              <mc:AlternateContent xmlns:mc="http://schemas.openxmlformats.org/markup-compatibility/2006">
                <mc:Choice xmlns:v="urn:schemas-microsoft-com:vml" Requires="v">
                  <p:oleObj spid="_x0000_s580616" name="Equation" r:id="rId5" imgW="241200" imgH="215640" progId="Equation.DSMT4">
                    <p:embed/>
                  </p:oleObj>
                </mc:Choice>
                <mc:Fallback>
                  <p:oleObj name="Equation" r:id="rId5" imgW="241200" imgH="215640" progId="Equation.DSMT4">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6509" y="4714884"/>
                          <a:ext cx="4000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9" name="组合 98"/>
          <p:cNvGrpSpPr/>
          <p:nvPr/>
        </p:nvGrpSpPr>
        <p:grpSpPr>
          <a:xfrm>
            <a:off x="6215074" y="3509973"/>
            <a:ext cx="2643206" cy="1419225"/>
            <a:chOff x="6215074" y="3509973"/>
            <a:chExt cx="2643206" cy="1419225"/>
          </a:xfrm>
        </p:grpSpPr>
        <p:pic>
          <p:nvPicPr>
            <p:cNvPr id="74" name="Picture 10"/>
            <p:cNvPicPr>
              <a:picLocks noChangeAspect="1" noChangeArrowheads="1"/>
            </p:cNvPicPr>
            <p:nvPr/>
          </p:nvPicPr>
          <p:blipFill>
            <a:blip r:embed="rId4"/>
            <a:srcRect/>
            <a:stretch>
              <a:fillRect/>
            </a:stretch>
          </p:blipFill>
          <p:spPr bwMode="auto">
            <a:xfrm>
              <a:off x="6215074" y="3509973"/>
              <a:ext cx="2333625" cy="1419225"/>
            </a:xfrm>
            <a:prstGeom prst="rect">
              <a:avLst/>
            </a:prstGeom>
            <a:noFill/>
            <a:ln w="9525">
              <a:noFill/>
              <a:miter lim="800000"/>
              <a:headEnd/>
              <a:tailEnd/>
            </a:ln>
            <a:effectLst/>
          </p:spPr>
        </p:pic>
        <p:grpSp>
          <p:nvGrpSpPr>
            <p:cNvPr id="98" name="组合 97"/>
            <p:cNvGrpSpPr/>
            <p:nvPr/>
          </p:nvGrpSpPr>
          <p:grpSpPr>
            <a:xfrm>
              <a:off x="8374232" y="4252871"/>
              <a:ext cx="484048" cy="431571"/>
              <a:chOff x="8374232" y="4252871"/>
              <a:chExt cx="484048" cy="431571"/>
            </a:xfrm>
          </p:grpSpPr>
          <p:cxnSp>
            <p:nvCxnSpPr>
              <p:cNvPr id="87" name="直接箭头连接符 86"/>
              <p:cNvCxnSpPr/>
              <p:nvPr/>
            </p:nvCxnSpPr>
            <p:spPr bwMode="auto">
              <a:xfrm rot="10800000">
                <a:off x="8374232" y="4682854"/>
                <a:ext cx="484048"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88" name="TextBox 87"/>
              <p:cNvSpPr txBox="1"/>
              <p:nvPr/>
            </p:nvSpPr>
            <p:spPr>
              <a:xfrm>
                <a:off x="8457362" y="4252871"/>
                <a:ext cx="400918" cy="400110"/>
              </a:xfrm>
              <a:prstGeom prst="rect">
                <a:avLst/>
              </a:prstGeom>
              <a:noFill/>
              <a:ln w="28575">
                <a:noFill/>
              </a:ln>
            </p:spPr>
            <p:txBody>
              <a:bodyPr wrap="squar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grpSp>
      <p:grpSp>
        <p:nvGrpSpPr>
          <p:cNvPr id="100" name="组合 99"/>
          <p:cNvGrpSpPr/>
          <p:nvPr/>
        </p:nvGrpSpPr>
        <p:grpSpPr>
          <a:xfrm>
            <a:off x="6385660" y="3763805"/>
            <a:ext cx="1601509" cy="1100322"/>
            <a:chOff x="6385660" y="3763805"/>
            <a:chExt cx="1601509" cy="1100322"/>
          </a:xfrm>
        </p:grpSpPr>
        <p:sp>
          <p:nvSpPr>
            <p:cNvPr id="90" name="TextBox 89"/>
            <p:cNvSpPr txBox="1"/>
            <p:nvPr/>
          </p:nvSpPr>
          <p:spPr>
            <a:xfrm>
              <a:off x="6886374" y="424252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1" name="TextBox 90"/>
            <p:cNvSpPr txBox="1"/>
            <p:nvPr/>
          </p:nvSpPr>
          <p:spPr>
            <a:xfrm>
              <a:off x="7344227" y="4277726"/>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2" name="TextBox 91"/>
            <p:cNvSpPr txBox="1"/>
            <p:nvPr/>
          </p:nvSpPr>
          <p:spPr>
            <a:xfrm>
              <a:off x="7799050" y="4272401"/>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3" name="TextBox 92"/>
            <p:cNvSpPr txBox="1"/>
            <p:nvPr/>
          </p:nvSpPr>
          <p:spPr>
            <a:xfrm>
              <a:off x="6828143" y="3763805"/>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5" name="TextBox 94"/>
            <p:cNvSpPr txBox="1"/>
            <p:nvPr/>
          </p:nvSpPr>
          <p:spPr>
            <a:xfrm>
              <a:off x="6385660" y="402821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6" name="TextBox 95"/>
            <p:cNvSpPr txBox="1"/>
            <p:nvPr/>
          </p:nvSpPr>
          <p:spPr>
            <a:xfrm>
              <a:off x="6982706" y="450805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sp>
          <p:nvSpPr>
            <p:cNvPr id="97" name="TextBox 96"/>
            <p:cNvSpPr txBox="1"/>
            <p:nvPr/>
          </p:nvSpPr>
          <p:spPr>
            <a:xfrm>
              <a:off x="7715272" y="4514425"/>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grpSp>
        <p:nvGrpSpPr>
          <p:cNvPr id="103" name="组合 102"/>
          <p:cNvGrpSpPr/>
          <p:nvPr/>
        </p:nvGrpSpPr>
        <p:grpSpPr>
          <a:xfrm>
            <a:off x="1815791" y="5171222"/>
            <a:ext cx="4484576" cy="1272029"/>
            <a:chOff x="1815791" y="5171222"/>
            <a:chExt cx="4484576" cy="1272029"/>
          </a:xfrm>
        </p:grpSpPr>
        <p:graphicFrame>
          <p:nvGraphicFramePr>
            <p:cNvPr id="580615" name="Object 7"/>
            <p:cNvGraphicFramePr>
              <a:graphicFrameLocks noChangeAspect="1"/>
            </p:cNvGraphicFramePr>
            <p:nvPr/>
          </p:nvGraphicFramePr>
          <p:xfrm>
            <a:off x="1952205" y="5538376"/>
            <a:ext cx="4348162" cy="904875"/>
          </p:xfrm>
          <a:graphic>
            <a:graphicData uri="http://schemas.openxmlformats.org/presentationml/2006/ole">
              <mc:AlternateContent xmlns:mc="http://schemas.openxmlformats.org/markup-compatibility/2006">
                <mc:Choice xmlns:v="urn:schemas-microsoft-com:vml" Requires="v">
                  <p:oleObj spid="_x0000_s580617" name="Equation" r:id="rId7" imgW="2806560" imgH="583920" progId="Equation.DSMT4">
                    <p:embed/>
                  </p:oleObj>
                </mc:Choice>
                <mc:Fallback>
                  <p:oleObj name="Equation" r:id="rId7" imgW="2806560" imgH="58392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205" y="5538376"/>
                          <a:ext cx="4348162"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 name="矩形 100"/>
            <p:cNvSpPr/>
            <p:nvPr/>
          </p:nvSpPr>
          <p:spPr>
            <a:xfrm>
              <a:off x="1815791" y="5171222"/>
              <a:ext cx="1338828" cy="369332"/>
            </a:xfrm>
            <a:prstGeom prst="rect">
              <a:avLst/>
            </a:prstGeom>
          </p:spPr>
          <p:txBody>
            <a:bodyPr wrap="none">
              <a:spAutoFit/>
            </a:bodyPr>
            <a:lstStyle/>
            <a:p>
              <a:r>
                <a:rPr lang="zh-CN" altLang="en-US" b="1"/>
                <a:t>计算位移：</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checkerboard(across)">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wipe(left)">
                                      <p:cBhvr>
                                        <p:cTn id="12" dur="5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 calcmode="lin" valueType="num">
                                      <p:cBhvr additive="base">
                                        <p:cTn id="17" dur="500" fill="hold"/>
                                        <p:tgtEl>
                                          <p:spTgt spid="99"/>
                                        </p:tgtEl>
                                        <p:attrNameLst>
                                          <p:attrName>ppt_x</p:attrName>
                                        </p:attrNameLst>
                                      </p:cBhvr>
                                      <p:tavLst>
                                        <p:tav tm="0">
                                          <p:val>
                                            <p:strVal val="#ppt_x"/>
                                          </p:val>
                                        </p:tav>
                                        <p:tav tm="100000">
                                          <p:val>
                                            <p:strVal val="#ppt_x"/>
                                          </p:val>
                                        </p:tav>
                                      </p:tavLst>
                                    </p:anim>
                                    <p:anim calcmode="lin" valueType="num">
                                      <p:cBhvr additive="base">
                                        <p:cTn id="18" dur="500" fill="hold"/>
                                        <p:tgtEl>
                                          <p:spTgt spid="99"/>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5" presetClass="entr" presetSubtype="10" fill="hold" nodeType="after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checkerboard(across)">
                                      <p:cBhvr>
                                        <p:cTn id="22" dur="500"/>
                                        <p:tgtEl>
                                          <p:spTgt spid="10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anim calcmode="lin" valueType="num">
                                      <p:cBhvr additive="base">
                                        <p:cTn id="27" dur="500" fill="hold"/>
                                        <p:tgtEl>
                                          <p:spTgt spid="103"/>
                                        </p:tgtEl>
                                        <p:attrNameLst>
                                          <p:attrName>ppt_x</p:attrName>
                                        </p:attrNameLst>
                                      </p:cBhvr>
                                      <p:tavLst>
                                        <p:tav tm="0">
                                          <p:val>
                                            <p:strVal val="#ppt_x"/>
                                          </p:val>
                                        </p:tav>
                                        <p:tav tm="100000">
                                          <p:val>
                                            <p:strVal val="#ppt_x"/>
                                          </p:val>
                                        </p:tav>
                                      </p:tavLst>
                                    </p:anim>
                                    <p:anim calcmode="lin" valueType="num">
                                      <p:cBhvr additive="base">
                                        <p:cTn id="2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温度改变的位移计算公式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温度改变时的位移计算</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230832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：图示桁架，各杆受日照均匀温升</a:t>
            </a:r>
            <a:r>
              <a:rPr lang="en-US" altLang="zh-CN" sz="2000" b="1">
                <a:solidFill>
                  <a:srgbClr val="C00000"/>
                </a:solidFill>
                <a:latin typeface="Times New Roman" pitchFamily="18" charset="0"/>
                <a:cs typeface="Times New Roman" pitchFamily="18" charset="0"/>
              </a:rPr>
              <a:t>30℃</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点产生水平位移。现欲使</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点的水平位移为</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，求需要在</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点施加的水平外力</a:t>
            </a:r>
            <a:r>
              <a:rPr lang="en-US" altLang="zh-CN" sz="2000" b="1" i="1">
                <a:latin typeface="Times New Roman" pitchFamily="18" charset="0"/>
                <a:cs typeface="Times New Roman" pitchFamily="18" charset="0"/>
              </a:rPr>
              <a:t>F</a:t>
            </a:r>
            <a:r>
              <a:rPr lang="zh-CN" altLang="en-US" sz="2000" b="1">
                <a:latin typeface="Times New Roman" pitchFamily="18" charset="0"/>
                <a:cs typeface="Times New Roman" pitchFamily="18" charset="0"/>
              </a:rPr>
              <a:t>。（已知各杆线膨胀系数</a:t>
            </a:r>
            <a:r>
              <a:rPr lang="en-US" altLang="zh-CN" sz="2000" b="1" i="1">
                <a:solidFill>
                  <a:srgbClr val="C00000"/>
                </a:solidFill>
                <a:latin typeface="Times New Roman" pitchFamily="18" charset="0"/>
                <a:cs typeface="Times New Roman" pitchFamily="18" charset="0"/>
              </a:rPr>
              <a:t>α</a:t>
            </a:r>
            <a:r>
              <a:rPr lang="en-US" altLang="zh-CN" sz="2000" b="1">
                <a:solidFill>
                  <a:srgbClr val="C00000"/>
                </a:solidFill>
                <a:latin typeface="Times New Roman" pitchFamily="18" charset="0"/>
                <a:cs typeface="Times New Roman" pitchFamily="18" charset="0"/>
              </a:rPr>
              <a:t>=1×10</a:t>
            </a:r>
            <a:r>
              <a:rPr lang="en-US" altLang="zh-CN" sz="2000" b="1" baseline="30000">
                <a:solidFill>
                  <a:srgbClr val="C00000"/>
                </a:solidFill>
                <a:latin typeface="Times New Roman" pitchFamily="18" charset="0"/>
                <a:cs typeface="Times New Roman" pitchFamily="18" charset="0"/>
              </a:rPr>
              <a:t>-5</a:t>
            </a:r>
            <a:r>
              <a:rPr lang="zh-CN" altLang="en-US" sz="2000" b="1">
                <a:latin typeface="Times New Roman" pitchFamily="18" charset="0"/>
                <a:cs typeface="Times New Roman" pitchFamily="18" charset="0"/>
              </a:rPr>
              <a:t>，抗拉刚度</a:t>
            </a:r>
            <a:r>
              <a:rPr lang="en-US" altLang="zh-CN" sz="2000" b="1" i="1">
                <a:solidFill>
                  <a:srgbClr val="C00000"/>
                </a:solidFill>
                <a:latin typeface="Times New Roman" pitchFamily="18" charset="0"/>
                <a:cs typeface="Times New Roman" pitchFamily="18" charset="0"/>
              </a:rPr>
              <a:t>EA</a:t>
            </a:r>
            <a:r>
              <a:rPr lang="en-US" altLang="zh-CN" sz="2000" b="1">
                <a:solidFill>
                  <a:srgbClr val="C00000"/>
                </a:solidFill>
                <a:latin typeface="Times New Roman" pitchFamily="18" charset="0"/>
                <a:cs typeface="Times New Roman" pitchFamily="18" charset="0"/>
              </a:rPr>
              <a:t>=50kN</a:t>
            </a:r>
            <a:r>
              <a:rPr lang="zh-CN" altLang="en-US" sz="2000" b="1">
                <a:latin typeface="Times New Roman" pitchFamily="18" charset="0"/>
                <a:cs typeface="Times New Roman" pitchFamily="18" charset="0"/>
              </a:rPr>
              <a:t>）</a:t>
            </a:r>
          </a:p>
        </p:txBody>
      </p:sp>
      <p:grpSp>
        <p:nvGrpSpPr>
          <p:cNvPr id="4" name="组合 71"/>
          <p:cNvGrpSpPr/>
          <p:nvPr/>
        </p:nvGrpSpPr>
        <p:grpSpPr>
          <a:xfrm>
            <a:off x="5801834" y="1559470"/>
            <a:ext cx="3342167" cy="1877960"/>
            <a:chOff x="5801834" y="1559470"/>
            <a:chExt cx="3342167" cy="1877960"/>
          </a:xfrm>
        </p:grpSpPr>
        <p:grpSp>
          <p:nvGrpSpPr>
            <p:cNvPr id="5" name="组合 67"/>
            <p:cNvGrpSpPr/>
            <p:nvPr/>
          </p:nvGrpSpPr>
          <p:grpSpPr>
            <a:xfrm>
              <a:off x="5801834" y="1559470"/>
              <a:ext cx="3127884" cy="1877960"/>
              <a:chOff x="5801834" y="1559470"/>
              <a:chExt cx="3127884" cy="1877960"/>
            </a:xfrm>
          </p:grpSpPr>
          <p:pic>
            <p:nvPicPr>
              <p:cNvPr id="49" name="Picture 10"/>
              <p:cNvPicPr>
                <a:picLocks noChangeAspect="1" noChangeArrowheads="1"/>
              </p:cNvPicPr>
              <p:nvPr/>
            </p:nvPicPr>
            <p:blipFill>
              <a:blip r:embed="rId4"/>
              <a:srcRect/>
              <a:stretch>
                <a:fillRect/>
              </a:stretch>
            </p:blipFill>
            <p:spPr bwMode="auto">
              <a:xfrm>
                <a:off x="6215074" y="1714488"/>
                <a:ext cx="2333625" cy="1419225"/>
              </a:xfrm>
              <a:prstGeom prst="rect">
                <a:avLst/>
              </a:prstGeom>
              <a:noFill/>
              <a:ln w="9525">
                <a:noFill/>
                <a:miter lim="800000"/>
                <a:headEnd/>
                <a:tailEnd/>
              </a:ln>
              <a:effectLst/>
            </p:spPr>
          </p:pic>
          <p:grpSp>
            <p:nvGrpSpPr>
              <p:cNvPr id="6" name="组合 59"/>
              <p:cNvGrpSpPr/>
              <p:nvPr/>
            </p:nvGrpSpPr>
            <p:grpSpPr>
              <a:xfrm>
                <a:off x="5801834" y="1938337"/>
                <a:ext cx="404095" cy="957714"/>
                <a:chOff x="5739541" y="2143116"/>
                <a:chExt cx="404095" cy="957714"/>
              </a:xfrm>
            </p:grpSpPr>
            <p:cxnSp>
              <p:nvCxnSpPr>
                <p:cNvPr id="52" name="直接连接符 51"/>
                <p:cNvCxnSpPr/>
                <p:nvPr/>
              </p:nvCxnSpPr>
              <p:spPr bwMode="auto">
                <a:xfrm>
                  <a:off x="5929322" y="2143116"/>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5929322" y="3099242"/>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p:nvPr/>
              </p:nvCxnSpPr>
              <p:spPr bwMode="auto">
                <a:xfrm rot="5400000">
                  <a:off x="5557828" y="2620116"/>
                  <a:ext cx="954000" cy="1588"/>
                </a:xfrm>
                <a:prstGeom prst="line">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59" name="矩形 58"/>
                <p:cNvSpPr/>
                <p:nvPr/>
              </p:nvSpPr>
              <p:spPr>
                <a:xfrm rot="16200000">
                  <a:off x="5679428" y="2448091"/>
                  <a:ext cx="458780" cy="338554"/>
                </a:xfrm>
                <a:prstGeom prst="rect">
                  <a:avLst/>
                </a:prstGeom>
              </p:spPr>
              <p:txBody>
                <a:bodyPr wrap="none">
                  <a:spAutoFit/>
                </a:bodyPr>
                <a:lstStyle/>
                <a:p>
                  <a:r>
                    <a:rPr lang="en-US" altLang="zh-CN" sz="1600" b="1">
                      <a:latin typeface="Times New Roman" pitchFamily="18" charset="0"/>
                      <a:cs typeface="Times New Roman" pitchFamily="18" charset="0"/>
                    </a:rPr>
                    <a:t>2m</a:t>
                  </a:r>
                  <a:endParaRPr lang="zh-CN" altLang="en-US" sz="1600"/>
                </a:p>
              </p:txBody>
            </p:sp>
          </p:grpSp>
          <p:sp>
            <p:nvSpPr>
              <p:cNvPr id="61" name="TextBox 60"/>
              <p:cNvSpPr txBox="1"/>
              <p:nvPr/>
            </p:nvSpPr>
            <p:spPr>
              <a:xfrm>
                <a:off x="6301026" y="300037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p>
            </p:txBody>
          </p:sp>
          <p:sp>
            <p:nvSpPr>
              <p:cNvPr id="62" name="TextBox 61"/>
              <p:cNvSpPr txBox="1"/>
              <p:nvPr/>
            </p:nvSpPr>
            <p:spPr>
              <a:xfrm>
                <a:off x="6519462" y="155947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p>
            </p:txBody>
          </p:sp>
          <p:sp>
            <p:nvSpPr>
              <p:cNvPr id="63" name="TextBox 62"/>
              <p:cNvSpPr txBox="1"/>
              <p:nvPr/>
            </p:nvSpPr>
            <p:spPr>
              <a:xfrm>
                <a:off x="8376850" y="291679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p>
            </p:txBody>
          </p:sp>
          <p:sp>
            <p:nvSpPr>
              <p:cNvPr id="65" name="弧形 64"/>
              <p:cNvSpPr/>
              <p:nvPr/>
            </p:nvSpPr>
            <p:spPr bwMode="auto">
              <a:xfrm flipH="1">
                <a:off x="7849718" y="2357430"/>
                <a:ext cx="1080000" cy="1080000"/>
              </a:xfrm>
              <a:prstGeom prst="arc">
                <a:avLst>
                  <a:gd name="adj1" fmla="val 19938473"/>
                  <a:gd name="adj2" fmla="val 0"/>
                </a:avLst>
              </a:prstGeom>
              <a:noFill/>
              <a:ln w="19050" cap="flat" cmpd="sng" algn="ctr">
                <a:solidFill>
                  <a:schemeClr val="tx1"/>
                </a:solidFill>
                <a:prstDash val="solid"/>
                <a:round/>
                <a:headEnd type="triangle" w="med" len="med"/>
                <a:tailEnd type="triangle" w="med" len="med"/>
              </a:ln>
              <a:effectLst/>
            </p:spPr>
            <p:txBody>
              <a:bodyPr rtlCol="0" anchor="ctr"/>
              <a:lstStyle/>
              <a:p>
                <a:pPr algn="ctr"/>
                <a:endParaRPr lang="zh-CN" altLang="en-US"/>
              </a:p>
            </p:txBody>
          </p:sp>
          <p:sp>
            <p:nvSpPr>
              <p:cNvPr id="67" name="矩形 66"/>
              <p:cNvSpPr/>
              <p:nvPr/>
            </p:nvSpPr>
            <p:spPr>
              <a:xfrm>
                <a:off x="7439403" y="2571744"/>
                <a:ext cx="633059" cy="338554"/>
              </a:xfrm>
              <a:prstGeom prst="rect">
                <a:avLst/>
              </a:prstGeom>
            </p:spPr>
            <p:txBody>
              <a:bodyPr wrap="square">
                <a:spAutoFit/>
              </a:bodyPr>
              <a:lstStyle/>
              <a:p>
                <a:r>
                  <a:rPr lang="en-US" altLang="zh-CN" sz="1600" b="1">
                    <a:latin typeface="Times New Roman" pitchFamily="18" charset="0"/>
                    <a:cs typeface="Times New Roman" pitchFamily="18" charset="0"/>
                  </a:rPr>
                  <a:t>30°</a:t>
                </a:r>
                <a:endParaRPr lang="zh-CN" altLang="en-US" sz="1600"/>
              </a:p>
            </p:txBody>
          </p:sp>
        </p:grpSp>
        <p:cxnSp>
          <p:nvCxnSpPr>
            <p:cNvPr id="70" name="直接箭头连接符 69"/>
            <p:cNvCxnSpPr/>
            <p:nvPr/>
          </p:nvCxnSpPr>
          <p:spPr bwMode="auto">
            <a:xfrm rot="10800000">
              <a:off x="8374232" y="2885206"/>
              <a:ext cx="484048"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71" name="TextBox 70"/>
            <p:cNvSpPr txBox="1"/>
            <p:nvPr/>
          </p:nvSpPr>
          <p:spPr>
            <a:xfrm>
              <a:off x="8243049" y="2442723"/>
              <a:ext cx="900952" cy="400110"/>
            </a:xfrm>
            <a:prstGeom prst="rect">
              <a:avLst/>
            </a:prstGeom>
            <a:noFill/>
            <a:ln w="28575">
              <a:noFill/>
            </a:ln>
          </p:spPr>
          <p:txBody>
            <a:bodyPr wrap="square" rtlCol="0">
              <a:spAutoFit/>
            </a:bodyPr>
            <a:lstStyle/>
            <a:p>
              <a:r>
                <a:rPr lang="en-US" altLang="zh-CN" sz="2000" b="1" i="1">
                  <a:solidFill>
                    <a:srgbClr val="C00000"/>
                  </a:solidFill>
                  <a:latin typeface="Times New Roman" pitchFamily="18" charset="0"/>
                  <a:cs typeface="Times New Roman" pitchFamily="18" charset="0"/>
                </a:rPr>
                <a:t>F </a:t>
              </a:r>
              <a:r>
                <a:rPr lang="en-US" altLang="zh-CN" sz="2000" b="1">
                  <a:solidFill>
                    <a:srgbClr val="C00000"/>
                  </a:solidFill>
                  <a:latin typeface="Times New Roman" pitchFamily="18" charset="0"/>
                  <a:cs typeface="Times New Roman" pitchFamily="18" charset="0"/>
                </a:rPr>
                <a:t>=</a:t>
              </a:r>
              <a:r>
                <a:rPr lang="zh-CN" altLang="en-US" sz="2000" b="1">
                  <a:solidFill>
                    <a:srgbClr val="C00000"/>
                  </a:solidFill>
                  <a:latin typeface="Times New Roman" pitchFamily="18" charset="0"/>
                  <a:cs typeface="Times New Roman" pitchFamily="18" charset="0"/>
                </a:rPr>
                <a:t>？</a:t>
              </a:r>
            </a:p>
          </p:txBody>
        </p:sp>
      </p:grpSp>
      <p:sp>
        <p:nvSpPr>
          <p:cNvPr id="80" name="Rectangle 5"/>
          <p:cNvSpPr>
            <a:spLocks noChangeArrowheads="1"/>
          </p:cNvSpPr>
          <p:nvPr/>
        </p:nvSpPr>
        <p:spPr bwMode="auto">
          <a:xfrm>
            <a:off x="901699" y="4000504"/>
            <a:ext cx="4598995" cy="1200329"/>
          </a:xfrm>
          <a:prstGeom prst="rect">
            <a:avLst/>
          </a:prstGeom>
          <a:noFill/>
          <a:ln w="9525">
            <a:noFill/>
            <a:miter lim="800000"/>
            <a:headEnd/>
            <a:tailEnd/>
          </a:ln>
        </p:spPr>
        <p:txBody>
          <a:bodyPr wrap="square">
            <a:spAutoFit/>
          </a:bodyPr>
          <a:lstStyle/>
          <a:p>
            <a:pPr fontAlgn="base">
              <a:lnSpc>
                <a:spcPct val="120000"/>
              </a:lnSpc>
              <a:spcBef>
                <a:spcPct val="0"/>
              </a:spcBef>
              <a:spcAft>
                <a:spcPct val="0"/>
              </a:spcAft>
            </a:pPr>
            <a:r>
              <a:rPr kumimoji="1" lang="zh-CN" altLang="en-US" sz="2000" b="1">
                <a:solidFill>
                  <a:srgbClr val="000000"/>
                </a:solidFill>
                <a:latin typeface="Times New Roman" pitchFamily="18" charset="0"/>
                <a:cs typeface="Times New Roman" pitchFamily="18" charset="0"/>
              </a:rPr>
              <a:t>解： ⑴                                  ；</a:t>
            </a:r>
            <a:endParaRPr kumimoji="1" lang="en-US" altLang="zh-CN" sz="2000" b="1">
              <a:solidFill>
                <a:srgbClr val="000000"/>
              </a:solidFill>
              <a:latin typeface="Times New Roman" pitchFamily="18" charset="0"/>
              <a:cs typeface="Times New Roman" pitchFamily="18" charset="0"/>
            </a:endParaRPr>
          </a:p>
          <a:p>
            <a:pPr fontAlgn="base">
              <a:lnSpc>
                <a:spcPct val="120000"/>
              </a:lnSpc>
              <a:spcAft>
                <a:spcPct val="0"/>
              </a:spcAft>
            </a:pPr>
            <a:r>
              <a:rPr kumimoji="1" lang="en-US" altLang="zh-CN" sz="2000" b="1">
                <a:solidFill>
                  <a:srgbClr val="000000"/>
                </a:solidFill>
                <a:latin typeface="Times New Roman" pitchFamily="18" charset="0"/>
                <a:cs typeface="Times New Roman" pitchFamily="18" charset="0"/>
              </a:rPr>
              <a:t>         </a:t>
            </a:r>
            <a:r>
              <a:rPr kumimoji="1" lang="zh-CN" altLang="en-US" sz="2000" b="1">
                <a:solidFill>
                  <a:srgbClr val="000000"/>
                </a:solidFill>
                <a:latin typeface="Times New Roman" pitchFamily="18" charset="0"/>
                <a:cs typeface="Times New Roman" pitchFamily="18" charset="0"/>
              </a:rPr>
              <a:t>⑵ 求外力</a:t>
            </a:r>
            <a:r>
              <a:rPr kumimoji="1" lang="en-US" altLang="zh-CN" sz="2000" b="1" i="1">
                <a:solidFill>
                  <a:srgbClr val="000000"/>
                </a:solidFill>
                <a:latin typeface="Times New Roman" pitchFamily="18" charset="0"/>
                <a:cs typeface="Times New Roman" pitchFamily="18" charset="0"/>
              </a:rPr>
              <a:t>F</a:t>
            </a:r>
            <a:r>
              <a:rPr kumimoji="1" lang="zh-CN" altLang="en-US" sz="2000" b="1">
                <a:solidFill>
                  <a:srgbClr val="000000"/>
                </a:solidFill>
                <a:latin typeface="Times New Roman" pitchFamily="18" charset="0"/>
                <a:cs typeface="Times New Roman" pitchFamily="18" charset="0"/>
              </a:rPr>
              <a:t>产生的水平位移</a:t>
            </a:r>
            <a:r>
              <a:rPr kumimoji="1" lang="el-GR" altLang="zh-CN" sz="2000" b="1" i="1">
                <a:solidFill>
                  <a:srgbClr val="000000"/>
                </a:solidFill>
                <a:latin typeface="Times New Roman" pitchFamily="18" charset="0"/>
                <a:cs typeface="Times New Roman" pitchFamily="18" charset="0"/>
              </a:rPr>
              <a:t>Δ</a:t>
            </a:r>
            <a:r>
              <a:rPr kumimoji="1" lang="en-US" altLang="zh-CN" sz="2000" b="1" i="1" baseline="-25000">
                <a:solidFill>
                  <a:srgbClr val="000000"/>
                </a:solidFill>
                <a:latin typeface="Times New Roman" pitchFamily="18" charset="0"/>
                <a:cs typeface="Times New Roman" pitchFamily="18" charset="0"/>
              </a:rPr>
              <a:t>C</a:t>
            </a:r>
            <a:r>
              <a:rPr kumimoji="1" lang="en-US" altLang="zh-CN" sz="2000" b="1" baseline="-25000">
                <a:solidFill>
                  <a:srgbClr val="000000"/>
                </a:solidFill>
                <a:latin typeface="Times New Roman" pitchFamily="18" charset="0"/>
                <a:cs typeface="Times New Roman" pitchFamily="18" charset="0"/>
              </a:rPr>
              <a:t>H</a:t>
            </a:r>
            <a:r>
              <a:rPr kumimoji="1" lang="en-US" altLang="zh-CN" sz="2000" b="1" i="1" baseline="-25000">
                <a:solidFill>
                  <a:srgbClr val="000000"/>
                </a:solidFill>
                <a:latin typeface="Times New Roman" pitchFamily="18" charset="0"/>
                <a:cs typeface="Times New Roman" pitchFamily="18" charset="0"/>
              </a:rPr>
              <a:t>F</a:t>
            </a:r>
            <a:r>
              <a:rPr kumimoji="1" lang="zh-CN" altLang="en-US" sz="2000" b="1">
                <a:solidFill>
                  <a:srgbClr val="000000"/>
                </a:solidFill>
                <a:latin typeface="Times New Roman" pitchFamily="18" charset="0"/>
                <a:cs typeface="Times New Roman" pitchFamily="18" charset="0"/>
              </a:rPr>
              <a:t>：</a:t>
            </a:r>
            <a:r>
              <a:rPr kumimoji="1" lang="en-US" altLang="zh-CN" sz="2000" b="1">
                <a:solidFill>
                  <a:srgbClr val="000000"/>
                </a:solidFill>
                <a:latin typeface="Times New Roman" pitchFamily="18" charset="0"/>
                <a:cs typeface="Times New Roman" pitchFamily="18" charset="0"/>
              </a:rPr>
              <a:t>	</a:t>
            </a:r>
            <a:r>
              <a:rPr kumimoji="1" lang="zh-CN" altLang="en-US" sz="2000" b="1">
                <a:solidFill>
                  <a:srgbClr val="000000"/>
                </a:solidFill>
                <a:latin typeface="Times New Roman" pitchFamily="18" charset="0"/>
                <a:cs typeface="Times New Roman" pitchFamily="18" charset="0"/>
              </a:rPr>
              <a:t>求出</a:t>
            </a:r>
            <a:r>
              <a:rPr kumimoji="1" lang="en-US" altLang="zh-CN" sz="2000" b="1" i="1">
                <a:solidFill>
                  <a:srgbClr val="000000"/>
                </a:solidFill>
                <a:latin typeface="Times New Roman" pitchFamily="18" charset="0"/>
                <a:cs typeface="Times New Roman" pitchFamily="18" charset="0"/>
              </a:rPr>
              <a:t>F</a:t>
            </a:r>
            <a:r>
              <a:rPr kumimoji="1" lang="zh-CN" altLang="en-US" sz="2000" b="1">
                <a:solidFill>
                  <a:srgbClr val="000000"/>
                </a:solidFill>
                <a:latin typeface="Times New Roman" pitchFamily="18" charset="0"/>
                <a:cs typeface="Times New Roman" pitchFamily="18" charset="0"/>
              </a:rPr>
              <a:t>作用下各杆轴力。</a:t>
            </a:r>
            <a:endParaRPr kumimoji="1" lang="zh-CN" altLang="en-US" sz="2000" b="1" kern="1200">
              <a:solidFill>
                <a:srgbClr val="000000"/>
              </a:solidFill>
              <a:latin typeface="Times New Roman" pitchFamily="18" charset="0"/>
              <a:cs typeface="Times New Roman" pitchFamily="18" charset="0"/>
            </a:endParaRPr>
          </a:p>
        </p:txBody>
      </p:sp>
      <p:graphicFrame>
        <p:nvGraphicFramePr>
          <p:cNvPr id="83" name="Object 10"/>
          <p:cNvGraphicFramePr>
            <a:graphicFrameLocks noChangeAspect="1"/>
          </p:cNvGraphicFramePr>
          <p:nvPr/>
        </p:nvGraphicFramePr>
        <p:xfrm>
          <a:off x="1905000" y="4032250"/>
          <a:ext cx="2073275" cy="414338"/>
        </p:xfrm>
        <a:graphic>
          <a:graphicData uri="http://schemas.openxmlformats.org/presentationml/2006/ole">
            <mc:AlternateContent xmlns:mc="http://schemas.openxmlformats.org/markup-compatibility/2006">
              <mc:Choice xmlns:v="urn:schemas-microsoft-com:vml" Requires="v">
                <p:oleObj spid="_x0000_s581640" name="Equation" r:id="rId5" imgW="1333440" imgH="266400" progId="Equation.DSMT4">
                  <p:embed/>
                </p:oleObj>
              </mc:Choice>
              <mc:Fallback>
                <p:oleObj name="Equation" r:id="rId5" imgW="1333440" imgH="2664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032250"/>
                        <a:ext cx="2073275"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组合 98"/>
          <p:cNvGrpSpPr/>
          <p:nvPr/>
        </p:nvGrpSpPr>
        <p:grpSpPr>
          <a:xfrm>
            <a:off x="6215074" y="3509973"/>
            <a:ext cx="2643206" cy="1419225"/>
            <a:chOff x="6215074" y="3509973"/>
            <a:chExt cx="2643206" cy="1419225"/>
          </a:xfrm>
        </p:grpSpPr>
        <p:pic>
          <p:nvPicPr>
            <p:cNvPr id="74" name="Picture 10"/>
            <p:cNvPicPr>
              <a:picLocks noChangeAspect="1" noChangeArrowheads="1"/>
            </p:cNvPicPr>
            <p:nvPr/>
          </p:nvPicPr>
          <p:blipFill>
            <a:blip r:embed="rId4"/>
            <a:srcRect/>
            <a:stretch>
              <a:fillRect/>
            </a:stretch>
          </p:blipFill>
          <p:spPr bwMode="auto">
            <a:xfrm>
              <a:off x="6215074" y="3509973"/>
              <a:ext cx="2333625" cy="1419225"/>
            </a:xfrm>
            <a:prstGeom prst="rect">
              <a:avLst/>
            </a:prstGeom>
            <a:noFill/>
            <a:ln w="9525">
              <a:noFill/>
              <a:miter lim="800000"/>
              <a:headEnd/>
              <a:tailEnd/>
            </a:ln>
            <a:effectLst/>
          </p:spPr>
        </p:pic>
        <p:grpSp>
          <p:nvGrpSpPr>
            <p:cNvPr id="9" name="组合 97"/>
            <p:cNvGrpSpPr/>
            <p:nvPr/>
          </p:nvGrpSpPr>
          <p:grpSpPr>
            <a:xfrm>
              <a:off x="8374232" y="4252871"/>
              <a:ext cx="484048" cy="431571"/>
              <a:chOff x="8374232" y="4252871"/>
              <a:chExt cx="484048" cy="431571"/>
            </a:xfrm>
          </p:grpSpPr>
          <p:cxnSp>
            <p:nvCxnSpPr>
              <p:cNvPr id="87" name="直接箭头连接符 86"/>
              <p:cNvCxnSpPr/>
              <p:nvPr/>
            </p:nvCxnSpPr>
            <p:spPr bwMode="auto">
              <a:xfrm rot="10800000">
                <a:off x="8374232" y="4682854"/>
                <a:ext cx="484048"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88" name="TextBox 87"/>
              <p:cNvSpPr txBox="1"/>
              <p:nvPr/>
            </p:nvSpPr>
            <p:spPr>
              <a:xfrm>
                <a:off x="8457362" y="4252871"/>
                <a:ext cx="400918" cy="400110"/>
              </a:xfrm>
              <a:prstGeom prst="rect">
                <a:avLst/>
              </a:prstGeom>
              <a:noFill/>
              <a:ln w="28575">
                <a:noFill/>
              </a:ln>
            </p:spPr>
            <p:txBody>
              <a:bodyPr wrap="squar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grpSp>
      <p:grpSp>
        <p:nvGrpSpPr>
          <p:cNvPr id="10" name="组合 99"/>
          <p:cNvGrpSpPr/>
          <p:nvPr/>
        </p:nvGrpSpPr>
        <p:grpSpPr>
          <a:xfrm>
            <a:off x="6385660" y="3763805"/>
            <a:ext cx="1601509" cy="1100322"/>
            <a:chOff x="6385660" y="3763805"/>
            <a:chExt cx="1601509" cy="1100322"/>
          </a:xfrm>
        </p:grpSpPr>
        <p:sp>
          <p:nvSpPr>
            <p:cNvPr id="90" name="TextBox 89"/>
            <p:cNvSpPr txBox="1"/>
            <p:nvPr/>
          </p:nvSpPr>
          <p:spPr>
            <a:xfrm>
              <a:off x="6886374" y="424252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1" name="TextBox 90"/>
            <p:cNvSpPr txBox="1"/>
            <p:nvPr/>
          </p:nvSpPr>
          <p:spPr>
            <a:xfrm>
              <a:off x="7344227" y="4277726"/>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2" name="TextBox 91"/>
            <p:cNvSpPr txBox="1"/>
            <p:nvPr/>
          </p:nvSpPr>
          <p:spPr>
            <a:xfrm>
              <a:off x="7799050" y="4272401"/>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3" name="TextBox 92"/>
            <p:cNvSpPr txBox="1"/>
            <p:nvPr/>
          </p:nvSpPr>
          <p:spPr>
            <a:xfrm>
              <a:off x="6828143" y="3763805"/>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5" name="TextBox 94"/>
            <p:cNvSpPr txBox="1"/>
            <p:nvPr/>
          </p:nvSpPr>
          <p:spPr>
            <a:xfrm>
              <a:off x="6385660" y="402821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96" name="TextBox 95"/>
            <p:cNvSpPr txBox="1"/>
            <p:nvPr/>
          </p:nvSpPr>
          <p:spPr>
            <a:xfrm>
              <a:off x="6982706" y="450805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sp>
          <p:nvSpPr>
            <p:cNvPr id="97" name="TextBox 96"/>
            <p:cNvSpPr txBox="1"/>
            <p:nvPr/>
          </p:nvSpPr>
          <p:spPr>
            <a:xfrm>
              <a:off x="7715272" y="4514425"/>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1</a:t>
              </a:r>
              <a:endParaRPr lang="zh-CN" altLang="en-US" b="1">
                <a:solidFill>
                  <a:srgbClr val="C00000"/>
                </a:solidFill>
                <a:latin typeface="Times New Roman" pitchFamily="18" charset="0"/>
                <a:cs typeface="Times New Roman" pitchFamily="18" charset="0"/>
              </a:endParaRPr>
            </a:p>
          </p:txBody>
        </p:sp>
      </p:grpSp>
      <p:grpSp>
        <p:nvGrpSpPr>
          <p:cNvPr id="38" name="组合 99"/>
          <p:cNvGrpSpPr/>
          <p:nvPr/>
        </p:nvGrpSpPr>
        <p:grpSpPr>
          <a:xfrm>
            <a:off x="6357950" y="1971488"/>
            <a:ext cx="1601509" cy="1130195"/>
            <a:chOff x="6385660" y="3763805"/>
            <a:chExt cx="1601509" cy="1130195"/>
          </a:xfrm>
        </p:grpSpPr>
        <p:sp>
          <p:nvSpPr>
            <p:cNvPr id="39" name="TextBox 38"/>
            <p:cNvSpPr txBox="1"/>
            <p:nvPr/>
          </p:nvSpPr>
          <p:spPr>
            <a:xfrm>
              <a:off x="6886374" y="4242528"/>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40" name="TextBox 39"/>
            <p:cNvSpPr txBox="1"/>
            <p:nvPr/>
          </p:nvSpPr>
          <p:spPr>
            <a:xfrm>
              <a:off x="7344227" y="4277726"/>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42" name="TextBox 41"/>
            <p:cNvSpPr txBox="1"/>
            <p:nvPr/>
          </p:nvSpPr>
          <p:spPr>
            <a:xfrm>
              <a:off x="6828143" y="3763805"/>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43" name="TextBox 42"/>
            <p:cNvSpPr txBox="1"/>
            <p:nvPr/>
          </p:nvSpPr>
          <p:spPr>
            <a:xfrm>
              <a:off x="6385660" y="402821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sp>
          <p:nvSpPr>
            <p:cNvPr id="44" name="TextBox 43"/>
            <p:cNvSpPr txBox="1"/>
            <p:nvPr/>
          </p:nvSpPr>
          <p:spPr>
            <a:xfrm>
              <a:off x="6885726" y="4544298"/>
              <a:ext cx="303536"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a:t>
              </a:r>
              <a:r>
                <a:rPr lang="en-US" altLang="zh-CN" b="1" i="1">
                  <a:solidFill>
                    <a:srgbClr val="C00000"/>
                  </a:solidFill>
                  <a:latin typeface="Times New Roman" pitchFamily="18" charset="0"/>
                  <a:cs typeface="Times New Roman" pitchFamily="18" charset="0"/>
                </a:rPr>
                <a:t>F</a:t>
              </a:r>
              <a:endParaRPr lang="zh-CN" altLang="en-US" b="1" i="1">
                <a:solidFill>
                  <a:srgbClr val="C00000"/>
                </a:solidFill>
                <a:latin typeface="Times New Roman" pitchFamily="18" charset="0"/>
                <a:cs typeface="Times New Roman" pitchFamily="18" charset="0"/>
              </a:endParaRPr>
            </a:p>
          </p:txBody>
        </p:sp>
        <p:sp>
          <p:nvSpPr>
            <p:cNvPr id="45" name="TextBox 44"/>
            <p:cNvSpPr txBox="1"/>
            <p:nvPr/>
          </p:nvSpPr>
          <p:spPr>
            <a:xfrm>
              <a:off x="7653760" y="4514425"/>
              <a:ext cx="303536"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a:t>
              </a:r>
              <a:r>
                <a:rPr lang="en-US" altLang="zh-CN" b="1" i="1">
                  <a:solidFill>
                    <a:srgbClr val="C00000"/>
                  </a:solidFill>
                  <a:latin typeface="Times New Roman" pitchFamily="18" charset="0"/>
                  <a:cs typeface="Times New Roman" pitchFamily="18" charset="0"/>
                </a:rPr>
                <a:t>F</a:t>
              </a:r>
              <a:endParaRPr lang="zh-CN" altLang="en-US" b="1" i="1">
                <a:solidFill>
                  <a:srgbClr val="C00000"/>
                </a:solidFill>
                <a:latin typeface="Times New Roman" pitchFamily="18" charset="0"/>
                <a:cs typeface="Times New Roman" pitchFamily="18" charset="0"/>
              </a:endParaRPr>
            </a:p>
          </p:txBody>
        </p:sp>
        <p:sp>
          <p:nvSpPr>
            <p:cNvPr id="41" name="TextBox 40"/>
            <p:cNvSpPr txBox="1"/>
            <p:nvPr/>
          </p:nvSpPr>
          <p:spPr>
            <a:xfrm>
              <a:off x="7799050" y="4258546"/>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C00000"/>
                  </a:solidFill>
                  <a:latin typeface="Times New Roman" pitchFamily="18" charset="0"/>
                  <a:cs typeface="Times New Roman" pitchFamily="18" charset="0"/>
                </a:rPr>
                <a:t>0</a:t>
              </a:r>
              <a:endParaRPr lang="zh-CN" altLang="en-US" b="1">
                <a:solidFill>
                  <a:srgbClr val="C00000"/>
                </a:solidFill>
                <a:latin typeface="Times New Roman" pitchFamily="18" charset="0"/>
                <a:cs typeface="Times New Roman" pitchFamily="18" charset="0"/>
              </a:endParaRPr>
            </a:p>
          </p:txBody>
        </p:sp>
      </p:grpSp>
      <p:grpSp>
        <p:nvGrpSpPr>
          <p:cNvPr id="46" name="组合 45"/>
          <p:cNvGrpSpPr/>
          <p:nvPr/>
        </p:nvGrpSpPr>
        <p:grpSpPr>
          <a:xfrm>
            <a:off x="1845977" y="5202808"/>
            <a:ext cx="2887354" cy="1026129"/>
            <a:chOff x="1845977" y="5202808"/>
            <a:chExt cx="2887354" cy="1026129"/>
          </a:xfrm>
        </p:grpSpPr>
        <p:graphicFrame>
          <p:nvGraphicFramePr>
            <p:cNvPr id="47" name="Object 7"/>
            <p:cNvGraphicFramePr>
              <a:graphicFrameLocks noChangeAspect="1"/>
            </p:cNvGraphicFramePr>
            <p:nvPr/>
          </p:nvGraphicFramePr>
          <p:xfrm>
            <a:off x="1998069" y="5559012"/>
            <a:ext cx="2735262" cy="669925"/>
          </p:xfrm>
          <a:graphic>
            <a:graphicData uri="http://schemas.openxmlformats.org/presentationml/2006/ole">
              <mc:AlternateContent xmlns:mc="http://schemas.openxmlformats.org/markup-compatibility/2006">
                <mc:Choice xmlns:v="urn:schemas-microsoft-com:vml" Requires="v">
                  <p:oleObj spid="_x0000_s581641" name="Equation" r:id="rId7" imgW="1765080" imgH="431640" progId="Equation.DSMT4">
                    <p:embed/>
                  </p:oleObj>
                </mc:Choice>
                <mc:Fallback>
                  <p:oleObj name="Equation" r:id="rId7" imgW="1765080" imgH="4316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8069" y="5559012"/>
                          <a:ext cx="2735262"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 name="矩形 47"/>
            <p:cNvSpPr/>
            <p:nvPr/>
          </p:nvSpPr>
          <p:spPr>
            <a:xfrm>
              <a:off x="1845977" y="5202808"/>
              <a:ext cx="1338828" cy="369332"/>
            </a:xfrm>
            <a:prstGeom prst="rect">
              <a:avLst/>
            </a:prstGeom>
          </p:spPr>
          <p:txBody>
            <a:bodyPr wrap="none">
              <a:spAutoFit/>
            </a:bodyPr>
            <a:lstStyle/>
            <a:p>
              <a:r>
                <a:rPr lang="zh-CN" altLang="en-US" b="1"/>
                <a:t>计算位移：</a:t>
              </a:r>
            </a:p>
          </p:txBody>
        </p:sp>
      </p:grpSp>
      <p:grpSp>
        <p:nvGrpSpPr>
          <p:cNvPr id="54" name="组合 53"/>
          <p:cNvGrpSpPr/>
          <p:nvPr/>
        </p:nvGrpSpPr>
        <p:grpSpPr>
          <a:xfrm>
            <a:off x="5072066" y="5072074"/>
            <a:ext cx="2889117" cy="369332"/>
            <a:chOff x="5357818" y="5072074"/>
            <a:chExt cx="2889117" cy="369332"/>
          </a:xfrm>
        </p:grpSpPr>
        <p:sp>
          <p:nvSpPr>
            <p:cNvPr id="50" name="矩形 49"/>
            <p:cNvSpPr/>
            <p:nvPr/>
          </p:nvSpPr>
          <p:spPr>
            <a:xfrm>
              <a:off x="5357818" y="5072074"/>
              <a:ext cx="1402948" cy="369332"/>
            </a:xfrm>
            <a:prstGeom prst="rect">
              <a:avLst/>
            </a:prstGeom>
          </p:spPr>
          <p:txBody>
            <a:bodyPr wrap="none">
              <a:spAutoFit/>
            </a:bodyPr>
            <a:lstStyle/>
            <a:p>
              <a:r>
                <a:rPr lang="zh-CN" altLang="en-US" b="1"/>
                <a:t>⑶ 根据要求</a:t>
              </a:r>
            </a:p>
          </p:txBody>
        </p:sp>
        <p:graphicFrame>
          <p:nvGraphicFramePr>
            <p:cNvPr id="51" name="Object 7"/>
            <p:cNvGraphicFramePr>
              <a:graphicFrameLocks noChangeAspect="1"/>
            </p:cNvGraphicFramePr>
            <p:nvPr/>
          </p:nvGraphicFramePr>
          <p:xfrm>
            <a:off x="6770560" y="5085929"/>
            <a:ext cx="1476375" cy="354012"/>
          </p:xfrm>
          <a:graphic>
            <a:graphicData uri="http://schemas.openxmlformats.org/presentationml/2006/ole">
              <mc:AlternateContent xmlns:mc="http://schemas.openxmlformats.org/markup-compatibility/2006">
                <mc:Choice xmlns:v="urn:schemas-microsoft-com:vml" Requires="v">
                  <p:oleObj spid="_x0000_s581642" name="Equation" r:id="rId9" imgW="952200" imgH="228600" progId="Equation.DSMT4">
                    <p:embed/>
                  </p:oleObj>
                </mc:Choice>
                <mc:Fallback>
                  <p:oleObj name="Equation" r:id="rId9" imgW="952200" imgH="22860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70560" y="5085929"/>
                          <a:ext cx="14763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5" name="Object 7"/>
          <p:cNvGraphicFramePr>
            <a:graphicFrameLocks noChangeAspect="1"/>
          </p:cNvGraphicFramePr>
          <p:nvPr/>
        </p:nvGraphicFramePr>
        <p:xfrm>
          <a:off x="5572132" y="5475306"/>
          <a:ext cx="2360613" cy="668338"/>
        </p:xfrm>
        <a:graphic>
          <a:graphicData uri="http://schemas.openxmlformats.org/presentationml/2006/ole">
            <mc:AlternateContent xmlns:mc="http://schemas.openxmlformats.org/markup-compatibility/2006">
              <mc:Choice xmlns:v="urn:schemas-microsoft-com:vml" Requires="v">
                <p:oleObj spid="_x0000_s581643" name="Equation" r:id="rId11" imgW="1523880" imgH="431640" progId="Equation.DSMT4">
                  <p:embed/>
                </p:oleObj>
              </mc:Choice>
              <mc:Fallback>
                <p:oleObj name="Equation" r:id="rId11" imgW="1523880" imgH="43164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72132" y="5475306"/>
                        <a:ext cx="2360613"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1639" name="Object 7"/>
          <p:cNvGraphicFramePr>
            <a:graphicFrameLocks noChangeAspect="1"/>
          </p:cNvGraphicFramePr>
          <p:nvPr/>
        </p:nvGraphicFramePr>
        <p:xfrm>
          <a:off x="6929454" y="6143644"/>
          <a:ext cx="1000133" cy="279069"/>
        </p:xfrm>
        <a:graphic>
          <a:graphicData uri="http://schemas.openxmlformats.org/presentationml/2006/ole">
            <mc:AlternateContent xmlns:mc="http://schemas.openxmlformats.org/markup-compatibility/2006">
              <mc:Choice xmlns:v="urn:schemas-microsoft-com:vml" Requires="v">
                <p:oleObj spid="_x0000_s581644" name="Equation" r:id="rId13" imgW="634680" imgH="177480" progId="Equation.DSMT4">
                  <p:embed/>
                </p:oleObj>
              </mc:Choice>
              <mc:Fallback>
                <p:oleObj name="Equation" r:id="rId13" imgW="634680" imgH="17748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29454" y="6143644"/>
                        <a:ext cx="1000133" cy="279069"/>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 name="右箭头 55"/>
          <p:cNvSpPr/>
          <p:nvPr/>
        </p:nvSpPr>
        <p:spPr bwMode="auto">
          <a:xfrm>
            <a:off x="8143900" y="5715016"/>
            <a:ext cx="285752" cy="214314"/>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
                                            <p:txEl>
                                              <p:pRg st="1" end="1"/>
                                            </p:txEl>
                                          </p:spTgt>
                                        </p:tgtEl>
                                        <p:attrNameLst>
                                          <p:attrName>style.visibility</p:attrName>
                                        </p:attrNameLst>
                                      </p:cBhvr>
                                      <p:to>
                                        <p:strVal val="visible"/>
                                      </p:to>
                                    </p:set>
                                    <p:animEffect transition="in" filter="wipe(left)">
                                      <p:cBhvr>
                                        <p:cTn id="7" dur="500"/>
                                        <p:tgtEl>
                                          <p:spTgt spid="8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checkerboard(across)">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fill="hold"/>
                                        <p:tgtEl>
                                          <p:spTgt spid="46"/>
                                        </p:tgtEl>
                                        <p:attrNameLst>
                                          <p:attrName>ppt_x</p:attrName>
                                        </p:attrNameLst>
                                      </p:cBhvr>
                                      <p:tavLst>
                                        <p:tav tm="0">
                                          <p:val>
                                            <p:strVal val="#ppt_x"/>
                                          </p:val>
                                        </p:tav>
                                        <p:tav tm="100000">
                                          <p:val>
                                            <p:strVal val="#ppt_x"/>
                                          </p:val>
                                        </p:tav>
                                      </p:tavLst>
                                    </p:anim>
                                    <p:anim calcmode="lin" valueType="num">
                                      <p:cBhvr additive="base">
                                        <p:cTn id="1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wipe(left)">
                                      <p:cBhvr>
                                        <p:cTn id="23" dur="500"/>
                                        <p:tgtEl>
                                          <p:spTgt spid="5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wipe(left)">
                                      <p:cBhvr>
                                        <p:cTn id="28" dur="500"/>
                                        <p:tgtEl>
                                          <p:spTgt spid="5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wipe(left)">
                                      <p:cBhvr>
                                        <p:cTn id="33" dur="500"/>
                                        <p:tgtEl>
                                          <p:spTgt spid="5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81639"/>
                                        </p:tgtEl>
                                        <p:attrNameLst>
                                          <p:attrName>style.visibility</p:attrName>
                                        </p:attrNameLst>
                                      </p:cBhvr>
                                      <p:to>
                                        <p:strVal val="visible"/>
                                      </p:to>
                                    </p:set>
                                    <p:animEffect transition="in" filter="wipe(left)">
                                      <p:cBhvr>
                                        <p:cTn id="38" dur="500"/>
                                        <p:tgtEl>
                                          <p:spTgt spid="581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uiExpand="1" build="p"/>
      <p:bldP spid="5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回顾：质点、刚体虚功方程</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1830896"/>
            <a:ext cx="8174426" cy="473975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质点系虚功方程</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前提：理想约束、平衡力系、可能位移；</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结论：作用于质点系的主动力虚功之和为零；</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pP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P1</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 </a:t>
            </a:r>
            <a:r>
              <a:rPr lang="en-US" altLang="zh-CN" sz="2000">
                <a:latin typeface="Times New Roman" pitchFamily="18" charset="0"/>
                <a:cs typeface="Times New Roman" pitchFamily="18" charset="0"/>
              </a:rPr>
              <a:t>=</a:t>
            </a:r>
            <a:r>
              <a:rPr lang="en-US" altLang="zh-CN" sz="2000" baseline="-25000">
                <a:latin typeface="Times New Roman" pitchFamily="18" charset="0"/>
                <a:cs typeface="Times New Roman" pitchFamily="18" charset="0"/>
              </a:rPr>
              <a:t> </a:t>
            </a:r>
            <a:r>
              <a:rPr lang="en-US" altLang="zh-CN" sz="2000">
                <a:latin typeface="Times New Roman" pitchFamily="18" charset="0"/>
                <a:cs typeface="Times New Roman" pitchFamily="18" charset="0"/>
              </a:rPr>
              <a:t>0</a:t>
            </a:r>
            <a:r>
              <a:rPr lang="en-US" altLang="zh-CN" sz="2000" b="1">
                <a:latin typeface="Times New Roman" pitchFamily="18" charset="0"/>
                <a:cs typeface="Times New Roman" pitchFamily="18" charset="0"/>
              </a:rPr>
              <a:t>,   </a:t>
            </a:r>
            <a:r>
              <a:rPr lang="zh-CN" altLang="en-US" sz="2000" b="1">
                <a:solidFill>
                  <a:srgbClr val="C00000"/>
                </a:solidFill>
                <a:latin typeface="Times New Roman" pitchFamily="18" charset="0"/>
                <a:cs typeface="Times New Roman" pitchFamily="18" charset="0"/>
              </a:rPr>
              <a:t>方程中不出现</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N1</a:t>
            </a:r>
            <a:r>
              <a:rPr lang="zh-CN" altLang="en-US" sz="2000" b="1">
                <a:solidFill>
                  <a:srgbClr val="C00000"/>
                </a:solidFill>
                <a:latin typeface="Times New Roman" pitchFamily="18" charset="0"/>
                <a:cs typeface="Times New Roman" pitchFamily="18" charset="0"/>
              </a:rPr>
              <a:t>，</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N2</a:t>
            </a:r>
            <a:endParaRPr lang="en-US" altLang="zh-CN" sz="2000" b="1">
              <a:solidFill>
                <a:srgbClr val="C00000"/>
              </a:solidFill>
              <a:latin typeface="Times New Roman" pitchFamily="18" charset="0"/>
              <a:cs typeface="Times New Roman" pitchFamily="18" charset="0"/>
            </a:endParaRPr>
          </a:p>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刚体体系虚功方程</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前提：理想约束、平衡力系、可能位移；</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结论：作用于质点系的主动力虚功之和为零；</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pP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P1</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P2</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 </a:t>
            </a:r>
            <a:r>
              <a:rPr lang="en-US" altLang="zh-CN" sz="2000">
                <a:latin typeface="Times New Roman" pitchFamily="18" charset="0"/>
                <a:cs typeface="Times New Roman" pitchFamily="18" charset="0"/>
              </a:rPr>
              <a:t>=</a:t>
            </a:r>
            <a:r>
              <a:rPr lang="en-US" altLang="zh-CN" sz="2000" baseline="-25000">
                <a:latin typeface="Times New Roman" pitchFamily="18" charset="0"/>
                <a:cs typeface="Times New Roman" pitchFamily="18" charset="0"/>
              </a:rPr>
              <a:t> </a:t>
            </a:r>
            <a:r>
              <a:rPr lang="en-US" altLang="zh-CN" sz="2000">
                <a:latin typeface="Times New Roman" pitchFamily="18" charset="0"/>
                <a:cs typeface="Times New Roman" pitchFamily="18" charset="0"/>
              </a:rPr>
              <a:t>0</a:t>
            </a:r>
            <a:r>
              <a:rPr lang="en-US" altLang="zh-CN" sz="2000" b="1">
                <a:latin typeface="Times New Roman" pitchFamily="18" charset="0"/>
                <a:cs typeface="Times New Roman" pitchFamily="18" charset="0"/>
              </a:rPr>
              <a:t> ,   </a:t>
            </a:r>
            <a:r>
              <a:rPr lang="zh-CN" altLang="en-US" sz="2000" b="1">
                <a:solidFill>
                  <a:srgbClr val="C00000"/>
                </a:solidFill>
                <a:latin typeface="Times New Roman" pitchFamily="18" charset="0"/>
                <a:cs typeface="Times New Roman" pitchFamily="18" charset="0"/>
              </a:rPr>
              <a:t>方程中不出现</a:t>
            </a: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N</a:t>
            </a:r>
            <a:r>
              <a:rPr lang="en-US" altLang="zh-CN" sz="2000" b="1" i="1" baseline="-25000">
                <a:solidFill>
                  <a:srgbClr val="C00000"/>
                </a:solidFill>
                <a:latin typeface="Times New Roman" pitchFamily="18" charset="0"/>
                <a:cs typeface="Times New Roman" pitchFamily="18" charset="0"/>
              </a:rPr>
              <a:t>AB</a:t>
            </a:r>
          </a:p>
          <a:p>
            <a:pPr marL="1081088" lvl="1" indent="-277813" algn="just" defTabSz="984250" fontAlgn="base">
              <a:lnSpc>
                <a:spcPct val="120000"/>
              </a:lnSpc>
              <a:spcBef>
                <a:spcPts val="1200"/>
              </a:spcBef>
              <a:spcAft>
                <a:spcPct val="0"/>
              </a:spcAft>
            </a:pPr>
            <a:r>
              <a:rPr lang="zh-CN" altLang="en-US" sz="2000" b="1">
                <a:solidFill>
                  <a:srgbClr val="C00000"/>
                </a:solidFill>
                <a:latin typeface="Times New Roman" pitchFamily="18" charset="0"/>
                <a:cs typeface="Times New Roman" pitchFamily="18" charset="0"/>
              </a:rPr>
              <a:t>思考：为什么不考虑约束力、内力所做的虚功？</a:t>
            </a:r>
            <a:endParaRPr lang="en-US" altLang="zh-CN" sz="2000" b="1">
              <a:solidFill>
                <a:srgbClr val="C00000"/>
              </a:solidFill>
              <a:latin typeface="Times New Roman" pitchFamily="18" charset="0"/>
              <a:cs typeface="Times New Roman" pitchFamily="18" charset="0"/>
            </a:endParaRPr>
          </a:p>
          <a:p>
            <a:pPr marL="1081088" lvl="1" indent="-277813" algn="just" defTabSz="984250" fontAlgn="base">
              <a:lnSpc>
                <a:spcPct val="120000"/>
              </a:lnSpc>
              <a:spcAft>
                <a:spcPct val="0"/>
              </a:spcAft>
            </a:pPr>
            <a:r>
              <a:rPr lang="zh-CN" altLang="en-US" sz="2000" b="1">
                <a:latin typeface="Times New Roman" pitchFamily="18" charset="0"/>
                <a:cs typeface="Times New Roman" pitchFamily="18" charset="0"/>
              </a:rPr>
              <a:t>原因：虚功为零</a:t>
            </a:r>
            <a:r>
              <a:rPr lang="en-US" altLang="zh-CN" sz="2000" b="1">
                <a:latin typeface="Times New Roman" pitchFamily="18" charset="0"/>
                <a:cs typeface="Times New Roman" pitchFamily="18" charset="0"/>
              </a:rPr>
              <a:t>!</a:t>
            </a:r>
          </a:p>
          <a:p>
            <a:pPr marL="1081088" lvl="1" indent="-277813" algn="just" defTabSz="984250" fontAlgn="base">
              <a:lnSpc>
                <a:spcPct val="120000"/>
              </a:lnSpc>
              <a:spcAft>
                <a:spcPct val="0"/>
              </a:spcAft>
            </a:pPr>
            <a:r>
              <a:rPr lang="zh-CN" altLang="en-US" sz="2000" b="1">
                <a:solidFill>
                  <a:srgbClr val="C00000"/>
                </a:solidFill>
                <a:latin typeface="Times New Roman" pitchFamily="18" charset="0"/>
                <a:cs typeface="Times New Roman" pitchFamily="18" charset="0"/>
              </a:rPr>
              <a:t>那么变形体呢？</a:t>
            </a:r>
            <a:endParaRPr lang="en-US" altLang="zh-CN" sz="2000" b="1">
              <a:solidFill>
                <a:srgbClr val="C00000"/>
              </a:solidFill>
              <a:latin typeface="Times New Roman" pitchFamily="18" charset="0"/>
              <a:cs typeface="Times New Roman" pitchFamily="18" charset="0"/>
            </a:endParaRPr>
          </a:p>
        </p:txBody>
      </p:sp>
      <p:grpSp>
        <p:nvGrpSpPr>
          <p:cNvPr id="122" name="组合 121"/>
          <p:cNvGrpSpPr/>
          <p:nvPr/>
        </p:nvGrpSpPr>
        <p:grpSpPr>
          <a:xfrm>
            <a:off x="7097000" y="1557248"/>
            <a:ext cx="1475528" cy="1943190"/>
            <a:chOff x="7143768" y="1414372"/>
            <a:chExt cx="1475528" cy="1943190"/>
          </a:xfrm>
        </p:grpSpPr>
        <p:grpSp>
          <p:nvGrpSpPr>
            <p:cNvPr id="100" name="Group 5"/>
            <p:cNvGrpSpPr>
              <a:grpSpLocks/>
            </p:cNvGrpSpPr>
            <p:nvPr/>
          </p:nvGrpSpPr>
          <p:grpSpPr bwMode="auto">
            <a:xfrm>
              <a:off x="7143768" y="1414372"/>
              <a:ext cx="1475528" cy="1943190"/>
              <a:chOff x="3969" y="1585"/>
              <a:chExt cx="1333" cy="2031"/>
            </a:xfrm>
          </p:grpSpPr>
          <p:grpSp>
            <p:nvGrpSpPr>
              <p:cNvPr id="101" name="Group 6"/>
              <p:cNvGrpSpPr>
                <a:grpSpLocks/>
              </p:cNvGrpSpPr>
              <p:nvPr/>
            </p:nvGrpSpPr>
            <p:grpSpPr bwMode="auto">
              <a:xfrm>
                <a:off x="4370" y="2928"/>
                <a:ext cx="384" cy="192"/>
                <a:chOff x="4512" y="1824"/>
                <a:chExt cx="384" cy="192"/>
              </a:xfrm>
            </p:grpSpPr>
            <p:sp>
              <p:nvSpPr>
                <p:cNvPr id="117" name="Line 7"/>
                <p:cNvSpPr>
                  <a:spLocks noChangeShapeType="1"/>
                </p:cNvSpPr>
                <p:nvPr/>
              </p:nvSpPr>
              <p:spPr bwMode="auto">
                <a:xfrm>
                  <a:off x="4512" y="1824"/>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18" name="Rectangle 8"/>
                <p:cNvSpPr>
                  <a:spLocks noChangeArrowheads="1"/>
                </p:cNvSpPr>
                <p:nvPr/>
              </p:nvSpPr>
              <p:spPr bwMode="auto">
                <a:xfrm>
                  <a:off x="4608" y="1872"/>
                  <a:ext cx="240" cy="96"/>
                </a:xfrm>
                <a:prstGeom prst="rect">
                  <a:avLst/>
                </a:prstGeom>
                <a:solidFill>
                  <a:srgbClr val="FFFFCC"/>
                </a:solidFill>
                <a:ln w="19050">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19" name="Line 9"/>
                <p:cNvSpPr>
                  <a:spLocks noChangeShapeType="1"/>
                </p:cNvSpPr>
                <p:nvPr/>
              </p:nvSpPr>
              <p:spPr bwMode="auto">
                <a:xfrm>
                  <a:off x="4512" y="201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grpSp>
            <p:nvGrpSpPr>
              <p:cNvPr id="102" name="Group 10"/>
              <p:cNvGrpSpPr>
                <a:grpSpLocks/>
              </p:cNvGrpSpPr>
              <p:nvPr/>
            </p:nvGrpSpPr>
            <p:grpSpPr bwMode="auto">
              <a:xfrm rot="-5374954">
                <a:off x="4754" y="2256"/>
                <a:ext cx="384" cy="192"/>
                <a:chOff x="4512" y="1824"/>
                <a:chExt cx="384" cy="192"/>
              </a:xfrm>
            </p:grpSpPr>
            <p:sp>
              <p:nvSpPr>
                <p:cNvPr id="114" name="Line 11"/>
                <p:cNvSpPr>
                  <a:spLocks noChangeShapeType="1"/>
                </p:cNvSpPr>
                <p:nvPr/>
              </p:nvSpPr>
              <p:spPr bwMode="auto">
                <a:xfrm>
                  <a:off x="4512" y="1824"/>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15" name="Rectangle 12"/>
                <p:cNvSpPr>
                  <a:spLocks noChangeArrowheads="1"/>
                </p:cNvSpPr>
                <p:nvPr/>
              </p:nvSpPr>
              <p:spPr bwMode="auto">
                <a:xfrm>
                  <a:off x="4608" y="1872"/>
                  <a:ext cx="240" cy="96"/>
                </a:xfrm>
                <a:prstGeom prst="rect">
                  <a:avLst/>
                </a:prstGeom>
                <a:solidFill>
                  <a:srgbClr val="FFFFCC"/>
                </a:solidFill>
                <a:ln w="19050">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16" name="Line 13"/>
                <p:cNvSpPr>
                  <a:spLocks noChangeShapeType="1"/>
                </p:cNvSpPr>
                <p:nvPr/>
              </p:nvSpPr>
              <p:spPr bwMode="auto">
                <a:xfrm>
                  <a:off x="4512" y="2016"/>
                  <a:ext cx="384"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pSp>
          <p:sp>
            <p:nvSpPr>
              <p:cNvPr id="103" name="Line 14"/>
              <p:cNvSpPr>
                <a:spLocks noChangeShapeType="1"/>
              </p:cNvSpPr>
              <p:nvPr/>
            </p:nvSpPr>
            <p:spPr bwMode="auto">
              <a:xfrm flipV="1">
                <a:off x="4568" y="2304"/>
                <a:ext cx="384" cy="72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4" name="Line 15"/>
              <p:cNvSpPr>
                <a:spLocks noChangeShapeType="1"/>
              </p:cNvSpPr>
              <p:nvPr/>
            </p:nvSpPr>
            <p:spPr bwMode="auto">
              <a:xfrm>
                <a:off x="4937" y="1757"/>
                <a:ext cx="0" cy="432"/>
              </a:xfrm>
              <a:prstGeom prst="line">
                <a:avLst/>
              </a:prstGeom>
              <a:noFill/>
              <a:ln w="28575">
                <a:solidFill>
                  <a:srgbClr val="C00000"/>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5" name="Line 16"/>
              <p:cNvSpPr>
                <a:spLocks noChangeShapeType="1"/>
              </p:cNvSpPr>
              <p:nvPr/>
            </p:nvSpPr>
            <p:spPr bwMode="auto">
              <a:xfrm flipH="1">
                <a:off x="4502" y="2304"/>
                <a:ext cx="336" cy="0"/>
              </a:xfrm>
              <a:prstGeom prst="line">
                <a:avLst/>
              </a:prstGeom>
              <a:noFill/>
              <a:ln w="28575">
                <a:solidFill>
                  <a:schemeClr val="bg1">
                    <a:lumMod val="50000"/>
                  </a:schemeClr>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6" name="Line 17"/>
              <p:cNvSpPr>
                <a:spLocks noChangeShapeType="1"/>
              </p:cNvSpPr>
              <p:nvPr/>
            </p:nvSpPr>
            <p:spPr bwMode="auto">
              <a:xfrm flipV="1">
                <a:off x="4580" y="3120"/>
                <a:ext cx="0" cy="376"/>
              </a:xfrm>
              <a:prstGeom prst="line">
                <a:avLst/>
              </a:prstGeom>
              <a:noFill/>
              <a:ln w="28575">
                <a:solidFill>
                  <a:schemeClr val="bg2"/>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sp>
            <p:nvSpPr>
              <p:cNvPr id="107" name="Line 18"/>
              <p:cNvSpPr>
                <a:spLocks noChangeShapeType="1"/>
              </p:cNvSpPr>
              <p:nvPr/>
            </p:nvSpPr>
            <p:spPr bwMode="auto">
              <a:xfrm>
                <a:off x="4089" y="3024"/>
                <a:ext cx="374" cy="0"/>
              </a:xfrm>
              <a:prstGeom prst="line">
                <a:avLst/>
              </a:prstGeom>
              <a:noFill/>
              <a:ln w="28575">
                <a:solidFill>
                  <a:srgbClr val="C00000"/>
                </a:solidFill>
                <a:round/>
                <a:headEnd/>
                <a:tailEnd type="triangle" w="med" len="med"/>
              </a:ln>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108" name="Object 19"/>
              <p:cNvGraphicFramePr>
                <a:graphicFrameLocks/>
              </p:cNvGraphicFramePr>
              <p:nvPr/>
            </p:nvGraphicFramePr>
            <p:xfrm>
              <a:off x="4964" y="1585"/>
              <a:ext cx="338" cy="350"/>
            </p:xfrm>
            <a:graphic>
              <a:graphicData uri="http://schemas.openxmlformats.org/presentationml/2006/ole">
                <mc:AlternateContent xmlns:mc="http://schemas.openxmlformats.org/markup-compatibility/2006">
                  <mc:Choice xmlns:v="urn:schemas-microsoft-com:vml" Requires="v">
                    <p:oleObj spid="_x0000_s582675" name="公式" r:id="rId4" imgW="241200" imgH="215640" progId="Equation.3">
                      <p:embed/>
                    </p:oleObj>
                  </mc:Choice>
                  <mc:Fallback>
                    <p:oleObj name="公式" r:id="rId4" imgW="241200" imgH="215640" progId="Equation.3">
                      <p:embed/>
                      <p:pic>
                        <p:nvPicPr>
                          <p:cNvPr id="0" name="Object 1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4" y="1585"/>
                            <a:ext cx="338" cy="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9" name="Object 20"/>
              <p:cNvGraphicFramePr>
                <a:graphicFrameLocks/>
              </p:cNvGraphicFramePr>
              <p:nvPr/>
            </p:nvGraphicFramePr>
            <p:xfrm>
              <a:off x="4607" y="3244"/>
              <a:ext cx="374" cy="372"/>
            </p:xfrm>
            <a:graphic>
              <a:graphicData uri="http://schemas.openxmlformats.org/presentationml/2006/ole">
                <mc:AlternateContent xmlns:mc="http://schemas.openxmlformats.org/markup-compatibility/2006">
                  <mc:Choice xmlns:v="urn:schemas-microsoft-com:vml" Requires="v">
                    <p:oleObj spid="_x0000_s582676" name="公式" r:id="rId6" imgW="266400" imgH="228600" progId="Equation.3">
                      <p:embed/>
                    </p:oleObj>
                  </mc:Choice>
                  <mc:Fallback>
                    <p:oleObj name="公式" r:id="rId6" imgW="266400" imgH="228600" progId="Equation.3">
                      <p:embed/>
                      <p:pic>
                        <p:nvPicPr>
                          <p:cNvPr id="0" name="Object 2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7" y="3244"/>
                            <a:ext cx="374" cy="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 name="Object 21"/>
              <p:cNvGraphicFramePr>
                <a:graphicFrameLocks/>
              </p:cNvGraphicFramePr>
              <p:nvPr/>
            </p:nvGraphicFramePr>
            <p:xfrm>
              <a:off x="4348" y="1905"/>
              <a:ext cx="374" cy="370"/>
            </p:xfrm>
            <a:graphic>
              <a:graphicData uri="http://schemas.openxmlformats.org/presentationml/2006/ole">
                <mc:AlternateContent xmlns:mc="http://schemas.openxmlformats.org/markup-compatibility/2006">
                  <mc:Choice xmlns:v="urn:schemas-microsoft-com:vml" Requires="v">
                    <p:oleObj spid="_x0000_s582677" name="公式" r:id="rId8" imgW="266400" imgH="228600" progId="Equation.3">
                      <p:embed/>
                    </p:oleObj>
                  </mc:Choice>
                  <mc:Fallback>
                    <p:oleObj name="公式" r:id="rId8" imgW="266400" imgH="228600" progId="Equation.3">
                      <p:embed/>
                      <p:pic>
                        <p:nvPicPr>
                          <p:cNvPr id="0" name="Object 2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8" y="1905"/>
                            <a:ext cx="374" cy="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 name="Object 22"/>
              <p:cNvGraphicFramePr>
                <a:graphicFrameLocks/>
              </p:cNvGraphicFramePr>
              <p:nvPr/>
            </p:nvGraphicFramePr>
            <p:xfrm>
              <a:off x="3969" y="3068"/>
              <a:ext cx="357" cy="350"/>
            </p:xfrm>
            <a:graphic>
              <a:graphicData uri="http://schemas.openxmlformats.org/presentationml/2006/ole">
                <mc:AlternateContent xmlns:mc="http://schemas.openxmlformats.org/markup-compatibility/2006">
                  <mc:Choice xmlns:v="urn:schemas-microsoft-com:vml" Requires="v">
                    <p:oleObj spid="_x0000_s582678" name="公式" r:id="rId10" imgW="253800" imgH="215640" progId="Equation.3">
                      <p:embed/>
                    </p:oleObj>
                  </mc:Choice>
                  <mc:Fallback>
                    <p:oleObj name="公式" r:id="rId10" imgW="253800" imgH="215640" progId="Equation.3">
                      <p:embed/>
                      <p:pic>
                        <p:nvPicPr>
                          <p:cNvPr id="0" name="Object 2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9" y="3068"/>
                            <a:ext cx="357" cy="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 name="Object 23"/>
              <p:cNvGraphicFramePr>
                <a:graphicFrameLocks/>
              </p:cNvGraphicFramePr>
              <p:nvPr/>
            </p:nvGraphicFramePr>
            <p:xfrm>
              <a:off x="4850" y="2448"/>
              <a:ext cx="310" cy="385"/>
            </p:xfrm>
            <a:graphic>
              <a:graphicData uri="http://schemas.openxmlformats.org/presentationml/2006/ole">
                <mc:AlternateContent xmlns:mc="http://schemas.openxmlformats.org/markup-compatibility/2006">
                  <mc:Choice xmlns:v="urn:schemas-microsoft-com:vml" Requires="v">
                    <p:oleObj spid="_x0000_s582679" name="公式" r:id="rId12" imgW="317160" imgH="393480" progId="Equation.3">
                      <p:embed/>
                    </p:oleObj>
                  </mc:Choice>
                  <mc:Fallback>
                    <p:oleObj name="公式" r:id="rId12" imgW="317160" imgH="393480" progId="Equation.3">
                      <p:embed/>
                      <p:pic>
                        <p:nvPicPr>
                          <p:cNvPr id="0" name="Object 23"/>
                          <p:cNvPicPr preferRelativeResize="0">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50" y="2448"/>
                            <a:ext cx="310" cy="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 name="Object 24"/>
              <p:cNvGraphicFramePr>
                <a:graphicFrameLocks noChangeAspect="1"/>
              </p:cNvGraphicFramePr>
              <p:nvPr/>
            </p:nvGraphicFramePr>
            <p:xfrm>
              <a:off x="4764" y="2832"/>
              <a:ext cx="323" cy="384"/>
            </p:xfrm>
            <a:graphic>
              <a:graphicData uri="http://schemas.openxmlformats.org/presentationml/2006/ole">
                <mc:AlternateContent xmlns:mc="http://schemas.openxmlformats.org/markup-compatibility/2006">
                  <mc:Choice xmlns:v="urn:schemas-microsoft-com:vml" Requires="v">
                    <p:oleObj spid="_x0000_s582680" name="公式" r:id="rId14" imgW="330120" imgH="393480" progId="Equation.3">
                      <p:embed/>
                    </p:oleObj>
                  </mc:Choice>
                  <mc:Fallback>
                    <p:oleObj name="公式" r:id="rId14" imgW="330120" imgH="393480"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64" y="2832"/>
                            <a:ext cx="323"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0" name="椭圆 119"/>
            <p:cNvSpPr/>
            <p:nvPr/>
          </p:nvSpPr>
          <p:spPr bwMode="auto">
            <a:xfrm>
              <a:off x="8201378" y="2085638"/>
              <a:ext cx="45719" cy="45719"/>
            </a:xfrm>
            <a:prstGeom prst="ellipse">
              <a:avLst/>
            </a:prstGeom>
            <a:solidFill>
              <a:schemeClr val="bg1"/>
            </a:solid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1" name="椭圆 120"/>
            <p:cNvSpPr/>
            <p:nvPr/>
          </p:nvSpPr>
          <p:spPr bwMode="auto">
            <a:xfrm>
              <a:off x="7786710" y="2768259"/>
              <a:ext cx="45719" cy="45719"/>
            </a:xfrm>
            <a:prstGeom prst="ellipse">
              <a:avLst/>
            </a:prstGeom>
            <a:solidFill>
              <a:schemeClr val="bg1"/>
            </a:solid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nvGrpSpPr>
          <p:cNvPr id="123" name="组合 122"/>
          <p:cNvGrpSpPr/>
          <p:nvPr/>
        </p:nvGrpSpPr>
        <p:grpSpPr>
          <a:xfrm>
            <a:off x="7143768" y="3917003"/>
            <a:ext cx="1723583" cy="2226641"/>
            <a:chOff x="6643702" y="1895678"/>
            <a:chExt cx="2200239" cy="2676330"/>
          </a:xfrm>
        </p:grpSpPr>
        <p:grpSp>
          <p:nvGrpSpPr>
            <p:cNvPr id="124" name="组合 133"/>
            <p:cNvGrpSpPr/>
            <p:nvPr/>
          </p:nvGrpSpPr>
          <p:grpSpPr>
            <a:xfrm>
              <a:off x="6643702" y="2611229"/>
              <a:ext cx="1726773" cy="1960779"/>
              <a:chOff x="6748191" y="2065555"/>
              <a:chExt cx="1726773" cy="1960779"/>
            </a:xfrm>
          </p:grpSpPr>
          <p:grpSp>
            <p:nvGrpSpPr>
              <p:cNvPr id="142" name="组合 106"/>
              <p:cNvGrpSpPr/>
              <p:nvPr/>
            </p:nvGrpSpPr>
            <p:grpSpPr>
              <a:xfrm>
                <a:off x="7572396" y="3725769"/>
                <a:ext cx="361401" cy="300565"/>
                <a:chOff x="7643834" y="4067869"/>
                <a:chExt cx="361401" cy="300565"/>
              </a:xfrm>
            </p:grpSpPr>
            <p:cxnSp>
              <p:nvCxnSpPr>
                <p:cNvPr id="169" name="直接连接符 168"/>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70" name="组合 269"/>
                <p:cNvGrpSpPr/>
                <p:nvPr/>
              </p:nvGrpSpPr>
              <p:grpSpPr>
                <a:xfrm>
                  <a:off x="7643834" y="4214818"/>
                  <a:ext cx="361401" cy="153616"/>
                  <a:chOff x="1643042" y="5844831"/>
                  <a:chExt cx="361401" cy="153616"/>
                </a:xfrm>
              </p:grpSpPr>
              <p:grpSp>
                <p:nvGrpSpPr>
                  <p:cNvPr id="171" name="组合 140"/>
                  <p:cNvGrpSpPr/>
                  <p:nvPr/>
                </p:nvGrpSpPr>
                <p:grpSpPr>
                  <a:xfrm>
                    <a:off x="1643042" y="5905252"/>
                    <a:ext cx="361401" cy="93195"/>
                    <a:chOff x="4732013" y="5229182"/>
                    <a:chExt cx="361401" cy="93195"/>
                  </a:xfrm>
                </p:grpSpPr>
                <p:cxnSp>
                  <p:nvCxnSpPr>
                    <p:cNvPr id="173" name="直接连接符 172"/>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74" name="直接连接符 173"/>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5" name="直接连接符 174"/>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6" name="直接连接符 175"/>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7" name="直接连接符 176"/>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72" name="椭圆 171"/>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43" name="组合 107"/>
              <p:cNvGrpSpPr/>
              <p:nvPr/>
            </p:nvGrpSpPr>
            <p:grpSpPr>
              <a:xfrm>
                <a:off x="6892192" y="2956304"/>
                <a:ext cx="361401" cy="300565"/>
                <a:chOff x="7643834" y="4067869"/>
                <a:chExt cx="361401" cy="300565"/>
              </a:xfrm>
            </p:grpSpPr>
            <p:cxnSp>
              <p:nvCxnSpPr>
                <p:cNvPr id="160" name="直接连接符 159"/>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61" name="组合 269"/>
                <p:cNvGrpSpPr/>
                <p:nvPr/>
              </p:nvGrpSpPr>
              <p:grpSpPr>
                <a:xfrm>
                  <a:off x="7643834" y="4214818"/>
                  <a:ext cx="361401" cy="153616"/>
                  <a:chOff x="1643042" y="5844831"/>
                  <a:chExt cx="361401" cy="153616"/>
                </a:xfrm>
              </p:grpSpPr>
              <p:grpSp>
                <p:nvGrpSpPr>
                  <p:cNvPr id="162" name="组合 140"/>
                  <p:cNvGrpSpPr/>
                  <p:nvPr/>
                </p:nvGrpSpPr>
                <p:grpSpPr>
                  <a:xfrm>
                    <a:off x="1643042" y="5905252"/>
                    <a:ext cx="361401" cy="93195"/>
                    <a:chOff x="4732013" y="5229182"/>
                    <a:chExt cx="361401" cy="93195"/>
                  </a:xfrm>
                </p:grpSpPr>
                <p:cxnSp>
                  <p:nvCxnSpPr>
                    <p:cNvPr id="164" name="直接连接符 163"/>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65" name="直接连接符 164"/>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6" name="直接连接符 165"/>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7" name="直接连接符 166"/>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8" name="直接连接符 167"/>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63" name="椭圆 162"/>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44" name="组合 118"/>
              <p:cNvGrpSpPr/>
              <p:nvPr/>
            </p:nvGrpSpPr>
            <p:grpSpPr>
              <a:xfrm rot="5400000">
                <a:off x="6717773" y="2740827"/>
                <a:ext cx="361401" cy="300565"/>
                <a:chOff x="7643834" y="4067869"/>
                <a:chExt cx="361401" cy="300565"/>
              </a:xfrm>
            </p:grpSpPr>
            <p:cxnSp>
              <p:nvCxnSpPr>
                <p:cNvPr id="151" name="直接连接符 150"/>
                <p:cNvCxnSpPr/>
                <p:nvPr/>
              </p:nvCxnSpPr>
              <p:spPr bwMode="auto">
                <a:xfrm rot="5400000">
                  <a:off x="7741572" y="4157075"/>
                  <a:ext cx="180000" cy="1588"/>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nvGrpSpPr>
                <p:cNvPr id="152" name="组合 269"/>
                <p:cNvGrpSpPr/>
                <p:nvPr/>
              </p:nvGrpSpPr>
              <p:grpSpPr>
                <a:xfrm>
                  <a:off x="7643834" y="4214818"/>
                  <a:ext cx="361401" cy="153616"/>
                  <a:chOff x="1643042" y="5844831"/>
                  <a:chExt cx="361401" cy="153616"/>
                </a:xfrm>
              </p:grpSpPr>
              <p:grpSp>
                <p:nvGrpSpPr>
                  <p:cNvPr id="153" name="组合 140"/>
                  <p:cNvGrpSpPr/>
                  <p:nvPr/>
                </p:nvGrpSpPr>
                <p:grpSpPr>
                  <a:xfrm>
                    <a:off x="1643042" y="5905252"/>
                    <a:ext cx="361401" cy="93195"/>
                    <a:chOff x="4732013" y="5229182"/>
                    <a:chExt cx="361401" cy="93195"/>
                  </a:xfrm>
                </p:grpSpPr>
                <p:cxnSp>
                  <p:nvCxnSpPr>
                    <p:cNvPr id="155" name="直接连接符 154"/>
                    <p:cNvCxnSpPr/>
                    <p:nvPr/>
                  </p:nvCxnSpPr>
                  <p:spPr bwMode="auto">
                    <a:xfrm>
                      <a:off x="4736224" y="5229182"/>
                      <a:ext cx="35719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56" name="直接连接符 155"/>
                    <p:cNvCxnSpPr/>
                    <p:nvPr/>
                  </p:nvCxnSpPr>
                  <p:spPr bwMode="auto">
                    <a:xfrm rot="5400000" flipH="1" flipV="1">
                      <a:off x="473201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7" name="直接连接符 156"/>
                    <p:cNvCxnSpPr/>
                    <p:nvPr/>
                  </p:nvCxnSpPr>
                  <p:spPr bwMode="auto">
                    <a:xfrm rot="5400000" flipH="1" flipV="1">
                      <a:off x="4822941"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8" name="直接连接符 157"/>
                    <p:cNvCxnSpPr/>
                    <p:nvPr/>
                  </p:nvCxnSpPr>
                  <p:spPr bwMode="auto">
                    <a:xfrm rot="5400000" flipH="1" flipV="1">
                      <a:off x="492283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9" name="直接连接符 158"/>
                    <p:cNvCxnSpPr/>
                    <p:nvPr/>
                  </p:nvCxnSpPr>
                  <p:spPr bwMode="auto">
                    <a:xfrm rot="5400000" flipH="1" flipV="1">
                      <a:off x="5015483" y="5250939"/>
                      <a:ext cx="71438" cy="71438"/>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54" name="椭圆 153"/>
                  <p:cNvSpPr>
                    <a:spLocks noChangeAspect="1"/>
                  </p:cNvSpPr>
                  <p:nvPr/>
                </p:nvSpPr>
                <p:spPr bwMode="auto">
                  <a:xfrm>
                    <a:off x="1775157" y="584483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45" name="组合 81"/>
              <p:cNvGrpSpPr/>
              <p:nvPr/>
            </p:nvGrpSpPr>
            <p:grpSpPr>
              <a:xfrm>
                <a:off x="7043755" y="2065555"/>
                <a:ext cx="1431209" cy="1664709"/>
                <a:chOff x="7043755" y="2065555"/>
                <a:chExt cx="1431209" cy="1664709"/>
              </a:xfrm>
            </p:grpSpPr>
            <p:sp>
              <p:nvSpPr>
                <p:cNvPr id="146" name="菱形 145"/>
                <p:cNvSpPr/>
                <p:nvPr/>
              </p:nvSpPr>
              <p:spPr bwMode="auto">
                <a:xfrm>
                  <a:off x="7072330" y="2071678"/>
                  <a:ext cx="1357322" cy="1643074"/>
                </a:xfrm>
                <a:prstGeom prst="diamond">
                  <a:avLst/>
                </a:prstGeom>
                <a:no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47" name="椭圆 146"/>
                <p:cNvSpPr>
                  <a:spLocks noChangeAspect="1"/>
                </p:cNvSpPr>
                <p:nvPr/>
              </p:nvSpPr>
              <p:spPr bwMode="auto">
                <a:xfrm>
                  <a:off x="7702209" y="2065555"/>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48" name="椭圆 147"/>
                <p:cNvSpPr>
                  <a:spLocks noChangeAspect="1"/>
                </p:cNvSpPr>
                <p:nvPr/>
              </p:nvSpPr>
              <p:spPr bwMode="auto">
                <a:xfrm>
                  <a:off x="7699760" y="3630251"/>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49" name="椭圆 148"/>
                <p:cNvSpPr>
                  <a:spLocks noChangeAspect="1"/>
                </p:cNvSpPr>
                <p:nvPr/>
              </p:nvSpPr>
              <p:spPr bwMode="auto">
                <a:xfrm>
                  <a:off x="7043755"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50" name="椭圆 149"/>
                <p:cNvSpPr>
                  <a:spLocks noChangeAspect="1"/>
                </p:cNvSpPr>
                <p:nvPr/>
              </p:nvSpPr>
              <p:spPr bwMode="auto">
                <a:xfrm>
                  <a:off x="8374951" y="2857496"/>
                  <a:ext cx="100013" cy="100013"/>
                </a:xfrm>
                <a:prstGeom prst="ellipse">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grpSp>
          <p:nvGrpSpPr>
            <p:cNvPr id="125" name="组合 154"/>
            <p:cNvGrpSpPr/>
            <p:nvPr/>
          </p:nvGrpSpPr>
          <p:grpSpPr>
            <a:xfrm>
              <a:off x="7022322" y="2500306"/>
              <a:ext cx="979307" cy="1699702"/>
              <a:chOff x="7022322" y="2214554"/>
              <a:chExt cx="979307" cy="1699702"/>
            </a:xfrm>
          </p:grpSpPr>
          <p:cxnSp>
            <p:nvCxnSpPr>
              <p:cNvPr id="139" name="直接连接符 138"/>
              <p:cNvCxnSpPr/>
              <p:nvPr/>
            </p:nvCxnSpPr>
            <p:spPr bwMode="auto">
              <a:xfrm rot="5400000" flipH="1" flipV="1">
                <a:off x="6733261" y="2503616"/>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40" name="直接连接符 139"/>
              <p:cNvCxnSpPr/>
              <p:nvPr/>
            </p:nvCxnSpPr>
            <p:spPr bwMode="auto">
              <a:xfrm rot="5400000" flipH="1" flipV="1">
                <a:off x="7376807" y="3289433"/>
                <a:ext cx="913884" cy="335761"/>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41" name="直接连接符 140"/>
              <p:cNvCxnSpPr/>
              <p:nvPr/>
            </p:nvCxnSpPr>
            <p:spPr bwMode="auto">
              <a:xfrm rot="16200000" flipV="1">
                <a:off x="7286644" y="2285992"/>
                <a:ext cx="785818" cy="642942"/>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grpSp>
          <p:nvGrpSpPr>
            <p:cNvPr id="126" name="组合 166"/>
            <p:cNvGrpSpPr/>
            <p:nvPr/>
          </p:nvGrpSpPr>
          <p:grpSpPr>
            <a:xfrm>
              <a:off x="7643834" y="1895678"/>
              <a:ext cx="1200107" cy="1574395"/>
              <a:chOff x="7643834" y="1895678"/>
              <a:chExt cx="1200107" cy="1574395"/>
            </a:xfrm>
          </p:grpSpPr>
          <p:grpSp>
            <p:nvGrpSpPr>
              <p:cNvPr id="133" name="组合 160"/>
              <p:cNvGrpSpPr/>
              <p:nvPr/>
            </p:nvGrpSpPr>
            <p:grpSpPr>
              <a:xfrm>
                <a:off x="7643834" y="1895678"/>
                <a:ext cx="1143008" cy="1574395"/>
                <a:chOff x="7643834" y="1609926"/>
                <a:chExt cx="1143008" cy="1574395"/>
              </a:xfrm>
            </p:grpSpPr>
            <p:grpSp>
              <p:nvGrpSpPr>
                <p:cNvPr id="135" name="组合 137"/>
                <p:cNvGrpSpPr/>
                <p:nvPr/>
              </p:nvGrpSpPr>
              <p:grpSpPr>
                <a:xfrm>
                  <a:off x="7643834" y="1682534"/>
                  <a:ext cx="1143008" cy="1501787"/>
                  <a:chOff x="7643834" y="1285859"/>
                  <a:chExt cx="1143008" cy="1501787"/>
                </a:xfrm>
              </p:grpSpPr>
              <p:cxnSp>
                <p:nvCxnSpPr>
                  <p:cNvPr id="137" name="直接箭头连接符 136"/>
                  <p:cNvCxnSpPr/>
                  <p:nvPr/>
                </p:nvCxnSpPr>
                <p:spPr bwMode="auto">
                  <a:xfrm rot="10800000">
                    <a:off x="8358214" y="2786058"/>
                    <a:ext cx="428628" cy="1588"/>
                  </a:xfrm>
                  <a:prstGeom prst="straightConnector1">
                    <a:avLst/>
                  </a:prstGeom>
                  <a:solidFill>
                    <a:schemeClr val="accent1"/>
                  </a:solidFill>
                  <a:ln w="28575" cap="flat" cmpd="sng" algn="ctr">
                    <a:solidFill>
                      <a:srgbClr val="C00000"/>
                    </a:solidFill>
                    <a:prstDash val="solid"/>
                    <a:round/>
                    <a:headEnd type="none" w="med" len="med"/>
                    <a:tailEnd type="triangle" w="med" len="med"/>
                  </a:ln>
                  <a:effectLst/>
                </p:spPr>
              </p:cxnSp>
              <p:cxnSp>
                <p:nvCxnSpPr>
                  <p:cNvPr id="138" name="直接箭头连接符 137"/>
                  <p:cNvCxnSpPr/>
                  <p:nvPr/>
                </p:nvCxnSpPr>
                <p:spPr bwMode="auto">
                  <a:xfrm rot="5400000">
                    <a:off x="7323157" y="1606537"/>
                    <a:ext cx="642942" cy="1588"/>
                  </a:xfrm>
                  <a:prstGeom prst="straightConnector1">
                    <a:avLst/>
                  </a:prstGeom>
                  <a:solidFill>
                    <a:schemeClr val="accent1"/>
                  </a:solidFill>
                  <a:ln w="28575" cap="flat" cmpd="sng" algn="ctr">
                    <a:solidFill>
                      <a:srgbClr val="C00000"/>
                    </a:solidFill>
                    <a:prstDash val="solid"/>
                    <a:round/>
                    <a:headEnd type="none" w="med" len="med"/>
                    <a:tailEnd type="triangle" w="med" len="med"/>
                  </a:ln>
                  <a:effectLst/>
                </p:spPr>
              </p:cxnSp>
            </p:grpSp>
            <p:sp>
              <p:nvSpPr>
                <p:cNvPr id="136" name="TextBox 135"/>
                <p:cNvSpPr txBox="1"/>
                <p:nvPr/>
              </p:nvSpPr>
              <p:spPr>
                <a:xfrm>
                  <a:off x="7643834" y="1609926"/>
                  <a:ext cx="540636" cy="44392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grpSp>
          <p:sp>
            <p:nvSpPr>
              <p:cNvPr id="134" name="TextBox 133"/>
              <p:cNvSpPr txBox="1"/>
              <p:nvPr/>
            </p:nvSpPr>
            <p:spPr>
              <a:xfrm>
                <a:off x="8313537" y="2982834"/>
                <a:ext cx="530404" cy="443921"/>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grpSp>
        <p:grpSp>
          <p:nvGrpSpPr>
            <p:cNvPr id="127" name="组合 163"/>
            <p:cNvGrpSpPr/>
            <p:nvPr/>
          </p:nvGrpSpPr>
          <p:grpSpPr>
            <a:xfrm>
              <a:off x="7198286" y="2024589"/>
              <a:ext cx="1109809" cy="1646265"/>
              <a:chOff x="7198286" y="1738837"/>
              <a:chExt cx="1109809" cy="1646265"/>
            </a:xfrm>
          </p:grpSpPr>
          <p:cxnSp>
            <p:nvCxnSpPr>
              <p:cNvPr id="128" name="直接箭头连接符 127"/>
              <p:cNvCxnSpPr/>
              <p:nvPr/>
            </p:nvCxnSpPr>
            <p:spPr bwMode="auto">
              <a:xfrm rot="16200000" flipV="1">
                <a:off x="7414393" y="2136211"/>
                <a:ext cx="110923" cy="289645"/>
              </a:xfrm>
              <a:prstGeom prst="straightConnector1">
                <a:avLst/>
              </a:prstGeom>
              <a:solidFill>
                <a:schemeClr val="accent1"/>
              </a:solidFill>
              <a:ln w="38100" cap="flat" cmpd="sng" algn="ctr">
                <a:solidFill>
                  <a:srgbClr val="0033CC"/>
                </a:solidFill>
                <a:prstDash val="solid"/>
                <a:round/>
                <a:headEnd type="none" w="med" len="med"/>
                <a:tailEnd type="triangle" w="med" len="med"/>
              </a:ln>
              <a:effectLst/>
            </p:spPr>
          </p:cxnSp>
          <p:cxnSp>
            <p:nvCxnSpPr>
              <p:cNvPr id="129" name="直接箭头连接符 128"/>
              <p:cNvCxnSpPr/>
              <p:nvPr/>
            </p:nvCxnSpPr>
            <p:spPr bwMode="auto">
              <a:xfrm rot="10800000">
                <a:off x="8019539" y="2995420"/>
                <a:ext cx="275735" cy="173082"/>
              </a:xfrm>
              <a:prstGeom prst="straightConnector1">
                <a:avLst/>
              </a:prstGeom>
              <a:solidFill>
                <a:schemeClr val="accent1"/>
              </a:solidFill>
              <a:ln w="38100" cap="flat" cmpd="sng" algn="ctr">
                <a:solidFill>
                  <a:srgbClr val="0033CC"/>
                </a:solidFill>
                <a:prstDash val="solid"/>
                <a:round/>
                <a:headEnd type="none" w="med" len="med"/>
                <a:tailEnd type="triangle" w="med" len="med"/>
              </a:ln>
              <a:effectLst/>
            </p:spPr>
          </p:cxnSp>
          <p:sp>
            <p:nvSpPr>
              <p:cNvPr id="131" name="TextBox 130"/>
              <p:cNvSpPr txBox="1"/>
              <p:nvPr/>
            </p:nvSpPr>
            <p:spPr>
              <a:xfrm>
                <a:off x="7198286" y="1738837"/>
                <a:ext cx="448551" cy="44392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r</a:t>
                </a:r>
                <a:r>
                  <a:rPr lang="en-US" altLang="zh-CN" b="1" baseline="-25000">
                    <a:latin typeface="Times New Roman" pitchFamily="18" charset="0"/>
                    <a:cs typeface="Times New Roman" pitchFamily="18" charset="0"/>
                  </a:rPr>
                  <a:t>1</a:t>
                </a:r>
              </a:p>
            </p:txBody>
          </p:sp>
          <p:sp>
            <p:nvSpPr>
              <p:cNvPr id="132" name="TextBox 131"/>
              <p:cNvSpPr txBox="1"/>
              <p:nvPr/>
            </p:nvSpPr>
            <p:spPr>
              <a:xfrm>
                <a:off x="7859544" y="2941180"/>
                <a:ext cx="448551" cy="44392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r</a:t>
                </a:r>
                <a:r>
                  <a:rPr lang="en-US" altLang="zh-CN" b="1" baseline="-25000">
                    <a:latin typeface="Times New Roman" pitchFamily="18" charset="0"/>
                    <a:cs typeface="Times New Roman" pitchFamily="18" charset="0"/>
                  </a:rPr>
                  <a:t>2</a:t>
                </a:r>
              </a:p>
            </p:txBody>
          </p:sp>
        </p:grpSp>
      </p:grpSp>
      <p:grpSp>
        <p:nvGrpSpPr>
          <p:cNvPr id="196" name="组合 195"/>
          <p:cNvGrpSpPr/>
          <p:nvPr/>
        </p:nvGrpSpPr>
        <p:grpSpPr>
          <a:xfrm>
            <a:off x="7143768" y="4762384"/>
            <a:ext cx="1195810" cy="1321964"/>
            <a:chOff x="7143768" y="4762384"/>
            <a:chExt cx="1195810" cy="1321964"/>
          </a:xfrm>
        </p:grpSpPr>
        <p:cxnSp>
          <p:nvCxnSpPr>
            <p:cNvPr id="183" name="直接箭头连接符 182"/>
            <p:cNvCxnSpPr/>
            <p:nvPr/>
          </p:nvCxnSpPr>
          <p:spPr bwMode="auto">
            <a:xfrm rot="16200000" flipH="1">
              <a:off x="7527118" y="5459484"/>
              <a:ext cx="360000" cy="285751"/>
            </a:xfrm>
            <a:prstGeom prst="straightConnector1">
              <a:avLst/>
            </a:prstGeom>
            <a:solidFill>
              <a:schemeClr val="accent1"/>
            </a:solidFill>
            <a:ln w="38100" cap="flat" cmpd="sng" algn="ctr">
              <a:solidFill>
                <a:schemeClr val="bg2"/>
              </a:solidFill>
              <a:prstDash val="solid"/>
              <a:round/>
              <a:headEnd type="triangle" w="med" len="med"/>
              <a:tailEnd type="triangle" w="med" len="med"/>
            </a:ln>
            <a:effectLst/>
          </p:spPr>
        </p:cxnSp>
        <p:sp>
          <p:nvSpPr>
            <p:cNvPr id="193" name="TextBox 192"/>
            <p:cNvSpPr txBox="1"/>
            <p:nvPr/>
          </p:nvSpPr>
          <p:spPr>
            <a:xfrm>
              <a:off x="7191268" y="4762384"/>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94" name="TextBox 193"/>
            <p:cNvSpPr txBox="1"/>
            <p:nvPr/>
          </p:nvSpPr>
          <p:spPr>
            <a:xfrm>
              <a:off x="8001024" y="5715016"/>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p>
          </p:txBody>
        </p:sp>
        <p:sp>
          <p:nvSpPr>
            <p:cNvPr id="195" name="矩形 194"/>
            <p:cNvSpPr/>
            <p:nvPr/>
          </p:nvSpPr>
          <p:spPr>
            <a:xfrm>
              <a:off x="7143768" y="5500702"/>
              <a:ext cx="654346" cy="369332"/>
            </a:xfrm>
            <a:prstGeom prst="rect">
              <a:avLst/>
            </a:prstGeom>
          </p:spPr>
          <p:txBody>
            <a:bodyPr wrap="none">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N</a:t>
              </a:r>
              <a:r>
                <a:rPr lang="en-US" altLang="zh-CN" b="1" i="1" baseline="-25000">
                  <a:latin typeface="Times New Roman" pitchFamily="18" charset="0"/>
                  <a:cs typeface="Times New Roman" pitchFamily="18" charset="0"/>
                </a:rPr>
                <a:t>AB</a:t>
              </a:r>
              <a:endParaRPr lang="zh-CN" altLang="en-US"/>
            </a:p>
          </p:txBody>
        </p:sp>
      </p:grpSp>
      <p:grpSp>
        <p:nvGrpSpPr>
          <p:cNvPr id="201" name="组合 200"/>
          <p:cNvGrpSpPr/>
          <p:nvPr/>
        </p:nvGrpSpPr>
        <p:grpSpPr>
          <a:xfrm>
            <a:off x="3690360" y="5357826"/>
            <a:ext cx="1107996" cy="1083712"/>
            <a:chOff x="3714744" y="5357826"/>
            <a:chExt cx="1107996" cy="1083712"/>
          </a:xfrm>
        </p:grpSpPr>
        <p:sp>
          <p:nvSpPr>
            <p:cNvPr id="197" name="矩形 196"/>
            <p:cNvSpPr/>
            <p:nvPr/>
          </p:nvSpPr>
          <p:spPr bwMode="auto">
            <a:xfrm>
              <a:off x="3714744" y="5357826"/>
              <a:ext cx="785818" cy="428628"/>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cxnSp>
          <p:nvCxnSpPr>
            <p:cNvPr id="199" name="直接箭头连接符 198"/>
            <p:cNvCxnSpPr>
              <a:stCxn id="197" idx="2"/>
            </p:cNvCxnSpPr>
            <p:nvPr/>
          </p:nvCxnSpPr>
          <p:spPr bwMode="auto">
            <a:xfrm rot="16200000" flipH="1">
              <a:off x="3982636" y="5911470"/>
              <a:ext cx="357190" cy="107157"/>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sp>
          <p:nvSpPr>
            <p:cNvPr id="200" name="TextBox 199"/>
            <p:cNvSpPr txBox="1"/>
            <p:nvPr/>
          </p:nvSpPr>
          <p:spPr>
            <a:xfrm>
              <a:off x="3714744" y="6072206"/>
              <a:ext cx="1107996" cy="369332"/>
            </a:xfrm>
            <a:prstGeom prst="rect">
              <a:avLst/>
            </a:prstGeom>
            <a:noFill/>
            <a:ln w="28575">
              <a:noFill/>
            </a:ln>
          </p:spPr>
          <p:txBody>
            <a:bodyPr wrap="none" rtlCol="0">
              <a:spAutoFit/>
            </a:bodyPr>
            <a:lstStyle/>
            <a:p>
              <a:r>
                <a:rPr lang="zh-CN" altLang="en-US" b="1">
                  <a:solidFill>
                    <a:srgbClr val="0033CC"/>
                  </a:solidFill>
                </a:rPr>
                <a:t>理想约束</a:t>
              </a:r>
            </a:p>
          </p:txBody>
        </p:sp>
      </p:grpSp>
      <p:grpSp>
        <p:nvGrpSpPr>
          <p:cNvPr id="207" name="组合 206"/>
          <p:cNvGrpSpPr/>
          <p:nvPr/>
        </p:nvGrpSpPr>
        <p:grpSpPr>
          <a:xfrm>
            <a:off x="4678450" y="5347398"/>
            <a:ext cx="2051233" cy="1094140"/>
            <a:chOff x="4678450" y="5347398"/>
            <a:chExt cx="2051233" cy="1094140"/>
          </a:xfrm>
        </p:grpSpPr>
        <p:sp>
          <p:nvSpPr>
            <p:cNvPr id="202" name="矩形 201"/>
            <p:cNvSpPr/>
            <p:nvPr/>
          </p:nvSpPr>
          <p:spPr bwMode="auto">
            <a:xfrm>
              <a:off x="4678450" y="5347398"/>
              <a:ext cx="536492" cy="428628"/>
            </a:xfrm>
            <a:prstGeom prst="rect">
              <a:avLst/>
            </a:prstGeom>
            <a:noFill/>
            <a:ln w="28575" cap="flat" cmpd="sng" algn="ctr">
              <a:solidFill>
                <a:srgbClr val="0033CC"/>
              </a:solidFill>
              <a:prstDash val="solid"/>
              <a:round/>
              <a:headEnd type="none" w="med" len="med"/>
              <a:tailEnd type="none"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cxnSp>
          <p:nvCxnSpPr>
            <p:cNvPr id="203" name="直接箭头连接符 202"/>
            <p:cNvCxnSpPr>
              <a:stCxn id="202" idx="2"/>
            </p:cNvCxnSpPr>
            <p:nvPr/>
          </p:nvCxnSpPr>
          <p:spPr bwMode="auto">
            <a:xfrm rot="16200000" flipH="1">
              <a:off x="5075604" y="5647118"/>
              <a:ext cx="367620" cy="625436"/>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sp>
          <p:nvSpPr>
            <p:cNvPr id="204" name="TextBox 199"/>
            <p:cNvSpPr txBox="1"/>
            <p:nvPr/>
          </p:nvSpPr>
          <p:spPr>
            <a:xfrm>
              <a:off x="4929190" y="6072206"/>
              <a:ext cx="1800493" cy="369332"/>
            </a:xfrm>
            <a:prstGeom prst="rect">
              <a:avLst/>
            </a:prstGeom>
            <a:noFill/>
            <a:ln w="28575">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rgbClr val="0033CC"/>
                  </a:solidFill>
                </a:rPr>
                <a:t>刚体无相对位移</a:t>
              </a:r>
            </a:p>
          </p:txBody>
        </p:sp>
      </p:grpSp>
      <p:cxnSp>
        <p:nvCxnSpPr>
          <p:cNvPr id="210" name="直接连接符 209"/>
          <p:cNvCxnSpPr/>
          <p:nvPr/>
        </p:nvCxnSpPr>
        <p:spPr bwMode="auto">
          <a:xfrm rot="5400000" flipH="1" flipV="1">
            <a:off x="6199136" y="5986544"/>
            <a:ext cx="0" cy="885703"/>
          </a:xfrm>
          <a:prstGeom prst="line">
            <a:avLst/>
          </a:prstGeom>
          <a:solidFill>
            <a:schemeClr val="accent1"/>
          </a:solidFill>
          <a:ln w="28575" cap="flat" cmpd="sng" algn="ctr">
            <a:solidFill>
              <a:srgbClr val="C00000"/>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up)">
                                      <p:cBhvr>
                                        <p:cTn id="7" dur="500"/>
                                        <p:tgtEl>
                                          <p:spTgt spid="54">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122"/>
                                        </p:tgtEl>
                                        <p:attrNameLst>
                                          <p:attrName>style.visibility</p:attrName>
                                        </p:attrNameLst>
                                      </p:cBhvr>
                                      <p:to>
                                        <p:strVal val="visible"/>
                                      </p:to>
                                    </p:set>
                                    <p:anim calcmode="lin" valueType="num">
                                      <p:cBhvr additive="base">
                                        <p:cTn id="10" dur="500" fill="hold"/>
                                        <p:tgtEl>
                                          <p:spTgt spid="122"/>
                                        </p:tgtEl>
                                        <p:attrNameLst>
                                          <p:attrName>ppt_x</p:attrName>
                                        </p:attrNameLst>
                                      </p:cBhvr>
                                      <p:tavLst>
                                        <p:tav tm="0">
                                          <p:val>
                                            <p:strVal val="#ppt_x"/>
                                          </p:val>
                                        </p:tav>
                                        <p:tav tm="100000">
                                          <p:val>
                                            <p:strVal val="#ppt_x"/>
                                          </p:val>
                                        </p:tav>
                                      </p:tavLst>
                                    </p:anim>
                                    <p:anim calcmode="lin" valueType="num">
                                      <p:cBhvr additive="base">
                                        <p:cTn id="11"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4">
                                            <p:txEl>
                                              <p:pRg st="1" end="1"/>
                                            </p:txEl>
                                          </p:spTgt>
                                        </p:tgtEl>
                                        <p:attrNameLst>
                                          <p:attrName>style.visibility</p:attrName>
                                        </p:attrNameLst>
                                      </p:cBhvr>
                                      <p:to>
                                        <p:strVal val="visible"/>
                                      </p:to>
                                    </p:set>
                                    <p:animEffect transition="in" filter="wipe(up)">
                                      <p:cBhvr>
                                        <p:cTn id="16" dur="500"/>
                                        <p:tgtEl>
                                          <p:spTgt spid="54">
                                            <p:txEl>
                                              <p:pRg st="1" end="1"/>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4">
                                            <p:txEl>
                                              <p:pRg st="2" end="2"/>
                                            </p:txEl>
                                          </p:spTgt>
                                        </p:tgtEl>
                                        <p:attrNameLst>
                                          <p:attrName>style.visibility</p:attrName>
                                        </p:attrNameLst>
                                      </p:cBhvr>
                                      <p:to>
                                        <p:strVal val="visible"/>
                                      </p:to>
                                    </p:set>
                                    <p:animEffect transition="in" filter="wipe(up)">
                                      <p:cBhvr>
                                        <p:cTn id="19" dur="500"/>
                                        <p:tgtEl>
                                          <p:spTgt spid="54">
                                            <p:txEl>
                                              <p:pRg st="2" end="2"/>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4">
                                            <p:txEl>
                                              <p:pRg st="3" end="3"/>
                                            </p:txEl>
                                          </p:spTgt>
                                        </p:tgtEl>
                                        <p:attrNameLst>
                                          <p:attrName>style.visibility</p:attrName>
                                        </p:attrNameLst>
                                      </p:cBhvr>
                                      <p:to>
                                        <p:strVal val="visible"/>
                                      </p:to>
                                    </p:set>
                                    <p:animEffect transition="in" filter="wipe(up)">
                                      <p:cBhvr>
                                        <p:cTn id="22" dur="500"/>
                                        <p:tgtEl>
                                          <p:spTgt spid="5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4">
                                            <p:txEl>
                                              <p:pRg st="4" end="4"/>
                                            </p:txEl>
                                          </p:spTgt>
                                        </p:tgtEl>
                                        <p:attrNameLst>
                                          <p:attrName>style.visibility</p:attrName>
                                        </p:attrNameLst>
                                      </p:cBhvr>
                                      <p:to>
                                        <p:strVal val="visible"/>
                                      </p:to>
                                    </p:set>
                                    <p:animEffect transition="in" filter="wipe(up)">
                                      <p:cBhvr>
                                        <p:cTn id="27" dur="500"/>
                                        <p:tgtEl>
                                          <p:spTgt spid="54">
                                            <p:txEl>
                                              <p:pRg st="4" end="4"/>
                                            </p:txEl>
                                          </p:spTgt>
                                        </p:tgtEl>
                                      </p:cBhvr>
                                    </p:animEffect>
                                  </p:childTnLst>
                                </p:cTn>
                              </p:par>
                              <p:par>
                                <p:cTn id="28" presetID="2" presetClass="entr" presetSubtype="4" fill="hold" nodeType="withEffect">
                                  <p:stCondLst>
                                    <p:cond delay="0"/>
                                  </p:stCondLst>
                                  <p:childTnLst>
                                    <p:set>
                                      <p:cBhvr>
                                        <p:cTn id="29" dur="1" fill="hold">
                                          <p:stCondLst>
                                            <p:cond delay="0"/>
                                          </p:stCondLst>
                                        </p:cTn>
                                        <p:tgtEl>
                                          <p:spTgt spid="123"/>
                                        </p:tgtEl>
                                        <p:attrNameLst>
                                          <p:attrName>style.visibility</p:attrName>
                                        </p:attrNameLst>
                                      </p:cBhvr>
                                      <p:to>
                                        <p:strVal val="visible"/>
                                      </p:to>
                                    </p:set>
                                    <p:anim calcmode="lin" valueType="num">
                                      <p:cBhvr additive="base">
                                        <p:cTn id="30" dur="500" fill="hold"/>
                                        <p:tgtEl>
                                          <p:spTgt spid="123"/>
                                        </p:tgtEl>
                                        <p:attrNameLst>
                                          <p:attrName>ppt_x</p:attrName>
                                        </p:attrNameLst>
                                      </p:cBhvr>
                                      <p:tavLst>
                                        <p:tav tm="0">
                                          <p:val>
                                            <p:strVal val="#ppt_x"/>
                                          </p:val>
                                        </p:tav>
                                        <p:tav tm="100000">
                                          <p:val>
                                            <p:strVal val="#ppt_x"/>
                                          </p:val>
                                        </p:tav>
                                      </p:tavLst>
                                    </p:anim>
                                    <p:anim calcmode="lin" valueType="num">
                                      <p:cBhvr additive="base">
                                        <p:cTn id="31" dur="500" fill="hold"/>
                                        <p:tgtEl>
                                          <p:spTgt spid="123"/>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196"/>
                                        </p:tgtEl>
                                        <p:attrNameLst>
                                          <p:attrName>style.visibility</p:attrName>
                                        </p:attrNameLst>
                                      </p:cBhvr>
                                      <p:to>
                                        <p:strVal val="visible"/>
                                      </p:to>
                                    </p:set>
                                    <p:anim calcmode="lin" valueType="num">
                                      <p:cBhvr additive="base">
                                        <p:cTn id="35" dur="500" fill="hold"/>
                                        <p:tgtEl>
                                          <p:spTgt spid="196"/>
                                        </p:tgtEl>
                                        <p:attrNameLst>
                                          <p:attrName>ppt_x</p:attrName>
                                        </p:attrNameLst>
                                      </p:cBhvr>
                                      <p:tavLst>
                                        <p:tav tm="0">
                                          <p:val>
                                            <p:strVal val="#ppt_x"/>
                                          </p:val>
                                        </p:tav>
                                        <p:tav tm="100000">
                                          <p:val>
                                            <p:strVal val="#ppt_x"/>
                                          </p:val>
                                        </p:tav>
                                      </p:tavLst>
                                    </p:anim>
                                    <p:anim calcmode="lin" valueType="num">
                                      <p:cBhvr additive="base">
                                        <p:cTn id="36" dur="500" fill="hold"/>
                                        <p:tgtEl>
                                          <p:spTgt spid="19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4">
                                            <p:txEl>
                                              <p:pRg st="5" end="5"/>
                                            </p:txEl>
                                          </p:spTgt>
                                        </p:tgtEl>
                                        <p:attrNameLst>
                                          <p:attrName>style.visibility</p:attrName>
                                        </p:attrNameLst>
                                      </p:cBhvr>
                                      <p:to>
                                        <p:strVal val="visible"/>
                                      </p:to>
                                    </p:set>
                                    <p:animEffect transition="in" filter="wipe(up)">
                                      <p:cBhvr>
                                        <p:cTn id="41" dur="500"/>
                                        <p:tgtEl>
                                          <p:spTgt spid="54">
                                            <p:txEl>
                                              <p:pRg st="5" end="5"/>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54">
                                            <p:txEl>
                                              <p:pRg st="6" end="6"/>
                                            </p:txEl>
                                          </p:spTgt>
                                        </p:tgtEl>
                                        <p:attrNameLst>
                                          <p:attrName>style.visibility</p:attrName>
                                        </p:attrNameLst>
                                      </p:cBhvr>
                                      <p:to>
                                        <p:strVal val="visible"/>
                                      </p:to>
                                    </p:set>
                                    <p:animEffect transition="in" filter="wipe(up)">
                                      <p:cBhvr>
                                        <p:cTn id="44" dur="500"/>
                                        <p:tgtEl>
                                          <p:spTgt spid="54">
                                            <p:txEl>
                                              <p:pRg st="6" end="6"/>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54">
                                            <p:txEl>
                                              <p:pRg st="7" end="7"/>
                                            </p:txEl>
                                          </p:spTgt>
                                        </p:tgtEl>
                                        <p:attrNameLst>
                                          <p:attrName>style.visibility</p:attrName>
                                        </p:attrNameLst>
                                      </p:cBhvr>
                                      <p:to>
                                        <p:strVal val="visible"/>
                                      </p:to>
                                    </p:set>
                                    <p:animEffect transition="in" filter="wipe(up)">
                                      <p:cBhvr>
                                        <p:cTn id="47" dur="500"/>
                                        <p:tgtEl>
                                          <p:spTgt spid="54">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54">
                                            <p:txEl>
                                              <p:pRg st="8" end="8"/>
                                            </p:txEl>
                                          </p:spTgt>
                                        </p:tgtEl>
                                        <p:attrNameLst>
                                          <p:attrName>style.visibility</p:attrName>
                                        </p:attrNameLst>
                                      </p:cBhvr>
                                      <p:to>
                                        <p:strVal val="visible"/>
                                      </p:to>
                                    </p:set>
                                    <p:anim calcmode="lin" valueType="num">
                                      <p:cBhvr additive="base">
                                        <p:cTn id="52" dur="500" fill="hold"/>
                                        <p:tgtEl>
                                          <p:spTgt spid="54">
                                            <p:txEl>
                                              <p:pRg st="8" end="8"/>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54">
                                            <p:txEl>
                                              <p:pRg st="9" end="9"/>
                                            </p:txEl>
                                          </p:spTgt>
                                        </p:tgtEl>
                                        <p:attrNameLst>
                                          <p:attrName>style.visibility</p:attrName>
                                        </p:attrNameLst>
                                      </p:cBhvr>
                                      <p:to>
                                        <p:strVal val="visible"/>
                                      </p:to>
                                    </p:set>
                                    <p:anim calcmode="lin" valueType="num">
                                      <p:cBhvr additive="base">
                                        <p:cTn id="58" dur="500" fill="hold"/>
                                        <p:tgtEl>
                                          <p:spTgt spid="54">
                                            <p:txEl>
                                              <p:pRg st="9" end="9"/>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201"/>
                                        </p:tgtEl>
                                        <p:attrNameLst>
                                          <p:attrName>style.visibility</p:attrName>
                                        </p:attrNameLst>
                                      </p:cBhvr>
                                      <p:to>
                                        <p:strVal val="visible"/>
                                      </p:to>
                                    </p:set>
                                    <p:animEffect transition="in" filter="blinds(horizontal)">
                                      <p:cBhvr>
                                        <p:cTn id="64" dur="500"/>
                                        <p:tgtEl>
                                          <p:spTgt spid="201"/>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207"/>
                                        </p:tgtEl>
                                        <p:attrNameLst>
                                          <p:attrName>style.visibility</p:attrName>
                                        </p:attrNameLst>
                                      </p:cBhvr>
                                      <p:to>
                                        <p:strVal val="visible"/>
                                      </p:to>
                                    </p:set>
                                    <p:animEffect transition="in" filter="box(in)">
                                      <p:cBhvr>
                                        <p:cTn id="69" dur="500"/>
                                        <p:tgtEl>
                                          <p:spTgt spid="207"/>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54">
                                            <p:txEl>
                                              <p:pRg st="10" end="10"/>
                                            </p:txEl>
                                          </p:spTgt>
                                        </p:tgtEl>
                                        <p:attrNameLst>
                                          <p:attrName>style.visibility</p:attrName>
                                        </p:attrNameLst>
                                      </p:cBhvr>
                                      <p:to>
                                        <p:strVal val="visible"/>
                                      </p:to>
                                    </p:set>
                                    <p:anim calcmode="lin" valueType="num">
                                      <p:cBhvr additive="base">
                                        <p:cTn id="74" dur="500" fill="hold"/>
                                        <p:tgtEl>
                                          <p:spTgt spid="54">
                                            <p:txEl>
                                              <p:pRg st="10" end="1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5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10"/>
                                        </p:tgtEl>
                                        <p:attrNameLst>
                                          <p:attrName>style.visibility</p:attrName>
                                        </p:attrNameLst>
                                      </p:cBhvr>
                                      <p:to>
                                        <p:strVal val="visible"/>
                                      </p:to>
                                    </p:set>
                                    <p:animEffect transition="in" filter="wipe(left)">
                                      <p:cBhvr>
                                        <p:cTn id="8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变形体虚功方程的形式</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1830896"/>
            <a:ext cx="8174426" cy="31331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必须补充内力在变形上所作的虚功</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结构位移计算的一般公式；</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pPr>
            <a:endParaRPr lang="en-US" altLang="zh-CN" sz="24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形式</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p:txBody>
      </p:sp>
      <p:graphicFrame>
        <p:nvGraphicFramePr>
          <p:cNvPr id="583688" name="Object 8"/>
          <p:cNvGraphicFramePr>
            <a:graphicFrameLocks noChangeAspect="1"/>
          </p:cNvGraphicFramePr>
          <p:nvPr/>
        </p:nvGraphicFramePr>
        <p:xfrm>
          <a:off x="2352675" y="2714625"/>
          <a:ext cx="4691063" cy="500063"/>
        </p:xfrm>
        <a:graphic>
          <a:graphicData uri="http://schemas.openxmlformats.org/presentationml/2006/ole">
            <mc:AlternateContent xmlns:mc="http://schemas.openxmlformats.org/markup-compatibility/2006">
              <mc:Choice xmlns:v="urn:schemas-microsoft-com:vml" Requires="v">
                <p:oleObj spid="_x0000_s583691" name="Equation" r:id="rId4" imgW="2857320" imgH="304560" progId="Equation.DSMT4">
                  <p:embed/>
                </p:oleObj>
              </mc:Choice>
              <mc:Fallback>
                <p:oleObj name="Equation" r:id="rId4" imgW="2857320" imgH="30456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2675" y="2714625"/>
                        <a:ext cx="4691063"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4" name="组合 123"/>
          <p:cNvGrpSpPr/>
          <p:nvPr/>
        </p:nvGrpSpPr>
        <p:grpSpPr>
          <a:xfrm>
            <a:off x="2351088" y="3214686"/>
            <a:ext cx="4691062" cy="798514"/>
            <a:chOff x="2351088" y="3214686"/>
            <a:chExt cx="4691062" cy="798514"/>
          </a:xfrm>
        </p:grpSpPr>
        <p:sp>
          <p:nvSpPr>
            <p:cNvPr id="123" name="下箭头 122"/>
            <p:cNvSpPr/>
            <p:nvPr/>
          </p:nvSpPr>
          <p:spPr bwMode="auto">
            <a:xfrm>
              <a:off x="4357686" y="3214686"/>
              <a:ext cx="428628" cy="285752"/>
            </a:xfrm>
            <a:prstGeom prst="down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aphicFrame>
          <p:nvGraphicFramePr>
            <p:cNvPr id="583689" name="Object 9"/>
            <p:cNvGraphicFramePr>
              <a:graphicFrameLocks noChangeAspect="1"/>
            </p:cNvGraphicFramePr>
            <p:nvPr/>
          </p:nvGraphicFramePr>
          <p:xfrm>
            <a:off x="2351088" y="3513138"/>
            <a:ext cx="4691062" cy="500062"/>
          </p:xfrm>
          <a:graphic>
            <a:graphicData uri="http://schemas.openxmlformats.org/presentationml/2006/ole">
              <mc:AlternateContent xmlns:mc="http://schemas.openxmlformats.org/markup-compatibility/2006">
                <mc:Choice xmlns:v="urn:schemas-microsoft-com:vml" Requires="v">
                  <p:oleObj spid="_x0000_s583692" name="Equation" r:id="rId6" imgW="2857320" imgH="304560" progId="Equation.DSMT4">
                    <p:embed/>
                  </p:oleObj>
                </mc:Choice>
                <mc:Fallback>
                  <p:oleObj name="Equation" r:id="rId6" imgW="2857320" imgH="304560"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1088" y="3513138"/>
                          <a:ext cx="4691062"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5" name="Object 9"/>
          <p:cNvGraphicFramePr>
            <a:graphicFrameLocks noChangeAspect="1"/>
          </p:cNvGraphicFramePr>
          <p:nvPr/>
        </p:nvGraphicFramePr>
        <p:xfrm>
          <a:off x="3869812" y="4124332"/>
          <a:ext cx="771525" cy="376238"/>
        </p:xfrm>
        <a:graphic>
          <a:graphicData uri="http://schemas.openxmlformats.org/presentationml/2006/ole">
            <mc:AlternateContent xmlns:mc="http://schemas.openxmlformats.org/markup-compatibility/2006">
              <mc:Choice xmlns:v="urn:schemas-microsoft-com:vml" Requires="v">
                <p:oleObj spid="_x0000_s583693" name="Equation" r:id="rId8" imgW="469800" imgH="228600" progId="Equation.DSMT4">
                  <p:embed/>
                </p:oleObj>
              </mc:Choice>
              <mc:Fallback>
                <p:oleObj name="Equation" r:id="rId8" imgW="469800" imgH="228600" progId="Equation.DSMT4">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9812" y="4124332"/>
                        <a:ext cx="771525" cy="376238"/>
                      </a:xfrm>
                      <a:prstGeom prst="rect">
                        <a:avLst/>
                      </a:prstGeom>
                      <a:noFill/>
                      <a:ln w="28575">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3" name="组合 142"/>
          <p:cNvGrpSpPr/>
          <p:nvPr/>
        </p:nvGrpSpPr>
        <p:grpSpPr>
          <a:xfrm>
            <a:off x="1142976" y="3535300"/>
            <a:ext cx="3000396" cy="428628"/>
            <a:chOff x="1142976" y="3535300"/>
            <a:chExt cx="3000396" cy="428628"/>
          </a:xfrm>
        </p:grpSpPr>
        <p:sp>
          <p:nvSpPr>
            <p:cNvPr id="126" name="矩形 125"/>
            <p:cNvSpPr/>
            <p:nvPr/>
          </p:nvSpPr>
          <p:spPr bwMode="auto">
            <a:xfrm>
              <a:off x="2357422" y="3535300"/>
              <a:ext cx="1785950" cy="428628"/>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133" name="TextBox 132"/>
            <p:cNvSpPr txBox="1"/>
            <p:nvPr/>
          </p:nvSpPr>
          <p:spPr>
            <a:xfrm>
              <a:off x="1142976" y="3571876"/>
              <a:ext cx="1107996" cy="369332"/>
            </a:xfrm>
            <a:prstGeom prst="rect">
              <a:avLst/>
            </a:prstGeom>
            <a:noFill/>
            <a:ln w="28575">
              <a:noFill/>
            </a:ln>
          </p:spPr>
          <p:txBody>
            <a:bodyPr wrap="none" rtlCol="0">
              <a:spAutoFit/>
            </a:bodyPr>
            <a:lstStyle/>
            <a:p>
              <a:r>
                <a:rPr lang="zh-CN" altLang="en-US" b="1">
                  <a:solidFill>
                    <a:srgbClr val="0033CC"/>
                  </a:solidFill>
                </a:rPr>
                <a:t>外力虚功</a:t>
              </a:r>
            </a:p>
          </p:txBody>
        </p:sp>
      </p:grpSp>
      <p:grpSp>
        <p:nvGrpSpPr>
          <p:cNvPr id="142" name="组合 141"/>
          <p:cNvGrpSpPr/>
          <p:nvPr/>
        </p:nvGrpSpPr>
        <p:grpSpPr>
          <a:xfrm>
            <a:off x="4296065" y="3537014"/>
            <a:ext cx="3943507" cy="428628"/>
            <a:chOff x="4296065" y="3537014"/>
            <a:chExt cx="3943507" cy="428628"/>
          </a:xfrm>
        </p:grpSpPr>
        <p:sp>
          <p:nvSpPr>
            <p:cNvPr id="127" name="矩形 126"/>
            <p:cNvSpPr/>
            <p:nvPr/>
          </p:nvSpPr>
          <p:spPr bwMode="auto">
            <a:xfrm>
              <a:off x="4296065" y="3537014"/>
              <a:ext cx="2763907" cy="428628"/>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135" name="TextBox 134"/>
            <p:cNvSpPr txBox="1"/>
            <p:nvPr/>
          </p:nvSpPr>
          <p:spPr>
            <a:xfrm>
              <a:off x="7131576" y="3582354"/>
              <a:ext cx="1107996" cy="369332"/>
            </a:xfrm>
            <a:prstGeom prst="rect">
              <a:avLst/>
            </a:prstGeom>
            <a:noFill/>
            <a:ln w="28575">
              <a:noFill/>
            </a:ln>
          </p:spPr>
          <p:txBody>
            <a:bodyPr wrap="none" rtlCol="0">
              <a:spAutoFit/>
            </a:bodyPr>
            <a:lstStyle/>
            <a:p>
              <a:r>
                <a:rPr lang="zh-CN" altLang="en-US" b="1">
                  <a:solidFill>
                    <a:srgbClr val="0033CC"/>
                  </a:solidFill>
                </a:rPr>
                <a:t>内力虚功</a:t>
              </a:r>
            </a:p>
          </p:txBody>
        </p:sp>
      </p:grpSp>
      <p:sp>
        <p:nvSpPr>
          <p:cNvPr id="145" name="矩形 144"/>
          <p:cNvSpPr/>
          <p:nvPr/>
        </p:nvSpPr>
        <p:spPr>
          <a:xfrm>
            <a:off x="1214414" y="4693536"/>
            <a:ext cx="7000924" cy="1735860"/>
          </a:xfrm>
          <a:prstGeom prst="rect">
            <a:avLst/>
          </a:prstGeom>
          <a:ln w="28575">
            <a:solidFill>
              <a:srgbClr val="C00000"/>
            </a:solidFill>
          </a:ln>
        </p:spPr>
        <p:txBody>
          <a:bodyPr wrap="square">
            <a:spAutoFit/>
          </a:bodyPr>
          <a:lstStyle/>
          <a:p>
            <a:pPr marL="0" lvl="1" algn="ctr" fontAlgn="base">
              <a:lnSpc>
                <a:spcPct val="120000"/>
              </a:lnSpc>
              <a:spcBef>
                <a:spcPct val="20000"/>
              </a:spcBef>
              <a:spcAft>
                <a:spcPct val="0"/>
              </a:spcAft>
            </a:pPr>
            <a:r>
              <a:rPr lang="zh-CN" altLang="en-US" sz="2400" b="1">
                <a:solidFill>
                  <a:srgbClr val="C00000"/>
                </a:solidFill>
              </a:rPr>
              <a:t>变形体虚功原理</a:t>
            </a:r>
            <a:endParaRPr lang="en-US" altLang="zh-CN" sz="2400" b="1">
              <a:solidFill>
                <a:srgbClr val="C00000"/>
              </a:solidFill>
            </a:endParaRPr>
          </a:p>
          <a:p>
            <a:pPr marL="0" lvl="1" fontAlgn="base">
              <a:lnSpc>
                <a:spcPct val="130000"/>
              </a:lnSpc>
              <a:spcAft>
                <a:spcPct val="0"/>
              </a:spcAft>
            </a:pPr>
            <a:r>
              <a:rPr lang="zh-CN" altLang="en-US" sz="2000" b="1"/>
              <a:t>⑴ 变形体在力系作用下处于平衡状态；</a:t>
            </a:r>
            <a:endParaRPr lang="en-US" altLang="zh-CN" sz="2000" b="1"/>
          </a:p>
          <a:p>
            <a:pPr marL="0" lvl="1" fontAlgn="base">
              <a:lnSpc>
                <a:spcPct val="130000"/>
              </a:lnSpc>
              <a:spcAft>
                <a:spcPct val="0"/>
              </a:spcAft>
            </a:pPr>
            <a:r>
              <a:rPr lang="zh-CN" altLang="en-US" sz="2000" b="1"/>
              <a:t>⑵ 变形体的微小变形和位移满足连续条件，和约束条件；</a:t>
            </a:r>
            <a:endParaRPr lang="en-US" altLang="zh-CN" sz="2000" b="1"/>
          </a:p>
          <a:p>
            <a:pPr marL="0" lvl="1" fontAlgn="base">
              <a:lnSpc>
                <a:spcPct val="130000"/>
              </a:lnSpc>
              <a:spcAft>
                <a:spcPct val="0"/>
              </a:spcAft>
            </a:pPr>
            <a:r>
              <a:rPr lang="zh-CN" altLang="en-US" sz="2000" b="1"/>
              <a:t>⑶ 外力所做的外虚功</a:t>
            </a:r>
            <a:r>
              <a:rPr lang="en-US" altLang="zh-CN" sz="2000" b="1" i="1">
                <a:solidFill>
                  <a:srgbClr val="C00000"/>
                </a:solidFill>
                <a:latin typeface="Times New Roman" pitchFamily="18" charset="0"/>
                <a:cs typeface="Times New Roman" pitchFamily="18" charset="0"/>
              </a:rPr>
              <a:t>W</a:t>
            </a:r>
            <a:r>
              <a:rPr lang="zh-CN" altLang="en-US" sz="2000" b="1">
                <a:solidFill>
                  <a:srgbClr val="C00000"/>
                </a:solidFill>
                <a:latin typeface="Times New Roman" pitchFamily="18" charset="0"/>
                <a:cs typeface="Times New Roman" pitchFamily="18" charset="0"/>
              </a:rPr>
              <a:t>等于</a:t>
            </a:r>
            <a:r>
              <a:rPr lang="zh-CN" altLang="en-US" sz="2000" b="1">
                <a:latin typeface="Times New Roman" pitchFamily="18" charset="0"/>
                <a:cs typeface="Times New Roman" pitchFamily="18" charset="0"/>
              </a:rPr>
              <a:t>应力合</a:t>
            </a:r>
            <a:r>
              <a:rPr lang="zh-CN" altLang="en-US" sz="2000" b="1"/>
              <a:t>力在变形上做的内虚功</a:t>
            </a:r>
            <a:r>
              <a:rPr lang="en-US" altLang="zh-CN" sz="2000" b="1" i="1">
                <a:solidFill>
                  <a:srgbClr val="C00000"/>
                </a:solidFill>
                <a:latin typeface="Times New Roman" pitchFamily="18" charset="0"/>
                <a:cs typeface="Times New Roman" pitchFamily="18" charset="0"/>
              </a:rPr>
              <a:t>W</a:t>
            </a:r>
            <a:r>
              <a:rPr lang="en-US" altLang="zh-CN" sz="2000" b="1" baseline="-25000">
                <a:solidFill>
                  <a:srgbClr val="C00000"/>
                </a:solidFill>
              </a:rPr>
              <a:t>i</a:t>
            </a:r>
            <a:r>
              <a:rPr lang="zh-CN" altLang="en-US" sz="2000" b="1"/>
              <a:t>。</a:t>
            </a:r>
            <a:endParaRPr lang="en-US" altLang="zh-CN" sz="2000" b="1"/>
          </a:p>
        </p:txBody>
      </p:sp>
      <p:sp>
        <p:nvSpPr>
          <p:cNvPr id="152" name="TextBox 151"/>
          <p:cNvSpPr txBox="1"/>
          <p:nvPr/>
        </p:nvSpPr>
        <p:spPr>
          <a:xfrm>
            <a:off x="5572132" y="1524558"/>
            <a:ext cx="3357586" cy="707886"/>
          </a:xfrm>
          <a:prstGeom prst="rect">
            <a:avLst/>
          </a:prstGeom>
          <a:noFill/>
          <a:ln w="28575">
            <a:noFill/>
          </a:ln>
        </p:spPr>
        <p:txBody>
          <a:bodyPr wrap="square" rtlCol="0">
            <a:spAutoFit/>
          </a:bodyPr>
          <a:lstStyle/>
          <a:p>
            <a:r>
              <a:rPr lang="zh-CN" altLang="en-US" sz="2000" b="1">
                <a:solidFill>
                  <a:srgbClr val="C00000"/>
                </a:solidFill>
                <a:latin typeface="Times New Roman" pitchFamily="18" charset="0"/>
                <a:cs typeface="Times New Roman" pitchFamily="18" charset="0"/>
              </a:rPr>
              <a:t>思考：为何</a:t>
            </a:r>
            <a:r>
              <a:rPr lang="en-US" altLang="zh-CN" sz="2000" b="1">
                <a:solidFill>
                  <a:srgbClr val="C00000"/>
                </a:solidFill>
                <a:latin typeface="Times New Roman" pitchFamily="18" charset="0"/>
                <a:cs typeface="Times New Roman" pitchFamily="18" charset="0"/>
              </a:rPr>
              <a:t>§3-8</a:t>
            </a:r>
            <a:r>
              <a:rPr lang="zh-CN" altLang="en-US" sz="2000" b="1">
                <a:solidFill>
                  <a:srgbClr val="C00000"/>
                </a:solidFill>
                <a:latin typeface="Times New Roman" pitchFamily="18" charset="0"/>
                <a:cs typeface="Times New Roman" pitchFamily="18" charset="0"/>
              </a:rPr>
              <a:t>中，变形体仍采用刚体的单位位移法？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up)">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
                                            <p:txEl>
                                              <p:pRg st="1" end="1"/>
                                            </p:txEl>
                                          </p:spTgt>
                                        </p:tgtEl>
                                        <p:attrNameLst>
                                          <p:attrName>style.visibility</p:attrName>
                                        </p:attrNameLst>
                                      </p:cBhvr>
                                      <p:to>
                                        <p:strVal val="visible"/>
                                      </p:to>
                                    </p:set>
                                    <p:animEffect transition="in" filter="wipe(up)">
                                      <p:cBhvr>
                                        <p:cTn id="12" dur="500"/>
                                        <p:tgtEl>
                                          <p:spTgt spid="54">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583688"/>
                                        </p:tgtEl>
                                        <p:attrNameLst>
                                          <p:attrName>style.visibility</p:attrName>
                                        </p:attrNameLst>
                                      </p:cBhvr>
                                      <p:to>
                                        <p:strVal val="visible"/>
                                      </p:to>
                                    </p:set>
                                    <p:animEffect transition="in" filter="wipe(up)">
                                      <p:cBhvr>
                                        <p:cTn id="15" dur="500"/>
                                        <p:tgtEl>
                                          <p:spTgt spid="58368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24"/>
                                        </p:tgtEl>
                                        <p:attrNameLst>
                                          <p:attrName>style.visibility</p:attrName>
                                        </p:attrNameLst>
                                      </p:cBhvr>
                                      <p:to>
                                        <p:strVal val="visible"/>
                                      </p:to>
                                    </p:set>
                                    <p:animEffect transition="in" filter="wipe(up)">
                                      <p:cBhvr>
                                        <p:cTn id="20" dur="500"/>
                                        <p:tgtEl>
                                          <p:spTgt spid="12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nodeType="clickEffect">
                                  <p:stCondLst>
                                    <p:cond delay="0"/>
                                  </p:stCondLst>
                                  <p:childTnLst>
                                    <p:set>
                                      <p:cBhvr>
                                        <p:cTn id="24" dur="1" fill="hold">
                                          <p:stCondLst>
                                            <p:cond delay="0"/>
                                          </p:stCondLst>
                                        </p:cTn>
                                        <p:tgtEl>
                                          <p:spTgt spid="143"/>
                                        </p:tgtEl>
                                        <p:attrNameLst>
                                          <p:attrName>style.visibility</p:attrName>
                                        </p:attrNameLst>
                                      </p:cBhvr>
                                      <p:to>
                                        <p:strVal val="visible"/>
                                      </p:to>
                                    </p:set>
                                    <p:animEffect transition="in" filter="blinds(vertical)">
                                      <p:cBhvr>
                                        <p:cTn id="25" dur="500"/>
                                        <p:tgtEl>
                                          <p:spTgt spid="143"/>
                                        </p:tgtEl>
                                      </p:cBhvr>
                                    </p:animEffect>
                                  </p:childTnLst>
                                </p:cTn>
                              </p:par>
                            </p:childTnLst>
                          </p:cTn>
                        </p:par>
                        <p:par>
                          <p:cTn id="26" fill="hold">
                            <p:stCondLst>
                              <p:cond delay="500"/>
                            </p:stCondLst>
                            <p:childTnLst>
                              <p:par>
                                <p:cTn id="27" presetID="3" presetClass="entr" presetSubtype="5" fill="hold" nodeType="after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blinds(vertical)">
                                      <p:cBhvr>
                                        <p:cTn id="29" dur="500"/>
                                        <p:tgtEl>
                                          <p:spTgt spid="14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4">
                                            <p:txEl>
                                              <p:pRg st="5" end="5"/>
                                            </p:txEl>
                                          </p:spTgt>
                                        </p:tgtEl>
                                        <p:attrNameLst>
                                          <p:attrName>style.visibility</p:attrName>
                                        </p:attrNameLst>
                                      </p:cBhvr>
                                      <p:to>
                                        <p:strVal val="visible"/>
                                      </p:to>
                                    </p:set>
                                    <p:animEffect transition="in" filter="wipe(left)">
                                      <p:cBhvr>
                                        <p:cTn id="34" dur="500"/>
                                        <p:tgtEl>
                                          <p:spTgt spid="54">
                                            <p:txEl>
                                              <p:pRg st="5" end="5"/>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wipe(left)">
                                      <p:cBhvr>
                                        <p:cTn id="38" dur="500"/>
                                        <p:tgtEl>
                                          <p:spTgt spid="125"/>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145"/>
                                        </p:tgtEl>
                                        <p:attrNameLst>
                                          <p:attrName>style.visibility</p:attrName>
                                        </p:attrNameLst>
                                      </p:cBhvr>
                                      <p:to>
                                        <p:strVal val="visible"/>
                                      </p:to>
                                    </p:set>
                                    <p:animEffect transition="in" filter="diamond(in)">
                                      <p:cBhvr>
                                        <p:cTn id="43" dur="1000"/>
                                        <p:tgtEl>
                                          <p:spTgt spid="1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2"/>
                                        </p:tgtEl>
                                        <p:attrNameLst>
                                          <p:attrName>style.visibility</p:attrName>
                                        </p:attrNameLst>
                                      </p:cBhvr>
                                      <p:to>
                                        <p:strVal val="visible"/>
                                      </p:to>
                                    </p:set>
                                    <p:animEffect transition="in" filter="wipe(left)">
                                      <p:cBhvr>
                                        <p:cTn id="48"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uiExpand="1" build="p"/>
      <p:bldP spid="145" grpId="0" animBg="1"/>
      <p:bldP spid="15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1830896"/>
            <a:ext cx="8174426" cy="343170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力系的平衡条件</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r>
              <a:rPr lang="zh-CN" altLang="en-US" sz="2000" b="1">
                <a:latin typeface="Times New Roman" pitchFamily="18" charset="0"/>
                <a:cs typeface="Times New Roman" pitchFamily="18" charset="0"/>
              </a:rPr>
              <a:t>力系：外力、支座反力和内力；</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分布力作用下：</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r>
              <a:rPr lang="zh-CN" altLang="en-US" sz="2000" b="1">
                <a:latin typeface="Times New Roman" pitchFamily="18" charset="0"/>
                <a:cs typeface="Times New Roman" pitchFamily="18" charset="0"/>
              </a:rPr>
              <a:t>集中力作用下</a:t>
            </a:r>
            <a:endParaRPr lang="en-US" altLang="zh-CN" sz="2000" b="1" i="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endParaRPr lang="en-US" altLang="zh-CN" sz="2000" b="1">
              <a:latin typeface="Times New Roman" pitchFamily="18" charset="0"/>
              <a:cs typeface="Times New Roman" pitchFamily="18" charset="0"/>
            </a:endParaRPr>
          </a:p>
        </p:txBody>
      </p:sp>
      <p:grpSp>
        <p:nvGrpSpPr>
          <p:cNvPr id="19" name="组合 18"/>
          <p:cNvGrpSpPr/>
          <p:nvPr/>
        </p:nvGrpSpPr>
        <p:grpSpPr>
          <a:xfrm>
            <a:off x="5366811" y="1714488"/>
            <a:ext cx="3562907" cy="2414505"/>
            <a:chOff x="3667711" y="2980280"/>
            <a:chExt cx="4612676" cy="3093585"/>
          </a:xfrm>
        </p:grpSpPr>
        <p:grpSp>
          <p:nvGrpSpPr>
            <p:cNvPr id="20" name="组合 118"/>
            <p:cNvGrpSpPr/>
            <p:nvPr/>
          </p:nvGrpSpPr>
          <p:grpSpPr>
            <a:xfrm>
              <a:off x="3667711" y="3437930"/>
              <a:ext cx="4612676" cy="2635935"/>
              <a:chOff x="4052055" y="1509104"/>
              <a:chExt cx="4612676" cy="2635935"/>
            </a:xfrm>
          </p:grpSpPr>
          <p:cxnSp>
            <p:nvCxnSpPr>
              <p:cNvPr id="27" name="直接箭头连接符 26"/>
              <p:cNvCxnSpPr/>
              <p:nvPr/>
            </p:nvCxnSpPr>
            <p:spPr bwMode="auto">
              <a:xfrm rot="5400000" flipH="1" flipV="1">
                <a:off x="4323121" y="2599531"/>
                <a:ext cx="1285884" cy="1463"/>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cxnSp>
            <p:nvCxnSpPr>
              <p:cNvPr id="28" name="直接箭头连接符 27"/>
              <p:cNvCxnSpPr/>
              <p:nvPr/>
            </p:nvCxnSpPr>
            <p:spPr bwMode="auto">
              <a:xfrm rot="5400000" flipH="1" flipV="1">
                <a:off x="6242684" y="2613178"/>
                <a:ext cx="1285884" cy="1463"/>
              </a:xfrm>
              <a:prstGeom prst="straightConnector1">
                <a:avLst/>
              </a:prstGeom>
              <a:solidFill>
                <a:schemeClr val="accent1"/>
              </a:solidFill>
              <a:ln w="28575" cap="flat" cmpd="sng" algn="ctr">
                <a:solidFill>
                  <a:srgbClr val="0033CC"/>
                </a:solidFill>
                <a:prstDash val="solid"/>
                <a:round/>
                <a:headEnd type="arrow" w="med" len="med"/>
                <a:tailEnd type="none"/>
              </a:ln>
              <a:effectLst/>
            </p:spPr>
          </p:cxnSp>
          <p:sp>
            <p:nvSpPr>
              <p:cNvPr id="29" name="TextBox 28"/>
              <p:cNvSpPr txBox="1"/>
              <p:nvPr/>
            </p:nvSpPr>
            <p:spPr>
              <a:xfrm>
                <a:off x="4453570" y="1509104"/>
                <a:ext cx="593954"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endParaRPr lang="zh-CN" altLang="en-US" b="1" baseline="-25000">
                  <a:solidFill>
                    <a:srgbClr val="0033CC"/>
                  </a:solidFill>
                  <a:latin typeface="Times New Roman" pitchFamily="18" charset="0"/>
                  <a:cs typeface="Times New Roman" pitchFamily="18" charset="0"/>
                </a:endParaRPr>
              </a:p>
            </p:txBody>
          </p:sp>
          <p:sp>
            <p:nvSpPr>
              <p:cNvPr id="30" name="TextBox 29"/>
              <p:cNvSpPr txBox="1"/>
              <p:nvPr/>
            </p:nvSpPr>
            <p:spPr>
              <a:xfrm>
                <a:off x="6869814" y="1613778"/>
                <a:ext cx="1359743"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r>
                  <a:rPr lang="en-US" altLang="zh-CN" b="1" i="1">
                    <a:solidFill>
                      <a:srgbClr val="0033CC"/>
                    </a:solidFill>
                    <a:latin typeface="Times New Roman" pitchFamily="18" charset="0"/>
                    <a:cs typeface="Times New Roman" pitchFamily="18" charset="0"/>
                  </a:rPr>
                  <a:t>+ </a:t>
                </a:r>
                <a:r>
                  <a:rPr lang="en-US" altLang="zh-CN" b="1">
                    <a:solidFill>
                      <a:srgbClr val="0033CC"/>
                    </a:solidFill>
                    <a:latin typeface="Times New Roman" pitchFamily="18" charset="0"/>
                    <a:cs typeface="Times New Roman" pitchFamily="18" charset="0"/>
                  </a:rPr>
                  <a:t>d</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endParaRPr lang="en-US" altLang="zh-CN" b="1" i="1" baseline="-25000">
                  <a:solidFill>
                    <a:srgbClr val="0033CC"/>
                  </a:solidFill>
                  <a:latin typeface="Times New Roman" pitchFamily="18" charset="0"/>
                  <a:cs typeface="Times New Roman" pitchFamily="18" charset="0"/>
                </a:endParaRPr>
              </a:p>
            </p:txBody>
          </p:sp>
          <p:sp>
            <p:nvSpPr>
              <p:cNvPr id="31" name="TextBox 30"/>
              <p:cNvSpPr txBox="1"/>
              <p:nvPr/>
            </p:nvSpPr>
            <p:spPr>
              <a:xfrm>
                <a:off x="4052055" y="2058284"/>
                <a:ext cx="581502"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endParaRPr lang="zh-CN" altLang="en-US" b="1" baseline="-25000">
                  <a:solidFill>
                    <a:srgbClr val="0033CC"/>
                  </a:solidFill>
                  <a:latin typeface="Times New Roman" pitchFamily="18" charset="0"/>
                  <a:cs typeface="Times New Roman" pitchFamily="18" charset="0"/>
                </a:endParaRPr>
              </a:p>
            </p:txBody>
          </p:sp>
          <p:sp>
            <p:nvSpPr>
              <p:cNvPr id="32" name="矩形 31"/>
              <p:cNvSpPr/>
              <p:nvPr/>
            </p:nvSpPr>
            <p:spPr bwMode="auto">
              <a:xfrm>
                <a:off x="5143504" y="1957320"/>
                <a:ext cx="1548573" cy="1285884"/>
              </a:xfrm>
              <a:prstGeom prst="rect">
                <a:avLst/>
              </a:prstGeom>
              <a:solidFill>
                <a:srgbClr val="FFFFCC"/>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Times New Roman" pitchFamily="18" charset="0"/>
                  <a:ea typeface="华文细黑" pitchFamily="2" charset="-122"/>
                  <a:cs typeface="Times New Roman" pitchFamily="18" charset="0"/>
                </a:endParaRPr>
              </a:p>
            </p:txBody>
          </p:sp>
          <p:cxnSp>
            <p:nvCxnSpPr>
              <p:cNvPr id="33" name="直接连接符 32"/>
              <p:cNvCxnSpPr/>
              <p:nvPr/>
            </p:nvCxnSpPr>
            <p:spPr bwMode="auto">
              <a:xfrm rot="10800000" flipH="1">
                <a:off x="5225392" y="2613910"/>
                <a:ext cx="428628"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34" name="直接箭头连接符 33"/>
              <p:cNvCxnSpPr/>
              <p:nvPr/>
            </p:nvCxnSpPr>
            <p:spPr bwMode="auto">
              <a:xfrm rot="10800000" flipV="1">
                <a:off x="4097190" y="2617108"/>
                <a:ext cx="1021116" cy="13648"/>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cxnSp>
            <p:nvCxnSpPr>
              <p:cNvPr id="35" name="直接箭头连接符 34"/>
              <p:cNvCxnSpPr/>
              <p:nvPr/>
            </p:nvCxnSpPr>
            <p:spPr bwMode="auto">
              <a:xfrm rot="10800000" flipV="1">
                <a:off x="6715141" y="2589812"/>
                <a:ext cx="1184632" cy="13648"/>
              </a:xfrm>
              <a:prstGeom prst="straightConnector1">
                <a:avLst/>
              </a:prstGeom>
              <a:solidFill>
                <a:schemeClr val="accent1"/>
              </a:solidFill>
              <a:ln w="28575" cap="flat" cmpd="sng" algn="ctr">
                <a:solidFill>
                  <a:srgbClr val="0033CC"/>
                </a:solidFill>
                <a:prstDash val="solid"/>
                <a:round/>
                <a:headEnd type="arrow" w="med" len="med"/>
                <a:tailEnd type="none"/>
              </a:ln>
              <a:effectLst/>
            </p:spPr>
          </p:cxnSp>
          <p:sp>
            <p:nvSpPr>
              <p:cNvPr id="36" name="TextBox 35"/>
              <p:cNvSpPr txBox="1"/>
              <p:nvPr/>
            </p:nvSpPr>
            <p:spPr>
              <a:xfrm>
                <a:off x="7329893" y="2058284"/>
                <a:ext cx="1334838"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r>
                  <a:rPr lang="en-US" altLang="zh-CN" b="1" i="1">
                    <a:solidFill>
                      <a:srgbClr val="0033CC"/>
                    </a:solidFill>
                    <a:latin typeface="Times New Roman" pitchFamily="18" charset="0"/>
                    <a:cs typeface="Times New Roman" pitchFamily="18" charset="0"/>
                  </a:rPr>
                  <a:t>+ </a:t>
                </a:r>
                <a:r>
                  <a:rPr lang="en-US" altLang="zh-CN" b="1">
                    <a:solidFill>
                      <a:srgbClr val="0033CC"/>
                    </a:solidFill>
                    <a:latin typeface="Times New Roman" pitchFamily="18" charset="0"/>
                    <a:cs typeface="Times New Roman" pitchFamily="18" charset="0"/>
                  </a:rPr>
                  <a:t>d</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endParaRPr lang="en-US" altLang="zh-CN" b="1" i="1" baseline="-25000">
                  <a:solidFill>
                    <a:srgbClr val="0033CC"/>
                  </a:solidFill>
                  <a:latin typeface="Times New Roman" pitchFamily="18" charset="0"/>
                  <a:cs typeface="Times New Roman" pitchFamily="18" charset="0"/>
                </a:endParaRPr>
              </a:p>
            </p:txBody>
          </p:sp>
          <p:sp>
            <p:nvSpPr>
              <p:cNvPr id="37" name="弧形 36"/>
              <p:cNvSpPr/>
              <p:nvPr/>
            </p:nvSpPr>
            <p:spPr bwMode="auto">
              <a:xfrm rot="13592355">
                <a:off x="4632844" y="2028883"/>
                <a:ext cx="1366457" cy="1345805"/>
              </a:xfrm>
              <a:prstGeom prst="arc">
                <a:avLst>
                  <a:gd name="adj1" fmla="val 16335112"/>
                  <a:gd name="adj2" fmla="val 202571"/>
                </a:avLst>
              </a:prstGeom>
              <a:noFill/>
              <a:ln w="28575" cap="flat" cmpd="sng" algn="ctr">
                <a:solidFill>
                  <a:srgbClr val="0033CC"/>
                </a:solidFill>
                <a:prstDash val="solid"/>
                <a:round/>
                <a:headEnd type="arrow" w="med" len="med"/>
                <a:tailEnd type="none" w="med" len="med"/>
              </a:ln>
              <a:effectLst/>
            </p:spPr>
            <p:txBody>
              <a:bodyPr rtlCol="0" anchor="ctr"/>
              <a:lstStyle/>
              <a:p>
                <a:pPr algn="ctr"/>
                <a:endParaRPr lang="zh-CN" altLang="en-US">
                  <a:latin typeface="Times New Roman" pitchFamily="18" charset="0"/>
                  <a:cs typeface="Times New Roman" pitchFamily="18" charset="0"/>
                </a:endParaRPr>
              </a:p>
            </p:txBody>
          </p:sp>
          <p:sp>
            <p:nvSpPr>
              <p:cNvPr id="38" name="TextBox 37"/>
              <p:cNvSpPr txBox="1"/>
              <p:nvPr/>
            </p:nvSpPr>
            <p:spPr>
              <a:xfrm>
                <a:off x="4271447" y="2973583"/>
                <a:ext cx="504715"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a:t>
                </a:r>
                <a:endParaRPr lang="en-US" altLang="zh-CN" b="1" i="1" baseline="-25000">
                  <a:solidFill>
                    <a:srgbClr val="0033CC"/>
                  </a:solidFill>
                  <a:latin typeface="Times New Roman" pitchFamily="18" charset="0"/>
                  <a:cs typeface="Times New Roman" pitchFamily="18" charset="0"/>
                </a:endParaRPr>
              </a:p>
            </p:txBody>
          </p:sp>
          <p:sp>
            <p:nvSpPr>
              <p:cNvPr id="39" name="弧形 38"/>
              <p:cNvSpPr/>
              <p:nvPr/>
            </p:nvSpPr>
            <p:spPr bwMode="auto">
              <a:xfrm rot="8007645" flipH="1">
                <a:off x="5860939" y="1997006"/>
                <a:ext cx="1366457" cy="1345805"/>
              </a:xfrm>
              <a:prstGeom prst="arc">
                <a:avLst>
                  <a:gd name="adj1" fmla="val 16335112"/>
                  <a:gd name="adj2" fmla="val 202571"/>
                </a:avLst>
              </a:prstGeom>
              <a:noFill/>
              <a:ln w="28575" cap="flat" cmpd="sng" algn="ctr">
                <a:solidFill>
                  <a:srgbClr val="0033CC"/>
                </a:solidFill>
                <a:prstDash val="solid"/>
                <a:round/>
                <a:headEnd type="arrow" w="med" len="med"/>
                <a:tailEnd type="none" w="med" len="med"/>
              </a:ln>
              <a:effectLst/>
            </p:spPr>
            <p:txBody>
              <a:bodyPr rtlCol="0" anchor="ctr"/>
              <a:lstStyle/>
              <a:p>
                <a:pPr algn="ctr"/>
                <a:endParaRPr lang="zh-CN" altLang="en-US">
                  <a:latin typeface="Times New Roman" pitchFamily="18" charset="0"/>
                  <a:cs typeface="Times New Roman" pitchFamily="18" charset="0"/>
                </a:endParaRPr>
              </a:p>
            </p:txBody>
          </p:sp>
          <p:sp>
            <p:nvSpPr>
              <p:cNvPr id="40" name="TextBox 39"/>
              <p:cNvSpPr txBox="1"/>
              <p:nvPr/>
            </p:nvSpPr>
            <p:spPr>
              <a:xfrm>
                <a:off x="7040761" y="2975520"/>
                <a:ext cx="1181266" cy="473207"/>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 </a:t>
                </a:r>
                <a:r>
                  <a:rPr lang="en-US" altLang="zh-CN" b="1">
                    <a:solidFill>
                      <a:srgbClr val="0033CC"/>
                    </a:solidFill>
                    <a:latin typeface="Times New Roman" pitchFamily="18" charset="0"/>
                    <a:cs typeface="Times New Roman" pitchFamily="18" charset="0"/>
                  </a:rPr>
                  <a:t>d</a:t>
                </a:r>
                <a:r>
                  <a:rPr lang="en-US" altLang="zh-CN" b="1" i="1">
                    <a:solidFill>
                      <a:srgbClr val="0033CC"/>
                    </a:solidFill>
                    <a:latin typeface="Times New Roman" pitchFamily="18" charset="0"/>
                    <a:cs typeface="Times New Roman" pitchFamily="18" charset="0"/>
                  </a:rPr>
                  <a:t>M</a:t>
                </a:r>
                <a:endParaRPr lang="en-US" altLang="zh-CN" b="1" i="1" baseline="-25000">
                  <a:solidFill>
                    <a:srgbClr val="0033CC"/>
                  </a:solidFill>
                  <a:latin typeface="Times New Roman" pitchFamily="18" charset="0"/>
                  <a:cs typeface="Times New Roman" pitchFamily="18" charset="0"/>
                </a:endParaRPr>
              </a:p>
            </p:txBody>
          </p:sp>
          <p:cxnSp>
            <p:nvCxnSpPr>
              <p:cNvPr id="41" name="直接连接符 40"/>
              <p:cNvCxnSpPr/>
              <p:nvPr/>
            </p:nvCxnSpPr>
            <p:spPr bwMode="auto">
              <a:xfrm>
                <a:off x="7886912" y="2584430"/>
                <a:ext cx="571504" cy="1587"/>
              </a:xfrm>
              <a:prstGeom prst="line">
                <a:avLst/>
              </a:prstGeom>
              <a:solidFill>
                <a:schemeClr val="accent1"/>
              </a:solidFill>
              <a:ln w="22225" cap="flat" cmpd="sng" algn="ctr">
                <a:solidFill>
                  <a:schemeClr val="tx1"/>
                </a:solidFill>
                <a:prstDash val="solid"/>
                <a:round/>
                <a:headEnd type="none" w="med" len="med"/>
                <a:tailEnd type="arrow"/>
              </a:ln>
              <a:effectLst/>
            </p:spPr>
          </p:cxnSp>
          <p:sp>
            <p:nvSpPr>
              <p:cNvPr id="42" name="TextBox 41"/>
              <p:cNvSpPr txBox="1"/>
              <p:nvPr/>
            </p:nvSpPr>
            <p:spPr>
              <a:xfrm>
                <a:off x="8259077" y="2545043"/>
                <a:ext cx="388498" cy="473207"/>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cxnSp>
            <p:nvCxnSpPr>
              <p:cNvPr id="43" name="直接连接符 42"/>
              <p:cNvCxnSpPr/>
              <p:nvPr/>
            </p:nvCxnSpPr>
            <p:spPr bwMode="auto">
              <a:xfrm rot="5400000">
                <a:off x="5214943" y="3314643"/>
                <a:ext cx="1428761" cy="1"/>
              </a:xfrm>
              <a:prstGeom prst="line">
                <a:avLst/>
              </a:prstGeom>
              <a:solidFill>
                <a:schemeClr val="accent1"/>
              </a:solidFill>
              <a:ln w="22225" cap="flat" cmpd="sng" algn="ctr">
                <a:solidFill>
                  <a:schemeClr val="tx1"/>
                </a:solidFill>
                <a:prstDash val="solid"/>
                <a:round/>
                <a:headEnd type="none" w="med" len="med"/>
                <a:tailEnd type="arrow"/>
              </a:ln>
              <a:effectLst/>
            </p:spPr>
          </p:cxnSp>
          <p:sp>
            <p:nvSpPr>
              <p:cNvPr id="44" name="TextBox 43"/>
              <p:cNvSpPr txBox="1"/>
              <p:nvPr/>
            </p:nvSpPr>
            <p:spPr>
              <a:xfrm>
                <a:off x="5556346" y="3671832"/>
                <a:ext cx="371895" cy="473207"/>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cxnSp>
            <p:nvCxnSpPr>
              <p:cNvPr id="45" name="直接连接符 44"/>
              <p:cNvCxnSpPr/>
              <p:nvPr/>
            </p:nvCxnSpPr>
            <p:spPr bwMode="auto">
              <a:xfrm rot="5400000">
                <a:off x="5004730" y="3523265"/>
                <a:ext cx="276750" cy="7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45"/>
              <p:cNvCxnSpPr/>
              <p:nvPr/>
            </p:nvCxnSpPr>
            <p:spPr bwMode="auto">
              <a:xfrm rot="5400000">
                <a:off x="6562718" y="3524058"/>
                <a:ext cx="276750" cy="7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p:nvPr/>
            </p:nvCxnSpPr>
            <p:spPr bwMode="auto">
              <a:xfrm>
                <a:off x="5143502" y="3508815"/>
                <a:ext cx="1571635" cy="1587"/>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48" name="TextBox 47"/>
              <p:cNvSpPr txBox="1"/>
              <p:nvPr/>
            </p:nvSpPr>
            <p:spPr>
              <a:xfrm>
                <a:off x="5687710" y="3292617"/>
                <a:ext cx="552640" cy="354905"/>
              </a:xfrm>
              <a:prstGeom prst="rect">
                <a:avLst/>
              </a:prstGeom>
              <a:solidFill>
                <a:schemeClr val="bg1"/>
              </a:solidFill>
              <a:ln w="28575">
                <a:noFill/>
              </a:ln>
            </p:spPr>
            <p:txBody>
              <a:bodyPr wrap="none" tIns="0" rIns="90000" bIns="0"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sp>
            <p:nvSpPr>
              <p:cNvPr id="49" name="TextBox 48"/>
              <p:cNvSpPr txBox="1"/>
              <p:nvPr/>
            </p:nvSpPr>
            <p:spPr>
              <a:xfrm>
                <a:off x="5570402" y="2607463"/>
                <a:ext cx="454907" cy="473207"/>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O</a:t>
                </a:r>
                <a:endParaRPr lang="zh-CN" altLang="en-US" b="1" i="1">
                  <a:latin typeface="Times New Roman" pitchFamily="18" charset="0"/>
                  <a:cs typeface="Times New Roman" pitchFamily="18" charset="0"/>
                </a:endParaRPr>
              </a:p>
            </p:txBody>
          </p:sp>
          <p:cxnSp>
            <p:nvCxnSpPr>
              <p:cNvPr id="50" name="直接连接符 49"/>
              <p:cNvCxnSpPr/>
              <p:nvPr/>
            </p:nvCxnSpPr>
            <p:spPr bwMode="auto">
              <a:xfrm rot="10800000" flipH="1">
                <a:off x="5718206" y="2613910"/>
                <a:ext cx="428628"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51" name="直接连接符 50"/>
              <p:cNvCxnSpPr/>
              <p:nvPr/>
            </p:nvCxnSpPr>
            <p:spPr bwMode="auto">
              <a:xfrm rot="10800000" flipH="1">
                <a:off x="6204624" y="2613910"/>
                <a:ext cx="428628" cy="1588"/>
              </a:xfrm>
              <a:prstGeom prst="line">
                <a:avLst/>
              </a:prstGeom>
              <a:solidFill>
                <a:schemeClr val="accent1"/>
              </a:solidFill>
              <a:ln w="28575" cap="flat" cmpd="sng" algn="ctr">
                <a:solidFill>
                  <a:srgbClr val="C00000"/>
                </a:solidFill>
                <a:prstDash val="solid"/>
                <a:round/>
                <a:headEnd type="none" w="med" len="med"/>
                <a:tailEnd type="arrow"/>
              </a:ln>
              <a:effectLst/>
            </p:spPr>
          </p:cxnSp>
          <p:sp>
            <p:nvSpPr>
              <p:cNvPr id="52" name="TextBox 51"/>
              <p:cNvSpPr txBox="1"/>
              <p:nvPr/>
            </p:nvSpPr>
            <p:spPr>
              <a:xfrm>
                <a:off x="5779101" y="2042727"/>
                <a:ext cx="388498" cy="473207"/>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p</a:t>
                </a:r>
                <a:endParaRPr lang="zh-CN" altLang="en-US" b="1" i="1" baseline="-25000">
                  <a:solidFill>
                    <a:srgbClr val="C00000"/>
                  </a:solidFill>
                  <a:latin typeface="Times New Roman" pitchFamily="18" charset="0"/>
                  <a:cs typeface="Times New Roman" pitchFamily="18" charset="0"/>
                </a:endParaRPr>
              </a:p>
            </p:txBody>
          </p:sp>
          <p:cxnSp>
            <p:nvCxnSpPr>
              <p:cNvPr id="53" name="直接连接符 52"/>
              <p:cNvCxnSpPr/>
              <p:nvPr/>
            </p:nvCxnSpPr>
            <p:spPr bwMode="auto">
              <a:xfrm>
                <a:off x="5143504" y="1588458"/>
                <a:ext cx="1571636" cy="1588"/>
              </a:xfrm>
              <a:prstGeom prst="line">
                <a:avLst/>
              </a:prstGeom>
              <a:solidFill>
                <a:schemeClr val="accent1"/>
              </a:solidFill>
              <a:ln w="28575" cap="flat" cmpd="sng" algn="ctr">
                <a:solidFill>
                  <a:srgbClr val="C00000"/>
                </a:solidFill>
                <a:prstDash val="solid"/>
                <a:round/>
                <a:headEnd type="none" w="med" len="med"/>
                <a:tailEnd type="none"/>
              </a:ln>
              <a:effectLst/>
            </p:spPr>
          </p:cxnSp>
          <p:cxnSp>
            <p:nvCxnSpPr>
              <p:cNvPr id="55" name="直接连接符 54"/>
              <p:cNvCxnSpPr/>
              <p:nvPr/>
            </p:nvCxnSpPr>
            <p:spPr bwMode="auto">
              <a:xfrm rot="5400000">
                <a:off x="4965703" y="1767847"/>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56" name="直接连接符 55"/>
              <p:cNvCxnSpPr/>
              <p:nvPr/>
            </p:nvCxnSpPr>
            <p:spPr bwMode="auto">
              <a:xfrm rot="5400000">
                <a:off x="6522897" y="1775915"/>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57" name="直接连接符 56"/>
              <p:cNvCxnSpPr/>
              <p:nvPr/>
            </p:nvCxnSpPr>
            <p:spPr bwMode="auto">
              <a:xfrm rot="5400000">
                <a:off x="5750727" y="1775915"/>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58" name="直接连接符 57"/>
              <p:cNvCxnSpPr/>
              <p:nvPr/>
            </p:nvCxnSpPr>
            <p:spPr bwMode="auto">
              <a:xfrm rot="5400000">
                <a:off x="5468173" y="1775915"/>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59" name="直接连接符 58"/>
              <p:cNvCxnSpPr/>
              <p:nvPr/>
            </p:nvCxnSpPr>
            <p:spPr bwMode="auto">
              <a:xfrm rot="5400000">
                <a:off x="6259633" y="1775915"/>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60" name="直接连接符 59"/>
              <p:cNvCxnSpPr/>
              <p:nvPr/>
            </p:nvCxnSpPr>
            <p:spPr bwMode="auto">
              <a:xfrm rot="5400000">
                <a:off x="6007573" y="1775915"/>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cxnSp>
            <p:nvCxnSpPr>
              <p:cNvPr id="61" name="直接连接符 60"/>
              <p:cNvCxnSpPr/>
              <p:nvPr/>
            </p:nvCxnSpPr>
            <p:spPr bwMode="auto">
              <a:xfrm rot="5400000">
                <a:off x="5223365" y="1778187"/>
                <a:ext cx="355602" cy="1588"/>
              </a:xfrm>
              <a:prstGeom prst="line">
                <a:avLst/>
              </a:prstGeom>
              <a:solidFill>
                <a:schemeClr val="accent1"/>
              </a:solidFill>
              <a:ln w="28575" cap="flat" cmpd="sng" algn="ctr">
                <a:solidFill>
                  <a:srgbClr val="C00000"/>
                </a:solidFill>
                <a:prstDash val="solid"/>
                <a:round/>
                <a:headEnd type="none" w="med" len="med"/>
                <a:tailEnd type="arrow"/>
              </a:ln>
              <a:effectLst/>
            </p:spPr>
          </p:cxnSp>
        </p:grpSp>
        <p:sp>
          <p:nvSpPr>
            <p:cNvPr id="21" name="TextBox 20"/>
            <p:cNvSpPr txBox="1"/>
            <p:nvPr/>
          </p:nvSpPr>
          <p:spPr>
            <a:xfrm>
              <a:off x="5371043" y="2980280"/>
              <a:ext cx="388498" cy="473207"/>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endParaRPr lang="zh-CN" altLang="en-US" b="1" i="1" baseline="-25000">
                <a:solidFill>
                  <a:srgbClr val="C00000"/>
                </a:solidFill>
                <a:latin typeface="Times New Roman" pitchFamily="18" charset="0"/>
                <a:cs typeface="Times New Roman" pitchFamily="18" charset="0"/>
              </a:endParaRPr>
            </a:p>
          </p:txBody>
        </p:sp>
      </p:grpSp>
      <p:graphicFrame>
        <p:nvGraphicFramePr>
          <p:cNvPr id="62" name="Object 2"/>
          <p:cNvGraphicFramePr>
            <a:graphicFrameLocks noChangeAspect="1"/>
          </p:cNvGraphicFramePr>
          <p:nvPr/>
        </p:nvGraphicFramePr>
        <p:xfrm>
          <a:off x="2357422" y="3108325"/>
          <a:ext cx="1674812" cy="1257300"/>
        </p:xfrm>
        <a:graphic>
          <a:graphicData uri="http://schemas.openxmlformats.org/presentationml/2006/ole">
            <mc:AlternateContent xmlns:mc="http://schemas.openxmlformats.org/markup-compatibility/2006">
              <mc:Choice xmlns:v="urn:schemas-microsoft-com:vml" Requires="v">
                <p:oleObj spid="_x0000_s584711" name="Equation" r:id="rId4" imgW="1015920" imgH="761760" progId="Equation.DSMT4">
                  <p:embed/>
                </p:oleObj>
              </mc:Choice>
              <mc:Fallback>
                <p:oleObj name="Equation" r:id="rId4" imgW="1015920" imgH="76176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22" y="3108325"/>
                        <a:ext cx="1674812"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710" name="Object 2"/>
          <p:cNvGraphicFramePr>
            <a:graphicFrameLocks noChangeAspect="1"/>
          </p:cNvGraphicFramePr>
          <p:nvPr/>
        </p:nvGraphicFramePr>
        <p:xfrm>
          <a:off x="2357422" y="4857760"/>
          <a:ext cx="1549400" cy="1214438"/>
        </p:xfrm>
        <a:graphic>
          <a:graphicData uri="http://schemas.openxmlformats.org/presentationml/2006/ole">
            <mc:AlternateContent xmlns:mc="http://schemas.openxmlformats.org/markup-compatibility/2006">
              <mc:Choice xmlns:v="urn:schemas-microsoft-com:vml" Requires="v">
                <p:oleObj spid="_x0000_s584712" name="Equation" r:id="rId6" imgW="939600" imgH="736560" progId="Equation.DSMT4">
                  <p:embed/>
                </p:oleObj>
              </mc:Choice>
              <mc:Fallback>
                <p:oleObj name="Equation" r:id="rId6" imgW="939600" imgH="73656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7422" y="4857760"/>
                        <a:ext cx="1549400" cy="121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3" name="组合 112"/>
          <p:cNvGrpSpPr/>
          <p:nvPr/>
        </p:nvGrpSpPr>
        <p:grpSpPr>
          <a:xfrm>
            <a:off x="5357817" y="4419480"/>
            <a:ext cx="3535053" cy="1724163"/>
            <a:chOff x="5357817" y="3990851"/>
            <a:chExt cx="3535053" cy="1724163"/>
          </a:xfrm>
        </p:grpSpPr>
        <p:grpSp>
          <p:nvGrpSpPr>
            <p:cNvPr id="78" name="组合 77"/>
            <p:cNvGrpSpPr/>
            <p:nvPr/>
          </p:nvGrpSpPr>
          <p:grpSpPr>
            <a:xfrm>
              <a:off x="5357817" y="4096656"/>
              <a:ext cx="3535053" cy="1618358"/>
              <a:chOff x="3571868" y="1590464"/>
              <a:chExt cx="4474079" cy="2089238"/>
            </a:xfrm>
          </p:grpSpPr>
          <p:cxnSp>
            <p:nvCxnSpPr>
              <p:cNvPr id="79" name="直接箭头连接符 78"/>
              <p:cNvCxnSpPr/>
              <p:nvPr/>
            </p:nvCxnSpPr>
            <p:spPr bwMode="auto">
              <a:xfrm rot="5400000" flipH="1" flipV="1">
                <a:off x="3797799" y="2670969"/>
                <a:ext cx="1285884" cy="1463"/>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cxnSp>
            <p:nvCxnSpPr>
              <p:cNvPr id="80" name="直接箭头连接符 79"/>
              <p:cNvCxnSpPr/>
              <p:nvPr/>
            </p:nvCxnSpPr>
            <p:spPr bwMode="auto">
              <a:xfrm rot="5400000" flipH="1" flipV="1">
                <a:off x="5717362" y="2684616"/>
                <a:ext cx="1285884" cy="1463"/>
              </a:xfrm>
              <a:prstGeom prst="straightConnector1">
                <a:avLst/>
              </a:prstGeom>
              <a:solidFill>
                <a:schemeClr val="accent1"/>
              </a:solidFill>
              <a:ln w="28575" cap="flat" cmpd="sng" algn="ctr">
                <a:solidFill>
                  <a:srgbClr val="0033CC"/>
                </a:solidFill>
                <a:prstDash val="solid"/>
                <a:round/>
                <a:headEnd type="arrow" w="med" len="med"/>
                <a:tailEnd type="none"/>
              </a:ln>
              <a:effectLst/>
            </p:spPr>
          </p:cxnSp>
          <p:sp>
            <p:nvSpPr>
              <p:cNvPr id="81" name="TextBox 80"/>
              <p:cNvSpPr txBox="1"/>
              <p:nvPr/>
            </p:nvSpPr>
            <p:spPr>
              <a:xfrm>
                <a:off x="3911004" y="1590464"/>
                <a:ext cx="580647"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endParaRPr lang="zh-CN" altLang="en-US" b="1" baseline="-25000">
                  <a:solidFill>
                    <a:srgbClr val="0033CC"/>
                  </a:solidFill>
                  <a:latin typeface="Times New Roman" pitchFamily="18" charset="0"/>
                  <a:cs typeface="Times New Roman" pitchFamily="18" charset="0"/>
                </a:endParaRPr>
              </a:p>
            </p:txBody>
          </p:sp>
          <p:sp>
            <p:nvSpPr>
              <p:cNvPr id="82" name="TextBox 81"/>
              <p:cNvSpPr txBox="1"/>
              <p:nvPr/>
            </p:nvSpPr>
            <p:spPr>
              <a:xfrm>
                <a:off x="6332048" y="1743006"/>
                <a:ext cx="1349566"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r>
                  <a:rPr lang="en-US" altLang="zh-CN" b="1" i="1">
                    <a:solidFill>
                      <a:srgbClr val="0033CC"/>
                    </a:solidFill>
                    <a:latin typeface="Times New Roman" pitchFamily="18" charset="0"/>
                    <a:cs typeface="Times New Roman" pitchFamily="18" charset="0"/>
                  </a:rPr>
                  <a:t>+ </a:t>
                </a:r>
                <a:r>
                  <a:rPr lang="el-GR" altLang="zh-CN" b="1">
                    <a:solidFill>
                      <a:srgbClr val="0033CC"/>
                    </a:solidFill>
                    <a:latin typeface="Times New Roman" pitchFamily="18" charset="0"/>
                    <a:cs typeface="Times New Roman" pitchFamily="18" charset="0"/>
                  </a:rPr>
                  <a:t>Δ</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endParaRPr lang="en-US" altLang="zh-CN" b="1" i="1" baseline="-25000">
                  <a:solidFill>
                    <a:srgbClr val="0033CC"/>
                  </a:solidFill>
                  <a:latin typeface="Times New Roman" pitchFamily="18" charset="0"/>
                  <a:cs typeface="Times New Roman" pitchFamily="18" charset="0"/>
                </a:endParaRPr>
              </a:p>
            </p:txBody>
          </p:sp>
          <p:sp>
            <p:nvSpPr>
              <p:cNvPr id="83" name="TextBox 82"/>
              <p:cNvSpPr txBox="1"/>
              <p:nvPr/>
            </p:nvSpPr>
            <p:spPr>
              <a:xfrm>
                <a:off x="3605016" y="2127854"/>
                <a:ext cx="568474"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endParaRPr lang="zh-CN" altLang="en-US" b="1" baseline="-25000">
                  <a:solidFill>
                    <a:srgbClr val="0033CC"/>
                  </a:solidFill>
                  <a:latin typeface="Times New Roman" pitchFamily="18" charset="0"/>
                  <a:cs typeface="Times New Roman" pitchFamily="18" charset="0"/>
                </a:endParaRPr>
              </a:p>
            </p:txBody>
          </p:sp>
          <p:sp>
            <p:nvSpPr>
              <p:cNvPr id="84" name="矩形 83"/>
              <p:cNvSpPr/>
              <p:nvPr/>
            </p:nvSpPr>
            <p:spPr bwMode="auto">
              <a:xfrm>
                <a:off x="4618182" y="2028758"/>
                <a:ext cx="1548573" cy="1285884"/>
              </a:xfrm>
              <a:prstGeom prst="rect">
                <a:avLst/>
              </a:prstGeom>
              <a:solidFill>
                <a:srgbClr val="FFFFCC"/>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Times New Roman" pitchFamily="18" charset="0"/>
                  <a:ea typeface="华文细黑" pitchFamily="2" charset="-122"/>
                  <a:cs typeface="Times New Roman" pitchFamily="18" charset="0"/>
                </a:endParaRPr>
              </a:p>
            </p:txBody>
          </p:sp>
          <p:cxnSp>
            <p:nvCxnSpPr>
              <p:cNvPr id="85" name="直接箭头连接符 84"/>
              <p:cNvCxnSpPr/>
              <p:nvPr/>
            </p:nvCxnSpPr>
            <p:spPr bwMode="auto">
              <a:xfrm rot="10800000" flipV="1">
                <a:off x="3571868" y="2688546"/>
                <a:ext cx="1021116" cy="13648"/>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cxnSp>
            <p:nvCxnSpPr>
              <p:cNvPr id="86" name="直接箭头连接符 85"/>
              <p:cNvCxnSpPr/>
              <p:nvPr/>
            </p:nvCxnSpPr>
            <p:spPr bwMode="auto">
              <a:xfrm rot="10800000" flipV="1">
                <a:off x="6189819" y="2661250"/>
                <a:ext cx="1184632" cy="13648"/>
              </a:xfrm>
              <a:prstGeom prst="straightConnector1">
                <a:avLst/>
              </a:prstGeom>
              <a:solidFill>
                <a:schemeClr val="accent1"/>
              </a:solidFill>
              <a:ln w="28575" cap="flat" cmpd="sng" algn="ctr">
                <a:solidFill>
                  <a:srgbClr val="0033CC"/>
                </a:solidFill>
                <a:prstDash val="solid"/>
                <a:round/>
                <a:headEnd type="arrow" w="med" len="med"/>
                <a:tailEnd type="none"/>
              </a:ln>
              <a:effectLst/>
            </p:spPr>
          </p:cxnSp>
          <p:sp>
            <p:nvSpPr>
              <p:cNvPr id="87" name="TextBox 86"/>
              <p:cNvSpPr txBox="1"/>
              <p:nvPr/>
            </p:nvSpPr>
            <p:spPr>
              <a:xfrm>
                <a:off x="6720727" y="2157797"/>
                <a:ext cx="1325220"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r>
                  <a:rPr lang="en-US" altLang="zh-CN" b="1" i="1">
                    <a:solidFill>
                      <a:srgbClr val="0033CC"/>
                    </a:solidFill>
                    <a:latin typeface="Times New Roman" pitchFamily="18" charset="0"/>
                    <a:cs typeface="Times New Roman" pitchFamily="18" charset="0"/>
                  </a:rPr>
                  <a:t>+ </a:t>
                </a:r>
                <a:r>
                  <a:rPr lang="el-GR" altLang="zh-CN" b="1">
                    <a:solidFill>
                      <a:srgbClr val="0033CC"/>
                    </a:solidFill>
                    <a:latin typeface="Times New Roman" pitchFamily="18" charset="0"/>
                    <a:cs typeface="Times New Roman" pitchFamily="18" charset="0"/>
                  </a:rPr>
                  <a:t>Δ</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endParaRPr lang="en-US" altLang="zh-CN" b="1" i="1" baseline="-25000">
                  <a:solidFill>
                    <a:srgbClr val="0033CC"/>
                  </a:solidFill>
                  <a:latin typeface="Times New Roman" pitchFamily="18" charset="0"/>
                  <a:cs typeface="Times New Roman" pitchFamily="18" charset="0"/>
                </a:endParaRPr>
              </a:p>
            </p:txBody>
          </p:sp>
          <p:sp>
            <p:nvSpPr>
              <p:cNvPr id="88" name="弧形 87"/>
              <p:cNvSpPr/>
              <p:nvPr/>
            </p:nvSpPr>
            <p:spPr bwMode="auto">
              <a:xfrm rot="13592355">
                <a:off x="4107522" y="2100321"/>
                <a:ext cx="1366457" cy="1345805"/>
              </a:xfrm>
              <a:prstGeom prst="arc">
                <a:avLst>
                  <a:gd name="adj1" fmla="val 16335112"/>
                  <a:gd name="adj2" fmla="val 202571"/>
                </a:avLst>
              </a:prstGeom>
              <a:noFill/>
              <a:ln w="28575" cap="flat" cmpd="sng" algn="ctr">
                <a:solidFill>
                  <a:srgbClr val="0033CC"/>
                </a:solidFill>
                <a:prstDash val="solid"/>
                <a:round/>
                <a:headEnd type="none" w="med" len="med"/>
                <a:tailEnd type="arrow"/>
              </a:ln>
              <a:effectLst/>
            </p:spPr>
            <p:txBody>
              <a:bodyPr rtlCol="0" anchor="ctr"/>
              <a:lstStyle/>
              <a:p>
                <a:pPr algn="ctr"/>
                <a:endParaRPr lang="zh-CN" altLang="en-US">
                  <a:latin typeface="Times New Roman" pitchFamily="18" charset="0"/>
                  <a:cs typeface="Times New Roman" pitchFamily="18" charset="0"/>
                </a:endParaRPr>
              </a:p>
            </p:txBody>
          </p:sp>
          <p:sp>
            <p:nvSpPr>
              <p:cNvPr id="89" name="TextBox 88"/>
              <p:cNvSpPr txBox="1"/>
              <p:nvPr/>
            </p:nvSpPr>
            <p:spPr>
              <a:xfrm>
                <a:off x="3783975" y="3063804"/>
                <a:ext cx="493407"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a:t>
                </a:r>
                <a:endParaRPr lang="en-US" altLang="zh-CN" b="1" i="1" baseline="-25000">
                  <a:solidFill>
                    <a:srgbClr val="0033CC"/>
                  </a:solidFill>
                  <a:latin typeface="Times New Roman" pitchFamily="18" charset="0"/>
                  <a:cs typeface="Times New Roman" pitchFamily="18" charset="0"/>
                </a:endParaRPr>
              </a:p>
            </p:txBody>
          </p:sp>
          <p:sp>
            <p:nvSpPr>
              <p:cNvPr id="90" name="弧形 89"/>
              <p:cNvSpPr/>
              <p:nvPr/>
            </p:nvSpPr>
            <p:spPr bwMode="auto">
              <a:xfrm rot="8007645" flipH="1">
                <a:off x="5335617" y="2068444"/>
                <a:ext cx="1366457" cy="1345805"/>
              </a:xfrm>
              <a:prstGeom prst="arc">
                <a:avLst>
                  <a:gd name="adj1" fmla="val 16335112"/>
                  <a:gd name="adj2" fmla="val 202571"/>
                </a:avLst>
              </a:prstGeom>
              <a:noFill/>
              <a:ln w="28575" cap="flat" cmpd="sng" algn="ctr">
                <a:solidFill>
                  <a:srgbClr val="0033CC"/>
                </a:solidFill>
                <a:prstDash val="solid"/>
                <a:round/>
                <a:headEnd type="none" w="med" len="med"/>
                <a:tailEnd type="arrow"/>
              </a:ln>
              <a:effectLst/>
            </p:spPr>
            <p:txBody>
              <a:bodyPr rtlCol="0" anchor="ctr"/>
              <a:lstStyle/>
              <a:p>
                <a:pPr algn="ctr"/>
                <a:endParaRPr lang="zh-CN" altLang="en-US">
                  <a:latin typeface="Times New Roman" pitchFamily="18" charset="0"/>
                  <a:cs typeface="Times New Roman" pitchFamily="18" charset="0"/>
                </a:endParaRPr>
              </a:p>
            </p:txBody>
          </p:sp>
          <p:sp>
            <p:nvSpPr>
              <p:cNvPr id="91" name="TextBox 90"/>
              <p:cNvSpPr txBox="1"/>
              <p:nvPr/>
            </p:nvSpPr>
            <p:spPr>
              <a:xfrm>
                <a:off x="6547008" y="3046958"/>
                <a:ext cx="1175087" cy="476793"/>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 </a:t>
                </a:r>
                <a:r>
                  <a:rPr lang="el-GR" altLang="zh-CN" b="1">
                    <a:solidFill>
                      <a:srgbClr val="0033CC"/>
                    </a:solidFill>
                    <a:latin typeface="Times New Roman" pitchFamily="18" charset="0"/>
                    <a:cs typeface="Times New Roman" pitchFamily="18" charset="0"/>
                  </a:rPr>
                  <a:t>Δ</a:t>
                </a:r>
                <a:r>
                  <a:rPr lang="en-US" altLang="zh-CN" b="1" i="1">
                    <a:solidFill>
                      <a:srgbClr val="0033CC"/>
                    </a:solidFill>
                    <a:latin typeface="Times New Roman" pitchFamily="18" charset="0"/>
                    <a:cs typeface="Times New Roman" pitchFamily="18" charset="0"/>
                  </a:rPr>
                  <a:t>M</a:t>
                </a:r>
                <a:endParaRPr lang="en-US" altLang="zh-CN" b="1" i="1" baseline="-25000">
                  <a:solidFill>
                    <a:srgbClr val="0033CC"/>
                  </a:solidFill>
                  <a:latin typeface="Times New Roman" pitchFamily="18" charset="0"/>
                  <a:cs typeface="Times New Roman" pitchFamily="18" charset="0"/>
                </a:endParaRPr>
              </a:p>
            </p:txBody>
          </p:sp>
          <p:cxnSp>
            <p:nvCxnSpPr>
              <p:cNvPr id="92" name="直接连接符 91"/>
              <p:cNvCxnSpPr/>
              <p:nvPr/>
            </p:nvCxnSpPr>
            <p:spPr bwMode="auto">
              <a:xfrm>
                <a:off x="7337988" y="2655747"/>
                <a:ext cx="571504" cy="1588"/>
              </a:xfrm>
              <a:prstGeom prst="line">
                <a:avLst/>
              </a:prstGeom>
              <a:solidFill>
                <a:schemeClr val="accent1"/>
              </a:solidFill>
              <a:ln w="22225" cap="flat" cmpd="sng" algn="ctr">
                <a:solidFill>
                  <a:schemeClr val="tx1"/>
                </a:solidFill>
                <a:prstDash val="solid"/>
                <a:round/>
                <a:headEnd type="none" w="med" len="med"/>
                <a:tailEnd type="arrow"/>
              </a:ln>
              <a:effectLst/>
            </p:spPr>
          </p:cxnSp>
          <p:sp>
            <p:nvSpPr>
              <p:cNvPr id="93" name="TextBox 92"/>
              <p:cNvSpPr txBox="1"/>
              <p:nvPr/>
            </p:nvSpPr>
            <p:spPr>
              <a:xfrm>
                <a:off x="7697301" y="2598655"/>
                <a:ext cx="300083"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cxnSp>
            <p:nvCxnSpPr>
              <p:cNvPr id="94" name="直接连接符 93"/>
              <p:cNvCxnSpPr/>
              <p:nvPr/>
            </p:nvCxnSpPr>
            <p:spPr bwMode="auto">
              <a:xfrm rot="5400000">
                <a:off x="4900001" y="3175701"/>
                <a:ext cx="1008000" cy="1"/>
              </a:xfrm>
              <a:prstGeom prst="line">
                <a:avLst/>
              </a:prstGeom>
              <a:solidFill>
                <a:schemeClr val="accent1"/>
              </a:solidFill>
              <a:ln w="22225" cap="flat" cmpd="sng" algn="ctr">
                <a:solidFill>
                  <a:schemeClr val="tx1"/>
                </a:solidFill>
                <a:prstDash val="solid"/>
                <a:round/>
                <a:headEnd type="none" w="med" len="med"/>
                <a:tailEnd type="arrow"/>
              </a:ln>
              <a:effectLst/>
            </p:spPr>
          </p:cxnSp>
          <p:sp>
            <p:nvSpPr>
              <p:cNvPr id="95" name="TextBox 94"/>
              <p:cNvSpPr txBox="1"/>
              <p:nvPr/>
            </p:nvSpPr>
            <p:spPr>
              <a:xfrm>
                <a:off x="5046810" y="3286124"/>
                <a:ext cx="28725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y</a:t>
                </a:r>
                <a:endParaRPr lang="zh-CN" altLang="en-US" b="1" i="1">
                  <a:latin typeface="Times New Roman" pitchFamily="18" charset="0"/>
                  <a:cs typeface="Times New Roman" pitchFamily="18" charset="0"/>
                </a:endParaRPr>
              </a:p>
            </p:txBody>
          </p:sp>
          <p:sp>
            <p:nvSpPr>
              <p:cNvPr id="96" name="TextBox 95"/>
              <p:cNvSpPr txBox="1"/>
              <p:nvPr/>
            </p:nvSpPr>
            <p:spPr>
              <a:xfrm>
                <a:off x="5074106" y="2428868"/>
                <a:ext cx="351378"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O</a:t>
                </a:r>
                <a:endParaRPr lang="zh-CN" altLang="en-US" b="1" i="1">
                  <a:latin typeface="Times New Roman" pitchFamily="18" charset="0"/>
                  <a:cs typeface="Times New Roman" pitchFamily="18" charset="0"/>
                </a:endParaRPr>
              </a:p>
            </p:txBody>
          </p:sp>
          <p:cxnSp>
            <p:nvCxnSpPr>
              <p:cNvPr id="97" name="直接连接符 96"/>
              <p:cNvCxnSpPr/>
              <p:nvPr/>
            </p:nvCxnSpPr>
            <p:spPr bwMode="auto">
              <a:xfrm rot="10800000" flipH="1">
                <a:off x="5412410" y="2685348"/>
                <a:ext cx="612000" cy="1588"/>
              </a:xfrm>
              <a:prstGeom prst="line">
                <a:avLst/>
              </a:prstGeom>
              <a:solidFill>
                <a:schemeClr val="accent1"/>
              </a:solidFill>
              <a:ln w="28575" cap="flat" cmpd="sng" algn="ctr">
                <a:solidFill>
                  <a:srgbClr val="C00000"/>
                </a:solidFill>
                <a:prstDash val="solid"/>
                <a:round/>
                <a:headEnd type="none" w="med" len="med"/>
                <a:tailEnd type="arrow"/>
              </a:ln>
              <a:effectLst/>
            </p:spPr>
          </p:cxnSp>
          <p:sp>
            <p:nvSpPr>
              <p:cNvPr id="98" name="TextBox 97"/>
              <p:cNvSpPr txBox="1"/>
              <p:nvPr/>
            </p:nvSpPr>
            <p:spPr>
              <a:xfrm>
                <a:off x="5657220" y="2255499"/>
                <a:ext cx="525868" cy="476793"/>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i="1" baseline="-25000">
                    <a:solidFill>
                      <a:srgbClr val="C00000"/>
                    </a:solidFill>
                    <a:latin typeface="Times New Roman" pitchFamily="18" charset="0"/>
                    <a:cs typeface="Times New Roman" pitchFamily="18" charset="0"/>
                  </a:rPr>
                  <a:t>x</a:t>
                </a:r>
                <a:endParaRPr lang="zh-CN" altLang="en-US" b="1" i="1" baseline="-25000">
                  <a:solidFill>
                    <a:srgbClr val="C00000"/>
                  </a:solidFill>
                  <a:latin typeface="Times New Roman" pitchFamily="18" charset="0"/>
                  <a:cs typeface="Times New Roman" pitchFamily="18" charset="0"/>
                </a:endParaRPr>
              </a:p>
            </p:txBody>
          </p:sp>
          <p:cxnSp>
            <p:nvCxnSpPr>
              <p:cNvPr id="99" name="直接连接符 98"/>
              <p:cNvCxnSpPr/>
              <p:nvPr/>
            </p:nvCxnSpPr>
            <p:spPr bwMode="auto">
              <a:xfrm rot="5400000">
                <a:off x="5151927" y="2936563"/>
                <a:ext cx="500066" cy="1588"/>
              </a:xfrm>
              <a:prstGeom prst="line">
                <a:avLst/>
              </a:prstGeom>
              <a:solidFill>
                <a:schemeClr val="accent1"/>
              </a:solidFill>
              <a:ln w="28575" cap="flat" cmpd="sng" algn="ctr">
                <a:solidFill>
                  <a:srgbClr val="C00000"/>
                </a:solidFill>
                <a:prstDash val="solid"/>
                <a:round/>
                <a:headEnd type="none" w="med" len="med"/>
                <a:tailEnd type="arrow"/>
              </a:ln>
              <a:effectLst/>
            </p:spPr>
          </p:cxnSp>
          <p:sp>
            <p:nvSpPr>
              <p:cNvPr id="100" name="TextBox 99"/>
              <p:cNvSpPr txBox="1"/>
              <p:nvPr/>
            </p:nvSpPr>
            <p:spPr>
              <a:xfrm>
                <a:off x="5429258" y="2857497"/>
                <a:ext cx="515725" cy="476793"/>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i="1" baseline="-25000">
                    <a:solidFill>
                      <a:srgbClr val="C00000"/>
                    </a:solidFill>
                    <a:latin typeface="Times New Roman" pitchFamily="18" charset="0"/>
                    <a:cs typeface="Times New Roman" pitchFamily="18" charset="0"/>
                  </a:rPr>
                  <a:t>y</a:t>
                </a:r>
                <a:endParaRPr lang="zh-CN" altLang="en-US" b="1" i="1" baseline="-25000">
                  <a:solidFill>
                    <a:srgbClr val="C00000"/>
                  </a:solidFill>
                  <a:latin typeface="Times New Roman" pitchFamily="18" charset="0"/>
                  <a:cs typeface="Times New Roman" pitchFamily="18" charset="0"/>
                </a:endParaRPr>
              </a:p>
            </p:txBody>
          </p:sp>
          <p:sp>
            <p:nvSpPr>
              <p:cNvPr id="101" name="弧形 100"/>
              <p:cNvSpPr/>
              <p:nvPr/>
            </p:nvSpPr>
            <p:spPr bwMode="auto">
              <a:xfrm rot="12472851">
                <a:off x="4909138" y="2351644"/>
                <a:ext cx="763769" cy="714888"/>
              </a:xfrm>
              <a:prstGeom prst="arc">
                <a:avLst>
                  <a:gd name="adj1" fmla="val 16335112"/>
                  <a:gd name="adj2" fmla="val 3411874"/>
                </a:avLst>
              </a:prstGeom>
              <a:noFill/>
              <a:ln w="22225" cap="flat" cmpd="sng" algn="ctr">
                <a:solidFill>
                  <a:srgbClr val="C00000"/>
                </a:solidFill>
                <a:prstDash val="solid"/>
                <a:round/>
                <a:headEnd type="none" w="med" len="med"/>
                <a:tailEnd type="arrow"/>
              </a:ln>
              <a:effectLst/>
            </p:spPr>
            <p:txBody>
              <a:bodyPr rtlCol="0" anchor="ctr"/>
              <a:lstStyle/>
              <a:p>
                <a:pPr algn="ctr"/>
                <a:endParaRPr lang="zh-CN" altLang="en-US">
                  <a:ln w="19050">
                    <a:solidFill>
                      <a:schemeClr val="tx1"/>
                    </a:solidFill>
                  </a:ln>
                  <a:latin typeface="Times New Roman" pitchFamily="18" charset="0"/>
                  <a:cs typeface="Times New Roman" pitchFamily="18" charset="0"/>
                </a:endParaRPr>
              </a:p>
            </p:txBody>
          </p:sp>
          <p:sp>
            <p:nvSpPr>
              <p:cNvPr id="102" name="TextBox 101"/>
              <p:cNvSpPr txBox="1"/>
              <p:nvPr/>
            </p:nvSpPr>
            <p:spPr>
              <a:xfrm>
                <a:off x="5202425" y="2071679"/>
                <a:ext cx="590790" cy="476793"/>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baseline="-25000">
                    <a:solidFill>
                      <a:srgbClr val="C00000"/>
                    </a:solidFill>
                    <a:latin typeface="Times New Roman" pitchFamily="18" charset="0"/>
                    <a:cs typeface="Times New Roman" pitchFamily="18" charset="0"/>
                  </a:rPr>
                  <a:t>0</a:t>
                </a:r>
                <a:endParaRPr lang="zh-CN" altLang="en-US" b="1" baseline="-25000">
                  <a:solidFill>
                    <a:srgbClr val="C00000"/>
                  </a:solidFill>
                  <a:latin typeface="Times New Roman" pitchFamily="18" charset="0"/>
                  <a:cs typeface="Times New Roman" pitchFamily="18" charset="0"/>
                </a:endParaRPr>
              </a:p>
            </p:txBody>
          </p:sp>
        </p:grpSp>
        <p:grpSp>
          <p:nvGrpSpPr>
            <p:cNvPr id="107" name="组合 67"/>
            <p:cNvGrpSpPr/>
            <p:nvPr/>
          </p:nvGrpSpPr>
          <p:grpSpPr>
            <a:xfrm>
              <a:off x="6202592" y="3990851"/>
              <a:ext cx="1214571" cy="288947"/>
              <a:chOff x="6214949" y="5500702"/>
              <a:chExt cx="1214571" cy="288947"/>
            </a:xfrm>
          </p:grpSpPr>
          <p:cxnSp>
            <p:nvCxnSpPr>
              <p:cNvPr id="108" name="直接连接符 107"/>
              <p:cNvCxnSpPr/>
              <p:nvPr/>
            </p:nvCxnSpPr>
            <p:spPr bwMode="auto">
              <a:xfrm rot="5400000">
                <a:off x="6107256" y="5680723"/>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9" name="直接连接符 108"/>
              <p:cNvCxnSpPr/>
              <p:nvPr/>
            </p:nvCxnSpPr>
            <p:spPr bwMode="auto">
              <a:xfrm rot="5400000">
                <a:off x="7310672" y="5681342"/>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0" name="直接连接符 109"/>
              <p:cNvCxnSpPr/>
              <p:nvPr/>
            </p:nvCxnSpPr>
            <p:spPr bwMode="auto">
              <a:xfrm>
                <a:off x="6215563" y="5669442"/>
                <a:ext cx="1213957"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11" name="TextBox 110"/>
              <p:cNvSpPr txBox="1"/>
              <p:nvPr/>
            </p:nvSpPr>
            <p:spPr>
              <a:xfrm>
                <a:off x="6635918" y="5500702"/>
                <a:ext cx="426868" cy="276999"/>
              </a:xfrm>
              <a:prstGeom prst="rect">
                <a:avLst/>
              </a:prstGeom>
              <a:solidFill>
                <a:schemeClr val="bg1"/>
              </a:solidFill>
              <a:ln w="28575">
                <a:noFill/>
              </a:ln>
            </p:spPr>
            <p:txBody>
              <a:bodyPr wrap="none" tIns="0" rIns="90000" bIns="0"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up)">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
                                            <p:txEl>
                                              <p:pRg st="1" end="1"/>
                                            </p:txEl>
                                          </p:spTgt>
                                        </p:tgtEl>
                                        <p:attrNameLst>
                                          <p:attrName>style.visibility</p:attrName>
                                        </p:attrNameLst>
                                      </p:cBhvr>
                                      <p:to>
                                        <p:strVal val="visible"/>
                                      </p:to>
                                    </p:set>
                                    <p:animEffect transition="in" filter="wipe(up)">
                                      <p:cBhvr>
                                        <p:cTn id="12" dur="500"/>
                                        <p:tgtEl>
                                          <p:spTgt spid="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4">
                                            <p:txEl>
                                              <p:pRg st="2" end="2"/>
                                            </p:txEl>
                                          </p:spTgt>
                                        </p:tgtEl>
                                        <p:attrNameLst>
                                          <p:attrName>style.visibility</p:attrName>
                                        </p:attrNameLst>
                                      </p:cBhvr>
                                      <p:to>
                                        <p:strVal val="visible"/>
                                      </p:to>
                                    </p:set>
                                    <p:animEffect transition="in" filter="wipe(up)">
                                      <p:cBhvr>
                                        <p:cTn id="17" dur="500"/>
                                        <p:tgtEl>
                                          <p:spTgt spid="54">
                                            <p:txEl>
                                              <p:pRg st="2" end="2"/>
                                            </p:txEl>
                                          </p:spTgt>
                                        </p:tgtEl>
                                      </p:cBhvr>
                                    </p:animEffect>
                                  </p:childTnLst>
                                </p:cTn>
                              </p:par>
                              <p:par>
                                <p:cTn id="18" presetID="2" presetClass="entr" presetSubtype="4"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 calcmode="lin" valueType="num">
                                      <p:cBhvr additive="base">
                                        <p:cTn id="26" dur="500" fill="hold"/>
                                        <p:tgtEl>
                                          <p:spTgt spid="62"/>
                                        </p:tgtEl>
                                        <p:attrNameLst>
                                          <p:attrName>ppt_x</p:attrName>
                                        </p:attrNameLst>
                                      </p:cBhvr>
                                      <p:tavLst>
                                        <p:tav tm="0">
                                          <p:val>
                                            <p:strVal val="#ppt_x"/>
                                          </p:val>
                                        </p:tav>
                                        <p:tav tm="100000">
                                          <p:val>
                                            <p:strVal val="#ppt_x"/>
                                          </p:val>
                                        </p:tav>
                                      </p:tavLst>
                                    </p:anim>
                                    <p:anim calcmode="lin" valueType="num">
                                      <p:cBhvr additive="base">
                                        <p:cTn id="27"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4">
                                            <p:txEl>
                                              <p:pRg st="6" end="6"/>
                                            </p:txEl>
                                          </p:spTgt>
                                        </p:tgtEl>
                                        <p:attrNameLst>
                                          <p:attrName>style.visibility</p:attrName>
                                        </p:attrNameLst>
                                      </p:cBhvr>
                                      <p:to>
                                        <p:strVal val="visible"/>
                                      </p:to>
                                    </p:set>
                                    <p:animEffect transition="in" filter="wipe(up)">
                                      <p:cBhvr>
                                        <p:cTn id="32" dur="500"/>
                                        <p:tgtEl>
                                          <p:spTgt spid="54">
                                            <p:txEl>
                                              <p:pRg st="6" end="6"/>
                                            </p:txEl>
                                          </p:spTgt>
                                        </p:tgtEl>
                                      </p:cBhvr>
                                    </p:animEffect>
                                  </p:childTnLst>
                                </p:cTn>
                              </p:par>
                              <p:par>
                                <p:cTn id="33" presetID="2" presetClass="entr" presetSubtype="4" fill="hold" nodeType="withEffect">
                                  <p:stCondLst>
                                    <p:cond delay="0"/>
                                  </p:stCondLst>
                                  <p:childTnLst>
                                    <p:set>
                                      <p:cBhvr>
                                        <p:cTn id="34" dur="1" fill="hold">
                                          <p:stCondLst>
                                            <p:cond delay="0"/>
                                          </p:stCondLst>
                                        </p:cTn>
                                        <p:tgtEl>
                                          <p:spTgt spid="113"/>
                                        </p:tgtEl>
                                        <p:attrNameLst>
                                          <p:attrName>style.visibility</p:attrName>
                                        </p:attrNameLst>
                                      </p:cBhvr>
                                      <p:to>
                                        <p:strVal val="visible"/>
                                      </p:to>
                                    </p:set>
                                    <p:anim calcmode="lin" valueType="num">
                                      <p:cBhvr additive="base">
                                        <p:cTn id="35" dur="500" fill="hold"/>
                                        <p:tgtEl>
                                          <p:spTgt spid="113"/>
                                        </p:tgtEl>
                                        <p:attrNameLst>
                                          <p:attrName>ppt_x</p:attrName>
                                        </p:attrNameLst>
                                      </p:cBhvr>
                                      <p:tavLst>
                                        <p:tav tm="0">
                                          <p:val>
                                            <p:strVal val="#ppt_x"/>
                                          </p:val>
                                        </p:tav>
                                        <p:tav tm="100000">
                                          <p:val>
                                            <p:strVal val="#ppt_x"/>
                                          </p:val>
                                        </p:tav>
                                      </p:tavLst>
                                    </p:anim>
                                    <p:anim calcmode="lin" valueType="num">
                                      <p:cBhvr additive="base">
                                        <p:cTn id="36"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84710"/>
                                        </p:tgtEl>
                                        <p:attrNameLst>
                                          <p:attrName>style.visibility</p:attrName>
                                        </p:attrNameLst>
                                      </p:cBhvr>
                                      <p:to>
                                        <p:strVal val="visible"/>
                                      </p:to>
                                    </p:set>
                                    <p:anim calcmode="lin" valueType="num">
                                      <p:cBhvr additive="base">
                                        <p:cTn id="41" dur="500" fill="hold"/>
                                        <p:tgtEl>
                                          <p:spTgt spid="584710"/>
                                        </p:tgtEl>
                                        <p:attrNameLst>
                                          <p:attrName>ppt_x</p:attrName>
                                        </p:attrNameLst>
                                      </p:cBhvr>
                                      <p:tavLst>
                                        <p:tav tm="0">
                                          <p:val>
                                            <p:strVal val="#ppt_x"/>
                                          </p:val>
                                        </p:tav>
                                        <p:tav tm="100000">
                                          <p:val>
                                            <p:strVal val="#ppt_x"/>
                                          </p:val>
                                        </p:tav>
                                      </p:tavLst>
                                    </p:anim>
                                    <p:anim calcmode="lin" valueType="num">
                                      <p:cBhvr additive="base">
                                        <p:cTn id="42" dur="500" fill="hold"/>
                                        <p:tgtEl>
                                          <p:spTgt spid="5847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应用条件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1830896"/>
            <a:ext cx="8174426" cy="4564326"/>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变形协调条件</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r>
              <a:rPr lang="zh-CN" altLang="en-US" sz="2000" b="1">
                <a:latin typeface="Times New Roman" pitchFamily="18" charset="0"/>
                <a:cs typeface="Times New Roman" pitchFamily="18" charset="0"/>
              </a:rPr>
              <a:t>截面位移：</a:t>
            </a:r>
            <a:r>
              <a:rPr lang="en-US" altLang="zh-CN" sz="2000" b="1" i="1">
                <a:latin typeface="Times New Roman" pitchFamily="18" charset="0"/>
                <a:cs typeface="Times New Roman" pitchFamily="18" charset="0"/>
              </a:rPr>
              <a:t>u</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w</a:t>
            </a:r>
            <a:r>
              <a:rPr lang="zh-CN" altLang="en-US" sz="2000" b="1">
                <a:latin typeface="Times New Roman" pitchFamily="18" charset="0"/>
                <a:cs typeface="Times New Roman" pitchFamily="18" charset="0"/>
              </a:rPr>
              <a:t>，</a:t>
            </a:r>
            <a:r>
              <a:rPr lang="el-GR" altLang="zh-CN" sz="2000" b="1" i="1">
                <a:latin typeface="Times New Roman"/>
                <a:cs typeface="Times New Roman"/>
              </a:rPr>
              <a:t>θ</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pP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u</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轴向位移；</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pP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横向位移；</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pPr>
            <a:r>
              <a:rPr lang="en-US" altLang="zh-CN" sz="2000" b="1">
                <a:latin typeface="Times New Roman" pitchFamily="18" charset="0"/>
                <a:cs typeface="Times New Roman" pitchFamily="18" charset="0"/>
              </a:rPr>
              <a:t>     </a:t>
            </a:r>
            <a:r>
              <a:rPr lang="el-GR" altLang="zh-CN" sz="2000" b="1" i="1">
                <a:latin typeface="Times New Roman"/>
                <a:cs typeface="Times New Roman"/>
              </a:rPr>
              <a:t>θ</a:t>
            </a:r>
            <a:r>
              <a:rPr lang="en-US" altLang="zh-CN" sz="2000" b="1" i="1" baseline="-25000">
                <a:latin typeface="Times New Roman"/>
                <a:cs typeface="Times New Roman"/>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截面角位移；</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微段隔离体变形协调方程：</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Aft>
                <a:spcPct val="0"/>
              </a:spcAft>
            </a:pPr>
            <a:r>
              <a:rPr lang="zh-CN" altLang="en-US" b="1">
                <a:solidFill>
                  <a:srgbClr val="0033CC"/>
                </a:solidFill>
                <a:latin typeface="Times New Roman" pitchFamily="18" charset="0"/>
                <a:cs typeface="Times New Roman" pitchFamily="18" charset="0"/>
              </a:rPr>
              <a:t>     小变形下有：</a:t>
            </a:r>
            <a:endParaRPr lang="en-US" altLang="zh-CN" b="1">
              <a:solidFill>
                <a:srgbClr val="0033CC"/>
              </a:solidFill>
              <a:latin typeface="Times New Roman" pitchFamily="18" charset="0"/>
              <a:cs typeface="Times New Roman" pitchFamily="18" charset="0"/>
            </a:endParaRPr>
          </a:p>
          <a:p>
            <a:pPr marL="1081088" lvl="1" indent="-277813" algn="just" defTabSz="984250" fontAlgn="base">
              <a:lnSpc>
                <a:spcPct val="120000"/>
              </a:lnSpc>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杆轴转角 </a:t>
            </a:r>
            <a:r>
              <a:rPr lang="en-US" altLang="zh-CN" sz="2000" b="1">
                <a:latin typeface="Times New Roman" pitchFamily="18" charset="0"/>
                <a:cs typeface="Times New Roman" pitchFamily="18" charset="0"/>
              </a:rPr>
              <a:t>—  </a:t>
            </a:r>
            <a:r>
              <a:rPr lang="el-GR" altLang="zh-CN" sz="2000" b="1" i="1">
                <a:latin typeface="Times New Roman"/>
                <a:cs typeface="Times New Roman"/>
              </a:rPr>
              <a:t>φ</a:t>
            </a:r>
            <a:r>
              <a:rPr lang="en-US" altLang="zh-CN" sz="2000" b="1" i="1">
                <a:latin typeface="Times New Roman"/>
                <a:cs typeface="Times New Roman"/>
              </a:rPr>
              <a:t> = </a:t>
            </a:r>
            <a:r>
              <a:rPr lang="en-US" altLang="zh-CN" sz="2000" b="1">
                <a:latin typeface="Times New Roman" pitchFamily="18" charset="0"/>
                <a:cs typeface="Times New Roman" pitchFamily="18" charset="0"/>
              </a:rPr>
              <a:t>d</a:t>
            </a:r>
            <a:r>
              <a:rPr lang="en-US" altLang="zh-CN" sz="2000" b="1" i="1">
                <a:latin typeface="Times New Roman"/>
                <a:cs typeface="Times New Roman"/>
              </a:rPr>
              <a:t>w</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/d</a:t>
            </a:r>
            <a:r>
              <a:rPr lang="en-US" altLang="zh-CN" sz="2000" b="1" i="1">
                <a:latin typeface="Times New Roman"/>
                <a:cs typeface="Times New Roman"/>
              </a:rPr>
              <a:t>x</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600"/>
              </a:spcBef>
              <a:spcAft>
                <a:spcPct val="0"/>
              </a:spcAft>
            </a:pPr>
            <a:r>
              <a:rPr lang="zh-CN" altLang="en-US" sz="2000" b="1">
                <a:latin typeface="Times New Roman" pitchFamily="18" charset="0"/>
                <a:cs typeface="Times New Roman" pitchFamily="18" charset="0"/>
              </a:rPr>
              <a:t>     剪切应变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γ</a:t>
            </a:r>
            <a:r>
              <a:rPr lang="en-US" altLang="zh-CN" sz="2000" b="1" baseline="-25000">
                <a:latin typeface="Times New Roman" pitchFamily="18" charset="0"/>
                <a:cs typeface="Times New Roman" pitchFamily="18" charset="0"/>
              </a:rPr>
              <a:t>0</a:t>
            </a:r>
            <a:r>
              <a:rPr lang="en-US" altLang="zh-CN" sz="2000" b="1" i="1">
                <a:latin typeface="Times New Roman"/>
                <a:cs typeface="Times New Roman"/>
              </a:rPr>
              <a:t>= </a:t>
            </a:r>
            <a:r>
              <a:rPr lang="el-GR" altLang="zh-CN" sz="2000" b="1" i="1">
                <a:latin typeface="Times New Roman"/>
                <a:cs typeface="Times New Roman"/>
              </a:rPr>
              <a:t>φ</a:t>
            </a:r>
            <a:r>
              <a:rPr lang="en-US" altLang="zh-CN" sz="2000" b="1" i="1" baseline="-25000">
                <a:latin typeface="+mn-ea"/>
                <a:cs typeface="Times New Roman"/>
              </a:rPr>
              <a:t> </a:t>
            </a:r>
            <a:r>
              <a:rPr lang="en-US" altLang="zh-CN" sz="2000" b="1" i="1">
                <a:latin typeface="+mn-ea"/>
                <a:cs typeface="Times New Roman"/>
              </a:rPr>
              <a:t>- </a:t>
            </a:r>
            <a:r>
              <a:rPr lang="el-GR" altLang="zh-CN" sz="2000" b="1" i="1">
                <a:latin typeface="Times New Roman"/>
                <a:cs typeface="Times New Roman"/>
              </a:rPr>
              <a:t>θ </a:t>
            </a:r>
            <a:r>
              <a:rPr lang="en-US" altLang="zh-CN" sz="2000" b="1">
                <a:latin typeface="Times New Roman"/>
                <a:cs typeface="Times New Roman"/>
              </a:rPr>
              <a:t>=</a:t>
            </a:r>
            <a:r>
              <a:rPr lang="en-US" altLang="zh-CN" sz="2000" b="1">
                <a:latin typeface="Times New Roman" pitchFamily="18" charset="0"/>
                <a:cs typeface="Times New Roman" pitchFamily="18" charset="0"/>
              </a:rPr>
              <a:t> d</a:t>
            </a:r>
            <a:r>
              <a:rPr lang="en-US" altLang="zh-CN" sz="2000" b="1" i="1">
                <a:latin typeface="Times New Roman"/>
                <a:cs typeface="Times New Roman"/>
              </a:rPr>
              <a:t>w</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/d</a:t>
            </a:r>
            <a:r>
              <a:rPr lang="en-US" altLang="zh-CN" sz="2000" b="1" i="1">
                <a:latin typeface="Times New Roman"/>
                <a:cs typeface="Times New Roman"/>
              </a:rPr>
              <a:t>x </a:t>
            </a:r>
            <a:r>
              <a:rPr lang="en-US" altLang="zh-CN" sz="2000" b="1" i="1">
                <a:latin typeface="+mn-ea"/>
                <a:cs typeface="Times New Roman"/>
              </a:rPr>
              <a:t>- </a:t>
            </a:r>
            <a:r>
              <a:rPr lang="el-GR" altLang="zh-CN" sz="2000" b="1" i="1">
                <a:latin typeface="Times New Roman"/>
                <a:cs typeface="Times New Roman"/>
              </a:rPr>
              <a:t>θ</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6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线应变量 </a:t>
            </a:r>
            <a:r>
              <a:rPr lang="en-US" altLang="zh-CN" sz="2000" b="1">
                <a:latin typeface="Times New Roman" pitchFamily="18" charset="0"/>
                <a:cs typeface="Times New Roman" pitchFamily="18" charset="0"/>
              </a:rPr>
              <a:t>—  </a:t>
            </a:r>
            <a:r>
              <a:rPr lang="el-GR" altLang="zh-CN" sz="2000" b="1" i="1">
                <a:latin typeface="Times New Roman"/>
                <a:cs typeface="Times New Roman"/>
              </a:rPr>
              <a:t>ε</a:t>
            </a:r>
            <a:r>
              <a:rPr lang="en-US" altLang="zh-CN" sz="2000" b="1" i="1">
                <a:latin typeface="Times New Roman"/>
                <a:cs typeface="Times New Roman"/>
              </a:rPr>
              <a:t> </a:t>
            </a:r>
            <a:r>
              <a:rPr lang="en-US" altLang="zh-CN" sz="2000" b="1" i="1" baseline="-25000">
                <a:latin typeface="Times New Roman"/>
                <a:cs typeface="Times New Roman"/>
              </a:rPr>
              <a:t> </a:t>
            </a:r>
            <a:r>
              <a:rPr lang="en-US" altLang="zh-CN" sz="2000" b="1" i="1">
                <a:latin typeface="Times New Roman"/>
                <a:cs typeface="Times New Roman"/>
              </a:rPr>
              <a:t>= </a:t>
            </a:r>
            <a:r>
              <a:rPr lang="en-US" altLang="zh-CN" sz="2000" b="1">
                <a:latin typeface="Times New Roman" pitchFamily="18" charset="0"/>
                <a:cs typeface="Times New Roman" pitchFamily="18" charset="0"/>
              </a:rPr>
              <a:t>d</a:t>
            </a:r>
            <a:r>
              <a:rPr lang="en-US" altLang="zh-CN" sz="2000" b="1" i="1">
                <a:latin typeface="Times New Roman"/>
                <a:cs typeface="Times New Roman"/>
              </a:rPr>
              <a:t>u</a:t>
            </a:r>
            <a:r>
              <a:rPr lang="en-US" altLang="zh-CN" sz="2000" b="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/d</a:t>
            </a:r>
            <a:r>
              <a:rPr lang="en-US" altLang="zh-CN" sz="2000" b="1" i="1">
                <a:latin typeface="Times New Roman"/>
                <a:cs typeface="Times New Roman"/>
              </a:rPr>
              <a:t>x</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6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相对转角 </a:t>
            </a:r>
            <a:r>
              <a:rPr lang="en-US" altLang="zh-CN" sz="2000" b="1">
                <a:latin typeface="Times New Roman" pitchFamily="18" charset="0"/>
                <a:cs typeface="Times New Roman" pitchFamily="18" charset="0"/>
              </a:rPr>
              <a:t>— d</a:t>
            </a:r>
            <a:r>
              <a:rPr lang="el-GR" altLang="zh-CN" sz="2000" b="1" i="1">
                <a:latin typeface="Times New Roman"/>
                <a:cs typeface="Times New Roman"/>
              </a:rPr>
              <a:t>θ</a:t>
            </a:r>
            <a:r>
              <a:rPr lang="en-US" altLang="zh-CN" sz="2000" b="1" i="1" baseline="-25000">
                <a:latin typeface="Times New Roman"/>
                <a:cs typeface="Times New Roman"/>
              </a:rPr>
              <a:t> </a:t>
            </a:r>
            <a:endParaRPr lang="en-US" altLang="zh-CN" sz="2000" b="1">
              <a:latin typeface="Times New Roman" pitchFamily="18" charset="0"/>
              <a:cs typeface="Times New Roman" pitchFamily="18" charset="0"/>
            </a:endParaRPr>
          </a:p>
        </p:txBody>
      </p:sp>
      <p:grpSp>
        <p:nvGrpSpPr>
          <p:cNvPr id="69" name="组合 68"/>
          <p:cNvGrpSpPr/>
          <p:nvPr/>
        </p:nvGrpSpPr>
        <p:grpSpPr>
          <a:xfrm>
            <a:off x="6286512" y="1643050"/>
            <a:ext cx="1512000" cy="1130652"/>
            <a:chOff x="6500826" y="1583969"/>
            <a:chExt cx="1512000" cy="1130652"/>
          </a:xfrm>
        </p:grpSpPr>
        <p:grpSp>
          <p:nvGrpSpPr>
            <p:cNvPr id="8" name="组合 67"/>
            <p:cNvGrpSpPr/>
            <p:nvPr/>
          </p:nvGrpSpPr>
          <p:grpSpPr>
            <a:xfrm>
              <a:off x="6605951" y="1583969"/>
              <a:ext cx="1214571" cy="288947"/>
              <a:chOff x="6214949" y="5500702"/>
              <a:chExt cx="1214571" cy="288947"/>
            </a:xfrm>
          </p:grpSpPr>
          <p:cxnSp>
            <p:nvCxnSpPr>
              <p:cNvPr id="64" name="直接连接符 63"/>
              <p:cNvCxnSpPr/>
              <p:nvPr/>
            </p:nvCxnSpPr>
            <p:spPr bwMode="auto">
              <a:xfrm rot="5400000">
                <a:off x="6107256" y="5680723"/>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7310672" y="5681342"/>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6215563" y="5669442"/>
                <a:ext cx="1213957"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67" name="TextBox 66"/>
              <p:cNvSpPr txBox="1"/>
              <p:nvPr/>
            </p:nvSpPr>
            <p:spPr>
              <a:xfrm>
                <a:off x="6635918" y="5500702"/>
                <a:ext cx="426868" cy="276999"/>
              </a:xfrm>
              <a:prstGeom prst="rect">
                <a:avLst/>
              </a:prstGeom>
              <a:solidFill>
                <a:schemeClr val="bg1"/>
              </a:solidFill>
              <a:ln w="28575">
                <a:noFill/>
              </a:ln>
            </p:spPr>
            <p:txBody>
              <a:bodyPr wrap="none" tIns="0" rIns="90000" bIns="0"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68" name="组合 67"/>
            <p:cNvGrpSpPr/>
            <p:nvPr/>
          </p:nvGrpSpPr>
          <p:grpSpPr>
            <a:xfrm>
              <a:off x="6500826" y="2000241"/>
              <a:ext cx="1512000" cy="714380"/>
              <a:chOff x="6500826" y="2000241"/>
              <a:chExt cx="1512000" cy="714380"/>
            </a:xfrm>
          </p:grpSpPr>
          <p:sp>
            <p:nvSpPr>
              <p:cNvPr id="63" name="矩形 62"/>
              <p:cNvSpPr/>
              <p:nvPr/>
            </p:nvSpPr>
            <p:spPr bwMode="auto">
              <a:xfrm>
                <a:off x="6606076" y="2000241"/>
                <a:ext cx="1196143" cy="714380"/>
              </a:xfrm>
              <a:prstGeom prst="rect">
                <a:avLst/>
              </a:prstGeom>
              <a:solidFill>
                <a:srgbClr val="FFFFCC"/>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Times New Roman" pitchFamily="18" charset="0"/>
                  <a:ea typeface="华文细黑" pitchFamily="2" charset="-122"/>
                  <a:cs typeface="Times New Roman" pitchFamily="18" charset="0"/>
                </a:endParaRPr>
              </a:p>
            </p:txBody>
          </p:sp>
          <p:cxnSp>
            <p:nvCxnSpPr>
              <p:cNvPr id="76" name="直接连接符 75"/>
              <p:cNvCxnSpPr/>
              <p:nvPr/>
            </p:nvCxnSpPr>
            <p:spPr bwMode="auto">
              <a:xfrm>
                <a:off x="6500826" y="2356832"/>
                <a:ext cx="1512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grpSp>
      <p:grpSp>
        <p:nvGrpSpPr>
          <p:cNvPr id="81" name="组合 80"/>
          <p:cNvGrpSpPr/>
          <p:nvPr/>
        </p:nvGrpSpPr>
        <p:grpSpPr>
          <a:xfrm>
            <a:off x="2928926" y="3000372"/>
            <a:ext cx="6858048" cy="6858048"/>
            <a:chOff x="3286116" y="3143248"/>
            <a:chExt cx="6858048" cy="6858048"/>
          </a:xfrm>
        </p:grpSpPr>
        <p:sp>
          <p:nvSpPr>
            <p:cNvPr id="70" name="弧形 69"/>
            <p:cNvSpPr>
              <a:spLocks noChangeAspect="1"/>
            </p:cNvSpPr>
            <p:nvPr/>
          </p:nvSpPr>
          <p:spPr bwMode="auto">
            <a:xfrm>
              <a:off x="3286116" y="3143248"/>
              <a:ext cx="6858048" cy="6858048"/>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72" name="弧形 71"/>
            <p:cNvSpPr>
              <a:spLocks noChangeAspect="1"/>
            </p:cNvSpPr>
            <p:nvPr/>
          </p:nvSpPr>
          <p:spPr bwMode="auto">
            <a:xfrm>
              <a:off x="3661071" y="3525152"/>
              <a:ext cx="6118954" cy="6118954"/>
            </a:xfrm>
            <a:prstGeom prst="arc">
              <a:avLst>
                <a:gd name="adj1" fmla="val 16480611"/>
                <a:gd name="adj2" fmla="val 18440276"/>
              </a:avLst>
            </a:prstGeom>
            <a:noFill/>
            <a:ln w="19050" cap="flat" cmpd="sng" algn="ctr">
              <a:solidFill>
                <a:srgbClr val="00B050"/>
              </a:solidFill>
              <a:prstDash val="lgDashDot"/>
              <a:round/>
              <a:headEnd type="none" w="med" len="med"/>
              <a:tailEnd type="none" w="med" len="med"/>
            </a:ln>
            <a:effectLst/>
          </p:spPr>
          <p:txBody>
            <a:bodyPr rtlCol="0" anchor="ctr"/>
            <a:lstStyle/>
            <a:p>
              <a:pPr algn="ctr"/>
              <a:endParaRPr lang="zh-CN" altLang="en-US"/>
            </a:p>
          </p:txBody>
        </p:sp>
        <p:sp>
          <p:nvSpPr>
            <p:cNvPr id="71" name="弧形 70"/>
            <p:cNvSpPr>
              <a:spLocks noChangeAspect="1"/>
            </p:cNvSpPr>
            <p:nvPr/>
          </p:nvSpPr>
          <p:spPr bwMode="auto">
            <a:xfrm>
              <a:off x="4034863" y="3894699"/>
              <a:ext cx="5357850" cy="5357850"/>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cxnSp>
          <p:nvCxnSpPr>
            <p:cNvPr id="74" name="直接连接符 73"/>
            <p:cNvCxnSpPr>
              <a:stCxn id="71" idx="2"/>
              <a:endCxn id="70" idx="2"/>
            </p:cNvCxnSpPr>
            <p:nvPr/>
          </p:nvCxnSpPr>
          <p:spPr bwMode="auto">
            <a:xfrm flipV="1">
              <a:off x="8179161" y="3701725"/>
              <a:ext cx="411656" cy="62928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cxnSp>
        <p:nvCxnSpPr>
          <p:cNvPr id="75" name="直接连接符 74"/>
          <p:cNvCxnSpPr>
            <a:stCxn id="71" idx="0"/>
            <a:endCxn id="70" idx="0"/>
          </p:cNvCxnSpPr>
          <p:nvPr/>
        </p:nvCxnSpPr>
        <p:spPr bwMode="auto">
          <a:xfrm rot="10800000" flipH="1">
            <a:off x="6704621" y="3029431"/>
            <a:ext cx="98798" cy="74509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nvGrpSpPr>
          <p:cNvPr id="89" name="组合 88"/>
          <p:cNvGrpSpPr/>
          <p:nvPr/>
        </p:nvGrpSpPr>
        <p:grpSpPr>
          <a:xfrm>
            <a:off x="6370307" y="2807078"/>
            <a:ext cx="396000" cy="603841"/>
            <a:chOff x="6370307" y="2807078"/>
            <a:chExt cx="396000" cy="603841"/>
          </a:xfrm>
        </p:grpSpPr>
        <p:cxnSp>
          <p:nvCxnSpPr>
            <p:cNvPr id="84" name="直接连接符 83"/>
            <p:cNvCxnSpPr/>
            <p:nvPr/>
          </p:nvCxnSpPr>
          <p:spPr bwMode="auto">
            <a:xfrm rot="5400000">
              <a:off x="6501006" y="3158125"/>
              <a:ext cx="50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p:cNvCxnSpPr/>
            <p:nvPr/>
          </p:nvCxnSpPr>
          <p:spPr bwMode="auto">
            <a:xfrm rot="5400000">
              <a:off x="6228225" y="3058660"/>
              <a:ext cx="285752"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7" name="直接连接符 86"/>
            <p:cNvCxnSpPr/>
            <p:nvPr/>
          </p:nvCxnSpPr>
          <p:spPr bwMode="auto">
            <a:xfrm>
              <a:off x="6370307" y="3142009"/>
              <a:ext cx="396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88" name="TextBox 87"/>
            <p:cNvSpPr txBox="1"/>
            <p:nvPr/>
          </p:nvSpPr>
          <p:spPr>
            <a:xfrm>
              <a:off x="6389480" y="2807078"/>
              <a:ext cx="311452" cy="276999"/>
            </a:xfrm>
            <a:prstGeom prst="rect">
              <a:avLst/>
            </a:prstGeom>
            <a:solidFill>
              <a:schemeClr val="bg1"/>
            </a:solidFill>
            <a:ln w="28575">
              <a:noFill/>
            </a:ln>
          </p:spPr>
          <p:txBody>
            <a:bodyPr wrap="none" tIns="0" rIns="90000" bIns="0" rtlCol="0">
              <a:spAutoFit/>
            </a:bodyPr>
            <a:lstStyle/>
            <a:p>
              <a:r>
                <a:rPr lang="en-US" altLang="zh-CN" b="1" i="1">
                  <a:latin typeface="Times New Roman" pitchFamily="18" charset="0"/>
                  <a:cs typeface="Times New Roman" pitchFamily="18" charset="0"/>
                </a:rPr>
                <a:t>u</a:t>
              </a:r>
              <a:endParaRPr lang="zh-CN" altLang="en-US" b="1" i="1">
                <a:latin typeface="Times New Roman" pitchFamily="18" charset="0"/>
                <a:cs typeface="Times New Roman" pitchFamily="18" charset="0"/>
              </a:endParaRPr>
            </a:p>
          </p:txBody>
        </p:sp>
      </p:grpSp>
      <p:grpSp>
        <p:nvGrpSpPr>
          <p:cNvPr id="94" name="组合 93"/>
          <p:cNvGrpSpPr/>
          <p:nvPr/>
        </p:nvGrpSpPr>
        <p:grpSpPr>
          <a:xfrm>
            <a:off x="5774178" y="2428868"/>
            <a:ext cx="371144" cy="1008001"/>
            <a:chOff x="5774178" y="2428868"/>
            <a:chExt cx="371144" cy="1008001"/>
          </a:xfrm>
        </p:grpSpPr>
        <p:cxnSp>
          <p:nvCxnSpPr>
            <p:cNvPr id="90" name="直接连接符 89"/>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1" name="直接连接符 90"/>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2" name="直接连接符 91"/>
            <p:cNvCxnSpPr/>
            <p:nvPr/>
          </p:nvCxnSpPr>
          <p:spPr bwMode="auto">
            <a:xfrm rot="5400000">
              <a:off x="5537287"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93" name="TextBox 92"/>
            <p:cNvSpPr txBox="1"/>
            <p:nvPr/>
          </p:nvSpPr>
          <p:spPr>
            <a:xfrm rot="16200000">
              <a:off x="5744128" y="2816109"/>
              <a:ext cx="337100"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w</a:t>
              </a:r>
              <a:endParaRPr lang="zh-CN" altLang="en-US" b="1" i="1">
                <a:latin typeface="Times New Roman" pitchFamily="18" charset="0"/>
                <a:cs typeface="Times New Roman" pitchFamily="18" charset="0"/>
              </a:endParaRPr>
            </a:p>
          </p:txBody>
        </p:sp>
      </p:grpSp>
      <p:grpSp>
        <p:nvGrpSpPr>
          <p:cNvPr id="108" name="组合 107"/>
          <p:cNvGrpSpPr/>
          <p:nvPr/>
        </p:nvGrpSpPr>
        <p:grpSpPr>
          <a:xfrm>
            <a:off x="4672836" y="3774524"/>
            <a:ext cx="3357586" cy="4369384"/>
            <a:chOff x="4672836" y="3774524"/>
            <a:chExt cx="3357586" cy="4369384"/>
          </a:xfrm>
        </p:grpSpPr>
        <p:cxnSp>
          <p:nvCxnSpPr>
            <p:cNvPr id="102" name="直接连接符 101"/>
            <p:cNvCxnSpPr>
              <a:stCxn id="71" idx="0"/>
              <a:endCxn id="71" idx="1"/>
            </p:cNvCxnSpPr>
            <p:nvPr/>
          </p:nvCxnSpPr>
          <p:spPr bwMode="auto">
            <a:xfrm rot="10800000" flipV="1">
              <a:off x="6356599" y="3774524"/>
              <a:ext cx="348023" cy="2656223"/>
            </a:xfrm>
            <a:prstGeom prst="line">
              <a:avLst/>
            </a:prstGeom>
            <a:solidFill>
              <a:schemeClr val="accent1"/>
            </a:solidFill>
            <a:ln w="19050" cap="flat" cmpd="sng" algn="ctr">
              <a:solidFill>
                <a:schemeClr val="tx1"/>
              </a:solidFill>
              <a:prstDash val="lgDash"/>
              <a:round/>
              <a:headEnd type="none" w="med" len="med"/>
              <a:tailEnd type="none" w="med" len="med"/>
            </a:ln>
            <a:effectLst/>
          </p:spPr>
        </p:cxnSp>
        <p:cxnSp>
          <p:nvCxnSpPr>
            <p:cNvPr id="104" name="直接连接符 103"/>
            <p:cNvCxnSpPr/>
            <p:nvPr/>
          </p:nvCxnSpPr>
          <p:spPr bwMode="auto">
            <a:xfrm rot="5400000" flipH="1" flipV="1">
              <a:off x="5463623" y="5525911"/>
              <a:ext cx="1787302" cy="1352"/>
            </a:xfrm>
            <a:prstGeom prst="line">
              <a:avLst/>
            </a:prstGeom>
            <a:solidFill>
              <a:schemeClr val="accent1"/>
            </a:solidFill>
            <a:ln w="19050" cap="flat" cmpd="sng" algn="ctr">
              <a:solidFill>
                <a:schemeClr val="tx1"/>
              </a:solidFill>
              <a:prstDash val="lgDash"/>
              <a:round/>
              <a:headEnd type="none" w="med" len="med"/>
              <a:tailEnd type="none" w="med" len="med"/>
            </a:ln>
            <a:effectLst/>
          </p:spPr>
        </p:cxnSp>
        <p:sp>
          <p:nvSpPr>
            <p:cNvPr id="106" name="弧形 105"/>
            <p:cNvSpPr>
              <a:spLocks noChangeAspect="1"/>
            </p:cNvSpPr>
            <p:nvPr/>
          </p:nvSpPr>
          <p:spPr bwMode="auto">
            <a:xfrm>
              <a:off x="4672836" y="4786322"/>
              <a:ext cx="3357586" cy="3357586"/>
            </a:xfrm>
            <a:prstGeom prst="arc">
              <a:avLst>
                <a:gd name="adj1" fmla="val 16215314"/>
                <a:gd name="adj2" fmla="val 1663437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07" name="矩形 106"/>
            <p:cNvSpPr/>
            <p:nvPr/>
          </p:nvSpPr>
          <p:spPr>
            <a:xfrm>
              <a:off x="6317790" y="4416990"/>
              <a:ext cx="304892" cy="369332"/>
            </a:xfrm>
            <a:prstGeom prst="rect">
              <a:avLst/>
            </a:prstGeom>
          </p:spPr>
          <p:txBody>
            <a:bodyPr wrap="none">
              <a:spAutoFit/>
            </a:bodyPr>
            <a:lstStyle/>
            <a:p>
              <a:r>
                <a:rPr lang="el-GR" altLang="zh-CN" b="1" i="1">
                  <a:latin typeface="Times New Roman"/>
                  <a:cs typeface="Times New Roman"/>
                </a:rPr>
                <a:t>θ</a:t>
              </a:r>
              <a:endParaRPr lang="zh-CN" altLang="en-US"/>
            </a:p>
          </p:txBody>
        </p:sp>
      </p:grpSp>
      <p:grpSp>
        <p:nvGrpSpPr>
          <p:cNvPr id="114" name="组合 113"/>
          <p:cNvGrpSpPr/>
          <p:nvPr/>
        </p:nvGrpSpPr>
        <p:grpSpPr>
          <a:xfrm>
            <a:off x="7572396" y="1881114"/>
            <a:ext cx="1214446" cy="2012327"/>
            <a:chOff x="7572396" y="1881114"/>
            <a:chExt cx="1214446" cy="2012327"/>
          </a:xfrm>
        </p:grpSpPr>
        <p:cxnSp>
          <p:nvCxnSpPr>
            <p:cNvPr id="109" name="直接连接符 108"/>
            <p:cNvCxnSpPr/>
            <p:nvPr/>
          </p:nvCxnSpPr>
          <p:spPr bwMode="auto">
            <a:xfrm rot="5400000">
              <a:off x="7125568" y="2992647"/>
              <a:ext cx="180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1" name="直接连接符 110"/>
            <p:cNvCxnSpPr/>
            <p:nvPr/>
          </p:nvCxnSpPr>
          <p:spPr bwMode="auto">
            <a:xfrm>
              <a:off x="7572396" y="2214554"/>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2" name="直接连接符 111"/>
            <p:cNvCxnSpPr/>
            <p:nvPr/>
          </p:nvCxnSpPr>
          <p:spPr bwMode="auto">
            <a:xfrm>
              <a:off x="8036837" y="2214554"/>
              <a:ext cx="612000" cy="1588"/>
            </a:xfrm>
            <a:prstGeom prst="line">
              <a:avLst/>
            </a:prstGeom>
            <a:solidFill>
              <a:schemeClr val="accent1"/>
            </a:solidFill>
            <a:ln w="28575" cap="flat" cmpd="sng" algn="ctr">
              <a:solidFill>
                <a:schemeClr val="tx1"/>
              </a:solidFill>
              <a:prstDash val="solid"/>
              <a:round/>
              <a:headEnd type="triangle" w="med" len="lg"/>
              <a:tailEnd type="none" w="med" len="lg"/>
            </a:ln>
            <a:effectLst/>
          </p:spPr>
        </p:cxnSp>
        <p:sp>
          <p:nvSpPr>
            <p:cNvPr id="113" name="TextBox 112"/>
            <p:cNvSpPr txBox="1"/>
            <p:nvPr/>
          </p:nvSpPr>
          <p:spPr>
            <a:xfrm>
              <a:off x="8029755" y="1881114"/>
              <a:ext cx="757087"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u+ </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u</a:t>
              </a:r>
              <a:endParaRPr lang="zh-CN" altLang="en-US" b="1" i="1">
                <a:latin typeface="Times New Roman" pitchFamily="18" charset="0"/>
                <a:cs typeface="Times New Roman" pitchFamily="18" charset="0"/>
              </a:endParaRPr>
            </a:p>
          </p:txBody>
        </p:sp>
      </p:grpSp>
      <p:grpSp>
        <p:nvGrpSpPr>
          <p:cNvPr id="115" name="组合 114"/>
          <p:cNvGrpSpPr/>
          <p:nvPr/>
        </p:nvGrpSpPr>
        <p:grpSpPr>
          <a:xfrm>
            <a:off x="8071588" y="2405118"/>
            <a:ext cx="858155" cy="1500198"/>
            <a:chOff x="5927636" y="2428868"/>
            <a:chExt cx="217686" cy="1008001"/>
          </a:xfrm>
        </p:grpSpPr>
        <p:cxnSp>
          <p:nvCxnSpPr>
            <p:cNvPr id="116" name="直接连接符 115"/>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8" name="直接连接符 117"/>
            <p:cNvCxnSpPr/>
            <p:nvPr/>
          </p:nvCxnSpPr>
          <p:spPr bwMode="auto">
            <a:xfrm rot="5400000">
              <a:off x="5598435"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19" name="TextBox 118"/>
            <p:cNvSpPr txBox="1"/>
            <p:nvPr/>
          </p:nvSpPr>
          <p:spPr>
            <a:xfrm rot="16200000">
              <a:off x="5723469" y="2812817"/>
              <a:ext cx="678332" cy="70266"/>
            </a:xfrm>
            <a:prstGeom prst="rect">
              <a:avLst/>
            </a:prstGeom>
            <a:noFill/>
            <a:ln w="28575">
              <a:noFill/>
            </a:ln>
          </p:spPr>
          <p:txBody>
            <a:bodyPr wrap="square" tIns="0" rIns="90000" bIns="0" rtlCol="0">
              <a:spAutoFit/>
            </a:bodyPr>
            <a:lstStyle/>
            <a:p>
              <a:r>
                <a:rPr lang="en-US" altLang="zh-CN" b="1" i="1">
                  <a:latin typeface="Times New Roman" pitchFamily="18" charset="0"/>
                  <a:cs typeface="Times New Roman" pitchFamily="18" charset="0"/>
                </a:rPr>
                <a:t>w</a:t>
              </a:r>
              <a:r>
                <a:rPr lang="en-US" altLang="zh-CN" b="1" i="1" baseline="-25000">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n-US" altLang="zh-CN" b="1" i="1" baseline="-25000">
                  <a:latin typeface="Times New Roman" pitchFamily="18" charset="0"/>
                  <a:cs typeface="Times New Roman" pitchFamily="18" charset="0"/>
                </a:rPr>
                <a:t> </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w</a:t>
              </a:r>
              <a:endParaRPr lang="zh-CN" altLang="en-US" b="1" i="1">
                <a:latin typeface="Times New Roman" pitchFamily="18" charset="0"/>
                <a:cs typeface="Times New Roman" pitchFamily="18" charset="0"/>
              </a:endParaRPr>
            </a:p>
          </p:txBody>
        </p:sp>
      </p:grpSp>
      <p:grpSp>
        <p:nvGrpSpPr>
          <p:cNvPr id="133" name="组合 132"/>
          <p:cNvGrpSpPr/>
          <p:nvPr/>
        </p:nvGrpSpPr>
        <p:grpSpPr>
          <a:xfrm>
            <a:off x="4666615" y="3781618"/>
            <a:ext cx="3905913" cy="4362290"/>
            <a:chOff x="4666615" y="3781618"/>
            <a:chExt cx="3905913" cy="4362290"/>
          </a:xfrm>
          <a:noFill/>
        </p:grpSpPr>
        <p:cxnSp>
          <p:nvCxnSpPr>
            <p:cNvPr id="121" name="直接连接符 120"/>
            <p:cNvCxnSpPr>
              <a:stCxn id="71" idx="2"/>
              <a:endCxn id="71" idx="1"/>
            </p:cNvCxnSpPr>
            <p:nvPr/>
          </p:nvCxnSpPr>
          <p:spPr bwMode="auto">
            <a:xfrm flipH="1">
              <a:off x="6356598" y="4188133"/>
              <a:ext cx="1465373" cy="2242615"/>
            </a:xfrm>
            <a:prstGeom prst="line">
              <a:avLst/>
            </a:prstGeom>
            <a:grpFill/>
            <a:ln w="19050" cap="flat" cmpd="sng" algn="ctr">
              <a:solidFill>
                <a:schemeClr val="tx1"/>
              </a:solidFill>
              <a:prstDash val="lgDash"/>
              <a:round/>
              <a:headEnd type="none" w="med" len="med"/>
              <a:tailEnd type="none" w="med" len="med"/>
            </a:ln>
            <a:effectLst/>
          </p:spPr>
        </p:cxnSp>
        <p:grpSp>
          <p:nvGrpSpPr>
            <p:cNvPr id="122" name="组合 121"/>
            <p:cNvGrpSpPr/>
            <p:nvPr/>
          </p:nvGrpSpPr>
          <p:grpSpPr>
            <a:xfrm>
              <a:off x="4666615" y="4536116"/>
              <a:ext cx="3357586" cy="3607792"/>
              <a:chOff x="7124905" y="4383716"/>
              <a:chExt cx="3357586" cy="3607792"/>
            </a:xfrm>
            <a:grpFill/>
          </p:grpSpPr>
          <p:sp>
            <p:nvSpPr>
              <p:cNvPr id="125" name="弧形 124"/>
              <p:cNvSpPr>
                <a:spLocks noChangeAspect="1"/>
              </p:cNvSpPr>
              <p:nvPr/>
            </p:nvSpPr>
            <p:spPr bwMode="auto">
              <a:xfrm>
                <a:off x="7124905" y="4633922"/>
                <a:ext cx="3357586" cy="3357586"/>
              </a:xfrm>
              <a:prstGeom prst="arc">
                <a:avLst>
                  <a:gd name="adj1" fmla="val 16684113"/>
                  <a:gd name="adj2" fmla="val 18149204"/>
                </a:avLst>
              </a:prstGeom>
              <a:grp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6" name="矩形 125"/>
              <p:cNvSpPr/>
              <p:nvPr/>
            </p:nvSpPr>
            <p:spPr>
              <a:xfrm>
                <a:off x="9209055" y="4383716"/>
                <a:ext cx="433132" cy="369332"/>
              </a:xfrm>
              <a:prstGeom prst="rect">
                <a:avLst/>
              </a:prstGeom>
              <a:grpFill/>
            </p:spPr>
            <p:txBody>
              <a:bodyPr wrap="none">
                <a:spAutoFit/>
              </a:bodyPr>
              <a:lstStyle/>
              <a:p>
                <a:r>
                  <a:rPr lang="en-US" altLang="zh-CN" b="1">
                    <a:latin typeface="Times New Roman"/>
                    <a:cs typeface="Times New Roman"/>
                  </a:rPr>
                  <a:t>d</a:t>
                </a:r>
                <a:r>
                  <a:rPr lang="el-GR" altLang="zh-CN" b="1" i="1">
                    <a:latin typeface="Times New Roman"/>
                    <a:cs typeface="Times New Roman"/>
                  </a:rPr>
                  <a:t>θ</a:t>
                </a:r>
                <a:endParaRPr lang="zh-CN" altLang="en-US"/>
              </a:p>
            </p:txBody>
          </p:sp>
        </p:grpSp>
        <p:cxnSp>
          <p:nvCxnSpPr>
            <p:cNvPr id="128" name="直接连接符 127"/>
            <p:cNvCxnSpPr/>
            <p:nvPr/>
          </p:nvCxnSpPr>
          <p:spPr bwMode="auto">
            <a:xfrm rot="5400000" flipH="1" flipV="1">
              <a:off x="7430408" y="4595058"/>
              <a:ext cx="785818" cy="1588"/>
            </a:xfrm>
            <a:prstGeom prst="line">
              <a:avLst/>
            </a:prstGeom>
            <a:grpFill/>
            <a:ln w="19050" cap="flat" cmpd="sng" algn="ctr">
              <a:solidFill>
                <a:schemeClr val="tx1"/>
              </a:solidFill>
              <a:prstDash val="solid"/>
              <a:round/>
              <a:headEnd type="none" w="med" len="med"/>
              <a:tailEnd type="none" w="med" len="med"/>
            </a:ln>
            <a:effectLst/>
          </p:spPr>
        </p:cxnSp>
        <p:sp>
          <p:nvSpPr>
            <p:cNvPr id="129" name="弧形 128"/>
            <p:cNvSpPr>
              <a:spLocks noChangeAspect="1"/>
            </p:cNvSpPr>
            <p:nvPr/>
          </p:nvSpPr>
          <p:spPr bwMode="auto">
            <a:xfrm rot="10800000">
              <a:off x="7406660" y="3781618"/>
              <a:ext cx="826314" cy="826314"/>
            </a:xfrm>
            <a:prstGeom prst="arc">
              <a:avLst>
                <a:gd name="adj1" fmla="val 16200000"/>
                <a:gd name="adj2" fmla="val 18211609"/>
              </a:avLst>
            </a:prstGeom>
            <a:grp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31" name="弧形 130"/>
            <p:cNvSpPr>
              <a:spLocks noChangeAspect="1"/>
            </p:cNvSpPr>
            <p:nvPr/>
          </p:nvSpPr>
          <p:spPr bwMode="auto">
            <a:xfrm rot="10800000" flipH="1">
              <a:off x="7415805" y="3781618"/>
              <a:ext cx="826314" cy="826314"/>
            </a:xfrm>
            <a:prstGeom prst="arc">
              <a:avLst>
                <a:gd name="adj1" fmla="val 16200000"/>
                <a:gd name="adj2" fmla="val 19228253"/>
              </a:avLst>
            </a:prstGeom>
            <a:grpFill/>
            <a:ln w="19050" cap="flat" cmpd="sng" algn="ctr">
              <a:solidFill>
                <a:schemeClr val="tx1"/>
              </a:solidFill>
              <a:prstDash val="solid"/>
              <a:round/>
              <a:headEnd type="triangle" w="med" len="lg"/>
              <a:tailEnd type="none" w="med" len="lg"/>
            </a:ln>
            <a:effectLst/>
          </p:spPr>
          <p:txBody>
            <a:bodyPr rtlCol="0" anchor="ctr"/>
            <a:lstStyle/>
            <a:p>
              <a:pPr algn="ctr"/>
              <a:endParaRPr lang="zh-CN" altLang="en-US"/>
            </a:p>
          </p:txBody>
        </p:sp>
        <p:sp>
          <p:nvSpPr>
            <p:cNvPr id="132" name="矩形 131"/>
            <p:cNvSpPr/>
            <p:nvPr/>
          </p:nvSpPr>
          <p:spPr>
            <a:xfrm>
              <a:off x="7858148" y="4572008"/>
              <a:ext cx="714380" cy="369332"/>
            </a:xfrm>
            <a:prstGeom prst="rect">
              <a:avLst/>
            </a:prstGeom>
            <a:grpFill/>
          </p:spPr>
          <p:txBody>
            <a:bodyPr wrap="square">
              <a:spAutoFit/>
            </a:bodyPr>
            <a:lstStyle/>
            <a:p>
              <a:r>
                <a:rPr lang="el-GR" altLang="zh-CN" b="1" i="1">
                  <a:latin typeface="Times New Roman"/>
                  <a:cs typeface="Times New Roman"/>
                </a:rPr>
                <a:t>θ</a:t>
              </a:r>
              <a:r>
                <a:rPr lang="en-US" altLang="zh-CN" b="1">
                  <a:latin typeface="Times New Roman"/>
                  <a:cs typeface="Times New Roman"/>
                </a:rPr>
                <a:t>+d</a:t>
              </a:r>
              <a:r>
                <a:rPr lang="el-GR" altLang="zh-CN" b="1" i="1">
                  <a:latin typeface="Times New Roman"/>
                  <a:cs typeface="Times New Roman"/>
                </a:rPr>
                <a:t>θ</a:t>
              </a:r>
              <a:endParaRPr lang="zh-CN" altLang="en-US"/>
            </a:p>
          </p:txBody>
        </p:sp>
      </p:grpSp>
      <p:grpSp>
        <p:nvGrpSpPr>
          <p:cNvPr id="142" name="组合 141"/>
          <p:cNvGrpSpPr/>
          <p:nvPr/>
        </p:nvGrpSpPr>
        <p:grpSpPr>
          <a:xfrm>
            <a:off x="6215074" y="2883834"/>
            <a:ext cx="1344050" cy="1067470"/>
            <a:chOff x="6215074" y="2883834"/>
            <a:chExt cx="1344050" cy="1067470"/>
          </a:xfrm>
        </p:grpSpPr>
        <p:cxnSp>
          <p:nvCxnSpPr>
            <p:cNvPr id="135" name="直接连接符 134"/>
            <p:cNvCxnSpPr>
              <a:cxnSpLocks noChangeAspect="1"/>
            </p:cNvCxnSpPr>
            <p:nvPr/>
          </p:nvCxnSpPr>
          <p:spPr bwMode="auto">
            <a:xfrm>
              <a:off x="6745578" y="3412601"/>
              <a:ext cx="756000" cy="27283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7" name="直接连接符 136"/>
            <p:cNvCxnSpPr/>
            <p:nvPr/>
          </p:nvCxnSpPr>
          <p:spPr bwMode="auto">
            <a:xfrm>
              <a:off x="6753778" y="3416700"/>
              <a:ext cx="78581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0" name="矩形 139"/>
            <p:cNvSpPr/>
            <p:nvPr/>
          </p:nvSpPr>
          <p:spPr>
            <a:xfrm>
              <a:off x="7239806" y="3316720"/>
              <a:ext cx="319318" cy="369332"/>
            </a:xfrm>
            <a:prstGeom prst="rect">
              <a:avLst/>
            </a:prstGeom>
          </p:spPr>
          <p:txBody>
            <a:bodyPr wrap="none">
              <a:spAutoFit/>
            </a:bodyPr>
            <a:lstStyle/>
            <a:p>
              <a:r>
                <a:rPr lang="el-GR" altLang="zh-CN" b="1" i="1">
                  <a:latin typeface="Times New Roman"/>
                  <a:cs typeface="Times New Roman"/>
                </a:rPr>
                <a:t>φ</a:t>
              </a:r>
              <a:endParaRPr lang="zh-CN" altLang="en-US"/>
            </a:p>
          </p:txBody>
        </p:sp>
        <p:sp>
          <p:nvSpPr>
            <p:cNvPr id="141" name="弧形 140"/>
            <p:cNvSpPr>
              <a:spLocks noChangeAspect="1"/>
            </p:cNvSpPr>
            <p:nvPr/>
          </p:nvSpPr>
          <p:spPr bwMode="auto">
            <a:xfrm rot="5400000">
              <a:off x="6215074" y="2883834"/>
              <a:ext cx="1067470" cy="1067470"/>
            </a:xfrm>
            <a:prstGeom prst="arc">
              <a:avLst>
                <a:gd name="adj1" fmla="val 16200000"/>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nvGrpSpPr>
          <p:cNvPr id="145" name="组合 144"/>
          <p:cNvGrpSpPr/>
          <p:nvPr/>
        </p:nvGrpSpPr>
        <p:grpSpPr>
          <a:xfrm>
            <a:off x="6372744" y="2857496"/>
            <a:ext cx="1675442" cy="938176"/>
            <a:chOff x="6372744" y="2857496"/>
            <a:chExt cx="1675442" cy="938176"/>
          </a:xfrm>
        </p:grpSpPr>
        <p:sp>
          <p:nvSpPr>
            <p:cNvPr id="143" name="弧形 142"/>
            <p:cNvSpPr>
              <a:spLocks noChangeAspect="1"/>
            </p:cNvSpPr>
            <p:nvPr/>
          </p:nvSpPr>
          <p:spPr bwMode="auto">
            <a:xfrm rot="5400000">
              <a:off x="6372744" y="3016556"/>
              <a:ext cx="779116" cy="779116"/>
            </a:xfrm>
            <a:prstGeom prst="arc">
              <a:avLst>
                <a:gd name="adj1" fmla="val 10722971"/>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44" name="矩形 143"/>
            <p:cNvSpPr/>
            <p:nvPr/>
          </p:nvSpPr>
          <p:spPr>
            <a:xfrm>
              <a:off x="7039577" y="2857496"/>
              <a:ext cx="1008609" cy="369332"/>
            </a:xfrm>
            <a:prstGeom prst="rect">
              <a:avLst/>
            </a:prstGeom>
          </p:spPr>
          <p:txBody>
            <a:bodyPr wrap="none">
              <a:spAutoFit/>
            </a:bodyPr>
            <a:lstStyle/>
            <a:p>
              <a:r>
                <a:rPr lang="el-GR" altLang="zh-CN" b="1" i="1">
                  <a:latin typeface="Times New Roman"/>
                  <a:cs typeface="Times New Roman"/>
                </a:rPr>
                <a:t>γ</a:t>
              </a:r>
              <a:r>
                <a:rPr lang="en-US" altLang="zh-CN" b="1" baseline="-25000">
                  <a:latin typeface="Times New Roman"/>
                  <a:cs typeface="Times New Roman"/>
                </a:rPr>
                <a:t>0</a:t>
              </a:r>
              <a:r>
                <a:rPr lang="en-US" altLang="zh-CN" b="1">
                  <a:latin typeface="Times New Roman"/>
                  <a:cs typeface="Times New Roman"/>
                </a:rPr>
                <a:t>+</a:t>
              </a:r>
              <a:r>
                <a:rPr lang="en-US" altLang="zh-CN" b="1" baseline="-25000">
                  <a:latin typeface="Times New Roman"/>
                  <a:cs typeface="Times New Roman"/>
                </a:rPr>
                <a:t> </a:t>
              </a:r>
              <a:r>
                <a:rPr lang="en-US" altLang="zh-CN" b="1">
                  <a:latin typeface="Times New Roman"/>
                  <a:cs typeface="Times New Roman"/>
                </a:rPr>
                <a:t>90°</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up)">
                                      <p:cBhvr>
                                        <p:cTn id="7" dur="500"/>
                                        <p:tgtEl>
                                          <p:spTgt spid="54">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 calcmode="lin" valueType="num">
                                      <p:cBhvr additive="base">
                                        <p:cTn id="10" dur="500" fill="hold"/>
                                        <p:tgtEl>
                                          <p:spTgt spid="69"/>
                                        </p:tgtEl>
                                        <p:attrNameLst>
                                          <p:attrName>ppt_x</p:attrName>
                                        </p:attrNameLst>
                                      </p:cBhvr>
                                      <p:tavLst>
                                        <p:tav tm="0">
                                          <p:val>
                                            <p:strVal val="#ppt_x"/>
                                          </p:val>
                                        </p:tav>
                                        <p:tav tm="100000">
                                          <p:val>
                                            <p:strVal val="#ppt_x"/>
                                          </p:val>
                                        </p:tav>
                                      </p:tavLst>
                                    </p:anim>
                                    <p:anim calcmode="lin" valueType="num">
                                      <p:cBhvr additive="base">
                                        <p:cTn id="11"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4">
                                            <p:txEl>
                                              <p:pRg st="1" end="1"/>
                                            </p:txEl>
                                          </p:spTgt>
                                        </p:tgtEl>
                                        <p:attrNameLst>
                                          <p:attrName>style.visibility</p:attrName>
                                        </p:attrNameLst>
                                      </p:cBhvr>
                                      <p:to>
                                        <p:strVal val="visible"/>
                                      </p:to>
                                    </p:set>
                                    <p:animEffect transition="in" filter="wipe(up)">
                                      <p:cBhvr>
                                        <p:cTn id="16" dur="500"/>
                                        <p:tgtEl>
                                          <p:spTgt spid="54">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blinds(horizontal)">
                                      <p:cBhvr>
                                        <p:cTn id="19" dur="500"/>
                                        <p:tgtEl>
                                          <p:spTgt spid="7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9"/>
                                        </p:tgtEl>
                                        <p:attrNameLst>
                                          <p:attrName>style.visibility</p:attrName>
                                        </p:attrNameLst>
                                      </p:cBhvr>
                                      <p:to>
                                        <p:strVal val="visible"/>
                                      </p:to>
                                    </p:set>
                                    <p:animEffect transition="in" filter="blinds(horizontal)">
                                      <p:cBhvr>
                                        <p:cTn id="24" dur="500"/>
                                        <p:tgtEl>
                                          <p:spTgt spid="89"/>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54">
                                            <p:txEl>
                                              <p:pRg st="2" end="2"/>
                                            </p:txEl>
                                          </p:spTgt>
                                        </p:tgtEl>
                                        <p:attrNameLst>
                                          <p:attrName>style.visibility</p:attrName>
                                        </p:attrNameLst>
                                      </p:cBhvr>
                                      <p:to>
                                        <p:strVal val="visible"/>
                                      </p:to>
                                    </p:set>
                                    <p:animEffect transition="in" filter="wipe(up)">
                                      <p:cBhvr>
                                        <p:cTn id="28" dur="500"/>
                                        <p:tgtEl>
                                          <p:spTgt spid="5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4"/>
                                        </p:tgtEl>
                                        <p:attrNameLst>
                                          <p:attrName>style.visibility</p:attrName>
                                        </p:attrNameLst>
                                      </p:cBhvr>
                                      <p:to>
                                        <p:strVal val="visible"/>
                                      </p:to>
                                    </p:set>
                                    <p:animEffect transition="in" filter="blinds(horizontal)">
                                      <p:cBhvr>
                                        <p:cTn id="33" dur="500"/>
                                        <p:tgtEl>
                                          <p:spTgt spid="9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54">
                                            <p:txEl>
                                              <p:pRg st="3" end="3"/>
                                            </p:txEl>
                                          </p:spTgt>
                                        </p:tgtEl>
                                        <p:attrNameLst>
                                          <p:attrName>style.visibility</p:attrName>
                                        </p:attrNameLst>
                                      </p:cBhvr>
                                      <p:to>
                                        <p:strVal val="visible"/>
                                      </p:to>
                                    </p:set>
                                    <p:animEffect transition="in" filter="wipe(up)">
                                      <p:cBhvr>
                                        <p:cTn id="37" dur="500"/>
                                        <p:tgtEl>
                                          <p:spTgt spid="5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blinds(horizontal)">
                                      <p:cBhvr>
                                        <p:cTn id="42" dur="500"/>
                                        <p:tgtEl>
                                          <p:spTgt spid="108"/>
                                        </p:tgtEl>
                                      </p:cBhvr>
                                    </p:animEffec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54">
                                            <p:txEl>
                                              <p:pRg st="4" end="4"/>
                                            </p:txEl>
                                          </p:spTgt>
                                        </p:tgtEl>
                                        <p:attrNameLst>
                                          <p:attrName>style.visibility</p:attrName>
                                        </p:attrNameLst>
                                      </p:cBhvr>
                                      <p:to>
                                        <p:strVal val="visible"/>
                                      </p:to>
                                    </p:set>
                                    <p:animEffect transition="in" filter="wipe(up)">
                                      <p:cBhvr>
                                        <p:cTn id="46" dur="500"/>
                                        <p:tgtEl>
                                          <p:spTgt spid="54">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54">
                                            <p:txEl>
                                              <p:pRg st="5" end="5"/>
                                            </p:txEl>
                                          </p:spTgt>
                                        </p:tgtEl>
                                        <p:attrNameLst>
                                          <p:attrName>style.visibility</p:attrName>
                                        </p:attrNameLst>
                                      </p:cBhvr>
                                      <p:to>
                                        <p:strVal val="visible"/>
                                      </p:to>
                                    </p:set>
                                    <p:animEffect transition="in" filter="wipe(up)">
                                      <p:cBhvr>
                                        <p:cTn id="51" dur="500"/>
                                        <p:tgtEl>
                                          <p:spTgt spid="54">
                                            <p:txEl>
                                              <p:pRg st="5" end="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blinds(horizontal)">
                                      <p:cBhvr>
                                        <p:cTn id="54" dur="500"/>
                                        <p:tgtEl>
                                          <p:spTgt spid="81"/>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114"/>
                                        </p:tgtEl>
                                        <p:attrNameLst>
                                          <p:attrName>style.visibility</p:attrName>
                                        </p:attrNameLst>
                                      </p:cBhvr>
                                      <p:to>
                                        <p:strVal val="visible"/>
                                      </p:to>
                                    </p:set>
                                    <p:anim calcmode="lin" valueType="num">
                                      <p:cBhvr additive="base">
                                        <p:cTn id="59" dur="500" fill="hold"/>
                                        <p:tgtEl>
                                          <p:spTgt spid="114"/>
                                        </p:tgtEl>
                                        <p:attrNameLst>
                                          <p:attrName>ppt_x</p:attrName>
                                        </p:attrNameLst>
                                      </p:cBhvr>
                                      <p:tavLst>
                                        <p:tav tm="0">
                                          <p:val>
                                            <p:strVal val="1+#ppt_w/2"/>
                                          </p:val>
                                        </p:tav>
                                        <p:tav tm="100000">
                                          <p:val>
                                            <p:strVal val="#ppt_x"/>
                                          </p:val>
                                        </p:tav>
                                      </p:tavLst>
                                    </p:anim>
                                    <p:anim calcmode="lin" valueType="num">
                                      <p:cBhvr additive="base">
                                        <p:cTn id="60" dur="500" fill="hold"/>
                                        <p:tgtEl>
                                          <p:spTgt spid="114"/>
                                        </p:tgtEl>
                                        <p:attrNameLst>
                                          <p:attrName>ppt_y</p:attrName>
                                        </p:attrNameLst>
                                      </p:cBhvr>
                                      <p:tavLst>
                                        <p:tav tm="0">
                                          <p:val>
                                            <p:strVal val="#ppt_y"/>
                                          </p:val>
                                        </p:tav>
                                        <p:tav tm="100000">
                                          <p:val>
                                            <p:strVal val="#ppt_y"/>
                                          </p:val>
                                        </p:tav>
                                      </p:tavLst>
                                    </p:anim>
                                  </p:childTnLst>
                                </p:cTn>
                              </p:par>
                            </p:childTnLst>
                          </p:cTn>
                        </p:par>
                        <p:par>
                          <p:cTn id="61" fill="hold">
                            <p:stCondLst>
                              <p:cond delay="500"/>
                            </p:stCondLst>
                            <p:childTnLst>
                              <p:par>
                                <p:cTn id="62" presetID="2" presetClass="entr" presetSubtype="2" fill="hold" nodeType="afterEffect">
                                  <p:stCondLst>
                                    <p:cond delay="0"/>
                                  </p:stCondLst>
                                  <p:childTnLst>
                                    <p:set>
                                      <p:cBhvr>
                                        <p:cTn id="63" dur="1" fill="hold">
                                          <p:stCondLst>
                                            <p:cond delay="0"/>
                                          </p:stCondLst>
                                        </p:cTn>
                                        <p:tgtEl>
                                          <p:spTgt spid="115"/>
                                        </p:tgtEl>
                                        <p:attrNameLst>
                                          <p:attrName>style.visibility</p:attrName>
                                        </p:attrNameLst>
                                      </p:cBhvr>
                                      <p:to>
                                        <p:strVal val="visible"/>
                                      </p:to>
                                    </p:set>
                                    <p:anim calcmode="lin" valueType="num">
                                      <p:cBhvr additive="base">
                                        <p:cTn id="64" dur="500" fill="hold"/>
                                        <p:tgtEl>
                                          <p:spTgt spid="115"/>
                                        </p:tgtEl>
                                        <p:attrNameLst>
                                          <p:attrName>ppt_x</p:attrName>
                                        </p:attrNameLst>
                                      </p:cBhvr>
                                      <p:tavLst>
                                        <p:tav tm="0">
                                          <p:val>
                                            <p:strVal val="1+#ppt_w/2"/>
                                          </p:val>
                                        </p:tav>
                                        <p:tav tm="100000">
                                          <p:val>
                                            <p:strVal val="#ppt_x"/>
                                          </p:val>
                                        </p:tav>
                                      </p:tavLst>
                                    </p:anim>
                                    <p:anim calcmode="lin" valueType="num">
                                      <p:cBhvr additive="base">
                                        <p:cTn id="65" dur="500" fill="hold"/>
                                        <p:tgtEl>
                                          <p:spTgt spid="115"/>
                                        </p:tgtEl>
                                        <p:attrNameLst>
                                          <p:attrName>ppt_y</p:attrName>
                                        </p:attrNameLst>
                                      </p:cBhvr>
                                      <p:tavLst>
                                        <p:tav tm="0">
                                          <p:val>
                                            <p:strVal val="#ppt_y"/>
                                          </p:val>
                                        </p:tav>
                                        <p:tav tm="100000">
                                          <p:val>
                                            <p:strVal val="#ppt_y"/>
                                          </p:val>
                                        </p:tav>
                                      </p:tavLst>
                                    </p:anim>
                                  </p:childTnLst>
                                </p:cTn>
                              </p:par>
                            </p:childTnLst>
                          </p:cTn>
                        </p:par>
                        <p:par>
                          <p:cTn id="66" fill="hold">
                            <p:stCondLst>
                              <p:cond delay="1000"/>
                            </p:stCondLst>
                            <p:childTnLst>
                              <p:par>
                                <p:cTn id="67" presetID="2" presetClass="entr" presetSubtype="4" fill="hold" nodeType="afterEffect">
                                  <p:stCondLst>
                                    <p:cond delay="0"/>
                                  </p:stCondLst>
                                  <p:childTnLst>
                                    <p:set>
                                      <p:cBhvr>
                                        <p:cTn id="68" dur="1" fill="hold">
                                          <p:stCondLst>
                                            <p:cond delay="0"/>
                                          </p:stCondLst>
                                        </p:cTn>
                                        <p:tgtEl>
                                          <p:spTgt spid="133"/>
                                        </p:tgtEl>
                                        <p:attrNameLst>
                                          <p:attrName>style.visibility</p:attrName>
                                        </p:attrNameLst>
                                      </p:cBhvr>
                                      <p:to>
                                        <p:strVal val="visible"/>
                                      </p:to>
                                    </p:set>
                                    <p:anim calcmode="lin" valueType="num">
                                      <p:cBhvr additive="base">
                                        <p:cTn id="69" dur="500" fill="hold"/>
                                        <p:tgtEl>
                                          <p:spTgt spid="133"/>
                                        </p:tgtEl>
                                        <p:attrNameLst>
                                          <p:attrName>ppt_x</p:attrName>
                                        </p:attrNameLst>
                                      </p:cBhvr>
                                      <p:tavLst>
                                        <p:tav tm="0">
                                          <p:val>
                                            <p:strVal val="#ppt_x"/>
                                          </p:val>
                                        </p:tav>
                                        <p:tav tm="100000">
                                          <p:val>
                                            <p:strVal val="#ppt_x"/>
                                          </p:val>
                                        </p:tav>
                                      </p:tavLst>
                                    </p:anim>
                                    <p:anim calcmode="lin" valueType="num">
                                      <p:cBhvr additive="base">
                                        <p:cTn id="70" dur="500" fill="hold"/>
                                        <p:tgtEl>
                                          <p:spTgt spid="133"/>
                                        </p:tgtEl>
                                        <p:attrNameLst>
                                          <p:attrName>ppt_y</p:attrName>
                                        </p:attrNameLst>
                                      </p:cBhvr>
                                      <p:tavLst>
                                        <p:tav tm="0">
                                          <p:val>
                                            <p:strVal val="1+#ppt_h/2"/>
                                          </p:val>
                                        </p:tav>
                                        <p:tav tm="100000">
                                          <p:val>
                                            <p:strVal val="#ppt_y"/>
                                          </p:val>
                                        </p:tav>
                                      </p:tavLst>
                                    </p:anim>
                                  </p:childTnLst>
                                </p:cTn>
                              </p:par>
                            </p:childTnLst>
                          </p:cTn>
                        </p:par>
                        <p:par>
                          <p:cTn id="71" fill="hold">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54">
                                            <p:txEl>
                                              <p:pRg st="6" end="6"/>
                                            </p:txEl>
                                          </p:spTgt>
                                        </p:tgtEl>
                                        <p:attrNameLst>
                                          <p:attrName>style.visibility</p:attrName>
                                        </p:attrNameLst>
                                      </p:cBhvr>
                                      <p:to>
                                        <p:strVal val="visible"/>
                                      </p:to>
                                    </p:set>
                                    <p:animEffect transition="in" filter="wipe(up)">
                                      <p:cBhvr>
                                        <p:cTn id="74" dur="500"/>
                                        <p:tgtEl>
                                          <p:spTgt spid="54">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42"/>
                                        </p:tgtEl>
                                        <p:attrNameLst>
                                          <p:attrName>style.visibility</p:attrName>
                                        </p:attrNameLst>
                                      </p:cBhvr>
                                      <p:to>
                                        <p:strVal val="visible"/>
                                      </p:to>
                                    </p:set>
                                    <p:animEffect transition="in" filter="blinds(horizontal)">
                                      <p:cBhvr>
                                        <p:cTn id="79" dur="500"/>
                                        <p:tgtEl>
                                          <p:spTgt spid="142"/>
                                        </p:tgtEl>
                                      </p:cBhvr>
                                    </p:animEffect>
                                  </p:childTnLst>
                                </p:cTn>
                              </p:par>
                            </p:childTnLst>
                          </p:cTn>
                        </p:par>
                        <p:par>
                          <p:cTn id="80" fill="hold">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54">
                                            <p:txEl>
                                              <p:pRg st="7" end="7"/>
                                            </p:txEl>
                                          </p:spTgt>
                                        </p:tgtEl>
                                        <p:attrNameLst>
                                          <p:attrName>style.visibility</p:attrName>
                                        </p:attrNameLst>
                                      </p:cBhvr>
                                      <p:to>
                                        <p:strVal val="visible"/>
                                      </p:to>
                                    </p:set>
                                    <p:animEffect transition="in" filter="wipe(up)">
                                      <p:cBhvr>
                                        <p:cTn id="83" dur="500"/>
                                        <p:tgtEl>
                                          <p:spTgt spid="54">
                                            <p:txEl>
                                              <p:pRg st="7" end="7"/>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16" fill="hold" nodeType="clickEffect">
                                  <p:stCondLst>
                                    <p:cond delay="0"/>
                                  </p:stCondLst>
                                  <p:childTnLst>
                                    <p:set>
                                      <p:cBhvr>
                                        <p:cTn id="87" dur="1" fill="hold">
                                          <p:stCondLst>
                                            <p:cond delay="0"/>
                                          </p:stCondLst>
                                        </p:cTn>
                                        <p:tgtEl>
                                          <p:spTgt spid="145"/>
                                        </p:tgtEl>
                                        <p:attrNameLst>
                                          <p:attrName>style.visibility</p:attrName>
                                        </p:attrNameLst>
                                      </p:cBhvr>
                                      <p:to>
                                        <p:strVal val="visible"/>
                                      </p:to>
                                    </p:set>
                                    <p:animEffect transition="in" filter="box(in)">
                                      <p:cBhvr>
                                        <p:cTn id="88" dur="500"/>
                                        <p:tgtEl>
                                          <p:spTgt spid="145"/>
                                        </p:tgtEl>
                                      </p:cBhvr>
                                    </p:animEffect>
                                  </p:childTnLst>
                                </p:cTn>
                              </p:par>
                            </p:childTnLst>
                          </p:cTn>
                        </p:par>
                        <p:par>
                          <p:cTn id="89" fill="hold">
                            <p:stCondLst>
                              <p:cond delay="500"/>
                            </p:stCondLst>
                            <p:childTnLst>
                              <p:par>
                                <p:cTn id="90" presetID="22" presetClass="entr" presetSubtype="1" fill="hold" grpId="0" nodeType="afterEffect">
                                  <p:stCondLst>
                                    <p:cond delay="0"/>
                                  </p:stCondLst>
                                  <p:childTnLst>
                                    <p:set>
                                      <p:cBhvr>
                                        <p:cTn id="91" dur="1" fill="hold">
                                          <p:stCondLst>
                                            <p:cond delay="0"/>
                                          </p:stCondLst>
                                        </p:cTn>
                                        <p:tgtEl>
                                          <p:spTgt spid="54">
                                            <p:txEl>
                                              <p:pRg st="8" end="8"/>
                                            </p:txEl>
                                          </p:spTgt>
                                        </p:tgtEl>
                                        <p:attrNameLst>
                                          <p:attrName>style.visibility</p:attrName>
                                        </p:attrNameLst>
                                      </p:cBhvr>
                                      <p:to>
                                        <p:strVal val="visible"/>
                                      </p:to>
                                    </p:set>
                                    <p:animEffect transition="in" filter="wipe(up)">
                                      <p:cBhvr>
                                        <p:cTn id="92" dur="500"/>
                                        <p:tgtEl>
                                          <p:spTgt spid="54">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54">
                                            <p:txEl>
                                              <p:pRg st="9" end="9"/>
                                            </p:txEl>
                                          </p:spTgt>
                                        </p:tgtEl>
                                        <p:attrNameLst>
                                          <p:attrName>style.visibility</p:attrName>
                                        </p:attrNameLst>
                                      </p:cBhvr>
                                      <p:to>
                                        <p:strVal val="visible"/>
                                      </p:to>
                                    </p:set>
                                    <p:animEffect transition="in" filter="wipe(up)">
                                      <p:cBhvr>
                                        <p:cTn id="97" dur="500"/>
                                        <p:tgtEl>
                                          <p:spTgt spid="54">
                                            <p:txEl>
                                              <p:pRg st="9" end="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54">
                                            <p:txEl>
                                              <p:pRg st="10" end="10"/>
                                            </p:txEl>
                                          </p:spTgt>
                                        </p:tgtEl>
                                        <p:attrNameLst>
                                          <p:attrName>style.visibility</p:attrName>
                                        </p:attrNameLst>
                                      </p:cBhvr>
                                      <p:to>
                                        <p:strVal val="visible"/>
                                      </p:to>
                                    </p:set>
                                    <p:animEffect transition="in" filter="wipe(up)">
                                      <p:cBhvr>
                                        <p:cTn id="102" dur="500"/>
                                        <p:tgtEl>
                                          <p:spTgt spid="5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虚功方程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4571351"/>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外力虚功</a:t>
            </a:r>
            <a:endParaRPr lang="en-US" altLang="zh-CN" sz="2000" b="1">
              <a:latin typeface="Times New Roman" pitchFamily="18" charset="0"/>
              <a:cs typeface="Times New Roman" pitchFamily="18" charset="0"/>
            </a:endParaRPr>
          </a:p>
        </p:txBody>
      </p:sp>
      <p:sp>
        <p:nvSpPr>
          <p:cNvPr id="81" name="弧形 80"/>
          <p:cNvSpPr>
            <a:spLocks noChangeAspect="1"/>
          </p:cNvSpPr>
          <p:nvPr/>
        </p:nvSpPr>
        <p:spPr bwMode="auto">
          <a:xfrm>
            <a:off x="-14359070" y="3000372"/>
            <a:ext cx="26932126" cy="26932126"/>
          </a:xfrm>
          <a:prstGeom prst="arc">
            <a:avLst>
              <a:gd name="adj1" fmla="val 16902882"/>
              <a:gd name="adj2" fmla="val 17814464"/>
            </a:avLst>
          </a:prstGeom>
          <a:noFill/>
          <a:ln w="762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nvGrpSpPr>
          <p:cNvPr id="134" name="组合 133"/>
          <p:cNvGrpSpPr/>
          <p:nvPr/>
        </p:nvGrpSpPr>
        <p:grpSpPr>
          <a:xfrm>
            <a:off x="1244894" y="2573254"/>
            <a:ext cx="3879974" cy="457598"/>
            <a:chOff x="1244894" y="2498718"/>
            <a:chExt cx="3879974" cy="457598"/>
          </a:xfrm>
        </p:grpSpPr>
        <p:cxnSp>
          <p:nvCxnSpPr>
            <p:cNvPr id="83" name="直接连接符 82"/>
            <p:cNvCxnSpPr/>
            <p:nvPr/>
          </p:nvCxnSpPr>
          <p:spPr bwMode="auto">
            <a:xfrm>
              <a:off x="1500166" y="2498718"/>
              <a:ext cx="3500462" cy="1588"/>
            </a:xfrm>
            <a:prstGeom prst="line">
              <a:avLst/>
            </a:prstGeom>
            <a:solidFill>
              <a:schemeClr val="accent1"/>
            </a:solidFill>
            <a:ln w="76200" cap="flat" cmpd="sng" algn="ctr">
              <a:solidFill>
                <a:schemeClr val="tx1"/>
              </a:solidFill>
              <a:prstDash val="solid"/>
              <a:round/>
              <a:headEnd type="none" w="med" len="med"/>
              <a:tailEnd type="none" w="med" len="med"/>
            </a:ln>
            <a:effectLst/>
          </p:spPr>
        </p:cxnSp>
        <p:sp>
          <p:nvSpPr>
            <p:cNvPr id="127" name="TextBox 126"/>
            <p:cNvSpPr txBox="1"/>
            <p:nvPr/>
          </p:nvSpPr>
          <p:spPr>
            <a:xfrm>
              <a:off x="124489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33" name="TextBox 132"/>
            <p:cNvSpPr txBox="1"/>
            <p:nvPr/>
          </p:nvSpPr>
          <p:spPr>
            <a:xfrm>
              <a:off x="478631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grpSp>
      <p:grpSp>
        <p:nvGrpSpPr>
          <p:cNvPr id="158" name="组合 157"/>
          <p:cNvGrpSpPr/>
          <p:nvPr/>
        </p:nvGrpSpPr>
        <p:grpSpPr>
          <a:xfrm>
            <a:off x="1508760" y="1501608"/>
            <a:ext cx="3491868" cy="1073234"/>
            <a:chOff x="1508760" y="1501608"/>
            <a:chExt cx="3491868" cy="1073234"/>
          </a:xfrm>
        </p:grpSpPr>
        <p:grpSp>
          <p:nvGrpSpPr>
            <p:cNvPr id="124" name="组合 123"/>
            <p:cNvGrpSpPr/>
            <p:nvPr/>
          </p:nvGrpSpPr>
          <p:grpSpPr>
            <a:xfrm>
              <a:off x="1508760" y="1931900"/>
              <a:ext cx="3491868" cy="642942"/>
              <a:chOff x="1508760" y="1857364"/>
              <a:chExt cx="3491868" cy="642942"/>
            </a:xfrm>
          </p:grpSpPr>
          <p:sp>
            <p:nvSpPr>
              <p:cNvPr id="94" name="任意多边形 93"/>
              <p:cNvSpPr/>
              <p:nvPr/>
            </p:nvSpPr>
            <p:spPr bwMode="auto">
              <a:xfrm>
                <a:off x="1508760" y="1857364"/>
                <a:ext cx="3491868" cy="352436"/>
              </a:xfrm>
              <a:custGeom>
                <a:avLst/>
                <a:gdLst>
                  <a:gd name="connsiteX0" fmla="*/ 0 w 3459480"/>
                  <a:gd name="connsiteY0" fmla="*/ 320040 h 320040"/>
                  <a:gd name="connsiteX1" fmla="*/ 1463040 w 3459480"/>
                  <a:gd name="connsiteY1" fmla="*/ 45720 h 320040"/>
                  <a:gd name="connsiteX2" fmla="*/ 2423160 w 3459480"/>
                  <a:gd name="connsiteY2" fmla="*/ 45720 h 320040"/>
                  <a:gd name="connsiteX3" fmla="*/ 3459480 w 3459480"/>
                  <a:gd name="connsiteY3" fmla="*/ 274320 h 320040"/>
                </a:gdLst>
                <a:ahLst/>
                <a:cxnLst>
                  <a:cxn ang="0">
                    <a:pos x="connsiteX0" y="connsiteY0"/>
                  </a:cxn>
                  <a:cxn ang="0">
                    <a:pos x="connsiteX1" y="connsiteY1"/>
                  </a:cxn>
                  <a:cxn ang="0">
                    <a:pos x="connsiteX2" y="connsiteY2"/>
                  </a:cxn>
                  <a:cxn ang="0">
                    <a:pos x="connsiteX3" y="connsiteY3"/>
                  </a:cxn>
                </a:cxnLst>
                <a:rect l="l" t="t" r="r" b="b"/>
                <a:pathLst>
                  <a:path w="3459480" h="320040">
                    <a:moveTo>
                      <a:pt x="0" y="320040"/>
                    </a:moveTo>
                    <a:cubicBezTo>
                      <a:pt x="529590" y="205740"/>
                      <a:pt x="1059180" y="91440"/>
                      <a:pt x="1463040" y="45720"/>
                    </a:cubicBezTo>
                    <a:cubicBezTo>
                      <a:pt x="1866900" y="0"/>
                      <a:pt x="2090420" y="7620"/>
                      <a:pt x="2423160" y="45720"/>
                    </a:cubicBezTo>
                    <a:cubicBezTo>
                      <a:pt x="2755900" y="83820"/>
                      <a:pt x="3107690" y="179070"/>
                      <a:pt x="3459480" y="274320"/>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cxnSp>
            <p:nvCxnSpPr>
              <p:cNvPr id="96" name="直接箭头连接符 95"/>
              <p:cNvCxnSpPr/>
              <p:nvPr/>
            </p:nvCxnSpPr>
            <p:spPr bwMode="auto">
              <a:xfrm flipH="1">
                <a:off x="1515406" y="2209800"/>
                <a:ext cx="0" cy="290506"/>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97" name="直接箭头连接符 96"/>
              <p:cNvCxnSpPr/>
              <p:nvPr/>
            </p:nvCxnSpPr>
            <p:spPr bwMode="auto">
              <a:xfrm flipH="1">
                <a:off x="4985388" y="2158356"/>
                <a:ext cx="0" cy="32400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98" name="直接箭头连接符 97"/>
              <p:cNvCxnSpPr/>
              <p:nvPr/>
            </p:nvCxnSpPr>
            <p:spPr bwMode="auto">
              <a:xfrm rot="5400000">
                <a:off x="2966000" y="2177480"/>
                <a:ext cx="609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00" name="直接箭头连接符 99"/>
              <p:cNvCxnSpPr/>
              <p:nvPr/>
            </p:nvCxnSpPr>
            <p:spPr bwMode="auto">
              <a:xfrm rot="5400000">
                <a:off x="2133901" y="2249479"/>
                <a:ext cx="500066"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03" name="直接箭头连接符 102"/>
              <p:cNvCxnSpPr/>
              <p:nvPr/>
            </p:nvCxnSpPr>
            <p:spPr bwMode="auto">
              <a:xfrm rot="16200000" flipH="1">
                <a:off x="3874448" y="2214554"/>
                <a:ext cx="571504"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10" name="直接箭头连接符 109"/>
              <p:cNvCxnSpPr/>
              <p:nvPr/>
            </p:nvCxnSpPr>
            <p:spPr bwMode="auto">
              <a:xfrm rot="5400000">
                <a:off x="1748397" y="2306685"/>
                <a:ext cx="360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0" name="直接箭头连接符 119"/>
              <p:cNvCxnSpPr/>
              <p:nvPr/>
            </p:nvCxnSpPr>
            <p:spPr bwMode="auto">
              <a:xfrm rot="5400000">
                <a:off x="2548405" y="2207405"/>
                <a:ext cx="558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2" name="直接箭头连接符 121"/>
              <p:cNvCxnSpPr/>
              <p:nvPr/>
            </p:nvCxnSpPr>
            <p:spPr bwMode="auto">
              <a:xfrm rot="5400000">
                <a:off x="3409141" y="2178207"/>
                <a:ext cx="612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3" name="直接箭头连接符 122"/>
              <p:cNvCxnSpPr/>
              <p:nvPr/>
            </p:nvCxnSpPr>
            <p:spPr bwMode="auto">
              <a:xfrm rot="16200000" flipH="1">
                <a:off x="4356000" y="2267676"/>
                <a:ext cx="432000"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42" name="TextBox 141"/>
            <p:cNvSpPr txBox="1"/>
            <p:nvPr/>
          </p:nvSpPr>
          <p:spPr>
            <a:xfrm>
              <a:off x="3428992" y="150160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grpSp>
      <p:grpSp>
        <p:nvGrpSpPr>
          <p:cNvPr id="150" name="组合 149"/>
          <p:cNvGrpSpPr/>
          <p:nvPr/>
        </p:nvGrpSpPr>
        <p:grpSpPr>
          <a:xfrm>
            <a:off x="544577" y="1776961"/>
            <a:ext cx="955589" cy="1449867"/>
            <a:chOff x="500034" y="1776961"/>
            <a:chExt cx="955589" cy="1449867"/>
          </a:xfrm>
        </p:grpSpPr>
        <p:cxnSp>
          <p:nvCxnSpPr>
            <p:cNvPr id="138" name="直接箭头连接符 137"/>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139" name="直接箭头连接符 138"/>
            <p:cNvCxnSpPr/>
            <p:nvPr/>
          </p:nvCxnSpPr>
          <p:spPr bwMode="auto">
            <a:xfrm rot="5400000">
              <a:off x="1106084" y="2310742"/>
              <a:ext cx="504000"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146" name="弧形 145"/>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147" name="TextBox 146"/>
            <p:cNvSpPr txBox="1"/>
            <p:nvPr/>
          </p:nvSpPr>
          <p:spPr>
            <a:xfrm>
              <a:off x="500034" y="2571744"/>
              <a:ext cx="559769"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148" name="TextBox 147"/>
            <p:cNvSpPr txBox="1"/>
            <p:nvPr/>
          </p:nvSpPr>
          <p:spPr>
            <a:xfrm>
              <a:off x="804883" y="1776961"/>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149" name="TextBox 148"/>
            <p:cNvSpPr txBox="1"/>
            <p:nvPr/>
          </p:nvSpPr>
          <p:spPr>
            <a:xfrm>
              <a:off x="919697" y="2857496"/>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grpSp>
      <p:grpSp>
        <p:nvGrpSpPr>
          <p:cNvPr id="151" name="组合 150"/>
          <p:cNvGrpSpPr/>
          <p:nvPr/>
        </p:nvGrpSpPr>
        <p:grpSpPr>
          <a:xfrm flipH="1">
            <a:off x="4987928" y="1785926"/>
            <a:ext cx="947574" cy="1428760"/>
            <a:chOff x="508049" y="1776961"/>
            <a:chExt cx="947574" cy="1428760"/>
          </a:xfrm>
        </p:grpSpPr>
        <p:cxnSp>
          <p:nvCxnSpPr>
            <p:cNvPr id="152" name="直接箭头连接符 151"/>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153" name="直接箭头连接符 152"/>
            <p:cNvCxnSpPr/>
            <p:nvPr/>
          </p:nvCxnSpPr>
          <p:spPr bwMode="auto">
            <a:xfrm rot="5400000">
              <a:off x="1106084" y="2810051"/>
              <a:ext cx="504000"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154" name="弧形 153"/>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155" name="TextBox 154"/>
            <p:cNvSpPr txBox="1"/>
            <p:nvPr/>
          </p:nvSpPr>
          <p:spPr>
            <a:xfrm>
              <a:off x="508049" y="2205589"/>
              <a:ext cx="55175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156" name="TextBox 155"/>
            <p:cNvSpPr txBox="1"/>
            <p:nvPr/>
          </p:nvSpPr>
          <p:spPr>
            <a:xfrm>
              <a:off x="804883" y="1776961"/>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157" name="TextBox 156"/>
            <p:cNvSpPr txBox="1"/>
            <p:nvPr/>
          </p:nvSpPr>
          <p:spPr>
            <a:xfrm>
              <a:off x="741243" y="2836389"/>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grpSp>
      <p:grpSp>
        <p:nvGrpSpPr>
          <p:cNvPr id="170" name="组合 169"/>
          <p:cNvGrpSpPr/>
          <p:nvPr/>
        </p:nvGrpSpPr>
        <p:grpSpPr>
          <a:xfrm>
            <a:off x="1611143" y="2643182"/>
            <a:ext cx="3346953" cy="398238"/>
            <a:chOff x="1611143" y="2643182"/>
            <a:chExt cx="3346953" cy="398238"/>
          </a:xfrm>
        </p:grpSpPr>
        <p:grpSp>
          <p:nvGrpSpPr>
            <p:cNvPr id="168" name="组合 167"/>
            <p:cNvGrpSpPr/>
            <p:nvPr/>
          </p:nvGrpSpPr>
          <p:grpSpPr>
            <a:xfrm>
              <a:off x="1611143" y="2643182"/>
              <a:ext cx="3346953" cy="19861"/>
              <a:chOff x="1500166" y="2643182"/>
              <a:chExt cx="3346953" cy="19861"/>
            </a:xfrm>
          </p:grpSpPr>
          <p:cxnSp>
            <p:nvCxnSpPr>
              <p:cNvPr id="160" name="直接箭头连接符 159"/>
              <p:cNvCxnSpPr/>
              <p:nvPr/>
            </p:nvCxnSpPr>
            <p:spPr bwMode="auto">
              <a:xfrm>
                <a:off x="1500166" y="2643182"/>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1" name="直接箭头连接符 160"/>
              <p:cNvCxnSpPr/>
              <p:nvPr/>
            </p:nvCxnSpPr>
            <p:spPr bwMode="auto">
              <a:xfrm>
                <a:off x="1939427"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2" name="直接箭头连接符 161"/>
              <p:cNvCxnSpPr/>
              <p:nvPr/>
            </p:nvCxnSpPr>
            <p:spPr bwMode="auto">
              <a:xfrm>
                <a:off x="2404601" y="2643182"/>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3" name="直接箭头连接符 162"/>
              <p:cNvCxnSpPr/>
              <p:nvPr/>
            </p:nvCxnSpPr>
            <p:spPr bwMode="auto">
              <a:xfrm>
                <a:off x="2846855"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4" name="直接箭头连接符 163"/>
              <p:cNvCxnSpPr/>
              <p:nvPr/>
            </p:nvCxnSpPr>
            <p:spPr bwMode="auto">
              <a:xfrm>
                <a:off x="3286116"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5" name="直接箭头连接符 164"/>
              <p:cNvCxnSpPr/>
              <p:nvPr/>
            </p:nvCxnSpPr>
            <p:spPr bwMode="auto">
              <a:xfrm>
                <a:off x="3711751" y="266145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6" name="直接箭头连接符 165"/>
              <p:cNvCxnSpPr/>
              <p:nvPr/>
            </p:nvCxnSpPr>
            <p:spPr bwMode="auto">
              <a:xfrm>
                <a:off x="4151012" y="266145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7" name="直接箭头连接符 166"/>
              <p:cNvCxnSpPr/>
              <p:nvPr/>
            </p:nvCxnSpPr>
            <p:spPr bwMode="auto">
              <a:xfrm>
                <a:off x="4561367"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69" name="TextBox 168"/>
            <p:cNvSpPr txBox="1"/>
            <p:nvPr/>
          </p:nvSpPr>
          <p:spPr>
            <a:xfrm>
              <a:off x="3500430" y="267208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p</a:t>
              </a:r>
              <a:endParaRPr lang="zh-CN" altLang="en-US" b="1" i="1">
                <a:solidFill>
                  <a:srgbClr val="C00000"/>
                </a:solidFill>
                <a:latin typeface="Times New Roman" pitchFamily="18" charset="0"/>
                <a:cs typeface="Times New Roman" pitchFamily="18" charset="0"/>
              </a:endParaRPr>
            </a:p>
          </p:txBody>
        </p:sp>
      </p:grpSp>
      <p:grpSp>
        <p:nvGrpSpPr>
          <p:cNvPr id="175" name="组合 174"/>
          <p:cNvGrpSpPr/>
          <p:nvPr/>
        </p:nvGrpSpPr>
        <p:grpSpPr>
          <a:xfrm>
            <a:off x="1443312" y="3143248"/>
            <a:ext cx="414044" cy="855841"/>
            <a:chOff x="1471260" y="3429000"/>
            <a:chExt cx="414044" cy="855841"/>
          </a:xfrm>
        </p:grpSpPr>
        <p:cxnSp>
          <p:nvCxnSpPr>
            <p:cNvPr id="171" name="直接连接符 170"/>
            <p:cNvCxnSpPr/>
            <p:nvPr/>
          </p:nvCxnSpPr>
          <p:spPr bwMode="auto">
            <a:xfrm rot="5400000">
              <a:off x="1485692" y="3906047"/>
              <a:ext cx="756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2" name="直接连接符 171"/>
            <p:cNvCxnSpPr/>
            <p:nvPr/>
          </p:nvCxnSpPr>
          <p:spPr bwMode="auto">
            <a:xfrm rot="5400000">
              <a:off x="1338911" y="3680582"/>
              <a:ext cx="285752"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3" name="直接连接符 172"/>
            <p:cNvCxnSpPr/>
            <p:nvPr/>
          </p:nvCxnSpPr>
          <p:spPr bwMode="auto">
            <a:xfrm>
              <a:off x="1480993" y="3763931"/>
              <a:ext cx="396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74" name="TextBox 173"/>
            <p:cNvSpPr txBox="1"/>
            <p:nvPr/>
          </p:nvSpPr>
          <p:spPr>
            <a:xfrm>
              <a:off x="1471260" y="3429000"/>
              <a:ext cx="414044"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u</a:t>
              </a:r>
              <a:r>
                <a:rPr lang="en-US" altLang="zh-CN" b="1" i="1" baseline="-25000">
                  <a:latin typeface="Times New Roman" pitchFamily="18" charset="0"/>
                  <a:cs typeface="Times New Roman" pitchFamily="18" charset="0"/>
                </a:rPr>
                <a:t>A</a:t>
              </a:r>
            </a:p>
          </p:txBody>
        </p:sp>
      </p:grpSp>
      <p:grpSp>
        <p:nvGrpSpPr>
          <p:cNvPr id="180" name="组合 179"/>
          <p:cNvGrpSpPr/>
          <p:nvPr/>
        </p:nvGrpSpPr>
        <p:grpSpPr>
          <a:xfrm>
            <a:off x="1643045" y="2571745"/>
            <a:ext cx="424306" cy="714380"/>
            <a:chOff x="1752018" y="2571744"/>
            <a:chExt cx="424306" cy="1008001"/>
          </a:xfrm>
        </p:grpSpPr>
        <p:cxnSp>
          <p:nvCxnSpPr>
            <p:cNvPr id="176" name="直接连接符 175"/>
            <p:cNvCxnSpPr/>
            <p:nvPr/>
          </p:nvCxnSpPr>
          <p:spPr bwMode="auto">
            <a:xfrm rot="10800000">
              <a:off x="1960324" y="2571744"/>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7" name="直接连接符 176"/>
            <p:cNvCxnSpPr/>
            <p:nvPr/>
          </p:nvCxnSpPr>
          <p:spPr bwMode="auto">
            <a:xfrm rot="10800000">
              <a:off x="1958638" y="3571876"/>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8" name="直接连接符 177"/>
            <p:cNvCxnSpPr/>
            <p:nvPr/>
          </p:nvCxnSpPr>
          <p:spPr bwMode="auto">
            <a:xfrm rot="5400000">
              <a:off x="1568289" y="3075125"/>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79" name="TextBox 178"/>
            <p:cNvSpPr txBox="1"/>
            <p:nvPr/>
          </p:nvSpPr>
          <p:spPr>
            <a:xfrm rot="16200000">
              <a:off x="1537717" y="2942633"/>
              <a:ext cx="705601" cy="276999"/>
            </a:xfrm>
            <a:prstGeom prst="rect">
              <a:avLst/>
            </a:prstGeom>
            <a:noFill/>
            <a:ln w="28575">
              <a:noFill/>
            </a:ln>
          </p:spPr>
          <p:txBody>
            <a:bodyPr wrap="square" tIns="0" rIns="90000" bIns="0" rtlCol="0">
              <a:spAutoFit/>
            </a:bodyPr>
            <a:lstStyle/>
            <a:p>
              <a:r>
                <a:rPr lang="en-US" altLang="zh-CN" b="1" i="1">
                  <a:latin typeface="Times New Roman" pitchFamily="18" charset="0"/>
                  <a:cs typeface="Times New Roman" pitchFamily="18" charset="0"/>
                </a:rPr>
                <a:t>w</a:t>
              </a:r>
              <a:r>
                <a:rPr lang="en-US" altLang="zh-CN" b="1" i="1" baseline="-25000">
                  <a:latin typeface="Times New Roman" pitchFamily="18" charset="0"/>
                  <a:cs typeface="Times New Roman" pitchFamily="18" charset="0"/>
                </a:rPr>
                <a:t>A</a:t>
              </a:r>
              <a:endParaRPr lang="zh-CN" altLang="en-US" b="1" i="1" baseline="-25000">
                <a:latin typeface="Times New Roman" pitchFamily="18" charset="0"/>
                <a:cs typeface="Times New Roman" pitchFamily="18" charset="0"/>
              </a:endParaRPr>
            </a:p>
          </p:txBody>
        </p:sp>
      </p:grpSp>
      <p:grpSp>
        <p:nvGrpSpPr>
          <p:cNvPr id="181" name="组合 180"/>
          <p:cNvGrpSpPr/>
          <p:nvPr/>
        </p:nvGrpSpPr>
        <p:grpSpPr>
          <a:xfrm>
            <a:off x="5000628" y="2593010"/>
            <a:ext cx="424306" cy="1857388"/>
            <a:chOff x="1752018" y="2571744"/>
            <a:chExt cx="424306" cy="1008001"/>
          </a:xfrm>
        </p:grpSpPr>
        <p:cxnSp>
          <p:nvCxnSpPr>
            <p:cNvPr id="182" name="直接连接符 181"/>
            <p:cNvCxnSpPr/>
            <p:nvPr/>
          </p:nvCxnSpPr>
          <p:spPr bwMode="auto">
            <a:xfrm rot="10800000">
              <a:off x="1960324" y="2571744"/>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3" name="直接连接符 182"/>
            <p:cNvCxnSpPr/>
            <p:nvPr/>
          </p:nvCxnSpPr>
          <p:spPr bwMode="auto">
            <a:xfrm rot="10800000">
              <a:off x="1958638" y="3571876"/>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4" name="直接连接符 183"/>
            <p:cNvCxnSpPr/>
            <p:nvPr/>
          </p:nvCxnSpPr>
          <p:spPr bwMode="auto">
            <a:xfrm rot="5400000">
              <a:off x="1568289" y="3075125"/>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85" name="TextBox 184"/>
            <p:cNvSpPr txBox="1"/>
            <p:nvPr/>
          </p:nvSpPr>
          <p:spPr>
            <a:xfrm rot="16200000">
              <a:off x="1625659" y="3087307"/>
              <a:ext cx="529717" cy="276999"/>
            </a:xfrm>
            <a:prstGeom prst="rect">
              <a:avLst/>
            </a:prstGeom>
            <a:noFill/>
            <a:ln w="28575">
              <a:noFill/>
            </a:ln>
          </p:spPr>
          <p:txBody>
            <a:bodyPr wrap="square" tIns="0" rIns="90000" bIns="0" rtlCol="0">
              <a:spAutoFit/>
            </a:bodyPr>
            <a:lstStyle/>
            <a:p>
              <a:r>
                <a:rPr lang="en-US" altLang="zh-CN" b="1" i="1">
                  <a:latin typeface="Times New Roman" pitchFamily="18" charset="0"/>
                  <a:cs typeface="Times New Roman" pitchFamily="18" charset="0"/>
                </a:rPr>
                <a:t>w</a:t>
              </a:r>
              <a:r>
                <a:rPr lang="en-US" altLang="zh-CN" b="1" i="1" baseline="-25000">
                  <a:latin typeface="Times New Roman" pitchFamily="18" charset="0"/>
                  <a:cs typeface="Times New Roman" pitchFamily="18" charset="0"/>
                </a:rPr>
                <a:t>B</a:t>
              </a:r>
              <a:endParaRPr lang="zh-CN" altLang="en-US" b="1" i="1" baseline="-25000">
                <a:latin typeface="Times New Roman" pitchFamily="18" charset="0"/>
                <a:cs typeface="Times New Roman" pitchFamily="18" charset="0"/>
              </a:endParaRPr>
            </a:p>
          </p:txBody>
        </p:sp>
      </p:grpSp>
      <p:grpSp>
        <p:nvGrpSpPr>
          <p:cNvPr id="186" name="组合 185"/>
          <p:cNvGrpSpPr/>
          <p:nvPr/>
        </p:nvGrpSpPr>
        <p:grpSpPr>
          <a:xfrm>
            <a:off x="4929190" y="3319500"/>
            <a:ext cx="414044" cy="395252"/>
            <a:chOff x="1471260" y="3429000"/>
            <a:chExt cx="414044" cy="395252"/>
          </a:xfrm>
        </p:grpSpPr>
        <p:cxnSp>
          <p:nvCxnSpPr>
            <p:cNvPr id="187" name="直接连接符 186"/>
            <p:cNvCxnSpPr/>
            <p:nvPr/>
          </p:nvCxnSpPr>
          <p:spPr bwMode="auto">
            <a:xfrm rot="5400000">
              <a:off x="1719692" y="3672047"/>
              <a:ext cx="288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8" name="直接连接符 187"/>
            <p:cNvCxnSpPr/>
            <p:nvPr/>
          </p:nvCxnSpPr>
          <p:spPr bwMode="auto">
            <a:xfrm rot="5400000">
              <a:off x="1338911" y="3680582"/>
              <a:ext cx="285752"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9" name="直接连接符 188"/>
            <p:cNvCxnSpPr/>
            <p:nvPr/>
          </p:nvCxnSpPr>
          <p:spPr bwMode="auto">
            <a:xfrm>
              <a:off x="1480993" y="3763931"/>
              <a:ext cx="396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90" name="TextBox 189"/>
            <p:cNvSpPr txBox="1"/>
            <p:nvPr/>
          </p:nvSpPr>
          <p:spPr>
            <a:xfrm>
              <a:off x="1471260" y="3429000"/>
              <a:ext cx="414044"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u</a:t>
              </a:r>
              <a:r>
                <a:rPr lang="en-US" altLang="zh-CN" b="1" i="1" baseline="-25000">
                  <a:latin typeface="Times New Roman" pitchFamily="18" charset="0"/>
                  <a:cs typeface="Times New Roman" pitchFamily="18" charset="0"/>
                </a:rPr>
                <a:t>B</a:t>
              </a:r>
            </a:p>
          </p:txBody>
        </p:sp>
      </p:grpSp>
      <p:grpSp>
        <p:nvGrpSpPr>
          <p:cNvPr id="202" name="组合 201"/>
          <p:cNvGrpSpPr/>
          <p:nvPr/>
        </p:nvGrpSpPr>
        <p:grpSpPr>
          <a:xfrm>
            <a:off x="1525566" y="3249849"/>
            <a:ext cx="407484" cy="1010449"/>
            <a:chOff x="1525566" y="3249849"/>
            <a:chExt cx="407484" cy="1010449"/>
          </a:xfrm>
        </p:grpSpPr>
        <p:cxnSp>
          <p:nvCxnSpPr>
            <p:cNvPr id="192" name="直接连接符 191"/>
            <p:cNvCxnSpPr/>
            <p:nvPr/>
          </p:nvCxnSpPr>
          <p:spPr bwMode="auto">
            <a:xfrm flipH="1">
              <a:off x="1618270" y="3249849"/>
              <a:ext cx="214314" cy="71875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3" name="矩形 192"/>
            <p:cNvSpPr/>
            <p:nvPr/>
          </p:nvSpPr>
          <p:spPr>
            <a:xfrm>
              <a:off x="1525566" y="3890966"/>
              <a:ext cx="407484" cy="369332"/>
            </a:xfrm>
            <a:prstGeom prst="rect">
              <a:avLst/>
            </a:prstGeom>
          </p:spPr>
          <p:txBody>
            <a:bodyPr wrap="none">
              <a:spAutoFit/>
            </a:bodyPr>
            <a:lstStyle/>
            <a:p>
              <a:r>
                <a:rPr lang="el-GR" altLang="zh-CN" b="1" i="1">
                  <a:latin typeface="Times New Roman" pitchFamily="18" charset="0"/>
                  <a:cs typeface="Times New Roman" pitchFamily="18" charset="0"/>
                </a:rPr>
                <a:t>θ</a:t>
              </a:r>
              <a:r>
                <a:rPr lang="en-US" altLang="zh-CN" b="1" i="1" baseline="-25000">
                  <a:latin typeface="Times New Roman" pitchFamily="18" charset="0"/>
                  <a:cs typeface="Times New Roman" pitchFamily="18" charset="0"/>
                </a:rPr>
                <a:t>A</a:t>
              </a:r>
              <a:endParaRPr lang="zh-CN" altLang="en-US" baseline="-25000"/>
            </a:p>
          </p:txBody>
        </p:sp>
      </p:grpSp>
      <p:grpSp>
        <p:nvGrpSpPr>
          <p:cNvPr id="203" name="组合 202"/>
          <p:cNvGrpSpPr/>
          <p:nvPr/>
        </p:nvGrpSpPr>
        <p:grpSpPr>
          <a:xfrm>
            <a:off x="4714876" y="4429132"/>
            <a:ext cx="517524" cy="428628"/>
            <a:chOff x="4714876" y="4429132"/>
            <a:chExt cx="517524" cy="428628"/>
          </a:xfrm>
        </p:grpSpPr>
        <p:sp>
          <p:nvSpPr>
            <p:cNvPr id="194" name="矩形 193"/>
            <p:cNvSpPr/>
            <p:nvPr/>
          </p:nvSpPr>
          <p:spPr>
            <a:xfrm>
              <a:off x="4714876" y="4429132"/>
              <a:ext cx="407484" cy="369332"/>
            </a:xfrm>
            <a:prstGeom prst="rect">
              <a:avLst/>
            </a:prstGeom>
          </p:spPr>
          <p:txBody>
            <a:bodyPr wrap="none">
              <a:spAutoFit/>
            </a:bodyPr>
            <a:lstStyle/>
            <a:p>
              <a:r>
                <a:rPr lang="el-GR" altLang="zh-CN" b="1" i="1">
                  <a:latin typeface="Times New Roman" pitchFamily="18" charset="0"/>
                  <a:cs typeface="Times New Roman" pitchFamily="18" charset="0"/>
                </a:rPr>
                <a:t>θ</a:t>
              </a:r>
              <a:r>
                <a:rPr lang="en-US" altLang="zh-CN" b="1" i="1" baseline="-25000">
                  <a:latin typeface="Times New Roman" pitchFamily="18" charset="0"/>
                  <a:cs typeface="Times New Roman" pitchFamily="18" charset="0"/>
                </a:rPr>
                <a:t>B</a:t>
              </a:r>
              <a:endParaRPr lang="zh-CN" altLang="en-US" baseline="-25000"/>
            </a:p>
          </p:txBody>
        </p:sp>
        <p:cxnSp>
          <p:nvCxnSpPr>
            <p:cNvPr id="195" name="直接连接符 194"/>
            <p:cNvCxnSpPr/>
            <p:nvPr/>
          </p:nvCxnSpPr>
          <p:spPr bwMode="auto">
            <a:xfrm rot="5400000">
              <a:off x="4929190" y="4500570"/>
              <a:ext cx="357190" cy="2143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9" name="直接连接符 198"/>
            <p:cNvCxnSpPr/>
            <p:nvPr/>
          </p:nvCxnSpPr>
          <p:spPr bwMode="auto">
            <a:xfrm rot="5400000">
              <a:off x="5001422" y="4642652"/>
              <a:ext cx="42862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1" name="任意多边形 200"/>
            <p:cNvSpPr/>
            <p:nvPr/>
          </p:nvSpPr>
          <p:spPr bwMode="auto">
            <a:xfrm>
              <a:off x="5080000" y="4622800"/>
              <a:ext cx="152400" cy="57150"/>
            </a:xfrm>
            <a:custGeom>
              <a:avLst/>
              <a:gdLst>
                <a:gd name="connsiteX0" fmla="*/ 0 w 152400"/>
                <a:gd name="connsiteY0" fmla="*/ 0 h 57150"/>
                <a:gd name="connsiteX1" fmla="*/ 88900 w 152400"/>
                <a:gd name="connsiteY1" fmla="*/ 50800 h 57150"/>
                <a:gd name="connsiteX2" fmla="*/ 152400 w 152400"/>
                <a:gd name="connsiteY2" fmla="*/ 38100 h 57150"/>
              </a:gdLst>
              <a:ahLst/>
              <a:cxnLst>
                <a:cxn ang="0">
                  <a:pos x="connsiteX0" y="connsiteY0"/>
                </a:cxn>
                <a:cxn ang="0">
                  <a:pos x="connsiteX1" y="connsiteY1"/>
                </a:cxn>
                <a:cxn ang="0">
                  <a:pos x="connsiteX2" y="connsiteY2"/>
                </a:cxn>
              </a:cxnLst>
              <a:rect l="l" t="t" r="r" b="b"/>
              <a:pathLst>
                <a:path w="152400" h="57150">
                  <a:moveTo>
                    <a:pt x="0" y="0"/>
                  </a:moveTo>
                  <a:cubicBezTo>
                    <a:pt x="31750" y="22225"/>
                    <a:pt x="63500" y="44450"/>
                    <a:pt x="88900" y="50800"/>
                  </a:cubicBezTo>
                  <a:cubicBezTo>
                    <a:pt x="114300" y="57150"/>
                    <a:pt x="133350" y="47625"/>
                    <a:pt x="152400" y="38100"/>
                  </a:cubicBezTo>
                </a:path>
              </a:pathLst>
            </a:custGeom>
            <a:no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aphicFrame>
        <p:nvGraphicFramePr>
          <p:cNvPr id="208" name="Object 7"/>
          <p:cNvGraphicFramePr>
            <a:graphicFrameLocks noChangeAspect="1"/>
          </p:cNvGraphicFramePr>
          <p:nvPr/>
        </p:nvGraphicFramePr>
        <p:xfrm>
          <a:off x="1285852" y="5051436"/>
          <a:ext cx="5351462" cy="946150"/>
        </p:xfrm>
        <a:graphic>
          <a:graphicData uri="http://schemas.openxmlformats.org/presentationml/2006/ole">
            <mc:AlternateContent xmlns:mc="http://schemas.openxmlformats.org/markup-compatibility/2006">
              <mc:Choice xmlns:v="urn:schemas-microsoft-com:vml" Requires="v">
                <p:oleObj spid="_x0000_s586756" name="Equation" r:id="rId4" imgW="3454200" imgH="609480" progId="Equation.DSMT4">
                  <p:embed/>
                </p:oleObj>
              </mc:Choice>
              <mc:Fallback>
                <p:oleObj name="Equation" r:id="rId4" imgW="3454200" imgH="60948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52" y="5051436"/>
                        <a:ext cx="53514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500" fill="hold"/>
                                        <p:tgtEl>
                                          <p:spTgt spid="134"/>
                                        </p:tgtEl>
                                        <p:attrNameLst>
                                          <p:attrName>ppt_x</p:attrName>
                                        </p:attrNameLst>
                                      </p:cBhvr>
                                      <p:tavLst>
                                        <p:tav tm="0">
                                          <p:val>
                                            <p:strVal val="#ppt_x"/>
                                          </p:val>
                                        </p:tav>
                                        <p:tav tm="100000">
                                          <p:val>
                                            <p:strVal val="#ppt_x"/>
                                          </p:val>
                                        </p:tav>
                                      </p:tavLst>
                                    </p:anim>
                                    <p:anim calcmode="lin" valueType="num">
                                      <p:cBhvr additive="base">
                                        <p:cTn id="8"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58"/>
                                        </p:tgtEl>
                                        <p:attrNameLst>
                                          <p:attrName>style.visibility</p:attrName>
                                        </p:attrNameLst>
                                      </p:cBhvr>
                                      <p:to>
                                        <p:strVal val="visible"/>
                                      </p:to>
                                    </p:set>
                                    <p:anim calcmode="lin" valueType="num">
                                      <p:cBhvr additive="base">
                                        <p:cTn id="13" dur="500" fill="hold"/>
                                        <p:tgtEl>
                                          <p:spTgt spid="158"/>
                                        </p:tgtEl>
                                        <p:attrNameLst>
                                          <p:attrName>ppt_x</p:attrName>
                                        </p:attrNameLst>
                                      </p:cBhvr>
                                      <p:tavLst>
                                        <p:tav tm="0">
                                          <p:val>
                                            <p:strVal val="#ppt_x"/>
                                          </p:val>
                                        </p:tav>
                                        <p:tav tm="100000">
                                          <p:val>
                                            <p:strVal val="#ppt_x"/>
                                          </p:val>
                                        </p:tav>
                                      </p:tavLst>
                                    </p:anim>
                                    <p:anim calcmode="lin" valueType="num">
                                      <p:cBhvr additive="base">
                                        <p:cTn id="14" dur="500" fill="hold"/>
                                        <p:tgtEl>
                                          <p:spTgt spid="158"/>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170"/>
                                        </p:tgtEl>
                                        <p:attrNameLst>
                                          <p:attrName>style.visibility</p:attrName>
                                        </p:attrNameLst>
                                      </p:cBhvr>
                                      <p:to>
                                        <p:strVal val="visible"/>
                                      </p:to>
                                    </p:set>
                                    <p:anim calcmode="lin" valueType="num">
                                      <p:cBhvr additive="base">
                                        <p:cTn id="18" dur="500" fill="hold"/>
                                        <p:tgtEl>
                                          <p:spTgt spid="170"/>
                                        </p:tgtEl>
                                        <p:attrNameLst>
                                          <p:attrName>ppt_x</p:attrName>
                                        </p:attrNameLst>
                                      </p:cBhvr>
                                      <p:tavLst>
                                        <p:tav tm="0">
                                          <p:val>
                                            <p:strVal val="0-#ppt_w/2"/>
                                          </p:val>
                                        </p:tav>
                                        <p:tav tm="100000">
                                          <p:val>
                                            <p:strVal val="#ppt_x"/>
                                          </p:val>
                                        </p:tav>
                                      </p:tavLst>
                                    </p:anim>
                                    <p:anim calcmode="lin" valueType="num">
                                      <p:cBhvr additive="base">
                                        <p:cTn id="19" dur="500" fill="hold"/>
                                        <p:tgtEl>
                                          <p:spTgt spid="170"/>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150"/>
                                        </p:tgtEl>
                                        <p:attrNameLst>
                                          <p:attrName>style.visibility</p:attrName>
                                        </p:attrNameLst>
                                      </p:cBhvr>
                                      <p:to>
                                        <p:strVal val="visible"/>
                                      </p:to>
                                    </p:set>
                                    <p:anim calcmode="lin" valueType="num">
                                      <p:cBhvr additive="base">
                                        <p:cTn id="23" dur="500" fill="hold"/>
                                        <p:tgtEl>
                                          <p:spTgt spid="150"/>
                                        </p:tgtEl>
                                        <p:attrNameLst>
                                          <p:attrName>ppt_x</p:attrName>
                                        </p:attrNameLst>
                                      </p:cBhvr>
                                      <p:tavLst>
                                        <p:tav tm="0">
                                          <p:val>
                                            <p:strVal val="#ppt_x"/>
                                          </p:val>
                                        </p:tav>
                                        <p:tav tm="100000">
                                          <p:val>
                                            <p:strVal val="#ppt_x"/>
                                          </p:val>
                                        </p:tav>
                                      </p:tavLst>
                                    </p:anim>
                                    <p:anim calcmode="lin" valueType="num">
                                      <p:cBhvr additive="base">
                                        <p:cTn id="24" dur="500" fill="hold"/>
                                        <p:tgtEl>
                                          <p:spTgt spid="150"/>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nodeType="afterEffect">
                                  <p:stCondLst>
                                    <p:cond delay="0"/>
                                  </p:stCondLst>
                                  <p:childTnLst>
                                    <p:set>
                                      <p:cBhvr>
                                        <p:cTn id="27" dur="1" fill="hold">
                                          <p:stCondLst>
                                            <p:cond delay="0"/>
                                          </p:stCondLst>
                                        </p:cTn>
                                        <p:tgtEl>
                                          <p:spTgt spid="151"/>
                                        </p:tgtEl>
                                        <p:attrNameLst>
                                          <p:attrName>style.visibility</p:attrName>
                                        </p:attrNameLst>
                                      </p:cBhvr>
                                      <p:to>
                                        <p:strVal val="visible"/>
                                      </p:to>
                                    </p:set>
                                    <p:anim calcmode="lin" valueType="num">
                                      <p:cBhvr additive="base">
                                        <p:cTn id="28" dur="500" fill="hold"/>
                                        <p:tgtEl>
                                          <p:spTgt spid="151"/>
                                        </p:tgtEl>
                                        <p:attrNameLst>
                                          <p:attrName>ppt_x</p:attrName>
                                        </p:attrNameLst>
                                      </p:cBhvr>
                                      <p:tavLst>
                                        <p:tav tm="0">
                                          <p:val>
                                            <p:strVal val="#ppt_x"/>
                                          </p:val>
                                        </p:tav>
                                        <p:tav tm="100000">
                                          <p:val>
                                            <p:strVal val="#ppt_x"/>
                                          </p:val>
                                        </p:tav>
                                      </p:tavLst>
                                    </p:anim>
                                    <p:anim calcmode="lin" valueType="num">
                                      <p:cBhvr additive="base">
                                        <p:cTn id="29" dur="500" fill="hold"/>
                                        <p:tgtEl>
                                          <p:spTgt spid="15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1"/>
                                        </p:tgtEl>
                                        <p:attrNameLst>
                                          <p:attrName>style.visibility</p:attrName>
                                        </p:attrNameLst>
                                      </p:cBhvr>
                                      <p:to>
                                        <p:strVal val="visible"/>
                                      </p:to>
                                    </p:set>
                                    <p:anim calcmode="lin" valueType="num">
                                      <p:cBhvr additive="base">
                                        <p:cTn id="34" dur="500" fill="hold"/>
                                        <p:tgtEl>
                                          <p:spTgt spid="81"/>
                                        </p:tgtEl>
                                        <p:attrNameLst>
                                          <p:attrName>ppt_x</p:attrName>
                                        </p:attrNameLst>
                                      </p:cBhvr>
                                      <p:tavLst>
                                        <p:tav tm="0">
                                          <p:val>
                                            <p:strVal val="#ppt_x"/>
                                          </p:val>
                                        </p:tav>
                                        <p:tav tm="100000">
                                          <p:val>
                                            <p:strVal val="#ppt_x"/>
                                          </p:val>
                                        </p:tav>
                                      </p:tavLst>
                                    </p:anim>
                                    <p:anim calcmode="lin" valueType="num">
                                      <p:cBhvr additive="base">
                                        <p:cTn id="35"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81"/>
                                        </p:tgtEl>
                                        <p:attrNameLst>
                                          <p:attrName>style.visibility</p:attrName>
                                        </p:attrNameLst>
                                      </p:cBhvr>
                                      <p:to>
                                        <p:strVal val="visible"/>
                                      </p:to>
                                    </p:set>
                                    <p:animEffect transition="in" filter="blinds(horizontal)">
                                      <p:cBhvr>
                                        <p:cTn id="40" dur="500"/>
                                        <p:tgtEl>
                                          <p:spTgt spid="181"/>
                                        </p:tgtEl>
                                      </p:cBhvr>
                                    </p:animEffect>
                                  </p:childTnLst>
                                </p:cTn>
                              </p:par>
                            </p:childTnLst>
                          </p:cTn>
                        </p:par>
                        <p:par>
                          <p:cTn id="41" fill="hold">
                            <p:stCondLst>
                              <p:cond delay="500"/>
                            </p:stCondLst>
                            <p:childTnLst>
                              <p:par>
                                <p:cTn id="42" presetID="3" presetClass="entr" presetSubtype="10" fill="hold" nodeType="afterEffect">
                                  <p:stCondLst>
                                    <p:cond delay="0"/>
                                  </p:stCondLst>
                                  <p:childTnLst>
                                    <p:set>
                                      <p:cBhvr>
                                        <p:cTn id="43" dur="1" fill="hold">
                                          <p:stCondLst>
                                            <p:cond delay="0"/>
                                          </p:stCondLst>
                                        </p:cTn>
                                        <p:tgtEl>
                                          <p:spTgt spid="180"/>
                                        </p:tgtEl>
                                        <p:attrNameLst>
                                          <p:attrName>style.visibility</p:attrName>
                                        </p:attrNameLst>
                                      </p:cBhvr>
                                      <p:to>
                                        <p:strVal val="visible"/>
                                      </p:to>
                                    </p:set>
                                    <p:animEffect transition="in" filter="blinds(horizontal)">
                                      <p:cBhvr>
                                        <p:cTn id="44" dur="500"/>
                                        <p:tgtEl>
                                          <p:spTgt spid="180"/>
                                        </p:tgtEl>
                                      </p:cBhvr>
                                    </p:animEffect>
                                  </p:childTnLst>
                                </p:cTn>
                              </p:par>
                            </p:childTnLst>
                          </p:cTn>
                        </p:par>
                        <p:par>
                          <p:cTn id="45" fill="hold">
                            <p:stCondLst>
                              <p:cond delay="1000"/>
                            </p:stCondLst>
                            <p:childTnLst>
                              <p:par>
                                <p:cTn id="46" presetID="3" presetClass="entr" presetSubtype="5" fill="hold" nodeType="afterEffect">
                                  <p:stCondLst>
                                    <p:cond delay="0"/>
                                  </p:stCondLst>
                                  <p:childTnLst>
                                    <p:set>
                                      <p:cBhvr>
                                        <p:cTn id="47" dur="1" fill="hold">
                                          <p:stCondLst>
                                            <p:cond delay="0"/>
                                          </p:stCondLst>
                                        </p:cTn>
                                        <p:tgtEl>
                                          <p:spTgt spid="175"/>
                                        </p:tgtEl>
                                        <p:attrNameLst>
                                          <p:attrName>style.visibility</p:attrName>
                                        </p:attrNameLst>
                                      </p:cBhvr>
                                      <p:to>
                                        <p:strVal val="visible"/>
                                      </p:to>
                                    </p:set>
                                    <p:animEffect transition="in" filter="blinds(vertical)">
                                      <p:cBhvr>
                                        <p:cTn id="48" dur="500"/>
                                        <p:tgtEl>
                                          <p:spTgt spid="175"/>
                                        </p:tgtEl>
                                      </p:cBhvr>
                                    </p:animEffect>
                                  </p:childTnLst>
                                </p:cTn>
                              </p:par>
                            </p:childTnLst>
                          </p:cTn>
                        </p:par>
                        <p:par>
                          <p:cTn id="49" fill="hold">
                            <p:stCondLst>
                              <p:cond delay="1500"/>
                            </p:stCondLst>
                            <p:childTnLst>
                              <p:par>
                                <p:cTn id="50" presetID="3" presetClass="entr" presetSubtype="5" fill="hold" nodeType="afterEffect">
                                  <p:stCondLst>
                                    <p:cond delay="0"/>
                                  </p:stCondLst>
                                  <p:childTnLst>
                                    <p:set>
                                      <p:cBhvr>
                                        <p:cTn id="51" dur="1" fill="hold">
                                          <p:stCondLst>
                                            <p:cond delay="0"/>
                                          </p:stCondLst>
                                        </p:cTn>
                                        <p:tgtEl>
                                          <p:spTgt spid="186"/>
                                        </p:tgtEl>
                                        <p:attrNameLst>
                                          <p:attrName>style.visibility</p:attrName>
                                        </p:attrNameLst>
                                      </p:cBhvr>
                                      <p:to>
                                        <p:strVal val="visible"/>
                                      </p:to>
                                    </p:set>
                                    <p:animEffect transition="in" filter="blinds(vertical)">
                                      <p:cBhvr>
                                        <p:cTn id="52" dur="500"/>
                                        <p:tgtEl>
                                          <p:spTgt spid="186"/>
                                        </p:tgtEl>
                                      </p:cBhvr>
                                    </p:animEffect>
                                  </p:childTnLst>
                                </p:cTn>
                              </p:par>
                            </p:childTnLst>
                          </p:cTn>
                        </p:par>
                        <p:par>
                          <p:cTn id="53" fill="hold">
                            <p:stCondLst>
                              <p:cond delay="2000"/>
                            </p:stCondLst>
                            <p:childTnLst>
                              <p:par>
                                <p:cTn id="54" presetID="3" presetClass="entr" presetSubtype="10" fill="hold" nodeType="afterEffect">
                                  <p:stCondLst>
                                    <p:cond delay="0"/>
                                  </p:stCondLst>
                                  <p:childTnLst>
                                    <p:set>
                                      <p:cBhvr>
                                        <p:cTn id="55" dur="1" fill="hold">
                                          <p:stCondLst>
                                            <p:cond delay="0"/>
                                          </p:stCondLst>
                                        </p:cTn>
                                        <p:tgtEl>
                                          <p:spTgt spid="202"/>
                                        </p:tgtEl>
                                        <p:attrNameLst>
                                          <p:attrName>style.visibility</p:attrName>
                                        </p:attrNameLst>
                                      </p:cBhvr>
                                      <p:to>
                                        <p:strVal val="visible"/>
                                      </p:to>
                                    </p:set>
                                    <p:animEffect transition="in" filter="blinds(horizontal)">
                                      <p:cBhvr>
                                        <p:cTn id="56" dur="500"/>
                                        <p:tgtEl>
                                          <p:spTgt spid="202"/>
                                        </p:tgtEl>
                                      </p:cBhvr>
                                    </p:animEffect>
                                  </p:childTnLst>
                                </p:cTn>
                              </p:par>
                            </p:childTnLst>
                          </p:cTn>
                        </p:par>
                        <p:par>
                          <p:cTn id="57" fill="hold">
                            <p:stCondLst>
                              <p:cond delay="2500"/>
                            </p:stCondLst>
                            <p:childTnLst>
                              <p:par>
                                <p:cTn id="58" presetID="3" presetClass="entr" presetSubtype="10" fill="hold" nodeType="afterEffect">
                                  <p:stCondLst>
                                    <p:cond delay="0"/>
                                  </p:stCondLst>
                                  <p:childTnLst>
                                    <p:set>
                                      <p:cBhvr>
                                        <p:cTn id="59" dur="1" fill="hold">
                                          <p:stCondLst>
                                            <p:cond delay="0"/>
                                          </p:stCondLst>
                                        </p:cTn>
                                        <p:tgtEl>
                                          <p:spTgt spid="203"/>
                                        </p:tgtEl>
                                        <p:attrNameLst>
                                          <p:attrName>style.visibility</p:attrName>
                                        </p:attrNameLst>
                                      </p:cBhvr>
                                      <p:to>
                                        <p:strVal val="visible"/>
                                      </p:to>
                                    </p:set>
                                    <p:animEffect transition="in" filter="blinds(horizontal)">
                                      <p:cBhvr>
                                        <p:cTn id="60" dur="500"/>
                                        <p:tgtEl>
                                          <p:spTgt spid="20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anim calcmode="lin" valueType="num">
                                      <p:cBhvr additive="base">
                                        <p:cTn id="65" dur="500" fill="hold"/>
                                        <p:tgtEl>
                                          <p:spTgt spid="54"/>
                                        </p:tgtEl>
                                        <p:attrNameLst>
                                          <p:attrName>ppt_x</p:attrName>
                                        </p:attrNameLst>
                                      </p:cBhvr>
                                      <p:tavLst>
                                        <p:tav tm="0">
                                          <p:val>
                                            <p:strVal val="#ppt_x"/>
                                          </p:val>
                                        </p:tav>
                                        <p:tav tm="100000">
                                          <p:val>
                                            <p:strVal val="#ppt_x"/>
                                          </p:val>
                                        </p:tav>
                                      </p:tavLst>
                                    </p:anim>
                                    <p:anim calcmode="lin" valueType="num">
                                      <p:cBhvr additive="base">
                                        <p:cTn id="66" dur="500" fill="hold"/>
                                        <p:tgtEl>
                                          <p:spTgt spid="54"/>
                                        </p:tgtEl>
                                        <p:attrNameLst>
                                          <p:attrName>ppt_y</p:attrName>
                                        </p:attrNameLst>
                                      </p:cBhvr>
                                      <p:tavLst>
                                        <p:tav tm="0">
                                          <p:val>
                                            <p:strVal val="1+#ppt_h/2"/>
                                          </p:val>
                                        </p:tav>
                                        <p:tav tm="100000">
                                          <p:val>
                                            <p:strVal val="#ppt_y"/>
                                          </p:val>
                                        </p:tav>
                                      </p:tavLst>
                                    </p:anim>
                                  </p:childTnLst>
                                </p:cTn>
                              </p:par>
                            </p:childTnLst>
                          </p:cTn>
                        </p:par>
                        <p:par>
                          <p:cTn id="67" fill="hold">
                            <p:stCondLst>
                              <p:cond delay="500"/>
                            </p:stCondLst>
                            <p:childTnLst>
                              <p:par>
                                <p:cTn id="68" presetID="2" presetClass="entr" presetSubtype="4" fill="hold" nodeType="afterEffect">
                                  <p:stCondLst>
                                    <p:cond delay="0"/>
                                  </p:stCondLst>
                                  <p:childTnLst>
                                    <p:set>
                                      <p:cBhvr>
                                        <p:cTn id="69" dur="1" fill="hold">
                                          <p:stCondLst>
                                            <p:cond delay="0"/>
                                          </p:stCondLst>
                                        </p:cTn>
                                        <p:tgtEl>
                                          <p:spTgt spid="208"/>
                                        </p:tgtEl>
                                        <p:attrNameLst>
                                          <p:attrName>style.visibility</p:attrName>
                                        </p:attrNameLst>
                                      </p:cBhvr>
                                      <p:to>
                                        <p:strVal val="visible"/>
                                      </p:to>
                                    </p:set>
                                    <p:anim calcmode="lin" valueType="num">
                                      <p:cBhvr additive="base">
                                        <p:cTn id="70" dur="500" fill="hold"/>
                                        <p:tgtEl>
                                          <p:spTgt spid="208"/>
                                        </p:tgtEl>
                                        <p:attrNameLst>
                                          <p:attrName>ppt_x</p:attrName>
                                        </p:attrNameLst>
                                      </p:cBhvr>
                                      <p:tavLst>
                                        <p:tav tm="0">
                                          <p:val>
                                            <p:strVal val="#ppt_x"/>
                                          </p:val>
                                        </p:tav>
                                        <p:tav tm="100000">
                                          <p:val>
                                            <p:strVal val="#ppt_x"/>
                                          </p:val>
                                        </p:tav>
                                      </p:tavLst>
                                    </p:anim>
                                    <p:anim calcmode="lin" valueType="num">
                                      <p:cBhvr additive="base">
                                        <p:cTn id="71" dur="500" fill="hold"/>
                                        <p:tgtEl>
                                          <p:spTgt spid="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8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虚功方程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4" name="Rectangle 6"/>
          <p:cNvSpPr>
            <a:spLocks noChangeArrowheads="1"/>
          </p:cNvSpPr>
          <p:nvPr/>
        </p:nvSpPr>
        <p:spPr bwMode="auto">
          <a:xfrm>
            <a:off x="469540" y="5130158"/>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内力虚功</a:t>
            </a:r>
            <a:endParaRPr lang="en-US" altLang="zh-CN" sz="2000" b="1">
              <a:latin typeface="Times New Roman" pitchFamily="18" charset="0"/>
              <a:cs typeface="Times New Roman" pitchFamily="18" charset="0"/>
            </a:endParaRPr>
          </a:p>
        </p:txBody>
      </p:sp>
      <p:grpSp>
        <p:nvGrpSpPr>
          <p:cNvPr id="4" name="组合 68"/>
          <p:cNvGrpSpPr/>
          <p:nvPr/>
        </p:nvGrpSpPr>
        <p:grpSpPr>
          <a:xfrm>
            <a:off x="2928926" y="1643050"/>
            <a:ext cx="6858048" cy="8215370"/>
            <a:chOff x="2928926" y="1643050"/>
            <a:chExt cx="6858048" cy="8215370"/>
          </a:xfrm>
        </p:grpSpPr>
        <p:grpSp>
          <p:nvGrpSpPr>
            <p:cNvPr id="5" name="组合 107"/>
            <p:cNvGrpSpPr/>
            <p:nvPr/>
          </p:nvGrpSpPr>
          <p:grpSpPr>
            <a:xfrm>
              <a:off x="4672836" y="3774524"/>
              <a:ext cx="3357586" cy="4369384"/>
              <a:chOff x="4672836" y="3774524"/>
              <a:chExt cx="3357586" cy="4369384"/>
            </a:xfrm>
          </p:grpSpPr>
          <p:cxnSp>
            <p:nvCxnSpPr>
              <p:cNvPr id="102" name="直接连接符 101"/>
              <p:cNvCxnSpPr>
                <a:stCxn id="71" idx="0"/>
                <a:endCxn id="71" idx="1"/>
              </p:cNvCxnSpPr>
              <p:nvPr/>
            </p:nvCxnSpPr>
            <p:spPr bwMode="auto">
              <a:xfrm rot="10800000" flipV="1">
                <a:off x="6356599" y="3774524"/>
                <a:ext cx="348023" cy="2656223"/>
              </a:xfrm>
              <a:prstGeom prst="line">
                <a:avLst/>
              </a:prstGeom>
              <a:solidFill>
                <a:schemeClr val="accent1"/>
              </a:solidFill>
              <a:ln w="19050" cap="flat" cmpd="sng" algn="ctr">
                <a:solidFill>
                  <a:schemeClr val="tx1"/>
                </a:solidFill>
                <a:prstDash val="lgDash"/>
                <a:round/>
                <a:headEnd type="none" w="med" len="med"/>
                <a:tailEnd type="none" w="med" len="med"/>
              </a:ln>
              <a:effectLst/>
            </p:spPr>
          </p:cxnSp>
          <p:cxnSp>
            <p:nvCxnSpPr>
              <p:cNvPr id="104" name="直接连接符 103"/>
              <p:cNvCxnSpPr/>
              <p:nvPr/>
            </p:nvCxnSpPr>
            <p:spPr bwMode="auto">
              <a:xfrm rot="5400000" flipH="1" flipV="1">
                <a:off x="5463623" y="5525911"/>
                <a:ext cx="1787302" cy="1352"/>
              </a:xfrm>
              <a:prstGeom prst="line">
                <a:avLst/>
              </a:prstGeom>
              <a:solidFill>
                <a:schemeClr val="accent1"/>
              </a:solidFill>
              <a:ln w="19050" cap="flat" cmpd="sng" algn="ctr">
                <a:solidFill>
                  <a:schemeClr val="tx1"/>
                </a:solidFill>
                <a:prstDash val="lgDash"/>
                <a:round/>
                <a:headEnd type="none" w="med" len="med"/>
                <a:tailEnd type="none" w="med" len="med"/>
              </a:ln>
              <a:effectLst/>
            </p:spPr>
          </p:cxnSp>
          <p:sp>
            <p:nvSpPr>
              <p:cNvPr id="106" name="弧形 105"/>
              <p:cNvSpPr>
                <a:spLocks noChangeAspect="1"/>
              </p:cNvSpPr>
              <p:nvPr/>
            </p:nvSpPr>
            <p:spPr bwMode="auto">
              <a:xfrm>
                <a:off x="4672836" y="4786322"/>
                <a:ext cx="3357586" cy="3357586"/>
              </a:xfrm>
              <a:prstGeom prst="arc">
                <a:avLst>
                  <a:gd name="adj1" fmla="val 16215314"/>
                  <a:gd name="adj2" fmla="val 1663437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07" name="矩形 106"/>
              <p:cNvSpPr/>
              <p:nvPr/>
            </p:nvSpPr>
            <p:spPr>
              <a:xfrm>
                <a:off x="6317790" y="4416990"/>
                <a:ext cx="304892" cy="369332"/>
              </a:xfrm>
              <a:prstGeom prst="rect">
                <a:avLst/>
              </a:prstGeom>
            </p:spPr>
            <p:txBody>
              <a:bodyPr wrap="none">
                <a:spAutoFit/>
              </a:bodyPr>
              <a:lstStyle/>
              <a:p>
                <a:r>
                  <a:rPr lang="el-GR" altLang="zh-CN" b="1" i="1">
                    <a:latin typeface="Times New Roman"/>
                    <a:cs typeface="Times New Roman"/>
                  </a:rPr>
                  <a:t>θ</a:t>
                </a:r>
                <a:endParaRPr lang="zh-CN" altLang="en-US"/>
              </a:p>
            </p:txBody>
          </p:sp>
        </p:grpSp>
        <p:grpSp>
          <p:nvGrpSpPr>
            <p:cNvPr id="6" name="组合 67"/>
            <p:cNvGrpSpPr/>
            <p:nvPr/>
          </p:nvGrpSpPr>
          <p:grpSpPr>
            <a:xfrm>
              <a:off x="2928926" y="1643050"/>
              <a:ext cx="6858048" cy="8215370"/>
              <a:chOff x="2928926" y="1643050"/>
              <a:chExt cx="6858048" cy="8215370"/>
            </a:xfrm>
          </p:grpSpPr>
          <p:grpSp>
            <p:nvGrpSpPr>
              <p:cNvPr id="7" name="组合 68"/>
              <p:cNvGrpSpPr/>
              <p:nvPr/>
            </p:nvGrpSpPr>
            <p:grpSpPr>
              <a:xfrm>
                <a:off x="6286512" y="1643050"/>
                <a:ext cx="1512000" cy="1130652"/>
                <a:chOff x="6500826" y="1583969"/>
                <a:chExt cx="1512000" cy="1130652"/>
              </a:xfrm>
            </p:grpSpPr>
            <p:grpSp>
              <p:nvGrpSpPr>
                <p:cNvPr id="8" name="组合 67"/>
                <p:cNvGrpSpPr/>
                <p:nvPr/>
              </p:nvGrpSpPr>
              <p:grpSpPr>
                <a:xfrm>
                  <a:off x="6605951" y="1583969"/>
                  <a:ext cx="1214571" cy="288947"/>
                  <a:chOff x="6214949" y="5500702"/>
                  <a:chExt cx="1214571" cy="288947"/>
                </a:xfrm>
              </p:grpSpPr>
              <p:cxnSp>
                <p:nvCxnSpPr>
                  <p:cNvPr id="64" name="直接连接符 63"/>
                  <p:cNvCxnSpPr/>
                  <p:nvPr/>
                </p:nvCxnSpPr>
                <p:spPr bwMode="auto">
                  <a:xfrm rot="5400000">
                    <a:off x="6107256" y="5680723"/>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7310672" y="5681342"/>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6215563" y="5669442"/>
                    <a:ext cx="1213957"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67" name="TextBox 66"/>
                  <p:cNvSpPr txBox="1"/>
                  <p:nvPr/>
                </p:nvSpPr>
                <p:spPr>
                  <a:xfrm>
                    <a:off x="6635918" y="5500702"/>
                    <a:ext cx="426868" cy="276999"/>
                  </a:xfrm>
                  <a:prstGeom prst="rect">
                    <a:avLst/>
                  </a:prstGeom>
                  <a:solidFill>
                    <a:schemeClr val="bg1"/>
                  </a:solidFill>
                  <a:ln w="28575">
                    <a:noFill/>
                  </a:ln>
                </p:spPr>
                <p:txBody>
                  <a:bodyPr wrap="none" tIns="0" rIns="90000" bIns="0"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9" name="组合 67"/>
                <p:cNvGrpSpPr/>
                <p:nvPr/>
              </p:nvGrpSpPr>
              <p:grpSpPr>
                <a:xfrm>
                  <a:off x="6500826" y="2000241"/>
                  <a:ext cx="1512000" cy="714380"/>
                  <a:chOff x="6500826" y="2000241"/>
                  <a:chExt cx="1512000" cy="714380"/>
                </a:xfrm>
              </p:grpSpPr>
              <p:sp>
                <p:nvSpPr>
                  <p:cNvPr id="63" name="矩形 62"/>
                  <p:cNvSpPr/>
                  <p:nvPr/>
                </p:nvSpPr>
                <p:spPr bwMode="auto">
                  <a:xfrm>
                    <a:off x="6606076" y="2000241"/>
                    <a:ext cx="1196143" cy="714380"/>
                  </a:xfrm>
                  <a:prstGeom prst="rect">
                    <a:avLst/>
                  </a:prstGeom>
                  <a:solidFill>
                    <a:srgbClr val="FFFFCC"/>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Times New Roman" pitchFamily="18" charset="0"/>
                      <a:ea typeface="华文细黑" pitchFamily="2" charset="-122"/>
                      <a:cs typeface="Times New Roman" pitchFamily="18" charset="0"/>
                    </a:endParaRPr>
                  </a:p>
                </p:txBody>
              </p:sp>
              <p:cxnSp>
                <p:nvCxnSpPr>
                  <p:cNvPr id="76" name="直接连接符 75"/>
                  <p:cNvCxnSpPr/>
                  <p:nvPr/>
                </p:nvCxnSpPr>
                <p:spPr bwMode="auto">
                  <a:xfrm>
                    <a:off x="6500826" y="2356832"/>
                    <a:ext cx="1512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grpSp>
          <p:grpSp>
            <p:nvGrpSpPr>
              <p:cNvPr id="10" name="组合 80"/>
              <p:cNvGrpSpPr/>
              <p:nvPr/>
            </p:nvGrpSpPr>
            <p:grpSpPr>
              <a:xfrm>
                <a:off x="2928926" y="3000372"/>
                <a:ext cx="6858048" cy="6858048"/>
                <a:chOff x="3286116" y="3143248"/>
                <a:chExt cx="6858048" cy="6858048"/>
              </a:xfrm>
            </p:grpSpPr>
            <p:sp>
              <p:nvSpPr>
                <p:cNvPr id="70" name="弧形 69"/>
                <p:cNvSpPr>
                  <a:spLocks noChangeAspect="1"/>
                </p:cNvSpPr>
                <p:nvPr/>
              </p:nvSpPr>
              <p:spPr bwMode="auto">
                <a:xfrm>
                  <a:off x="3286116" y="3143248"/>
                  <a:ext cx="6858048" cy="6858048"/>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72" name="弧形 71"/>
                <p:cNvSpPr>
                  <a:spLocks noChangeAspect="1"/>
                </p:cNvSpPr>
                <p:nvPr/>
              </p:nvSpPr>
              <p:spPr bwMode="auto">
                <a:xfrm>
                  <a:off x="3661071" y="3525152"/>
                  <a:ext cx="6118954" cy="6118954"/>
                </a:xfrm>
                <a:prstGeom prst="arc">
                  <a:avLst>
                    <a:gd name="adj1" fmla="val 16480611"/>
                    <a:gd name="adj2" fmla="val 18440276"/>
                  </a:avLst>
                </a:prstGeom>
                <a:noFill/>
                <a:ln w="19050" cap="flat" cmpd="sng" algn="ctr">
                  <a:solidFill>
                    <a:srgbClr val="00B050"/>
                  </a:solidFill>
                  <a:prstDash val="lgDashDot"/>
                  <a:round/>
                  <a:headEnd type="none" w="med" len="med"/>
                  <a:tailEnd type="none" w="med" len="med"/>
                </a:ln>
                <a:effectLst/>
              </p:spPr>
              <p:txBody>
                <a:bodyPr rtlCol="0" anchor="ctr"/>
                <a:lstStyle/>
                <a:p>
                  <a:pPr algn="ctr"/>
                  <a:endParaRPr lang="zh-CN" altLang="en-US"/>
                </a:p>
              </p:txBody>
            </p:sp>
            <p:sp>
              <p:nvSpPr>
                <p:cNvPr id="71" name="弧形 70"/>
                <p:cNvSpPr>
                  <a:spLocks noChangeAspect="1"/>
                </p:cNvSpPr>
                <p:nvPr/>
              </p:nvSpPr>
              <p:spPr bwMode="auto">
                <a:xfrm>
                  <a:off x="4034863" y="3894699"/>
                  <a:ext cx="5357850" cy="5357850"/>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cxnSp>
              <p:nvCxnSpPr>
                <p:cNvPr id="74" name="直接连接符 73"/>
                <p:cNvCxnSpPr>
                  <a:stCxn id="71" idx="2"/>
                  <a:endCxn id="70" idx="2"/>
                </p:cNvCxnSpPr>
                <p:nvPr/>
              </p:nvCxnSpPr>
              <p:spPr bwMode="auto">
                <a:xfrm flipV="1">
                  <a:off x="8179161" y="3701725"/>
                  <a:ext cx="411656" cy="62928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cxnSp>
            <p:nvCxnSpPr>
              <p:cNvPr id="75" name="直接连接符 74"/>
              <p:cNvCxnSpPr>
                <a:stCxn id="71" idx="0"/>
                <a:endCxn id="70" idx="0"/>
              </p:cNvCxnSpPr>
              <p:nvPr/>
            </p:nvCxnSpPr>
            <p:spPr bwMode="auto">
              <a:xfrm rot="10800000" flipH="1">
                <a:off x="6704621" y="3029431"/>
                <a:ext cx="98798" cy="74509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nvGrpSpPr>
              <p:cNvPr id="11" name="组合 88"/>
              <p:cNvGrpSpPr/>
              <p:nvPr/>
            </p:nvGrpSpPr>
            <p:grpSpPr>
              <a:xfrm>
                <a:off x="6370307" y="2807078"/>
                <a:ext cx="396000" cy="603841"/>
                <a:chOff x="6370307" y="2807078"/>
                <a:chExt cx="396000" cy="603841"/>
              </a:xfrm>
            </p:grpSpPr>
            <p:cxnSp>
              <p:nvCxnSpPr>
                <p:cNvPr id="84" name="直接连接符 83"/>
                <p:cNvCxnSpPr/>
                <p:nvPr/>
              </p:nvCxnSpPr>
              <p:spPr bwMode="auto">
                <a:xfrm rot="5400000">
                  <a:off x="6501006" y="3158125"/>
                  <a:ext cx="50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p:cNvCxnSpPr/>
                <p:nvPr/>
              </p:nvCxnSpPr>
              <p:spPr bwMode="auto">
                <a:xfrm rot="5400000">
                  <a:off x="6228225" y="3058660"/>
                  <a:ext cx="285752"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7" name="直接连接符 86"/>
                <p:cNvCxnSpPr/>
                <p:nvPr/>
              </p:nvCxnSpPr>
              <p:spPr bwMode="auto">
                <a:xfrm>
                  <a:off x="6370307" y="3142009"/>
                  <a:ext cx="396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88" name="TextBox 87"/>
                <p:cNvSpPr txBox="1"/>
                <p:nvPr/>
              </p:nvSpPr>
              <p:spPr>
                <a:xfrm>
                  <a:off x="6389480" y="2807078"/>
                  <a:ext cx="311452" cy="276999"/>
                </a:xfrm>
                <a:prstGeom prst="rect">
                  <a:avLst/>
                </a:prstGeom>
                <a:solidFill>
                  <a:schemeClr val="bg1"/>
                </a:solidFill>
                <a:ln w="28575">
                  <a:noFill/>
                </a:ln>
              </p:spPr>
              <p:txBody>
                <a:bodyPr wrap="none" tIns="0" rIns="90000" bIns="0" rtlCol="0">
                  <a:spAutoFit/>
                </a:bodyPr>
                <a:lstStyle/>
                <a:p>
                  <a:r>
                    <a:rPr lang="en-US" altLang="zh-CN" b="1" i="1">
                      <a:latin typeface="Times New Roman" pitchFamily="18" charset="0"/>
                      <a:cs typeface="Times New Roman" pitchFamily="18" charset="0"/>
                    </a:rPr>
                    <a:t>u</a:t>
                  </a:r>
                  <a:endParaRPr lang="zh-CN" altLang="en-US" b="1" i="1">
                    <a:latin typeface="Times New Roman" pitchFamily="18" charset="0"/>
                    <a:cs typeface="Times New Roman" pitchFamily="18" charset="0"/>
                  </a:endParaRPr>
                </a:p>
              </p:txBody>
            </p:sp>
          </p:grpSp>
          <p:grpSp>
            <p:nvGrpSpPr>
              <p:cNvPr id="12" name="组合 93"/>
              <p:cNvGrpSpPr/>
              <p:nvPr/>
            </p:nvGrpSpPr>
            <p:grpSpPr>
              <a:xfrm>
                <a:off x="5774178" y="2428868"/>
                <a:ext cx="371144" cy="1008001"/>
                <a:chOff x="5774178" y="2428868"/>
                <a:chExt cx="371144" cy="1008001"/>
              </a:xfrm>
            </p:grpSpPr>
            <p:cxnSp>
              <p:nvCxnSpPr>
                <p:cNvPr id="90" name="直接连接符 89"/>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1" name="直接连接符 90"/>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2" name="直接连接符 91"/>
                <p:cNvCxnSpPr/>
                <p:nvPr/>
              </p:nvCxnSpPr>
              <p:spPr bwMode="auto">
                <a:xfrm rot="5400000">
                  <a:off x="5537287"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93" name="TextBox 92"/>
                <p:cNvSpPr txBox="1"/>
                <p:nvPr/>
              </p:nvSpPr>
              <p:spPr>
                <a:xfrm rot="16200000">
                  <a:off x="5744128" y="2816109"/>
                  <a:ext cx="337100"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w</a:t>
                  </a:r>
                  <a:endParaRPr lang="zh-CN" altLang="en-US" b="1" i="1">
                    <a:latin typeface="Times New Roman" pitchFamily="18" charset="0"/>
                    <a:cs typeface="Times New Roman" pitchFamily="18" charset="0"/>
                  </a:endParaRPr>
                </a:p>
              </p:txBody>
            </p:sp>
          </p:grpSp>
          <p:grpSp>
            <p:nvGrpSpPr>
              <p:cNvPr id="13" name="组合 113"/>
              <p:cNvGrpSpPr/>
              <p:nvPr/>
            </p:nvGrpSpPr>
            <p:grpSpPr>
              <a:xfrm>
                <a:off x="7572396" y="1881114"/>
                <a:ext cx="1296200" cy="2012327"/>
                <a:chOff x="7572396" y="1881114"/>
                <a:chExt cx="1296200" cy="2012327"/>
              </a:xfrm>
            </p:grpSpPr>
            <p:cxnSp>
              <p:nvCxnSpPr>
                <p:cNvPr id="109" name="直接连接符 108"/>
                <p:cNvCxnSpPr/>
                <p:nvPr/>
              </p:nvCxnSpPr>
              <p:spPr bwMode="auto">
                <a:xfrm rot="5400000">
                  <a:off x="7125568" y="2992647"/>
                  <a:ext cx="180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1" name="直接连接符 110"/>
                <p:cNvCxnSpPr/>
                <p:nvPr/>
              </p:nvCxnSpPr>
              <p:spPr bwMode="auto">
                <a:xfrm>
                  <a:off x="7572396" y="2214554"/>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2" name="直接连接符 111"/>
                <p:cNvCxnSpPr/>
                <p:nvPr/>
              </p:nvCxnSpPr>
              <p:spPr bwMode="auto">
                <a:xfrm>
                  <a:off x="8036837" y="2214554"/>
                  <a:ext cx="612000" cy="1588"/>
                </a:xfrm>
                <a:prstGeom prst="line">
                  <a:avLst/>
                </a:prstGeom>
                <a:solidFill>
                  <a:schemeClr val="accent1"/>
                </a:solidFill>
                <a:ln w="28575" cap="flat" cmpd="sng" algn="ctr">
                  <a:solidFill>
                    <a:schemeClr val="tx1"/>
                  </a:solidFill>
                  <a:prstDash val="solid"/>
                  <a:round/>
                  <a:headEnd type="triangle" w="med" len="lg"/>
                  <a:tailEnd type="none" w="med" len="lg"/>
                </a:ln>
                <a:effectLst/>
              </p:spPr>
            </p:cxnSp>
            <p:sp>
              <p:nvSpPr>
                <p:cNvPr id="113" name="TextBox 112"/>
                <p:cNvSpPr txBox="1"/>
                <p:nvPr/>
              </p:nvSpPr>
              <p:spPr>
                <a:xfrm>
                  <a:off x="8029755" y="1881114"/>
                  <a:ext cx="838841"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u+ </a:t>
                  </a:r>
                  <a:r>
                    <a:rPr lang="el-GR" altLang="zh-CN" b="1" i="1">
                      <a:latin typeface="Times New Roman"/>
                      <a:cs typeface="Times New Roman"/>
                    </a:rPr>
                    <a:t>ε</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14" name="组合 114"/>
              <p:cNvGrpSpPr/>
              <p:nvPr/>
            </p:nvGrpSpPr>
            <p:grpSpPr>
              <a:xfrm>
                <a:off x="8071588" y="2357431"/>
                <a:ext cx="858155" cy="1547889"/>
                <a:chOff x="5927636" y="2396825"/>
                <a:chExt cx="217686" cy="1040044"/>
              </a:xfrm>
            </p:grpSpPr>
            <p:cxnSp>
              <p:nvCxnSpPr>
                <p:cNvPr id="116" name="直接连接符 115"/>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8" name="直接连接符 117"/>
                <p:cNvCxnSpPr/>
                <p:nvPr/>
              </p:nvCxnSpPr>
              <p:spPr bwMode="auto">
                <a:xfrm rot="5400000">
                  <a:off x="5598435"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19" name="TextBox 118"/>
                <p:cNvSpPr txBox="1"/>
                <p:nvPr/>
              </p:nvSpPr>
              <p:spPr>
                <a:xfrm rot="16200000">
                  <a:off x="5533577" y="2881713"/>
                  <a:ext cx="1040042" cy="70266"/>
                </a:xfrm>
                <a:prstGeom prst="rect">
                  <a:avLst/>
                </a:prstGeom>
                <a:noFill/>
                <a:ln w="28575">
                  <a:noFill/>
                </a:ln>
              </p:spPr>
              <p:txBody>
                <a:bodyPr wrap="square" tIns="0" rIns="90000" bIns="0" rtlCol="0">
                  <a:spAutoFit/>
                </a:bodyPr>
                <a:lstStyle/>
                <a:p>
                  <a:r>
                    <a:rPr lang="en-US" altLang="zh-CN" b="1" i="1">
                      <a:latin typeface="Times New Roman" pitchFamily="18" charset="0"/>
                      <a:cs typeface="Times New Roman" pitchFamily="18" charset="0"/>
                    </a:rPr>
                    <a:t>w</a:t>
                  </a:r>
                  <a:r>
                    <a:rPr lang="en-US" altLang="zh-CN" b="1" i="1" baseline="-25000">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n-US" altLang="zh-CN" b="1" i="1" baseline="-25000">
                      <a:latin typeface="Times New Roman" pitchFamily="18" charset="0"/>
                      <a:cs typeface="Times New Roman" pitchFamily="18" charset="0"/>
                    </a:rPr>
                    <a:t> </a:t>
                  </a:r>
                  <a:r>
                    <a:rPr lang="el-GR" altLang="zh-CN" b="1" i="1">
                      <a:latin typeface="Times New Roman"/>
                      <a:cs typeface="Times New Roman"/>
                    </a:rPr>
                    <a:t>θ</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r>
                    <a:rPr lang="en-US" altLang="zh-CN" b="1" i="1" baseline="-25000">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n-US" altLang="zh-CN" b="1" i="1" baseline="-25000">
                      <a:latin typeface="Times New Roman" pitchFamily="18" charset="0"/>
                      <a:cs typeface="Times New Roman" pitchFamily="18" charset="0"/>
                    </a:rPr>
                    <a:t> </a:t>
                  </a:r>
                  <a:r>
                    <a:rPr lang="el-GR" altLang="zh-CN" b="1" i="1">
                      <a:latin typeface="Times New Roman"/>
                      <a:cs typeface="Times New Roman"/>
                    </a:rPr>
                    <a:t>γ</a:t>
                  </a:r>
                  <a:r>
                    <a:rPr lang="en-US" altLang="zh-CN" b="1" baseline="-25000">
                      <a:latin typeface="Times New Roman"/>
                      <a:cs typeface="Times New Roman"/>
                    </a:rPr>
                    <a:t>0</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15" name="组合 132"/>
              <p:cNvGrpSpPr/>
              <p:nvPr/>
            </p:nvGrpSpPr>
            <p:grpSpPr>
              <a:xfrm>
                <a:off x="4666615" y="4188133"/>
                <a:ext cx="3357586" cy="3955775"/>
                <a:chOff x="4666615" y="4188133"/>
                <a:chExt cx="3357586" cy="3955775"/>
              </a:xfrm>
              <a:noFill/>
            </p:grpSpPr>
            <p:cxnSp>
              <p:nvCxnSpPr>
                <p:cNvPr id="121" name="直接连接符 120"/>
                <p:cNvCxnSpPr>
                  <a:stCxn id="71" idx="2"/>
                  <a:endCxn id="71" idx="1"/>
                </p:cNvCxnSpPr>
                <p:nvPr/>
              </p:nvCxnSpPr>
              <p:spPr bwMode="auto">
                <a:xfrm flipH="1">
                  <a:off x="6356598" y="4188133"/>
                  <a:ext cx="1465373" cy="2242615"/>
                </a:xfrm>
                <a:prstGeom prst="line">
                  <a:avLst/>
                </a:prstGeom>
                <a:grpFill/>
                <a:ln w="19050" cap="flat" cmpd="sng" algn="ctr">
                  <a:solidFill>
                    <a:schemeClr val="tx1"/>
                  </a:solidFill>
                  <a:prstDash val="lgDash"/>
                  <a:round/>
                  <a:headEnd type="none" w="med" len="med"/>
                  <a:tailEnd type="none" w="med" len="med"/>
                </a:ln>
                <a:effectLst/>
              </p:spPr>
            </p:cxnSp>
            <p:grpSp>
              <p:nvGrpSpPr>
                <p:cNvPr id="16" name="组合 121"/>
                <p:cNvGrpSpPr/>
                <p:nvPr/>
              </p:nvGrpSpPr>
              <p:grpSpPr>
                <a:xfrm>
                  <a:off x="4666615" y="4536116"/>
                  <a:ext cx="3357586" cy="3607792"/>
                  <a:chOff x="7124905" y="4383716"/>
                  <a:chExt cx="3357586" cy="3607792"/>
                </a:xfrm>
                <a:grpFill/>
              </p:grpSpPr>
              <p:sp>
                <p:nvSpPr>
                  <p:cNvPr id="125" name="弧形 124"/>
                  <p:cNvSpPr>
                    <a:spLocks noChangeAspect="1"/>
                  </p:cNvSpPr>
                  <p:nvPr/>
                </p:nvSpPr>
                <p:spPr bwMode="auto">
                  <a:xfrm>
                    <a:off x="7124905" y="4633922"/>
                    <a:ext cx="3357586" cy="3357586"/>
                  </a:xfrm>
                  <a:prstGeom prst="arc">
                    <a:avLst>
                      <a:gd name="adj1" fmla="val 16684113"/>
                      <a:gd name="adj2" fmla="val 18149204"/>
                    </a:avLst>
                  </a:prstGeom>
                  <a:grp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6" name="矩形 125"/>
                  <p:cNvSpPr/>
                  <p:nvPr/>
                </p:nvSpPr>
                <p:spPr>
                  <a:xfrm>
                    <a:off x="9209055" y="4383716"/>
                    <a:ext cx="433132" cy="369332"/>
                  </a:xfrm>
                  <a:prstGeom prst="rect">
                    <a:avLst/>
                  </a:prstGeom>
                  <a:grpFill/>
                </p:spPr>
                <p:txBody>
                  <a:bodyPr wrap="none">
                    <a:spAutoFit/>
                  </a:bodyPr>
                  <a:lstStyle/>
                  <a:p>
                    <a:r>
                      <a:rPr lang="en-US" altLang="zh-CN" b="1">
                        <a:latin typeface="Times New Roman"/>
                        <a:cs typeface="Times New Roman"/>
                      </a:rPr>
                      <a:t>d</a:t>
                    </a:r>
                    <a:r>
                      <a:rPr lang="el-GR" altLang="zh-CN" b="1" i="1">
                        <a:latin typeface="Times New Roman"/>
                        <a:cs typeface="Times New Roman"/>
                      </a:rPr>
                      <a:t>θ</a:t>
                    </a:r>
                    <a:endParaRPr lang="zh-CN" altLang="en-US"/>
                  </a:p>
                </p:txBody>
              </p:sp>
            </p:grpSp>
          </p:grpSp>
          <p:grpSp>
            <p:nvGrpSpPr>
              <p:cNvPr id="17" name="组合 141"/>
              <p:cNvGrpSpPr/>
              <p:nvPr/>
            </p:nvGrpSpPr>
            <p:grpSpPr>
              <a:xfrm>
                <a:off x="6215074" y="2883834"/>
                <a:ext cx="1344050" cy="1067470"/>
                <a:chOff x="6215074" y="2883834"/>
                <a:chExt cx="1344050" cy="1067470"/>
              </a:xfrm>
            </p:grpSpPr>
            <p:cxnSp>
              <p:nvCxnSpPr>
                <p:cNvPr id="135" name="直接连接符 134"/>
                <p:cNvCxnSpPr>
                  <a:cxnSpLocks noChangeAspect="1"/>
                </p:cNvCxnSpPr>
                <p:nvPr/>
              </p:nvCxnSpPr>
              <p:spPr bwMode="auto">
                <a:xfrm>
                  <a:off x="6745578" y="3412601"/>
                  <a:ext cx="756000" cy="27283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7" name="直接连接符 136"/>
                <p:cNvCxnSpPr/>
                <p:nvPr/>
              </p:nvCxnSpPr>
              <p:spPr bwMode="auto">
                <a:xfrm>
                  <a:off x="6753778" y="3416700"/>
                  <a:ext cx="78581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0" name="矩形 139"/>
                <p:cNvSpPr/>
                <p:nvPr/>
              </p:nvSpPr>
              <p:spPr>
                <a:xfrm>
                  <a:off x="7239806" y="3316720"/>
                  <a:ext cx="319318" cy="369332"/>
                </a:xfrm>
                <a:prstGeom prst="rect">
                  <a:avLst/>
                </a:prstGeom>
              </p:spPr>
              <p:txBody>
                <a:bodyPr wrap="none">
                  <a:spAutoFit/>
                </a:bodyPr>
                <a:lstStyle/>
                <a:p>
                  <a:r>
                    <a:rPr lang="el-GR" altLang="zh-CN" b="1" i="1">
                      <a:latin typeface="Times New Roman"/>
                      <a:cs typeface="Times New Roman"/>
                    </a:rPr>
                    <a:t>φ</a:t>
                  </a:r>
                  <a:endParaRPr lang="zh-CN" altLang="en-US"/>
                </a:p>
              </p:txBody>
            </p:sp>
            <p:sp>
              <p:nvSpPr>
                <p:cNvPr id="141" name="弧形 140"/>
                <p:cNvSpPr>
                  <a:spLocks noChangeAspect="1"/>
                </p:cNvSpPr>
                <p:nvPr/>
              </p:nvSpPr>
              <p:spPr bwMode="auto">
                <a:xfrm rot="5400000">
                  <a:off x="6215074" y="2883834"/>
                  <a:ext cx="1067470" cy="1067470"/>
                </a:xfrm>
                <a:prstGeom prst="arc">
                  <a:avLst>
                    <a:gd name="adj1" fmla="val 16200000"/>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nvGrpSpPr>
              <p:cNvPr id="18" name="组合 144"/>
              <p:cNvGrpSpPr/>
              <p:nvPr/>
            </p:nvGrpSpPr>
            <p:grpSpPr>
              <a:xfrm>
                <a:off x="6372744" y="2937687"/>
                <a:ext cx="1556842" cy="857985"/>
                <a:chOff x="6372744" y="2937687"/>
                <a:chExt cx="1556842" cy="857985"/>
              </a:xfrm>
            </p:grpSpPr>
            <p:sp>
              <p:nvSpPr>
                <p:cNvPr id="143" name="弧形 142"/>
                <p:cNvSpPr>
                  <a:spLocks noChangeAspect="1"/>
                </p:cNvSpPr>
                <p:nvPr/>
              </p:nvSpPr>
              <p:spPr bwMode="auto">
                <a:xfrm rot="5400000">
                  <a:off x="6372744" y="3016556"/>
                  <a:ext cx="779116" cy="779116"/>
                </a:xfrm>
                <a:prstGeom prst="arc">
                  <a:avLst>
                    <a:gd name="adj1" fmla="val 10722971"/>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44" name="矩形 143"/>
                <p:cNvSpPr/>
                <p:nvPr/>
              </p:nvSpPr>
              <p:spPr>
                <a:xfrm>
                  <a:off x="7124879" y="2937687"/>
                  <a:ext cx="804707" cy="276999"/>
                </a:xfrm>
                <a:prstGeom prst="rect">
                  <a:avLst/>
                </a:prstGeom>
                <a:solidFill>
                  <a:schemeClr val="bg1"/>
                </a:solidFill>
              </p:spPr>
              <p:txBody>
                <a:bodyPr wrap="none" lIns="0" tIns="0" rIns="0" bIns="0">
                  <a:spAutoFit/>
                </a:bodyPr>
                <a:lstStyle/>
                <a:p>
                  <a:r>
                    <a:rPr lang="el-GR" altLang="zh-CN" b="1" i="1">
                      <a:latin typeface="Times New Roman"/>
                      <a:cs typeface="Times New Roman"/>
                    </a:rPr>
                    <a:t>γ</a:t>
                  </a:r>
                  <a:r>
                    <a:rPr lang="en-US" altLang="zh-CN" b="1" baseline="-25000">
                      <a:latin typeface="Times New Roman"/>
                      <a:cs typeface="Times New Roman"/>
                    </a:rPr>
                    <a:t>0</a:t>
                  </a:r>
                  <a:r>
                    <a:rPr lang="en-US" altLang="zh-CN" b="1">
                      <a:latin typeface="Times New Roman"/>
                      <a:cs typeface="Times New Roman"/>
                    </a:rPr>
                    <a:t>+</a:t>
                  </a:r>
                  <a:r>
                    <a:rPr lang="en-US" altLang="zh-CN" b="1" baseline="-25000">
                      <a:latin typeface="Times New Roman"/>
                      <a:cs typeface="Times New Roman"/>
                    </a:rPr>
                    <a:t> </a:t>
                  </a:r>
                  <a:r>
                    <a:rPr lang="en-US" altLang="zh-CN" b="1">
                      <a:latin typeface="Times New Roman"/>
                      <a:cs typeface="Times New Roman"/>
                    </a:rPr>
                    <a:t>90°</a:t>
                  </a:r>
                  <a:endParaRPr lang="zh-CN" altLang="en-US"/>
                </a:p>
              </p:txBody>
            </p:sp>
          </p:grpSp>
        </p:grpSp>
      </p:grpSp>
      <p:sp>
        <p:nvSpPr>
          <p:cNvPr id="81" name="弧形 80"/>
          <p:cNvSpPr>
            <a:spLocks noChangeAspect="1"/>
          </p:cNvSpPr>
          <p:nvPr/>
        </p:nvSpPr>
        <p:spPr bwMode="auto">
          <a:xfrm>
            <a:off x="-14359070" y="2538406"/>
            <a:ext cx="26932126" cy="26932126"/>
          </a:xfrm>
          <a:prstGeom prst="arc">
            <a:avLst>
              <a:gd name="adj1" fmla="val 16902882"/>
              <a:gd name="adj2" fmla="val 17814464"/>
            </a:avLst>
          </a:prstGeom>
          <a:noFill/>
          <a:ln w="762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nvGrpSpPr>
          <p:cNvPr id="19" name="组合 133"/>
          <p:cNvGrpSpPr/>
          <p:nvPr/>
        </p:nvGrpSpPr>
        <p:grpSpPr>
          <a:xfrm>
            <a:off x="1244894" y="2111288"/>
            <a:ext cx="3879974" cy="457598"/>
            <a:chOff x="1244894" y="2498718"/>
            <a:chExt cx="3879974" cy="457598"/>
          </a:xfrm>
        </p:grpSpPr>
        <p:cxnSp>
          <p:nvCxnSpPr>
            <p:cNvPr id="83" name="直接连接符 82"/>
            <p:cNvCxnSpPr/>
            <p:nvPr/>
          </p:nvCxnSpPr>
          <p:spPr bwMode="auto">
            <a:xfrm>
              <a:off x="1500166" y="2498718"/>
              <a:ext cx="3500462" cy="1588"/>
            </a:xfrm>
            <a:prstGeom prst="line">
              <a:avLst/>
            </a:prstGeom>
            <a:solidFill>
              <a:schemeClr val="accent1"/>
            </a:solidFill>
            <a:ln w="76200" cap="flat" cmpd="sng" algn="ctr">
              <a:solidFill>
                <a:schemeClr val="tx1"/>
              </a:solidFill>
              <a:prstDash val="solid"/>
              <a:round/>
              <a:headEnd type="none" w="med" len="med"/>
              <a:tailEnd type="none" w="med" len="med"/>
            </a:ln>
            <a:effectLst/>
          </p:spPr>
        </p:cxnSp>
        <p:sp>
          <p:nvSpPr>
            <p:cNvPr id="127" name="TextBox 126"/>
            <p:cNvSpPr txBox="1"/>
            <p:nvPr/>
          </p:nvSpPr>
          <p:spPr>
            <a:xfrm>
              <a:off x="124489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33" name="TextBox 132"/>
            <p:cNvSpPr txBox="1"/>
            <p:nvPr/>
          </p:nvSpPr>
          <p:spPr>
            <a:xfrm>
              <a:off x="478631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grpSp>
      <p:cxnSp>
        <p:nvCxnSpPr>
          <p:cNvPr id="205" name="直接连接符 204"/>
          <p:cNvCxnSpPr/>
          <p:nvPr/>
        </p:nvCxnSpPr>
        <p:spPr bwMode="auto">
          <a:xfrm rot="5400000">
            <a:off x="3251191" y="2144703"/>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06" name="直接连接符 205"/>
          <p:cNvCxnSpPr/>
          <p:nvPr/>
        </p:nvCxnSpPr>
        <p:spPr bwMode="auto">
          <a:xfrm rot="5400000">
            <a:off x="3607587" y="3359943"/>
            <a:ext cx="285752" cy="7143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nvGrpSpPr>
          <p:cNvPr id="168" name="组合 167"/>
          <p:cNvGrpSpPr/>
          <p:nvPr/>
        </p:nvGrpSpPr>
        <p:grpSpPr>
          <a:xfrm>
            <a:off x="3758454" y="3266044"/>
            <a:ext cx="813546" cy="455880"/>
            <a:chOff x="4143372" y="3469120"/>
            <a:chExt cx="813546" cy="455880"/>
          </a:xfrm>
        </p:grpSpPr>
        <p:cxnSp>
          <p:nvCxnSpPr>
            <p:cNvPr id="151" name="直接连接符 150"/>
            <p:cNvCxnSpPr>
              <a:cxnSpLocks/>
            </p:cNvCxnSpPr>
            <p:nvPr/>
          </p:nvCxnSpPr>
          <p:spPr bwMode="auto">
            <a:xfrm>
              <a:off x="4143372" y="3565000"/>
              <a:ext cx="756000" cy="360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8" name="直接连接符 157"/>
            <p:cNvCxnSpPr/>
            <p:nvPr/>
          </p:nvCxnSpPr>
          <p:spPr bwMode="auto">
            <a:xfrm>
              <a:off x="4151572" y="3569100"/>
              <a:ext cx="78581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9" name="矩形 158"/>
            <p:cNvSpPr/>
            <p:nvPr/>
          </p:nvSpPr>
          <p:spPr>
            <a:xfrm>
              <a:off x="4637600" y="3469120"/>
              <a:ext cx="319318" cy="369332"/>
            </a:xfrm>
            <a:prstGeom prst="rect">
              <a:avLst/>
            </a:prstGeom>
          </p:spPr>
          <p:txBody>
            <a:bodyPr wrap="none">
              <a:spAutoFit/>
            </a:bodyPr>
            <a:lstStyle/>
            <a:p>
              <a:r>
                <a:rPr lang="el-GR" altLang="zh-CN" b="1" i="1">
                  <a:latin typeface="Times New Roman"/>
                  <a:cs typeface="Times New Roman"/>
                </a:rPr>
                <a:t>φ</a:t>
              </a:r>
              <a:endParaRPr lang="zh-CN" altLang="en-US"/>
            </a:p>
          </p:txBody>
        </p:sp>
      </p:grpSp>
      <p:grpSp>
        <p:nvGrpSpPr>
          <p:cNvPr id="197" name="组合 196"/>
          <p:cNvGrpSpPr/>
          <p:nvPr/>
        </p:nvGrpSpPr>
        <p:grpSpPr>
          <a:xfrm>
            <a:off x="3695604" y="2563806"/>
            <a:ext cx="304892" cy="798518"/>
            <a:chOff x="3695604" y="3025772"/>
            <a:chExt cx="304892" cy="798518"/>
          </a:xfrm>
        </p:grpSpPr>
        <p:cxnSp>
          <p:nvCxnSpPr>
            <p:cNvPr id="180" name="直接连接符 179"/>
            <p:cNvCxnSpPr/>
            <p:nvPr/>
          </p:nvCxnSpPr>
          <p:spPr bwMode="auto">
            <a:xfrm rot="5400000" flipH="1" flipV="1">
              <a:off x="3580599" y="3471069"/>
              <a:ext cx="533404" cy="16351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6" name="直接连接符 185"/>
            <p:cNvCxnSpPr/>
            <p:nvPr/>
          </p:nvCxnSpPr>
          <p:spPr bwMode="auto">
            <a:xfrm rot="5400000" flipH="1" flipV="1">
              <a:off x="3494874" y="3556794"/>
              <a:ext cx="53340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96" name="矩形 195"/>
            <p:cNvSpPr/>
            <p:nvPr/>
          </p:nvSpPr>
          <p:spPr>
            <a:xfrm>
              <a:off x="3695604" y="3025772"/>
              <a:ext cx="304892" cy="369332"/>
            </a:xfrm>
            <a:prstGeom prst="rect">
              <a:avLst/>
            </a:prstGeom>
          </p:spPr>
          <p:txBody>
            <a:bodyPr wrap="none">
              <a:spAutoFit/>
            </a:bodyPr>
            <a:lstStyle/>
            <a:p>
              <a:r>
                <a:rPr lang="el-GR" altLang="zh-CN" b="1" i="1">
                  <a:latin typeface="Times New Roman"/>
                  <a:cs typeface="Times New Roman"/>
                </a:rPr>
                <a:t>θ</a:t>
              </a:r>
              <a:endParaRPr lang="zh-CN" altLang="en-US"/>
            </a:p>
          </p:txBody>
        </p:sp>
      </p:grpSp>
      <p:sp>
        <p:nvSpPr>
          <p:cNvPr id="198" name="Rectangle 6"/>
          <p:cNvSpPr>
            <a:spLocks noChangeArrowheads="1"/>
          </p:cNvSpPr>
          <p:nvPr/>
        </p:nvSpPr>
        <p:spPr bwMode="auto">
          <a:xfrm>
            <a:off x="469540" y="3773493"/>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外力虚功</a:t>
            </a:r>
            <a:endParaRPr lang="en-US" altLang="zh-CN" sz="2000" b="1">
              <a:latin typeface="Times New Roman" pitchFamily="18" charset="0"/>
              <a:cs typeface="Times New Roman" pitchFamily="18" charset="0"/>
            </a:endParaRPr>
          </a:p>
        </p:txBody>
      </p:sp>
      <p:graphicFrame>
        <p:nvGraphicFramePr>
          <p:cNvPr id="587778" name="Object 2"/>
          <p:cNvGraphicFramePr>
            <a:graphicFrameLocks noChangeAspect="1"/>
          </p:cNvGraphicFramePr>
          <p:nvPr/>
        </p:nvGraphicFramePr>
        <p:xfrm>
          <a:off x="1325572" y="4214814"/>
          <a:ext cx="4603750" cy="946150"/>
        </p:xfrm>
        <a:graphic>
          <a:graphicData uri="http://schemas.openxmlformats.org/presentationml/2006/ole">
            <mc:AlternateContent xmlns:mc="http://schemas.openxmlformats.org/markup-compatibility/2006">
              <mc:Choice xmlns:v="urn:schemas-microsoft-com:vml" Requires="v">
                <p:oleObj spid="_x0000_s587780" name="Equation" r:id="rId4" imgW="2971800" imgH="609480" progId="Equation.DSMT4">
                  <p:embed/>
                </p:oleObj>
              </mc:Choice>
              <mc:Fallback>
                <p:oleObj name="Equation" r:id="rId4" imgW="2971800" imgH="60948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5572" y="4214814"/>
                        <a:ext cx="46037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7779" name="Object 3"/>
          <p:cNvGraphicFramePr>
            <a:graphicFrameLocks noChangeAspect="1"/>
          </p:cNvGraphicFramePr>
          <p:nvPr/>
        </p:nvGraphicFramePr>
        <p:xfrm>
          <a:off x="1285852" y="5630881"/>
          <a:ext cx="3128963" cy="512763"/>
        </p:xfrm>
        <a:graphic>
          <a:graphicData uri="http://schemas.openxmlformats.org/presentationml/2006/ole">
            <mc:AlternateContent xmlns:mc="http://schemas.openxmlformats.org/markup-compatibility/2006">
              <mc:Choice xmlns:v="urn:schemas-microsoft-com:vml" Requires="v">
                <p:oleObj spid="_x0000_s587781" name="Equation" r:id="rId6" imgW="2019240" imgH="330120" progId="Equation.DSMT4">
                  <p:embed/>
                </p:oleObj>
              </mc:Choice>
              <mc:Fallback>
                <p:oleObj name="Equation" r:id="rId6" imgW="2019240" imgH="33012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52" y="5630881"/>
                        <a:ext cx="3128963"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0" name="组合 149"/>
          <p:cNvGrpSpPr/>
          <p:nvPr/>
        </p:nvGrpSpPr>
        <p:grpSpPr>
          <a:xfrm>
            <a:off x="5469037" y="1609712"/>
            <a:ext cx="955589" cy="1449867"/>
            <a:chOff x="500034" y="1776961"/>
            <a:chExt cx="955589" cy="1449867"/>
          </a:xfrm>
        </p:grpSpPr>
        <p:cxnSp>
          <p:nvCxnSpPr>
            <p:cNvPr id="202" name="直接箭头连接符 201"/>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203" name="直接箭头连接符 202"/>
            <p:cNvCxnSpPr/>
            <p:nvPr/>
          </p:nvCxnSpPr>
          <p:spPr bwMode="auto">
            <a:xfrm rot="5400000">
              <a:off x="1106084" y="2310742"/>
              <a:ext cx="504000"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204" name="弧形 203"/>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207" name="TextBox 206"/>
            <p:cNvSpPr txBox="1"/>
            <p:nvPr/>
          </p:nvSpPr>
          <p:spPr>
            <a:xfrm>
              <a:off x="500034" y="2571744"/>
              <a:ext cx="44916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endParaRPr lang="zh-CN" altLang="en-US" b="1" i="1">
                <a:solidFill>
                  <a:srgbClr val="C00000"/>
                </a:solidFill>
                <a:latin typeface="Times New Roman" pitchFamily="18" charset="0"/>
                <a:cs typeface="Times New Roman" pitchFamily="18" charset="0"/>
              </a:endParaRPr>
            </a:p>
          </p:txBody>
        </p:sp>
        <p:sp>
          <p:nvSpPr>
            <p:cNvPr id="208" name="TextBox 207"/>
            <p:cNvSpPr txBox="1"/>
            <p:nvPr/>
          </p:nvSpPr>
          <p:spPr>
            <a:xfrm>
              <a:off x="804883" y="1776961"/>
              <a:ext cx="458780"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sp>
          <p:nvSpPr>
            <p:cNvPr id="209" name="TextBox 208"/>
            <p:cNvSpPr txBox="1"/>
            <p:nvPr/>
          </p:nvSpPr>
          <p:spPr>
            <a:xfrm>
              <a:off x="919697" y="2857496"/>
              <a:ext cx="389850"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endParaRPr lang="zh-CN" altLang="en-US" b="1" i="1">
                <a:solidFill>
                  <a:srgbClr val="C00000"/>
                </a:solidFill>
                <a:latin typeface="Times New Roman" pitchFamily="18" charset="0"/>
                <a:cs typeface="Times New Roman" pitchFamily="18" charset="0"/>
              </a:endParaRPr>
            </a:p>
          </p:txBody>
        </p:sp>
      </p:grpSp>
      <p:grpSp>
        <p:nvGrpSpPr>
          <p:cNvPr id="210" name="组合 150"/>
          <p:cNvGrpSpPr/>
          <p:nvPr/>
        </p:nvGrpSpPr>
        <p:grpSpPr>
          <a:xfrm flipH="1">
            <a:off x="7559270" y="1752588"/>
            <a:ext cx="857682" cy="1280564"/>
            <a:chOff x="597941" y="1932537"/>
            <a:chExt cx="857682" cy="1280564"/>
          </a:xfrm>
        </p:grpSpPr>
        <p:cxnSp>
          <p:nvCxnSpPr>
            <p:cNvPr id="211" name="直接箭头连接符 210"/>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212" name="直接箭头连接符 211"/>
            <p:cNvCxnSpPr/>
            <p:nvPr/>
          </p:nvCxnSpPr>
          <p:spPr bwMode="auto">
            <a:xfrm rot="5400000">
              <a:off x="1106084" y="2822751"/>
              <a:ext cx="504000"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213" name="弧形 212"/>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214" name="TextBox 213"/>
            <p:cNvSpPr txBox="1"/>
            <p:nvPr/>
          </p:nvSpPr>
          <p:spPr>
            <a:xfrm>
              <a:off x="597941" y="2568099"/>
              <a:ext cx="44916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endParaRPr lang="zh-CN" altLang="en-US" b="1" i="1">
                <a:solidFill>
                  <a:srgbClr val="C00000"/>
                </a:solidFill>
                <a:latin typeface="Times New Roman" pitchFamily="18" charset="0"/>
                <a:cs typeface="Times New Roman" pitchFamily="18" charset="0"/>
              </a:endParaRPr>
            </a:p>
          </p:txBody>
        </p:sp>
        <p:sp>
          <p:nvSpPr>
            <p:cNvPr id="215" name="TextBox 214"/>
            <p:cNvSpPr txBox="1"/>
            <p:nvPr/>
          </p:nvSpPr>
          <p:spPr>
            <a:xfrm>
              <a:off x="921793" y="2843769"/>
              <a:ext cx="458780"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sp>
          <p:nvSpPr>
            <p:cNvPr id="216" name="TextBox 215"/>
            <p:cNvSpPr txBox="1"/>
            <p:nvPr/>
          </p:nvSpPr>
          <p:spPr>
            <a:xfrm>
              <a:off x="942432" y="1932537"/>
              <a:ext cx="389850"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endParaRPr lang="zh-CN" altLang="en-US" b="1" i="1">
                <a:solidFill>
                  <a:srgbClr val="C00000"/>
                </a:solidFill>
                <a:latin typeface="Times New Roman" pitchFamily="18" charset="0"/>
                <a:cs typeface="Times New Roman" pitchFamily="18" charset="0"/>
              </a:endParaRPr>
            </a:p>
          </p:txBody>
        </p:sp>
      </p:grpSp>
      <p:grpSp>
        <p:nvGrpSpPr>
          <p:cNvPr id="219" name="组合 218"/>
          <p:cNvGrpSpPr/>
          <p:nvPr/>
        </p:nvGrpSpPr>
        <p:grpSpPr>
          <a:xfrm>
            <a:off x="8358214" y="3071810"/>
            <a:ext cx="381067" cy="3429024"/>
            <a:chOff x="8358214" y="3071810"/>
            <a:chExt cx="381067" cy="3429024"/>
          </a:xfrm>
        </p:grpSpPr>
        <p:sp>
          <p:nvSpPr>
            <p:cNvPr id="217" name="矩形 216"/>
            <p:cNvSpPr/>
            <p:nvPr/>
          </p:nvSpPr>
          <p:spPr bwMode="auto">
            <a:xfrm>
              <a:off x="8429652" y="3071810"/>
              <a:ext cx="285752" cy="785818"/>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218" name="TextBox 217"/>
            <p:cNvSpPr txBox="1"/>
            <p:nvPr/>
          </p:nvSpPr>
          <p:spPr>
            <a:xfrm>
              <a:off x="8358214" y="4007844"/>
              <a:ext cx="381067" cy="2492990"/>
            </a:xfrm>
            <a:prstGeom prst="rect">
              <a:avLst/>
            </a:prstGeom>
            <a:noFill/>
            <a:ln w="28575">
              <a:noFill/>
            </a:ln>
          </p:spPr>
          <p:txBody>
            <a:bodyPr wrap="square" tIns="0" rIns="90000" bIns="0" rtlCol="0">
              <a:spAutoFit/>
            </a:bodyPr>
            <a:lstStyle/>
            <a:p>
              <a:r>
                <a:rPr lang="zh-CN" altLang="en-US" b="1">
                  <a:solidFill>
                    <a:srgbClr val="0033CC"/>
                  </a:solidFill>
                  <a:latin typeface="Times New Roman" pitchFamily="18" charset="0"/>
                  <a:cs typeface="Times New Roman" pitchFamily="18" charset="0"/>
                </a:rPr>
                <a:t>刚性移动，无剪变形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down)">
                                      <p:cBhvr>
                                        <p:cTn id="7" dur="500"/>
                                        <p:tgtEl>
                                          <p:spTgt spid="206"/>
                                        </p:tgtEl>
                                      </p:cBhvr>
                                    </p:animEffect>
                                  </p:childTnLst>
                                </p:cTn>
                              </p:par>
                              <p:par>
                                <p:cTn id="8" presetID="22" presetClass="entr" presetSubtype="4" fill="hold" nodeType="withEffect">
                                  <p:stCondLst>
                                    <p:cond delay="0"/>
                                  </p:stCondLst>
                                  <p:childTnLst>
                                    <p:set>
                                      <p:cBhvr>
                                        <p:cTn id="9" dur="1" fill="hold">
                                          <p:stCondLst>
                                            <p:cond delay="0"/>
                                          </p:stCondLst>
                                        </p:cTn>
                                        <p:tgtEl>
                                          <p:spTgt spid="205"/>
                                        </p:tgtEl>
                                        <p:attrNameLst>
                                          <p:attrName>style.visibility</p:attrName>
                                        </p:attrNameLst>
                                      </p:cBhvr>
                                      <p:to>
                                        <p:strVal val="visible"/>
                                      </p:to>
                                    </p:set>
                                    <p:animEffect transition="in" filter="wipe(down)">
                                      <p:cBhvr>
                                        <p:cTn id="10" dur="500"/>
                                        <p:tgtEl>
                                          <p:spTgt spid="20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nodeType="clickEffect">
                                  <p:stCondLst>
                                    <p:cond delay="0"/>
                                  </p:stCondLst>
                                  <p:childTnLst>
                                    <p:set>
                                      <p:cBhvr>
                                        <p:cTn id="14" dur="1" fill="hold">
                                          <p:stCondLst>
                                            <p:cond delay="0"/>
                                          </p:stCondLst>
                                        </p:cTn>
                                        <p:tgtEl>
                                          <p:spTgt spid="168"/>
                                        </p:tgtEl>
                                        <p:attrNameLst>
                                          <p:attrName>style.visibility</p:attrName>
                                        </p:attrNameLst>
                                      </p:cBhvr>
                                      <p:to>
                                        <p:strVal val="visible"/>
                                      </p:to>
                                    </p:set>
                                    <p:animEffect transition="in" filter="blinds(vertical)">
                                      <p:cBhvr>
                                        <p:cTn id="15" dur="500"/>
                                        <p:tgtEl>
                                          <p:spTgt spid="168"/>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197"/>
                                        </p:tgtEl>
                                        <p:attrNameLst>
                                          <p:attrName>style.visibility</p:attrName>
                                        </p:attrNameLst>
                                      </p:cBhvr>
                                      <p:to>
                                        <p:strVal val="visible"/>
                                      </p:to>
                                    </p:set>
                                    <p:animEffect transition="in" filter="blinds(horizontal)">
                                      <p:cBhvr>
                                        <p:cTn id="19" dur="500"/>
                                        <p:tgtEl>
                                          <p:spTgt spid="197"/>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4"/>
                                        </p:tgtEl>
                                        <p:attrNameLst>
                                          <p:attrName>style.visibility</p:attrName>
                                        </p:attrNameLst>
                                      </p:cBhvr>
                                      <p:to>
                                        <p:strVal val="visible"/>
                                      </p:to>
                                    </p:set>
                                    <p:anim calcmode="lin" valueType="num">
                                      <p:cBhvr additive="base">
                                        <p:cTn id="28" dur="500" fill="hold"/>
                                        <p:tgtEl>
                                          <p:spTgt spid="54"/>
                                        </p:tgtEl>
                                        <p:attrNameLst>
                                          <p:attrName>ppt_x</p:attrName>
                                        </p:attrNameLst>
                                      </p:cBhvr>
                                      <p:tavLst>
                                        <p:tav tm="0">
                                          <p:val>
                                            <p:strVal val="#ppt_x"/>
                                          </p:val>
                                        </p:tav>
                                        <p:tav tm="100000">
                                          <p:val>
                                            <p:strVal val="#ppt_x"/>
                                          </p:val>
                                        </p:tav>
                                      </p:tavLst>
                                    </p:anim>
                                    <p:anim calcmode="lin" valueType="num">
                                      <p:cBhvr additive="base">
                                        <p:cTn id="29"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00"/>
                                        </p:tgtEl>
                                        <p:attrNameLst>
                                          <p:attrName>style.visibility</p:attrName>
                                        </p:attrNameLst>
                                      </p:cBhvr>
                                      <p:to>
                                        <p:strVal val="visible"/>
                                      </p:to>
                                    </p:set>
                                    <p:animEffect transition="in" filter="blinds(horizontal)">
                                      <p:cBhvr>
                                        <p:cTn id="34" dur="500"/>
                                        <p:tgtEl>
                                          <p:spTgt spid="200"/>
                                        </p:tgtEl>
                                      </p:cBhvr>
                                    </p:animEffect>
                                  </p:childTnLst>
                                </p:cTn>
                              </p:par>
                              <p:par>
                                <p:cTn id="35" presetID="3" presetClass="entr" presetSubtype="10" fill="hold" nodeType="withEffect">
                                  <p:stCondLst>
                                    <p:cond delay="0"/>
                                  </p:stCondLst>
                                  <p:childTnLst>
                                    <p:set>
                                      <p:cBhvr>
                                        <p:cTn id="36" dur="1" fill="hold">
                                          <p:stCondLst>
                                            <p:cond delay="0"/>
                                          </p:stCondLst>
                                        </p:cTn>
                                        <p:tgtEl>
                                          <p:spTgt spid="210"/>
                                        </p:tgtEl>
                                        <p:attrNameLst>
                                          <p:attrName>style.visibility</p:attrName>
                                        </p:attrNameLst>
                                      </p:cBhvr>
                                      <p:to>
                                        <p:strVal val="visible"/>
                                      </p:to>
                                    </p:set>
                                    <p:animEffect transition="in" filter="blinds(horizontal)">
                                      <p:cBhvr>
                                        <p:cTn id="37" dur="500"/>
                                        <p:tgtEl>
                                          <p:spTgt spid="21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9"/>
                                        </p:tgtEl>
                                        <p:attrNameLst>
                                          <p:attrName>style.visibility</p:attrName>
                                        </p:attrNameLst>
                                      </p:cBhvr>
                                      <p:to>
                                        <p:strVal val="visible"/>
                                      </p:to>
                                    </p:set>
                                    <p:animEffect transition="in" filter="blinds(horizontal)">
                                      <p:cBhvr>
                                        <p:cTn id="42" dur="500"/>
                                        <p:tgtEl>
                                          <p:spTgt spid="219"/>
                                        </p:tgtEl>
                                      </p:cBhvr>
                                    </p:animEffect>
                                  </p:childTnLst>
                                </p:cTn>
                              </p:par>
                            </p:childTnLst>
                          </p:cTn>
                        </p:par>
                        <p:par>
                          <p:cTn id="43" fill="hold">
                            <p:stCondLst>
                              <p:cond delay="500"/>
                            </p:stCondLst>
                            <p:childTnLst>
                              <p:par>
                                <p:cTn id="44" presetID="2" presetClass="entr" presetSubtype="4" fill="hold" nodeType="afterEffect">
                                  <p:stCondLst>
                                    <p:cond delay="0"/>
                                  </p:stCondLst>
                                  <p:childTnLst>
                                    <p:set>
                                      <p:cBhvr>
                                        <p:cTn id="45" dur="1" fill="hold">
                                          <p:stCondLst>
                                            <p:cond delay="0"/>
                                          </p:stCondLst>
                                        </p:cTn>
                                        <p:tgtEl>
                                          <p:spTgt spid="587779"/>
                                        </p:tgtEl>
                                        <p:attrNameLst>
                                          <p:attrName>style.visibility</p:attrName>
                                        </p:attrNameLst>
                                      </p:cBhvr>
                                      <p:to>
                                        <p:strVal val="visible"/>
                                      </p:to>
                                    </p:set>
                                    <p:anim calcmode="lin" valueType="num">
                                      <p:cBhvr additive="base">
                                        <p:cTn id="46" dur="500" fill="hold"/>
                                        <p:tgtEl>
                                          <p:spTgt spid="587779"/>
                                        </p:tgtEl>
                                        <p:attrNameLst>
                                          <p:attrName>ppt_x</p:attrName>
                                        </p:attrNameLst>
                                      </p:cBhvr>
                                      <p:tavLst>
                                        <p:tav tm="0">
                                          <p:val>
                                            <p:strVal val="#ppt_x"/>
                                          </p:val>
                                        </p:tav>
                                        <p:tav tm="100000">
                                          <p:val>
                                            <p:strVal val="#ppt_x"/>
                                          </p:val>
                                        </p:tav>
                                      </p:tavLst>
                                    </p:anim>
                                    <p:anim calcmode="lin" valueType="num">
                                      <p:cBhvr additive="base">
                                        <p:cTn id="47" dur="500" fill="hold"/>
                                        <p:tgtEl>
                                          <p:spTgt spid="5877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虚功方程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 name="组合 68"/>
          <p:cNvGrpSpPr/>
          <p:nvPr/>
        </p:nvGrpSpPr>
        <p:grpSpPr>
          <a:xfrm>
            <a:off x="2928926" y="1643050"/>
            <a:ext cx="6858048" cy="8215370"/>
            <a:chOff x="2928926" y="1643050"/>
            <a:chExt cx="6858048" cy="8215370"/>
          </a:xfrm>
        </p:grpSpPr>
        <p:grpSp>
          <p:nvGrpSpPr>
            <p:cNvPr id="5" name="组合 107"/>
            <p:cNvGrpSpPr/>
            <p:nvPr/>
          </p:nvGrpSpPr>
          <p:grpSpPr>
            <a:xfrm>
              <a:off x="5748346" y="3667362"/>
              <a:ext cx="1630374" cy="1973040"/>
              <a:chOff x="5748346" y="3667362"/>
              <a:chExt cx="1630374" cy="1973040"/>
            </a:xfrm>
          </p:grpSpPr>
          <p:cxnSp>
            <p:nvCxnSpPr>
              <p:cNvPr id="102" name="直接连接符 101"/>
              <p:cNvCxnSpPr>
                <a:stCxn id="71" idx="0"/>
              </p:cNvCxnSpPr>
              <p:nvPr/>
            </p:nvCxnSpPr>
            <p:spPr bwMode="auto">
              <a:xfrm rot="10800000" flipV="1">
                <a:off x="6572265" y="3774524"/>
                <a:ext cx="132357" cy="940359"/>
              </a:xfrm>
              <a:prstGeom prst="line">
                <a:avLst/>
              </a:prstGeom>
              <a:solidFill>
                <a:schemeClr val="accent1"/>
              </a:solidFill>
              <a:ln w="19050" cap="flat" cmpd="sng" algn="ctr">
                <a:solidFill>
                  <a:schemeClr val="tx1"/>
                </a:solidFill>
                <a:prstDash val="lgDash"/>
                <a:round/>
                <a:headEnd type="none" w="med" len="med"/>
                <a:tailEnd type="none" w="med" len="med"/>
              </a:ln>
              <a:effectLst/>
            </p:spPr>
          </p:cxnSp>
          <p:cxnSp>
            <p:nvCxnSpPr>
              <p:cNvPr id="104" name="直接连接符 103"/>
              <p:cNvCxnSpPr/>
              <p:nvPr/>
            </p:nvCxnSpPr>
            <p:spPr bwMode="auto">
              <a:xfrm rot="5400000" flipH="1" flipV="1">
                <a:off x="6031588" y="4206686"/>
                <a:ext cx="1080000" cy="1352"/>
              </a:xfrm>
              <a:prstGeom prst="line">
                <a:avLst/>
              </a:prstGeom>
              <a:solidFill>
                <a:schemeClr val="accent1"/>
              </a:solidFill>
              <a:ln w="19050" cap="flat" cmpd="sng" algn="ctr">
                <a:solidFill>
                  <a:schemeClr val="tx1"/>
                </a:solidFill>
                <a:prstDash val="lgDash"/>
                <a:round/>
                <a:headEnd type="none" w="med" len="med"/>
                <a:tailEnd type="none" w="med" len="med"/>
              </a:ln>
              <a:effectLst/>
            </p:spPr>
          </p:cxnSp>
          <p:sp>
            <p:nvSpPr>
              <p:cNvPr id="106" name="弧形 105"/>
              <p:cNvSpPr>
                <a:spLocks noChangeAspect="1"/>
              </p:cNvSpPr>
              <p:nvPr/>
            </p:nvSpPr>
            <p:spPr bwMode="auto">
              <a:xfrm>
                <a:off x="5748346" y="4010028"/>
                <a:ext cx="1630374" cy="1630374"/>
              </a:xfrm>
              <a:prstGeom prst="arc">
                <a:avLst>
                  <a:gd name="adj1" fmla="val 16215314"/>
                  <a:gd name="adj2" fmla="val 1663437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07" name="矩形 106"/>
              <p:cNvSpPr/>
              <p:nvPr/>
            </p:nvSpPr>
            <p:spPr>
              <a:xfrm>
                <a:off x="6286512" y="3845486"/>
                <a:ext cx="304892" cy="369332"/>
              </a:xfrm>
              <a:prstGeom prst="rect">
                <a:avLst/>
              </a:prstGeom>
            </p:spPr>
            <p:txBody>
              <a:bodyPr wrap="none">
                <a:spAutoFit/>
              </a:bodyPr>
              <a:lstStyle/>
              <a:p>
                <a:r>
                  <a:rPr lang="el-GR" altLang="zh-CN" b="1" i="1">
                    <a:latin typeface="Times New Roman"/>
                    <a:cs typeface="Times New Roman"/>
                  </a:rPr>
                  <a:t>θ</a:t>
                </a:r>
                <a:endParaRPr lang="zh-CN" altLang="en-US"/>
              </a:p>
            </p:txBody>
          </p:sp>
        </p:grpSp>
        <p:grpSp>
          <p:nvGrpSpPr>
            <p:cNvPr id="6" name="组合 67"/>
            <p:cNvGrpSpPr/>
            <p:nvPr/>
          </p:nvGrpSpPr>
          <p:grpSpPr>
            <a:xfrm>
              <a:off x="2928926" y="1643050"/>
              <a:ext cx="6858048" cy="8215370"/>
              <a:chOff x="2928926" y="1643050"/>
              <a:chExt cx="6858048" cy="8215370"/>
            </a:xfrm>
          </p:grpSpPr>
          <p:grpSp>
            <p:nvGrpSpPr>
              <p:cNvPr id="7" name="组合 68"/>
              <p:cNvGrpSpPr/>
              <p:nvPr/>
            </p:nvGrpSpPr>
            <p:grpSpPr>
              <a:xfrm>
                <a:off x="6286512" y="1643050"/>
                <a:ext cx="1512000" cy="1130652"/>
                <a:chOff x="6500826" y="1583969"/>
                <a:chExt cx="1512000" cy="1130652"/>
              </a:xfrm>
            </p:grpSpPr>
            <p:grpSp>
              <p:nvGrpSpPr>
                <p:cNvPr id="8" name="组合 67"/>
                <p:cNvGrpSpPr/>
                <p:nvPr/>
              </p:nvGrpSpPr>
              <p:grpSpPr>
                <a:xfrm>
                  <a:off x="6605951" y="1583969"/>
                  <a:ext cx="1214571" cy="288947"/>
                  <a:chOff x="6214949" y="5500702"/>
                  <a:chExt cx="1214571" cy="288947"/>
                </a:xfrm>
              </p:grpSpPr>
              <p:cxnSp>
                <p:nvCxnSpPr>
                  <p:cNvPr id="64" name="直接连接符 63"/>
                  <p:cNvCxnSpPr/>
                  <p:nvPr/>
                </p:nvCxnSpPr>
                <p:spPr bwMode="auto">
                  <a:xfrm rot="5400000">
                    <a:off x="6107256" y="5680723"/>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auto">
                  <a:xfrm rot="5400000">
                    <a:off x="7310672" y="5681342"/>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6215563" y="5669442"/>
                    <a:ext cx="1213957"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67" name="TextBox 66"/>
                  <p:cNvSpPr txBox="1"/>
                  <p:nvPr/>
                </p:nvSpPr>
                <p:spPr>
                  <a:xfrm>
                    <a:off x="6635918" y="5500702"/>
                    <a:ext cx="426868" cy="276999"/>
                  </a:xfrm>
                  <a:prstGeom prst="rect">
                    <a:avLst/>
                  </a:prstGeom>
                  <a:solidFill>
                    <a:schemeClr val="bg1"/>
                  </a:solidFill>
                  <a:ln w="28575">
                    <a:noFill/>
                  </a:ln>
                </p:spPr>
                <p:txBody>
                  <a:bodyPr wrap="none" tIns="0" rIns="90000" bIns="0" rtlCol="0">
                    <a:spAutoFit/>
                  </a:bodyPr>
                  <a:lstStyle/>
                  <a:p>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9" name="组合 67"/>
                <p:cNvGrpSpPr/>
                <p:nvPr/>
              </p:nvGrpSpPr>
              <p:grpSpPr>
                <a:xfrm>
                  <a:off x="6500826" y="2000241"/>
                  <a:ext cx="1512000" cy="714380"/>
                  <a:chOff x="6500826" y="2000241"/>
                  <a:chExt cx="1512000" cy="714380"/>
                </a:xfrm>
              </p:grpSpPr>
              <p:sp>
                <p:nvSpPr>
                  <p:cNvPr id="63" name="矩形 62"/>
                  <p:cNvSpPr/>
                  <p:nvPr/>
                </p:nvSpPr>
                <p:spPr bwMode="auto">
                  <a:xfrm>
                    <a:off x="6606076" y="2000241"/>
                    <a:ext cx="1196143" cy="714380"/>
                  </a:xfrm>
                  <a:prstGeom prst="rect">
                    <a:avLst/>
                  </a:prstGeom>
                  <a:solidFill>
                    <a:srgbClr val="FFFFCC"/>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Times New Roman" pitchFamily="18" charset="0"/>
                      <a:ea typeface="华文细黑" pitchFamily="2" charset="-122"/>
                      <a:cs typeface="Times New Roman" pitchFamily="18" charset="0"/>
                    </a:endParaRPr>
                  </a:p>
                </p:txBody>
              </p:sp>
              <p:cxnSp>
                <p:nvCxnSpPr>
                  <p:cNvPr id="76" name="直接连接符 75"/>
                  <p:cNvCxnSpPr/>
                  <p:nvPr/>
                </p:nvCxnSpPr>
                <p:spPr bwMode="auto">
                  <a:xfrm>
                    <a:off x="6500826" y="2356832"/>
                    <a:ext cx="1512000" cy="1588"/>
                  </a:xfrm>
                  <a:prstGeom prst="line">
                    <a:avLst/>
                  </a:prstGeom>
                  <a:solidFill>
                    <a:schemeClr val="accent1"/>
                  </a:solidFill>
                  <a:ln w="19050" cap="flat" cmpd="sng" algn="ctr">
                    <a:solidFill>
                      <a:schemeClr val="tx1"/>
                    </a:solidFill>
                    <a:prstDash val="lgDashDot"/>
                    <a:round/>
                    <a:headEnd type="none" w="med" len="med"/>
                    <a:tailEnd type="none" w="med" len="med"/>
                  </a:ln>
                  <a:effectLst/>
                </p:spPr>
              </p:cxnSp>
            </p:grpSp>
          </p:grpSp>
          <p:grpSp>
            <p:nvGrpSpPr>
              <p:cNvPr id="10" name="组合 80"/>
              <p:cNvGrpSpPr/>
              <p:nvPr/>
            </p:nvGrpSpPr>
            <p:grpSpPr>
              <a:xfrm>
                <a:off x="2928926" y="3000372"/>
                <a:ext cx="6858048" cy="6858048"/>
                <a:chOff x="3286116" y="3143248"/>
                <a:chExt cx="6858048" cy="6858048"/>
              </a:xfrm>
            </p:grpSpPr>
            <p:sp>
              <p:nvSpPr>
                <p:cNvPr id="70" name="弧形 69"/>
                <p:cNvSpPr>
                  <a:spLocks noChangeAspect="1"/>
                </p:cNvSpPr>
                <p:nvPr/>
              </p:nvSpPr>
              <p:spPr bwMode="auto">
                <a:xfrm>
                  <a:off x="3286116" y="3143248"/>
                  <a:ext cx="6858048" cy="6858048"/>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72" name="弧形 71"/>
                <p:cNvSpPr>
                  <a:spLocks noChangeAspect="1"/>
                </p:cNvSpPr>
                <p:nvPr/>
              </p:nvSpPr>
              <p:spPr bwMode="auto">
                <a:xfrm>
                  <a:off x="3661071" y="3525152"/>
                  <a:ext cx="6118954" cy="6118954"/>
                </a:xfrm>
                <a:prstGeom prst="arc">
                  <a:avLst>
                    <a:gd name="adj1" fmla="val 16480611"/>
                    <a:gd name="adj2" fmla="val 18440276"/>
                  </a:avLst>
                </a:prstGeom>
                <a:noFill/>
                <a:ln w="19050" cap="flat" cmpd="sng" algn="ctr">
                  <a:solidFill>
                    <a:srgbClr val="00B050"/>
                  </a:solidFill>
                  <a:prstDash val="lgDashDot"/>
                  <a:round/>
                  <a:headEnd type="none" w="med" len="med"/>
                  <a:tailEnd type="none" w="med" len="med"/>
                </a:ln>
                <a:effectLst/>
              </p:spPr>
              <p:txBody>
                <a:bodyPr rtlCol="0" anchor="ctr"/>
                <a:lstStyle/>
                <a:p>
                  <a:pPr algn="ctr"/>
                  <a:endParaRPr lang="zh-CN" altLang="en-US"/>
                </a:p>
              </p:txBody>
            </p:sp>
            <p:sp>
              <p:nvSpPr>
                <p:cNvPr id="71" name="弧形 70"/>
                <p:cNvSpPr>
                  <a:spLocks noChangeAspect="1"/>
                </p:cNvSpPr>
                <p:nvPr/>
              </p:nvSpPr>
              <p:spPr bwMode="auto">
                <a:xfrm>
                  <a:off x="4034863" y="3894699"/>
                  <a:ext cx="5357850" cy="5357850"/>
                </a:xfrm>
                <a:prstGeom prst="arc">
                  <a:avLst>
                    <a:gd name="adj1" fmla="val 16647870"/>
                    <a:gd name="adj2" fmla="val 18189685"/>
                  </a:avLst>
                </a:pr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cxnSp>
              <p:nvCxnSpPr>
                <p:cNvPr id="74" name="直接连接符 73"/>
                <p:cNvCxnSpPr>
                  <a:stCxn id="71" idx="2"/>
                  <a:endCxn id="70" idx="2"/>
                </p:cNvCxnSpPr>
                <p:nvPr/>
              </p:nvCxnSpPr>
              <p:spPr bwMode="auto">
                <a:xfrm flipV="1">
                  <a:off x="8179161" y="3701725"/>
                  <a:ext cx="411656" cy="62928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cxnSp>
            <p:nvCxnSpPr>
              <p:cNvPr id="75" name="直接连接符 74"/>
              <p:cNvCxnSpPr>
                <a:stCxn id="71" idx="0"/>
                <a:endCxn id="70" idx="0"/>
              </p:cNvCxnSpPr>
              <p:nvPr/>
            </p:nvCxnSpPr>
            <p:spPr bwMode="auto">
              <a:xfrm rot="10800000" flipH="1">
                <a:off x="6704621" y="3029431"/>
                <a:ext cx="98798" cy="745094"/>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nvGrpSpPr>
              <p:cNvPr id="11" name="组合 88"/>
              <p:cNvGrpSpPr/>
              <p:nvPr/>
            </p:nvGrpSpPr>
            <p:grpSpPr>
              <a:xfrm>
                <a:off x="6370307" y="2807078"/>
                <a:ext cx="396000" cy="603841"/>
                <a:chOff x="6370307" y="2807078"/>
                <a:chExt cx="396000" cy="603841"/>
              </a:xfrm>
            </p:grpSpPr>
            <p:cxnSp>
              <p:nvCxnSpPr>
                <p:cNvPr id="84" name="直接连接符 83"/>
                <p:cNvCxnSpPr/>
                <p:nvPr/>
              </p:nvCxnSpPr>
              <p:spPr bwMode="auto">
                <a:xfrm rot="5400000">
                  <a:off x="6501006" y="3158125"/>
                  <a:ext cx="504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p:cNvCxnSpPr/>
                <p:nvPr/>
              </p:nvCxnSpPr>
              <p:spPr bwMode="auto">
                <a:xfrm rot="5400000">
                  <a:off x="6228225" y="3058660"/>
                  <a:ext cx="285752"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7" name="直接连接符 86"/>
                <p:cNvCxnSpPr/>
                <p:nvPr/>
              </p:nvCxnSpPr>
              <p:spPr bwMode="auto">
                <a:xfrm>
                  <a:off x="6370307" y="3142009"/>
                  <a:ext cx="396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88" name="TextBox 87"/>
                <p:cNvSpPr txBox="1"/>
                <p:nvPr/>
              </p:nvSpPr>
              <p:spPr>
                <a:xfrm>
                  <a:off x="6389480" y="2807078"/>
                  <a:ext cx="311452" cy="276999"/>
                </a:xfrm>
                <a:prstGeom prst="rect">
                  <a:avLst/>
                </a:prstGeom>
                <a:solidFill>
                  <a:schemeClr val="bg1"/>
                </a:solidFill>
                <a:ln w="28575">
                  <a:noFill/>
                </a:ln>
              </p:spPr>
              <p:txBody>
                <a:bodyPr wrap="none" tIns="0" rIns="90000" bIns="0" rtlCol="0">
                  <a:spAutoFit/>
                </a:bodyPr>
                <a:lstStyle/>
                <a:p>
                  <a:r>
                    <a:rPr lang="en-US" altLang="zh-CN" b="1" i="1">
                      <a:latin typeface="Times New Roman" pitchFamily="18" charset="0"/>
                      <a:cs typeface="Times New Roman" pitchFamily="18" charset="0"/>
                    </a:rPr>
                    <a:t>u</a:t>
                  </a:r>
                  <a:endParaRPr lang="zh-CN" altLang="en-US" b="1" i="1">
                    <a:latin typeface="Times New Roman" pitchFamily="18" charset="0"/>
                    <a:cs typeface="Times New Roman" pitchFamily="18" charset="0"/>
                  </a:endParaRPr>
                </a:p>
              </p:txBody>
            </p:sp>
          </p:grpSp>
          <p:grpSp>
            <p:nvGrpSpPr>
              <p:cNvPr id="12" name="组合 93"/>
              <p:cNvGrpSpPr/>
              <p:nvPr/>
            </p:nvGrpSpPr>
            <p:grpSpPr>
              <a:xfrm>
                <a:off x="5774178" y="2428868"/>
                <a:ext cx="371144" cy="1008001"/>
                <a:chOff x="5774178" y="2428868"/>
                <a:chExt cx="371144" cy="1008001"/>
              </a:xfrm>
            </p:grpSpPr>
            <p:cxnSp>
              <p:nvCxnSpPr>
                <p:cNvPr id="90" name="直接连接符 89"/>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1" name="直接连接符 90"/>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2" name="直接连接符 91"/>
                <p:cNvCxnSpPr/>
                <p:nvPr/>
              </p:nvCxnSpPr>
              <p:spPr bwMode="auto">
                <a:xfrm rot="5400000">
                  <a:off x="5537287"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93" name="TextBox 92"/>
                <p:cNvSpPr txBox="1"/>
                <p:nvPr/>
              </p:nvSpPr>
              <p:spPr>
                <a:xfrm rot="16200000">
                  <a:off x="5744128" y="2816109"/>
                  <a:ext cx="337100"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w</a:t>
                  </a:r>
                  <a:endParaRPr lang="zh-CN" altLang="en-US" b="1" i="1">
                    <a:latin typeface="Times New Roman" pitchFamily="18" charset="0"/>
                    <a:cs typeface="Times New Roman" pitchFamily="18" charset="0"/>
                  </a:endParaRPr>
                </a:p>
              </p:txBody>
            </p:sp>
          </p:grpSp>
          <p:grpSp>
            <p:nvGrpSpPr>
              <p:cNvPr id="13" name="组合 113"/>
              <p:cNvGrpSpPr/>
              <p:nvPr/>
            </p:nvGrpSpPr>
            <p:grpSpPr>
              <a:xfrm>
                <a:off x="7572396" y="1881114"/>
                <a:ext cx="1296200" cy="2012327"/>
                <a:chOff x="7572396" y="1881114"/>
                <a:chExt cx="1296200" cy="2012327"/>
              </a:xfrm>
            </p:grpSpPr>
            <p:cxnSp>
              <p:nvCxnSpPr>
                <p:cNvPr id="109" name="直接连接符 108"/>
                <p:cNvCxnSpPr/>
                <p:nvPr/>
              </p:nvCxnSpPr>
              <p:spPr bwMode="auto">
                <a:xfrm rot="5400000">
                  <a:off x="7125568" y="2992647"/>
                  <a:ext cx="1800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1" name="直接连接符 110"/>
                <p:cNvCxnSpPr/>
                <p:nvPr/>
              </p:nvCxnSpPr>
              <p:spPr bwMode="auto">
                <a:xfrm>
                  <a:off x="7572396" y="2214554"/>
                  <a:ext cx="468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2" name="直接连接符 111"/>
                <p:cNvCxnSpPr/>
                <p:nvPr/>
              </p:nvCxnSpPr>
              <p:spPr bwMode="auto">
                <a:xfrm>
                  <a:off x="8036837" y="2214554"/>
                  <a:ext cx="612000" cy="1588"/>
                </a:xfrm>
                <a:prstGeom prst="line">
                  <a:avLst/>
                </a:prstGeom>
                <a:solidFill>
                  <a:schemeClr val="accent1"/>
                </a:solidFill>
                <a:ln w="28575" cap="flat" cmpd="sng" algn="ctr">
                  <a:solidFill>
                    <a:schemeClr val="tx1"/>
                  </a:solidFill>
                  <a:prstDash val="solid"/>
                  <a:round/>
                  <a:headEnd type="triangle" w="med" len="lg"/>
                  <a:tailEnd type="none" w="med" len="lg"/>
                </a:ln>
                <a:effectLst/>
              </p:spPr>
            </p:cxnSp>
            <p:sp>
              <p:nvSpPr>
                <p:cNvPr id="113" name="TextBox 112"/>
                <p:cNvSpPr txBox="1"/>
                <p:nvPr/>
              </p:nvSpPr>
              <p:spPr>
                <a:xfrm>
                  <a:off x="8029755" y="1881114"/>
                  <a:ext cx="838841" cy="276999"/>
                </a:xfrm>
                <a:prstGeom prst="rect">
                  <a:avLst/>
                </a:prstGeom>
                <a:noFill/>
                <a:ln w="28575">
                  <a:noFill/>
                </a:ln>
              </p:spPr>
              <p:txBody>
                <a:bodyPr wrap="none" tIns="0" rIns="90000" bIns="0" rtlCol="0">
                  <a:spAutoFit/>
                </a:bodyPr>
                <a:lstStyle/>
                <a:p>
                  <a:r>
                    <a:rPr lang="en-US" altLang="zh-CN" b="1" i="1">
                      <a:latin typeface="Times New Roman" pitchFamily="18" charset="0"/>
                      <a:cs typeface="Times New Roman" pitchFamily="18" charset="0"/>
                    </a:rPr>
                    <a:t>u+ </a:t>
                  </a:r>
                  <a:r>
                    <a:rPr lang="el-GR" altLang="zh-CN" b="1" i="1">
                      <a:latin typeface="Times New Roman"/>
                      <a:cs typeface="Times New Roman"/>
                    </a:rPr>
                    <a:t>ε</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14" name="组合 114"/>
              <p:cNvGrpSpPr/>
              <p:nvPr/>
            </p:nvGrpSpPr>
            <p:grpSpPr>
              <a:xfrm>
                <a:off x="8071588" y="2344730"/>
                <a:ext cx="858155" cy="1571634"/>
                <a:chOff x="5927636" y="2388292"/>
                <a:chExt cx="217686" cy="1055999"/>
              </a:xfrm>
            </p:grpSpPr>
            <p:cxnSp>
              <p:nvCxnSpPr>
                <p:cNvPr id="116" name="直接连接符 115"/>
                <p:cNvCxnSpPr/>
                <p:nvPr/>
              </p:nvCxnSpPr>
              <p:spPr bwMode="auto">
                <a:xfrm rot="10800000">
                  <a:off x="5929322" y="2428868"/>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p:nvPr/>
              </p:nvCxnSpPr>
              <p:spPr bwMode="auto">
                <a:xfrm rot="10800000">
                  <a:off x="5927636" y="3429000"/>
                  <a:ext cx="216000" cy="6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8" name="直接连接符 117"/>
                <p:cNvCxnSpPr/>
                <p:nvPr/>
              </p:nvCxnSpPr>
              <p:spPr bwMode="auto">
                <a:xfrm rot="5400000">
                  <a:off x="5598435" y="2932249"/>
                  <a:ext cx="1008000" cy="1239"/>
                </a:xfrm>
                <a:prstGeom prst="line">
                  <a:avLst/>
                </a:prstGeom>
                <a:solidFill>
                  <a:schemeClr val="accent1"/>
                </a:solidFill>
                <a:ln w="19050" cap="flat" cmpd="sng" algn="ctr">
                  <a:solidFill>
                    <a:schemeClr val="tx1"/>
                  </a:solidFill>
                  <a:prstDash val="solid"/>
                  <a:round/>
                  <a:headEnd type="triangle" w="med" len="lg"/>
                  <a:tailEnd type="triangle" w="med" len="lg"/>
                </a:ln>
                <a:effectLst/>
              </p:spPr>
            </p:cxnSp>
            <p:sp>
              <p:nvSpPr>
                <p:cNvPr id="119" name="TextBox 118"/>
                <p:cNvSpPr txBox="1"/>
                <p:nvPr/>
              </p:nvSpPr>
              <p:spPr>
                <a:xfrm rot="16200000">
                  <a:off x="5524971" y="2881159"/>
                  <a:ext cx="1055999" cy="70266"/>
                </a:xfrm>
                <a:prstGeom prst="rect">
                  <a:avLst/>
                </a:prstGeom>
                <a:noFill/>
                <a:ln w="28575">
                  <a:noFill/>
                </a:ln>
              </p:spPr>
              <p:txBody>
                <a:bodyPr wrap="square" tIns="0" rIns="90000" bIns="0" rtlCol="0">
                  <a:spAutoFit/>
                </a:bodyPr>
                <a:lstStyle/>
                <a:p>
                  <a:r>
                    <a:rPr lang="en-US" altLang="zh-CN" b="1" i="1">
                      <a:latin typeface="Times New Roman" pitchFamily="18" charset="0"/>
                      <a:cs typeface="Times New Roman" pitchFamily="18" charset="0"/>
                    </a:rPr>
                    <a:t>w</a:t>
                  </a:r>
                  <a:r>
                    <a:rPr lang="en-US" altLang="zh-CN" b="1" i="1" baseline="-25000">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n-US" altLang="zh-CN" b="1" i="1" baseline="-25000">
                      <a:latin typeface="Times New Roman" pitchFamily="18" charset="0"/>
                      <a:cs typeface="Times New Roman" pitchFamily="18" charset="0"/>
                    </a:rPr>
                    <a:t> </a:t>
                  </a:r>
                  <a:r>
                    <a:rPr lang="el-GR" altLang="zh-CN" b="1" i="1">
                      <a:latin typeface="Times New Roman"/>
                      <a:cs typeface="Times New Roman"/>
                    </a:rPr>
                    <a:t>θ</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r>
                    <a:rPr lang="en-US" altLang="zh-CN" b="1" i="1" baseline="-25000">
                      <a:latin typeface="Times New Roman" pitchFamily="18" charset="0"/>
                      <a:cs typeface="Times New Roman" pitchFamily="18" charset="0"/>
                    </a:rPr>
                    <a:t> </a:t>
                  </a:r>
                  <a:r>
                    <a:rPr lang="en-US" altLang="zh-CN" b="1" i="1">
                      <a:latin typeface="Times New Roman" pitchFamily="18" charset="0"/>
                      <a:cs typeface="Times New Roman" pitchFamily="18" charset="0"/>
                    </a:rPr>
                    <a:t>+</a:t>
                  </a:r>
                  <a:r>
                    <a:rPr lang="en-US" altLang="zh-CN" b="1" i="1" baseline="-25000">
                      <a:latin typeface="Times New Roman" pitchFamily="18" charset="0"/>
                      <a:cs typeface="Times New Roman" pitchFamily="18" charset="0"/>
                    </a:rPr>
                    <a:t> </a:t>
                  </a:r>
                  <a:r>
                    <a:rPr lang="el-GR" altLang="zh-CN" b="1" i="1">
                      <a:latin typeface="Times New Roman"/>
                      <a:cs typeface="Times New Roman"/>
                    </a:rPr>
                    <a:t>γ</a:t>
                  </a:r>
                  <a:r>
                    <a:rPr lang="en-US" altLang="zh-CN" b="1" baseline="-25000">
                      <a:latin typeface="Times New Roman"/>
                      <a:cs typeface="Times New Roman"/>
                    </a:rPr>
                    <a:t>0</a:t>
                  </a:r>
                  <a:r>
                    <a:rPr lang="en-US" altLang="zh-CN" b="1">
                      <a:latin typeface="Times New Roman" pitchFamily="18" charset="0"/>
                      <a:cs typeface="Times New Roman" pitchFamily="18" charset="0"/>
                    </a:rPr>
                    <a:t>d</a:t>
                  </a:r>
                  <a:r>
                    <a:rPr lang="en-US" altLang="zh-CN" b="1" i="1">
                      <a:latin typeface="Times New Roman" pitchFamily="18" charset="0"/>
                      <a:cs typeface="Times New Roman" pitchFamily="18" charset="0"/>
                    </a:rPr>
                    <a:t>x</a:t>
                  </a:r>
                  <a:endParaRPr lang="zh-CN" altLang="en-US" b="1" i="1">
                    <a:latin typeface="Times New Roman" pitchFamily="18" charset="0"/>
                    <a:cs typeface="Times New Roman" pitchFamily="18" charset="0"/>
                  </a:endParaRPr>
                </a:p>
              </p:txBody>
            </p:sp>
          </p:grpSp>
          <p:grpSp>
            <p:nvGrpSpPr>
              <p:cNvPr id="15" name="组合 132"/>
              <p:cNvGrpSpPr/>
              <p:nvPr/>
            </p:nvGrpSpPr>
            <p:grpSpPr>
              <a:xfrm>
                <a:off x="7406660" y="3781618"/>
                <a:ext cx="826314" cy="1231160"/>
                <a:chOff x="7406660" y="3781618"/>
                <a:chExt cx="826314" cy="1231160"/>
              </a:xfrm>
              <a:noFill/>
            </p:grpSpPr>
            <p:cxnSp>
              <p:nvCxnSpPr>
                <p:cNvPr id="121" name="直接连接符 120"/>
                <p:cNvCxnSpPr>
                  <a:cxnSpLocks noChangeAspect="1"/>
                </p:cNvCxnSpPr>
                <p:nvPr/>
              </p:nvCxnSpPr>
              <p:spPr bwMode="auto">
                <a:xfrm flipH="1">
                  <a:off x="7536810" y="4204466"/>
                  <a:ext cx="288000" cy="438980"/>
                </a:xfrm>
                <a:prstGeom prst="line">
                  <a:avLst/>
                </a:prstGeom>
                <a:grpFill/>
                <a:ln w="19050" cap="flat" cmpd="sng" algn="ctr">
                  <a:solidFill>
                    <a:schemeClr val="tx1"/>
                  </a:solidFill>
                  <a:prstDash val="lgDash"/>
                  <a:round/>
                  <a:headEnd type="none" w="med" len="med"/>
                  <a:tailEnd type="none" w="med" len="med"/>
                </a:ln>
                <a:effectLst/>
              </p:spPr>
            </p:cxnSp>
            <p:sp>
              <p:nvSpPr>
                <p:cNvPr id="129" name="弧形 128"/>
                <p:cNvSpPr>
                  <a:spLocks noChangeAspect="1"/>
                </p:cNvSpPr>
                <p:nvPr/>
              </p:nvSpPr>
              <p:spPr bwMode="auto">
                <a:xfrm rot="10800000">
                  <a:off x="7406660" y="3781618"/>
                  <a:ext cx="826314" cy="826314"/>
                </a:xfrm>
                <a:prstGeom prst="arc">
                  <a:avLst>
                    <a:gd name="adj1" fmla="val 16200000"/>
                    <a:gd name="adj2" fmla="val 18211609"/>
                  </a:avLst>
                </a:prstGeom>
                <a:grp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32" name="矩形 131"/>
                <p:cNvSpPr/>
                <p:nvPr/>
              </p:nvSpPr>
              <p:spPr>
                <a:xfrm>
                  <a:off x="7500958" y="4643446"/>
                  <a:ext cx="714380" cy="369332"/>
                </a:xfrm>
                <a:prstGeom prst="rect">
                  <a:avLst/>
                </a:prstGeom>
                <a:solidFill>
                  <a:schemeClr val="bg1"/>
                </a:solidFill>
              </p:spPr>
              <p:txBody>
                <a:bodyPr wrap="square">
                  <a:spAutoFit/>
                </a:bodyPr>
                <a:lstStyle/>
                <a:p>
                  <a:r>
                    <a:rPr lang="el-GR" altLang="zh-CN" b="1" i="1">
                      <a:latin typeface="Times New Roman"/>
                      <a:cs typeface="Times New Roman"/>
                    </a:rPr>
                    <a:t>θ</a:t>
                  </a:r>
                  <a:r>
                    <a:rPr lang="en-US" altLang="zh-CN" b="1">
                      <a:latin typeface="Times New Roman"/>
                      <a:cs typeface="Times New Roman"/>
                    </a:rPr>
                    <a:t>+d</a:t>
                  </a:r>
                  <a:r>
                    <a:rPr lang="el-GR" altLang="zh-CN" b="1" i="1">
                      <a:latin typeface="Times New Roman"/>
                      <a:cs typeface="Times New Roman"/>
                    </a:rPr>
                    <a:t>θ</a:t>
                  </a:r>
                  <a:endParaRPr lang="zh-CN" altLang="en-US"/>
                </a:p>
              </p:txBody>
            </p:sp>
            <p:cxnSp>
              <p:nvCxnSpPr>
                <p:cNvPr id="128" name="直接连接符 127"/>
                <p:cNvCxnSpPr/>
                <p:nvPr/>
              </p:nvCxnSpPr>
              <p:spPr bwMode="auto">
                <a:xfrm rot="5400000" flipH="1" flipV="1">
                  <a:off x="7445317" y="4306272"/>
                  <a:ext cx="756000" cy="1588"/>
                </a:xfrm>
                <a:prstGeom prst="line">
                  <a:avLst/>
                </a:prstGeom>
                <a:grpFill/>
                <a:ln w="19050" cap="flat" cmpd="sng" algn="ctr">
                  <a:solidFill>
                    <a:schemeClr val="tx1"/>
                  </a:solidFill>
                  <a:prstDash val="lgDash"/>
                  <a:round/>
                  <a:headEnd type="none" w="med" len="med"/>
                  <a:tailEnd type="none" w="med" len="med"/>
                </a:ln>
                <a:effectLst/>
              </p:spPr>
            </p:cxnSp>
          </p:grpSp>
          <p:grpSp>
            <p:nvGrpSpPr>
              <p:cNvPr id="16" name="组合 141"/>
              <p:cNvGrpSpPr/>
              <p:nvPr/>
            </p:nvGrpSpPr>
            <p:grpSpPr>
              <a:xfrm>
                <a:off x="6215074" y="2883834"/>
                <a:ext cx="1344050" cy="1067470"/>
                <a:chOff x="6215074" y="2883834"/>
                <a:chExt cx="1344050" cy="1067470"/>
              </a:xfrm>
            </p:grpSpPr>
            <p:cxnSp>
              <p:nvCxnSpPr>
                <p:cNvPr id="135" name="直接连接符 134"/>
                <p:cNvCxnSpPr>
                  <a:cxnSpLocks noChangeAspect="1"/>
                </p:cNvCxnSpPr>
                <p:nvPr/>
              </p:nvCxnSpPr>
              <p:spPr bwMode="auto">
                <a:xfrm>
                  <a:off x="6745578" y="3412601"/>
                  <a:ext cx="756000" cy="27283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7" name="直接连接符 136"/>
                <p:cNvCxnSpPr/>
                <p:nvPr/>
              </p:nvCxnSpPr>
              <p:spPr bwMode="auto">
                <a:xfrm>
                  <a:off x="6753778" y="3416700"/>
                  <a:ext cx="78581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0" name="矩形 139"/>
                <p:cNvSpPr/>
                <p:nvPr/>
              </p:nvSpPr>
              <p:spPr>
                <a:xfrm>
                  <a:off x="7239806" y="3316720"/>
                  <a:ext cx="319318" cy="369332"/>
                </a:xfrm>
                <a:prstGeom prst="rect">
                  <a:avLst/>
                </a:prstGeom>
              </p:spPr>
              <p:txBody>
                <a:bodyPr wrap="none">
                  <a:spAutoFit/>
                </a:bodyPr>
                <a:lstStyle/>
                <a:p>
                  <a:r>
                    <a:rPr lang="el-GR" altLang="zh-CN" b="1" i="1">
                      <a:latin typeface="Times New Roman"/>
                      <a:cs typeface="Times New Roman"/>
                    </a:rPr>
                    <a:t>φ</a:t>
                  </a:r>
                  <a:endParaRPr lang="zh-CN" altLang="en-US"/>
                </a:p>
              </p:txBody>
            </p:sp>
            <p:sp>
              <p:nvSpPr>
                <p:cNvPr id="141" name="弧形 140"/>
                <p:cNvSpPr>
                  <a:spLocks noChangeAspect="1"/>
                </p:cNvSpPr>
                <p:nvPr/>
              </p:nvSpPr>
              <p:spPr bwMode="auto">
                <a:xfrm rot="5400000">
                  <a:off x="6215074" y="2883834"/>
                  <a:ext cx="1067470" cy="1067470"/>
                </a:xfrm>
                <a:prstGeom prst="arc">
                  <a:avLst>
                    <a:gd name="adj1" fmla="val 16200000"/>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grpSp>
            <p:nvGrpSpPr>
              <p:cNvPr id="17" name="组合 144"/>
              <p:cNvGrpSpPr/>
              <p:nvPr/>
            </p:nvGrpSpPr>
            <p:grpSpPr>
              <a:xfrm>
                <a:off x="6372744" y="2857496"/>
                <a:ext cx="1675442" cy="938176"/>
                <a:chOff x="6372744" y="2857496"/>
                <a:chExt cx="1675442" cy="938176"/>
              </a:xfrm>
            </p:grpSpPr>
            <p:sp>
              <p:nvSpPr>
                <p:cNvPr id="143" name="弧形 142"/>
                <p:cNvSpPr>
                  <a:spLocks noChangeAspect="1"/>
                </p:cNvSpPr>
                <p:nvPr/>
              </p:nvSpPr>
              <p:spPr bwMode="auto">
                <a:xfrm rot="5400000">
                  <a:off x="6372744" y="3016556"/>
                  <a:ext cx="779116" cy="779116"/>
                </a:xfrm>
                <a:prstGeom prst="arc">
                  <a:avLst>
                    <a:gd name="adj1" fmla="val 10722971"/>
                    <a:gd name="adj2" fmla="val 17309396"/>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44" name="矩形 143"/>
                <p:cNvSpPr/>
                <p:nvPr/>
              </p:nvSpPr>
              <p:spPr>
                <a:xfrm>
                  <a:off x="7039577" y="2857496"/>
                  <a:ext cx="1008609" cy="369332"/>
                </a:xfrm>
                <a:prstGeom prst="rect">
                  <a:avLst/>
                </a:prstGeom>
              </p:spPr>
              <p:txBody>
                <a:bodyPr wrap="none">
                  <a:spAutoFit/>
                </a:bodyPr>
                <a:lstStyle/>
                <a:p>
                  <a:r>
                    <a:rPr lang="el-GR" altLang="zh-CN" b="1" i="1">
                      <a:latin typeface="Times New Roman"/>
                      <a:cs typeface="Times New Roman"/>
                    </a:rPr>
                    <a:t>γ</a:t>
                  </a:r>
                  <a:r>
                    <a:rPr lang="en-US" altLang="zh-CN" b="1" baseline="-25000">
                      <a:latin typeface="Times New Roman"/>
                      <a:cs typeface="Times New Roman"/>
                    </a:rPr>
                    <a:t>0</a:t>
                  </a:r>
                  <a:r>
                    <a:rPr lang="en-US" altLang="zh-CN" b="1">
                      <a:latin typeface="Times New Roman"/>
                      <a:cs typeface="Times New Roman"/>
                    </a:rPr>
                    <a:t>+</a:t>
                  </a:r>
                  <a:r>
                    <a:rPr lang="en-US" altLang="zh-CN" b="1" baseline="-25000">
                      <a:latin typeface="Times New Roman"/>
                      <a:cs typeface="Times New Roman"/>
                    </a:rPr>
                    <a:t> </a:t>
                  </a:r>
                  <a:r>
                    <a:rPr lang="en-US" altLang="zh-CN" b="1">
                      <a:latin typeface="Times New Roman"/>
                      <a:cs typeface="Times New Roman"/>
                    </a:rPr>
                    <a:t>90°</a:t>
                  </a:r>
                  <a:endParaRPr lang="zh-CN" altLang="en-US"/>
                </a:p>
              </p:txBody>
            </p:sp>
          </p:grpSp>
        </p:grpSp>
      </p:grpSp>
      <p:sp>
        <p:nvSpPr>
          <p:cNvPr id="81" name="弧形 80"/>
          <p:cNvSpPr>
            <a:spLocks noChangeAspect="1"/>
          </p:cNvSpPr>
          <p:nvPr/>
        </p:nvSpPr>
        <p:spPr bwMode="auto">
          <a:xfrm>
            <a:off x="-14359070" y="3000372"/>
            <a:ext cx="26932126" cy="26932126"/>
          </a:xfrm>
          <a:prstGeom prst="arc">
            <a:avLst>
              <a:gd name="adj1" fmla="val 16902882"/>
              <a:gd name="adj2" fmla="val 17814464"/>
            </a:avLst>
          </a:prstGeom>
          <a:noFill/>
          <a:ln w="762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grpSp>
        <p:nvGrpSpPr>
          <p:cNvPr id="18" name="组合 133"/>
          <p:cNvGrpSpPr/>
          <p:nvPr/>
        </p:nvGrpSpPr>
        <p:grpSpPr>
          <a:xfrm>
            <a:off x="1244894" y="2573254"/>
            <a:ext cx="3879974" cy="457598"/>
            <a:chOff x="1244894" y="2498718"/>
            <a:chExt cx="3879974" cy="457598"/>
          </a:xfrm>
        </p:grpSpPr>
        <p:cxnSp>
          <p:nvCxnSpPr>
            <p:cNvPr id="83" name="直接连接符 82"/>
            <p:cNvCxnSpPr/>
            <p:nvPr/>
          </p:nvCxnSpPr>
          <p:spPr bwMode="auto">
            <a:xfrm>
              <a:off x="1500166" y="2498718"/>
              <a:ext cx="3500462" cy="1588"/>
            </a:xfrm>
            <a:prstGeom prst="line">
              <a:avLst/>
            </a:prstGeom>
            <a:solidFill>
              <a:schemeClr val="accent1"/>
            </a:solidFill>
            <a:ln w="76200" cap="flat" cmpd="sng" algn="ctr">
              <a:solidFill>
                <a:schemeClr val="tx1"/>
              </a:solidFill>
              <a:prstDash val="solid"/>
              <a:round/>
              <a:headEnd type="none" w="med" len="med"/>
              <a:tailEnd type="none" w="med" len="med"/>
            </a:ln>
            <a:effectLst/>
          </p:spPr>
        </p:cxnSp>
        <p:sp>
          <p:nvSpPr>
            <p:cNvPr id="127" name="TextBox 126"/>
            <p:cNvSpPr txBox="1"/>
            <p:nvPr/>
          </p:nvSpPr>
          <p:spPr>
            <a:xfrm>
              <a:off x="124489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133" name="TextBox 132"/>
            <p:cNvSpPr txBox="1"/>
            <p:nvPr/>
          </p:nvSpPr>
          <p:spPr>
            <a:xfrm>
              <a:off x="4786314" y="25869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grpSp>
      <p:grpSp>
        <p:nvGrpSpPr>
          <p:cNvPr id="19" name="组合 157"/>
          <p:cNvGrpSpPr/>
          <p:nvPr/>
        </p:nvGrpSpPr>
        <p:grpSpPr>
          <a:xfrm>
            <a:off x="1508760" y="1501608"/>
            <a:ext cx="3491868" cy="1073234"/>
            <a:chOff x="1508760" y="1501608"/>
            <a:chExt cx="3491868" cy="1073234"/>
          </a:xfrm>
        </p:grpSpPr>
        <p:grpSp>
          <p:nvGrpSpPr>
            <p:cNvPr id="20" name="组合 123"/>
            <p:cNvGrpSpPr/>
            <p:nvPr/>
          </p:nvGrpSpPr>
          <p:grpSpPr>
            <a:xfrm>
              <a:off x="1508760" y="1931900"/>
              <a:ext cx="3491868" cy="642942"/>
              <a:chOff x="1508760" y="1857364"/>
              <a:chExt cx="3491868" cy="642942"/>
            </a:xfrm>
          </p:grpSpPr>
          <p:sp>
            <p:nvSpPr>
              <p:cNvPr id="94" name="任意多边形 93"/>
              <p:cNvSpPr/>
              <p:nvPr/>
            </p:nvSpPr>
            <p:spPr bwMode="auto">
              <a:xfrm>
                <a:off x="1508760" y="1857364"/>
                <a:ext cx="3491868" cy="352436"/>
              </a:xfrm>
              <a:custGeom>
                <a:avLst/>
                <a:gdLst>
                  <a:gd name="connsiteX0" fmla="*/ 0 w 3459480"/>
                  <a:gd name="connsiteY0" fmla="*/ 320040 h 320040"/>
                  <a:gd name="connsiteX1" fmla="*/ 1463040 w 3459480"/>
                  <a:gd name="connsiteY1" fmla="*/ 45720 h 320040"/>
                  <a:gd name="connsiteX2" fmla="*/ 2423160 w 3459480"/>
                  <a:gd name="connsiteY2" fmla="*/ 45720 h 320040"/>
                  <a:gd name="connsiteX3" fmla="*/ 3459480 w 3459480"/>
                  <a:gd name="connsiteY3" fmla="*/ 274320 h 320040"/>
                </a:gdLst>
                <a:ahLst/>
                <a:cxnLst>
                  <a:cxn ang="0">
                    <a:pos x="connsiteX0" y="connsiteY0"/>
                  </a:cxn>
                  <a:cxn ang="0">
                    <a:pos x="connsiteX1" y="connsiteY1"/>
                  </a:cxn>
                  <a:cxn ang="0">
                    <a:pos x="connsiteX2" y="connsiteY2"/>
                  </a:cxn>
                  <a:cxn ang="0">
                    <a:pos x="connsiteX3" y="connsiteY3"/>
                  </a:cxn>
                </a:cxnLst>
                <a:rect l="l" t="t" r="r" b="b"/>
                <a:pathLst>
                  <a:path w="3459480" h="320040">
                    <a:moveTo>
                      <a:pt x="0" y="320040"/>
                    </a:moveTo>
                    <a:cubicBezTo>
                      <a:pt x="529590" y="205740"/>
                      <a:pt x="1059180" y="91440"/>
                      <a:pt x="1463040" y="45720"/>
                    </a:cubicBezTo>
                    <a:cubicBezTo>
                      <a:pt x="1866900" y="0"/>
                      <a:pt x="2090420" y="7620"/>
                      <a:pt x="2423160" y="45720"/>
                    </a:cubicBezTo>
                    <a:cubicBezTo>
                      <a:pt x="2755900" y="83820"/>
                      <a:pt x="3107690" y="179070"/>
                      <a:pt x="3459480" y="274320"/>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cxnSp>
            <p:nvCxnSpPr>
              <p:cNvPr id="96" name="直接箭头连接符 95"/>
              <p:cNvCxnSpPr/>
              <p:nvPr/>
            </p:nvCxnSpPr>
            <p:spPr bwMode="auto">
              <a:xfrm flipH="1">
                <a:off x="1515406" y="2209800"/>
                <a:ext cx="0" cy="290506"/>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97" name="直接箭头连接符 96"/>
              <p:cNvCxnSpPr/>
              <p:nvPr/>
            </p:nvCxnSpPr>
            <p:spPr bwMode="auto">
              <a:xfrm flipH="1">
                <a:off x="4985388" y="2158356"/>
                <a:ext cx="0" cy="32400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98" name="直接箭头连接符 97"/>
              <p:cNvCxnSpPr/>
              <p:nvPr/>
            </p:nvCxnSpPr>
            <p:spPr bwMode="auto">
              <a:xfrm rot="5400000">
                <a:off x="2966000" y="2177480"/>
                <a:ext cx="609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00" name="直接箭头连接符 99"/>
              <p:cNvCxnSpPr/>
              <p:nvPr/>
            </p:nvCxnSpPr>
            <p:spPr bwMode="auto">
              <a:xfrm rot="5400000">
                <a:off x="2133901" y="2249479"/>
                <a:ext cx="500066"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03" name="直接箭头连接符 102"/>
              <p:cNvCxnSpPr/>
              <p:nvPr/>
            </p:nvCxnSpPr>
            <p:spPr bwMode="auto">
              <a:xfrm rot="16200000" flipH="1">
                <a:off x="3874448" y="2214554"/>
                <a:ext cx="571504"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10" name="直接箭头连接符 109"/>
              <p:cNvCxnSpPr/>
              <p:nvPr/>
            </p:nvCxnSpPr>
            <p:spPr bwMode="auto">
              <a:xfrm rot="5400000">
                <a:off x="1748397" y="2306685"/>
                <a:ext cx="360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0" name="直接箭头连接符 119"/>
              <p:cNvCxnSpPr/>
              <p:nvPr/>
            </p:nvCxnSpPr>
            <p:spPr bwMode="auto">
              <a:xfrm rot="5400000">
                <a:off x="2548405" y="2207405"/>
                <a:ext cx="558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2" name="直接箭头连接符 121"/>
              <p:cNvCxnSpPr/>
              <p:nvPr/>
            </p:nvCxnSpPr>
            <p:spPr bwMode="auto">
              <a:xfrm rot="5400000">
                <a:off x="3409141" y="2178207"/>
                <a:ext cx="612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23" name="直接箭头连接符 122"/>
              <p:cNvCxnSpPr/>
              <p:nvPr/>
            </p:nvCxnSpPr>
            <p:spPr bwMode="auto">
              <a:xfrm rot="16200000" flipH="1">
                <a:off x="4356000" y="2267676"/>
                <a:ext cx="432000"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42" name="TextBox 141"/>
            <p:cNvSpPr txBox="1"/>
            <p:nvPr/>
          </p:nvSpPr>
          <p:spPr>
            <a:xfrm>
              <a:off x="3428992" y="150160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grpSp>
      <p:grpSp>
        <p:nvGrpSpPr>
          <p:cNvPr id="21" name="组合 149"/>
          <p:cNvGrpSpPr/>
          <p:nvPr/>
        </p:nvGrpSpPr>
        <p:grpSpPr>
          <a:xfrm>
            <a:off x="544577" y="1776961"/>
            <a:ext cx="955589" cy="1164115"/>
            <a:chOff x="500034" y="1776961"/>
            <a:chExt cx="955589" cy="1164115"/>
          </a:xfrm>
        </p:grpSpPr>
        <p:cxnSp>
          <p:nvCxnSpPr>
            <p:cNvPr id="138" name="直接箭头连接符 137"/>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139" name="直接箭头连接符 138"/>
            <p:cNvCxnSpPr/>
            <p:nvPr/>
          </p:nvCxnSpPr>
          <p:spPr bwMode="auto">
            <a:xfrm rot="5400000">
              <a:off x="1106084" y="2310742"/>
              <a:ext cx="504000"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146" name="弧形 145"/>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147" name="TextBox 146"/>
            <p:cNvSpPr txBox="1"/>
            <p:nvPr/>
          </p:nvSpPr>
          <p:spPr>
            <a:xfrm>
              <a:off x="500034" y="2571744"/>
              <a:ext cx="559769"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148" name="TextBox 147"/>
            <p:cNvSpPr txBox="1"/>
            <p:nvPr/>
          </p:nvSpPr>
          <p:spPr>
            <a:xfrm>
              <a:off x="804883" y="1776961"/>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149" name="TextBox 148"/>
            <p:cNvSpPr txBox="1"/>
            <p:nvPr/>
          </p:nvSpPr>
          <p:spPr>
            <a:xfrm>
              <a:off x="611067" y="2130416"/>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grpSp>
      <p:grpSp>
        <p:nvGrpSpPr>
          <p:cNvPr id="22" name="组合 150"/>
          <p:cNvGrpSpPr/>
          <p:nvPr/>
        </p:nvGrpSpPr>
        <p:grpSpPr>
          <a:xfrm flipH="1">
            <a:off x="4689476" y="1941502"/>
            <a:ext cx="1260484" cy="1403360"/>
            <a:chOff x="495349" y="1932537"/>
            <a:chExt cx="1260484" cy="1403360"/>
          </a:xfrm>
        </p:grpSpPr>
        <p:cxnSp>
          <p:nvCxnSpPr>
            <p:cNvPr id="152" name="直接箭头连接符 151"/>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153" name="直接箭头连接符 152"/>
            <p:cNvCxnSpPr/>
            <p:nvPr/>
          </p:nvCxnSpPr>
          <p:spPr bwMode="auto">
            <a:xfrm rot="5400000">
              <a:off x="1106084" y="2822751"/>
              <a:ext cx="504000"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154" name="弧形 153"/>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155" name="TextBox 154"/>
            <p:cNvSpPr txBox="1"/>
            <p:nvPr/>
          </p:nvSpPr>
          <p:spPr>
            <a:xfrm>
              <a:off x="495349" y="2568099"/>
              <a:ext cx="55175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156" name="TextBox 155"/>
            <p:cNvSpPr txBox="1"/>
            <p:nvPr/>
          </p:nvSpPr>
          <p:spPr>
            <a:xfrm>
              <a:off x="1194461" y="2966565"/>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157" name="TextBox 156"/>
            <p:cNvSpPr txBox="1"/>
            <p:nvPr/>
          </p:nvSpPr>
          <p:spPr>
            <a:xfrm>
              <a:off x="839839" y="1932537"/>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grpSp>
      <p:grpSp>
        <p:nvGrpSpPr>
          <p:cNvPr id="23" name="组合 169"/>
          <p:cNvGrpSpPr/>
          <p:nvPr/>
        </p:nvGrpSpPr>
        <p:grpSpPr>
          <a:xfrm>
            <a:off x="1611143" y="2643182"/>
            <a:ext cx="3346953" cy="398238"/>
            <a:chOff x="1611143" y="2643182"/>
            <a:chExt cx="3346953" cy="398238"/>
          </a:xfrm>
        </p:grpSpPr>
        <p:grpSp>
          <p:nvGrpSpPr>
            <p:cNvPr id="24" name="组合 167"/>
            <p:cNvGrpSpPr/>
            <p:nvPr/>
          </p:nvGrpSpPr>
          <p:grpSpPr>
            <a:xfrm>
              <a:off x="1611143" y="2643182"/>
              <a:ext cx="3346953" cy="19861"/>
              <a:chOff x="1500166" y="2643182"/>
              <a:chExt cx="3346953" cy="19861"/>
            </a:xfrm>
          </p:grpSpPr>
          <p:cxnSp>
            <p:nvCxnSpPr>
              <p:cNvPr id="160" name="直接箭头连接符 159"/>
              <p:cNvCxnSpPr/>
              <p:nvPr/>
            </p:nvCxnSpPr>
            <p:spPr bwMode="auto">
              <a:xfrm>
                <a:off x="1500166" y="2643182"/>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1" name="直接箭头连接符 160"/>
              <p:cNvCxnSpPr/>
              <p:nvPr/>
            </p:nvCxnSpPr>
            <p:spPr bwMode="auto">
              <a:xfrm>
                <a:off x="1939427"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2" name="直接箭头连接符 161"/>
              <p:cNvCxnSpPr/>
              <p:nvPr/>
            </p:nvCxnSpPr>
            <p:spPr bwMode="auto">
              <a:xfrm>
                <a:off x="2404601" y="2643182"/>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3" name="直接箭头连接符 162"/>
              <p:cNvCxnSpPr/>
              <p:nvPr/>
            </p:nvCxnSpPr>
            <p:spPr bwMode="auto">
              <a:xfrm>
                <a:off x="2846855"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4" name="直接箭头连接符 163"/>
              <p:cNvCxnSpPr/>
              <p:nvPr/>
            </p:nvCxnSpPr>
            <p:spPr bwMode="auto">
              <a:xfrm>
                <a:off x="3286116"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5" name="直接箭头连接符 164"/>
              <p:cNvCxnSpPr/>
              <p:nvPr/>
            </p:nvCxnSpPr>
            <p:spPr bwMode="auto">
              <a:xfrm>
                <a:off x="3711751" y="266145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6" name="直接箭头连接符 165"/>
              <p:cNvCxnSpPr/>
              <p:nvPr/>
            </p:nvCxnSpPr>
            <p:spPr bwMode="auto">
              <a:xfrm>
                <a:off x="4151012" y="266145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167" name="直接箭头连接符 166"/>
              <p:cNvCxnSpPr/>
              <p:nvPr/>
            </p:nvCxnSpPr>
            <p:spPr bwMode="auto">
              <a:xfrm>
                <a:off x="4561367" y="2653815"/>
                <a:ext cx="285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169" name="TextBox 168"/>
            <p:cNvSpPr txBox="1"/>
            <p:nvPr/>
          </p:nvSpPr>
          <p:spPr>
            <a:xfrm>
              <a:off x="3500430" y="267208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p</a:t>
              </a:r>
              <a:endParaRPr lang="zh-CN" altLang="en-US" b="1" i="1">
                <a:solidFill>
                  <a:srgbClr val="C00000"/>
                </a:solidFill>
                <a:latin typeface="Times New Roman" pitchFamily="18" charset="0"/>
                <a:cs typeface="Times New Roman" pitchFamily="18" charset="0"/>
              </a:endParaRPr>
            </a:p>
          </p:txBody>
        </p:sp>
      </p:grpSp>
      <p:cxnSp>
        <p:nvCxnSpPr>
          <p:cNvPr id="205" name="直接连接符 204"/>
          <p:cNvCxnSpPr/>
          <p:nvPr/>
        </p:nvCxnSpPr>
        <p:spPr bwMode="auto">
          <a:xfrm rot="5400000">
            <a:off x="3251191" y="2606669"/>
            <a:ext cx="35719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06" name="直接连接符 205"/>
          <p:cNvCxnSpPr/>
          <p:nvPr/>
        </p:nvCxnSpPr>
        <p:spPr bwMode="auto">
          <a:xfrm rot="5400000">
            <a:off x="3607587" y="3821909"/>
            <a:ext cx="285752" cy="7143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nvGrpSpPr>
          <p:cNvPr id="25" name="组合 167"/>
          <p:cNvGrpSpPr/>
          <p:nvPr/>
        </p:nvGrpSpPr>
        <p:grpSpPr>
          <a:xfrm>
            <a:off x="3758454" y="3728010"/>
            <a:ext cx="813546" cy="455880"/>
            <a:chOff x="4143372" y="3469120"/>
            <a:chExt cx="813546" cy="455880"/>
          </a:xfrm>
        </p:grpSpPr>
        <p:cxnSp>
          <p:nvCxnSpPr>
            <p:cNvPr id="151" name="直接连接符 150"/>
            <p:cNvCxnSpPr>
              <a:cxnSpLocks/>
            </p:cNvCxnSpPr>
            <p:nvPr/>
          </p:nvCxnSpPr>
          <p:spPr bwMode="auto">
            <a:xfrm>
              <a:off x="4143372" y="3565000"/>
              <a:ext cx="756000" cy="360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8" name="直接连接符 157"/>
            <p:cNvCxnSpPr/>
            <p:nvPr/>
          </p:nvCxnSpPr>
          <p:spPr bwMode="auto">
            <a:xfrm>
              <a:off x="4151572" y="3569100"/>
              <a:ext cx="785818"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9" name="矩形 158"/>
            <p:cNvSpPr/>
            <p:nvPr/>
          </p:nvSpPr>
          <p:spPr>
            <a:xfrm>
              <a:off x="4637600" y="3469120"/>
              <a:ext cx="319318" cy="369332"/>
            </a:xfrm>
            <a:prstGeom prst="rect">
              <a:avLst/>
            </a:prstGeom>
          </p:spPr>
          <p:txBody>
            <a:bodyPr wrap="none">
              <a:spAutoFit/>
            </a:bodyPr>
            <a:lstStyle/>
            <a:p>
              <a:r>
                <a:rPr lang="el-GR" altLang="zh-CN" b="1" i="1">
                  <a:latin typeface="Times New Roman"/>
                  <a:cs typeface="Times New Roman"/>
                </a:rPr>
                <a:t>φ</a:t>
              </a:r>
              <a:endParaRPr lang="zh-CN" altLang="en-US"/>
            </a:p>
          </p:txBody>
        </p:sp>
      </p:grpSp>
      <p:grpSp>
        <p:nvGrpSpPr>
          <p:cNvPr id="26" name="组合 196"/>
          <p:cNvGrpSpPr/>
          <p:nvPr/>
        </p:nvGrpSpPr>
        <p:grpSpPr>
          <a:xfrm>
            <a:off x="3695604" y="3025772"/>
            <a:ext cx="304892" cy="798518"/>
            <a:chOff x="3695604" y="3025772"/>
            <a:chExt cx="304892" cy="798518"/>
          </a:xfrm>
        </p:grpSpPr>
        <p:cxnSp>
          <p:nvCxnSpPr>
            <p:cNvPr id="180" name="直接连接符 179"/>
            <p:cNvCxnSpPr/>
            <p:nvPr/>
          </p:nvCxnSpPr>
          <p:spPr bwMode="auto">
            <a:xfrm rot="5400000" flipH="1" flipV="1">
              <a:off x="3580599" y="3471069"/>
              <a:ext cx="533404" cy="16351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6" name="直接连接符 185"/>
            <p:cNvCxnSpPr/>
            <p:nvPr/>
          </p:nvCxnSpPr>
          <p:spPr bwMode="auto">
            <a:xfrm rot="5400000" flipH="1" flipV="1">
              <a:off x="3494874" y="3556794"/>
              <a:ext cx="53340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96" name="矩形 195"/>
            <p:cNvSpPr/>
            <p:nvPr/>
          </p:nvSpPr>
          <p:spPr>
            <a:xfrm>
              <a:off x="3695604" y="3025772"/>
              <a:ext cx="304892" cy="369332"/>
            </a:xfrm>
            <a:prstGeom prst="rect">
              <a:avLst/>
            </a:prstGeom>
          </p:spPr>
          <p:txBody>
            <a:bodyPr wrap="none">
              <a:spAutoFit/>
            </a:bodyPr>
            <a:lstStyle/>
            <a:p>
              <a:r>
                <a:rPr lang="el-GR" altLang="zh-CN" b="1" i="1">
                  <a:latin typeface="Times New Roman"/>
                  <a:cs typeface="Times New Roman"/>
                </a:rPr>
                <a:t>θ</a:t>
              </a:r>
              <a:endParaRPr lang="zh-CN" altLang="en-US"/>
            </a:p>
          </p:txBody>
        </p:sp>
      </p:grpSp>
      <p:sp>
        <p:nvSpPr>
          <p:cNvPr id="198" name="Rectangle 6"/>
          <p:cNvSpPr>
            <a:spLocks noChangeArrowheads="1"/>
          </p:cNvSpPr>
          <p:nvPr/>
        </p:nvSpPr>
        <p:spPr bwMode="auto">
          <a:xfrm>
            <a:off x="469540" y="4429132"/>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虚功方程形式</a:t>
            </a:r>
            <a:endParaRPr lang="en-US" altLang="zh-CN" sz="2000" b="1">
              <a:latin typeface="Times New Roman" pitchFamily="18" charset="0"/>
              <a:cs typeface="Times New Roman" pitchFamily="18" charset="0"/>
            </a:endParaRPr>
          </a:p>
        </p:txBody>
      </p:sp>
      <p:graphicFrame>
        <p:nvGraphicFramePr>
          <p:cNvPr id="587778" name="Object 2"/>
          <p:cNvGraphicFramePr>
            <a:graphicFrameLocks noChangeAspect="1"/>
          </p:cNvGraphicFramePr>
          <p:nvPr/>
        </p:nvGraphicFramePr>
        <p:xfrm>
          <a:off x="1454175" y="5227650"/>
          <a:ext cx="6748463" cy="1339850"/>
        </p:xfrm>
        <a:graphic>
          <a:graphicData uri="http://schemas.openxmlformats.org/presentationml/2006/ole">
            <mc:AlternateContent xmlns:mc="http://schemas.openxmlformats.org/markup-compatibility/2006">
              <mc:Choice xmlns:v="urn:schemas-microsoft-com:vml" Requires="v">
                <p:oleObj spid="_x0000_s589828" name="Equation" r:id="rId4" imgW="4356000" imgH="863280" progId="Equation.DSMT4">
                  <p:embed/>
                </p:oleObj>
              </mc:Choice>
              <mc:Fallback>
                <p:oleObj name="Equation" r:id="rId4" imgW="4356000" imgH="86328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175" y="5227650"/>
                        <a:ext cx="6748463"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8804" name="Object 2"/>
          <p:cNvGraphicFramePr>
            <a:graphicFrameLocks noChangeAspect="1"/>
          </p:cNvGraphicFramePr>
          <p:nvPr/>
        </p:nvGraphicFramePr>
        <p:xfrm>
          <a:off x="1714480" y="4929198"/>
          <a:ext cx="766762" cy="276225"/>
        </p:xfrm>
        <a:graphic>
          <a:graphicData uri="http://schemas.openxmlformats.org/presentationml/2006/ole">
            <mc:AlternateContent xmlns:mc="http://schemas.openxmlformats.org/markup-compatibility/2006">
              <mc:Choice xmlns:v="urn:schemas-microsoft-com:vml" Requires="v">
                <p:oleObj spid="_x0000_s589829" name="Equation" r:id="rId6" imgW="495000" imgH="177480" progId="Equation.DSMT4">
                  <p:embed/>
                </p:oleObj>
              </mc:Choice>
              <mc:Fallback>
                <p:oleObj name="Equation" r:id="rId6" imgW="495000" imgH="17748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4480" y="4929198"/>
                        <a:ext cx="766762"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0" name="右箭头 149"/>
          <p:cNvSpPr/>
          <p:nvPr/>
        </p:nvSpPr>
        <p:spPr bwMode="auto">
          <a:xfrm>
            <a:off x="3071802" y="4933960"/>
            <a:ext cx="428628"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anim calcmode="lin" valueType="num">
                                      <p:cBhvr additive="base">
                                        <p:cTn id="7" dur="500" fill="hold"/>
                                        <p:tgtEl>
                                          <p:spTgt spid="198"/>
                                        </p:tgtEl>
                                        <p:attrNameLst>
                                          <p:attrName>ppt_x</p:attrName>
                                        </p:attrNameLst>
                                      </p:cBhvr>
                                      <p:tavLst>
                                        <p:tav tm="0">
                                          <p:val>
                                            <p:strVal val="#ppt_x"/>
                                          </p:val>
                                        </p:tav>
                                        <p:tav tm="100000">
                                          <p:val>
                                            <p:strVal val="#ppt_x"/>
                                          </p:val>
                                        </p:tav>
                                      </p:tavLst>
                                    </p:anim>
                                    <p:anim calcmode="lin" valueType="num">
                                      <p:cBhvr additive="base">
                                        <p:cTn id="8" dur="500" fill="hold"/>
                                        <p:tgtEl>
                                          <p:spTgt spid="1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88804"/>
                                        </p:tgtEl>
                                        <p:attrNameLst>
                                          <p:attrName>style.visibility</p:attrName>
                                        </p:attrNameLst>
                                      </p:cBhvr>
                                      <p:to>
                                        <p:strVal val="visible"/>
                                      </p:to>
                                    </p:set>
                                    <p:anim calcmode="lin" valueType="num">
                                      <p:cBhvr additive="base">
                                        <p:cTn id="12" dur="500" fill="hold"/>
                                        <p:tgtEl>
                                          <p:spTgt spid="588804"/>
                                        </p:tgtEl>
                                        <p:attrNameLst>
                                          <p:attrName>ppt_x</p:attrName>
                                        </p:attrNameLst>
                                      </p:cBhvr>
                                      <p:tavLst>
                                        <p:tav tm="0">
                                          <p:val>
                                            <p:strVal val="#ppt_x"/>
                                          </p:val>
                                        </p:tav>
                                        <p:tav tm="100000">
                                          <p:val>
                                            <p:strVal val="#ppt_x"/>
                                          </p:val>
                                        </p:tav>
                                      </p:tavLst>
                                    </p:anim>
                                    <p:anim calcmode="lin" valueType="num">
                                      <p:cBhvr additive="base">
                                        <p:cTn id="13" dur="500" fill="hold"/>
                                        <p:tgtEl>
                                          <p:spTgt spid="5888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50"/>
                                        </p:tgtEl>
                                        <p:attrNameLst>
                                          <p:attrName>style.visibility</p:attrName>
                                        </p:attrNameLst>
                                      </p:cBhvr>
                                      <p:to>
                                        <p:strVal val="visible"/>
                                      </p:to>
                                    </p:set>
                                    <p:anim calcmode="lin" valueType="num">
                                      <p:cBhvr additive="base">
                                        <p:cTn id="18" dur="500" fill="hold"/>
                                        <p:tgtEl>
                                          <p:spTgt spid="150"/>
                                        </p:tgtEl>
                                        <p:attrNameLst>
                                          <p:attrName>ppt_x</p:attrName>
                                        </p:attrNameLst>
                                      </p:cBhvr>
                                      <p:tavLst>
                                        <p:tav tm="0">
                                          <p:val>
                                            <p:strVal val="0-#ppt_w/2"/>
                                          </p:val>
                                        </p:tav>
                                        <p:tav tm="100000">
                                          <p:val>
                                            <p:strVal val="#ppt_x"/>
                                          </p:val>
                                        </p:tav>
                                      </p:tavLst>
                                    </p:anim>
                                    <p:anim calcmode="lin" valueType="num">
                                      <p:cBhvr additive="base">
                                        <p:cTn id="19" dur="500" fill="hold"/>
                                        <p:tgtEl>
                                          <p:spTgt spid="150"/>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587778"/>
                                        </p:tgtEl>
                                        <p:attrNameLst>
                                          <p:attrName>style.visibility</p:attrName>
                                        </p:attrNameLst>
                                      </p:cBhvr>
                                      <p:to>
                                        <p:strVal val="visible"/>
                                      </p:to>
                                    </p:set>
                                    <p:animEffect transition="in" filter="wipe(up)">
                                      <p:cBhvr>
                                        <p:cTn id="23" dur="500"/>
                                        <p:tgtEl>
                                          <p:spTgt spid="587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p:bldP spid="150"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虚功方程的证明</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aphicFrame>
        <p:nvGraphicFramePr>
          <p:cNvPr id="588805" name="Object 2"/>
          <p:cNvGraphicFramePr>
            <a:graphicFrameLocks noChangeAspect="1"/>
          </p:cNvGraphicFramePr>
          <p:nvPr/>
        </p:nvGraphicFramePr>
        <p:xfrm>
          <a:off x="1357290" y="2357430"/>
          <a:ext cx="2093912" cy="1257300"/>
        </p:xfrm>
        <a:graphic>
          <a:graphicData uri="http://schemas.openxmlformats.org/presentationml/2006/ole">
            <mc:AlternateContent xmlns:mc="http://schemas.openxmlformats.org/markup-compatibility/2006">
              <mc:Choice xmlns:v="urn:schemas-microsoft-com:vml" Requires="v">
                <p:oleObj spid="_x0000_s588812" name="Equation" r:id="rId4" imgW="1269720" imgH="761760" progId="Equation.DSMT4">
                  <p:embed/>
                </p:oleObj>
              </mc:Choice>
              <mc:Fallback>
                <p:oleObj name="Equation" r:id="rId4" imgW="1269720" imgH="76176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290" y="2357430"/>
                        <a:ext cx="2093912"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0" name="Rectangle 6"/>
          <p:cNvSpPr>
            <a:spLocks noChangeArrowheads="1"/>
          </p:cNvSpPr>
          <p:nvPr/>
        </p:nvSpPr>
        <p:spPr bwMode="auto">
          <a:xfrm>
            <a:off x="469540" y="1830896"/>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平衡微分方程式</a:t>
            </a:r>
            <a:endParaRPr lang="en-US" altLang="zh-CN" sz="2000" b="1">
              <a:latin typeface="Times New Roman" pitchFamily="18" charset="0"/>
              <a:cs typeface="Times New Roman" pitchFamily="18" charset="0"/>
            </a:endParaRPr>
          </a:p>
        </p:txBody>
      </p:sp>
      <p:sp>
        <p:nvSpPr>
          <p:cNvPr id="171" name="右箭头 170"/>
          <p:cNvSpPr/>
          <p:nvPr/>
        </p:nvSpPr>
        <p:spPr bwMode="auto">
          <a:xfrm>
            <a:off x="3643306" y="2857496"/>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aphicFrame>
        <p:nvGraphicFramePr>
          <p:cNvPr id="588806" name="Object 2"/>
          <p:cNvGraphicFramePr>
            <a:graphicFrameLocks noChangeAspect="1"/>
          </p:cNvGraphicFramePr>
          <p:nvPr/>
        </p:nvGraphicFramePr>
        <p:xfrm>
          <a:off x="1285852" y="3643314"/>
          <a:ext cx="5591175" cy="544513"/>
        </p:xfrm>
        <a:graphic>
          <a:graphicData uri="http://schemas.openxmlformats.org/presentationml/2006/ole">
            <mc:AlternateContent xmlns:mc="http://schemas.openxmlformats.org/markup-compatibility/2006">
              <mc:Choice xmlns:v="urn:schemas-microsoft-com:vml" Requires="v">
                <p:oleObj spid="_x0000_s588813" name="Equation" r:id="rId6" imgW="3390840" imgH="330120" progId="Equation.DSMT4">
                  <p:embed/>
                </p:oleObj>
              </mc:Choice>
              <mc:Fallback>
                <p:oleObj name="Equation" r:id="rId6" imgW="3390840" imgH="33012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52" y="3643314"/>
                        <a:ext cx="55911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 name="右箭头 172"/>
          <p:cNvSpPr/>
          <p:nvPr/>
        </p:nvSpPr>
        <p:spPr bwMode="auto">
          <a:xfrm>
            <a:off x="7202506" y="3786190"/>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nvGrpSpPr>
          <p:cNvPr id="175" name="组合 174"/>
          <p:cNvGrpSpPr/>
          <p:nvPr/>
        </p:nvGrpSpPr>
        <p:grpSpPr>
          <a:xfrm>
            <a:off x="5572132" y="1571612"/>
            <a:ext cx="2143140" cy="428628"/>
            <a:chOff x="5903922" y="1857364"/>
            <a:chExt cx="2143140" cy="428628"/>
          </a:xfrm>
        </p:grpSpPr>
        <p:graphicFrame>
          <p:nvGraphicFramePr>
            <p:cNvPr id="588807" name="Object 7"/>
            <p:cNvGraphicFramePr>
              <a:graphicFrameLocks noChangeAspect="1"/>
            </p:cNvGraphicFramePr>
            <p:nvPr/>
          </p:nvGraphicFramePr>
          <p:xfrm>
            <a:off x="7177106" y="1909754"/>
            <a:ext cx="771525" cy="376238"/>
          </p:xfrm>
          <a:graphic>
            <a:graphicData uri="http://schemas.openxmlformats.org/presentationml/2006/ole">
              <mc:AlternateContent xmlns:mc="http://schemas.openxmlformats.org/markup-compatibility/2006">
                <mc:Choice xmlns:v="urn:schemas-microsoft-com:vml" Requires="v">
                  <p:oleObj spid="_x0000_s588814" name="Equation" r:id="rId8" imgW="469800" imgH="228600" progId="Equation.DSMT4">
                    <p:embed/>
                  </p:oleObj>
                </mc:Choice>
                <mc:Fallback>
                  <p:oleObj name="Equation" r:id="rId8" imgW="469800" imgH="228600" progId="Equation.DSMT4">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77106" y="1909754"/>
                          <a:ext cx="77152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 name="TextBox 173"/>
            <p:cNvSpPr txBox="1"/>
            <p:nvPr/>
          </p:nvSpPr>
          <p:spPr>
            <a:xfrm>
              <a:off x="5903922" y="1857364"/>
              <a:ext cx="2143140" cy="400110"/>
            </a:xfrm>
            <a:prstGeom prst="rect">
              <a:avLst/>
            </a:prstGeom>
            <a:noFill/>
            <a:ln w="28575">
              <a:noFill/>
            </a:ln>
          </p:spPr>
          <p:txBody>
            <a:bodyPr wrap="square" rtlCol="0">
              <a:spAutoFit/>
            </a:bodyPr>
            <a:lstStyle/>
            <a:p>
              <a:r>
                <a:rPr lang="zh-CN" altLang="en-US" sz="2000" b="1">
                  <a:solidFill>
                    <a:srgbClr val="C00000"/>
                  </a:solidFill>
                </a:rPr>
                <a:t>证明目标</a:t>
              </a:r>
            </a:p>
          </p:txBody>
        </p:sp>
      </p:grpSp>
      <p:graphicFrame>
        <p:nvGraphicFramePr>
          <p:cNvPr id="588808" name="Object 8"/>
          <p:cNvGraphicFramePr>
            <a:graphicFrameLocks noChangeAspect="1"/>
          </p:cNvGraphicFramePr>
          <p:nvPr/>
        </p:nvGraphicFramePr>
        <p:xfrm>
          <a:off x="1279543" y="4286256"/>
          <a:ext cx="5780087" cy="544512"/>
        </p:xfrm>
        <a:graphic>
          <a:graphicData uri="http://schemas.openxmlformats.org/presentationml/2006/ole">
            <mc:AlternateContent xmlns:mc="http://schemas.openxmlformats.org/markup-compatibility/2006">
              <mc:Choice xmlns:v="urn:schemas-microsoft-com:vml" Requires="v">
                <p:oleObj spid="_x0000_s588815" name="Equation" r:id="rId10" imgW="3504960" imgH="330120" progId="Equation.DSMT4">
                  <p:embed/>
                </p:oleObj>
              </mc:Choice>
              <mc:Fallback>
                <p:oleObj name="Equation" r:id="rId10" imgW="3504960" imgH="330120" progId="Equation.DSMT4">
                  <p:embed/>
                  <p:pic>
                    <p:nvPicPr>
                      <p:cNvPr id="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9543" y="4286256"/>
                        <a:ext cx="5780087"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8" name="组合 177"/>
          <p:cNvGrpSpPr/>
          <p:nvPr/>
        </p:nvGrpSpPr>
        <p:grpSpPr>
          <a:xfrm>
            <a:off x="7202506" y="4383094"/>
            <a:ext cx="1765312" cy="369332"/>
            <a:chOff x="7202506" y="4383094"/>
            <a:chExt cx="1765312" cy="369332"/>
          </a:xfrm>
        </p:grpSpPr>
        <p:sp>
          <p:nvSpPr>
            <p:cNvPr id="176" name="右箭头 175"/>
            <p:cNvSpPr/>
            <p:nvPr/>
          </p:nvSpPr>
          <p:spPr bwMode="auto">
            <a:xfrm>
              <a:off x="7202506" y="4429132"/>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77" name="TextBox 176"/>
            <p:cNvSpPr txBox="1"/>
            <p:nvPr/>
          </p:nvSpPr>
          <p:spPr>
            <a:xfrm>
              <a:off x="7467620" y="4383094"/>
              <a:ext cx="1500198" cy="369332"/>
            </a:xfrm>
            <a:prstGeom prst="rect">
              <a:avLst/>
            </a:prstGeom>
            <a:noFill/>
            <a:ln w="28575">
              <a:noFill/>
            </a:ln>
          </p:spPr>
          <p:txBody>
            <a:bodyPr wrap="square" rtlCol="0">
              <a:spAutoFit/>
            </a:bodyPr>
            <a:lstStyle/>
            <a:p>
              <a:r>
                <a:rPr lang="zh-CN" altLang="en-US" b="1">
                  <a:solidFill>
                    <a:srgbClr val="0033CC"/>
                  </a:solidFill>
                </a:rPr>
                <a:t>（分部积分）</a:t>
              </a:r>
            </a:p>
          </p:txBody>
        </p:sp>
      </p:grpSp>
      <p:graphicFrame>
        <p:nvGraphicFramePr>
          <p:cNvPr id="588809" name="Object 9"/>
          <p:cNvGraphicFramePr>
            <a:graphicFrameLocks noChangeAspect="1"/>
          </p:cNvGraphicFramePr>
          <p:nvPr/>
        </p:nvGraphicFramePr>
        <p:xfrm>
          <a:off x="701648" y="4930789"/>
          <a:ext cx="8104188" cy="544513"/>
        </p:xfrm>
        <a:graphic>
          <a:graphicData uri="http://schemas.openxmlformats.org/presentationml/2006/ole">
            <mc:AlternateContent xmlns:mc="http://schemas.openxmlformats.org/markup-compatibility/2006">
              <mc:Choice xmlns:v="urn:schemas-microsoft-com:vml" Requires="v">
                <p:oleObj spid="_x0000_s588816" name="Equation" r:id="rId12" imgW="4914720" imgH="330120" progId="Equation.DSMT4">
                  <p:embed/>
                </p:oleObj>
              </mc:Choice>
              <mc:Fallback>
                <p:oleObj name="Equation" r:id="rId12" imgW="4914720" imgH="330120" progId="Equation.DSMT4">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1648" y="4930789"/>
                        <a:ext cx="8104188"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8810" name="Object 10"/>
          <p:cNvGraphicFramePr>
            <a:graphicFrameLocks noChangeAspect="1"/>
          </p:cNvGraphicFramePr>
          <p:nvPr/>
        </p:nvGraphicFramePr>
        <p:xfrm>
          <a:off x="631830" y="5643578"/>
          <a:ext cx="4603750" cy="946150"/>
        </p:xfrm>
        <a:graphic>
          <a:graphicData uri="http://schemas.openxmlformats.org/presentationml/2006/ole">
            <mc:AlternateContent xmlns:mc="http://schemas.openxmlformats.org/markup-compatibility/2006">
              <mc:Choice xmlns:v="urn:schemas-microsoft-com:vml" Requires="v">
                <p:oleObj spid="_x0000_s588817" name="Equation" r:id="rId14" imgW="2971800" imgH="609480" progId="Equation.DSMT4">
                  <p:embed/>
                </p:oleObj>
              </mc:Choice>
              <mc:Fallback>
                <p:oleObj name="Equation" r:id="rId14" imgW="2971800" imgH="609480" progId="Equation.DSMT4">
                  <p:embed/>
                  <p:pic>
                    <p:nvPicPr>
                      <p:cNvPr id="0"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1830" y="5643578"/>
                        <a:ext cx="4603750" cy="946150"/>
                      </a:xfrm>
                      <a:prstGeom prst="rect">
                        <a:avLst/>
                      </a:prstGeom>
                      <a:solidFill>
                        <a:schemeClr val="bg1"/>
                      </a:solidFill>
                      <a:ln w="28575">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83" name="直接连接符 182"/>
          <p:cNvCxnSpPr/>
          <p:nvPr/>
        </p:nvCxnSpPr>
        <p:spPr bwMode="auto">
          <a:xfrm>
            <a:off x="714348" y="5475302"/>
            <a:ext cx="200026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184" name="直接连接符 183"/>
          <p:cNvCxnSpPr/>
          <p:nvPr/>
        </p:nvCxnSpPr>
        <p:spPr bwMode="auto">
          <a:xfrm>
            <a:off x="5748346" y="5462602"/>
            <a:ext cx="142876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188" name="矩形 187"/>
          <p:cNvSpPr/>
          <p:nvPr/>
        </p:nvSpPr>
        <p:spPr bwMode="auto">
          <a:xfrm>
            <a:off x="4143372" y="5000636"/>
            <a:ext cx="571504" cy="428628"/>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189" name="矩形 188"/>
          <p:cNvSpPr/>
          <p:nvPr/>
        </p:nvSpPr>
        <p:spPr bwMode="auto">
          <a:xfrm>
            <a:off x="7748610" y="5000636"/>
            <a:ext cx="681042" cy="428628"/>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190" name="矩形 189"/>
          <p:cNvSpPr/>
          <p:nvPr/>
        </p:nvSpPr>
        <p:spPr>
          <a:xfrm>
            <a:off x="5357818" y="5597540"/>
            <a:ext cx="2738250" cy="369332"/>
          </a:xfrm>
          <a:prstGeom prst="rect">
            <a:avLst/>
          </a:prstGeom>
        </p:spPr>
        <p:txBody>
          <a:bodyPr wrap="none">
            <a:spAutoFit/>
          </a:bodyPr>
          <a:lstStyle/>
          <a:p>
            <a:r>
              <a:rPr lang="zh-CN" altLang="en-US" b="1">
                <a:solidFill>
                  <a:srgbClr val="C00000"/>
                </a:solidFill>
                <a:latin typeface="Times New Roman" pitchFamily="18" charset="0"/>
                <a:cs typeface="Times New Roman" pitchFamily="18" charset="0"/>
              </a:rPr>
              <a:t>由协调方程</a:t>
            </a:r>
            <a:r>
              <a:rPr lang="zh-CN" altLang="en-US" b="1">
                <a:latin typeface="Times New Roman" pitchFamily="18" charset="0"/>
                <a:cs typeface="Times New Roman" pitchFamily="18" charset="0"/>
              </a:rPr>
              <a:t>  </a:t>
            </a:r>
            <a:r>
              <a:rPr lang="en-US" altLang="zh-CN" b="1" i="1">
                <a:latin typeface="Times New Roman" pitchFamily="18" charset="0"/>
                <a:cs typeface="Times New Roman" pitchFamily="18" charset="0"/>
              </a:rPr>
              <a:t>γ</a:t>
            </a:r>
            <a:r>
              <a:rPr lang="en-US" altLang="zh-CN" b="1" baseline="-25000">
                <a:latin typeface="Times New Roman" pitchFamily="18" charset="0"/>
                <a:cs typeface="Times New Roman" pitchFamily="18" charset="0"/>
              </a:rPr>
              <a:t>0</a:t>
            </a:r>
            <a:r>
              <a:rPr lang="en-US" altLang="zh-CN" b="1">
                <a:latin typeface="Times New Roman"/>
                <a:cs typeface="Times New Roman"/>
              </a:rPr>
              <a:t>= </a:t>
            </a:r>
            <a:r>
              <a:rPr lang="en-US" altLang="zh-CN" b="1">
                <a:latin typeface="Times New Roman" pitchFamily="18" charset="0"/>
                <a:cs typeface="Times New Roman" pitchFamily="18" charset="0"/>
              </a:rPr>
              <a:t>d</a:t>
            </a:r>
            <a:r>
              <a:rPr lang="en-US" altLang="zh-CN" b="1" i="1">
                <a:latin typeface="Times New Roman"/>
                <a:cs typeface="Times New Roman"/>
              </a:rPr>
              <a:t>w</a:t>
            </a:r>
            <a:r>
              <a:rPr lang="en-US" altLang="zh-CN" b="1" baseline="-25000">
                <a:latin typeface="Times New Roman" pitchFamily="18" charset="0"/>
                <a:cs typeface="Times New Roman" pitchFamily="18" charset="0"/>
              </a:rPr>
              <a:t> </a:t>
            </a:r>
            <a:r>
              <a:rPr lang="en-US" altLang="zh-CN" b="1">
                <a:latin typeface="Times New Roman" pitchFamily="18" charset="0"/>
                <a:cs typeface="Times New Roman" pitchFamily="18" charset="0"/>
              </a:rPr>
              <a:t>/d</a:t>
            </a:r>
            <a:r>
              <a:rPr lang="en-US" altLang="zh-CN" b="1" i="1">
                <a:latin typeface="Times New Roman"/>
                <a:cs typeface="Times New Roman"/>
              </a:rPr>
              <a:t>x</a:t>
            </a:r>
            <a:r>
              <a:rPr lang="en-US" altLang="zh-CN" b="1" i="1" baseline="-25000">
                <a:latin typeface="Times New Roman"/>
                <a:cs typeface="Times New Roman"/>
              </a:rPr>
              <a:t> </a:t>
            </a:r>
            <a:r>
              <a:rPr lang="en-US" altLang="zh-CN" b="1" i="1">
                <a:latin typeface="+mn-ea"/>
                <a:cs typeface="Times New Roman"/>
              </a:rPr>
              <a:t>- </a:t>
            </a:r>
            <a:r>
              <a:rPr lang="el-GR" altLang="zh-CN" b="1" i="1">
                <a:latin typeface="Times New Roman"/>
                <a:cs typeface="Times New Roman"/>
              </a:rPr>
              <a:t>θ</a:t>
            </a:r>
            <a:endParaRPr lang="zh-CN" altLang="en-US"/>
          </a:p>
        </p:txBody>
      </p:sp>
      <p:graphicFrame>
        <p:nvGraphicFramePr>
          <p:cNvPr id="588811" name="Object 11"/>
          <p:cNvGraphicFramePr>
            <a:graphicFrameLocks noChangeAspect="1"/>
          </p:cNvGraphicFramePr>
          <p:nvPr/>
        </p:nvGraphicFramePr>
        <p:xfrm>
          <a:off x="5786446" y="6030934"/>
          <a:ext cx="1925637" cy="398462"/>
        </p:xfrm>
        <a:graphic>
          <a:graphicData uri="http://schemas.openxmlformats.org/presentationml/2006/ole">
            <mc:AlternateContent xmlns:mc="http://schemas.openxmlformats.org/markup-compatibility/2006">
              <mc:Choice xmlns:v="urn:schemas-microsoft-com:vml" Requires="v">
                <p:oleObj spid="_x0000_s588818" name="Equation" r:id="rId16" imgW="1168200" imgH="241200" progId="Equation.DSMT4">
                  <p:embed/>
                </p:oleObj>
              </mc:Choice>
              <mc:Fallback>
                <p:oleObj name="Equation" r:id="rId16" imgW="1168200" imgH="241200" progId="Equation.DSMT4">
                  <p:embed/>
                  <p:pic>
                    <p:nvPicPr>
                      <p:cNvPr id="0" name="Picture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86446" y="6030934"/>
                        <a:ext cx="1925637" cy="398462"/>
                      </a:xfrm>
                      <a:prstGeom prst="rect">
                        <a:avLst/>
                      </a:prstGeom>
                      <a:solidFill>
                        <a:schemeClr val="bg1"/>
                      </a:solidFill>
                      <a:ln w="2857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 name="组合 193"/>
          <p:cNvGrpSpPr/>
          <p:nvPr/>
        </p:nvGrpSpPr>
        <p:grpSpPr>
          <a:xfrm>
            <a:off x="8072462" y="5630878"/>
            <a:ext cx="697627" cy="795400"/>
            <a:chOff x="8001024" y="5643578"/>
            <a:chExt cx="697627" cy="795400"/>
          </a:xfrm>
        </p:grpSpPr>
        <p:sp>
          <p:nvSpPr>
            <p:cNvPr id="191" name="TextBox 190"/>
            <p:cNvSpPr txBox="1"/>
            <p:nvPr/>
          </p:nvSpPr>
          <p:spPr>
            <a:xfrm>
              <a:off x="8001024" y="6038868"/>
              <a:ext cx="697627" cy="400110"/>
            </a:xfrm>
            <a:prstGeom prst="rect">
              <a:avLst/>
            </a:prstGeom>
            <a:noFill/>
            <a:ln w="28575">
              <a:noFill/>
            </a:ln>
          </p:spPr>
          <p:txBody>
            <a:bodyPr wrap="none" rtlCol="0">
              <a:spAutoFit/>
            </a:bodyPr>
            <a:lstStyle/>
            <a:p>
              <a:r>
                <a:rPr lang="zh-CN" altLang="en-US" sz="2000" b="1">
                  <a:solidFill>
                    <a:srgbClr val="C00000"/>
                  </a:solidFill>
                </a:rPr>
                <a:t>代入</a:t>
              </a:r>
            </a:p>
          </p:txBody>
        </p:sp>
        <p:sp>
          <p:nvSpPr>
            <p:cNvPr id="193" name="右箭头 192"/>
            <p:cNvSpPr/>
            <p:nvPr/>
          </p:nvSpPr>
          <p:spPr bwMode="auto">
            <a:xfrm rot="16200000">
              <a:off x="8179619" y="5679297"/>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95" name="TextBox 194"/>
          <p:cNvSpPr txBox="1"/>
          <p:nvPr/>
        </p:nvSpPr>
        <p:spPr>
          <a:xfrm>
            <a:off x="6118223" y="2148179"/>
            <a:ext cx="954107" cy="400110"/>
          </a:xfrm>
          <a:prstGeom prst="rect">
            <a:avLst/>
          </a:prstGeom>
          <a:noFill/>
          <a:ln w="28575">
            <a:solidFill>
              <a:srgbClr val="C00000"/>
            </a:solidFill>
          </a:ln>
        </p:spPr>
        <p:txBody>
          <a:bodyPr wrap="none" rtlCol="0">
            <a:spAutoFit/>
          </a:bodyPr>
          <a:lstStyle/>
          <a:p>
            <a:r>
              <a:rPr lang="zh-CN" altLang="en-US" sz="2000" b="1">
                <a:solidFill>
                  <a:srgbClr val="C00000"/>
                </a:solidFill>
              </a:rPr>
              <a:t>已证！</a:t>
            </a:r>
          </a:p>
        </p:txBody>
      </p:sp>
      <p:sp>
        <p:nvSpPr>
          <p:cNvPr id="197" name="TextBox 196"/>
          <p:cNvSpPr txBox="1"/>
          <p:nvPr/>
        </p:nvSpPr>
        <p:spPr>
          <a:xfrm>
            <a:off x="5231341" y="2865682"/>
            <a:ext cx="3198311" cy="646331"/>
          </a:xfrm>
          <a:prstGeom prst="rect">
            <a:avLst/>
          </a:prstGeom>
          <a:noFill/>
          <a:ln w="28575">
            <a:noFill/>
          </a:ln>
        </p:spPr>
        <p:txBody>
          <a:bodyPr wrap="none" rtlCol="0">
            <a:spAutoFit/>
          </a:bodyPr>
          <a:lstStyle/>
          <a:p>
            <a:r>
              <a:rPr lang="zh-CN" altLang="en-US" b="1">
                <a:solidFill>
                  <a:srgbClr val="C00000"/>
                </a:solidFill>
              </a:rPr>
              <a:t>思考：虚功原理成立，要求的</a:t>
            </a:r>
            <a:endParaRPr lang="en-US" altLang="zh-CN" b="1">
              <a:solidFill>
                <a:srgbClr val="C00000"/>
              </a:solidFill>
            </a:endParaRPr>
          </a:p>
          <a:p>
            <a:r>
              <a:rPr lang="en-US" altLang="zh-CN" b="1">
                <a:solidFill>
                  <a:srgbClr val="C00000"/>
                </a:solidFill>
              </a:rPr>
              <a:t>           </a:t>
            </a:r>
            <a:r>
              <a:rPr lang="zh-CN" altLang="en-US" b="1">
                <a:solidFill>
                  <a:srgbClr val="C00000"/>
                </a:solidFill>
              </a:rPr>
              <a:t>材料是否必须线弹性？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Effect transition="in" filter="wipe(up)">
                                      <p:cBhvr>
                                        <p:cTn id="7" dur="500"/>
                                        <p:tgtEl>
                                          <p:spTgt spid="170">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588805"/>
                                        </p:tgtEl>
                                        <p:attrNameLst>
                                          <p:attrName>style.visibility</p:attrName>
                                        </p:attrNameLst>
                                      </p:cBhvr>
                                      <p:to>
                                        <p:strVal val="visible"/>
                                      </p:to>
                                    </p:set>
                                    <p:anim calcmode="lin" valueType="num">
                                      <p:cBhvr additive="base">
                                        <p:cTn id="10" dur="500" fill="hold"/>
                                        <p:tgtEl>
                                          <p:spTgt spid="588805"/>
                                        </p:tgtEl>
                                        <p:attrNameLst>
                                          <p:attrName>ppt_x</p:attrName>
                                        </p:attrNameLst>
                                      </p:cBhvr>
                                      <p:tavLst>
                                        <p:tav tm="0">
                                          <p:val>
                                            <p:strVal val="#ppt_x"/>
                                          </p:val>
                                        </p:tav>
                                        <p:tav tm="100000">
                                          <p:val>
                                            <p:strVal val="#ppt_x"/>
                                          </p:val>
                                        </p:tav>
                                      </p:tavLst>
                                    </p:anim>
                                    <p:anim calcmode="lin" valueType="num">
                                      <p:cBhvr additive="base">
                                        <p:cTn id="11" dur="500" fill="hold"/>
                                        <p:tgtEl>
                                          <p:spTgt spid="588805"/>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71"/>
                                        </p:tgtEl>
                                        <p:attrNameLst>
                                          <p:attrName>style.visibility</p:attrName>
                                        </p:attrNameLst>
                                      </p:cBhvr>
                                      <p:to>
                                        <p:strVal val="visible"/>
                                      </p:to>
                                    </p:set>
                                    <p:anim calcmode="lin" valueType="num">
                                      <p:cBhvr additive="base">
                                        <p:cTn id="16" dur="500" fill="hold"/>
                                        <p:tgtEl>
                                          <p:spTgt spid="171"/>
                                        </p:tgtEl>
                                        <p:attrNameLst>
                                          <p:attrName>ppt_x</p:attrName>
                                        </p:attrNameLst>
                                      </p:cBhvr>
                                      <p:tavLst>
                                        <p:tav tm="0">
                                          <p:val>
                                            <p:strVal val="0-#ppt_w/2"/>
                                          </p:val>
                                        </p:tav>
                                        <p:tav tm="100000">
                                          <p:val>
                                            <p:strVal val="#ppt_x"/>
                                          </p:val>
                                        </p:tav>
                                      </p:tavLst>
                                    </p:anim>
                                    <p:anim calcmode="lin" valueType="num">
                                      <p:cBhvr additive="base">
                                        <p:cTn id="17" dur="500" fill="hold"/>
                                        <p:tgtEl>
                                          <p:spTgt spid="171"/>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88806"/>
                                        </p:tgtEl>
                                        <p:attrNameLst>
                                          <p:attrName>style.visibility</p:attrName>
                                        </p:attrNameLst>
                                      </p:cBhvr>
                                      <p:to>
                                        <p:strVal val="visible"/>
                                      </p:to>
                                    </p:set>
                                    <p:animEffect transition="in" filter="wipe(left)">
                                      <p:cBhvr>
                                        <p:cTn id="21" dur="500"/>
                                        <p:tgtEl>
                                          <p:spTgt spid="58880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73"/>
                                        </p:tgtEl>
                                        <p:attrNameLst>
                                          <p:attrName>style.visibility</p:attrName>
                                        </p:attrNameLst>
                                      </p:cBhvr>
                                      <p:to>
                                        <p:strVal val="visible"/>
                                      </p:to>
                                    </p:set>
                                    <p:anim calcmode="lin" valueType="num">
                                      <p:cBhvr additive="base">
                                        <p:cTn id="26" dur="500" fill="hold"/>
                                        <p:tgtEl>
                                          <p:spTgt spid="173"/>
                                        </p:tgtEl>
                                        <p:attrNameLst>
                                          <p:attrName>ppt_x</p:attrName>
                                        </p:attrNameLst>
                                      </p:cBhvr>
                                      <p:tavLst>
                                        <p:tav tm="0">
                                          <p:val>
                                            <p:strVal val="0-#ppt_w/2"/>
                                          </p:val>
                                        </p:tav>
                                        <p:tav tm="100000">
                                          <p:val>
                                            <p:strVal val="#ppt_x"/>
                                          </p:val>
                                        </p:tav>
                                      </p:tavLst>
                                    </p:anim>
                                    <p:anim calcmode="lin" valueType="num">
                                      <p:cBhvr additive="base">
                                        <p:cTn id="27" dur="500" fill="hold"/>
                                        <p:tgtEl>
                                          <p:spTgt spid="173"/>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588808"/>
                                        </p:tgtEl>
                                        <p:attrNameLst>
                                          <p:attrName>style.visibility</p:attrName>
                                        </p:attrNameLst>
                                      </p:cBhvr>
                                      <p:to>
                                        <p:strVal val="visible"/>
                                      </p:to>
                                    </p:set>
                                    <p:animEffect transition="in" filter="wipe(left)">
                                      <p:cBhvr>
                                        <p:cTn id="31" dur="500"/>
                                        <p:tgtEl>
                                          <p:spTgt spid="58880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8"/>
                                        </p:tgtEl>
                                        <p:attrNameLst>
                                          <p:attrName>style.visibility</p:attrName>
                                        </p:attrNameLst>
                                      </p:cBhvr>
                                      <p:to>
                                        <p:strVal val="visible"/>
                                      </p:to>
                                    </p:set>
                                    <p:animEffect transition="in" filter="wipe(left)">
                                      <p:cBhvr>
                                        <p:cTn id="36" dur="500"/>
                                        <p:tgtEl>
                                          <p:spTgt spid="178"/>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588809"/>
                                        </p:tgtEl>
                                        <p:attrNameLst>
                                          <p:attrName>style.visibility</p:attrName>
                                        </p:attrNameLst>
                                      </p:cBhvr>
                                      <p:to>
                                        <p:strVal val="visible"/>
                                      </p:to>
                                    </p:set>
                                    <p:animEffect transition="in" filter="wipe(left)">
                                      <p:cBhvr>
                                        <p:cTn id="40" dur="500"/>
                                        <p:tgtEl>
                                          <p:spTgt spid="58880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83"/>
                                        </p:tgtEl>
                                        <p:attrNameLst>
                                          <p:attrName>style.visibility</p:attrName>
                                        </p:attrNameLst>
                                      </p:cBhvr>
                                      <p:to>
                                        <p:strVal val="visible"/>
                                      </p:to>
                                    </p:set>
                                    <p:animEffect transition="in" filter="wipe(left)">
                                      <p:cBhvr>
                                        <p:cTn id="45" dur="500"/>
                                        <p:tgtEl>
                                          <p:spTgt spid="183"/>
                                        </p:tgtEl>
                                      </p:cBhvr>
                                    </p:animEffect>
                                  </p:childTnLst>
                                </p:cTn>
                              </p:par>
                              <p:par>
                                <p:cTn id="46" presetID="22" presetClass="entr" presetSubtype="8" fill="hold" nodeType="withEffect">
                                  <p:stCondLst>
                                    <p:cond delay="0"/>
                                  </p:stCondLst>
                                  <p:childTnLst>
                                    <p:set>
                                      <p:cBhvr>
                                        <p:cTn id="47" dur="1" fill="hold">
                                          <p:stCondLst>
                                            <p:cond delay="0"/>
                                          </p:stCondLst>
                                        </p:cTn>
                                        <p:tgtEl>
                                          <p:spTgt spid="184"/>
                                        </p:tgtEl>
                                        <p:attrNameLst>
                                          <p:attrName>style.visibility</p:attrName>
                                        </p:attrNameLst>
                                      </p:cBhvr>
                                      <p:to>
                                        <p:strVal val="visible"/>
                                      </p:to>
                                    </p:set>
                                    <p:animEffect transition="in" filter="wipe(left)">
                                      <p:cBhvr>
                                        <p:cTn id="48" dur="500"/>
                                        <p:tgtEl>
                                          <p:spTgt spid="184"/>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588810"/>
                                        </p:tgtEl>
                                        <p:attrNameLst>
                                          <p:attrName>style.visibility</p:attrName>
                                        </p:attrNameLst>
                                      </p:cBhvr>
                                      <p:to>
                                        <p:strVal val="visible"/>
                                      </p:to>
                                    </p:set>
                                    <p:animEffect transition="in" filter="wipe(left)">
                                      <p:cBhvr>
                                        <p:cTn id="52" dur="500"/>
                                        <p:tgtEl>
                                          <p:spTgt spid="58881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88"/>
                                        </p:tgtEl>
                                        <p:attrNameLst>
                                          <p:attrName>style.visibility</p:attrName>
                                        </p:attrNameLst>
                                      </p:cBhvr>
                                      <p:to>
                                        <p:strVal val="visible"/>
                                      </p:to>
                                    </p:set>
                                    <p:animEffect transition="in" filter="blinds(horizontal)">
                                      <p:cBhvr>
                                        <p:cTn id="57" dur="500"/>
                                        <p:tgtEl>
                                          <p:spTgt spid="188"/>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89"/>
                                        </p:tgtEl>
                                        <p:attrNameLst>
                                          <p:attrName>style.visibility</p:attrName>
                                        </p:attrNameLst>
                                      </p:cBhvr>
                                      <p:to>
                                        <p:strVal val="visible"/>
                                      </p:to>
                                    </p:set>
                                    <p:animEffect transition="in" filter="blinds(horizontal)">
                                      <p:cBhvr>
                                        <p:cTn id="60" dur="500"/>
                                        <p:tgtEl>
                                          <p:spTgt spid="189"/>
                                        </p:tgtEl>
                                      </p:cBhvr>
                                    </p:animEffect>
                                  </p:childTnLst>
                                </p:cTn>
                              </p:par>
                            </p:childTnLst>
                          </p:cTn>
                        </p:par>
                        <p:par>
                          <p:cTn id="61" fill="hold">
                            <p:stCondLst>
                              <p:cond delay="500"/>
                            </p:stCondLst>
                            <p:childTnLst>
                              <p:par>
                                <p:cTn id="62" presetID="2" presetClass="entr" presetSubtype="4" fill="hold" grpId="0" nodeType="afterEffect">
                                  <p:stCondLst>
                                    <p:cond delay="0"/>
                                  </p:stCondLst>
                                  <p:childTnLst>
                                    <p:set>
                                      <p:cBhvr>
                                        <p:cTn id="63" dur="1" fill="hold">
                                          <p:stCondLst>
                                            <p:cond delay="0"/>
                                          </p:stCondLst>
                                        </p:cTn>
                                        <p:tgtEl>
                                          <p:spTgt spid="190"/>
                                        </p:tgtEl>
                                        <p:attrNameLst>
                                          <p:attrName>style.visibility</p:attrName>
                                        </p:attrNameLst>
                                      </p:cBhvr>
                                      <p:to>
                                        <p:strVal val="visible"/>
                                      </p:to>
                                    </p:set>
                                    <p:anim calcmode="lin" valueType="num">
                                      <p:cBhvr additive="base">
                                        <p:cTn id="64" dur="500" fill="hold"/>
                                        <p:tgtEl>
                                          <p:spTgt spid="190"/>
                                        </p:tgtEl>
                                        <p:attrNameLst>
                                          <p:attrName>ppt_x</p:attrName>
                                        </p:attrNameLst>
                                      </p:cBhvr>
                                      <p:tavLst>
                                        <p:tav tm="0">
                                          <p:val>
                                            <p:strVal val="#ppt_x"/>
                                          </p:val>
                                        </p:tav>
                                        <p:tav tm="100000">
                                          <p:val>
                                            <p:strVal val="#ppt_x"/>
                                          </p:val>
                                        </p:tav>
                                      </p:tavLst>
                                    </p:anim>
                                    <p:anim calcmode="lin" valueType="num">
                                      <p:cBhvr additive="base">
                                        <p:cTn id="65" dur="500" fill="hold"/>
                                        <p:tgtEl>
                                          <p:spTgt spid="190"/>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588811"/>
                                        </p:tgtEl>
                                        <p:attrNameLst>
                                          <p:attrName>style.visibility</p:attrName>
                                        </p:attrNameLst>
                                      </p:cBhvr>
                                      <p:to>
                                        <p:strVal val="visible"/>
                                      </p:to>
                                    </p:set>
                                    <p:animEffect transition="in" filter="wipe(left)">
                                      <p:cBhvr>
                                        <p:cTn id="70" dur="500"/>
                                        <p:tgtEl>
                                          <p:spTgt spid="588811"/>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94"/>
                                        </p:tgtEl>
                                        <p:attrNameLst>
                                          <p:attrName>style.visibility</p:attrName>
                                        </p:attrNameLst>
                                      </p:cBhvr>
                                      <p:to>
                                        <p:strVal val="visible"/>
                                      </p:to>
                                    </p:set>
                                    <p:anim calcmode="lin" valueType="num">
                                      <p:cBhvr additive="base">
                                        <p:cTn id="75" dur="500" fill="hold"/>
                                        <p:tgtEl>
                                          <p:spTgt spid="194"/>
                                        </p:tgtEl>
                                        <p:attrNameLst>
                                          <p:attrName>ppt_x</p:attrName>
                                        </p:attrNameLst>
                                      </p:cBhvr>
                                      <p:tavLst>
                                        <p:tav tm="0">
                                          <p:val>
                                            <p:strVal val="#ppt_x"/>
                                          </p:val>
                                        </p:tav>
                                        <p:tav tm="100000">
                                          <p:val>
                                            <p:strVal val="#ppt_x"/>
                                          </p:val>
                                        </p:tav>
                                      </p:tavLst>
                                    </p:anim>
                                    <p:anim calcmode="lin" valueType="num">
                                      <p:cBhvr additive="base">
                                        <p:cTn id="76"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95"/>
                                        </p:tgtEl>
                                        <p:attrNameLst>
                                          <p:attrName>style.visibility</p:attrName>
                                        </p:attrNameLst>
                                      </p:cBhvr>
                                      <p:to>
                                        <p:strVal val="visible"/>
                                      </p:to>
                                    </p:set>
                                  </p:childTnLst>
                                </p:cTn>
                              </p:par>
                            </p:childTnLst>
                          </p:cTn>
                        </p:par>
                        <p:par>
                          <p:cTn id="81" fill="hold">
                            <p:stCondLst>
                              <p:cond delay="0"/>
                            </p:stCondLst>
                            <p:childTnLst>
                              <p:par>
                                <p:cTn id="82" presetID="6" presetClass="emph" presetSubtype="0" fill="hold" grpId="1" nodeType="afterEffect">
                                  <p:stCondLst>
                                    <p:cond delay="0"/>
                                  </p:stCondLst>
                                  <p:childTnLst>
                                    <p:animScale>
                                      <p:cBhvr>
                                        <p:cTn id="83" dur="2000" fill="hold"/>
                                        <p:tgtEl>
                                          <p:spTgt spid="195"/>
                                        </p:tgtEl>
                                      </p:cBhvr>
                                      <p:by x="150000" y="150000"/>
                                    </p:animScale>
                                  </p:childTnLst>
                                </p:cTn>
                              </p:par>
                            </p:childTnLst>
                          </p:cTn>
                        </p:par>
                      </p:childTnLst>
                    </p:cTn>
                  </p:par>
                  <p:par>
                    <p:cTn id="84" fill="hold">
                      <p:stCondLst>
                        <p:cond delay="indefinite"/>
                      </p:stCondLst>
                      <p:childTnLst>
                        <p:par>
                          <p:cTn id="85" fill="hold">
                            <p:stCondLst>
                              <p:cond delay="0"/>
                            </p:stCondLst>
                            <p:childTnLst>
                              <p:par>
                                <p:cTn id="86" presetID="8" presetClass="entr" presetSubtype="16" fill="hold" grpId="0" nodeType="clickEffect">
                                  <p:stCondLst>
                                    <p:cond delay="0"/>
                                  </p:stCondLst>
                                  <p:childTnLst>
                                    <p:set>
                                      <p:cBhvr>
                                        <p:cTn id="87" dur="1" fill="hold">
                                          <p:stCondLst>
                                            <p:cond delay="0"/>
                                          </p:stCondLst>
                                        </p:cTn>
                                        <p:tgtEl>
                                          <p:spTgt spid="197"/>
                                        </p:tgtEl>
                                        <p:attrNameLst>
                                          <p:attrName>style.visibility</p:attrName>
                                        </p:attrNameLst>
                                      </p:cBhvr>
                                      <p:to>
                                        <p:strVal val="visible"/>
                                      </p:to>
                                    </p:set>
                                    <p:animEffect transition="in" filter="diamond(in)">
                                      <p:cBhvr>
                                        <p:cTn id="88" dur="20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P spid="171" grpId="0" animBg="1"/>
      <p:bldP spid="173" grpId="0" animBg="1"/>
      <p:bldP spid="188" grpId="0" animBg="1"/>
      <p:bldP spid="189" grpId="0" animBg="1"/>
      <p:bldP spid="190" grpId="0"/>
      <p:bldP spid="195" grpId="0" animBg="1"/>
      <p:bldP spid="195" grpId="1" animBg="1"/>
      <p:bldP spid="197"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推广</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aphicFrame>
        <p:nvGraphicFramePr>
          <p:cNvPr id="588805" name="Object 2"/>
          <p:cNvGraphicFramePr>
            <a:graphicFrameLocks noChangeAspect="1"/>
          </p:cNvGraphicFramePr>
          <p:nvPr/>
        </p:nvGraphicFramePr>
        <p:xfrm>
          <a:off x="1692270" y="2671766"/>
          <a:ext cx="2093912" cy="1257300"/>
        </p:xfrm>
        <a:graphic>
          <a:graphicData uri="http://schemas.openxmlformats.org/presentationml/2006/ole">
            <mc:AlternateContent xmlns:mc="http://schemas.openxmlformats.org/markup-compatibility/2006">
              <mc:Choice xmlns:v="urn:schemas-microsoft-com:vml" Requires="v">
                <p:oleObj spid="_x0000_s590861" name="Equation" r:id="rId4" imgW="1269720" imgH="761760" progId="Equation.DSMT4">
                  <p:embed/>
                </p:oleObj>
              </mc:Choice>
              <mc:Fallback>
                <p:oleObj name="Equation" r:id="rId4" imgW="1269720" imgH="76176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0" y="2671766"/>
                        <a:ext cx="2093912"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0" name="Rectangle 6"/>
          <p:cNvSpPr>
            <a:spLocks noChangeArrowheads="1"/>
          </p:cNvSpPr>
          <p:nvPr/>
        </p:nvSpPr>
        <p:spPr bwMode="auto">
          <a:xfrm>
            <a:off x="469540" y="1830896"/>
            <a:ext cx="8174426" cy="25006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集中荷载的作用</a:t>
            </a:r>
            <a:endParaRPr lang="en-US" altLang="zh-CN" sz="2000" b="1">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r>
              <a:rPr lang="en-US" altLang="zh-CN" sz="2000" b="1" i="1">
                <a:solidFill>
                  <a:srgbClr val="000000"/>
                </a:solidFill>
                <a:latin typeface="Times New Roman" pitchFamily="18" charset="0"/>
                <a:cs typeface="Times New Roman" pitchFamily="18" charset="0"/>
              </a:rPr>
              <a:t>AC</a:t>
            </a:r>
            <a:r>
              <a:rPr lang="zh-CN" altLang="en-US" sz="2000" b="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CB</a:t>
            </a:r>
            <a:r>
              <a:rPr lang="zh-CN" altLang="en-US" sz="2000" b="1">
                <a:solidFill>
                  <a:srgbClr val="000000"/>
                </a:solidFill>
                <a:latin typeface="Times New Roman" pitchFamily="18" charset="0"/>
                <a:cs typeface="Times New Roman" pitchFamily="18" charset="0"/>
              </a:rPr>
              <a:t>段方程</a:t>
            </a:r>
            <a:endParaRPr lang="en-US" altLang="zh-CN" sz="2000" b="1">
              <a:solidFill>
                <a:srgbClr val="000000"/>
              </a:solidFill>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endParaRPr lang="en-US" altLang="zh-CN" sz="2000" b="1">
              <a:solidFill>
                <a:srgbClr val="000000"/>
              </a:solidFill>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endParaRPr lang="en-US" altLang="zh-CN" sz="2000" b="1">
              <a:solidFill>
                <a:srgbClr val="000000"/>
              </a:solidFill>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endParaRPr lang="en-US" altLang="zh-CN" sz="2000" b="1">
              <a:solidFill>
                <a:srgbClr val="000000"/>
              </a:solidFill>
              <a:latin typeface="Times New Roman" pitchFamily="18" charset="0"/>
              <a:cs typeface="Times New Roman" pitchFamily="18" charset="0"/>
            </a:endParaRPr>
          </a:p>
          <a:p>
            <a:pPr marL="1081088" lvl="1" indent="-277813" algn="just" defTabSz="984250" fontAlgn="base">
              <a:lnSpc>
                <a:spcPct val="120000"/>
              </a:lnSpc>
              <a:spcBef>
                <a:spcPts val="300"/>
              </a:spcBef>
              <a:spcAft>
                <a:spcPct val="0"/>
              </a:spcAft>
              <a:buFont typeface="Arial" pitchFamily="34" charset="0"/>
              <a:buChar char="•"/>
            </a:pPr>
            <a:r>
              <a:rPr lang="en-US" altLang="zh-CN" sz="2000" b="1" i="1">
                <a:solidFill>
                  <a:srgbClr val="000000"/>
                </a:solidFill>
                <a:latin typeface="Times New Roman" pitchFamily="18" charset="0"/>
                <a:cs typeface="Times New Roman" pitchFamily="18" charset="0"/>
              </a:rPr>
              <a:t>C </a:t>
            </a:r>
            <a:r>
              <a:rPr lang="zh-CN" altLang="en-US" sz="2000" b="1">
                <a:solidFill>
                  <a:srgbClr val="000000"/>
                </a:solidFill>
                <a:latin typeface="Times New Roman" pitchFamily="18" charset="0"/>
                <a:cs typeface="Times New Roman" pitchFamily="18" charset="0"/>
              </a:rPr>
              <a:t>截面处的方程</a:t>
            </a:r>
            <a:endParaRPr lang="en-US" altLang="zh-CN" sz="2000" b="1">
              <a:solidFill>
                <a:srgbClr val="000000"/>
              </a:solidFill>
              <a:latin typeface="Times New Roman" pitchFamily="18" charset="0"/>
              <a:cs typeface="Times New Roman" pitchFamily="18" charset="0"/>
            </a:endParaRPr>
          </a:p>
        </p:txBody>
      </p:sp>
      <p:sp>
        <p:nvSpPr>
          <p:cNvPr id="171" name="右箭头 170"/>
          <p:cNvSpPr/>
          <p:nvPr/>
        </p:nvSpPr>
        <p:spPr bwMode="auto">
          <a:xfrm>
            <a:off x="4110034" y="4383094"/>
            <a:ext cx="357190" cy="285752"/>
          </a:xfrm>
          <a:prstGeom prs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nvGrpSpPr>
          <p:cNvPr id="29" name="组合 133"/>
          <p:cNvGrpSpPr/>
          <p:nvPr/>
        </p:nvGrpSpPr>
        <p:grpSpPr>
          <a:xfrm>
            <a:off x="4856981" y="2585954"/>
            <a:ext cx="3276818" cy="406798"/>
            <a:chOff x="1396564" y="2498718"/>
            <a:chExt cx="3606066" cy="406798"/>
          </a:xfrm>
        </p:grpSpPr>
        <p:cxnSp>
          <p:nvCxnSpPr>
            <p:cNvPr id="30" name="直接连接符 29"/>
            <p:cNvCxnSpPr/>
            <p:nvPr/>
          </p:nvCxnSpPr>
          <p:spPr bwMode="auto">
            <a:xfrm>
              <a:off x="1500166" y="2498718"/>
              <a:ext cx="3500462" cy="1588"/>
            </a:xfrm>
            <a:prstGeom prst="line">
              <a:avLst/>
            </a:prstGeom>
            <a:solidFill>
              <a:schemeClr val="accent1"/>
            </a:solidFill>
            <a:ln w="76200" cap="flat" cmpd="sng" algn="ctr">
              <a:solidFill>
                <a:schemeClr val="tx1"/>
              </a:solidFill>
              <a:prstDash val="solid"/>
              <a:round/>
              <a:headEnd type="none" w="med" len="med"/>
              <a:tailEnd type="none" w="med" len="med"/>
            </a:ln>
            <a:effectLst/>
          </p:spPr>
        </p:cxnSp>
        <p:sp>
          <p:nvSpPr>
            <p:cNvPr id="31" name="TextBox 30"/>
            <p:cNvSpPr txBox="1"/>
            <p:nvPr/>
          </p:nvSpPr>
          <p:spPr>
            <a:xfrm>
              <a:off x="1396564" y="2536184"/>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A</a:t>
              </a:r>
              <a:endParaRPr lang="zh-CN" altLang="en-US" b="1" i="1">
                <a:latin typeface="Times New Roman" pitchFamily="18" charset="0"/>
                <a:cs typeface="Times New Roman" pitchFamily="18" charset="0"/>
              </a:endParaRPr>
            </a:p>
          </p:txBody>
        </p:sp>
        <p:sp>
          <p:nvSpPr>
            <p:cNvPr id="32" name="TextBox 31"/>
            <p:cNvSpPr txBox="1"/>
            <p:nvPr/>
          </p:nvSpPr>
          <p:spPr>
            <a:xfrm>
              <a:off x="4664076" y="2531980"/>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B</a:t>
              </a:r>
              <a:endParaRPr lang="zh-CN" altLang="en-US" b="1" i="1">
                <a:latin typeface="Times New Roman" pitchFamily="18" charset="0"/>
                <a:cs typeface="Times New Roman" pitchFamily="18" charset="0"/>
              </a:endParaRPr>
            </a:p>
          </p:txBody>
        </p:sp>
      </p:grpSp>
      <p:grpSp>
        <p:nvGrpSpPr>
          <p:cNvPr id="33" name="组合 157"/>
          <p:cNvGrpSpPr/>
          <p:nvPr/>
        </p:nvGrpSpPr>
        <p:grpSpPr>
          <a:xfrm>
            <a:off x="4958933" y="1514308"/>
            <a:ext cx="3173046" cy="1073234"/>
            <a:chOff x="1508760" y="1501608"/>
            <a:chExt cx="3491868" cy="1073234"/>
          </a:xfrm>
        </p:grpSpPr>
        <p:grpSp>
          <p:nvGrpSpPr>
            <p:cNvPr id="34" name="组合 123"/>
            <p:cNvGrpSpPr/>
            <p:nvPr/>
          </p:nvGrpSpPr>
          <p:grpSpPr>
            <a:xfrm>
              <a:off x="1508760" y="1931900"/>
              <a:ext cx="3491868" cy="642942"/>
              <a:chOff x="1508760" y="1857364"/>
              <a:chExt cx="3491868" cy="642942"/>
            </a:xfrm>
          </p:grpSpPr>
          <p:sp>
            <p:nvSpPr>
              <p:cNvPr id="36" name="任意多边形 35"/>
              <p:cNvSpPr/>
              <p:nvPr/>
            </p:nvSpPr>
            <p:spPr bwMode="auto">
              <a:xfrm>
                <a:off x="1508760" y="1857364"/>
                <a:ext cx="3491868" cy="352436"/>
              </a:xfrm>
              <a:custGeom>
                <a:avLst/>
                <a:gdLst>
                  <a:gd name="connsiteX0" fmla="*/ 0 w 3459480"/>
                  <a:gd name="connsiteY0" fmla="*/ 320040 h 320040"/>
                  <a:gd name="connsiteX1" fmla="*/ 1463040 w 3459480"/>
                  <a:gd name="connsiteY1" fmla="*/ 45720 h 320040"/>
                  <a:gd name="connsiteX2" fmla="*/ 2423160 w 3459480"/>
                  <a:gd name="connsiteY2" fmla="*/ 45720 h 320040"/>
                  <a:gd name="connsiteX3" fmla="*/ 3459480 w 3459480"/>
                  <a:gd name="connsiteY3" fmla="*/ 274320 h 320040"/>
                </a:gdLst>
                <a:ahLst/>
                <a:cxnLst>
                  <a:cxn ang="0">
                    <a:pos x="connsiteX0" y="connsiteY0"/>
                  </a:cxn>
                  <a:cxn ang="0">
                    <a:pos x="connsiteX1" y="connsiteY1"/>
                  </a:cxn>
                  <a:cxn ang="0">
                    <a:pos x="connsiteX2" y="connsiteY2"/>
                  </a:cxn>
                  <a:cxn ang="0">
                    <a:pos x="connsiteX3" y="connsiteY3"/>
                  </a:cxn>
                </a:cxnLst>
                <a:rect l="l" t="t" r="r" b="b"/>
                <a:pathLst>
                  <a:path w="3459480" h="320040">
                    <a:moveTo>
                      <a:pt x="0" y="320040"/>
                    </a:moveTo>
                    <a:cubicBezTo>
                      <a:pt x="529590" y="205740"/>
                      <a:pt x="1059180" y="91440"/>
                      <a:pt x="1463040" y="45720"/>
                    </a:cubicBezTo>
                    <a:cubicBezTo>
                      <a:pt x="1866900" y="0"/>
                      <a:pt x="2090420" y="7620"/>
                      <a:pt x="2423160" y="45720"/>
                    </a:cubicBezTo>
                    <a:cubicBezTo>
                      <a:pt x="2755900" y="83820"/>
                      <a:pt x="3107690" y="179070"/>
                      <a:pt x="3459480" y="274320"/>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cxnSp>
            <p:nvCxnSpPr>
              <p:cNvPr id="37" name="直接箭头连接符 36"/>
              <p:cNvCxnSpPr/>
              <p:nvPr/>
            </p:nvCxnSpPr>
            <p:spPr bwMode="auto">
              <a:xfrm flipH="1">
                <a:off x="1515406" y="2209800"/>
                <a:ext cx="0" cy="290506"/>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38" name="直接箭头连接符 37"/>
              <p:cNvCxnSpPr/>
              <p:nvPr/>
            </p:nvCxnSpPr>
            <p:spPr bwMode="auto">
              <a:xfrm flipH="1">
                <a:off x="4985388" y="2158356"/>
                <a:ext cx="0" cy="32400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39" name="直接箭头连接符 38"/>
              <p:cNvCxnSpPr/>
              <p:nvPr/>
            </p:nvCxnSpPr>
            <p:spPr bwMode="auto">
              <a:xfrm rot="5400000">
                <a:off x="2966000" y="2177480"/>
                <a:ext cx="609752"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0" name="直接箭头连接符 39"/>
              <p:cNvCxnSpPr/>
              <p:nvPr/>
            </p:nvCxnSpPr>
            <p:spPr bwMode="auto">
              <a:xfrm rot="5400000">
                <a:off x="2133901" y="2249479"/>
                <a:ext cx="500066"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1" name="直接箭头连接符 40"/>
              <p:cNvCxnSpPr/>
              <p:nvPr/>
            </p:nvCxnSpPr>
            <p:spPr bwMode="auto">
              <a:xfrm rot="16200000" flipH="1">
                <a:off x="3874448" y="2214554"/>
                <a:ext cx="571504"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2" name="直接箭头连接符 41"/>
              <p:cNvCxnSpPr/>
              <p:nvPr/>
            </p:nvCxnSpPr>
            <p:spPr bwMode="auto">
              <a:xfrm rot="5400000">
                <a:off x="1748397" y="2306685"/>
                <a:ext cx="360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3" name="直接箭头连接符 42"/>
              <p:cNvCxnSpPr/>
              <p:nvPr/>
            </p:nvCxnSpPr>
            <p:spPr bwMode="auto">
              <a:xfrm rot="5400000">
                <a:off x="2548405" y="2207405"/>
                <a:ext cx="558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4" name="直接箭头连接符 43"/>
              <p:cNvCxnSpPr/>
              <p:nvPr/>
            </p:nvCxnSpPr>
            <p:spPr bwMode="auto">
              <a:xfrm rot="5400000">
                <a:off x="3409141" y="2178207"/>
                <a:ext cx="612000"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45" name="直接箭头连接符 44"/>
              <p:cNvCxnSpPr/>
              <p:nvPr/>
            </p:nvCxnSpPr>
            <p:spPr bwMode="auto">
              <a:xfrm rot="16200000" flipH="1">
                <a:off x="4356000" y="2267676"/>
                <a:ext cx="432000" cy="0"/>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35" name="TextBox 34"/>
            <p:cNvSpPr txBox="1"/>
            <p:nvPr/>
          </p:nvSpPr>
          <p:spPr>
            <a:xfrm>
              <a:off x="3428992" y="1501608"/>
              <a:ext cx="30008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q</a:t>
              </a:r>
              <a:endParaRPr lang="zh-CN" altLang="en-US" b="1" i="1">
                <a:solidFill>
                  <a:srgbClr val="C00000"/>
                </a:solidFill>
                <a:latin typeface="Times New Roman" pitchFamily="18" charset="0"/>
                <a:cs typeface="Times New Roman" pitchFamily="18" charset="0"/>
              </a:endParaRPr>
            </a:p>
          </p:txBody>
        </p:sp>
      </p:grpSp>
      <p:grpSp>
        <p:nvGrpSpPr>
          <p:cNvPr id="46" name="组合 149"/>
          <p:cNvGrpSpPr/>
          <p:nvPr/>
        </p:nvGrpSpPr>
        <p:grpSpPr>
          <a:xfrm>
            <a:off x="4097334" y="1789661"/>
            <a:ext cx="868340" cy="1164115"/>
            <a:chOff x="500034" y="1776961"/>
            <a:chExt cx="955589" cy="1164115"/>
          </a:xfrm>
        </p:grpSpPr>
        <p:cxnSp>
          <p:nvCxnSpPr>
            <p:cNvPr id="47" name="直接箭头连接符 46"/>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48" name="直接箭头连接符 47"/>
            <p:cNvCxnSpPr/>
            <p:nvPr/>
          </p:nvCxnSpPr>
          <p:spPr bwMode="auto">
            <a:xfrm rot="5400000">
              <a:off x="1106084" y="2310742"/>
              <a:ext cx="504000"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sp>
          <p:nvSpPr>
            <p:cNvPr id="49" name="弧形 48"/>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50" name="TextBox 49"/>
            <p:cNvSpPr txBox="1"/>
            <p:nvPr/>
          </p:nvSpPr>
          <p:spPr>
            <a:xfrm>
              <a:off x="500034" y="2571744"/>
              <a:ext cx="559769"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51" name="TextBox 50"/>
            <p:cNvSpPr txBox="1"/>
            <p:nvPr/>
          </p:nvSpPr>
          <p:spPr>
            <a:xfrm>
              <a:off x="804883" y="1776961"/>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sp>
          <p:nvSpPr>
            <p:cNvPr id="52" name="TextBox 51"/>
            <p:cNvSpPr txBox="1"/>
            <p:nvPr/>
          </p:nvSpPr>
          <p:spPr>
            <a:xfrm>
              <a:off x="611067" y="2130416"/>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A</a:t>
              </a:r>
              <a:endParaRPr lang="zh-CN" altLang="en-US" b="1" i="1">
                <a:solidFill>
                  <a:srgbClr val="C00000"/>
                </a:solidFill>
                <a:latin typeface="Times New Roman" pitchFamily="18" charset="0"/>
                <a:cs typeface="Times New Roman" pitchFamily="18" charset="0"/>
              </a:endParaRPr>
            </a:p>
          </p:txBody>
        </p:sp>
      </p:grpSp>
      <p:grpSp>
        <p:nvGrpSpPr>
          <p:cNvPr id="53" name="组合 150"/>
          <p:cNvGrpSpPr/>
          <p:nvPr/>
        </p:nvGrpSpPr>
        <p:grpSpPr>
          <a:xfrm flipH="1">
            <a:off x="7855759" y="1954202"/>
            <a:ext cx="1145397" cy="1403360"/>
            <a:chOff x="495349" y="1932537"/>
            <a:chExt cx="1260484" cy="1403360"/>
          </a:xfrm>
        </p:grpSpPr>
        <p:cxnSp>
          <p:nvCxnSpPr>
            <p:cNvPr id="54" name="直接箭头连接符 53"/>
            <p:cNvCxnSpPr/>
            <p:nvPr/>
          </p:nvCxnSpPr>
          <p:spPr bwMode="auto">
            <a:xfrm>
              <a:off x="785786" y="2574842"/>
              <a:ext cx="571504" cy="1588"/>
            </a:xfrm>
            <a:prstGeom prst="straightConnector1">
              <a:avLst/>
            </a:prstGeom>
            <a:solidFill>
              <a:schemeClr val="accent1"/>
            </a:solidFill>
            <a:ln w="28575" cap="flat" cmpd="sng" algn="ctr">
              <a:solidFill>
                <a:srgbClr val="C00000"/>
              </a:solidFill>
              <a:prstDash val="solid"/>
              <a:round/>
              <a:headEnd type="arrow" w="med" len="med"/>
              <a:tailEnd type="none" w="med" len="med"/>
            </a:ln>
            <a:effectLst/>
          </p:spPr>
        </p:cxnSp>
        <p:cxnSp>
          <p:nvCxnSpPr>
            <p:cNvPr id="55" name="直接箭头连接符 54"/>
            <p:cNvCxnSpPr/>
            <p:nvPr/>
          </p:nvCxnSpPr>
          <p:spPr bwMode="auto">
            <a:xfrm rot="5400000">
              <a:off x="1106084" y="2822751"/>
              <a:ext cx="504000" cy="1588"/>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56" name="弧形 55"/>
            <p:cNvSpPr/>
            <p:nvPr/>
          </p:nvSpPr>
          <p:spPr bwMode="auto">
            <a:xfrm flipH="1">
              <a:off x="1026995" y="2312605"/>
              <a:ext cx="428628"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57" name="TextBox 56"/>
            <p:cNvSpPr txBox="1"/>
            <p:nvPr/>
          </p:nvSpPr>
          <p:spPr>
            <a:xfrm>
              <a:off x="495349" y="2568099"/>
              <a:ext cx="551754"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N</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58" name="TextBox 57"/>
            <p:cNvSpPr txBox="1"/>
            <p:nvPr/>
          </p:nvSpPr>
          <p:spPr>
            <a:xfrm>
              <a:off x="1194461" y="2966565"/>
              <a:ext cx="56137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baseline="-25000">
                  <a:solidFill>
                    <a:srgbClr val="C00000"/>
                  </a:solidFill>
                  <a:latin typeface="Times New Roman" pitchFamily="18" charset="0"/>
                  <a:cs typeface="Times New Roman" pitchFamily="18" charset="0"/>
                </a:rPr>
                <a:t>Q</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sp>
          <p:nvSpPr>
            <p:cNvPr id="59" name="TextBox 58"/>
            <p:cNvSpPr txBox="1"/>
            <p:nvPr/>
          </p:nvSpPr>
          <p:spPr>
            <a:xfrm>
              <a:off x="839839" y="1932537"/>
              <a:ext cx="492443"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B</a:t>
              </a:r>
              <a:endParaRPr lang="zh-CN" altLang="en-US" b="1" i="1">
                <a:solidFill>
                  <a:srgbClr val="C00000"/>
                </a:solidFill>
                <a:latin typeface="Times New Roman" pitchFamily="18" charset="0"/>
                <a:cs typeface="Times New Roman" pitchFamily="18" charset="0"/>
              </a:endParaRPr>
            </a:p>
          </p:txBody>
        </p:sp>
      </p:grpSp>
      <p:grpSp>
        <p:nvGrpSpPr>
          <p:cNvPr id="65" name="组合 64"/>
          <p:cNvGrpSpPr/>
          <p:nvPr/>
        </p:nvGrpSpPr>
        <p:grpSpPr>
          <a:xfrm>
            <a:off x="5807084" y="1500174"/>
            <a:ext cx="649706" cy="1474798"/>
            <a:chOff x="5807084" y="1285860"/>
            <a:chExt cx="649706" cy="1474798"/>
          </a:xfrm>
        </p:grpSpPr>
        <p:cxnSp>
          <p:nvCxnSpPr>
            <p:cNvPr id="62" name="直接箭头连接符 61"/>
            <p:cNvCxnSpPr/>
            <p:nvPr/>
          </p:nvCxnSpPr>
          <p:spPr bwMode="auto">
            <a:xfrm rot="5400000">
              <a:off x="5919797" y="1963727"/>
              <a:ext cx="785818" cy="1588"/>
            </a:xfrm>
            <a:prstGeom prst="straightConnector1">
              <a:avLst/>
            </a:prstGeom>
            <a:solidFill>
              <a:schemeClr val="accent1"/>
            </a:solidFill>
            <a:ln w="47625" cap="flat" cmpd="sng" algn="ctr">
              <a:solidFill>
                <a:srgbClr val="FF00FF"/>
              </a:solidFill>
              <a:prstDash val="solid"/>
              <a:round/>
              <a:headEnd type="none" w="sm" len="sm"/>
              <a:tailEnd type="arrow" w="sm" len="sm"/>
            </a:ln>
            <a:effectLst/>
          </p:spPr>
        </p:cxnSp>
        <p:sp>
          <p:nvSpPr>
            <p:cNvPr id="63" name="TextBox 62"/>
            <p:cNvSpPr txBox="1"/>
            <p:nvPr/>
          </p:nvSpPr>
          <p:spPr>
            <a:xfrm>
              <a:off x="5807084" y="1285860"/>
              <a:ext cx="514885" cy="461665"/>
            </a:xfrm>
            <a:prstGeom prst="rect">
              <a:avLst/>
            </a:prstGeom>
            <a:noFill/>
            <a:ln w="28575">
              <a:noFill/>
            </a:ln>
          </p:spPr>
          <p:txBody>
            <a:bodyPr wrap="none" rtlCol="0">
              <a:spAutoFit/>
            </a:bodyPr>
            <a:lstStyle/>
            <a:p>
              <a:r>
                <a:rPr lang="en-US" altLang="zh-CN" sz="2400" b="1" i="1">
                  <a:solidFill>
                    <a:srgbClr val="FF00FF"/>
                  </a:solidFill>
                  <a:latin typeface="Times New Roman" pitchFamily="18" charset="0"/>
                  <a:cs typeface="Times New Roman" pitchFamily="18" charset="0"/>
                </a:rPr>
                <a:t>F</a:t>
              </a:r>
              <a:r>
                <a:rPr lang="en-US" altLang="zh-CN" sz="2400" b="1" baseline="-25000">
                  <a:solidFill>
                    <a:srgbClr val="FF00FF"/>
                  </a:solidFill>
                  <a:latin typeface="Times New Roman" pitchFamily="18" charset="0"/>
                  <a:cs typeface="Times New Roman" pitchFamily="18" charset="0"/>
                </a:rPr>
                <a:t>P</a:t>
              </a:r>
              <a:endParaRPr lang="zh-CN" altLang="en-US" sz="2400" b="1" baseline="-25000">
                <a:solidFill>
                  <a:srgbClr val="FF00FF"/>
                </a:solidFill>
                <a:latin typeface="Times New Roman" pitchFamily="18" charset="0"/>
                <a:cs typeface="Times New Roman" pitchFamily="18" charset="0"/>
              </a:endParaRPr>
            </a:p>
          </p:txBody>
        </p:sp>
        <p:sp>
          <p:nvSpPr>
            <p:cNvPr id="64" name="TextBox 63"/>
            <p:cNvSpPr txBox="1"/>
            <p:nvPr/>
          </p:nvSpPr>
          <p:spPr>
            <a:xfrm>
              <a:off x="6118236" y="2391326"/>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graphicFrame>
        <p:nvGraphicFramePr>
          <p:cNvPr id="590857" name="Object 9"/>
          <p:cNvGraphicFramePr>
            <a:graphicFrameLocks noChangeAspect="1"/>
          </p:cNvGraphicFramePr>
          <p:nvPr/>
        </p:nvGraphicFramePr>
        <p:xfrm>
          <a:off x="1714480" y="4311656"/>
          <a:ext cx="2260600" cy="461962"/>
        </p:xfrm>
        <a:graphic>
          <a:graphicData uri="http://schemas.openxmlformats.org/presentationml/2006/ole">
            <mc:AlternateContent xmlns:mc="http://schemas.openxmlformats.org/markup-compatibility/2006">
              <mc:Choice xmlns:v="urn:schemas-microsoft-com:vml" Requires="v">
                <p:oleObj spid="_x0000_s590862" name="Equation" r:id="rId6" imgW="1371600" imgH="279360" progId="Equation.DSMT4">
                  <p:embed/>
                </p:oleObj>
              </mc:Choice>
              <mc:Fallback>
                <p:oleObj name="Equation" r:id="rId6" imgW="1371600" imgH="279360"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4480" y="4311656"/>
                        <a:ext cx="2260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9" name="组合 68"/>
          <p:cNvGrpSpPr/>
          <p:nvPr/>
        </p:nvGrpSpPr>
        <p:grpSpPr>
          <a:xfrm>
            <a:off x="1571604" y="4794266"/>
            <a:ext cx="6715172" cy="971550"/>
            <a:chOff x="1575462" y="4870460"/>
            <a:chExt cx="6715172" cy="971550"/>
          </a:xfrm>
        </p:grpSpPr>
        <p:graphicFrame>
          <p:nvGraphicFramePr>
            <p:cNvPr id="590858" name="Object 10"/>
            <p:cNvGraphicFramePr>
              <a:graphicFrameLocks noChangeAspect="1"/>
            </p:cNvGraphicFramePr>
            <p:nvPr/>
          </p:nvGraphicFramePr>
          <p:xfrm>
            <a:off x="2940759" y="4895860"/>
            <a:ext cx="5349875" cy="946150"/>
          </p:xfrm>
          <a:graphic>
            <a:graphicData uri="http://schemas.openxmlformats.org/presentationml/2006/ole">
              <mc:AlternateContent xmlns:mc="http://schemas.openxmlformats.org/markup-compatibility/2006">
                <mc:Choice xmlns:v="urn:schemas-microsoft-com:vml" Requires="v">
                  <p:oleObj spid="_x0000_s590863" name="Equation" r:id="rId8" imgW="3454200" imgH="609480" progId="Equation.DSMT4">
                    <p:embed/>
                  </p:oleObj>
                </mc:Choice>
                <mc:Fallback>
                  <p:oleObj name="Equation" r:id="rId8" imgW="3454200" imgH="609480" progId="Equation.DSMT4">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0759" y="4895860"/>
                          <a:ext cx="5349875" cy="946150"/>
                        </a:xfrm>
                        <a:prstGeom prst="rect">
                          <a:avLst/>
                        </a:prstGeom>
                        <a:solidFill>
                          <a:schemeClr val="bg1"/>
                        </a:solidFill>
                        <a:ln>
                          <a:noFill/>
                        </a:ln>
                        <a:effectLst/>
                        <a:extLs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TextBox 67"/>
            <p:cNvSpPr txBox="1"/>
            <p:nvPr/>
          </p:nvSpPr>
          <p:spPr>
            <a:xfrm>
              <a:off x="1575462" y="4870460"/>
              <a:ext cx="1467068" cy="400110"/>
            </a:xfrm>
            <a:prstGeom prst="rect">
              <a:avLst/>
            </a:prstGeom>
            <a:noFill/>
            <a:ln w="28575">
              <a:noFill/>
            </a:ln>
          </p:spPr>
          <p:txBody>
            <a:bodyPr wrap="none" rtlCol="0">
              <a:spAutoFit/>
            </a:bodyPr>
            <a:lstStyle/>
            <a:p>
              <a:r>
                <a:rPr lang="zh-CN" altLang="en-US" sz="2000" b="1"/>
                <a:t>外力虚功：</a:t>
              </a:r>
            </a:p>
          </p:txBody>
        </p:sp>
      </p:grpSp>
      <p:grpSp>
        <p:nvGrpSpPr>
          <p:cNvPr id="72" name="组合 71"/>
          <p:cNvGrpSpPr/>
          <p:nvPr/>
        </p:nvGrpSpPr>
        <p:grpSpPr>
          <a:xfrm>
            <a:off x="1571604" y="5773758"/>
            <a:ext cx="4486285" cy="512762"/>
            <a:chOff x="1571604" y="5773758"/>
            <a:chExt cx="4486285" cy="512762"/>
          </a:xfrm>
        </p:grpSpPr>
        <p:sp>
          <p:nvSpPr>
            <p:cNvPr id="70" name="TextBox 69"/>
            <p:cNvSpPr txBox="1"/>
            <p:nvPr/>
          </p:nvSpPr>
          <p:spPr>
            <a:xfrm>
              <a:off x="1571604" y="5814972"/>
              <a:ext cx="1467068" cy="400110"/>
            </a:xfrm>
            <a:prstGeom prst="rect">
              <a:avLst/>
            </a:prstGeom>
            <a:noFill/>
            <a:ln w="28575">
              <a:noFill/>
            </a:ln>
          </p:spPr>
          <p:txBody>
            <a:bodyPr wrap="none" rtlCol="0">
              <a:spAutoFit/>
            </a:bodyPr>
            <a:lstStyle/>
            <a:p>
              <a:r>
                <a:rPr lang="zh-CN" altLang="en-US" sz="2000" b="1"/>
                <a:t>内力虚功：</a:t>
              </a:r>
            </a:p>
          </p:txBody>
        </p:sp>
        <p:graphicFrame>
          <p:nvGraphicFramePr>
            <p:cNvPr id="590859" name="Object 11"/>
            <p:cNvGraphicFramePr>
              <a:graphicFrameLocks noChangeAspect="1"/>
            </p:cNvGraphicFramePr>
            <p:nvPr/>
          </p:nvGraphicFramePr>
          <p:xfrm>
            <a:off x="2928926" y="5773758"/>
            <a:ext cx="3128963" cy="512762"/>
          </p:xfrm>
          <a:graphic>
            <a:graphicData uri="http://schemas.openxmlformats.org/presentationml/2006/ole">
              <mc:AlternateContent xmlns:mc="http://schemas.openxmlformats.org/markup-compatibility/2006">
                <mc:Choice xmlns:v="urn:schemas-microsoft-com:vml" Requires="v">
                  <p:oleObj spid="_x0000_s590864" name="Equation" r:id="rId10" imgW="2019240" imgH="330120" progId="Equation.DSMT4">
                    <p:embed/>
                  </p:oleObj>
                </mc:Choice>
                <mc:Fallback>
                  <p:oleObj name="Equation" r:id="rId10" imgW="2019240" imgH="330120" progId="Equation.DSMT4">
                    <p:embed/>
                    <p:pic>
                      <p:nvPicPr>
                        <p:cNvPr id="0"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8926" y="5773758"/>
                          <a:ext cx="3128963"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5" name="组合 74"/>
          <p:cNvGrpSpPr/>
          <p:nvPr/>
        </p:nvGrpSpPr>
        <p:grpSpPr>
          <a:xfrm>
            <a:off x="5000628" y="3671832"/>
            <a:ext cx="3339376" cy="401638"/>
            <a:chOff x="4857752" y="3643314"/>
            <a:chExt cx="3339376" cy="401638"/>
          </a:xfrm>
        </p:grpSpPr>
        <p:sp>
          <p:nvSpPr>
            <p:cNvPr id="74" name="TextBox 73"/>
            <p:cNvSpPr txBox="1"/>
            <p:nvPr/>
          </p:nvSpPr>
          <p:spPr>
            <a:xfrm>
              <a:off x="4857752" y="3643314"/>
              <a:ext cx="3339376" cy="400110"/>
            </a:xfrm>
            <a:prstGeom prst="rect">
              <a:avLst/>
            </a:prstGeom>
            <a:noFill/>
            <a:ln w="28575">
              <a:solidFill>
                <a:srgbClr val="C00000"/>
              </a:solidFill>
            </a:ln>
          </p:spPr>
          <p:txBody>
            <a:bodyPr wrap="none" rtlCol="0">
              <a:spAutoFit/>
            </a:bodyPr>
            <a:lstStyle/>
            <a:p>
              <a:r>
                <a:rPr lang="zh-CN" altLang="en-US" sz="2000" b="1"/>
                <a:t>虚功方程            依然成立！</a:t>
              </a:r>
            </a:p>
          </p:txBody>
        </p:sp>
        <p:graphicFrame>
          <p:nvGraphicFramePr>
            <p:cNvPr id="73" name="Object 10"/>
            <p:cNvGraphicFramePr>
              <a:graphicFrameLocks noChangeAspect="1"/>
            </p:cNvGraphicFramePr>
            <p:nvPr/>
          </p:nvGraphicFramePr>
          <p:xfrm>
            <a:off x="6059503" y="3689352"/>
            <a:ext cx="727075" cy="355600"/>
          </p:xfrm>
          <a:graphic>
            <a:graphicData uri="http://schemas.openxmlformats.org/presentationml/2006/ole">
              <mc:AlternateContent xmlns:mc="http://schemas.openxmlformats.org/markup-compatibility/2006">
                <mc:Choice xmlns:v="urn:schemas-microsoft-com:vml" Requires="v">
                  <p:oleObj spid="_x0000_s590865" name="Equation" r:id="rId12" imgW="469800" imgH="228600" progId="Equation.DSMT4">
                    <p:embed/>
                  </p:oleObj>
                </mc:Choice>
                <mc:Fallback>
                  <p:oleObj name="Equation" r:id="rId12" imgW="469800" imgH="228600" progId="Equation.DSMT4">
                    <p:embed/>
                    <p:pic>
                      <p:nvPicPr>
                        <p:cNvPr id="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59503" y="3689352"/>
                          <a:ext cx="727075" cy="355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6" name="TextBox 75"/>
          <p:cNvSpPr txBox="1"/>
          <p:nvPr/>
        </p:nvSpPr>
        <p:spPr>
          <a:xfrm>
            <a:off x="5857884" y="4171898"/>
            <a:ext cx="1467068" cy="400110"/>
          </a:xfrm>
          <a:prstGeom prst="rect">
            <a:avLst/>
          </a:prstGeom>
          <a:noFill/>
          <a:ln w="28575">
            <a:noFill/>
          </a:ln>
        </p:spPr>
        <p:txBody>
          <a:bodyPr wrap="none" rtlCol="0">
            <a:spAutoFit/>
          </a:bodyPr>
          <a:lstStyle/>
          <a:p>
            <a:r>
              <a:rPr lang="zh-CN" altLang="en-US" sz="2000" b="1">
                <a:solidFill>
                  <a:srgbClr val="C00000"/>
                </a:solidFill>
              </a:rPr>
              <a:t>课堂练习！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Effect transition="in" filter="wipe(up)">
                                      <p:cBhvr>
                                        <p:cTn id="7" dur="500"/>
                                        <p:tgtEl>
                                          <p:spTgt spid="170">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blinds(horizontal)">
                                      <p:cBhvr>
                                        <p:cTn id="11" dur="500"/>
                                        <p:tgtEl>
                                          <p:spTgt spid="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70">
                                            <p:txEl>
                                              <p:pRg st="1" end="1"/>
                                            </p:txEl>
                                          </p:spTgt>
                                        </p:tgtEl>
                                        <p:attrNameLst>
                                          <p:attrName>style.visibility</p:attrName>
                                        </p:attrNameLst>
                                      </p:cBhvr>
                                      <p:to>
                                        <p:strVal val="visible"/>
                                      </p:to>
                                    </p:set>
                                    <p:animEffect transition="in" filter="wipe(up)">
                                      <p:cBhvr>
                                        <p:cTn id="16" dur="500"/>
                                        <p:tgtEl>
                                          <p:spTgt spid="170">
                                            <p:txEl>
                                              <p:pRg st="1" end="1"/>
                                            </p:txEl>
                                          </p:spTgt>
                                        </p:tgtEl>
                                      </p:cBhvr>
                                    </p:animEffect>
                                  </p:childTnLst>
                                </p:cTn>
                              </p:par>
                            </p:childTnLst>
                          </p:cTn>
                        </p:par>
                        <p:par>
                          <p:cTn id="17" fill="hold">
                            <p:stCondLst>
                              <p:cond delay="500"/>
                            </p:stCondLst>
                            <p:childTnLst>
                              <p:par>
                                <p:cTn id="18" presetID="2" presetClass="entr" presetSubtype="4" fill="hold" nodeType="afterEffect">
                                  <p:stCondLst>
                                    <p:cond delay="0"/>
                                  </p:stCondLst>
                                  <p:childTnLst>
                                    <p:set>
                                      <p:cBhvr>
                                        <p:cTn id="19" dur="1" fill="hold">
                                          <p:stCondLst>
                                            <p:cond delay="0"/>
                                          </p:stCondLst>
                                        </p:cTn>
                                        <p:tgtEl>
                                          <p:spTgt spid="588805"/>
                                        </p:tgtEl>
                                        <p:attrNameLst>
                                          <p:attrName>style.visibility</p:attrName>
                                        </p:attrNameLst>
                                      </p:cBhvr>
                                      <p:to>
                                        <p:strVal val="visible"/>
                                      </p:to>
                                    </p:set>
                                    <p:anim calcmode="lin" valueType="num">
                                      <p:cBhvr additive="base">
                                        <p:cTn id="20" dur="500" fill="hold"/>
                                        <p:tgtEl>
                                          <p:spTgt spid="588805"/>
                                        </p:tgtEl>
                                        <p:attrNameLst>
                                          <p:attrName>ppt_x</p:attrName>
                                        </p:attrNameLst>
                                      </p:cBhvr>
                                      <p:tavLst>
                                        <p:tav tm="0">
                                          <p:val>
                                            <p:strVal val="#ppt_x"/>
                                          </p:val>
                                        </p:tav>
                                        <p:tav tm="100000">
                                          <p:val>
                                            <p:strVal val="#ppt_x"/>
                                          </p:val>
                                        </p:tav>
                                      </p:tavLst>
                                    </p:anim>
                                    <p:anim calcmode="lin" valueType="num">
                                      <p:cBhvr additive="base">
                                        <p:cTn id="21" dur="500" fill="hold"/>
                                        <p:tgtEl>
                                          <p:spTgt spid="58880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70">
                                            <p:txEl>
                                              <p:pRg st="5" end="5"/>
                                            </p:txEl>
                                          </p:spTgt>
                                        </p:tgtEl>
                                        <p:attrNameLst>
                                          <p:attrName>style.visibility</p:attrName>
                                        </p:attrNameLst>
                                      </p:cBhvr>
                                      <p:to>
                                        <p:strVal val="visible"/>
                                      </p:to>
                                    </p:set>
                                    <p:animEffect transition="in" filter="wipe(up)">
                                      <p:cBhvr>
                                        <p:cTn id="26" dur="500"/>
                                        <p:tgtEl>
                                          <p:spTgt spid="170">
                                            <p:txEl>
                                              <p:pRg st="5" end="5"/>
                                            </p:txEl>
                                          </p:spTgt>
                                        </p:tgtEl>
                                      </p:cBhvr>
                                    </p:animEffect>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590857"/>
                                        </p:tgtEl>
                                        <p:attrNameLst>
                                          <p:attrName>style.visibility</p:attrName>
                                        </p:attrNameLst>
                                      </p:cBhvr>
                                      <p:to>
                                        <p:strVal val="visible"/>
                                      </p:to>
                                    </p:set>
                                    <p:anim calcmode="lin" valueType="num">
                                      <p:cBhvr additive="base">
                                        <p:cTn id="30" dur="500" fill="hold"/>
                                        <p:tgtEl>
                                          <p:spTgt spid="590857"/>
                                        </p:tgtEl>
                                        <p:attrNameLst>
                                          <p:attrName>ppt_x</p:attrName>
                                        </p:attrNameLst>
                                      </p:cBhvr>
                                      <p:tavLst>
                                        <p:tav tm="0">
                                          <p:val>
                                            <p:strVal val="#ppt_x"/>
                                          </p:val>
                                        </p:tav>
                                        <p:tav tm="100000">
                                          <p:val>
                                            <p:strVal val="#ppt_x"/>
                                          </p:val>
                                        </p:tav>
                                      </p:tavLst>
                                    </p:anim>
                                    <p:anim calcmode="lin" valueType="num">
                                      <p:cBhvr additive="base">
                                        <p:cTn id="31" dur="500" fill="hold"/>
                                        <p:tgtEl>
                                          <p:spTgt spid="59085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71"/>
                                        </p:tgtEl>
                                        <p:attrNameLst>
                                          <p:attrName>style.visibility</p:attrName>
                                        </p:attrNameLst>
                                      </p:cBhvr>
                                      <p:to>
                                        <p:strVal val="visible"/>
                                      </p:to>
                                    </p:set>
                                    <p:anim calcmode="lin" valueType="num">
                                      <p:cBhvr additive="base">
                                        <p:cTn id="36" dur="500" fill="hold"/>
                                        <p:tgtEl>
                                          <p:spTgt spid="171"/>
                                        </p:tgtEl>
                                        <p:attrNameLst>
                                          <p:attrName>ppt_x</p:attrName>
                                        </p:attrNameLst>
                                      </p:cBhvr>
                                      <p:tavLst>
                                        <p:tav tm="0">
                                          <p:val>
                                            <p:strVal val="0-#ppt_w/2"/>
                                          </p:val>
                                        </p:tav>
                                        <p:tav tm="100000">
                                          <p:val>
                                            <p:strVal val="#ppt_x"/>
                                          </p:val>
                                        </p:tav>
                                      </p:tavLst>
                                    </p:anim>
                                    <p:anim calcmode="lin" valueType="num">
                                      <p:cBhvr additive="base">
                                        <p:cTn id="37" dur="500" fill="hold"/>
                                        <p:tgtEl>
                                          <p:spTgt spid="171"/>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wipe(left)">
                                      <p:cBhvr>
                                        <p:cTn id="41" dur="500"/>
                                        <p:tgtEl>
                                          <p:spTgt spid="69"/>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wipe(left)">
                                      <p:cBhvr>
                                        <p:cTn id="45" dur="500"/>
                                        <p:tgtEl>
                                          <p:spTgt spid="72"/>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nodeType="click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box(in)">
                                      <p:cBhvr>
                                        <p:cTn id="50" dur="500"/>
                                        <p:tgtEl>
                                          <p:spTgt spid="75"/>
                                        </p:tgtEl>
                                      </p:cBhvr>
                                    </p:animEffect>
                                  </p:childTnLst>
                                </p:cTn>
                              </p:par>
                            </p:childTnLst>
                          </p:cTn>
                        </p:par>
                        <p:par>
                          <p:cTn id="51" fill="hold">
                            <p:stCondLst>
                              <p:cond delay="500"/>
                            </p:stCondLst>
                            <p:childTnLst>
                              <p:par>
                                <p:cTn id="52" presetID="3" presetClass="entr" presetSubtype="5" fill="hold" grpId="0" nodeType="afterEffect">
                                  <p:stCondLst>
                                    <p:cond delay="0"/>
                                  </p:stCondLst>
                                  <p:childTnLst>
                                    <p:set>
                                      <p:cBhvr>
                                        <p:cTn id="53" dur="1" fill="hold">
                                          <p:stCondLst>
                                            <p:cond delay="0"/>
                                          </p:stCondLst>
                                        </p:cTn>
                                        <p:tgtEl>
                                          <p:spTgt spid="76"/>
                                        </p:tgtEl>
                                        <p:attrNameLst>
                                          <p:attrName>style.visibility</p:attrName>
                                        </p:attrNameLst>
                                      </p:cBhvr>
                                      <p:to>
                                        <p:strVal val="visible"/>
                                      </p:to>
                                    </p:set>
                                    <p:animEffect transition="in" filter="blinds(vertical)">
                                      <p:cBhvr>
                                        <p:cTn id="54"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uiExpand="1" build="p"/>
      <p:bldP spid="171" grpId="0" animBg="1"/>
      <p:bldP spid="76"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推广</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0" name="Rectangle 6"/>
          <p:cNvSpPr>
            <a:spLocks noChangeArrowheads="1"/>
          </p:cNvSpPr>
          <p:nvPr/>
        </p:nvSpPr>
        <p:spPr bwMode="auto">
          <a:xfrm>
            <a:off x="469540" y="1830896"/>
            <a:ext cx="8174426"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多个杆件</a:t>
            </a:r>
            <a:endParaRPr lang="en-US" altLang="zh-CN" sz="2000" b="1">
              <a:latin typeface="Times New Roman" pitchFamily="18" charset="0"/>
              <a:cs typeface="Times New Roman" pitchFamily="18" charset="0"/>
            </a:endParaRPr>
          </a:p>
        </p:txBody>
      </p:sp>
      <p:graphicFrame>
        <p:nvGraphicFramePr>
          <p:cNvPr id="590858" name="Object 10"/>
          <p:cNvGraphicFramePr>
            <a:graphicFrameLocks noChangeAspect="1"/>
          </p:cNvGraphicFramePr>
          <p:nvPr/>
        </p:nvGraphicFramePr>
        <p:xfrm>
          <a:off x="1300176" y="2292350"/>
          <a:ext cx="5272088" cy="1065212"/>
        </p:xfrm>
        <a:graphic>
          <a:graphicData uri="http://schemas.openxmlformats.org/presentationml/2006/ole">
            <mc:AlternateContent xmlns:mc="http://schemas.openxmlformats.org/markup-compatibility/2006">
              <mc:Choice xmlns:v="urn:schemas-microsoft-com:vml" Requires="v">
                <p:oleObj spid="_x0000_s591882" name="Equation" r:id="rId4" imgW="3403440" imgH="685800" progId="Equation.DSMT4">
                  <p:embed/>
                </p:oleObj>
              </mc:Choice>
              <mc:Fallback>
                <p:oleObj name="Equation" r:id="rId4" imgW="3403440" imgH="6858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0176" y="2292350"/>
                        <a:ext cx="5272088" cy="106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Rectangle 6"/>
          <p:cNvSpPr>
            <a:spLocks noChangeArrowheads="1"/>
          </p:cNvSpPr>
          <p:nvPr/>
        </p:nvSpPr>
        <p:spPr bwMode="auto">
          <a:xfrm>
            <a:off x="469540" y="3334412"/>
            <a:ext cx="5531220" cy="3176254"/>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杆端截面分类</a:t>
            </a:r>
            <a:endParaRPr lang="en-US" altLang="zh-CN" sz="2000" b="1">
              <a:latin typeface="Times New Roman" pitchFamily="18" charset="0"/>
              <a:cs typeface="Times New Roman" pitchFamily="18" charset="0"/>
            </a:endParaRPr>
          </a:p>
          <a:p>
            <a:pPr marL="1200150" lvl="2" indent="-285750" algn="just" fontAlgn="base">
              <a:lnSpc>
                <a:spcPct val="120000"/>
              </a:lnSpc>
              <a:spcBef>
                <a:spcPct val="20000"/>
              </a:spcBef>
              <a:spcAft>
                <a:spcPct val="0"/>
              </a:spcAft>
              <a:buFont typeface="Arial" pitchFamily="34" charset="0"/>
              <a:buChar char="•"/>
            </a:pPr>
            <a:r>
              <a:rPr lang="zh-CN" altLang="en-US" sz="2000" b="1">
                <a:latin typeface="Times New Roman" pitchFamily="18" charset="0"/>
                <a:cs typeface="Times New Roman" pitchFamily="18" charset="0"/>
              </a:rPr>
              <a:t>内部截面：</a:t>
            </a:r>
            <a:r>
              <a:rPr lang="en-US" altLang="zh-CN" sz="2000" b="1" i="1">
                <a:latin typeface="Times New Roman" pitchFamily="18" charset="0"/>
                <a:cs typeface="Times New Roman" pitchFamily="18" charset="0"/>
              </a:rPr>
              <a:t>A</a:t>
            </a:r>
            <a:r>
              <a:rPr lang="en-US" altLang="zh-CN" sz="2000" b="1" baseline="-25000">
                <a:latin typeface="Times New Roman" pitchFamily="18" charset="0"/>
                <a:cs typeface="Times New Roman" pitchFamily="18" charset="0"/>
              </a:rPr>
              <a:t>1</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A</a:t>
            </a:r>
            <a:r>
              <a:rPr lang="en-US" altLang="zh-CN" sz="2000" b="1" baseline="-25000">
                <a:latin typeface="Times New Roman" pitchFamily="18" charset="0"/>
                <a:cs typeface="Times New Roman" pitchFamily="18" charset="0"/>
              </a:rPr>
              <a:t>2</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A</a:t>
            </a:r>
            <a:r>
              <a:rPr lang="en-US" altLang="zh-CN" sz="2000" b="1" baseline="-25000">
                <a:latin typeface="Times New Roman" pitchFamily="18" charset="0"/>
                <a:cs typeface="Times New Roman" pitchFamily="18" charset="0"/>
              </a:rPr>
              <a:t>3</a:t>
            </a:r>
          </a:p>
          <a:p>
            <a:pPr marL="1200150" lvl="2" indent="-285750" algn="just" fontAlgn="base">
              <a:lnSpc>
                <a:spcPct val="120000"/>
              </a:lnSpc>
              <a:spcAft>
                <a:spcPct val="0"/>
              </a:spcAft>
            </a:pPr>
            <a:r>
              <a:rPr lang="en-US" altLang="zh-CN" sz="2000" b="1">
                <a:latin typeface="Times New Roman" pitchFamily="18" charset="0"/>
                <a:cs typeface="Times New Roman" pitchFamily="18" charset="0"/>
              </a:rPr>
              <a:t>	</a:t>
            </a:r>
            <a:r>
              <a:rPr lang="zh-CN" altLang="en-US" b="1">
                <a:solidFill>
                  <a:srgbClr val="0033CC"/>
                </a:solidFill>
                <a:latin typeface="Times New Roman" pitchFamily="18" charset="0"/>
                <a:cs typeface="Times New Roman" pitchFamily="18" charset="0"/>
              </a:rPr>
              <a:t>结点内力满足平衡方程，</a:t>
            </a:r>
            <a:endParaRPr lang="en-US" altLang="zh-CN" b="1">
              <a:solidFill>
                <a:srgbClr val="0033CC"/>
              </a:solidFill>
              <a:latin typeface="Times New Roman" pitchFamily="18" charset="0"/>
              <a:cs typeface="Times New Roman" pitchFamily="18" charset="0"/>
            </a:endParaRPr>
          </a:p>
          <a:p>
            <a:pPr marL="1200150" lvl="2" indent="-285750" algn="just" fontAlgn="base">
              <a:spcAft>
                <a:spcPct val="0"/>
              </a:spcAft>
            </a:pPr>
            <a:r>
              <a:rPr lang="en-US" altLang="zh-CN" b="1">
                <a:solidFill>
                  <a:srgbClr val="0033CC"/>
                </a:solidFill>
                <a:latin typeface="Times New Roman" pitchFamily="18" charset="0"/>
                <a:cs typeface="Times New Roman" pitchFamily="18" charset="0"/>
              </a:rPr>
              <a:t>     </a:t>
            </a:r>
            <a:r>
              <a:rPr lang="zh-CN" altLang="en-US" b="1">
                <a:solidFill>
                  <a:srgbClr val="C00000"/>
                </a:solidFill>
                <a:latin typeface="Times New Roman" pitchFamily="18" charset="0"/>
                <a:cs typeface="Times New Roman" pitchFamily="18" charset="0"/>
              </a:rPr>
              <a:t>杆端力虚功总和为零；</a:t>
            </a:r>
            <a:endParaRPr lang="en-US" altLang="zh-CN" b="1" baseline="-25000">
              <a:solidFill>
                <a:srgbClr val="C00000"/>
              </a:solidFill>
              <a:latin typeface="Times New Roman" pitchFamily="18" charset="0"/>
              <a:cs typeface="Times New Roman" pitchFamily="18" charset="0"/>
            </a:endParaRPr>
          </a:p>
          <a:p>
            <a:pPr marL="1200150" lvl="2" indent="-285750" algn="just" fontAlgn="base">
              <a:lnSpc>
                <a:spcPct val="120000"/>
              </a:lnSpc>
              <a:spcBef>
                <a:spcPct val="20000"/>
              </a:spcBef>
              <a:spcAft>
                <a:spcPct val="0"/>
              </a:spcAft>
              <a:buFont typeface="Arial" pitchFamily="34" charset="0"/>
              <a:buChar char="•"/>
            </a:pPr>
            <a:r>
              <a:rPr lang="zh-CN" altLang="en-US" sz="2000" b="1">
                <a:solidFill>
                  <a:srgbClr val="000000"/>
                </a:solidFill>
                <a:latin typeface="Times New Roman" pitchFamily="18" charset="0"/>
                <a:cs typeface="Times New Roman" pitchFamily="18" charset="0"/>
              </a:rPr>
              <a:t>边界截面：</a:t>
            </a:r>
            <a:r>
              <a:rPr lang="en-US" altLang="zh-CN" sz="2000" b="1" i="1">
                <a:solidFill>
                  <a:srgbClr val="000000"/>
                </a:solidFill>
                <a:latin typeface="Times New Roman" pitchFamily="18" charset="0"/>
                <a:cs typeface="Times New Roman" pitchFamily="18" charset="0"/>
              </a:rPr>
              <a:t>B</a:t>
            </a:r>
            <a:r>
              <a:rPr lang="zh-CN" altLang="en-US" sz="2000" b="1" i="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C</a:t>
            </a:r>
            <a:r>
              <a:rPr lang="zh-CN" altLang="en-US" sz="2000" b="1" i="1">
                <a:solidFill>
                  <a:srgbClr val="000000"/>
                </a:solidFill>
                <a:latin typeface="Times New Roman" pitchFamily="18" charset="0"/>
                <a:cs typeface="Times New Roman" pitchFamily="18" charset="0"/>
              </a:rPr>
              <a:t>、</a:t>
            </a:r>
            <a:r>
              <a:rPr lang="en-US" altLang="zh-CN" sz="2000" b="1" i="1">
                <a:solidFill>
                  <a:srgbClr val="000000"/>
                </a:solidFill>
                <a:latin typeface="Times New Roman" pitchFamily="18" charset="0"/>
                <a:cs typeface="Times New Roman" pitchFamily="18" charset="0"/>
              </a:rPr>
              <a:t>D</a:t>
            </a:r>
          </a:p>
          <a:p>
            <a:pPr marL="1200150" lvl="2" indent="-285750" algn="just" fontAlgn="base">
              <a:lnSpc>
                <a:spcPct val="120000"/>
              </a:lnSpc>
              <a:spcBef>
                <a:spcPct val="20000"/>
              </a:spcBef>
              <a:spcAft>
                <a:spcPct val="0"/>
              </a:spcAft>
            </a:pPr>
            <a:r>
              <a:rPr lang="en-US" altLang="zh-CN" sz="2000" b="1" i="1">
                <a:solidFill>
                  <a:srgbClr val="000000"/>
                </a:solidFill>
                <a:latin typeface="Times New Roman" pitchFamily="18" charset="0"/>
                <a:cs typeface="Times New Roman" pitchFamily="18" charset="0"/>
              </a:rPr>
              <a:t>	</a:t>
            </a:r>
            <a:r>
              <a:rPr lang="en-US" altLang="zh-CN" b="1" i="1">
                <a:latin typeface="Times New Roman" pitchFamily="18" charset="0"/>
                <a:cs typeface="Times New Roman" pitchFamily="18" charset="0"/>
              </a:rPr>
              <a:t>B</a:t>
            </a:r>
            <a:r>
              <a:rPr lang="zh-CN" altLang="en-US" b="1" i="1">
                <a:latin typeface="Times New Roman" pitchFamily="18" charset="0"/>
                <a:cs typeface="Times New Roman" pitchFamily="18" charset="0"/>
              </a:rPr>
              <a:t>、</a:t>
            </a:r>
            <a:r>
              <a:rPr lang="en-US" altLang="zh-CN" b="1" i="1">
                <a:latin typeface="Times New Roman" pitchFamily="18" charset="0"/>
                <a:cs typeface="Times New Roman" pitchFamily="18" charset="0"/>
              </a:rPr>
              <a:t>C</a:t>
            </a:r>
            <a:r>
              <a:rPr lang="zh-CN" altLang="en-US" b="1">
                <a:latin typeface="Times New Roman" pitchFamily="18" charset="0"/>
                <a:cs typeface="Times New Roman" pitchFamily="18" charset="0"/>
              </a:rPr>
              <a:t>处杆端力虚功：</a:t>
            </a:r>
            <a:endParaRPr lang="en-US" altLang="zh-CN" b="1">
              <a:latin typeface="Times New Roman" pitchFamily="18" charset="0"/>
              <a:cs typeface="Times New Roman" pitchFamily="18" charset="0"/>
            </a:endParaRPr>
          </a:p>
          <a:p>
            <a:pPr marL="1200150" lvl="2" indent="-285750" algn="just" fontAlgn="base">
              <a:lnSpc>
                <a:spcPct val="120000"/>
              </a:lnSpc>
              <a:spcBef>
                <a:spcPct val="20000"/>
              </a:spcBef>
              <a:spcAft>
                <a:spcPct val="0"/>
              </a:spcAft>
            </a:pPr>
            <a:r>
              <a:rPr lang="en-US" altLang="zh-CN" b="1" i="1">
                <a:latin typeface="Times New Roman" pitchFamily="18" charset="0"/>
                <a:cs typeface="Times New Roman" pitchFamily="18" charset="0"/>
              </a:rPr>
              <a:t>     D</a:t>
            </a:r>
            <a:r>
              <a:rPr lang="zh-CN" altLang="en-US" b="1">
                <a:latin typeface="Times New Roman" pitchFamily="18" charset="0"/>
                <a:cs typeface="Times New Roman" pitchFamily="18" charset="0"/>
              </a:rPr>
              <a:t>处杆端力虚功：</a:t>
            </a:r>
            <a:endParaRPr lang="en-US" altLang="zh-CN" b="1">
              <a:latin typeface="Times New Roman" pitchFamily="18" charset="0"/>
              <a:cs typeface="Times New Roman" pitchFamily="18" charset="0"/>
            </a:endParaRPr>
          </a:p>
          <a:p>
            <a:pPr marL="1200150" lvl="2" indent="-285750" algn="just" fontAlgn="base">
              <a:lnSpc>
                <a:spcPct val="120000"/>
              </a:lnSpc>
              <a:spcBef>
                <a:spcPct val="20000"/>
              </a:spcBef>
              <a:spcAft>
                <a:spcPct val="0"/>
              </a:spcAft>
            </a:pPr>
            <a:r>
              <a:rPr lang="zh-CN" altLang="en-US" b="1">
                <a:solidFill>
                  <a:srgbClr val="C00000"/>
                </a:solidFill>
                <a:latin typeface="Times New Roman" pitchFamily="18" charset="0"/>
                <a:cs typeface="Times New Roman" pitchFamily="18" charset="0"/>
              </a:rPr>
              <a:t>     杆端力虚功总和为结构边界外力的虚功；</a:t>
            </a:r>
            <a:endParaRPr lang="en-US" altLang="zh-CN" b="1" baseline="-25000">
              <a:latin typeface="Times New Roman" pitchFamily="18" charset="0"/>
              <a:cs typeface="Times New Roman" pitchFamily="18" charset="0"/>
            </a:endParaRPr>
          </a:p>
        </p:txBody>
      </p:sp>
      <p:grpSp>
        <p:nvGrpSpPr>
          <p:cNvPr id="66" name="组合 65"/>
          <p:cNvGrpSpPr/>
          <p:nvPr/>
        </p:nvGrpSpPr>
        <p:grpSpPr>
          <a:xfrm>
            <a:off x="4143372" y="2928934"/>
            <a:ext cx="2428892" cy="785818"/>
            <a:chOff x="4143372" y="2928934"/>
            <a:chExt cx="2428892" cy="785818"/>
          </a:xfrm>
        </p:grpSpPr>
        <p:sp>
          <p:nvSpPr>
            <p:cNvPr id="61" name="矩形 60"/>
            <p:cNvSpPr/>
            <p:nvPr/>
          </p:nvSpPr>
          <p:spPr bwMode="auto">
            <a:xfrm>
              <a:off x="6396050" y="2928934"/>
              <a:ext cx="176214" cy="357190"/>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65" name="TextBox 64"/>
            <p:cNvSpPr txBox="1"/>
            <p:nvPr/>
          </p:nvSpPr>
          <p:spPr>
            <a:xfrm>
              <a:off x="4143372" y="3345420"/>
              <a:ext cx="2262158" cy="369332"/>
            </a:xfrm>
            <a:prstGeom prst="rect">
              <a:avLst/>
            </a:prstGeom>
            <a:noFill/>
            <a:ln w="28575">
              <a:noFill/>
            </a:ln>
          </p:spPr>
          <p:txBody>
            <a:bodyPr wrap="none" rtlCol="0">
              <a:spAutoFit/>
            </a:bodyPr>
            <a:lstStyle/>
            <a:p>
              <a:r>
                <a:rPr lang="zh-CN" altLang="en-US" b="1">
                  <a:solidFill>
                    <a:srgbClr val="0033CC"/>
                  </a:solidFill>
                </a:rPr>
                <a:t>与集中力相应的位移</a:t>
              </a:r>
            </a:p>
          </p:txBody>
        </p:sp>
      </p:grpSp>
      <p:pic>
        <p:nvPicPr>
          <p:cNvPr id="591879" name="Picture 7"/>
          <p:cNvPicPr>
            <a:picLocks noChangeAspect="1" noChangeArrowheads="1"/>
          </p:cNvPicPr>
          <p:nvPr/>
        </p:nvPicPr>
        <p:blipFill>
          <a:blip r:embed="rId6"/>
          <a:srcRect/>
          <a:stretch>
            <a:fillRect/>
          </a:stretch>
        </p:blipFill>
        <p:spPr bwMode="auto">
          <a:xfrm>
            <a:off x="6215074" y="3857628"/>
            <a:ext cx="2522311" cy="1928826"/>
          </a:xfrm>
          <a:prstGeom prst="rect">
            <a:avLst/>
          </a:prstGeom>
          <a:noFill/>
          <a:ln w="9525">
            <a:noFill/>
            <a:miter lim="800000"/>
            <a:headEnd/>
            <a:tailEnd/>
          </a:ln>
          <a:effectLst/>
        </p:spPr>
      </p:pic>
      <p:grpSp>
        <p:nvGrpSpPr>
          <p:cNvPr id="99" name="组合 98"/>
          <p:cNvGrpSpPr/>
          <p:nvPr/>
        </p:nvGrpSpPr>
        <p:grpSpPr>
          <a:xfrm>
            <a:off x="6572264" y="1428736"/>
            <a:ext cx="2426685" cy="2020902"/>
            <a:chOff x="6774541" y="1428736"/>
            <a:chExt cx="2426685" cy="2020902"/>
          </a:xfrm>
        </p:grpSpPr>
        <p:grpSp>
          <p:nvGrpSpPr>
            <p:cNvPr id="77" name="组合 76"/>
            <p:cNvGrpSpPr/>
            <p:nvPr/>
          </p:nvGrpSpPr>
          <p:grpSpPr>
            <a:xfrm>
              <a:off x="7643834" y="2214554"/>
              <a:ext cx="642942" cy="428628"/>
              <a:chOff x="7643834" y="2214554"/>
              <a:chExt cx="642942" cy="428628"/>
            </a:xfrm>
          </p:grpSpPr>
          <p:cxnSp>
            <p:nvCxnSpPr>
              <p:cNvPr id="69" name="直接连接符 68"/>
              <p:cNvCxnSpPr/>
              <p:nvPr/>
            </p:nvCxnSpPr>
            <p:spPr bwMode="auto">
              <a:xfrm>
                <a:off x="7643834" y="2214554"/>
                <a:ext cx="642942"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72" name="直接连接符 71"/>
              <p:cNvCxnSpPr/>
              <p:nvPr/>
            </p:nvCxnSpPr>
            <p:spPr bwMode="auto">
              <a:xfrm rot="5400000">
                <a:off x="7766866" y="2428074"/>
                <a:ext cx="428628"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grpSp>
        <p:grpSp>
          <p:nvGrpSpPr>
            <p:cNvPr id="78" name="组合 149"/>
            <p:cNvGrpSpPr/>
            <p:nvPr/>
          </p:nvGrpSpPr>
          <p:grpSpPr>
            <a:xfrm>
              <a:off x="6774541" y="1428736"/>
              <a:ext cx="940731" cy="1176815"/>
              <a:chOff x="472082" y="1776961"/>
              <a:chExt cx="1035254" cy="1176815"/>
            </a:xfrm>
          </p:grpSpPr>
          <p:cxnSp>
            <p:nvCxnSpPr>
              <p:cNvPr id="79" name="直接箭头连接符 78"/>
              <p:cNvCxnSpPr/>
              <p:nvPr/>
            </p:nvCxnSpPr>
            <p:spPr bwMode="auto">
              <a:xfrm>
                <a:off x="785786" y="2574842"/>
                <a:ext cx="571504" cy="1588"/>
              </a:xfrm>
              <a:prstGeom prst="straightConnector1">
                <a:avLst/>
              </a:prstGeom>
              <a:solidFill>
                <a:schemeClr val="accent1"/>
              </a:solidFill>
              <a:ln w="28575" cap="flat" cmpd="sng" algn="ctr">
                <a:solidFill>
                  <a:srgbClr val="0033CC"/>
                </a:solidFill>
                <a:prstDash val="solid"/>
                <a:round/>
                <a:headEnd type="arrow" w="med" len="med"/>
                <a:tailEnd type="none" w="med" len="med"/>
              </a:ln>
              <a:effectLst/>
            </p:spPr>
          </p:cxnSp>
          <p:cxnSp>
            <p:nvCxnSpPr>
              <p:cNvPr id="80" name="直接箭头连接符 79"/>
              <p:cNvCxnSpPr/>
              <p:nvPr/>
            </p:nvCxnSpPr>
            <p:spPr bwMode="auto">
              <a:xfrm rot="5400000">
                <a:off x="1106084" y="2310742"/>
                <a:ext cx="504000" cy="1588"/>
              </a:xfrm>
              <a:prstGeom prst="straightConnector1">
                <a:avLst/>
              </a:prstGeom>
              <a:solidFill>
                <a:schemeClr val="accent1"/>
              </a:solidFill>
              <a:ln w="28575" cap="flat" cmpd="sng" algn="ctr">
                <a:solidFill>
                  <a:srgbClr val="0033CC"/>
                </a:solidFill>
                <a:prstDash val="solid"/>
                <a:round/>
                <a:headEnd type="arrow" w="med" len="med"/>
                <a:tailEnd type="none" w="med" len="med"/>
              </a:ln>
              <a:effectLst/>
            </p:spPr>
          </p:cxnSp>
          <p:sp>
            <p:nvSpPr>
              <p:cNvPr id="81" name="弧形 80"/>
              <p:cNvSpPr/>
              <p:nvPr/>
            </p:nvSpPr>
            <p:spPr bwMode="auto">
              <a:xfrm flipH="1">
                <a:off x="1026995" y="2312605"/>
                <a:ext cx="428628" cy="500066"/>
              </a:xfrm>
              <a:prstGeom prst="arc">
                <a:avLst>
                  <a:gd name="adj1" fmla="val 16200000"/>
                  <a:gd name="adj2" fmla="val 5675444"/>
                </a:avLst>
              </a:prstGeom>
              <a:noFill/>
              <a:ln w="28575" cap="flat" cmpd="sng" algn="ctr">
                <a:solidFill>
                  <a:srgbClr val="0033CC"/>
                </a:solidFill>
                <a:prstDash val="solid"/>
                <a:round/>
                <a:headEnd type="none" w="med" len="med"/>
                <a:tailEnd type="arrow" w="med" len="med"/>
              </a:ln>
              <a:effectLst/>
            </p:spPr>
            <p:txBody>
              <a:bodyPr rtlCol="0" anchor="ctr"/>
              <a:lstStyle/>
              <a:p>
                <a:pPr algn="ctr"/>
                <a:endParaRPr lang="zh-CN" altLang="en-US">
                  <a:solidFill>
                    <a:srgbClr val="0033CC"/>
                  </a:solidFill>
                </a:endParaRPr>
              </a:p>
            </p:txBody>
          </p:sp>
          <p:sp>
            <p:nvSpPr>
              <p:cNvPr id="82" name="TextBox 81"/>
              <p:cNvSpPr txBox="1"/>
              <p:nvPr/>
            </p:nvSpPr>
            <p:spPr>
              <a:xfrm>
                <a:off x="472082" y="2584444"/>
                <a:ext cx="691868"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1</a:t>
                </a:r>
                <a:endParaRPr lang="zh-CN" altLang="en-US" b="1">
                  <a:solidFill>
                    <a:srgbClr val="0033CC"/>
                  </a:solidFill>
                  <a:latin typeface="Times New Roman" pitchFamily="18" charset="0"/>
                  <a:cs typeface="Times New Roman" pitchFamily="18" charset="0"/>
                </a:endParaRPr>
              </a:p>
            </p:txBody>
          </p:sp>
          <p:sp>
            <p:nvSpPr>
              <p:cNvPr id="83" name="TextBox 82"/>
              <p:cNvSpPr txBox="1"/>
              <p:nvPr/>
            </p:nvSpPr>
            <p:spPr>
              <a:xfrm>
                <a:off x="804883" y="1776961"/>
                <a:ext cx="702453"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1</a:t>
                </a:r>
                <a:endParaRPr lang="zh-CN" altLang="en-US" b="1">
                  <a:solidFill>
                    <a:srgbClr val="0033CC"/>
                  </a:solidFill>
                  <a:latin typeface="Times New Roman" pitchFamily="18" charset="0"/>
                  <a:cs typeface="Times New Roman" pitchFamily="18" charset="0"/>
                </a:endParaRPr>
              </a:p>
            </p:txBody>
          </p:sp>
          <p:sp>
            <p:nvSpPr>
              <p:cNvPr id="84" name="TextBox 83"/>
              <p:cNvSpPr txBox="1"/>
              <p:nvPr/>
            </p:nvSpPr>
            <p:spPr>
              <a:xfrm>
                <a:off x="500034" y="2130416"/>
                <a:ext cx="626598"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1</a:t>
                </a:r>
                <a:endParaRPr lang="zh-CN" altLang="en-US" b="1">
                  <a:solidFill>
                    <a:srgbClr val="0033CC"/>
                  </a:solidFill>
                  <a:latin typeface="Times New Roman" pitchFamily="18" charset="0"/>
                  <a:cs typeface="Times New Roman" pitchFamily="18" charset="0"/>
                </a:endParaRPr>
              </a:p>
            </p:txBody>
          </p:sp>
        </p:grpSp>
        <p:grpSp>
          <p:nvGrpSpPr>
            <p:cNvPr id="85" name="组合 150"/>
            <p:cNvGrpSpPr/>
            <p:nvPr/>
          </p:nvGrpSpPr>
          <p:grpSpPr>
            <a:xfrm flipH="1">
              <a:off x="8215338" y="1571612"/>
              <a:ext cx="985888" cy="1390660"/>
              <a:chOff x="421061" y="1945237"/>
              <a:chExt cx="1084947" cy="1390660"/>
            </a:xfrm>
          </p:grpSpPr>
          <p:cxnSp>
            <p:nvCxnSpPr>
              <p:cNvPr id="86" name="直接箭头连接符 85"/>
              <p:cNvCxnSpPr/>
              <p:nvPr/>
            </p:nvCxnSpPr>
            <p:spPr bwMode="auto">
              <a:xfrm>
                <a:off x="785786" y="2574842"/>
                <a:ext cx="571504" cy="1588"/>
              </a:xfrm>
              <a:prstGeom prst="straightConnector1">
                <a:avLst/>
              </a:prstGeom>
              <a:solidFill>
                <a:schemeClr val="accent1"/>
              </a:solidFill>
              <a:ln w="28575" cap="flat" cmpd="sng" algn="ctr">
                <a:solidFill>
                  <a:srgbClr val="0033CC"/>
                </a:solidFill>
                <a:prstDash val="solid"/>
                <a:round/>
                <a:headEnd type="arrow" w="med" len="med"/>
                <a:tailEnd type="none" w="med" len="med"/>
              </a:ln>
              <a:effectLst/>
            </p:spPr>
          </p:cxnSp>
          <p:cxnSp>
            <p:nvCxnSpPr>
              <p:cNvPr id="87" name="直接箭头连接符 86"/>
              <p:cNvCxnSpPr/>
              <p:nvPr/>
            </p:nvCxnSpPr>
            <p:spPr bwMode="auto">
              <a:xfrm rot="5400000">
                <a:off x="1106084" y="2822751"/>
                <a:ext cx="504000" cy="1588"/>
              </a:xfrm>
              <a:prstGeom prst="straightConnector1">
                <a:avLst/>
              </a:prstGeom>
              <a:solidFill>
                <a:schemeClr val="accent1"/>
              </a:solidFill>
              <a:ln w="28575" cap="flat" cmpd="sng" algn="ctr">
                <a:solidFill>
                  <a:srgbClr val="0033CC"/>
                </a:solidFill>
                <a:prstDash val="solid"/>
                <a:round/>
                <a:headEnd type="none" w="med" len="med"/>
                <a:tailEnd type="arrow" w="med" len="med"/>
              </a:ln>
              <a:effectLst/>
            </p:spPr>
          </p:cxnSp>
          <p:sp>
            <p:nvSpPr>
              <p:cNvPr id="88" name="弧形 87"/>
              <p:cNvSpPr/>
              <p:nvPr/>
            </p:nvSpPr>
            <p:spPr bwMode="auto">
              <a:xfrm flipH="1">
                <a:off x="1026995" y="2312605"/>
                <a:ext cx="428628" cy="500066"/>
              </a:xfrm>
              <a:prstGeom prst="arc">
                <a:avLst>
                  <a:gd name="adj1" fmla="val 16200000"/>
                  <a:gd name="adj2" fmla="val 5675444"/>
                </a:avLst>
              </a:prstGeom>
              <a:noFill/>
              <a:ln w="28575" cap="flat" cmpd="sng" algn="ctr">
                <a:solidFill>
                  <a:srgbClr val="0033CC"/>
                </a:solidFill>
                <a:prstDash val="solid"/>
                <a:round/>
                <a:headEnd type="none" w="med" len="med"/>
                <a:tailEnd type="arrow" w="med" len="med"/>
              </a:ln>
              <a:effectLst/>
            </p:spPr>
            <p:txBody>
              <a:bodyPr rtlCol="0" anchor="ctr"/>
              <a:lstStyle/>
              <a:p>
                <a:pPr algn="ctr"/>
                <a:endParaRPr lang="zh-CN" altLang="en-US">
                  <a:solidFill>
                    <a:srgbClr val="0033CC"/>
                  </a:solidFill>
                </a:endParaRPr>
              </a:p>
            </p:txBody>
          </p:sp>
          <p:sp>
            <p:nvSpPr>
              <p:cNvPr id="89" name="TextBox 88"/>
              <p:cNvSpPr txBox="1"/>
              <p:nvPr/>
            </p:nvSpPr>
            <p:spPr>
              <a:xfrm>
                <a:off x="421061" y="2568099"/>
                <a:ext cx="691868"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3</a:t>
                </a:r>
                <a:endParaRPr lang="zh-CN" altLang="en-US" b="1">
                  <a:solidFill>
                    <a:srgbClr val="0033CC"/>
                  </a:solidFill>
                  <a:latin typeface="Times New Roman" pitchFamily="18" charset="0"/>
                  <a:cs typeface="Times New Roman" pitchFamily="18" charset="0"/>
                </a:endParaRPr>
              </a:p>
            </p:txBody>
          </p:sp>
          <p:sp>
            <p:nvSpPr>
              <p:cNvPr id="90" name="TextBox 89"/>
              <p:cNvSpPr txBox="1"/>
              <p:nvPr/>
            </p:nvSpPr>
            <p:spPr>
              <a:xfrm>
                <a:off x="719849" y="2966565"/>
                <a:ext cx="702452"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3</a:t>
                </a:r>
                <a:endParaRPr lang="zh-CN" altLang="en-US" b="1">
                  <a:solidFill>
                    <a:srgbClr val="0033CC"/>
                  </a:solidFill>
                  <a:latin typeface="Times New Roman" pitchFamily="18" charset="0"/>
                  <a:cs typeface="Times New Roman" pitchFamily="18" charset="0"/>
                </a:endParaRPr>
              </a:p>
            </p:txBody>
          </p:sp>
          <p:sp>
            <p:nvSpPr>
              <p:cNvPr id="91" name="TextBox 90"/>
              <p:cNvSpPr txBox="1"/>
              <p:nvPr/>
            </p:nvSpPr>
            <p:spPr>
              <a:xfrm>
                <a:off x="879411" y="1945237"/>
                <a:ext cx="626597"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3</a:t>
                </a:r>
                <a:endParaRPr lang="zh-CN" altLang="en-US" b="1">
                  <a:solidFill>
                    <a:srgbClr val="0033CC"/>
                  </a:solidFill>
                  <a:latin typeface="Times New Roman" pitchFamily="18" charset="0"/>
                  <a:cs typeface="Times New Roman" pitchFamily="18" charset="0"/>
                </a:endParaRPr>
              </a:p>
            </p:txBody>
          </p:sp>
        </p:grpSp>
        <p:grpSp>
          <p:nvGrpSpPr>
            <p:cNvPr id="92" name="组合 150"/>
            <p:cNvGrpSpPr/>
            <p:nvPr/>
          </p:nvGrpSpPr>
          <p:grpSpPr>
            <a:xfrm flipH="1">
              <a:off x="7015136" y="2605640"/>
              <a:ext cx="1549317" cy="843998"/>
              <a:chOff x="730435" y="2491899"/>
              <a:chExt cx="1704989" cy="843998"/>
            </a:xfrm>
          </p:grpSpPr>
          <p:cxnSp>
            <p:nvCxnSpPr>
              <p:cNvPr id="93" name="直接箭头连接符 92"/>
              <p:cNvCxnSpPr/>
              <p:nvPr/>
            </p:nvCxnSpPr>
            <p:spPr bwMode="auto">
              <a:xfrm>
                <a:off x="1371211" y="2574842"/>
                <a:ext cx="571504" cy="1588"/>
              </a:xfrm>
              <a:prstGeom prst="straightConnector1">
                <a:avLst/>
              </a:prstGeom>
              <a:solidFill>
                <a:schemeClr val="accent1"/>
              </a:solidFill>
              <a:ln w="28575" cap="flat" cmpd="sng" algn="ctr">
                <a:solidFill>
                  <a:srgbClr val="0033CC"/>
                </a:solidFill>
                <a:prstDash val="solid"/>
                <a:round/>
                <a:headEnd type="none" w="med" len="med"/>
                <a:tailEnd type="arrow" w="med" len="med"/>
              </a:ln>
              <a:effectLst/>
            </p:spPr>
          </p:cxnSp>
          <p:cxnSp>
            <p:nvCxnSpPr>
              <p:cNvPr id="94" name="直接箭头连接符 93"/>
              <p:cNvCxnSpPr/>
              <p:nvPr/>
            </p:nvCxnSpPr>
            <p:spPr bwMode="auto">
              <a:xfrm rot="5400000">
                <a:off x="1106084" y="2822751"/>
                <a:ext cx="504000" cy="1588"/>
              </a:xfrm>
              <a:prstGeom prst="straightConnector1">
                <a:avLst/>
              </a:prstGeom>
              <a:solidFill>
                <a:schemeClr val="accent1"/>
              </a:solidFill>
              <a:ln w="28575" cap="flat" cmpd="sng" algn="ctr">
                <a:solidFill>
                  <a:srgbClr val="0033CC"/>
                </a:solidFill>
                <a:prstDash val="solid"/>
                <a:round/>
                <a:headEnd type="none" w="med" len="med"/>
                <a:tailEnd type="arrow" w="med" len="med"/>
              </a:ln>
              <a:effectLst/>
            </p:spPr>
          </p:cxnSp>
          <p:sp>
            <p:nvSpPr>
              <p:cNvPr id="95" name="弧形 94"/>
              <p:cNvSpPr/>
              <p:nvPr/>
            </p:nvSpPr>
            <p:spPr bwMode="auto">
              <a:xfrm rot="16200000" flipH="1">
                <a:off x="1195036" y="2416728"/>
                <a:ext cx="389493" cy="550311"/>
              </a:xfrm>
              <a:prstGeom prst="arc">
                <a:avLst>
                  <a:gd name="adj1" fmla="val 16200000"/>
                  <a:gd name="adj2" fmla="val 5675444"/>
                </a:avLst>
              </a:prstGeom>
              <a:noFill/>
              <a:ln w="28575" cap="flat" cmpd="sng" algn="ctr">
                <a:solidFill>
                  <a:srgbClr val="0033CC"/>
                </a:solidFill>
                <a:prstDash val="solid"/>
                <a:round/>
                <a:headEnd type="arrow" w="med" len="med"/>
                <a:tailEnd type="none" w="med" len="med"/>
              </a:ln>
              <a:effectLst/>
            </p:spPr>
            <p:txBody>
              <a:bodyPr rtlCol="0" anchor="ctr"/>
              <a:lstStyle/>
              <a:p>
                <a:pPr algn="ctr"/>
                <a:endParaRPr lang="zh-CN" altLang="en-US">
                  <a:solidFill>
                    <a:srgbClr val="0033CC"/>
                  </a:solidFill>
                </a:endParaRPr>
              </a:p>
            </p:txBody>
          </p:sp>
          <p:sp>
            <p:nvSpPr>
              <p:cNvPr id="96" name="TextBox 95"/>
              <p:cNvSpPr txBox="1"/>
              <p:nvPr/>
            </p:nvSpPr>
            <p:spPr>
              <a:xfrm>
                <a:off x="1732971" y="2491899"/>
                <a:ext cx="702453"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Q</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2</a:t>
                </a:r>
                <a:endParaRPr lang="zh-CN" altLang="en-US" b="1">
                  <a:solidFill>
                    <a:srgbClr val="0033CC"/>
                  </a:solidFill>
                  <a:latin typeface="Times New Roman" pitchFamily="18" charset="0"/>
                  <a:cs typeface="Times New Roman" pitchFamily="18" charset="0"/>
                </a:endParaRPr>
              </a:p>
            </p:txBody>
          </p:sp>
          <p:sp>
            <p:nvSpPr>
              <p:cNvPr id="97" name="TextBox 96"/>
              <p:cNvSpPr txBox="1"/>
              <p:nvPr/>
            </p:nvSpPr>
            <p:spPr>
              <a:xfrm>
                <a:off x="730435" y="2966565"/>
                <a:ext cx="691868"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N</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2</a:t>
                </a:r>
                <a:endParaRPr lang="zh-CN" altLang="en-US" b="1">
                  <a:solidFill>
                    <a:srgbClr val="0033CC"/>
                  </a:solidFill>
                  <a:latin typeface="Times New Roman" pitchFamily="18" charset="0"/>
                  <a:cs typeface="Times New Roman" pitchFamily="18" charset="0"/>
                </a:endParaRPr>
              </a:p>
            </p:txBody>
          </p:sp>
          <p:sp>
            <p:nvSpPr>
              <p:cNvPr id="98" name="TextBox 97"/>
              <p:cNvSpPr txBox="1"/>
              <p:nvPr/>
            </p:nvSpPr>
            <p:spPr>
              <a:xfrm>
                <a:off x="1338829" y="2731055"/>
                <a:ext cx="626598"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M</a:t>
                </a:r>
                <a:r>
                  <a:rPr lang="en-US" altLang="zh-CN" b="1" i="1" baseline="-25000">
                    <a:solidFill>
                      <a:srgbClr val="0033CC"/>
                    </a:solidFill>
                    <a:latin typeface="Times New Roman" pitchFamily="18" charset="0"/>
                    <a:cs typeface="Times New Roman" pitchFamily="18" charset="0"/>
                  </a:rPr>
                  <a:t>A</a:t>
                </a:r>
                <a:r>
                  <a:rPr lang="en-US" altLang="zh-CN" b="1" baseline="-25000">
                    <a:solidFill>
                      <a:srgbClr val="0033CC"/>
                    </a:solidFill>
                    <a:latin typeface="Times New Roman" pitchFamily="18" charset="0"/>
                    <a:cs typeface="Times New Roman" pitchFamily="18" charset="0"/>
                  </a:rPr>
                  <a:t>2</a:t>
                </a:r>
                <a:endParaRPr lang="zh-CN" altLang="en-US" b="1">
                  <a:solidFill>
                    <a:srgbClr val="0033CC"/>
                  </a:solidFill>
                  <a:latin typeface="Times New Roman" pitchFamily="18" charset="0"/>
                  <a:cs typeface="Times New Roman" pitchFamily="18" charset="0"/>
                </a:endParaRPr>
              </a:p>
            </p:txBody>
          </p:sp>
        </p:grpSp>
      </p:grpSp>
      <p:grpSp>
        <p:nvGrpSpPr>
          <p:cNvPr id="124" name="组合 123"/>
          <p:cNvGrpSpPr/>
          <p:nvPr/>
        </p:nvGrpSpPr>
        <p:grpSpPr>
          <a:xfrm>
            <a:off x="5377568" y="4572008"/>
            <a:ext cx="837506" cy="1188488"/>
            <a:chOff x="5429256" y="4824422"/>
            <a:chExt cx="837506" cy="1188488"/>
          </a:xfrm>
        </p:grpSpPr>
        <p:grpSp>
          <p:nvGrpSpPr>
            <p:cNvPr id="119" name="组合 118"/>
            <p:cNvGrpSpPr/>
            <p:nvPr/>
          </p:nvGrpSpPr>
          <p:grpSpPr>
            <a:xfrm>
              <a:off x="5429256" y="4824422"/>
              <a:ext cx="654640" cy="873968"/>
              <a:chOff x="5429256" y="4824422"/>
              <a:chExt cx="654640" cy="873968"/>
            </a:xfrm>
          </p:grpSpPr>
          <p:cxnSp>
            <p:nvCxnSpPr>
              <p:cNvPr id="100" name="直接连接符 99"/>
              <p:cNvCxnSpPr/>
              <p:nvPr/>
            </p:nvCxnSpPr>
            <p:spPr bwMode="auto">
              <a:xfrm>
                <a:off x="5643570" y="5214950"/>
                <a:ext cx="428628"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sp>
            <p:nvSpPr>
              <p:cNvPr id="102" name="TextBox 101"/>
              <p:cNvSpPr txBox="1"/>
              <p:nvPr/>
            </p:nvSpPr>
            <p:spPr>
              <a:xfrm>
                <a:off x="5727708" y="482442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cxnSp>
            <p:nvCxnSpPr>
              <p:cNvPr id="108" name="直接连接符 107"/>
              <p:cNvCxnSpPr/>
              <p:nvPr/>
            </p:nvCxnSpPr>
            <p:spPr bwMode="auto">
              <a:xfrm rot="16200000" flipH="1">
                <a:off x="5561813" y="5355445"/>
                <a:ext cx="21431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06" name="椭圆 105"/>
              <p:cNvSpPr/>
              <p:nvPr/>
            </p:nvSpPr>
            <p:spPr bwMode="auto">
              <a:xfrm>
                <a:off x="5597532" y="5143512"/>
                <a:ext cx="142876" cy="14287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nvGrpSpPr>
              <p:cNvPr id="117" name="组合 116"/>
              <p:cNvGrpSpPr/>
              <p:nvPr/>
            </p:nvGrpSpPr>
            <p:grpSpPr>
              <a:xfrm>
                <a:off x="5429256" y="5542842"/>
                <a:ext cx="425896" cy="155548"/>
                <a:chOff x="5429256" y="5542842"/>
                <a:chExt cx="425896" cy="155548"/>
              </a:xfrm>
            </p:grpSpPr>
            <p:cxnSp>
              <p:nvCxnSpPr>
                <p:cNvPr id="109" name="直接连接符 108"/>
                <p:cNvCxnSpPr/>
                <p:nvPr/>
              </p:nvCxnSpPr>
              <p:spPr bwMode="auto">
                <a:xfrm>
                  <a:off x="5495152" y="5542842"/>
                  <a:ext cx="360000"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111" name="直接连接符 110"/>
                <p:cNvCxnSpPr/>
                <p:nvPr/>
              </p:nvCxnSpPr>
              <p:spPr bwMode="auto">
                <a:xfrm rot="5400000" flipH="1" flipV="1">
                  <a:off x="5429256" y="5555514"/>
                  <a:ext cx="142876" cy="1428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4" name="直接连接符 113"/>
                <p:cNvCxnSpPr/>
                <p:nvPr/>
              </p:nvCxnSpPr>
              <p:spPr bwMode="auto">
                <a:xfrm rot="5400000" flipH="1" flipV="1">
                  <a:off x="5517320" y="5555514"/>
                  <a:ext cx="142876" cy="1428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5" name="直接连接符 114"/>
                <p:cNvCxnSpPr/>
                <p:nvPr/>
              </p:nvCxnSpPr>
              <p:spPr bwMode="auto">
                <a:xfrm rot="5400000" flipH="1" flipV="1">
                  <a:off x="5616468" y="5555514"/>
                  <a:ext cx="142876" cy="1428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6" name="直接连接符 115"/>
                <p:cNvCxnSpPr/>
                <p:nvPr/>
              </p:nvCxnSpPr>
              <p:spPr bwMode="auto">
                <a:xfrm rot="5400000" flipH="1" flipV="1">
                  <a:off x="5703924" y="5555514"/>
                  <a:ext cx="142876" cy="142876"/>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118" name="椭圆 117"/>
              <p:cNvSpPr/>
              <p:nvPr/>
            </p:nvSpPr>
            <p:spPr bwMode="auto">
              <a:xfrm>
                <a:off x="5599842" y="5461908"/>
                <a:ext cx="142876" cy="14287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cxnSp>
          <p:nvCxnSpPr>
            <p:cNvPr id="121" name="直接箭头连接符 120"/>
            <p:cNvCxnSpPr/>
            <p:nvPr/>
          </p:nvCxnSpPr>
          <p:spPr bwMode="auto">
            <a:xfrm rot="5400000" flipH="1" flipV="1">
              <a:off x="5325598" y="5602140"/>
              <a:ext cx="684000" cy="2220"/>
            </a:xfrm>
            <a:prstGeom prst="straightConnector1">
              <a:avLst/>
            </a:prstGeom>
            <a:solidFill>
              <a:schemeClr val="accent1"/>
            </a:solidFill>
            <a:ln w="38100" cap="flat" cmpd="sng" algn="ctr">
              <a:solidFill>
                <a:srgbClr val="0033CC"/>
              </a:solidFill>
              <a:prstDash val="solid"/>
              <a:round/>
              <a:headEnd type="none" w="med" len="med"/>
              <a:tailEnd type="arrow"/>
            </a:ln>
            <a:effectLst/>
          </p:spPr>
        </p:cxnSp>
        <p:sp>
          <p:nvSpPr>
            <p:cNvPr id="123" name="TextBox 122"/>
            <p:cNvSpPr txBox="1"/>
            <p:nvPr/>
          </p:nvSpPr>
          <p:spPr>
            <a:xfrm>
              <a:off x="5715008" y="5643578"/>
              <a:ext cx="551754" cy="369332"/>
            </a:xfrm>
            <a:prstGeom prst="rect">
              <a:avLst/>
            </a:prstGeom>
            <a:noFill/>
            <a:ln w="28575">
              <a:noFill/>
            </a:ln>
          </p:spPr>
          <p:txBody>
            <a:bodyPr wrap="none" rtlCol="0">
              <a:spAutoFit/>
            </a:bodyPr>
            <a:lstStyle/>
            <a:p>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R</a:t>
              </a:r>
              <a:r>
                <a:rPr lang="en-US" altLang="zh-CN" b="1" i="1" baseline="-25000">
                  <a:solidFill>
                    <a:srgbClr val="0033CC"/>
                  </a:solidFill>
                  <a:latin typeface="Times New Roman" pitchFamily="18" charset="0"/>
                  <a:cs typeface="Times New Roman" pitchFamily="18" charset="0"/>
                </a:rPr>
                <a:t>B</a:t>
              </a:r>
              <a:endParaRPr lang="zh-CN" altLang="en-US" b="1">
                <a:solidFill>
                  <a:srgbClr val="0033CC"/>
                </a:solidFill>
                <a:latin typeface="Times New Roman" pitchFamily="18" charset="0"/>
                <a:cs typeface="Times New Roman" pitchFamily="18" charset="0"/>
              </a:endParaRPr>
            </a:p>
          </p:txBody>
        </p:sp>
      </p:grpSp>
      <p:graphicFrame>
        <p:nvGraphicFramePr>
          <p:cNvPr id="591880" name="Object 10"/>
          <p:cNvGraphicFramePr>
            <a:graphicFrameLocks noChangeAspect="1"/>
          </p:cNvGraphicFramePr>
          <p:nvPr/>
        </p:nvGraphicFramePr>
        <p:xfrm>
          <a:off x="3881439" y="5285644"/>
          <a:ext cx="904875" cy="395288"/>
        </p:xfrm>
        <a:graphic>
          <a:graphicData uri="http://schemas.openxmlformats.org/presentationml/2006/ole">
            <mc:AlternateContent xmlns:mc="http://schemas.openxmlformats.org/markup-compatibility/2006">
              <mc:Choice xmlns:v="urn:schemas-microsoft-com:vml" Requires="v">
                <p:oleObj spid="_x0000_s591883" name="Equation" r:id="rId7" imgW="583920" imgH="253800" progId="Equation.DSMT4">
                  <p:embed/>
                </p:oleObj>
              </mc:Choice>
              <mc:Fallback>
                <p:oleObj name="Equation" r:id="rId7" imgW="583920" imgH="253800" progId="Equation.DSMT4">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1439" y="5285644"/>
                        <a:ext cx="904875" cy="395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6" name="组合 145"/>
          <p:cNvGrpSpPr/>
          <p:nvPr/>
        </p:nvGrpSpPr>
        <p:grpSpPr>
          <a:xfrm>
            <a:off x="6571872" y="5119795"/>
            <a:ext cx="857648" cy="1238163"/>
            <a:chOff x="6286512" y="4703309"/>
            <a:chExt cx="857648" cy="1238163"/>
          </a:xfrm>
        </p:grpSpPr>
        <p:grpSp>
          <p:nvGrpSpPr>
            <p:cNvPr id="126" name="组合 118"/>
            <p:cNvGrpSpPr/>
            <p:nvPr/>
          </p:nvGrpSpPr>
          <p:grpSpPr>
            <a:xfrm>
              <a:off x="6286512" y="4929198"/>
              <a:ext cx="473942" cy="400110"/>
              <a:chOff x="5598256" y="4824422"/>
              <a:chExt cx="473942" cy="400110"/>
            </a:xfrm>
          </p:grpSpPr>
          <p:cxnSp>
            <p:nvCxnSpPr>
              <p:cNvPr id="129" name="直接连接符 128"/>
              <p:cNvCxnSpPr/>
              <p:nvPr/>
            </p:nvCxnSpPr>
            <p:spPr bwMode="auto">
              <a:xfrm>
                <a:off x="5643570" y="5214950"/>
                <a:ext cx="428628" cy="1588"/>
              </a:xfrm>
              <a:prstGeom prst="line">
                <a:avLst/>
              </a:prstGeom>
              <a:solidFill>
                <a:schemeClr val="accent1"/>
              </a:solidFill>
              <a:ln w="57150" cap="flat" cmpd="sng" algn="ctr">
                <a:solidFill>
                  <a:schemeClr val="tx1"/>
                </a:solidFill>
                <a:prstDash val="solid"/>
                <a:round/>
                <a:headEnd type="none" w="med" len="med"/>
                <a:tailEnd type="none" w="med" len="med"/>
              </a:ln>
              <a:effectLst/>
            </p:spPr>
          </p:cxnSp>
          <p:sp>
            <p:nvSpPr>
              <p:cNvPr id="131" name="TextBox 130"/>
              <p:cNvSpPr txBox="1"/>
              <p:nvPr/>
            </p:nvSpPr>
            <p:spPr>
              <a:xfrm>
                <a:off x="5598256" y="4824422"/>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D</a:t>
                </a:r>
                <a:endParaRPr lang="zh-CN" altLang="en-US" sz="2000" b="1" i="1">
                  <a:latin typeface="Times New Roman" pitchFamily="18" charset="0"/>
                  <a:cs typeface="Times New Roman" pitchFamily="18" charset="0"/>
                </a:endParaRPr>
              </a:p>
            </p:txBody>
          </p:sp>
        </p:grpSp>
        <p:cxnSp>
          <p:nvCxnSpPr>
            <p:cNvPr id="141" name="直接箭头连接符 140"/>
            <p:cNvCxnSpPr/>
            <p:nvPr/>
          </p:nvCxnSpPr>
          <p:spPr bwMode="auto">
            <a:xfrm rot="5400000">
              <a:off x="6446413" y="5455470"/>
              <a:ext cx="456839" cy="205132"/>
            </a:xfrm>
            <a:prstGeom prst="straightConnector1">
              <a:avLst/>
            </a:prstGeom>
            <a:solidFill>
              <a:schemeClr val="accent1"/>
            </a:solidFill>
            <a:ln w="28575" cap="flat" cmpd="sng" algn="ctr">
              <a:solidFill>
                <a:srgbClr val="C00000"/>
              </a:solidFill>
              <a:prstDash val="solid"/>
              <a:round/>
              <a:headEnd type="none" w="med" len="med"/>
              <a:tailEnd type="arrow" w="med" len="med"/>
            </a:ln>
            <a:effectLst/>
          </p:spPr>
        </p:cxnSp>
        <p:sp>
          <p:nvSpPr>
            <p:cNvPr id="142" name="弧形 141"/>
            <p:cNvSpPr/>
            <p:nvPr/>
          </p:nvSpPr>
          <p:spPr bwMode="auto">
            <a:xfrm>
              <a:off x="6572656" y="5070677"/>
              <a:ext cx="389493" cy="500066"/>
            </a:xfrm>
            <a:prstGeom prst="arc">
              <a:avLst>
                <a:gd name="adj1" fmla="val 16200000"/>
                <a:gd name="adj2" fmla="val 5675444"/>
              </a:avLst>
            </a:prstGeom>
            <a:noFill/>
            <a:ln w="28575" cap="flat" cmpd="sng" algn="ctr">
              <a:solidFill>
                <a:srgbClr val="C00000"/>
              </a:solidFill>
              <a:prstDash val="solid"/>
              <a:round/>
              <a:headEnd type="none" w="med" len="med"/>
              <a:tailEnd type="arrow" w="med" len="med"/>
            </a:ln>
            <a:effectLst/>
          </p:spPr>
          <p:txBody>
            <a:bodyPr rtlCol="0" anchor="ctr"/>
            <a:lstStyle/>
            <a:p>
              <a:pPr algn="ctr"/>
              <a:endParaRPr lang="zh-CN" altLang="en-US"/>
            </a:p>
          </p:txBody>
        </p:sp>
        <p:sp>
          <p:nvSpPr>
            <p:cNvPr id="143" name="TextBox 142"/>
            <p:cNvSpPr txBox="1"/>
            <p:nvPr/>
          </p:nvSpPr>
          <p:spPr>
            <a:xfrm flipH="1">
              <a:off x="6574252" y="5572140"/>
              <a:ext cx="449162"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F</a:t>
              </a:r>
              <a:r>
                <a:rPr lang="en-US" altLang="zh-CN" b="1" i="1" baseline="-25000">
                  <a:solidFill>
                    <a:srgbClr val="C00000"/>
                  </a:solidFill>
                  <a:latin typeface="Times New Roman" pitchFamily="18" charset="0"/>
                  <a:cs typeface="Times New Roman" pitchFamily="18" charset="0"/>
                </a:rPr>
                <a:t>D</a:t>
              </a:r>
              <a:endParaRPr lang="zh-CN" altLang="en-US" b="1" i="1">
                <a:solidFill>
                  <a:srgbClr val="C00000"/>
                </a:solidFill>
                <a:latin typeface="Times New Roman" pitchFamily="18" charset="0"/>
                <a:cs typeface="Times New Roman" pitchFamily="18" charset="0"/>
              </a:endParaRPr>
            </a:p>
          </p:txBody>
        </p:sp>
        <p:sp>
          <p:nvSpPr>
            <p:cNvPr id="144" name="TextBox 143"/>
            <p:cNvSpPr txBox="1"/>
            <p:nvPr/>
          </p:nvSpPr>
          <p:spPr>
            <a:xfrm flipH="1">
              <a:off x="6643702" y="4703309"/>
              <a:ext cx="500458" cy="369332"/>
            </a:xfrm>
            <a:prstGeom prst="rect">
              <a:avLst/>
            </a:prstGeom>
            <a:noFill/>
            <a:ln w="28575">
              <a:noFill/>
            </a:ln>
          </p:spPr>
          <p:txBody>
            <a:bodyPr wrap="none" rtlCol="0">
              <a:spAutoFit/>
            </a:bodyPr>
            <a:lstStyle/>
            <a:p>
              <a:r>
                <a:rPr lang="en-US" altLang="zh-CN" b="1" i="1">
                  <a:solidFill>
                    <a:srgbClr val="C00000"/>
                  </a:solidFill>
                  <a:latin typeface="Times New Roman" pitchFamily="18" charset="0"/>
                  <a:cs typeface="Times New Roman" pitchFamily="18" charset="0"/>
                </a:rPr>
                <a:t>M</a:t>
              </a:r>
              <a:r>
                <a:rPr lang="en-US" altLang="zh-CN" b="1" i="1" baseline="-25000">
                  <a:solidFill>
                    <a:srgbClr val="C00000"/>
                  </a:solidFill>
                  <a:latin typeface="Times New Roman" pitchFamily="18" charset="0"/>
                  <a:cs typeface="Times New Roman" pitchFamily="18" charset="0"/>
                </a:rPr>
                <a:t>D</a:t>
              </a:r>
              <a:endParaRPr lang="zh-CN" altLang="en-US" b="1">
                <a:solidFill>
                  <a:srgbClr val="C00000"/>
                </a:solidFill>
                <a:latin typeface="Times New Roman" pitchFamily="18" charset="0"/>
                <a:cs typeface="Times New Roman" pitchFamily="18" charset="0"/>
              </a:endParaRPr>
            </a:p>
          </p:txBody>
        </p:sp>
      </p:grpSp>
      <p:graphicFrame>
        <p:nvGraphicFramePr>
          <p:cNvPr id="591881" name="Object 9"/>
          <p:cNvGraphicFramePr>
            <a:graphicFrameLocks noChangeAspect="1"/>
          </p:cNvGraphicFramePr>
          <p:nvPr/>
        </p:nvGraphicFramePr>
        <p:xfrm>
          <a:off x="3884815" y="5692523"/>
          <a:ext cx="1081088" cy="533400"/>
        </p:xfrm>
        <a:graphic>
          <a:graphicData uri="http://schemas.openxmlformats.org/presentationml/2006/ole">
            <mc:AlternateContent xmlns:mc="http://schemas.openxmlformats.org/markup-compatibility/2006">
              <mc:Choice xmlns:v="urn:schemas-microsoft-com:vml" Requires="v">
                <p:oleObj spid="_x0000_s591884" name="Equation" r:id="rId9" imgW="698400" imgH="342720" progId="Equation.DSMT4">
                  <p:embed/>
                </p:oleObj>
              </mc:Choice>
              <mc:Fallback>
                <p:oleObj name="Equation" r:id="rId9" imgW="698400" imgH="34272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4815" y="5692523"/>
                        <a:ext cx="1081088"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Effect transition="in" filter="wipe(up)">
                                      <p:cBhvr>
                                        <p:cTn id="7" dur="500"/>
                                        <p:tgtEl>
                                          <p:spTgt spid="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90858"/>
                                        </p:tgtEl>
                                        <p:attrNameLst>
                                          <p:attrName>style.visibility</p:attrName>
                                        </p:attrNameLst>
                                      </p:cBhvr>
                                      <p:to>
                                        <p:strVal val="visible"/>
                                      </p:to>
                                    </p:set>
                                    <p:anim calcmode="lin" valueType="num">
                                      <p:cBhvr additive="base">
                                        <p:cTn id="12" dur="500" fill="hold"/>
                                        <p:tgtEl>
                                          <p:spTgt spid="590858"/>
                                        </p:tgtEl>
                                        <p:attrNameLst>
                                          <p:attrName>ppt_x</p:attrName>
                                        </p:attrNameLst>
                                      </p:cBhvr>
                                      <p:tavLst>
                                        <p:tav tm="0">
                                          <p:val>
                                            <p:strVal val="#ppt_x"/>
                                          </p:val>
                                        </p:tav>
                                        <p:tav tm="100000">
                                          <p:val>
                                            <p:strVal val="#ppt_x"/>
                                          </p:val>
                                        </p:tav>
                                      </p:tavLst>
                                    </p:anim>
                                    <p:anim calcmode="lin" valueType="num">
                                      <p:cBhvr additive="base">
                                        <p:cTn id="13" dur="500" fill="hold"/>
                                        <p:tgtEl>
                                          <p:spTgt spid="590858"/>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down)">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0">
                                            <p:txEl>
                                              <p:pRg st="0" end="0"/>
                                            </p:txEl>
                                          </p:spTgt>
                                        </p:tgtEl>
                                        <p:attrNameLst>
                                          <p:attrName>style.visibility</p:attrName>
                                        </p:attrNameLst>
                                      </p:cBhvr>
                                      <p:to>
                                        <p:strVal val="visible"/>
                                      </p:to>
                                    </p:set>
                                    <p:animEffect transition="in" filter="wipe(up)">
                                      <p:cBhvr>
                                        <p:cTn id="22" dur="500"/>
                                        <p:tgtEl>
                                          <p:spTgt spid="6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0">
                                            <p:txEl>
                                              <p:pRg st="1" end="1"/>
                                            </p:txEl>
                                          </p:spTgt>
                                        </p:tgtEl>
                                        <p:attrNameLst>
                                          <p:attrName>style.visibility</p:attrName>
                                        </p:attrNameLst>
                                      </p:cBhvr>
                                      <p:to>
                                        <p:strVal val="visible"/>
                                      </p:to>
                                    </p:set>
                                    <p:animEffect transition="in" filter="wipe(up)">
                                      <p:cBhvr>
                                        <p:cTn id="27" dur="500"/>
                                        <p:tgtEl>
                                          <p:spTgt spid="60">
                                            <p:txEl>
                                              <p:pRg st="1" end="1"/>
                                            </p:txEl>
                                          </p:spTgt>
                                        </p:tgtEl>
                                      </p:cBhvr>
                                    </p:animEffect>
                                  </p:childTnLst>
                                </p:cTn>
                              </p:par>
                            </p:childTnLst>
                          </p:cTn>
                        </p:par>
                        <p:par>
                          <p:cTn id="28" fill="hold">
                            <p:stCondLst>
                              <p:cond delay="500"/>
                            </p:stCondLst>
                            <p:childTnLst>
                              <p:par>
                                <p:cTn id="29" presetID="5" presetClass="entr" presetSubtype="5" fill="hold" nodeType="after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checkerboard(down)">
                                      <p:cBhvr>
                                        <p:cTn id="31" dur="500"/>
                                        <p:tgtEl>
                                          <p:spTgt spid="99"/>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60">
                                            <p:txEl>
                                              <p:pRg st="2" end="2"/>
                                            </p:txEl>
                                          </p:spTgt>
                                        </p:tgtEl>
                                        <p:attrNameLst>
                                          <p:attrName>style.visibility</p:attrName>
                                        </p:attrNameLst>
                                      </p:cBhvr>
                                      <p:to>
                                        <p:strVal val="visible"/>
                                      </p:to>
                                    </p:set>
                                    <p:animEffect transition="in" filter="wipe(up)">
                                      <p:cBhvr>
                                        <p:cTn id="35" dur="500"/>
                                        <p:tgtEl>
                                          <p:spTgt spid="60">
                                            <p:txEl>
                                              <p:pRg st="2" end="2"/>
                                            </p:txEl>
                                          </p:spTgt>
                                        </p:tgtEl>
                                      </p:cBhvr>
                                    </p:animEffect>
                                  </p:childTnLst>
                                </p:cTn>
                              </p:par>
                            </p:childTnLst>
                          </p:cTn>
                        </p:par>
                        <p:par>
                          <p:cTn id="36" fill="hold">
                            <p:stCondLst>
                              <p:cond delay="1500"/>
                            </p:stCondLst>
                            <p:childTnLst>
                              <p:par>
                                <p:cTn id="37" presetID="22" presetClass="entr" presetSubtype="1" fill="hold" grpId="0" nodeType="afterEffect">
                                  <p:stCondLst>
                                    <p:cond delay="0"/>
                                  </p:stCondLst>
                                  <p:childTnLst>
                                    <p:set>
                                      <p:cBhvr>
                                        <p:cTn id="38" dur="1" fill="hold">
                                          <p:stCondLst>
                                            <p:cond delay="0"/>
                                          </p:stCondLst>
                                        </p:cTn>
                                        <p:tgtEl>
                                          <p:spTgt spid="60">
                                            <p:txEl>
                                              <p:pRg st="3" end="3"/>
                                            </p:txEl>
                                          </p:spTgt>
                                        </p:tgtEl>
                                        <p:attrNameLst>
                                          <p:attrName>style.visibility</p:attrName>
                                        </p:attrNameLst>
                                      </p:cBhvr>
                                      <p:to>
                                        <p:strVal val="visible"/>
                                      </p:to>
                                    </p:set>
                                    <p:animEffect transition="in" filter="wipe(up)">
                                      <p:cBhvr>
                                        <p:cTn id="39" dur="500"/>
                                        <p:tgtEl>
                                          <p:spTgt spid="60">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60">
                                            <p:txEl>
                                              <p:pRg st="4" end="4"/>
                                            </p:txEl>
                                          </p:spTgt>
                                        </p:tgtEl>
                                        <p:attrNameLst>
                                          <p:attrName>style.visibility</p:attrName>
                                        </p:attrNameLst>
                                      </p:cBhvr>
                                      <p:to>
                                        <p:strVal val="visible"/>
                                      </p:to>
                                    </p:set>
                                    <p:animEffect transition="in" filter="wipe(up)">
                                      <p:cBhvr>
                                        <p:cTn id="44" dur="500"/>
                                        <p:tgtEl>
                                          <p:spTgt spid="6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60">
                                            <p:txEl>
                                              <p:pRg st="5" end="5"/>
                                            </p:txEl>
                                          </p:spTgt>
                                        </p:tgtEl>
                                        <p:attrNameLst>
                                          <p:attrName>style.visibility</p:attrName>
                                        </p:attrNameLst>
                                      </p:cBhvr>
                                      <p:to>
                                        <p:strVal val="visible"/>
                                      </p:to>
                                    </p:set>
                                    <p:animEffect transition="in" filter="wipe(up)">
                                      <p:cBhvr>
                                        <p:cTn id="49" dur="500"/>
                                        <p:tgtEl>
                                          <p:spTgt spid="60">
                                            <p:txEl>
                                              <p:pRg st="5" end="5"/>
                                            </p:txEl>
                                          </p:spTgt>
                                        </p:tgtEl>
                                      </p:cBhvr>
                                    </p:animEffect>
                                  </p:childTnLst>
                                </p:cTn>
                              </p:par>
                            </p:childTnLst>
                          </p:cTn>
                        </p:par>
                        <p:par>
                          <p:cTn id="50" fill="hold">
                            <p:stCondLst>
                              <p:cond delay="500"/>
                            </p:stCondLst>
                            <p:childTnLst>
                              <p:par>
                                <p:cTn id="51" presetID="4" presetClass="entr" presetSubtype="16" fill="hold" nodeType="afterEffect">
                                  <p:stCondLst>
                                    <p:cond delay="0"/>
                                  </p:stCondLst>
                                  <p:childTnLst>
                                    <p:set>
                                      <p:cBhvr>
                                        <p:cTn id="52" dur="1" fill="hold">
                                          <p:stCondLst>
                                            <p:cond delay="0"/>
                                          </p:stCondLst>
                                        </p:cTn>
                                        <p:tgtEl>
                                          <p:spTgt spid="591879"/>
                                        </p:tgtEl>
                                        <p:attrNameLst>
                                          <p:attrName>style.visibility</p:attrName>
                                        </p:attrNameLst>
                                      </p:cBhvr>
                                      <p:to>
                                        <p:strVal val="visible"/>
                                      </p:to>
                                    </p:set>
                                    <p:animEffect transition="in" filter="box(in)">
                                      <p:cBhvr>
                                        <p:cTn id="53" dur="500"/>
                                        <p:tgtEl>
                                          <p:spTgt spid="591879"/>
                                        </p:tgtEl>
                                      </p:cBhvr>
                                    </p:animEffect>
                                  </p:childTnLst>
                                </p:cTn>
                              </p:par>
                            </p:childTnLst>
                          </p:cTn>
                        </p:par>
                        <p:par>
                          <p:cTn id="54" fill="hold">
                            <p:stCondLst>
                              <p:cond delay="1000"/>
                            </p:stCondLst>
                            <p:childTnLst>
                              <p:par>
                                <p:cTn id="55" presetID="2" presetClass="entr" presetSubtype="4" fill="hold" nodeType="afterEffect">
                                  <p:stCondLst>
                                    <p:cond delay="0"/>
                                  </p:stCondLst>
                                  <p:childTnLst>
                                    <p:set>
                                      <p:cBhvr>
                                        <p:cTn id="56" dur="1" fill="hold">
                                          <p:stCondLst>
                                            <p:cond delay="0"/>
                                          </p:stCondLst>
                                        </p:cTn>
                                        <p:tgtEl>
                                          <p:spTgt spid="124"/>
                                        </p:tgtEl>
                                        <p:attrNameLst>
                                          <p:attrName>style.visibility</p:attrName>
                                        </p:attrNameLst>
                                      </p:cBhvr>
                                      <p:to>
                                        <p:strVal val="visible"/>
                                      </p:to>
                                    </p:set>
                                    <p:anim calcmode="lin" valueType="num">
                                      <p:cBhvr additive="base">
                                        <p:cTn id="57" dur="500" fill="hold"/>
                                        <p:tgtEl>
                                          <p:spTgt spid="124"/>
                                        </p:tgtEl>
                                        <p:attrNameLst>
                                          <p:attrName>ppt_x</p:attrName>
                                        </p:attrNameLst>
                                      </p:cBhvr>
                                      <p:tavLst>
                                        <p:tav tm="0">
                                          <p:val>
                                            <p:strVal val="#ppt_x"/>
                                          </p:val>
                                        </p:tav>
                                        <p:tav tm="100000">
                                          <p:val>
                                            <p:strVal val="#ppt_x"/>
                                          </p:val>
                                        </p:tav>
                                      </p:tavLst>
                                    </p:anim>
                                    <p:anim calcmode="lin" valueType="num">
                                      <p:cBhvr additive="base">
                                        <p:cTn id="58" dur="500" fill="hold"/>
                                        <p:tgtEl>
                                          <p:spTgt spid="12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91880"/>
                                        </p:tgtEl>
                                        <p:attrNameLst>
                                          <p:attrName>style.visibility</p:attrName>
                                        </p:attrNameLst>
                                      </p:cBhvr>
                                      <p:to>
                                        <p:strVal val="visible"/>
                                      </p:to>
                                    </p:set>
                                    <p:anim calcmode="lin" valueType="num">
                                      <p:cBhvr additive="base">
                                        <p:cTn id="63" dur="500" fill="hold"/>
                                        <p:tgtEl>
                                          <p:spTgt spid="591880"/>
                                        </p:tgtEl>
                                        <p:attrNameLst>
                                          <p:attrName>ppt_x</p:attrName>
                                        </p:attrNameLst>
                                      </p:cBhvr>
                                      <p:tavLst>
                                        <p:tav tm="0">
                                          <p:val>
                                            <p:strVal val="#ppt_x"/>
                                          </p:val>
                                        </p:tav>
                                        <p:tav tm="100000">
                                          <p:val>
                                            <p:strVal val="#ppt_x"/>
                                          </p:val>
                                        </p:tav>
                                      </p:tavLst>
                                    </p:anim>
                                    <p:anim calcmode="lin" valueType="num">
                                      <p:cBhvr additive="base">
                                        <p:cTn id="64" dur="500" fill="hold"/>
                                        <p:tgtEl>
                                          <p:spTgt spid="59188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60">
                                            <p:txEl>
                                              <p:pRg st="6" end="6"/>
                                            </p:txEl>
                                          </p:spTgt>
                                        </p:tgtEl>
                                        <p:attrNameLst>
                                          <p:attrName>style.visibility</p:attrName>
                                        </p:attrNameLst>
                                      </p:cBhvr>
                                      <p:to>
                                        <p:strVal val="visible"/>
                                      </p:to>
                                    </p:set>
                                    <p:animEffect transition="in" filter="wipe(up)">
                                      <p:cBhvr>
                                        <p:cTn id="69" dur="500"/>
                                        <p:tgtEl>
                                          <p:spTgt spid="60">
                                            <p:txEl>
                                              <p:pRg st="6" end="6"/>
                                            </p:txEl>
                                          </p:spTgt>
                                        </p:tgtEl>
                                      </p:cBhvr>
                                    </p:animEffect>
                                  </p:childTnLst>
                                </p:cTn>
                              </p:par>
                            </p:childTnLst>
                          </p:cTn>
                        </p:par>
                        <p:par>
                          <p:cTn id="70" fill="hold">
                            <p:stCondLst>
                              <p:cond delay="500"/>
                            </p:stCondLst>
                            <p:childTnLst>
                              <p:par>
                                <p:cTn id="71" presetID="3" presetClass="entr" presetSubtype="10" fill="hold" nodeType="afterEffect">
                                  <p:stCondLst>
                                    <p:cond delay="0"/>
                                  </p:stCondLst>
                                  <p:childTnLst>
                                    <p:set>
                                      <p:cBhvr>
                                        <p:cTn id="72" dur="1" fill="hold">
                                          <p:stCondLst>
                                            <p:cond delay="0"/>
                                          </p:stCondLst>
                                        </p:cTn>
                                        <p:tgtEl>
                                          <p:spTgt spid="146"/>
                                        </p:tgtEl>
                                        <p:attrNameLst>
                                          <p:attrName>style.visibility</p:attrName>
                                        </p:attrNameLst>
                                      </p:cBhvr>
                                      <p:to>
                                        <p:strVal val="visible"/>
                                      </p:to>
                                    </p:set>
                                    <p:animEffect transition="in" filter="blinds(horizontal)">
                                      <p:cBhvr>
                                        <p:cTn id="73" dur="500"/>
                                        <p:tgtEl>
                                          <p:spTgt spid="146"/>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591881"/>
                                        </p:tgtEl>
                                        <p:attrNameLst>
                                          <p:attrName>style.visibility</p:attrName>
                                        </p:attrNameLst>
                                      </p:cBhvr>
                                      <p:to>
                                        <p:strVal val="visible"/>
                                      </p:to>
                                    </p:set>
                                    <p:anim calcmode="lin" valueType="num">
                                      <p:cBhvr additive="base">
                                        <p:cTn id="78" dur="500" fill="hold"/>
                                        <p:tgtEl>
                                          <p:spTgt spid="591881"/>
                                        </p:tgtEl>
                                        <p:attrNameLst>
                                          <p:attrName>ppt_x</p:attrName>
                                        </p:attrNameLst>
                                      </p:cBhvr>
                                      <p:tavLst>
                                        <p:tav tm="0">
                                          <p:val>
                                            <p:strVal val="#ppt_x"/>
                                          </p:val>
                                        </p:tav>
                                        <p:tav tm="100000">
                                          <p:val>
                                            <p:strVal val="#ppt_x"/>
                                          </p:val>
                                        </p:tav>
                                      </p:tavLst>
                                    </p:anim>
                                    <p:anim calcmode="lin" valueType="num">
                                      <p:cBhvr additive="base">
                                        <p:cTn id="79" dur="500" fill="hold"/>
                                        <p:tgtEl>
                                          <p:spTgt spid="591881"/>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60">
                                            <p:txEl>
                                              <p:pRg st="7" end="7"/>
                                            </p:txEl>
                                          </p:spTgt>
                                        </p:tgtEl>
                                        <p:attrNameLst>
                                          <p:attrName>style.visibility</p:attrName>
                                        </p:attrNameLst>
                                      </p:cBhvr>
                                      <p:to>
                                        <p:strVal val="visible"/>
                                      </p:to>
                                    </p:set>
                                    <p:animEffect transition="in" filter="wipe(up)">
                                      <p:cBhvr>
                                        <p:cTn id="84" dur="500"/>
                                        <p:tgtEl>
                                          <p:spTgt spid="6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P spid="60" grpId="0" uiExpand="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推广</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0" name="Rectangle 6"/>
          <p:cNvSpPr>
            <a:spLocks noChangeArrowheads="1"/>
          </p:cNvSpPr>
          <p:nvPr/>
        </p:nvSpPr>
        <p:spPr bwMode="auto">
          <a:xfrm>
            <a:off x="469540" y="1830896"/>
            <a:ext cx="817442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虚功方程的一般形式</a:t>
            </a:r>
            <a:endParaRPr lang="en-US" altLang="zh-CN" sz="2000" b="1">
              <a:latin typeface="Times New Roman" pitchFamily="18" charset="0"/>
              <a:cs typeface="Times New Roman" pitchFamily="18" charset="0"/>
            </a:endParaRPr>
          </a:p>
        </p:txBody>
      </p:sp>
      <p:graphicFrame>
        <p:nvGraphicFramePr>
          <p:cNvPr id="590858" name="Object 10"/>
          <p:cNvGraphicFramePr>
            <a:graphicFrameLocks noChangeAspect="1"/>
          </p:cNvGraphicFramePr>
          <p:nvPr/>
        </p:nvGraphicFramePr>
        <p:xfrm>
          <a:off x="1457325" y="2344738"/>
          <a:ext cx="6769100" cy="512762"/>
        </p:xfrm>
        <a:graphic>
          <a:graphicData uri="http://schemas.openxmlformats.org/presentationml/2006/ole">
            <mc:AlternateContent xmlns:mc="http://schemas.openxmlformats.org/markup-compatibility/2006">
              <mc:Choice xmlns:v="urn:schemas-microsoft-com:vml" Requires="v">
                <p:oleObj spid="_x0000_s592902" name="Equation" r:id="rId4" imgW="4368600" imgH="330120" progId="Equation.DSMT4">
                  <p:embed/>
                </p:oleObj>
              </mc:Choice>
              <mc:Fallback>
                <p:oleObj name="Equation" r:id="rId4" imgW="4368600" imgH="33012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7325" y="2344738"/>
                        <a:ext cx="6769100" cy="512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65"/>
          <p:cNvGrpSpPr/>
          <p:nvPr/>
        </p:nvGrpSpPr>
        <p:grpSpPr>
          <a:xfrm>
            <a:off x="857224" y="2428868"/>
            <a:ext cx="3416320" cy="797960"/>
            <a:chOff x="6035453" y="2726195"/>
            <a:chExt cx="3416320" cy="797960"/>
          </a:xfrm>
        </p:grpSpPr>
        <p:sp>
          <p:nvSpPr>
            <p:cNvPr id="61" name="矩形 60"/>
            <p:cNvSpPr/>
            <p:nvPr/>
          </p:nvSpPr>
          <p:spPr bwMode="auto">
            <a:xfrm>
              <a:off x="6955947" y="2726195"/>
              <a:ext cx="390528" cy="357190"/>
            </a:xfrm>
            <a:prstGeom prst="rect">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p>
          </p:txBody>
        </p:sp>
        <p:sp>
          <p:nvSpPr>
            <p:cNvPr id="65" name="TextBox 64"/>
            <p:cNvSpPr txBox="1"/>
            <p:nvPr/>
          </p:nvSpPr>
          <p:spPr>
            <a:xfrm>
              <a:off x="6035453" y="3154823"/>
              <a:ext cx="3416320" cy="369332"/>
            </a:xfrm>
            <a:prstGeom prst="rect">
              <a:avLst/>
            </a:prstGeom>
            <a:noFill/>
            <a:ln w="28575">
              <a:noFill/>
            </a:ln>
          </p:spPr>
          <p:txBody>
            <a:bodyPr wrap="none" rtlCol="0">
              <a:spAutoFit/>
            </a:bodyPr>
            <a:lstStyle/>
            <a:p>
              <a:r>
                <a:rPr lang="zh-CN" altLang="en-US" b="1">
                  <a:solidFill>
                    <a:srgbClr val="0033CC"/>
                  </a:solidFill>
                </a:rPr>
                <a:t>集中力、结构边界荷载做的虚功</a:t>
              </a:r>
            </a:p>
          </p:txBody>
        </p:sp>
      </p:grpSp>
      <p:grpSp>
        <p:nvGrpSpPr>
          <p:cNvPr id="64" name="组合 63"/>
          <p:cNvGrpSpPr/>
          <p:nvPr/>
        </p:nvGrpSpPr>
        <p:grpSpPr>
          <a:xfrm>
            <a:off x="4249535" y="2428868"/>
            <a:ext cx="2031325" cy="797393"/>
            <a:chOff x="4249535" y="2428868"/>
            <a:chExt cx="2031325" cy="797393"/>
          </a:xfrm>
        </p:grpSpPr>
        <p:sp>
          <p:nvSpPr>
            <p:cNvPr id="62" name="矩形 61"/>
            <p:cNvSpPr/>
            <p:nvPr/>
          </p:nvSpPr>
          <p:spPr bwMode="auto">
            <a:xfrm>
              <a:off x="4572000" y="2428868"/>
              <a:ext cx="571504" cy="357190"/>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sp>
          <p:nvSpPr>
            <p:cNvPr id="63" name="TextBox 62"/>
            <p:cNvSpPr txBox="1"/>
            <p:nvPr/>
          </p:nvSpPr>
          <p:spPr>
            <a:xfrm>
              <a:off x="4249535" y="2856929"/>
              <a:ext cx="2031325" cy="369332"/>
            </a:xfrm>
            <a:prstGeom prst="rect">
              <a:avLst/>
            </a:prstGeom>
            <a:noFill/>
            <a:ln w="28575">
              <a:noFill/>
            </a:ln>
          </p:spPr>
          <p:txBody>
            <a:bodyPr wrap="none" rtlCol="0">
              <a:spAutoFit/>
            </a:bodyPr>
            <a:lstStyle/>
            <a:p>
              <a:r>
                <a:rPr lang="zh-CN" altLang="en-US" b="1">
                  <a:solidFill>
                    <a:srgbClr val="C00000"/>
                  </a:solidFill>
                </a:rPr>
                <a:t>支座反力做的虚功</a:t>
              </a:r>
            </a:p>
          </p:txBody>
        </p:sp>
      </p:grpSp>
      <p:grpSp>
        <p:nvGrpSpPr>
          <p:cNvPr id="71" name="组合 70"/>
          <p:cNvGrpSpPr/>
          <p:nvPr/>
        </p:nvGrpSpPr>
        <p:grpSpPr>
          <a:xfrm>
            <a:off x="6038698" y="2094828"/>
            <a:ext cx="1462260" cy="658093"/>
            <a:chOff x="6038698" y="2094828"/>
            <a:chExt cx="1462260" cy="658093"/>
          </a:xfrm>
        </p:grpSpPr>
        <p:cxnSp>
          <p:nvCxnSpPr>
            <p:cNvPr id="68" name="直接连接符 67"/>
            <p:cNvCxnSpPr/>
            <p:nvPr/>
          </p:nvCxnSpPr>
          <p:spPr bwMode="auto">
            <a:xfrm>
              <a:off x="6203499" y="2751333"/>
              <a:ext cx="214314" cy="1588"/>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70" name="TextBox 69"/>
            <p:cNvSpPr txBox="1"/>
            <p:nvPr/>
          </p:nvSpPr>
          <p:spPr>
            <a:xfrm>
              <a:off x="6038698" y="2094828"/>
              <a:ext cx="1462260" cy="369332"/>
            </a:xfrm>
            <a:prstGeom prst="rect">
              <a:avLst/>
            </a:prstGeom>
            <a:noFill/>
            <a:ln w="28575">
              <a:noFill/>
            </a:ln>
          </p:spPr>
          <p:txBody>
            <a:bodyPr wrap="none" rtlCol="0">
              <a:spAutoFit/>
            </a:bodyPr>
            <a:lstStyle/>
            <a:p>
              <a:r>
                <a:rPr lang="zh-CN" altLang="en-US" b="1">
                  <a:solidFill>
                    <a:srgbClr val="00B050"/>
                  </a:solidFill>
                  <a:latin typeface="Times New Roman" pitchFamily="18" charset="0"/>
                  <a:cs typeface="Times New Roman" pitchFamily="18" charset="0"/>
                </a:rPr>
                <a:t>利用</a:t>
              </a:r>
              <a:r>
                <a:rPr lang="en-US" altLang="zh-CN" b="1">
                  <a:solidFill>
                    <a:srgbClr val="00B050"/>
                  </a:solidFill>
                  <a:latin typeface="Times New Roman" pitchFamily="18" charset="0"/>
                  <a:cs typeface="Times New Roman" pitchFamily="18" charset="0"/>
                </a:rPr>
                <a:t>d</a:t>
              </a:r>
              <a:r>
                <a:rPr lang="el-GR" altLang="zh-CN" b="1" i="1">
                  <a:solidFill>
                    <a:srgbClr val="00B050"/>
                  </a:solidFill>
                  <a:latin typeface="Times New Roman" pitchFamily="18" charset="0"/>
                  <a:cs typeface="Times New Roman" pitchFamily="18" charset="0"/>
                </a:rPr>
                <a:t>θ</a:t>
              </a:r>
              <a:r>
                <a:rPr lang="en-US" altLang="zh-CN" b="1" i="1">
                  <a:solidFill>
                    <a:srgbClr val="00B050"/>
                  </a:solidFill>
                  <a:latin typeface="Times New Roman" pitchFamily="18" charset="0"/>
                  <a:cs typeface="Times New Roman" pitchFamily="18" charset="0"/>
                </a:rPr>
                <a:t> </a:t>
              </a:r>
              <a:r>
                <a:rPr lang="en-US" altLang="zh-CN" b="1">
                  <a:solidFill>
                    <a:srgbClr val="00B050"/>
                  </a:solidFill>
                  <a:latin typeface="Times New Roman" pitchFamily="18" charset="0"/>
                  <a:cs typeface="Times New Roman" pitchFamily="18" charset="0"/>
                </a:rPr>
                <a:t>=</a:t>
              </a:r>
              <a:r>
                <a:rPr lang="en-US" altLang="zh-CN" b="1" baseline="-25000">
                  <a:solidFill>
                    <a:srgbClr val="00B050"/>
                  </a:solidFill>
                  <a:latin typeface="Times New Roman" pitchFamily="18" charset="0"/>
                  <a:cs typeface="Times New Roman" pitchFamily="18" charset="0"/>
                </a:rPr>
                <a:t> </a:t>
              </a:r>
              <a:r>
                <a:rPr lang="el-GR" altLang="zh-CN" b="1" i="1">
                  <a:solidFill>
                    <a:srgbClr val="00B050"/>
                  </a:solidFill>
                  <a:latin typeface="Times New Roman" pitchFamily="18" charset="0"/>
                  <a:cs typeface="Times New Roman" pitchFamily="18" charset="0"/>
                </a:rPr>
                <a:t>κ</a:t>
              </a:r>
              <a:r>
                <a:rPr lang="en-US" altLang="zh-CN" b="1">
                  <a:solidFill>
                    <a:srgbClr val="00B050"/>
                  </a:solidFill>
                  <a:latin typeface="Times New Roman" pitchFamily="18" charset="0"/>
                  <a:cs typeface="Times New Roman" pitchFamily="18" charset="0"/>
                </a:rPr>
                <a:t>d</a:t>
              </a:r>
              <a:r>
                <a:rPr lang="en-US" altLang="zh-CN" b="1" i="1">
                  <a:solidFill>
                    <a:srgbClr val="00B050"/>
                  </a:solidFill>
                  <a:latin typeface="Times New Roman" pitchFamily="18" charset="0"/>
                  <a:cs typeface="Times New Roman" pitchFamily="18" charset="0"/>
                </a:rPr>
                <a:t>s</a:t>
              </a:r>
              <a:endParaRPr lang="zh-CN" altLang="en-US" b="1" i="1">
                <a:solidFill>
                  <a:srgbClr val="00B050"/>
                </a:solidFill>
                <a:latin typeface="Times New Roman" pitchFamily="18" charset="0"/>
                <a:cs typeface="Times New Roman" pitchFamily="18" charset="0"/>
              </a:endParaRPr>
            </a:p>
          </p:txBody>
        </p:sp>
      </p:grpSp>
      <p:sp>
        <p:nvSpPr>
          <p:cNvPr id="73" name="矩形 72"/>
          <p:cNvSpPr/>
          <p:nvPr/>
        </p:nvSpPr>
        <p:spPr>
          <a:xfrm>
            <a:off x="1785918" y="4264908"/>
            <a:ext cx="5857916" cy="1735860"/>
          </a:xfrm>
          <a:prstGeom prst="rect">
            <a:avLst/>
          </a:prstGeom>
          <a:ln w="28575">
            <a:solidFill>
              <a:srgbClr val="C00000"/>
            </a:solidFill>
          </a:ln>
        </p:spPr>
        <p:txBody>
          <a:bodyPr wrap="square" lIns="324000" rIns="324000">
            <a:spAutoFit/>
          </a:bodyPr>
          <a:lstStyle/>
          <a:p>
            <a:pPr marL="0" lvl="1" algn="ctr" fontAlgn="base">
              <a:lnSpc>
                <a:spcPct val="120000"/>
              </a:lnSpc>
              <a:spcBef>
                <a:spcPct val="20000"/>
              </a:spcBef>
              <a:spcAft>
                <a:spcPct val="0"/>
              </a:spcAft>
            </a:pPr>
            <a:r>
              <a:rPr lang="zh-CN" altLang="en-US" sz="2400" b="1">
                <a:solidFill>
                  <a:srgbClr val="C00000"/>
                </a:solidFill>
              </a:rPr>
              <a:t>变形体虚功原理</a:t>
            </a:r>
            <a:endParaRPr lang="en-US" altLang="zh-CN" sz="2400" b="1">
              <a:solidFill>
                <a:srgbClr val="C00000"/>
              </a:solidFill>
            </a:endParaRPr>
          </a:p>
          <a:p>
            <a:pPr marL="0" lvl="1" fontAlgn="base">
              <a:lnSpc>
                <a:spcPct val="130000"/>
              </a:lnSpc>
              <a:spcAft>
                <a:spcPct val="0"/>
              </a:spcAft>
            </a:pPr>
            <a:r>
              <a:rPr lang="zh-CN" altLang="en-US" sz="2000" b="1"/>
              <a:t>若：⑴ 力系满足平衡方程；</a:t>
            </a:r>
            <a:endParaRPr lang="en-US" altLang="zh-CN" sz="2000" b="1"/>
          </a:p>
          <a:p>
            <a:pPr marL="0" lvl="1" fontAlgn="base">
              <a:lnSpc>
                <a:spcPct val="130000"/>
              </a:lnSpc>
              <a:spcAft>
                <a:spcPct val="0"/>
              </a:spcAft>
            </a:pPr>
            <a:r>
              <a:rPr lang="en-US" altLang="zh-CN" sz="2000" b="1"/>
              <a:t>        </a:t>
            </a:r>
            <a:r>
              <a:rPr lang="zh-CN" altLang="en-US" sz="2000" b="1"/>
              <a:t>⑵ 变形状态满足协调方程；</a:t>
            </a:r>
            <a:endParaRPr lang="en-US" altLang="zh-CN" sz="2000" b="1"/>
          </a:p>
          <a:p>
            <a:pPr marL="0" lvl="1" fontAlgn="base">
              <a:lnSpc>
                <a:spcPct val="130000"/>
              </a:lnSpc>
              <a:spcAft>
                <a:spcPct val="0"/>
              </a:spcAft>
            </a:pPr>
            <a:r>
              <a:rPr lang="zh-CN" altLang="en-US" sz="2000" b="1"/>
              <a:t>则：外力虚功</a:t>
            </a:r>
            <a:r>
              <a:rPr lang="en-US" altLang="zh-CN" sz="2000" b="1" i="1">
                <a:solidFill>
                  <a:srgbClr val="C00000"/>
                </a:solidFill>
                <a:latin typeface="Times New Roman" pitchFamily="18" charset="0"/>
                <a:cs typeface="Times New Roman" pitchFamily="18" charset="0"/>
              </a:rPr>
              <a:t>W</a:t>
            </a:r>
            <a:r>
              <a:rPr lang="zh-CN" altLang="en-US" sz="2000" b="1">
                <a:solidFill>
                  <a:srgbClr val="C00000"/>
                </a:solidFill>
                <a:latin typeface="Times New Roman" pitchFamily="18" charset="0"/>
                <a:cs typeface="Times New Roman" pitchFamily="18" charset="0"/>
              </a:rPr>
              <a:t>等于</a:t>
            </a:r>
            <a:r>
              <a:rPr lang="zh-CN" altLang="en-US" sz="2000" b="1"/>
              <a:t>内力虚功</a:t>
            </a:r>
            <a:r>
              <a:rPr lang="en-US" altLang="zh-CN" sz="2000" b="1" i="1">
                <a:solidFill>
                  <a:srgbClr val="C00000"/>
                </a:solidFill>
                <a:latin typeface="Times New Roman" pitchFamily="18" charset="0"/>
                <a:cs typeface="Times New Roman" pitchFamily="18" charset="0"/>
              </a:rPr>
              <a:t>W</a:t>
            </a:r>
            <a:r>
              <a:rPr lang="en-US" altLang="zh-CN" sz="2000" b="1" baseline="-25000">
                <a:solidFill>
                  <a:srgbClr val="C00000"/>
                </a:solidFill>
              </a:rPr>
              <a:t>i</a:t>
            </a:r>
            <a:r>
              <a:rPr lang="zh-CN" altLang="en-US" sz="2000" b="1"/>
              <a:t>，即上式成立；</a:t>
            </a:r>
            <a:endParaRPr lang="en-US" altLang="zh-CN" sz="2000" b="1"/>
          </a:p>
        </p:txBody>
      </p:sp>
      <p:sp>
        <p:nvSpPr>
          <p:cNvPr id="74" name="TextBox 73"/>
          <p:cNvSpPr txBox="1"/>
          <p:nvPr/>
        </p:nvSpPr>
        <p:spPr>
          <a:xfrm>
            <a:off x="1754431" y="6060064"/>
            <a:ext cx="5032147" cy="369332"/>
          </a:xfrm>
          <a:prstGeom prst="rect">
            <a:avLst/>
          </a:prstGeom>
          <a:noFill/>
          <a:ln w="28575">
            <a:noFill/>
          </a:ln>
        </p:spPr>
        <p:txBody>
          <a:bodyPr wrap="none" rtlCol="0">
            <a:spAutoFit/>
          </a:bodyPr>
          <a:lstStyle/>
          <a:p>
            <a:r>
              <a:rPr lang="zh-CN" altLang="en-US" b="1">
                <a:solidFill>
                  <a:srgbClr val="0033CC"/>
                </a:solidFill>
              </a:rPr>
              <a:t>注意：虚功方程只是必要条件，而非充分条件！</a:t>
            </a:r>
          </a:p>
        </p:txBody>
      </p:sp>
      <p:grpSp>
        <p:nvGrpSpPr>
          <p:cNvPr id="77" name="组合 76"/>
          <p:cNvGrpSpPr/>
          <p:nvPr/>
        </p:nvGrpSpPr>
        <p:grpSpPr>
          <a:xfrm>
            <a:off x="2428860" y="3286124"/>
            <a:ext cx="4840287" cy="869953"/>
            <a:chOff x="2428860" y="3286124"/>
            <a:chExt cx="4840287" cy="869953"/>
          </a:xfrm>
        </p:grpSpPr>
        <p:graphicFrame>
          <p:nvGraphicFramePr>
            <p:cNvPr id="592901" name="Object 10"/>
            <p:cNvGraphicFramePr>
              <a:graphicFrameLocks noChangeAspect="1"/>
            </p:cNvGraphicFramePr>
            <p:nvPr/>
          </p:nvGraphicFramePr>
          <p:xfrm>
            <a:off x="2428860" y="3643314"/>
            <a:ext cx="4840287" cy="512763"/>
          </p:xfrm>
          <a:graphic>
            <a:graphicData uri="http://schemas.openxmlformats.org/presentationml/2006/ole">
              <mc:AlternateContent xmlns:mc="http://schemas.openxmlformats.org/markup-compatibility/2006">
                <mc:Choice xmlns:v="urn:schemas-microsoft-com:vml" Requires="v">
                  <p:oleObj spid="_x0000_s592903" name="Equation" r:id="rId6" imgW="3124080" imgH="330120" progId="Equation.DSMT4">
                    <p:embed/>
                  </p:oleObj>
                </mc:Choice>
                <mc:Fallback>
                  <p:oleObj name="Equation" r:id="rId6" imgW="3124080" imgH="330120" progId="Equation.DSMT4">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60" y="3643314"/>
                          <a:ext cx="4840287" cy="512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 name="下箭头 74"/>
            <p:cNvSpPr/>
            <p:nvPr/>
          </p:nvSpPr>
          <p:spPr bwMode="auto">
            <a:xfrm>
              <a:off x="3428992" y="3357562"/>
              <a:ext cx="357190" cy="285752"/>
            </a:xfrm>
            <a:prstGeom prst="down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76" name="TextBox 75"/>
            <p:cNvSpPr txBox="1"/>
            <p:nvPr/>
          </p:nvSpPr>
          <p:spPr>
            <a:xfrm>
              <a:off x="3840218" y="3286124"/>
              <a:ext cx="2589170" cy="369332"/>
            </a:xfrm>
            <a:prstGeom prst="rect">
              <a:avLst/>
            </a:prstGeom>
            <a:noFill/>
            <a:ln w="28575">
              <a:noFill/>
            </a:ln>
          </p:spPr>
          <p:txBody>
            <a:bodyPr wrap="none" rtlCol="0">
              <a:spAutoFit/>
            </a:bodyPr>
            <a:lstStyle/>
            <a:p>
              <a:r>
                <a:rPr lang="zh-CN" altLang="en-US" b="1">
                  <a:solidFill>
                    <a:srgbClr val="0033CC"/>
                  </a:solidFill>
                  <a:latin typeface="Times New Roman" pitchFamily="18" charset="0"/>
                  <a:cs typeface="Times New Roman" pitchFamily="18" charset="0"/>
                </a:rPr>
                <a:t>连续力做功项并入∑</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P</a:t>
              </a:r>
              <a:r>
                <a:rPr lang="el-GR" altLang="zh-CN" b="1" i="1">
                  <a:solidFill>
                    <a:srgbClr val="0033CC"/>
                  </a:solidFill>
                  <a:latin typeface="Times New Roman" pitchFamily="18" charset="0"/>
                  <a:cs typeface="Times New Roman" pitchFamily="18" charset="0"/>
                </a:rPr>
                <a:t>Δ</a:t>
              </a:r>
              <a:endParaRPr lang="zh-CN" altLang="en-US" b="1" i="1">
                <a:solidFill>
                  <a:srgbClr val="0033CC"/>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Effect transition="in" filter="wipe(up)">
                                      <p:cBhvr>
                                        <p:cTn id="7" dur="500"/>
                                        <p:tgtEl>
                                          <p:spTgt spid="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90858"/>
                                        </p:tgtEl>
                                        <p:attrNameLst>
                                          <p:attrName>style.visibility</p:attrName>
                                        </p:attrNameLst>
                                      </p:cBhvr>
                                      <p:to>
                                        <p:strVal val="visible"/>
                                      </p:to>
                                    </p:set>
                                    <p:anim calcmode="lin" valueType="num">
                                      <p:cBhvr additive="base">
                                        <p:cTn id="12" dur="500" fill="hold"/>
                                        <p:tgtEl>
                                          <p:spTgt spid="590858"/>
                                        </p:tgtEl>
                                        <p:attrNameLst>
                                          <p:attrName>ppt_x</p:attrName>
                                        </p:attrNameLst>
                                      </p:cBhvr>
                                      <p:tavLst>
                                        <p:tav tm="0">
                                          <p:val>
                                            <p:strVal val="#ppt_x"/>
                                          </p:val>
                                        </p:tav>
                                        <p:tav tm="100000">
                                          <p:val>
                                            <p:strVal val="#ppt_x"/>
                                          </p:val>
                                        </p:tav>
                                      </p:tavLst>
                                    </p:anim>
                                    <p:anim calcmode="lin" valueType="num">
                                      <p:cBhvr additive="base">
                                        <p:cTn id="13" dur="500" fill="hold"/>
                                        <p:tgtEl>
                                          <p:spTgt spid="59085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up)">
                                      <p:cBhvr>
                                        <p:cTn id="23" dur="500"/>
                                        <p:tgtEl>
                                          <p:spTgt spid="6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wipe(left)">
                                      <p:cBhvr>
                                        <p:cTn id="28" dur="500"/>
                                        <p:tgtEl>
                                          <p:spTgt spid="7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7"/>
                                        </p:tgtEl>
                                        <p:attrNameLst>
                                          <p:attrName>style.visibility</p:attrName>
                                        </p:attrNameLst>
                                      </p:cBhvr>
                                      <p:to>
                                        <p:strVal val="visible"/>
                                      </p:to>
                                    </p:set>
                                    <p:anim calcmode="lin" valueType="num">
                                      <p:cBhvr additive="base">
                                        <p:cTn id="33" dur="500" fill="hold"/>
                                        <p:tgtEl>
                                          <p:spTgt spid="77"/>
                                        </p:tgtEl>
                                        <p:attrNameLst>
                                          <p:attrName>ppt_x</p:attrName>
                                        </p:attrNameLst>
                                      </p:cBhvr>
                                      <p:tavLst>
                                        <p:tav tm="0">
                                          <p:val>
                                            <p:strVal val="#ppt_x"/>
                                          </p:val>
                                        </p:tav>
                                        <p:tav tm="100000">
                                          <p:val>
                                            <p:strVal val="#ppt_x"/>
                                          </p:val>
                                        </p:tav>
                                      </p:tavLst>
                                    </p:anim>
                                    <p:anim calcmode="lin" valueType="num">
                                      <p:cBhvr additive="base">
                                        <p:cTn id="34"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diamond(in)">
                                      <p:cBhvr>
                                        <p:cTn id="39" dur="1000"/>
                                        <p:tgtEl>
                                          <p:spTgt spid="73"/>
                                        </p:tgtEl>
                                      </p:cBhvr>
                                    </p:animEffect>
                                  </p:childTnLst>
                                </p:cTn>
                              </p:par>
                            </p:childTnLst>
                          </p:cTn>
                        </p:par>
                        <p:par>
                          <p:cTn id="40" fill="hold">
                            <p:stCondLst>
                              <p:cond delay="1000"/>
                            </p:stCondLst>
                            <p:childTnLst>
                              <p:par>
                                <p:cTn id="41" presetID="1" presetClass="entr" presetSubtype="0" fill="hold" grpId="0" nodeType="after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P spid="73" grpId="0" animBg="1"/>
      <p:bldP spid="74"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虚力原理及虚位移原理</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0" name="Rectangle 6"/>
          <p:cNvSpPr>
            <a:spLocks noChangeArrowheads="1"/>
          </p:cNvSpPr>
          <p:nvPr/>
        </p:nvSpPr>
        <p:spPr bwMode="auto">
          <a:xfrm>
            <a:off x="469540" y="3857628"/>
            <a:ext cx="817442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虚力原理及其虚力方程</a:t>
            </a:r>
            <a:endParaRPr lang="en-US" altLang="zh-CN" sz="2000" b="1">
              <a:latin typeface="Times New Roman" pitchFamily="18" charset="0"/>
              <a:cs typeface="Times New Roman" pitchFamily="18" charset="0"/>
            </a:endParaRPr>
          </a:p>
        </p:txBody>
      </p:sp>
      <p:grpSp>
        <p:nvGrpSpPr>
          <p:cNvPr id="23" name="组合 22"/>
          <p:cNvGrpSpPr/>
          <p:nvPr/>
        </p:nvGrpSpPr>
        <p:grpSpPr>
          <a:xfrm>
            <a:off x="2285984" y="1857364"/>
            <a:ext cx="4840287" cy="857256"/>
            <a:chOff x="2285984" y="1857364"/>
            <a:chExt cx="4840287" cy="857256"/>
          </a:xfrm>
        </p:grpSpPr>
        <p:graphicFrame>
          <p:nvGraphicFramePr>
            <p:cNvPr id="592901" name="Object 10"/>
            <p:cNvGraphicFramePr>
              <a:graphicFrameLocks noChangeAspect="1"/>
            </p:cNvGraphicFramePr>
            <p:nvPr/>
          </p:nvGraphicFramePr>
          <p:xfrm>
            <a:off x="2285984" y="2201857"/>
            <a:ext cx="4840287" cy="512763"/>
          </p:xfrm>
          <a:graphic>
            <a:graphicData uri="http://schemas.openxmlformats.org/presentationml/2006/ole">
              <mc:AlternateContent xmlns:mc="http://schemas.openxmlformats.org/markup-compatibility/2006">
                <mc:Choice xmlns:v="urn:schemas-microsoft-com:vml" Requires="v">
                  <p:oleObj spid="_x0000_s593925" name="Equation" r:id="rId4" imgW="3124080" imgH="330120" progId="Equation.DSMT4">
                    <p:embed/>
                  </p:oleObj>
                </mc:Choice>
                <mc:Fallback>
                  <p:oleObj name="Equation" r:id="rId4" imgW="3124080" imgH="33012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5984" y="2201857"/>
                          <a:ext cx="4840287" cy="512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TextBox 21"/>
            <p:cNvSpPr txBox="1"/>
            <p:nvPr/>
          </p:nvSpPr>
          <p:spPr>
            <a:xfrm>
              <a:off x="4000496" y="1857364"/>
              <a:ext cx="1210588" cy="400110"/>
            </a:xfrm>
            <a:prstGeom prst="rect">
              <a:avLst/>
            </a:prstGeom>
            <a:noFill/>
            <a:ln w="28575">
              <a:noFill/>
            </a:ln>
          </p:spPr>
          <p:txBody>
            <a:bodyPr wrap="none" rtlCol="0">
              <a:spAutoFit/>
            </a:bodyPr>
            <a:lstStyle/>
            <a:p>
              <a:r>
                <a:rPr lang="zh-CN" altLang="en-US" sz="2000" b="1"/>
                <a:t>虚功方程</a:t>
              </a:r>
            </a:p>
          </p:txBody>
        </p:sp>
      </p:grpSp>
      <p:sp>
        <p:nvSpPr>
          <p:cNvPr id="24" name="矩形 23"/>
          <p:cNvSpPr/>
          <p:nvPr/>
        </p:nvSpPr>
        <p:spPr bwMode="auto">
          <a:xfrm>
            <a:off x="2143108" y="1857364"/>
            <a:ext cx="5000660" cy="928694"/>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nvGrpSpPr>
          <p:cNvPr id="33" name="组合 32"/>
          <p:cNvGrpSpPr/>
          <p:nvPr/>
        </p:nvGrpSpPr>
        <p:grpSpPr>
          <a:xfrm>
            <a:off x="1214414" y="2786060"/>
            <a:ext cx="7000924" cy="1070580"/>
            <a:chOff x="1214414" y="2857498"/>
            <a:chExt cx="7000924" cy="1070580"/>
          </a:xfrm>
        </p:grpSpPr>
        <p:sp>
          <p:nvSpPr>
            <p:cNvPr id="25" name="TextBox 24"/>
            <p:cNvSpPr txBox="1"/>
            <p:nvPr/>
          </p:nvSpPr>
          <p:spPr>
            <a:xfrm>
              <a:off x="1214414" y="3143248"/>
              <a:ext cx="2749471" cy="784830"/>
            </a:xfrm>
            <a:prstGeom prst="rect">
              <a:avLst/>
            </a:prstGeom>
            <a:noFill/>
            <a:ln w="28575">
              <a:solidFill>
                <a:srgbClr val="0033CC"/>
              </a:solidFill>
            </a:ln>
          </p:spPr>
          <p:txBody>
            <a:bodyPr wrap="none" rtlCol="0">
              <a:spAutoFit/>
            </a:bodyPr>
            <a:lstStyle/>
            <a:p>
              <a:pPr algn="ctr"/>
              <a:r>
                <a:rPr lang="zh-CN" altLang="en-US" sz="2000" b="1">
                  <a:solidFill>
                    <a:srgbClr val="C00000"/>
                  </a:solidFill>
                </a:rPr>
                <a:t>虚力方程</a:t>
              </a:r>
              <a:endParaRPr lang="en-US" altLang="zh-CN" sz="2000" b="1">
                <a:solidFill>
                  <a:srgbClr val="C00000"/>
                </a:solidFill>
              </a:endParaRPr>
            </a:p>
            <a:p>
              <a:pPr algn="ctr">
                <a:spcBef>
                  <a:spcPts val="600"/>
                </a:spcBef>
              </a:pPr>
              <a:r>
                <a:rPr lang="zh-CN" altLang="en-US" sz="2000" b="1">
                  <a:solidFill>
                    <a:srgbClr val="0033CC"/>
                  </a:solidFill>
                </a:rPr>
                <a:t>本质上为变形协调方程</a:t>
              </a:r>
            </a:p>
          </p:txBody>
        </p:sp>
        <p:sp>
          <p:nvSpPr>
            <p:cNvPr id="26" name="TextBox 25"/>
            <p:cNvSpPr txBox="1"/>
            <p:nvPr/>
          </p:nvSpPr>
          <p:spPr>
            <a:xfrm>
              <a:off x="5465867" y="3143248"/>
              <a:ext cx="2749471" cy="784830"/>
            </a:xfrm>
            <a:prstGeom prst="rect">
              <a:avLst/>
            </a:prstGeom>
            <a:noFill/>
            <a:ln w="28575">
              <a:solidFill>
                <a:srgbClr val="0033CC"/>
              </a:solidFill>
            </a:ln>
          </p:spPr>
          <p:txBody>
            <a:bodyPr wrap="square" rtlCol="0">
              <a:spAutoFit/>
            </a:bodyPr>
            <a:lstStyle/>
            <a:p>
              <a:pPr algn="ctr"/>
              <a:r>
                <a:rPr lang="zh-CN" altLang="en-US" sz="2000" b="1"/>
                <a:t>虚位移方程</a:t>
              </a:r>
              <a:endParaRPr lang="en-US" altLang="zh-CN" sz="2000" b="1"/>
            </a:p>
            <a:p>
              <a:pPr algn="ctr">
                <a:spcBef>
                  <a:spcPts val="600"/>
                </a:spcBef>
              </a:pPr>
              <a:r>
                <a:rPr lang="zh-CN" altLang="en-US" sz="2000" b="1">
                  <a:solidFill>
                    <a:srgbClr val="0033CC"/>
                  </a:solidFill>
                </a:rPr>
                <a:t>本质上为平衡方程</a:t>
              </a:r>
            </a:p>
          </p:txBody>
        </p:sp>
        <p:cxnSp>
          <p:nvCxnSpPr>
            <p:cNvPr id="28" name="肘形连接符 27"/>
            <p:cNvCxnSpPr>
              <a:endCxn id="25" idx="0"/>
            </p:cNvCxnSpPr>
            <p:nvPr/>
          </p:nvCxnSpPr>
          <p:spPr bwMode="auto">
            <a:xfrm rot="10800000" flipV="1">
              <a:off x="2589150" y="3000372"/>
              <a:ext cx="2054288" cy="142876"/>
            </a:xfrm>
            <a:prstGeom prst="bentConnector2">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9" name="肘形连接符 28"/>
            <p:cNvCxnSpPr/>
            <p:nvPr/>
          </p:nvCxnSpPr>
          <p:spPr bwMode="auto">
            <a:xfrm rot="16200000" flipH="1">
              <a:off x="5599145" y="1901791"/>
              <a:ext cx="285752" cy="2197165"/>
            </a:xfrm>
            <a:prstGeom prst="bentConnector3">
              <a:avLst>
                <a:gd name="adj1" fmla="val 49999"/>
              </a:avLst>
            </a:prstGeom>
            <a:solidFill>
              <a:schemeClr val="accent1"/>
            </a:solidFill>
            <a:ln w="28575" cap="flat" cmpd="sng" algn="ctr">
              <a:solidFill>
                <a:srgbClr val="0033CC"/>
              </a:solidFill>
              <a:prstDash val="solid"/>
              <a:round/>
              <a:headEnd type="none" w="med" len="med"/>
              <a:tailEnd type="none" w="med" len="med"/>
            </a:ln>
            <a:effectLst/>
          </p:spPr>
        </p:cxnSp>
      </p:grpSp>
      <p:graphicFrame>
        <p:nvGraphicFramePr>
          <p:cNvPr id="34" name="Object 10"/>
          <p:cNvGraphicFramePr>
            <a:graphicFrameLocks noChangeAspect="1"/>
          </p:cNvGraphicFramePr>
          <p:nvPr/>
        </p:nvGraphicFramePr>
        <p:xfrm>
          <a:off x="2308225" y="4796776"/>
          <a:ext cx="4938713" cy="512762"/>
        </p:xfrm>
        <a:graphic>
          <a:graphicData uri="http://schemas.openxmlformats.org/presentationml/2006/ole">
            <mc:AlternateContent xmlns:mc="http://schemas.openxmlformats.org/markup-compatibility/2006">
              <mc:Choice xmlns:v="urn:schemas-microsoft-com:vml" Requires="v">
                <p:oleObj spid="_x0000_s593926" name="Equation" r:id="rId6" imgW="3187440" imgH="330120" progId="Equation.DSMT4">
                  <p:embed/>
                </p:oleObj>
              </mc:Choice>
              <mc:Fallback>
                <p:oleObj name="Equation" r:id="rId6" imgW="3187440" imgH="33012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8225" y="4796776"/>
                        <a:ext cx="4938713" cy="512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9" name="组合 48"/>
          <p:cNvGrpSpPr/>
          <p:nvPr/>
        </p:nvGrpSpPr>
        <p:grpSpPr>
          <a:xfrm>
            <a:off x="2714612" y="4286256"/>
            <a:ext cx="3857652" cy="595448"/>
            <a:chOff x="2714612" y="4405982"/>
            <a:chExt cx="3857652" cy="595448"/>
          </a:xfrm>
        </p:grpSpPr>
        <p:grpSp>
          <p:nvGrpSpPr>
            <p:cNvPr id="47" name="组合 46"/>
            <p:cNvGrpSpPr/>
            <p:nvPr/>
          </p:nvGrpSpPr>
          <p:grpSpPr>
            <a:xfrm>
              <a:off x="2714612" y="4786322"/>
              <a:ext cx="3857652" cy="215108"/>
              <a:chOff x="2714612" y="4643446"/>
              <a:chExt cx="3857652" cy="215108"/>
            </a:xfrm>
          </p:grpSpPr>
          <p:cxnSp>
            <p:nvCxnSpPr>
              <p:cNvPr id="40" name="直接连接符 39"/>
              <p:cNvCxnSpPr/>
              <p:nvPr/>
            </p:nvCxnSpPr>
            <p:spPr bwMode="auto">
              <a:xfrm>
                <a:off x="2714612" y="4643446"/>
                <a:ext cx="3857652"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2" name="直接连接符 41"/>
              <p:cNvCxnSpPr/>
              <p:nvPr/>
            </p:nvCxnSpPr>
            <p:spPr bwMode="auto">
              <a:xfrm rot="5400000">
                <a:off x="2619030" y="4750603"/>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3" name="直接连接符 42"/>
              <p:cNvCxnSpPr/>
              <p:nvPr/>
            </p:nvCxnSpPr>
            <p:spPr bwMode="auto">
              <a:xfrm rot="5400000">
                <a:off x="3535355"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4" name="直接连接符 43"/>
              <p:cNvCxnSpPr/>
              <p:nvPr/>
            </p:nvCxnSpPr>
            <p:spPr bwMode="auto">
              <a:xfrm rot="5400000">
                <a:off x="4965703"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5" name="直接连接符 44"/>
              <p:cNvCxnSpPr/>
              <p:nvPr/>
            </p:nvCxnSpPr>
            <p:spPr bwMode="auto">
              <a:xfrm rot="5400000">
                <a:off x="5608645"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6" name="直接连接符 45"/>
              <p:cNvCxnSpPr/>
              <p:nvPr/>
            </p:nvCxnSpPr>
            <p:spPr bwMode="auto">
              <a:xfrm rot="5400000">
                <a:off x="6452738"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sp>
          <p:nvSpPr>
            <p:cNvPr id="48" name="TextBox 47"/>
            <p:cNvSpPr txBox="1"/>
            <p:nvPr/>
          </p:nvSpPr>
          <p:spPr>
            <a:xfrm>
              <a:off x="3571868" y="4405982"/>
              <a:ext cx="2262158" cy="369332"/>
            </a:xfrm>
            <a:prstGeom prst="rect">
              <a:avLst/>
            </a:prstGeom>
            <a:noFill/>
            <a:ln w="28575">
              <a:noFill/>
            </a:ln>
          </p:spPr>
          <p:txBody>
            <a:bodyPr wrap="none" rtlCol="0">
              <a:spAutoFit/>
            </a:bodyPr>
            <a:lstStyle/>
            <a:p>
              <a:r>
                <a:rPr lang="zh-CN" altLang="en-US" b="1">
                  <a:solidFill>
                    <a:srgbClr val="0033CC"/>
                  </a:solidFill>
                </a:rPr>
                <a:t>任意虚设的平衡力系</a:t>
              </a:r>
            </a:p>
          </p:txBody>
        </p:sp>
      </p:grpSp>
      <p:grpSp>
        <p:nvGrpSpPr>
          <p:cNvPr id="50" name="组合 49"/>
          <p:cNvGrpSpPr/>
          <p:nvPr/>
        </p:nvGrpSpPr>
        <p:grpSpPr>
          <a:xfrm flipV="1">
            <a:off x="2977214" y="5309538"/>
            <a:ext cx="3857652" cy="595448"/>
            <a:chOff x="2714612" y="4405982"/>
            <a:chExt cx="3857652" cy="595448"/>
          </a:xfrm>
        </p:grpSpPr>
        <p:grpSp>
          <p:nvGrpSpPr>
            <p:cNvPr id="51" name="组合 46"/>
            <p:cNvGrpSpPr/>
            <p:nvPr/>
          </p:nvGrpSpPr>
          <p:grpSpPr>
            <a:xfrm>
              <a:off x="2714612" y="4786322"/>
              <a:ext cx="3857652" cy="215108"/>
              <a:chOff x="2714612" y="4643446"/>
              <a:chExt cx="3857652" cy="215108"/>
            </a:xfrm>
          </p:grpSpPr>
          <p:cxnSp>
            <p:nvCxnSpPr>
              <p:cNvPr id="53" name="直接连接符 52"/>
              <p:cNvCxnSpPr/>
              <p:nvPr/>
            </p:nvCxnSpPr>
            <p:spPr bwMode="auto">
              <a:xfrm>
                <a:off x="2714612" y="4643446"/>
                <a:ext cx="38576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4" name="直接连接符 53"/>
              <p:cNvCxnSpPr/>
              <p:nvPr/>
            </p:nvCxnSpPr>
            <p:spPr bwMode="auto">
              <a:xfrm rot="5400000">
                <a:off x="2619030" y="4750603"/>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5" name="直接连接符 54"/>
              <p:cNvCxnSpPr/>
              <p:nvPr/>
            </p:nvCxnSpPr>
            <p:spPr bwMode="auto">
              <a:xfrm rot="5400000">
                <a:off x="3535355"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6" name="直接连接符 55"/>
              <p:cNvCxnSpPr/>
              <p:nvPr/>
            </p:nvCxnSpPr>
            <p:spPr bwMode="auto">
              <a:xfrm rot="5400000">
                <a:off x="4965703"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7" name="直接连接符 56"/>
              <p:cNvCxnSpPr/>
              <p:nvPr/>
            </p:nvCxnSpPr>
            <p:spPr bwMode="auto">
              <a:xfrm rot="5400000">
                <a:off x="5608645"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8" name="直接连接符 57"/>
              <p:cNvCxnSpPr/>
              <p:nvPr/>
            </p:nvCxnSpPr>
            <p:spPr bwMode="auto">
              <a:xfrm rot="5400000">
                <a:off x="6452738"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52" name="TextBox 51"/>
            <p:cNvSpPr txBox="1"/>
            <p:nvPr/>
          </p:nvSpPr>
          <p:spPr>
            <a:xfrm flipV="1">
              <a:off x="3571868" y="4405982"/>
              <a:ext cx="2031325" cy="369332"/>
            </a:xfrm>
            <a:prstGeom prst="rect">
              <a:avLst/>
            </a:prstGeom>
            <a:noFill/>
            <a:ln w="28575">
              <a:noFill/>
            </a:ln>
          </p:spPr>
          <p:txBody>
            <a:bodyPr wrap="none" rtlCol="0">
              <a:spAutoFit/>
            </a:bodyPr>
            <a:lstStyle/>
            <a:p>
              <a:r>
                <a:rPr lang="zh-CN" altLang="en-US" b="1">
                  <a:solidFill>
                    <a:srgbClr val="C00000"/>
                  </a:solidFill>
                </a:rPr>
                <a:t>待检查的位移状态</a:t>
              </a:r>
            </a:p>
          </p:txBody>
        </p:sp>
      </p:grpSp>
      <p:grpSp>
        <p:nvGrpSpPr>
          <p:cNvPr id="77" name="组合 76"/>
          <p:cNvGrpSpPr/>
          <p:nvPr/>
        </p:nvGrpSpPr>
        <p:grpSpPr>
          <a:xfrm>
            <a:off x="857224" y="5952480"/>
            <a:ext cx="7530262" cy="405478"/>
            <a:chOff x="857224" y="5952480"/>
            <a:chExt cx="7530262" cy="405478"/>
          </a:xfrm>
        </p:grpSpPr>
        <p:sp>
          <p:nvSpPr>
            <p:cNvPr id="59" name="TextBox 58"/>
            <p:cNvSpPr txBox="1"/>
            <p:nvPr/>
          </p:nvSpPr>
          <p:spPr>
            <a:xfrm>
              <a:off x="857224" y="5952480"/>
              <a:ext cx="3518912" cy="400110"/>
            </a:xfrm>
            <a:prstGeom prst="rect">
              <a:avLst/>
            </a:prstGeom>
            <a:noFill/>
            <a:ln w="28575">
              <a:noFill/>
            </a:ln>
          </p:spPr>
          <p:txBody>
            <a:bodyPr wrap="none" rtlCol="0">
              <a:spAutoFit/>
            </a:bodyPr>
            <a:lstStyle/>
            <a:p>
              <a:r>
                <a:rPr lang="zh-CN" altLang="en-US" sz="2000" b="1"/>
                <a:t>任意平衡力系下虚力方程成立</a:t>
              </a:r>
            </a:p>
          </p:txBody>
        </p:sp>
        <p:sp>
          <p:nvSpPr>
            <p:cNvPr id="71" name="TextBox 70"/>
            <p:cNvSpPr txBox="1"/>
            <p:nvPr/>
          </p:nvSpPr>
          <p:spPr>
            <a:xfrm>
              <a:off x="5125054" y="5957848"/>
              <a:ext cx="3262432" cy="400110"/>
            </a:xfrm>
            <a:prstGeom prst="rect">
              <a:avLst/>
            </a:prstGeom>
            <a:noFill/>
            <a:ln w="28575">
              <a:noFill/>
            </a:ln>
          </p:spPr>
          <p:txBody>
            <a:bodyPr wrap="none" rtlCol="0">
              <a:spAutoFit/>
            </a:bodyPr>
            <a:lstStyle/>
            <a:p>
              <a:r>
                <a:rPr lang="zh-CN" altLang="en-US" sz="2000" b="1"/>
                <a:t>位移状态满足变形协调方程</a:t>
              </a:r>
            </a:p>
          </p:txBody>
        </p:sp>
        <p:sp>
          <p:nvSpPr>
            <p:cNvPr id="72" name="左右箭头 71"/>
            <p:cNvSpPr/>
            <p:nvPr/>
          </p:nvSpPr>
          <p:spPr bwMode="auto">
            <a:xfrm>
              <a:off x="4488987" y="6023918"/>
              <a:ext cx="571504" cy="285752"/>
            </a:xfrm>
            <a:prstGeom prst="lef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70">
                                            <p:txEl>
                                              <p:pRg st="0" end="0"/>
                                            </p:txEl>
                                          </p:spTgt>
                                        </p:tgtEl>
                                        <p:attrNameLst>
                                          <p:attrName>style.visibility</p:attrName>
                                        </p:attrNameLst>
                                      </p:cBhvr>
                                      <p:to>
                                        <p:strVal val="visible"/>
                                      </p:to>
                                    </p:set>
                                    <p:animEffect transition="in" filter="wipe(up)">
                                      <p:cBhvr>
                                        <p:cTn id="13" dur="500"/>
                                        <p:tgtEl>
                                          <p:spTgt spid="170">
                                            <p:txEl>
                                              <p:pRg st="0" end="0"/>
                                            </p:txEl>
                                          </p:spTgt>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down)">
                                      <p:cBhvr>
                                        <p:cTn id="23" dur="500"/>
                                        <p:tgtEl>
                                          <p:spTgt spid="5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ipe(up)">
                                      <p:cBhvr>
                                        <p:cTn id="28" dur="500"/>
                                        <p:tgtEl>
                                          <p:spTgt spid="4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7"/>
                                        </p:tgtEl>
                                        <p:attrNameLst>
                                          <p:attrName>style.visibility</p:attrName>
                                        </p:attrNameLst>
                                      </p:cBhvr>
                                      <p:to>
                                        <p:strVal val="visible"/>
                                      </p:to>
                                    </p:set>
                                    <p:anim calcmode="lin" valueType="num">
                                      <p:cBhvr additive="base">
                                        <p:cTn id="33" dur="500" fill="hold"/>
                                        <p:tgtEl>
                                          <p:spTgt spid="77"/>
                                        </p:tgtEl>
                                        <p:attrNameLst>
                                          <p:attrName>ppt_x</p:attrName>
                                        </p:attrNameLst>
                                      </p:cBhvr>
                                      <p:tavLst>
                                        <p:tav tm="0">
                                          <p:val>
                                            <p:strVal val="#ppt_x"/>
                                          </p:val>
                                        </p:tav>
                                        <p:tav tm="100000">
                                          <p:val>
                                            <p:strVal val="#ppt_x"/>
                                          </p:val>
                                        </p:tav>
                                      </p:tavLst>
                                    </p:anim>
                                    <p:anim calcmode="lin" valueType="num">
                                      <p:cBhvr additive="base">
                                        <p:cTn id="34"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虚力原理及虚位移原理</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0" name="Rectangle 6"/>
          <p:cNvSpPr>
            <a:spLocks noChangeArrowheads="1"/>
          </p:cNvSpPr>
          <p:nvPr/>
        </p:nvSpPr>
        <p:spPr bwMode="auto">
          <a:xfrm>
            <a:off x="469540" y="3857628"/>
            <a:ext cx="8174426"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虚位移原理及其虚位移方程</a:t>
            </a:r>
            <a:endParaRPr lang="en-US" altLang="zh-CN" sz="2000" b="1">
              <a:latin typeface="Times New Roman" pitchFamily="18" charset="0"/>
              <a:cs typeface="Times New Roman" pitchFamily="18" charset="0"/>
            </a:endParaRPr>
          </a:p>
        </p:txBody>
      </p:sp>
      <p:grpSp>
        <p:nvGrpSpPr>
          <p:cNvPr id="4" name="组合 22"/>
          <p:cNvGrpSpPr/>
          <p:nvPr/>
        </p:nvGrpSpPr>
        <p:grpSpPr>
          <a:xfrm>
            <a:off x="2285984" y="1857364"/>
            <a:ext cx="4840287" cy="857256"/>
            <a:chOff x="2285984" y="1857364"/>
            <a:chExt cx="4840287" cy="857256"/>
          </a:xfrm>
        </p:grpSpPr>
        <p:graphicFrame>
          <p:nvGraphicFramePr>
            <p:cNvPr id="592901" name="Object 10"/>
            <p:cNvGraphicFramePr>
              <a:graphicFrameLocks noChangeAspect="1"/>
            </p:cNvGraphicFramePr>
            <p:nvPr/>
          </p:nvGraphicFramePr>
          <p:xfrm>
            <a:off x="2285984" y="2201857"/>
            <a:ext cx="4840287" cy="512763"/>
          </p:xfrm>
          <a:graphic>
            <a:graphicData uri="http://schemas.openxmlformats.org/presentationml/2006/ole">
              <mc:AlternateContent xmlns:mc="http://schemas.openxmlformats.org/markup-compatibility/2006">
                <mc:Choice xmlns:v="urn:schemas-microsoft-com:vml" Requires="v">
                  <p:oleObj spid="_x0000_s594948" name="Equation" r:id="rId4" imgW="3124080" imgH="330120" progId="Equation.DSMT4">
                    <p:embed/>
                  </p:oleObj>
                </mc:Choice>
                <mc:Fallback>
                  <p:oleObj name="Equation" r:id="rId4" imgW="3124080" imgH="33012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5984" y="2201857"/>
                          <a:ext cx="4840287" cy="512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TextBox 21"/>
            <p:cNvSpPr txBox="1"/>
            <p:nvPr/>
          </p:nvSpPr>
          <p:spPr>
            <a:xfrm>
              <a:off x="4000496" y="1857364"/>
              <a:ext cx="1210588" cy="400110"/>
            </a:xfrm>
            <a:prstGeom prst="rect">
              <a:avLst/>
            </a:prstGeom>
            <a:noFill/>
            <a:ln w="28575">
              <a:noFill/>
            </a:ln>
          </p:spPr>
          <p:txBody>
            <a:bodyPr wrap="none" rtlCol="0">
              <a:spAutoFit/>
            </a:bodyPr>
            <a:lstStyle/>
            <a:p>
              <a:r>
                <a:rPr lang="zh-CN" altLang="en-US" sz="2000" b="1"/>
                <a:t>虚功方程</a:t>
              </a:r>
            </a:p>
          </p:txBody>
        </p:sp>
      </p:grpSp>
      <p:sp>
        <p:nvSpPr>
          <p:cNvPr id="24" name="矩形 23"/>
          <p:cNvSpPr/>
          <p:nvPr/>
        </p:nvSpPr>
        <p:spPr bwMode="auto">
          <a:xfrm>
            <a:off x="2143108" y="1857364"/>
            <a:ext cx="5000660" cy="928694"/>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nvGrpSpPr>
          <p:cNvPr id="5" name="组合 32"/>
          <p:cNvGrpSpPr/>
          <p:nvPr/>
        </p:nvGrpSpPr>
        <p:grpSpPr>
          <a:xfrm>
            <a:off x="1214414" y="2786060"/>
            <a:ext cx="7000924" cy="1070580"/>
            <a:chOff x="1214414" y="2857498"/>
            <a:chExt cx="7000924" cy="1070580"/>
          </a:xfrm>
        </p:grpSpPr>
        <p:sp>
          <p:nvSpPr>
            <p:cNvPr id="25" name="TextBox 24"/>
            <p:cNvSpPr txBox="1"/>
            <p:nvPr/>
          </p:nvSpPr>
          <p:spPr>
            <a:xfrm>
              <a:off x="1214414" y="3143248"/>
              <a:ext cx="2749471" cy="784830"/>
            </a:xfrm>
            <a:prstGeom prst="rect">
              <a:avLst/>
            </a:prstGeom>
            <a:noFill/>
            <a:ln w="28575">
              <a:solidFill>
                <a:srgbClr val="0033CC"/>
              </a:solidFill>
            </a:ln>
          </p:spPr>
          <p:txBody>
            <a:bodyPr wrap="none" rtlCol="0">
              <a:spAutoFit/>
            </a:bodyPr>
            <a:lstStyle/>
            <a:p>
              <a:pPr algn="ctr"/>
              <a:r>
                <a:rPr lang="zh-CN" altLang="en-US" sz="2000" b="1"/>
                <a:t>虚力方程</a:t>
              </a:r>
              <a:endParaRPr lang="en-US" altLang="zh-CN" sz="2000" b="1"/>
            </a:p>
            <a:p>
              <a:pPr algn="ctr">
                <a:spcBef>
                  <a:spcPts val="600"/>
                </a:spcBef>
              </a:pPr>
              <a:r>
                <a:rPr lang="zh-CN" altLang="en-US" sz="2000" b="1">
                  <a:solidFill>
                    <a:srgbClr val="0033CC"/>
                  </a:solidFill>
                </a:rPr>
                <a:t>本质上为变形协调方程</a:t>
              </a:r>
            </a:p>
          </p:txBody>
        </p:sp>
        <p:sp>
          <p:nvSpPr>
            <p:cNvPr id="26" name="TextBox 25"/>
            <p:cNvSpPr txBox="1"/>
            <p:nvPr/>
          </p:nvSpPr>
          <p:spPr>
            <a:xfrm>
              <a:off x="5465867" y="3143248"/>
              <a:ext cx="2749471" cy="784830"/>
            </a:xfrm>
            <a:prstGeom prst="rect">
              <a:avLst/>
            </a:prstGeom>
            <a:noFill/>
            <a:ln w="28575">
              <a:solidFill>
                <a:srgbClr val="0033CC"/>
              </a:solidFill>
            </a:ln>
          </p:spPr>
          <p:txBody>
            <a:bodyPr wrap="square" rtlCol="0">
              <a:spAutoFit/>
            </a:bodyPr>
            <a:lstStyle/>
            <a:p>
              <a:pPr algn="ctr"/>
              <a:r>
                <a:rPr lang="zh-CN" altLang="en-US" sz="2000" b="1">
                  <a:solidFill>
                    <a:srgbClr val="C00000"/>
                  </a:solidFill>
                </a:rPr>
                <a:t>虚位移方程</a:t>
              </a:r>
              <a:endParaRPr lang="en-US" altLang="zh-CN" sz="2000" b="1">
                <a:solidFill>
                  <a:srgbClr val="C00000"/>
                </a:solidFill>
              </a:endParaRPr>
            </a:p>
            <a:p>
              <a:pPr algn="ctr">
                <a:spcBef>
                  <a:spcPts val="600"/>
                </a:spcBef>
              </a:pPr>
              <a:r>
                <a:rPr lang="zh-CN" altLang="en-US" sz="2000" b="1">
                  <a:solidFill>
                    <a:srgbClr val="0033CC"/>
                  </a:solidFill>
                </a:rPr>
                <a:t>本质上为平衡方程</a:t>
              </a:r>
            </a:p>
          </p:txBody>
        </p:sp>
        <p:cxnSp>
          <p:nvCxnSpPr>
            <p:cNvPr id="28" name="肘形连接符 27"/>
            <p:cNvCxnSpPr>
              <a:endCxn id="25" idx="0"/>
            </p:cNvCxnSpPr>
            <p:nvPr/>
          </p:nvCxnSpPr>
          <p:spPr bwMode="auto">
            <a:xfrm rot="10800000" flipV="1">
              <a:off x="2589150" y="3000372"/>
              <a:ext cx="2054288" cy="142876"/>
            </a:xfrm>
            <a:prstGeom prst="bentConnector2">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9" name="肘形连接符 28"/>
            <p:cNvCxnSpPr/>
            <p:nvPr/>
          </p:nvCxnSpPr>
          <p:spPr bwMode="auto">
            <a:xfrm rot="16200000" flipH="1">
              <a:off x="5599145" y="1901791"/>
              <a:ext cx="285752" cy="2197165"/>
            </a:xfrm>
            <a:prstGeom prst="bentConnector3">
              <a:avLst>
                <a:gd name="adj1" fmla="val 49999"/>
              </a:avLst>
            </a:prstGeom>
            <a:solidFill>
              <a:schemeClr val="accent1"/>
            </a:solidFill>
            <a:ln w="28575" cap="flat" cmpd="sng" algn="ctr">
              <a:solidFill>
                <a:srgbClr val="0033CC"/>
              </a:solidFill>
              <a:prstDash val="solid"/>
              <a:round/>
              <a:headEnd type="none" w="med" len="med"/>
              <a:tailEnd type="none" w="med" len="med"/>
            </a:ln>
            <a:effectLst/>
          </p:spPr>
        </p:cxnSp>
      </p:grpSp>
      <p:graphicFrame>
        <p:nvGraphicFramePr>
          <p:cNvPr id="34" name="Object 10"/>
          <p:cNvGraphicFramePr>
            <a:graphicFrameLocks noChangeAspect="1"/>
          </p:cNvGraphicFramePr>
          <p:nvPr/>
        </p:nvGraphicFramePr>
        <p:xfrm>
          <a:off x="2209800" y="4797425"/>
          <a:ext cx="5135563" cy="512763"/>
        </p:xfrm>
        <a:graphic>
          <a:graphicData uri="http://schemas.openxmlformats.org/presentationml/2006/ole">
            <mc:AlternateContent xmlns:mc="http://schemas.openxmlformats.org/markup-compatibility/2006">
              <mc:Choice xmlns:v="urn:schemas-microsoft-com:vml" Requires="v">
                <p:oleObj spid="_x0000_s594949" name="Equation" r:id="rId6" imgW="3314520" imgH="330120" progId="Equation.DSMT4">
                  <p:embed/>
                </p:oleObj>
              </mc:Choice>
              <mc:Fallback>
                <p:oleObj name="Equation" r:id="rId6" imgW="3314520" imgH="33012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4797425"/>
                        <a:ext cx="5135563" cy="512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组合 48"/>
          <p:cNvGrpSpPr/>
          <p:nvPr/>
        </p:nvGrpSpPr>
        <p:grpSpPr>
          <a:xfrm>
            <a:off x="2928926" y="4286256"/>
            <a:ext cx="3929090" cy="595448"/>
            <a:chOff x="2714612" y="4405982"/>
            <a:chExt cx="3857652" cy="595448"/>
          </a:xfrm>
        </p:grpSpPr>
        <p:grpSp>
          <p:nvGrpSpPr>
            <p:cNvPr id="7" name="组合 46"/>
            <p:cNvGrpSpPr/>
            <p:nvPr/>
          </p:nvGrpSpPr>
          <p:grpSpPr>
            <a:xfrm>
              <a:off x="2714612" y="4786322"/>
              <a:ext cx="3857652" cy="215108"/>
              <a:chOff x="2714612" y="4643446"/>
              <a:chExt cx="3857652" cy="215108"/>
            </a:xfrm>
          </p:grpSpPr>
          <p:cxnSp>
            <p:nvCxnSpPr>
              <p:cNvPr id="40" name="直接连接符 39"/>
              <p:cNvCxnSpPr/>
              <p:nvPr/>
            </p:nvCxnSpPr>
            <p:spPr bwMode="auto">
              <a:xfrm>
                <a:off x="2714612" y="4643446"/>
                <a:ext cx="3857652"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2" name="直接连接符 41"/>
              <p:cNvCxnSpPr/>
              <p:nvPr/>
            </p:nvCxnSpPr>
            <p:spPr bwMode="auto">
              <a:xfrm rot="5400000">
                <a:off x="2619030" y="4750603"/>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3" name="直接连接符 42"/>
              <p:cNvCxnSpPr/>
              <p:nvPr/>
            </p:nvCxnSpPr>
            <p:spPr bwMode="auto">
              <a:xfrm rot="5400000">
                <a:off x="3592177"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4" name="直接连接符 43"/>
              <p:cNvCxnSpPr/>
              <p:nvPr/>
            </p:nvCxnSpPr>
            <p:spPr bwMode="auto">
              <a:xfrm rot="5400000">
                <a:off x="4931609"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5" name="直接连接符 44"/>
              <p:cNvCxnSpPr/>
              <p:nvPr/>
            </p:nvCxnSpPr>
            <p:spPr bwMode="auto">
              <a:xfrm rot="5400000">
                <a:off x="5608645"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6" name="直接连接符 45"/>
              <p:cNvCxnSpPr/>
              <p:nvPr/>
            </p:nvCxnSpPr>
            <p:spPr bwMode="auto">
              <a:xfrm rot="5400000">
                <a:off x="6452738"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sp>
          <p:nvSpPr>
            <p:cNvPr id="48" name="TextBox 47"/>
            <p:cNvSpPr txBox="1"/>
            <p:nvPr/>
          </p:nvSpPr>
          <p:spPr>
            <a:xfrm>
              <a:off x="3406991" y="4405982"/>
              <a:ext cx="2674299" cy="369332"/>
            </a:xfrm>
            <a:prstGeom prst="rect">
              <a:avLst/>
            </a:prstGeom>
            <a:noFill/>
            <a:ln w="28575">
              <a:noFill/>
            </a:ln>
          </p:spPr>
          <p:txBody>
            <a:bodyPr wrap="none" rtlCol="0">
              <a:spAutoFit/>
            </a:bodyPr>
            <a:lstStyle/>
            <a:p>
              <a:r>
                <a:rPr lang="zh-CN" altLang="en-US" b="1">
                  <a:solidFill>
                    <a:srgbClr val="0033CC"/>
                  </a:solidFill>
                </a:rPr>
                <a:t>任意虚设的变形协调状态</a:t>
              </a:r>
            </a:p>
          </p:txBody>
        </p:sp>
      </p:grpSp>
      <p:grpSp>
        <p:nvGrpSpPr>
          <p:cNvPr id="8" name="组合 49"/>
          <p:cNvGrpSpPr/>
          <p:nvPr/>
        </p:nvGrpSpPr>
        <p:grpSpPr>
          <a:xfrm flipV="1">
            <a:off x="2679887" y="5309538"/>
            <a:ext cx="3857652" cy="595448"/>
            <a:chOff x="2714612" y="4405982"/>
            <a:chExt cx="3857652" cy="595448"/>
          </a:xfrm>
        </p:grpSpPr>
        <p:grpSp>
          <p:nvGrpSpPr>
            <p:cNvPr id="9" name="组合 46"/>
            <p:cNvGrpSpPr/>
            <p:nvPr/>
          </p:nvGrpSpPr>
          <p:grpSpPr>
            <a:xfrm>
              <a:off x="2714612" y="4786322"/>
              <a:ext cx="3857652" cy="215108"/>
              <a:chOff x="2714612" y="4643446"/>
              <a:chExt cx="3857652" cy="215108"/>
            </a:xfrm>
          </p:grpSpPr>
          <p:cxnSp>
            <p:nvCxnSpPr>
              <p:cNvPr id="53" name="直接连接符 52"/>
              <p:cNvCxnSpPr/>
              <p:nvPr/>
            </p:nvCxnSpPr>
            <p:spPr bwMode="auto">
              <a:xfrm>
                <a:off x="2714612" y="4643446"/>
                <a:ext cx="38576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4" name="直接连接符 53"/>
              <p:cNvCxnSpPr/>
              <p:nvPr/>
            </p:nvCxnSpPr>
            <p:spPr bwMode="auto">
              <a:xfrm rot="5400000">
                <a:off x="2619030" y="4750603"/>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5" name="直接连接符 54"/>
              <p:cNvCxnSpPr/>
              <p:nvPr/>
            </p:nvCxnSpPr>
            <p:spPr bwMode="auto">
              <a:xfrm rot="5400000">
                <a:off x="3535355"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6" name="直接连接符 55"/>
              <p:cNvCxnSpPr/>
              <p:nvPr/>
            </p:nvCxnSpPr>
            <p:spPr bwMode="auto">
              <a:xfrm rot="5400000">
                <a:off x="4965703"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7" name="直接连接符 56"/>
              <p:cNvCxnSpPr/>
              <p:nvPr/>
            </p:nvCxnSpPr>
            <p:spPr bwMode="auto">
              <a:xfrm rot="5400000">
                <a:off x="5608645"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8" name="直接连接符 57"/>
              <p:cNvCxnSpPr/>
              <p:nvPr/>
            </p:nvCxnSpPr>
            <p:spPr bwMode="auto">
              <a:xfrm rot="5400000">
                <a:off x="6452738"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52" name="TextBox 51"/>
            <p:cNvSpPr txBox="1"/>
            <p:nvPr/>
          </p:nvSpPr>
          <p:spPr>
            <a:xfrm flipV="1">
              <a:off x="3571868" y="4405982"/>
              <a:ext cx="1569660" cy="369332"/>
            </a:xfrm>
            <a:prstGeom prst="rect">
              <a:avLst/>
            </a:prstGeom>
            <a:noFill/>
            <a:ln w="28575">
              <a:noFill/>
            </a:ln>
          </p:spPr>
          <p:txBody>
            <a:bodyPr wrap="none" rtlCol="0">
              <a:spAutoFit/>
            </a:bodyPr>
            <a:lstStyle/>
            <a:p>
              <a:r>
                <a:rPr lang="zh-CN" altLang="en-US" b="1">
                  <a:solidFill>
                    <a:srgbClr val="C00000"/>
                  </a:solidFill>
                </a:rPr>
                <a:t>待检查的力系</a:t>
              </a:r>
            </a:p>
          </p:txBody>
        </p:sp>
      </p:grpSp>
      <p:grpSp>
        <p:nvGrpSpPr>
          <p:cNvPr id="10" name="组合 76"/>
          <p:cNvGrpSpPr/>
          <p:nvPr/>
        </p:nvGrpSpPr>
        <p:grpSpPr>
          <a:xfrm>
            <a:off x="857224" y="5952480"/>
            <a:ext cx="7165732" cy="405478"/>
            <a:chOff x="857224" y="5952480"/>
            <a:chExt cx="7165732" cy="405478"/>
          </a:xfrm>
        </p:grpSpPr>
        <p:sp>
          <p:nvSpPr>
            <p:cNvPr id="59" name="TextBox 58"/>
            <p:cNvSpPr txBox="1"/>
            <p:nvPr/>
          </p:nvSpPr>
          <p:spPr>
            <a:xfrm>
              <a:off x="857224" y="5952480"/>
              <a:ext cx="3775393" cy="400110"/>
            </a:xfrm>
            <a:prstGeom prst="rect">
              <a:avLst/>
            </a:prstGeom>
            <a:noFill/>
            <a:ln w="28575">
              <a:noFill/>
            </a:ln>
          </p:spPr>
          <p:txBody>
            <a:bodyPr wrap="none" rtlCol="0">
              <a:spAutoFit/>
            </a:bodyPr>
            <a:lstStyle/>
            <a:p>
              <a:r>
                <a:rPr lang="zh-CN" altLang="en-US" sz="2000" b="1"/>
                <a:t>任意协调变形下虚位移方程成立</a:t>
              </a:r>
            </a:p>
          </p:txBody>
        </p:sp>
        <p:sp>
          <p:nvSpPr>
            <p:cNvPr id="71" name="TextBox 70"/>
            <p:cNvSpPr txBox="1"/>
            <p:nvPr/>
          </p:nvSpPr>
          <p:spPr>
            <a:xfrm>
              <a:off x="5786446" y="5957848"/>
              <a:ext cx="2236510" cy="400110"/>
            </a:xfrm>
            <a:prstGeom prst="rect">
              <a:avLst/>
            </a:prstGeom>
            <a:noFill/>
            <a:ln w="28575">
              <a:noFill/>
            </a:ln>
          </p:spPr>
          <p:txBody>
            <a:bodyPr wrap="none" rtlCol="0">
              <a:spAutoFit/>
            </a:bodyPr>
            <a:lstStyle/>
            <a:p>
              <a:r>
                <a:rPr lang="zh-CN" altLang="en-US" sz="2000" b="1"/>
                <a:t>力系满足平衡方程</a:t>
              </a:r>
            </a:p>
          </p:txBody>
        </p:sp>
        <p:sp>
          <p:nvSpPr>
            <p:cNvPr id="72" name="左右箭头 71"/>
            <p:cNvSpPr/>
            <p:nvPr/>
          </p:nvSpPr>
          <p:spPr bwMode="auto">
            <a:xfrm>
              <a:off x="4929190" y="6023918"/>
              <a:ext cx="571504" cy="285752"/>
            </a:xfrm>
            <a:prstGeom prst="leftRightArrow">
              <a:avLst/>
            </a:prstGeom>
            <a:solidFill>
              <a:srgbClr val="0070C0"/>
            </a:solidFill>
            <a:ln w="28575"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38" name="TextBox 37"/>
          <p:cNvSpPr txBox="1"/>
          <p:nvPr/>
        </p:nvSpPr>
        <p:spPr>
          <a:xfrm>
            <a:off x="7072330" y="4286256"/>
            <a:ext cx="1800493" cy="369332"/>
          </a:xfrm>
          <a:prstGeom prst="rect">
            <a:avLst/>
          </a:prstGeom>
          <a:noFill/>
          <a:ln w="28575">
            <a:noFill/>
          </a:ln>
        </p:spPr>
        <p:txBody>
          <a:bodyPr wrap="none" rtlCol="0">
            <a:spAutoFit/>
          </a:bodyPr>
          <a:lstStyle/>
          <a:p>
            <a:r>
              <a:rPr lang="zh-CN" altLang="en-US" b="1">
                <a:solidFill>
                  <a:srgbClr val="00B050"/>
                </a:solidFill>
              </a:rPr>
              <a:t>包括刚体位移！</a:t>
            </a:r>
            <a:endParaRPr lang="en-US" altLang="zh-CN" b="1">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70">
                                            <p:txEl>
                                              <p:pRg st="0" end="0"/>
                                            </p:txEl>
                                          </p:spTgt>
                                        </p:tgtEl>
                                        <p:attrNameLst>
                                          <p:attrName>style.visibility</p:attrName>
                                        </p:attrNameLst>
                                      </p:cBhvr>
                                      <p:to>
                                        <p:strVal val="visible"/>
                                      </p:to>
                                    </p:set>
                                    <p:animEffect transition="in" filter="wipe(up)">
                                      <p:cBhvr>
                                        <p:cTn id="13" dur="500"/>
                                        <p:tgtEl>
                                          <p:spTgt spid="170">
                                            <p:txEl>
                                              <p:pRg st="0" end="0"/>
                                            </p:txEl>
                                          </p:spTgt>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5"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linds(vertical)">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P spid="3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实例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9" name="Rectangle 6"/>
          <p:cNvSpPr>
            <a:spLocks noChangeArrowheads="1"/>
          </p:cNvSpPr>
          <p:nvPr/>
        </p:nvSpPr>
        <p:spPr bwMode="auto">
          <a:xfrm>
            <a:off x="469540" y="1830896"/>
            <a:ext cx="4673964"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例</a:t>
            </a:r>
            <a:r>
              <a:rPr lang="en-US" altLang="zh-CN" sz="2000" b="1">
                <a:latin typeface="Times New Roman" pitchFamily="18" charset="0"/>
                <a:cs typeface="Times New Roman" pitchFamily="18" charset="0"/>
              </a:rPr>
              <a:t>1</a:t>
            </a:r>
            <a:r>
              <a:rPr lang="zh-CN" altLang="en-US" sz="2000" b="1"/>
              <a:t>：图桁架中</a:t>
            </a:r>
            <a:r>
              <a:rPr lang="zh-CN" altLang="en-US" sz="2000" b="1">
                <a:solidFill>
                  <a:srgbClr val="0033CC"/>
                </a:solidFill>
              </a:rPr>
              <a:t>腹杆</a:t>
            </a:r>
            <a:r>
              <a:rPr lang="zh-CN" altLang="en-US" sz="2000" b="1"/>
              <a:t>刚度</a:t>
            </a:r>
            <a:r>
              <a:rPr lang="en-US" altLang="zh-CN" sz="2000" b="1" i="1">
                <a:latin typeface="Times New Roman" pitchFamily="18" charset="0"/>
                <a:cs typeface="Times New Roman" pitchFamily="18" charset="0"/>
              </a:rPr>
              <a:t>EA</a:t>
            </a:r>
            <a:r>
              <a:rPr lang="zh-CN" altLang="en-US" sz="2000" b="1"/>
              <a:t>的大小对</a:t>
            </a:r>
            <a:r>
              <a:rPr lang="en-US" altLang="zh-CN" sz="2000" b="1" i="1">
                <a:latin typeface="Times New Roman" pitchFamily="18" charset="0"/>
                <a:cs typeface="Times New Roman" pitchFamily="18" charset="0"/>
              </a:rPr>
              <a:t>C</a:t>
            </a:r>
            <a:r>
              <a:rPr lang="zh-CN" altLang="en-US" sz="2000" b="1"/>
              <a:t>点的竖向位移是否有影响？</a:t>
            </a:r>
          </a:p>
        </p:txBody>
      </p:sp>
      <p:grpSp>
        <p:nvGrpSpPr>
          <p:cNvPr id="62" name="组合 61"/>
          <p:cNvGrpSpPr/>
          <p:nvPr/>
        </p:nvGrpSpPr>
        <p:grpSpPr>
          <a:xfrm>
            <a:off x="5691216" y="1643050"/>
            <a:ext cx="2952750" cy="1727200"/>
            <a:chOff x="5357818" y="1643050"/>
            <a:chExt cx="2952750" cy="1727200"/>
          </a:xfrm>
        </p:grpSpPr>
        <p:graphicFrame>
          <p:nvGraphicFramePr>
            <p:cNvPr id="630788" name="Object 9"/>
            <p:cNvGraphicFramePr>
              <a:graphicFrameLocks noChangeAspect="1"/>
            </p:cNvGraphicFramePr>
            <p:nvPr/>
          </p:nvGraphicFramePr>
          <p:xfrm>
            <a:off x="5357818" y="1643050"/>
            <a:ext cx="2952750" cy="1727200"/>
          </p:xfrm>
          <a:graphic>
            <a:graphicData uri="http://schemas.openxmlformats.org/presentationml/2006/ole">
              <mc:AlternateContent xmlns:mc="http://schemas.openxmlformats.org/markup-compatibility/2006">
                <mc:Choice xmlns:v="urn:schemas-microsoft-com:vml" Requires="v">
                  <p:oleObj spid="_x0000_s630791" name="Drawing" r:id="rId4" imgW="2638440" imgH="1162080" progId="">
                    <p:embed/>
                  </p:oleObj>
                </mc:Choice>
                <mc:Fallback>
                  <p:oleObj name="Drawing" r:id="rId4" imgW="2638440" imgH="116208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l="16190" t="12190" r="28453" b="14937"/>
                        <a:stretch>
                          <a:fillRect/>
                        </a:stretch>
                      </p:blipFill>
                      <p:spPr bwMode="auto">
                        <a:xfrm>
                          <a:off x="5357818" y="1643050"/>
                          <a:ext cx="295275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7" name="直接连接符 46"/>
            <p:cNvCxnSpPr/>
            <p:nvPr/>
          </p:nvCxnSpPr>
          <p:spPr bwMode="auto">
            <a:xfrm>
              <a:off x="6464113" y="2631607"/>
              <a:ext cx="428628" cy="285752"/>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49" name="直接连接符 48"/>
            <p:cNvCxnSpPr/>
            <p:nvPr/>
          </p:nvCxnSpPr>
          <p:spPr bwMode="auto">
            <a:xfrm flipH="1">
              <a:off x="7000892" y="2631607"/>
              <a:ext cx="428628" cy="285752"/>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51" name="直接连接符 50"/>
            <p:cNvCxnSpPr/>
            <p:nvPr/>
          </p:nvCxnSpPr>
          <p:spPr bwMode="auto">
            <a:xfrm rot="5400000">
              <a:off x="6655277" y="2608457"/>
              <a:ext cx="57150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sp>
          <p:nvSpPr>
            <p:cNvPr id="60" name="TextBox 59"/>
            <p:cNvSpPr txBox="1"/>
            <p:nvPr/>
          </p:nvSpPr>
          <p:spPr>
            <a:xfrm>
              <a:off x="6572264" y="3000372"/>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sp>
        <p:nvSpPr>
          <p:cNvPr id="61" name="Rectangle 6"/>
          <p:cNvSpPr>
            <a:spLocks noChangeArrowheads="1"/>
          </p:cNvSpPr>
          <p:nvPr/>
        </p:nvSpPr>
        <p:spPr bwMode="auto">
          <a:xfrm>
            <a:off x="469540" y="2669441"/>
            <a:ext cx="4388212" cy="427746"/>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t>	</a:t>
            </a:r>
            <a:r>
              <a:rPr lang="zh-CN" altLang="en-US" sz="2000" b="1"/>
              <a:t>解：</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点位移可用虚力法计算：</a:t>
            </a:r>
            <a:endParaRPr lang="zh-CN" altLang="en-US" sz="2000" b="1"/>
          </a:p>
        </p:txBody>
      </p:sp>
      <p:grpSp>
        <p:nvGrpSpPr>
          <p:cNvPr id="75" name="组合 74"/>
          <p:cNvGrpSpPr/>
          <p:nvPr/>
        </p:nvGrpSpPr>
        <p:grpSpPr>
          <a:xfrm>
            <a:off x="5691216" y="3487750"/>
            <a:ext cx="2952750" cy="1882218"/>
            <a:chOff x="5357818" y="3487750"/>
            <a:chExt cx="2952750" cy="1882218"/>
          </a:xfrm>
        </p:grpSpPr>
        <p:grpSp>
          <p:nvGrpSpPr>
            <p:cNvPr id="66" name="组合 65"/>
            <p:cNvGrpSpPr/>
            <p:nvPr/>
          </p:nvGrpSpPr>
          <p:grpSpPr>
            <a:xfrm>
              <a:off x="5357818" y="3487750"/>
              <a:ext cx="2952750" cy="1727200"/>
              <a:chOff x="5357818" y="3487750"/>
              <a:chExt cx="2952750" cy="1727200"/>
            </a:xfrm>
          </p:grpSpPr>
          <p:graphicFrame>
            <p:nvGraphicFramePr>
              <p:cNvPr id="63" name="Object 9"/>
              <p:cNvGraphicFramePr>
                <a:graphicFrameLocks noChangeAspect="1"/>
              </p:cNvGraphicFramePr>
              <p:nvPr/>
            </p:nvGraphicFramePr>
            <p:xfrm>
              <a:off x="5357818" y="3487750"/>
              <a:ext cx="2952750" cy="1727200"/>
            </p:xfrm>
            <a:graphic>
              <a:graphicData uri="http://schemas.openxmlformats.org/presentationml/2006/ole">
                <mc:AlternateContent xmlns:mc="http://schemas.openxmlformats.org/markup-compatibility/2006">
                  <mc:Choice xmlns:v="urn:schemas-microsoft-com:vml" Requires="v">
                    <p:oleObj spid="_x0000_s630792" name="Drawing" r:id="rId6" imgW="2638440" imgH="1162080" progId="">
                      <p:embed/>
                    </p:oleObj>
                  </mc:Choice>
                  <mc:Fallback>
                    <p:oleObj name="Drawing" r:id="rId6" imgW="2638440" imgH="1162080"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l="16190" t="12190" r="28453" b="14937"/>
                          <a:stretch>
                            <a:fillRect/>
                          </a:stretch>
                        </p:blipFill>
                        <p:spPr bwMode="auto">
                          <a:xfrm>
                            <a:off x="5357818" y="3487750"/>
                            <a:ext cx="295275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 name="矩形 63"/>
              <p:cNvSpPr/>
              <p:nvPr/>
            </p:nvSpPr>
            <p:spPr bwMode="auto">
              <a:xfrm>
                <a:off x="6357950" y="3535163"/>
                <a:ext cx="1285884" cy="500066"/>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sp>
            <p:nvSpPr>
              <p:cNvPr id="65" name="TextBox 64"/>
              <p:cNvSpPr txBox="1"/>
              <p:nvPr/>
            </p:nvSpPr>
            <p:spPr>
              <a:xfrm>
                <a:off x="6572264" y="4822468"/>
                <a:ext cx="338554"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C</a:t>
                </a:r>
                <a:endParaRPr lang="zh-CN" altLang="en-US" b="1" i="1">
                  <a:latin typeface="Times New Roman" pitchFamily="18" charset="0"/>
                  <a:cs typeface="Times New Roman" pitchFamily="18" charset="0"/>
                </a:endParaRPr>
              </a:p>
            </p:txBody>
          </p:sp>
        </p:grpSp>
        <p:grpSp>
          <p:nvGrpSpPr>
            <p:cNvPr id="70" name="组合 69"/>
            <p:cNvGrpSpPr/>
            <p:nvPr/>
          </p:nvGrpSpPr>
          <p:grpSpPr>
            <a:xfrm>
              <a:off x="6941029" y="4812254"/>
              <a:ext cx="698820" cy="557714"/>
              <a:chOff x="6941029" y="4812254"/>
              <a:chExt cx="698820" cy="557714"/>
            </a:xfrm>
          </p:grpSpPr>
          <p:cxnSp>
            <p:nvCxnSpPr>
              <p:cNvPr id="68" name="直接箭头连接符 67"/>
              <p:cNvCxnSpPr/>
              <p:nvPr/>
            </p:nvCxnSpPr>
            <p:spPr bwMode="auto">
              <a:xfrm rot="5400000">
                <a:off x="6727509" y="5025774"/>
                <a:ext cx="428628" cy="1588"/>
              </a:xfrm>
              <a:prstGeom prst="straightConnector1">
                <a:avLst/>
              </a:prstGeom>
              <a:solidFill>
                <a:schemeClr val="accent1"/>
              </a:solidFill>
              <a:ln w="28575" cap="flat" cmpd="sng" algn="ctr">
                <a:solidFill>
                  <a:srgbClr val="FF0000"/>
                </a:solidFill>
                <a:prstDash val="solid"/>
                <a:round/>
                <a:headEnd type="none" w="med" len="med"/>
                <a:tailEnd type="triangle" w="lg" len="lg"/>
              </a:ln>
              <a:effectLst/>
            </p:spPr>
          </p:cxnSp>
          <p:sp>
            <p:nvSpPr>
              <p:cNvPr id="69" name="TextBox 68"/>
              <p:cNvSpPr txBox="1"/>
              <p:nvPr/>
            </p:nvSpPr>
            <p:spPr>
              <a:xfrm>
                <a:off x="7000892" y="5000636"/>
                <a:ext cx="638957" cy="369332"/>
              </a:xfrm>
              <a:prstGeom prst="rect">
                <a:avLst/>
              </a:prstGeom>
              <a:noFill/>
              <a:ln w="28575">
                <a:noFill/>
              </a:ln>
            </p:spPr>
            <p:txBody>
              <a:bodyPr wrap="none" rtlCol="0">
                <a:spAutoFit/>
              </a:bodyPr>
              <a:lstStyle/>
              <a:p>
                <a:r>
                  <a:rPr lang="en-US" altLang="zh-CN" b="1" i="1">
                    <a:solidFill>
                      <a:srgbClr val="FF0000"/>
                    </a:solidFill>
                    <a:latin typeface="Times New Roman" pitchFamily="18" charset="0"/>
                    <a:cs typeface="Times New Roman" pitchFamily="18" charset="0"/>
                  </a:rPr>
                  <a:t>F </a:t>
                </a:r>
                <a:r>
                  <a:rPr lang="en-US" altLang="zh-CN" b="1">
                    <a:solidFill>
                      <a:srgbClr val="FF0000"/>
                    </a:solidFill>
                    <a:latin typeface="Times New Roman" pitchFamily="18" charset="0"/>
                    <a:cs typeface="Times New Roman" pitchFamily="18" charset="0"/>
                  </a:rPr>
                  <a:t>=1</a:t>
                </a:r>
                <a:endParaRPr lang="zh-CN" altLang="en-US" b="1">
                  <a:solidFill>
                    <a:srgbClr val="FF0000"/>
                  </a:solidFill>
                  <a:latin typeface="Times New Roman" pitchFamily="18" charset="0"/>
                  <a:cs typeface="Times New Roman" pitchFamily="18" charset="0"/>
                </a:endParaRPr>
              </a:p>
            </p:txBody>
          </p:sp>
        </p:grpSp>
        <p:cxnSp>
          <p:nvCxnSpPr>
            <p:cNvPr id="74" name="直接连接符 73"/>
            <p:cNvCxnSpPr/>
            <p:nvPr/>
          </p:nvCxnSpPr>
          <p:spPr bwMode="auto">
            <a:xfrm>
              <a:off x="7120618" y="5083649"/>
              <a:ext cx="142876" cy="1588"/>
            </a:xfrm>
            <a:prstGeom prst="line">
              <a:avLst/>
            </a:prstGeom>
            <a:solidFill>
              <a:schemeClr val="accent1"/>
            </a:solidFill>
            <a:ln w="28575" cap="flat" cmpd="sng" algn="ctr">
              <a:solidFill>
                <a:srgbClr val="FF0000"/>
              </a:solidFill>
              <a:prstDash val="solid"/>
              <a:round/>
              <a:headEnd type="none" w="med" len="med"/>
              <a:tailEnd type="none" w="med" len="med"/>
            </a:ln>
            <a:effectLst/>
          </p:spPr>
        </p:cxnSp>
      </p:grpSp>
      <p:grpSp>
        <p:nvGrpSpPr>
          <p:cNvPr id="80" name="组合 79"/>
          <p:cNvGrpSpPr/>
          <p:nvPr/>
        </p:nvGrpSpPr>
        <p:grpSpPr>
          <a:xfrm>
            <a:off x="1500166" y="3143248"/>
            <a:ext cx="3643338" cy="830997"/>
            <a:chOff x="1500166" y="3143248"/>
            <a:chExt cx="3357586" cy="830997"/>
          </a:xfrm>
        </p:grpSpPr>
        <p:sp>
          <p:nvSpPr>
            <p:cNvPr id="76" name="TextBox 75"/>
            <p:cNvSpPr txBox="1"/>
            <p:nvPr/>
          </p:nvSpPr>
          <p:spPr>
            <a:xfrm>
              <a:off x="1500166" y="3143248"/>
              <a:ext cx="3357586" cy="830997"/>
            </a:xfrm>
            <a:prstGeom prst="rect">
              <a:avLst/>
            </a:prstGeom>
            <a:noFill/>
            <a:ln w="28575">
              <a:noFill/>
            </a:ln>
          </p:spPr>
          <p:txBody>
            <a:bodyPr wrap="square" rtlCol="0">
              <a:spAutoFit/>
            </a:bodyPr>
            <a:lstStyle/>
            <a:p>
              <a:pPr marL="358775" indent="-358775">
                <a:lnSpc>
                  <a:spcPct val="120000"/>
                </a:lnSpc>
              </a:pPr>
              <a:r>
                <a:rPr lang="zh-CN" altLang="en-US" sz="2000" b="1">
                  <a:latin typeface="Times New Roman" pitchFamily="18" charset="0"/>
                  <a:cs typeface="Times New Roman" pitchFamily="18" charset="0"/>
                </a:rPr>
                <a:t>⑴  施加单位虚荷载，求出其产生的各杆轴力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endParaRPr lang="zh-CN" altLang="en-US" sz="2000" b="1" baseline="-25000">
                <a:latin typeface="Times New Roman" pitchFamily="18" charset="0"/>
                <a:cs typeface="Times New Roman" pitchFamily="18" charset="0"/>
              </a:endParaRPr>
            </a:p>
          </p:txBody>
        </p:sp>
        <p:cxnSp>
          <p:nvCxnSpPr>
            <p:cNvPr id="78" name="直接连接符 77"/>
            <p:cNvCxnSpPr/>
            <p:nvPr/>
          </p:nvCxnSpPr>
          <p:spPr bwMode="auto">
            <a:xfrm flipV="1">
              <a:off x="3361052" y="3619764"/>
              <a:ext cx="180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81" name="矩形 80"/>
          <p:cNvSpPr/>
          <p:nvPr/>
        </p:nvSpPr>
        <p:spPr>
          <a:xfrm>
            <a:off x="1488623" y="3929066"/>
            <a:ext cx="3369129" cy="429285"/>
          </a:xfrm>
          <a:prstGeom prst="rect">
            <a:avLst/>
          </a:prstGeom>
        </p:spPr>
        <p:txBody>
          <a:bodyPr wrap="square">
            <a:spAutoFit/>
          </a:bodyPr>
          <a:lstStyle/>
          <a:p>
            <a:pPr marL="358775" lvl="0" indent="-358775">
              <a:lnSpc>
                <a:spcPct val="120000"/>
              </a:lnSpc>
            </a:pPr>
            <a:r>
              <a:rPr lang="zh-CN" altLang="en-US" sz="2000" b="1">
                <a:solidFill>
                  <a:srgbClr val="000000"/>
                </a:solidFill>
                <a:latin typeface="Times New Roman" pitchFamily="18" charset="0"/>
                <a:cs typeface="Times New Roman" pitchFamily="18" charset="0"/>
              </a:rPr>
              <a:t>⑵  由虚力原理知，</a:t>
            </a:r>
            <a:endParaRPr lang="en-US" altLang="zh-CN" sz="2000" b="1">
              <a:solidFill>
                <a:srgbClr val="000000"/>
              </a:solidFill>
              <a:latin typeface="Times New Roman" pitchFamily="18" charset="0"/>
              <a:cs typeface="Times New Roman" pitchFamily="18" charset="0"/>
            </a:endParaRPr>
          </a:p>
        </p:txBody>
      </p:sp>
      <p:graphicFrame>
        <p:nvGraphicFramePr>
          <p:cNvPr id="630790" name="Object 6"/>
          <p:cNvGraphicFramePr>
            <a:graphicFrameLocks noChangeAspect="1"/>
          </p:cNvGraphicFramePr>
          <p:nvPr/>
        </p:nvGraphicFramePr>
        <p:xfrm>
          <a:off x="2079625" y="4357688"/>
          <a:ext cx="2084388" cy="630237"/>
        </p:xfrm>
        <a:graphic>
          <a:graphicData uri="http://schemas.openxmlformats.org/presentationml/2006/ole">
            <mc:AlternateContent xmlns:mc="http://schemas.openxmlformats.org/markup-compatibility/2006">
              <mc:Choice xmlns:v="urn:schemas-microsoft-com:vml" Requires="v">
                <p:oleObj spid="_x0000_s630793" name="Equation" r:id="rId8" imgW="1346040" imgH="406080" progId="Equation.DSMT4">
                  <p:embed/>
                </p:oleObj>
              </mc:Choice>
              <mc:Fallback>
                <p:oleObj name="Equation" r:id="rId8" imgW="1346040" imgH="406080" progId="Equation.DSMT4">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9625" y="4357688"/>
                        <a:ext cx="2084388" cy="6302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5" name="组合 84"/>
          <p:cNvGrpSpPr/>
          <p:nvPr/>
        </p:nvGrpSpPr>
        <p:grpSpPr>
          <a:xfrm>
            <a:off x="6897132" y="2430856"/>
            <a:ext cx="768153" cy="490590"/>
            <a:chOff x="6563734" y="2430856"/>
            <a:chExt cx="768153" cy="490590"/>
          </a:xfrm>
        </p:grpSpPr>
        <p:sp>
          <p:nvSpPr>
            <p:cNvPr id="82" name="TextBox 81"/>
            <p:cNvSpPr txBox="1"/>
            <p:nvPr/>
          </p:nvSpPr>
          <p:spPr>
            <a:xfrm>
              <a:off x="6563734" y="257174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FF0000"/>
                  </a:solidFill>
                  <a:latin typeface="Times New Roman" pitchFamily="18" charset="0"/>
                  <a:cs typeface="Times New Roman" pitchFamily="18" charset="0"/>
                </a:rPr>
                <a:t>0</a:t>
              </a:r>
              <a:endParaRPr lang="zh-CN" altLang="en-US" b="1">
                <a:solidFill>
                  <a:srgbClr val="FF0000"/>
                </a:solidFill>
                <a:latin typeface="Times New Roman" pitchFamily="18" charset="0"/>
                <a:cs typeface="Times New Roman" pitchFamily="18" charset="0"/>
              </a:endParaRPr>
            </a:p>
          </p:txBody>
        </p:sp>
        <p:sp>
          <p:nvSpPr>
            <p:cNvPr id="83" name="TextBox 82"/>
            <p:cNvSpPr txBox="1"/>
            <p:nvPr/>
          </p:nvSpPr>
          <p:spPr>
            <a:xfrm>
              <a:off x="7143768" y="2571744"/>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FF0000"/>
                  </a:solidFill>
                  <a:latin typeface="Times New Roman" pitchFamily="18" charset="0"/>
                  <a:cs typeface="Times New Roman" pitchFamily="18" charset="0"/>
                </a:rPr>
                <a:t>0</a:t>
              </a:r>
              <a:endParaRPr lang="zh-CN" altLang="en-US" b="1">
                <a:solidFill>
                  <a:srgbClr val="FF0000"/>
                </a:solidFill>
                <a:latin typeface="Times New Roman" pitchFamily="18" charset="0"/>
                <a:cs typeface="Times New Roman" pitchFamily="18" charset="0"/>
              </a:endParaRPr>
            </a:p>
          </p:txBody>
        </p:sp>
        <p:sp>
          <p:nvSpPr>
            <p:cNvPr id="84" name="TextBox 83"/>
            <p:cNvSpPr txBox="1"/>
            <p:nvPr/>
          </p:nvSpPr>
          <p:spPr>
            <a:xfrm>
              <a:off x="6846441" y="2430856"/>
              <a:ext cx="188119" cy="349702"/>
            </a:xfrm>
            <a:prstGeom prst="rect">
              <a:avLst/>
            </a:prstGeom>
            <a:solidFill>
              <a:schemeClr val="bg1"/>
            </a:solidFill>
            <a:ln w="28575">
              <a:noFill/>
            </a:ln>
          </p:spPr>
          <p:txBody>
            <a:bodyPr wrap="none" lIns="36000" tIns="36000" rIns="36000" bIns="36000" rtlCol="0">
              <a:spAutoFit/>
            </a:bodyPr>
            <a:lstStyle/>
            <a:p>
              <a:r>
                <a:rPr lang="en-US" altLang="zh-CN" b="1">
                  <a:solidFill>
                    <a:srgbClr val="FF0000"/>
                  </a:solidFill>
                  <a:latin typeface="Times New Roman" pitchFamily="18" charset="0"/>
                  <a:cs typeface="Times New Roman" pitchFamily="18" charset="0"/>
                </a:rPr>
                <a:t>0</a:t>
              </a:r>
              <a:endParaRPr lang="zh-CN" altLang="en-US" b="1">
                <a:solidFill>
                  <a:srgbClr val="FF0000"/>
                </a:solidFill>
                <a:latin typeface="Times New Roman" pitchFamily="18" charset="0"/>
                <a:cs typeface="Times New Roman" pitchFamily="18" charset="0"/>
              </a:endParaRPr>
            </a:p>
          </p:txBody>
        </p:sp>
      </p:grpSp>
      <p:sp>
        <p:nvSpPr>
          <p:cNvPr id="86" name="TextBox 85"/>
          <p:cNvSpPr txBox="1"/>
          <p:nvPr/>
        </p:nvSpPr>
        <p:spPr>
          <a:xfrm>
            <a:off x="1511740" y="4977486"/>
            <a:ext cx="3631763" cy="830997"/>
          </a:xfrm>
          <a:prstGeom prst="rect">
            <a:avLst/>
          </a:prstGeom>
          <a:noFill/>
          <a:ln w="28575">
            <a:noFill/>
          </a:ln>
        </p:spPr>
        <p:txBody>
          <a:bodyPr wrap="square" rtlCol="0">
            <a:spAutoFit/>
          </a:bodyPr>
          <a:lstStyle/>
          <a:p>
            <a:pPr>
              <a:lnSpc>
                <a:spcPct val="120000"/>
              </a:lnSpc>
              <a:spcBef>
                <a:spcPts val="600"/>
              </a:spcBef>
            </a:pPr>
            <a:r>
              <a:rPr lang="zh-CN" altLang="en-US" sz="2000" b="1"/>
              <a:t>由于腹杆轴力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NP</a:t>
            </a:r>
            <a:r>
              <a:rPr lang="zh-CN" altLang="en-US" sz="2000" b="1">
                <a:latin typeface="Times New Roman" pitchFamily="18" charset="0"/>
                <a:cs typeface="Times New Roman" pitchFamily="18" charset="0"/>
              </a:rPr>
              <a:t>为</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，故腹杆刚度</a:t>
            </a:r>
            <a:r>
              <a:rPr lang="en-US" altLang="zh-CN" sz="2000" b="1" i="1">
                <a:latin typeface="Times New Roman" pitchFamily="18" charset="0"/>
                <a:cs typeface="Times New Roman" pitchFamily="18" charset="0"/>
              </a:rPr>
              <a:t>EA</a:t>
            </a:r>
            <a:r>
              <a:rPr lang="zh-CN" altLang="en-US" sz="2000" b="1">
                <a:latin typeface="Times New Roman" pitchFamily="18" charset="0"/>
                <a:cs typeface="Times New Roman" pitchFamily="18" charset="0"/>
              </a:rPr>
              <a:t>对</a:t>
            </a:r>
            <a:r>
              <a:rPr lang="en-US"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V </a:t>
            </a:r>
            <a:r>
              <a:rPr lang="zh-CN" altLang="en-US" sz="2000" b="1">
                <a:solidFill>
                  <a:srgbClr val="C00000"/>
                </a:solidFill>
                <a:latin typeface="Times New Roman" pitchFamily="18" charset="0"/>
                <a:cs typeface="Times New Roman" pitchFamily="18" charset="0"/>
              </a:rPr>
              <a:t>无影响</a:t>
            </a:r>
            <a:r>
              <a:rPr lang="zh-CN" altLang="en-US" sz="2000" b="1">
                <a:latin typeface="Times New Roman" pitchFamily="18" charset="0"/>
                <a:cs typeface="Times New Roman" pitchFamily="18" charset="0"/>
              </a:rPr>
              <a:t>。</a:t>
            </a:r>
            <a:endParaRPr lang="zh-CN" altLang="en-US" sz="2000" b="1"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ppt_x"/>
                                          </p:val>
                                        </p:tav>
                                        <p:tav tm="100000">
                                          <p:val>
                                            <p:strVal val="#ppt_x"/>
                                          </p:val>
                                        </p:tav>
                                      </p:tavLst>
                                    </p:anim>
                                    <p:anim calcmode="lin" valueType="num">
                                      <p:cBhvr additive="base">
                                        <p:cTn id="13"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0"/>
                                        </p:tgtEl>
                                        <p:attrNameLst>
                                          <p:attrName>style.visibility</p:attrName>
                                        </p:attrNameLst>
                                      </p:cBhvr>
                                      <p:to>
                                        <p:strVal val="visible"/>
                                      </p:to>
                                    </p:set>
                                    <p:anim calcmode="lin" valueType="num">
                                      <p:cBhvr additive="base">
                                        <p:cTn id="18" dur="500" fill="hold"/>
                                        <p:tgtEl>
                                          <p:spTgt spid="80"/>
                                        </p:tgtEl>
                                        <p:attrNameLst>
                                          <p:attrName>ppt_x</p:attrName>
                                        </p:attrNameLst>
                                      </p:cBhvr>
                                      <p:tavLst>
                                        <p:tav tm="0">
                                          <p:val>
                                            <p:strVal val="#ppt_x"/>
                                          </p:val>
                                        </p:tav>
                                        <p:tav tm="100000">
                                          <p:val>
                                            <p:strVal val="#ppt_x"/>
                                          </p:val>
                                        </p:tav>
                                      </p:tavLst>
                                    </p:anim>
                                    <p:anim calcmode="lin" valueType="num">
                                      <p:cBhvr additive="base">
                                        <p:cTn id="19" dur="500" fill="hold"/>
                                        <p:tgtEl>
                                          <p:spTgt spid="80"/>
                                        </p:tgtEl>
                                        <p:attrNameLst>
                                          <p:attrName>ppt_y</p:attrName>
                                        </p:attrNameLst>
                                      </p:cBhvr>
                                      <p:tavLst>
                                        <p:tav tm="0">
                                          <p:val>
                                            <p:strVal val="1+#ppt_h/2"/>
                                          </p:val>
                                        </p:tav>
                                        <p:tav tm="100000">
                                          <p:val>
                                            <p:strVal val="#ppt_y"/>
                                          </p:val>
                                        </p:tav>
                                      </p:tavLst>
                                    </p:anim>
                                  </p:childTnLst>
                                </p:cTn>
                              </p:par>
                              <p:par>
                                <p:cTn id="20" presetID="22" presetClass="entr" presetSubtype="4"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wipe(down)">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1"/>
                                        </p:tgtEl>
                                        <p:attrNameLst>
                                          <p:attrName>style.visibility</p:attrName>
                                        </p:attrNameLst>
                                      </p:cBhvr>
                                      <p:to>
                                        <p:strVal val="visible"/>
                                      </p:to>
                                    </p:set>
                                    <p:anim calcmode="lin" valueType="num">
                                      <p:cBhvr additive="base">
                                        <p:cTn id="27" dur="500" fill="hold"/>
                                        <p:tgtEl>
                                          <p:spTgt spid="81"/>
                                        </p:tgtEl>
                                        <p:attrNameLst>
                                          <p:attrName>ppt_x</p:attrName>
                                        </p:attrNameLst>
                                      </p:cBhvr>
                                      <p:tavLst>
                                        <p:tav tm="0">
                                          <p:val>
                                            <p:strVal val="#ppt_x"/>
                                          </p:val>
                                        </p:tav>
                                        <p:tav tm="100000">
                                          <p:val>
                                            <p:strVal val="#ppt_x"/>
                                          </p:val>
                                        </p:tav>
                                      </p:tavLst>
                                    </p:anim>
                                    <p:anim calcmode="lin" valueType="num">
                                      <p:cBhvr additive="base">
                                        <p:cTn id="28" dur="500" fill="hold"/>
                                        <p:tgtEl>
                                          <p:spTgt spid="81"/>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630790"/>
                                        </p:tgtEl>
                                        <p:attrNameLst>
                                          <p:attrName>style.visibility</p:attrName>
                                        </p:attrNameLst>
                                      </p:cBhvr>
                                      <p:to>
                                        <p:strVal val="visible"/>
                                      </p:to>
                                    </p:set>
                                    <p:anim calcmode="lin" valueType="num">
                                      <p:cBhvr additive="base">
                                        <p:cTn id="32" dur="500" fill="hold"/>
                                        <p:tgtEl>
                                          <p:spTgt spid="630790"/>
                                        </p:tgtEl>
                                        <p:attrNameLst>
                                          <p:attrName>ppt_x</p:attrName>
                                        </p:attrNameLst>
                                      </p:cBhvr>
                                      <p:tavLst>
                                        <p:tav tm="0">
                                          <p:val>
                                            <p:strVal val="#ppt_x"/>
                                          </p:val>
                                        </p:tav>
                                        <p:tav tm="100000">
                                          <p:val>
                                            <p:strVal val="#ppt_x"/>
                                          </p:val>
                                        </p:tav>
                                      </p:tavLst>
                                    </p:anim>
                                    <p:anim calcmode="lin" valueType="num">
                                      <p:cBhvr additive="base">
                                        <p:cTn id="33" dur="500" fill="hold"/>
                                        <p:tgtEl>
                                          <p:spTgt spid="63079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5"/>
                                        </p:tgtEl>
                                        <p:attrNameLst>
                                          <p:attrName>style.visibility</p:attrName>
                                        </p:attrNameLst>
                                      </p:cBhvr>
                                      <p:to>
                                        <p:strVal val="visible"/>
                                      </p:to>
                                    </p:set>
                                    <p:animEffect transition="in" filter="blinds(horizontal)">
                                      <p:cBhvr>
                                        <p:cTn id="38" dur="500"/>
                                        <p:tgtEl>
                                          <p:spTgt spid="8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6"/>
                                        </p:tgtEl>
                                        <p:attrNameLst>
                                          <p:attrName>style.visibility</p:attrName>
                                        </p:attrNameLst>
                                      </p:cBhvr>
                                      <p:to>
                                        <p:strVal val="visible"/>
                                      </p:to>
                                    </p:set>
                                    <p:anim calcmode="lin" valueType="num">
                                      <p:cBhvr additive="base">
                                        <p:cTn id="43" dur="500" fill="hold"/>
                                        <p:tgtEl>
                                          <p:spTgt spid="86"/>
                                        </p:tgtEl>
                                        <p:attrNameLst>
                                          <p:attrName>ppt_x</p:attrName>
                                        </p:attrNameLst>
                                      </p:cBhvr>
                                      <p:tavLst>
                                        <p:tav tm="0">
                                          <p:val>
                                            <p:strVal val="#ppt_x"/>
                                          </p:val>
                                        </p:tav>
                                        <p:tav tm="100000">
                                          <p:val>
                                            <p:strVal val="#ppt_x"/>
                                          </p:val>
                                        </p:tav>
                                      </p:tavLst>
                                    </p:anim>
                                    <p:anim calcmode="lin" valueType="num">
                                      <p:cBhvr additive="base">
                                        <p:cTn id="44"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81" grpId="0"/>
      <p:bldP spid="8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实例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变形体的虚功原理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9" name="Rectangle 6"/>
          <p:cNvSpPr>
            <a:spLocks noChangeArrowheads="1"/>
          </p:cNvSpPr>
          <p:nvPr/>
        </p:nvSpPr>
        <p:spPr bwMode="auto">
          <a:xfrm>
            <a:off x="469540" y="1830896"/>
            <a:ext cx="4673964"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：求图示梁的跨中挠度。</a:t>
            </a:r>
          </a:p>
        </p:txBody>
      </p:sp>
      <p:sp>
        <p:nvSpPr>
          <p:cNvPr id="61" name="Rectangle 6"/>
          <p:cNvSpPr>
            <a:spLocks noChangeArrowheads="1"/>
          </p:cNvSpPr>
          <p:nvPr/>
        </p:nvSpPr>
        <p:spPr bwMode="auto">
          <a:xfrm>
            <a:off x="469540" y="2285992"/>
            <a:ext cx="438821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t>	</a:t>
            </a:r>
            <a:r>
              <a:rPr lang="zh-CN" altLang="en-US" sz="2000" b="1"/>
              <a:t>解：梁挠度计算主要考虑弯矩</a:t>
            </a:r>
            <a:r>
              <a:rPr lang="zh-CN" altLang="en-US" sz="2000" b="1">
                <a:latin typeface="Times New Roman" pitchFamily="18" charset="0"/>
                <a:cs typeface="Times New Roman" pitchFamily="18" charset="0"/>
              </a:rPr>
              <a:t>：</a:t>
            </a:r>
            <a:endParaRPr lang="zh-CN" altLang="en-US" sz="2000" b="1"/>
          </a:p>
        </p:txBody>
      </p:sp>
      <p:sp>
        <p:nvSpPr>
          <p:cNvPr id="76" name="TextBox 75"/>
          <p:cNvSpPr txBox="1"/>
          <p:nvPr/>
        </p:nvSpPr>
        <p:spPr>
          <a:xfrm>
            <a:off x="1500166" y="2740879"/>
            <a:ext cx="3643338" cy="461665"/>
          </a:xfrm>
          <a:prstGeom prst="rect">
            <a:avLst/>
          </a:prstGeom>
          <a:noFill/>
          <a:ln w="28575">
            <a:noFill/>
          </a:ln>
        </p:spPr>
        <p:txBody>
          <a:bodyPr wrap="square" rtlCol="0">
            <a:spAutoFit/>
          </a:bodyPr>
          <a:lstStyle/>
          <a:p>
            <a:pPr marL="358775" indent="-358775">
              <a:lnSpc>
                <a:spcPct val="120000"/>
              </a:lnSpc>
            </a:pPr>
            <a:r>
              <a:rPr lang="zh-CN" altLang="en-US" sz="2000" b="1">
                <a:latin typeface="Times New Roman" pitchFamily="18" charset="0"/>
                <a:cs typeface="Times New Roman" pitchFamily="18" charset="0"/>
              </a:rPr>
              <a:t>⑴  梁的中点施加单位虚荷载；</a:t>
            </a:r>
            <a:endParaRPr lang="zh-CN" altLang="en-US" sz="2000" b="1" baseline="-25000">
              <a:latin typeface="Times New Roman" pitchFamily="18" charset="0"/>
              <a:cs typeface="Times New Roman" pitchFamily="18" charset="0"/>
            </a:endParaRPr>
          </a:p>
        </p:txBody>
      </p:sp>
      <p:sp>
        <p:nvSpPr>
          <p:cNvPr id="81" name="矩形 80"/>
          <p:cNvSpPr/>
          <p:nvPr/>
        </p:nvSpPr>
        <p:spPr>
          <a:xfrm>
            <a:off x="1488623" y="3142591"/>
            <a:ext cx="3369129" cy="429285"/>
          </a:xfrm>
          <a:prstGeom prst="rect">
            <a:avLst/>
          </a:prstGeom>
        </p:spPr>
        <p:txBody>
          <a:bodyPr wrap="square">
            <a:spAutoFit/>
          </a:bodyPr>
          <a:lstStyle/>
          <a:p>
            <a:pPr marL="358775" lvl="0" indent="-358775">
              <a:lnSpc>
                <a:spcPct val="120000"/>
              </a:lnSpc>
            </a:pPr>
            <a:r>
              <a:rPr lang="zh-CN" altLang="en-US" sz="2000" b="1">
                <a:solidFill>
                  <a:srgbClr val="000000"/>
                </a:solidFill>
                <a:latin typeface="Times New Roman" pitchFamily="18" charset="0"/>
                <a:cs typeface="Times New Roman" pitchFamily="18" charset="0"/>
              </a:rPr>
              <a:t>⑵  由虚力原理知，</a:t>
            </a:r>
            <a:endParaRPr lang="en-US" altLang="zh-CN" sz="2000" b="1">
              <a:solidFill>
                <a:srgbClr val="000000"/>
              </a:solidFill>
              <a:latin typeface="Times New Roman" pitchFamily="18" charset="0"/>
              <a:cs typeface="Times New Roman" pitchFamily="18" charset="0"/>
            </a:endParaRPr>
          </a:p>
        </p:txBody>
      </p:sp>
      <p:graphicFrame>
        <p:nvGraphicFramePr>
          <p:cNvPr id="630790" name="Object 6"/>
          <p:cNvGraphicFramePr>
            <a:graphicFrameLocks noChangeAspect="1"/>
          </p:cNvGraphicFramePr>
          <p:nvPr/>
        </p:nvGraphicFramePr>
        <p:xfrm>
          <a:off x="2246313" y="3617919"/>
          <a:ext cx="1749425" cy="668337"/>
        </p:xfrm>
        <a:graphic>
          <a:graphicData uri="http://schemas.openxmlformats.org/presentationml/2006/ole">
            <mc:AlternateContent xmlns:mc="http://schemas.openxmlformats.org/markup-compatibility/2006">
              <mc:Choice xmlns:v="urn:schemas-microsoft-com:vml" Requires="v">
                <p:oleObj spid="_x0000_s631816" name="Equation" r:id="rId4" imgW="1130040" imgH="431640" progId="Equation.DSMT4">
                  <p:embed/>
                </p:oleObj>
              </mc:Choice>
              <mc:Fallback>
                <p:oleObj name="Equation" r:id="rId4" imgW="1130040" imgH="4316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6313" y="3617919"/>
                        <a:ext cx="1749425" cy="6683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 name="TextBox 85"/>
          <p:cNvSpPr txBox="1"/>
          <p:nvPr/>
        </p:nvSpPr>
        <p:spPr>
          <a:xfrm>
            <a:off x="1511740" y="4383953"/>
            <a:ext cx="3631763" cy="830997"/>
          </a:xfrm>
          <a:prstGeom prst="rect">
            <a:avLst/>
          </a:prstGeom>
          <a:noFill/>
          <a:ln w="28575">
            <a:noFill/>
          </a:ln>
        </p:spPr>
        <p:txBody>
          <a:bodyPr wrap="square" rtlCol="0">
            <a:spAutoFit/>
          </a:bodyPr>
          <a:lstStyle/>
          <a:p>
            <a:pPr>
              <a:lnSpc>
                <a:spcPct val="120000"/>
              </a:lnSpc>
              <a:spcBef>
                <a:spcPts val="600"/>
              </a:spcBef>
            </a:pPr>
            <a:r>
              <a:rPr lang="zh-CN" altLang="en-US" sz="2000" b="1"/>
              <a:t>由于</a:t>
            </a:r>
            <a:r>
              <a:rPr lang="en-US" altLang="zh-CN" sz="2000" b="1" i="1">
                <a:latin typeface="Times New Roman" pitchFamily="18" charset="0"/>
                <a:cs typeface="Times New Roman" pitchFamily="18" charset="0"/>
              </a:rPr>
              <a:t>M</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反对称，</a:t>
            </a:r>
            <a:r>
              <a:rPr lang="en-US" altLang="zh-CN" sz="2000" b="1" i="1">
                <a:latin typeface="Times New Roman" pitchFamily="18" charset="0"/>
                <a:cs typeface="Times New Roman" pitchFamily="18" charset="0"/>
              </a:rPr>
              <a:t>M</a:t>
            </a:r>
            <a:r>
              <a:rPr lang="zh-CN" altLang="en-US" sz="2000" b="1">
                <a:latin typeface="Times New Roman" pitchFamily="18" charset="0"/>
                <a:cs typeface="Times New Roman" pitchFamily="18" charset="0"/>
              </a:rPr>
              <a:t>对称，故方程右端积分为</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，即</a:t>
            </a:r>
            <a:r>
              <a:rPr lang="en-US"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V</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0</a:t>
            </a:r>
            <a:r>
              <a:rPr lang="en-US" altLang="zh-CN" sz="2000" b="1" baseline="-25000">
                <a:latin typeface="Times New Roman" pitchFamily="18" charset="0"/>
                <a:cs typeface="Times New Roman" pitchFamily="18" charset="0"/>
              </a:rPr>
              <a:t> </a:t>
            </a:r>
            <a:r>
              <a:rPr lang="zh-CN" altLang="en-US" sz="2000" b="1">
                <a:latin typeface="Times New Roman" pitchFamily="18" charset="0"/>
                <a:cs typeface="Times New Roman" pitchFamily="18" charset="0"/>
              </a:rPr>
              <a:t>。</a:t>
            </a:r>
            <a:endParaRPr lang="zh-CN" altLang="en-US" sz="2000" b="1" baseline="-25000"/>
          </a:p>
        </p:txBody>
      </p:sp>
      <p:graphicFrame>
        <p:nvGraphicFramePr>
          <p:cNvPr id="631815" name="Object 6"/>
          <p:cNvGraphicFramePr>
            <a:graphicFrameLocks noChangeAspect="1"/>
          </p:cNvGraphicFramePr>
          <p:nvPr/>
        </p:nvGraphicFramePr>
        <p:xfrm>
          <a:off x="5857884" y="1928802"/>
          <a:ext cx="2665412" cy="1066800"/>
        </p:xfrm>
        <a:graphic>
          <a:graphicData uri="http://schemas.openxmlformats.org/presentationml/2006/ole">
            <mc:AlternateContent xmlns:mc="http://schemas.openxmlformats.org/markup-compatibility/2006">
              <mc:Choice xmlns:v="urn:schemas-microsoft-com:vml" Requires="v">
                <p:oleObj spid="_x0000_s631817" name="AutoCAD Drawing" r:id="rId6" imgW="8943840" imgH="4981680" progId="">
                  <p:embed/>
                </p:oleObj>
              </mc:Choice>
              <mc:Fallback>
                <p:oleObj name="AutoCAD Drawing" r:id="rId6" imgW="8943840" imgH="4981680" progId="">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l="11528" t="50293" r="19200"/>
                      <a:stretch>
                        <a:fillRect/>
                      </a:stretch>
                    </p:blipFill>
                    <p:spPr bwMode="auto">
                      <a:xfrm>
                        <a:off x="5857884" y="1928802"/>
                        <a:ext cx="266541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8" name="组合 47"/>
          <p:cNvGrpSpPr/>
          <p:nvPr/>
        </p:nvGrpSpPr>
        <p:grpSpPr>
          <a:xfrm>
            <a:off x="6072198" y="3429000"/>
            <a:ext cx="2500330" cy="995802"/>
            <a:chOff x="6072198" y="3429000"/>
            <a:chExt cx="2500330" cy="995802"/>
          </a:xfrm>
        </p:grpSpPr>
        <p:pic>
          <p:nvPicPr>
            <p:cNvPr id="631816" name="Picture 8"/>
            <p:cNvPicPr>
              <a:picLocks noChangeAspect="1" noChangeArrowheads="1"/>
            </p:cNvPicPr>
            <p:nvPr/>
          </p:nvPicPr>
          <p:blipFill>
            <a:blip r:embed="rId8"/>
            <a:srcRect/>
            <a:stretch>
              <a:fillRect/>
            </a:stretch>
          </p:blipFill>
          <p:spPr bwMode="auto">
            <a:xfrm>
              <a:off x="6072198" y="3786190"/>
              <a:ext cx="2500330" cy="638612"/>
            </a:xfrm>
            <a:prstGeom prst="rect">
              <a:avLst/>
            </a:prstGeom>
            <a:noFill/>
            <a:ln w="9525">
              <a:noFill/>
              <a:miter lim="800000"/>
              <a:headEnd/>
              <a:tailEnd/>
            </a:ln>
            <a:effectLst/>
          </p:spPr>
        </p:pic>
        <p:cxnSp>
          <p:nvCxnSpPr>
            <p:cNvPr id="44" name="直接箭头连接符 43"/>
            <p:cNvCxnSpPr/>
            <p:nvPr/>
          </p:nvCxnSpPr>
          <p:spPr bwMode="auto">
            <a:xfrm rot="5400000">
              <a:off x="7102893" y="3855148"/>
              <a:ext cx="432000" cy="1588"/>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sp>
          <p:nvSpPr>
            <p:cNvPr id="46" name="TextBox 45"/>
            <p:cNvSpPr txBox="1"/>
            <p:nvPr/>
          </p:nvSpPr>
          <p:spPr>
            <a:xfrm>
              <a:off x="7358082" y="3429000"/>
              <a:ext cx="312906" cy="400110"/>
            </a:xfrm>
            <a:prstGeom prst="rect">
              <a:avLst/>
            </a:prstGeom>
            <a:noFill/>
            <a:ln w="28575">
              <a:noFill/>
            </a:ln>
          </p:spPr>
          <p:txBody>
            <a:bodyPr wrap="none" rtlCol="0">
              <a:spAutoFit/>
            </a:bodyPr>
            <a:lstStyle/>
            <a:p>
              <a:r>
                <a:rPr lang="en-US" altLang="zh-CN" sz="2000" b="1">
                  <a:solidFill>
                    <a:srgbClr val="FF0000"/>
                  </a:solidFill>
                  <a:latin typeface="Times New Roman" pitchFamily="18" charset="0"/>
                  <a:cs typeface="Times New Roman" pitchFamily="18" charset="0"/>
                </a:rPr>
                <a:t>1</a:t>
              </a:r>
              <a:endParaRPr lang="zh-CN" altLang="en-US" sz="2000" b="1">
                <a:solidFill>
                  <a:srgbClr val="FF0000"/>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31815"/>
                                        </p:tgtEl>
                                        <p:attrNameLst>
                                          <p:attrName>style.visibility</p:attrName>
                                        </p:attrNameLst>
                                      </p:cBhvr>
                                      <p:to>
                                        <p:strVal val="visible"/>
                                      </p:to>
                                    </p:set>
                                    <p:animEffect transition="in" filter="wipe(down)">
                                      <p:cBhvr>
                                        <p:cTn id="7" dur="500"/>
                                        <p:tgtEl>
                                          <p:spTgt spid="6318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ppt_x"/>
                                          </p:val>
                                        </p:tav>
                                        <p:tav tm="100000">
                                          <p:val>
                                            <p:strVal val="#ppt_x"/>
                                          </p:val>
                                        </p:tav>
                                      </p:tavLst>
                                    </p:anim>
                                    <p:anim calcmode="lin" valueType="num">
                                      <p:cBhvr additive="base">
                                        <p:cTn id="13"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 calcmode="lin" valueType="num">
                                      <p:cBhvr additive="base">
                                        <p:cTn id="18" dur="500" fill="hold"/>
                                        <p:tgtEl>
                                          <p:spTgt spid="76"/>
                                        </p:tgtEl>
                                        <p:attrNameLst>
                                          <p:attrName>ppt_x</p:attrName>
                                        </p:attrNameLst>
                                      </p:cBhvr>
                                      <p:tavLst>
                                        <p:tav tm="0">
                                          <p:val>
                                            <p:strVal val="#ppt_x"/>
                                          </p:val>
                                        </p:tav>
                                        <p:tav tm="100000">
                                          <p:val>
                                            <p:strVal val="#ppt_x"/>
                                          </p:val>
                                        </p:tav>
                                      </p:tavLst>
                                    </p:anim>
                                    <p:anim calcmode="lin" valueType="num">
                                      <p:cBhvr additive="base">
                                        <p:cTn id="19" dur="500" fill="hold"/>
                                        <p:tgtEl>
                                          <p:spTgt spid="7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ppt_x"/>
                                          </p:val>
                                        </p:tav>
                                        <p:tav tm="100000">
                                          <p:val>
                                            <p:strVal val="#ppt_x"/>
                                          </p:val>
                                        </p:tav>
                                      </p:tavLst>
                                    </p:anim>
                                    <p:anim calcmode="lin" valueType="num">
                                      <p:cBhvr additive="base">
                                        <p:cTn id="2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1"/>
                                        </p:tgtEl>
                                        <p:attrNameLst>
                                          <p:attrName>style.visibility</p:attrName>
                                        </p:attrNameLst>
                                      </p:cBhvr>
                                      <p:to>
                                        <p:strVal val="visible"/>
                                      </p:to>
                                    </p:set>
                                    <p:anim calcmode="lin" valueType="num">
                                      <p:cBhvr additive="base">
                                        <p:cTn id="29" dur="500" fill="hold"/>
                                        <p:tgtEl>
                                          <p:spTgt spid="81"/>
                                        </p:tgtEl>
                                        <p:attrNameLst>
                                          <p:attrName>ppt_x</p:attrName>
                                        </p:attrNameLst>
                                      </p:cBhvr>
                                      <p:tavLst>
                                        <p:tav tm="0">
                                          <p:val>
                                            <p:strVal val="#ppt_x"/>
                                          </p:val>
                                        </p:tav>
                                        <p:tav tm="100000">
                                          <p:val>
                                            <p:strVal val="#ppt_x"/>
                                          </p:val>
                                        </p:tav>
                                      </p:tavLst>
                                    </p:anim>
                                    <p:anim calcmode="lin" valueType="num">
                                      <p:cBhvr additive="base">
                                        <p:cTn id="30" dur="500" fill="hold"/>
                                        <p:tgtEl>
                                          <p:spTgt spid="81"/>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630790"/>
                                        </p:tgtEl>
                                        <p:attrNameLst>
                                          <p:attrName>style.visibility</p:attrName>
                                        </p:attrNameLst>
                                      </p:cBhvr>
                                      <p:to>
                                        <p:strVal val="visible"/>
                                      </p:to>
                                    </p:set>
                                    <p:anim calcmode="lin" valueType="num">
                                      <p:cBhvr additive="base">
                                        <p:cTn id="34" dur="500" fill="hold"/>
                                        <p:tgtEl>
                                          <p:spTgt spid="630790"/>
                                        </p:tgtEl>
                                        <p:attrNameLst>
                                          <p:attrName>ppt_x</p:attrName>
                                        </p:attrNameLst>
                                      </p:cBhvr>
                                      <p:tavLst>
                                        <p:tav tm="0">
                                          <p:val>
                                            <p:strVal val="#ppt_x"/>
                                          </p:val>
                                        </p:tav>
                                        <p:tav tm="100000">
                                          <p:val>
                                            <p:strVal val="#ppt_x"/>
                                          </p:val>
                                        </p:tav>
                                      </p:tavLst>
                                    </p:anim>
                                    <p:anim calcmode="lin" valueType="num">
                                      <p:cBhvr additive="base">
                                        <p:cTn id="35" dur="500" fill="hold"/>
                                        <p:tgtEl>
                                          <p:spTgt spid="630790"/>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6"/>
                                        </p:tgtEl>
                                        <p:attrNameLst>
                                          <p:attrName>style.visibility</p:attrName>
                                        </p:attrNameLst>
                                      </p:cBhvr>
                                      <p:to>
                                        <p:strVal val="visible"/>
                                      </p:to>
                                    </p:set>
                                    <p:anim calcmode="lin" valueType="num">
                                      <p:cBhvr additive="base">
                                        <p:cTn id="40" dur="500" fill="hold"/>
                                        <p:tgtEl>
                                          <p:spTgt spid="86"/>
                                        </p:tgtEl>
                                        <p:attrNameLst>
                                          <p:attrName>ppt_x</p:attrName>
                                        </p:attrNameLst>
                                      </p:cBhvr>
                                      <p:tavLst>
                                        <p:tav tm="0">
                                          <p:val>
                                            <p:strVal val="#ppt_x"/>
                                          </p:val>
                                        </p:tav>
                                        <p:tav tm="100000">
                                          <p:val>
                                            <p:strVal val="#ppt_x"/>
                                          </p:val>
                                        </p:tav>
                                      </p:tavLst>
                                    </p:anim>
                                    <p:anim calcmode="lin" valueType="num">
                                      <p:cBhvr additive="base">
                                        <p:cTn id="41"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76" grpId="0"/>
      <p:bldP spid="81" grpId="0"/>
      <p:bldP spid="8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实例</a:t>
            </a:r>
            <a:endParaRPr lang="en-US" altLang="zh-CN" sz="2400" baseline="-250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9" name="Rectangle 6"/>
          <p:cNvSpPr>
            <a:spLocks noChangeArrowheads="1"/>
          </p:cNvSpPr>
          <p:nvPr/>
        </p:nvSpPr>
        <p:spPr bwMode="auto">
          <a:xfrm>
            <a:off x="469540" y="1830896"/>
            <a:ext cx="4673964" cy="461665"/>
          </a:xfrm>
          <a:prstGeom prst="rect">
            <a:avLst/>
          </a:prstGeom>
          <a:noFill/>
          <a:ln w="9525">
            <a:noFill/>
            <a:miter lim="800000"/>
            <a:headEnd/>
            <a:tailEnd/>
          </a:ln>
        </p:spPr>
        <p:txBody>
          <a:bodyPr wrap="square">
            <a:spAutoFit/>
          </a:bodyPr>
          <a:lstStyle/>
          <a:p>
            <a:pPr marL="742950" lvl="1" indent="-285750"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3</a:t>
            </a:r>
            <a:r>
              <a:rPr lang="zh-CN" altLang="en-US" sz="2000" b="1">
                <a:latin typeface="Times New Roman" pitchFamily="18" charset="0"/>
                <a:cs typeface="Times New Roman" pitchFamily="18" charset="0"/>
              </a:rPr>
              <a:t>：求图示桁架</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点的水平位移。</a:t>
            </a:r>
          </a:p>
        </p:txBody>
      </p:sp>
      <p:sp>
        <p:nvSpPr>
          <p:cNvPr id="61" name="Rectangle 6"/>
          <p:cNvSpPr>
            <a:spLocks noChangeArrowheads="1"/>
          </p:cNvSpPr>
          <p:nvPr/>
        </p:nvSpPr>
        <p:spPr bwMode="auto">
          <a:xfrm>
            <a:off x="469540" y="2285992"/>
            <a:ext cx="4388212"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t>	</a:t>
            </a:r>
            <a:r>
              <a:rPr lang="zh-CN" altLang="en-US" sz="2000" b="1"/>
              <a:t>解：桁架只用考虑轴力</a:t>
            </a:r>
          </a:p>
        </p:txBody>
      </p:sp>
      <p:sp>
        <p:nvSpPr>
          <p:cNvPr id="76" name="TextBox 75"/>
          <p:cNvSpPr txBox="1"/>
          <p:nvPr/>
        </p:nvSpPr>
        <p:spPr>
          <a:xfrm>
            <a:off x="1500166" y="2740879"/>
            <a:ext cx="3643338" cy="461665"/>
          </a:xfrm>
          <a:prstGeom prst="rect">
            <a:avLst/>
          </a:prstGeom>
          <a:noFill/>
          <a:ln w="28575">
            <a:noFill/>
          </a:ln>
        </p:spPr>
        <p:txBody>
          <a:bodyPr wrap="square" rtlCol="0">
            <a:spAutoFit/>
          </a:bodyPr>
          <a:lstStyle/>
          <a:p>
            <a:pPr marL="358775" indent="-358775">
              <a:lnSpc>
                <a:spcPct val="120000"/>
              </a:lnSpc>
            </a:pPr>
            <a:r>
              <a:rPr lang="zh-CN" altLang="en-US" sz="2000" b="1">
                <a:latin typeface="Times New Roman" pitchFamily="18" charset="0"/>
                <a:cs typeface="Times New Roman" pitchFamily="18" charset="0"/>
              </a:rPr>
              <a:t>⑴  </a:t>
            </a:r>
            <a:r>
              <a:rPr lang="en-US" altLang="zh-CN" sz="2000" b="1" i="1">
                <a:latin typeface="Times New Roman" pitchFamily="18" charset="0"/>
                <a:cs typeface="Times New Roman" pitchFamily="18" charset="0"/>
              </a:rPr>
              <a:t>B</a:t>
            </a:r>
            <a:r>
              <a:rPr lang="zh-CN" altLang="en-US" sz="2000" b="1">
                <a:latin typeface="Times New Roman" pitchFamily="18" charset="0"/>
                <a:cs typeface="Times New Roman" pitchFamily="18" charset="0"/>
              </a:rPr>
              <a:t>点施加向右的单位虚荷载；</a:t>
            </a:r>
            <a:endParaRPr lang="zh-CN" altLang="en-US" sz="2000" b="1" baseline="-25000">
              <a:latin typeface="Times New Roman" pitchFamily="18" charset="0"/>
              <a:cs typeface="Times New Roman" pitchFamily="18" charset="0"/>
            </a:endParaRPr>
          </a:p>
        </p:txBody>
      </p:sp>
      <p:sp>
        <p:nvSpPr>
          <p:cNvPr id="81" name="矩形 80"/>
          <p:cNvSpPr/>
          <p:nvPr/>
        </p:nvSpPr>
        <p:spPr>
          <a:xfrm>
            <a:off x="1488623" y="4572008"/>
            <a:ext cx="3369129" cy="429285"/>
          </a:xfrm>
          <a:prstGeom prst="rect">
            <a:avLst/>
          </a:prstGeom>
        </p:spPr>
        <p:txBody>
          <a:bodyPr wrap="square">
            <a:spAutoFit/>
          </a:bodyPr>
          <a:lstStyle/>
          <a:p>
            <a:pPr marL="358775" lvl="0" indent="-358775">
              <a:lnSpc>
                <a:spcPct val="120000"/>
              </a:lnSpc>
            </a:pPr>
            <a:r>
              <a:rPr lang="zh-CN" altLang="en-US" sz="2000" b="1">
                <a:solidFill>
                  <a:srgbClr val="000000"/>
                </a:solidFill>
                <a:latin typeface="Times New Roman" pitchFamily="18" charset="0"/>
                <a:cs typeface="Times New Roman" pitchFamily="18" charset="0"/>
              </a:rPr>
              <a:t>⑶  由虚力原理知，</a:t>
            </a:r>
            <a:endParaRPr lang="en-US" altLang="zh-CN" sz="2000" b="1">
              <a:solidFill>
                <a:srgbClr val="000000"/>
              </a:solidFill>
              <a:latin typeface="Times New Roman" pitchFamily="18" charset="0"/>
              <a:cs typeface="Times New Roman" pitchFamily="18" charset="0"/>
            </a:endParaRPr>
          </a:p>
        </p:txBody>
      </p:sp>
      <p:graphicFrame>
        <p:nvGraphicFramePr>
          <p:cNvPr id="630790" name="Object 6"/>
          <p:cNvGraphicFramePr>
            <a:graphicFrameLocks noChangeAspect="1"/>
          </p:cNvGraphicFramePr>
          <p:nvPr/>
        </p:nvGraphicFramePr>
        <p:xfrm>
          <a:off x="2030413" y="5046663"/>
          <a:ext cx="2182812" cy="668337"/>
        </p:xfrm>
        <a:graphic>
          <a:graphicData uri="http://schemas.openxmlformats.org/presentationml/2006/ole">
            <mc:AlternateContent xmlns:mc="http://schemas.openxmlformats.org/markup-compatibility/2006">
              <mc:Choice xmlns:v="urn:schemas-microsoft-com:vml" Requires="v">
                <p:oleObj spid="_x0000_s632835" name="Equation" r:id="rId4" imgW="1409400" imgH="431640" progId="Equation.DSMT4">
                  <p:embed/>
                </p:oleObj>
              </mc:Choice>
              <mc:Fallback>
                <p:oleObj name="Equation" r:id="rId4" imgW="1409400" imgH="4316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3" y="5046663"/>
                        <a:ext cx="2182812" cy="6683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组合 22"/>
          <p:cNvGrpSpPr/>
          <p:nvPr/>
        </p:nvGrpSpPr>
        <p:grpSpPr>
          <a:xfrm>
            <a:off x="5350878" y="1528692"/>
            <a:ext cx="3462640" cy="2300418"/>
            <a:chOff x="5350878" y="1528692"/>
            <a:chExt cx="3462640" cy="2300418"/>
          </a:xfrm>
        </p:grpSpPr>
        <p:pic>
          <p:nvPicPr>
            <p:cNvPr id="632836" name="Picture 4"/>
            <p:cNvPicPr>
              <a:picLocks noChangeAspect="1" noChangeArrowheads="1"/>
            </p:cNvPicPr>
            <p:nvPr/>
          </p:nvPicPr>
          <p:blipFill>
            <a:blip r:embed="rId6"/>
            <a:srcRect/>
            <a:stretch>
              <a:fillRect/>
            </a:stretch>
          </p:blipFill>
          <p:spPr bwMode="auto">
            <a:xfrm>
              <a:off x="5357818" y="1785926"/>
              <a:ext cx="3295650" cy="1790700"/>
            </a:xfrm>
            <a:prstGeom prst="rect">
              <a:avLst/>
            </a:prstGeom>
            <a:noFill/>
            <a:ln w="9525">
              <a:noFill/>
              <a:miter lim="800000"/>
              <a:headEnd/>
              <a:tailEnd/>
            </a:ln>
            <a:effectLst/>
          </p:spPr>
        </p:pic>
        <p:sp>
          <p:nvSpPr>
            <p:cNvPr id="17" name="TextBox 16"/>
            <p:cNvSpPr txBox="1"/>
            <p:nvPr/>
          </p:nvSpPr>
          <p:spPr>
            <a:xfrm>
              <a:off x="6286512" y="1539363"/>
              <a:ext cx="356188" cy="400110"/>
            </a:xfrm>
            <a:prstGeom prst="rect">
              <a:avLst/>
            </a:prstGeom>
            <a:noFill/>
            <a:ln w="28575">
              <a:noFill/>
            </a:ln>
          </p:spPr>
          <p:txBody>
            <a:bodyPr wrap="none" rtlCol="0">
              <a:spAutoFit/>
            </a:bodyPr>
            <a:lstStyle/>
            <a:p>
              <a:pPr algn="ctr"/>
              <a:r>
                <a:rPr lang="en-US" altLang="zh-CN" sz="2000" b="1" i="1">
                  <a:solidFill>
                    <a:srgbClr val="C00000"/>
                  </a:solidFill>
                  <a:latin typeface="Times New Roman" pitchFamily="18" charset="0"/>
                  <a:cs typeface="Times New Roman" pitchFamily="18" charset="0"/>
                </a:rPr>
                <a:t>F</a:t>
              </a:r>
              <a:endParaRPr lang="zh-CN" altLang="en-US" sz="2000" b="1" i="1">
                <a:solidFill>
                  <a:srgbClr val="C00000"/>
                </a:solidFill>
                <a:latin typeface="Times New Roman" pitchFamily="18" charset="0"/>
                <a:cs typeface="Times New Roman" pitchFamily="18" charset="0"/>
              </a:endParaRPr>
            </a:p>
          </p:txBody>
        </p:sp>
        <p:sp>
          <p:nvSpPr>
            <p:cNvPr id="18" name="TextBox 17"/>
            <p:cNvSpPr txBox="1"/>
            <p:nvPr/>
          </p:nvSpPr>
          <p:spPr>
            <a:xfrm>
              <a:off x="7346021" y="1528692"/>
              <a:ext cx="356188" cy="400110"/>
            </a:xfrm>
            <a:prstGeom prst="rect">
              <a:avLst/>
            </a:prstGeom>
            <a:noFill/>
            <a:ln w="28575">
              <a:noFill/>
            </a:ln>
          </p:spPr>
          <p:txBody>
            <a:bodyPr wrap="none" rtlCol="0">
              <a:spAutoFit/>
            </a:bodyPr>
            <a:lstStyle/>
            <a:p>
              <a:pPr algn="ctr"/>
              <a:r>
                <a:rPr lang="en-US" altLang="zh-CN" sz="2000" b="1" i="1">
                  <a:solidFill>
                    <a:srgbClr val="C00000"/>
                  </a:solidFill>
                  <a:latin typeface="Times New Roman" pitchFamily="18" charset="0"/>
                  <a:cs typeface="Times New Roman" pitchFamily="18" charset="0"/>
                </a:rPr>
                <a:t>F</a:t>
              </a:r>
              <a:endParaRPr lang="zh-CN" altLang="en-US" sz="2000" b="1" i="1">
                <a:solidFill>
                  <a:srgbClr val="C00000"/>
                </a:solidFill>
                <a:latin typeface="Times New Roman" pitchFamily="18" charset="0"/>
                <a:cs typeface="Times New Roman" pitchFamily="18" charset="0"/>
              </a:endParaRPr>
            </a:p>
          </p:txBody>
        </p:sp>
        <p:sp>
          <p:nvSpPr>
            <p:cNvPr id="19" name="TextBox 18"/>
            <p:cNvSpPr txBox="1"/>
            <p:nvPr/>
          </p:nvSpPr>
          <p:spPr>
            <a:xfrm>
              <a:off x="6859018" y="3429000"/>
              <a:ext cx="484428" cy="400110"/>
            </a:xfrm>
            <a:prstGeom prst="rect">
              <a:avLst/>
            </a:prstGeom>
            <a:noFill/>
            <a:ln w="28575">
              <a:noFill/>
            </a:ln>
          </p:spPr>
          <p:txBody>
            <a:bodyPr wrap="none" rtlCol="0">
              <a:spAutoFit/>
            </a:bodyPr>
            <a:lstStyle/>
            <a:p>
              <a:pPr algn="ctr"/>
              <a:r>
                <a:rPr lang="en-US" altLang="zh-CN" sz="2000" b="1">
                  <a:solidFill>
                    <a:srgbClr val="C00000"/>
                  </a:solidFill>
                  <a:latin typeface="Times New Roman" pitchFamily="18" charset="0"/>
                  <a:cs typeface="Times New Roman" pitchFamily="18" charset="0"/>
                </a:rPr>
                <a:t>2</a:t>
              </a:r>
              <a:r>
                <a:rPr lang="en-US" altLang="zh-CN" sz="2000" b="1" i="1">
                  <a:solidFill>
                    <a:srgbClr val="C00000"/>
                  </a:solidFill>
                  <a:latin typeface="Times New Roman" pitchFamily="18" charset="0"/>
                  <a:cs typeface="Times New Roman" pitchFamily="18" charset="0"/>
                </a:rPr>
                <a:t>F</a:t>
              </a:r>
              <a:endParaRPr lang="zh-CN" altLang="en-US" sz="2000" b="1" i="1">
                <a:solidFill>
                  <a:srgbClr val="C00000"/>
                </a:solidFill>
                <a:latin typeface="Times New Roman" pitchFamily="18" charset="0"/>
                <a:cs typeface="Times New Roman" pitchFamily="18" charset="0"/>
              </a:endParaRPr>
            </a:p>
          </p:txBody>
        </p:sp>
        <p:sp>
          <p:nvSpPr>
            <p:cNvPr id="20" name="TextBox 19"/>
            <p:cNvSpPr txBox="1"/>
            <p:nvPr/>
          </p:nvSpPr>
          <p:spPr>
            <a:xfrm>
              <a:off x="5350878" y="2721560"/>
              <a:ext cx="356187" cy="400110"/>
            </a:xfrm>
            <a:prstGeom prst="rect">
              <a:avLst/>
            </a:prstGeom>
            <a:noFill/>
            <a:ln w="28575">
              <a:noFill/>
            </a:ln>
          </p:spPr>
          <p:txBody>
            <a:bodyPr wrap="none" rtlCol="0">
              <a:spAutoFit/>
            </a:bodyPr>
            <a:lstStyle/>
            <a:p>
              <a:pPr algn="ctr"/>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21" name="矩形 20"/>
            <p:cNvSpPr/>
            <p:nvPr/>
          </p:nvSpPr>
          <p:spPr>
            <a:xfrm>
              <a:off x="8474964" y="2870559"/>
              <a:ext cx="338554" cy="369332"/>
            </a:xfrm>
            <a:prstGeom prst="rect">
              <a:avLst/>
            </a:prstGeom>
          </p:spPr>
          <p:txBody>
            <a:bodyPr wrap="none">
              <a:spAutoFit/>
            </a:bodyPr>
            <a:lstStyle/>
            <a:p>
              <a:r>
                <a:rPr lang="en-US" altLang="zh-CN" b="1" i="1">
                  <a:latin typeface="Times New Roman" pitchFamily="18" charset="0"/>
                  <a:cs typeface="Times New Roman" pitchFamily="18" charset="0"/>
                </a:rPr>
                <a:t>B</a:t>
              </a:r>
              <a:endParaRPr lang="zh-CN" altLang="en-US"/>
            </a:p>
          </p:txBody>
        </p:sp>
        <p:sp>
          <p:nvSpPr>
            <p:cNvPr id="22" name="矩形 21"/>
            <p:cNvSpPr/>
            <p:nvPr/>
          </p:nvSpPr>
          <p:spPr>
            <a:xfrm>
              <a:off x="8312902" y="1786847"/>
              <a:ext cx="338554" cy="369332"/>
            </a:xfrm>
            <a:prstGeom prst="rect">
              <a:avLst/>
            </a:prstGeom>
          </p:spPr>
          <p:txBody>
            <a:bodyPr wrap="none">
              <a:spAutoFit/>
            </a:bodyPr>
            <a:lstStyle/>
            <a:p>
              <a:r>
                <a:rPr lang="en-US" altLang="zh-CN" b="1" i="1">
                  <a:latin typeface="Times New Roman" pitchFamily="18" charset="0"/>
                  <a:cs typeface="Times New Roman" pitchFamily="18" charset="0"/>
                </a:rPr>
                <a:t>C</a:t>
              </a:r>
              <a:endParaRPr lang="zh-CN" altLang="en-US"/>
            </a:p>
          </p:txBody>
        </p:sp>
      </p:grpSp>
      <p:grpSp>
        <p:nvGrpSpPr>
          <p:cNvPr id="29" name="组合 28"/>
          <p:cNvGrpSpPr/>
          <p:nvPr/>
        </p:nvGrpSpPr>
        <p:grpSpPr>
          <a:xfrm>
            <a:off x="5357818" y="4038615"/>
            <a:ext cx="3571900" cy="1604042"/>
            <a:chOff x="5357818" y="4038615"/>
            <a:chExt cx="3571900" cy="1604042"/>
          </a:xfrm>
        </p:grpSpPr>
        <p:pic>
          <p:nvPicPr>
            <p:cNvPr id="632837" name="Picture 5"/>
            <p:cNvPicPr>
              <a:picLocks noChangeAspect="1" noChangeArrowheads="1"/>
            </p:cNvPicPr>
            <p:nvPr/>
          </p:nvPicPr>
          <p:blipFill>
            <a:blip r:embed="rId7"/>
            <a:srcRect/>
            <a:stretch>
              <a:fillRect/>
            </a:stretch>
          </p:blipFill>
          <p:spPr bwMode="auto">
            <a:xfrm>
              <a:off x="5357818" y="4038615"/>
              <a:ext cx="3209925" cy="1533525"/>
            </a:xfrm>
            <a:prstGeom prst="rect">
              <a:avLst/>
            </a:prstGeom>
            <a:noFill/>
            <a:ln w="9525">
              <a:noFill/>
              <a:miter lim="800000"/>
              <a:headEnd/>
              <a:tailEnd/>
            </a:ln>
            <a:effectLst/>
          </p:spPr>
        </p:pic>
        <p:sp>
          <p:nvSpPr>
            <p:cNvPr id="25" name="矩形 24"/>
            <p:cNvSpPr/>
            <p:nvPr/>
          </p:nvSpPr>
          <p:spPr>
            <a:xfrm>
              <a:off x="8001024" y="5273325"/>
              <a:ext cx="338554" cy="369332"/>
            </a:xfrm>
            <a:prstGeom prst="rect">
              <a:avLst/>
            </a:prstGeom>
          </p:spPr>
          <p:txBody>
            <a:bodyPr wrap="none">
              <a:spAutoFit/>
            </a:bodyPr>
            <a:lstStyle/>
            <a:p>
              <a:r>
                <a:rPr lang="en-US" altLang="zh-CN" b="1" i="1">
                  <a:latin typeface="Times New Roman" pitchFamily="18" charset="0"/>
                  <a:cs typeface="Times New Roman" pitchFamily="18" charset="0"/>
                </a:rPr>
                <a:t>B</a:t>
              </a:r>
              <a:endParaRPr lang="zh-CN" altLang="en-US"/>
            </a:p>
          </p:txBody>
        </p:sp>
        <p:cxnSp>
          <p:nvCxnSpPr>
            <p:cNvPr id="27" name="直接箭头连接符 26"/>
            <p:cNvCxnSpPr/>
            <p:nvPr/>
          </p:nvCxnSpPr>
          <p:spPr bwMode="auto">
            <a:xfrm>
              <a:off x="8429652" y="5299451"/>
              <a:ext cx="428628"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28" name="TextBox 27"/>
            <p:cNvSpPr txBox="1"/>
            <p:nvPr/>
          </p:nvSpPr>
          <p:spPr>
            <a:xfrm>
              <a:off x="8616812" y="4886278"/>
              <a:ext cx="312906" cy="400110"/>
            </a:xfrm>
            <a:prstGeom prst="rect">
              <a:avLst/>
            </a:prstGeom>
            <a:noFill/>
            <a:ln w="28575">
              <a:noFill/>
            </a:ln>
          </p:spPr>
          <p:txBody>
            <a:bodyPr wrap="none" rtlCol="0">
              <a:spAutoFit/>
            </a:bodyPr>
            <a:lstStyle/>
            <a:p>
              <a:pPr algn="ctr"/>
              <a:r>
                <a:rPr lang="en-US" altLang="zh-CN" sz="2000" b="1">
                  <a:solidFill>
                    <a:srgbClr val="C00000"/>
                  </a:solidFill>
                  <a:latin typeface="Times New Roman" pitchFamily="18" charset="0"/>
                  <a:cs typeface="Times New Roman" pitchFamily="18" charset="0"/>
                </a:rPr>
                <a:t>1</a:t>
              </a:r>
              <a:endParaRPr lang="zh-CN" altLang="en-US" sz="2000" b="1" i="1">
                <a:solidFill>
                  <a:srgbClr val="C00000"/>
                </a:solidFill>
                <a:latin typeface="Times New Roman" pitchFamily="18" charset="0"/>
                <a:cs typeface="Times New Roman" pitchFamily="18" charset="0"/>
              </a:endParaRPr>
            </a:p>
          </p:txBody>
        </p:sp>
      </p:grpSp>
      <p:sp>
        <p:nvSpPr>
          <p:cNvPr id="30" name="矩形 29"/>
          <p:cNvSpPr/>
          <p:nvPr/>
        </p:nvSpPr>
        <p:spPr>
          <a:xfrm>
            <a:off x="1500166" y="3142591"/>
            <a:ext cx="3369129" cy="429285"/>
          </a:xfrm>
          <a:prstGeom prst="rect">
            <a:avLst/>
          </a:prstGeom>
        </p:spPr>
        <p:txBody>
          <a:bodyPr wrap="square">
            <a:spAutoFit/>
          </a:bodyPr>
          <a:lstStyle/>
          <a:p>
            <a:pPr marL="358775" lvl="0" indent="-358775">
              <a:lnSpc>
                <a:spcPct val="120000"/>
              </a:lnSpc>
            </a:pPr>
            <a:r>
              <a:rPr lang="zh-CN" altLang="en-US" sz="2000" b="1">
                <a:solidFill>
                  <a:srgbClr val="000000"/>
                </a:solidFill>
                <a:latin typeface="Times New Roman" pitchFamily="18" charset="0"/>
                <a:cs typeface="Times New Roman" pitchFamily="18" charset="0"/>
              </a:rPr>
              <a:t>⑵  求出虚荷载产生的轴力，</a:t>
            </a:r>
            <a:endParaRPr lang="en-US" altLang="zh-CN" sz="2000" b="1">
              <a:solidFill>
                <a:srgbClr val="000000"/>
              </a:solidFill>
              <a:latin typeface="Times New Roman" pitchFamily="18" charset="0"/>
              <a:cs typeface="Times New Roman" pitchFamily="18" charset="0"/>
            </a:endParaRPr>
          </a:p>
        </p:txBody>
      </p:sp>
      <p:grpSp>
        <p:nvGrpSpPr>
          <p:cNvPr id="33" name="组合 32"/>
          <p:cNvGrpSpPr/>
          <p:nvPr/>
        </p:nvGrpSpPr>
        <p:grpSpPr>
          <a:xfrm>
            <a:off x="7871211" y="4139276"/>
            <a:ext cx="636002" cy="855237"/>
            <a:chOff x="7871211" y="4139276"/>
            <a:chExt cx="636002" cy="855237"/>
          </a:xfrm>
        </p:grpSpPr>
        <p:sp>
          <p:nvSpPr>
            <p:cNvPr id="31" name="TextBox 30"/>
            <p:cNvSpPr txBox="1"/>
            <p:nvPr/>
          </p:nvSpPr>
          <p:spPr>
            <a:xfrm>
              <a:off x="7871211" y="413927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32" name="TextBox 31"/>
            <p:cNvSpPr txBox="1"/>
            <p:nvPr/>
          </p:nvSpPr>
          <p:spPr>
            <a:xfrm>
              <a:off x="8306270" y="4614033"/>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grpSp>
        <p:nvGrpSpPr>
          <p:cNvPr id="41" name="组合 40"/>
          <p:cNvGrpSpPr/>
          <p:nvPr/>
        </p:nvGrpSpPr>
        <p:grpSpPr>
          <a:xfrm>
            <a:off x="8153056" y="5312514"/>
            <a:ext cx="990976" cy="668274"/>
            <a:chOff x="5286380" y="5332494"/>
            <a:chExt cx="990976" cy="668274"/>
          </a:xfrm>
        </p:grpSpPr>
        <p:cxnSp>
          <p:nvCxnSpPr>
            <p:cNvPr id="42" name="直接箭头连接符 41"/>
            <p:cNvCxnSpPr/>
            <p:nvPr/>
          </p:nvCxnSpPr>
          <p:spPr bwMode="auto">
            <a:xfrm rot="5400000" flipH="1" flipV="1">
              <a:off x="5367411" y="5510295"/>
              <a:ext cx="357190" cy="1588"/>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43" name="TextBox 42"/>
            <p:cNvSpPr txBox="1"/>
            <p:nvPr/>
          </p:nvSpPr>
          <p:spPr>
            <a:xfrm>
              <a:off x="5286380" y="5600658"/>
              <a:ext cx="990976" cy="400110"/>
            </a:xfrm>
            <a:prstGeom prst="rect">
              <a:avLst/>
            </a:prstGeom>
            <a:noFill/>
            <a:ln w="28575">
              <a:noFill/>
            </a:ln>
          </p:spPr>
          <p:txBody>
            <a:bodyPr wrap="none" rtlCol="0">
              <a:spAutoFit/>
            </a:bodyPr>
            <a:lstStyle/>
            <a:p>
              <a:pPr algn="ctr"/>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R</a:t>
              </a:r>
              <a:r>
                <a:rPr lang="en-US" altLang="zh-CN" sz="2000" b="1" i="1" baseline="-25000">
                  <a:solidFill>
                    <a:srgbClr val="C00000"/>
                  </a:solidFill>
                  <a:latin typeface="Times New Roman" pitchFamily="18" charset="0"/>
                  <a:cs typeface="Times New Roman" pitchFamily="18" charset="0"/>
                </a:rPr>
                <a:t>B</a:t>
              </a:r>
              <a:r>
                <a:rPr lang="en-US" altLang="zh-CN" sz="2000" b="1" baseline="-25000">
                  <a:solidFill>
                    <a:srgbClr val="C00000"/>
                  </a:solidFill>
                  <a:latin typeface="Times New Roman" pitchFamily="18" charset="0"/>
                  <a:cs typeface="Times New Roman" pitchFamily="18" charset="0"/>
                </a:rPr>
                <a:t>V</a:t>
              </a:r>
              <a:r>
                <a:rPr lang="en-US" altLang="zh-CN" sz="2000" b="1">
                  <a:solidFill>
                    <a:srgbClr val="C00000"/>
                  </a:solidFill>
                  <a:latin typeface="Times New Roman" pitchFamily="18" charset="0"/>
                  <a:cs typeface="Times New Roman" pitchFamily="18" charset="0"/>
                </a:rPr>
                <a:t>=0</a:t>
              </a:r>
              <a:endParaRPr lang="zh-CN" altLang="en-US" sz="2000" b="1" baseline="-25000">
                <a:solidFill>
                  <a:srgbClr val="C00000"/>
                </a:solidFill>
                <a:latin typeface="Times New Roman" pitchFamily="18" charset="0"/>
                <a:cs typeface="Times New Roman" pitchFamily="18" charset="0"/>
              </a:endParaRPr>
            </a:p>
          </p:txBody>
        </p:sp>
      </p:grpSp>
      <p:sp>
        <p:nvSpPr>
          <p:cNvPr id="47" name="TextBox 46"/>
          <p:cNvSpPr txBox="1"/>
          <p:nvPr/>
        </p:nvSpPr>
        <p:spPr>
          <a:xfrm>
            <a:off x="7858148" y="462015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nvGrpSpPr>
          <p:cNvPr id="50" name="组合 49"/>
          <p:cNvGrpSpPr/>
          <p:nvPr/>
        </p:nvGrpSpPr>
        <p:grpSpPr>
          <a:xfrm>
            <a:off x="6884142" y="4139276"/>
            <a:ext cx="473940" cy="842174"/>
            <a:chOff x="6884142" y="4139276"/>
            <a:chExt cx="473940" cy="842174"/>
          </a:xfrm>
        </p:grpSpPr>
        <p:sp>
          <p:nvSpPr>
            <p:cNvPr id="48" name="TextBox 47"/>
            <p:cNvSpPr txBox="1"/>
            <p:nvPr/>
          </p:nvSpPr>
          <p:spPr>
            <a:xfrm>
              <a:off x="6884142" y="413927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49" name="TextBox 48"/>
            <p:cNvSpPr txBox="1"/>
            <p:nvPr/>
          </p:nvSpPr>
          <p:spPr>
            <a:xfrm>
              <a:off x="7157139" y="4600970"/>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grpSp>
        <p:nvGrpSpPr>
          <p:cNvPr id="53" name="组合 52"/>
          <p:cNvGrpSpPr/>
          <p:nvPr/>
        </p:nvGrpSpPr>
        <p:grpSpPr>
          <a:xfrm>
            <a:off x="5955756" y="4585071"/>
            <a:ext cx="849700" cy="393543"/>
            <a:chOff x="5955756" y="4585071"/>
            <a:chExt cx="849700" cy="393543"/>
          </a:xfrm>
        </p:grpSpPr>
        <p:sp>
          <p:nvSpPr>
            <p:cNvPr id="51" name="TextBox 50"/>
            <p:cNvSpPr txBox="1"/>
            <p:nvPr/>
          </p:nvSpPr>
          <p:spPr>
            <a:xfrm>
              <a:off x="6604513" y="4598134"/>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52" name="TextBox 51"/>
            <p:cNvSpPr txBox="1"/>
            <p:nvPr/>
          </p:nvSpPr>
          <p:spPr>
            <a:xfrm>
              <a:off x="5955756" y="4585071"/>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grpSp>
        <p:nvGrpSpPr>
          <p:cNvPr id="56" name="组合 55"/>
          <p:cNvGrpSpPr/>
          <p:nvPr/>
        </p:nvGrpSpPr>
        <p:grpSpPr>
          <a:xfrm>
            <a:off x="6228445" y="5094096"/>
            <a:ext cx="1558265" cy="380480"/>
            <a:chOff x="6228445" y="5094096"/>
            <a:chExt cx="1558265" cy="380480"/>
          </a:xfrm>
        </p:grpSpPr>
        <p:sp>
          <p:nvSpPr>
            <p:cNvPr id="54" name="TextBox 53"/>
            <p:cNvSpPr txBox="1"/>
            <p:nvPr/>
          </p:nvSpPr>
          <p:spPr>
            <a:xfrm>
              <a:off x="7585767" y="509409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sp>
          <p:nvSpPr>
            <p:cNvPr id="55" name="TextBox 54"/>
            <p:cNvSpPr txBox="1"/>
            <p:nvPr/>
          </p:nvSpPr>
          <p:spPr>
            <a:xfrm>
              <a:off x="6228445" y="509409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sp>
        <p:nvSpPr>
          <p:cNvPr id="57" name="矩形 56"/>
          <p:cNvSpPr/>
          <p:nvPr/>
        </p:nvSpPr>
        <p:spPr>
          <a:xfrm>
            <a:off x="1500166" y="3500438"/>
            <a:ext cx="3369129" cy="461665"/>
          </a:xfrm>
          <a:prstGeom prst="rect">
            <a:avLst/>
          </a:prstGeom>
        </p:spPr>
        <p:txBody>
          <a:bodyPr wrap="square">
            <a:spAutoFit/>
          </a:bodyPr>
          <a:lstStyle/>
          <a:p>
            <a:pPr marL="358775" lvl="0" indent="-358775">
              <a:lnSpc>
                <a:spcPct val="120000"/>
              </a:lnSpc>
            </a:pPr>
            <a:r>
              <a:rPr lang="zh-CN" altLang="en-US" sz="2000" b="1">
                <a:solidFill>
                  <a:srgbClr val="000000"/>
                </a:solidFill>
                <a:latin typeface="Times New Roman" pitchFamily="18" charset="0"/>
                <a:cs typeface="Times New Roman" pitchFamily="18" charset="0"/>
              </a:rPr>
              <a:t>      求出原荷载产生的轴力；</a:t>
            </a:r>
            <a:endParaRPr lang="en-US" altLang="zh-CN" sz="2000" b="1">
              <a:solidFill>
                <a:srgbClr val="000000"/>
              </a:solidFill>
              <a:latin typeface="Times New Roman" pitchFamily="18" charset="0"/>
              <a:cs typeface="Times New Roman" pitchFamily="18" charset="0"/>
            </a:endParaRPr>
          </a:p>
        </p:txBody>
      </p:sp>
      <p:grpSp>
        <p:nvGrpSpPr>
          <p:cNvPr id="72" name="组合 71"/>
          <p:cNvGrpSpPr/>
          <p:nvPr/>
        </p:nvGrpSpPr>
        <p:grpSpPr>
          <a:xfrm>
            <a:off x="5988822" y="1974114"/>
            <a:ext cx="2551457" cy="1335300"/>
            <a:chOff x="5988822" y="1974114"/>
            <a:chExt cx="2551457" cy="1335300"/>
          </a:xfrm>
        </p:grpSpPr>
        <p:grpSp>
          <p:nvGrpSpPr>
            <p:cNvPr id="58" name="组合 57"/>
            <p:cNvGrpSpPr/>
            <p:nvPr/>
          </p:nvGrpSpPr>
          <p:grpSpPr>
            <a:xfrm>
              <a:off x="7904277" y="1974114"/>
              <a:ext cx="636002" cy="855237"/>
              <a:chOff x="7871211" y="4139276"/>
              <a:chExt cx="636002" cy="855237"/>
            </a:xfrm>
          </p:grpSpPr>
          <p:sp>
            <p:nvSpPr>
              <p:cNvPr id="59" name="TextBox 58"/>
              <p:cNvSpPr txBox="1"/>
              <p:nvPr/>
            </p:nvSpPr>
            <p:spPr>
              <a:xfrm>
                <a:off x="7871211" y="413927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60" name="TextBox 59"/>
              <p:cNvSpPr txBox="1"/>
              <p:nvPr/>
            </p:nvSpPr>
            <p:spPr>
              <a:xfrm>
                <a:off x="8306270" y="4614033"/>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sp>
          <p:nvSpPr>
            <p:cNvPr id="62" name="TextBox 61"/>
            <p:cNvSpPr txBox="1"/>
            <p:nvPr/>
          </p:nvSpPr>
          <p:spPr>
            <a:xfrm>
              <a:off x="7891214" y="2454994"/>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68" name="TextBox 67"/>
            <p:cNvSpPr txBox="1"/>
            <p:nvPr/>
          </p:nvSpPr>
          <p:spPr>
            <a:xfrm>
              <a:off x="5988822" y="2419909"/>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nvGrpSpPr>
            <p:cNvPr id="69" name="组合 68"/>
            <p:cNvGrpSpPr/>
            <p:nvPr/>
          </p:nvGrpSpPr>
          <p:grpSpPr>
            <a:xfrm>
              <a:off x="6261511" y="2928934"/>
              <a:ext cx="1558265" cy="380480"/>
              <a:chOff x="6228445" y="5094096"/>
              <a:chExt cx="1558265" cy="380480"/>
            </a:xfrm>
          </p:grpSpPr>
          <p:sp>
            <p:nvSpPr>
              <p:cNvPr id="70" name="TextBox 69"/>
              <p:cNvSpPr txBox="1"/>
              <p:nvPr/>
            </p:nvSpPr>
            <p:spPr>
              <a:xfrm>
                <a:off x="7585767" y="509409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sp>
            <p:nvSpPr>
              <p:cNvPr id="71" name="TextBox 70"/>
              <p:cNvSpPr txBox="1"/>
              <p:nvPr/>
            </p:nvSpPr>
            <p:spPr>
              <a:xfrm>
                <a:off x="6228445" y="5094096"/>
                <a:ext cx="200943" cy="380480"/>
              </a:xfrm>
              <a:prstGeom prst="rect">
                <a:avLst/>
              </a:prstGeom>
              <a:solidFill>
                <a:schemeClr val="bg1"/>
              </a:solidFill>
              <a:ln w="28575">
                <a:noFill/>
              </a:ln>
            </p:spPr>
            <p:txBody>
              <a:bodyPr wrap="none" lIns="36000" tIns="36000" rIns="36000" bIns="36000" rtlCol="0">
                <a:spAutoFit/>
              </a:bodyPr>
              <a:lstStyle/>
              <a:p>
                <a:r>
                  <a:rPr lang="en-US" altLang="zh-CN" sz="2000" b="1">
                    <a:solidFill>
                      <a:srgbClr val="C00000"/>
                    </a:solidFill>
                    <a:latin typeface="Times New Roman" pitchFamily="18" charset="0"/>
                    <a:cs typeface="Times New Roman" pitchFamily="18" charset="0"/>
                  </a:rPr>
                  <a:t>0</a:t>
                </a:r>
                <a:endParaRPr lang="zh-CN" altLang="en-US" sz="2000" b="1">
                  <a:solidFill>
                    <a:srgbClr val="C00000"/>
                  </a:solidFill>
                  <a:latin typeface="Times New Roman" pitchFamily="18" charset="0"/>
                  <a:cs typeface="Times New Roman" pitchFamily="18" charset="0"/>
                </a:endParaRPr>
              </a:p>
            </p:txBody>
          </p:sp>
        </p:grpSp>
      </p:grpSp>
      <p:sp>
        <p:nvSpPr>
          <p:cNvPr id="73" name="矩形 72"/>
          <p:cNvSpPr/>
          <p:nvPr/>
        </p:nvSpPr>
        <p:spPr>
          <a:xfrm>
            <a:off x="1500166" y="3857628"/>
            <a:ext cx="3571900" cy="757130"/>
          </a:xfrm>
          <a:prstGeom prst="rect">
            <a:avLst/>
          </a:prstGeom>
        </p:spPr>
        <p:txBody>
          <a:bodyPr wrap="square">
            <a:spAutoFit/>
          </a:bodyPr>
          <a:lstStyle/>
          <a:p>
            <a:pPr marL="358775" lvl="0" indent="-358775">
              <a:lnSpc>
                <a:spcPct val="120000"/>
              </a:lnSpc>
            </a:pPr>
            <a:r>
              <a:rPr lang="en-US" altLang="zh-CN" b="1">
                <a:solidFill>
                  <a:srgbClr val="0033CC"/>
                </a:solidFill>
                <a:latin typeface="Times New Roman" pitchFamily="18" charset="0"/>
                <a:cs typeface="Times New Roman" pitchFamily="18" charset="0"/>
              </a:rPr>
              <a:t>	</a:t>
            </a:r>
            <a:r>
              <a:rPr lang="zh-CN" altLang="en-US" b="1">
                <a:solidFill>
                  <a:srgbClr val="0033CC"/>
                </a:solidFill>
                <a:latin typeface="Times New Roman" pitchFamily="18" charset="0"/>
                <a:cs typeface="Times New Roman" pitchFamily="18" charset="0"/>
              </a:rPr>
              <a:t>平衡力系作用范围之外，内力为</a:t>
            </a:r>
            <a:r>
              <a:rPr lang="en-US" altLang="zh-CN" b="1">
                <a:solidFill>
                  <a:srgbClr val="0033CC"/>
                </a:solidFill>
                <a:latin typeface="Times New Roman" pitchFamily="18" charset="0"/>
                <a:cs typeface="Times New Roman" pitchFamily="18" charset="0"/>
              </a:rPr>
              <a:t>0</a:t>
            </a:r>
            <a:r>
              <a:rPr lang="zh-CN" altLang="en-US" b="1">
                <a:solidFill>
                  <a:srgbClr val="0033CC"/>
                </a:solidFill>
                <a:latin typeface="Times New Roman" pitchFamily="18" charset="0"/>
                <a:cs typeface="Times New Roman" pitchFamily="18" charset="0"/>
              </a:rPr>
              <a:t>；</a:t>
            </a:r>
            <a:endParaRPr lang="en-US" altLang="zh-CN" b="1">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ppt_x"/>
                                          </p:val>
                                        </p:tav>
                                        <p:tav tm="100000">
                                          <p:val>
                                            <p:strVal val="#ppt_x"/>
                                          </p:val>
                                        </p:tav>
                                      </p:tavLst>
                                    </p:anim>
                                    <p:anim calcmode="lin" valueType="num">
                                      <p:cBhvr additive="base">
                                        <p:cTn id="13"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 calcmode="lin" valueType="num">
                                      <p:cBhvr additive="base">
                                        <p:cTn id="18" dur="500" fill="hold"/>
                                        <p:tgtEl>
                                          <p:spTgt spid="76"/>
                                        </p:tgtEl>
                                        <p:attrNameLst>
                                          <p:attrName>ppt_x</p:attrName>
                                        </p:attrNameLst>
                                      </p:cBhvr>
                                      <p:tavLst>
                                        <p:tav tm="0">
                                          <p:val>
                                            <p:strVal val="#ppt_x"/>
                                          </p:val>
                                        </p:tav>
                                        <p:tav tm="100000">
                                          <p:val>
                                            <p:strVal val="#ppt_x"/>
                                          </p:val>
                                        </p:tav>
                                      </p:tavLst>
                                    </p:anim>
                                    <p:anim calcmode="lin" valueType="num">
                                      <p:cBhvr additive="base">
                                        <p:cTn id="19"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additive="base">
                                        <p:cTn id="24" dur="500" fill="hold"/>
                                        <p:tgtEl>
                                          <p:spTgt spid="30"/>
                                        </p:tgtEl>
                                        <p:attrNameLst>
                                          <p:attrName>ppt_x</p:attrName>
                                        </p:attrNameLst>
                                      </p:cBhvr>
                                      <p:tavLst>
                                        <p:tav tm="0">
                                          <p:val>
                                            <p:strVal val="#ppt_x"/>
                                          </p:val>
                                        </p:tav>
                                        <p:tav tm="100000">
                                          <p:val>
                                            <p:strVal val="#ppt_x"/>
                                          </p:val>
                                        </p:tav>
                                      </p:tavLst>
                                    </p:anim>
                                    <p:anim calcmode="lin" valueType="num">
                                      <p:cBhvr additive="base">
                                        <p:cTn id="2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down)">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additive="base">
                                        <p:cTn id="41" dur="500" fill="hold"/>
                                        <p:tgtEl>
                                          <p:spTgt spid="41"/>
                                        </p:tgtEl>
                                        <p:attrNameLst>
                                          <p:attrName>ppt_x</p:attrName>
                                        </p:attrNameLst>
                                      </p:cBhvr>
                                      <p:tavLst>
                                        <p:tav tm="0">
                                          <p:val>
                                            <p:strVal val="#ppt_x"/>
                                          </p:val>
                                        </p:tav>
                                        <p:tav tm="100000">
                                          <p:val>
                                            <p:strVal val="#ppt_x"/>
                                          </p:val>
                                        </p:tav>
                                      </p:tavLst>
                                    </p:anim>
                                    <p:anim calcmode="lin" valueType="num">
                                      <p:cBhvr additive="base">
                                        <p:cTn id="42" dur="500" fill="hold"/>
                                        <p:tgtEl>
                                          <p:spTgt spid="41"/>
                                        </p:tgtEl>
                                        <p:attrNameLst>
                                          <p:attrName>ppt_y</p:attrName>
                                        </p:attrNameLst>
                                      </p:cBhvr>
                                      <p:tavLst>
                                        <p:tav tm="0">
                                          <p:val>
                                            <p:strVal val="1+#ppt_h/2"/>
                                          </p:val>
                                        </p:tav>
                                        <p:tav tm="100000">
                                          <p:val>
                                            <p:strVal val="#ppt_y"/>
                                          </p:val>
                                        </p:tav>
                                      </p:tavLst>
                                    </p:anim>
                                  </p:childTnLst>
                                </p:cTn>
                              </p:par>
                            </p:childTnLst>
                          </p:cTn>
                        </p:par>
                        <p:par>
                          <p:cTn id="43" fill="hold">
                            <p:stCondLst>
                              <p:cond delay="1000"/>
                            </p:stCondLst>
                            <p:childTnLst>
                              <p:par>
                                <p:cTn id="44" presetID="2" presetClass="entr" presetSubtype="4" fill="hold" grpId="0" nodeType="afterEffect">
                                  <p:stCondLst>
                                    <p:cond delay="0"/>
                                  </p:stCondLst>
                                  <p:childTnLst>
                                    <p:set>
                                      <p:cBhvr>
                                        <p:cTn id="45" dur="1" fill="hold">
                                          <p:stCondLst>
                                            <p:cond delay="0"/>
                                          </p:stCondLst>
                                        </p:cTn>
                                        <p:tgtEl>
                                          <p:spTgt spid="47"/>
                                        </p:tgtEl>
                                        <p:attrNameLst>
                                          <p:attrName>style.visibility</p:attrName>
                                        </p:attrNameLst>
                                      </p:cBhvr>
                                      <p:to>
                                        <p:strVal val="visible"/>
                                      </p:to>
                                    </p:set>
                                    <p:anim calcmode="lin" valueType="num">
                                      <p:cBhvr additive="base">
                                        <p:cTn id="46" dur="500" fill="hold"/>
                                        <p:tgtEl>
                                          <p:spTgt spid="47"/>
                                        </p:tgtEl>
                                        <p:attrNameLst>
                                          <p:attrName>ppt_x</p:attrName>
                                        </p:attrNameLst>
                                      </p:cBhvr>
                                      <p:tavLst>
                                        <p:tav tm="0">
                                          <p:val>
                                            <p:strVal val="#ppt_x"/>
                                          </p:val>
                                        </p:tav>
                                        <p:tav tm="100000">
                                          <p:val>
                                            <p:strVal val="#ppt_x"/>
                                          </p:val>
                                        </p:tav>
                                      </p:tavLst>
                                    </p:anim>
                                    <p:anim calcmode="lin" valueType="num">
                                      <p:cBhvr additive="base">
                                        <p:cTn id="47" dur="500" fill="hold"/>
                                        <p:tgtEl>
                                          <p:spTgt spid="47"/>
                                        </p:tgtEl>
                                        <p:attrNameLst>
                                          <p:attrName>ppt_y</p:attrName>
                                        </p:attrNameLst>
                                      </p:cBhvr>
                                      <p:tavLst>
                                        <p:tav tm="0">
                                          <p:val>
                                            <p:strVal val="1+#ppt_h/2"/>
                                          </p:val>
                                        </p:tav>
                                        <p:tav tm="100000">
                                          <p:val>
                                            <p:strVal val="#ppt_y"/>
                                          </p:val>
                                        </p:tav>
                                      </p:tavLst>
                                    </p:anim>
                                  </p:childTnLst>
                                </p:cTn>
                              </p:par>
                            </p:childTnLst>
                          </p:cTn>
                        </p:par>
                        <p:par>
                          <p:cTn id="48" fill="hold">
                            <p:stCondLst>
                              <p:cond delay="2000"/>
                            </p:stCondLst>
                            <p:childTnLst>
                              <p:par>
                                <p:cTn id="49" presetID="2" presetClass="entr" presetSubtype="4" fill="hold" nodeType="after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par>
                          <p:cTn id="53" fill="hold">
                            <p:stCondLst>
                              <p:cond delay="3000"/>
                            </p:stCondLst>
                            <p:childTnLst>
                              <p:par>
                                <p:cTn id="54" presetID="2" presetClass="entr" presetSubtype="4" fill="hold" nodeType="afterEffect">
                                  <p:stCondLst>
                                    <p:cond delay="0"/>
                                  </p:stCondLst>
                                  <p:childTnLst>
                                    <p:set>
                                      <p:cBhvr>
                                        <p:cTn id="55" dur="1" fill="hold">
                                          <p:stCondLst>
                                            <p:cond delay="0"/>
                                          </p:stCondLst>
                                        </p:cTn>
                                        <p:tgtEl>
                                          <p:spTgt spid="53"/>
                                        </p:tgtEl>
                                        <p:attrNameLst>
                                          <p:attrName>style.visibility</p:attrName>
                                        </p:attrNameLst>
                                      </p:cBhvr>
                                      <p:to>
                                        <p:strVal val="visible"/>
                                      </p:to>
                                    </p:set>
                                    <p:anim calcmode="lin" valueType="num">
                                      <p:cBhvr additive="base">
                                        <p:cTn id="56" dur="500" fill="hold"/>
                                        <p:tgtEl>
                                          <p:spTgt spid="53"/>
                                        </p:tgtEl>
                                        <p:attrNameLst>
                                          <p:attrName>ppt_x</p:attrName>
                                        </p:attrNameLst>
                                      </p:cBhvr>
                                      <p:tavLst>
                                        <p:tav tm="0">
                                          <p:val>
                                            <p:strVal val="#ppt_x"/>
                                          </p:val>
                                        </p:tav>
                                        <p:tav tm="100000">
                                          <p:val>
                                            <p:strVal val="#ppt_x"/>
                                          </p:val>
                                        </p:tav>
                                      </p:tavLst>
                                    </p:anim>
                                    <p:anim calcmode="lin" valueType="num">
                                      <p:cBhvr additive="base">
                                        <p:cTn id="57"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56"/>
                                        </p:tgtEl>
                                        <p:attrNameLst>
                                          <p:attrName>style.visibility</p:attrName>
                                        </p:attrNameLst>
                                      </p:cBhvr>
                                      <p:to>
                                        <p:strVal val="visible"/>
                                      </p:to>
                                    </p:set>
                                    <p:anim calcmode="lin" valueType="num">
                                      <p:cBhvr additive="base">
                                        <p:cTn id="62" dur="500" fill="hold"/>
                                        <p:tgtEl>
                                          <p:spTgt spid="56"/>
                                        </p:tgtEl>
                                        <p:attrNameLst>
                                          <p:attrName>ppt_x</p:attrName>
                                        </p:attrNameLst>
                                      </p:cBhvr>
                                      <p:tavLst>
                                        <p:tav tm="0">
                                          <p:val>
                                            <p:strVal val="#ppt_x"/>
                                          </p:val>
                                        </p:tav>
                                        <p:tav tm="100000">
                                          <p:val>
                                            <p:strVal val="#ppt_x"/>
                                          </p:val>
                                        </p:tav>
                                      </p:tavLst>
                                    </p:anim>
                                    <p:anim calcmode="lin" valueType="num">
                                      <p:cBhvr additive="base">
                                        <p:cTn id="63"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57"/>
                                        </p:tgtEl>
                                        <p:attrNameLst>
                                          <p:attrName>style.visibility</p:attrName>
                                        </p:attrNameLst>
                                      </p:cBhvr>
                                      <p:to>
                                        <p:strVal val="visible"/>
                                      </p:to>
                                    </p:set>
                                    <p:anim calcmode="lin" valueType="num">
                                      <p:cBhvr additive="base">
                                        <p:cTn id="68" dur="500" fill="hold"/>
                                        <p:tgtEl>
                                          <p:spTgt spid="57"/>
                                        </p:tgtEl>
                                        <p:attrNameLst>
                                          <p:attrName>ppt_x</p:attrName>
                                        </p:attrNameLst>
                                      </p:cBhvr>
                                      <p:tavLst>
                                        <p:tav tm="0">
                                          <p:val>
                                            <p:strVal val="#ppt_x"/>
                                          </p:val>
                                        </p:tav>
                                        <p:tav tm="100000">
                                          <p:val>
                                            <p:strVal val="#ppt_x"/>
                                          </p:val>
                                        </p:tav>
                                      </p:tavLst>
                                    </p:anim>
                                    <p:anim calcmode="lin" valueType="num">
                                      <p:cBhvr additive="base">
                                        <p:cTn id="69"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8" presetClass="entr" presetSubtype="16" fill="hold" nodeType="clickEffect">
                                  <p:stCondLst>
                                    <p:cond delay="0"/>
                                  </p:stCondLst>
                                  <p:childTnLst>
                                    <p:set>
                                      <p:cBhvr>
                                        <p:cTn id="73" dur="1" fill="hold">
                                          <p:stCondLst>
                                            <p:cond delay="0"/>
                                          </p:stCondLst>
                                        </p:cTn>
                                        <p:tgtEl>
                                          <p:spTgt spid="72"/>
                                        </p:tgtEl>
                                        <p:attrNameLst>
                                          <p:attrName>style.visibility</p:attrName>
                                        </p:attrNameLst>
                                      </p:cBhvr>
                                      <p:to>
                                        <p:strVal val="visible"/>
                                      </p:to>
                                    </p:set>
                                    <p:animEffect transition="in" filter="diamond(in)">
                                      <p:cBhvr>
                                        <p:cTn id="74" dur="1000"/>
                                        <p:tgtEl>
                                          <p:spTgt spid="72"/>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73"/>
                                        </p:tgtEl>
                                        <p:attrNameLst>
                                          <p:attrName>style.visibility</p:attrName>
                                        </p:attrNameLst>
                                      </p:cBhvr>
                                      <p:to>
                                        <p:strVal val="visible"/>
                                      </p:to>
                                    </p:set>
                                    <p:anim calcmode="lin" valueType="num">
                                      <p:cBhvr additive="base">
                                        <p:cTn id="79" dur="500" fill="hold"/>
                                        <p:tgtEl>
                                          <p:spTgt spid="73"/>
                                        </p:tgtEl>
                                        <p:attrNameLst>
                                          <p:attrName>ppt_x</p:attrName>
                                        </p:attrNameLst>
                                      </p:cBhvr>
                                      <p:tavLst>
                                        <p:tav tm="0">
                                          <p:val>
                                            <p:strVal val="#ppt_x"/>
                                          </p:val>
                                        </p:tav>
                                        <p:tav tm="100000">
                                          <p:val>
                                            <p:strVal val="#ppt_x"/>
                                          </p:val>
                                        </p:tav>
                                      </p:tavLst>
                                    </p:anim>
                                    <p:anim calcmode="lin" valueType="num">
                                      <p:cBhvr additive="base">
                                        <p:cTn id="80"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81"/>
                                        </p:tgtEl>
                                        <p:attrNameLst>
                                          <p:attrName>style.visibility</p:attrName>
                                        </p:attrNameLst>
                                      </p:cBhvr>
                                      <p:to>
                                        <p:strVal val="visible"/>
                                      </p:to>
                                    </p:set>
                                    <p:anim calcmode="lin" valueType="num">
                                      <p:cBhvr additive="base">
                                        <p:cTn id="85" dur="500" fill="hold"/>
                                        <p:tgtEl>
                                          <p:spTgt spid="81"/>
                                        </p:tgtEl>
                                        <p:attrNameLst>
                                          <p:attrName>ppt_x</p:attrName>
                                        </p:attrNameLst>
                                      </p:cBhvr>
                                      <p:tavLst>
                                        <p:tav tm="0">
                                          <p:val>
                                            <p:strVal val="#ppt_x"/>
                                          </p:val>
                                        </p:tav>
                                        <p:tav tm="100000">
                                          <p:val>
                                            <p:strVal val="#ppt_x"/>
                                          </p:val>
                                        </p:tav>
                                      </p:tavLst>
                                    </p:anim>
                                    <p:anim calcmode="lin" valueType="num">
                                      <p:cBhvr additive="base">
                                        <p:cTn id="86" dur="500" fill="hold"/>
                                        <p:tgtEl>
                                          <p:spTgt spid="81"/>
                                        </p:tgtEl>
                                        <p:attrNameLst>
                                          <p:attrName>ppt_y</p:attrName>
                                        </p:attrNameLst>
                                      </p:cBhvr>
                                      <p:tavLst>
                                        <p:tav tm="0">
                                          <p:val>
                                            <p:strVal val="1+#ppt_h/2"/>
                                          </p:val>
                                        </p:tav>
                                        <p:tav tm="100000">
                                          <p:val>
                                            <p:strVal val="#ppt_y"/>
                                          </p:val>
                                        </p:tav>
                                      </p:tavLst>
                                    </p:anim>
                                  </p:childTnLst>
                                </p:cTn>
                              </p:par>
                            </p:childTnLst>
                          </p:cTn>
                        </p:par>
                        <p:par>
                          <p:cTn id="87" fill="hold">
                            <p:stCondLst>
                              <p:cond delay="500"/>
                            </p:stCondLst>
                            <p:childTnLst>
                              <p:par>
                                <p:cTn id="88" presetID="2" presetClass="entr" presetSubtype="4" fill="hold" nodeType="afterEffect">
                                  <p:stCondLst>
                                    <p:cond delay="0"/>
                                  </p:stCondLst>
                                  <p:childTnLst>
                                    <p:set>
                                      <p:cBhvr>
                                        <p:cTn id="89" dur="1" fill="hold">
                                          <p:stCondLst>
                                            <p:cond delay="0"/>
                                          </p:stCondLst>
                                        </p:cTn>
                                        <p:tgtEl>
                                          <p:spTgt spid="630790"/>
                                        </p:tgtEl>
                                        <p:attrNameLst>
                                          <p:attrName>style.visibility</p:attrName>
                                        </p:attrNameLst>
                                      </p:cBhvr>
                                      <p:to>
                                        <p:strVal val="visible"/>
                                      </p:to>
                                    </p:set>
                                    <p:anim calcmode="lin" valueType="num">
                                      <p:cBhvr additive="base">
                                        <p:cTn id="90" dur="500" fill="hold"/>
                                        <p:tgtEl>
                                          <p:spTgt spid="630790"/>
                                        </p:tgtEl>
                                        <p:attrNameLst>
                                          <p:attrName>ppt_x</p:attrName>
                                        </p:attrNameLst>
                                      </p:cBhvr>
                                      <p:tavLst>
                                        <p:tav tm="0">
                                          <p:val>
                                            <p:strVal val="#ppt_x"/>
                                          </p:val>
                                        </p:tav>
                                        <p:tav tm="100000">
                                          <p:val>
                                            <p:strVal val="#ppt_x"/>
                                          </p:val>
                                        </p:tav>
                                      </p:tavLst>
                                    </p:anim>
                                    <p:anim calcmode="lin" valueType="num">
                                      <p:cBhvr additive="base">
                                        <p:cTn id="91" dur="500" fill="hold"/>
                                        <p:tgtEl>
                                          <p:spTgt spid="6307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76" grpId="0"/>
      <p:bldP spid="81" grpId="0"/>
      <p:bldP spid="30" grpId="0"/>
      <p:bldP spid="47" grpId="0" animBg="1"/>
      <p:bldP spid="57" grpId="0"/>
      <p:bldP spid="7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互等定理的适用条件</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t>⑴ 材料线弹性</a:t>
            </a:r>
          </a:p>
        </p:txBody>
      </p:sp>
      <p:sp>
        <p:nvSpPr>
          <p:cNvPr id="73" name="Rectangle 6"/>
          <p:cNvSpPr>
            <a:spLocks noChangeArrowheads="1"/>
          </p:cNvSpPr>
          <p:nvPr/>
        </p:nvSpPr>
        <p:spPr bwMode="auto">
          <a:xfrm>
            <a:off x="469540" y="2285992"/>
            <a:ext cx="7745798"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t>⑵ 变形线性</a:t>
            </a:r>
            <a:endParaRPr lang="en-US" altLang="zh-CN" sz="2000" b="1"/>
          </a:p>
          <a:p>
            <a:pPr marL="742950" lvl="1" indent="-285750" algn="just" fontAlgn="base">
              <a:lnSpc>
                <a:spcPct val="120000"/>
              </a:lnSpc>
              <a:spcAft>
                <a:spcPct val="0"/>
              </a:spcAft>
            </a:pPr>
            <a:r>
              <a:rPr lang="en-US" altLang="zh-CN" sz="2000" b="1"/>
              <a:t>	</a:t>
            </a:r>
            <a:r>
              <a:rPr lang="zh-CN" altLang="en-US" b="1">
                <a:solidFill>
                  <a:srgbClr val="0033CC"/>
                </a:solidFill>
              </a:rPr>
              <a:t>变形后的形态不影响受力</a:t>
            </a:r>
          </a:p>
        </p:txBody>
      </p:sp>
      <p:pic>
        <p:nvPicPr>
          <p:cNvPr id="59" name="Picture 2"/>
          <p:cNvPicPr>
            <a:picLocks noChangeAspect="1" noChangeArrowheads="1"/>
          </p:cNvPicPr>
          <p:nvPr/>
        </p:nvPicPr>
        <p:blipFill>
          <a:blip r:embed="rId3"/>
          <a:srcRect/>
          <a:stretch>
            <a:fillRect/>
          </a:stretch>
        </p:blipFill>
        <p:spPr bwMode="auto">
          <a:xfrm>
            <a:off x="4714876" y="1714488"/>
            <a:ext cx="2466975" cy="2276475"/>
          </a:xfrm>
          <a:prstGeom prst="rect">
            <a:avLst/>
          </a:prstGeom>
          <a:noFill/>
          <a:ln w="9525">
            <a:noFill/>
            <a:miter lim="800000"/>
            <a:headEnd/>
            <a:tailEnd/>
          </a:ln>
          <a:effectLst/>
        </p:spPr>
      </p:pic>
      <p:sp>
        <p:nvSpPr>
          <p:cNvPr id="60" name="椭圆 59"/>
          <p:cNvSpPr/>
          <p:nvPr/>
        </p:nvSpPr>
        <p:spPr bwMode="auto">
          <a:xfrm>
            <a:off x="4831626" y="2714620"/>
            <a:ext cx="357190" cy="1071570"/>
          </a:xfrm>
          <a:prstGeom prst="ellipse">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nvGrpSpPr>
          <p:cNvPr id="61" name="组合 60"/>
          <p:cNvGrpSpPr/>
          <p:nvPr/>
        </p:nvGrpSpPr>
        <p:grpSpPr>
          <a:xfrm>
            <a:off x="7358082" y="2643182"/>
            <a:ext cx="1198204" cy="3271023"/>
            <a:chOff x="7500958" y="1814444"/>
            <a:chExt cx="1198204" cy="3271023"/>
          </a:xfrm>
        </p:grpSpPr>
        <p:pic>
          <p:nvPicPr>
            <p:cNvPr id="62" name="Picture 3"/>
            <p:cNvPicPr>
              <a:picLocks noChangeAspect="1" noChangeArrowheads="1"/>
            </p:cNvPicPr>
            <p:nvPr/>
          </p:nvPicPr>
          <p:blipFill>
            <a:blip r:embed="rId4"/>
            <a:srcRect/>
            <a:stretch>
              <a:fillRect/>
            </a:stretch>
          </p:blipFill>
          <p:spPr bwMode="auto">
            <a:xfrm>
              <a:off x="7500958" y="2500306"/>
              <a:ext cx="1071570" cy="2585161"/>
            </a:xfrm>
            <a:prstGeom prst="rect">
              <a:avLst/>
            </a:prstGeom>
            <a:noFill/>
            <a:ln w="9525">
              <a:noFill/>
              <a:miter lim="800000"/>
              <a:headEnd/>
              <a:tailEnd/>
            </a:ln>
            <a:effectLst/>
          </p:spPr>
        </p:pic>
        <p:cxnSp>
          <p:nvCxnSpPr>
            <p:cNvPr id="67" name="直接箭头连接符 66"/>
            <p:cNvCxnSpPr/>
            <p:nvPr/>
          </p:nvCxnSpPr>
          <p:spPr bwMode="auto">
            <a:xfrm rot="5400000">
              <a:off x="7785916" y="2357430"/>
              <a:ext cx="572298"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72" name="直接箭头连接符 71"/>
            <p:cNvCxnSpPr/>
            <p:nvPr/>
          </p:nvCxnSpPr>
          <p:spPr bwMode="auto">
            <a:xfrm rot="5400000">
              <a:off x="8255502" y="2428868"/>
              <a:ext cx="572298" cy="794"/>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sp>
          <p:nvSpPr>
            <p:cNvPr id="74" name="TextBox 73"/>
            <p:cNvSpPr txBox="1"/>
            <p:nvPr/>
          </p:nvSpPr>
          <p:spPr>
            <a:xfrm>
              <a:off x="7787712" y="181444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F</a:t>
              </a:r>
              <a:endParaRPr lang="zh-CN" altLang="en-US" sz="2000" b="1" i="1">
                <a:latin typeface="Times New Roman" pitchFamily="18" charset="0"/>
                <a:cs typeface="Times New Roman" pitchFamily="18" charset="0"/>
              </a:endParaRPr>
            </a:p>
          </p:txBody>
        </p:sp>
        <p:sp>
          <p:nvSpPr>
            <p:cNvPr id="75" name="TextBox 74"/>
            <p:cNvSpPr txBox="1"/>
            <p:nvPr/>
          </p:nvSpPr>
          <p:spPr>
            <a:xfrm>
              <a:off x="8342974" y="184492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F</a:t>
              </a:r>
              <a:endParaRPr lang="zh-CN" altLang="en-US" sz="2000" b="1" i="1">
                <a:latin typeface="Times New Roman" pitchFamily="18" charset="0"/>
                <a:cs typeface="Times New Roman" pitchFamily="18" charset="0"/>
              </a:endParaRPr>
            </a:p>
          </p:txBody>
        </p:sp>
      </p:grpSp>
      <p:grpSp>
        <p:nvGrpSpPr>
          <p:cNvPr id="81" name="组合 80"/>
          <p:cNvGrpSpPr/>
          <p:nvPr/>
        </p:nvGrpSpPr>
        <p:grpSpPr>
          <a:xfrm>
            <a:off x="7487895" y="4058879"/>
            <a:ext cx="1013195" cy="870319"/>
            <a:chOff x="7487895" y="4058879"/>
            <a:chExt cx="1013195" cy="870319"/>
          </a:xfrm>
        </p:grpSpPr>
        <p:cxnSp>
          <p:nvCxnSpPr>
            <p:cNvPr id="77" name="直接连接符 76"/>
            <p:cNvCxnSpPr/>
            <p:nvPr/>
          </p:nvCxnSpPr>
          <p:spPr bwMode="auto">
            <a:xfrm>
              <a:off x="7500958" y="4071942"/>
              <a:ext cx="1000132" cy="85725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78" name="直接连接符 77"/>
            <p:cNvCxnSpPr/>
            <p:nvPr/>
          </p:nvCxnSpPr>
          <p:spPr bwMode="auto">
            <a:xfrm flipV="1">
              <a:off x="7487895" y="4058879"/>
              <a:ext cx="1000132" cy="857256"/>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82" name="Rectangle 6"/>
          <p:cNvSpPr>
            <a:spLocks noChangeArrowheads="1"/>
          </p:cNvSpPr>
          <p:nvPr/>
        </p:nvSpPr>
        <p:spPr bwMode="auto">
          <a:xfrm>
            <a:off x="469540" y="3143248"/>
            <a:ext cx="774579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t>⑶ 支座线性</a:t>
            </a:r>
            <a:endParaRPr lang="en-US" altLang="zh-CN" sz="2000" b="1"/>
          </a:p>
        </p:txBody>
      </p:sp>
      <p:grpSp>
        <p:nvGrpSpPr>
          <p:cNvPr id="96" name="组合 95"/>
          <p:cNvGrpSpPr/>
          <p:nvPr/>
        </p:nvGrpSpPr>
        <p:grpSpPr>
          <a:xfrm>
            <a:off x="3095653" y="4762271"/>
            <a:ext cx="3762363" cy="881307"/>
            <a:chOff x="2881339" y="4630383"/>
            <a:chExt cx="3762363" cy="881307"/>
          </a:xfrm>
        </p:grpSpPr>
        <p:pic>
          <p:nvPicPr>
            <p:cNvPr id="87" name="Picture 4"/>
            <p:cNvPicPr>
              <a:picLocks noChangeAspect="1" noChangeArrowheads="1"/>
            </p:cNvPicPr>
            <p:nvPr/>
          </p:nvPicPr>
          <p:blipFill>
            <a:blip r:embed="rId5"/>
            <a:srcRect l="3913" t="30406" b="12161"/>
            <a:stretch>
              <a:fillRect/>
            </a:stretch>
          </p:blipFill>
          <p:spPr bwMode="auto">
            <a:xfrm>
              <a:off x="2881339" y="4643446"/>
              <a:ext cx="3762363" cy="868244"/>
            </a:xfrm>
            <a:prstGeom prst="rect">
              <a:avLst/>
            </a:prstGeom>
            <a:noFill/>
            <a:ln w="9525">
              <a:noFill/>
              <a:miter lim="800000"/>
              <a:headEnd/>
              <a:tailEnd/>
            </a:ln>
            <a:effectLst/>
          </p:spPr>
        </p:pic>
        <p:grpSp>
          <p:nvGrpSpPr>
            <p:cNvPr id="88" name="组合 87"/>
            <p:cNvGrpSpPr/>
            <p:nvPr/>
          </p:nvGrpSpPr>
          <p:grpSpPr>
            <a:xfrm>
              <a:off x="4058871" y="4630383"/>
              <a:ext cx="1013195" cy="870319"/>
              <a:chOff x="7487895" y="4058879"/>
              <a:chExt cx="1013195" cy="870319"/>
            </a:xfrm>
          </p:grpSpPr>
          <p:cxnSp>
            <p:nvCxnSpPr>
              <p:cNvPr id="89" name="直接连接符 88"/>
              <p:cNvCxnSpPr/>
              <p:nvPr/>
            </p:nvCxnSpPr>
            <p:spPr bwMode="auto">
              <a:xfrm>
                <a:off x="7500958" y="4071942"/>
                <a:ext cx="1000132" cy="857256"/>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95" name="直接连接符 94"/>
              <p:cNvCxnSpPr/>
              <p:nvPr/>
            </p:nvCxnSpPr>
            <p:spPr bwMode="auto">
              <a:xfrm flipV="1">
                <a:off x="7487895" y="4058879"/>
                <a:ext cx="1000132" cy="857256"/>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grpSp>
      <p:sp>
        <p:nvSpPr>
          <p:cNvPr id="97" name="TextBox 96"/>
          <p:cNvSpPr txBox="1"/>
          <p:nvPr/>
        </p:nvSpPr>
        <p:spPr>
          <a:xfrm>
            <a:off x="1285852" y="3786190"/>
            <a:ext cx="3005951" cy="400110"/>
          </a:xfrm>
          <a:prstGeom prst="rect">
            <a:avLst/>
          </a:prstGeom>
          <a:noFill/>
          <a:ln w="28575">
            <a:noFill/>
          </a:ln>
        </p:spPr>
        <p:txBody>
          <a:bodyPr wrap="none" rtlCol="0">
            <a:spAutoFit/>
          </a:bodyPr>
          <a:lstStyle/>
          <a:p>
            <a:r>
              <a:rPr lang="zh-CN" altLang="en-US" sz="2000" b="1">
                <a:solidFill>
                  <a:srgbClr val="C00000"/>
                </a:solidFill>
              </a:rPr>
              <a:t>总之，必须满足叠加原理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blinds(horizontal)">
                                      <p:cBhvr>
                                        <p:cTn id="11" dur="500"/>
                                        <p:tgtEl>
                                          <p:spTgt spid="59"/>
                                        </p:tgtEl>
                                      </p:cBhvr>
                                    </p:animEffect>
                                  </p:childTnLst>
                                </p:cTn>
                              </p:par>
                            </p:childTnLst>
                          </p:cTn>
                        </p:par>
                        <p:par>
                          <p:cTn id="12" fill="hold">
                            <p:stCondLst>
                              <p:cond delay="500"/>
                            </p:stCondLst>
                            <p:childTnLst>
                              <p:par>
                                <p:cTn id="13" presetID="22" presetClass="entr" presetSubtype="4" fill="hold" grpId="0"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wipe(down)">
                                      <p:cBhvr>
                                        <p:cTn id="15" dur="500"/>
                                        <p:tgtEl>
                                          <p:spTgt spid="6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3">
                                            <p:txEl>
                                              <p:pRg st="0" end="0"/>
                                            </p:txEl>
                                          </p:spTgt>
                                        </p:tgtEl>
                                        <p:attrNameLst>
                                          <p:attrName>style.visibility</p:attrName>
                                        </p:attrNameLst>
                                      </p:cBhvr>
                                      <p:to>
                                        <p:strVal val="visible"/>
                                      </p:to>
                                    </p:set>
                                    <p:anim calcmode="lin" valueType="num">
                                      <p:cBhvr additive="base">
                                        <p:cTn id="20"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500"/>
                            </p:stCondLst>
                            <p:childTnLst>
                              <p:par>
                                <p:cTn id="23" presetID="2" presetClass="entr" presetSubtype="4" fill="hold" nodeType="afterEffect">
                                  <p:stCondLst>
                                    <p:cond delay="0"/>
                                  </p:stCondLst>
                                  <p:childTnLst>
                                    <p:set>
                                      <p:cBhvr>
                                        <p:cTn id="24" dur="1" fill="hold">
                                          <p:stCondLst>
                                            <p:cond delay="0"/>
                                          </p:stCondLst>
                                        </p:cTn>
                                        <p:tgtEl>
                                          <p:spTgt spid="61"/>
                                        </p:tgtEl>
                                        <p:attrNameLst>
                                          <p:attrName>style.visibility</p:attrName>
                                        </p:attrNameLst>
                                      </p:cBhvr>
                                      <p:to>
                                        <p:strVal val="visible"/>
                                      </p:to>
                                    </p:set>
                                    <p:anim calcmode="lin" valueType="num">
                                      <p:cBhvr additive="base">
                                        <p:cTn id="25" dur="500" fill="hold"/>
                                        <p:tgtEl>
                                          <p:spTgt spid="61"/>
                                        </p:tgtEl>
                                        <p:attrNameLst>
                                          <p:attrName>ppt_x</p:attrName>
                                        </p:attrNameLst>
                                      </p:cBhvr>
                                      <p:tavLst>
                                        <p:tav tm="0">
                                          <p:val>
                                            <p:strVal val="#ppt_x"/>
                                          </p:val>
                                        </p:tav>
                                        <p:tav tm="100000">
                                          <p:val>
                                            <p:strVal val="#ppt_x"/>
                                          </p:val>
                                        </p:tav>
                                      </p:tavLst>
                                    </p:anim>
                                    <p:anim calcmode="lin" valueType="num">
                                      <p:cBhvr additive="base">
                                        <p:cTn id="26"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3">
                                            <p:txEl>
                                              <p:pRg st="1" end="1"/>
                                            </p:txEl>
                                          </p:spTgt>
                                        </p:tgtEl>
                                        <p:attrNameLst>
                                          <p:attrName>style.visibility</p:attrName>
                                        </p:attrNameLst>
                                      </p:cBhvr>
                                      <p:to>
                                        <p:strVal val="visible"/>
                                      </p:to>
                                    </p:set>
                                    <p:anim calcmode="lin" valueType="num">
                                      <p:cBhvr additive="base">
                                        <p:cTn id="31" dur="500" fill="hold"/>
                                        <p:tgtEl>
                                          <p:spTgt spid="7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3">
                                            <p:txEl>
                                              <p:pRg st="1" end="1"/>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4" presetClass="entr" presetSubtype="32" fill="hold" nodeType="afterEffect">
                                  <p:stCondLst>
                                    <p:cond delay="0"/>
                                  </p:stCondLst>
                                  <p:childTnLst>
                                    <p:set>
                                      <p:cBhvr>
                                        <p:cTn id="35" dur="1" fill="hold">
                                          <p:stCondLst>
                                            <p:cond delay="0"/>
                                          </p:stCondLst>
                                        </p:cTn>
                                        <p:tgtEl>
                                          <p:spTgt spid="81"/>
                                        </p:tgtEl>
                                        <p:attrNameLst>
                                          <p:attrName>style.visibility</p:attrName>
                                        </p:attrNameLst>
                                      </p:cBhvr>
                                      <p:to>
                                        <p:strVal val="visible"/>
                                      </p:to>
                                    </p:set>
                                    <p:animEffect transition="in" filter="box(out)">
                                      <p:cBhvr>
                                        <p:cTn id="36" dur="500"/>
                                        <p:tgtEl>
                                          <p:spTgt spid="81"/>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2">
                                            <p:txEl>
                                              <p:pRg st="0" end="0"/>
                                            </p:txEl>
                                          </p:spTgt>
                                        </p:tgtEl>
                                        <p:attrNameLst>
                                          <p:attrName>style.visibility</p:attrName>
                                        </p:attrNameLst>
                                      </p:cBhvr>
                                      <p:to>
                                        <p:strVal val="visible"/>
                                      </p:to>
                                    </p:set>
                                    <p:anim calcmode="lin" valueType="num">
                                      <p:cBhvr additive="base">
                                        <p:cTn id="41" dur="500" fill="hold"/>
                                        <p:tgtEl>
                                          <p:spTgt spid="82">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2">
                                            <p:txEl>
                                              <p:pRg st="0" end="0"/>
                                            </p:txEl>
                                          </p:spTgt>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2" presetClass="entr" presetSubtype="4" fill="hold" nodeType="afterEffect">
                                  <p:stCondLst>
                                    <p:cond delay="0"/>
                                  </p:stCondLst>
                                  <p:childTnLst>
                                    <p:set>
                                      <p:cBhvr>
                                        <p:cTn id="45" dur="1" fill="hold">
                                          <p:stCondLst>
                                            <p:cond delay="0"/>
                                          </p:stCondLst>
                                        </p:cTn>
                                        <p:tgtEl>
                                          <p:spTgt spid="96"/>
                                        </p:tgtEl>
                                        <p:attrNameLst>
                                          <p:attrName>style.visibility</p:attrName>
                                        </p:attrNameLst>
                                      </p:cBhvr>
                                      <p:to>
                                        <p:strVal val="visible"/>
                                      </p:to>
                                    </p:set>
                                    <p:anim calcmode="lin" valueType="num">
                                      <p:cBhvr additive="base">
                                        <p:cTn id="46" dur="500" fill="hold"/>
                                        <p:tgtEl>
                                          <p:spTgt spid="96"/>
                                        </p:tgtEl>
                                        <p:attrNameLst>
                                          <p:attrName>ppt_x</p:attrName>
                                        </p:attrNameLst>
                                      </p:cBhvr>
                                      <p:tavLst>
                                        <p:tav tm="0">
                                          <p:val>
                                            <p:strVal val="#ppt_x"/>
                                          </p:val>
                                        </p:tav>
                                        <p:tav tm="100000">
                                          <p:val>
                                            <p:strVal val="#ppt_x"/>
                                          </p:val>
                                        </p:tav>
                                      </p:tavLst>
                                    </p:anim>
                                    <p:anim calcmode="lin" valueType="num">
                                      <p:cBhvr additive="base">
                                        <p:cTn id="47"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73" grpId="0" uiExpand="1" build="p"/>
      <p:bldP spid="60" grpId="0" animBg="1"/>
      <p:bldP spid="82"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功的互等定理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两个状态</a:t>
            </a:r>
          </a:p>
        </p:txBody>
      </p:sp>
      <p:sp>
        <p:nvSpPr>
          <p:cNvPr id="32" name="Rectangle 6"/>
          <p:cNvSpPr>
            <a:spLocks noChangeArrowheads="1"/>
          </p:cNvSpPr>
          <p:nvPr/>
        </p:nvSpPr>
        <p:spPr bwMode="auto">
          <a:xfrm>
            <a:off x="469540" y="3000372"/>
            <a:ext cx="788867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⑴ 状态 </a:t>
            </a:r>
            <a:r>
              <a:rPr lang="en-US" altLang="zh-CN" sz="2000" b="1">
                <a:latin typeface="Times New Roman" pitchFamily="18" charset="0"/>
                <a:cs typeface="Times New Roman" pitchFamily="18" charset="0"/>
              </a:rPr>
              <a:t>I</a:t>
            </a:r>
            <a:r>
              <a:rPr lang="zh-CN" altLang="en-US" sz="2000" b="1">
                <a:latin typeface="Times New Roman" pitchFamily="18" charset="0"/>
                <a:cs typeface="Times New Roman" pitchFamily="18" charset="0"/>
              </a:rPr>
              <a:t>： 外力力系</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，内力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en-US"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M′</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zh-CN" altLang="en-US" sz="2000" b="1">
                <a:latin typeface="Times New Roman" pitchFamily="18" charset="0"/>
                <a:cs typeface="Times New Roman" pitchFamily="18" charset="0"/>
              </a:rPr>
              <a:t>；</a:t>
            </a:r>
            <a:endParaRPr lang="zh-CN" altLang="en-US" sz="2000" b="1" baseline="-25000">
              <a:latin typeface="Times New Roman" pitchFamily="18" charset="0"/>
              <a:cs typeface="Times New Roman" pitchFamily="18" charset="0"/>
            </a:endParaRPr>
          </a:p>
        </p:txBody>
      </p:sp>
      <p:sp>
        <p:nvSpPr>
          <p:cNvPr id="33" name="Rectangle 6"/>
          <p:cNvSpPr>
            <a:spLocks noChangeArrowheads="1"/>
          </p:cNvSpPr>
          <p:nvPr/>
        </p:nvSpPr>
        <p:spPr bwMode="auto">
          <a:xfrm>
            <a:off x="469540" y="3395786"/>
            <a:ext cx="788867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，变形</a:t>
            </a:r>
            <a:r>
              <a:rPr lang="el-GR" altLang="zh-CN" sz="2000" b="1" i="1">
                <a:latin typeface="Times New Roman"/>
                <a:cs typeface="Times New Roman"/>
              </a:rPr>
              <a:t>ε</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a:cs typeface="Times New Roman"/>
              </a:rPr>
              <a:t>κ</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γ</a:t>
            </a:r>
            <a:r>
              <a:rPr lang="en-US" altLang="zh-CN" sz="2000" b="1" i="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0</a:t>
            </a:r>
            <a:r>
              <a:rPr lang="zh-CN" altLang="en-US" sz="2000" b="1">
                <a:latin typeface="Times New Roman" pitchFamily="18" charset="0"/>
                <a:cs typeface="Times New Roman" pitchFamily="18" charset="0"/>
              </a:rPr>
              <a:t>；</a:t>
            </a:r>
            <a:endParaRPr lang="zh-CN" altLang="en-US" sz="2000" b="1" baseline="-25000">
              <a:latin typeface="Times New Roman" pitchFamily="18" charset="0"/>
              <a:cs typeface="Times New Roman" pitchFamily="18" charset="0"/>
            </a:endParaRPr>
          </a:p>
        </p:txBody>
      </p:sp>
      <p:sp>
        <p:nvSpPr>
          <p:cNvPr id="34" name="Rectangle 6"/>
          <p:cNvSpPr>
            <a:spLocks noChangeArrowheads="1"/>
          </p:cNvSpPr>
          <p:nvPr/>
        </p:nvSpPr>
        <p:spPr bwMode="auto">
          <a:xfrm>
            <a:off x="469540" y="3857628"/>
            <a:ext cx="788867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⑵ 状态</a:t>
            </a:r>
            <a:r>
              <a:rPr lang="en-US" altLang="zh-CN" sz="2000" b="1">
                <a:latin typeface="Times New Roman" pitchFamily="18" charset="0"/>
                <a:cs typeface="Times New Roman" pitchFamily="18" charset="0"/>
              </a:rPr>
              <a:t>Ⅱ</a:t>
            </a:r>
            <a:r>
              <a:rPr lang="zh-CN" altLang="en-US" sz="2000" b="1">
                <a:latin typeface="Times New Roman" pitchFamily="18" charset="0"/>
                <a:cs typeface="Times New Roman" pitchFamily="18" charset="0"/>
              </a:rPr>
              <a:t>：外力力系</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，内力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N</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M′′ </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zh-CN" altLang="en-US" sz="2000" b="1">
                <a:latin typeface="Times New Roman" pitchFamily="18" charset="0"/>
                <a:cs typeface="Times New Roman" pitchFamily="18" charset="0"/>
              </a:rPr>
              <a:t>；</a:t>
            </a:r>
            <a:endParaRPr lang="zh-CN" altLang="en-US" sz="2000" b="1" baseline="-25000">
              <a:latin typeface="Times New Roman" pitchFamily="18" charset="0"/>
              <a:cs typeface="Times New Roman" pitchFamily="18" charset="0"/>
            </a:endParaRPr>
          </a:p>
        </p:txBody>
      </p:sp>
      <p:sp>
        <p:nvSpPr>
          <p:cNvPr id="35" name="Rectangle 6"/>
          <p:cNvSpPr>
            <a:spLocks noChangeArrowheads="1"/>
          </p:cNvSpPr>
          <p:nvPr/>
        </p:nvSpPr>
        <p:spPr bwMode="auto">
          <a:xfrm>
            <a:off x="469540" y="4253042"/>
            <a:ext cx="788867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，变形</a:t>
            </a:r>
            <a:r>
              <a:rPr lang="el-GR" altLang="zh-CN" sz="2000" b="1" i="1">
                <a:latin typeface="Times New Roman"/>
                <a:cs typeface="Times New Roman"/>
              </a:rPr>
              <a:t>ε</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a:cs typeface="Times New Roman"/>
              </a:rPr>
              <a:t>κ</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γ</a:t>
            </a:r>
            <a:r>
              <a:rPr lang="en-US" altLang="zh-CN" sz="2000" b="1" i="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0</a:t>
            </a:r>
            <a:r>
              <a:rPr lang="zh-CN" altLang="en-US" sz="2000" b="1">
                <a:latin typeface="Times New Roman" pitchFamily="18" charset="0"/>
                <a:cs typeface="Times New Roman" pitchFamily="18" charset="0"/>
              </a:rPr>
              <a:t>；</a:t>
            </a:r>
            <a:endParaRPr lang="zh-CN" altLang="en-US" sz="2000" b="1" baseline="-25000">
              <a:latin typeface="Times New Roman" pitchFamily="18" charset="0"/>
              <a:cs typeface="Times New Roman" pitchFamily="18" charset="0"/>
            </a:endParaRPr>
          </a:p>
        </p:txBody>
      </p:sp>
      <p:sp>
        <p:nvSpPr>
          <p:cNvPr id="36" name="Rectangle 6"/>
          <p:cNvSpPr>
            <a:spLocks noChangeArrowheads="1"/>
          </p:cNvSpPr>
          <p:nvPr/>
        </p:nvSpPr>
        <p:spPr bwMode="auto">
          <a:xfrm>
            <a:off x="469540" y="4669528"/>
            <a:ext cx="8174426" cy="830997"/>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表述：第一状态的外力</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  </a:t>
            </a:r>
            <a:r>
              <a:rPr lang="zh-CN" altLang="en-US" sz="2000" b="1">
                <a:latin typeface="Times New Roman" pitchFamily="18" charset="0"/>
                <a:cs typeface="Times New Roman" pitchFamily="18" charset="0"/>
              </a:rPr>
              <a:t>在第二状态位移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上做的虚功，等于</a:t>
            </a:r>
            <a:r>
              <a:rPr lang="en-US" altLang="zh-CN" sz="2000" b="1">
                <a:latin typeface="Times New Roman" pitchFamily="18" charset="0"/>
                <a:cs typeface="Times New Roman" pitchFamily="18" charset="0"/>
              </a:rPr>
              <a:t>	          </a:t>
            </a:r>
            <a:r>
              <a:rPr lang="zh-CN" altLang="en-US" sz="2000" b="1"/>
              <a:t>第二状态的外力</a:t>
            </a:r>
            <a:r>
              <a:rPr lang="en-US" altLang="zh-CN" sz="2000" b="1" i="1">
                <a:latin typeface="Times New Roman" pitchFamily="18" charset="0"/>
                <a:cs typeface="Times New Roman" pitchFamily="18" charset="0"/>
              </a:rPr>
              <a:t>F ′′</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在第一状态位移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上做的虚功；</a:t>
            </a:r>
            <a:endParaRPr lang="zh-CN" altLang="en-US" sz="2000" b="1"/>
          </a:p>
        </p:txBody>
      </p:sp>
      <p:grpSp>
        <p:nvGrpSpPr>
          <p:cNvPr id="38" name="组合 37"/>
          <p:cNvGrpSpPr/>
          <p:nvPr/>
        </p:nvGrpSpPr>
        <p:grpSpPr>
          <a:xfrm>
            <a:off x="2643174" y="1610801"/>
            <a:ext cx="6215074" cy="1461009"/>
            <a:chOff x="2928926" y="1610801"/>
            <a:chExt cx="6215074" cy="1461009"/>
          </a:xfrm>
        </p:grpSpPr>
        <p:pic>
          <p:nvPicPr>
            <p:cNvPr id="633859" name="Picture 3"/>
            <p:cNvPicPr>
              <a:picLocks noChangeAspect="1" noChangeArrowheads="1"/>
            </p:cNvPicPr>
            <p:nvPr/>
          </p:nvPicPr>
          <p:blipFill>
            <a:blip r:embed="rId3"/>
            <a:srcRect/>
            <a:stretch>
              <a:fillRect/>
            </a:stretch>
          </p:blipFill>
          <p:spPr bwMode="auto">
            <a:xfrm>
              <a:off x="5644991" y="1610801"/>
              <a:ext cx="3499009" cy="1358265"/>
            </a:xfrm>
            <a:prstGeom prst="rect">
              <a:avLst/>
            </a:prstGeom>
            <a:noFill/>
            <a:ln w="9525">
              <a:noFill/>
              <a:miter lim="800000"/>
              <a:headEnd/>
              <a:tailEnd/>
            </a:ln>
            <a:effectLst/>
          </p:spPr>
        </p:pic>
        <p:pic>
          <p:nvPicPr>
            <p:cNvPr id="633858" name="Picture 2"/>
            <p:cNvPicPr>
              <a:picLocks noChangeAspect="1" noChangeArrowheads="1"/>
            </p:cNvPicPr>
            <p:nvPr/>
          </p:nvPicPr>
          <p:blipFill>
            <a:blip r:embed="rId4"/>
            <a:srcRect l="10259"/>
            <a:stretch>
              <a:fillRect/>
            </a:stretch>
          </p:blipFill>
          <p:spPr bwMode="auto">
            <a:xfrm>
              <a:off x="2928926" y="1714488"/>
              <a:ext cx="3124636" cy="1357322"/>
            </a:xfrm>
            <a:prstGeom prst="rect">
              <a:avLst/>
            </a:prstGeom>
            <a:noFill/>
            <a:ln w="9525">
              <a:noFill/>
              <a:miter lim="800000"/>
              <a:headEnd/>
              <a:tailEnd/>
            </a:ln>
            <a:effectLst/>
          </p:spPr>
        </p:pic>
      </p:grpSp>
      <p:sp>
        <p:nvSpPr>
          <p:cNvPr id="39" name="TextBox 38"/>
          <p:cNvSpPr txBox="1"/>
          <p:nvPr/>
        </p:nvSpPr>
        <p:spPr>
          <a:xfrm>
            <a:off x="3500430" y="5600658"/>
            <a:ext cx="2474011"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 F′</a:t>
            </a:r>
            <a:r>
              <a:rPr lang="en-US" altLang="zh-CN" sz="2000" b="1" baseline="-25000">
                <a:solidFill>
                  <a:srgbClr val="C00000"/>
                </a:solidFill>
                <a:latin typeface="Times New Roman" pitchFamily="18" charset="0"/>
                <a:cs typeface="Times New Roman" pitchFamily="18" charset="0"/>
              </a:rPr>
              <a:t>P</a:t>
            </a:r>
            <a:r>
              <a:rPr lang="el-GR" altLang="zh-CN" sz="2000" b="1" i="1">
                <a:solidFill>
                  <a:srgbClr val="C00000"/>
                </a:solidFill>
                <a:latin typeface="Times New Roman" pitchFamily="18" charset="0"/>
                <a:cs typeface="Times New Roman" pitchFamily="18" charset="0"/>
              </a:rPr>
              <a:t> Δ</a:t>
            </a:r>
            <a:r>
              <a:rPr lang="en-US" altLang="zh-CN" sz="2000" b="1" i="1">
                <a:solidFill>
                  <a:srgbClr val="C00000"/>
                </a:solidFill>
                <a:latin typeface="Times New Roman" pitchFamily="18" charset="0"/>
                <a:cs typeface="Times New Roman" pitchFamily="18" charset="0"/>
              </a:rPr>
              <a:t>′′</a:t>
            </a:r>
            <a:r>
              <a:rPr lang="en-US" altLang="zh-CN" sz="2000" b="1" i="1" baseline="-25000">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n-US" altLang="zh-CN" sz="2000" b="1" i="1">
                <a:solidFill>
                  <a:srgbClr val="C00000"/>
                </a:solidFill>
                <a:latin typeface="Times New Roman" pitchFamily="18" charset="0"/>
                <a:cs typeface="Times New Roman" pitchFamily="18" charset="0"/>
              </a:rPr>
              <a:t>∑ F′′ </a:t>
            </a:r>
            <a:r>
              <a:rPr lang="en-US" altLang="zh-CN" sz="2000" b="1" baseline="-25000">
                <a:solidFill>
                  <a:srgbClr val="C00000"/>
                </a:solidFill>
                <a:latin typeface="Times New Roman" pitchFamily="18" charset="0"/>
                <a:cs typeface="Times New Roman" pitchFamily="18" charset="0"/>
              </a:rPr>
              <a:t>P</a:t>
            </a:r>
            <a:r>
              <a:rPr lang="el-GR" altLang="zh-CN" sz="2000" b="1" i="1">
                <a:solidFill>
                  <a:srgbClr val="C00000"/>
                </a:solidFill>
                <a:latin typeface="Times New Roman" pitchFamily="18" charset="0"/>
                <a:cs typeface="Times New Roman" pitchFamily="18" charset="0"/>
              </a:rPr>
              <a:t> Δ</a:t>
            </a:r>
            <a:r>
              <a:rPr lang="en-US" altLang="zh-CN" sz="2000" b="1" i="1">
                <a:solidFill>
                  <a:srgbClr val="C00000"/>
                </a:solidFill>
                <a:latin typeface="Times New Roman" pitchFamily="18" charset="0"/>
                <a:cs typeface="Times New Roman" pitchFamily="18" charset="0"/>
              </a:rPr>
              <a:t>′</a:t>
            </a:r>
            <a:endParaRPr lang="zh-CN" altLang="en-US" sz="2000" b="1">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 calcmode="lin" valueType="num">
                                      <p:cBhvr additive="base">
                                        <p:cTn id="12" dur="500" fill="hold"/>
                                        <p:tgtEl>
                                          <p:spTgt spid="85"/>
                                        </p:tgtEl>
                                        <p:attrNameLst>
                                          <p:attrName>ppt_x</p:attrName>
                                        </p:attrNameLst>
                                      </p:cBhvr>
                                      <p:tavLst>
                                        <p:tav tm="0">
                                          <p:val>
                                            <p:strVal val="#ppt_x"/>
                                          </p:val>
                                        </p:tav>
                                        <p:tav tm="100000">
                                          <p:val>
                                            <p:strVal val="#ppt_x"/>
                                          </p:val>
                                        </p:tav>
                                      </p:tavLst>
                                    </p:anim>
                                    <p:anim calcmode="lin" valueType="num">
                                      <p:cBhvr additive="base">
                                        <p:cTn id="13"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additive="base">
                                        <p:cTn id="18" dur="500" fill="hold"/>
                                        <p:tgtEl>
                                          <p:spTgt spid="32"/>
                                        </p:tgtEl>
                                        <p:attrNameLst>
                                          <p:attrName>ppt_x</p:attrName>
                                        </p:attrNameLst>
                                      </p:cBhvr>
                                      <p:tavLst>
                                        <p:tav tm="0">
                                          <p:val>
                                            <p:strVal val="#ppt_x"/>
                                          </p:val>
                                        </p:tav>
                                        <p:tav tm="100000">
                                          <p:val>
                                            <p:strVal val="#ppt_x"/>
                                          </p:val>
                                        </p:tav>
                                      </p:tavLst>
                                    </p:anim>
                                    <p:anim calcmode="lin" valueType="num">
                                      <p:cBhvr additive="base">
                                        <p:cTn id="19" dur="500" fill="hold"/>
                                        <p:tgtEl>
                                          <p:spTgt spid="32"/>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ppt_x"/>
                                          </p:val>
                                        </p:tav>
                                        <p:tav tm="100000">
                                          <p:val>
                                            <p:strVal val="#ppt_x"/>
                                          </p:val>
                                        </p:tav>
                                      </p:tavLst>
                                    </p:anim>
                                    <p:anim calcmode="lin" valueType="num">
                                      <p:cBhvr additive="base">
                                        <p:cTn id="30" dur="500" fill="hold"/>
                                        <p:tgtEl>
                                          <p:spTgt spid="34"/>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grpId="0" nodeType="after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additive="base">
                                        <p:cTn id="34" dur="500" fill="hold"/>
                                        <p:tgtEl>
                                          <p:spTgt spid="35"/>
                                        </p:tgtEl>
                                        <p:attrNameLst>
                                          <p:attrName>ppt_x</p:attrName>
                                        </p:attrNameLst>
                                      </p:cBhvr>
                                      <p:tavLst>
                                        <p:tav tm="0">
                                          <p:val>
                                            <p:strVal val="#ppt_x"/>
                                          </p:val>
                                        </p:tav>
                                        <p:tav tm="100000">
                                          <p:val>
                                            <p:strVal val="#ppt_x"/>
                                          </p:val>
                                        </p:tav>
                                      </p:tavLst>
                                    </p:anim>
                                    <p:anim calcmode="lin" valueType="num">
                                      <p:cBhvr additive="base">
                                        <p:cTn id="3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500" fill="hold"/>
                                        <p:tgtEl>
                                          <p:spTgt spid="36"/>
                                        </p:tgtEl>
                                        <p:attrNameLst>
                                          <p:attrName>ppt_x</p:attrName>
                                        </p:attrNameLst>
                                      </p:cBhvr>
                                      <p:tavLst>
                                        <p:tav tm="0">
                                          <p:val>
                                            <p:strVal val="#ppt_x"/>
                                          </p:val>
                                        </p:tav>
                                        <p:tav tm="100000">
                                          <p:val>
                                            <p:strVal val="#ppt_x"/>
                                          </p:val>
                                        </p:tav>
                                      </p:tavLst>
                                    </p:anim>
                                    <p:anim calcmode="lin" valueType="num">
                                      <p:cBhvr additive="base">
                                        <p:cTn id="41" dur="500" fill="hold"/>
                                        <p:tgtEl>
                                          <p:spTgt spid="36"/>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up)">
                                      <p:cBhvr>
                                        <p:cTn id="4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32" grpId="0"/>
      <p:bldP spid="33" grpId="0"/>
      <p:bldP spid="34" grpId="0"/>
      <p:bldP spid="35" grpId="0"/>
      <p:bldP spid="36" grpId="0"/>
      <p:bldP spid="3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功的互等定理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0896"/>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证明</a:t>
            </a:r>
          </a:p>
        </p:txBody>
      </p:sp>
      <p:sp>
        <p:nvSpPr>
          <p:cNvPr id="32" name="Rectangle 6"/>
          <p:cNvSpPr>
            <a:spLocks noChangeArrowheads="1"/>
          </p:cNvSpPr>
          <p:nvPr/>
        </p:nvSpPr>
        <p:spPr bwMode="auto">
          <a:xfrm>
            <a:off x="469540" y="3000372"/>
            <a:ext cx="788867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⑴ 状态 </a:t>
            </a:r>
            <a:r>
              <a:rPr lang="en-US" altLang="zh-CN" sz="2000" b="1">
                <a:latin typeface="Times New Roman" pitchFamily="18" charset="0"/>
                <a:cs typeface="Times New Roman" pitchFamily="18" charset="0"/>
              </a:rPr>
              <a:t>I</a:t>
            </a:r>
            <a:r>
              <a:rPr lang="zh-CN" altLang="en-US" sz="2000" b="1">
                <a:latin typeface="Times New Roman" pitchFamily="18" charset="0"/>
                <a:cs typeface="Times New Roman" pitchFamily="18" charset="0"/>
              </a:rPr>
              <a:t>的力系</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在状态</a:t>
            </a:r>
            <a:r>
              <a:rPr lang="en-US" altLang="zh-CN" sz="2000" b="1">
                <a:latin typeface="Times New Roman" pitchFamily="18" charset="0"/>
                <a:cs typeface="Times New Roman" pitchFamily="18" charset="0"/>
              </a:rPr>
              <a:t>Ⅱ</a:t>
            </a:r>
            <a:r>
              <a:rPr lang="zh-CN" altLang="en-US" sz="2000" b="1">
                <a:latin typeface="Times New Roman" pitchFamily="18" charset="0"/>
                <a:cs typeface="Times New Roman" pitchFamily="18" charset="0"/>
              </a:rPr>
              <a:t>的位移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上做的虚功；</a:t>
            </a:r>
            <a:endParaRPr lang="zh-CN" altLang="en-US" sz="2000" b="1" baseline="-25000">
              <a:latin typeface="Times New Roman" pitchFamily="18" charset="0"/>
              <a:cs typeface="Times New Roman" pitchFamily="18" charset="0"/>
            </a:endParaRPr>
          </a:p>
        </p:txBody>
      </p:sp>
      <p:sp>
        <p:nvSpPr>
          <p:cNvPr id="34" name="Rectangle 6"/>
          <p:cNvSpPr>
            <a:spLocks noChangeArrowheads="1"/>
          </p:cNvSpPr>
          <p:nvPr/>
        </p:nvSpPr>
        <p:spPr bwMode="auto">
          <a:xfrm>
            <a:off x="469540" y="4555214"/>
            <a:ext cx="7888674" cy="42633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    ⑵ 状态</a:t>
            </a:r>
            <a:r>
              <a:rPr lang="en-US" altLang="zh-CN" sz="2000" b="1">
                <a:latin typeface="Times New Roman" pitchFamily="18" charset="0"/>
                <a:cs typeface="Times New Roman" pitchFamily="18" charset="0"/>
              </a:rPr>
              <a:t>Ⅱ</a:t>
            </a:r>
            <a:r>
              <a:rPr lang="zh-CN" altLang="en-US" sz="2000" b="1">
                <a:latin typeface="Times New Roman" pitchFamily="18" charset="0"/>
                <a:cs typeface="Times New Roman" pitchFamily="18" charset="0"/>
              </a:rPr>
              <a:t>的力系</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zh-CN" altLang="en-US" sz="2000" b="1">
                <a:latin typeface="Times New Roman" pitchFamily="18" charset="0"/>
                <a:cs typeface="Times New Roman" pitchFamily="18" charset="0"/>
              </a:rPr>
              <a:t>在状态</a:t>
            </a:r>
            <a:r>
              <a:rPr lang="en-US" altLang="zh-CN" sz="2000" b="1">
                <a:latin typeface="Times New Roman" pitchFamily="18" charset="0"/>
                <a:cs typeface="Times New Roman" pitchFamily="18" charset="0"/>
              </a:rPr>
              <a:t>I</a:t>
            </a:r>
            <a:r>
              <a:rPr lang="zh-CN" altLang="en-US" sz="2000" b="1">
                <a:latin typeface="Times New Roman" pitchFamily="18" charset="0"/>
                <a:cs typeface="Times New Roman" pitchFamily="18" charset="0"/>
              </a:rPr>
              <a:t>的位移</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zh-CN" altLang="en-US" sz="2000" b="1">
                <a:latin typeface="Times New Roman" pitchFamily="18" charset="0"/>
                <a:cs typeface="Times New Roman" pitchFamily="18" charset="0"/>
              </a:rPr>
              <a:t>上做的虚功；</a:t>
            </a:r>
            <a:endParaRPr lang="zh-CN" altLang="en-US" sz="2000" b="1" baseline="-25000">
              <a:latin typeface="Times New Roman" pitchFamily="18" charset="0"/>
              <a:cs typeface="Times New Roman" pitchFamily="18" charset="0"/>
            </a:endParaRPr>
          </a:p>
        </p:txBody>
      </p:sp>
      <p:grpSp>
        <p:nvGrpSpPr>
          <p:cNvPr id="4" name="组合 37"/>
          <p:cNvGrpSpPr/>
          <p:nvPr/>
        </p:nvGrpSpPr>
        <p:grpSpPr>
          <a:xfrm>
            <a:off x="2357454" y="1610801"/>
            <a:ext cx="6215074" cy="1461009"/>
            <a:chOff x="2928926" y="1610801"/>
            <a:chExt cx="6215074" cy="1461009"/>
          </a:xfrm>
        </p:grpSpPr>
        <p:pic>
          <p:nvPicPr>
            <p:cNvPr id="633859" name="Picture 3"/>
            <p:cNvPicPr>
              <a:picLocks noChangeAspect="1" noChangeArrowheads="1"/>
            </p:cNvPicPr>
            <p:nvPr/>
          </p:nvPicPr>
          <p:blipFill>
            <a:blip r:embed="rId4"/>
            <a:srcRect/>
            <a:stretch>
              <a:fillRect/>
            </a:stretch>
          </p:blipFill>
          <p:spPr bwMode="auto">
            <a:xfrm>
              <a:off x="5644991" y="1610801"/>
              <a:ext cx="3499009" cy="1358265"/>
            </a:xfrm>
            <a:prstGeom prst="rect">
              <a:avLst/>
            </a:prstGeom>
            <a:noFill/>
            <a:ln w="9525">
              <a:noFill/>
              <a:miter lim="800000"/>
              <a:headEnd/>
              <a:tailEnd/>
            </a:ln>
            <a:effectLst/>
          </p:spPr>
        </p:pic>
        <p:pic>
          <p:nvPicPr>
            <p:cNvPr id="633858" name="Picture 2"/>
            <p:cNvPicPr>
              <a:picLocks noChangeAspect="1" noChangeArrowheads="1"/>
            </p:cNvPicPr>
            <p:nvPr/>
          </p:nvPicPr>
          <p:blipFill>
            <a:blip r:embed="rId5"/>
            <a:srcRect l="10259"/>
            <a:stretch>
              <a:fillRect/>
            </a:stretch>
          </p:blipFill>
          <p:spPr bwMode="auto">
            <a:xfrm>
              <a:off x="2928926" y="1714488"/>
              <a:ext cx="3124636" cy="1357322"/>
            </a:xfrm>
            <a:prstGeom prst="rect">
              <a:avLst/>
            </a:prstGeom>
            <a:noFill/>
            <a:ln w="9525">
              <a:noFill/>
              <a:miter lim="800000"/>
              <a:headEnd/>
              <a:tailEnd/>
            </a:ln>
            <a:effectLst/>
          </p:spPr>
        </p:pic>
      </p:grpSp>
      <p:sp>
        <p:nvSpPr>
          <p:cNvPr id="39" name="TextBox 38"/>
          <p:cNvSpPr txBox="1"/>
          <p:nvPr/>
        </p:nvSpPr>
        <p:spPr>
          <a:xfrm>
            <a:off x="3500430" y="5700614"/>
            <a:ext cx="2474011" cy="400110"/>
          </a:xfrm>
          <a:prstGeom prst="rect">
            <a:avLst/>
          </a:prstGeom>
          <a:noFill/>
          <a:ln w="28575">
            <a:noFill/>
          </a:ln>
        </p:spPr>
        <p:txBody>
          <a:bodyPr wrap="none" rtlCol="0">
            <a:spAutoFit/>
          </a:bodyPr>
          <a:lstStyle/>
          <a:p>
            <a:r>
              <a:rPr lang="en-US" altLang="zh-CN" sz="2000" b="1" i="1">
                <a:solidFill>
                  <a:srgbClr val="C00000"/>
                </a:solidFill>
                <a:latin typeface="Times New Roman" pitchFamily="18" charset="0"/>
                <a:cs typeface="Times New Roman" pitchFamily="18" charset="0"/>
              </a:rPr>
              <a:t>∑ F′</a:t>
            </a:r>
            <a:r>
              <a:rPr lang="en-US" altLang="zh-CN" sz="2000" b="1" baseline="-25000">
                <a:solidFill>
                  <a:srgbClr val="C00000"/>
                </a:solidFill>
                <a:latin typeface="Times New Roman" pitchFamily="18" charset="0"/>
                <a:cs typeface="Times New Roman" pitchFamily="18" charset="0"/>
              </a:rPr>
              <a:t>P</a:t>
            </a:r>
            <a:r>
              <a:rPr lang="el-GR" altLang="zh-CN" sz="2000" b="1" i="1">
                <a:solidFill>
                  <a:srgbClr val="C00000"/>
                </a:solidFill>
                <a:latin typeface="Times New Roman" pitchFamily="18" charset="0"/>
                <a:cs typeface="Times New Roman" pitchFamily="18" charset="0"/>
              </a:rPr>
              <a:t> Δ</a:t>
            </a:r>
            <a:r>
              <a:rPr lang="en-US" altLang="zh-CN" sz="2000" b="1" i="1">
                <a:solidFill>
                  <a:srgbClr val="C00000"/>
                </a:solidFill>
                <a:latin typeface="Times New Roman" pitchFamily="18" charset="0"/>
                <a:cs typeface="Times New Roman" pitchFamily="18" charset="0"/>
              </a:rPr>
              <a:t>′′</a:t>
            </a:r>
            <a:r>
              <a:rPr lang="en-US" altLang="zh-CN" sz="2000" b="1" i="1" baseline="-25000">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n-US" altLang="zh-CN" sz="2000" b="1" i="1">
                <a:solidFill>
                  <a:srgbClr val="C00000"/>
                </a:solidFill>
                <a:latin typeface="Times New Roman" pitchFamily="18" charset="0"/>
                <a:cs typeface="Times New Roman" pitchFamily="18" charset="0"/>
              </a:rPr>
              <a:t>∑ F′′ </a:t>
            </a:r>
            <a:r>
              <a:rPr lang="en-US" altLang="zh-CN" sz="2000" b="1" baseline="-25000">
                <a:solidFill>
                  <a:srgbClr val="C00000"/>
                </a:solidFill>
                <a:latin typeface="Times New Roman" pitchFamily="18" charset="0"/>
                <a:cs typeface="Times New Roman" pitchFamily="18" charset="0"/>
              </a:rPr>
              <a:t>P</a:t>
            </a:r>
            <a:r>
              <a:rPr lang="el-GR" altLang="zh-CN" sz="2000" b="1" i="1">
                <a:solidFill>
                  <a:srgbClr val="C00000"/>
                </a:solidFill>
                <a:latin typeface="Times New Roman" pitchFamily="18" charset="0"/>
                <a:cs typeface="Times New Roman" pitchFamily="18" charset="0"/>
              </a:rPr>
              <a:t> Δ</a:t>
            </a:r>
            <a:r>
              <a:rPr lang="en-US" altLang="zh-CN" sz="2000" b="1" i="1">
                <a:solidFill>
                  <a:srgbClr val="C00000"/>
                </a:solidFill>
                <a:latin typeface="Times New Roman" pitchFamily="18" charset="0"/>
                <a:cs typeface="Times New Roman" pitchFamily="18" charset="0"/>
              </a:rPr>
              <a:t>′</a:t>
            </a:r>
            <a:endParaRPr lang="zh-CN" altLang="en-US" sz="2000" b="1">
              <a:solidFill>
                <a:srgbClr val="C00000"/>
              </a:solidFill>
            </a:endParaRPr>
          </a:p>
        </p:txBody>
      </p:sp>
      <p:graphicFrame>
        <p:nvGraphicFramePr>
          <p:cNvPr id="15" name="Object 10"/>
          <p:cNvGraphicFramePr>
            <a:graphicFrameLocks noChangeAspect="1"/>
          </p:cNvGraphicFramePr>
          <p:nvPr/>
        </p:nvGraphicFramePr>
        <p:xfrm>
          <a:off x="2095523" y="3429000"/>
          <a:ext cx="5762625" cy="1104900"/>
        </p:xfrm>
        <a:graphic>
          <a:graphicData uri="http://schemas.openxmlformats.org/presentationml/2006/ole">
            <mc:AlternateContent xmlns:mc="http://schemas.openxmlformats.org/markup-compatibility/2006">
              <mc:Choice xmlns:v="urn:schemas-microsoft-com:vml" Requires="v">
                <p:oleObj spid="_x0000_s635908" name="Equation" r:id="rId6" imgW="3720960" imgH="711000" progId="Equation.DSMT4">
                  <p:embed/>
                </p:oleObj>
              </mc:Choice>
              <mc:Fallback>
                <p:oleObj name="Equation" r:id="rId6" imgW="3720960" imgH="7110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5523" y="3429000"/>
                        <a:ext cx="5762625" cy="1104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883" name="Object 5"/>
          <p:cNvGraphicFramePr>
            <a:graphicFrameLocks noChangeAspect="1"/>
          </p:cNvGraphicFramePr>
          <p:nvPr/>
        </p:nvGraphicFramePr>
        <p:xfrm>
          <a:off x="2085975" y="4983163"/>
          <a:ext cx="5781675" cy="650875"/>
        </p:xfrm>
        <a:graphic>
          <a:graphicData uri="http://schemas.openxmlformats.org/presentationml/2006/ole">
            <mc:AlternateContent xmlns:mc="http://schemas.openxmlformats.org/markup-compatibility/2006">
              <mc:Choice xmlns:v="urn:schemas-microsoft-com:vml" Requires="v">
                <p:oleObj spid="_x0000_s635909" name="Equation" r:id="rId8" imgW="3733560" imgH="419040" progId="Equation.DSMT4">
                  <p:embed/>
                </p:oleObj>
              </mc:Choice>
              <mc:Fallback>
                <p:oleObj name="Equation" r:id="rId8" imgW="3733560" imgH="419040" progId="Equation.DSMT4">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85975" y="4983163"/>
                        <a:ext cx="5781675"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p:nvPr/>
        </p:nvSpPr>
        <p:spPr>
          <a:xfrm>
            <a:off x="1513229" y="5731392"/>
            <a:ext cx="415498" cy="369332"/>
          </a:xfrm>
          <a:prstGeom prst="rect">
            <a:avLst/>
          </a:prstGeom>
        </p:spPr>
        <p:txBody>
          <a:bodyPr wrap="none">
            <a:spAutoFit/>
          </a:bodyPr>
          <a:lstStyle/>
          <a:p>
            <a:r>
              <a:rPr lang="zh-CN" altLang="en-US" b="1"/>
              <a:t>故</a:t>
            </a:r>
          </a:p>
        </p:txBody>
      </p:sp>
      <p:sp>
        <p:nvSpPr>
          <p:cNvPr id="18" name="TextBox 17"/>
          <p:cNvSpPr txBox="1"/>
          <p:nvPr/>
        </p:nvSpPr>
        <p:spPr>
          <a:xfrm>
            <a:off x="7358082" y="5743534"/>
            <a:ext cx="954107" cy="400110"/>
          </a:xfrm>
          <a:prstGeom prst="rect">
            <a:avLst/>
          </a:prstGeom>
          <a:noFill/>
          <a:ln w="28575">
            <a:solidFill>
              <a:srgbClr val="C00000"/>
            </a:solidFill>
          </a:ln>
        </p:spPr>
        <p:txBody>
          <a:bodyPr wrap="none" rtlCol="0">
            <a:spAutoFit/>
          </a:bodyPr>
          <a:lstStyle/>
          <a:p>
            <a:r>
              <a:rPr lang="zh-CN" altLang="en-US" sz="2000" b="1">
                <a:solidFill>
                  <a:srgbClr val="C00000"/>
                </a:solidFill>
              </a:rPr>
              <a:t>证毕！</a:t>
            </a:r>
          </a:p>
        </p:txBody>
      </p:sp>
      <p:sp>
        <p:nvSpPr>
          <p:cNvPr id="16" name="TextBox 15"/>
          <p:cNvSpPr txBox="1"/>
          <p:nvPr/>
        </p:nvSpPr>
        <p:spPr>
          <a:xfrm>
            <a:off x="2357422" y="6164282"/>
            <a:ext cx="3185487" cy="369332"/>
          </a:xfrm>
          <a:prstGeom prst="rect">
            <a:avLst/>
          </a:prstGeom>
          <a:solidFill>
            <a:schemeClr val="bg1"/>
          </a:solidFill>
          <a:ln w="28575">
            <a:noFill/>
          </a:ln>
        </p:spPr>
        <p:txBody>
          <a:bodyPr wrap="none" rtlCol="0">
            <a:spAutoFit/>
          </a:bodyPr>
          <a:lstStyle/>
          <a:p>
            <a:r>
              <a:rPr lang="zh-CN" altLang="en-US" b="1">
                <a:solidFill>
                  <a:srgbClr val="0033CC"/>
                </a:solidFill>
              </a:rPr>
              <a:t>思考：只适用于静定结构吗？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fill="hold"/>
                                        <p:tgtEl>
                                          <p:spTgt spid="32"/>
                                        </p:tgtEl>
                                        <p:attrNameLst>
                                          <p:attrName>ppt_x</p:attrName>
                                        </p:attrNameLst>
                                      </p:cBhvr>
                                      <p:tavLst>
                                        <p:tav tm="0">
                                          <p:val>
                                            <p:strVal val="#ppt_x"/>
                                          </p:val>
                                        </p:tav>
                                        <p:tav tm="100000">
                                          <p:val>
                                            <p:strVal val="#ppt_x"/>
                                          </p:val>
                                        </p:tav>
                                      </p:tavLst>
                                    </p:anim>
                                    <p:anim calcmode="lin" valueType="num">
                                      <p:cBhvr additive="base">
                                        <p:cTn id="17"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ppt_x"/>
                                          </p:val>
                                        </p:tav>
                                        <p:tav tm="100000">
                                          <p:val>
                                            <p:strVal val="#ppt_x"/>
                                          </p:val>
                                        </p:tav>
                                      </p:tavLst>
                                    </p:anim>
                                    <p:anim calcmode="lin" valueType="num">
                                      <p:cBhvr additive="base">
                                        <p:cTn id="28" dur="500" fill="hold"/>
                                        <p:tgtEl>
                                          <p:spTgt spid="34"/>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634883"/>
                                        </p:tgtEl>
                                        <p:attrNameLst>
                                          <p:attrName>style.visibility</p:attrName>
                                        </p:attrNameLst>
                                      </p:cBhvr>
                                      <p:to>
                                        <p:strVal val="visible"/>
                                      </p:to>
                                    </p:set>
                                    <p:anim calcmode="lin" valueType="num">
                                      <p:cBhvr additive="base">
                                        <p:cTn id="32" dur="500" fill="hold"/>
                                        <p:tgtEl>
                                          <p:spTgt spid="634883"/>
                                        </p:tgtEl>
                                        <p:attrNameLst>
                                          <p:attrName>ppt_x</p:attrName>
                                        </p:attrNameLst>
                                      </p:cBhvr>
                                      <p:tavLst>
                                        <p:tav tm="0">
                                          <p:val>
                                            <p:strVal val="#ppt_x"/>
                                          </p:val>
                                        </p:tav>
                                        <p:tav tm="100000">
                                          <p:val>
                                            <p:strVal val="#ppt_x"/>
                                          </p:val>
                                        </p:tav>
                                      </p:tavLst>
                                    </p:anim>
                                    <p:anim calcmode="lin" valueType="num">
                                      <p:cBhvr additive="base">
                                        <p:cTn id="33" dur="500" fill="hold"/>
                                        <p:tgtEl>
                                          <p:spTgt spid="63488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up)">
                                      <p:cBhvr>
                                        <p:cTn id="42" dur="500"/>
                                        <p:tgtEl>
                                          <p:spTgt spid="39"/>
                                        </p:tgtEl>
                                      </p:cBhvr>
                                    </p:animEffect>
                                  </p:childTnLst>
                                </p:cTn>
                              </p:par>
                            </p:childTnLst>
                          </p:cTn>
                        </p:par>
                        <p:par>
                          <p:cTn id="43" fill="hold">
                            <p:stCondLst>
                              <p:cond delay="1000"/>
                            </p:stCondLst>
                            <p:childTnLst>
                              <p:par>
                                <p:cTn id="44" presetID="1"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linds(horizontal)">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32" grpId="0"/>
      <p:bldP spid="34" grpId="0"/>
      <p:bldP spid="39" grpId="0"/>
      <p:bldP spid="17" grpId="0"/>
      <p:bldP spid="18"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功的互等定理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2252955"/>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推论：位移互等定理、反力互等定理、位移反力互等定理；</a:t>
            </a:r>
          </a:p>
        </p:txBody>
      </p:sp>
      <p:sp>
        <p:nvSpPr>
          <p:cNvPr id="19" name="内容占位符 2"/>
          <p:cNvSpPr txBox="1">
            <a:spLocks/>
          </p:cNvSpPr>
          <p:nvPr/>
        </p:nvSpPr>
        <p:spPr bwMode="auto">
          <a:xfrm>
            <a:off x="467085" y="2786058"/>
            <a:ext cx="8207375" cy="517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1" indent="-342900" algn="l" defTabSz="914400" rtl="0" eaLnBrk="1" fontAlgn="base" latinLnBrk="0" hangingPunct="1">
              <a:lnSpc>
                <a:spcPct val="120000"/>
              </a:lnSpc>
              <a:spcBef>
                <a:spcPct val="20000"/>
              </a:spcBef>
              <a:spcAft>
                <a:spcPct val="0"/>
              </a:spcAft>
              <a:buClrTx/>
              <a:buSzTx/>
              <a:buFont typeface="Wingdings" pitchFamily="2" charset="2"/>
              <a:buChar char="n"/>
              <a:tabLst/>
              <a:defRPr/>
            </a:pPr>
            <a:r>
              <a:rPr kumimoji="0" lang="zh-CN" altLang="en-US" sz="2400" b="1" i="0" u="none" strike="noStrike" kern="0" cap="none" spc="0" normalizeH="0" baseline="0" noProof="0">
                <a:ln>
                  <a:noFill/>
                </a:ln>
                <a:solidFill>
                  <a:srgbClr val="C00000"/>
                </a:solidFill>
                <a:effectLst/>
                <a:uLnTx/>
                <a:uFillTx/>
                <a:latin typeface="+mn-lt"/>
                <a:ea typeface="+mn-ea"/>
              </a:rPr>
              <a:t>位移互等定理</a:t>
            </a:r>
            <a:endParaRPr kumimoji="0" lang="en-US" altLang="zh-CN" sz="2400" b="1" i="0" u="none" strike="noStrike" kern="0" cap="none" spc="0" normalizeH="0" baseline="0" noProof="0">
              <a:ln>
                <a:noFill/>
              </a:ln>
              <a:solidFill>
                <a:srgbClr val="C00000"/>
              </a:solidFill>
              <a:effectLst/>
              <a:uLnTx/>
              <a:uFillTx/>
              <a:latin typeface="+mn-lt"/>
              <a:ea typeface="+mn-ea"/>
            </a:endParaRPr>
          </a:p>
        </p:txBody>
      </p:sp>
      <p:pic>
        <p:nvPicPr>
          <p:cNvPr id="634884" name="Picture 4"/>
          <p:cNvPicPr>
            <a:picLocks noChangeAspect="1" noChangeArrowheads="1"/>
          </p:cNvPicPr>
          <p:nvPr/>
        </p:nvPicPr>
        <p:blipFill>
          <a:blip r:embed="rId4"/>
          <a:srcRect/>
          <a:stretch>
            <a:fillRect/>
          </a:stretch>
        </p:blipFill>
        <p:spPr bwMode="auto">
          <a:xfrm>
            <a:off x="5361360" y="2970014"/>
            <a:ext cx="3211168" cy="2173498"/>
          </a:xfrm>
          <a:prstGeom prst="rect">
            <a:avLst/>
          </a:prstGeom>
          <a:noFill/>
          <a:ln w="9525">
            <a:noFill/>
            <a:miter lim="800000"/>
            <a:headEnd/>
            <a:tailEnd/>
          </a:ln>
          <a:effectLst/>
        </p:spPr>
      </p:pic>
      <p:sp>
        <p:nvSpPr>
          <p:cNvPr id="21" name="TextBox 20"/>
          <p:cNvSpPr txBox="1"/>
          <p:nvPr/>
        </p:nvSpPr>
        <p:spPr>
          <a:xfrm>
            <a:off x="3286116" y="1814444"/>
            <a:ext cx="2474011"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P</a:t>
            </a:r>
            <a:r>
              <a:rPr lang="el-GR" altLang="zh-CN" sz="2000" b="1" i="1">
                <a:latin typeface="Times New Roman" pitchFamily="18" charset="0"/>
                <a:cs typeface="Times New Roman" pitchFamily="18" charset="0"/>
              </a:rPr>
              <a:t> Δ</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 F′′ </a:t>
            </a:r>
            <a:r>
              <a:rPr lang="en-US" altLang="zh-CN" sz="2000" b="1" baseline="-25000">
                <a:latin typeface="Times New Roman" pitchFamily="18" charset="0"/>
                <a:cs typeface="Times New Roman" pitchFamily="18" charset="0"/>
              </a:rPr>
              <a:t>P</a:t>
            </a:r>
            <a:r>
              <a:rPr lang="el-GR" altLang="zh-CN" sz="2000" b="1" i="1">
                <a:latin typeface="Times New Roman" pitchFamily="18" charset="0"/>
                <a:cs typeface="Times New Roman" pitchFamily="18" charset="0"/>
              </a:rPr>
              <a:t> Δ</a:t>
            </a:r>
            <a:r>
              <a:rPr lang="en-US" altLang="zh-CN" sz="2000" b="1" i="1">
                <a:latin typeface="Times New Roman" pitchFamily="18" charset="0"/>
                <a:cs typeface="Times New Roman" pitchFamily="18" charset="0"/>
              </a:rPr>
              <a:t>′</a:t>
            </a:r>
            <a:endParaRPr lang="zh-CN" altLang="en-US" sz="2000" b="1"/>
          </a:p>
        </p:txBody>
      </p:sp>
      <p:sp>
        <p:nvSpPr>
          <p:cNvPr id="25" name="Rectangle 6"/>
          <p:cNvSpPr>
            <a:spLocks noChangeArrowheads="1"/>
          </p:cNvSpPr>
          <p:nvPr/>
        </p:nvSpPr>
        <p:spPr bwMode="auto">
          <a:xfrm>
            <a:off x="469540" y="3357562"/>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状态 </a:t>
            </a:r>
            <a:r>
              <a:rPr lang="en-US" altLang="zh-CN" sz="2000" b="1">
                <a:latin typeface="Times New Roman" pitchFamily="18" charset="0"/>
                <a:cs typeface="Times New Roman" pitchFamily="18" charset="0"/>
              </a:rPr>
              <a:t>I</a:t>
            </a:r>
            <a:r>
              <a:rPr lang="zh-CN" altLang="en-US" sz="2000" b="1"/>
              <a:t>仅荷载</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zh-CN" altLang="en-US" sz="2000" b="1"/>
              <a:t>，</a:t>
            </a:r>
            <a:r>
              <a:rPr lang="zh-CN" altLang="en-US" sz="2000" b="1">
                <a:latin typeface="Times New Roman" pitchFamily="18" charset="0"/>
                <a:cs typeface="Times New Roman" pitchFamily="18" charset="0"/>
              </a:rPr>
              <a:t>状态</a:t>
            </a:r>
            <a:r>
              <a:rPr lang="en-US" altLang="zh-CN" sz="2000" b="1">
                <a:latin typeface="Times New Roman" pitchFamily="18" charset="0"/>
                <a:cs typeface="Times New Roman" pitchFamily="18" charset="0"/>
              </a:rPr>
              <a:t>Ⅱ</a:t>
            </a:r>
            <a:r>
              <a:rPr lang="zh-CN" altLang="en-US" sz="2000" b="1"/>
              <a:t>仅荷载</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P2</a:t>
            </a:r>
            <a:r>
              <a:rPr lang="zh-CN" altLang="en-US" sz="2000" b="1"/>
              <a:t> ；</a:t>
            </a:r>
            <a:r>
              <a:rPr lang="el-GR" altLang="zh-CN" sz="2000" b="1" i="1">
                <a:solidFill>
                  <a:srgbClr val="C00000"/>
                </a:solidFill>
                <a:latin typeface="Times New Roman" pitchFamily="18" charset="0"/>
                <a:cs typeface="Times New Roman" pitchFamily="18" charset="0"/>
              </a:rPr>
              <a:t> </a:t>
            </a:r>
            <a:endParaRPr lang="zh-CN" altLang="en-US" sz="2000" b="1"/>
          </a:p>
        </p:txBody>
      </p:sp>
      <p:sp>
        <p:nvSpPr>
          <p:cNvPr id="26" name="Rectangle 6"/>
          <p:cNvSpPr>
            <a:spLocks noChangeArrowheads="1"/>
          </p:cNvSpPr>
          <p:nvPr/>
        </p:nvSpPr>
        <p:spPr bwMode="auto">
          <a:xfrm>
            <a:off x="469540" y="3786190"/>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ij</a:t>
            </a:r>
            <a:r>
              <a:rPr lang="zh-CN" altLang="en-US" sz="2000" b="1"/>
              <a:t>为</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en-US" altLang="zh-CN" sz="2000" b="1" i="1" baseline="-25000">
                <a:latin typeface="Times New Roman" pitchFamily="18" charset="0"/>
                <a:cs typeface="Times New Roman" pitchFamily="18" charset="0"/>
              </a:rPr>
              <a:t>j</a:t>
            </a:r>
            <a:r>
              <a:rPr lang="zh-CN" altLang="en-US" sz="2000" b="1"/>
              <a:t>引起的与</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a:t>
            </a:r>
            <a:r>
              <a:rPr lang="en-US" altLang="zh-CN" sz="2000" b="1" i="1" baseline="-25000">
                <a:latin typeface="Times New Roman" pitchFamily="18" charset="0"/>
                <a:cs typeface="Times New Roman" pitchFamily="18" charset="0"/>
              </a:rPr>
              <a:t>i</a:t>
            </a:r>
            <a:r>
              <a:rPr lang="en-US" altLang="zh-CN" sz="2000" b="1" i="1">
                <a:latin typeface="Times New Roman" pitchFamily="18" charset="0"/>
                <a:cs typeface="Times New Roman" pitchFamily="18" charset="0"/>
              </a:rPr>
              <a:t> </a:t>
            </a:r>
            <a:r>
              <a:rPr lang="zh-CN" altLang="en-US" sz="2000" b="1">
                <a:latin typeface="Times New Roman" pitchFamily="18" charset="0"/>
                <a:cs typeface="Times New Roman" pitchFamily="18" charset="0"/>
              </a:rPr>
              <a:t>相应的位移；</a:t>
            </a:r>
            <a:endParaRPr lang="zh-CN" altLang="en-US" sz="2000" b="1"/>
          </a:p>
        </p:txBody>
      </p:sp>
      <p:sp>
        <p:nvSpPr>
          <p:cNvPr id="27" name="TextBox 26"/>
          <p:cNvSpPr txBox="1"/>
          <p:nvPr/>
        </p:nvSpPr>
        <p:spPr>
          <a:xfrm>
            <a:off x="2071670" y="4243336"/>
            <a:ext cx="1928990"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el-GR" altLang="zh-CN" sz="2000" b="1" i="1">
                <a:latin typeface="Times New Roman" pitchFamily="18" charset="0"/>
                <a:cs typeface="Times New Roman" pitchFamily="18" charset="0"/>
              </a:rPr>
              <a:t> Δ</a:t>
            </a:r>
            <a:r>
              <a:rPr lang="en-US" altLang="zh-CN" sz="2000" b="1" baseline="-25000">
                <a:latin typeface="Times New Roman" pitchFamily="18" charset="0"/>
                <a:cs typeface="Times New Roman" pitchFamily="18" charset="0"/>
              </a:rPr>
              <a:t>12</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P2</a:t>
            </a:r>
            <a:r>
              <a:rPr lang="el-GR" altLang="zh-CN" sz="2000" b="1" i="1">
                <a:latin typeface="Times New Roman" pitchFamily="18" charset="0"/>
                <a:cs typeface="Times New Roman" pitchFamily="18" charset="0"/>
              </a:rPr>
              <a:t> Δ</a:t>
            </a:r>
            <a:r>
              <a:rPr lang="en-US" altLang="zh-CN" sz="2000" b="1" baseline="-25000">
                <a:latin typeface="Times New Roman" pitchFamily="18" charset="0"/>
                <a:cs typeface="Times New Roman" pitchFamily="18" charset="0"/>
              </a:rPr>
              <a:t>21</a:t>
            </a:r>
            <a:endParaRPr lang="zh-CN" altLang="en-US" sz="2000" b="1" baseline="-25000"/>
          </a:p>
        </p:txBody>
      </p:sp>
      <p:sp>
        <p:nvSpPr>
          <p:cNvPr id="28" name="Rectangle 6"/>
          <p:cNvSpPr>
            <a:spLocks noChangeArrowheads="1"/>
          </p:cNvSpPr>
          <p:nvPr/>
        </p:nvSpPr>
        <p:spPr bwMode="auto">
          <a:xfrm>
            <a:off x="469540" y="4643446"/>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线弹性体系：</a:t>
            </a:r>
            <a:endParaRPr lang="zh-CN" altLang="en-US" sz="2000" b="1"/>
          </a:p>
        </p:txBody>
      </p:sp>
      <p:graphicFrame>
        <p:nvGraphicFramePr>
          <p:cNvPr id="634887" name="Object 7"/>
          <p:cNvGraphicFramePr>
            <a:graphicFrameLocks noChangeAspect="1"/>
          </p:cNvGraphicFramePr>
          <p:nvPr/>
        </p:nvGraphicFramePr>
        <p:xfrm>
          <a:off x="3428992" y="4714884"/>
          <a:ext cx="1720304" cy="785818"/>
        </p:xfrm>
        <a:graphic>
          <a:graphicData uri="http://schemas.openxmlformats.org/presentationml/2006/ole">
            <mc:AlternateContent xmlns:mc="http://schemas.openxmlformats.org/markup-compatibility/2006">
              <mc:Choice xmlns:v="urn:schemas-microsoft-com:vml" Requires="v">
                <p:oleObj spid="_x0000_s634888" name="Equation" r:id="rId5" imgW="1028520" imgH="469800" progId="Equation.DSMT4">
                  <p:embed/>
                </p:oleObj>
              </mc:Choice>
              <mc:Fallback>
                <p:oleObj name="Equation" r:id="rId5" imgW="1028520" imgH="4698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8992" y="4714884"/>
                        <a:ext cx="1720304"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Rectangle 6"/>
          <p:cNvSpPr>
            <a:spLocks noChangeArrowheads="1"/>
          </p:cNvSpPr>
          <p:nvPr/>
        </p:nvSpPr>
        <p:spPr bwMode="auto">
          <a:xfrm>
            <a:off x="469540" y="5429264"/>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故                                             </a:t>
            </a:r>
            <a:r>
              <a:rPr lang="el-GR"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12</a:t>
            </a:r>
            <a:r>
              <a:rPr lang="en-US" altLang="zh-CN" sz="2000" b="1" i="1" baseline="-25000">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l-GR"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21</a:t>
            </a:r>
            <a:endParaRPr lang="zh-CN" altLang="en-US" sz="2000" b="1" baseline="-25000">
              <a:solidFill>
                <a:srgbClr val="C00000"/>
              </a:solidFill>
            </a:endParaRPr>
          </a:p>
        </p:txBody>
      </p:sp>
      <p:sp>
        <p:nvSpPr>
          <p:cNvPr id="38" name="TextBox 37"/>
          <p:cNvSpPr txBox="1"/>
          <p:nvPr/>
        </p:nvSpPr>
        <p:spPr>
          <a:xfrm>
            <a:off x="6286512" y="5429264"/>
            <a:ext cx="1723549" cy="400110"/>
          </a:xfrm>
          <a:prstGeom prst="rect">
            <a:avLst/>
          </a:prstGeom>
          <a:noFill/>
          <a:ln w="28575">
            <a:solidFill>
              <a:srgbClr val="C00000"/>
            </a:solidFill>
          </a:ln>
        </p:spPr>
        <p:txBody>
          <a:bodyPr wrap="none" rtlCol="0">
            <a:spAutoFit/>
          </a:bodyPr>
          <a:lstStyle/>
          <a:p>
            <a:r>
              <a:rPr lang="zh-CN" altLang="en-US" sz="2000" b="1">
                <a:solidFill>
                  <a:srgbClr val="C00000"/>
                </a:solidFill>
              </a:rPr>
              <a:t>位移互等定理</a:t>
            </a:r>
          </a:p>
        </p:txBody>
      </p:sp>
      <p:sp>
        <p:nvSpPr>
          <p:cNvPr id="40" name="Rectangle 6"/>
          <p:cNvSpPr>
            <a:spLocks noChangeArrowheads="1"/>
          </p:cNvSpPr>
          <p:nvPr/>
        </p:nvSpPr>
        <p:spPr bwMode="auto">
          <a:xfrm>
            <a:off x="469540" y="5857892"/>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 F</a:t>
            </a:r>
            <a:r>
              <a:rPr lang="en-US" altLang="zh-CN" sz="2000" b="1" baseline="-25000">
                <a:latin typeface="Times New Roman" pitchFamily="18" charset="0"/>
                <a:cs typeface="Times New Roman" pitchFamily="18" charset="0"/>
              </a:rPr>
              <a:t>P1</a:t>
            </a:r>
            <a:r>
              <a:rPr lang="zh-CN" altLang="en-US" sz="2000" b="1"/>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P2</a:t>
            </a:r>
            <a:r>
              <a:rPr lang="zh-CN" altLang="en-US" sz="2000" b="1">
                <a:latin typeface="Times New Roman" pitchFamily="18" charset="0"/>
                <a:cs typeface="Times New Roman" pitchFamily="18" charset="0"/>
              </a:rPr>
              <a:t>为单位荷载时         </a:t>
            </a:r>
            <a:r>
              <a:rPr lang="el-GR"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12</a:t>
            </a:r>
            <a:r>
              <a:rPr lang="en-US" altLang="zh-CN" sz="2000" b="1" i="1" baseline="-25000">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l-GR"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21</a:t>
            </a:r>
            <a:r>
              <a:rPr lang="en-US" altLang="zh-CN" sz="2000" b="1" i="1" baseline="-25000">
                <a:solidFill>
                  <a:srgbClr val="C00000"/>
                </a:solidFill>
                <a:latin typeface="Times New Roman" pitchFamily="18" charset="0"/>
                <a:cs typeface="Times New Roman" pitchFamily="18" charset="0"/>
              </a:rPr>
              <a:t> </a:t>
            </a:r>
            <a:endParaRPr lang="zh-CN" altLang="en-US" sz="2000" b="1" baseline="-250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par>
                                <p:cTn id="15" presetID="22" presetClass="entr" presetSubtype="1" fill="hold" nodeType="withEffect">
                                  <p:stCondLst>
                                    <p:cond delay="0"/>
                                  </p:stCondLst>
                                  <p:childTnLst>
                                    <p:set>
                                      <p:cBhvr>
                                        <p:cTn id="16" dur="1" fill="hold">
                                          <p:stCondLst>
                                            <p:cond delay="0"/>
                                          </p:stCondLst>
                                        </p:cTn>
                                        <p:tgtEl>
                                          <p:spTgt spid="634884"/>
                                        </p:tgtEl>
                                        <p:attrNameLst>
                                          <p:attrName>style.visibility</p:attrName>
                                        </p:attrNameLst>
                                      </p:cBhvr>
                                      <p:to>
                                        <p:strVal val="visible"/>
                                      </p:to>
                                    </p:set>
                                    <p:animEffect transition="in" filter="wipe(up)">
                                      <p:cBhvr>
                                        <p:cTn id="17" dur="500"/>
                                        <p:tgtEl>
                                          <p:spTgt spid="63488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500" fill="hold"/>
                                        <p:tgtEl>
                                          <p:spTgt spid="25"/>
                                        </p:tgtEl>
                                        <p:attrNameLst>
                                          <p:attrName>ppt_x</p:attrName>
                                        </p:attrNameLst>
                                      </p:cBhvr>
                                      <p:tavLst>
                                        <p:tav tm="0">
                                          <p:val>
                                            <p:strVal val="#ppt_x"/>
                                          </p:val>
                                        </p:tav>
                                        <p:tav tm="100000">
                                          <p:val>
                                            <p:strVal val="#ppt_x"/>
                                          </p:val>
                                        </p:tav>
                                      </p:tavLst>
                                    </p:anim>
                                    <p:anim calcmode="lin" valueType="num">
                                      <p:cBhvr additive="base">
                                        <p:cTn id="2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ppt_x"/>
                                          </p:val>
                                        </p:tav>
                                        <p:tav tm="100000">
                                          <p:val>
                                            <p:strVal val="#ppt_x"/>
                                          </p:val>
                                        </p:tav>
                                      </p:tavLst>
                                    </p:anim>
                                    <p:anim calcmode="lin" valueType="num">
                                      <p:cBhvr additive="base">
                                        <p:cTn id="2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500" fill="hold"/>
                                        <p:tgtEl>
                                          <p:spTgt spid="27"/>
                                        </p:tgtEl>
                                        <p:attrNameLst>
                                          <p:attrName>ppt_x</p:attrName>
                                        </p:attrNameLst>
                                      </p:cBhvr>
                                      <p:tavLst>
                                        <p:tav tm="0">
                                          <p:val>
                                            <p:strVal val="#ppt_x"/>
                                          </p:val>
                                        </p:tav>
                                        <p:tav tm="100000">
                                          <p:val>
                                            <p:strVal val="#ppt_x"/>
                                          </p:val>
                                        </p:tav>
                                      </p:tavLst>
                                    </p:anim>
                                    <p:anim calcmode="lin" valueType="num">
                                      <p:cBhvr additive="base">
                                        <p:cTn id="3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cBhvr additive="base">
                                        <p:cTn id="40" dur="500" fill="hold"/>
                                        <p:tgtEl>
                                          <p:spTgt spid="28"/>
                                        </p:tgtEl>
                                        <p:attrNameLst>
                                          <p:attrName>ppt_x</p:attrName>
                                        </p:attrNameLst>
                                      </p:cBhvr>
                                      <p:tavLst>
                                        <p:tav tm="0">
                                          <p:val>
                                            <p:strVal val="#ppt_x"/>
                                          </p:val>
                                        </p:tav>
                                        <p:tav tm="100000">
                                          <p:val>
                                            <p:strVal val="#ppt_x"/>
                                          </p:val>
                                        </p:tav>
                                      </p:tavLst>
                                    </p:anim>
                                    <p:anim calcmode="lin" valueType="num">
                                      <p:cBhvr additive="base">
                                        <p:cTn id="41" dur="500" fill="hold"/>
                                        <p:tgtEl>
                                          <p:spTgt spid="28"/>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634887"/>
                                        </p:tgtEl>
                                        <p:attrNameLst>
                                          <p:attrName>style.visibility</p:attrName>
                                        </p:attrNameLst>
                                      </p:cBhvr>
                                      <p:to>
                                        <p:strVal val="visible"/>
                                      </p:to>
                                    </p:set>
                                    <p:anim calcmode="lin" valueType="num">
                                      <p:cBhvr additive="base">
                                        <p:cTn id="45" dur="500" fill="hold"/>
                                        <p:tgtEl>
                                          <p:spTgt spid="634887"/>
                                        </p:tgtEl>
                                        <p:attrNameLst>
                                          <p:attrName>ppt_x</p:attrName>
                                        </p:attrNameLst>
                                      </p:cBhvr>
                                      <p:tavLst>
                                        <p:tav tm="0">
                                          <p:val>
                                            <p:strVal val="#ppt_x"/>
                                          </p:val>
                                        </p:tav>
                                        <p:tav tm="100000">
                                          <p:val>
                                            <p:strVal val="#ppt_x"/>
                                          </p:val>
                                        </p:tav>
                                      </p:tavLst>
                                    </p:anim>
                                    <p:anim calcmode="lin" valueType="num">
                                      <p:cBhvr additive="base">
                                        <p:cTn id="46" dur="500" fill="hold"/>
                                        <p:tgtEl>
                                          <p:spTgt spid="63488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cBhvr additive="base">
                                        <p:cTn id="57" dur="500" fill="hold"/>
                                        <p:tgtEl>
                                          <p:spTgt spid="38"/>
                                        </p:tgtEl>
                                        <p:attrNameLst>
                                          <p:attrName>ppt_x</p:attrName>
                                        </p:attrNameLst>
                                      </p:cBhvr>
                                      <p:tavLst>
                                        <p:tav tm="0">
                                          <p:val>
                                            <p:strVal val="#ppt_x"/>
                                          </p:val>
                                        </p:tav>
                                        <p:tav tm="100000">
                                          <p:val>
                                            <p:strVal val="#ppt_x"/>
                                          </p:val>
                                        </p:tav>
                                      </p:tavLst>
                                    </p:anim>
                                    <p:anim calcmode="lin" valueType="num">
                                      <p:cBhvr additive="base">
                                        <p:cTn id="5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additive="base">
                                        <p:cTn id="63" dur="500" fill="hold"/>
                                        <p:tgtEl>
                                          <p:spTgt spid="40"/>
                                        </p:tgtEl>
                                        <p:attrNameLst>
                                          <p:attrName>ppt_x</p:attrName>
                                        </p:attrNameLst>
                                      </p:cBhvr>
                                      <p:tavLst>
                                        <p:tav tm="0">
                                          <p:val>
                                            <p:strVal val="#ppt_x"/>
                                          </p:val>
                                        </p:tav>
                                        <p:tav tm="100000">
                                          <p:val>
                                            <p:strVal val="#ppt_x"/>
                                          </p:val>
                                        </p:tav>
                                      </p:tavLst>
                                    </p:anim>
                                    <p:anim calcmode="lin" valueType="num">
                                      <p:cBhvr additive="base">
                                        <p:cTn id="6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19" grpId="0"/>
      <p:bldP spid="25" grpId="0"/>
      <p:bldP spid="26" grpId="0"/>
      <p:bldP spid="27" grpId="0"/>
      <p:bldP spid="28" grpId="0"/>
      <p:bldP spid="31" grpId="0"/>
      <p:bldP spid="38" grpId="0" animBg="1"/>
      <p:bldP spid="4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aphicFrame>
        <p:nvGraphicFramePr>
          <p:cNvPr id="15" name="Object 5"/>
          <p:cNvGraphicFramePr>
            <a:graphicFrameLocks noGrp="1" noChangeAspect="1"/>
          </p:cNvGraphicFramePr>
          <p:nvPr/>
        </p:nvGraphicFramePr>
        <p:xfrm>
          <a:off x="1258888" y="1928802"/>
          <a:ext cx="6480175" cy="1511300"/>
        </p:xfrm>
        <a:graphic>
          <a:graphicData uri="http://schemas.openxmlformats.org/presentationml/2006/ole">
            <mc:AlternateContent xmlns:mc="http://schemas.openxmlformats.org/markup-compatibility/2006">
              <mc:Choice xmlns:v="urn:schemas-microsoft-com:vml" Requires="v">
                <p:oleObj spid="_x0000_s652292" name="AutoCAD Drawing" r:id="rId4" imgW="8791560" imgH="4581360" progId="">
                  <p:embed/>
                </p:oleObj>
              </mc:Choice>
              <mc:Fallback>
                <p:oleObj name="AutoCAD Drawing" r:id="rId4" imgW="8791560" imgH="4581360" progId="">
                  <p:embed/>
                  <p:pic>
                    <p:nvPicPr>
                      <p:cNvPr id="0" name="Object 5"/>
                      <p:cNvPicPr>
                        <a:picLocks noGrp="1" noChangeAspect="1" noChangeArrowheads="1"/>
                      </p:cNvPicPr>
                      <p:nvPr/>
                    </p:nvPicPr>
                    <p:blipFill>
                      <a:blip r:embed="rId5">
                        <a:extLst>
                          <a:ext uri="{28A0092B-C50C-407E-A947-70E740481C1C}">
                            <a14:useLocalDpi xmlns:a14="http://schemas.microsoft.com/office/drawing/2010/main" val="0"/>
                          </a:ext>
                        </a:extLst>
                      </a:blip>
                      <a:srcRect t="43452" r="-2010" b="7877"/>
                      <a:stretch>
                        <a:fillRect/>
                      </a:stretch>
                    </p:blipFill>
                    <p:spPr bwMode="auto">
                      <a:xfrm>
                        <a:off x="1258888" y="1928802"/>
                        <a:ext cx="6480175"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6"/>
          <p:cNvGraphicFramePr>
            <a:graphicFrameLocks noGrp="1" noChangeAspect="1"/>
          </p:cNvGraphicFramePr>
          <p:nvPr/>
        </p:nvGraphicFramePr>
        <p:xfrm>
          <a:off x="1535113" y="3857628"/>
          <a:ext cx="6696075" cy="1439863"/>
        </p:xfrm>
        <a:graphic>
          <a:graphicData uri="http://schemas.openxmlformats.org/presentationml/2006/ole">
            <mc:AlternateContent xmlns:mc="http://schemas.openxmlformats.org/markup-compatibility/2006">
              <mc:Choice xmlns:v="urn:schemas-microsoft-com:vml" Requires="v">
                <p:oleObj spid="_x0000_s652293" name="AutoCAD Drawing" r:id="rId6" imgW="8791560" imgH="4581360" progId="">
                  <p:embed/>
                </p:oleObj>
              </mc:Choice>
              <mc:Fallback>
                <p:oleObj name="AutoCAD Drawing" r:id="rId6" imgW="8791560" imgH="4581360" progId="">
                  <p:embed/>
                  <p:pic>
                    <p:nvPicPr>
                      <p:cNvPr id="0" name="Object 6"/>
                      <p:cNvPicPr>
                        <a:picLocks noGrp="1" noChangeAspect="1" noChangeArrowheads="1"/>
                      </p:cNvPicPr>
                      <p:nvPr/>
                    </p:nvPicPr>
                    <p:blipFill>
                      <a:blip r:embed="rId7">
                        <a:extLst>
                          <a:ext uri="{28A0092B-C50C-407E-A947-70E740481C1C}">
                            <a14:useLocalDpi xmlns:a14="http://schemas.microsoft.com/office/drawing/2010/main" val="0"/>
                          </a:ext>
                        </a:extLst>
                      </a:blip>
                      <a:srcRect l="2780" t="45255" r="-1160" b="12836"/>
                      <a:stretch>
                        <a:fillRect/>
                      </a:stretch>
                    </p:blipFill>
                    <p:spPr bwMode="auto">
                      <a:xfrm>
                        <a:off x="1535113" y="3857628"/>
                        <a:ext cx="6696075"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p:cNvSpPr/>
          <p:nvPr/>
        </p:nvSpPr>
        <p:spPr>
          <a:xfrm>
            <a:off x="4000496" y="3286124"/>
            <a:ext cx="1040670" cy="400110"/>
          </a:xfrm>
          <a:prstGeom prst="rect">
            <a:avLst/>
          </a:prstGeom>
        </p:spPr>
        <p:txBody>
          <a:bodyPr wrap="none">
            <a:spAutoFit/>
          </a:bodyPr>
          <a:lstStyle/>
          <a:p>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12</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21</a:t>
            </a:r>
            <a:endParaRPr lang="zh-CN" altLang="en-US"/>
          </a:p>
        </p:txBody>
      </p:sp>
      <p:sp>
        <p:nvSpPr>
          <p:cNvPr id="19" name="矩形 18"/>
          <p:cNvSpPr/>
          <p:nvPr/>
        </p:nvSpPr>
        <p:spPr>
          <a:xfrm>
            <a:off x="4152896" y="5314906"/>
            <a:ext cx="1040670" cy="400110"/>
          </a:xfrm>
          <a:prstGeom prst="rect">
            <a:avLst/>
          </a:prstGeom>
        </p:spPr>
        <p:txBody>
          <a:bodyPr wrap="none">
            <a:spAutoFit/>
          </a:bodyPr>
          <a:lstStyle/>
          <a:p>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12</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21</a:t>
            </a:r>
            <a:endParaRPr lang="zh-CN" altLang="en-US"/>
          </a:p>
        </p:txBody>
      </p:sp>
      <p:sp>
        <p:nvSpPr>
          <p:cNvPr id="20" name="TextBox 19"/>
          <p:cNvSpPr txBox="1"/>
          <p:nvPr/>
        </p:nvSpPr>
        <p:spPr>
          <a:xfrm>
            <a:off x="1571604" y="5786454"/>
            <a:ext cx="3937296" cy="400110"/>
          </a:xfrm>
          <a:prstGeom prst="rect">
            <a:avLst/>
          </a:prstGeom>
          <a:noFill/>
          <a:ln w="28575">
            <a:noFill/>
          </a:ln>
        </p:spPr>
        <p:txBody>
          <a:bodyPr wrap="none" rtlCol="0">
            <a:spAutoFit/>
          </a:bodyPr>
          <a:lstStyle/>
          <a:p>
            <a:r>
              <a:rPr lang="zh-CN" altLang="en-US" sz="2000" b="1">
                <a:solidFill>
                  <a:srgbClr val="0033CC"/>
                </a:solidFill>
              </a:rPr>
              <a:t>线位移</a:t>
            </a:r>
            <a:r>
              <a:rPr lang="el-GR" altLang="zh-CN" sz="2000" b="1" i="1">
                <a:solidFill>
                  <a:srgbClr val="0033CC"/>
                </a:solidFill>
                <a:latin typeface="Times New Roman" pitchFamily="18" charset="0"/>
                <a:cs typeface="Times New Roman" pitchFamily="18" charset="0"/>
              </a:rPr>
              <a:t>δ</a:t>
            </a:r>
            <a:r>
              <a:rPr lang="en-US" altLang="zh-CN" sz="2000" b="1" baseline="-25000">
                <a:solidFill>
                  <a:srgbClr val="0033CC"/>
                </a:solidFill>
                <a:latin typeface="Times New Roman" pitchFamily="18" charset="0"/>
                <a:cs typeface="Times New Roman" pitchFamily="18" charset="0"/>
              </a:rPr>
              <a:t>12</a:t>
            </a:r>
            <a:r>
              <a:rPr lang="zh-CN" altLang="en-US" sz="2000" b="1">
                <a:solidFill>
                  <a:srgbClr val="0033CC"/>
                </a:solidFill>
              </a:rPr>
              <a:t>在数值上等于角位移 </a:t>
            </a:r>
            <a:r>
              <a:rPr lang="en-US" altLang="zh-CN" sz="2000" b="1" i="1">
                <a:solidFill>
                  <a:srgbClr val="0033CC"/>
                </a:solidFill>
                <a:latin typeface="Times New Roman" pitchFamily="18" charset="0"/>
                <a:cs typeface="Times New Roman" pitchFamily="18" charset="0"/>
              </a:rPr>
              <a:t>θ</a:t>
            </a:r>
            <a:r>
              <a:rPr lang="en-US" altLang="zh-CN" sz="2000" b="1" baseline="-25000">
                <a:solidFill>
                  <a:srgbClr val="0033CC"/>
                </a:solidFill>
                <a:latin typeface="Times New Roman" pitchFamily="18" charset="0"/>
                <a:cs typeface="Times New Roman" pitchFamily="18" charset="0"/>
              </a:rPr>
              <a:t>21</a:t>
            </a:r>
            <a:endParaRPr lang="zh-CN" altLang="en-US" sz="2000" b="1">
              <a:solidFill>
                <a:srgbClr val="0033CC"/>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0"/>
                                        <p:tgtEl>
                                          <p:spTgt spid="15"/>
                                        </p:tgtEl>
                                      </p:cBhvr>
                                    </p:animEffect>
                                  </p:childTnLst>
                                </p:cTn>
                              </p:par>
                            </p:childTnLst>
                          </p:cTn>
                        </p:par>
                        <p:par>
                          <p:cTn id="8" fill="hold">
                            <p:stCondLst>
                              <p:cond delay="2000"/>
                            </p:stCondLst>
                            <p:childTnLst>
                              <p:par>
                                <p:cTn id="9" presetID="2" presetClass="entr" presetSubtype="4"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500" fill="hold"/>
                                        <p:tgtEl>
                                          <p:spTgt spid="20"/>
                                        </p:tgtEl>
                                        <p:attrNameLst>
                                          <p:attrName>ppt_x</p:attrName>
                                        </p:attrNameLst>
                                      </p:cBhvr>
                                      <p:tavLst>
                                        <p:tav tm="0">
                                          <p:val>
                                            <p:strVal val="#ppt_x"/>
                                          </p:val>
                                        </p:tav>
                                        <p:tav tm="100000">
                                          <p:val>
                                            <p:strVal val="#ppt_x"/>
                                          </p:val>
                                        </p:tav>
                                      </p:tavLst>
                                    </p:anim>
                                    <p:anim calcmode="lin" valueType="num">
                                      <p:cBhvr additive="base">
                                        <p:cTn id="2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17" name="Rectangle 6"/>
          <p:cNvSpPr>
            <a:spLocks noChangeArrowheads="1"/>
          </p:cNvSpPr>
          <p:nvPr/>
        </p:nvSpPr>
        <p:spPr bwMode="auto">
          <a:xfrm>
            <a:off x="469540" y="1830896"/>
            <a:ext cx="488827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（位移影响线问题）：图示简支梁长</a:t>
            </a:r>
            <a:r>
              <a:rPr lang="en-US" altLang="zh-CN" sz="2000" b="1" i="1">
                <a:latin typeface="Times New Roman" pitchFamily="18" charset="0"/>
                <a:cs typeface="Times New Roman" pitchFamily="18" charset="0"/>
              </a:rPr>
              <a:t>l</a:t>
            </a:r>
            <a:r>
              <a:rPr lang="zh-CN" altLang="en-US" sz="2000" b="1">
                <a:latin typeface="Times New Roman" pitchFamily="18" charset="0"/>
                <a:cs typeface="Times New Roman" pitchFamily="18" charset="0"/>
              </a:rPr>
              <a:t>，其抗弯刚度为</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。当单位荷载的作用位置从</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移动到</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l</a:t>
            </a:r>
            <a:r>
              <a:rPr lang="zh-CN" altLang="en-US" sz="2000" b="1">
                <a:latin typeface="Times New Roman" pitchFamily="18" charset="0"/>
                <a:cs typeface="Times New Roman" pitchFamily="18" charset="0"/>
              </a:rPr>
              <a:t>时，求梁中部的竖向位移为</a:t>
            </a:r>
            <a:r>
              <a:rPr lang="el-GR" altLang="zh-CN" sz="2000" b="1" i="1">
                <a:latin typeface="Times New Roman" pitchFamily="18" charset="0"/>
                <a:cs typeface="Times New Roman" pitchFamily="18" charset="0"/>
              </a:rPr>
              <a:t>Δ</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 。</a:t>
            </a:r>
          </a:p>
        </p:txBody>
      </p:sp>
      <p:grpSp>
        <p:nvGrpSpPr>
          <p:cNvPr id="44" name="组合 43"/>
          <p:cNvGrpSpPr/>
          <p:nvPr/>
        </p:nvGrpSpPr>
        <p:grpSpPr>
          <a:xfrm>
            <a:off x="5715008" y="1214422"/>
            <a:ext cx="2857520" cy="1556766"/>
            <a:chOff x="5715008" y="1357298"/>
            <a:chExt cx="2857520" cy="1556766"/>
          </a:xfrm>
        </p:grpSpPr>
        <p:grpSp>
          <p:nvGrpSpPr>
            <p:cNvPr id="42" name="组合 41"/>
            <p:cNvGrpSpPr/>
            <p:nvPr/>
          </p:nvGrpSpPr>
          <p:grpSpPr>
            <a:xfrm>
              <a:off x="5715008" y="1585260"/>
              <a:ext cx="2857520" cy="1328804"/>
              <a:chOff x="5715008" y="1585260"/>
              <a:chExt cx="2857520" cy="1328804"/>
            </a:xfrm>
          </p:grpSpPr>
          <p:pic>
            <p:nvPicPr>
              <p:cNvPr id="651267" name="Picture 3"/>
              <p:cNvPicPr>
                <a:picLocks noChangeAspect="1" noChangeArrowheads="1"/>
              </p:cNvPicPr>
              <p:nvPr/>
            </p:nvPicPr>
            <p:blipFill>
              <a:blip r:embed="rId4"/>
              <a:srcRect/>
              <a:stretch>
                <a:fillRect/>
              </a:stretch>
            </p:blipFill>
            <p:spPr bwMode="auto">
              <a:xfrm>
                <a:off x="5715008" y="1585260"/>
                <a:ext cx="2857520" cy="928694"/>
              </a:xfrm>
              <a:prstGeom prst="rect">
                <a:avLst/>
              </a:prstGeom>
              <a:noFill/>
              <a:ln w="9525">
                <a:noFill/>
                <a:miter lim="800000"/>
                <a:headEnd/>
                <a:tailEnd/>
              </a:ln>
              <a:effectLst/>
            </p:spPr>
          </p:pic>
          <p:grpSp>
            <p:nvGrpSpPr>
              <p:cNvPr id="30" name="组合 29"/>
              <p:cNvGrpSpPr/>
              <p:nvPr/>
            </p:nvGrpSpPr>
            <p:grpSpPr>
              <a:xfrm>
                <a:off x="5971876" y="2313288"/>
                <a:ext cx="2391236" cy="504000"/>
                <a:chOff x="5971876" y="2112622"/>
                <a:chExt cx="2391236" cy="504000"/>
              </a:xfrm>
            </p:grpSpPr>
            <p:cxnSp>
              <p:nvCxnSpPr>
                <p:cNvPr id="22" name="直接连接符 21"/>
                <p:cNvCxnSpPr/>
                <p:nvPr/>
              </p:nvCxnSpPr>
              <p:spPr bwMode="auto">
                <a:xfrm rot="5400000">
                  <a:off x="5720670" y="2363828"/>
                  <a:ext cx="504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3" name="直接连接符 22"/>
                <p:cNvCxnSpPr/>
                <p:nvPr/>
              </p:nvCxnSpPr>
              <p:spPr bwMode="auto">
                <a:xfrm rot="5400000">
                  <a:off x="8105420" y="2363828"/>
                  <a:ext cx="504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9" name="直接箭头连接符 28"/>
                <p:cNvCxnSpPr/>
                <p:nvPr/>
              </p:nvCxnSpPr>
              <p:spPr bwMode="auto">
                <a:xfrm>
                  <a:off x="5987112" y="2500306"/>
                  <a:ext cx="2376000"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grpSp>
          <p:sp>
            <p:nvSpPr>
              <p:cNvPr id="34" name="TextBox 33"/>
              <p:cNvSpPr txBox="1"/>
              <p:nvPr/>
            </p:nvSpPr>
            <p:spPr>
              <a:xfrm>
                <a:off x="7000892" y="2513954"/>
                <a:ext cx="255198" cy="400110"/>
              </a:xfrm>
              <a:prstGeom prst="rect">
                <a:avLst/>
              </a:prstGeom>
              <a:solidFill>
                <a:schemeClr val="bg1"/>
              </a:solidFill>
              <a:ln w="28575">
                <a:noFill/>
              </a:ln>
            </p:spPr>
            <p:txBody>
              <a:bodyPr wrap="none" rtlCol="0">
                <a:spAutoFit/>
              </a:bodyPr>
              <a:lstStyle/>
              <a:p>
                <a:r>
                  <a:rPr lang="en-US" altLang="zh-CN" sz="2000" b="1" i="1">
                    <a:latin typeface="Times New Roman" pitchFamily="18" charset="0"/>
                    <a:cs typeface="Times New Roman" pitchFamily="18" charset="0"/>
                  </a:rPr>
                  <a:t>l</a:t>
                </a:r>
                <a:endParaRPr lang="zh-CN" altLang="en-US" sz="2000" b="1" i="1">
                  <a:latin typeface="Times New Roman" pitchFamily="18" charset="0"/>
                  <a:cs typeface="Times New Roman" pitchFamily="18" charset="0"/>
                </a:endParaRPr>
              </a:p>
            </p:txBody>
          </p:sp>
          <p:cxnSp>
            <p:nvCxnSpPr>
              <p:cNvPr id="36" name="直接连接符 35"/>
              <p:cNvCxnSpPr/>
              <p:nvPr/>
            </p:nvCxnSpPr>
            <p:spPr bwMode="auto">
              <a:xfrm rot="5400000">
                <a:off x="6465107" y="2420445"/>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9" name="直接箭头连接符 38"/>
              <p:cNvCxnSpPr/>
              <p:nvPr/>
            </p:nvCxnSpPr>
            <p:spPr bwMode="auto">
              <a:xfrm>
                <a:off x="6000760" y="2428868"/>
                <a:ext cx="571504"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41" name="TextBox 40"/>
              <p:cNvSpPr txBox="1"/>
              <p:nvPr/>
            </p:nvSpPr>
            <p:spPr>
              <a:xfrm>
                <a:off x="6184580" y="2217752"/>
                <a:ext cx="200943" cy="380480"/>
              </a:xfrm>
              <a:prstGeom prst="rect">
                <a:avLst/>
              </a:prstGeom>
              <a:solidFill>
                <a:schemeClr val="bg1"/>
              </a:solidFill>
              <a:ln w="28575">
                <a:noFill/>
              </a:ln>
            </p:spPr>
            <p:txBody>
              <a:bodyPr wrap="none" lIns="36000" tIns="36000" rIns="36000" bIns="3600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sp>
          <p:nvSpPr>
            <p:cNvPr id="43" name="TextBox 42"/>
            <p:cNvSpPr txBox="1"/>
            <p:nvPr/>
          </p:nvSpPr>
          <p:spPr>
            <a:xfrm>
              <a:off x="6286512" y="1357298"/>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grpSp>
      <p:grpSp>
        <p:nvGrpSpPr>
          <p:cNvPr id="49" name="组合 48"/>
          <p:cNvGrpSpPr/>
          <p:nvPr/>
        </p:nvGrpSpPr>
        <p:grpSpPr>
          <a:xfrm>
            <a:off x="5991367" y="1527470"/>
            <a:ext cx="2361063" cy="652048"/>
            <a:chOff x="5991367" y="1643050"/>
            <a:chExt cx="2361063" cy="652048"/>
          </a:xfrm>
        </p:grpSpPr>
        <p:cxnSp>
          <p:nvCxnSpPr>
            <p:cNvPr id="46" name="直接连接符 45"/>
            <p:cNvCxnSpPr/>
            <p:nvPr/>
          </p:nvCxnSpPr>
          <p:spPr bwMode="auto">
            <a:xfrm rot="5400000">
              <a:off x="7066311" y="2178835"/>
              <a:ext cx="214314" cy="1588"/>
            </a:xfrm>
            <a:prstGeom prst="line">
              <a:avLst/>
            </a:prstGeom>
            <a:solidFill>
              <a:schemeClr val="accent1"/>
            </a:solidFill>
            <a:ln w="28575" cap="flat" cmpd="sng" algn="ctr">
              <a:solidFill>
                <a:srgbClr val="0033CC"/>
              </a:solidFill>
              <a:prstDash val="solid"/>
              <a:round/>
              <a:headEnd type="none" w="med" len="med"/>
              <a:tailEnd type="arrow" w="med" len="med"/>
            </a:ln>
            <a:effectLst/>
          </p:spPr>
        </p:cxnSp>
        <p:sp>
          <p:nvSpPr>
            <p:cNvPr id="47" name="任意多边形 46"/>
            <p:cNvSpPr/>
            <p:nvPr/>
          </p:nvSpPr>
          <p:spPr bwMode="auto">
            <a:xfrm>
              <a:off x="5991367" y="2074460"/>
              <a:ext cx="2361063" cy="220638"/>
            </a:xfrm>
            <a:custGeom>
              <a:avLst/>
              <a:gdLst>
                <a:gd name="connsiteX0" fmla="*/ 0 w 2361063"/>
                <a:gd name="connsiteY0" fmla="*/ 0 h 220638"/>
                <a:gd name="connsiteX1" fmla="*/ 1173708 w 2361063"/>
                <a:gd name="connsiteY1" fmla="*/ 218364 h 220638"/>
                <a:gd name="connsiteX2" fmla="*/ 2361063 w 2361063"/>
                <a:gd name="connsiteY2" fmla="*/ 13647 h 220638"/>
              </a:gdLst>
              <a:ahLst/>
              <a:cxnLst>
                <a:cxn ang="0">
                  <a:pos x="connsiteX0" y="connsiteY0"/>
                </a:cxn>
                <a:cxn ang="0">
                  <a:pos x="connsiteX1" y="connsiteY1"/>
                </a:cxn>
                <a:cxn ang="0">
                  <a:pos x="connsiteX2" y="connsiteY2"/>
                </a:cxn>
              </a:cxnLst>
              <a:rect l="l" t="t" r="r" b="b"/>
              <a:pathLst>
                <a:path w="2361063" h="220638">
                  <a:moveTo>
                    <a:pt x="0" y="0"/>
                  </a:moveTo>
                  <a:cubicBezTo>
                    <a:pt x="390099" y="108045"/>
                    <a:pt x="780198" y="216090"/>
                    <a:pt x="1173708" y="218364"/>
                  </a:cubicBezTo>
                  <a:cubicBezTo>
                    <a:pt x="1567218" y="220638"/>
                    <a:pt x="1964140" y="117142"/>
                    <a:pt x="2361063" y="13647"/>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48" name="矩形 47"/>
            <p:cNvSpPr/>
            <p:nvPr/>
          </p:nvSpPr>
          <p:spPr>
            <a:xfrm>
              <a:off x="7143768" y="1643050"/>
              <a:ext cx="643125" cy="400110"/>
            </a:xfrm>
            <a:prstGeom prst="rect">
              <a:avLst/>
            </a:prstGeom>
          </p:spPr>
          <p:txBody>
            <a:bodyPr wrap="none">
              <a:spAutoFit/>
            </a:bodyPr>
            <a:lstStyle/>
            <a:p>
              <a:r>
                <a:rPr lang="el-GR" altLang="zh-CN" sz="2000" b="1" i="1">
                  <a:solidFill>
                    <a:srgbClr val="0033CC"/>
                  </a:solidFill>
                  <a:latin typeface="Times New Roman" pitchFamily="18" charset="0"/>
                  <a:cs typeface="Times New Roman" pitchFamily="18" charset="0"/>
                </a:rPr>
                <a:t>Δ</a:t>
              </a:r>
              <a:r>
                <a:rPr lang="en-US" altLang="zh-CN" sz="2000" b="1">
                  <a:solidFill>
                    <a:srgbClr val="0033CC"/>
                  </a:solidFill>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x</a:t>
              </a:r>
              <a:r>
                <a:rPr lang="en-US" altLang="zh-CN" sz="2000" b="1">
                  <a:solidFill>
                    <a:srgbClr val="0033CC"/>
                  </a:solidFill>
                  <a:latin typeface="Times New Roman" pitchFamily="18" charset="0"/>
                  <a:cs typeface="Times New Roman" pitchFamily="18" charset="0"/>
                </a:rPr>
                <a:t>)</a:t>
              </a:r>
              <a:endParaRPr lang="zh-CN" altLang="en-US" sz="2000">
                <a:solidFill>
                  <a:srgbClr val="0033CC"/>
                </a:solidFill>
              </a:endParaRPr>
            </a:p>
          </p:txBody>
        </p:sp>
      </p:grpSp>
      <p:sp>
        <p:nvSpPr>
          <p:cNvPr id="61" name="TextBox 60"/>
          <p:cNvSpPr txBox="1"/>
          <p:nvPr/>
        </p:nvSpPr>
        <p:spPr>
          <a:xfrm>
            <a:off x="928662" y="3386080"/>
            <a:ext cx="4429156" cy="830997"/>
          </a:xfrm>
          <a:prstGeom prst="rect">
            <a:avLst/>
          </a:prstGeom>
          <a:noFill/>
          <a:ln w="28575">
            <a:noFill/>
          </a:ln>
        </p:spPr>
        <p:txBody>
          <a:bodyPr wrap="square" rtlCol="0">
            <a:spAutoFit/>
          </a:bodyPr>
          <a:lstStyle/>
          <a:p>
            <a:pPr>
              <a:lnSpc>
                <a:spcPct val="120000"/>
              </a:lnSpc>
            </a:pPr>
            <a:r>
              <a:rPr lang="zh-CN" altLang="en-US" sz="2000" b="1"/>
              <a:t>解：⑴ 在梁中部施加单位荷载，该荷</a:t>
            </a:r>
            <a:endParaRPr lang="en-US" altLang="zh-CN" sz="2000" b="1"/>
          </a:p>
          <a:p>
            <a:pPr>
              <a:lnSpc>
                <a:spcPct val="120000"/>
              </a:lnSpc>
            </a:pPr>
            <a:r>
              <a:rPr lang="zh-CN" altLang="en-US" sz="2000" b="1"/>
              <a:t>             载在</a:t>
            </a:r>
            <a:r>
              <a:rPr lang="en-US" altLang="zh-CN" sz="2000" b="1" i="1">
                <a:latin typeface="Times New Roman" pitchFamily="18" charset="0"/>
                <a:cs typeface="Times New Roman" pitchFamily="18" charset="0"/>
              </a:rPr>
              <a:t>x</a:t>
            </a:r>
            <a:r>
              <a:rPr lang="zh-CN" altLang="en-US" sz="2000" b="1"/>
              <a:t>位置处产生挠度</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12</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a:t>
            </a:r>
            <a:endParaRPr lang="zh-CN" altLang="en-US" sz="2000" b="1"/>
          </a:p>
        </p:txBody>
      </p:sp>
      <p:sp>
        <p:nvSpPr>
          <p:cNvPr id="62" name="TextBox 61"/>
          <p:cNvSpPr txBox="1"/>
          <p:nvPr/>
        </p:nvSpPr>
        <p:spPr>
          <a:xfrm>
            <a:off x="928662" y="4169639"/>
            <a:ext cx="4429156" cy="830997"/>
          </a:xfrm>
          <a:prstGeom prst="rect">
            <a:avLst/>
          </a:prstGeom>
          <a:noFill/>
          <a:ln w="28575">
            <a:noFill/>
          </a:ln>
        </p:spPr>
        <p:txBody>
          <a:bodyPr wrap="square" rtlCol="0">
            <a:spAutoFit/>
          </a:bodyPr>
          <a:lstStyle/>
          <a:p>
            <a:pPr>
              <a:lnSpc>
                <a:spcPct val="120000"/>
              </a:lnSpc>
            </a:pPr>
            <a:r>
              <a:rPr lang="zh-CN" altLang="en-US" sz="2000" b="1"/>
              <a:t>             由位移互等定理知     </a:t>
            </a:r>
            <a:endParaRPr lang="en-US" altLang="zh-CN" sz="2000" b="1"/>
          </a:p>
          <a:p>
            <a:pPr>
              <a:lnSpc>
                <a:spcPct val="12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12</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a:t>
            </a:r>
            <a:endParaRPr lang="en-US" altLang="zh-CN" sz="2000" b="1">
              <a:latin typeface="Times New Roman" pitchFamily="18" charset="0"/>
              <a:cs typeface="Times New Roman" pitchFamily="18" charset="0"/>
            </a:endParaRPr>
          </a:p>
        </p:txBody>
      </p:sp>
      <p:grpSp>
        <p:nvGrpSpPr>
          <p:cNvPr id="64" name="组合 63"/>
          <p:cNvGrpSpPr/>
          <p:nvPr/>
        </p:nvGrpSpPr>
        <p:grpSpPr>
          <a:xfrm>
            <a:off x="5786446" y="2743138"/>
            <a:ext cx="2948865" cy="1181186"/>
            <a:chOff x="5786446" y="3105070"/>
            <a:chExt cx="2948865" cy="1181186"/>
          </a:xfrm>
        </p:grpSpPr>
        <p:grpSp>
          <p:nvGrpSpPr>
            <p:cNvPr id="60" name="组合 59"/>
            <p:cNvGrpSpPr/>
            <p:nvPr/>
          </p:nvGrpSpPr>
          <p:grpSpPr>
            <a:xfrm>
              <a:off x="5786446" y="3105070"/>
              <a:ext cx="2844000" cy="1181186"/>
              <a:chOff x="5786446" y="3671832"/>
              <a:chExt cx="2844000" cy="1181186"/>
            </a:xfrm>
          </p:grpSpPr>
          <p:grpSp>
            <p:nvGrpSpPr>
              <p:cNvPr id="55" name="组合 54"/>
              <p:cNvGrpSpPr/>
              <p:nvPr/>
            </p:nvGrpSpPr>
            <p:grpSpPr>
              <a:xfrm>
                <a:off x="5786446" y="3671832"/>
                <a:ext cx="2844000" cy="1181186"/>
                <a:chOff x="5786446" y="3671832"/>
                <a:chExt cx="2844000" cy="1181186"/>
              </a:xfrm>
            </p:grpSpPr>
            <p:pic>
              <p:nvPicPr>
                <p:cNvPr id="651268" name="Picture 4"/>
                <p:cNvPicPr>
                  <a:picLocks noChangeAspect="1" noChangeArrowheads="1"/>
                </p:cNvPicPr>
                <p:nvPr/>
              </p:nvPicPr>
              <p:blipFill>
                <a:blip r:embed="rId5"/>
                <a:srcRect/>
                <a:stretch>
                  <a:fillRect/>
                </a:stretch>
              </p:blipFill>
              <p:spPr bwMode="auto">
                <a:xfrm>
                  <a:off x="5786446" y="3786190"/>
                  <a:ext cx="2844000" cy="991817"/>
                </a:xfrm>
                <a:prstGeom prst="rect">
                  <a:avLst/>
                </a:prstGeom>
                <a:noFill/>
                <a:ln w="9525">
                  <a:noFill/>
                  <a:miter lim="800000"/>
                  <a:headEnd/>
                  <a:tailEnd/>
                </a:ln>
                <a:effectLst/>
              </p:spPr>
            </p:pic>
            <p:sp>
              <p:nvSpPr>
                <p:cNvPr id="50" name="TextBox 49"/>
                <p:cNvSpPr txBox="1"/>
                <p:nvPr/>
              </p:nvSpPr>
              <p:spPr>
                <a:xfrm>
                  <a:off x="7188052" y="3671832"/>
                  <a:ext cx="312906"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1</a:t>
                  </a:r>
                  <a:endParaRPr lang="zh-CN" altLang="en-US" sz="2000" b="1">
                    <a:solidFill>
                      <a:srgbClr val="C00000"/>
                    </a:solidFill>
                    <a:latin typeface="Times New Roman" pitchFamily="18" charset="0"/>
                    <a:cs typeface="Times New Roman" pitchFamily="18" charset="0"/>
                  </a:endParaRPr>
                </a:p>
              </p:txBody>
            </p:sp>
            <p:cxnSp>
              <p:nvCxnSpPr>
                <p:cNvPr id="51" name="直接连接符 50"/>
                <p:cNvCxnSpPr/>
                <p:nvPr/>
              </p:nvCxnSpPr>
              <p:spPr bwMode="auto">
                <a:xfrm rot="5400000">
                  <a:off x="5863876" y="4675280"/>
                  <a:ext cx="216000"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rot="5400000">
                  <a:off x="6464313" y="4675231"/>
                  <a:ext cx="214314" cy="158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直接箭头连接符 52"/>
                <p:cNvCxnSpPr/>
                <p:nvPr/>
              </p:nvCxnSpPr>
              <p:spPr bwMode="auto">
                <a:xfrm>
                  <a:off x="5999966" y="4683654"/>
                  <a:ext cx="571504" cy="1588"/>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54" name="TextBox 53"/>
                <p:cNvSpPr txBox="1"/>
                <p:nvPr/>
              </p:nvSpPr>
              <p:spPr>
                <a:xfrm>
                  <a:off x="6183786" y="4472538"/>
                  <a:ext cx="200943" cy="380480"/>
                </a:xfrm>
                <a:prstGeom prst="rect">
                  <a:avLst/>
                </a:prstGeom>
                <a:solidFill>
                  <a:schemeClr val="bg1"/>
                </a:solidFill>
                <a:ln w="28575">
                  <a:noFill/>
                </a:ln>
              </p:spPr>
              <p:txBody>
                <a:bodyPr wrap="none" lIns="36000" tIns="36000" rIns="36000" bIns="36000" rtlCol="0">
                  <a:spAutoFit/>
                </a:bodyPr>
                <a:lstStyle/>
                <a:p>
                  <a:r>
                    <a:rPr lang="en-US" altLang="zh-CN" sz="2000" b="1" i="1">
                      <a:latin typeface="Times New Roman" pitchFamily="18" charset="0"/>
                      <a:cs typeface="Times New Roman" pitchFamily="18" charset="0"/>
                    </a:rPr>
                    <a:t>x</a:t>
                  </a:r>
                  <a:endParaRPr lang="zh-CN" altLang="en-US" sz="2000" b="1" i="1">
                    <a:latin typeface="Times New Roman" pitchFamily="18" charset="0"/>
                    <a:cs typeface="Times New Roman" pitchFamily="18" charset="0"/>
                  </a:endParaRPr>
                </a:p>
              </p:txBody>
            </p:sp>
          </p:grpSp>
          <p:grpSp>
            <p:nvGrpSpPr>
              <p:cNvPr id="56" name="组合 55"/>
              <p:cNvGrpSpPr/>
              <p:nvPr/>
            </p:nvGrpSpPr>
            <p:grpSpPr>
              <a:xfrm>
                <a:off x="6000760" y="3892664"/>
                <a:ext cx="2361063" cy="652048"/>
                <a:chOff x="5991367" y="1643050"/>
                <a:chExt cx="2361063" cy="652048"/>
              </a:xfrm>
            </p:grpSpPr>
            <p:cxnSp>
              <p:nvCxnSpPr>
                <p:cNvPr id="57" name="直接连接符 56"/>
                <p:cNvCxnSpPr/>
                <p:nvPr/>
              </p:nvCxnSpPr>
              <p:spPr bwMode="auto">
                <a:xfrm rot="5400000">
                  <a:off x="6456508" y="2151539"/>
                  <a:ext cx="214314" cy="1588"/>
                </a:xfrm>
                <a:prstGeom prst="line">
                  <a:avLst/>
                </a:prstGeom>
                <a:solidFill>
                  <a:schemeClr val="accent1"/>
                </a:solidFill>
                <a:ln w="28575" cap="flat" cmpd="sng" algn="ctr">
                  <a:solidFill>
                    <a:srgbClr val="0033CC"/>
                  </a:solidFill>
                  <a:prstDash val="solid"/>
                  <a:round/>
                  <a:headEnd type="none" w="med" len="med"/>
                  <a:tailEnd type="arrow" w="med" len="med"/>
                </a:ln>
                <a:effectLst/>
              </p:spPr>
            </p:cxnSp>
            <p:sp>
              <p:nvSpPr>
                <p:cNvPr id="58" name="任意多边形 57"/>
                <p:cNvSpPr/>
                <p:nvPr/>
              </p:nvSpPr>
              <p:spPr bwMode="auto">
                <a:xfrm>
                  <a:off x="5991367" y="2074460"/>
                  <a:ext cx="2361063" cy="220638"/>
                </a:xfrm>
                <a:custGeom>
                  <a:avLst/>
                  <a:gdLst>
                    <a:gd name="connsiteX0" fmla="*/ 0 w 2361063"/>
                    <a:gd name="connsiteY0" fmla="*/ 0 h 220638"/>
                    <a:gd name="connsiteX1" fmla="*/ 1173708 w 2361063"/>
                    <a:gd name="connsiteY1" fmla="*/ 218364 h 220638"/>
                    <a:gd name="connsiteX2" fmla="*/ 2361063 w 2361063"/>
                    <a:gd name="connsiteY2" fmla="*/ 13647 h 220638"/>
                  </a:gdLst>
                  <a:ahLst/>
                  <a:cxnLst>
                    <a:cxn ang="0">
                      <a:pos x="connsiteX0" y="connsiteY0"/>
                    </a:cxn>
                    <a:cxn ang="0">
                      <a:pos x="connsiteX1" y="connsiteY1"/>
                    </a:cxn>
                    <a:cxn ang="0">
                      <a:pos x="connsiteX2" y="connsiteY2"/>
                    </a:cxn>
                  </a:cxnLst>
                  <a:rect l="l" t="t" r="r" b="b"/>
                  <a:pathLst>
                    <a:path w="2361063" h="220638">
                      <a:moveTo>
                        <a:pt x="0" y="0"/>
                      </a:moveTo>
                      <a:cubicBezTo>
                        <a:pt x="390099" y="108045"/>
                        <a:pt x="780198" y="216090"/>
                        <a:pt x="1173708" y="218364"/>
                      </a:cubicBezTo>
                      <a:cubicBezTo>
                        <a:pt x="1567218" y="220638"/>
                        <a:pt x="1964140" y="117142"/>
                        <a:pt x="2361063" y="13647"/>
                      </a:cubicBezTo>
                    </a:path>
                  </a:pathLst>
                </a:custGeom>
                <a:noFill/>
                <a:ln w="38100" cap="flat" cmpd="sng" algn="ctr">
                  <a:solidFill>
                    <a:srgbClr val="00B050"/>
                  </a:solidFill>
                  <a:prstDash val="solid"/>
                  <a:round/>
                  <a:headEnd type="none" w="med" len="med"/>
                  <a:tailEnd type="none" w="med" len="med"/>
                </a:ln>
                <a:effectLst/>
              </p:spPr>
              <p:txBody>
                <a:bodyPr rtlCol="0" anchor="ctr"/>
                <a:lstStyle/>
                <a:p>
                  <a:pPr algn="ctr"/>
                  <a:endParaRPr lang="zh-CN" altLang="en-US"/>
                </a:p>
              </p:txBody>
            </p:sp>
            <p:sp>
              <p:nvSpPr>
                <p:cNvPr id="59" name="矩形 58"/>
                <p:cNvSpPr/>
                <p:nvPr/>
              </p:nvSpPr>
              <p:spPr>
                <a:xfrm>
                  <a:off x="6277119" y="1643050"/>
                  <a:ext cx="813043" cy="400110"/>
                </a:xfrm>
                <a:prstGeom prst="rect">
                  <a:avLst/>
                </a:prstGeom>
              </p:spPr>
              <p:txBody>
                <a:bodyPr wrap="none">
                  <a:spAutoFit/>
                </a:bodyPr>
                <a:lstStyle/>
                <a:p>
                  <a:r>
                    <a:rPr lang="el-GR" altLang="zh-CN" sz="2000" b="1" i="1">
                      <a:solidFill>
                        <a:srgbClr val="0033CC"/>
                      </a:solidFill>
                      <a:latin typeface="Times New Roman" pitchFamily="18" charset="0"/>
                      <a:cs typeface="Times New Roman" pitchFamily="18" charset="0"/>
                    </a:rPr>
                    <a:t>Δ</a:t>
                  </a:r>
                  <a:r>
                    <a:rPr lang="en-US" altLang="zh-CN" sz="2000" b="1" baseline="-25000">
                      <a:solidFill>
                        <a:srgbClr val="0033CC"/>
                      </a:solidFill>
                      <a:latin typeface="Times New Roman" pitchFamily="18" charset="0"/>
                      <a:cs typeface="Times New Roman" pitchFamily="18" charset="0"/>
                    </a:rPr>
                    <a:t>12</a:t>
                  </a:r>
                  <a:r>
                    <a:rPr lang="en-US" altLang="zh-CN" sz="2000" b="1">
                      <a:solidFill>
                        <a:srgbClr val="0033CC"/>
                      </a:solidFill>
                      <a:latin typeface="Times New Roman" pitchFamily="18" charset="0"/>
                      <a:cs typeface="Times New Roman" pitchFamily="18" charset="0"/>
                    </a:rPr>
                    <a:t>(</a:t>
                  </a:r>
                  <a:r>
                    <a:rPr lang="en-US" altLang="zh-CN" sz="2000" b="1" i="1">
                      <a:solidFill>
                        <a:srgbClr val="0033CC"/>
                      </a:solidFill>
                      <a:latin typeface="Times New Roman" pitchFamily="18" charset="0"/>
                      <a:cs typeface="Times New Roman" pitchFamily="18" charset="0"/>
                    </a:rPr>
                    <a:t>x</a:t>
                  </a:r>
                  <a:r>
                    <a:rPr lang="en-US" altLang="zh-CN" sz="2000" b="1">
                      <a:solidFill>
                        <a:srgbClr val="0033CC"/>
                      </a:solidFill>
                      <a:latin typeface="Times New Roman" pitchFamily="18" charset="0"/>
                      <a:cs typeface="Times New Roman" pitchFamily="18" charset="0"/>
                    </a:rPr>
                    <a:t>)</a:t>
                  </a:r>
                  <a:endParaRPr lang="zh-CN" altLang="en-US" sz="2000">
                    <a:solidFill>
                      <a:srgbClr val="0033CC"/>
                    </a:solidFill>
                  </a:endParaRPr>
                </a:p>
              </p:txBody>
            </p:sp>
          </p:grpSp>
        </p:grpSp>
        <p:sp>
          <p:nvSpPr>
            <p:cNvPr id="63" name="TextBox 62"/>
            <p:cNvSpPr txBox="1"/>
            <p:nvPr/>
          </p:nvSpPr>
          <p:spPr>
            <a:xfrm>
              <a:off x="7858148" y="3286124"/>
              <a:ext cx="877163" cy="369332"/>
            </a:xfrm>
            <a:prstGeom prst="rect">
              <a:avLst/>
            </a:prstGeom>
            <a:noFill/>
            <a:ln w="28575">
              <a:noFill/>
            </a:ln>
          </p:spPr>
          <p:txBody>
            <a:bodyPr wrap="none" rtlCol="0">
              <a:spAutoFit/>
            </a:bodyPr>
            <a:lstStyle/>
            <a:p>
              <a:r>
                <a:rPr lang="zh-CN" altLang="en-US" b="1"/>
                <a:t>状态二</a:t>
              </a:r>
            </a:p>
          </p:txBody>
        </p:sp>
      </p:grpSp>
      <p:sp>
        <p:nvSpPr>
          <p:cNvPr id="67" name="矩形 66"/>
          <p:cNvSpPr/>
          <p:nvPr/>
        </p:nvSpPr>
        <p:spPr>
          <a:xfrm>
            <a:off x="1428728" y="5072074"/>
            <a:ext cx="3403496" cy="400110"/>
          </a:xfrm>
          <a:prstGeom prst="rect">
            <a:avLst/>
          </a:prstGeom>
        </p:spPr>
        <p:txBody>
          <a:bodyPr wrap="none">
            <a:spAutoFit/>
          </a:bodyPr>
          <a:lstStyle/>
          <a:p>
            <a:r>
              <a:rPr lang="zh-CN" altLang="en-US" sz="2000" b="1">
                <a:solidFill>
                  <a:srgbClr val="000000"/>
                </a:solidFill>
              </a:rPr>
              <a:t> ⑵ 状态二下的弯矩分布为：</a:t>
            </a:r>
            <a:endParaRPr lang="zh-CN" altLang="en-US"/>
          </a:p>
        </p:txBody>
      </p:sp>
      <p:grpSp>
        <p:nvGrpSpPr>
          <p:cNvPr id="76" name="组合 75"/>
          <p:cNvGrpSpPr/>
          <p:nvPr/>
        </p:nvGrpSpPr>
        <p:grpSpPr>
          <a:xfrm>
            <a:off x="5830607" y="3976695"/>
            <a:ext cx="2714625" cy="809627"/>
            <a:chOff x="5830607" y="4357694"/>
            <a:chExt cx="2714625" cy="809627"/>
          </a:xfrm>
        </p:grpSpPr>
        <p:grpSp>
          <p:nvGrpSpPr>
            <p:cNvPr id="74" name="组合 73"/>
            <p:cNvGrpSpPr/>
            <p:nvPr/>
          </p:nvGrpSpPr>
          <p:grpSpPr>
            <a:xfrm>
              <a:off x="5830607" y="4643446"/>
              <a:ext cx="2714625" cy="523875"/>
              <a:chOff x="5830607" y="4643446"/>
              <a:chExt cx="2714625" cy="523875"/>
            </a:xfrm>
          </p:grpSpPr>
          <p:pic>
            <p:nvPicPr>
              <p:cNvPr id="651269" name="Picture 5"/>
              <p:cNvPicPr>
                <a:picLocks noChangeAspect="1" noChangeArrowheads="1"/>
              </p:cNvPicPr>
              <p:nvPr/>
            </p:nvPicPr>
            <p:blipFill>
              <a:blip r:embed="rId6"/>
              <a:srcRect/>
              <a:stretch>
                <a:fillRect/>
              </a:stretch>
            </p:blipFill>
            <p:spPr bwMode="auto">
              <a:xfrm>
                <a:off x="5830607" y="4643446"/>
                <a:ext cx="2714625" cy="523875"/>
              </a:xfrm>
              <a:prstGeom prst="rect">
                <a:avLst/>
              </a:prstGeom>
              <a:noFill/>
              <a:ln w="9525">
                <a:noFill/>
                <a:miter lim="800000"/>
                <a:headEnd/>
                <a:tailEnd/>
              </a:ln>
              <a:effectLst/>
            </p:spPr>
          </p:pic>
          <p:cxnSp>
            <p:nvCxnSpPr>
              <p:cNvPr id="69" name="直接连接符 68"/>
              <p:cNvCxnSpPr/>
              <p:nvPr/>
            </p:nvCxnSpPr>
            <p:spPr bwMode="auto">
              <a:xfrm rot="5400000">
                <a:off x="6995801" y="4976821"/>
                <a:ext cx="380999"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72" name="直接连接符 71"/>
              <p:cNvCxnSpPr/>
              <p:nvPr/>
            </p:nvCxnSpPr>
            <p:spPr bwMode="auto">
              <a:xfrm>
                <a:off x="6000760" y="4786322"/>
                <a:ext cx="1187160" cy="380999"/>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73" name="直接连接符 72"/>
              <p:cNvCxnSpPr/>
              <p:nvPr/>
            </p:nvCxnSpPr>
            <p:spPr bwMode="auto">
              <a:xfrm flipH="1">
                <a:off x="7187910" y="4786322"/>
                <a:ext cx="1187160" cy="380999"/>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75" name="TextBox 74"/>
            <p:cNvSpPr txBox="1"/>
            <p:nvPr/>
          </p:nvSpPr>
          <p:spPr>
            <a:xfrm>
              <a:off x="7072330" y="4357694"/>
              <a:ext cx="704039" cy="400110"/>
            </a:xfrm>
            <a:prstGeom prst="rect">
              <a:avLst/>
            </a:prstGeom>
            <a:noFill/>
            <a:ln w="28575">
              <a:noFill/>
            </a:ln>
          </p:spPr>
          <p:txBody>
            <a:bodyPr wrap="none" rtlCol="0">
              <a:spAutoFit/>
            </a:bodyPr>
            <a:lstStyle/>
            <a:p>
              <a:r>
                <a:rPr lang="en-US" altLang="zh-CN" sz="2000" b="1">
                  <a:solidFill>
                    <a:srgbClr val="C00000"/>
                  </a:solidFill>
                  <a:latin typeface="Times New Roman" pitchFamily="18" charset="0"/>
                  <a:cs typeface="Times New Roman" pitchFamily="18" charset="0"/>
                </a:rPr>
                <a:t>0.25</a:t>
              </a:r>
              <a:r>
                <a:rPr lang="en-US" altLang="zh-CN" sz="2000" b="1" i="1">
                  <a:solidFill>
                    <a:srgbClr val="C00000"/>
                  </a:solidFill>
                  <a:latin typeface="Times New Roman" pitchFamily="18" charset="0"/>
                  <a:cs typeface="Times New Roman" pitchFamily="18" charset="0"/>
                </a:rPr>
                <a:t>l</a:t>
              </a:r>
              <a:endParaRPr lang="zh-CN" altLang="en-US" sz="2000" b="1" i="1">
                <a:solidFill>
                  <a:srgbClr val="C00000"/>
                </a:solidFill>
                <a:latin typeface="Times New Roman" pitchFamily="18" charset="0"/>
                <a:cs typeface="Times New Roman" pitchFamily="18" charset="0"/>
              </a:endParaRPr>
            </a:p>
          </p:txBody>
        </p:sp>
      </p:grpSp>
      <p:graphicFrame>
        <p:nvGraphicFramePr>
          <p:cNvPr id="651270" name="Object 6"/>
          <p:cNvGraphicFramePr>
            <a:graphicFrameLocks noChangeAspect="1"/>
          </p:cNvGraphicFramePr>
          <p:nvPr/>
        </p:nvGraphicFramePr>
        <p:xfrm>
          <a:off x="1928794" y="5472184"/>
          <a:ext cx="2857520" cy="714380"/>
        </p:xfrm>
        <a:graphic>
          <a:graphicData uri="http://schemas.openxmlformats.org/presentationml/2006/ole">
            <mc:AlternateContent xmlns:mc="http://schemas.openxmlformats.org/markup-compatibility/2006">
              <mc:Choice xmlns:v="urn:schemas-microsoft-com:vml" Requires="v">
                <p:oleObj spid="_x0000_s651273" name="Equation" r:id="rId7" imgW="2031840" imgH="507960" progId="Equation.DSMT4">
                  <p:embed/>
                </p:oleObj>
              </mc:Choice>
              <mc:Fallback>
                <p:oleObj name="Equation" r:id="rId7" imgW="2031840" imgH="507960" progId="Equation.DSMT4">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8794" y="5472184"/>
                        <a:ext cx="2857520"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 name="矩形 76"/>
          <p:cNvSpPr/>
          <p:nvPr/>
        </p:nvSpPr>
        <p:spPr>
          <a:xfrm>
            <a:off x="5210810" y="5322923"/>
            <a:ext cx="1794081" cy="400110"/>
          </a:xfrm>
          <a:prstGeom prst="rect">
            <a:avLst/>
          </a:prstGeom>
        </p:spPr>
        <p:txBody>
          <a:bodyPr wrap="none">
            <a:spAutoFit/>
          </a:bodyPr>
          <a:lstStyle/>
          <a:p>
            <a:r>
              <a:rPr lang="zh-CN" altLang="en-US" sz="2000" b="1">
                <a:solidFill>
                  <a:srgbClr val="000000"/>
                </a:solidFill>
              </a:rPr>
              <a:t>⑶ 由材料力学</a:t>
            </a:r>
            <a:endParaRPr lang="zh-CN" altLang="en-US"/>
          </a:p>
        </p:txBody>
      </p:sp>
      <p:graphicFrame>
        <p:nvGraphicFramePr>
          <p:cNvPr id="651271" name="Object 7"/>
          <p:cNvGraphicFramePr>
            <a:graphicFrameLocks noChangeAspect="1"/>
          </p:cNvGraphicFramePr>
          <p:nvPr/>
        </p:nvGraphicFramePr>
        <p:xfrm>
          <a:off x="7072330" y="5268930"/>
          <a:ext cx="1214437" cy="588962"/>
        </p:xfrm>
        <a:graphic>
          <a:graphicData uri="http://schemas.openxmlformats.org/presentationml/2006/ole">
            <mc:AlternateContent xmlns:mc="http://schemas.openxmlformats.org/markup-compatibility/2006">
              <mc:Choice xmlns:v="urn:schemas-microsoft-com:vml" Requires="v">
                <p:oleObj spid="_x0000_s651274" name="Equation" r:id="rId9" imgW="863280" imgH="419040" progId="Equation.DSMT4">
                  <p:embed/>
                </p:oleObj>
              </mc:Choice>
              <mc:Fallback>
                <p:oleObj name="Equation" r:id="rId9" imgW="863280" imgH="419040" progId="Equation.DSMT4">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72330" y="5268930"/>
                        <a:ext cx="1214437" cy="5889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 name="矩形 78"/>
          <p:cNvSpPr/>
          <p:nvPr/>
        </p:nvSpPr>
        <p:spPr bwMode="auto">
          <a:xfrm>
            <a:off x="1500166" y="5072074"/>
            <a:ext cx="7000924" cy="1214446"/>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rtlCol="0" anchor="ctr"/>
          <a:lstStyle/>
          <a:p>
            <a:pPr algn="ctr"/>
            <a:endParaRPr lang="zh-CN" altLang="en-US"/>
          </a:p>
        </p:txBody>
      </p:sp>
      <p:graphicFrame>
        <p:nvGraphicFramePr>
          <p:cNvPr id="651272" name="Object 8"/>
          <p:cNvGraphicFramePr>
            <a:graphicFrameLocks noChangeAspect="1"/>
          </p:cNvGraphicFramePr>
          <p:nvPr/>
        </p:nvGraphicFramePr>
        <p:xfrm>
          <a:off x="2357422" y="5072074"/>
          <a:ext cx="5178425" cy="1177925"/>
        </p:xfrm>
        <a:graphic>
          <a:graphicData uri="http://schemas.openxmlformats.org/presentationml/2006/ole">
            <mc:AlternateContent xmlns:mc="http://schemas.openxmlformats.org/markup-compatibility/2006">
              <mc:Choice xmlns:v="urn:schemas-microsoft-com:vml" Requires="v">
                <p:oleObj spid="_x0000_s651275" name="Equation" r:id="rId11" imgW="3682800" imgH="838080" progId="Equation.DSMT4">
                  <p:embed/>
                </p:oleObj>
              </mc:Choice>
              <mc:Fallback>
                <p:oleObj name="Equation" r:id="rId11" imgW="3682800" imgH="838080" progId="Equation.DSMT4">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7422" y="5072074"/>
                        <a:ext cx="5178425" cy="11779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 name="TextBox 77"/>
          <p:cNvSpPr txBox="1"/>
          <p:nvPr/>
        </p:nvSpPr>
        <p:spPr>
          <a:xfrm>
            <a:off x="1843708" y="5000636"/>
            <a:ext cx="3357618" cy="428451"/>
          </a:xfrm>
          <a:prstGeom prst="rect">
            <a:avLst/>
          </a:prstGeom>
          <a:noFill/>
          <a:ln w="28575">
            <a:noFill/>
          </a:ln>
        </p:spPr>
        <p:txBody>
          <a:bodyPr wrap="square" rtlCol="0">
            <a:spAutoFit/>
          </a:bodyPr>
          <a:lstStyle/>
          <a:p>
            <a:pPr>
              <a:lnSpc>
                <a:spcPct val="120000"/>
              </a:lnSpc>
            </a:pPr>
            <a:r>
              <a:rPr lang="zh-CN" altLang="en-US" sz="2000" b="1"/>
              <a:t>可得，     </a:t>
            </a:r>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additive="base">
                                        <p:cTn id="17" dur="500" fill="hold"/>
                                        <p:tgtEl>
                                          <p:spTgt spid="49"/>
                                        </p:tgtEl>
                                        <p:attrNameLst>
                                          <p:attrName>ppt_x</p:attrName>
                                        </p:attrNameLst>
                                      </p:cBhvr>
                                      <p:tavLst>
                                        <p:tav tm="0">
                                          <p:val>
                                            <p:strVal val="#ppt_x"/>
                                          </p:val>
                                        </p:tav>
                                        <p:tav tm="100000">
                                          <p:val>
                                            <p:strVal val="#ppt_x"/>
                                          </p:val>
                                        </p:tav>
                                      </p:tavLst>
                                    </p:anim>
                                    <p:anim calcmode="lin" valueType="num">
                                      <p:cBhvr additive="base">
                                        <p:cTn id="18" dur="500" fill="hold"/>
                                        <p:tgtEl>
                                          <p:spTgt spid="49"/>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 calcmode="lin" valueType="num">
                                      <p:cBhvr additive="base">
                                        <p:cTn id="23" dur="500" fill="hold"/>
                                        <p:tgtEl>
                                          <p:spTgt spid="64"/>
                                        </p:tgtEl>
                                        <p:attrNameLst>
                                          <p:attrName>ppt_x</p:attrName>
                                        </p:attrNameLst>
                                      </p:cBhvr>
                                      <p:tavLst>
                                        <p:tav tm="0">
                                          <p:val>
                                            <p:strVal val="#ppt_x"/>
                                          </p:val>
                                        </p:tav>
                                        <p:tav tm="100000">
                                          <p:val>
                                            <p:strVal val="#ppt_x"/>
                                          </p:val>
                                        </p:tav>
                                      </p:tavLst>
                                    </p:anim>
                                    <p:anim calcmode="lin" valueType="num">
                                      <p:cBhvr additive="base">
                                        <p:cTn id="24"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anim calcmode="lin" valueType="num">
                                      <p:cBhvr additive="base">
                                        <p:cTn id="29" dur="500" fill="hold"/>
                                        <p:tgtEl>
                                          <p:spTgt spid="61"/>
                                        </p:tgtEl>
                                        <p:attrNameLst>
                                          <p:attrName>ppt_x</p:attrName>
                                        </p:attrNameLst>
                                      </p:cBhvr>
                                      <p:tavLst>
                                        <p:tav tm="0">
                                          <p:val>
                                            <p:strVal val="#ppt_x"/>
                                          </p:val>
                                        </p:tav>
                                        <p:tav tm="100000">
                                          <p:val>
                                            <p:strVal val="#ppt_x"/>
                                          </p:val>
                                        </p:tav>
                                      </p:tavLst>
                                    </p:anim>
                                    <p:anim calcmode="lin" valueType="num">
                                      <p:cBhvr additive="base">
                                        <p:cTn id="30"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2"/>
                                        </p:tgtEl>
                                        <p:attrNameLst>
                                          <p:attrName>style.visibility</p:attrName>
                                        </p:attrNameLst>
                                      </p:cBhvr>
                                      <p:to>
                                        <p:strVal val="visible"/>
                                      </p:to>
                                    </p:set>
                                    <p:anim calcmode="lin" valueType="num">
                                      <p:cBhvr additive="base">
                                        <p:cTn id="35" dur="500" fill="hold"/>
                                        <p:tgtEl>
                                          <p:spTgt spid="62"/>
                                        </p:tgtEl>
                                        <p:attrNameLst>
                                          <p:attrName>ppt_x</p:attrName>
                                        </p:attrNameLst>
                                      </p:cBhvr>
                                      <p:tavLst>
                                        <p:tav tm="0">
                                          <p:val>
                                            <p:strVal val="#ppt_x"/>
                                          </p:val>
                                        </p:tav>
                                        <p:tav tm="100000">
                                          <p:val>
                                            <p:strVal val="#ppt_x"/>
                                          </p:val>
                                        </p:tav>
                                      </p:tavLst>
                                    </p:anim>
                                    <p:anim calcmode="lin" valueType="num">
                                      <p:cBhvr additive="base">
                                        <p:cTn id="3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anim calcmode="lin" valueType="num">
                                      <p:cBhvr additive="base">
                                        <p:cTn id="41" dur="500" fill="hold"/>
                                        <p:tgtEl>
                                          <p:spTgt spid="67"/>
                                        </p:tgtEl>
                                        <p:attrNameLst>
                                          <p:attrName>ppt_x</p:attrName>
                                        </p:attrNameLst>
                                      </p:cBhvr>
                                      <p:tavLst>
                                        <p:tav tm="0">
                                          <p:val>
                                            <p:strVal val="#ppt_x"/>
                                          </p:val>
                                        </p:tav>
                                        <p:tav tm="100000">
                                          <p:val>
                                            <p:strVal val="#ppt_x"/>
                                          </p:val>
                                        </p:tav>
                                      </p:tavLst>
                                    </p:anim>
                                    <p:anim calcmode="lin" valueType="num">
                                      <p:cBhvr additive="base">
                                        <p:cTn id="4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6"/>
                                        </p:tgtEl>
                                        <p:attrNameLst>
                                          <p:attrName>style.visibility</p:attrName>
                                        </p:attrNameLst>
                                      </p:cBhvr>
                                      <p:to>
                                        <p:strVal val="visible"/>
                                      </p:to>
                                    </p:set>
                                    <p:anim calcmode="lin" valueType="num">
                                      <p:cBhvr additive="base">
                                        <p:cTn id="47" dur="500" fill="hold"/>
                                        <p:tgtEl>
                                          <p:spTgt spid="76"/>
                                        </p:tgtEl>
                                        <p:attrNameLst>
                                          <p:attrName>ppt_x</p:attrName>
                                        </p:attrNameLst>
                                      </p:cBhvr>
                                      <p:tavLst>
                                        <p:tav tm="0">
                                          <p:val>
                                            <p:strVal val="#ppt_x"/>
                                          </p:val>
                                        </p:tav>
                                        <p:tav tm="100000">
                                          <p:val>
                                            <p:strVal val="#ppt_x"/>
                                          </p:val>
                                        </p:tav>
                                      </p:tavLst>
                                    </p:anim>
                                    <p:anim calcmode="lin" valueType="num">
                                      <p:cBhvr additive="base">
                                        <p:cTn id="48" dur="500" fill="hold"/>
                                        <p:tgtEl>
                                          <p:spTgt spid="7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51270"/>
                                        </p:tgtEl>
                                        <p:attrNameLst>
                                          <p:attrName>style.visibility</p:attrName>
                                        </p:attrNameLst>
                                      </p:cBhvr>
                                      <p:to>
                                        <p:strVal val="visible"/>
                                      </p:to>
                                    </p:set>
                                    <p:anim calcmode="lin" valueType="num">
                                      <p:cBhvr additive="base">
                                        <p:cTn id="51" dur="500" fill="hold"/>
                                        <p:tgtEl>
                                          <p:spTgt spid="651270"/>
                                        </p:tgtEl>
                                        <p:attrNameLst>
                                          <p:attrName>ppt_x</p:attrName>
                                        </p:attrNameLst>
                                      </p:cBhvr>
                                      <p:tavLst>
                                        <p:tav tm="0">
                                          <p:val>
                                            <p:strVal val="#ppt_x"/>
                                          </p:val>
                                        </p:tav>
                                        <p:tav tm="100000">
                                          <p:val>
                                            <p:strVal val="#ppt_x"/>
                                          </p:val>
                                        </p:tav>
                                      </p:tavLst>
                                    </p:anim>
                                    <p:anim calcmode="lin" valueType="num">
                                      <p:cBhvr additive="base">
                                        <p:cTn id="52" dur="500" fill="hold"/>
                                        <p:tgtEl>
                                          <p:spTgt spid="65127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7"/>
                                        </p:tgtEl>
                                        <p:attrNameLst>
                                          <p:attrName>style.visibility</p:attrName>
                                        </p:attrNameLst>
                                      </p:cBhvr>
                                      <p:to>
                                        <p:strVal val="visible"/>
                                      </p:to>
                                    </p:set>
                                    <p:anim calcmode="lin" valueType="num">
                                      <p:cBhvr additive="base">
                                        <p:cTn id="57" dur="500" fill="hold"/>
                                        <p:tgtEl>
                                          <p:spTgt spid="77"/>
                                        </p:tgtEl>
                                        <p:attrNameLst>
                                          <p:attrName>ppt_x</p:attrName>
                                        </p:attrNameLst>
                                      </p:cBhvr>
                                      <p:tavLst>
                                        <p:tav tm="0">
                                          <p:val>
                                            <p:strVal val="#ppt_x"/>
                                          </p:val>
                                        </p:tav>
                                        <p:tav tm="100000">
                                          <p:val>
                                            <p:strVal val="#ppt_x"/>
                                          </p:val>
                                        </p:tav>
                                      </p:tavLst>
                                    </p:anim>
                                    <p:anim calcmode="lin" valueType="num">
                                      <p:cBhvr additive="base">
                                        <p:cTn id="58" dur="500" fill="hold"/>
                                        <p:tgtEl>
                                          <p:spTgt spid="77"/>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651271"/>
                                        </p:tgtEl>
                                        <p:attrNameLst>
                                          <p:attrName>style.visibility</p:attrName>
                                        </p:attrNameLst>
                                      </p:cBhvr>
                                      <p:to>
                                        <p:strVal val="visible"/>
                                      </p:to>
                                    </p:set>
                                    <p:anim calcmode="lin" valueType="num">
                                      <p:cBhvr additive="base">
                                        <p:cTn id="61" dur="500" fill="hold"/>
                                        <p:tgtEl>
                                          <p:spTgt spid="651271"/>
                                        </p:tgtEl>
                                        <p:attrNameLst>
                                          <p:attrName>ppt_x</p:attrName>
                                        </p:attrNameLst>
                                      </p:cBhvr>
                                      <p:tavLst>
                                        <p:tav tm="0">
                                          <p:val>
                                            <p:strVal val="#ppt_x"/>
                                          </p:val>
                                        </p:tav>
                                        <p:tav tm="100000">
                                          <p:val>
                                            <p:strVal val="#ppt_x"/>
                                          </p:val>
                                        </p:tav>
                                      </p:tavLst>
                                    </p:anim>
                                    <p:anim calcmode="lin" valueType="num">
                                      <p:cBhvr additive="base">
                                        <p:cTn id="62" dur="500" fill="hold"/>
                                        <p:tgtEl>
                                          <p:spTgt spid="65127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wipe(up)">
                                      <p:cBhvr>
                                        <p:cTn id="67" dur="500"/>
                                        <p:tgtEl>
                                          <p:spTgt spid="79"/>
                                        </p:tgtEl>
                                      </p:cBhvr>
                                    </p:animEffect>
                                  </p:childTnLst>
                                </p:cTn>
                              </p:par>
                            </p:childTnLst>
                          </p:cTn>
                        </p:par>
                        <p:par>
                          <p:cTn id="68" fill="hold">
                            <p:stCondLst>
                              <p:cond delay="500"/>
                            </p:stCondLst>
                            <p:childTnLst>
                              <p:par>
                                <p:cTn id="69" presetID="2" presetClass="entr" presetSubtype="4" fill="hold" grpId="0" nodeType="afterEffect">
                                  <p:stCondLst>
                                    <p:cond delay="0"/>
                                  </p:stCondLst>
                                  <p:childTnLst>
                                    <p:set>
                                      <p:cBhvr>
                                        <p:cTn id="70" dur="1" fill="hold">
                                          <p:stCondLst>
                                            <p:cond delay="0"/>
                                          </p:stCondLst>
                                        </p:cTn>
                                        <p:tgtEl>
                                          <p:spTgt spid="78"/>
                                        </p:tgtEl>
                                        <p:attrNameLst>
                                          <p:attrName>style.visibility</p:attrName>
                                        </p:attrNameLst>
                                      </p:cBhvr>
                                      <p:to>
                                        <p:strVal val="visible"/>
                                      </p:to>
                                    </p:set>
                                    <p:anim calcmode="lin" valueType="num">
                                      <p:cBhvr additive="base">
                                        <p:cTn id="71" dur="500" fill="hold"/>
                                        <p:tgtEl>
                                          <p:spTgt spid="78"/>
                                        </p:tgtEl>
                                        <p:attrNameLst>
                                          <p:attrName>ppt_x</p:attrName>
                                        </p:attrNameLst>
                                      </p:cBhvr>
                                      <p:tavLst>
                                        <p:tav tm="0">
                                          <p:val>
                                            <p:strVal val="#ppt_x"/>
                                          </p:val>
                                        </p:tav>
                                        <p:tav tm="100000">
                                          <p:val>
                                            <p:strVal val="#ppt_x"/>
                                          </p:val>
                                        </p:tav>
                                      </p:tavLst>
                                    </p:anim>
                                    <p:anim calcmode="lin" valueType="num">
                                      <p:cBhvr additive="base">
                                        <p:cTn id="72" dur="500" fill="hold"/>
                                        <p:tgtEl>
                                          <p:spTgt spid="78"/>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651272"/>
                                        </p:tgtEl>
                                        <p:attrNameLst>
                                          <p:attrName>style.visibility</p:attrName>
                                        </p:attrNameLst>
                                      </p:cBhvr>
                                      <p:to>
                                        <p:strVal val="visible"/>
                                      </p:to>
                                    </p:set>
                                    <p:anim calcmode="lin" valueType="num">
                                      <p:cBhvr additive="base">
                                        <p:cTn id="75" dur="500" fill="hold"/>
                                        <p:tgtEl>
                                          <p:spTgt spid="651272"/>
                                        </p:tgtEl>
                                        <p:attrNameLst>
                                          <p:attrName>ppt_x</p:attrName>
                                        </p:attrNameLst>
                                      </p:cBhvr>
                                      <p:tavLst>
                                        <p:tav tm="0">
                                          <p:val>
                                            <p:strVal val="#ppt_x"/>
                                          </p:val>
                                        </p:tav>
                                        <p:tav tm="100000">
                                          <p:val>
                                            <p:strVal val="#ppt_x"/>
                                          </p:val>
                                        </p:tav>
                                      </p:tavLst>
                                    </p:anim>
                                    <p:anim calcmode="lin" valueType="num">
                                      <p:cBhvr additive="base">
                                        <p:cTn id="76" dur="500" fill="hold"/>
                                        <p:tgtEl>
                                          <p:spTgt spid="6512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1" grpId="0"/>
      <p:bldP spid="62" grpId="0"/>
      <p:bldP spid="67" grpId="0"/>
      <p:bldP spid="77" grpId="0"/>
      <p:bldP spid="79" grpId="0" animBg="1"/>
      <p:bldP spid="7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反力互等定理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1964"/>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状态  </a:t>
            </a:r>
            <a:r>
              <a:rPr lang="en-US" altLang="zh-CN" sz="2000" b="1">
                <a:latin typeface="Times New Roman" pitchFamily="18" charset="0"/>
                <a:cs typeface="Times New Roman" pitchFamily="18" charset="0"/>
              </a:rPr>
              <a:t>I </a:t>
            </a:r>
            <a:r>
              <a:rPr lang="zh-CN" altLang="en-US" sz="2000" b="1">
                <a:latin typeface="Times New Roman" pitchFamily="18" charset="0"/>
                <a:cs typeface="Times New Roman" pitchFamily="18" charset="0"/>
              </a:rPr>
              <a:t>：支座</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产生的位移 </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1</a:t>
            </a:r>
            <a:r>
              <a:rPr lang="zh-CN" altLang="en-US" sz="2000" b="1">
                <a:latin typeface="Times New Roman" pitchFamily="18" charset="0"/>
                <a:cs typeface="Times New Roman" pitchFamily="18" charset="0"/>
              </a:rPr>
              <a:t>，引起支座反力</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11</a:t>
            </a:r>
            <a:r>
              <a:rPr lang="zh-CN" altLang="en-US" sz="2000" b="1">
                <a:latin typeface="Times New Roman" pitchFamily="18" charset="0"/>
                <a:cs typeface="Times New Roman" pitchFamily="18" charset="0"/>
              </a:rPr>
              <a:t>和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21</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graphicFrame>
        <p:nvGraphicFramePr>
          <p:cNvPr id="492551" name="Object 7"/>
          <p:cNvGraphicFramePr>
            <a:graphicFrameLocks noGrp="1" noChangeAspect="1"/>
          </p:cNvGraphicFramePr>
          <p:nvPr/>
        </p:nvGraphicFramePr>
        <p:xfrm>
          <a:off x="1357314" y="2298471"/>
          <a:ext cx="5715016" cy="1487719"/>
        </p:xfrm>
        <a:graphic>
          <a:graphicData uri="http://schemas.openxmlformats.org/presentationml/2006/ole">
            <mc:AlternateContent xmlns:mc="http://schemas.openxmlformats.org/markup-compatibility/2006">
              <mc:Choice xmlns:v="urn:schemas-microsoft-com:vml" Requires="v">
                <p:oleObj spid="_x0000_s654342" name="AutoCAD Drawing" r:id="rId4" imgW="8943840" imgH="4981680" progId="">
                  <p:embed/>
                </p:oleObj>
              </mc:Choice>
              <mc:Fallback>
                <p:oleObj name="AutoCAD Drawing" r:id="rId4" imgW="8943840" imgH="4981680" progId="">
                  <p:embed/>
                  <p:pic>
                    <p:nvPicPr>
                      <p:cNvPr id="0" name="Object 7"/>
                      <p:cNvPicPr>
                        <a:picLocks noGrp="1" noChangeAspect="1" noChangeArrowheads="1"/>
                      </p:cNvPicPr>
                      <p:nvPr/>
                    </p:nvPicPr>
                    <p:blipFill>
                      <a:blip r:embed="rId5">
                        <a:extLst>
                          <a:ext uri="{28A0092B-C50C-407E-A947-70E740481C1C}">
                            <a14:useLocalDpi xmlns:a14="http://schemas.microsoft.com/office/drawing/2010/main" val="0"/>
                          </a:ext>
                        </a:extLst>
                      </a:blip>
                      <a:srcRect t="38109" r="24754" b="17624"/>
                      <a:stretch>
                        <a:fillRect/>
                      </a:stretch>
                    </p:blipFill>
                    <p:spPr bwMode="auto">
                      <a:xfrm>
                        <a:off x="1357314" y="2298471"/>
                        <a:ext cx="5715016" cy="1487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Box 19"/>
          <p:cNvSpPr txBox="1"/>
          <p:nvPr/>
        </p:nvSpPr>
        <p:spPr>
          <a:xfrm>
            <a:off x="1443005" y="2571744"/>
            <a:ext cx="252239" cy="276999"/>
          </a:xfrm>
          <a:prstGeom prst="rect">
            <a:avLst/>
          </a:prstGeom>
          <a:solidFill>
            <a:schemeClr val="bg1"/>
          </a:solidFill>
          <a:ln w="28575">
            <a:noFill/>
          </a:ln>
        </p:spPr>
        <p:txBody>
          <a:bodyPr wrap="none" lIns="36000" tIns="0" rIns="36000" bIns="0" rtlCol="0">
            <a:spAutoFit/>
          </a:bodyPr>
          <a:lstStyle/>
          <a:p>
            <a:r>
              <a:rPr lang="en-US" altLang="zh-CN" b="1" i="1">
                <a:latin typeface="Times New Roman" pitchFamily="18" charset="0"/>
                <a:cs typeface="Times New Roman" pitchFamily="18" charset="0"/>
              </a:rPr>
              <a:t>c</a:t>
            </a:r>
            <a:r>
              <a:rPr lang="en-US" altLang="zh-CN" b="1" baseline="-25000">
                <a:latin typeface="Times New Roman" pitchFamily="18" charset="0"/>
                <a:cs typeface="Times New Roman" pitchFamily="18" charset="0"/>
              </a:rPr>
              <a:t>1</a:t>
            </a:r>
            <a:endParaRPr lang="zh-CN" altLang="en-US" b="1" baseline="-25000">
              <a:latin typeface="Times New Roman" pitchFamily="18" charset="0"/>
              <a:cs typeface="Times New Roman" pitchFamily="18" charset="0"/>
            </a:endParaRPr>
          </a:p>
        </p:txBody>
      </p:sp>
      <p:sp>
        <p:nvSpPr>
          <p:cNvPr id="22" name="TextBox 21"/>
          <p:cNvSpPr txBox="1"/>
          <p:nvPr/>
        </p:nvSpPr>
        <p:spPr>
          <a:xfrm>
            <a:off x="2484402" y="3440292"/>
            <a:ext cx="482624" cy="276999"/>
          </a:xfrm>
          <a:prstGeom prst="rect">
            <a:avLst/>
          </a:prstGeom>
          <a:solidFill>
            <a:schemeClr val="bg1"/>
          </a:solidFill>
          <a:ln w="28575">
            <a:noFill/>
          </a:ln>
        </p:spPr>
        <p:txBody>
          <a:bodyPr wrap="none" lIns="36000" tIns="0" rIns="36000" bIns="0"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R11</a:t>
            </a:r>
            <a:endParaRPr lang="zh-CN" altLang="en-US" b="1" baseline="-25000">
              <a:latin typeface="Times New Roman" pitchFamily="18" charset="0"/>
              <a:cs typeface="Times New Roman" pitchFamily="18" charset="0"/>
            </a:endParaRPr>
          </a:p>
        </p:txBody>
      </p:sp>
      <p:sp>
        <p:nvSpPr>
          <p:cNvPr id="23" name="TextBox 22"/>
          <p:cNvSpPr txBox="1"/>
          <p:nvPr/>
        </p:nvSpPr>
        <p:spPr>
          <a:xfrm>
            <a:off x="3895700" y="3437753"/>
            <a:ext cx="491087" cy="276999"/>
          </a:xfrm>
          <a:prstGeom prst="rect">
            <a:avLst/>
          </a:prstGeom>
          <a:solidFill>
            <a:schemeClr val="bg1"/>
          </a:solidFill>
          <a:ln w="28575">
            <a:noFill/>
          </a:ln>
        </p:spPr>
        <p:txBody>
          <a:bodyPr wrap="none" lIns="36000" tIns="0" rIns="36000" bIns="0"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R21</a:t>
            </a:r>
            <a:endParaRPr lang="zh-CN" altLang="en-US" b="1" baseline="-25000">
              <a:latin typeface="Times New Roman" pitchFamily="18" charset="0"/>
              <a:cs typeface="Times New Roman" pitchFamily="18" charset="0"/>
            </a:endParaRPr>
          </a:p>
        </p:txBody>
      </p:sp>
      <p:sp>
        <p:nvSpPr>
          <p:cNvPr id="24" name="Rectangle 6"/>
          <p:cNvSpPr>
            <a:spLocks noChangeArrowheads="1"/>
          </p:cNvSpPr>
          <p:nvPr/>
        </p:nvSpPr>
        <p:spPr bwMode="auto">
          <a:xfrm>
            <a:off x="469540" y="3824591"/>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状态</a:t>
            </a:r>
            <a:r>
              <a:rPr lang="en-US" altLang="zh-CN" sz="2000" b="1">
                <a:latin typeface="Times New Roman" pitchFamily="18" charset="0"/>
                <a:cs typeface="Times New Roman" pitchFamily="18" charset="0"/>
              </a:rPr>
              <a:t>Ⅱ</a:t>
            </a:r>
            <a:r>
              <a:rPr lang="zh-CN" altLang="en-US" sz="2000" b="1">
                <a:latin typeface="Times New Roman" pitchFamily="18" charset="0"/>
                <a:cs typeface="Times New Roman" pitchFamily="18" charset="0"/>
              </a:rPr>
              <a:t>：支座</a:t>
            </a:r>
            <a:r>
              <a:rPr lang="en-US" altLang="zh-CN" sz="2000" b="1">
                <a:latin typeface="Times New Roman" pitchFamily="18" charset="0"/>
                <a:cs typeface="Times New Roman" pitchFamily="18" charset="0"/>
              </a:rPr>
              <a:t>2</a:t>
            </a:r>
            <a:r>
              <a:rPr lang="zh-CN" altLang="en-US" sz="2000" b="1">
                <a:latin typeface="Times New Roman" pitchFamily="18" charset="0"/>
                <a:cs typeface="Times New Roman" pitchFamily="18" charset="0"/>
              </a:rPr>
              <a:t>产生的位移 </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a:t>
            </a:r>
            <a:r>
              <a:rPr lang="zh-CN" altLang="en-US" sz="2000" b="1">
                <a:latin typeface="Times New Roman" pitchFamily="18" charset="0"/>
                <a:cs typeface="Times New Roman" pitchFamily="18" charset="0"/>
              </a:rPr>
              <a:t>，引起支座反力</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12</a:t>
            </a:r>
            <a:r>
              <a:rPr lang="zh-CN" altLang="en-US" sz="2000" b="1">
                <a:latin typeface="Times New Roman" pitchFamily="18" charset="0"/>
                <a:cs typeface="Times New Roman" pitchFamily="18" charset="0"/>
              </a:rPr>
              <a:t>和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22</a:t>
            </a:r>
            <a:r>
              <a:rPr lang="zh-CN" altLang="en-US" sz="2000" b="1">
                <a:latin typeface="Times New Roman" pitchFamily="18" charset="0"/>
                <a:cs typeface="Times New Roman" pitchFamily="18" charset="0"/>
              </a:rPr>
              <a:t> ；</a:t>
            </a:r>
            <a:r>
              <a:rPr lang="en-US" altLang="zh-CN" sz="2000" b="1">
                <a:latin typeface="Times New Roman" pitchFamily="18" charset="0"/>
                <a:cs typeface="Times New Roman" pitchFamily="18" charset="0"/>
              </a:rPr>
              <a:t> </a:t>
            </a:r>
            <a:endParaRPr lang="zh-CN" altLang="en-US" sz="2000" b="1">
              <a:latin typeface="Times New Roman" pitchFamily="18" charset="0"/>
              <a:cs typeface="Times New Roman" pitchFamily="18" charset="0"/>
            </a:endParaRPr>
          </a:p>
        </p:txBody>
      </p:sp>
      <p:graphicFrame>
        <p:nvGraphicFramePr>
          <p:cNvPr id="492550" name="Object 6"/>
          <p:cNvGraphicFramePr>
            <a:graphicFrameLocks noChangeAspect="1"/>
          </p:cNvGraphicFramePr>
          <p:nvPr/>
        </p:nvGraphicFramePr>
        <p:xfrm>
          <a:off x="2057423" y="4143380"/>
          <a:ext cx="5514973" cy="1748470"/>
        </p:xfrm>
        <a:graphic>
          <a:graphicData uri="http://schemas.openxmlformats.org/presentationml/2006/ole">
            <mc:AlternateContent xmlns:mc="http://schemas.openxmlformats.org/markup-compatibility/2006">
              <mc:Choice xmlns:v="urn:schemas-microsoft-com:vml" Requires="v">
                <p:oleObj spid="_x0000_s654343" name="AutoCAD Drawing" r:id="rId6" imgW="8943840" imgH="4981680" progId="">
                  <p:embed/>
                </p:oleObj>
              </mc:Choice>
              <mc:Fallback>
                <p:oleObj name="AutoCAD Drawing" r:id="rId6" imgW="8943840" imgH="4981680"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l="9068" t="10704" b="27933"/>
                      <a:stretch>
                        <a:fillRect/>
                      </a:stretch>
                    </p:blipFill>
                    <p:spPr bwMode="auto">
                      <a:xfrm>
                        <a:off x="2057423" y="4143380"/>
                        <a:ext cx="5514973" cy="17484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3281529" y="4818517"/>
            <a:ext cx="218901" cy="205561"/>
          </a:xfrm>
          <a:prstGeom prst="rect">
            <a:avLst/>
          </a:prstGeom>
          <a:solidFill>
            <a:schemeClr val="bg1"/>
          </a:solidFill>
          <a:ln w="28575">
            <a:noFill/>
          </a:ln>
        </p:spPr>
        <p:txBody>
          <a:bodyPr wrap="square" lIns="0" tIns="0" rIns="0" bIns="0" rtlCol="0" anchor="b" anchorCtr="0">
            <a:noAutofit/>
          </a:bodyPr>
          <a:lstStyle/>
          <a:p>
            <a:r>
              <a:rPr lang="en-US" altLang="zh-CN" b="1" i="1">
                <a:latin typeface="Times New Roman" pitchFamily="18" charset="0"/>
                <a:cs typeface="Times New Roman" pitchFamily="18" charset="0"/>
              </a:rPr>
              <a:t>c</a:t>
            </a:r>
            <a:r>
              <a:rPr lang="en-US" altLang="zh-CN" b="1" baseline="-25000">
                <a:latin typeface="Times New Roman" pitchFamily="18" charset="0"/>
                <a:cs typeface="Times New Roman" pitchFamily="18" charset="0"/>
              </a:rPr>
              <a:t>2</a:t>
            </a:r>
            <a:endParaRPr lang="zh-CN" altLang="en-US" b="1" baseline="-25000">
              <a:latin typeface="Times New Roman" pitchFamily="18" charset="0"/>
              <a:cs typeface="Times New Roman" pitchFamily="18" charset="0"/>
            </a:endParaRPr>
          </a:p>
        </p:txBody>
      </p:sp>
      <p:sp>
        <p:nvSpPr>
          <p:cNvPr id="30" name="TextBox 29"/>
          <p:cNvSpPr txBox="1"/>
          <p:nvPr/>
        </p:nvSpPr>
        <p:spPr>
          <a:xfrm>
            <a:off x="2484893" y="5360140"/>
            <a:ext cx="491087" cy="276999"/>
          </a:xfrm>
          <a:prstGeom prst="rect">
            <a:avLst/>
          </a:prstGeom>
          <a:solidFill>
            <a:schemeClr val="bg1"/>
          </a:solidFill>
          <a:ln w="28575">
            <a:noFill/>
          </a:ln>
        </p:spPr>
        <p:txBody>
          <a:bodyPr wrap="none" lIns="36000" tIns="0" rIns="36000" bIns="0"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R12</a:t>
            </a:r>
            <a:endParaRPr lang="zh-CN" altLang="en-US" b="1" baseline="-25000">
              <a:latin typeface="Times New Roman" pitchFamily="18" charset="0"/>
              <a:cs typeface="Times New Roman" pitchFamily="18" charset="0"/>
            </a:endParaRPr>
          </a:p>
        </p:txBody>
      </p:sp>
      <p:sp>
        <p:nvSpPr>
          <p:cNvPr id="32" name="TextBox 31"/>
          <p:cNvSpPr txBox="1"/>
          <p:nvPr/>
        </p:nvSpPr>
        <p:spPr>
          <a:xfrm>
            <a:off x="3918720" y="5506101"/>
            <a:ext cx="491087" cy="276999"/>
          </a:xfrm>
          <a:prstGeom prst="rect">
            <a:avLst/>
          </a:prstGeom>
          <a:solidFill>
            <a:schemeClr val="bg1"/>
          </a:solidFill>
          <a:ln w="28575">
            <a:noFill/>
          </a:ln>
        </p:spPr>
        <p:txBody>
          <a:bodyPr wrap="none" lIns="36000" tIns="0" rIns="36000" bIns="0" rtlCol="0">
            <a:spAutoFit/>
          </a:bodyPr>
          <a:lstStyle/>
          <a:p>
            <a:r>
              <a:rPr lang="en-US" altLang="zh-CN" b="1" i="1">
                <a:latin typeface="Times New Roman" pitchFamily="18" charset="0"/>
                <a:cs typeface="Times New Roman" pitchFamily="18" charset="0"/>
              </a:rPr>
              <a:t>F</a:t>
            </a:r>
            <a:r>
              <a:rPr lang="en-US" altLang="zh-CN" b="1" baseline="-25000">
                <a:latin typeface="Times New Roman" pitchFamily="18" charset="0"/>
                <a:cs typeface="Times New Roman" pitchFamily="18" charset="0"/>
              </a:rPr>
              <a:t>R22</a:t>
            </a:r>
            <a:endParaRPr lang="zh-CN" altLang="en-US" b="1" baseline="-25000">
              <a:latin typeface="Times New Roman" pitchFamily="18" charset="0"/>
              <a:cs typeface="Times New Roman" pitchFamily="18" charset="0"/>
            </a:endParaRPr>
          </a:p>
        </p:txBody>
      </p:sp>
      <p:sp>
        <p:nvSpPr>
          <p:cNvPr id="33" name="TextBox 32"/>
          <p:cNvSpPr txBox="1"/>
          <p:nvPr/>
        </p:nvSpPr>
        <p:spPr>
          <a:xfrm>
            <a:off x="7000892" y="5214950"/>
            <a:ext cx="1723549" cy="400110"/>
          </a:xfrm>
          <a:prstGeom prst="rect">
            <a:avLst/>
          </a:prstGeom>
          <a:noFill/>
          <a:ln w="28575">
            <a:solidFill>
              <a:srgbClr val="C00000"/>
            </a:solidFill>
          </a:ln>
        </p:spPr>
        <p:txBody>
          <a:bodyPr wrap="none" rtlCol="0">
            <a:spAutoFit/>
          </a:bodyPr>
          <a:lstStyle/>
          <a:p>
            <a:r>
              <a:rPr lang="zh-CN" altLang="en-US" sz="2000" b="1">
                <a:solidFill>
                  <a:srgbClr val="C00000"/>
                </a:solidFill>
              </a:rPr>
              <a:t>反力互等定理</a:t>
            </a:r>
          </a:p>
        </p:txBody>
      </p:sp>
      <p:sp>
        <p:nvSpPr>
          <p:cNvPr id="34" name="矩形 33"/>
          <p:cNvSpPr/>
          <p:nvPr/>
        </p:nvSpPr>
        <p:spPr>
          <a:xfrm>
            <a:off x="463535" y="5896293"/>
            <a:ext cx="4453463" cy="461665"/>
          </a:xfrm>
          <a:prstGeom prst="rect">
            <a:avLst/>
          </a:prstGeom>
        </p:spPr>
        <p:txBody>
          <a:bodyPr wrap="non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由功的互等定理：</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R21</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a:t>
            </a:r>
            <a:r>
              <a:rPr lang="zh-CN" altLang="en-US" sz="2000" b="1" baseline="-25000"/>
              <a:t> </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R12</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1</a:t>
            </a:r>
            <a:endParaRPr lang="zh-CN" altLang="en-US" sz="2000" b="1" baseline="-25000"/>
          </a:p>
        </p:txBody>
      </p:sp>
      <p:grpSp>
        <p:nvGrpSpPr>
          <p:cNvPr id="43" name="组合 42"/>
          <p:cNvGrpSpPr/>
          <p:nvPr/>
        </p:nvGrpSpPr>
        <p:grpSpPr>
          <a:xfrm>
            <a:off x="4929190" y="5465840"/>
            <a:ext cx="2052000" cy="1106382"/>
            <a:chOff x="4929190" y="5465840"/>
            <a:chExt cx="2052000" cy="1106382"/>
          </a:xfrm>
        </p:grpSpPr>
        <p:grpSp>
          <p:nvGrpSpPr>
            <p:cNvPr id="41" name="组合 40"/>
            <p:cNvGrpSpPr/>
            <p:nvPr/>
          </p:nvGrpSpPr>
          <p:grpSpPr>
            <a:xfrm>
              <a:off x="4929190" y="5465840"/>
              <a:ext cx="2052000" cy="717676"/>
              <a:chOff x="4929190" y="5465840"/>
              <a:chExt cx="2052000" cy="717676"/>
            </a:xfrm>
          </p:grpSpPr>
          <p:graphicFrame>
            <p:nvGraphicFramePr>
              <p:cNvPr id="654341" name="Object 5"/>
              <p:cNvGraphicFramePr>
                <a:graphicFrameLocks noChangeAspect="1"/>
              </p:cNvGraphicFramePr>
              <p:nvPr/>
            </p:nvGraphicFramePr>
            <p:xfrm>
              <a:off x="5072066" y="5465840"/>
              <a:ext cx="1571636" cy="717676"/>
            </p:xfrm>
            <a:graphic>
              <a:graphicData uri="http://schemas.openxmlformats.org/presentationml/2006/ole">
                <mc:AlternateContent xmlns:mc="http://schemas.openxmlformats.org/markup-compatibility/2006">
                  <mc:Choice xmlns:v="urn:schemas-microsoft-com:vml" Requires="v">
                    <p:oleObj spid="_x0000_s654344" name="Equation" r:id="rId8" imgW="1028520" imgH="469800" progId="Equation.DSMT4">
                      <p:embed/>
                    </p:oleObj>
                  </mc:Choice>
                  <mc:Fallback>
                    <p:oleObj name="Equation" r:id="rId8" imgW="1028520" imgH="46980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2066" y="5465840"/>
                            <a:ext cx="1571636" cy="717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7" name="直接箭头连接符 36"/>
              <p:cNvCxnSpPr/>
              <p:nvPr/>
            </p:nvCxnSpPr>
            <p:spPr bwMode="auto">
              <a:xfrm>
                <a:off x="4929190" y="6180220"/>
                <a:ext cx="2052000" cy="1588"/>
              </a:xfrm>
              <a:prstGeom prst="straightConnector1">
                <a:avLst/>
              </a:prstGeom>
              <a:solidFill>
                <a:schemeClr val="accent1"/>
              </a:solidFill>
              <a:ln w="28575" cap="flat" cmpd="sng" algn="ctr">
                <a:solidFill>
                  <a:srgbClr val="0033CC"/>
                </a:solidFill>
                <a:prstDash val="solid"/>
                <a:round/>
                <a:headEnd type="none" w="med" len="med"/>
                <a:tailEnd type="arrow"/>
              </a:ln>
              <a:effectLst/>
            </p:spPr>
          </p:cxnSp>
        </p:grpSp>
        <p:sp>
          <p:nvSpPr>
            <p:cNvPr id="42" name="TextBox 41"/>
            <p:cNvSpPr txBox="1"/>
            <p:nvPr/>
          </p:nvSpPr>
          <p:spPr>
            <a:xfrm>
              <a:off x="5251518" y="6202890"/>
              <a:ext cx="1107996" cy="369332"/>
            </a:xfrm>
            <a:prstGeom prst="rect">
              <a:avLst/>
            </a:prstGeom>
            <a:noFill/>
            <a:ln w="28575">
              <a:noFill/>
            </a:ln>
          </p:spPr>
          <p:txBody>
            <a:bodyPr wrap="none" rtlCol="0">
              <a:spAutoFit/>
            </a:bodyPr>
            <a:lstStyle/>
            <a:p>
              <a:r>
                <a:rPr lang="zh-CN" altLang="en-US" b="1">
                  <a:solidFill>
                    <a:srgbClr val="0033CC"/>
                  </a:solidFill>
                </a:rPr>
                <a:t>线弹性体</a:t>
              </a:r>
            </a:p>
          </p:txBody>
        </p:sp>
      </p:grpSp>
      <p:sp>
        <p:nvSpPr>
          <p:cNvPr id="44" name="矩形 43"/>
          <p:cNvSpPr/>
          <p:nvPr/>
        </p:nvSpPr>
        <p:spPr>
          <a:xfrm>
            <a:off x="6643702" y="5929330"/>
            <a:ext cx="1394934" cy="461665"/>
          </a:xfrm>
          <a:prstGeom prst="rect">
            <a:avLst/>
          </a:prstGeom>
        </p:spPr>
        <p:txBody>
          <a:bodyPr wrap="none">
            <a:spAutoFit/>
          </a:bodyPr>
          <a:lstStyle/>
          <a:p>
            <a:pPr marL="742950" lvl="1" indent="-285750" algn="just" fontAlgn="base">
              <a:lnSpc>
                <a:spcPct val="120000"/>
              </a:lnSpc>
              <a:spcBef>
                <a:spcPct val="20000"/>
              </a:spcBef>
              <a:spcAft>
                <a:spcPct val="0"/>
              </a:spcAft>
            </a:pP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21</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12</a:t>
            </a:r>
            <a:endParaRPr lang="zh-CN" altLang="en-US" sz="2000" b="1" baseline="-25000"/>
          </a:p>
        </p:txBody>
      </p:sp>
      <p:sp>
        <p:nvSpPr>
          <p:cNvPr id="47" name="矩形 46"/>
          <p:cNvSpPr/>
          <p:nvPr/>
        </p:nvSpPr>
        <p:spPr>
          <a:xfrm>
            <a:off x="6000760" y="3429000"/>
            <a:ext cx="2917337" cy="3956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42950" lvl="1" indent="-285750" algn="just" fontAlgn="base">
              <a:lnSpc>
                <a:spcPct val="120000"/>
              </a:lnSpc>
              <a:spcBef>
                <a:spcPct val="20000"/>
              </a:spcBef>
              <a:spcAft>
                <a:spcPct val="0"/>
              </a:spcAft>
            </a:pP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R11</a:t>
            </a:r>
            <a:r>
              <a:rPr lang="zh-CN" altLang="en-US" b="1">
                <a:solidFill>
                  <a:srgbClr val="0033CC"/>
                </a:solidFill>
                <a:latin typeface="Times New Roman" pitchFamily="18" charset="0"/>
                <a:cs typeface="Times New Roman" pitchFamily="18" charset="0"/>
              </a:rPr>
              <a:t>，</a:t>
            </a:r>
            <a:r>
              <a:rPr lang="en-US" altLang="zh-CN" b="1" i="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R22</a:t>
            </a:r>
            <a:r>
              <a:rPr lang="zh-CN" altLang="en-US" b="1">
                <a:solidFill>
                  <a:srgbClr val="0033CC"/>
                </a:solidFill>
                <a:latin typeface="Times New Roman" pitchFamily="18" charset="0"/>
                <a:cs typeface="Times New Roman" pitchFamily="18" charset="0"/>
              </a:rPr>
              <a:t> 的贡献呢？</a:t>
            </a:r>
            <a:endParaRPr lang="zh-CN" altLang="en-US" b="1" baseline="-25000">
              <a:solidFill>
                <a:srgbClr val="00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2551"/>
                                        </p:tgtEl>
                                        <p:attrNameLst>
                                          <p:attrName>style.visibility</p:attrName>
                                        </p:attrNameLst>
                                      </p:cBhvr>
                                      <p:to>
                                        <p:strVal val="visible"/>
                                      </p:to>
                                    </p:set>
                                    <p:animEffect transition="in" filter="wipe(left)">
                                      <p:cBhvr>
                                        <p:cTn id="7" dur="500"/>
                                        <p:tgtEl>
                                          <p:spTgt spid="49255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left)">
                                      <p:cBhvr>
                                        <p:cTn id="13" dur="500"/>
                                        <p:tgtEl>
                                          <p:spTgt spid="2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5"/>
                                        </p:tgtEl>
                                        <p:attrNameLst>
                                          <p:attrName>style.visibility</p:attrName>
                                        </p:attrNameLst>
                                      </p:cBhvr>
                                      <p:to>
                                        <p:strVal val="visible"/>
                                      </p:to>
                                    </p:set>
                                    <p:anim calcmode="lin" valueType="num">
                                      <p:cBhvr additive="base">
                                        <p:cTn id="21" dur="500" fill="hold"/>
                                        <p:tgtEl>
                                          <p:spTgt spid="85"/>
                                        </p:tgtEl>
                                        <p:attrNameLst>
                                          <p:attrName>ppt_x</p:attrName>
                                        </p:attrNameLst>
                                      </p:cBhvr>
                                      <p:tavLst>
                                        <p:tav tm="0">
                                          <p:val>
                                            <p:strVal val="#ppt_x"/>
                                          </p:val>
                                        </p:tav>
                                        <p:tav tm="100000">
                                          <p:val>
                                            <p:strVal val="#ppt_x"/>
                                          </p:val>
                                        </p:tav>
                                      </p:tavLst>
                                    </p:anim>
                                    <p:anim calcmode="lin" valueType="num">
                                      <p:cBhvr additive="base">
                                        <p:cTn id="22"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492550"/>
                                        </p:tgtEl>
                                        <p:attrNameLst>
                                          <p:attrName>style.visibility</p:attrName>
                                        </p:attrNameLst>
                                      </p:cBhvr>
                                      <p:to>
                                        <p:strVal val="visible"/>
                                      </p:to>
                                    </p:set>
                                    <p:animEffect transition="in" filter="strips(downRight)">
                                      <p:cBhvr>
                                        <p:cTn id="33" dur="500"/>
                                        <p:tgtEl>
                                          <p:spTgt spid="49255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left)">
                                      <p:cBhvr>
                                        <p:cTn id="36" dur="500"/>
                                        <p:tgtEl>
                                          <p:spTgt spid="29"/>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ppt_x"/>
                                          </p:val>
                                        </p:tav>
                                        <p:tav tm="100000">
                                          <p:val>
                                            <p:strVal val="#ppt_x"/>
                                          </p:val>
                                        </p:tav>
                                      </p:tavLst>
                                    </p:anim>
                                    <p:anim calcmode="lin" valueType="num">
                                      <p:cBhvr additive="base">
                                        <p:cTn id="4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left)">
                                      <p:cBhvr>
                                        <p:cTn id="53" dur="500"/>
                                        <p:tgtEl>
                                          <p:spTgt spid="4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left)">
                                      <p:cBhvr>
                                        <p:cTn id="58" dur="500"/>
                                        <p:tgtEl>
                                          <p:spTgt spid="44"/>
                                        </p:tgtEl>
                                      </p:cBhvr>
                                    </p:animEffect>
                                  </p:childTnLst>
                                </p:cTn>
                              </p:par>
                            </p:childTnLst>
                          </p:cTn>
                        </p:par>
                        <p:par>
                          <p:cTn id="59" fill="hold">
                            <p:stCondLst>
                              <p:cond delay="500"/>
                            </p:stCondLst>
                            <p:childTnLst>
                              <p:par>
                                <p:cTn id="60" presetID="2" presetClass="entr" presetSubtype="4" fill="hold" grpId="0" nodeType="after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additive="base">
                                        <p:cTn id="62" dur="500" fill="hold"/>
                                        <p:tgtEl>
                                          <p:spTgt spid="33"/>
                                        </p:tgtEl>
                                        <p:attrNameLst>
                                          <p:attrName>ppt_x</p:attrName>
                                        </p:attrNameLst>
                                      </p:cBhvr>
                                      <p:tavLst>
                                        <p:tav tm="0">
                                          <p:val>
                                            <p:strVal val="#ppt_x"/>
                                          </p:val>
                                        </p:tav>
                                        <p:tav tm="100000">
                                          <p:val>
                                            <p:strVal val="#ppt_x"/>
                                          </p:val>
                                        </p:tav>
                                      </p:tavLst>
                                    </p:anim>
                                    <p:anim calcmode="lin" valueType="num">
                                      <p:cBhvr additive="base">
                                        <p:cTn id="63" dur="500" fill="hold"/>
                                        <p:tgtEl>
                                          <p:spTgt spid="33"/>
                                        </p:tgtEl>
                                        <p:attrNameLst>
                                          <p:attrName>ppt_y</p:attrName>
                                        </p:attrNameLst>
                                      </p:cBhvr>
                                      <p:tavLst>
                                        <p:tav tm="0">
                                          <p:val>
                                            <p:strVal val="1+#ppt_h/2"/>
                                          </p:val>
                                        </p:tav>
                                        <p:tav tm="100000">
                                          <p:val>
                                            <p:strVal val="#ppt_y"/>
                                          </p:val>
                                        </p:tav>
                                      </p:tavLst>
                                    </p:anim>
                                  </p:childTnLst>
                                </p:cTn>
                              </p:par>
                            </p:childTnLst>
                          </p:cTn>
                        </p:par>
                        <p:par>
                          <p:cTn id="64" fill="hold">
                            <p:stCondLst>
                              <p:cond delay="1000"/>
                            </p:stCondLst>
                            <p:childTnLst>
                              <p:par>
                                <p:cTn id="65" presetID="2" presetClass="entr" presetSubtype="2" fill="hold" grpId="0" nodeType="afterEffect">
                                  <p:stCondLst>
                                    <p:cond delay="0"/>
                                  </p:stCondLst>
                                  <p:childTnLst>
                                    <p:set>
                                      <p:cBhvr>
                                        <p:cTn id="66" dur="1" fill="hold">
                                          <p:stCondLst>
                                            <p:cond delay="0"/>
                                          </p:stCondLst>
                                        </p:cTn>
                                        <p:tgtEl>
                                          <p:spTgt spid="47"/>
                                        </p:tgtEl>
                                        <p:attrNameLst>
                                          <p:attrName>style.visibility</p:attrName>
                                        </p:attrNameLst>
                                      </p:cBhvr>
                                      <p:to>
                                        <p:strVal val="visible"/>
                                      </p:to>
                                    </p:set>
                                    <p:anim calcmode="lin" valueType="num">
                                      <p:cBhvr additive="base">
                                        <p:cTn id="67" dur="500" fill="hold"/>
                                        <p:tgtEl>
                                          <p:spTgt spid="47"/>
                                        </p:tgtEl>
                                        <p:attrNameLst>
                                          <p:attrName>ppt_x</p:attrName>
                                        </p:attrNameLst>
                                      </p:cBhvr>
                                      <p:tavLst>
                                        <p:tav tm="0">
                                          <p:val>
                                            <p:strVal val="1+#ppt_w/2"/>
                                          </p:val>
                                        </p:tav>
                                        <p:tav tm="100000">
                                          <p:val>
                                            <p:strVal val="#ppt_x"/>
                                          </p:val>
                                        </p:tav>
                                      </p:tavLst>
                                    </p:anim>
                                    <p:anim calcmode="lin" valueType="num">
                                      <p:cBhvr additive="base">
                                        <p:cTn id="68"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20" grpId="0" animBg="1"/>
      <p:bldP spid="22" grpId="0" animBg="1"/>
      <p:bldP spid="23" grpId="0" animBg="1"/>
      <p:bldP spid="24" grpId="0"/>
      <p:bldP spid="29" grpId="0" animBg="1"/>
      <p:bldP spid="30" grpId="0" animBg="1"/>
      <p:bldP spid="32" grpId="0" animBg="1"/>
      <p:bldP spid="33" grpId="0" animBg="1"/>
      <p:bldP spid="34" grpId="0"/>
      <p:bldP spid="44" grpId="0"/>
      <p:bldP spid="47"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反力互等定理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85" name="Rectangle 6"/>
          <p:cNvSpPr>
            <a:spLocks noChangeArrowheads="1"/>
          </p:cNvSpPr>
          <p:nvPr/>
        </p:nvSpPr>
        <p:spPr bwMode="auto">
          <a:xfrm>
            <a:off x="469540" y="1831964"/>
            <a:ext cx="8245864"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注意：反力互等定理也适用于其他广义力的互等。</a:t>
            </a:r>
          </a:p>
        </p:txBody>
      </p:sp>
      <p:sp>
        <p:nvSpPr>
          <p:cNvPr id="27" name="Rectangle 6"/>
          <p:cNvSpPr>
            <a:spLocks noChangeArrowheads="1"/>
          </p:cNvSpPr>
          <p:nvPr/>
        </p:nvSpPr>
        <p:spPr bwMode="auto">
          <a:xfrm>
            <a:off x="928662" y="2363924"/>
            <a:ext cx="7786742" cy="400110"/>
          </a:xfrm>
          <a:prstGeom prst="rect">
            <a:avLst/>
          </a:prstGeom>
          <a:noFill/>
          <a:ln w="9525">
            <a:noFill/>
            <a:miter lim="800000"/>
            <a:headEnd/>
            <a:tailEnd/>
          </a:ln>
        </p:spPr>
        <p:txBody>
          <a:bodyPr wrap="square">
            <a:spAutoFit/>
          </a:bodyPr>
          <a:lstStyle/>
          <a:p>
            <a:pPr fontAlgn="base">
              <a:spcBef>
                <a:spcPct val="0"/>
              </a:spcBef>
              <a:spcAft>
                <a:spcPct val="0"/>
              </a:spcAft>
            </a:pPr>
            <a:r>
              <a:rPr kumimoji="1" lang="zh-CN" altLang="en-US" sz="2000" b="1">
                <a:solidFill>
                  <a:srgbClr val="000000"/>
                </a:solidFill>
                <a:latin typeface="宋体" charset="-122"/>
                <a:ea typeface="楷体_GB2312" pitchFamily="49" charset="-122"/>
              </a:rPr>
              <a:t>例：</a:t>
            </a:r>
            <a:r>
              <a:rPr kumimoji="1" lang="zh-CN" altLang="en-US" sz="2000" b="1">
                <a:solidFill>
                  <a:srgbClr val="000000"/>
                </a:solidFill>
                <a:latin typeface="Times New Roman" pitchFamily="18" charset="0"/>
                <a:ea typeface="楷体_GB2312" pitchFamily="49" charset="-122"/>
              </a:rPr>
              <a:t> </a:t>
            </a:r>
            <a:r>
              <a:rPr kumimoji="1" lang="en-US" altLang="zh-CN" sz="2000" b="1" i="1">
                <a:solidFill>
                  <a:srgbClr val="000000"/>
                </a:solidFill>
                <a:latin typeface="Times New Roman" pitchFamily="18" charset="0"/>
                <a:ea typeface="宋体" charset="-122"/>
              </a:rPr>
              <a:t>k</a:t>
            </a:r>
            <a:r>
              <a:rPr kumimoji="1" lang="en-US" altLang="zh-CN" sz="2000" b="1" baseline="-25000">
                <a:solidFill>
                  <a:srgbClr val="000000"/>
                </a:solidFill>
                <a:latin typeface="Times New Roman" pitchFamily="18" charset="0"/>
                <a:ea typeface="宋体" charset="-122"/>
              </a:rPr>
              <a:t>12</a:t>
            </a:r>
            <a:r>
              <a:rPr kumimoji="1" lang="en-US" altLang="zh-CN" sz="2000" b="1">
                <a:solidFill>
                  <a:srgbClr val="000000"/>
                </a:solidFill>
                <a:latin typeface="Times New Roman" pitchFamily="18" charset="0"/>
                <a:ea typeface="楷体_GB2312" pitchFamily="49" charset="-122"/>
              </a:rPr>
              <a:t> </a:t>
            </a:r>
            <a:r>
              <a:rPr kumimoji="1" lang="zh-CN" altLang="en-US" sz="2000" b="1">
                <a:solidFill>
                  <a:srgbClr val="000000"/>
                </a:solidFill>
                <a:latin typeface="宋体" charset="-122"/>
                <a:ea typeface="楷体_GB2312" pitchFamily="49" charset="-122"/>
              </a:rPr>
              <a:t>是反力矩，</a:t>
            </a:r>
            <a:r>
              <a:rPr kumimoji="1" lang="en-US" altLang="zh-CN" sz="2000" b="1" i="1">
                <a:solidFill>
                  <a:srgbClr val="000000"/>
                </a:solidFill>
                <a:latin typeface="宋体" charset="-122"/>
                <a:ea typeface="宋体" charset="-122"/>
              </a:rPr>
              <a:t>k</a:t>
            </a:r>
            <a:r>
              <a:rPr kumimoji="1" lang="en-US" altLang="zh-CN" sz="2000" b="1" baseline="-25000">
                <a:solidFill>
                  <a:srgbClr val="000000"/>
                </a:solidFill>
                <a:latin typeface="Times New Roman" pitchFamily="18" charset="0"/>
                <a:ea typeface="宋体" charset="-122"/>
              </a:rPr>
              <a:t>21</a:t>
            </a:r>
            <a:r>
              <a:rPr kumimoji="1" lang="zh-CN" altLang="en-US" sz="2000" b="1">
                <a:solidFill>
                  <a:srgbClr val="000000"/>
                </a:solidFill>
                <a:latin typeface="宋体" charset="-122"/>
                <a:ea typeface="楷体_GB2312" pitchFamily="49" charset="-122"/>
              </a:rPr>
              <a:t>是反力，两者互等只是数值上互</a:t>
            </a:r>
            <a:r>
              <a:rPr kumimoji="1" lang="zh-CN" altLang="en-US" sz="2000" b="1">
                <a:solidFill>
                  <a:srgbClr val="000000"/>
                </a:solidFill>
                <a:latin typeface="楷体_GB2312" pitchFamily="49" charset="-122"/>
                <a:ea typeface="楷体_GB2312" pitchFamily="49" charset="-122"/>
              </a:rPr>
              <a:t>等。</a:t>
            </a:r>
            <a:r>
              <a:rPr kumimoji="1" lang="zh-CN" altLang="en-US" sz="2000">
                <a:solidFill>
                  <a:srgbClr val="000000"/>
                </a:solidFill>
                <a:latin typeface="宋体" charset="-122"/>
                <a:ea typeface="宋体" charset="-122"/>
              </a:rPr>
              <a:t> </a:t>
            </a:r>
          </a:p>
        </p:txBody>
      </p:sp>
      <p:graphicFrame>
        <p:nvGraphicFramePr>
          <p:cNvPr id="496648" name="Object 8"/>
          <p:cNvGraphicFramePr>
            <a:graphicFrameLocks noGrp="1" noChangeAspect="1"/>
          </p:cNvGraphicFramePr>
          <p:nvPr/>
        </p:nvGraphicFramePr>
        <p:xfrm>
          <a:off x="1655763" y="2557471"/>
          <a:ext cx="6400800" cy="2085975"/>
        </p:xfrm>
        <a:graphic>
          <a:graphicData uri="http://schemas.openxmlformats.org/presentationml/2006/ole">
            <mc:AlternateContent xmlns:mc="http://schemas.openxmlformats.org/markup-compatibility/2006">
              <mc:Choice xmlns:v="urn:schemas-microsoft-com:vml" Requires="v">
                <p:oleObj spid="_x0000_s656390" name="AutoCAD Drawing" r:id="rId4" imgW="6400800" imgH="2085840" progId="">
                  <p:embed/>
                </p:oleObj>
              </mc:Choice>
              <mc:Fallback>
                <p:oleObj name="AutoCAD Drawing" r:id="rId4" imgW="6400800" imgH="2085840" progId="">
                  <p:embed/>
                  <p:pic>
                    <p:nvPicPr>
                      <p:cNvPr id="0" name="Object 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5763" y="2557471"/>
                        <a:ext cx="64008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Box 27"/>
          <p:cNvSpPr txBox="1"/>
          <p:nvPr/>
        </p:nvSpPr>
        <p:spPr>
          <a:xfrm>
            <a:off x="928662" y="4957716"/>
            <a:ext cx="4801314" cy="400110"/>
          </a:xfrm>
          <a:prstGeom prst="rect">
            <a:avLst/>
          </a:prstGeom>
          <a:noFill/>
          <a:ln w="28575">
            <a:noFill/>
          </a:ln>
        </p:spPr>
        <p:txBody>
          <a:bodyPr wrap="none" rtlCol="0">
            <a:spAutoFit/>
          </a:bodyPr>
          <a:lstStyle/>
          <a:p>
            <a:r>
              <a:rPr lang="zh-CN" altLang="en-US" sz="2000" b="1">
                <a:solidFill>
                  <a:srgbClr val="0033CC"/>
                </a:solidFill>
              </a:rPr>
              <a:t>思考：静定结构、非静定结构都适用吗？</a:t>
            </a:r>
          </a:p>
        </p:txBody>
      </p:sp>
      <p:sp>
        <p:nvSpPr>
          <p:cNvPr id="31" name="矩形 30"/>
          <p:cNvSpPr/>
          <p:nvPr/>
        </p:nvSpPr>
        <p:spPr>
          <a:xfrm>
            <a:off x="4286248" y="4286256"/>
            <a:ext cx="1034257" cy="400110"/>
          </a:xfrm>
          <a:prstGeom prst="rect">
            <a:avLst/>
          </a:prstGeom>
        </p:spPr>
        <p:txBody>
          <a:bodyPr wrap="none">
            <a:spAutoFit/>
          </a:bodyPr>
          <a:lstStyle/>
          <a:p>
            <a:r>
              <a:rPr kumimoji="1" lang="en-US" altLang="zh-CN" sz="2000" b="1" i="1">
                <a:solidFill>
                  <a:srgbClr val="000000"/>
                </a:solidFill>
                <a:latin typeface="Times New Roman" pitchFamily="18" charset="0"/>
                <a:ea typeface="宋体" charset="-122"/>
              </a:rPr>
              <a:t>k</a:t>
            </a:r>
            <a:r>
              <a:rPr kumimoji="1" lang="en-US" altLang="zh-CN" sz="2000" b="1" baseline="-25000">
                <a:solidFill>
                  <a:srgbClr val="000000"/>
                </a:solidFill>
                <a:latin typeface="Times New Roman" pitchFamily="18" charset="0"/>
                <a:ea typeface="宋体" charset="-122"/>
              </a:rPr>
              <a:t>21 </a:t>
            </a:r>
            <a:r>
              <a:rPr kumimoji="1" lang="en-US" altLang="zh-CN" sz="2000" b="1">
                <a:solidFill>
                  <a:srgbClr val="000000"/>
                </a:solidFill>
                <a:latin typeface="Times New Roman" pitchFamily="18" charset="0"/>
                <a:ea typeface="宋体" charset="-122"/>
              </a:rPr>
              <a:t>= </a:t>
            </a:r>
            <a:r>
              <a:rPr kumimoji="1" lang="en-US" altLang="zh-CN" sz="2000" b="1" i="1">
                <a:solidFill>
                  <a:srgbClr val="000000"/>
                </a:solidFill>
                <a:latin typeface="Times New Roman" pitchFamily="18" charset="0"/>
                <a:ea typeface="宋体" charset="-122"/>
              </a:rPr>
              <a:t>k</a:t>
            </a:r>
            <a:r>
              <a:rPr kumimoji="1" lang="en-US" altLang="zh-CN" sz="2000" b="1" baseline="-25000">
                <a:solidFill>
                  <a:srgbClr val="000000"/>
                </a:solidFill>
                <a:latin typeface="Times New Roman" pitchFamily="18" charset="0"/>
                <a:ea typeface="宋体" charset="-122"/>
              </a:rPr>
              <a:t>12</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96648"/>
                                        </p:tgtEl>
                                        <p:attrNameLst>
                                          <p:attrName>style.visibility</p:attrName>
                                        </p:attrNameLst>
                                      </p:cBhvr>
                                      <p:to>
                                        <p:strVal val="visible"/>
                                      </p:to>
                                    </p:set>
                                    <p:animEffect transition="in" filter="wipe(left)">
                                      <p:cBhvr>
                                        <p:cTn id="19" dur="1000"/>
                                        <p:tgtEl>
                                          <p:spTgt spid="49664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10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27" grpId="0"/>
      <p:bldP spid="28" grpId="0"/>
      <p:bldP spid="31"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位移反力互等定理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pic>
        <p:nvPicPr>
          <p:cNvPr id="657415" name="Picture 7"/>
          <p:cNvPicPr>
            <a:picLocks noChangeAspect="1" noChangeArrowheads="1"/>
          </p:cNvPicPr>
          <p:nvPr/>
        </p:nvPicPr>
        <p:blipFill>
          <a:blip r:embed="rId4"/>
          <a:srcRect/>
          <a:stretch>
            <a:fillRect/>
          </a:stretch>
        </p:blipFill>
        <p:spPr bwMode="auto">
          <a:xfrm>
            <a:off x="5786446" y="1500174"/>
            <a:ext cx="2788387" cy="2357454"/>
          </a:xfrm>
          <a:prstGeom prst="rect">
            <a:avLst/>
          </a:prstGeom>
          <a:noFill/>
          <a:ln w="9525">
            <a:noFill/>
            <a:miter lim="800000"/>
            <a:headEnd/>
            <a:tailEnd/>
          </a:ln>
          <a:effectLst/>
        </p:spPr>
      </p:pic>
      <p:sp>
        <p:nvSpPr>
          <p:cNvPr id="12" name="Rectangle 6"/>
          <p:cNvSpPr>
            <a:spLocks noChangeArrowheads="1"/>
          </p:cNvSpPr>
          <p:nvPr/>
        </p:nvSpPr>
        <p:spPr bwMode="auto">
          <a:xfrm>
            <a:off x="469540" y="1785926"/>
            <a:ext cx="8245864" cy="1323439"/>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状态 </a:t>
            </a:r>
            <a:r>
              <a:rPr lang="en-US" altLang="zh-CN" sz="2000" b="1">
                <a:latin typeface="Times New Roman" pitchFamily="18" charset="0"/>
                <a:cs typeface="Times New Roman" pitchFamily="18" charset="0"/>
              </a:rPr>
              <a:t>I</a:t>
            </a:r>
            <a:r>
              <a:rPr lang="zh-CN" altLang="en-US" sz="2000" b="1"/>
              <a:t>荷载</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zh-CN" altLang="en-US" sz="2000" b="1"/>
              <a:t>，</a:t>
            </a:r>
            <a:r>
              <a:rPr lang="zh-CN" altLang="en-US" sz="2000" b="1">
                <a:latin typeface="Times New Roman" pitchFamily="18" charset="0"/>
                <a:cs typeface="Times New Roman" pitchFamily="18" charset="0"/>
              </a:rPr>
              <a:t>状态</a:t>
            </a:r>
            <a:r>
              <a:rPr lang="en-US" altLang="zh-CN" sz="2000" b="1">
                <a:latin typeface="Times New Roman" pitchFamily="18" charset="0"/>
                <a:cs typeface="Times New Roman" pitchFamily="18" charset="0"/>
              </a:rPr>
              <a:t>Ⅱ</a:t>
            </a:r>
            <a:r>
              <a:rPr lang="zh-CN" altLang="en-US" sz="2000" b="1">
                <a:latin typeface="Times New Roman" pitchFamily="18" charset="0"/>
                <a:cs typeface="Times New Roman" pitchFamily="18" charset="0"/>
              </a:rPr>
              <a:t>支座位移</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a:t>
            </a:r>
            <a:r>
              <a:rPr lang="zh-CN" altLang="en-US" sz="2000" b="1"/>
              <a:t>；</a:t>
            </a:r>
            <a:endParaRPr lang="en-US" altLang="zh-CN" sz="2000" b="1"/>
          </a:p>
          <a:p>
            <a:pPr marL="742950" lvl="1" indent="-285750" algn="just" fontAlgn="base">
              <a:lnSpc>
                <a:spcPct val="120000"/>
              </a:lnSpc>
              <a:spcBef>
                <a:spcPct val="20000"/>
              </a:spcBef>
              <a:spcAft>
                <a:spcPct val="0"/>
              </a:spcAft>
            </a:pPr>
            <a:r>
              <a:rPr lang="en-US" altLang="zh-CN" sz="2000" b="1"/>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R21</a:t>
            </a:r>
            <a:r>
              <a:rPr lang="zh-CN" altLang="en-US" sz="2000" b="1"/>
              <a:t>为</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zh-CN" altLang="en-US" sz="2000" b="1"/>
              <a:t>引起的与 </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相应的反力；</a:t>
            </a:r>
            <a:endParaRPr lang="en-US" altLang="zh-CN" sz="2000" b="1"/>
          </a:p>
          <a:p>
            <a:pPr marL="742950" lvl="1" indent="-285750" algn="just" fontAlgn="base">
              <a:lnSpc>
                <a:spcPct val="120000"/>
              </a:lnSpc>
              <a:spcBef>
                <a:spcPct val="20000"/>
              </a:spcBef>
              <a:spcAft>
                <a:spcPct val="0"/>
              </a:spcAft>
            </a:pPr>
            <a:r>
              <a:rPr lang="en-US" altLang="zh-CN" sz="2000" b="1" i="1">
                <a:solidFill>
                  <a:srgbClr val="C00000"/>
                </a:solidFill>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12  </a:t>
            </a:r>
            <a:r>
              <a:rPr lang="zh-CN" altLang="en-US" sz="2000" b="1"/>
              <a:t>为 </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 </a:t>
            </a:r>
            <a:r>
              <a:rPr lang="zh-CN" altLang="en-US" sz="2000" b="1"/>
              <a:t>引起的与</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zh-CN" altLang="en-US" sz="2000" b="1">
                <a:latin typeface="Times New Roman" pitchFamily="18" charset="0"/>
                <a:cs typeface="Times New Roman" pitchFamily="18" charset="0"/>
              </a:rPr>
              <a:t>相应的位移；</a:t>
            </a:r>
            <a:endParaRPr lang="en-US" altLang="zh-CN" sz="2000" b="1">
              <a:latin typeface="Times New Roman" pitchFamily="18" charset="0"/>
              <a:cs typeface="Times New Roman" pitchFamily="18" charset="0"/>
            </a:endParaRPr>
          </a:p>
        </p:txBody>
      </p:sp>
      <p:sp>
        <p:nvSpPr>
          <p:cNvPr id="13" name="矩形 12"/>
          <p:cNvSpPr/>
          <p:nvPr/>
        </p:nvSpPr>
        <p:spPr>
          <a:xfrm>
            <a:off x="463534" y="3181649"/>
            <a:ext cx="5037159" cy="461665"/>
          </a:xfrm>
          <a:prstGeom prst="rect">
            <a:avLst/>
          </a:prstGeom>
        </p:spPr>
        <p:txBody>
          <a:bodyPr wrap="square">
            <a:spAutoFit/>
          </a:bodyPr>
          <a:lstStyle/>
          <a:p>
            <a:pPr marL="742950" lvl="1" indent="-285750" algn="just" fontAlgn="base">
              <a:lnSpc>
                <a:spcPct val="120000"/>
              </a:lnSpc>
              <a:spcBef>
                <a:spcPct val="20000"/>
              </a:spcBef>
              <a:spcAft>
                <a:spcPct val="0"/>
              </a:spcAft>
            </a:pPr>
            <a:r>
              <a:rPr lang="zh-CN" altLang="en-US" sz="2000" b="1">
                <a:latin typeface="Times New Roman" pitchFamily="18" charset="0"/>
                <a:cs typeface="Times New Roman" pitchFamily="18" charset="0"/>
              </a:rPr>
              <a:t>由功的互等定理：</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Δ</a:t>
            </a:r>
            <a:r>
              <a:rPr lang="en-US" altLang="zh-CN" sz="2000" b="1" baseline="-25000">
                <a:latin typeface="Times New Roman" pitchFamily="18" charset="0"/>
                <a:cs typeface="Times New Roman" pitchFamily="18" charset="0"/>
              </a:rPr>
              <a:t>12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R21</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baseline="-25000">
                <a:latin typeface="Times New Roman" pitchFamily="18" charset="0"/>
                <a:cs typeface="Times New Roman" pitchFamily="18" charset="0"/>
              </a:rPr>
              <a:t>2 </a:t>
            </a:r>
            <a:r>
              <a:rPr lang="en-US" altLang="zh-CN" sz="2000" b="1">
                <a:latin typeface="Times New Roman" pitchFamily="18" charset="0"/>
                <a:cs typeface="Times New Roman" pitchFamily="18" charset="0"/>
              </a:rPr>
              <a:t>= 0</a:t>
            </a:r>
            <a:endParaRPr lang="zh-CN" altLang="en-US" sz="2000" b="1"/>
          </a:p>
        </p:txBody>
      </p:sp>
      <p:sp>
        <p:nvSpPr>
          <p:cNvPr id="14" name="Rectangle 6"/>
          <p:cNvSpPr>
            <a:spLocks noChangeArrowheads="1"/>
          </p:cNvSpPr>
          <p:nvPr/>
        </p:nvSpPr>
        <p:spPr bwMode="auto">
          <a:xfrm>
            <a:off x="469540" y="3681715"/>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线弹性体系：</a:t>
            </a:r>
            <a:endParaRPr lang="zh-CN" altLang="en-US" sz="2000" b="1"/>
          </a:p>
        </p:txBody>
      </p:sp>
      <p:graphicFrame>
        <p:nvGraphicFramePr>
          <p:cNvPr id="15" name="Object 7"/>
          <p:cNvGraphicFramePr>
            <a:graphicFrameLocks noChangeAspect="1"/>
          </p:cNvGraphicFramePr>
          <p:nvPr/>
        </p:nvGraphicFramePr>
        <p:xfrm>
          <a:off x="1428728" y="4143380"/>
          <a:ext cx="3971925" cy="722312"/>
        </p:xfrm>
        <a:graphic>
          <a:graphicData uri="http://schemas.openxmlformats.org/presentationml/2006/ole">
            <mc:AlternateContent xmlns:mc="http://schemas.openxmlformats.org/markup-compatibility/2006">
              <mc:Choice xmlns:v="urn:schemas-microsoft-com:vml" Requires="v">
                <p:oleObj spid="_x0000_s657417" name="Equation" r:id="rId5" imgW="2374560" imgH="431640" progId="Equation.DSMT4">
                  <p:embed/>
                </p:oleObj>
              </mc:Choice>
              <mc:Fallback>
                <p:oleObj name="Equation" r:id="rId5" imgW="2374560" imgH="43164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28" y="4143380"/>
                        <a:ext cx="3971925" cy="72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Box 15"/>
          <p:cNvSpPr txBox="1"/>
          <p:nvPr/>
        </p:nvSpPr>
        <p:spPr>
          <a:xfrm>
            <a:off x="4572000" y="3571876"/>
            <a:ext cx="1338828" cy="369332"/>
          </a:xfrm>
          <a:prstGeom prst="rect">
            <a:avLst/>
          </a:prstGeom>
          <a:noFill/>
          <a:ln w="28575">
            <a:noFill/>
          </a:ln>
        </p:spPr>
        <p:txBody>
          <a:bodyPr wrap="none" rtlCol="0">
            <a:spAutoFit/>
          </a:bodyPr>
          <a:lstStyle/>
          <a:p>
            <a:r>
              <a:rPr lang="zh-CN" altLang="en-US" b="1">
                <a:solidFill>
                  <a:srgbClr val="0033CC"/>
                </a:solidFill>
              </a:rPr>
              <a:t>怎么来的？</a:t>
            </a:r>
          </a:p>
        </p:txBody>
      </p:sp>
      <p:sp>
        <p:nvSpPr>
          <p:cNvPr id="17" name="Rectangle 6"/>
          <p:cNvSpPr>
            <a:spLocks noChangeArrowheads="1"/>
          </p:cNvSpPr>
          <p:nvPr/>
        </p:nvSpPr>
        <p:spPr bwMode="auto">
          <a:xfrm>
            <a:off x="469540" y="4847393"/>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故                            </a:t>
            </a:r>
            <a:r>
              <a:rPr lang="el-GR" altLang="zh-CN" sz="2000" b="1" i="1">
                <a:solidFill>
                  <a:srgbClr val="C00000"/>
                </a:solidFill>
                <a:latin typeface="Times New Roman" pitchFamily="18" charset="0"/>
                <a:cs typeface="Times New Roman" pitchFamily="18" charset="0"/>
              </a:rPr>
              <a:t>δ</a:t>
            </a:r>
            <a:r>
              <a:rPr lang="en-US" altLang="zh-CN" sz="2000" b="1" i="1">
                <a:solidFill>
                  <a:srgbClr val="C00000"/>
                </a:solidFill>
                <a:latin typeface="Times New Roman" pitchFamily="18" charset="0"/>
                <a:cs typeface="Times New Roman" pitchFamily="18" charset="0"/>
              </a:rPr>
              <a:t>'</a:t>
            </a:r>
            <a:r>
              <a:rPr lang="en-US" altLang="zh-CN" sz="2000" b="1" baseline="-25000">
                <a:solidFill>
                  <a:srgbClr val="C00000"/>
                </a:solidFill>
                <a:latin typeface="Times New Roman" pitchFamily="18" charset="0"/>
                <a:cs typeface="Times New Roman" pitchFamily="18" charset="0"/>
              </a:rPr>
              <a:t>12</a:t>
            </a:r>
            <a:r>
              <a:rPr lang="en-US" altLang="zh-CN" sz="2000" b="1" i="1" baseline="-25000">
                <a:solidFill>
                  <a:srgbClr val="C00000"/>
                </a:solidFill>
                <a:latin typeface="Times New Roman" pitchFamily="18" charset="0"/>
                <a:cs typeface="Times New Roman" pitchFamily="18" charset="0"/>
              </a:rPr>
              <a:t> </a:t>
            </a:r>
            <a:r>
              <a:rPr lang="en-US" altLang="zh-CN" sz="2000" b="1">
                <a:solidFill>
                  <a:srgbClr val="C00000"/>
                </a:solidFill>
                <a:latin typeface="Times New Roman" pitchFamily="18" charset="0"/>
                <a:cs typeface="Times New Roman" pitchFamily="18" charset="0"/>
              </a:rPr>
              <a:t>= </a:t>
            </a:r>
            <a:r>
              <a:rPr lang="en-US" altLang="zh-CN" sz="2000" b="1">
                <a:solidFill>
                  <a:srgbClr val="C00000"/>
                </a:solidFill>
                <a:latin typeface="+mn-ea"/>
                <a:cs typeface="Times New Roman" pitchFamily="18" charset="0"/>
              </a:rPr>
              <a:t>-</a:t>
            </a:r>
            <a:r>
              <a:rPr lang="en-US" altLang="zh-CN" sz="2000" b="1">
                <a:solidFill>
                  <a:srgbClr val="C00000"/>
                </a:solidFill>
                <a:latin typeface="Times New Roman" pitchFamily="18" charset="0"/>
                <a:cs typeface="Times New Roman" pitchFamily="18" charset="0"/>
              </a:rPr>
              <a:t> </a:t>
            </a:r>
            <a:r>
              <a:rPr lang="en-US" altLang="zh-CN" sz="2000" b="1" i="1">
                <a:solidFill>
                  <a:srgbClr val="C00000"/>
                </a:solidFill>
                <a:latin typeface="Times New Roman" pitchFamily="18" charset="0"/>
                <a:cs typeface="Times New Roman" pitchFamily="18" charset="0"/>
              </a:rPr>
              <a:t>r'</a:t>
            </a:r>
            <a:r>
              <a:rPr lang="en-US" altLang="zh-CN" sz="2000" b="1" baseline="-25000">
                <a:solidFill>
                  <a:srgbClr val="C00000"/>
                </a:solidFill>
                <a:latin typeface="Times New Roman" pitchFamily="18" charset="0"/>
                <a:cs typeface="Times New Roman" pitchFamily="18" charset="0"/>
              </a:rPr>
              <a:t>21</a:t>
            </a:r>
            <a:endParaRPr lang="zh-CN" altLang="en-US" sz="2000" b="1" baseline="-25000">
              <a:solidFill>
                <a:srgbClr val="C00000"/>
              </a:solidFill>
            </a:endParaRPr>
          </a:p>
        </p:txBody>
      </p:sp>
      <p:sp>
        <p:nvSpPr>
          <p:cNvPr id="18" name="TextBox 17"/>
          <p:cNvSpPr txBox="1"/>
          <p:nvPr/>
        </p:nvSpPr>
        <p:spPr>
          <a:xfrm>
            <a:off x="6143636" y="4908948"/>
            <a:ext cx="2236510" cy="400110"/>
          </a:xfrm>
          <a:prstGeom prst="rect">
            <a:avLst/>
          </a:prstGeom>
          <a:noFill/>
          <a:ln w="28575">
            <a:solidFill>
              <a:srgbClr val="C00000"/>
            </a:solidFill>
          </a:ln>
        </p:spPr>
        <p:txBody>
          <a:bodyPr wrap="none" rtlCol="0">
            <a:spAutoFit/>
          </a:bodyPr>
          <a:lstStyle/>
          <a:p>
            <a:r>
              <a:rPr lang="zh-CN" altLang="en-US" sz="2000" b="1">
                <a:solidFill>
                  <a:srgbClr val="C00000"/>
                </a:solidFill>
              </a:rPr>
              <a:t>位移反力互等定理</a:t>
            </a:r>
          </a:p>
        </p:txBody>
      </p:sp>
      <p:sp>
        <p:nvSpPr>
          <p:cNvPr id="19" name="TextBox 18"/>
          <p:cNvSpPr txBox="1"/>
          <p:nvPr/>
        </p:nvSpPr>
        <p:spPr>
          <a:xfrm>
            <a:off x="6286512" y="4523240"/>
            <a:ext cx="1107996" cy="369332"/>
          </a:xfrm>
          <a:prstGeom prst="rect">
            <a:avLst/>
          </a:prstGeom>
          <a:noFill/>
          <a:ln w="28575">
            <a:noFill/>
          </a:ln>
        </p:spPr>
        <p:txBody>
          <a:bodyPr wrap="none" rtlCol="0">
            <a:spAutoFit/>
          </a:bodyPr>
          <a:lstStyle/>
          <a:p>
            <a:r>
              <a:rPr lang="zh-CN" altLang="en-US" b="1">
                <a:solidFill>
                  <a:srgbClr val="0033CC"/>
                </a:solidFill>
              </a:rPr>
              <a:t>注意负号</a:t>
            </a:r>
          </a:p>
        </p:txBody>
      </p:sp>
      <p:sp>
        <p:nvSpPr>
          <p:cNvPr id="20" name="Rectangle 6"/>
          <p:cNvSpPr>
            <a:spLocks noChangeArrowheads="1"/>
          </p:cNvSpPr>
          <p:nvPr/>
        </p:nvSpPr>
        <p:spPr bwMode="auto">
          <a:xfrm>
            <a:off x="463458" y="5253351"/>
            <a:ext cx="8245864" cy="46166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P1</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 c</a:t>
            </a:r>
            <a:r>
              <a:rPr lang="en-US" altLang="zh-CN" sz="2000" b="1" baseline="-25000">
                <a:latin typeface="Times New Roman" pitchFamily="18" charset="0"/>
                <a:cs typeface="Times New Roman" pitchFamily="18" charset="0"/>
              </a:rPr>
              <a:t>2 </a:t>
            </a:r>
            <a:r>
              <a:rPr lang="en-US" altLang="zh-CN" sz="2000" b="1">
                <a:latin typeface="Times New Roman" pitchFamily="18" charset="0"/>
                <a:cs typeface="Times New Roman" pitchFamily="18" charset="0"/>
              </a:rPr>
              <a:t>=1</a:t>
            </a:r>
            <a:r>
              <a:rPr lang="zh-CN" altLang="en-US" sz="2000" b="1">
                <a:latin typeface="Times New Roman" pitchFamily="18" charset="0"/>
                <a:cs typeface="Times New Roman" pitchFamily="18" charset="0"/>
              </a:rPr>
              <a:t>时</a:t>
            </a:r>
          </a:p>
        </p:txBody>
      </p:sp>
      <p:sp>
        <p:nvSpPr>
          <p:cNvPr id="21" name="矩形 20"/>
          <p:cNvSpPr/>
          <p:nvPr/>
        </p:nvSpPr>
        <p:spPr>
          <a:xfrm>
            <a:off x="3286116" y="5572140"/>
            <a:ext cx="1356462" cy="400110"/>
          </a:xfrm>
          <a:prstGeom prst="rect">
            <a:avLst/>
          </a:prstGeom>
        </p:spPr>
        <p:txBody>
          <a:bodyPr wrap="none">
            <a:spAutoFit/>
          </a:bodyPr>
          <a:lstStyle/>
          <a:p>
            <a:r>
              <a:rPr lang="en-US" altLang="zh-CN" sz="2000" b="1" i="1">
                <a:solidFill>
                  <a:srgbClr val="C00000"/>
                </a:solidFill>
                <a:latin typeface="Times New Roman" pitchFamily="18" charset="0"/>
                <a:cs typeface="Times New Roman" pitchFamily="18" charset="0"/>
              </a:rPr>
              <a:t>F</a:t>
            </a:r>
            <a:r>
              <a:rPr lang="en-US" altLang="zh-CN" sz="2000" b="1" baseline="-25000">
                <a:solidFill>
                  <a:srgbClr val="C00000"/>
                </a:solidFill>
                <a:latin typeface="Times New Roman" pitchFamily="18" charset="0"/>
                <a:cs typeface="Times New Roman" pitchFamily="18" charset="0"/>
              </a:rPr>
              <a:t>R21 </a:t>
            </a:r>
            <a:r>
              <a:rPr lang="en-US" altLang="zh-CN" sz="2000" b="1">
                <a:solidFill>
                  <a:srgbClr val="C00000"/>
                </a:solidFill>
                <a:latin typeface="Times New Roman" pitchFamily="18" charset="0"/>
                <a:cs typeface="Times New Roman" pitchFamily="18" charset="0"/>
              </a:rPr>
              <a:t>= </a:t>
            </a:r>
            <a:r>
              <a:rPr lang="en-US" altLang="zh-CN" sz="2000" b="1">
                <a:solidFill>
                  <a:srgbClr val="C00000"/>
                </a:solidFill>
                <a:latin typeface="+mn-ea"/>
                <a:cs typeface="Times New Roman" pitchFamily="18" charset="0"/>
              </a:rPr>
              <a:t>-</a:t>
            </a:r>
            <a:r>
              <a:rPr lang="el-GR" altLang="zh-CN" sz="2000" b="1" i="1">
                <a:solidFill>
                  <a:srgbClr val="C00000"/>
                </a:solidFill>
                <a:latin typeface="Times New Roman" pitchFamily="18" charset="0"/>
                <a:cs typeface="Times New Roman" pitchFamily="18" charset="0"/>
              </a:rPr>
              <a:t>Δ</a:t>
            </a:r>
            <a:r>
              <a:rPr lang="en-US" altLang="zh-CN" sz="2000" b="1" baseline="-25000">
                <a:solidFill>
                  <a:srgbClr val="C00000"/>
                </a:solidFill>
                <a:latin typeface="Times New Roman" pitchFamily="18" charset="0"/>
                <a:cs typeface="Times New Roman" pitchFamily="18" charset="0"/>
              </a:rPr>
              <a:t>12 </a:t>
            </a:r>
            <a:endParaRPr lang="zh-CN" altLang="en-US" sz="2000">
              <a:solidFill>
                <a:srgbClr val="C00000"/>
              </a:solidFill>
            </a:endParaRPr>
          </a:p>
        </p:txBody>
      </p:sp>
      <p:grpSp>
        <p:nvGrpSpPr>
          <p:cNvPr id="24" name="组合 23"/>
          <p:cNvGrpSpPr/>
          <p:nvPr/>
        </p:nvGrpSpPr>
        <p:grpSpPr>
          <a:xfrm>
            <a:off x="7358082" y="1500174"/>
            <a:ext cx="1392218" cy="1789984"/>
            <a:chOff x="7358082" y="1500174"/>
            <a:chExt cx="1392218" cy="1789984"/>
          </a:xfrm>
        </p:grpSpPr>
        <p:sp>
          <p:nvSpPr>
            <p:cNvPr id="22" name="TextBox 21"/>
            <p:cNvSpPr txBox="1"/>
            <p:nvPr/>
          </p:nvSpPr>
          <p:spPr>
            <a:xfrm>
              <a:off x="7358082" y="1500174"/>
              <a:ext cx="500066" cy="338554"/>
            </a:xfrm>
            <a:prstGeom prst="rect">
              <a:avLst/>
            </a:prstGeom>
            <a:noFill/>
            <a:ln w="28575">
              <a:noFill/>
            </a:ln>
          </p:spPr>
          <p:txBody>
            <a:bodyPr wrap="square" rtlCol="0">
              <a:spAutoFit/>
            </a:bodyPr>
            <a:lstStyle/>
            <a:p>
              <a:r>
                <a:rPr lang="en-US" altLang="zh-CN" sz="1600" b="1">
                  <a:latin typeface="Times New Roman" pitchFamily="18" charset="0"/>
                  <a:cs typeface="Times New Roman" pitchFamily="18" charset="0"/>
                </a:rPr>
                <a:t>=1</a:t>
              </a:r>
              <a:endParaRPr lang="zh-CN" altLang="en-US" sz="1600" b="1">
                <a:latin typeface="Times New Roman" pitchFamily="18" charset="0"/>
                <a:cs typeface="Times New Roman" pitchFamily="18" charset="0"/>
              </a:endParaRPr>
            </a:p>
          </p:txBody>
        </p:sp>
        <p:sp>
          <p:nvSpPr>
            <p:cNvPr id="23" name="TextBox 22"/>
            <p:cNvSpPr txBox="1"/>
            <p:nvPr/>
          </p:nvSpPr>
          <p:spPr>
            <a:xfrm>
              <a:off x="8346022" y="2951604"/>
              <a:ext cx="404278" cy="338554"/>
            </a:xfrm>
            <a:prstGeom prst="rect">
              <a:avLst/>
            </a:prstGeom>
            <a:noFill/>
            <a:ln w="28575">
              <a:noFill/>
            </a:ln>
          </p:spPr>
          <p:txBody>
            <a:bodyPr wrap="none" rtlCol="0">
              <a:spAutoFit/>
            </a:bodyPr>
            <a:lstStyle/>
            <a:p>
              <a:r>
                <a:rPr lang="en-US" altLang="zh-CN" sz="1600" b="1">
                  <a:latin typeface="Times New Roman" pitchFamily="18" charset="0"/>
                  <a:cs typeface="Times New Roman" pitchFamily="18" charset="0"/>
                </a:rPr>
                <a:t>=1</a:t>
              </a:r>
              <a:endParaRPr lang="zh-CN" altLang="en-US" sz="1600" b="1">
                <a:latin typeface="Times New Roman" pitchFamily="18" charset="0"/>
                <a:cs typeface="Times New Roman" pitchFamily="18" charset="0"/>
              </a:endParaRPr>
            </a:p>
          </p:txBody>
        </p:sp>
      </p:grpSp>
      <p:sp>
        <p:nvSpPr>
          <p:cNvPr id="25" name="TextBox 24"/>
          <p:cNvSpPr txBox="1"/>
          <p:nvPr/>
        </p:nvSpPr>
        <p:spPr>
          <a:xfrm>
            <a:off x="1203837" y="5988626"/>
            <a:ext cx="4511171" cy="369332"/>
          </a:xfrm>
          <a:prstGeom prst="rect">
            <a:avLst/>
          </a:prstGeom>
          <a:noFill/>
          <a:ln w="28575">
            <a:noFill/>
          </a:ln>
        </p:spPr>
        <p:txBody>
          <a:bodyPr wrap="none" rtlCol="0">
            <a:spAutoFit/>
          </a:bodyPr>
          <a:lstStyle/>
          <a:p>
            <a:r>
              <a:rPr lang="zh-CN" altLang="en-US" b="1">
                <a:solidFill>
                  <a:srgbClr val="0033CC"/>
                </a:solidFill>
                <a:latin typeface="Times New Roman" pitchFamily="18" charset="0"/>
                <a:cs typeface="Times New Roman" pitchFamily="18" charset="0"/>
              </a:rPr>
              <a:t>反力</a:t>
            </a:r>
            <a:r>
              <a:rPr lang="en-US" altLang="zh-CN" b="1">
                <a:solidFill>
                  <a:srgbClr val="0033CC"/>
                </a:solidFill>
                <a:latin typeface="Times New Roman" pitchFamily="18" charset="0"/>
                <a:cs typeface="Times New Roman" pitchFamily="18" charset="0"/>
              </a:rPr>
              <a:t>F</a:t>
            </a:r>
            <a:r>
              <a:rPr lang="en-US" altLang="zh-CN" b="1" baseline="-25000">
                <a:solidFill>
                  <a:srgbClr val="0033CC"/>
                </a:solidFill>
                <a:latin typeface="Times New Roman" pitchFamily="18" charset="0"/>
                <a:cs typeface="Times New Roman" pitchFamily="18" charset="0"/>
              </a:rPr>
              <a:t>R21</a:t>
            </a:r>
            <a:r>
              <a:rPr lang="en-US" altLang="zh-CN" b="1">
                <a:solidFill>
                  <a:srgbClr val="0033CC"/>
                </a:solidFill>
                <a:latin typeface="Times New Roman" pitchFamily="18" charset="0"/>
                <a:cs typeface="Times New Roman" pitchFamily="18" charset="0"/>
              </a:rPr>
              <a:t> </a:t>
            </a:r>
            <a:r>
              <a:rPr lang="zh-CN" altLang="en-US" b="1">
                <a:solidFill>
                  <a:srgbClr val="0033CC"/>
                </a:solidFill>
              </a:rPr>
              <a:t>在数值上等于位移 </a:t>
            </a:r>
            <a:r>
              <a:rPr lang="el-GR" altLang="zh-CN" b="1" i="1">
                <a:solidFill>
                  <a:srgbClr val="0033CC"/>
                </a:solidFill>
                <a:latin typeface="Times New Roman" pitchFamily="18" charset="0"/>
                <a:cs typeface="Times New Roman" pitchFamily="18" charset="0"/>
              </a:rPr>
              <a:t>Δ</a:t>
            </a:r>
            <a:r>
              <a:rPr lang="en-US" altLang="zh-CN" b="1" baseline="-25000">
                <a:solidFill>
                  <a:srgbClr val="0033CC"/>
                </a:solidFill>
                <a:latin typeface="Times New Roman" pitchFamily="18" charset="0"/>
                <a:cs typeface="Times New Roman" pitchFamily="18" charset="0"/>
              </a:rPr>
              <a:t>12 </a:t>
            </a:r>
            <a:r>
              <a:rPr lang="zh-CN" altLang="en-US" b="1">
                <a:solidFill>
                  <a:srgbClr val="0033CC"/>
                </a:solidFill>
                <a:latin typeface="Times New Roman" pitchFamily="18" charset="0"/>
                <a:cs typeface="Times New Roman" pitchFamily="18" charset="0"/>
              </a:rPr>
              <a:t>，符号相反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657415"/>
                                        </p:tgtEl>
                                        <p:attrNameLst>
                                          <p:attrName>style.visibility</p:attrName>
                                        </p:attrNameLst>
                                      </p:cBhvr>
                                      <p:to>
                                        <p:strVal val="visible"/>
                                      </p:to>
                                    </p:set>
                                    <p:animEffect transition="in" filter="blinds(horizontal)">
                                      <p:cBhvr>
                                        <p:cTn id="11" dur="500"/>
                                        <p:tgtEl>
                                          <p:spTgt spid="65741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par>
                          <p:cTn id="28" fill="hold">
                            <p:stCondLst>
                              <p:cond delay="500"/>
                            </p:stCondLst>
                            <p:childTnLst>
                              <p:par>
                                <p:cTn id="29" presetID="2" presetClass="entr" presetSubtype="4"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childTnLst>
                          </p:cTn>
                        </p:par>
                        <p:par>
                          <p:cTn id="44" fill="hold">
                            <p:stCondLst>
                              <p:cond delay="1000"/>
                            </p:stCondLst>
                            <p:childTnLst>
                              <p:par>
                                <p:cTn id="45" presetID="1"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p:bldP spid="18" grpId="0" animBg="1"/>
      <p:bldP spid="19" grpId="0"/>
      <p:bldP spid="20" grpId="0"/>
      <p:bldP spid="21" grpId="0"/>
      <p:bldP spid="2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位移反力互等定理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互等定理</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5" name="Rectangle 6"/>
          <p:cNvSpPr>
            <a:spLocks noChangeArrowheads="1"/>
          </p:cNvSpPr>
          <p:nvPr/>
        </p:nvSpPr>
        <p:spPr bwMode="auto">
          <a:xfrm>
            <a:off x="469540" y="1830896"/>
            <a:ext cx="4888278" cy="1569660"/>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例</a:t>
            </a:r>
            <a:r>
              <a:rPr lang="en-US" altLang="zh-CN" sz="2000" b="1">
                <a:latin typeface="Times New Roman" pitchFamily="18" charset="0"/>
                <a:cs typeface="Times New Roman" pitchFamily="18" charset="0"/>
              </a:rPr>
              <a:t>4-2</a:t>
            </a:r>
            <a:r>
              <a:rPr lang="zh-CN" altLang="en-US" sz="2000" b="1">
                <a:latin typeface="Times New Roman" pitchFamily="18" charset="0"/>
                <a:cs typeface="Times New Roman" pitchFamily="18" charset="0"/>
              </a:rPr>
              <a:t>（机动法作影响线）：如图所示简支梁，长度为</a:t>
            </a:r>
            <a:r>
              <a:rPr lang="en-US" altLang="zh-CN" sz="2000" b="1" i="1">
                <a:latin typeface="Times New Roman" pitchFamily="18" charset="0"/>
                <a:cs typeface="Times New Roman" pitchFamily="18" charset="0"/>
              </a:rPr>
              <a:t>l</a:t>
            </a:r>
            <a:r>
              <a:rPr lang="zh-CN" altLang="en-US" sz="2000" b="1">
                <a:latin typeface="Times New Roman" pitchFamily="18" charset="0"/>
                <a:cs typeface="Times New Roman" pitchFamily="18" charset="0"/>
              </a:rPr>
              <a:t>，当单位荷载的作用位置从</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=0</a:t>
            </a:r>
            <a:r>
              <a:rPr lang="zh-CN" altLang="en-US" sz="2000" b="1">
                <a:latin typeface="Times New Roman" pitchFamily="18" charset="0"/>
                <a:cs typeface="Times New Roman" pitchFamily="18" charset="0"/>
              </a:rPr>
              <a:t>移动到</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l</a:t>
            </a:r>
            <a:r>
              <a:rPr lang="zh-CN" altLang="en-US" sz="2000" b="1">
                <a:latin typeface="Times New Roman" pitchFamily="18" charset="0"/>
                <a:cs typeface="Times New Roman" pitchFamily="18" charset="0"/>
              </a:rPr>
              <a:t>时，求梁</a:t>
            </a:r>
            <a:r>
              <a:rPr lang="en-US" altLang="zh-CN" sz="2000" b="1" i="1">
                <a:latin typeface="Times New Roman" pitchFamily="18" charset="0"/>
                <a:cs typeface="Times New Roman" pitchFamily="18" charset="0"/>
              </a:rPr>
              <a:t>C</a:t>
            </a:r>
            <a:r>
              <a:rPr lang="zh-CN" altLang="en-US" sz="2000" b="1">
                <a:latin typeface="Times New Roman" pitchFamily="18" charset="0"/>
                <a:cs typeface="Times New Roman" pitchFamily="18" charset="0"/>
              </a:rPr>
              <a:t>点处的弯矩</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a:t>
            </a:r>
            <a:r>
              <a:rPr lang="zh-CN" altLang="en-US" sz="2000" b="1">
                <a:latin typeface="Times New Roman" pitchFamily="18" charset="0"/>
                <a:cs typeface="Times New Roman" pitchFamily="18" charset="0"/>
              </a:rPr>
              <a:t> 曲线。</a:t>
            </a:r>
          </a:p>
        </p:txBody>
      </p:sp>
      <p:pic>
        <p:nvPicPr>
          <p:cNvPr id="655365" name="Picture 5"/>
          <p:cNvPicPr>
            <a:picLocks noChangeAspect="1" noChangeArrowheads="1"/>
          </p:cNvPicPr>
          <p:nvPr/>
        </p:nvPicPr>
        <p:blipFill>
          <a:blip r:embed="rId4"/>
          <a:srcRect/>
          <a:stretch>
            <a:fillRect/>
          </a:stretch>
        </p:blipFill>
        <p:spPr bwMode="auto">
          <a:xfrm>
            <a:off x="5643570" y="1571612"/>
            <a:ext cx="3224110" cy="1500198"/>
          </a:xfrm>
          <a:prstGeom prst="rect">
            <a:avLst/>
          </a:prstGeom>
          <a:noFill/>
          <a:ln w="9525">
            <a:noFill/>
            <a:miter lim="800000"/>
            <a:headEnd/>
            <a:tailEnd/>
          </a:ln>
          <a:effectLst/>
        </p:spPr>
      </p:pic>
      <p:sp>
        <p:nvSpPr>
          <p:cNvPr id="26" name="TextBox 25"/>
          <p:cNvSpPr txBox="1"/>
          <p:nvPr/>
        </p:nvSpPr>
        <p:spPr>
          <a:xfrm>
            <a:off x="928662" y="3386080"/>
            <a:ext cx="4429156" cy="830997"/>
          </a:xfrm>
          <a:prstGeom prst="rect">
            <a:avLst/>
          </a:prstGeom>
          <a:noFill/>
          <a:ln w="28575">
            <a:noFill/>
          </a:ln>
        </p:spPr>
        <p:txBody>
          <a:bodyPr wrap="square" rtlCol="0">
            <a:spAutoFit/>
          </a:bodyPr>
          <a:lstStyle/>
          <a:p>
            <a:pPr>
              <a:lnSpc>
                <a:spcPct val="120000"/>
              </a:lnSpc>
            </a:pPr>
            <a:r>
              <a:rPr lang="zh-CN" altLang="en-US" sz="2000" b="1"/>
              <a:t>解：⑴ 撤去与弯矩</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相应的约束，</a:t>
            </a:r>
            <a:endParaRPr lang="en-US" altLang="zh-CN" sz="2000" b="1">
              <a:latin typeface="Times New Roman" pitchFamily="18" charset="0"/>
              <a:cs typeface="Times New Roman" pitchFamily="18" charset="0"/>
            </a:endParaRPr>
          </a:p>
          <a:p>
            <a:pPr>
              <a:lnSpc>
                <a:spcPct val="120000"/>
              </a:lnSpc>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施加与</a:t>
            </a:r>
            <a:r>
              <a:rPr lang="en-US" altLang="zh-CN" sz="2000" b="1" i="1">
                <a:latin typeface="Times New Roman" pitchFamily="18" charset="0"/>
                <a:cs typeface="Times New Roman" pitchFamily="18" charset="0"/>
              </a:rPr>
              <a:t>M</a:t>
            </a:r>
            <a:r>
              <a:rPr lang="en-US" altLang="zh-CN" sz="2000" b="1" i="1" baseline="-25000">
                <a:latin typeface="Times New Roman" pitchFamily="18" charset="0"/>
                <a:cs typeface="Times New Roman" pitchFamily="18" charset="0"/>
              </a:rPr>
              <a:t>C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x</a:t>
            </a: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相应的位移；</a:t>
            </a:r>
            <a:endParaRPr lang="zh-CN" altLang="en-US" sz="2000" b="1"/>
          </a:p>
        </p:txBody>
      </p:sp>
      <p:sp>
        <p:nvSpPr>
          <p:cNvPr id="27" name="TextBox 26"/>
          <p:cNvSpPr txBox="1"/>
          <p:nvPr/>
        </p:nvSpPr>
        <p:spPr>
          <a:xfrm>
            <a:off x="4821326" y="3810574"/>
            <a:ext cx="1107996" cy="369332"/>
          </a:xfrm>
          <a:prstGeom prst="rect">
            <a:avLst/>
          </a:prstGeom>
          <a:noFill/>
          <a:ln w="28575">
            <a:noFill/>
          </a:ln>
        </p:spPr>
        <p:txBody>
          <a:bodyPr wrap="none" rtlCol="0">
            <a:spAutoFit/>
          </a:bodyPr>
          <a:lstStyle/>
          <a:p>
            <a:r>
              <a:rPr lang="zh-CN" altLang="en-US" b="1">
                <a:solidFill>
                  <a:srgbClr val="0033CC"/>
                </a:solidFill>
              </a:rPr>
              <a:t>是什么？</a:t>
            </a:r>
          </a:p>
        </p:txBody>
      </p:sp>
      <p:grpSp>
        <p:nvGrpSpPr>
          <p:cNvPr id="11" name="组合 10"/>
          <p:cNvGrpSpPr/>
          <p:nvPr/>
        </p:nvGrpSpPr>
        <p:grpSpPr>
          <a:xfrm>
            <a:off x="5823022" y="3071810"/>
            <a:ext cx="2840353" cy="1643074"/>
            <a:chOff x="5823022" y="3071810"/>
            <a:chExt cx="2840353" cy="1643074"/>
          </a:xfrm>
        </p:grpSpPr>
        <p:pic>
          <p:nvPicPr>
            <p:cNvPr id="655366" name="Picture 6"/>
            <p:cNvPicPr>
              <a:picLocks noChangeAspect="1" noChangeArrowheads="1"/>
            </p:cNvPicPr>
            <p:nvPr/>
          </p:nvPicPr>
          <p:blipFill>
            <a:blip r:embed="rId5"/>
            <a:srcRect/>
            <a:stretch>
              <a:fillRect/>
            </a:stretch>
          </p:blipFill>
          <p:spPr bwMode="auto">
            <a:xfrm>
              <a:off x="5823022" y="3071810"/>
              <a:ext cx="2840353" cy="1643074"/>
            </a:xfrm>
            <a:prstGeom prst="rect">
              <a:avLst/>
            </a:prstGeom>
            <a:noFill/>
            <a:ln w="9525">
              <a:noFill/>
              <a:miter lim="800000"/>
              <a:headEnd/>
              <a:tailEnd/>
            </a:ln>
            <a:effectLst/>
          </p:spPr>
        </p:pic>
        <p:sp>
          <p:nvSpPr>
            <p:cNvPr id="31" name="TextBox 30"/>
            <p:cNvSpPr txBox="1"/>
            <p:nvPr/>
          </p:nvSpPr>
          <p:spPr>
            <a:xfrm>
              <a:off x="7476574" y="3714752"/>
              <a:ext cx="418704" cy="338554"/>
            </a:xfrm>
            <a:prstGeom prst="rect">
              <a:avLst/>
            </a:prstGeom>
            <a:noFill/>
            <a:ln w="28575">
              <a:noFill/>
            </a:ln>
          </p:spPr>
          <p:txBody>
            <a:bodyPr wrap="none" rtlCol="0">
              <a:spAutoFit/>
            </a:bodyPr>
            <a:lstStyle/>
            <a:p>
              <a:r>
                <a:rPr lang="en-US" altLang="zh-CN" sz="1600" b="1">
                  <a:latin typeface="Times New Roman" pitchFamily="18" charset="0"/>
                  <a:cs typeface="Times New Roman" pitchFamily="18" charset="0"/>
                </a:rPr>
                <a:t>=1</a:t>
              </a:r>
              <a:endParaRPr lang="zh-CN" altLang="en-US" sz="1600" b="1">
                <a:latin typeface="Times New Roman" pitchFamily="18" charset="0"/>
                <a:cs typeface="Times New Roman" pitchFamily="18" charset="0"/>
              </a:endParaRPr>
            </a:p>
          </p:txBody>
        </p:sp>
      </p:grpSp>
      <p:sp>
        <p:nvSpPr>
          <p:cNvPr id="12" name="TextBox 11"/>
          <p:cNvSpPr txBox="1"/>
          <p:nvPr/>
        </p:nvSpPr>
        <p:spPr>
          <a:xfrm>
            <a:off x="857224" y="4143380"/>
            <a:ext cx="4429156" cy="830997"/>
          </a:xfrm>
          <a:prstGeom prst="rect">
            <a:avLst/>
          </a:prstGeom>
          <a:noFill/>
          <a:ln w="28575">
            <a:noFill/>
          </a:ln>
        </p:spPr>
        <p:txBody>
          <a:bodyPr wrap="square" rtlCol="0">
            <a:spAutoFit/>
          </a:bodyPr>
          <a:lstStyle/>
          <a:p>
            <a:pPr>
              <a:lnSpc>
                <a:spcPct val="120000"/>
              </a:lnSpc>
            </a:pPr>
            <a:r>
              <a:rPr lang="zh-CN" altLang="en-US" sz="2000" b="1"/>
              <a:t>             由几何关系知，</a:t>
            </a:r>
            <a:r>
              <a:rPr lang="en-US" altLang="zh-CN" sz="2000" b="1" i="1">
                <a:latin typeface="Times New Roman" pitchFamily="18" charset="0"/>
                <a:cs typeface="Times New Roman" pitchFamily="18" charset="0"/>
              </a:rPr>
              <a:t>C</a:t>
            </a:r>
            <a:r>
              <a:rPr lang="zh-CN" altLang="en-US" sz="2000" b="1"/>
              <a:t>点竖向位移     </a:t>
            </a:r>
            <a:endParaRPr lang="en-US" altLang="zh-CN" sz="2000" b="1"/>
          </a:p>
          <a:p>
            <a:pPr>
              <a:lnSpc>
                <a:spcPct val="12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n-US" altLang="zh-CN" sz="2000" b="1" i="1" baseline="-25000">
                <a:latin typeface="Times New Roman" pitchFamily="18" charset="0"/>
                <a:cs typeface="Times New Roman" pitchFamily="18" charset="0"/>
              </a:rPr>
              <a:t>C</a:t>
            </a:r>
            <a:r>
              <a:rPr lang="en-US" altLang="zh-CN"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ab/l</a:t>
            </a:r>
            <a:endParaRPr lang="en-US" altLang="zh-CN" sz="2000" b="1">
              <a:latin typeface="Times New Roman" pitchFamily="18" charset="0"/>
              <a:cs typeface="Times New Roman" pitchFamily="18" charset="0"/>
            </a:endParaRPr>
          </a:p>
        </p:txBody>
      </p:sp>
      <p:sp>
        <p:nvSpPr>
          <p:cNvPr id="13" name="TextBox 12"/>
          <p:cNvSpPr txBox="1"/>
          <p:nvPr/>
        </p:nvSpPr>
        <p:spPr>
          <a:xfrm>
            <a:off x="892086" y="4896161"/>
            <a:ext cx="4429156" cy="461665"/>
          </a:xfrm>
          <a:prstGeom prst="rect">
            <a:avLst/>
          </a:prstGeom>
          <a:noFill/>
          <a:ln w="28575">
            <a:noFill/>
          </a:ln>
        </p:spPr>
        <p:txBody>
          <a:bodyPr wrap="square" rtlCol="0">
            <a:spAutoFit/>
          </a:bodyPr>
          <a:lstStyle/>
          <a:p>
            <a:pPr>
              <a:lnSpc>
                <a:spcPct val="120000"/>
              </a:lnSpc>
            </a:pPr>
            <a:r>
              <a:rPr lang="en-US" altLang="zh-CN" sz="2000" b="1"/>
              <a:t>       </a:t>
            </a:r>
            <a:r>
              <a:rPr lang="zh-CN" altLang="en-US" sz="2000" b="1"/>
              <a:t> ⑵ 由位移反力互等原理</a:t>
            </a:r>
            <a:r>
              <a:rPr lang="zh-CN" altLang="en-US" sz="2000" b="1">
                <a:latin typeface="Times New Roman" pitchFamily="18" charset="0"/>
                <a:cs typeface="Times New Roman" pitchFamily="18" charset="0"/>
              </a:rPr>
              <a:t>，</a:t>
            </a:r>
            <a:endParaRPr lang="zh-CN" altLang="en-US" sz="2000" b="1"/>
          </a:p>
        </p:txBody>
      </p:sp>
      <p:graphicFrame>
        <p:nvGraphicFramePr>
          <p:cNvPr id="606209" name="Object 1"/>
          <p:cNvGraphicFramePr>
            <a:graphicFrameLocks noChangeAspect="1"/>
          </p:cNvGraphicFramePr>
          <p:nvPr/>
        </p:nvGraphicFramePr>
        <p:xfrm>
          <a:off x="1928794" y="5357826"/>
          <a:ext cx="3695700" cy="1177925"/>
        </p:xfrm>
        <a:graphic>
          <a:graphicData uri="http://schemas.openxmlformats.org/presentationml/2006/ole">
            <mc:AlternateContent xmlns:mc="http://schemas.openxmlformats.org/markup-compatibility/2006">
              <mc:Choice xmlns:v="urn:schemas-microsoft-com:vml" Requires="v">
                <p:oleObj spid="_x0000_s606210" name="Equation" r:id="rId6" imgW="2628720" imgH="838080" progId="Equation.DSMT4">
                  <p:embed/>
                </p:oleObj>
              </mc:Choice>
              <mc:Fallback>
                <p:oleObj name="Equation" r:id="rId6" imgW="2628720" imgH="838080" progId="Equation.DSMT4">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8794" y="5357826"/>
                        <a:ext cx="3695700" cy="11779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TextBox 14"/>
          <p:cNvSpPr txBox="1"/>
          <p:nvPr/>
        </p:nvSpPr>
        <p:spPr>
          <a:xfrm>
            <a:off x="6143636" y="5500702"/>
            <a:ext cx="2786050" cy="646331"/>
          </a:xfrm>
          <a:prstGeom prst="rect">
            <a:avLst/>
          </a:prstGeom>
          <a:noFill/>
          <a:ln w="28575">
            <a:noFill/>
          </a:ln>
        </p:spPr>
        <p:txBody>
          <a:bodyPr wrap="square" rtlCol="0">
            <a:spAutoFit/>
          </a:bodyPr>
          <a:lstStyle/>
          <a:p>
            <a:r>
              <a:rPr lang="zh-CN" altLang="en-US" b="1">
                <a:solidFill>
                  <a:srgbClr val="0033CC"/>
                </a:solidFill>
                <a:latin typeface="Times New Roman" pitchFamily="18" charset="0"/>
                <a:cs typeface="Times New Roman" pitchFamily="18" charset="0"/>
              </a:rPr>
              <a:t>正号表示与图示方向相同，即</a:t>
            </a:r>
            <a:r>
              <a:rPr lang="en-US" altLang="zh-CN" b="1" i="1">
                <a:solidFill>
                  <a:srgbClr val="0033CC"/>
                </a:solidFill>
                <a:latin typeface="Times New Roman" pitchFamily="18" charset="0"/>
                <a:cs typeface="Times New Roman" pitchFamily="18" charset="0"/>
              </a:rPr>
              <a:t>Mc</a:t>
            </a:r>
            <a:r>
              <a:rPr lang="zh-CN" altLang="en-US" b="1">
                <a:solidFill>
                  <a:srgbClr val="0033CC"/>
                </a:solidFill>
                <a:latin typeface="Times New Roman" pitchFamily="18" charset="0"/>
                <a:cs typeface="Times New Roman" pitchFamily="18" charset="0"/>
              </a:rPr>
              <a:t>上方受拉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5365"/>
                                        </p:tgtEl>
                                        <p:attrNameLst>
                                          <p:attrName>style.visibility</p:attrName>
                                        </p:attrNameLst>
                                      </p:cBhvr>
                                      <p:to>
                                        <p:strVal val="visible"/>
                                      </p:to>
                                    </p:set>
                                    <p:anim calcmode="lin" valueType="num">
                                      <p:cBhvr additive="base">
                                        <p:cTn id="11" dur="500" fill="hold"/>
                                        <p:tgtEl>
                                          <p:spTgt spid="655365"/>
                                        </p:tgtEl>
                                        <p:attrNameLst>
                                          <p:attrName>ppt_x</p:attrName>
                                        </p:attrNameLst>
                                      </p:cBhvr>
                                      <p:tavLst>
                                        <p:tav tm="0">
                                          <p:val>
                                            <p:strVal val="#ppt_x"/>
                                          </p:val>
                                        </p:tav>
                                        <p:tav tm="100000">
                                          <p:val>
                                            <p:strVal val="#ppt_x"/>
                                          </p:val>
                                        </p:tav>
                                      </p:tavLst>
                                    </p:anim>
                                    <p:anim calcmode="lin" valueType="num">
                                      <p:cBhvr additive="base">
                                        <p:cTn id="12" dur="500" fill="hold"/>
                                        <p:tgtEl>
                                          <p:spTgt spid="65536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606209"/>
                                        </p:tgtEl>
                                        <p:attrNameLst>
                                          <p:attrName>style.visibility</p:attrName>
                                        </p:attrNameLst>
                                      </p:cBhvr>
                                      <p:to>
                                        <p:strVal val="visible"/>
                                      </p:to>
                                    </p:set>
                                    <p:anim calcmode="lin" valueType="num">
                                      <p:cBhvr additive="base">
                                        <p:cTn id="44" dur="500" fill="hold"/>
                                        <p:tgtEl>
                                          <p:spTgt spid="606209"/>
                                        </p:tgtEl>
                                        <p:attrNameLst>
                                          <p:attrName>ppt_x</p:attrName>
                                        </p:attrNameLst>
                                      </p:cBhvr>
                                      <p:tavLst>
                                        <p:tav tm="0">
                                          <p:val>
                                            <p:strVal val="#ppt_x"/>
                                          </p:val>
                                        </p:tav>
                                        <p:tav tm="100000">
                                          <p:val>
                                            <p:strVal val="#ppt_x"/>
                                          </p:val>
                                        </p:tav>
                                      </p:tavLst>
                                    </p:anim>
                                    <p:anim calcmode="lin" valueType="num">
                                      <p:cBhvr additive="base">
                                        <p:cTn id="45" dur="500" fill="hold"/>
                                        <p:tgtEl>
                                          <p:spTgt spid="606209"/>
                                        </p:tgtEl>
                                        <p:attrNameLst>
                                          <p:attrName>ppt_y</p:attrName>
                                        </p:attrNameLst>
                                      </p:cBhvr>
                                      <p:tavLst>
                                        <p:tav tm="0">
                                          <p:val>
                                            <p:strVal val="1+#ppt_h/2"/>
                                          </p:val>
                                        </p:tav>
                                        <p:tav tm="100000">
                                          <p:val>
                                            <p:strVal val="#ppt_y"/>
                                          </p:val>
                                        </p:tav>
                                      </p:tavLst>
                                    </p:anim>
                                  </p:childTnLst>
                                </p:cTn>
                              </p:par>
                            </p:childTnLst>
                          </p:cTn>
                        </p:par>
                        <p:par>
                          <p:cTn id="46" fill="hold">
                            <p:stCondLst>
                              <p:cond delay="500"/>
                            </p:stCondLst>
                            <p:childTnLst>
                              <p:par>
                                <p:cTn id="47" presetID="2" presetClass="entr" presetSubtype="4"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12" grpId="0"/>
      <p:bldP spid="13" grpId="0"/>
      <p:bldP spid="1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位移计算的一般公式及灵活运用</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小结</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 name="Rectangle 6"/>
          <p:cNvSpPr>
            <a:spLocks noChangeArrowheads="1"/>
          </p:cNvSpPr>
          <p:nvPr/>
        </p:nvSpPr>
        <p:spPr bwMode="auto">
          <a:xfrm>
            <a:off x="469540" y="3214686"/>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适用范围</a:t>
            </a:r>
          </a:p>
        </p:txBody>
      </p:sp>
      <p:grpSp>
        <p:nvGrpSpPr>
          <p:cNvPr id="6" name="组合 55"/>
          <p:cNvGrpSpPr/>
          <p:nvPr/>
        </p:nvGrpSpPr>
        <p:grpSpPr>
          <a:xfrm>
            <a:off x="2297859" y="2341109"/>
            <a:ext cx="4560157" cy="492443"/>
            <a:chOff x="2797925" y="4238757"/>
            <a:chExt cx="4560157" cy="492443"/>
          </a:xfrm>
        </p:grpSpPr>
        <p:grpSp>
          <p:nvGrpSpPr>
            <p:cNvPr id="7" name="组合 38"/>
            <p:cNvGrpSpPr/>
            <p:nvPr/>
          </p:nvGrpSpPr>
          <p:grpSpPr>
            <a:xfrm>
              <a:off x="2797925" y="4238757"/>
              <a:ext cx="4560157" cy="492443"/>
              <a:chOff x="2143108" y="5715015"/>
              <a:chExt cx="4560157" cy="484936"/>
            </a:xfrm>
          </p:grpSpPr>
          <p:sp>
            <p:nvSpPr>
              <p:cNvPr id="9" name="矩形 8"/>
              <p:cNvSpPr/>
              <p:nvPr/>
            </p:nvSpPr>
            <p:spPr>
              <a:xfrm>
                <a:off x="2143108" y="5715015"/>
                <a:ext cx="4560157" cy="484936"/>
              </a:xfrm>
              <a:prstGeom prst="rect">
                <a:avLst/>
              </a:prstGeom>
              <a:ln w="19050">
                <a:noFill/>
              </a:ln>
            </p:spPr>
            <p:txBody>
              <a:bodyPr wrap="square">
                <a:spAutoFit/>
              </a:bodyPr>
              <a:lstStyle/>
              <a:p>
                <a:pPr>
                  <a:lnSpc>
                    <a:spcPct val="130000"/>
                  </a:lnSpc>
                </a:pPr>
                <a:r>
                  <a:rPr lang="en-US" altLang="zh-CN" sz="2000" b="1" i="1">
                    <a:latin typeface="Times New Roman" pitchFamily="18" charset="0"/>
                    <a:cs typeface="Times New Roman" pitchFamily="18" charset="0"/>
                  </a:rPr>
                  <a:t>  </a:t>
                </a:r>
                <a:r>
                  <a:rPr lang="el-GR" altLang="zh-CN" sz="2000" b="1" i="1">
                    <a:latin typeface="Times New Roman" pitchFamily="18" charset="0"/>
                    <a:cs typeface="Times New Roman" pitchFamily="18" charset="0"/>
                  </a:rPr>
                  <a:t>Δ</a:t>
                </a:r>
                <a:r>
                  <a:rPr lang="el-GR"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a:latin typeface="Times New Roman" pitchFamily="18" charset="0"/>
                    <a:cs typeface="Times New Roman" pitchFamily="18" charset="0"/>
                  </a:rPr>
                  <a:t>∑</a:t>
                </a:r>
                <a:r>
                  <a:rPr lang="en-US" altLang="zh-CN" sz="2000" b="1">
                    <a:latin typeface="+mj-lt"/>
                    <a:cs typeface="Times New Roman" pitchFamily="18" charset="0"/>
                  </a:rPr>
                  <a:t> </a:t>
                </a:r>
                <a:r>
                  <a:rPr lang="en-US" altLang="zh-CN" sz="2000" b="1">
                    <a:cs typeface="Times New Roman" pitchFamily="18" charset="0"/>
                  </a:rPr>
                  <a:t>∫</a:t>
                </a:r>
                <a:r>
                  <a:rPr lang="en-US" altLang="zh-CN" sz="2000" b="1" baseline="-25000">
                    <a:cs typeface="Times New Roman" pitchFamily="18" charset="0"/>
                  </a:rPr>
                  <a:t> </a:t>
                </a:r>
                <a:r>
                  <a:rPr lang="en-US" altLang="zh-CN" sz="2000" b="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M</a:t>
                </a:r>
                <a:r>
                  <a:rPr lang="el-GR" altLang="zh-CN" sz="2000" b="1" i="1">
                    <a:latin typeface="Times New Roman" pitchFamily="18" charset="0"/>
                    <a:cs typeface="Times New Roman" pitchFamily="18" charset="0"/>
                  </a:rPr>
                  <a:t>κ</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a:cs typeface="Times New Roman"/>
                  </a:rPr>
                  <a:t>F</a:t>
                </a:r>
                <a:r>
                  <a:rPr lang="en-US" altLang="zh-CN" sz="2000" b="1" baseline="-25000">
                    <a:latin typeface="Times New Roman"/>
                    <a:cs typeface="Times New Roman"/>
                  </a:rPr>
                  <a:t>N</a:t>
                </a:r>
                <a:r>
                  <a:rPr lang="el-GR" altLang="zh-CN" sz="2000" b="1" i="1">
                    <a:latin typeface="Times New Roman" pitchFamily="18" charset="0"/>
                    <a:cs typeface="Times New Roman" pitchFamily="18" charset="0"/>
                  </a:rPr>
                  <a:t>ε</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a:t>
                </a:r>
                <a:r>
                  <a:rPr lang="en-US" altLang="zh-CN" sz="2000" b="1" i="1" baseline="-25000">
                    <a:latin typeface="Times New Roman" pitchFamily="18" charset="0"/>
                    <a:cs typeface="Times New Roman" pitchFamily="18" charset="0"/>
                  </a:rPr>
                  <a:t> </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Q</a:t>
                </a:r>
                <a:r>
                  <a:rPr lang="el-GR" altLang="zh-CN" sz="2000" b="1" i="1">
                    <a:latin typeface="Times New Roman"/>
                    <a:cs typeface="Times New Roman"/>
                  </a:rPr>
                  <a:t>γ</a:t>
                </a:r>
                <a:r>
                  <a:rPr lang="el-GR" altLang="zh-CN" sz="2000" b="1" baseline="-25000">
                    <a:latin typeface="Times New Roman"/>
                    <a:cs typeface="Times New Roman"/>
                  </a:rPr>
                  <a:t>0</a:t>
                </a:r>
                <a:r>
                  <a:rPr lang="en-US" altLang="zh-CN" sz="2000" b="1" baseline="-25000">
                    <a:latin typeface="Times New Roman"/>
                    <a:cs typeface="Times New Roman"/>
                  </a:rPr>
                  <a:t> </a:t>
                </a:r>
                <a:r>
                  <a:rPr lang="en-US" altLang="zh-CN" sz="2000" b="1">
                    <a:latin typeface="Times New Roman"/>
                    <a:cs typeface="Times New Roman"/>
                  </a:rPr>
                  <a:t>)</a:t>
                </a:r>
                <a:r>
                  <a:rPr lang="en-US" altLang="zh-CN" sz="2000" b="1" i="1" baseline="-25000">
                    <a:latin typeface="Times New Roman" pitchFamily="18" charset="0"/>
                    <a:cs typeface="Times New Roman" pitchFamily="18" charset="0"/>
                  </a:rPr>
                  <a:t> </a:t>
                </a:r>
                <a:r>
                  <a:rPr lang="en-US" altLang="zh-CN" sz="2000" b="1">
                    <a:latin typeface="Times New Roman"/>
                    <a:cs typeface="Times New Roman"/>
                  </a:rPr>
                  <a:t>d</a:t>
                </a:r>
                <a:r>
                  <a:rPr lang="en-US" altLang="zh-CN" sz="2000" b="1" i="1">
                    <a:latin typeface="Times New Roman"/>
                    <a:cs typeface="Times New Roman"/>
                  </a:rPr>
                  <a:t>s</a:t>
                </a:r>
                <a:r>
                  <a:rPr lang="en-US" altLang="zh-CN" sz="2000" b="1" i="1">
                    <a:latin typeface="+mj-ea"/>
                    <a:cs typeface="Times New Roman" pitchFamily="18" charset="0"/>
                  </a:rPr>
                  <a:t>-</a:t>
                </a:r>
                <a:r>
                  <a:rPr lang="en-US" altLang="zh-CN" sz="2000" b="1" i="1" baseline="-25000">
                    <a:latin typeface="+mj-ea"/>
                    <a:cs typeface="Times New Roman" pitchFamily="18" charset="0"/>
                  </a:rPr>
                  <a:t>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F</a:t>
                </a:r>
                <a:r>
                  <a:rPr lang="en-US" altLang="zh-CN" sz="2000" b="1" baseline="-25000">
                    <a:latin typeface="Times New Roman" pitchFamily="18" charset="0"/>
                    <a:cs typeface="Times New Roman" pitchFamily="18" charset="0"/>
                  </a:rPr>
                  <a:t>R</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c</a:t>
                </a:r>
                <a:r>
                  <a:rPr lang="en-US" altLang="zh-CN" sz="2000" b="1" i="1" baseline="-25000">
                    <a:latin typeface="Times New Roman" pitchFamily="18" charset="0"/>
                    <a:cs typeface="Times New Roman" pitchFamily="18" charset="0"/>
                  </a:rPr>
                  <a:t>K</a:t>
                </a:r>
                <a:r>
                  <a:rPr lang="en-US" altLang="zh-CN" sz="2000" b="1">
                    <a:latin typeface="Times New Roman" pitchFamily="18" charset="0"/>
                    <a:cs typeface="Times New Roman" pitchFamily="18" charset="0"/>
                  </a:rPr>
                  <a:t> </a:t>
                </a:r>
                <a:endParaRPr lang="zh-CN" altLang="en-US" sz="2000"/>
              </a:p>
            </p:txBody>
          </p:sp>
          <p:cxnSp>
            <p:nvCxnSpPr>
              <p:cNvPr id="10" name="直接连接符 9"/>
              <p:cNvCxnSpPr/>
              <p:nvPr/>
            </p:nvCxnSpPr>
            <p:spPr bwMode="auto">
              <a:xfrm>
                <a:off x="3250679"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 name="直接连接符 10"/>
              <p:cNvCxnSpPr/>
              <p:nvPr/>
            </p:nvCxnSpPr>
            <p:spPr bwMode="auto">
              <a:xfrm>
                <a:off x="3833870"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 name="直接连接符 11"/>
              <p:cNvCxnSpPr/>
              <p:nvPr/>
            </p:nvCxnSpPr>
            <p:spPr bwMode="auto">
              <a:xfrm>
                <a:off x="4465125" y="5846017"/>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8" name="直接连接符 7"/>
            <p:cNvCxnSpPr/>
            <p:nvPr/>
          </p:nvCxnSpPr>
          <p:spPr bwMode="auto">
            <a:xfrm>
              <a:off x="6429388" y="4369569"/>
              <a:ext cx="214314"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13" name="组合 12"/>
          <p:cNvGrpSpPr/>
          <p:nvPr/>
        </p:nvGrpSpPr>
        <p:grpSpPr>
          <a:xfrm flipV="1">
            <a:off x="2547352" y="2833552"/>
            <a:ext cx="3857652" cy="595448"/>
            <a:chOff x="2714612" y="4405982"/>
            <a:chExt cx="3857652" cy="595448"/>
          </a:xfrm>
        </p:grpSpPr>
        <p:grpSp>
          <p:nvGrpSpPr>
            <p:cNvPr id="14" name="组合 46"/>
            <p:cNvGrpSpPr/>
            <p:nvPr/>
          </p:nvGrpSpPr>
          <p:grpSpPr>
            <a:xfrm>
              <a:off x="2714612" y="4786322"/>
              <a:ext cx="3857652" cy="215108"/>
              <a:chOff x="2714612" y="4643446"/>
              <a:chExt cx="3857652" cy="215108"/>
            </a:xfrm>
          </p:grpSpPr>
          <p:cxnSp>
            <p:nvCxnSpPr>
              <p:cNvPr id="16" name="直接连接符 15"/>
              <p:cNvCxnSpPr/>
              <p:nvPr/>
            </p:nvCxnSpPr>
            <p:spPr bwMode="auto">
              <a:xfrm>
                <a:off x="2714612" y="4643446"/>
                <a:ext cx="3857652"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7" name="直接连接符 16"/>
              <p:cNvCxnSpPr/>
              <p:nvPr/>
            </p:nvCxnSpPr>
            <p:spPr bwMode="auto">
              <a:xfrm rot="5400000">
                <a:off x="2619030" y="4750603"/>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8" name="直接连接符 17"/>
              <p:cNvCxnSpPr/>
              <p:nvPr/>
            </p:nvCxnSpPr>
            <p:spPr bwMode="auto">
              <a:xfrm rot="5400000">
                <a:off x="3704204"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9" name="直接连接符 18"/>
              <p:cNvCxnSpPr/>
              <p:nvPr/>
            </p:nvCxnSpPr>
            <p:spPr bwMode="auto">
              <a:xfrm rot="5400000">
                <a:off x="4347145"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0" name="直接连接符 19"/>
              <p:cNvCxnSpPr/>
              <p:nvPr/>
            </p:nvCxnSpPr>
            <p:spPr bwMode="auto">
              <a:xfrm rot="5400000">
                <a:off x="5059937"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1" name="直接连接符 20"/>
              <p:cNvCxnSpPr/>
              <p:nvPr/>
            </p:nvCxnSpPr>
            <p:spPr bwMode="auto">
              <a:xfrm rot="5400000">
                <a:off x="6452738" y="4749809"/>
                <a:ext cx="214314" cy="158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5" name="TextBox 14"/>
            <p:cNvSpPr txBox="1"/>
            <p:nvPr/>
          </p:nvSpPr>
          <p:spPr>
            <a:xfrm flipV="1">
              <a:off x="3571868" y="4405982"/>
              <a:ext cx="1800493" cy="369332"/>
            </a:xfrm>
            <a:prstGeom prst="rect">
              <a:avLst/>
            </a:prstGeom>
            <a:noFill/>
            <a:ln w="28575">
              <a:noFill/>
            </a:ln>
          </p:spPr>
          <p:txBody>
            <a:bodyPr wrap="none" rtlCol="0">
              <a:spAutoFit/>
            </a:bodyPr>
            <a:lstStyle/>
            <a:p>
              <a:r>
                <a:rPr lang="zh-CN" altLang="en-US" b="1">
                  <a:solidFill>
                    <a:srgbClr val="C00000"/>
                  </a:solidFill>
                </a:rPr>
                <a:t>真实的位移状态</a:t>
              </a:r>
            </a:p>
          </p:txBody>
        </p:sp>
      </p:grpSp>
      <p:grpSp>
        <p:nvGrpSpPr>
          <p:cNvPr id="22" name="组合 21"/>
          <p:cNvGrpSpPr/>
          <p:nvPr/>
        </p:nvGrpSpPr>
        <p:grpSpPr>
          <a:xfrm>
            <a:off x="3498842" y="1761982"/>
            <a:ext cx="2503506" cy="594654"/>
            <a:chOff x="3641718" y="4405982"/>
            <a:chExt cx="2503506" cy="594654"/>
          </a:xfrm>
        </p:grpSpPr>
        <p:grpSp>
          <p:nvGrpSpPr>
            <p:cNvPr id="23" name="组合 46"/>
            <p:cNvGrpSpPr/>
            <p:nvPr/>
          </p:nvGrpSpPr>
          <p:grpSpPr>
            <a:xfrm>
              <a:off x="3641718" y="4786322"/>
              <a:ext cx="2503506" cy="214314"/>
              <a:chOff x="3641718" y="4643446"/>
              <a:chExt cx="2503506" cy="214314"/>
            </a:xfrm>
          </p:grpSpPr>
          <p:cxnSp>
            <p:nvCxnSpPr>
              <p:cNvPr id="25" name="直接连接符 24"/>
              <p:cNvCxnSpPr/>
              <p:nvPr/>
            </p:nvCxnSpPr>
            <p:spPr bwMode="auto">
              <a:xfrm>
                <a:off x="3643306" y="4644240"/>
                <a:ext cx="2500330"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7" name="直接连接符 26"/>
              <p:cNvCxnSpPr/>
              <p:nvPr/>
            </p:nvCxnSpPr>
            <p:spPr bwMode="auto">
              <a:xfrm rot="5400000">
                <a:off x="3535355"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8" name="直接连接符 27"/>
              <p:cNvCxnSpPr/>
              <p:nvPr/>
            </p:nvCxnSpPr>
            <p:spPr bwMode="auto">
              <a:xfrm rot="5400000">
                <a:off x="4178296"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29" name="直接连接符 28"/>
              <p:cNvCxnSpPr/>
              <p:nvPr/>
            </p:nvCxnSpPr>
            <p:spPr bwMode="auto">
              <a:xfrm rot="5400000">
                <a:off x="4751389"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30" name="直接连接符 29"/>
              <p:cNvCxnSpPr/>
              <p:nvPr/>
            </p:nvCxnSpPr>
            <p:spPr bwMode="auto">
              <a:xfrm rot="5400000">
                <a:off x="6037273" y="4749809"/>
                <a:ext cx="214314" cy="1588"/>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sp>
          <p:nvSpPr>
            <p:cNvPr id="24" name="TextBox 23"/>
            <p:cNvSpPr txBox="1"/>
            <p:nvPr/>
          </p:nvSpPr>
          <p:spPr>
            <a:xfrm>
              <a:off x="3843077" y="4405982"/>
              <a:ext cx="1800493" cy="369332"/>
            </a:xfrm>
            <a:prstGeom prst="rect">
              <a:avLst/>
            </a:prstGeom>
            <a:noFill/>
            <a:ln w="28575">
              <a:noFill/>
            </a:ln>
          </p:spPr>
          <p:txBody>
            <a:bodyPr wrap="none" rtlCol="0">
              <a:spAutoFit/>
            </a:bodyPr>
            <a:lstStyle/>
            <a:p>
              <a:r>
                <a:rPr lang="zh-CN" altLang="en-US" b="1">
                  <a:solidFill>
                    <a:srgbClr val="0033CC"/>
                  </a:solidFill>
                </a:rPr>
                <a:t>虚设的平衡力系</a:t>
              </a:r>
            </a:p>
          </p:txBody>
        </p:sp>
      </p:grpSp>
      <p:sp>
        <p:nvSpPr>
          <p:cNvPr id="33" name="TextBox 32"/>
          <p:cNvSpPr txBox="1"/>
          <p:nvPr/>
        </p:nvSpPr>
        <p:spPr>
          <a:xfrm>
            <a:off x="6929454" y="2357430"/>
            <a:ext cx="1467068" cy="400110"/>
          </a:xfrm>
          <a:prstGeom prst="rect">
            <a:avLst/>
          </a:prstGeom>
          <a:noFill/>
          <a:ln w="28575">
            <a:noFill/>
          </a:ln>
        </p:spPr>
        <p:txBody>
          <a:bodyPr wrap="none" rtlCol="0">
            <a:spAutoFit/>
          </a:bodyPr>
          <a:lstStyle/>
          <a:p>
            <a:r>
              <a:rPr lang="zh-CN" altLang="en-US" sz="2000" b="1">
                <a:solidFill>
                  <a:srgbClr val="0033CC"/>
                </a:solidFill>
              </a:rPr>
              <a:t>单位荷载法</a:t>
            </a:r>
          </a:p>
        </p:txBody>
      </p:sp>
      <p:sp>
        <p:nvSpPr>
          <p:cNvPr id="34" name="TextBox 33"/>
          <p:cNvSpPr txBox="1"/>
          <p:nvPr/>
        </p:nvSpPr>
        <p:spPr>
          <a:xfrm>
            <a:off x="1278753" y="3643314"/>
            <a:ext cx="7436651" cy="400110"/>
          </a:xfrm>
          <a:prstGeom prst="rect">
            <a:avLst/>
          </a:prstGeom>
          <a:noFill/>
          <a:ln w="28575">
            <a:noFill/>
          </a:ln>
        </p:spPr>
        <p:txBody>
          <a:bodyPr wrap="none" rtlCol="0">
            <a:spAutoFit/>
          </a:bodyPr>
          <a:lstStyle/>
          <a:p>
            <a:r>
              <a:rPr lang="zh-CN" altLang="en-US" sz="2000" b="1"/>
              <a:t>⑴ 适用：弹性和非弹性材料、任意位移因素、静定超静定结构；</a:t>
            </a:r>
          </a:p>
        </p:txBody>
      </p:sp>
      <p:graphicFrame>
        <p:nvGraphicFramePr>
          <p:cNvPr id="663554" name="Object 3"/>
          <p:cNvGraphicFramePr>
            <a:graphicFrameLocks noChangeAspect="1"/>
          </p:cNvGraphicFramePr>
          <p:nvPr/>
        </p:nvGraphicFramePr>
        <p:xfrm>
          <a:off x="2428860" y="4071942"/>
          <a:ext cx="4948238" cy="709612"/>
        </p:xfrm>
        <a:graphic>
          <a:graphicData uri="http://schemas.openxmlformats.org/presentationml/2006/ole">
            <mc:AlternateContent xmlns:mc="http://schemas.openxmlformats.org/markup-compatibility/2006">
              <mc:Choice xmlns:v="urn:schemas-microsoft-com:vml" Requires="v">
                <p:oleObj spid="_x0000_s663555" name="Equation" r:id="rId4" imgW="3098520" imgH="444240" progId="Equation.DSMT4">
                  <p:embed/>
                </p:oleObj>
              </mc:Choice>
              <mc:Fallback>
                <p:oleObj name="Equation" r:id="rId4" imgW="3098520" imgH="4442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60" y="4071942"/>
                        <a:ext cx="4948238"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TextBox 35"/>
          <p:cNvSpPr txBox="1"/>
          <p:nvPr/>
        </p:nvSpPr>
        <p:spPr>
          <a:xfrm>
            <a:off x="1278753" y="4814840"/>
            <a:ext cx="5897768" cy="400110"/>
          </a:xfrm>
          <a:prstGeom prst="rect">
            <a:avLst/>
          </a:prstGeom>
          <a:noFill/>
          <a:ln w="28575">
            <a:noFill/>
          </a:ln>
        </p:spPr>
        <p:txBody>
          <a:bodyPr wrap="none" rtlCol="0">
            <a:spAutoFit/>
          </a:bodyPr>
          <a:lstStyle/>
          <a:p>
            <a:r>
              <a:rPr lang="zh-CN" altLang="en-US" sz="2000" b="1"/>
              <a:t>⑵ 适用：弹性材料、荷载因素、静定超静定结构；</a:t>
            </a:r>
          </a:p>
        </p:txBody>
      </p:sp>
      <p:sp>
        <p:nvSpPr>
          <p:cNvPr id="37" name="Rectangle 6"/>
          <p:cNvSpPr>
            <a:spLocks noChangeArrowheads="1"/>
          </p:cNvSpPr>
          <p:nvPr/>
        </p:nvSpPr>
        <p:spPr bwMode="auto">
          <a:xfrm>
            <a:off x="469540" y="5215127"/>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简化形式</a:t>
            </a:r>
          </a:p>
        </p:txBody>
      </p:sp>
      <p:sp>
        <p:nvSpPr>
          <p:cNvPr id="39" name="TextBox 38"/>
          <p:cNvSpPr txBox="1"/>
          <p:nvPr/>
        </p:nvSpPr>
        <p:spPr>
          <a:xfrm>
            <a:off x="1278753" y="5647712"/>
            <a:ext cx="4615366" cy="400110"/>
          </a:xfrm>
          <a:prstGeom prst="rect">
            <a:avLst/>
          </a:prstGeom>
          <a:noFill/>
          <a:ln w="28575">
            <a:noFill/>
          </a:ln>
        </p:spPr>
        <p:txBody>
          <a:bodyPr wrap="none" rtlCol="0">
            <a:spAutoFit/>
          </a:bodyPr>
          <a:lstStyle/>
          <a:p>
            <a:r>
              <a:rPr lang="zh-CN" altLang="en-US" sz="2000" b="1"/>
              <a:t>⑴ 位移因素：支座移动、温度、荷载；</a:t>
            </a:r>
          </a:p>
        </p:txBody>
      </p:sp>
      <p:sp>
        <p:nvSpPr>
          <p:cNvPr id="41" name="TextBox 40"/>
          <p:cNvSpPr txBox="1"/>
          <p:nvPr/>
        </p:nvSpPr>
        <p:spPr>
          <a:xfrm>
            <a:off x="1285852" y="6029286"/>
            <a:ext cx="5641288" cy="400110"/>
          </a:xfrm>
          <a:prstGeom prst="rect">
            <a:avLst/>
          </a:prstGeom>
          <a:noFill/>
          <a:ln w="28575">
            <a:noFill/>
          </a:ln>
        </p:spPr>
        <p:txBody>
          <a:bodyPr wrap="none" rtlCol="0">
            <a:spAutoFit/>
          </a:bodyPr>
          <a:lstStyle/>
          <a:p>
            <a:r>
              <a:rPr lang="zh-CN" altLang="en-US" sz="2000" b="1"/>
              <a:t>⑵ 结构类型：梁、刚架、桁架、组合结构、拱；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up)">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down)">
                                      <p:cBhvr>
                                        <p:cTn id="23" dur="50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down)">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63554"/>
                                        </p:tgtEl>
                                        <p:attrNameLst>
                                          <p:attrName>style.visibility</p:attrName>
                                        </p:attrNameLst>
                                      </p:cBhvr>
                                      <p:to>
                                        <p:strVal val="visible"/>
                                      </p:to>
                                    </p:set>
                                    <p:anim calcmode="lin" valueType="num">
                                      <p:cBhvr additive="base">
                                        <p:cTn id="39" dur="500" fill="hold"/>
                                        <p:tgtEl>
                                          <p:spTgt spid="663554"/>
                                        </p:tgtEl>
                                        <p:attrNameLst>
                                          <p:attrName>ppt_x</p:attrName>
                                        </p:attrNameLst>
                                      </p:cBhvr>
                                      <p:tavLst>
                                        <p:tav tm="0">
                                          <p:val>
                                            <p:strVal val="#ppt_x"/>
                                          </p:val>
                                        </p:tav>
                                        <p:tav tm="100000">
                                          <p:val>
                                            <p:strVal val="#ppt_x"/>
                                          </p:val>
                                        </p:tav>
                                      </p:tavLst>
                                    </p:anim>
                                    <p:anim calcmode="lin" valueType="num">
                                      <p:cBhvr additive="base">
                                        <p:cTn id="40" dur="500" fill="hold"/>
                                        <p:tgtEl>
                                          <p:spTgt spid="66355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down)">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down)">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wipe(down)">
                                      <p:cBhvr>
                                        <p:cTn id="6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p:bldP spid="34" grpId="0"/>
      <p:bldP spid="36" grpId="0"/>
      <p:bldP spid="37" grpId="0"/>
      <p:bldP spid="39" grpId="0"/>
      <p:bldP spid="41"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位移计算的一般公式及灵活运用</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小结</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 name="Rectangle 6"/>
          <p:cNvSpPr>
            <a:spLocks noChangeArrowheads="1"/>
          </p:cNvSpPr>
          <p:nvPr/>
        </p:nvSpPr>
        <p:spPr bwMode="auto">
          <a:xfrm>
            <a:off x="469540" y="2500483"/>
            <a:ext cx="4888278" cy="428451"/>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t>图乘法</a:t>
            </a:r>
          </a:p>
        </p:txBody>
      </p:sp>
      <p:sp>
        <p:nvSpPr>
          <p:cNvPr id="34" name="TextBox 33"/>
          <p:cNvSpPr txBox="1"/>
          <p:nvPr/>
        </p:nvSpPr>
        <p:spPr>
          <a:xfrm>
            <a:off x="1643042" y="4000504"/>
            <a:ext cx="3815468" cy="400110"/>
          </a:xfrm>
          <a:prstGeom prst="rect">
            <a:avLst/>
          </a:prstGeom>
          <a:noFill/>
          <a:ln w="28575">
            <a:noFill/>
          </a:ln>
        </p:spPr>
        <p:txBody>
          <a:bodyPr wrap="none" rtlCol="0">
            <a:spAutoFit/>
          </a:bodyPr>
          <a:lstStyle/>
          <a:p>
            <a:r>
              <a:rPr lang="zh-CN" altLang="en-US" sz="2000" b="1"/>
              <a:t>等</a:t>
            </a:r>
            <a:r>
              <a:rPr lang="en-US" altLang="zh-CN" sz="2000" b="1" i="1">
                <a:latin typeface="Times New Roman" pitchFamily="18" charset="0"/>
                <a:cs typeface="Times New Roman" pitchFamily="18" charset="0"/>
              </a:rPr>
              <a:t>EI</a:t>
            </a:r>
            <a:r>
              <a:rPr lang="zh-CN" altLang="en-US" sz="2000" b="1">
                <a:latin typeface="Times New Roman" pitchFamily="18" charset="0"/>
                <a:cs typeface="Times New Roman" pitchFamily="18" charset="0"/>
              </a:rPr>
              <a:t>（</a:t>
            </a:r>
            <a:r>
              <a:rPr lang="zh-CN" altLang="en-US" sz="2000" b="1"/>
              <a:t>截面抗弯刚度）直杆；</a:t>
            </a:r>
            <a:r>
              <a:rPr lang="en-US" altLang="zh-CN" sz="2000" b="1"/>
              <a:t>    </a:t>
            </a:r>
            <a:endParaRPr lang="zh-CN" altLang="en-US" sz="2000" b="1"/>
          </a:p>
        </p:txBody>
      </p:sp>
      <p:sp>
        <p:nvSpPr>
          <p:cNvPr id="36" name="TextBox 35"/>
          <p:cNvSpPr txBox="1"/>
          <p:nvPr/>
        </p:nvSpPr>
        <p:spPr>
          <a:xfrm>
            <a:off x="1643042" y="4386212"/>
            <a:ext cx="3005951" cy="400110"/>
          </a:xfrm>
          <a:prstGeom prst="rect">
            <a:avLst/>
          </a:prstGeom>
          <a:noFill/>
          <a:ln w="28575">
            <a:noFill/>
          </a:ln>
        </p:spPr>
        <p:txBody>
          <a:bodyPr wrap="none" rtlCol="0">
            <a:spAutoFit/>
          </a:bodyPr>
          <a:lstStyle/>
          <a:p>
            <a:r>
              <a:rPr lang="zh-CN" altLang="en-US" sz="2000" b="1"/>
              <a:t>至少一个弯矩图为直线；</a:t>
            </a:r>
          </a:p>
        </p:txBody>
      </p:sp>
      <p:graphicFrame>
        <p:nvGraphicFramePr>
          <p:cNvPr id="665603" name="Object 6"/>
          <p:cNvGraphicFramePr>
            <a:graphicFrameLocks noChangeAspect="1"/>
          </p:cNvGraphicFramePr>
          <p:nvPr/>
        </p:nvGraphicFramePr>
        <p:xfrm>
          <a:off x="2228848" y="2960688"/>
          <a:ext cx="2057400" cy="611188"/>
        </p:xfrm>
        <a:graphic>
          <a:graphicData uri="http://schemas.openxmlformats.org/presentationml/2006/ole">
            <mc:AlternateContent xmlns:mc="http://schemas.openxmlformats.org/markup-compatibility/2006">
              <mc:Choice xmlns:v="urn:schemas-microsoft-com:vml" Requires="v">
                <p:oleObj spid="_x0000_s665605" name="Equation" r:id="rId4" imgW="1320480" imgH="393480" progId="Equation.DSMT4">
                  <p:embed/>
                </p:oleObj>
              </mc:Choice>
              <mc:Fallback>
                <p:oleObj name="Equation" r:id="rId4" imgW="1320480" imgH="39348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48" y="2960688"/>
                        <a:ext cx="2057400"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04" name="Object 3"/>
          <p:cNvGraphicFramePr>
            <a:graphicFrameLocks noChangeAspect="1"/>
          </p:cNvGraphicFramePr>
          <p:nvPr/>
        </p:nvGraphicFramePr>
        <p:xfrm>
          <a:off x="1142976" y="1790694"/>
          <a:ext cx="4805362" cy="689123"/>
        </p:xfrm>
        <a:graphic>
          <a:graphicData uri="http://schemas.openxmlformats.org/presentationml/2006/ole">
            <mc:AlternateContent xmlns:mc="http://schemas.openxmlformats.org/markup-compatibility/2006">
              <mc:Choice xmlns:v="urn:schemas-microsoft-com:vml" Requires="v">
                <p:oleObj spid="_x0000_s665606" name="Equation" r:id="rId6" imgW="3098520" imgH="444240" progId="Equation.DSMT4">
                  <p:embed/>
                </p:oleObj>
              </mc:Choice>
              <mc:Fallback>
                <p:oleObj name="Equation" r:id="rId6" imgW="3098520" imgH="44424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2976" y="1790694"/>
                        <a:ext cx="4805362" cy="68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 name="Picture 4" descr="C:\Users\Administrator\Pictures\2015-10-31\图乘法.jpg"/>
          <p:cNvPicPr>
            <a:picLocks noChangeAspect="1" noChangeArrowheads="1"/>
          </p:cNvPicPr>
          <p:nvPr/>
        </p:nvPicPr>
        <p:blipFill>
          <a:blip r:embed="rId8"/>
          <a:srcRect/>
          <a:stretch>
            <a:fillRect/>
          </a:stretch>
        </p:blipFill>
        <p:spPr bwMode="auto">
          <a:xfrm>
            <a:off x="6030145" y="1857364"/>
            <a:ext cx="2899573" cy="2428892"/>
          </a:xfrm>
          <a:prstGeom prst="rect">
            <a:avLst/>
          </a:prstGeom>
          <a:noFill/>
          <a:ln>
            <a:solidFill>
              <a:schemeClr val="tx1"/>
            </a:solidFill>
          </a:ln>
        </p:spPr>
      </p:pic>
      <p:sp>
        <p:nvSpPr>
          <p:cNvPr id="42" name="TextBox 41"/>
          <p:cNvSpPr txBox="1"/>
          <p:nvPr/>
        </p:nvSpPr>
        <p:spPr>
          <a:xfrm>
            <a:off x="1285852" y="3631122"/>
            <a:ext cx="1794081" cy="400110"/>
          </a:xfrm>
          <a:prstGeom prst="rect">
            <a:avLst/>
          </a:prstGeom>
          <a:noFill/>
          <a:ln w="28575">
            <a:noFill/>
          </a:ln>
        </p:spPr>
        <p:txBody>
          <a:bodyPr wrap="none" rtlCol="0">
            <a:spAutoFit/>
          </a:bodyPr>
          <a:lstStyle/>
          <a:p>
            <a:r>
              <a:rPr lang="zh-CN" altLang="en-US" sz="2000" b="1"/>
              <a:t>⑴ 适用范围：</a:t>
            </a:r>
          </a:p>
        </p:txBody>
      </p:sp>
      <p:sp>
        <p:nvSpPr>
          <p:cNvPr id="43" name="TextBox 42"/>
          <p:cNvSpPr txBox="1"/>
          <p:nvPr/>
        </p:nvSpPr>
        <p:spPr>
          <a:xfrm>
            <a:off x="1257522" y="4814840"/>
            <a:ext cx="2563522" cy="400110"/>
          </a:xfrm>
          <a:prstGeom prst="rect">
            <a:avLst/>
          </a:prstGeom>
          <a:noFill/>
          <a:ln w="28575">
            <a:noFill/>
          </a:ln>
        </p:spPr>
        <p:txBody>
          <a:bodyPr wrap="none" rtlCol="0">
            <a:spAutoFit/>
          </a:bodyPr>
          <a:lstStyle/>
          <a:p>
            <a:r>
              <a:rPr lang="zh-CN" altLang="en-US" sz="2000" b="1"/>
              <a:t>⑵ 复杂图形的分解：</a:t>
            </a:r>
          </a:p>
        </p:txBody>
      </p:sp>
      <p:grpSp>
        <p:nvGrpSpPr>
          <p:cNvPr id="44" name="组合 43"/>
          <p:cNvGrpSpPr/>
          <p:nvPr/>
        </p:nvGrpSpPr>
        <p:grpSpPr>
          <a:xfrm>
            <a:off x="4643438" y="4572008"/>
            <a:ext cx="1928826" cy="1571636"/>
            <a:chOff x="6000760" y="4214818"/>
            <a:chExt cx="2862274" cy="2232023"/>
          </a:xfrm>
        </p:grpSpPr>
        <p:pic>
          <p:nvPicPr>
            <p:cNvPr id="51" name="Picture 5"/>
            <p:cNvPicPr>
              <a:picLocks noChangeAspect="1" noChangeArrowheads="1"/>
            </p:cNvPicPr>
            <p:nvPr/>
          </p:nvPicPr>
          <p:blipFill>
            <a:blip r:embed="rId9"/>
            <a:srcRect/>
            <a:stretch>
              <a:fillRect/>
            </a:stretch>
          </p:blipFill>
          <p:spPr bwMode="auto">
            <a:xfrm>
              <a:off x="6000760" y="4214818"/>
              <a:ext cx="2862274" cy="2232023"/>
            </a:xfrm>
            <a:prstGeom prst="rect">
              <a:avLst/>
            </a:prstGeom>
            <a:noFill/>
            <a:ln>
              <a:solidFill>
                <a:schemeClr val="tx1"/>
              </a:solidFill>
            </a:ln>
          </p:spPr>
        </p:pic>
        <p:sp>
          <p:nvSpPr>
            <p:cNvPr id="52" name="TextBox 11"/>
            <p:cNvSpPr txBox="1"/>
            <p:nvPr/>
          </p:nvSpPr>
          <p:spPr>
            <a:xfrm>
              <a:off x="6572264" y="4472164"/>
              <a:ext cx="285752" cy="246221"/>
            </a:xfrm>
            <a:prstGeom prst="rect">
              <a:avLst/>
            </a:prstGeom>
            <a:solidFill>
              <a:schemeClr val="bg1"/>
            </a:solidFill>
            <a:ln w="28575">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1</a:t>
              </a:r>
              <a:endParaRPr lang="zh-CN" altLang="en-US" sz="1600" b="1" baseline="-25000">
                <a:latin typeface="Times New Roman" pitchFamily="18" charset="0"/>
                <a:cs typeface="Times New Roman" pitchFamily="18" charset="0"/>
              </a:endParaRPr>
            </a:p>
          </p:txBody>
        </p:sp>
        <p:sp>
          <p:nvSpPr>
            <p:cNvPr id="53" name="TextBox 12"/>
            <p:cNvSpPr txBox="1"/>
            <p:nvPr/>
          </p:nvSpPr>
          <p:spPr>
            <a:xfrm>
              <a:off x="7304292" y="4429132"/>
              <a:ext cx="285752" cy="246221"/>
            </a:xfrm>
            <a:prstGeom prst="rect">
              <a:avLst/>
            </a:prstGeom>
            <a:solidFill>
              <a:schemeClr val="bg1"/>
            </a:solidFill>
            <a:ln w="28575">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2</a:t>
              </a:r>
              <a:endParaRPr lang="zh-CN" altLang="en-US" sz="1600" b="1" baseline="-25000">
                <a:latin typeface="Times New Roman" pitchFamily="18" charset="0"/>
                <a:cs typeface="Times New Roman" pitchFamily="18" charset="0"/>
              </a:endParaRPr>
            </a:p>
          </p:txBody>
        </p:sp>
        <p:sp>
          <p:nvSpPr>
            <p:cNvPr id="54" name="TextBox 13"/>
            <p:cNvSpPr txBox="1"/>
            <p:nvPr/>
          </p:nvSpPr>
          <p:spPr>
            <a:xfrm>
              <a:off x="8001024" y="4613806"/>
              <a:ext cx="285752" cy="246221"/>
            </a:xfrm>
            <a:prstGeom prst="rect">
              <a:avLst/>
            </a:prstGeom>
            <a:solidFill>
              <a:schemeClr val="bg1"/>
            </a:solidFill>
            <a:ln w="28575">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3</a:t>
              </a:r>
              <a:endParaRPr lang="zh-CN" altLang="en-US" sz="1600" b="1" baseline="-25000">
                <a:latin typeface="Times New Roman" pitchFamily="18" charset="0"/>
                <a:cs typeface="Times New Roman" pitchFamily="18" charset="0"/>
              </a:endParaRPr>
            </a:p>
          </p:txBody>
        </p:sp>
      </p:grpSp>
      <p:grpSp>
        <p:nvGrpSpPr>
          <p:cNvPr id="45" name="组合 44"/>
          <p:cNvGrpSpPr/>
          <p:nvPr/>
        </p:nvGrpSpPr>
        <p:grpSpPr>
          <a:xfrm>
            <a:off x="6786578" y="4572008"/>
            <a:ext cx="2143140" cy="1571636"/>
            <a:chOff x="5214942" y="4297985"/>
            <a:chExt cx="3000396" cy="2059973"/>
          </a:xfrm>
        </p:grpSpPr>
        <p:pic>
          <p:nvPicPr>
            <p:cNvPr id="46" name="Picture 11"/>
            <p:cNvPicPr>
              <a:picLocks noChangeAspect="1" noChangeArrowheads="1"/>
            </p:cNvPicPr>
            <p:nvPr/>
          </p:nvPicPr>
          <p:blipFill>
            <a:blip r:embed="rId10" cstate="print"/>
            <a:srcRect/>
            <a:stretch>
              <a:fillRect/>
            </a:stretch>
          </p:blipFill>
          <p:spPr bwMode="auto">
            <a:xfrm>
              <a:off x="5214942" y="4297985"/>
              <a:ext cx="3000396" cy="2059973"/>
            </a:xfrm>
            <a:prstGeom prst="rect">
              <a:avLst/>
            </a:prstGeom>
            <a:noFill/>
            <a:ln>
              <a:solidFill>
                <a:schemeClr val="tx1"/>
              </a:solidFill>
            </a:ln>
          </p:spPr>
        </p:pic>
        <p:sp>
          <p:nvSpPr>
            <p:cNvPr id="49" name="TextBox 24"/>
            <p:cNvSpPr txBox="1"/>
            <p:nvPr/>
          </p:nvSpPr>
          <p:spPr>
            <a:xfrm>
              <a:off x="5857884" y="4643446"/>
              <a:ext cx="263878" cy="228536"/>
            </a:xfrm>
            <a:prstGeom prst="rect">
              <a:avLst/>
            </a:prstGeom>
            <a:solidFill>
              <a:schemeClr val="bg1"/>
            </a:solidFill>
            <a:ln w="28575">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1</a:t>
              </a:r>
              <a:endParaRPr lang="zh-CN" altLang="en-US" sz="1600" b="1" baseline="-25000">
                <a:latin typeface="Times New Roman" pitchFamily="18" charset="0"/>
                <a:cs typeface="Times New Roman" pitchFamily="18" charset="0"/>
              </a:endParaRPr>
            </a:p>
          </p:txBody>
        </p:sp>
        <p:sp>
          <p:nvSpPr>
            <p:cNvPr id="50" name="TextBox 25"/>
            <p:cNvSpPr txBox="1"/>
            <p:nvPr/>
          </p:nvSpPr>
          <p:spPr>
            <a:xfrm>
              <a:off x="7000892" y="4843538"/>
              <a:ext cx="263878" cy="228536"/>
            </a:xfrm>
            <a:prstGeom prst="rect">
              <a:avLst/>
            </a:prstGeom>
            <a:solidFill>
              <a:schemeClr val="bg1"/>
            </a:solidFill>
            <a:ln w="28575">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i="1">
                  <a:latin typeface="Times New Roman" pitchFamily="18" charset="0"/>
                  <a:cs typeface="Times New Roman" pitchFamily="18" charset="0"/>
                </a:rPr>
                <a:t>A</a:t>
              </a:r>
              <a:r>
                <a:rPr lang="en-US" altLang="zh-CN" sz="1600" b="1" baseline="-25000">
                  <a:latin typeface="Times New Roman" pitchFamily="18" charset="0"/>
                  <a:cs typeface="Times New Roman" pitchFamily="18" charset="0"/>
                </a:rPr>
                <a:t>2</a:t>
              </a:r>
              <a:endParaRPr lang="zh-CN" altLang="en-US" sz="1600" b="1" baseline="-25000">
                <a:latin typeface="Times New Roman" pitchFamily="18" charset="0"/>
                <a:cs typeface="Times New Roman" pitchFamily="18" charset="0"/>
              </a:endParaRPr>
            </a:p>
          </p:txBody>
        </p:sp>
      </p:grpSp>
      <p:sp>
        <p:nvSpPr>
          <p:cNvPr id="55" name="TextBox 54"/>
          <p:cNvSpPr txBox="1"/>
          <p:nvPr/>
        </p:nvSpPr>
        <p:spPr>
          <a:xfrm>
            <a:off x="1643042" y="5184222"/>
            <a:ext cx="1210588" cy="400110"/>
          </a:xfrm>
          <a:prstGeom prst="rect">
            <a:avLst/>
          </a:prstGeom>
          <a:noFill/>
          <a:ln w="28575">
            <a:noFill/>
          </a:ln>
        </p:spPr>
        <p:txBody>
          <a:bodyPr wrap="none" rtlCol="0">
            <a:spAutoFit/>
          </a:bodyPr>
          <a:lstStyle/>
          <a:p>
            <a:r>
              <a:rPr lang="zh-CN" altLang="en-US" sz="2000" b="1"/>
              <a:t>分段法；</a:t>
            </a:r>
          </a:p>
        </p:txBody>
      </p:sp>
      <p:sp>
        <p:nvSpPr>
          <p:cNvPr id="56" name="TextBox 55"/>
          <p:cNvSpPr txBox="1"/>
          <p:nvPr/>
        </p:nvSpPr>
        <p:spPr>
          <a:xfrm>
            <a:off x="1643042" y="5559948"/>
            <a:ext cx="1210588" cy="400110"/>
          </a:xfrm>
          <a:prstGeom prst="rect">
            <a:avLst/>
          </a:prstGeom>
          <a:noFill/>
          <a:ln w="28575">
            <a:noFill/>
          </a:ln>
        </p:spPr>
        <p:txBody>
          <a:bodyPr wrap="none" rtlCol="0">
            <a:spAutoFit/>
          </a:bodyPr>
          <a:lstStyle/>
          <a:p>
            <a:r>
              <a:rPr lang="zh-CN" altLang="en-US" sz="2000" b="1"/>
              <a:t>叠加法；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65604"/>
                                        </p:tgtEl>
                                        <p:attrNameLst>
                                          <p:attrName>style.visibility</p:attrName>
                                        </p:attrNameLst>
                                      </p:cBhvr>
                                      <p:to>
                                        <p:strVal val="visible"/>
                                      </p:to>
                                    </p:set>
                                    <p:anim calcmode="lin" valueType="num">
                                      <p:cBhvr additive="base">
                                        <p:cTn id="7" dur="500" fill="hold"/>
                                        <p:tgtEl>
                                          <p:spTgt spid="665604"/>
                                        </p:tgtEl>
                                        <p:attrNameLst>
                                          <p:attrName>ppt_x</p:attrName>
                                        </p:attrNameLst>
                                      </p:cBhvr>
                                      <p:tavLst>
                                        <p:tav tm="0">
                                          <p:val>
                                            <p:strVal val="#ppt_x"/>
                                          </p:val>
                                        </p:tav>
                                        <p:tav tm="100000">
                                          <p:val>
                                            <p:strVal val="#ppt_x"/>
                                          </p:val>
                                        </p:tav>
                                      </p:tavLst>
                                    </p:anim>
                                    <p:anim calcmode="lin" valueType="num">
                                      <p:cBhvr additive="base">
                                        <p:cTn id="8" dur="500" fill="hold"/>
                                        <p:tgtEl>
                                          <p:spTgt spid="6656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3" presetClass="entr" presetSubtype="10" fill="hold" nodeType="afterEffect">
                                  <p:stCondLst>
                                    <p:cond delay="0"/>
                                  </p:stCondLst>
                                  <p:childTnLst>
                                    <p:set>
                                      <p:cBhvr>
                                        <p:cTn id="17" dur="1" fill="hold">
                                          <p:stCondLst>
                                            <p:cond delay="0"/>
                                          </p:stCondLst>
                                        </p:cTn>
                                        <p:tgtEl>
                                          <p:spTgt spid="665603"/>
                                        </p:tgtEl>
                                        <p:attrNameLst>
                                          <p:attrName>style.visibility</p:attrName>
                                        </p:attrNameLst>
                                      </p:cBhvr>
                                      <p:to>
                                        <p:strVal val="visible"/>
                                      </p:to>
                                    </p:set>
                                    <p:animEffect transition="in" filter="blinds(horizontal)">
                                      <p:cBhvr>
                                        <p:cTn id="18" dur="500"/>
                                        <p:tgtEl>
                                          <p:spTgt spid="66560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down)">
                                      <p:cBhvr>
                                        <p:cTn id="23" dur="500"/>
                                        <p:tgtEl>
                                          <p:spTgt spid="4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ppt_x"/>
                                          </p:val>
                                        </p:tav>
                                        <p:tav tm="100000">
                                          <p:val>
                                            <p:strVal val="#ppt_x"/>
                                          </p:val>
                                        </p:tav>
                                      </p:tavLst>
                                    </p:anim>
                                    <p:anim calcmode="lin" valueType="num">
                                      <p:cBhvr additive="base">
                                        <p:cTn id="2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down)">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down)">
                                      <p:cBhvr>
                                        <p:cTn id="44" dur="5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wipe(down)">
                                      <p:cBhvr>
                                        <p:cTn id="49" dur="500"/>
                                        <p:tgtEl>
                                          <p:spTgt spid="55"/>
                                        </p:tgtEl>
                                      </p:cBhvr>
                                    </p:animEffect>
                                  </p:childTnLst>
                                </p:cTn>
                              </p:par>
                            </p:childTnLst>
                          </p:cTn>
                        </p:par>
                        <p:par>
                          <p:cTn id="50" fill="hold">
                            <p:stCondLst>
                              <p:cond delay="500"/>
                            </p:stCondLst>
                            <p:childTnLst>
                              <p:par>
                                <p:cTn id="51" presetID="2" presetClass="entr" presetSubtype="4" fill="hold" nodeType="afterEffect">
                                  <p:stCondLst>
                                    <p:cond delay="0"/>
                                  </p:stCondLst>
                                  <p:childTnLst>
                                    <p:set>
                                      <p:cBhvr>
                                        <p:cTn id="52" dur="1" fill="hold">
                                          <p:stCondLst>
                                            <p:cond delay="0"/>
                                          </p:stCondLst>
                                        </p:cTn>
                                        <p:tgtEl>
                                          <p:spTgt spid="44"/>
                                        </p:tgtEl>
                                        <p:attrNameLst>
                                          <p:attrName>style.visibility</p:attrName>
                                        </p:attrNameLst>
                                      </p:cBhvr>
                                      <p:to>
                                        <p:strVal val="visible"/>
                                      </p:to>
                                    </p:set>
                                    <p:anim calcmode="lin" valueType="num">
                                      <p:cBhvr additive="base">
                                        <p:cTn id="53" dur="500" fill="hold"/>
                                        <p:tgtEl>
                                          <p:spTgt spid="44"/>
                                        </p:tgtEl>
                                        <p:attrNameLst>
                                          <p:attrName>ppt_x</p:attrName>
                                        </p:attrNameLst>
                                      </p:cBhvr>
                                      <p:tavLst>
                                        <p:tav tm="0">
                                          <p:val>
                                            <p:strVal val="#ppt_x"/>
                                          </p:val>
                                        </p:tav>
                                        <p:tav tm="100000">
                                          <p:val>
                                            <p:strVal val="#ppt_x"/>
                                          </p:val>
                                        </p:tav>
                                      </p:tavLst>
                                    </p:anim>
                                    <p:anim calcmode="lin" valueType="num">
                                      <p:cBhvr additive="base">
                                        <p:cTn id="5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wipe(down)">
                                      <p:cBhvr>
                                        <p:cTn id="59" dur="500"/>
                                        <p:tgtEl>
                                          <p:spTgt spid="56"/>
                                        </p:tgtEl>
                                      </p:cBhvr>
                                    </p:animEffect>
                                  </p:child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45"/>
                                        </p:tgtEl>
                                        <p:attrNameLst>
                                          <p:attrName>style.visibility</p:attrName>
                                        </p:attrNameLst>
                                      </p:cBhvr>
                                      <p:to>
                                        <p:strVal val="visible"/>
                                      </p:to>
                                    </p:set>
                                    <p:anim calcmode="lin" valueType="num">
                                      <p:cBhvr additive="base">
                                        <p:cTn id="63" dur="500" fill="hold"/>
                                        <p:tgtEl>
                                          <p:spTgt spid="45"/>
                                        </p:tgtEl>
                                        <p:attrNameLst>
                                          <p:attrName>ppt_x</p:attrName>
                                        </p:attrNameLst>
                                      </p:cBhvr>
                                      <p:tavLst>
                                        <p:tav tm="0">
                                          <p:val>
                                            <p:strVal val="#ppt_x"/>
                                          </p:val>
                                        </p:tav>
                                        <p:tav tm="100000">
                                          <p:val>
                                            <p:strVal val="#ppt_x"/>
                                          </p:val>
                                        </p:tav>
                                      </p:tavLst>
                                    </p:anim>
                                    <p:anim calcmode="lin" valueType="num">
                                      <p:cBhvr additive="base">
                                        <p:cTn id="6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4" grpId="0"/>
      <p:bldP spid="36" grpId="0"/>
      <p:bldP spid="42" grpId="0"/>
      <p:bldP spid="43" grpId="0"/>
      <p:bldP spid="55" grpId="0"/>
      <p:bldP spid="5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虚力原理与虚位移原理</a:t>
            </a:r>
            <a:endParaRPr lang="en-US" altLang="zh-CN" sz="2400">
              <a:solidFill>
                <a:srgbClr val="C00000"/>
              </a:solidFill>
            </a:endParaRPr>
          </a:p>
        </p:txBody>
      </p:sp>
      <p:sp>
        <p:nvSpPr>
          <p:cNvPr id="2" name="标题 1"/>
          <p:cNvSpPr>
            <a:spLocks noGrp="1"/>
          </p:cNvSpPr>
          <p:nvPr>
            <p:ph type="title"/>
          </p:nvPr>
        </p:nvSpPr>
        <p:spPr>
          <a:xfrm>
            <a:off x="457200" y="260648"/>
            <a:ext cx="8229600" cy="882336"/>
          </a:xfrm>
        </p:spPr>
        <p:txBody>
          <a:bodyPr/>
          <a:lstStyle/>
          <a:p>
            <a:pPr lvl="1" algn="r"/>
            <a:r>
              <a:rPr lang="zh-CN" altLang="en-US" sz="3600"/>
              <a:t>小结</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2" name="TextBox 41"/>
          <p:cNvSpPr txBox="1"/>
          <p:nvPr/>
        </p:nvSpPr>
        <p:spPr>
          <a:xfrm>
            <a:off x="3000364" y="2696084"/>
            <a:ext cx="3332964" cy="400110"/>
          </a:xfrm>
          <a:prstGeom prst="rect">
            <a:avLst/>
          </a:prstGeom>
          <a:noFill/>
          <a:ln w="28575">
            <a:noFill/>
          </a:ln>
        </p:spPr>
        <p:txBody>
          <a:bodyPr wrap="none" rtlCol="0">
            <a:spAutoFit/>
          </a:bodyPr>
          <a:lstStyle/>
          <a:p>
            <a:r>
              <a:rPr lang="zh-CN" altLang="en-US" sz="2000" b="1">
                <a:solidFill>
                  <a:srgbClr val="0033CC"/>
                </a:solidFill>
              </a:rPr>
              <a:t>变形和协调方程的必要条件 </a:t>
            </a:r>
          </a:p>
        </p:txBody>
      </p:sp>
      <p:grpSp>
        <p:nvGrpSpPr>
          <p:cNvPr id="4" name="组合 28"/>
          <p:cNvGrpSpPr/>
          <p:nvPr/>
        </p:nvGrpSpPr>
        <p:grpSpPr>
          <a:xfrm>
            <a:off x="2143108" y="1857364"/>
            <a:ext cx="5000660" cy="1238830"/>
            <a:chOff x="2143108" y="1857364"/>
            <a:chExt cx="5000660" cy="1238830"/>
          </a:xfrm>
        </p:grpSpPr>
        <p:grpSp>
          <p:nvGrpSpPr>
            <p:cNvPr id="5" name="组合 24"/>
            <p:cNvGrpSpPr/>
            <p:nvPr/>
          </p:nvGrpSpPr>
          <p:grpSpPr>
            <a:xfrm>
              <a:off x="2285984" y="1857364"/>
              <a:ext cx="4840287" cy="857256"/>
              <a:chOff x="2285984" y="1857364"/>
              <a:chExt cx="4840287" cy="857256"/>
            </a:xfrm>
          </p:grpSpPr>
          <p:graphicFrame>
            <p:nvGraphicFramePr>
              <p:cNvPr id="26" name="Object 10"/>
              <p:cNvGraphicFramePr>
                <a:graphicFrameLocks noChangeAspect="1"/>
              </p:cNvGraphicFramePr>
              <p:nvPr/>
            </p:nvGraphicFramePr>
            <p:xfrm>
              <a:off x="2285984" y="2201857"/>
              <a:ext cx="4840287" cy="512763"/>
            </p:xfrm>
            <a:graphic>
              <a:graphicData uri="http://schemas.openxmlformats.org/presentationml/2006/ole">
                <mc:AlternateContent xmlns:mc="http://schemas.openxmlformats.org/markup-compatibility/2006">
                  <mc:Choice xmlns:v="urn:schemas-microsoft-com:vml" Requires="v">
                    <p:oleObj spid="_x0000_s667651" name="Equation" r:id="rId4" imgW="3124080" imgH="330120" progId="Equation.DSMT4">
                      <p:embed/>
                    </p:oleObj>
                  </mc:Choice>
                  <mc:Fallback>
                    <p:oleObj name="Equation" r:id="rId4" imgW="3124080" imgH="33012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5984" y="2201857"/>
                            <a:ext cx="4840287" cy="512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Box 26"/>
              <p:cNvSpPr txBox="1"/>
              <p:nvPr/>
            </p:nvSpPr>
            <p:spPr>
              <a:xfrm>
                <a:off x="4000496" y="1857364"/>
                <a:ext cx="1210588" cy="400110"/>
              </a:xfrm>
              <a:prstGeom prst="rect">
                <a:avLst/>
              </a:prstGeom>
              <a:noFill/>
              <a:ln w="28575">
                <a:noFill/>
              </a:ln>
            </p:spPr>
            <p:txBody>
              <a:bodyPr wrap="none" rtlCol="0">
                <a:spAutoFit/>
              </a:bodyPr>
              <a:lstStyle/>
              <a:p>
                <a:r>
                  <a:rPr lang="zh-CN" altLang="en-US" sz="2000" b="1"/>
                  <a:t>虚功方程</a:t>
                </a:r>
              </a:p>
            </p:txBody>
          </p:sp>
        </p:grpSp>
        <p:sp>
          <p:nvSpPr>
            <p:cNvPr id="28" name="矩形 27"/>
            <p:cNvSpPr/>
            <p:nvPr/>
          </p:nvSpPr>
          <p:spPr bwMode="auto">
            <a:xfrm>
              <a:off x="2143108" y="1857364"/>
              <a:ext cx="5000660" cy="1238830"/>
            </a:xfrm>
            <a:prstGeom prst="rect">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p>
          </p:txBody>
        </p:sp>
      </p:grpSp>
      <p:grpSp>
        <p:nvGrpSpPr>
          <p:cNvPr id="6" name="组合 29"/>
          <p:cNvGrpSpPr/>
          <p:nvPr/>
        </p:nvGrpSpPr>
        <p:grpSpPr>
          <a:xfrm>
            <a:off x="1214414" y="3024754"/>
            <a:ext cx="7000924" cy="1356334"/>
            <a:chOff x="1214414" y="2331228"/>
            <a:chExt cx="7000924" cy="1515903"/>
          </a:xfrm>
        </p:grpSpPr>
        <p:sp>
          <p:nvSpPr>
            <p:cNvPr id="31" name="TextBox 24"/>
            <p:cNvSpPr txBox="1"/>
            <p:nvPr/>
          </p:nvSpPr>
          <p:spPr>
            <a:xfrm>
              <a:off x="1214414" y="2969968"/>
              <a:ext cx="3005951" cy="877163"/>
            </a:xfrm>
            <a:prstGeom prst="rect">
              <a:avLst/>
            </a:prstGeom>
            <a:noFill/>
            <a:ln w="28575">
              <a:solidFill>
                <a:srgbClr val="0033CC"/>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a:t>虚力方程</a:t>
              </a:r>
              <a:endParaRPr lang="en-US" altLang="zh-CN" sz="2000" b="1"/>
            </a:p>
            <a:p>
              <a:pPr algn="ctr">
                <a:spcBef>
                  <a:spcPts val="600"/>
                </a:spcBef>
              </a:pPr>
              <a:r>
                <a:rPr lang="zh-CN" altLang="en-US" sz="2000" b="1">
                  <a:solidFill>
                    <a:srgbClr val="0033CC"/>
                  </a:solidFill>
                </a:rPr>
                <a:t>变形协调方程的充要条件</a:t>
              </a:r>
            </a:p>
          </p:txBody>
        </p:sp>
        <p:sp>
          <p:nvSpPr>
            <p:cNvPr id="32" name="TextBox 25"/>
            <p:cNvSpPr txBox="1"/>
            <p:nvPr/>
          </p:nvSpPr>
          <p:spPr>
            <a:xfrm>
              <a:off x="5465867" y="2969968"/>
              <a:ext cx="2749471" cy="877163"/>
            </a:xfrm>
            <a:prstGeom prst="rect">
              <a:avLst/>
            </a:prstGeom>
            <a:noFill/>
            <a:ln w="28575">
              <a:solidFill>
                <a:srgbClr val="0033CC"/>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a:t>虚位移方程</a:t>
              </a:r>
              <a:endParaRPr lang="en-US" altLang="zh-CN" sz="2000" b="1"/>
            </a:p>
            <a:p>
              <a:pPr algn="ctr">
                <a:spcBef>
                  <a:spcPts val="600"/>
                </a:spcBef>
              </a:pPr>
              <a:r>
                <a:rPr lang="zh-CN" altLang="en-US" sz="2000" b="1">
                  <a:solidFill>
                    <a:srgbClr val="0033CC"/>
                  </a:solidFill>
                </a:rPr>
                <a:t>平衡方程的充要条件</a:t>
              </a:r>
            </a:p>
          </p:txBody>
        </p:sp>
        <p:cxnSp>
          <p:nvCxnSpPr>
            <p:cNvPr id="33" name="肘形连接符 27"/>
            <p:cNvCxnSpPr>
              <a:stCxn id="28" idx="2"/>
              <a:endCxn id="31" idx="0"/>
            </p:cNvCxnSpPr>
            <p:nvPr/>
          </p:nvCxnSpPr>
          <p:spPr bwMode="auto">
            <a:xfrm rot="5400000">
              <a:off x="3361045" y="1687574"/>
              <a:ext cx="638739" cy="1926048"/>
            </a:xfrm>
            <a:prstGeom prst="bentConnector3">
              <a:avLst>
                <a:gd name="adj1" fmla="val 50000"/>
              </a:avLst>
            </a:prstGeom>
            <a:solidFill>
              <a:schemeClr val="accent1"/>
            </a:solidFill>
            <a:ln w="28575" cap="flat" cmpd="sng" algn="ctr">
              <a:solidFill>
                <a:srgbClr val="0033CC"/>
              </a:solidFill>
              <a:prstDash val="solid"/>
              <a:round/>
              <a:headEnd type="none" w="med" len="med"/>
              <a:tailEnd type="none" w="med" len="med"/>
            </a:ln>
            <a:effectLst/>
          </p:spPr>
        </p:cxnSp>
        <p:cxnSp>
          <p:nvCxnSpPr>
            <p:cNvPr id="35" name="肘形连接符 34"/>
            <p:cNvCxnSpPr>
              <a:stCxn id="28" idx="2"/>
              <a:endCxn id="32" idx="0"/>
            </p:cNvCxnSpPr>
            <p:nvPr/>
          </p:nvCxnSpPr>
          <p:spPr bwMode="auto">
            <a:xfrm rot="16200000" flipH="1">
              <a:off x="5422651" y="1552016"/>
              <a:ext cx="638739" cy="2197165"/>
            </a:xfrm>
            <a:prstGeom prst="bentConnector3">
              <a:avLst>
                <a:gd name="adj1" fmla="val 50000"/>
              </a:avLst>
            </a:prstGeom>
            <a:solidFill>
              <a:schemeClr val="accent1"/>
            </a:solidFill>
            <a:ln w="28575" cap="flat" cmpd="sng" algn="ctr">
              <a:solidFill>
                <a:srgbClr val="0033CC"/>
              </a:solidFill>
              <a:prstDash val="solid"/>
              <a:round/>
              <a:headEnd type="none" w="med" len="med"/>
              <a:tailEnd type="none" w="med" len="med"/>
            </a:ln>
            <a:effectLst/>
          </p:spPr>
        </p:cxnSp>
      </p:grpSp>
      <p:sp>
        <p:nvSpPr>
          <p:cNvPr id="57" name="TextBox 56"/>
          <p:cNvSpPr txBox="1"/>
          <p:nvPr/>
        </p:nvSpPr>
        <p:spPr>
          <a:xfrm>
            <a:off x="928662" y="4500570"/>
            <a:ext cx="7622600" cy="400110"/>
          </a:xfrm>
          <a:prstGeom prst="rect">
            <a:avLst/>
          </a:prstGeom>
          <a:noFill/>
          <a:ln w="28575">
            <a:noFill/>
          </a:ln>
        </p:spPr>
        <p:txBody>
          <a:bodyPr wrap="none" rtlCol="0">
            <a:spAutoFit/>
          </a:bodyPr>
          <a:lstStyle/>
          <a:p>
            <a:r>
              <a:rPr lang="zh-CN" altLang="en-US" sz="2000" b="1"/>
              <a:t>适用范围：弹性和非弹性材料、任意位移因素、静定超静定结构；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down)">
                                      <p:cBhvr>
                                        <p:cTn id="13" dur="500"/>
                                        <p:tgtEl>
                                          <p:spTgt spid="4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7"/>
                                        </p:tgtEl>
                                        <p:attrNameLst>
                                          <p:attrName>style.visibility</p:attrName>
                                        </p:attrNameLst>
                                      </p:cBhvr>
                                      <p:to>
                                        <p:strVal val="visible"/>
                                      </p:to>
                                    </p:set>
                                    <p:anim calcmode="lin" valueType="num">
                                      <p:cBhvr additive="base">
                                        <p:cTn id="24" dur="500" fill="hold"/>
                                        <p:tgtEl>
                                          <p:spTgt spid="57"/>
                                        </p:tgtEl>
                                        <p:attrNameLst>
                                          <p:attrName>ppt_x</p:attrName>
                                        </p:attrNameLst>
                                      </p:cBhvr>
                                      <p:tavLst>
                                        <p:tav tm="0">
                                          <p:val>
                                            <p:strVal val="#ppt_x"/>
                                          </p:val>
                                        </p:tav>
                                        <p:tav tm="100000">
                                          <p:val>
                                            <p:strVal val="#ppt_x"/>
                                          </p:val>
                                        </p:tav>
                                      </p:tavLst>
                                    </p:anim>
                                    <p:anim calcmode="lin" valueType="num">
                                      <p:cBhvr additive="base">
                                        <p:cTn id="25"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5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小结</a:t>
            </a:r>
          </a:p>
        </p:txBody>
      </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10:10</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58" name="Rectangle 6"/>
          <p:cNvSpPr>
            <a:spLocks noChangeArrowheads="1"/>
          </p:cNvSpPr>
          <p:nvPr/>
        </p:nvSpPr>
        <p:spPr bwMode="auto">
          <a:xfrm>
            <a:off x="469540" y="1785926"/>
            <a:ext cx="4888278" cy="429285"/>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表述</a:t>
            </a:r>
          </a:p>
        </p:txBody>
      </p:sp>
      <p:grpSp>
        <p:nvGrpSpPr>
          <p:cNvPr id="59" name="组合 37"/>
          <p:cNvGrpSpPr/>
          <p:nvPr/>
        </p:nvGrpSpPr>
        <p:grpSpPr>
          <a:xfrm>
            <a:off x="2285984" y="1571612"/>
            <a:ext cx="6215074" cy="1461009"/>
            <a:chOff x="2928926" y="1610801"/>
            <a:chExt cx="6215074" cy="1461009"/>
          </a:xfrm>
        </p:grpSpPr>
        <p:pic>
          <p:nvPicPr>
            <p:cNvPr id="60" name="Picture 3"/>
            <p:cNvPicPr>
              <a:picLocks noChangeAspect="1" noChangeArrowheads="1"/>
            </p:cNvPicPr>
            <p:nvPr/>
          </p:nvPicPr>
          <p:blipFill>
            <a:blip r:embed="rId3"/>
            <a:srcRect/>
            <a:stretch>
              <a:fillRect/>
            </a:stretch>
          </p:blipFill>
          <p:spPr bwMode="auto">
            <a:xfrm>
              <a:off x="5644991" y="1610801"/>
              <a:ext cx="3499009" cy="1358265"/>
            </a:xfrm>
            <a:prstGeom prst="rect">
              <a:avLst/>
            </a:prstGeom>
            <a:noFill/>
            <a:ln w="9525">
              <a:noFill/>
              <a:miter lim="800000"/>
              <a:headEnd/>
              <a:tailEnd/>
            </a:ln>
            <a:effectLst/>
          </p:spPr>
        </p:pic>
        <p:pic>
          <p:nvPicPr>
            <p:cNvPr id="61" name="Picture 2"/>
            <p:cNvPicPr>
              <a:picLocks noChangeAspect="1" noChangeArrowheads="1"/>
            </p:cNvPicPr>
            <p:nvPr/>
          </p:nvPicPr>
          <p:blipFill>
            <a:blip r:embed="rId4"/>
            <a:srcRect l="10259"/>
            <a:stretch>
              <a:fillRect/>
            </a:stretch>
          </p:blipFill>
          <p:spPr bwMode="auto">
            <a:xfrm>
              <a:off x="2928926" y="1714488"/>
              <a:ext cx="3124636" cy="1357322"/>
            </a:xfrm>
            <a:prstGeom prst="rect">
              <a:avLst/>
            </a:prstGeom>
            <a:noFill/>
            <a:ln w="9525">
              <a:noFill/>
              <a:miter lim="800000"/>
              <a:headEnd/>
              <a:tailEnd/>
            </a:ln>
            <a:effectLst/>
          </p:spPr>
        </p:pic>
      </p:grpSp>
      <p:sp>
        <p:nvSpPr>
          <p:cNvPr id="3" name="内容占位符 2"/>
          <p:cNvSpPr>
            <a:spLocks noGrp="1"/>
          </p:cNvSpPr>
          <p:nvPr>
            <p:ph idx="1"/>
          </p:nvPr>
        </p:nvSpPr>
        <p:spPr>
          <a:xfrm>
            <a:off x="468313" y="1268413"/>
            <a:ext cx="8207375" cy="517513"/>
          </a:xfrm>
          <a:ln>
            <a:noFill/>
          </a:ln>
        </p:spPr>
        <p:txBody>
          <a:bodyPr/>
          <a:lstStyle/>
          <a:p>
            <a:pPr marL="342900" lvl="1" indent="-342900">
              <a:defRPr/>
            </a:pPr>
            <a:r>
              <a:rPr lang="zh-CN" altLang="en-US" sz="2400">
                <a:solidFill>
                  <a:srgbClr val="C00000"/>
                </a:solidFill>
              </a:rPr>
              <a:t>互等定理</a:t>
            </a:r>
            <a:endParaRPr lang="en-US" altLang="zh-CN" sz="2400">
              <a:solidFill>
                <a:srgbClr val="C00000"/>
              </a:solidFill>
            </a:endParaRPr>
          </a:p>
        </p:txBody>
      </p:sp>
      <p:sp>
        <p:nvSpPr>
          <p:cNvPr id="62" name="TextBox 61"/>
          <p:cNvSpPr txBox="1"/>
          <p:nvPr/>
        </p:nvSpPr>
        <p:spPr>
          <a:xfrm>
            <a:off x="1285852" y="3100328"/>
            <a:ext cx="3861955" cy="400110"/>
          </a:xfrm>
          <a:prstGeom prst="rect">
            <a:avLst/>
          </a:prstGeom>
          <a:noFill/>
          <a:ln w="28575">
            <a:noFill/>
          </a:ln>
        </p:spPr>
        <p:txBody>
          <a:bodyPr wrap="none" rtlCol="0">
            <a:spAutoFit/>
          </a:bodyPr>
          <a:lstStyle/>
          <a:p>
            <a:r>
              <a:rPr lang="zh-CN" altLang="en-US" sz="2000" b="1">
                <a:latin typeface="Times New Roman" pitchFamily="18" charset="0"/>
                <a:cs typeface="Times New Roman" pitchFamily="18" charset="0"/>
              </a:rPr>
              <a:t>⑴ 虚功互等：                 </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12 </a:t>
            </a:r>
            <a:r>
              <a:rPr lang="en-US" altLang="zh-CN" sz="2000" b="1">
                <a:latin typeface="Times New Roman" pitchFamily="18" charset="0"/>
                <a:cs typeface="Times New Roman" pitchFamily="18" charset="0"/>
              </a:rPr>
              <a:t>=</a:t>
            </a:r>
            <a:r>
              <a:rPr lang="en-US" altLang="zh-CN" sz="2000" b="1" i="1">
                <a:latin typeface="Times New Roman" pitchFamily="18" charset="0"/>
                <a:cs typeface="Times New Roman" pitchFamily="18" charset="0"/>
              </a:rPr>
              <a:t>W</a:t>
            </a:r>
            <a:r>
              <a:rPr lang="en-US" altLang="zh-CN" sz="2000" b="1" baseline="-25000">
                <a:latin typeface="Times New Roman" pitchFamily="18" charset="0"/>
                <a:cs typeface="Times New Roman" pitchFamily="18" charset="0"/>
              </a:rPr>
              <a:t>21</a:t>
            </a:r>
            <a:endParaRPr lang="zh-CN" altLang="en-US" sz="2000" b="1" baseline="-25000">
              <a:latin typeface="Times New Roman" pitchFamily="18" charset="0"/>
              <a:cs typeface="Times New Roman" pitchFamily="18" charset="0"/>
            </a:endParaRPr>
          </a:p>
        </p:txBody>
      </p:sp>
      <p:sp>
        <p:nvSpPr>
          <p:cNvPr id="63" name="TextBox 62"/>
          <p:cNvSpPr txBox="1"/>
          <p:nvPr/>
        </p:nvSpPr>
        <p:spPr>
          <a:xfrm>
            <a:off x="1285852" y="3549206"/>
            <a:ext cx="3861955" cy="400110"/>
          </a:xfrm>
          <a:prstGeom prst="rect">
            <a:avLst/>
          </a:prstGeom>
          <a:noFill/>
          <a:ln w="28575">
            <a:noFill/>
          </a:ln>
        </p:spPr>
        <p:txBody>
          <a:bodyPr wrap="none" rtlCol="0">
            <a:spAutoFit/>
          </a:bodyPr>
          <a:lstStyle/>
          <a:p>
            <a:r>
              <a:rPr lang="zh-CN" altLang="en-US" sz="2000" b="1">
                <a:latin typeface="Times New Roman" pitchFamily="18" charset="0"/>
                <a:cs typeface="Times New Roman" pitchFamily="18" charset="0"/>
              </a:rPr>
              <a:t>⑵ 位移互等：                   </a:t>
            </a:r>
            <a:r>
              <a:rPr lang="el-GR" altLang="zh-CN" sz="2000" b="1" i="1">
                <a:latin typeface="Times New Roman" pitchFamily="18" charset="0"/>
                <a:cs typeface="Times New Roman" pitchFamily="18" charset="0"/>
              </a:rPr>
              <a:t>δ</a:t>
            </a:r>
            <a:r>
              <a:rPr lang="en-US" altLang="zh-CN" sz="2000" b="1" baseline="-25000">
                <a:latin typeface="Times New Roman" pitchFamily="18" charset="0"/>
                <a:cs typeface="Times New Roman" pitchFamily="18" charset="0"/>
              </a:rPr>
              <a:t>12 </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δ</a:t>
            </a:r>
            <a:r>
              <a:rPr lang="en-US" altLang="zh-CN" sz="2000" b="1" baseline="-25000">
                <a:latin typeface="Times New Roman" pitchFamily="18" charset="0"/>
                <a:cs typeface="Times New Roman" pitchFamily="18" charset="0"/>
              </a:rPr>
              <a:t>21</a:t>
            </a:r>
            <a:endParaRPr lang="zh-CN" altLang="en-US" sz="2000" b="1" baseline="-25000">
              <a:latin typeface="Times New Roman" pitchFamily="18" charset="0"/>
              <a:cs typeface="Times New Roman" pitchFamily="18" charset="0"/>
            </a:endParaRPr>
          </a:p>
        </p:txBody>
      </p:sp>
      <p:sp>
        <p:nvSpPr>
          <p:cNvPr id="64" name="TextBox 63"/>
          <p:cNvSpPr txBox="1"/>
          <p:nvPr/>
        </p:nvSpPr>
        <p:spPr>
          <a:xfrm>
            <a:off x="1285852" y="4006352"/>
            <a:ext cx="3861955" cy="400110"/>
          </a:xfrm>
          <a:prstGeom prst="rect">
            <a:avLst/>
          </a:prstGeom>
          <a:noFill/>
          <a:ln w="28575">
            <a:noFill/>
          </a:ln>
        </p:spPr>
        <p:txBody>
          <a:bodyPr wrap="none" rtlCol="0">
            <a:spAutoFit/>
          </a:bodyPr>
          <a:lstStyle/>
          <a:p>
            <a:r>
              <a:rPr lang="zh-CN" altLang="en-US" sz="2000" b="1">
                <a:latin typeface="Times New Roman" pitchFamily="18" charset="0"/>
                <a:cs typeface="Times New Roman" pitchFamily="18" charset="0"/>
              </a:rPr>
              <a:t>⑶ 反力互等：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12 </a:t>
            </a:r>
            <a:r>
              <a:rPr lang="en-US" altLang="zh-CN" sz="2000" b="1">
                <a:latin typeface="Times New Roman" pitchFamily="18" charset="0"/>
                <a:cs typeface="Times New Roman" pitchFamily="18" charset="0"/>
              </a:rPr>
              <a:t>=</a:t>
            </a:r>
            <a:r>
              <a:rPr lang="el-GR" altLang="zh-CN" sz="2000" b="1" i="1">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21</a:t>
            </a:r>
            <a:endParaRPr lang="zh-CN" altLang="en-US" sz="2000" b="1" baseline="-25000">
              <a:latin typeface="Times New Roman" pitchFamily="18" charset="0"/>
              <a:cs typeface="Times New Roman" pitchFamily="18" charset="0"/>
            </a:endParaRPr>
          </a:p>
        </p:txBody>
      </p:sp>
      <p:sp>
        <p:nvSpPr>
          <p:cNvPr id="65" name="TextBox 64"/>
          <p:cNvSpPr txBox="1"/>
          <p:nvPr/>
        </p:nvSpPr>
        <p:spPr>
          <a:xfrm>
            <a:off x="1285852" y="4457650"/>
            <a:ext cx="3999813" cy="400110"/>
          </a:xfrm>
          <a:prstGeom prst="rect">
            <a:avLst/>
          </a:prstGeom>
          <a:noFill/>
          <a:ln w="28575">
            <a:noFill/>
          </a:ln>
        </p:spPr>
        <p:txBody>
          <a:bodyPr wrap="none" rtlCol="0">
            <a:spAutoFit/>
          </a:bodyPr>
          <a:lstStyle/>
          <a:p>
            <a:r>
              <a:rPr lang="zh-CN" altLang="en-US" sz="2000" b="1">
                <a:latin typeface="Times New Roman" pitchFamily="18" charset="0"/>
                <a:cs typeface="Times New Roman" pitchFamily="18" charset="0"/>
              </a:rPr>
              <a:t>⑷ 位移反力互等：          </a:t>
            </a:r>
            <a:r>
              <a:rPr lang="el-GR" altLang="zh-CN" sz="2000" b="1" i="1">
                <a:latin typeface="Times New Roman" pitchFamily="18" charset="0"/>
                <a:cs typeface="Times New Roman" pitchFamily="18" charset="0"/>
              </a:rPr>
              <a:t>δ</a:t>
            </a:r>
            <a:r>
              <a:rPr lang="en-US" altLang="zh-CN" sz="2000" b="1" i="1">
                <a:latin typeface="Times New Roman" pitchFamily="18" charset="0"/>
                <a:cs typeface="Times New Roman" pitchFamily="18" charset="0"/>
              </a:rPr>
              <a:t>’</a:t>
            </a:r>
            <a:r>
              <a:rPr lang="en-US" altLang="zh-CN" sz="2000" b="1" baseline="-25000">
                <a:latin typeface="Times New Roman" pitchFamily="18" charset="0"/>
                <a:cs typeface="Times New Roman" pitchFamily="18" charset="0"/>
              </a:rPr>
              <a:t>12 </a:t>
            </a:r>
            <a:r>
              <a:rPr lang="en-US" altLang="zh-CN" sz="2000" b="1">
                <a:latin typeface="Times New Roman" pitchFamily="18" charset="0"/>
                <a:cs typeface="Times New Roman" pitchFamily="18" charset="0"/>
              </a:rPr>
              <a:t>= </a:t>
            </a:r>
            <a:r>
              <a:rPr lang="en-US" altLang="zh-CN" sz="2000" b="1">
                <a:latin typeface="+mn-ea"/>
                <a:cs typeface="Times New Roman" pitchFamily="18" charset="0"/>
              </a:rPr>
              <a:t>-</a:t>
            </a:r>
            <a:r>
              <a:rPr lang="el-GR" altLang="zh-CN" sz="2000" b="1" i="1">
                <a:latin typeface="Times New Roman" pitchFamily="18" charset="0"/>
                <a:cs typeface="Times New Roman" pitchFamily="18" charset="0"/>
              </a:rPr>
              <a:t> </a:t>
            </a:r>
            <a:r>
              <a:rPr lang="en-US" altLang="zh-CN" sz="2000" b="1" i="1">
                <a:latin typeface="Times New Roman" pitchFamily="18" charset="0"/>
                <a:cs typeface="Times New Roman" pitchFamily="18" charset="0"/>
              </a:rPr>
              <a:t>r</a:t>
            </a:r>
            <a:r>
              <a:rPr lang="en-US" altLang="zh-CN" sz="2000" b="1" baseline="-25000">
                <a:latin typeface="Times New Roman" pitchFamily="18" charset="0"/>
                <a:cs typeface="Times New Roman" pitchFamily="18" charset="0"/>
              </a:rPr>
              <a:t>21</a:t>
            </a:r>
            <a:endParaRPr lang="zh-CN" altLang="en-US" sz="2000" b="1" baseline="-25000">
              <a:latin typeface="Times New Roman" pitchFamily="18" charset="0"/>
              <a:cs typeface="Times New Roman" pitchFamily="18" charset="0"/>
            </a:endParaRPr>
          </a:p>
        </p:txBody>
      </p:sp>
      <p:sp>
        <p:nvSpPr>
          <p:cNvPr id="66" name="TextBox 65"/>
          <p:cNvSpPr txBox="1"/>
          <p:nvPr/>
        </p:nvSpPr>
        <p:spPr>
          <a:xfrm>
            <a:off x="5643570" y="3135190"/>
            <a:ext cx="697627" cy="400110"/>
          </a:xfrm>
          <a:prstGeom prst="rect">
            <a:avLst/>
          </a:prstGeom>
          <a:noFill/>
          <a:ln w="28575">
            <a:noFill/>
          </a:ln>
        </p:spPr>
        <p:txBody>
          <a:bodyPr wrap="none" rtlCol="0">
            <a:spAutoFit/>
          </a:bodyPr>
          <a:lstStyle/>
          <a:p>
            <a:r>
              <a:rPr lang="zh-CN" altLang="en-US" sz="2000" b="1">
                <a:solidFill>
                  <a:srgbClr val="C00000"/>
                </a:solidFill>
              </a:rPr>
              <a:t>基础</a:t>
            </a:r>
          </a:p>
        </p:txBody>
      </p:sp>
      <p:sp>
        <p:nvSpPr>
          <p:cNvPr id="67" name="TextBox 66"/>
          <p:cNvSpPr txBox="1"/>
          <p:nvPr/>
        </p:nvSpPr>
        <p:spPr>
          <a:xfrm>
            <a:off x="5643570" y="3584068"/>
            <a:ext cx="697627" cy="400110"/>
          </a:xfrm>
          <a:prstGeom prst="rect">
            <a:avLst/>
          </a:prstGeom>
          <a:noFill/>
          <a:ln w="28575">
            <a:noFill/>
          </a:ln>
        </p:spPr>
        <p:txBody>
          <a:bodyPr wrap="none" rtlCol="0">
            <a:spAutoFit/>
          </a:bodyPr>
          <a:lstStyle/>
          <a:p>
            <a:r>
              <a:rPr lang="zh-CN" altLang="en-US" sz="2000" b="1"/>
              <a:t>特例</a:t>
            </a:r>
          </a:p>
        </p:txBody>
      </p:sp>
      <p:sp>
        <p:nvSpPr>
          <p:cNvPr id="68" name="TextBox 67"/>
          <p:cNvSpPr txBox="1"/>
          <p:nvPr/>
        </p:nvSpPr>
        <p:spPr>
          <a:xfrm>
            <a:off x="5643570" y="4024888"/>
            <a:ext cx="697627" cy="400110"/>
          </a:xfrm>
          <a:prstGeom prst="rect">
            <a:avLst/>
          </a:prstGeom>
          <a:noFill/>
          <a:ln w="28575">
            <a:noFill/>
          </a:ln>
        </p:spPr>
        <p:txBody>
          <a:bodyPr wrap="none" rtlCol="0">
            <a:spAutoFit/>
          </a:bodyPr>
          <a:lstStyle/>
          <a:p>
            <a:r>
              <a:rPr lang="zh-CN" altLang="en-US" sz="2000" b="1"/>
              <a:t>特例</a:t>
            </a:r>
          </a:p>
        </p:txBody>
      </p:sp>
      <p:sp>
        <p:nvSpPr>
          <p:cNvPr id="69" name="TextBox 68"/>
          <p:cNvSpPr txBox="1"/>
          <p:nvPr/>
        </p:nvSpPr>
        <p:spPr>
          <a:xfrm>
            <a:off x="5643570" y="4476186"/>
            <a:ext cx="697627" cy="400110"/>
          </a:xfrm>
          <a:prstGeom prst="rect">
            <a:avLst/>
          </a:prstGeom>
          <a:noFill/>
          <a:ln w="28575">
            <a:noFill/>
          </a:ln>
        </p:spPr>
        <p:txBody>
          <a:bodyPr wrap="none" rtlCol="0">
            <a:spAutoFit/>
          </a:bodyPr>
          <a:lstStyle/>
          <a:p>
            <a:r>
              <a:rPr lang="zh-CN" altLang="en-US" sz="2000" b="1"/>
              <a:t>特例</a:t>
            </a:r>
          </a:p>
        </p:txBody>
      </p:sp>
      <p:sp>
        <p:nvSpPr>
          <p:cNvPr id="70" name="TextBox 69"/>
          <p:cNvSpPr txBox="1"/>
          <p:nvPr/>
        </p:nvSpPr>
        <p:spPr>
          <a:xfrm>
            <a:off x="6429388" y="3143248"/>
            <a:ext cx="2031325" cy="369332"/>
          </a:xfrm>
          <a:prstGeom prst="rect">
            <a:avLst/>
          </a:prstGeom>
          <a:noFill/>
          <a:ln w="28575">
            <a:noFill/>
          </a:ln>
        </p:spPr>
        <p:txBody>
          <a:bodyPr wrap="none" rtlCol="0">
            <a:spAutoFit/>
          </a:bodyPr>
          <a:lstStyle/>
          <a:p>
            <a:r>
              <a:rPr lang="zh-CN" altLang="en-US" b="1">
                <a:solidFill>
                  <a:srgbClr val="0033CC"/>
                </a:solidFill>
              </a:rPr>
              <a:t>数值和量纲上相等</a:t>
            </a:r>
          </a:p>
        </p:txBody>
      </p:sp>
      <p:grpSp>
        <p:nvGrpSpPr>
          <p:cNvPr id="73" name="组合 72"/>
          <p:cNvGrpSpPr/>
          <p:nvPr/>
        </p:nvGrpSpPr>
        <p:grpSpPr>
          <a:xfrm>
            <a:off x="6572264" y="3786190"/>
            <a:ext cx="1785688" cy="928694"/>
            <a:chOff x="6500826" y="3786190"/>
            <a:chExt cx="1785688" cy="928694"/>
          </a:xfrm>
        </p:grpSpPr>
        <p:sp>
          <p:nvSpPr>
            <p:cNvPr id="71" name="TextBox 70"/>
            <p:cNvSpPr txBox="1"/>
            <p:nvPr/>
          </p:nvSpPr>
          <p:spPr>
            <a:xfrm>
              <a:off x="6716854" y="4047558"/>
              <a:ext cx="1569660" cy="369332"/>
            </a:xfrm>
            <a:prstGeom prst="rect">
              <a:avLst/>
            </a:prstGeom>
            <a:noFill/>
            <a:ln w="28575">
              <a:noFill/>
            </a:ln>
          </p:spPr>
          <p:txBody>
            <a:bodyPr wrap="none" rtlCol="0">
              <a:spAutoFit/>
            </a:bodyPr>
            <a:lstStyle/>
            <a:p>
              <a:r>
                <a:rPr lang="zh-CN" altLang="en-US" b="1">
                  <a:solidFill>
                    <a:srgbClr val="0033CC"/>
                  </a:solidFill>
                </a:rPr>
                <a:t>影响系数相等</a:t>
              </a:r>
            </a:p>
          </p:txBody>
        </p:sp>
        <p:sp>
          <p:nvSpPr>
            <p:cNvPr id="72" name="右大括号 71"/>
            <p:cNvSpPr/>
            <p:nvPr/>
          </p:nvSpPr>
          <p:spPr bwMode="auto">
            <a:xfrm>
              <a:off x="6500826" y="3786190"/>
              <a:ext cx="214314" cy="928694"/>
            </a:xfrm>
            <a:prstGeom prst="rightBrace">
              <a:avLst/>
            </a:prstGeom>
            <a:noFill/>
            <a:ln w="28575" cap="flat" cmpd="sng" algn="ctr">
              <a:solidFill>
                <a:srgbClr val="0033CC"/>
              </a:solidFill>
              <a:prstDash val="solid"/>
              <a:round/>
              <a:headEnd type="none" w="med" len="med"/>
              <a:tailEnd type="none" w="med" len="med"/>
            </a:ln>
            <a:effectLst/>
          </p:spPr>
          <p:txBody>
            <a:bodyPr rtlCol="0" anchor="ctr"/>
            <a:lstStyle/>
            <a:p>
              <a:pPr algn="ctr"/>
              <a:endParaRPr lang="zh-CN" altLang="en-US">
                <a:solidFill>
                  <a:srgbClr val="0033CC"/>
                </a:solidFill>
              </a:endParaRPr>
            </a:p>
          </p:txBody>
        </p:sp>
      </p:grpSp>
      <p:sp>
        <p:nvSpPr>
          <p:cNvPr id="75" name="Rectangle 6"/>
          <p:cNvSpPr>
            <a:spLocks noChangeArrowheads="1"/>
          </p:cNvSpPr>
          <p:nvPr/>
        </p:nvSpPr>
        <p:spPr bwMode="auto">
          <a:xfrm>
            <a:off x="469540" y="4857760"/>
            <a:ext cx="4888278" cy="892552"/>
          </a:xfrm>
          <a:prstGeom prst="rect">
            <a:avLst/>
          </a:prstGeom>
          <a:noFill/>
          <a:ln w="9525">
            <a:noFill/>
            <a:miter lim="800000"/>
            <a:headEnd/>
            <a:tailEnd/>
          </a:ln>
        </p:spPr>
        <p:txBody>
          <a:bodyPr wrap="square">
            <a:spAutoFit/>
          </a:bodyPr>
          <a:lstStyle/>
          <a:p>
            <a:pPr marL="742950" lvl="1" indent="-285750" algn="just" fontAlgn="base">
              <a:lnSpc>
                <a:spcPct val="120000"/>
              </a:lnSpc>
              <a:spcBef>
                <a:spcPct val="20000"/>
              </a:spcBef>
              <a:spcAft>
                <a:spcPct val="0"/>
              </a:spcAft>
              <a:buFont typeface="Wingdings" pitchFamily="2" charset="2"/>
              <a:buChar char="n"/>
            </a:pPr>
            <a:r>
              <a:rPr lang="zh-CN" altLang="en-US" sz="2000" b="1">
                <a:latin typeface="Times New Roman" pitchFamily="18" charset="0"/>
                <a:cs typeface="Times New Roman" pitchFamily="18" charset="0"/>
              </a:rPr>
              <a:t>适用范围</a:t>
            </a:r>
            <a:endParaRPr lang="en-US" altLang="zh-CN" sz="2000" b="1">
              <a:latin typeface="Times New Roman" pitchFamily="18" charset="0"/>
              <a:cs typeface="Times New Roman" pitchFamily="18" charset="0"/>
            </a:endParaRPr>
          </a:p>
          <a:p>
            <a:pPr marL="742950" lvl="1" indent="-285750" algn="just" fontAlgn="base">
              <a:lnSpc>
                <a:spcPct val="120000"/>
              </a:lnSpc>
              <a:spcBef>
                <a:spcPct val="20000"/>
              </a:spcBef>
              <a:spcAft>
                <a:spcPct val="0"/>
              </a:spcAft>
            </a:pPr>
            <a:r>
              <a:rPr lang="en-US" altLang="zh-CN" sz="2000" b="1">
                <a:latin typeface="Times New Roman" pitchFamily="18" charset="0"/>
                <a:cs typeface="Times New Roman" pitchFamily="18" charset="0"/>
              </a:rPr>
              <a:t>	</a:t>
            </a:r>
            <a:r>
              <a:rPr lang="zh-CN" altLang="en-US" sz="2000" b="1">
                <a:latin typeface="Times New Roman" pitchFamily="18" charset="0"/>
                <a:cs typeface="Times New Roman" pitchFamily="18" charset="0"/>
              </a:rPr>
              <a:t>线弹性变形体；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ppt_x"/>
                                          </p:val>
                                        </p:tav>
                                        <p:tav tm="100000">
                                          <p:val>
                                            <p:strVal val="#ppt_x"/>
                                          </p:val>
                                        </p:tav>
                                      </p:tavLst>
                                    </p:anim>
                                    <p:anim calcmode="lin" valueType="num">
                                      <p:cBhvr additive="base">
                                        <p:cTn id="8" dur="500" fill="hold"/>
                                        <p:tgtEl>
                                          <p:spTgt spid="58"/>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blinds(horizontal)">
                                      <p:cBhvr>
                                        <p:cTn id="11" dur="500"/>
                                        <p:tgtEl>
                                          <p:spTgt spid="5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wipe(down)">
                                      <p:cBhvr>
                                        <p:cTn id="16" dur="500"/>
                                        <p:tgtEl>
                                          <p:spTgt spid="6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animEffect transition="in" filter="wipe(down)">
                                      <p:cBhvr>
                                        <p:cTn id="21" dur="500"/>
                                        <p:tgtEl>
                                          <p:spTgt spid="6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wipe(down)">
                                      <p:cBhvr>
                                        <p:cTn id="26" dur="500"/>
                                        <p:tgtEl>
                                          <p:spTgt spid="6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down)">
                                      <p:cBhvr>
                                        <p:cTn id="31" dur="500"/>
                                        <p:tgtEl>
                                          <p:spTgt spid="6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6"/>
                                        </p:tgtEl>
                                        <p:attrNameLst>
                                          <p:attrName>style.visibility</p:attrName>
                                        </p:attrNameLst>
                                      </p:cBhvr>
                                      <p:to>
                                        <p:strVal val="visible"/>
                                      </p:to>
                                    </p:set>
                                    <p:anim calcmode="lin" valueType="num">
                                      <p:cBhvr additive="base">
                                        <p:cTn id="36" dur="500" fill="hold"/>
                                        <p:tgtEl>
                                          <p:spTgt spid="66"/>
                                        </p:tgtEl>
                                        <p:attrNameLst>
                                          <p:attrName>ppt_x</p:attrName>
                                        </p:attrNameLst>
                                      </p:cBhvr>
                                      <p:tavLst>
                                        <p:tav tm="0">
                                          <p:val>
                                            <p:strVal val="#ppt_x"/>
                                          </p:val>
                                        </p:tav>
                                        <p:tav tm="100000">
                                          <p:val>
                                            <p:strVal val="#ppt_x"/>
                                          </p:val>
                                        </p:tav>
                                      </p:tavLst>
                                    </p:anim>
                                    <p:anim calcmode="lin" valueType="num">
                                      <p:cBhvr additive="base">
                                        <p:cTn id="37" dur="500" fill="hold"/>
                                        <p:tgtEl>
                                          <p:spTgt spid="66"/>
                                        </p:tgtEl>
                                        <p:attrNameLst>
                                          <p:attrName>ppt_y</p:attrName>
                                        </p:attrNameLst>
                                      </p:cBhvr>
                                      <p:tavLst>
                                        <p:tav tm="0">
                                          <p:val>
                                            <p:strVal val="1+#ppt_h/2"/>
                                          </p:val>
                                        </p:tav>
                                        <p:tav tm="100000">
                                          <p:val>
                                            <p:strVal val="#ppt_y"/>
                                          </p:val>
                                        </p:tav>
                                      </p:tavLst>
                                    </p:anim>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wipe(left)">
                                      <p:cBhvr>
                                        <p:cTn id="41" dur="500"/>
                                        <p:tgtEl>
                                          <p:spTgt spid="70"/>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67"/>
                                        </p:tgtEl>
                                        <p:attrNameLst>
                                          <p:attrName>style.visibility</p:attrName>
                                        </p:attrNameLst>
                                      </p:cBhvr>
                                      <p:to>
                                        <p:strVal val="visible"/>
                                      </p:to>
                                    </p:set>
                                    <p:anim calcmode="lin" valueType="num">
                                      <p:cBhvr additive="base">
                                        <p:cTn id="46" dur="500" fill="hold"/>
                                        <p:tgtEl>
                                          <p:spTgt spid="67"/>
                                        </p:tgtEl>
                                        <p:attrNameLst>
                                          <p:attrName>ppt_x</p:attrName>
                                        </p:attrNameLst>
                                      </p:cBhvr>
                                      <p:tavLst>
                                        <p:tav tm="0">
                                          <p:val>
                                            <p:strVal val="#ppt_x"/>
                                          </p:val>
                                        </p:tav>
                                        <p:tav tm="100000">
                                          <p:val>
                                            <p:strVal val="#ppt_x"/>
                                          </p:val>
                                        </p:tav>
                                      </p:tavLst>
                                    </p:anim>
                                    <p:anim calcmode="lin" valueType="num">
                                      <p:cBhvr additive="base">
                                        <p:cTn id="47" dur="500" fill="hold"/>
                                        <p:tgtEl>
                                          <p:spTgt spid="67"/>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68"/>
                                        </p:tgtEl>
                                        <p:attrNameLst>
                                          <p:attrName>style.visibility</p:attrName>
                                        </p:attrNameLst>
                                      </p:cBhvr>
                                      <p:to>
                                        <p:strVal val="visible"/>
                                      </p:to>
                                    </p:set>
                                    <p:anim calcmode="lin" valueType="num">
                                      <p:cBhvr additive="base">
                                        <p:cTn id="50" dur="500" fill="hold"/>
                                        <p:tgtEl>
                                          <p:spTgt spid="68"/>
                                        </p:tgtEl>
                                        <p:attrNameLst>
                                          <p:attrName>ppt_x</p:attrName>
                                        </p:attrNameLst>
                                      </p:cBhvr>
                                      <p:tavLst>
                                        <p:tav tm="0">
                                          <p:val>
                                            <p:strVal val="#ppt_x"/>
                                          </p:val>
                                        </p:tav>
                                        <p:tav tm="100000">
                                          <p:val>
                                            <p:strVal val="#ppt_x"/>
                                          </p:val>
                                        </p:tav>
                                      </p:tavLst>
                                    </p:anim>
                                    <p:anim calcmode="lin" valueType="num">
                                      <p:cBhvr additive="base">
                                        <p:cTn id="51" dur="500" fill="hold"/>
                                        <p:tgtEl>
                                          <p:spTgt spid="68"/>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69"/>
                                        </p:tgtEl>
                                        <p:attrNameLst>
                                          <p:attrName>style.visibility</p:attrName>
                                        </p:attrNameLst>
                                      </p:cBhvr>
                                      <p:to>
                                        <p:strVal val="visible"/>
                                      </p:to>
                                    </p:set>
                                    <p:anim calcmode="lin" valueType="num">
                                      <p:cBhvr additive="base">
                                        <p:cTn id="54" dur="500" fill="hold"/>
                                        <p:tgtEl>
                                          <p:spTgt spid="69"/>
                                        </p:tgtEl>
                                        <p:attrNameLst>
                                          <p:attrName>ppt_x</p:attrName>
                                        </p:attrNameLst>
                                      </p:cBhvr>
                                      <p:tavLst>
                                        <p:tav tm="0">
                                          <p:val>
                                            <p:strVal val="#ppt_x"/>
                                          </p:val>
                                        </p:tav>
                                        <p:tav tm="100000">
                                          <p:val>
                                            <p:strVal val="#ppt_x"/>
                                          </p:val>
                                        </p:tav>
                                      </p:tavLst>
                                    </p:anim>
                                    <p:anim calcmode="lin" valueType="num">
                                      <p:cBhvr additive="base">
                                        <p:cTn id="55" dur="500" fill="hold"/>
                                        <p:tgtEl>
                                          <p:spTgt spid="69"/>
                                        </p:tgtEl>
                                        <p:attrNameLst>
                                          <p:attrName>ppt_y</p:attrName>
                                        </p:attrNameLst>
                                      </p:cBhvr>
                                      <p:tavLst>
                                        <p:tav tm="0">
                                          <p:val>
                                            <p:strVal val="1+#ppt_h/2"/>
                                          </p:val>
                                        </p:tav>
                                        <p:tav tm="100000">
                                          <p:val>
                                            <p:strVal val="#ppt_y"/>
                                          </p:val>
                                        </p:tav>
                                      </p:tavLst>
                                    </p:anim>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wipe(left)">
                                      <p:cBhvr>
                                        <p:cTn id="59" dur="500"/>
                                        <p:tgtEl>
                                          <p:spTgt spid="73"/>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75"/>
                                        </p:tgtEl>
                                        <p:attrNameLst>
                                          <p:attrName>style.visibility</p:attrName>
                                        </p:attrNameLst>
                                      </p:cBhvr>
                                      <p:to>
                                        <p:strVal val="visible"/>
                                      </p:to>
                                    </p:set>
                                    <p:anim calcmode="lin" valueType="num">
                                      <p:cBhvr additive="base">
                                        <p:cTn id="64" dur="500" fill="hold"/>
                                        <p:tgtEl>
                                          <p:spTgt spid="75"/>
                                        </p:tgtEl>
                                        <p:attrNameLst>
                                          <p:attrName>ppt_x</p:attrName>
                                        </p:attrNameLst>
                                      </p:cBhvr>
                                      <p:tavLst>
                                        <p:tav tm="0">
                                          <p:val>
                                            <p:strVal val="#ppt_x"/>
                                          </p:val>
                                        </p:tav>
                                        <p:tav tm="100000">
                                          <p:val>
                                            <p:strVal val="#ppt_x"/>
                                          </p:val>
                                        </p:tav>
                                      </p:tavLst>
                                    </p:anim>
                                    <p:anim calcmode="lin" valueType="num">
                                      <p:cBhvr additive="base">
                                        <p:cTn id="65"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2" grpId="0"/>
      <p:bldP spid="63" grpId="0"/>
      <p:bldP spid="64" grpId="0"/>
      <p:bldP spid="65" grpId="0"/>
      <p:bldP spid="66" grpId="0"/>
      <p:bldP spid="67" grpId="0"/>
      <p:bldP spid="68" grpId="0"/>
      <p:bldP spid="69" grpId="0"/>
      <p:bldP spid="70" grpId="0"/>
      <p:bldP spid="7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solidFill>
                  <a:schemeClr val="tx1"/>
                </a:solidFill>
              </a:rPr>
              <a:t>温度改变时的位移计算、变形体虚功原理、互等定理</a:t>
            </a:r>
            <a:endParaRPr lang="en-US" altLang="zh-CN">
              <a:solidFill>
                <a:schemeClr val="tx1"/>
              </a:solidFill>
            </a:endParaRPr>
          </a:p>
          <a:p>
            <a:pPr>
              <a:buNone/>
            </a:pPr>
            <a:r>
              <a:rPr lang="en-US" altLang="zh-CN">
                <a:solidFill>
                  <a:schemeClr val="tx1"/>
                </a:solidFill>
              </a:rPr>
              <a:t>         5-22</a:t>
            </a:r>
          </a:p>
          <a:p>
            <a:pPr>
              <a:buNone/>
            </a:pPr>
            <a:r>
              <a:rPr lang="en-US" altLang="zh-CN">
                <a:solidFill>
                  <a:schemeClr val="tx1"/>
                </a:solidFill>
              </a:rPr>
              <a:t>         5-24</a:t>
            </a:r>
          </a:p>
          <a:p>
            <a:pPr>
              <a:buNone/>
            </a:pPr>
            <a:r>
              <a:rPr lang="en-US" altLang="zh-CN">
                <a:solidFill>
                  <a:schemeClr val="tx1"/>
                </a:solidFill>
              </a:rPr>
              <a:t>         5-27</a:t>
            </a:r>
          </a:p>
          <a:p>
            <a:pPr>
              <a:buNone/>
            </a:pPr>
            <a:r>
              <a:rPr lang="en-US" altLang="zh-CN">
                <a:solidFill>
                  <a:schemeClr val="tx1"/>
                </a:solidFill>
              </a:rPr>
              <a:t>         5-29</a:t>
            </a:r>
          </a:p>
          <a:p>
            <a:pPr>
              <a:buNone/>
            </a:pPr>
            <a:r>
              <a:rPr lang="en-US" altLang="zh-CN">
                <a:solidFill>
                  <a:schemeClr val="tx1"/>
                </a:solidFill>
              </a:rPr>
              <a:t>         5-30</a:t>
            </a:r>
            <a:endParaRPr lang="zh-CN" altLang="en-US">
              <a:solidFill>
                <a:schemeClr val="tx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作业汇总</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t>虚力原理、单位荷载法</a:t>
            </a:r>
            <a:endParaRPr lang="en-US" altLang="zh-CN">
              <a:solidFill>
                <a:schemeClr val="tx1"/>
              </a:solidFill>
            </a:endParaRPr>
          </a:p>
          <a:p>
            <a:pPr>
              <a:buNone/>
            </a:pPr>
            <a:r>
              <a:rPr lang="en-US" altLang="zh-CN">
                <a:solidFill>
                  <a:schemeClr val="tx1"/>
                </a:solidFill>
              </a:rPr>
              <a:t>	     5-1</a:t>
            </a:r>
          </a:p>
          <a:p>
            <a:pPr>
              <a:buNone/>
            </a:pPr>
            <a:r>
              <a:rPr lang="en-US" altLang="zh-CN">
                <a:solidFill>
                  <a:schemeClr val="tx1"/>
                </a:solidFill>
              </a:rPr>
              <a:t>         5-4</a:t>
            </a:r>
          </a:p>
          <a:p>
            <a:pPr>
              <a:buNone/>
            </a:pPr>
            <a:r>
              <a:rPr lang="en-US" altLang="zh-CN">
                <a:solidFill>
                  <a:schemeClr val="tx1"/>
                </a:solidFill>
              </a:rPr>
              <a:t>	     5-6</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作业汇总</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solidFill>
                  <a:schemeClr val="tx1"/>
                </a:solidFill>
              </a:rPr>
              <a:t>荷载</a:t>
            </a:r>
            <a:r>
              <a:rPr lang="zh-CN" altLang="en-US"/>
              <a:t>作用下的位移计算、图乘法</a:t>
            </a:r>
            <a:endParaRPr lang="en-US" altLang="zh-CN">
              <a:solidFill>
                <a:schemeClr val="tx1"/>
              </a:solidFill>
            </a:endParaRPr>
          </a:p>
          <a:p>
            <a:pPr>
              <a:buNone/>
            </a:pPr>
            <a:r>
              <a:rPr lang="en-US" altLang="zh-CN">
                <a:solidFill>
                  <a:schemeClr val="tx1"/>
                </a:solidFill>
              </a:rPr>
              <a:t>	     5-9</a:t>
            </a:r>
          </a:p>
          <a:p>
            <a:pPr>
              <a:buNone/>
            </a:pPr>
            <a:r>
              <a:rPr lang="en-US" altLang="zh-CN">
                <a:solidFill>
                  <a:schemeClr val="tx1"/>
                </a:solidFill>
              </a:rPr>
              <a:t>         5-11</a:t>
            </a:r>
          </a:p>
          <a:p>
            <a:pPr>
              <a:buNone/>
            </a:pPr>
            <a:r>
              <a:rPr lang="en-US" altLang="zh-CN">
                <a:solidFill>
                  <a:schemeClr val="tx1"/>
                </a:solidFill>
              </a:rPr>
              <a:t>         5-15</a:t>
            </a:r>
          </a:p>
          <a:p>
            <a:pPr>
              <a:buNone/>
            </a:pPr>
            <a:r>
              <a:rPr lang="en-US" altLang="zh-CN">
                <a:solidFill>
                  <a:schemeClr val="tx1"/>
                </a:solidFill>
              </a:rPr>
              <a:t>         5-16</a:t>
            </a:r>
          </a:p>
          <a:p>
            <a:pPr>
              <a:buNone/>
            </a:pPr>
            <a:r>
              <a:rPr lang="en-US" altLang="zh-CN">
                <a:solidFill>
                  <a:schemeClr val="tx1"/>
                </a:solidFill>
              </a:rPr>
              <a:t>         5-18</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作业汇总</a:t>
            </a:r>
          </a:p>
        </p:txBody>
      </p:sp>
      <p:sp>
        <p:nvSpPr>
          <p:cNvPr id="3" name="内容占位符 2"/>
          <p:cNvSpPr>
            <a:spLocks noGrp="1"/>
          </p:cNvSpPr>
          <p:nvPr>
            <p:ph idx="1"/>
          </p:nvPr>
        </p:nvSpPr>
        <p:spPr/>
        <p:txBody>
          <a:bodyPr/>
          <a:lstStyle/>
          <a:p>
            <a:r>
              <a:rPr lang="zh-CN" altLang="en-US"/>
              <a:t>课后习题</a:t>
            </a:r>
            <a:endParaRPr lang="en-US" altLang="zh-CN"/>
          </a:p>
          <a:p>
            <a:pPr lvl="1"/>
            <a:r>
              <a:rPr lang="zh-CN" altLang="en-US">
                <a:solidFill>
                  <a:schemeClr val="tx1"/>
                </a:solidFill>
              </a:rPr>
              <a:t>温度改变时的位移计算、变形体虚功原理、互等定理</a:t>
            </a:r>
            <a:endParaRPr lang="en-US" altLang="zh-CN">
              <a:solidFill>
                <a:schemeClr val="tx1"/>
              </a:solidFill>
            </a:endParaRPr>
          </a:p>
          <a:p>
            <a:pPr>
              <a:buNone/>
            </a:pPr>
            <a:r>
              <a:rPr lang="en-US" altLang="zh-CN">
                <a:solidFill>
                  <a:schemeClr val="tx1"/>
                </a:solidFill>
              </a:rPr>
              <a:t>         5-22</a:t>
            </a:r>
          </a:p>
          <a:p>
            <a:pPr>
              <a:buNone/>
            </a:pPr>
            <a:r>
              <a:rPr lang="en-US" altLang="zh-CN">
                <a:solidFill>
                  <a:schemeClr val="tx1"/>
                </a:solidFill>
              </a:rPr>
              <a:t>         5-24</a:t>
            </a:r>
          </a:p>
          <a:p>
            <a:pPr>
              <a:buNone/>
            </a:pPr>
            <a:r>
              <a:rPr lang="en-US" altLang="zh-CN">
                <a:solidFill>
                  <a:schemeClr val="tx1"/>
                </a:solidFill>
              </a:rPr>
              <a:t>         5-27</a:t>
            </a:r>
          </a:p>
          <a:p>
            <a:pPr>
              <a:buNone/>
            </a:pPr>
            <a:r>
              <a:rPr lang="en-US" altLang="zh-CN">
                <a:solidFill>
                  <a:schemeClr val="tx1"/>
                </a:solidFill>
              </a:rPr>
              <a:t>         5-29</a:t>
            </a:r>
          </a:p>
          <a:p>
            <a:pPr>
              <a:buNone/>
            </a:pPr>
            <a:r>
              <a:rPr lang="en-US" altLang="zh-CN">
                <a:solidFill>
                  <a:schemeClr val="tx1"/>
                </a:solidFill>
              </a:rPr>
              <a:t>         5-30</a:t>
            </a:r>
            <a:endParaRPr lang="zh-CN" altLang="en-US">
              <a:solidFill>
                <a:schemeClr val="tx1"/>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演示设计">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8575" cap="flat" cmpd="sng" algn="ctr">
          <a:solidFill>
            <a:srgbClr val="00B050"/>
          </a:solidFill>
          <a:prstDash val="solid"/>
          <a:round/>
          <a:headEnd type="none" w="med" len="med"/>
          <a:tailEnd type="none" w="med" len="med"/>
        </a:ln>
        <a:effectLst/>
      </a:spPr>
      <a:bodyPr rtlCol="0" anchor="ctr"/>
      <a:lstStyle>
        <a:defPPr algn="ctr">
          <a:defRPr/>
        </a:defPPr>
      </a:lstStyle>
    </a:spDef>
    <a:lnDef>
      <a:spPr bwMode="auto">
        <a:solidFill>
          <a:schemeClr val="accent1"/>
        </a:solidFill>
        <a:ln w="28575" cap="flat" cmpd="sng" algn="ctr">
          <a:solidFill>
            <a:schemeClr val="tx1"/>
          </a:solidFill>
          <a:prstDash val="solid"/>
          <a:round/>
          <a:headEnd type="none" w="med" len="med"/>
          <a:tailEnd type="none" w="med" len="med"/>
        </a:ln>
        <a:effectLst/>
      </a:spPr>
      <a:bodyPr/>
      <a:lstStyle/>
    </a:lnDef>
    <a:txDef>
      <a:spPr>
        <a:noFill/>
        <a:ln w="28575">
          <a:noFill/>
        </a:ln>
      </a:spPr>
      <a:bodyPr wrap="none" rtlCol="0">
        <a:spAutoFit/>
      </a:bodyPr>
      <a:lstStyle>
        <a:defPPr>
          <a:defRPr sz="2000" b="1" smtClean="0"/>
        </a:defPPr>
      </a:lstStyle>
    </a:tx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演示设计">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70C0"/>
        </a:solidFill>
        <a:ln w="19050" cap="flat" cmpd="sng" algn="ctr">
          <a:solidFill>
            <a:schemeClr val="tx1"/>
          </a:solidFill>
          <a:prstDash val="solid"/>
          <a:round/>
          <a:headEnd type="none" w="med" len="med"/>
          <a:tailEnd type="none" w="med" len="med"/>
        </a:ln>
        <a:effectLst/>
      </a:spPr>
      <a:bodyPr rtlCol="0" anchor="ctr"/>
      <a:lstStyle>
        <a:defPPr algn="ctr">
          <a:defRPr/>
        </a:defPPr>
      </a:lstStyle>
    </a:spDef>
    <a:lnDef>
      <a:spPr bwMode="auto">
        <a:solidFill>
          <a:schemeClr val="accent1"/>
        </a:solidFill>
        <a:ln w="28575" cap="flat" cmpd="sng" algn="ctr">
          <a:solidFill>
            <a:schemeClr val="tx1"/>
          </a:solidFill>
          <a:prstDash val="solid"/>
          <a:round/>
          <a:headEnd type="none" w="med" len="med"/>
          <a:tailEnd type="none" w="med" len="med"/>
        </a:ln>
        <a:effectLst/>
      </a:spPr>
      <a:bodyPr/>
      <a:lstStyle/>
    </a:lnDef>
    <a:txDef>
      <a:spPr>
        <a:noFill/>
        <a:ln w="28575">
          <a:noFill/>
        </a:ln>
      </a:spPr>
      <a:bodyPr wrap="none" rtlCol="0">
        <a:spAutoFit/>
      </a:bodyPr>
      <a:lstStyle>
        <a:defPPr>
          <a:defRPr sz="2000" b="1" smtClean="0"/>
        </a:defPPr>
      </a:lstStyle>
    </a:tx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41587</TotalTime>
  <Words>11681</Words>
  <Application>Microsoft Office PowerPoint</Application>
  <PresentationFormat>全屏显示(4:3)</PresentationFormat>
  <Paragraphs>2226</Paragraphs>
  <Slides>130</Slides>
  <Notes>123</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6</vt:i4>
      </vt:variant>
      <vt:variant>
        <vt:lpstr>幻灯片标题</vt:lpstr>
      </vt:variant>
      <vt:variant>
        <vt:i4>130</vt:i4>
      </vt:variant>
    </vt:vector>
  </HeadingPairs>
  <TitlesOfParts>
    <vt:vector size="148" baseType="lpstr">
      <vt:lpstr>仿宋</vt:lpstr>
      <vt:lpstr>黑体</vt:lpstr>
      <vt:lpstr>华文细黑</vt:lpstr>
      <vt:lpstr>楷体_GB2312</vt:lpstr>
      <vt:lpstr>宋体</vt:lpstr>
      <vt:lpstr>Arial</vt:lpstr>
      <vt:lpstr>Calibri</vt:lpstr>
      <vt:lpstr>Times New Roman</vt:lpstr>
      <vt:lpstr>Wingdings</vt:lpstr>
      <vt:lpstr>Office 主题</vt:lpstr>
      <vt:lpstr>演示设计</vt:lpstr>
      <vt:lpstr>1_演示设计</vt:lpstr>
      <vt:lpstr>Equation</vt:lpstr>
      <vt:lpstr>公式</vt:lpstr>
      <vt:lpstr>BMP 图像</vt:lpstr>
      <vt:lpstr>AutoCAD Drawing</vt:lpstr>
      <vt:lpstr>BMP 图象</vt:lpstr>
      <vt:lpstr>Drawing</vt:lpstr>
      <vt:lpstr>结 构 力 学 I</vt:lpstr>
      <vt:lpstr>第五章 虚功原理与结构位移计算</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应用虚力原理求刚体体系的位移</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结构体位移计算的单位荷载法</vt:lpstr>
      <vt:lpstr>作业</vt:lpstr>
      <vt:lpstr>第五章 虚功原理与结构位移计算</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荷载作用下的位移计算及举例</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图乘法</vt:lpstr>
      <vt:lpstr>作业</vt:lpstr>
      <vt:lpstr>第五章 虚功原理与结构位移计算</vt:lpstr>
      <vt:lpstr>温度改变时的位移计算</vt:lpstr>
      <vt:lpstr>温度改变时的位移计算</vt:lpstr>
      <vt:lpstr>温度改变时的位移计算</vt:lpstr>
      <vt:lpstr>温度改变时的位移计算</vt:lpstr>
      <vt:lpstr>温度改变时的位移计算</vt:lpstr>
      <vt:lpstr>温度改变时的位移计算</vt:lpstr>
      <vt:lpstr>温度改变时的位移计算</vt:lpstr>
      <vt:lpstr>温度改变时的位移计算</vt:lpstr>
      <vt:lpstr>温度改变时的位移计算</vt:lpstr>
      <vt:lpstr>温度改变时的位移计算</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变形体的虚功原理</vt:lpstr>
      <vt:lpstr>互等定理</vt:lpstr>
      <vt:lpstr>互等定理</vt:lpstr>
      <vt:lpstr>互等定理</vt:lpstr>
      <vt:lpstr>互等定理</vt:lpstr>
      <vt:lpstr>互等定理</vt:lpstr>
      <vt:lpstr>互等定理</vt:lpstr>
      <vt:lpstr>互等定理</vt:lpstr>
      <vt:lpstr>互等定理</vt:lpstr>
      <vt:lpstr>互等定理</vt:lpstr>
      <vt:lpstr>互等定理</vt:lpstr>
      <vt:lpstr>互等定理</vt:lpstr>
      <vt:lpstr>小结</vt:lpstr>
      <vt:lpstr>小结</vt:lpstr>
      <vt:lpstr>小结</vt:lpstr>
      <vt:lpstr>小结</vt:lpstr>
      <vt:lpstr>作业</vt:lpstr>
      <vt:lpstr>作业汇总</vt:lpstr>
      <vt:lpstr>作业汇总</vt:lpstr>
      <vt:lpstr>作业汇总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结 构 力 学 I</dc:title>
  <dc:creator>Administrator</dc:creator>
  <cp:lastModifiedBy>YueZhang Xia</cp:lastModifiedBy>
  <cp:revision>2363</cp:revision>
  <dcterms:created xsi:type="dcterms:W3CDTF">2015-05-25T01:56:54Z</dcterms:created>
  <dcterms:modified xsi:type="dcterms:W3CDTF">2020-10-30T02:11:33Z</dcterms:modified>
</cp:coreProperties>
</file>