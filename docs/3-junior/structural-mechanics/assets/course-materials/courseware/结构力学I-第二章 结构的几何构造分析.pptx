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76"/>
  </p:notesMasterIdLst>
  <p:sldIdLst>
    <p:sldId id="256" r:id="rId3"/>
    <p:sldId id="261" r:id="rId4"/>
    <p:sldId id="262" r:id="rId5"/>
    <p:sldId id="264" r:id="rId6"/>
    <p:sldId id="265" r:id="rId7"/>
    <p:sldId id="266" r:id="rId8"/>
    <p:sldId id="268" r:id="rId9"/>
    <p:sldId id="269" r:id="rId10"/>
    <p:sldId id="267" r:id="rId11"/>
    <p:sldId id="272" r:id="rId12"/>
    <p:sldId id="271" r:id="rId13"/>
    <p:sldId id="270" r:id="rId14"/>
    <p:sldId id="274" r:id="rId15"/>
    <p:sldId id="275" r:id="rId16"/>
    <p:sldId id="273" r:id="rId17"/>
    <p:sldId id="277" r:id="rId18"/>
    <p:sldId id="281" r:id="rId19"/>
    <p:sldId id="282" r:id="rId20"/>
    <p:sldId id="283" r:id="rId21"/>
    <p:sldId id="284" r:id="rId22"/>
    <p:sldId id="285" r:id="rId23"/>
    <p:sldId id="286" r:id="rId24"/>
    <p:sldId id="289" r:id="rId25"/>
    <p:sldId id="287" r:id="rId26"/>
    <p:sldId id="288" r:id="rId27"/>
    <p:sldId id="290" r:id="rId28"/>
    <p:sldId id="291" r:id="rId29"/>
    <p:sldId id="292" r:id="rId30"/>
    <p:sldId id="293" r:id="rId31"/>
    <p:sldId id="294" r:id="rId32"/>
    <p:sldId id="295" r:id="rId33"/>
    <p:sldId id="297" r:id="rId34"/>
    <p:sldId id="276" r:id="rId35"/>
    <p:sldId id="296" r:id="rId36"/>
    <p:sldId id="298" r:id="rId37"/>
    <p:sldId id="304" r:id="rId38"/>
    <p:sldId id="302" r:id="rId39"/>
    <p:sldId id="305" r:id="rId40"/>
    <p:sldId id="299" r:id="rId41"/>
    <p:sldId id="306" r:id="rId42"/>
    <p:sldId id="307" r:id="rId43"/>
    <p:sldId id="300" r:id="rId44"/>
    <p:sldId id="301" r:id="rId45"/>
    <p:sldId id="337" r:id="rId46"/>
    <p:sldId id="303" r:id="rId47"/>
    <p:sldId id="310" r:id="rId48"/>
    <p:sldId id="321" r:id="rId49"/>
    <p:sldId id="311" r:id="rId50"/>
    <p:sldId id="312" r:id="rId51"/>
    <p:sldId id="308" r:id="rId52"/>
    <p:sldId id="309" r:id="rId53"/>
    <p:sldId id="313" r:id="rId54"/>
    <p:sldId id="314" r:id="rId55"/>
    <p:sldId id="315" r:id="rId56"/>
    <p:sldId id="316" r:id="rId57"/>
    <p:sldId id="317" r:id="rId58"/>
    <p:sldId id="322" r:id="rId59"/>
    <p:sldId id="323" r:id="rId60"/>
    <p:sldId id="324" r:id="rId61"/>
    <p:sldId id="279" r:id="rId62"/>
    <p:sldId id="326" r:id="rId63"/>
    <p:sldId id="327" r:id="rId64"/>
    <p:sldId id="328" r:id="rId65"/>
    <p:sldId id="329" r:id="rId66"/>
    <p:sldId id="330" r:id="rId67"/>
    <p:sldId id="332" r:id="rId68"/>
    <p:sldId id="331" r:id="rId69"/>
    <p:sldId id="333" r:id="rId70"/>
    <p:sldId id="334" r:id="rId71"/>
    <p:sldId id="335" r:id="rId72"/>
    <p:sldId id="325" r:id="rId73"/>
    <p:sldId id="278" r:id="rId74"/>
    <p:sldId id="336" r:id="rId7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88" autoAdjust="0"/>
    <p:restoredTop sz="94620" autoAdjust="0"/>
  </p:normalViewPr>
  <p:slideViewPr>
    <p:cSldViewPr>
      <p:cViewPr varScale="1">
        <p:scale>
          <a:sx n="91" d="100"/>
          <a:sy n="91" d="100"/>
        </p:scale>
        <p:origin x="132" y="48"/>
      </p:cViewPr>
      <p:guideLst>
        <p:guide orient="horz" pos="2160"/>
        <p:guide pos="2880"/>
      </p:guideLst>
    </p:cSldViewPr>
  </p:slideViewPr>
  <p:outlineViewPr>
    <p:cViewPr>
      <p:scale>
        <a:sx n="33" d="100"/>
        <a:sy n="33" d="100"/>
      </p:scale>
      <p:origin x="0" y="13818"/>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9.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4.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6.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7.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8.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9.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80.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80.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81.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82.png"/></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 Id="rId6" Type="http://schemas.openxmlformats.org/officeDocument/2006/relationships/image" Target="../media/image88.wmf"/><Relationship Id="rId5" Type="http://schemas.openxmlformats.org/officeDocument/2006/relationships/image" Target="../media/image87.wmf"/><Relationship Id="rId4" Type="http://schemas.openxmlformats.org/officeDocument/2006/relationships/image" Target="../media/image8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35216BC-B17C-4E81-9A66-844FD5D923C8}" type="datetimeFigureOut">
              <a:rPr lang="zh-CN" altLang="en-US" smtClean="0"/>
              <a:pPr/>
              <a:t>2020/9/18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03983A3-3D52-4755-9314-E66397BAD73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26</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27</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28</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29</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30</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31</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32</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33</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34</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35</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36</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37</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38</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39</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40</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41</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42</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43</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44</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45</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46</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47</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48</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49</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50</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51</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52</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53</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54</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55</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56</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57</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58</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59</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60</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61</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62</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63</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65</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66</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67</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68</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69</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70</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71</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72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36E1E08-2769-45B4-A6C0-F00D8DDC4B44}" type="datetime10">
              <a:rPr lang="zh-CN" altLang="en-US" smtClean="0"/>
              <a:pPr/>
              <a:t>01:57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F15593E-1FB3-4563-893F-1E1A5462D0D9}" type="datetime10">
              <a:rPr lang="zh-CN" altLang="en-US" smtClean="0"/>
              <a:pPr/>
              <a:t>01:57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E263550-7AF9-440D-BE35-FD3A87BA4E8D}" type="datetime10">
              <a:rPr lang="zh-CN" altLang="en-US" smtClean="0"/>
              <a:pPr/>
              <a:t>01:57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4FF5548-B767-4D34-A9D5-EF69D826DF6E}" type="datetime10">
              <a:rPr lang="zh-CN" altLang="en-US" smtClean="0"/>
              <a:pPr/>
              <a:t>01:57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077EC8E-9EDF-45B2-B3AF-5BA07995A552}" type="datetime10">
              <a:rPr lang="zh-CN" altLang="en-US" smtClean="0"/>
              <a:pPr/>
              <a:t>01:57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C3FE1B5-D147-46E7-AB01-002960E63774}" type="datetime10">
              <a:rPr lang="zh-CN" altLang="en-US" smtClean="0"/>
              <a:pPr/>
              <a:t>01:57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EE7B078-F2B5-4122-ACEE-D414A7E7FB18}" type="datetime10">
              <a:rPr lang="zh-CN" altLang="en-US" smtClean="0"/>
              <a:pPr/>
              <a:t>01:57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9E6BDB3-279E-466C-9FC2-7FDCDB45FE8A}" type="datetime10">
              <a:rPr lang="zh-CN" altLang="en-US" smtClean="0"/>
              <a:pPr/>
              <a:t>01:57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0F155FF-5D16-4466-A5B1-320EBD755CCF}" type="datetime10">
              <a:rPr lang="zh-CN" altLang="en-US" smtClean="0"/>
              <a:pPr/>
              <a:t>01:57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95D1877-7B0E-463A-B1D4-F529B12222CA}" type="datetime10">
              <a:rPr lang="zh-CN" altLang="en-US" smtClean="0"/>
              <a:pPr/>
              <a:t>01:57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F99C34E-50D9-46F7-9D15-2492416F81AC}" type="datetime10">
              <a:rPr lang="zh-CN" altLang="en-US" smtClean="0"/>
              <a:pPr/>
              <a:t>01:57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1"/>
          <p:cNvPicPr>
            <a:picLocks noChangeAspect="1" noChangeArrowheads="1"/>
          </p:cNvPicPr>
          <p:nvPr/>
        </p:nvPicPr>
        <p:blipFill>
          <a:blip r:embed="rId2" cstate="print"/>
          <a:srcRect/>
          <a:stretch>
            <a:fillRect/>
          </a:stretch>
        </p:blipFill>
        <p:spPr bwMode="auto">
          <a:xfrm>
            <a:off x="0" y="-25400"/>
            <a:ext cx="9144000" cy="6883400"/>
          </a:xfrm>
          <a:prstGeom prst="rect">
            <a:avLst/>
          </a:prstGeom>
          <a:noFill/>
          <a:ln w="9525">
            <a:noFill/>
            <a:miter lim="800000"/>
            <a:headEnd/>
            <a:tailEnd/>
          </a:ln>
        </p:spPr>
      </p:pic>
      <p:pic>
        <p:nvPicPr>
          <p:cNvPr id="5" name="Picture 3" descr="2"/>
          <p:cNvPicPr>
            <a:picLocks noChangeAspect="1" noChangeArrowheads="1"/>
          </p:cNvPicPr>
          <p:nvPr/>
        </p:nvPicPr>
        <p:blipFill>
          <a:blip r:embed="rId3" cstate="print"/>
          <a:srcRect/>
          <a:stretch>
            <a:fillRect/>
          </a:stretch>
        </p:blipFill>
        <p:spPr bwMode="auto">
          <a:xfrm>
            <a:off x="0" y="3030538"/>
            <a:ext cx="9144000" cy="3827462"/>
          </a:xfrm>
          <a:prstGeom prst="rect">
            <a:avLst/>
          </a:prstGeom>
          <a:noFill/>
          <a:ln w="9525">
            <a:noFill/>
            <a:miter lim="800000"/>
            <a:headEnd/>
            <a:tailEnd/>
          </a:ln>
        </p:spPr>
      </p:pic>
      <p:sp>
        <p:nvSpPr>
          <p:cNvPr id="2053" name="Rectangle 27"/>
          <p:cNvSpPr>
            <a:spLocks noGrp="1" noChangeArrowheads="1"/>
          </p:cNvSpPr>
          <p:nvPr>
            <p:ph type="ctrTitle"/>
          </p:nvPr>
        </p:nvSpPr>
        <p:spPr>
          <a:xfrm>
            <a:off x="468313" y="3000372"/>
            <a:ext cx="8207375" cy="960438"/>
          </a:xfrm>
          <a:ln w="9525"/>
        </p:spPr>
        <p:txBody>
          <a:bodyPr/>
          <a:lstStyle>
            <a:lvl1pPr>
              <a:defRPr sz="4400">
                <a:latin typeface="+mj-ea"/>
                <a:ea typeface="+mj-ea"/>
              </a:defRPr>
            </a:lvl1pPr>
          </a:lstStyle>
          <a:p>
            <a:r>
              <a:rPr lang="zh-CN" altLang="en-US"/>
              <a:t>单击此处编辑母版标题样式</a:t>
            </a:r>
            <a:endParaRPr lang="zh-CN"/>
          </a:p>
        </p:txBody>
      </p:sp>
      <p:sp>
        <p:nvSpPr>
          <p:cNvPr id="2054" name="Rectangle 31"/>
          <p:cNvSpPr>
            <a:spLocks noGrp="1" noChangeArrowheads="1"/>
          </p:cNvSpPr>
          <p:nvPr>
            <p:ph type="subTitle" idx="1"/>
          </p:nvPr>
        </p:nvSpPr>
        <p:spPr>
          <a:xfrm>
            <a:off x="683568" y="5326063"/>
            <a:ext cx="7776864" cy="407987"/>
          </a:xfrm>
        </p:spPr>
        <p:txBody>
          <a:bodyPr anchor="ctr"/>
          <a:lstStyle>
            <a:lvl1pPr marL="0" indent="0" algn="ctr">
              <a:buFont typeface="Wingdings" pitchFamily="2" charset="2"/>
              <a:buNone/>
              <a:defRPr sz="1800">
                <a:solidFill>
                  <a:schemeClr val="bg1"/>
                </a:solidFill>
              </a:defRPr>
            </a:lvl1pPr>
          </a:lstStyle>
          <a:p>
            <a:r>
              <a:rPr lang="zh-CN" altLang="en-US"/>
              <a:t>单击此处编辑母版副标题样式</a:t>
            </a:r>
            <a:endParaRPr 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1143000"/>
          </a:xfrm>
        </p:spPr>
        <p:txBody>
          <a:bodyPr/>
          <a:lstStyle>
            <a:lvl1pPr>
              <a:defRPr sz="3600">
                <a:latin typeface="+mj-ea"/>
                <a:ea typeface="+mj-ea"/>
              </a:defRPr>
            </a:lvl1pPr>
          </a:lstStyle>
          <a:p>
            <a:r>
              <a:rPr lang="zh-CN" altLang="en-US"/>
              <a:t>单击此处编辑母版标题样式</a:t>
            </a:r>
          </a:p>
        </p:txBody>
      </p:sp>
      <p:sp>
        <p:nvSpPr>
          <p:cNvPr id="3" name="内容占位符 2"/>
          <p:cNvSpPr>
            <a:spLocks noGrp="1"/>
          </p:cNvSpPr>
          <p:nvPr>
            <p:ph idx="1"/>
          </p:nvPr>
        </p:nvSpPr>
        <p:spPr/>
        <p:txBody>
          <a:bodyPr/>
          <a:lstStyle>
            <a:lvl1pPr>
              <a:buClrTx/>
              <a:defRPr>
                <a:solidFill>
                  <a:srgbClr val="C00000"/>
                </a:solidFill>
              </a:defRPr>
            </a:lvl1pPr>
            <a:lvl2pPr>
              <a:buClrTx/>
              <a:defRPr/>
            </a:lvl2pPr>
            <a:lvl3pPr>
              <a:buClrTx/>
              <a:defRPr/>
            </a:lvl3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49156" name="Picture 4" descr="E:\Pictures\Logo.png"/>
          <p:cNvPicPr>
            <a:picLocks noChangeAspect="1" noChangeArrowheads="1"/>
          </p:cNvPicPr>
          <p:nvPr userDrawn="1"/>
        </p:nvPicPr>
        <p:blipFill>
          <a:blip r:embed="rId2" cstate="print"/>
          <a:srcRect/>
          <a:stretch>
            <a:fillRect/>
          </a:stretch>
        </p:blipFill>
        <p:spPr bwMode="auto">
          <a:xfrm>
            <a:off x="251520" y="188640"/>
            <a:ext cx="1656184" cy="818857"/>
          </a:xfrm>
          <a:prstGeom prst="rect">
            <a:avLst/>
          </a:prstGeom>
          <a:noFill/>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1268413"/>
            <a:ext cx="4027487"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68413"/>
            <a:ext cx="4027488"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60340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60340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966036-97A7-4FAD-90F3-F5DC603FBC14}" type="datetime10">
              <a:rPr lang="zh-CN" altLang="en-US" smtClean="0"/>
              <a:pPr/>
              <a:t>01:56</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Picture 2" descr="3"/>
          <p:cNvPicPr>
            <a:picLocks noChangeAspect="1" noChangeArrowheads="1"/>
          </p:cNvPicPr>
          <p:nvPr/>
        </p:nvPicPr>
        <p:blipFill>
          <a:blip r:embed="rId13" cstate="print"/>
          <a:srcRect/>
          <a:stretch>
            <a:fillRect/>
          </a:stretch>
        </p:blipFill>
        <p:spPr bwMode="auto">
          <a:xfrm>
            <a:off x="0" y="0"/>
            <a:ext cx="9144000" cy="1187450"/>
          </a:xfrm>
          <a:prstGeom prst="rect">
            <a:avLst/>
          </a:prstGeom>
          <a:noFill/>
          <a:ln w="9525">
            <a:noFill/>
            <a:miter lim="800000"/>
            <a:headEnd/>
            <a:tailEnd/>
          </a:ln>
        </p:spPr>
      </p:pic>
      <p:pic>
        <p:nvPicPr>
          <p:cNvPr id="1027" name="Picture 3" descr="6"/>
          <p:cNvPicPr>
            <a:picLocks noChangeAspect="1" noChangeArrowheads="1"/>
          </p:cNvPicPr>
          <p:nvPr/>
        </p:nvPicPr>
        <p:blipFill>
          <a:blip r:embed="rId14" cstate="print"/>
          <a:srcRect/>
          <a:stretch>
            <a:fillRect/>
          </a:stretch>
        </p:blipFill>
        <p:spPr bwMode="auto">
          <a:xfrm>
            <a:off x="0" y="0"/>
            <a:ext cx="9144000" cy="565150"/>
          </a:xfrm>
          <a:prstGeom prst="rect">
            <a:avLst/>
          </a:prstGeom>
          <a:noFill/>
          <a:ln w="9525">
            <a:noFill/>
            <a:miter lim="800000"/>
            <a:headEnd/>
            <a:tailEnd/>
          </a:ln>
        </p:spPr>
      </p:pic>
      <p:pic>
        <p:nvPicPr>
          <p:cNvPr id="1028" name="Picture 4" descr="nordri_02"/>
          <p:cNvPicPr>
            <a:picLocks noChangeAspect="1" noChangeArrowheads="1"/>
          </p:cNvPicPr>
          <p:nvPr/>
        </p:nvPicPr>
        <p:blipFill>
          <a:blip r:embed="rId15" cstate="print">
            <a:lum bright="-54000" contrast="42000"/>
          </a:blip>
          <a:srcRect/>
          <a:stretch>
            <a:fillRect/>
          </a:stretch>
        </p:blipFill>
        <p:spPr bwMode="auto">
          <a:xfrm>
            <a:off x="0" y="1225550"/>
            <a:ext cx="9144000" cy="171450"/>
          </a:xfrm>
          <a:prstGeom prst="rect">
            <a:avLst/>
          </a:prstGeom>
          <a:noFill/>
          <a:ln w="9525">
            <a:noFill/>
            <a:miter lim="800000"/>
            <a:headEnd/>
            <a:tailEnd/>
          </a:ln>
        </p:spPr>
      </p:pic>
      <p:sp>
        <p:nvSpPr>
          <p:cNvPr id="1029" name="Rectangle 31"/>
          <p:cNvSpPr>
            <a:spLocks noGrp="1" noChangeArrowheads="1"/>
          </p:cNvSpPr>
          <p:nvPr>
            <p:ph type="body" idx="1"/>
          </p:nvPr>
        </p:nvSpPr>
        <p:spPr bwMode="auto">
          <a:xfrm>
            <a:off x="468313" y="1268413"/>
            <a:ext cx="8207375" cy="5040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1030" name="Rectangle 6"/>
          <p:cNvSpPr>
            <a:spLocks noChangeArrowheads="1"/>
          </p:cNvSpPr>
          <p:nvPr/>
        </p:nvSpPr>
        <p:spPr bwMode="auto">
          <a:xfrm>
            <a:off x="3851275" y="6524625"/>
            <a:ext cx="1439863" cy="196850"/>
          </a:xfrm>
          <a:prstGeom prst="rect">
            <a:avLst/>
          </a:prstGeom>
          <a:noFill/>
          <a:ln w="9525">
            <a:noFill/>
            <a:miter lim="800000"/>
            <a:headEnd/>
            <a:tailEnd/>
          </a:ln>
          <a:effectLst/>
        </p:spPr>
        <p:txBody>
          <a:bodyPr/>
          <a:lstStyle/>
          <a:p>
            <a:pPr algn="ctr" rtl="0" eaLnBrk="0" hangingPunct="0">
              <a:defRPr/>
            </a:pPr>
            <a:r>
              <a:rPr lang="de-DE" altLang="en-US" sz="1000" kern="1200">
                <a:solidFill>
                  <a:srgbClr val="000000"/>
                </a:solidFill>
                <a:latin typeface="Arial"/>
                <a:ea typeface="华文细黑"/>
                <a:cs typeface="+mn-cs"/>
              </a:rPr>
              <a:t>Page </a:t>
            </a:r>
            <a:r>
              <a:rPr lang="de-DE" altLang="en-US" sz="1000" kern="1200">
                <a:solidFill>
                  <a:srgbClr val="000000"/>
                </a:solidFill>
                <a:latin typeface="Arial"/>
                <a:ea typeface="华文细黑"/>
                <a:cs typeface="+mn-cs"/>
                <a:sym typeface="MS UI Gothic" pitchFamily="34" charset="-128"/>
              </a:rPr>
              <a:t></a:t>
            </a:r>
            <a:r>
              <a:rPr lang="de-DE" altLang="en-US" sz="1000" kern="1200">
                <a:solidFill>
                  <a:srgbClr val="000000"/>
                </a:solidFill>
                <a:latin typeface="Arial"/>
                <a:ea typeface="华文细黑"/>
                <a:cs typeface="+mn-cs"/>
              </a:rPr>
              <a:t> </a:t>
            </a:r>
            <a:fld id="{79942497-7726-428B-B087-1DEFCAC66726}" type="slidenum">
              <a:rPr lang="zh-CN" altLang="en-US" sz="1000" kern="1200">
                <a:solidFill>
                  <a:srgbClr val="000000"/>
                </a:solidFill>
                <a:latin typeface="Arial"/>
                <a:ea typeface="华文细黑"/>
                <a:cs typeface="+mn-cs"/>
              </a:rPr>
              <a:pPr algn="ctr" rtl="0" eaLnBrk="0" hangingPunct="0">
                <a:defRPr/>
              </a:pPr>
              <a:t>‹#›</a:t>
            </a:fld>
            <a:endParaRPr lang="en-US" sz="1000" kern="1200">
              <a:solidFill>
                <a:srgbClr val="000000"/>
              </a:solidFill>
              <a:latin typeface="Arial"/>
              <a:ea typeface="华文细黑"/>
              <a:cs typeface="+mn-cs"/>
            </a:endParaRPr>
          </a:p>
        </p:txBody>
      </p:sp>
      <p:sp>
        <p:nvSpPr>
          <p:cNvPr id="1031" name="Rectangle 7"/>
          <p:cNvSpPr>
            <a:spLocks noChangeArrowheads="1"/>
          </p:cNvSpPr>
          <p:nvPr/>
        </p:nvSpPr>
        <p:spPr bwMode="auto">
          <a:xfrm>
            <a:off x="468313" y="446088"/>
            <a:ext cx="1389062" cy="349250"/>
          </a:xfrm>
          <a:prstGeom prst="rect">
            <a:avLst/>
          </a:prstGeom>
          <a:gradFill rotWithShape="1">
            <a:gsLst>
              <a:gs pos="0">
                <a:srgbClr val="FFFFFF"/>
              </a:gs>
              <a:gs pos="100000">
                <a:srgbClr val="DDDDDD"/>
              </a:gs>
            </a:gsLst>
            <a:lin ang="0" scaled="1"/>
          </a:gradFill>
          <a:ln w="9525" cmpd="sng">
            <a:solidFill>
              <a:srgbClr val="969696"/>
            </a:solidFill>
            <a:prstDash val="dash"/>
            <a:miter lim="800000"/>
            <a:headEnd/>
            <a:tailEnd/>
          </a:ln>
        </p:spPr>
        <p:txBody>
          <a:bodyPr wrap="none" anchor="ctr"/>
          <a:lstStyle/>
          <a:p>
            <a:pPr algn="ctr" rtl="0" eaLnBrk="0" hangingPunct="0">
              <a:defRPr/>
            </a:pPr>
            <a:r>
              <a:rPr lang="de-DE" altLang="en-US" sz="1400" kern="1200">
                <a:solidFill>
                  <a:srgbClr val="000000"/>
                </a:solidFill>
                <a:latin typeface="Arial"/>
                <a:ea typeface="华文细黑"/>
                <a:cs typeface="+mn-cs"/>
              </a:rPr>
              <a:t>LOGO</a:t>
            </a:r>
          </a:p>
        </p:txBody>
      </p:sp>
      <p:sp>
        <p:nvSpPr>
          <p:cNvPr id="1032" name="Rectangle 8"/>
          <p:cNvSpPr>
            <a:spLocks noChangeArrowheads="1"/>
          </p:cNvSpPr>
          <p:nvPr/>
        </p:nvSpPr>
        <p:spPr bwMode="auto">
          <a:xfrm>
            <a:off x="468313" y="333375"/>
            <a:ext cx="8207375" cy="574675"/>
          </a:xfrm>
          <a:prstGeom prst="rect">
            <a:avLst/>
          </a:prstGeom>
          <a:noFill/>
          <a:ln w="9525">
            <a:noFill/>
            <a:miter lim="800000"/>
            <a:headEnd/>
            <a:tailEnd/>
          </a:ln>
        </p:spPr>
        <p:txBody>
          <a:bodyPr/>
          <a:lstStyle/>
          <a:p>
            <a:pPr algn="ctr" rtl="0">
              <a:defRPr/>
            </a:pPr>
            <a:endParaRPr lang="zh-CN" altLang="en-US" sz="2600" kern="1200">
              <a:solidFill>
                <a:srgbClr val="FFFFFF"/>
              </a:solidFill>
              <a:latin typeface="Arial"/>
              <a:ea typeface="黑体" pitchFamily="2" charset="-122"/>
              <a:cs typeface="+mn-cs"/>
            </a:endParaRPr>
          </a:p>
        </p:txBody>
      </p:sp>
      <p:sp>
        <p:nvSpPr>
          <p:cNvPr id="1033" name="Rectangle 9"/>
          <p:cNvSpPr>
            <a:spLocks noGrp="1" noChangeArrowheads="1"/>
          </p:cNvSpPr>
          <p:nvPr>
            <p:ph type="title"/>
          </p:nvPr>
        </p:nvSpPr>
        <p:spPr bwMode="auto">
          <a:xfrm>
            <a:off x="457200" y="260648"/>
            <a:ext cx="8229600" cy="1143000"/>
          </a:xfrm>
          <a:prstGeom prst="rect">
            <a:avLst/>
          </a:prstGeom>
          <a:noFill/>
          <a:ln w="0">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p:txStyles>
    <p:titleStyle>
      <a:lvl1pPr algn="ctr" rtl="0" eaLnBrk="1" fontAlgn="base" hangingPunct="1">
        <a:spcBef>
          <a:spcPct val="0"/>
        </a:spcBef>
        <a:spcAft>
          <a:spcPct val="0"/>
        </a:spcAft>
        <a:defRPr sz="2600" b="1">
          <a:solidFill>
            <a:schemeClr val="bg1"/>
          </a:solidFill>
          <a:latin typeface="+mj-lt"/>
          <a:ea typeface="+mj-ea"/>
          <a:cs typeface="+mj-cs"/>
        </a:defRPr>
      </a:lvl1pPr>
      <a:lvl2pPr algn="ctr" rtl="0" eaLnBrk="1" fontAlgn="base" hangingPunct="1">
        <a:spcBef>
          <a:spcPct val="0"/>
        </a:spcBef>
        <a:spcAft>
          <a:spcPct val="0"/>
        </a:spcAft>
        <a:defRPr sz="2600" b="1">
          <a:solidFill>
            <a:schemeClr val="bg1"/>
          </a:solidFill>
          <a:latin typeface="Arial" pitchFamily="34" charset="0"/>
          <a:ea typeface="黑体" pitchFamily="2" charset="-122"/>
        </a:defRPr>
      </a:lvl2pPr>
      <a:lvl3pPr algn="ctr" rtl="0" eaLnBrk="1" fontAlgn="base" hangingPunct="1">
        <a:spcBef>
          <a:spcPct val="0"/>
        </a:spcBef>
        <a:spcAft>
          <a:spcPct val="0"/>
        </a:spcAft>
        <a:defRPr sz="2600" b="1">
          <a:solidFill>
            <a:schemeClr val="bg1"/>
          </a:solidFill>
          <a:latin typeface="Arial" pitchFamily="34" charset="0"/>
          <a:ea typeface="黑体" pitchFamily="2" charset="-122"/>
        </a:defRPr>
      </a:lvl3pPr>
      <a:lvl4pPr algn="ctr" rtl="0" eaLnBrk="1" fontAlgn="base" hangingPunct="1">
        <a:spcBef>
          <a:spcPct val="0"/>
        </a:spcBef>
        <a:spcAft>
          <a:spcPct val="0"/>
        </a:spcAft>
        <a:defRPr sz="2600" b="1">
          <a:solidFill>
            <a:schemeClr val="bg1"/>
          </a:solidFill>
          <a:latin typeface="Arial" pitchFamily="34" charset="0"/>
          <a:ea typeface="黑体" pitchFamily="2" charset="-122"/>
        </a:defRPr>
      </a:lvl4pPr>
      <a:lvl5pPr algn="ctr" rtl="0" eaLnBrk="1" fontAlgn="base" hangingPunct="1">
        <a:spcBef>
          <a:spcPct val="0"/>
        </a:spcBef>
        <a:spcAft>
          <a:spcPct val="0"/>
        </a:spcAft>
        <a:defRPr sz="2600" b="1">
          <a:solidFill>
            <a:schemeClr val="bg1"/>
          </a:solidFill>
          <a:latin typeface="Arial" pitchFamily="34" charset="0"/>
          <a:ea typeface="黑体" pitchFamily="2" charset="-122"/>
        </a:defRPr>
      </a:lvl5pPr>
      <a:lvl6pPr marL="457200" algn="ctr" rtl="0" eaLnBrk="1" fontAlgn="base" hangingPunct="1">
        <a:spcBef>
          <a:spcPct val="0"/>
        </a:spcBef>
        <a:spcAft>
          <a:spcPct val="0"/>
        </a:spcAft>
        <a:defRPr sz="2600" b="1">
          <a:solidFill>
            <a:schemeClr val="bg1"/>
          </a:solidFill>
          <a:latin typeface="Arial" pitchFamily="34" charset="0"/>
          <a:ea typeface="黑体" pitchFamily="2" charset="-122"/>
        </a:defRPr>
      </a:lvl6pPr>
      <a:lvl7pPr marL="914400" algn="ctr" rtl="0" eaLnBrk="1" fontAlgn="base" hangingPunct="1">
        <a:spcBef>
          <a:spcPct val="0"/>
        </a:spcBef>
        <a:spcAft>
          <a:spcPct val="0"/>
        </a:spcAft>
        <a:defRPr sz="2600" b="1">
          <a:solidFill>
            <a:schemeClr val="bg1"/>
          </a:solidFill>
          <a:latin typeface="Arial" pitchFamily="34" charset="0"/>
          <a:ea typeface="黑体" pitchFamily="2" charset="-122"/>
        </a:defRPr>
      </a:lvl7pPr>
      <a:lvl8pPr marL="1371600" algn="ctr" rtl="0" eaLnBrk="1" fontAlgn="base" hangingPunct="1">
        <a:spcBef>
          <a:spcPct val="0"/>
        </a:spcBef>
        <a:spcAft>
          <a:spcPct val="0"/>
        </a:spcAft>
        <a:defRPr sz="2600" b="1">
          <a:solidFill>
            <a:schemeClr val="bg1"/>
          </a:solidFill>
          <a:latin typeface="Arial" pitchFamily="34" charset="0"/>
          <a:ea typeface="黑体" pitchFamily="2" charset="-122"/>
        </a:defRPr>
      </a:lvl8pPr>
      <a:lvl9pPr marL="1828800" algn="ctr" rtl="0" eaLnBrk="1" fontAlgn="base" hangingPunct="1">
        <a:spcBef>
          <a:spcPct val="0"/>
        </a:spcBef>
        <a:spcAft>
          <a:spcPct val="0"/>
        </a:spcAft>
        <a:defRPr sz="2600" b="1">
          <a:solidFill>
            <a:schemeClr val="bg1"/>
          </a:solidFill>
          <a:latin typeface="Arial" pitchFamily="34" charset="0"/>
          <a:ea typeface="黑体" pitchFamily="2" charset="-122"/>
        </a:defRPr>
      </a:lvl9pPr>
    </p:titleStyle>
    <p:bodyStyle>
      <a:lvl1pPr marL="342900" indent="-342900" algn="l" rtl="0" eaLnBrk="1" fontAlgn="base" hangingPunct="1">
        <a:lnSpc>
          <a:spcPct val="120000"/>
        </a:lnSpc>
        <a:spcBef>
          <a:spcPct val="20000"/>
        </a:spcBef>
        <a:spcAft>
          <a:spcPct val="0"/>
        </a:spcAft>
        <a:buClr>
          <a:schemeClr val="accent1"/>
        </a:buClr>
        <a:buFont typeface="Wingdings" pitchFamily="2" charset="2"/>
        <a:buChar char="n"/>
        <a:defRPr sz="2400" b="1">
          <a:solidFill>
            <a:schemeClr val="tx1"/>
          </a:solidFill>
          <a:latin typeface="+mn-lt"/>
          <a:ea typeface="+mn-ea"/>
          <a:cs typeface="+mn-cs"/>
        </a:defRPr>
      </a:lvl1pPr>
      <a:lvl2pPr marL="742950" indent="-285750" algn="l" rtl="0" eaLnBrk="1" fontAlgn="base" hangingPunct="1">
        <a:lnSpc>
          <a:spcPct val="120000"/>
        </a:lnSpc>
        <a:spcBef>
          <a:spcPct val="20000"/>
        </a:spcBef>
        <a:spcAft>
          <a:spcPct val="0"/>
        </a:spcAft>
        <a:buClr>
          <a:schemeClr val="accent1"/>
        </a:buClr>
        <a:buFont typeface="Wingdings" pitchFamily="2" charset="2"/>
        <a:buChar char="n"/>
        <a:defRPr sz="2000" b="1">
          <a:solidFill>
            <a:schemeClr val="tx1"/>
          </a:solidFill>
          <a:latin typeface="+mn-lt"/>
          <a:ea typeface="+mn-ea"/>
        </a:defRPr>
      </a:lvl2pPr>
      <a:lvl3pPr marL="1143000" indent="-228600" algn="l" rtl="0" eaLnBrk="1" fontAlgn="base" hangingPunct="1">
        <a:lnSpc>
          <a:spcPct val="120000"/>
        </a:lnSpc>
        <a:spcBef>
          <a:spcPct val="20000"/>
        </a:spcBef>
        <a:spcAft>
          <a:spcPct val="0"/>
        </a:spcAft>
        <a:buClr>
          <a:schemeClr val="accent2"/>
        </a:buClr>
        <a:buFont typeface="Wingdings" pitchFamily="2" charset="2"/>
        <a:buChar char="n"/>
        <a:defRPr sz="1800" b="1">
          <a:solidFill>
            <a:schemeClr val="tx1"/>
          </a:solidFill>
          <a:latin typeface="+mn-lt"/>
          <a:ea typeface="+mn-ea"/>
        </a:defRPr>
      </a:lvl3pPr>
      <a:lvl4pPr marL="1600200" indent="-228600" algn="l" rtl="0" eaLnBrk="1" fontAlgn="base" hangingPunct="1">
        <a:lnSpc>
          <a:spcPct val="120000"/>
        </a:lnSpc>
        <a:spcBef>
          <a:spcPct val="20000"/>
        </a:spcBef>
        <a:spcAft>
          <a:spcPct val="0"/>
        </a:spcAft>
        <a:buClr>
          <a:schemeClr val="hlink"/>
        </a:buClr>
        <a:buFont typeface="Wingdings" pitchFamily="2" charset="2"/>
        <a:buChar char="n"/>
        <a:defRPr sz="1600" b="1">
          <a:solidFill>
            <a:schemeClr val="tx1"/>
          </a:solidFill>
          <a:latin typeface="+mn-lt"/>
          <a:ea typeface="+mn-ea"/>
        </a:defRPr>
      </a:lvl4pPr>
      <a:lvl5pPr marL="2057400" indent="-228600" algn="l" rtl="0" eaLnBrk="1" fontAlgn="base" hangingPunct="1">
        <a:spcBef>
          <a:spcPct val="20000"/>
        </a:spcBef>
        <a:spcAft>
          <a:spcPct val="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3.xml"/><Relationship Id="rId5" Type="http://schemas.openxmlformats.org/officeDocument/2006/relationships/image" Target="../media/image29.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27.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oleObject" Target="../embeddings/oleObject1.bin"/></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8.xml"/><Relationship Id="rId1" Type="http://schemas.openxmlformats.org/officeDocument/2006/relationships/slideLayout" Target="../slideLayouts/slideLayout13.xml"/><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1.xml"/><Relationship Id="rId1" Type="http://schemas.openxmlformats.org/officeDocument/2006/relationships/slideLayout" Target="../slideLayouts/slideLayout13.xml"/><Relationship Id="rId5" Type="http://schemas.openxmlformats.org/officeDocument/2006/relationships/image" Target="../media/image42.png"/><Relationship Id="rId4" Type="http://schemas.openxmlformats.org/officeDocument/2006/relationships/image" Target="../media/image38.png"/></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2.xml"/><Relationship Id="rId1" Type="http://schemas.openxmlformats.org/officeDocument/2006/relationships/slideLayout" Target="../slideLayouts/slideLayout13.xml"/><Relationship Id="rId5" Type="http://schemas.openxmlformats.org/officeDocument/2006/relationships/image" Target="../media/image50.png"/><Relationship Id="rId4" Type="http://schemas.openxmlformats.org/officeDocument/2006/relationships/image" Target="../media/image49.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7" Type="http://schemas.openxmlformats.org/officeDocument/2006/relationships/image" Target="../media/image53.wmf"/><Relationship Id="rId2" Type="http://schemas.openxmlformats.org/officeDocument/2006/relationships/slideLayout" Target="../slideLayouts/slideLayout13.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52.wmf"/><Relationship Id="rId4" Type="http://schemas.openxmlformats.org/officeDocument/2006/relationships/oleObject" Target="../embeddings/oleObject2.bin"/></Relationships>
</file>

<file path=ppt/slides/_rels/slide4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55.png"/></Relationships>
</file>

<file path=ppt/slides/_rels/slide4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51.xml"/><Relationship Id="rId1" Type="http://schemas.openxmlformats.org/officeDocument/2006/relationships/slideLayout" Target="../slideLayouts/slideLayout13.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63.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vmlDrawing" Target="../drawings/vmlDrawing3.vml"/><Relationship Id="rId5" Type="http://schemas.openxmlformats.org/officeDocument/2006/relationships/image" Target="../media/image64.png"/><Relationship Id="rId4" Type="http://schemas.openxmlformats.org/officeDocument/2006/relationships/oleObject" Target="../embeddings/oleObject4.bin"/></Relationships>
</file>

<file path=ppt/slides/_rels/slide5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4.xml"/><Relationship Id="rId1" Type="http://schemas.openxmlformats.org/officeDocument/2006/relationships/slideLayout" Target="../slideLayouts/slideLayout13.xml"/><Relationship Id="rId4" Type="http://schemas.openxmlformats.org/officeDocument/2006/relationships/image" Target="../media/image54.png"/></Relationships>
</file>

<file path=ppt/slides/_rels/slide5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5.xml"/><Relationship Id="rId1" Type="http://schemas.openxmlformats.org/officeDocument/2006/relationships/slideLayout" Target="../slideLayouts/slideLayout13.xml"/><Relationship Id="rId5" Type="http://schemas.openxmlformats.org/officeDocument/2006/relationships/image" Target="../media/image67.png"/><Relationship Id="rId4" Type="http://schemas.openxmlformats.org/officeDocument/2006/relationships/image" Target="../media/image66.png"/></Relationships>
</file>

<file path=ppt/slides/_rels/slide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6.xml"/><Relationship Id="rId1" Type="http://schemas.openxmlformats.org/officeDocument/2006/relationships/slideLayout" Target="../slideLayouts/slideLayout13.xml"/><Relationship Id="rId5" Type="http://schemas.openxmlformats.org/officeDocument/2006/relationships/image" Target="../media/image69.png"/><Relationship Id="rId4" Type="http://schemas.openxmlformats.org/officeDocument/2006/relationships/image" Target="../media/image68.png"/></Relationships>
</file>

<file path=ppt/slides/_rels/slide5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7.xml"/><Relationship Id="rId1" Type="http://schemas.openxmlformats.org/officeDocument/2006/relationships/slideLayout" Target="../slideLayouts/slideLayout13.xml"/><Relationship Id="rId5" Type="http://schemas.openxmlformats.org/officeDocument/2006/relationships/image" Target="../media/image72.jpeg"/><Relationship Id="rId4" Type="http://schemas.openxmlformats.org/officeDocument/2006/relationships/image" Target="../media/image71.png"/></Relationships>
</file>

<file path=ppt/slides/_rels/slide5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8.xml"/><Relationship Id="rId1" Type="http://schemas.openxmlformats.org/officeDocument/2006/relationships/slideLayout" Target="../slideLayouts/slideLayout13.xml"/><Relationship Id="rId5" Type="http://schemas.openxmlformats.org/officeDocument/2006/relationships/image" Target="../media/image75.png"/><Relationship Id="rId4" Type="http://schemas.openxmlformats.org/officeDocument/2006/relationships/image" Target="../media/image74.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3.xml"/><Relationship Id="rId1" Type="http://schemas.openxmlformats.org/officeDocument/2006/relationships/vmlDrawing" Target="../drawings/vmlDrawing4.vml"/><Relationship Id="rId5" Type="http://schemas.openxmlformats.org/officeDocument/2006/relationships/image" Target="../media/image76.png"/><Relationship Id="rId4" Type="http://schemas.openxmlformats.org/officeDocument/2006/relationships/oleObject" Target="../embeddings/oleObject5.bin"/></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3.xml"/><Relationship Id="rId1" Type="http://schemas.openxmlformats.org/officeDocument/2006/relationships/vmlDrawing" Target="../drawings/vmlDrawing5.vml"/><Relationship Id="rId5" Type="http://schemas.openxmlformats.org/officeDocument/2006/relationships/image" Target="../media/image77.png"/><Relationship Id="rId4" Type="http://schemas.openxmlformats.org/officeDocument/2006/relationships/oleObject" Target="../embeddings/oleObject6.bin"/></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3.xml"/><Relationship Id="rId1" Type="http://schemas.openxmlformats.org/officeDocument/2006/relationships/vmlDrawing" Target="../drawings/vmlDrawing6.vml"/><Relationship Id="rId5" Type="http://schemas.openxmlformats.org/officeDocument/2006/relationships/image" Target="../media/image78.png"/><Relationship Id="rId4" Type="http://schemas.openxmlformats.org/officeDocument/2006/relationships/oleObject" Target="../embeddings/oleObject7.bin"/></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3.xml"/><Relationship Id="rId1" Type="http://schemas.openxmlformats.org/officeDocument/2006/relationships/vmlDrawing" Target="../drawings/vmlDrawing7.vml"/><Relationship Id="rId5" Type="http://schemas.openxmlformats.org/officeDocument/2006/relationships/image" Target="../media/image79.png"/><Relationship Id="rId4" Type="http://schemas.openxmlformats.org/officeDocument/2006/relationships/oleObject" Target="../embeddings/oleObject8.bin"/></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3.xml"/><Relationship Id="rId1" Type="http://schemas.openxmlformats.org/officeDocument/2006/relationships/vmlDrawing" Target="../drawings/vmlDrawing8.vml"/><Relationship Id="rId5" Type="http://schemas.openxmlformats.org/officeDocument/2006/relationships/image" Target="../media/image80.png"/><Relationship Id="rId4" Type="http://schemas.openxmlformats.org/officeDocument/2006/relationships/oleObject" Target="../embeddings/oleObject9.bin"/></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3.xml"/><Relationship Id="rId1" Type="http://schemas.openxmlformats.org/officeDocument/2006/relationships/vmlDrawing" Target="../drawings/vmlDrawing9.vml"/><Relationship Id="rId5" Type="http://schemas.openxmlformats.org/officeDocument/2006/relationships/image" Target="../media/image80.png"/><Relationship Id="rId4" Type="http://schemas.openxmlformats.org/officeDocument/2006/relationships/oleObject" Target="../embeddings/oleObject10.bin"/></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3.xml"/><Relationship Id="rId1" Type="http://schemas.openxmlformats.org/officeDocument/2006/relationships/vmlDrawing" Target="../drawings/vmlDrawing10.vml"/><Relationship Id="rId5" Type="http://schemas.openxmlformats.org/officeDocument/2006/relationships/image" Target="../media/image81.png"/><Relationship Id="rId4" Type="http://schemas.openxmlformats.org/officeDocument/2006/relationships/oleObject" Target="../embeddings/oleObject11.bin"/></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3.xml"/><Relationship Id="rId1" Type="http://schemas.openxmlformats.org/officeDocument/2006/relationships/vmlDrawing" Target="../drawings/vmlDrawing11.vml"/><Relationship Id="rId5" Type="http://schemas.openxmlformats.org/officeDocument/2006/relationships/image" Target="../media/image82.png"/><Relationship Id="rId4" Type="http://schemas.openxmlformats.org/officeDocument/2006/relationships/oleObject" Target="../embeddings/oleObject12.bin"/></Relationships>
</file>

<file path=ppt/slides/_rels/slide71.xml.rels><?xml version="1.0" encoding="UTF-8" standalone="yes"?>
<Relationships xmlns="http://schemas.openxmlformats.org/package/2006/relationships"><Relationship Id="rId8" Type="http://schemas.openxmlformats.org/officeDocument/2006/relationships/image" Target="../media/image84.wmf"/><Relationship Id="rId13" Type="http://schemas.openxmlformats.org/officeDocument/2006/relationships/oleObject" Target="../embeddings/oleObject17.bin"/><Relationship Id="rId3" Type="http://schemas.openxmlformats.org/officeDocument/2006/relationships/notesSlide" Target="../notesSlides/notesSlide69.xml"/><Relationship Id="rId7" Type="http://schemas.openxmlformats.org/officeDocument/2006/relationships/oleObject" Target="../embeddings/oleObject14.bin"/><Relationship Id="rId12" Type="http://schemas.openxmlformats.org/officeDocument/2006/relationships/image" Target="../media/image86.wmf"/><Relationship Id="rId2" Type="http://schemas.openxmlformats.org/officeDocument/2006/relationships/slideLayout" Target="../slideLayouts/slideLayout13.xml"/><Relationship Id="rId16" Type="http://schemas.openxmlformats.org/officeDocument/2006/relationships/image" Target="../media/image88.wmf"/><Relationship Id="rId1" Type="http://schemas.openxmlformats.org/officeDocument/2006/relationships/vmlDrawing" Target="../drawings/vmlDrawing12.vml"/><Relationship Id="rId6" Type="http://schemas.openxmlformats.org/officeDocument/2006/relationships/image" Target="../media/image83.wmf"/><Relationship Id="rId11" Type="http://schemas.openxmlformats.org/officeDocument/2006/relationships/oleObject" Target="../embeddings/oleObject16.bin"/><Relationship Id="rId5" Type="http://schemas.openxmlformats.org/officeDocument/2006/relationships/oleObject" Target="../embeddings/oleObject13.bin"/><Relationship Id="rId15" Type="http://schemas.openxmlformats.org/officeDocument/2006/relationships/oleObject" Target="../embeddings/oleObject18.bin"/><Relationship Id="rId10" Type="http://schemas.openxmlformats.org/officeDocument/2006/relationships/image" Target="../media/image85.wmf"/><Relationship Id="rId4" Type="http://schemas.openxmlformats.org/officeDocument/2006/relationships/image" Target="../media/image89.png"/><Relationship Id="rId9" Type="http://schemas.openxmlformats.org/officeDocument/2006/relationships/oleObject" Target="../embeddings/oleObject15.bin"/><Relationship Id="rId14" Type="http://schemas.openxmlformats.org/officeDocument/2006/relationships/image" Target="../media/image87.wmf"/></Relationships>
</file>

<file path=ppt/slides/_rels/slide7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0.xml"/><Relationship Id="rId1" Type="http://schemas.openxmlformats.org/officeDocument/2006/relationships/slideLayout" Target="../slideLayouts/slideLayout13.xml"/><Relationship Id="rId5" Type="http://schemas.openxmlformats.org/officeDocument/2006/relationships/image" Target="../media/image92.png"/><Relationship Id="rId4" Type="http://schemas.openxmlformats.org/officeDocument/2006/relationships/image" Target="../media/image9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468313" y="1968496"/>
            <a:ext cx="8207375" cy="960438"/>
          </a:xfrm>
        </p:spPr>
        <p:txBody>
          <a:bodyPr/>
          <a:lstStyle/>
          <a:p>
            <a:r>
              <a:rPr lang="zh-CN" altLang="en-US" sz="4400">
                <a:solidFill>
                  <a:schemeClr val="tx1"/>
                </a:solidFill>
                <a:effectLst>
                  <a:outerShdw blurRad="38100" dist="38100" dir="2700000" algn="tl">
                    <a:srgbClr val="000000">
                      <a:alpha val="43137"/>
                    </a:srgbClr>
                  </a:outerShdw>
                </a:effectLst>
              </a:rPr>
              <a:t>结 构 力 学 </a:t>
            </a:r>
            <a:r>
              <a:rPr lang="en-US" altLang="zh-CN" sz="4400">
                <a:solidFill>
                  <a:schemeClr val="tx1"/>
                </a:solidFill>
                <a:effectLst>
                  <a:outerShdw blurRad="38100" dist="38100" dir="2700000" algn="tl">
                    <a:srgbClr val="000000">
                      <a:alpha val="43137"/>
                    </a:srgbClr>
                  </a:outerShdw>
                </a:effectLst>
              </a:rPr>
              <a:t>I</a:t>
            </a:r>
            <a:endParaRPr lang="zh-CN" altLang="en-US" sz="4400" dirty="0">
              <a:solidFill>
                <a:schemeClr val="tx1"/>
              </a:solidFill>
              <a:effectLst>
                <a:outerShdw blurRad="38100" dist="38100" dir="2700000" algn="tl">
                  <a:srgbClr val="000000">
                    <a:alpha val="43137"/>
                  </a:srgbClr>
                </a:outerShdw>
              </a:effectLst>
            </a:endParaRPr>
          </a:p>
        </p:txBody>
      </p:sp>
      <p:sp>
        <p:nvSpPr>
          <p:cNvPr id="4" name="标题 5"/>
          <p:cNvSpPr txBox="1">
            <a:spLocks/>
          </p:cNvSpPr>
          <p:nvPr/>
        </p:nvSpPr>
        <p:spPr bwMode="auto">
          <a:xfrm>
            <a:off x="477549" y="4071942"/>
            <a:ext cx="8207375" cy="9604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0" cap="none" spc="0" normalizeH="0" baseline="0" noProof="0">
                <a:ln>
                  <a:noFill/>
                </a:ln>
                <a:solidFill>
                  <a:schemeClr val="bg1"/>
                </a:solidFill>
                <a:effectLst>
                  <a:outerShdw blurRad="38100" dist="38100" dir="2700000" algn="tl">
                    <a:srgbClr val="000000">
                      <a:alpha val="43137"/>
                    </a:srgbClr>
                  </a:outerShdw>
                </a:effectLst>
                <a:uLnTx/>
                <a:uFillTx/>
                <a:latin typeface="+mj-ea"/>
                <a:ea typeface="+mj-ea"/>
                <a:cs typeface="+mj-cs"/>
              </a:rPr>
              <a:t>第二章 几何构造分析</a:t>
            </a:r>
            <a:endParaRPr kumimoji="0" lang="zh-CN" altLang="en-US" sz="4400" b="1" i="0" u="none" strike="noStrike" kern="0" cap="none" spc="0" normalizeH="0" baseline="0" noProof="0" dirty="0">
              <a:ln>
                <a:noFill/>
              </a:ln>
              <a:solidFill>
                <a:schemeClr val="bg1"/>
              </a:solidFill>
              <a:effectLst>
                <a:outerShdw blurRad="38100" dist="38100" dir="2700000" algn="tl">
                  <a:srgbClr val="000000">
                    <a:alpha val="43137"/>
                  </a:srgbClr>
                </a:outerShdw>
              </a:effectLst>
              <a:uLnTx/>
              <a:uFillTx/>
              <a:latin typeface="+mj-ea"/>
              <a:ea typeface="+mj-ea"/>
              <a:cs typeface="+mj-cs"/>
            </a:endParaRPr>
          </a:p>
        </p:txBody>
      </p:sp>
      <p:sp>
        <p:nvSpPr>
          <p:cNvPr id="9" name="副标题 3"/>
          <p:cNvSpPr>
            <a:spLocks noGrp="1"/>
          </p:cNvSpPr>
          <p:nvPr>
            <p:ph type="subTitle" idx="1"/>
          </p:nvPr>
        </p:nvSpPr>
        <p:spPr>
          <a:xfrm>
            <a:off x="683568" y="5326063"/>
            <a:ext cx="7776864" cy="407987"/>
          </a:xfrm>
        </p:spPr>
        <p:txBody>
          <a:bodyPr/>
          <a:lstStyle/>
          <a:p>
            <a:fld id="{781730A4-E180-4040-B90D-77E0BE6DFDCA}" type="datetime2">
              <a:rPr lang="zh-CN" altLang="en-US" sz="2000" smtClean="0"/>
              <a:pPr/>
              <a:t>2020年9月18日</a:t>
            </a:fld>
            <a:endParaRPr lang="zh-CN" alt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r>
              <a:rPr lang="zh-CN" altLang="en-US"/>
              <a:t>第二章 几何构造分析</a:t>
            </a:r>
            <a:endParaRPr lang="zh-CN" altLang="en-US" sz="3600" dirty="0"/>
          </a:p>
        </p:txBody>
      </p:sp>
      <p:sp>
        <p:nvSpPr>
          <p:cNvPr id="3" name="内容占位符 2"/>
          <p:cNvSpPr>
            <a:spLocks noGrp="1"/>
          </p:cNvSpPr>
          <p:nvPr>
            <p:ph idx="1"/>
          </p:nvPr>
        </p:nvSpPr>
        <p:spPr>
          <a:ln>
            <a:noFill/>
          </a:ln>
        </p:spPr>
        <p:txBody>
          <a:bodyPr/>
          <a:lstStyle/>
          <a:p>
            <a:pPr>
              <a:buClrTx/>
            </a:pPr>
            <a:r>
              <a:rPr lang="zh-CN" altLang="en-US"/>
              <a:t>主要内容</a:t>
            </a:r>
            <a:endParaRPr lang="en-US" altLang="zh-CN"/>
          </a:p>
          <a:p>
            <a:pPr lvl="1">
              <a:lnSpc>
                <a:spcPct val="150000"/>
              </a:lnSpc>
            </a:pPr>
            <a:r>
              <a:rPr lang="zh-CN" altLang="en-US"/>
              <a:t>基本概念           </a:t>
            </a:r>
            <a:endParaRPr lang="en-US" altLang="zh-CN"/>
          </a:p>
          <a:p>
            <a:pPr lvl="1">
              <a:lnSpc>
                <a:spcPct val="150000"/>
              </a:lnSpc>
            </a:pPr>
            <a:r>
              <a:rPr lang="zh-CN" altLang="en-US"/>
              <a:t>平面杆件体系的计算自由度</a:t>
            </a:r>
            <a:endParaRPr lang="en-US" altLang="zh-CN"/>
          </a:p>
          <a:p>
            <a:pPr lvl="1">
              <a:lnSpc>
                <a:spcPct val="150000"/>
              </a:lnSpc>
            </a:pPr>
            <a:r>
              <a:rPr lang="zh-CN" altLang="en-US"/>
              <a:t>平面几何不变体系的组成规律</a:t>
            </a:r>
            <a:endParaRPr lang="en-US" altLang="zh-CN"/>
          </a:p>
          <a:p>
            <a:pPr lvl="1">
              <a:lnSpc>
                <a:spcPct val="150000"/>
              </a:lnSpc>
            </a:pPr>
            <a:r>
              <a:rPr lang="zh-CN" altLang="en-US"/>
              <a:t>几何构造分析示例</a:t>
            </a:r>
            <a:endParaRPr lang="en-US" altLang="zh-CN"/>
          </a:p>
          <a:p>
            <a:pPr lvl="1">
              <a:lnSpc>
                <a:spcPct val="150000"/>
              </a:lnSpc>
            </a:pPr>
            <a:r>
              <a:rPr lang="zh-CN" altLang="en-US"/>
              <a:t>思考与小结</a:t>
            </a: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pPr>
              <a:buClrTx/>
            </a:pPr>
            <a:r>
              <a:rPr lang="zh-CN" altLang="en-US"/>
              <a:t>几何不变体系和几何可变体系</a:t>
            </a:r>
            <a:endParaRPr lang="en-US" altLang="zh-CN"/>
          </a:p>
          <a:p>
            <a:pPr lvl="1">
              <a:lnSpc>
                <a:spcPct val="150000"/>
              </a:lnSpc>
            </a:pPr>
            <a:r>
              <a:rPr lang="zh-CN" altLang="en-US"/>
              <a:t>几何不变体系 ：忽略材料应变，在载荷作用下能够保持其位置和几何形状不变的体系，可称之为</a:t>
            </a:r>
            <a:r>
              <a:rPr lang="zh-CN" altLang="en-US">
                <a:solidFill>
                  <a:srgbClr val="C00000"/>
                </a:solidFill>
              </a:rPr>
              <a:t>结构</a:t>
            </a:r>
            <a:r>
              <a:rPr lang="zh-CN" altLang="en-US"/>
              <a:t>；</a:t>
            </a:r>
            <a:endParaRPr lang="en-US" altLang="zh-CN"/>
          </a:p>
          <a:p>
            <a:pPr lvl="1">
              <a:lnSpc>
                <a:spcPct val="150000"/>
              </a:lnSpc>
            </a:pPr>
            <a:r>
              <a:rPr lang="zh-CN" altLang="en-US"/>
              <a:t>几何可变体系：忽略材料应变，在载荷作用下其位置或几何形状是可以改变的体系，只能称之为机构；     </a:t>
            </a:r>
            <a:endParaRPr lang="en-US" altLang="zh-CN"/>
          </a:p>
          <a:p>
            <a:pPr lvl="1">
              <a:lnSpc>
                <a:spcPct val="150000"/>
              </a:lnSpc>
            </a:pP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基本概念</a:t>
            </a:r>
            <a:endParaRPr lang="zh-CN" altLang="en-US" sz="3600" dirty="0"/>
          </a:p>
        </p:txBody>
      </p:sp>
      <p:grpSp>
        <p:nvGrpSpPr>
          <p:cNvPr id="38" name="组合 37"/>
          <p:cNvGrpSpPr/>
          <p:nvPr/>
        </p:nvGrpSpPr>
        <p:grpSpPr>
          <a:xfrm>
            <a:off x="2786050" y="3857628"/>
            <a:ext cx="2595559" cy="1943103"/>
            <a:chOff x="1500166" y="3857628"/>
            <a:chExt cx="2595559" cy="1943103"/>
          </a:xfrm>
        </p:grpSpPr>
        <p:sp>
          <p:nvSpPr>
            <p:cNvPr id="5" name="Line 5"/>
            <p:cNvSpPr>
              <a:spLocks noChangeShapeType="1"/>
            </p:cNvSpPr>
            <p:nvPr/>
          </p:nvSpPr>
          <p:spPr bwMode="auto">
            <a:xfrm>
              <a:off x="1841129" y="4308107"/>
              <a:ext cx="0" cy="1119468"/>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6" name="Line 6"/>
            <p:cNvSpPr>
              <a:spLocks noChangeShapeType="1"/>
            </p:cNvSpPr>
            <p:nvPr/>
          </p:nvSpPr>
          <p:spPr bwMode="auto">
            <a:xfrm>
              <a:off x="3247600" y="4308107"/>
              <a:ext cx="0" cy="1119468"/>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7" name="Line 7"/>
            <p:cNvSpPr>
              <a:spLocks noChangeShapeType="1"/>
            </p:cNvSpPr>
            <p:nvPr/>
          </p:nvSpPr>
          <p:spPr bwMode="auto">
            <a:xfrm>
              <a:off x="1841129" y="4277011"/>
              <a:ext cx="1363851" cy="0"/>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8" name="Oval 8"/>
            <p:cNvSpPr>
              <a:spLocks noChangeArrowheads="1"/>
            </p:cNvSpPr>
            <p:nvPr/>
          </p:nvSpPr>
          <p:spPr bwMode="auto">
            <a:xfrm>
              <a:off x="1798508" y="5334286"/>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9" name="Oval 9"/>
            <p:cNvSpPr>
              <a:spLocks noChangeArrowheads="1"/>
            </p:cNvSpPr>
            <p:nvPr/>
          </p:nvSpPr>
          <p:spPr bwMode="auto">
            <a:xfrm>
              <a:off x="3204980" y="4214818"/>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13" name="Line 13"/>
            <p:cNvSpPr>
              <a:spLocks noChangeShapeType="1"/>
            </p:cNvSpPr>
            <p:nvPr/>
          </p:nvSpPr>
          <p:spPr bwMode="auto">
            <a:xfrm flipH="1">
              <a:off x="1670647" y="5427575"/>
              <a:ext cx="170481" cy="186578"/>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14" name="Line 14"/>
            <p:cNvSpPr>
              <a:spLocks noChangeShapeType="1"/>
            </p:cNvSpPr>
            <p:nvPr/>
          </p:nvSpPr>
          <p:spPr bwMode="auto">
            <a:xfrm>
              <a:off x="1841129" y="5427575"/>
              <a:ext cx="170481" cy="186578"/>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15" name="Line 15"/>
            <p:cNvSpPr>
              <a:spLocks noChangeShapeType="1"/>
            </p:cNvSpPr>
            <p:nvPr/>
          </p:nvSpPr>
          <p:spPr bwMode="auto">
            <a:xfrm>
              <a:off x="1500166" y="5645249"/>
              <a:ext cx="596685" cy="0"/>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16" name="Line 16"/>
            <p:cNvSpPr>
              <a:spLocks noChangeShapeType="1"/>
            </p:cNvSpPr>
            <p:nvPr/>
          </p:nvSpPr>
          <p:spPr bwMode="auto">
            <a:xfrm flipH="1">
              <a:off x="1500166" y="5645249"/>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17" name="Line 17"/>
            <p:cNvSpPr>
              <a:spLocks noChangeShapeType="1"/>
            </p:cNvSpPr>
            <p:nvPr/>
          </p:nvSpPr>
          <p:spPr bwMode="auto">
            <a:xfrm flipH="1">
              <a:off x="1770095" y="5660798"/>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18" name="Line 18"/>
            <p:cNvSpPr>
              <a:spLocks noChangeShapeType="1"/>
            </p:cNvSpPr>
            <p:nvPr/>
          </p:nvSpPr>
          <p:spPr bwMode="auto">
            <a:xfrm flipH="1">
              <a:off x="1897956" y="5660798"/>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19" name="Line 19"/>
            <p:cNvSpPr>
              <a:spLocks noChangeShapeType="1"/>
            </p:cNvSpPr>
            <p:nvPr/>
          </p:nvSpPr>
          <p:spPr bwMode="auto">
            <a:xfrm flipH="1">
              <a:off x="1642234" y="5645249"/>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20" name="Oval 20"/>
            <p:cNvSpPr>
              <a:spLocks noChangeArrowheads="1"/>
            </p:cNvSpPr>
            <p:nvPr/>
          </p:nvSpPr>
          <p:spPr bwMode="auto">
            <a:xfrm>
              <a:off x="3204980" y="5380931"/>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23" name="Line 23"/>
            <p:cNvSpPr>
              <a:spLocks noChangeShapeType="1"/>
            </p:cNvSpPr>
            <p:nvPr/>
          </p:nvSpPr>
          <p:spPr bwMode="auto">
            <a:xfrm flipH="1">
              <a:off x="3077119" y="5474220"/>
              <a:ext cx="170481" cy="186578"/>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25" name="Line 25"/>
            <p:cNvSpPr>
              <a:spLocks noChangeShapeType="1"/>
            </p:cNvSpPr>
            <p:nvPr/>
          </p:nvSpPr>
          <p:spPr bwMode="auto">
            <a:xfrm>
              <a:off x="2906637" y="5691894"/>
              <a:ext cx="596685" cy="0"/>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26" name="Line 26"/>
            <p:cNvSpPr>
              <a:spLocks noChangeShapeType="1"/>
            </p:cNvSpPr>
            <p:nvPr/>
          </p:nvSpPr>
          <p:spPr bwMode="auto">
            <a:xfrm flipH="1">
              <a:off x="2906637" y="5691894"/>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27" name="Line 27"/>
            <p:cNvSpPr>
              <a:spLocks noChangeShapeType="1"/>
            </p:cNvSpPr>
            <p:nvPr/>
          </p:nvSpPr>
          <p:spPr bwMode="auto">
            <a:xfrm flipH="1">
              <a:off x="3176566" y="5707442"/>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28" name="Line 28"/>
            <p:cNvSpPr>
              <a:spLocks noChangeShapeType="1"/>
            </p:cNvSpPr>
            <p:nvPr/>
          </p:nvSpPr>
          <p:spPr bwMode="auto">
            <a:xfrm flipH="1">
              <a:off x="3304427" y="5707442"/>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29" name="Line 29"/>
            <p:cNvSpPr>
              <a:spLocks noChangeShapeType="1"/>
            </p:cNvSpPr>
            <p:nvPr/>
          </p:nvSpPr>
          <p:spPr bwMode="auto">
            <a:xfrm flipH="1">
              <a:off x="3048705" y="5691894"/>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30" name="Line 30"/>
            <p:cNvSpPr>
              <a:spLocks noChangeShapeType="1"/>
            </p:cNvSpPr>
            <p:nvPr/>
          </p:nvSpPr>
          <p:spPr bwMode="auto">
            <a:xfrm>
              <a:off x="1855335" y="4292559"/>
              <a:ext cx="1363851" cy="1119468"/>
            </a:xfrm>
            <a:prstGeom prst="line">
              <a:avLst/>
            </a:prstGeom>
            <a:noFill/>
            <a:ln w="28575">
              <a:solidFill>
                <a:schemeClr val="tx1"/>
              </a:solidFill>
              <a:round/>
              <a:headEnd/>
              <a:tailEnd/>
            </a:ln>
            <a:effectLst/>
          </p:spPr>
          <p:txBody>
            <a:bodyPr wrap="none" anchor="ctr">
              <a:spAutoFit/>
            </a:bodyPr>
            <a:lstStyle/>
            <a:p>
              <a:endParaRPr lang="zh-CN" altLang="en-US"/>
            </a:p>
          </p:txBody>
        </p:sp>
        <p:grpSp>
          <p:nvGrpSpPr>
            <p:cNvPr id="35" name="Group 35"/>
            <p:cNvGrpSpPr>
              <a:grpSpLocks/>
            </p:cNvGrpSpPr>
            <p:nvPr/>
          </p:nvGrpSpPr>
          <p:grpSpPr bwMode="auto">
            <a:xfrm>
              <a:off x="3262287" y="3857628"/>
              <a:ext cx="833438" cy="371475"/>
              <a:chOff x="2237" y="1688"/>
              <a:chExt cx="525" cy="234"/>
            </a:xfrm>
          </p:grpSpPr>
          <p:sp>
            <p:nvSpPr>
              <p:cNvPr id="36" name="Line 36"/>
              <p:cNvSpPr>
                <a:spLocks noChangeShapeType="1"/>
              </p:cNvSpPr>
              <p:nvPr/>
            </p:nvSpPr>
            <p:spPr bwMode="auto">
              <a:xfrm flipH="1">
                <a:off x="2237" y="1733"/>
                <a:ext cx="330" cy="189"/>
              </a:xfrm>
              <a:prstGeom prst="line">
                <a:avLst/>
              </a:prstGeom>
              <a:noFill/>
              <a:ln w="28575">
                <a:solidFill>
                  <a:srgbClr val="FF3300"/>
                </a:solidFill>
                <a:round/>
                <a:headEnd/>
                <a:tailEnd type="triangle" w="med" len="med"/>
              </a:ln>
              <a:effectLst/>
            </p:spPr>
            <p:txBody>
              <a:bodyPr wrap="square" anchor="ctr">
                <a:spAutoFit/>
              </a:bodyPr>
              <a:lstStyle/>
              <a:p>
                <a:endParaRPr lang="zh-CN" altLang="en-US"/>
              </a:p>
            </p:txBody>
          </p:sp>
          <p:sp>
            <p:nvSpPr>
              <p:cNvPr id="37" name="Text Box 37"/>
              <p:cNvSpPr txBox="1">
                <a:spLocks noChangeArrowheads="1"/>
              </p:cNvSpPr>
              <p:nvPr/>
            </p:nvSpPr>
            <p:spPr bwMode="auto">
              <a:xfrm>
                <a:off x="2522" y="1688"/>
                <a:ext cx="240" cy="233"/>
              </a:xfrm>
              <a:prstGeom prst="rect">
                <a:avLst/>
              </a:prstGeom>
              <a:noFill/>
              <a:ln w="9525">
                <a:noFill/>
                <a:miter lim="800000"/>
                <a:headEnd/>
                <a:tailEnd/>
              </a:ln>
              <a:effectLst/>
            </p:spPr>
            <p:txBody>
              <a:bodyPr anchor="ctr">
                <a:spAutoFit/>
              </a:bodyPr>
              <a:lstStyle/>
              <a:p>
                <a:pPr algn="ctr"/>
                <a:r>
                  <a:rPr lang="en-US" altLang="zh-CN" b="1">
                    <a:solidFill>
                      <a:srgbClr val="FF3300"/>
                    </a:solidFill>
                    <a:ea typeface="宋体" charset="-122"/>
                  </a:rPr>
                  <a:t>P</a:t>
                </a:r>
                <a:endParaRPr lang="en-US" altLang="zh-CN" b="1">
                  <a:ea typeface="宋体" charset="-122"/>
                </a:endParaRPr>
              </a:p>
            </p:txBody>
          </p:sp>
        </p:grpSp>
        <p:sp>
          <p:nvSpPr>
            <p:cNvPr id="10" name="Oval 10"/>
            <p:cNvSpPr>
              <a:spLocks noChangeArrowheads="1"/>
            </p:cNvSpPr>
            <p:nvPr/>
          </p:nvSpPr>
          <p:spPr bwMode="auto">
            <a:xfrm>
              <a:off x="1812715" y="4230366"/>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22" name="Oval 22"/>
            <p:cNvSpPr>
              <a:spLocks noChangeArrowheads="1"/>
            </p:cNvSpPr>
            <p:nvPr/>
          </p:nvSpPr>
          <p:spPr bwMode="auto">
            <a:xfrm>
              <a:off x="3077119" y="5583057"/>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24" name="Line 24"/>
            <p:cNvSpPr>
              <a:spLocks noChangeShapeType="1"/>
            </p:cNvSpPr>
            <p:nvPr/>
          </p:nvSpPr>
          <p:spPr bwMode="auto">
            <a:xfrm>
              <a:off x="3247600" y="5474220"/>
              <a:ext cx="170481" cy="186578"/>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21" name="Oval 21"/>
            <p:cNvSpPr>
              <a:spLocks noChangeArrowheads="1"/>
            </p:cNvSpPr>
            <p:nvPr/>
          </p:nvSpPr>
          <p:spPr bwMode="auto">
            <a:xfrm>
              <a:off x="3332841" y="5583057"/>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11" name="Oval 11"/>
            <p:cNvSpPr>
              <a:spLocks noChangeArrowheads="1"/>
            </p:cNvSpPr>
            <p:nvPr/>
          </p:nvSpPr>
          <p:spPr bwMode="auto">
            <a:xfrm>
              <a:off x="1926369" y="5536412"/>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12" name="Oval 12"/>
            <p:cNvSpPr>
              <a:spLocks noChangeArrowheads="1"/>
            </p:cNvSpPr>
            <p:nvPr/>
          </p:nvSpPr>
          <p:spPr bwMode="auto">
            <a:xfrm>
              <a:off x="1670647" y="5536412"/>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grpSp>
      <p:sp>
        <p:nvSpPr>
          <p:cNvPr id="46" name="矩形 45"/>
          <p:cNvSpPr/>
          <p:nvPr/>
        </p:nvSpPr>
        <p:spPr>
          <a:xfrm>
            <a:off x="2152401" y="6060064"/>
            <a:ext cx="1633781" cy="369332"/>
          </a:xfrm>
          <a:prstGeom prst="rect">
            <a:avLst/>
          </a:prstGeom>
        </p:spPr>
        <p:txBody>
          <a:bodyPr wrap="none">
            <a:spAutoFit/>
          </a:bodyPr>
          <a:lstStyle/>
          <a:p>
            <a:r>
              <a:rPr lang="zh-CN" altLang="en-US" b="1"/>
              <a:t>几何不变体系 </a:t>
            </a:r>
          </a:p>
        </p:txBody>
      </p:sp>
      <p:sp>
        <p:nvSpPr>
          <p:cNvPr id="47" name="矩形 46"/>
          <p:cNvSpPr/>
          <p:nvPr/>
        </p:nvSpPr>
        <p:spPr>
          <a:xfrm>
            <a:off x="6072198" y="6131502"/>
            <a:ext cx="1569660" cy="369332"/>
          </a:xfrm>
          <a:prstGeom prst="rect">
            <a:avLst/>
          </a:prstGeom>
        </p:spPr>
        <p:txBody>
          <a:bodyPr wrap="none">
            <a:spAutoFit/>
          </a:bodyPr>
          <a:lstStyle/>
          <a:p>
            <a:r>
              <a:rPr lang="zh-CN" altLang="en-US" b="1"/>
              <a:t>几何可变体系</a:t>
            </a:r>
          </a:p>
        </p:txBody>
      </p:sp>
      <p:grpSp>
        <p:nvGrpSpPr>
          <p:cNvPr id="48" name="组合 47"/>
          <p:cNvGrpSpPr/>
          <p:nvPr/>
        </p:nvGrpSpPr>
        <p:grpSpPr>
          <a:xfrm>
            <a:off x="5879813" y="3857635"/>
            <a:ext cx="2595559" cy="1943096"/>
            <a:chOff x="1500166" y="3857635"/>
            <a:chExt cx="2595559" cy="1943096"/>
          </a:xfrm>
        </p:grpSpPr>
        <p:sp>
          <p:nvSpPr>
            <p:cNvPr id="49" name="Line 5"/>
            <p:cNvSpPr>
              <a:spLocks noChangeShapeType="1"/>
            </p:cNvSpPr>
            <p:nvPr/>
          </p:nvSpPr>
          <p:spPr bwMode="auto">
            <a:xfrm>
              <a:off x="1841129" y="4308107"/>
              <a:ext cx="0" cy="1119468"/>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50" name="Line 6"/>
            <p:cNvSpPr>
              <a:spLocks noChangeShapeType="1"/>
            </p:cNvSpPr>
            <p:nvPr/>
          </p:nvSpPr>
          <p:spPr bwMode="auto">
            <a:xfrm>
              <a:off x="3247600" y="4308107"/>
              <a:ext cx="0" cy="1119468"/>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51" name="Line 7"/>
            <p:cNvSpPr>
              <a:spLocks noChangeShapeType="1"/>
            </p:cNvSpPr>
            <p:nvPr/>
          </p:nvSpPr>
          <p:spPr bwMode="auto">
            <a:xfrm>
              <a:off x="1841129" y="4277011"/>
              <a:ext cx="1363851" cy="0"/>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52" name="Oval 8"/>
            <p:cNvSpPr>
              <a:spLocks noChangeArrowheads="1"/>
            </p:cNvSpPr>
            <p:nvPr/>
          </p:nvSpPr>
          <p:spPr bwMode="auto">
            <a:xfrm>
              <a:off x="1798508" y="5334286"/>
              <a:ext cx="85241" cy="93289"/>
            </a:xfrm>
            <a:prstGeom prst="ellipse">
              <a:avLst/>
            </a:prstGeom>
            <a:solidFill>
              <a:schemeClr val="accent1"/>
            </a:solidFill>
            <a:ln w="28575">
              <a:solidFill>
                <a:schemeClr val="tx1"/>
              </a:solidFill>
              <a:round/>
              <a:headEnd/>
              <a:tailEnd/>
            </a:ln>
            <a:effectLst/>
          </p:spPr>
          <p:txBody>
            <a:bodyPr wrap="none" anchor="ctr">
              <a:spAutoFit/>
            </a:bodyPr>
            <a:lstStyle/>
            <a:p>
              <a:endParaRPr lang="zh-CN" altLang="en-US"/>
            </a:p>
          </p:txBody>
        </p:sp>
        <p:sp>
          <p:nvSpPr>
            <p:cNvPr id="53" name="Oval 9"/>
            <p:cNvSpPr>
              <a:spLocks noChangeArrowheads="1"/>
            </p:cNvSpPr>
            <p:nvPr/>
          </p:nvSpPr>
          <p:spPr bwMode="auto">
            <a:xfrm>
              <a:off x="3204980" y="4214818"/>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54" name="Oval 10"/>
            <p:cNvSpPr>
              <a:spLocks noChangeArrowheads="1"/>
            </p:cNvSpPr>
            <p:nvPr/>
          </p:nvSpPr>
          <p:spPr bwMode="auto">
            <a:xfrm>
              <a:off x="1812715" y="4230366"/>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57" name="Line 13"/>
            <p:cNvSpPr>
              <a:spLocks noChangeShapeType="1"/>
            </p:cNvSpPr>
            <p:nvPr/>
          </p:nvSpPr>
          <p:spPr bwMode="auto">
            <a:xfrm flipH="1">
              <a:off x="1670647" y="5427575"/>
              <a:ext cx="170481" cy="186578"/>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58" name="Line 14"/>
            <p:cNvSpPr>
              <a:spLocks noChangeShapeType="1"/>
            </p:cNvSpPr>
            <p:nvPr/>
          </p:nvSpPr>
          <p:spPr bwMode="auto">
            <a:xfrm>
              <a:off x="1841129" y="5427575"/>
              <a:ext cx="170481" cy="186578"/>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59" name="Line 15"/>
            <p:cNvSpPr>
              <a:spLocks noChangeShapeType="1"/>
            </p:cNvSpPr>
            <p:nvPr/>
          </p:nvSpPr>
          <p:spPr bwMode="auto">
            <a:xfrm>
              <a:off x="1500166" y="5645249"/>
              <a:ext cx="596685" cy="0"/>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60" name="Line 16"/>
            <p:cNvSpPr>
              <a:spLocks noChangeShapeType="1"/>
            </p:cNvSpPr>
            <p:nvPr/>
          </p:nvSpPr>
          <p:spPr bwMode="auto">
            <a:xfrm flipH="1">
              <a:off x="1500166" y="5645249"/>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61" name="Line 17"/>
            <p:cNvSpPr>
              <a:spLocks noChangeShapeType="1"/>
            </p:cNvSpPr>
            <p:nvPr/>
          </p:nvSpPr>
          <p:spPr bwMode="auto">
            <a:xfrm flipH="1">
              <a:off x="1770095" y="5660798"/>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62" name="Line 18"/>
            <p:cNvSpPr>
              <a:spLocks noChangeShapeType="1"/>
            </p:cNvSpPr>
            <p:nvPr/>
          </p:nvSpPr>
          <p:spPr bwMode="auto">
            <a:xfrm flipH="1">
              <a:off x="1897956" y="5660798"/>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63" name="Line 19"/>
            <p:cNvSpPr>
              <a:spLocks noChangeShapeType="1"/>
            </p:cNvSpPr>
            <p:nvPr/>
          </p:nvSpPr>
          <p:spPr bwMode="auto">
            <a:xfrm flipH="1">
              <a:off x="1642234" y="5645249"/>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64" name="Oval 20"/>
            <p:cNvSpPr>
              <a:spLocks noChangeArrowheads="1"/>
            </p:cNvSpPr>
            <p:nvPr/>
          </p:nvSpPr>
          <p:spPr bwMode="auto">
            <a:xfrm>
              <a:off x="3204980" y="5380931"/>
              <a:ext cx="85241" cy="93289"/>
            </a:xfrm>
            <a:prstGeom prst="ellipse">
              <a:avLst/>
            </a:prstGeom>
            <a:solidFill>
              <a:schemeClr val="accent1"/>
            </a:solidFill>
            <a:ln w="28575">
              <a:solidFill>
                <a:schemeClr val="tx1"/>
              </a:solidFill>
              <a:round/>
              <a:headEnd/>
              <a:tailEnd/>
            </a:ln>
            <a:effectLst/>
          </p:spPr>
          <p:txBody>
            <a:bodyPr wrap="none" anchor="ctr">
              <a:spAutoFit/>
            </a:bodyPr>
            <a:lstStyle/>
            <a:p>
              <a:endParaRPr lang="zh-CN" altLang="en-US"/>
            </a:p>
          </p:txBody>
        </p:sp>
        <p:sp>
          <p:nvSpPr>
            <p:cNvPr id="68" name="Line 24"/>
            <p:cNvSpPr>
              <a:spLocks noChangeShapeType="1"/>
            </p:cNvSpPr>
            <p:nvPr/>
          </p:nvSpPr>
          <p:spPr bwMode="auto">
            <a:xfrm>
              <a:off x="3247600" y="5474220"/>
              <a:ext cx="170481" cy="186578"/>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69" name="Line 25"/>
            <p:cNvSpPr>
              <a:spLocks noChangeShapeType="1"/>
            </p:cNvSpPr>
            <p:nvPr/>
          </p:nvSpPr>
          <p:spPr bwMode="auto">
            <a:xfrm>
              <a:off x="2906637" y="5691894"/>
              <a:ext cx="596685" cy="0"/>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70" name="Line 26"/>
            <p:cNvSpPr>
              <a:spLocks noChangeShapeType="1"/>
            </p:cNvSpPr>
            <p:nvPr/>
          </p:nvSpPr>
          <p:spPr bwMode="auto">
            <a:xfrm flipH="1">
              <a:off x="2906637" y="5691894"/>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71" name="Line 27"/>
            <p:cNvSpPr>
              <a:spLocks noChangeShapeType="1"/>
            </p:cNvSpPr>
            <p:nvPr/>
          </p:nvSpPr>
          <p:spPr bwMode="auto">
            <a:xfrm flipH="1">
              <a:off x="3176566" y="5707442"/>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72" name="Line 28"/>
            <p:cNvSpPr>
              <a:spLocks noChangeShapeType="1"/>
            </p:cNvSpPr>
            <p:nvPr/>
          </p:nvSpPr>
          <p:spPr bwMode="auto">
            <a:xfrm flipH="1">
              <a:off x="3304427" y="5707442"/>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73" name="Line 29"/>
            <p:cNvSpPr>
              <a:spLocks noChangeShapeType="1"/>
            </p:cNvSpPr>
            <p:nvPr/>
          </p:nvSpPr>
          <p:spPr bwMode="auto">
            <a:xfrm flipH="1">
              <a:off x="3048705" y="5691894"/>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grpSp>
          <p:nvGrpSpPr>
            <p:cNvPr id="75" name="Group 35"/>
            <p:cNvGrpSpPr>
              <a:grpSpLocks/>
            </p:cNvGrpSpPr>
            <p:nvPr/>
          </p:nvGrpSpPr>
          <p:grpSpPr bwMode="auto">
            <a:xfrm>
              <a:off x="3262287" y="3857635"/>
              <a:ext cx="833438" cy="371476"/>
              <a:chOff x="2237" y="1688"/>
              <a:chExt cx="525" cy="234"/>
            </a:xfrm>
          </p:grpSpPr>
          <p:sp>
            <p:nvSpPr>
              <p:cNvPr id="76" name="Line 36"/>
              <p:cNvSpPr>
                <a:spLocks noChangeShapeType="1"/>
              </p:cNvSpPr>
              <p:nvPr/>
            </p:nvSpPr>
            <p:spPr bwMode="auto">
              <a:xfrm flipH="1">
                <a:off x="2237" y="1733"/>
                <a:ext cx="330" cy="189"/>
              </a:xfrm>
              <a:prstGeom prst="line">
                <a:avLst/>
              </a:prstGeom>
              <a:noFill/>
              <a:ln w="28575">
                <a:solidFill>
                  <a:srgbClr val="FF3300"/>
                </a:solidFill>
                <a:round/>
                <a:headEnd/>
                <a:tailEnd type="triangle" w="med" len="med"/>
              </a:ln>
              <a:effectLst/>
            </p:spPr>
            <p:txBody>
              <a:bodyPr wrap="square" anchor="ctr">
                <a:spAutoFit/>
              </a:bodyPr>
              <a:lstStyle/>
              <a:p>
                <a:endParaRPr lang="zh-CN" altLang="en-US"/>
              </a:p>
            </p:txBody>
          </p:sp>
          <p:sp>
            <p:nvSpPr>
              <p:cNvPr id="77" name="Text Box 37"/>
              <p:cNvSpPr txBox="1">
                <a:spLocks noChangeArrowheads="1"/>
              </p:cNvSpPr>
              <p:nvPr/>
            </p:nvSpPr>
            <p:spPr bwMode="auto">
              <a:xfrm>
                <a:off x="2522" y="1688"/>
                <a:ext cx="240" cy="233"/>
              </a:xfrm>
              <a:prstGeom prst="rect">
                <a:avLst/>
              </a:prstGeom>
              <a:noFill/>
              <a:ln w="9525">
                <a:noFill/>
                <a:miter lim="800000"/>
                <a:headEnd/>
                <a:tailEnd/>
              </a:ln>
              <a:effectLst/>
            </p:spPr>
            <p:txBody>
              <a:bodyPr anchor="ctr">
                <a:spAutoFit/>
              </a:bodyPr>
              <a:lstStyle/>
              <a:p>
                <a:pPr algn="ctr"/>
                <a:r>
                  <a:rPr lang="en-US" altLang="zh-CN" b="1">
                    <a:solidFill>
                      <a:srgbClr val="FF3300"/>
                    </a:solidFill>
                    <a:ea typeface="宋体" charset="-122"/>
                  </a:rPr>
                  <a:t>P</a:t>
                </a:r>
                <a:endParaRPr lang="en-US" altLang="zh-CN" b="1">
                  <a:ea typeface="宋体" charset="-122"/>
                </a:endParaRPr>
              </a:p>
            </p:txBody>
          </p:sp>
        </p:grpSp>
        <p:sp>
          <p:nvSpPr>
            <p:cNvPr id="65" name="Oval 21"/>
            <p:cNvSpPr>
              <a:spLocks noChangeArrowheads="1"/>
            </p:cNvSpPr>
            <p:nvPr/>
          </p:nvSpPr>
          <p:spPr bwMode="auto">
            <a:xfrm>
              <a:off x="3332841" y="5583057"/>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67" name="Line 23"/>
            <p:cNvSpPr>
              <a:spLocks noChangeShapeType="1"/>
            </p:cNvSpPr>
            <p:nvPr/>
          </p:nvSpPr>
          <p:spPr bwMode="auto">
            <a:xfrm flipH="1">
              <a:off x="3077119" y="5474220"/>
              <a:ext cx="170481" cy="186578"/>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66" name="Oval 22"/>
            <p:cNvSpPr>
              <a:spLocks noChangeArrowheads="1"/>
            </p:cNvSpPr>
            <p:nvPr/>
          </p:nvSpPr>
          <p:spPr bwMode="auto">
            <a:xfrm>
              <a:off x="3077119" y="5583057"/>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56" name="Oval 12"/>
            <p:cNvSpPr>
              <a:spLocks noChangeArrowheads="1"/>
            </p:cNvSpPr>
            <p:nvPr/>
          </p:nvSpPr>
          <p:spPr bwMode="auto">
            <a:xfrm>
              <a:off x="1670647" y="5536412"/>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55" name="Oval 11"/>
            <p:cNvSpPr>
              <a:spLocks noChangeArrowheads="1"/>
            </p:cNvSpPr>
            <p:nvPr/>
          </p:nvSpPr>
          <p:spPr bwMode="auto">
            <a:xfrm>
              <a:off x="1926369" y="5536412"/>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grpSp>
      <p:grpSp>
        <p:nvGrpSpPr>
          <p:cNvPr id="129" name="组合 128"/>
          <p:cNvGrpSpPr/>
          <p:nvPr/>
        </p:nvGrpSpPr>
        <p:grpSpPr>
          <a:xfrm>
            <a:off x="5849105" y="4234914"/>
            <a:ext cx="1764249" cy="1170810"/>
            <a:chOff x="5849105" y="4234914"/>
            <a:chExt cx="1764249" cy="1170810"/>
          </a:xfrm>
        </p:grpSpPr>
        <p:sp>
          <p:nvSpPr>
            <p:cNvPr id="78" name="Line 6"/>
            <p:cNvSpPr>
              <a:spLocks noChangeShapeType="1"/>
            </p:cNvSpPr>
            <p:nvPr/>
          </p:nvSpPr>
          <p:spPr bwMode="auto">
            <a:xfrm>
              <a:off x="7286644" y="4286256"/>
              <a:ext cx="326710" cy="1119468"/>
            </a:xfrm>
            <a:prstGeom prst="line">
              <a:avLst/>
            </a:prstGeom>
            <a:noFill/>
            <a:ln w="28575">
              <a:solidFill>
                <a:srgbClr val="00B050"/>
              </a:solidFill>
              <a:round/>
              <a:headEnd/>
              <a:tailEnd/>
            </a:ln>
            <a:effectLst/>
          </p:spPr>
          <p:txBody>
            <a:bodyPr wrap="square" anchor="ctr">
              <a:spAutoFit/>
            </a:bodyPr>
            <a:lstStyle/>
            <a:p>
              <a:endParaRPr lang="zh-CN" altLang="en-US"/>
            </a:p>
          </p:txBody>
        </p:sp>
        <p:sp>
          <p:nvSpPr>
            <p:cNvPr id="79" name="Line 6"/>
            <p:cNvSpPr>
              <a:spLocks noChangeShapeType="1"/>
            </p:cNvSpPr>
            <p:nvPr/>
          </p:nvSpPr>
          <p:spPr bwMode="auto">
            <a:xfrm>
              <a:off x="5888364" y="4281494"/>
              <a:ext cx="326710" cy="1119468"/>
            </a:xfrm>
            <a:prstGeom prst="line">
              <a:avLst/>
            </a:prstGeom>
            <a:noFill/>
            <a:ln w="28575">
              <a:solidFill>
                <a:srgbClr val="00B050"/>
              </a:solidFill>
              <a:round/>
              <a:headEnd/>
              <a:tailEnd/>
            </a:ln>
            <a:effectLst/>
          </p:spPr>
          <p:txBody>
            <a:bodyPr wrap="square" anchor="ctr">
              <a:spAutoFit/>
            </a:bodyPr>
            <a:lstStyle/>
            <a:p>
              <a:endParaRPr lang="zh-CN" altLang="en-US"/>
            </a:p>
          </p:txBody>
        </p:sp>
        <p:sp>
          <p:nvSpPr>
            <p:cNvPr id="80" name="Line 7"/>
            <p:cNvSpPr>
              <a:spLocks noChangeShapeType="1"/>
            </p:cNvSpPr>
            <p:nvPr/>
          </p:nvSpPr>
          <p:spPr bwMode="auto">
            <a:xfrm>
              <a:off x="5912315" y="4286256"/>
              <a:ext cx="1363851" cy="0"/>
            </a:xfrm>
            <a:prstGeom prst="line">
              <a:avLst/>
            </a:prstGeom>
            <a:noFill/>
            <a:ln w="28575">
              <a:solidFill>
                <a:srgbClr val="00B050"/>
              </a:solidFill>
              <a:round/>
              <a:headEnd/>
              <a:tailEnd/>
            </a:ln>
            <a:effectLst/>
          </p:spPr>
          <p:txBody>
            <a:bodyPr wrap="none" anchor="ctr">
              <a:spAutoFit/>
            </a:bodyPr>
            <a:lstStyle/>
            <a:p>
              <a:endParaRPr lang="zh-CN" altLang="en-US"/>
            </a:p>
          </p:txBody>
        </p:sp>
        <p:sp>
          <p:nvSpPr>
            <p:cNvPr id="81" name="Oval 9"/>
            <p:cNvSpPr>
              <a:spLocks noChangeArrowheads="1"/>
            </p:cNvSpPr>
            <p:nvPr/>
          </p:nvSpPr>
          <p:spPr bwMode="auto">
            <a:xfrm>
              <a:off x="5849105" y="4239938"/>
              <a:ext cx="85241" cy="93289"/>
            </a:xfrm>
            <a:prstGeom prst="ellipse">
              <a:avLst/>
            </a:prstGeom>
            <a:solidFill>
              <a:schemeClr val="bg1"/>
            </a:solidFill>
            <a:ln w="28575">
              <a:solidFill>
                <a:srgbClr val="00B050"/>
              </a:solidFill>
              <a:round/>
              <a:headEnd/>
              <a:tailEnd/>
            </a:ln>
            <a:effectLst/>
          </p:spPr>
          <p:txBody>
            <a:bodyPr wrap="none" anchor="ctr">
              <a:spAutoFit/>
            </a:bodyPr>
            <a:lstStyle/>
            <a:p>
              <a:endParaRPr lang="zh-CN" altLang="en-US"/>
            </a:p>
          </p:txBody>
        </p:sp>
        <p:sp>
          <p:nvSpPr>
            <p:cNvPr id="82" name="Oval 9"/>
            <p:cNvSpPr>
              <a:spLocks noChangeArrowheads="1"/>
            </p:cNvSpPr>
            <p:nvPr/>
          </p:nvSpPr>
          <p:spPr bwMode="auto">
            <a:xfrm>
              <a:off x="7230278" y="4234914"/>
              <a:ext cx="85241" cy="93289"/>
            </a:xfrm>
            <a:prstGeom prst="ellipse">
              <a:avLst/>
            </a:prstGeom>
            <a:solidFill>
              <a:schemeClr val="bg1"/>
            </a:solidFill>
            <a:ln w="28575">
              <a:solidFill>
                <a:srgbClr val="00B050"/>
              </a:solidFill>
              <a:round/>
              <a:headEnd/>
              <a:tailEnd/>
            </a:ln>
            <a:effectLst/>
          </p:spPr>
          <p:txBody>
            <a:bodyPr wrap="none" anchor="ctr">
              <a:spAutoFit/>
            </a:bodyPr>
            <a:lstStyle/>
            <a:p>
              <a:endParaRPr lang="zh-CN" altLang="en-US"/>
            </a:p>
          </p:txBody>
        </p:sp>
      </p:grpSp>
      <p:sp>
        <p:nvSpPr>
          <p:cNvPr id="83" name="Oval 9"/>
          <p:cNvSpPr>
            <a:spLocks noChangeArrowheads="1"/>
          </p:cNvSpPr>
          <p:nvPr/>
        </p:nvSpPr>
        <p:spPr bwMode="auto">
          <a:xfrm>
            <a:off x="6176961" y="5335975"/>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84" name="Oval 9"/>
          <p:cNvSpPr>
            <a:spLocks noChangeArrowheads="1"/>
          </p:cNvSpPr>
          <p:nvPr/>
        </p:nvSpPr>
        <p:spPr bwMode="auto">
          <a:xfrm>
            <a:off x="7579040" y="5379024"/>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grpSp>
        <p:nvGrpSpPr>
          <p:cNvPr id="85" name="Group 32"/>
          <p:cNvGrpSpPr>
            <a:grpSpLocks/>
          </p:cNvGrpSpPr>
          <p:nvPr/>
        </p:nvGrpSpPr>
        <p:grpSpPr bwMode="auto">
          <a:xfrm>
            <a:off x="1142976" y="4071942"/>
            <a:ext cx="1346181" cy="1857388"/>
            <a:chOff x="192" y="1488"/>
            <a:chExt cx="1344" cy="1728"/>
          </a:xfrm>
        </p:grpSpPr>
        <p:sp>
          <p:nvSpPr>
            <p:cNvPr id="86" name="Line 33"/>
            <p:cNvSpPr>
              <a:spLocks noChangeShapeType="1"/>
            </p:cNvSpPr>
            <p:nvPr/>
          </p:nvSpPr>
          <p:spPr bwMode="auto">
            <a:xfrm>
              <a:off x="295" y="1824"/>
              <a:ext cx="0" cy="1056"/>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87" name="Oval 34"/>
            <p:cNvSpPr>
              <a:spLocks noChangeArrowheads="1"/>
            </p:cNvSpPr>
            <p:nvPr/>
          </p:nvSpPr>
          <p:spPr bwMode="auto">
            <a:xfrm>
              <a:off x="295" y="1728"/>
              <a:ext cx="89" cy="88"/>
            </a:xfrm>
            <a:prstGeom prst="ellipse">
              <a:avLst/>
            </a:prstGeom>
            <a:noFill/>
            <a:ln w="28575">
              <a:solidFill>
                <a:schemeClr val="tx1"/>
              </a:solidFill>
              <a:round/>
              <a:headEnd/>
              <a:tailEnd/>
            </a:ln>
            <a:effectLst/>
          </p:spPr>
          <p:txBody>
            <a:bodyPr wrap="none" anchor="ctr"/>
            <a:lstStyle/>
            <a:p>
              <a:endParaRPr lang="zh-CN" altLang="en-US"/>
            </a:p>
          </p:txBody>
        </p:sp>
        <p:grpSp>
          <p:nvGrpSpPr>
            <p:cNvPr id="88" name="Group 35"/>
            <p:cNvGrpSpPr>
              <a:grpSpLocks/>
            </p:cNvGrpSpPr>
            <p:nvPr/>
          </p:nvGrpSpPr>
          <p:grpSpPr bwMode="auto">
            <a:xfrm>
              <a:off x="295" y="2880"/>
              <a:ext cx="1241" cy="88"/>
              <a:chOff x="720" y="2256"/>
              <a:chExt cx="1241" cy="88"/>
            </a:xfrm>
          </p:grpSpPr>
          <p:sp>
            <p:nvSpPr>
              <p:cNvPr id="126" name="Line 36"/>
              <p:cNvSpPr>
                <a:spLocks noChangeShapeType="1"/>
              </p:cNvSpPr>
              <p:nvPr/>
            </p:nvSpPr>
            <p:spPr bwMode="auto">
              <a:xfrm>
                <a:off x="816" y="2304"/>
                <a:ext cx="1056" cy="0"/>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27" name="Oval 37"/>
              <p:cNvSpPr>
                <a:spLocks noChangeArrowheads="1"/>
              </p:cNvSpPr>
              <p:nvPr/>
            </p:nvSpPr>
            <p:spPr bwMode="auto">
              <a:xfrm>
                <a:off x="720" y="2256"/>
                <a:ext cx="89" cy="88"/>
              </a:xfrm>
              <a:prstGeom prst="ellipse">
                <a:avLst/>
              </a:prstGeom>
              <a:noFill/>
              <a:ln w="28575">
                <a:solidFill>
                  <a:schemeClr val="tx1"/>
                </a:solidFill>
                <a:round/>
                <a:headEnd/>
                <a:tailEnd/>
              </a:ln>
              <a:effectLst/>
            </p:spPr>
            <p:txBody>
              <a:bodyPr wrap="none" anchor="ctr"/>
              <a:lstStyle/>
              <a:p>
                <a:endParaRPr lang="zh-CN" altLang="en-US"/>
              </a:p>
            </p:txBody>
          </p:sp>
          <p:sp>
            <p:nvSpPr>
              <p:cNvPr id="128" name="Oval 38"/>
              <p:cNvSpPr>
                <a:spLocks noChangeArrowheads="1"/>
              </p:cNvSpPr>
              <p:nvPr/>
            </p:nvSpPr>
            <p:spPr bwMode="auto">
              <a:xfrm>
                <a:off x="1872" y="2256"/>
                <a:ext cx="89" cy="88"/>
              </a:xfrm>
              <a:prstGeom prst="ellipse">
                <a:avLst/>
              </a:prstGeom>
              <a:noFill/>
              <a:ln w="28575">
                <a:solidFill>
                  <a:schemeClr val="tx1"/>
                </a:solidFill>
                <a:round/>
                <a:headEnd/>
                <a:tailEnd/>
              </a:ln>
              <a:effectLst/>
            </p:spPr>
            <p:txBody>
              <a:bodyPr wrap="none" anchor="ctr"/>
              <a:lstStyle/>
              <a:p>
                <a:endParaRPr lang="zh-CN" altLang="en-US"/>
              </a:p>
            </p:txBody>
          </p:sp>
        </p:grpSp>
        <p:sp>
          <p:nvSpPr>
            <p:cNvPr id="89" name="Line 39"/>
            <p:cNvSpPr>
              <a:spLocks noChangeShapeType="1"/>
            </p:cNvSpPr>
            <p:nvPr/>
          </p:nvSpPr>
          <p:spPr bwMode="auto">
            <a:xfrm>
              <a:off x="384" y="1776"/>
              <a:ext cx="1104" cy="1104"/>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90" name="Line 40"/>
            <p:cNvSpPr>
              <a:spLocks noChangeShapeType="1"/>
            </p:cNvSpPr>
            <p:nvPr/>
          </p:nvSpPr>
          <p:spPr bwMode="auto">
            <a:xfrm>
              <a:off x="295" y="2976"/>
              <a:ext cx="0" cy="240"/>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91" name="Line 41"/>
            <p:cNvSpPr>
              <a:spLocks noChangeShapeType="1"/>
            </p:cNvSpPr>
            <p:nvPr/>
          </p:nvSpPr>
          <p:spPr bwMode="auto">
            <a:xfrm>
              <a:off x="295" y="1488"/>
              <a:ext cx="0" cy="240"/>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92" name="Line 42"/>
            <p:cNvSpPr>
              <a:spLocks noChangeShapeType="1"/>
            </p:cNvSpPr>
            <p:nvPr/>
          </p:nvSpPr>
          <p:spPr bwMode="auto">
            <a:xfrm flipH="1">
              <a:off x="199" y="1536"/>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93" name="Line 43"/>
            <p:cNvSpPr>
              <a:spLocks noChangeShapeType="1"/>
            </p:cNvSpPr>
            <p:nvPr/>
          </p:nvSpPr>
          <p:spPr bwMode="auto">
            <a:xfrm flipH="1">
              <a:off x="199" y="1584"/>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94" name="Line 44"/>
            <p:cNvSpPr>
              <a:spLocks noChangeShapeType="1"/>
            </p:cNvSpPr>
            <p:nvPr/>
          </p:nvSpPr>
          <p:spPr bwMode="auto">
            <a:xfrm flipH="1">
              <a:off x="199" y="1632"/>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95" name="Line 45"/>
            <p:cNvSpPr>
              <a:spLocks noChangeShapeType="1"/>
            </p:cNvSpPr>
            <p:nvPr/>
          </p:nvSpPr>
          <p:spPr bwMode="auto">
            <a:xfrm flipH="1">
              <a:off x="199" y="1680"/>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96" name="Line 46"/>
            <p:cNvSpPr>
              <a:spLocks noChangeShapeType="1"/>
            </p:cNvSpPr>
            <p:nvPr/>
          </p:nvSpPr>
          <p:spPr bwMode="auto">
            <a:xfrm flipH="1">
              <a:off x="199" y="1824"/>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97" name="Line 47"/>
            <p:cNvSpPr>
              <a:spLocks noChangeShapeType="1"/>
            </p:cNvSpPr>
            <p:nvPr/>
          </p:nvSpPr>
          <p:spPr bwMode="auto">
            <a:xfrm flipH="1">
              <a:off x="199" y="1776"/>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98" name="Line 48"/>
            <p:cNvSpPr>
              <a:spLocks noChangeShapeType="1"/>
            </p:cNvSpPr>
            <p:nvPr/>
          </p:nvSpPr>
          <p:spPr bwMode="auto">
            <a:xfrm flipH="1">
              <a:off x="199" y="1728"/>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99" name="Line 49"/>
            <p:cNvSpPr>
              <a:spLocks noChangeShapeType="1"/>
            </p:cNvSpPr>
            <p:nvPr/>
          </p:nvSpPr>
          <p:spPr bwMode="auto">
            <a:xfrm flipH="1">
              <a:off x="199" y="1872"/>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00" name="Line 50"/>
            <p:cNvSpPr>
              <a:spLocks noChangeShapeType="1"/>
            </p:cNvSpPr>
            <p:nvPr/>
          </p:nvSpPr>
          <p:spPr bwMode="auto">
            <a:xfrm flipH="1">
              <a:off x="199" y="1920"/>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01" name="Line 51"/>
            <p:cNvSpPr>
              <a:spLocks noChangeShapeType="1"/>
            </p:cNvSpPr>
            <p:nvPr/>
          </p:nvSpPr>
          <p:spPr bwMode="auto">
            <a:xfrm flipH="1">
              <a:off x="199" y="1968"/>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02" name="Line 52"/>
            <p:cNvSpPr>
              <a:spLocks noChangeShapeType="1"/>
            </p:cNvSpPr>
            <p:nvPr/>
          </p:nvSpPr>
          <p:spPr bwMode="auto">
            <a:xfrm flipH="1">
              <a:off x="199" y="2016"/>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03" name="Line 53"/>
            <p:cNvSpPr>
              <a:spLocks noChangeShapeType="1"/>
            </p:cNvSpPr>
            <p:nvPr/>
          </p:nvSpPr>
          <p:spPr bwMode="auto">
            <a:xfrm flipH="1">
              <a:off x="199" y="2064"/>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04" name="Line 54"/>
            <p:cNvSpPr>
              <a:spLocks noChangeShapeType="1"/>
            </p:cNvSpPr>
            <p:nvPr/>
          </p:nvSpPr>
          <p:spPr bwMode="auto">
            <a:xfrm flipH="1">
              <a:off x="199" y="2112"/>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05" name="Line 55"/>
            <p:cNvSpPr>
              <a:spLocks noChangeShapeType="1"/>
            </p:cNvSpPr>
            <p:nvPr/>
          </p:nvSpPr>
          <p:spPr bwMode="auto">
            <a:xfrm flipH="1">
              <a:off x="199" y="2160"/>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06" name="Line 56"/>
            <p:cNvSpPr>
              <a:spLocks noChangeShapeType="1"/>
            </p:cNvSpPr>
            <p:nvPr/>
          </p:nvSpPr>
          <p:spPr bwMode="auto">
            <a:xfrm flipH="1">
              <a:off x="199" y="2208"/>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07" name="Line 57"/>
            <p:cNvSpPr>
              <a:spLocks noChangeShapeType="1"/>
            </p:cNvSpPr>
            <p:nvPr/>
          </p:nvSpPr>
          <p:spPr bwMode="auto">
            <a:xfrm flipH="1">
              <a:off x="199" y="2256"/>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08" name="Line 58"/>
            <p:cNvSpPr>
              <a:spLocks noChangeShapeType="1"/>
            </p:cNvSpPr>
            <p:nvPr/>
          </p:nvSpPr>
          <p:spPr bwMode="auto">
            <a:xfrm flipH="1">
              <a:off x="199" y="2304"/>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09" name="Line 59"/>
            <p:cNvSpPr>
              <a:spLocks noChangeShapeType="1"/>
            </p:cNvSpPr>
            <p:nvPr/>
          </p:nvSpPr>
          <p:spPr bwMode="auto">
            <a:xfrm flipH="1">
              <a:off x="199" y="2352"/>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10" name="Line 60"/>
            <p:cNvSpPr>
              <a:spLocks noChangeShapeType="1"/>
            </p:cNvSpPr>
            <p:nvPr/>
          </p:nvSpPr>
          <p:spPr bwMode="auto">
            <a:xfrm flipH="1">
              <a:off x="192" y="2400"/>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11" name="Line 61"/>
            <p:cNvSpPr>
              <a:spLocks noChangeShapeType="1"/>
            </p:cNvSpPr>
            <p:nvPr/>
          </p:nvSpPr>
          <p:spPr bwMode="auto">
            <a:xfrm flipH="1">
              <a:off x="199" y="2448"/>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12" name="Line 62"/>
            <p:cNvSpPr>
              <a:spLocks noChangeShapeType="1"/>
            </p:cNvSpPr>
            <p:nvPr/>
          </p:nvSpPr>
          <p:spPr bwMode="auto">
            <a:xfrm flipH="1">
              <a:off x="199" y="2496"/>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13" name="Line 63"/>
            <p:cNvSpPr>
              <a:spLocks noChangeShapeType="1"/>
            </p:cNvSpPr>
            <p:nvPr/>
          </p:nvSpPr>
          <p:spPr bwMode="auto">
            <a:xfrm flipH="1">
              <a:off x="199" y="2544"/>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14" name="Line 64"/>
            <p:cNvSpPr>
              <a:spLocks noChangeShapeType="1"/>
            </p:cNvSpPr>
            <p:nvPr/>
          </p:nvSpPr>
          <p:spPr bwMode="auto">
            <a:xfrm flipH="1">
              <a:off x="199" y="2592"/>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15" name="Line 65"/>
            <p:cNvSpPr>
              <a:spLocks noChangeShapeType="1"/>
            </p:cNvSpPr>
            <p:nvPr/>
          </p:nvSpPr>
          <p:spPr bwMode="auto">
            <a:xfrm flipH="1">
              <a:off x="199" y="2640"/>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16" name="Line 66"/>
            <p:cNvSpPr>
              <a:spLocks noChangeShapeType="1"/>
            </p:cNvSpPr>
            <p:nvPr/>
          </p:nvSpPr>
          <p:spPr bwMode="auto">
            <a:xfrm flipH="1">
              <a:off x="199" y="2688"/>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17" name="Line 67"/>
            <p:cNvSpPr>
              <a:spLocks noChangeShapeType="1"/>
            </p:cNvSpPr>
            <p:nvPr/>
          </p:nvSpPr>
          <p:spPr bwMode="auto">
            <a:xfrm flipH="1">
              <a:off x="199" y="2736"/>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18" name="Line 68"/>
            <p:cNvSpPr>
              <a:spLocks noChangeShapeType="1"/>
            </p:cNvSpPr>
            <p:nvPr/>
          </p:nvSpPr>
          <p:spPr bwMode="auto">
            <a:xfrm flipH="1">
              <a:off x="199" y="2784"/>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19" name="Line 69"/>
            <p:cNvSpPr>
              <a:spLocks noChangeShapeType="1"/>
            </p:cNvSpPr>
            <p:nvPr/>
          </p:nvSpPr>
          <p:spPr bwMode="auto">
            <a:xfrm flipH="1">
              <a:off x="199" y="2832"/>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20" name="Line 70"/>
            <p:cNvSpPr>
              <a:spLocks noChangeShapeType="1"/>
            </p:cNvSpPr>
            <p:nvPr/>
          </p:nvSpPr>
          <p:spPr bwMode="auto">
            <a:xfrm flipH="1">
              <a:off x="199" y="2880"/>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21" name="Line 71"/>
            <p:cNvSpPr>
              <a:spLocks noChangeShapeType="1"/>
            </p:cNvSpPr>
            <p:nvPr/>
          </p:nvSpPr>
          <p:spPr bwMode="auto">
            <a:xfrm flipH="1">
              <a:off x="199" y="2928"/>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22" name="Line 72"/>
            <p:cNvSpPr>
              <a:spLocks noChangeShapeType="1"/>
            </p:cNvSpPr>
            <p:nvPr/>
          </p:nvSpPr>
          <p:spPr bwMode="auto">
            <a:xfrm flipH="1">
              <a:off x="199" y="2976"/>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23" name="Line 73"/>
            <p:cNvSpPr>
              <a:spLocks noChangeShapeType="1"/>
            </p:cNvSpPr>
            <p:nvPr/>
          </p:nvSpPr>
          <p:spPr bwMode="auto">
            <a:xfrm flipH="1">
              <a:off x="199" y="3024"/>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24" name="Line 74"/>
            <p:cNvSpPr>
              <a:spLocks noChangeShapeType="1"/>
            </p:cNvSpPr>
            <p:nvPr/>
          </p:nvSpPr>
          <p:spPr bwMode="auto">
            <a:xfrm flipH="1">
              <a:off x="199" y="3072"/>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sp>
          <p:nvSpPr>
            <p:cNvPr id="125" name="Line 75"/>
            <p:cNvSpPr>
              <a:spLocks noChangeShapeType="1"/>
            </p:cNvSpPr>
            <p:nvPr/>
          </p:nvSpPr>
          <p:spPr bwMode="auto">
            <a:xfrm flipH="1">
              <a:off x="199" y="3120"/>
              <a:ext cx="96" cy="48"/>
            </a:xfrm>
            <a:prstGeom prst="line">
              <a:avLst/>
            </a:prstGeom>
            <a:noFill/>
            <a:ln w="28575">
              <a:solidFill>
                <a:schemeClr val="tx1"/>
              </a:solidFill>
              <a:round/>
              <a:headEnd type="none" w="sm" len="sm"/>
              <a:tailEnd type="none" w="sm" len="sm"/>
            </a:ln>
            <a:effectLst/>
          </p:spPr>
          <p:txBody>
            <a:bodyPr wrap="none" anchor="ctr"/>
            <a:lstStyle/>
            <a:p>
              <a:endParaRPr lang="zh-CN" altLang="en-US"/>
            </a:p>
          </p:txBody>
        </p:sp>
      </p:grpSp>
      <p:sp>
        <p:nvSpPr>
          <p:cNvPr id="1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nodeType="afterEffect">
                                  <p:stCondLst>
                                    <p:cond delay="0"/>
                                  </p:stCondLst>
                                  <p:childTnLst>
                                    <p:set>
                                      <p:cBhvr>
                                        <p:cTn id="6" dur="1" fill="hold">
                                          <p:stCondLst>
                                            <p:cond delay="499"/>
                                          </p:stCondLst>
                                        </p:cTn>
                                        <p:tgtEl>
                                          <p:spTgt spid="85"/>
                                        </p:tgtEl>
                                        <p:attrNameLst>
                                          <p:attrName>style.visibility</p:attrName>
                                        </p:attrNameLst>
                                      </p:cBhvr>
                                      <p:to>
                                        <p:strVal val="visible"/>
                                      </p:to>
                                    </p:set>
                                    <p:anim to="" calcmode="lin" valueType="num">
                                      <p:cBhvr>
                                        <p:cTn id="7" dur="1" fill="hold"/>
                                        <p:tgtEl>
                                          <p:spTgt spid="8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pPr>
              <a:buClrTx/>
            </a:pPr>
            <a:r>
              <a:rPr lang="zh-CN" altLang="en-US"/>
              <a:t>自由度</a:t>
            </a:r>
            <a:endParaRPr lang="en-US" altLang="zh-CN"/>
          </a:p>
          <a:p>
            <a:pPr lvl="1">
              <a:lnSpc>
                <a:spcPct val="150000"/>
              </a:lnSpc>
              <a:spcBef>
                <a:spcPts val="0"/>
              </a:spcBef>
            </a:pPr>
            <a:r>
              <a:rPr lang="zh-CN" altLang="en-US"/>
              <a:t>定义：确定物体位置所需要的独立坐标数；</a:t>
            </a:r>
            <a:endParaRPr lang="en-US" altLang="zh-CN"/>
          </a:p>
          <a:p>
            <a:pPr marL="450850" lvl="1" indent="1069975">
              <a:lnSpc>
                <a:spcPct val="150000"/>
              </a:lnSpc>
              <a:spcBef>
                <a:spcPts val="0"/>
              </a:spcBef>
              <a:buNone/>
            </a:pPr>
            <a:r>
              <a:rPr lang="zh-CN" altLang="en-US"/>
              <a:t>体系运动时可独立改变的几何参数数目。</a:t>
            </a:r>
            <a:endParaRPr lang="en-US" altLang="zh-CN"/>
          </a:p>
          <a:p>
            <a:pPr lvl="1">
              <a:lnSpc>
                <a:spcPct val="150000"/>
              </a:lnSpc>
              <a:spcBef>
                <a:spcPts val="0"/>
              </a:spcBef>
              <a:buNone/>
            </a:pP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基本概念</a:t>
            </a:r>
            <a:endParaRPr lang="zh-CN" altLang="en-US" sz="3600" dirty="0"/>
          </a:p>
        </p:txBody>
      </p:sp>
      <p:pic>
        <p:nvPicPr>
          <p:cNvPr id="246786" name="Picture 2"/>
          <p:cNvPicPr>
            <a:picLocks noChangeAspect="1" noChangeArrowheads="1"/>
          </p:cNvPicPr>
          <p:nvPr/>
        </p:nvPicPr>
        <p:blipFill>
          <a:blip r:embed="rId3" cstate="print"/>
          <a:srcRect l="3746" r="4479"/>
          <a:stretch>
            <a:fillRect/>
          </a:stretch>
        </p:blipFill>
        <p:spPr bwMode="auto">
          <a:xfrm rot="5400000">
            <a:off x="2269873" y="2454619"/>
            <a:ext cx="3663273" cy="4286280"/>
          </a:xfrm>
          <a:prstGeom prst="rect">
            <a:avLst/>
          </a:prstGeom>
          <a:noFill/>
          <a:ln w="9525">
            <a:noFill/>
            <a:miter lim="800000"/>
            <a:headEnd/>
            <a:tailEnd/>
          </a:ln>
          <a:effectLst/>
        </p:spPr>
      </p:pic>
      <p:sp>
        <p:nvSpPr>
          <p:cNvPr id="5" name="TextBox 4"/>
          <p:cNvSpPr txBox="1"/>
          <p:nvPr/>
        </p:nvSpPr>
        <p:spPr>
          <a:xfrm>
            <a:off x="5777409" y="3714750"/>
            <a:ext cx="1723549" cy="461665"/>
          </a:xfrm>
          <a:prstGeom prst="rect">
            <a:avLst/>
          </a:prstGeom>
          <a:noFill/>
          <a:ln w="28575">
            <a:noFill/>
          </a:ln>
        </p:spPr>
        <p:txBody>
          <a:bodyPr wrap="none" rtlCol="0">
            <a:spAutoFit/>
          </a:bodyPr>
          <a:lstStyle/>
          <a:p>
            <a:r>
              <a:rPr lang="zh-CN" altLang="en-US" sz="2400" b="1">
                <a:solidFill>
                  <a:srgbClr val="C00000"/>
                </a:solidFill>
              </a:rPr>
              <a:t>平面内一点</a:t>
            </a:r>
          </a:p>
        </p:txBody>
      </p:sp>
      <p:sp>
        <p:nvSpPr>
          <p:cNvPr id="6" name="TextBox 5"/>
          <p:cNvSpPr txBox="1"/>
          <p:nvPr/>
        </p:nvSpPr>
        <p:spPr>
          <a:xfrm>
            <a:off x="6215074" y="4429130"/>
            <a:ext cx="889987" cy="461665"/>
          </a:xfrm>
          <a:prstGeom prst="rect">
            <a:avLst/>
          </a:prstGeom>
          <a:noFill/>
          <a:ln w="28575">
            <a:noFill/>
          </a:ln>
        </p:spPr>
        <p:txBody>
          <a:bodyPr wrap="none" rtlCol="0">
            <a:spAutoFit/>
          </a:bodyPr>
          <a:lstStyle/>
          <a:p>
            <a:r>
              <a:rPr lang="en-US" altLang="zh-CN" sz="2400" b="1" i="1">
                <a:latin typeface="Times New Roman" pitchFamily="18" charset="0"/>
                <a:cs typeface="Times New Roman" pitchFamily="18" charset="0"/>
              </a:rPr>
              <a:t>N </a:t>
            </a:r>
            <a:r>
              <a:rPr lang="en-US" altLang="zh-CN" sz="2400" b="1">
                <a:latin typeface="Times New Roman" pitchFamily="18" charset="0"/>
                <a:cs typeface="Times New Roman" pitchFamily="18" charset="0"/>
              </a:rPr>
              <a:t>= 2</a:t>
            </a:r>
            <a:endParaRPr lang="zh-CN" altLang="en-US" sz="2400" b="1">
              <a:latin typeface="Times New Roman" pitchFamily="18" charset="0"/>
              <a:cs typeface="Times New Roman" pitchFamily="18" charset="0"/>
            </a:endParaRPr>
          </a:p>
        </p:txBody>
      </p:sp>
      <p:sp>
        <p:nvSpPr>
          <p:cNvPr id="7"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pPr>
              <a:buClrTx/>
            </a:pPr>
            <a:r>
              <a:rPr lang="zh-CN" altLang="en-US"/>
              <a:t>自由度</a:t>
            </a:r>
            <a:endParaRPr lang="en-US" altLang="zh-CN"/>
          </a:p>
          <a:p>
            <a:pPr lvl="1">
              <a:lnSpc>
                <a:spcPct val="150000"/>
              </a:lnSpc>
              <a:spcBef>
                <a:spcPts val="0"/>
              </a:spcBef>
            </a:pPr>
            <a:r>
              <a:rPr lang="zh-CN" altLang="en-US"/>
              <a:t>一般而言，若一个体系有</a:t>
            </a:r>
            <a:r>
              <a:rPr lang="en-US" altLang="zh-CN" i="1">
                <a:latin typeface="Times New Roman" pitchFamily="18" charset="0"/>
                <a:cs typeface="Times New Roman" pitchFamily="18" charset="0"/>
              </a:rPr>
              <a:t>n</a:t>
            </a:r>
            <a:r>
              <a:rPr lang="zh-CN" altLang="en-US"/>
              <a:t>个独立的运动方式，则这个体系</a:t>
            </a:r>
            <a:r>
              <a:rPr lang="en-US" altLang="zh-CN" i="1">
                <a:latin typeface="Times New Roman" pitchFamily="18" charset="0"/>
                <a:cs typeface="Times New Roman" pitchFamily="18" charset="0"/>
              </a:rPr>
              <a:t>n</a:t>
            </a:r>
            <a:r>
              <a:rPr lang="zh-CN" altLang="en-US"/>
              <a:t>有个自由度。凡自由度大于零的体系都是几何可变体系。</a:t>
            </a:r>
            <a:endParaRPr lang="en-US" altLang="zh-CN"/>
          </a:p>
          <a:p>
            <a:pPr lvl="1">
              <a:lnSpc>
                <a:spcPct val="150000"/>
              </a:lnSpc>
              <a:spcBef>
                <a:spcPts val="0"/>
              </a:spcBef>
              <a:buNone/>
            </a:pP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基本概念</a:t>
            </a:r>
            <a:endParaRPr lang="zh-CN" altLang="en-US" sz="3600" dirty="0"/>
          </a:p>
        </p:txBody>
      </p:sp>
      <p:pic>
        <p:nvPicPr>
          <p:cNvPr id="247810" name="Picture 2"/>
          <p:cNvPicPr>
            <a:picLocks noChangeArrowheads="1"/>
          </p:cNvPicPr>
          <p:nvPr/>
        </p:nvPicPr>
        <p:blipFill>
          <a:blip r:embed="rId3" cstate="print"/>
          <a:srcRect l="6742" r="5921"/>
          <a:stretch>
            <a:fillRect/>
          </a:stretch>
        </p:blipFill>
        <p:spPr bwMode="auto">
          <a:xfrm rot="5340000">
            <a:off x="2214546" y="2500306"/>
            <a:ext cx="3571899" cy="4429156"/>
          </a:xfrm>
          <a:prstGeom prst="rect">
            <a:avLst/>
          </a:prstGeom>
          <a:noFill/>
          <a:ln w="9525">
            <a:noFill/>
            <a:miter lim="800000"/>
            <a:headEnd/>
            <a:tailEnd/>
          </a:ln>
          <a:effectLst/>
        </p:spPr>
      </p:pic>
      <p:sp>
        <p:nvSpPr>
          <p:cNvPr id="5" name="TextBox 4"/>
          <p:cNvSpPr txBox="1"/>
          <p:nvPr/>
        </p:nvSpPr>
        <p:spPr>
          <a:xfrm>
            <a:off x="5777409" y="3714750"/>
            <a:ext cx="1723549" cy="461665"/>
          </a:xfrm>
          <a:prstGeom prst="rect">
            <a:avLst/>
          </a:prstGeom>
          <a:noFill/>
          <a:ln w="28575">
            <a:noFill/>
          </a:ln>
        </p:spPr>
        <p:txBody>
          <a:bodyPr wrap="none" rtlCol="0">
            <a:spAutoFit/>
          </a:bodyPr>
          <a:lstStyle/>
          <a:p>
            <a:r>
              <a:rPr lang="zh-CN" altLang="en-US" sz="2400" b="1">
                <a:solidFill>
                  <a:srgbClr val="C00000"/>
                </a:solidFill>
              </a:rPr>
              <a:t>平面内刚片</a:t>
            </a:r>
          </a:p>
        </p:txBody>
      </p:sp>
      <p:sp>
        <p:nvSpPr>
          <p:cNvPr id="6" name="TextBox 5"/>
          <p:cNvSpPr txBox="1"/>
          <p:nvPr/>
        </p:nvSpPr>
        <p:spPr>
          <a:xfrm>
            <a:off x="6387527" y="4429130"/>
            <a:ext cx="889987" cy="461665"/>
          </a:xfrm>
          <a:prstGeom prst="rect">
            <a:avLst/>
          </a:prstGeom>
          <a:noFill/>
          <a:ln w="28575">
            <a:noFill/>
          </a:ln>
        </p:spPr>
        <p:txBody>
          <a:bodyPr wrap="none" rtlCol="0">
            <a:spAutoFit/>
          </a:bodyPr>
          <a:lstStyle/>
          <a:p>
            <a:r>
              <a:rPr lang="en-US" altLang="zh-CN" sz="2400" b="1" i="1">
                <a:latin typeface="Times New Roman" pitchFamily="18" charset="0"/>
                <a:cs typeface="Times New Roman" pitchFamily="18" charset="0"/>
              </a:rPr>
              <a:t>N </a:t>
            </a:r>
            <a:r>
              <a:rPr lang="en-US" altLang="zh-CN" sz="2400" b="1">
                <a:latin typeface="Times New Roman" pitchFamily="18" charset="0"/>
                <a:cs typeface="Times New Roman" pitchFamily="18" charset="0"/>
              </a:rPr>
              <a:t>= 3</a:t>
            </a:r>
            <a:endParaRPr lang="zh-CN" altLang="en-US" sz="2400" b="1">
              <a:latin typeface="Times New Roman" pitchFamily="18" charset="0"/>
              <a:cs typeface="Times New Roman" pitchFamily="18" charset="0"/>
            </a:endParaRPr>
          </a:p>
        </p:txBody>
      </p:sp>
      <p:sp>
        <p:nvSpPr>
          <p:cNvPr id="7"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pPr>
              <a:buClrTx/>
            </a:pPr>
            <a:r>
              <a:rPr lang="zh-CN" altLang="en-US"/>
              <a:t>约束</a:t>
            </a:r>
            <a:endParaRPr lang="en-US" altLang="zh-CN"/>
          </a:p>
          <a:p>
            <a:pPr lvl="1">
              <a:lnSpc>
                <a:spcPct val="150000"/>
              </a:lnSpc>
              <a:spcBef>
                <a:spcPts val="0"/>
              </a:spcBef>
            </a:pPr>
            <a:r>
              <a:rPr lang="zh-CN" altLang="en-US"/>
              <a:t>定义：减少自由度的装置，又叫联系</a:t>
            </a:r>
            <a:endParaRPr lang="en-US" altLang="zh-CN"/>
          </a:p>
          <a:p>
            <a:pPr lvl="1" indent="-30163">
              <a:lnSpc>
                <a:spcPct val="150000"/>
              </a:lnSpc>
              <a:spcBef>
                <a:spcPts val="0"/>
              </a:spcBef>
              <a:buNone/>
            </a:pPr>
            <a:r>
              <a:rPr lang="zh-CN" altLang="en-US">
                <a:solidFill>
                  <a:srgbClr val="C00000"/>
                </a:solidFill>
              </a:rPr>
              <a:t> 链杆</a:t>
            </a:r>
            <a:endParaRPr lang="en-US" altLang="zh-CN">
              <a:solidFill>
                <a:srgbClr val="C00000"/>
              </a:solidFill>
            </a:endParaRPr>
          </a:p>
          <a:p>
            <a:pPr lvl="1" indent="-30163">
              <a:lnSpc>
                <a:spcPct val="150000"/>
              </a:lnSpc>
              <a:spcBef>
                <a:spcPts val="0"/>
              </a:spcBef>
              <a:buNone/>
            </a:pPr>
            <a:endParaRPr lang="en-US" altLang="zh-CN"/>
          </a:p>
          <a:p>
            <a:pPr lvl="1">
              <a:lnSpc>
                <a:spcPct val="150000"/>
              </a:lnSpc>
              <a:spcBef>
                <a:spcPts val="0"/>
              </a:spcBef>
              <a:buNone/>
            </a:pPr>
            <a:r>
              <a:rPr lang="en-US" altLang="zh-CN"/>
              <a:t>     1</a:t>
            </a:r>
            <a:r>
              <a:rPr lang="zh-CN" altLang="en-US"/>
              <a:t>根链杆 </a:t>
            </a:r>
            <a:r>
              <a:rPr lang="en-US" altLang="zh-CN"/>
              <a:t>= 1</a:t>
            </a:r>
            <a:r>
              <a:rPr lang="zh-CN" altLang="en-US"/>
              <a:t>个约束，</a:t>
            </a:r>
            <a:endParaRPr lang="en-US" altLang="zh-CN"/>
          </a:p>
          <a:p>
            <a:pPr lvl="1">
              <a:lnSpc>
                <a:spcPct val="150000"/>
              </a:lnSpc>
              <a:spcBef>
                <a:spcPts val="0"/>
              </a:spcBef>
              <a:buNone/>
            </a:pPr>
            <a:r>
              <a:rPr lang="en-US" altLang="zh-CN"/>
              <a:t>      </a:t>
            </a:r>
            <a:r>
              <a:rPr lang="zh-CN" altLang="en-US"/>
              <a:t>效果：</a:t>
            </a:r>
            <a:r>
              <a:rPr lang="zh-CN" altLang="en-US">
                <a:latin typeface="+mn-ea"/>
              </a:rPr>
              <a:t>减</a:t>
            </a:r>
            <a:r>
              <a:rPr lang="en-US" altLang="zh-CN"/>
              <a:t>1</a:t>
            </a:r>
            <a:r>
              <a:rPr lang="zh-CN" altLang="en-US"/>
              <a:t>自由度。</a:t>
            </a: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基本概念</a:t>
            </a:r>
            <a:endParaRPr lang="zh-CN" altLang="en-US" sz="3600" dirty="0"/>
          </a:p>
        </p:txBody>
      </p:sp>
      <p:pic>
        <p:nvPicPr>
          <p:cNvPr id="248834" name="Picture 2"/>
          <p:cNvPicPr>
            <a:picLocks noChangeAspect="1" noChangeArrowheads="1"/>
          </p:cNvPicPr>
          <p:nvPr/>
        </p:nvPicPr>
        <p:blipFill>
          <a:blip r:embed="rId3" cstate="print"/>
          <a:srcRect l="3650" t="4839" r="5109" b="3226"/>
          <a:stretch>
            <a:fillRect/>
          </a:stretch>
        </p:blipFill>
        <p:spPr bwMode="auto">
          <a:xfrm rot="5400000">
            <a:off x="4464843" y="2321711"/>
            <a:ext cx="3571901" cy="4071967"/>
          </a:xfrm>
          <a:prstGeom prst="rect">
            <a:avLst/>
          </a:prstGeom>
          <a:noFill/>
          <a:ln w="9525">
            <a:noFill/>
            <a:miter lim="800000"/>
            <a:headEnd/>
            <a:tailEnd/>
          </a:ln>
          <a:effectLst/>
        </p:spPr>
      </p:pic>
      <p:sp>
        <p:nvSpPr>
          <p:cNvPr id="8" name="TextBox 7"/>
          <p:cNvSpPr txBox="1"/>
          <p:nvPr/>
        </p:nvSpPr>
        <p:spPr>
          <a:xfrm>
            <a:off x="2000232" y="4572008"/>
            <a:ext cx="889987" cy="461665"/>
          </a:xfrm>
          <a:prstGeom prst="rect">
            <a:avLst/>
          </a:prstGeom>
          <a:noFill/>
          <a:ln w="28575">
            <a:noFill/>
          </a:ln>
        </p:spPr>
        <p:txBody>
          <a:bodyPr wrap="none" rtlCol="0">
            <a:spAutoFit/>
          </a:bodyPr>
          <a:lstStyle/>
          <a:p>
            <a:r>
              <a:rPr lang="en-US" altLang="zh-CN" sz="2400" b="1" i="1">
                <a:latin typeface="Times New Roman" pitchFamily="18" charset="0"/>
                <a:cs typeface="Times New Roman" pitchFamily="18" charset="0"/>
              </a:rPr>
              <a:t>N </a:t>
            </a:r>
            <a:r>
              <a:rPr lang="en-US" altLang="zh-CN" sz="2400" b="1">
                <a:latin typeface="Times New Roman" pitchFamily="18" charset="0"/>
                <a:cs typeface="Times New Roman" pitchFamily="18" charset="0"/>
              </a:rPr>
              <a:t>= 2</a:t>
            </a:r>
            <a:endParaRPr lang="zh-CN" altLang="en-US" sz="2400" b="1">
              <a:latin typeface="Times New Roman" pitchFamily="18" charset="0"/>
              <a:cs typeface="Times New Roman" pitchFamily="18" charset="0"/>
            </a:endParaRPr>
          </a:p>
        </p:txBody>
      </p:sp>
      <p:sp>
        <p:nvSpPr>
          <p:cNvPr id="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pPr>
              <a:buClrTx/>
            </a:pPr>
            <a:r>
              <a:rPr lang="zh-CN" altLang="en-US"/>
              <a:t>约束</a:t>
            </a:r>
            <a:endParaRPr lang="en-US" altLang="zh-CN"/>
          </a:p>
          <a:p>
            <a:pPr lvl="1">
              <a:lnSpc>
                <a:spcPct val="150000"/>
              </a:lnSpc>
              <a:spcBef>
                <a:spcPts val="0"/>
              </a:spcBef>
            </a:pPr>
            <a:r>
              <a:rPr lang="zh-CN" altLang="en-US"/>
              <a:t>定义：减少自由度的装置，又叫联系</a:t>
            </a:r>
            <a:endParaRPr lang="en-US" altLang="zh-CN"/>
          </a:p>
          <a:p>
            <a:pPr lvl="1">
              <a:lnSpc>
                <a:spcPct val="150000"/>
              </a:lnSpc>
              <a:spcBef>
                <a:spcPts val="0"/>
              </a:spcBef>
              <a:buNone/>
            </a:pPr>
            <a:r>
              <a:rPr lang="zh-CN" altLang="en-US">
                <a:solidFill>
                  <a:srgbClr val="C00000"/>
                </a:solidFill>
              </a:rPr>
              <a:t>    单铰</a:t>
            </a:r>
            <a:endParaRPr lang="en-US" altLang="zh-CN">
              <a:solidFill>
                <a:srgbClr val="C00000"/>
              </a:solidFill>
            </a:endParaRPr>
          </a:p>
          <a:p>
            <a:pPr lvl="1">
              <a:lnSpc>
                <a:spcPct val="150000"/>
              </a:lnSpc>
              <a:spcBef>
                <a:spcPts val="0"/>
              </a:spcBef>
              <a:buNone/>
            </a:pPr>
            <a:endParaRPr lang="en-US" altLang="zh-CN"/>
          </a:p>
          <a:p>
            <a:pPr lvl="1">
              <a:lnSpc>
                <a:spcPct val="150000"/>
              </a:lnSpc>
              <a:spcBef>
                <a:spcPts val="0"/>
              </a:spcBef>
              <a:buNone/>
            </a:pPr>
            <a:r>
              <a:rPr lang="en-US" altLang="zh-CN"/>
              <a:t>     1</a:t>
            </a:r>
            <a:r>
              <a:rPr lang="zh-CN" altLang="en-US"/>
              <a:t>个单铰 </a:t>
            </a:r>
            <a:r>
              <a:rPr lang="en-US" altLang="zh-CN"/>
              <a:t>= 2</a:t>
            </a:r>
            <a:r>
              <a:rPr lang="zh-CN" altLang="en-US"/>
              <a:t>个约束，</a:t>
            </a:r>
            <a:endParaRPr lang="en-US" altLang="zh-CN"/>
          </a:p>
          <a:p>
            <a:pPr lvl="1">
              <a:lnSpc>
                <a:spcPct val="150000"/>
              </a:lnSpc>
              <a:spcBef>
                <a:spcPts val="0"/>
              </a:spcBef>
              <a:buNone/>
            </a:pPr>
            <a:r>
              <a:rPr lang="en-US" altLang="zh-CN"/>
              <a:t>     </a:t>
            </a:r>
            <a:r>
              <a:rPr lang="zh-CN" altLang="en-US"/>
              <a:t>减少</a:t>
            </a:r>
            <a:r>
              <a:rPr lang="en-US" altLang="zh-CN"/>
              <a:t>2</a:t>
            </a:r>
            <a:r>
              <a:rPr lang="zh-CN" altLang="en-US"/>
              <a:t>个自由度</a:t>
            </a:r>
            <a:r>
              <a:rPr lang="en-US" altLang="zh-CN"/>
              <a:t>.</a:t>
            </a:r>
          </a:p>
        </p:txBody>
      </p:sp>
      <p:sp>
        <p:nvSpPr>
          <p:cNvPr id="2" name="标题 1"/>
          <p:cNvSpPr>
            <a:spLocks noGrp="1"/>
          </p:cNvSpPr>
          <p:nvPr>
            <p:ph type="title"/>
          </p:nvPr>
        </p:nvSpPr>
        <p:spPr>
          <a:xfrm>
            <a:off x="457200" y="260648"/>
            <a:ext cx="8229600" cy="882336"/>
          </a:xfrm>
        </p:spPr>
        <p:txBody>
          <a:bodyPr/>
          <a:lstStyle/>
          <a:p>
            <a:pPr algn="r"/>
            <a:r>
              <a:rPr lang="zh-CN" altLang="en-US" sz="3600"/>
              <a:t>基本概念</a:t>
            </a:r>
            <a:endParaRPr lang="zh-CN" altLang="en-US" sz="3600" dirty="0"/>
          </a:p>
        </p:txBody>
      </p:sp>
      <p:sp>
        <p:nvSpPr>
          <p:cNvPr id="8" name="TextBox 7"/>
          <p:cNvSpPr txBox="1"/>
          <p:nvPr/>
        </p:nvSpPr>
        <p:spPr>
          <a:xfrm>
            <a:off x="1285852" y="5429264"/>
            <a:ext cx="2679773" cy="461665"/>
          </a:xfrm>
          <a:prstGeom prst="rect">
            <a:avLst/>
          </a:prstGeom>
          <a:noFill/>
          <a:ln w="28575">
            <a:noFill/>
          </a:ln>
        </p:spPr>
        <p:txBody>
          <a:bodyPr wrap="square" rtlCol="0">
            <a:spAutoFit/>
          </a:bodyPr>
          <a:lstStyle/>
          <a:p>
            <a:r>
              <a:rPr lang="zh-CN" altLang="en-US" sz="2000" b="1">
                <a:latin typeface="Times New Roman" pitchFamily="18" charset="0"/>
                <a:cs typeface="Times New Roman" pitchFamily="18" charset="0"/>
              </a:rPr>
              <a:t>单铰约束后    </a:t>
            </a:r>
            <a:r>
              <a:rPr lang="en-US" altLang="zh-CN" sz="2000" b="1" i="1">
                <a:latin typeface="Times New Roman" pitchFamily="18" charset="0"/>
                <a:cs typeface="Times New Roman" pitchFamily="18" charset="0"/>
              </a:rPr>
              <a:t>N</a:t>
            </a:r>
            <a:r>
              <a:rPr lang="en-US" altLang="zh-CN" sz="2400" b="1" i="1">
                <a:latin typeface="Times New Roman" pitchFamily="18" charset="0"/>
                <a:cs typeface="Times New Roman" pitchFamily="18" charset="0"/>
              </a:rPr>
              <a:t> </a:t>
            </a:r>
            <a:r>
              <a:rPr lang="en-US" altLang="zh-CN" sz="2400" b="1">
                <a:latin typeface="Times New Roman" pitchFamily="18" charset="0"/>
                <a:cs typeface="Times New Roman" pitchFamily="18" charset="0"/>
              </a:rPr>
              <a:t>= 4</a:t>
            </a:r>
            <a:endParaRPr lang="zh-CN" altLang="en-US" sz="2400" b="1">
              <a:latin typeface="Times New Roman" pitchFamily="18" charset="0"/>
              <a:cs typeface="Times New Roman" pitchFamily="18" charset="0"/>
            </a:endParaRPr>
          </a:p>
        </p:txBody>
      </p:sp>
      <p:pic>
        <p:nvPicPr>
          <p:cNvPr id="249858" name="Picture 2"/>
          <p:cNvPicPr>
            <a:picLocks noChangeAspect="1" noChangeArrowheads="1"/>
          </p:cNvPicPr>
          <p:nvPr/>
        </p:nvPicPr>
        <p:blipFill>
          <a:blip r:embed="rId3" cstate="print"/>
          <a:srcRect l="3529" t="2793" r="2940" b="1676"/>
          <a:stretch>
            <a:fillRect/>
          </a:stretch>
        </p:blipFill>
        <p:spPr bwMode="auto">
          <a:xfrm rot="5400000">
            <a:off x="4429124" y="2428868"/>
            <a:ext cx="3786213" cy="4071966"/>
          </a:xfrm>
          <a:prstGeom prst="rect">
            <a:avLst/>
          </a:prstGeom>
          <a:noFill/>
          <a:ln w="9525">
            <a:noFill/>
            <a:miter lim="800000"/>
            <a:headEnd/>
            <a:tailEnd/>
          </a:ln>
          <a:effectLst/>
        </p:spPr>
      </p:pic>
      <p:sp>
        <p:nvSpPr>
          <p:cNvPr id="7" name="AutoShape 61"/>
          <p:cNvSpPr>
            <a:spLocks noChangeArrowheads="1"/>
          </p:cNvSpPr>
          <p:nvPr/>
        </p:nvSpPr>
        <p:spPr bwMode="auto">
          <a:xfrm>
            <a:off x="928662" y="4429132"/>
            <a:ext cx="3429024" cy="833454"/>
          </a:xfrm>
          <a:prstGeom prst="wedgeRoundRectCallout">
            <a:avLst>
              <a:gd name="adj1" fmla="val 71091"/>
              <a:gd name="adj2" fmla="val -39875"/>
              <a:gd name="adj3" fmla="val 16667"/>
            </a:avLst>
          </a:prstGeom>
          <a:solidFill>
            <a:srgbClr val="FFFFFF"/>
          </a:solidFill>
          <a:ln w="25400">
            <a:solidFill>
              <a:srgbClr val="800000"/>
            </a:solidFill>
            <a:miter lim="800000"/>
            <a:headEnd/>
            <a:tailEnd/>
          </a:ln>
          <a:effectLst/>
        </p:spPr>
        <p:txBody>
          <a:bodyPr wrap="none" anchor="ctr"/>
          <a:lstStyle/>
          <a:p>
            <a:pPr algn="ctr">
              <a:spcBef>
                <a:spcPct val="0"/>
              </a:spcBef>
            </a:pPr>
            <a:r>
              <a:rPr lang="en-US" altLang="zh-CN" sz="2000">
                <a:ea typeface="宋体" charset="-122"/>
              </a:rPr>
              <a:t>1</a:t>
            </a:r>
            <a:r>
              <a:rPr lang="zh-CN" altLang="en-US" sz="2000">
                <a:ea typeface="宋体" charset="-122"/>
              </a:rPr>
              <a:t>个自由刚片</a:t>
            </a:r>
            <a:r>
              <a:rPr lang="en-US" altLang="zh-CN" sz="2000">
                <a:ea typeface="宋体" charset="-122"/>
              </a:rPr>
              <a:t>3</a:t>
            </a:r>
            <a:r>
              <a:rPr lang="zh-CN" altLang="en-US" sz="2000">
                <a:ea typeface="宋体" charset="-122"/>
              </a:rPr>
              <a:t>个自由度</a:t>
            </a:r>
          </a:p>
          <a:p>
            <a:pPr algn="ctr">
              <a:spcBef>
                <a:spcPct val="0"/>
              </a:spcBef>
            </a:pPr>
            <a:r>
              <a:rPr lang="en-US" altLang="zh-CN" sz="2000">
                <a:ea typeface="宋体" charset="-122"/>
              </a:rPr>
              <a:t>2</a:t>
            </a:r>
            <a:r>
              <a:rPr lang="zh-CN" altLang="en-US" sz="2000">
                <a:ea typeface="宋体" charset="-122"/>
              </a:rPr>
              <a:t>个自由刚片有</a:t>
            </a:r>
            <a:r>
              <a:rPr lang="en-US" altLang="zh-CN" sz="2000">
                <a:ea typeface="宋体" charset="-122"/>
              </a:rPr>
              <a:t>6</a:t>
            </a:r>
            <a:r>
              <a:rPr lang="zh-CN" altLang="en-US" sz="2000">
                <a:ea typeface="宋体" charset="-122"/>
              </a:rPr>
              <a:t>个自由度</a:t>
            </a:r>
          </a:p>
        </p:txBody>
      </p:sp>
      <p:grpSp>
        <p:nvGrpSpPr>
          <p:cNvPr id="9" name="Group 62"/>
          <p:cNvGrpSpPr>
            <a:grpSpLocks/>
          </p:cNvGrpSpPr>
          <p:nvPr/>
        </p:nvGrpSpPr>
        <p:grpSpPr bwMode="auto">
          <a:xfrm>
            <a:off x="6548514" y="2738370"/>
            <a:ext cx="1524000" cy="787400"/>
            <a:chOff x="2496" y="720"/>
            <a:chExt cx="960" cy="528"/>
          </a:xfrm>
        </p:grpSpPr>
        <p:sp>
          <p:nvSpPr>
            <p:cNvPr id="11" name="AutoShape 64"/>
            <p:cNvSpPr>
              <a:spLocks noChangeArrowheads="1"/>
            </p:cNvSpPr>
            <p:nvPr/>
          </p:nvSpPr>
          <p:spPr bwMode="auto">
            <a:xfrm>
              <a:off x="2976" y="720"/>
              <a:ext cx="480" cy="288"/>
            </a:xfrm>
            <a:prstGeom prst="wedgeRoundRectCallout">
              <a:avLst>
                <a:gd name="adj1" fmla="val -141875"/>
                <a:gd name="adj2" fmla="val 126736"/>
                <a:gd name="adj3" fmla="val 16667"/>
              </a:avLst>
            </a:prstGeom>
            <a:solidFill>
              <a:srgbClr val="FFFFFF"/>
            </a:solidFill>
            <a:ln w="19050">
              <a:solidFill>
                <a:srgbClr val="0070C0"/>
              </a:solidFill>
              <a:miter lim="800000"/>
              <a:headEnd/>
              <a:tailEnd/>
            </a:ln>
            <a:effectLst/>
          </p:spPr>
          <p:txBody>
            <a:bodyPr wrap="none" anchor="ctr"/>
            <a:lstStyle/>
            <a:p>
              <a:pPr algn="ctr">
                <a:spcBef>
                  <a:spcPct val="0"/>
                </a:spcBef>
              </a:pPr>
              <a:r>
                <a:rPr lang="zh-CN" altLang="en-US" sz="2400" b="1">
                  <a:solidFill>
                    <a:srgbClr val="0070C0"/>
                  </a:solidFill>
                </a:rPr>
                <a:t>铰</a:t>
              </a:r>
            </a:p>
          </p:txBody>
        </p:sp>
        <p:sp>
          <p:nvSpPr>
            <p:cNvPr id="10" name="Oval 63"/>
            <p:cNvSpPr>
              <a:spLocks noChangeArrowheads="1"/>
            </p:cNvSpPr>
            <p:nvPr/>
          </p:nvSpPr>
          <p:spPr bwMode="auto">
            <a:xfrm>
              <a:off x="2496" y="1152"/>
              <a:ext cx="96" cy="96"/>
            </a:xfrm>
            <a:prstGeom prst="ellipse">
              <a:avLst/>
            </a:prstGeom>
            <a:solidFill>
              <a:srgbClr val="FFFFFF"/>
            </a:solidFill>
            <a:ln w="38100">
              <a:solidFill>
                <a:schemeClr val="tx1"/>
              </a:solidFill>
              <a:round/>
              <a:headEnd/>
              <a:tailEnd/>
            </a:ln>
            <a:effectLst/>
          </p:spPr>
          <p:txBody>
            <a:bodyPr wrap="none" anchor="ctr"/>
            <a:lstStyle/>
            <a:p>
              <a:endParaRPr lang="zh-CN" altLang="en-US"/>
            </a:p>
          </p:txBody>
        </p:sp>
      </p:grpSp>
      <p:sp>
        <p:nvSpPr>
          <p:cNvPr id="12"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pPr>
              <a:buClrTx/>
            </a:pPr>
            <a:r>
              <a:rPr lang="zh-CN" altLang="en-US"/>
              <a:t>约束</a:t>
            </a:r>
            <a:endParaRPr lang="en-US" altLang="zh-CN"/>
          </a:p>
          <a:p>
            <a:pPr lvl="1">
              <a:lnSpc>
                <a:spcPct val="150000"/>
              </a:lnSpc>
              <a:spcBef>
                <a:spcPts val="0"/>
              </a:spcBef>
            </a:pPr>
            <a:r>
              <a:rPr lang="zh-CN" altLang="en-US"/>
              <a:t>定义：减少自由度的装置，又叫联系</a:t>
            </a:r>
            <a:endParaRPr lang="en-US" altLang="zh-CN"/>
          </a:p>
          <a:p>
            <a:pPr lvl="1">
              <a:lnSpc>
                <a:spcPct val="150000"/>
              </a:lnSpc>
              <a:spcBef>
                <a:spcPts val="0"/>
              </a:spcBef>
              <a:buNone/>
            </a:pPr>
            <a:r>
              <a:rPr lang="zh-CN" altLang="en-US">
                <a:solidFill>
                  <a:srgbClr val="C00000"/>
                </a:solidFill>
              </a:rPr>
              <a:t>    刚结点：</a:t>
            </a:r>
            <a:r>
              <a:rPr lang="zh-CN" altLang="en-US"/>
              <a:t>两根杆连成整体</a:t>
            </a:r>
            <a:endParaRPr lang="en-US" altLang="zh-CN"/>
          </a:p>
          <a:p>
            <a:pPr lvl="1">
              <a:lnSpc>
                <a:spcPct val="150000"/>
              </a:lnSpc>
              <a:spcBef>
                <a:spcPts val="0"/>
              </a:spcBef>
              <a:buNone/>
            </a:pPr>
            <a:endParaRPr lang="en-US" altLang="zh-CN"/>
          </a:p>
          <a:p>
            <a:pPr lvl="1">
              <a:lnSpc>
                <a:spcPct val="150000"/>
              </a:lnSpc>
              <a:spcBef>
                <a:spcPts val="0"/>
              </a:spcBef>
              <a:buNone/>
            </a:pPr>
            <a:r>
              <a:rPr lang="en-US" altLang="zh-CN"/>
              <a:t>     1</a:t>
            </a:r>
            <a:r>
              <a:rPr lang="zh-CN" altLang="en-US"/>
              <a:t>个刚结点 </a:t>
            </a:r>
            <a:r>
              <a:rPr lang="en-US" altLang="zh-CN"/>
              <a:t>= 3</a:t>
            </a:r>
            <a:r>
              <a:rPr lang="zh-CN" altLang="en-US"/>
              <a:t>个约束，</a:t>
            </a:r>
            <a:endParaRPr lang="en-US" altLang="zh-CN"/>
          </a:p>
          <a:p>
            <a:pPr lvl="1">
              <a:lnSpc>
                <a:spcPct val="150000"/>
              </a:lnSpc>
              <a:spcBef>
                <a:spcPts val="0"/>
              </a:spcBef>
              <a:buNone/>
            </a:pPr>
            <a:r>
              <a:rPr lang="en-US" altLang="zh-CN"/>
              <a:t>     </a:t>
            </a:r>
            <a:r>
              <a:rPr lang="zh-CN" altLang="en-US"/>
              <a:t>减少</a:t>
            </a:r>
            <a:r>
              <a:rPr lang="en-US" altLang="zh-CN"/>
              <a:t>3</a:t>
            </a:r>
            <a:r>
              <a:rPr lang="zh-CN" altLang="en-US"/>
              <a:t>个自由度</a:t>
            </a:r>
            <a:r>
              <a:rPr lang="en-US" altLang="zh-CN"/>
              <a:t>.</a:t>
            </a:r>
          </a:p>
        </p:txBody>
      </p:sp>
      <p:sp>
        <p:nvSpPr>
          <p:cNvPr id="2" name="标题 1"/>
          <p:cNvSpPr>
            <a:spLocks noGrp="1"/>
          </p:cNvSpPr>
          <p:nvPr>
            <p:ph type="title"/>
          </p:nvPr>
        </p:nvSpPr>
        <p:spPr>
          <a:xfrm>
            <a:off x="457200" y="260648"/>
            <a:ext cx="8229600" cy="882336"/>
          </a:xfrm>
        </p:spPr>
        <p:txBody>
          <a:bodyPr/>
          <a:lstStyle/>
          <a:p>
            <a:pPr algn="r"/>
            <a:r>
              <a:rPr lang="zh-CN" altLang="en-US" sz="3600"/>
              <a:t>基本概念</a:t>
            </a:r>
            <a:endParaRPr lang="zh-CN" altLang="en-US" sz="3600" dirty="0"/>
          </a:p>
        </p:txBody>
      </p:sp>
      <p:sp>
        <p:nvSpPr>
          <p:cNvPr id="8" name="TextBox 7"/>
          <p:cNvSpPr txBox="1"/>
          <p:nvPr/>
        </p:nvSpPr>
        <p:spPr>
          <a:xfrm>
            <a:off x="1285852" y="5429264"/>
            <a:ext cx="2679773" cy="461665"/>
          </a:xfrm>
          <a:prstGeom prst="rect">
            <a:avLst/>
          </a:prstGeom>
          <a:noFill/>
          <a:ln w="28575">
            <a:noFill/>
          </a:ln>
        </p:spPr>
        <p:txBody>
          <a:bodyPr wrap="square" rtlCol="0">
            <a:spAutoFit/>
          </a:bodyPr>
          <a:lstStyle/>
          <a:p>
            <a:r>
              <a:rPr lang="zh-CN" altLang="en-US" sz="2000" b="1">
                <a:latin typeface="Times New Roman" pitchFamily="18" charset="0"/>
                <a:cs typeface="Times New Roman" pitchFamily="18" charset="0"/>
              </a:rPr>
              <a:t>刚结点约束后    </a:t>
            </a:r>
            <a:r>
              <a:rPr lang="en-US" altLang="zh-CN" sz="2000" b="1" i="1">
                <a:latin typeface="Times New Roman" pitchFamily="18" charset="0"/>
                <a:cs typeface="Times New Roman" pitchFamily="18" charset="0"/>
              </a:rPr>
              <a:t>N</a:t>
            </a:r>
            <a:r>
              <a:rPr lang="en-US" altLang="zh-CN" sz="2400" b="1" i="1">
                <a:latin typeface="Times New Roman" pitchFamily="18" charset="0"/>
                <a:cs typeface="Times New Roman" pitchFamily="18" charset="0"/>
              </a:rPr>
              <a:t> </a:t>
            </a:r>
            <a:r>
              <a:rPr lang="en-US" altLang="zh-CN" sz="2400" b="1">
                <a:latin typeface="Times New Roman" pitchFamily="18" charset="0"/>
                <a:cs typeface="Times New Roman" pitchFamily="18" charset="0"/>
              </a:rPr>
              <a:t>= 3</a:t>
            </a:r>
            <a:endParaRPr lang="zh-CN" altLang="en-US" sz="2400" b="1">
              <a:latin typeface="Times New Roman" pitchFamily="18" charset="0"/>
              <a:cs typeface="Times New Roman" pitchFamily="18" charset="0"/>
            </a:endParaRPr>
          </a:p>
        </p:txBody>
      </p:sp>
      <p:pic>
        <p:nvPicPr>
          <p:cNvPr id="249858" name="Picture 2"/>
          <p:cNvPicPr>
            <a:picLocks noChangeAspect="1" noChangeArrowheads="1"/>
          </p:cNvPicPr>
          <p:nvPr/>
        </p:nvPicPr>
        <p:blipFill>
          <a:blip r:embed="rId3" cstate="print"/>
          <a:srcRect l="3529" t="2793" r="2940" b="1676"/>
          <a:stretch>
            <a:fillRect/>
          </a:stretch>
        </p:blipFill>
        <p:spPr bwMode="auto">
          <a:xfrm rot="5400000">
            <a:off x="4429124" y="2428868"/>
            <a:ext cx="3786213" cy="4071966"/>
          </a:xfrm>
          <a:prstGeom prst="rect">
            <a:avLst/>
          </a:prstGeom>
          <a:noFill/>
          <a:ln w="9525">
            <a:noFill/>
            <a:miter lim="800000"/>
            <a:headEnd/>
            <a:tailEnd/>
          </a:ln>
          <a:effectLst/>
        </p:spPr>
      </p:pic>
      <p:sp>
        <p:nvSpPr>
          <p:cNvPr id="12" name="矩形 11"/>
          <p:cNvSpPr/>
          <p:nvPr/>
        </p:nvSpPr>
        <p:spPr bwMode="auto">
          <a:xfrm>
            <a:off x="4714876" y="2571744"/>
            <a:ext cx="3571900" cy="3429024"/>
          </a:xfrm>
          <a:prstGeom prst="rect">
            <a:avLst/>
          </a:prstGeom>
          <a:solidFill>
            <a:schemeClr val="bg1"/>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nvGrpSpPr>
          <p:cNvPr id="14" name="组合 13"/>
          <p:cNvGrpSpPr/>
          <p:nvPr/>
        </p:nvGrpSpPr>
        <p:grpSpPr>
          <a:xfrm>
            <a:off x="5000628" y="3214686"/>
            <a:ext cx="3214710" cy="2357454"/>
            <a:chOff x="5500694" y="3357562"/>
            <a:chExt cx="2266950" cy="1628775"/>
          </a:xfrm>
        </p:grpSpPr>
        <p:pic>
          <p:nvPicPr>
            <p:cNvPr id="260098" name="Picture 2"/>
            <p:cNvPicPr>
              <a:picLocks noChangeAspect="1" noChangeArrowheads="1"/>
            </p:cNvPicPr>
            <p:nvPr/>
          </p:nvPicPr>
          <p:blipFill>
            <a:blip r:embed="rId4" cstate="print"/>
            <a:srcRect/>
            <a:stretch>
              <a:fillRect/>
            </a:stretch>
          </p:blipFill>
          <p:spPr bwMode="auto">
            <a:xfrm>
              <a:off x="5500694" y="3357562"/>
              <a:ext cx="2266950" cy="1628775"/>
            </a:xfrm>
            <a:prstGeom prst="rect">
              <a:avLst/>
            </a:prstGeom>
            <a:noFill/>
            <a:ln w="9525">
              <a:noFill/>
              <a:miter lim="800000"/>
              <a:headEnd/>
              <a:tailEnd/>
            </a:ln>
            <a:effectLst/>
          </p:spPr>
        </p:pic>
        <p:sp>
          <p:nvSpPr>
            <p:cNvPr id="13" name="矩形 12"/>
            <p:cNvSpPr/>
            <p:nvPr/>
          </p:nvSpPr>
          <p:spPr bwMode="auto">
            <a:xfrm>
              <a:off x="5643570" y="3429000"/>
              <a:ext cx="571504" cy="285752"/>
            </a:xfrm>
            <a:prstGeom prst="rect">
              <a:avLst/>
            </a:prstGeom>
            <a:solidFill>
              <a:schemeClr val="bg1"/>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cxnSp>
        <p:nvCxnSpPr>
          <p:cNvPr id="16" name="直接连接符 15"/>
          <p:cNvCxnSpPr/>
          <p:nvPr/>
        </p:nvCxnSpPr>
        <p:spPr bwMode="auto">
          <a:xfrm rot="10800000">
            <a:off x="4643438" y="3929066"/>
            <a:ext cx="1857388" cy="1588"/>
          </a:xfrm>
          <a:prstGeom prst="line">
            <a:avLst/>
          </a:prstGeom>
          <a:solidFill>
            <a:schemeClr val="accent1"/>
          </a:solidFill>
          <a:ln w="28575" cap="flat" cmpd="sng" algn="ctr">
            <a:solidFill>
              <a:srgbClr val="00B050"/>
            </a:solidFill>
            <a:prstDash val="lgDash"/>
            <a:round/>
            <a:headEnd type="none" w="med" len="med"/>
            <a:tailEnd type="none" w="med" len="med"/>
          </a:ln>
          <a:effectLst/>
        </p:spPr>
      </p:cxnSp>
      <p:cxnSp>
        <p:nvCxnSpPr>
          <p:cNvPr id="17" name="直接连接符 16"/>
          <p:cNvCxnSpPr/>
          <p:nvPr/>
        </p:nvCxnSpPr>
        <p:spPr bwMode="auto">
          <a:xfrm rot="5400000" flipH="1" flipV="1">
            <a:off x="5464975" y="4964917"/>
            <a:ext cx="2071702" cy="1588"/>
          </a:xfrm>
          <a:prstGeom prst="line">
            <a:avLst/>
          </a:prstGeom>
          <a:solidFill>
            <a:schemeClr val="accent1"/>
          </a:solidFill>
          <a:ln w="28575" cap="flat" cmpd="sng" algn="ctr">
            <a:solidFill>
              <a:srgbClr val="00B050"/>
            </a:solidFill>
            <a:prstDash val="lgDash"/>
            <a:round/>
            <a:headEnd type="none" w="med" len="med"/>
            <a:tailEnd type="none" w="med" len="med"/>
          </a:ln>
          <a:effectLst/>
        </p:spPr>
      </p:cxnSp>
      <p:sp>
        <p:nvSpPr>
          <p:cNvPr id="20" name="TextBox 19"/>
          <p:cNvSpPr txBox="1"/>
          <p:nvPr/>
        </p:nvSpPr>
        <p:spPr>
          <a:xfrm>
            <a:off x="5286380" y="3429000"/>
            <a:ext cx="338554" cy="461665"/>
          </a:xfrm>
          <a:prstGeom prst="rect">
            <a:avLst/>
          </a:prstGeom>
          <a:noFill/>
          <a:ln w="28575">
            <a:noFill/>
          </a:ln>
        </p:spPr>
        <p:txBody>
          <a:bodyPr wrap="none" rtlCol="0">
            <a:spAutoFit/>
          </a:bodyPr>
          <a:lstStyle/>
          <a:p>
            <a:r>
              <a:rPr lang="en-US" altLang="zh-CN" sz="2400" b="1" i="1">
                <a:solidFill>
                  <a:srgbClr val="00B050"/>
                </a:solidFill>
                <a:latin typeface="Times New Roman" pitchFamily="18" charset="0"/>
                <a:cs typeface="Times New Roman" pitchFamily="18" charset="0"/>
              </a:rPr>
              <a:t>x</a:t>
            </a:r>
            <a:endParaRPr lang="zh-CN" altLang="en-US" sz="2400" b="1" i="1">
              <a:solidFill>
                <a:srgbClr val="00B050"/>
              </a:solidFill>
              <a:latin typeface="Times New Roman" pitchFamily="18" charset="0"/>
              <a:cs typeface="Times New Roman" pitchFamily="18" charset="0"/>
            </a:endParaRPr>
          </a:p>
        </p:txBody>
      </p:sp>
      <p:sp>
        <p:nvSpPr>
          <p:cNvPr id="21" name="TextBox 20"/>
          <p:cNvSpPr txBox="1"/>
          <p:nvPr/>
        </p:nvSpPr>
        <p:spPr>
          <a:xfrm>
            <a:off x="6572264" y="5143512"/>
            <a:ext cx="320922" cy="461665"/>
          </a:xfrm>
          <a:prstGeom prst="rect">
            <a:avLst/>
          </a:prstGeom>
          <a:noFill/>
          <a:ln w="28575">
            <a:noFill/>
          </a:ln>
        </p:spPr>
        <p:txBody>
          <a:bodyPr wrap="none" rtlCol="0">
            <a:spAutoFit/>
          </a:bodyPr>
          <a:lstStyle/>
          <a:p>
            <a:r>
              <a:rPr lang="en-US" altLang="zh-CN" sz="2400" b="1" i="1">
                <a:solidFill>
                  <a:srgbClr val="00B050"/>
                </a:solidFill>
                <a:latin typeface="Times New Roman" pitchFamily="18" charset="0"/>
                <a:cs typeface="Times New Roman" pitchFamily="18" charset="0"/>
              </a:rPr>
              <a:t>y</a:t>
            </a:r>
            <a:endParaRPr lang="zh-CN" altLang="en-US" sz="2400" b="1" i="1">
              <a:solidFill>
                <a:srgbClr val="00B050"/>
              </a:solidFill>
              <a:latin typeface="Times New Roman" pitchFamily="18" charset="0"/>
              <a:cs typeface="Times New Roman" pitchFamily="18" charset="0"/>
            </a:endParaRPr>
          </a:p>
        </p:txBody>
      </p:sp>
      <p:sp>
        <p:nvSpPr>
          <p:cNvPr id="7" name="AutoShape 61"/>
          <p:cNvSpPr>
            <a:spLocks noChangeArrowheads="1"/>
          </p:cNvSpPr>
          <p:nvPr/>
        </p:nvSpPr>
        <p:spPr bwMode="auto">
          <a:xfrm>
            <a:off x="928662" y="4429132"/>
            <a:ext cx="3429024" cy="833454"/>
          </a:xfrm>
          <a:prstGeom prst="wedgeRoundRectCallout">
            <a:avLst>
              <a:gd name="adj1" fmla="val 80788"/>
              <a:gd name="adj2" fmla="val 37066"/>
              <a:gd name="adj3" fmla="val 16667"/>
            </a:avLst>
          </a:prstGeom>
          <a:solidFill>
            <a:srgbClr val="FFFFFF"/>
          </a:solidFill>
          <a:ln w="28575">
            <a:solidFill>
              <a:srgbClr val="800000"/>
            </a:solidFill>
            <a:miter lim="800000"/>
            <a:headEnd/>
            <a:tailEnd/>
          </a:ln>
          <a:effectLst/>
        </p:spPr>
        <p:txBody>
          <a:bodyPr wrap="none" anchor="ctr"/>
          <a:lstStyle/>
          <a:p>
            <a:pPr algn="ctr">
              <a:spcBef>
                <a:spcPct val="0"/>
              </a:spcBef>
            </a:pPr>
            <a:r>
              <a:rPr lang="en-US" altLang="zh-CN" sz="2000">
                <a:ea typeface="宋体" charset="-122"/>
              </a:rPr>
              <a:t>1</a:t>
            </a:r>
            <a:r>
              <a:rPr lang="zh-CN" altLang="en-US" sz="2000">
                <a:ea typeface="宋体" charset="-122"/>
              </a:rPr>
              <a:t>个自由杆件</a:t>
            </a:r>
            <a:r>
              <a:rPr lang="en-US" altLang="zh-CN" sz="2000">
                <a:ea typeface="宋体" charset="-122"/>
              </a:rPr>
              <a:t>3</a:t>
            </a:r>
            <a:r>
              <a:rPr lang="zh-CN" altLang="en-US" sz="2000">
                <a:ea typeface="宋体" charset="-122"/>
              </a:rPr>
              <a:t>个自由度</a:t>
            </a:r>
          </a:p>
          <a:p>
            <a:pPr algn="ctr">
              <a:spcBef>
                <a:spcPct val="0"/>
              </a:spcBef>
            </a:pPr>
            <a:r>
              <a:rPr lang="en-US" altLang="zh-CN" sz="2000">
                <a:ea typeface="宋体" charset="-122"/>
              </a:rPr>
              <a:t>2</a:t>
            </a:r>
            <a:r>
              <a:rPr lang="zh-CN" altLang="en-US" sz="2000">
                <a:ea typeface="宋体" charset="-122"/>
              </a:rPr>
              <a:t>个自由杆件有</a:t>
            </a:r>
            <a:r>
              <a:rPr lang="en-US" altLang="zh-CN" sz="2000">
                <a:ea typeface="宋体" charset="-122"/>
              </a:rPr>
              <a:t>6</a:t>
            </a:r>
            <a:r>
              <a:rPr lang="zh-CN" altLang="en-US" sz="2000">
                <a:ea typeface="宋体" charset="-122"/>
              </a:rPr>
              <a:t>个自由度</a:t>
            </a:r>
          </a:p>
        </p:txBody>
      </p:sp>
      <p:sp>
        <p:nvSpPr>
          <p:cNvPr id="22" name="弧形 21"/>
          <p:cNvSpPr/>
          <p:nvPr/>
        </p:nvSpPr>
        <p:spPr bwMode="auto">
          <a:xfrm rot="18281266" flipH="1">
            <a:off x="5973824" y="3794522"/>
            <a:ext cx="357190" cy="642942"/>
          </a:xfrm>
          <a:prstGeom prst="arc">
            <a:avLst>
              <a:gd name="adj1" fmla="val 16200000"/>
              <a:gd name="adj2" fmla="val 1852241"/>
            </a:avLst>
          </a:prstGeom>
          <a:noFill/>
          <a:ln w="28575" cap="flat" cmpd="sng" algn="ctr">
            <a:solidFill>
              <a:srgbClr val="00B050"/>
            </a:solidFill>
            <a:prstDash val="solid"/>
            <a:round/>
            <a:headEnd type="none" w="med" len="med"/>
            <a:tailEnd type="arrow" w="med" len="med"/>
          </a:ln>
          <a:effectLst/>
        </p:spPr>
        <p:txBody>
          <a:bodyPr rtlCol="0" anchor="ctr"/>
          <a:lstStyle/>
          <a:p>
            <a:pPr algn="ctr"/>
            <a:endParaRPr lang="zh-CN" altLang="en-US"/>
          </a:p>
        </p:txBody>
      </p:sp>
      <p:sp>
        <p:nvSpPr>
          <p:cNvPr id="23" name="TextBox 22"/>
          <p:cNvSpPr txBox="1"/>
          <p:nvPr/>
        </p:nvSpPr>
        <p:spPr>
          <a:xfrm>
            <a:off x="5567018" y="3905504"/>
            <a:ext cx="364202" cy="461665"/>
          </a:xfrm>
          <a:prstGeom prst="rect">
            <a:avLst/>
          </a:prstGeom>
          <a:noFill/>
          <a:ln w="28575">
            <a:noFill/>
          </a:ln>
        </p:spPr>
        <p:txBody>
          <a:bodyPr wrap="none" rtlCol="0">
            <a:spAutoFit/>
          </a:bodyPr>
          <a:lstStyle/>
          <a:p>
            <a:r>
              <a:rPr lang="el-GR" altLang="zh-CN" sz="2400" b="1" i="1">
                <a:solidFill>
                  <a:srgbClr val="00B050"/>
                </a:solidFill>
                <a:latin typeface="Times New Roman" pitchFamily="18" charset="0"/>
                <a:cs typeface="Times New Roman" pitchFamily="18" charset="0"/>
              </a:rPr>
              <a:t>φ</a:t>
            </a:r>
            <a:endParaRPr lang="zh-CN" altLang="en-US" sz="2400" b="1" i="1">
              <a:solidFill>
                <a:srgbClr val="00B050"/>
              </a:solidFill>
              <a:latin typeface="Times New Roman" pitchFamily="18" charset="0"/>
              <a:cs typeface="Times New Roman" pitchFamily="18" charset="0"/>
            </a:endParaRPr>
          </a:p>
        </p:txBody>
      </p:sp>
      <p:cxnSp>
        <p:nvCxnSpPr>
          <p:cNvPr id="24" name="直接连接符 23"/>
          <p:cNvCxnSpPr/>
          <p:nvPr/>
        </p:nvCxnSpPr>
        <p:spPr bwMode="auto">
          <a:xfrm rot="5400000">
            <a:off x="5750727" y="3964785"/>
            <a:ext cx="785818" cy="714380"/>
          </a:xfrm>
          <a:prstGeom prst="line">
            <a:avLst/>
          </a:prstGeom>
          <a:solidFill>
            <a:schemeClr val="accent1"/>
          </a:solidFill>
          <a:ln w="28575" cap="flat" cmpd="sng" algn="ctr">
            <a:solidFill>
              <a:srgbClr val="00B050"/>
            </a:solidFill>
            <a:prstDash val="lgDash"/>
            <a:round/>
            <a:headEnd type="none" w="med" len="med"/>
            <a:tailEnd type="none" w="med" len="med"/>
          </a:ln>
          <a:effectLst/>
        </p:spPr>
      </p:cxnSp>
      <p:sp>
        <p:nvSpPr>
          <p:cNvPr id="18"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pPr>
              <a:buClrTx/>
            </a:pPr>
            <a:r>
              <a:rPr lang="zh-CN" altLang="en-US"/>
              <a:t>约束</a:t>
            </a:r>
            <a:endParaRPr lang="en-US" altLang="zh-CN"/>
          </a:p>
          <a:p>
            <a:pPr lvl="1">
              <a:lnSpc>
                <a:spcPct val="150000"/>
              </a:lnSpc>
              <a:spcBef>
                <a:spcPts val="0"/>
              </a:spcBef>
            </a:pPr>
            <a:r>
              <a:rPr lang="zh-CN" altLang="en-US"/>
              <a:t>定义：减少自由度的装置，又叫联系</a:t>
            </a:r>
            <a:endParaRPr lang="en-US" altLang="zh-CN"/>
          </a:p>
          <a:p>
            <a:pPr lvl="1">
              <a:lnSpc>
                <a:spcPct val="150000"/>
              </a:lnSpc>
              <a:spcBef>
                <a:spcPts val="0"/>
              </a:spcBef>
              <a:buNone/>
            </a:pPr>
            <a:r>
              <a:rPr lang="zh-CN" altLang="en-US">
                <a:solidFill>
                  <a:srgbClr val="C00000"/>
                </a:solidFill>
              </a:rPr>
              <a:t>    虚铰</a:t>
            </a:r>
            <a:r>
              <a:rPr lang="zh-CN" altLang="en-US"/>
              <a:t>：</a:t>
            </a:r>
            <a:r>
              <a:rPr lang="en-US" altLang="zh-CN"/>
              <a:t>2</a:t>
            </a:r>
            <a:r>
              <a:rPr lang="zh-CN" altLang="en-US"/>
              <a:t>相交链杆构成</a:t>
            </a:r>
            <a:r>
              <a:rPr lang="en-US" altLang="zh-CN"/>
              <a:t>1</a:t>
            </a:r>
            <a:r>
              <a:rPr lang="zh-CN" altLang="en-US"/>
              <a:t>虚铰。随着体系的运动，两根链杆的交点也在改变，所以这种等效铰点只适用于瞬时微小运动，也叫</a:t>
            </a:r>
            <a:r>
              <a:rPr lang="zh-CN" altLang="en-US">
                <a:solidFill>
                  <a:srgbClr val="C00000"/>
                </a:solidFill>
              </a:rPr>
              <a:t>瞬铰。</a:t>
            </a:r>
            <a:endParaRPr lang="en-US" altLang="zh-CN"/>
          </a:p>
          <a:p>
            <a:pPr lvl="1">
              <a:lnSpc>
                <a:spcPct val="150000"/>
              </a:lnSpc>
              <a:spcBef>
                <a:spcPts val="0"/>
              </a:spcBef>
              <a:buNone/>
            </a:pPr>
            <a:endParaRPr lang="en-US" altLang="zh-CN"/>
          </a:p>
          <a:p>
            <a:pPr lvl="1">
              <a:lnSpc>
                <a:spcPct val="150000"/>
              </a:lnSpc>
              <a:spcBef>
                <a:spcPts val="0"/>
              </a:spcBef>
              <a:buNone/>
            </a:pPr>
            <a:r>
              <a:rPr lang="en-US" altLang="zh-CN"/>
              <a:t>     1</a:t>
            </a:r>
            <a:r>
              <a:rPr lang="zh-CN" altLang="en-US"/>
              <a:t>个虚铰 </a:t>
            </a:r>
            <a:r>
              <a:rPr lang="en-US" altLang="zh-CN"/>
              <a:t>= 2</a:t>
            </a:r>
            <a:r>
              <a:rPr lang="zh-CN" altLang="en-US"/>
              <a:t>个约束，</a:t>
            </a:r>
            <a:endParaRPr lang="en-US" altLang="zh-CN"/>
          </a:p>
          <a:p>
            <a:pPr lvl="1">
              <a:lnSpc>
                <a:spcPct val="150000"/>
              </a:lnSpc>
              <a:spcBef>
                <a:spcPts val="0"/>
              </a:spcBef>
              <a:buNone/>
            </a:pPr>
            <a:r>
              <a:rPr lang="en-US" altLang="zh-CN"/>
              <a:t>     </a:t>
            </a:r>
            <a:r>
              <a:rPr lang="zh-CN" altLang="en-US"/>
              <a:t>减少</a:t>
            </a:r>
            <a:r>
              <a:rPr lang="en-US" altLang="zh-CN"/>
              <a:t>2</a:t>
            </a:r>
            <a:r>
              <a:rPr lang="zh-CN" altLang="en-US"/>
              <a:t>个自由度</a:t>
            </a:r>
            <a:r>
              <a:rPr lang="en-US" altLang="zh-CN"/>
              <a:t>.</a:t>
            </a:r>
          </a:p>
        </p:txBody>
      </p:sp>
      <p:sp>
        <p:nvSpPr>
          <p:cNvPr id="2" name="标题 1"/>
          <p:cNvSpPr>
            <a:spLocks noGrp="1"/>
          </p:cNvSpPr>
          <p:nvPr>
            <p:ph type="title"/>
          </p:nvPr>
        </p:nvSpPr>
        <p:spPr>
          <a:xfrm>
            <a:off x="457200" y="260648"/>
            <a:ext cx="8229600" cy="882336"/>
          </a:xfrm>
        </p:spPr>
        <p:txBody>
          <a:bodyPr/>
          <a:lstStyle/>
          <a:p>
            <a:pPr algn="r"/>
            <a:r>
              <a:rPr lang="zh-CN" altLang="en-US" sz="3600"/>
              <a:t>基本概念</a:t>
            </a:r>
            <a:endParaRPr lang="zh-CN" altLang="en-US" sz="3600" dirty="0"/>
          </a:p>
        </p:txBody>
      </p:sp>
      <p:sp>
        <p:nvSpPr>
          <p:cNvPr id="8" name="TextBox 7"/>
          <p:cNvSpPr txBox="1"/>
          <p:nvPr/>
        </p:nvSpPr>
        <p:spPr>
          <a:xfrm>
            <a:off x="1285852" y="5715016"/>
            <a:ext cx="2679773" cy="461665"/>
          </a:xfrm>
          <a:prstGeom prst="rect">
            <a:avLst/>
          </a:prstGeom>
          <a:noFill/>
          <a:ln w="28575">
            <a:noFill/>
          </a:ln>
        </p:spPr>
        <p:txBody>
          <a:bodyPr wrap="square" rtlCol="0">
            <a:spAutoFit/>
          </a:bodyPr>
          <a:lstStyle/>
          <a:p>
            <a:r>
              <a:rPr lang="zh-CN" altLang="en-US" sz="2000" b="1">
                <a:latin typeface="Times New Roman" pitchFamily="18" charset="0"/>
                <a:cs typeface="Times New Roman" pitchFamily="18" charset="0"/>
              </a:rPr>
              <a:t>虚铰约束后    </a:t>
            </a:r>
            <a:r>
              <a:rPr lang="en-US" altLang="zh-CN" sz="2000" b="1" i="1">
                <a:latin typeface="Times New Roman" pitchFamily="18" charset="0"/>
                <a:cs typeface="Times New Roman" pitchFamily="18" charset="0"/>
              </a:rPr>
              <a:t>N</a:t>
            </a:r>
            <a:r>
              <a:rPr lang="en-US" altLang="zh-CN" sz="2400" b="1" i="1">
                <a:latin typeface="Times New Roman" pitchFamily="18" charset="0"/>
                <a:cs typeface="Times New Roman" pitchFamily="18" charset="0"/>
              </a:rPr>
              <a:t> </a:t>
            </a:r>
            <a:r>
              <a:rPr lang="en-US" altLang="zh-CN" sz="2400" b="1">
                <a:latin typeface="Times New Roman" pitchFamily="18" charset="0"/>
                <a:cs typeface="Times New Roman" pitchFamily="18" charset="0"/>
              </a:rPr>
              <a:t>= 4</a:t>
            </a:r>
            <a:endParaRPr lang="zh-CN" altLang="en-US" sz="2400" b="1">
              <a:latin typeface="Times New Roman" pitchFamily="18" charset="0"/>
              <a:cs typeface="Times New Roman" pitchFamily="18" charset="0"/>
            </a:endParaRPr>
          </a:p>
        </p:txBody>
      </p:sp>
      <p:grpSp>
        <p:nvGrpSpPr>
          <p:cNvPr id="68" name="组合 67"/>
          <p:cNvGrpSpPr/>
          <p:nvPr/>
        </p:nvGrpSpPr>
        <p:grpSpPr>
          <a:xfrm>
            <a:off x="4143372" y="3110211"/>
            <a:ext cx="4124768" cy="3604937"/>
            <a:chOff x="4143372" y="2824459"/>
            <a:chExt cx="4124768" cy="3604937"/>
          </a:xfrm>
        </p:grpSpPr>
        <p:cxnSp>
          <p:nvCxnSpPr>
            <p:cNvPr id="10" name="直接箭头连接符 9"/>
            <p:cNvCxnSpPr/>
            <p:nvPr/>
          </p:nvCxnSpPr>
          <p:spPr bwMode="auto">
            <a:xfrm rot="5400000" flipH="1" flipV="1">
              <a:off x="3107124" y="4465248"/>
              <a:ext cx="3072628" cy="1588"/>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sp>
          <p:nvSpPr>
            <p:cNvPr id="12" name="TextBox 11"/>
            <p:cNvSpPr txBox="1"/>
            <p:nvPr/>
          </p:nvSpPr>
          <p:spPr>
            <a:xfrm>
              <a:off x="4286248" y="2824459"/>
              <a:ext cx="320922" cy="461665"/>
            </a:xfrm>
            <a:prstGeom prst="rect">
              <a:avLst/>
            </a:prstGeom>
            <a:noFill/>
            <a:ln w="28575">
              <a:noFill/>
            </a:ln>
          </p:spPr>
          <p:txBody>
            <a:bodyPr wrap="none" rtlCol="0">
              <a:spAutoFit/>
            </a:bodyPr>
            <a:lstStyle/>
            <a:p>
              <a:r>
                <a:rPr lang="en-US" altLang="zh-CN" sz="2400" b="1" i="1">
                  <a:latin typeface="Times New Roman" pitchFamily="18" charset="0"/>
                  <a:cs typeface="Times New Roman" pitchFamily="18" charset="0"/>
                </a:rPr>
                <a:t>y</a:t>
              </a:r>
              <a:endParaRPr lang="zh-CN" altLang="en-US" sz="2400" b="1" i="1">
                <a:latin typeface="Times New Roman" pitchFamily="18" charset="0"/>
                <a:cs typeface="Times New Roman" pitchFamily="18" charset="0"/>
              </a:endParaRPr>
            </a:p>
          </p:txBody>
        </p:sp>
        <p:cxnSp>
          <p:nvCxnSpPr>
            <p:cNvPr id="14" name="直接箭头连接符 13"/>
            <p:cNvCxnSpPr/>
            <p:nvPr/>
          </p:nvCxnSpPr>
          <p:spPr bwMode="auto">
            <a:xfrm>
              <a:off x="4643438" y="6000768"/>
              <a:ext cx="3571900" cy="1588"/>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sp>
          <p:nvSpPr>
            <p:cNvPr id="16" name="TextBox 15"/>
            <p:cNvSpPr txBox="1"/>
            <p:nvPr/>
          </p:nvSpPr>
          <p:spPr>
            <a:xfrm>
              <a:off x="7929586" y="5967731"/>
              <a:ext cx="338554" cy="461665"/>
            </a:xfrm>
            <a:prstGeom prst="rect">
              <a:avLst/>
            </a:prstGeom>
            <a:noFill/>
            <a:ln w="28575">
              <a:noFill/>
            </a:ln>
          </p:spPr>
          <p:txBody>
            <a:bodyPr wrap="none" rtlCol="0">
              <a:spAutoFit/>
            </a:bodyPr>
            <a:lstStyle/>
            <a:p>
              <a:r>
                <a:rPr lang="en-US" altLang="zh-CN" sz="2400" b="1" i="1">
                  <a:latin typeface="Times New Roman" pitchFamily="18" charset="0"/>
                  <a:cs typeface="Times New Roman" pitchFamily="18" charset="0"/>
                </a:rPr>
                <a:t>x</a:t>
              </a:r>
              <a:endParaRPr lang="zh-CN" altLang="en-US" sz="2400" b="1" i="1">
                <a:latin typeface="Times New Roman" pitchFamily="18" charset="0"/>
                <a:cs typeface="Times New Roman" pitchFamily="18" charset="0"/>
              </a:endParaRPr>
            </a:p>
          </p:txBody>
        </p:sp>
        <p:sp>
          <p:nvSpPr>
            <p:cNvPr id="18" name="TextBox 17"/>
            <p:cNvSpPr txBox="1"/>
            <p:nvPr/>
          </p:nvSpPr>
          <p:spPr>
            <a:xfrm>
              <a:off x="4143372" y="5753417"/>
              <a:ext cx="407484" cy="461665"/>
            </a:xfrm>
            <a:prstGeom prst="rect">
              <a:avLst/>
            </a:prstGeom>
            <a:noFill/>
            <a:ln w="28575">
              <a:noFill/>
            </a:ln>
          </p:spPr>
          <p:txBody>
            <a:bodyPr wrap="none" rtlCol="0">
              <a:spAutoFit/>
            </a:bodyPr>
            <a:lstStyle/>
            <a:p>
              <a:r>
                <a:rPr lang="en-US" altLang="zh-CN" sz="2400" b="1" i="1">
                  <a:latin typeface="Times New Roman" pitchFamily="18" charset="0"/>
                  <a:cs typeface="Times New Roman" pitchFamily="18" charset="0"/>
                </a:rPr>
                <a:t>O</a:t>
              </a:r>
              <a:endParaRPr lang="zh-CN" altLang="en-US" sz="2400" b="1" i="1">
                <a:latin typeface="Times New Roman" pitchFamily="18" charset="0"/>
                <a:cs typeface="Times New Roman" pitchFamily="18" charset="0"/>
              </a:endParaRPr>
            </a:p>
          </p:txBody>
        </p:sp>
        <p:sp>
          <p:nvSpPr>
            <p:cNvPr id="20" name="圆角矩形 19"/>
            <p:cNvSpPr/>
            <p:nvPr/>
          </p:nvSpPr>
          <p:spPr bwMode="auto">
            <a:xfrm rot="1748436">
              <a:off x="5416692" y="3379163"/>
              <a:ext cx="571504" cy="1857388"/>
            </a:xfrm>
            <a:prstGeom prst="roundRect">
              <a:avLst>
                <a:gd name="adj" fmla="val 50000"/>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21" name="圆角矩形 20"/>
            <p:cNvSpPr/>
            <p:nvPr/>
          </p:nvSpPr>
          <p:spPr bwMode="auto">
            <a:xfrm rot="20217939">
              <a:off x="6662883" y="3706386"/>
              <a:ext cx="773810" cy="1351156"/>
            </a:xfrm>
            <a:prstGeom prst="roundRect">
              <a:avLst>
                <a:gd name="adj" fmla="val 50000"/>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cxnSp>
          <p:nvCxnSpPr>
            <p:cNvPr id="23" name="直接连接符 22"/>
            <p:cNvCxnSpPr/>
            <p:nvPr/>
          </p:nvCxnSpPr>
          <p:spPr bwMode="auto">
            <a:xfrm>
              <a:off x="6143636" y="4071942"/>
              <a:ext cx="428628" cy="214314"/>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4" name="直接连接符 23"/>
            <p:cNvCxnSpPr/>
            <p:nvPr/>
          </p:nvCxnSpPr>
          <p:spPr bwMode="auto">
            <a:xfrm flipV="1">
              <a:off x="5715008" y="4714884"/>
              <a:ext cx="1000132" cy="214315"/>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34" name="直接连接符 33"/>
            <p:cNvCxnSpPr/>
            <p:nvPr/>
          </p:nvCxnSpPr>
          <p:spPr bwMode="auto">
            <a:xfrm>
              <a:off x="6572264" y="4286256"/>
              <a:ext cx="571504" cy="285752"/>
            </a:xfrm>
            <a:prstGeom prst="line">
              <a:avLst/>
            </a:prstGeom>
            <a:solidFill>
              <a:schemeClr val="accent1"/>
            </a:solidFill>
            <a:ln w="38100" cap="flat" cmpd="sng" algn="ctr">
              <a:solidFill>
                <a:schemeClr val="tx1"/>
              </a:solidFill>
              <a:prstDash val="dash"/>
              <a:round/>
              <a:headEnd type="none" w="med" len="med"/>
              <a:tailEnd type="none" w="med" len="med"/>
            </a:ln>
            <a:effectLst/>
          </p:spPr>
        </p:cxnSp>
        <p:cxnSp>
          <p:nvCxnSpPr>
            <p:cNvPr id="36" name="直接连接符 35"/>
            <p:cNvCxnSpPr/>
            <p:nvPr/>
          </p:nvCxnSpPr>
          <p:spPr bwMode="auto">
            <a:xfrm flipV="1">
              <a:off x="6786578" y="4572008"/>
              <a:ext cx="428628" cy="142876"/>
            </a:xfrm>
            <a:prstGeom prst="line">
              <a:avLst/>
            </a:prstGeom>
            <a:solidFill>
              <a:schemeClr val="accent1"/>
            </a:solidFill>
            <a:ln w="38100" cap="flat" cmpd="sng" algn="ctr">
              <a:solidFill>
                <a:schemeClr val="tx1"/>
              </a:solidFill>
              <a:prstDash val="dash"/>
              <a:round/>
              <a:headEnd type="none" w="med" len="med"/>
              <a:tailEnd type="none" w="med" len="med"/>
            </a:ln>
            <a:effectLst/>
          </p:spPr>
        </p:cxnSp>
        <p:sp>
          <p:nvSpPr>
            <p:cNvPr id="40" name="椭圆 39"/>
            <p:cNvSpPr/>
            <p:nvPr/>
          </p:nvSpPr>
          <p:spPr bwMode="auto">
            <a:xfrm>
              <a:off x="6143636" y="4048004"/>
              <a:ext cx="111444" cy="111444"/>
            </a:xfrm>
            <a:prstGeom prst="ellipse">
              <a:avLst/>
            </a:prstGeom>
            <a:solidFill>
              <a:schemeClr val="bg1"/>
            </a:solid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41" name="椭圆 40"/>
            <p:cNvSpPr/>
            <p:nvPr/>
          </p:nvSpPr>
          <p:spPr bwMode="auto">
            <a:xfrm>
              <a:off x="6472695" y="4188529"/>
              <a:ext cx="111444" cy="111444"/>
            </a:xfrm>
            <a:prstGeom prst="ellipse">
              <a:avLst/>
            </a:prstGeom>
            <a:solidFill>
              <a:schemeClr val="bg1"/>
            </a:solid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42" name="椭圆 41"/>
            <p:cNvSpPr/>
            <p:nvPr/>
          </p:nvSpPr>
          <p:spPr bwMode="auto">
            <a:xfrm>
              <a:off x="5715008" y="4845885"/>
              <a:ext cx="111444" cy="111444"/>
            </a:xfrm>
            <a:prstGeom prst="ellipse">
              <a:avLst/>
            </a:prstGeom>
            <a:solidFill>
              <a:schemeClr val="bg1"/>
            </a:solid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43" name="椭圆 42"/>
            <p:cNvSpPr/>
            <p:nvPr/>
          </p:nvSpPr>
          <p:spPr bwMode="auto">
            <a:xfrm>
              <a:off x="6643890" y="4663003"/>
              <a:ext cx="111444" cy="111444"/>
            </a:xfrm>
            <a:prstGeom prst="ellipse">
              <a:avLst/>
            </a:prstGeom>
            <a:solidFill>
              <a:schemeClr val="bg1"/>
            </a:solid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44" name="TextBox 43"/>
            <p:cNvSpPr txBox="1"/>
            <p:nvPr/>
          </p:nvSpPr>
          <p:spPr>
            <a:xfrm>
              <a:off x="5200820" y="4671964"/>
              <a:ext cx="442750" cy="400110"/>
            </a:xfrm>
            <a:prstGeom prst="rect">
              <a:avLst/>
            </a:prstGeom>
            <a:noFill/>
            <a:ln w="28575">
              <a:noFill/>
            </a:ln>
          </p:spPr>
          <p:txBody>
            <a:bodyPr wrap="none" rtlCol="0">
              <a:spAutoFit/>
            </a:bodyPr>
            <a:lstStyle/>
            <a:p>
              <a:r>
                <a:rPr lang="en-US" altLang="zh-CN" sz="2000" b="1"/>
                <a:t>Ⅰ</a:t>
              </a:r>
              <a:endParaRPr lang="zh-CN" altLang="en-US" sz="2000" b="1"/>
            </a:p>
          </p:txBody>
        </p:sp>
        <p:sp>
          <p:nvSpPr>
            <p:cNvPr id="45" name="TextBox 44"/>
            <p:cNvSpPr txBox="1"/>
            <p:nvPr/>
          </p:nvSpPr>
          <p:spPr>
            <a:xfrm>
              <a:off x="6858016" y="3786190"/>
              <a:ext cx="442750" cy="400110"/>
            </a:xfrm>
            <a:prstGeom prst="rect">
              <a:avLst/>
            </a:prstGeom>
            <a:noFill/>
            <a:ln w="28575">
              <a:noFill/>
            </a:ln>
          </p:spPr>
          <p:txBody>
            <a:bodyPr wrap="none" rtlCol="0">
              <a:spAutoFit/>
            </a:bodyPr>
            <a:lstStyle/>
            <a:p>
              <a:r>
                <a:rPr lang="en-US" altLang="zh-CN" sz="2000" b="1"/>
                <a:t>Ⅱ</a:t>
              </a:r>
              <a:endParaRPr lang="zh-CN" altLang="en-US" sz="2000" b="1"/>
            </a:p>
          </p:txBody>
        </p:sp>
        <p:sp>
          <p:nvSpPr>
            <p:cNvPr id="48" name="TextBox 47"/>
            <p:cNvSpPr txBox="1"/>
            <p:nvPr/>
          </p:nvSpPr>
          <p:spPr>
            <a:xfrm>
              <a:off x="5572132" y="4929198"/>
              <a:ext cx="372218" cy="430887"/>
            </a:xfrm>
            <a:prstGeom prst="rect">
              <a:avLst/>
            </a:prstGeom>
            <a:noFill/>
            <a:ln w="28575">
              <a:noFill/>
            </a:ln>
          </p:spPr>
          <p:txBody>
            <a:bodyPr wrap="none" rtlCol="0">
              <a:spAutoFit/>
            </a:bodyPr>
            <a:lstStyle/>
            <a:p>
              <a:r>
                <a:rPr lang="en-US" altLang="zh-CN" sz="2200" b="1" i="1">
                  <a:latin typeface="Times New Roman" pitchFamily="18" charset="0"/>
                  <a:cs typeface="Times New Roman" pitchFamily="18" charset="0"/>
                </a:rPr>
                <a:t>A</a:t>
              </a:r>
              <a:endParaRPr lang="zh-CN" altLang="en-US" sz="2200" b="1" i="1">
                <a:latin typeface="Times New Roman" pitchFamily="18" charset="0"/>
                <a:cs typeface="Times New Roman" pitchFamily="18" charset="0"/>
              </a:endParaRPr>
            </a:p>
          </p:txBody>
        </p:sp>
        <p:sp>
          <p:nvSpPr>
            <p:cNvPr id="49" name="TextBox 48"/>
            <p:cNvSpPr txBox="1"/>
            <p:nvPr/>
          </p:nvSpPr>
          <p:spPr>
            <a:xfrm>
              <a:off x="5771418" y="3783931"/>
              <a:ext cx="372218" cy="430887"/>
            </a:xfrm>
            <a:prstGeom prst="rect">
              <a:avLst/>
            </a:prstGeom>
            <a:noFill/>
            <a:ln w="28575">
              <a:noFill/>
            </a:ln>
          </p:spPr>
          <p:txBody>
            <a:bodyPr wrap="none" rtlCol="0">
              <a:spAutoFit/>
            </a:bodyPr>
            <a:lstStyle/>
            <a:p>
              <a:r>
                <a:rPr lang="en-US" altLang="zh-CN" sz="2200" b="1" i="1">
                  <a:latin typeface="Times New Roman" pitchFamily="18" charset="0"/>
                  <a:cs typeface="Times New Roman" pitchFamily="18" charset="0"/>
                </a:rPr>
                <a:t>B</a:t>
              </a:r>
              <a:endParaRPr lang="zh-CN" altLang="en-US" sz="2200" b="1" i="1">
                <a:latin typeface="Times New Roman" pitchFamily="18" charset="0"/>
                <a:cs typeface="Times New Roman" pitchFamily="18" charset="0"/>
              </a:endParaRPr>
            </a:p>
          </p:txBody>
        </p:sp>
        <p:sp>
          <p:nvSpPr>
            <p:cNvPr id="50" name="TextBox 49"/>
            <p:cNvSpPr txBox="1"/>
            <p:nvPr/>
          </p:nvSpPr>
          <p:spPr>
            <a:xfrm>
              <a:off x="6572264" y="3143248"/>
              <a:ext cx="372218" cy="430887"/>
            </a:xfrm>
            <a:prstGeom prst="rect">
              <a:avLst/>
            </a:prstGeom>
            <a:noFill/>
            <a:ln w="28575">
              <a:noFill/>
            </a:ln>
          </p:spPr>
          <p:txBody>
            <a:bodyPr wrap="none" rtlCol="0">
              <a:spAutoFit/>
            </a:bodyPr>
            <a:lstStyle/>
            <a:p>
              <a:r>
                <a:rPr lang="en-US" altLang="zh-CN" sz="2200" b="1" i="1">
                  <a:latin typeface="Times New Roman" pitchFamily="18" charset="0"/>
                  <a:cs typeface="Times New Roman" pitchFamily="18" charset="0"/>
                </a:rPr>
                <a:t>C</a:t>
              </a:r>
              <a:endParaRPr lang="zh-CN" altLang="en-US" sz="2200" b="1" i="1">
                <a:latin typeface="Times New Roman" pitchFamily="18" charset="0"/>
                <a:cs typeface="Times New Roman" pitchFamily="18" charset="0"/>
              </a:endParaRPr>
            </a:p>
          </p:txBody>
        </p:sp>
        <p:sp>
          <p:nvSpPr>
            <p:cNvPr id="51" name="TextBox 50"/>
            <p:cNvSpPr txBox="1"/>
            <p:nvPr/>
          </p:nvSpPr>
          <p:spPr>
            <a:xfrm>
              <a:off x="7039670" y="4141121"/>
              <a:ext cx="388248" cy="430887"/>
            </a:xfrm>
            <a:prstGeom prst="rect">
              <a:avLst/>
            </a:prstGeom>
            <a:noFill/>
            <a:ln w="28575">
              <a:noFill/>
            </a:ln>
          </p:spPr>
          <p:txBody>
            <a:bodyPr wrap="none" rtlCol="0">
              <a:spAutoFit/>
            </a:bodyPr>
            <a:lstStyle/>
            <a:p>
              <a:r>
                <a:rPr lang="en-US" altLang="zh-CN" sz="2200" b="1" i="1">
                  <a:latin typeface="Times New Roman" pitchFamily="18" charset="0"/>
                  <a:cs typeface="Times New Roman" pitchFamily="18" charset="0"/>
                </a:rPr>
                <a:t>D</a:t>
              </a:r>
              <a:endParaRPr lang="zh-CN" altLang="en-US" sz="2200" b="1" i="1">
                <a:latin typeface="Times New Roman" pitchFamily="18" charset="0"/>
                <a:cs typeface="Times New Roman" pitchFamily="18" charset="0"/>
              </a:endParaRPr>
            </a:p>
          </p:txBody>
        </p:sp>
        <p:cxnSp>
          <p:nvCxnSpPr>
            <p:cNvPr id="53" name="直接连接符 52"/>
            <p:cNvCxnSpPr/>
            <p:nvPr/>
          </p:nvCxnSpPr>
          <p:spPr bwMode="auto">
            <a:xfrm rot="10800000">
              <a:off x="4667188" y="4583883"/>
              <a:ext cx="2428892" cy="1588"/>
            </a:xfrm>
            <a:prstGeom prst="line">
              <a:avLst/>
            </a:prstGeom>
            <a:solidFill>
              <a:schemeClr val="accent1"/>
            </a:solidFill>
            <a:ln w="28575" cap="flat" cmpd="sng" algn="ctr">
              <a:solidFill>
                <a:srgbClr val="00B050"/>
              </a:solidFill>
              <a:prstDash val="dash"/>
              <a:round/>
              <a:headEnd type="none" w="med" len="med"/>
              <a:tailEnd type="none" w="med" len="med"/>
            </a:ln>
            <a:effectLst/>
          </p:spPr>
        </p:cxnSp>
        <p:cxnSp>
          <p:nvCxnSpPr>
            <p:cNvPr id="54" name="直接连接符 53"/>
            <p:cNvCxnSpPr/>
            <p:nvPr/>
          </p:nvCxnSpPr>
          <p:spPr bwMode="auto">
            <a:xfrm rot="5400000" flipH="1" flipV="1">
              <a:off x="6429389" y="5286389"/>
              <a:ext cx="1428759" cy="1"/>
            </a:xfrm>
            <a:prstGeom prst="line">
              <a:avLst/>
            </a:prstGeom>
            <a:solidFill>
              <a:schemeClr val="accent1"/>
            </a:solidFill>
            <a:ln w="28575" cap="flat" cmpd="sng" algn="ctr">
              <a:solidFill>
                <a:srgbClr val="00B050"/>
              </a:solidFill>
              <a:prstDash val="dash"/>
              <a:round/>
              <a:headEnd type="none" w="med" len="med"/>
              <a:tailEnd type="none" w="med" len="med"/>
            </a:ln>
            <a:effectLst/>
          </p:spPr>
        </p:cxnSp>
        <p:sp>
          <p:nvSpPr>
            <p:cNvPr id="57" name="TextBox 56"/>
            <p:cNvSpPr txBox="1"/>
            <p:nvPr/>
          </p:nvSpPr>
          <p:spPr>
            <a:xfrm>
              <a:off x="4821939" y="4143380"/>
              <a:ext cx="338554" cy="461665"/>
            </a:xfrm>
            <a:prstGeom prst="rect">
              <a:avLst/>
            </a:prstGeom>
            <a:noFill/>
            <a:ln w="28575">
              <a:noFill/>
            </a:ln>
          </p:spPr>
          <p:txBody>
            <a:bodyPr wrap="none" rtlCol="0">
              <a:spAutoFit/>
            </a:bodyPr>
            <a:lstStyle/>
            <a:p>
              <a:r>
                <a:rPr lang="en-US" altLang="zh-CN" sz="2400" b="1" i="1">
                  <a:solidFill>
                    <a:srgbClr val="00B050"/>
                  </a:solidFill>
                  <a:latin typeface="Times New Roman" pitchFamily="18" charset="0"/>
                  <a:cs typeface="Times New Roman" pitchFamily="18" charset="0"/>
                </a:rPr>
                <a:t>x</a:t>
              </a:r>
              <a:endParaRPr lang="zh-CN" altLang="en-US" sz="2400" b="1" i="1">
                <a:solidFill>
                  <a:srgbClr val="00B050"/>
                </a:solidFill>
                <a:latin typeface="Times New Roman" pitchFamily="18" charset="0"/>
                <a:cs typeface="Times New Roman" pitchFamily="18" charset="0"/>
              </a:endParaRPr>
            </a:p>
          </p:txBody>
        </p:sp>
        <p:sp>
          <p:nvSpPr>
            <p:cNvPr id="58" name="TextBox 57"/>
            <p:cNvSpPr txBox="1"/>
            <p:nvPr/>
          </p:nvSpPr>
          <p:spPr>
            <a:xfrm>
              <a:off x="7162404" y="5181913"/>
              <a:ext cx="320922" cy="461665"/>
            </a:xfrm>
            <a:prstGeom prst="rect">
              <a:avLst/>
            </a:prstGeom>
            <a:noFill/>
            <a:ln w="28575">
              <a:noFill/>
            </a:ln>
          </p:spPr>
          <p:txBody>
            <a:bodyPr wrap="none" rtlCol="0">
              <a:spAutoFit/>
            </a:bodyPr>
            <a:lstStyle/>
            <a:p>
              <a:r>
                <a:rPr lang="en-US" altLang="zh-CN" sz="2400" b="1" i="1">
                  <a:solidFill>
                    <a:srgbClr val="00B050"/>
                  </a:solidFill>
                  <a:latin typeface="Times New Roman" pitchFamily="18" charset="0"/>
                  <a:cs typeface="Times New Roman" pitchFamily="18" charset="0"/>
                </a:rPr>
                <a:t>y</a:t>
              </a:r>
              <a:endParaRPr lang="zh-CN" altLang="en-US" sz="2400" b="1" i="1">
                <a:solidFill>
                  <a:srgbClr val="00B050"/>
                </a:solidFill>
                <a:latin typeface="Times New Roman" pitchFamily="18" charset="0"/>
                <a:cs typeface="Times New Roman" pitchFamily="18" charset="0"/>
              </a:endParaRPr>
            </a:p>
          </p:txBody>
        </p:sp>
        <p:cxnSp>
          <p:nvCxnSpPr>
            <p:cNvPr id="59" name="直接连接符 58"/>
            <p:cNvCxnSpPr>
              <a:stCxn id="21" idx="0"/>
            </p:cNvCxnSpPr>
            <p:nvPr/>
          </p:nvCxnSpPr>
          <p:spPr bwMode="auto">
            <a:xfrm rot="16200000" flipH="1">
              <a:off x="6552790" y="3992905"/>
              <a:ext cx="835509" cy="370198"/>
            </a:xfrm>
            <a:prstGeom prst="line">
              <a:avLst/>
            </a:prstGeom>
            <a:solidFill>
              <a:schemeClr val="accent1"/>
            </a:solidFill>
            <a:ln w="28575" cap="flat" cmpd="sng" algn="ctr">
              <a:solidFill>
                <a:srgbClr val="00B050"/>
              </a:solidFill>
              <a:prstDash val="dash"/>
              <a:round/>
              <a:headEnd type="none" w="med" len="med"/>
              <a:tailEnd type="none" w="med" len="med"/>
            </a:ln>
            <a:effectLst/>
          </p:spPr>
        </p:cxnSp>
        <p:cxnSp>
          <p:nvCxnSpPr>
            <p:cNvPr id="64" name="直接箭头连接符 63"/>
            <p:cNvCxnSpPr/>
            <p:nvPr/>
          </p:nvCxnSpPr>
          <p:spPr bwMode="auto">
            <a:xfrm rot="5400000" flipH="1" flipV="1">
              <a:off x="6135602" y="3794224"/>
              <a:ext cx="349573" cy="190629"/>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cxnSp>
          <p:nvCxnSpPr>
            <p:cNvPr id="65" name="直接箭头连接符 64"/>
            <p:cNvCxnSpPr/>
            <p:nvPr/>
          </p:nvCxnSpPr>
          <p:spPr bwMode="auto">
            <a:xfrm rot="16200000" flipV="1">
              <a:off x="5337782" y="4449168"/>
              <a:ext cx="659076" cy="190376"/>
            </a:xfrm>
            <a:prstGeom prst="straightConnector1">
              <a:avLst/>
            </a:prstGeom>
            <a:solidFill>
              <a:schemeClr val="accent1"/>
            </a:solidFill>
            <a:ln w="28575" cap="flat" cmpd="sng" algn="ctr">
              <a:solidFill>
                <a:srgbClr val="C00000"/>
              </a:solidFill>
              <a:prstDash val="solid"/>
              <a:round/>
              <a:headEnd type="none" w="med" len="med"/>
              <a:tailEnd type="arrow"/>
            </a:ln>
            <a:effectLst/>
          </p:spPr>
        </p:cxnSp>
      </p:grpSp>
      <p:sp>
        <p:nvSpPr>
          <p:cNvPr id="7" name="AutoShape 61"/>
          <p:cNvSpPr>
            <a:spLocks noChangeArrowheads="1"/>
          </p:cNvSpPr>
          <p:nvPr/>
        </p:nvSpPr>
        <p:spPr bwMode="auto">
          <a:xfrm>
            <a:off x="928662" y="4714884"/>
            <a:ext cx="3429024" cy="833454"/>
          </a:xfrm>
          <a:prstGeom prst="wedgeRoundRectCallout">
            <a:avLst>
              <a:gd name="adj1" fmla="val 74208"/>
              <a:gd name="adj2" fmla="val 4295"/>
              <a:gd name="adj3" fmla="val 16667"/>
            </a:avLst>
          </a:prstGeom>
          <a:solidFill>
            <a:srgbClr val="FFFFFF"/>
          </a:solidFill>
          <a:ln w="28575">
            <a:solidFill>
              <a:srgbClr val="800000"/>
            </a:solidFill>
            <a:miter lim="800000"/>
            <a:headEnd/>
            <a:tailEnd/>
          </a:ln>
          <a:effectLst/>
        </p:spPr>
        <p:txBody>
          <a:bodyPr wrap="none" anchor="ctr"/>
          <a:lstStyle/>
          <a:p>
            <a:pPr algn="ctr">
              <a:spcBef>
                <a:spcPct val="0"/>
              </a:spcBef>
            </a:pPr>
            <a:r>
              <a:rPr lang="en-US" altLang="zh-CN" sz="2000">
                <a:ea typeface="宋体" charset="-122"/>
              </a:rPr>
              <a:t>1</a:t>
            </a:r>
            <a:r>
              <a:rPr lang="zh-CN" altLang="en-US" sz="2000">
                <a:ea typeface="宋体" charset="-122"/>
              </a:rPr>
              <a:t>个自由刚片</a:t>
            </a:r>
            <a:r>
              <a:rPr lang="en-US" altLang="zh-CN" sz="2000">
                <a:ea typeface="宋体" charset="-122"/>
              </a:rPr>
              <a:t>3</a:t>
            </a:r>
            <a:r>
              <a:rPr lang="zh-CN" altLang="en-US" sz="2000">
                <a:ea typeface="宋体" charset="-122"/>
              </a:rPr>
              <a:t>个自由度</a:t>
            </a:r>
          </a:p>
          <a:p>
            <a:pPr algn="ctr">
              <a:spcBef>
                <a:spcPct val="0"/>
              </a:spcBef>
            </a:pPr>
            <a:r>
              <a:rPr lang="en-US" altLang="zh-CN" sz="2000">
                <a:ea typeface="宋体" charset="-122"/>
              </a:rPr>
              <a:t>2</a:t>
            </a:r>
            <a:r>
              <a:rPr lang="zh-CN" altLang="en-US" sz="2000">
                <a:ea typeface="宋体" charset="-122"/>
              </a:rPr>
              <a:t>个自由刚片有</a:t>
            </a:r>
            <a:r>
              <a:rPr lang="en-US" altLang="zh-CN" sz="2000">
                <a:ea typeface="宋体" charset="-122"/>
              </a:rPr>
              <a:t>6</a:t>
            </a:r>
            <a:r>
              <a:rPr lang="zh-CN" altLang="en-US" sz="2000">
                <a:ea typeface="宋体" charset="-122"/>
              </a:rPr>
              <a:t>个自由度</a:t>
            </a:r>
          </a:p>
        </p:txBody>
      </p:sp>
      <p:sp>
        <p:nvSpPr>
          <p:cNvPr id="35"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pPr>
              <a:buClrTx/>
            </a:pPr>
            <a:r>
              <a:rPr lang="zh-CN" altLang="en-US"/>
              <a:t>约束</a:t>
            </a:r>
            <a:endParaRPr lang="en-US" altLang="zh-CN"/>
          </a:p>
          <a:p>
            <a:pPr lvl="1">
              <a:lnSpc>
                <a:spcPct val="150000"/>
              </a:lnSpc>
              <a:spcBef>
                <a:spcPts val="0"/>
              </a:spcBef>
            </a:pPr>
            <a:r>
              <a:rPr lang="zh-CN" altLang="en-US"/>
              <a:t>定义：减少自由度的装置，又叫联系</a:t>
            </a:r>
            <a:endParaRPr lang="en-US" altLang="zh-CN"/>
          </a:p>
          <a:p>
            <a:pPr lvl="1">
              <a:lnSpc>
                <a:spcPct val="130000"/>
              </a:lnSpc>
              <a:spcBef>
                <a:spcPts val="0"/>
              </a:spcBef>
              <a:buNone/>
            </a:pPr>
            <a:r>
              <a:rPr lang="zh-CN" altLang="en-US">
                <a:solidFill>
                  <a:srgbClr val="C00000"/>
                </a:solidFill>
              </a:rPr>
              <a:t>    无穷远处的瞬铰</a:t>
            </a:r>
            <a:r>
              <a:rPr lang="zh-CN" altLang="en-US"/>
              <a:t>：两根链杆的交点在无穷远处，因此两根链杆所起的约束作用相当于无穷远处的瞬铰所以的约束作用：即只能沿两根链杆的正交方向产生平动。</a:t>
            </a: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基本概念</a:t>
            </a:r>
            <a:endParaRPr lang="zh-CN" altLang="en-US" sz="3600" dirty="0"/>
          </a:p>
        </p:txBody>
      </p:sp>
      <p:sp>
        <p:nvSpPr>
          <p:cNvPr id="8" name="TextBox 7"/>
          <p:cNvSpPr txBox="1"/>
          <p:nvPr/>
        </p:nvSpPr>
        <p:spPr>
          <a:xfrm>
            <a:off x="1214414" y="3610277"/>
            <a:ext cx="2679773" cy="461665"/>
          </a:xfrm>
          <a:prstGeom prst="rect">
            <a:avLst/>
          </a:prstGeom>
          <a:noFill/>
          <a:ln w="28575">
            <a:noFill/>
          </a:ln>
        </p:spPr>
        <p:txBody>
          <a:bodyPr wrap="square" rtlCol="0">
            <a:spAutoFit/>
          </a:bodyPr>
          <a:lstStyle/>
          <a:p>
            <a:r>
              <a:rPr lang="zh-CN" altLang="en-US" sz="2000" b="1">
                <a:latin typeface="Times New Roman" pitchFamily="18" charset="0"/>
                <a:cs typeface="Times New Roman" pitchFamily="18" charset="0"/>
              </a:rPr>
              <a:t>虚铰约束后    </a:t>
            </a:r>
            <a:r>
              <a:rPr lang="en-US" altLang="zh-CN" sz="2000" b="1" i="1">
                <a:latin typeface="Times New Roman" pitchFamily="18" charset="0"/>
                <a:cs typeface="Times New Roman" pitchFamily="18" charset="0"/>
              </a:rPr>
              <a:t>N</a:t>
            </a:r>
            <a:r>
              <a:rPr lang="en-US" altLang="zh-CN" sz="2400" b="1" i="1">
                <a:latin typeface="Times New Roman" pitchFamily="18" charset="0"/>
                <a:cs typeface="Times New Roman" pitchFamily="18" charset="0"/>
              </a:rPr>
              <a:t> </a:t>
            </a:r>
            <a:r>
              <a:rPr lang="en-US" altLang="zh-CN" sz="2400" b="1">
                <a:latin typeface="Times New Roman" pitchFamily="18" charset="0"/>
                <a:cs typeface="Times New Roman" pitchFamily="18" charset="0"/>
              </a:rPr>
              <a:t>= 1</a:t>
            </a:r>
            <a:endParaRPr lang="zh-CN" altLang="en-US" sz="2400" b="1">
              <a:latin typeface="Times New Roman" pitchFamily="18" charset="0"/>
              <a:cs typeface="Times New Roman" pitchFamily="18" charset="0"/>
            </a:endParaRPr>
          </a:p>
        </p:txBody>
      </p:sp>
      <p:grpSp>
        <p:nvGrpSpPr>
          <p:cNvPr id="39" name="组合 38"/>
          <p:cNvGrpSpPr/>
          <p:nvPr/>
        </p:nvGrpSpPr>
        <p:grpSpPr>
          <a:xfrm>
            <a:off x="5214942" y="3214686"/>
            <a:ext cx="3357586" cy="3286148"/>
            <a:chOff x="6072198" y="3286124"/>
            <a:chExt cx="2786082" cy="2928958"/>
          </a:xfrm>
        </p:grpSpPr>
        <p:pic>
          <p:nvPicPr>
            <p:cNvPr id="2051" name="Picture 3"/>
            <p:cNvPicPr>
              <a:picLocks noChangeAspect="1" noChangeArrowheads="1"/>
            </p:cNvPicPr>
            <p:nvPr/>
          </p:nvPicPr>
          <p:blipFill>
            <a:blip r:embed="rId3" cstate="print"/>
            <a:srcRect l="6667" t="6667" r="6667" b="2222"/>
            <a:stretch>
              <a:fillRect/>
            </a:stretch>
          </p:blipFill>
          <p:spPr bwMode="auto">
            <a:xfrm>
              <a:off x="6072198" y="3286124"/>
              <a:ext cx="2786082" cy="2928958"/>
            </a:xfrm>
            <a:prstGeom prst="rect">
              <a:avLst/>
            </a:prstGeom>
            <a:noFill/>
            <a:ln w="9525">
              <a:noFill/>
              <a:miter lim="800000"/>
              <a:headEnd/>
              <a:tailEnd/>
            </a:ln>
            <a:effectLst/>
          </p:spPr>
        </p:pic>
        <p:sp>
          <p:nvSpPr>
            <p:cNvPr id="37" name="矩形 36"/>
            <p:cNvSpPr/>
            <p:nvPr/>
          </p:nvSpPr>
          <p:spPr bwMode="auto">
            <a:xfrm>
              <a:off x="6072198" y="3286124"/>
              <a:ext cx="857256" cy="928694"/>
            </a:xfrm>
            <a:prstGeom prst="rect">
              <a:avLst/>
            </a:prstGeom>
            <a:solidFill>
              <a:schemeClr val="bg1"/>
            </a:solidFill>
            <a:ln w="285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sp>
        <p:nvSpPr>
          <p:cNvPr id="46" name="矩形 45"/>
          <p:cNvSpPr/>
          <p:nvPr/>
        </p:nvSpPr>
        <p:spPr>
          <a:xfrm>
            <a:off x="702505" y="4286256"/>
            <a:ext cx="4572000" cy="2092881"/>
          </a:xfrm>
          <a:prstGeom prst="rect">
            <a:avLst/>
          </a:prstGeom>
        </p:spPr>
        <p:txBody>
          <a:bodyPr>
            <a:spAutoFit/>
          </a:bodyPr>
          <a:lstStyle/>
          <a:p>
            <a:pPr lvl="1">
              <a:lnSpc>
                <a:spcPct val="130000"/>
              </a:lnSpc>
              <a:spcBef>
                <a:spcPts val="1200"/>
              </a:spcBef>
              <a:buNone/>
            </a:pPr>
            <a:r>
              <a:rPr lang="en-US" altLang="zh-CN" sz="2000" b="1"/>
              <a:t> *</a:t>
            </a:r>
            <a:r>
              <a:rPr lang="zh-CN" altLang="en-US" sz="2000" b="1"/>
              <a:t>无穷点几何学结论：</a:t>
            </a:r>
            <a:endParaRPr lang="en-US" altLang="zh-CN" sz="2000" b="1"/>
          </a:p>
          <a:p>
            <a:pPr lvl="1">
              <a:lnSpc>
                <a:spcPct val="130000"/>
              </a:lnSpc>
              <a:spcBef>
                <a:spcPts val="0"/>
              </a:spcBef>
              <a:buNone/>
            </a:pPr>
            <a:r>
              <a:rPr lang="en-US" altLang="zh-CN" sz="2000" b="1"/>
              <a:t>     1 </a:t>
            </a:r>
            <a:r>
              <a:rPr lang="zh-CN" altLang="en-US" sz="2000" b="1"/>
              <a:t>每个方向有一个</a:t>
            </a:r>
            <a:r>
              <a:rPr lang="zh-CN" altLang="en-US" sz="2000" b="1">
                <a:latin typeface="+mn-ea"/>
              </a:rPr>
              <a:t>∞</a:t>
            </a:r>
            <a:r>
              <a:rPr lang="zh-CN" altLang="en-US" sz="2000" b="1"/>
              <a:t>点；</a:t>
            </a:r>
            <a:endParaRPr lang="en-US" altLang="zh-CN" sz="2000" b="1"/>
          </a:p>
          <a:p>
            <a:pPr lvl="1">
              <a:lnSpc>
                <a:spcPct val="130000"/>
              </a:lnSpc>
              <a:spcBef>
                <a:spcPts val="0"/>
              </a:spcBef>
              <a:buNone/>
            </a:pPr>
            <a:r>
              <a:rPr lang="en-US" altLang="zh-CN" sz="2000" b="1"/>
              <a:t>     2 </a:t>
            </a:r>
            <a:r>
              <a:rPr lang="zh-CN" altLang="en-US" sz="2000" b="1"/>
              <a:t>不同方向有不同</a:t>
            </a:r>
            <a:r>
              <a:rPr lang="zh-CN" altLang="en-US" sz="2000" b="1">
                <a:latin typeface="+mn-ea"/>
              </a:rPr>
              <a:t>∞</a:t>
            </a:r>
            <a:r>
              <a:rPr lang="zh-CN" altLang="en-US" sz="2000" b="1"/>
              <a:t>点；</a:t>
            </a:r>
            <a:endParaRPr lang="en-US" altLang="zh-CN" sz="2000" b="1"/>
          </a:p>
          <a:p>
            <a:pPr lvl="1">
              <a:lnSpc>
                <a:spcPct val="130000"/>
              </a:lnSpc>
              <a:spcBef>
                <a:spcPts val="0"/>
              </a:spcBef>
              <a:buNone/>
            </a:pPr>
            <a:r>
              <a:rPr lang="en-US" altLang="zh-CN" sz="2000" b="1"/>
              <a:t>     3 </a:t>
            </a:r>
            <a:r>
              <a:rPr lang="zh-CN" altLang="en-US" sz="2000" b="1"/>
              <a:t>所用</a:t>
            </a:r>
            <a:r>
              <a:rPr lang="zh-CN" altLang="en-US" sz="2000" b="1">
                <a:latin typeface="+mn-ea"/>
              </a:rPr>
              <a:t>∞</a:t>
            </a:r>
            <a:r>
              <a:rPr lang="zh-CN" altLang="en-US" sz="2000" b="1"/>
              <a:t>点共线（</a:t>
            </a:r>
            <a:r>
              <a:rPr lang="zh-CN" altLang="en-US" sz="2000" b="1">
                <a:latin typeface="+mn-ea"/>
              </a:rPr>
              <a:t> ∞</a:t>
            </a:r>
            <a:r>
              <a:rPr lang="zh-CN" altLang="en-US" sz="2000" b="1"/>
              <a:t>线）；</a:t>
            </a:r>
            <a:endParaRPr lang="en-US" altLang="zh-CN" sz="2000" b="1"/>
          </a:p>
          <a:p>
            <a:pPr lvl="1">
              <a:lnSpc>
                <a:spcPct val="130000"/>
              </a:lnSpc>
              <a:spcBef>
                <a:spcPts val="0"/>
              </a:spcBef>
              <a:buNone/>
            </a:pPr>
            <a:r>
              <a:rPr lang="en-US" altLang="zh-CN" sz="2000" b="1"/>
              <a:t>     4 </a:t>
            </a:r>
            <a:r>
              <a:rPr lang="zh-CN" altLang="en-US" sz="2000" b="1"/>
              <a:t>各有限点都不在</a:t>
            </a:r>
            <a:r>
              <a:rPr lang="zh-CN" altLang="en-US" sz="2000" b="1">
                <a:latin typeface="+mn-ea"/>
              </a:rPr>
              <a:t>∞</a:t>
            </a:r>
            <a:r>
              <a:rPr lang="zh-CN" altLang="en-US" sz="2000" b="1"/>
              <a:t>线上。</a:t>
            </a:r>
          </a:p>
        </p:txBody>
      </p:sp>
      <p:sp>
        <p:nvSpPr>
          <p:cNvPr id="9"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6">
                                            <p:txEl>
                                              <p:pRg st="0" end="0"/>
                                            </p:txEl>
                                          </p:spTgt>
                                        </p:tgtEl>
                                        <p:attrNameLst>
                                          <p:attrName>style.visibility</p:attrName>
                                        </p:attrNameLst>
                                      </p:cBhvr>
                                      <p:to>
                                        <p:strVal val="visible"/>
                                      </p:to>
                                    </p:set>
                                    <p:animEffect transition="in" filter="wipe(down)">
                                      <p:cBhvr>
                                        <p:cTn id="12" dur="500"/>
                                        <p:tgtEl>
                                          <p:spTgt spid="46">
                                            <p:txEl>
                                              <p:pRg st="0" end="0"/>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46">
                                            <p:txEl>
                                              <p:pRg st="1" end="1"/>
                                            </p:txEl>
                                          </p:spTgt>
                                        </p:tgtEl>
                                        <p:attrNameLst>
                                          <p:attrName>style.visibility</p:attrName>
                                        </p:attrNameLst>
                                      </p:cBhvr>
                                      <p:to>
                                        <p:strVal val="visible"/>
                                      </p:to>
                                    </p:set>
                                    <p:animEffect transition="in" filter="wipe(down)">
                                      <p:cBhvr>
                                        <p:cTn id="15" dur="500"/>
                                        <p:tgtEl>
                                          <p:spTgt spid="46">
                                            <p:txEl>
                                              <p:pRg st="1" end="1"/>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46">
                                            <p:txEl>
                                              <p:pRg st="2" end="2"/>
                                            </p:txEl>
                                          </p:spTgt>
                                        </p:tgtEl>
                                        <p:attrNameLst>
                                          <p:attrName>style.visibility</p:attrName>
                                        </p:attrNameLst>
                                      </p:cBhvr>
                                      <p:to>
                                        <p:strVal val="visible"/>
                                      </p:to>
                                    </p:set>
                                    <p:animEffect transition="in" filter="wipe(down)">
                                      <p:cBhvr>
                                        <p:cTn id="18" dur="500"/>
                                        <p:tgtEl>
                                          <p:spTgt spid="46">
                                            <p:txEl>
                                              <p:pRg st="2" end="2"/>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46">
                                            <p:txEl>
                                              <p:pRg st="3" end="3"/>
                                            </p:txEl>
                                          </p:spTgt>
                                        </p:tgtEl>
                                        <p:attrNameLst>
                                          <p:attrName>style.visibility</p:attrName>
                                        </p:attrNameLst>
                                      </p:cBhvr>
                                      <p:to>
                                        <p:strVal val="visible"/>
                                      </p:to>
                                    </p:set>
                                    <p:animEffect transition="in" filter="wipe(down)">
                                      <p:cBhvr>
                                        <p:cTn id="21" dur="500"/>
                                        <p:tgtEl>
                                          <p:spTgt spid="46">
                                            <p:txEl>
                                              <p:pRg st="3" end="3"/>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46">
                                            <p:txEl>
                                              <p:pRg st="4" end="4"/>
                                            </p:txEl>
                                          </p:spTgt>
                                        </p:tgtEl>
                                        <p:attrNameLst>
                                          <p:attrName>style.visibility</p:attrName>
                                        </p:attrNameLst>
                                      </p:cBhvr>
                                      <p:to>
                                        <p:strVal val="visible"/>
                                      </p:to>
                                    </p:set>
                                    <p:animEffect transition="in" filter="wipe(down)">
                                      <p:cBhvr>
                                        <p:cTn id="24" dur="500"/>
                                        <p:tgtEl>
                                          <p:spTgt spid="4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46" grpId="0" build="allAtOnce"/>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pPr>
              <a:buClrTx/>
            </a:pPr>
            <a:r>
              <a:rPr lang="zh-CN" altLang="en-US"/>
              <a:t>约束</a:t>
            </a:r>
            <a:endParaRPr lang="en-US" altLang="zh-CN"/>
          </a:p>
          <a:p>
            <a:pPr lvl="1">
              <a:lnSpc>
                <a:spcPct val="150000"/>
              </a:lnSpc>
              <a:spcBef>
                <a:spcPts val="0"/>
              </a:spcBef>
            </a:pPr>
            <a:r>
              <a:rPr lang="zh-CN" altLang="en-US"/>
              <a:t>定义：减少自由度的装置，又叫联系</a:t>
            </a:r>
            <a:endParaRPr lang="en-US" altLang="zh-CN"/>
          </a:p>
          <a:p>
            <a:pPr lvl="1">
              <a:lnSpc>
                <a:spcPct val="150000"/>
              </a:lnSpc>
              <a:spcBef>
                <a:spcPts val="0"/>
              </a:spcBef>
              <a:buNone/>
            </a:pPr>
            <a:r>
              <a:rPr lang="zh-CN" altLang="en-US">
                <a:solidFill>
                  <a:srgbClr val="C00000"/>
                </a:solidFill>
              </a:rPr>
              <a:t>    复铰</a:t>
            </a:r>
            <a:r>
              <a:rPr lang="zh-CN" altLang="en-US"/>
              <a:t>：一个铰约束多个刚片</a:t>
            </a:r>
            <a:endParaRPr lang="en-US" altLang="zh-CN"/>
          </a:p>
          <a:p>
            <a:pPr lvl="1">
              <a:lnSpc>
                <a:spcPct val="150000"/>
              </a:lnSpc>
              <a:spcBef>
                <a:spcPts val="0"/>
              </a:spcBef>
              <a:buNone/>
            </a:pPr>
            <a:endParaRPr lang="en-US" altLang="zh-CN"/>
          </a:p>
          <a:p>
            <a:pPr lvl="1">
              <a:lnSpc>
                <a:spcPct val="150000"/>
              </a:lnSpc>
              <a:spcBef>
                <a:spcPts val="0"/>
              </a:spcBef>
              <a:buNone/>
            </a:pPr>
            <a:r>
              <a:rPr lang="en-US" altLang="zh-CN">
                <a:solidFill>
                  <a:srgbClr val="0033CC"/>
                </a:solidFill>
              </a:rPr>
              <a:t>     </a:t>
            </a:r>
            <a:r>
              <a:rPr lang="zh-CN" altLang="en-US">
                <a:solidFill>
                  <a:srgbClr val="0033CC"/>
                </a:solidFill>
              </a:rPr>
              <a:t>一个复铰相当于多少单铰？</a:t>
            </a:r>
            <a:endParaRPr lang="en-US" altLang="zh-CN">
              <a:solidFill>
                <a:srgbClr val="0033CC"/>
              </a:solidFill>
            </a:endParaRPr>
          </a:p>
          <a:p>
            <a:pPr lvl="1">
              <a:lnSpc>
                <a:spcPct val="150000"/>
              </a:lnSpc>
              <a:spcBef>
                <a:spcPts val="0"/>
              </a:spcBef>
              <a:buNone/>
            </a:pPr>
            <a:endParaRPr lang="en-US" altLang="zh-CN"/>
          </a:p>
          <a:p>
            <a:pPr lvl="1">
              <a:lnSpc>
                <a:spcPct val="150000"/>
              </a:lnSpc>
              <a:spcBef>
                <a:spcPts val="0"/>
              </a:spcBef>
              <a:buNone/>
            </a:pPr>
            <a:endParaRPr lang="en-US" altLang="zh-CN"/>
          </a:p>
          <a:p>
            <a:pPr lvl="1">
              <a:lnSpc>
                <a:spcPct val="150000"/>
              </a:lnSpc>
              <a:spcBef>
                <a:spcPts val="0"/>
              </a:spcBef>
              <a:buNone/>
            </a:pP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基本概念</a:t>
            </a:r>
            <a:endParaRPr lang="zh-CN" altLang="en-US" sz="3600" dirty="0"/>
          </a:p>
        </p:txBody>
      </p:sp>
      <p:sp>
        <p:nvSpPr>
          <p:cNvPr id="8" name="TextBox 7"/>
          <p:cNvSpPr txBox="1"/>
          <p:nvPr/>
        </p:nvSpPr>
        <p:spPr>
          <a:xfrm>
            <a:off x="1285852" y="4071942"/>
            <a:ext cx="2679773" cy="1631216"/>
          </a:xfrm>
          <a:prstGeom prst="rect">
            <a:avLst/>
          </a:prstGeom>
          <a:noFill/>
          <a:ln w="28575">
            <a:noFill/>
          </a:ln>
        </p:spPr>
        <p:txBody>
          <a:bodyPr wrap="square" rtlCol="0">
            <a:spAutoFit/>
          </a:bodyPr>
          <a:lstStyle/>
          <a:p>
            <a:r>
              <a:rPr lang="zh-CN" altLang="en-US" sz="2000" b="1">
                <a:latin typeface="+mn-ea"/>
                <a:cs typeface="Times New Roman" pitchFamily="18" charset="0"/>
              </a:rPr>
              <a:t>复铰约束后   </a:t>
            </a:r>
            <a:r>
              <a:rPr lang="zh-CN" altLang="en-US" sz="2000" b="1">
                <a:latin typeface="Times New Roman" pitchFamily="18" charset="0"/>
                <a:cs typeface="Times New Roman" pitchFamily="18" charset="0"/>
              </a:rPr>
              <a:t> </a:t>
            </a:r>
            <a:r>
              <a:rPr lang="en-US" altLang="zh-CN" sz="2000" b="1" i="1">
                <a:latin typeface="Times New Roman" pitchFamily="18" charset="0"/>
                <a:cs typeface="Times New Roman" pitchFamily="18" charset="0"/>
              </a:rPr>
              <a:t>N </a:t>
            </a:r>
            <a:r>
              <a:rPr lang="en-US" altLang="zh-CN" sz="2000" b="1">
                <a:latin typeface="+mn-ea"/>
                <a:cs typeface="Times New Roman" pitchFamily="18" charset="0"/>
              </a:rPr>
              <a:t>=5</a:t>
            </a:r>
          </a:p>
          <a:p>
            <a:endParaRPr lang="en-US" altLang="zh-CN" sz="2000" b="1">
              <a:latin typeface="+mn-ea"/>
              <a:cs typeface="Times New Roman" pitchFamily="18" charset="0"/>
            </a:endParaRPr>
          </a:p>
          <a:p>
            <a:pPr>
              <a:lnSpc>
                <a:spcPct val="150000"/>
              </a:lnSpc>
              <a:spcBef>
                <a:spcPct val="0"/>
              </a:spcBef>
            </a:pPr>
            <a:r>
              <a:rPr lang="zh-CN" altLang="en-US" sz="2000" b="1">
                <a:latin typeface="Times New Roman" pitchFamily="18" charset="0"/>
                <a:cs typeface="Times New Roman" pitchFamily="18" charset="0"/>
              </a:rPr>
              <a:t>连结</a:t>
            </a:r>
            <a:r>
              <a:rPr lang="en-US" altLang="zh-CN" sz="2000" b="1" i="1">
                <a:solidFill>
                  <a:srgbClr val="FF0000"/>
                </a:solidFill>
                <a:latin typeface="Times New Roman" pitchFamily="18" charset="0"/>
                <a:cs typeface="Times New Roman" pitchFamily="18" charset="0"/>
              </a:rPr>
              <a:t>n</a:t>
            </a:r>
            <a:r>
              <a:rPr lang="zh-CN" altLang="en-US" sz="2000" b="1">
                <a:latin typeface="+mn-ea"/>
              </a:rPr>
              <a:t>个杆件的复铰，</a:t>
            </a:r>
          </a:p>
          <a:p>
            <a:pPr>
              <a:lnSpc>
                <a:spcPct val="150000"/>
              </a:lnSpc>
              <a:spcBef>
                <a:spcPct val="0"/>
              </a:spcBef>
            </a:pPr>
            <a:r>
              <a:rPr lang="zh-CN" altLang="en-US" sz="2000" b="1">
                <a:latin typeface="+mn-ea"/>
              </a:rPr>
              <a:t>相当于</a:t>
            </a:r>
            <a:r>
              <a:rPr lang="en-US" altLang="zh-CN" sz="2000" b="1">
                <a:latin typeface="+mn-ea"/>
              </a:rPr>
              <a:t>(</a:t>
            </a:r>
            <a:r>
              <a:rPr lang="en-US" altLang="zh-CN" sz="2000" b="1" i="1">
                <a:solidFill>
                  <a:srgbClr val="FF0000"/>
                </a:solidFill>
                <a:latin typeface="Times New Roman" pitchFamily="18" charset="0"/>
                <a:cs typeface="Times New Roman" pitchFamily="18" charset="0"/>
              </a:rPr>
              <a:t>n</a:t>
            </a:r>
            <a:r>
              <a:rPr lang="zh-CN" altLang="en-US" sz="2000" b="1">
                <a:solidFill>
                  <a:srgbClr val="FF0000"/>
                </a:solidFill>
                <a:latin typeface="Times New Roman" pitchFamily="18" charset="0"/>
                <a:cs typeface="Times New Roman" pitchFamily="18" charset="0"/>
              </a:rPr>
              <a:t>－</a:t>
            </a:r>
            <a:r>
              <a:rPr lang="en-US" altLang="zh-CN" sz="2000" b="1">
                <a:solidFill>
                  <a:srgbClr val="FF0000"/>
                </a:solidFill>
                <a:latin typeface="Times New Roman" pitchFamily="18" charset="0"/>
                <a:cs typeface="Times New Roman" pitchFamily="18" charset="0"/>
              </a:rPr>
              <a:t>1</a:t>
            </a:r>
            <a:r>
              <a:rPr lang="en-US" altLang="zh-CN" sz="2000" b="1">
                <a:latin typeface="+mn-ea"/>
              </a:rPr>
              <a:t>)</a:t>
            </a:r>
            <a:r>
              <a:rPr lang="zh-CN" altLang="en-US" sz="2000" b="1">
                <a:latin typeface="+mn-ea"/>
              </a:rPr>
              <a:t>个单铰。</a:t>
            </a:r>
          </a:p>
        </p:txBody>
      </p:sp>
      <p:pic>
        <p:nvPicPr>
          <p:cNvPr id="35" name="Picture 16"/>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3986242" y="2571744"/>
            <a:ext cx="4800600" cy="3770313"/>
          </a:xfrm>
          <a:prstGeom prst="rect">
            <a:avLst/>
          </a:prstGeom>
          <a:noFill/>
        </p:spPr>
      </p:pic>
      <p:sp>
        <p:nvSpPr>
          <p:cNvPr id="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anim calcmode="lin" valueType="num">
                                      <p:cBhvr additive="base">
                                        <p:cTn id="11"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anim calcmode="lin" valueType="num">
                                      <p:cBhvr additive="base">
                                        <p:cTn id="1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algn="r"/>
            <a:r>
              <a:rPr lang="zh-CN" altLang="en-US" sz="3600"/>
              <a:t>基本概念</a:t>
            </a:r>
            <a:endParaRPr lang="zh-CN" altLang="en-US" sz="3600" dirty="0"/>
          </a:p>
        </p:txBody>
      </p:sp>
      <p:sp>
        <p:nvSpPr>
          <p:cNvPr id="8" name="TextBox 7"/>
          <p:cNvSpPr txBox="1"/>
          <p:nvPr/>
        </p:nvSpPr>
        <p:spPr>
          <a:xfrm>
            <a:off x="1214414" y="5075179"/>
            <a:ext cx="3000396" cy="1354217"/>
          </a:xfrm>
          <a:prstGeom prst="rect">
            <a:avLst/>
          </a:prstGeom>
          <a:noFill/>
          <a:ln w="28575">
            <a:noFill/>
          </a:ln>
        </p:spPr>
        <p:txBody>
          <a:bodyPr wrap="square" rtlCol="0">
            <a:spAutoFit/>
          </a:bodyPr>
          <a:lstStyle/>
          <a:p>
            <a:r>
              <a:rPr lang="zh-CN" altLang="en-US" sz="2000" b="1">
                <a:latin typeface="+mn-ea"/>
                <a:cs typeface="Times New Roman" pitchFamily="18" charset="0"/>
              </a:rPr>
              <a:t>复刚结点约束后 </a:t>
            </a:r>
            <a:r>
              <a:rPr lang="en-US" altLang="zh-CN" sz="2000" b="1" i="1">
                <a:latin typeface="Times New Roman" pitchFamily="18" charset="0"/>
                <a:cs typeface="Times New Roman" pitchFamily="18" charset="0"/>
              </a:rPr>
              <a:t>N </a:t>
            </a:r>
            <a:r>
              <a:rPr lang="en-US" altLang="zh-CN" sz="2000" b="1">
                <a:latin typeface="+mn-ea"/>
                <a:cs typeface="Times New Roman" pitchFamily="18" charset="0"/>
              </a:rPr>
              <a:t>= 3;</a:t>
            </a:r>
          </a:p>
          <a:p>
            <a:pPr>
              <a:lnSpc>
                <a:spcPct val="130000"/>
              </a:lnSpc>
              <a:spcBef>
                <a:spcPts val="1200"/>
              </a:spcBef>
            </a:pPr>
            <a:r>
              <a:rPr lang="zh-CN" altLang="en-US" sz="2000" b="1">
                <a:latin typeface="Times New Roman" pitchFamily="18" charset="0"/>
                <a:cs typeface="Times New Roman" pitchFamily="18" charset="0"/>
              </a:rPr>
              <a:t>连结</a:t>
            </a:r>
            <a:r>
              <a:rPr lang="en-US" altLang="zh-CN" sz="2000" b="1" i="1">
                <a:solidFill>
                  <a:srgbClr val="FF0000"/>
                </a:solidFill>
                <a:latin typeface="Times New Roman" pitchFamily="18" charset="0"/>
                <a:cs typeface="Times New Roman" pitchFamily="18" charset="0"/>
              </a:rPr>
              <a:t>n</a:t>
            </a:r>
            <a:r>
              <a:rPr lang="zh-CN" altLang="en-US" sz="2000" b="1">
                <a:latin typeface="+mn-ea"/>
              </a:rPr>
              <a:t>个杆件的复刚结点，</a:t>
            </a:r>
          </a:p>
          <a:p>
            <a:pPr>
              <a:lnSpc>
                <a:spcPct val="130000"/>
              </a:lnSpc>
              <a:spcBef>
                <a:spcPct val="0"/>
              </a:spcBef>
            </a:pPr>
            <a:r>
              <a:rPr lang="zh-CN" altLang="en-US" sz="2000" b="1">
                <a:latin typeface="+mn-ea"/>
              </a:rPr>
              <a:t>相当于</a:t>
            </a:r>
            <a:r>
              <a:rPr lang="en-US" altLang="zh-CN" sz="2000" b="1">
                <a:latin typeface="+mn-ea"/>
              </a:rPr>
              <a:t>(</a:t>
            </a:r>
            <a:r>
              <a:rPr lang="en-US" altLang="zh-CN" sz="2000" b="1" i="1">
                <a:solidFill>
                  <a:srgbClr val="FF0000"/>
                </a:solidFill>
                <a:latin typeface="Times New Roman" pitchFamily="18" charset="0"/>
                <a:cs typeface="Times New Roman" pitchFamily="18" charset="0"/>
              </a:rPr>
              <a:t>n</a:t>
            </a:r>
            <a:r>
              <a:rPr lang="zh-CN" altLang="en-US" sz="2000" b="1">
                <a:solidFill>
                  <a:srgbClr val="FF0000"/>
                </a:solidFill>
                <a:latin typeface="Times New Roman" pitchFamily="18" charset="0"/>
                <a:cs typeface="Times New Roman" pitchFamily="18" charset="0"/>
              </a:rPr>
              <a:t>－</a:t>
            </a:r>
            <a:r>
              <a:rPr lang="en-US" altLang="zh-CN" sz="2000" b="1">
                <a:solidFill>
                  <a:srgbClr val="FF0000"/>
                </a:solidFill>
                <a:latin typeface="Times New Roman" pitchFamily="18" charset="0"/>
                <a:cs typeface="Times New Roman" pitchFamily="18" charset="0"/>
              </a:rPr>
              <a:t>1</a:t>
            </a:r>
            <a:r>
              <a:rPr lang="en-US" altLang="zh-CN" sz="2000" b="1">
                <a:latin typeface="+mn-ea"/>
              </a:rPr>
              <a:t>)</a:t>
            </a:r>
            <a:r>
              <a:rPr lang="zh-CN" altLang="en-US" sz="2000" b="1">
                <a:latin typeface="+mn-ea"/>
              </a:rPr>
              <a:t>个刚结点。</a:t>
            </a:r>
          </a:p>
        </p:txBody>
      </p:sp>
      <p:pic>
        <p:nvPicPr>
          <p:cNvPr id="1026" name="Picture 2"/>
          <p:cNvPicPr>
            <a:picLocks noChangeAspect="1" noChangeArrowheads="1"/>
          </p:cNvPicPr>
          <p:nvPr/>
        </p:nvPicPr>
        <p:blipFill>
          <a:blip r:embed="rId3" cstate="print"/>
          <a:srcRect/>
          <a:stretch>
            <a:fillRect/>
          </a:stretch>
        </p:blipFill>
        <p:spPr bwMode="auto">
          <a:xfrm>
            <a:off x="1428728" y="2643198"/>
            <a:ext cx="2543175" cy="2286000"/>
          </a:xfrm>
          <a:prstGeom prst="rect">
            <a:avLst/>
          </a:prstGeom>
          <a:noFill/>
          <a:ln w="9525">
            <a:noFill/>
            <a:miter lim="800000"/>
            <a:headEnd/>
            <a:tailEnd/>
          </a:ln>
          <a:effectLst/>
        </p:spPr>
      </p:pic>
      <p:sp>
        <p:nvSpPr>
          <p:cNvPr id="9" name="TextBox 8"/>
          <p:cNvSpPr txBox="1"/>
          <p:nvPr/>
        </p:nvSpPr>
        <p:spPr>
          <a:xfrm>
            <a:off x="5214942" y="5072074"/>
            <a:ext cx="3000396" cy="1661993"/>
          </a:xfrm>
          <a:prstGeom prst="rect">
            <a:avLst/>
          </a:prstGeom>
          <a:noFill/>
          <a:ln w="28575">
            <a:noFill/>
          </a:ln>
        </p:spPr>
        <p:txBody>
          <a:bodyPr wrap="square" rtlCol="0">
            <a:spAutoFit/>
          </a:bodyPr>
          <a:lstStyle/>
          <a:p>
            <a:r>
              <a:rPr lang="zh-CN" altLang="en-US" sz="2000" b="1">
                <a:latin typeface="+mn-ea"/>
                <a:cs typeface="Times New Roman" pitchFamily="18" charset="0"/>
              </a:rPr>
              <a:t>三刚片本有</a:t>
            </a:r>
            <a:r>
              <a:rPr lang="en-US" altLang="zh-CN" sz="2000" b="1">
                <a:latin typeface="+mn-ea"/>
                <a:cs typeface="Times New Roman" pitchFamily="18" charset="0"/>
              </a:rPr>
              <a:t>9</a:t>
            </a:r>
            <a:r>
              <a:rPr lang="zh-CN" altLang="en-US" sz="2000" b="1">
                <a:latin typeface="+mn-ea"/>
                <a:cs typeface="Times New Roman" pitchFamily="18" charset="0"/>
              </a:rPr>
              <a:t>个自由度，复链杆约束后 </a:t>
            </a:r>
            <a:r>
              <a:rPr lang="en-US" altLang="zh-CN" sz="2000" b="1" i="1">
                <a:latin typeface="Times New Roman" pitchFamily="18" charset="0"/>
                <a:cs typeface="Times New Roman" pitchFamily="18" charset="0"/>
              </a:rPr>
              <a:t>N </a:t>
            </a:r>
            <a:r>
              <a:rPr lang="en-US" altLang="zh-CN" sz="2000" b="1">
                <a:latin typeface="+mn-ea"/>
                <a:cs typeface="Times New Roman" pitchFamily="18" charset="0"/>
              </a:rPr>
              <a:t>= 6;</a:t>
            </a:r>
          </a:p>
          <a:p>
            <a:pPr>
              <a:lnSpc>
                <a:spcPct val="130000"/>
              </a:lnSpc>
              <a:spcBef>
                <a:spcPts val="1200"/>
              </a:spcBef>
            </a:pPr>
            <a:r>
              <a:rPr lang="zh-CN" altLang="en-US" sz="2000" b="1">
                <a:latin typeface="Times New Roman" pitchFamily="18" charset="0"/>
                <a:cs typeface="Times New Roman" pitchFamily="18" charset="0"/>
              </a:rPr>
              <a:t>连结</a:t>
            </a:r>
            <a:r>
              <a:rPr lang="en-US" altLang="zh-CN" sz="2000" b="1" i="1">
                <a:solidFill>
                  <a:srgbClr val="FF0000"/>
                </a:solidFill>
                <a:latin typeface="Times New Roman" pitchFamily="18" charset="0"/>
                <a:cs typeface="Times New Roman" pitchFamily="18" charset="0"/>
              </a:rPr>
              <a:t>n</a:t>
            </a:r>
            <a:r>
              <a:rPr lang="zh-CN" altLang="en-US" sz="2000" b="1">
                <a:latin typeface="+mn-ea"/>
              </a:rPr>
              <a:t>个铰点的复链杆，</a:t>
            </a:r>
          </a:p>
          <a:p>
            <a:pPr>
              <a:lnSpc>
                <a:spcPct val="130000"/>
              </a:lnSpc>
              <a:spcBef>
                <a:spcPct val="0"/>
              </a:spcBef>
            </a:pPr>
            <a:r>
              <a:rPr lang="zh-CN" altLang="en-US" sz="2000" b="1">
                <a:latin typeface="+mn-ea"/>
              </a:rPr>
              <a:t>相当于</a:t>
            </a:r>
            <a:r>
              <a:rPr lang="en-US" altLang="zh-CN" sz="2000" b="1">
                <a:latin typeface="+mn-ea"/>
              </a:rPr>
              <a:t>(</a:t>
            </a:r>
            <a:r>
              <a:rPr lang="en-US" altLang="zh-CN" sz="2000" b="1">
                <a:solidFill>
                  <a:srgbClr val="FF0000"/>
                </a:solidFill>
                <a:latin typeface="+mn-ea"/>
              </a:rPr>
              <a:t>2</a:t>
            </a:r>
            <a:r>
              <a:rPr lang="en-US" altLang="zh-CN" sz="2000" b="1" i="1">
                <a:solidFill>
                  <a:srgbClr val="FF0000"/>
                </a:solidFill>
                <a:latin typeface="Times New Roman" pitchFamily="18" charset="0"/>
                <a:cs typeface="Times New Roman" pitchFamily="18" charset="0"/>
              </a:rPr>
              <a:t>n</a:t>
            </a:r>
            <a:r>
              <a:rPr lang="zh-CN" altLang="en-US" sz="2000" b="1">
                <a:solidFill>
                  <a:srgbClr val="FF0000"/>
                </a:solidFill>
                <a:latin typeface="Times New Roman" pitchFamily="18" charset="0"/>
                <a:cs typeface="Times New Roman" pitchFamily="18" charset="0"/>
              </a:rPr>
              <a:t>－</a:t>
            </a:r>
            <a:r>
              <a:rPr lang="en-US" altLang="zh-CN" sz="2000" b="1">
                <a:solidFill>
                  <a:srgbClr val="FF0000"/>
                </a:solidFill>
                <a:latin typeface="Times New Roman" pitchFamily="18" charset="0"/>
                <a:cs typeface="Times New Roman" pitchFamily="18" charset="0"/>
              </a:rPr>
              <a:t>3</a:t>
            </a:r>
            <a:r>
              <a:rPr lang="en-US" altLang="zh-CN" sz="2000" b="1">
                <a:latin typeface="+mn-ea"/>
              </a:rPr>
              <a:t>)</a:t>
            </a:r>
            <a:r>
              <a:rPr lang="zh-CN" altLang="en-US" sz="2000" b="1">
                <a:latin typeface="+mn-ea"/>
              </a:rPr>
              <a:t>个链杆。</a:t>
            </a:r>
          </a:p>
        </p:txBody>
      </p:sp>
      <p:sp>
        <p:nvSpPr>
          <p:cNvPr id="3" name="内容占位符 2"/>
          <p:cNvSpPr>
            <a:spLocks noGrp="1"/>
          </p:cNvSpPr>
          <p:nvPr>
            <p:ph idx="1"/>
          </p:nvPr>
        </p:nvSpPr>
        <p:spPr>
          <a:xfrm>
            <a:off x="468313" y="1268413"/>
            <a:ext cx="8207375" cy="1589083"/>
          </a:xfrm>
          <a:ln>
            <a:noFill/>
          </a:ln>
        </p:spPr>
        <p:txBody>
          <a:bodyPr/>
          <a:lstStyle/>
          <a:p>
            <a:pPr>
              <a:buClrTx/>
            </a:pPr>
            <a:r>
              <a:rPr lang="zh-CN" altLang="en-US"/>
              <a:t>约束</a:t>
            </a:r>
            <a:endParaRPr lang="en-US" altLang="zh-CN"/>
          </a:p>
          <a:p>
            <a:pPr lvl="1">
              <a:lnSpc>
                <a:spcPct val="150000"/>
              </a:lnSpc>
              <a:spcBef>
                <a:spcPts val="0"/>
              </a:spcBef>
            </a:pPr>
            <a:r>
              <a:rPr lang="zh-CN" altLang="en-US"/>
              <a:t>定义：减少自由度的装置，又叫联系</a:t>
            </a:r>
            <a:endParaRPr lang="en-US" altLang="zh-CN"/>
          </a:p>
          <a:p>
            <a:pPr lvl="1">
              <a:lnSpc>
                <a:spcPct val="150000"/>
              </a:lnSpc>
              <a:spcBef>
                <a:spcPts val="0"/>
              </a:spcBef>
              <a:buNone/>
            </a:pPr>
            <a:r>
              <a:rPr lang="zh-CN" altLang="en-US">
                <a:solidFill>
                  <a:srgbClr val="C00000"/>
                </a:solidFill>
              </a:rPr>
              <a:t>    复刚结点</a:t>
            </a:r>
            <a:endParaRPr lang="en-US" altLang="zh-CN">
              <a:solidFill>
                <a:srgbClr val="C00000"/>
              </a:solidFill>
            </a:endParaRPr>
          </a:p>
          <a:p>
            <a:pPr lvl="1">
              <a:lnSpc>
                <a:spcPct val="150000"/>
              </a:lnSpc>
              <a:spcBef>
                <a:spcPts val="0"/>
              </a:spcBef>
              <a:buNone/>
            </a:pPr>
            <a:endParaRPr lang="en-US" altLang="zh-CN"/>
          </a:p>
          <a:p>
            <a:pPr lvl="1">
              <a:lnSpc>
                <a:spcPct val="150000"/>
              </a:lnSpc>
              <a:spcBef>
                <a:spcPts val="0"/>
              </a:spcBef>
              <a:buNone/>
            </a:pPr>
            <a:r>
              <a:rPr lang="en-US" altLang="zh-CN">
                <a:solidFill>
                  <a:srgbClr val="0033CC"/>
                </a:solidFill>
              </a:rPr>
              <a:t>     </a:t>
            </a:r>
          </a:p>
          <a:p>
            <a:pPr lvl="1">
              <a:lnSpc>
                <a:spcPct val="150000"/>
              </a:lnSpc>
              <a:spcBef>
                <a:spcPts val="0"/>
              </a:spcBef>
              <a:buNone/>
            </a:pPr>
            <a:endParaRPr lang="en-US" altLang="zh-CN"/>
          </a:p>
          <a:p>
            <a:pPr lvl="1">
              <a:lnSpc>
                <a:spcPct val="150000"/>
              </a:lnSpc>
              <a:spcBef>
                <a:spcPts val="0"/>
              </a:spcBef>
              <a:buNone/>
            </a:pPr>
            <a:endParaRPr lang="en-US" altLang="zh-CN"/>
          </a:p>
          <a:p>
            <a:pPr lvl="1">
              <a:lnSpc>
                <a:spcPct val="150000"/>
              </a:lnSpc>
              <a:spcBef>
                <a:spcPts val="0"/>
              </a:spcBef>
              <a:buNone/>
            </a:pPr>
            <a:endParaRPr lang="en-US" altLang="zh-CN"/>
          </a:p>
        </p:txBody>
      </p:sp>
      <p:grpSp>
        <p:nvGrpSpPr>
          <p:cNvPr id="24" name="组合 23"/>
          <p:cNvGrpSpPr/>
          <p:nvPr/>
        </p:nvGrpSpPr>
        <p:grpSpPr>
          <a:xfrm>
            <a:off x="5143504" y="2262430"/>
            <a:ext cx="3500462" cy="2641116"/>
            <a:chOff x="5143504" y="2262430"/>
            <a:chExt cx="3500462" cy="2641116"/>
          </a:xfrm>
        </p:grpSpPr>
        <p:pic>
          <p:nvPicPr>
            <p:cNvPr id="1027" name="Picture 3"/>
            <p:cNvPicPr>
              <a:picLocks noChangeAspect="1" noChangeArrowheads="1"/>
            </p:cNvPicPr>
            <p:nvPr/>
          </p:nvPicPr>
          <p:blipFill>
            <a:blip r:embed="rId4" cstate="print"/>
            <a:srcRect t="5313"/>
            <a:stretch>
              <a:fillRect/>
            </a:stretch>
          </p:blipFill>
          <p:spPr bwMode="auto">
            <a:xfrm>
              <a:off x="5143504" y="2357430"/>
              <a:ext cx="3500462" cy="2546116"/>
            </a:xfrm>
            <a:prstGeom prst="rect">
              <a:avLst/>
            </a:prstGeom>
            <a:noFill/>
            <a:ln w="9525">
              <a:noFill/>
              <a:miter lim="800000"/>
              <a:headEnd/>
              <a:tailEnd/>
            </a:ln>
            <a:effectLst/>
          </p:spPr>
        </p:pic>
        <p:sp>
          <p:nvSpPr>
            <p:cNvPr id="11" name="椭圆 10"/>
            <p:cNvSpPr/>
            <p:nvPr/>
          </p:nvSpPr>
          <p:spPr bwMode="auto">
            <a:xfrm>
              <a:off x="5817878" y="3500438"/>
              <a:ext cx="111444" cy="111444"/>
            </a:xfrm>
            <a:prstGeom prst="ellipse">
              <a:avLst/>
            </a:prstGeom>
            <a:solidFill>
              <a:schemeClr val="bg1"/>
            </a:solid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12" name="椭圆 11"/>
            <p:cNvSpPr/>
            <p:nvPr/>
          </p:nvSpPr>
          <p:spPr bwMode="auto">
            <a:xfrm>
              <a:off x="6687009" y="3357562"/>
              <a:ext cx="111444" cy="111444"/>
            </a:xfrm>
            <a:prstGeom prst="ellipse">
              <a:avLst/>
            </a:prstGeom>
            <a:solidFill>
              <a:schemeClr val="bg1"/>
            </a:solid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13" name="椭圆 12"/>
            <p:cNvSpPr/>
            <p:nvPr/>
          </p:nvSpPr>
          <p:spPr bwMode="auto">
            <a:xfrm>
              <a:off x="7556328" y="3071810"/>
              <a:ext cx="111444" cy="111444"/>
            </a:xfrm>
            <a:prstGeom prst="ellipse">
              <a:avLst/>
            </a:prstGeom>
            <a:solidFill>
              <a:schemeClr val="bg1"/>
            </a:solid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14" name="TextBox 13"/>
            <p:cNvSpPr txBox="1"/>
            <p:nvPr/>
          </p:nvSpPr>
          <p:spPr>
            <a:xfrm>
              <a:off x="5331821" y="3357562"/>
              <a:ext cx="442750" cy="400110"/>
            </a:xfrm>
            <a:prstGeom prst="rect">
              <a:avLst/>
            </a:prstGeom>
            <a:noFill/>
            <a:ln w="28575">
              <a:noFill/>
            </a:ln>
          </p:spPr>
          <p:txBody>
            <a:bodyPr wrap="none" rtlCol="0">
              <a:spAutoFit/>
            </a:bodyPr>
            <a:lstStyle/>
            <a:p>
              <a:r>
                <a:rPr lang="en-US" altLang="zh-CN" sz="2000" b="1"/>
                <a:t>Ⅰ</a:t>
              </a:r>
              <a:endParaRPr lang="zh-CN" altLang="en-US" sz="2000" b="1"/>
            </a:p>
          </p:txBody>
        </p:sp>
        <p:sp>
          <p:nvSpPr>
            <p:cNvPr id="15" name="TextBox 14"/>
            <p:cNvSpPr txBox="1"/>
            <p:nvPr/>
          </p:nvSpPr>
          <p:spPr>
            <a:xfrm>
              <a:off x="6832207" y="3858004"/>
              <a:ext cx="442750" cy="400110"/>
            </a:xfrm>
            <a:prstGeom prst="rect">
              <a:avLst/>
            </a:prstGeom>
            <a:noFill/>
            <a:ln w="28575">
              <a:noFill/>
            </a:ln>
          </p:spPr>
          <p:txBody>
            <a:bodyPr wrap="none" rtlCol="0">
              <a:spAutoFit/>
            </a:bodyPr>
            <a:lstStyle/>
            <a:p>
              <a:r>
                <a:rPr lang="en-US" altLang="zh-CN" sz="2000" b="1"/>
                <a:t>Ⅱ</a:t>
              </a:r>
              <a:endParaRPr lang="zh-CN" altLang="en-US" sz="2000" b="1"/>
            </a:p>
          </p:txBody>
        </p:sp>
        <p:sp>
          <p:nvSpPr>
            <p:cNvPr id="18" name="TextBox 17"/>
            <p:cNvSpPr txBox="1"/>
            <p:nvPr/>
          </p:nvSpPr>
          <p:spPr>
            <a:xfrm>
              <a:off x="7772588" y="2957452"/>
              <a:ext cx="442750" cy="400110"/>
            </a:xfrm>
            <a:prstGeom prst="rect">
              <a:avLst/>
            </a:prstGeom>
            <a:noFill/>
            <a:ln w="28575">
              <a:noFill/>
            </a:ln>
          </p:spPr>
          <p:txBody>
            <a:bodyPr wrap="none" rtlCol="0">
              <a:spAutoFit/>
            </a:bodyPr>
            <a:lstStyle/>
            <a:p>
              <a:r>
                <a:rPr lang="en-US" altLang="zh-CN" sz="2000" b="1"/>
                <a:t>Ⅲ</a:t>
              </a:r>
              <a:endParaRPr lang="zh-CN" altLang="en-US" sz="2000" b="1"/>
            </a:p>
          </p:txBody>
        </p:sp>
        <p:sp>
          <p:nvSpPr>
            <p:cNvPr id="22" name="矩形 21"/>
            <p:cNvSpPr/>
            <p:nvPr/>
          </p:nvSpPr>
          <p:spPr>
            <a:xfrm>
              <a:off x="5189341" y="2262430"/>
              <a:ext cx="954107" cy="400110"/>
            </a:xfrm>
            <a:prstGeom prst="rect">
              <a:avLst/>
            </a:prstGeom>
          </p:spPr>
          <p:txBody>
            <a:bodyPr wrap="none">
              <a:spAutoFit/>
            </a:bodyPr>
            <a:lstStyle/>
            <a:p>
              <a:r>
                <a:rPr lang="zh-CN" altLang="en-US" sz="2000" b="1" kern="0">
                  <a:solidFill>
                    <a:srgbClr val="C00000"/>
                  </a:solidFill>
                </a:rPr>
                <a:t>复链杆</a:t>
              </a:r>
              <a:endParaRPr lang="zh-CN" altLang="en-US" sz="2000"/>
            </a:p>
          </p:txBody>
        </p:sp>
      </p:grpSp>
      <p:sp>
        <p:nvSpPr>
          <p:cNvPr id="1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 calcmode="lin" valueType="num">
                                      <p:cBhvr additive="base">
                                        <p:cTn id="15"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wipe(down)">
                                      <p:cBhvr>
                                        <p:cTn id="27" dur="500"/>
                                        <p:tgtEl>
                                          <p:spTgt spid="9">
                                            <p:txEl>
                                              <p:pRg st="0" end="0"/>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9">
                                            <p:txEl>
                                              <p:pRg st="1" end="1"/>
                                            </p:txEl>
                                          </p:spTgt>
                                        </p:tgtEl>
                                        <p:attrNameLst>
                                          <p:attrName>style.visibility</p:attrName>
                                        </p:attrNameLst>
                                      </p:cBhvr>
                                      <p:to>
                                        <p:strVal val="visible"/>
                                      </p:to>
                                    </p:set>
                                    <p:animEffect transition="in" filter="wipe(down)">
                                      <p:cBhvr>
                                        <p:cTn id="30" dur="500"/>
                                        <p:tgtEl>
                                          <p:spTgt spid="9">
                                            <p:txEl>
                                              <p:pRg st="1" end="1"/>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9">
                                            <p:txEl>
                                              <p:pRg st="2" end="2"/>
                                            </p:txEl>
                                          </p:spTgt>
                                        </p:tgtEl>
                                        <p:attrNameLst>
                                          <p:attrName>style.visibility</p:attrName>
                                        </p:attrNameLst>
                                      </p:cBhvr>
                                      <p:to>
                                        <p:strVal val="visible"/>
                                      </p:to>
                                    </p:set>
                                    <p:animEffect transition="in" filter="wipe(down)">
                                      <p:cBhvr>
                                        <p:cTn id="33"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9"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algn="r"/>
            <a:r>
              <a:rPr lang="zh-CN" altLang="en-US" sz="3600"/>
              <a:t>基本概念</a:t>
            </a:r>
            <a:endParaRPr lang="zh-CN" altLang="en-US" sz="3600" dirty="0"/>
          </a:p>
        </p:txBody>
      </p:sp>
      <p:sp>
        <p:nvSpPr>
          <p:cNvPr id="8" name="TextBox 7"/>
          <p:cNvSpPr txBox="1"/>
          <p:nvPr/>
        </p:nvSpPr>
        <p:spPr>
          <a:xfrm>
            <a:off x="952788" y="5075179"/>
            <a:ext cx="3643338" cy="1277273"/>
          </a:xfrm>
          <a:prstGeom prst="rect">
            <a:avLst/>
          </a:prstGeom>
          <a:noFill/>
          <a:ln w="28575">
            <a:noFill/>
          </a:ln>
        </p:spPr>
        <p:txBody>
          <a:bodyPr wrap="square" rtlCol="0">
            <a:spAutoFit/>
          </a:bodyPr>
          <a:lstStyle/>
          <a:p>
            <a:pPr>
              <a:lnSpc>
                <a:spcPct val="130000"/>
              </a:lnSpc>
            </a:pPr>
            <a:r>
              <a:rPr lang="en-US" altLang="zh-CN" sz="2000" b="1">
                <a:latin typeface="+mn-ea"/>
              </a:rPr>
              <a:t>1 </a:t>
            </a:r>
            <a:r>
              <a:rPr lang="zh-CN" altLang="en-US" sz="2000" b="1">
                <a:latin typeface="+mn-ea"/>
              </a:rPr>
              <a:t>杆：限制 </a:t>
            </a:r>
            <a:r>
              <a:rPr lang="en-US" altLang="zh-CN" sz="2000" b="1" i="1">
                <a:latin typeface="Times New Roman" pitchFamily="18" charset="0"/>
                <a:cs typeface="Times New Roman" pitchFamily="18" charset="0"/>
              </a:rPr>
              <a:t>A </a:t>
            </a:r>
            <a:r>
              <a:rPr lang="zh-CN" altLang="en-US" sz="2000" b="1">
                <a:latin typeface="+mn-ea"/>
              </a:rPr>
              <a:t>在</a:t>
            </a:r>
            <a:r>
              <a:rPr lang="en-US" altLang="zh-CN" sz="2000" b="1">
                <a:latin typeface="Times New Roman" pitchFamily="18" charset="0"/>
                <a:cs typeface="Times New Roman" pitchFamily="18" charset="0"/>
              </a:rPr>
              <a:t>Ⅰ</a:t>
            </a:r>
            <a:r>
              <a:rPr lang="zh-CN" altLang="en-US" sz="2000" b="1"/>
              <a:t>方向上运动；</a:t>
            </a:r>
            <a:endParaRPr lang="en-US" altLang="zh-CN" sz="2000" b="1"/>
          </a:p>
          <a:p>
            <a:pPr>
              <a:lnSpc>
                <a:spcPct val="130000"/>
              </a:lnSpc>
            </a:pPr>
            <a:r>
              <a:rPr lang="en-US" altLang="zh-CN" sz="2000" b="1">
                <a:latin typeface="+mn-ea"/>
              </a:rPr>
              <a:t>2 </a:t>
            </a:r>
            <a:r>
              <a:rPr lang="zh-CN" altLang="en-US" sz="2000" b="1">
                <a:latin typeface="+mn-ea"/>
              </a:rPr>
              <a:t>杆：限制 </a:t>
            </a:r>
            <a:r>
              <a:rPr lang="en-US" altLang="zh-CN" sz="2000" b="1" i="1">
                <a:latin typeface="Times New Roman" pitchFamily="18" charset="0"/>
                <a:cs typeface="Times New Roman" pitchFamily="18" charset="0"/>
              </a:rPr>
              <a:t>A </a:t>
            </a:r>
            <a:r>
              <a:rPr lang="zh-CN" altLang="en-US" sz="2000" b="1">
                <a:latin typeface="Times New Roman" pitchFamily="18" charset="0"/>
                <a:cs typeface="Times New Roman" pitchFamily="18" charset="0"/>
              </a:rPr>
              <a:t>在</a:t>
            </a:r>
            <a:r>
              <a:rPr lang="en-US" altLang="zh-CN" sz="2000" b="1"/>
              <a:t>Ⅱ</a:t>
            </a:r>
            <a:r>
              <a:rPr lang="zh-CN" altLang="en-US" sz="2000" b="1">
                <a:latin typeface="+mn-ea"/>
              </a:rPr>
              <a:t>方向上运动；</a:t>
            </a:r>
            <a:endParaRPr lang="en-US" altLang="zh-CN" sz="2000" b="1">
              <a:latin typeface="+mn-ea"/>
            </a:endParaRPr>
          </a:p>
          <a:p>
            <a:pPr>
              <a:spcBef>
                <a:spcPts val="600"/>
              </a:spcBef>
            </a:pPr>
            <a:r>
              <a:rPr lang="zh-CN" altLang="en-US" sz="2000" b="1"/>
              <a:t>结论：</a:t>
            </a:r>
            <a:r>
              <a:rPr lang="en-US" altLang="zh-CN" sz="2000" b="1"/>
              <a:t>1</a:t>
            </a:r>
            <a:r>
              <a:rPr lang="zh-CN" altLang="en-US" sz="2000" b="1"/>
              <a:t>、</a:t>
            </a:r>
            <a:r>
              <a:rPr lang="en-US" altLang="zh-CN" sz="2000" b="1"/>
              <a:t>2</a:t>
            </a:r>
            <a:r>
              <a:rPr lang="zh-CN" altLang="en-US" sz="2000" b="1"/>
              <a:t>两杆非多余约束。</a:t>
            </a:r>
          </a:p>
        </p:txBody>
      </p:sp>
      <p:sp>
        <p:nvSpPr>
          <p:cNvPr id="3" name="内容占位符 2"/>
          <p:cNvSpPr>
            <a:spLocks noGrp="1"/>
          </p:cNvSpPr>
          <p:nvPr>
            <p:ph idx="1"/>
          </p:nvPr>
        </p:nvSpPr>
        <p:spPr>
          <a:xfrm>
            <a:off x="468313" y="1268413"/>
            <a:ext cx="8207375" cy="1589083"/>
          </a:xfrm>
          <a:ln>
            <a:noFill/>
          </a:ln>
        </p:spPr>
        <p:txBody>
          <a:bodyPr/>
          <a:lstStyle/>
          <a:p>
            <a:pPr>
              <a:buClrTx/>
            </a:pPr>
            <a:r>
              <a:rPr lang="zh-CN" altLang="en-US"/>
              <a:t>多余约束</a:t>
            </a:r>
            <a:endParaRPr lang="en-US" altLang="zh-CN"/>
          </a:p>
          <a:p>
            <a:pPr lvl="1">
              <a:lnSpc>
                <a:spcPct val="150000"/>
              </a:lnSpc>
              <a:spcBef>
                <a:spcPts val="0"/>
              </a:spcBef>
            </a:pPr>
            <a:r>
              <a:rPr lang="zh-CN" altLang="en-US"/>
              <a:t>定义：并不能使体系自由度减少的约束称为多余约束</a:t>
            </a:r>
            <a:endParaRPr lang="en-US" altLang="zh-CN"/>
          </a:p>
          <a:p>
            <a:pPr lvl="1">
              <a:lnSpc>
                <a:spcPct val="150000"/>
              </a:lnSpc>
              <a:spcBef>
                <a:spcPts val="0"/>
              </a:spcBef>
              <a:buNone/>
            </a:pPr>
            <a:r>
              <a:rPr lang="zh-CN" altLang="en-US">
                <a:solidFill>
                  <a:srgbClr val="C00000"/>
                </a:solidFill>
              </a:rPr>
              <a:t>    </a:t>
            </a:r>
            <a:endParaRPr lang="en-US" altLang="zh-CN">
              <a:solidFill>
                <a:srgbClr val="C00000"/>
              </a:solidFill>
            </a:endParaRPr>
          </a:p>
          <a:p>
            <a:pPr lvl="1">
              <a:lnSpc>
                <a:spcPct val="150000"/>
              </a:lnSpc>
              <a:spcBef>
                <a:spcPts val="0"/>
              </a:spcBef>
              <a:buNone/>
            </a:pPr>
            <a:endParaRPr lang="en-US" altLang="zh-CN"/>
          </a:p>
          <a:p>
            <a:pPr lvl="1">
              <a:lnSpc>
                <a:spcPct val="150000"/>
              </a:lnSpc>
              <a:spcBef>
                <a:spcPts val="0"/>
              </a:spcBef>
              <a:buNone/>
            </a:pPr>
            <a:r>
              <a:rPr lang="en-US" altLang="zh-CN">
                <a:solidFill>
                  <a:srgbClr val="0033CC"/>
                </a:solidFill>
              </a:rPr>
              <a:t>     </a:t>
            </a:r>
          </a:p>
          <a:p>
            <a:pPr lvl="1">
              <a:lnSpc>
                <a:spcPct val="150000"/>
              </a:lnSpc>
              <a:spcBef>
                <a:spcPts val="0"/>
              </a:spcBef>
              <a:buNone/>
            </a:pPr>
            <a:endParaRPr lang="en-US" altLang="zh-CN"/>
          </a:p>
          <a:p>
            <a:pPr lvl="1">
              <a:lnSpc>
                <a:spcPct val="150000"/>
              </a:lnSpc>
              <a:spcBef>
                <a:spcPts val="0"/>
              </a:spcBef>
              <a:buNone/>
            </a:pPr>
            <a:endParaRPr lang="en-US" altLang="zh-CN"/>
          </a:p>
          <a:p>
            <a:pPr lvl="1">
              <a:lnSpc>
                <a:spcPct val="150000"/>
              </a:lnSpc>
              <a:spcBef>
                <a:spcPts val="0"/>
              </a:spcBef>
              <a:buNone/>
            </a:pPr>
            <a:endParaRPr lang="en-US" altLang="zh-CN"/>
          </a:p>
        </p:txBody>
      </p:sp>
      <p:pic>
        <p:nvPicPr>
          <p:cNvPr id="3074" name="Picture 2"/>
          <p:cNvPicPr>
            <a:picLocks noChangeAspect="1" noChangeArrowheads="1"/>
          </p:cNvPicPr>
          <p:nvPr/>
        </p:nvPicPr>
        <p:blipFill>
          <a:blip r:embed="rId3" cstate="print"/>
          <a:srcRect l="7464" r="2974"/>
          <a:stretch>
            <a:fillRect/>
          </a:stretch>
        </p:blipFill>
        <p:spPr bwMode="auto">
          <a:xfrm>
            <a:off x="1071538" y="2357430"/>
            <a:ext cx="2786082" cy="2714644"/>
          </a:xfrm>
          <a:prstGeom prst="rect">
            <a:avLst/>
          </a:prstGeom>
          <a:noFill/>
          <a:ln w="9525">
            <a:noFill/>
            <a:miter lim="800000"/>
            <a:headEnd/>
            <a:tailEnd/>
          </a:ln>
          <a:effectLst/>
        </p:spPr>
      </p:pic>
      <p:sp>
        <p:nvSpPr>
          <p:cNvPr id="19" name="TextBox 18"/>
          <p:cNvSpPr txBox="1"/>
          <p:nvPr/>
        </p:nvSpPr>
        <p:spPr>
          <a:xfrm>
            <a:off x="5072066" y="5072074"/>
            <a:ext cx="3643338" cy="1277273"/>
          </a:xfrm>
          <a:prstGeom prst="rect">
            <a:avLst/>
          </a:prstGeom>
          <a:noFill/>
          <a:ln w="28575">
            <a:noFill/>
          </a:ln>
        </p:spPr>
        <p:txBody>
          <a:bodyPr wrap="square" rtlCol="0">
            <a:spAutoFit/>
          </a:bodyPr>
          <a:lstStyle/>
          <a:p>
            <a:pPr>
              <a:lnSpc>
                <a:spcPct val="130000"/>
              </a:lnSpc>
            </a:pPr>
            <a:r>
              <a:rPr lang="zh-CN" altLang="en-US" sz="2000" b="1"/>
              <a:t>任意取</a:t>
            </a:r>
            <a:r>
              <a:rPr lang="en-US" altLang="zh-CN" sz="2000" b="1"/>
              <a:t>2</a:t>
            </a:r>
            <a:r>
              <a:rPr lang="zh-CN" altLang="en-US" sz="2000" b="1"/>
              <a:t>根杆，</a:t>
            </a:r>
            <a:r>
              <a:rPr lang="en-US" altLang="zh-CN" sz="2000" b="1" i="1">
                <a:latin typeface="Times New Roman" pitchFamily="18" charset="0"/>
                <a:cs typeface="Times New Roman" pitchFamily="18" charset="0"/>
              </a:rPr>
              <a:t> A</a:t>
            </a:r>
            <a:r>
              <a:rPr lang="zh-CN" altLang="en-US" sz="2000" b="1"/>
              <a:t>点都已固定，第</a:t>
            </a:r>
            <a:r>
              <a:rPr lang="en-US" altLang="zh-CN" sz="2000" b="1"/>
              <a:t>3</a:t>
            </a:r>
            <a:r>
              <a:rPr lang="zh-CN" altLang="en-US" sz="2000" b="1"/>
              <a:t>根杆已不能再减少自由度；</a:t>
            </a:r>
            <a:endParaRPr lang="en-US" altLang="zh-CN" sz="2000" b="1">
              <a:latin typeface="+mn-ea"/>
            </a:endParaRPr>
          </a:p>
          <a:p>
            <a:pPr>
              <a:spcBef>
                <a:spcPts val="600"/>
              </a:spcBef>
            </a:pPr>
            <a:r>
              <a:rPr lang="zh-CN" altLang="en-US" sz="2000" b="1"/>
              <a:t>结论：</a:t>
            </a:r>
            <a:r>
              <a:rPr lang="en-US" altLang="zh-CN" sz="2000" b="1"/>
              <a:t>3</a:t>
            </a:r>
            <a:r>
              <a:rPr lang="zh-CN" altLang="en-US" sz="2000" b="1"/>
              <a:t>根杆中</a:t>
            </a:r>
            <a:r>
              <a:rPr lang="en-US" altLang="zh-CN" sz="2000" b="1"/>
              <a:t>1</a:t>
            </a:r>
            <a:r>
              <a:rPr lang="zh-CN" altLang="en-US" sz="2000" b="1"/>
              <a:t>根是多余约束。</a:t>
            </a:r>
          </a:p>
        </p:txBody>
      </p:sp>
      <p:grpSp>
        <p:nvGrpSpPr>
          <p:cNvPr id="21" name="组合 20"/>
          <p:cNvGrpSpPr/>
          <p:nvPr/>
        </p:nvGrpSpPr>
        <p:grpSpPr>
          <a:xfrm>
            <a:off x="4429124" y="2413074"/>
            <a:ext cx="3798198" cy="2516124"/>
            <a:chOff x="4429124" y="2413074"/>
            <a:chExt cx="3798198" cy="2516124"/>
          </a:xfrm>
        </p:grpSpPr>
        <p:pic>
          <p:nvPicPr>
            <p:cNvPr id="3075" name="Picture 3"/>
            <p:cNvPicPr>
              <a:picLocks noChangeArrowheads="1"/>
            </p:cNvPicPr>
            <p:nvPr/>
          </p:nvPicPr>
          <p:blipFill>
            <a:blip r:embed="rId4" cstate="print"/>
            <a:srcRect/>
            <a:stretch>
              <a:fillRect/>
            </a:stretch>
          </p:blipFill>
          <p:spPr bwMode="auto">
            <a:xfrm>
              <a:off x="5643570" y="2413074"/>
              <a:ext cx="2583752" cy="2516124"/>
            </a:xfrm>
            <a:prstGeom prst="rect">
              <a:avLst/>
            </a:prstGeom>
            <a:noFill/>
            <a:ln w="9525">
              <a:noFill/>
              <a:miter lim="800000"/>
              <a:headEnd/>
              <a:tailEnd/>
            </a:ln>
            <a:effectLst/>
          </p:spPr>
        </p:pic>
        <p:sp>
          <p:nvSpPr>
            <p:cNvPr id="20" name="右箭头 19"/>
            <p:cNvSpPr/>
            <p:nvPr/>
          </p:nvSpPr>
          <p:spPr bwMode="auto">
            <a:xfrm>
              <a:off x="4429124" y="3714752"/>
              <a:ext cx="500066" cy="428628"/>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sp>
        <p:nvSpPr>
          <p:cNvPr id="1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 calcmode="lin" valueType="num">
                                      <p:cBhvr additive="base">
                                        <p:cTn id="15"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additive="base">
                                        <p:cTn id="21" dur="500" fill="hold"/>
                                        <p:tgtEl>
                                          <p:spTgt spid="21"/>
                                        </p:tgtEl>
                                        <p:attrNameLst>
                                          <p:attrName>ppt_x</p:attrName>
                                        </p:attrNameLst>
                                      </p:cBhvr>
                                      <p:tavLst>
                                        <p:tav tm="0">
                                          <p:val>
                                            <p:strVal val="#ppt_x"/>
                                          </p:val>
                                        </p:tav>
                                        <p:tav tm="100000">
                                          <p:val>
                                            <p:strVal val="#ppt_x"/>
                                          </p:val>
                                        </p:tav>
                                      </p:tavLst>
                                    </p:anim>
                                    <p:anim calcmode="lin" valueType="num">
                                      <p:cBhvr additive="base">
                                        <p:cTn id="2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9">
                                            <p:txEl>
                                              <p:pRg st="0" end="0"/>
                                            </p:txEl>
                                          </p:spTgt>
                                        </p:tgtEl>
                                        <p:attrNameLst>
                                          <p:attrName>style.visibility</p:attrName>
                                        </p:attrNameLst>
                                      </p:cBhvr>
                                      <p:to>
                                        <p:strVal val="visible"/>
                                      </p:to>
                                    </p:set>
                                    <p:anim calcmode="lin" valueType="num">
                                      <p:cBhvr additive="base">
                                        <p:cTn id="27"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9">
                                            <p:txEl>
                                              <p:pRg st="0" end="0"/>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9">
                                            <p:txEl>
                                              <p:pRg st="1" end="1"/>
                                            </p:txEl>
                                          </p:spTgt>
                                        </p:tgtEl>
                                        <p:attrNameLst>
                                          <p:attrName>style.visibility</p:attrName>
                                        </p:attrNameLst>
                                      </p:cBhvr>
                                      <p:to>
                                        <p:strVal val="visible"/>
                                      </p:to>
                                    </p:set>
                                    <p:anim calcmode="lin" valueType="num">
                                      <p:cBhvr additive="base">
                                        <p:cTn id="31" dur="500" fill="hold"/>
                                        <p:tgtEl>
                                          <p:spTgt spid="19">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19" grpId="0"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algn="r"/>
            <a:r>
              <a:rPr lang="zh-CN" altLang="en-US" sz="3600"/>
              <a:t>基本概念</a:t>
            </a:r>
            <a:endParaRPr lang="zh-CN" altLang="en-US" sz="3600" dirty="0"/>
          </a:p>
        </p:txBody>
      </p:sp>
      <p:sp>
        <p:nvSpPr>
          <p:cNvPr id="3" name="内容占位符 2"/>
          <p:cNvSpPr>
            <a:spLocks noGrp="1"/>
          </p:cNvSpPr>
          <p:nvPr>
            <p:ph idx="1"/>
          </p:nvPr>
        </p:nvSpPr>
        <p:spPr>
          <a:xfrm>
            <a:off x="468313" y="1268413"/>
            <a:ext cx="8207375" cy="1589083"/>
          </a:xfrm>
          <a:ln>
            <a:noFill/>
          </a:ln>
        </p:spPr>
        <p:txBody>
          <a:bodyPr/>
          <a:lstStyle/>
          <a:p>
            <a:pPr>
              <a:buClrTx/>
            </a:pPr>
            <a:r>
              <a:rPr lang="zh-CN" altLang="en-US"/>
              <a:t>瞬变体系</a:t>
            </a:r>
            <a:endParaRPr lang="en-US" altLang="zh-CN"/>
          </a:p>
          <a:p>
            <a:pPr lvl="1">
              <a:lnSpc>
                <a:spcPct val="150000"/>
              </a:lnSpc>
              <a:spcBef>
                <a:spcPts val="0"/>
              </a:spcBef>
            </a:pPr>
            <a:r>
              <a:rPr lang="zh-CN" altLang="en-US"/>
              <a:t>定义：本来是几何可变，发生微小位移后又成为几何不变的体系；</a:t>
            </a:r>
            <a:endParaRPr lang="en-US" altLang="zh-CN"/>
          </a:p>
          <a:p>
            <a:pPr lvl="1">
              <a:lnSpc>
                <a:spcPct val="150000"/>
              </a:lnSpc>
              <a:spcBef>
                <a:spcPts val="0"/>
              </a:spcBef>
            </a:pPr>
            <a:r>
              <a:rPr lang="zh-CN" altLang="en-US"/>
              <a:t>常变体系：可以发生大位移的几何可变体系。</a:t>
            </a:r>
            <a:endParaRPr lang="en-US" altLang="zh-CN"/>
          </a:p>
          <a:p>
            <a:pPr lvl="1">
              <a:lnSpc>
                <a:spcPct val="150000"/>
              </a:lnSpc>
              <a:spcBef>
                <a:spcPts val="0"/>
              </a:spcBef>
              <a:buNone/>
            </a:pPr>
            <a:r>
              <a:rPr lang="en-US" altLang="zh-CN"/>
              <a:t>                       </a:t>
            </a:r>
          </a:p>
          <a:p>
            <a:pPr lvl="1">
              <a:lnSpc>
                <a:spcPct val="150000"/>
              </a:lnSpc>
              <a:spcBef>
                <a:spcPts val="0"/>
              </a:spcBef>
              <a:buNone/>
            </a:pPr>
            <a:r>
              <a:rPr lang="zh-CN" altLang="en-US">
                <a:solidFill>
                  <a:srgbClr val="C00000"/>
                </a:solidFill>
              </a:rPr>
              <a:t>    </a:t>
            </a:r>
            <a:endParaRPr lang="en-US" altLang="zh-CN">
              <a:solidFill>
                <a:srgbClr val="C00000"/>
              </a:solidFill>
            </a:endParaRPr>
          </a:p>
          <a:p>
            <a:pPr lvl="1">
              <a:lnSpc>
                <a:spcPct val="150000"/>
              </a:lnSpc>
              <a:spcBef>
                <a:spcPts val="0"/>
              </a:spcBef>
              <a:buNone/>
            </a:pPr>
            <a:endParaRPr lang="en-US" altLang="zh-CN"/>
          </a:p>
          <a:p>
            <a:pPr lvl="1">
              <a:lnSpc>
                <a:spcPct val="150000"/>
              </a:lnSpc>
              <a:spcBef>
                <a:spcPts val="0"/>
              </a:spcBef>
              <a:buNone/>
            </a:pPr>
            <a:r>
              <a:rPr lang="en-US" altLang="zh-CN">
                <a:solidFill>
                  <a:srgbClr val="0033CC"/>
                </a:solidFill>
              </a:rPr>
              <a:t>     </a:t>
            </a:r>
          </a:p>
          <a:p>
            <a:pPr lvl="1">
              <a:lnSpc>
                <a:spcPct val="150000"/>
              </a:lnSpc>
              <a:spcBef>
                <a:spcPts val="0"/>
              </a:spcBef>
              <a:buNone/>
            </a:pPr>
            <a:endParaRPr lang="en-US" altLang="zh-CN"/>
          </a:p>
          <a:p>
            <a:pPr lvl="1">
              <a:lnSpc>
                <a:spcPct val="150000"/>
              </a:lnSpc>
              <a:spcBef>
                <a:spcPts val="0"/>
              </a:spcBef>
              <a:buNone/>
            </a:pPr>
            <a:endParaRPr lang="en-US" altLang="zh-CN"/>
          </a:p>
          <a:p>
            <a:pPr lvl="1">
              <a:lnSpc>
                <a:spcPct val="150000"/>
              </a:lnSpc>
              <a:spcBef>
                <a:spcPts val="0"/>
              </a:spcBef>
              <a:buNone/>
            </a:pPr>
            <a:endParaRPr lang="en-US" altLang="zh-CN"/>
          </a:p>
        </p:txBody>
      </p:sp>
      <p:grpSp>
        <p:nvGrpSpPr>
          <p:cNvPr id="81" name="组合 80"/>
          <p:cNvGrpSpPr/>
          <p:nvPr/>
        </p:nvGrpSpPr>
        <p:grpSpPr>
          <a:xfrm>
            <a:off x="5000628" y="2928934"/>
            <a:ext cx="3571900" cy="2786082"/>
            <a:chOff x="5000628" y="2857496"/>
            <a:chExt cx="3571900" cy="2786082"/>
          </a:xfrm>
        </p:grpSpPr>
        <p:grpSp>
          <p:nvGrpSpPr>
            <p:cNvPr id="76" name="组合 75"/>
            <p:cNvGrpSpPr/>
            <p:nvPr/>
          </p:nvGrpSpPr>
          <p:grpSpPr>
            <a:xfrm>
              <a:off x="5000628" y="2857496"/>
              <a:ext cx="3571900" cy="2786082"/>
              <a:chOff x="5849105" y="3857635"/>
              <a:chExt cx="2626267" cy="1943096"/>
            </a:xfrm>
          </p:grpSpPr>
          <p:grpSp>
            <p:nvGrpSpPr>
              <p:cNvPr id="41" name="组合 40"/>
              <p:cNvGrpSpPr/>
              <p:nvPr/>
            </p:nvGrpSpPr>
            <p:grpSpPr>
              <a:xfrm>
                <a:off x="5879813" y="3857635"/>
                <a:ext cx="2595559" cy="1943096"/>
                <a:chOff x="1500166" y="3857635"/>
                <a:chExt cx="2595559" cy="1943096"/>
              </a:xfrm>
            </p:grpSpPr>
            <p:sp>
              <p:nvSpPr>
                <p:cNvPr id="42" name="Line 5"/>
                <p:cNvSpPr>
                  <a:spLocks noChangeShapeType="1"/>
                </p:cNvSpPr>
                <p:nvPr/>
              </p:nvSpPr>
              <p:spPr bwMode="auto">
                <a:xfrm>
                  <a:off x="1841129" y="4308107"/>
                  <a:ext cx="0" cy="1119468"/>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43" name="Line 6"/>
                <p:cNvSpPr>
                  <a:spLocks noChangeShapeType="1"/>
                </p:cNvSpPr>
                <p:nvPr/>
              </p:nvSpPr>
              <p:spPr bwMode="auto">
                <a:xfrm>
                  <a:off x="3247600" y="4308107"/>
                  <a:ext cx="0" cy="1119468"/>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44" name="Line 7"/>
                <p:cNvSpPr>
                  <a:spLocks noChangeShapeType="1"/>
                </p:cNvSpPr>
                <p:nvPr/>
              </p:nvSpPr>
              <p:spPr bwMode="auto">
                <a:xfrm>
                  <a:off x="1841129" y="4277011"/>
                  <a:ext cx="1363851" cy="0"/>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46" name="Oval 9"/>
                <p:cNvSpPr>
                  <a:spLocks noChangeArrowheads="1"/>
                </p:cNvSpPr>
                <p:nvPr/>
              </p:nvSpPr>
              <p:spPr bwMode="auto">
                <a:xfrm>
                  <a:off x="3204980" y="4214818"/>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47" name="Oval 10"/>
                <p:cNvSpPr>
                  <a:spLocks noChangeArrowheads="1"/>
                </p:cNvSpPr>
                <p:nvPr/>
              </p:nvSpPr>
              <p:spPr bwMode="auto">
                <a:xfrm>
                  <a:off x="1812715" y="4230366"/>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48" name="Line 13"/>
                <p:cNvSpPr>
                  <a:spLocks noChangeShapeType="1"/>
                </p:cNvSpPr>
                <p:nvPr/>
              </p:nvSpPr>
              <p:spPr bwMode="auto">
                <a:xfrm flipH="1">
                  <a:off x="1670647" y="5427575"/>
                  <a:ext cx="170481" cy="186578"/>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49" name="Line 14"/>
                <p:cNvSpPr>
                  <a:spLocks noChangeShapeType="1"/>
                </p:cNvSpPr>
                <p:nvPr/>
              </p:nvSpPr>
              <p:spPr bwMode="auto">
                <a:xfrm>
                  <a:off x="1841129" y="5427575"/>
                  <a:ext cx="170481" cy="186578"/>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50" name="Line 15"/>
                <p:cNvSpPr>
                  <a:spLocks noChangeShapeType="1"/>
                </p:cNvSpPr>
                <p:nvPr/>
              </p:nvSpPr>
              <p:spPr bwMode="auto">
                <a:xfrm>
                  <a:off x="1500166" y="5645249"/>
                  <a:ext cx="596685" cy="0"/>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51" name="Line 16"/>
                <p:cNvSpPr>
                  <a:spLocks noChangeShapeType="1"/>
                </p:cNvSpPr>
                <p:nvPr/>
              </p:nvSpPr>
              <p:spPr bwMode="auto">
                <a:xfrm flipH="1">
                  <a:off x="1500166" y="5645249"/>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52" name="Line 17"/>
                <p:cNvSpPr>
                  <a:spLocks noChangeShapeType="1"/>
                </p:cNvSpPr>
                <p:nvPr/>
              </p:nvSpPr>
              <p:spPr bwMode="auto">
                <a:xfrm flipH="1">
                  <a:off x="1770095" y="5660798"/>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53" name="Line 18"/>
                <p:cNvSpPr>
                  <a:spLocks noChangeShapeType="1"/>
                </p:cNvSpPr>
                <p:nvPr/>
              </p:nvSpPr>
              <p:spPr bwMode="auto">
                <a:xfrm flipH="1">
                  <a:off x="1897956" y="5660798"/>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54" name="Line 19"/>
                <p:cNvSpPr>
                  <a:spLocks noChangeShapeType="1"/>
                </p:cNvSpPr>
                <p:nvPr/>
              </p:nvSpPr>
              <p:spPr bwMode="auto">
                <a:xfrm flipH="1">
                  <a:off x="1642234" y="5645249"/>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55" name="Oval 20"/>
                <p:cNvSpPr>
                  <a:spLocks noChangeArrowheads="1"/>
                </p:cNvSpPr>
                <p:nvPr/>
              </p:nvSpPr>
              <p:spPr bwMode="auto">
                <a:xfrm>
                  <a:off x="3204980" y="5380931"/>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56" name="Line 24"/>
                <p:cNvSpPr>
                  <a:spLocks noChangeShapeType="1"/>
                </p:cNvSpPr>
                <p:nvPr/>
              </p:nvSpPr>
              <p:spPr bwMode="auto">
                <a:xfrm>
                  <a:off x="3247600" y="5474220"/>
                  <a:ext cx="170481" cy="186578"/>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57" name="Line 25"/>
                <p:cNvSpPr>
                  <a:spLocks noChangeShapeType="1"/>
                </p:cNvSpPr>
                <p:nvPr/>
              </p:nvSpPr>
              <p:spPr bwMode="auto">
                <a:xfrm>
                  <a:off x="2906637" y="5691894"/>
                  <a:ext cx="596685" cy="0"/>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58" name="Line 26"/>
                <p:cNvSpPr>
                  <a:spLocks noChangeShapeType="1"/>
                </p:cNvSpPr>
                <p:nvPr/>
              </p:nvSpPr>
              <p:spPr bwMode="auto">
                <a:xfrm flipH="1">
                  <a:off x="2906637" y="5691894"/>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59" name="Line 27"/>
                <p:cNvSpPr>
                  <a:spLocks noChangeShapeType="1"/>
                </p:cNvSpPr>
                <p:nvPr/>
              </p:nvSpPr>
              <p:spPr bwMode="auto">
                <a:xfrm flipH="1">
                  <a:off x="3176566" y="5707442"/>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60" name="Line 28"/>
                <p:cNvSpPr>
                  <a:spLocks noChangeShapeType="1"/>
                </p:cNvSpPr>
                <p:nvPr/>
              </p:nvSpPr>
              <p:spPr bwMode="auto">
                <a:xfrm flipH="1">
                  <a:off x="3304427" y="5707442"/>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61" name="Line 29"/>
                <p:cNvSpPr>
                  <a:spLocks noChangeShapeType="1"/>
                </p:cNvSpPr>
                <p:nvPr/>
              </p:nvSpPr>
              <p:spPr bwMode="auto">
                <a:xfrm flipH="1">
                  <a:off x="3048705" y="5691894"/>
                  <a:ext cx="85241" cy="93289"/>
                </a:xfrm>
                <a:prstGeom prst="line">
                  <a:avLst/>
                </a:prstGeom>
                <a:noFill/>
                <a:ln w="28575">
                  <a:solidFill>
                    <a:schemeClr val="tx1"/>
                  </a:solidFill>
                  <a:round/>
                  <a:headEnd/>
                  <a:tailEnd/>
                </a:ln>
                <a:effectLst/>
              </p:spPr>
              <p:txBody>
                <a:bodyPr wrap="none" anchor="ctr">
                  <a:spAutoFit/>
                </a:bodyPr>
                <a:lstStyle/>
                <a:p>
                  <a:endParaRPr lang="zh-CN" altLang="en-US"/>
                </a:p>
              </p:txBody>
            </p:sp>
            <p:grpSp>
              <p:nvGrpSpPr>
                <p:cNvPr id="62" name="Group 35"/>
                <p:cNvGrpSpPr>
                  <a:grpSpLocks/>
                </p:cNvGrpSpPr>
                <p:nvPr/>
              </p:nvGrpSpPr>
              <p:grpSpPr bwMode="auto">
                <a:xfrm>
                  <a:off x="3262287" y="3857635"/>
                  <a:ext cx="833438" cy="371476"/>
                  <a:chOff x="2237" y="1688"/>
                  <a:chExt cx="525" cy="234"/>
                </a:xfrm>
              </p:grpSpPr>
              <p:sp>
                <p:nvSpPr>
                  <p:cNvPr id="68" name="Line 36"/>
                  <p:cNvSpPr>
                    <a:spLocks noChangeShapeType="1"/>
                  </p:cNvSpPr>
                  <p:nvPr/>
                </p:nvSpPr>
                <p:spPr bwMode="auto">
                  <a:xfrm flipH="1">
                    <a:off x="2237" y="1733"/>
                    <a:ext cx="330" cy="189"/>
                  </a:xfrm>
                  <a:prstGeom prst="line">
                    <a:avLst/>
                  </a:prstGeom>
                  <a:noFill/>
                  <a:ln w="28575">
                    <a:solidFill>
                      <a:srgbClr val="FF3300"/>
                    </a:solidFill>
                    <a:round/>
                    <a:headEnd/>
                    <a:tailEnd type="triangle" w="med" len="med"/>
                  </a:ln>
                  <a:effectLst/>
                </p:spPr>
                <p:txBody>
                  <a:bodyPr wrap="square" anchor="ctr">
                    <a:spAutoFit/>
                  </a:bodyPr>
                  <a:lstStyle/>
                  <a:p>
                    <a:endParaRPr lang="zh-CN" altLang="en-US"/>
                  </a:p>
                </p:txBody>
              </p:sp>
              <p:sp>
                <p:nvSpPr>
                  <p:cNvPr id="69" name="Text Box 37"/>
                  <p:cNvSpPr txBox="1">
                    <a:spLocks noChangeArrowheads="1"/>
                  </p:cNvSpPr>
                  <p:nvPr/>
                </p:nvSpPr>
                <p:spPr bwMode="auto">
                  <a:xfrm>
                    <a:off x="2522" y="1688"/>
                    <a:ext cx="240" cy="233"/>
                  </a:xfrm>
                  <a:prstGeom prst="rect">
                    <a:avLst/>
                  </a:prstGeom>
                  <a:noFill/>
                  <a:ln w="9525">
                    <a:noFill/>
                    <a:miter lim="800000"/>
                    <a:headEnd/>
                    <a:tailEnd/>
                  </a:ln>
                  <a:effectLst/>
                </p:spPr>
                <p:txBody>
                  <a:bodyPr anchor="ctr">
                    <a:spAutoFit/>
                  </a:bodyPr>
                  <a:lstStyle/>
                  <a:p>
                    <a:pPr algn="ctr"/>
                    <a:r>
                      <a:rPr lang="en-US" altLang="zh-CN" b="1">
                        <a:solidFill>
                          <a:srgbClr val="FF3300"/>
                        </a:solidFill>
                        <a:ea typeface="宋体" charset="-122"/>
                      </a:rPr>
                      <a:t>P</a:t>
                    </a:r>
                    <a:endParaRPr lang="en-US" altLang="zh-CN" b="1">
                      <a:ea typeface="宋体" charset="-122"/>
                    </a:endParaRPr>
                  </a:p>
                </p:txBody>
              </p:sp>
            </p:grpSp>
            <p:sp>
              <p:nvSpPr>
                <p:cNvPr id="63" name="Oval 21"/>
                <p:cNvSpPr>
                  <a:spLocks noChangeArrowheads="1"/>
                </p:cNvSpPr>
                <p:nvPr/>
              </p:nvSpPr>
              <p:spPr bwMode="auto">
                <a:xfrm>
                  <a:off x="3332841" y="5583057"/>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64" name="Line 23"/>
                <p:cNvSpPr>
                  <a:spLocks noChangeShapeType="1"/>
                </p:cNvSpPr>
                <p:nvPr/>
              </p:nvSpPr>
              <p:spPr bwMode="auto">
                <a:xfrm flipH="1">
                  <a:off x="3077119" y="5474220"/>
                  <a:ext cx="170481" cy="186578"/>
                </a:xfrm>
                <a:prstGeom prst="line">
                  <a:avLst/>
                </a:prstGeom>
                <a:noFill/>
                <a:ln w="28575">
                  <a:solidFill>
                    <a:schemeClr val="tx1"/>
                  </a:solidFill>
                  <a:round/>
                  <a:headEnd/>
                  <a:tailEnd/>
                </a:ln>
                <a:effectLst/>
              </p:spPr>
              <p:txBody>
                <a:bodyPr wrap="none" anchor="ctr">
                  <a:spAutoFit/>
                </a:bodyPr>
                <a:lstStyle/>
                <a:p>
                  <a:endParaRPr lang="zh-CN" altLang="en-US"/>
                </a:p>
              </p:txBody>
            </p:sp>
            <p:sp>
              <p:nvSpPr>
                <p:cNvPr id="65" name="Oval 22"/>
                <p:cNvSpPr>
                  <a:spLocks noChangeArrowheads="1"/>
                </p:cNvSpPr>
                <p:nvPr/>
              </p:nvSpPr>
              <p:spPr bwMode="auto">
                <a:xfrm>
                  <a:off x="3077119" y="5583057"/>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66" name="Oval 12"/>
                <p:cNvSpPr>
                  <a:spLocks noChangeArrowheads="1"/>
                </p:cNvSpPr>
                <p:nvPr/>
              </p:nvSpPr>
              <p:spPr bwMode="auto">
                <a:xfrm>
                  <a:off x="1670647" y="5536412"/>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67" name="Oval 11"/>
                <p:cNvSpPr>
                  <a:spLocks noChangeArrowheads="1"/>
                </p:cNvSpPr>
                <p:nvPr/>
              </p:nvSpPr>
              <p:spPr bwMode="auto">
                <a:xfrm>
                  <a:off x="1926369" y="5536412"/>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sp>
              <p:nvSpPr>
                <p:cNvPr id="45" name="Oval 8"/>
                <p:cNvSpPr>
                  <a:spLocks noChangeArrowheads="1"/>
                </p:cNvSpPr>
                <p:nvPr/>
              </p:nvSpPr>
              <p:spPr bwMode="auto">
                <a:xfrm>
                  <a:off x="1798508" y="5334286"/>
                  <a:ext cx="85241" cy="93289"/>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grpSp>
          <p:grpSp>
            <p:nvGrpSpPr>
              <p:cNvPr id="70" name="组合 69"/>
              <p:cNvGrpSpPr/>
              <p:nvPr/>
            </p:nvGrpSpPr>
            <p:grpSpPr>
              <a:xfrm>
                <a:off x="5849105" y="4234914"/>
                <a:ext cx="1764249" cy="1170810"/>
                <a:chOff x="5849105" y="4234914"/>
                <a:chExt cx="1764249" cy="1170810"/>
              </a:xfrm>
            </p:grpSpPr>
            <p:sp>
              <p:nvSpPr>
                <p:cNvPr id="72" name="Line 6"/>
                <p:cNvSpPr>
                  <a:spLocks noChangeShapeType="1"/>
                </p:cNvSpPr>
                <p:nvPr/>
              </p:nvSpPr>
              <p:spPr bwMode="auto">
                <a:xfrm>
                  <a:off x="5888364" y="4281494"/>
                  <a:ext cx="326710" cy="1119468"/>
                </a:xfrm>
                <a:prstGeom prst="line">
                  <a:avLst/>
                </a:prstGeom>
                <a:noFill/>
                <a:ln w="28575">
                  <a:solidFill>
                    <a:srgbClr val="00B050"/>
                  </a:solidFill>
                  <a:round/>
                  <a:headEnd/>
                  <a:tailEnd/>
                </a:ln>
                <a:effectLst/>
              </p:spPr>
              <p:txBody>
                <a:bodyPr wrap="square" anchor="ctr">
                  <a:spAutoFit/>
                </a:bodyPr>
                <a:lstStyle/>
                <a:p>
                  <a:endParaRPr lang="zh-CN" altLang="en-US"/>
                </a:p>
              </p:txBody>
            </p:sp>
            <p:sp>
              <p:nvSpPr>
                <p:cNvPr id="71" name="Line 6"/>
                <p:cNvSpPr>
                  <a:spLocks noChangeShapeType="1"/>
                </p:cNvSpPr>
                <p:nvPr/>
              </p:nvSpPr>
              <p:spPr bwMode="auto">
                <a:xfrm>
                  <a:off x="7286644" y="4286256"/>
                  <a:ext cx="326710" cy="1119468"/>
                </a:xfrm>
                <a:prstGeom prst="line">
                  <a:avLst/>
                </a:prstGeom>
                <a:noFill/>
                <a:ln w="28575">
                  <a:solidFill>
                    <a:srgbClr val="00B050"/>
                  </a:solidFill>
                  <a:round/>
                  <a:headEnd/>
                  <a:tailEnd/>
                </a:ln>
                <a:effectLst/>
              </p:spPr>
              <p:txBody>
                <a:bodyPr wrap="square" anchor="ctr">
                  <a:spAutoFit/>
                </a:bodyPr>
                <a:lstStyle/>
                <a:p>
                  <a:endParaRPr lang="zh-CN" altLang="en-US"/>
                </a:p>
              </p:txBody>
            </p:sp>
            <p:sp>
              <p:nvSpPr>
                <p:cNvPr id="73" name="Line 7"/>
                <p:cNvSpPr>
                  <a:spLocks noChangeShapeType="1"/>
                </p:cNvSpPr>
                <p:nvPr/>
              </p:nvSpPr>
              <p:spPr bwMode="auto">
                <a:xfrm>
                  <a:off x="5912315" y="4286256"/>
                  <a:ext cx="1363851" cy="0"/>
                </a:xfrm>
                <a:prstGeom prst="line">
                  <a:avLst/>
                </a:prstGeom>
                <a:noFill/>
                <a:ln w="28575">
                  <a:solidFill>
                    <a:srgbClr val="00B050"/>
                  </a:solidFill>
                  <a:round/>
                  <a:headEnd/>
                  <a:tailEnd/>
                </a:ln>
                <a:effectLst/>
              </p:spPr>
              <p:txBody>
                <a:bodyPr wrap="none" anchor="ctr">
                  <a:spAutoFit/>
                </a:bodyPr>
                <a:lstStyle/>
                <a:p>
                  <a:endParaRPr lang="zh-CN" altLang="en-US"/>
                </a:p>
              </p:txBody>
            </p:sp>
            <p:sp>
              <p:nvSpPr>
                <p:cNvPr id="74" name="Oval 9"/>
                <p:cNvSpPr>
                  <a:spLocks noChangeArrowheads="1"/>
                </p:cNvSpPr>
                <p:nvPr/>
              </p:nvSpPr>
              <p:spPr bwMode="auto">
                <a:xfrm>
                  <a:off x="5849105" y="4239938"/>
                  <a:ext cx="85241" cy="93289"/>
                </a:xfrm>
                <a:prstGeom prst="ellipse">
                  <a:avLst/>
                </a:prstGeom>
                <a:solidFill>
                  <a:schemeClr val="bg1"/>
                </a:solidFill>
                <a:ln w="28575">
                  <a:solidFill>
                    <a:srgbClr val="00B050"/>
                  </a:solidFill>
                  <a:round/>
                  <a:headEnd/>
                  <a:tailEnd/>
                </a:ln>
                <a:effectLst/>
              </p:spPr>
              <p:txBody>
                <a:bodyPr wrap="none" anchor="ctr">
                  <a:spAutoFit/>
                </a:bodyPr>
                <a:lstStyle/>
                <a:p>
                  <a:endParaRPr lang="zh-CN" altLang="en-US"/>
                </a:p>
              </p:txBody>
            </p:sp>
            <p:sp>
              <p:nvSpPr>
                <p:cNvPr id="75" name="Oval 9"/>
                <p:cNvSpPr>
                  <a:spLocks noChangeArrowheads="1"/>
                </p:cNvSpPr>
                <p:nvPr/>
              </p:nvSpPr>
              <p:spPr bwMode="auto">
                <a:xfrm>
                  <a:off x="7230278" y="4234914"/>
                  <a:ext cx="85241" cy="93289"/>
                </a:xfrm>
                <a:prstGeom prst="ellipse">
                  <a:avLst/>
                </a:prstGeom>
                <a:solidFill>
                  <a:schemeClr val="bg1"/>
                </a:solidFill>
                <a:ln w="28575">
                  <a:solidFill>
                    <a:srgbClr val="00B050"/>
                  </a:solidFill>
                  <a:round/>
                  <a:headEnd/>
                  <a:tailEnd/>
                </a:ln>
                <a:effectLst/>
              </p:spPr>
              <p:txBody>
                <a:bodyPr wrap="none" anchor="ctr">
                  <a:spAutoFit/>
                </a:bodyPr>
                <a:lstStyle/>
                <a:p>
                  <a:endParaRPr lang="zh-CN" altLang="en-US"/>
                </a:p>
              </p:txBody>
            </p:sp>
          </p:grpSp>
        </p:grpSp>
        <p:sp>
          <p:nvSpPr>
            <p:cNvPr id="80" name="Oval 21"/>
            <p:cNvSpPr>
              <a:spLocks noChangeArrowheads="1"/>
            </p:cNvSpPr>
            <p:nvPr/>
          </p:nvSpPr>
          <p:spPr bwMode="auto">
            <a:xfrm>
              <a:off x="5448306" y="4972061"/>
              <a:ext cx="115933" cy="133761"/>
            </a:xfrm>
            <a:prstGeom prst="ellipse">
              <a:avLst/>
            </a:prstGeom>
            <a:solidFill>
              <a:schemeClr val="bg1"/>
            </a:solidFill>
            <a:ln w="28575">
              <a:solidFill>
                <a:schemeClr val="tx1"/>
              </a:solidFill>
              <a:round/>
              <a:headEnd/>
              <a:tailEnd/>
            </a:ln>
            <a:effectLst/>
          </p:spPr>
          <p:txBody>
            <a:bodyPr wrap="none" anchor="ctr">
              <a:spAutoFit/>
            </a:bodyPr>
            <a:lstStyle/>
            <a:p>
              <a:endParaRPr lang="zh-CN" altLang="en-US"/>
            </a:p>
          </p:txBody>
        </p:sp>
      </p:grpSp>
      <p:sp>
        <p:nvSpPr>
          <p:cNvPr id="82" name="矩形 81"/>
          <p:cNvSpPr/>
          <p:nvPr/>
        </p:nvSpPr>
        <p:spPr>
          <a:xfrm>
            <a:off x="5929322" y="5917188"/>
            <a:ext cx="1107996" cy="369332"/>
          </a:xfrm>
          <a:prstGeom prst="rect">
            <a:avLst/>
          </a:prstGeom>
        </p:spPr>
        <p:txBody>
          <a:bodyPr wrap="none">
            <a:spAutoFit/>
          </a:bodyPr>
          <a:lstStyle/>
          <a:p>
            <a:r>
              <a:rPr lang="zh-CN" altLang="en-US" b="1"/>
              <a:t>常变体系</a:t>
            </a:r>
          </a:p>
        </p:txBody>
      </p:sp>
      <p:grpSp>
        <p:nvGrpSpPr>
          <p:cNvPr id="107" name="组合 106"/>
          <p:cNvGrpSpPr/>
          <p:nvPr/>
        </p:nvGrpSpPr>
        <p:grpSpPr>
          <a:xfrm>
            <a:off x="1274563" y="4060653"/>
            <a:ext cx="2857520" cy="1764939"/>
            <a:chOff x="1142976" y="2714620"/>
            <a:chExt cx="2857520" cy="1764939"/>
          </a:xfrm>
        </p:grpSpPr>
        <p:pic>
          <p:nvPicPr>
            <p:cNvPr id="4098" name="Picture 2"/>
            <p:cNvPicPr>
              <a:picLocks noChangeAspect="1" noChangeArrowheads="1"/>
            </p:cNvPicPr>
            <p:nvPr/>
          </p:nvPicPr>
          <p:blipFill>
            <a:blip r:embed="rId3" cstate="print"/>
            <a:srcRect l="4782" r="13924"/>
            <a:stretch>
              <a:fillRect/>
            </a:stretch>
          </p:blipFill>
          <p:spPr bwMode="auto">
            <a:xfrm>
              <a:off x="1142976" y="2714620"/>
              <a:ext cx="2857520" cy="1764939"/>
            </a:xfrm>
            <a:prstGeom prst="rect">
              <a:avLst/>
            </a:prstGeom>
            <a:noFill/>
            <a:ln w="9525">
              <a:noFill/>
              <a:miter lim="800000"/>
              <a:headEnd/>
              <a:tailEnd/>
            </a:ln>
            <a:effectLst/>
          </p:spPr>
        </p:pic>
        <p:cxnSp>
          <p:nvCxnSpPr>
            <p:cNvPr id="84" name="直接连接符 83"/>
            <p:cNvCxnSpPr/>
            <p:nvPr/>
          </p:nvCxnSpPr>
          <p:spPr bwMode="auto">
            <a:xfrm flipV="1">
              <a:off x="1285852" y="3286124"/>
              <a:ext cx="1285884" cy="357190"/>
            </a:xfrm>
            <a:prstGeom prst="line">
              <a:avLst/>
            </a:prstGeom>
            <a:solidFill>
              <a:schemeClr val="accent1"/>
            </a:solidFill>
            <a:ln w="28575" cap="flat" cmpd="sng" algn="ctr">
              <a:solidFill>
                <a:srgbClr val="00B050"/>
              </a:solidFill>
              <a:prstDash val="solid"/>
              <a:round/>
              <a:headEnd type="none" w="med" len="med"/>
              <a:tailEnd type="none" w="med" len="med"/>
            </a:ln>
            <a:effectLst/>
          </p:spPr>
        </p:cxnSp>
        <p:cxnSp>
          <p:nvCxnSpPr>
            <p:cNvPr id="89" name="直接连接符 88"/>
            <p:cNvCxnSpPr/>
            <p:nvPr/>
          </p:nvCxnSpPr>
          <p:spPr bwMode="auto">
            <a:xfrm>
              <a:off x="2571736" y="3286124"/>
              <a:ext cx="1285884" cy="357190"/>
            </a:xfrm>
            <a:prstGeom prst="line">
              <a:avLst/>
            </a:prstGeom>
            <a:solidFill>
              <a:schemeClr val="accent1"/>
            </a:solidFill>
            <a:ln w="28575" cap="flat" cmpd="sng" algn="ctr">
              <a:solidFill>
                <a:srgbClr val="00B050"/>
              </a:solidFill>
              <a:prstDash val="solid"/>
              <a:round/>
              <a:headEnd type="none" w="med" len="med"/>
              <a:tailEnd type="none" w="med" len="med"/>
            </a:ln>
            <a:effectLst/>
          </p:spPr>
        </p:cxnSp>
        <p:sp>
          <p:nvSpPr>
            <p:cNvPr id="92" name="Oval 9"/>
            <p:cNvSpPr>
              <a:spLocks noChangeArrowheads="1"/>
            </p:cNvSpPr>
            <p:nvPr/>
          </p:nvSpPr>
          <p:spPr bwMode="auto">
            <a:xfrm>
              <a:off x="2500298" y="3218390"/>
              <a:ext cx="104340" cy="120385"/>
            </a:xfrm>
            <a:prstGeom prst="ellipse">
              <a:avLst/>
            </a:prstGeom>
            <a:solidFill>
              <a:schemeClr val="bg1"/>
            </a:solidFill>
            <a:ln w="28575">
              <a:solidFill>
                <a:srgbClr val="00B050"/>
              </a:solidFill>
              <a:round/>
              <a:headEnd/>
              <a:tailEnd/>
            </a:ln>
            <a:effectLst/>
          </p:spPr>
          <p:txBody>
            <a:bodyPr wrap="none" anchor="ctr">
              <a:spAutoFit/>
            </a:bodyPr>
            <a:lstStyle/>
            <a:p>
              <a:endParaRPr lang="zh-CN" altLang="en-US"/>
            </a:p>
          </p:txBody>
        </p:sp>
      </p:grpSp>
      <p:sp>
        <p:nvSpPr>
          <p:cNvPr id="108" name="矩形 107"/>
          <p:cNvSpPr/>
          <p:nvPr/>
        </p:nvSpPr>
        <p:spPr>
          <a:xfrm>
            <a:off x="1214414" y="5917188"/>
            <a:ext cx="3185487" cy="369332"/>
          </a:xfrm>
          <a:prstGeom prst="rect">
            <a:avLst/>
          </a:prstGeom>
        </p:spPr>
        <p:txBody>
          <a:bodyPr wrap="none">
            <a:spAutoFit/>
          </a:bodyPr>
          <a:lstStyle/>
          <a:p>
            <a:r>
              <a:rPr lang="zh-CN" altLang="en-US" b="1"/>
              <a:t>瞬变体系：必然存在多余约束</a:t>
            </a:r>
          </a:p>
        </p:txBody>
      </p:sp>
      <p:pic>
        <p:nvPicPr>
          <p:cNvPr id="106" name="Picture 2"/>
          <p:cNvPicPr>
            <a:picLocks noChangeAspect="1" noChangeArrowheads="1"/>
          </p:cNvPicPr>
          <p:nvPr/>
        </p:nvPicPr>
        <p:blipFill>
          <a:blip r:embed="rId3" cstate="print"/>
          <a:srcRect l="4782" t="8095" r="13924" b="10952"/>
          <a:stretch>
            <a:fillRect/>
          </a:stretch>
        </p:blipFill>
        <p:spPr bwMode="auto">
          <a:xfrm>
            <a:off x="1285852" y="2786058"/>
            <a:ext cx="2857520" cy="1428760"/>
          </a:xfrm>
          <a:prstGeom prst="rect">
            <a:avLst/>
          </a:prstGeom>
          <a:noFill/>
          <a:ln w="9525">
            <a:noFill/>
            <a:miter lim="800000"/>
            <a:headEnd/>
            <a:tailEnd/>
          </a:ln>
          <a:effectLst/>
        </p:spPr>
      </p:pic>
      <p:sp>
        <p:nvSpPr>
          <p:cNvPr id="78" name="AutoShape 61"/>
          <p:cNvSpPr>
            <a:spLocks noChangeArrowheads="1"/>
          </p:cNvSpPr>
          <p:nvPr/>
        </p:nvSpPr>
        <p:spPr bwMode="auto">
          <a:xfrm>
            <a:off x="214282" y="4000504"/>
            <a:ext cx="1500230" cy="571504"/>
          </a:xfrm>
          <a:prstGeom prst="wedgeRoundRectCallout">
            <a:avLst>
              <a:gd name="adj1" fmla="val 91986"/>
              <a:gd name="adj2" fmla="val 53677"/>
              <a:gd name="adj3" fmla="val 16667"/>
            </a:avLst>
          </a:prstGeom>
          <a:solidFill>
            <a:srgbClr val="FFFFFF"/>
          </a:solidFill>
          <a:ln w="28575">
            <a:solidFill>
              <a:srgbClr val="800000"/>
            </a:solidFill>
            <a:miter lim="800000"/>
            <a:headEnd/>
            <a:tailEnd/>
          </a:ln>
          <a:effectLst/>
        </p:spPr>
        <p:txBody>
          <a:bodyPr wrap="none" anchor="ctr"/>
          <a:lstStyle/>
          <a:p>
            <a:pPr algn="ctr">
              <a:spcBef>
                <a:spcPct val="0"/>
              </a:spcBef>
            </a:pPr>
            <a:r>
              <a:rPr lang="zh-CN" altLang="en-US" sz="1600" b="1">
                <a:ea typeface="宋体" charset="-122"/>
              </a:rPr>
              <a:t>微小位移后不</a:t>
            </a:r>
            <a:endParaRPr lang="en-US" altLang="zh-CN" sz="1600" b="1">
              <a:ea typeface="宋体" charset="-122"/>
            </a:endParaRPr>
          </a:p>
          <a:p>
            <a:pPr algn="ctr">
              <a:spcBef>
                <a:spcPct val="0"/>
              </a:spcBef>
            </a:pPr>
            <a:r>
              <a:rPr lang="zh-CN" altLang="en-US" sz="1600" b="1">
                <a:ea typeface="宋体" charset="-122"/>
              </a:rPr>
              <a:t>能继续位移</a:t>
            </a:r>
          </a:p>
        </p:txBody>
      </p:sp>
      <p:sp>
        <p:nvSpPr>
          <p:cNvPr id="77"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7"/>
                                        </p:tgtEl>
                                        <p:attrNameLst>
                                          <p:attrName>style.visibility</p:attrName>
                                        </p:attrNameLst>
                                      </p:cBhvr>
                                      <p:to>
                                        <p:strVal val="visible"/>
                                      </p:to>
                                    </p:set>
                                    <p:anim calcmode="lin" valueType="num">
                                      <p:cBhvr additive="base">
                                        <p:cTn id="7" dur="500" fill="hold"/>
                                        <p:tgtEl>
                                          <p:spTgt spid="107"/>
                                        </p:tgtEl>
                                        <p:attrNameLst>
                                          <p:attrName>ppt_x</p:attrName>
                                        </p:attrNameLst>
                                      </p:cBhvr>
                                      <p:tavLst>
                                        <p:tav tm="0">
                                          <p:val>
                                            <p:strVal val="#ppt_x"/>
                                          </p:val>
                                        </p:tav>
                                        <p:tav tm="100000">
                                          <p:val>
                                            <p:strVal val="#ppt_x"/>
                                          </p:val>
                                        </p:tav>
                                      </p:tavLst>
                                    </p:anim>
                                    <p:anim calcmode="lin" valueType="num">
                                      <p:cBhvr additive="base">
                                        <p:cTn id="8" dur="500" fill="hold"/>
                                        <p:tgtEl>
                                          <p:spTgt spid="10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8"/>
                                        </p:tgtEl>
                                        <p:attrNameLst>
                                          <p:attrName>style.visibility</p:attrName>
                                        </p:attrNameLst>
                                      </p:cBhvr>
                                      <p:to>
                                        <p:strVal val="visible"/>
                                      </p:to>
                                    </p:set>
                                    <p:anim calcmode="lin" valueType="num">
                                      <p:cBhvr additive="base">
                                        <p:cTn id="11" dur="500" fill="hold"/>
                                        <p:tgtEl>
                                          <p:spTgt spid="78"/>
                                        </p:tgtEl>
                                        <p:attrNameLst>
                                          <p:attrName>ppt_x</p:attrName>
                                        </p:attrNameLst>
                                      </p:cBhvr>
                                      <p:tavLst>
                                        <p:tav tm="0">
                                          <p:val>
                                            <p:strVal val="#ppt_x"/>
                                          </p:val>
                                        </p:tav>
                                        <p:tav tm="100000">
                                          <p:val>
                                            <p:strVal val="#ppt_x"/>
                                          </p:val>
                                        </p:tav>
                                      </p:tavLst>
                                    </p:anim>
                                    <p:anim calcmode="lin" valueType="num">
                                      <p:cBhvr additive="base">
                                        <p:cTn id="12"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8">
                                            <p:txEl>
                                              <p:pRg st="0" end="0"/>
                                            </p:txEl>
                                          </p:spTgt>
                                        </p:tgtEl>
                                        <p:attrNameLst>
                                          <p:attrName>style.visibility</p:attrName>
                                        </p:attrNameLst>
                                      </p:cBhvr>
                                      <p:to>
                                        <p:strVal val="visible"/>
                                      </p:to>
                                    </p:set>
                                    <p:anim calcmode="lin" valueType="num">
                                      <p:cBhvr additive="base">
                                        <p:cTn id="17" dur="500" fill="hold"/>
                                        <p:tgtEl>
                                          <p:spTgt spid="108">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1"/>
                                        </p:tgtEl>
                                        <p:attrNameLst>
                                          <p:attrName>style.visibility</p:attrName>
                                        </p:attrNameLst>
                                      </p:cBhvr>
                                      <p:to>
                                        <p:strVal val="visible"/>
                                      </p:to>
                                    </p:set>
                                    <p:anim calcmode="lin" valueType="num">
                                      <p:cBhvr additive="base">
                                        <p:cTn id="23" dur="500" fill="hold"/>
                                        <p:tgtEl>
                                          <p:spTgt spid="81"/>
                                        </p:tgtEl>
                                        <p:attrNameLst>
                                          <p:attrName>ppt_x</p:attrName>
                                        </p:attrNameLst>
                                      </p:cBhvr>
                                      <p:tavLst>
                                        <p:tav tm="0">
                                          <p:val>
                                            <p:strVal val="#ppt_x"/>
                                          </p:val>
                                        </p:tav>
                                        <p:tav tm="100000">
                                          <p:val>
                                            <p:strVal val="#ppt_x"/>
                                          </p:val>
                                        </p:tav>
                                      </p:tavLst>
                                    </p:anim>
                                    <p:anim calcmode="lin" valueType="num">
                                      <p:cBhvr additive="base">
                                        <p:cTn id="24" dur="500" fill="hold"/>
                                        <p:tgtEl>
                                          <p:spTgt spid="8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82">
                                            <p:txEl>
                                              <p:pRg st="0" end="0"/>
                                            </p:txEl>
                                          </p:spTgt>
                                        </p:tgtEl>
                                        <p:attrNameLst>
                                          <p:attrName>style.visibility</p:attrName>
                                        </p:attrNameLst>
                                      </p:cBhvr>
                                      <p:to>
                                        <p:strVal val="visible"/>
                                      </p:to>
                                    </p:set>
                                    <p:anim calcmode="lin" valueType="num">
                                      <p:cBhvr additive="base">
                                        <p:cTn id="29" dur="500" fill="hold"/>
                                        <p:tgtEl>
                                          <p:spTgt spid="82">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8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build="allAtOnce"/>
      <p:bldP spid="108" grpId="0" build="allAtOnce"/>
      <p:bldP spid="7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pPr>
              <a:buClrTx/>
            </a:pPr>
            <a:r>
              <a:rPr lang="zh-CN" altLang="en-US"/>
              <a:t>几何构造分析</a:t>
            </a:r>
            <a:endParaRPr lang="en-US" altLang="zh-CN"/>
          </a:p>
          <a:p>
            <a:pPr lvl="1">
              <a:lnSpc>
                <a:spcPct val="130000"/>
              </a:lnSpc>
              <a:spcBef>
                <a:spcPts val="0"/>
              </a:spcBef>
            </a:pPr>
            <a:r>
              <a:rPr lang="zh-CN" altLang="en-US"/>
              <a:t>定义：就是判断一个杆系是否是几何不变体系，同时还要研究几何不变体系的组成规律，又称：</a:t>
            </a:r>
            <a:endParaRPr lang="en-US" altLang="zh-CN"/>
          </a:p>
          <a:p>
            <a:pPr lvl="1">
              <a:lnSpc>
                <a:spcPct val="130000"/>
              </a:lnSpc>
              <a:spcBef>
                <a:spcPts val="0"/>
              </a:spcBef>
              <a:buNone/>
            </a:pPr>
            <a:r>
              <a:rPr lang="zh-CN" altLang="en-US"/>
              <a:t>    </a:t>
            </a:r>
            <a:r>
              <a:rPr lang="zh-CN" altLang="en-US">
                <a:solidFill>
                  <a:srgbClr val="C00000"/>
                </a:solidFill>
              </a:rPr>
              <a:t>几何组成分析</a:t>
            </a:r>
            <a:endParaRPr lang="en-US" altLang="zh-CN">
              <a:solidFill>
                <a:srgbClr val="C00000"/>
              </a:solidFill>
            </a:endParaRPr>
          </a:p>
          <a:p>
            <a:pPr lvl="1">
              <a:lnSpc>
                <a:spcPct val="130000"/>
              </a:lnSpc>
              <a:spcBef>
                <a:spcPts val="0"/>
              </a:spcBef>
              <a:buNone/>
            </a:pPr>
            <a:r>
              <a:rPr lang="en-US" altLang="zh-CN">
                <a:solidFill>
                  <a:srgbClr val="C00000"/>
                </a:solidFill>
              </a:rPr>
              <a:t>    </a:t>
            </a:r>
            <a:r>
              <a:rPr lang="zh-CN" altLang="en-US">
                <a:solidFill>
                  <a:srgbClr val="C00000"/>
                </a:solidFill>
              </a:rPr>
              <a:t>杆系机动分析</a:t>
            </a:r>
            <a:endParaRPr lang="en-US" altLang="zh-CN">
              <a:solidFill>
                <a:srgbClr val="C00000"/>
              </a:solidFill>
            </a:endParaRPr>
          </a:p>
          <a:p>
            <a:pPr lvl="1">
              <a:lnSpc>
                <a:spcPct val="150000"/>
              </a:lnSpc>
              <a:spcBef>
                <a:spcPts val="600"/>
              </a:spcBef>
            </a:pPr>
            <a:r>
              <a:rPr lang="zh-CN" altLang="en-US"/>
              <a:t>几何构造分析目的：</a:t>
            </a:r>
            <a:endParaRPr lang="en-US" altLang="zh-CN"/>
          </a:p>
          <a:p>
            <a:pPr lvl="1">
              <a:lnSpc>
                <a:spcPct val="130000"/>
              </a:lnSpc>
              <a:spcBef>
                <a:spcPts val="0"/>
              </a:spcBef>
              <a:buNone/>
            </a:pPr>
            <a:r>
              <a:rPr lang="en-US" altLang="zh-CN"/>
              <a:t>    1. </a:t>
            </a:r>
            <a:r>
              <a:rPr lang="zh-CN" altLang="en-US"/>
              <a:t>判别一个体系是否为几何不变，从而决定它能否作为结构</a:t>
            </a:r>
            <a:r>
              <a:rPr lang="en-US" altLang="zh-CN"/>
              <a:t>;</a:t>
            </a:r>
            <a:endParaRPr lang="zh-CN" altLang="en-US"/>
          </a:p>
          <a:p>
            <a:pPr lvl="1">
              <a:lnSpc>
                <a:spcPct val="130000"/>
              </a:lnSpc>
              <a:spcBef>
                <a:spcPts val="0"/>
              </a:spcBef>
              <a:buNone/>
            </a:pPr>
            <a:r>
              <a:rPr lang="zh-CN" altLang="en-US"/>
              <a:t>    </a:t>
            </a:r>
            <a:r>
              <a:rPr lang="en-US" altLang="zh-CN"/>
              <a:t>2. </a:t>
            </a:r>
            <a:r>
              <a:rPr lang="zh-CN" altLang="en-US"/>
              <a:t>对于结构，区别静定结构、超静定结构，以选定相应计算方法</a:t>
            </a:r>
            <a:r>
              <a:rPr lang="en-US" altLang="zh-CN"/>
              <a:t>;</a:t>
            </a:r>
            <a:endParaRPr lang="zh-CN" altLang="en-US"/>
          </a:p>
          <a:p>
            <a:pPr lvl="1">
              <a:lnSpc>
                <a:spcPct val="130000"/>
              </a:lnSpc>
              <a:spcBef>
                <a:spcPts val="0"/>
              </a:spcBef>
              <a:buNone/>
            </a:pPr>
            <a:r>
              <a:rPr lang="zh-CN" altLang="en-US"/>
              <a:t>    </a:t>
            </a:r>
            <a:r>
              <a:rPr lang="en-US" altLang="zh-CN"/>
              <a:t>3. </a:t>
            </a:r>
            <a:r>
              <a:rPr lang="zh-CN" altLang="en-US"/>
              <a:t>搞清结构各部分间的相互关系，以决定合理的计算顺序。</a:t>
            </a:r>
          </a:p>
          <a:p>
            <a:pPr lvl="1">
              <a:lnSpc>
                <a:spcPct val="150000"/>
              </a:lnSpc>
              <a:spcBef>
                <a:spcPts val="0"/>
              </a:spcBef>
              <a:buNone/>
            </a:pP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基本概念</a:t>
            </a:r>
            <a:endParaRPr lang="zh-CN" altLang="en-US" sz="3600" dirty="0"/>
          </a:p>
        </p:txBody>
      </p:sp>
      <p:sp>
        <p:nvSpPr>
          <p:cNvPr id="5" name="TextBox 4"/>
          <p:cNvSpPr txBox="1"/>
          <p:nvPr/>
        </p:nvSpPr>
        <p:spPr>
          <a:xfrm>
            <a:off x="928662" y="5157629"/>
            <a:ext cx="7500990" cy="1200329"/>
          </a:xfrm>
          <a:prstGeom prst="rect">
            <a:avLst/>
          </a:prstGeom>
          <a:noFill/>
          <a:ln w="28575">
            <a:noFill/>
          </a:ln>
        </p:spPr>
        <p:txBody>
          <a:bodyPr wrap="square" rtlCol="0">
            <a:spAutoFit/>
          </a:bodyPr>
          <a:lstStyle/>
          <a:p>
            <a:pPr marL="285750" lvl="1" indent="-285750" fontAlgn="base">
              <a:lnSpc>
                <a:spcPct val="130000"/>
              </a:lnSpc>
              <a:spcAft>
                <a:spcPct val="0"/>
              </a:spcAft>
              <a:buFont typeface="Wingdings" pitchFamily="2" charset="2"/>
              <a:buChar char="n"/>
            </a:pPr>
            <a:r>
              <a:rPr lang="zh-CN" altLang="en-US" sz="2000" b="1" kern="0">
                <a:solidFill>
                  <a:srgbClr val="000000"/>
                </a:solidFill>
              </a:rPr>
              <a:t>额外要求：</a:t>
            </a:r>
            <a:endParaRPr lang="en-US" altLang="zh-CN" sz="2000" b="1" kern="0">
              <a:solidFill>
                <a:srgbClr val="000000"/>
              </a:solidFill>
            </a:endParaRPr>
          </a:p>
          <a:p>
            <a:pPr marL="285750" lvl="1" indent="-285750" fontAlgn="base">
              <a:lnSpc>
                <a:spcPct val="130000"/>
              </a:lnSpc>
              <a:spcAft>
                <a:spcPct val="0"/>
              </a:spcAft>
            </a:pPr>
            <a:r>
              <a:rPr lang="en-US" altLang="zh-CN" sz="2000" b="1" kern="0">
                <a:solidFill>
                  <a:srgbClr val="000000"/>
                </a:solidFill>
              </a:rPr>
              <a:t>     1 </a:t>
            </a:r>
            <a:r>
              <a:rPr lang="zh-CN" altLang="en-US" sz="2000" b="1" kern="0">
                <a:solidFill>
                  <a:srgbClr val="000000"/>
                </a:solidFill>
              </a:rPr>
              <a:t>对于几何可变体系，还要判断是瞬变体系还是常变体系；</a:t>
            </a:r>
            <a:endParaRPr lang="en-US" altLang="zh-CN" sz="2000" b="1" kern="0">
              <a:solidFill>
                <a:srgbClr val="000000"/>
              </a:solidFill>
            </a:endParaRPr>
          </a:p>
          <a:p>
            <a:r>
              <a:rPr lang="en-US" altLang="zh-CN" sz="2000" b="1"/>
              <a:t>     2 </a:t>
            </a:r>
            <a:r>
              <a:rPr lang="zh-CN" altLang="en-US" sz="2000" b="1"/>
              <a:t>不论是结构还是几何可变体系，都要判断是否有多余约束。</a:t>
            </a:r>
          </a:p>
        </p:txBody>
      </p:sp>
      <p:sp>
        <p:nvSpPr>
          <p:cNvPr id="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2"/>
            <a:ext cx="8207375" cy="5232421"/>
          </a:xfrm>
          <a:ln>
            <a:noFill/>
          </a:ln>
        </p:spPr>
        <p:txBody>
          <a:bodyPr/>
          <a:lstStyle/>
          <a:p>
            <a:r>
              <a:rPr lang="zh-CN" altLang="en-US"/>
              <a:t>计算自由度</a:t>
            </a:r>
            <a:endParaRPr lang="en-US" altLang="zh-CN"/>
          </a:p>
          <a:p>
            <a:pPr lvl="1">
              <a:lnSpc>
                <a:spcPct val="130000"/>
              </a:lnSpc>
              <a:spcBef>
                <a:spcPts val="0"/>
              </a:spcBef>
            </a:pPr>
            <a:r>
              <a:rPr lang="zh-CN" altLang="en-US"/>
              <a:t>回顾</a:t>
            </a:r>
            <a:endParaRPr lang="en-US" altLang="zh-CN"/>
          </a:p>
          <a:p>
            <a:pPr lvl="1">
              <a:lnSpc>
                <a:spcPct val="130000"/>
              </a:lnSpc>
              <a:spcBef>
                <a:spcPts val="0"/>
              </a:spcBef>
              <a:buNone/>
            </a:pPr>
            <a:r>
              <a:rPr lang="en-US" altLang="zh-CN">
                <a:solidFill>
                  <a:srgbClr val="C00000"/>
                </a:solidFill>
              </a:rPr>
              <a:t>    </a:t>
            </a:r>
            <a:r>
              <a:rPr lang="en-US" altLang="zh-CN">
                <a:latin typeface="+mn-ea"/>
              </a:rPr>
              <a:t>1.</a:t>
            </a:r>
            <a:r>
              <a:rPr lang="en-US" altLang="zh-CN"/>
              <a:t> </a:t>
            </a:r>
            <a:r>
              <a:rPr lang="zh-CN" altLang="en-US"/>
              <a:t>每个自由刚片拥有自由度 </a:t>
            </a:r>
            <a:r>
              <a:rPr lang="en-US" altLang="zh-CN"/>
              <a:t>3</a:t>
            </a:r>
            <a:r>
              <a:rPr lang="zh-CN" altLang="en-US"/>
              <a:t>；</a:t>
            </a:r>
            <a:endParaRPr lang="en-US" altLang="zh-CN"/>
          </a:p>
          <a:p>
            <a:pPr lvl="1">
              <a:lnSpc>
                <a:spcPct val="130000"/>
              </a:lnSpc>
              <a:spcBef>
                <a:spcPts val="0"/>
              </a:spcBef>
              <a:buNone/>
            </a:pPr>
            <a:r>
              <a:rPr lang="en-US" altLang="zh-CN">
                <a:latin typeface="+mn-ea"/>
              </a:rPr>
              <a:t>    2. </a:t>
            </a:r>
            <a:r>
              <a:rPr lang="zh-CN" altLang="en-US">
                <a:latin typeface="+mn-ea"/>
              </a:rPr>
              <a:t>每根单链杆能使体系自由度减少 </a:t>
            </a:r>
            <a:r>
              <a:rPr lang="en-US" altLang="zh-CN">
                <a:latin typeface="+mn-ea"/>
              </a:rPr>
              <a:t>1</a:t>
            </a:r>
            <a:r>
              <a:rPr lang="zh-CN" altLang="en-US">
                <a:latin typeface="+mn-ea"/>
              </a:rPr>
              <a:t>；</a:t>
            </a:r>
            <a:endParaRPr lang="en-US" altLang="zh-CN">
              <a:latin typeface="+mn-ea"/>
            </a:endParaRPr>
          </a:p>
          <a:p>
            <a:pPr lvl="1">
              <a:lnSpc>
                <a:spcPct val="130000"/>
              </a:lnSpc>
              <a:spcBef>
                <a:spcPts val="0"/>
              </a:spcBef>
              <a:buNone/>
            </a:pPr>
            <a:r>
              <a:rPr lang="en-US" altLang="zh-CN">
                <a:latin typeface="+mn-ea"/>
              </a:rPr>
              <a:t>    3. </a:t>
            </a:r>
            <a:r>
              <a:rPr lang="zh-CN" altLang="en-US">
                <a:latin typeface="+mn-ea"/>
              </a:rPr>
              <a:t>每个单铰能使体系自由度减少</a:t>
            </a:r>
            <a:r>
              <a:rPr lang="en-US" altLang="zh-CN">
                <a:latin typeface="+mn-ea"/>
              </a:rPr>
              <a:t>2</a:t>
            </a:r>
            <a:r>
              <a:rPr lang="zh-CN" altLang="en-US">
                <a:latin typeface="+mn-ea"/>
              </a:rPr>
              <a:t>；</a:t>
            </a:r>
            <a:endParaRPr lang="en-US" altLang="zh-CN">
              <a:latin typeface="+mn-ea"/>
            </a:endParaRPr>
          </a:p>
          <a:p>
            <a:pPr lvl="1">
              <a:lnSpc>
                <a:spcPct val="130000"/>
              </a:lnSpc>
              <a:spcBef>
                <a:spcPts val="0"/>
              </a:spcBef>
              <a:buNone/>
            </a:pPr>
            <a:r>
              <a:rPr lang="en-US" altLang="zh-CN">
                <a:latin typeface="+mn-ea"/>
              </a:rPr>
              <a:t>    4.  </a:t>
            </a:r>
            <a:r>
              <a:rPr lang="zh-CN" altLang="en-US">
                <a:latin typeface="+mn-ea"/>
              </a:rPr>
              <a:t>每个单刚结点能使体系自由度减少</a:t>
            </a:r>
            <a:r>
              <a:rPr lang="en-US" altLang="zh-CN">
                <a:latin typeface="+mn-ea"/>
              </a:rPr>
              <a:t>3</a:t>
            </a:r>
            <a:r>
              <a:rPr lang="zh-CN" altLang="en-US">
                <a:latin typeface="+mn-ea"/>
              </a:rPr>
              <a:t>。</a:t>
            </a:r>
            <a:endParaRPr lang="en-US" altLang="zh-CN">
              <a:latin typeface="+mn-ea"/>
            </a:endParaRPr>
          </a:p>
          <a:p>
            <a:pPr lvl="1">
              <a:lnSpc>
                <a:spcPct val="150000"/>
              </a:lnSpc>
              <a:spcBef>
                <a:spcPts val="0"/>
              </a:spcBef>
            </a:pPr>
            <a:r>
              <a:rPr lang="zh-CN" altLang="en-US"/>
              <a:t>计算自由度</a:t>
            </a:r>
            <a:r>
              <a:rPr lang="en-US" altLang="zh-CN" i="1">
                <a:latin typeface="Times New Roman" pitchFamily="18" charset="0"/>
                <a:cs typeface="Times New Roman" pitchFamily="18" charset="0"/>
              </a:rPr>
              <a:t>W</a:t>
            </a:r>
            <a:r>
              <a:rPr lang="zh-CN" altLang="en-US"/>
              <a:t>：</a:t>
            </a:r>
            <a:r>
              <a:rPr lang="zh-CN" altLang="en-US">
                <a:solidFill>
                  <a:schemeClr val="tx1"/>
                </a:solidFill>
              </a:rPr>
              <a:t>各部件自由度总和减</a:t>
            </a:r>
            <a:r>
              <a:rPr lang="zh-CN" altLang="en-US">
                <a:solidFill>
                  <a:srgbClr val="C00000"/>
                </a:solidFill>
              </a:rPr>
              <a:t>总约束数 </a:t>
            </a:r>
            <a:r>
              <a:rPr lang="zh-CN" altLang="en-US">
                <a:solidFill>
                  <a:schemeClr val="tx1"/>
                </a:solidFill>
              </a:rPr>
              <a:t> </a:t>
            </a:r>
            <a:endParaRPr lang="en-US" altLang="zh-CN">
              <a:solidFill>
                <a:schemeClr val="tx1"/>
              </a:solidFill>
            </a:endParaRPr>
          </a:p>
          <a:p>
            <a:pPr lvl="1">
              <a:lnSpc>
                <a:spcPct val="130000"/>
              </a:lnSpc>
              <a:spcBef>
                <a:spcPts val="0"/>
              </a:spcBef>
              <a:buNone/>
            </a:pPr>
            <a:r>
              <a:rPr lang="en-US" altLang="zh-CN" sz="2400" i="1">
                <a:latin typeface="Times New Roman" pitchFamily="18" charset="0"/>
                <a:cs typeface="Times New Roman" pitchFamily="18" charset="0"/>
              </a:rPr>
              <a:t>                              W </a:t>
            </a:r>
            <a:r>
              <a:rPr lang="en-US" altLang="zh-CN" sz="2400">
                <a:latin typeface="Times New Roman" pitchFamily="18" charset="0"/>
                <a:cs typeface="Times New Roman" pitchFamily="18" charset="0"/>
              </a:rPr>
              <a:t>= 3</a:t>
            </a:r>
            <a:r>
              <a:rPr lang="en-US" altLang="zh-CN" sz="2400" i="1">
                <a:latin typeface="Times New Roman" pitchFamily="18" charset="0"/>
                <a:cs typeface="Times New Roman" pitchFamily="18" charset="0"/>
              </a:rPr>
              <a:t>m -</a:t>
            </a:r>
            <a:r>
              <a:rPr lang="en-US" altLang="zh-CN" sz="2400">
                <a:latin typeface="Times New Roman" pitchFamily="18" charset="0"/>
                <a:cs typeface="Times New Roman" pitchFamily="18" charset="0"/>
              </a:rPr>
              <a:t>(3</a:t>
            </a:r>
            <a:r>
              <a:rPr lang="en-US" altLang="zh-CN" sz="2400" i="1">
                <a:latin typeface="Times New Roman" pitchFamily="18" charset="0"/>
                <a:cs typeface="Times New Roman" pitchFamily="18" charset="0"/>
              </a:rPr>
              <a:t>g+</a:t>
            </a:r>
            <a:r>
              <a:rPr lang="en-US" altLang="zh-CN" sz="2400">
                <a:latin typeface="Times New Roman" pitchFamily="18" charset="0"/>
                <a:cs typeface="Times New Roman" pitchFamily="18" charset="0"/>
              </a:rPr>
              <a:t>2</a:t>
            </a:r>
            <a:r>
              <a:rPr lang="en-US" altLang="zh-CN" sz="2400" i="1">
                <a:latin typeface="Times New Roman" pitchFamily="18" charset="0"/>
                <a:cs typeface="Times New Roman" pitchFamily="18" charset="0"/>
              </a:rPr>
              <a:t>h+b</a:t>
            </a:r>
            <a:r>
              <a:rPr lang="en-US" altLang="zh-CN" sz="2400">
                <a:latin typeface="Times New Roman" pitchFamily="18" charset="0"/>
                <a:cs typeface="Times New Roman" pitchFamily="18" charset="0"/>
              </a:rPr>
              <a:t>)</a:t>
            </a:r>
          </a:p>
          <a:p>
            <a:pPr lvl="1" indent="334963">
              <a:lnSpc>
                <a:spcPct val="150000"/>
              </a:lnSpc>
              <a:spcBef>
                <a:spcPts val="0"/>
              </a:spcBef>
              <a:buFont typeface="Times New Roman" pitchFamily="18" charset="0"/>
              <a:buChar char="−"/>
            </a:pPr>
            <a:r>
              <a:rPr lang="en-US" altLang="zh-CN" i="1">
                <a:latin typeface="Times New Roman" pitchFamily="18" charset="0"/>
                <a:cs typeface="Times New Roman" pitchFamily="18" charset="0"/>
              </a:rPr>
              <a:t>m</a:t>
            </a:r>
            <a:r>
              <a:rPr lang="en-US" altLang="zh-CN">
                <a:latin typeface="Times New Roman" pitchFamily="18" charset="0"/>
                <a:cs typeface="Times New Roman" pitchFamily="18" charset="0"/>
              </a:rPr>
              <a:t>: </a:t>
            </a:r>
            <a:r>
              <a:rPr lang="zh-CN" altLang="en-US">
                <a:latin typeface="Times New Roman" pitchFamily="18" charset="0"/>
                <a:cs typeface="Times New Roman" pitchFamily="18" charset="0"/>
              </a:rPr>
              <a:t>刚片数（不包括地基）；</a:t>
            </a:r>
            <a:endParaRPr lang="en-US" altLang="zh-CN">
              <a:latin typeface="Times New Roman" pitchFamily="18" charset="0"/>
              <a:cs typeface="Times New Roman" pitchFamily="18" charset="0"/>
            </a:endParaRPr>
          </a:p>
          <a:p>
            <a:pPr lvl="1" indent="334963">
              <a:lnSpc>
                <a:spcPct val="150000"/>
              </a:lnSpc>
              <a:spcBef>
                <a:spcPts val="0"/>
              </a:spcBef>
              <a:buFont typeface="Times New Roman" pitchFamily="18" charset="0"/>
              <a:buChar char="−"/>
            </a:pPr>
            <a:r>
              <a:rPr lang="en-US" altLang="zh-CN" i="1">
                <a:latin typeface="Times New Roman" pitchFamily="18" charset="0"/>
                <a:cs typeface="Times New Roman" pitchFamily="18" charset="0"/>
              </a:rPr>
              <a:t>g</a:t>
            </a:r>
            <a:r>
              <a:rPr lang="en-US" altLang="zh-CN">
                <a:latin typeface="Times New Roman" pitchFamily="18" charset="0"/>
                <a:cs typeface="Times New Roman" pitchFamily="18" charset="0"/>
              </a:rPr>
              <a:t>:  </a:t>
            </a:r>
            <a:r>
              <a:rPr lang="zh-CN" altLang="en-US">
                <a:latin typeface="Times New Roman" pitchFamily="18" charset="0"/>
                <a:cs typeface="Times New Roman" pitchFamily="18" charset="0"/>
              </a:rPr>
              <a:t>单刚结点数（含支座）；</a:t>
            </a:r>
            <a:endParaRPr lang="en-US" altLang="zh-CN">
              <a:latin typeface="Times New Roman" pitchFamily="18" charset="0"/>
              <a:cs typeface="Times New Roman" pitchFamily="18" charset="0"/>
            </a:endParaRPr>
          </a:p>
          <a:p>
            <a:pPr lvl="1" indent="334963">
              <a:lnSpc>
                <a:spcPct val="150000"/>
              </a:lnSpc>
              <a:spcBef>
                <a:spcPts val="0"/>
              </a:spcBef>
              <a:buFont typeface="Times New Roman" pitchFamily="18" charset="0"/>
              <a:buChar char="−"/>
            </a:pPr>
            <a:r>
              <a:rPr lang="en-US" altLang="zh-CN" i="1">
                <a:solidFill>
                  <a:schemeClr val="tx1"/>
                </a:solidFill>
                <a:latin typeface="Times New Roman" pitchFamily="18" charset="0"/>
                <a:cs typeface="Times New Roman" pitchFamily="18" charset="0"/>
              </a:rPr>
              <a:t>h</a:t>
            </a:r>
            <a:r>
              <a:rPr lang="en-US" altLang="zh-CN">
                <a:solidFill>
                  <a:schemeClr val="tx1"/>
                </a:solidFill>
              </a:rPr>
              <a:t>:  </a:t>
            </a:r>
            <a:r>
              <a:rPr lang="zh-CN" altLang="en-US"/>
              <a:t>单铰数（含支座）；</a:t>
            </a:r>
            <a:endParaRPr lang="en-US" altLang="zh-CN">
              <a:solidFill>
                <a:schemeClr val="tx1"/>
              </a:solidFill>
            </a:endParaRPr>
          </a:p>
          <a:p>
            <a:pPr lvl="1" indent="334963">
              <a:lnSpc>
                <a:spcPct val="150000"/>
              </a:lnSpc>
              <a:spcBef>
                <a:spcPts val="0"/>
              </a:spcBef>
              <a:buFont typeface="Times New Roman" pitchFamily="18" charset="0"/>
              <a:buChar char="−"/>
            </a:pPr>
            <a:r>
              <a:rPr lang="en-US" altLang="zh-CN" i="1">
                <a:latin typeface="Times New Roman" pitchFamily="18" charset="0"/>
                <a:cs typeface="Times New Roman" pitchFamily="18" charset="0"/>
              </a:rPr>
              <a:t>b</a:t>
            </a:r>
            <a:r>
              <a:rPr lang="en-US" altLang="zh-CN">
                <a:latin typeface="Times New Roman" pitchFamily="18" charset="0"/>
                <a:cs typeface="Times New Roman" pitchFamily="18" charset="0"/>
              </a:rPr>
              <a:t>:  </a:t>
            </a:r>
            <a:r>
              <a:rPr lang="zh-CN" altLang="en-US">
                <a:latin typeface="Times New Roman" pitchFamily="18" charset="0"/>
                <a:cs typeface="Times New Roman" pitchFamily="18" charset="0"/>
              </a:rPr>
              <a:t>单链杆数（含支座）。</a:t>
            </a:r>
            <a:endParaRPr lang="en-US" altLang="zh-CN">
              <a:solidFill>
                <a:schemeClr val="tx1"/>
              </a:solidFill>
              <a:latin typeface="Times New Roman" pitchFamily="18" charset="0"/>
              <a:cs typeface="Times New Roman" pitchFamily="18" charset="0"/>
            </a:endParaRPr>
          </a:p>
          <a:p>
            <a:pPr lvl="1">
              <a:lnSpc>
                <a:spcPct val="130000"/>
              </a:lnSpc>
              <a:spcBef>
                <a:spcPts val="0"/>
              </a:spcBef>
              <a:buNone/>
            </a:pPr>
            <a:r>
              <a:rPr lang="en-US" altLang="zh-CN"/>
              <a:t>    </a:t>
            </a:r>
          </a:p>
        </p:txBody>
      </p:sp>
      <p:sp>
        <p:nvSpPr>
          <p:cNvPr id="2" name="标题 1"/>
          <p:cNvSpPr>
            <a:spLocks noGrp="1"/>
          </p:cNvSpPr>
          <p:nvPr>
            <p:ph type="title"/>
          </p:nvPr>
        </p:nvSpPr>
        <p:spPr>
          <a:xfrm>
            <a:off x="457200" y="260648"/>
            <a:ext cx="8229600" cy="882336"/>
          </a:xfrm>
        </p:spPr>
        <p:txBody>
          <a:bodyPr/>
          <a:lstStyle/>
          <a:p>
            <a:pPr algn="r"/>
            <a:r>
              <a:rPr lang="zh-CN" altLang="en-US"/>
              <a:t>平面杆件体系的计算自由度</a:t>
            </a:r>
          </a:p>
        </p:txBody>
      </p:sp>
      <p:sp>
        <p:nvSpPr>
          <p:cNvPr id="4"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07375" cy="2303464"/>
          </a:xfrm>
          <a:ln>
            <a:noFill/>
          </a:ln>
        </p:spPr>
        <p:txBody>
          <a:bodyPr/>
          <a:lstStyle/>
          <a:p>
            <a:r>
              <a:rPr lang="zh-CN" altLang="en-US"/>
              <a:t>计算自由度</a:t>
            </a:r>
            <a:endParaRPr lang="en-US" altLang="zh-CN"/>
          </a:p>
          <a:p>
            <a:pPr lvl="1">
              <a:lnSpc>
                <a:spcPct val="150000"/>
              </a:lnSpc>
              <a:spcBef>
                <a:spcPts val="0"/>
              </a:spcBef>
            </a:pPr>
            <a:r>
              <a:rPr lang="zh-CN" altLang="en-US"/>
              <a:t>平面链杆系的计算自由度：</a:t>
            </a:r>
            <a:endParaRPr lang="en-US" altLang="zh-CN">
              <a:solidFill>
                <a:schemeClr val="tx1"/>
              </a:solidFill>
            </a:endParaRPr>
          </a:p>
          <a:p>
            <a:pPr lvl="1">
              <a:lnSpc>
                <a:spcPct val="130000"/>
              </a:lnSpc>
              <a:spcBef>
                <a:spcPts val="0"/>
              </a:spcBef>
              <a:buNone/>
            </a:pPr>
            <a:r>
              <a:rPr lang="en-US" altLang="zh-CN" sz="2400" i="1">
                <a:latin typeface="Times New Roman" pitchFamily="18" charset="0"/>
                <a:cs typeface="Times New Roman" pitchFamily="18" charset="0"/>
              </a:rPr>
              <a:t>          W </a:t>
            </a:r>
            <a:r>
              <a:rPr lang="en-US" altLang="zh-CN" sz="2400">
                <a:latin typeface="Times New Roman" pitchFamily="18" charset="0"/>
                <a:cs typeface="Times New Roman" pitchFamily="18" charset="0"/>
              </a:rPr>
              <a:t>= 2</a:t>
            </a:r>
            <a:r>
              <a:rPr lang="en-US" altLang="zh-CN" sz="2400" i="1">
                <a:latin typeface="Times New Roman" pitchFamily="18" charset="0"/>
                <a:cs typeface="Times New Roman" pitchFamily="18" charset="0"/>
              </a:rPr>
              <a:t>j </a:t>
            </a:r>
            <a:r>
              <a:rPr lang="en-US" altLang="zh-CN" sz="2400">
                <a:latin typeface="Times New Roman" pitchFamily="18" charset="0"/>
                <a:cs typeface="Times New Roman" pitchFamily="18" charset="0"/>
              </a:rPr>
              <a:t>- </a:t>
            </a:r>
            <a:r>
              <a:rPr lang="en-US" altLang="zh-CN" sz="2400" i="1">
                <a:latin typeface="Times New Roman" pitchFamily="18" charset="0"/>
                <a:cs typeface="Times New Roman" pitchFamily="18" charset="0"/>
              </a:rPr>
              <a:t>b</a:t>
            </a:r>
            <a:endParaRPr lang="en-US" altLang="zh-CN" sz="2400">
              <a:latin typeface="Times New Roman" pitchFamily="18" charset="0"/>
              <a:cs typeface="Times New Roman" pitchFamily="18" charset="0"/>
            </a:endParaRPr>
          </a:p>
          <a:p>
            <a:pPr lvl="1" indent="334963">
              <a:lnSpc>
                <a:spcPct val="150000"/>
              </a:lnSpc>
              <a:spcBef>
                <a:spcPts val="0"/>
              </a:spcBef>
              <a:buFont typeface="Times New Roman" pitchFamily="18" charset="0"/>
              <a:buChar char="−"/>
            </a:pPr>
            <a:r>
              <a:rPr lang="en-US" altLang="zh-CN" i="1">
                <a:latin typeface="Times New Roman" pitchFamily="18" charset="0"/>
                <a:cs typeface="Times New Roman" pitchFamily="18" charset="0"/>
              </a:rPr>
              <a:t>m</a:t>
            </a:r>
            <a:r>
              <a:rPr lang="en-US" altLang="zh-CN">
                <a:latin typeface="Times New Roman" pitchFamily="18" charset="0"/>
                <a:cs typeface="Times New Roman" pitchFamily="18" charset="0"/>
              </a:rPr>
              <a:t>: </a:t>
            </a:r>
            <a:r>
              <a:rPr lang="zh-CN" altLang="en-US">
                <a:latin typeface="Times New Roman" pitchFamily="18" charset="0"/>
                <a:cs typeface="Times New Roman" pitchFamily="18" charset="0"/>
              </a:rPr>
              <a:t>结点数；</a:t>
            </a:r>
            <a:endParaRPr lang="en-US" altLang="zh-CN">
              <a:latin typeface="Times New Roman" pitchFamily="18" charset="0"/>
              <a:cs typeface="Times New Roman" pitchFamily="18" charset="0"/>
            </a:endParaRPr>
          </a:p>
          <a:p>
            <a:pPr lvl="1" indent="334963">
              <a:lnSpc>
                <a:spcPct val="150000"/>
              </a:lnSpc>
              <a:spcBef>
                <a:spcPts val="0"/>
              </a:spcBef>
              <a:buFont typeface="Times New Roman" pitchFamily="18" charset="0"/>
              <a:buChar char="−"/>
            </a:pPr>
            <a:r>
              <a:rPr lang="en-US" altLang="zh-CN" i="1">
                <a:latin typeface="Times New Roman" pitchFamily="18" charset="0"/>
                <a:cs typeface="Times New Roman" pitchFamily="18" charset="0"/>
              </a:rPr>
              <a:t>b</a:t>
            </a:r>
            <a:r>
              <a:rPr lang="en-US" altLang="zh-CN">
                <a:latin typeface="Times New Roman" pitchFamily="18" charset="0"/>
                <a:cs typeface="Times New Roman" pitchFamily="18" charset="0"/>
              </a:rPr>
              <a:t>:  </a:t>
            </a:r>
            <a:r>
              <a:rPr lang="zh-CN" altLang="en-US">
                <a:latin typeface="Times New Roman" pitchFamily="18" charset="0"/>
                <a:cs typeface="Times New Roman" pitchFamily="18" charset="0"/>
              </a:rPr>
              <a:t>单链杆数（含支座链杆）；</a:t>
            </a:r>
            <a:endParaRPr lang="en-US" altLang="zh-CN">
              <a:latin typeface="Times New Roman" pitchFamily="18" charset="0"/>
              <a:cs typeface="Times New Roman" pitchFamily="18" charset="0"/>
            </a:endParaRPr>
          </a:p>
          <a:p>
            <a:pPr lvl="1">
              <a:lnSpc>
                <a:spcPct val="150000"/>
              </a:lnSpc>
              <a:spcBef>
                <a:spcPts val="0"/>
              </a:spcBef>
              <a:buNone/>
            </a:pPr>
            <a:r>
              <a:rPr lang="zh-CN" altLang="en-US">
                <a:solidFill>
                  <a:srgbClr val="000000"/>
                </a:solidFill>
              </a:rPr>
              <a:t>    两点间加一链杆，则减少一个自由度。</a:t>
            </a:r>
            <a:endParaRPr lang="en-US" altLang="zh-CN">
              <a:solidFill>
                <a:srgbClr val="000000"/>
              </a:solidFill>
            </a:endParaRPr>
          </a:p>
          <a:p>
            <a:pPr lvl="1" indent="334963">
              <a:lnSpc>
                <a:spcPct val="150000"/>
              </a:lnSpc>
              <a:spcBef>
                <a:spcPts val="0"/>
              </a:spcBef>
              <a:buFont typeface="Times New Roman" pitchFamily="18" charset="0"/>
              <a:buChar char="−"/>
            </a:pPr>
            <a:endParaRPr lang="en-US" altLang="zh-CN">
              <a:latin typeface="Times New Roman" pitchFamily="18" charset="0"/>
              <a:cs typeface="Times New Roman" pitchFamily="18" charset="0"/>
            </a:endParaRPr>
          </a:p>
          <a:p>
            <a:pPr lvl="1" indent="334963">
              <a:lnSpc>
                <a:spcPct val="150000"/>
              </a:lnSpc>
              <a:spcBef>
                <a:spcPts val="0"/>
              </a:spcBef>
              <a:buNone/>
            </a:pPr>
            <a:endParaRPr lang="en-US" altLang="zh-CN">
              <a:solidFill>
                <a:schemeClr val="tx1"/>
              </a:solidFill>
              <a:latin typeface="Times New Roman" pitchFamily="18" charset="0"/>
              <a:cs typeface="Times New Roman" pitchFamily="18" charset="0"/>
            </a:endParaRPr>
          </a:p>
          <a:p>
            <a:pPr lvl="1">
              <a:lnSpc>
                <a:spcPct val="130000"/>
              </a:lnSpc>
              <a:spcBef>
                <a:spcPts val="0"/>
              </a:spcBef>
              <a:buNone/>
            </a:pPr>
            <a:r>
              <a:rPr lang="en-US" altLang="zh-CN"/>
              <a:t>    </a:t>
            </a:r>
          </a:p>
        </p:txBody>
      </p:sp>
      <p:sp>
        <p:nvSpPr>
          <p:cNvPr id="2" name="标题 1"/>
          <p:cNvSpPr>
            <a:spLocks noGrp="1"/>
          </p:cNvSpPr>
          <p:nvPr>
            <p:ph type="title"/>
          </p:nvPr>
        </p:nvSpPr>
        <p:spPr>
          <a:xfrm>
            <a:off x="457200" y="260648"/>
            <a:ext cx="8229600" cy="882336"/>
          </a:xfrm>
        </p:spPr>
        <p:txBody>
          <a:bodyPr/>
          <a:lstStyle/>
          <a:p>
            <a:pPr algn="r"/>
            <a:r>
              <a:rPr lang="zh-CN" altLang="en-US"/>
              <a:t>平面杆件体系的计算自由度</a:t>
            </a:r>
          </a:p>
        </p:txBody>
      </p:sp>
      <p:pic>
        <p:nvPicPr>
          <p:cNvPr id="2050" name="Picture 2"/>
          <p:cNvPicPr>
            <a:picLocks noChangeAspect="1" noChangeArrowheads="1"/>
          </p:cNvPicPr>
          <p:nvPr/>
        </p:nvPicPr>
        <p:blipFill>
          <a:blip r:embed="rId3" cstate="print"/>
          <a:srcRect/>
          <a:stretch>
            <a:fillRect/>
          </a:stretch>
        </p:blipFill>
        <p:spPr bwMode="auto">
          <a:xfrm rot="5400000">
            <a:off x="5750727" y="1821646"/>
            <a:ext cx="3143272" cy="2357453"/>
          </a:xfrm>
          <a:prstGeom prst="rect">
            <a:avLst/>
          </a:prstGeom>
          <a:noFill/>
          <a:ln w="9525">
            <a:noFill/>
            <a:miter lim="800000"/>
            <a:headEnd/>
            <a:tailEnd/>
          </a:ln>
          <a:effectLst/>
        </p:spPr>
      </p:pic>
      <p:sp>
        <p:nvSpPr>
          <p:cNvPr id="5" name="矩形 4"/>
          <p:cNvSpPr/>
          <p:nvPr/>
        </p:nvSpPr>
        <p:spPr>
          <a:xfrm>
            <a:off x="460995" y="4240624"/>
            <a:ext cx="8182972" cy="2197525"/>
          </a:xfrm>
          <a:prstGeom prst="rect">
            <a:avLst/>
          </a:prstGeom>
        </p:spPr>
        <p:txBody>
          <a:bodyPr wrap="square">
            <a:spAutoFit/>
          </a:bodyPr>
          <a:lstStyle/>
          <a:p>
            <a:pPr marL="342900" lvl="0" indent="-342900" fontAlgn="base">
              <a:lnSpc>
                <a:spcPct val="120000"/>
              </a:lnSpc>
              <a:spcBef>
                <a:spcPct val="20000"/>
              </a:spcBef>
              <a:spcAft>
                <a:spcPct val="0"/>
              </a:spcAft>
              <a:buFont typeface="Wingdings" pitchFamily="2" charset="2"/>
              <a:buChar char="n"/>
            </a:pPr>
            <a:r>
              <a:rPr lang="zh-CN" altLang="en-US" sz="2400" b="1" kern="0">
                <a:solidFill>
                  <a:srgbClr val="C00000"/>
                </a:solidFill>
              </a:rPr>
              <a:t>回顾：和自由度的关系</a:t>
            </a:r>
            <a:endParaRPr lang="en-US" altLang="zh-CN" sz="2400" b="1" kern="0">
              <a:solidFill>
                <a:srgbClr val="C00000"/>
              </a:solidFill>
            </a:endParaRPr>
          </a:p>
          <a:p>
            <a:pPr marL="742950" lvl="1" indent="-285750" fontAlgn="base">
              <a:lnSpc>
                <a:spcPct val="150000"/>
              </a:lnSpc>
              <a:spcAft>
                <a:spcPct val="0"/>
              </a:spcAft>
              <a:buFont typeface="Wingdings" pitchFamily="2" charset="2"/>
              <a:buChar char="n"/>
            </a:pPr>
            <a:r>
              <a:rPr lang="zh-CN" altLang="en-US" sz="2000" b="1"/>
              <a:t>体系运动时可独立改变的几何参数数目（</a:t>
            </a:r>
            <a:r>
              <a:rPr lang="en-US" altLang="zh-CN" sz="2000" b="1" i="1"/>
              <a:t>S</a:t>
            </a:r>
            <a:r>
              <a:rPr lang="zh-CN" altLang="en-US" sz="2000" b="1"/>
              <a:t>）</a:t>
            </a:r>
            <a:endParaRPr lang="en-US" altLang="zh-CN" sz="2000" b="1"/>
          </a:p>
          <a:p>
            <a:pPr marL="742950" lvl="1" indent="-285750" fontAlgn="base">
              <a:lnSpc>
                <a:spcPct val="200000"/>
              </a:lnSpc>
              <a:spcAft>
                <a:spcPct val="0"/>
              </a:spcAft>
            </a:pPr>
            <a:r>
              <a:rPr lang="zh-CN" altLang="en-US" sz="2000" b="1" kern="0">
                <a:latin typeface="Times New Roman" pitchFamily="18" charset="0"/>
                <a:cs typeface="Times New Roman" pitchFamily="18" charset="0"/>
              </a:rPr>
              <a:t>                                              </a:t>
            </a:r>
            <a:r>
              <a:rPr lang="en-US" altLang="zh-CN" sz="2400" b="1" i="1" kern="0">
                <a:solidFill>
                  <a:srgbClr val="000000"/>
                </a:solidFill>
                <a:latin typeface="Times New Roman" pitchFamily="18" charset="0"/>
                <a:cs typeface="Times New Roman" pitchFamily="18" charset="0"/>
              </a:rPr>
              <a:t>S ≥ W</a:t>
            </a:r>
          </a:p>
          <a:p>
            <a:pPr marL="742950" lvl="1" indent="-285750" fontAlgn="base">
              <a:lnSpc>
                <a:spcPct val="150000"/>
              </a:lnSpc>
              <a:spcAft>
                <a:spcPct val="0"/>
              </a:spcAft>
              <a:buFont typeface="Wingdings" pitchFamily="2" charset="2"/>
              <a:buChar char="n"/>
            </a:pPr>
            <a:r>
              <a:rPr lang="zh-CN" altLang="en-US" sz="2000" b="1" kern="0">
                <a:latin typeface="Times New Roman" pitchFamily="18" charset="0"/>
                <a:cs typeface="Times New Roman" pitchFamily="18" charset="0"/>
              </a:rPr>
              <a:t>原因：有些约束是多余的，被称为</a:t>
            </a:r>
            <a:r>
              <a:rPr lang="zh-CN" altLang="en-US" sz="2000" b="1" kern="0">
                <a:solidFill>
                  <a:srgbClr val="C00000"/>
                </a:solidFill>
                <a:latin typeface="Times New Roman" pitchFamily="18" charset="0"/>
                <a:cs typeface="Times New Roman" pitchFamily="18" charset="0"/>
              </a:rPr>
              <a:t>多余约束。</a:t>
            </a:r>
            <a:endParaRPr lang="en-US" altLang="zh-CN" sz="2000" b="1" kern="0">
              <a:solidFill>
                <a:srgbClr val="C00000"/>
              </a:solidFill>
              <a:latin typeface="Times New Roman" pitchFamily="18" charset="0"/>
              <a:cs typeface="Times New Roman" pitchFamily="18" charset="0"/>
            </a:endParaRPr>
          </a:p>
        </p:txBody>
      </p:sp>
      <p:sp>
        <p:nvSpPr>
          <p:cNvPr id="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2000"/>
                                        <p:tgtEl>
                                          <p:spTgt spid="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2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4643438" y="1571612"/>
            <a:ext cx="4286280" cy="4071966"/>
            <a:chOff x="4429124" y="2000240"/>
            <a:chExt cx="4286280" cy="4071966"/>
          </a:xfrm>
        </p:grpSpPr>
        <p:pic>
          <p:nvPicPr>
            <p:cNvPr id="8" name="Picture 2"/>
            <p:cNvPicPr>
              <a:picLocks noChangeAspect="1" noChangeArrowheads="1"/>
            </p:cNvPicPr>
            <p:nvPr/>
          </p:nvPicPr>
          <p:blipFill>
            <a:blip r:embed="rId3" cstate="print">
              <a:clrChange>
                <a:clrFrom>
                  <a:srgbClr val="FEFEFE"/>
                </a:clrFrom>
                <a:clrTo>
                  <a:srgbClr val="FEFEFE">
                    <a:alpha val="0"/>
                  </a:srgbClr>
                </a:clrTo>
              </a:clrChange>
            </a:blip>
            <a:srcRect/>
            <a:stretch>
              <a:fillRect/>
            </a:stretch>
          </p:blipFill>
          <p:spPr bwMode="auto">
            <a:xfrm>
              <a:off x="4429124" y="2000240"/>
              <a:ext cx="4286280" cy="4071966"/>
            </a:xfrm>
            <a:prstGeom prst="rect">
              <a:avLst/>
            </a:prstGeom>
            <a:noFill/>
          </p:spPr>
        </p:pic>
        <p:cxnSp>
          <p:nvCxnSpPr>
            <p:cNvPr id="22" name="直接连接符 21"/>
            <p:cNvCxnSpPr/>
            <p:nvPr/>
          </p:nvCxnSpPr>
          <p:spPr bwMode="auto">
            <a:xfrm rot="5400000" flipH="1" flipV="1">
              <a:off x="5036347" y="2607463"/>
              <a:ext cx="1500198" cy="1428760"/>
            </a:xfrm>
            <a:prstGeom prst="line">
              <a:avLst/>
            </a:prstGeom>
            <a:solidFill>
              <a:schemeClr val="accent1"/>
            </a:solidFill>
            <a:ln w="38100" cap="flat" cmpd="sng" algn="ctr">
              <a:solidFill>
                <a:schemeClr val="tx1"/>
              </a:solidFill>
              <a:prstDash val="solid"/>
              <a:round/>
              <a:headEnd type="none" w="med" len="med"/>
              <a:tailEnd type="none" w="med" len="med"/>
            </a:ln>
            <a:effectLst/>
          </p:spPr>
        </p:cxnSp>
      </p:grpSp>
      <p:sp>
        <p:nvSpPr>
          <p:cNvPr id="3" name="内容占位符 2"/>
          <p:cNvSpPr>
            <a:spLocks noGrp="1"/>
          </p:cNvSpPr>
          <p:nvPr>
            <p:ph idx="1"/>
          </p:nvPr>
        </p:nvSpPr>
        <p:spPr>
          <a:xfrm>
            <a:off x="468313" y="1268412"/>
            <a:ext cx="8207375" cy="5018107"/>
          </a:xfrm>
          <a:ln>
            <a:noFill/>
          </a:ln>
        </p:spPr>
        <p:txBody>
          <a:bodyPr/>
          <a:lstStyle/>
          <a:p>
            <a:r>
              <a:rPr lang="zh-CN" altLang="en-US"/>
              <a:t>算例</a:t>
            </a:r>
            <a:endParaRPr lang="en-US" altLang="zh-CN"/>
          </a:p>
          <a:p>
            <a:pPr lvl="1">
              <a:lnSpc>
                <a:spcPct val="150000"/>
              </a:lnSpc>
              <a:spcBef>
                <a:spcPts val="0"/>
              </a:spcBef>
            </a:pPr>
            <a:r>
              <a:rPr lang="zh-CN" altLang="en-US"/>
              <a:t>例</a:t>
            </a:r>
            <a:r>
              <a:rPr lang="en-US" altLang="zh-CN"/>
              <a:t>1</a:t>
            </a:r>
            <a:r>
              <a:rPr lang="zh-CN" altLang="en-US"/>
              <a:t>：</a:t>
            </a:r>
            <a:r>
              <a:rPr lang="zh-CN" altLang="en-US">
                <a:solidFill>
                  <a:schemeClr val="tx2"/>
                </a:solidFill>
                <a:latin typeface="楷体_GB2312" pitchFamily="49" charset="-122"/>
              </a:rPr>
              <a:t>求图示体系的计算自由度</a:t>
            </a:r>
            <a:endParaRPr lang="zh-CN" altLang="en-US" b="0">
              <a:ea typeface="宋体" charset="-122"/>
            </a:endParaRPr>
          </a:p>
          <a:p>
            <a:pPr lvl="1">
              <a:lnSpc>
                <a:spcPct val="150000"/>
              </a:lnSpc>
              <a:spcBef>
                <a:spcPts val="0"/>
              </a:spcBef>
            </a:pPr>
            <a:endParaRPr lang="en-US" altLang="zh-CN">
              <a:solidFill>
                <a:schemeClr val="tx1"/>
              </a:solidFill>
            </a:endParaRPr>
          </a:p>
          <a:p>
            <a:pPr lvl="1">
              <a:lnSpc>
                <a:spcPct val="130000"/>
              </a:lnSpc>
              <a:spcBef>
                <a:spcPts val="0"/>
              </a:spcBef>
              <a:buNone/>
            </a:pPr>
            <a:r>
              <a:rPr lang="en-US" altLang="zh-CN"/>
              <a:t>    </a:t>
            </a:r>
          </a:p>
        </p:txBody>
      </p:sp>
      <p:sp>
        <p:nvSpPr>
          <p:cNvPr id="2" name="标题 1"/>
          <p:cNvSpPr>
            <a:spLocks noGrp="1"/>
          </p:cNvSpPr>
          <p:nvPr>
            <p:ph type="title"/>
          </p:nvPr>
        </p:nvSpPr>
        <p:spPr>
          <a:xfrm>
            <a:off x="457200" y="260648"/>
            <a:ext cx="8229600" cy="882336"/>
          </a:xfrm>
        </p:spPr>
        <p:txBody>
          <a:bodyPr/>
          <a:lstStyle/>
          <a:p>
            <a:pPr algn="r"/>
            <a:r>
              <a:rPr lang="zh-CN" altLang="en-US"/>
              <a:t>平面杆件体系的计算自由度</a:t>
            </a:r>
          </a:p>
        </p:txBody>
      </p:sp>
      <p:sp>
        <p:nvSpPr>
          <p:cNvPr id="7" name="Rectangle 6"/>
          <p:cNvSpPr>
            <a:spLocks noChangeArrowheads="1"/>
          </p:cNvSpPr>
          <p:nvPr/>
        </p:nvSpPr>
        <p:spPr bwMode="auto">
          <a:xfrm>
            <a:off x="4110038" y="2500306"/>
            <a:ext cx="533400" cy="2571768"/>
          </a:xfrm>
          <a:prstGeom prst="rect">
            <a:avLst/>
          </a:prstGeom>
          <a:noFill/>
          <a:ln w="9525">
            <a:noFill/>
            <a:miter lim="800000"/>
            <a:headEnd/>
            <a:tailEnd/>
          </a:ln>
          <a:effectLst/>
        </p:spPr>
        <p:txBody>
          <a:bodyPr wrap="none" anchor="ctr"/>
          <a:lstStyle/>
          <a:p>
            <a:pPr algn="ctr">
              <a:spcBef>
                <a:spcPct val="0"/>
              </a:spcBef>
            </a:pPr>
            <a:r>
              <a:rPr lang="en-US" altLang="zh-CN" b="1" i="1">
                <a:solidFill>
                  <a:srgbClr val="03550D"/>
                </a:solidFill>
                <a:effectLst>
                  <a:outerShdw blurRad="38100" dist="38100" dir="2700000" algn="tl">
                    <a:srgbClr val="C0C0C0"/>
                  </a:outerShdw>
                </a:effectLst>
                <a:ea typeface="宋体" charset="-122"/>
              </a:rPr>
              <a:t>AC</a:t>
            </a:r>
          </a:p>
          <a:p>
            <a:pPr algn="ctr">
              <a:spcBef>
                <a:spcPct val="0"/>
              </a:spcBef>
            </a:pPr>
            <a:r>
              <a:rPr lang="en-US" altLang="zh-CN" b="1" i="1">
                <a:solidFill>
                  <a:srgbClr val="03550D"/>
                </a:solidFill>
                <a:effectLst>
                  <a:outerShdw blurRad="38100" dist="38100" dir="2700000" algn="tl">
                    <a:srgbClr val="C0C0C0"/>
                  </a:outerShdw>
                </a:effectLst>
                <a:ea typeface="宋体" charset="-122"/>
              </a:rPr>
              <a:t>CDB</a:t>
            </a:r>
          </a:p>
          <a:p>
            <a:pPr algn="ctr">
              <a:spcBef>
                <a:spcPct val="0"/>
              </a:spcBef>
            </a:pPr>
            <a:r>
              <a:rPr lang="en-US" altLang="zh-CN" b="1" i="1">
                <a:solidFill>
                  <a:srgbClr val="03550D"/>
                </a:solidFill>
                <a:effectLst>
                  <a:outerShdw blurRad="38100" dist="38100" dir="2700000" algn="tl">
                    <a:srgbClr val="C0C0C0"/>
                  </a:outerShdw>
                </a:effectLst>
                <a:ea typeface="宋体" charset="-122"/>
              </a:rPr>
              <a:t>CE</a:t>
            </a:r>
          </a:p>
          <a:p>
            <a:pPr algn="ctr">
              <a:spcBef>
                <a:spcPct val="0"/>
              </a:spcBef>
            </a:pPr>
            <a:r>
              <a:rPr lang="en-US" altLang="zh-CN" b="1" i="1">
                <a:solidFill>
                  <a:srgbClr val="03550D"/>
                </a:solidFill>
                <a:effectLst>
                  <a:outerShdw blurRad="38100" dist="38100" dir="2700000" algn="tl">
                    <a:srgbClr val="C0C0C0"/>
                  </a:outerShdw>
                </a:effectLst>
                <a:ea typeface="宋体" charset="-122"/>
              </a:rPr>
              <a:t>EF</a:t>
            </a:r>
          </a:p>
          <a:p>
            <a:pPr algn="ctr">
              <a:spcBef>
                <a:spcPct val="0"/>
              </a:spcBef>
            </a:pPr>
            <a:r>
              <a:rPr lang="en-US" altLang="zh-CN" b="1" i="1">
                <a:solidFill>
                  <a:srgbClr val="03550D"/>
                </a:solidFill>
                <a:effectLst>
                  <a:outerShdw blurRad="38100" dist="38100" dir="2700000" algn="tl">
                    <a:srgbClr val="C0C0C0"/>
                  </a:outerShdw>
                </a:effectLst>
                <a:ea typeface="宋体" charset="-122"/>
              </a:rPr>
              <a:t>CF</a:t>
            </a:r>
          </a:p>
          <a:p>
            <a:pPr algn="ctr">
              <a:spcBef>
                <a:spcPct val="0"/>
              </a:spcBef>
            </a:pPr>
            <a:r>
              <a:rPr lang="en-US" altLang="zh-CN" b="1" i="1">
                <a:solidFill>
                  <a:srgbClr val="03550D"/>
                </a:solidFill>
                <a:effectLst>
                  <a:outerShdw blurRad="38100" dist="38100" dir="2700000" algn="tl">
                    <a:srgbClr val="C0C0C0"/>
                  </a:outerShdw>
                </a:effectLst>
                <a:ea typeface="宋体" charset="-122"/>
              </a:rPr>
              <a:t>DF</a:t>
            </a:r>
          </a:p>
          <a:p>
            <a:pPr algn="ctr">
              <a:spcBef>
                <a:spcPct val="0"/>
              </a:spcBef>
            </a:pPr>
            <a:r>
              <a:rPr lang="en-US" altLang="zh-CN" b="1" i="1">
                <a:solidFill>
                  <a:srgbClr val="03550D"/>
                </a:solidFill>
                <a:effectLst>
                  <a:outerShdw blurRad="38100" dist="38100" dir="2700000" algn="tl">
                    <a:srgbClr val="C0C0C0"/>
                  </a:outerShdw>
                </a:effectLst>
                <a:ea typeface="宋体" charset="-122"/>
              </a:rPr>
              <a:t>DG</a:t>
            </a:r>
          </a:p>
          <a:p>
            <a:pPr algn="ctr">
              <a:spcBef>
                <a:spcPct val="0"/>
              </a:spcBef>
            </a:pPr>
            <a:r>
              <a:rPr lang="en-US" altLang="zh-CN" b="1" i="1">
                <a:solidFill>
                  <a:srgbClr val="03550D"/>
                </a:solidFill>
                <a:effectLst>
                  <a:outerShdw blurRad="38100" dist="38100" dir="2700000" algn="tl">
                    <a:srgbClr val="C0C0C0"/>
                  </a:outerShdw>
                </a:effectLst>
                <a:ea typeface="宋体" charset="-122"/>
              </a:rPr>
              <a:t>FG</a:t>
            </a:r>
            <a:endParaRPr lang="en-US" altLang="zh-CN" b="1">
              <a:effectLst>
                <a:outerShdw blurRad="38100" dist="38100" dir="2700000" algn="tl">
                  <a:srgbClr val="C0C0C0"/>
                </a:outerShdw>
              </a:effectLst>
              <a:ea typeface="宋体" charset="-122"/>
            </a:endParaRPr>
          </a:p>
        </p:txBody>
      </p:sp>
      <p:sp>
        <p:nvSpPr>
          <p:cNvPr id="18" name="Rectangle 12"/>
          <p:cNvSpPr>
            <a:spLocks noChangeArrowheads="1"/>
          </p:cNvSpPr>
          <p:nvPr/>
        </p:nvSpPr>
        <p:spPr bwMode="auto">
          <a:xfrm>
            <a:off x="1071538" y="2957506"/>
            <a:ext cx="2209800" cy="381000"/>
          </a:xfrm>
          <a:prstGeom prst="rect">
            <a:avLst/>
          </a:prstGeom>
          <a:noFill/>
          <a:ln w="9525">
            <a:noFill/>
            <a:miter lim="800000"/>
            <a:headEnd/>
            <a:tailEnd/>
          </a:ln>
          <a:effectLst/>
        </p:spPr>
        <p:txBody>
          <a:bodyPr wrap="none" anchor="ctr"/>
          <a:lstStyle/>
          <a:p>
            <a:pPr algn="ctr" rtl="0" fontAlgn="base">
              <a:lnSpc>
                <a:spcPct val="70000"/>
              </a:lnSpc>
              <a:spcBef>
                <a:spcPct val="0"/>
              </a:spcBef>
              <a:spcAft>
                <a:spcPct val="0"/>
              </a:spcAft>
            </a:pPr>
            <a:r>
              <a:rPr kumimoji="1" lang="zh-CN" altLang="en-US" sz="2200" b="1" kern="1200">
                <a:solidFill>
                  <a:srgbClr val="800000"/>
                </a:solidFill>
                <a:latin typeface="+mn-ea"/>
                <a:cs typeface="+mn-cs"/>
              </a:rPr>
              <a:t>有几个单铰？</a:t>
            </a:r>
            <a:endParaRPr kumimoji="1" lang="zh-CN" altLang="en-US" sz="2200" kern="1200">
              <a:solidFill>
                <a:srgbClr val="000000"/>
              </a:solidFill>
              <a:latin typeface="+mn-ea"/>
              <a:cs typeface="+mn-cs"/>
            </a:endParaRPr>
          </a:p>
        </p:txBody>
      </p:sp>
      <p:sp>
        <p:nvSpPr>
          <p:cNvPr id="19" name="Rectangle 13"/>
          <p:cNvSpPr>
            <a:spLocks noChangeArrowheads="1"/>
          </p:cNvSpPr>
          <p:nvPr/>
        </p:nvSpPr>
        <p:spPr bwMode="auto">
          <a:xfrm>
            <a:off x="1071538" y="2500306"/>
            <a:ext cx="2209800" cy="381000"/>
          </a:xfrm>
          <a:prstGeom prst="rect">
            <a:avLst/>
          </a:prstGeom>
          <a:noFill/>
          <a:ln w="9525">
            <a:noFill/>
            <a:miter lim="800000"/>
            <a:headEnd/>
            <a:tailEnd/>
          </a:ln>
          <a:effectLst/>
        </p:spPr>
        <p:txBody>
          <a:bodyPr wrap="none" anchor="ctr"/>
          <a:lstStyle/>
          <a:p>
            <a:pPr algn="ctr" rtl="0" fontAlgn="base">
              <a:lnSpc>
                <a:spcPct val="70000"/>
              </a:lnSpc>
              <a:spcBef>
                <a:spcPct val="0"/>
              </a:spcBef>
              <a:spcAft>
                <a:spcPct val="0"/>
              </a:spcAft>
            </a:pPr>
            <a:r>
              <a:rPr kumimoji="1" lang="zh-CN" altLang="en-US" sz="2200" b="1" kern="1200">
                <a:solidFill>
                  <a:srgbClr val="800000"/>
                </a:solidFill>
                <a:latin typeface="+mn-ea"/>
                <a:cs typeface="+mn-cs"/>
              </a:rPr>
              <a:t>有几个刚片？</a:t>
            </a:r>
            <a:endParaRPr kumimoji="1" lang="zh-CN" altLang="en-US" sz="2200" kern="1200">
              <a:solidFill>
                <a:srgbClr val="000000"/>
              </a:solidFill>
              <a:latin typeface="+mn-ea"/>
              <a:cs typeface="+mn-cs"/>
            </a:endParaRPr>
          </a:p>
        </p:txBody>
      </p:sp>
      <p:sp>
        <p:nvSpPr>
          <p:cNvPr id="20" name="Rectangle 14"/>
          <p:cNvSpPr>
            <a:spLocks noChangeArrowheads="1"/>
          </p:cNvSpPr>
          <p:nvPr/>
        </p:nvSpPr>
        <p:spPr bwMode="auto">
          <a:xfrm>
            <a:off x="1147738" y="3414706"/>
            <a:ext cx="2590800" cy="381000"/>
          </a:xfrm>
          <a:prstGeom prst="rect">
            <a:avLst/>
          </a:prstGeom>
          <a:noFill/>
          <a:ln w="9525">
            <a:noFill/>
            <a:miter lim="800000"/>
            <a:headEnd/>
            <a:tailEnd/>
          </a:ln>
          <a:effectLst/>
        </p:spPr>
        <p:txBody>
          <a:bodyPr wrap="none" anchor="ctr"/>
          <a:lstStyle/>
          <a:p>
            <a:pPr algn="ctr" rtl="0" fontAlgn="base">
              <a:lnSpc>
                <a:spcPct val="70000"/>
              </a:lnSpc>
              <a:spcBef>
                <a:spcPct val="0"/>
              </a:spcBef>
              <a:spcAft>
                <a:spcPct val="0"/>
              </a:spcAft>
            </a:pPr>
            <a:r>
              <a:rPr kumimoji="1" lang="zh-CN" altLang="en-US" sz="2200" b="1" kern="1200">
                <a:solidFill>
                  <a:srgbClr val="800000"/>
                </a:solidFill>
                <a:latin typeface="+mn-ea"/>
                <a:cs typeface="+mn-cs"/>
              </a:rPr>
              <a:t>有几个支座链杆？</a:t>
            </a:r>
            <a:endParaRPr kumimoji="1" lang="zh-CN" altLang="en-US" sz="2200" kern="1200">
              <a:solidFill>
                <a:srgbClr val="000000"/>
              </a:solidFill>
              <a:latin typeface="+mn-ea"/>
              <a:cs typeface="+mn-cs"/>
            </a:endParaRPr>
          </a:p>
        </p:txBody>
      </p:sp>
      <p:sp>
        <p:nvSpPr>
          <p:cNvPr id="9" name="Rectangle 7"/>
          <p:cNvSpPr>
            <a:spLocks noChangeArrowheads="1"/>
          </p:cNvSpPr>
          <p:nvPr/>
        </p:nvSpPr>
        <p:spPr bwMode="auto">
          <a:xfrm>
            <a:off x="5121589" y="3554482"/>
            <a:ext cx="478151" cy="637351"/>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3</a:t>
            </a:r>
            <a:endParaRPr lang="en-US" altLang="zh-CN" sz="2400">
              <a:ea typeface="宋体" charset="-122"/>
            </a:endParaRPr>
          </a:p>
        </p:txBody>
      </p:sp>
      <p:sp>
        <p:nvSpPr>
          <p:cNvPr id="10" name="Rectangle 8"/>
          <p:cNvSpPr>
            <a:spLocks noChangeArrowheads="1"/>
          </p:cNvSpPr>
          <p:nvPr/>
        </p:nvSpPr>
        <p:spPr bwMode="auto">
          <a:xfrm>
            <a:off x="7717264" y="3200398"/>
            <a:ext cx="478151" cy="637351"/>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2</a:t>
            </a:r>
            <a:endParaRPr lang="en-US" altLang="zh-CN" sz="2400">
              <a:ea typeface="宋体" charset="-122"/>
            </a:endParaRPr>
          </a:p>
        </p:txBody>
      </p:sp>
      <p:sp>
        <p:nvSpPr>
          <p:cNvPr id="11" name="Rectangle 9"/>
          <p:cNvSpPr>
            <a:spLocks noChangeArrowheads="1"/>
          </p:cNvSpPr>
          <p:nvPr/>
        </p:nvSpPr>
        <p:spPr bwMode="auto">
          <a:xfrm>
            <a:off x="6487734" y="2067330"/>
            <a:ext cx="478151" cy="637351"/>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3</a:t>
            </a:r>
            <a:endParaRPr lang="en-US" altLang="zh-CN" sz="2400">
              <a:ea typeface="宋体" charset="-122"/>
            </a:endParaRPr>
          </a:p>
        </p:txBody>
      </p:sp>
      <p:sp>
        <p:nvSpPr>
          <p:cNvPr id="12" name="Rectangle 10"/>
          <p:cNvSpPr>
            <a:spLocks noChangeArrowheads="1"/>
          </p:cNvSpPr>
          <p:nvPr/>
        </p:nvSpPr>
        <p:spPr bwMode="auto">
          <a:xfrm>
            <a:off x="5189896" y="1784062"/>
            <a:ext cx="478151" cy="637351"/>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1</a:t>
            </a:r>
            <a:endParaRPr lang="en-US" altLang="zh-CN" sz="2400">
              <a:ea typeface="宋体" charset="-122"/>
            </a:endParaRPr>
          </a:p>
        </p:txBody>
      </p:sp>
      <p:sp>
        <p:nvSpPr>
          <p:cNvPr id="13" name="Rectangle 11"/>
          <p:cNvSpPr>
            <a:spLocks noChangeArrowheads="1"/>
          </p:cNvSpPr>
          <p:nvPr/>
        </p:nvSpPr>
        <p:spPr bwMode="auto">
          <a:xfrm>
            <a:off x="7853879" y="1784062"/>
            <a:ext cx="478151" cy="637351"/>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1</a:t>
            </a:r>
            <a:endParaRPr lang="en-US" altLang="zh-CN" sz="2400">
              <a:ea typeface="宋体" charset="-122"/>
            </a:endParaRPr>
          </a:p>
        </p:txBody>
      </p:sp>
      <p:sp>
        <p:nvSpPr>
          <p:cNvPr id="25" name="Rectangle 14"/>
          <p:cNvSpPr>
            <a:spLocks noChangeArrowheads="1"/>
          </p:cNvSpPr>
          <p:nvPr/>
        </p:nvSpPr>
        <p:spPr bwMode="auto">
          <a:xfrm>
            <a:off x="1266820" y="3857916"/>
            <a:ext cx="2590800" cy="381000"/>
          </a:xfrm>
          <a:prstGeom prst="rect">
            <a:avLst/>
          </a:prstGeom>
          <a:noFill/>
          <a:ln w="9525">
            <a:noFill/>
            <a:miter lim="800000"/>
            <a:headEnd/>
            <a:tailEnd/>
          </a:ln>
          <a:effectLst/>
        </p:spPr>
        <p:txBody>
          <a:bodyPr wrap="none" anchor="ctr"/>
          <a:lstStyle/>
          <a:p>
            <a:pPr algn="ctr" rtl="0" fontAlgn="base">
              <a:lnSpc>
                <a:spcPct val="70000"/>
              </a:lnSpc>
              <a:spcBef>
                <a:spcPct val="0"/>
              </a:spcBef>
              <a:spcAft>
                <a:spcPct val="0"/>
              </a:spcAft>
            </a:pPr>
            <a:r>
              <a:rPr kumimoji="1" lang="zh-CN" altLang="en-US" sz="2200" b="1" kern="1200">
                <a:solidFill>
                  <a:srgbClr val="800000"/>
                </a:solidFill>
                <a:latin typeface="+mn-ea"/>
                <a:cs typeface="+mn-cs"/>
              </a:rPr>
              <a:t>有几个支座刚结点？</a:t>
            </a:r>
            <a:endParaRPr kumimoji="1" lang="zh-CN" altLang="en-US" sz="2200" kern="1200">
              <a:solidFill>
                <a:srgbClr val="000000"/>
              </a:solidFill>
              <a:latin typeface="+mn-ea"/>
              <a:cs typeface="+mn-cs"/>
            </a:endParaRPr>
          </a:p>
        </p:txBody>
      </p:sp>
      <p:sp>
        <p:nvSpPr>
          <p:cNvPr id="26" name="Rectangle 5"/>
          <p:cNvSpPr>
            <a:spLocks noChangeArrowheads="1"/>
          </p:cNvSpPr>
          <p:nvPr/>
        </p:nvSpPr>
        <p:spPr bwMode="auto">
          <a:xfrm>
            <a:off x="1214414" y="5548330"/>
            <a:ext cx="3643338" cy="381000"/>
          </a:xfrm>
          <a:prstGeom prst="rect">
            <a:avLst/>
          </a:prstGeom>
          <a:noFill/>
          <a:ln w="9525">
            <a:noFill/>
            <a:miter lim="800000"/>
            <a:headEnd/>
            <a:tailEnd/>
          </a:ln>
          <a:effectLst/>
        </p:spPr>
        <p:txBody>
          <a:bodyPr wrap="none" anchor="ctr"/>
          <a:lstStyle/>
          <a:p>
            <a:pPr>
              <a:spcBef>
                <a:spcPct val="0"/>
              </a:spcBef>
            </a:pPr>
            <a:r>
              <a:rPr lang="en-US" altLang="zh-CN" sz="2400" b="1" i="1">
                <a:solidFill>
                  <a:srgbClr val="0033CC"/>
                </a:solidFill>
                <a:latin typeface="Times New Roman" pitchFamily="18" charset="0"/>
                <a:ea typeface="宋体" charset="-122"/>
                <a:cs typeface="Times New Roman" pitchFamily="18" charset="0"/>
              </a:rPr>
              <a:t>W = </a:t>
            </a:r>
            <a:r>
              <a:rPr lang="en-US" altLang="zh-CN" sz="2400" b="1">
                <a:solidFill>
                  <a:srgbClr val="0033CC"/>
                </a:solidFill>
                <a:latin typeface="Times New Roman" pitchFamily="18" charset="0"/>
                <a:ea typeface="宋体" charset="-122"/>
                <a:cs typeface="Times New Roman" pitchFamily="18" charset="0"/>
              </a:rPr>
              <a:t>3×8 - (2 ×10+1+3) = 0</a:t>
            </a:r>
          </a:p>
        </p:txBody>
      </p:sp>
      <p:sp>
        <p:nvSpPr>
          <p:cNvPr id="21"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 calcmode="lin" valueType="num">
                                      <p:cBhvr additive="base">
                                        <p:cTn id="7"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2000"/>
                                        <p:tgtEl>
                                          <p:spTgt spid="7">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1" end="1"/>
                                            </p:txEl>
                                          </p:spTgt>
                                        </p:tgtEl>
                                        <p:attrNameLst>
                                          <p:attrName>style.visibility</p:attrName>
                                        </p:attrNameLst>
                                      </p:cBhvr>
                                      <p:to>
                                        <p:strVal val="visible"/>
                                      </p:to>
                                    </p:set>
                                    <p:animEffect transition="in" filter="fade">
                                      <p:cBhvr>
                                        <p:cTn id="18" dur="2000"/>
                                        <p:tgtEl>
                                          <p:spTgt spid="7">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animEffect transition="in" filter="fade">
                                      <p:cBhvr>
                                        <p:cTn id="23" dur="2000"/>
                                        <p:tgtEl>
                                          <p:spTgt spid="7">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2000"/>
                                        <p:tgtEl>
                                          <p:spTgt spid="7">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xEl>
                                              <p:pRg st="4" end="4"/>
                                            </p:txEl>
                                          </p:spTgt>
                                        </p:tgtEl>
                                        <p:attrNameLst>
                                          <p:attrName>style.visibility</p:attrName>
                                        </p:attrNameLst>
                                      </p:cBhvr>
                                      <p:to>
                                        <p:strVal val="visible"/>
                                      </p:to>
                                    </p:set>
                                    <p:animEffect transition="in" filter="fade">
                                      <p:cBhvr>
                                        <p:cTn id="33" dur="2000"/>
                                        <p:tgtEl>
                                          <p:spTgt spid="7">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
                                            <p:txEl>
                                              <p:pRg st="5" end="5"/>
                                            </p:txEl>
                                          </p:spTgt>
                                        </p:tgtEl>
                                        <p:attrNameLst>
                                          <p:attrName>style.visibility</p:attrName>
                                        </p:attrNameLst>
                                      </p:cBhvr>
                                      <p:to>
                                        <p:strVal val="visible"/>
                                      </p:to>
                                    </p:set>
                                    <p:animEffect transition="in" filter="fade">
                                      <p:cBhvr>
                                        <p:cTn id="38" dur="2000"/>
                                        <p:tgtEl>
                                          <p:spTgt spid="7">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7">
                                            <p:txEl>
                                              <p:pRg st="6" end="6"/>
                                            </p:txEl>
                                          </p:spTgt>
                                        </p:tgtEl>
                                        <p:attrNameLst>
                                          <p:attrName>style.visibility</p:attrName>
                                        </p:attrNameLst>
                                      </p:cBhvr>
                                      <p:to>
                                        <p:strVal val="visible"/>
                                      </p:to>
                                    </p:set>
                                    <p:animEffect transition="in" filter="fade">
                                      <p:cBhvr>
                                        <p:cTn id="43" dur="2000"/>
                                        <p:tgtEl>
                                          <p:spTgt spid="7">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7">
                                            <p:txEl>
                                              <p:pRg st="7" end="7"/>
                                            </p:txEl>
                                          </p:spTgt>
                                        </p:tgtEl>
                                        <p:attrNameLst>
                                          <p:attrName>style.visibility</p:attrName>
                                        </p:attrNameLst>
                                      </p:cBhvr>
                                      <p:to>
                                        <p:strVal val="visible"/>
                                      </p:to>
                                    </p:set>
                                    <p:animEffect transition="in" filter="fade">
                                      <p:cBhvr>
                                        <p:cTn id="48" dur="2000"/>
                                        <p:tgtEl>
                                          <p:spTgt spid="7">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8">
                                            <p:txEl>
                                              <p:pRg st="0" end="0"/>
                                            </p:txEl>
                                          </p:spTgt>
                                        </p:tgtEl>
                                        <p:attrNameLst>
                                          <p:attrName>style.visibility</p:attrName>
                                        </p:attrNameLst>
                                      </p:cBhvr>
                                      <p:to>
                                        <p:strVal val="visible"/>
                                      </p:to>
                                    </p:set>
                                    <p:anim calcmode="lin" valueType="num">
                                      <p:cBhvr additive="base">
                                        <p:cTn id="53"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2">
                                            <p:txEl>
                                              <p:pRg st="0" end="0"/>
                                            </p:txEl>
                                          </p:spTgt>
                                        </p:tgtEl>
                                        <p:attrNameLst>
                                          <p:attrName>style.visibility</p:attrName>
                                        </p:attrNameLst>
                                      </p:cBhvr>
                                      <p:to>
                                        <p:strVal val="visible"/>
                                      </p:to>
                                    </p:set>
                                    <p:anim calcmode="lin" valueType="num">
                                      <p:cBhvr additive="base">
                                        <p:cTn id="59"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3">
                                            <p:txEl>
                                              <p:pRg st="0" end="0"/>
                                            </p:txEl>
                                          </p:spTgt>
                                        </p:tgtEl>
                                        <p:attrNameLst>
                                          <p:attrName>style.visibility</p:attrName>
                                        </p:attrNameLst>
                                      </p:cBhvr>
                                      <p:to>
                                        <p:strVal val="visible"/>
                                      </p:to>
                                    </p:set>
                                    <p:anim calcmode="lin" valueType="num">
                                      <p:cBhvr additive="base">
                                        <p:cTn id="63"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3">
                                            <p:txEl>
                                              <p:pRg st="0" end="0"/>
                                            </p:tx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1">
                                            <p:txEl>
                                              <p:pRg st="0" end="0"/>
                                            </p:txEl>
                                          </p:spTgt>
                                        </p:tgtEl>
                                        <p:attrNameLst>
                                          <p:attrName>style.visibility</p:attrName>
                                        </p:attrNameLst>
                                      </p:cBhvr>
                                      <p:to>
                                        <p:strVal val="visible"/>
                                      </p:to>
                                    </p:set>
                                    <p:anim calcmode="lin" valueType="num">
                                      <p:cBhvr additive="base">
                                        <p:cTn id="6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1">
                                            <p:txEl>
                                              <p:pRg st="0" end="0"/>
                                            </p:tx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9">
                                            <p:txEl>
                                              <p:pRg st="0" end="0"/>
                                            </p:txEl>
                                          </p:spTgt>
                                        </p:tgtEl>
                                        <p:attrNameLst>
                                          <p:attrName>style.visibility</p:attrName>
                                        </p:attrNameLst>
                                      </p:cBhvr>
                                      <p:to>
                                        <p:strVal val="visible"/>
                                      </p:to>
                                    </p:set>
                                    <p:anim calcmode="lin" valueType="num">
                                      <p:cBhvr additive="base">
                                        <p:cTn id="71"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9">
                                            <p:txEl>
                                              <p:pRg st="0" end="0"/>
                                            </p:txEl>
                                          </p:spTgt>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10">
                                            <p:txEl>
                                              <p:pRg st="0" end="0"/>
                                            </p:txEl>
                                          </p:spTgt>
                                        </p:tgtEl>
                                        <p:attrNameLst>
                                          <p:attrName>style.visibility</p:attrName>
                                        </p:attrNameLst>
                                      </p:cBhvr>
                                      <p:to>
                                        <p:strVal val="visible"/>
                                      </p:to>
                                    </p:set>
                                    <p:anim calcmode="lin" valueType="num">
                                      <p:cBhvr additive="base">
                                        <p:cTn id="75"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20">
                                            <p:txEl>
                                              <p:pRg st="0" end="0"/>
                                            </p:txEl>
                                          </p:spTgt>
                                        </p:tgtEl>
                                        <p:attrNameLst>
                                          <p:attrName>style.visibility</p:attrName>
                                        </p:attrNameLst>
                                      </p:cBhvr>
                                      <p:to>
                                        <p:strVal val="visible"/>
                                      </p:to>
                                    </p:set>
                                    <p:anim calcmode="lin" valueType="num">
                                      <p:cBhvr additive="base">
                                        <p:cTn id="81"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25">
                                            <p:txEl>
                                              <p:pRg st="0" end="0"/>
                                            </p:txEl>
                                          </p:spTgt>
                                        </p:tgtEl>
                                        <p:attrNameLst>
                                          <p:attrName>style.visibility</p:attrName>
                                        </p:attrNameLst>
                                      </p:cBhvr>
                                      <p:to>
                                        <p:strVal val="visible"/>
                                      </p:to>
                                    </p:set>
                                    <p:anim calcmode="lin" valueType="num">
                                      <p:cBhvr additive="base">
                                        <p:cTn id="87"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2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3" presetClass="entr" presetSubtype="528" fill="hold" grpId="0" nodeType="clickEffect">
                                  <p:stCondLst>
                                    <p:cond delay="0"/>
                                  </p:stCondLst>
                                  <p:childTnLst>
                                    <p:set>
                                      <p:cBhvr>
                                        <p:cTn id="92" dur="1" fill="hold">
                                          <p:stCondLst>
                                            <p:cond delay="0"/>
                                          </p:stCondLst>
                                        </p:cTn>
                                        <p:tgtEl>
                                          <p:spTgt spid="26"/>
                                        </p:tgtEl>
                                        <p:attrNameLst>
                                          <p:attrName>style.visibility</p:attrName>
                                        </p:attrNameLst>
                                      </p:cBhvr>
                                      <p:to>
                                        <p:strVal val="visible"/>
                                      </p:to>
                                    </p:set>
                                    <p:anim calcmode="lin" valueType="num">
                                      <p:cBhvr>
                                        <p:cTn id="93" dur="500" fill="hold"/>
                                        <p:tgtEl>
                                          <p:spTgt spid="26"/>
                                        </p:tgtEl>
                                        <p:attrNameLst>
                                          <p:attrName>ppt_w</p:attrName>
                                        </p:attrNameLst>
                                      </p:cBhvr>
                                      <p:tavLst>
                                        <p:tav tm="0">
                                          <p:val>
                                            <p:fltVal val="0"/>
                                          </p:val>
                                        </p:tav>
                                        <p:tav tm="100000">
                                          <p:val>
                                            <p:strVal val="#ppt_w"/>
                                          </p:val>
                                        </p:tav>
                                      </p:tavLst>
                                    </p:anim>
                                    <p:anim calcmode="lin" valueType="num">
                                      <p:cBhvr>
                                        <p:cTn id="94" dur="500" fill="hold"/>
                                        <p:tgtEl>
                                          <p:spTgt spid="26"/>
                                        </p:tgtEl>
                                        <p:attrNameLst>
                                          <p:attrName>ppt_h</p:attrName>
                                        </p:attrNameLst>
                                      </p:cBhvr>
                                      <p:tavLst>
                                        <p:tav tm="0">
                                          <p:val>
                                            <p:fltVal val="0"/>
                                          </p:val>
                                        </p:tav>
                                        <p:tav tm="100000">
                                          <p:val>
                                            <p:strVal val="#ppt_h"/>
                                          </p:val>
                                        </p:tav>
                                      </p:tavLst>
                                    </p:anim>
                                    <p:anim calcmode="lin" valueType="num">
                                      <p:cBhvr>
                                        <p:cTn id="95" dur="500" fill="hold"/>
                                        <p:tgtEl>
                                          <p:spTgt spid="26"/>
                                        </p:tgtEl>
                                        <p:attrNameLst>
                                          <p:attrName>ppt_x</p:attrName>
                                        </p:attrNameLst>
                                      </p:cBhvr>
                                      <p:tavLst>
                                        <p:tav tm="0">
                                          <p:val>
                                            <p:fltVal val="0.5"/>
                                          </p:val>
                                        </p:tav>
                                        <p:tav tm="100000">
                                          <p:val>
                                            <p:strVal val="#ppt_x"/>
                                          </p:val>
                                        </p:tav>
                                      </p:tavLst>
                                    </p:anim>
                                    <p:anim calcmode="lin" valueType="num">
                                      <p:cBhvr>
                                        <p:cTn id="96" dur="500" fill="hold"/>
                                        <p:tgtEl>
                                          <p:spTgt spid="2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8" grpId="0" build="allAtOnce"/>
      <p:bldP spid="19" grpId="0" build="p"/>
      <p:bldP spid="20" grpId="0" build="allAtOnce"/>
      <p:bldP spid="9" grpId="0" build="p"/>
      <p:bldP spid="10" grpId="0" build="p"/>
      <p:bldP spid="11" grpId="0" build="p"/>
      <p:bldP spid="12" grpId="0" build="p"/>
      <p:bldP spid="13" grpId="0" build="p"/>
      <p:bldP spid="25" grpId="0" build="allAtOnce"/>
      <p:bldP spid="26"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2"/>
            <a:ext cx="8207375" cy="5018107"/>
          </a:xfrm>
          <a:ln>
            <a:noFill/>
          </a:ln>
        </p:spPr>
        <p:txBody>
          <a:bodyPr/>
          <a:lstStyle/>
          <a:p>
            <a:r>
              <a:rPr lang="zh-CN" altLang="en-US"/>
              <a:t>算例</a:t>
            </a:r>
            <a:endParaRPr lang="en-US" altLang="zh-CN"/>
          </a:p>
          <a:p>
            <a:pPr lvl="1">
              <a:lnSpc>
                <a:spcPct val="150000"/>
              </a:lnSpc>
              <a:spcBef>
                <a:spcPts val="0"/>
              </a:spcBef>
            </a:pPr>
            <a:r>
              <a:rPr lang="zh-CN" altLang="en-US"/>
              <a:t>例</a:t>
            </a:r>
            <a:r>
              <a:rPr lang="en-US" altLang="zh-CN"/>
              <a:t>2</a:t>
            </a:r>
            <a:r>
              <a:rPr lang="zh-CN" altLang="en-US"/>
              <a:t>：求</a:t>
            </a:r>
            <a:r>
              <a:rPr lang="zh-CN" altLang="en-US">
                <a:solidFill>
                  <a:schemeClr val="tx2"/>
                </a:solidFill>
                <a:latin typeface="楷体_GB2312" pitchFamily="49" charset="-122"/>
              </a:rPr>
              <a:t>图示体系的计算自由度</a:t>
            </a:r>
            <a:endParaRPr lang="zh-CN" altLang="en-US" b="0">
              <a:ea typeface="宋体" charset="-122"/>
            </a:endParaRPr>
          </a:p>
          <a:p>
            <a:pPr lvl="1">
              <a:lnSpc>
                <a:spcPct val="150000"/>
              </a:lnSpc>
              <a:spcBef>
                <a:spcPts val="0"/>
              </a:spcBef>
            </a:pPr>
            <a:endParaRPr lang="en-US" altLang="zh-CN">
              <a:solidFill>
                <a:schemeClr val="tx1"/>
              </a:solidFill>
            </a:endParaRPr>
          </a:p>
          <a:p>
            <a:pPr lvl="1">
              <a:lnSpc>
                <a:spcPct val="130000"/>
              </a:lnSpc>
              <a:spcBef>
                <a:spcPts val="0"/>
              </a:spcBef>
              <a:buNone/>
            </a:pPr>
            <a:r>
              <a:rPr lang="en-US" altLang="zh-CN"/>
              <a:t>    </a:t>
            </a:r>
          </a:p>
        </p:txBody>
      </p:sp>
      <p:sp>
        <p:nvSpPr>
          <p:cNvPr id="2" name="标题 1"/>
          <p:cNvSpPr>
            <a:spLocks noGrp="1"/>
          </p:cNvSpPr>
          <p:nvPr>
            <p:ph type="title"/>
          </p:nvPr>
        </p:nvSpPr>
        <p:spPr>
          <a:xfrm>
            <a:off x="457200" y="260648"/>
            <a:ext cx="8229600" cy="882336"/>
          </a:xfrm>
        </p:spPr>
        <p:txBody>
          <a:bodyPr/>
          <a:lstStyle/>
          <a:p>
            <a:pPr algn="r"/>
            <a:r>
              <a:rPr lang="zh-CN" altLang="en-US"/>
              <a:t>平面杆件体系的计算自由度</a:t>
            </a:r>
          </a:p>
        </p:txBody>
      </p:sp>
      <p:pic>
        <p:nvPicPr>
          <p:cNvPr id="3074" name="Picture 2"/>
          <p:cNvPicPr>
            <a:picLocks noChangeAspect="1" noChangeArrowheads="1"/>
          </p:cNvPicPr>
          <p:nvPr/>
        </p:nvPicPr>
        <p:blipFill>
          <a:blip r:embed="rId3" cstate="print"/>
          <a:srcRect l="8413" t="8621" r="7457" b="5172"/>
          <a:stretch>
            <a:fillRect/>
          </a:stretch>
        </p:blipFill>
        <p:spPr bwMode="auto">
          <a:xfrm>
            <a:off x="5643570" y="1857364"/>
            <a:ext cx="2643206" cy="4405343"/>
          </a:xfrm>
          <a:prstGeom prst="rect">
            <a:avLst/>
          </a:prstGeom>
          <a:noFill/>
          <a:ln w="9525">
            <a:noFill/>
            <a:miter lim="800000"/>
            <a:headEnd/>
            <a:tailEnd/>
          </a:ln>
          <a:effectLst/>
        </p:spPr>
      </p:pic>
      <p:sp>
        <p:nvSpPr>
          <p:cNvPr id="23" name="Rectangle 6"/>
          <p:cNvSpPr>
            <a:spLocks noChangeArrowheads="1"/>
          </p:cNvSpPr>
          <p:nvPr/>
        </p:nvSpPr>
        <p:spPr bwMode="auto">
          <a:xfrm>
            <a:off x="1200144" y="2357430"/>
            <a:ext cx="1728782" cy="381000"/>
          </a:xfrm>
          <a:prstGeom prst="rect">
            <a:avLst/>
          </a:prstGeom>
          <a:noFill/>
          <a:ln w="9525">
            <a:noFill/>
            <a:miter lim="800000"/>
            <a:headEnd/>
            <a:tailEnd/>
          </a:ln>
          <a:effectLst/>
        </p:spPr>
        <p:txBody>
          <a:bodyPr wrap="none" anchor="ctr"/>
          <a:lstStyle/>
          <a:p>
            <a:pPr rtl="0" fontAlgn="base">
              <a:spcBef>
                <a:spcPct val="0"/>
              </a:spcBef>
              <a:spcAft>
                <a:spcPct val="0"/>
              </a:spcAft>
            </a:pPr>
            <a:r>
              <a:rPr kumimoji="1" lang="zh-CN" altLang="en-US" sz="2200" b="1" kern="1200">
                <a:latin typeface="+mn-ea"/>
                <a:cs typeface="+mn-cs"/>
              </a:rPr>
              <a:t>方法</a:t>
            </a:r>
            <a:r>
              <a:rPr kumimoji="1" lang="en-US" altLang="zh-CN" sz="2200" b="1" kern="1200">
                <a:latin typeface="+mn-ea"/>
                <a:cs typeface="+mn-cs"/>
              </a:rPr>
              <a:t>1</a:t>
            </a:r>
            <a:r>
              <a:rPr kumimoji="1" lang="zh-CN" altLang="en-US" sz="2200" b="1" kern="1200">
                <a:latin typeface="+mn-ea"/>
                <a:cs typeface="+mn-cs"/>
              </a:rPr>
              <a:t>：按刚片计算</a:t>
            </a:r>
          </a:p>
        </p:txBody>
      </p:sp>
      <p:sp>
        <p:nvSpPr>
          <p:cNvPr id="24" name="Rectangle 13"/>
          <p:cNvSpPr>
            <a:spLocks noChangeArrowheads="1"/>
          </p:cNvSpPr>
          <p:nvPr/>
        </p:nvSpPr>
        <p:spPr bwMode="auto">
          <a:xfrm>
            <a:off x="1501426" y="2786058"/>
            <a:ext cx="2895600" cy="533400"/>
          </a:xfrm>
          <a:prstGeom prst="rect">
            <a:avLst/>
          </a:prstGeom>
          <a:noFill/>
          <a:ln w="9525">
            <a:noFill/>
            <a:miter lim="800000"/>
            <a:headEnd/>
            <a:tailEnd/>
          </a:ln>
          <a:effectLst/>
        </p:spPr>
        <p:txBody>
          <a:bodyPr wrap="none" anchor="ctr"/>
          <a:lstStyle/>
          <a:p>
            <a:pPr>
              <a:lnSpc>
                <a:spcPct val="80000"/>
              </a:lnSpc>
              <a:spcBef>
                <a:spcPct val="0"/>
              </a:spcBef>
            </a:pPr>
            <a:r>
              <a:rPr lang="en-US" altLang="zh-CN" sz="2200" b="1">
                <a:solidFill>
                  <a:srgbClr val="00B050"/>
                </a:solidFill>
              </a:rPr>
              <a:t>9</a:t>
            </a:r>
            <a:r>
              <a:rPr lang="zh-CN" altLang="en-US" sz="2200" b="1">
                <a:solidFill>
                  <a:srgbClr val="00B050"/>
                </a:solidFill>
              </a:rPr>
              <a:t>根杆</a:t>
            </a:r>
            <a:r>
              <a:rPr lang="en-US" altLang="zh-CN" sz="2200" b="1">
                <a:solidFill>
                  <a:srgbClr val="00B050"/>
                </a:solidFill>
              </a:rPr>
              <a:t>,  9</a:t>
            </a:r>
            <a:r>
              <a:rPr lang="zh-CN" altLang="en-US" sz="2200" b="1">
                <a:solidFill>
                  <a:srgbClr val="00B050"/>
                </a:solidFill>
              </a:rPr>
              <a:t>个刚片</a:t>
            </a:r>
          </a:p>
        </p:txBody>
      </p:sp>
      <p:sp>
        <p:nvSpPr>
          <p:cNvPr id="27" name="Rectangle 14"/>
          <p:cNvSpPr>
            <a:spLocks noChangeArrowheads="1"/>
          </p:cNvSpPr>
          <p:nvPr/>
        </p:nvSpPr>
        <p:spPr bwMode="auto">
          <a:xfrm>
            <a:off x="1501426" y="3262026"/>
            <a:ext cx="2071702" cy="533400"/>
          </a:xfrm>
          <a:prstGeom prst="rect">
            <a:avLst/>
          </a:prstGeom>
          <a:noFill/>
          <a:ln w="9525">
            <a:noFill/>
            <a:miter lim="800000"/>
            <a:headEnd/>
            <a:tailEnd/>
          </a:ln>
          <a:effectLst/>
        </p:spPr>
        <p:txBody>
          <a:bodyPr wrap="none" anchor="ctr"/>
          <a:lstStyle/>
          <a:p>
            <a:pPr>
              <a:lnSpc>
                <a:spcPct val="70000"/>
              </a:lnSpc>
              <a:spcBef>
                <a:spcPct val="0"/>
              </a:spcBef>
            </a:pPr>
            <a:r>
              <a:rPr lang="zh-CN" altLang="en-US" sz="2200" b="1">
                <a:solidFill>
                  <a:srgbClr val="800000"/>
                </a:solidFill>
              </a:rPr>
              <a:t>有几个单铰？</a:t>
            </a:r>
            <a:endParaRPr lang="zh-CN" altLang="en-US" sz="2200" b="1"/>
          </a:p>
        </p:txBody>
      </p:sp>
      <p:sp>
        <p:nvSpPr>
          <p:cNvPr id="28" name="Rectangle 7"/>
          <p:cNvSpPr>
            <a:spLocks noChangeArrowheads="1"/>
          </p:cNvSpPr>
          <p:nvPr/>
        </p:nvSpPr>
        <p:spPr bwMode="auto">
          <a:xfrm>
            <a:off x="5457844" y="3776674"/>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3</a:t>
            </a:r>
            <a:endParaRPr lang="en-US" altLang="zh-CN" sz="2400">
              <a:ea typeface="宋体" charset="-122"/>
            </a:endParaRPr>
          </a:p>
        </p:txBody>
      </p:sp>
      <p:sp>
        <p:nvSpPr>
          <p:cNvPr id="29" name="Rectangle 8"/>
          <p:cNvSpPr>
            <a:spLocks noChangeArrowheads="1"/>
          </p:cNvSpPr>
          <p:nvPr/>
        </p:nvSpPr>
        <p:spPr bwMode="auto">
          <a:xfrm>
            <a:off x="7820044" y="3776674"/>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3</a:t>
            </a:r>
            <a:endParaRPr lang="en-US" altLang="zh-CN" sz="2400">
              <a:ea typeface="宋体" charset="-122"/>
            </a:endParaRPr>
          </a:p>
        </p:txBody>
      </p:sp>
      <p:sp>
        <p:nvSpPr>
          <p:cNvPr id="30" name="Rectangle 9"/>
          <p:cNvSpPr>
            <a:spLocks noChangeArrowheads="1"/>
          </p:cNvSpPr>
          <p:nvPr/>
        </p:nvSpPr>
        <p:spPr bwMode="auto">
          <a:xfrm>
            <a:off x="7820044" y="1785926"/>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2</a:t>
            </a:r>
            <a:endParaRPr lang="en-US" altLang="zh-CN" sz="2400">
              <a:ea typeface="宋体" charset="-122"/>
            </a:endParaRPr>
          </a:p>
        </p:txBody>
      </p:sp>
      <p:sp>
        <p:nvSpPr>
          <p:cNvPr id="31" name="Rectangle 10"/>
          <p:cNvSpPr>
            <a:spLocks noChangeArrowheads="1"/>
          </p:cNvSpPr>
          <p:nvPr/>
        </p:nvSpPr>
        <p:spPr bwMode="auto">
          <a:xfrm>
            <a:off x="5457844" y="1785926"/>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1</a:t>
            </a:r>
            <a:endParaRPr lang="en-US" altLang="zh-CN" sz="2400">
              <a:ea typeface="宋体" charset="-122"/>
            </a:endParaRPr>
          </a:p>
        </p:txBody>
      </p:sp>
      <p:sp>
        <p:nvSpPr>
          <p:cNvPr id="32" name="Rectangle 11"/>
          <p:cNvSpPr>
            <a:spLocks noChangeArrowheads="1"/>
          </p:cNvSpPr>
          <p:nvPr/>
        </p:nvSpPr>
        <p:spPr bwMode="auto">
          <a:xfrm>
            <a:off x="7824814" y="5314968"/>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1</a:t>
            </a:r>
            <a:endParaRPr lang="en-US" altLang="zh-CN" sz="2400">
              <a:ea typeface="宋体" charset="-122"/>
            </a:endParaRPr>
          </a:p>
        </p:txBody>
      </p:sp>
      <p:sp>
        <p:nvSpPr>
          <p:cNvPr id="33" name="Rectangle 12"/>
          <p:cNvSpPr>
            <a:spLocks noChangeArrowheads="1"/>
          </p:cNvSpPr>
          <p:nvPr/>
        </p:nvSpPr>
        <p:spPr bwMode="auto">
          <a:xfrm>
            <a:off x="5457844" y="5314968"/>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2</a:t>
            </a:r>
            <a:endParaRPr lang="en-US" altLang="zh-CN" sz="2400">
              <a:ea typeface="宋体" charset="-122"/>
            </a:endParaRPr>
          </a:p>
        </p:txBody>
      </p:sp>
      <p:sp>
        <p:nvSpPr>
          <p:cNvPr id="34" name="Rectangle 15"/>
          <p:cNvSpPr>
            <a:spLocks noChangeArrowheads="1"/>
          </p:cNvSpPr>
          <p:nvPr/>
        </p:nvSpPr>
        <p:spPr bwMode="auto">
          <a:xfrm>
            <a:off x="1500166" y="3731598"/>
            <a:ext cx="2743200" cy="533400"/>
          </a:xfrm>
          <a:prstGeom prst="rect">
            <a:avLst/>
          </a:prstGeom>
          <a:noFill/>
          <a:ln w="9525">
            <a:noFill/>
            <a:miter lim="800000"/>
            <a:headEnd/>
            <a:tailEnd/>
          </a:ln>
          <a:effectLst/>
        </p:spPr>
        <p:txBody>
          <a:bodyPr wrap="none" anchor="ctr"/>
          <a:lstStyle/>
          <a:p>
            <a:pPr>
              <a:lnSpc>
                <a:spcPct val="90000"/>
              </a:lnSpc>
              <a:spcBef>
                <a:spcPct val="0"/>
              </a:spcBef>
            </a:pPr>
            <a:r>
              <a:rPr lang="en-US" altLang="zh-CN" sz="2200" b="1">
                <a:solidFill>
                  <a:srgbClr val="800000"/>
                </a:solidFill>
              </a:rPr>
              <a:t>3</a:t>
            </a:r>
            <a:r>
              <a:rPr lang="zh-CN" altLang="en-US" sz="2200" b="1">
                <a:solidFill>
                  <a:srgbClr val="800000"/>
                </a:solidFill>
              </a:rPr>
              <a:t>根支座链杆</a:t>
            </a:r>
          </a:p>
        </p:txBody>
      </p:sp>
      <p:sp>
        <p:nvSpPr>
          <p:cNvPr id="35" name="Rectangle 5"/>
          <p:cNvSpPr>
            <a:spLocks noChangeArrowheads="1"/>
          </p:cNvSpPr>
          <p:nvPr/>
        </p:nvSpPr>
        <p:spPr bwMode="auto">
          <a:xfrm>
            <a:off x="1511642" y="4313552"/>
            <a:ext cx="4662488" cy="371475"/>
          </a:xfrm>
          <a:prstGeom prst="rect">
            <a:avLst/>
          </a:prstGeom>
          <a:noFill/>
          <a:ln w="9525">
            <a:noFill/>
            <a:miter lim="800000"/>
            <a:headEnd/>
            <a:tailEnd/>
          </a:ln>
          <a:effectLst/>
        </p:spPr>
        <p:txBody>
          <a:bodyPr wrap="none" anchor="ctr"/>
          <a:lstStyle/>
          <a:p>
            <a:pPr>
              <a:lnSpc>
                <a:spcPct val="70000"/>
              </a:lnSpc>
              <a:spcBef>
                <a:spcPct val="0"/>
              </a:spcBef>
            </a:pPr>
            <a:r>
              <a:rPr lang="en-US" altLang="zh-CN" sz="2200" b="1" i="1">
                <a:solidFill>
                  <a:srgbClr val="0033CC"/>
                </a:solidFill>
                <a:latin typeface="Times New Roman" pitchFamily="18" charset="0"/>
                <a:cs typeface="Times New Roman" pitchFamily="18" charset="0"/>
              </a:rPr>
              <a:t>W </a:t>
            </a:r>
            <a:r>
              <a:rPr lang="en-US" altLang="zh-CN" sz="2200" b="1">
                <a:solidFill>
                  <a:srgbClr val="0033CC"/>
                </a:solidFill>
                <a:latin typeface="Times New Roman" pitchFamily="18" charset="0"/>
                <a:cs typeface="Times New Roman" pitchFamily="18" charset="0"/>
              </a:rPr>
              <a:t>= 3 ×9-(2×12+3) = 0</a:t>
            </a:r>
          </a:p>
        </p:txBody>
      </p:sp>
      <p:sp>
        <p:nvSpPr>
          <p:cNvPr id="36" name="Rectangle 6"/>
          <p:cNvSpPr>
            <a:spLocks noChangeArrowheads="1"/>
          </p:cNvSpPr>
          <p:nvPr/>
        </p:nvSpPr>
        <p:spPr bwMode="auto">
          <a:xfrm>
            <a:off x="1214414" y="4742180"/>
            <a:ext cx="1728782" cy="381000"/>
          </a:xfrm>
          <a:prstGeom prst="rect">
            <a:avLst/>
          </a:prstGeom>
          <a:noFill/>
          <a:ln w="9525">
            <a:noFill/>
            <a:miter lim="800000"/>
            <a:headEnd/>
            <a:tailEnd/>
          </a:ln>
          <a:effectLst/>
        </p:spPr>
        <p:txBody>
          <a:bodyPr wrap="none" anchor="ctr"/>
          <a:lstStyle/>
          <a:p>
            <a:pPr rtl="0" fontAlgn="base">
              <a:spcBef>
                <a:spcPct val="0"/>
              </a:spcBef>
              <a:spcAft>
                <a:spcPct val="0"/>
              </a:spcAft>
            </a:pPr>
            <a:r>
              <a:rPr kumimoji="1" lang="zh-CN" altLang="en-US" sz="2200" b="1" kern="1200">
                <a:latin typeface="+mn-ea"/>
                <a:cs typeface="+mn-cs"/>
              </a:rPr>
              <a:t>方法</a:t>
            </a:r>
            <a:r>
              <a:rPr kumimoji="1" lang="en-US" altLang="zh-CN" sz="2200" b="1" kern="1200">
                <a:latin typeface="+mn-ea"/>
                <a:cs typeface="+mn-cs"/>
              </a:rPr>
              <a:t>2</a:t>
            </a:r>
            <a:r>
              <a:rPr kumimoji="1" lang="zh-CN" altLang="en-US" sz="2200" b="1" kern="1200">
                <a:latin typeface="+mn-ea"/>
                <a:cs typeface="+mn-cs"/>
              </a:rPr>
              <a:t>：按</a:t>
            </a:r>
            <a:r>
              <a:rPr kumimoji="1" lang="zh-CN" altLang="en-US" sz="2200" b="1">
                <a:latin typeface="+mn-ea"/>
              </a:rPr>
              <a:t>铰接链杆</a:t>
            </a:r>
            <a:r>
              <a:rPr kumimoji="1" lang="zh-CN" altLang="en-US" sz="2200" b="1" kern="1200">
                <a:latin typeface="+mn-ea"/>
                <a:cs typeface="+mn-cs"/>
              </a:rPr>
              <a:t>计算</a:t>
            </a:r>
          </a:p>
        </p:txBody>
      </p:sp>
      <p:sp>
        <p:nvSpPr>
          <p:cNvPr id="37" name="Rectangle 5"/>
          <p:cNvSpPr>
            <a:spLocks noChangeArrowheads="1"/>
          </p:cNvSpPr>
          <p:nvPr/>
        </p:nvSpPr>
        <p:spPr bwMode="auto">
          <a:xfrm>
            <a:off x="1500166" y="5272103"/>
            <a:ext cx="4662488" cy="371475"/>
          </a:xfrm>
          <a:prstGeom prst="rect">
            <a:avLst/>
          </a:prstGeom>
          <a:noFill/>
          <a:ln w="9525">
            <a:noFill/>
            <a:miter lim="800000"/>
            <a:headEnd/>
            <a:tailEnd/>
          </a:ln>
          <a:effectLst/>
        </p:spPr>
        <p:txBody>
          <a:bodyPr wrap="none" anchor="ctr"/>
          <a:lstStyle/>
          <a:p>
            <a:pPr>
              <a:lnSpc>
                <a:spcPct val="70000"/>
              </a:lnSpc>
              <a:spcBef>
                <a:spcPct val="0"/>
              </a:spcBef>
            </a:pPr>
            <a:r>
              <a:rPr lang="en-US" altLang="zh-CN" sz="2200" b="1" i="1">
                <a:solidFill>
                  <a:srgbClr val="0033CC"/>
                </a:solidFill>
                <a:latin typeface="Times New Roman" pitchFamily="18" charset="0"/>
                <a:cs typeface="Times New Roman" pitchFamily="18" charset="0"/>
              </a:rPr>
              <a:t>W </a:t>
            </a:r>
            <a:r>
              <a:rPr lang="en-US" altLang="zh-CN" sz="2200" b="1">
                <a:solidFill>
                  <a:srgbClr val="0033CC"/>
                </a:solidFill>
                <a:latin typeface="Times New Roman" pitchFamily="18" charset="0"/>
                <a:cs typeface="Times New Roman" pitchFamily="18" charset="0"/>
              </a:rPr>
              <a:t>= 2 ×6 - (9+3) = 0</a:t>
            </a:r>
          </a:p>
        </p:txBody>
      </p:sp>
      <p:sp>
        <p:nvSpPr>
          <p:cNvPr id="18"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23"/>
                                        </p:tgtEl>
                                        <p:attrNameLst>
                                          <p:attrName>style.visibility</p:attrName>
                                        </p:attrNameLst>
                                      </p:cBhvr>
                                      <p:to>
                                        <p:strVal val="visible"/>
                                      </p:to>
                                    </p:set>
                                    <p:anim to="" calcmode="lin" valueType="num">
                                      <p:cBhvr>
                                        <p:cTn id="7" dur="1" fill="hold"/>
                                        <p:tgtEl>
                                          <p:spTgt spid="2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2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grpId="0" nodeType="clickEffect">
                                  <p:stCondLst>
                                    <p:cond delay="0"/>
                                  </p:stCondLst>
                                  <p:childTnLst>
                                    <p:set>
                                      <p:cBhvr>
                                        <p:cTn id="19" dur="1" fill="hold">
                                          <p:stCondLst>
                                            <p:cond delay="0"/>
                                          </p:stCondLst>
                                        </p:cTn>
                                        <p:tgtEl>
                                          <p:spTgt spid="28"/>
                                        </p:tgtEl>
                                        <p:attrNameLst>
                                          <p:attrName>style.visibility</p:attrName>
                                        </p:attrNameLst>
                                      </p:cBhvr>
                                      <p:to>
                                        <p:strVal val="visible"/>
                                      </p:to>
                                    </p:set>
                                    <p:anim calcmode="lin" valueType="num">
                                      <p:cBhvr additive="base">
                                        <p:cTn id="20" dur="500" fill="hold"/>
                                        <p:tgtEl>
                                          <p:spTgt spid="28"/>
                                        </p:tgtEl>
                                        <p:attrNameLst>
                                          <p:attrName>ppt_x</p:attrName>
                                        </p:attrNameLst>
                                      </p:cBhvr>
                                      <p:tavLst>
                                        <p:tav tm="0">
                                          <p:val>
                                            <p:strVal val="1+#ppt_w/2"/>
                                          </p:val>
                                        </p:tav>
                                        <p:tav tm="100000">
                                          <p:val>
                                            <p:strVal val="#ppt_x"/>
                                          </p:val>
                                        </p:tav>
                                      </p:tavLst>
                                    </p:anim>
                                    <p:anim calcmode="lin" valueType="num">
                                      <p:cBhvr additive="base">
                                        <p:cTn id="21" dur="500" fill="hold"/>
                                        <p:tgtEl>
                                          <p:spTgt spid="28"/>
                                        </p:tgtEl>
                                        <p:attrNameLst>
                                          <p:attrName>ppt_y</p:attrName>
                                        </p:attrNameLst>
                                      </p:cBhvr>
                                      <p:tavLst>
                                        <p:tav tm="0">
                                          <p:val>
                                            <p:strVal val="#ppt_y"/>
                                          </p:val>
                                        </p:tav>
                                        <p:tav tm="100000">
                                          <p:val>
                                            <p:strVal val="#ppt_y"/>
                                          </p:val>
                                        </p:tav>
                                      </p:tavLst>
                                    </p:anim>
                                  </p:childTnLst>
                                </p:cTn>
                              </p:par>
                            </p:childTnLst>
                          </p:cTn>
                        </p:par>
                        <p:par>
                          <p:cTn id="22" fill="hold">
                            <p:stCondLst>
                              <p:cond delay="500"/>
                            </p:stCondLst>
                            <p:childTnLst>
                              <p:par>
                                <p:cTn id="23" presetID="2" presetClass="entr" presetSubtype="2" fill="hold" grpId="0" nodeType="afterEffect">
                                  <p:stCondLst>
                                    <p:cond delay="0"/>
                                  </p:stCondLst>
                                  <p:childTnLst>
                                    <p:set>
                                      <p:cBhvr>
                                        <p:cTn id="24" dur="1" fill="hold">
                                          <p:stCondLst>
                                            <p:cond delay="0"/>
                                          </p:stCondLst>
                                        </p:cTn>
                                        <p:tgtEl>
                                          <p:spTgt spid="29"/>
                                        </p:tgtEl>
                                        <p:attrNameLst>
                                          <p:attrName>style.visibility</p:attrName>
                                        </p:attrNameLst>
                                      </p:cBhvr>
                                      <p:to>
                                        <p:strVal val="visible"/>
                                      </p:to>
                                    </p:set>
                                    <p:anim calcmode="lin" valueType="num">
                                      <p:cBhvr additive="base">
                                        <p:cTn id="25" dur="500" fill="hold"/>
                                        <p:tgtEl>
                                          <p:spTgt spid="29"/>
                                        </p:tgtEl>
                                        <p:attrNameLst>
                                          <p:attrName>ppt_x</p:attrName>
                                        </p:attrNameLst>
                                      </p:cBhvr>
                                      <p:tavLst>
                                        <p:tav tm="0">
                                          <p:val>
                                            <p:strVal val="1+#ppt_w/2"/>
                                          </p:val>
                                        </p:tav>
                                        <p:tav tm="100000">
                                          <p:val>
                                            <p:strVal val="#ppt_x"/>
                                          </p:val>
                                        </p:tav>
                                      </p:tavLst>
                                    </p:anim>
                                    <p:anim calcmode="lin" valueType="num">
                                      <p:cBhvr additive="base">
                                        <p:cTn id="26" dur="500" fill="hold"/>
                                        <p:tgtEl>
                                          <p:spTgt spid="29"/>
                                        </p:tgtEl>
                                        <p:attrNameLst>
                                          <p:attrName>ppt_y</p:attrName>
                                        </p:attrNameLst>
                                      </p:cBhvr>
                                      <p:tavLst>
                                        <p:tav tm="0">
                                          <p:val>
                                            <p:strVal val="#ppt_y"/>
                                          </p:val>
                                        </p:tav>
                                        <p:tav tm="100000">
                                          <p:val>
                                            <p:strVal val="#ppt_y"/>
                                          </p:val>
                                        </p:tav>
                                      </p:tavLst>
                                    </p:anim>
                                  </p:childTnLst>
                                </p:cTn>
                              </p:par>
                            </p:childTnLst>
                          </p:cTn>
                        </p:par>
                        <p:par>
                          <p:cTn id="27" fill="hold">
                            <p:stCondLst>
                              <p:cond delay="1000"/>
                            </p:stCondLst>
                            <p:childTnLst>
                              <p:par>
                                <p:cTn id="28" presetID="2" presetClass="entr" presetSubtype="2" fill="hold" grpId="0" nodeType="afterEffect">
                                  <p:stCondLst>
                                    <p:cond delay="0"/>
                                  </p:stCondLst>
                                  <p:childTnLst>
                                    <p:set>
                                      <p:cBhvr>
                                        <p:cTn id="29" dur="1" fill="hold">
                                          <p:stCondLst>
                                            <p:cond delay="0"/>
                                          </p:stCondLst>
                                        </p:cTn>
                                        <p:tgtEl>
                                          <p:spTgt spid="30"/>
                                        </p:tgtEl>
                                        <p:attrNameLst>
                                          <p:attrName>style.visibility</p:attrName>
                                        </p:attrNameLst>
                                      </p:cBhvr>
                                      <p:to>
                                        <p:strVal val="visible"/>
                                      </p:to>
                                    </p:set>
                                    <p:anim calcmode="lin" valueType="num">
                                      <p:cBhvr additive="base">
                                        <p:cTn id="30" dur="500" fill="hold"/>
                                        <p:tgtEl>
                                          <p:spTgt spid="30"/>
                                        </p:tgtEl>
                                        <p:attrNameLst>
                                          <p:attrName>ppt_x</p:attrName>
                                        </p:attrNameLst>
                                      </p:cBhvr>
                                      <p:tavLst>
                                        <p:tav tm="0">
                                          <p:val>
                                            <p:strVal val="1+#ppt_w/2"/>
                                          </p:val>
                                        </p:tav>
                                        <p:tav tm="100000">
                                          <p:val>
                                            <p:strVal val="#ppt_x"/>
                                          </p:val>
                                        </p:tav>
                                      </p:tavLst>
                                    </p:anim>
                                    <p:anim calcmode="lin" valueType="num">
                                      <p:cBhvr additive="base">
                                        <p:cTn id="31" dur="500" fill="hold"/>
                                        <p:tgtEl>
                                          <p:spTgt spid="30"/>
                                        </p:tgtEl>
                                        <p:attrNameLst>
                                          <p:attrName>ppt_y</p:attrName>
                                        </p:attrNameLst>
                                      </p:cBhvr>
                                      <p:tavLst>
                                        <p:tav tm="0">
                                          <p:val>
                                            <p:strVal val="#ppt_y"/>
                                          </p:val>
                                        </p:tav>
                                        <p:tav tm="100000">
                                          <p:val>
                                            <p:strVal val="#ppt_y"/>
                                          </p:val>
                                        </p:tav>
                                      </p:tavLst>
                                    </p:anim>
                                  </p:childTnLst>
                                </p:cTn>
                              </p:par>
                            </p:childTnLst>
                          </p:cTn>
                        </p:par>
                        <p:par>
                          <p:cTn id="32" fill="hold">
                            <p:stCondLst>
                              <p:cond delay="1500"/>
                            </p:stCondLst>
                            <p:childTnLst>
                              <p:par>
                                <p:cTn id="33" presetID="2" presetClass="entr" presetSubtype="2"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 calcmode="lin" valueType="num">
                                      <p:cBhvr additive="base">
                                        <p:cTn id="35" dur="500" fill="hold"/>
                                        <p:tgtEl>
                                          <p:spTgt spid="31"/>
                                        </p:tgtEl>
                                        <p:attrNameLst>
                                          <p:attrName>ppt_x</p:attrName>
                                        </p:attrNameLst>
                                      </p:cBhvr>
                                      <p:tavLst>
                                        <p:tav tm="0">
                                          <p:val>
                                            <p:strVal val="1+#ppt_w/2"/>
                                          </p:val>
                                        </p:tav>
                                        <p:tav tm="100000">
                                          <p:val>
                                            <p:strVal val="#ppt_x"/>
                                          </p:val>
                                        </p:tav>
                                      </p:tavLst>
                                    </p:anim>
                                    <p:anim calcmode="lin" valueType="num">
                                      <p:cBhvr additive="base">
                                        <p:cTn id="36" dur="500" fill="hold"/>
                                        <p:tgtEl>
                                          <p:spTgt spid="31"/>
                                        </p:tgtEl>
                                        <p:attrNameLst>
                                          <p:attrName>ppt_y</p:attrName>
                                        </p:attrNameLst>
                                      </p:cBhvr>
                                      <p:tavLst>
                                        <p:tav tm="0">
                                          <p:val>
                                            <p:strVal val="#ppt_y"/>
                                          </p:val>
                                        </p:tav>
                                        <p:tav tm="100000">
                                          <p:val>
                                            <p:strVal val="#ppt_y"/>
                                          </p:val>
                                        </p:tav>
                                      </p:tavLst>
                                    </p:anim>
                                  </p:childTnLst>
                                </p:cTn>
                              </p:par>
                            </p:childTnLst>
                          </p:cTn>
                        </p:par>
                        <p:par>
                          <p:cTn id="37" fill="hold">
                            <p:stCondLst>
                              <p:cond delay="2000"/>
                            </p:stCondLst>
                            <p:childTnLst>
                              <p:par>
                                <p:cTn id="38" presetID="2" presetClass="entr" presetSubtype="2" fill="hold" grpId="0" nodeType="afterEffect">
                                  <p:stCondLst>
                                    <p:cond delay="0"/>
                                  </p:stCondLst>
                                  <p:childTnLst>
                                    <p:set>
                                      <p:cBhvr>
                                        <p:cTn id="39" dur="1" fill="hold">
                                          <p:stCondLst>
                                            <p:cond delay="0"/>
                                          </p:stCondLst>
                                        </p:cTn>
                                        <p:tgtEl>
                                          <p:spTgt spid="32"/>
                                        </p:tgtEl>
                                        <p:attrNameLst>
                                          <p:attrName>style.visibility</p:attrName>
                                        </p:attrNameLst>
                                      </p:cBhvr>
                                      <p:to>
                                        <p:strVal val="visible"/>
                                      </p:to>
                                    </p:set>
                                    <p:anim calcmode="lin" valueType="num">
                                      <p:cBhvr additive="base">
                                        <p:cTn id="40" dur="500" fill="hold"/>
                                        <p:tgtEl>
                                          <p:spTgt spid="32"/>
                                        </p:tgtEl>
                                        <p:attrNameLst>
                                          <p:attrName>ppt_x</p:attrName>
                                        </p:attrNameLst>
                                      </p:cBhvr>
                                      <p:tavLst>
                                        <p:tav tm="0">
                                          <p:val>
                                            <p:strVal val="1+#ppt_w/2"/>
                                          </p:val>
                                        </p:tav>
                                        <p:tav tm="100000">
                                          <p:val>
                                            <p:strVal val="#ppt_x"/>
                                          </p:val>
                                        </p:tav>
                                      </p:tavLst>
                                    </p:anim>
                                    <p:anim calcmode="lin" valueType="num">
                                      <p:cBhvr additive="base">
                                        <p:cTn id="41" dur="500" fill="hold"/>
                                        <p:tgtEl>
                                          <p:spTgt spid="32"/>
                                        </p:tgtEl>
                                        <p:attrNameLst>
                                          <p:attrName>ppt_y</p:attrName>
                                        </p:attrNameLst>
                                      </p:cBhvr>
                                      <p:tavLst>
                                        <p:tav tm="0">
                                          <p:val>
                                            <p:strVal val="#ppt_y"/>
                                          </p:val>
                                        </p:tav>
                                        <p:tav tm="100000">
                                          <p:val>
                                            <p:strVal val="#ppt_y"/>
                                          </p:val>
                                        </p:tav>
                                      </p:tavLst>
                                    </p:anim>
                                  </p:childTnLst>
                                </p:cTn>
                              </p:par>
                            </p:childTnLst>
                          </p:cTn>
                        </p:par>
                        <p:par>
                          <p:cTn id="42" fill="hold">
                            <p:stCondLst>
                              <p:cond delay="2500"/>
                            </p:stCondLst>
                            <p:childTnLst>
                              <p:par>
                                <p:cTn id="43" presetID="2" presetClass="entr" presetSubtype="2" fill="hold" grpId="0" nodeType="afterEffect">
                                  <p:stCondLst>
                                    <p:cond delay="0"/>
                                  </p:stCondLst>
                                  <p:childTnLst>
                                    <p:set>
                                      <p:cBhvr>
                                        <p:cTn id="44" dur="1" fill="hold">
                                          <p:stCondLst>
                                            <p:cond delay="0"/>
                                          </p:stCondLst>
                                        </p:cTn>
                                        <p:tgtEl>
                                          <p:spTgt spid="33"/>
                                        </p:tgtEl>
                                        <p:attrNameLst>
                                          <p:attrName>style.visibility</p:attrName>
                                        </p:attrNameLst>
                                      </p:cBhvr>
                                      <p:to>
                                        <p:strVal val="visible"/>
                                      </p:to>
                                    </p:set>
                                    <p:anim calcmode="lin" valueType="num">
                                      <p:cBhvr additive="base">
                                        <p:cTn id="45" dur="500" fill="hold"/>
                                        <p:tgtEl>
                                          <p:spTgt spid="33"/>
                                        </p:tgtEl>
                                        <p:attrNameLst>
                                          <p:attrName>ppt_x</p:attrName>
                                        </p:attrNameLst>
                                      </p:cBhvr>
                                      <p:tavLst>
                                        <p:tav tm="0">
                                          <p:val>
                                            <p:strVal val="1+#ppt_w/2"/>
                                          </p:val>
                                        </p:tav>
                                        <p:tav tm="100000">
                                          <p:val>
                                            <p:strVal val="#ppt_x"/>
                                          </p:val>
                                        </p:tav>
                                      </p:tavLst>
                                    </p:anim>
                                    <p:anim calcmode="lin" valueType="num">
                                      <p:cBhvr additive="base">
                                        <p:cTn id="46"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3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4" presetClass="entr" presetSubtype="0" fill="hold" grpId="0" nodeType="clickEffect">
                                  <p:stCondLst>
                                    <p:cond delay="0"/>
                                  </p:stCondLst>
                                  <p:childTnLst>
                                    <p:set>
                                      <p:cBhvr>
                                        <p:cTn id="54" dur="1" fill="hold">
                                          <p:stCondLst>
                                            <p:cond delay="499"/>
                                          </p:stCondLst>
                                        </p:cTn>
                                        <p:tgtEl>
                                          <p:spTgt spid="35"/>
                                        </p:tgtEl>
                                        <p:attrNameLst>
                                          <p:attrName>style.visibility</p:attrName>
                                        </p:attrNameLst>
                                      </p:cBhvr>
                                      <p:to>
                                        <p:strVal val="visible"/>
                                      </p:to>
                                    </p:set>
                                    <p:anim to="" calcmode="lin" valueType="num">
                                      <p:cBhvr>
                                        <p:cTn id="55" dur="1" fill="hold"/>
                                        <p:tgtEl>
                                          <p:spTgt spid="35"/>
                                        </p:tgtEl>
                                        <p:attrNameLst>
                                          <p:attrName/>
                                        </p:attrNameLst>
                                      </p:cBhvr>
                                    </p:anim>
                                  </p:childTnLst>
                                </p:cTn>
                              </p:par>
                            </p:childTnLst>
                          </p:cTn>
                        </p:par>
                      </p:childTnLst>
                    </p:cTn>
                  </p:par>
                  <p:par>
                    <p:cTn id="56" fill="hold">
                      <p:stCondLst>
                        <p:cond delay="indefinite"/>
                      </p:stCondLst>
                      <p:childTnLst>
                        <p:par>
                          <p:cTn id="57" fill="hold">
                            <p:stCondLst>
                              <p:cond delay="0"/>
                            </p:stCondLst>
                            <p:childTnLst>
                              <p:par>
                                <p:cTn id="58" presetID="24" presetClass="entr" presetSubtype="0" fill="hold" grpId="0" nodeType="clickEffect">
                                  <p:stCondLst>
                                    <p:cond delay="0"/>
                                  </p:stCondLst>
                                  <p:childTnLst>
                                    <p:set>
                                      <p:cBhvr>
                                        <p:cTn id="59" dur="1" fill="hold">
                                          <p:stCondLst>
                                            <p:cond delay="499"/>
                                          </p:stCondLst>
                                        </p:cTn>
                                        <p:tgtEl>
                                          <p:spTgt spid="36"/>
                                        </p:tgtEl>
                                        <p:attrNameLst>
                                          <p:attrName>style.visibility</p:attrName>
                                        </p:attrNameLst>
                                      </p:cBhvr>
                                      <p:to>
                                        <p:strVal val="visible"/>
                                      </p:to>
                                    </p:set>
                                    <p:anim to="" calcmode="lin" valueType="num">
                                      <p:cBhvr>
                                        <p:cTn id="60" dur="1" fill="hold"/>
                                        <p:tgtEl>
                                          <p:spTgt spid="36"/>
                                        </p:tgtEl>
                                        <p:attrNameLst>
                                          <p:attrName/>
                                        </p:attrNameLst>
                                      </p:cBhvr>
                                    </p:anim>
                                  </p:childTnLst>
                                </p:cTn>
                              </p:par>
                            </p:childTnLst>
                          </p:cTn>
                        </p:par>
                      </p:childTnLst>
                    </p:cTn>
                  </p:par>
                  <p:par>
                    <p:cTn id="61" fill="hold">
                      <p:stCondLst>
                        <p:cond delay="indefinite"/>
                      </p:stCondLst>
                      <p:childTnLst>
                        <p:par>
                          <p:cTn id="62" fill="hold">
                            <p:stCondLst>
                              <p:cond delay="0"/>
                            </p:stCondLst>
                            <p:childTnLst>
                              <p:par>
                                <p:cTn id="63" presetID="24" presetClass="entr" presetSubtype="0" fill="hold" grpId="0" nodeType="clickEffect">
                                  <p:stCondLst>
                                    <p:cond delay="0"/>
                                  </p:stCondLst>
                                  <p:childTnLst>
                                    <p:set>
                                      <p:cBhvr>
                                        <p:cTn id="64" dur="1" fill="hold">
                                          <p:stCondLst>
                                            <p:cond delay="499"/>
                                          </p:stCondLst>
                                        </p:cTn>
                                        <p:tgtEl>
                                          <p:spTgt spid="37"/>
                                        </p:tgtEl>
                                        <p:attrNameLst>
                                          <p:attrName>style.visibility</p:attrName>
                                        </p:attrNameLst>
                                      </p:cBhvr>
                                      <p:to>
                                        <p:strVal val="visible"/>
                                      </p:to>
                                    </p:set>
                                    <p:anim to="" calcmode="lin" valueType="num">
                                      <p:cBhvr>
                                        <p:cTn id="65" dur="1" fill="hold"/>
                                        <p:tgtEl>
                                          <p:spTgt spid="37"/>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utoUpdateAnimBg="0"/>
      <p:bldP spid="24" grpId="0" autoUpdateAnimBg="0"/>
      <p:bldP spid="27" grpId="0" autoUpdateAnimBg="0"/>
      <p:bldP spid="28" grpId="0" autoUpdateAnimBg="0"/>
      <p:bldP spid="29" grpId="0" autoUpdateAnimBg="0"/>
      <p:bldP spid="30" grpId="0" autoUpdateAnimBg="0"/>
      <p:bldP spid="31" grpId="0" autoUpdateAnimBg="0"/>
      <p:bldP spid="32" grpId="0" autoUpdateAnimBg="0"/>
      <p:bldP spid="33" grpId="0" autoUpdateAnimBg="0"/>
      <p:bldP spid="34" grpId="0" autoUpdateAnimBg="0"/>
      <p:bldP spid="35" grpId="0" autoUpdateAnimBg="0"/>
      <p:bldP spid="36" grpId="0" autoUpdateAnimBg="0"/>
      <p:bldP spid="37"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2"/>
            <a:ext cx="8207375" cy="5018107"/>
          </a:xfrm>
          <a:ln>
            <a:noFill/>
          </a:ln>
        </p:spPr>
        <p:txBody>
          <a:bodyPr/>
          <a:lstStyle/>
          <a:p>
            <a:r>
              <a:rPr lang="zh-CN" altLang="en-US"/>
              <a:t>算例</a:t>
            </a:r>
            <a:endParaRPr lang="en-US" altLang="zh-CN"/>
          </a:p>
          <a:p>
            <a:pPr lvl="1">
              <a:lnSpc>
                <a:spcPct val="150000"/>
              </a:lnSpc>
              <a:spcBef>
                <a:spcPts val="0"/>
              </a:spcBef>
            </a:pPr>
            <a:r>
              <a:rPr lang="zh-CN" altLang="en-US"/>
              <a:t>例</a:t>
            </a:r>
            <a:r>
              <a:rPr lang="en-US" altLang="zh-CN"/>
              <a:t>3</a:t>
            </a:r>
            <a:r>
              <a:rPr lang="zh-CN" altLang="en-US"/>
              <a:t>：求</a:t>
            </a:r>
            <a:r>
              <a:rPr lang="zh-CN" altLang="en-US">
                <a:solidFill>
                  <a:schemeClr val="tx2"/>
                </a:solidFill>
                <a:latin typeface="楷体_GB2312" pitchFamily="49" charset="-122"/>
              </a:rPr>
              <a:t>图示体系的计算自由度</a:t>
            </a:r>
            <a:endParaRPr lang="zh-CN" altLang="en-US" b="0">
              <a:ea typeface="宋体" charset="-122"/>
            </a:endParaRPr>
          </a:p>
          <a:p>
            <a:pPr lvl="1">
              <a:lnSpc>
                <a:spcPct val="150000"/>
              </a:lnSpc>
              <a:spcBef>
                <a:spcPts val="0"/>
              </a:spcBef>
            </a:pPr>
            <a:endParaRPr lang="en-US" altLang="zh-CN">
              <a:solidFill>
                <a:schemeClr val="tx1"/>
              </a:solidFill>
            </a:endParaRPr>
          </a:p>
          <a:p>
            <a:pPr lvl="1">
              <a:lnSpc>
                <a:spcPct val="130000"/>
              </a:lnSpc>
              <a:spcBef>
                <a:spcPts val="0"/>
              </a:spcBef>
              <a:buNone/>
            </a:pPr>
            <a:r>
              <a:rPr lang="en-US" altLang="zh-CN"/>
              <a:t>    </a:t>
            </a:r>
          </a:p>
        </p:txBody>
      </p:sp>
      <p:sp>
        <p:nvSpPr>
          <p:cNvPr id="2" name="标题 1"/>
          <p:cNvSpPr>
            <a:spLocks noGrp="1"/>
          </p:cNvSpPr>
          <p:nvPr>
            <p:ph type="title"/>
          </p:nvPr>
        </p:nvSpPr>
        <p:spPr>
          <a:xfrm>
            <a:off x="457200" y="260648"/>
            <a:ext cx="8229600" cy="882336"/>
          </a:xfrm>
        </p:spPr>
        <p:txBody>
          <a:bodyPr/>
          <a:lstStyle/>
          <a:p>
            <a:pPr algn="r"/>
            <a:r>
              <a:rPr lang="zh-CN" altLang="en-US"/>
              <a:t>平面杆件体系的计算自由度</a:t>
            </a:r>
          </a:p>
        </p:txBody>
      </p:sp>
      <p:sp>
        <p:nvSpPr>
          <p:cNvPr id="23" name="Rectangle 6"/>
          <p:cNvSpPr>
            <a:spLocks noChangeArrowheads="1"/>
          </p:cNvSpPr>
          <p:nvPr/>
        </p:nvSpPr>
        <p:spPr bwMode="auto">
          <a:xfrm>
            <a:off x="1200144" y="2357430"/>
            <a:ext cx="1728782" cy="381000"/>
          </a:xfrm>
          <a:prstGeom prst="rect">
            <a:avLst/>
          </a:prstGeom>
          <a:noFill/>
          <a:ln w="9525">
            <a:noFill/>
            <a:miter lim="800000"/>
            <a:headEnd/>
            <a:tailEnd/>
          </a:ln>
          <a:effectLst/>
        </p:spPr>
        <p:txBody>
          <a:bodyPr wrap="none" anchor="ctr"/>
          <a:lstStyle/>
          <a:p>
            <a:pPr rtl="0" fontAlgn="base">
              <a:spcBef>
                <a:spcPct val="0"/>
              </a:spcBef>
              <a:spcAft>
                <a:spcPct val="0"/>
              </a:spcAft>
            </a:pPr>
            <a:r>
              <a:rPr kumimoji="1" lang="zh-CN" altLang="en-US" sz="2200" b="1">
                <a:latin typeface="+mn-ea"/>
              </a:rPr>
              <a:t>方法</a:t>
            </a:r>
            <a:r>
              <a:rPr kumimoji="1" lang="en-US" altLang="zh-CN" sz="2200" b="1">
                <a:latin typeface="+mn-ea"/>
              </a:rPr>
              <a:t>1</a:t>
            </a:r>
            <a:endParaRPr kumimoji="1" lang="zh-CN" altLang="en-US" sz="2200" b="1" kern="1200">
              <a:latin typeface="+mn-ea"/>
              <a:cs typeface="+mn-cs"/>
            </a:endParaRPr>
          </a:p>
        </p:txBody>
      </p:sp>
      <p:sp>
        <p:nvSpPr>
          <p:cNvPr id="24" name="Rectangle 13"/>
          <p:cNvSpPr>
            <a:spLocks noChangeArrowheads="1"/>
          </p:cNvSpPr>
          <p:nvPr/>
        </p:nvSpPr>
        <p:spPr bwMode="auto">
          <a:xfrm>
            <a:off x="1501426" y="2772410"/>
            <a:ext cx="2895600" cy="533400"/>
          </a:xfrm>
          <a:prstGeom prst="rect">
            <a:avLst/>
          </a:prstGeom>
          <a:noFill/>
          <a:ln w="9525">
            <a:noFill/>
            <a:miter lim="800000"/>
            <a:headEnd/>
            <a:tailEnd/>
          </a:ln>
          <a:effectLst/>
        </p:spPr>
        <p:txBody>
          <a:bodyPr wrap="none" anchor="ctr"/>
          <a:lstStyle/>
          <a:p>
            <a:pPr>
              <a:lnSpc>
                <a:spcPct val="80000"/>
              </a:lnSpc>
              <a:spcBef>
                <a:spcPct val="0"/>
              </a:spcBef>
            </a:pPr>
            <a:r>
              <a:rPr lang="zh-CN" altLang="en-US" sz="2200" b="1">
                <a:solidFill>
                  <a:srgbClr val="00B050"/>
                </a:solidFill>
              </a:rPr>
              <a:t>几个刚片？</a:t>
            </a:r>
          </a:p>
        </p:txBody>
      </p:sp>
      <p:sp>
        <p:nvSpPr>
          <p:cNvPr id="27" name="Rectangle 14"/>
          <p:cNvSpPr>
            <a:spLocks noChangeArrowheads="1"/>
          </p:cNvSpPr>
          <p:nvPr/>
        </p:nvSpPr>
        <p:spPr bwMode="auto">
          <a:xfrm>
            <a:off x="1501426" y="4024960"/>
            <a:ext cx="2071702" cy="533400"/>
          </a:xfrm>
          <a:prstGeom prst="rect">
            <a:avLst/>
          </a:prstGeom>
          <a:noFill/>
          <a:ln w="9525">
            <a:noFill/>
            <a:miter lim="800000"/>
            <a:headEnd/>
            <a:tailEnd/>
          </a:ln>
          <a:effectLst/>
        </p:spPr>
        <p:txBody>
          <a:bodyPr wrap="none" anchor="ctr"/>
          <a:lstStyle/>
          <a:p>
            <a:pPr>
              <a:lnSpc>
                <a:spcPct val="70000"/>
              </a:lnSpc>
              <a:spcBef>
                <a:spcPct val="0"/>
              </a:spcBef>
            </a:pPr>
            <a:r>
              <a:rPr lang="zh-CN" altLang="en-US" sz="2200" b="1">
                <a:solidFill>
                  <a:srgbClr val="800000"/>
                </a:solidFill>
              </a:rPr>
              <a:t>有几个单刚结点？</a:t>
            </a:r>
            <a:endParaRPr lang="zh-CN" altLang="en-US" sz="2200" b="1"/>
          </a:p>
        </p:txBody>
      </p:sp>
      <p:sp>
        <p:nvSpPr>
          <p:cNvPr id="34" name="Rectangle 15"/>
          <p:cNvSpPr>
            <a:spLocks noChangeArrowheads="1"/>
          </p:cNvSpPr>
          <p:nvPr/>
        </p:nvSpPr>
        <p:spPr bwMode="auto">
          <a:xfrm>
            <a:off x="1527462" y="4459626"/>
            <a:ext cx="2743200" cy="533400"/>
          </a:xfrm>
          <a:prstGeom prst="rect">
            <a:avLst/>
          </a:prstGeom>
          <a:noFill/>
          <a:ln w="9525">
            <a:noFill/>
            <a:miter lim="800000"/>
            <a:headEnd/>
            <a:tailEnd/>
          </a:ln>
          <a:effectLst/>
        </p:spPr>
        <p:txBody>
          <a:bodyPr wrap="none" anchor="ctr"/>
          <a:lstStyle/>
          <a:p>
            <a:pPr>
              <a:lnSpc>
                <a:spcPct val="90000"/>
              </a:lnSpc>
              <a:spcBef>
                <a:spcPct val="0"/>
              </a:spcBef>
            </a:pPr>
            <a:r>
              <a:rPr lang="en-US" altLang="zh-CN" sz="2200" b="1">
                <a:solidFill>
                  <a:srgbClr val="800000"/>
                </a:solidFill>
              </a:rPr>
              <a:t>6</a:t>
            </a:r>
            <a:r>
              <a:rPr lang="zh-CN" altLang="en-US" sz="2200" b="1">
                <a:solidFill>
                  <a:srgbClr val="800000"/>
                </a:solidFill>
              </a:rPr>
              <a:t>根支座链杆；</a:t>
            </a:r>
          </a:p>
        </p:txBody>
      </p:sp>
      <p:sp>
        <p:nvSpPr>
          <p:cNvPr id="35" name="Rectangle 5"/>
          <p:cNvSpPr>
            <a:spLocks noChangeArrowheads="1"/>
          </p:cNvSpPr>
          <p:nvPr/>
        </p:nvSpPr>
        <p:spPr bwMode="auto">
          <a:xfrm>
            <a:off x="1511642" y="4962532"/>
            <a:ext cx="4662488" cy="371475"/>
          </a:xfrm>
          <a:prstGeom prst="rect">
            <a:avLst/>
          </a:prstGeom>
          <a:noFill/>
          <a:ln w="9525">
            <a:noFill/>
            <a:miter lim="800000"/>
            <a:headEnd/>
            <a:tailEnd/>
          </a:ln>
          <a:effectLst/>
        </p:spPr>
        <p:txBody>
          <a:bodyPr wrap="none" anchor="ctr"/>
          <a:lstStyle/>
          <a:p>
            <a:pPr>
              <a:lnSpc>
                <a:spcPct val="70000"/>
              </a:lnSpc>
              <a:spcBef>
                <a:spcPct val="0"/>
              </a:spcBef>
            </a:pPr>
            <a:r>
              <a:rPr lang="en-US" altLang="zh-CN" sz="2200" b="1" i="1">
                <a:solidFill>
                  <a:srgbClr val="0033CC"/>
                </a:solidFill>
                <a:latin typeface="Times New Roman" pitchFamily="18" charset="0"/>
                <a:cs typeface="Times New Roman" pitchFamily="18" charset="0"/>
              </a:rPr>
              <a:t>W </a:t>
            </a:r>
            <a:r>
              <a:rPr lang="en-US" altLang="zh-CN" sz="2200" b="1">
                <a:solidFill>
                  <a:srgbClr val="0033CC"/>
                </a:solidFill>
                <a:latin typeface="Times New Roman" pitchFamily="18" charset="0"/>
                <a:cs typeface="Times New Roman" pitchFamily="18" charset="0"/>
              </a:rPr>
              <a:t>= 3 ×11 - (3×12+6) = -9</a:t>
            </a:r>
          </a:p>
        </p:txBody>
      </p:sp>
      <p:sp>
        <p:nvSpPr>
          <p:cNvPr id="36" name="Rectangle 6"/>
          <p:cNvSpPr>
            <a:spLocks noChangeArrowheads="1"/>
          </p:cNvSpPr>
          <p:nvPr/>
        </p:nvSpPr>
        <p:spPr bwMode="auto">
          <a:xfrm>
            <a:off x="1428728" y="5548330"/>
            <a:ext cx="3000396" cy="381000"/>
          </a:xfrm>
          <a:prstGeom prst="rect">
            <a:avLst/>
          </a:prstGeom>
          <a:noFill/>
          <a:ln w="9525">
            <a:noFill/>
            <a:miter lim="800000"/>
            <a:headEnd/>
            <a:tailEnd/>
          </a:ln>
          <a:effectLst/>
        </p:spPr>
        <p:txBody>
          <a:bodyPr wrap="none" anchor="ctr"/>
          <a:lstStyle/>
          <a:p>
            <a:pPr rtl="0" fontAlgn="base">
              <a:spcBef>
                <a:spcPct val="0"/>
              </a:spcBef>
              <a:spcAft>
                <a:spcPct val="0"/>
              </a:spcAft>
            </a:pPr>
            <a:r>
              <a:rPr kumimoji="1" lang="zh-CN" altLang="en-US" sz="2200" b="1" kern="1200">
                <a:latin typeface="+mn-ea"/>
                <a:cs typeface="+mn-cs"/>
              </a:rPr>
              <a:t>有没有其它方法？</a:t>
            </a:r>
          </a:p>
        </p:txBody>
      </p:sp>
      <p:grpSp>
        <p:nvGrpSpPr>
          <p:cNvPr id="42" name="组合 41"/>
          <p:cNvGrpSpPr/>
          <p:nvPr/>
        </p:nvGrpSpPr>
        <p:grpSpPr>
          <a:xfrm>
            <a:off x="4589113" y="2013888"/>
            <a:ext cx="4554887" cy="1720157"/>
            <a:chOff x="4589113" y="2013888"/>
            <a:chExt cx="4554887" cy="1720157"/>
          </a:xfrm>
        </p:grpSpPr>
        <p:pic>
          <p:nvPicPr>
            <p:cNvPr id="4098" name="Picture 2"/>
            <p:cNvPicPr>
              <a:picLocks noChangeAspect="1" noChangeArrowheads="1"/>
            </p:cNvPicPr>
            <p:nvPr/>
          </p:nvPicPr>
          <p:blipFill>
            <a:blip r:embed="rId3" cstate="print"/>
            <a:srcRect/>
            <a:stretch>
              <a:fillRect/>
            </a:stretch>
          </p:blipFill>
          <p:spPr bwMode="auto">
            <a:xfrm>
              <a:off x="4589113" y="2071678"/>
              <a:ext cx="4554887" cy="1662367"/>
            </a:xfrm>
            <a:prstGeom prst="rect">
              <a:avLst/>
            </a:prstGeom>
            <a:noFill/>
            <a:ln w="9525">
              <a:noFill/>
              <a:miter lim="800000"/>
              <a:headEnd/>
              <a:tailEnd/>
            </a:ln>
            <a:effectLst/>
          </p:spPr>
        </p:pic>
        <p:sp>
          <p:nvSpPr>
            <p:cNvPr id="19" name="TextBox 18"/>
            <p:cNvSpPr txBox="1"/>
            <p:nvPr/>
          </p:nvSpPr>
          <p:spPr>
            <a:xfrm>
              <a:off x="4786314" y="2028758"/>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p>
          </p:txBody>
        </p:sp>
        <p:sp>
          <p:nvSpPr>
            <p:cNvPr id="20" name="TextBox 19"/>
            <p:cNvSpPr txBox="1"/>
            <p:nvPr/>
          </p:nvSpPr>
          <p:spPr>
            <a:xfrm>
              <a:off x="5857884" y="2013888"/>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p>
          </p:txBody>
        </p:sp>
        <p:sp>
          <p:nvSpPr>
            <p:cNvPr id="21" name="TextBox 20"/>
            <p:cNvSpPr txBox="1"/>
            <p:nvPr/>
          </p:nvSpPr>
          <p:spPr>
            <a:xfrm>
              <a:off x="6716142" y="2027536"/>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C</a:t>
              </a:r>
            </a:p>
          </p:txBody>
        </p:sp>
        <p:sp>
          <p:nvSpPr>
            <p:cNvPr id="22" name="TextBox 21"/>
            <p:cNvSpPr txBox="1"/>
            <p:nvPr/>
          </p:nvSpPr>
          <p:spPr>
            <a:xfrm>
              <a:off x="7573398" y="2027536"/>
              <a:ext cx="370614"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D</a:t>
              </a:r>
            </a:p>
          </p:txBody>
        </p:sp>
        <p:sp>
          <p:nvSpPr>
            <p:cNvPr id="25" name="TextBox 24"/>
            <p:cNvSpPr txBox="1"/>
            <p:nvPr/>
          </p:nvSpPr>
          <p:spPr>
            <a:xfrm>
              <a:off x="4787316" y="3000372"/>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F</a:t>
              </a:r>
            </a:p>
          </p:txBody>
        </p:sp>
        <p:sp>
          <p:nvSpPr>
            <p:cNvPr id="26" name="TextBox 25"/>
            <p:cNvSpPr txBox="1"/>
            <p:nvPr/>
          </p:nvSpPr>
          <p:spPr>
            <a:xfrm>
              <a:off x="8628122" y="2027536"/>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E</a:t>
              </a:r>
            </a:p>
          </p:txBody>
        </p:sp>
        <p:sp>
          <p:nvSpPr>
            <p:cNvPr id="38" name="TextBox 37"/>
            <p:cNvSpPr txBox="1"/>
            <p:nvPr/>
          </p:nvSpPr>
          <p:spPr>
            <a:xfrm>
              <a:off x="5858886" y="2998396"/>
              <a:ext cx="370614"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G</a:t>
              </a:r>
            </a:p>
          </p:txBody>
        </p:sp>
        <p:sp>
          <p:nvSpPr>
            <p:cNvPr id="39" name="TextBox 38"/>
            <p:cNvSpPr txBox="1"/>
            <p:nvPr/>
          </p:nvSpPr>
          <p:spPr>
            <a:xfrm>
              <a:off x="6701716" y="3003570"/>
              <a:ext cx="38343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H</a:t>
              </a:r>
            </a:p>
          </p:txBody>
        </p:sp>
        <p:sp>
          <p:nvSpPr>
            <p:cNvPr id="40" name="TextBox 39"/>
            <p:cNvSpPr txBox="1"/>
            <p:nvPr/>
          </p:nvSpPr>
          <p:spPr>
            <a:xfrm>
              <a:off x="7574096" y="3003570"/>
              <a:ext cx="284052"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I</a:t>
              </a:r>
            </a:p>
          </p:txBody>
        </p:sp>
        <p:sp>
          <p:nvSpPr>
            <p:cNvPr id="41" name="TextBox 40"/>
            <p:cNvSpPr txBox="1"/>
            <p:nvPr/>
          </p:nvSpPr>
          <p:spPr>
            <a:xfrm>
              <a:off x="8630542" y="3000372"/>
              <a:ext cx="312906"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J</a:t>
              </a:r>
            </a:p>
          </p:txBody>
        </p:sp>
      </p:grpSp>
      <p:sp>
        <p:nvSpPr>
          <p:cNvPr id="43" name="Rectangle 13"/>
          <p:cNvSpPr>
            <a:spLocks noChangeArrowheads="1"/>
          </p:cNvSpPr>
          <p:nvPr/>
        </p:nvSpPr>
        <p:spPr bwMode="auto">
          <a:xfrm>
            <a:off x="1500166" y="3231532"/>
            <a:ext cx="2895600" cy="840410"/>
          </a:xfrm>
          <a:prstGeom prst="rect">
            <a:avLst/>
          </a:prstGeom>
          <a:noFill/>
          <a:ln w="9525">
            <a:noFill/>
            <a:miter lim="800000"/>
            <a:headEnd/>
            <a:tailEnd/>
          </a:ln>
          <a:effectLst/>
        </p:spPr>
        <p:txBody>
          <a:bodyPr wrap="none" anchor="ctr"/>
          <a:lstStyle/>
          <a:p>
            <a:pPr>
              <a:lnSpc>
                <a:spcPct val="80000"/>
              </a:lnSpc>
              <a:spcBef>
                <a:spcPct val="0"/>
              </a:spcBef>
            </a:pPr>
            <a:r>
              <a:rPr lang="en-US" altLang="zh-CN" sz="2200" b="1">
                <a:solidFill>
                  <a:srgbClr val="00B050"/>
                </a:solidFill>
                <a:latin typeface="Times New Roman" pitchFamily="18" charset="0"/>
                <a:cs typeface="Times New Roman" pitchFamily="18" charset="0"/>
              </a:rPr>
              <a:t>11:</a:t>
            </a:r>
            <a:r>
              <a:rPr lang="en-US" altLang="zh-CN" sz="2200" b="1" i="1">
                <a:solidFill>
                  <a:srgbClr val="00B050"/>
                </a:solidFill>
                <a:latin typeface="Times New Roman" pitchFamily="18" charset="0"/>
                <a:cs typeface="Times New Roman" pitchFamily="18" charset="0"/>
              </a:rPr>
              <a:t> AB, BC, CD, DE, BG,</a:t>
            </a:r>
          </a:p>
          <a:p>
            <a:pPr>
              <a:lnSpc>
                <a:spcPct val="130000"/>
              </a:lnSpc>
              <a:spcBef>
                <a:spcPct val="0"/>
              </a:spcBef>
            </a:pPr>
            <a:r>
              <a:rPr lang="en-US" altLang="zh-CN" sz="2200" b="1" i="1">
                <a:solidFill>
                  <a:srgbClr val="00B050"/>
                </a:solidFill>
                <a:latin typeface="Times New Roman" pitchFamily="18" charset="0"/>
                <a:cs typeface="Times New Roman" pitchFamily="18" charset="0"/>
              </a:rPr>
              <a:t>CH, DI, FG, GH, HI, IJ</a:t>
            </a:r>
          </a:p>
        </p:txBody>
      </p:sp>
      <p:sp>
        <p:nvSpPr>
          <p:cNvPr id="45" name="Rectangle 9"/>
          <p:cNvSpPr>
            <a:spLocks noChangeArrowheads="1"/>
          </p:cNvSpPr>
          <p:nvPr/>
        </p:nvSpPr>
        <p:spPr bwMode="auto">
          <a:xfrm>
            <a:off x="5538798" y="2314572"/>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2</a:t>
            </a:r>
            <a:endParaRPr lang="en-US" altLang="zh-CN" sz="2400">
              <a:ea typeface="宋体" charset="-122"/>
            </a:endParaRPr>
          </a:p>
        </p:txBody>
      </p:sp>
      <p:sp>
        <p:nvSpPr>
          <p:cNvPr id="46" name="Rectangle 9"/>
          <p:cNvSpPr>
            <a:spLocks noChangeArrowheads="1"/>
          </p:cNvSpPr>
          <p:nvPr/>
        </p:nvSpPr>
        <p:spPr bwMode="auto">
          <a:xfrm>
            <a:off x="6429388" y="2313288"/>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2</a:t>
            </a:r>
            <a:endParaRPr lang="en-US" altLang="zh-CN" sz="2400">
              <a:ea typeface="宋体" charset="-122"/>
            </a:endParaRPr>
          </a:p>
        </p:txBody>
      </p:sp>
      <p:sp>
        <p:nvSpPr>
          <p:cNvPr id="47" name="Rectangle 9"/>
          <p:cNvSpPr>
            <a:spLocks noChangeArrowheads="1"/>
          </p:cNvSpPr>
          <p:nvPr/>
        </p:nvSpPr>
        <p:spPr bwMode="auto">
          <a:xfrm>
            <a:off x="7286644" y="2314572"/>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2</a:t>
            </a:r>
            <a:endParaRPr lang="en-US" altLang="zh-CN" sz="2400">
              <a:ea typeface="宋体" charset="-122"/>
            </a:endParaRPr>
          </a:p>
        </p:txBody>
      </p:sp>
      <p:sp>
        <p:nvSpPr>
          <p:cNvPr id="48" name="Rectangle 9"/>
          <p:cNvSpPr>
            <a:spLocks noChangeArrowheads="1"/>
          </p:cNvSpPr>
          <p:nvPr/>
        </p:nvSpPr>
        <p:spPr bwMode="auto">
          <a:xfrm>
            <a:off x="5500694" y="3028952"/>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2</a:t>
            </a:r>
            <a:endParaRPr lang="en-US" altLang="zh-CN" sz="2400">
              <a:ea typeface="宋体" charset="-122"/>
            </a:endParaRPr>
          </a:p>
        </p:txBody>
      </p:sp>
      <p:sp>
        <p:nvSpPr>
          <p:cNvPr id="49" name="Rectangle 9"/>
          <p:cNvSpPr>
            <a:spLocks noChangeArrowheads="1"/>
          </p:cNvSpPr>
          <p:nvPr/>
        </p:nvSpPr>
        <p:spPr bwMode="auto">
          <a:xfrm>
            <a:off x="6385246" y="3028952"/>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2</a:t>
            </a:r>
            <a:endParaRPr lang="en-US" altLang="zh-CN" sz="2400">
              <a:ea typeface="宋体" charset="-122"/>
            </a:endParaRPr>
          </a:p>
        </p:txBody>
      </p:sp>
      <p:sp>
        <p:nvSpPr>
          <p:cNvPr id="50" name="Rectangle 9"/>
          <p:cNvSpPr>
            <a:spLocks noChangeArrowheads="1"/>
          </p:cNvSpPr>
          <p:nvPr/>
        </p:nvSpPr>
        <p:spPr bwMode="auto">
          <a:xfrm>
            <a:off x="7215206" y="3000372"/>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2</a:t>
            </a:r>
            <a:endParaRPr lang="en-US" altLang="zh-CN" sz="2400">
              <a:ea typeface="宋体" charset="-122"/>
            </a:endParaRPr>
          </a:p>
        </p:txBody>
      </p:sp>
      <p:sp>
        <p:nvSpPr>
          <p:cNvPr id="51" name="Rectangle 6"/>
          <p:cNvSpPr>
            <a:spLocks noChangeArrowheads="1"/>
          </p:cNvSpPr>
          <p:nvPr/>
        </p:nvSpPr>
        <p:spPr bwMode="auto">
          <a:xfrm>
            <a:off x="4857752" y="3833818"/>
            <a:ext cx="1728782" cy="381000"/>
          </a:xfrm>
          <a:prstGeom prst="rect">
            <a:avLst/>
          </a:prstGeom>
          <a:noFill/>
          <a:ln w="9525">
            <a:noFill/>
            <a:miter lim="800000"/>
            <a:headEnd/>
            <a:tailEnd/>
          </a:ln>
          <a:effectLst/>
        </p:spPr>
        <p:txBody>
          <a:bodyPr wrap="none" anchor="ctr"/>
          <a:lstStyle/>
          <a:p>
            <a:pPr rtl="0" fontAlgn="base">
              <a:spcBef>
                <a:spcPct val="0"/>
              </a:spcBef>
              <a:spcAft>
                <a:spcPct val="0"/>
              </a:spcAft>
            </a:pPr>
            <a:r>
              <a:rPr kumimoji="1" lang="zh-CN" altLang="en-US" sz="2200" b="1">
                <a:latin typeface="+mn-ea"/>
              </a:rPr>
              <a:t>方法</a:t>
            </a:r>
            <a:r>
              <a:rPr kumimoji="1" lang="en-US" altLang="zh-CN" sz="2200" b="1">
                <a:latin typeface="+mn-ea"/>
              </a:rPr>
              <a:t>2</a:t>
            </a:r>
            <a:endParaRPr kumimoji="1" lang="zh-CN" altLang="en-US" sz="2200" b="1" kern="1200">
              <a:latin typeface="+mn-ea"/>
              <a:cs typeface="+mn-cs"/>
            </a:endParaRPr>
          </a:p>
        </p:txBody>
      </p:sp>
      <p:sp>
        <p:nvSpPr>
          <p:cNvPr id="52" name="Rectangle 13"/>
          <p:cNvSpPr>
            <a:spLocks noChangeArrowheads="1"/>
          </p:cNvSpPr>
          <p:nvPr/>
        </p:nvSpPr>
        <p:spPr bwMode="auto">
          <a:xfrm>
            <a:off x="5143504" y="4238628"/>
            <a:ext cx="2895600" cy="533400"/>
          </a:xfrm>
          <a:prstGeom prst="rect">
            <a:avLst/>
          </a:prstGeom>
          <a:noFill/>
          <a:ln w="9525">
            <a:noFill/>
            <a:miter lim="800000"/>
            <a:headEnd/>
            <a:tailEnd/>
          </a:ln>
          <a:effectLst/>
        </p:spPr>
        <p:txBody>
          <a:bodyPr wrap="none" anchor="ctr"/>
          <a:lstStyle/>
          <a:p>
            <a:pPr>
              <a:lnSpc>
                <a:spcPct val="80000"/>
              </a:lnSpc>
              <a:spcBef>
                <a:spcPct val="0"/>
              </a:spcBef>
            </a:pPr>
            <a:r>
              <a:rPr lang="zh-CN" altLang="en-US" sz="2200" b="1">
                <a:solidFill>
                  <a:srgbClr val="00B050"/>
                </a:solidFill>
              </a:rPr>
              <a:t>几个刚片？</a:t>
            </a:r>
          </a:p>
        </p:txBody>
      </p:sp>
      <p:sp>
        <p:nvSpPr>
          <p:cNvPr id="53" name="Rectangle 13"/>
          <p:cNvSpPr>
            <a:spLocks noChangeArrowheads="1"/>
          </p:cNvSpPr>
          <p:nvPr/>
        </p:nvSpPr>
        <p:spPr bwMode="auto">
          <a:xfrm>
            <a:off x="5176862" y="4755540"/>
            <a:ext cx="2895600" cy="316534"/>
          </a:xfrm>
          <a:prstGeom prst="rect">
            <a:avLst/>
          </a:prstGeom>
          <a:noFill/>
          <a:ln w="9525">
            <a:noFill/>
            <a:miter lim="800000"/>
            <a:headEnd/>
            <a:tailEnd/>
          </a:ln>
          <a:effectLst/>
        </p:spPr>
        <p:txBody>
          <a:bodyPr wrap="none" anchor="t"/>
          <a:lstStyle/>
          <a:p>
            <a:pPr>
              <a:lnSpc>
                <a:spcPct val="80000"/>
              </a:lnSpc>
              <a:spcBef>
                <a:spcPct val="0"/>
              </a:spcBef>
            </a:pPr>
            <a:r>
              <a:rPr lang="en-US" altLang="zh-CN" sz="2200" b="1">
                <a:solidFill>
                  <a:srgbClr val="00B050"/>
                </a:solidFill>
                <a:latin typeface="Times New Roman" pitchFamily="18" charset="0"/>
                <a:cs typeface="Times New Roman" pitchFamily="18" charset="0"/>
              </a:rPr>
              <a:t>2:</a:t>
            </a:r>
            <a:r>
              <a:rPr lang="en-US" altLang="zh-CN" sz="2200" b="1" i="1">
                <a:solidFill>
                  <a:srgbClr val="00B050"/>
                </a:solidFill>
                <a:latin typeface="Times New Roman" pitchFamily="18" charset="0"/>
                <a:cs typeface="Times New Roman" pitchFamily="18" charset="0"/>
              </a:rPr>
              <a:t> ABCDEGHI,FGHIJ</a:t>
            </a:r>
          </a:p>
        </p:txBody>
      </p:sp>
      <p:sp>
        <p:nvSpPr>
          <p:cNvPr id="54" name="Rectangle 14"/>
          <p:cNvSpPr>
            <a:spLocks noChangeArrowheads="1"/>
          </p:cNvSpPr>
          <p:nvPr/>
        </p:nvSpPr>
        <p:spPr bwMode="auto">
          <a:xfrm>
            <a:off x="5184448" y="5088920"/>
            <a:ext cx="3388080" cy="533400"/>
          </a:xfrm>
          <a:prstGeom prst="rect">
            <a:avLst/>
          </a:prstGeom>
          <a:noFill/>
          <a:ln w="9525">
            <a:noFill/>
            <a:miter lim="800000"/>
            <a:headEnd/>
            <a:tailEnd/>
          </a:ln>
          <a:effectLst/>
        </p:spPr>
        <p:txBody>
          <a:bodyPr wrap="none" anchor="ctr"/>
          <a:lstStyle/>
          <a:p>
            <a:pPr>
              <a:lnSpc>
                <a:spcPct val="70000"/>
              </a:lnSpc>
              <a:spcBef>
                <a:spcPct val="0"/>
              </a:spcBef>
            </a:pPr>
            <a:r>
              <a:rPr lang="en-US" altLang="zh-CN" sz="2200" b="1">
                <a:solidFill>
                  <a:srgbClr val="800000"/>
                </a:solidFill>
              </a:rPr>
              <a:t>3</a:t>
            </a:r>
            <a:r>
              <a:rPr lang="zh-CN" altLang="en-US" sz="2200" b="1">
                <a:solidFill>
                  <a:srgbClr val="800000"/>
                </a:solidFill>
              </a:rPr>
              <a:t>个单刚结点</a:t>
            </a:r>
            <a:r>
              <a:rPr lang="en-US" altLang="zh-CN" sz="2200" b="1">
                <a:solidFill>
                  <a:srgbClr val="800000"/>
                </a:solidFill>
              </a:rPr>
              <a:t>, 6</a:t>
            </a:r>
            <a:r>
              <a:rPr lang="zh-CN" altLang="en-US" sz="2200" b="1">
                <a:solidFill>
                  <a:srgbClr val="800000"/>
                </a:solidFill>
              </a:rPr>
              <a:t>根支座链杆</a:t>
            </a:r>
            <a:endParaRPr lang="zh-CN" altLang="en-US" sz="2200" b="1"/>
          </a:p>
        </p:txBody>
      </p:sp>
      <p:sp>
        <p:nvSpPr>
          <p:cNvPr id="57" name="Rectangle 5"/>
          <p:cNvSpPr>
            <a:spLocks noChangeArrowheads="1"/>
          </p:cNvSpPr>
          <p:nvPr/>
        </p:nvSpPr>
        <p:spPr bwMode="auto">
          <a:xfrm>
            <a:off x="5209572" y="5601997"/>
            <a:ext cx="3362956" cy="371475"/>
          </a:xfrm>
          <a:prstGeom prst="rect">
            <a:avLst/>
          </a:prstGeom>
          <a:noFill/>
          <a:ln w="9525">
            <a:noFill/>
            <a:miter lim="800000"/>
            <a:headEnd/>
            <a:tailEnd/>
          </a:ln>
          <a:effectLst/>
        </p:spPr>
        <p:txBody>
          <a:bodyPr wrap="none" anchor="ctr"/>
          <a:lstStyle/>
          <a:p>
            <a:pPr>
              <a:lnSpc>
                <a:spcPct val="70000"/>
              </a:lnSpc>
              <a:spcBef>
                <a:spcPct val="0"/>
              </a:spcBef>
            </a:pPr>
            <a:r>
              <a:rPr lang="en-US" altLang="zh-CN" sz="2200" b="1" i="1">
                <a:solidFill>
                  <a:srgbClr val="0033CC"/>
                </a:solidFill>
                <a:latin typeface="Times New Roman" pitchFamily="18" charset="0"/>
                <a:cs typeface="Times New Roman" pitchFamily="18" charset="0"/>
              </a:rPr>
              <a:t>W </a:t>
            </a:r>
            <a:r>
              <a:rPr lang="en-US" altLang="zh-CN" sz="2200" b="1">
                <a:solidFill>
                  <a:srgbClr val="0033CC"/>
                </a:solidFill>
                <a:latin typeface="Times New Roman" pitchFamily="18" charset="0"/>
                <a:cs typeface="Times New Roman" pitchFamily="18" charset="0"/>
              </a:rPr>
              <a:t>= 3 ×2 - (3×3+6) = -9</a:t>
            </a:r>
          </a:p>
        </p:txBody>
      </p:sp>
      <p:sp>
        <p:nvSpPr>
          <p:cNvPr id="58" name="Rectangle 6"/>
          <p:cNvSpPr>
            <a:spLocks noChangeArrowheads="1"/>
          </p:cNvSpPr>
          <p:nvPr/>
        </p:nvSpPr>
        <p:spPr bwMode="auto">
          <a:xfrm>
            <a:off x="3771912" y="6048396"/>
            <a:ext cx="1728782" cy="381000"/>
          </a:xfrm>
          <a:prstGeom prst="rect">
            <a:avLst/>
          </a:prstGeom>
          <a:noFill/>
          <a:ln w="9525">
            <a:noFill/>
            <a:miter lim="800000"/>
            <a:headEnd/>
            <a:tailEnd/>
          </a:ln>
          <a:effectLst/>
        </p:spPr>
        <p:txBody>
          <a:bodyPr wrap="none" anchor="ctr"/>
          <a:lstStyle/>
          <a:p>
            <a:pPr rtl="0" fontAlgn="base">
              <a:spcBef>
                <a:spcPct val="0"/>
              </a:spcBef>
              <a:spcAft>
                <a:spcPct val="0"/>
              </a:spcAft>
            </a:pPr>
            <a:r>
              <a:rPr kumimoji="1" lang="zh-CN" altLang="en-US" sz="2200" b="1">
                <a:solidFill>
                  <a:srgbClr val="C00000"/>
                </a:solidFill>
                <a:latin typeface="+mn-ea"/>
              </a:rPr>
              <a:t>有什么启示？</a:t>
            </a:r>
            <a:endParaRPr kumimoji="1" lang="zh-CN" altLang="en-US" sz="2200" b="1" kern="1200">
              <a:solidFill>
                <a:srgbClr val="C00000"/>
              </a:solidFill>
              <a:latin typeface="+mn-ea"/>
              <a:cs typeface="+mn-cs"/>
            </a:endParaRPr>
          </a:p>
        </p:txBody>
      </p:sp>
      <p:sp>
        <p:nvSpPr>
          <p:cNvPr id="37"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23"/>
                                        </p:tgtEl>
                                        <p:attrNameLst>
                                          <p:attrName>style.visibility</p:attrName>
                                        </p:attrNameLst>
                                      </p:cBhvr>
                                      <p:to>
                                        <p:strVal val="visible"/>
                                      </p:to>
                                    </p:set>
                                    <p:anim to="" calcmode="lin" valueType="num">
                                      <p:cBhvr>
                                        <p:cTn id="7" dur="1" fill="hold"/>
                                        <p:tgtEl>
                                          <p:spTgt spid="2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43">
                                            <p:txEl>
                                              <p:pRg st="0" end="0"/>
                                            </p:txEl>
                                          </p:spTgt>
                                        </p:tgtEl>
                                        <p:attrNameLst>
                                          <p:attrName>style.visibility</p:attrName>
                                        </p:attrNameLst>
                                      </p:cBhvr>
                                      <p:to>
                                        <p:strVal val="visible"/>
                                      </p:to>
                                    </p:set>
                                    <p:anim calcmode="lin" valueType="num">
                                      <p:cBhvr additive="base">
                                        <p:cTn id="16" dur="500" fill="hold"/>
                                        <p:tgtEl>
                                          <p:spTgt spid="43">
                                            <p:txEl>
                                              <p:pRg st="0" end="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43">
                                            <p:txEl>
                                              <p:pRg st="0" end="0"/>
                                            </p:txEl>
                                          </p:spTgt>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43">
                                            <p:txEl>
                                              <p:pRg st="1" end="1"/>
                                            </p:txEl>
                                          </p:spTgt>
                                        </p:tgtEl>
                                        <p:attrNameLst>
                                          <p:attrName>style.visibility</p:attrName>
                                        </p:attrNameLst>
                                      </p:cBhvr>
                                      <p:to>
                                        <p:strVal val="visible"/>
                                      </p:to>
                                    </p:set>
                                    <p:anim calcmode="lin" valueType="num">
                                      <p:cBhvr additive="base">
                                        <p:cTn id="20" dur="500" fill="hold"/>
                                        <p:tgtEl>
                                          <p:spTgt spid="43">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27">
                                            <p:txEl>
                                              <p:pRg st="0" end="0"/>
                                            </p:txEl>
                                          </p:spTgt>
                                        </p:tgtEl>
                                        <p:attrNameLst>
                                          <p:attrName>style.visibility</p:attrName>
                                        </p:attrNameLst>
                                      </p:cBhvr>
                                      <p:to>
                                        <p:strVal val="visible"/>
                                      </p:to>
                                    </p:set>
                                    <p:anim calcmode="lin" valueType="num">
                                      <p:cBhvr additive="base">
                                        <p:cTn id="26"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5">
                                            <p:txEl>
                                              <p:pRg st="0" end="0"/>
                                            </p:txEl>
                                          </p:spTgt>
                                        </p:tgtEl>
                                        <p:attrNameLst>
                                          <p:attrName>style.visibility</p:attrName>
                                        </p:attrNameLst>
                                      </p:cBhvr>
                                      <p:to>
                                        <p:strVal val="visible"/>
                                      </p:to>
                                    </p:set>
                                    <p:animEffect transition="in" filter="wipe(down)">
                                      <p:cBhvr>
                                        <p:cTn id="32" dur="500"/>
                                        <p:tgtEl>
                                          <p:spTgt spid="45">
                                            <p:txEl>
                                              <p:pRg st="0" end="0"/>
                                            </p:txEl>
                                          </p:spTgt>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46">
                                            <p:txEl>
                                              <p:pRg st="0" end="0"/>
                                            </p:txEl>
                                          </p:spTgt>
                                        </p:tgtEl>
                                        <p:attrNameLst>
                                          <p:attrName>style.visibility</p:attrName>
                                        </p:attrNameLst>
                                      </p:cBhvr>
                                      <p:to>
                                        <p:strVal val="visible"/>
                                      </p:to>
                                    </p:set>
                                    <p:animEffect transition="in" filter="wipe(down)">
                                      <p:cBhvr>
                                        <p:cTn id="35" dur="500"/>
                                        <p:tgtEl>
                                          <p:spTgt spid="46">
                                            <p:txEl>
                                              <p:pRg st="0" end="0"/>
                                            </p:txEl>
                                          </p:spTgt>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47">
                                            <p:txEl>
                                              <p:pRg st="0" end="0"/>
                                            </p:txEl>
                                          </p:spTgt>
                                        </p:tgtEl>
                                        <p:attrNameLst>
                                          <p:attrName>style.visibility</p:attrName>
                                        </p:attrNameLst>
                                      </p:cBhvr>
                                      <p:to>
                                        <p:strVal val="visible"/>
                                      </p:to>
                                    </p:set>
                                    <p:animEffect transition="in" filter="wipe(down)">
                                      <p:cBhvr>
                                        <p:cTn id="38" dur="500"/>
                                        <p:tgtEl>
                                          <p:spTgt spid="47">
                                            <p:txEl>
                                              <p:pRg st="0" end="0"/>
                                            </p:txEl>
                                          </p:spTgt>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48">
                                            <p:txEl>
                                              <p:pRg st="0" end="0"/>
                                            </p:txEl>
                                          </p:spTgt>
                                        </p:tgtEl>
                                        <p:attrNameLst>
                                          <p:attrName>style.visibility</p:attrName>
                                        </p:attrNameLst>
                                      </p:cBhvr>
                                      <p:to>
                                        <p:strVal val="visible"/>
                                      </p:to>
                                    </p:set>
                                    <p:animEffect transition="in" filter="wipe(down)">
                                      <p:cBhvr>
                                        <p:cTn id="41" dur="500"/>
                                        <p:tgtEl>
                                          <p:spTgt spid="48">
                                            <p:txEl>
                                              <p:pRg st="0" end="0"/>
                                            </p:txEl>
                                          </p:spTgt>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49">
                                            <p:txEl>
                                              <p:pRg st="0" end="0"/>
                                            </p:txEl>
                                          </p:spTgt>
                                        </p:tgtEl>
                                        <p:attrNameLst>
                                          <p:attrName>style.visibility</p:attrName>
                                        </p:attrNameLst>
                                      </p:cBhvr>
                                      <p:to>
                                        <p:strVal val="visible"/>
                                      </p:to>
                                    </p:set>
                                    <p:animEffect transition="in" filter="wipe(down)">
                                      <p:cBhvr>
                                        <p:cTn id="44" dur="500"/>
                                        <p:tgtEl>
                                          <p:spTgt spid="49">
                                            <p:txEl>
                                              <p:pRg st="0" end="0"/>
                                            </p:txEl>
                                          </p:spTgt>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50">
                                            <p:txEl>
                                              <p:pRg st="0" end="0"/>
                                            </p:txEl>
                                          </p:spTgt>
                                        </p:tgtEl>
                                        <p:attrNameLst>
                                          <p:attrName>style.visibility</p:attrName>
                                        </p:attrNameLst>
                                      </p:cBhvr>
                                      <p:to>
                                        <p:strVal val="visible"/>
                                      </p:to>
                                    </p:set>
                                    <p:animEffect transition="in" filter="wipe(down)">
                                      <p:cBhvr>
                                        <p:cTn id="47" dur="500"/>
                                        <p:tgtEl>
                                          <p:spTgt spid="50">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34">
                                            <p:txEl>
                                              <p:pRg st="0" end="0"/>
                                            </p:txEl>
                                          </p:spTgt>
                                        </p:tgtEl>
                                        <p:attrNameLst>
                                          <p:attrName>style.visibility</p:attrName>
                                        </p:attrNameLst>
                                      </p:cBhvr>
                                      <p:to>
                                        <p:strVal val="visible"/>
                                      </p:to>
                                    </p:set>
                                    <p:anim calcmode="lin" valueType="num">
                                      <p:cBhvr additive="base">
                                        <p:cTn id="52" dur="5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3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5">
                                            <p:txEl>
                                              <p:pRg st="0" end="0"/>
                                            </p:txEl>
                                          </p:spTgt>
                                        </p:tgtEl>
                                        <p:attrNameLst>
                                          <p:attrName>style.visibility</p:attrName>
                                        </p:attrNameLst>
                                      </p:cBhvr>
                                      <p:to>
                                        <p:strVal val="visible"/>
                                      </p:to>
                                    </p:set>
                                    <p:animEffect transition="in" filter="fade">
                                      <p:cBhvr>
                                        <p:cTn id="58" dur="2000"/>
                                        <p:tgtEl>
                                          <p:spTgt spid="35">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36">
                                            <p:txEl>
                                              <p:pRg st="0" end="0"/>
                                            </p:txEl>
                                          </p:spTgt>
                                        </p:tgtEl>
                                        <p:attrNameLst>
                                          <p:attrName>style.visibility</p:attrName>
                                        </p:attrNameLst>
                                      </p:cBhvr>
                                      <p:to>
                                        <p:strVal val="visible"/>
                                      </p:to>
                                    </p:set>
                                    <p:animEffect transition="in" filter="wipe(down)">
                                      <p:cBhvr>
                                        <p:cTn id="63" dur="500"/>
                                        <p:tgtEl>
                                          <p:spTgt spid="36">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4" presetClass="entr" presetSubtype="0" fill="hold" grpId="0" nodeType="clickEffect">
                                  <p:stCondLst>
                                    <p:cond delay="0"/>
                                  </p:stCondLst>
                                  <p:childTnLst>
                                    <p:set>
                                      <p:cBhvr>
                                        <p:cTn id="67" dur="1" fill="hold">
                                          <p:stCondLst>
                                            <p:cond delay="499"/>
                                          </p:stCondLst>
                                        </p:cTn>
                                        <p:tgtEl>
                                          <p:spTgt spid="51"/>
                                        </p:tgtEl>
                                        <p:attrNameLst>
                                          <p:attrName>style.visibility</p:attrName>
                                        </p:attrNameLst>
                                      </p:cBhvr>
                                      <p:to>
                                        <p:strVal val="visible"/>
                                      </p:to>
                                    </p:set>
                                    <p:anim to="" calcmode="lin" valueType="num">
                                      <p:cBhvr>
                                        <p:cTn id="68" dur="1" fill="hold"/>
                                        <p:tgtEl>
                                          <p:spTgt spid="51"/>
                                        </p:tgtEl>
                                        <p:attrNameLst>
                                          <p:attrName/>
                                        </p:attrNameLst>
                                      </p:cBhvr>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5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53">
                                            <p:txEl>
                                              <p:pRg st="0" end="0"/>
                                            </p:txEl>
                                          </p:spTgt>
                                        </p:tgtEl>
                                        <p:attrNameLst>
                                          <p:attrName>style.visibility</p:attrName>
                                        </p:attrNameLst>
                                      </p:cBhvr>
                                      <p:to>
                                        <p:strVal val="visible"/>
                                      </p:to>
                                    </p:set>
                                    <p:anim calcmode="lin" valueType="num">
                                      <p:cBhvr additive="base">
                                        <p:cTn id="77"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5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54">
                                            <p:txEl>
                                              <p:pRg st="0" end="0"/>
                                            </p:txEl>
                                          </p:spTgt>
                                        </p:tgtEl>
                                        <p:attrNameLst>
                                          <p:attrName>style.visibility</p:attrName>
                                        </p:attrNameLst>
                                      </p:cBhvr>
                                      <p:to>
                                        <p:strVal val="visible"/>
                                      </p:to>
                                    </p:set>
                                    <p:anim calcmode="lin" valueType="num">
                                      <p:cBhvr additive="base">
                                        <p:cTn id="83" dur="500" fill="hold"/>
                                        <p:tgtEl>
                                          <p:spTgt spid="54">
                                            <p:txEl>
                                              <p:pRg st="0" end="0"/>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5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57">
                                            <p:txEl>
                                              <p:pRg st="0" end="0"/>
                                            </p:txEl>
                                          </p:spTgt>
                                        </p:tgtEl>
                                        <p:attrNameLst>
                                          <p:attrName>style.visibility</p:attrName>
                                        </p:attrNameLst>
                                      </p:cBhvr>
                                      <p:to>
                                        <p:strVal val="visible"/>
                                      </p:to>
                                    </p:set>
                                    <p:animEffect transition="in" filter="fade">
                                      <p:cBhvr>
                                        <p:cTn id="89" dur="2000"/>
                                        <p:tgtEl>
                                          <p:spTgt spid="57">
                                            <p:txEl>
                                              <p:pRg st="0" end="0"/>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24" presetClass="entr" presetSubtype="0" fill="hold" grpId="0" nodeType="clickEffect">
                                  <p:stCondLst>
                                    <p:cond delay="0"/>
                                  </p:stCondLst>
                                  <p:childTnLst>
                                    <p:set>
                                      <p:cBhvr>
                                        <p:cTn id="93" dur="1" fill="hold">
                                          <p:stCondLst>
                                            <p:cond delay="499"/>
                                          </p:stCondLst>
                                        </p:cTn>
                                        <p:tgtEl>
                                          <p:spTgt spid="58"/>
                                        </p:tgtEl>
                                        <p:attrNameLst>
                                          <p:attrName>style.visibility</p:attrName>
                                        </p:attrNameLst>
                                      </p:cBhvr>
                                      <p:to>
                                        <p:strVal val="visible"/>
                                      </p:to>
                                    </p:set>
                                    <p:anim to="" calcmode="lin" valueType="num">
                                      <p:cBhvr>
                                        <p:cTn id="94" dur="1" fill="hold"/>
                                        <p:tgtEl>
                                          <p:spTgt spid="58"/>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utoUpdateAnimBg="0"/>
      <p:bldP spid="24" grpId="0" autoUpdateAnimBg="0"/>
      <p:bldP spid="27" grpId="0" build="allAtOnce"/>
      <p:bldP spid="34" grpId="0" build="allAtOnce"/>
      <p:bldP spid="35" grpId="0" build="allAtOnce"/>
      <p:bldP spid="36" grpId="0" build="allAtOnce"/>
      <p:bldP spid="43" grpId="0" build="allAtOnce"/>
      <p:bldP spid="45" grpId="0" build="allAtOnce"/>
      <p:bldP spid="46" grpId="0" build="allAtOnce"/>
      <p:bldP spid="47" grpId="0" build="allAtOnce"/>
      <p:bldP spid="48" grpId="0" build="allAtOnce"/>
      <p:bldP spid="49" grpId="0" build="allAtOnce"/>
      <p:bldP spid="50" grpId="0" build="allAtOnce"/>
      <p:bldP spid="51" grpId="0" autoUpdateAnimBg="0"/>
      <p:bldP spid="52" grpId="0" autoUpdateAnimBg="0"/>
      <p:bldP spid="53" grpId="0" build="allAtOnce"/>
      <p:bldP spid="54" grpId="0" build="allAtOnce"/>
      <p:bldP spid="57" grpId="0" build="allAtOnce"/>
      <p:bldP spid="58"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2"/>
            <a:ext cx="8207375" cy="5018107"/>
          </a:xfrm>
          <a:ln>
            <a:noFill/>
          </a:ln>
        </p:spPr>
        <p:txBody>
          <a:bodyPr/>
          <a:lstStyle/>
          <a:p>
            <a:r>
              <a:rPr lang="zh-CN" altLang="en-US"/>
              <a:t>算例</a:t>
            </a:r>
            <a:endParaRPr lang="en-US" altLang="zh-CN"/>
          </a:p>
          <a:p>
            <a:pPr lvl="1">
              <a:lnSpc>
                <a:spcPct val="150000"/>
              </a:lnSpc>
              <a:spcBef>
                <a:spcPts val="0"/>
              </a:spcBef>
            </a:pPr>
            <a:r>
              <a:rPr lang="zh-CN" altLang="en-US"/>
              <a:t>例</a:t>
            </a:r>
            <a:r>
              <a:rPr lang="en-US" altLang="zh-CN"/>
              <a:t>4</a:t>
            </a:r>
            <a:r>
              <a:rPr lang="zh-CN" altLang="en-US"/>
              <a:t>：求</a:t>
            </a:r>
            <a:r>
              <a:rPr lang="zh-CN" altLang="en-US">
                <a:solidFill>
                  <a:schemeClr val="tx2"/>
                </a:solidFill>
                <a:latin typeface="楷体_GB2312" pitchFamily="49" charset="-122"/>
              </a:rPr>
              <a:t>图示体系的计算自由度</a:t>
            </a:r>
            <a:endParaRPr lang="zh-CN" altLang="en-US" b="0">
              <a:ea typeface="宋体" charset="-122"/>
            </a:endParaRPr>
          </a:p>
          <a:p>
            <a:pPr lvl="1">
              <a:lnSpc>
                <a:spcPct val="150000"/>
              </a:lnSpc>
              <a:spcBef>
                <a:spcPts val="0"/>
              </a:spcBef>
            </a:pPr>
            <a:endParaRPr lang="en-US" altLang="zh-CN">
              <a:solidFill>
                <a:schemeClr val="tx1"/>
              </a:solidFill>
            </a:endParaRPr>
          </a:p>
          <a:p>
            <a:pPr lvl="1">
              <a:lnSpc>
                <a:spcPct val="130000"/>
              </a:lnSpc>
              <a:spcBef>
                <a:spcPts val="0"/>
              </a:spcBef>
              <a:buNone/>
            </a:pPr>
            <a:r>
              <a:rPr lang="en-US" altLang="zh-CN"/>
              <a:t>    </a:t>
            </a:r>
          </a:p>
        </p:txBody>
      </p:sp>
      <p:sp>
        <p:nvSpPr>
          <p:cNvPr id="2" name="标题 1"/>
          <p:cNvSpPr>
            <a:spLocks noGrp="1"/>
          </p:cNvSpPr>
          <p:nvPr>
            <p:ph type="title"/>
          </p:nvPr>
        </p:nvSpPr>
        <p:spPr>
          <a:xfrm>
            <a:off x="457200" y="260648"/>
            <a:ext cx="8229600" cy="882336"/>
          </a:xfrm>
        </p:spPr>
        <p:txBody>
          <a:bodyPr/>
          <a:lstStyle/>
          <a:p>
            <a:pPr algn="r"/>
            <a:r>
              <a:rPr lang="zh-CN" altLang="en-US"/>
              <a:t>平面杆件体系的计算自由度</a:t>
            </a:r>
          </a:p>
        </p:txBody>
      </p:sp>
      <p:sp>
        <p:nvSpPr>
          <p:cNvPr id="23" name="Rectangle 6"/>
          <p:cNvSpPr>
            <a:spLocks noChangeArrowheads="1"/>
          </p:cNvSpPr>
          <p:nvPr/>
        </p:nvSpPr>
        <p:spPr bwMode="auto">
          <a:xfrm>
            <a:off x="1200144" y="2204104"/>
            <a:ext cx="1728782" cy="381000"/>
          </a:xfrm>
          <a:prstGeom prst="rect">
            <a:avLst/>
          </a:prstGeom>
          <a:noFill/>
          <a:ln w="9525">
            <a:noFill/>
            <a:miter lim="800000"/>
            <a:headEnd/>
            <a:tailEnd/>
          </a:ln>
          <a:effectLst/>
        </p:spPr>
        <p:txBody>
          <a:bodyPr wrap="none" anchor="ctr"/>
          <a:lstStyle/>
          <a:p>
            <a:pPr rtl="0" fontAlgn="base">
              <a:spcBef>
                <a:spcPct val="0"/>
              </a:spcBef>
              <a:spcAft>
                <a:spcPct val="0"/>
              </a:spcAft>
            </a:pPr>
            <a:r>
              <a:rPr kumimoji="1" lang="zh-CN" altLang="en-US" sz="2200" b="1">
                <a:latin typeface="+mn-ea"/>
              </a:rPr>
              <a:t>方法</a:t>
            </a:r>
            <a:r>
              <a:rPr kumimoji="1" lang="en-US" altLang="zh-CN" sz="2200" b="1">
                <a:latin typeface="+mn-ea"/>
              </a:rPr>
              <a:t>1</a:t>
            </a:r>
            <a:endParaRPr kumimoji="1" lang="zh-CN" altLang="en-US" sz="2200" b="1" kern="1200">
              <a:latin typeface="+mn-ea"/>
              <a:cs typeface="+mn-cs"/>
            </a:endParaRPr>
          </a:p>
        </p:txBody>
      </p:sp>
      <p:sp>
        <p:nvSpPr>
          <p:cNvPr id="24" name="Rectangle 13"/>
          <p:cNvSpPr>
            <a:spLocks noChangeArrowheads="1"/>
          </p:cNvSpPr>
          <p:nvPr/>
        </p:nvSpPr>
        <p:spPr bwMode="auto">
          <a:xfrm>
            <a:off x="1501426" y="2619084"/>
            <a:ext cx="2895600" cy="533400"/>
          </a:xfrm>
          <a:prstGeom prst="rect">
            <a:avLst/>
          </a:prstGeom>
          <a:noFill/>
          <a:ln w="9525">
            <a:noFill/>
            <a:miter lim="800000"/>
            <a:headEnd/>
            <a:tailEnd/>
          </a:ln>
          <a:effectLst/>
        </p:spPr>
        <p:txBody>
          <a:bodyPr wrap="none" anchor="ctr"/>
          <a:lstStyle/>
          <a:p>
            <a:pPr>
              <a:lnSpc>
                <a:spcPct val="80000"/>
              </a:lnSpc>
              <a:spcBef>
                <a:spcPct val="0"/>
              </a:spcBef>
            </a:pPr>
            <a:r>
              <a:rPr lang="zh-CN" altLang="en-US" sz="2200" b="1">
                <a:solidFill>
                  <a:srgbClr val="00B050"/>
                </a:solidFill>
              </a:rPr>
              <a:t>共</a:t>
            </a:r>
            <a:r>
              <a:rPr lang="en-US" altLang="zh-CN" sz="2200" b="1">
                <a:solidFill>
                  <a:srgbClr val="00B050"/>
                </a:solidFill>
              </a:rPr>
              <a:t>16</a:t>
            </a:r>
            <a:r>
              <a:rPr lang="zh-CN" altLang="en-US" sz="2200" b="1">
                <a:solidFill>
                  <a:srgbClr val="00B050"/>
                </a:solidFill>
              </a:rPr>
              <a:t>个铰结点</a:t>
            </a:r>
          </a:p>
        </p:txBody>
      </p:sp>
      <p:sp>
        <p:nvSpPr>
          <p:cNvPr id="27" name="Rectangle 14"/>
          <p:cNvSpPr>
            <a:spLocks noChangeArrowheads="1"/>
          </p:cNvSpPr>
          <p:nvPr/>
        </p:nvSpPr>
        <p:spPr bwMode="auto">
          <a:xfrm>
            <a:off x="1501426" y="3061360"/>
            <a:ext cx="3856392" cy="533400"/>
          </a:xfrm>
          <a:prstGeom prst="rect">
            <a:avLst/>
          </a:prstGeom>
          <a:noFill/>
          <a:ln w="9525">
            <a:noFill/>
            <a:miter lim="800000"/>
            <a:headEnd/>
            <a:tailEnd/>
          </a:ln>
          <a:effectLst/>
        </p:spPr>
        <p:txBody>
          <a:bodyPr wrap="none" anchor="ctr"/>
          <a:lstStyle/>
          <a:p>
            <a:pPr>
              <a:lnSpc>
                <a:spcPct val="70000"/>
              </a:lnSpc>
              <a:spcBef>
                <a:spcPct val="0"/>
              </a:spcBef>
            </a:pPr>
            <a:r>
              <a:rPr lang="zh-CN" altLang="en-US" sz="2200" b="1">
                <a:solidFill>
                  <a:srgbClr val="800000"/>
                </a:solidFill>
              </a:rPr>
              <a:t>共</a:t>
            </a:r>
            <a:r>
              <a:rPr lang="en-US" altLang="zh-CN" sz="2200" b="1">
                <a:solidFill>
                  <a:srgbClr val="800000"/>
                </a:solidFill>
              </a:rPr>
              <a:t>31</a:t>
            </a:r>
            <a:r>
              <a:rPr lang="zh-CN" altLang="en-US" sz="2200" b="1">
                <a:solidFill>
                  <a:srgbClr val="800000"/>
                </a:solidFill>
              </a:rPr>
              <a:t>根链杆</a:t>
            </a:r>
            <a:r>
              <a:rPr lang="en-US" altLang="zh-CN" sz="2200" b="1">
                <a:solidFill>
                  <a:srgbClr val="800000"/>
                </a:solidFill>
              </a:rPr>
              <a:t>(</a:t>
            </a:r>
            <a:r>
              <a:rPr lang="zh-CN" altLang="en-US" sz="2200" b="1">
                <a:solidFill>
                  <a:srgbClr val="800000"/>
                </a:solidFill>
              </a:rPr>
              <a:t>包括</a:t>
            </a:r>
            <a:r>
              <a:rPr lang="en-US" altLang="zh-CN" sz="2200" b="1">
                <a:solidFill>
                  <a:srgbClr val="800000"/>
                </a:solidFill>
              </a:rPr>
              <a:t>3</a:t>
            </a:r>
            <a:r>
              <a:rPr lang="zh-CN" altLang="en-US" sz="2200" b="1">
                <a:solidFill>
                  <a:srgbClr val="800000"/>
                </a:solidFill>
              </a:rPr>
              <a:t>根支座链杆</a:t>
            </a:r>
            <a:r>
              <a:rPr lang="en-US" altLang="zh-CN" sz="2200" b="1">
                <a:solidFill>
                  <a:srgbClr val="800000"/>
                </a:solidFill>
              </a:rPr>
              <a:t>)</a:t>
            </a:r>
            <a:endParaRPr lang="zh-CN" altLang="en-US" sz="2200" b="1"/>
          </a:p>
        </p:txBody>
      </p:sp>
      <p:sp>
        <p:nvSpPr>
          <p:cNvPr id="35" name="Rectangle 5"/>
          <p:cNvSpPr>
            <a:spLocks noChangeArrowheads="1"/>
          </p:cNvSpPr>
          <p:nvPr/>
        </p:nvSpPr>
        <p:spPr bwMode="auto">
          <a:xfrm>
            <a:off x="1511642" y="3561426"/>
            <a:ext cx="3703300" cy="371475"/>
          </a:xfrm>
          <a:prstGeom prst="rect">
            <a:avLst/>
          </a:prstGeom>
          <a:noFill/>
          <a:ln w="9525">
            <a:noFill/>
            <a:miter lim="800000"/>
            <a:headEnd/>
            <a:tailEnd/>
          </a:ln>
          <a:effectLst/>
        </p:spPr>
        <p:txBody>
          <a:bodyPr wrap="none" anchor="ctr"/>
          <a:lstStyle/>
          <a:p>
            <a:pPr>
              <a:lnSpc>
                <a:spcPct val="70000"/>
              </a:lnSpc>
              <a:spcBef>
                <a:spcPct val="0"/>
              </a:spcBef>
            </a:pPr>
            <a:r>
              <a:rPr lang="en-US" altLang="zh-CN" sz="2200" b="1" i="1">
                <a:solidFill>
                  <a:srgbClr val="0033CC"/>
                </a:solidFill>
                <a:latin typeface="Times New Roman" pitchFamily="18" charset="0"/>
                <a:cs typeface="Times New Roman" pitchFamily="18" charset="0"/>
              </a:rPr>
              <a:t>W </a:t>
            </a:r>
            <a:r>
              <a:rPr lang="en-US" altLang="zh-CN" sz="2200" b="1">
                <a:solidFill>
                  <a:srgbClr val="0033CC"/>
                </a:solidFill>
                <a:latin typeface="Times New Roman" pitchFamily="18" charset="0"/>
                <a:cs typeface="Times New Roman" pitchFamily="18" charset="0"/>
              </a:rPr>
              <a:t>= 2 ×16 - 31= 1</a:t>
            </a:r>
          </a:p>
        </p:txBody>
      </p:sp>
      <p:pic>
        <p:nvPicPr>
          <p:cNvPr id="5123" name="Picture 3"/>
          <p:cNvPicPr>
            <a:picLocks noChangeAspect="1" noChangeArrowheads="1"/>
          </p:cNvPicPr>
          <p:nvPr/>
        </p:nvPicPr>
        <p:blipFill>
          <a:blip r:embed="rId3" cstate="print"/>
          <a:srcRect t="7003" b="6621"/>
          <a:stretch>
            <a:fillRect/>
          </a:stretch>
        </p:blipFill>
        <p:spPr bwMode="auto">
          <a:xfrm>
            <a:off x="5500694" y="1272212"/>
            <a:ext cx="2786082" cy="2643206"/>
          </a:xfrm>
          <a:prstGeom prst="rect">
            <a:avLst/>
          </a:prstGeom>
          <a:noFill/>
          <a:ln w="9525">
            <a:noFill/>
            <a:miter lim="800000"/>
            <a:headEnd/>
            <a:tailEnd/>
          </a:ln>
          <a:effectLst/>
        </p:spPr>
      </p:pic>
      <p:sp>
        <p:nvSpPr>
          <p:cNvPr id="18" name="Rectangle 6"/>
          <p:cNvSpPr>
            <a:spLocks noChangeArrowheads="1"/>
          </p:cNvSpPr>
          <p:nvPr/>
        </p:nvSpPr>
        <p:spPr bwMode="auto">
          <a:xfrm>
            <a:off x="1211216" y="4286256"/>
            <a:ext cx="1728782" cy="381000"/>
          </a:xfrm>
          <a:prstGeom prst="rect">
            <a:avLst/>
          </a:prstGeom>
          <a:noFill/>
          <a:ln w="9525">
            <a:noFill/>
            <a:miter lim="800000"/>
            <a:headEnd/>
            <a:tailEnd/>
          </a:ln>
          <a:effectLst/>
        </p:spPr>
        <p:txBody>
          <a:bodyPr wrap="none" anchor="ctr"/>
          <a:lstStyle/>
          <a:p>
            <a:pPr rtl="0" fontAlgn="base">
              <a:spcBef>
                <a:spcPct val="0"/>
              </a:spcBef>
              <a:spcAft>
                <a:spcPct val="0"/>
              </a:spcAft>
            </a:pPr>
            <a:r>
              <a:rPr kumimoji="1" lang="zh-CN" altLang="en-US" sz="2200" b="1">
                <a:latin typeface="+mn-ea"/>
              </a:rPr>
              <a:t>方法</a:t>
            </a:r>
            <a:r>
              <a:rPr kumimoji="1" lang="en-US" altLang="zh-CN" sz="2200" b="1">
                <a:latin typeface="+mn-ea"/>
              </a:rPr>
              <a:t>2</a:t>
            </a:r>
            <a:endParaRPr kumimoji="1" lang="zh-CN" altLang="en-US" sz="2200" b="1" kern="1200">
              <a:latin typeface="+mn-ea"/>
              <a:cs typeface="+mn-cs"/>
            </a:endParaRPr>
          </a:p>
        </p:txBody>
      </p:sp>
      <p:grpSp>
        <p:nvGrpSpPr>
          <p:cNvPr id="30" name="组合 29"/>
          <p:cNvGrpSpPr/>
          <p:nvPr/>
        </p:nvGrpSpPr>
        <p:grpSpPr>
          <a:xfrm>
            <a:off x="5527990" y="3986856"/>
            <a:ext cx="2786082" cy="2714644"/>
            <a:chOff x="5527990" y="3986856"/>
            <a:chExt cx="2786082" cy="2714644"/>
          </a:xfrm>
        </p:grpSpPr>
        <p:pic>
          <p:nvPicPr>
            <p:cNvPr id="17" name="Picture 3"/>
            <p:cNvPicPr>
              <a:picLocks noChangeAspect="1" noChangeArrowheads="1"/>
            </p:cNvPicPr>
            <p:nvPr/>
          </p:nvPicPr>
          <p:blipFill>
            <a:blip r:embed="rId3" cstate="print"/>
            <a:srcRect t="7003" b="4286"/>
            <a:stretch>
              <a:fillRect/>
            </a:stretch>
          </p:blipFill>
          <p:spPr bwMode="auto">
            <a:xfrm>
              <a:off x="5527990" y="3986856"/>
              <a:ext cx="2786082" cy="2714644"/>
            </a:xfrm>
            <a:prstGeom prst="rect">
              <a:avLst/>
            </a:prstGeom>
            <a:noFill/>
            <a:ln w="9525">
              <a:noFill/>
              <a:miter lim="800000"/>
              <a:headEnd/>
              <a:tailEnd/>
            </a:ln>
            <a:effectLst/>
          </p:spPr>
        </p:pic>
        <p:sp>
          <p:nvSpPr>
            <p:cNvPr id="19" name="直角三角形 18"/>
            <p:cNvSpPr/>
            <p:nvPr/>
          </p:nvSpPr>
          <p:spPr bwMode="auto">
            <a:xfrm>
              <a:off x="5844236" y="5888386"/>
              <a:ext cx="513714" cy="500066"/>
            </a:xfrm>
            <a:prstGeom prst="rtTriangle">
              <a:avLst/>
            </a:prstGeom>
            <a:solidFill>
              <a:srgbClr val="0070C0"/>
            </a:solidFill>
            <a:ln w="285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solidFill>
                  <a:schemeClr val="tx1"/>
                </a:solidFill>
                <a:effectLst/>
                <a:latin typeface="Arial" pitchFamily="34" charset="0"/>
                <a:ea typeface="华文细黑" pitchFamily="2" charset="-122"/>
              </a:endParaRPr>
            </a:p>
          </p:txBody>
        </p:sp>
        <p:sp>
          <p:nvSpPr>
            <p:cNvPr id="20" name="直角三角形 19"/>
            <p:cNvSpPr/>
            <p:nvPr/>
          </p:nvSpPr>
          <p:spPr bwMode="auto">
            <a:xfrm rot="5400000">
              <a:off x="5837412" y="4136556"/>
              <a:ext cx="513714" cy="500066"/>
            </a:xfrm>
            <a:prstGeom prst="rtTriangle">
              <a:avLst/>
            </a:prstGeom>
            <a:solidFill>
              <a:srgbClr val="0070C0"/>
            </a:solidFill>
            <a:ln w="285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solidFill>
                  <a:schemeClr val="tx1"/>
                </a:solidFill>
                <a:effectLst/>
                <a:latin typeface="Arial" pitchFamily="34" charset="0"/>
                <a:ea typeface="华文细黑" pitchFamily="2" charset="-122"/>
              </a:endParaRPr>
            </a:p>
          </p:txBody>
        </p:sp>
        <p:sp>
          <p:nvSpPr>
            <p:cNvPr id="21" name="直角三角形 20"/>
            <p:cNvSpPr/>
            <p:nvPr/>
          </p:nvSpPr>
          <p:spPr bwMode="auto">
            <a:xfrm rot="10800000">
              <a:off x="7575594" y="4138828"/>
              <a:ext cx="513714" cy="500066"/>
            </a:xfrm>
            <a:prstGeom prst="rtTriangle">
              <a:avLst/>
            </a:prstGeom>
            <a:solidFill>
              <a:srgbClr val="0070C0"/>
            </a:solidFill>
            <a:ln w="285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solidFill>
                  <a:schemeClr val="tx1"/>
                </a:solidFill>
                <a:effectLst/>
                <a:latin typeface="Arial" pitchFamily="34" charset="0"/>
                <a:ea typeface="华文细黑" pitchFamily="2" charset="-122"/>
              </a:endParaRPr>
            </a:p>
          </p:txBody>
        </p:sp>
        <p:sp>
          <p:nvSpPr>
            <p:cNvPr id="22" name="直角三角形 21"/>
            <p:cNvSpPr/>
            <p:nvPr/>
          </p:nvSpPr>
          <p:spPr bwMode="auto">
            <a:xfrm rot="16200000">
              <a:off x="7578792" y="5870454"/>
              <a:ext cx="514800" cy="514800"/>
            </a:xfrm>
            <a:prstGeom prst="rtTriangle">
              <a:avLst/>
            </a:prstGeom>
            <a:solidFill>
              <a:srgbClr val="0070C0"/>
            </a:solidFill>
            <a:ln w="285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solidFill>
                  <a:schemeClr val="tx1"/>
                </a:solidFill>
                <a:effectLst/>
                <a:latin typeface="Arial" pitchFamily="34" charset="0"/>
                <a:ea typeface="华文细黑" pitchFamily="2" charset="-122"/>
              </a:endParaRPr>
            </a:p>
          </p:txBody>
        </p:sp>
        <p:sp>
          <p:nvSpPr>
            <p:cNvPr id="25" name="等腰三角形 24"/>
            <p:cNvSpPr/>
            <p:nvPr/>
          </p:nvSpPr>
          <p:spPr bwMode="auto">
            <a:xfrm>
              <a:off x="6385246" y="5830596"/>
              <a:ext cx="1151438" cy="565200"/>
            </a:xfrm>
            <a:prstGeom prst="triangle">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26" name="等腰三角形 25"/>
            <p:cNvSpPr/>
            <p:nvPr/>
          </p:nvSpPr>
          <p:spPr bwMode="auto">
            <a:xfrm flipV="1">
              <a:off x="6393662" y="4116084"/>
              <a:ext cx="1151438" cy="565200"/>
            </a:xfrm>
            <a:prstGeom prst="triangle">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28" name="等腰三角形 27"/>
            <p:cNvSpPr/>
            <p:nvPr/>
          </p:nvSpPr>
          <p:spPr bwMode="auto">
            <a:xfrm rot="16200000" flipV="1">
              <a:off x="5540575" y="4985925"/>
              <a:ext cx="1151438" cy="565200"/>
            </a:xfrm>
            <a:prstGeom prst="triangle">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29" name="等腰三角形 28"/>
            <p:cNvSpPr/>
            <p:nvPr/>
          </p:nvSpPr>
          <p:spPr bwMode="auto">
            <a:xfrm rot="5400000" flipH="1" flipV="1">
              <a:off x="7244636" y="4970257"/>
              <a:ext cx="1151438" cy="565200"/>
            </a:xfrm>
            <a:prstGeom prst="triangle">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sp>
        <p:nvSpPr>
          <p:cNvPr id="32" name="Rectangle 13"/>
          <p:cNvSpPr>
            <a:spLocks noChangeArrowheads="1"/>
          </p:cNvSpPr>
          <p:nvPr/>
        </p:nvSpPr>
        <p:spPr bwMode="auto">
          <a:xfrm>
            <a:off x="1500166" y="4670454"/>
            <a:ext cx="2895600" cy="533400"/>
          </a:xfrm>
          <a:prstGeom prst="rect">
            <a:avLst/>
          </a:prstGeom>
          <a:noFill/>
          <a:ln w="9525">
            <a:noFill/>
            <a:miter lim="800000"/>
            <a:headEnd/>
            <a:tailEnd/>
          </a:ln>
          <a:effectLst/>
        </p:spPr>
        <p:txBody>
          <a:bodyPr wrap="none" anchor="ctr"/>
          <a:lstStyle/>
          <a:p>
            <a:pPr>
              <a:lnSpc>
                <a:spcPct val="80000"/>
              </a:lnSpc>
              <a:spcBef>
                <a:spcPct val="0"/>
              </a:spcBef>
            </a:pPr>
            <a:r>
              <a:rPr lang="zh-CN" altLang="en-US" sz="2200" b="1">
                <a:solidFill>
                  <a:srgbClr val="00B050"/>
                </a:solidFill>
              </a:rPr>
              <a:t>共</a:t>
            </a:r>
            <a:r>
              <a:rPr lang="en-US" altLang="zh-CN" sz="2200" b="1">
                <a:solidFill>
                  <a:srgbClr val="00B050"/>
                </a:solidFill>
              </a:rPr>
              <a:t>8</a:t>
            </a:r>
            <a:r>
              <a:rPr lang="zh-CN" altLang="en-US" sz="2200" b="1">
                <a:solidFill>
                  <a:srgbClr val="00B050"/>
                </a:solidFill>
              </a:rPr>
              <a:t>个刚片</a:t>
            </a:r>
          </a:p>
        </p:txBody>
      </p:sp>
      <p:sp>
        <p:nvSpPr>
          <p:cNvPr id="33" name="Rectangle 14"/>
          <p:cNvSpPr>
            <a:spLocks noChangeArrowheads="1"/>
          </p:cNvSpPr>
          <p:nvPr/>
        </p:nvSpPr>
        <p:spPr bwMode="auto">
          <a:xfrm>
            <a:off x="1500166" y="5112730"/>
            <a:ext cx="3856392" cy="533400"/>
          </a:xfrm>
          <a:prstGeom prst="rect">
            <a:avLst/>
          </a:prstGeom>
          <a:noFill/>
          <a:ln w="9525">
            <a:noFill/>
            <a:miter lim="800000"/>
            <a:headEnd/>
            <a:tailEnd/>
          </a:ln>
          <a:effectLst/>
        </p:spPr>
        <p:txBody>
          <a:bodyPr wrap="none" anchor="ctr"/>
          <a:lstStyle/>
          <a:p>
            <a:pPr>
              <a:lnSpc>
                <a:spcPct val="70000"/>
              </a:lnSpc>
              <a:spcBef>
                <a:spcPct val="0"/>
              </a:spcBef>
            </a:pPr>
            <a:r>
              <a:rPr lang="zh-CN" altLang="en-US" sz="2200" b="1">
                <a:solidFill>
                  <a:srgbClr val="800000"/>
                </a:solidFill>
              </a:rPr>
              <a:t>共</a:t>
            </a:r>
            <a:r>
              <a:rPr lang="en-US" altLang="zh-CN" sz="2200" b="1">
                <a:solidFill>
                  <a:srgbClr val="800000"/>
                </a:solidFill>
              </a:rPr>
              <a:t>8</a:t>
            </a:r>
            <a:r>
              <a:rPr lang="zh-CN" altLang="en-US" sz="2200" b="1">
                <a:solidFill>
                  <a:srgbClr val="800000"/>
                </a:solidFill>
              </a:rPr>
              <a:t>个铰结点</a:t>
            </a:r>
            <a:endParaRPr lang="zh-CN" altLang="en-US" sz="2200" b="1"/>
          </a:p>
        </p:txBody>
      </p:sp>
      <p:sp>
        <p:nvSpPr>
          <p:cNvPr id="37" name="Rectangle 5"/>
          <p:cNvSpPr>
            <a:spLocks noChangeArrowheads="1"/>
          </p:cNvSpPr>
          <p:nvPr/>
        </p:nvSpPr>
        <p:spPr bwMode="auto">
          <a:xfrm>
            <a:off x="1510382" y="6000768"/>
            <a:ext cx="3703300" cy="371475"/>
          </a:xfrm>
          <a:prstGeom prst="rect">
            <a:avLst/>
          </a:prstGeom>
          <a:noFill/>
          <a:ln w="9525">
            <a:noFill/>
            <a:miter lim="800000"/>
            <a:headEnd/>
            <a:tailEnd/>
          </a:ln>
          <a:effectLst/>
        </p:spPr>
        <p:txBody>
          <a:bodyPr wrap="none" anchor="ctr"/>
          <a:lstStyle/>
          <a:p>
            <a:pPr>
              <a:lnSpc>
                <a:spcPct val="70000"/>
              </a:lnSpc>
              <a:spcBef>
                <a:spcPct val="0"/>
              </a:spcBef>
            </a:pPr>
            <a:r>
              <a:rPr lang="en-US" altLang="zh-CN" sz="2200" b="1" i="1">
                <a:solidFill>
                  <a:srgbClr val="0033CC"/>
                </a:solidFill>
                <a:latin typeface="Times New Roman" pitchFamily="18" charset="0"/>
                <a:cs typeface="Times New Roman" pitchFamily="18" charset="0"/>
              </a:rPr>
              <a:t>W </a:t>
            </a:r>
            <a:r>
              <a:rPr lang="en-US" altLang="zh-CN" sz="2200" b="1">
                <a:solidFill>
                  <a:srgbClr val="0033CC"/>
                </a:solidFill>
                <a:latin typeface="Times New Roman" pitchFamily="18" charset="0"/>
                <a:cs typeface="Times New Roman" pitchFamily="18" charset="0"/>
              </a:rPr>
              <a:t>= 3 ×8 - (2×8+7) = 1</a:t>
            </a:r>
          </a:p>
        </p:txBody>
      </p:sp>
      <p:sp>
        <p:nvSpPr>
          <p:cNvPr id="38" name="Rectangle 6"/>
          <p:cNvSpPr>
            <a:spLocks noChangeArrowheads="1"/>
          </p:cNvSpPr>
          <p:nvPr/>
        </p:nvSpPr>
        <p:spPr bwMode="auto">
          <a:xfrm>
            <a:off x="1343642" y="3905256"/>
            <a:ext cx="2799730" cy="381000"/>
          </a:xfrm>
          <a:prstGeom prst="rect">
            <a:avLst/>
          </a:prstGeom>
          <a:noFill/>
          <a:ln w="9525">
            <a:noFill/>
            <a:miter lim="800000"/>
            <a:headEnd/>
            <a:tailEnd/>
          </a:ln>
          <a:effectLst/>
        </p:spPr>
        <p:txBody>
          <a:bodyPr wrap="none" anchor="ctr"/>
          <a:lstStyle/>
          <a:p>
            <a:pPr rtl="0" fontAlgn="base">
              <a:spcBef>
                <a:spcPct val="0"/>
              </a:spcBef>
              <a:spcAft>
                <a:spcPct val="0"/>
              </a:spcAft>
            </a:pPr>
            <a:r>
              <a:rPr kumimoji="1" lang="zh-CN" altLang="en-US" sz="2200" b="1">
                <a:latin typeface="+mn-ea"/>
              </a:rPr>
              <a:t>换一种思路试试？</a:t>
            </a:r>
            <a:endParaRPr kumimoji="1" lang="zh-CN" altLang="en-US" sz="2200" b="1" kern="1200">
              <a:latin typeface="+mn-ea"/>
              <a:cs typeface="+mn-cs"/>
            </a:endParaRPr>
          </a:p>
        </p:txBody>
      </p:sp>
      <p:sp>
        <p:nvSpPr>
          <p:cNvPr id="39" name="Rectangle 14"/>
          <p:cNvSpPr>
            <a:spLocks noChangeArrowheads="1"/>
          </p:cNvSpPr>
          <p:nvPr/>
        </p:nvSpPr>
        <p:spPr bwMode="auto">
          <a:xfrm>
            <a:off x="1500166" y="5525158"/>
            <a:ext cx="3856392" cy="533400"/>
          </a:xfrm>
          <a:prstGeom prst="rect">
            <a:avLst/>
          </a:prstGeom>
          <a:noFill/>
          <a:ln w="9525">
            <a:noFill/>
            <a:miter lim="800000"/>
            <a:headEnd/>
            <a:tailEnd/>
          </a:ln>
          <a:effectLst/>
        </p:spPr>
        <p:txBody>
          <a:bodyPr wrap="none" anchor="ctr"/>
          <a:lstStyle/>
          <a:p>
            <a:pPr>
              <a:lnSpc>
                <a:spcPct val="70000"/>
              </a:lnSpc>
              <a:spcBef>
                <a:spcPct val="0"/>
              </a:spcBef>
            </a:pPr>
            <a:r>
              <a:rPr lang="zh-CN" altLang="en-US" sz="2200" b="1">
                <a:solidFill>
                  <a:srgbClr val="800000"/>
                </a:solidFill>
              </a:rPr>
              <a:t>共</a:t>
            </a:r>
            <a:r>
              <a:rPr lang="en-US" altLang="zh-CN" sz="2200" b="1">
                <a:solidFill>
                  <a:srgbClr val="800000"/>
                </a:solidFill>
              </a:rPr>
              <a:t>7</a:t>
            </a:r>
            <a:r>
              <a:rPr lang="zh-CN" altLang="en-US" sz="2200" b="1">
                <a:solidFill>
                  <a:srgbClr val="800000"/>
                </a:solidFill>
              </a:rPr>
              <a:t>根链杆 </a:t>
            </a:r>
            <a:r>
              <a:rPr lang="en-US" altLang="zh-CN" sz="2200" b="1">
                <a:solidFill>
                  <a:srgbClr val="800000"/>
                </a:solidFill>
              </a:rPr>
              <a:t>(</a:t>
            </a:r>
            <a:r>
              <a:rPr lang="zh-CN" altLang="en-US" sz="2200" b="1">
                <a:solidFill>
                  <a:srgbClr val="800000"/>
                </a:solidFill>
              </a:rPr>
              <a:t>包括</a:t>
            </a:r>
            <a:r>
              <a:rPr lang="en-US" altLang="zh-CN" sz="2200" b="1">
                <a:solidFill>
                  <a:srgbClr val="800000"/>
                </a:solidFill>
              </a:rPr>
              <a:t>3</a:t>
            </a:r>
            <a:r>
              <a:rPr lang="zh-CN" altLang="en-US" sz="2200" b="1">
                <a:solidFill>
                  <a:srgbClr val="800000"/>
                </a:solidFill>
              </a:rPr>
              <a:t>根支座链杆</a:t>
            </a:r>
            <a:r>
              <a:rPr lang="en-US" altLang="zh-CN" sz="2200" b="1">
                <a:solidFill>
                  <a:srgbClr val="800000"/>
                </a:solidFill>
              </a:rPr>
              <a:t>)</a:t>
            </a:r>
            <a:endParaRPr lang="zh-CN" altLang="en-US" sz="2200" b="1"/>
          </a:p>
        </p:txBody>
      </p:sp>
      <p:sp>
        <p:nvSpPr>
          <p:cNvPr id="31"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23"/>
                                        </p:tgtEl>
                                        <p:attrNameLst>
                                          <p:attrName>style.visibility</p:attrName>
                                        </p:attrNameLst>
                                      </p:cBhvr>
                                      <p:to>
                                        <p:strVal val="visible"/>
                                      </p:to>
                                    </p:set>
                                    <p:anim to="" calcmode="lin" valueType="num">
                                      <p:cBhvr>
                                        <p:cTn id="7" dur="1" fill="hold"/>
                                        <p:tgtEl>
                                          <p:spTgt spid="2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27">
                                            <p:txEl>
                                              <p:pRg st="0" end="0"/>
                                            </p:txEl>
                                          </p:spTgt>
                                        </p:tgtEl>
                                        <p:attrNameLst>
                                          <p:attrName>style.visibility</p:attrName>
                                        </p:attrNameLst>
                                      </p:cBhvr>
                                      <p:to>
                                        <p:strVal val="visible"/>
                                      </p:to>
                                    </p:set>
                                    <p:anim calcmode="lin" valueType="num">
                                      <p:cBhvr additive="base">
                                        <p:cTn id="16"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5">
                                            <p:txEl>
                                              <p:pRg st="0" end="0"/>
                                            </p:txEl>
                                          </p:spTgt>
                                        </p:tgtEl>
                                        <p:attrNameLst>
                                          <p:attrName>style.visibility</p:attrName>
                                        </p:attrNameLst>
                                      </p:cBhvr>
                                      <p:to>
                                        <p:strVal val="visible"/>
                                      </p:to>
                                    </p:set>
                                    <p:animEffect transition="in" filter="fade">
                                      <p:cBhvr>
                                        <p:cTn id="22" dur="2000"/>
                                        <p:tgtEl>
                                          <p:spTgt spid="3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8">
                                            <p:txEl>
                                              <p:pRg st="0" end="0"/>
                                            </p:txEl>
                                          </p:spTgt>
                                        </p:tgtEl>
                                        <p:attrNameLst>
                                          <p:attrName>style.visibility</p:attrName>
                                        </p:attrNameLst>
                                      </p:cBhvr>
                                      <p:to>
                                        <p:strVal val="visible"/>
                                      </p:to>
                                    </p:set>
                                    <p:animEffect transition="in" filter="fade">
                                      <p:cBhvr>
                                        <p:cTn id="27" dur="2000"/>
                                        <p:tgtEl>
                                          <p:spTgt spid="3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xEl>
                                              <p:pRg st="0" end="0"/>
                                            </p:txEl>
                                          </p:spTgt>
                                        </p:tgtEl>
                                        <p:attrNameLst>
                                          <p:attrName>style.visibility</p:attrName>
                                        </p:attrNameLst>
                                      </p:cBhvr>
                                      <p:to>
                                        <p:strVal val="visible"/>
                                      </p:to>
                                    </p:set>
                                    <p:animEffect transition="in" filter="fade">
                                      <p:cBhvr>
                                        <p:cTn id="32" dur="2000"/>
                                        <p:tgtEl>
                                          <p:spTgt spid="1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20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2">
                                            <p:txEl>
                                              <p:pRg st="0" end="0"/>
                                            </p:txEl>
                                          </p:spTgt>
                                        </p:tgtEl>
                                        <p:attrNameLst>
                                          <p:attrName>style.visibility</p:attrName>
                                        </p:attrNameLst>
                                      </p:cBhvr>
                                      <p:to>
                                        <p:strVal val="visible"/>
                                      </p:to>
                                    </p:set>
                                    <p:animEffect transition="in" filter="fade">
                                      <p:cBhvr>
                                        <p:cTn id="42" dur="2000"/>
                                        <p:tgtEl>
                                          <p:spTgt spid="32">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3">
                                            <p:txEl>
                                              <p:pRg st="0" end="0"/>
                                            </p:txEl>
                                          </p:spTgt>
                                        </p:tgtEl>
                                        <p:attrNameLst>
                                          <p:attrName>style.visibility</p:attrName>
                                        </p:attrNameLst>
                                      </p:cBhvr>
                                      <p:to>
                                        <p:strVal val="visible"/>
                                      </p:to>
                                    </p:set>
                                    <p:animEffect transition="in" filter="fade">
                                      <p:cBhvr>
                                        <p:cTn id="47" dur="2000"/>
                                        <p:tgtEl>
                                          <p:spTgt spid="33">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9">
                                            <p:txEl>
                                              <p:pRg st="0" end="0"/>
                                            </p:txEl>
                                          </p:spTgt>
                                        </p:tgtEl>
                                        <p:attrNameLst>
                                          <p:attrName>style.visibility</p:attrName>
                                        </p:attrNameLst>
                                      </p:cBhvr>
                                      <p:to>
                                        <p:strVal val="visible"/>
                                      </p:to>
                                    </p:set>
                                    <p:animEffect transition="in" filter="fade">
                                      <p:cBhvr>
                                        <p:cTn id="52" dur="2000"/>
                                        <p:tgtEl>
                                          <p:spTgt spid="39">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7">
                                            <p:txEl>
                                              <p:pRg st="0" end="0"/>
                                            </p:txEl>
                                          </p:spTgt>
                                        </p:tgtEl>
                                        <p:attrNameLst>
                                          <p:attrName>style.visibility</p:attrName>
                                        </p:attrNameLst>
                                      </p:cBhvr>
                                      <p:to>
                                        <p:strVal val="visible"/>
                                      </p:to>
                                    </p:set>
                                    <p:animEffect transition="in" filter="fade">
                                      <p:cBhvr>
                                        <p:cTn id="57" dur="2000"/>
                                        <p:tgtEl>
                                          <p:spTgt spid="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utoUpdateAnimBg="0"/>
      <p:bldP spid="24" grpId="0" autoUpdateAnimBg="0"/>
      <p:bldP spid="27" grpId="0" build="allAtOnce"/>
      <p:bldP spid="35" grpId="0" build="allAtOnce"/>
      <p:bldP spid="18" grpId="0" build="allAtOnce"/>
      <p:bldP spid="32" grpId="0" build="allAtOnce"/>
      <p:bldP spid="33" grpId="0" build="allAtOnce"/>
      <p:bldP spid="37" grpId="0" build="allAtOnce"/>
      <p:bldP spid="38" grpId="0" build="allAtOnce"/>
      <p:bldP spid="39" grpId="0" build="allAtOnce"/>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2"/>
            <a:ext cx="8207375" cy="5018107"/>
          </a:xfrm>
          <a:ln>
            <a:noFill/>
          </a:ln>
        </p:spPr>
        <p:txBody>
          <a:bodyPr/>
          <a:lstStyle/>
          <a:p>
            <a:r>
              <a:rPr lang="zh-CN" altLang="en-US"/>
              <a:t>讨论</a:t>
            </a:r>
            <a:endParaRPr lang="en-US" altLang="zh-CN"/>
          </a:p>
          <a:p>
            <a:pPr lvl="1">
              <a:lnSpc>
                <a:spcPct val="150000"/>
              </a:lnSpc>
              <a:spcBef>
                <a:spcPts val="0"/>
              </a:spcBef>
            </a:pPr>
            <a:r>
              <a:rPr lang="zh-CN" altLang="en-US">
                <a:solidFill>
                  <a:schemeClr val="tx2"/>
                </a:solidFill>
                <a:latin typeface="楷体_GB2312" pitchFamily="49" charset="-122"/>
              </a:rPr>
              <a:t>计算自由度和几何可变</a:t>
            </a:r>
            <a:endParaRPr lang="zh-CN" altLang="en-US" b="0">
              <a:ea typeface="宋体" charset="-122"/>
            </a:endParaRPr>
          </a:p>
          <a:p>
            <a:pPr lvl="1">
              <a:lnSpc>
                <a:spcPct val="150000"/>
              </a:lnSpc>
              <a:spcBef>
                <a:spcPts val="0"/>
              </a:spcBef>
            </a:pPr>
            <a:endParaRPr lang="en-US" altLang="zh-CN">
              <a:solidFill>
                <a:schemeClr val="tx1"/>
              </a:solidFill>
            </a:endParaRPr>
          </a:p>
          <a:p>
            <a:pPr lvl="1">
              <a:lnSpc>
                <a:spcPct val="130000"/>
              </a:lnSpc>
              <a:spcBef>
                <a:spcPts val="0"/>
              </a:spcBef>
              <a:buNone/>
            </a:pPr>
            <a:r>
              <a:rPr lang="en-US" altLang="zh-CN"/>
              <a:t>    </a:t>
            </a:r>
          </a:p>
        </p:txBody>
      </p:sp>
      <p:sp>
        <p:nvSpPr>
          <p:cNvPr id="2" name="标题 1"/>
          <p:cNvSpPr>
            <a:spLocks noGrp="1"/>
          </p:cNvSpPr>
          <p:nvPr>
            <p:ph type="title"/>
          </p:nvPr>
        </p:nvSpPr>
        <p:spPr>
          <a:xfrm>
            <a:off x="457200" y="260648"/>
            <a:ext cx="8229600" cy="882336"/>
          </a:xfrm>
        </p:spPr>
        <p:txBody>
          <a:bodyPr/>
          <a:lstStyle/>
          <a:p>
            <a:pPr algn="r"/>
            <a:r>
              <a:rPr lang="zh-CN" altLang="en-US"/>
              <a:t>平面杆件体系的计算自由度</a:t>
            </a:r>
          </a:p>
        </p:txBody>
      </p:sp>
      <p:grpSp>
        <p:nvGrpSpPr>
          <p:cNvPr id="18" name="组合 17"/>
          <p:cNvGrpSpPr/>
          <p:nvPr/>
        </p:nvGrpSpPr>
        <p:grpSpPr>
          <a:xfrm>
            <a:off x="1582054" y="2143116"/>
            <a:ext cx="2286016" cy="3786213"/>
            <a:chOff x="5457844" y="1785926"/>
            <a:chExt cx="2900370" cy="4476781"/>
          </a:xfrm>
        </p:grpSpPr>
        <p:pic>
          <p:nvPicPr>
            <p:cNvPr id="3074" name="Picture 2"/>
            <p:cNvPicPr>
              <a:picLocks noChangeAspect="1" noChangeArrowheads="1"/>
            </p:cNvPicPr>
            <p:nvPr/>
          </p:nvPicPr>
          <p:blipFill>
            <a:blip r:embed="rId3" cstate="print"/>
            <a:srcRect l="8413" t="8621" r="7457" b="5172"/>
            <a:stretch>
              <a:fillRect/>
            </a:stretch>
          </p:blipFill>
          <p:spPr bwMode="auto">
            <a:xfrm>
              <a:off x="5643570" y="1857364"/>
              <a:ext cx="2643206" cy="4405343"/>
            </a:xfrm>
            <a:prstGeom prst="rect">
              <a:avLst/>
            </a:prstGeom>
            <a:noFill/>
            <a:ln w="9525">
              <a:noFill/>
              <a:miter lim="800000"/>
              <a:headEnd/>
              <a:tailEnd/>
            </a:ln>
            <a:effectLst/>
          </p:spPr>
        </p:pic>
        <p:sp>
          <p:nvSpPr>
            <p:cNvPr id="28" name="Rectangle 7"/>
            <p:cNvSpPr>
              <a:spLocks noChangeArrowheads="1"/>
            </p:cNvSpPr>
            <p:nvPr/>
          </p:nvSpPr>
          <p:spPr bwMode="auto">
            <a:xfrm>
              <a:off x="5457844" y="3776674"/>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3</a:t>
              </a:r>
              <a:endParaRPr lang="en-US" altLang="zh-CN" sz="2400">
                <a:ea typeface="宋体" charset="-122"/>
              </a:endParaRPr>
            </a:p>
          </p:txBody>
        </p:sp>
        <p:sp>
          <p:nvSpPr>
            <p:cNvPr id="29" name="Rectangle 8"/>
            <p:cNvSpPr>
              <a:spLocks noChangeArrowheads="1"/>
            </p:cNvSpPr>
            <p:nvPr/>
          </p:nvSpPr>
          <p:spPr bwMode="auto">
            <a:xfrm>
              <a:off x="7820044" y="3776674"/>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3</a:t>
              </a:r>
              <a:endParaRPr lang="en-US" altLang="zh-CN" sz="2400">
                <a:ea typeface="宋体" charset="-122"/>
              </a:endParaRPr>
            </a:p>
          </p:txBody>
        </p:sp>
        <p:sp>
          <p:nvSpPr>
            <p:cNvPr id="30" name="Rectangle 9"/>
            <p:cNvSpPr>
              <a:spLocks noChangeArrowheads="1"/>
            </p:cNvSpPr>
            <p:nvPr/>
          </p:nvSpPr>
          <p:spPr bwMode="auto">
            <a:xfrm>
              <a:off x="7820044" y="1785926"/>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2</a:t>
              </a:r>
              <a:endParaRPr lang="en-US" altLang="zh-CN" sz="2400">
                <a:ea typeface="宋体" charset="-122"/>
              </a:endParaRPr>
            </a:p>
          </p:txBody>
        </p:sp>
        <p:sp>
          <p:nvSpPr>
            <p:cNvPr id="31" name="Rectangle 10"/>
            <p:cNvSpPr>
              <a:spLocks noChangeArrowheads="1"/>
            </p:cNvSpPr>
            <p:nvPr/>
          </p:nvSpPr>
          <p:spPr bwMode="auto">
            <a:xfrm>
              <a:off x="5457844" y="1785926"/>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1</a:t>
              </a:r>
              <a:endParaRPr lang="en-US" altLang="zh-CN" sz="2400">
                <a:ea typeface="宋体" charset="-122"/>
              </a:endParaRPr>
            </a:p>
          </p:txBody>
        </p:sp>
        <p:sp>
          <p:nvSpPr>
            <p:cNvPr id="32" name="Rectangle 11"/>
            <p:cNvSpPr>
              <a:spLocks noChangeArrowheads="1"/>
            </p:cNvSpPr>
            <p:nvPr/>
          </p:nvSpPr>
          <p:spPr bwMode="auto">
            <a:xfrm>
              <a:off x="7824814" y="5314968"/>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1</a:t>
              </a:r>
              <a:endParaRPr lang="en-US" altLang="zh-CN" sz="2400">
                <a:ea typeface="宋体" charset="-122"/>
              </a:endParaRPr>
            </a:p>
          </p:txBody>
        </p:sp>
        <p:sp>
          <p:nvSpPr>
            <p:cNvPr id="33" name="Rectangle 12"/>
            <p:cNvSpPr>
              <a:spLocks noChangeArrowheads="1"/>
            </p:cNvSpPr>
            <p:nvPr/>
          </p:nvSpPr>
          <p:spPr bwMode="auto">
            <a:xfrm>
              <a:off x="5457844" y="5314968"/>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2</a:t>
              </a:r>
              <a:endParaRPr lang="en-US" altLang="zh-CN" sz="2400">
                <a:ea typeface="宋体" charset="-122"/>
              </a:endParaRPr>
            </a:p>
          </p:txBody>
        </p:sp>
      </p:grpSp>
      <p:sp>
        <p:nvSpPr>
          <p:cNvPr id="36" name="Rectangle 6"/>
          <p:cNvSpPr>
            <a:spLocks noChangeArrowheads="1"/>
          </p:cNvSpPr>
          <p:nvPr/>
        </p:nvSpPr>
        <p:spPr bwMode="auto">
          <a:xfrm>
            <a:off x="1774846" y="6184588"/>
            <a:ext cx="1728782" cy="381000"/>
          </a:xfrm>
          <a:prstGeom prst="rect">
            <a:avLst/>
          </a:prstGeom>
          <a:noFill/>
          <a:ln w="9525">
            <a:noFill/>
            <a:miter lim="800000"/>
            <a:headEnd/>
            <a:tailEnd/>
          </a:ln>
          <a:effectLst/>
        </p:spPr>
        <p:txBody>
          <a:bodyPr wrap="none" anchor="ctr"/>
          <a:lstStyle/>
          <a:p>
            <a:pPr rtl="0" fontAlgn="base">
              <a:spcBef>
                <a:spcPct val="0"/>
              </a:spcBef>
              <a:spcAft>
                <a:spcPct val="0"/>
              </a:spcAft>
            </a:pPr>
            <a:r>
              <a:rPr kumimoji="1" lang="zh-CN" altLang="en-US" sz="2200" b="1" kern="1200">
                <a:latin typeface="+mn-ea"/>
                <a:cs typeface="+mn-cs"/>
              </a:rPr>
              <a:t>几何不变体系</a:t>
            </a:r>
          </a:p>
        </p:txBody>
      </p:sp>
      <p:sp>
        <p:nvSpPr>
          <p:cNvPr id="37" name="Rectangle 5"/>
          <p:cNvSpPr>
            <a:spLocks noChangeArrowheads="1"/>
          </p:cNvSpPr>
          <p:nvPr/>
        </p:nvSpPr>
        <p:spPr bwMode="auto">
          <a:xfrm>
            <a:off x="1357290" y="5915045"/>
            <a:ext cx="2714644" cy="371475"/>
          </a:xfrm>
          <a:prstGeom prst="rect">
            <a:avLst/>
          </a:prstGeom>
          <a:noFill/>
          <a:ln w="9525">
            <a:noFill/>
            <a:miter lim="800000"/>
            <a:headEnd/>
            <a:tailEnd/>
          </a:ln>
          <a:effectLst/>
        </p:spPr>
        <p:txBody>
          <a:bodyPr wrap="none" anchor="ctr"/>
          <a:lstStyle/>
          <a:p>
            <a:pPr>
              <a:lnSpc>
                <a:spcPct val="70000"/>
              </a:lnSpc>
              <a:spcBef>
                <a:spcPct val="0"/>
              </a:spcBef>
            </a:pPr>
            <a:r>
              <a:rPr lang="en-US" altLang="zh-CN" sz="2200" b="1" i="1">
                <a:solidFill>
                  <a:srgbClr val="0033CC"/>
                </a:solidFill>
                <a:latin typeface="Times New Roman" pitchFamily="18" charset="0"/>
                <a:cs typeface="Times New Roman" pitchFamily="18" charset="0"/>
              </a:rPr>
              <a:t>W </a:t>
            </a:r>
            <a:r>
              <a:rPr lang="en-US" altLang="zh-CN" sz="2200" b="1">
                <a:solidFill>
                  <a:srgbClr val="0033CC"/>
                </a:solidFill>
                <a:latin typeface="Times New Roman" pitchFamily="18" charset="0"/>
                <a:cs typeface="Times New Roman" pitchFamily="18" charset="0"/>
              </a:rPr>
              <a:t>= 3 ×9-(2×12+3) = 0</a:t>
            </a:r>
          </a:p>
        </p:txBody>
      </p:sp>
      <p:sp>
        <p:nvSpPr>
          <p:cNvPr id="45" name="矩形 44"/>
          <p:cNvSpPr/>
          <p:nvPr/>
        </p:nvSpPr>
        <p:spPr>
          <a:xfrm>
            <a:off x="5214942" y="5929330"/>
            <a:ext cx="3098669" cy="336054"/>
          </a:xfrm>
          <a:prstGeom prst="rect">
            <a:avLst/>
          </a:prstGeom>
        </p:spPr>
        <p:txBody>
          <a:bodyPr wrap="none">
            <a:spAutoFit/>
          </a:bodyPr>
          <a:lstStyle/>
          <a:p>
            <a:pPr>
              <a:lnSpc>
                <a:spcPct val="70000"/>
              </a:lnSpc>
              <a:spcBef>
                <a:spcPct val="0"/>
              </a:spcBef>
            </a:pPr>
            <a:r>
              <a:rPr lang="en-US" altLang="zh-CN" sz="2200" b="1" i="1">
                <a:solidFill>
                  <a:srgbClr val="0033CC"/>
                </a:solidFill>
                <a:latin typeface="Times New Roman" pitchFamily="18" charset="0"/>
                <a:cs typeface="Times New Roman" pitchFamily="18" charset="0"/>
              </a:rPr>
              <a:t>W </a:t>
            </a:r>
            <a:r>
              <a:rPr lang="en-US" altLang="zh-CN" sz="2200" b="1">
                <a:solidFill>
                  <a:srgbClr val="0033CC"/>
                </a:solidFill>
                <a:latin typeface="Times New Roman" pitchFamily="18" charset="0"/>
                <a:cs typeface="Times New Roman" pitchFamily="18" charset="0"/>
              </a:rPr>
              <a:t>= 3 ×9-(2×12+3) = 0</a:t>
            </a:r>
          </a:p>
        </p:txBody>
      </p:sp>
      <p:grpSp>
        <p:nvGrpSpPr>
          <p:cNvPr id="47" name="组合 46"/>
          <p:cNvGrpSpPr/>
          <p:nvPr/>
        </p:nvGrpSpPr>
        <p:grpSpPr>
          <a:xfrm>
            <a:off x="4429124" y="2143116"/>
            <a:ext cx="3286148" cy="3786213"/>
            <a:chOff x="4429124" y="2143116"/>
            <a:chExt cx="3286148" cy="3786213"/>
          </a:xfrm>
        </p:grpSpPr>
        <p:grpSp>
          <p:nvGrpSpPr>
            <p:cNvPr id="44" name="组合 43"/>
            <p:cNvGrpSpPr/>
            <p:nvPr/>
          </p:nvGrpSpPr>
          <p:grpSpPr>
            <a:xfrm>
              <a:off x="5429256" y="2143116"/>
              <a:ext cx="2286016" cy="3786213"/>
              <a:chOff x="5429256" y="2143116"/>
              <a:chExt cx="2286016" cy="3786213"/>
            </a:xfrm>
          </p:grpSpPr>
          <p:grpSp>
            <p:nvGrpSpPr>
              <p:cNvPr id="19" name="组合 18"/>
              <p:cNvGrpSpPr/>
              <p:nvPr/>
            </p:nvGrpSpPr>
            <p:grpSpPr>
              <a:xfrm>
                <a:off x="5429256" y="2143116"/>
                <a:ext cx="2286016" cy="3786213"/>
                <a:chOff x="5457844" y="1785926"/>
                <a:chExt cx="2900370" cy="4476781"/>
              </a:xfrm>
            </p:grpSpPr>
            <p:pic>
              <p:nvPicPr>
                <p:cNvPr id="20" name="Picture 2"/>
                <p:cNvPicPr>
                  <a:picLocks noChangeAspect="1" noChangeArrowheads="1"/>
                </p:cNvPicPr>
                <p:nvPr/>
              </p:nvPicPr>
              <p:blipFill>
                <a:blip r:embed="rId3" cstate="print"/>
                <a:srcRect l="8413" t="8621" r="7457" b="5172"/>
                <a:stretch>
                  <a:fillRect/>
                </a:stretch>
              </p:blipFill>
              <p:spPr bwMode="auto">
                <a:xfrm>
                  <a:off x="5643570" y="1857364"/>
                  <a:ext cx="2643206" cy="4405343"/>
                </a:xfrm>
                <a:prstGeom prst="rect">
                  <a:avLst/>
                </a:prstGeom>
                <a:noFill/>
                <a:ln w="9525">
                  <a:noFill/>
                  <a:miter lim="800000"/>
                  <a:headEnd/>
                  <a:tailEnd/>
                </a:ln>
                <a:effectLst/>
              </p:spPr>
            </p:pic>
            <p:sp>
              <p:nvSpPr>
                <p:cNvPr id="21" name="Rectangle 7"/>
                <p:cNvSpPr>
                  <a:spLocks noChangeArrowheads="1"/>
                </p:cNvSpPr>
                <p:nvPr/>
              </p:nvSpPr>
              <p:spPr bwMode="auto">
                <a:xfrm>
                  <a:off x="5457844" y="3776674"/>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3</a:t>
                  </a:r>
                  <a:endParaRPr lang="en-US" altLang="zh-CN" sz="2400">
                    <a:ea typeface="宋体" charset="-122"/>
                  </a:endParaRPr>
                </a:p>
              </p:txBody>
            </p:sp>
            <p:sp>
              <p:nvSpPr>
                <p:cNvPr id="22" name="Rectangle 8"/>
                <p:cNvSpPr>
                  <a:spLocks noChangeArrowheads="1"/>
                </p:cNvSpPr>
                <p:nvPr/>
              </p:nvSpPr>
              <p:spPr bwMode="auto">
                <a:xfrm>
                  <a:off x="7820044" y="3776674"/>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3</a:t>
                  </a:r>
                  <a:endParaRPr lang="en-US" altLang="zh-CN" sz="2400">
                    <a:ea typeface="宋体" charset="-122"/>
                  </a:endParaRPr>
                </a:p>
              </p:txBody>
            </p:sp>
            <p:sp>
              <p:nvSpPr>
                <p:cNvPr id="25" name="Rectangle 9"/>
                <p:cNvSpPr>
                  <a:spLocks noChangeArrowheads="1"/>
                </p:cNvSpPr>
                <p:nvPr/>
              </p:nvSpPr>
              <p:spPr bwMode="auto">
                <a:xfrm>
                  <a:off x="7820044" y="1785926"/>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2</a:t>
                  </a:r>
                  <a:endParaRPr lang="en-US" altLang="zh-CN" sz="2400">
                    <a:ea typeface="宋体" charset="-122"/>
                  </a:endParaRPr>
                </a:p>
              </p:txBody>
            </p:sp>
            <p:sp>
              <p:nvSpPr>
                <p:cNvPr id="26" name="Rectangle 10"/>
                <p:cNvSpPr>
                  <a:spLocks noChangeArrowheads="1"/>
                </p:cNvSpPr>
                <p:nvPr/>
              </p:nvSpPr>
              <p:spPr bwMode="auto">
                <a:xfrm>
                  <a:off x="5457844" y="1785926"/>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2</a:t>
                  </a:r>
                  <a:endParaRPr lang="en-US" altLang="zh-CN" sz="2400">
                    <a:ea typeface="宋体" charset="-122"/>
                  </a:endParaRPr>
                </a:p>
              </p:txBody>
            </p:sp>
            <p:sp>
              <p:nvSpPr>
                <p:cNvPr id="38" name="Rectangle 11"/>
                <p:cNvSpPr>
                  <a:spLocks noChangeArrowheads="1"/>
                </p:cNvSpPr>
                <p:nvPr/>
              </p:nvSpPr>
              <p:spPr bwMode="auto">
                <a:xfrm>
                  <a:off x="7824814" y="5314968"/>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1</a:t>
                  </a:r>
                  <a:endParaRPr lang="en-US" altLang="zh-CN" sz="2400">
                    <a:ea typeface="宋体" charset="-122"/>
                  </a:endParaRPr>
                </a:p>
              </p:txBody>
            </p:sp>
            <p:sp>
              <p:nvSpPr>
                <p:cNvPr id="39" name="Rectangle 12"/>
                <p:cNvSpPr>
                  <a:spLocks noChangeArrowheads="1"/>
                </p:cNvSpPr>
                <p:nvPr/>
              </p:nvSpPr>
              <p:spPr bwMode="auto">
                <a:xfrm>
                  <a:off x="5457844" y="5314968"/>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1</a:t>
                  </a:r>
                  <a:endParaRPr lang="en-US" altLang="zh-CN" sz="2400">
                    <a:ea typeface="宋体" charset="-122"/>
                  </a:endParaRPr>
                </a:p>
              </p:txBody>
            </p:sp>
          </p:grpSp>
          <p:sp>
            <p:nvSpPr>
              <p:cNvPr id="41" name="圆角矩形 40"/>
              <p:cNvSpPr/>
              <p:nvPr/>
            </p:nvSpPr>
            <p:spPr bwMode="auto">
              <a:xfrm>
                <a:off x="5885180" y="3999600"/>
                <a:ext cx="1458000" cy="1571636"/>
              </a:xfrm>
              <a:prstGeom prst="roundRect">
                <a:avLst>
                  <a:gd name="adj" fmla="val 8243"/>
                </a:avLst>
              </a:prstGeom>
              <a:solidFill>
                <a:schemeClr val="bg1"/>
              </a:solidFill>
              <a:ln w="285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cxnSp>
            <p:nvCxnSpPr>
              <p:cNvPr id="43" name="直接连接符 42"/>
              <p:cNvCxnSpPr/>
              <p:nvPr/>
            </p:nvCxnSpPr>
            <p:spPr bwMode="auto">
              <a:xfrm rot="16200000" flipH="1">
                <a:off x="5830588" y="2456164"/>
                <a:ext cx="1571636" cy="1428760"/>
              </a:xfrm>
              <a:prstGeom prst="line">
                <a:avLst/>
              </a:prstGeom>
              <a:solidFill>
                <a:schemeClr val="accent1"/>
              </a:solidFill>
              <a:ln w="44450" cap="flat" cmpd="sng" algn="ctr">
                <a:solidFill>
                  <a:schemeClr val="tx1"/>
                </a:solidFill>
                <a:prstDash val="solid"/>
                <a:round/>
                <a:headEnd type="none" w="med" len="med"/>
                <a:tailEnd type="none"/>
              </a:ln>
              <a:effectLst/>
            </p:spPr>
          </p:cxnSp>
        </p:grpSp>
        <p:sp>
          <p:nvSpPr>
            <p:cNvPr id="46" name="右箭头 45"/>
            <p:cNvSpPr/>
            <p:nvPr/>
          </p:nvSpPr>
          <p:spPr bwMode="auto">
            <a:xfrm>
              <a:off x="4429124" y="3786190"/>
              <a:ext cx="571504" cy="500066"/>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sp>
        <p:nvSpPr>
          <p:cNvPr id="48" name="Rectangle 6"/>
          <p:cNvSpPr>
            <a:spLocks noChangeArrowheads="1"/>
          </p:cNvSpPr>
          <p:nvPr/>
        </p:nvSpPr>
        <p:spPr bwMode="auto">
          <a:xfrm>
            <a:off x="5143504" y="6187786"/>
            <a:ext cx="3143272" cy="381000"/>
          </a:xfrm>
          <a:prstGeom prst="rect">
            <a:avLst/>
          </a:prstGeom>
          <a:noFill/>
          <a:ln w="9525">
            <a:noFill/>
            <a:miter lim="800000"/>
            <a:headEnd/>
            <a:tailEnd/>
          </a:ln>
          <a:effectLst/>
        </p:spPr>
        <p:txBody>
          <a:bodyPr wrap="none" anchor="ctr"/>
          <a:lstStyle/>
          <a:p>
            <a:pPr rtl="0" fontAlgn="base">
              <a:spcBef>
                <a:spcPct val="0"/>
              </a:spcBef>
              <a:spcAft>
                <a:spcPct val="0"/>
              </a:spcAft>
            </a:pPr>
            <a:r>
              <a:rPr kumimoji="1" lang="zh-CN" altLang="en-US" sz="2200" b="1" kern="1200">
                <a:latin typeface="+mn-ea"/>
                <a:cs typeface="+mn-cs"/>
              </a:rPr>
              <a:t>几何不变还是几何可变？</a:t>
            </a:r>
          </a:p>
        </p:txBody>
      </p:sp>
      <p:sp>
        <p:nvSpPr>
          <p:cNvPr id="34"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37"/>
                                        </p:tgtEl>
                                        <p:attrNameLst>
                                          <p:attrName>style.visibility</p:attrName>
                                        </p:attrNameLst>
                                      </p:cBhvr>
                                      <p:to>
                                        <p:strVal val="visible"/>
                                      </p:to>
                                    </p:set>
                                    <p:anim to="" calcmode="lin" valueType="num">
                                      <p:cBhvr>
                                        <p:cTn id="7" dur="1" fill="hold"/>
                                        <p:tgtEl>
                                          <p:spTgt spid="37"/>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20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5">
                                            <p:txEl>
                                              <p:pRg st="0" end="0"/>
                                            </p:txEl>
                                          </p:spTgt>
                                        </p:tgtEl>
                                        <p:attrNameLst>
                                          <p:attrName>style.visibility</p:attrName>
                                        </p:attrNameLst>
                                      </p:cBhvr>
                                      <p:to>
                                        <p:strVal val="visible"/>
                                      </p:to>
                                    </p:set>
                                    <p:animEffect transition="in" filter="fade">
                                      <p:cBhvr>
                                        <p:cTn id="17" dur="2000"/>
                                        <p:tgtEl>
                                          <p:spTgt spid="4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6">
                                            <p:txEl>
                                              <p:pRg st="0" end="0"/>
                                            </p:txEl>
                                          </p:spTgt>
                                        </p:tgtEl>
                                        <p:attrNameLst>
                                          <p:attrName>style.visibility</p:attrName>
                                        </p:attrNameLst>
                                      </p:cBhvr>
                                      <p:to>
                                        <p:strVal val="visible"/>
                                      </p:to>
                                    </p:set>
                                    <p:animEffect transition="in" filter="fade">
                                      <p:cBhvr>
                                        <p:cTn id="22" dur="2000"/>
                                        <p:tgtEl>
                                          <p:spTgt spid="3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8">
                                            <p:txEl>
                                              <p:pRg st="0" end="0"/>
                                            </p:txEl>
                                          </p:spTgt>
                                        </p:tgtEl>
                                        <p:attrNameLst>
                                          <p:attrName>style.visibility</p:attrName>
                                        </p:attrNameLst>
                                      </p:cBhvr>
                                      <p:to>
                                        <p:strVal val="visible"/>
                                      </p:to>
                                    </p:set>
                                    <p:animEffect transition="in" filter="fade">
                                      <p:cBhvr>
                                        <p:cTn id="27" dur="2000"/>
                                        <p:tgtEl>
                                          <p:spTgt spid="4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build="allAtOnce"/>
      <p:bldP spid="37" grpId="0" autoUpdateAnimBg="0"/>
      <p:bldP spid="45" grpId="0" build="allAtOnce"/>
      <p:bldP spid="48" grpId="0" build="allAtOnce"/>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2"/>
            <a:ext cx="8207375" cy="5018107"/>
          </a:xfrm>
          <a:ln>
            <a:noFill/>
          </a:ln>
        </p:spPr>
        <p:txBody>
          <a:bodyPr/>
          <a:lstStyle/>
          <a:p>
            <a:r>
              <a:rPr lang="zh-CN" altLang="en-US"/>
              <a:t>讨论</a:t>
            </a:r>
            <a:endParaRPr lang="en-US" altLang="zh-CN"/>
          </a:p>
          <a:p>
            <a:pPr lvl="1">
              <a:lnSpc>
                <a:spcPct val="150000"/>
              </a:lnSpc>
              <a:spcBef>
                <a:spcPts val="0"/>
              </a:spcBef>
            </a:pPr>
            <a:r>
              <a:rPr lang="zh-CN" altLang="en-US">
                <a:solidFill>
                  <a:schemeClr val="tx2"/>
                </a:solidFill>
                <a:latin typeface="楷体_GB2312" pitchFamily="49" charset="-122"/>
              </a:rPr>
              <a:t>计算自由度和几何可变</a:t>
            </a:r>
            <a:endParaRPr lang="zh-CN" altLang="en-US" b="0">
              <a:ea typeface="宋体" charset="-122"/>
            </a:endParaRPr>
          </a:p>
          <a:p>
            <a:pPr lvl="1">
              <a:lnSpc>
                <a:spcPct val="150000"/>
              </a:lnSpc>
              <a:spcBef>
                <a:spcPts val="0"/>
              </a:spcBef>
            </a:pPr>
            <a:endParaRPr lang="en-US" altLang="zh-CN">
              <a:solidFill>
                <a:schemeClr val="tx1"/>
              </a:solidFill>
            </a:endParaRPr>
          </a:p>
          <a:p>
            <a:pPr lvl="1">
              <a:lnSpc>
                <a:spcPct val="130000"/>
              </a:lnSpc>
              <a:spcBef>
                <a:spcPts val="0"/>
              </a:spcBef>
              <a:buNone/>
            </a:pPr>
            <a:r>
              <a:rPr lang="en-US" altLang="zh-CN"/>
              <a:t>    </a:t>
            </a:r>
          </a:p>
        </p:txBody>
      </p:sp>
      <p:sp>
        <p:nvSpPr>
          <p:cNvPr id="2" name="标题 1"/>
          <p:cNvSpPr>
            <a:spLocks noGrp="1"/>
          </p:cNvSpPr>
          <p:nvPr>
            <p:ph type="title"/>
          </p:nvPr>
        </p:nvSpPr>
        <p:spPr>
          <a:xfrm>
            <a:off x="457200" y="260648"/>
            <a:ext cx="8229600" cy="882336"/>
          </a:xfrm>
        </p:spPr>
        <p:txBody>
          <a:bodyPr/>
          <a:lstStyle/>
          <a:p>
            <a:pPr algn="r"/>
            <a:r>
              <a:rPr lang="zh-CN" altLang="en-US"/>
              <a:t>平面杆件体系的计算自由度</a:t>
            </a:r>
          </a:p>
        </p:txBody>
      </p:sp>
      <p:pic>
        <p:nvPicPr>
          <p:cNvPr id="81921" name="Picture 1" descr="C:\Users\Administrator\AppData\Roaming\Tencent\Users\174520645\QQ\WinTemp\RichOle\`@C(KEX$ZIF~]5J37LI_{8Y.png"/>
          <p:cNvPicPr>
            <a:picLocks noChangeAspect="1" noChangeArrowheads="1"/>
          </p:cNvPicPr>
          <p:nvPr/>
        </p:nvPicPr>
        <p:blipFill>
          <a:blip r:embed="rId3" cstate="print"/>
          <a:srcRect/>
          <a:stretch>
            <a:fillRect/>
          </a:stretch>
        </p:blipFill>
        <p:spPr bwMode="auto">
          <a:xfrm>
            <a:off x="1500166" y="2214554"/>
            <a:ext cx="2276475" cy="3800475"/>
          </a:xfrm>
          <a:prstGeom prst="rect">
            <a:avLst/>
          </a:prstGeom>
          <a:noFill/>
        </p:spPr>
      </p:pic>
      <p:grpSp>
        <p:nvGrpSpPr>
          <p:cNvPr id="34" name="组合 33"/>
          <p:cNvGrpSpPr/>
          <p:nvPr/>
        </p:nvGrpSpPr>
        <p:grpSpPr>
          <a:xfrm>
            <a:off x="1785918" y="5929330"/>
            <a:ext cx="1857388" cy="639456"/>
            <a:chOff x="5715008" y="5929330"/>
            <a:chExt cx="1857388" cy="639456"/>
          </a:xfrm>
        </p:grpSpPr>
        <p:sp>
          <p:nvSpPr>
            <p:cNvPr id="45" name="矩形 44"/>
            <p:cNvSpPr/>
            <p:nvPr/>
          </p:nvSpPr>
          <p:spPr>
            <a:xfrm>
              <a:off x="6200232" y="5929330"/>
              <a:ext cx="872098" cy="329321"/>
            </a:xfrm>
            <a:prstGeom prst="rect">
              <a:avLst/>
            </a:prstGeom>
          </p:spPr>
          <p:txBody>
            <a:bodyPr wrap="none">
              <a:spAutoFit/>
            </a:bodyPr>
            <a:lstStyle/>
            <a:p>
              <a:pPr>
                <a:lnSpc>
                  <a:spcPct val="70000"/>
                </a:lnSpc>
                <a:spcBef>
                  <a:spcPct val="0"/>
                </a:spcBef>
              </a:pPr>
              <a:r>
                <a:rPr lang="en-US" altLang="zh-CN" sz="2200" b="1" i="1">
                  <a:solidFill>
                    <a:srgbClr val="0033CC"/>
                  </a:solidFill>
                  <a:latin typeface="Times New Roman" pitchFamily="18" charset="0"/>
                  <a:cs typeface="Times New Roman" pitchFamily="18" charset="0"/>
                </a:rPr>
                <a:t>W </a:t>
              </a:r>
              <a:r>
                <a:rPr lang="en-US" altLang="zh-CN" sz="2200" b="1">
                  <a:solidFill>
                    <a:srgbClr val="0033CC"/>
                  </a:solidFill>
                  <a:latin typeface="Times New Roman" pitchFamily="18" charset="0"/>
                  <a:cs typeface="Times New Roman" pitchFamily="18" charset="0"/>
                </a:rPr>
                <a:t>= 0</a:t>
              </a:r>
            </a:p>
          </p:txBody>
        </p:sp>
        <p:sp>
          <p:nvSpPr>
            <p:cNvPr id="48" name="Rectangle 6"/>
            <p:cNvSpPr>
              <a:spLocks noChangeArrowheads="1"/>
            </p:cNvSpPr>
            <p:nvPr/>
          </p:nvSpPr>
          <p:spPr bwMode="auto">
            <a:xfrm>
              <a:off x="5715008" y="6187786"/>
              <a:ext cx="1857388" cy="381000"/>
            </a:xfrm>
            <a:prstGeom prst="rect">
              <a:avLst/>
            </a:prstGeom>
            <a:noFill/>
            <a:ln w="9525">
              <a:noFill/>
              <a:miter lim="800000"/>
              <a:headEnd/>
              <a:tailEnd/>
            </a:ln>
            <a:effectLst/>
          </p:spPr>
          <p:txBody>
            <a:bodyPr wrap="none" anchor="ctr"/>
            <a:lstStyle/>
            <a:p>
              <a:pPr rtl="0" fontAlgn="base">
                <a:spcBef>
                  <a:spcPct val="0"/>
                </a:spcBef>
                <a:spcAft>
                  <a:spcPct val="0"/>
                </a:spcAft>
              </a:pPr>
              <a:r>
                <a:rPr kumimoji="1" lang="zh-CN" altLang="en-US" sz="2200" b="1" kern="1200">
                  <a:latin typeface="+mn-ea"/>
                  <a:cs typeface="+mn-cs"/>
                </a:rPr>
                <a:t>几何可变体系</a:t>
              </a:r>
            </a:p>
          </p:txBody>
        </p:sp>
      </p:grpSp>
      <p:sp>
        <p:nvSpPr>
          <p:cNvPr id="35" name="Rectangle 6"/>
          <p:cNvSpPr>
            <a:spLocks noChangeArrowheads="1"/>
          </p:cNvSpPr>
          <p:nvPr/>
        </p:nvSpPr>
        <p:spPr bwMode="auto">
          <a:xfrm>
            <a:off x="5072066" y="2714620"/>
            <a:ext cx="3286148" cy="857256"/>
          </a:xfrm>
          <a:prstGeom prst="rect">
            <a:avLst/>
          </a:prstGeom>
          <a:noFill/>
          <a:ln w="9525">
            <a:noFill/>
            <a:miter lim="800000"/>
            <a:headEnd/>
            <a:tailEnd/>
          </a:ln>
          <a:effectLst/>
        </p:spPr>
        <p:txBody>
          <a:bodyPr wrap="none" anchor="ctr"/>
          <a:lstStyle/>
          <a:p>
            <a:pPr rtl="0" fontAlgn="base">
              <a:spcBef>
                <a:spcPct val="0"/>
              </a:spcBef>
              <a:spcAft>
                <a:spcPct val="0"/>
              </a:spcAft>
            </a:pPr>
            <a:r>
              <a:rPr kumimoji="1" lang="zh-CN" altLang="en-US" sz="2200" b="1">
                <a:latin typeface="+mn-ea"/>
              </a:rPr>
              <a:t>结论</a:t>
            </a:r>
            <a:r>
              <a:rPr kumimoji="1" lang="en-US" altLang="zh-CN" sz="2200" b="1">
                <a:latin typeface="+mn-ea"/>
              </a:rPr>
              <a:t>1</a:t>
            </a:r>
            <a:r>
              <a:rPr kumimoji="1" lang="zh-CN" altLang="en-US" sz="2200" b="1">
                <a:latin typeface="+mn-ea"/>
              </a:rPr>
              <a:t>：计算自由度为</a:t>
            </a:r>
            <a:r>
              <a:rPr kumimoji="1" lang="en-US" altLang="zh-CN" sz="2200" b="1">
                <a:latin typeface="+mn-ea"/>
              </a:rPr>
              <a:t>0</a:t>
            </a:r>
            <a:r>
              <a:rPr kumimoji="1" lang="zh-CN" altLang="en-US" sz="2200" b="1">
                <a:latin typeface="+mn-ea"/>
              </a:rPr>
              <a:t>，</a:t>
            </a:r>
            <a:endParaRPr kumimoji="1" lang="en-US" altLang="zh-CN" sz="2200" b="1">
              <a:latin typeface="+mn-ea"/>
            </a:endParaRPr>
          </a:p>
          <a:p>
            <a:pPr rtl="0" fontAlgn="base">
              <a:lnSpc>
                <a:spcPct val="130000"/>
              </a:lnSpc>
              <a:spcBef>
                <a:spcPct val="0"/>
              </a:spcBef>
              <a:spcAft>
                <a:spcPct val="0"/>
              </a:spcAft>
            </a:pPr>
            <a:r>
              <a:rPr kumimoji="1" lang="zh-CN" altLang="en-US" sz="2200" b="1">
                <a:latin typeface="+mn-ea"/>
              </a:rPr>
              <a:t>不一定是几何不变体系。</a:t>
            </a:r>
            <a:endParaRPr kumimoji="1" lang="zh-CN" altLang="en-US" sz="2200" b="1" kern="1200">
              <a:latin typeface="+mn-ea"/>
              <a:cs typeface="+mn-cs"/>
            </a:endParaRPr>
          </a:p>
        </p:txBody>
      </p:sp>
      <p:sp>
        <p:nvSpPr>
          <p:cNvPr id="9"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2"/>
            <a:ext cx="5889637" cy="4732355"/>
          </a:xfrm>
          <a:ln>
            <a:noFill/>
          </a:ln>
        </p:spPr>
        <p:txBody>
          <a:bodyPr/>
          <a:lstStyle/>
          <a:p>
            <a:r>
              <a:rPr lang="zh-CN" altLang="en-US"/>
              <a:t>讨论</a:t>
            </a:r>
            <a:endParaRPr lang="en-US" altLang="zh-CN"/>
          </a:p>
          <a:p>
            <a:pPr lvl="1">
              <a:lnSpc>
                <a:spcPct val="150000"/>
              </a:lnSpc>
              <a:spcBef>
                <a:spcPts val="0"/>
              </a:spcBef>
              <a:buNone/>
            </a:pPr>
            <a:r>
              <a:rPr lang="zh-CN" altLang="en-US">
                <a:latin typeface="+mn-ea"/>
              </a:rPr>
              <a:t>每除去一个约束，体系的</a:t>
            </a:r>
            <a:r>
              <a:rPr lang="zh-CN" altLang="en-US">
                <a:solidFill>
                  <a:srgbClr val="C00000"/>
                </a:solidFill>
                <a:latin typeface="+mn-ea"/>
              </a:rPr>
              <a:t>计算自由度</a:t>
            </a:r>
            <a:r>
              <a:rPr lang="zh-CN" altLang="en-US">
                <a:latin typeface="+mn-ea"/>
              </a:rPr>
              <a:t>都会增加。</a:t>
            </a:r>
            <a:endParaRPr lang="en-US" altLang="zh-CN">
              <a:latin typeface="+mn-ea"/>
            </a:endParaRPr>
          </a:p>
          <a:p>
            <a:pPr lvl="1">
              <a:lnSpc>
                <a:spcPct val="150000"/>
              </a:lnSpc>
              <a:spcBef>
                <a:spcPts val="0"/>
              </a:spcBef>
            </a:pPr>
            <a:r>
              <a:rPr lang="zh-CN" altLang="en-US">
                <a:solidFill>
                  <a:srgbClr val="C00000"/>
                </a:solidFill>
                <a:latin typeface="+mn-ea"/>
              </a:rPr>
              <a:t>必要约束</a:t>
            </a:r>
            <a:endParaRPr lang="en-US" altLang="zh-CN">
              <a:solidFill>
                <a:srgbClr val="C00000"/>
              </a:solidFill>
              <a:latin typeface="+mn-ea"/>
            </a:endParaRPr>
          </a:p>
          <a:p>
            <a:pPr lvl="1">
              <a:lnSpc>
                <a:spcPct val="150000"/>
              </a:lnSpc>
              <a:spcBef>
                <a:spcPts val="0"/>
              </a:spcBef>
              <a:buNone/>
            </a:pPr>
            <a:r>
              <a:rPr lang="zh-CN" altLang="en-US">
                <a:ea typeface="宋体" charset="-122"/>
              </a:rPr>
              <a:t>    除去</a:t>
            </a:r>
            <a:r>
              <a:rPr lang="zh-CN" altLang="en-US">
                <a:latin typeface="+mn-ea"/>
              </a:rPr>
              <a:t>该约束，体系的</a:t>
            </a:r>
            <a:r>
              <a:rPr lang="zh-CN" altLang="en-US">
                <a:solidFill>
                  <a:srgbClr val="C00000"/>
                </a:solidFill>
                <a:latin typeface="+mn-ea"/>
              </a:rPr>
              <a:t>自由度</a:t>
            </a:r>
            <a:r>
              <a:rPr lang="zh-CN" altLang="en-US">
                <a:latin typeface="+mn-ea"/>
              </a:rPr>
              <a:t>将增加。</a:t>
            </a:r>
            <a:endParaRPr lang="en-US" altLang="zh-CN">
              <a:latin typeface="+mn-ea"/>
            </a:endParaRPr>
          </a:p>
          <a:p>
            <a:pPr lvl="1">
              <a:lnSpc>
                <a:spcPct val="100000"/>
              </a:lnSpc>
              <a:spcBef>
                <a:spcPts val="0"/>
              </a:spcBef>
              <a:buNone/>
            </a:pPr>
            <a:endParaRPr lang="en-US" altLang="zh-CN">
              <a:latin typeface="+mn-ea"/>
            </a:endParaRPr>
          </a:p>
          <a:p>
            <a:pPr lvl="1">
              <a:lnSpc>
                <a:spcPct val="150000"/>
              </a:lnSpc>
              <a:spcBef>
                <a:spcPts val="0"/>
              </a:spcBef>
              <a:buNone/>
            </a:pPr>
            <a:r>
              <a:rPr lang="en-US" altLang="zh-CN">
                <a:latin typeface="+mn-ea"/>
              </a:rPr>
              <a:t>    </a:t>
            </a:r>
            <a:r>
              <a:rPr lang="zh-CN" altLang="en-US">
                <a:latin typeface="+mn-ea"/>
              </a:rPr>
              <a:t>例：右图所示几何不变体系，</a:t>
            </a:r>
            <a:r>
              <a:rPr lang="zh-CN" altLang="en-US">
                <a:solidFill>
                  <a:srgbClr val="C00000"/>
                </a:solidFill>
                <a:latin typeface="+mn-ea"/>
              </a:rPr>
              <a:t>自由度</a:t>
            </a:r>
            <a:r>
              <a:rPr lang="zh-CN" altLang="en-US">
                <a:latin typeface="+mn-ea"/>
              </a:rPr>
              <a:t>为零；除去图中任意一根链杆，体系的自由度都将变为</a:t>
            </a:r>
            <a:r>
              <a:rPr lang="en-US" altLang="zh-CN">
                <a:latin typeface="+mn-ea"/>
              </a:rPr>
              <a:t>1</a:t>
            </a:r>
            <a:r>
              <a:rPr lang="zh-CN" altLang="en-US">
                <a:latin typeface="+mn-ea"/>
              </a:rPr>
              <a:t>。</a:t>
            </a:r>
            <a:endParaRPr lang="en-US" altLang="zh-CN">
              <a:latin typeface="+mn-ea"/>
            </a:endParaRPr>
          </a:p>
          <a:p>
            <a:pPr lvl="1">
              <a:lnSpc>
                <a:spcPct val="150000"/>
              </a:lnSpc>
              <a:spcBef>
                <a:spcPts val="0"/>
              </a:spcBef>
              <a:buNone/>
            </a:pPr>
            <a:r>
              <a:rPr lang="en-US" altLang="zh-CN">
                <a:latin typeface="+mn-ea"/>
              </a:rPr>
              <a:t>     </a:t>
            </a:r>
            <a:r>
              <a:rPr lang="zh-CN" altLang="en-US">
                <a:latin typeface="+mn-ea"/>
              </a:rPr>
              <a:t>结论：该体系中所有的杆都是必要约束。</a:t>
            </a:r>
          </a:p>
          <a:p>
            <a:pPr lvl="1">
              <a:lnSpc>
                <a:spcPct val="150000"/>
              </a:lnSpc>
              <a:spcBef>
                <a:spcPts val="0"/>
              </a:spcBef>
            </a:pPr>
            <a:endParaRPr lang="en-US" altLang="zh-CN">
              <a:solidFill>
                <a:schemeClr val="tx1"/>
              </a:solidFill>
            </a:endParaRPr>
          </a:p>
          <a:p>
            <a:pPr lvl="1">
              <a:lnSpc>
                <a:spcPct val="130000"/>
              </a:lnSpc>
              <a:spcBef>
                <a:spcPts val="0"/>
              </a:spcBef>
              <a:buNone/>
            </a:pPr>
            <a:r>
              <a:rPr lang="en-US" altLang="zh-CN"/>
              <a:t>    </a:t>
            </a:r>
          </a:p>
        </p:txBody>
      </p:sp>
      <p:sp>
        <p:nvSpPr>
          <p:cNvPr id="2" name="标题 1"/>
          <p:cNvSpPr>
            <a:spLocks noGrp="1"/>
          </p:cNvSpPr>
          <p:nvPr>
            <p:ph type="title"/>
          </p:nvPr>
        </p:nvSpPr>
        <p:spPr>
          <a:xfrm>
            <a:off x="457200" y="260648"/>
            <a:ext cx="8229600" cy="882336"/>
          </a:xfrm>
        </p:spPr>
        <p:txBody>
          <a:bodyPr/>
          <a:lstStyle/>
          <a:p>
            <a:pPr algn="r"/>
            <a:r>
              <a:rPr lang="zh-CN" altLang="en-US"/>
              <a:t>平面杆件体系的计算自由度</a:t>
            </a:r>
          </a:p>
        </p:txBody>
      </p:sp>
      <p:grpSp>
        <p:nvGrpSpPr>
          <p:cNvPr id="55" name="组合 54"/>
          <p:cNvGrpSpPr/>
          <p:nvPr/>
        </p:nvGrpSpPr>
        <p:grpSpPr>
          <a:xfrm>
            <a:off x="6500826" y="1500174"/>
            <a:ext cx="2286016" cy="4568546"/>
            <a:chOff x="6500826" y="1741784"/>
            <a:chExt cx="2286016" cy="4568546"/>
          </a:xfrm>
        </p:grpSpPr>
        <p:grpSp>
          <p:nvGrpSpPr>
            <p:cNvPr id="40" name="组合 39"/>
            <p:cNvGrpSpPr/>
            <p:nvPr/>
          </p:nvGrpSpPr>
          <p:grpSpPr>
            <a:xfrm>
              <a:off x="6500826" y="1741784"/>
              <a:ext cx="2286016" cy="3786213"/>
              <a:chOff x="5457844" y="1785926"/>
              <a:chExt cx="2900370" cy="4476781"/>
            </a:xfrm>
          </p:grpSpPr>
          <p:pic>
            <p:nvPicPr>
              <p:cNvPr id="42" name="Picture 2"/>
              <p:cNvPicPr>
                <a:picLocks noChangeAspect="1" noChangeArrowheads="1"/>
              </p:cNvPicPr>
              <p:nvPr/>
            </p:nvPicPr>
            <p:blipFill>
              <a:blip r:embed="rId3" cstate="print"/>
              <a:srcRect l="8413" t="8621" r="7457" b="5172"/>
              <a:stretch>
                <a:fillRect/>
              </a:stretch>
            </p:blipFill>
            <p:spPr bwMode="auto">
              <a:xfrm>
                <a:off x="5643570" y="1857364"/>
                <a:ext cx="2643206" cy="4405343"/>
              </a:xfrm>
              <a:prstGeom prst="rect">
                <a:avLst/>
              </a:prstGeom>
              <a:noFill/>
              <a:ln w="9525">
                <a:noFill/>
                <a:miter lim="800000"/>
                <a:headEnd/>
                <a:tailEnd/>
              </a:ln>
              <a:effectLst/>
            </p:spPr>
          </p:pic>
          <p:sp>
            <p:nvSpPr>
              <p:cNvPr id="44" name="Rectangle 7"/>
              <p:cNvSpPr>
                <a:spLocks noChangeArrowheads="1"/>
              </p:cNvSpPr>
              <p:nvPr/>
            </p:nvSpPr>
            <p:spPr bwMode="auto">
              <a:xfrm>
                <a:off x="5457844" y="3776674"/>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3</a:t>
                </a:r>
                <a:endParaRPr lang="en-US" altLang="zh-CN" sz="2400">
                  <a:ea typeface="宋体" charset="-122"/>
                </a:endParaRPr>
              </a:p>
            </p:txBody>
          </p:sp>
          <p:sp>
            <p:nvSpPr>
              <p:cNvPr id="47" name="Rectangle 8"/>
              <p:cNvSpPr>
                <a:spLocks noChangeArrowheads="1"/>
              </p:cNvSpPr>
              <p:nvPr/>
            </p:nvSpPr>
            <p:spPr bwMode="auto">
              <a:xfrm>
                <a:off x="7820044" y="3776674"/>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3</a:t>
                </a:r>
                <a:endParaRPr lang="en-US" altLang="zh-CN" sz="2400">
                  <a:ea typeface="宋体" charset="-122"/>
                </a:endParaRPr>
              </a:p>
            </p:txBody>
          </p:sp>
          <p:sp>
            <p:nvSpPr>
              <p:cNvPr id="49" name="Rectangle 9"/>
              <p:cNvSpPr>
                <a:spLocks noChangeArrowheads="1"/>
              </p:cNvSpPr>
              <p:nvPr/>
            </p:nvSpPr>
            <p:spPr bwMode="auto">
              <a:xfrm>
                <a:off x="7820044" y="1785926"/>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2</a:t>
                </a:r>
                <a:endParaRPr lang="en-US" altLang="zh-CN" sz="2400">
                  <a:ea typeface="宋体" charset="-122"/>
                </a:endParaRPr>
              </a:p>
            </p:txBody>
          </p:sp>
          <p:sp>
            <p:nvSpPr>
              <p:cNvPr id="50" name="Rectangle 10"/>
              <p:cNvSpPr>
                <a:spLocks noChangeArrowheads="1"/>
              </p:cNvSpPr>
              <p:nvPr/>
            </p:nvSpPr>
            <p:spPr bwMode="auto">
              <a:xfrm>
                <a:off x="5457844" y="1785926"/>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1</a:t>
                </a:r>
                <a:endParaRPr lang="en-US" altLang="zh-CN" sz="2400">
                  <a:ea typeface="宋体" charset="-122"/>
                </a:endParaRPr>
              </a:p>
            </p:txBody>
          </p:sp>
          <p:sp>
            <p:nvSpPr>
              <p:cNvPr id="51" name="Rectangle 11"/>
              <p:cNvSpPr>
                <a:spLocks noChangeArrowheads="1"/>
              </p:cNvSpPr>
              <p:nvPr/>
            </p:nvSpPr>
            <p:spPr bwMode="auto">
              <a:xfrm>
                <a:off x="7824814" y="5314968"/>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1</a:t>
                </a:r>
                <a:endParaRPr lang="en-US" altLang="zh-CN" sz="2400">
                  <a:ea typeface="宋体" charset="-122"/>
                </a:endParaRPr>
              </a:p>
            </p:txBody>
          </p:sp>
          <p:sp>
            <p:nvSpPr>
              <p:cNvPr id="52" name="Rectangle 12"/>
              <p:cNvSpPr>
                <a:spLocks noChangeArrowheads="1"/>
              </p:cNvSpPr>
              <p:nvPr/>
            </p:nvSpPr>
            <p:spPr bwMode="auto">
              <a:xfrm>
                <a:off x="5457844" y="5314968"/>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2</a:t>
                </a:r>
                <a:endParaRPr lang="en-US" altLang="zh-CN" sz="2400">
                  <a:ea typeface="宋体" charset="-122"/>
                </a:endParaRPr>
              </a:p>
            </p:txBody>
          </p:sp>
        </p:grpSp>
        <p:sp>
          <p:nvSpPr>
            <p:cNvPr id="53" name="Rectangle 6"/>
            <p:cNvSpPr>
              <a:spLocks noChangeArrowheads="1"/>
            </p:cNvSpPr>
            <p:nvPr/>
          </p:nvSpPr>
          <p:spPr bwMode="auto">
            <a:xfrm>
              <a:off x="6786578" y="5929330"/>
              <a:ext cx="1728782" cy="381000"/>
            </a:xfrm>
            <a:prstGeom prst="rect">
              <a:avLst/>
            </a:prstGeom>
            <a:noFill/>
            <a:ln w="9525">
              <a:noFill/>
              <a:miter lim="800000"/>
              <a:headEnd/>
              <a:tailEnd/>
            </a:ln>
            <a:effectLst/>
          </p:spPr>
          <p:txBody>
            <a:bodyPr wrap="none" anchor="ctr"/>
            <a:lstStyle/>
            <a:p>
              <a:pPr rtl="0" fontAlgn="base">
                <a:spcBef>
                  <a:spcPct val="0"/>
                </a:spcBef>
                <a:spcAft>
                  <a:spcPct val="0"/>
                </a:spcAft>
              </a:pPr>
              <a:r>
                <a:rPr kumimoji="1" lang="zh-CN" altLang="en-US" sz="2200" b="1" kern="1200">
                  <a:latin typeface="+mn-ea"/>
                  <a:cs typeface="+mn-cs"/>
                </a:rPr>
                <a:t>几何不变体系</a:t>
              </a:r>
            </a:p>
          </p:txBody>
        </p:sp>
        <p:sp>
          <p:nvSpPr>
            <p:cNvPr id="54" name="Rectangle 5"/>
            <p:cNvSpPr>
              <a:spLocks noChangeArrowheads="1"/>
            </p:cNvSpPr>
            <p:nvPr/>
          </p:nvSpPr>
          <p:spPr bwMode="auto">
            <a:xfrm>
              <a:off x="7215206" y="5643578"/>
              <a:ext cx="928694" cy="371475"/>
            </a:xfrm>
            <a:prstGeom prst="rect">
              <a:avLst/>
            </a:prstGeom>
            <a:noFill/>
            <a:ln w="9525">
              <a:noFill/>
              <a:miter lim="800000"/>
              <a:headEnd/>
              <a:tailEnd/>
            </a:ln>
            <a:effectLst/>
          </p:spPr>
          <p:txBody>
            <a:bodyPr wrap="none" anchor="ctr"/>
            <a:lstStyle/>
            <a:p>
              <a:pPr>
                <a:lnSpc>
                  <a:spcPct val="70000"/>
                </a:lnSpc>
                <a:spcBef>
                  <a:spcPct val="0"/>
                </a:spcBef>
              </a:pPr>
              <a:r>
                <a:rPr lang="en-US" altLang="zh-CN" sz="2200" b="1" i="1">
                  <a:solidFill>
                    <a:srgbClr val="0033CC"/>
                  </a:solidFill>
                  <a:latin typeface="Times New Roman" pitchFamily="18" charset="0"/>
                  <a:cs typeface="Times New Roman" pitchFamily="18" charset="0"/>
                </a:rPr>
                <a:t>W </a:t>
              </a:r>
              <a:r>
                <a:rPr lang="en-US" altLang="zh-CN" sz="2200" b="1">
                  <a:solidFill>
                    <a:srgbClr val="0033CC"/>
                  </a:solidFill>
                  <a:latin typeface="Times New Roman" pitchFamily="18" charset="0"/>
                  <a:cs typeface="Times New Roman" pitchFamily="18" charset="0"/>
                </a:rPr>
                <a:t>= 0</a:t>
              </a:r>
            </a:p>
          </p:txBody>
        </p:sp>
      </p:grpSp>
      <p:sp>
        <p:nvSpPr>
          <p:cNvPr id="15"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2"/>
            <a:ext cx="5889637" cy="4732355"/>
          </a:xfrm>
          <a:ln>
            <a:noFill/>
          </a:ln>
        </p:spPr>
        <p:txBody>
          <a:bodyPr/>
          <a:lstStyle/>
          <a:p>
            <a:r>
              <a:rPr lang="zh-CN" altLang="en-US"/>
              <a:t>讨论</a:t>
            </a:r>
            <a:endParaRPr lang="en-US" altLang="zh-CN">
              <a:latin typeface="+mn-ea"/>
            </a:endParaRPr>
          </a:p>
          <a:p>
            <a:pPr lvl="1">
              <a:lnSpc>
                <a:spcPct val="150000"/>
              </a:lnSpc>
              <a:spcBef>
                <a:spcPts val="0"/>
              </a:spcBef>
            </a:pPr>
            <a:r>
              <a:rPr lang="zh-CN" altLang="en-US">
                <a:solidFill>
                  <a:srgbClr val="C00000"/>
                </a:solidFill>
                <a:latin typeface="+mn-ea"/>
              </a:rPr>
              <a:t>多余约束</a:t>
            </a:r>
            <a:endParaRPr lang="en-US" altLang="zh-CN">
              <a:solidFill>
                <a:srgbClr val="C00000"/>
              </a:solidFill>
              <a:latin typeface="+mn-ea"/>
            </a:endParaRPr>
          </a:p>
          <a:p>
            <a:pPr lvl="1">
              <a:lnSpc>
                <a:spcPct val="150000"/>
              </a:lnSpc>
              <a:spcBef>
                <a:spcPts val="0"/>
              </a:spcBef>
              <a:buNone/>
            </a:pPr>
            <a:r>
              <a:rPr lang="zh-CN" altLang="en-US">
                <a:ea typeface="宋体" charset="-122"/>
              </a:rPr>
              <a:t>    除去</a:t>
            </a:r>
            <a:r>
              <a:rPr lang="zh-CN" altLang="en-US">
                <a:latin typeface="+mn-ea"/>
              </a:rPr>
              <a:t>该约束，体系的</a:t>
            </a:r>
            <a:r>
              <a:rPr lang="zh-CN" altLang="en-US">
                <a:solidFill>
                  <a:srgbClr val="C00000"/>
                </a:solidFill>
                <a:latin typeface="+mn-ea"/>
              </a:rPr>
              <a:t>自由度</a:t>
            </a:r>
            <a:r>
              <a:rPr lang="zh-CN" altLang="en-US">
                <a:latin typeface="+mn-ea"/>
              </a:rPr>
              <a:t>并不改变。</a:t>
            </a:r>
            <a:endParaRPr lang="en-US" altLang="zh-CN">
              <a:latin typeface="+mn-ea"/>
            </a:endParaRPr>
          </a:p>
          <a:p>
            <a:pPr lvl="1">
              <a:lnSpc>
                <a:spcPct val="150000"/>
              </a:lnSpc>
              <a:spcBef>
                <a:spcPts val="0"/>
              </a:spcBef>
              <a:buNone/>
            </a:pPr>
            <a:r>
              <a:rPr lang="en-US" altLang="zh-CN">
                <a:latin typeface="+mn-ea"/>
              </a:rPr>
              <a:t>    </a:t>
            </a:r>
            <a:r>
              <a:rPr lang="zh-CN" altLang="en-US">
                <a:latin typeface="+mn-ea"/>
              </a:rPr>
              <a:t>例：右图所示是自由度为</a:t>
            </a:r>
            <a:r>
              <a:rPr lang="en-US" altLang="zh-CN">
                <a:latin typeface="+mn-ea"/>
              </a:rPr>
              <a:t>1</a:t>
            </a:r>
            <a:r>
              <a:rPr lang="zh-CN" altLang="en-US">
                <a:latin typeface="+mn-ea"/>
              </a:rPr>
              <a:t>的几何可变体系。除去图中任意一根红色杆件，体系的自由度依然是</a:t>
            </a:r>
            <a:r>
              <a:rPr lang="en-US" altLang="zh-CN">
                <a:latin typeface="+mn-ea"/>
              </a:rPr>
              <a:t>1</a:t>
            </a:r>
            <a:r>
              <a:rPr lang="zh-CN" altLang="en-US">
                <a:latin typeface="+mn-ea"/>
              </a:rPr>
              <a:t>。</a:t>
            </a:r>
            <a:endParaRPr lang="en-US" altLang="zh-CN">
              <a:latin typeface="+mn-ea"/>
            </a:endParaRPr>
          </a:p>
          <a:p>
            <a:pPr lvl="1">
              <a:lnSpc>
                <a:spcPct val="150000"/>
              </a:lnSpc>
              <a:spcBef>
                <a:spcPts val="0"/>
              </a:spcBef>
              <a:buNone/>
            </a:pPr>
            <a:r>
              <a:rPr lang="en-US" altLang="zh-CN">
                <a:latin typeface="+mn-ea"/>
              </a:rPr>
              <a:t>    </a:t>
            </a:r>
            <a:r>
              <a:rPr lang="zh-CN" altLang="en-US">
                <a:latin typeface="+mn-ea"/>
              </a:rPr>
              <a:t>结论：有一根红色杆件中是多余约束。</a:t>
            </a:r>
          </a:p>
          <a:p>
            <a:pPr lvl="1">
              <a:lnSpc>
                <a:spcPct val="150000"/>
              </a:lnSpc>
              <a:spcBef>
                <a:spcPts val="0"/>
              </a:spcBef>
            </a:pPr>
            <a:endParaRPr lang="en-US" altLang="zh-CN">
              <a:solidFill>
                <a:schemeClr val="tx1"/>
              </a:solidFill>
            </a:endParaRPr>
          </a:p>
          <a:p>
            <a:pPr lvl="1">
              <a:lnSpc>
                <a:spcPct val="130000"/>
              </a:lnSpc>
              <a:spcBef>
                <a:spcPts val="0"/>
              </a:spcBef>
              <a:buNone/>
            </a:pPr>
            <a:r>
              <a:rPr lang="en-US" altLang="zh-CN"/>
              <a:t>    </a:t>
            </a:r>
          </a:p>
        </p:txBody>
      </p:sp>
      <p:sp>
        <p:nvSpPr>
          <p:cNvPr id="2" name="标题 1"/>
          <p:cNvSpPr>
            <a:spLocks noGrp="1"/>
          </p:cNvSpPr>
          <p:nvPr>
            <p:ph type="title"/>
          </p:nvPr>
        </p:nvSpPr>
        <p:spPr>
          <a:xfrm>
            <a:off x="457200" y="260648"/>
            <a:ext cx="8229600" cy="882336"/>
          </a:xfrm>
        </p:spPr>
        <p:txBody>
          <a:bodyPr/>
          <a:lstStyle/>
          <a:p>
            <a:pPr algn="r"/>
            <a:r>
              <a:rPr lang="zh-CN" altLang="en-US"/>
              <a:t>平面杆件体系的计算自由度</a:t>
            </a:r>
          </a:p>
        </p:txBody>
      </p:sp>
      <p:grpSp>
        <p:nvGrpSpPr>
          <p:cNvPr id="30" name="组合 29"/>
          <p:cNvGrpSpPr/>
          <p:nvPr/>
        </p:nvGrpSpPr>
        <p:grpSpPr>
          <a:xfrm>
            <a:off x="6500826" y="1500174"/>
            <a:ext cx="2286016" cy="4568546"/>
            <a:chOff x="6500826" y="1500174"/>
            <a:chExt cx="2286016" cy="4568546"/>
          </a:xfrm>
        </p:grpSpPr>
        <p:grpSp>
          <p:nvGrpSpPr>
            <p:cNvPr id="16" name="组合 43"/>
            <p:cNvGrpSpPr/>
            <p:nvPr/>
          </p:nvGrpSpPr>
          <p:grpSpPr>
            <a:xfrm>
              <a:off x="6500826" y="1500174"/>
              <a:ext cx="2286016" cy="3786213"/>
              <a:chOff x="5429256" y="2143116"/>
              <a:chExt cx="2286016" cy="3786213"/>
            </a:xfrm>
          </p:grpSpPr>
          <p:grpSp>
            <p:nvGrpSpPr>
              <p:cNvPr id="18" name="组合 18"/>
              <p:cNvGrpSpPr/>
              <p:nvPr/>
            </p:nvGrpSpPr>
            <p:grpSpPr>
              <a:xfrm>
                <a:off x="5429256" y="2143116"/>
                <a:ext cx="2286016" cy="3786213"/>
                <a:chOff x="5457844" y="1785926"/>
                <a:chExt cx="2900370" cy="4476781"/>
              </a:xfrm>
            </p:grpSpPr>
            <p:pic>
              <p:nvPicPr>
                <p:cNvPr id="21" name="Picture 2"/>
                <p:cNvPicPr>
                  <a:picLocks noChangeAspect="1" noChangeArrowheads="1"/>
                </p:cNvPicPr>
                <p:nvPr/>
              </p:nvPicPr>
              <p:blipFill>
                <a:blip r:embed="rId3" cstate="print"/>
                <a:srcRect l="8413" t="8621" r="7457" b="5172"/>
                <a:stretch>
                  <a:fillRect/>
                </a:stretch>
              </p:blipFill>
              <p:spPr bwMode="auto">
                <a:xfrm>
                  <a:off x="5643570" y="1857364"/>
                  <a:ext cx="2643206" cy="4405343"/>
                </a:xfrm>
                <a:prstGeom prst="rect">
                  <a:avLst/>
                </a:prstGeom>
                <a:noFill/>
                <a:ln w="9525">
                  <a:noFill/>
                  <a:miter lim="800000"/>
                  <a:headEnd/>
                  <a:tailEnd/>
                </a:ln>
                <a:effectLst/>
              </p:spPr>
            </p:pic>
            <p:sp>
              <p:nvSpPr>
                <p:cNvPr id="22" name="Rectangle 7"/>
                <p:cNvSpPr>
                  <a:spLocks noChangeArrowheads="1"/>
                </p:cNvSpPr>
                <p:nvPr/>
              </p:nvSpPr>
              <p:spPr bwMode="auto">
                <a:xfrm>
                  <a:off x="5457844" y="3776674"/>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3</a:t>
                  </a:r>
                  <a:endParaRPr lang="en-US" altLang="zh-CN" sz="2400">
                    <a:ea typeface="宋体" charset="-122"/>
                  </a:endParaRPr>
                </a:p>
              </p:txBody>
            </p:sp>
            <p:sp>
              <p:nvSpPr>
                <p:cNvPr id="23" name="Rectangle 8"/>
                <p:cNvSpPr>
                  <a:spLocks noChangeArrowheads="1"/>
                </p:cNvSpPr>
                <p:nvPr/>
              </p:nvSpPr>
              <p:spPr bwMode="auto">
                <a:xfrm>
                  <a:off x="7820044" y="3776674"/>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3</a:t>
                  </a:r>
                  <a:endParaRPr lang="en-US" altLang="zh-CN" sz="2400">
                    <a:ea typeface="宋体" charset="-122"/>
                  </a:endParaRPr>
                </a:p>
              </p:txBody>
            </p:sp>
            <p:sp>
              <p:nvSpPr>
                <p:cNvPr id="24" name="Rectangle 9"/>
                <p:cNvSpPr>
                  <a:spLocks noChangeArrowheads="1"/>
                </p:cNvSpPr>
                <p:nvPr/>
              </p:nvSpPr>
              <p:spPr bwMode="auto">
                <a:xfrm>
                  <a:off x="7820044" y="1785926"/>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2</a:t>
                  </a:r>
                  <a:endParaRPr lang="en-US" altLang="zh-CN" sz="2400">
                    <a:ea typeface="宋体" charset="-122"/>
                  </a:endParaRPr>
                </a:p>
              </p:txBody>
            </p:sp>
            <p:sp>
              <p:nvSpPr>
                <p:cNvPr id="25" name="Rectangle 10"/>
                <p:cNvSpPr>
                  <a:spLocks noChangeArrowheads="1"/>
                </p:cNvSpPr>
                <p:nvPr/>
              </p:nvSpPr>
              <p:spPr bwMode="auto">
                <a:xfrm>
                  <a:off x="5457844" y="1785926"/>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2</a:t>
                  </a:r>
                  <a:endParaRPr lang="en-US" altLang="zh-CN" sz="2400">
                    <a:ea typeface="宋体" charset="-122"/>
                  </a:endParaRPr>
                </a:p>
              </p:txBody>
            </p:sp>
            <p:sp>
              <p:nvSpPr>
                <p:cNvPr id="26" name="Rectangle 11"/>
                <p:cNvSpPr>
                  <a:spLocks noChangeArrowheads="1"/>
                </p:cNvSpPr>
                <p:nvPr/>
              </p:nvSpPr>
              <p:spPr bwMode="auto">
                <a:xfrm>
                  <a:off x="7824814" y="5314968"/>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1</a:t>
                  </a:r>
                  <a:endParaRPr lang="en-US" altLang="zh-CN" sz="2400">
                    <a:ea typeface="宋体" charset="-122"/>
                  </a:endParaRPr>
                </a:p>
              </p:txBody>
            </p:sp>
            <p:sp>
              <p:nvSpPr>
                <p:cNvPr id="27" name="Rectangle 12"/>
                <p:cNvSpPr>
                  <a:spLocks noChangeArrowheads="1"/>
                </p:cNvSpPr>
                <p:nvPr/>
              </p:nvSpPr>
              <p:spPr bwMode="auto">
                <a:xfrm>
                  <a:off x="5457844" y="5314968"/>
                  <a:ext cx="533400" cy="685800"/>
                </a:xfrm>
                <a:prstGeom prst="rect">
                  <a:avLst/>
                </a:prstGeom>
                <a:noFill/>
                <a:ln w="9525">
                  <a:noFill/>
                  <a:miter lim="800000"/>
                  <a:headEnd/>
                  <a:tailEnd/>
                </a:ln>
                <a:effectLst/>
              </p:spPr>
              <p:txBody>
                <a:bodyPr wrap="none" anchor="ctr"/>
                <a:lstStyle/>
                <a:p>
                  <a:pPr algn="ctr">
                    <a:spcBef>
                      <a:spcPct val="0"/>
                    </a:spcBef>
                  </a:pPr>
                  <a:r>
                    <a:rPr lang="en-US" altLang="zh-CN" sz="2400">
                      <a:solidFill>
                        <a:srgbClr val="800000"/>
                      </a:solidFill>
                      <a:ea typeface="宋体" charset="-122"/>
                    </a:rPr>
                    <a:t>1</a:t>
                  </a:r>
                  <a:endParaRPr lang="en-US" altLang="zh-CN" sz="2400">
                    <a:ea typeface="宋体" charset="-122"/>
                  </a:endParaRPr>
                </a:p>
              </p:txBody>
            </p:sp>
          </p:grpSp>
          <p:sp>
            <p:nvSpPr>
              <p:cNvPr id="19" name="圆角矩形 18"/>
              <p:cNvSpPr/>
              <p:nvPr/>
            </p:nvSpPr>
            <p:spPr bwMode="auto">
              <a:xfrm>
                <a:off x="5885180" y="3999600"/>
                <a:ext cx="1458000" cy="1571636"/>
              </a:xfrm>
              <a:prstGeom prst="roundRect">
                <a:avLst>
                  <a:gd name="adj" fmla="val 8243"/>
                </a:avLst>
              </a:prstGeom>
              <a:solidFill>
                <a:schemeClr val="bg1"/>
              </a:solidFill>
              <a:ln w="2857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cxnSp>
            <p:nvCxnSpPr>
              <p:cNvPr id="20" name="直接连接符 19"/>
              <p:cNvCxnSpPr/>
              <p:nvPr/>
            </p:nvCxnSpPr>
            <p:spPr bwMode="auto">
              <a:xfrm rot="16200000" flipH="1">
                <a:off x="5830588" y="2456164"/>
                <a:ext cx="1571636" cy="1428760"/>
              </a:xfrm>
              <a:prstGeom prst="line">
                <a:avLst/>
              </a:prstGeom>
              <a:solidFill>
                <a:schemeClr val="accent1"/>
              </a:solidFill>
              <a:ln w="44450" cap="flat" cmpd="sng" algn="ctr">
                <a:solidFill>
                  <a:srgbClr val="C00000"/>
                </a:solidFill>
                <a:prstDash val="solid"/>
                <a:round/>
                <a:headEnd type="none" w="med" len="med"/>
                <a:tailEnd type="none"/>
              </a:ln>
              <a:effectLst/>
            </p:spPr>
          </p:cxnSp>
        </p:grpSp>
        <p:sp>
          <p:nvSpPr>
            <p:cNvPr id="28" name="Rectangle 6"/>
            <p:cNvSpPr>
              <a:spLocks noChangeArrowheads="1"/>
            </p:cNvSpPr>
            <p:nvPr/>
          </p:nvSpPr>
          <p:spPr bwMode="auto">
            <a:xfrm>
              <a:off x="6786578" y="5687720"/>
              <a:ext cx="1728782" cy="381000"/>
            </a:xfrm>
            <a:prstGeom prst="rect">
              <a:avLst/>
            </a:prstGeom>
            <a:noFill/>
            <a:ln w="9525">
              <a:noFill/>
              <a:miter lim="800000"/>
              <a:headEnd/>
              <a:tailEnd/>
            </a:ln>
            <a:effectLst/>
          </p:spPr>
          <p:txBody>
            <a:bodyPr wrap="none" anchor="ctr"/>
            <a:lstStyle/>
            <a:p>
              <a:pPr rtl="0" fontAlgn="base">
                <a:spcBef>
                  <a:spcPct val="0"/>
                </a:spcBef>
                <a:spcAft>
                  <a:spcPct val="0"/>
                </a:spcAft>
              </a:pPr>
              <a:r>
                <a:rPr kumimoji="1" lang="zh-CN" altLang="en-US" sz="2200" b="1" kern="1200">
                  <a:latin typeface="+mn-ea"/>
                  <a:cs typeface="+mn-cs"/>
                </a:rPr>
                <a:t>几何可变体系</a:t>
              </a:r>
            </a:p>
          </p:txBody>
        </p:sp>
        <p:sp>
          <p:nvSpPr>
            <p:cNvPr id="29" name="Rectangle 5"/>
            <p:cNvSpPr>
              <a:spLocks noChangeArrowheads="1"/>
            </p:cNvSpPr>
            <p:nvPr/>
          </p:nvSpPr>
          <p:spPr bwMode="auto">
            <a:xfrm>
              <a:off x="7215206" y="5401968"/>
              <a:ext cx="928694" cy="371475"/>
            </a:xfrm>
            <a:prstGeom prst="rect">
              <a:avLst/>
            </a:prstGeom>
            <a:noFill/>
            <a:ln w="9525">
              <a:noFill/>
              <a:miter lim="800000"/>
              <a:headEnd/>
              <a:tailEnd/>
            </a:ln>
            <a:effectLst/>
          </p:spPr>
          <p:txBody>
            <a:bodyPr wrap="none" anchor="ctr"/>
            <a:lstStyle/>
            <a:p>
              <a:pPr>
                <a:lnSpc>
                  <a:spcPct val="70000"/>
                </a:lnSpc>
                <a:spcBef>
                  <a:spcPct val="0"/>
                </a:spcBef>
              </a:pPr>
              <a:r>
                <a:rPr lang="en-US" altLang="zh-CN" sz="2200" b="1" i="1">
                  <a:solidFill>
                    <a:srgbClr val="0033CC"/>
                  </a:solidFill>
                  <a:latin typeface="Times New Roman" pitchFamily="18" charset="0"/>
                  <a:cs typeface="Times New Roman" pitchFamily="18" charset="0"/>
                </a:rPr>
                <a:t>W </a:t>
              </a:r>
              <a:r>
                <a:rPr lang="en-US" altLang="zh-CN" sz="2200" b="1">
                  <a:solidFill>
                    <a:srgbClr val="0033CC"/>
                  </a:solidFill>
                  <a:latin typeface="Times New Roman" pitchFamily="18" charset="0"/>
                  <a:cs typeface="Times New Roman" pitchFamily="18" charset="0"/>
                </a:rPr>
                <a:t>= 0</a:t>
              </a:r>
            </a:p>
          </p:txBody>
        </p:sp>
      </p:grpSp>
      <p:cxnSp>
        <p:nvCxnSpPr>
          <p:cNvPr id="31" name="直接连接符 30"/>
          <p:cNvCxnSpPr>
            <a:stCxn id="24" idx="1"/>
          </p:cNvCxnSpPr>
          <p:nvPr/>
        </p:nvCxnSpPr>
        <p:spPr bwMode="auto">
          <a:xfrm rot="10800000" flipV="1">
            <a:off x="6956751" y="1790179"/>
            <a:ext cx="1405916" cy="1495945"/>
          </a:xfrm>
          <a:prstGeom prst="line">
            <a:avLst/>
          </a:prstGeom>
          <a:solidFill>
            <a:schemeClr val="accent1"/>
          </a:solidFill>
          <a:ln w="44450" cap="flat" cmpd="sng" algn="ctr">
            <a:solidFill>
              <a:srgbClr val="C00000"/>
            </a:solidFill>
            <a:prstDash val="solid"/>
            <a:round/>
            <a:headEnd type="none" w="med" len="med"/>
            <a:tailEnd type="none"/>
          </a:ln>
          <a:effectLst/>
        </p:spPr>
      </p:cxnSp>
      <p:cxnSp>
        <p:nvCxnSpPr>
          <p:cNvPr id="37" name="直接连接符 36"/>
          <p:cNvCxnSpPr/>
          <p:nvPr/>
        </p:nvCxnSpPr>
        <p:spPr bwMode="auto">
          <a:xfrm>
            <a:off x="6973596" y="1714488"/>
            <a:ext cx="1428760" cy="1588"/>
          </a:xfrm>
          <a:prstGeom prst="line">
            <a:avLst/>
          </a:prstGeom>
          <a:solidFill>
            <a:schemeClr val="accent1"/>
          </a:solidFill>
          <a:ln w="34925" cap="flat" cmpd="sng" algn="ctr">
            <a:solidFill>
              <a:srgbClr val="C00000"/>
            </a:solidFill>
            <a:prstDash val="solid"/>
            <a:round/>
            <a:headEnd type="none" w="med" len="med"/>
            <a:tailEnd type="none"/>
          </a:ln>
          <a:effectLst/>
        </p:spPr>
      </p:cxnSp>
      <p:cxnSp>
        <p:nvCxnSpPr>
          <p:cNvPr id="38" name="直接连接符 37"/>
          <p:cNvCxnSpPr/>
          <p:nvPr/>
        </p:nvCxnSpPr>
        <p:spPr bwMode="auto">
          <a:xfrm>
            <a:off x="7000892" y="3328678"/>
            <a:ext cx="1428760" cy="1588"/>
          </a:xfrm>
          <a:prstGeom prst="line">
            <a:avLst/>
          </a:prstGeom>
          <a:solidFill>
            <a:schemeClr val="accent1"/>
          </a:solidFill>
          <a:ln w="38100" cap="flat" cmpd="sng" algn="ctr">
            <a:solidFill>
              <a:srgbClr val="C00000"/>
            </a:solidFill>
            <a:prstDash val="solid"/>
            <a:round/>
            <a:headEnd type="none" w="med" len="med"/>
            <a:tailEnd type="none"/>
          </a:ln>
          <a:effectLst/>
        </p:spPr>
      </p:cxnSp>
      <p:cxnSp>
        <p:nvCxnSpPr>
          <p:cNvPr id="40" name="直接连接符 39"/>
          <p:cNvCxnSpPr/>
          <p:nvPr/>
        </p:nvCxnSpPr>
        <p:spPr bwMode="auto">
          <a:xfrm>
            <a:off x="6934890" y="1790180"/>
            <a:ext cx="8212" cy="1495944"/>
          </a:xfrm>
          <a:prstGeom prst="line">
            <a:avLst/>
          </a:prstGeom>
          <a:solidFill>
            <a:schemeClr val="accent1"/>
          </a:solidFill>
          <a:ln w="38100" cap="flat" cmpd="sng" algn="ctr">
            <a:solidFill>
              <a:srgbClr val="C00000"/>
            </a:solidFill>
            <a:prstDash val="solid"/>
            <a:round/>
            <a:headEnd type="none" w="med" len="med"/>
            <a:tailEnd type="none"/>
          </a:ln>
          <a:effectLst/>
        </p:spPr>
      </p:cxnSp>
      <p:cxnSp>
        <p:nvCxnSpPr>
          <p:cNvPr id="41" name="直接连接符 40"/>
          <p:cNvCxnSpPr/>
          <p:nvPr/>
        </p:nvCxnSpPr>
        <p:spPr bwMode="auto">
          <a:xfrm>
            <a:off x="8421440" y="1785926"/>
            <a:ext cx="8212" cy="1495944"/>
          </a:xfrm>
          <a:prstGeom prst="line">
            <a:avLst/>
          </a:prstGeom>
          <a:solidFill>
            <a:schemeClr val="accent1"/>
          </a:solidFill>
          <a:ln w="38100" cap="flat" cmpd="sng" algn="ctr">
            <a:solidFill>
              <a:srgbClr val="C00000"/>
            </a:solidFill>
            <a:prstDash val="solid"/>
            <a:round/>
            <a:headEnd type="none" w="med" len="med"/>
            <a:tailEnd type="none"/>
          </a:ln>
          <a:effectLst/>
        </p:spPr>
      </p:cxnSp>
      <p:sp>
        <p:nvSpPr>
          <p:cNvPr id="43" name="矩形 42"/>
          <p:cNvSpPr/>
          <p:nvPr/>
        </p:nvSpPr>
        <p:spPr>
          <a:xfrm>
            <a:off x="840378" y="4429133"/>
            <a:ext cx="5731886" cy="2179058"/>
          </a:xfrm>
          <a:prstGeom prst="rect">
            <a:avLst/>
          </a:prstGeom>
        </p:spPr>
        <p:txBody>
          <a:bodyPr wrap="square">
            <a:spAutoFit/>
          </a:bodyPr>
          <a:lstStyle/>
          <a:p>
            <a:pPr marL="342900" lvl="0" indent="-342900" fontAlgn="base">
              <a:lnSpc>
                <a:spcPct val="120000"/>
              </a:lnSpc>
              <a:spcBef>
                <a:spcPct val="20000"/>
              </a:spcBef>
              <a:spcAft>
                <a:spcPct val="0"/>
              </a:spcAft>
              <a:buFont typeface="Wingdings" pitchFamily="2" charset="2"/>
              <a:buChar char="n"/>
            </a:pPr>
            <a:r>
              <a:rPr lang="zh-CN" altLang="en-US" sz="2000" b="1" kern="0">
                <a:solidFill>
                  <a:srgbClr val="C00000"/>
                </a:solidFill>
              </a:rPr>
              <a:t>计算自由度和自由度的关系</a:t>
            </a:r>
            <a:endParaRPr lang="en-US" altLang="zh-CN" sz="2000" b="1" kern="0">
              <a:solidFill>
                <a:srgbClr val="C00000"/>
              </a:solidFill>
            </a:endParaRPr>
          </a:p>
          <a:p>
            <a:pPr marL="342900" lvl="0" indent="-342900" fontAlgn="base">
              <a:lnSpc>
                <a:spcPct val="120000"/>
              </a:lnSpc>
              <a:spcBef>
                <a:spcPct val="20000"/>
              </a:spcBef>
              <a:spcAft>
                <a:spcPct val="0"/>
              </a:spcAft>
            </a:pPr>
            <a:r>
              <a:rPr lang="en-US" altLang="zh-CN" sz="2400" b="1" i="1" kern="0">
                <a:latin typeface="Times New Roman" pitchFamily="18" charset="0"/>
                <a:cs typeface="Times New Roman" pitchFamily="18" charset="0"/>
              </a:rPr>
              <a:t>                            S </a:t>
            </a:r>
            <a:r>
              <a:rPr lang="en-US" altLang="zh-CN" sz="2400" b="1" kern="0">
                <a:latin typeface="Times New Roman" pitchFamily="18" charset="0"/>
                <a:cs typeface="Times New Roman" pitchFamily="18" charset="0"/>
              </a:rPr>
              <a:t>=</a:t>
            </a:r>
            <a:r>
              <a:rPr lang="en-US" altLang="zh-CN" sz="2400" b="1" i="1" kern="0">
                <a:latin typeface="Times New Roman" pitchFamily="18" charset="0"/>
                <a:cs typeface="Times New Roman" pitchFamily="18" charset="0"/>
              </a:rPr>
              <a:t> n + W</a:t>
            </a:r>
            <a:endParaRPr lang="en-US" altLang="zh-CN" sz="2400" b="1" kern="0">
              <a:solidFill>
                <a:srgbClr val="C00000"/>
              </a:solidFill>
            </a:endParaRPr>
          </a:p>
          <a:p>
            <a:pPr marL="742950" lvl="1" indent="-387350" fontAlgn="base">
              <a:lnSpc>
                <a:spcPct val="130000"/>
              </a:lnSpc>
              <a:spcAft>
                <a:spcPct val="0"/>
              </a:spcAft>
            </a:pPr>
            <a:r>
              <a:rPr lang="en-US" altLang="zh-CN" sz="2000" b="1" i="1" kern="0">
                <a:latin typeface="Times New Roman" pitchFamily="18" charset="0"/>
                <a:cs typeface="Times New Roman" pitchFamily="18" charset="0"/>
              </a:rPr>
              <a:t>S  </a:t>
            </a:r>
            <a:r>
              <a:rPr lang="en-US" altLang="zh-CN" sz="2000" b="1" kern="0">
                <a:latin typeface="Times New Roman" pitchFamily="18" charset="0"/>
                <a:cs typeface="Times New Roman" pitchFamily="18" charset="0"/>
              </a:rPr>
              <a:t>: </a:t>
            </a:r>
            <a:r>
              <a:rPr lang="zh-CN" altLang="en-US" sz="2000" b="1" kern="0">
                <a:latin typeface="Times New Roman" pitchFamily="18" charset="0"/>
                <a:cs typeface="Times New Roman" pitchFamily="18" charset="0"/>
              </a:rPr>
              <a:t>体系的</a:t>
            </a:r>
            <a:r>
              <a:rPr lang="zh-CN" altLang="en-US" sz="2000" b="1"/>
              <a:t>自由度</a:t>
            </a:r>
            <a:endParaRPr lang="en-US" altLang="zh-CN" sz="2000" b="1">
              <a:solidFill>
                <a:srgbClr val="C00000"/>
              </a:solidFill>
            </a:endParaRPr>
          </a:p>
          <a:p>
            <a:pPr marL="742950" lvl="1" indent="-387350" fontAlgn="base">
              <a:lnSpc>
                <a:spcPct val="130000"/>
              </a:lnSpc>
              <a:spcAft>
                <a:spcPct val="0"/>
              </a:spcAft>
            </a:pPr>
            <a:r>
              <a:rPr lang="en-US" altLang="zh-CN" sz="2000" b="1" i="1" kern="0">
                <a:latin typeface="Times New Roman" pitchFamily="18" charset="0"/>
                <a:cs typeface="Times New Roman" pitchFamily="18" charset="0"/>
              </a:rPr>
              <a:t>n  </a:t>
            </a:r>
            <a:r>
              <a:rPr lang="en-US" altLang="zh-CN" sz="2000" b="1" kern="0">
                <a:latin typeface="Times New Roman" pitchFamily="18" charset="0"/>
                <a:cs typeface="Times New Roman" pitchFamily="18" charset="0"/>
              </a:rPr>
              <a:t>: </a:t>
            </a:r>
            <a:r>
              <a:rPr lang="zh-CN" altLang="en-US" sz="2000" b="1" kern="0">
                <a:latin typeface="Times New Roman" pitchFamily="18" charset="0"/>
                <a:cs typeface="Times New Roman" pitchFamily="18" charset="0"/>
              </a:rPr>
              <a:t>体系的多余约束数</a:t>
            </a:r>
            <a:endParaRPr lang="en-US" altLang="zh-CN" sz="2000" b="1" kern="0">
              <a:latin typeface="Times New Roman" pitchFamily="18" charset="0"/>
              <a:cs typeface="Times New Roman" pitchFamily="18" charset="0"/>
            </a:endParaRPr>
          </a:p>
          <a:p>
            <a:pPr marL="742950" lvl="1" indent="-387350" fontAlgn="base">
              <a:lnSpc>
                <a:spcPct val="130000"/>
              </a:lnSpc>
              <a:spcAft>
                <a:spcPct val="0"/>
              </a:spcAft>
            </a:pPr>
            <a:r>
              <a:rPr lang="en-US" altLang="zh-CN" sz="2000" b="1" i="1" kern="0">
                <a:latin typeface="Times New Roman" pitchFamily="18" charset="0"/>
                <a:cs typeface="Times New Roman" pitchFamily="18" charset="0"/>
              </a:rPr>
              <a:t>W</a:t>
            </a:r>
            <a:r>
              <a:rPr lang="en-US" altLang="zh-CN" sz="2000" b="1" kern="0">
                <a:latin typeface="Times New Roman" pitchFamily="18" charset="0"/>
                <a:cs typeface="Times New Roman" pitchFamily="18" charset="0"/>
              </a:rPr>
              <a:t>:  </a:t>
            </a:r>
            <a:r>
              <a:rPr lang="zh-CN" altLang="en-US" sz="2000" b="1" kern="0">
                <a:latin typeface="Times New Roman" pitchFamily="18" charset="0"/>
                <a:cs typeface="Times New Roman" pitchFamily="18" charset="0"/>
              </a:rPr>
              <a:t>体系的计算自由度</a:t>
            </a:r>
            <a:endParaRPr lang="en-US" altLang="zh-CN" sz="2000" b="1" kern="0">
              <a:latin typeface="Times New Roman" pitchFamily="18" charset="0"/>
              <a:cs typeface="Times New Roman" pitchFamily="18" charset="0"/>
            </a:endParaRPr>
          </a:p>
        </p:txBody>
      </p:sp>
      <p:sp>
        <p:nvSpPr>
          <p:cNvPr id="32"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xEl>
                                              <p:pRg st="0" end="0"/>
                                            </p:txEl>
                                          </p:spTgt>
                                        </p:tgtEl>
                                        <p:attrNameLst>
                                          <p:attrName>style.visibility</p:attrName>
                                        </p:attrNameLst>
                                      </p:cBhvr>
                                      <p:to>
                                        <p:strVal val="visible"/>
                                      </p:to>
                                    </p:set>
                                    <p:animEffect transition="in" filter="fade">
                                      <p:cBhvr>
                                        <p:cTn id="7" dur="2000"/>
                                        <p:tgtEl>
                                          <p:spTgt spid="4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3">
                                            <p:txEl>
                                              <p:pRg st="1" end="1"/>
                                            </p:txEl>
                                          </p:spTgt>
                                        </p:tgtEl>
                                        <p:attrNameLst>
                                          <p:attrName>style.visibility</p:attrName>
                                        </p:attrNameLst>
                                      </p:cBhvr>
                                      <p:to>
                                        <p:strVal val="visible"/>
                                      </p:to>
                                    </p:set>
                                    <p:animEffect transition="in" filter="fade">
                                      <p:cBhvr>
                                        <p:cTn id="10" dur="2000"/>
                                        <p:tgtEl>
                                          <p:spTgt spid="4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
                                            <p:txEl>
                                              <p:pRg st="2" end="2"/>
                                            </p:txEl>
                                          </p:spTgt>
                                        </p:tgtEl>
                                        <p:attrNameLst>
                                          <p:attrName>style.visibility</p:attrName>
                                        </p:attrNameLst>
                                      </p:cBhvr>
                                      <p:to>
                                        <p:strVal val="visible"/>
                                      </p:to>
                                    </p:set>
                                    <p:animEffect transition="in" filter="fade">
                                      <p:cBhvr>
                                        <p:cTn id="13" dur="2000"/>
                                        <p:tgtEl>
                                          <p:spTgt spid="4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3">
                                            <p:txEl>
                                              <p:pRg st="3" end="3"/>
                                            </p:txEl>
                                          </p:spTgt>
                                        </p:tgtEl>
                                        <p:attrNameLst>
                                          <p:attrName>style.visibility</p:attrName>
                                        </p:attrNameLst>
                                      </p:cBhvr>
                                      <p:to>
                                        <p:strVal val="visible"/>
                                      </p:to>
                                    </p:set>
                                    <p:animEffect transition="in" filter="fade">
                                      <p:cBhvr>
                                        <p:cTn id="16" dur="2000"/>
                                        <p:tgtEl>
                                          <p:spTgt spid="4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3">
                                            <p:txEl>
                                              <p:pRg st="4" end="4"/>
                                            </p:txEl>
                                          </p:spTgt>
                                        </p:tgtEl>
                                        <p:attrNameLst>
                                          <p:attrName>style.visibility</p:attrName>
                                        </p:attrNameLst>
                                      </p:cBhvr>
                                      <p:to>
                                        <p:strVal val="visible"/>
                                      </p:to>
                                    </p:set>
                                    <p:animEffect transition="in" filter="fade">
                                      <p:cBhvr>
                                        <p:cTn id="19" dur="2000"/>
                                        <p:tgtEl>
                                          <p:spTgt spid="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uild="allAtOnce"/>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2"/>
            <a:ext cx="8207375" cy="5018107"/>
          </a:xfrm>
          <a:ln>
            <a:noFill/>
          </a:ln>
        </p:spPr>
        <p:txBody>
          <a:bodyPr/>
          <a:lstStyle/>
          <a:p>
            <a:r>
              <a:rPr lang="zh-CN" altLang="en-US"/>
              <a:t>讨论</a:t>
            </a:r>
            <a:endParaRPr lang="en-US" altLang="zh-CN"/>
          </a:p>
          <a:p>
            <a:pPr lvl="1">
              <a:lnSpc>
                <a:spcPct val="150000"/>
              </a:lnSpc>
              <a:spcBef>
                <a:spcPts val="0"/>
              </a:spcBef>
            </a:pPr>
            <a:r>
              <a:rPr lang="zh-CN" altLang="en-US">
                <a:solidFill>
                  <a:schemeClr val="tx2"/>
                </a:solidFill>
                <a:latin typeface="楷体_GB2312" pitchFamily="49" charset="-122"/>
              </a:rPr>
              <a:t>计算自由度和几何可变</a:t>
            </a:r>
            <a:endParaRPr lang="zh-CN" altLang="en-US" b="0">
              <a:ea typeface="宋体" charset="-122"/>
            </a:endParaRPr>
          </a:p>
          <a:p>
            <a:pPr lvl="1">
              <a:lnSpc>
                <a:spcPct val="150000"/>
              </a:lnSpc>
              <a:spcBef>
                <a:spcPts val="0"/>
              </a:spcBef>
            </a:pPr>
            <a:endParaRPr lang="en-US" altLang="zh-CN">
              <a:solidFill>
                <a:schemeClr val="tx1"/>
              </a:solidFill>
            </a:endParaRPr>
          </a:p>
          <a:p>
            <a:pPr lvl="1">
              <a:lnSpc>
                <a:spcPct val="130000"/>
              </a:lnSpc>
              <a:spcBef>
                <a:spcPts val="0"/>
              </a:spcBef>
              <a:buNone/>
            </a:pPr>
            <a:r>
              <a:rPr lang="en-US" altLang="zh-CN"/>
              <a:t>    </a:t>
            </a:r>
          </a:p>
        </p:txBody>
      </p:sp>
      <p:sp>
        <p:nvSpPr>
          <p:cNvPr id="2" name="标题 1"/>
          <p:cNvSpPr>
            <a:spLocks noGrp="1"/>
          </p:cNvSpPr>
          <p:nvPr>
            <p:ph type="title"/>
          </p:nvPr>
        </p:nvSpPr>
        <p:spPr>
          <a:xfrm>
            <a:off x="457200" y="260648"/>
            <a:ext cx="8229600" cy="882336"/>
          </a:xfrm>
        </p:spPr>
        <p:txBody>
          <a:bodyPr/>
          <a:lstStyle/>
          <a:p>
            <a:pPr algn="r"/>
            <a:r>
              <a:rPr lang="zh-CN" altLang="en-US"/>
              <a:t>平面杆件体系的计算自由度</a:t>
            </a:r>
          </a:p>
        </p:txBody>
      </p:sp>
      <p:pic>
        <p:nvPicPr>
          <p:cNvPr id="81921" name="Picture 1" descr="C:\Users\Administrator\AppData\Roaming\Tencent\Users\174520645\QQ\WinTemp\RichOle\`@C(KEX$ZIF~]5J37LI_{8Y.png"/>
          <p:cNvPicPr>
            <a:picLocks noChangeAspect="1" noChangeArrowheads="1"/>
          </p:cNvPicPr>
          <p:nvPr/>
        </p:nvPicPr>
        <p:blipFill>
          <a:blip r:embed="rId3" cstate="print"/>
          <a:srcRect/>
          <a:stretch>
            <a:fillRect/>
          </a:stretch>
        </p:blipFill>
        <p:spPr bwMode="auto">
          <a:xfrm>
            <a:off x="1500166" y="2214554"/>
            <a:ext cx="2276475" cy="3800475"/>
          </a:xfrm>
          <a:prstGeom prst="rect">
            <a:avLst/>
          </a:prstGeom>
          <a:noFill/>
        </p:spPr>
      </p:pic>
      <p:grpSp>
        <p:nvGrpSpPr>
          <p:cNvPr id="4" name="组合 33"/>
          <p:cNvGrpSpPr/>
          <p:nvPr/>
        </p:nvGrpSpPr>
        <p:grpSpPr>
          <a:xfrm>
            <a:off x="1785918" y="5929330"/>
            <a:ext cx="1857388" cy="639456"/>
            <a:chOff x="5715008" y="5929330"/>
            <a:chExt cx="1857388" cy="639456"/>
          </a:xfrm>
        </p:grpSpPr>
        <p:sp>
          <p:nvSpPr>
            <p:cNvPr id="45" name="矩形 44"/>
            <p:cNvSpPr/>
            <p:nvPr/>
          </p:nvSpPr>
          <p:spPr>
            <a:xfrm>
              <a:off x="6200232" y="5929330"/>
              <a:ext cx="872098" cy="329321"/>
            </a:xfrm>
            <a:prstGeom prst="rect">
              <a:avLst/>
            </a:prstGeom>
          </p:spPr>
          <p:txBody>
            <a:bodyPr wrap="none">
              <a:spAutoFit/>
            </a:bodyPr>
            <a:lstStyle/>
            <a:p>
              <a:pPr>
                <a:lnSpc>
                  <a:spcPct val="70000"/>
                </a:lnSpc>
                <a:spcBef>
                  <a:spcPct val="0"/>
                </a:spcBef>
              </a:pPr>
              <a:r>
                <a:rPr lang="en-US" altLang="zh-CN" sz="2200" b="1" i="1">
                  <a:solidFill>
                    <a:srgbClr val="0033CC"/>
                  </a:solidFill>
                  <a:latin typeface="Times New Roman" pitchFamily="18" charset="0"/>
                  <a:cs typeface="Times New Roman" pitchFamily="18" charset="0"/>
                </a:rPr>
                <a:t>W </a:t>
              </a:r>
              <a:r>
                <a:rPr lang="en-US" altLang="zh-CN" sz="2200" b="1">
                  <a:solidFill>
                    <a:srgbClr val="0033CC"/>
                  </a:solidFill>
                  <a:latin typeface="Times New Roman" pitchFamily="18" charset="0"/>
                  <a:cs typeface="Times New Roman" pitchFamily="18" charset="0"/>
                </a:rPr>
                <a:t>= 0</a:t>
              </a:r>
            </a:p>
          </p:txBody>
        </p:sp>
        <p:sp>
          <p:nvSpPr>
            <p:cNvPr id="48" name="Rectangle 6"/>
            <p:cNvSpPr>
              <a:spLocks noChangeArrowheads="1"/>
            </p:cNvSpPr>
            <p:nvPr/>
          </p:nvSpPr>
          <p:spPr bwMode="auto">
            <a:xfrm>
              <a:off x="5715008" y="6187786"/>
              <a:ext cx="1857388" cy="381000"/>
            </a:xfrm>
            <a:prstGeom prst="rect">
              <a:avLst/>
            </a:prstGeom>
            <a:noFill/>
            <a:ln w="9525">
              <a:noFill/>
              <a:miter lim="800000"/>
              <a:headEnd/>
              <a:tailEnd/>
            </a:ln>
            <a:effectLst/>
          </p:spPr>
          <p:txBody>
            <a:bodyPr wrap="none" anchor="ctr"/>
            <a:lstStyle/>
            <a:p>
              <a:pPr rtl="0" fontAlgn="base">
                <a:spcBef>
                  <a:spcPct val="0"/>
                </a:spcBef>
                <a:spcAft>
                  <a:spcPct val="0"/>
                </a:spcAft>
              </a:pPr>
              <a:r>
                <a:rPr kumimoji="1" lang="zh-CN" altLang="en-US" sz="2200" b="1" kern="1200">
                  <a:latin typeface="+mn-ea"/>
                  <a:cs typeface="+mn-cs"/>
                </a:rPr>
                <a:t>几何可变体系</a:t>
              </a:r>
            </a:p>
          </p:txBody>
        </p:sp>
      </p:grpSp>
      <p:sp>
        <p:nvSpPr>
          <p:cNvPr id="35" name="Rectangle 6"/>
          <p:cNvSpPr>
            <a:spLocks noChangeArrowheads="1"/>
          </p:cNvSpPr>
          <p:nvPr/>
        </p:nvSpPr>
        <p:spPr bwMode="auto">
          <a:xfrm>
            <a:off x="5072066" y="2714620"/>
            <a:ext cx="3286148" cy="857256"/>
          </a:xfrm>
          <a:prstGeom prst="rect">
            <a:avLst/>
          </a:prstGeom>
          <a:noFill/>
          <a:ln w="9525">
            <a:noFill/>
            <a:miter lim="800000"/>
            <a:headEnd/>
            <a:tailEnd/>
          </a:ln>
          <a:effectLst/>
        </p:spPr>
        <p:txBody>
          <a:bodyPr wrap="none" anchor="ctr"/>
          <a:lstStyle/>
          <a:p>
            <a:pPr rtl="0" fontAlgn="base">
              <a:lnSpc>
                <a:spcPct val="130000"/>
              </a:lnSpc>
              <a:spcBef>
                <a:spcPct val="0"/>
              </a:spcBef>
              <a:spcAft>
                <a:spcPct val="0"/>
              </a:spcAft>
            </a:pPr>
            <a:r>
              <a:rPr kumimoji="1" lang="zh-CN" altLang="en-US" sz="2200" b="1">
                <a:latin typeface="+mn-ea"/>
              </a:rPr>
              <a:t>结论</a:t>
            </a:r>
            <a:r>
              <a:rPr kumimoji="1" lang="en-US" altLang="zh-CN" sz="2200" b="1">
                <a:latin typeface="+mn-ea"/>
              </a:rPr>
              <a:t>1</a:t>
            </a:r>
            <a:r>
              <a:rPr kumimoji="1" lang="zh-CN" altLang="en-US" sz="2200" b="1">
                <a:latin typeface="+mn-ea"/>
              </a:rPr>
              <a:t>：计算自由度为</a:t>
            </a:r>
            <a:r>
              <a:rPr kumimoji="1" lang="en-US" altLang="zh-CN" sz="2200" b="1">
                <a:latin typeface="+mn-ea"/>
              </a:rPr>
              <a:t>0</a:t>
            </a:r>
            <a:r>
              <a:rPr kumimoji="1" lang="zh-CN" altLang="en-US" sz="2200" b="1">
                <a:latin typeface="+mn-ea"/>
              </a:rPr>
              <a:t>，</a:t>
            </a:r>
            <a:endParaRPr kumimoji="1" lang="en-US" altLang="zh-CN" sz="2200" b="1">
              <a:latin typeface="+mn-ea"/>
            </a:endParaRPr>
          </a:p>
          <a:p>
            <a:pPr rtl="0" fontAlgn="base">
              <a:spcBef>
                <a:spcPct val="0"/>
              </a:spcBef>
              <a:spcAft>
                <a:spcPct val="0"/>
              </a:spcAft>
            </a:pPr>
            <a:r>
              <a:rPr kumimoji="1" lang="zh-CN" altLang="en-US" sz="2200" b="1">
                <a:latin typeface="+mn-ea"/>
              </a:rPr>
              <a:t>不一定是几何不变体系；</a:t>
            </a:r>
            <a:endParaRPr kumimoji="1" lang="zh-CN" altLang="en-US" sz="2200" b="1" kern="1200">
              <a:latin typeface="+mn-ea"/>
              <a:cs typeface="+mn-cs"/>
            </a:endParaRPr>
          </a:p>
        </p:txBody>
      </p:sp>
      <p:cxnSp>
        <p:nvCxnSpPr>
          <p:cNvPr id="10" name="直接连接符 9"/>
          <p:cNvCxnSpPr/>
          <p:nvPr/>
        </p:nvCxnSpPr>
        <p:spPr bwMode="auto">
          <a:xfrm rot="16200000" flipH="1">
            <a:off x="1741776" y="2357430"/>
            <a:ext cx="1571636" cy="1571636"/>
          </a:xfrm>
          <a:prstGeom prst="line">
            <a:avLst/>
          </a:prstGeom>
          <a:solidFill>
            <a:schemeClr val="accent1"/>
          </a:solidFill>
          <a:ln w="28575" cap="flat" cmpd="sng" algn="ctr">
            <a:solidFill>
              <a:srgbClr val="C00000"/>
            </a:solidFill>
            <a:prstDash val="solid"/>
            <a:round/>
            <a:headEnd type="none" w="med" len="med"/>
            <a:tailEnd type="none"/>
          </a:ln>
          <a:effectLst/>
        </p:spPr>
      </p:cxnSp>
      <p:sp>
        <p:nvSpPr>
          <p:cNvPr id="11" name="Rectangle 6"/>
          <p:cNvSpPr>
            <a:spLocks noChangeArrowheads="1"/>
          </p:cNvSpPr>
          <p:nvPr/>
        </p:nvSpPr>
        <p:spPr bwMode="auto">
          <a:xfrm>
            <a:off x="5072066" y="4071942"/>
            <a:ext cx="3286148" cy="1852815"/>
          </a:xfrm>
          <a:prstGeom prst="rect">
            <a:avLst/>
          </a:prstGeom>
          <a:noFill/>
          <a:ln w="9525">
            <a:noFill/>
            <a:miter lim="800000"/>
            <a:headEnd/>
            <a:tailEnd/>
          </a:ln>
          <a:effectLst/>
        </p:spPr>
        <p:txBody>
          <a:bodyPr wrap="square" anchor="ctr">
            <a:spAutoFit/>
          </a:bodyPr>
          <a:lstStyle/>
          <a:p>
            <a:pPr rtl="0" fontAlgn="base">
              <a:lnSpc>
                <a:spcPct val="130000"/>
              </a:lnSpc>
              <a:spcBef>
                <a:spcPct val="0"/>
              </a:spcBef>
              <a:spcAft>
                <a:spcPct val="0"/>
              </a:spcAft>
            </a:pPr>
            <a:r>
              <a:rPr kumimoji="1" lang="zh-CN" altLang="en-US" sz="2200" b="1">
                <a:latin typeface="+mn-ea"/>
              </a:rPr>
              <a:t>结论</a:t>
            </a:r>
            <a:r>
              <a:rPr kumimoji="1" lang="en-US" altLang="zh-CN" sz="2200" b="1">
                <a:latin typeface="+mn-ea"/>
              </a:rPr>
              <a:t>2</a:t>
            </a:r>
            <a:r>
              <a:rPr kumimoji="1" lang="zh-CN" altLang="en-US" sz="2200" b="1">
                <a:latin typeface="+mn-ea"/>
              </a:rPr>
              <a:t>：该体系上部有多余约束，下部分则缺乏约束，使得体系成为几何可变体系。</a:t>
            </a:r>
            <a:endParaRPr kumimoji="1" lang="zh-CN" altLang="en-US" sz="2200" b="1" kern="1200">
              <a:latin typeface="+mn-ea"/>
              <a:cs typeface="+mn-cs"/>
            </a:endParaRPr>
          </a:p>
        </p:txBody>
      </p:sp>
      <p:cxnSp>
        <p:nvCxnSpPr>
          <p:cNvPr id="12" name="直接连接符 11"/>
          <p:cNvCxnSpPr/>
          <p:nvPr/>
        </p:nvCxnSpPr>
        <p:spPr bwMode="auto">
          <a:xfrm rot="5400000">
            <a:off x="1758622" y="3942714"/>
            <a:ext cx="1571636" cy="1571636"/>
          </a:xfrm>
          <a:prstGeom prst="line">
            <a:avLst/>
          </a:prstGeom>
          <a:solidFill>
            <a:schemeClr val="accent1"/>
          </a:solidFill>
          <a:ln w="28575" cap="flat" cmpd="sng" algn="ctr">
            <a:solidFill>
              <a:srgbClr val="0033CC"/>
            </a:solidFill>
            <a:prstDash val="lgDash"/>
            <a:round/>
            <a:headEnd type="none" w="med" len="med"/>
            <a:tailEnd type="none"/>
          </a:ln>
          <a:effectLst/>
        </p:spPr>
      </p:cxnSp>
      <p:sp>
        <p:nvSpPr>
          <p:cNvPr id="13"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Effect transition="in" filter="fade">
                                      <p:cBhvr>
                                        <p:cTn id="7" dur="2000"/>
                                        <p:tgtEl>
                                          <p:spTgt spid="3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5">
                                            <p:txEl>
                                              <p:pRg st="1" end="1"/>
                                            </p:txEl>
                                          </p:spTgt>
                                        </p:tgtEl>
                                        <p:attrNameLst>
                                          <p:attrName>style.visibility</p:attrName>
                                        </p:attrNameLst>
                                      </p:cBhvr>
                                      <p:to>
                                        <p:strVal val="visible"/>
                                      </p:to>
                                    </p:set>
                                    <p:animEffect transition="in" filter="fade">
                                      <p:cBhvr>
                                        <p:cTn id="10" dur="2000"/>
                                        <p:tgtEl>
                                          <p:spTgt spid="3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animEffect transition="in" filter="fade">
                                      <p:cBhvr>
                                        <p:cTn id="15" dur="20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uild="allAtOnce"/>
      <p:bldP spid="11" grpId="0" build="allAtOnce"/>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2"/>
            <a:ext cx="8207375" cy="5018107"/>
          </a:xfrm>
          <a:ln>
            <a:noFill/>
          </a:ln>
        </p:spPr>
        <p:txBody>
          <a:bodyPr/>
          <a:lstStyle/>
          <a:p>
            <a:r>
              <a:rPr lang="zh-CN" altLang="en-US"/>
              <a:t>小结</a:t>
            </a:r>
            <a:endParaRPr lang="en-US" altLang="zh-CN"/>
          </a:p>
          <a:p>
            <a:pPr>
              <a:buNone/>
            </a:pPr>
            <a:r>
              <a:rPr lang="zh-CN" altLang="en-US"/>
              <a:t>    计算自由度</a:t>
            </a:r>
            <a:r>
              <a:rPr lang="en-US" altLang="zh-CN" i="1"/>
              <a:t>W</a:t>
            </a:r>
            <a:r>
              <a:rPr lang="zh-CN" altLang="en-US"/>
              <a:t>给了什么信息？</a:t>
            </a:r>
            <a:endParaRPr lang="en-US" altLang="zh-CN"/>
          </a:p>
          <a:p>
            <a:pPr lvl="1">
              <a:lnSpc>
                <a:spcPct val="150000"/>
              </a:lnSpc>
              <a:spcBef>
                <a:spcPts val="0"/>
              </a:spcBef>
            </a:pPr>
            <a:r>
              <a:rPr lang="en-US" altLang="zh-CN" i="1">
                <a:solidFill>
                  <a:schemeClr val="tx2"/>
                </a:solidFill>
                <a:latin typeface="楷体_GB2312" pitchFamily="49" charset="-122"/>
              </a:rPr>
              <a:t>W </a:t>
            </a:r>
            <a:r>
              <a:rPr lang="en-US" altLang="zh-CN">
                <a:solidFill>
                  <a:schemeClr val="tx2"/>
                </a:solidFill>
                <a:latin typeface="楷体_GB2312" pitchFamily="49" charset="-122"/>
              </a:rPr>
              <a:t>&gt; 0,  </a:t>
            </a:r>
            <a:r>
              <a:rPr lang="zh-CN" altLang="en-US">
                <a:solidFill>
                  <a:schemeClr val="tx2"/>
                </a:solidFill>
                <a:latin typeface="楷体_GB2312" pitchFamily="49" charset="-122"/>
              </a:rPr>
              <a:t>缺少足够联系，体系几何可变；</a:t>
            </a:r>
            <a:endParaRPr lang="en-US" altLang="zh-CN">
              <a:solidFill>
                <a:schemeClr val="tx2"/>
              </a:solidFill>
              <a:latin typeface="楷体_GB2312" pitchFamily="49" charset="-122"/>
            </a:endParaRPr>
          </a:p>
          <a:p>
            <a:pPr lvl="1">
              <a:lnSpc>
                <a:spcPct val="150000"/>
              </a:lnSpc>
              <a:spcBef>
                <a:spcPts val="0"/>
              </a:spcBef>
            </a:pPr>
            <a:r>
              <a:rPr lang="en-US" altLang="zh-CN" i="1">
                <a:solidFill>
                  <a:schemeClr val="tx2"/>
                </a:solidFill>
                <a:latin typeface="楷体_GB2312" pitchFamily="49" charset="-122"/>
              </a:rPr>
              <a:t>W </a:t>
            </a:r>
            <a:r>
              <a:rPr lang="en-US" altLang="zh-CN">
                <a:solidFill>
                  <a:schemeClr val="tx2"/>
                </a:solidFill>
                <a:latin typeface="楷体_GB2312" pitchFamily="49" charset="-122"/>
              </a:rPr>
              <a:t>= 0,</a:t>
            </a:r>
            <a:r>
              <a:rPr lang="en-US" altLang="zh-CN" i="1">
                <a:solidFill>
                  <a:schemeClr val="tx2"/>
                </a:solidFill>
                <a:latin typeface="楷体_GB2312" pitchFamily="49" charset="-122"/>
              </a:rPr>
              <a:t>  </a:t>
            </a:r>
            <a:r>
              <a:rPr lang="zh-CN" altLang="en-US"/>
              <a:t>具备成为几何不变体系所要求的最少联系数目；</a:t>
            </a:r>
            <a:endParaRPr lang="en-US" altLang="zh-CN"/>
          </a:p>
          <a:p>
            <a:pPr lvl="1">
              <a:lnSpc>
                <a:spcPct val="150000"/>
              </a:lnSpc>
              <a:spcBef>
                <a:spcPts val="0"/>
              </a:spcBef>
            </a:pPr>
            <a:r>
              <a:rPr lang="en-US" altLang="zh-CN" i="1">
                <a:solidFill>
                  <a:schemeClr val="tx2"/>
                </a:solidFill>
                <a:latin typeface="楷体_GB2312" pitchFamily="49" charset="-122"/>
              </a:rPr>
              <a:t>W </a:t>
            </a:r>
            <a:r>
              <a:rPr lang="en-US" altLang="zh-CN">
                <a:solidFill>
                  <a:schemeClr val="tx2"/>
                </a:solidFill>
                <a:latin typeface="楷体_GB2312" pitchFamily="49" charset="-122"/>
              </a:rPr>
              <a:t>&lt; 0,  </a:t>
            </a:r>
            <a:r>
              <a:rPr lang="zh-CN" altLang="en-US"/>
              <a:t>体系具有多余联系。</a:t>
            </a:r>
            <a:endParaRPr lang="en-US" altLang="zh-CN"/>
          </a:p>
          <a:p>
            <a:pPr lvl="1" indent="-387350">
              <a:lnSpc>
                <a:spcPct val="150000"/>
              </a:lnSpc>
              <a:spcBef>
                <a:spcPts val="0"/>
              </a:spcBef>
              <a:buNone/>
            </a:pPr>
            <a:r>
              <a:rPr lang="zh-CN" altLang="en-US" sz="2400">
                <a:solidFill>
                  <a:srgbClr val="C00000"/>
                </a:solidFill>
                <a:cs typeface="+mn-cs"/>
              </a:rPr>
              <a:t>计算自由度</a:t>
            </a:r>
            <a:r>
              <a:rPr lang="en-US" altLang="zh-CN" sz="2400" i="1">
                <a:solidFill>
                  <a:srgbClr val="C00000"/>
                </a:solidFill>
                <a:cs typeface="+mn-cs"/>
              </a:rPr>
              <a:t>W</a:t>
            </a:r>
            <a:r>
              <a:rPr lang="zh-CN" altLang="en-US" sz="2400">
                <a:solidFill>
                  <a:srgbClr val="C00000"/>
                </a:solidFill>
                <a:cs typeface="+mn-cs"/>
              </a:rPr>
              <a:t>和几何不可变 </a:t>
            </a:r>
            <a:r>
              <a:rPr lang="en-US" altLang="zh-CN" sz="2400">
                <a:solidFill>
                  <a:srgbClr val="C00000"/>
                </a:solidFill>
                <a:cs typeface="+mn-cs"/>
              </a:rPr>
              <a:t>(</a:t>
            </a:r>
            <a:r>
              <a:rPr lang="zh-CN" altLang="en-US" sz="2400">
                <a:solidFill>
                  <a:srgbClr val="C00000"/>
                </a:solidFill>
                <a:cs typeface="+mn-cs"/>
              </a:rPr>
              <a:t>可变</a:t>
            </a:r>
            <a:r>
              <a:rPr lang="en-US" altLang="zh-CN" sz="2400">
                <a:solidFill>
                  <a:srgbClr val="C00000"/>
                </a:solidFill>
                <a:cs typeface="+mn-cs"/>
              </a:rPr>
              <a:t>) </a:t>
            </a:r>
            <a:r>
              <a:rPr lang="zh-CN" altLang="en-US" sz="2400">
                <a:solidFill>
                  <a:srgbClr val="C00000"/>
                </a:solidFill>
                <a:cs typeface="+mn-cs"/>
              </a:rPr>
              <a:t>的关系</a:t>
            </a:r>
            <a:endParaRPr lang="en-US" altLang="zh-CN" i="1">
              <a:solidFill>
                <a:schemeClr val="tx2"/>
              </a:solidFill>
              <a:latin typeface="楷体_GB2312" pitchFamily="49" charset="-122"/>
            </a:endParaRPr>
          </a:p>
          <a:p>
            <a:pPr lvl="1">
              <a:lnSpc>
                <a:spcPct val="200000"/>
              </a:lnSpc>
              <a:spcBef>
                <a:spcPts val="0"/>
              </a:spcBef>
              <a:buNone/>
            </a:pPr>
            <a:r>
              <a:rPr lang="en-US" altLang="zh-CN" i="1">
                <a:solidFill>
                  <a:schemeClr val="tx2"/>
                </a:solidFill>
                <a:latin typeface="楷体_GB2312" pitchFamily="49" charset="-122"/>
              </a:rPr>
              <a:t>      W </a:t>
            </a:r>
            <a:r>
              <a:rPr lang="en-US" altLang="zh-CN">
                <a:solidFill>
                  <a:schemeClr val="tx2"/>
                </a:solidFill>
                <a:latin typeface="楷体_GB2312" pitchFamily="49" charset="-122"/>
              </a:rPr>
              <a:t>&gt; 0                            </a:t>
            </a:r>
            <a:r>
              <a:rPr lang="zh-CN" altLang="en-US">
                <a:solidFill>
                  <a:schemeClr val="tx2"/>
                </a:solidFill>
                <a:latin typeface="楷体_GB2312" pitchFamily="49" charset="-122"/>
              </a:rPr>
              <a:t>体系几何可变</a:t>
            </a:r>
            <a:endParaRPr lang="en-US" altLang="zh-CN">
              <a:solidFill>
                <a:schemeClr val="tx2"/>
              </a:solidFill>
              <a:latin typeface="楷体_GB2312" pitchFamily="49" charset="-122"/>
            </a:endParaRPr>
          </a:p>
          <a:p>
            <a:pPr lvl="1">
              <a:lnSpc>
                <a:spcPct val="200000"/>
              </a:lnSpc>
              <a:spcBef>
                <a:spcPts val="0"/>
              </a:spcBef>
              <a:buNone/>
            </a:pPr>
            <a:r>
              <a:rPr lang="en-US" altLang="zh-CN" i="1">
                <a:solidFill>
                  <a:schemeClr val="tx2"/>
                </a:solidFill>
                <a:latin typeface="楷体_GB2312" pitchFamily="49" charset="-122"/>
              </a:rPr>
              <a:t>      W </a:t>
            </a:r>
            <a:r>
              <a:rPr lang="en-US" altLang="zh-CN">
                <a:solidFill>
                  <a:schemeClr val="tx2"/>
                </a:solidFill>
                <a:latin typeface="楷体_GB2312" pitchFamily="49" charset="-122"/>
              </a:rPr>
              <a:t>≤ 0                           </a:t>
            </a:r>
            <a:r>
              <a:rPr lang="zh-CN" altLang="en-US">
                <a:solidFill>
                  <a:schemeClr val="tx2"/>
                </a:solidFill>
                <a:latin typeface="楷体_GB2312" pitchFamily="49" charset="-122"/>
              </a:rPr>
              <a:t>体系几何不变</a:t>
            </a:r>
            <a:endParaRPr lang="en-US" altLang="zh-CN"/>
          </a:p>
          <a:p>
            <a:pPr lvl="1">
              <a:lnSpc>
                <a:spcPct val="150000"/>
              </a:lnSpc>
              <a:spcBef>
                <a:spcPts val="1200"/>
              </a:spcBef>
            </a:pPr>
            <a:r>
              <a:rPr lang="zh-CN" altLang="en-US"/>
              <a:t>计算自由度 </a:t>
            </a:r>
            <a:r>
              <a:rPr lang="en-US" altLang="zh-CN" i="1">
                <a:solidFill>
                  <a:schemeClr val="tx2"/>
                </a:solidFill>
                <a:latin typeface="楷体_GB2312" pitchFamily="49" charset="-122"/>
              </a:rPr>
              <a:t>W </a:t>
            </a:r>
            <a:r>
              <a:rPr lang="en-US" altLang="zh-CN">
                <a:solidFill>
                  <a:schemeClr val="tx2"/>
                </a:solidFill>
                <a:latin typeface="楷体_GB2312" pitchFamily="49" charset="-122"/>
              </a:rPr>
              <a:t>≤ 0 </a:t>
            </a:r>
            <a:r>
              <a:rPr lang="zh-CN" altLang="en-US">
                <a:solidFill>
                  <a:schemeClr val="tx2"/>
                </a:solidFill>
                <a:latin typeface="楷体_GB2312" pitchFamily="49" charset="-122"/>
              </a:rPr>
              <a:t>是</a:t>
            </a:r>
            <a:r>
              <a:rPr lang="zh-CN" altLang="en-US"/>
              <a:t>几何体系不变的必要条件。</a:t>
            </a:r>
            <a:endParaRPr lang="en-US" altLang="zh-CN">
              <a:solidFill>
                <a:schemeClr val="tx1"/>
              </a:solidFill>
            </a:endParaRPr>
          </a:p>
        </p:txBody>
      </p:sp>
      <p:sp>
        <p:nvSpPr>
          <p:cNvPr id="2" name="标题 1"/>
          <p:cNvSpPr>
            <a:spLocks noGrp="1"/>
          </p:cNvSpPr>
          <p:nvPr>
            <p:ph type="title"/>
          </p:nvPr>
        </p:nvSpPr>
        <p:spPr>
          <a:xfrm>
            <a:off x="457200" y="260648"/>
            <a:ext cx="8229600" cy="882336"/>
          </a:xfrm>
        </p:spPr>
        <p:txBody>
          <a:bodyPr/>
          <a:lstStyle/>
          <a:p>
            <a:pPr algn="r"/>
            <a:r>
              <a:rPr lang="zh-CN" altLang="en-US"/>
              <a:t>平面杆件体系的计算自由度</a:t>
            </a:r>
          </a:p>
        </p:txBody>
      </p:sp>
      <p:sp>
        <p:nvSpPr>
          <p:cNvPr id="14" name="右箭头 13"/>
          <p:cNvSpPr/>
          <p:nvPr/>
        </p:nvSpPr>
        <p:spPr bwMode="auto">
          <a:xfrm>
            <a:off x="4102428" y="4429132"/>
            <a:ext cx="500066" cy="285752"/>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15" name="右箭头 14"/>
          <p:cNvSpPr/>
          <p:nvPr/>
        </p:nvSpPr>
        <p:spPr bwMode="auto">
          <a:xfrm flipH="1">
            <a:off x="4071934" y="5000636"/>
            <a:ext cx="500066" cy="285752"/>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5175257" cy="5040312"/>
          </a:xfrm>
          <a:ln>
            <a:noFill/>
          </a:ln>
        </p:spPr>
        <p:txBody>
          <a:bodyPr/>
          <a:lstStyle/>
          <a:p>
            <a:pPr>
              <a:buClrTx/>
            </a:pPr>
            <a:r>
              <a:rPr lang="zh-CN" altLang="en-US"/>
              <a:t>主要课题</a:t>
            </a:r>
            <a:endParaRPr lang="en-US" altLang="zh-CN"/>
          </a:p>
          <a:p>
            <a:pPr lvl="1">
              <a:buNone/>
            </a:pPr>
            <a:r>
              <a:rPr lang="zh-CN" altLang="en-US"/>
              <a:t>无多余约束的几何不变体系的组成规律。</a:t>
            </a:r>
            <a:endParaRPr lang="en-US" altLang="zh-CN"/>
          </a:p>
          <a:p>
            <a:pPr lvl="0"/>
            <a:r>
              <a:rPr lang="zh-CN" altLang="en-US"/>
              <a:t>主要规律</a:t>
            </a:r>
            <a:endParaRPr lang="en-US" altLang="zh-CN"/>
          </a:p>
          <a:p>
            <a:pPr lvl="1">
              <a:lnSpc>
                <a:spcPct val="150000"/>
              </a:lnSpc>
            </a:pPr>
            <a:r>
              <a:rPr lang="zh-CN" altLang="en-US"/>
              <a:t>一个点与一个刚片</a:t>
            </a:r>
            <a:endParaRPr lang="en-US" altLang="zh-CN"/>
          </a:p>
          <a:p>
            <a:pPr lvl="1">
              <a:lnSpc>
                <a:spcPct val="150000"/>
              </a:lnSpc>
              <a:buNone/>
            </a:pPr>
            <a:r>
              <a:rPr lang="zh-CN" altLang="en-US"/>
              <a:t>    规律</a:t>
            </a:r>
            <a:r>
              <a:rPr lang="en-US" altLang="zh-CN"/>
              <a:t>1</a:t>
            </a:r>
          </a:p>
          <a:p>
            <a:pPr lvl="1">
              <a:lnSpc>
                <a:spcPct val="130000"/>
              </a:lnSpc>
              <a:spcBef>
                <a:spcPts val="0"/>
              </a:spcBef>
              <a:buNone/>
            </a:pPr>
            <a:r>
              <a:rPr lang="en-US" altLang="zh-CN"/>
              <a:t>            </a:t>
            </a:r>
            <a:r>
              <a:rPr lang="zh-CN" altLang="en-US"/>
              <a:t>一个刚片与一个点用两根链杆相连，且三个铰点不共线，则能够组成无多余约束的几何不变体系；</a:t>
            </a:r>
            <a:endParaRPr lang="en-US" altLang="zh-CN"/>
          </a:p>
          <a:p>
            <a:pPr lvl="1">
              <a:lnSpc>
                <a:spcPct val="130000"/>
              </a:lnSpc>
              <a:spcBef>
                <a:spcPts val="0"/>
              </a:spcBef>
              <a:buNone/>
            </a:pPr>
            <a:endParaRPr lang="en-US" altLang="zh-CN"/>
          </a:p>
          <a:p>
            <a:pPr lvl="1">
              <a:lnSpc>
                <a:spcPct val="150000"/>
              </a:lnSpc>
              <a:spcBef>
                <a:spcPts val="600"/>
              </a:spcBef>
              <a:buNone/>
            </a:pPr>
            <a:r>
              <a:rPr lang="zh-CN" altLang="en-US">
                <a:solidFill>
                  <a:srgbClr val="C00000"/>
                </a:solidFill>
              </a:rPr>
              <a:t>    二元体</a:t>
            </a:r>
            <a:r>
              <a:rPr lang="zh-CN" altLang="en-US"/>
              <a:t>：这种不共线的“两杆一铰”体系，称为二元体。</a:t>
            </a:r>
          </a:p>
        </p:txBody>
      </p:sp>
      <p:sp>
        <p:nvSpPr>
          <p:cNvPr id="2" name="标题 1"/>
          <p:cNvSpPr>
            <a:spLocks noGrp="1"/>
          </p:cNvSpPr>
          <p:nvPr>
            <p:ph type="title"/>
          </p:nvPr>
        </p:nvSpPr>
        <p:spPr>
          <a:xfrm>
            <a:off x="457200" y="260648"/>
            <a:ext cx="8229600" cy="882336"/>
          </a:xfrm>
        </p:spPr>
        <p:txBody>
          <a:bodyPr/>
          <a:lstStyle/>
          <a:p>
            <a:pPr algn="r"/>
            <a:r>
              <a:rPr lang="zh-CN" altLang="en-US" sz="3600"/>
              <a:t>平面几何不变体系的组成规律</a:t>
            </a:r>
            <a:endParaRPr lang="zh-CN" altLang="en-US" sz="3600" dirty="0"/>
          </a:p>
        </p:txBody>
      </p:sp>
      <p:grpSp>
        <p:nvGrpSpPr>
          <p:cNvPr id="139" name="组合 138"/>
          <p:cNvGrpSpPr/>
          <p:nvPr/>
        </p:nvGrpSpPr>
        <p:grpSpPr>
          <a:xfrm>
            <a:off x="5572132" y="1428736"/>
            <a:ext cx="2428892" cy="5143536"/>
            <a:chOff x="5857884" y="1428736"/>
            <a:chExt cx="2428892" cy="5143536"/>
          </a:xfrm>
        </p:grpSpPr>
        <p:pic>
          <p:nvPicPr>
            <p:cNvPr id="129" name="Picture 2"/>
            <p:cNvPicPr>
              <a:picLocks noChangeAspect="1" noChangeArrowheads="1"/>
            </p:cNvPicPr>
            <p:nvPr/>
          </p:nvPicPr>
          <p:blipFill>
            <a:blip r:embed="rId3" cstate="print"/>
            <a:srcRect l="12057" t="13158" r="12160" b="15789"/>
            <a:stretch>
              <a:fillRect/>
            </a:stretch>
          </p:blipFill>
          <p:spPr bwMode="auto">
            <a:xfrm>
              <a:off x="5857884" y="1428736"/>
              <a:ext cx="2357454" cy="1928826"/>
            </a:xfrm>
            <a:prstGeom prst="rect">
              <a:avLst/>
            </a:prstGeom>
            <a:noFill/>
            <a:ln w="9525">
              <a:noFill/>
              <a:miter lim="800000"/>
              <a:headEnd/>
              <a:tailEnd/>
            </a:ln>
            <a:effectLst/>
          </p:spPr>
        </p:pic>
        <p:pic>
          <p:nvPicPr>
            <p:cNvPr id="131" name="Picture 3"/>
            <p:cNvPicPr>
              <a:picLocks noChangeArrowheads="1"/>
            </p:cNvPicPr>
            <p:nvPr/>
          </p:nvPicPr>
          <p:blipFill>
            <a:blip r:embed="rId4" cstate="print"/>
            <a:srcRect t="17662" r="8758" b="5678"/>
            <a:stretch>
              <a:fillRect/>
            </a:stretch>
          </p:blipFill>
          <p:spPr bwMode="auto">
            <a:xfrm>
              <a:off x="5929322" y="3357562"/>
              <a:ext cx="2357454" cy="1928826"/>
            </a:xfrm>
            <a:prstGeom prst="rect">
              <a:avLst/>
            </a:prstGeom>
            <a:noFill/>
            <a:ln w="9525">
              <a:noFill/>
              <a:miter lim="800000"/>
              <a:headEnd/>
              <a:tailEnd/>
            </a:ln>
            <a:effectLst/>
          </p:spPr>
        </p:pic>
        <p:pic>
          <p:nvPicPr>
            <p:cNvPr id="133" name="Picture 2"/>
            <p:cNvPicPr>
              <a:picLocks noChangeAspect="1" noChangeArrowheads="1"/>
            </p:cNvPicPr>
            <p:nvPr/>
          </p:nvPicPr>
          <p:blipFill>
            <a:blip r:embed="rId5" cstate="print"/>
            <a:srcRect l="4782" t="8095" r="13924" b="10952"/>
            <a:stretch>
              <a:fillRect/>
            </a:stretch>
          </p:blipFill>
          <p:spPr bwMode="auto">
            <a:xfrm>
              <a:off x="5929322" y="5393545"/>
              <a:ext cx="2357454" cy="1178727"/>
            </a:xfrm>
            <a:prstGeom prst="rect">
              <a:avLst/>
            </a:prstGeom>
            <a:noFill/>
            <a:ln w="9525">
              <a:noFill/>
              <a:miter lim="800000"/>
              <a:headEnd/>
              <a:tailEnd/>
            </a:ln>
            <a:effectLst/>
          </p:spPr>
        </p:pic>
      </p:grpSp>
      <p:grpSp>
        <p:nvGrpSpPr>
          <p:cNvPr id="134" name="组合 133"/>
          <p:cNvGrpSpPr/>
          <p:nvPr/>
        </p:nvGrpSpPr>
        <p:grpSpPr>
          <a:xfrm>
            <a:off x="8215338" y="2428868"/>
            <a:ext cx="432048" cy="360040"/>
            <a:chOff x="5364088" y="2492896"/>
            <a:chExt cx="432048" cy="360040"/>
          </a:xfrm>
        </p:grpSpPr>
        <p:cxnSp>
          <p:nvCxnSpPr>
            <p:cNvPr id="135" name="直接连接符 134"/>
            <p:cNvCxnSpPr/>
            <p:nvPr/>
          </p:nvCxnSpPr>
          <p:spPr bwMode="auto">
            <a:xfrm>
              <a:off x="5364088" y="2636912"/>
              <a:ext cx="144016" cy="216024"/>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136" name="直接连接符 135"/>
            <p:cNvCxnSpPr/>
            <p:nvPr/>
          </p:nvCxnSpPr>
          <p:spPr bwMode="auto">
            <a:xfrm flipV="1">
              <a:off x="5508104" y="2492896"/>
              <a:ext cx="288032" cy="360040"/>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sp>
        <p:nvSpPr>
          <p:cNvPr id="137" name="TextBox 136"/>
          <p:cNvSpPr txBox="1"/>
          <p:nvPr/>
        </p:nvSpPr>
        <p:spPr>
          <a:xfrm>
            <a:off x="7790568" y="3643314"/>
            <a:ext cx="1210588" cy="400110"/>
          </a:xfrm>
          <a:prstGeom prst="rect">
            <a:avLst/>
          </a:prstGeom>
          <a:noFill/>
          <a:ln w="28575">
            <a:solidFill>
              <a:srgbClr val="C00000"/>
            </a:solidFill>
          </a:ln>
        </p:spPr>
        <p:txBody>
          <a:bodyPr wrap="none" rtlCol="0">
            <a:spAutoFit/>
          </a:bodyPr>
          <a:lstStyle/>
          <a:p>
            <a:r>
              <a:rPr lang="zh-CN" altLang="en-US" sz="2000" b="1">
                <a:solidFill>
                  <a:srgbClr val="C00000"/>
                </a:solidFill>
              </a:rPr>
              <a:t>多余约束</a:t>
            </a:r>
          </a:p>
        </p:txBody>
      </p:sp>
      <p:sp>
        <p:nvSpPr>
          <p:cNvPr id="138" name="TextBox 137"/>
          <p:cNvSpPr txBox="1"/>
          <p:nvPr/>
        </p:nvSpPr>
        <p:spPr>
          <a:xfrm>
            <a:off x="7786710" y="5328554"/>
            <a:ext cx="1210588" cy="400110"/>
          </a:xfrm>
          <a:prstGeom prst="rect">
            <a:avLst/>
          </a:prstGeom>
          <a:noFill/>
          <a:ln w="28575">
            <a:solidFill>
              <a:srgbClr val="C00000"/>
            </a:solidFill>
          </a:ln>
        </p:spPr>
        <p:txBody>
          <a:bodyPr wrap="none" rtlCol="0">
            <a:spAutoFit/>
          </a:bodyPr>
          <a:lstStyle/>
          <a:p>
            <a:r>
              <a:rPr lang="zh-CN" altLang="en-US" sz="2000" b="1">
                <a:solidFill>
                  <a:srgbClr val="C00000"/>
                </a:solidFill>
              </a:rPr>
              <a:t>瞬变体系</a:t>
            </a:r>
          </a:p>
        </p:txBody>
      </p:sp>
      <p:sp>
        <p:nvSpPr>
          <p:cNvPr id="13"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9"/>
                                        </p:tgtEl>
                                        <p:attrNameLst>
                                          <p:attrName>style.visibility</p:attrName>
                                        </p:attrNameLst>
                                      </p:cBhvr>
                                      <p:to>
                                        <p:strVal val="visible"/>
                                      </p:to>
                                    </p:set>
                                    <p:anim calcmode="lin" valueType="num">
                                      <p:cBhvr additive="base">
                                        <p:cTn id="7" dur="500" fill="hold"/>
                                        <p:tgtEl>
                                          <p:spTgt spid="139"/>
                                        </p:tgtEl>
                                        <p:attrNameLst>
                                          <p:attrName>ppt_x</p:attrName>
                                        </p:attrNameLst>
                                      </p:cBhvr>
                                      <p:tavLst>
                                        <p:tav tm="0">
                                          <p:val>
                                            <p:strVal val="#ppt_x"/>
                                          </p:val>
                                        </p:tav>
                                        <p:tav tm="100000">
                                          <p:val>
                                            <p:strVal val="#ppt_x"/>
                                          </p:val>
                                        </p:tav>
                                      </p:tavLst>
                                    </p:anim>
                                    <p:anim calcmode="lin" valueType="num">
                                      <p:cBhvr additive="base">
                                        <p:cTn id="8" dur="500" fill="hold"/>
                                        <p:tgtEl>
                                          <p:spTgt spid="1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34"/>
                                        </p:tgtEl>
                                        <p:attrNameLst>
                                          <p:attrName>style.visibility</p:attrName>
                                        </p:attrNameLst>
                                      </p:cBhvr>
                                      <p:to>
                                        <p:strVal val="visible"/>
                                      </p:to>
                                    </p:set>
                                    <p:animEffect transition="in" filter="fade">
                                      <p:cBhvr>
                                        <p:cTn id="13" dur="2000"/>
                                        <p:tgtEl>
                                          <p:spTgt spid="13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7">
                                            <p:bg/>
                                          </p:spTgt>
                                        </p:tgtEl>
                                        <p:attrNameLst>
                                          <p:attrName>style.visibility</p:attrName>
                                        </p:attrNameLst>
                                      </p:cBhvr>
                                      <p:to>
                                        <p:strVal val="visible"/>
                                      </p:to>
                                    </p:set>
                                    <p:animEffect transition="in" filter="fade">
                                      <p:cBhvr>
                                        <p:cTn id="18" dur="2000"/>
                                        <p:tgtEl>
                                          <p:spTgt spid="137">
                                            <p:bg/>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7">
                                            <p:txEl>
                                              <p:pRg st="0" end="0"/>
                                            </p:txEl>
                                          </p:spTgt>
                                        </p:tgtEl>
                                        <p:attrNameLst>
                                          <p:attrName>style.visibility</p:attrName>
                                        </p:attrNameLst>
                                      </p:cBhvr>
                                      <p:to>
                                        <p:strVal val="visible"/>
                                      </p:to>
                                    </p:set>
                                    <p:animEffect transition="in" filter="fade">
                                      <p:cBhvr>
                                        <p:cTn id="21" dur="2000"/>
                                        <p:tgtEl>
                                          <p:spTgt spid="137">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8">
                                            <p:bg/>
                                          </p:spTgt>
                                        </p:tgtEl>
                                        <p:attrNameLst>
                                          <p:attrName>style.visibility</p:attrName>
                                        </p:attrNameLst>
                                      </p:cBhvr>
                                      <p:to>
                                        <p:strVal val="visible"/>
                                      </p:to>
                                    </p:set>
                                    <p:animEffect transition="in" filter="fade">
                                      <p:cBhvr>
                                        <p:cTn id="26" dur="2000"/>
                                        <p:tgtEl>
                                          <p:spTgt spid="138">
                                            <p:bg/>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8">
                                            <p:txEl>
                                              <p:pRg st="0" end="0"/>
                                            </p:txEl>
                                          </p:spTgt>
                                        </p:tgtEl>
                                        <p:attrNameLst>
                                          <p:attrName>style.visibility</p:attrName>
                                        </p:attrNameLst>
                                      </p:cBhvr>
                                      <p:to>
                                        <p:strVal val="visible"/>
                                      </p:to>
                                    </p:set>
                                    <p:animEffect transition="in" filter="fade">
                                      <p:cBhvr>
                                        <p:cTn id="29" dur="2000"/>
                                        <p:tgtEl>
                                          <p:spTgt spid="13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 grpId="0" build="allAtOnce" animBg="1"/>
      <p:bldP spid="138" grpId="0" build="allAtOnce"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5175257" cy="3303595"/>
          </a:xfrm>
          <a:ln>
            <a:noFill/>
          </a:ln>
        </p:spPr>
        <p:txBody>
          <a:bodyPr/>
          <a:lstStyle/>
          <a:p>
            <a:pPr lvl="0"/>
            <a:r>
              <a:rPr lang="zh-CN" altLang="en-US"/>
              <a:t>主要规律</a:t>
            </a:r>
            <a:endParaRPr lang="en-US" altLang="zh-CN"/>
          </a:p>
          <a:p>
            <a:pPr lvl="1">
              <a:lnSpc>
                <a:spcPct val="150000"/>
              </a:lnSpc>
            </a:pPr>
            <a:r>
              <a:rPr lang="zh-CN" altLang="en-US"/>
              <a:t>两个刚片</a:t>
            </a:r>
            <a:endParaRPr lang="en-US" altLang="zh-CN"/>
          </a:p>
          <a:p>
            <a:pPr lvl="1">
              <a:lnSpc>
                <a:spcPct val="150000"/>
              </a:lnSpc>
              <a:buNone/>
            </a:pPr>
            <a:r>
              <a:rPr lang="zh-CN" altLang="en-US"/>
              <a:t>    规律</a:t>
            </a:r>
            <a:r>
              <a:rPr lang="en-US" altLang="zh-CN"/>
              <a:t>2</a:t>
            </a:r>
          </a:p>
          <a:p>
            <a:pPr lvl="1">
              <a:lnSpc>
                <a:spcPct val="130000"/>
              </a:lnSpc>
              <a:spcBef>
                <a:spcPts val="0"/>
              </a:spcBef>
              <a:buNone/>
            </a:pPr>
            <a:r>
              <a:rPr lang="en-US" altLang="zh-CN"/>
              <a:t>            </a:t>
            </a:r>
            <a:r>
              <a:rPr lang="zh-CN" altLang="en-US"/>
              <a:t>两个刚片用一个铰和一根链杆相联结，且三个铰不共线，则能够组成无多余约束的几何不变体系；</a:t>
            </a: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平面几何不变体系的组成规律</a:t>
            </a:r>
            <a:endParaRPr lang="zh-CN" altLang="en-US" sz="3600" dirty="0"/>
          </a:p>
        </p:txBody>
      </p:sp>
      <p:pic>
        <p:nvPicPr>
          <p:cNvPr id="84994" name="Picture 2"/>
          <p:cNvPicPr>
            <a:picLocks noChangeAspect="1" noChangeArrowheads="1"/>
          </p:cNvPicPr>
          <p:nvPr/>
        </p:nvPicPr>
        <p:blipFill>
          <a:blip r:embed="rId3" cstate="print"/>
          <a:srcRect l="5714" t="9782" r="5238" b="6532"/>
          <a:stretch>
            <a:fillRect/>
          </a:stretch>
        </p:blipFill>
        <p:spPr bwMode="auto">
          <a:xfrm>
            <a:off x="6072198" y="1643050"/>
            <a:ext cx="2428892" cy="2000264"/>
          </a:xfrm>
          <a:prstGeom prst="rect">
            <a:avLst/>
          </a:prstGeom>
          <a:noFill/>
          <a:ln w="9525">
            <a:noFill/>
            <a:miter lim="800000"/>
            <a:headEnd/>
            <a:tailEnd/>
          </a:ln>
          <a:effectLst/>
        </p:spPr>
      </p:pic>
      <p:sp>
        <p:nvSpPr>
          <p:cNvPr id="14" name="矩形 13"/>
          <p:cNvSpPr/>
          <p:nvPr/>
        </p:nvSpPr>
        <p:spPr>
          <a:xfrm>
            <a:off x="727996" y="4572008"/>
            <a:ext cx="4929190" cy="1754326"/>
          </a:xfrm>
          <a:prstGeom prst="rect">
            <a:avLst/>
          </a:prstGeom>
        </p:spPr>
        <p:txBody>
          <a:bodyPr wrap="square">
            <a:spAutoFit/>
          </a:bodyPr>
          <a:lstStyle/>
          <a:p>
            <a:pPr marL="742950" lvl="1" indent="-285750" fontAlgn="base">
              <a:lnSpc>
                <a:spcPct val="150000"/>
              </a:lnSpc>
              <a:spcBef>
                <a:spcPts val="600"/>
              </a:spcBef>
              <a:spcAft>
                <a:spcPct val="0"/>
              </a:spcAft>
            </a:pPr>
            <a:r>
              <a:rPr lang="zh-CN" altLang="en-US" sz="2000" b="1" kern="0">
                <a:solidFill>
                  <a:srgbClr val="000000"/>
                </a:solidFill>
              </a:rPr>
              <a:t>规律</a:t>
            </a:r>
            <a:r>
              <a:rPr lang="en-US" altLang="zh-CN" sz="2000" b="1" kern="0">
                <a:solidFill>
                  <a:srgbClr val="000000"/>
                </a:solidFill>
              </a:rPr>
              <a:t>3</a:t>
            </a:r>
          </a:p>
          <a:p>
            <a:pPr marL="444500" lvl="1" indent="6350" fontAlgn="base">
              <a:lnSpc>
                <a:spcPct val="130000"/>
              </a:lnSpc>
              <a:spcAft>
                <a:spcPct val="0"/>
              </a:spcAft>
              <a:tabLst>
                <a:tab pos="450850" algn="l"/>
              </a:tabLst>
            </a:pPr>
            <a:r>
              <a:rPr lang="zh-CN" altLang="en-US" sz="2000" b="1" kern="0">
                <a:solidFill>
                  <a:srgbClr val="000000"/>
                </a:solidFill>
              </a:rPr>
              <a:t>            两个刚片用三根链杆相连，且三根链杆不交于同一点，则能够组成无多余约束的几何不变体系；</a:t>
            </a:r>
            <a:endParaRPr lang="en-US" altLang="zh-CN" sz="2000" b="1" kern="0">
              <a:solidFill>
                <a:srgbClr val="000000"/>
              </a:solidFill>
            </a:endParaRPr>
          </a:p>
        </p:txBody>
      </p:sp>
      <p:grpSp>
        <p:nvGrpSpPr>
          <p:cNvPr id="17" name="组合 16"/>
          <p:cNvGrpSpPr/>
          <p:nvPr/>
        </p:nvGrpSpPr>
        <p:grpSpPr>
          <a:xfrm>
            <a:off x="1500166" y="4143380"/>
            <a:ext cx="3551807" cy="428628"/>
            <a:chOff x="1643042" y="4143380"/>
            <a:chExt cx="3551807" cy="428628"/>
          </a:xfrm>
        </p:grpSpPr>
        <p:sp>
          <p:nvSpPr>
            <p:cNvPr id="15" name="右箭头 14"/>
            <p:cNvSpPr/>
            <p:nvPr/>
          </p:nvSpPr>
          <p:spPr bwMode="auto">
            <a:xfrm rot="5400000">
              <a:off x="1607323" y="4179099"/>
              <a:ext cx="428628" cy="357190"/>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16" name="矩形 15"/>
            <p:cNvSpPr/>
            <p:nvPr/>
          </p:nvSpPr>
          <p:spPr>
            <a:xfrm>
              <a:off x="2214546" y="4143380"/>
              <a:ext cx="2980303" cy="369332"/>
            </a:xfrm>
            <a:prstGeom prst="rect">
              <a:avLst/>
            </a:prstGeom>
          </p:spPr>
          <p:txBody>
            <a:bodyPr wrap="none">
              <a:spAutoFit/>
            </a:bodyPr>
            <a:lstStyle/>
            <a:p>
              <a:r>
                <a:rPr lang="zh-CN" altLang="en-US" b="1">
                  <a:solidFill>
                    <a:srgbClr val="C00000"/>
                  </a:solidFill>
                </a:rPr>
                <a:t>虚铰</a:t>
              </a:r>
              <a:r>
                <a:rPr lang="zh-CN" altLang="en-US" b="1"/>
                <a:t>：</a:t>
              </a:r>
              <a:r>
                <a:rPr lang="en-US" altLang="zh-CN" b="1"/>
                <a:t>2</a:t>
              </a:r>
              <a:r>
                <a:rPr lang="zh-CN" altLang="en-US" b="1"/>
                <a:t>相交链杆构成</a:t>
              </a:r>
              <a:r>
                <a:rPr lang="en-US" altLang="zh-CN" b="1"/>
                <a:t>1</a:t>
              </a:r>
              <a:r>
                <a:rPr lang="zh-CN" altLang="en-US" b="1"/>
                <a:t>虚铰</a:t>
              </a:r>
            </a:p>
          </p:txBody>
        </p:sp>
      </p:grpSp>
      <p:pic>
        <p:nvPicPr>
          <p:cNvPr id="84996" name="Picture 4"/>
          <p:cNvPicPr>
            <a:picLocks noChangeAspect="1" noChangeArrowheads="1"/>
          </p:cNvPicPr>
          <p:nvPr/>
        </p:nvPicPr>
        <p:blipFill>
          <a:blip r:embed="rId4" cstate="print"/>
          <a:srcRect/>
          <a:stretch>
            <a:fillRect/>
          </a:stretch>
        </p:blipFill>
        <p:spPr bwMode="auto">
          <a:xfrm>
            <a:off x="6045395" y="3714752"/>
            <a:ext cx="2452497" cy="2857496"/>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0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2000"/>
                                        <p:tgtEl>
                                          <p:spTgt spid="14"/>
                                        </p:tgtEl>
                                      </p:cBhvr>
                                    </p:animEffect>
                                  </p:childTnLst>
                                </p:cTn>
                              </p:par>
                              <p:par>
                                <p:cTn id="13" presetID="10" presetClass="entr" presetSubtype="0" fill="hold" nodeType="withEffect">
                                  <p:stCondLst>
                                    <p:cond delay="0"/>
                                  </p:stCondLst>
                                  <p:childTnLst>
                                    <p:set>
                                      <p:cBhvr>
                                        <p:cTn id="14" dur="1" fill="hold">
                                          <p:stCondLst>
                                            <p:cond delay="0"/>
                                          </p:stCondLst>
                                        </p:cTn>
                                        <p:tgtEl>
                                          <p:spTgt spid="84996"/>
                                        </p:tgtEl>
                                        <p:attrNameLst>
                                          <p:attrName>style.visibility</p:attrName>
                                        </p:attrNameLst>
                                      </p:cBhvr>
                                      <p:to>
                                        <p:strVal val="visible"/>
                                      </p:to>
                                    </p:set>
                                    <p:animEffect transition="in" filter="fade">
                                      <p:cBhvr>
                                        <p:cTn id="15" dur="2000"/>
                                        <p:tgtEl>
                                          <p:spTgt spid="849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5175257" cy="3303595"/>
          </a:xfrm>
          <a:ln>
            <a:noFill/>
          </a:ln>
        </p:spPr>
        <p:txBody>
          <a:bodyPr/>
          <a:lstStyle/>
          <a:p>
            <a:pPr lvl="0"/>
            <a:r>
              <a:rPr lang="zh-CN" altLang="en-US"/>
              <a:t>主要规律</a:t>
            </a:r>
            <a:endParaRPr lang="en-US" altLang="zh-CN"/>
          </a:p>
          <a:p>
            <a:pPr lvl="1">
              <a:lnSpc>
                <a:spcPct val="150000"/>
              </a:lnSpc>
            </a:pPr>
            <a:r>
              <a:rPr lang="zh-CN" altLang="en-US"/>
              <a:t>三个刚片</a:t>
            </a:r>
            <a:endParaRPr lang="en-US" altLang="zh-CN"/>
          </a:p>
          <a:p>
            <a:pPr lvl="1">
              <a:lnSpc>
                <a:spcPct val="150000"/>
              </a:lnSpc>
              <a:buNone/>
            </a:pPr>
            <a:r>
              <a:rPr lang="zh-CN" altLang="en-US"/>
              <a:t>    规律</a:t>
            </a:r>
            <a:r>
              <a:rPr lang="en-US" altLang="zh-CN"/>
              <a:t>4</a:t>
            </a:r>
          </a:p>
          <a:p>
            <a:pPr lvl="1">
              <a:lnSpc>
                <a:spcPct val="130000"/>
              </a:lnSpc>
              <a:spcBef>
                <a:spcPts val="0"/>
              </a:spcBef>
              <a:buNone/>
            </a:pPr>
            <a:r>
              <a:rPr lang="en-US" altLang="zh-CN"/>
              <a:t>            </a:t>
            </a:r>
            <a:r>
              <a:rPr lang="zh-CN" altLang="en-US"/>
              <a:t>三个刚片用不共线的三个单铰两两相连，则能够组成无多余约束的几何不变体系；</a:t>
            </a: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平面几何不变体系的组成规律</a:t>
            </a:r>
            <a:endParaRPr lang="zh-CN" altLang="en-US" sz="3600" dirty="0"/>
          </a:p>
        </p:txBody>
      </p:sp>
      <p:pic>
        <p:nvPicPr>
          <p:cNvPr id="86018" name="Picture 2"/>
          <p:cNvPicPr>
            <a:picLocks noChangeAspect="1" noChangeArrowheads="1"/>
          </p:cNvPicPr>
          <p:nvPr/>
        </p:nvPicPr>
        <p:blipFill>
          <a:blip r:embed="rId3" cstate="print"/>
          <a:srcRect l="7500" t="9602"/>
          <a:stretch>
            <a:fillRect/>
          </a:stretch>
        </p:blipFill>
        <p:spPr bwMode="auto">
          <a:xfrm>
            <a:off x="6143636" y="1857364"/>
            <a:ext cx="2620985" cy="2000714"/>
          </a:xfrm>
          <a:prstGeom prst="rect">
            <a:avLst/>
          </a:prstGeom>
          <a:noFill/>
          <a:ln w="9525">
            <a:noFill/>
            <a:miter lim="800000"/>
            <a:headEnd/>
            <a:tailEnd/>
          </a:ln>
          <a:effectLst/>
        </p:spPr>
      </p:pic>
      <p:pic>
        <p:nvPicPr>
          <p:cNvPr id="86019" name="Picture 3"/>
          <p:cNvPicPr>
            <a:picLocks noChangeAspect="1" noChangeArrowheads="1"/>
          </p:cNvPicPr>
          <p:nvPr/>
        </p:nvPicPr>
        <p:blipFill>
          <a:blip r:embed="rId4" cstate="print"/>
          <a:srcRect/>
          <a:stretch>
            <a:fillRect/>
          </a:stretch>
        </p:blipFill>
        <p:spPr bwMode="auto">
          <a:xfrm>
            <a:off x="1000100" y="4572008"/>
            <a:ext cx="2500330" cy="2073445"/>
          </a:xfrm>
          <a:prstGeom prst="rect">
            <a:avLst/>
          </a:prstGeom>
          <a:noFill/>
          <a:ln w="9525">
            <a:noFill/>
            <a:miter lim="800000"/>
            <a:headEnd/>
            <a:tailEnd/>
          </a:ln>
          <a:effectLst/>
        </p:spPr>
      </p:pic>
      <p:grpSp>
        <p:nvGrpSpPr>
          <p:cNvPr id="4" name="组合 16"/>
          <p:cNvGrpSpPr/>
          <p:nvPr/>
        </p:nvGrpSpPr>
        <p:grpSpPr>
          <a:xfrm>
            <a:off x="1500166" y="4071942"/>
            <a:ext cx="3551807" cy="428628"/>
            <a:chOff x="1643042" y="4071942"/>
            <a:chExt cx="3551807" cy="428628"/>
          </a:xfrm>
        </p:grpSpPr>
        <p:sp>
          <p:nvSpPr>
            <p:cNvPr id="15" name="右箭头 14"/>
            <p:cNvSpPr/>
            <p:nvPr/>
          </p:nvSpPr>
          <p:spPr bwMode="auto">
            <a:xfrm rot="5400000">
              <a:off x="1607323" y="4107661"/>
              <a:ext cx="428628" cy="357190"/>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16" name="矩形 15"/>
            <p:cNvSpPr/>
            <p:nvPr/>
          </p:nvSpPr>
          <p:spPr>
            <a:xfrm>
              <a:off x="2214546" y="4071942"/>
              <a:ext cx="2980303" cy="369332"/>
            </a:xfrm>
            <a:prstGeom prst="rect">
              <a:avLst/>
            </a:prstGeom>
          </p:spPr>
          <p:txBody>
            <a:bodyPr wrap="none">
              <a:spAutoFit/>
            </a:bodyPr>
            <a:lstStyle/>
            <a:p>
              <a:r>
                <a:rPr lang="zh-CN" altLang="en-US" b="1">
                  <a:solidFill>
                    <a:srgbClr val="C00000"/>
                  </a:solidFill>
                </a:rPr>
                <a:t>虚铰</a:t>
              </a:r>
              <a:r>
                <a:rPr lang="zh-CN" altLang="en-US" b="1"/>
                <a:t>：</a:t>
              </a:r>
              <a:r>
                <a:rPr lang="en-US" altLang="zh-CN" b="1"/>
                <a:t>2</a:t>
              </a:r>
              <a:r>
                <a:rPr lang="zh-CN" altLang="en-US" b="1"/>
                <a:t>相交链杆构成</a:t>
              </a:r>
              <a:r>
                <a:rPr lang="en-US" altLang="zh-CN" b="1"/>
                <a:t>1</a:t>
              </a:r>
              <a:r>
                <a:rPr lang="zh-CN" altLang="en-US" b="1"/>
                <a:t>虚铰</a:t>
              </a:r>
            </a:p>
          </p:txBody>
        </p:sp>
      </p:grpSp>
      <p:grpSp>
        <p:nvGrpSpPr>
          <p:cNvPr id="21" name="组合 20"/>
          <p:cNvGrpSpPr/>
          <p:nvPr/>
        </p:nvGrpSpPr>
        <p:grpSpPr>
          <a:xfrm>
            <a:off x="3929058" y="5143512"/>
            <a:ext cx="1714512" cy="785818"/>
            <a:chOff x="3929058" y="5143512"/>
            <a:chExt cx="1714512" cy="785818"/>
          </a:xfrm>
        </p:grpSpPr>
        <p:sp>
          <p:nvSpPr>
            <p:cNvPr id="19" name="右箭头 18"/>
            <p:cNvSpPr/>
            <p:nvPr/>
          </p:nvSpPr>
          <p:spPr bwMode="auto">
            <a:xfrm>
              <a:off x="3929058" y="5500702"/>
              <a:ext cx="1714512" cy="428628"/>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20" name="矩形 19"/>
            <p:cNvSpPr/>
            <p:nvPr/>
          </p:nvSpPr>
          <p:spPr>
            <a:xfrm>
              <a:off x="4000496" y="5143512"/>
              <a:ext cx="1338828" cy="369332"/>
            </a:xfrm>
            <a:prstGeom prst="rect">
              <a:avLst/>
            </a:prstGeom>
          </p:spPr>
          <p:txBody>
            <a:bodyPr wrap="none">
              <a:spAutoFit/>
            </a:bodyPr>
            <a:lstStyle/>
            <a:p>
              <a:r>
                <a:rPr lang="zh-CN" altLang="en-US" b="1"/>
                <a:t>刚片链杆化</a:t>
              </a:r>
            </a:p>
          </p:txBody>
        </p:sp>
      </p:grpSp>
      <p:grpSp>
        <p:nvGrpSpPr>
          <p:cNvPr id="23" name="组合 22"/>
          <p:cNvGrpSpPr/>
          <p:nvPr/>
        </p:nvGrpSpPr>
        <p:grpSpPr>
          <a:xfrm>
            <a:off x="6000760" y="4572008"/>
            <a:ext cx="2631959" cy="2072640"/>
            <a:chOff x="6000760" y="4572008"/>
            <a:chExt cx="2631959" cy="2072640"/>
          </a:xfrm>
        </p:grpSpPr>
        <p:pic>
          <p:nvPicPr>
            <p:cNvPr id="86020" name="Picture 4"/>
            <p:cNvPicPr>
              <a:picLocks noChangeAspect="1" noChangeArrowheads="1"/>
            </p:cNvPicPr>
            <p:nvPr/>
          </p:nvPicPr>
          <p:blipFill>
            <a:blip r:embed="rId5" cstate="print"/>
            <a:srcRect/>
            <a:stretch>
              <a:fillRect/>
            </a:stretch>
          </p:blipFill>
          <p:spPr bwMode="auto">
            <a:xfrm>
              <a:off x="6000760" y="4572008"/>
              <a:ext cx="2499360" cy="2072640"/>
            </a:xfrm>
            <a:prstGeom prst="rect">
              <a:avLst/>
            </a:prstGeom>
            <a:noFill/>
            <a:ln w="9525">
              <a:noFill/>
              <a:miter lim="800000"/>
              <a:headEnd/>
              <a:tailEnd/>
            </a:ln>
            <a:effectLst/>
          </p:spPr>
        </p:pic>
        <p:sp>
          <p:nvSpPr>
            <p:cNvPr id="22" name="TextBox 21"/>
            <p:cNvSpPr txBox="1"/>
            <p:nvPr/>
          </p:nvSpPr>
          <p:spPr>
            <a:xfrm>
              <a:off x="7858148" y="4786322"/>
              <a:ext cx="774571" cy="369332"/>
            </a:xfrm>
            <a:prstGeom prst="rect">
              <a:avLst/>
            </a:prstGeom>
            <a:noFill/>
            <a:ln w="28575">
              <a:solidFill>
                <a:srgbClr val="C00000"/>
              </a:solidFill>
            </a:ln>
          </p:spPr>
          <p:txBody>
            <a:bodyPr wrap="none" rtlCol="0">
              <a:spAutoFit/>
            </a:bodyPr>
            <a:lstStyle/>
            <a:p>
              <a:r>
                <a:rPr lang="zh-CN" altLang="en-US" b="1">
                  <a:solidFill>
                    <a:srgbClr val="C00000"/>
                  </a:solidFill>
                </a:rPr>
                <a:t>规律</a:t>
              </a:r>
              <a:r>
                <a:rPr lang="en-US" altLang="zh-CN" b="1">
                  <a:solidFill>
                    <a:srgbClr val="C00000"/>
                  </a:solidFill>
                </a:rPr>
                <a:t>3</a:t>
              </a:r>
              <a:endParaRPr lang="zh-CN" altLang="en-US" b="1">
                <a:solidFill>
                  <a:srgbClr val="C0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6019"/>
                                        </p:tgtEl>
                                        <p:attrNameLst>
                                          <p:attrName>style.visibility</p:attrName>
                                        </p:attrNameLst>
                                      </p:cBhvr>
                                      <p:to>
                                        <p:strVal val="visible"/>
                                      </p:to>
                                    </p:set>
                                    <p:anim calcmode="lin" valueType="num">
                                      <p:cBhvr additive="base">
                                        <p:cTn id="12" dur="500" fill="hold"/>
                                        <p:tgtEl>
                                          <p:spTgt spid="86019"/>
                                        </p:tgtEl>
                                        <p:attrNameLst>
                                          <p:attrName>ppt_x</p:attrName>
                                        </p:attrNameLst>
                                      </p:cBhvr>
                                      <p:tavLst>
                                        <p:tav tm="0">
                                          <p:val>
                                            <p:strVal val="#ppt_x"/>
                                          </p:val>
                                        </p:tav>
                                        <p:tav tm="100000">
                                          <p:val>
                                            <p:strVal val="#ppt_x"/>
                                          </p:val>
                                        </p:tav>
                                      </p:tavLst>
                                    </p:anim>
                                    <p:anim calcmode="lin" valueType="num">
                                      <p:cBhvr additive="base">
                                        <p:cTn id="13" dur="500" fill="hold"/>
                                        <p:tgtEl>
                                          <p:spTgt spid="8601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20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500" fill="hold"/>
                                        <p:tgtEl>
                                          <p:spTgt spid="23"/>
                                        </p:tgtEl>
                                        <p:attrNameLst>
                                          <p:attrName>ppt_x</p:attrName>
                                        </p:attrNameLst>
                                      </p:cBhvr>
                                      <p:tavLst>
                                        <p:tav tm="0">
                                          <p:val>
                                            <p:strVal val="#ppt_x"/>
                                          </p:val>
                                        </p:tav>
                                        <p:tav tm="100000">
                                          <p:val>
                                            <p:strVal val="#ppt_x"/>
                                          </p:val>
                                        </p:tav>
                                      </p:tavLst>
                                    </p:anim>
                                    <p:anim calcmode="lin" valueType="num">
                                      <p:cBhvr additive="base">
                                        <p:cTn id="2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175653" cy="3303595"/>
          </a:xfrm>
          <a:ln>
            <a:noFill/>
          </a:ln>
        </p:spPr>
        <p:txBody>
          <a:bodyPr/>
          <a:lstStyle/>
          <a:p>
            <a:pPr lvl="0"/>
            <a:r>
              <a:rPr lang="zh-CN" altLang="en-US"/>
              <a:t>主要规律</a:t>
            </a:r>
            <a:endParaRPr lang="en-US" altLang="zh-CN"/>
          </a:p>
          <a:p>
            <a:pPr lvl="1">
              <a:lnSpc>
                <a:spcPct val="150000"/>
              </a:lnSpc>
              <a:spcBef>
                <a:spcPts val="0"/>
              </a:spcBef>
            </a:pPr>
            <a:r>
              <a:rPr lang="zh-CN" altLang="en-US"/>
              <a:t>万变归宗</a:t>
            </a:r>
            <a:endParaRPr lang="en-US" altLang="zh-CN"/>
          </a:p>
          <a:p>
            <a:pPr marL="2339975" lvl="1" indent="-1984375">
              <a:lnSpc>
                <a:spcPct val="130000"/>
              </a:lnSpc>
              <a:spcBef>
                <a:spcPts val="0"/>
              </a:spcBef>
              <a:buNone/>
            </a:pPr>
            <a:r>
              <a:rPr lang="zh-CN" altLang="en-US"/>
              <a:t>      三角形规律：如果三个铰不共线，则一个铰接三角形是无多余约  束的几何不变体系。</a:t>
            </a: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平面几何不变体系的组成规律</a:t>
            </a:r>
            <a:endParaRPr lang="zh-CN" altLang="en-US" sz="3600" dirty="0"/>
          </a:p>
        </p:txBody>
      </p:sp>
      <p:pic>
        <p:nvPicPr>
          <p:cNvPr id="17" name="Picture 2"/>
          <p:cNvPicPr>
            <a:picLocks noChangeAspect="1" noChangeArrowheads="1"/>
          </p:cNvPicPr>
          <p:nvPr/>
        </p:nvPicPr>
        <p:blipFill>
          <a:blip r:embed="rId3" cstate="print"/>
          <a:srcRect l="12057" t="13158" r="12160" b="15789"/>
          <a:stretch>
            <a:fillRect/>
          </a:stretch>
        </p:blipFill>
        <p:spPr bwMode="auto">
          <a:xfrm>
            <a:off x="857224" y="2928934"/>
            <a:ext cx="1928826" cy="1578130"/>
          </a:xfrm>
          <a:prstGeom prst="rect">
            <a:avLst/>
          </a:prstGeom>
          <a:noFill/>
          <a:ln w="9525">
            <a:noFill/>
            <a:miter lim="800000"/>
            <a:headEnd/>
            <a:tailEnd/>
          </a:ln>
          <a:effectLst/>
        </p:spPr>
      </p:pic>
      <p:pic>
        <p:nvPicPr>
          <p:cNvPr id="18" name="Picture 2"/>
          <p:cNvPicPr>
            <a:picLocks noChangeAspect="1" noChangeArrowheads="1"/>
          </p:cNvPicPr>
          <p:nvPr/>
        </p:nvPicPr>
        <p:blipFill>
          <a:blip r:embed="rId4" cstate="print"/>
          <a:srcRect l="5714" t="9782" r="5238" b="6532"/>
          <a:stretch>
            <a:fillRect/>
          </a:stretch>
        </p:blipFill>
        <p:spPr bwMode="auto">
          <a:xfrm>
            <a:off x="714348" y="4768718"/>
            <a:ext cx="2081907" cy="1714512"/>
          </a:xfrm>
          <a:prstGeom prst="rect">
            <a:avLst/>
          </a:prstGeom>
          <a:noFill/>
          <a:ln w="9525">
            <a:noFill/>
            <a:miter lim="800000"/>
            <a:headEnd/>
            <a:tailEnd/>
          </a:ln>
          <a:effectLst/>
        </p:spPr>
      </p:pic>
      <p:pic>
        <p:nvPicPr>
          <p:cNvPr id="21" name="Picture 2"/>
          <p:cNvPicPr>
            <a:picLocks noChangeAspect="1" noChangeArrowheads="1"/>
          </p:cNvPicPr>
          <p:nvPr/>
        </p:nvPicPr>
        <p:blipFill>
          <a:blip r:embed="rId5" cstate="print"/>
          <a:srcRect l="7500" t="9602"/>
          <a:stretch>
            <a:fillRect/>
          </a:stretch>
        </p:blipFill>
        <p:spPr bwMode="auto">
          <a:xfrm>
            <a:off x="6500826" y="2857496"/>
            <a:ext cx="2246053" cy="1714512"/>
          </a:xfrm>
          <a:prstGeom prst="rect">
            <a:avLst/>
          </a:prstGeom>
          <a:noFill/>
          <a:ln w="9525">
            <a:noFill/>
            <a:miter lim="800000"/>
            <a:headEnd/>
            <a:tailEnd/>
          </a:ln>
          <a:effectLst/>
        </p:spPr>
      </p:pic>
      <p:pic>
        <p:nvPicPr>
          <p:cNvPr id="24" name="Picture 4"/>
          <p:cNvPicPr>
            <a:picLocks noChangeAspect="1" noChangeArrowheads="1"/>
          </p:cNvPicPr>
          <p:nvPr/>
        </p:nvPicPr>
        <p:blipFill>
          <a:blip r:embed="rId6" cstate="print"/>
          <a:srcRect/>
          <a:stretch>
            <a:fillRect/>
          </a:stretch>
        </p:blipFill>
        <p:spPr bwMode="auto">
          <a:xfrm>
            <a:off x="6500826" y="4714884"/>
            <a:ext cx="2143140" cy="1717996"/>
          </a:xfrm>
          <a:prstGeom prst="rect">
            <a:avLst/>
          </a:prstGeom>
          <a:noFill/>
          <a:ln w="9525">
            <a:noFill/>
            <a:miter lim="800000"/>
            <a:headEnd/>
            <a:tailEnd/>
          </a:ln>
          <a:effectLst/>
        </p:spPr>
      </p:pic>
      <p:pic>
        <p:nvPicPr>
          <p:cNvPr id="88065" name="Picture 1" descr="C:\Users\Administrator\AppData\Roaming\Tencent\Users\174520645\QQ\WinTemp\RichOle\@2M$I)NE0]K(GLW$8Y0WBTW.png"/>
          <p:cNvPicPr>
            <a:picLocks noChangeAspect="1" noChangeArrowheads="1"/>
          </p:cNvPicPr>
          <p:nvPr/>
        </p:nvPicPr>
        <p:blipFill>
          <a:blip r:embed="rId7" cstate="print"/>
          <a:srcRect/>
          <a:stretch>
            <a:fillRect/>
          </a:stretch>
        </p:blipFill>
        <p:spPr bwMode="auto">
          <a:xfrm>
            <a:off x="3428992" y="3214686"/>
            <a:ext cx="2810210" cy="2571768"/>
          </a:xfrm>
          <a:prstGeom prst="rect">
            <a:avLst/>
          </a:prstGeom>
          <a:noFill/>
        </p:spPr>
      </p:pic>
      <p:sp>
        <p:nvSpPr>
          <p:cNvPr id="28" name="右箭头 27"/>
          <p:cNvSpPr/>
          <p:nvPr/>
        </p:nvSpPr>
        <p:spPr bwMode="auto">
          <a:xfrm rot="12253668">
            <a:off x="3194507" y="3801626"/>
            <a:ext cx="500066" cy="357190"/>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29" name="右箭头 28"/>
          <p:cNvSpPr/>
          <p:nvPr/>
        </p:nvSpPr>
        <p:spPr bwMode="auto">
          <a:xfrm rot="9384119">
            <a:off x="3267178" y="5656898"/>
            <a:ext cx="500066" cy="366754"/>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30" name="右箭头 29"/>
          <p:cNvSpPr/>
          <p:nvPr/>
        </p:nvSpPr>
        <p:spPr bwMode="auto">
          <a:xfrm rot="19956801">
            <a:off x="5628461" y="3809212"/>
            <a:ext cx="500066" cy="366754"/>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31" name="右箭头 30"/>
          <p:cNvSpPr/>
          <p:nvPr/>
        </p:nvSpPr>
        <p:spPr bwMode="auto">
          <a:xfrm rot="1627270">
            <a:off x="5712043" y="5655869"/>
            <a:ext cx="553990" cy="357190"/>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13"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175653" cy="4518041"/>
          </a:xfrm>
          <a:ln>
            <a:noFill/>
          </a:ln>
        </p:spPr>
        <p:txBody>
          <a:bodyPr/>
          <a:lstStyle/>
          <a:p>
            <a:pPr lvl="0"/>
            <a:r>
              <a:rPr lang="zh-CN" altLang="en-US"/>
              <a:t>主要规律</a:t>
            </a:r>
            <a:endParaRPr lang="en-US" altLang="zh-CN"/>
          </a:p>
          <a:p>
            <a:pPr lvl="1">
              <a:lnSpc>
                <a:spcPct val="150000"/>
              </a:lnSpc>
            </a:pPr>
            <a:r>
              <a:rPr lang="zh-CN" altLang="en-US"/>
              <a:t>万变归宗</a:t>
            </a:r>
            <a:endParaRPr lang="en-US" altLang="zh-CN"/>
          </a:p>
          <a:p>
            <a:pPr lvl="1">
              <a:lnSpc>
                <a:spcPct val="130000"/>
              </a:lnSpc>
              <a:spcBef>
                <a:spcPts val="600"/>
              </a:spcBef>
              <a:buNone/>
            </a:pPr>
            <a:r>
              <a:rPr lang="zh-CN" altLang="en-US"/>
              <a:t>    规律</a:t>
            </a:r>
            <a:r>
              <a:rPr lang="en-US" altLang="zh-CN"/>
              <a:t>1</a:t>
            </a:r>
            <a:r>
              <a:rPr lang="zh-CN" altLang="en-US"/>
              <a:t>：一个刚片与一个点用两根链杆相连，</a:t>
            </a:r>
            <a:r>
              <a:rPr lang="zh-CN" altLang="en-US">
                <a:solidFill>
                  <a:srgbClr val="C00000"/>
                </a:solidFill>
              </a:rPr>
              <a:t>且三个铰点不共线</a:t>
            </a:r>
            <a:r>
              <a:rPr lang="zh-CN" altLang="en-US"/>
              <a:t>，则能够组成无多余约束的几何不变体系；</a:t>
            </a:r>
            <a:endParaRPr lang="en-US" altLang="zh-CN"/>
          </a:p>
          <a:p>
            <a:pPr lvl="1">
              <a:lnSpc>
                <a:spcPct val="130000"/>
              </a:lnSpc>
              <a:spcBef>
                <a:spcPts val="600"/>
              </a:spcBef>
              <a:buNone/>
            </a:pPr>
            <a:r>
              <a:rPr lang="zh-CN" altLang="en-US"/>
              <a:t>    规律</a:t>
            </a:r>
            <a:r>
              <a:rPr lang="en-US" altLang="zh-CN"/>
              <a:t>2</a:t>
            </a:r>
            <a:r>
              <a:rPr lang="zh-CN" altLang="en-US"/>
              <a:t>：两个刚片用一个铰和一根链杆相联结，</a:t>
            </a:r>
            <a:r>
              <a:rPr lang="zh-CN" altLang="en-US">
                <a:solidFill>
                  <a:srgbClr val="C00000"/>
                </a:solidFill>
              </a:rPr>
              <a:t>且三个铰不共线</a:t>
            </a:r>
            <a:r>
              <a:rPr lang="zh-CN" altLang="en-US"/>
              <a:t>，则能够组成无多余约束的几何不变体系；</a:t>
            </a:r>
            <a:endParaRPr lang="en-US" altLang="zh-CN"/>
          </a:p>
          <a:p>
            <a:pPr lvl="1">
              <a:lnSpc>
                <a:spcPct val="130000"/>
              </a:lnSpc>
              <a:spcBef>
                <a:spcPts val="600"/>
              </a:spcBef>
              <a:buNone/>
            </a:pPr>
            <a:r>
              <a:rPr lang="zh-CN" altLang="en-US">
                <a:solidFill>
                  <a:srgbClr val="000000"/>
                </a:solidFill>
              </a:rPr>
              <a:t>    规律</a:t>
            </a:r>
            <a:r>
              <a:rPr lang="en-US" altLang="zh-CN">
                <a:solidFill>
                  <a:srgbClr val="000000"/>
                </a:solidFill>
              </a:rPr>
              <a:t>3</a:t>
            </a:r>
            <a:r>
              <a:rPr lang="zh-CN" altLang="en-US">
                <a:solidFill>
                  <a:srgbClr val="000000"/>
                </a:solidFill>
              </a:rPr>
              <a:t>：两个刚片用三根链杆相连，</a:t>
            </a:r>
            <a:r>
              <a:rPr lang="zh-CN" altLang="en-US">
                <a:solidFill>
                  <a:srgbClr val="C00000"/>
                </a:solidFill>
              </a:rPr>
              <a:t>且三根链杆不交于同一点</a:t>
            </a:r>
            <a:r>
              <a:rPr lang="zh-CN" altLang="en-US">
                <a:solidFill>
                  <a:srgbClr val="000000"/>
                </a:solidFill>
              </a:rPr>
              <a:t>，则能够组成无多余约束的几何不变体系；</a:t>
            </a:r>
            <a:endParaRPr lang="en-US" altLang="zh-CN">
              <a:solidFill>
                <a:srgbClr val="000000"/>
              </a:solidFill>
            </a:endParaRPr>
          </a:p>
          <a:p>
            <a:pPr lvl="1">
              <a:lnSpc>
                <a:spcPct val="130000"/>
              </a:lnSpc>
              <a:buNone/>
            </a:pPr>
            <a:r>
              <a:rPr lang="zh-CN" altLang="en-US"/>
              <a:t>    规律</a:t>
            </a:r>
            <a:r>
              <a:rPr lang="en-US" altLang="zh-CN"/>
              <a:t>4</a:t>
            </a:r>
            <a:r>
              <a:rPr lang="zh-CN" altLang="en-US"/>
              <a:t>：三个刚片用</a:t>
            </a:r>
            <a:r>
              <a:rPr lang="zh-CN" altLang="en-US">
                <a:solidFill>
                  <a:srgbClr val="C00000"/>
                </a:solidFill>
              </a:rPr>
              <a:t>不共线</a:t>
            </a:r>
            <a:r>
              <a:rPr lang="zh-CN" altLang="en-US"/>
              <a:t>的三个单铰两两相连，则能够组成无多余约束的几何不变体系；            </a:t>
            </a:r>
            <a:endParaRPr lang="en-US" altLang="zh-CN"/>
          </a:p>
          <a:p>
            <a:pPr lvl="1">
              <a:lnSpc>
                <a:spcPct val="130000"/>
              </a:lnSpc>
              <a:spcBef>
                <a:spcPts val="600"/>
              </a:spcBef>
              <a:buNone/>
            </a:pPr>
            <a:endParaRPr lang="en-US" altLang="zh-CN">
              <a:solidFill>
                <a:srgbClr val="000000"/>
              </a:solidFill>
            </a:endParaRPr>
          </a:p>
          <a:p>
            <a:pPr lvl="1">
              <a:lnSpc>
                <a:spcPct val="130000"/>
              </a:lnSpc>
              <a:spcBef>
                <a:spcPts val="600"/>
              </a:spcBef>
              <a:buNone/>
            </a:pPr>
            <a:endParaRPr lang="en-US" altLang="zh-CN"/>
          </a:p>
          <a:p>
            <a:pPr lvl="1">
              <a:lnSpc>
                <a:spcPct val="130000"/>
              </a:lnSpc>
              <a:spcBef>
                <a:spcPts val="600"/>
              </a:spcBef>
              <a:buNone/>
            </a:pPr>
            <a:r>
              <a:rPr lang="en-US" altLang="zh-CN"/>
              <a:t>     </a:t>
            </a:r>
          </a:p>
          <a:p>
            <a:pPr lvl="1">
              <a:lnSpc>
                <a:spcPct val="150000"/>
              </a:lnSpc>
              <a:buNone/>
            </a:pP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平面几何不变体系的组成规律</a:t>
            </a:r>
            <a:endParaRPr lang="zh-CN" altLang="en-US" sz="3600" dirty="0"/>
          </a:p>
        </p:txBody>
      </p:sp>
      <p:sp>
        <p:nvSpPr>
          <p:cNvPr id="7" name="矩形 6"/>
          <p:cNvSpPr/>
          <p:nvPr/>
        </p:nvSpPr>
        <p:spPr>
          <a:xfrm>
            <a:off x="1928794" y="5929330"/>
            <a:ext cx="5786446" cy="400110"/>
          </a:xfrm>
          <a:prstGeom prst="rect">
            <a:avLst/>
          </a:prstGeom>
        </p:spPr>
        <p:txBody>
          <a:bodyPr wrap="square">
            <a:spAutoFit/>
          </a:bodyPr>
          <a:lstStyle/>
          <a:p>
            <a:r>
              <a:rPr lang="zh-CN" altLang="en-US" sz="2000" b="1">
                <a:solidFill>
                  <a:srgbClr val="C00000"/>
                </a:solidFill>
              </a:rPr>
              <a:t>这些不共线、不交于一点的条件如不满足，会怎样？</a:t>
            </a:r>
          </a:p>
        </p:txBody>
      </p:sp>
      <p:sp>
        <p:nvSpPr>
          <p:cNvPr id="5"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r>
              <a:rPr lang="zh-CN" altLang="en-US"/>
              <a:t>二看瞬变体系</a:t>
            </a:r>
            <a:endParaRPr lang="en-US" altLang="zh-CN"/>
          </a:p>
          <a:p>
            <a:pPr marL="719138" lvl="1">
              <a:lnSpc>
                <a:spcPct val="130000"/>
              </a:lnSpc>
              <a:spcBef>
                <a:spcPts val="0"/>
              </a:spcBef>
            </a:pPr>
            <a:r>
              <a:rPr lang="zh-CN" altLang="en-US"/>
              <a:t>三刚片三单铰共线</a:t>
            </a:r>
            <a:endParaRPr lang="en-US" altLang="zh-CN"/>
          </a:p>
          <a:p>
            <a:pPr marL="719138" lvl="1">
              <a:lnSpc>
                <a:spcPct val="130000"/>
              </a:lnSpc>
              <a:spcBef>
                <a:spcPts val="0"/>
              </a:spcBef>
            </a:pPr>
            <a:endParaRPr lang="en-US" altLang="zh-CN"/>
          </a:p>
          <a:p>
            <a:pPr marL="719138" lvl="1">
              <a:lnSpc>
                <a:spcPct val="130000"/>
              </a:lnSpc>
              <a:spcBef>
                <a:spcPts val="0"/>
              </a:spcBef>
            </a:pPr>
            <a:endParaRPr lang="en-US" altLang="zh-CN"/>
          </a:p>
          <a:p>
            <a:pPr marL="719138" lvl="1">
              <a:lnSpc>
                <a:spcPct val="130000"/>
              </a:lnSpc>
              <a:spcBef>
                <a:spcPts val="0"/>
              </a:spcBef>
              <a:buNone/>
            </a:pPr>
            <a:endParaRPr lang="en-US" altLang="zh-CN"/>
          </a:p>
          <a:p>
            <a:pPr marL="719138" lvl="1">
              <a:lnSpc>
                <a:spcPct val="130000"/>
              </a:lnSpc>
              <a:spcBef>
                <a:spcPts val="0"/>
              </a:spcBef>
            </a:pPr>
            <a:endParaRPr lang="en-US" altLang="zh-CN"/>
          </a:p>
          <a:p>
            <a:pPr marL="719138" lvl="1">
              <a:lnSpc>
                <a:spcPct val="130000"/>
              </a:lnSpc>
              <a:spcBef>
                <a:spcPts val="0"/>
              </a:spcBef>
            </a:pPr>
            <a:r>
              <a:rPr lang="zh-CN" altLang="en-US"/>
              <a:t>两刚片三链杆交于一点</a:t>
            </a:r>
            <a:endParaRPr lang="en-US" altLang="zh-CN"/>
          </a:p>
          <a:p>
            <a:pPr marL="719138" lvl="1">
              <a:lnSpc>
                <a:spcPct val="130000"/>
              </a:lnSpc>
              <a:spcBef>
                <a:spcPts val="0"/>
              </a:spcBef>
            </a:pP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平面几何不变体系的组成规律</a:t>
            </a:r>
            <a:endParaRPr lang="zh-CN" altLang="en-US" sz="3600" dirty="0"/>
          </a:p>
        </p:txBody>
      </p:sp>
      <p:grpSp>
        <p:nvGrpSpPr>
          <p:cNvPr id="8" name="组合 7"/>
          <p:cNvGrpSpPr/>
          <p:nvPr/>
        </p:nvGrpSpPr>
        <p:grpSpPr>
          <a:xfrm>
            <a:off x="4857752" y="2055118"/>
            <a:ext cx="2857520" cy="1764939"/>
            <a:chOff x="1142976" y="2714620"/>
            <a:chExt cx="2857520" cy="1764939"/>
          </a:xfrm>
        </p:grpSpPr>
        <p:pic>
          <p:nvPicPr>
            <p:cNvPr id="9" name="Picture 2"/>
            <p:cNvPicPr>
              <a:picLocks noChangeAspect="1" noChangeArrowheads="1"/>
            </p:cNvPicPr>
            <p:nvPr/>
          </p:nvPicPr>
          <p:blipFill>
            <a:blip r:embed="rId3" cstate="print"/>
            <a:srcRect l="4782" r="13924"/>
            <a:stretch>
              <a:fillRect/>
            </a:stretch>
          </p:blipFill>
          <p:spPr bwMode="auto">
            <a:xfrm>
              <a:off x="1142976" y="2714620"/>
              <a:ext cx="2857520" cy="1764939"/>
            </a:xfrm>
            <a:prstGeom prst="rect">
              <a:avLst/>
            </a:prstGeom>
            <a:noFill/>
            <a:ln w="9525">
              <a:noFill/>
              <a:miter lim="800000"/>
              <a:headEnd/>
              <a:tailEnd/>
            </a:ln>
            <a:effectLst/>
          </p:spPr>
        </p:pic>
        <p:cxnSp>
          <p:nvCxnSpPr>
            <p:cNvPr id="11" name="直接连接符 10"/>
            <p:cNvCxnSpPr/>
            <p:nvPr/>
          </p:nvCxnSpPr>
          <p:spPr bwMode="auto">
            <a:xfrm flipV="1">
              <a:off x="1285852" y="3286124"/>
              <a:ext cx="1285884" cy="357190"/>
            </a:xfrm>
            <a:prstGeom prst="line">
              <a:avLst/>
            </a:prstGeom>
            <a:solidFill>
              <a:schemeClr val="accent1"/>
            </a:solidFill>
            <a:ln w="28575" cap="flat" cmpd="sng" algn="ctr">
              <a:solidFill>
                <a:srgbClr val="00B050"/>
              </a:solidFill>
              <a:prstDash val="solid"/>
              <a:round/>
              <a:headEnd type="none" w="med" len="med"/>
              <a:tailEnd type="none" w="med" len="med"/>
            </a:ln>
            <a:effectLst/>
          </p:spPr>
        </p:cxnSp>
        <p:cxnSp>
          <p:nvCxnSpPr>
            <p:cNvPr id="12" name="直接连接符 11"/>
            <p:cNvCxnSpPr/>
            <p:nvPr/>
          </p:nvCxnSpPr>
          <p:spPr bwMode="auto">
            <a:xfrm>
              <a:off x="2571736" y="3286124"/>
              <a:ext cx="1285884" cy="357190"/>
            </a:xfrm>
            <a:prstGeom prst="line">
              <a:avLst/>
            </a:prstGeom>
            <a:solidFill>
              <a:schemeClr val="accent1"/>
            </a:solidFill>
            <a:ln w="28575" cap="flat" cmpd="sng" algn="ctr">
              <a:solidFill>
                <a:srgbClr val="00B050"/>
              </a:solidFill>
              <a:prstDash val="solid"/>
              <a:round/>
              <a:headEnd type="none" w="med" len="med"/>
              <a:tailEnd type="none" w="med" len="med"/>
            </a:ln>
            <a:effectLst/>
          </p:spPr>
        </p:cxnSp>
        <p:sp>
          <p:nvSpPr>
            <p:cNvPr id="13" name="Oval 9"/>
            <p:cNvSpPr>
              <a:spLocks noChangeArrowheads="1"/>
            </p:cNvSpPr>
            <p:nvPr/>
          </p:nvSpPr>
          <p:spPr bwMode="auto">
            <a:xfrm>
              <a:off x="2500298" y="3218390"/>
              <a:ext cx="104340" cy="120385"/>
            </a:xfrm>
            <a:prstGeom prst="ellipse">
              <a:avLst/>
            </a:prstGeom>
            <a:solidFill>
              <a:schemeClr val="bg1"/>
            </a:solidFill>
            <a:ln w="28575">
              <a:solidFill>
                <a:srgbClr val="00B050"/>
              </a:solidFill>
              <a:round/>
              <a:headEnd/>
              <a:tailEnd/>
            </a:ln>
            <a:effectLst/>
          </p:spPr>
          <p:txBody>
            <a:bodyPr wrap="none" anchor="ctr">
              <a:spAutoFit/>
            </a:bodyPr>
            <a:lstStyle/>
            <a:p>
              <a:endParaRPr lang="zh-CN" altLang="en-US"/>
            </a:p>
          </p:txBody>
        </p:sp>
      </p:grpSp>
      <p:pic>
        <p:nvPicPr>
          <p:cNvPr id="14" name="Picture 2"/>
          <p:cNvPicPr>
            <a:picLocks noChangeAspect="1" noChangeArrowheads="1"/>
          </p:cNvPicPr>
          <p:nvPr/>
        </p:nvPicPr>
        <p:blipFill>
          <a:blip r:embed="rId3" cstate="print"/>
          <a:srcRect l="4782" t="8095" r="13924" b="10952"/>
          <a:stretch>
            <a:fillRect/>
          </a:stretch>
        </p:blipFill>
        <p:spPr bwMode="auto">
          <a:xfrm>
            <a:off x="1285852" y="2191976"/>
            <a:ext cx="2857520" cy="1428760"/>
          </a:xfrm>
          <a:prstGeom prst="rect">
            <a:avLst/>
          </a:prstGeom>
          <a:noFill/>
          <a:ln w="9525">
            <a:noFill/>
            <a:miter lim="800000"/>
            <a:headEnd/>
            <a:tailEnd/>
          </a:ln>
          <a:effectLst/>
        </p:spPr>
      </p:pic>
      <p:pic>
        <p:nvPicPr>
          <p:cNvPr id="15" name="Picture 6"/>
          <p:cNvPicPr>
            <a:picLocks noChangeAspect="1" noChangeArrowheads="1"/>
          </p:cNvPicPr>
          <p:nvPr/>
        </p:nvPicPr>
        <p:blipFill>
          <a:blip r:embed="rId4" cstate="print"/>
          <a:srcRect/>
          <a:stretch>
            <a:fillRect/>
          </a:stretch>
        </p:blipFill>
        <p:spPr bwMode="auto">
          <a:xfrm>
            <a:off x="642910" y="4214818"/>
            <a:ext cx="2241550" cy="2438400"/>
          </a:xfrm>
          <a:prstGeom prst="rect">
            <a:avLst/>
          </a:prstGeom>
          <a:noFill/>
        </p:spPr>
      </p:pic>
      <p:pic>
        <p:nvPicPr>
          <p:cNvPr id="16" name="Picture 7"/>
          <p:cNvPicPr>
            <a:picLocks noChangeAspect="1" noChangeArrowheads="1"/>
          </p:cNvPicPr>
          <p:nvPr/>
        </p:nvPicPr>
        <p:blipFill>
          <a:blip r:embed="rId5" cstate="print"/>
          <a:srcRect/>
          <a:stretch>
            <a:fillRect/>
          </a:stretch>
        </p:blipFill>
        <p:spPr bwMode="auto">
          <a:xfrm>
            <a:off x="2776510" y="4214818"/>
            <a:ext cx="2433638" cy="2438400"/>
          </a:xfrm>
          <a:prstGeom prst="rect">
            <a:avLst/>
          </a:prstGeom>
          <a:noFill/>
        </p:spPr>
      </p:pic>
      <p:pic>
        <p:nvPicPr>
          <p:cNvPr id="17" name="Picture 9"/>
          <p:cNvPicPr>
            <a:picLocks noChangeAspect="1" noChangeArrowheads="1"/>
          </p:cNvPicPr>
          <p:nvPr/>
        </p:nvPicPr>
        <p:blipFill>
          <a:blip r:embed="rId6" cstate="print"/>
          <a:srcRect/>
          <a:stretch>
            <a:fillRect/>
          </a:stretch>
        </p:blipFill>
        <p:spPr bwMode="auto">
          <a:xfrm>
            <a:off x="5062510" y="4214818"/>
            <a:ext cx="1857375" cy="2438400"/>
          </a:xfrm>
          <a:prstGeom prst="rect">
            <a:avLst/>
          </a:prstGeom>
          <a:noFill/>
        </p:spPr>
      </p:pic>
      <p:pic>
        <p:nvPicPr>
          <p:cNvPr id="18" name="Picture 10"/>
          <p:cNvPicPr>
            <a:picLocks noChangeAspect="1" noChangeArrowheads="1"/>
          </p:cNvPicPr>
          <p:nvPr/>
        </p:nvPicPr>
        <p:blipFill>
          <a:blip r:embed="rId7" cstate="print"/>
          <a:srcRect/>
          <a:stretch>
            <a:fillRect/>
          </a:stretch>
        </p:blipFill>
        <p:spPr bwMode="auto">
          <a:xfrm>
            <a:off x="6891310" y="4214818"/>
            <a:ext cx="2171700" cy="2438400"/>
          </a:xfrm>
          <a:prstGeom prst="rect">
            <a:avLst/>
          </a:prstGeom>
          <a:noFill/>
        </p:spPr>
      </p:pic>
      <p:grpSp>
        <p:nvGrpSpPr>
          <p:cNvPr id="36" name="组合 35"/>
          <p:cNvGrpSpPr/>
          <p:nvPr/>
        </p:nvGrpSpPr>
        <p:grpSpPr>
          <a:xfrm>
            <a:off x="7429520" y="4000504"/>
            <a:ext cx="1285884" cy="2071702"/>
            <a:chOff x="7429520" y="4000504"/>
            <a:chExt cx="1285884" cy="2071702"/>
          </a:xfrm>
        </p:grpSpPr>
        <p:grpSp>
          <p:nvGrpSpPr>
            <p:cNvPr id="34" name="组合 33"/>
            <p:cNvGrpSpPr/>
            <p:nvPr/>
          </p:nvGrpSpPr>
          <p:grpSpPr>
            <a:xfrm>
              <a:off x="7429520" y="4429132"/>
              <a:ext cx="1285884" cy="1643074"/>
              <a:chOff x="7429520" y="4714884"/>
              <a:chExt cx="1285884" cy="1643074"/>
            </a:xfrm>
          </p:grpSpPr>
          <p:cxnSp>
            <p:nvCxnSpPr>
              <p:cNvPr id="20" name="直接连接符 19"/>
              <p:cNvCxnSpPr/>
              <p:nvPr/>
            </p:nvCxnSpPr>
            <p:spPr bwMode="auto">
              <a:xfrm rot="16200000" flipH="1">
                <a:off x="7286644" y="4857760"/>
                <a:ext cx="1571636" cy="1285884"/>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21" name="直接连接符 20"/>
              <p:cNvCxnSpPr/>
              <p:nvPr/>
            </p:nvCxnSpPr>
            <p:spPr bwMode="auto">
              <a:xfrm rot="5400000">
                <a:off x="7250925" y="4964917"/>
                <a:ext cx="1643074" cy="1143008"/>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sp>
          <p:nvSpPr>
            <p:cNvPr id="35" name="TextBox 34"/>
            <p:cNvSpPr txBox="1"/>
            <p:nvPr/>
          </p:nvSpPr>
          <p:spPr>
            <a:xfrm>
              <a:off x="7572396" y="4000504"/>
              <a:ext cx="1005403" cy="338554"/>
            </a:xfrm>
            <a:prstGeom prst="rect">
              <a:avLst/>
            </a:prstGeom>
            <a:noFill/>
            <a:ln w="28575">
              <a:noFill/>
            </a:ln>
          </p:spPr>
          <p:txBody>
            <a:bodyPr wrap="none" rtlCol="0">
              <a:spAutoFit/>
            </a:bodyPr>
            <a:lstStyle/>
            <a:p>
              <a:r>
                <a:rPr lang="zh-CN" altLang="en-US" sz="1600" b="1">
                  <a:solidFill>
                    <a:srgbClr val="C00000"/>
                  </a:solidFill>
                </a:rPr>
                <a:t>常变体系</a:t>
              </a:r>
            </a:p>
          </p:txBody>
        </p:sp>
      </p:grpSp>
      <p:sp>
        <p:nvSpPr>
          <p:cNvPr id="19"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2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4175125" cy="3303595"/>
          </a:xfrm>
          <a:ln>
            <a:noFill/>
          </a:ln>
        </p:spPr>
        <p:txBody>
          <a:bodyPr/>
          <a:lstStyle/>
          <a:p>
            <a:pPr lvl="0"/>
            <a:r>
              <a:rPr lang="zh-CN" altLang="en-US"/>
              <a:t>装配分析</a:t>
            </a:r>
            <a:endParaRPr lang="en-US" altLang="zh-CN"/>
          </a:p>
          <a:p>
            <a:pPr lvl="1">
              <a:lnSpc>
                <a:spcPct val="150000"/>
              </a:lnSpc>
            </a:pPr>
            <a:r>
              <a:rPr lang="zh-CN" altLang="en-US"/>
              <a:t>主结构和次结构</a:t>
            </a:r>
            <a:endParaRPr lang="en-US" altLang="zh-CN"/>
          </a:p>
          <a:p>
            <a:pPr lvl="1">
              <a:lnSpc>
                <a:spcPct val="150000"/>
              </a:lnSpc>
              <a:buNone/>
            </a:pPr>
            <a:r>
              <a:rPr lang="zh-CN" altLang="en-US"/>
              <a:t>    次结构受力，会传到主结构；</a:t>
            </a:r>
            <a:endParaRPr lang="en-US" altLang="zh-CN"/>
          </a:p>
          <a:p>
            <a:pPr lvl="1">
              <a:lnSpc>
                <a:spcPct val="150000"/>
              </a:lnSpc>
              <a:buNone/>
            </a:pPr>
            <a:r>
              <a:rPr lang="en-US" altLang="zh-CN"/>
              <a:t>    </a:t>
            </a:r>
            <a:r>
              <a:rPr lang="zh-CN" altLang="en-US"/>
              <a:t>主结构受力，不影响次结构。</a:t>
            </a:r>
            <a:endParaRPr lang="en-US" altLang="zh-CN"/>
          </a:p>
          <a:p>
            <a:pPr lvl="1">
              <a:lnSpc>
                <a:spcPct val="150000"/>
              </a:lnSpc>
              <a:buNone/>
            </a:pPr>
            <a:endParaRPr lang="en-US" altLang="zh-CN"/>
          </a:p>
          <a:p>
            <a:pPr lvl="1">
              <a:lnSpc>
                <a:spcPct val="150000"/>
              </a:lnSpc>
            </a:pPr>
            <a:r>
              <a:rPr lang="zh-CN" altLang="en-US"/>
              <a:t>装配分析目的</a:t>
            </a:r>
            <a:endParaRPr lang="en-US" altLang="zh-CN"/>
          </a:p>
          <a:p>
            <a:pPr lvl="1">
              <a:lnSpc>
                <a:spcPct val="150000"/>
              </a:lnSpc>
              <a:buNone/>
            </a:pPr>
            <a:r>
              <a:rPr lang="en-US" altLang="zh-CN"/>
              <a:t>    </a:t>
            </a:r>
            <a:r>
              <a:rPr lang="zh-CN" altLang="en-US"/>
              <a:t>分析结构是怎么搭建起来的，以便于后续的受力分析；</a:t>
            </a:r>
            <a:endParaRPr lang="en-US" altLang="zh-CN"/>
          </a:p>
          <a:p>
            <a:pPr lvl="1">
              <a:lnSpc>
                <a:spcPct val="150000"/>
              </a:lnSpc>
              <a:buNone/>
            </a:pPr>
            <a:r>
              <a:rPr lang="en-US" altLang="zh-CN"/>
              <a:t>    </a:t>
            </a:r>
            <a:r>
              <a:rPr lang="zh-CN" altLang="en-US"/>
              <a:t>（先次结构后主结构）</a:t>
            </a: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平面几何不变体系的组成规律</a:t>
            </a:r>
            <a:endParaRPr lang="zh-CN" altLang="en-US" sz="3600" dirty="0"/>
          </a:p>
        </p:txBody>
      </p:sp>
      <p:pic>
        <p:nvPicPr>
          <p:cNvPr id="5121" name="Picture 1"/>
          <p:cNvPicPr>
            <a:picLocks noChangeAspect="1" noChangeArrowheads="1"/>
          </p:cNvPicPr>
          <p:nvPr/>
        </p:nvPicPr>
        <p:blipFill>
          <a:blip r:embed="rId3" cstate="print"/>
          <a:srcRect/>
          <a:stretch>
            <a:fillRect/>
          </a:stretch>
        </p:blipFill>
        <p:spPr bwMode="auto">
          <a:xfrm>
            <a:off x="4714876" y="1285860"/>
            <a:ext cx="4214842" cy="2304304"/>
          </a:xfrm>
          <a:prstGeom prst="rect">
            <a:avLst/>
          </a:prstGeom>
          <a:noFill/>
          <a:ln w="9525">
            <a:noFill/>
            <a:miter lim="800000"/>
            <a:headEnd/>
            <a:tailEnd/>
          </a:ln>
          <a:effectLst/>
        </p:spPr>
      </p:pic>
      <p:pic>
        <p:nvPicPr>
          <p:cNvPr id="5122" name="Picture 2"/>
          <p:cNvPicPr>
            <a:picLocks noChangeAspect="1" noChangeArrowheads="1"/>
          </p:cNvPicPr>
          <p:nvPr/>
        </p:nvPicPr>
        <p:blipFill>
          <a:blip r:embed="rId4" cstate="print"/>
          <a:srcRect/>
          <a:stretch>
            <a:fillRect/>
          </a:stretch>
        </p:blipFill>
        <p:spPr bwMode="auto">
          <a:xfrm>
            <a:off x="4673932" y="3929066"/>
            <a:ext cx="4262434" cy="2000250"/>
          </a:xfrm>
          <a:prstGeom prst="rect">
            <a:avLst/>
          </a:prstGeom>
          <a:noFill/>
          <a:ln w="9525">
            <a:noFill/>
            <a:miter lim="800000"/>
            <a:headEnd/>
            <a:tailEnd/>
          </a:ln>
          <a:effectLst/>
        </p:spPr>
      </p:pic>
      <p:sp>
        <p:nvSpPr>
          <p:cNvPr id="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175653" cy="4660917"/>
          </a:xfrm>
          <a:ln>
            <a:noFill/>
          </a:ln>
        </p:spPr>
        <p:txBody>
          <a:bodyPr/>
          <a:lstStyle/>
          <a:p>
            <a:pPr lvl="0"/>
            <a:r>
              <a:rPr lang="zh-CN" altLang="en-US"/>
              <a:t>装配分析</a:t>
            </a:r>
            <a:endParaRPr lang="en-US" altLang="zh-CN"/>
          </a:p>
          <a:p>
            <a:pPr lvl="1">
              <a:lnSpc>
                <a:spcPct val="150000"/>
              </a:lnSpc>
              <a:spcBef>
                <a:spcPts val="0"/>
              </a:spcBef>
            </a:pPr>
            <a:r>
              <a:rPr lang="zh-CN" altLang="en-US"/>
              <a:t>装配格式</a:t>
            </a:r>
            <a:endParaRPr lang="en-US" altLang="zh-CN"/>
          </a:p>
          <a:p>
            <a:pPr lvl="1">
              <a:lnSpc>
                <a:spcPct val="150000"/>
              </a:lnSpc>
              <a:spcBef>
                <a:spcPts val="0"/>
              </a:spcBef>
              <a:buNone/>
            </a:pPr>
            <a:r>
              <a:rPr lang="zh-CN" altLang="en-US"/>
              <a:t>    </a:t>
            </a:r>
            <a:r>
              <a:rPr lang="en-US" altLang="zh-CN"/>
              <a:t>1 </a:t>
            </a:r>
            <a:r>
              <a:rPr lang="zh-CN" altLang="en-US"/>
              <a:t>简单装配格式：基本结构上逐次装配二元体。</a:t>
            </a:r>
            <a:endParaRPr lang="en-US" altLang="zh-CN"/>
          </a:p>
          <a:p>
            <a:pPr lvl="1" indent="-19050">
              <a:lnSpc>
                <a:spcPct val="130000"/>
              </a:lnSpc>
              <a:spcBef>
                <a:spcPts val="0"/>
              </a:spcBef>
              <a:buNone/>
            </a:pPr>
            <a:r>
              <a:rPr lang="zh-CN" altLang="en-US"/>
              <a:t> </a:t>
            </a:r>
            <a:r>
              <a:rPr lang="zh-CN" altLang="en-US">
                <a:solidFill>
                  <a:srgbClr val="C00000"/>
                </a:solidFill>
              </a:rPr>
              <a:t>二元体</a:t>
            </a:r>
            <a:r>
              <a:rPr lang="en-US" altLang="zh-CN"/>
              <a:t>: </a:t>
            </a:r>
            <a:r>
              <a:rPr lang="zh-CN" altLang="en-US"/>
              <a:t>在刚片上增加由两根链杆连接而成的一个新的铰结点，这种“两杆一铰”体系，称为二元体。</a:t>
            </a:r>
            <a:endParaRPr lang="en-US" altLang="zh-CN"/>
          </a:p>
          <a:p>
            <a:pPr lvl="1">
              <a:lnSpc>
                <a:spcPct val="150000"/>
              </a:lnSpc>
              <a:buNone/>
            </a:pP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平面几何不变体系的组成规律</a:t>
            </a:r>
            <a:endParaRPr lang="zh-CN" altLang="en-US" sz="3600" dirty="0"/>
          </a:p>
        </p:txBody>
      </p:sp>
      <p:pic>
        <p:nvPicPr>
          <p:cNvPr id="96259" name="Picture 3"/>
          <p:cNvPicPr>
            <a:picLocks noChangeAspect="1" noChangeArrowheads="1"/>
          </p:cNvPicPr>
          <p:nvPr/>
        </p:nvPicPr>
        <p:blipFill>
          <a:blip r:embed="rId3" cstate="print"/>
          <a:srcRect/>
          <a:stretch>
            <a:fillRect/>
          </a:stretch>
        </p:blipFill>
        <p:spPr bwMode="auto">
          <a:xfrm>
            <a:off x="714348" y="3714752"/>
            <a:ext cx="3596640" cy="2148840"/>
          </a:xfrm>
          <a:prstGeom prst="rect">
            <a:avLst/>
          </a:prstGeom>
          <a:noFill/>
          <a:ln w="9525">
            <a:noFill/>
            <a:miter lim="800000"/>
            <a:headEnd/>
            <a:tailEnd/>
          </a:ln>
          <a:effectLst/>
        </p:spPr>
      </p:pic>
      <p:grpSp>
        <p:nvGrpSpPr>
          <p:cNvPr id="9" name="组合 8"/>
          <p:cNvGrpSpPr/>
          <p:nvPr/>
        </p:nvGrpSpPr>
        <p:grpSpPr>
          <a:xfrm>
            <a:off x="4143372" y="3714752"/>
            <a:ext cx="4587232" cy="2143140"/>
            <a:chOff x="4556768" y="3714752"/>
            <a:chExt cx="4587232" cy="2143140"/>
          </a:xfrm>
        </p:grpSpPr>
        <p:pic>
          <p:nvPicPr>
            <p:cNvPr id="96258" name="Picture 2"/>
            <p:cNvPicPr>
              <a:picLocks noChangeAspect="1" noChangeArrowheads="1"/>
            </p:cNvPicPr>
            <p:nvPr/>
          </p:nvPicPr>
          <p:blipFill>
            <a:blip r:embed="rId4" cstate="print"/>
            <a:srcRect/>
            <a:stretch>
              <a:fillRect/>
            </a:stretch>
          </p:blipFill>
          <p:spPr bwMode="auto">
            <a:xfrm>
              <a:off x="5556900" y="3714752"/>
              <a:ext cx="3587100" cy="2143140"/>
            </a:xfrm>
            <a:prstGeom prst="rect">
              <a:avLst/>
            </a:prstGeom>
            <a:noFill/>
            <a:ln w="9525">
              <a:noFill/>
              <a:miter lim="800000"/>
              <a:headEnd/>
              <a:tailEnd/>
            </a:ln>
            <a:effectLst/>
          </p:spPr>
        </p:pic>
        <p:sp>
          <p:nvSpPr>
            <p:cNvPr id="8" name="右箭头 7"/>
            <p:cNvSpPr/>
            <p:nvPr/>
          </p:nvSpPr>
          <p:spPr bwMode="auto">
            <a:xfrm>
              <a:off x="4556768" y="4357694"/>
              <a:ext cx="500066" cy="357190"/>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sp>
        <p:nvSpPr>
          <p:cNvPr id="15" name="TextBox 14"/>
          <p:cNvSpPr txBox="1"/>
          <p:nvPr/>
        </p:nvSpPr>
        <p:spPr>
          <a:xfrm>
            <a:off x="3857620" y="6000768"/>
            <a:ext cx="1210588" cy="400110"/>
          </a:xfrm>
          <a:prstGeom prst="rect">
            <a:avLst/>
          </a:prstGeom>
          <a:solidFill>
            <a:schemeClr val="bg1"/>
          </a:solidFill>
          <a:ln w="28575">
            <a:solidFill>
              <a:srgbClr val="C00000"/>
            </a:solidFill>
          </a:ln>
        </p:spPr>
        <p:txBody>
          <a:bodyPr wrap="none" rtlCol="0">
            <a:spAutoFit/>
          </a:bodyPr>
          <a:lstStyle/>
          <a:p>
            <a:r>
              <a:rPr lang="zh-CN" altLang="en-US" sz="2000" b="1">
                <a:solidFill>
                  <a:srgbClr val="C00000"/>
                </a:solidFill>
              </a:rPr>
              <a:t>无多不变</a:t>
            </a:r>
          </a:p>
        </p:txBody>
      </p:sp>
      <p:sp>
        <p:nvSpPr>
          <p:cNvPr id="1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bg/>
                                          </p:spTgt>
                                        </p:tgtEl>
                                        <p:attrNameLst>
                                          <p:attrName>style.visibility</p:attrName>
                                        </p:attrNameLst>
                                      </p:cBhvr>
                                      <p:to>
                                        <p:strVal val="visible"/>
                                      </p:to>
                                    </p:set>
                                    <p:animEffect transition="in" filter="fade">
                                      <p:cBhvr>
                                        <p:cTn id="12" dur="2000"/>
                                        <p:tgtEl>
                                          <p:spTgt spid="15">
                                            <p:bg/>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animEffect transition="in" filter="fade">
                                      <p:cBhvr>
                                        <p:cTn id="15" dur="20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allAtOnce"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175653" cy="4660917"/>
          </a:xfrm>
          <a:ln>
            <a:noFill/>
          </a:ln>
        </p:spPr>
        <p:txBody>
          <a:bodyPr/>
          <a:lstStyle/>
          <a:p>
            <a:pPr lvl="0"/>
            <a:r>
              <a:rPr lang="zh-CN" altLang="en-US"/>
              <a:t>装配分析</a:t>
            </a:r>
            <a:endParaRPr lang="en-US" altLang="zh-CN"/>
          </a:p>
          <a:p>
            <a:pPr lvl="1">
              <a:lnSpc>
                <a:spcPct val="150000"/>
              </a:lnSpc>
              <a:spcBef>
                <a:spcPts val="0"/>
              </a:spcBef>
            </a:pPr>
            <a:r>
              <a:rPr lang="zh-CN" altLang="en-US"/>
              <a:t>装配格式</a:t>
            </a:r>
            <a:endParaRPr lang="en-US" altLang="zh-CN"/>
          </a:p>
          <a:p>
            <a:pPr lvl="1">
              <a:lnSpc>
                <a:spcPct val="150000"/>
              </a:lnSpc>
              <a:spcBef>
                <a:spcPts val="0"/>
              </a:spcBef>
              <a:buNone/>
            </a:pPr>
            <a:r>
              <a:rPr lang="zh-CN" altLang="en-US"/>
              <a:t>    </a:t>
            </a:r>
            <a:r>
              <a:rPr lang="en-US" altLang="zh-CN"/>
              <a:t>1 </a:t>
            </a:r>
            <a:r>
              <a:rPr lang="zh-CN" altLang="en-US"/>
              <a:t>简单装配格式：基本结构上逐次装配二元体。</a:t>
            </a:r>
            <a:endParaRPr lang="en-US" altLang="zh-CN"/>
          </a:p>
          <a:p>
            <a:pPr lvl="1" indent="-19050">
              <a:lnSpc>
                <a:spcPct val="130000"/>
              </a:lnSpc>
              <a:spcBef>
                <a:spcPts val="0"/>
              </a:spcBef>
              <a:buNone/>
            </a:pPr>
            <a:r>
              <a:rPr lang="zh-CN" altLang="en-US"/>
              <a:t>                                 </a:t>
            </a:r>
            <a:endParaRPr lang="en-US" altLang="zh-CN"/>
          </a:p>
          <a:p>
            <a:pPr lvl="1" indent="-19050">
              <a:lnSpc>
                <a:spcPct val="130000"/>
              </a:lnSpc>
              <a:spcBef>
                <a:spcPts val="0"/>
              </a:spcBef>
              <a:buNone/>
            </a:pPr>
            <a:r>
              <a:rPr lang="zh-CN" altLang="en-US"/>
              <a:t>                            </a:t>
            </a:r>
            <a:endParaRPr lang="en-US" altLang="zh-CN"/>
          </a:p>
          <a:p>
            <a:pPr lvl="1" indent="-19050">
              <a:lnSpc>
                <a:spcPct val="130000"/>
              </a:lnSpc>
              <a:spcBef>
                <a:spcPts val="0"/>
              </a:spcBef>
              <a:buNone/>
            </a:pPr>
            <a:r>
              <a:rPr lang="en-US" altLang="zh-CN"/>
              <a:t>                                                                   </a:t>
            </a:r>
            <a:r>
              <a:rPr lang="zh-CN" altLang="en-US"/>
              <a:t>如何减二元体？</a:t>
            </a:r>
            <a:endParaRPr lang="en-US" altLang="zh-CN"/>
          </a:p>
          <a:p>
            <a:pPr lvl="1">
              <a:lnSpc>
                <a:spcPct val="150000"/>
              </a:lnSpc>
              <a:buNone/>
            </a:pP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平面几何不变体系的组成规律</a:t>
            </a:r>
            <a:endParaRPr lang="zh-CN" altLang="en-US" sz="3600" dirty="0"/>
          </a:p>
        </p:txBody>
      </p:sp>
      <p:graphicFrame>
        <p:nvGraphicFramePr>
          <p:cNvPr id="9" name="Object 4"/>
          <p:cNvGraphicFramePr>
            <a:graphicFrameLocks noChangeAspect="1"/>
          </p:cNvGraphicFramePr>
          <p:nvPr/>
        </p:nvGraphicFramePr>
        <p:xfrm>
          <a:off x="714348" y="2857496"/>
          <a:ext cx="4929222" cy="1752613"/>
        </p:xfrm>
        <a:graphic>
          <a:graphicData uri="http://schemas.openxmlformats.org/presentationml/2006/ole">
            <mc:AlternateContent xmlns:mc="http://schemas.openxmlformats.org/markup-compatibility/2006">
              <mc:Choice xmlns:v="urn:schemas-microsoft-com:vml" Requires="v">
                <p:oleObj spid="_x0000_s99331" name="BMP 图象" r:id="rId4" imgW="5380952" imgH="2371429" progId="">
                  <p:embed/>
                </p:oleObj>
              </mc:Choice>
              <mc:Fallback>
                <p:oleObj name="BMP 图象" r:id="rId4" imgW="5380952" imgH="2371429"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4348" y="2857496"/>
                        <a:ext cx="4929222" cy="175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0" name="Picture 10" descr="1030-1"/>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3143240" y="4286256"/>
            <a:ext cx="5429288" cy="2142896"/>
          </a:xfrm>
          <a:prstGeom prst="rect">
            <a:avLst/>
          </a:prstGeom>
          <a:noFill/>
          <a:ln w="9525">
            <a:noFill/>
            <a:miter lim="800000"/>
            <a:headEnd/>
            <a:tailEnd/>
          </a:ln>
        </p:spPr>
      </p:pic>
      <p:sp>
        <p:nvSpPr>
          <p:cNvPr id="11" name="TextBox 10"/>
          <p:cNvSpPr txBox="1"/>
          <p:nvPr/>
        </p:nvSpPr>
        <p:spPr>
          <a:xfrm>
            <a:off x="1643042" y="5143512"/>
            <a:ext cx="1210588" cy="400110"/>
          </a:xfrm>
          <a:prstGeom prst="rect">
            <a:avLst/>
          </a:prstGeom>
          <a:solidFill>
            <a:schemeClr val="bg1"/>
          </a:solidFill>
          <a:ln w="28575">
            <a:solidFill>
              <a:srgbClr val="C00000"/>
            </a:solidFill>
          </a:ln>
        </p:spPr>
        <p:txBody>
          <a:bodyPr wrap="none" rtlCol="0">
            <a:spAutoFit/>
          </a:bodyPr>
          <a:lstStyle/>
          <a:p>
            <a:r>
              <a:rPr lang="zh-CN" altLang="en-US" sz="2000" b="1">
                <a:solidFill>
                  <a:srgbClr val="C00000"/>
                </a:solidFill>
              </a:rPr>
              <a:t>无多不变</a:t>
            </a:r>
          </a:p>
        </p:txBody>
      </p:sp>
      <p:sp>
        <p:nvSpPr>
          <p:cNvPr id="7"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9"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up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bg/>
                                          </p:spTgt>
                                        </p:tgtEl>
                                        <p:attrNameLst>
                                          <p:attrName>style.visibility</p:attrName>
                                        </p:attrNameLst>
                                      </p:cBhvr>
                                      <p:to>
                                        <p:strVal val="visible"/>
                                      </p:to>
                                    </p:set>
                                    <p:animEffect transition="in" filter="fade">
                                      <p:cBhvr>
                                        <p:cTn id="12" dur="2000"/>
                                        <p:tgtEl>
                                          <p:spTgt spid="11">
                                            <p:bg/>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animEffect transition="in" filter="fade">
                                      <p:cBhvr>
                                        <p:cTn id="15" dur="20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allAtOnce"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47091" cy="3303595"/>
          </a:xfrm>
          <a:ln>
            <a:noFill/>
          </a:ln>
        </p:spPr>
        <p:txBody>
          <a:bodyPr/>
          <a:lstStyle/>
          <a:p>
            <a:pPr lvl="0"/>
            <a:r>
              <a:rPr lang="zh-CN" altLang="en-US"/>
              <a:t>装配分析</a:t>
            </a:r>
            <a:endParaRPr lang="en-US" altLang="zh-CN"/>
          </a:p>
          <a:p>
            <a:pPr lvl="1">
              <a:lnSpc>
                <a:spcPct val="150000"/>
              </a:lnSpc>
              <a:spcBef>
                <a:spcPts val="0"/>
              </a:spcBef>
            </a:pPr>
            <a:r>
              <a:rPr lang="zh-CN" altLang="en-US"/>
              <a:t>装配格式</a:t>
            </a:r>
            <a:endParaRPr lang="en-US" altLang="zh-CN"/>
          </a:p>
          <a:p>
            <a:pPr marL="723900" lvl="1" indent="0">
              <a:lnSpc>
                <a:spcPct val="150000"/>
              </a:lnSpc>
              <a:spcBef>
                <a:spcPts val="0"/>
              </a:spcBef>
              <a:buNone/>
            </a:pPr>
            <a:r>
              <a:rPr lang="en-US" altLang="zh-CN"/>
              <a:t>2 </a:t>
            </a:r>
            <a:r>
              <a:rPr lang="zh-CN" altLang="en-US"/>
              <a:t>联合装配格式：用不共线的铰和链杆，或用不共点的三个链杆将一个刚片固定在基本刚片上的装配格式</a:t>
            </a:r>
          </a:p>
          <a:p>
            <a:pPr lvl="1">
              <a:lnSpc>
                <a:spcPct val="150000"/>
              </a:lnSpc>
              <a:buNone/>
            </a:pP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平面几何不变体系的组成规律</a:t>
            </a:r>
            <a:endParaRPr lang="zh-CN" altLang="en-US" sz="3600" dirty="0"/>
          </a:p>
        </p:txBody>
      </p:sp>
      <p:pic>
        <p:nvPicPr>
          <p:cNvPr id="96260" name="Picture 4"/>
          <p:cNvPicPr>
            <a:picLocks noChangeAspect="1" noChangeArrowheads="1"/>
          </p:cNvPicPr>
          <p:nvPr/>
        </p:nvPicPr>
        <p:blipFill>
          <a:blip r:embed="rId3" cstate="print"/>
          <a:srcRect/>
          <a:stretch>
            <a:fillRect/>
          </a:stretch>
        </p:blipFill>
        <p:spPr bwMode="auto">
          <a:xfrm>
            <a:off x="2786050" y="3571876"/>
            <a:ext cx="4259580" cy="441960"/>
          </a:xfrm>
          <a:prstGeom prst="rect">
            <a:avLst/>
          </a:prstGeom>
          <a:noFill/>
          <a:ln w="9525">
            <a:noFill/>
            <a:miter lim="800000"/>
            <a:headEnd/>
            <a:tailEnd/>
          </a:ln>
          <a:effectLst/>
        </p:spPr>
      </p:pic>
      <p:grpSp>
        <p:nvGrpSpPr>
          <p:cNvPr id="5" name="组合 13"/>
          <p:cNvGrpSpPr/>
          <p:nvPr/>
        </p:nvGrpSpPr>
        <p:grpSpPr>
          <a:xfrm>
            <a:off x="2786050" y="4500570"/>
            <a:ext cx="4259580" cy="1299216"/>
            <a:chOff x="4572000" y="5072074"/>
            <a:chExt cx="4259580" cy="1299216"/>
          </a:xfrm>
        </p:grpSpPr>
        <p:pic>
          <p:nvPicPr>
            <p:cNvPr id="96261" name="Picture 5"/>
            <p:cNvPicPr>
              <a:picLocks noChangeAspect="1" noChangeArrowheads="1"/>
            </p:cNvPicPr>
            <p:nvPr/>
          </p:nvPicPr>
          <p:blipFill>
            <a:blip r:embed="rId4" cstate="print"/>
            <a:srcRect/>
            <a:stretch>
              <a:fillRect/>
            </a:stretch>
          </p:blipFill>
          <p:spPr bwMode="auto">
            <a:xfrm>
              <a:off x="4572000" y="5929330"/>
              <a:ext cx="4259580" cy="441960"/>
            </a:xfrm>
            <a:prstGeom prst="rect">
              <a:avLst/>
            </a:prstGeom>
            <a:noFill/>
            <a:ln w="9525">
              <a:noFill/>
              <a:miter lim="800000"/>
              <a:headEnd/>
              <a:tailEnd/>
            </a:ln>
            <a:effectLst/>
          </p:spPr>
        </p:pic>
        <p:sp>
          <p:nvSpPr>
            <p:cNvPr id="13" name="右箭头 12"/>
            <p:cNvSpPr/>
            <p:nvPr/>
          </p:nvSpPr>
          <p:spPr bwMode="auto">
            <a:xfrm rot="5400000">
              <a:off x="6465107" y="5179231"/>
              <a:ext cx="500066" cy="285752"/>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sp>
        <p:nvSpPr>
          <p:cNvPr id="14" name="TextBox 13"/>
          <p:cNvSpPr txBox="1"/>
          <p:nvPr/>
        </p:nvSpPr>
        <p:spPr>
          <a:xfrm>
            <a:off x="1500166" y="4500570"/>
            <a:ext cx="1210588" cy="400110"/>
          </a:xfrm>
          <a:prstGeom prst="rect">
            <a:avLst/>
          </a:prstGeom>
          <a:solidFill>
            <a:schemeClr val="bg1"/>
          </a:solidFill>
          <a:ln w="28575">
            <a:solidFill>
              <a:srgbClr val="C00000"/>
            </a:solidFill>
          </a:ln>
        </p:spPr>
        <p:txBody>
          <a:bodyPr wrap="none" rtlCol="0">
            <a:spAutoFit/>
          </a:bodyPr>
          <a:lstStyle/>
          <a:p>
            <a:r>
              <a:rPr lang="zh-CN" altLang="en-US" sz="2000" b="1">
                <a:solidFill>
                  <a:srgbClr val="C00000"/>
                </a:solidFill>
              </a:rPr>
              <a:t>无多不变</a:t>
            </a:r>
          </a:p>
        </p:txBody>
      </p:sp>
      <p:sp>
        <p:nvSpPr>
          <p:cNvPr id="9"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6260"/>
                                        </p:tgtEl>
                                        <p:attrNameLst>
                                          <p:attrName>style.visibility</p:attrName>
                                        </p:attrNameLst>
                                      </p:cBhvr>
                                      <p:to>
                                        <p:strVal val="visible"/>
                                      </p:to>
                                    </p:set>
                                    <p:animEffect transition="in" filter="fade">
                                      <p:cBhvr>
                                        <p:cTn id="7" dur="2000"/>
                                        <p:tgtEl>
                                          <p:spTgt spid="962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bg/>
                                          </p:spTgt>
                                        </p:tgtEl>
                                        <p:attrNameLst>
                                          <p:attrName>style.visibility</p:attrName>
                                        </p:attrNameLst>
                                      </p:cBhvr>
                                      <p:to>
                                        <p:strVal val="visible"/>
                                      </p:to>
                                    </p:set>
                                    <p:animEffect transition="in" filter="fade">
                                      <p:cBhvr>
                                        <p:cTn id="17" dur="2000"/>
                                        <p:tgtEl>
                                          <p:spTgt spid="14">
                                            <p:bg/>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xEl>
                                              <p:pRg st="0" end="0"/>
                                            </p:txEl>
                                          </p:spTgt>
                                        </p:tgtEl>
                                        <p:attrNameLst>
                                          <p:attrName>style.visibility</p:attrName>
                                        </p:attrNameLst>
                                      </p:cBhvr>
                                      <p:to>
                                        <p:strVal val="visible"/>
                                      </p:to>
                                    </p:set>
                                    <p:animEffect transition="in" filter="fade">
                                      <p:cBhvr>
                                        <p:cTn id="20" dur="20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allAtOnce"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247091" cy="3303595"/>
          </a:xfrm>
          <a:ln>
            <a:noFill/>
          </a:ln>
        </p:spPr>
        <p:txBody>
          <a:bodyPr/>
          <a:lstStyle/>
          <a:p>
            <a:pPr lvl="0"/>
            <a:r>
              <a:rPr lang="zh-CN" altLang="en-US"/>
              <a:t>装配分析</a:t>
            </a:r>
            <a:endParaRPr lang="en-US" altLang="zh-CN"/>
          </a:p>
          <a:p>
            <a:pPr lvl="1">
              <a:lnSpc>
                <a:spcPct val="150000"/>
              </a:lnSpc>
              <a:spcBef>
                <a:spcPts val="0"/>
              </a:spcBef>
            </a:pPr>
            <a:r>
              <a:rPr lang="zh-CN" altLang="en-US"/>
              <a:t>装配格式</a:t>
            </a:r>
            <a:endParaRPr lang="en-US" altLang="zh-CN"/>
          </a:p>
          <a:p>
            <a:pPr marL="723900" lvl="1" indent="0">
              <a:lnSpc>
                <a:spcPct val="150000"/>
              </a:lnSpc>
              <a:spcBef>
                <a:spcPts val="0"/>
              </a:spcBef>
              <a:buNone/>
            </a:pPr>
            <a:r>
              <a:rPr lang="en-US" altLang="zh-CN"/>
              <a:t>2 </a:t>
            </a:r>
            <a:r>
              <a:rPr lang="zh-CN" altLang="en-US"/>
              <a:t>联合装配格式：用不共线的铰和链杆，或用不共点的三个链杆将一个刚片固定在基本刚片上的装配格式。</a:t>
            </a:r>
            <a:endParaRPr lang="en-US" altLang="zh-CN"/>
          </a:p>
          <a:p>
            <a:pPr marL="723900" lvl="1" indent="0">
              <a:lnSpc>
                <a:spcPct val="150000"/>
              </a:lnSpc>
              <a:spcBef>
                <a:spcPts val="0"/>
              </a:spcBef>
              <a:buNone/>
            </a:pPr>
            <a:endParaRPr lang="en-US" altLang="zh-CN"/>
          </a:p>
          <a:p>
            <a:pPr marL="723900" lvl="1" indent="0">
              <a:lnSpc>
                <a:spcPct val="150000"/>
              </a:lnSpc>
              <a:spcBef>
                <a:spcPts val="0"/>
              </a:spcBef>
              <a:buNone/>
            </a:pPr>
            <a:r>
              <a:rPr lang="en-US" altLang="zh-CN"/>
              <a:t> </a:t>
            </a:r>
            <a:r>
              <a:rPr lang="zh-CN" altLang="en-US"/>
              <a:t>如何装配？</a:t>
            </a:r>
          </a:p>
          <a:p>
            <a:pPr lvl="1">
              <a:lnSpc>
                <a:spcPct val="150000"/>
              </a:lnSpc>
              <a:buNone/>
            </a:pP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平面几何不变体系的组成规律</a:t>
            </a:r>
            <a:endParaRPr lang="zh-CN" altLang="en-US" sz="3600" dirty="0"/>
          </a:p>
        </p:txBody>
      </p:sp>
      <p:pic>
        <p:nvPicPr>
          <p:cNvPr id="100355" name="Picture 3"/>
          <p:cNvPicPr>
            <a:picLocks noChangeAspect="1" noChangeArrowheads="1"/>
          </p:cNvPicPr>
          <p:nvPr/>
        </p:nvPicPr>
        <p:blipFill>
          <a:blip r:embed="rId3" cstate="print"/>
          <a:srcRect/>
          <a:stretch>
            <a:fillRect/>
          </a:stretch>
        </p:blipFill>
        <p:spPr bwMode="auto">
          <a:xfrm>
            <a:off x="1571604" y="4429132"/>
            <a:ext cx="6743700" cy="1609725"/>
          </a:xfrm>
          <a:prstGeom prst="rect">
            <a:avLst/>
          </a:prstGeom>
          <a:noFill/>
          <a:ln w="9525">
            <a:noFill/>
            <a:miter lim="800000"/>
            <a:headEnd/>
            <a:tailEnd/>
          </a:ln>
          <a:effectLst/>
        </p:spPr>
      </p:pic>
      <p:sp>
        <p:nvSpPr>
          <p:cNvPr id="10" name="TextBox 9"/>
          <p:cNvSpPr txBox="1"/>
          <p:nvPr/>
        </p:nvSpPr>
        <p:spPr>
          <a:xfrm>
            <a:off x="4286248" y="5572140"/>
            <a:ext cx="1210588" cy="400110"/>
          </a:xfrm>
          <a:prstGeom prst="rect">
            <a:avLst/>
          </a:prstGeom>
          <a:solidFill>
            <a:schemeClr val="bg1"/>
          </a:solidFill>
          <a:ln w="28575">
            <a:solidFill>
              <a:srgbClr val="C00000"/>
            </a:solidFill>
          </a:ln>
        </p:spPr>
        <p:txBody>
          <a:bodyPr wrap="none" rtlCol="0">
            <a:spAutoFit/>
          </a:bodyPr>
          <a:lstStyle/>
          <a:p>
            <a:r>
              <a:rPr lang="zh-CN" altLang="en-US" sz="2000" b="1">
                <a:solidFill>
                  <a:srgbClr val="C00000"/>
                </a:solidFill>
              </a:rPr>
              <a:t>无多不变</a:t>
            </a:r>
          </a:p>
        </p:txBody>
      </p:sp>
      <p:sp>
        <p:nvSpPr>
          <p:cNvPr id="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animEffect transition="in" filter="fade">
                                      <p:cBhvr>
                                        <p:cTn id="7" dur="2000"/>
                                        <p:tgtEl>
                                          <p:spTgt spid="10">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xEl>
                                              <p:pRg st="0" end="0"/>
                                            </p:txEl>
                                          </p:spTgt>
                                        </p:tgtEl>
                                        <p:attrNameLst>
                                          <p:attrName>style.visibility</p:attrName>
                                        </p:attrNameLst>
                                      </p:cBhvr>
                                      <p:to>
                                        <p:strVal val="visible"/>
                                      </p:to>
                                    </p:set>
                                    <p:animEffect transition="in" filter="fade">
                                      <p:cBhvr>
                                        <p:cTn id="10" dur="2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175653" cy="3303595"/>
          </a:xfrm>
          <a:ln>
            <a:noFill/>
          </a:ln>
        </p:spPr>
        <p:txBody>
          <a:bodyPr/>
          <a:lstStyle/>
          <a:p>
            <a:pPr lvl="0"/>
            <a:r>
              <a:rPr lang="zh-CN" altLang="en-US"/>
              <a:t>装配分析</a:t>
            </a:r>
            <a:endParaRPr lang="en-US" altLang="zh-CN"/>
          </a:p>
          <a:p>
            <a:pPr lvl="1">
              <a:lnSpc>
                <a:spcPct val="150000"/>
              </a:lnSpc>
              <a:spcBef>
                <a:spcPts val="0"/>
              </a:spcBef>
            </a:pPr>
            <a:r>
              <a:rPr lang="zh-CN" altLang="en-US"/>
              <a:t>装配格式</a:t>
            </a:r>
            <a:endParaRPr lang="en-US" altLang="zh-CN"/>
          </a:p>
          <a:p>
            <a:pPr lvl="1">
              <a:lnSpc>
                <a:spcPct val="150000"/>
              </a:lnSpc>
              <a:spcBef>
                <a:spcPts val="0"/>
              </a:spcBef>
              <a:buNone/>
            </a:pPr>
            <a:r>
              <a:rPr lang="zh-CN" altLang="en-US"/>
              <a:t>    </a:t>
            </a:r>
            <a:r>
              <a:rPr lang="en-US" altLang="zh-CN"/>
              <a:t>3 </a:t>
            </a:r>
            <a:r>
              <a:rPr lang="zh-CN" altLang="en-US"/>
              <a:t>复合装配格式：用不共线的三个铰将两个刚片固定在基本刚片上的装配格式。</a:t>
            </a:r>
            <a:endParaRPr lang="en-US" altLang="zh-CN"/>
          </a:p>
          <a:p>
            <a:pPr lvl="1">
              <a:lnSpc>
                <a:spcPct val="150000"/>
              </a:lnSpc>
              <a:buNone/>
            </a:pP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平面几何不变体系的组成规律</a:t>
            </a:r>
            <a:endParaRPr lang="zh-CN" altLang="en-US" sz="3600" dirty="0"/>
          </a:p>
        </p:txBody>
      </p:sp>
      <p:pic>
        <p:nvPicPr>
          <p:cNvPr id="97282" name="Picture 2"/>
          <p:cNvPicPr>
            <a:picLocks noChangeAspect="1" noChangeArrowheads="1"/>
          </p:cNvPicPr>
          <p:nvPr/>
        </p:nvPicPr>
        <p:blipFill>
          <a:blip r:embed="rId3" cstate="print"/>
          <a:srcRect/>
          <a:stretch>
            <a:fillRect/>
          </a:stretch>
        </p:blipFill>
        <p:spPr bwMode="auto">
          <a:xfrm>
            <a:off x="1528758" y="3214686"/>
            <a:ext cx="2400300" cy="3208020"/>
          </a:xfrm>
          <a:prstGeom prst="rect">
            <a:avLst/>
          </a:prstGeom>
          <a:noFill/>
          <a:ln w="9525">
            <a:noFill/>
            <a:miter lim="800000"/>
            <a:headEnd/>
            <a:tailEnd/>
          </a:ln>
          <a:effectLst/>
        </p:spPr>
      </p:pic>
      <p:grpSp>
        <p:nvGrpSpPr>
          <p:cNvPr id="16" name="组合 15"/>
          <p:cNvGrpSpPr/>
          <p:nvPr/>
        </p:nvGrpSpPr>
        <p:grpSpPr>
          <a:xfrm>
            <a:off x="4643438" y="3214686"/>
            <a:ext cx="3614746" cy="3208020"/>
            <a:chOff x="4643438" y="3214686"/>
            <a:chExt cx="3614746" cy="3208020"/>
          </a:xfrm>
        </p:grpSpPr>
        <p:pic>
          <p:nvPicPr>
            <p:cNvPr id="97283" name="Picture 3"/>
            <p:cNvPicPr>
              <a:picLocks noChangeAspect="1" noChangeArrowheads="1"/>
            </p:cNvPicPr>
            <p:nvPr/>
          </p:nvPicPr>
          <p:blipFill>
            <a:blip r:embed="rId4" cstate="print"/>
            <a:srcRect/>
            <a:stretch>
              <a:fillRect/>
            </a:stretch>
          </p:blipFill>
          <p:spPr bwMode="auto">
            <a:xfrm>
              <a:off x="5857884" y="3214686"/>
              <a:ext cx="2400300" cy="3208020"/>
            </a:xfrm>
            <a:prstGeom prst="rect">
              <a:avLst/>
            </a:prstGeom>
            <a:noFill/>
            <a:ln w="9525">
              <a:noFill/>
              <a:miter lim="800000"/>
              <a:headEnd/>
              <a:tailEnd/>
            </a:ln>
            <a:effectLst/>
          </p:spPr>
        </p:pic>
        <p:sp>
          <p:nvSpPr>
            <p:cNvPr id="15" name="右箭头 14"/>
            <p:cNvSpPr/>
            <p:nvPr/>
          </p:nvSpPr>
          <p:spPr bwMode="auto">
            <a:xfrm>
              <a:off x="4643438" y="4572008"/>
              <a:ext cx="571504" cy="500066"/>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sp>
        <p:nvSpPr>
          <p:cNvPr id="17" name="TextBox 16"/>
          <p:cNvSpPr txBox="1"/>
          <p:nvPr/>
        </p:nvSpPr>
        <p:spPr>
          <a:xfrm>
            <a:off x="3428992" y="5572140"/>
            <a:ext cx="3005951" cy="400110"/>
          </a:xfrm>
          <a:prstGeom prst="rect">
            <a:avLst/>
          </a:prstGeom>
          <a:solidFill>
            <a:schemeClr val="bg1"/>
          </a:solidFill>
          <a:ln w="28575">
            <a:solidFill>
              <a:srgbClr val="C00000"/>
            </a:solidFill>
          </a:ln>
        </p:spPr>
        <p:txBody>
          <a:bodyPr wrap="none" rtlCol="0">
            <a:spAutoFit/>
          </a:bodyPr>
          <a:lstStyle/>
          <a:p>
            <a:r>
              <a:rPr lang="zh-CN" altLang="en-US" sz="2000" b="1">
                <a:solidFill>
                  <a:srgbClr val="C00000"/>
                </a:solidFill>
              </a:rPr>
              <a:t>能否从二元体角度考虑？</a:t>
            </a:r>
          </a:p>
        </p:txBody>
      </p:sp>
      <p:sp>
        <p:nvSpPr>
          <p:cNvPr id="9"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0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bg/>
                                          </p:spTgt>
                                        </p:tgtEl>
                                        <p:attrNameLst>
                                          <p:attrName>style.visibility</p:attrName>
                                        </p:attrNameLst>
                                      </p:cBhvr>
                                      <p:to>
                                        <p:strVal val="visible"/>
                                      </p:to>
                                    </p:set>
                                    <p:animEffect transition="in" filter="fade">
                                      <p:cBhvr>
                                        <p:cTn id="12" dur="2000"/>
                                        <p:tgtEl>
                                          <p:spTgt spid="17">
                                            <p:bg/>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xEl>
                                              <p:pRg st="0" end="0"/>
                                            </p:txEl>
                                          </p:spTgt>
                                        </p:tgtEl>
                                        <p:attrNameLst>
                                          <p:attrName>style.visibility</p:attrName>
                                        </p:attrNameLst>
                                      </p:cBhvr>
                                      <p:to>
                                        <p:strVal val="visible"/>
                                      </p:to>
                                    </p:set>
                                    <p:animEffect transition="in" filter="fade">
                                      <p:cBhvr>
                                        <p:cTn id="15" dur="20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allAtOnce"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175653" cy="3303595"/>
          </a:xfrm>
          <a:ln>
            <a:noFill/>
          </a:ln>
        </p:spPr>
        <p:txBody>
          <a:bodyPr/>
          <a:lstStyle/>
          <a:p>
            <a:pPr lvl="0"/>
            <a:r>
              <a:rPr lang="zh-CN" altLang="en-US"/>
              <a:t>装配分析</a:t>
            </a:r>
            <a:endParaRPr lang="en-US" altLang="zh-CN"/>
          </a:p>
          <a:p>
            <a:pPr lvl="1">
              <a:lnSpc>
                <a:spcPct val="150000"/>
              </a:lnSpc>
              <a:spcBef>
                <a:spcPts val="0"/>
              </a:spcBef>
            </a:pPr>
            <a:r>
              <a:rPr lang="zh-CN" altLang="en-US"/>
              <a:t>装配格式</a:t>
            </a:r>
            <a:endParaRPr lang="en-US" altLang="zh-CN"/>
          </a:p>
          <a:p>
            <a:pPr lvl="1">
              <a:lnSpc>
                <a:spcPct val="150000"/>
              </a:lnSpc>
              <a:spcBef>
                <a:spcPts val="0"/>
              </a:spcBef>
              <a:buNone/>
            </a:pPr>
            <a:r>
              <a:rPr lang="zh-CN" altLang="en-US"/>
              <a:t>    </a:t>
            </a:r>
            <a:r>
              <a:rPr lang="en-US" altLang="zh-CN"/>
              <a:t>3 </a:t>
            </a:r>
            <a:r>
              <a:rPr lang="zh-CN" altLang="en-US"/>
              <a:t>复合装配格式：用不共线的三个铰将两个刚片固定在基本刚片上的装配格式。                                                    </a:t>
            </a:r>
            <a:endParaRPr lang="en-US" altLang="zh-CN"/>
          </a:p>
          <a:p>
            <a:pPr lvl="1">
              <a:lnSpc>
                <a:spcPct val="150000"/>
              </a:lnSpc>
              <a:spcBef>
                <a:spcPts val="0"/>
              </a:spcBef>
              <a:buNone/>
            </a:pPr>
            <a:r>
              <a:rPr lang="en-US" altLang="zh-CN"/>
              <a:t>                                                                                 </a:t>
            </a:r>
            <a:r>
              <a:rPr lang="zh-CN" altLang="en-US"/>
              <a:t>如何装配？</a:t>
            </a:r>
            <a:endParaRPr lang="en-US" altLang="zh-CN"/>
          </a:p>
          <a:p>
            <a:pPr lvl="1">
              <a:lnSpc>
                <a:spcPct val="150000"/>
              </a:lnSpc>
              <a:buNone/>
            </a:pP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平面几何不变体系的组成规律</a:t>
            </a:r>
            <a:endParaRPr lang="zh-CN" altLang="en-US" sz="3600" dirty="0"/>
          </a:p>
        </p:txBody>
      </p:sp>
      <p:pic>
        <p:nvPicPr>
          <p:cNvPr id="101378" name="Picture 2"/>
          <p:cNvPicPr>
            <a:picLocks noChangeAspect="1" noChangeArrowheads="1"/>
          </p:cNvPicPr>
          <p:nvPr/>
        </p:nvPicPr>
        <p:blipFill>
          <a:blip r:embed="rId3" cstate="print"/>
          <a:srcRect/>
          <a:stretch>
            <a:fillRect/>
          </a:stretch>
        </p:blipFill>
        <p:spPr bwMode="auto">
          <a:xfrm>
            <a:off x="785786" y="4286256"/>
            <a:ext cx="8176260" cy="1638300"/>
          </a:xfrm>
          <a:prstGeom prst="rect">
            <a:avLst/>
          </a:prstGeom>
          <a:noFill/>
          <a:ln w="9525">
            <a:noFill/>
            <a:miter lim="800000"/>
            <a:headEnd/>
            <a:tailEnd/>
          </a:ln>
          <a:effectLst/>
        </p:spPr>
      </p:pic>
      <p:sp>
        <p:nvSpPr>
          <p:cNvPr id="5"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175653" cy="3303595"/>
          </a:xfrm>
          <a:ln>
            <a:noFill/>
          </a:ln>
        </p:spPr>
        <p:txBody>
          <a:bodyPr/>
          <a:lstStyle/>
          <a:p>
            <a:pPr lvl="0"/>
            <a:r>
              <a:rPr lang="zh-CN" altLang="en-US"/>
              <a:t>装配分析</a:t>
            </a:r>
            <a:endParaRPr lang="en-US" altLang="zh-CN"/>
          </a:p>
          <a:p>
            <a:pPr lvl="1">
              <a:lnSpc>
                <a:spcPct val="150000"/>
              </a:lnSpc>
              <a:spcBef>
                <a:spcPts val="0"/>
              </a:spcBef>
            </a:pPr>
            <a:r>
              <a:rPr lang="zh-CN" altLang="en-US"/>
              <a:t>装配格式</a:t>
            </a:r>
            <a:endParaRPr lang="en-US" altLang="zh-CN"/>
          </a:p>
          <a:p>
            <a:pPr lvl="1">
              <a:lnSpc>
                <a:spcPct val="140000"/>
              </a:lnSpc>
              <a:spcBef>
                <a:spcPts val="0"/>
              </a:spcBef>
              <a:buNone/>
            </a:pPr>
            <a:r>
              <a:rPr lang="zh-CN" altLang="en-US"/>
              <a:t>    </a:t>
            </a:r>
            <a:r>
              <a:rPr lang="en-US" altLang="zh-CN"/>
              <a:t>3 </a:t>
            </a:r>
            <a:r>
              <a:rPr lang="zh-CN" altLang="en-US"/>
              <a:t>复合装配格式：用不共线的三个铰将两个刚片固定在基本刚片上的装配格式。                                                    </a:t>
            </a:r>
            <a:endParaRPr lang="en-US" altLang="zh-CN"/>
          </a:p>
          <a:p>
            <a:pPr lvl="1">
              <a:lnSpc>
                <a:spcPct val="150000"/>
              </a:lnSpc>
              <a:spcBef>
                <a:spcPts val="0"/>
              </a:spcBef>
              <a:buNone/>
            </a:pPr>
            <a:r>
              <a:rPr lang="en-US" altLang="zh-CN"/>
              <a:t>                                                                                 </a:t>
            </a:r>
          </a:p>
          <a:p>
            <a:pPr lvl="1">
              <a:lnSpc>
                <a:spcPct val="150000"/>
              </a:lnSpc>
              <a:buNone/>
            </a:pP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平面几何不变体系的组成规律</a:t>
            </a:r>
            <a:endParaRPr lang="zh-CN" altLang="en-US" sz="3600" dirty="0"/>
          </a:p>
        </p:txBody>
      </p:sp>
      <p:pic>
        <p:nvPicPr>
          <p:cNvPr id="102402" name="Picture 2"/>
          <p:cNvPicPr>
            <a:picLocks noChangeAspect="1" noChangeArrowheads="1"/>
          </p:cNvPicPr>
          <p:nvPr/>
        </p:nvPicPr>
        <p:blipFill>
          <a:blip r:embed="rId3" cstate="print"/>
          <a:srcRect t="2344"/>
          <a:stretch>
            <a:fillRect/>
          </a:stretch>
        </p:blipFill>
        <p:spPr bwMode="auto">
          <a:xfrm>
            <a:off x="785786" y="3000372"/>
            <a:ext cx="8183880" cy="2976562"/>
          </a:xfrm>
          <a:prstGeom prst="rect">
            <a:avLst/>
          </a:prstGeom>
          <a:noFill/>
          <a:ln w="9525">
            <a:noFill/>
            <a:miter lim="800000"/>
            <a:headEnd/>
            <a:tailEnd/>
          </a:ln>
          <a:effectLst/>
        </p:spPr>
      </p:pic>
      <p:sp>
        <p:nvSpPr>
          <p:cNvPr id="7" name="TextBox 6"/>
          <p:cNvSpPr txBox="1"/>
          <p:nvPr/>
        </p:nvSpPr>
        <p:spPr>
          <a:xfrm>
            <a:off x="4143372" y="5929330"/>
            <a:ext cx="1210588" cy="400110"/>
          </a:xfrm>
          <a:prstGeom prst="rect">
            <a:avLst/>
          </a:prstGeom>
          <a:solidFill>
            <a:schemeClr val="bg1"/>
          </a:solidFill>
          <a:ln w="28575">
            <a:solidFill>
              <a:srgbClr val="C00000"/>
            </a:solidFill>
          </a:ln>
        </p:spPr>
        <p:txBody>
          <a:bodyPr wrap="none" rtlCol="0">
            <a:spAutoFit/>
          </a:bodyPr>
          <a:lstStyle/>
          <a:p>
            <a:r>
              <a:rPr lang="zh-CN" altLang="en-US" sz="2000" b="1">
                <a:solidFill>
                  <a:srgbClr val="C00000"/>
                </a:solidFill>
              </a:rPr>
              <a:t>无多不变</a:t>
            </a:r>
          </a:p>
        </p:txBody>
      </p:sp>
      <p:sp>
        <p:nvSpPr>
          <p:cNvPr id="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2000"/>
                                        <p:tgtEl>
                                          <p:spTgt spid="7">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fade">
                                      <p:cBhvr>
                                        <p:cTn id="10"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175653" cy="3303595"/>
          </a:xfrm>
          <a:ln>
            <a:noFill/>
          </a:ln>
        </p:spPr>
        <p:txBody>
          <a:bodyPr/>
          <a:lstStyle/>
          <a:p>
            <a:pPr lvl="0"/>
            <a:r>
              <a:rPr lang="zh-CN" altLang="en-US"/>
              <a:t>装配分析</a:t>
            </a:r>
            <a:endParaRPr lang="en-US" altLang="zh-CN"/>
          </a:p>
          <a:p>
            <a:pPr lvl="1">
              <a:lnSpc>
                <a:spcPct val="150000"/>
              </a:lnSpc>
              <a:spcBef>
                <a:spcPts val="0"/>
              </a:spcBef>
            </a:pPr>
            <a:r>
              <a:rPr lang="zh-CN" altLang="en-US"/>
              <a:t>装配过程</a:t>
            </a:r>
            <a:endParaRPr lang="en-US" altLang="zh-CN"/>
          </a:p>
          <a:p>
            <a:pPr lvl="1">
              <a:lnSpc>
                <a:spcPct val="150000"/>
              </a:lnSpc>
              <a:spcBef>
                <a:spcPts val="0"/>
              </a:spcBef>
              <a:buNone/>
            </a:pPr>
            <a:r>
              <a:rPr lang="zh-CN" altLang="en-US"/>
              <a:t>    </a:t>
            </a:r>
            <a:r>
              <a:rPr lang="en-US" altLang="zh-CN"/>
              <a:t>1 </a:t>
            </a:r>
            <a:r>
              <a:rPr lang="zh-CN" altLang="en-US"/>
              <a:t>从基础出发进行装配；</a:t>
            </a:r>
            <a:endParaRPr lang="en-US" altLang="zh-CN"/>
          </a:p>
          <a:p>
            <a:pPr lvl="1">
              <a:lnSpc>
                <a:spcPct val="150000"/>
              </a:lnSpc>
              <a:buNone/>
            </a:pP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平面几何不变体系的组成规律</a:t>
            </a:r>
            <a:endParaRPr lang="zh-CN" altLang="en-US" sz="3600" dirty="0"/>
          </a:p>
        </p:txBody>
      </p:sp>
      <p:pic>
        <p:nvPicPr>
          <p:cNvPr id="97283" name="Picture 3"/>
          <p:cNvPicPr>
            <a:picLocks noChangeAspect="1" noChangeArrowheads="1"/>
          </p:cNvPicPr>
          <p:nvPr/>
        </p:nvPicPr>
        <p:blipFill>
          <a:blip r:embed="rId3" cstate="print"/>
          <a:srcRect/>
          <a:stretch>
            <a:fillRect/>
          </a:stretch>
        </p:blipFill>
        <p:spPr bwMode="auto">
          <a:xfrm>
            <a:off x="5929322" y="1500174"/>
            <a:ext cx="3000375" cy="4010025"/>
          </a:xfrm>
          <a:prstGeom prst="rect">
            <a:avLst/>
          </a:prstGeom>
          <a:noFill/>
          <a:ln w="9525">
            <a:noFill/>
            <a:miter lim="800000"/>
            <a:headEnd/>
            <a:tailEnd/>
          </a:ln>
          <a:effectLst/>
        </p:spPr>
      </p:pic>
      <p:pic>
        <p:nvPicPr>
          <p:cNvPr id="9" name="Picture 2"/>
          <p:cNvPicPr>
            <a:picLocks noChangeAspect="1" noChangeArrowheads="1"/>
          </p:cNvPicPr>
          <p:nvPr/>
        </p:nvPicPr>
        <p:blipFill>
          <a:blip r:embed="rId4" cstate="print"/>
          <a:srcRect/>
          <a:stretch>
            <a:fillRect/>
          </a:stretch>
        </p:blipFill>
        <p:spPr bwMode="auto">
          <a:xfrm>
            <a:off x="1214414" y="2857496"/>
            <a:ext cx="4495800" cy="2686050"/>
          </a:xfrm>
          <a:prstGeom prst="rect">
            <a:avLst/>
          </a:prstGeom>
          <a:noFill/>
          <a:ln w="9525">
            <a:noFill/>
            <a:miter lim="800000"/>
            <a:headEnd/>
            <a:tailEnd/>
          </a:ln>
          <a:effectLst/>
        </p:spPr>
      </p:pic>
      <p:pic>
        <p:nvPicPr>
          <p:cNvPr id="12" name="Picture 5"/>
          <p:cNvPicPr>
            <a:picLocks noChangeAspect="1" noChangeArrowheads="1"/>
          </p:cNvPicPr>
          <p:nvPr/>
        </p:nvPicPr>
        <p:blipFill>
          <a:blip r:embed="rId5" cstate="print"/>
          <a:srcRect/>
          <a:stretch>
            <a:fillRect/>
          </a:stretch>
        </p:blipFill>
        <p:spPr bwMode="auto">
          <a:xfrm>
            <a:off x="2214546" y="5643578"/>
            <a:ext cx="5324475" cy="552450"/>
          </a:xfrm>
          <a:prstGeom prst="rect">
            <a:avLst/>
          </a:prstGeom>
          <a:noFill/>
          <a:ln w="9525">
            <a:noFill/>
            <a:miter lim="800000"/>
            <a:headEnd/>
            <a:tailEnd/>
          </a:ln>
          <a:effectLst/>
        </p:spPr>
      </p:pic>
      <p:sp>
        <p:nvSpPr>
          <p:cNvPr id="7"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268413"/>
            <a:ext cx="8175653" cy="3303595"/>
          </a:xfrm>
          <a:ln>
            <a:noFill/>
          </a:ln>
        </p:spPr>
        <p:txBody>
          <a:bodyPr/>
          <a:lstStyle/>
          <a:p>
            <a:pPr lvl="0"/>
            <a:r>
              <a:rPr lang="zh-CN" altLang="en-US"/>
              <a:t>装配分析</a:t>
            </a:r>
            <a:endParaRPr lang="en-US" altLang="zh-CN"/>
          </a:p>
          <a:p>
            <a:pPr lvl="1">
              <a:lnSpc>
                <a:spcPct val="150000"/>
              </a:lnSpc>
              <a:spcBef>
                <a:spcPts val="0"/>
              </a:spcBef>
            </a:pPr>
            <a:r>
              <a:rPr lang="zh-CN" altLang="en-US"/>
              <a:t>装配过程</a:t>
            </a:r>
            <a:endParaRPr lang="en-US" altLang="zh-CN"/>
          </a:p>
          <a:p>
            <a:pPr lvl="1">
              <a:lnSpc>
                <a:spcPct val="150000"/>
              </a:lnSpc>
              <a:spcBef>
                <a:spcPts val="0"/>
              </a:spcBef>
              <a:buNone/>
            </a:pPr>
            <a:r>
              <a:rPr lang="zh-CN" altLang="en-US"/>
              <a:t>    </a:t>
            </a:r>
            <a:r>
              <a:rPr lang="en-US" altLang="zh-CN"/>
              <a:t>2 </a:t>
            </a:r>
            <a:r>
              <a:rPr lang="zh-CN" altLang="en-US"/>
              <a:t>从内部刚片出发进行装配；</a:t>
            </a:r>
            <a:endParaRPr lang="en-US" altLang="zh-CN"/>
          </a:p>
          <a:p>
            <a:pPr lvl="1">
              <a:lnSpc>
                <a:spcPct val="150000"/>
              </a:lnSpc>
              <a:buNone/>
            </a:pP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sz="3600"/>
              <a:t>平面几何不变体系的组成规律</a:t>
            </a:r>
            <a:endParaRPr lang="zh-CN" altLang="en-US" sz="3600" dirty="0"/>
          </a:p>
        </p:txBody>
      </p:sp>
      <p:pic>
        <p:nvPicPr>
          <p:cNvPr id="98306" name="Picture 2"/>
          <p:cNvPicPr>
            <a:picLocks noChangeAspect="1" noChangeArrowheads="1"/>
          </p:cNvPicPr>
          <p:nvPr/>
        </p:nvPicPr>
        <p:blipFill>
          <a:blip r:embed="rId3" cstate="print"/>
          <a:srcRect/>
          <a:stretch>
            <a:fillRect/>
          </a:stretch>
        </p:blipFill>
        <p:spPr bwMode="auto">
          <a:xfrm>
            <a:off x="1071538" y="2857496"/>
            <a:ext cx="3573780" cy="1112520"/>
          </a:xfrm>
          <a:prstGeom prst="rect">
            <a:avLst/>
          </a:prstGeom>
          <a:noFill/>
          <a:ln w="9525">
            <a:noFill/>
            <a:miter lim="800000"/>
            <a:headEnd/>
            <a:tailEnd/>
          </a:ln>
          <a:effectLst/>
        </p:spPr>
      </p:pic>
      <p:grpSp>
        <p:nvGrpSpPr>
          <p:cNvPr id="15" name="组合 14"/>
          <p:cNvGrpSpPr/>
          <p:nvPr/>
        </p:nvGrpSpPr>
        <p:grpSpPr>
          <a:xfrm>
            <a:off x="4714876" y="2887984"/>
            <a:ext cx="4002408" cy="1112520"/>
            <a:chOff x="4714876" y="2887984"/>
            <a:chExt cx="4002408" cy="1112520"/>
          </a:xfrm>
        </p:grpSpPr>
        <p:grpSp>
          <p:nvGrpSpPr>
            <p:cNvPr id="13" name="组合 12"/>
            <p:cNvGrpSpPr/>
            <p:nvPr/>
          </p:nvGrpSpPr>
          <p:grpSpPr>
            <a:xfrm>
              <a:off x="5143504" y="2887984"/>
              <a:ext cx="3573780" cy="1112520"/>
              <a:chOff x="5143504" y="2887984"/>
              <a:chExt cx="3573780" cy="1112520"/>
            </a:xfrm>
          </p:grpSpPr>
          <p:pic>
            <p:nvPicPr>
              <p:cNvPr id="8" name="Picture 2"/>
              <p:cNvPicPr>
                <a:picLocks noChangeAspect="1" noChangeArrowheads="1"/>
              </p:cNvPicPr>
              <p:nvPr/>
            </p:nvPicPr>
            <p:blipFill>
              <a:blip r:embed="rId3" cstate="print"/>
              <a:srcRect/>
              <a:stretch>
                <a:fillRect/>
              </a:stretch>
            </p:blipFill>
            <p:spPr bwMode="auto">
              <a:xfrm>
                <a:off x="5143504" y="2887984"/>
                <a:ext cx="3573780" cy="1112520"/>
              </a:xfrm>
              <a:prstGeom prst="rect">
                <a:avLst/>
              </a:prstGeom>
              <a:noFill/>
              <a:ln w="9525">
                <a:noFill/>
                <a:miter lim="800000"/>
                <a:headEnd/>
                <a:tailEnd/>
              </a:ln>
              <a:effectLst/>
            </p:spPr>
          </p:pic>
          <p:sp>
            <p:nvSpPr>
              <p:cNvPr id="10" name="等腰三角形 9"/>
              <p:cNvSpPr/>
              <p:nvPr/>
            </p:nvSpPr>
            <p:spPr bwMode="auto">
              <a:xfrm rot="16200000">
                <a:off x="5582969" y="3068999"/>
                <a:ext cx="720000" cy="972836"/>
              </a:xfrm>
              <a:prstGeom prst="triangle">
                <a:avLst>
                  <a:gd name="adj" fmla="val 50000"/>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11" name="等腰三角形 10"/>
              <p:cNvSpPr/>
              <p:nvPr/>
            </p:nvSpPr>
            <p:spPr bwMode="auto">
              <a:xfrm rot="5400000" flipH="1">
                <a:off x="7555938" y="3060972"/>
                <a:ext cx="720000" cy="972836"/>
              </a:xfrm>
              <a:prstGeom prst="triangle">
                <a:avLst>
                  <a:gd name="adj" fmla="val 50000"/>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sp>
          <p:nvSpPr>
            <p:cNvPr id="14" name="右箭头 13"/>
            <p:cNvSpPr/>
            <p:nvPr/>
          </p:nvSpPr>
          <p:spPr bwMode="auto">
            <a:xfrm>
              <a:off x="4714876" y="3143248"/>
              <a:ext cx="500066" cy="357190"/>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pic>
        <p:nvPicPr>
          <p:cNvPr id="98307" name="Picture 3"/>
          <p:cNvPicPr>
            <a:picLocks noChangeAspect="1" noChangeArrowheads="1"/>
          </p:cNvPicPr>
          <p:nvPr/>
        </p:nvPicPr>
        <p:blipFill>
          <a:blip r:embed="rId4" cstate="print"/>
          <a:srcRect/>
          <a:stretch>
            <a:fillRect/>
          </a:stretch>
        </p:blipFill>
        <p:spPr bwMode="auto">
          <a:xfrm>
            <a:off x="1214414" y="4668222"/>
            <a:ext cx="3291840" cy="1546860"/>
          </a:xfrm>
          <a:prstGeom prst="rect">
            <a:avLst/>
          </a:prstGeom>
          <a:noFill/>
          <a:ln w="9525">
            <a:noFill/>
            <a:miter lim="800000"/>
            <a:headEnd/>
            <a:tailEnd/>
          </a:ln>
          <a:effectLst/>
        </p:spPr>
      </p:pic>
      <p:grpSp>
        <p:nvGrpSpPr>
          <p:cNvPr id="18" name="组合 17"/>
          <p:cNvGrpSpPr/>
          <p:nvPr/>
        </p:nvGrpSpPr>
        <p:grpSpPr>
          <a:xfrm>
            <a:off x="4714876" y="4643446"/>
            <a:ext cx="3934782" cy="1546860"/>
            <a:chOff x="4714876" y="4643446"/>
            <a:chExt cx="3934782" cy="1546860"/>
          </a:xfrm>
        </p:grpSpPr>
        <p:pic>
          <p:nvPicPr>
            <p:cNvPr id="98308" name="Picture 4"/>
            <p:cNvPicPr>
              <a:picLocks noChangeAspect="1" noChangeArrowheads="1"/>
            </p:cNvPicPr>
            <p:nvPr/>
          </p:nvPicPr>
          <p:blipFill>
            <a:blip r:embed="rId5" cstate="print"/>
            <a:srcRect/>
            <a:stretch>
              <a:fillRect/>
            </a:stretch>
          </p:blipFill>
          <p:spPr bwMode="auto">
            <a:xfrm>
              <a:off x="5357818" y="4643446"/>
              <a:ext cx="3291840" cy="1546860"/>
            </a:xfrm>
            <a:prstGeom prst="rect">
              <a:avLst/>
            </a:prstGeom>
            <a:noFill/>
            <a:ln w="9525">
              <a:noFill/>
              <a:miter lim="800000"/>
              <a:headEnd/>
              <a:tailEnd/>
            </a:ln>
            <a:effectLst/>
          </p:spPr>
        </p:pic>
        <p:sp>
          <p:nvSpPr>
            <p:cNvPr id="17" name="右箭头 16"/>
            <p:cNvSpPr/>
            <p:nvPr/>
          </p:nvSpPr>
          <p:spPr bwMode="auto">
            <a:xfrm>
              <a:off x="4714876" y="5214950"/>
              <a:ext cx="500066" cy="357190"/>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sp>
        <p:nvSpPr>
          <p:cNvPr id="19" name="TextBox 18"/>
          <p:cNvSpPr txBox="1"/>
          <p:nvPr/>
        </p:nvSpPr>
        <p:spPr>
          <a:xfrm>
            <a:off x="6357950" y="2285992"/>
            <a:ext cx="1210588" cy="400110"/>
          </a:xfrm>
          <a:prstGeom prst="rect">
            <a:avLst/>
          </a:prstGeom>
          <a:solidFill>
            <a:schemeClr val="bg1"/>
          </a:solidFill>
          <a:ln w="28575">
            <a:solidFill>
              <a:srgbClr val="C00000"/>
            </a:solidFill>
          </a:ln>
        </p:spPr>
        <p:txBody>
          <a:bodyPr wrap="none" rtlCol="0">
            <a:spAutoFit/>
          </a:bodyPr>
          <a:lstStyle/>
          <a:p>
            <a:r>
              <a:rPr lang="zh-CN" altLang="en-US" sz="2000" b="1">
                <a:solidFill>
                  <a:srgbClr val="C00000"/>
                </a:solidFill>
              </a:rPr>
              <a:t>无多不变</a:t>
            </a:r>
          </a:p>
        </p:txBody>
      </p:sp>
      <p:sp>
        <p:nvSpPr>
          <p:cNvPr id="20" name="TextBox 19"/>
          <p:cNvSpPr txBox="1"/>
          <p:nvPr/>
        </p:nvSpPr>
        <p:spPr>
          <a:xfrm>
            <a:off x="6429388" y="5929330"/>
            <a:ext cx="1210588" cy="400110"/>
          </a:xfrm>
          <a:prstGeom prst="rect">
            <a:avLst/>
          </a:prstGeom>
          <a:solidFill>
            <a:schemeClr val="bg1"/>
          </a:solidFill>
          <a:ln w="28575">
            <a:solidFill>
              <a:srgbClr val="C00000"/>
            </a:solidFill>
          </a:ln>
        </p:spPr>
        <p:txBody>
          <a:bodyPr wrap="none" rtlCol="0">
            <a:spAutoFit/>
          </a:bodyPr>
          <a:lstStyle/>
          <a:p>
            <a:r>
              <a:rPr lang="zh-CN" altLang="en-US" sz="2000" b="1">
                <a:solidFill>
                  <a:srgbClr val="C00000"/>
                </a:solidFill>
              </a:rPr>
              <a:t>无多不变</a:t>
            </a:r>
          </a:p>
        </p:txBody>
      </p:sp>
      <p:sp>
        <p:nvSpPr>
          <p:cNvPr id="21"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bg/>
                                          </p:spTgt>
                                        </p:tgtEl>
                                        <p:attrNameLst>
                                          <p:attrName>style.visibility</p:attrName>
                                        </p:attrNameLst>
                                      </p:cBhvr>
                                      <p:to>
                                        <p:strVal val="visible"/>
                                      </p:to>
                                    </p:set>
                                    <p:animEffect transition="in" filter="fade">
                                      <p:cBhvr>
                                        <p:cTn id="12" dur="2000"/>
                                        <p:tgtEl>
                                          <p:spTgt spid="19">
                                            <p:bg/>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9">
                                            <p:txEl>
                                              <p:pRg st="0" end="0"/>
                                            </p:txEl>
                                          </p:spTgt>
                                        </p:tgtEl>
                                        <p:attrNameLst>
                                          <p:attrName>style.visibility</p:attrName>
                                        </p:attrNameLst>
                                      </p:cBhvr>
                                      <p:to>
                                        <p:strVal val="visible"/>
                                      </p:to>
                                    </p:set>
                                    <p:animEffect transition="in" filter="fade">
                                      <p:cBhvr>
                                        <p:cTn id="15" dur="2000"/>
                                        <p:tgtEl>
                                          <p:spTgt spid="1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8307"/>
                                        </p:tgtEl>
                                        <p:attrNameLst>
                                          <p:attrName>style.visibility</p:attrName>
                                        </p:attrNameLst>
                                      </p:cBhvr>
                                      <p:to>
                                        <p:strVal val="visible"/>
                                      </p:to>
                                    </p:set>
                                    <p:animEffect transition="in" filter="fade">
                                      <p:cBhvr>
                                        <p:cTn id="20" dur="2000"/>
                                        <p:tgtEl>
                                          <p:spTgt spid="98307"/>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0">
                                            <p:bg/>
                                          </p:spTgt>
                                        </p:tgtEl>
                                        <p:attrNameLst>
                                          <p:attrName>style.visibility</p:attrName>
                                        </p:attrNameLst>
                                      </p:cBhvr>
                                      <p:to>
                                        <p:strVal val="visible"/>
                                      </p:to>
                                    </p:set>
                                    <p:animEffect transition="in" filter="fade">
                                      <p:cBhvr>
                                        <p:cTn id="31" dur="2000"/>
                                        <p:tgtEl>
                                          <p:spTgt spid="20">
                                            <p:bg/>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0">
                                            <p:txEl>
                                              <p:pRg st="0" end="0"/>
                                            </p:txEl>
                                          </p:spTgt>
                                        </p:tgtEl>
                                        <p:attrNameLst>
                                          <p:attrName>style.visibility</p:attrName>
                                        </p:attrNameLst>
                                      </p:cBhvr>
                                      <p:to>
                                        <p:strVal val="visible"/>
                                      </p:to>
                                    </p:set>
                                    <p:animEffect transition="in" filter="fade">
                                      <p:cBhvr>
                                        <p:cTn id="34" dur="20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allAtOnce" animBg="1"/>
      <p:bldP spid="20" grpId="0" build="allAtOnce"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algn="r"/>
            <a:r>
              <a:rPr lang="zh-CN" altLang="en-US"/>
              <a:t>第二章 </a:t>
            </a:r>
            <a:r>
              <a:rPr lang="zh-CN" altLang="en-US">
                <a:effectLst>
                  <a:outerShdw blurRad="38100" dist="38100" dir="2700000" algn="tl">
                    <a:srgbClr val="000000">
                      <a:alpha val="43137"/>
                    </a:srgbClr>
                  </a:outerShdw>
                </a:effectLst>
              </a:rPr>
              <a:t>结构的几何构造分析</a:t>
            </a:r>
            <a:endParaRPr lang="zh-CN" altLang="en-US" sz="3600" dirty="0"/>
          </a:p>
        </p:txBody>
      </p:sp>
      <p:sp>
        <p:nvSpPr>
          <p:cNvPr id="3" name="内容占位符 2"/>
          <p:cNvSpPr>
            <a:spLocks noGrp="1"/>
          </p:cNvSpPr>
          <p:nvPr>
            <p:ph idx="1"/>
          </p:nvPr>
        </p:nvSpPr>
        <p:spPr>
          <a:ln>
            <a:noFill/>
          </a:ln>
        </p:spPr>
        <p:txBody>
          <a:bodyPr/>
          <a:lstStyle/>
          <a:p>
            <a:r>
              <a:rPr lang="zh-CN" altLang="en-US"/>
              <a:t>回顾</a:t>
            </a:r>
            <a:endParaRPr lang="en-US" altLang="zh-CN">
              <a:solidFill>
                <a:schemeClr val="tx1"/>
              </a:solidFill>
            </a:endParaRPr>
          </a:p>
          <a:p>
            <a:pPr lvl="1">
              <a:lnSpc>
                <a:spcPct val="150000"/>
              </a:lnSpc>
              <a:spcBef>
                <a:spcPts val="1200"/>
              </a:spcBef>
            </a:pPr>
            <a:r>
              <a:rPr lang="zh-CN" altLang="en-US"/>
              <a:t>基本概念 </a:t>
            </a:r>
            <a:endParaRPr lang="en-US" altLang="zh-CN"/>
          </a:p>
          <a:p>
            <a:pPr lvl="1">
              <a:lnSpc>
                <a:spcPct val="150000"/>
              </a:lnSpc>
              <a:spcBef>
                <a:spcPts val="0"/>
              </a:spcBef>
              <a:buNone/>
            </a:pPr>
            <a:r>
              <a:rPr lang="zh-CN" altLang="en-US"/>
              <a:t>    分析的内容、目的；自由度，约束；体系：不变、可变、</a:t>
            </a:r>
            <a:r>
              <a:rPr lang="zh-CN" altLang="en-US">
                <a:solidFill>
                  <a:srgbClr val="C00000"/>
                </a:solidFill>
              </a:rPr>
              <a:t>瞬变 </a:t>
            </a:r>
            <a:r>
              <a:rPr lang="zh-CN" altLang="en-US"/>
              <a:t>；      </a:t>
            </a:r>
            <a:endParaRPr lang="en-US" altLang="zh-CN"/>
          </a:p>
          <a:p>
            <a:pPr lvl="1">
              <a:lnSpc>
                <a:spcPct val="150000"/>
              </a:lnSpc>
              <a:spcBef>
                <a:spcPts val="1200"/>
              </a:spcBef>
            </a:pPr>
            <a:r>
              <a:rPr lang="zh-CN" altLang="en-US"/>
              <a:t>计算自由度</a:t>
            </a:r>
            <a:endParaRPr lang="en-US" altLang="zh-CN"/>
          </a:p>
          <a:p>
            <a:pPr lvl="1">
              <a:lnSpc>
                <a:spcPct val="150000"/>
              </a:lnSpc>
              <a:spcBef>
                <a:spcPts val="0"/>
              </a:spcBef>
              <a:buNone/>
            </a:pPr>
            <a:r>
              <a:rPr lang="en-US" altLang="zh-CN"/>
              <a:t>    </a:t>
            </a:r>
            <a:r>
              <a:rPr lang="zh-CN" altLang="en-US"/>
              <a:t>概念：计算自由度和自由度、多余约束之间的关系；</a:t>
            </a:r>
            <a:endParaRPr lang="en-US" altLang="zh-CN"/>
          </a:p>
          <a:p>
            <a:pPr lvl="1">
              <a:lnSpc>
                <a:spcPct val="150000"/>
              </a:lnSpc>
              <a:spcBef>
                <a:spcPts val="0"/>
              </a:spcBef>
              <a:buNone/>
            </a:pPr>
            <a:r>
              <a:rPr lang="en-US" altLang="zh-CN"/>
              <a:t>    </a:t>
            </a:r>
            <a:r>
              <a:rPr lang="zh-CN" altLang="en-US"/>
              <a:t>计算思路：从</a:t>
            </a:r>
            <a:r>
              <a:rPr lang="zh-CN" altLang="en-US">
                <a:solidFill>
                  <a:srgbClr val="C00000"/>
                </a:solidFill>
              </a:rPr>
              <a:t>刚片</a:t>
            </a:r>
            <a:r>
              <a:rPr lang="zh-CN" altLang="en-US"/>
              <a:t>出发、从</a:t>
            </a:r>
            <a:r>
              <a:rPr lang="zh-CN" altLang="en-US">
                <a:solidFill>
                  <a:srgbClr val="C00000"/>
                </a:solidFill>
              </a:rPr>
              <a:t>结点</a:t>
            </a:r>
            <a:r>
              <a:rPr lang="zh-CN" altLang="en-US"/>
              <a:t>出发；</a:t>
            </a:r>
            <a:endParaRPr lang="en-US" altLang="zh-CN"/>
          </a:p>
          <a:p>
            <a:pPr lvl="1">
              <a:lnSpc>
                <a:spcPct val="150000"/>
              </a:lnSpc>
              <a:spcBef>
                <a:spcPts val="1200"/>
              </a:spcBef>
            </a:pPr>
            <a:r>
              <a:rPr lang="zh-CN" altLang="en-US"/>
              <a:t>平面几何不变体系的组成规律</a:t>
            </a:r>
            <a:endParaRPr lang="en-US" altLang="zh-CN"/>
          </a:p>
          <a:p>
            <a:pPr lvl="1">
              <a:lnSpc>
                <a:spcPct val="150000"/>
              </a:lnSpc>
              <a:spcBef>
                <a:spcPts val="0"/>
              </a:spcBef>
              <a:buNone/>
            </a:pPr>
            <a:r>
              <a:rPr lang="en-US" altLang="zh-CN"/>
              <a:t>     </a:t>
            </a:r>
            <a:r>
              <a:rPr lang="zh-CN" altLang="en-US">
                <a:solidFill>
                  <a:srgbClr val="C00000"/>
                </a:solidFill>
              </a:rPr>
              <a:t>三角形</a:t>
            </a:r>
            <a:r>
              <a:rPr lang="zh-CN" altLang="en-US"/>
              <a:t>规律：二元体（两杆一铰）、两刚片、三刚片；</a:t>
            </a:r>
            <a:endParaRPr lang="en-US" altLang="zh-CN"/>
          </a:p>
          <a:p>
            <a:pPr lvl="1">
              <a:lnSpc>
                <a:spcPct val="150000"/>
              </a:lnSpc>
              <a:spcBef>
                <a:spcPts val="1200"/>
              </a:spcBef>
            </a:pPr>
            <a:r>
              <a:rPr lang="zh-CN" altLang="en-US"/>
              <a:t>灵活运用</a:t>
            </a:r>
            <a:endParaRPr lang="en-US" altLang="zh-CN"/>
          </a:p>
          <a:p>
            <a:pPr marL="2155825" lvl="1" indent="-1698625">
              <a:lnSpc>
                <a:spcPct val="150000"/>
              </a:lnSpc>
              <a:spcBef>
                <a:spcPts val="0"/>
              </a:spcBef>
              <a:buNone/>
            </a:pPr>
            <a:r>
              <a:rPr lang="zh-CN" altLang="en-US"/>
              <a:t>    撤去二元体，几何不变</a:t>
            </a:r>
            <a:r>
              <a:rPr lang="en-US" altLang="zh-CN"/>
              <a:t>—&gt;</a:t>
            </a:r>
            <a:r>
              <a:rPr lang="zh-CN" altLang="en-US"/>
              <a:t>大刚片，</a:t>
            </a:r>
            <a:r>
              <a:rPr lang="zh-CN" altLang="en-US">
                <a:solidFill>
                  <a:srgbClr val="C00000"/>
                </a:solidFill>
              </a:rPr>
              <a:t>虚铰选择</a:t>
            </a:r>
            <a:r>
              <a:rPr lang="zh-CN" altLang="en-US"/>
              <a:t>，</a:t>
            </a:r>
            <a:r>
              <a:rPr lang="zh-CN" altLang="en-US">
                <a:solidFill>
                  <a:srgbClr val="C00000"/>
                </a:solidFill>
              </a:rPr>
              <a:t>三刚片选择</a:t>
            </a:r>
            <a:endParaRPr lang="en-US" altLang="zh-CN">
              <a:solidFill>
                <a:srgbClr val="C0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1" algn="r"/>
            <a:r>
              <a:rPr lang="zh-CN" altLang="en-US" sz="3600"/>
              <a:t>几何构造分析示例</a:t>
            </a:r>
            <a:endParaRPr lang="zh-CN" altLang="en-US" sz="3600" dirty="0"/>
          </a:p>
        </p:txBody>
      </p:sp>
      <p:pic>
        <p:nvPicPr>
          <p:cNvPr id="197633" name="Picture 1"/>
          <p:cNvPicPr>
            <a:picLocks noChangeAspect="1" noChangeArrowheads="1"/>
          </p:cNvPicPr>
          <p:nvPr/>
        </p:nvPicPr>
        <p:blipFill>
          <a:blip r:embed="rId3" cstate="print"/>
          <a:srcRect/>
          <a:stretch>
            <a:fillRect/>
          </a:stretch>
        </p:blipFill>
        <p:spPr bwMode="auto">
          <a:xfrm>
            <a:off x="5000628" y="1500174"/>
            <a:ext cx="4143372" cy="2931282"/>
          </a:xfrm>
          <a:prstGeom prst="rect">
            <a:avLst/>
          </a:prstGeom>
          <a:noFill/>
          <a:ln w="9525">
            <a:noFill/>
            <a:miter lim="800000"/>
            <a:headEnd/>
            <a:tailEnd/>
          </a:ln>
          <a:effectLst/>
        </p:spPr>
      </p:pic>
      <p:sp>
        <p:nvSpPr>
          <p:cNvPr id="16" name="TextBox 15"/>
          <p:cNvSpPr txBox="1"/>
          <p:nvPr/>
        </p:nvSpPr>
        <p:spPr>
          <a:xfrm>
            <a:off x="738411" y="2285992"/>
            <a:ext cx="4405093" cy="4247317"/>
          </a:xfrm>
          <a:prstGeom prst="rect">
            <a:avLst/>
          </a:prstGeom>
          <a:noFill/>
          <a:ln w="28575">
            <a:noFill/>
          </a:ln>
        </p:spPr>
        <p:txBody>
          <a:bodyPr wrap="square" rtlCol="0">
            <a:spAutoFit/>
          </a:bodyPr>
          <a:lstStyle/>
          <a:p>
            <a:pPr lvl="1">
              <a:lnSpc>
                <a:spcPct val="150000"/>
              </a:lnSpc>
              <a:spcBef>
                <a:spcPts val="0"/>
              </a:spcBef>
              <a:buNone/>
            </a:pPr>
            <a:r>
              <a:rPr lang="zh-CN" altLang="en-US" sz="2000" b="1"/>
              <a:t>解：</a:t>
            </a:r>
            <a:endParaRPr lang="en-US" altLang="zh-CN" sz="2000" b="1"/>
          </a:p>
          <a:p>
            <a:pPr marL="723900" lvl="1" indent="-266700">
              <a:lnSpc>
                <a:spcPct val="150000"/>
              </a:lnSpc>
              <a:spcBef>
                <a:spcPts val="0"/>
              </a:spcBef>
              <a:buAutoNum type="arabicPlain"/>
              <a:tabLst>
                <a:tab pos="627063" algn="l"/>
              </a:tabLst>
            </a:pPr>
            <a:r>
              <a:rPr lang="zh-CN" altLang="en-US" sz="2000" b="1"/>
              <a:t>三角形</a:t>
            </a:r>
            <a:r>
              <a:rPr lang="en-US" altLang="zh-CN" sz="2000" b="1"/>
              <a:t>ADE</a:t>
            </a:r>
            <a:r>
              <a:rPr lang="zh-CN" altLang="en-US" sz="2000" b="1"/>
              <a:t>，</a:t>
            </a:r>
            <a:r>
              <a:rPr lang="en-US" altLang="zh-CN" sz="2000" b="1"/>
              <a:t>AFG</a:t>
            </a:r>
            <a:r>
              <a:rPr lang="zh-CN" altLang="en-US" sz="2000" b="1"/>
              <a:t>是两   个无多余约束的刚片，记为</a:t>
            </a:r>
            <a:r>
              <a:rPr lang="en-US" altLang="zh-CN" sz="2000" b="1"/>
              <a:t>Ⅰ</a:t>
            </a:r>
            <a:r>
              <a:rPr lang="zh-CN" altLang="en-US" sz="2000" b="1"/>
              <a:t>和</a:t>
            </a:r>
            <a:r>
              <a:rPr lang="en-US" altLang="zh-CN" sz="2000" b="1"/>
              <a:t>Ⅱ</a:t>
            </a:r>
            <a:r>
              <a:rPr lang="zh-CN" altLang="en-US" sz="2000" b="1"/>
              <a:t>；</a:t>
            </a:r>
            <a:endParaRPr lang="en-US" altLang="zh-CN" sz="2000" b="1"/>
          </a:p>
          <a:p>
            <a:pPr marL="723900" lvl="1" indent="-266700">
              <a:lnSpc>
                <a:spcPct val="150000"/>
              </a:lnSpc>
              <a:buFontTx/>
              <a:buAutoNum type="arabicPlain"/>
              <a:tabLst>
                <a:tab pos="627063" algn="l"/>
              </a:tabLst>
            </a:pPr>
            <a:r>
              <a:rPr lang="en-US" altLang="zh-CN" sz="2000" b="1"/>
              <a:t>Ⅰ</a:t>
            </a:r>
            <a:r>
              <a:rPr lang="zh-CN" altLang="en-US" sz="2000" b="1"/>
              <a:t>和基础</a:t>
            </a:r>
            <a:r>
              <a:rPr lang="en-US" altLang="zh-CN" sz="2000" b="1"/>
              <a:t>Ⅲ</a:t>
            </a:r>
            <a:r>
              <a:rPr lang="zh-CN" altLang="en-US" sz="2000" b="1"/>
              <a:t>之间的链杆</a:t>
            </a:r>
            <a:r>
              <a:rPr lang="en-US" altLang="zh-CN" sz="2000" b="1"/>
              <a:t>1</a:t>
            </a:r>
            <a:r>
              <a:rPr lang="zh-CN" altLang="en-US" sz="2000" b="1"/>
              <a:t>、</a:t>
            </a:r>
            <a:r>
              <a:rPr lang="en-US" altLang="zh-CN" sz="2000" b="1"/>
              <a:t>2</a:t>
            </a:r>
            <a:r>
              <a:rPr lang="zh-CN" altLang="en-US" sz="2000" b="1"/>
              <a:t>相当于瞬铰</a:t>
            </a:r>
            <a:r>
              <a:rPr lang="en-US" altLang="zh-CN" sz="2000" b="1"/>
              <a:t>B</a:t>
            </a:r>
            <a:r>
              <a:rPr lang="zh-CN" altLang="en-US" sz="2000" b="1"/>
              <a:t>，</a:t>
            </a:r>
            <a:r>
              <a:rPr lang="en-US" altLang="zh-CN" sz="2000" b="1"/>
              <a:t> Ⅱ</a:t>
            </a:r>
            <a:r>
              <a:rPr lang="zh-CN" altLang="en-US" sz="2000" b="1"/>
              <a:t>和基础</a:t>
            </a:r>
            <a:r>
              <a:rPr lang="en-US" altLang="zh-CN" sz="2000" b="1"/>
              <a:t>Ⅲ</a:t>
            </a:r>
            <a:r>
              <a:rPr lang="zh-CN" altLang="en-US" sz="2000" b="1"/>
              <a:t>之间的链杆</a:t>
            </a:r>
            <a:r>
              <a:rPr lang="en-US" altLang="zh-CN" sz="2000" b="1"/>
              <a:t>3</a:t>
            </a:r>
            <a:r>
              <a:rPr lang="zh-CN" altLang="en-US" sz="2000" b="1"/>
              <a:t>、</a:t>
            </a:r>
            <a:r>
              <a:rPr lang="en-US" altLang="zh-CN" sz="2000" b="1"/>
              <a:t>4</a:t>
            </a:r>
            <a:r>
              <a:rPr lang="zh-CN" altLang="en-US" sz="2000" b="1"/>
              <a:t>相当于瞬铰</a:t>
            </a:r>
            <a:r>
              <a:rPr lang="en-US" altLang="zh-CN" sz="2000" b="1"/>
              <a:t>C</a:t>
            </a:r>
            <a:r>
              <a:rPr lang="zh-CN" altLang="en-US" sz="2000" b="1"/>
              <a:t>；</a:t>
            </a:r>
            <a:endParaRPr lang="en-US" altLang="zh-CN" sz="2000" b="1"/>
          </a:p>
          <a:p>
            <a:pPr marL="723900" lvl="1" indent="-266700">
              <a:lnSpc>
                <a:spcPct val="150000"/>
              </a:lnSpc>
              <a:buFontTx/>
              <a:buAutoNum type="arabicPlain"/>
              <a:tabLst>
                <a:tab pos="627063" algn="l"/>
              </a:tabLst>
            </a:pPr>
            <a:r>
              <a:rPr lang="zh-CN" altLang="en-US" sz="2000" b="1"/>
              <a:t>如</a:t>
            </a:r>
            <a:r>
              <a:rPr lang="en-US" altLang="zh-CN" sz="2000" b="1"/>
              <a:t>A</a:t>
            </a:r>
            <a:r>
              <a:rPr lang="zh-CN" altLang="en-US" sz="2000" b="1"/>
              <a:t>、</a:t>
            </a:r>
            <a:r>
              <a:rPr lang="en-US" altLang="zh-CN" sz="2000" b="1"/>
              <a:t>B</a:t>
            </a:r>
            <a:r>
              <a:rPr lang="zh-CN" altLang="en-US" sz="2000" b="1"/>
              <a:t>、</a:t>
            </a:r>
            <a:r>
              <a:rPr lang="en-US" altLang="zh-CN" sz="2000" b="1"/>
              <a:t>C</a:t>
            </a:r>
            <a:r>
              <a:rPr lang="zh-CN" altLang="en-US" sz="2000" b="1"/>
              <a:t>不共线则为无多余约束的几何不变体系，否则为几何瞬变体系。</a:t>
            </a:r>
            <a:endParaRPr lang="en-US" altLang="zh-CN" sz="2000" b="1"/>
          </a:p>
        </p:txBody>
      </p:sp>
      <p:sp>
        <p:nvSpPr>
          <p:cNvPr id="3" name="内容占位符 2"/>
          <p:cNvSpPr>
            <a:spLocks noGrp="1"/>
          </p:cNvSpPr>
          <p:nvPr>
            <p:ph idx="1"/>
          </p:nvPr>
        </p:nvSpPr>
        <p:spPr>
          <a:xfrm>
            <a:off x="468313" y="1268413"/>
            <a:ext cx="8175653" cy="1517645"/>
          </a:xfrm>
          <a:ln>
            <a:noFill/>
          </a:ln>
        </p:spPr>
        <p:txBody>
          <a:bodyPr/>
          <a:lstStyle/>
          <a:p>
            <a:pPr lvl="0"/>
            <a:r>
              <a:rPr lang="zh-CN" altLang="en-US"/>
              <a:t>答题范式</a:t>
            </a:r>
            <a:endParaRPr lang="en-US" altLang="zh-CN"/>
          </a:p>
          <a:p>
            <a:pPr lvl="1">
              <a:lnSpc>
                <a:spcPct val="150000"/>
              </a:lnSpc>
              <a:spcBef>
                <a:spcPts val="0"/>
              </a:spcBef>
            </a:pPr>
            <a:r>
              <a:rPr lang="zh-CN" altLang="en-US"/>
              <a:t>例：试分析图示体系的几何构造</a:t>
            </a:r>
            <a:endParaRPr lang="en-US" altLang="zh-CN"/>
          </a:p>
          <a:p>
            <a:pPr lvl="1">
              <a:lnSpc>
                <a:spcPct val="150000"/>
              </a:lnSpc>
              <a:spcBef>
                <a:spcPts val="0"/>
              </a:spcBef>
              <a:buNone/>
            </a:pPr>
            <a:r>
              <a:rPr lang="zh-CN" altLang="en-US"/>
              <a:t>    </a:t>
            </a: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grpSp>
        <p:nvGrpSpPr>
          <p:cNvPr id="21" name="组合 20"/>
          <p:cNvGrpSpPr/>
          <p:nvPr/>
        </p:nvGrpSpPr>
        <p:grpSpPr>
          <a:xfrm>
            <a:off x="5143504" y="4572008"/>
            <a:ext cx="3728456" cy="1882695"/>
            <a:chOff x="5143504" y="4572008"/>
            <a:chExt cx="3728456" cy="1882695"/>
          </a:xfrm>
        </p:grpSpPr>
        <p:sp>
          <p:nvSpPr>
            <p:cNvPr id="18" name="矩形 17"/>
            <p:cNvSpPr/>
            <p:nvPr/>
          </p:nvSpPr>
          <p:spPr>
            <a:xfrm>
              <a:off x="5214942" y="4572008"/>
              <a:ext cx="3657018" cy="1882695"/>
            </a:xfrm>
            <a:prstGeom prst="rect">
              <a:avLst/>
            </a:prstGeom>
          </p:spPr>
          <p:txBody>
            <a:bodyPr wrap="square">
              <a:spAutoFit/>
            </a:bodyPr>
            <a:lstStyle/>
            <a:p>
              <a:pPr marL="266700" lvl="1" indent="-266700">
                <a:lnSpc>
                  <a:spcPct val="150000"/>
                </a:lnSpc>
                <a:tabLst>
                  <a:tab pos="627063" algn="l"/>
                </a:tabLst>
              </a:pPr>
              <a:r>
                <a:rPr lang="zh-CN" altLang="en-US" sz="2000" b="1"/>
                <a:t>也可如此</a:t>
              </a:r>
              <a:endParaRPr lang="en-US" altLang="zh-CN" sz="2000" b="1"/>
            </a:p>
            <a:p>
              <a:pPr marL="266700" lvl="1" indent="-266700">
                <a:lnSpc>
                  <a:spcPct val="150000"/>
                </a:lnSpc>
                <a:tabLst>
                  <a:tab pos="627063" algn="l"/>
                </a:tabLst>
              </a:pPr>
              <a:r>
                <a:rPr lang="en-US" altLang="zh-CN" sz="2000" b="1"/>
                <a:t>3  </a:t>
              </a:r>
              <a:r>
                <a:rPr lang="zh-CN" altLang="en-US" sz="2000" b="1"/>
                <a:t>如图所示</a:t>
              </a:r>
              <a:r>
                <a:rPr lang="en-US" altLang="zh-CN" sz="2000" b="1"/>
                <a:t>A</a:t>
              </a:r>
              <a:r>
                <a:rPr lang="zh-CN" altLang="en-US" sz="2000" b="1"/>
                <a:t>、</a:t>
              </a:r>
              <a:r>
                <a:rPr lang="en-US" altLang="zh-CN" sz="2000" b="1"/>
                <a:t>B</a:t>
              </a:r>
              <a:r>
                <a:rPr lang="zh-CN" altLang="en-US" sz="2000" b="1"/>
                <a:t>、</a:t>
              </a:r>
              <a:r>
                <a:rPr lang="en-US" altLang="zh-CN" sz="2000" b="1"/>
                <a:t>C</a:t>
              </a:r>
              <a:r>
                <a:rPr lang="zh-CN" altLang="en-US" sz="2000" b="1"/>
                <a:t>不共线， 体系为无多余约束的几何不变体系。</a:t>
              </a:r>
            </a:p>
          </p:txBody>
        </p:sp>
        <p:sp>
          <p:nvSpPr>
            <p:cNvPr id="20" name="右箭头 19"/>
            <p:cNvSpPr/>
            <p:nvPr/>
          </p:nvSpPr>
          <p:spPr bwMode="auto">
            <a:xfrm flipH="1">
              <a:off x="5143504" y="5643578"/>
              <a:ext cx="285752" cy="285752"/>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sp>
        <p:nvSpPr>
          <p:cNvPr id="22"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2000"/>
                                        <p:tgtEl>
                                          <p:spTgt spid="1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xEl>
                                              <p:pRg st="1" end="1"/>
                                            </p:txEl>
                                          </p:spTgt>
                                        </p:tgtEl>
                                        <p:attrNameLst>
                                          <p:attrName>style.visibility</p:attrName>
                                        </p:attrNameLst>
                                      </p:cBhvr>
                                      <p:to>
                                        <p:strVal val="visible"/>
                                      </p:to>
                                    </p:set>
                                    <p:animEffect transition="in" filter="fade">
                                      <p:cBhvr>
                                        <p:cTn id="10" dur="2000"/>
                                        <p:tgtEl>
                                          <p:spTgt spid="16">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Effect transition="in" filter="fade">
                                      <p:cBhvr>
                                        <p:cTn id="13" dur="2000"/>
                                        <p:tgtEl>
                                          <p:spTgt spid="16">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xEl>
                                              <p:pRg st="3" end="3"/>
                                            </p:txEl>
                                          </p:spTgt>
                                        </p:tgtEl>
                                        <p:attrNameLst>
                                          <p:attrName>style.visibility</p:attrName>
                                        </p:attrNameLst>
                                      </p:cBhvr>
                                      <p:to>
                                        <p:strVal val="visible"/>
                                      </p:to>
                                    </p:set>
                                    <p:animEffect transition="in" filter="fade">
                                      <p:cBhvr>
                                        <p:cTn id="16" dur="2000"/>
                                        <p:tgtEl>
                                          <p:spTgt spid="16">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additive="base">
                                        <p:cTn id="21" dur="500" fill="hold"/>
                                        <p:tgtEl>
                                          <p:spTgt spid="21"/>
                                        </p:tgtEl>
                                        <p:attrNameLst>
                                          <p:attrName>ppt_x</p:attrName>
                                        </p:attrNameLst>
                                      </p:cBhvr>
                                      <p:tavLst>
                                        <p:tav tm="0">
                                          <p:val>
                                            <p:strVal val="#ppt_x"/>
                                          </p:val>
                                        </p:tav>
                                        <p:tav tm="100000">
                                          <p:val>
                                            <p:strVal val="#ppt_x"/>
                                          </p:val>
                                        </p:tav>
                                      </p:tavLst>
                                    </p:anim>
                                    <p:anim calcmode="lin" valueType="num">
                                      <p:cBhvr additive="base">
                                        <p:cTn id="2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allAtOnce"/>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1" algn="r"/>
            <a:r>
              <a:rPr lang="zh-CN" altLang="en-US" sz="3600"/>
              <a:t>几何构造分析示例</a:t>
            </a:r>
            <a:endParaRPr lang="zh-CN" altLang="en-US" sz="3600" dirty="0"/>
          </a:p>
        </p:txBody>
      </p:sp>
      <p:sp>
        <p:nvSpPr>
          <p:cNvPr id="3" name="内容占位符 2"/>
          <p:cNvSpPr>
            <a:spLocks noGrp="1"/>
          </p:cNvSpPr>
          <p:nvPr>
            <p:ph idx="1"/>
          </p:nvPr>
        </p:nvSpPr>
        <p:spPr>
          <a:xfrm>
            <a:off x="468313" y="1268413"/>
            <a:ext cx="8175653" cy="1517645"/>
          </a:xfrm>
          <a:ln>
            <a:noFill/>
          </a:ln>
        </p:spPr>
        <p:txBody>
          <a:bodyPr/>
          <a:lstStyle/>
          <a:p>
            <a:pPr lvl="0"/>
            <a:r>
              <a:rPr lang="zh-CN" altLang="en-US"/>
              <a:t>示例</a:t>
            </a:r>
            <a:endParaRPr lang="en-US" altLang="zh-CN"/>
          </a:p>
          <a:p>
            <a:pPr lvl="1">
              <a:lnSpc>
                <a:spcPct val="150000"/>
              </a:lnSpc>
              <a:spcBef>
                <a:spcPts val="0"/>
              </a:spcBef>
            </a:pPr>
            <a:r>
              <a:rPr lang="zh-CN" altLang="en-US"/>
              <a:t>例：试分析图示体系的几何构造</a:t>
            </a:r>
            <a:endParaRPr lang="en-US" altLang="zh-CN"/>
          </a:p>
          <a:p>
            <a:pPr lvl="1">
              <a:lnSpc>
                <a:spcPct val="150000"/>
              </a:lnSpc>
              <a:spcBef>
                <a:spcPts val="0"/>
              </a:spcBef>
              <a:buNone/>
            </a:pPr>
            <a:r>
              <a:rPr lang="zh-CN" altLang="en-US"/>
              <a:t>    </a:t>
            </a: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pic>
        <p:nvPicPr>
          <p:cNvPr id="9" name="Picture 2"/>
          <p:cNvPicPr>
            <a:picLocks noChangeAspect="1" noChangeArrowheads="1"/>
          </p:cNvPicPr>
          <p:nvPr/>
        </p:nvPicPr>
        <p:blipFill>
          <a:blip r:embed="rId3" cstate="print"/>
          <a:srcRect/>
          <a:stretch>
            <a:fillRect/>
          </a:stretch>
        </p:blipFill>
        <p:spPr bwMode="auto">
          <a:xfrm>
            <a:off x="1500166" y="2506996"/>
            <a:ext cx="2400300" cy="3208020"/>
          </a:xfrm>
          <a:prstGeom prst="rect">
            <a:avLst/>
          </a:prstGeom>
          <a:noFill/>
          <a:ln w="9525">
            <a:noFill/>
            <a:miter lim="800000"/>
            <a:headEnd/>
            <a:tailEnd/>
          </a:ln>
          <a:effectLst/>
        </p:spPr>
      </p:pic>
      <p:sp>
        <p:nvSpPr>
          <p:cNvPr id="13" name="TextBox 12"/>
          <p:cNvSpPr txBox="1"/>
          <p:nvPr/>
        </p:nvSpPr>
        <p:spPr>
          <a:xfrm>
            <a:off x="1214414" y="4864450"/>
            <a:ext cx="3005951" cy="400110"/>
          </a:xfrm>
          <a:prstGeom prst="rect">
            <a:avLst/>
          </a:prstGeom>
          <a:solidFill>
            <a:schemeClr val="bg1"/>
          </a:solidFill>
          <a:ln w="28575">
            <a:solidFill>
              <a:srgbClr val="C00000"/>
            </a:solidFill>
          </a:ln>
        </p:spPr>
        <p:txBody>
          <a:bodyPr wrap="none" rtlCol="0">
            <a:spAutoFit/>
          </a:bodyPr>
          <a:lstStyle/>
          <a:p>
            <a:r>
              <a:rPr lang="zh-CN" altLang="en-US" sz="2000" b="1">
                <a:solidFill>
                  <a:srgbClr val="C00000"/>
                </a:solidFill>
              </a:rPr>
              <a:t>能否从二元体角度考虑？</a:t>
            </a:r>
          </a:p>
        </p:txBody>
      </p:sp>
      <p:grpSp>
        <p:nvGrpSpPr>
          <p:cNvPr id="27" name="组合 26"/>
          <p:cNvGrpSpPr/>
          <p:nvPr/>
        </p:nvGrpSpPr>
        <p:grpSpPr>
          <a:xfrm>
            <a:off x="4643438" y="2506996"/>
            <a:ext cx="3500462" cy="3208020"/>
            <a:chOff x="4643438" y="2506996"/>
            <a:chExt cx="3500462" cy="3208020"/>
          </a:xfrm>
        </p:grpSpPr>
        <p:grpSp>
          <p:nvGrpSpPr>
            <p:cNvPr id="15" name="组合 14"/>
            <p:cNvGrpSpPr/>
            <p:nvPr/>
          </p:nvGrpSpPr>
          <p:grpSpPr>
            <a:xfrm>
              <a:off x="4643438" y="2506996"/>
              <a:ext cx="3500462" cy="3208020"/>
              <a:chOff x="4643438" y="2506996"/>
              <a:chExt cx="3500462" cy="3208020"/>
            </a:xfrm>
          </p:grpSpPr>
          <p:sp>
            <p:nvSpPr>
              <p:cNvPr id="12" name="右箭头 11"/>
              <p:cNvSpPr/>
              <p:nvPr/>
            </p:nvSpPr>
            <p:spPr bwMode="auto">
              <a:xfrm>
                <a:off x="4643438" y="3864318"/>
                <a:ext cx="571504" cy="500066"/>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pic>
            <p:nvPicPr>
              <p:cNvPr id="14" name="Picture 2"/>
              <p:cNvPicPr>
                <a:picLocks noChangeAspect="1" noChangeArrowheads="1"/>
              </p:cNvPicPr>
              <p:nvPr/>
            </p:nvPicPr>
            <p:blipFill>
              <a:blip r:embed="rId3" cstate="print"/>
              <a:srcRect/>
              <a:stretch>
                <a:fillRect/>
              </a:stretch>
            </p:blipFill>
            <p:spPr bwMode="auto">
              <a:xfrm>
                <a:off x="5743600" y="2506996"/>
                <a:ext cx="2400300" cy="3208020"/>
              </a:xfrm>
              <a:prstGeom prst="rect">
                <a:avLst/>
              </a:prstGeom>
              <a:noFill/>
              <a:ln w="9525">
                <a:noFill/>
                <a:miter lim="800000"/>
                <a:headEnd/>
                <a:tailEnd/>
              </a:ln>
              <a:effectLst/>
            </p:spPr>
          </p:pic>
        </p:grpSp>
        <p:cxnSp>
          <p:nvCxnSpPr>
            <p:cNvPr id="19" name="直接连接符 18"/>
            <p:cNvCxnSpPr/>
            <p:nvPr/>
          </p:nvCxnSpPr>
          <p:spPr bwMode="auto">
            <a:xfrm rot="5400000" flipH="1" flipV="1">
              <a:off x="6072198" y="4500570"/>
              <a:ext cx="857256" cy="857256"/>
            </a:xfrm>
            <a:prstGeom prst="line">
              <a:avLst/>
            </a:prstGeom>
            <a:solidFill>
              <a:schemeClr val="accent1"/>
            </a:solidFill>
            <a:ln w="28575" cap="flat" cmpd="sng" algn="ctr">
              <a:solidFill>
                <a:schemeClr val="tx1"/>
              </a:solidFill>
              <a:prstDash val="lgDash"/>
              <a:round/>
              <a:headEnd type="none" w="med" len="med"/>
              <a:tailEnd type="none"/>
            </a:ln>
            <a:effectLst/>
          </p:spPr>
        </p:cxnSp>
        <p:cxnSp>
          <p:nvCxnSpPr>
            <p:cNvPr id="21" name="直接连接符 20"/>
            <p:cNvCxnSpPr/>
            <p:nvPr/>
          </p:nvCxnSpPr>
          <p:spPr bwMode="auto">
            <a:xfrm rot="5400000" flipH="1" flipV="1">
              <a:off x="6085846" y="3571876"/>
              <a:ext cx="857256" cy="857256"/>
            </a:xfrm>
            <a:prstGeom prst="line">
              <a:avLst/>
            </a:prstGeom>
            <a:solidFill>
              <a:schemeClr val="accent1"/>
            </a:solidFill>
            <a:ln w="28575" cap="flat" cmpd="sng" algn="ctr">
              <a:solidFill>
                <a:schemeClr val="tx1"/>
              </a:solidFill>
              <a:prstDash val="lgDash"/>
              <a:round/>
              <a:headEnd type="none" w="med" len="med"/>
              <a:tailEnd type="none"/>
            </a:ln>
            <a:effectLst/>
          </p:spPr>
        </p:cxnSp>
        <p:cxnSp>
          <p:nvCxnSpPr>
            <p:cNvPr id="22" name="直接连接符 21"/>
            <p:cNvCxnSpPr/>
            <p:nvPr/>
          </p:nvCxnSpPr>
          <p:spPr bwMode="auto">
            <a:xfrm rot="5400000" flipH="1" flipV="1">
              <a:off x="6085846" y="2585392"/>
              <a:ext cx="857256" cy="857256"/>
            </a:xfrm>
            <a:prstGeom prst="line">
              <a:avLst/>
            </a:prstGeom>
            <a:solidFill>
              <a:schemeClr val="accent1"/>
            </a:solidFill>
            <a:ln w="28575" cap="flat" cmpd="sng" algn="ctr">
              <a:solidFill>
                <a:schemeClr val="tx1"/>
              </a:solidFill>
              <a:prstDash val="lgDash"/>
              <a:round/>
              <a:headEnd type="none" w="med" len="med"/>
              <a:tailEnd type="none"/>
            </a:ln>
            <a:effectLst/>
          </p:spPr>
        </p:cxnSp>
        <p:cxnSp>
          <p:nvCxnSpPr>
            <p:cNvPr id="23" name="直接连接符 22"/>
            <p:cNvCxnSpPr/>
            <p:nvPr/>
          </p:nvCxnSpPr>
          <p:spPr bwMode="auto">
            <a:xfrm rot="16200000" flipV="1">
              <a:off x="6929454" y="2571744"/>
              <a:ext cx="857256" cy="857256"/>
            </a:xfrm>
            <a:prstGeom prst="line">
              <a:avLst/>
            </a:prstGeom>
            <a:solidFill>
              <a:schemeClr val="accent1"/>
            </a:solidFill>
            <a:ln w="28575" cap="flat" cmpd="sng" algn="ctr">
              <a:solidFill>
                <a:schemeClr val="tx1"/>
              </a:solidFill>
              <a:prstDash val="lgDash"/>
              <a:round/>
              <a:headEnd type="none" w="med" len="med"/>
              <a:tailEnd type="none"/>
            </a:ln>
            <a:effectLst/>
          </p:spPr>
        </p:cxnSp>
        <p:cxnSp>
          <p:nvCxnSpPr>
            <p:cNvPr id="25" name="直接连接符 24"/>
            <p:cNvCxnSpPr/>
            <p:nvPr/>
          </p:nvCxnSpPr>
          <p:spPr bwMode="auto">
            <a:xfrm rot="16200000" flipV="1">
              <a:off x="6973596" y="3571876"/>
              <a:ext cx="857256" cy="857256"/>
            </a:xfrm>
            <a:prstGeom prst="line">
              <a:avLst/>
            </a:prstGeom>
            <a:solidFill>
              <a:schemeClr val="accent1"/>
            </a:solidFill>
            <a:ln w="28575" cap="flat" cmpd="sng" algn="ctr">
              <a:solidFill>
                <a:schemeClr val="tx1"/>
              </a:solidFill>
              <a:prstDash val="lgDash"/>
              <a:round/>
              <a:headEnd type="none" w="med" len="med"/>
              <a:tailEnd type="none"/>
            </a:ln>
            <a:effectLst/>
          </p:spPr>
        </p:cxnSp>
        <p:cxnSp>
          <p:nvCxnSpPr>
            <p:cNvPr id="26" name="直接连接符 25"/>
            <p:cNvCxnSpPr/>
            <p:nvPr/>
          </p:nvCxnSpPr>
          <p:spPr bwMode="auto">
            <a:xfrm rot="16200000" flipV="1">
              <a:off x="6956750" y="4500570"/>
              <a:ext cx="857256" cy="857256"/>
            </a:xfrm>
            <a:prstGeom prst="line">
              <a:avLst/>
            </a:prstGeom>
            <a:solidFill>
              <a:schemeClr val="accent1"/>
            </a:solidFill>
            <a:ln w="28575" cap="flat" cmpd="sng" algn="ctr">
              <a:solidFill>
                <a:schemeClr val="tx1"/>
              </a:solidFill>
              <a:prstDash val="lgDash"/>
              <a:round/>
              <a:headEnd type="none" w="med" len="med"/>
              <a:tailEnd type="none"/>
            </a:ln>
            <a:effectLst/>
          </p:spPr>
        </p:cxnSp>
      </p:grpSp>
      <p:sp>
        <p:nvSpPr>
          <p:cNvPr id="28" name="TextBox 27"/>
          <p:cNvSpPr txBox="1"/>
          <p:nvPr/>
        </p:nvSpPr>
        <p:spPr>
          <a:xfrm>
            <a:off x="2857488" y="6000768"/>
            <a:ext cx="3775393" cy="400110"/>
          </a:xfrm>
          <a:prstGeom prst="rect">
            <a:avLst/>
          </a:prstGeom>
          <a:noFill/>
          <a:ln w="28575">
            <a:solidFill>
              <a:schemeClr val="tx1"/>
            </a:solidFill>
          </a:ln>
        </p:spPr>
        <p:txBody>
          <a:bodyPr wrap="none" rtlCol="0">
            <a:spAutoFit/>
          </a:bodyPr>
          <a:lstStyle/>
          <a:p>
            <a:r>
              <a:rPr lang="zh-CN" altLang="en-US" sz="2000" b="1"/>
              <a:t>有时刚片视为链杆可以简化分析</a:t>
            </a:r>
          </a:p>
        </p:txBody>
      </p:sp>
      <p:sp>
        <p:nvSpPr>
          <p:cNvPr id="29"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bg/>
                                          </p:spTgt>
                                        </p:tgtEl>
                                        <p:attrNameLst>
                                          <p:attrName>style.visibility</p:attrName>
                                        </p:attrNameLst>
                                      </p:cBhvr>
                                      <p:to>
                                        <p:strVal val="visible"/>
                                      </p:to>
                                    </p:set>
                                    <p:animEffect transition="in" filter="fade">
                                      <p:cBhvr>
                                        <p:cTn id="7" dur="2000"/>
                                        <p:tgtEl>
                                          <p:spTgt spid="13">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xEl>
                                              <p:pRg st="0" end="0"/>
                                            </p:txEl>
                                          </p:spTgt>
                                        </p:tgtEl>
                                        <p:attrNameLst>
                                          <p:attrName>style.visibility</p:attrName>
                                        </p:attrNameLst>
                                      </p:cBhvr>
                                      <p:to>
                                        <p:strVal val="visible"/>
                                      </p:to>
                                    </p:set>
                                    <p:animEffect transition="in" filter="fade">
                                      <p:cBhvr>
                                        <p:cTn id="10" dur="2000"/>
                                        <p:tgtEl>
                                          <p:spTgt spid="1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anim calcmode="lin" valueType="num">
                                      <p:cBhvr additive="base">
                                        <p:cTn id="15" dur="500" fill="hold"/>
                                        <p:tgtEl>
                                          <p:spTgt spid="27"/>
                                        </p:tgtEl>
                                        <p:attrNameLst>
                                          <p:attrName>ppt_x</p:attrName>
                                        </p:attrNameLst>
                                      </p:cBhvr>
                                      <p:tavLst>
                                        <p:tav tm="0">
                                          <p:val>
                                            <p:strVal val="#ppt_x"/>
                                          </p:val>
                                        </p:tav>
                                        <p:tav tm="100000">
                                          <p:val>
                                            <p:strVal val="#ppt_x"/>
                                          </p:val>
                                        </p:tav>
                                      </p:tavLst>
                                    </p:anim>
                                    <p:anim calcmode="lin" valueType="num">
                                      <p:cBhvr additive="base">
                                        <p:cTn id="16"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8">
                                            <p:bg/>
                                          </p:spTgt>
                                        </p:tgtEl>
                                        <p:attrNameLst>
                                          <p:attrName>style.visibility</p:attrName>
                                        </p:attrNameLst>
                                      </p:cBhvr>
                                      <p:to>
                                        <p:strVal val="visible"/>
                                      </p:to>
                                    </p:set>
                                    <p:animEffect transition="in" filter="fade">
                                      <p:cBhvr>
                                        <p:cTn id="21" dur="2000"/>
                                        <p:tgtEl>
                                          <p:spTgt spid="28">
                                            <p:bg/>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xEl>
                                              <p:pRg st="0" end="0"/>
                                            </p:txEl>
                                          </p:spTgt>
                                        </p:tgtEl>
                                        <p:attrNameLst>
                                          <p:attrName>style.visibility</p:attrName>
                                        </p:attrNameLst>
                                      </p:cBhvr>
                                      <p:to>
                                        <p:strVal val="visible"/>
                                      </p:to>
                                    </p:set>
                                    <p:animEffect transition="in" filter="fade">
                                      <p:cBhvr>
                                        <p:cTn id="24" dur="2000"/>
                                        <p:tgtEl>
                                          <p:spTgt spid="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allAtOnce" animBg="1"/>
      <p:bldP spid="28" grpId="0" build="allAtOnce"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1" algn="r"/>
            <a:r>
              <a:rPr lang="zh-CN" altLang="en-US" sz="3600"/>
              <a:t>几何构造分析示例</a:t>
            </a:r>
            <a:endParaRPr lang="zh-CN" altLang="en-US" sz="3600" dirty="0"/>
          </a:p>
        </p:txBody>
      </p:sp>
      <p:sp>
        <p:nvSpPr>
          <p:cNvPr id="3" name="内容占位符 2"/>
          <p:cNvSpPr>
            <a:spLocks noGrp="1"/>
          </p:cNvSpPr>
          <p:nvPr>
            <p:ph idx="1"/>
          </p:nvPr>
        </p:nvSpPr>
        <p:spPr>
          <a:xfrm>
            <a:off x="468313" y="1268413"/>
            <a:ext cx="8175653" cy="1517645"/>
          </a:xfrm>
          <a:ln>
            <a:noFill/>
          </a:ln>
        </p:spPr>
        <p:txBody>
          <a:bodyPr/>
          <a:lstStyle/>
          <a:p>
            <a:pPr lvl="0"/>
            <a:r>
              <a:rPr lang="zh-CN" altLang="en-US"/>
              <a:t>示例</a:t>
            </a:r>
            <a:endParaRPr lang="en-US" altLang="zh-CN"/>
          </a:p>
          <a:p>
            <a:pPr lvl="1">
              <a:lnSpc>
                <a:spcPct val="150000"/>
              </a:lnSpc>
              <a:spcBef>
                <a:spcPts val="0"/>
              </a:spcBef>
            </a:pPr>
            <a:r>
              <a:rPr lang="zh-CN" altLang="en-US"/>
              <a:t>例：试分析图示体系的几何构造（浙江大学</a:t>
            </a:r>
            <a:r>
              <a:rPr lang="en-US" altLang="zh-CN"/>
              <a:t>1999</a:t>
            </a:r>
            <a:r>
              <a:rPr lang="zh-CN" altLang="en-US"/>
              <a:t>）</a:t>
            </a:r>
            <a:endParaRPr lang="en-US" altLang="zh-CN"/>
          </a:p>
          <a:p>
            <a:pPr lvl="1">
              <a:lnSpc>
                <a:spcPct val="150000"/>
              </a:lnSpc>
              <a:spcBef>
                <a:spcPts val="0"/>
              </a:spcBef>
              <a:buNone/>
            </a:pPr>
            <a:r>
              <a:rPr lang="zh-CN" altLang="en-US"/>
              <a:t>    </a:t>
            </a: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sp>
        <p:nvSpPr>
          <p:cNvPr id="29"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grpSp>
        <p:nvGrpSpPr>
          <p:cNvPr id="14" name="组合 13"/>
          <p:cNvGrpSpPr/>
          <p:nvPr/>
        </p:nvGrpSpPr>
        <p:grpSpPr>
          <a:xfrm>
            <a:off x="714375" y="3402018"/>
            <a:ext cx="3292475" cy="1741494"/>
            <a:chOff x="714375" y="2571744"/>
            <a:chExt cx="3292475" cy="1741494"/>
          </a:xfrm>
        </p:grpSpPr>
        <p:graphicFrame>
          <p:nvGraphicFramePr>
            <p:cNvPr id="238594" name="Object 4"/>
            <p:cNvGraphicFramePr>
              <a:graphicFrameLocks noChangeAspect="1"/>
            </p:cNvGraphicFramePr>
            <p:nvPr/>
          </p:nvGraphicFramePr>
          <p:xfrm>
            <a:off x="714375" y="2571750"/>
            <a:ext cx="3292475" cy="1741488"/>
          </p:xfrm>
          <a:graphic>
            <a:graphicData uri="http://schemas.openxmlformats.org/presentationml/2006/ole">
              <mc:AlternateContent xmlns:mc="http://schemas.openxmlformats.org/markup-compatibility/2006">
                <mc:Choice xmlns:v="urn:schemas-microsoft-com:vml" Requires="v">
                  <p:oleObj spid="_x0000_s238596" name="AutoCAD Drawing" r:id="rId4" imgW="8943840" imgH="4981680" progId="">
                    <p:embed/>
                  </p:oleObj>
                </mc:Choice>
                <mc:Fallback>
                  <p:oleObj name="AutoCAD Drawing" r:id="rId4" imgW="8943840" imgH="4981680"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l="10909" t="31651" r="62027" b="41408"/>
                        <a:stretch>
                          <a:fillRect/>
                        </a:stretch>
                      </p:blipFill>
                      <p:spPr bwMode="auto">
                        <a:xfrm>
                          <a:off x="714375" y="2571750"/>
                          <a:ext cx="3292475" cy="174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cmpd="tri">
                              <a:solidFill>
                                <a:srgbClr val="0000FF"/>
                              </a:solidFill>
                              <a:miter lim="800000"/>
                              <a:headEnd/>
                              <a:tailEnd/>
                            </a14:hiddenLine>
                          </a:ext>
                        </a:extLst>
                      </p:spPr>
                    </p:pic>
                  </p:oleObj>
                </mc:Fallback>
              </mc:AlternateContent>
            </a:graphicData>
          </a:graphic>
        </p:graphicFrame>
        <p:sp>
          <p:nvSpPr>
            <p:cNvPr id="11" name="矩形 10"/>
            <p:cNvSpPr/>
            <p:nvPr/>
          </p:nvSpPr>
          <p:spPr bwMode="auto">
            <a:xfrm>
              <a:off x="2714612" y="2571744"/>
              <a:ext cx="285752" cy="285752"/>
            </a:xfrm>
            <a:prstGeom prst="rect">
              <a:avLst/>
            </a:prstGeom>
            <a:solidFill>
              <a:schemeClr val="bg1"/>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12" name="矩形 11"/>
            <p:cNvSpPr/>
            <p:nvPr/>
          </p:nvSpPr>
          <p:spPr bwMode="auto">
            <a:xfrm>
              <a:off x="2714612" y="3099106"/>
              <a:ext cx="285752" cy="285752"/>
            </a:xfrm>
            <a:prstGeom prst="rect">
              <a:avLst/>
            </a:prstGeom>
            <a:solidFill>
              <a:schemeClr val="bg1"/>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13" name="矩形 12"/>
            <p:cNvSpPr/>
            <p:nvPr/>
          </p:nvSpPr>
          <p:spPr bwMode="auto">
            <a:xfrm>
              <a:off x="2714612" y="3684258"/>
              <a:ext cx="285752" cy="285752"/>
            </a:xfrm>
            <a:prstGeom prst="rect">
              <a:avLst/>
            </a:prstGeom>
            <a:solidFill>
              <a:schemeClr val="bg1"/>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grpSp>
        <p:nvGrpSpPr>
          <p:cNvPr id="32" name="组合 31"/>
          <p:cNvGrpSpPr/>
          <p:nvPr/>
        </p:nvGrpSpPr>
        <p:grpSpPr>
          <a:xfrm>
            <a:off x="4572000" y="2557302"/>
            <a:ext cx="3735390" cy="2929752"/>
            <a:chOff x="4572000" y="2557302"/>
            <a:chExt cx="3735390" cy="2929752"/>
          </a:xfrm>
        </p:grpSpPr>
        <p:grpSp>
          <p:nvGrpSpPr>
            <p:cNvPr id="30" name="组合 29"/>
            <p:cNvGrpSpPr/>
            <p:nvPr/>
          </p:nvGrpSpPr>
          <p:grpSpPr>
            <a:xfrm>
              <a:off x="5000628" y="2557302"/>
              <a:ext cx="3306762" cy="2929752"/>
              <a:chOff x="5000628" y="1785926"/>
              <a:chExt cx="3306762" cy="2929752"/>
            </a:xfrm>
          </p:grpSpPr>
          <p:cxnSp>
            <p:nvCxnSpPr>
              <p:cNvPr id="23" name="直接连接符 22"/>
              <p:cNvCxnSpPr/>
              <p:nvPr/>
            </p:nvCxnSpPr>
            <p:spPr bwMode="auto">
              <a:xfrm flipV="1">
                <a:off x="6728788" y="1785926"/>
                <a:ext cx="1200798" cy="1173502"/>
              </a:xfrm>
              <a:prstGeom prst="line">
                <a:avLst/>
              </a:prstGeom>
              <a:solidFill>
                <a:schemeClr val="accent1"/>
              </a:solidFill>
              <a:ln w="28575" cap="flat" cmpd="sng" algn="ctr">
                <a:solidFill>
                  <a:schemeClr val="tx1"/>
                </a:solidFill>
                <a:prstDash val="dash"/>
                <a:round/>
                <a:headEnd type="none" w="med" len="med"/>
                <a:tailEnd type="none" w="med" len="med"/>
              </a:ln>
              <a:effectLst/>
            </p:spPr>
          </p:cxnSp>
          <p:graphicFrame>
            <p:nvGraphicFramePr>
              <p:cNvPr id="238595" name="Object 4"/>
              <p:cNvGraphicFramePr>
                <a:graphicFrameLocks noChangeAspect="1"/>
              </p:cNvGraphicFramePr>
              <p:nvPr/>
            </p:nvGraphicFramePr>
            <p:xfrm>
              <a:off x="5000628" y="2643182"/>
              <a:ext cx="3306762" cy="1747838"/>
            </p:xfrm>
            <a:graphic>
              <a:graphicData uri="http://schemas.openxmlformats.org/presentationml/2006/ole">
                <mc:AlternateContent xmlns:mc="http://schemas.openxmlformats.org/markup-compatibility/2006">
                  <mc:Choice xmlns:v="urn:schemas-microsoft-com:vml" Requires="v">
                    <p:oleObj spid="_x0000_s238597" name="AutoCAD Drawing" r:id="rId6" imgW="8943840" imgH="4981680" progId="">
                      <p:embed/>
                    </p:oleObj>
                  </mc:Choice>
                  <mc:Fallback>
                    <p:oleObj name="AutoCAD Drawing" r:id="rId6" imgW="8943840" imgH="4981680" progId="">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l="10909" t="31651" r="62027" b="41408"/>
                          <a:stretch>
                            <a:fillRect/>
                          </a:stretch>
                        </p:blipFill>
                        <p:spPr bwMode="auto">
                          <a:xfrm>
                            <a:off x="5000628" y="2643182"/>
                            <a:ext cx="3306762" cy="174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cmpd="tri">
                                <a:solidFill>
                                  <a:srgbClr val="0000FF"/>
                                </a:solidFill>
                                <a:miter lim="800000"/>
                                <a:headEnd/>
                                <a:tailEnd/>
                              </a14:hiddenLine>
                            </a:ext>
                          </a:extLst>
                        </p:spPr>
                      </p:pic>
                    </p:oleObj>
                  </mc:Fallback>
                </mc:AlternateContent>
              </a:graphicData>
            </a:graphic>
          </p:graphicFrame>
          <p:cxnSp>
            <p:nvCxnSpPr>
              <p:cNvPr id="17" name="直接连接符 16"/>
              <p:cNvCxnSpPr/>
              <p:nvPr/>
            </p:nvCxnSpPr>
            <p:spPr bwMode="auto">
              <a:xfrm rot="5400000">
                <a:off x="6522897" y="3750471"/>
                <a:ext cx="1156656" cy="772170"/>
              </a:xfrm>
              <a:prstGeom prst="line">
                <a:avLst/>
              </a:prstGeom>
              <a:solidFill>
                <a:schemeClr val="accent1"/>
              </a:solidFill>
              <a:ln w="28575" cap="flat" cmpd="sng" algn="ctr">
                <a:solidFill>
                  <a:schemeClr val="tx1"/>
                </a:solidFill>
                <a:prstDash val="dash"/>
                <a:round/>
                <a:headEnd type="none" w="med" len="med"/>
                <a:tailEnd type="none" w="med" len="med"/>
              </a:ln>
              <a:effectLst/>
            </p:spPr>
          </p:cxnSp>
          <p:cxnSp>
            <p:nvCxnSpPr>
              <p:cNvPr id="21" name="直接连接符 20"/>
              <p:cNvCxnSpPr/>
              <p:nvPr/>
            </p:nvCxnSpPr>
            <p:spPr bwMode="auto">
              <a:xfrm rot="5400000">
                <a:off x="6393669" y="4393413"/>
                <a:ext cx="642942" cy="1588"/>
              </a:xfrm>
              <a:prstGeom prst="line">
                <a:avLst/>
              </a:prstGeom>
              <a:solidFill>
                <a:schemeClr val="accent1"/>
              </a:solidFill>
              <a:ln w="28575" cap="flat" cmpd="sng" algn="ctr">
                <a:solidFill>
                  <a:schemeClr val="tx1"/>
                </a:solidFill>
                <a:prstDash val="dash"/>
                <a:round/>
                <a:headEnd type="none" w="med" len="med"/>
                <a:tailEnd type="none" w="med" len="med"/>
              </a:ln>
              <a:effectLst/>
            </p:spPr>
          </p:cxnSp>
          <p:cxnSp>
            <p:nvCxnSpPr>
              <p:cNvPr id="26" name="直接连接符 25"/>
              <p:cNvCxnSpPr/>
              <p:nvPr/>
            </p:nvCxnSpPr>
            <p:spPr bwMode="auto">
              <a:xfrm rot="5400000" flipH="1" flipV="1">
                <a:off x="7322363" y="2393149"/>
                <a:ext cx="1214446" cy="1588"/>
              </a:xfrm>
              <a:prstGeom prst="line">
                <a:avLst/>
              </a:prstGeom>
              <a:solidFill>
                <a:schemeClr val="accent1"/>
              </a:solidFill>
              <a:ln w="28575" cap="flat" cmpd="sng" algn="ctr">
                <a:solidFill>
                  <a:schemeClr val="tx1"/>
                </a:solidFill>
                <a:prstDash val="dash"/>
                <a:round/>
                <a:headEnd type="none" w="med" len="med"/>
                <a:tailEnd type="none" w="med" len="med"/>
              </a:ln>
              <a:effectLst/>
            </p:spPr>
          </p:cxnSp>
        </p:grpSp>
        <p:sp>
          <p:nvSpPr>
            <p:cNvPr id="31" name="右箭头 30"/>
            <p:cNvSpPr/>
            <p:nvPr/>
          </p:nvSpPr>
          <p:spPr bwMode="auto">
            <a:xfrm>
              <a:off x="4572000" y="4214818"/>
              <a:ext cx="428628" cy="357190"/>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sp>
        <p:nvSpPr>
          <p:cNvPr id="33" name="TextBox 32"/>
          <p:cNvSpPr txBox="1"/>
          <p:nvPr/>
        </p:nvSpPr>
        <p:spPr>
          <a:xfrm>
            <a:off x="2857488" y="5814972"/>
            <a:ext cx="3005951" cy="400110"/>
          </a:xfrm>
          <a:prstGeom prst="rect">
            <a:avLst/>
          </a:prstGeom>
          <a:noFill/>
          <a:ln w="28575">
            <a:solidFill>
              <a:schemeClr val="tx1"/>
            </a:solidFill>
          </a:ln>
        </p:spPr>
        <p:txBody>
          <a:bodyPr wrap="none" rtlCol="0">
            <a:spAutoFit/>
          </a:bodyPr>
          <a:lstStyle/>
          <a:p>
            <a:r>
              <a:rPr lang="zh-CN" altLang="en-US" sz="2000" b="1"/>
              <a:t>有时链杆可视为刚片分析</a:t>
            </a:r>
          </a:p>
        </p:txBody>
      </p:sp>
      <p:sp>
        <p:nvSpPr>
          <p:cNvPr id="34" name="TextBox 33"/>
          <p:cNvSpPr txBox="1"/>
          <p:nvPr/>
        </p:nvSpPr>
        <p:spPr>
          <a:xfrm>
            <a:off x="2143108" y="2786058"/>
            <a:ext cx="1210588" cy="400110"/>
          </a:xfrm>
          <a:prstGeom prst="rect">
            <a:avLst/>
          </a:prstGeom>
          <a:solidFill>
            <a:schemeClr val="bg1"/>
          </a:solidFill>
          <a:ln w="28575">
            <a:solidFill>
              <a:srgbClr val="C00000"/>
            </a:solidFill>
          </a:ln>
        </p:spPr>
        <p:txBody>
          <a:bodyPr wrap="none" rtlCol="0">
            <a:spAutoFit/>
          </a:bodyPr>
          <a:lstStyle/>
          <a:p>
            <a:r>
              <a:rPr lang="zh-CN" altLang="en-US" sz="2000" b="1">
                <a:solidFill>
                  <a:srgbClr val="C00000"/>
                </a:solidFill>
              </a:rPr>
              <a:t>无多不变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4">
                                            <p:bg/>
                                          </p:spTgt>
                                        </p:tgtEl>
                                        <p:attrNameLst>
                                          <p:attrName>style.visibility</p:attrName>
                                        </p:attrNameLst>
                                      </p:cBhvr>
                                      <p:to>
                                        <p:strVal val="visible"/>
                                      </p:to>
                                    </p:set>
                                    <p:animEffect transition="in" filter="fade">
                                      <p:cBhvr>
                                        <p:cTn id="11" dur="2000"/>
                                        <p:tgtEl>
                                          <p:spTgt spid="34">
                                            <p:bg/>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4">
                                            <p:txEl>
                                              <p:pRg st="0" end="0"/>
                                            </p:txEl>
                                          </p:spTgt>
                                        </p:tgtEl>
                                        <p:attrNameLst>
                                          <p:attrName>style.visibility</p:attrName>
                                        </p:attrNameLst>
                                      </p:cBhvr>
                                      <p:to>
                                        <p:strVal val="visible"/>
                                      </p:to>
                                    </p:set>
                                    <p:animEffect transition="in" filter="fade">
                                      <p:cBhvr>
                                        <p:cTn id="14" dur="2000"/>
                                        <p:tgtEl>
                                          <p:spTgt spid="3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3">
                                            <p:bg/>
                                          </p:spTgt>
                                        </p:tgtEl>
                                        <p:attrNameLst>
                                          <p:attrName>style.visibility</p:attrName>
                                        </p:attrNameLst>
                                      </p:cBhvr>
                                      <p:to>
                                        <p:strVal val="visible"/>
                                      </p:to>
                                    </p:set>
                                    <p:animEffect transition="in" filter="fade">
                                      <p:cBhvr>
                                        <p:cTn id="19" dur="2000"/>
                                        <p:tgtEl>
                                          <p:spTgt spid="33">
                                            <p:bg/>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3">
                                            <p:txEl>
                                              <p:pRg st="0" end="0"/>
                                            </p:txEl>
                                          </p:spTgt>
                                        </p:tgtEl>
                                        <p:attrNameLst>
                                          <p:attrName>style.visibility</p:attrName>
                                        </p:attrNameLst>
                                      </p:cBhvr>
                                      <p:to>
                                        <p:strVal val="visible"/>
                                      </p:to>
                                    </p:set>
                                    <p:animEffect transition="in" filter="fade">
                                      <p:cBhvr>
                                        <p:cTn id="22" dur="2000"/>
                                        <p:tgtEl>
                                          <p:spTgt spid="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uild="allAtOnce" animBg="1"/>
      <p:bldP spid="34" grpId="0" build="allAtOnce"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1" algn="r"/>
            <a:r>
              <a:rPr lang="zh-CN" altLang="en-US" sz="3600"/>
              <a:t>几何构造分析示例</a:t>
            </a:r>
            <a:endParaRPr lang="zh-CN" altLang="en-US" sz="3600" dirty="0"/>
          </a:p>
        </p:txBody>
      </p:sp>
      <p:sp>
        <p:nvSpPr>
          <p:cNvPr id="3" name="内容占位符 2"/>
          <p:cNvSpPr>
            <a:spLocks noGrp="1"/>
          </p:cNvSpPr>
          <p:nvPr>
            <p:ph idx="1"/>
          </p:nvPr>
        </p:nvSpPr>
        <p:spPr>
          <a:xfrm>
            <a:off x="468313" y="1268413"/>
            <a:ext cx="8175653" cy="1517645"/>
          </a:xfrm>
          <a:ln>
            <a:noFill/>
          </a:ln>
        </p:spPr>
        <p:txBody>
          <a:bodyPr/>
          <a:lstStyle/>
          <a:p>
            <a:pPr lvl="0"/>
            <a:r>
              <a:rPr lang="zh-CN" altLang="en-US"/>
              <a:t>示例</a:t>
            </a:r>
            <a:endParaRPr lang="en-US" altLang="zh-CN"/>
          </a:p>
          <a:p>
            <a:pPr lvl="1">
              <a:lnSpc>
                <a:spcPct val="150000"/>
              </a:lnSpc>
              <a:spcBef>
                <a:spcPts val="0"/>
              </a:spcBef>
            </a:pPr>
            <a:r>
              <a:rPr lang="zh-CN" altLang="en-US"/>
              <a:t>例：与基础的联结</a:t>
            </a:r>
            <a:endParaRPr lang="en-US" altLang="zh-CN"/>
          </a:p>
          <a:p>
            <a:pPr lvl="1">
              <a:lnSpc>
                <a:spcPct val="150000"/>
              </a:lnSpc>
              <a:spcBef>
                <a:spcPts val="0"/>
              </a:spcBef>
              <a:buNone/>
            </a:pPr>
            <a:r>
              <a:rPr lang="zh-CN" altLang="en-US"/>
              <a:t>    </a:t>
            </a: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pic>
        <p:nvPicPr>
          <p:cNvPr id="218116" name="Picture 4"/>
          <p:cNvPicPr>
            <a:picLocks noChangeAspect="1" noChangeArrowheads="1"/>
          </p:cNvPicPr>
          <p:nvPr/>
        </p:nvPicPr>
        <p:blipFill>
          <a:blip r:embed="rId3" cstate="print"/>
          <a:srcRect t="3399"/>
          <a:stretch>
            <a:fillRect/>
          </a:stretch>
        </p:blipFill>
        <p:spPr bwMode="auto">
          <a:xfrm>
            <a:off x="5429256" y="1500174"/>
            <a:ext cx="3000395" cy="3071834"/>
          </a:xfrm>
          <a:prstGeom prst="rect">
            <a:avLst/>
          </a:prstGeom>
          <a:noFill/>
          <a:ln w="9525">
            <a:noFill/>
            <a:miter lim="800000"/>
            <a:headEnd/>
            <a:tailEnd/>
          </a:ln>
          <a:effectLst/>
        </p:spPr>
      </p:pic>
      <p:pic>
        <p:nvPicPr>
          <p:cNvPr id="218118" name="Picture 6"/>
          <p:cNvPicPr>
            <a:picLocks noChangeAspect="1" noChangeArrowheads="1"/>
          </p:cNvPicPr>
          <p:nvPr/>
        </p:nvPicPr>
        <p:blipFill>
          <a:blip r:embed="rId4" cstate="print"/>
          <a:srcRect t="3822"/>
          <a:stretch>
            <a:fillRect/>
          </a:stretch>
        </p:blipFill>
        <p:spPr bwMode="auto">
          <a:xfrm>
            <a:off x="571472" y="2520133"/>
            <a:ext cx="4000528" cy="1766123"/>
          </a:xfrm>
          <a:prstGeom prst="rect">
            <a:avLst/>
          </a:prstGeom>
          <a:noFill/>
          <a:ln w="9525">
            <a:noFill/>
            <a:miter lim="800000"/>
            <a:headEnd/>
            <a:tailEnd/>
          </a:ln>
          <a:effectLst/>
        </p:spPr>
      </p:pic>
      <p:sp>
        <p:nvSpPr>
          <p:cNvPr id="24" name="TextBox 23"/>
          <p:cNvSpPr txBox="1"/>
          <p:nvPr/>
        </p:nvSpPr>
        <p:spPr>
          <a:xfrm>
            <a:off x="5072066" y="4537934"/>
            <a:ext cx="3571900" cy="1292662"/>
          </a:xfrm>
          <a:prstGeom prst="rect">
            <a:avLst/>
          </a:prstGeom>
          <a:noFill/>
          <a:ln w="28575">
            <a:noFill/>
          </a:ln>
        </p:spPr>
        <p:txBody>
          <a:bodyPr wrap="square" rtlCol="0">
            <a:spAutoFit/>
          </a:bodyPr>
          <a:lstStyle/>
          <a:p>
            <a:pPr marL="531813" indent="-531813">
              <a:lnSpc>
                <a:spcPct val="130000"/>
              </a:lnSpc>
            </a:pPr>
            <a:r>
              <a:rPr lang="zh-CN" altLang="en-US" sz="2000" b="1"/>
              <a:t>右：与基础连接符合两刚片原则，只要对体系内部进行分析即可；</a:t>
            </a:r>
          </a:p>
        </p:txBody>
      </p:sp>
      <p:sp>
        <p:nvSpPr>
          <p:cNvPr id="27" name="TextBox 26"/>
          <p:cNvSpPr txBox="1"/>
          <p:nvPr/>
        </p:nvSpPr>
        <p:spPr>
          <a:xfrm>
            <a:off x="285720" y="4511299"/>
            <a:ext cx="4143404" cy="1846659"/>
          </a:xfrm>
          <a:prstGeom prst="rect">
            <a:avLst/>
          </a:prstGeom>
          <a:noFill/>
          <a:ln w="28575">
            <a:noFill/>
          </a:ln>
        </p:spPr>
        <p:txBody>
          <a:bodyPr wrap="square" rtlCol="0">
            <a:spAutoFit/>
          </a:bodyPr>
          <a:lstStyle/>
          <a:p>
            <a:pPr marL="531813" indent="-531813">
              <a:lnSpc>
                <a:spcPct val="130000"/>
              </a:lnSpc>
              <a:spcBef>
                <a:spcPts val="600"/>
              </a:spcBef>
              <a:tabLst>
                <a:tab pos="531813" algn="l"/>
              </a:tabLst>
            </a:pPr>
            <a:r>
              <a:rPr lang="zh-CN" altLang="en-US" sz="2000" b="1"/>
              <a:t>左：体系与基础链杆数超过</a:t>
            </a:r>
            <a:r>
              <a:rPr lang="en-US" altLang="zh-CN" sz="2000" b="1"/>
              <a:t>3</a:t>
            </a:r>
            <a:r>
              <a:rPr lang="zh-CN" altLang="en-US" sz="2000" b="1"/>
              <a:t>跟，无法适用两刚片原则；</a:t>
            </a:r>
            <a:endParaRPr lang="en-US" altLang="zh-CN" sz="2000" b="1"/>
          </a:p>
          <a:p>
            <a:pPr marL="531813" indent="-531813">
              <a:lnSpc>
                <a:spcPct val="130000"/>
              </a:lnSpc>
              <a:spcBef>
                <a:spcPts val="1200"/>
              </a:spcBef>
              <a:tabLst>
                <a:tab pos="531813" algn="l"/>
              </a:tabLst>
            </a:pPr>
            <a:r>
              <a:rPr lang="en-US" altLang="zh-CN" sz="2000" b="1"/>
              <a:t>        </a:t>
            </a:r>
            <a:r>
              <a:rPr lang="zh-CN" altLang="en-US" sz="2000" b="1"/>
              <a:t>只能把基础当作一个刚片一起分析。</a:t>
            </a:r>
          </a:p>
        </p:txBody>
      </p:sp>
      <p:sp>
        <p:nvSpPr>
          <p:cNvPr id="29"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2000"/>
                                        <p:tgtEl>
                                          <p:spTgt spid="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8118"/>
                                        </p:tgtEl>
                                        <p:attrNameLst>
                                          <p:attrName>style.visibility</p:attrName>
                                        </p:attrNameLst>
                                      </p:cBhvr>
                                      <p:to>
                                        <p:strVal val="visible"/>
                                      </p:to>
                                    </p:set>
                                    <p:animEffect transition="in" filter="fade">
                                      <p:cBhvr>
                                        <p:cTn id="12" dur="2000"/>
                                        <p:tgtEl>
                                          <p:spTgt spid="2181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7">
                                            <p:txEl>
                                              <p:pRg st="0" end="0"/>
                                            </p:txEl>
                                          </p:spTgt>
                                        </p:tgtEl>
                                        <p:attrNameLst>
                                          <p:attrName>style.visibility</p:attrName>
                                        </p:attrNameLst>
                                      </p:cBhvr>
                                      <p:to>
                                        <p:strVal val="visible"/>
                                      </p:to>
                                    </p:set>
                                    <p:animEffect transition="in" filter="wipe(down)">
                                      <p:cBhvr>
                                        <p:cTn id="17" dur="500"/>
                                        <p:tgtEl>
                                          <p:spTgt spid="27">
                                            <p:txEl>
                                              <p:pRg st="0" end="0"/>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27">
                                            <p:txEl>
                                              <p:pRg st="1" end="1"/>
                                            </p:txEl>
                                          </p:spTgt>
                                        </p:tgtEl>
                                        <p:attrNameLst>
                                          <p:attrName>style.visibility</p:attrName>
                                        </p:attrNameLst>
                                      </p:cBhvr>
                                      <p:to>
                                        <p:strVal val="visible"/>
                                      </p:to>
                                    </p:set>
                                    <p:animEffect transition="in" filter="wipe(down)">
                                      <p:cBhvr>
                                        <p:cTn id="20" dur="500"/>
                                        <p:tgtEl>
                                          <p:spTgt spid="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allAtOnce"/>
      <p:bldP spid="27" grpId="0" build="allAtOnce"/>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1" algn="r"/>
            <a:r>
              <a:rPr lang="zh-CN" altLang="en-US" sz="3600"/>
              <a:t>几何构造分析示例</a:t>
            </a:r>
            <a:endParaRPr lang="zh-CN" altLang="en-US" sz="3600" dirty="0"/>
          </a:p>
        </p:txBody>
      </p:sp>
      <p:sp>
        <p:nvSpPr>
          <p:cNvPr id="3" name="内容占位符 2"/>
          <p:cNvSpPr>
            <a:spLocks noGrp="1"/>
          </p:cNvSpPr>
          <p:nvPr>
            <p:ph idx="1"/>
          </p:nvPr>
        </p:nvSpPr>
        <p:spPr>
          <a:xfrm>
            <a:off x="468313" y="1268413"/>
            <a:ext cx="8175653" cy="1517645"/>
          </a:xfrm>
          <a:ln>
            <a:noFill/>
          </a:ln>
        </p:spPr>
        <p:txBody>
          <a:bodyPr/>
          <a:lstStyle/>
          <a:p>
            <a:pPr lvl="0"/>
            <a:r>
              <a:rPr lang="zh-CN" altLang="en-US"/>
              <a:t>示例</a:t>
            </a:r>
            <a:endParaRPr lang="en-US" altLang="zh-CN"/>
          </a:p>
          <a:p>
            <a:pPr lvl="1">
              <a:lnSpc>
                <a:spcPct val="150000"/>
              </a:lnSpc>
              <a:spcBef>
                <a:spcPts val="0"/>
              </a:spcBef>
            </a:pPr>
            <a:r>
              <a:rPr lang="zh-CN" altLang="en-US"/>
              <a:t>例</a:t>
            </a:r>
            <a:r>
              <a:rPr lang="en-US" altLang="zh-CN"/>
              <a:t>*</a:t>
            </a:r>
            <a:r>
              <a:rPr lang="zh-CN" altLang="en-US"/>
              <a:t>：与基础的联结</a:t>
            </a:r>
            <a:endParaRPr lang="en-US" altLang="zh-CN"/>
          </a:p>
          <a:p>
            <a:pPr lvl="1">
              <a:lnSpc>
                <a:spcPct val="150000"/>
              </a:lnSpc>
              <a:spcBef>
                <a:spcPts val="0"/>
              </a:spcBef>
              <a:buNone/>
            </a:pPr>
            <a:r>
              <a:rPr lang="zh-CN" altLang="en-US"/>
              <a:t>    </a:t>
            </a: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pic>
        <p:nvPicPr>
          <p:cNvPr id="219138" name="Picture 2"/>
          <p:cNvPicPr>
            <a:picLocks noChangeAspect="1" noChangeArrowheads="1"/>
          </p:cNvPicPr>
          <p:nvPr/>
        </p:nvPicPr>
        <p:blipFill>
          <a:blip r:embed="rId3" cstate="print"/>
          <a:srcRect r="67535"/>
          <a:stretch>
            <a:fillRect/>
          </a:stretch>
        </p:blipFill>
        <p:spPr bwMode="auto">
          <a:xfrm>
            <a:off x="361577" y="2428868"/>
            <a:ext cx="2781663" cy="2718104"/>
          </a:xfrm>
          <a:prstGeom prst="rect">
            <a:avLst/>
          </a:prstGeom>
          <a:noFill/>
          <a:ln w="9525">
            <a:noFill/>
            <a:miter lim="800000"/>
            <a:headEnd/>
            <a:tailEnd/>
          </a:ln>
          <a:effectLst/>
        </p:spPr>
      </p:pic>
      <p:grpSp>
        <p:nvGrpSpPr>
          <p:cNvPr id="13" name="组合 12"/>
          <p:cNvGrpSpPr/>
          <p:nvPr/>
        </p:nvGrpSpPr>
        <p:grpSpPr>
          <a:xfrm>
            <a:off x="3000364" y="2428868"/>
            <a:ext cx="5929354" cy="2718104"/>
            <a:chOff x="3000364" y="2428868"/>
            <a:chExt cx="5929354" cy="2718104"/>
          </a:xfrm>
        </p:grpSpPr>
        <p:pic>
          <p:nvPicPr>
            <p:cNvPr id="9" name="Picture 2"/>
            <p:cNvPicPr>
              <a:picLocks noChangeAspect="1" noChangeArrowheads="1"/>
            </p:cNvPicPr>
            <p:nvPr/>
          </p:nvPicPr>
          <p:blipFill>
            <a:blip r:embed="rId3" cstate="print"/>
            <a:srcRect l="33299" r="33350"/>
            <a:stretch>
              <a:fillRect/>
            </a:stretch>
          </p:blipFill>
          <p:spPr bwMode="auto">
            <a:xfrm>
              <a:off x="3214678" y="2428868"/>
              <a:ext cx="2857520" cy="2718104"/>
            </a:xfrm>
            <a:prstGeom prst="rect">
              <a:avLst/>
            </a:prstGeom>
            <a:noFill/>
            <a:ln w="9525">
              <a:noFill/>
              <a:miter lim="800000"/>
              <a:headEnd/>
              <a:tailEnd/>
            </a:ln>
            <a:effectLst/>
          </p:spPr>
        </p:pic>
        <p:pic>
          <p:nvPicPr>
            <p:cNvPr id="10" name="Picture 2"/>
            <p:cNvPicPr>
              <a:picLocks noChangeAspect="1" noChangeArrowheads="1"/>
            </p:cNvPicPr>
            <p:nvPr/>
          </p:nvPicPr>
          <p:blipFill>
            <a:blip r:embed="rId3" cstate="print"/>
            <a:srcRect l="69151"/>
            <a:stretch>
              <a:fillRect/>
            </a:stretch>
          </p:blipFill>
          <p:spPr bwMode="auto">
            <a:xfrm>
              <a:off x="6286512" y="2428868"/>
              <a:ext cx="2643206" cy="2718104"/>
            </a:xfrm>
            <a:prstGeom prst="rect">
              <a:avLst/>
            </a:prstGeom>
            <a:noFill/>
            <a:ln w="9525">
              <a:noFill/>
              <a:miter lim="800000"/>
              <a:headEnd/>
              <a:tailEnd/>
            </a:ln>
            <a:effectLst/>
          </p:spPr>
        </p:pic>
        <p:sp>
          <p:nvSpPr>
            <p:cNvPr id="11" name="左右箭头 10"/>
            <p:cNvSpPr/>
            <p:nvPr/>
          </p:nvSpPr>
          <p:spPr bwMode="auto">
            <a:xfrm>
              <a:off x="3000364" y="3714752"/>
              <a:ext cx="500066" cy="357190"/>
            </a:xfrm>
            <a:prstGeom prst="lef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12" name="左右箭头 11"/>
            <p:cNvSpPr/>
            <p:nvPr/>
          </p:nvSpPr>
          <p:spPr bwMode="auto">
            <a:xfrm>
              <a:off x="5857884" y="3714752"/>
              <a:ext cx="500066" cy="357190"/>
            </a:xfrm>
            <a:prstGeom prst="lef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sp>
        <p:nvSpPr>
          <p:cNvPr id="14" name="TextBox 13"/>
          <p:cNvSpPr txBox="1"/>
          <p:nvPr/>
        </p:nvSpPr>
        <p:spPr>
          <a:xfrm>
            <a:off x="1357290" y="5136734"/>
            <a:ext cx="6357982" cy="1292662"/>
          </a:xfrm>
          <a:prstGeom prst="rect">
            <a:avLst/>
          </a:prstGeom>
          <a:noFill/>
          <a:ln w="28575">
            <a:noFill/>
          </a:ln>
        </p:spPr>
        <p:txBody>
          <a:bodyPr wrap="square" rtlCol="0">
            <a:spAutoFit/>
          </a:bodyPr>
          <a:lstStyle/>
          <a:p>
            <a:pPr>
              <a:lnSpc>
                <a:spcPct val="130000"/>
              </a:lnSpc>
            </a:pPr>
            <a:r>
              <a:rPr lang="en-US" altLang="zh-CN" sz="2000" b="1"/>
              <a:t>1 </a:t>
            </a:r>
            <a:r>
              <a:rPr lang="zh-CN" altLang="en-US" sz="2000" b="1"/>
              <a:t>等效后，只用考虑内部体系；</a:t>
            </a:r>
            <a:endParaRPr lang="en-US" altLang="zh-CN" sz="2000" b="1"/>
          </a:p>
          <a:p>
            <a:pPr>
              <a:lnSpc>
                <a:spcPct val="130000"/>
              </a:lnSpc>
            </a:pPr>
            <a:r>
              <a:rPr lang="en-US" altLang="zh-CN" sz="2000" b="1"/>
              <a:t>2 </a:t>
            </a:r>
            <a:r>
              <a:rPr lang="zh-CN" altLang="en-US" sz="2000" b="1"/>
              <a:t>链杆也可视为刚片；</a:t>
            </a:r>
            <a:endParaRPr lang="en-US" altLang="zh-CN" sz="2000" b="1"/>
          </a:p>
          <a:p>
            <a:pPr>
              <a:lnSpc>
                <a:spcPct val="130000"/>
              </a:lnSpc>
            </a:pPr>
            <a:r>
              <a:rPr lang="en-US" altLang="zh-CN" sz="2000" b="1"/>
              <a:t>3 </a:t>
            </a:r>
            <a:r>
              <a:rPr lang="zh-CN" altLang="en-US" sz="2000" b="1"/>
              <a:t>三个铰都是无穷远处虚铰，所以共线（同例</a:t>
            </a:r>
            <a:r>
              <a:rPr lang="en-US" altLang="zh-CN" sz="2000" b="1"/>
              <a:t>2-3</a:t>
            </a:r>
            <a:r>
              <a:rPr lang="zh-CN" altLang="en-US" sz="2000" b="1"/>
              <a:t>）。</a:t>
            </a:r>
          </a:p>
        </p:txBody>
      </p:sp>
      <p:sp>
        <p:nvSpPr>
          <p:cNvPr id="15" name="TextBox 14"/>
          <p:cNvSpPr txBox="1"/>
          <p:nvPr/>
        </p:nvSpPr>
        <p:spPr>
          <a:xfrm>
            <a:off x="7072330" y="5172030"/>
            <a:ext cx="1210588" cy="400110"/>
          </a:xfrm>
          <a:prstGeom prst="rect">
            <a:avLst/>
          </a:prstGeom>
          <a:noFill/>
          <a:ln w="28575">
            <a:solidFill>
              <a:srgbClr val="C00000"/>
            </a:solidFill>
          </a:ln>
        </p:spPr>
        <p:txBody>
          <a:bodyPr wrap="none" rtlCol="0">
            <a:spAutoFit/>
          </a:bodyPr>
          <a:lstStyle/>
          <a:p>
            <a:r>
              <a:rPr lang="zh-CN" altLang="en-US" sz="2000" b="1">
                <a:solidFill>
                  <a:srgbClr val="C00000"/>
                </a:solidFill>
              </a:rPr>
              <a:t>瞬变体系</a:t>
            </a:r>
          </a:p>
        </p:txBody>
      </p:sp>
      <p:sp>
        <p:nvSpPr>
          <p:cNvPr id="1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wipe(down)">
                                      <p:cBhvr>
                                        <p:cTn id="12" dur="5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4">
                                            <p:txEl>
                                              <p:pRg st="1" end="1"/>
                                            </p:txEl>
                                          </p:spTgt>
                                        </p:tgtEl>
                                        <p:attrNameLst>
                                          <p:attrName>style.visibility</p:attrName>
                                        </p:attrNameLst>
                                      </p:cBhvr>
                                      <p:to>
                                        <p:strVal val="visible"/>
                                      </p:to>
                                    </p:set>
                                    <p:animEffect transition="in" filter="wipe(down)">
                                      <p:cBhvr>
                                        <p:cTn id="17" dur="500"/>
                                        <p:tgtEl>
                                          <p:spTgt spid="1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4">
                                            <p:txEl>
                                              <p:pRg st="2" end="2"/>
                                            </p:txEl>
                                          </p:spTgt>
                                        </p:tgtEl>
                                        <p:attrNameLst>
                                          <p:attrName>style.visibility</p:attrName>
                                        </p:attrNameLst>
                                      </p:cBhvr>
                                      <p:to>
                                        <p:strVal val="visible"/>
                                      </p:to>
                                    </p:set>
                                    <p:animEffect transition="in" filter="wipe(down)">
                                      <p:cBhvr>
                                        <p:cTn id="22" dur="500"/>
                                        <p:tgtEl>
                                          <p:spTgt spid="1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5">
                                            <p:bg/>
                                          </p:spTgt>
                                        </p:tgtEl>
                                        <p:attrNameLst>
                                          <p:attrName>style.visibility</p:attrName>
                                        </p:attrNameLst>
                                      </p:cBhvr>
                                      <p:to>
                                        <p:strVal val="visible"/>
                                      </p:to>
                                    </p:set>
                                    <p:anim calcmode="lin" valueType="num">
                                      <p:cBhvr additive="base">
                                        <p:cTn id="27" dur="500" fill="hold"/>
                                        <p:tgtEl>
                                          <p:spTgt spid="15">
                                            <p:bg/>
                                          </p:spTgt>
                                        </p:tgtEl>
                                        <p:attrNameLst>
                                          <p:attrName>ppt_x</p:attrName>
                                        </p:attrNameLst>
                                      </p:cBhvr>
                                      <p:tavLst>
                                        <p:tav tm="0">
                                          <p:val>
                                            <p:strVal val="#ppt_x"/>
                                          </p:val>
                                        </p:tav>
                                        <p:tav tm="100000">
                                          <p:val>
                                            <p:strVal val="#ppt_x"/>
                                          </p:val>
                                        </p:tav>
                                      </p:tavLst>
                                    </p:anim>
                                    <p:anim calcmode="lin" valueType="num">
                                      <p:cBhvr additive="base">
                                        <p:cTn id="28" dur="500" fill="hold"/>
                                        <p:tgtEl>
                                          <p:spTgt spid="15">
                                            <p:bg/>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5">
                                            <p:txEl>
                                              <p:pRg st="0" end="0"/>
                                            </p:txEl>
                                          </p:spTgt>
                                        </p:tgtEl>
                                        <p:attrNameLst>
                                          <p:attrName>style.visibility</p:attrName>
                                        </p:attrNameLst>
                                      </p:cBhvr>
                                      <p:to>
                                        <p:strVal val="visible"/>
                                      </p:to>
                                    </p:set>
                                    <p:anim calcmode="lin" valueType="num">
                                      <p:cBhvr additive="base">
                                        <p:cTn id="31"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15" grpId="0" build="allAtOnce"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r>
              <a:rPr lang="zh-CN" altLang="en-US"/>
              <a:t>技巧小结</a:t>
            </a:r>
            <a:endParaRPr lang="en-US" altLang="zh-CN"/>
          </a:p>
          <a:p>
            <a:pPr marL="719138" lvl="1">
              <a:lnSpc>
                <a:spcPct val="130000"/>
              </a:lnSpc>
              <a:spcBef>
                <a:spcPts val="0"/>
              </a:spcBef>
            </a:pPr>
            <a:r>
              <a:rPr lang="zh-CN" altLang="en-US"/>
              <a:t>首先通过自由度的计算，检查体系是否满足几何不变的必要条件</a:t>
            </a:r>
            <a:r>
              <a:rPr lang="en-US" altLang="zh-CN"/>
              <a:t>(</a:t>
            </a:r>
            <a:r>
              <a:rPr lang="en-US" altLang="zh-CN" i="1">
                <a:latin typeface="Times New Roman" pitchFamily="18" charset="0"/>
                <a:cs typeface="Times New Roman" pitchFamily="18" charset="0"/>
              </a:rPr>
              <a:t>W </a:t>
            </a:r>
            <a:r>
              <a:rPr lang="en-US" altLang="zh-CN">
                <a:latin typeface="Times New Roman" pitchFamily="18" charset="0"/>
                <a:cs typeface="Times New Roman" pitchFamily="18" charset="0"/>
              </a:rPr>
              <a:t>≤ 0</a:t>
            </a:r>
            <a:r>
              <a:rPr lang="en-US" altLang="zh-CN"/>
              <a:t>)</a:t>
            </a:r>
            <a:r>
              <a:rPr lang="zh-CN" altLang="en-US"/>
              <a:t>。对于较为简单的体系，一般都略去自由度的计算，直接应用上述规则进行分折；</a:t>
            </a:r>
            <a:endParaRPr lang="en-US" altLang="zh-CN">
              <a:latin typeface="Times New Roman" pitchFamily="18" charset="0"/>
              <a:cs typeface="Times New Roman" pitchFamily="18" charset="0"/>
            </a:endParaRPr>
          </a:p>
          <a:p>
            <a:pPr marL="719138" lvl="1">
              <a:lnSpc>
                <a:spcPct val="130000"/>
              </a:lnSpc>
              <a:spcBef>
                <a:spcPts val="2400"/>
              </a:spcBef>
            </a:pPr>
            <a:r>
              <a:rPr lang="zh-CN" altLang="en-US">
                <a:latin typeface="Times New Roman" pitchFamily="18" charset="0"/>
                <a:cs typeface="Times New Roman" pitchFamily="18" charset="0"/>
              </a:rPr>
              <a:t>在进行分折应时，宜先判别体系中有无二元体，如有，则应先撤去，以使体系得到简化；</a:t>
            </a:r>
            <a:endParaRPr lang="en-US" altLang="zh-CN">
              <a:latin typeface="Times New Roman" pitchFamily="18" charset="0"/>
              <a:cs typeface="Times New Roman" pitchFamily="18" charset="0"/>
            </a:endParaRPr>
          </a:p>
          <a:p>
            <a:pPr marL="719138" lvl="1">
              <a:lnSpc>
                <a:spcPct val="130000"/>
              </a:lnSpc>
              <a:spcBef>
                <a:spcPts val="2400"/>
              </a:spcBef>
            </a:pPr>
            <a:r>
              <a:rPr lang="zh-CN" altLang="en-US"/>
              <a:t>如果体系跟基础的联接满足两刚片规则，则可直接分析体系内部的几何组成。</a:t>
            </a:r>
            <a:endParaRPr lang="en-US" altLang="zh-CN"/>
          </a:p>
          <a:p>
            <a:pPr marL="719138" lvl="1">
              <a:lnSpc>
                <a:spcPct val="130000"/>
              </a:lnSpc>
              <a:spcBef>
                <a:spcPts val="2400"/>
              </a:spcBef>
            </a:pPr>
            <a:r>
              <a:rPr lang="zh-CN" altLang="en-US"/>
              <a:t>如果体系与基础相连的支座连杆数多于三根，应把基础也看成刚片作整体分析；</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几何构造分析示例</a:t>
            </a:r>
            <a:endParaRPr lang="zh-CN" altLang="en-US" sz="3600" dirty="0"/>
          </a:p>
        </p:txBody>
      </p:sp>
      <p:sp>
        <p:nvSpPr>
          <p:cNvPr id="4"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r>
              <a:rPr lang="zh-CN" altLang="en-US"/>
              <a:t>技巧小结</a:t>
            </a:r>
            <a:endParaRPr lang="en-US" altLang="zh-CN"/>
          </a:p>
          <a:p>
            <a:pPr marL="719138" lvl="1">
              <a:lnSpc>
                <a:spcPct val="130000"/>
              </a:lnSpc>
              <a:spcBef>
                <a:spcPts val="0"/>
              </a:spcBef>
            </a:pPr>
            <a:r>
              <a:rPr lang="zh-CN" altLang="en-US"/>
              <a:t>已知为几何不变的部分宜作为大刚片。</a:t>
            </a:r>
            <a:endParaRPr lang="en-US" altLang="zh-CN"/>
          </a:p>
          <a:p>
            <a:pPr marL="719138" lvl="1">
              <a:lnSpc>
                <a:spcPct val="130000"/>
              </a:lnSpc>
              <a:spcBef>
                <a:spcPts val="0"/>
              </a:spcBef>
            </a:pPr>
            <a:endParaRPr lang="en-US" altLang="zh-CN">
              <a:latin typeface="Times New Roman" pitchFamily="18" charset="0"/>
              <a:cs typeface="Times New Roman" pitchFamily="18" charset="0"/>
            </a:endParaRPr>
          </a:p>
          <a:p>
            <a:pPr marL="719138" lvl="1">
              <a:lnSpc>
                <a:spcPct val="130000"/>
              </a:lnSpc>
              <a:spcBef>
                <a:spcPts val="600"/>
              </a:spcBef>
            </a:pPr>
            <a:r>
              <a:rPr lang="zh-CN" altLang="en-US">
                <a:latin typeface="Times New Roman" pitchFamily="18" charset="0"/>
                <a:cs typeface="Times New Roman" pitchFamily="18" charset="0"/>
              </a:rPr>
              <a:t>两根链杆相当于其交点处的虚铰；</a:t>
            </a:r>
            <a:endParaRPr lang="en-US" altLang="zh-CN">
              <a:latin typeface="Times New Roman" pitchFamily="18" charset="0"/>
              <a:cs typeface="Times New Roman" pitchFamily="18" charset="0"/>
            </a:endParaRPr>
          </a:p>
          <a:p>
            <a:pPr marL="719138" lvl="1">
              <a:lnSpc>
                <a:spcPct val="130000"/>
              </a:lnSpc>
              <a:spcBef>
                <a:spcPts val="600"/>
              </a:spcBef>
            </a:pPr>
            <a:endParaRPr lang="en-US" altLang="zh-CN">
              <a:latin typeface="Times New Roman" pitchFamily="18" charset="0"/>
              <a:cs typeface="Times New Roman" pitchFamily="18" charset="0"/>
            </a:endParaRPr>
          </a:p>
          <a:p>
            <a:pPr marL="719138" lvl="1">
              <a:lnSpc>
                <a:spcPct val="130000"/>
              </a:lnSpc>
              <a:spcBef>
                <a:spcPts val="600"/>
              </a:spcBef>
            </a:pPr>
            <a:r>
              <a:rPr lang="zh-CN" altLang="en-US">
                <a:latin typeface="Times New Roman" pitchFamily="18" charset="0"/>
                <a:cs typeface="Times New Roman" pitchFamily="18" charset="0"/>
              </a:rPr>
              <a:t>运用三刚片规则时，如何选择三个刚片是关键，刚片选择的原则是使得三者之间彼此的连接方式是铰结；</a:t>
            </a:r>
            <a:endParaRPr lang="en-US" altLang="zh-CN">
              <a:latin typeface="Times New Roman" pitchFamily="18" charset="0"/>
              <a:cs typeface="Times New Roman" pitchFamily="18" charset="0"/>
            </a:endParaRPr>
          </a:p>
          <a:p>
            <a:pPr marL="719138" lvl="1">
              <a:lnSpc>
                <a:spcPct val="130000"/>
              </a:lnSpc>
              <a:spcBef>
                <a:spcPts val="600"/>
              </a:spcBef>
            </a:pPr>
            <a:endParaRPr lang="en-US" altLang="zh-CN">
              <a:latin typeface="Times New Roman" pitchFamily="18" charset="0"/>
              <a:cs typeface="Times New Roman" pitchFamily="18" charset="0"/>
            </a:endParaRPr>
          </a:p>
          <a:p>
            <a:pPr marL="719138" lvl="1">
              <a:lnSpc>
                <a:spcPct val="130000"/>
              </a:lnSpc>
              <a:spcBef>
                <a:spcPts val="600"/>
              </a:spcBef>
            </a:pPr>
            <a:r>
              <a:rPr lang="zh-CN" altLang="en-US"/>
              <a:t>各杆件要么作为链杆，要么作为刚片，必须全部使用，且不可重复使用。</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几何构造分析示例</a:t>
            </a:r>
            <a:endParaRPr lang="zh-CN" altLang="en-US" sz="3600" dirty="0"/>
          </a:p>
        </p:txBody>
      </p:sp>
      <p:sp>
        <p:nvSpPr>
          <p:cNvPr id="4"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1" algn="r"/>
            <a:r>
              <a:rPr lang="zh-CN" altLang="en-US" sz="3600"/>
              <a:t>几何构造分析示例</a:t>
            </a:r>
            <a:endParaRPr lang="zh-CN" altLang="en-US" sz="3600" dirty="0"/>
          </a:p>
        </p:txBody>
      </p:sp>
      <p:sp>
        <p:nvSpPr>
          <p:cNvPr id="3" name="内容占位符 2"/>
          <p:cNvSpPr>
            <a:spLocks noGrp="1"/>
          </p:cNvSpPr>
          <p:nvPr>
            <p:ph idx="1"/>
          </p:nvPr>
        </p:nvSpPr>
        <p:spPr>
          <a:xfrm>
            <a:off x="468313" y="1268413"/>
            <a:ext cx="8175653" cy="1517645"/>
          </a:xfrm>
          <a:ln>
            <a:noFill/>
          </a:ln>
        </p:spPr>
        <p:txBody>
          <a:bodyPr/>
          <a:lstStyle/>
          <a:p>
            <a:pPr lvl="0"/>
            <a:r>
              <a:rPr lang="zh-CN" altLang="en-US"/>
              <a:t>示例</a:t>
            </a:r>
            <a:endParaRPr lang="en-US" altLang="zh-CN"/>
          </a:p>
          <a:p>
            <a:pPr lvl="1">
              <a:lnSpc>
                <a:spcPct val="150000"/>
              </a:lnSpc>
              <a:spcBef>
                <a:spcPts val="0"/>
              </a:spcBef>
            </a:pPr>
            <a:r>
              <a:rPr lang="zh-CN" altLang="en-US"/>
              <a:t>例：对图示体系作几何构造分析</a:t>
            </a:r>
            <a:endParaRPr lang="en-US" altLang="zh-CN"/>
          </a:p>
          <a:p>
            <a:pPr lvl="1">
              <a:lnSpc>
                <a:spcPct val="150000"/>
              </a:lnSpc>
              <a:spcBef>
                <a:spcPts val="0"/>
              </a:spcBef>
              <a:buNone/>
            </a:pPr>
            <a:r>
              <a:rPr lang="zh-CN" altLang="en-US"/>
              <a:t>    </a:t>
            </a: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pic>
        <p:nvPicPr>
          <p:cNvPr id="13" name="Picture 3"/>
          <p:cNvPicPr>
            <a:picLocks noChangeAspect="1" noChangeArrowheads="1"/>
          </p:cNvPicPr>
          <p:nvPr/>
        </p:nvPicPr>
        <p:blipFill>
          <a:blip r:embed="rId3" cstate="print">
            <a:clrChange>
              <a:clrFrom>
                <a:srgbClr val="FEFEFE"/>
              </a:clrFrom>
              <a:clrTo>
                <a:srgbClr val="FEFEFE">
                  <a:alpha val="0"/>
                </a:srgbClr>
              </a:clrTo>
            </a:clrChange>
          </a:blip>
          <a:srcRect/>
          <a:stretch>
            <a:fillRect/>
          </a:stretch>
        </p:blipFill>
        <p:spPr bwMode="auto">
          <a:xfrm>
            <a:off x="990600" y="2428868"/>
            <a:ext cx="6792913" cy="2543175"/>
          </a:xfrm>
          <a:prstGeom prst="rect">
            <a:avLst/>
          </a:prstGeom>
          <a:noFill/>
          <a:ln w="9525">
            <a:noFill/>
            <a:miter lim="800000"/>
            <a:headEnd/>
            <a:tailEnd/>
          </a:ln>
        </p:spPr>
      </p:pic>
      <p:sp>
        <p:nvSpPr>
          <p:cNvPr id="16" name="Text Box 5"/>
          <p:cNvSpPr txBox="1">
            <a:spLocks noChangeArrowheads="1"/>
          </p:cNvSpPr>
          <p:nvPr/>
        </p:nvSpPr>
        <p:spPr bwMode="auto">
          <a:xfrm>
            <a:off x="1143000" y="4943468"/>
            <a:ext cx="6629400" cy="369332"/>
          </a:xfrm>
          <a:prstGeom prst="rect">
            <a:avLst/>
          </a:prstGeom>
          <a:noFill/>
          <a:ln w="9525">
            <a:noFill/>
            <a:miter lim="800000"/>
            <a:headEnd/>
            <a:tailEnd/>
          </a:ln>
          <a:effectLst/>
        </p:spPr>
        <p:txBody>
          <a:bodyPr>
            <a:spAutoFit/>
          </a:bodyPr>
          <a:lstStyle/>
          <a:p>
            <a:pPr algn="ctr">
              <a:defRPr/>
            </a:pPr>
            <a:r>
              <a:rPr lang="en-US" altLang="zh-CN" b="1">
                <a:latin typeface="+mn-ea"/>
                <a:cs typeface="+mn-cs"/>
              </a:rPr>
              <a:t>1. </a:t>
            </a:r>
            <a:r>
              <a:rPr lang="zh-CN" altLang="en-US" b="1">
                <a:latin typeface="+mn-ea"/>
                <a:cs typeface="+mn-cs"/>
              </a:rPr>
              <a:t>去支座后再分析体系本身，为什么可以这样？</a:t>
            </a:r>
            <a:endParaRPr lang="zh-CN" altLang="en-US" sz="2800" b="1">
              <a:latin typeface="+mn-ea"/>
              <a:cs typeface="+mn-cs"/>
            </a:endParaRPr>
          </a:p>
        </p:txBody>
      </p:sp>
      <p:pic>
        <p:nvPicPr>
          <p:cNvPr id="17" name="Picture 6"/>
          <p:cNvPicPr>
            <a:picLocks noChangeAspect="1" noChangeArrowheads="1"/>
          </p:cNvPicPr>
          <p:nvPr/>
        </p:nvPicPr>
        <p:blipFill>
          <a:blip r:embed="rId4" cstate="print"/>
          <a:srcRect/>
          <a:stretch>
            <a:fillRect/>
          </a:stretch>
        </p:blipFill>
        <p:spPr bwMode="auto">
          <a:xfrm>
            <a:off x="1295400" y="4181468"/>
            <a:ext cx="1066800" cy="735013"/>
          </a:xfrm>
          <a:prstGeom prst="rect">
            <a:avLst/>
          </a:prstGeom>
          <a:noFill/>
          <a:ln w="9525">
            <a:noFill/>
            <a:miter lim="800000"/>
            <a:headEnd/>
            <a:tailEnd/>
          </a:ln>
        </p:spPr>
      </p:pic>
      <p:pic>
        <p:nvPicPr>
          <p:cNvPr id="18" name="Picture 7"/>
          <p:cNvPicPr>
            <a:picLocks noChangeAspect="1" noChangeArrowheads="1"/>
          </p:cNvPicPr>
          <p:nvPr/>
        </p:nvPicPr>
        <p:blipFill>
          <a:blip r:embed="rId4" cstate="print"/>
          <a:srcRect/>
          <a:stretch>
            <a:fillRect/>
          </a:stretch>
        </p:blipFill>
        <p:spPr bwMode="auto">
          <a:xfrm>
            <a:off x="7086600" y="4257668"/>
            <a:ext cx="1066800" cy="735013"/>
          </a:xfrm>
          <a:prstGeom prst="rect">
            <a:avLst/>
          </a:prstGeom>
          <a:noFill/>
          <a:ln w="9525">
            <a:noFill/>
            <a:miter lim="800000"/>
            <a:headEnd/>
            <a:tailEnd/>
          </a:ln>
        </p:spPr>
      </p:pic>
      <p:sp>
        <p:nvSpPr>
          <p:cNvPr id="19" name="Text Box 8"/>
          <p:cNvSpPr txBox="1">
            <a:spLocks noChangeArrowheads="1"/>
          </p:cNvSpPr>
          <p:nvPr/>
        </p:nvSpPr>
        <p:spPr bwMode="auto">
          <a:xfrm>
            <a:off x="1928794" y="5476868"/>
            <a:ext cx="4968875" cy="400110"/>
          </a:xfrm>
          <a:prstGeom prst="rect">
            <a:avLst/>
          </a:prstGeom>
          <a:noFill/>
          <a:ln w="9525">
            <a:noFill/>
            <a:miter lim="800000"/>
            <a:headEnd/>
            <a:tailEnd/>
          </a:ln>
          <a:effectLst/>
        </p:spPr>
        <p:txBody>
          <a:bodyPr>
            <a:spAutoFit/>
          </a:bodyPr>
          <a:lstStyle/>
          <a:p>
            <a:pPr>
              <a:defRPr/>
            </a:pPr>
            <a:r>
              <a:rPr lang="en-US" altLang="zh-CN" sz="2000" b="1">
                <a:latin typeface="+mn-ea"/>
                <a:cs typeface="+mn-cs"/>
              </a:rPr>
              <a:t>2.</a:t>
            </a:r>
            <a:r>
              <a:rPr lang="zh-CN" altLang="en-US" sz="2000" b="1">
                <a:latin typeface="+mn-ea"/>
                <a:cs typeface="+mn-cs"/>
              </a:rPr>
              <a:t>有二元体吗？</a:t>
            </a:r>
          </a:p>
        </p:txBody>
      </p:sp>
      <p:sp>
        <p:nvSpPr>
          <p:cNvPr id="20" name="Rectangle 9"/>
          <p:cNvSpPr>
            <a:spLocks noChangeArrowheads="1"/>
          </p:cNvSpPr>
          <p:nvPr/>
        </p:nvSpPr>
        <p:spPr bwMode="auto">
          <a:xfrm>
            <a:off x="5572132" y="5476868"/>
            <a:ext cx="441146" cy="400110"/>
          </a:xfrm>
          <a:prstGeom prst="rect">
            <a:avLst/>
          </a:prstGeom>
          <a:noFill/>
          <a:ln w="9525">
            <a:noFill/>
            <a:miter lim="800000"/>
            <a:headEnd/>
            <a:tailEnd/>
          </a:ln>
          <a:effectLst/>
        </p:spPr>
        <p:txBody>
          <a:bodyPr wrap="none">
            <a:spAutoFit/>
          </a:bodyPr>
          <a:lstStyle/>
          <a:p>
            <a:pPr>
              <a:defRPr/>
            </a:pPr>
            <a:r>
              <a:rPr lang="zh-CN" altLang="en-US" sz="2000" b="1">
                <a:solidFill>
                  <a:srgbClr val="C00000"/>
                </a:solidFill>
                <a:latin typeface="+mn-ea"/>
                <a:cs typeface="+mn-cs"/>
              </a:rPr>
              <a:t>有</a:t>
            </a:r>
          </a:p>
        </p:txBody>
      </p:sp>
      <p:pic>
        <p:nvPicPr>
          <p:cNvPr id="21" name="Picture 10"/>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1524000" y="3190868"/>
            <a:ext cx="1143000" cy="1295400"/>
          </a:xfrm>
          <a:prstGeom prst="rect">
            <a:avLst/>
          </a:prstGeom>
          <a:noFill/>
          <a:ln w="9525">
            <a:noFill/>
            <a:miter lim="800000"/>
            <a:headEnd/>
            <a:tailEnd/>
          </a:ln>
        </p:spPr>
      </p:pic>
      <p:sp>
        <p:nvSpPr>
          <p:cNvPr id="22" name="Freeform 11"/>
          <p:cNvSpPr>
            <a:spLocks/>
          </p:cNvSpPr>
          <p:nvPr/>
        </p:nvSpPr>
        <p:spPr bwMode="auto">
          <a:xfrm>
            <a:off x="3200400" y="2657468"/>
            <a:ext cx="2819400" cy="1524000"/>
          </a:xfrm>
          <a:custGeom>
            <a:avLst/>
            <a:gdLst>
              <a:gd name="T0" fmla="*/ 0 w 2112"/>
              <a:gd name="T1" fmla="*/ 0 h 1104"/>
              <a:gd name="T2" fmla="*/ 480 w 2112"/>
              <a:gd name="T3" fmla="*/ 528 h 1104"/>
              <a:gd name="T4" fmla="*/ 0 w 2112"/>
              <a:gd name="T5" fmla="*/ 1056 h 1104"/>
              <a:gd name="T6" fmla="*/ 2112 w 2112"/>
              <a:gd name="T7" fmla="*/ 1104 h 1104"/>
              <a:gd name="T8" fmla="*/ 1584 w 2112"/>
              <a:gd name="T9" fmla="*/ 528 h 1104"/>
              <a:gd name="T10" fmla="*/ 2112 w 2112"/>
              <a:gd name="T11" fmla="*/ 48 h 1104"/>
              <a:gd name="T12" fmla="*/ 0 w 2112"/>
              <a:gd name="T13" fmla="*/ 0 h 1104"/>
              <a:gd name="T14" fmla="*/ 0 60000 65536"/>
              <a:gd name="T15" fmla="*/ 0 60000 65536"/>
              <a:gd name="T16" fmla="*/ 0 60000 65536"/>
              <a:gd name="T17" fmla="*/ 0 60000 65536"/>
              <a:gd name="T18" fmla="*/ 0 60000 65536"/>
              <a:gd name="T19" fmla="*/ 0 60000 65536"/>
              <a:gd name="T20" fmla="*/ 0 60000 65536"/>
              <a:gd name="T21" fmla="*/ 0 w 2112"/>
              <a:gd name="T22" fmla="*/ 0 h 1104"/>
              <a:gd name="T23" fmla="*/ 2112 w 2112"/>
              <a:gd name="T24" fmla="*/ 1104 h 1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12" h="1104">
                <a:moveTo>
                  <a:pt x="0" y="0"/>
                </a:moveTo>
                <a:lnTo>
                  <a:pt x="480" y="528"/>
                </a:lnTo>
                <a:lnTo>
                  <a:pt x="0" y="1056"/>
                </a:lnTo>
                <a:lnTo>
                  <a:pt x="2112" y="1104"/>
                </a:lnTo>
                <a:lnTo>
                  <a:pt x="1584" y="528"/>
                </a:lnTo>
                <a:lnTo>
                  <a:pt x="2112" y="48"/>
                </a:lnTo>
                <a:lnTo>
                  <a:pt x="0" y="0"/>
                </a:lnTo>
                <a:close/>
              </a:path>
            </a:pathLst>
          </a:custGeom>
          <a:solidFill>
            <a:srgbClr val="006600">
              <a:alpha val="50195"/>
            </a:srgbClr>
          </a:solidFill>
          <a:ln w="9525">
            <a:noFill/>
            <a:round/>
            <a:headEnd/>
            <a:tailEnd/>
          </a:ln>
        </p:spPr>
        <p:txBody>
          <a:bodyPr wrap="none" anchor="ctr"/>
          <a:lstStyle/>
          <a:p>
            <a:pPr>
              <a:spcBef>
                <a:spcPct val="50000"/>
              </a:spcBef>
            </a:pPr>
            <a:endParaRPr lang="zh-CN" altLang="en-US">
              <a:ea typeface="楷体_GB2312"/>
            </a:endParaRPr>
          </a:p>
        </p:txBody>
      </p:sp>
      <p:sp>
        <p:nvSpPr>
          <p:cNvPr id="23" name="Text Box 12"/>
          <p:cNvSpPr txBox="1">
            <a:spLocks noChangeArrowheads="1"/>
          </p:cNvSpPr>
          <p:nvPr/>
        </p:nvSpPr>
        <p:spPr bwMode="auto">
          <a:xfrm>
            <a:off x="3929058" y="4357694"/>
            <a:ext cx="1428760" cy="400110"/>
          </a:xfrm>
          <a:prstGeom prst="rect">
            <a:avLst/>
          </a:prstGeom>
          <a:noFill/>
          <a:ln w="28575">
            <a:solidFill>
              <a:srgbClr val="C00000"/>
            </a:solidFill>
            <a:miter lim="800000"/>
            <a:headEnd/>
            <a:tailEnd/>
          </a:ln>
          <a:effectLst/>
        </p:spPr>
        <p:txBody>
          <a:bodyPr wrap="square">
            <a:spAutoFit/>
          </a:bodyPr>
          <a:lstStyle/>
          <a:p>
            <a:pPr algn="ctr">
              <a:defRPr/>
            </a:pPr>
            <a:r>
              <a:rPr lang="zh-CN" altLang="en-US" sz="2000" b="1">
                <a:solidFill>
                  <a:srgbClr val="C00000"/>
                </a:solidFill>
                <a:latin typeface="+mn-ea"/>
                <a:cs typeface="+mn-cs"/>
              </a:rPr>
              <a:t>瞬变体系</a:t>
            </a:r>
          </a:p>
        </p:txBody>
      </p:sp>
      <p:pic>
        <p:nvPicPr>
          <p:cNvPr id="24" name="Picture 13"/>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1524000" y="2505068"/>
            <a:ext cx="1066800" cy="1066800"/>
          </a:xfrm>
          <a:prstGeom prst="rect">
            <a:avLst/>
          </a:prstGeom>
          <a:noFill/>
          <a:ln w="9525">
            <a:noFill/>
            <a:miter lim="800000"/>
            <a:headEnd/>
            <a:tailEnd/>
          </a:ln>
        </p:spPr>
      </p:pic>
      <p:pic>
        <p:nvPicPr>
          <p:cNvPr id="25" name="Picture 14"/>
          <p:cNvPicPr>
            <a:picLocks noChangeAspect="1" noChangeArrowheads="1"/>
          </p:cNvPicPr>
          <p:nvPr/>
        </p:nvPicPr>
        <p:blipFill>
          <a:blip r:embed="rId7" cstate="print">
            <a:clrChange>
              <a:clrFrom>
                <a:srgbClr val="FFFFFF"/>
              </a:clrFrom>
              <a:clrTo>
                <a:srgbClr val="FFFFFF">
                  <a:alpha val="0"/>
                </a:srgbClr>
              </a:clrTo>
            </a:clrChange>
          </a:blip>
          <a:srcRect/>
          <a:stretch>
            <a:fillRect/>
          </a:stretch>
        </p:blipFill>
        <p:spPr bwMode="auto">
          <a:xfrm>
            <a:off x="6705600" y="2505068"/>
            <a:ext cx="914400" cy="990600"/>
          </a:xfrm>
          <a:prstGeom prst="rect">
            <a:avLst/>
          </a:prstGeom>
          <a:noFill/>
          <a:ln w="9525">
            <a:noFill/>
            <a:miter lim="800000"/>
            <a:headEnd/>
            <a:tailEnd/>
          </a:ln>
        </p:spPr>
      </p:pic>
      <p:pic>
        <p:nvPicPr>
          <p:cNvPr id="26" name="Picture 15"/>
          <p:cNvPicPr>
            <a:picLocks noChangeAspect="1" noChangeArrowheads="1"/>
          </p:cNvPicPr>
          <p:nvPr/>
        </p:nvPicPr>
        <p:blipFill>
          <a:blip r:embed="rId8" cstate="print">
            <a:clrChange>
              <a:clrFrom>
                <a:srgbClr val="FFFFFF"/>
              </a:clrFrom>
              <a:clrTo>
                <a:srgbClr val="FFFFFF">
                  <a:alpha val="0"/>
                </a:srgbClr>
              </a:clrTo>
            </a:clrChange>
          </a:blip>
          <a:srcRect/>
          <a:stretch>
            <a:fillRect/>
          </a:stretch>
        </p:blipFill>
        <p:spPr bwMode="auto">
          <a:xfrm>
            <a:off x="6553200" y="3343268"/>
            <a:ext cx="1066800" cy="1143000"/>
          </a:xfrm>
          <a:prstGeom prst="rect">
            <a:avLst/>
          </a:prstGeom>
          <a:noFill/>
          <a:ln w="9525">
            <a:noFill/>
            <a:miter lim="800000"/>
            <a:headEnd/>
            <a:tailEnd/>
          </a:ln>
        </p:spPr>
      </p:pic>
      <p:pic>
        <p:nvPicPr>
          <p:cNvPr id="27" name="Picture 16"/>
          <p:cNvPicPr>
            <a:picLocks noChangeAspect="1" noChangeArrowheads="1"/>
          </p:cNvPicPr>
          <p:nvPr/>
        </p:nvPicPr>
        <p:blipFill>
          <a:blip r:embed="rId4" cstate="print"/>
          <a:srcRect/>
          <a:stretch>
            <a:fillRect/>
          </a:stretch>
        </p:blipFill>
        <p:spPr bwMode="auto">
          <a:xfrm>
            <a:off x="609600" y="3724268"/>
            <a:ext cx="1066800" cy="735013"/>
          </a:xfrm>
          <a:prstGeom prst="rect">
            <a:avLst/>
          </a:prstGeom>
          <a:noFill/>
          <a:ln w="9525">
            <a:noFill/>
            <a:miter lim="800000"/>
            <a:headEnd/>
            <a:tailEnd/>
          </a:ln>
        </p:spPr>
      </p:pic>
      <p:pic>
        <p:nvPicPr>
          <p:cNvPr id="28" name="Picture 17"/>
          <p:cNvPicPr>
            <a:picLocks noChangeAspect="1" noChangeArrowheads="1"/>
          </p:cNvPicPr>
          <p:nvPr/>
        </p:nvPicPr>
        <p:blipFill>
          <a:blip r:embed="rId9" cstate="print"/>
          <a:srcRect/>
          <a:stretch>
            <a:fillRect/>
          </a:stretch>
        </p:blipFill>
        <p:spPr bwMode="auto">
          <a:xfrm>
            <a:off x="1600200" y="2505068"/>
            <a:ext cx="1506538" cy="1981200"/>
          </a:xfrm>
          <a:prstGeom prst="rect">
            <a:avLst/>
          </a:prstGeom>
          <a:noFill/>
          <a:ln w="9525">
            <a:noFill/>
            <a:miter lim="800000"/>
            <a:headEnd/>
            <a:tailEnd/>
          </a:ln>
        </p:spPr>
      </p:pic>
      <p:pic>
        <p:nvPicPr>
          <p:cNvPr id="29" name="Picture 18"/>
          <p:cNvPicPr>
            <a:picLocks noChangeAspect="1" noChangeArrowheads="1"/>
          </p:cNvPicPr>
          <p:nvPr/>
        </p:nvPicPr>
        <p:blipFill>
          <a:blip r:embed="rId9" cstate="print"/>
          <a:srcRect/>
          <a:stretch>
            <a:fillRect/>
          </a:stretch>
        </p:blipFill>
        <p:spPr bwMode="auto">
          <a:xfrm>
            <a:off x="6096000" y="2505068"/>
            <a:ext cx="1506538" cy="1981200"/>
          </a:xfrm>
          <a:prstGeom prst="rect">
            <a:avLst/>
          </a:prstGeom>
          <a:noFill/>
          <a:ln w="9525">
            <a:noFill/>
            <a:miter lim="800000"/>
            <a:headEnd/>
            <a:tailEnd/>
          </a:ln>
        </p:spPr>
      </p:pic>
      <p:sp>
        <p:nvSpPr>
          <p:cNvPr id="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arn(outVertical)">
                                      <p:cBhvr>
                                        <p:cTn id="12" dur="500"/>
                                        <p:tgtEl>
                                          <p:spTgt spid="16"/>
                                        </p:tgtEl>
                                      </p:cBhvr>
                                    </p:animEffect>
                                  </p:childTnLst>
                                </p:cTn>
                              </p:par>
                            </p:childTnLst>
                          </p:cTn>
                        </p:par>
                        <p:par>
                          <p:cTn id="13" fill="hold">
                            <p:stCondLst>
                              <p:cond delay="500"/>
                            </p:stCondLst>
                            <p:childTnLst>
                              <p:par>
                                <p:cTn id="14" presetID="2" presetClass="entr" presetSubtype="4" fill="hold" nodeType="after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additive="base">
                                        <p:cTn id="16" dur="500" fill="hold"/>
                                        <p:tgtEl>
                                          <p:spTgt spid="17"/>
                                        </p:tgtEl>
                                        <p:attrNameLst>
                                          <p:attrName>ppt_x</p:attrName>
                                        </p:attrNameLst>
                                      </p:cBhvr>
                                      <p:tavLst>
                                        <p:tav tm="0">
                                          <p:val>
                                            <p:strVal val="#ppt_x"/>
                                          </p:val>
                                        </p:tav>
                                        <p:tav tm="100000">
                                          <p:val>
                                            <p:strVal val="#ppt_x"/>
                                          </p:val>
                                        </p:tav>
                                      </p:tavLst>
                                    </p:anim>
                                    <p:anim calcmode="lin" valueType="num">
                                      <p:cBhvr additive="base">
                                        <p:cTn id="17" dur="500" fill="hold"/>
                                        <p:tgtEl>
                                          <p:spTgt spid="17"/>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 presetClass="entr" presetSubtype="4" fill="hold" nodeType="afterEffect">
                                  <p:stCondLst>
                                    <p:cond delay="0"/>
                                  </p:stCondLst>
                                  <p:childTnLst>
                                    <p:set>
                                      <p:cBhvr>
                                        <p:cTn id="20" dur="1" fill="hold">
                                          <p:stCondLst>
                                            <p:cond delay="0"/>
                                          </p:stCondLst>
                                        </p:cTn>
                                        <p:tgtEl>
                                          <p:spTgt spid="27"/>
                                        </p:tgtEl>
                                        <p:attrNameLst>
                                          <p:attrName>style.visibility</p:attrName>
                                        </p:attrNameLst>
                                      </p:cBhvr>
                                      <p:to>
                                        <p:strVal val="visible"/>
                                      </p:to>
                                    </p:set>
                                    <p:anim calcmode="lin" valueType="num">
                                      <p:cBhvr additive="base">
                                        <p:cTn id="21" dur="500" fill="hold"/>
                                        <p:tgtEl>
                                          <p:spTgt spid="27"/>
                                        </p:tgtEl>
                                        <p:attrNameLst>
                                          <p:attrName>ppt_x</p:attrName>
                                        </p:attrNameLst>
                                      </p:cBhvr>
                                      <p:tavLst>
                                        <p:tav tm="0">
                                          <p:val>
                                            <p:strVal val="#ppt_x"/>
                                          </p:val>
                                        </p:tav>
                                        <p:tav tm="100000">
                                          <p:val>
                                            <p:strVal val="#ppt_x"/>
                                          </p:val>
                                        </p:tav>
                                      </p:tavLst>
                                    </p:anim>
                                    <p:anim calcmode="lin" valueType="num">
                                      <p:cBhvr additive="base">
                                        <p:cTn id="22" dur="500" fill="hold"/>
                                        <p:tgtEl>
                                          <p:spTgt spid="27"/>
                                        </p:tgtEl>
                                        <p:attrNameLst>
                                          <p:attrName>ppt_y</p:attrName>
                                        </p:attrNameLst>
                                      </p:cBhvr>
                                      <p:tavLst>
                                        <p:tav tm="0">
                                          <p:val>
                                            <p:strVal val="1+#ppt_h/2"/>
                                          </p:val>
                                        </p:tav>
                                        <p:tav tm="100000">
                                          <p:val>
                                            <p:strVal val="#ppt_y"/>
                                          </p:val>
                                        </p:tav>
                                      </p:tavLst>
                                    </p:anim>
                                  </p:childTnLst>
                                </p:cTn>
                              </p:par>
                            </p:childTnLst>
                          </p:cTn>
                        </p:par>
                        <p:par>
                          <p:cTn id="23" fill="hold">
                            <p:stCondLst>
                              <p:cond delay="1500"/>
                            </p:stCondLst>
                            <p:childTnLst>
                              <p:par>
                                <p:cTn id="24" presetID="2" presetClass="entr" presetSubtype="4" fill="hold" nodeType="afterEffect">
                                  <p:stCondLst>
                                    <p:cond delay="0"/>
                                  </p:stCondLst>
                                  <p:childTnLst>
                                    <p:set>
                                      <p:cBhvr>
                                        <p:cTn id="25" dur="1" fill="hold">
                                          <p:stCondLst>
                                            <p:cond delay="0"/>
                                          </p:stCondLst>
                                        </p:cTn>
                                        <p:tgtEl>
                                          <p:spTgt spid="18"/>
                                        </p:tgtEl>
                                        <p:attrNameLst>
                                          <p:attrName>style.visibility</p:attrName>
                                        </p:attrNameLst>
                                      </p:cBhvr>
                                      <p:to>
                                        <p:strVal val="visible"/>
                                      </p:to>
                                    </p:set>
                                    <p:anim calcmode="lin" valueType="num">
                                      <p:cBhvr additive="base">
                                        <p:cTn id="26" dur="500" fill="hold"/>
                                        <p:tgtEl>
                                          <p:spTgt spid="18"/>
                                        </p:tgtEl>
                                        <p:attrNameLst>
                                          <p:attrName>ppt_x</p:attrName>
                                        </p:attrNameLst>
                                      </p:cBhvr>
                                      <p:tavLst>
                                        <p:tav tm="0">
                                          <p:val>
                                            <p:strVal val="#ppt_x"/>
                                          </p:val>
                                        </p:tav>
                                        <p:tav tm="100000">
                                          <p:val>
                                            <p:strVal val="#ppt_x"/>
                                          </p:val>
                                        </p:tav>
                                      </p:tavLst>
                                    </p:anim>
                                    <p:anim calcmode="lin" valueType="num">
                                      <p:cBhvr additive="base">
                                        <p:cTn id="27"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barn(outVertical)">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ppt_x"/>
                                          </p:val>
                                        </p:tav>
                                        <p:tav tm="100000">
                                          <p:val>
                                            <p:strVal val="#ppt_x"/>
                                          </p:val>
                                        </p:tav>
                                      </p:tavLst>
                                    </p:anim>
                                    <p:anim calcmode="lin" valueType="num">
                                      <p:cBhvr additive="base">
                                        <p:cTn id="3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additive="base">
                                        <p:cTn id="43" dur="500" fill="hold"/>
                                        <p:tgtEl>
                                          <p:spTgt spid="21"/>
                                        </p:tgtEl>
                                        <p:attrNameLst>
                                          <p:attrName>ppt_x</p:attrName>
                                        </p:attrNameLst>
                                      </p:cBhvr>
                                      <p:tavLst>
                                        <p:tav tm="0">
                                          <p:val>
                                            <p:strVal val="#ppt_x"/>
                                          </p:val>
                                        </p:tav>
                                        <p:tav tm="100000">
                                          <p:val>
                                            <p:strVal val="#ppt_x"/>
                                          </p:val>
                                        </p:tav>
                                      </p:tavLst>
                                    </p:anim>
                                    <p:anim calcmode="lin" valueType="num">
                                      <p:cBhvr additive="base">
                                        <p:cTn id="44" dur="500" fill="hold"/>
                                        <p:tgtEl>
                                          <p:spTgt spid="21"/>
                                        </p:tgtEl>
                                        <p:attrNameLst>
                                          <p:attrName>ppt_y</p:attrName>
                                        </p:attrNameLst>
                                      </p:cBhvr>
                                      <p:tavLst>
                                        <p:tav tm="0">
                                          <p:val>
                                            <p:strVal val="1+#ppt_h/2"/>
                                          </p:val>
                                        </p:tav>
                                        <p:tav tm="100000">
                                          <p:val>
                                            <p:strVal val="#ppt_y"/>
                                          </p:val>
                                        </p:tav>
                                      </p:tavLst>
                                    </p:anim>
                                  </p:childTnLst>
                                </p:cTn>
                              </p:par>
                            </p:childTnLst>
                          </p:cTn>
                        </p:par>
                        <p:par>
                          <p:cTn id="45" fill="hold">
                            <p:stCondLst>
                              <p:cond delay="500"/>
                            </p:stCondLst>
                            <p:childTnLst>
                              <p:par>
                                <p:cTn id="46" presetID="2" presetClass="entr" presetSubtype="4" fill="hold" nodeType="afterEffect">
                                  <p:stCondLst>
                                    <p:cond delay="0"/>
                                  </p:stCondLst>
                                  <p:childTnLst>
                                    <p:set>
                                      <p:cBhvr>
                                        <p:cTn id="47" dur="1" fill="hold">
                                          <p:stCondLst>
                                            <p:cond delay="0"/>
                                          </p:stCondLst>
                                        </p:cTn>
                                        <p:tgtEl>
                                          <p:spTgt spid="24"/>
                                        </p:tgtEl>
                                        <p:attrNameLst>
                                          <p:attrName>style.visibility</p:attrName>
                                        </p:attrNameLst>
                                      </p:cBhvr>
                                      <p:to>
                                        <p:strVal val="visible"/>
                                      </p:to>
                                    </p:set>
                                    <p:anim calcmode="lin" valueType="num">
                                      <p:cBhvr additive="base">
                                        <p:cTn id="48" dur="500" fill="hold"/>
                                        <p:tgtEl>
                                          <p:spTgt spid="24"/>
                                        </p:tgtEl>
                                        <p:attrNameLst>
                                          <p:attrName>ppt_x</p:attrName>
                                        </p:attrNameLst>
                                      </p:cBhvr>
                                      <p:tavLst>
                                        <p:tav tm="0">
                                          <p:val>
                                            <p:strVal val="#ppt_x"/>
                                          </p:val>
                                        </p:tav>
                                        <p:tav tm="100000">
                                          <p:val>
                                            <p:strVal val="#ppt_x"/>
                                          </p:val>
                                        </p:tav>
                                      </p:tavLst>
                                    </p:anim>
                                    <p:anim calcmode="lin" valueType="num">
                                      <p:cBhvr additive="base">
                                        <p:cTn id="49" dur="500" fill="hold"/>
                                        <p:tgtEl>
                                          <p:spTgt spid="24"/>
                                        </p:tgtEl>
                                        <p:attrNameLst>
                                          <p:attrName>ppt_y</p:attrName>
                                        </p:attrNameLst>
                                      </p:cBhvr>
                                      <p:tavLst>
                                        <p:tav tm="0">
                                          <p:val>
                                            <p:strVal val="1+#ppt_h/2"/>
                                          </p:val>
                                        </p:tav>
                                        <p:tav tm="100000">
                                          <p:val>
                                            <p:strVal val="#ppt_y"/>
                                          </p:val>
                                        </p:tav>
                                      </p:tavLst>
                                    </p:anim>
                                  </p:childTnLst>
                                </p:cTn>
                              </p:par>
                            </p:childTnLst>
                          </p:cTn>
                        </p:par>
                        <p:par>
                          <p:cTn id="50" fill="hold">
                            <p:stCondLst>
                              <p:cond delay="1000"/>
                            </p:stCondLst>
                            <p:childTnLst>
                              <p:par>
                                <p:cTn id="51" presetID="2" presetClass="entr" presetSubtype="4" fill="hold" nodeType="afterEffect">
                                  <p:stCondLst>
                                    <p:cond delay="0"/>
                                  </p:stCondLst>
                                  <p:childTnLst>
                                    <p:set>
                                      <p:cBhvr>
                                        <p:cTn id="52" dur="1" fill="hold">
                                          <p:stCondLst>
                                            <p:cond delay="0"/>
                                          </p:stCondLst>
                                        </p:cTn>
                                        <p:tgtEl>
                                          <p:spTgt spid="26"/>
                                        </p:tgtEl>
                                        <p:attrNameLst>
                                          <p:attrName>style.visibility</p:attrName>
                                        </p:attrNameLst>
                                      </p:cBhvr>
                                      <p:to>
                                        <p:strVal val="visible"/>
                                      </p:to>
                                    </p:set>
                                    <p:anim calcmode="lin" valueType="num">
                                      <p:cBhvr additive="base">
                                        <p:cTn id="53" dur="500" fill="hold"/>
                                        <p:tgtEl>
                                          <p:spTgt spid="26"/>
                                        </p:tgtEl>
                                        <p:attrNameLst>
                                          <p:attrName>ppt_x</p:attrName>
                                        </p:attrNameLst>
                                      </p:cBhvr>
                                      <p:tavLst>
                                        <p:tav tm="0">
                                          <p:val>
                                            <p:strVal val="#ppt_x"/>
                                          </p:val>
                                        </p:tav>
                                        <p:tav tm="100000">
                                          <p:val>
                                            <p:strVal val="#ppt_x"/>
                                          </p:val>
                                        </p:tav>
                                      </p:tavLst>
                                    </p:anim>
                                    <p:anim calcmode="lin" valueType="num">
                                      <p:cBhvr additive="base">
                                        <p:cTn id="54" dur="500" fill="hold"/>
                                        <p:tgtEl>
                                          <p:spTgt spid="26"/>
                                        </p:tgtEl>
                                        <p:attrNameLst>
                                          <p:attrName>ppt_y</p:attrName>
                                        </p:attrNameLst>
                                      </p:cBhvr>
                                      <p:tavLst>
                                        <p:tav tm="0">
                                          <p:val>
                                            <p:strVal val="1+#ppt_h/2"/>
                                          </p:val>
                                        </p:tav>
                                        <p:tav tm="100000">
                                          <p:val>
                                            <p:strVal val="#ppt_y"/>
                                          </p:val>
                                        </p:tav>
                                      </p:tavLst>
                                    </p:anim>
                                  </p:childTnLst>
                                </p:cTn>
                              </p:par>
                            </p:childTnLst>
                          </p:cTn>
                        </p:par>
                        <p:par>
                          <p:cTn id="55" fill="hold">
                            <p:stCondLst>
                              <p:cond delay="1500"/>
                            </p:stCondLst>
                            <p:childTnLst>
                              <p:par>
                                <p:cTn id="56" presetID="2" presetClass="entr" presetSubtype="4" fill="hold" nodeType="afterEffect">
                                  <p:stCondLst>
                                    <p:cond delay="0"/>
                                  </p:stCondLst>
                                  <p:childTnLst>
                                    <p:set>
                                      <p:cBhvr>
                                        <p:cTn id="57" dur="1" fill="hold">
                                          <p:stCondLst>
                                            <p:cond delay="0"/>
                                          </p:stCondLst>
                                        </p:cTn>
                                        <p:tgtEl>
                                          <p:spTgt spid="25"/>
                                        </p:tgtEl>
                                        <p:attrNameLst>
                                          <p:attrName>style.visibility</p:attrName>
                                        </p:attrNameLst>
                                      </p:cBhvr>
                                      <p:to>
                                        <p:strVal val="visible"/>
                                      </p:to>
                                    </p:set>
                                    <p:anim calcmode="lin" valueType="num">
                                      <p:cBhvr additive="base">
                                        <p:cTn id="58" dur="500" fill="hold"/>
                                        <p:tgtEl>
                                          <p:spTgt spid="25"/>
                                        </p:tgtEl>
                                        <p:attrNameLst>
                                          <p:attrName>ppt_x</p:attrName>
                                        </p:attrNameLst>
                                      </p:cBhvr>
                                      <p:tavLst>
                                        <p:tav tm="0">
                                          <p:val>
                                            <p:strVal val="#ppt_x"/>
                                          </p:val>
                                        </p:tav>
                                        <p:tav tm="100000">
                                          <p:val>
                                            <p:strVal val="#ppt_x"/>
                                          </p:val>
                                        </p:tav>
                                      </p:tavLst>
                                    </p:anim>
                                    <p:anim calcmode="lin" valueType="num">
                                      <p:cBhvr additive="base">
                                        <p:cTn id="59"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nodeType="clickEffect">
                                  <p:stCondLst>
                                    <p:cond delay="0"/>
                                  </p:stCondLst>
                                  <p:childTnLst>
                                    <p:set>
                                      <p:cBhvr>
                                        <p:cTn id="63" dur="1" fill="hold">
                                          <p:stCondLst>
                                            <p:cond delay="0"/>
                                          </p:stCondLst>
                                        </p:cTn>
                                        <p:tgtEl>
                                          <p:spTgt spid="28"/>
                                        </p:tgtEl>
                                        <p:attrNameLst>
                                          <p:attrName>style.visibility</p:attrName>
                                        </p:attrNameLst>
                                      </p:cBhvr>
                                      <p:to>
                                        <p:strVal val="visible"/>
                                      </p:to>
                                    </p:set>
                                    <p:anim calcmode="lin" valueType="num">
                                      <p:cBhvr additive="base">
                                        <p:cTn id="64" dur="500" fill="hold"/>
                                        <p:tgtEl>
                                          <p:spTgt spid="28"/>
                                        </p:tgtEl>
                                        <p:attrNameLst>
                                          <p:attrName>ppt_x</p:attrName>
                                        </p:attrNameLst>
                                      </p:cBhvr>
                                      <p:tavLst>
                                        <p:tav tm="0">
                                          <p:val>
                                            <p:strVal val="#ppt_x"/>
                                          </p:val>
                                        </p:tav>
                                        <p:tav tm="100000">
                                          <p:val>
                                            <p:strVal val="#ppt_x"/>
                                          </p:val>
                                        </p:tav>
                                      </p:tavLst>
                                    </p:anim>
                                    <p:anim calcmode="lin" valueType="num">
                                      <p:cBhvr additive="base">
                                        <p:cTn id="65" dur="500" fill="hold"/>
                                        <p:tgtEl>
                                          <p:spTgt spid="28"/>
                                        </p:tgtEl>
                                        <p:attrNameLst>
                                          <p:attrName>ppt_y</p:attrName>
                                        </p:attrNameLst>
                                      </p:cBhvr>
                                      <p:tavLst>
                                        <p:tav tm="0">
                                          <p:val>
                                            <p:strVal val="1+#ppt_h/2"/>
                                          </p:val>
                                        </p:tav>
                                        <p:tav tm="100000">
                                          <p:val>
                                            <p:strVal val="#ppt_y"/>
                                          </p:val>
                                        </p:tav>
                                      </p:tavLst>
                                    </p:anim>
                                  </p:childTnLst>
                                </p:cTn>
                              </p:par>
                            </p:childTnLst>
                          </p:cTn>
                        </p:par>
                        <p:par>
                          <p:cTn id="66" fill="hold">
                            <p:stCondLst>
                              <p:cond delay="500"/>
                            </p:stCondLst>
                            <p:childTnLst>
                              <p:par>
                                <p:cTn id="67" presetID="2" presetClass="entr" presetSubtype="4" fill="hold" nodeType="afterEffect">
                                  <p:stCondLst>
                                    <p:cond delay="0"/>
                                  </p:stCondLst>
                                  <p:childTnLst>
                                    <p:set>
                                      <p:cBhvr>
                                        <p:cTn id="68" dur="1" fill="hold">
                                          <p:stCondLst>
                                            <p:cond delay="0"/>
                                          </p:stCondLst>
                                        </p:cTn>
                                        <p:tgtEl>
                                          <p:spTgt spid="29"/>
                                        </p:tgtEl>
                                        <p:attrNameLst>
                                          <p:attrName>style.visibility</p:attrName>
                                        </p:attrNameLst>
                                      </p:cBhvr>
                                      <p:to>
                                        <p:strVal val="visible"/>
                                      </p:to>
                                    </p:set>
                                    <p:anim calcmode="lin" valueType="num">
                                      <p:cBhvr additive="base">
                                        <p:cTn id="69" dur="500" fill="hold"/>
                                        <p:tgtEl>
                                          <p:spTgt spid="29"/>
                                        </p:tgtEl>
                                        <p:attrNameLst>
                                          <p:attrName>ppt_x</p:attrName>
                                        </p:attrNameLst>
                                      </p:cBhvr>
                                      <p:tavLst>
                                        <p:tav tm="0">
                                          <p:val>
                                            <p:strVal val="#ppt_x"/>
                                          </p:val>
                                        </p:tav>
                                        <p:tav tm="100000">
                                          <p:val>
                                            <p:strVal val="#ppt_x"/>
                                          </p:val>
                                        </p:tav>
                                      </p:tavLst>
                                    </p:anim>
                                    <p:anim calcmode="lin" valueType="num">
                                      <p:cBhvr additive="base">
                                        <p:cTn id="7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3" presetClass="entr" presetSubtype="528" fill="hold" grpId="0" nodeType="clickEffect">
                                  <p:stCondLst>
                                    <p:cond delay="0"/>
                                  </p:stCondLst>
                                  <p:childTnLst>
                                    <p:set>
                                      <p:cBhvr>
                                        <p:cTn id="74" dur="1" fill="hold">
                                          <p:stCondLst>
                                            <p:cond delay="0"/>
                                          </p:stCondLst>
                                        </p:cTn>
                                        <p:tgtEl>
                                          <p:spTgt spid="22"/>
                                        </p:tgtEl>
                                        <p:attrNameLst>
                                          <p:attrName>style.visibility</p:attrName>
                                        </p:attrNameLst>
                                      </p:cBhvr>
                                      <p:to>
                                        <p:strVal val="visible"/>
                                      </p:to>
                                    </p:set>
                                    <p:anim calcmode="lin" valueType="num">
                                      <p:cBhvr>
                                        <p:cTn id="75" dur="500" fill="hold"/>
                                        <p:tgtEl>
                                          <p:spTgt spid="22"/>
                                        </p:tgtEl>
                                        <p:attrNameLst>
                                          <p:attrName>ppt_w</p:attrName>
                                        </p:attrNameLst>
                                      </p:cBhvr>
                                      <p:tavLst>
                                        <p:tav tm="0">
                                          <p:val>
                                            <p:fltVal val="0"/>
                                          </p:val>
                                        </p:tav>
                                        <p:tav tm="100000">
                                          <p:val>
                                            <p:strVal val="#ppt_w"/>
                                          </p:val>
                                        </p:tav>
                                      </p:tavLst>
                                    </p:anim>
                                    <p:anim calcmode="lin" valueType="num">
                                      <p:cBhvr>
                                        <p:cTn id="76" dur="500" fill="hold"/>
                                        <p:tgtEl>
                                          <p:spTgt spid="22"/>
                                        </p:tgtEl>
                                        <p:attrNameLst>
                                          <p:attrName>ppt_h</p:attrName>
                                        </p:attrNameLst>
                                      </p:cBhvr>
                                      <p:tavLst>
                                        <p:tav tm="0">
                                          <p:val>
                                            <p:fltVal val="0"/>
                                          </p:val>
                                        </p:tav>
                                        <p:tav tm="100000">
                                          <p:val>
                                            <p:strVal val="#ppt_h"/>
                                          </p:val>
                                        </p:tav>
                                      </p:tavLst>
                                    </p:anim>
                                    <p:anim calcmode="lin" valueType="num">
                                      <p:cBhvr>
                                        <p:cTn id="77" dur="500" fill="hold"/>
                                        <p:tgtEl>
                                          <p:spTgt spid="22"/>
                                        </p:tgtEl>
                                        <p:attrNameLst>
                                          <p:attrName>ppt_x</p:attrName>
                                        </p:attrNameLst>
                                      </p:cBhvr>
                                      <p:tavLst>
                                        <p:tav tm="0">
                                          <p:val>
                                            <p:fltVal val="0.5"/>
                                          </p:val>
                                        </p:tav>
                                        <p:tav tm="100000">
                                          <p:val>
                                            <p:strVal val="#ppt_x"/>
                                          </p:val>
                                        </p:tav>
                                      </p:tavLst>
                                    </p:anim>
                                    <p:anim calcmode="lin" valueType="num">
                                      <p:cBhvr>
                                        <p:cTn id="78" dur="500" fill="hold"/>
                                        <p:tgtEl>
                                          <p:spTgt spid="22"/>
                                        </p:tgtEl>
                                        <p:attrNameLst>
                                          <p:attrName>ppt_y</p:attrName>
                                        </p:attrNameLst>
                                      </p:cBhvr>
                                      <p:tavLst>
                                        <p:tav tm="0">
                                          <p:val>
                                            <p:fltVal val="0.5"/>
                                          </p:val>
                                        </p:tav>
                                        <p:tav tm="100000">
                                          <p:val>
                                            <p:strVal val="#ppt_y"/>
                                          </p:val>
                                        </p:tav>
                                      </p:tavLst>
                                    </p:anim>
                                  </p:childTnLst>
                                </p:cTn>
                              </p:par>
                            </p:childTnLst>
                          </p:cTn>
                        </p:par>
                        <p:par>
                          <p:cTn id="79" fill="hold">
                            <p:stCondLst>
                              <p:cond delay="500"/>
                            </p:stCondLst>
                            <p:childTnLst>
                              <p:par>
                                <p:cTn id="80" presetID="16" presetClass="entr" presetSubtype="37" fill="hold" grpId="0" nodeType="after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barn(outVertical)">
                                      <p:cBhvr>
                                        <p:cTn id="8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P spid="19" grpId="0" autoUpdateAnimBg="0"/>
      <p:bldP spid="20" grpId="0"/>
      <p:bldP spid="22" grpId="0" animBg="1"/>
      <p:bldP spid="23" grpId="0" animBg="1"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1" algn="r"/>
            <a:r>
              <a:rPr lang="zh-CN" altLang="en-US" sz="3600"/>
              <a:t>几何构造分析示例</a:t>
            </a:r>
            <a:endParaRPr lang="zh-CN" altLang="en-US" sz="3600" dirty="0"/>
          </a:p>
        </p:txBody>
      </p:sp>
      <p:sp>
        <p:nvSpPr>
          <p:cNvPr id="3" name="内容占位符 2"/>
          <p:cNvSpPr>
            <a:spLocks noGrp="1"/>
          </p:cNvSpPr>
          <p:nvPr>
            <p:ph idx="1"/>
          </p:nvPr>
        </p:nvSpPr>
        <p:spPr>
          <a:xfrm>
            <a:off x="468313" y="1268413"/>
            <a:ext cx="8175653" cy="1517645"/>
          </a:xfrm>
          <a:ln>
            <a:noFill/>
          </a:ln>
        </p:spPr>
        <p:txBody>
          <a:bodyPr/>
          <a:lstStyle/>
          <a:p>
            <a:pPr lvl="0"/>
            <a:r>
              <a:rPr lang="zh-CN" altLang="en-US"/>
              <a:t>示例</a:t>
            </a:r>
            <a:endParaRPr lang="en-US" altLang="zh-CN"/>
          </a:p>
          <a:p>
            <a:pPr lvl="1">
              <a:lnSpc>
                <a:spcPct val="150000"/>
              </a:lnSpc>
              <a:spcBef>
                <a:spcPts val="0"/>
              </a:spcBef>
            </a:pPr>
            <a:r>
              <a:rPr lang="zh-CN" altLang="en-US"/>
              <a:t>例：对图示体系作几何构造分析</a:t>
            </a:r>
            <a:endParaRPr lang="en-US" altLang="zh-CN"/>
          </a:p>
          <a:p>
            <a:pPr lvl="1">
              <a:lnSpc>
                <a:spcPct val="150000"/>
              </a:lnSpc>
              <a:spcBef>
                <a:spcPts val="0"/>
              </a:spcBef>
              <a:buNone/>
            </a:pPr>
            <a:r>
              <a:rPr lang="zh-CN" altLang="en-US"/>
              <a:t>    </a:t>
            </a: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sp>
        <p:nvSpPr>
          <p:cNvPr id="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graphicFrame>
        <p:nvGraphicFramePr>
          <p:cNvPr id="32" name="Object 3"/>
          <p:cNvGraphicFramePr>
            <a:graphicFrameLocks noChangeAspect="1"/>
          </p:cNvGraphicFramePr>
          <p:nvPr/>
        </p:nvGraphicFramePr>
        <p:xfrm>
          <a:off x="962028" y="2263797"/>
          <a:ext cx="7110434" cy="3308343"/>
        </p:xfrm>
        <a:graphic>
          <a:graphicData uri="http://schemas.openxmlformats.org/presentationml/2006/ole">
            <mc:AlternateContent xmlns:mc="http://schemas.openxmlformats.org/markup-compatibility/2006">
              <mc:Choice xmlns:v="urn:schemas-microsoft-com:vml" Requires="v">
                <p:oleObj spid="_x0000_s220163" name="BMP 图象" r:id="rId4" imgW="6409524" imgH="3057143" progId="">
                  <p:embed/>
                </p:oleObj>
              </mc:Choice>
              <mc:Fallback>
                <p:oleObj name="BMP 图象" r:id="rId4" imgW="6409524" imgH="3057143"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2028" y="2263797"/>
                        <a:ext cx="7110434" cy="3308343"/>
                      </a:xfrm>
                      <a:prstGeom prst="rect">
                        <a:avLst/>
                      </a:prstGeom>
                      <a:noFill/>
                      <a:ln w="76200">
                        <a:solidFill>
                          <a:srgbClr val="FF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 name="Oval 4"/>
          <p:cNvSpPr>
            <a:spLocks noChangeArrowheads="1"/>
          </p:cNvSpPr>
          <p:nvPr/>
        </p:nvSpPr>
        <p:spPr bwMode="auto">
          <a:xfrm>
            <a:off x="2639017" y="2673378"/>
            <a:ext cx="670796" cy="409581"/>
          </a:xfrm>
          <a:prstGeom prst="ellipse">
            <a:avLst/>
          </a:prstGeom>
          <a:solidFill>
            <a:srgbClr val="FFFFFF"/>
          </a:solidFill>
          <a:ln w="76200">
            <a:solidFill>
              <a:srgbClr val="FFFFFF"/>
            </a:solidFill>
            <a:round/>
            <a:headEnd/>
            <a:tailEnd/>
          </a:ln>
        </p:spPr>
        <p:txBody>
          <a:bodyPr wrap="none" anchor="ctr"/>
          <a:lstStyle/>
          <a:p>
            <a:pPr>
              <a:spcBef>
                <a:spcPct val="50000"/>
              </a:spcBef>
            </a:pPr>
            <a:endParaRPr lang="zh-CN" altLang="en-US">
              <a:ea typeface="楷体_GB2312"/>
            </a:endParaRPr>
          </a:p>
        </p:txBody>
      </p:sp>
      <p:sp>
        <p:nvSpPr>
          <p:cNvPr id="35" name="Oval 6"/>
          <p:cNvSpPr>
            <a:spLocks noChangeArrowheads="1"/>
          </p:cNvSpPr>
          <p:nvPr/>
        </p:nvSpPr>
        <p:spPr bwMode="auto">
          <a:xfrm>
            <a:off x="4181847" y="4721284"/>
            <a:ext cx="1006193" cy="643628"/>
          </a:xfrm>
          <a:prstGeom prst="ellipse">
            <a:avLst/>
          </a:prstGeom>
          <a:solidFill>
            <a:srgbClr val="FFFFFF"/>
          </a:solidFill>
          <a:ln w="76200">
            <a:solidFill>
              <a:srgbClr val="FFFFFF"/>
            </a:solidFill>
            <a:round/>
            <a:headEnd/>
            <a:tailEnd/>
          </a:ln>
        </p:spPr>
        <p:txBody>
          <a:bodyPr wrap="none" anchor="ctr"/>
          <a:lstStyle/>
          <a:p>
            <a:pPr>
              <a:spcBef>
                <a:spcPct val="50000"/>
              </a:spcBef>
            </a:pPr>
            <a:endParaRPr lang="zh-CN" altLang="en-US">
              <a:ea typeface="楷体_GB2312"/>
            </a:endParaRPr>
          </a:p>
        </p:txBody>
      </p:sp>
      <p:sp>
        <p:nvSpPr>
          <p:cNvPr id="36" name="Oval 7"/>
          <p:cNvSpPr>
            <a:spLocks noChangeArrowheads="1"/>
          </p:cNvSpPr>
          <p:nvPr/>
        </p:nvSpPr>
        <p:spPr bwMode="auto">
          <a:xfrm>
            <a:off x="1096187" y="3024448"/>
            <a:ext cx="536637" cy="2398975"/>
          </a:xfrm>
          <a:prstGeom prst="ellipse">
            <a:avLst/>
          </a:prstGeom>
          <a:solidFill>
            <a:srgbClr val="FFFFFF"/>
          </a:solidFill>
          <a:ln w="76200">
            <a:solidFill>
              <a:srgbClr val="FFFFFF"/>
            </a:solidFill>
            <a:round/>
            <a:headEnd/>
            <a:tailEnd/>
          </a:ln>
        </p:spPr>
        <p:txBody>
          <a:bodyPr wrap="none" anchor="ctr"/>
          <a:lstStyle/>
          <a:p>
            <a:pPr>
              <a:spcBef>
                <a:spcPct val="50000"/>
              </a:spcBef>
            </a:pPr>
            <a:endParaRPr lang="zh-CN" altLang="en-US">
              <a:ea typeface="楷体_GB2312"/>
            </a:endParaRPr>
          </a:p>
        </p:txBody>
      </p:sp>
      <p:sp>
        <p:nvSpPr>
          <p:cNvPr id="37" name="Oval 8"/>
          <p:cNvSpPr>
            <a:spLocks noChangeArrowheads="1"/>
          </p:cNvSpPr>
          <p:nvPr/>
        </p:nvSpPr>
        <p:spPr bwMode="auto">
          <a:xfrm>
            <a:off x="1498665" y="2907425"/>
            <a:ext cx="670796" cy="877674"/>
          </a:xfrm>
          <a:prstGeom prst="ellipse">
            <a:avLst/>
          </a:prstGeom>
          <a:solidFill>
            <a:srgbClr val="FFFFFF"/>
          </a:solidFill>
          <a:ln w="76200">
            <a:solidFill>
              <a:srgbClr val="FFFFFF"/>
            </a:solidFill>
            <a:round/>
            <a:headEnd/>
            <a:tailEnd/>
          </a:ln>
        </p:spPr>
        <p:txBody>
          <a:bodyPr wrap="none" anchor="ctr"/>
          <a:lstStyle/>
          <a:p>
            <a:pPr>
              <a:spcBef>
                <a:spcPct val="50000"/>
              </a:spcBef>
            </a:pPr>
            <a:endParaRPr lang="zh-CN" altLang="en-US">
              <a:ea typeface="楷体_GB2312"/>
            </a:endParaRPr>
          </a:p>
        </p:txBody>
      </p:sp>
      <p:sp>
        <p:nvSpPr>
          <p:cNvPr id="38" name="Rectangle 9"/>
          <p:cNvSpPr>
            <a:spLocks noChangeArrowheads="1"/>
          </p:cNvSpPr>
          <p:nvPr/>
        </p:nvSpPr>
        <p:spPr bwMode="auto">
          <a:xfrm>
            <a:off x="1431585" y="4896819"/>
            <a:ext cx="6506718" cy="468093"/>
          </a:xfrm>
          <a:prstGeom prst="rect">
            <a:avLst/>
          </a:prstGeom>
          <a:solidFill>
            <a:srgbClr val="FFFFFF"/>
          </a:solidFill>
          <a:ln w="76200">
            <a:solidFill>
              <a:srgbClr val="FFFFFF"/>
            </a:solidFill>
            <a:miter lim="800000"/>
            <a:headEnd/>
            <a:tailEnd/>
          </a:ln>
        </p:spPr>
        <p:txBody>
          <a:bodyPr wrap="none" anchor="ctr"/>
          <a:lstStyle/>
          <a:p>
            <a:pPr>
              <a:spcBef>
                <a:spcPct val="50000"/>
              </a:spcBef>
            </a:pPr>
            <a:endParaRPr lang="zh-CN" altLang="en-US">
              <a:ea typeface="楷体_GB2312"/>
            </a:endParaRPr>
          </a:p>
        </p:txBody>
      </p:sp>
      <p:sp>
        <p:nvSpPr>
          <p:cNvPr id="39" name="Rectangle 10"/>
          <p:cNvSpPr>
            <a:spLocks noChangeArrowheads="1"/>
          </p:cNvSpPr>
          <p:nvPr/>
        </p:nvSpPr>
        <p:spPr bwMode="auto">
          <a:xfrm>
            <a:off x="2639017" y="4428726"/>
            <a:ext cx="3756456" cy="234046"/>
          </a:xfrm>
          <a:prstGeom prst="rect">
            <a:avLst/>
          </a:prstGeom>
          <a:solidFill>
            <a:srgbClr val="FFFFFF"/>
          </a:solidFill>
          <a:ln w="76200">
            <a:solidFill>
              <a:srgbClr val="FFFFFF"/>
            </a:solidFill>
            <a:miter lim="800000"/>
            <a:headEnd/>
            <a:tailEnd/>
          </a:ln>
        </p:spPr>
        <p:txBody>
          <a:bodyPr wrap="none" anchor="ctr"/>
          <a:lstStyle/>
          <a:p>
            <a:pPr>
              <a:spcBef>
                <a:spcPct val="50000"/>
              </a:spcBef>
            </a:pPr>
            <a:endParaRPr lang="zh-CN" altLang="en-US">
              <a:ea typeface="楷体_GB2312"/>
            </a:endParaRPr>
          </a:p>
        </p:txBody>
      </p:sp>
      <p:sp>
        <p:nvSpPr>
          <p:cNvPr id="40" name="Oval 11"/>
          <p:cNvSpPr>
            <a:spLocks noChangeArrowheads="1"/>
          </p:cNvSpPr>
          <p:nvPr/>
        </p:nvSpPr>
        <p:spPr bwMode="auto">
          <a:xfrm>
            <a:off x="7334587" y="3024448"/>
            <a:ext cx="603716" cy="2047906"/>
          </a:xfrm>
          <a:prstGeom prst="ellipse">
            <a:avLst/>
          </a:prstGeom>
          <a:solidFill>
            <a:srgbClr val="FFFFFF"/>
          </a:solidFill>
          <a:ln w="76200">
            <a:solidFill>
              <a:srgbClr val="FFFFFF"/>
            </a:solidFill>
            <a:round/>
            <a:headEnd/>
            <a:tailEnd/>
          </a:ln>
        </p:spPr>
        <p:txBody>
          <a:bodyPr wrap="none" anchor="ctr"/>
          <a:lstStyle/>
          <a:p>
            <a:pPr>
              <a:spcBef>
                <a:spcPct val="50000"/>
              </a:spcBef>
            </a:pPr>
            <a:endParaRPr lang="zh-CN" altLang="en-US">
              <a:ea typeface="楷体_GB2312"/>
            </a:endParaRPr>
          </a:p>
        </p:txBody>
      </p:sp>
      <p:sp>
        <p:nvSpPr>
          <p:cNvPr id="41" name="Oval 12"/>
          <p:cNvSpPr>
            <a:spLocks noChangeArrowheads="1"/>
          </p:cNvSpPr>
          <p:nvPr/>
        </p:nvSpPr>
        <p:spPr bwMode="auto">
          <a:xfrm>
            <a:off x="6865030" y="2907425"/>
            <a:ext cx="737875" cy="819162"/>
          </a:xfrm>
          <a:prstGeom prst="ellipse">
            <a:avLst/>
          </a:prstGeom>
          <a:solidFill>
            <a:srgbClr val="FFFFFF"/>
          </a:solidFill>
          <a:ln w="76200">
            <a:solidFill>
              <a:srgbClr val="FFFFFF"/>
            </a:solidFill>
            <a:round/>
            <a:headEnd/>
            <a:tailEnd/>
          </a:ln>
        </p:spPr>
        <p:txBody>
          <a:bodyPr wrap="none" anchor="ctr"/>
          <a:lstStyle/>
          <a:p>
            <a:pPr>
              <a:spcBef>
                <a:spcPct val="50000"/>
              </a:spcBef>
            </a:pPr>
            <a:endParaRPr lang="zh-CN" altLang="en-US">
              <a:ea typeface="楷体_GB2312"/>
            </a:endParaRPr>
          </a:p>
        </p:txBody>
      </p:sp>
      <p:sp>
        <p:nvSpPr>
          <p:cNvPr id="42" name="Rectangle 13"/>
          <p:cNvSpPr>
            <a:spLocks noChangeArrowheads="1"/>
          </p:cNvSpPr>
          <p:nvPr/>
        </p:nvSpPr>
        <p:spPr bwMode="auto">
          <a:xfrm>
            <a:off x="6797950" y="4311703"/>
            <a:ext cx="603716" cy="292558"/>
          </a:xfrm>
          <a:prstGeom prst="rect">
            <a:avLst/>
          </a:prstGeom>
          <a:solidFill>
            <a:srgbClr val="FFFFFF"/>
          </a:solidFill>
          <a:ln w="76200">
            <a:solidFill>
              <a:srgbClr val="FFFFFF"/>
            </a:solidFill>
            <a:miter lim="800000"/>
            <a:headEnd/>
            <a:tailEnd/>
          </a:ln>
        </p:spPr>
        <p:txBody>
          <a:bodyPr wrap="none" anchor="ctr"/>
          <a:lstStyle/>
          <a:p>
            <a:pPr>
              <a:spcBef>
                <a:spcPct val="50000"/>
              </a:spcBef>
            </a:pPr>
            <a:endParaRPr lang="zh-CN" altLang="en-US">
              <a:ea typeface="楷体_GB2312"/>
            </a:endParaRPr>
          </a:p>
        </p:txBody>
      </p:sp>
      <p:sp>
        <p:nvSpPr>
          <p:cNvPr id="57" name="Text Box 28"/>
          <p:cNvSpPr txBox="1">
            <a:spLocks noChangeArrowheads="1"/>
          </p:cNvSpPr>
          <p:nvPr/>
        </p:nvSpPr>
        <p:spPr bwMode="auto">
          <a:xfrm>
            <a:off x="3200400" y="6029286"/>
            <a:ext cx="2871887" cy="400110"/>
          </a:xfrm>
          <a:prstGeom prst="rect">
            <a:avLst/>
          </a:prstGeom>
          <a:noFill/>
          <a:ln w="9525">
            <a:noFill/>
            <a:miter lim="800000"/>
            <a:headEnd/>
            <a:tailEnd/>
          </a:ln>
          <a:effectLst/>
        </p:spPr>
        <p:txBody>
          <a:bodyPr wrap="square">
            <a:spAutoFit/>
          </a:bodyPr>
          <a:lstStyle/>
          <a:p>
            <a:pPr algn="ctr">
              <a:defRPr/>
            </a:pPr>
            <a:r>
              <a:rPr lang="zh-CN" altLang="en-US" sz="2000" b="1">
                <a:latin typeface="+mn-ea"/>
                <a:cs typeface="+mn-cs"/>
              </a:rPr>
              <a:t>唯一吗？</a:t>
            </a:r>
          </a:p>
        </p:txBody>
      </p:sp>
      <p:sp>
        <p:nvSpPr>
          <p:cNvPr id="58" name="Text Box 29"/>
          <p:cNvSpPr txBox="1">
            <a:spLocks noChangeArrowheads="1"/>
          </p:cNvSpPr>
          <p:nvPr/>
        </p:nvSpPr>
        <p:spPr bwMode="auto">
          <a:xfrm>
            <a:off x="2971800" y="5486300"/>
            <a:ext cx="3374467" cy="400110"/>
          </a:xfrm>
          <a:prstGeom prst="rect">
            <a:avLst/>
          </a:prstGeom>
          <a:noFill/>
          <a:ln w="9525">
            <a:noFill/>
            <a:miter lim="800000"/>
            <a:headEnd/>
            <a:tailEnd/>
          </a:ln>
          <a:effectLst/>
        </p:spPr>
        <p:txBody>
          <a:bodyPr wrap="square">
            <a:spAutoFit/>
          </a:bodyPr>
          <a:lstStyle/>
          <a:p>
            <a:pPr algn="ctr">
              <a:defRPr/>
            </a:pPr>
            <a:r>
              <a:rPr lang="zh-CN" altLang="en-US" sz="2000" b="1">
                <a:latin typeface="+mn-ea"/>
                <a:cs typeface="+mn-cs"/>
              </a:rPr>
              <a:t>如何变静定？</a:t>
            </a:r>
          </a:p>
        </p:txBody>
      </p:sp>
      <p:sp>
        <p:nvSpPr>
          <p:cNvPr id="43" name="Rectangle 14"/>
          <p:cNvSpPr>
            <a:spLocks noChangeArrowheads="1"/>
          </p:cNvSpPr>
          <p:nvPr/>
        </p:nvSpPr>
        <p:spPr bwMode="auto">
          <a:xfrm>
            <a:off x="1699903" y="4311703"/>
            <a:ext cx="469557" cy="234046"/>
          </a:xfrm>
          <a:prstGeom prst="rect">
            <a:avLst/>
          </a:prstGeom>
          <a:solidFill>
            <a:srgbClr val="FFFFFF"/>
          </a:solidFill>
          <a:ln w="76200">
            <a:solidFill>
              <a:srgbClr val="FFFFFF"/>
            </a:solidFill>
            <a:miter lim="800000"/>
            <a:headEnd/>
            <a:tailEnd/>
          </a:ln>
        </p:spPr>
        <p:txBody>
          <a:bodyPr wrap="none" anchor="ctr"/>
          <a:lstStyle/>
          <a:p>
            <a:pPr>
              <a:spcBef>
                <a:spcPct val="50000"/>
              </a:spcBef>
            </a:pPr>
            <a:endParaRPr lang="zh-CN" altLang="en-US">
              <a:ea typeface="楷体_GB2312"/>
            </a:endParaRPr>
          </a:p>
        </p:txBody>
      </p:sp>
      <p:grpSp>
        <p:nvGrpSpPr>
          <p:cNvPr id="62" name="组合 61"/>
          <p:cNvGrpSpPr/>
          <p:nvPr/>
        </p:nvGrpSpPr>
        <p:grpSpPr>
          <a:xfrm>
            <a:off x="2437778" y="2614867"/>
            <a:ext cx="4091854" cy="1782165"/>
            <a:chOff x="2437778" y="2614867"/>
            <a:chExt cx="4091854" cy="1782165"/>
          </a:xfrm>
        </p:grpSpPr>
        <p:sp>
          <p:nvSpPr>
            <p:cNvPr id="34" name="Oval 5"/>
            <p:cNvSpPr>
              <a:spLocks noChangeArrowheads="1"/>
            </p:cNvSpPr>
            <p:nvPr/>
          </p:nvSpPr>
          <p:spPr bwMode="auto">
            <a:xfrm>
              <a:off x="5791757" y="2614867"/>
              <a:ext cx="469557" cy="526604"/>
            </a:xfrm>
            <a:prstGeom prst="ellipse">
              <a:avLst/>
            </a:prstGeom>
            <a:solidFill>
              <a:srgbClr val="FFFFFF"/>
            </a:solidFill>
            <a:ln w="76200">
              <a:solidFill>
                <a:srgbClr val="FFFFFF"/>
              </a:solidFill>
              <a:round/>
              <a:headEnd/>
              <a:tailEnd/>
            </a:ln>
          </p:spPr>
          <p:txBody>
            <a:bodyPr wrap="none" anchor="ctr"/>
            <a:lstStyle/>
            <a:p>
              <a:pPr>
                <a:spcBef>
                  <a:spcPct val="50000"/>
                </a:spcBef>
              </a:pPr>
              <a:endParaRPr lang="zh-CN" altLang="en-US">
                <a:ea typeface="楷体_GB2312"/>
              </a:endParaRPr>
            </a:p>
          </p:txBody>
        </p:sp>
        <p:sp>
          <p:nvSpPr>
            <p:cNvPr id="46" name="Line 17"/>
            <p:cNvSpPr>
              <a:spLocks noChangeShapeType="1"/>
            </p:cNvSpPr>
            <p:nvPr/>
          </p:nvSpPr>
          <p:spPr bwMode="auto">
            <a:xfrm flipH="1">
              <a:off x="3242733" y="3258494"/>
              <a:ext cx="0" cy="468093"/>
            </a:xfrm>
            <a:prstGeom prst="line">
              <a:avLst/>
            </a:prstGeom>
            <a:noFill/>
            <a:ln w="76200">
              <a:solidFill>
                <a:schemeClr val="tx1"/>
              </a:solidFill>
              <a:round/>
              <a:headEnd/>
              <a:tailEnd/>
            </a:ln>
          </p:spPr>
          <p:txBody>
            <a:bodyPr wrap="none" anchor="ctr"/>
            <a:lstStyle/>
            <a:p>
              <a:endParaRPr lang="zh-CN" altLang="en-US"/>
            </a:p>
          </p:txBody>
        </p:sp>
        <p:sp>
          <p:nvSpPr>
            <p:cNvPr id="47" name="Line 18"/>
            <p:cNvSpPr>
              <a:spLocks noChangeShapeType="1"/>
            </p:cNvSpPr>
            <p:nvPr/>
          </p:nvSpPr>
          <p:spPr bwMode="auto">
            <a:xfrm flipV="1">
              <a:off x="2437778" y="3786190"/>
              <a:ext cx="776900" cy="291466"/>
            </a:xfrm>
            <a:prstGeom prst="line">
              <a:avLst/>
            </a:prstGeom>
            <a:noFill/>
            <a:ln w="76200">
              <a:solidFill>
                <a:schemeClr val="tx1"/>
              </a:solidFill>
              <a:round/>
              <a:headEnd/>
              <a:tailEnd/>
            </a:ln>
          </p:spPr>
          <p:txBody>
            <a:bodyPr wrap="none" anchor="ctr"/>
            <a:lstStyle/>
            <a:p>
              <a:endParaRPr lang="zh-CN" altLang="en-US"/>
            </a:p>
          </p:txBody>
        </p:sp>
        <p:sp>
          <p:nvSpPr>
            <p:cNvPr id="48" name="Oval 19"/>
            <p:cNvSpPr>
              <a:spLocks noChangeArrowheads="1"/>
            </p:cNvSpPr>
            <p:nvPr/>
          </p:nvSpPr>
          <p:spPr bwMode="auto">
            <a:xfrm>
              <a:off x="3175654" y="3726587"/>
              <a:ext cx="134159" cy="117023"/>
            </a:xfrm>
            <a:prstGeom prst="ellipse">
              <a:avLst/>
            </a:prstGeom>
            <a:solidFill>
              <a:srgbClr val="FFFFFF"/>
            </a:solidFill>
            <a:ln w="57150">
              <a:solidFill>
                <a:schemeClr val="tx1"/>
              </a:solidFill>
              <a:round/>
              <a:headEnd/>
              <a:tailEnd/>
            </a:ln>
          </p:spPr>
          <p:txBody>
            <a:bodyPr wrap="none" anchor="ctr"/>
            <a:lstStyle/>
            <a:p>
              <a:pPr>
                <a:spcBef>
                  <a:spcPct val="50000"/>
                </a:spcBef>
              </a:pPr>
              <a:endParaRPr lang="zh-CN" altLang="en-US">
                <a:ea typeface="楷体_GB2312"/>
              </a:endParaRPr>
            </a:p>
          </p:txBody>
        </p:sp>
        <p:sp>
          <p:nvSpPr>
            <p:cNvPr id="49" name="Line 20"/>
            <p:cNvSpPr>
              <a:spLocks noChangeShapeType="1"/>
            </p:cNvSpPr>
            <p:nvPr/>
          </p:nvSpPr>
          <p:spPr bwMode="auto">
            <a:xfrm flipH="1">
              <a:off x="5724677" y="3258494"/>
              <a:ext cx="0" cy="468093"/>
            </a:xfrm>
            <a:prstGeom prst="line">
              <a:avLst/>
            </a:prstGeom>
            <a:noFill/>
            <a:ln w="76200">
              <a:solidFill>
                <a:schemeClr val="tx1"/>
              </a:solidFill>
              <a:round/>
              <a:headEnd/>
              <a:tailEnd/>
            </a:ln>
          </p:spPr>
          <p:txBody>
            <a:bodyPr wrap="none" anchor="ctr"/>
            <a:lstStyle/>
            <a:p>
              <a:endParaRPr lang="zh-CN" altLang="en-US"/>
            </a:p>
          </p:txBody>
        </p:sp>
        <p:sp>
          <p:nvSpPr>
            <p:cNvPr id="50" name="Line 21"/>
            <p:cNvSpPr>
              <a:spLocks noChangeShapeType="1"/>
            </p:cNvSpPr>
            <p:nvPr/>
          </p:nvSpPr>
          <p:spPr bwMode="auto">
            <a:xfrm flipH="1" flipV="1">
              <a:off x="5715008" y="3786190"/>
              <a:ext cx="814624" cy="291466"/>
            </a:xfrm>
            <a:prstGeom prst="line">
              <a:avLst/>
            </a:prstGeom>
            <a:noFill/>
            <a:ln w="76200">
              <a:solidFill>
                <a:schemeClr val="tx1"/>
              </a:solidFill>
              <a:round/>
              <a:headEnd/>
              <a:tailEnd/>
            </a:ln>
          </p:spPr>
          <p:txBody>
            <a:bodyPr wrap="none" anchor="ctr"/>
            <a:lstStyle/>
            <a:p>
              <a:endParaRPr lang="zh-CN" altLang="en-US"/>
            </a:p>
          </p:txBody>
        </p:sp>
        <p:sp>
          <p:nvSpPr>
            <p:cNvPr id="52" name="Line 23"/>
            <p:cNvSpPr>
              <a:spLocks noChangeShapeType="1"/>
            </p:cNvSpPr>
            <p:nvPr/>
          </p:nvSpPr>
          <p:spPr bwMode="auto">
            <a:xfrm>
              <a:off x="3309813" y="3785098"/>
              <a:ext cx="2414864" cy="0"/>
            </a:xfrm>
            <a:prstGeom prst="line">
              <a:avLst/>
            </a:prstGeom>
            <a:noFill/>
            <a:ln w="76200">
              <a:solidFill>
                <a:schemeClr val="tx1"/>
              </a:solidFill>
              <a:round/>
              <a:headEnd/>
              <a:tailEnd/>
            </a:ln>
          </p:spPr>
          <p:txBody>
            <a:bodyPr wrap="none" anchor="ctr"/>
            <a:lstStyle/>
            <a:p>
              <a:endParaRPr lang="zh-CN" altLang="en-US"/>
            </a:p>
          </p:txBody>
        </p:sp>
        <p:sp>
          <p:nvSpPr>
            <p:cNvPr id="53" name="Text Box 24"/>
            <p:cNvSpPr txBox="1">
              <a:spLocks noChangeArrowheads="1"/>
            </p:cNvSpPr>
            <p:nvPr/>
          </p:nvSpPr>
          <p:spPr bwMode="auto">
            <a:xfrm>
              <a:off x="2974415" y="3843610"/>
              <a:ext cx="462570" cy="553422"/>
            </a:xfrm>
            <a:prstGeom prst="rect">
              <a:avLst/>
            </a:prstGeom>
            <a:noFill/>
            <a:ln w="9525">
              <a:noFill/>
              <a:miter lim="800000"/>
              <a:headEnd/>
              <a:tailEnd/>
            </a:ln>
          </p:spPr>
          <p:txBody>
            <a:bodyPr wrap="none">
              <a:spAutoFit/>
            </a:bodyPr>
            <a:lstStyle/>
            <a:p>
              <a:r>
                <a:rPr lang="en-US" altLang="zh-CN" sz="3000" i="1">
                  <a:latin typeface="Times New Roman" pitchFamily="18" charset="0"/>
                  <a:cs typeface="Times New Roman" pitchFamily="18" charset="0"/>
                </a:rPr>
                <a:t>D</a:t>
              </a:r>
              <a:endParaRPr lang="en-US" altLang="zh-CN" sz="3000" b="0">
                <a:latin typeface="Times New Roman" pitchFamily="18" charset="0"/>
                <a:cs typeface="Times New Roman" pitchFamily="18" charset="0"/>
              </a:endParaRPr>
            </a:p>
          </p:txBody>
        </p:sp>
        <p:sp>
          <p:nvSpPr>
            <p:cNvPr id="54" name="Text Box 25"/>
            <p:cNvSpPr txBox="1">
              <a:spLocks noChangeArrowheads="1"/>
            </p:cNvSpPr>
            <p:nvPr/>
          </p:nvSpPr>
          <p:spPr bwMode="auto">
            <a:xfrm>
              <a:off x="5523438" y="3843610"/>
              <a:ext cx="420645" cy="553422"/>
            </a:xfrm>
            <a:prstGeom prst="rect">
              <a:avLst/>
            </a:prstGeom>
            <a:noFill/>
            <a:ln w="9525">
              <a:noFill/>
              <a:miter lim="800000"/>
              <a:headEnd/>
              <a:tailEnd/>
            </a:ln>
          </p:spPr>
          <p:txBody>
            <a:bodyPr wrap="none">
              <a:spAutoFit/>
            </a:bodyPr>
            <a:lstStyle/>
            <a:p>
              <a:r>
                <a:rPr lang="en-US" altLang="zh-CN" sz="3000" i="1">
                  <a:latin typeface="Times New Roman" pitchFamily="18" charset="0"/>
                  <a:cs typeface="Times New Roman" pitchFamily="18" charset="0"/>
                </a:rPr>
                <a:t>E</a:t>
              </a:r>
              <a:endParaRPr lang="en-US" altLang="zh-CN" sz="3000" b="0">
                <a:latin typeface="Times New Roman" pitchFamily="18" charset="0"/>
                <a:cs typeface="Times New Roman" pitchFamily="18" charset="0"/>
              </a:endParaRPr>
            </a:p>
          </p:txBody>
        </p:sp>
        <p:sp>
          <p:nvSpPr>
            <p:cNvPr id="55" name="Text Box 26"/>
            <p:cNvSpPr txBox="1">
              <a:spLocks noChangeArrowheads="1"/>
            </p:cNvSpPr>
            <p:nvPr/>
          </p:nvSpPr>
          <p:spPr bwMode="auto">
            <a:xfrm>
              <a:off x="2974415" y="2614867"/>
              <a:ext cx="420645" cy="553422"/>
            </a:xfrm>
            <a:prstGeom prst="rect">
              <a:avLst/>
            </a:prstGeom>
            <a:noFill/>
            <a:ln w="9525">
              <a:noFill/>
              <a:miter lim="800000"/>
              <a:headEnd/>
              <a:tailEnd/>
            </a:ln>
          </p:spPr>
          <p:txBody>
            <a:bodyPr wrap="none">
              <a:spAutoFit/>
            </a:bodyPr>
            <a:lstStyle/>
            <a:p>
              <a:r>
                <a:rPr lang="en-US" altLang="zh-CN" sz="3000" i="1">
                  <a:latin typeface="Times New Roman" pitchFamily="18" charset="0"/>
                  <a:cs typeface="Times New Roman" pitchFamily="18" charset="0"/>
                </a:rPr>
                <a:t>F</a:t>
              </a:r>
              <a:endParaRPr lang="en-US" altLang="zh-CN" sz="3000" b="0">
                <a:latin typeface="Times New Roman" pitchFamily="18" charset="0"/>
                <a:cs typeface="Times New Roman" pitchFamily="18" charset="0"/>
              </a:endParaRPr>
            </a:p>
          </p:txBody>
        </p:sp>
        <p:sp>
          <p:nvSpPr>
            <p:cNvPr id="56" name="Text Box 27"/>
            <p:cNvSpPr txBox="1">
              <a:spLocks noChangeArrowheads="1"/>
            </p:cNvSpPr>
            <p:nvPr/>
          </p:nvSpPr>
          <p:spPr bwMode="auto">
            <a:xfrm>
              <a:off x="5808527" y="2766022"/>
              <a:ext cx="462570" cy="553422"/>
            </a:xfrm>
            <a:prstGeom prst="rect">
              <a:avLst/>
            </a:prstGeom>
            <a:noFill/>
            <a:ln w="9525">
              <a:noFill/>
              <a:miter lim="800000"/>
              <a:headEnd/>
              <a:tailEnd/>
            </a:ln>
          </p:spPr>
          <p:txBody>
            <a:bodyPr wrap="none">
              <a:spAutoFit/>
            </a:bodyPr>
            <a:lstStyle/>
            <a:p>
              <a:r>
                <a:rPr lang="en-US" altLang="zh-CN" sz="3000" i="1">
                  <a:latin typeface="Times New Roman" pitchFamily="18" charset="0"/>
                  <a:cs typeface="Times New Roman" pitchFamily="18" charset="0"/>
                </a:rPr>
                <a:t>G</a:t>
              </a:r>
              <a:endParaRPr lang="en-US" altLang="zh-CN" sz="3000" b="0">
                <a:latin typeface="Times New Roman" pitchFamily="18" charset="0"/>
                <a:cs typeface="Times New Roman" pitchFamily="18" charset="0"/>
              </a:endParaRPr>
            </a:p>
          </p:txBody>
        </p:sp>
        <p:sp>
          <p:nvSpPr>
            <p:cNvPr id="45" name="Oval 16"/>
            <p:cNvSpPr>
              <a:spLocks noChangeArrowheads="1"/>
            </p:cNvSpPr>
            <p:nvPr/>
          </p:nvSpPr>
          <p:spPr bwMode="auto">
            <a:xfrm>
              <a:off x="3175654" y="3213243"/>
              <a:ext cx="134159" cy="117023"/>
            </a:xfrm>
            <a:prstGeom prst="ellipse">
              <a:avLst/>
            </a:prstGeom>
            <a:solidFill>
              <a:srgbClr val="FFFFFF"/>
            </a:solidFill>
            <a:ln w="57150">
              <a:solidFill>
                <a:schemeClr val="tx1"/>
              </a:solidFill>
              <a:round/>
              <a:headEnd/>
              <a:tailEnd/>
            </a:ln>
          </p:spPr>
          <p:txBody>
            <a:bodyPr wrap="none" anchor="ctr"/>
            <a:lstStyle/>
            <a:p>
              <a:pPr>
                <a:spcBef>
                  <a:spcPct val="50000"/>
                </a:spcBef>
              </a:pPr>
              <a:endParaRPr lang="zh-CN" altLang="en-US">
                <a:ln w="19050">
                  <a:solidFill>
                    <a:schemeClr val="tx1"/>
                  </a:solidFill>
                </a:ln>
                <a:ea typeface="楷体_GB2312"/>
              </a:endParaRPr>
            </a:p>
          </p:txBody>
        </p:sp>
        <p:sp>
          <p:nvSpPr>
            <p:cNvPr id="44" name="Oval 15"/>
            <p:cNvSpPr>
              <a:spLocks noChangeArrowheads="1"/>
            </p:cNvSpPr>
            <p:nvPr/>
          </p:nvSpPr>
          <p:spPr bwMode="auto">
            <a:xfrm>
              <a:off x="5657598" y="3168767"/>
              <a:ext cx="134159" cy="117023"/>
            </a:xfrm>
            <a:prstGeom prst="ellipse">
              <a:avLst/>
            </a:prstGeom>
            <a:solidFill>
              <a:srgbClr val="FFFFFF"/>
            </a:solidFill>
            <a:ln w="57150">
              <a:solidFill>
                <a:schemeClr val="tx1"/>
              </a:solidFill>
              <a:round/>
              <a:headEnd/>
              <a:tailEnd/>
            </a:ln>
          </p:spPr>
          <p:txBody>
            <a:bodyPr wrap="none" anchor="ctr"/>
            <a:lstStyle/>
            <a:p>
              <a:pPr>
                <a:spcBef>
                  <a:spcPct val="50000"/>
                </a:spcBef>
              </a:pPr>
              <a:endParaRPr lang="zh-CN" altLang="en-US">
                <a:ea typeface="楷体_GB2312"/>
              </a:endParaRPr>
            </a:p>
          </p:txBody>
        </p:sp>
        <p:sp>
          <p:nvSpPr>
            <p:cNvPr id="51" name="Oval 22"/>
            <p:cNvSpPr>
              <a:spLocks noChangeArrowheads="1"/>
            </p:cNvSpPr>
            <p:nvPr/>
          </p:nvSpPr>
          <p:spPr bwMode="auto">
            <a:xfrm flipH="1">
              <a:off x="5657598" y="3726587"/>
              <a:ext cx="134159" cy="117023"/>
            </a:xfrm>
            <a:prstGeom prst="ellipse">
              <a:avLst/>
            </a:prstGeom>
            <a:solidFill>
              <a:srgbClr val="FFFFFF"/>
            </a:solidFill>
            <a:ln w="57150">
              <a:solidFill>
                <a:schemeClr val="tx1"/>
              </a:solidFill>
              <a:round/>
              <a:headEnd/>
              <a:tailEnd/>
            </a:ln>
          </p:spPr>
          <p:txBody>
            <a:bodyPr wrap="none" anchor="ctr"/>
            <a:lstStyle/>
            <a:p>
              <a:pPr>
                <a:spcBef>
                  <a:spcPct val="50000"/>
                </a:spcBef>
              </a:pPr>
              <a:endParaRPr lang="zh-CN" altLang="en-US">
                <a:ea typeface="楷体_GB2312"/>
              </a:endParaRPr>
            </a:p>
          </p:txBody>
        </p:sp>
      </p:grpSp>
      <p:sp>
        <p:nvSpPr>
          <p:cNvPr id="59" name="Text Box 29"/>
          <p:cNvSpPr txBox="1">
            <a:spLocks noChangeArrowheads="1"/>
          </p:cNvSpPr>
          <p:nvPr/>
        </p:nvSpPr>
        <p:spPr bwMode="auto">
          <a:xfrm>
            <a:off x="2983483" y="4929198"/>
            <a:ext cx="3374467" cy="400110"/>
          </a:xfrm>
          <a:prstGeom prst="rect">
            <a:avLst/>
          </a:prstGeom>
          <a:noFill/>
          <a:ln w="28575">
            <a:solidFill>
              <a:srgbClr val="C00000"/>
            </a:solidFill>
            <a:miter lim="800000"/>
            <a:headEnd/>
            <a:tailEnd/>
          </a:ln>
          <a:effectLst/>
        </p:spPr>
        <p:txBody>
          <a:bodyPr wrap="square">
            <a:spAutoFit/>
          </a:bodyPr>
          <a:lstStyle/>
          <a:p>
            <a:pPr algn="ctr">
              <a:defRPr/>
            </a:pPr>
            <a:r>
              <a:rPr lang="zh-CN" altLang="en-US" sz="2000" b="1">
                <a:solidFill>
                  <a:srgbClr val="C00000"/>
                </a:solidFill>
                <a:latin typeface="+mn-ea"/>
                <a:cs typeface="+mn-cs"/>
              </a:rPr>
              <a:t>有多余约束的几何不变体系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9">
                                            <p:bg/>
                                          </p:spTgt>
                                        </p:tgtEl>
                                        <p:attrNameLst>
                                          <p:attrName>style.visibility</p:attrName>
                                        </p:attrNameLst>
                                      </p:cBhvr>
                                      <p:to>
                                        <p:strVal val="visible"/>
                                      </p:to>
                                    </p:set>
                                    <p:anim calcmode="lin" valueType="num">
                                      <p:cBhvr additive="base">
                                        <p:cTn id="7" dur="500" fill="hold"/>
                                        <p:tgtEl>
                                          <p:spTgt spid="59">
                                            <p:bg/>
                                          </p:spTgt>
                                        </p:tgtEl>
                                        <p:attrNameLst>
                                          <p:attrName>ppt_x</p:attrName>
                                        </p:attrNameLst>
                                      </p:cBhvr>
                                      <p:tavLst>
                                        <p:tav tm="0">
                                          <p:val>
                                            <p:strVal val="#ppt_x"/>
                                          </p:val>
                                        </p:tav>
                                        <p:tav tm="100000">
                                          <p:val>
                                            <p:strVal val="#ppt_x"/>
                                          </p:val>
                                        </p:tav>
                                      </p:tavLst>
                                    </p:anim>
                                    <p:anim calcmode="lin" valueType="num">
                                      <p:cBhvr additive="base">
                                        <p:cTn id="8" dur="500" fill="hold"/>
                                        <p:tgtEl>
                                          <p:spTgt spid="59">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9">
                                            <p:txEl>
                                              <p:pRg st="0" end="0"/>
                                            </p:txEl>
                                          </p:spTgt>
                                        </p:tgtEl>
                                        <p:attrNameLst>
                                          <p:attrName>style.visibility</p:attrName>
                                        </p:attrNameLst>
                                      </p:cBhvr>
                                      <p:to>
                                        <p:strVal val="visible"/>
                                      </p:to>
                                    </p:set>
                                    <p:anim calcmode="lin" valueType="num">
                                      <p:cBhvr additive="base">
                                        <p:cTn id="11" dur="500" fill="hold"/>
                                        <p:tgtEl>
                                          <p:spTgt spid="59">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8">
                                            <p:txEl>
                                              <p:pRg st="0" end="0"/>
                                            </p:txEl>
                                          </p:spTgt>
                                        </p:tgtEl>
                                        <p:attrNameLst>
                                          <p:attrName>style.visibility</p:attrName>
                                        </p:attrNameLst>
                                      </p:cBhvr>
                                      <p:to>
                                        <p:strVal val="visible"/>
                                      </p:to>
                                    </p:set>
                                    <p:anim calcmode="lin" valueType="num">
                                      <p:cBhvr additive="base">
                                        <p:cTn id="17" dur="500" fill="hold"/>
                                        <p:tgtEl>
                                          <p:spTgt spid="58">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xit" presetSubtype="10" fill="hold" nodeType="clickEffect">
                                  <p:stCondLst>
                                    <p:cond delay="0"/>
                                  </p:stCondLst>
                                  <p:childTnLst>
                                    <p:animEffect transition="out" filter="blinds(horizontal)">
                                      <p:cBhvr>
                                        <p:cTn id="22" dur="500"/>
                                        <p:tgtEl>
                                          <p:spTgt spid="62"/>
                                        </p:tgtEl>
                                      </p:cBhvr>
                                    </p:animEffect>
                                    <p:set>
                                      <p:cBhvr>
                                        <p:cTn id="23" dur="1" fill="hold">
                                          <p:stCondLst>
                                            <p:cond delay="499"/>
                                          </p:stCondLst>
                                        </p:cTn>
                                        <p:tgtEl>
                                          <p:spTgt spid="62"/>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57">
                                            <p:txEl>
                                              <p:pRg st="0" end="0"/>
                                            </p:txEl>
                                          </p:spTgt>
                                        </p:tgtEl>
                                        <p:attrNameLst>
                                          <p:attrName>style.visibility</p:attrName>
                                        </p:attrNameLst>
                                      </p:cBhvr>
                                      <p:to>
                                        <p:strVal val="visible"/>
                                      </p:to>
                                    </p:set>
                                    <p:anim calcmode="lin" valueType="num">
                                      <p:cBhvr additive="base">
                                        <p:cTn id="28" dur="500" fill="hold"/>
                                        <p:tgtEl>
                                          <p:spTgt spid="57">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build="allAtOnce"/>
      <p:bldP spid="58" grpId="0" build="allAtOnce"/>
      <p:bldP spid="59" grpId="0" build="allAtOnce"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1" algn="r"/>
            <a:r>
              <a:rPr lang="zh-CN" altLang="en-US" sz="3600"/>
              <a:t>几何构造分析示例</a:t>
            </a:r>
            <a:endParaRPr lang="zh-CN" altLang="en-US" sz="3600" dirty="0"/>
          </a:p>
        </p:txBody>
      </p:sp>
      <p:sp>
        <p:nvSpPr>
          <p:cNvPr id="3" name="内容占位符 2"/>
          <p:cNvSpPr>
            <a:spLocks noGrp="1"/>
          </p:cNvSpPr>
          <p:nvPr>
            <p:ph idx="1"/>
          </p:nvPr>
        </p:nvSpPr>
        <p:spPr>
          <a:xfrm>
            <a:off x="468313" y="1268413"/>
            <a:ext cx="8175653" cy="1517645"/>
          </a:xfrm>
          <a:ln>
            <a:noFill/>
          </a:ln>
        </p:spPr>
        <p:txBody>
          <a:bodyPr/>
          <a:lstStyle/>
          <a:p>
            <a:pPr lvl="0"/>
            <a:r>
              <a:rPr lang="zh-CN" altLang="en-US"/>
              <a:t>示例</a:t>
            </a:r>
            <a:endParaRPr lang="en-US" altLang="zh-CN"/>
          </a:p>
          <a:p>
            <a:pPr lvl="1">
              <a:lnSpc>
                <a:spcPct val="150000"/>
              </a:lnSpc>
              <a:spcBef>
                <a:spcPts val="0"/>
              </a:spcBef>
            </a:pPr>
            <a:r>
              <a:rPr lang="zh-CN" altLang="en-US"/>
              <a:t>例：对图示体系构作几何构造分析</a:t>
            </a:r>
            <a:endParaRPr lang="en-US" altLang="zh-CN"/>
          </a:p>
          <a:p>
            <a:pPr lvl="1">
              <a:lnSpc>
                <a:spcPct val="150000"/>
              </a:lnSpc>
              <a:spcBef>
                <a:spcPts val="0"/>
              </a:spcBef>
              <a:buNone/>
            </a:pPr>
            <a:r>
              <a:rPr lang="zh-CN" altLang="en-US"/>
              <a:t>    </a:t>
            </a: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sp>
        <p:nvSpPr>
          <p:cNvPr id="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pic>
        <p:nvPicPr>
          <p:cNvPr id="60" name="Picture 4"/>
          <p:cNvPicPr>
            <a:picLocks noChangeAspect="1" noChangeArrowheads="1"/>
          </p:cNvPicPr>
          <p:nvPr/>
        </p:nvPicPr>
        <p:blipFill>
          <a:blip r:embed="rId3" cstate="print"/>
          <a:srcRect t="3399"/>
          <a:stretch>
            <a:fillRect/>
          </a:stretch>
        </p:blipFill>
        <p:spPr bwMode="auto">
          <a:xfrm>
            <a:off x="1357291" y="2571744"/>
            <a:ext cx="3000395" cy="3071834"/>
          </a:xfrm>
          <a:prstGeom prst="rect">
            <a:avLst/>
          </a:prstGeom>
          <a:noFill/>
          <a:ln w="9525">
            <a:noFill/>
            <a:miter lim="800000"/>
            <a:headEnd/>
            <a:tailEnd/>
          </a:ln>
          <a:effectLst/>
        </p:spPr>
      </p:pic>
      <p:sp>
        <p:nvSpPr>
          <p:cNvPr id="61" name="TextBox 60"/>
          <p:cNvSpPr txBox="1"/>
          <p:nvPr/>
        </p:nvSpPr>
        <p:spPr>
          <a:xfrm>
            <a:off x="3929058" y="2571744"/>
            <a:ext cx="4786346" cy="3773341"/>
          </a:xfrm>
          <a:prstGeom prst="rect">
            <a:avLst/>
          </a:prstGeom>
          <a:noFill/>
          <a:ln w="28575">
            <a:noFill/>
          </a:ln>
        </p:spPr>
        <p:txBody>
          <a:bodyPr wrap="square" rtlCol="0">
            <a:spAutoFit/>
          </a:bodyPr>
          <a:lstStyle/>
          <a:p>
            <a:pPr marL="803275" indent="-177800">
              <a:lnSpc>
                <a:spcPct val="130000"/>
              </a:lnSpc>
            </a:pPr>
            <a:r>
              <a:rPr lang="en-US" altLang="zh-CN" sz="2000" b="1"/>
              <a:t>1 </a:t>
            </a:r>
            <a:r>
              <a:rPr lang="zh-CN" altLang="en-US" sz="2000" b="1"/>
              <a:t>能否与基础脱离，直接分析内部？</a:t>
            </a:r>
            <a:endParaRPr lang="en-US" altLang="zh-CN" sz="2000" b="1"/>
          </a:p>
          <a:p>
            <a:pPr marL="803275" indent="-177800">
              <a:lnSpc>
                <a:spcPct val="130000"/>
              </a:lnSpc>
            </a:pPr>
            <a:r>
              <a:rPr lang="en-US" altLang="zh-CN" sz="2000" b="1"/>
              <a:t>   </a:t>
            </a:r>
            <a:r>
              <a:rPr lang="zh-CN" altLang="en-US" sz="2000" b="1">
                <a:solidFill>
                  <a:srgbClr val="C00000"/>
                </a:solidFill>
              </a:rPr>
              <a:t>能</a:t>
            </a:r>
            <a:endParaRPr lang="en-US" altLang="zh-CN" sz="2000" b="1">
              <a:solidFill>
                <a:srgbClr val="C00000"/>
              </a:solidFill>
            </a:endParaRPr>
          </a:p>
          <a:p>
            <a:pPr marL="803275" indent="-177800">
              <a:lnSpc>
                <a:spcPct val="130000"/>
              </a:lnSpc>
            </a:pPr>
            <a:r>
              <a:rPr lang="en-US" altLang="zh-CN" sz="2000" b="1"/>
              <a:t>2 </a:t>
            </a:r>
            <a:r>
              <a:rPr lang="zh-CN" altLang="en-US" sz="2000" b="1"/>
              <a:t>能否运用两刚片规则？</a:t>
            </a:r>
            <a:endParaRPr lang="en-US" altLang="zh-CN" sz="2000" b="1"/>
          </a:p>
          <a:p>
            <a:pPr marL="803275" indent="-177800">
              <a:lnSpc>
                <a:spcPct val="130000"/>
              </a:lnSpc>
            </a:pPr>
            <a:r>
              <a:rPr lang="en-US" altLang="zh-CN" sz="2000" b="1"/>
              <a:t>   </a:t>
            </a:r>
            <a:r>
              <a:rPr lang="zh-CN" altLang="en-US" sz="2000" b="1">
                <a:solidFill>
                  <a:srgbClr val="C00000"/>
                </a:solidFill>
              </a:rPr>
              <a:t>不能</a:t>
            </a:r>
            <a:endParaRPr lang="en-US" altLang="zh-CN" sz="2000" b="1">
              <a:solidFill>
                <a:srgbClr val="C00000"/>
              </a:solidFill>
            </a:endParaRPr>
          </a:p>
          <a:p>
            <a:pPr marL="803275" indent="-177800">
              <a:lnSpc>
                <a:spcPct val="130000"/>
              </a:lnSpc>
            </a:pPr>
            <a:r>
              <a:rPr lang="en-US" altLang="zh-CN" sz="2000" b="1"/>
              <a:t>3 </a:t>
            </a:r>
            <a:r>
              <a:rPr lang="zh-CN" altLang="en-US" sz="2000" b="1"/>
              <a:t>能否运用三刚片规则？</a:t>
            </a:r>
            <a:endParaRPr lang="en-US" altLang="zh-CN" sz="2000" b="1"/>
          </a:p>
          <a:p>
            <a:pPr marL="803275" indent="-177800">
              <a:lnSpc>
                <a:spcPct val="130000"/>
              </a:lnSpc>
            </a:pPr>
            <a:r>
              <a:rPr lang="en-US" altLang="zh-CN" sz="2000" b="1"/>
              <a:t>   </a:t>
            </a:r>
            <a:r>
              <a:rPr lang="zh-CN" altLang="en-US" sz="2000" b="1">
                <a:solidFill>
                  <a:srgbClr val="C00000"/>
                </a:solidFill>
              </a:rPr>
              <a:t>不能？</a:t>
            </a:r>
            <a:endParaRPr lang="en-US" altLang="zh-CN" sz="2000" b="1">
              <a:solidFill>
                <a:srgbClr val="C00000"/>
              </a:solidFill>
            </a:endParaRPr>
          </a:p>
          <a:p>
            <a:pPr>
              <a:lnSpc>
                <a:spcPct val="130000"/>
              </a:lnSpc>
            </a:pPr>
            <a:endParaRPr lang="en-US" altLang="zh-CN" sz="2000" b="1">
              <a:solidFill>
                <a:srgbClr val="C00000"/>
              </a:solidFill>
            </a:endParaRPr>
          </a:p>
          <a:p>
            <a:pPr>
              <a:lnSpc>
                <a:spcPct val="130000"/>
              </a:lnSpc>
            </a:pPr>
            <a:endParaRPr lang="en-US" altLang="zh-CN" sz="2000" b="1">
              <a:solidFill>
                <a:srgbClr val="C00000"/>
              </a:solidFill>
            </a:endParaRPr>
          </a:p>
          <a:p>
            <a:pPr>
              <a:lnSpc>
                <a:spcPct val="130000"/>
              </a:lnSpc>
            </a:pPr>
            <a:r>
              <a:rPr lang="zh-CN" altLang="en-US" sz="2400" b="1">
                <a:solidFill>
                  <a:srgbClr val="C00000"/>
                </a:solidFill>
              </a:rPr>
              <a:t>怎么办？</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1">
                                            <p:txEl>
                                              <p:pRg st="0" end="0"/>
                                            </p:txEl>
                                          </p:spTgt>
                                        </p:tgtEl>
                                        <p:attrNameLst>
                                          <p:attrName>style.visibility</p:attrName>
                                        </p:attrNameLst>
                                      </p:cBhvr>
                                      <p:to>
                                        <p:strVal val="visible"/>
                                      </p:to>
                                    </p:set>
                                    <p:animEffect transition="in" filter="wipe(down)">
                                      <p:cBhvr>
                                        <p:cTn id="7" dur="500"/>
                                        <p:tgtEl>
                                          <p:spTgt spid="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1">
                                            <p:txEl>
                                              <p:pRg st="1" end="1"/>
                                            </p:txEl>
                                          </p:spTgt>
                                        </p:tgtEl>
                                        <p:attrNameLst>
                                          <p:attrName>style.visibility</p:attrName>
                                        </p:attrNameLst>
                                      </p:cBhvr>
                                      <p:to>
                                        <p:strVal val="visible"/>
                                      </p:to>
                                    </p:set>
                                    <p:animEffect transition="in" filter="wipe(down)">
                                      <p:cBhvr>
                                        <p:cTn id="12" dur="500"/>
                                        <p:tgtEl>
                                          <p:spTgt spid="6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1">
                                            <p:txEl>
                                              <p:pRg st="2" end="2"/>
                                            </p:txEl>
                                          </p:spTgt>
                                        </p:tgtEl>
                                        <p:attrNameLst>
                                          <p:attrName>style.visibility</p:attrName>
                                        </p:attrNameLst>
                                      </p:cBhvr>
                                      <p:to>
                                        <p:strVal val="visible"/>
                                      </p:to>
                                    </p:set>
                                    <p:animEffect transition="in" filter="wipe(down)">
                                      <p:cBhvr>
                                        <p:cTn id="17" dur="500"/>
                                        <p:tgtEl>
                                          <p:spTgt spid="6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1">
                                            <p:txEl>
                                              <p:pRg st="3" end="3"/>
                                            </p:txEl>
                                          </p:spTgt>
                                        </p:tgtEl>
                                        <p:attrNameLst>
                                          <p:attrName>style.visibility</p:attrName>
                                        </p:attrNameLst>
                                      </p:cBhvr>
                                      <p:to>
                                        <p:strVal val="visible"/>
                                      </p:to>
                                    </p:set>
                                    <p:animEffect transition="in" filter="wipe(down)">
                                      <p:cBhvr>
                                        <p:cTn id="22" dur="500"/>
                                        <p:tgtEl>
                                          <p:spTgt spid="6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1">
                                            <p:txEl>
                                              <p:pRg st="4" end="4"/>
                                            </p:txEl>
                                          </p:spTgt>
                                        </p:tgtEl>
                                        <p:attrNameLst>
                                          <p:attrName>style.visibility</p:attrName>
                                        </p:attrNameLst>
                                      </p:cBhvr>
                                      <p:to>
                                        <p:strVal val="visible"/>
                                      </p:to>
                                    </p:set>
                                    <p:animEffect transition="in" filter="wipe(down)">
                                      <p:cBhvr>
                                        <p:cTn id="27" dur="500"/>
                                        <p:tgtEl>
                                          <p:spTgt spid="6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1">
                                            <p:txEl>
                                              <p:pRg st="5" end="5"/>
                                            </p:txEl>
                                          </p:spTgt>
                                        </p:tgtEl>
                                        <p:attrNameLst>
                                          <p:attrName>style.visibility</p:attrName>
                                        </p:attrNameLst>
                                      </p:cBhvr>
                                      <p:to>
                                        <p:strVal val="visible"/>
                                      </p:to>
                                    </p:set>
                                    <p:animEffect transition="in" filter="wipe(down)">
                                      <p:cBhvr>
                                        <p:cTn id="32" dur="500"/>
                                        <p:tgtEl>
                                          <p:spTgt spid="6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1">
                                            <p:txEl>
                                              <p:pRg st="8" end="8"/>
                                            </p:txEl>
                                          </p:spTgt>
                                        </p:tgtEl>
                                        <p:attrNameLst>
                                          <p:attrName>style.visibility</p:attrName>
                                        </p:attrNameLst>
                                      </p:cBhvr>
                                      <p:to>
                                        <p:strVal val="visible"/>
                                      </p:to>
                                    </p:set>
                                    <p:animEffect transition="in" filter="wipe(down)">
                                      <p:cBhvr>
                                        <p:cTn id="37" dur="500"/>
                                        <p:tgtEl>
                                          <p:spTgt spid="6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1" algn="r"/>
            <a:r>
              <a:rPr lang="zh-CN" altLang="en-US" sz="3600"/>
              <a:t>几何构造分析示例</a:t>
            </a:r>
            <a:endParaRPr lang="zh-CN" altLang="en-US" sz="3600" dirty="0"/>
          </a:p>
        </p:txBody>
      </p:sp>
      <p:sp>
        <p:nvSpPr>
          <p:cNvPr id="3" name="内容占位符 2"/>
          <p:cNvSpPr>
            <a:spLocks noGrp="1"/>
          </p:cNvSpPr>
          <p:nvPr>
            <p:ph idx="1"/>
          </p:nvPr>
        </p:nvSpPr>
        <p:spPr>
          <a:xfrm>
            <a:off x="468313" y="1268413"/>
            <a:ext cx="8175653" cy="1017579"/>
          </a:xfrm>
          <a:ln>
            <a:noFill/>
          </a:ln>
        </p:spPr>
        <p:txBody>
          <a:bodyPr/>
          <a:lstStyle/>
          <a:p>
            <a:pPr lvl="0"/>
            <a:r>
              <a:rPr lang="zh-CN" altLang="en-US"/>
              <a:t>示例</a:t>
            </a:r>
            <a:endParaRPr lang="en-US" altLang="zh-CN"/>
          </a:p>
          <a:p>
            <a:pPr lvl="1">
              <a:lnSpc>
                <a:spcPct val="150000"/>
              </a:lnSpc>
              <a:spcBef>
                <a:spcPts val="0"/>
              </a:spcBef>
            </a:pPr>
            <a:r>
              <a:rPr lang="zh-CN" altLang="en-US"/>
              <a:t>例：对图示体系作几何构造分析    </a:t>
            </a: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sp>
        <p:nvSpPr>
          <p:cNvPr id="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grpSp>
        <p:nvGrpSpPr>
          <p:cNvPr id="47" name="组合 46"/>
          <p:cNvGrpSpPr/>
          <p:nvPr/>
        </p:nvGrpSpPr>
        <p:grpSpPr>
          <a:xfrm>
            <a:off x="1071538" y="2214554"/>
            <a:ext cx="3415376" cy="3111818"/>
            <a:chOff x="1071538" y="2214554"/>
            <a:chExt cx="3415376" cy="3111818"/>
          </a:xfrm>
        </p:grpSpPr>
        <p:pic>
          <p:nvPicPr>
            <p:cNvPr id="222210" name="Picture 2"/>
            <p:cNvPicPr>
              <a:picLocks noChangeAspect="1" noChangeArrowheads="1"/>
            </p:cNvPicPr>
            <p:nvPr/>
          </p:nvPicPr>
          <p:blipFill>
            <a:blip r:embed="rId3" cstate="print"/>
            <a:srcRect/>
            <a:stretch>
              <a:fillRect/>
            </a:stretch>
          </p:blipFill>
          <p:spPr bwMode="auto">
            <a:xfrm>
              <a:off x="1071538" y="2214554"/>
              <a:ext cx="3111818" cy="3111818"/>
            </a:xfrm>
            <a:prstGeom prst="rect">
              <a:avLst/>
            </a:prstGeom>
            <a:noFill/>
            <a:ln w="9525">
              <a:noFill/>
              <a:miter lim="800000"/>
              <a:headEnd/>
              <a:tailEnd/>
            </a:ln>
            <a:effectLst/>
          </p:spPr>
        </p:pic>
        <p:cxnSp>
          <p:nvCxnSpPr>
            <p:cNvPr id="9" name="直接连接符 8"/>
            <p:cNvCxnSpPr/>
            <p:nvPr/>
          </p:nvCxnSpPr>
          <p:spPr bwMode="auto">
            <a:xfrm rot="5400000" flipH="1" flipV="1">
              <a:off x="392877" y="3464719"/>
              <a:ext cx="2428892" cy="500066"/>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13" name="直接连接符 12"/>
            <p:cNvCxnSpPr/>
            <p:nvPr/>
          </p:nvCxnSpPr>
          <p:spPr bwMode="auto">
            <a:xfrm rot="5400000" flipH="1" flipV="1">
              <a:off x="2964645" y="3464719"/>
              <a:ext cx="2428892" cy="500066"/>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15" name="直接连接符 14"/>
            <p:cNvCxnSpPr/>
            <p:nvPr/>
          </p:nvCxnSpPr>
          <p:spPr bwMode="auto">
            <a:xfrm>
              <a:off x="1857356" y="2500306"/>
              <a:ext cx="2571768" cy="1588"/>
            </a:xfrm>
            <a:prstGeom prst="line">
              <a:avLst/>
            </a:prstGeom>
            <a:solidFill>
              <a:schemeClr val="accent1"/>
            </a:solidFill>
            <a:ln w="38100" cap="flat" cmpd="sng" algn="ctr">
              <a:solidFill>
                <a:srgbClr val="00B050"/>
              </a:solidFill>
              <a:prstDash val="solid"/>
              <a:round/>
              <a:headEnd type="none" w="med" len="med"/>
              <a:tailEnd type="none" w="med" len="med"/>
            </a:ln>
            <a:effectLst/>
          </p:spPr>
        </p:cxnSp>
        <p:sp>
          <p:nvSpPr>
            <p:cNvPr id="17" name="椭圆 16"/>
            <p:cNvSpPr>
              <a:spLocks noChangeAspect="1"/>
            </p:cNvSpPr>
            <p:nvPr/>
          </p:nvSpPr>
          <p:spPr bwMode="auto">
            <a:xfrm>
              <a:off x="1815133" y="2456165"/>
              <a:ext cx="100013" cy="100013"/>
            </a:xfrm>
            <a:prstGeom prst="ellipse">
              <a:avLst/>
            </a:prstGeom>
            <a:solidFill>
              <a:schemeClr val="bg1"/>
            </a:solid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18" name="椭圆 17"/>
            <p:cNvSpPr>
              <a:spLocks noChangeAspect="1"/>
            </p:cNvSpPr>
            <p:nvPr/>
          </p:nvSpPr>
          <p:spPr bwMode="auto">
            <a:xfrm>
              <a:off x="4386901" y="2456164"/>
              <a:ext cx="100013" cy="100013"/>
            </a:xfrm>
            <a:prstGeom prst="ellipse">
              <a:avLst/>
            </a:prstGeom>
            <a:solidFill>
              <a:schemeClr val="bg1"/>
            </a:solid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grpSp>
        <p:nvGrpSpPr>
          <p:cNvPr id="48" name="组合 47"/>
          <p:cNvGrpSpPr/>
          <p:nvPr/>
        </p:nvGrpSpPr>
        <p:grpSpPr>
          <a:xfrm>
            <a:off x="4929190" y="2285992"/>
            <a:ext cx="3629690" cy="3071834"/>
            <a:chOff x="4929190" y="2285992"/>
            <a:chExt cx="3629690" cy="3071834"/>
          </a:xfrm>
        </p:grpSpPr>
        <p:pic>
          <p:nvPicPr>
            <p:cNvPr id="60" name="Picture 4"/>
            <p:cNvPicPr>
              <a:picLocks noChangeAspect="1" noChangeArrowheads="1"/>
            </p:cNvPicPr>
            <p:nvPr/>
          </p:nvPicPr>
          <p:blipFill>
            <a:blip r:embed="rId4" cstate="print"/>
            <a:srcRect t="3399"/>
            <a:stretch>
              <a:fillRect/>
            </a:stretch>
          </p:blipFill>
          <p:spPr bwMode="auto">
            <a:xfrm>
              <a:off x="5214942" y="2285992"/>
              <a:ext cx="3000395" cy="3071834"/>
            </a:xfrm>
            <a:prstGeom prst="rect">
              <a:avLst/>
            </a:prstGeom>
            <a:noFill/>
            <a:ln w="9525">
              <a:noFill/>
              <a:miter lim="800000"/>
              <a:headEnd/>
              <a:tailEnd/>
            </a:ln>
            <a:effectLst/>
          </p:spPr>
        </p:pic>
        <p:grpSp>
          <p:nvGrpSpPr>
            <p:cNvPr id="31" name="组合 30"/>
            <p:cNvGrpSpPr/>
            <p:nvPr/>
          </p:nvGrpSpPr>
          <p:grpSpPr>
            <a:xfrm>
              <a:off x="5429256" y="2500306"/>
              <a:ext cx="3129624" cy="2473034"/>
              <a:chOff x="1509690" y="2894316"/>
              <a:chExt cx="3129624" cy="2473034"/>
            </a:xfrm>
          </p:grpSpPr>
          <p:cxnSp>
            <p:nvCxnSpPr>
              <p:cNvPr id="25" name="直接连接符 24"/>
              <p:cNvCxnSpPr/>
              <p:nvPr/>
            </p:nvCxnSpPr>
            <p:spPr bwMode="auto">
              <a:xfrm rot="5400000" flipH="1" flipV="1">
                <a:off x="545277" y="3902871"/>
                <a:ext cx="2428892" cy="500066"/>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26" name="直接连接符 25"/>
              <p:cNvCxnSpPr/>
              <p:nvPr/>
            </p:nvCxnSpPr>
            <p:spPr bwMode="auto">
              <a:xfrm rot="5400000" flipH="1" flipV="1">
                <a:off x="3117045" y="3902871"/>
                <a:ext cx="2428892" cy="500066"/>
              </a:xfrm>
              <a:prstGeom prst="line">
                <a:avLst/>
              </a:prstGeom>
              <a:solidFill>
                <a:schemeClr val="accent1"/>
              </a:solidFill>
              <a:ln w="38100" cap="flat" cmpd="sng" algn="ctr">
                <a:solidFill>
                  <a:srgbClr val="00B050"/>
                </a:solidFill>
                <a:prstDash val="solid"/>
                <a:round/>
                <a:headEnd type="none" w="med" len="med"/>
                <a:tailEnd type="none" w="med" len="med"/>
              </a:ln>
              <a:effectLst/>
            </p:spPr>
          </p:cxnSp>
          <p:cxnSp>
            <p:nvCxnSpPr>
              <p:cNvPr id="27" name="直接连接符 26"/>
              <p:cNvCxnSpPr/>
              <p:nvPr/>
            </p:nvCxnSpPr>
            <p:spPr bwMode="auto">
              <a:xfrm>
                <a:off x="2009756" y="2938458"/>
                <a:ext cx="2571768" cy="1588"/>
              </a:xfrm>
              <a:prstGeom prst="line">
                <a:avLst/>
              </a:prstGeom>
              <a:solidFill>
                <a:schemeClr val="accent1"/>
              </a:solidFill>
              <a:ln w="38100" cap="flat" cmpd="sng" algn="ctr">
                <a:solidFill>
                  <a:srgbClr val="00B050"/>
                </a:solidFill>
                <a:prstDash val="solid"/>
                <a:round/>
                <a:headEnd type="none" w="med" len="med"/>
                <a:tailEnd type="none" w="med" len="med"/>
              </a:ln>
              <a:effectLst/>
            </p:spPr>
          </p:cxnSp>
          <p:sp>
            <p:nvSpPr>
              <p:cNvPr id="28" name="椭圆 27"/>
              <p:cNvSpPr>
                <a:spLocks noChangeAspect="1"/>
              </p:cNvSpPr>
              <p:nvPr/>
            </p:nvSpPr>
            <p:spPr bwMode="auto">
              <a:xfrm>
                <a:off x="1967533" y="2894317"/>
                <a:ext cx="100013" cy="100013"/>
              </a:xfrm>
              <a:prstGeom prst="ellipse">
                <a:avLst/>
              </a:prstGeom>
              <a:solidFill>
                <a:schemeClr val="bg1"/>
              </a:solid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29" name="椭圆 28"/>
              <p:cNvSpPr>
                <a:spLocks noChangeAspect="1"/>
              </p:cNvSpPr>
              <p:nvPr/>
            </p:nvSpPr>
            <p:spPr bwMode="auto">
              <a:xfrm>
                <a:off x="4539301" y="2894316"/>
                <a:ext cx="100013" cy="100013"/>
              </a:xfrm>
              <a:prstGeom prst="ellipse">
                <a:avLst/>
              </a:prstGeom>
              <a:solidFill>
                <a:schemeClr val="bg1"/>
              </a:solid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cxnSp>
          <p:nvCxnSpPr>
            <p:cNvPr id="33" name="直接连接符 32"/>
            <p:cNvCxnSpPr/>
            <p:nvPr/>
          </p:nvCxnSpPr>
          <p:spPr bwMode="auto">
            <a:xfrm>
              <a:off x="5715008" y="3786190"/>
              <a:ext cx="1214446" cy="1588"/>
            </a:xfrm>
            <a:prstGeom prst="line">
              <a:avLst/>
            </a:prstGeom>
            <a:solidFill>
              <a:schemeClr val="accent1"/>
            </a:solidFill>
            <a:ln w="38100" cap="flat" cmpd="sng" algn="ctr">
              <a:solidFill>
                <a:srgbClr val="00B050"/>
              </a:solidFill>
              <a:prstDash val="solid"/>
              <a:round/>
              <a:headEnd type="none" w="med" len="med"/>
              <a:tailEnd type="none" w="med" len="med"/>
            </a:ln>
            <a:effectLst/>
          </p:spPr>
        </p:cxnSp>
        <p:sp>
          <p:nvSpPr>
            <p:cNvPr id="34" name="椭圆 33"/>
            <p:cNvSpPr>
              <a:spLocks noChangeAspect="1"/>
            </p:cNvSpPr>
            <p:nvPr/>
          </p:nvSpPr>
          <p:spPr bwMode="auto">
            <a:xfrm>
              <a:off x="5701360" y="3728400"/>
              <a:ext cx="100013" cy="100013"/>
            </a:xfrm>
            <a:prstGeom prst="ellipse">
              <a:avLst/>
            </a:prstGeom>
            <a:solidFill>
              <a:schemeClr val="bg1"/>
            </a:solid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cxnSp>
          <p:nvCxnSpPr>
            <p:cNvPr id="36" name="直接连接符 35"/>
            <p:cNvCxnSpPr/>
            <p:nvPr/>
          </p:nvCxnSpPr>
          <p:spPr bwMode="auto">
            <a:xfrm rot="5400000" flipH="1" flipV="1">
              <a:off x="6250793" y="4250537"/>
              <a:ext cx="1143008" cy="214314"/>
            </a:xfrm>
            <a:prstGeom prst="line">
              <a:avLst/>
            </a:prstGeom>
            <a:solidFill>
              <a:schemeClr val="accent1"/>
            </a:solidFill>
            <a:ln w="38100" cap="flat" cmpd="sng" algn="ctr">
              <a:solidFill>
                <a:srgbClr val="00B050"/>
              </a:solidFill>
              <a:prstDash val="solid"/>
              <a:round/>
              <a:headEnd type="none" w="med" len="med"/>
              <a:tailEnd type="none" w="med" len="med"/>
            </a:ln>
            <a:effectLst/>
          </p:spPr>
        </p:cxnSp>
        <p:sp>
          <p:nvSpPr>
            <p:cNvPr id="38" name="椭圆 37"/>
            <p:cNvSpPr>
              <a:spLocks noChangeAspect="1"/>
            </p:cNvSpPr>
            <p:nvPr/>
          </p:nvSpPr>
          <p:spPr bwMode="auto">
            <a:xfrm>
              <a:off x="6873583" y="3743967"/>
              <a:ext cx="100013" cy="100013"/>
            </a:xfrm>
            <a:prstGeom prst="ellipse">
              <a:avLst/>
            </a:prstGeom>
            <a:solidFill>
              <a:schemeClr val="bg1"/>
            </a:solid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39" name="TextBox 38"/>
            <p:cNvSpPr txBox="1"/>
            <p:nvPr/>
          </p:nvSpPr>
          <p:spPr>
            <a:xfrm>
              <a:off x="4929190" y="3286124"/>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A</a:t>
              </a:r>
              <a:endParaRPr lang="zh-CN" altLang="en-US" sz="2000" b="1" i="1">
                <a:latin typeface="Times New Roman" pitchFamily="18" charset="0"/>
                <a:cs typeface="Times New Roman" pitchFamily="18" charset="0"/>
              </a:endParaRPr>
            </a:p>
          </p:txBody>
        </p:sp>
        <p:sp>
          <p:nvSpPr>
            <p:cNvPr id="40" name="TextBox 39"/>
            <p:cNvSpPr txBox="1"/>
            <p:nvPr/>
          </p:nvSpPr>
          <p:spPr>
            <a:xfrm>
              <a:off x="6286512" y="3286124"/>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B</a:t>
              </a:r>
              <a:endParaRPr lang="zh-CN" altLang="en-US" sz="2000" b="1" i="1">
                <a:latin typeface="Times New Roman" pitchFamily="18" charset="0"/>
                <a:cs typeface="Times New Roman" pitchFamily="18" charset="0"/>
              </a:endParaRPr>
            </a:p>
          </p:txBody>
        </p:sp>
        <p:sp>
          <p:nvSpPr>
            <p:cNvPr id="41" name="TextBox 40"/>
            <p:cNvSpPr txBox="1"/>
            <p:nvPr/>
          </p:nvSpPr>
          <p:spPr>
            <a:xfrm>
              <a:off x="7573398" y="2857496"/>
              <a:ext cx="356188" cy="400110"/>
            </a:xfrm>
            <a:prstGeom prst="rect">
              <a:avLst/>
            </a:prstGeom>
            <a:noFill/>
            <a:ln w="28575">
              <a:noFill/>
            </a:ln>
          </p:spPr>
          <p:txBody>
            <a:bodyPr wrap="none" rtlCol="0">
              <a:spAutoFit/>
            </a:bodyPr>
            <a:lstStyle/>
            <a:p>
              <a:r>
                <a:rPr lang="en-US" altLang="zh-CN" sz="2000" b="1" i="1">
                  <a:latin typeface="Times New Roman" pitchFamily="18" charset="0"/>
                  <a:cs typeface="Times New Roman" pitchFamily="18" charset="0"/>
                </a:rPr>
                <a:t>C</a:t>
              </a:r>
              <a:endParaRPr lang="zh-CN" altLang="en-US" sz="2000" b="1" i="1">
                <a:latin typeface="Times New Roman" pitchFamily="18" charset="0"/>
                <a:cs typeface="Times New Roman" pitchFamily="18" charset="0"/>
              </a:endParaRPr>
            </a:p>
          </p:txBody>
        </p:sp>
        <p:sp>
          <p:nvSpPr>
            <p:cNvPr id="42" name="椭圆 41"/>
            <p:cNvSpPr>
              <a:spLocks noChangeAspect="1"/>
            </p:cNvSpPr>
            <p:nvPr/>
          </p:nvSpPr>
          <p:spPr bwMode="auto">
            <a:xfrm>
              <a:off x="8214059" y="3340716"/>
              <a:ext cx="100013" cy="100013"/>
            </a:xfrm>
            <a:prstGeom prst="ellipse">
              <a:avLst/>
            </a:prstGeom>
            <a:solidFill>
              <a:schemeClr val="bg1"/>
            </a:solid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cxnSp>
          <p:nvCxnSpPr>
            <p:cNvPr id="44" name="直接连接符 43"/>
            <p:cNvCxnSpPr>
              <a:stCxn id="38" idx="7"/>
              <a:endCxn id="42" idx="2"/>
            </p:cNvCxnSpPr>
            <p:nvPr/>
          </p:nvCxnSpPr>
          <p:spPr bwMode="auto">
            <a:xfrm rot="5400000" flipH="1" flipV="1">
              <a:off x="7402559" y="2947114"/>
              <a:ext cx="367891" cy="1255110"/>
            </a:xfrm>
            <a:prstGeom prst="line">
              <a:avLst/>
            </a:prstGeom>
            <a:solidFill>
              <a:schemeClr val="accent1"/>
            </a:solidFill>
            <a:ln w="38100" cap="flat" cmpd="sng" algn="ctr">
              <a:solidFill>
                <a:srgbClr val="00B050"/>
              </a:solidFill>
              <a:prstDash val="solid"/>
              <a:round/>
              <a:headEnd type="none" w="med" len="med"/>
              <a:tailEnd type="none" w="med" len="med"/>
            </a:ln>
            <a:effectLst/>
          </p:spPr>
        </p:cxnSp>
      </p:grpSp>
      <p:sp>
        <p:nvSpPr>
          <p:cNvPr id="46" name="TextBox 45"/>
          <p:cNvSpPr txBox="1"/>
          <p:nvPr/>
        </p:nvSpPr>
        <p:spPr>
          <a:xfrm>
            <a:off x="1071538" y="5357826"/>
            <a:ext cx="8072462" cy="1292662"/>
          </a:xfrm>
          <a:prstGeom prst="rect">
            <a:avLst/>
          </a:prstGeom>
          <a:noFill/>
          <a:ln w="28575">
            <a:noFill/>
          </a:ln>
        </p:spPr>
        <p:txBody>
          <a:bodyPr wrap="square" rtlCol="0">
            <a:spAutoFit/>
          </a:bodyPr>
          <a:lstStyle/>
          <a:p>
            <a:pPr marL="177800" indent="-177800">
              <a:lnSpc>
                <a:spcPct val="130000"/>
              </a:lnSpc>
            </a:pPr>
            <a:r>
              <a:rPr lang="en-US" altLang="zh-CN" sz="2000" b="1"/>
              <a:t>1 </a:t>
            </a:r>
            <a:r>
              <a:rPr lang="zh-CN" altLang="en-US" sz="2000" b="1"/>
              <a:t>微小位移下   </a:t>
            </a:r>
            <a:r>
              <a:rPr lang="en-US" altLang="zh-CN" sz="2000" b="1"/>
              <a:t>A</a:t>
            </a:r>
            <a:r>
              <a:rPr lang="zh-CN" altLang="en-US" sz="2000" b="1"/>
              <a:t>点水平位移 </a:t>
            </a:r>
            <a:r>
              <a:rPr lang="en-US" altLang="zh-CN" sz="2000" b="1"/>
              <a:t>= B</a:t>
            </a:r>
            <a:r>
              <a:rPr lang="zh-CN" altLang="en-US" sz="2000" b="1"/>
              <a:t>点水平位移</a:t>
            </a:r>
            <a:r>
              <a:rPr lang="en-US" altLang="zh-CN" sz="2000" b="1"/>
              <a:t>&lt;C</a:t>
            </a:r>
            <a:r>
              <a:rPr lang="zh-CN" altLang="en-US" sz="2000" b="1"/>
              <a:t>点水平位移</a:t>
            </a:r>
            <a:endParaRPr lang="en-US" altLang="zh-CN" sz="2000" b="1"/>
          </a:p>
          <a:p>
            <a:pPr marL="177800" indent="-177800">
              <a:lnSpc>
                <a:spcPct val="130000"/>
              </a:lnSpc>
            </a:pPr>
            <a:r>
              <a:rPr lang="en-US" altLang="zh-CN" sz="2000" b="1"/>
              <a:t> (</a:t>
            </a:r>
            <a:r>
              <a:rPr lang="zh-CN" altLang="en-US" sz="2000" b="1"/>
              <a:t>竖直位移可略</a:t>
            </a:r>
            <a:r>
              <a:rPr lang="en-US" altLang="zh-CN" sz="2000" b="1"/>
              <a:t>)         → BC</a:t>
            </a:r>
            <a:r>
              <a:rPr lang="zh-CN" altLang="en-US" sz="2000" b="1"/>
              <a:t>杆将被拉伸</a:t>
            </a:r>
            <a:endParaRPr lang="en-US" altLang="zh-CN" sz="2000" b="1"/>
          </a:p>
          <a:p>
            <a:pPr marL="177800" indent="-177800">
              <a:lnSpc>
                <a:spcPct val="130000"/>
              </a:lnSpc>
            </a:pPr>
            <a:r>
              <a:rPr lang="en-US" altLang="zh-CN" sz="2000" b="1"/>
              <a:t>2 BC</a:t>
            </a:r>
            <a:r>
              <a:rPr lang="zh-CN" altLang="en-US" sz="2000" b="1"/>
              <a:t>杆限制了体系唯一可能位移。</a:t>
            </a:r>
            <a:endParaRPr lang="en-US" altLang="zh-CN" sz="2000" b="1">
              <a:solidFill>
                <a:srgbClr val="C00000"/>
              </a:solidFill>
            </a:endParaRPr>
          </a:p>
        </p:txBody>
      </p:sp>
      <p:sp>
        <p:nvSpPr>
          <p:cNvPr id="49" name="Text Box 29"/>
          <p:cNvSpPr txBox="1">
            <a:spLocks noChangeArrowheads="1"/>
          </p:cNvSpPr>
          <p:nvPr/>
        </p:nvSpPr>
        <p:spPr bwMode="auto">
          <a:xfrm>
            <a:off x="6072198" y="1785926"/>
            <a:ext cx="1643074" cy="400110"/>
          </a:xfrm>
          <a:prstGeom prst="rect">
            <a:avLst/>
          </a:prstGeom>
          <a:noFill/>
          <a:ln w="28575">
            <a:solidFill>
              <a:srgbClr val="C00000"/>
            </a:solidFill>
            <a:miter lim="800000"/>
            <a:headEnd/>
            <a:tailEnd/>
          </a:ln>
          <a:effectLst/>
        </p:spPr>
        <p:txBody>
          <a:bodyPr wrap="square">
            <a:spAutoFit/>
          </a:bodyPr>
          <a:lstStyle/>
          <a:p>
            <a:pPr algn="ctr">
              <a:defRPr/>
            </a:pPr>
            <a:r>
              <a:rPr lang="zh-CN" altLang="en-US" sz="2000" b="1">
                <a:solidFill>
                  <a:srgbClr val="C00000"/>
                </a:solidFill>
                <a:latin typeface="+mn-ea"/>
                <a:cs typeface="+mn-cs"/>
              </a:rPr>
              <a:t>几何不变</a:t>
            </a:r>
          </a:p>
        </p:txBody>
      </p:sp>
      <p:sp>
        <p:nvSpPr>
          <p:cNvPr id="50" name="Text Box 29"/>
          <p:cNvSpPr txBox="1">
            <a:spLocks noChangeArrowheads="1"/>
          </p:cNvSpPr>
          <p:nvPr/>
        </p:nvSpPr>
        <p:spPr bwMode="auto">
          <a:xfrm>
            <a:off x="6072198" y="6072206"/>
            <a:ext cx="2000264" cy="400110"/>
          </a:xfrm>
          <a:prstGeom prst="rect">
            <a:avLst/>
          </a:prstGeom>
          <a:noFill/>
          <a:ln w="28575">
            <a:noFill/>
            <a:miter lim="800000"/>
            <a:headEnd/>
            <a:tailEnd/>
          </a:ln>
          <a:effectLst/>
        </p:spPr>
        <p:txBody>
          <a:bodyPr wrap="square">
            <a:spAutoFit/>
          </a:bodyPr>
          <a:lstStyle/>
          <a:p>
            <a:pPr algn="ctr">
              <a:defRPr/>
            </a:pPr>
            <a:r>
              <a:rPr lang="zh-CN" altLang="en-US" sz="2000" b="1">
                <a:solidFill>
                  <a:srgbClr val="C00000"/>
                </a:solidFill>
                <a:latin typeface="+mn-ea"/>
                <a:cs typeface="+mn-cs"/>
              </a:rPr>
              <a:t>有无多余约束？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20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20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6">
                                            <p:txEl>
                                              <p:pRg st="0" end="0"/>
                                            </p:txEl>
                                          </p:spTgt>
                                        </p:tgtEl>
                                        <p:attrNameLst>
                                          <p:attrName>style.visibility</p:attrName>
                                        </p:attrNameLst>
                                      </p:cBhvr>
                                      <p:to>
                                        <p:strVal val="visible"/>
                                      </p:to>
                                    </p:set>
                                    <p:animEffect transition="in" filter="wipe(down)">
                                      <p:cBhvr>
                                        <p:cTn id="17" dur="500"/>
                                        <p:tgtEl>
                                          <p:spTgt spid="4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6">
                                            <p:txEl>
                                              <p:pRg st="1" end="1"/>
                                            </p:txEl>
                                          </p:spTgt>
                                        </p:tgtEl>
                                        <p:attrNameLst>
                                          <p:attrName>style.visibility</p:attrName>
                                        </p:attrNameLst>
                                      </p:cBhvr>
                                      <p:to>
                                        <p:strVal val="visible"/>
                                      </p:to>
                                    </p:set>
                                    <p:animEffect transition="in" filter="wipe(down)">
                                      <p:cBhvr>
                                        <p:cTn id="22" dur="500"/>
                                        <p:tgtEl>
                                          <p:spTgt spid="4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6">
                                            <p:txEl>
                                              <p:pRg st="2" end="2"/>
                                            </p:txEl>
                                          </p:spTgt>
                                        </p:tgtEl>
                                        <p:attrNameLst>
                                          <p:attrName>style.visibility</p:attrName>
                                        </p:attrNameLst>
                                      </p:cBhvr>
                                      <p:to>
                                        <p:strVal val="visible"/>
                                      </p:to>
                                    </p:set>
                                    <p:animEffect transition="in" filter="wipe(down)">
                                      <p:cBhvr>
                                        <p:cTn id="27" dur="500"/>
                                        <p:tgtEl>
                                          <p:spTgt spid="4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49">
                                            <p:bg/>
                                          </p:spTgt>
                                        </p:tgtEl>
                                        <p:attrNameLst>
                                          <p:attrName>style.visibility</p:attrName>
                                        </p:attrNameLst>
                                      </p:cBhvr>
                                      <p:to>
                                        <p:strVal val="visible"/>
                                      </p:to>
                                    </p:set>
                                    <p:anim calcmode="lin" valueType="num">
                                      <p:cBhvr additive="base">
                                        <p:cTn id="32" dur="500" fill="hold"/>
                                        <p:tgtEl>
                                          <p:spTgt spid="49">
                                            <p:bg/>
                                          </p:spTgt>
                                        </p:tgtEl>
                                        <p:attrNameLst>
                                          <p:attrName>ppt_x</p:attrName>
                                        </p:attrNameLst>
                                      </p:cBhvr>
                                      <p:tavLst>
                                        <p:tav tm="0">
                                          <p:val>
                                            <p:strVal val="#ppt_x"/>
                                          </p:val>
                                        </p:tav>
                                        <p:tav tm="100000">
                                          <p:val>
                                            <p:strVal val="#ppt_x"/>
                                          </p:val>
                                        </p:tav>
                                      </p:tavLst>
                                    </p:anim>
                                    <p:anim calcmode="lin" valueType="num">
                                      <p:cBhvr additive="base">
                                        <p:cTn id="33" dur="500" fill="hold"/>
                                        <p:tgtEl>
                                          <p:spTgt spid="49">
                                            <p:bg/>
                                          </p:spTgt>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49">
                                            <p:txEl>
                                              <p:pRg st="0" end="0"/>
                                            </p:txEl>
                                          </p:spTgt>
                                        </p:tgtEl>
                                        <p:attrNameLst>
                                          <p:attrName>style.visibility</p:attrName>
                                        </p:attrNameLst>
                                      </p:cBhvr>
                                      <p:to>
                                        <p:strVal val="visible"/>
                                      </p:to>
                                    </p:set>
                                    <p:anim calcmode="lin" valueType="num">
                                      <p:cBhvr additive="base">
                                        <p:cTn id="36" dur="500" fill="hold"/>
                                        <p:tgtEl>
                                          <p:spTgt spid="49">
                                            <p:txEl>
                                              <p:pRg st="0" end="0"/>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4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50">
                                            <p:txEl>
                                              <p:pRg st="0" end="0"/>
                                            </p:txEl>
                                          </p:spTgt>
                                        </p:tgtEl>
                                        <p:attrNameLst>
                                          <p:attrName>style.visibility</p:attrName>
                                        </p:attrNameLst>
                                      </p:cBhvr>
                                      <p:to>
                                        <p:strVal val="visible"/>
                                      </p:to>
                                    </p:set>
                                    <p:anim calcmode="lin" valueType="num">
                                      <p:cBhvr additive="base">
                                        <p:cTn id="42" dur="500" fill="hold"/>
                                        <p:tgtEl>
                                          <p:spTgt spid="50">
                                            <p:txEl>
                                              <p:pRg st="0" end="0"/>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5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uild="p"/>
      <p:bldP spid="49" grpId="0" build="allAtOnce" animBg="1"/>
      <p:bldP spid="50" grpId="0" build="allAtOnce"/>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1" algn="r"/>
            <a:r>
              <a:rPr lang="zh-CN" altLang="en-US" sz="3600"/>
              <a:t>几何构造分析示例</a:t>
            </a:r>
            <a:endParaRPr lang="zh-CN" altLang="en-US" sz="3600" dirty="0"/>
          </a:p>
        </p:txBody>
      </p:sp>
      <p:sp>
        <p:nvSpPr>
          <p:cNvPr id="3" name="内容占位符 2"/>
          <p:cNvSpPr>
            <a:spLocks noGrp="1"/>
          </p:cNvSpPr>
          <p:nvPr>
            <p:ph idx="1"/>
          </p:nvPr>
        </p:nvSpPr>
        <p:spPr>
          <a:xfrm>
            <a:off x="468313" y="1268413"/>
            <a:ext cx="8175653" cy="1517645"/>
          </a:xfrm>
          <a:ln>
            <a:noFill/>
          </a:ln>
        </p:spPr>
        <p:txBody>
          <a:bodyPr/>
          <a:lstStyle/>
          <a:p>
            <a:pPr lvl="0"/>
            <a:r>
              <a:rPr lang="zh-CN" altLang="en-US"/>
              <a:t>示例</a:t>
            </a:r>
            <a:endParaRPr lang="en-US" altLang="zh-CN"/>
          </a:p>
          <a:p>
            <a:pPr lvl="1">
              <a:lnSpc>
                <a:spcPct val="150000"/>
              </a:lnSpc>
              <a:spcBef>
                <a:spcPts val="0"/>
              </a:spcBef>
            </a:pPr>
            <a:r>
              <a:rPr lang="zh-CN" altLang="en-US"/>
              <a:t>例：对图示体系构作几何构造分析</a:t>
            </a:r>
            <a:endParaRPr lang="en-US" altLang="zh-CN"/>
          </a:p>
          <a:p>
            <a:pPr lvl="1">
              <a:lnSpc>
                <a:spcPct val="150000"/>
              </a:lnSpc>
              <a:spcBef>
                <a:spcPts val="0"/>
              </a:spcBef>
              <a:buNone/>
            </a:pPr>
            <a:r>
              <a:rPr lang="zh-CN" altLang="en-US"/>
              <a:t>    </a:t>
            </a: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sp>
        <p:nvSpPr>
          <p:cNvPr id="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pic>
        <p:nvPicPr>
          <p:cNvPr id="60" name="Picture 4"/>
          <p:cNvPicPr>
            <a:picLocks noChangeAspect="1" noChangeArrowheads="1"/>
          </p:cNvPicPr>
          <p:nvPr/>
        </p:nvPicPr>
        <p:blipFill>
          <a:blip r:embed="rId3" cstate="print"/>
          <a:srcRect t="3399"/>
          <a:stretch>
            <a:fillRect/>
          </a:stretch>
        </p:blipFill>
        <p:spPr bwMode="auto">
          <a:xfrm>
            <a:off x="167535" y="2571744"/>
            <a:ext cx="3000395" cy="3071834"/>
          </a:xfrm>
          <a:prstGeom prst="rect">
            <a:avLst/>
          </a:prstGeom>
          <a:noFill/>
          <a:ln w="9525">
            <a:noFill/>
            <a:miter lim="800000"/>
            <a:headEnd/>
            <a:tailEnd/>
          </a:ln>
          <a:effectLst/>
        </p:spPr>
      </p:pic>
      <p:sp>
        <p:nvSpPr>
          <p:cNvPr id="7" name="Text Box 29"/>
          <p:cNvSpPr txBox="1">
            <a:spLocks noChangeArrowheads="1"/>
          </p:cNvSpPr>
          <p:nvPr/>
        </p:nvSpPr>
        <p:spPr bwMode="auto">
          <a:xfrm>
            <a:off x="881915" y="5643578"/>
            <a:ext cx="1643074" cy="400110"/>
          </a:xfrm>
          <a:prstGeom prst="rect">
            <a:avLst/>
          </a:prstGeom>
          <a:noFill/>
          <a:ln w="28575">
            <a:solidFill>
              <a:srgbClr val="C00000"/>
            </a:solidFill>
            <a:miter lim="800000"/>
            <a:headEnd/>
            <a:tailEnd/>
          </a:ln>
          <a:effectLst/>
        </p:spPr>
        <p:txBody>
          <a:bodyPr wrap="square">
            <a:spAutoFit/>
          </a:bodyPr>
          <a:lstStyle/>
          <a:p>
            <a:pPr algn="ctr">
              <a:defRPr/>
            </a:pPr>
            <a:r>
              <a:rPr lang="zh-CN" altLang="en-US" sz="2000" b="1">
                <a:solidFill>
                  <a:srgbClr val="C00000"/>
                </a:solidFill>
                <a:latin typeface="+mn-ea"/>
                <a:cs typeface="+mn-cs"/>
              </a:rPr>
              <a:t>无多不变</a:t>
            </a:r>
          </a:p>
        </p:txBody>
      </p:sp>
      <p:pic>
        <p:nvPicPr>
          <p:cNvPr id="224257" name="Picture 1" descr="C:\Users\Administrator\AppData\Roaming\Tencent\Users\174520645\QQ\WinTemp\RichOle\%W5@E_0B9IFYP$OAMJ4XJ$M.png"/>
          <p:cNvPicPr>
            <a:picLocks noChangeAspect="1" noChangeArrowheads="1"/>
          </p:cNvPicPr>
          <p:nvPr/>
        </p:nvPicPr>
        <p:blipFill>
          <a:blip r:embed="rId4" cstate="print"/>
          <a:srcRect/>
          <a:stretch>
            <a:fillRect/>
          </a:stretch>
        </p:blipFill>
        <p:spPr bwMode="auto">
          <a:xfrm>
            <a:off x="3096493" y="2500306"/>
            <a:ext cx="3047143" cy="3150000"/>
          </a:xfrm>
          <a:prstGeom prst="rect">
            <a:avLst/>
          </a:prstGeom>
          <a:noFill/>
        </p:spPr>
      </p:pic>
      <p:pic>
        <p:nvPicPr>
          <p:cNvPr id="224258" name="Picture 2"/>
          <p:cNvPicPr>
            <a:picLocks noChangeAspect="1" noChangeArrowheads="1"/>
          </p:cNvPicPr>
          <p:nvPr/>
        </p:nvPicPr>
        <p:blipFill>
          <a:blip r:embed="rId5" cstate="print"/>
          <a:srcRect/>
          <a:stretch>
            <a:fillRect/>
          </a:stretch>
        </p:blipFill>
        <p:spPr bwMode="auto">
          <a:xfrm>
            <a:off x="6005067" y="2524616"/>
            <a:ext cx="2996089" cy="3047524"/>
          </a:xfrm>
          <a:prstGeom prst="rect">
            <a:avLst/>
          </a:prstGeom>
          <a:noFill/>
          <a:ln w="9525">
            <a:noFill/>
            <a:miter lim="800000"/>
            <a:headEnd/>
            <a:tailEnd/>
          </a:ln>
          <a:effectLst/>
        </p:spPr>
      </p:pic>
      <p:sp>
        <p:nvSpPr>
          <p:cNvPr id="10" name="Text Box 29"/>
          <p:cNvSpPr txBox="1">
            <a:spLocks noChangeArrowheads="1"/>
          </p:cNvSpPr>
          <p:nvPr/>
        </p:nvSpPr>
        <p:spPr bwMode="auto">
          <a:xfrm>
            <a:off x="3929058" y="5643578"/>
            <a:ext cx="1643074" cy="400110"/>
          </a:xfrm>
          <a:prstGeom prst="rect">
            <a:avLst/>
          </a:prstGeom>
          <a:noFill/>
          <a:ln w="28575">
            <a:solidFill>
              <a:srgbClr val="C00000"/>
            </a:solidFill>
            <a:miter lim="800000"/>
            <a:headEnd/>
            <a:tailEnd/>
          </a:ln>
          <a:effectLst/>
        </p:spPr>
        <p:txBody>
          <a:bodyPr wrap="square">
            <a:spAutoFit/>
          </a:bodyPr>
          <a:lstStyle/>
          <a:p>
            <a:pPr algn="ctr">
              <a:defRPr/>
            </a:pPr>
            <a:r>
              <a:rPr lang="zh-CN" altLang="en-US" sz="2000" b="1">
                <a:solidFill>
                  <a:srgbClr val="C00000"/>
                </a:solidFill>
                <a:latin typeface="+mn-ea"/>
                <a:cs typeface="+mn-cs"/>
              </a:rPr>
              <a:t>几何可变</a:t>
            </a:r>
          </a:p>
        </p:txBody>
      </p:sp>
      <p:sp>
        <p:nvSpPr>
          <p:cNvPr id="11" name="Text Box 29"/>
          <p:cNvSpPr txBox="1">
            <a:spLocks noChangeArrowheads="1"/>
          </p:cNvSpPr>
          <p:nvPr/>
        </p:nvSpPr>
        <p:spPr bwMode="auto">
          <a:xfrm>
            <a:off x="6715140" y="5643578"/>
            <a:ext cx="1643074" cy="400110"/>
          </a:xfrm>
          <a:prstGeom prst="rect">
            <a:avLst/>
          </a:prstGeom>
          <a:noFill/>
          <a:ln w="28575">
            <a:solidFill>
              <a:srgbClr val="C00000"/>
            </a:solidFill>
            <a:miter lim="800000"/>
            <a:headEnd/>
            <a:tailEnd/>
          </a:ln>
          <a:effectLst/>
        </p:spPr>
        <p:txBody>
          <a:bodyPr wrap="square">
            <a:spAutoFit/>
          </a:bodyPr>
          <a:lstStyle/>
          <a:p>
            <a:pPr algn="ctr">
              <a:defRPr/>
            </a:pPr>
            <a:r>
              <a:rPr lang="zh-CN" altLang="en-US" sz="2000" b="1">
                <a:solidFill>
                  <a:srgbClr val="C00000"/>
                </a:solidFill>
                <a:latin typeface="+mn-ea"/>
                <a:cs typeface="+mn-cs"/>
              </a:rPr>
              <a:t>几何可变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1" algn="r"/>
            <a:r>
              <a:rPr lang="zh-CN" altLang="en-US" sz="3600"/>
              <a:t>几何构造分析示例</a:t>
            </a:r>
            <a:endParaRPr lang="zh-CN" altLang="en-US" sz="3600" dirty="0"/>
          </a:p>
        </p:txBody>
      </p:sp>
      <p:sp>
        <p:nvSpPr>
          <p:cNvPr id="3" name="内容占位符 2"/>
          <p:cNvSpPr>
            <a:spLocks noGrp="1"/>
          </p:cNvSpPr>
          <p:nvPr>
            <p:ph idx="1"/>
          </p:nvPr>
        </p:nvSpPr>
        <p:spPr>
          <a:xfrm>
            <a:off x="468313" y="1268413"/>
            <a:ext cx="8175653" cy="1517645"/>
          </a:xfrm>
          <a:ln>
            <a:noFill/>
          </a:ln>
        </p:spPr>
        <p:txBody>
          <a:bodyPr/>
          <a:lstStyle/>
          <a:p>
            <a:pPr lvl="0"/>
            <a:r>
              <a:rPr lang="zh-CN" altLang="en-US"/>
              <a:t>思考题</a:t>
            </a:r>
            <a:endParaRPr lang="en-US" altLang="zh-CN"/>
          </a:p>
          <a:p>
            <a:pPr lvl="1">
              <a:lnSpc>
                <a:spcPct val="150000"/>
              </a:lnSpc>
              <a:spcBef>
                <a:spcPts val="0"/>
              </a:spcBef>
            </a:pPr>
            <a:r>
              <a:rPr lang="zh-CN" altLang="en-US"/>
              <a:t>例：对右下体系作几何构造分析</a:t>
            </a:r>
            <a:endParaRPr lang="en-US" altLang="zh-CN"/>
          </a:p>
          <a:p>
            <a:pPr lvl="1">
              <a:lnSpc>
                <a:spcPct val="150000"/>
              </a:lnSpc>
              <a:spcBef>
                <a:spcPts val="0"/>
              </a:spcBef>
              <a:buNone/>
            </a:pPr>
            <a:r>
              <a:rPr lang="zh-CN" altLang="en-US"/>
              <a:t>    </a:t>
            </a: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sp>
        <p:nvSpPr>
          <p:cNvPr id="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pic>
        <p:nvPicPr>
          <p:cNvPr id="31" name="Picture 2"/>
          <p:cNvPicPr>
            <a:picLocks noChangeAspect="1" noChangeArrowheads="1"/>
          </p:cNvPicPr>
          <p:nvPr/>
        </p:nvPicPr>
        <p:blipFill>
          <a:blip r:embed="rId3" cstate="print"/>
          <a:srcRect/>
          <a:stretch>
            <a:fillRect/>
          </a:stretch>
        </p:blipFill>
        <p:spPr bwMode="auto">
          <a:xfrm>
            <a:off x="714348" y="2433642"/>
            <a:ext cx="8176260" cy="1638300"/>
          </a:xfrm>
          <a:prstGeom prst="rect">
            <a:avLst/>
          </a:prstGeom>
          <a:noFill/>
          <a:ln w="9525">
            <a:noFill/>
            <a:miter lim="800000"/>
            <a:headEnd/>
            <a:tailEnd/>
          </a:ln>
          <a:effectLst/>
        </p:spPr>
      </p:pic>
      <p:sp>
        <p:nvSpPr>
          <p:cNvPr id="32" name="TextBox 31"/>
          <p:cNvSpPr txBox="1"/>
          <p:nvPr/>
        </p:nvSpPr>
        <p:spPr>
          <a:xfrm>
            <a:off x="4071934" y="3571876"/>
            <a:ext cx="1210588" cy="400110"/>
          </a:xfrm>
          <a:prstGeom prst="rect">
            <a:avLst/>
          </a:prstGeom>
          <a:solidFill>
            <a:schemeClr val="bg1"/>
          </a:solidFill>
          <a:ln w="28575">
            <a:solidFill>
              <a:srgbClr val="C00000"/>
            </a:solidFill>
          </a:ln>
        </p:spPr>
        <p:txBody>
          <a:bodyPr wrap="none" rtlCol="0">
            <a:spAutoFit/>
          </a:bodyPr>
          <a:lstStyle/>
          <a:p>
            <a:r>
              <a:rPr lang="zh-CN" altLang="en-US" sz="2000" b="1">
                <a:solidFill>
                  <a:srgbClr val="C00000"/>
                </a:solidFill>
              </a:rPr>
              <a:t>无多不变</a:t>
            </a:r>
          </a:p>
        </p:txBody>
      </p:sp>
      <p:grpSp>
        <p:nvGrpSpPr>
          <p:cNvPr id="4" name="组合 33"/>
          <p:cNvGrpSpPr/>
          <p:nvPr/>
        </p:nvGrpSpPr>
        <p:grpSpPr>
          <a:xfrm>
            <a:off x="428596" y="4648220"/>
            <a:ext cx="3002280" cy="1638300"/>
            <a:chOff x="714348" y="4648220"/>
            <a:chExt cx="3002280" cy="1638300"/>
          </a:xfrm>
        </p:grpSpPr>
        <p:pic>
          <p:nvPicPr>
            <p:cNvPr id="237570" name="Picture 2"/>
            <p:cNvPicPr>
              <a:picLocks noChangeAspect="1" noChangeArrowheads="1"/>
            </p:cNvPicPr>
            <p:nvPr/>
          </p:nvPicPr>
          <p:blipFill>
            <a:blip r:embed="rId4" cstate="print"/>
            <a:srcRect/>
            <a:stretch>
              <a:fillRect/>
            </a:stretch>
          </p:blipFill>
          <p:spPr bwMode="auto">
            <a:xfrm>
              <a:off x="714348" y="4648220"/>
              <a:ext cx="3002280" cy="1638300"/>
            </a:xfrm>
            <a:prstGeom prst="rect">
              <a:avLst/>
            </a:prstGeom>
            <a:noFill/>
            <a:ln w="9525">
              <a:noFill/>
              <a:miter lim="800000"/>
              <a:headEnd/>
              <a:tailEnd/>
            </a:ln>
            <a:effectLst/>
          </p:spPr>
        </p:pic>
        <p:sp>
          <p:nvSpPr>
            <p:cNvPr id="33" name="TextBox 32"/>
            <p:cNvSpPr txBox="1"/>
            <p:nvPr/>
          </p:nvSpPr>
          <p:spPr>
            <a:xfrm>
              <a:off x="1571604" y="5672096"/>
              <a:ext cx="1210588" cy="400110"/>
            </a:xfrm>
            <a:prstGeom prst="rect">
              <a:avLst/>
            </a:prstGeom>
            <a:solidFill>
              <a:schemeClr val="bg1"/>
            </a:solidFill>
            <a:ln w="28575">
              <a:solidFill>
                <a:srgbClr val="C00000"/>
              </a:solidFill>
            </a:ln>
          </p:spPr>
          <p:txBody>
            <a:bodyPr wrap="none" rtlCol="0">
              <a:spAutoFit/>
            </a:bodyPr>
            <a:lstStyle/>
            <a:p>
              <a:r>
                <a:rPr lang="zh-CN" altLang="en-US" sz="2000" b="1">
                  <a:solidFill>
                    <a:srgbClr val="C00000"/>
                  </a:solidFill>
                </a:rPr>
                <a:t>无多不变</a:t>
              </a:r>
            </a:p>
          </p:txBody>
        </p:sp>
      </p:grpSp>
      <p:grpSp>
        <p:nvGrpSpPr>
          <p:cNvPr id="5" name="组合 35"/>
          <p:cNvGrpSpPr/>
          <p:nvPr/>
        </p:nvGrpSpPr>
        <p:grpSpPr>
          <a:xfrm>
            <a:off x="3571868" y="4643446"/>
            <a:ext cx="5410200" cy="1638300"/>
            <a:chOff x="3571868" y="4643446"/>
            <a:chExt cx="5410200" cy="1638300"/>
          </a:xfrm>
        </p:grpSpPr>
        <p:pic>
          <p:nvPicPr>
            <p:cNvPr id="237571" name="Picture 3"/>
            <p:cNvPicPr>
              <a:picLocks noChangeAspect="1" noChangeArrowheads="1"/>
            </p:cNvPicPr>
            <p:nvPr/>
          </p:nvPicPr>
          <p:blipFill>
            <a:blip r:embed="rId5" cstate="print"/>
            <a:srcRect/>
            <a:stretch>
              <a:fillRect/>
            </a:stretch>
          </p:blipFill>
          <p:spPr bwMode="auto">
            <a:xfrm>
              <a:off x="3571868" y="4643446"/>
              <a:ext cx="5410200" cy="1638300"/>
            </a:xfrm>
            <a:prstGeom prst="rect">
              <a:avLst/>
            </a:prstGeom>
            <a:noFill/>
            <a:ln w="9525">
              <a:noFill/>
              <a:miter lim="800000"/>
              <a:headEnd/>
              <a:tailEnd/>
            </a:ln>
            <a:effectLst/>
          </p:spPr>
        </p:pic>
        <p:sp>
          <p:nvSpPr>
            <p:cNvPr id="35" name="TextBox 34"/>
            <p:cNvSpPr txBox="1"/>
            <p:nvPr/>
          </p:nvSpPr>
          <p:spPr>
            <a:xfrm>
              <a:off x="4714876" y="5572140"/>
              <a:ext cx="697627" cy="400110"/>
            </a:xfrm>
            <a:prstGeom prst="rect">
              <a:avLst/>
            </a:prstGeom>
            <a:solidFill>
              <a:schemeClr val="bg1"/>
            </a:solidFill>
            <a:ln w="28575">
              <a:solidFill>
                <a:srgbClr val="C00000"/>
              </a:solidFill>
            </a:ln>
          </p:spPr>
          <p:txBody>
            <a:bodyPr wrap="none" rtlCol="0">
              <a:spAutoFit/>
            </a:bodyPr>
            <a:lstStyle/>
            <a:p>
              <a:r>
                <a:rPr lang="zh-CN" altLang="en-US" sz="2000" b="1">
                  <a:solidFill>
                    <a:srgbClr val="C00000"/>
                  </a:solidFill>
                </a:rPr>
                <a:t>？？</a:t>
              </a:r>
            </a:p>
          </p:txBody>
        </p:sp>
      </p:grpSp>
      <p:grpSp>
        <p:nvGrpSpPr>
          <p:cNvPr id="6" name="组合 36"/>
          <p:cNvGrpSpPr/>
          <p:nvPr/>
        </p:nvGrpSpPr>
        <p:grpSpPr>
          <a:xfrm>
            <a:off x="3901762" y="3437873"/>
            <a:ext cx="4742204" cy="2491457"/>
            <a:chOff x="2200898" y="2928934"/>
            <a:chExt cx="4742204" cy="2491457"/>
          </a:xfrm>
        </p:grpSpPr>
        <p:cxnSp>
          <p:nvCxnSpPr>
            <p:cNvPr id="38" name="直接连接符 37"/>
            <p:cNvCxnSpPr/>
            <p:nvPr/>
          </p:nvCxnSpPr>
          <p:spPr bwMode="auto">
            <a:xfrm rot="5400000" flipH="1" flipV="1">
              <a:off x="2140721" y="2989111"/>
              <a:ext cx="2491456" cy="2371102"/>
            </a:xfrm>
            <a:prstGeom prst="line">
              <a:avLst/>
            </a:prstGeom>
            <a:solidFill>
              <a:schemeClr val="accent1"/>
            </a:solidFill>
            <a:ln w="38100" cap="flat" cmpd="sng" algn="ctr">
              <a:solidFill>
                <a:schemeClr val="tx1"/>
              </a:solidFill>
              <a:prstDash val="lgDash"/>
              <a:round/>
              <a:headEnd type="none" w="med" len="med"/>
              <a:tailEnd type="none" w="med" len="med"/>
            </a:ln>
            <a:effectLst/>
          </p:spPr>
        </p:cxnSp>
        <p:cxnSp>
          <p:nvCxnSpPr>
            <p:cNvPr id="39" name="直接连接符 38"/>
            <p:cNvCxnSpPr/>
            <p:nvPr/>
          </p:nvCxnSpPr>
          <p:spPr bwMode="auto">
            <a:xfrm rot="16200000" flipV="1">
              <a:off x="4511823" y="2989112"/>
              <a:ext cx="2491456" cy="2371102"/>
            </a:xfrm>
            <a:prstGeom prst="line">
              <a:avLst/>
            </a:prstGeom>
            <a:solidFill>
              <a:schemeClr val="accent1"/>
            </a:solidFill>
            <a:ln w="38100" cap="flat" cmpd="sng" algn="ctr">
              <a:solidFill>
                <a:schemeClr val="tx1"/>
              </a:solidFill>
              <a:prstDash val="lgDash"/>
              <a:round/>
              <a:headEnd type="none" w="med" len="med"/>
              <a:tailEnd type="none" w="med" len="med"/>
            </a:ln>
            <a:effectLst/>
          </p:spPr>
        </p:cxnSp>
        <p:cxnSp>
          <p:nvCxnSpPr>
            <p:cNvPr id="40" name="直接连接符 39"/>
            <p:cNvCxnSpPr/>
            <p:nvPr/>
          </p:nvCxnSpPr>
          <p:spPr bwMode="auto">
            <a:xfrm rot="5400000" flipH="1" flipV="1">
              <a:off x="3394067" y="4179099"/>
              <a:ext cx="2356660" cy="794"/>
            </a:xfrm>
            <a:prstGeom prst="line">
              <a:avLst/>
            </a:prstGeom>
            <a:solidFill>
              <a:schemeClr val="accent1"/>
            </a:solidFill>
            <a:ln w="38100" cap="flat" cmpd="sng" algn="ctr">
              <a:solidFill>
                <a:schemeClr val="tx1"/>
              </a:solidFill>
              <a:prstDash val="lgDash"/>
              <a:round/>
              <a:headEnd type="none" w="med" len="med"/>
              <a:tailEnd type="none" w="med" len="med"/>
            </a:ln>
            <a:effectLst/>
          </p:spPr>
        </p:cxnSp>
      </p:grpSp>
      <p:sp>
        <p:nvSpPr>
          <p:cNvPr id="41" name="TextBox 40"/>
          <p:cNvSpPr txBox="1"/>
          <p:nvPr/>
        </p:nvSpPr>
        <p:spPr>
          <a:xfrm>
            <a:off x="4500562" y="5572140"/>
            <a:ext cx="1210588" cy="400110"/>
          </a:xfrm>
          <a:prstGeom prst="rect">
            <a:avLst/>
          </a:prstGeom>
          <a:solidFill>
            <a:schemeClr val="bg1"/>
          </a:solidFill>
          <a:ln w="28575">
            <a:solidFill>
              <a:srgbClr val="C00000"/>
            </a:solidFill>
          </a:ln>
        </p:spPr>
        <p:txBody>
          <a:bodyPr wrap="none" rtlCol="0">
            <a:spAutoFit/>
          </a:bodyPr>
          <a:lstStyle/>
          <a:p>
            <a:r>
              <a:rPr lang="zh-CN" altLang="en-US" sz="2000" b="1">
                <a:solidFill>
                  <a:srgbClr val="C00000"/>
                </a:solidFill>
              </a:rPr>
              <a:t>瞬变体系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linds(horizontal)">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1" algn="r"/>
            <a:r>
              <a:rPr lang="zh-CN" altLang="en-US" sz="3600"/>
              <a:t>几何构造分析示例</a:t>
            </a:r>
            <a:endParaRPr lang="zh-CN" altLang="en-US" sz="3600" dirty="0"/>
          </a:p>
        </p:txBody>
      </p:sp>
      <p:sp>
        <p:nvSpPr>
          <p:cNvPr id="3" name="内容占位符 2"/>
          <p:cNvSpPr>
            <a:spLocks noGrp="1"/>
          </p:cNvSpPr>
          <p:nvPr>
            <p:ph idx="1"/>
          </p:nvPr>
        </p:nvSpPr>
        <p:spPr>
          <a:xfrm>
            <a:off x="468313" y="1268413"/>
            <a:ext cx="8175653" cy="1517645"/>
          </a:xfrm>
          <a:ln>
            <a:noFill/>
          </a:ln>
        </p:spPr>
        <p:txBody>
          <a:bodyPr/>
          <a:lstStyle/>
          <a:p>
            <a:pPr lvl="0"/>
            <a:r>
              <a:rPr lang="zh-CN" altLang="en-US"/>
              <a:t>思考题</a:t>
            </a:r>
            <a:endParaRPr lang="en-US" altLang="zh-CN"/>
          </a:p>
          <a:p>
            <a:pPr lvl="1">
              <a:lnSpc>
                <a:spcPct val="150000"/>
              </a:lnSpc>
              <a:spcBef>
                <a:spcPts val="0"/>
              </a:spcBef>
            </a:pPr>
            <a:r>
              <a:rPr lang="zh-CN" altLang="en-US"/>
              <a:t>例：对图示体系作几何构造分析</a:t>
            </a:r>
            <a:endParaRPr lang="en-US" altLang="zh-CN"/>
          </a:p>
          <a:p>
            <a:pPr lvl="1">
              <a:lnSpc>
                <a:spcPct val="150000"/>
              </a:lnSpc>
              <a:spcBef>
                <a:spcPts val="0"/>
              </a:spcBef>
              <a:buNone/>
            </a:pPr>
            <a:r>
              <a:rPr lang="zh-CN" altLang="en-US"/>
              <a:t>    </a:t>
            </a: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sp>
        <p:nvSpPr>
          <p:cNvPr id="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pic>
        <p:nvPicPr>
          <p:cNvPr id="237572" name="Picture 4"/>
          <p:cNvPicPr>
            <a:picLocks noChangeAspect="1" noChangeArrowheads="1"/>
          </p:cNvPicPr>
          <p:nvPr/>
        </p:nvPicPr>
        <p:blipFill>
          <a:blip r:embed="rId3" cstate="print"/>
          <a:srcRect/>
          <a:stretch>
            <a:fillRect/>
          </a:stretch>
        </p:blipFill>
        <p:spPr bwMode="auto">
          <a:xfrm>
            <a:off x="285720" y="3357562"/>
            <a:ext cx="8664893" cy="1131570"/>
          </a:xfrm>
          <a:prstGeom prst="rect">
            <a:avLst/>
          </a:prstGeom>
          <a:noFill/>
          <a:ln w="9525">
            <a:noFill/>
            <a:miter lim="800000"/>
            <a:headEnd/>
            <a:tailEnd/>
          </a:ln>
          <a:effectLst/>
        </p:spPr>
      </p:pic>
      <p:pic>
        <p:nvPicPr>
          <p:cNvPr id="237573" name="Picture 5"/>
          <p:cNvPicPr>
            <a:picLocks noChangeAspect="1" noChangeArrowheads="1"/>
          </p:cNvPicPr>
          <p:nvPr/>
        </p:nvPicPr>
        <p:blipFill>
          <a:blip r:embed="rId4" cstate="print"/>
          <a:srcRect/>
          <a:stretch>
            <a:fillRect/>
          </a:stretch>
        </p:blipFill>
        <p:spPr bwMode="auto">
          <a:xfrm>
            <a:off x="357158" y="2214554"/>
            <a:ext cx="7014686" cy="1131570"/>
          </a:xfrm>
          <a:prstGeom prst="rect">
            <a:avLst/>
          </a:prstGeom>
          <a:noFill/>
          <a:ln w="9525">
            <a:noFill/>
            <a:miter lim="800000"/>
            <a:headEnd/>
            <a:tailEnd/>
          </a:ln>
          <a:effectLst/>
        </p:spPr>
      </p:pic>
      <p:sp>
        <p:nvSpPr>
          <p:cNvPr id="42" name="TextBox 41"/>
          <p:cNvSpPr txBox="1"/>
          <p:nvPr/>
        </p:nvSpPr>
        <p:spPr>
          <a:xfrm>
            <a:off x="8001024" y="2417430"/>
            <a:ext cx="714380" cy="461665"/>
          </a:xfrm>
          <a:prstGeom prst="rect">
            <a:avLst/>
          </a:prstGeom>
          <a:noFill/>
          <a:ln w="28575">
            <a:noFill/>
          </a:ln>
        </p:spPr>
        <p:txBody>
          <a:bodyPr wrap="square" rtlCol="0">
            <a:spAutoFit/>
          </a:bodyPr>
          <a:lstStyle/>
          <a:p>
            <a:r>
              <a:rPr lang="zh-CN" altLang="en-US" sz="2400" b="1">
                <a:solidFill>
                  <a:srgbClr val="C00000"/>
                </a:solidFill>
              </a:rPr>
              <a:t>？</a:t>
            </a:r>
          </a:p>
        </p:txBody>
      </p:sp>
      <p:sp>
        <p:nvSpPr>
          <p:cNvPr id="43" name="TextBox 42"/>
          <p:cNvSpPr txBox="1"/>
          <p:nvPr/>
        </p:nvSpPr>
        <p:spPr>
          <a:xfrm>
            <a:off x="7929586" y="3813153"/>
            <a:ext cx="714380" cy="461665"/>
          </a:xfrm>
          <a:prstGeom prst="rect">
            <a:avLst/>
          </a:prstGeom>
          <a:noFill/>
          <a:ln w="28575">
            <a:noFill/>
          </a:ln>
        </p:spPr>
        <p:txBody>
          <a:bodyPr wrap="square" rtlCol="0">
            <a:spAutoFit/>
          </a:bodyPr>
          <a:lstStyle/>
          <a:p>
            <a:r>
              <a:rPr lang="zh-CN" altLang="en-US" sz="2400" b="1">
                <a:solidFill>
                  <a:srgbClr val="C00000"/>
                </a:solidFill>
              </a:rPr>
              <a:t>？</a:t>
            </a:r>
          </a:p>
        </p:txBody>
      </p:sp>
      <p:pic>
        <p:nvPicPr>
          <p:cNvPr id="44" name="Picture 2" descr="C:\Users\Administrator\Desktop\教学\结构力学（夏乐章）\课外资料\实际案例\颐和园十七孔桥（静定结构？）.jpg"/>
          <p:cNvPicPr>
            <a:picLocks noChangeAspect="1" noChangeArrowheads="1"/>
          </p:cNvPicPr>
          <p:nvPr/>
        </p:nvPicPr>
        <p:blipFill>
          <a:blip r:embed="rId5" cstate="print"/>
          <a:srcRect t="34293" b="17035"/>
          <a:stretch>
            <a:fillRect/>
          </a:stretch>
        </p:blipFill>
        <p:spPr bwMode="auto">
          <a:xfrm>
            <a:off x="500034" y="4593424"/>
            <a:ext cx="5143536" cy="2121724"/>
          </a:xfrm>
          <a:prstGeom prst="rect">
            <a:avLst/>
          </a:prstGeom>
          <a:noFill/>
        </p:spPr>
      </p:pic>
      <p:sp>
        <p:nvSpPr>
          <p:cNvPr id="45" name="TextBox 44"/>
          <p:cNvSpPr txBox="1"/>
          <p:nvPr/>
        </p:nvSpPr>
        <p:spPr>
          <a:xfrm>
            <a:off x="5786446" y="4770698"/>
            <a:ext cx="1980029" cy="400110"/>
          </a:xfrm>
          <a:prstGeom prst="rect">
            <a:avLst/>
          </a:prstGeom>
          <a:noFill/>
          <a:ln w="28575">
            <a:solidFill>
              <a:schemeClr val="bg1"/>
            </a:solidFill>
          </a:ln>
        </p:spPr>
        <p:txBody>
          <a:bodyPr wrap="none" rtlCol="0">
            <a:spAutoFit/>
          </a:bodyPr>
          <a:lstStyle/>
          <a:p>
            <a:r>
              <a:rPr lang="zh-CN" altLang="en-US" sz="2000" b="1"/>
              <a:t>颐和园十七孔桥</a:t>
            </a:r>
          </a:p>
        </p:txBody>
      </p:sp>
      <p:sp>
        <p:nvSpPr>
          <p:cNvPr id="46" name="TextBox 45"/>
          <p:cNvSpPr txBox="1"/>
          <p:nvPr/>
        </p:nvSpPr>
        <p:spPr>
          <a:xfrm>
            <a:off x="7929586" y="4742180"/>
            <a:ext cx="714380" cy="461665"/>
          </a:xfrm>
          <a:prstGeom prst="rect">
            <a:avLst/>
          </a:prstGeom>
          <a:noFill/>
          <a:ln w="28575">
            <a:noFill/>
          </a:ln>
        </p:spPr>
        <p:txBody>
          <a:bodyPr wrap="square" rtlCol="0">
            <a:spAutoFit/>
          </a:bodyPr>
          <a:lstStyle/>
          <a:p>
            <a:r>
              <a:rPr lang="zh-CN" altLang="en-US" sz="2400" b="1">
                <a:solidFill>
                  <a:srgbClr val="C00000"/>
                </a:solidFill>
              </a:rPr>
              <a:t>？</a:t>
            </a:r>
          </a:p>
        </p:txBody>
      </p:sp>
      <p:sp>
        <p:nvSpPr>
          <p:cNvPr id="47" name="TextBox 46"/>
          <p:cNvSpPr txBox="1"/>
          <p:nvPr/>
        </p:nvSpPr>
        <p:spPr>
          <a:xfrm>
            <a:off x="5857884" y="5286388"/>
            <a:ext cx="2688557" cy="400110"/>
          </a:xfrm>
          <a:prstGeom prst="rect">
            <a:avLst/>
          </a:prstGeom>
          <a:noFill/>
          <a:ln w="28575">
            <a:solidFill>
              <a:schemeClr val="bg1"/>
            </a:solidFill>
          </a:ln>
        </p:spPr>
        <p:txBody>
          <a:bodyPr wrap="none" rtlCol="0">
            <a:spAutoFit/>
          </a:bodyPr>
          <a:lstStyle/>
          <a:p>
            <a:r>
              <a:rPr lang="en-US" altLang="zh-CN" sz="2000" b="1" i="1">
                <a:latin typeface="Times New Roman" pitchFamily="18" charset="0"/>
                <a:cs typeface="Times New Roman" pitchFamily="18" charset="0"/>
              </a:rPr>
              <a:t>n</a:t>
            </a:r>
            <a:r>
              <a:rPr lang="zh-CN" altLang="en-US" sz="2000" b="1"/>
              <a:t>跨</a:t>
            </a:r>
            <a:r>
              <a:rPr lang="en-US" altLang="zh-CN" sz="2000" b="1">
                <a:latin typeface="Times New Roman" pitchFamily="18" charset="0"/>
                <a:cs typeface="Times New Roman" pitchFamily="18" charset="0"/>
              </a:rPr>
              <a:t>2</a:t>
            </a:r>
            <a:r>
              <a:rPr lang="en-US" altLang="zh-CN" sz="2000" b="1" i="1">
                <a:latin typeface="Times New Roman" pitchFamily="18" charset="0"/>
                <a:cs typeface="Times New Roman" pitchFamily="18" charset="0"/>
              </a:rPr>
              <a:t>n</a:t>
            </a:r>
            <a:r>
              <a:rPr lang="en-US" altLang="zh-CN" sz="2000" b="1">
                <a:latin typeface="Times New Roman" pitchFamily="18" charset="0"/>
                <a:cs typeface="Times New Roman" pitchFamily="18" charset="0"/>
              </a:rPr>
              <a:t>+1</a:t>
            </a:r>
            <a:r>
              <a:rPr lang="zh-CN" altLang="en-US" sz="2000" b="1"/>
              <a:t>铰拱           </a:t>
            </a:r>
            <a:r>
              <a:rPr lang="zh-CN" altLang="en-US" sz="2000" b="1">
                <a:solidFill>
                  <a:srgbClr val="C00000"/>
                </a:solidFill>
              </a:rPr>
              <a:t>？</a:t>
            </a:r>
          </a:p>
        </p:txBody>
      </p:sp>
      <p:sp>
        <p:nvSpPr>
          <p:cNvPr id="48" name="TextBox 47"/>
          <p:cNvSpPr txBox="1"/>
          <p:nvPr/>
        </p:nvSpPr>
        <p:spPr>
          <a:xfrm>
            <a:off x="5857884" y="5864386"/>
            <a:ext cx="2749471" cy="707886"/>
          </a:xfrm>
          <a:prstGeom prst="rect">
            <a:avLst/>
          </a:prstGeom>
          <a:noFill/>
          <a:ln w="28575">
            <a:solidFill>
              <a:schemeClr val="bg1"/>
            </a:solidFill>
          </a:ln>
        </p:spPr>
        <p:txBody>
          <a:bodyPr wrap="none" rtlCol="0">
            <a:spAutoFit/>
          </a:bodyPr>
          <a:lstStyle/>
          <a:p>
            <a:r>
              <a:rPr lang="zh-CN" altLang="en-US" sz="2000" b="1"/>
              <a:t>课本</a:t>
            </a:r>
            <a:r>
              <a:rPr lang="en-US" altLang="zh-CN" sz="2000" b="1"/>
              <a:t>4-3</a:t>
            </a:r>
            <a:r>
              <a:rPr lang="zh-CN" altLang="en-US" sz="2000" b="1"/>
              <a:t>节</a:t>
            </a:r>
            <a:r>
              <a:rPr lang="en-US" altLang="zh-CN" sz="2000" b="1"/>
              <a:t>,  </a:t>
            </a:r>
            <a:r>
              <a:rPr lang="zh-CN" altLang="en-US" sz="2000" b="1"/>
              <a:t>零载法</a:t>
            </a:r>
            <a:endParaRPr lang="en-US" altLang="zh-CN" sz="2000" b="1"/>
          </a:p>
          <a:p>
            <a:r>
              <a:rPr lang="zh-CN" altLang="en-US" sz="2000" b="1"/>
              <a:t>单健</a:t>
            </a:r>
            <a:r>
              <a:rPr lang="en-US" altLang="zh-CN" sz="2000" b="1"/>
              <a:t>《</a:t>
            </a:r>
            <a:r>
              <a:rPr lang="zh-CN" altLang="en-US" sz="2000" b="1"/>
              <a:t>趣味结构力学</a:t>
            </a:r>
            <a:r>
              <a:rPr lang="en-US" altLang="zh-CN" sz="2000" b="1"/>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7572"/>
                                        </p:tgtEl>
                                        <p:attrNameLst>
                                          <p:attrName>style.visibility</p:attrName>
                                        </p:attrNameLst>
                                      </p:cBhvr>
                                      <p:to>
                                        <p:strVal val="visible"/>
                                      </p:to>
                                    </p:set>
                                    <p:anim calcmode="lin" valueType="num">
                                      <p:cBhvr additive="base">
                                        <p:cTn id="7" dur="500" fill="hold"/>
                                        <p:tgtEl>
                                          <p:spTgt spid="237572"/>
                                        </p:tgtEl>
                                        <p:attrNameLst>
                                          <p:attrName>ppt_x</p:attrName>
                                        </p:attrNameLst>
                                      </p:cBhvr>
                                      <p:tavLst>
                                        <p:tav tm="0">
                                          <p:val>
                                            <p:strVal val="#ppt_x"/>
                                          </p:val>
                                        </p:tav>
                                        <p:tav tm="100000">
                                          <p:val>
                                            <p:strVal val="#ppt_x"/>
                                          </p:val>
                                        </p:tav>
                                      </p:tavLst>
                                    </p:anim>
                                    <p:anim calcmode="lin" valueType="num">
                                      <p:cBhvr additive="base">
                                        <p:cTn id="8" dur="500" fill="hold"/>
                                        <p:tgtEl>
                                          <p:spTgt spid="23757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anim calcmode="lin" valueType="num">
                                      <p:cBhvr additive="base">
                                        <p:cTn id="11" dur="500" fill="hold"/>
                                        <p:tgtEl>
                                          <p:spTgt spid="43"/>
                                        </p:tgtEl>
                                        <p:attrNameLst>
                                          <p:attrName>ppt_x</p:attrName>
                                        </p:attrNameLst>
                                      </p:cBhvr>
                                      <p:tavLst>
                                        <p:tav tm="0">
                                          <p:val>
                                            <p:strVal val="#ppt_x"/>
                                          </p:val>
                                        </p:tav>
                                        <p:tav tm="100000">
                                          <p:val>
                                            <p:strVal val="#ppt_x"/>
                                          </p:val>
                                        </p:tav>
                                      </p:tavLst>
                                    </p:anim>
                                    <p:anim calcmode="lin" valueType="num">
                                      <p:cBhvr additive="base">
                                        <p:cTn id="12"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8"/>
                                        </p:tgtEl>
                                        <p:attrNameLst>
                                          <p:attrName>style.visibility</p:attrName>
                                        </p:attrNameLst>
                                      </p:cBhvr>
                                      <p:to>
                                        <p:strVal val="visible"/>
                                      </p:to>
                                    </p:set>
                                    <p:anim calcmode="lin" valueType="num">
                                      <p:cBhvr additive="base">
                                        <p:cTn id="29" dur="500" fill="hold"/>
                                        <p:tgtEl>
                                          <p:spTgt spid="48"/>
                                        </p:tgtEl>
                                        <p:attrNameLst>
                                          <p:attrName>ppt_x</p:attrName>
                                        </p:attrNameLst>
                                      </p:cBhvr>
                                      <p:tavLst>
                                        <p:tav tm="0">
                                          <p:val>
                                            <p:strVal val="#ppt_x"/>
                                          </p:val>
                                        </p:tav>
                                        <p:tav tm="100000">
                                          <p:val>
                                            <p:strVal val="#ppt_x"/>
                                          </p:val>
                                        </p:tav>
                                      </p:tavLst>
                                    </p:anim>
                                    <p:anim calcmode="lin" valueType="num">
                                      <p:cBhvr additive="base">
                                        <p:cTn id="30"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5" grpId="1" animBg="1"/>
      <p:bldP spid="46" grpId="0"/>
      <p:bldP spid="47" grpId="0" animBg="1"/>
      <p:bldP spid="4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1" algn="r"/>
            <a:r>
              <a:rPr lang="zh-CN" altLang="en-US" sz="3600"/>
              <a:t>几何构造分析示例</a:t>
            </a:r>
            <a:endParaRPr lang="zh-CN" altLang="en-US" sz="3600" dirty="0"/>
          </a:p>
        </p:txBody>
      </p:sp>
      <p:sp>
        <p:nvSpPr>
          <p:cNvPr id="3" name="内容占位符 2"/>
          <p:cNvSpPr>
            <a:spLocks noGrp="1"/>
          </p:cNvSpPr>
          <p:nvPr>
            <p:ph idx="1"/>
          </p:nvPr>
        </p:nvSpPr>
        <p:spPr>
          <a:xfrm>
            <a:off x="468313" y="1268413"/>
            <a:ext cx="8175653" cy="1517645"/>
          </a:xfrm>
          <a:ln>
            <a:noFill/>
          </a:ln>
        </p:spPr>
        <p:txBody>
          <a:bodyPr/>
          <a:lstStyle/>
          <a:p>
            <a:pPr lvl="0"/>
            <a:r>
              <a:rPr lang="zh-CN" altLang="en-US"/>
              <a:t>思考题</a:t>
            </a:r>
            <a:endParaRPr lang="en-US" altLang="zh-CN"/>
          </a:p>
          <a:p>
            <a:pPr lvl="1">
              <a:lnSpc>
                <a:spcPct val="150000"/>
              </a:lnSpc>
              <a:spcBef>
                <a:spcPts val="0"/>
              </a:spcBef>
            </a:pPr>
            <a:r>
              <a:rPr lang="zh-CN" altLang="en-US"/>
              <a:t>例：对图示体系作几何构造分析</a:t>
            </a:r>
            <a:endParaRPr lang="en-US" altLang="zh-CN"/>
          </a:p>
          <a:p>
            <a:pPr lvl="1">
              <a:lnSpc>
                <a:spcPct val="150000"/>
              </a:lnSpc>
              <a:spcBef>
                <a:spcPts val="0"/>
              </a:spcBef>
              <a:buNone/>
            </a:pPr>
            <a:r>
              <a:rPr lang="zh-CN" altLang="en-US"/>
              <a:t>    </a:t>
            </a:r>
            <a:r>
              <a:rPr lang="en-US" altLang="zh-CN"/>
              <a:t>    </a:t>
            </a:r>
          </a:p>
          <a:p>
            <a:pPr lvl="1">
              <a:lnSpc>
                <a:spcPct val="150000"/>
              </a:lnSpc>
              <a:buNone/>
            </a:pPr>
            <a:endParaRPr lang="en-US" altLang="zh-CN"/>
          </a:p>
          <a:p>
            <a:pPr lvl="1">
              <a:lnSpc>
                <a:spcPct val="150000"/>
              </a:lnSpc>
              <a:buNone/>
            </a:pPr>
            <a:endParaRPr lang="en-US" altLang="zh-CN"/>
          </a:p>
          <a:p>
            <a:pPr lvl="1">
              <a:lnSpc>
                <a:spcPct val="150000"/>
              </a:lnSpc>
              <a:buNone/>
            </a:pPr>
            <a:endParaRPr lang="en-US" altLang="zh-CN"/>
          </a:p>
          <a:p>
            <a:pPr lvl="1">
              <a:lnSpc>
                <a:spcPct val="150000"/>
              </a:lnSpc>
              <a:buNone/>
            </a:pPr>
            <a:r>
              <a:rPr lang="en-US" altLang="zh-CN"/>
              <a:t>     </a:t>
            </a:r>
          </a:p>
          <a:p>
            <a:pPr lvl="1">
              <a:lnSpc>
                <a:spcPct val="150000"/>
              </a:lnSpc>
              <a:buNone/>
            </a:pPr>
            <a:endParaRPr lang="en-US" altLang="zh-CN"/>
          </a:p>
        </p:txBody>
      </p:sp>
      <p:sp>
        <p:nvSpPr>
          <p:cNvPr id="30"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grpSp>
        <p:nvGrpSpPr>
          <p:cNvPr id="4" name="组合 23"/>
          <p:cNvGrpSpPr/>
          <p:nvPr/>
        </p:nvGrpSpPr>
        <p:grpSpPr>
          <a:xfrm>
            <a:off x="785786" y="2285992"/>
            <a:ext cx="1214446" cy="1269207"/>
            <a:chOff x="500034" y="2285992"/>
            <a:chExt cx="1214446" cy="1269207"/>
          </a:xfrm>
        </p:grpSpPr>
        <p:pic>
          <p:nvPicPr>
            <p:cNvPr id="239618" name="Picture 2"/>
            <p:cNvPicPr>
              <a:picLocks noChangeAspect="1" noChangeArrowheads="1"/>
            </p:cNvPicPr>
            <p:nvPr/>
          </p:nvPicPr>
          <p:blipFill>
            <a:blip r:embed="rId3" cstate="print"/>
            <a:srcRect/>
            <a:stretch>
              <a:fillRect/>
            </a:stretch>
          </p:blipFill>
          <p:spPr bwMode="auto">
            <a:xfrm>
              <a:off x="500034" y="2428868"/>
              <a:ext cx="1089660" cy="1126331"/>
            </a:xfrm>
            <a:prstGeom prst="rect">
              <a:avLst/>
            </a:prstGeom>
            <a:noFill/>
            <a:ln w="9525">
              <a:noFill/>
              <a:miter lim="800000"/>
              <a:headEnd/>
              <a:tailEnd/>
            </a:ln>
            <a:effectLst/>
          </p:spPr>
        </p:pic>
        <p:cxnSp>
          <p:nvCxnSpPr>
            <p:cNvPr id="16" name="直接箭头连接符 15"/>
            <p:cNvCxnSpPr/>
            <p:nvPr/>
          </p:nvCxnSpPr>
          <p:spPr bwMode="auto">
            <a:xfrm rot="16200000" flipH="1">
              <a:off x="1357290" y="2285992"/>
              <a:ext cx="357190" cy="357190"/>
            </a:xfrm>
            <a:prstGeom prst="straightConnector1">
              <a:avLst/>
            </a:prstGeom>
            <a:solidFill>
              <a:schemeClr val="accent1"/>
            </a:solidFill>
            <a:ln w="28575" cap="flat" cmpd="sng" algn="ctr">
              <a:solidFill>
                <a:srgbClr val="00B050"/>
              </a:solidFill>
              <a:prstDash val="solid"/>
              <a:round/>
              <a:headEnd type="arrow" w="med" len="med"/>
              <a:tailEnd type="arrow" w="med" len="med"/>
            </a:ln>
            <a:effectLst/>
          </p:spPr>
        </p:cxnSp>
        <p:cxnSp>
          <p:nvCxnSpPr>
            <p:cNvPr id="20" name="直接连接符 19"/>
            <p:cNvCxnSpPr/>
            <p:nvPr/>
          </p:nvCxnSpPr>
          <p:spPr bwMode="auto">
            <a:xfrm rot="5400000" flipH="1" flipV="1">
              <a:off x="705925" y="2522377"/>
              <a:ext cx="857256" cy="785818"/>
            </a:xfrm>
            <a:prstGeom prst="line">
              <a:avLst/>
            </a:prstGeom>
            <a:solidFill>
              <a:schemeClr val="accent1"/>
            </a:solidFill>
            <a:ln w="28575" cap="flat" cmpd="sng" algn="ctr">
              <a:solidFill>
                <a:schemeClr val="tx1"/>
              </a:solidFill>
              <a:prstDash val="dash"/>
              <a:round/>
              <a:headEnd type="none" w="med" len="med"/>
              <a:tailEnd type="none" w="med" len="med"/>
            </a:ln>
            <a:effectLst/>
          </p:spPr>
        </p:cxnSp>
      </p:grpSp>
      <p:grpSp>
        <p:nvGrpSpPr>
          <p:cNvPr id="5" name="组合 83"/>
          <p:cNvGrpSpPr/>
          <p:nvPr/>
        </p:nvGrpSpPr>
        <p:grpSpPr>
          <a:xfrm>
            <a:off x="357158" y="5286388"/>
            <a:ext cx="5929354" cy="1139979"/>
            <a:chOff x="357158" y="5286388"/>
            <a:chExt cx="5929354" cy="1139979"/>
          </a:xfrm>
        </p:grpSpPr>
        <p:grpSp>
          <p:nvGrpSpPr>
            <p:cNvPr id="6" name="组合 72"/>
            <p:cNvGrpSpPr/>
            <p:nvPr/>
          </p:nvGrpSpPr>
          <p:grpSpPr>
            <a:xfrm>
              <a:off x="357158" y="5286388"/>
              <a:ext cx="5572164" cy="1139979"/>
              <a:chOff x="571472" y="5500702"/>
              <a:chExt cx="5572164" cy="1139979"/>
            </a:xfrm>
          </p:grpSpPr>
          <p:pic>
            <p:nvPicPr>
              <p:cNvPr id="70" name="Picture 4"/>
              <p:cNvPicPr>
                <a:picLocks noChangeAspect="1" noChangeArrowheads="1"/>
              </p:cNvPicPr>
              <p:nvPr/>
            </p:nvPicPr>
            <p:blipFill>
              <a:blip r:embed="rId4" cstate="print"/>
              <a:srcRect r="13793"/>
              <a:stretch>
                <a:fillRect/>
              </a:stretch>
            </p:blipFill>
            <p:spPr bwMode="auto">
              <a:xfrm>
                <a:off x="571472" y="5500702"/>
                <a:ext cx="2357454" cy="1126331"/>
              </a:xfrm>
              <a:prstGeom prst="rect">
                <a:avLst/>
              </a:prstGeom>
              <a:noFill/>
              <a:ln w="9525">
                <a:noFill/>
                <a:miter lim="800000"/>
                <a:headEnd/>
                <a:tailEnd/>
              </a:ln>
              <a:effectLst/>
            </p:spPr>
          </p:pic>
          <p:pic>
            <p:nvPicPr>
              <p:cNvPr id="71" name="Picture 4"/>
              <p:cNvPicPr>
                <a:picLocks noChangeAspect="1" noChangeArrowheads="1"/>
              </p:cNvPicPr>
              <p:nvPr/>
            </p:nvPicPr>
            <p:blipFill>
              <a:blip r:embed="rId4" cstate="print"/>
              <a:srcRect r="13062"/>
              <a:stretch>
                <a:fillRect/>
              </a:stretch>
            </p:blipFill>
            <p:spPr bwMode="auto">
              <a:xfrm flipH="1">
                <a:off x="3766198" y="5514350"/>
                <a:ext cx="2377438" cy="1126331"/>
              </a:xfrm>
              <a:prstGeom prst="rect">
                <a:avLst/>
              </a:prstGeom>
              <a:noFill/>
              <a:ln w="9525">
                <a:noFill/>
                <a:miter lim="800000"/>
                <a:headEnd/>
                <a:tailEnd/>
              </a:ln>
              <a:effectLst/>
            </p:spPr>
          </p:pic>
          <p:sp>
            <p:nvSpPr>
              <p:cNvPr id="72" name="TextBox 71"/>
              <p:cNvSpPr txBox="1"/>
              <p:nvPr/>
            </p:nvSpPr>
            <p:spPr>
              <a:xfrm>
                <a:off x="3071802" y="5844621"/>
                <a:ext cx="697627" cy="584775"/>
              </a:xfrm>
              <a:prstGeom prst="rect">
                <a:avLst/>
              </a:prstGeom>
              <a:noFill/>
              <a:ln w="28575">
                <a:noFill/>
              </a:ln>
            </p:spPr>
            <p:txBody>
              <a:bodyPr wrap="square" rtlCol="0">
                <a:spAutoFit/>
              </a:bodyPr>
              <a:lstStyle/>
              <a:p>
                <a:pPr algn="ctr"/>
                <a:r>
                  <a:rPr lang="en-US" altLang="zh-CN" sz="2000" b="1" i="1">
                    <a:latin typeface="Times New Roman" pitchFamily="18" charset="0"/>
                    <a:cs typeface="Times New Roman" pitchFamily="18" charset="0"/>
                  </a:rPr>
                  <a:t>n</a:t>
                </a:r>
              </a:p>
              <a:p>
                <a:pPr>
                  <a:lnSpc>
                    <a:spcPct val="60000"/>
                  </a:lnSpc>
                </a:pPr>
                <a:r>
                  <a:rPr lang="en-US" altLang="zh-CN" sz="2000" b="1"/>
                  <a:t>……</a:t>
                </a:r>
              </a:p>
            </p:txBody>
          </p:sp>
        </p:grpSp>
        <p:sp>
          <p:nvSpPr>
            <p:cNvPr id="74" name="右箭头 73"/>
            <p:cNvSpPr/>
            <p:nvPr/>
          </p:nvSpPr>
          <p:spPr bwMode="auto">
            <a:xfrm>
              <a:off x="5929322" y="5643578"/>
              <a:ext cx="357190" cy="285752"/>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sp>
        <p:nvSpPr>
          <p:cNvPr id="75" name="TextBox 74"/>
          <p:cNvSpPr txBox="1"/>
          <p:nvPr/>
        </p:nvSpPr>
        <p:spPr>
          <a:xfrm>
            <a:off x="6500826" y="5286388"/>
            <a:ext cx="2428892" cy="1015663"/>
          </a:xfrm>
          <a:prstGeom prst="rect">
            <a:avLst/>
          </a:prstGeom>
          <a:noFill/>
          <a:ln w="28575">
            <a:noFill/>
          </a:ln>
        </p:spPr>
        <p:txBody>
          <a:bodyPr wrap="square" rtlCol="0">
            <a:spAutoFit/>
          </a:bodyPr>
          <a:lstStyle/>
          <a:p>
            <a:r>
              <a:rPr lang="en-US" altLang="zh-CN" sz="2000" b="1" i="1">
                <a:latin typeface="Times New Roman" pitchFamily="18" charset="0"/>
                <a:cs typeface="Times New Roman" pitchFamily="18" charset="0"/>
              </a:rPr>
              <a:t>n =</a:t>
            </a:r>
            <a:r>
              <a:rPr lang="en-US" altLang="zh-CN" sz="2000" b="1">
                <a:latin typeface="Times New Roman" pitchFamily="18" charset="0"/>
                <a:cs typeface="Times New Roman" pitchFamily="18" charset="0"/>
              </a:rPr>
              <a:t>2</a:t>
            </a:r>
            <a:r>
              <a:rPr lang="en-US" altLang="zh-CN" sz="2000" b="1" i="1">
                <a:latin typeface="Times New Roman" pitchFamily="18" charset="0"/>
                <a:cs typeface="Times New Roman" pitchFamily="18" charset="0"/>
              </a:rPr>
              <a:t>k</a:t>
            </a:r>
            <a:r>
              <a:rPr lang="zh-CN" altLang="en-US" sz="2000" b="1" i="1">
                <a:latin typeface="Times New Roman" pitchFamily="18" charset="0"/>
                <a:cs typeface="Times New Roman" pitchFamily="18" charset="0"/>
              </a:rPr>
              <a:t>，    </a:t>
            </a:r>
            <a:r>
              <a:rPr lang="zh-CN" altLang="en-US" sz="2000" b="1">
                <a:solidFill>
                  <a:srgbClr val="C00000"/>
                </a:solidFill>
                <a:latin typeface="Times New Roman" pitchFamily="18" charset="0"/>
                <a:cs typeface="Times New Roman" pitchFamily="18" charset="0"/>
              </a:rPr>
              <a:t>瞬变体系</a:t>
            </a:r>
            <a:endParaRPr lang="en-US" altLang="zh-CN" sz="2000" b="1">
              <a:solidFill>
                <a:srgbClr val="C00000"/>
              </a:solidFill>
              <a:latin typeface="Times New Roman" pitchFamily="18" charset="0"/>
              <a:cs typeface="Times New Roman" pitchFamily="18" charset="0"/>
            </a:endParaRPr>
          </a:p>
          <a:p>
            <a:endParaRPr lang="en-US" altLang="zh-CN" sz="2000" b="1" i="1">
              <a:latin typeface="Times New Roman" pitchFamily="18" charset="0"/>
              <a:cs typeface="Times New Roman" pitchFamily="18" charset="0"/>
            </a:endParaRPr>
          </a:p>
          <a:p>
            <a:r>
              <a:rPr lang="en-US" altLang="zh-CN" sz="2000" b="1" i="1">
                <a:latin typeface="Times New Roman" pitchFamily="18" charset="0"/>
                <a:cs typeface="Times New Roman" pitchFamily="18" charset="0"/>
              </a:rPr>
              <a:t>n =</a:t>
            </a:r>
            <a:r>
              <a:rPr lang="en-US" altLang="zh-CN" sz="2000" b="1">
                <a:latin typeface="Times New Roman" pitchFamily="18" charset="0"/>
                <a:cs typeface="Times New Roman" pitchFamily="18" charset="0"/>
              </a:rPr>
              <a:t>2</a:t>
            </a:r>
            <a:r>
              <a:rPr lang="en-US" altLang="zh-CN" sz="2000" b="1" i="1">
                <a:latin typeface="Times New Roman" pitchFamily="18" charset="0"/>
                <a:cs typeface="Times New Roman" pitchFamily="18" charset="0"/>
              </a:rPr>
              <a:t>k+</a:t>
            </a:r>
            <a:r>
              <a:rPr lang="en-US" altLang="zh-CN" sz="2000" b="1">
                <a:latin typeface="Times New Roman" pitchFamily="18" charset="0"/>
                <a:cs typeface="Times New Roman" pitchFamily="18" charset="0"/>
              </a:rPr>
              <a:t>1    </a:t>
            </a:r>
            <a:r>
              <a:rPr lang="zh-CN" altLang="en-US" sz="2000" b="1">
                <a:solidFill>
                  <a:srgbClr val="C00000"/>
                </a:solidFill>
                <a:latin typeface="Times New Roman" pitchFamily="18" charset="0"/>
                <a:cs typeface="Times New Roman" pitchFamily="18" charset="0"/>
              </a:rPr>
              <a:t>无多不变</a:t>
            </a:r>
            <a:endParaRPr lang="en-US" altLang="zh-CN" sz="2000" b="1">
              <a:solidFill>
                <a:srgbClr val="C00000"/>
              </a:solidFill>
              <a:latin typeface="Times New Roman" pitchFamily="18" charset="0"/>
              <a:cs typeface="Times New Roman" pitchFamily="18" charset="0"/>
            </a:endParaRPr>
          </a:p>
        </p:txBody>
      </p:sp>
      <p:grpSp>
        <p:nvGrpSpPr>
          <p:cNvPr id="7" name="组合 76"/>
          <p:cNvGrpSpPr/>
          <p:nvPr/>
        </p:nvGrpSpPr>
        <p:grpSpPr>
          <a:xfrm>
            <a:off x="6929454" y="2705223"/>
            <a:ext cx="1214446" cy="1652471"/>
            <a:chOff x="6858016" y="3033895"/>
            <a:chExt cx="1214446" cy="1652471"/>
          </a:xfrm>
        </p:grpSpPr>
        <p:grpSp>
          <p:nvGrpSpPr>
            <p:cNvPr id="8" name="组合 53"/>
            <p:cNvGrpSpPr/>
            <p:nvPr/>
          </p:nvGrpSpPr>
          <p:grpSpPr>
            <a:xfrm flipH="1">
              <a:off x="6871664" y="3033895"/>
              <a:ext cx="1200798" cy="1252361"/>
              <a:chOff x="500034" y="2302838"/>
              <a:chExt cx="1200798" cy="1252361"/>
            </a:xfrm>
          </p:grpSpPr>
          <p:pic>
            <p:nvPicPr>
              <p:cNvPr id="55" name="Picture 2"/>
              <p:cNvPicPr>
                <a:picLocks noChangeAspect="1" noChangeArrowheads="1"/>
              </p:cNvPicPr>
              <p:nvPr/>
            </p:nvPicPr>
            <p:blipFill>
              <a:blip r:embed="rId3" cstate="print"/>
              <a:srcRect/>
              <a:stretch>
                <a:fillRect/>
              </a:stretch>
            </p:blipFill>
            <p:spPr bwMode="auto">
              <a:xfrm>
                <a:off x="500034" y="2428868"/>
                <a:ext cx="1089660" cy="1126331"/>
              </a:xfrm>
              <a:prstGeom prst="rect">
                <a:avLst/>
              </a:prstGeom>
              <a:noFill/>
              <a:ln w="9525">
                <a:noFill/>
                <a:miter lim="800000"/>
                <a:headEnd/>
                <a:tailEnd/>
              </a:ln>
              <a:effectLst/>
            </p:spPr>
          </p:pic>
          <p:cxnSp>
            <p:nvCxnSpPr>
              <p:cNvPr id="56" name="直接箭头连接符 55"/>
              <p:cNvCxnSpPr/>
              <p:nvPr/>
            </p:nvCxnSpPr>
            <p:spPr bwMode="auto">
              <a:xfrm rot="16200000" flipH="1">
                <a:off x="1343642" y="2302838"/>
                <a:ext cx="357190" cy="357190"/>
              </a:xfrm>
              <a:prstGeom prst="straightConnector1">
                <a:avLst/>
              </a:prstGeom>
              <a:solidFill>
                <a:schemeClr val="accent1"/>
              </a:solidFill>
              <a:ln w="28575" cap="flat" cmpd="sng" algn="ctr">
                <a:solidFill>
                  <a:srgbClr val="00B050"/>
                </a:solidFill>
                <a:prstDash val="solid"/>
                <a:round/>
                <a:headEnd type="arrow" w="med" len="med"/>
                <a:tailEnd type="arrow" w="med" len="med"/>
              </a:ln>
              <a:effectLst/>
            </p:spPr>
          </p:cxnSp>
          <p:cxnSp>
            <p:nvCxnSpPr>
              <p:cNvPr id="57" name="直接连接符 56"/>
              <p:cNvCxnSpPr/>
              <p:nvPr/>
            </p:nvCxnSpPr>
            <p:spPr bwMode="auto">
              <a:xfrm rot="5400000" flipH="1" flipV="1">
                <a:off x="705925" y="2522377"/>
                <a:ext cx="857256" cy="785818"/>
              </a:xfrm>
              <a:prstGeom prst="line">
                <a:avLst/>
              </a:prstGeom>
              <a:solidFill>
                <a:schemeClr val="accent1"/>
              </a:solidFill>
              <a:ln w="28575" cap="flat" cmpd="sng" algn="ctr">
                <a:solidFill>
                  <a:schemeClr val="tx1"/>
                </a:solidFill>
                <a:prstDash val="dash"/>
                <a:round/>
                <a:headEnd type="none" w="med" len="med"/>
                <a:tailEnd type="none" w="med" len="med"/>
              </a:ln>
              <a:effectLst/>
            </p:spPr>
          </p:cxnSp>
        </p:grpSp>
        <p:sp>
          <p:nvSpPr>
            <p:cNvPr id="76" name="TextBox 75"/>
            <p:cNvSpPr txBox="1"/>
            <p:nvPr/>
          </p:nvSpPr>
          <p:spPr>
            <a:xfrm>
              <a:off x="6858016" y="4286256"/>
              <a:ext cx="1210588" cy="400110"/>
            </a:xfrm>
            <a:prstGeom prst="rect">
              <a:avLst/>
            </a:prstGeom>
            <a:noFill/>
            <a:ln w="28575">
              <a:noFill/>
            </a:ln>
          </p:spPr>
          <p:txBody>
            <a:bodyPr wrap="none" rtlCol="0">
              <a:spAutoFit/>
            </a:bodyPr>
            <a:lstStyle/>
            <a:p>
              <a:r>
                <a:rPr lang="zh-CN" altLang="en-US" sz="2000" b="1"/>
                <a:t>右侧约束</a:t>
              </a:r>
            </a:p>
          </p:txBody>
        </p:sp>
      </p:grpSp>
      <p:grpSp>
        <p:nvGrpSpPr>
          <p:cNvPr id="9" name="组合 82"/>
          <p:cNvGrpSpPr/>
          <p:nvPr/>
        </p:nvGrpSpPr>
        <p:grpSpPr>
          <a:xfrm>
            <a:off x="928662" y="3643314"/>
            <a:ext cx="4500594" cy="1412082"/>
            <a:chOff x="928662" y="3643314"/>
            <a:chExt cx="4500594" cy="1412082"/>
          </a:xfrm>
        </p:grpSpPr>
        <p:grpSp>
          <p:nvGrpSpPr>
            <p:cNvPr id="10" name="组合 65"/>
            <p:cNvGrpSpPr/>
            <p:nvPr/>
          </p:nvGrpSpPr>
          <p:grpSpPr>
            <a:xfrm>
              <a:off x="928662" y="3786190"/>
              <a:ext cx="4500594" cy="1269206"/>
              <a:chOff x="571472" y="3929067"/>
              <a:chExt cx="4500594" cy="1269206"/>
            </a:xfrm>
          </p:grpSpPr>
          <p:pic>
            <p:nvPicPr>
              <p:cNvPr id="239621" name="Picture 5"/>
              <p:cNvPicPr>
                <a:picLocks noChangeAspect="1" noChangeArrowheads="1"/>
              </p:cNvPicPr>
              <p:nvPr/>
            </p:nvPicPr>
            <p:blipFill>
              <a:blip r:embed="rId5" cstate="print"/>
              <a:srcRect/>
              <a:stretch>
                <a:fillRect/>
              </a:stretch>
            </p:blipFill>
            <p:spPr bwMode="auto">
              <a:xfrm>
                <a:off x="571472" y="4071942"/>
                <a:ext cx="4384834" cy="1126331"/>
              </a:xfrm>
              <a:prstGeom prst="rect">
                <a:avLst/>
              </a:prstGeom>
              <a:noFill/>
              <a:ln w="9525">
                <a:noFill/>
                <a:miter lim="800000"/>
                <a:headEnd/>
                <a:tailEnd/>
              </a:ln>
              <a:effectLst/>
            </p:spPr>
          </p:pic>
          <p:cxnSp>
            <p:nvCxnSpPr>
              <p:cNvPr id="58" name="直接箭头连接符 57"/>
              <p:cNvCxnSpPr/>
              <p:nvPr/>
            </p:nvCxnSpPr>
            <p:spPr bwMode="auto">
              <a:xfrm flipV="1">
                <a:off x="3071802" y="3959560"/>
                <a:ext cx="357190" cy="343542"/>
              </a:xfrm>
              <a:prstGeom prst="straightConnector1">
                <a:avLst/>
              </a:prstGeom>
              <a:solidFill>
                <a:schemeClr val="accent1"/>
              </a:solidFill>
              <a:ln w="28575" cap="flat" cmpd="sng" algn="ctr">
                <a:solidFill>
                  <a:srgbClr val="00B050"/>
                </a:solidFill>
                <a:prstDash val="solid"/>
                <a:round/>
                <a:headEnd type="arrow" w="med" len="med"/>
                <a:tailEnd type="arrow" w="med" len="med"/>
              </a:ln>
              <a:effectLst/>
            </p:spPr>
          </p:cxnSp>
          <p:cxnSp>
            <p:nvCxnSpPr>
              <p:cNvPr id="59" name="直接连接符 58"/>
              <p:cNvCxnSpPr/>
              <p:nvPr/>
            </p:nvCxnSpPr>
            <p:spPr bwMode="auto">
              <a:xfrm rot="16200000" flipV="1">
                <a:off x="3250397" y="4165451"/>
                <a:ext cx="857256" cy="785818"/>
              </a:xfrm>
              <a:prstGeom prst="line">
                <a:avLst/>
              </a:prstGeom>
              <a:solidFill>
                <a:schemeClr val="accent1"/>
              </a:solidFill>
              <a:ln w="28575" cap="flat" cmpd="sng" algn="ctr">
                <a:solidFill>
                  <a:schemeClr val="tx1"/>
                </a:solidFill>
                <a:prstDash val="dash"/>
                <a:round/>
                <a:headEnd type="none" w="med" len="med"/>
                <a:tailEnd type="none" w="med" len="med"/>
              </a:ln>
              <a:effectLst/>
            </p:spPr>
          </p:cxnSp>
          <p:cxnSp>
            <p:nvCxnSpPr>
              <p:cNvPr id="64" name="直接连接符 63"/>
              <p:cNvCxnSpPr/>
              <p:nvPr/>
            </p:nvCxnSpPr>
            <p:spPr bwMode="auto">
              <a:xfrm rot="5400000" flipH="1" flipV="1">
                <a:off x="4094005" y="4151803"/>
                <a:ext cx="857256" cy="785818"/>
              </a:xfrm>
              <a:prstGeom prst="line">
                <a:avLst/>
              </a:prstGeom>
              <a:solidFill>
                <a:schemeClr val="accent1"/>
              </a:solidFill>
              <a:ln w="28575" cap="flat" cmpd="sng" algn="ctr">
                <a:solidFill>
                  <a:schemeClr val="tx1"/>
                </a:solidFill>
                <a:prstDash val="dash"/>
                <a:round/>
                <a:headEnd type="none" w="med" len="med"/>
                <a:tailEnd type="none" w="med" len="med"/>
              </a:ln>
              <a:effectLst/>
            </p:spPr>
          </p:cxnSp>
          <p:cxnSp>
            <p:nvCxnSpPr>
              <p:cNvPr id="65" name="直接箭头连接符 64"/>
              <p:cNvCxnSpPr/>
              <p:nvPr/>
            </p:nvCxnSpPr>
            <p:spPr bwMode="auto">
              <a:xfrm rot="16200000" flipH="1">
                <a:off x="4714876" y="3929067"/>
                <a:ext cx="357190" cy="357190"/>
              </a:xfrm>
              <a:prstGeom prst="straightConnector1">
                <a:avLst/>
              </a:prstGeom>
              <a:solidFill>
                <a:schemeClr val="accent1"/>
              </a:solidFill>
              <a:ln w="28575" cap="flat" cmpd="sng" algn="ctr">
                <a:solidFill>
                  <a:srgbClr val="00B050"/>
                </a:solidFill>
                <a:prstDash val="solid"/>
                <a:round/>
                <a:headEnd type="arrow" w="med" len="med"/>
                <a:tailEnd type="arrow" w="med" len="med"/>
              </a:ln>
              <a:effectLst/>
            </p:spPr>
          </p:cxnSp>
        </p:grpSp>
        <p:sp>
          <p:nvSpPr>
            <p:cNvPr id="78" name="下箭头 77"/>
            <p:cNvSpPr/>
            <p:nvPr/>
          </p:nvSpPr>
          <p:spPr bwMode="auto">
            <a:xfrm>
              <a:off x="4000496" y="3643314"/>
              <a:ext cx="357190" cy="357190"/>
            </a:xfrm>
            <a:prstGeom prst="down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grpSp>
        <p:nvGrpSpPr>
          <p:cNvPr id="11" name="组合 81"/>
          <p:cNvGrpSpPr/>
          <p:nvPr/>
        </p:nvGrpSpPr>
        <p:grpSpPr>
          <a:xfrm>
            <a:off x="2143108" y="2245048"/>
            <a:ext cx="3286148" cy="1456056"/>
            <a:chOff x="2143108" y="2245048"/>
            <a:chExt cx="3286148" cy="1456056"/>
          </a:xfrm>
        </p:grpSpPr>
        <p:grpSp>
          <p:nvGrpSpPr>
            <p:cNvPr id="12" name="组合 67"/>
            <p:cNvGrpSpPr/>
            <p:nvPr/>
          </p:nvGrpSpPr>
          <p:grpSpPr>
            <a:xfrm>
              <a:off x="2568598" y="2245048"/>
              <a:ext cx="2860658" cy="1456056"/>
              <a:chOff x="2266000" y="2245048"/>
              <a:chExt cx="2860658" cy="1456056"/>
            </a:xfrm>
          </p:grpSpPr>
          <p:pic>
            <p:nvPicPr>
              <p:cNvPr id="239620" name="Picture 4"/>
              <p:cNvPicPr>
                <a:picLocks noChangeAspect="1" noChangeArrowheads="1"/>
              </p:cNvPicPr>
              <p:nvPr/>
            </p:nvPicPr>
            <p:blipFill>
              <a:blip r:embed="rId4" cstate="print"/>
              <a:srcRect/>
              <a:stretch>
                <a:fillRect/>
              </a:stretch>
            </p:blipFill>
            <p:spPr bwMode="auto">
              <a:xfrm>
                <a:off x="2266000" y="2405063"/>
                <a:ext cx="2734628" cy="1126331"/>
              </a:xfrm>
              <a:prstGeom prst="rect">
                <a:avLst/>
              </a:prstGeom>
              <a:noFill/>
              <a:ln w="9525">
                <a:noFill/>
                <a:miter lim="800000"/>
                <a:headEnd/>
                <a:tailEnd/>
              </a:ln>
              <a:effectLst/>
            </p:spPr>
          </p:pic>
          <p:cxnSp>
            <p:nvCxnSpPr>
              <p:cNvPr id="31" name="直接连接符 30"/>
              <p:cNvCxnSpPr/>
              <p:nvPr/>
            </p:nvCxnSpPr>
            <p:spPr bwMode="auto">
              <a:xfrm rot="16200000" flipV="1">
                <a:off x="3321835" y="2522377"/>
                <a:ext cx="857256" cy="785818"/>
              </a:xfrm>
              <a:prstGeom prst="line">
                <a:avLst/>
              </a:prstGeom>
              <a:solidFill>
                <a:schemeClr val="accent1"/>
              </a:solidFill>
              <a:ln w="28575" cap="flat" cmpd="sng" algn="ctr">
                <a:solidFill>
                  <a:schemeClr val="tx1"/>
                </a:solidFill>
                <a:prstDash val="dash"/>
                <a:round/>
                <a:headEnd type="none" w="med" len="med"/>
                <a:tailEnd type="none" w="med" len="med"/>
              </a:ln>
              <a:effectLst/>
            </p:spPr>
          </p:cxnSp>
          <p:cxnSp>
            <p:nvCxnSpPr>
              <p:cNvPr id="28" name="直接箭头连接符 27"/>
              <p:cNvCxnSpPr/>
              <p:nvPr/>
            </p:nvCxnSpPr>
            <p:spPr bwMode="auto">
              <a:xfrm rot="16200000" flipH="1">
                <a:off x="3143240" y="2285993"/>
                <a:ext cx="357190" cy="357190"/>
              </a:xfrm>
              <a:prstGeom prst="straightConnector1">
                <a:avLst/>
              </a:prstGeom>
              <a:solidFill>
                <a:schemeClr val="accent1"/>
              </a:solidFill>
              <a:ln w="28575" cap="flat" cmpd="sng" algn="ctr">
                <a:solidFill>
                  <a:srgbClr val="00B050"/>
                </a:solidFill>
                <a:prstDash val="solid"/>
                <a:round/>
                <a:headEnd type="arrow" w="med" len="med"/>
                <a:tailEnd type="arrow" w="med" len="med"/>
              </a:ln>
              <a:effectLst/>
            </p:spPr>
          </p:cxnSp>
          <p:sp>
            <p:nvSpPr>
              <p:cNvPr id="25" name="TextBox 24"/>
              <p:cNvSpPr txBox="1"/>
              <p:nvPr/>
            </p:nvSpPr>
            <p:spPr>
              <a:xfrm>
                <a:off x="3143240" y="2600262"/>
                <a:ext cx="285752" cy="400110"/>
              </a:xfrm>
              <a:prstGeom prst="rect">
                <a:avLst/>
              </a:prstGeom>
              <a:noFill/>
              <a:ln w="28575">
                <a:noFill/>
              </a:ln>
            </p:spPr>
            <p:txBody>
              <a:bodyPr wrap="square" rtlCol="0">
                <a:spAutoFit/>
              </a:bodyPr>
              <a:lstStyle/>
              <a:p>
                <a:r>
                  <a:rPr lang="en-US" altLang="zh-CN" sz="2000">
                    <a:solidFill>
                      <a:srgbClr val="00B050"/>
                    </a:solidFill>
                    <a:latin typeface="Times New Roman" pitchFamily="18" charset="0"/>
                    <a:cs typeface="Times New Roman" pitchFamily="18" charset="0"/>
                  </a:rPr>
                  <a:t>1</a:t>
                </a:r>
                <a:endParaRPr lang="zh-CN" altLang="en-US" sz="2000">
                  <a:solidFill>
                    <a:srgbClr val="00B050"/>
                  </a:solidFill>
                  <a:latin typeface="Times New Roman" pitchFamily="18" charset="0"/>
                  <a:cs typeface="Times New Roman" pitchFamily="18" charset="0"/>
                </a:endParaRPr>
              </a:p>
            </p:txBody>
          </p:sp>
          <p:cxnSp>
            <p:nvCxnSpPr>
              <p:cNvPr id="29" name="直接连接符 28"/>
              <p:cNvCxnSpPr/>
              <p:nvPr/>
            </p:nvCxnSpPr>
            <p:spPr bwMode="auto">
              <a:xfrm rot="5400000" flipH="1" flipV="1">
                <a:off x="2464579" y="2464587"/>
                <a:ext cx="857256" cy="785818"/>
              </a:xfrm>
              <a:prstGeom prst="line">
                <a:avLst/>
              </a:prstGeom>
              <a:solidFill>
                <a:schemeClr val="accent1"/>
              </a:solidFill>
              <a:ln w="28575" cap="flat" cmpd="sng" algn="ctr">
                <a:solidFill>
                  <a:schemeClr val="tx1"/>
                </a:solidFill>
                <a:prstDash val="dash"/>
                <a:round/>
                <a:headEnd type="none" w="med" len="med"/>
                <a:tailEnd type="none" w="med" len="med"/>
              </a:ln>
              <a:effectLst/>
            </p:spPr>
          </p:cxnSp>
          <p:cxnSp>
            <p:nvCxnSpPr>
              <p:cNvPr id="32" name="直接箭头连接符 31"/>
              <p:cNvCxnSpPr/>
              <p:nvPr/>
            </p:nvCxnSpPr>
            <p:spPr bwMode="auto">
              <a:xfrm>
                <a:off x="4129724" y="3343914"/>
                <a:ext cx="714380" cy="1588"/>
              </a:xfrm>
              <a:prstGeom prst="straightConnector1">
                <a:avLst/>
              </a:prstGeom>
              <a:solidFill>
                <a:schemeClr val="accent1"/>
              </a:solidFill>
              <a:ln w="28575" cap="flat" cmpd="sng" algn="ctr">
                <a:solidFill>
                  <a:srgbClr val="00B050"/>
                </a:solidFill>
                <a:prstDash val="solid"/>
                <a:round/>
                <a:headEnd type="arrow" w="med" len="med"/>
                <a:tailEnd type="arrow" w="med" len="med"/>
              </a:ln>
              <a:effectLst/>
            </p:spPr>
          </p:cxnSp>
          <p:cxnSp>
            <p:nvCxnSpPr>
              <p:cNvPr id="34" name="直接箭头连接符 33"/>
              <p:cNvCxnSpPr/>
              <p:nvPr/>
            </p:nvCxnSpPr>
            <p:spPr bwMode="auto">
              <a:xfrm rot="16200000" flipH="1">
                <a:off x="4143372" y="3343913"/>
                <a:ext cx="357190" cy="357190"/>
              </a:xfrm>
              <a:prstGeom prst="straightConnector1">
                <a:avLst/>
              </a:prstGeom>
              <a:solidFill>
                <a:schemeClr val="accent1"/>
              </a:solidFill>
              <a:ln w="28575" cap="flat" cmpd="sng" algn="ctr">
                <a:solidFill>
                  <a:srgbClr val="00B050"/>
                </a:solidFill>
                <a:prstDash val="dash"/>
                <a:round/>
                <a:headEnd type="arrow" w="med" len="med"/>
                <a:tailEnd type="arrow" w="med" len="med"/>
              </a:ln>
              <a:effectLst/>
            </p:spPr>
          </p:cxnSp>
          <p:cxnSp>
            <p:nvCxnSpPr>
              <p:cNvPr id="35" name="直接箭头连接符 34"/>
              <p:cNvCxnSpPr/>
              <p:nvPr/>
            </p:nvCxnSpPr>
            <p:spPr bwMode="auto">
              <a:xfrm rot="5400000" flipH="1" flipV="1">
                <a:off x="4500562" y="3343914"/>
                <a:ext cx="357190" cy="357190"/>
              </a:xfrm>
              <a:prstGeom prst="straightConnector1">
                <a:avLst/>
              </a:prstGeom>
              <a:solidFill>
                <a:schemeClr val="accent1"/>
              </a:solidFill>
              <a:ln w="28575" cap="flat" cmpd="sng" algn="ctr">
                <a:solidFill>
                  <a:srgbClr val="00B050"/>
                </a:solidFill>
                <a:prstDash val="dash"/>
                <a:round/>
                <a:headEnd type="arrow" w="med" len="med"/>
                <a:tailEnd type="arrow" w="med" len="med"/>
              </a:ln>
              <a:effectLst/>
            </p:spPr>
          </p:cxnSp>
          <p:grpSp>
            <p:nvGrpSpPr>
              <p:cNvPr id="13" name="组合 39"/>
              <p:cNvGrpSpPr/>
              <p:nvPr/>
            </p:nvGrpSpPr>
            <p:grpSpPr>
              <a:xfrm>
                <a:off x="4357686" y="2986724"/>
                <a:ext cx="571504" cy="400110"/>
                <a:chOff x="4357686" y="2928934"/>
                <a:chExt cx="571504" cy="400110"/>
              </a:xfrm>
            </p:grpSpPr>
            <p:sp>
              <p:nvSpPr>
                <p:cNvPr id="36" name="TextBox 35"/>
                <p:cNvSpPr txBox="1"/>
                <p:nvPr/>
              </p:nvSpPr>
              <p:spPr>
                <a:xfrm>
                  <a:off x="4357686" y="2928934"/>
                  <a:ext cx="571504" cy="400110"/>
                </a:xfrm>
                <a:prstGeom prst="rect">
                  <a:avLst/>
                </a:prstGeom>
                <a:noFill/>
                <a:ln w="28575">
                  <a:noFill/>
                </a:ln>
              </p:spPr>
              <p:txBody>
                <a:bodyPr wrap="square" rtlCol="0">
                  <a:spAutoFit/>
                </a:bodyPr>
                <a:lstStyle/>
                <a:p>
                  <a:r>
                    <a:rPr lang="en-US" altLang="zh-CN" sz="2000" b="1">
                      <a:solidFill>
                        <a:srgbClr val="00B050"/>
                      </a:solidFill>
                      <a:latin typeface="Times New Roman" pitchFamily="18" charset="0"/>
                      <a:cs typeface="Times New Roman" pitchFamily="18" charset="0"/>
                    </a:rPr>
                    <a:t>√</a:t>
                  </a:r>
                  <a:r>
                    <a:rPr lang="en-US" altLang="zh-CN" sz="2000">
                      <a:solidFill>
                        <a:srgbClr val="00B050"/>
                      </a:solidFill>
                      <a:latin typeface="Times New Roman" pitchFamily="18" charset="0"/>
                      <a:cs typeface="Times New Roman" pitchFamily="18" charset="0"/>
                    </a:rPr>
                    <a:t>2</a:t>
                  </a:r>
                  <a:endParaRPr lang="zh-CN" altLang="en-US" sz="2000">
                    <a:solidFill>
                      <a:srgbClr val="00B050"/>
                    </a:solidFill>
                    <a:latin typeface="Times New Roman" pitchFamily="18" charset="0"/>
                    <a:cs typeface="Times New Roman" pitchFamily="18" charset="0"/>
                  </a:endParaRPr>
                </a:p>
              </p:txBody>
            </p:sp>
            <p:cxnSp>
              <p:nvCxnSpPr>
                <p:cNvPr id="38" name="直接连接符 37"/>
                <p:cNvCxnSpPr/>
                <p:nvPr/>
              </p:nvCxnSpPr>
              <p:spPr bwMode="auto">
                <a:xfrm rot="5400000" flipH="1" flipV="1">
                  <a:off x="4660284" y="2916080"/>
                  <a:ext cx="1588" cy="142876"/>
                </a:xfrm>
                <a:prstGeom prst="line">
                  <a:avLst/>
                </a:prstGeom>
                <a:solidFill>
                  <a:schemeClr val="accent1"/>
                </a:solidFill>
                <a:ln w="6350" cap="flat" cmpd="sng" algn="ctr">
                  <a:solidFill>
                    <a:srgbClr val="00B050"/>
                  </a:solidFill>
                  <a:prstDash val="solid"/>
                  <a:round/>
                  <a:headEnd type="none" w="med" len="med"/>
                  <a:tailEnd type="none" w="med" len="med"/>
                </a:ln>
                <a:effectLst/>
              </p:spPr>
            </p:cxnSp>
          </p:grpSp>
          <p:cxnSp>
            <p:nvCxnSpPr>
              <p:cNvPr id="49" name="直接连接符 48"/>
              <p:cNvCxnSpPr/>
              <p:nvPr/>
            </p:nvCxnSpPr>
            <p:spPr bwMode="auto">
              <a:xfrm rot="5400000" flipH="1" flipV="1">
                <a:off x="4107653" y="2495081"/>
                <a:ext cx="857256" cy="785818"/>
              </a:xfrm>
              <a:prstGeom prst="line">
                <a:avLst/>
              </a:prstGeom>
              <a:solidFill>
                <a:schemeClr val="accent1"/>
              </a:solidFill>
              <a:ln w="28575" cap="flat" cmpd="sng" algn="ctr">
                <a:solidFill>
                  <a:schemeClr val="tx1"/>
                </a:solidFill>
                <a:prstDash val="dash"/>
                <a:round/>
                <a:headEnd type="none" w="med" len="med"/>
                <a:tailEnd type="none" w="med" len="med"/>
              </a:ln>
              <a:effectLst/>
            </p:spPr>
          </p:cxnSp>
          <p:cxnSp>
            <p:nvCxnSpPr>
              <p:cNvPr id="50" name="直接箭头连接符 49"/>
              <p:cNvCxnSpPr/>
              <p:nvPr/>
            </p:nvCxnSpPr>
            <p:spPr bwMode="auto">
              <a:xfrm rot="5400000" flipH="1" flipV="1">
                <a:off x="4726925" y="2273943"/>
                <a:ext cx="428628" cy="370838"/>
              </a:xfrm>
              <a:prstGeom prst="straightConnector1">
                <a:avLst/>
              </a:prstGeom>
              <a:solidFill>
                <a:schemeClr val="accent1"/>
              </a:solidFill>
              <a:ln w="28575" cap="flat" cmpd="sng" algn="ctr">
                <a:solidFill>
                  <a:srgbClr val="00B050"/>
                </a:solidFill>
                <a:prstDash val="solid"/>
                <a:round/>
                <a:headEnd type="arrow" w="med" len="med"/>
                <a:tailEnd type="arrow" w="med" len="med"/>
              </a:ln>
              <a:effectLst/>
            </p:spPr>
          </p:cxnSp>
        </p:grpSp>
        <p:sp>
          <p:nvSpPr>
            <p:cNvPr id="79" name="右箭头 78"/>
            <p:cNvSpPr/>
            <p:nvPr/>
          </p:nvSpPr>
          <p:spPr bwMode="auto">
            <a:xfrm>
              <a:off x="2143108" y="2786058"/>
              <a:ext cx="357190" cy="285752"/>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5">
                                            <p:txEl>
                                              <p:pRg st="0" end="0"/>
                                            </p:txEl>
                                          </p:spTgt>
                                        </p:tgtEl>
                                        <p:attrNameLst>
                                          <p:attrName>style.visibility</p:attrName>
                                        </p:attrNameLst>
                                      </p:cBhvr>
                                      <p:to>
                                        <p:strVal val="visible"/>
                                      </p:to>
                                    </p:set>
                                    <p:anim calcmode="lin" valueType="num">
                                      <p:cBhvr additive="base">
                                        <p:cTn id="37" dur="500" fill="hold"/>
                                        <p:tgtEl>
                                          <p:spTgt spid="75">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5">
                                            <p:txEl>
                                              <p:pRg st="2" end="2"/>
                                            </p:txEl>
                                          </p:spTgt>
                                        </p:tgtEl>
                                        <p:attrNameLst>
                                          <p:attrName>style.visibility</p:attrName>
                                        </p:attrNameLst>
                                      </p:cBhvr>
                                      <p:to>
                                        <p:strVal val="visible"/>
                                      </p:to>
                                    </p:set>
                                    <p:anim calcmode="lin" valueType="num">
                                      <p:cBhvr additive="base">
                                        <p:cTn id="43" dur="500" fill="hold"/>
                                        <p:tgtEl>
                                          <p:spTgt spid="75">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r>
              <a:rPr lang="zh-CN" altLang="en-US"/>
              <a:t>几何构造与静定性的关系</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思考与小结</a:t>
            </a:r>
            <a:endParaRPr lang="zh-CN" altLang="en-US" sz="3600" dirty="0"/>
          </a:p>
        </p:txBody>
      </p:sp>
      <p:sp>
        <p:nvSpPr>
          <p:cNvPr id="1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grpSp>
        <p:nvGrpSpPr>
          <p:cNvPr id="17" name="Group 3"/>
          <p:cNvGrpSpPr>
            <a:grpSpLocks/>
          </p:cNvGrpSpPr>
          <p:nvPr/>
        </p:nvGrpSpPr>
        <p:grpSpPr bwMode="auto">
          <a:xfrm>
            <a:off x="4000496" y="4357694"/>
            <a:ext cx="1416050" cy="1747838"/>
            <a:chOff x="2215" y="2736"/>
            <a:chExt cx="892" cy="1101"/>
          </a:xfrm>
        </p:grpSpPr>
        <p:sp>
          <p:nvSpPr>
            <p:cNvPr id="18" name="Text Box 4"/>
            <p:cNvSpPr txBox="1">
              <a:spLocks noChangeArrowheads="1"/>
            </p:cNvSpPr>
            <p:nvPr/>
          </p:nvSpPr>
          <p:spPr bwMode="auto">
            <a:xfrm>
              <a:off x="2215" y="3546"/>
              <a:ext cx="892" cy="291"/>
            </a:xfrm>
            <a:prstGeom prst="rect">
              <a:avLst/>
            </a:prstGeom>
            <a:noFill/>
            <a:ln w="9525">
              <a:noFill/>
              <a:miter lim="800000"/>
              <a:headEnd/>
              <a:tailEnd/>
            </a:ln>
          </p:spPr>
          <p:txBody>
            <a:bodyPr wrap="none">
              <a:spAutoFit/>
            </a:bodyPr>
            <a:lstStyle/>
            <a:p>
              <a:r>
                <a:rPr lang="zh-CN" altLang="en-US" sz="2400" b="1">
                  <a:solidFill>
                    <a:schemeClr val="tx2"/>
                  </a:solidFill>
                  <a:latin typeface="+mn-ea"/>
                </a:rPr>
                <a:t>静定结构</a:t>
              </a:r>
              <a:endParaRPr lang="zh-CN" altLang="en-US" sz="2400" b="1">
                <a:latin typeface="+mn-ea"/>
              </a:endParaRPr>
            </a:p>
          </p:txBody>
        </p:sp>
        <p:sp>
          <p:nvSpPr>
            <p:cNvPr id="19" name="AutoShape 5"/>
            <p:cNvSpPr>
              <a:spLocks noChangeArrowheads="1"/>
            </p:cNvSpPr>
            <p:nvPr/>
          </p:nvSpPr>
          <p:spPr bwMode="auto">
            <a:xfrm rot="5400000">
              <a:off x="2328" y="3000"/>
              <a:ext cx="720" cy="192"/>
            </a:xfrm>
            <a:prstGeom prst="notchedRightArrow">
              <a:avLst>
                <a:gd name="adj1" fmla="val 50000"/>
                <a:gd name="adj2" fmla="val 93750"/>
              </a:avLst>
            </a:prstGeom>
            <a:solidFill>
              <a:srgbClr val="FF99CC"/>
            </a:solidFill>
            <a:ln w="9525">
              <a:solidFill>
                <a:srgbClr val="800000"/>
              </a:solidFill>
              <a:miter lim="800000"/>
              <a:headEnd/>
              <a:tailEnd/>
            </a:ln>
          </p:spPr>
          <p:txBody>
            <a:bodyPr wrap="none" anchor="ctr"/>
            <a:lstStyle/>
            <a:p>
              <a:pPr>
                <a:spcBef>
                  <a:spcPct val="50000"/>
                </a:spcBef>
              </a:pPr>
              <a:endParaRPr lang="zh-CN" altLang="en-US">
                <a:ea typeface="楷体_GB2312"/>
              </a:endParaRPr>
            </a:p>
          </p:txBody>
        </p:sp>
      </p:grpSp>
      <p:grpSp>
        <p:nvGrpSpPr>
          <p:cNvPr id="20" name="Group 6"/>
          <p:cNvGrpSpPr>
            <a:grpSpLocks/>
          </p:cNvGrpSpPr>
          <p:nvPr/>
        </p:nvGrpSpPr>
        <p:grpSpPr bwMode="auto">
          <a:xfrm>
            <a:off x="1571604" y="1982236"/>
            <a:ext cx="6071721" cy="2232582"/>
            <a:chOff x="528" y="808"/>
            <a:chExt cx="4258" cy="1736"/>
          </a:xfrm>
        </p:grpSpPr>
        <p:graphicFrame>
          <p:nvGraphicFramePr>
            <p:cNvPr id="21" name="Object 7"/>
            <p:cNvGraphicFramePr>
              <a:graphicFrameLocks noChangeAspect="1"/>
            </p:cNvGraphicFramePr>
            <p:nvPr/>
          </p:nvGraphicFramePr>
          <p:xfrm>
            <a:off x="531" y="808"/>
            <a:ext cx="4255" cy="1722"/>
          </p:xfrm>
          <a:graphic>
            <a:graphicData uri="http://schemas.openxmlformats.org/presentationml/2006/ole">
              <mc:AlternateContent xmlns:mc="http://schemas.openxmlformats.org/markup-compatibility/2006">
                <mc:Choice xmlns:v="urn:schemas-microsoft-com:vml" Requires="v">
                  <p:oleObj spid="_x0000_s1036" name="BMP 图象" r:id="rId4" imgW="6752381" imgH="2734057" progId="">
                    <p:embed/>
                  </p:oleObj>
                </mc:Choice>
                <mc:Fallback>
                  <p:oleObj name="BMP 图象" r:id="rId4" imgW="6752381" imgH="2734057" progId="">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1" y="808"/>
                          <a:ext cx="4255" cy="1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 name="Rectangle 8"/>
            <p:cNvSpPr>
              <a:spLocks noChangeArrowheads="1"/>
            </p:cNvSpPr>
            <p:nvPr/>
          </p:nvSpPr>
          <p:spPr bwMode="auto">
            <a:xfrm>
              <a:off x="3795" y="1006"/>
              <a:ext cx="240" cy="336"/>
            </a:xfrm>
            <a:prstGeom prst="rect">
              <a:avLst/>
            </a:prstGeom>
            <a:solidFill>
              <a:srgbClr val="FFFFFF"/>
            </a:solidFill>
            <a:ln w="9525">
              <a:noFill/>
              <a:miter lim="800000"/>
              <a:headEnd/>
              <a:tailEnd/>
            </a:ln>
          </p:spPr>
          <p:txBody>
            <a:bodyPr wrap="none" anchor="ctr"/>
            <a:lstStyle/>
            <a:p>
              <a:pPr algn="ctr"/>
              <a:r>
                <a:rPr lang="en-US" altLang="zh-CN" sz="2400" i="1">
                  <a:latin typeface="Times New Roman" pitchFamily="18" charset="0"/>
                  <a:cs typeface="Times New Roman" pitchFamily="18" charset="0"/>
                </a:rPr>
                <a:t>F</a:t>
              </a:r>
            </a:p>
          </p:txBody>
        </p:sp>
        <p:sp>
          <p:nvSpPr>
            <p:cNvPr id="23" name="Rectangle 9"/>
            <p:cNvSpPr>
              <a:spLocks noChangeArrowheads="1"/>
            </p:cNvSpPr>
            <p:nvPr/>
          </p:nvSpPr>
          <p:spPr bwMode="auto">
            <a:xfrm>
              <a:off x="528" y="864"/>
              <a:ext cx="336" cy="336"/>
            </a:xfrm>
            <a:prstGeom prst="rect">
              <a:avLst/>
            </a:prstGeom>
            <a:solidFill>
              <a:srgbClr val="FFFFFF"/>
            </a:solidFill>
            <a:ln w="9525">
              <a:noFill/>
              <a:miter lim="800000"/>
              <a:headEnd/>
              <a:tailEnd/>
            </a:ln>
          </p:spPr>
          <p:txBody>
            <a:bodyPr wrap="none" anchor="ctr"/>
            <a:lstStyle/>
            <a:p>
              <a:pPr algn="ctr"/>
              <a:endParaRPr lang="zh-CN" altLang="zh-CN" sz="3600" i="1"/>
            </a:p>
          </p:txBody>
        </p:sp>
        <p:sp>
          <p:nvSpPr>
            <p:cNvPr id="24" name="Rectangle 10"/>
            <p:cNvSpPr>
              <a:spLocks noChangeArrowheads="1"/>
            </p:cNvSpPr>
            <p:nvPr/>
          </p:nvSpPr>
          <p:spPr bwMode="auto">
            <a:xfrm>
              <a:off x="4536" y="2197"/>
              <a:ext cx="240" cy="336"/>
            </a:xfrm>
            <a:prstGeom prst="rect">
              <a:avLst/>
            </a:prstGeom>
            <a:solidFill>
              <a:srgbClr val="FFFFFF"/>
            </a:solidFill>
            <a:ln w="9525">
              <a:noFill/>
              <a:miter lim="800000"/>
              <a:headEnd/>
              <a:tailEnd/>
            </a:ln>
          </p:spPr>
          <p:txBody>
            <a:bodyPr wrap="none" anchor="ctr"/>
            <a:lstStyle/>
            <a:p>
              <a:pPr algn="ctr"/>
              <a:r>
                <a:rPr lang="en-US" altLang="zh-CN" sz="2400" i="1">
                  <a:latin typeface="Times New Roman" pitchFamily="18" charset="0"/>
                  <a:cs typeface="Times New Roman" pitchFamily="18" charset="0"/>
                </a:rPr>
                <a:t>F</a:t>
              </a:r>
              <a:r>
                <a:rPr lang="en-US" altLang="zh-CN" sz="2400" i="1" baseline="-25000">
                  <a:latin typeface="Times New Roman" pitchFamily="18" charset="0"/>
                  <a:cs typeface="Times New Roman" pitchFamily="18" charset="0"/>
                </a:rPr>
                <a:t>B</a:t>
              </a:r>
              <a:endParaRPr lang="en-US" altLang="zh-CN" sz="2400" i="1">
                <a:latin typeface="Times New Roman" pitchFamily="18" charset="0"/>
                <a:cs typeface="Times New Roman" pitchFamily="18" charset="0"/>
              </a:endParaRPr>
            </a:p>
          </p:txBody>
        </p:sp>
        <p:sp>
          <p:nvSpPr>
            <p:cNvPr id="25" name="Rectangle 11"/>
            <p:cNvSpPr>
              <a:spLocks noChangeArrowheads="1"/>
            </p:cNvSpPr>
            <p:nvPr/>
          </p:nvSpPr>
          <p:spPr bwMode="auto">
            <a:xfrm>
              <a:off x="1640" y="2112"/>
              <a:ext cx="240" cy="432"/>
            </a:xfrm>
            <a:prstGeom prst="rect">
              <a:avLst/>
            </a:prstGeom>
            <a:solidFill>
              <a:srgbClr val="FFFFFF"/>
            </a:solidFill>
            <a:ln w="9525">
              <a:noFill/>
              <a:miter lim="800000"/>
              <a:headEnd/>
              <a:tailEnd/>
            </a:ln>
          </p:spPr>
          <p:txBody>
            <a:bodyPr wrap="none" anchor="ctr"/>
            <a:lstStyle/>
            <a:p>
              <a:pPr algn="ctr"/>
              <a:r>
                <a:rPr lang="en-US" altLang="zh-CN" sz="2400" i="1">
                  <a:latin typeface="Times New Roman" pitchFamily="18" charset="0"/>
                  <a:cs typeface="Times New Roman" pitchFamily="18" charset="0"/>
                </a:rPr>
                <a:t>F</a:t>
              </a:r>
              <a:r>
                <a:rPr lang="en-US" altLang="zh-CN" sz="2400" i="1" baseline="-25000">
                  <a:latin typeface="Times New Roman" pitchFamily="18" charset="0"/>
                  <a:cs typeface="Times New Roman" pitchFamily="18" charset="0"/>
                </a:rPr>
                <a:t>Ay</a:t>
              </a:r>
              <a:endParaRPr lang="en-US" altLang="zh-CN" sz="2400" i="1">
                <a:latin typeface="Times New Roman" pitchFamily="18" charset="0"/>
                <a:cs typeface="Times New Roman" pitchFamily="18" charset="0"/>
              </a:endParaRPr>
            </a:p>
          </p:txBody>
        </p:sp>
        <p:sp>
          <p:nvSpPr>
            <p:cNvPr id="26" name="Rectangle 12"/>
            <p:cNvSpPr>
              <a:spLocks noChangeArrowheads="1"/>
            </p:cNvSpPr>
            <p:nvPr/>
          </p:nvSpPr>
          <p:spPr bwMode="auto">
            <a:xfrm>
              <a:off x="689" y="1141"/>
              <a:ext cx="240" cy="432"/>
            </a:xfrm>
            <a:prstGeom prst="rect">
              <a:avLst/>
            </a:prstGeom>
            <a:solidFill>
              <a:srgbClr val="FFFFFF"/>
            </a:solidFill>
            <a:ln w="9525">
              <a:noFill/>
              <a:miter lim="800000"/>
              <a:headEnd/>
              <a:tailEnd/>
            </a:ln>
          </p:spPr>
          <p:txBody>
            <a:bodyPr wrap="none" anchor="ctr"/>
            <a:lstStyle/>
            <a:p>
              <a:pPr algn="ctr"/>
              <a:r>
                <a:rPr lang="en-US" altLang="zh-CN" sz="2400" i="1">
                  <a:latin typeface="Times New Roman" pitchFamily="18" charset="0"/>
                  <a:cs typeface="Times New Roman" pitchFamily="18" charset="0"/>
                </a:rPr>
                <a:t>F</a:t>
              </a:r>
              <a:r>
                <a:rPr lang="en-US" altLang="zh-CN" sz="2400" i="1" baseline="-25000">
                  <a:latin typeface="Times New Roman" pitchFamily="18" charset="0"/>
                  <a:cs typeface="Times New Roman" pitchFamily="18" charset="0"/>
                </a:rPr>
                <a:t>Ax</a:t>
              </a:r>
              <a:endParaRPr lang="en-US" altLang="zh-CN" sz="2400" i="1">
                <a:latin typeface="Times New Roman" pitchFamily="18" charset="0"/>
                <a:cs typeface="Times New Roman" pitchFamily="18" charset="0"/>
              </a:endParaRPr>
            </a:p>
          </p:txBody>
        </p:sp>
      </p:grpSp>
      <p:sp>
        <p:nvSpPr>
          <p:cNvPr id="27" name="AutoShape 13"/>
          <p:cNvSpPr>
            <a:spLocks noChangeArrowheads="1"/>
          </p:cNvSpPr>
          <p:nvPr/>
        </p:nvSpPr>
        <p:spPr bwMode="auto">
          <a:xfrm>
            <a:off x="6429388" y="4357694"/>
            <a:ext cx="2286016" cy="1981200"/>
          </a:xfrm>
          <a:prstGeom prst="cloudCallout">
            <a:avLst>
              <a:gd name="adj1" fmla="val -94024"/>
              <a:gd name="adj2" fmla="val -67837"/>
            </a:avLst>
          </a:prstGeom>
          <a:solidFill>
            <a:srgbClr val="FFFFFF"/>
          </a:solidFill>
          <a:ln w="9525">
            <a:solidFill>
              <a:srgbClr val="FF3300"/>
            </a:solidFill>
            <a:round/>
            <a:headEnd/>
            <a:tailEnd/>
          </a:ln>
        </p:spPr>
        <p:txBody>
          <a:bodyPr wrap="none" anchor="ctr"/>
          <a:lstStyle/>
          <a:p>
            <a:pPr algn="ctr"/>
            <a:r>
              <a:rPr lang="zh-CN" altLang="en-US" sz="2400" b="1">
                <a:solidFill>
                  <a:srgbClr val="3333CC"/>
                </a:solidFill>
                <a:latin typeface="+mn-ea"/>
              </a:rPr>
              <a:t>无多余</a:t>
            </a:r>
          </a:p>
          <a:p>
            <a:pPr algn="ctr"/>
            <a:r>
              <a:rPr lang="zh-CN" altLang="en-US" sz="2400" b="1">
                <a:solidFill>
                  <a:srgbClr val="3333CC"/>
                </a:solidFill>
                <a:latin typeface="+mn-ea"/>
              </a:rPr>
              <a:t>约束几何</a:t>
            </a:r>
          </a:p>
          <a:p>
            <a:pPr algn="ctr"/>
            <a:r>
              <a:rPr lang="zh-CN" altLang="en-US" sz="2400" b="1">
                <a:solidFill>
                  <a:srgbClr val="3333CC"/>
                </a:solidFill>
                <a:latin typeface="+mn-ea"/>
              </a:rPr>
              <a:t>不变。</a:t>
            </a:r>
          </a:p>
        </p:txBody>
      </p:sp>
      <p:sp>
        <p:nvSpPr>
          <p:cNvPr id="28" name="AutoShape 14"/>
          <p:cNvSpPr>
            <a:spLocks noChangeArrowheads="1"/>
          </p:cNvSpPr>
          <p:nvPr/>
        </p:nvSpPr>
        <p:spPr bwMode="auto">
          <a:xfrm>
            <a:off x="1571604" y="4714884"/>
            <a:ext cx="1785950" cy="928694"/>
          </a:xfrm>
          <a:prstGeom prst="wedgeRoundRectCallout">
            <a:avLst>
              <a:gd name="adj1" fmla="val 103031"/>
              <a:gd name="adj2" fmla="val -125522"/>
              <a:gd name="adj3" fmla="val 16667"/>
            </a:avLst>
          </a:prstGeom>
          <a:solidFill>
            <a:srgbClr val="FFFFFF"/>
          </a:solidFill>
          <a:ln w="9525">
            <a:solidFill>
              <a:schemeClr val="tx1"/>
            </a:solidFill>
            <a:miter lim="800000"/>
            <a:headEnd/>
            <a:tailEnd/>
          </a:ln>
        </p:spPr>
        <p:txBody>
          <a:bodyPr wrap="none" anchor="ctr"/>
          <a:lstStyle/>
          <a:p>
            <a:pPr algn="ctr"/>
            <a:r>
              <a:rPr lang="zh-CN" altLang="en-US" sz="2400" b="1">
                <a:solidFill>
                  <a:srgbClr val="000078"/>
                </a:solidFill>
                <a:latin typeface="+mn-ea"/>
                <a:cs typeface="Times New Roman" pitchFamily="18" charset="0"/>
              </a:rPr>
              <a:t>如何求支</a:t>
            </a:r>
          </a:p>
          <a:p>
            <a:pPr algn="ctr"/>
            <a:r>
              <a:rPr lang="zh-CN" altLang="en-US" sz="2400" b="1">
                <a:solidFill>
                  <a:srgbClr val="000078"/>
                </a:solidFill>
                <a:latin typeface="+mn-ea"/>
                <a:cs typeface="Times New Roman" pitchFamily="18" charset="0"/>
              </a:rPr>
              <a:t>座反力？</a:t>
            </a:r>
            <a:endParaRPr lang="en-US" altLang="zh-CN" sz="2400" b="1">
              <a:solidFill>
                <a:srgbClr val="000078"/>
              </a:solidFill>
              <a:latin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3"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strips(upRight)">
                                      <p:cBhvr>
                                        <p:cTn id="11" dur="500"/>
                                        <p:tgtEl>
                                          <p:spTgt spid="27"/>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28"/>
                                        </p:tgtEl>
                                        <p:attrNameLst>
                                          <p:attrName>style.visibility</p:attrName>
                                        </p:attrNameLst>
                                      </p:cBhvr>
                                      <p:to>
                                        <p:strVal val="visible"/>
                                      </p:to>
                                    </p:set>
                                    <p:anim calcmode="lin" valueType="num">
                                      <p:cBhvr additive="base">
                                        <p:cTn id="16" dur="500" fill="hold"/>
                                        <p:tgtEl>
                                          <p:spTgt spid="28"/>
                                        </p:tgtEl>
                                        <p:attrNameLst>
                                          <p:attrName>ppt_x</p:attrName>
                                        </p:attrNameLst>
                                      </p:cBhvr>
                                      <p:tavLst>
                                        <p:tav tm="0">
                                          <p:val>
                                            <p:strVal val="0-#ppt_w/2"/>
                                          </p:val>
                                        </p:tav>
                                        <p:tav tm="100000">
                                          <p:val>
                                            <p:strVal val="#ppt_x"/>
                                          </p:val>
                                        </p:tav>
                                      </p:tavLst>
                                    </p:anim>
                                    <p:anim calcmode="lin" valueType="num">
                                      <p:cBhvr additive="base">
                                        <p:cTn id="17"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additive="base">
                                        <p:cTn id="22" dur="500" fill="hold"/>
                                        <p:tgtEl>
                                          <p:spTgt spid="17"/>
                                        </p:tgtEl>
                                        <p:attrNameLst>
                                          <p:attrName>ppt_x</p:attrName>
                                        </p:attrNameLst>
                                      </p:cBhvr>
                                      <p:tavLst>
                                        <p:tav tm="0">
                                          <p:val>
                                            <p:strVal val="#ppt_x"/>
                                          </p:val>
                                        </p:tav>
                                        <p:tav tm="100000">
                                          <p:val>
                                            <p:strVal val="#ppt_x"/>
                                          </p:val>
                                        </p:tav>
                                      </p:tavLst>
                                    </p:anim>
                                    <p:anim calcmode="lin" valueType="num">
                                      <p:cBhvr additive="base">
                                        <p:cTn id="23"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autoUpdateAnimBg="0"/>
      <p:bldP spid="28" grpId="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r>
              <a:rPr lang="zh-CN" altLang="en-US"/>
              <a:t>几何构造与静定性的关系</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思考与小结</a:t>
            </a:r>
            <a:endParaRPr lang="zh-CN" altLang="en-US" sz="3600" dirty="0"/>
          </a:p>
        </p:txBody>
      </p:sp>
      <p:sp>
        <p:nvSpPr>
          <p:cNvPr id="1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grpSp>
        <p:nvGrpSpPr>
          <p:cNvPr id="17" name="Group 2"/>
          <p:cNvGrpSpPr>
            <a:grpSpLocks/>
          </p:cNvGrpSpPr>
          <p:nvPr/>
        </p:nvGrpSpPr>
        <p:grpSpPr bwMode="auto">
          <a:xfrm>
            <a:off x="1571647" y="1863725"/>
            <a:ext cx="6143625" cy="2465388"/>
            <a:chOff x="480" y="336"/>
            <a:chExt cx="3870" cy="1553"/>
          </a:xfrm>
        </p:grpSpPr>
        <p:graphicFrame>
          <p:nvGraphicFramePr>
            <p:cNvPr id="20" name="Object 3"/>
            <p:cNvGraphicFramePr>
              <a:graphicFrameLocks/>
            </p:cNvGraphicFramePr>
            <p:nvPr/>
          </p:nvGraphicFramePr>
          <p:xfrm>
            <a:off x="480" y="336"/>
            <a:ext cx="3786" cy="1542"/>
          </p:xfrm>
          <a:graphic>
            <a:graphicData uri="http://schemas.openxmlformats.org/presentationml/2006/ole">
              <mc:AlternateContent xmlns:mc="http://schemas.openxmlformats.org/markup-compatibility/2006">
                <mc:Choice xmlns:v="urn:schemas-microsoft-com:vml" Requires="v">
                  <p:oleObj spid="_x0000_s241668" name="BMP 图象" r:id="rId4" imgW="6676190" imgH="3019048" progId="">
                    <p:embed/>
                  </p:oleObj>
                </mc:Choice>
                <mc:Fallback>
                  <p:oleObj name="BMP 图象" r:id="rId4" imgW="6676190" imgH="3019048" progId="">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 y="336"/>
                          <a:ext cx="3786" cy="1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 name="Rectangle 4"/>
            <p:cNvSpPr>
              <a:spLocks noChangeArrowheads="1"/>
            </p:cNvSpPr>
            <p:nvPr/>
          </p:nvSpPr>
          <p:spPr bwMode="auto">
            <a:xfrm>
              <a:off x="3390" y="467"/>
              <a:ext cx="240" cy="336"/>
            </a:xfrm>
            <a:prstGeom prst="rect">
              <a:avLst/>
            </a:prstGeom>
            <a:solidFill>
              <a:srgbClr val="FFFFFF"/>
            </a:solidFill>
            <a:ln w="9525">
              <a:noFill/>
              <a:miter lim="800000"/>
              <a:headEnd/>
              <a:tailEnd/>
            </a:ln>
          </p:spPr>
          <p:txBody>
            <a:bodyPr wrap="none" anchor="ctr"/>
            <a:lstStyle/>
            <a:p>
              <a:pPr algn="ctr"/>
              <a:r>
                <a:rPr lang="en-US" altLang="zh-CN" sz="2400" i="1">
                  <a:latin typeface="Times New Roman" pitchFamily="18" charset="0"/>
                  <a:cs typeface="Times New Roman" pitchFamily="18" charset="0"/>
                </a:rPr>
                <a:t>F</a:t>
              </a:r>
            </a:p>
          </p:txBody>
        </p:sp>
        <p:sp>
          <p:nvSpPr>
            <p:cNvPr id="30" name="Rectangle 5"/>
            <p:cNvSpPr>
              <a:spLocks noChangeArrowheads="1"/>
            </p:cNvSpPr>
            <p:nvPr/>
          </p:nvSpPr>
          <p:spPr bwMode="auto">
            <a:xfrm>
              <a:off x="672" y="384"/>
              <a:ext cx="336" cy="336"/>
            </a:xfrm>
            <a:prstGeom prst="rect">
              <a:avLst/>
            </a:prstGeom>
            <a:solidFill>
              <a:srgbClr val="FFFFFF"/>
            </a:solidFill>
            <a:ln w="9525">
              <a:noFill/>
              <a:miter lim="800000"/>
              <a:headEnd/>
              <a:tailEnd/>
            </a:ln>
          </p:spPr>
          <p:txBody>
            <a:bodyPr wrap="none" anchor="ctr"/>
            <a:lstStyle/>
            <a:p>
              <a:pPr algn="ctr"/>
              <a:endParaRPr lang="zh-CN" altLang="zh-CN" sz="3600" i="1"/>
            </a:p>
          </p:txBody>
        </p:sp>
        <p:sp>
          <p:nvSpPr>
            <p:cNvPr id="31" name="Rectangle 6"/>
            <p:cNvSpPr>
              <a:spLocks noChangeArrowheads="1"/>
            </p:cNvSpPr>
            <p:nvPr/>
          </p:nvSpPr>
          <p:spPr bwMode="auto">
            <a:xfrm>
              <a:off x="4110" y="1502"/>
              <a:ext cx="240" cy="336"/>
            </a:xfrm>
            <a:prstGeom prst="rect">
              <a:avLst/>
            </a:prstGeom>
            <a:solidFill>
              <a:srgbClr val="FFFFFF"/>
            </a:solidFill>
            <a:ln w="9525">
              <a:noFill/>
              <a:miter lim="800000"/>
              <a:headEnd/>
              <a:tailEnd/>
            </a:ln>
          </p:spPr>
          <p:txBody>
            <a:bodyPr wrap="none" anchor="ctr"/>
            <a:lstStyle/>
            <a:p>
              <a:pPr algn="ctr"/>
              <a:r>
                <a:rPr lang="en-US" altLang="zh-CN" sz="2400" i="1">
                  <a:latin typeface="Times New Roman" pitchFamily="18" charset="0"/>
                  <a:cs typeface="Times New Roman" pitchFamily="18" charset="0"/>
                </a:rPr>
                <a:t>F</a:t>
              </a:r>
              <a:r>
                <a:rPr lang="en-US" altLang="zh-CN" sz="2400" i="1" baseline="-25000">
                  <a:latin typeface="Times New Roman" pitchFamily="18" charset="0"/>
                  <a:cs typeface="Times New Roman" pitchFamily="18" charset="0"/>
                </a:rPr>
                <a:t>B</a:t>
              </a:r>
              <a:endParaRPr lang="en-US" altLang="zh-CN" sz="2400" i="1">
                <a:latin typeface="Times New Roman" pitchFamily="18" charset="0"/>
                <a:cs typeface="Times New Roman" pitchFamily="18" charset="0"/>
              </a:endParaRPr>
            </a:p>
          </p:txBody>
        </p:sp>
        <p:sp>
          <p:nvSpPr>
            <p:cNvPr id="32" name="Rectangle 7"/>
            <p:cNvSpPr>
              <a:spLocks noChangeArrowheads="1"/>
            </p:cNvSpPr>
            <p:nvPr/>
          </p:nvSpPr>
          <p:spPr bwMode="auto">
            <a:xfrm>
              <a:off x="1470" y="1457"/>
              <a:ext cx="240" cy="432"/>
            </a:xfrm>
            <a:prstGeom prst="rect">
              <a:avLst/>
            </a:prstGeom>
            <a:solidFill>
              <a:srgbClr val="FFFFFF"/>
            </a:solidFill>
            <a:ln w="9525">
              <a:noFill/>
              <a:miter lim="800000"/>
              <a:headEnd/>
              <a:tailEnd/>
            </a:ln>
          </p:spPr>
          <p:txBody>
            <a:bodyPr wrap="none" anchor="ctr"/>
            <a:lstStyle/>
            <a:p>
              <a:pPr algn="ctr"/>
              <a:r>
                <a:rPr lang="en-US" altLang="zh-CN" sz="2400" i="1">
                  <a:latin typeface="Times New Roman" pitchFamily="18" charset="0"/>
                  <a:cs typeface="Times New Roman" pitchFamily="18" charset="0"/>
                </a:rPr>
                <a:t>F</a:t>
              </a:r>
              <a:r>
                <a:rPr lang="en-US" altLang="zh-CN" sz="2400" i="1" baseline="-25000">
                  <a:latin typeface="Times New Roman" pitchFamily="18" charset="0"/>
                  <a:cs typeface="Times New Roman" pitchFamily="18" charset="0"/>
                </a:rPr>
                <a:t>Ay</a:t>
              </a:r>
              <a:endParaRPr lang="en-US" altLang="zh-CN" sz="2400" i="1">
                <a:latin typeface="Times New Roman" pitchFamily="18" charset="0"/>
                <a:cs typeface="Times New Roman" pitchFamily="18" charset="0"/>
              </a:endParaRPr>
            </a:p>
          </p:txBody>
        </p:sp>
        <p:sp>
          <p:nvSpPr>
            <p:cNvPr id="33" name="Rectangle 8"/>
            <p:cNvSpPr>
              <a:spLocks noChangeArrowheads="1"/>
            </p:cNvSpPr>
            <p:nvPr/>
          </p:nvSpPr>
          <p:spPr bwMode="auto">
            <a:xfrm>
              <a:off x="672" y="556"/>
              <a:ext cx="240" cy="432"/>
            </a:xfrm>
            <a:prstGeom prst="rect">
              <a:avLst/>
            </a:prstGeom>
            <a:solidFill>
              <a:srgbClr val="FFFFFF"/>
            </a:solidFill>
            <a:ln w="9525">
              <a:noFill/>
              <a:miter lim="800000"/>
              <a:headEnd/>
              <a:tailEnd/>
            </a:ln>
          </p:spPr>
          <p:txBody>
            <a:bodyPr wrap="none" anchor="ctr"/>
            <a:lstStyle/>
            <a:p>
              <a:pPr algn="ctr"/>
              <a:r>
                <a:rPr lang="en-US" altLang="zh-CN" sz="2400" i="1">
                  <a:latin typeface="Times New Roman" pitchFamily="18" charset="0"/>
                  <a:cs typeface="Times New Roman" pitchFamily="18" charset="0"/>
                </a:rPr>
                <a:t>F</a:t>
              </a:r>
              <a:r>
                <a:rPr lang="en-US" altLang="zh-CN" sz="2400" i="1" baseline="-25000">
                  <a:latin typeface="Times New Roman" pitchFamily="18" charset="0"/>
                  <a:cs typeface="Times New Roman" pitchFamily="18" charset="0"/>
                </a:rPr>
                <a:t>Ax</a:t>
              </a:r>
              <a:endParaRPr lang="en-US" altLang="zh-CN" sz="2400" i="1">
                <a:latin typeface="Times New Roman" pitchFamily="18" charset="0"/>
                <a:cs typeface="Times New Roman" pitchFamily="18" charset="0"/>
              </a:endParaRPr>
            </a:p>
          </p:txBody>
        </p:sp>
        <p:sp>
          <p:nvSpPr>
            <p:cNvPr id="34" name="Rectangle 9"/>
            <p:cNvSpPr>
              <a:spLocks noChangeArrowheads="1"/>
            </p:cNvSpPr>
            <p:nvPr/>
          </p:nvSpPr>
          <p:spPr bwMode="auto">
            <a:xfrm>
              <a:off x="2775" y="1502"/>
              <a:ext cx="240" cy="336"/>
            </a:xfrm>
            <a:prstGeom prst="rect">
              <a:avLst/>
            </a:prstGeom>
            <a:solidFill>
              <a:srgbClr val="FFFFFF"/>
            </a:solidFill>
            <a:ln w="9525">
              <a:noFill/>
              <a:miter lim="800000"/>
              <a:headEnd/>
              <a:tailEnd/>
            </a:ln>
          </p:spPr>
          <p:txBody>
            <a:bodyPr wrap="none" anchor="ctr"/>
            <a:lstStyle/>
            <a:p>
              <a:pPr algn="ctr"/>
              <a:r>
                <a:rPr lang="en-US" altLang="zh-CN" sz="2400" i="1">
                  <a:latin typeface="Times New Roman" pitchFamily="18" charset="0"/>
                  <a:cs typeface="Times New Roman" pitchFamily="18" charset="0"/>
                </a:rPr>
                <a:t>F</a:t>
              </a:r>
              <a:r>
                <a:rPr lang="en-US" altLang="zh-CN" sz="2400" i="1" baseline="-25000">
                  <a:latin typeface="Times New Roman" pitchFamily="18" charset="0"/>
                  <a:cs typeface="Times New Roman" pitchFamily="18" charset="0"/>
                </a:rPr>
                <a:t>C</a:t>
              </a:r>
              <a:endParaRPr lang="en-US" altLang="zh-CN" sz="2400" i="1">
                <a:latin typeface="Times New Roman" pitchFamily="18" charset="0"/>
                <a:cs typeface="Times New Roman" pitchFamily="18" charset="0"/>
              </a:endParaRPr>
            </a:p>
          </p:txBody>
        </p:sp>
      </p:grpSp>
      <p:grpSp>
        <p:nvGrpSpPr>
          <p:cNvPr id="35" name="Group 10"/>
          <p:cNvGrpSpPr>
            <a:grpSpLocks/>
          </p:cNvGrpSpPr>
          <p:nvPr/>
        </p:nvGrpSpPr>
        <p:grpSpPr bwMode="auto">
          <a:xfrm>
            <a:off x="3857620" y="4500570"/>
            <a:ext cx="1857999" cy="1746996"/>
            <a:chOff x="2145" y="2736"/>
            <a:chExt cx="1121" cy="1118"/>
          </a:xfrm>
        </p:grpSpPr>
        <p:sp>
          <p:nvSpPr>
            <p:cNvPr id="36" name="Text Box 11"/>
            <p:cNvSpPr txBox="1">
              <a:spLocks noChangeArrowheads="1"/>
            </p:cNvSpPr>
            <p:nvPr/>
          </p:nvSpPr>
          <p:spPr bwMode="auto">
            <a:xfrm>
              <a:off x="2145" y="3559"/>
              <a:ext cx="1121" cy="295"/>
            </a:xfrm>
            <a:prstGeom prst="rect">
              <a:avLst/>
            </a:prstGeom>
            <a:noFill/>
            <a:ln w="9525">
              <a:noFill/>
              <a:miter lim="800000"/>
              <a:headEnd/>
              <a:tailEnd/>
            </a:ln>
          </p:spPr>
          <p:txBody>
            <a:bodyPr wrap="square">
              <a:spAutoFit/>
            </a:bodyPr>
            <a:lstStyle/>
            <a:p>
              <a:r>
                <a:rPr lang="zh-CN" altLang="en-US" sz="2400" b="1">
                  <a:solidFill>
                    <a:schemeClr val="tx2"/>
                  </a:solidFill>
                  <a:latin typeface="+mn-ea"/>
                </a:rPr>
                <a:t>超静定结构</a:t>
              </a:r>
              <a:endParaRPr lang="zh-CN" altLang="en-US" sz="2400" b="1">
                <a:latin typeface="+mn-ea"/>
              </a:endParaRPr>
            </a:p>
          </p:txBody>
        </p:sp>
        <p:sp>
          <p:nvSpPr>
            <p:cNvPr id="37" name="AutoShape 12"/>
            <p:cNvSpPr>
              <a:spLocks noChangeArrowheads="1"/>
            </p:cNvSpPr>
            <p:nvPr/>
          </p:nvSpPr>
          <p:spPr bwMode="auto">
            <a:xfrm rot="5400000">
              <a:off x="2328" y="3000"/>
              <a:ext cx="720" cy="192"/>
            </a:xfrm>
            <a:prstGeom prst="notchedRightArrow">
              <a:avLst>
                <a:gd name="adj1" fmla="val 50000"/>
                <a:gd name="adj2" fmla="val 93750"/>
              </a:avLst>
            </a:prstGeom>
            <a:solidFill>
              <a:srgbClr val="FF99CC"/>
            </a:solidFill>
            <a:ln w="9525">
              <a:solidFill>
                <a:srgbClr val="800000"/>
              </a:solidFill>
              <a:miter lim="800000"/>
              <a:headEnd/>
              <a:tailEnd/>
            </a:ln>
          </p:spPr>
          <p:txBody>
            <a:bodyPr wrap="none" anchor="ctr"/>
            <a:lstStyle/>
            <a:p>
              <a:pPr>
                <a:spcBef>
                  <a:spcPct val="50000"/>
                </a:spcBef>
              </a:pPr>
              <a:endParaRPr lang="zh-CN" altLang="en-US" sz="2400" b="1">
                <a:latin typeface="+mn-ea"/>
              </a:endParaRPr>
            </a:p>
          </p:txBody>
        </p:sp>
      </p:grpSp>
      <p:sp>
        <p:nvSpPr>
          <p:cNvPr id="38" name="AutoShape 13"/>
          <p:cNvSpPr>
            <a:spLocks noChangeArrowheads="1"/>
          </p:cNvSpPr>
          <p:nvPr/>
        </p:nvSpPr>
        <p:spPr bwMode="auto">
          <a:xfrm>
            <a:off x="6786578" y="4500570"/>
            <a:ext cx="2095504" cy="1752600"/>
          </a:xfrm>
          <a:prstGeom prst="cloudCallout">
            <a:avLst>
              <a:gd name="adj1" fmla="val -98786"/>
              <a:gd name="adj2" fmla="val -75614"/>
            </a:avLst>
          </a:prstGeom>
          <a:solidFill>
            <a:srgbClr val="FFFFFF"/>
          </a:solidFill>
          <a:ln w="9525">
            <a:solidFill>
              <a:srgbClr val="FF3300"/>
            </a:solidFill>
            <a:round/>
            <a:headEnd/>
            <a:tailEnd/>
          </a:ln>
        </p:spPr>
        <p:txBody>
          <a:bodyPr wrap="none" anchor="ctr"/>
          <a:lstStyle/>
          <a:p>
            <a:pPr algn="ctr"/>
            <a:r>
              <a:rPr lang="zh-CN" altLang="en-US" sz="2400" b="1">
                <a:solidFill>
                  <a:srgbClr val="3333CC"/>
                </a:solidFill>
                <a:latin typeface="+mn-ea"/>
              </a:rPr>
              <a:t>有多余</a:t>
            </a:r>
          </a:p>
          <a:p>
            <a:pPr algn="ctr"/>
            <a:r>
              <a:rPr lang="zh-CN" altLang="en-US" sz="2400" b="1">
                <a:solidFill>
                  <a:srgbClr val="3333CC"/>
                </a:solidFill>
                <a:latin typeface="+mn-ea"/>
              </a:rPr>
              <a:t>约束几何</a:t>
            </a:r>
          </a:p>
          <a:p>
            <a:pPr algn="ctr"/>
            <a:r>
              <a:rPr lang="zh-CN" altLang="en-US" sz="2400" b="1">
                <a:solidFill>
                  <a:srgbClr val="3333CC"/>
                </a:solidFill>
                <a:latin typeface="+mn-ea"/>
              </a:rPr>
              <a:t>不变。</a:t>
            </a:r>
          </a:p>
        </p:txBody>
      </p:sp>
      <p:sp>
        <p:nvSpPr>
          <p:cNvPr id="39" name="AutoShape 14"/>
          <p:cNvSpPr>
            <a:spLocks noChangeArrowheads="1"/>
          </p:cNvSpPr>
          <p:nvPr/>
        </p:nvSpPr>
        <p:spPr bwMode="auto">
          <a:xfrm>
            <a:off x="1428728" y="4786322"/>
            <a:ext cx="1905000" cy="928694"/>
          </a:xfrm>
          <a:prstGeom prst="wedgeRoundRectCallout">
            <a:avLst>
              <a:gd name="adj1" fmla="val 97343"/>
              <a:gd name="adj2" fmla="val -138750"/>
              <a:gd name="adj3" fmla="val 16667"/>
            </a:avLst>
          </a:prstGeom>
          <a:solidFill>
            <a:srgbClr val="FFFFFF"/>
          </a:solidFill>
          <a:ln w="9525">
            <a:solidFill>
              <a:schemeClr val="tx1"/>
            </a:solidFill>
            <a:miter lim="800000"/>
            <a:headEnd/>
            <a:tailEnd/>
          </a:ln>
        </p:spPr>
        <p:txBody>
          <a:bodyPr wrap="none" anchor="ctr"/>
          <a:lstStyle/>
          <a:p>
            <a:pPr algn="ctr"/>
            <a:r>
              <a:rPr lang="zh-CN" altLang="en-US" sz="2400" b="1">
                <a:solidFill>
                  <a:srgbClr val="000078"/>
                </a:solidFill>
                <a:latin typeface="+mn-ea"/>
              </a:rPr>
              <a:t>能否求全</a:t>
            </a:r>
          </a:p>
          <a:p>
            <a:pPr algn="ctr"/>
            <a:r>
              <a:rPr lang="zh-CN" altLang="en-US" sz="2400" b="1">
                <a:solidFill>
                  <a:srgbClr val="000078"/>
                </a:solidFill>
                <a:latin typeface="+mn-ea"/>
              </a:rPr>
              <a:t>部反力</a:t>
            </a:r>
            <a:r>
              <a:rPr lang="en-US" altLang="zh-CN" sz="2400" b="1">
                <a:solidFill>
                  <a:srgbClr val="000078"/>
                </a:solidFill>
                <a:latin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strips(upRight)">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9"/>
                                        </p:tgtEl>
                                        <p:attrNameLst>
                                          <p:attrName>style.visibility</p:attrName>
                                        </p:attrNameLst>
                                      </p:cBhvr>
                                      <p:to>
                                        <p:strVal val="visible"/>
                                      </p:to>
                                    </p:set>
                                    <p:anim calcmode="lin" valueType="num">
                                      <p:cBhvr additive="base">
                                        <p:cTn id="12" dur="500" fill="hold"/>
                                        <p:tgtEl>
                                          <p:spTgt spid="39"/>
                                        </p:tgtEl>
                                        <p:attrNameLst>
                                          <p:attrName>ppt_x</p:attrName>
                                        </p:attrNameLst>
                                      </p:cBhvr>
                                      <p:tavLst>
                                        <p:tav tm="0">
                                          <p:val>
                                            <p:strVal val="0-#ppt_w/2"/>
                                          </p:val>
                                        </p:tav>
                                        <p:tav tm="100000">
                                          <p:val>
                                            <p:strVal val="#ppt_x"/>
                                          </p:val>
                                        </p:tav>
                                      </p:tavLst>
                                    </p:anim>
                                    <p:anim calcmode="lin" valueType="num">
                                      <p:cBhvr additive="base">
                                        <p:cTn id="13" dur="5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5"/>
                                        </p:tgtEl>
                                        <p:attrNameLst>
                                          <p:attrName>style.visibility</p:attrName>
                                        </p:attrNameLst>
                                      </p:cBhvr>
                                      <p:to>
                                        <p:strVal val="visible"/>
                                      </p:to>
                                    </p:set>
                                    <p:anim calcmode="lin" valueType="num">
                                      <p:cBhvr additive="base">
                                        <p:cTn id="18" dur="500" fill="hold"/>
                                        <p:tgtEl>
                                          <p:spTgt spid="35"/>
                                        </p:tgtEl>
                                        <p:attrNameLst>
                                          <p:attrName>ppt_x</p:attrName>
                                        </p:attrNameLst>
                                      </p:cBhvr>
                                      <p:tavLst>
                                        <p:tav tm="0">
                                          <p:val>
                                            <p:strVal val="#ppt_x"/>
                                          </p:val>
                                        </p:tav>
                                        <p:tav tm="100000">
                                          <p:val>
                                            <p:strVal val="#ppt_x"/>
                                          </p:val>
                                        </p:tav>
                                      </p:tavLst>
                                    </p:anim>
                                    <p:anim calcmode="lin" valueType="num">
                                      <p:cBhvr additive="base">
                                        <p:cTn id="19"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autoUpdateAnimBg="0"/>
      <p:bldP spid="39" grpId="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r>
              <a:rPr lang="zh-CN" altLang="en-US"/>
              <a:t>小结</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思考与小结</a:t>
            </a:r>
            <a:endParaRPr lang="zh-CN" altLang="en-US" sz="3600" dirty="0"/>
          </a:p>
        </p:txBody>
      </p:sp>
      <p:sp>
        <p:nvSpPr>
          <p:cNvPr id="1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49" name="Text Box 2"/>
          <p:cNvSpPr txBox="1">
            <a:spLocks noChangeArrowheads="1"/>
          </p:cNvSpPr>
          <p:nvPr/>
        </p:nvSpPr>
        <p:spPr bwMode="auto">
          <a:xfrm>
            <a:off x="857224" y="3459961"/>
            <a:ext cx="1285884" cy="646331"/>
          </a:xfrm>
          <a:prstGeom prst="rect">
            <a:avLst/>
          </a:prstGeom>
          <a:noFill/>
          <a:ln w="9525">
            <a:noFill/>
            <a:miter lim="800000"/>
            <a:headEnd/>
            <a:tailEnd/>
          </a:ln>
          <a:effectLst/>
        </p:spPr>
        <p:txBody>
          <a:bodyPr wrap="square">
            <a:spAutoFit/>
          </a:bodyPr>
          <a:lstStyle/>
          <a:p>
            <a:pPr>
              <a:defRPr/>
            </a:pPr>
            <a:r>
              <a:rPr lang="zh-CN" altLang="en-US" sz="3600" b="1">
                <a:effectLst>
                  <a:outerShdw blurRad="38100" dist="38100" dir="2700000" algn="tl">
                    <a:srgbClr val="C0C0C0"/>
                  </a:outerShdw>
                </a:effectLst>
                <a:latin typeface="+mn-ea"/>
                <a:cs typeface="+mn-cs"/>
              </a:rPr>
              <a:t>体系</a:t>
            </a:r>
            <a:endParaRPr lang="zh-CN" altLang="en-US" sz="3600" b="1">
              <a:latin typeface="+mn-ea"/>
              <a:cs typeface="+mn-cs"/>
            </a:endParaRPr>
          </a:p>
        </p:txBody>
      </p:sp>
      <p:grpSp>
        <p:nvGrpSpPr>
          <p:cNvPr id="50" name="Group 3"/>
          <p:cNvGrpSpPr>
            <a:grpSpLocks/>
          </p:cNvGrpSpPr>
          <p:nvPr/>
        </p:nvGrpSpPr>
        <p:grpSpPr bwMode="auto">
          <a:xfrm>
            <a:off x="2209799" y="1794658"/>
            <a:ext cx="3076576" cy="4038600"/>
            <a:chOff x="1244" y="912"/>
            <a:chExt cx="1938" cy="2544"/>
          </a:xfrm>
        </p:grpSpPr>
        <p:sp>
          <p:nvSpPr>
            <p:cNvPr id="51" name="AutoShape 4"/>
            <p:cNvSpPr>
              <a:spLocks/>
            </p:cNvSpPr>
            <p:nvPr/>
          </p:nvSpPr>
          <p:spPr bwMode="auto">
            <a:xfrm>
              <a:off x="1244" y="912"/>
              <a:ext cx="288" cy="2544"/>
            </a:xfrm>
            <a:prstGeom prst="leftBrace">
              <a:avLst>
                <a:gd name="adj1" fmla="val 73611"/>
                <a:gd name="adj2" fmla="val 50000"/>
              </a:avLst>
            </a:prstGeom>
            <a:noFill/>
            <a:ln w="38100">
              <a:solidFill>
                <a:schemeClr val="tx1"/>
              </a:solidFill>
              <a:round/>
              <a:headEnd/>
              <a:tailEnd/>
            </a:ln>
          </p:spPr>
          <p:txBody>
            <a:bodyPr wrap="none" anchor="ctr"/>
            <a:lstStyle/>
            <a:p>
              <a:pPr>
                <a:spcBef>
                  <a:spcPct val="50000"/>
                </a:spcBef>
              </a:pPr>
              <a:endParaRPr lang="zh-CN" altLang="en-US">
                <a:ea typeface="楷体_GB2312"/>
              </a:endParaRPr>
            </a:p>
          </p:txBody>
        </p:sp>
        <p:sp>
          <p:nvSpPr>
            <p:cNvPr id="52" name="Text Box 5"/>
            <p:cNvSpPr txBox="1">
              <a:spLocks noChangeArrowheads="1"/>
            </p:cNvSpPr>
            <p:nvPr/>
          </p:nvSpPr>
          <p:spPr bwMode="auto">
            <a:xfrm>
              <a:off x="1472" y="926"/>
              <a:ext cx="1667" cy="368"/>
            </a:xfrm>
            <a:prstGeom prst="rect">
              <a:avLst/>
            </a:prstGeom>
            <a:noFill/>
            <a:ln w="9525">
              <a:noFill/>
              <a:miter lim="800000"/>
              <a:headEnd/>
              <a:tailEnd/>
            </a:ln>
            <a:effectLst/>
          </p:spPr>
          <p:txBody>
            <a:bodyPr wrap="none">
              <a:spAutoFit/>
            </a:bodyPr>
            <a:lstStyle/>
            <a:p>
              <a:pPr>
                <a:defRPr/>
              </a:pPr>
              <a:r>
                <a:rPr lang="zh-CN" altLang="en-US" sz="3200" b="1">
                  <a:effectLst>
                    <a:outerShdw blurRad="38100" dist="38100" dir="2700000" algn="tl">
                      <a:srgbClr val="C0C0C0"/>
                    </a:outerShdw>
                  </a:effectLst>
                  <a:latin typeface="+mn-ea"/>
                  <a:cs typeface="+mn-cs"/>
                </a:rPr>
                <a:t>几何不变体系</a:t>
              </a:r>
              <a:endParaRPr lang="zh-CN" altLang="en-US" sz="3200" b="1">
                <a:latin typeface="+mn-ea"/>
                <a:cs typeface="+mn-cs"/>
              </a:endParaRPr>
            </a:p>
          </p:txBody>
        </p:sp>
        <p:sp>
          <p:nvSpPr>
            <p:cNvPr id="53" name="Text Box 6"/>
            <p:cNvSpPr txBox="1">
              <a:spLocks noChangeArrowheads="1"/>
            </p:cNvSpPr>
            <p:nvPr/>
          </p:nvSpPr>
          <p:spPr bwMode="auto">
            <a:xfrm>
              <a:off x="1515" y="2726"/>
              <a:ext cx="1667" cy="368"/>
            </a:xfrm>
            <a:prstGeom prst="rect">
              <a:avLst/>
            </a:prstGeom>
            <a:noFill/>
            <a:ln w="9525">
              <a:noFill/>
              <a:miter lim="800000"/>
              <a:headEnd/>
              <a:tailEnd/>
            </a:ln>
            <a:effectLst/>
          </p:spPr>
          <p:txBody>
            <a:bodyPr wrap="none">
              <a:spAutoFit/>
            </a:bodyPr>
            <a:lstStyle/>
            <a:p>
              <a:pPr>
                <a:defRPr/>
              </a:pPr>
              <a:r>
                <a:rPr lang="zh-CN" altLang="en-US" sz="3200" b="1">
                  <a:solidFill>
                    <a:schemeClr val="tx2"/>
                  </a:solidFill>
                  <a:effectLst>
                    <a:outerShdw blurRad="38100" dist="38100" dir="2700000" algn="tl">
                      <a:srgbClr val="C0C0C0"/>
                    </a:outerShdw>
                  </a:effectLst>
                  <a:latin typeface="+mn-ea"/>
                  <a:cs typeface="+mn-cs"/>
                </a:rPr>
                <a:t>几何可变体系</a:t>
              </a:r>
              <a:endParaRPr lang="zh-CN" altLang="en-US" sz="3200" b="1">
                <a:solidFill>
                  <a:srgbClr val="FFFF99"/>
                </a:solidFill>
                <a:latin typeface="+mn-ea"/>
                <a:cs typeface="+mn-cs"/>
              </a:endParaRPr>
            </a:p>
          </p:txBody>
        </p:sp>
      </p:grpSp>
      <p:grpSp>
        <p:nvGrpSpPr>
          <p:cNvPr id="54" name="Group 7"/>
          <p:cNvGrpSpPr>
            <a:grpSpLocks/>
          </p:cNvGrpSpPr>
          <p:nvPr/>
        </p:nvGrpSpPr>
        <p:grpSpPr bwMode="auto">
          <a:xfrm>
            <a:off x="5449882" y="1428736"/>
            <a:ext cx="3052018" cy="2172982"/>
            <a:chOff x="3378" y="626"/>
            <a:chExt cx="1875" cy="1402"/>
          </a:xfrm>
        </p:grpSpPr>
        <p:sp>
          <p:nvSpPr>
            <p:cNvPr id="55" name="AutoShape 8"/>
            <p:cNvSpPr>
              <a:spLocks/>
            </p:cNvSpPr>
            <p:nvPr/>
          </p:nvSpPr>
          <p:spPr bwMode="auto">
            <a:xfrm>
              <a:off x="3378" y="816"/>
              <a:ext cx="288" cy="1056"/>
            </a:xfrm>
            <a:prstGeom prst="leftBrace">
              <a:avLst>
                <a:gd name="adj1" fmla="val 30556"/>
                <a:gd name="adj2" fmla="val 50000"/>
              </a:avLst>
            </a:prstGeom>
            <a:noFill/>
            <a:ln w="38100">
              <a:solidFill>
                <a:schemeClr val="tx2"/>
              </a:solidFill>
              <a:round/>
              <a:headEnd/>
              <a:tailEnd/>
            </a:ln>
          </p:spPr>
          <p:txBody>
            <a:bodyPr wrap="none" anchor="ctr"/>
            <a:lstStyle/>
            <a:p>
              <a:pPr>
                <a:spcBef>
                  <a:spcPct val="50000"/>
                </a:spcBef>
              </a:pPr>
              <a:endParaRPr lang="zh-CN" altLang="en-US">
                <a:ea typeface="楷体_GB2312"/>
              </a:endParaRPr>
            </a:p>
          </p:txBody>
        </p:sp>
        <p:sp>
          <p:nvSpPr>
            <p:cNvPr id="56" name="Text Box 9"/>
            <p:cNvSpPr txBox="1">
              <a:spLocks noChangeArrowheads="1"/>
            </p:cNvSpPr>
            <p:nvPr/>
          </p:nvSpPr>
          <p:spPr bwMode="auto">
            <a:xfrm>
              <a:off x="3666" y="1651"/>
              <a:ext cx="1374" cy="377"/>
            </a:xfrm>
            <a:prstGeom prst="rect">
              <a:avLst/>
            </a:prstGeom>
            <a:noFill/>
            <a:ln w="9525">
              <a:noFill/>
              <a:miter lim="800000"/>
              <a:headEnd/>
              <a:tailEnd/>
            </a:ln>
          </p:spPr>
          <p:txBody>
            <a:bodyPr wrap="none">
              <a:spAutoFit/>
            </a:bodyPr>
            <a:lstStyle/>
            <a:p>
              <a:r>
                <a:rPr lang="zh-CN" altLang="en-US" sz="3200" b="1">
                  <a:solidFill>
                    <a:srgbClr val="0033CC"/>
                  </a:solidFill>
                  <a:latin typeface="+mn-ea"/>
                </a:rPr>
                <a:t>有多余约束</a:t>
              </a:r>
            </a:p>
          </p:txBody>
        </p:sp>
        <p:sp>
          <p:nvSpPr>
            <p:cNvPr id="57" name="Text Box 10"/>
            <p:cNvSpPr txBox="1">
              <a:spLocks noChangeArrowheads="1"/>
            </p:cNvSpPr>
            <p:nvPr/>
          </p:nvSpPr>
          <p:spPr bwMode="auto">
            <a:xfrm>
              <a:off x="3687" y="626"/>
              <a:ext cx="1566" cy="377"/>
            </a:xfrm>
            <a:prstGeom prst="rect">
              <a:avLst/>
            </a:prstGeom>
            <a:noFill/>
            <a:ln w="9525">
              <a:noFill/>
              <a:miter lim="800000"/>
              <a:headEnd/>
              <a:tailEnd/>
            </a:ln>
          </p:spPr>
          <p:txBody>
            <a:bodyPr>
              <a:spAutoFit/>
            </a:bodyPr>
            <a:lstStyle/>
            <a:p>
              <a:r>
                <a:rPr lang="zh-CN" altLang="en-US" sz="3200" b="1">
                  <a:solidFill>
                    <a:srgbClr val="0033CC"/>
                  </a:solidFill>
                  <a:latin typeface="+mn-ea"/>
                </a:rPr>
                <a:t>无多余约束</a:t>
              </a:r>
            </a:p>
          </p:txBody>
        </p:sp>
      </p:grpSp>
      <p:grpSp>
        <p:nvGrpSpPr>
          <p:cNvPr id="58" name="Group 11"/>
          <p:cNvGrpSpPr>
            <a:grpSpLocks/>
          </p:cNvGrpSpPr>
          <p:nvPr/>
        </p:nvGrpSpPr>
        <p:grpSpPr bwMode="auto">
          <a:xfrm>
            <a:off x="5594349" y="4286600"/>
            <a:ext cx="2159000" cy="2071750"/>
            <a:chOff x="3378" y="2315"/>
            <a:chExt cx="1030" cy="1362"/>
          </a:xfrm>
        </p:grpSpPr>
        <p:sp>
          <p:nvSpPr>
            <p:cNvPr id="59" name="AutoShape 12"/>
            <p:cNvSpPr>
              <a:spLocks/>
            </p:cNvSpPr>
            <p:nvPr/>
          </p:nvSpPr>
          <p:spPr bwMode="auto">
            <a:xfrm>
              <a:off x="3378" y="2448"/>
              <a:ext cx="288" cy="1056"/>
            </a:xfrm>
            <a:prstGeom prst="leftBrace">
              <a:avLst>
                <a:gd name="adj1" fmla="val 30556"/>
                <a:gd name="adj2" fmla="val 50000"/>
              </a:avLst>
            </a:prstGeom>
            <a:noFill/>
            <a:ln w="38100">
              <a:solidFill>
                <a:schemeClr val="tx2"/>
              </a:solidFill>
              <a:round/>
              <a:headEnd/>
              <a:tailEnd/>
            </a:ln>
          </p:spPr>
          <p:txBody>
            <a:bodyPr wrap="none" anchor="ctr"/>
            <a:lstStyle/>
            <a:p>
              <a:pPr>
                <a:spcBef>
                  <a:spcPct val="50000"/>
                </a:spcBef>
              </a:pPr>
              <a:endParaRPr lang="zh-CN" altLang="en-US">
                <a:ea typeface="楷体_GB2312"/>
              </a:endParaRPr>
            </a:p>
          </p:txBody>
        </p:sp>
        <p:sp>
          <p:nvSpPr>
            <p:cNvPr id="60" name="Text Box 13"/>
            <p:cNvSpPr txBox="1">
              <a:spLocks noChangeArrowheads="1"/>
            </p:cNvSpPr>
            <p:nvPr/>
          </p:nvSpPr>
          <p:spPr bwMode="auto">
            <a:xfrm>
              <a:off x="3714" y="2315"/>
              <a:ext cx="480" cy="384"/>
            </a:xfrm>
            <a:prstGeom prst="rect">
              <a:avLst/>
            </a:prstGeom>
            <a:noFill/>
            <a:ln w="9525">
              <a:noFill/>
              <a:miter lim="800000"/>
              <a:headEnd/>
              <a:tailEnd/>
            </a:ln>
          </p:spPr>
          <p:txBody>
            <a:bodyPr wrap="none">
              <a:spAutoFit/>
            </a:bodyPr>
            <a:lstStyle/>
            <a:p>
              <a:r>
                <a:rPr lang="zh-CN" altLang="en-US" sz="3200" b="1">
                  <a:solidFill>
                    <a:srgbClr val="3333CC"/>
                  </a:solidFill>
                  <a:latin typeface="+mn-ea"/>
                </a:rPr>
                <a:t>常变</a:t>
              </a:r>
              <a:endParaRPr lang="zh-CN" altLang="en-US" sz="3200" b="1">
                <a:latin typeface="+mn-ea"/>
              </a:endParaRPr>
            </a:p>
          </p:txBody>
        </p:sp>
        <p:sp>
          <p:nvSpPr>
            <p:cNvPr id="61" name="Text Box 14"/>
            <p:cNvSpPr txBox="1">
              <a:spLocks noChangeArrowheads="1"/>
            </p:cNvSpPr>
            <p:nvPr/>
          </p:nvSpPr>
          <p:spPr bwMode="auto">
            <a:xfrm>
              <a:off x="3714" y="3293"/>
              <a:ext cx="694" cy="384"/>
            </a:xfrm>
            <a:prstGeom prst="rect">
              <a:avLst/>
            </a:prstGeom>
            <a:noFill/>
            <a:ln w="9525">
              <a:noFill/>
              <a:miter lim="800000"/>
              <a:headEnd/>
              <a:tailEnd/>
            </a:ln>
          </p:spPr>
          <p:txBody>
            <a:bodyPr>
              <a:spAutoFit/>
            </a:bodyPr>
            <a:lstStyle/>
            <a:p>
              <a:r>
                <a:rPr lang="zh-CN" altLang="en-US" sz="3200" b="1">
                  <a:solidFill>
                    <a:srgbClr val="3333CC"/>
                  </a:solidFill>
                  <a:latin typeface="+mn-ea"/>
                </a:rPr>
                <a:t>瞬变</a:t>
              </a:r>
              <a:endParaRPr lang="zh-CN" altLang="en-US" sz="3200" b="1">
                <a:latin typeface="+mn-ea"/>
              </a:endParaRPr>
            </a:p>
          </p:txBody>
        </p:sp>
      </p:grpSp>
      <p:grpSp>
        <p:nvGrpSpPr>
          <p:cNvPr id="62" name="Group 15"/>
          <p:cNvGrpSpPr>
            <a:grpSpLocks/>
          </p:cNvGrpSpPr>
          <p:nvPr/>
        </p:nvGrpSpPr>
        <p:grpSpPr bwMode="auto">
          <a:xfrm>
            <a:off x="2643186" y="1959762"/>
            <a:ext cx="5510213" cy="2071692"/>
            <a:chOff x="1489" y="1002"/>
            <a:chExt cx="3471" cy="1305"/>
          </a:xfrm>
        </p:grpSpPr>
        <p:sp>
          <p:nvSpPr>
            <p:cNvPr id="63" name="Text Box 16"/>
            <p:cNvSpPr txBox="1">
              <a:spLocks noChangeArrowheads="1"/>
            </p:cNvSpPr>
            <p:nvPr/>
          </p:nvSpPr>
          <p:spPr bwMode="auto">
            <a:xfrm>
              <a:off x="1489" y="1272"/>
              <a:ext cx="1409" cy="368"/>
            </a:xfrm>
            <a:prstGeom prst="rect">
              <a:avLst/>
            </a:prstGeom>
            <a:noFill/>
            <a:ln w="9525">
              <a:noFill/>
              <a:miter lim="800000"/>
              <a:headEnd/>
              <a:tailEnd/>
            </a:ln>
            <a:effectLst/>
          </p:spPr>
          <p:txBody>
            <a:bodyPr wrap="none">
              <a:spAutoFit/>
            </a:bodyPr>
            <a:lstStyle/>
            <a:p>
              <a:pPr>
                <a:defRPr/>
              </a:pPr>
              <a:r>
                <a:rPr lang="zh-CN" altLang="en-US" sz="3200" b="1">
                  <a:solidFill>
                    <a:srgbClr val="C00000"/>
                  </a:solidFill>
                  <a:effectLst>
                    <a:outerShdw blurRad="38100" dist="38100" dir="2700000" algn="tl">
                      <a:srgbClr val="C0C0C0"/>
                    </a:outerShdw>
                  </a:effectLst>
                  <a:latin typeface="+mn-ea"/>
                  <a:cs typeface="+mn-cs"/>
                </a:rPr>
                <a:t>可作为结构</a:t>
              </a:r>
              <a:endParaRPr lang="zh-CN" altLang="en-US" sz="3200" b="1">
                <a:solidFill>
                  <a:srgbClr val="C00000"/>
                </a:solidFill>
                <a:latin typeface="+mn-ea"/>
                <a:cs typeface="+mn-cs"/>
              </a:endParaRPr>
            </a:p>
          </p:txBody>
        </p:sp>
        <p:grpSp>
          <p:nvGrpSpPr>
            <p:cNvPr id="64" name="Group 17"/>
            <p:cNvGrpSpPr>
              <a:grpSpLocks/>
            </p:cNvGrpSpPr>
            <p:nvPr/>
          </p:nvGrpSpPr>
          <p:grpSpPr bwMode="auto">
            <a:xfrm>
              <a:off x="3559" y="1002"/>
              <a:ext cx="1401" cy="1305"/>
              <a:chOff x="3559" y="1002"/>
              <a:chExt cx="1401" cy="1305"/>
            </a:xfrm>
          </p:grpSpPr>
          <p:sp>
            <p:nvSpPr>
              <p:cNvPr id="65" name="Text Box 18"/>
              <p:cNvSpPr txBox="1">
                <a:spLocks noChangeArrowheads="1"/>
              </p:cNvSpPr>
              <p:nvPr/>
            </p:nvSpPr>
            <p:spPr bwMode="auto">
              <a:xfrm>
                <a:off x="3696" y="1002"/>
                <a:ext cx="1144" cy="365"/>
              </a:xfrm>
              <a:prstGeom prst="rect">
                <a:avLst/>
              </a:prstGeom>
              <a:noFill/>
              <a:ln w="9525">
                <a:noFill/>
                <a:miter lim="800000"/>
                <a:headEnd/>
                <a:tailEnd/>
              </a:ln>
              <a:effectLst/>
            </p:spPr>
            <p:txBody>
              <a:bodyPr wrap="none">
                <a:spAutoFit/>
              </a:bodyPr>
              <a:lstStyle/>
              <a:p>
                <a:pPr>
                  <a:defRPr/>
                </a:pPr>
                <a:r>
                  <a:rPr lang="zh-CN" altLang="en-US" sz="3200" b="1">
                    <a:solidFill>
                      <a:srgbClr val="C00000"/>
                    </a:solidFill>
                    <a:latin typeface="+mn-ea"/>
                    <a:cs typeface="+mn-cs"/>
                  </a:rPr>
                  <a:t>静定结构</a:t>
                </a:r>
                <a:endParaRPr lang="zh-CN" altLang="en-US" sz="4800" b="1">
                  <a:solidFill>
                    <a:srgbClr val="C00000"/>
                  </a:solidFill>
                  <a:latin typeface="+mn-ea"/>
                  <a:cs typeface="+mn-cs"/>
                </a:endParaRPr>
              </a:p>
            </p:txBody>
          </p:sp>
          <p:sp>
            <p:nvSpPr>
              <p:cNvPr id="66" name="Text Box 19"/>
              <p:cNvSpPr txBox="1">
                <a:spLocks noChangeArrowheads="1"/>
              </p:cNvSpPr>
              <p:nvPr/>
            </p:nvSpPr>
            <p:spPr bwMode="auto">
              <a:xfrm>
                <a:off x="3559" y="1942"/>
                <a:ext cx="1401" cy="365"/>
              </a:xfrm>
              <a:prstGeom prst="rect">
                <a:avLst/>
              </a:prstGeom>
              <a:noFill/>
              <a:ln w="9525">
                <a:noFill/>
                <a:miter lim="800000"/>
                <a:headEnd/>
                <a:tailEnd/>
              </a:ln>
              <a:effectLst/>
            </p:spPr>
            <p:txBody>
              <a:bodyPr wrap="none">
                <a:spAutoFit/>
              </a:bodyPr>
              <a:lstStyle/>
              <a:p>
                <a:pPr>
                  <a:defRPr/>
                </a:pPr>
                <a:r>
                  <a:rPr lang="zh-CN" altLang="en-US" sz="3200" b="1">
                    <a:solidFill>
                      <a:srgbClr val="C00000"/>
                    </a:solidFill>
                    <a:latin typeface="+mn-ea"/>
                    <a:cs typeface="+mn-cs"/>
                  </a:rPr>
                  <a:t>超静定结构</a:t>
                </a:r>
              </a:p>
            </p:txBody>
          </p:sp>
        </p:grpSp>
      </p:grpSp>
      <p:sp>
        <p:nvSpPr>
          <p:cNvPr id="67" name="Rectangle 20"/>
          <p:cNvSpPr>
            <a:spLocks noChangeArrowheads="1"/>
          </p:cNvSpPr>
          <p:nvPr/>
        </p:nvSpPr>
        <p:spPr bwMode="auto">
          <a:xfrm>
            <a:off x="2714611" y="5268108"/>
            <a:ext cx="2917825" cy="584775"/>
          </a:xfrm>
          <a:prstGeom prst="rect">
            <a:avLst/>
          </a:prstGeom>
          <a:noFill/>
          <a:ln w="9525">
            <a:noFill/>
            <a:miter lim="800000"/>
            <a:headEnd/>
            <a:tailEnd/>
          </a:ln>
          <a:effectLst/>
        </p:spPr>
        <p:txBody>
          <a:bodyPr>
            <a:spAutoFit/>
          </a:bodyPr>
          <a:lstStyle/>
          <a:p>
            <a:pPr>
              <a:defRPr/>
            </a:pPr>
            <a:r>
              <a:rPr lang="zh-CN" altLang="en-US" sz="3200" b="1">
                <a:solidFill>
                  <a:srgbClr val="C00000"/>
                </a:solidFill>
                <a:effectLst>
                  <a:outerShdw blurRad="38100" dist="38100" dir="2700000" algn="tl">
                    <a:srgbClr val="C0C0C0"/>
                  </a:outerShdw>
                </a:effectLst>
                <a:latin typeface="+mn-ea"/>
                <a:cs typeface="+mn-cs"/>
              </a:rPr>
              <a:t>不可作结构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4" presetClass="entr" presetSubtype="0" fill="hold" nodeType="clickEffect">
                                  <p:stCondLst>
                                    <p:cond delay="0"/>
                                  </p:stCondLst>
                                  <p:childTnLst>
                                    <p:set>
                                      <p:cBhvr>
                                        <p:cTn id="12" dur="1" fill="hold">
                                          <p:stCondLst>
                                            <p:cond delay="499"/>
                                          </p:stCondLst>
                                        </p:cTn>
                                        <p:tgtEl>
                                          <p:spTgt spid="50"/>
                                        </p:tgtEl>
                                        <p:attrNameLst>
                                          <p:attrName>style.visibility</p:attrName>
                                        </p:attrNameLst>
                                      </p:cBhvr>
                                      <p:to>
                                        <p:strVal val="visible"/>
                                      </p:to>
                                    </p:set>
                                    <p:anim to="" calcmode="lin" valueType="num">
                                      <p:cBhvr>
                                        <p:cTn id="13" dur="1" fill="hold"/>
                                        <p:tgtEl>
                                          <p:spTgt spid="50"/>
                                        </p:tgtEl>
                                        <p:attrNameLst>
                                          <p:attrName/>
                                        </p:attrNameLst>
                                      </p:cBhvr>
                                    </p:anim>
                                  </p:childTnLst>
                                </p:cTn>
                              </p:par>
                            </p:childTnLst>
                          </p:cTn>
                        </p:par>
                      </p:childTnLst>
                    </p:cTn>
                  </p:par>
                  <p:par>
                    <p:cTn id="14" fill="hold">
                      <p:stCondLst>
                        <p:cond delay="indefinite"/>
                      </p:stCondLst>
                      <p:childTnLst>
                        <p:par>
                          <p:cTn id="15" fill="hold">
                            <p:stCondLst>
                              <p:cond delay="0"/>
                            </p:stCondLst>
                            <p:childTnLst>
                              <p:par>
                                <p:cTn id="16" presetID="24" presetClass="entr" presetSubtype="0" fill="hold" nodeType="clickEffect">
                                  <p:stCondLst>
                                    <p:cond delay="0"/>
                                  </p:stCondLst>
                                  <p:childTnLst>
                                    <p:set>
                                      <p:cBhvr>
                                        <p:cTn id="17" dur="1" fill="hold">
                                          <p:stCondLst>
                                            <p:cond delay="499"/>
                                          </p:stCondLst>
                                        </p:cTn>
                                        <p:tgtEl>
                                          <p:spTgt spid="54"/>
                                        </p:tgtEl>
                                        <p:attrNameLst>
                                          <p:attrName>style.visibility</p:attrName>
                                        </p:attrNameLst>
                                      </p:cBhvr>
                                      <p:to>
                                        <p:strVal val="visible"/>
                                      </p:to>
                                    </p:set>
                                    <p:anim to="" calcmode="lin" valueType="num">
                                      <p:cBhvr>
                                        <p:cTn id="18" dur="1" fill="hold"/>
                                        <p:tgtEl>
                                          <p:spTgt spid="54"/>
                                        </p:tgtEl>
                                        <p:attrNameLst>
                                          <p:attrName/>
                                        </p:attrNameLst>
                                      </p:cBhvr>
                                    </p:anim>
                                  </p:childTnLst>
                                </p:cTn>
                              </p:par>
                            </p:childTnLst>
                          </p:cTn>
                        </p:par>
                      </p:childTnLst>
                    </p:cTn>
                  </p:par>
                  <p:par>
                    <p:cTn id="19" fill="hold">
                      <p:stCondLst>
                        <p:cond delay="indefinite"/>
                      </p:stCondLst>
                      <p:childTnLst>
                        <p:par>
                          <p:cTn id="20" fill="hold">
                            <p:stCondLst>
                              <p:cond delay="0"/>
                            </p:stCondLst>
                            <p:childTnLst>
                              <p:par>
                                <p:cTn id="21" presetID="24" presetClass="entr" presetSubtype="0" fill="hold" nodeType="clickEffect">
                                  <p:stCondLst>
                                    <p:cond delay="0"/>
                                  </p:stCondLst>
                                  <p:childTnLst>
                                    <p:set>
                                      <p:cBhvr>
                                        <p:cTn id="22" dur="1" fill="hold">
                                          <p:stCondLst>
                                            <p:cond delay="499"/>
                                          </p:stCondLst>
                                        </p:cTn>
                                        <p:tgtEl>
                                          <p:spTgt spid="58"/>
                                        </p:tgtEl>
                                        <p:attrNameLst>
                                          <p:attrName>style.visibility</p:attrName>
                                        </p:attrNameLst>
                                      </p:cBhvr>
                                      <p:to>
                                        <p:strVal val="visible"/>
                                      </p:to>
                                    </p:set>
                                    <p:anim to="" calcmode="lin" valueType="num">
                                      <p:cBhvr>
                                        <p:cTn id="23" dur="1" fill="hold"/>
                                        <p:tgtEl>
                                          <p:spTgt spid="58"/>
                                        </p:tgtEl>
                                        <p:attrNameLst>
                                          <p:attrName/>
                                        </p:attrNameLst>
                                      </p:cBhvr>
                                    </p:anim>
                                  </p:childTnLst>
                                </p:cTn>
                              </p:par>
                            </p:childTnLst>
                          </p:cTn>
                        </p:par>
                      </p:childTnLst>
                    </p:cTn>
                  </p:par>
                  <p:par>
                    <p:cTn id="24" fill="hold">
                      <p:stCondLst>
                        <p:cond delay="indefinite"/>
                      </p:stCondLst>
                      <p:childTnLst>
                        <p:par>
                          <p:cTn id="25" fill="hold">
                            <p:stCondLst>
                              <p:cond delay="0"/>
                            </p:stCondLst>
                            <p:childTnLst>
                              <p:par>
                                <p:cTn id="26" presetID="23" presetClass="entr" presetSubtype="528" fill="hold" nodeType="clickEffect">
                                  <p:stCondLst>
                                    <p:cond delay="0"/>
                                  </p:stCondLst>
                                  <p:childTnLst>
                                    <p:set>
                                      <p:cBhvr>
                                        <p:cTn id="27" dur="1" fill="hold">
                                          <p:stCondLst>
                                            <p:cond delay="0"/>
                                          </p:stCondLst>
                                        </p:cTn>
                                        <p:tgtEl>
                                          <p:spTgt spid="62"/>
                                        </p:tgtEl>
                                        <p:attrNameLst>
                                          <p:attrName>style.visibility</p:attrName>
                                        </p:attrNameLst>
                                      </p:cBhvr>
                                      <p:to>
                                        <p:strVal val="visible"/>
                                      </p:to>
                                    </p:set>
                                    <p:anim calcmode="lin" valueType="num">
                                      <p:cBhvr>
                                        <p:cTn id="28" dur="500" fill="hold"/>
                                        <p:tgtEl>
                                          <p:spTgt spid="62"/>
                                        </p:tgtEl>
                                        <p:attrNameLst>
                                          <p:attrName>ppt_w</p:attrName>
                                        </p:attrNameLst>
                                      </p:cBhvr>
                                      <p:tavLst>
                                        <p:tav tm="0">
                                          <p:val>
                                            <p:fltVal val="0"/>
                                          </p:val>
                                        </p:tav>
                                        <p:tav tm="100000">
                                          <p:val>
                                            <p:strVal val="#ppt_w"/>
                                          </p:val>
                                        </p:tav>
                                      </p:tavLst>
                                    </p:anim>
                                    <p:anim calcmode="lin" valueType="num">
                                      <p:cBhvr>
                                        <p:cTn id="29" dur="500" fill="hold"/>
                                        <p:tgtEl>
                                          <p:spTgt spid="62"/>
                                        </p:tgtEl>
                                        <p:attrNameLst>
                                          <p:attrName>ppt_h</p:attrName>
                                        </p:attrNameLst>
                                      </p:cBhvr>
                                      <p:tavLst>
                                        <p:tav tm="0">
                                          <p:val>
                                            <p:fltVal val="0"/>
                                          </p:val>
                                        </p:tav>
                                        <p:tav tm="100000">
                                          <p:val>
                                            <p:strVal val="#ppt_h"/>
                                          </p:val>
                                        </p:tav>
                                      </p:tavLst>
                                    </p:anim>
                                    <p:anim calcmode="lin" valueType="num">
                                      <p:cBhvr>
                                        <p:cTn id="30" dur="500" fill="hold"/>
                                        <p:tgtEl>
                                          <p:spTgt spid="62"/>
                                        </p:tgtEl>
                                        <p:attrNameLst>
                                          <p:attrName>ppt_x</p:attrName>
                                        </p:attrNameLst>
                                      </p:cBhvr>
                                      <p:tavLst>
                                        <p:tav tm="0">
                                          <p:val>
                                            <p:fltVal val="0.5"/>
                                          </p:val>
                                        </p:tav>
                                        <p:tav tm="100000">
                                          <p:val>
                                            <p:strVal val="#ppt_x"/>
                                          </p:val>
                                        </p:tav>
                                      </p:tavLst>
                                    </p:anim>
                                    <p:anim calcmode="lin" valueType="num">
                                      <p:cBhvr>
                                        <p:cTn id="31" dur="500" fill="hold"/>
                                        <p:tgtEl>
                                          <p:spTgt spid="62"/>
                                        </p:tgtEl>
                                        <p:attrNameLst>
                                          <p:attrName>ppt_y</p:attrName>
                                        </p:attrNameLst>
                                      </p:cBhvr>
                                      <p:tavLst>
                                        <p:tav tm="0">
                                          <p:val>
                                            <p:fltVal val="0.5"/>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528" fill="hold" grpId="0" nodeType="clickEffect">
                                  <p:stCondLst>
                                    <p:cond delay="0"/>
                                  </p:stCondLst>
                                  <p:childTnLst>
                                    <p:set>
                                      <p:cBhvr>
                                        <p:cTn id="35" dur="1" fill="hold">
                                          <p:stCondLst>
                                            <p:cond delay="0"/>
                                          </p:stCondLst>
                                        </p:cTn>
                                        <p:tgtEl>
                                          <p:spTgt spid="67"/>
                                        </p:tgtEl>
                                        <p:attrNameLst>
                                          <p:attrName>style.visibility</p:attrName>
                                        </p:attrNameLst>
                                      </p:cBhvr>
                                      <p:to>
                                        <p:strVal val="visible"/>
                                      </p:to>
                                    </p:set>
                                    <p:anim calcmode="lin" valueType="num">
                                      <p:cBhvr>
                                        <p:cTn id="36" dur="500" fill="hold"/>
                                        <p:tgtEl>
                                          <p:spTgt spid="67"/>
                                        </p:tgtEl>
                                        <p:attrNameLst>
                                          <p:attrName>ppt_w</p:attrName>
                                        </p:attrNameLst>
                                      </p:cBhvr>
                                      <p:tavLst>
                                        <p:tav tm="0">
                                          <p:val>
                                            <p:fltVal val="0"/>
                                          </p:val>
                                        </p:tav>
                                        <p:tav tm="100000">
                                          <p:val>
                                            <p:strVal val="#ppt_w"/>
                                          </p:val>
                                        </p:tav>
                                      </p:tavLst>
                                    </p:anim>
                                    <p:anim calcmode="lin" valueType="num">
                                      <p:cBhvr>
                                        <p:cTn id="37" dur="500" fill="hold"/>
                                        <p:tgtEl>
                                          <p:spTgt spid="67"/>
                                        </p:tgtEl>
                                        <p:attrNameLst>
                                          <p:attrName>ppt_h</p:attrName>
                                        </p:attrNameLst>
                                      </p:cBhvr>
                                      <p:tavLst>
                                        <p:tav tm="0">
                                          <p:val>
                                            <p:fltVal val="0"/>
                                          </p:val>
                                        </p:tav>
                                        <p:tav tm="100000">
                                          <p:val>
                                            <p:strVal val="#ppt_h"/>
                                          </p:val>
                                        </p:tav>
                                      </p:tavLst>
                                    </p:anim>
                                    <p:anim calcmode="lin" valueType="num">
                                      <p:cBhvr>
                                        <p:cTn id="38" dur="500" fill="hold"/>
                                        <p:tgtEl>
                                          <p:spTgt spid="67"/>
                                        </p:tgtEl>
                                        <p:attrNameLst>
                                          <p:attrName>ppt_x</p:attrName>
                                        </p:attrNameLst>
                                      </p:cBhvr>
                                      <p:tavLst>
                                        <p:tav tm="0">
                                          <p:val>
                                            <p:fltVal val="0.5"/>
                                          </p:val>
                                        </p:tav>
                                        <p:tav tm="100000">
                                          <p:val>
                                            <p:strVal val="#ppt_x"/>
                                          </p:val>
                                        </p:tav>
                                      </p:tavLst>
                                    </p:anim>
                                    <p:anim calcmode="lin" valueType="num">
                                      <p:cBhvr>
                                        <p:cTn id="39" dur="500" fill="hold"/>
                                        <p:tgtEl>
                                          <p:spTgt spid="67"/>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utoUpdateAnimBg="0"/>
      <p:bldP spid="67"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r>
              <a:rPr lang="zh-CN" altLang="en-US"/>
              <a:t>小结</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思考与小结</a:t>
            </a:r>
            <a:endParaRPr lang="zh-CN" altLang="en-US" sz="3600" dirty="0"/>
          </a:p>
        </p:txBody>
      </p:sp>
      <p:sp>
        <p:nvSpPr>
          <p:cNvPr id="1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24" name="Rectangle 3"/>
          <p:cNvSpPr>
            <a:spLocks noChangeArrowheads="1"/>
          </p:cNvSpPr>
          <p:nvPr/>
        </p:nvSpPr>
        <p:spPr bwMode="auto">
          <a:xfrm>
            <a:off x="561698" y="5398770"/>
            <a:ext cx="8153706" cy="972574"/>
          </a:xfrm>
          <a:prstGeom prst="rect">
            <a:avLst/>
          </a:prstGeom>
          <a:noFill/>
          <a:ln w="9525">
            <a:noFill/>
            <a:miter lim="800000"/>
            <a:headEnd/>
            <a:tailEnd/>
          </a:ln>
          <a:effectLst/>
        </p:spPr>
        <p:txBody>
          <a:bodyPr wrap="square">
            <a:spAutoFit/>
          </a:bodyPr>
          <a:lstStyle/>
          <a:p>
            <a:pPr marL="531813" indent="-531813">
              <a:lnSpc>
                <a:spcPct val="130000"/>
              </a:lnSpc>
              <a:spcBef>
                <a:spcPts val="500"/>
              </a:spcBef>
              <a:spcAft>
                <a:spcPts val="500"/>
              </a:spcAft>
              <a:defRPr/>
            </a:pPr>
            <a:r>
              <a:rPr lang="en-US" altLang="zh-CN" sz="2200" b="1">
                <a:latin typeface="+mn-ea"/>
                <a:cs typeface="+mn-cs"/>
              </a:rPr>
              <a:t>   5. </a:t>
            </a:r>
            <a:r>
              <a:rPr lang="zh-CN" altLang="en-US" sz="2200" b="1">
                <a:latin typeface="+mn-ea"/>
                <a:cs typeface="+mn-cs"/>
              </a:rPr>
              <a:t>当计算自由度</a:t>
            </a:r>
            <a:r>
              <a:rPr lang="en-US" altLang="zh-CN" sz="2200" b="1" i="1">
                <a:latin typeface="+mn-ea"/>
                <a:cs typeface="+mn-cs"/>
              </a:rPr>
              <a:t>W &gt;</a:t>
            </a:r>
            <a:r>
              <a:rPr lang="en-US" altLang="zh-CN" sz="2200" b="1">
                <a:latin typeface="+mn-ea"/>
                <a:cs typeface="+mn-cs"/>
              </a:rPr>
              <a:t>0 </a:t>
            </a:r>
            <a:r>
              <a:rPr lang="zh-CN" altLang="en-US" sz="2200" b="1">
                <a:latin typeface="+mn-ea"/>
                <a:cs typeface="+mn-cs"/>
              </a:rPr>
              <a:t>时，体系一定是可变的。但</a:t>
            </a:r>
            <a:r>
              <a:rPr lang="en-US" altLang="zh-CN" sz="2200" b="1" i="1">
                <a:latin typeface="+mn-ea"/>
                <a:cs typeface="+mn-cs"/>
              </a:rPr>
              <a:t>W</a:t>
            </a:r>
            <a:r>
              <a:rPr lang="en-US" altLang="zh-CN" sz="2200" b="1">
                <a:latin typeface="+mn-ea"/>
                <a:cs typeface="+mn-cs"/>
              </a:rPr>
              <a:t>≤0</a:t>
            </a:r>
            <a:r>
              <a:rPr lang="zh-CN" altLang="en-US" sz="2200" b="1">
                <a:latin typeface="+mn-ea"/>
                <a:cs typeface="+mn-cs"/>
              </a:rPr>
              <a:t>仅是体系几何不变的必要条件。</a:t>
            </a:r>
          </a:p>
        </p:txBody>
      </p:sp>
      <p:sp>
        <p:nvSpPr>
          <p:cNvPr id="25" name="Rectangle 4"/>
          <p:cNvSpPr>
            <a:spLocks noChangeArrowheads="1"/>
          </p:cNvSpPr>
          <p:nvPr/>
        </p:nvSpPr>
        <p:spPr bwMode="auto">
          <a:xfrm>
            <a:off x="459090" y="3929066"/>
            <a:ext cx="8215370" cy="1412694"/>
          </a:xfrm>
          <a:prstGeom prst="rect">
            <a:avLst/>
          </a:prstGeom>
          <a:noFill/>
          <a:ln w="9525">
            <a:noFill/>
            <a:miter lim="800000"/>
            <a:headEnd/>
            <a:tailEnd/>
          </a:ln>
          <a:effectLst/>
        </p:spPr>
        <p:txBody>
          <a:bodyPr wrap="square">
            <a:spAutoFit/>
          </a:bodyPr>
          <a:lstStyle/>
          <a:p>
            <a:pPr marL="627063" indent="-531813">
              <a:lnSpc>
                <a:spcPct val="130000"/>
              </a:lnSpc>
              <a:tabLst>
                <a:tab pos="531813" algn="l"/>
              </a:tabLst>
              <a:defRPr/>
            </a:pPr>
            <a:r>
              <a:rPr lang="en-US" altLang="zh-CN" sz="2200" b="1">
                <a:latin typeface="+mn-ea"/>
                <a:cs typeface="+mn-cs"/>
              </a:rPr>
              <a:t>   4. </a:t>
            </a:r>
            <a:r>
              <a:rPr lang="zh-CN" altLang="en-US" sz="2200" b="1">
                <a:latin typeface="+mn-ea"/>
                <a:cs typeface="+mn-cs"/>
              </a:rPr>
              <a:t>分析一个体系可变性时，应注意刚体形状可任意改换。</a:t>
            </a:r>
            <a:r>
              <a:rPr lang="zh-CN" altLang="en-US" sz="2200" b="1">
                <a:solidFill>
                  <a:srgbClr val="C00000"/>
                </a:solidFill>
                <a:latin typeface="+mn-ea"/>
                <a:cs typeface="+mn-cs"/>
              </a:rPr>
              <a:t>按照 找大刚体（或刚片）、减二元体、去支座分析内部可变性等，使体系得到最大限度简化后，再应用三角形规则分析。</a:t>
            </a:r>
          </a:p>
        </p:txBody>
      </p:sp>
      <p:sp>
        <p:nvSpPr>
          <p:cNvPr id="26" name="Rectangle 5"/>
          <p:cNvSpPr>
            <a:spLocks noChangeArrowheads="1"/>
          </p:cNvSpPr>
          <p:nvPr/>
        </p:nvSpPr>
        <p:spPr bwMode="auto">
          <a:xfrm>
            <a:off x="500034" y="3413093"/>
            <a:ext cx="8054972" cy="430887"/>
          </a:xfrm>
          <a:prstGeom prst="rect">
            <a:avLst/>
          </a:prstGeom>
          <a:noFill/>
          <a:ln w="9525">
            <a:noFill/>
            <a:miter lim="800000"/>
            <a:headEnd/>
            <a:tailEnd/>
          </a:ln>
          <a:effectLst/>
        </p:spPr>
        <p:txBody>
          <a:bodyPr wrap="square">
            <a:spAutoFit/>
          </a:bodyPr>
          <a:lstStyle/>
          <a:p>
            <a:pPr>
              <a:defRPr/>
            </a:pPr>
            <a:r>
              <a:rPr lang="en-US" altLang="zh-CN" sz="2200" b="1">
                <a:solidFill>
                  <a:srgbClr val="C00000"/>
                </a:solidFill>
                <a:latin typeface="+mn-ea"/>
                <a:cs typeface="+mn-cs"/>
              </a:rPr>
              <a:t>    3. </a:t>
            </a:r>
            <a:r>
              <a:rPr lang="zh-CN" altLang="en-US" sz="2200" b="1">
                <a:solidFill>
                  <a:srgbClr val="C00000"/>
                </a:solidFill>
                <a:latin typeface="+mn-ea"/>
                <a:cs typeface="+mn-cs"/>
              </a:rPr>
              <a:t>超静定结构可通过合理地减少多余约束使其变成静定结构；</a:t>
            </a:r>
          </a:p>
        </p:txBody>
      </p:sp>
      <p:sp>
        <p:nvSpPr>
          <p:cNvPr id="27" name="Rectangle 6"/>
          <p:cNvSpPr>
            <a:spLocks noChangeArrowheads="1"/>
          </p:cNvSpPr>
          <p:nvPr/>
        </p:nvSpPr>
        <p:spPr bwMode="auto">
          <a:xfrm>
            <a:off x="500034" y="2357430"/>
            <a:ext cx="8143932" cy="927818"/>
          </a:xfrm>
          <a:prstGeom prst="rect">
            <a:avLst/>
          </a:prstGeom>
          <a:noFill/>
          <a:ln w="9525">
            <a:noFill/>
            <a:miter lim="800000"/>
            <a:headEnd/>
            <a:tailEnd/>
          </a:ln>
          <a:effectLst/>
        </p:spPr>
        <p:txBody>
          <a:bodyPr wrap="square">
            <a:spAutoFit/>
          </a:bodyPr>
          <a:lstStyle/>
          <a:p>
            <a:pPr marL="627063" indent="-354013">
              <a:lnSpc>
                <a:spcPct val="130000"/>
              </a:lnSpc>
              <a:defRPr/>
            </a:pPr>
            <a:r>
              <a:rPr lang="en-US" altLang="zh-CN" sz="2200" b="1">
                <a:latin typeface="+mn-ea"/>
                <a:cs typeface="+mn-cs"/>
              </a:rPr>
              <a:t>2. </a:t>
            </a:r>
            <a:r>
              <a:rPr lang="zh-CN" altLang="en-US" sz="2200" b="1">
                <a:latin typeface="+mn-ea"/>
                <a:cs typeface="+mn-cs"/>
              </a:rPr>
              <a:t>正确区分静定、超静定，正确判定超静定结构的多余约束数十分重要；</a:t>
            </a:r>
          </a:p>
        </p:txBody>
      </p:sp>
      <p:sp>
        <p:nvSpPr>
          <p:cNvPr id="28" name="Rectangle 7"/>
          <p:cNvSpPr>
            <a:spLocks noChangeArrowheads="1"/>
          </p:cNvSpPr>
          <p:nvPr/>
        </p:nvSpPr>
        <p:spPr bwMode="auto">
          <a:xfrm>
            <a:off x="785786" y="1857364"/>
            <a:ext cx="8070850" cy="430887"/>
          </a:xfrm>
          <a:prstGeom prst="rect">
            <a:avLst/>
          </a:prstGeom>
          <a:noFill/>
          <a:ln w="9525">
            <a:noFill/>
            <a:miter lim="800000"/>
            <a:headEnd/>
            <a:tailEnd/>
          </a:ln>
          <a:effectLst/>
        </p:spPr>
        <p:txBody>
          <a:bodyPr>
            <a:spAutoFit/>
          </a:bodyPr>
          <a:lstStyle/>
          <a:p>
            <a:pPr>
              <a:defRPr/>
            </a:pPr>
            <a:r>
              <a:rPr lang="en-US" altLang="zh-CN" sz="2200" b="1">
                <a:solidFill>
                  <a:srgbClr val="C00000"/>
                </a:solidFill>
                <a:latin typeface="+mn-ea"/>
                <a:cs typeface="+mn-cs"/>
              </a:rPr>
              <a:t>1. </a:t>
            </a:r>
            <a:r>
              <a:rPr lang="zh-CN" altLang="en-US" sz="2200" b="1">
                <a:solidFill>
                  <a:srgbClr val="C00000"/>
                </a:solidFill>
                <a:latin typeface="+mn-ea"/>
                <a:cs typeface="+mn-cs"/>
              </a:rPr>
              <a:t>结构的组装顺序和受力分析次序密切相关；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28"/>
                                        </p:tgtEl>
                                        <p:attrNameLst>
                                          <p:attrName>style.visibility</p:attrName>
                                        </p:attrNameLst>
                                      </p:cBhvr>
                                      <p:to>
                                        <p:strVal val="visible"/>
                                      </p:to>
                                    </p:set>
                                    <p:anim to="" calcmode="lin" valueType="num">
                                      <p:cBhvr>
                                        <p:cTn id="7" dur="1" fill="hold"/>
                                        <p:tgtEl>
                                          <p:spTgt spid="28"/>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499"/>
                                          </p:stCondLst>
                                        </p:cTn>
                                        <p:tgtEl>
                                          <p:spTgt spid="27"/>
                                        </p:tgtEl>
                                        <p:attrNameLst>
                                          <p:attrName>style.visibility</p:attrName>
                                        </p:attrNameLst>
                                      </p:cBhvr>
                                      <p:to>
                                        <p:strVal val="visible"/>
                                      </p:to>
                                    </p:set>
                                    <p:anim to="" calcmode="lin" valueType="num">
                                      <p:cBhvr>
                                        <p:cTn id="12" dur="1" fill="hold"/>
                                        <p:tgtEl>
                                          <p:spTgt spid="27"/>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499"/>
                                          </p:stCondLst>
                                        </p:cTn>
                                        <p:tgtEl>
                                          <p:spTgt spid="26"/>
                                        </p:tgtEl>
                                        <p:attrNameLst>
                                          <p:attrName>style.visibility</p:attrName>
                                        </p:attrNameLst>
                                      </p:cBhvr>
                                      <p:to>
                                        <p:strVal val="visible"/>
                                      </p:to>
                                    </p:set>
                                    <p:anim to="" calcmode="lin" valueType="num">
                                      <p:cBhvr>
                                        <p:cTn id="17" dur="1" fill="hold"/>
                                        <p:tgtEl>
                                          <p:spTgt spid="26"/>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499"/>
                                          </p:stCondLst>
                                        </p:cTn>
                                        <p:tgtEl>
                                          <p:spTgt spid="25"/>
                                        </p:tgtEl>
                                        <p:attrNameLst>
                                          <p:attrName>style.visibility</p:attrName>
                                        </p:attrNameLst>
                                      </p:cBhvr>
                                      <p:to>
                                        <p:strVal val="visible"/>
                                      </p:to>
                                    </p:set>
                                    <p:anim to="" calcmode="lin" valueType="num">
                                      <p:cBhvr>
                                        <p:cTn id="22" dur="1" fill="hold"/>
                                        <p:tgtEl>
                                          <p:spTgt spid="25"/>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499"/>
                                          </p:stCondLst>
                                        </p:cTn>
                                        <p:tgtEl>
                                          <p:spTgt spid="24"/>
                                        </p:tgtEl>
                                        <p:attrNameLst>
                                          <p:attrName>style.visibility</p:attrName>
                                        </p:attrNameLst>
                                      </p:cBhvr>
                                      <p:to>
                                        <p:strVal val="visible"/>
                                      </p:to>
                                    </p:set>
                                    <p:anim to="" calcmode="lin" valueType="num">
                                      <p:cBhvr>
                                        <p:cTn id="27" dur="1" fill="hold"/>
                                        <p:tgtEl>
                                          <p:spTgt spid="24"/>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utoUpdateAnimBg="0"/>
      <p:bldP spid="25" grpId="0" autoUpdateAnimBg="0"/>
      <p:bldP spid="26" grpId="0" autoUpdateAnimBg="0"/>
      <p:bldP spid="27" grpId="0" autoUpdateAnimBg="0"/>
      <p:bldP spid="28"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r"/>
            <a:r>
              <a:rPr lang="zh-CN" altLang="en-US"/>
              <a:t>作业</a:t>
            </a:r>
          </a:p>
        </p:txBody>
      </p:sp>
      <p:sp>
        <p:nvSpPr>
          <p:cNvPr id="3" name="内容占位符 2"/>
          <p:cNvSpPr>
            <a:spLocks noGrp="1"/>
          </p:cNvSpPr>
          <p:nvPr>
            <p:ph idx="1"/>
          </p:nvPr>
        </p:nvSpPr>
        <p:spPr/>
        <p:txBody>
          <a:bodyPr/>
          <a:lstStyle/>
          <a:p>
            <a:r>
              <a:rPr lang="zh-CN" altLang="en-US"/>
              <a:t>课后习题</a:t>
            </a:r>
            <a:endParaRPr lang="en-US" altLang="zh-CN"/>
          </a:p>
          <a:p>
            <a:pPr>
              <a:buNone/>
            </a:pPr>
            <a:r>
              <a:rPr lang="en-US" altLang="zh-CN">
                <a:solidFill>
                  <a:schemeClr val="tx1"/>
                </a:solidFill>
              </a:rPr>
              <a:t>        2-1 (b) (c)</a:t>
            </a:r>
          </a:p>
          <a:p>
            <a:pPr>
              <a:buNone/>
            </a:pPr>
            <a:r>
              <a:rPr lang="en-US" altLang="zh-CN">
                <a:solidFill>
                  <a:schemeClr val="tx1"/>
                </a:solidFill>
              </a:rPr>
              <a:t>        2-2 (a) (c)</a:t>
            </a:r>
          </a:p>
          <a:p>
            <a:pPr>
              <a:buNone/>
            </a:pPr>
            <a:r>
              <a:rPr lang="en-US" altLang="zh-CN">
                <a:solidFill>
                  <a:schemeClr val="tx1"/>
                </a:solidFill>
              </a:rPr>
              <a:t>        2-3 (a) (c)</a:t>
            </a:r>
          </a:p>
          <a:p>
            <a:pPr>
              <a:buNone/>
            </a:pPr>
            <a:r>
              <a:rPr lang="en-US" altLang="zh-CN">
                <a:solidFill>
                  <a:schemeClr val="tx1"/>
                </a:solidFill>
              </a:rPr>
              <a:t>        2-4 (b) (e)</a:t>
            </a:r>
          </a:p>
          <a:p>
            <a:pPr>
              <a:buNone/>
            </a:pPr>
            <a:r>
              <a:rPr lang="en-US" altLang="zh-CN">
                <a:solidFill>
                  <a:schemeClr val="tx1"/>
                </a:solidFill>
              </a:rPr>
              <a:t>        2-5 (b) (c)</a:t>
            </a:r>
          </a:p>
          <a:p>
            <a:pPr>
              <a:buNone/>
            </a:pPr>
            <a:r>
              <a:rPr lang="en-US" altLang="zh-CN">
                <a:solidFill>
                  <a:schemeClr val="tx1"/>
                </a:solidFill>
              </a:rPr>
              <a:t>        2-7 (a)</a:t>
            </a:r>
          </a:p>
          <a:p>
            <a:pPr>
              <a:buNone/>
            </a:pPr>
            <a:r>
              <a:rPr lang="en-US" altLang="zh-CN">
                <a:solidFill>
                  <a:schemeClr val="tx1"/>
                </a:solidFill>
              </a:rPr>
              <a:t>        2-8 (b)</a:t>
            </a:r>
          </a:p>
          <a:p>
            <a:pPr>
              <a:buNone/>
            </a:pPr>
            <a:r>
              <a:rPr lang="en-US" altLang="zh-CN">
                <a:solidFill>
                  <a:schemeClr val="tx1"/>
                </a:solidFill>
              </a:rPr>
              <a:t>        2-9 (c)</a:t>
            </a:r>
          </a:p>
          <a:p>
            <a:pPr>
              <a:buNone/>
            </a:pPr>
            <a:r>
              <a:rPr lang="en-US" altLang="zh-CN">
                <a:solidFill>
                  <a:schemeClr val="tx1"/>
                </a:solidFill>
              </a:rPr>
              <a:t>        2-12(b) </a:t>
            </a:r>
            <a:endParaRPr lang="zh-CN" altLang="en-US">
              <a:solidFill>
                <a:schemeClr val="tx1"/>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1" algn="r"/>
            <a:r>
              <a:rPr lang="zh-CN" altLang="en-US" sz="3600"/>
              <a:t>思考与小结</a:t>
            </a:r>
            <a:endParaRPr lang="zh-CN" altLang="en-US" sz="3600" dirty="0"/>
          </a:p>
        </p:txBody>
      </p:sp>
      <p:sp>
        <p:nvSpPr>
          <p:cNvPr id="1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3" name="内容占位符 2"/>
          <p:cNvSpPr>
            <a:spLocks noGrp="1"/>
          </p:cNvSpPr>
          <p:nvPr>
            <p:ph idx="1"/>
          </p:nvPr>
        </p:nvSpPr>
        <p:spPr>
          <a:ln>
            <a:noFill/>
          </a:ln>
        </p:spPr>
        <p:txBody>
          <a:bodyPr/>
          <a:lstStyle/>
          <a:p>
            <a:r>
              <a:rPr lang="zh-CN" altLang="en-US"/>
              <a:t>无穷远处虚铰</a:t>
            </a:r>
            <a:endParaRPr lang="en-US" altLang="zh-CN"/>
          </a:p>
          <a:p>
            <a:pPr lvl="1"/>
            <a:r>
              <a:rPr lang="zh-CN" altLang="en-US"/>
              <a:t>一铰无穷远</a:t>
            </a:r>
            <a:endParaRPr lang="en-US" altLang="zh-CN"/>
          </a:p>
        </p:txBody>
      </p:sp>
      <p:grpSp>
        <p:nvGrpSpPr>
          <p:cNvPr id="17" name="Group 4"/>
          <p:cNvGrpSpPr>
            <a:grpSpLocks/>
          </p:cNvGrpSpPr>
          <p:nvPr/>
        </p:nvGrpSpPr>
        <p:grpSpPr bwMode="auto">
          <a:xfrm>
            <a:off x="5486400" y="4111646"/>
            <a:ext cx="3279775" cy="519113"/>
            <a:chOff x="3120" y="2580"/>
            <a:chExt cx="2809" cy="356"/>
          </a:xfrm>
        </p:grpSpPr>
        <p:sp>
          <p:nvSpPr>
            <p:cNvPr id="18" name="Text Box 5"/>
            <p:cNvSpPr txBox="1">
              <a:spLocks noChangeArrowheads="1"/>
            </p:cNvSpPr>
            <p:nvPr/>
          </p:nvSpPr>
          <p:spPr bwMode="auto">
            <a:xfrm>
              <a:off x="3936" y="2580"/>
              <a:ext cx="1993" cy="356"/>
            </a:xfrm>
            <a:prstGeom prst="rect">
              <a:avLst/>
            </a:prstGeom>
            <a:noFill/>
            <a:ln w="9525">
              <a:noFill/>
              <a:miter lim="800000"/>
              <a:headEnd/>
              <a:tailEnd/>
            </a:ln>
            <a:effectLst/>
          </p:spPr>
          <p:txBody>
            <a:bodyPr wrap="none">
              <a:spAutoFit/>
            </a:bodyPr>
            <a:lstStyle/>
            <a:p>
              <a:pPr>
                <a:defRPr/>
              </a:pPr>
              <a:r>
                <a:rPr lang="zh-CN" altLang="en-US" sz="2800">
                  <a:solidFill>
                    <a:srgbClr val="FF3300"/>
                  </a:solidFill>
                  <a:effectLst>
                    <a:outerShdw blurRad="38100" dist="38100" dir="2700000" algn="tl">
                      <a:srgbClr val="C0C0C0"/>
                    </a:outerShdw>
                  </a:effectLst>
                  <a:ea typeface="楷体_GB2312" pitchFamily="49" charset="-122"/>
                </a:rPr>
                <a:t>几何不变体系</a:t>
              </a:r>
              <a:endParaRPr lang="zh-CN" altLang="en-US" sz="2800" b="0">
                <a:effectLst>
                  <a:outerShdw blurRad="38100" dist="38100" dir="2700000" algn="tl">
                    <a:srgbClr val="C0C0C0"/>
                  </a:outerShdw>
                </a:effectLst>
                <a:ea typeface="楷体_GB2312" pitchFamily="49" charset="-122"/>
              </a:endParaRPr>
            </a:p>
          </p:txBody>
        </p:sp>
        <p:sp>
          <p:nvSpPr>
            <p:cNvPr id="19" name="AutoShape 6"/>
            <p:cNvSpPr>
              <a:spLocks noChangeArrowheads="1"/>
            </p:cNvSpPr>
            <p:nvPr/>
          </p:nvSpPr>
          <p:spPr bwMode="auto">
            <a:xfrm>
              <a:off x="3120" y="2640"/>
              <a:ext cx="720" cy="144"/>
            </a:xfrm>
            <a:prstGeom prst="chevron">
              <a:avLst>
                <a:gd name="adj" fmla="val 125000"/>
              </a:avLst>
            </a:prstGeom>
            <a:solidFill>
              <a:schemeClr val="accent1"/>
            </a:solidFill>
            <a:ln w="9525">
              <a:solidFill>
                <a:schemeClr val="tx1"/>
              </a:solidFill>
              <a:miter lim="800000"/>
              <a:headEnd/>
              <a:tailEnd/>
            </a:ln>
          </p:spPr>
          <p:txBody>
            <a:bodyPr wrap="none" anchor="ctr"/>
            <a:lstStyle/>
            <a:p>
              <a:pPr>
                <a:spcBef>
                  <a:spcPct val="50000"/>
                </a:spcBef>
              </a:pPr>
              <a:endParaRPr lang="zh-CN" altLang="en-US">
                <a:ea typeface="楷体_GB2312" pitchFamily="49" charset="-122"/>
              </a:endParaRPr>
            </a:p>
          </p:txBody>
        </p:sp>
      </p:grpSp>
      <p:grpSp>
        <p:nvGrpSpPr>
          <p:cNvPr id="20" name="Group 7"/>
          <p:cNvGrpSpPr>
            <a:grpSpLocks/>
          </p:cNvGrpSpPr>
          <p:nvPr/>
        </p:nvGrpSpPr>
        <p:grpSpPr bwMode="auto">
          <a:xfrm>
            <a:off x="1066800" y="2359046"/>
            <a:ext cx="4419600" cy="4070350"/>
            <a:chOff x="288" y="1488"/>
            <a:chExt cx="2784" cy="2564"/>
          </a:xfrm>
        </p:grpSpPr>
        <p:graphicFrame>
          <p:nvGraphicFramePr>
            <p:cNvPr id="21" name="Object 8"/>
            <p:cNvGraphicFramePr>
              <a:graphicFrameLocks noChangeAspect="1"/>
            </p:cNvGraphicFramePr>
            <p:nvPr/>
          </p:nvGraphicFramePr>
          <p:xfrm>
            <a:off x="288" y="1488"/>
            <a:ext cx="2784" cy="2564"/>
          </p:xfrm>
          <a:graphic>
            <a:graphicData uri="http://schemas.openxmlformats.org/presentationml/2006/ole">
              <mc:AlternateContent xmlns:mc="http://schemas.openxmlformats.org/markup-compatibility/2006">
                <mc:Choice xmlns:v="urn:schemas-microsoft-com:vml" Requires="v">
                  <p:oleObj spid="_x0000_s291844" name="BMP 图象" r:id="rId4" imgW="4828571" imgH="4447619" progId="">
                    <p:embed/>
                  </p:oleObj>
                </mc:Choice>
                <mc:Fallback>
                  <p:oleObj name="BMP 图象" r:id="rId4" imgW="4828571" imgH="4447619" progId="">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 y="1488"/>
                          <a:ext cx="2784" cy="2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 name="Text Box 9"/>
            <p:cNvSpPr txBox="1">
              <a:spLocks noChangeArrowheads="1"/>
            </p:cNvSpPr>
            <p:nvPr/>
          </p:nvSpPr>
          <p:spPr bwMode="auto">
            <a:xfrm>
              <a:off x="2160" y="3408"/>
              <a:ext cx="791" cy="327"/>
            </a:xfrm>
            <a:prstGeom prst="rect">
              <a:avLst/>
            </a:prstGeom>
            <a:noFill/>
            <a:ln w="9525">
              <a:noFill/>
              <a:miter lim="800000"/>
              <a:headEnd/>
              <a:tailEnd/>
            </a:ln>
            <a:effectLst/>
          </p:spPr>
          <p:txBody>
            <a:bodyPr wrap="none">
              <a:spAutoFit/>
            </a:bodyPr>
            <a:lstStyle/>
            <a:p>
              <a:pPr>
                <a:defRPr/>
              </a:pPr>
              <a:r>
                <a:rPr lang="zh-CN" altLang="en-US" sz="2800">
                  <a:solidFill>
                    <a:srgbClr val="FF3300"/>
                  </a:solidFill>
                  <a:effectLst>
                    <a:outerShdw blurRad="38100" dist="38100" dir="2700000" algn="tl">
                      <a:srgbClr val="C0C0C0"/>
                    </a:outerShdw>
                  </a:effectLst>
                  <a:ea typeface="楷体_GB2312" pitchFamily="49" charset="-122"/>
                </a:rPr>
                <a:t>不平行</a:t>
              </a:r>
              <a:endParaRPr lang="zh-CN" altLang="en-US" b="0">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1+#ppt_w/2"/>
                                          </p:val>
                                        </p:tav>
                                        <p:tav tm="100000">
                                          <p:val>
                                            <p:strVal val="#ppt_x"/>
                                          </p:val>
                                        </p:tav>
                                      </p:tavLst>
                                    </p:anim>
                                    <p:anim calcmode="lin" valueType="num">
                                      <p:cBhvr additive="base">
                                        <p:cTn id="14"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882336"/>
          </a:xfrm>
        </p:spPr>
        <p:txBody>
          <a:bodyPr/>
          <a:lstStyle/>
          <a:p>
            <a:pPr lvl="1" algn="r"/>
            <a:r>
              <a:rPr lang="zh-CN" altLang="en-US" sz="3600"/>
              <a:t>思考与小结</a:t>
            </a:r>
            <a:endParaRPr lang="zh-CN" altLang="en-US" sz="3600" dirty="0"/>
          </a:p>
        </p:txBody>
      </p:sp>
      <p:sp>
        <p:nvSpPr>
          <p:cNvPr id="1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grpSp>
        <p:nvGrpSpPr>
          <p:cNvPr id="4" name="Group 3"/>
          <p:cNvGrpSpPr>
            <a:grpSpLocks/>
          </p:cNvGrpSpPr>
          <p:nvPr/>
        </p:nvGrpSpPr>
        <p:grpSpPr bwMode="auto">
          <a:xfrm>
            <a:off x="5072066" y="4048148"/>
            <a:ext cx="3622675" cy="519113"/>
            <a:chOff x="3072" y="1857"/>
            <a:chExt cx="2282" cy="327"/>
          </a:xfrm>
        </p:grpSpPr>
        <p:sp>
          <p:nvSpPr>
            <p:cNvPr id="11" name="Text Box 4"/>
            <p:cNvSpPr txBox="1">
              <a:spLocks noChangeArrowheads="1"/>
            </p:cNvSpPr>
            <p:nvPr/>
          </p:nvSpPr>
          <p:spPr bwMode="auto">
            <a:xfrm>
              <a:off x="3888" y="1857"/>
              <a:ext cx="1466" cy="327"/>
            </a:xfrm>
            <a:prstGeom prst="rect">
              <a:avLst/>
            </a:prstGeom>
            <a:noFill/>
            <a:ln w="9525">
              <a:noFill/>
              <a:miter lim="800000"/>
              <a:headEnd/>
              <a:tailEnd/>
            </a:ln>
          </p:spPr>
          <p:txBody>
            <a:bodyPr wrap="none">
              <a:spAutoFit/>
            </a:bodyPr>
            <a:lstStyle/>
            <a:p>
              <a:r>
                <a:rPr lang="zh-CN" altLang="en-US" sz="2800">
                  <a:solidFill>
                    <a:srgbClr val="FF3300"/>
                  </a:solidFill>
                  <a:ea typeface="楷体_GB2312" pitchFamily="49" charset="-122"/>
                </a:rPr>
                <a:t>几何常变体系</a:t>
              </a:r>
              <a:endParaRPr lang="zh-CN" altLang="en-US" sz="2800" b="0">
                <a:ea typeface="楷体_GB2312" pitchFamily="49" charset="-122"/>
              </a:endParaRPr>
            </a:p>
          </p:txBody>
        </p:sp>
        <p:sp>
          <p:nvSpPr>
            <p:cNvPr id="12" name="AutoShape 5"/>
            <p:cNvSpPr>
              <a:spLocks noChangeArrowheads="1"/>
            </p:cNvSpPr>
            <p:nvPr/>
          </p:nvSpPr>
          <p:spPr bwMode="auto">
            <a:xfrm>
              <a:off x="3072" y="1920"/>
              <a:ext cx="720" cy="144"/>
            </a:xfrm>
            <a:prstGeom prst="chevron">
              <a:avLst>
                <a:gd name="adj" fmla="val 125000"/>
              </a:avLst>
            </a:prstGeom>
            <a:solidFill>
              <a:schemeClr val="accent1"/>
            </a:solidFill>
            <a:ln w="9525">
              <a:solidFill>
                <a:schemeClr val="tx1"/>
              </a:solidFill>
              <a:miter lim="800000"/>
              <a:headEnd/>
              <a:tailEnd/>
            </a:ln>
          </p:spPr>
          <p:txBody>
            <a:bodyPr wrap="none" anchor="ctr"/>
            <a:lstStyle/>
            <a:p>
              <a:pPr>
                <a:spcBef>
                  <a:spcPct val="50000"/>
                </a:spcBef>
              </a:pPr>
              <a:endParaRPr lang="zh-CN" altLang="en-US">
                <a:ea typeface="楷体_GB2312" pitchFamily="49" charset="-122"/>
              </a:endParaRPr>
            </a:p>
          </p:txBody>
        </p:sp>
      </p:grpSp>
      <p:grpSp>
        <p:nvGrpSpPr>
          <p:cNvPr id="5" name="Group 6"/>
          <p:cNvGrpSpPr>
            <a:grpSpLocks/>
          </p:cNvGrpSpPr>
          <p:nvPr/>
        </p:nvGrpSpPr>
        <p:grpSpPr bwMode="auto">
          <a:xfrm>
            <a:off x="928662" y="2294910"/>
            <a:ext cx="3732210" cy="4291010"/>
            <a:chOff x="396" y="725"/>
            <a:chExt cx="2557" cy="2928"/>
          </a:xfrm>
        </p:grpSpPr>
        <p:graphicFrame>
          <p:nvGraphicFramePr>
            <p:cNvPr id="14" name="Object 7"/>
            <p:cNvGraphicFramePr>
              <a:graphicFrameLocks noChangeAspect="1"/>
            </p:cNvGraphicFramePr>
            <p:nvPr/>
          </p:nvGraphicFramePr>
          <p:xfrm>
            <a:off x="396" y="725"/>
            <a:ext cx="2557" cy="2928"/>
          </p:xfrm>
          <a:graphic>
            <a:graphicData uri="http://schemas.openxmlformats.org/presentationml/2006/ole">
              <mc:AlternateContent xmlns:mc="http://schemas.openxmlformats.org/markup-compatibility/2006">
                <mc:Choice xmlns:v="urn:schemas-microsoft-com:vml" Requires="v">
                  <p:oleObj spid="_x0000_s293891" name="BMP 图象" r:id="rId4" imgW="3801006" imgH="4352381" progId="">
                    <p:embed/>
                  </p:oleObj>
                </mc:Choice>
                <mc:Fallback>
                  <p:oleObj name="BMP 图象" r:id="rId4" imgW="3801006" imgH="4352381" progId="">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 y="725"/>
                          <a:ext cx="2557" cy="2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Text Box 8"/>
            <p:cNvSpPr txBox="1">
              <a:spLocks noChangeArrowheads="1"/>
            </p:cNvSpPr>
            <p:nvPr/>
          </p:nvSpPr>
          <p:spPr bwMode="auto">
            <a:xfrm>
              <a:off x="2448" y="1650"/>
              <a:ext cx="384" cy="1134"/>
            </a:xfrm>
            <a:prstGeom prst="rect">
              <a:avLst/>
            </a:prstGeom>
            <a:noFill/>
            <a:ln w="9525">
              <a:noFill/>
              <a:miter lim="800000"/>
              <a:headEnd/>
              <a:tailEnd/>
            </a:ln>
            <a:effectLst/>
          </p:spPr>
          <p:txBody>
            <a:bodyPr>
              <a:spAutoFit/>
            </a:bodyPr>
            <a:lstStyle/>
            <a:p>
              <a:pPr>
                <a:defRPr/>
              </a:pPr>
              <a:r>
                <a:rPr lang="zh-CN" altLang="en-US" sz="2800">
                  <a:solidFill>
                    <a:srgbClr val="FF3300"/>
                  </a:solidFill>
                  <a:effectLst>
                    <a:outerShdw blurRad="38100" dist="38100" dir="2700000" algn="tl">
                      <a:srgbClr val="C0C0C0"/>
                    </a:outerShdw>
                  </a:effectLst>
                  <a:ea typeface="宋体" charset="-122"/>
                </a:rPr>
                <a:t>平行等长</a:t>
              </a:r>
              <a:endParaRPr lang="zh-CN" altLang="en-US" b="0">
                <a:ea typeface="宋体" charset="-122"/>
              </a:endParaRPr>
            </a:p>
          </p:txBody>
        </p:sp>
      </p:grpSp>
      <p:sp>
        <p:nvSpPr>
          <p:cNvPr id="3" name="内容占位符 2"/>
          <p:cNvSpPr>
            <a:spLocks noGrp="1"/>
          </p:cNvSpPr>
          <p:nvPr>
            <p:ph idx="1"/>
          </p:nvPr>
        </p:nvSpPr>
        <p:spPr>
          <a:ln>
            <a:noFill/>
          </a:ln>
        </p:spPr>
        <p:txBody>
          <a:bodyPr/>
          <a:lstStyle/>
          <a:p>
            <a:r>
              <a:rPr lang="zh-CN" altLang="en-US"/>
              <a:t>无穷远处虚铰</a:t>
            </a:r>
            <a:endParaRPr lang="en-US" altLang="zh-CN"/>
          </a:p>
          <a:p>
            <a:pPr lvl="1"/>
            <a:r>
              <a:rPr lang="zh-CN" altLang="en-US"/>
              <a:t>一铰无穷远</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r>
              <a:rPr lang="zh-CN" altLang="en-US"/>
              <a:t>无穷远处虚铰</a:t>
            </a:r>
            <a:endParaRPr lang="en-US" altLang="zh-CN"/>
          </a:p>
          <a:p>
            <a:pPr lvl="1"/>
            <a:r>
              <a:rPr lang="zh-CN" altLang="en-US"/>
              <a:t>双铰无穷远</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思考与小结</a:t>
            </a:r>
            <a:endParaRPr lang="zh-CN" altLang="en-US" sz="3600" dirty="0"/>
          </a:p>
        </p:txBody>
      </p:sp>
      <p:sp>
        <p:nvSpPr>
          <p:cNvPr id="1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grpSp>
        <p:nvGrpSpPr>
          <p:cNvPr id="22" name="Group 3"/>
          <p:cNvGrpSpPr>
            <a:grpSpLocks/>
          </p:cNvGrpSpPr>
          <p:nvPr/>
        </p:nvGrpSpPr>
        <p:grpSpPr bwMode="auto">
          <a:xfrm>
            <a:off x="838200" y="2357430"/>
            <a:ext cx="4419600" cy="3892550"/>
            <a:chOff x="240" y="1104"/>
            <a:chExt cx="2784" cy="2452"/>
          </a:xfrm>
        </p:grpSpPr>
        <p:graphicFrame>
          <p:nvGraphicFramePr>
            <p:cNvPr id="23" name="Object 4"/>
            <p:cNvGraphicFramePr>
              <a:graphicFrameLocks noChangeAspect="1"/>
            </p:cNvGraphicFramePr>
            <p:nvPr/>
          </p:nvGraphicFramePr>
          <p:xfrm>
            <a:off x="240" y="1104"/>
            <a:ext cx="2784" cy="2452"/>
          </p:xfrm>
          <a:graphic>
            <a:graphicData uri="http://schemas.openxmlformats.org/presentationml/2006/ole">
              <mc:AlternateContent xmlns:mc="http://schemas.openxmlformats.org/markup-compatibility/2006">
                <mc:Choice xmlns:v="urn:schemas-microsoft-com:vml" Requires="v">
                  <p:oleObj spid="_x0000_s292869" name="BMP 图象" r:id="rId4" imgW="4466667" imgH="3933333" progId="">
                    <p:embed/>
                  </p:oleObj>
                </mc:Choice>
                <mc:Fallback>
                  <p:oleObj name="BMP 图象" r:id="rId4" imgW="4466667" imgH="3933333"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 y="1104"/>
                          <a:ext cx="2784" cy="2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 name="Text Box 5"/>
            <p:cNvSpPr txBox="1">
              <a:spLocks noChangeArrowheads="1"/>
            </p:cNvSpPr>
            <p:nvPr/>
          </p:nvSpPr>
          <p:spPr bwMode="auto">
            <a:xfrm>
              <a:off x="2544" y="1536"/>
              <a:ext cx="336" cy="1672"/>
            </a:xfrm>
            <a:prstGeom prst="rect">
              <a:avLst/>
            </a:prstGeom>
            <a:noFill/>
            <a:ln w="9525">
              <a:noFill/>
              <a:miter lim="800000"/>
              <a:headEnd/>
              <a:tailEnd/>
            </a:ln>
            <a:effectLst/>
          </p:spPr>
          <p:txBody>
            <a:bodyPr>
              <a:spAutoFit/>
            </a:bodyPr>
            <a:lstStyle/>
            <a:p>
              <a:pPr>
                <a:defRPr/>
              </a:pPr>
              <a:r>
                <a:rPr lang="zh-CN" altLang="en-US" sz="2800">
                  <a:solidFill>
                    <a:srgbClr val="FF3300"/>
                  </a:solidFill>
                  <a:effectLst>
                    <a:outerShdw blurRad="38100" dist="38100" dir="2700000" algn="tl">
                      <a:srgbClr val="C0C0C0"/>
                    </a:outerShdw>
                  </a:effectLst>
                  <a:ea typeface="宋体" charset="-122"/>
                </a:rPr>
                <a:t>四杆不全平行</a:t>
              </a:r>
              <a:endParaRPr lang="zh-CN" altLang="en-US" b="0">
                <a:ea typeface="宋体" charset="-122"/>
              </a:endParaRPr>
            </a:p>
          </p:txBody>
        </p:sp>
      </p:grpSp>
      <p:grpSp>
        <p:nvGrpSpPr>
          <p:cNvPr id="25" name="Group 6"/>
          <p:cNvGrpSpPr>
            <a:grpSpLocks/>
          </p:cNvGrpSpPr>
          <p:nvPr/>
        </p:nvGrpSpPr>
        <p:grpSpPr bwMode="auto">
          <a:xfrm>
            <a:off x="5226050" y="4010018"/>
            <a:ext cx="3622675" cy="519112"/>
            <a:chOff x="3120" y="2577"/>
            <a:chExt cx="2282" cy="327"/>
          </a:xfrm>
        </p:grpSpPr>
        <p:sp>
          <p:nvSpPr>
            <p:cNvPr id="26" name="Text Box 7"/>
            <p:cNvSpPr txBox="1">
              <a:spLocks noChangeArrowheads="1"/>
            </p:cNvSpPr>
            <p:nvPr/>
          </p:nvSpPr>
          <p:spPr bwMode="auto">
            <a:xfrm>
              <a:off x="3936" y="2577"/>
              <a:ext cx="1466" cy="327"/>
            </a:xfrm>
            <a:prstGeom prst="rect">
              <a:avLst/>
            </a:prstGeom>
            <a:noFill/>
            <a:ln w="9525">
              <a:noFill/>
              <a:miter lim="800000"/>
              <a:headEnd/>
              <a:tailEnd/>
            </a:ln>
            <a:effectLst/>
          </p:spPr>
          <p:txBody>
            <a:bodyPr wrap="none">
              <a:spAutoFit/>
            </a:bodyPr>
            <a:lstStyle/>
            <a:p>
              <a:pPr>
                <a:defRPr/>
              </a:pPr>
              <a:r>
                <a:rPr lang="zh-CN" altLang="en-US" sz="2800">
                  <a:solidFill>
                    <a:srgbClr val="FF3300"/>
                  </a:solidFill>
                  <a:effectLst>
                    <a:outerShdw blurRad="38100" dist="38100" dir="2700000" algn="tl">
                      <a:srgbClr val="C0C0C0"/>
                    </a:outerShdw>
                  </a:effectLst>
                  <a:ea typeface="宋体" charset="-122"/>
                </a:rPr>
                <a:t>几何不变体系</a:t>
              </a:r>
              <a:endParaRPr lang="zh-CN" altLang="en-US" sz="2800" b="0">
                <a:effectLst>
                  <a:outerShdw blurRad="38100" dist="38100" dir="2700000" algn="tl">
                    <a:srgbClr val="C0C0C0"/>
                  </a:outerShdw>
                </a:effectLst>
                <a:ea typeface="宋体" charset="-122"/>
              </a:endParaRPr>
            </a:p>
          </p:txBody>
        </p:sp>
        <p:sp>
          <p:nvSpPr>
            <p:cNvPr id="27" name="AutoShape 8"/>
            <p:cNvSpPr>
              <a:spLocks noChangeArrowheads="1"/>
            </p:cNvSpPr>
            <p:nvPr/>
          </p:nvSpPr>
          <p:spPr bwMode="auto">
            <a:xfrm>
              <a:off x="3120" y="2640"/>
              <a:ext cx="720" cy="144"/>
            </a:xfrm>
            <a:prstGeom prst="chevron">
              <a:avLst>
                <a:gd name="adj" fmla="val 125000"/>
              </a:avLst>
            </a:prstGeom>
            <a:solidFill>
              <a:schemeClr val="accent1"/>
            </a:solidFill>
            <a:ln w="9525">
              <a:solidFill>
                <a:schemeClr val="tx1"/>
              </a:solidFill>
              <a:miter lim="800000"/>
              <a:headEnd/>
              <a:tailEnd/>
            </a:ln>
          </p:spPr>
          <p:txBody>
            <a:bodyPr wrap="none" anchor="ctr"/>
            <a:lstStyle/>
            <a:p>
              <a:pPr>
                <a:spcBef>
                  <a:spcPct val="50000"/>
                </a:spcBef>
              </a:pPr>
              <a:endParaRPr lang="zh-CN" altLang="en-US">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 calcmode="lin" valueType="num">
                                      <p:cBhvr>
                                        <p:cTn id="9" dur="500" fill="hold"/>
                                        <p:tgtEl>
                                          <p:spTgt spid="22"/>
                                        </p:tgtEl>
                                        <p:attrNameLst>
                                          <p:attrName>ppt_x</p:attrName>
                                        </p:attrNameLst>
                                      </p:cBhvr>
                                      <p:tavLst>
                                        <p:tav tm="0">
                                          <p:val>
                                            <p:fltVal val="0.5"/>
                                          </p:val>
                                        </p:tav>
                                        <p:tav tm="100000">
                                          <p:val>
                                            <p:strVal val="#ppt_x"/>
                                          </p:val>
                                        </p:tav>
                                      </p:tavLst>
                                    </p:anim>
                                    <p:anim calcmode="lin" valueType="num">
                                      <p:cBhvr>
                                        <p:cTn id="10" dur="500" fill="hold"/>
                                        <p:tgtEl>
                                          <p:spTgt spid="22"/>
                                        </p:tgtEl>
                                        <p:attrNameLst>
                                          <p:attrName>ppt_y</p:attrName>
                                        </p:attrNameLst>
                                      </p:cBhvr>
                                      <p:tavLst>
                                        <p:tav tm="0">
                                          <p:val>
                                            <p:fltVal val="0.5"/>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3" presetClass="entr" presetSubtype="528"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p:cTn id="15" dur="500" fill="hold"/>
                                        <p:tgtEl>
                                          <p:spTgt spid="25"/>
                                        </p:tgtEl>
                                        <p:attrNameLst>
                                          <p:attrName>ppt_w</p:attrName>
                                        </p:attrNameLst>
                                      </p:cBhvr>
                                      <p:tavLst>
                                        <p:tav tm="0">
                                          <p:val>
                                            <p:fltVal val="0"/>
                                          </p:val>
                                        </p:tav>
                                        <p:tav tm="100000">
                                          <p:val>
                                            <p:strVal val="#ppt_w"/>
                                          </p:val>
                                        </p:tav>
                                      </p:tavLst>
                                    </p:anim>
                                    <p:anim calcmode="lin" valueType="num">
                                      <p:cBhvr>
                                        <p:cTn id="16" dur="500" fill="hold"/>
                                        <p:tgtEl>
                                          <p:spTgt spid="25"/>
                                        </p:tgtEl>
                                        <p:attrNameLst>
                                          <p:attrName>ppt_h</p:attrName>
                                        </p:attrNameLst>
                                      </p:cBhvr>
                                      <p:tavLst>
                                        <p:tav tm="0">
                                          <p:val>
                                            <p:fltVal val="0"/>
                                          </p:val>
                                        </p:tav>
                                        <p:tav tm="100000">
                                          <p:val>
                                            <p:strVal val="#ppt_h"/>
                                          </p:val>
                                        </p:tav>
                                      </p:tavLst>
                                    </p:anim>
                                    <p:anim calcmode="lin" valueType="num">
                                      <p:cBhvr>
                                        <p:cTn id="17" dur="500" fill="hold"/>
                                        <p:tgtEl>
                                          <p:spTgt spid="25"/>
                                        </p:tgtEl>
                                        <p:attrNameLst>
                                          <p:attrName>ppt_x</p:attrName>
                                        </p:attrNameLst>
                                      </p:cBhvr>
                                      <p:tavLst>
                                        <p:tav tm="0">
                                          <p:val>
                                            <p:fltVal val="0.5"/>
                                          </p:val>
                                        </p:tav>
                                        <p:tav tm="100000">
                                          <p:val>
                                            <p:strVal val="#ppt_x"/>
                                          </p:val>
                                        </p:tav>
                                      </p:tavLst>
                                    </p:anim>
                                    <p:anim calcmode="lin" valueType="num">
                                      <p:cBhvr>
                                        <p:cTn id="18" dur="500" fill="hold"/>
                                        <p:tgtEl>
                                          <p:spTgt spid="25"/>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r>
              <a:rPr lang="zh-CN" altLang="en-US"/>
              <a:t>无穷远处虚铰</a:t>
            </a:r>
            <a:endParaRPr lang="en-US" altLang="zh-CN"/>
          </a:p>
          <a:p>
            <a:pPr lvl="1"/>
            <a:r>
              <a:rPr lang="zh-CN" altLang="en-US"/>
              <a:t>双铰无穷远</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思考与小结</a:t>
            </a:r>
            <a:endParaRPr lang="zh-CN" altLang="en-US" sz="3600" dirty="0"/>
          </a:p>
        </p:txBody>
      </p:sp>
      <p:sp>
        <p:nvSpPr>
          <p:cNvPr id="1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grpSp>
        <p:nvGrpSpPr>
          <p:cNvPr id="4" name="Group 3"/>
          <p:cNvGrpSpPr>
            <a:grpSpLocks/>
          </p:cNvGrpSpPr>
          <p:nvPr/>
        </p:nvGrpSpPr>
        <p:grpSpPr bwMode="auto">
          <a:xfrm>
            <a:off x="838200" y="2357430"/>
            <a:ext cx="4419600" cy="3892550"/>
            <a:chOff x="240" y="1104"/>
            <a:chExt cx="2784" cy="2452"/>
          </a:xfrm>
        </p:grpSpPr>
        <p:graphicFrame>
          <p:nvGraphicFramePr>
            <p:cNvPr id="23" name="Object 4"/>
            <p:cNvGraphicFramePr>
              <a:graphicFrameLocks noChangeAspect="1"/>
            </p:cNvGraphicFramePr>
            <p:nvPr/>
          </p:nvGraphicFramePr>
          <p:xfrm>
            <a:off x="240" y="1104"/>
            <a:ext cx="2784" cy="2452"/>
          </p:xfrm>
          <a:graphic>
            <a:graphicData uri="http://schemas.openxmlformats.org/presentationml/2006/ole">
              <mc:AlternateContent xmlns:mc="http://schemas.openxmlformats.org/markup-compatibility/2006">
                <mc:Choice xmlns:v="urn:schemas-microsoft-com:vml" Requires="v">
                  <p:oleObj spid="_x0000_s294915" name="BMP 图象" r:id="rId4" imgW="4466667" imgH="3933333" progId="">
                    <p:embed/>
                  </p:oleObj>
                </mc:Choice>
                <mc:Fallback>
                  <p:oleObj name="BMP 图象" r:id="rId4" imgW="4466667" imgH="3933333"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 y="1104"/>
                          <a:ext cx="2784" cy="2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 name="Text Box 5"/>
            <p:cNvSpPr txBox="1">
              <a:spLocks noChangeArrowheads="1"/>
            </p:cNvSpPr>
            <p:nvPr/>
          </p:nvSpPr>
          <p:spPr bwMode="auto">
            <a:xfrm>
              <a:off x="2544" y="1536"/>
              <a:ext cx="336" cy="1672"/>
            </a:xfrm>
            <a:prstGeom prst="rect">
              <a:avLst/>
            </a:prstGeom>
            <a:noFill/>
            <a:ln w="9525">
              <a:noFill/>
              <a:miter lim="800000"/>
              <a:headEnd/>
              <a:tailEnd/>
            </a:ln>
            <a:effectLst/>
          </p:spPr>
          <p:txBody>
            <a:bodyPr>
              <a:spAutoFit/>
            </a:bodyPr>
            <a:lstStyle/>
            <a:p>
              <a:pPr>
                <a:defRPr/>
              </a:pPr>
              <a:r>
                <a:rPr lang="zh-CN" altLang="en-US" sz="2800">
                  <a:solidFill>
                    <a:srgbClr val="FF3300"/>
                  </a:solidFill>
                  <a:effectLst>
                    <a:outerShdw blurRad="38100" dist="38100" dir="2700000" algn="tl">
                      <a:srgbClr val="C0C0C0"/>
                    </a:outerShdw>
                  </a:effectLst>
                  <a:ea typeface="宋体" charset="-122"/>
                </a:rPr>
                <a:t>四杆不全平行</a:t>
              </a:r>
              <a:endParaRPr lang="zh-CN" altLang="en-US" b="0">
                <a:ea typeface="宋体" charset="-122"/>
              </a:endParaRPr>
            </a:p>
          </p:txBody>
        </p:sp>
      </p:grpSp>
      <p:grpSp>
        <p:nvGrpSpPr>
          <p:cNvPr id="5" name="Group 6"/>
          <p:cNvGrpSpPr>
            <a:grpSpLocks/>
          </p:cNvGrpSpPr>
          <p:nvPr/>
        </p:nvGrpSpPr>
        <p:grpSpPr bwMode="auto">
          <a:xfrm>
            <a:off x="5226050" y="4010018"/>
            <a:ext cx="3622675" cy="519112"/>
            <a:chOff x="3120" y="2577"/>
            <a:chExt cx="2282" cy="327"/>
          </a:xfrm>
        </p:grpSpPr>
        <p:sp>
          <p:nvSpPr>
            <p:cNvPr id="26" name="Text Box 7"/>
            <p:cNvSpPr txBox="1">
              <a:spLocks noChangeArrowheads="1"/>
            </p:cNvSpPr>
            <p:nvPr/>
          </p:nvSpPr>
          <p:spPr bwMode="auto">
            <a:xfrm>
              <a:off x="3936" y="2577"/>
              <a:ext cx="1466" cy="327"/>
            </a:xfrm>
            <a:prstGeom prst="rect">
              <a:avLst/>
            </a:prstGeom>
            <a:noFill/>
            <a:ln w="9525">
              <a:noFill/>
              <a:miter lim="800000"/>
              <a:headEnd/>
              <a:tailEnd/>
            </a:ln>
            <a:effectLst/>
          </p:spPr>
          <p:txBody>
            <a:bodyPr wrap="none">
              <a:spAutoFit/>
            </a:bodyPr>
            <a:lstStyle/>
            <a:p>
              <a:pPr>
                <a:defRPr/>
              </a:pPr>
              <a:r>
                <a:rPr lang="zh-CN" altLang="en-US" sz="2800">
                  <a:solidFill>
                    <a:srgbClr val="FF3300"/>
                  </a:solidFill>
                  <a:effectLst>
                    <a:outerShdw blurRad="38100" dist="38100" dir="2700000" algn="tl">
                      <a:srgbClr val="C0C0C0"/>
                    </a:outerShdw>
                  </a:effectLst>
                  <a:ea typeface="宋体" charset="-122"/>
                </a:rPr>
                <a:t>几何不变体系</a:t>
              </a:r>
              <a:endParaRPr lang="zh-CN" altLang="en-US" sz="2800" b="0">
                <a:effectLst>
                  <a:outerShdw blurRad="38100" dist="38100" dir="2700000" algn="tl">
                    <a:srgbClr val="C0C0C0"/>
                  </a:outerShdw>
                </a:effectLst>
                <a:ea typeface="宋体" charset="-122"/>
              </a:endParaRPr>
            </a:p>
          </p:txBody>
        </p:sp>
        <p:sp>
          <p:nvSpPr>
            <p:cNvPr id="27" name="AutoShape 8"/>
            <p:cNvSpPr>
              <a:spLocks noChangeArrowheads="1"/>
            </p:cNvSpPr>
            <p:nvPr/>
          </p:nvSpPr>
          <p:spPr bwMode="auto">
            <a:xfrm>
              <a:off x="3120" y="2640"/>
              <a:ext cx="720" cy="144"/>
            </a:xfrm>
            <a:prstGeom prst="chevron">
              <a:avLst>
                <a:gd name="adj" fmla="val 125000"/>
              </a:avLst>
            </a:prstGeom>
            <a:solidFill>
              <a:schemeClr val="accent1"/>
            </a:solidFill>
            <a:ln w="9525">
              <a:solidFill>
                <a:schemeClr val="tx1"/>
              </a:solidFill>
              <a:miter lim="800000"/>
              <a:headEnd/>
              <a:tailEnd/>
            </a:ln>
          </p:spPr>
          <p:txBody>
            <a:bodyPr wrap="none" anchor="ctr"/>
            <a:lstStyle/>
            <a:p>
              <a:pPr>
                <a:spcBef>
                  <a:spcPct val="50000"/>
                </a:spcBef>
              </a:pPr>
              <a:endParaRPr lang="zh-CN" altLang="en-US">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ppt_x</p:attrName>
                                        </p:attrNameLst>
                                      </p:cBhvr>
                                      <p:tavLst>
                                        <p:tav tm="0">
                                          <p:val>
                                            <p:fltVal val="0.5"/>
                                          </p:val>
                                        </p:tav>
                                        <p:tav tm="100000">
                                          <p:val>
                                            <p:strVal val="#ppt_x"/>
                                          </p:val>
                                        </p:tav>
                                      </p:tavLst>
                                    </p:anim>
                                    <p:anim calcmode="lin" valueType="num">
                                      <p:cBhvr>
                                        <p:cTn id="10" dur="500" fill="hold"/>
                                        <p:tgtEl>
                                          <p:spTgt spid="4"/>
                                        </p:tgtEl>
                                        <p:attrNameLst>
                                          <p:attrName>ppt_y</p:attrName>
                                        </p:attrNameLst>
                                      </p:cBhvr>
                                      <p:tavLst>
                                        <p:tav tm="0">
                                          <p:val>
                                            <p:fltVal val="0.5"/>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3" presetClass="entr" presetSubtype="528"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 calcmode="lin" valueType="num">
                                      <p:cBhvr>
                                        <p:cTn id="17" dur="500" fill="hold"/>
                                        <p:tgtEl>
                                          <p:spTgt spid="5"/>
                                        </p:tgtEl>
                                        <p:attrNameLst>
                                          <p:attrName>ppt_x</p:attrName>
                                        </p:attrNameLst>
                                      </p:cBhvr>
                                      <p:tavLst>
                                        <p:tav tm="0">
                                          <p:val>
                                            <p:fltVal val="0.5"/>
                                          </p:val>
                                        </p:tav>
                                        <p:tav tm="100000">
                                          <p:val>
                                            <p:strVal val="#ppt_x"/>
                                          </p:val>
                                        </p:tav>
                                      </p:tavLst>
                                    </p:anim>
                                    <p:anim calcmode="lin" valueType="num">
                                      <p:cBhvr>
                                        <p:cTn id="18" dur="500" fill="hold"/>
                                        <p:tgtEl>
                                          <p:spTgt spid="5"/>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r>
              <a:rPr lang="zh-CN" altLang="en-US"/>
              <a:t>无穷远处虚铰</a:t>
            </a:r>
            <a:endParaRPr lang="en-US" altLang="zh-CN"/>
          </a:p>
          <a:p>
            <a:pPr lvl="1"/>
            <a:r>
              <a:rPr lang="zh-CN" altLang="en-US"/>
              <a:t>双铰无穷远</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思考与小结</a:t>
            </a:r>
            <a:endParaRPr lang="zh-CN" altLang="en-US" sz="3600" dirty="0"/>
          </a:p>
        </p:txBody>
      </p:sp>
      <p:sp>
        <p:nvSpPr>
          <p:cNvPr id="1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grpSp>
        <p:nvGrpSpPr>
          <p:cNvPr id="11" name="Group 3"/>
          <p:cNvGrpSpPr>
            <a:grpSpLocks/>
          </p:cNvGrpSpPr>
          <p:nvPr/>
        </p:nvGrpSpPr>
        <p:grpSpPr bwMode="auto">
          <a:xfrm>
            <a:off x="914400" y="2281259"/>
            <a:ext cx="4572000" cy="4291013"/>
            <a:chOff x="1392" y="198"/>
            <a:chExt cx="2880" cy="2703"/>
          </a:xfrm>
        </p:grpSpPr>
        <p:graphicFrame>
          <p:nvGraphicFramePr>
            <p:cNvPr id="12" name="Object 4"/>
            <p:cNvGraphicFramePr>
              <a:graphicFrameLocks noChangeAspect="1"/>
            </p:cNvGraphicFramePr>
            <p:nvPr/>
          </p:nvGraphicFramePr>
          <p:xfrm>
            <a:off x="1392" y="198"/>
            <a:ext cx="2880" cy="2703"/>
          </p:xfrm>
          <a:graphic>
            <a:graphicData uri="http://schemas.openxmlformats.org/presentationml/2006/ole">
              <mc:AlternateContent xmlns:mc="http://schemas.openxmlformats.org/markup-compatibility/2006">
                <mc:Choice xmlns:v="urn:schemas-microsoft-com:vml" Requires="v">
                  <p:oleObj spid="_x0000_s295940" name="BMP 图象" r:id="rId4" imgW="4334480" imgH="4067743" progId="">
                    <p:embed/>
                  </p:oleObj>
                </mc:Choice>
                <mc:Fallback>
                  <p:oleObj name="BMP 图象" r:id="rId4" imgW="4334480" imgH="4067743"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2" y="198"/>
                          <a:ext cx="2880" cy="2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Text Box 5"/>
            <p:cNvSpPr txBox="1">
              <a:spLocks noChangeArrowheads="1"/>
            </p:cNvSpPr>
            <p:nvPr/>
          </p:nvSpPr>
          <p:spPr bwMode="auto">
            <a:xfrm>
              <a:off x="3696" y="912"/>
              <a:ext cx="336" cy="1403"/>
            </a:xfrm>
            <a:prstGeom prst="rect">
              <a:avLst/>
            </a:prstGeom>
            <a:noFill/>
            <a:ln w="9525">
              <a:noFill/>
              <a:miter lim="800000"/>
              <a:headEnd/>
              <a:tailEnd/>
            </a:ln>
            <a:effectLst/>
          </p:spPr>
          <p:txBody>
            <a:bodyPr>
              <a:spAutoFit/>
            </a:bodyPr>
            <a:lstStyle/>
            <a:p>
              <a:pPr>
                <a:defRPr/>
              </a:pPr>
              <a:r>
                <a:rPr lang="zh-CN" altLang="en-US" sz="2800">
                  <a:solidFill>
                    <a:srgbClr val="FF3300"/>
                  </a:solidFill>
                  <a:effectLst>
                    <a:outerShdw blurRad="38100" dist="38100" dir="2700000" algn="tl">
                      <a:srgbClr val="C0C0C0"/>
                    </a:outerShdw>
                  </a:effectLst>
                  <a:ea typeface="宋体" charset="-122"/>
                </a:rPr>
                <a:t>四杆全平行</a:t>
              </a:r>
              <a:endParaRPr lang="zh-CN" altLang="en-US" b="0">
                <a:ea typeface="宋体" charset="-122"/>
              </a:endParaRPr>
            </a:p>
          </p:txBody>
        </p:sp>
      </p:grpSp>
      <p:grpSp>
        <p:nvGrpSpPr>
          <p:cNvPr id="14" name="Group 6"/>
          <p:cNvGrpSpPr>
            <a:grpSpLocks/>
          </p:cNvGrpSpPr>
          <p:nvPr/>
        </p:nvGrpSpPr>
        <p:grpSpPr bwMode="auto">
          <a:xfrm>
            <a:off x="5791200" y="3957659"/>
            <a:ext cx="2327275" cy="1509713"/>
            <a:chOff x="3648" y="2016"/>
            <a:chExt cx="1466" cy="951"/>
          </a:xfrm>
        </p:grpSpPr>
        <p:sp>
          <p:nvSpPr>
            <p:cNvPr id="15" name="AutoShape 7"/>
            <p:cNvSpPr>
              <a:spLocks noChangeArrowheads="1"/>
            </p:cNvSpPr>
            <p:nvPr/>
          </p:nvSpPr>
          <p:spPr bwMode="auto">
            <a:xfrm rot="3005527">
              <a:off x="3600" y="2304"/>
              <a:ext cx="720" cy="144"/>
            </a:xfrm>
            <a:prstGeom prst="chevron">
              <a:avLst>
                <a:gd name="adj" fmla="val 125000"/>
              </a:avLst>
            </a:prstGeom>
            <a:solidFill>
              <a:schemeClr val="accent1"/>
            </a:solidFill>
            <a:ln w="9525">
              <a:solidFill>
                <a:schemeClr val="tx1"/>
              </a:solidFill>
              <a:miter lim="800000"/>
              <a:headEnd/>
              <a:tailEnd/>
            </a:ln>
          </p:spPr>
          <p:txBody>
            <a:bodyPr wrap="none" anchor="ctr"/>
            <a:lstStyle/>
            <a:p>
              <a:pPr>
                <a:spcBef>
                  <a:spcPct val="50000"/>
                </a:spcBef>
              </a:pPr>
              <a:endParaRPr lang="zh-CN" altLang="en-US">
                <a:ea typeface="楷体_GB2312" pitchFamily="49" charset="-122"/>
              </a:endParaRPr>
            </a:p>
          </p:txBody>
        </p:sp>
        <p:sp>
          <p:nvSpPr>
            <p:cNvPr id="17" name="Rectangle 8"/>
            <p:cNvSpPr>
              <a:spLocks noChangeArrowheads="1"/>
            </p:cNvSpPr>
            <p:nvPr/>
          </p:nvSpPr>
          <p:spPr bwMode="auto">
            <a:xfrm>
              <a:off x="3648" y="2640"/>
              <a:ext cx="1466" cy="327"/>
            </a:xfrm>
            <a:prstGeom prst="rect">
              <a:avLst/>
            </a:prstGeom>
            <a:noFill/>
            <a:ln w="9525">
              <a:noFill/>
              <a:miter lim="800000"/>
              <a:headEnd/>
              <a:tailEnd/>
            </a:ln>
            <a:effectLst/>
          </p:spPr>
          <p:txBody>
            <a:bodyPr wrap="none">
              <a:spAutoFit/>
            </a:bodyPr>
            <a:lstStyle/>
            <a:p>
              <a:pPr>
                <a:defRPr/>
              </a:pPr>
              <a:r>
                <a:rPr lang="zh-CN" altLang="en-US" sz="2800">
                  <a:solidFill>
                    <a:srgbClr val="FF3300"/>
                  </a:solidFill>
                  <a:effectLst>
                    <a:outerShdw blurRad="38100" dist="38100" dir="2700000" algn="tl">
                      <a:srgbClr val="C0C0C0"/>
                    </a:outerShdw>
                  </a:effectLst>
                  <a:ea typeface="宋体" charset="-122"/>
                </a:rPr>
                <a:t>几何瞬变体系</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ppt_x</p:attrName>
                                        </p:attrNameLst>
                                      </p:cBhvr>
                                      <p:tavLst>
                                        <p:tav tm="0">
                                          <p:val>
                                            <p:strVal val="#ppt_x"/>
                                          </p:val>
                                        </p:tav>
                                        <p:tav tm="100000">
                                          <p:val>
                                            <p:strVal val="#ppt_x"/>
                                          </p:val>
                                        </p:tav>
                                      </p:tavLst>
                                    </p:anim>
                                    <p:anim calcmode="lin" valueType="num">
                                      <p:cBhvr>
                                        <p:cTn id="8" dur="500" fill="hold"/>
                                        <p:tgtEl>
                                          <p:spTgt spid="11"/>
                                        </p:tgtEl>
                                        <p:attrNameLst>
                                          <p:attrName>ppt_y</p:attrName>
                                        </p:attrNameLst>
                                      </p:cBhvr>
                                      <p:tavLst>
                                        <p:tav tm="0">
                                          <p:val>
                                            <p:strVal val="#ppt_y-#ppt_h/2"/>
                                          </p:val>
                                        </p:tav>
                                        <p:tav tm="100000">
                                          <p:val>
                                            <p:strVal val="#ppt_y"/>
                                          </p:val>
                                        </p:tav>
                                      </p:tavLst>
                                    </p:anim>
                                    <p:anim calcmode="lin" valueType="num">
                                      <p:cBhvr>
                                        <p:cTn id="9" dur="500" fill="hold"/>
                                        <p:tgtEl>
                                          <p:spTgt spid="11"/>
                                        </p:tgtEl>
                                        <p:attrNameLst>
                                          <p:attrName>ppt_w</p:attrName>
                                        </p:attrNameLst>
                                      </p:cBhvr>
                                      <p:tavLst>
                                        <p:tav tm="0">
                                          <p:val>
                                            <p:strVal val="#ppt_w"/>
                                          </p:val>
                                        </p:tav>
                                        <p:tav tm="100000">
                                          <p:val>
                                            <p:strVal val="#ppt_w"/>
                                          </p:val>
                                        </p:tav>
                                      </p:tavLst>
                                    </p:anim>
                                    <p:anim calcmode="lin" valueType="num">
                                      <p:cBhvr>
                                        <p:cTn id="10"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r>
              <a:rPr lang="zh-CN" altLang="en-US"/>
              <a:t>无穷远处虚铰</a:t>
            </a:r>
            <a:endParaRPr lang="en-US" altLang="zh-CN"/>
          </a:p>
          <a:p>
            <a:pPr lvl="1"/>
            <a:r>
              <a:rPr lang="zh-CN" altLang="en-US"/>
              <a:t>双铰无穷远</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思考与小结</a:t>
            </a:r>
            <a:endParaRPr lang="zh-CN" altLang="en-US" sz="3600" dirty="0"/>
          </a:p>
        </p:txBody>
      </p:sp>
      <p:sp>
        <p:nvSpPr>
          <p:cNvPr id="1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grpSp>
        <p:nvGrpSpPr>
          <p:cNvPr id="11" name="Group 2"/>
          <p:cNvGrpSpPr>
            <a:grpSpLocks/>
          </p:cNvGrpSpPr>
          <p:nvPr/>
        </p:nvGrpSpPr>
        <p:grpSpPr bwMode="auto">
          <a:xfrm>
            <a:off x="838200" y="2257448"/>
            <a:ext cx="4876800" cy="4457700"/>
            <a:chOff x="1488" y="252"/>
            <a:chExt cx="3072" cy="2808"/>
          </a:xfrm>
        </p:grpSpPr>
        <p:graphicFrame>
          <p:nvGraphicFramePr>
            <p:cNvPr id="14" name="Object 3"/>
            <p:cNvGraphicFramePr>
              <a:graphicFrameLocks noChangeAspect="1"/>
            </p:cNvGraphicFramePr>
            <p:nvPr/>
          </p:nvGraphicFramePr>
          <p:xfrm>
            <a:off x="1488" y="252"/>
            <a:ext cx="3072" cy="2808"/>
          </p:xfrm>
          <a:graphic>
            <a:graphicData uri="http://schemas.openxmlformats.org/presentationml/2006/ole">
              <mc:AlternateContent xmlns:mc="http://schemas.openxmlformats.org/markup-compatibility/2006">
                <mc:Choice xmlns:v="urn:schemas-microsoft-com:vml" Requires="v">
                  <p:oleObj spid="_x0000_s296964" name="BMP 图象" r:id="rId4" imgW="4409524" imgH="4029637" progId="">
                    <p:embed/>
                  </p:oleObj>
                </mc:Choice>
                <mc:Fallback>
                  <p:oleObj name="BMP 图象" r:id="rId4" imgW="4409524" imgH="4029637"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8" y="252"/>
                          <a:ext cx="3072" cy="2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Rectangle 4"/>
            <p:cNvSpPr>
              <a:spLocks noChangeArrowheads="1"/>
            </p:cNvSpPr>
            <p:nvPr/>
          </p:nvSpPr>
          <p:spPr bwMode="auto">
            <a:xfrm>
              <a:off x="3984" y="912"/>
              <a:ext cx="384" cy="1900"/>
            </a:xfrm>
            <a:prstGeom prst="rect">
              <a:avLst/>
            </a:prstGeom>
            <a:noFill/>
            <a:ln w="9525">
              <a:noFill/>
              <a:miter lim="800000"/>
              <a:headEnd/>
              <a:tailEnd/>
            </a:ln>
            <a:effectLst/>
          </p:spPr>
          <p:txBody>
            <a:bodyPr>
              <a:spAutoFit/>
            </a:bodyPr>
            <a:lstStyle/>
            <a:p>
              <a:pPr>
                <a:defRPr/>
              </a:pPr>
              <a:r>
                <a:rPr lang="zh-CN" altLang="en-US" sz="3200">
                  <a:solidFill>
                    <a:srgbClr val="FF3300"/>
                  </a:solidFill>
                  <a:effectLst>
                    <a:outerShdw blurRad="38100" dist="38100" dir="2700000" algn="tl">
                      <a:srgbClr val="C0C0C0"/>
                    </a:outerShdw>
                  </a:effectLst>
                  <a:ea typeface="宋体" charset="-122"/>
                </a:rPr>
                <a:t>四杆平行等长</a:t>
              </a:r>
            </a:p>
          </p:txBody>
        </p:sp>
      </p:grpSp>
      <p:grpSp>
        <p:nvGrpSpPr>
          <p:cNvPr id="19" name="Group 5"/>
          <p:cNvGrpSpPr>
            <a:grpSpLocks/>
          </p:cNvGrpSpPr>
          <p:nvPr/>
        </p:nvGrpSpPr>
        <p:grpSpPr bwMode="auto">
          <a:xfrm>
            <a:off x="5943600" y="4010048"/>
            <a:ext cx="2327275" cy="1509713"/>
            <a:chOff x="3648" y="2016"/>
            <a:chExt cx="1466" cy="951"/>
          </a:xfrm>
        </p:grpSpPr>
        <p:sp>
          <p:nvSpPr>
            <p:cNvPr id="20" name="AutoShape 6"/>
            <p:cNvSpPr>
              <a:spLocks noChangeArrowheads="1"/>
            </p:cNvSpPr>
            <p:nvPr/>
          </p:nvSpPr>
          <p:spPr bwMode="auto">
            <a:xfrm rot="3005527">
              <a:off x="3600" y="2304"/>
              <a:ext cx="720" cy="144"/>
            </a:xfrm>
            <a:prstGeom prst="chevron">
              <a:avLst>
                <a:gd name="adj" fmla="val 125000"/>
              </a:avLst>
            </a:prstGeom>
            <a:solidFill>
              <a:schemeClr val="accent1"/>
            </a:solidFill>
            <a:ln w="9525">
              <a:solidFill>
                <a:schemeClr val="tx1"/>
              </a:solidFill>
              <a:miter lim="800000"/>
              <a:headEnd/>
              <a:tailEnd/>
            </a:ln>
          </p:spPr>
          <p:txBody>
            <a:bodyPr wrap="none" anchor="ctr"/>
            <a:lstStyle/>
            <a:p>
              <a:pPr>
                <a:spcBef>
                  <a:spcPct val="50000"/>
                </a:spcBef>
              </a:pPr>
              <a:endParaRPr lang="zh-CN" altLang="en-US">
                <a:ea typeface="楷体_GB2312" pitchFamily="49" charset="-122"/>
              </a:endParaRPr>
            </a:p>
          </p:txBody>
        </p:sp>
        <p:sp>
          <p:nvSpPr>
            <p:cNvPr id="21" name="Rectangle 7"/>
            <p:cNvSpPr>
              <a:spLocks noChangeArrowheads="1"/>
            </p:cNvSpPr>
            <p:nvPr/>
          </p:nvSpPr>
          <p:spPr bwMode="auto">
            <a:xfrm>
              <a:off x="3648" y="2640"/>
              <a:ext cx="1466" cy="327"/>
            </a:xfrm>
            <a:prstGeom prst="rect">
              <a:avLst/>
            </a:prstGeom>
            <a:noFill/>
            <a:ln w="9525">
              <a:noFill/>
              <a:miter lim="800000"/>
              <a:headEnd/>
              <a:tailEnd/>
            </a:ln>
            <a:effectLst/>
          </p:spPr>
          <p:txBody>
            <a:bodyPr wrap="none">
              <a:spAutoFit/>
            </a:bodyPr>
            <a:lstStyle/>
            <a:p>
              <a:pPr>
                <a:defRPr/>
              </a:pPr>
              <a:r>
                <a:rPr lang="zh-CN" altLang="en-US" sz="2800">
                  <a:solidFill>
                    <a:srgbClr val="FF3300"/>
                  </a:solidFill>
                  <a:effectLst>
                    <a:outerShdw blurRad="38100" dist="38100" dir="2700000" algn="tl">
                      <a:srgbClr val="C0C0C0"/>
                    </a:outerShdw>
                  </a:effectLst>
                  <a:ea typeface="宋体" charset="-122"/>
                </a:rPr>
                <a:t>几何常变体系</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nodeType="afterEffect">
                                  <p:stCondLst>
                                    <p:cond delay="0"/>
                                  </p:stCondLst>
                                  <p:childTnLst>
                                    <p:set>
                                      <p:cBhvr>
                                        <p:cTn id="6" dur="1" fill="hold">
                                          <p:stCondLst>
                                            <p:cond delay="499"/>
                                          </p:stCondLst>
                                        </p:cTn>
                                        <p:tgtEl>
                                          <p:spTgt spid="11"/>
                                        </p:tgtEl>
                                        <p:attrNameLst>
                                          <p:attrName>style.visibility</p:attrName>
                                        </p:attrNameLst>
                                      </p:cBhvr>
                                      <p:to>
                                        <p:strVal val="visible"/>
                                      </p:to>
                                    </p:set>
                                    <p:anim to="" calcmode="lin" valueType="num">
                                      <p:cBhvr>
                                        <p:cTn id="7" dur="1" fill="hold"/>
                                        <p:tgtEl>
                                          <p:spTgt spid="11"/>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additive="base">
                                        <p:cTn id="12" dur="500" fill="hold"/>
                                        <p:tgtEl>
                                          <p:spTgt spid="19"/>
                                        </p:tgtEl>
                                        <p:attrNameLst>
                                          <p:attrName>ppt_x</p:attrName>
                                        </p:attrNameLst>
                                      </p:cBhvr>
                                      <p:tavLst>
                                        <p:tav tm="0">
                                          <p:val>
                                            <p:strVal val="#ppt_x"/>
                                          </p:val>
                                        </p:tav>
                                        <p:tav tm="100000">
                                          <p:val>
                                            <p:strVal val="#ppt_x"/>
                                          </p:val>
                                        </p:tav>
                                      </p:tavLst>
                                    </p:anim>
                                    <p:anim calcmode="lin" valueType="num">
                                      <p:cBhvr additive="base">
                                        <p:cTn id="13"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r>
              <a:rPr lang="zh-CN" altLang="en-US"/>
              <a:t>三看瞬变体系</a:t>
            </a:r>
            <a:endParaRPr lang="en-US" altLang="zh-CN"/>
          </a:p>
          <a:p>
            <a:pPr marL="719138" lvl="1">
              <a:lnSpc>
                <a:spcPct val="130000"/>
              </a:lnSpc>
              <a:spcBef>
                <a:spcPts val="0"/>
              </a:spcBef>
            </a:pPr>
            <a:r>
              <a:rPr lang="zh-CN" altLang="en-US"/>
              <a:t>瞬变体系能否承重？</a:t>
            </a:r>
            <a:endParaRPr lang="en-US" altLang="zh-CN"/>
          </a:p>
          <a:p>
            <a:pPr marL="1119188" lvl="2">
              <a:lnSpc>
                <a:spcPct val="200000"/>
              </a:lnSpc>
              <a:spcBef>
                <a:spcPts val="0"/>
              </a:spcBef>
              <a:spcAft>
                <a:spcPts val="0"/>
              </a:spcAft>
              <a:buNone/>
            </a:pPr>
            <a:r>
              <a:rPr lang="en-US" altLang="zh-CN"/>
              <a:t>1 </a:t>
            </a:r>
            <a:r>
              <a:rPr lang="zh-CN" altLang="en-US"/>
              <a:t>有微小位移</a:t>
            </a:r>
            <a:r>
              <a:rPr lang="el-GR" altLang="zh-CN" i="1">
                <a:latin typeface="+mn-ea"/>
              </a:rPr>
              <a:t>Δ</a:t>
            </a:r>
            <a:r>
              <a:rPr lang="zh-CN" altLang="en-US"/>
              <a:t>后，转角</a:t>
            </a:r>
            <a:endParaRPr lang="en-US" altLang="zh-CN"/>
          </a:p>
          <a:p>
            <a:pPr marL="719138" lvl="1">
              <a:lnSpc>
                <a:spcPct val="200000"/>
              </a:lnSpc>
              <a:spcBef>
                <a:spcPts val="0"/>
              </a:spcBef>
              <a:spcAft>
                <a:spcPts val="0"/>
              </a:spcAft>
              <a:buNone/>
            </a:pPr>
            <a:r>
              <a:rPr lang="en-US" altLang="zh-CN"/>
              <a:t>       </a:t>
            </a:r>
            <a:r>
              <a:rPr lang="en-US" altLang="zh-CN" sz="1800"/>
              <a:t>2 </a:t>
            </a:r>
            <a:r>
              <a:rPr lang="zh-CN" altLang="en-US" sz="1800"/>
              <a:t>杆</a:t>
            </a:r>
            <a:r>
              <a:rPr lang="en-US" altLang="zh-CN" sz="1800" i="1">
                <a:latin typeface="Times New Roman" pitchFamily="18" charset="0"/>
                <a:cs typeface="Times New Roman" pitchFamily="18" charset="0"/>
              </a:rPr>
              <a:t>AC</a:t>
            </a:r>
            <a:r>
              <a:rPr lang="zh-CN" altLang="en-US" sz="1800"/>
              <a:t>和</a:t>
            </a:r>
            <a:r>
              <a:rPr lang="en-US" altLang="zh-CN" sz="1800" i="1">
                <a:latin typeface="Times New Roman" pitchFamily="18" charset="0"/>
                <a:cs typeface="Times New Roman" pitchFamily="18" charset="0"/>
              </a:rPr>
              <a:t>BC</a:t>
            </a:r>
            <a:r>
              <a:rPr lang="zh-CN" altLang="en-US" sz="1800"/>
              <a:t>的伸长</a:t>
            </a:r>
            <a:endParaRPr lang="en-US" altLang="zh-CN" sz="1800"/>
          </a:p>
          <a:p>
            <a:pPr marL="719138" lvl="1">
              <a:lnSpc>
                <a:spcPct val="200000"/>
              </a:lnSpc>
              <a:spcBef>
                <a:spcPts val="0"/>
              </a:spcBef>
              <a:spcAft>
                <a:spcPts val="0"/>
              </a:spcAft>
              <a:buNone/>
            </a:pPr>
            <a:r>
              <a:rPr lang="en-US" altLang="zh-CN"/>
              <a:t>       </a:t>
            </a:r>
            <a:r>
              <a:rPr lang="en-US" altLang="zh-CN" sz="1800"/>
              <a:t>3</a:t>
            </a:r>
            <a:r>
              <a:rPr lang="en-US" altLang="zh-CN" sz="1800">
                <a:solidFill>
                  <a:srgbClr val="C00000"/>
                </a:solidFill>
                <a:cs typeface="+mn-cs"/>
              </a:rPr>
              <a:t> </a:t>
            </a:r>
            <a:r>
              <a:rPr lang="zh-CN" altLang="en-US" sz="1800">
                <a:cs typeface="+mn-cs"/>
              </a:rPr>
              <a:t>杆</a:t>
            </a:r>
            <a:r>
              <a:rPr lang="en-US" altLang="zh-CN" sz="1800" i="1">
                <a:latin typeface="Times New Roman" pitchFamily="18" charset="0"/>
                <a:cs typeface="Times New Roman" pitchFamily="18" charset="0"/>
              </a:rPr>
              <a:t>AC</a:t>
            </a:r>
            <a:r>
              <a:rPr lang="zh-CN" altLang="en-US" sz="1800">
                <a:cs typeface="+mn-cs"/>
              </a:rPr>
              <a:t>和</a:t>
            </a:r>
            <a:r>
              <a:rPr lang="en-US" altLang="zh-CN" sz="1800" i="1">
                <a:latin typeface="Times New Roman" pitchFamily="18" charset="0"/>
                <a:cs typeface="Times New Roman" pitchFamily="18" charset="0"/>
              </a:rPr>
              <a:t>BC</a:t>
            </a:r>
            <a:r>
              <a:rPr lang="zh-CN" altLang="en-US" sz="1800">
                <a:cs typeface="+mn-cs"/>
              </a:rPr>
              <a:t>的内力</a:t>
            </a:r>
            <a:endParaRPr lang="en-US" altLang="zh-CN" sz="1800">
              <a:cs typeface="+mn-cs"/>
            </a:endParaRPr>
          </a:p>
          <a:p>
            <a:pPr marL="719138" lvl="1">
              <a:lnSpc>
                <a:spcPct val="200000"/>
              </a:lnSpc>
              <a:spcBef>
                <a:spcPts val="0"/>
              </a:spcBef>
              <a:spcAft>
                <a:spcPts val="0"/>
              </a:spcAft>
              <a:buNone/>
            </a:pPr>
            <a:r>
              <a:rPr lang="en-US" altLang="zh-CN" sz="1800">
                <a:cs typeface="+mn-cs"/>
              </a:rPr>
              <a:t>        4 </a:t>
            </a:r>
            <a:r>
              <a:rPr lang="zh-CN" altLang="en-US" sz="1800">
                <a:cs typeface="+mn-cs"/>
              </a:rPr>
              <a:t>外力</a:t>
            </a:r>
            <a:r>
              <a:rPr lang="en-US" altLang="zh-CN" sz="1800" i="1">
                <a:latin typeface="Times New Roman" pitchFamily="18" charset="0"/>
                <a:cs typeface="Times New Roman" pitchFamily="18" charset="0"/>
              </a:rPr>
              <a:t>F</a:t>
            </a:r>
            <a:r>
              <a:rPr lang="en-US" altLang="zh-CN" sz="1800" baseline="-25000">
                <a:latin typeface="Times New Roman" pitchFamily="18" charset="0"/>
                <a:cs typeface="Times New Roman" pitchFamily="18" charset="0"/>
              </a:rPr>
              <a:t>P</a:t>
            </a:r>
            <a:r>
              <a:rPr lang="zh-CN" altLang="en-US" sz="1800">
                <a:latin typeface="Times New Roman" pitchFamily="18" charset="0"/>
                <a:cs typeface="Times New Roman" pitchFamily="18" charset="0"/>
              </a:rPr>
              <a:t>为</a:t>
            </a:r>
            <a:endParaRPr lang="en-US" altLang="zh-CN">
              <a:latin typeface="Times New Roman" pitchFamily="18" charset="0"/>
              <a:cs typeface="Times New Roman" pitchFamily="18" charset="0"/>
            </a:endParaRPr>
          </a:p>
          <a:p>
            <a:pPr marL="719138" lvl="1">
              <a:lnSpc>
                <a:spcPct val="130000"/>
              </a:lnSpc>
              <a:spcBef>
                <a:spcPts val="600"/>
              </a:spcBef>
            </a:pPr>
            <a:r>
              <a:rPr lang="zh-CN" altLang="en-US"/>
              <a:t>结论：</a:t>
            </a:r>
            <a:r>
              <a:rPr lang="en-US" altLang="zh-CN" i="1">
                <a:latin typeface="Times New Roman" pitchFamily="18" charset="0"/>
                <a:cs typeface="Times New Roman" pitchFamily="18" charset="0"/>
              </a:rPr>
              <a:t> F</a:t>
            </a:r>
            <a:r>
              <a:rPr lang="en-US" altLang="zh-CN" baseline="-25000">
                <a:latin typeface="Times New Roman" pitchFamily="18" charset="0"/>
                <a:cs typeface="Times New Roman" pitchFamily="18" charset="0"/>
              </a:rPr>
              <a:t>P </a:t>
            </a:r>
            <a:r>
              <a:rPr lang="en-US" altLang="zh-CN">
                <a:latin typeface="Times New Roman" pitchFamily="18" charset="0"/>
                <a:cs typeface="Times New Roman" pitchFamily="18" charset="0"/>
              </a:rPr>
              <a:t>&lt;&lt; </a:t>
            </a:r>
            <a:r>
              <a:rPr lang="el-GR" altLang="zh-CN" i="1">
                <a:latin typeface="Times New Roman" pitchFamily="18" charset="0"/>
                <a:cs typeface="Times New Roman" pitchFamily="18" charset="0"/>
              </a:rPr>
              <a:t>Δ</a:t>
            </a:r>
            <a:r>
              <a:rPr lang="zh-CN" altLang="en-US">
                <a:latin typeface="Times New Roman" pitchFamily="18" charset="0"/>
                <a:cs typeface="Times New Roman" pitchFamily="18" charset="0"/>
              </a:rPr>
              <a:t>，即瞬变体系难以抵抗某些微小变形，无法承重；</a:t>
            </a:r>
            <a:endParaRPr lang="en-US" altLang="zh-CN">
              <a:latin typeface="Times New Roman" pitchFamily="18" charset="0"/>
              <a:cs typeface="Times New Roman" pitchFamily="18" charset="0"/>
            </a:endParaRPr>
          </a:p>
          <a:p>
            <a:pPr marL="719138" lvl="1">
              <a:lnSpc>
                <a:spcPct val="130000"/>
              </a:lnSpc>
              <a:spcBef>
                <a:spcPts val="600"/>
              </a:spcBef>
            </a:pPr>
            <a:r>
              <a:rPr lang="zh-CN" altLang="en-US">
                <a:latin typeface="Times New Roman" pitchFamily="18" charset="0"/>
                <a:cs typeface="Times New Roman" pitchFamily="18" charset="0"/>
              </a:rPr>
              <a:t>思考：如何改进？</a:t>
            </a:r>
            <a:endParaRPr lang="en-US" altLang="zh-CN"/>
          </a:p>
        </p:txBody>
      </p:sp>
      <p:sp>
        <p:nvSpPr>
          <p:cNvPr id="2" name="标题 1"/>
          <p:cNvSpPr>
            <a:spLocks noGrp="1"/>
          </p:cNvSpPr>
          <p:nvPr>
            <p:ph type="title"/>
          </p:nvPr>
        </p:nvSpPr>
        <p:spPr>
          <a:xfrm>
            <a:off x="457200" y="260648"/>
            <a:ext cx="8229600" cy="882336"/>
          </a:xfrm>
        </p:spPr>
        <p:txBody>
          <a:bodyPr/>
          <a:lstStyle/>
          <a:p>
            <a:pPr lvl="1" algn="r"/>
            <a:r>
              <a:rPr lang="zh-CN" altLang="en-US" sz="3600"/>
              <a:t>思考与小结</a:t>
            </a:r>
            <a:endParaRPr lang="zh-CN" altLang="en-US" sz="3600" dirty="0"/>
          </a:p>
        </p:txBody>
      </p:sp>
      <p:grpSp>
        <p:nvGrpSpPr>
          <p:cNvPr id="4" name="组合 65"/>
          <p:cNvGrpSpPr/>
          <p:nvPr/>
        </p:nvGrpSpPr>
        <p:grpSpPr>
          <a:xfrm>
            <a:off x="5357818" y="1714488"/>
            <a:ext cx="3228975" cy="1562100"/>
            <a:chOff x="5286380" y="1571612"/>
            <a:chExt cx="3228975" cy="1562100"/>
          </a:xfrm>
        </p:grpSpPr>
        <p:pic>
          <p:nvPicPr>
            <p:cNvPr id="1026" name="Picture 2"/>
            <p:cNvPicPr>
              <a:picLocks noChangeAspect="1" noChangeArrowheads="1"/>
            </p:cNvPicPr>
            <p:nvPr/>
          </p:nvPicPr>
          <p:blipFill>
            <a:blip r:embed="rId4" cstate="print"/>
            <a:srcRect/>
            <a:stretch>
              <a:fillRect/>
            </a:stretch>
          </p:blipFill>
          <p:spPr bwMode="auto">
            <a:xfrm>
              <a:off x="5286380" y="1571612"/>
              <a:ext cx="3228975" cy="1562100"/>
            </a:xfrm>
            <a:prstGeom prst="rect">
              <a:avLst/>
            </a:prstGeom>
            <a:noFill/>
            <a:ln w="9525">
              <a:noFill/>
              <a:miter lim="800000"/>
              <a:headEnd/>
              <a:tailEnd/>
            </a:ln>
            <a:effectLst/>
          </p:spPr>
        </p:pic>
        <p:sp>
          <p:nvSpPr>
            <p:cNvPr id="62" name="TextBox 61"/>
            <p:cNvSpPr txBox="1"/>
            <p:nvPr/>
          </p:nvSpPr>
          <p:spPr>
            <a:xfrm>
              <a:off x="5809024" y="1654339"/>
              <a:ext cx="787395"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l</a:t>
              </a:r>
              <a:r>
                <a:rPr lang="zh-CN" altLang="en-US" b="1">
                  <a:latin typeface="Times New Roman" pitchFamily="18" charset="0"/>
                  <a:cs typeface="Times New Roman" pitchFamily="18" charset="0"/>
                </a:rPr>
                <a:t>，</a:t>
              </a:r>
              <a:r>
                <a:rPr lang="en-US" altLang="zh-CN" b="1" i="1">
                  <a:latin typeface="Times New Roman" pitchFamily="18" charset="0"/>
                  <a:cs typeface="Times New Roman" pitchFamily="18" charset="0"/>
                </a:rPr>
                <a:t>EA</a:t>
              </a:r>
              <a:endParaRPr lang="zh-CN" altLang="en-US" b="1" i="1">
                <a:latin typeface="Times New Roman" pitchFamily="18" charset="0"/>
                <a:cs typeface="Times New Roman" pitchFamily="18" charset="0"/>
              </a:endParaRPr>
            </a:p>
          </p:txBody>
        </p:sp>
        <p:sp>
          <p:nvSpPr>
            <p:cNvPr id="63" name="TextBox 62"/>
            <p:cNvSpPr txBox="1"/>
            <p:nvPr/>
          </p:nvSpPr>
          <p:spPr>
            <a:xfrm>
              <a:off x="7142191" y="1643050"/>
              <a:ext cx="787395" cy="369332"/>
            </a:xfrm>
            <a:prstGeom prst="rect">
              <a:avLst/>
            </a:prstGeom>
            <a:noFill/>
            <a:ln w="28575">
              <a:noFill/>
            </a:ln>
          </p:spPr>
          <p:txBody>
            <a:bodyPr wrap="none" rtlCol="0">
              <a:spAutoFit/>
            </a:bodyPr>
            <a:lstStyle/>
            <a:p>
              <a:r>
                <a:rPr lang="en-US" altLang="zh-CN" b="1" i="1">
                  <a:latin typeface="Times New Roman" pitchFamily="18" charset="0"/>
                  <a:cs typeface="Times New Roman" pitchFamily="18" charset="0"/>
                </a:rPr>
                <a:t>l</a:t>
              </a:r>
              <a:r>
                <a:rPr lang="zh-CN" altLang="en-US" b="1">
                  <a:latin typeface="Times New Roman" pitchFamily="18" charset="0"/>
                  <a:cs typeface="Times New Roman" pitchFamily="18" charset="0"/>
                </a:rPr>
                <a:t>，</a:t>
              </a:r>
              <a:r>
                <a:rPr lang="en-US" altLang="zh-CN" b="1" i="1">
                  <a:latin typeface="Times New Roman" pitchFamily="18" charset="0"/>
                  <a:cs typeface="Times New Roman" pitchFamily="18" charset="0"/>
                </a:rPr>
                <a:t>EA</a:t>
              </a:r>
              <a:endParaRPr lang="zh-CN" altLang="en-US" b="1" i="1">
                <a:latin typeface="Times New Roman" pitchFamily="18" charset="0"/>
                <a:cs typeface="Times New Roman" pitchFamily="18" charset="0"/>
              </a:endParaRPr>
            </a:p>
          </p:txBody>
        </p:sp>
      </p:grpSp>
      <p:graphicFrame>
        <p:nvGraphicFramePr>
          <p:cNvPr id="64" name="对象 63"/>
          <p:cNvGraphicFramePr>
            <a:graphicFrameLocks noChangeAspect="1"/>
          </p:cNvGraphicFramePr>
          <p:nvPr/>
        </p:nvGraphicFramePr>
        <p:xfrm>
          <a:off x="4071938" y="2352675"/>
          <a:ext cx="733425" cy="301625"/>
        </p:xfrm>
        <a:graphic>
          <a:graphicData uri="http://schemas.openxmlformats.org/presentationml/2006/ole">
            <mc:AlternateContent xmlns:mc="http://schemas.openxmlformats.org/markup-compatibility/2006">
              <mc:Choice xmlns:v="urn:schemas-microsoft-com:vml" Requires="v">
                <p:oleObj spid="_x0000_s240648" name="Equation" r:id="rId5" imgW="431640" imgH="177480" progId="Equation.DSMT4">
                  <p:embed/>
                </p:oleObj>
              </mc:Choice>
              <mc:Fallback>
                <p:oleObj name="Equation" r:id="rId5" imgW="431640" imgH="17748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1938" y="2352675"/>
                        <a:ext cx="733425" cy="301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0" name="Object 6"/>
          <p:cNvGraphicFramePr>
            <a:graphicFrameLocks noChangeAspect="1"/>
          </p:cNvGraphicFramePr>
          <p:nvPr/>
        </p:nvGraphicFramePr>
        <p:xfrm>
          <a:off x="3757635" y="2758767"/>
          <a:ext cx="1014413" cy="668337"/>
        </p:xfrm>
        <a:graphic>
          <a:graphicData uri="http://schemas.openxmlformats.org/presentationml/2006/ole">
            <mc:AlternateContent xmlns:mc="http://schemas.openxmlformats.org/markup-compatibility/2006">
              <mc:Choice xmlns:v="urn:schemas-microsoft-com:vml" Requires="v">
                <p:oleObj spid="_x0000_s240649" name="Equation" r:id="rId7" imgW="596880" imgH="393480" progId="Equation.DSMT4">
                  <p:embed/>
                </p:oleObj>
              </mc:Choice>
              <mc:Fallback>
                <p:oleObj name="Equation" r:id="rId7" imgW="596880" imgH="39348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57635" y="2758767"/>
                        <a:ext cx="1014413" cy="668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1" name="Object 7"/>
          <p:cNvGraphicFramePr>
            <a:graphicFrameLocks noChangeAspect="1"/>
          </p:cNvGraphicFramePr>
          <p:nvPr/>
        </p:nvGraphicFramePr>
        <p:xfrm>
          <a:off x="3766829" y="3355998"/>
          <a:ext cx="2222500" cy="668337"/>
        </p:xfrm>
        <a:graphic>
          <a:graphicData uri="http://schemas.openxmlformats.org/presentationml/2006/ole">
            <mc:AlternateContent xmlns:mc="http://schemas.openxmlformats.org/markup-compatibility/2006">
              <mc:Choice xmlns:v="urn:schemas-microsoft-com:vml" Requires="v">
                <p:oleObj spid="_x0000_s240650" name="Equation" r:id="rId9" imgW="1307880" imgH="393480" progId="Equation.DSMT4">
                  <p:embed/>
                </p:oleObj>
              </mc:Choice>
              <mc:Fallback>
                <p:oleObj name="Equation" r:id="rId9" imgW="1307880" imgH="39348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66829" y="3355998"/>
                        <a:ext cx="2222500" cy="668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2" name="Object 8"/>
          <p:cNvGraphicFramePr>
            <a:graphicFrameLocks noChangeAspect="1"/>
          </p:cNvGraphicFramePr>
          <p:nvPr/>
        </p:nvGraphicFramePr>
        <p:xfrm>
          <a:off x="3763963" y="4029075"/>
          <a:ext cx="1855787" cy="409575"/>
        </p:xfrm>
        <a:graphic>
          <a:graphicData uri="http://schemas.openxmlformats.org/presentationml/2006/ole">
            <mc:AlternateContent xmlns:mc="http://schemas.openxmlformats.org/markup-compatibility/2006">
              <mc:Choice xmlns:v="urn:schemas-microsoft-com:vml" Requires="v">
                <p:oleObj spid="_x0000_s240651" name="Equation" r:id="rId11" imgW="1091880" imgH="241200" progId="Equation.DSMT4">
                  <p:embed/>
                </p:oleObj>
              </mc:Choice>
              <mc:Fallback>
                <p:oleObj name="Equation" r:id="rId11" imgW="1091880" imgH="241200"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63963" y="4029075"/>
                        <a:ext cx="1855787"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3" name="Object 9"/>
          <p:cNvGraphicFramePr>
            <a:graphicFrameLocks noChangeAspect="1"/>
          </p:cNvGraphicFramePr>
          <p:nvPr/>
        </p:nvGraphicFramePr>
        <p:xfrm>
          <a:off x="1500166" y="5572125"/>
          <a:ext cx="2179637" cy="388938"/>
        </p:xfrm>
        <a:graphic>
          <a:graphicData uri="http://schemas.openxmlformats.org/presentationml/2006/ole">
            <mc:AlternateContent xmlns:mc="http://schemas.openxmlformats.org/markup-compatibility/2006">
              <mc:Choice xmlns:v="urn:schemas-microsoft-com:vml" Requires="v">
                <p:oleObj spid="_x0000_s240652" name="Equation" r:id="rId13" imgW="1282680" imgH="228600" progId="Equation.DSMT4">
                  <p:embed/>
                </p:oleObj>
              </mc:Choice>
              <mc:Fallback>
                <p:oleObj name="Equation" r:id="rId13" imgW="1282680" imgH="228600" progId="Equation.DSMT4">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00166" y="5572125"/>
                        <a:ext cx="2179637" cy="388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4" name="Object 10"/>
          <p:cNvGraphicFramePr>
            <a:graphicFrameLocks noChangeAspect="1"/>
          </p:cNvGraphicFramePr>
          <p:nvPr/>
        </p:nvGraphicFramePr>
        <p:xfrm>
          <a:off x="4465621" y="5546725"/>
          <a:ext cx="1833563" cy="388938"/>
        </p:xfrm>
        <a:graphic>
          <a:graphicData uri="http://schemas.openxmlformats.org/presentationml/2006/ole">
            <mc:AlternateContent xmlns:mc="http://schemas.openxmlformats.org/markup-compatibility/2006">
              <mc:Choice xmlns:v="urn:schemas-microsoft-com:vml" Requires="v">
                <p:oleObj spid="_x0000_s240653" name="Equation" r:id="rId15" imgW="1079280" imgH="228600" progId="Equation.DSMT4">
                  <p:embed/>
                </p:oleObj>
              </mc:Choice>
              <mc:Fallback>
                <p:oleObj name="Equation" r:id="rId15" imgW="1079280" imgH="228600" progId="Equation.DSMT4">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465621" y="5546725"/>
                        <a:ext cx="1833563" cy="388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 name="右箭头 69"/>
          <p:cNvSpPr/>
          <p:nvPr/>
        </p:nvSpPr>
        <p:spPr bwMode="auto">
          <a:xfrm>
            <a:off x="3894117" y="5588986"/>
            <a:ext cx="357190" cy="285752"/>
          </a:xfrm>
          <a:prstGeom prst="rightArrow">
            <a:avLst/>
          </a:prstGeom>
          <a:solidFill>
            <a:srgbClr val="0070C0"/>
          </a:solidFill>
          <a:ln w="2857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71" name="TextBox 70"/>
          <p:cNvSpPr txBox="1"/>
          <p:nvPr/>
        </p:nvSpPr>
        <p:spPr>
          <a:xfrm>
            <a:off x="6858016" y="5500702"/>
            <a:ext cx="1467068" cy="400110"/>
          </a:xfrm>
          <a:prstGeom prst="rect">
            <a:avLst/>
          </a:prstGeom>
          <a:noFill/>
          <a:ln w="28575">
            <a:noFill/>
          </a:ln>
        </p:spPr>
        <p:txBody>
          <a:bodyPr wrap="none" rtlCol="0">
            <a:spAutoFit/>
          </a:bodyPr>
          <a:lstStyle/>
          <a:p>
            <a:r>
              <a:rPr lang="zh-CN" altLang="en-US" sz="2000" b="1"/>
              <a:t>预应力！！</a:t>
            </a:r>
          </a:p>
        </p:txBody>
      </p:sp>
      <p:sp>
        <p:nvSpPr>
          <p:cNvPr id="16"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ln>
            <a:noFill/>
          </a:ln>
        </p:spPr>
        <p:txBody>
          <a:bodyPr/>
          <a:lstStyle/>
          <a:p>
            <a:r>
              <a:rPr lang="zh-CN" altLang="en-US"/>
              <a:t>几何可变体系的妙用</a:t>
            </a:r>
            <a:endParaRPr lang="en-US" altLang="zh-CN"/>
          </a:p>
          <a:p>
            <a:pPr marL="719138" lvl="1">
              <a:lnSpc>
                <a:spcPct val="130000"/>
              </a:lnSpc>
              <a:spcBef>
                <a:spcPts val="0"/>
              </a:spcBef>
            </a:pPr>
            <a:r>
              <a:rPr lang="zh-CN" altLang="en-US"/>
              <a:t>机械机构</a:t>
            </a:r>
            <a:endParaRPr lang="en-US" altLang="zh-CN"/>
          </a:p>
          <a:p>
            <a:pPr marL="719138" lvl="1">
              <a:lnSpc>
                <a:spcPct val="130000"/>
              </a:lnSpc>
              <a:spcBef>
                <a:spcPts val="0"/>
              </a:spcBef>
            </a:pPr>
            <a:r>
              <a:rPr lang="zh-CN" altLang="en-US"/>
              <a:t>可坍塌屋盖</a:t>
            </a:r>
            <a:endParaRPr lang="en-US" altLang="zh-CN"/>
          </a:p>
          <a:p>
            <a:pPr marL="719138" lvl="1">
              <a:lnSpc>
                <a:spcPct val="130000"/>
              </a:lnSpc>
              <a:spcBef>
                <a:spcPts val="0"/>
              </a:spcBef>
            </a:pPr>
            <a:endParaRPr lang="en-US" altLang="zh-CN"/>
          </a:p>
          <a:p>
            <a:pPr marL="719138" lvl="1">
              <a:lnSpc>
                <a:spcPct val="130000"/>
              </a:lnSpc>
              <a:spcBef>
                <a:spcPts val="0"/>
              </a:spcBef>
            </a:pPr>
            <a:endParaRPr lang="en-US" altLang="zh-CN"/>
          </a:p>
          <a:p>
            <a:pPr marL="719138" lvl="1">
              <a:lnSpc>
                <a:spcPct val="130000"/>
              </a:lnSpc>
              <a:spcBef>
                <a:spcPts val="0"/>
              </a:spcBef>
            </a:pPr>
            <a:endParaRPr lang="en-US" altLang="zh-CN"/>
          </a:p>
          <a:p>
            <a:pPr marL="719138" lvl="1">
              <a:lnSpc>
                <a:spcPct val="130000"/>
              </a:lnSpc>
              <a:spcBef>
                <a:spcPts val="0"/>
              </a:spcBef>
              <a:buNone/>
            </a:pPr>
            <a:endParaRPr lang="en-US" altLang="zh-CN"/>
          </a:p>
          <a:p>
            <a:pPr marL="719138" lvl="1">
              <a:lnSpc>
                <a:spcPct val="130000"/>
              </a:lnSpc>
              <a:spcBef>
                <a:spcPts val="0"/>
              </a:spcBef>
              <a:buNone/>
            </a:pPr>
            <a:endParaRPr lang="en-US" altLang="zh-CN"/>
          </a:p>
          <a:p>
            <a:pPr marL="719138" lvl="1">
              <a:lnSpc>
                <a:spcPct val="130000"/>
              </a:lnSpc>
              <a:spcBef>
                <a:spcPts val="0"/>
              </a:spcBef>
              <a:buNone/>
            </a:pPr>
            <a:endParaRPr lang="en-US" altLang="zh-CN"/>
          </a:p>
          <a:p>
            <a:pPr marL="719138" lvl="1">
              <a:lnSpc>
                <a:spcPct val="130000"/>
              </a:lnSpc>
              <a:spcBef>
                <a:spcPts val="0"/>
              </a:spcBef>
            </a:pPr>
            <a:r>
              <a:rPr lang="zh-CN" altLang="en-US"/>
              <a:t>攀达穹顶：</a:t>
            </a:r>
            <a:endParaRPr lang="en-US" altLang="zh-CN"/>
          </a:p>
          <a:p>
            <a:pPr lvl="1">
              <a:lnSpc>
                <a:spcPct val="150000"/>
              </a:lnSpc>
              <a:spcBef>
                <a:spcPts val="0"/>
              </a:spcBef>
              <a:buNone/>
            </a:pPr>
            <a:endParaRPr lang="en-US" altLang="zh-CN"/>
          </a:p>
        </p:txBody>
      </p:sp>
      <p:sp>
        <p:nvSpPr>
          <p:cNvPr id="2" name="标题 1"/>
          <p:cNvSpPr>
            <a:spLocks noGrp="1"/>
          </p:cNvSpPr>
          <p:nvPr>
            <p:ph type="title"/>
          </p:nvPr>
        </p:nvSpPr>
        <p:spPr>
          <a:xfrm>
            <a:off x="457200" y="260648"/>
            <a:ext cx="8229600" cy="882336"/>
          </a:xfrm>
        </p:spPr>
        <p:txBody>
          <a:bodyPr/>
          <a:lstStyle/>
          <a:p>
            <a:pPr algn="r"/>
            <a:r>
              <a:rPr lang="zh-CN" altLang="en-US"/>
              <a:t>思考与小结</a:t>
            </a:r>
            <a:endParaRPr lang="zh-CN" altLang="en-US" sz="3600" dirty="0"/>
          </a:p>
        </p:txBody>
      </p:sp>
      <p:pic>
        <p:nvPicPr>
          <p:cNvPr id="5122" name="Picture 2"/>
          <p:cNvPicPr>
            <a:picLocks noChangeAspect="1" noChangeArrowheads="1"/>
          </p:cNvPicPr>
          <p:nvPr/>
        </p:nvPicPr>
        <p:blipFill>
          <a:blip r:embed="rId3" cstate="print"/>
          <a:srcRect/>
          <a:stretch>
            <a:fillRect/>
          </a:stretch>
        </p:blipFill>
        <p:spPr bwMode="auto">
          <a:xfrm>
            <a:off x="3286116" y="4710207"/>
            <a:ext cx="4924649" cy="2004941"/>
          </a:xfrm>
          <a:prstGeom prst="rect">
            <a:avLst/>
          </a:prstGeom>
          <a:noFill/>
          <a:ln w="9525">
            <a:noFill/>
            <a:miter lim="800000"/>
            <a:headEnd/>
            <a:tailEnd/>
          </a:ln>
          <a:effectLst/>
        </p:spPr>
      </p:pic>
      <p:pic>
        <p:nvPicPr>
          <p:cNvPr id="5124" name="Picture 4"/>
          <p:cNvPicPr>
            <a:picLocks noChangeAspect="1" noChangeArrowheads="1"/>
          </p:cNvPicPr>
          <p:nvPr/>
        </p:nvPicPr>
        <p:blipFill>
          <a:blip r:embed="rId4" cstate="print"/>
          <a:srcRect/>
          <a:stretch>
            <a:fillRect/>
          </a:stretch>
        </p:blipFill>
        <p:spPr bwMode="auto">
          <a:xfrm>
            <a:off x="857224" y="2714620"/>
            <a:ext cx="4019550" cy="2009775"/>
          </a:xfrm>
          <a:prstGeom prst="rect">
            <a:avLst/>
          </a:prstGeom>
          <a:noFill/>
          <a:ln w="9525">
            <a:noFill/>
            <a:miter lim="800000"/>
            <a:headEnd/>
            <a:tailEnd/>
          </a:ln>
          <a:effectLst/>
        </p:spPr>
      </p:pic>
      <p:pic>
        <p:nvPicPr>
          <p:cNvPr id="5123" name="Picture 3"/>
          <p:cNvPicPr>
            <a:picLocks noChangeAspect="1" noChangeArrowheads="1"/>
          </p:cNvPicPr>
          <p:nvPr/>
        </p:nvPicPr>
        <p:blipFill>
          <a:blip r:embed="rId5" cstate="print"/>
          <a:srcRect/>
          <a:stretch>
            <a:fillRect/>
          </a:stretch>
        </p:blipFill>
        <p:spPr bwMode="auto">
          <a:xfrm>
            <a:off x="3335910" y="2109796"/>
            <a:ext cx="5236618" cy="2728528"/>
          </a:xfrm>
          <a:prstGeom prst="rect">
            <a:avLst/>
          </a:prstGeom>
          <a:noFill/>
          <a:ln w="9525">
            <a:noFill/>
            <a:miter lim="800000"/>
            <a:headEnd/>
            <a:tailEnd/>
          </a:ln>
          <a:effectLst/>
        </p:spPr>
      </p:pic>
      <p:sp>
        <p:nvSpPr>
          <p:cNvPr id="10" name="TextBox 9"/>
          <p:cNvSpPr txBox="1"/>
          <p:nvPr/>
        </p:nvSpPr>
        <p:spPr>
          <a:xfrm>
            <a:off x="1000100" y="5643578"/>
            <a:ext cx="2441694" cy="338554"/>
          </a:xfrm>
          <a:prstGeom prst="rect">
            <a:avLst/>
          </a:prstGeom>
          <a:noFill/>
          <a:ln w="28575">
            <a:noFill/>
          </a:ln>
        </p:spPr>
        <p:txBody>
          <a:bodyPr wrap="none" rtlCol="0">
            <a:spAutoFit/>
          </a:bodyPr>
          <a:lstStyle/>
          <a:p>
            <a:r>
              <a:rPr lang="zh-CN" altLang="en-US" sz="1600" b="1"/>
              <a:t>单建：</a:t>
            </a:r>
            <a:r>
              <a:rPr lang="en-US" altLang="zh-CN" sz="1600" b="1"/>
              <a:t>《</a:t>
            </a:r>
            <a:r>
              <a:rPr lang="zh-CN" altLang="en-US" sz="1600" b="1"/>
              <a:t>趣味结构力学</a:t>
            </a:r>
            <a:r>
              <a:rPr lang="en-US" altLang="zh-CN" sz="1600" b="1"/>
              <a:t>》</a:t>
            </a:r>
            <a:endParaRPr lang="zh-CN" altLang="en-US" sz="1600" b="1"/>
          </a:p>
        </p:txBody>
      </p:sp>
      <p:sp>
        <p:nvSpPr>
          <p:cNvPr id="8" name="文本占位符 5"/>
          <p:cNvSpPr txBox="1">
            <a:spLocks/>
          </p:cNvSpPr>
          <p:nvPr/>
        </p:nvSpPr>
        <p:spPr>
          <a:xfrm>
            <a:off x="8001024" y="6500835"/>
            <a:ext cx="714380" cy="357165"/>
          </a:xfrm>
          <a:prstGeom prst="rect">
            <a:avLst/>
          </a:prstGeom>
        </p:spPr>
        <p:txBody>
          <a:bodyPr/>
          <a:lstStyle>
            <a:lvl1pPr>
              <a:buNone/>
              <a:defRPr sz="1400" b="0">
                <a:latin typeface="Times New Roman" pitchFamily="18" charset="0"/>
                <a:cs typeface="Times New Roman" pitchFamily="18" charset="0"/>
              </a:defRPr>
            </a:lvl1pPr>
            <a:lvl2pPr>
              <a:defRPr sz="1600"/>
            </a:lvl2pPr>
            <a:lvl3pPr>
              <a:defRPr sz="1600"/>
            </a:lvl3pPr>
            <a:lvl4pPr>
              <a:defRPr sz="1600"/>
            </a:lvl4pPr>
            <a:lvl5pPr>
              <a:defRPr sz="1600"/>
            </a:lvl5pPr>
          </a:lstStyle>
          <a:p>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fld id="{82874476-8CB9-4400-9F7D-28EB8F04BA1A}" type="datetime10">
              <a:rPr kumimoji="0" lang="en-US" altLang="zh-CN" sz="1400" b="0" i="0" u="none" strike="noStrike" kern="0" cap="none" spc="0" normalizeH="0" baseline="0" noProof="0" smtClean="0">
                <a:ln>
                  <a:noFill/>
                </a:ln>
                <a:solidFill>
                  <a:schemeClr val="tx1"/>
                </a:solidFill>
                <a:effectLst/>
                <a:uLnTx/>
                <a:uFillTx/>
                <a:latin typeface="Times New Roman" pitchFamily="18" charset="0"/>
                <a:ea typeface="+mn-ea"/>
                <a:cs typeface="Times New Roman" pitchFamily="18" charset="0"/>
              </a:rPr>
              <a:pPr marL="342900" marR="0" lvl="0" indent="-342900" algn="l" defTabSz="914400" rtl="0" eaLnBrk="1" fontAlgn="base" latinLnBrk="0" hangingPunct="1">
                <a:lnSpc>
                  <a:spcPct val="120000"/>
                </a:lnSpc>
                <a:spcBef>
                  <a:spcPct val="20000"/>
                </a:spcBef>
                <a:spcAft>
                  <a:spcPct val="0"/>
                </a:spcAft>
                <a:buClr>
                  <a:schemeClr val="accent1"/>
                </a:buClr>
                <a:buSzTx/>
                <a:buFont typeface="Wingdings" pitchFamily="2" charset="2"/>
                <a:buNone/>
                <a:tabLst/>
                <a:defRPr/>
              </a:pPr>
              <a:t>01:57</a:t>
            </a:fld>
            <a:endParaRPr kumimoji="0" lang="zh-CN" altLang="en-US" sz="1400" b="0" i="0" u="none" strike="noStrike" kern="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500" fill="hold"/>
                                        <p:tgtEl>
                                          <p:spTgt spid="5122"/>
                                        </p:tgtEl>
                                        <p:attrNameLst>
                                          <p:attrName>ppt_x</p:attrName>
                                        </p:attrNameLst>
                                      </p:cBhvr>
                                      <p:tavLst>
                                        <p:tav tm="0">
                                          <p:val>
                                            <p:strVal val="#ppt_x"/>
                                          </p:val>
                                        </p:tav>
                                        <p:tav tm="100000">
                                          <p:val>
                                            <p:strVal val="#ppt_x"/>
                                          </p:val>
                                        </p:tav>
                                      </p:tavLst>
                                    </p:anim>
                                    <p:anim calcmode="lin" valueType="num">
                                      <p:cBhvr additive="base">
                                        <p:cTn id="8"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123"/>
                                        </p:tgtEl>
                                        <p:attrNameLst>
                                          <p:attrName>style.visibility</p:attrName>
                                        </p:attrNameLst>
                                      </p:cBhvr>
                                      <p:to>
                                        <p:strVal val="visible"/>
                                      </p:to>
                                    </p:set>
                                    <p:anim calcmode="lin" valueType="num">
                                      <p:cBhvr additive="base">
                                        <p:cTn id="13" dur="500" fill="hold"/>
                                        <p:tgtEl>
                                          <p:spTgt spid="5123"/>
                                        </p:tgtEl>
                                        <p:attrNameLst>
                                          <p:attrName>ppt_x</p:attrName>
                                        </p:attrNameLst>
                                      </p:cBhvr>
                                      <p:tavLst>
                                        <p:tav tm="0">
                                          <p:val>
                                            <p:strVal val="#ppt_x"/>
                                          </p:val>
                                        </p:tav>
                                        <p:tav tm="100000">
                                          <p:val>
                                            <p:strVal val="#ppt_x"/>
                                          </p:val>
                                        </p:tav>
                                      </p:tavLst>
                                    </p:anim>
                                    <p:anim calcmode="lin" valueType="num">
                                      <p:cBhvr additive="base">
                                        <p:cTn id="14" dur="500" fill="hold"/>
                                        <p:tgtEl>
                                          <p:spTgt spid="51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r"/>
            <a:r>
              <a:rPr lang="zh-CN" altLang="en-US"/>
              <a:t>作业</a:t>
            </a:r>
          </a:p>
        </p:txBody>
      </p:sp>
      <p:sp>
        <p:nvSpPr>
          <p:cNvPr id="3" name="内容占位符 2"/>
          <p:cNvSpPr>
            <a:spLocks noGrp="1"/>
          </p:cNvSpPr>
          <p:nvPr>
            <p:ph idx="1"/>
          </p:nvPr>
        </p:nvSpPr>
        <p:spPr/>
        <p:txBody>
          <a:bodyPr/>
          <a:lstStyle/>
          <a:p>
            <a:r>
              <a:rPr lang="zh-CN" altLang="en-US"/>
              <a:t>课后习题</a:t>
            </a:r>
            <a:endParaRPr lang="en-US" altLang="zh-CN"/>
          </a:p>
          <a:p>
            <a:pPr>
              <a:buNone/>
            </a:pPr>
            <a:r>
              <a:rPr lang="en-US" altLang="zh-CN">
                <a:solidFill>
                  <a:schemeClr val="tx1"/>
                </a:solidFill>
              </a:rPr>
              <a:t>       </a:t>
            </a:r>
            <a:r>
              <a:rPr lang="en-US" altLang="zh-CN"/>
              <a:t> 2-1 (b) (c)</a:t>
            </a:r>
          </a:p>
          <a:p>
            <a:pPr>
              <a:buNone/>
            </a:pPr>
            <a:r>
              <a:rPr lang="en-US" altLang="zh-CN">
                <a:solidFill>
                  <a:schemeClr val="tx1"/>
                </a:solidFill>
              </a:rPr>
              <a:t>        </a:t>
            </a:r>
            <a:r>
              <a:rPr lang="en-US" altLang="zh-CN"/>
              <a:t>2-2 (a) (c)</a:t>
            </a:r>
          </a:p>
          <a:p>
            <a:pPr>
              <a:buNone/>
            </a:pPr>
            <a:r>
              <a:rPr lang="en-US" altLang="zh-CN">
                <a:solidFill>
                  <a:schemeClr val="tx1"/>
                </a:solidFill>
              </a:rPr>
              <a:t>        2-3 (a) (c)</a:t>
            </a:r>
          </a:p>
          <a:p>
            <a:pPr>
              <a:buNone/>
            </a:pPr>
            <a:r>
              <a:rPr lang="en-US" altLang="zh-CN">
                <a:solidFill>
                  <a:schemeClr val="tx1"/>
                </a:solidFill>
              </a:rPr>
              <a:t>        2-4 (b) (e)</a:t>
            </a:r>
          </a:p>
          <a:p>
            <a:pPr>
              <a:buNone/>
            </a:pPr>
            <a:r>
              <a:rPr lang="en-US" altLang="zh-CN">
                <a:solidFill>
                  <a:schemeClr val="tx1"/>
                </a:solidFill>
              </a:rPr>
              <a:t>        2-5 (b) (c)</a:t>
            </a:r>
          </a:p>
          <a:p>
            <a:pPr>
              <a:buNone/>
            </a:pPr>
            <a:r>
              <a:rPr lang="en-US" altLang="zh-CN">
                <a:solidFill>
                  <a:schemeClr val="tx1"/>
                </a:solidFill>
              </a:rPr>
              <a:t>        2-7 (a)</a:t>
            </a:r>
          </a:p>
          <a:p>
            <a:pPr>
              <a:buNone/>
            </a:pPr>
            <a:r>
              <a:rPr lang="en-US" altLang="zh-CN">
                <a:solidFill>
                  <a:schemeClr val="tx1"/>
                </a:solidFill>
              </a:rPr>
              <a:t>        2-8 (b)</a:t>
            </a:r>
          </a:p>
          <a:p>
            <a:pPr>
              <a:buNone/>
            </a:pPr>
            <a:r>
              <a:rPr lang="en-US" altLang="zh-CN">
                <a:solidFill>
                  <a:schemeClr val="tx1"/>
                </a:solidFill>
              </a:rPr>
              <a:t>        2-9 (c)</a:t>
            </a:r>
          </a:p>
          <a:p>
            <a:pPr>
              <a:buNone/>
            </a:pPr>
            <a:r>
              <a:rPr lang="en-US" altLang="zh-CN">
                <a:solidFill>
                  <a:schemeClr val="tx1"/>
                </a:solidFill>
              </a:rPr>
              <a:t>       </a:t>
            </a:r>
            <a:r>
              <a:rPr lang="en-US" altLang="zh-CN">
                <a:solidFill>
                  <a:srgbClr val="FF0000"/>
                </a:solidFill>
              </a:rPr>
              <a:t> </a:t>
            </a:r>
            <a:r>
              <a:rPr lang="en-US" altLang="zh-CN"/>
              <a:t>2-12(b) </a:t>
            </a:r>
            <a:endParaRPr lang="zh-CN" altLang="en-US"/>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演示设计">
  <a:themeElements>
    <a:clrScheme name="演示设计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DDDDDD"/>
      </a:folHlink>
    </a:clrScheme>
    <a:fontScheme name="演示设计">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0070C0"/>
        </a:solidFill>
        <a:ln w="28575" cap="flat" cmpd="sng" algn="ctr">
          <a:solidFill>
            <a:srgbClr val="002060"/>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1800" b="1" i="1" u="none" strike="noStrike" cap="none" normalizeH="0" baseline="0" smtClean="0">
            <a:ln>
              <a:noFill/>
            </a:ln>
            <a:solidFill>
              <a:schemeClr val="tx1"/>
            </a:solidFill>
            <a:effectLst/>
            <a:latin typeface="Arial" pitchFamily="34" charset="0"/>
            <a:ea typeface="华文细黑" pitchFamily="2" charset="-122"/>
          </a:defRPr>
        </a:defPPr>
      </a:lstStyle>
    </a:spDef>
    <a:lnDef>
      <a:spPr bwMode="auto">
        <a:solidFill>
          <a:schemeClr val="accent1"/>
        </a:solidFill>
        <a:ln w="28575" cap="flat" cmpd="sng" algn="ctr">
          <a:solidFill>
            <a:srgbClr val="00B050"/>
          </a:solidFill>
          <a:prstDash val="solid"/>
          <a:round/>
          <a:headEnd type="none" w="med" len="med"/>
          <a:tailEnd type="arrow"/>
        </a:ln>
        <a:effectLst/>
      </a:spPr>
      <a:bodyPr/>
      <a:lstStyle/>
    </a:lnDef>
    <a:txDef>
      <a:spPr>
        <a:noFill/>
        <a:ln w="28575">
          <a:solidFill>
            <a:schemeClr val="tx1"/>
          </a:solidFill>
        </a:ln>
      </a:spPr>
      <a:bodyPr wrap="square" rtlCol="0">
        <a:spAutoFit/>
      </a:bodyPr>
      <a:lstStyle>
        <a:defPPr>
          <a:defRPr sz="2000" b="1" smtClean="0"/>
        </a:defPPr>
      </a:lstStyle>
    </a:txDef>
  </a:objectDefaults>
  <a:extraClrSchemeLst>
    <a:extraClrScheme>
      <a:clrScheme name="演示设计 1">
        <a:dk1>
          <a:srgbClr val="000000"/>
        </a:dk1>
        <a:lt1>
          <a:srgbClr val="FFFFFF"/>
        </a:lt1>
        <a:dk2>
          <a:srgbClr val="000000"/>
        </a:dk2>
        <a:lt2>
          <a:srgbClr val="C0C0C0"/>
        </a:lt2>
        <a:accent1>
          <a:srgbClr val="DFE0BE"/>
        </a:accent1>
        <a:accent2>
          <a:srgbClr val="D1D46B"/>
        </a:accent2>
        <a:accent3>
          <a:srgbClr val="FFFFFF"/>
        </a:accent3>
        <a:accent4>
          <a:srgbClr val="000000"/>
        </a:accent4>
        <a:accent5>
          <a:srgbClr val="ECEDDB"/>
        </a:accent5>
        <a:accent6>
          <a:srgbClr val="BDC060"/>
        </a:accent6>
        <a:hlink>
          <a:srgbClr val="3A3B11"/>
        </a:hlink>
        <a:folHlink>
          <a:srgbClr val="EAEBBB"/>
        </a:folHlink>
      </a:clrScheme>
      <a:clrMap bg1="lt1" tx1="dk1" bg2="lt2" tx2="dk2" accent1="accent1" accent2="accent2" accent3="accent3" accent4="accent4" accent5="accent5" accent6="accent6" hlink="hlink" folHlink="folHlink"/>
    </a:extraClrScheme>
    <a:extraClrScheme>
      <a:clrScheme name="演示设计 2">
        <a:dk1>
          <a:srgbClr val="000000"/>
        </a:dk1>
        <a:lt1>
          <a:srgbClr val="FFFFFF"/>
        </a:lt1>
        <a:dk2>
          <a:srgbClr val="000000"/>
        </a:dk2>
        <a:lt2>
          <a:srgbClr val="B2B2B2"/>
        </a:lt2>
        <a:accent1>
          <a:srgbClr val="FF0517"/>
        </a:accent1>
        <a:accent2>
          <a:srgbClr val="BC000D"/>
        </a:accent2>
        <a:accent3>
          <a:srgbClr val="FFFFFF"/>
        </a:accent3>
        <a:accent4>
          <a:srgbClr val="000000"/>
        </a:accent4>
        <a:accent5>
          <a:srgbClr val="FFAAAB"/>
        </a:accent5>
        <a:accent6>
          <a:srgbClr val="AA000B"/>
        </a:accent6>
        <a:hlink>
          <a:srgbClr val="3A0004"/>
        </a:hlink>
        <a:folHlink>
          <a:srgbClr val="FF7575"/>
        </a:folHlink>
      </a:clrScheme>
      <a:clrMap bg1="lt1" tx1="dk1" bg2="lt2" tx2="dk2" accent1="accent1" accent2="accent2" accent3="accent3" accent4="accent4" accent5="accent5" accent6="accent6" hlink="hlink" folHlink="folHlink"/>
    </a:extraClrScheme>
    <a:extraClrScheme>
      <a:clrScheme name="演示设计 3">
        <a:dk1>
          <a:srgbClr val="000000"/>
        </a:dk1>
        <a:lt1>
          <a:srgbClr val="FFFFFF"/>
        </a:lt1>
        <a:dk2>
          <a:srgbClr val="000000"/>
        </a:dk2>
        <a:lt2>
          <a:srgbClr val="B2B2B2"/>
        </a:lt2>
        <a:accent1>
          <a:srgbClr val="BF59B8"/>
        </a:accent1>
        <a:accent2>
          <a:srgbClr val="884183"/>
        </a:accent2>
        <a:accent3>
          <a:srgbClr val="FFFFFF"/>
        </a:accent3>
        <a:accent4>
          <a:srgbClr val="000000"/>
        </a:accent4>
        <a:accent5>
          <a:srgbClr val="DCB5D8"/>
        </a:accent5>
        <a:accent6>
          <a:srgbClr val="7B3A76"/>
        </a:accent6>
        <a:hlink>
          <a:srgbClr val="371535"/>
        </a:hlink>
        <a:folHlink>
          <a:srgbClr val="D99FD5"/>
        </a:folHlink>
      </a:clrScheme>
      <a:clrMap bg1="lt1" tx1="dk1" bg2="lt2" tx2="dk2" accent1="accent1" accent2="accent2" accent3="accent3" accent4="accent4" accent5="accent5" accent6="accent6" hlink="hlink" folHlink="folHlink"/>
    </a:extraClrScheme>
    <a:extraClrScheme>
      <a:clrScheme name="演示设计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DDDDDD"/>
        </a:folHlink>
      </a:clrScheme>
      <a:clrMap bg1="lt1" tx1="dk1" bg2="lt2" tx2="dk2" accent1="accent1" accent2="accent2" accent3="accent3" accent4="accent4" accent5="accent5" accent6="accent6" hlink="hlink" folHlink="folHlink"/>
    </a:extraClrScheme>
    <a:extraClrScheme>
      <a:clrScheme name="演示设计 5">
        <a:dk1>
          <a:srgbClr val="000000"/>
        </a:dk1>
        <a:lt1>
          <a:srgbClr val="FFFFFF"/>
        </a:lt1>
        <a:dk2>
          <a:srgbClr val="000000"/>
        </a:dk2>
        <a:lt2>
          <a:srgbClr val="808080"/>
        </a:lt2>
        <a:accent1>
          <a:srgbClr val="FFCC00"/>
        </a:accent1>
        <a:accent2>
          <a:srgbClr val="FF8A15"/>
        </a:accent2>
        <a:accent3>
          <a:srgbClr val="FFFFFF"/>
        </a:accent3>
        <a:accent4>
          <a:srgbClr val="000000"/>
        </a:accent4>
        <a:accent5>
          <a:srgbClr val="FFE2AA"/>
        </a:accent5>
        <a:accent6>
          <a:srgbClr val="E77D12"/>
        </a:accent6>
        <a:hlink>
          <a:srgbClr val="463900"/>
        </a:hlink>
        <a:folHlink>
          <a:srgbClr val="FFF0AF"/>
        </a:folHlink>
      </a:clrScheme>
      <a:clrMap bg1="lt1" tx1="dk1" bg2="lt2" tx2="dk2" accent1="accent1" accent2="accent2" accent3="accent3" accent4="accent4" accent5="accent5" accent6="accent6" hlink="hlink" folHlink="folHlink"/>
    </a:extraClrScheme>
    <a:extraClrScheme>
      <a:clrScheme name="演示设计 6">
        <a:dk1>
          <a:srgbClr val="000000"/>
        </a:dk1>
        <a:lt1>
          <a:srgbClr val="FFFFFF"/>
        </a:lt1>
        <a:dk2>
          <a:srgbClr val="000000"/>
        </a:dk2>
        <a:lt2>
          <a:srgbClr val="808080"/>
        </a:lt2>
        <a:accent1>
          <a:srgbClr val="FF9021"/>
        </a:accent1>
        <a:accent2>
          <a:srgbClr val="DA5800"/>
        </a:accent2>
        <a:accent3>
          <a:srgbClr val="FFFFFF"/>
        </a:accent3>
        <a:accent4>
          <a:srgbClr val="000000"/>
        </a:accent4>
        <a:accent5>
          <a:srgbClr val="FFC6AB"/>
        </a:accent5>
        <a:accent6>
          <a:srgbClr val="C54F00"/>
        </a:accent6>
        <a:hlink>
          <a:srgbClr val="963D00"/>
        </a:hlink>
        <a:folHlink>
          <a:srgbClr val="FFC78F"/>
        </a:folHlink>
      </a:clrScheme>
      <a:clrMap bg1="lt1" tx1="dk1" bg2="lt2" tx2="dk2" accent1="accent1" accent2="accent2" accent3="accent3" accent4="accent4" accent5="accent5" accent6="accent6" hlink="hlink" folHlink="folHlink"/>
    </a:extraClrScheme>
    <a:extraClrScheme>
      <a:clrScheme name="演示设计 7">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66B2FE"/>
        </a:folHlink>
      </a:clrScheme>
      <a:clrMap bg1="lt1" tx1="dk1" bg2="lt2" tx2="dk2" accent1="accent1" accent2="accent2" accent3="accent3" accent4="accent4" accent5="accent5" accent6="accent6" hlink="hlink" folHlink="folHlink"/>
    </a:extraClrScheme>
    <a:extraClrScheme>
      <a:clrScheme name="演示设计 8">
        <a:dk1>
          <a:srgbClr val="000000"/>
        </a:dk1>
        <a:lt1>
          <a:srgbClr val="FFFFFF"/>
        </a:lt1>
        <a:dk2>
          <a:srgbClr val="000000"/>
        </a:dk2>
        <a:lt2>
          <a:srgbClr val="C0C0C0"/>
        </a:lt2>
        <a:accent1>
          <a:srgbClr val="6FC01E"/>
        </a:accent1>
        <a:accent2>
          <a:srgbClr val="4F7913"/>
        </a:accent2>
        <a:accent3>
          <a:srgbClr val="FFFFFF"/>
        </a:accent3>
        <a:accent4>
          <a:srgbClr val="000000"/>
        </a:accent4>
        <a:accent5>
          <a:srgbClr val="BBDCAB"/>
        </a:accent5>
        <a:accent6>
          <a:srgbClr val="476D10"/>
        </a:accent6>
        <a:hlink>
          <a:srgbClr val="26420A"/>
        </a:hlink>
        <a:folHlink>
          <a:srgbClr val="ADE971"/>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15093</TotalTime>
  <Words>4587</Words>
  <Application>Microsoft Office PowerPoint</Application>
  <PresentationFormat>全屏显示(4:3)</PresentationFormat>
  <Paragraphs>979</Paragraphs>
  <Slides>73</Slides>
  <Notes>70</Notes>
  <HiddenSlides>0</HiddenSlides>
  <MMClips>0</MMClips>
  <ScaleCrop>false</ScaleCrop>
  <HeadingPairs>
    <vt:vector size="8" baseType="variant">
      <vt:variant>
        <vt:lpstr>已用的字体</vt:lpstr>
      </vt:variant>
      <vt:variant>
        <vt:i4>7</vt:i4>
      </vt:variant>
      <vt:variant>
        <vt:lpstr>主题</vt:lpstr>
      </vt:variant>
      <vt:variant>
        <vt:i4>2</vt:i4>
      </vt:variant>
      <vt:variant>
        <vt:lpstr>嵌入 OLE 服务器</vt:lpstr>
      </vt:variant>
      <vt:variant>
        <vt:i4>3</vt:i4>
      </vt:variant>
      <vt:variant>
        <vt:lpstr>幻灯片标题</vt:lpstr>
      </vt:variant>
      <vt:variant>
        <vt:i4>73</vt:i4>
      </vt:variant>
    </vt:vector>
  </HeadingPairs>
  <TitlesOfParts>
    <vt:vector size="85" baseType="lpstr">
      <vt:lpstr>黑体</vt:lpstr>
      <vt:lpstr>华文细黑</vt:lpstr>
      <vt:lpstr>楷体_GB2312</vt:lpstr>
      <vt:lpstr>Arial</vt:lpstr>
      <vt:lpstr>Calibri</vt:lpstr>
      <vt:lpstr>Times New Roman</vt:lpstr>
      <vt:lpstr>Wingdings</vt:lpstr>
      <vt:lpstr>Office 主题</vt:lpstr>
      <vt:lpstr>演示设计</vt:lpstr>
      <vt:lpstr>BMP 图象</vt:lpstr>
      <vt:lpstr>AutoCAD Drawing</vt:lpstr>
      <vt:lpstr>Equation</vt:lpstr>
      <vt:lpstr>结 构 力 学 I</vt:lpstr>
      <vt:lpstr>第二章 几何构造分析</vt:lpstr>
      <vt:lpstr>基本概念</vt:lpstr>
      <vt:lpstr>基本概念</vt:lpstr>
      <vt:lpstr>基本概念</vt:lpstr>
      <vt:lpstr>基本概念</vt:lpstr>
      <vt:lpstr>基本概念</vt:lpstr>
      <vt:lpstr>基本概念</vt:lpstr>
      <vt:lpstr>基本概念</vt:lpstr>
      <vt:lpstr>基本概念</vt:lpstr>
      <vt:lpstr>基本概念</vt:lpstr>
      <vt:lpstr>基本概念</vt:lpstr>
      <vt:lpstr>基本概念</vt:lpstr>
      <vt:lpstr>基本概念</vt:lpstr>
      <vt:lpstr>基本概念</vt:lpstr>
      <vt:lpstr>平面杆件体系的计算自由度</vt:lpstr>
      <vt:lpstr>平面杆件体系的计算自由度</vt:lpstr>
      <vt:lpstr>平面杆件体系的计算自由度</vt:lpstr>
      <vt:lpstr>平面杆件体系的计算自由度</vt:lpstr>
      <vt:lpstr>平面杆件体系的计算自由度</vt:lpstr>
      <vt:lpstr>平面杆件体系的计算自由度</vt:lpstr>
      <vt:lpstr>平面杆件体系的计算自由度</vt:lpstr>
      <vt:lpstr>平面杆件体系的计算自由度</vt:lpstr>
      <vt:lpstr>平面杆件体系的计算自由度</vt:lpstr>
      <vt:lpstr>平面杆件体系的计算自由度</vt:lpstr>
      <vt:lpstr>平面杆件体系的计算自由度</vt:lpstr>
      <vt:lpstr>平面杆件体系的计算自由度</vt:lpstr>
      <vt:lpstr>平面几何不变体系的组成规律</vt:lpstr>
      <vt:lpstr>平面几何不变体系的组成规律</vt:lpstr>
      <vt:lpstr>平面几何不变体系的组成规律</vt:lpstr>
      <vt:lpstr>平面几何不变体系的组成规律</vt:lpstr>
      <vt:lpstr>平面几何不变体系的组成规律</vt:lpstr>
      <vt:lpstr>平面几何不变体系的组成规律</vt:lpstr>
      <vt:lpstr>平面几何不变体系的组成规律</vt:lpstr>
      <vt:lpstr>平面几何不变体系的组成规律</vt:lpstr>
      <vt:lpstr>平面几何不变体系的组成规律</vt:lpstr>
      <vt:lpstr>平面几何不变体系的组成规律</vt:lpstr>
      <vt:lpstr>平面几何不变体系的组成规律</vt:lpstr>
      <vt:lpstr>平面几何不变体系的组成规律</vt:lpstr>
      <vt:lpstr>平面几何不变体系的组成规律</vt:lpstr>
      <vt:lpstr>平面几何不变体系的组成规律</vt:lpstr>
      <vt:lpstr>平面几何不变体系的组成规律</vt:lpstr>
      <vt:lpstr>平面几何不变体系的组成规律</vt:lpstr>
      <vt:lpstr>第二章 结构的几何构造分析</vt:lpstr>
      <vt:lpstr>几何构造分析示例</vt:lpstr>
      <vt:lpstr>几何构造分析示例</vt:lpstr>
      <vt:lpstr>几何构造分析示例</vt:lpstr>
      <vt:lpstr>几何构造分析示例</vt:lpstr>
      <vt:lpstr>几何构造分析示例</vt:lpstr>
      <vt:lpstr>几何构造分析示例</vt:lpstr>
      <vt:lpstr>几何构造分析示例</vt:lpstr>
      <vt:lpstr>几何构造分析示例</vt:lpstr>
      <vt:lpstr>几何构造分析示例</vt:lpstr>
      <vt:lpstr>几何构造分析示例</vt:lpstr>
      <vt:lpstr>几何构造分析示例</vt:lpstr>
      <vt:lpstr>几何构造分析示例</vt:lpstr>
      <vt:lpstr>几何构造分析示例</vt:lpstr>
      <vt:lpstr>几何构造分析示例</vt:lpstr>
      <vt:lpstr>几何构造分析示例</vt:lpstr>
      <vt:lpstr>思考与小结</vt:lpstr>
      <vt:lpstr>思考与小结</vt:lpstr>
      <vt:lpstr>思考与小结</vt:lpstr>
      <vt:lpstr>思考与小结</vt:lpstr>
      <vt:lpstr>作业</vt:lpstr>
      <vt:lpstr>思考与小结</vt:lpstr>
      <vt:lpstr>思考与小结</vt:lpstr>
      <vt:lpstr>思考与小结</vt:lpstr>
      <vt:lpstr>思考与小结</vt:lpstr>
      <vt:lpstr>思考与小结</vt:lpstr>
      <vt:lpstr>思考与小结</vt:lpstr>
      <vt:lpstr>思考与小结</vt:lpstr>
      <vt:lpstr>思考与小结</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结 构 力 学 I</dc:title>
  <dc:creator>Administrator</dc:creator>
  <cp:lastModifiedBy>YueZhang Xia</cp:lastModifiedBy>
  <cp:revision>927</cp:revision>
  <dcterms:created xsi:type="dcterms:W3CDTF">2015-05-25T01:56:54Z</dcterms:created>
  <dcterms:modified xsi:type="dcterms:W3CDTF">2020-09-17T18:16:33Z</dcterms:modified>
</cp:coreProperties>
</file>