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4" r:id="rId1"/>
    <p:sldMasterId id="2147483796" r:id="rId2"/>
    <p:sldMasterId id="2147483808" r:id="rId3"/>
  </p:sldMasterIdLst>
  <p:notesMasterIdLst>
    <p:notesMasterId r:id="rId76"/>
  </p:notesMasterIdLst>
  <p:sldIdLst>
    <p:sldId id="303" r:id="rId4"/>
    <p:sldId id="335" r:id="rId5"/>
    <p:sldId id="336" r:id="rId6"/>
    <p:sldId id="288" r:id="rId7"/>
    <p:sldId id="305" r:id="rId8"/>
    <p:sldId id="307" r:id="rId9"/>
    <p:sldId id="308" r:id="rId10"/>
    <p:sldId id="309" r:id="rId11"/>
    <p:sldId id="310" r:id="rId12"/>
    <p:sldId id="312" r:id="rId13"/>
    <p:sldId id="313" r:id="rId14"/>
    <p:sldId id="314" r:id="rId15"/>
    <p:sldId id="315" r:id="rId16"/>
    <p:sldId id="316" r:id="rId17"/>
    <p:sldId id="317" r:id="rId18"/>
    <p:sldId id="351" r:id="rId19"/>
    <p:sldId id="318" r:id="rId20"/>
    <p:sldId id="320" r:id="rId21"/>
    <p:sldId id="321" r:id="rId22"/>
    <p:sldId id="322" r:id="rId23"/>
    <p:sldId id="323" r:id="rId24"/>
    <p:sldId id="324" r:id="rId25"/>
    <p:sldId id="326" r:id="rId26"/>
    <p:sldId id="327" r:id="rId27"/>
    <p:sldId id="328" r:id="rId28"/>
    <p:sldId id="329" r:id="rId29"/>
    <p:sldId id="330" r:id="rId30"/>
    <p:sldId id="331" r:id="rId31"/>
    <p:sldId id="642" r:id="rId32"/>
    <p:sldId id="643" r:id="rId33"/>
    <p:sldId id="644" r:id="rId34"/>
    <p:sldId id="645" r:id="rId35"/>
    <p:sldId id="646" r:id="rId36"/>
    <p:sldId id="647" r:id="rId37"/>
    <p:sldId id="332" r:id="rId38"/>
    <p:sldId id="337" r:id="rId39"/>
    <p:sldId id="334" r:id="rId40"/>
    <p:sldId id="338" r:id="rId41"/>
    <p:sldId id="339" r:id="rId42"/>
    <p:sldId id="340" r:id="rId43"/>
    <p:sldId id="341" r:id="rId44"/>
    <p:sldId id="342" r:id="rId45"/>
    <p:sldId id="354" r:id="rId46"/>
    <p:sldId id="355" r:id="rId47"/>
    <p:sldId id="357" r:id="rId48"/>
    <p:sldId id="358" r:id="rId49"/>
    <p:sldId id="359" r:id="rId50"/>
    <p:sldId id="360" r:id="rId51"/>
    <p:sldId id="344" r:id="rId52"/>
    <p:sldId id="361" r:id="rId53"/>
    <p:sldId id="347" r:id="rId54"/>
    <p:sldId id="348" r:id="rId55"/>
    <p:sldId id="648" r:id="rId56"/>
    <p:sldId id="649" r:id="rId57"/>
    <p:sldId id="650" r:id="rId58"/>
    <p:sldId id="651" r:id="rId59"/>
    <p:sldId id="362" r:id="rId60"/>
    <p:sldId id="375" r:id="rId61"/>
    <p:sldId id="374" r:id="rId62"/>
    <p:sldId id="363" r:id="rId63"/>
    <p:sldId id="376" r:id="rId64"/>
    <p:sldId id="377" r:id="rId65"/>
    <p:sldId id="378" r:id="rId66"/>
    <p:sldId id="370" r:id="rId67"/>
    <p:sldId id="379" r:id="rId68"/>
    <p:sldId id="380" r:id="rId69"/>
    <p:sldId id="381" r:id="rId70"/>
    <p:sldId id="382" r:id="rId71"/>
    <p:sldId id="383" r:id="rId72"/>
    <p:sldId id="384" r:id="rId73"/>
    <p:sldId id="386" r:id="rId74"/>
    <p:sldId id="387" r:id="rId7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2" autoAdjust="0"/>
    <p:restoredTop sz="94660"/>
  </p:normalViewPr>
  <p:slideViewPr>
    <p:cSldViewPr>
      <p:cViewPr varScale="1">
        <p:scale>
          <a:sx n="78" d="100"/>
          <a:sy n="78" d="100"/>
        </p:scale>
        <p:origin x="1531" y="72"/>
      </p:cViewPr>
      <p:guideLst>
        <p:guide orient="horz" pos="247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2.wmf"/><Relationship Id="rId1" Type="http://schemas.openxmlformats.org/officeDocument/2006/relationships/image" Target="../media/image15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4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1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4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17.wmf"/><Relationship Id="rId1" Type="http://schemas.openxmlformats.org/officeDocument/2006/relationships/image" Target="../media/image4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6.wmf"/><Relationship Id="rId1" Type="http://schemas.openxmlformats.org/officeDocument/2006/relationships/image" Target="../media/image40.wmf"/><Relationship Id="rId4" Type="http://schemas.openxmlformats.org/officeDocument/2006/relationships/image" Target="../media/image1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17.wmf"/><Relationship Id="rId1" Type="http://schemas.openxmlformats.org/officeDocument/2006/relationships/image" Target="../media/image50.wmf"/><Relationship Id="rId4" Type="http://schemas.openxmlformats.org/officeDocument/2006/relationships/image" Target="../media/image4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17.wmf"/><Relationship Id="rId1" Type="http://schemas.openxmlformats.org/officeDocument/2006/relationships/image" Target="../media/image51.wmf"/><Relationship Id="rId4" Type="http://schemas.openxmlformats.org/officeDocument/2006/relationships/image" Target="../media/image4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17.wmf"/><Relationship Id="rId1" Type="http://schemas.openxmlformats.org/officeDocument/2006/relationships/image" Target="../media/image52.wmf"/><Relationship Id="rId4" Type="http://schemas.openxmlformats.org/officeDocument/2006/relationships/image" Target="../media/image4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17.wmf"/><Relationship Id="rId1" Type="http://schemas.openxmlformats.org/officeDocument/2006/relationships/image" Target="../media/image53.wmf"/><Relationship Id="rId4" Type="http://schemas.openxmlformats.org/officeDocument/2006/relationships/image" Target="../media/image4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17.wmf"/><Relationship Id="rId1" Type="http://schemas.openxmlformats.org/officeDocument/2006/relationships/image" Target="../media/image54.wmf"/><Relationship Id="rId4" Type="http://schemas.openxmlformats.org/officeDocument/2006/relationships/image" Target="../media/image48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5" Type="http://schemas.openxmlformats.org/officeDocument/2006/relationships/image" Target="../media/image48.wmf"/><Relationship Id="rId4" Type="http://schemas.openxmlformats.org/officeDocument/2006/relationships/image" Target="../media/image4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4" Type="http://schemas.openxmlformats.org/officeDocument/2006/relationships/image" Target="../media/image79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86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86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15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15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15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3.wmf"/><Relationship Id="rId1" Type="http://schemas.openxmlformats.org/officeDocument/2006/relationships/image" Target="../media/image15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100.wmf"/><Relationship Id="rId1" Type="http://schemas.openxmlformats.org/officeDocument/2006/relationships/image" Target="../media/image15.wmf"/><Relationship Id="rId4" Type="http://schemas.openxmlformats.org/officeDocument/2006/relationships/image" Target="../media/image98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101.wmf"/><Relationship Id="rId1" Type="http://schemas.openxmlformats.org/officeDocument/2006/relationships/image" Target="../media/image15.wmf"/><Relationship Id="rId5" Type="http://schemas.openxmlformats.org/officeDocument/2006/relationships/image" Target="../media/image102.wmf"/><Relationship Id="rId4" Type="http://schemas.openxmlformats.org/officeDocument/2006/relationships/image" Target="../media/image98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5.wmf"/><Relationship Id="rId5" Type="http://schemas.openxmlformats.org/officeDocument/2006/relationships/image" Target="../media/image98.wmf"/><Relationship Id="rId4" Type="http://schemas.openxmlformats.org/officeDocument/2006/relationships/image" Target="../media/image93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5.wmf"/><Relationship Id="rId6" Type="http://schemas.openxmlformats.org/officeDocument/2006/relationships/image" Target="../media/image108.wmf"/><Relationship Id="rId5" Type="http://schemas.openxmlformats.org/officeDocument/2006/relationships/image" Target="../media/image98.wmf"/><Relationship Id="rId4" Type="http://schemas.openxmlformats.org/officeDocument/2006/relationships/image" Target="../media/image93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wmf"/><Relationship Id="rId1" Type="http://schemas.openxmlformats.org/officeDocument/2006/relationships/image" Target="../media/image110.w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4" Type="http://schemas.openxmlformats.org/officeDocument/2006/relationships/image" Target="../media/image124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1.wmf"/><Relationship Id="rId4" Type="http://schemas.openxmlformats.org/officeDocument/2006/relationships/image" Target="../media/image128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1.wmf"/><Relationship Id="rId4" Type="http://schemas.openxmlformats.org/officeDocument/2006/relationships/image" Target="../media/image128.w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5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4" Type="http://schemas.openxmlformats.org/officeDocument/2006/relationships/image" Target="../media/image136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5" Type="http://schemas.openxmlformats.org/officeDocument/2006/relationships/image" Target="../media/image134.wmf"/><Relationship Id="rId4" Type="http://schemas.openxmlformats.org/officeDocument/2006/relationships/image" Target="../media/image138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6" Type="http://schemas.openxmlformats.org/officeDocument/2006/relationships/image" Target="../media/image140.wmf"/><Relationship Id="rId5" Type="http://schemas.openxmlformats.org/officeDocument/2006/relationships/image" Target="../media/image134.wmf"/><Relationship Id="rId4" Type="http://schemas.openxmlformats.org/officeDocument/2006/relationships/image" Target="../media/image139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6" Type="http://schemas.openxmlformats.org/officeDocument/2006/relationships/image" Target="../media/image142.wmf"/><Relationship Id="rId5" Type="http://schemas.openxmlformats.org/officeDocument/2006/relationships/image" Target="../media/image134.wmf"/><Relationship Id="rId4" Type="http://schemas.openxmlformats.org/officeDocument/2006/relationships/image" Target="../media/image141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7" Type="http://schemas.openxmlformats.org/officeDocument/2006/relationships/image" Target="../media/image144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6" Type="http://schemas.openxmlformats.org/officeDocument/2006/relationships/image" Target="../media/image143.wmf"/><Relationship Id="rId5" Type="http://schemas.openxmlformats.org/officeDocument/2006/relationships/image" Target="../media/image134.wmf"/><Relationship Id="rId4" Type="http://schemas.openxmlformats.org/officeDocument/2006/relationships/image" Target="../media/image141.w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7" Type="http://schemas.openxmlformats.org/officeDocument/2006/relationships/image" Target="../media/image147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34.wmf"/></Relationships>
</file>

<file path=ppt/drawings/_rels/vmlDrawing6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wmf"/><Relationship Id="rId1" Type="http://schemas.openxmlformats.org/officeDocument/2006/relationships/image" Target="../media/image15.wmf"/></Relationships>
</file>

<file path=ppt/drawings/_rels/vmlDrawing6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wmf"/><Relationship Id="rId1" Type="http://schemas.openxmlformats.org/officeDocument/2006/relationships/image" Target="../media/image15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45.wmf"/><Relationship Id="rId1" Type="http://schemas.openxmlformats.org/officeDocument/2006/relationships/image" Target="../media/image15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5.wmf"/><Relationship Id="rId4" Type="http://schemas.openxmlformats.org/officeDocument/2006/relationships/image" Target="../media/image1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C0A4F-6965-47C4-AA22-49C016992D9D}" type="datetimeFigureOut">
              <a:rPr lang="zh-CN" altLang="en-US" smtClean="0"/>
              <a:pPr/>
              <a:t>2021/11/20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6CADB-65D5-45D1-ACB1-61FEC89783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485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320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655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632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852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273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518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5400"/>
            <a:ext cx="9144000" cy="688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030538"/>
            <a:ext cx="9144000" cy="3827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6372200" y="5877272"/>
            <a:ext cx="2303488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defRPr/>
            </a:pPr>
            <a:r>
              <a:rPr lang="zh-CN" altLang="en-US" sz="1400" b="1" noProof="1">
                <a:solidFill>
                  <a:schemeClr val="bg1"/>
                </a:solidFill>
              </a:rPr>
              <a:t>浙江大学海洋学院</a:t>
            </a:r>
            <a:endParaRPr lang="en-US" altLang="zh-CN" sz="1400" b="1" noProof="1">
              <a:solidFill>
                <a:schemeClr val="bg1"/>
              </a:solidFill>
            </a:endParaRPr>
          </a:p>
          <a:p>
            <a:pPr ea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/>
            </a:pPr>
            <a:r>
              <a:rPr lang="en-US" altLang="zh-CN" sz="1400" b="0" noProof="1">
                <a:solidFill>
                  <a:schemeClr val="bg1"/>
                </a:solidFill>
              </a:rPr>
              <a:t> Tel :</a:t>
            </a:r>
          </a:p>
          <a:p>
            <a:pPr ea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/>
            </a:pPr>
            <a:r>
              <a:rPr lang="en-US" altLang="zh-CN" sz="1400" b="0" noProof="1">
                <a:solidFill>
                  <a:schemeClr val="bg1"/>
                </a:solidFill>
              </a:rPr>
              <a:t>Email</a:t>
            </a:r>
            <a:r>
              <a:rPr lang="zh-CN" altLang="en-US" sz="1400" b="0" noProof="1">
                <a:solidFill>
                  <a:schemeClr val="bg1"/>
                </a:solidFill>
              </a:rPr>
              <a:t>：</a:t>
            </a:r>
            <a:endParaRPr lang="en-US" altLang="en-US" sz="1400" b="0" noProof="1">
              <a:solidFill>
                <a:schemeClr val="bg1"/>
              </a:solidFill>
            </a:endParaRPr>
          </a:p>
        </p:txBody>
      </p:sp>
      <p:sp>
        <p:nvSpPr>
          <p:cNvPr id="2053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468313" y="4365625"/>
            <a:ext cx="8207375" cy="960438"/>
          </a:xfrm>
          <a:ln w="9525"/>
        </p:spPr>
        <p:txBody>
          <a:bodyPr/>
          <a:lstStyle>
            <a:lvl1pPr>
              <a:defRPr sz="34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2054" name="Rectangle 31"/>
          <p:cNvSpPr>
            <a:spLocks noGrp="1" noChangeArrowheads="1"/>
          </p:cNvSpPr>
          <p:nvPr>
            <p:ph type="subTitle" idx="1"/>
          </p:nvPr>
        </p:nvSpPr>
        <p:spPr>
          <a:xfrm>
            <a:off x="683568" y="5326063"/>
            <a:ext cx="7776864" cy="407987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9156" name="Picture 4" descr="E:\Pictures\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1656184" cy="818857"/>
          </a:xfrm>
          <a:prstGeom prst="rect">
            <a:avLst/>
          </a:prstGeom>
          <a:noFill/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124" y="6138731"/>
            <a:ext cx="438876" cy="7192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268413"/>
            <a:ext cx="4027487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27488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340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340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678B5-F165-4A52-A876-8745F24FBD1B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CC364-1BA5-41B9-AB2A-AED99E06F6D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782E4-2871-4BB6-B52B-F45FC9E27857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FE7BF-FC50-4631-86B5-C40F6148C3B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1D1C5-9D19-40FC-B384-178359BF50EB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FC075-4888-4507-A2A3-28BF2AB6BA3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FCBEF-9D20-4127-906B-8148DF812E07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4A21DF-7FF8-481C-8F91-FD6CD142DE1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132DE-5E86-4C88-8806-E89B87EB43B3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0C862-EC86-4931-94EC-917C8D8D0F5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52F0E-1E3D-4D1B-A798-CF61ABE6582D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BCD9F-BD44-4EF6-BE82-AAE783C4350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95A9D-3DA7-4A46-A026-6D9EC5C8CCD8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C52EBF-F81B-48B6-BE4D-26C1D1B6B6E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32402-3A0A-4A83-B014-02616F27F8F8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539A8-602D-4E51-B413-7D304968862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DA8DB-4701-46C4-9721-3C9EE473A796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80078-58AC-4D3E-ABE4-9AC19CDC29F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65BF3-57FE-4DBA-9409-6B0BEA8ABF29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6B3F5-11FC-4098-8939-7139F82C3FE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4A2F9-17F2-403D-9114-821E83781671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68FAC-5B3F-4E4F-841D-C005C5C6C87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 descr="6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nordri_02"/>
          <p:cNvPicPr>
            <a:picLocks noChangeAspect="1" noChangeArrowheads="1"/>
          </p:cNvPicPr>
          <p:nvPr/>
        </p:nvPicPr>
        <p:blipFill>
          <a:blip r:embed="rId15" cstate="print">
            <a:lum bright="-54000" contrast="42000"/>
          </a:blip>
          <a:srcRect/>
          <a:stretch>
            <a:fillRect/>
          </a:stretch>
        </p:blipFill>
        <p:spPr bwMode="auto">
          <a:xfrm>
            <a:off x="0" y="1225550"/>
            <a:ext cx="9144000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268413"/>
            <a:ext cx="8207375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3851275" y="6524625"/>
            <a:ext cx="1439863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de-DE" altLang="en-US" sz="1000"/>
              <a:t>Page </a:t>
            </a:r>
            <a:r>
              <a:rPr lang="de-DE" altLang="en-US" sz="1000">
                <a:sym typeface="MS UI Gothic" pitchFamily="34" charset="-128"/>
              </a:rPr>
              <a:t></a:t>
            </a:r>
            <a:r>
              <a:rPr lang="de-DE" altLang="en-US" sz="1000"/>
              <a:t> </a:t>
            </a:r>
            <a:fld id="{79942497-7726-428B-B087-1DEFCAC66726}" type="slidenum">
              <a:rPr lang="zh-CN" altLang="en-US" sz="1000"/>
              <a:pPr algn="ctr" eaLnBrk="0" hangingPunct="0">
                <a:defRPr/>
              </a:pPr>
              <a:t>‹#›</a:t>
            </a:fld>
            <a:endParaRPr lang="en-US" sz="1000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468313" y="446088"/>
            <a:ext cx="1389062" cy="3492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 cmpd="sng">
            <a:solidFill>
              <a:srgbClr val="969696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de-DE" altLang="en-US" sz="1400" i="0"/>
              <a:t>LOGO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68313" y="333375"/>
            <a:ext cx="8207375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zh-CN" altLang="en-US" sz="2600" i="0">
              <a:solidFill>
                <a:schemeClr val="bg1"/>
              </a:solidFill>
              <a:ea typeface="黑体" pitchFamily="2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648"/>
            <a:ext cx="8229600" cy="1143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hf sldNum="0"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9pPr>
    </p:titleStyle>
    <p:bodyStyle>
      <a:lvl1pPr marL="342900" indent="-3429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1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n"/>
        <a:defRPr sz="16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-25400"/>
            <a:ext cx="9144000" cy="688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 descr="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3030538"/>
            <a:ext cx="9144000" cy="3827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/>
            </a:lvl1pPr>
          </a:lstStyle>
          <a:p>
            <a:pPr>
              <a:defRPr/>
            </a:pPr>
            <a:fld id="{A288D613-F285-49C9-B913-B57B939A2DCD}" type="datetime10">
              <a:rPr lang="zh-CN" altLang="en-US" smtClean="0"/>
              <a:t>20:36</a:t>
            </a:fld>
            <a:endParaRPr lang="zh-CN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/>
            </a:lvl1pPr>
          </a:lstStyle>
          <a:p>
            <a:pPr>
              <a:defRPr/>
            </a:pPr>
            <a:fld id="{1837E92B-A29E-444E-B5B0-AD743079917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 b="0"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9pPr>
    </p:titleStyle>
    <p:bodyStyle>
      <a:lvl1pPr marL="342900" indent="-3429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16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9pPr>
    </p:titleStyle>
    <p:bodyStyle>
      <a:lvl1pPr marL="342900" indent="-3429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16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0.png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22.wmf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11" Type="http://schemas.openxmlformats.org/officeDocument/2006/relationships/oleObject" Target="../embeddings/oleObject16.bin"/><Relationship Id="rId5" Type="http://schemas.openxmlformats.org/officeDocument/2006/relationships/image" Target="../media/image20.png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7.bin"/><Relationship Id="rId7" Type="http://schemas.openxmlformats.org/officeDocument/2006/relationships/image" Target="../media/image17.wmf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8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20.png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17.wmf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3.bin"/><Relationship Id="rId11" Type="http://schemas.openxmlformats.org/officeDocument/2006/relationships/oleObject" Target="../embeddings/oleObject25.bin"/><Relationship Id="rId5" Type="http://schemas.openxmlformats.org/officeDocument/2006/relationships/image" Target="../media/image20.png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6.bin"/><Relationship Id="rId7" Type="http://schemas.openxmlformats.org/officeDocument/2006/relationships/image" Target="../media/image17.wmf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7.bin"/><Relationship Id="rId11" Type="http://schemas.openxmlformats.org/officeDocument/2006/relationships/oleObject" Target="../embeddings/oleObject29.bin"/><Relationship Id="rId5" Type="http://schemas.openxmlformats.org/officeDocument/2006/relationships/image" Target="../media/image20.png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1.png"/><Relationship Id="rId3" Type="http://schemas.openxmlformats.org/officeDocument/2006/relationships/oleObject" Target="../embeddings/oleObject31.bin"/><Relationship Id="rId7" Type="http://schemas.openxmlformats.org/officeDocument/2006/relationships/image" Target="../media/image17.wmf"/><Relationship Id="rId12" Type="http://schemas.openxmlformats.org/officeDocument/2006/relationships/image" Target="../media/image28.wmf"/><Relationship Id="rId1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6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2.bin"/><Relationship Id="rId11" Type="http://schemas.openxmlformats.org/officeDocument/2006/relationships/oleObject" Target="../embeddings/oleObject34.bin"/><Relationship Id="rId5" Type="http://schemas.openxmlformats.org/officeDocument/2006/relationships/image" Target="../media/image20.png"/><Relationship Id="rId15" Type="http://schemas.openxmlformats.org/officeDocument/2006/relationships/image" Target="../media/image29.wmf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33.bin"/><Relationship Id="rId14" Type="http://schemas.openxmlformats.org/officeDocument/2006/relationships/oleObject" Target="../embeddings/oleObject3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36.png"/><Relationship Id="rId18" Type="http://schemas.openxmlformats.org/officeDocument/2006/relationships/image" Target="../media/image19.png"/><Relationship Id="rId3" Type="http://schemas.openxmlformats.org/officeDocument/2006/relationships/oleObject" Target="../embeddings/oleObject37.bin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1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2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8.wmf"/><Relationship Id="rId11" Type="http://schemas.openxmlformats.org/officeDocument/2006/relationships/image" Target="../media/image32.wmf"/><Relationship Id="rId5" Type="http://schemas.openxmlformats.org/officeDocument/2006/relationships/oleObject" Target="../embeddings/oleObject38.bin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40.bin"/><Relationship Id="rId4" Type="http://schemas.openxmlformats.org/officeDocument/2006/relationships/image" Target="../media/image15.wmf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4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3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40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oleObject" Target="../embeddings/oleObject48.bin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45.png"/><Relationship Id="rId4" Type="http://schemas.openxmlformats.org/officeDocument/2006/relationships/image" Target="../media/image4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oleObject" Target="../embeddings/oleObject52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45.png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5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7.wmf"/><Relationship Id="rId3" Type="http://schemas.openxmlformats.org/officeDocument/2006/relationships/oleObject" Target="../embeddings/oleObject55.bin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45.png"/><Relationship Id="rId5" Type="http://schemas.openxmlformats.org/officeDocument/2006/relationships/image" Target="../media/image47.png"/><Relationship Id="rId10" Type="http://schemas.openxmlformats.org/officeDocument/2006/relationships/image" Target="../media/image48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5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8.wmf"/><Relationship Id="rId3" Type="http://schemas.openxmlformats.org/officeDocument/2006/relationships/oleObject" Target="../embeddings/oleObject59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49.png"/><Relationship Id="rId5" Type="http://schemas.openxmlformats.org/officeDocument/2006/relationships/image" Target="../media/image45.png"/><Relationship Id="rId10" Type="http://schemas.openxmlformats.org/officeDocument/2006/relationships/image" Target="../media/image46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6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8.wmf"/><Relationship Id="rId3" Type="http://schemas.openxmlformats.org/officeDocument/2006/relationships/oleObject" Target="../embeddings/oleObject63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49.png"/><Relationship Id="rId5" Type="http://schemas.openxmlformats.org/officeDocument/2006/relationships/image" Target="../media/image45.png"/><Relationship Id="rId10" Type="http://schemas.openxmlformats.org/officeDocument/2006/relationships/image" Target="../media/image46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6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8.wmf"/><Relationship Id="rId3" Type="http://schemas.openxmlformats.org/officeDocument/2006/relationships/oleObject" Target="../embeddings/oleObject67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49.png"/><Relationship Id="rId5" Type="http://schemas.openxmlformats.org/officeDocument/2006/relationships/image" Target="../media/image45.png"/><Relationship Id="rId10" Type="http://schemas.openxmlformats.org/officeDocument/2006/relationships/image" Target="../media/image46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6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8.wmf"/><Relationship Id="rId3" Type="http://schemas.openxmlformats.org/officeDocument/2006/relationships/oleObject" Target="../embeddings/oleObject71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49.png"/><Relationship Id="rId5" Type="http://schemas.openxmlformats.org/officeDocument/2006/relationships/image" Target="../media/image45.png"/><Relationship Id="rId10" Type="http://schemas.openxmlformats.org/officeDocument/2006/relationships/image" Target="../media/image4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7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8.wmf"/><Relationship Id="rId3" Type="http://schemas.openxmlformats.org/officeDocument/2006/relationships/oleObject" Target="../embeddings/oleObject75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49.png"/><Relationship Id="rId5" Type="http://schemas.openxmlformats.org/officeDocument/2006/relationships/image" Target="../media/image45.png"/><Relationship Id="rId10" Type="http://schemas.openxmlformats.org/officeDocument/2006/relationships/image" Target="../media/image46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7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55.wmf"/><Relationship Id="rId9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oleObject" Target="../embeddings/oleObject85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9.wmf"/><Relationship Id="rId12" Type="http://schemas.openxmlformats.org/officeDocument/2006/relationships/image" Target="../media/image47.png"/><Relationship Id="rId17" Type="http://schemas.openxmlformats.org/officeDocument/2006/relationships/image" Target="../media/image4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6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17.wmf"/><Relationship Id="rId5" Type="http://schemas.openxmlformats.org/officeDocument/2006/relationships/image" Target="../media/image58.wmf"/><Relationship Id="rId15" Type="http://schemas.openxmlformats.org/officeDocument/2006/relationships/image" Target="../media/image49.png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45.png"/><Relationship Id="rId14" Type="http://schemas.openxmlformats.org/officeDocument/2006/relationships/image" Target="../media/image4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1.png"/><Relationship Id="rId5" Type="http://schemas.openxmlformats.org/officeDocument/2006/relationships/image" Target="../media/image59.wmf"/><Relationship Id="rId10" Type="http://schemas.openxmlformats.org/officeDocument/2006/relationships/image" Target="../media/image58.wmf"/><Relationship Id="rId4" Type="http://schemas.openxmlformats.org/officeDocument/2006/relationships/oleObject" Target="../embeddings/oleObject87.bin"/><Relationship Id="rId9" Type="http://schemas.openxmlformats.org/officeDocument/2006/relationships/oleObject" Target="../embeddings/oleObject8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840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5.png"/><Relationship Id="rId5" Type="http://schemas.openxmlformats.org/officeDocument/2006/relationships/image" Target="../media/image62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9.png"/><Relationship Id="rId5" Type="http://schemas.openxmlformats.org/officeDocument/2006/relationships/image" Target="../media/image62.wmf"/><Relationship Id="rId4" Type="http://schemas.openxmlformats.org/officeDocument/2006/relationships/oleObject" Target="../embeddings/oleObject92.bin"/><Relationship Id="rId9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image" Target="../media/image78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94.bin"/><Relationship Id="rId12" Type="http://schemas.openxmlformats.org/officeDocument/2006/relationships/oleObject" Target="../embeddings/oleObject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82.png"/><Relationship Id="rId11" Type="http://schemas.openxmlformats.org/officeDocument/2006/relationships/image" Target="../media/image77.wmf"/><Relationship Id="rId5" Type="http://schemas.openxmlformats.org/officeDocument/2006/relationships/image" Target="../media/image81.png"/><Relationship Id="rId15" Type="http://schemas.openxmlformats.org/officeDocument/2006/relationships/image" Target="../media/image79.wmf"/><Relationship Id="rId10" Type="http://schemas.openxmlformats.org/officeDocument/2006/relationships/oleObject" Target="../embeddings/oleObject95.bin"/><Relationship Id="rId4" Type="http://schemas.openxmlformats.org/officeDocument/2006/relationships/image" Target="../media/image80.png"/><Relationship Id="rId9" Type="http://schemas.openxmlformats.org/officeDocument/2006/relationships/image" Target="../media/image2030.png"/><Relationship Id="rId14" Type="http://schemas.openxmlformats.org/officeDocument/2006/relationships/oleObject" Target="../embeddings/oleObject97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8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oleObject" Target="../embeddings/oleObject102.bin"/><Relationship Id="rId7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8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oleObject" Target="../embeddings/oleObject104.bin"/><Relationship Id="rId7" Type="http://schemas.openxmlformats.org/officeDocument/2006/relationships/image" Target="../media/image83.png"/><Relationship Id="rId12" Type="http://schemas.openxmlformats.org/officeDocument/2006/relationships/image" Target="../media/image8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85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6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oleObject" Target="../embeddings/oleObject108.bin"/><Relationship Id="rId7" Type="http://schemas.openxmlformats.org/officeDocument/2006/relationships/image" Target="../media/image83.png"/><Relationship Id="rId12" Type="http://schemas.openxmlformats.org/officeDocument/2006/relationships/image" Target="../media/image8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85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0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87.wmf"/><Relationship Id="rId3" Type="http://schemas.openxmlformats.org/officeDocument/2006/relationships/oleObject" Target="../embeddings/oleObject112.bin"/><Relationship Id="rId7" Type="http://schemas.openxmlformats.org/officeDocument/2006/relationships/image" Target="../media/image83.png"/><Relationship Id="rId12" Type="http://schemas.openxmlformats.org/officeDocument/2006/relationships/oleObject" Target="../embeddings/oleObject1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9.wmf"/><Relationship Id="rId11" Type="http://schemas.openxmlformats.org/officeDocument/2006/relationships/image" Target="../media/image86.wmf"/><Relationship Id="rId5" Type="http://schemas.openxmlformats.org/officeDocument/2006/relationships/oleObject" Target="../embeddings/oleObject113.bin"/><Relationship Id="rId10" Type="http://schemas.openxmlformats.org/officeDocument/2006/relationships/oleObject" Target="../embeddings/oleObject115.bin"/><Relationship Id="rId4" Type="http://schemas.openxmlformats.org/officeDocument/2006/relationships/image" Target="../media/image8.wmf"/><Relationship Id="rId9" Type="http://schemas.openxmlformats.org/officeDocument/2006/relationships/image" Target="../media/image85.wmf"/><Relationship Id="rId14" Type="http://schemas.openxmlformats.org/officeDocument/2006/relationships/image" Target="../media/image8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15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9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oleObject" Target="../embeddings/oleObject119.bin"/><Relationship Id="rId7" Type="http://schemas.openxmlformats.org/officeDocument/2006/relationships/image" Target="../media/image9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5.wmf"/><Relationship Id="rId9" Type="http://schemas.openxmlformats.org/officeDocument/2006/relationships/image" Target="../media/image9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oleObject" Target="../embeddings/oleObject121.bin"/><Relationship Id="rId7" Type="http://schemas.openxmlformats.org/officeDocument/2006/relationships/image" Target="../media/image9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96.png"/><Relationship Id="rId4" Type="http://schemas.openxmlformats.org/officeDocument/2006/relationships/image" Target="../media/image15.wmf"/><Relationship Id="rId9" Type="http://schemas.openxmlformats.org/officeDocument/2006/relationships/image" Target="../media/image9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oleObject" Target="../embeddings/oleObject123.bin"/><Relationship Id="rId7" Type="http://schemas.openxmlformats.org/officeDocument/2006/relationships/image" Target="../media/image9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90.png"/><Relationship Id="rId11" Type="http://schemas.openxmlformats.org/officeDocument/2006/relationships/image" Target="../media/image93.wmf"/><Relationship Id="rId5" Type="http://schemas.openxmlformats.org/officeDocument/2006/relationships/image" Target="../media/image94.png"/><Relationship Id="rId10" Type="http://schemas.openxmlformats.org/officeDocument/2006/relationships/oleObject" Target="../embeddings/oleObject124.bin"/><Relationship Id="rId4" Type="http://schemas.openxmlformats.org/officeDocument/2006/relationships/image" Target="../media/image15.wmf"/><Relationship Id="rId9" Type="http://schemas.openxmlformats.org/officeDocument/2006/relationships/image" Target="../media/image9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oleObject" Target="../embeddings/oleObject125.bin"/><Relationship Id="rId7" Type="http://schemas.openxmlformats.org/officeDocument/2006/relationships/image" Target="../media/image97.png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90.png"/><Relationship Id="rId11" Type="http://schemas.openxmlformats.org/officeDocument/2006/relationships/oleObject" Target="../embeddings/oleObject127.bin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15.wmf"/><Relationship Id="rId9" Type="http://schemas.openxmlformats.org/officeDocument/2006/relationships/image" Target="../media/image93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oleObject" Target="../embeddings/oleObject128.bin"/><Relationship Id="rId7" Type="http://schemas.openxmlformats.org/officeDocument/2006/relationships/image" Target="../media/image97.png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9.bin"/><Relationship Id="rId10" Type="http://schemas.openxmlformats.org/officeDocument/2006/relationships/image" Target="../media/image93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30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oleObject" Target="../embeddings/oleObject136.bin"/><Relationship Id="rId3" Type="http://schemas.openxmlformats.org/officeDocument/2006/relationships/oleObject" Target="../embeddings/oleObject132.bin"/><Relationship Id="rId7" Type="http://schemas.openxmlformats.org/officeDocument/2006/relationships/image" Target="../media/image97.png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3.bin"/><Relationship Id="rId15" Type="http://schemas.openxmlformats.org/officeDocument/2006/relationships/image" Target="../media/image103.png"/><Relationship Id="rId10" Type="http://schemas.openxmlformats.org/officeDocument/2006/relationships/image" Target="../media/image93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02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41.bin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9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99.png"/><Relationship Id="rId4" Type="http://schemas.openxmlformats.org/officeDocument/2006/relationships/image" Target="../media/image15.wmf"/><Relationship Id="rId9" Type="http://schemas.openxmlformats.org/officeDocument/2006/relationships/image" Target="../media/image97.png"/><Relationship Id="rId14" Type="http://schemas.openxmlformats.org/officeDocument/2006/relationships/image" Target="../media/image98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146.bin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93.wmf"/><Relationship Id="rId17" Type="http://schemas.openxmlformats.org/officeDocument/2006/relationships/image" Target="../media/image10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7.bin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3.bin"/><Relationship Id="rId15" Type="http://schemas.openxmlformats.org/officeDocument/2006/relationships/image" Target="../media/image109.png"/><Relationship Id="rId10" Type="http://schemas.openxmlformats.org/officeDocument/2006/relationships/image" Target="../media/image99.png"/><Relationship Id="rId4" Type="http://schemas.openxmlformats.org/officeDocument/2006/relationships/image" Target="../media/image15.wmf"/><Relationship Id="rId9" Type="http://schemas.openxmlformats.org/officeDocument/2006/relationships/image" Target="../media/image97.png"/><Relationship Id="rId14" Type="http://schemas.openxmlformats.org/officeDocument/2006/relationships/image" Target="../media/image98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12.png"/><Relationship Id="rId7" Type="http://schemas.openxmlformats.org/officeDocument/2006/relationships/oleObject" Target="../embeddings/oleObject1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13.png"/><Relationship Id="rId5" Type="http://schemas.openxmlformats.org/officeDocument/2006/relationships/image" Target="../media/image110.wmf"/><Relationship Id="rId4" Type="http://schemas.openxmlformats.org/officeDocument/2006/relationships/oleObject" Target="../embeddings/oleObject148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oleObject" Target="../embeddings/oleObject150.bin"/><Relationship Id="rId7" Type="http://schemas.openxmlformats.org/officeDocument/2006/relationships/image" Target="../media/image115.png"/><Relationship Id="rId12" Type="http://schemas.openxmlformats.org/officeDocument/2006/relationships/image" Target="../media/image1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18.png"/><Relationship Id="rId4" Type="http://schemas.openxmlformats.org/officeDocument/2006/relationships/image" Target="../media/image110.wmf"/><Relationship Id="rId9" Type="http://schemas.openxmlformats.org/officeDocument/2006/relationships/image" Target="../media/image11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42.png"/><Relationship Id="rId5" Type="http://schemas.openxmlformats.org/officeDocument/2006/relationships/image" Target="../media/image120.png"/><Relationship Id="rId4" Type="http://schemas.openxmlformats.org/officeDocument/2006/relationships/image" Target="../media/image110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5" Type="http://schemas.openxmlformats.org/officeDocument/2006/relationships/image" Target="../media/image120.png"/><Relationship Id="rId4" Type="http://schemas.openxmlformats.org/officeDocument/2006/relationships/image" Target="../media/image110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3" Type="http://schemas.openxmlformats.org/officeDocument/2006/relationships/image" Target="../media/image125.png"/><Relationship Id="rId7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24.wmf"/><Relationship Id="rId5" Type="http://schemas.openxmlformats.org/officeDocument/2006/relationships/image" Target="../media/image121.wmf"/><Relationship Id="rId10" Type="http://schemas.openxmlformats.org/officeDocument/2006/relationships/oleObject" Target="../embeddings/oleObject159.bin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23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3" Type="http://schemas.openxmlformats.org/officeDocument/2006/relationships/image" Target="../media/image125.png"/><Relationship Id="rId7" Type="http://schemas.openxmlformats.org/officeDocument/2006/relationships/image" Target="../media/image1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28.wmf"/><Relationship Id="rId5" Type="http://schemas.openxmlformats.org/officeDocument/2006/relationships/image" Target="../media/image121.wmf"/><Relationship Id="rId10" Type="http://schemas.openxmlformats.org/officeDocument/2006/relationships/oleObject" Target="../embeddings/oleObject163.bin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27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26.wmf"/><Relationship Id="rId11" Type="http://schemas.openxmlformats.org/officeDocument/2006/relationships/image" Target="../media/image129.png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28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67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5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oleObject" Target="../embeddings/oleObject169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170.bin"/><Relationship Id="rId5" Type="http://schemas.openxmlformats.org/officeDocument/2006/relationships/image" Target="../media/image132.png"/><Relationship Id="rId4" Type="http://schemas.openxmlformats.org/officeDocument/2006/relationships/image" Target="../media/image15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oleObject" Target="../embeddings/oleObject171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33.png"/><Relationship Id="rId5" Type="http://schemas.openxmlformats.org/officeDocument/2006/relationships/image" Target="../media/image132.png"/><Relationship Id="rId10" Type="http://schemas.openxmlformats.org/officeDocument/2006/relationships/image" Target="../media/image134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3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image" Target="../media/image135.png"/><Relationship Id="rId3" Type="http://schemas.openxmlformats.org/officeDocument/2006/relationships/oleObject" Target="../embeddings/oleObject174.bin"/><Relationship Id="rId7" Type="http://schemas.openxmlformats.org/officeDocument/2006/relationships/image" Target="../media/image17.wmf"/><Relationship Id="rId12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36.wmf"/><Relationship Id="rId5" Type="http://schemas.openxmlformats.org/officeDocument/2006/relationships/image" Target="../media/image132.png"/><Relationship Id="rId10" Type="http://schemas.openxmlformats.org/officeDocument/2006/relationships/oleObject" Target="../embeddings/oleObject177.bin"/><Relationship Id="rId4" Type="http://schemas.openxmlformats.org/officeDocument/2006/relationships/image" Target="../media/image15.wmf"/><Relationship Id="rId9" Type="http://schemas.openxmlformats.org/officeDocument/2006/relationships/image" Target="../media/image134.wmf"/><Relationship Id="rId14" Type="http://schemas.openxmlformats.org/officeDocument/2006/relationships/image" Target="../media/image137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13" Type="http://schemas.openxmlformats.org/officeDocument/2006/relationships/oleObject" Target="../embeddings/oleObject182.bin"/><Relationship Id="rId3" Type="http://schemas.openxmlformats.org/officeDocument/2006/relationships/oleObject" Target="../embeddings/oleObject178.bin"/><Relationship Id="rId7" Type="http://schemas.openxmlformats.org/officeDocument/2006/relationships/image" Target="../media/image17.wmf"/><Relationship Id="rId12" Type="http://schemas.openxmlformats.org/officeDocument/2006/relationships/image" Target="../media/image13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138.wmf"/><Relationship Id="rId5" Type="http://schemas.openxmlformats.org/officeDocument/2006/relationships/image" Target="../media/image132.png"/><Relationship Id="rId15" Type="http://schemas.openxmlformats.org/officeDocument/2006/relationships/image" Target="../media/image137.png"/><Relationship Id="rId10" Type="http://schemas.openxmlformats.org/officeDocument/2006/relationships/oleObject" Target="../embeddings/oleObject181.bin"/><Relationship Id="rId4" Type="http://schemas.openxmlformats.org/officeDocument/2006/relationships/image" Target="../media/image15.wmf"/><Relationship Id="rId9" Type="http://schemas.openxmlformats.org/officeDocument/2006/relationships/image" Target="../media/image136.wmf"/><Relationship Id="rId14" Type="http://schemas.openxmlformats.org/officeDocument/2006/relationships/image" Target="../media/image134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oleObject" Target="../embeddings/oleObject187.bin"/><Relationship Id="rId3" Type="http://schemas.openxmlformats.org/officeDocument/2006/relationships/oleObject" Target="../embeddings/oleObject183.bin"/><Relationship Id="rId7" Type="http://schemas.openxmlformats.org/officeDocument/2006/relationships/image" Target="../media/image17.wmf"/><Relationship Id="rId12" Type="http://schemas.openxmlformats.org/officeDocument/2006/relationships/image" Target="../media/image135.png"/><Relationship Id="rId17" Type="http://schemas.openxmlformats.org/officeDocument/2006/relationships/image" Target="../media/image13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0.wmf"/><Relationship Id="rId1" Type="http://schemas.openxmlformats.org/officeDocument/2006/relationships/vmlDrawing" Target="../drawings/vmlDrawing61.v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39.wmf"/><Relationship Id="rId5" Type="http://schemas.openxmlformats.org/officeDocument/2006/relationships/image" Target="../media/image132.png"/><Relationship Id="rId15" Type="http://schemas.openxmlformats.org/officeDocument/2006/relationships/oleObject" Target="../embeddings/oleObject188.bin"/><Relationship Id="rId10" Type="http://schemas.openxmlformats.org/officeDocument/2006/relationships/oleObject" Target="../embeddings/oleObject186.bin"/><Relationship Id="rId4" Type="http://schemas.openxmlformats.org/officeDocument/2006/relationships/image" Target="../media/image15.wmf"/><Relationship Id="rId9" Type="http://schemas.openxmlformats.org/officeDocument/2006/relationships/image" Target="../media/image136.wmf"/><Relationship Id="rId14" Type="http://schemas.openxmlformats.org/officeDocument/2006/relationships/image" Target="../media/image134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oleObject" Target="../embeddings/oleObject193.bin"/><Relationship Id="rId3" Type="http://schemas.openxmlformats.org/officeDocument/2006/relationships/oleObject" Target="../embeddings/oleObject189.bin"/><Relationship Id="rId7" Type="http://schemas.openxmlformats.org/officeDocument/2006/relationships/image" Target="../media/image17.wmf"/><Relationship Id="rId12" Type="http://schemas.openxmlformats.org/officeDocument/2006/relationships/image" Target="../media/image135.png"/><Relationship Id="rId17" Type="http://schemas.openxmlformats.org/officeDocument/2006/relationships/image" Target="../media/image13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2.wmf"/><Relationship Id="rId1" Type="http://schemas.openxmlformats.org/officeDocument/2006/relationships/vmlDrawing" Target="../drawings/vmlDrawing62.v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141.wmf"/><Relationship Id="rId5" Type="http://schemas.openxmlformats.org/officeDocument/2006/relationships/image" Target="../media/image132.png"/><Relationship Id="rId15" Type="http://schemas.openxmlformats.org/officeDocument/2006/relationships/oleObject" Target="../embeddings/oleObject194.bin"/><Relationship Id="rId10" Type="http://schemas.openxmlformats.org/officeDocument/2006/relationships/oleObject" Target="../embeddings/oleObject192.bin"/><Relationship Id="rId4" Type="http://schemas.openxmlformats.org/officeDocument/2006/relationships/image" Target="../media/image15.wmf"/><Relationship Id="rId9" Type="http://schemas.openxmlformats.org/officeDocument/2006/relationships/image" Target="../media/image136.wmf"/><Relationship Id="rId14" Type="http://schemas.openxmlformats.org/officeDocument/2006/relationships/image" Target="../media/image134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144.wmf"/><Relationship Id="rId3" Type="http://schemas.openxmlformats.org/officeDocument/2006/relationships/oleObject" Target="../embeddings/oleObject195.bin"/><Relationship Id="rId7" Type="http://schemas.openxmlformats.org/officeDocument/2006/relationships/image" Target="../media/image17.wmf"/><Relationship Id="rId12" Type="http://schemas.openxmlformats.org/officeDocument/2006/relationships/image" Target="../media/image135.png"/><Relationship Id="rId17" Type="http://schemas.openxmlformats.org/officeDocument/2006/relationships/oleObject" Target="../embeddings/oleObject20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3.wmf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141.wmf"/><Relationship Id="rId5" Type="http://schemas.openxmlformats.org/officeDocument/2006/relationships/image" Target="../media/image132.png"/><Relationship Id="rId15" Type="http://schemas.openxmlformats.org/officeDocument/2006/relationships/oleObject" Target="../embeddings/oleObject200.bin"/><Relationship Id="rId10" Type="http://schemas.openxmlformats.org/officeDocument/2006/relationships/oleObject" Target="../embeddings/oleObject198.bin"/><Relationship Id="rId19" Type="http://schemas.openxmlformats.org/officeDocument/2006/relationships/image" Target="../media/image137.png"/><Relationship Id="rId4" Type="http://schemas.openxmlformats.org/officeDocument/2006/relationships/image" Target="../media/image15.wmf"/><Relationship Id="rId9" Type="http://schemas.openxmlformats.org/officeDocument/2006/relationships/image" Target="../media/image136.wmf"/><Relationship Id="rId14" Type="http://schemas.openxmlformats.org/officeDocument/2006/relationships/image" Target="../media/image134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137.png"/><Relationship Id="rId3" Type="http://schemas.openxmlformats.org/officeDocument/2006/relationships/oleObject" Target="../embeddings/oleObject202.bin"/><Relationship Id="rId21" Type="http://schemas.openxmlformats.org/officeDocument/2006/relationships/image" Target="../media/image147.wmf"/><Relationship Id="rId7" Type="http://schemas.openxmlformats.org/officeDocument/2006/relationships/image" Target="../media/image17.wmf"/><Relationship Id="rId12" Type="http://schemas.openxmlformats.org/officeDocument/2006/relationships/image" Target="../media/image134.wmf"/><Relationship Id="rId17" Type="http://schemas.openxmlformats.org/officeDocument/2006/relationships/image" Target="../media/image14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07.bin"/><Relationship Id="rId20" Type="http://schemas.openxmlformats.org/officeDocument/2006/relationships/oleObject" Target="../embeddings/oleObject208.bin"/><Relationship Id="rId1" Type="http://schemas.openxmlformats.org/officeDocument/2006/relationships/vmlDrawing" Target="../drawings/vmlDrawing64.vml"/><Relationship Id="rId6" Type="http://schemas.openxmlformats.org/officeDocument/2006/relationships/oleObject" Target="../embeddings/oleObject203.bin"/><Relationship Id="rId11" Type="http://schemas.openxmlformats.org/officeDocument/2006/relationships/oleObject" Target="../embeddings/oleObject205.bin"/><Relationship Id="rId5" Type="http://schemas.openxmlformats.org/officeDocument/2006/relationships/image" Target="../media/image132.png"/><Relationship Id="rId15" Type="http://schemas.openxmlformats.org/officeDocument/2006/relationships/image" Target="../media/image148.png"/><Relationship Id="rId10" Type="http://schemas.openxmlformats.org/officeDocument/2006/relationships/image" Target="../media/image135.png"/><Relationship Id="rId19" Type="http://schemas.openxmlformats.org/officeDocument/2006/relationships/image" Target="../media/image149.png"/><Relationship Id="rId4" Type="http://schemas.openxmlformats.org/officeDocument/2006/relationships/image" Target="../media/image15.wmf"/><Relationship Id="rId9" Type="http://schemas.openxmlformats.org/officeDocument/2006/relationships/image" Target="../media/image136.wmf"/><Relationship Id="rId14" Type="http://schemas.openxmlformats.org/officeDocument/2006/relationships/image" Target="../media/image145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oleObject" Target="../embeddings/oleObject209.bin"/><Relationship Id="rId7" Type="http://schemas.openxmlformats.org/officeDocument/2006/relationships/image" Target="../media/image14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210.bin"/><Relationship Id="rId4" Type="http://schemas.openxmlformats.org/officeDocument/2006/relationships/image" Target="../media/image15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oleObject" Target="../embeddings/oleObject211.bin"/><Relationship Id="rId7" Type="http://schemas.openxmlformats.org/officeDocument/2006/relationships/image" Target="../media/image13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15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3" Type="http://schemas.openxmlformats.org/officeDocument/2006/relationships/oleObject" Target="../embeddings/oleObject213.bin"/><Relationship Id="rId7" Type="http://schemas.openxmlformats.org/officeDocument/2006/relationships/image" Target="../media/image13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214.bin"/><Relationship Id="rId10" Type="http://schemas.openxmlformats.org/officeDocument/2006/relationships/image" Target="../media/image153.png"/><Relationship Id="rId4" Type="http://schemas.openxmlformats.org/officeDocument/2006/relationships/image" Target="../media/image15.wmf"/><Relationship Id="rId9" Type="http://schemas.openxmlformats.org/officeDocument/2006/relationships/image" Target="../media/image152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57.png"/><Relationship Id="rId3" Type="http://schemas.openxmlformats.org/officeDocument/2006/relationships/oleObject" Target="../embeddings/oleObject216.bin"/><Relationship Id="rId7" Type="http://schemas.openxmlformats.org/officeDocument/2006/relationships/image" Target="../media/image153.png"/><Relationship Id="rId12" Type="http://schemas.openxmlformats.org/officeDocument/2006/relationships/image" Target="../media/image15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8.png"/><Relationship Id="rId1" Type="http://schemas.openxmlformats.org/officeDocument/2006/relationships/vmlDrawing" Target="../drawings/vmlDrawing68.vml"/><Relationship Id="rId6" Type="http://schemas.openxmlformats.org/officeDocument/2006/relationships/image" Target="../media/image145.wmf"/><Relationship Id="rId11" Type="http://schemas.openxmlformats.org/officeDocument/2006/relationships/image" Target="../media/image146.wmf"/><Relationship Id="rId5" Type="http://schemas.openxmlformats.org/officeDocument/2006/relationships/oleObject" Target="../embeddings/oleObject217.bin"/><Relationship Id="rId15" Type="http://schemas.openxmlformats.org/officeDocument/2006/relationships/image" Target="../media/image154.wmf"/><Relationship Id="rId10" Type="http://schemas.openxmlformats.org/officeDocument/2006/relationships/oleObject" Target="../embeddings/oleObject218.bin"/><Relationship Id="rId4" Type="http://schemas.openxmlformats.org/officeDocument/2006/relationships/image" Target="../media/image15.wmf"/><Relationship Id="rId9" Type="http://schemas.openxmlformats.org/officeDocument/2006/relationships/image" Target="../media/image150.png"/><Relationship Id="rId14" Type="http://schemas.openxmlformats.org/officeDocument/2006/relationships/oleObject" Target="../embeddings/oleObject2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回顾</a:t>
            </a:r>
            <a:r>
              <a:rPr lang="zh-CN" altLang="en-US"/>
              <a:t>：柔度系数和载荷位移的计算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graphicFrame>
        <p:nvGraphicFramePr>
          <p:cNvPr id="101394" name="Object 4"/>
          <p:cNvGraphicFramePr>
            <a:graphicFrameLocks noChangeAspect="1"/>
          </p:cNvGraphicFramePr>
          <p:nvPr/>
        </p:nvGraphicFramePr>
        <p:xfrm>
          <a:off x="2005647" y="2143130"/>
          <a:ext cx="4397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28" name="Equation" r:id="rId3" imgW="3809880" imgH="482400" progId="Equation.DSMT4">
                  <p:embed/>
                </p:oleObj>
              </mc:Choice>
              <mc:Fallback>
                <p:oleObj name="Equation" r:id="rId3" imgW="38098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647" y="2143130"/>
                        <a:ext cx="43973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4"/>
          <p:cNvGraphicFramePr>
            <a:graphicFrameLocks noChangeAspect="1"/>
          </p:cNvGraphicFramePr>
          <p:nvPr/>
        </p:nvGraphicFramePr>
        <p:xfrm>
          <a:off x="1979712" y="2693988"/>
          <a:ext cx="43545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29" name="Equation" r:id="rId5" imgW="3771720" imgH="507960" progId="Equation.DSMT4">
                  <p:embed/>
                </p:oleObj>
              </mc:Choice>
              <mc:Fallback>
                <p:oleObj name="Equation" r:id="rId5" imgW="3771720" imgH="50796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693988"/>
                        <a:ext cx="43545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zh-CN" altLang="en-US"/>
              <a:t>回顾：柔度系数和载荷位移的计算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定义</a:t>
            </a:r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排架：立柱之间用链杆连接</a:t>
            </a:r>
            <a:endParaRPr lang="en-US" altLang="zh-CN" sz="1400" b="0"/>
          </a:p>
          <a:p>
            <a:pPr lvl="3"/>
            <a:r>
              <a:rPr lang="zh-CN" altLang="en-US"/>
              <a:t>刚架：排架的铰结点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刚结点</a:t>
            </a:r>
          </a:p>
        </p:txBody>
      </p:sp>
      <p:graphicFrame>
        <p:nvGraphicFramePr>
          <p:cNvPr id="101394" name="Object 4"/>
          <p:cNvGraphicFramePr>
            <a:graphicFrameLocks noChangeAspect="1"/>
          </p:cNvGraphicFramePr>
          <p:nvPr/>
        </p:nvGraphicFramePr>
        <p:xfrm>
          <a:off x="2005647" y="2143130"/>
          <a:ext cx="4397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04" name="Equation" r:id="rId3" imgW="3809880" imgH="482400" progId="Equation.DSMT4">
                  <p:embed/>
                </p:oleObj>
              </mc:Choice>
              <mc:Fallback>
                <p:oleObj name="Equation" r:id="rId3" imgW="38098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647" y="2143130"/>
                        <a:ext cx="43973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4"/>
          <p:cNvGraphicFramePr>
            <a:graphicFrameLocks noChangeAspect="1"/>
          </p:cNvGraphicFramePr>
          <p:nvPr/>
        </p:nvGraphicFramePr>
        <p:xfrm>
          <a:off x="1979712" y="2693988"/>
          <a:ext cx="43545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05" name="Equation" r:id="rId5" imgW="3771720" imgH="507960" progId="Equation.DSMT4">
                  <p:embed/>
                </p:oleObj>
              </mc:Choice>
              <mc:Fallback>
                <p:oleObj name="Equation" r:id="rId5" imgW="3771720" imgH="507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693988"/>
                        <a:ext cx="43545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1397" name="Picture 2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44228" y="1412776"/>
            <a:ext cx="1760220" cy="1592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98" name="Picture 2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508104" y="3645024"/>
            <a:ext cx="3116580" cy="1615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Box 26"/>
          <p:cNvSpPr txBox="1"/>
          <p:nvPr/>
        </p:nvSpPr>
        <p:spPr>
          <a:xfrm>
            <a:off x="7452320" y="292494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刚架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328" y="515719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排架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zh-CN" altLang="en-US"/>
              <a:t>回顾：柔度系数和载荷位移的计算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/>
              <a:t>定义</a:t>
            </a:r>
            <a:endParaRPr lang="en-US" altLang="zh-CN"/>
          </a:p>
          <a:p>
            <a:pPr lvl="3"/>
            <a:r>
              <a:rPr lang="zh-CN" altLang="en-US"/>
              <a:t>排架：立柱之间用链杆连接</a:t>
            </a:r>
            <a:endParaRPr lang="en-US" altLang="zh-CN" sz="1400" b="0"/>
          </a:p>
          <a:p>
            <a:pPr lvl="3"/>
            <a:r>
              <a:rPr lang="zh-CN" altLang="en-US"/>
              <a:t>刚架：排架的铰结点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刚结点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简化：忽略轴力和剪力的影响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3"/>
            <a:r>
              <a:rPr lang="zh-CN" altLang="en-US">
                <a:solidFill>
                  <a:srgbClr val="FF0000"/>
                </a:solidFill>
              </a:rPr>
              <a:t>只要计算弯矩即可。</a:t>
            </a:r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特例：高层刚架柱中的轴力影响，粗短 杆件中的剪力影响不可忽略</a:t>
            </a:r>
            <a:endParaRPr lang="en-US" altLang="zh-CN"/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1394" name="Object 4"/>
          <p:cNvGraphicFramePr>
            <a:graphicFrameLocks noChangeAspect="1"/>
          </p:cNvGraphicFramePr>
          <p:nvPr/>
        </p:nvGraphicFramePr>
        <p:xfrm>
          <a:off x="2005647" y="2143130"/>
          <a:ext cx="4397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062" name="Equation" r:id="rId3" imgW="3809880" imgH="482400" progId="Equation.DSMT4">
                  <p:embed/>
                </p:oleObj>
              </mc:Choice>
              <mc:Fallback>
                <p:oleObj name="Equation" r:id="rId3" imgW="38098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647" y="2143130"/>
                        <a:ext cx="43973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4"/>
          <p:cNvGraphicFramePr>
            <a:graphicFrameLocks noChangeAspect="1"/>
          </p:cNvGraphicFramePr>
          <p:nvPr/>
        </p:nvGraphicFramePr>
        <p:xfrm>
          <a:off x="1979712" y="2693988"/>
          <a:ext cx="43545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063" name="Equation" r:id="rId5" imgW="3771720" imgH="507960" progId="Equation.DSMT4">
                  <p:embed/>
                </p:oleObj>
              </mc:Choice>
              <mc:Fallback>
                <p:oleObj name="Equation" r:id="rId5" imgW="3771720" imgH="507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693988"/>
                        <a:ext cx="43545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1397" name="Picture 2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44228" y="1412776"/>
            <a:ext cx="1760220" cy="1592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98" name="Picture 2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508104" y="3645024"/>
            <a:ext cx="3116580" cy="1615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Box 26"/>
          <p:cNvSpPr txBox="1"/>
          <p:nvPr/>
        </p:nvSpPr>
        <p:spPr>
          <a:xfrm>
            <a:off x="7452320" y="292494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刚架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328" y="515719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排架</a:t>
            </a:r>
          </a:p>
        </p:txBody>
      </p:sp>
      <p:graphicFrame>
        <p:nvGraphicFramePr>
          <p:cNvPr id="101399" name="Object 4"/>
          <p:cNvGraphicFramePr>
            <a:graphicFrameLocks noChangeAspect="1"/>
          </p:cNvGraphicFramePr>
          <p:nvPr/>
        </p:nvGraphicFramePr>
        <p:xfrm>
          <a:off x="1985164" y="4684048"/>
          <a:ext cx="15684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064" name="Equation" r:id="rId9" imgW="1358640" imgH="469800" progId="Equation.DSMT4">
                  <p:embed/>
                </p:oleObj>
              </mc:Choice>
              <mc:Fallback>
                <p:oleObj name="Equation" r:id="rId9" imgW="1358640" imgH="469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164" y="4684048"/>
                        <a:ext cx="1568450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0" name="Object 4"/>
          <p:cNvGraphicFramePr>
            <a:graphicFrameLocks noChangeAspect="1"/>
          </p:cNvGraphicFramePr>
          <p:nvPr/>
        </p:nvGraphicFramePr>
        <p:xfrm>
          <a:off x="1959015" y="5274290"/>
          <a:ext cx="15843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065" name="Equation" r:id="rId11" imgW="1371600" imgH="469800" progId="Equation.DSMT4">
                  <p:embed/>
                </p:oleObj>
              </mc:Choice>
              <mc:Fallback>
                <p:oleObj name="Equation" r:id="rId11" imgW="1371600" imgH="4698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015" y="5274290"/>
                        <a:ext cx="1584325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：作下列刚架的内力图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132856"/>
            <a:ext cx="44577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：作下列刚架的内力图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2132856"/>
            <a:ext cx="1985963" cy="179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8" name="Equation" r:id="rId4" imgW="939600" imgH="241200" progId="Equation.DSMT4">
                  <p:embed/>
                </p:oleObj>
              </mc:Choice>
              <mc:Fallback>
                <p:oleObj name="Equation" r:id="rId4" imgW="93960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 bwMode="auto">
          <a:xfrm>
            <a:off x="5940152" y="3068960"/>
            <a:ext cx="432048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64288" y="407707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0445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91880" y="2132856"/>
            <a:ext cx="222885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：作下列刚架的内力图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/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2132856"/>
            <a:ext cx="213360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0232" y="2132856"/>
            <a:ext cx="1985963" cy="179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28" name="Equation" r:id="rId5" imgW="939600" imgH="241200" progId="Equation.DSMT4">
                  <p:embed/>
                </p:oleObj>
              </mc:Choice>
              <mc:Fallback>
                <p:oleObj name="Equation" r:id="rId5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 bwMode="auto">
          <a:xfrm>
            <a:off x="5868144" y="3068960"/>
            <a:ext cx="432048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64288" y="407707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0547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19872" y="4365104"/>
            <a:ext cx="2333625" cy="190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4427984" y="6142208"/>
          <a:ext cx="360041" cy="31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29" name="Equation" r:id="rId8" imgW="279360" imgH="241200" progId="Equation.DSMT4">
                  <p:embed/>
                </p:oleObj>
              </mc:Choice>
              <mc:Fallback>
                <p:oleObj name="Equation" r:id="rId8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6142208"/>
                        <a:ext cx="360041" cy="311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8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660232" y="4581128"/>
            <a:ext cx="1928813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5479" name="Object 13"/>
          <p:cNvGraphicFramePr>
            <a:graphicFrameLocks noChangeAspect="1"/>
          </p:cNvGraphicFramePr>
          <p:nvPr/>
        </p:nvGraphicFramePr>
        <p:xfrm>
          <a:off x="7524328" y="6093296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30" name="Equation" r:id="rId11" imgW="266400" imgH="241200" progId="Equation.DSMT4">
                  <p:embed/>
                </p:oleObj>
              </mc:Choice>
              <mc:Fallback>
                <p:oleObj name="Equation" r:id="rId11" imgW="26640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6093296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：作下列刚架的内力图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作弯矩图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66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19872" y="2348880"/>
            <a:ext cx="2333625" cy="190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3635896" y="4293096"/>
          <a:ext cx="185102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67" name="Equation" r:id="rId6" imgW="1434960" imgH="291960" progId="Equation.DSMT4">
                  <p:embed/>
                </p:oleObj>
              </mc:Choice>
              <mc:Fallback>
                <p:oleObj name="Equation" r:id="rId6" imgW="1434960" imgH="2919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4293096"/>
                        <a:ext cx="1851025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60232" y="2564904"/>
            <a:ext cx="1928813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6500" name="Object 13"/>
          <p:cNvGraphicFramePr>
            <a:graphicFrameLocks noChangeAspect="1"/>
          </p:cNvGraphicFramePr>
          <p:nvPr/>
        </p:nvGraphicFramePr>
        <p:xfrm>
          <a:off x="7524328" y="4293096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68" name="Equation" r:id="rId9" imgW="266400" imgH="241200" progId="Equation.DSMT4">
                  <p:embed/>
                </p:oleObj>
              </mc:Choice>
              <mc:Fallback>
                <p:oleObj name="Equation" r:id="rId9" imgW="26640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4293096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1510481" y="4519414"/>
          <a:ext cx="7237983" cy="1197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69" name="Equation" r:id="rId11" imgW="6375240" imgH="1054080" progId="Equation.DSMT4">
                  <p:embed/>
                </p:oleObj>
              </mc:Choice>
              <mc:Fallback>
                <p:oleObj name="Equation" r:id="rId11" imgW="6375240" imgH="10540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481" y="4519414"/>
                        <a:ext cx="7237983" cy="11977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：作下列刚架的内力图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作弯矩图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03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19872" y="2348880"/>
            <a:ext cx="2333625" cy="190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4427984" y="4125984"/>
          <a:ext cx="360041" cy="31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04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4125984"/>
                        <a:ext cx="360041" cy="311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60232" y="2564904"/>
            <a:ext cx="1928813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6500" name="Object 13"/>
          <p:cNvGraphicFramePr>
            <a:graphicFrameLocks noChangeAspect="1"/>
          </p:cNvGraphicFramePr>
          <p:nvPr/>
        </p:nvGraphicFramePr>
        <p:xfrm>
          <a:off x="7524750" y="4076601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05" name="Equation" r:id="rId9" imgW="266400" imgH="241200" progId="Equation.DSMT4">
                  <p:embed/>
                </p:oleObj>
              </mc:Choice>
              <mc:Fallback>
                <p:oleObj name="Equation" r:id="rId9" imgW="26640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076601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1510481" y="4519414"/>
          <a:ext cx="7237983" cy="1197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06" name="Equation" r:id="rId11" imgW="6375240" imgH="1054080" progId="Equation.DSMT4">
                  <p:embed/>
                </p:oleObj>
              </mc:Choice>
              <mc:Fallback>
                <p:oleObj name="Equation" r:id="rId11" imgW="6375240" imgH="10540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481" y="4519414"/>
                        <a:ext cx="7237983" cy="11977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4" name="Object 8"/>
          <p:cNvGraphicFramePr>
            <a:graphicFrameLocks noChangeAspect="1"/>
          </p:cNvGraphicFramePr>
          <p:nvPr/>
        </p:nvGraphicFramePr>
        <p:xfrm>
          <a:off x="1547664" y="5830888"/>
          <a:ext cx="5816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07" name="Equation" r:id="rId13" imgW="5105160" imgH="545760" progId="Equation.DSMT4">
                  <p:embed/>
                </p:oleObj>
              </mc:Choice>
              <mc:Fallback>
                <p:oleObj name="Equation" r:id="rId13" imgW="5105160" imgH="5457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5830888"/>
                        <a:ext cx="58166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：作下列刚架的内力图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作弯矩图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14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19872" y="2348880"/>
            <a:ext cx="2333625" cy="190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4427984" y="4125984"/>
          <a:ext cx="360041" cy="31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15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4125984"/>
                        <a:ext cx="360041" cy="311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60232" y="2564904"/>
            <a:ext cx="1928813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6500" name="Object 13"/>
          <p:cNvGraphicFramePr>
            <a:graphicFrameLocks noChangeAspect="1"/>
          </p:cNvGraphicFramePr>
          <p:nvPr/>
        </p:nvGraphicFramePr>
        <p:xfrm>
          <a:off x="7524750" y="4076601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16" name="Equation" r:id="rId9" imgW="266400" imgH="241200" progId="Equation.DSMT4">
                  <p:embed/>
                </p:oleObj>
              </mc:Choice>
              <mc:Fallback>
                <p:oleObj name="Equation" r:id="rId9" imgW="26640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076601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1331640" y="4509120"/>
          <a:ext cx="1785937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17" name="Equation" r:id="rId11" imgW="1574640" imgH="1054080" progId="Equation.DSMT4">
                  <p:embed/>
                </p:oleObj>
              </mc:Choice>
              <mc:Fallback>
                <p:oleObj name="Equation" r:id="rId11" imgW="1574640" imgH="10540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509120"/>
                        <a:ext cx="1785937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：作下列刚架的内力图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作弯矩图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927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19872" y="2348880"/>
            <a:ext cx="2333625" cy="190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4427984" y="4125984"/>
          <a:ext cx="360041" cy="31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928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4125984"/>
                        <a:ext cx="360041" cy="311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60232" y="2564904"/>
            <a:ext cx="1928813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6500" name="Object 13"/>
          <p:cNvGraphicFramePr>
            <a:graphicFrameLocks noChangeAspect="1"/>
          </p:cNvGraphicFramePr>
          <p:nvPr/>
        </p:nvGraphicFramePr>
        <p:xfrm>
          <a:off x="7524750" y="4076601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929" name="Equation" r:id="rId9" imgW="266400" imgH="241200" progId="Equation.DSMT4">
                  <p:embed/>
                </p:oleObj>
              </mc:Choice>
              <mc:Fallback>
                <p:oleObj name="Equation" r:id="rId9" imgW="26640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076601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1331640" y="4509120"/>
          <a:ext cx="1785937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930" name="Equation" r:id="rId11" imgW="1574640" imgH="1054080" progId="Equation.DSMT4">
                  <p:embed/>
                </p:oleObj>
              </mc:Choice>
              <mc:Fallback>
                <p:oleObj name="Equation" r:id="rId11" imgW="1574640" imgH="10540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509120"/>
                        <a:ext cx="1785937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8" name="Object 3"/>
          <p:cNvGraphicFramePr>
            <a:graphicFrameLocks noChangeAspect="1"/>
          </p:cNvGraphicFramePr>
          <p:nvPr/>
        </p:nvGraphicFramePr>
        <p:xfrm>
          <a:off x="2854082" y="5782147"/>
          <a:ext cx="271462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931" name="Equation" r:id="rId13" imgW="1968480" imgH="241200" progId="Equation.DSMT4">
                  <p:embed/>
                </p:oleObj>
              </mc:Choice>
              <mc:Fallback>
                <p:oleObj name="Equation" r:id="rId13" imgW="196848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082" y="5782147"/>
                        <a:ext cx="2714625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：作下列刚架的内力图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作弯矩图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83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83968" y="1412776"/>
            <a:ext cx="2333625" cy="190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5307483" y="3189880"/>
          <a:ext cx="360041" cy="31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84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483" y="3189880"/>
                        <a:ext cx="360041" cy="311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4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91659" y="1628800"/>
            <a:ext cx="1928813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6500" name="Object 13"/>
          <p:cNvGraphicFramePr>
            <a:graphicFrameLocks noChangeAspect="1"/>
          </p:cNvGraphicFramePr>
          <p:nvPr/>
        </p:nvGraphicFramePr>
        <p:xfrm>
          <a:off x="7755904" y="3140497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85" name="Equation" r:id="rId9" imgW="266400" imgH="241200" progId="Equation.DSMT4">
                  <p:embed/>
                </p:oleObj>
              </mc:Choice>
              <mc:Fallback>
                <p:oleObj name="Equation" r:id="rId9" imgW="26640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5904" y="3140497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8" name="Object 3"/>
          <p:cNvGraphicFramePr>
            <a:graphicFrameLocks noChangeAspect="1"/>
          </p:cNvGraphicFramePr>
          <p:nvPr/>
        </p:nvGraphicFramePr>
        <p:xfrm>
          <a:off x="1331640" y="4941168"/>
          <a:ext cx="17335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86" name="Equation" r:id="rId11" imgW="1257120" imgH="241200" progId="Equation.DSMT4">
                  <p:embed/>
                </p:oleObj>
              </mc:Choice>
              <mc:Fallback>
                <p:oleObj name="Equation" r:id="rId11" imgW="125712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941168"/>
                        <a:ext cx="17335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1624" name="Picture 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364088" y="3933056"/>
            <a:ext cx="200977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1625" name="Object 14"/>
          <p:cNvGraphicFramePr>
            <a:graphicFrameLocks noChangeAspect="1"/>
          </p:cNvGraphicFramePr>
          <p:nvPr/>
        </p:nvGraphicFramePr>
        <p:xfrm>
          <a:off x="1331640" y="5661248"/>
          <a:ext cx="149066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87" name="Equation" r:id="rId14" imgW="1282680" imgH="914400" progId="Equation.DSMT4">
                  <p:embed/>
                </p:oleObj>
              </mc:Choice>
              <mc:Fallback>
                <p:oleObj name="Equation" r:id="rId14" imgW="1282680" imgH="914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661248"/>
                        <a:ext cx="1490663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6" name="Object 13"/>
          <p:cNvGraphicFramePr>
            <a:graphicFrameLocks noChangeAspect="1"/>
          </p:cNvGraphicFramePr>
          <p:nvPr/>
        </p:nvGraphicFramePr>
        <p:xfrm>
          <a:off x="6188075" y="5661248"/>
          <a:ext cx="29368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88" name="Equation" r:id="rId16" imgW="228600" imgH="177480" progId="Equation.DSMT4">
                  <p:embed/>
                </p:oleObj>
              </mc:Choice>
              <mc:Fallback>
                <p:oleObj name="Equation" r:id="rId16" imgW="228600" imgH="1774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075" y="5661248"/>
                        <a:ext cx="293688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：作下列刚架的内力图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作弯矩图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474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8" name="Object 3"/>
          <p:cNvGraphicFramePr>
            <a:graphicFrameLocks noChangeAspect="1"/>
          </p:cNvGraphicFramePr>
          <p:nvPr/>
        </p:nvGraphicFramePr>
        <p:xfrm>
          <a:off x="1331640" y="4941168"/>
          <a:ext cx="17335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475" name="Equation" r:id="rId5" imgW="1257120" imgH="241200" progId="Equation.DSMT4">
                  <p:embed/>
                </p:oleObj>
              </mc:Choice>
              <mc:Fallback>
                <p:oleObj name="Equation" r:id="rId5" imgW="125712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941168"/>
                        <a:ext cx="17335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1624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88224" y="2071302"/>
            <a:ext cx="200977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1625" name="Object 14"/>
          <p:cNvGraphicFramePr>
            <a:graphicFrameLocks noChangeAspect="1"/>
          </p:cNvGraphicFramePr>
          <p:nvPr/>
        </p:nvGraphicFramePr>
        <p:xfrm>
          <a:off x="1331640" y="5661248"/>
          <a:ext cx="149066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476" name="Equation" r:id="rId8" imgW="1282680" imgH="914400" progId="Equation.DSMT4">
                  <p:embed/>
                </p:oleObj>
              </mc:Choice>
              <mc:Fallback>
                <p:oleObj name="Equation" r:id="rId8" imgW="1282680" imgH="914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661248"/>
                        <a:ext cx="1490663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6" name="Object 13"/>
          <p:cNvGraphicFramePr>
            <a:graphicFrameLocks noChangeAspect="1"/>
          </p:cNvGraphicFramePr>
          <p:nvPr/>
        </p:nvGraphicFramePr>
        <p:xfrm>
          <a:off x="7412112" y="3816337"/>
          <a:ext cx="293688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477" name="Equation" r:id="rId10" imgW="228600" imgH="177480" progId="Equation.DSMT4">
                  <p:embed/>
                </p:oleObj>
              </mc:Choice>
              <mc:Fallback>
                <p:oleObj name="Equation" r:id="rId10" imgW="228600" imgH="177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112" y="3816337"/>
                        <a:ext cx="293688" cy="230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1627" name="Picture 1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139952" y="4103141"/>
            <a:ext cx="2066925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628" name="Picture 1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377309" y="4469854"/>
            <a:ext cx="2443163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1629" name="Object 13"/>
          <p:cNvGraphicFramePr>
            <a:graphicFrameLocks noChangeAspect="1"/>
          </p:cNvGraphicFramePr>
          <p:nvPr/>
        </p:nvGraphicFramePr>
        <p:xfrm>
          <a:off x="5004048" y="6182444"/>
          <a:ext cx="2936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478" name="Equation" r:id="rId14" imgW="228600" imgH="266400" progId="Equation.DSMT4">
                  <p:embed/>
                </p:oleObj>
              </mc:Choice>
              <mc:Fallback>
                <p:oleObj name="Equation" r:id="rId14" imgW="228600" imgH="266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6182444"/>
                        <a:ext cx="293687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0" name="Object 14"/>
          <p:cNvGraphicFramePr>
            <a:graphicFrameLocks noChangeAspect="1"/>
          </p:cNvGraphicFramePr>
          <p:nvPr/>
        </p:nvGraphicFramePr>
        <p:xfrm>
          <a:off x="7452320" y="6214194"/>
          <a:ext cx="2952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479" name="Equation" r:id="rId16" imgW="228600" imgH="241200" progId="Equation.DSMT4">
                  <p:embed/>
                </p:oleObj>
              </mc:Choice>
              <mc:Fallback>
                <p:oleObj name="Equation" r:id="rId16" imgW="228600" imgH="2412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6214194"/>
                        <a:ext cx="29527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4067944" y="1988840"/>
            <a:ext cx="213360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：作下列排架的内力图</a:t>
            </a:r>
            <a:endParaRPr lang="en-US" altLang="zh-CN"/>
          </a:p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300192" y="2348880"/>
            <a:ext cx="110799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刚度参数</a:t>
            </a:r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r>
              <a:rPr lang="zh-CN" altLang="en-US" b="1"/>
              <a:t>载荷</a:t>
            </a:r>
          </a:p>
        </p:txBody>
      </p:sp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6470153" y="2736775"/>
          <a:ext cx="1846263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04" name="Equation" r:id="rId3" imgW="1434960" imgH="1155600" progId="Equation.DSMT4">
                  <p:embed/>
                </p:oleObj>
              </mc:Choice>
              <mc:Fallback>
                <p:oleObj name="Equation" r:id="rId3" imgW="1434960" imgH="1155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0153" y="2736775"/>
                        <a:ext cx="1846263" cy="148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Object 7"/>
          <p:cNvGraphicFramePr>
            <a:graphicFrameLocks noChangeAspect="1"/>
          </p:cNvGraphicFramePr>
          <p:nvPr/>
        </p:nvGraphicFramePr>
        <p:xfrm>
          <a:off x="6516216" y="4653136"/>
          <a:ext cx="1698625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05" name="Equation" r:id="rId5" imgW="1320480" imgH="1054080" progId="Equation.DSMT4">
                  <p:embed/>
                </p:oleObj>
              </mc:Choice>
              <mc:Fallback>
                <p:oleObj name="Equation" r:id="rId5" imgW="1320480" imgH="10540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4653136"/>
                        <a:ext cx="1698625" cy="1352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3673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15616" y="2564904"/>
            <a:ext cx="4909185" cy="3023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：作下列排架的内力图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4208" y="602128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1412057" y="3140968"/>
          <a:ext cx="26558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10" name="Equation" r:id="rId3" imgW="2031840" imgH="520560" progId="Equation.DSMT4">
                  <p:embed/>
                </p:oleObj>
              </mc:Choice>
              <mc:Fallback>
                <p:oleObj name="Equation" r:id="rId3" imgW="2031840" imgH="5205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057" y="3140968"/>
                        <a:ext cx="2655887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469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88024" y="1484784"/>
            <a:ext cx="3681889" cy="226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469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66580" y="4033326"/>
            <a:ext cx="3321844" cy="1915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：作下列排架的内力图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若杆件受到竖直方向的载荷呢？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4208" y="602128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1412057" y="3140968"/>
          <a:ext cx="26558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31" name="Equation" r:id="rId3" imgW="2031840" imgH="520560" progId="Equation.DSMT4">
                  <p:embed/>
                </p:oleObj>
              </mc:Choice>
              <mc:Fallback>
                <p:oleObj name="Equation" r:id="rId3" imgW="203184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057" y="3140968"/>
                        <a:ext cx="2655887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571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66580" y="1475328"/>
            <a:ext cx="3321844" cy="1881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1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66580" y="4037612"/>
            <a:ext cx="3321844" cy="1911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：作下列排架的内力图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若杆件受到竖直方向的载荷呢？</a:t>
            </a:r>
            <a:endParaRPr lang="en-US" altLang="zh-CN">
              <a:solidFill>
                <a:srgbClr val="0070C0"/>
              </a:solidFill>
            </a:endParaRPr>
          </a:p>
          <a:p>
            <a:pPr lvl="3"/>
            <a:r>
              <a:rPr lang="zh-CN" altLang="en-US">
                <a:solidFill>
                  <a:srgbClr val="0070C0"/>
                </a:solidFill>
              </a:rPr>
              <a:t>真正切断一根杆：释放弯矩、剪力</a:t>
            </a:r>
            <a:endParaRPr lang="en-US" altLang="zh-CN">
              <a:solidFill>
                <a:srgbClr val="0070C0"/>
              </a:solidFill>
            </a:endParaRPr>
          </a:p>
          <a:p>
            <a:pPr lvl="3">
              <a:buNone/>
            </a:pPr>
            <a:r>
              <a:rPr lang="en-US" altLang="zh-CN">
                <a:solidFill>
                  <a:srgbClr val="0070C0"/>
                </a:solidFill>
              </a:rPr>
              <a:t>	</a:t>
            </a:r>
            <a:r>
              <a:rPr lang="zh-CN" altLang="en-US">
                <a:solidFill>
                  <a:srgbClr val="0070C0"/>
                </a:solidFill>
              </a:rPr>
              <a:t>和轴力相应的三个约束。</a:t>
            </a:r>
            <a:endParaRPr lang="en-US" altLang="zh-CN">
              <a:solidFill>
                <a:srgbClr val="0070C0"/>
              </a:solidFill>
            </a:endParaRPr>
          </a:p>
          <a:p>
            <a:pPr lvl="3"/>
            <a:r>
              <a:rPr lang="zh-CN" altLang="en-US">
                <a:solidFill>
                  <a:srgbClr val="FF0000"/>
                </a:solidFill>
              </a:rPr>
              <a:t>“切断链杆”：释放轴向约束。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4208" y="602128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1412057" y="3140968"/>
          <a:ext cx="26558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3" name="Equation" r:id="rId3" imgW="2031840" imgH="520560" progId="Equation.DSMT4">
                  <p:embed/>
                </p:oleObj>
              </mc:Choice>
              <mc:Fallback>
                <p:oleObj name="Equation" r:id="rId3" imgW="203184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057" y="3140968"/>
                        <a:ext cx="2655887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571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76056" y="1844824"/>
            <a:ext cx="3321844" cy="1911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0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12160" y="4437112"/>
            <a:ext cx="2241709" cy="1367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椭圆 9"/>
          <p:cNvSpPr/>
          <p:nvPr/>
        </p:nvSpPr>
        <p:spPr bwMode="auto">
          <a:xfrm>
            <a:off x="5724128" y="2204864"/>
            <a:ext cx="576064" cy="57606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cxnSp>
        <p:nvCxnSpPr>
          <p:cNvPr id="14" name="形状 13"/>
          <p:cNvCxnSpPr>
            <a:stCxn id="10" idx="4"/>
          </p:cNvCxnSpPr>
          <p:nvPr/>
        </p:nvCxnSpPr>
        <p:spPr bwMode="auto">
          <a:xfrm rot="16200000" flipH="1">
            <a:off x="5436096" y="3356992"/>
            <a:ext cx="1584176" cy="432048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：作下列排架的内力图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84168" y="342900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1331640" y="3109590"/>
          <a:ext cx="26558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73" name="Equation" r:id="rId3" imgW="2031840" imgH="520560" progId="Equation.DSMT4">
                  <p:embed/>
                </p:oleObj>
              </mc:Choice>
              <mc:Fallback>
                <p:oleObj name="Equation" r:id="rId3" imgW="203184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09590"/>
                        <a:ext cx="2655887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0" name="Object 13"/>
          <p:cNvGraphicFramePr>
            <a:graphicFrameLocks noChangeAspect="1"/>
          </p:cNvGraphicFramePr>
          <p:nvPr/>
        </p:nvGraphicFramePr>
        <p:xfrm>
          <a:off x="6515894" y="5782146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74" name="Equation" r:id="rId5" imgW="279360" imgH="241200" progId="Equation.DSMT4">
                  <p:embed/>
                </p:oleObj>
              </mc:Choice>
              <mc:Fallback>
                <p:oleObj name="Equation" r:id="rId5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894" y="5782146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860032" y="1513046"/>
            <a:ext cx="3321844" cy="1915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743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60032" y="3861048"/>
            <a:ext cx="3630454" cy="1881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：作下列排架的内力图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1331640" y="3109590"/>
          <a:ext cx="26558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20" name="Equation" r:id="rId3" imgW="2031840" imgH="520560" progId="Equation.DSMT4">
                  <p:embed/>
                </p:oleObj>
              </mc:Choice>
              <mc:Fallback>
                <p:oleObj name="Equation" r:id="rId3" imgW="203184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09590"/>
                        <a:ext cx="2655887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20072" y="1763360"/>
            <a:ext cx="3630454" cy="1881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6740" name="Object 13"/>
          <p:cNvGraphicFramePr>
            <a:graphicFrameLocks noChangeAspect="1"/>
          </p:cNvGraphicFramePr>
          <p:nvPr/>
        </p:nvGraphicFramePr>
        <p:xfrm>
          <a:off x="5004048" y="1844824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21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844824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：作下列排架的内力图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1331640" y="3109590"/>
          <a:ext cx="26558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61" name="Equation" r:id="rId3" imgW="2031840" imgH="520560" progId="Equation.DSMT4">
                  <p:embed/>
                </p:oleObj>
              </mc:Choice>
              <mc:Fallback>
                <p:oleObj name="Equation" r:id="rId3" imgW="203184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09590"/>
                        <a:ext cx="2655887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20072" y="1763360"/>
            <a:ext cx="3630454" cy="1881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6740" name="Object 13"/>
          <p:cNvGraphicFramePr>
            <a:graphicFrameLocks noChangeAspect="1"/>
          </p:cNvGraphicFramePr>
          <p:nvPr/>
        </p:nvGraphicFramePr>
        <p:xfrm>
          <a:off x="5004048" y="1844824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62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844824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981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71600" y="4221088"/>
            <a:ext cx="3613309" cy="2087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8789" name="Object 13"/>
          <p:cNvGraphicFramePr>
            <a:graphicFrameLocks noChangeAspect="1"/>
          </p:cNvGraphicFramePr>
          <p:nvPr/>
        </p:nvGraphicFramePr>
        <p:xfrm>
          <a:off x="1115616" y="4293096"/>
          <a:ext cx="3429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63" name="Equation" r:id="rId9" imgW="266400" imgH="241200" progId="Equation.DSMT4">
                  <p:embed/>
                </p:oleObj>
              </mc:Choice>
              <mc:Fallback>
                <p:oleObj name="Equation" r:id="rId9" imgW="26640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293096"/>
                        <a:ext cx="3429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：作下列排架的内力图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1331640" y="3109590"/>
          <a:ext cx="26558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02" name="Equation" r:id="rId3" imgW="2031840" imgH="520560" progId="Equation.DSMT4">
                  <p:embed/>
                </p:oleObj>
              </mc:Choice>
              <mc:Fallback>
                <p:oleObj name="Equation" r:id="rId3" imgW="203184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09590"/>
                        <a:ext cx="2655887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71600" y="4221088"/>
            <a:ext cx="3613309" cy="2087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8789" name="Object 13"/>
          <p:cNvGraphicFramePr>
            <a:graphicFrameLocks noChangeAspect="1"/>
          </p:cNvGraphicFramePr>
          <p:nvPr/>
        </p:nvGraphicFramePr>
        <p:xfrm>
          <a:off x="1043608" y="4293096"/>
          <a:ext cx="3429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03" name="Equation" r:id="rId6" imgW="266400" imgH="241200" progId="Equation.DSMT4">
                  <p:embed/>
                </p:oleObj>
              </mc:Choice>
              <mc:Fallback>
                <p:oleObj name="Equation" r:id="rId6" imgW="26640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293096"/>
                        <a:ext cx="3429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083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184874" y="4149080"/>
            <a:ext cx="3707606" cy="2087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8791" name="Object 13"/>
          <p:cNvGraphicFramePr>
            <a:graphicFrameLocks noChangeAspect="1"/>
          </p:cNvGraphicFramePr>
          <p:nvPr/>
        </p:nvGraphicFramePr>
        <p:xfrm>
          <a:off x="5075733" y="4269978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04" name="Equation" r:id="rId9" imgW="279360" imgH="241200" progId="Equation.DSMT4">
                  <p:embed/>
                </p:oleObj>
              </mc:Choice>
              <mc:Fallback>
                <p:oleObj name="Equation" r:id="rId9" imgW="27936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733" y="4269978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220072" y="1763360"/>
            <a:ext cx="3630454" cy="1881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6740" name="Object 13"/>
          <p:cNvGraphicFramePr>
            <a:graphicFrameLocks noChangeAspect="1"/>
          </p:cNvGraphicFramePr>
          <p:nvPr/>
        </p:nvGraphicFramePr>
        <p:xfrm>
          <a:off x="5004048" y="1844824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05" name="Equation" r:id="rId12" imgW="279360" imgH="241200" progId="Equation.DSMT4">
                  <p:embed/>
                </p:oleObj>
              </mc:Choice>
              <mc:Fallback>
                <p:oleObj name="Equation" r:id="rId12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844824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写出基本方程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21864" name="Object 8"/>
          <p:cNvGraphicFramePr>
            <a:graphicFrameLocks noChangeAspect="1"/>
          </p:cNvGraphicFramePr>
          <p:nvPr/>
        </p:nvGraphicFramePr>
        <p:xfrm>
          <a:off x="1115616" y="4278287"/>
          <a:ext cx="26416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29" name="Equation" r:id="rId3" imgW="2654280" imgH="952200" progId="Equation.DSMT4">
                  <p:embed/>
                </p:oleObj>
              </mc:Choice>
              <mc:Fallback>
                <p:oleObj name="Equation" r:id="rId3" imgW="2654280" imgH="952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278287"/>
                        <a:ext cx="2641600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339752" y="5445224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注意有效数字！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1115616" y="1772816"/>
            <a:ext cx="3630454" cy="1881664"/>
            <a:chOff x="1115616" y="1772816"/>
            <a:chExt cx="3630454" cy="1881664"/>
          </a:xfrm>
        </p:grpSpPr>
        <p:pic>
          <p:nvPicPr>
            <p:cNvPr id="21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15616" y="1772816"/>
              <a:ext cx="3630454" cy="1881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16740" name="Object 13"/>
            <p:cNvGraphicFramePr>
              <a:graphicFrameLocks noChangeAspect="1"/>
            </p:cNvGraphicFramePr>
            <p:nvPr/>
          </p:nvGraphicFramePr>
          <p:xfrm>
            <a:off x="1763688" y="1916832"/>
            <a:ext cx="360362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730" name="Equation" r:id="rId6" imgW="279360" imgH="241200" progId="Equation.DSMT4">
                    <p:embed/>
                  </p:oleObj>
                </mc:Choice>
                <mc:Fallback>
                  <p:oleObj name="Equation" r:id="rId6" imgW="279360" imgH="2412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1916832"/>
                          <a:ext cx="360362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5004048" y="1772816"/>
            <a:ext cx="3613309" cy="2087404"/>
            <a:chOff x="5004048" y="1772816"/>
            <a:chExt cx="3613309" cy="2087404"/>
          </a:xfrm>
        </p:grpSpPr>
        <p:pic>
          <p:nvPicPr>
            <p:cNvPr id="23" name="Picture 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004048" y="1772816"/>
              <a:ext cx="3613309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18789" name="Object 13"/>
            <p:cNvGraphicFramePr>
              <a:graphicFrameLocks noChangeAspect="1"/>
            </p:cNvGraphicFramePr>
            <p:nvPr/>
          </p:nvGraphicFramePr>
          <p:xfrm>
            <a:off x="5940152" y="1844824"/>
            <a:ext cx="342900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731" name="Equation" r:id="rId9" imgW="266400" imgH="241200" progId="Equation.DSMT4">
                    <p:embed/>
                  </p:oleObj>
                </mc:Choice>
                <mc:Fallback>
                  <p:oleObj name="Equation" r:id="rId9" imgW="266400" imgH="24120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152" y="1844824"/>
                          <a:ext cx="342900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5292080" y="4221916"/>
            <a:ext cx="3707606" cy="2087404"/>
            <a:chOff x="5292080" y="4221916"/>
            <a:chExt cx="3707606" cy="2087404"/>
          </a:xfrm>
        </p:grpSpPr>
        <p:pic>
          <p:nvPicPr>
            <p:cNvPr id="25" name="Picture 6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5292080" y="4221916"/>
              <a:ext cx="3707606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5" name="Object 13"/>
            <p:cNvGraphicFramePr>
              <a:graphicFrameLocks noChangeAspect="1"/>
            </p:cNvGraphicFramePr>
            <p:nvPr/>
          </p:nvGraphicFramePr>
          <p:xfrm>
            <a:off x="6018213" y="4286210"/>
            <a:ext cx="360363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732" name="Equation" r:id="rId12" imgW="279360" imgH="241200" progId="Equation.DSMT4">
                    <p:embed/>
                  </p:oleObj>
                </mc:Choice>
                <mc:Fallback>
                  <p:oleObj name="Equation" r:id="rId12" imgW="279360" imgH="24120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8213" y="4286210"/>
                          <a:ext cx="360363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写出基本方程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21864" name="Object 8"/>
          <p:cNvGraphicFramePr>
            <a:graphicFrameLocks noChangeAspect="1"/>
          </p:cNvGraphicFramePr>
          <p:nvPr/>
        </p:nvGraphicFramePr>
        <p:xfrm>
          <a:off x="1081088" y="4241800"/>
          <a:ext cx="3440112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4" name="Equation" r:id="rId3" imgW="3454200" imgH="1942920" progId="Equation.DSMT4">
                  <p:embed/>
                </p:oleObj>
              </mc:Choice>
              <mc:Fallback>
                <p:oleObj name="Equation" r:id="rId3" imgW="3454200" imgH="19429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4241800"/>
                        <a:ext cx="3440112" cy="193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1115616" y="1772816"/>
            <a:ext cx="3630454" cy="1881664"/>
            <a:chOff x="1115616" y="1772816"/>
            <a:chExt cx="3630454" cy="1881664"/>
          </a:xfrm>
        </p:grpSpPr>
        <p:pic>
          <p:nvPicPr>
            <p:cNvPr id="21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15616" y="1772816"/>
              <a:ext cx="3630454" cy="1881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2" name="Object 13"/>
            <p:cNvGraphicFramePr>
              <a:graphicFrameLocks noChangeAspect="1"/>
            </p:cNvGraphicFramePr>
            <p:nvPr/>
          </p:nvGraphicFramePr>
          <p:xfrm>
            <a:off x="1763688" y="1916832"/>
            <a:ext cx="360362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755" name="Equation" r:id="rId6" imgW="279360" imgH="241200" progId="Equation.DSMT4">
                    <p:embed/>
                  </p:oleObj>
                </mc:Choice>
                <mc:Fallback>
                  <p:oleObj name="Equation" r:id="rId6" imgW="279360" imgH="2412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1916832"/>
                          <a:ext cx="360362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5004048" y="1772816"/>
            <a:ext cx="3613309" cy="2087404"/>
            <a:chOff x="5004048" y="1772816"/>
            <a:chExt cx="3613309" cy="2087404"/>
          </a:xfrm>
        </p:grpSpPr>
        <p:pic>
          <p:nvPicPr>
            <p:cNvPr id="24" name="Picture 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004048" y="1772816"/>
              <a:ext cx="3613309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5" name="Object 13"/>
            <p:cNvGraphicFramePr>
              <a:graphicFrameLocks noChangeAspect="1"/>
            </p:cNvGraphicFramePr>
            <p:nvPr/>
          </p:nvGraphicFramePr>
          <p:xfrm>
            <a:off x="5940152" y="1844824"/>
            <a:ext cx="342900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756" name="Equation" r:id="rId9" imgW="266400" imgH="241200" progId="Equation.DSMT4">
                    <p:embed/>
                  </p:oleObj>
                </mc:Choice>
                <mc:Fallback>
                  <p:oleObj name="Equation" r:id="rId9" imgW="266400" imgH="24120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152" y="1844824"/>
                          <a:ext cx="342900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5292080" y="4221916"/>
            <a:ext cx="3707606" cy="2087404"/>
            <a:chOff x="5292080" y="4221916"/>
            <a:chExt cx="3707606" cy="2087404"/>
          </a:xfrm>
        </p:grpSpPr>
        <p:pic>
          <p:nvPicPr>
            <p:cNvPr id="27" name="Picture 6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5292080" y="4221916"/>
              <a:ext cx="3707606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8" name="Object 13"/>
            <p:cNvGraphicFramePr>
              <a:graphicFrameLocks noChangeAspect="1"/>
            </p:cNvGraphicFramePr>
            <p:nvPr/>
          </p:nvGraphicFramePr>
          <p:xfrm>
            <a:off x="6018213" y="4286210"/>
            <a:ext cx="360363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757" name="Equation" r:id="rId12" imgW="279360" imgH="241200" progId="Equation.DSMT4">
                    <p:embed/>
                  </p:oleObj>
                </mc:Choice>
                <mc:Fallback>
                  <p:oleObj name="Equation" r:id="rId12" imgW="279360" imgH="24120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8213" y="4286210"/>
                          <a:ext cx="360363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写出基本方程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24934" name="Object 8"/>
          <p:cNvGraphicFramePr>
            <a:graphicFrameLocks noChangeAspect="1"/>
          </p:cNvGraphicFramePr>
          <p:nvPr/>
        </p:nvGraphicFramePr>
        <p:xfrm>
          <a:off x="1042988" y="4271963"/>
          <a:ext cx="3786187" cy="232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03" name="Equation" r:id="rId3" imgW="3797280" imgH="2323800" progId="Equation.DSMT4">
                  <p:embed/>
                </p:oleObj>
              </mc:Choice>
              <mc:Fallback>
                <p:oleObj name="Equation" r:id="rId3" imgW="3797280" imgH="2323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71963"/>
                        <a:ext cx="3786187" cy="232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1115616" y="1772816"/>
            <a:ext cx="3630454" cy="1881664"/>
            <a:chOff x="1115616" y="1772816"/>
            <a:chExt cx="3630454" cy="1881664"/>
          </a:xfrm>
        </p:grpSpPr>
        <p:pic>
          <p:nvPicPr>
            <p:cNvPr id="20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15616" y="1772816"/>
              <a:ext cx="3630454" cy="1881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1" name="Object 13"/>
            <p:cNvGraphicFramePr>
              <a:graphicFrameLocks noChangeAspect="1"/>
            </p:cNvGraphicFramePr>
            <p:nvPr/>
          </p:nvGraphicFramePr>
          <p:xfrm>
            <a:off x="1763688" y="1916832"/>
            <a:ext cx="360362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04" name="Equation" r:id="rId6" imgW="279360" imgH="241200" progId="Equation.DSMT4">
                    <p:embed/>
                  </p:oleObj>
                </mc:Choice>
                <mc:Fallback>
                  <p:oleObj name="Equation" r:id="rId6" imgW="279360" imgH="2412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1916832"/>
                          <a:ext cx="360362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/>
          <p:nvPr/>
        </p:nvGrpSpPr>
        <p:grpSpPr>
          <a:xfrm>
            <a:off x="5004048" y="1772816"/>
            <a:ext cx="3613309" cy="2087404"/>
            <a:chOff x="5004048" y="1772816"/>
            <a:chExt cx="3613309" cy="2087404"/>
          </a:xfrm>
        </p:grpSpPr>
        <p:pic>
          <p:nvPicPr>
            <p:cNvPr id="23" name="Picture 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004048" y="1772816"/>
              <a:ext cx="3613309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4" name="Object 13"/>
            <p:cNvGraphicFramePr>
              <a:graphicFrameLocks noChangeAspect="1"/>
            </p:cNvGraphicFramePr>
            <p:nvPr/>
          </p:nvGraphicFramePr>
          <p:xfrm>
            <a:off x="5940152" y="1844824"/>
            <a:ext cx="342900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05" name="Equation" r:id="rId9" imgW="266400" imgH="241200" progId="Equation.DSMT4">
                    <p:embed/>
                  </p:oleObj>
                </mc:Choice>
                <mc:Fallback>
                  <p:oleObj name="Equation" r:id="rId9" imgW="266400" imgH="24120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152" y="1844824"/>
                          <a:ext cx="342900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5292080" y="4221916"/>
            <a:ext cx="3707606" cy="2087404"/>
            <a:chOff x="5292080" y="4221916"/>
            <a:chExt cx="3707606" cy="2087404"/>
          </a:xfrm>
        </p:grpSpPr>
        <p:pic>
          <p:nvPicPr>
            <p:cNvPr id="26" name="Picture 6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5292080" y="4221916"/>
              <a:ext cx="3707606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7" name="Object 13"/>
            <p:cNvGraphicFramePr>
              <a:graphicFrameLocks noChangeAspect="1"/>
            </p:cNvGraphicFramePr>
            <p:nvPr/>
          </p:nvGraphicFramePr>
          <p:xfrm>
            <a:off x="6018213" y="4286210"/>
            <a:ext cx="360363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06" name="Equation" r:id="rId12" imgW="279360" imgH="241200" progId="Equation.DSMT4">
                    <p:embed/>
                  </p:oleObj>
                </mc:Choice>
                <mc:Fallback>
                  <p:oleObj name="Equation" r:id="rId12" imgW="279360" imgH="24120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8213" y="4286210"/>
                          <a:ext cx="360363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写出基本方程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24934" name="Object 8"/>
          <p:cNvGraphicFramePr>
            <a:graphicFrameLocks noChangeAspect="1"/>
          </p:cNvGraphicFramePr>
          <p:nvPr/>
        </p:nvGraphicFramePr>
        <p:xfrm>
          <a:off x="1043608" y="4237633"/>
          <a:ext cx="4025900" cy="207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26" name="Equation" r:id="rId3" imgW="4038480" imgH="2070000" progId="Equation.DSMT4">
                  <p:embed/>
                </p:oleObj>
              </mc:Choice>
              <mc:Fallback>
                <p:oleObj name="Equation" r:id="rId3" imgW="4038480" imgH="2070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237633"/>
                        <a:ext cx="4025900" cy="207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1115616" y="1772816"/>
            <a:ext cx="3630454" cy="1881664"/>
            <a:chOff x="1115616" y="1772816"/>
            <a:chExt cx="3630454" cy="1881664"/>
          </a:xfrm>
        </p:grpSpPr>
        <p:pic>
          <p:nvPicPr>
            <p:cNvPr id="20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15616" y="1772816"/>
              <a:ext cx="3630454" cy="1881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1" name="Object 13"/>
            <p:cNvGraphicFramePr>
              <a:graphicFrameLocks noChangeAspect="1"/>
            </p:cNvGraphicFramePr>
            <p:nvPr/>
          </p:nvGraphicFramePr>
          <p:xfrm>
            <a:off x="1763688" y="1916832"/>
            <a:ext cx="360362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827" name="Equation" r:id="rId6" imgW="279360" imgH="241200" progId="Equation.DSMT4">
                    <p:embed/>
                  </p:oleObj>
                </mc:Choice>
                <mc:Fallback>
                  <p:oleObj name="Equation" r:id="rId6" imgW="279360" imgH="2412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1916832"/>
                          <a:ext cx="360362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/>
          <p:nvPr/>
        </p:nvGrpSpPr>
        <p:grpSpPr>
          <a:xfrm>
            <a:off x="5004048" y="1772816"/>
            <a:ext cx="3613309" cy="2087404"/>
            <a:chOff x="5004048" y="1772816"/>
            <a:chExt cx="3613309" cy="2087404"/>
          </a:xfrm>
        </p:grpSpPr>
        <p:pic>
          <p:nvPicPr>
            <p:cNvPr id="23" name="Picture 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004048" y="1772816"/>
              <a:ext cx="3613309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4" name="Object 13"/>
            <p:cNvGraphicFramePr>
              <a:graphicFrameLocks noChangeAspect="1"/>
            </p:cNvGraphicFramePr>
            <p:nvPr/>
          </p:nvGraphicFramePr>
          <p:xfrm>
            <a:off x="5940152" y="1844824"/>
            <a:ext cx="342900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828" name="Equation" r:id="rId9" imgW="266400" imgH="241200" progId="Equation.DSMT4">
                    <p:embed/>
                  </p:oleObj>
                </mc:Choice>
                <mc:Fallback>
                  <p:oleObj name="Equation" r:id="rId9" imgW="266400" imgH="24120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152" y="1844824"/>
                          <a:ext cx="342900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5292080" y="4221916"/>
            <a:ext cx="3707606" cy="2087404"/>
            <a:chOff x="5292080" y="4221916"/>
            <a:chExt cx="3707606" cy="2087404"/>
          </a:xfrm>
        </p:grpSpPr>
        <p:pic>
          <p:nvPicPr>
            <p:cNvPr id="26" name="Picture 6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5292080" y="4221916"/>
              <a:ext cx="3707606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7" name="Object 13"/>
            <p:cNvGraphicFramePr>
              <a:graphicFrameLocks noChangeAspect="1"/>
            </p:cNvGraphicFramePr>
            <p:nvPr/>
          </p:nvGraphicFramePr>
          <p:xfrm>
            <a:off x="6018213" y="4286210"/>
            <a:ext cx="360363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829" name="Equation" r:id="rId12" imgW="279360" imgH="241200" progId="Equation.DSMT4">
                    <p:embed/>
                  </p:oleObj>
                </mc:Choice>
                <mc:Fallback>
                  <p:oleObj name="Equation" r:id="rId12" imgW="279360" imgH="24120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8213" y="4286210"/>
                          <a:ext cx="360363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写出基本方程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24934" name="Object 8"/>
          <p:cNvGraphicFramePr>
            <a:graphicFrameLocks noChangeAspect="1"/>
          </p:cNvGraphicFramePr>
          <p:nvPr/>
        </p:nvGraphicFramePr>
        <p:xfrm>
          <a:off x="1115616" y="4365104"/>
          <a:ext cx="3155950" cy="158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50" name="Equation" r:id="rId3" imgW="3162240" imgH="1587240" progId="Equation.DSMT4">
                  <p:embed/>
                </p:oleObj>
              </mc:Choice>
              <mc:Fallback>
                <p:oleObj name="Equation" r:id="rId3" imgW="3162240" imgH="1587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365104"/>
                        <a:ext cx="3155950" cy="1589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1115616" y="1772816"/>
            <a:ext cx="3630454" cy="1881664"/>
            <a:chOff x="1115616" y="1772816"/>
            <a:chExt cx="3630454" cy="1881664"/>
          </a:xfrm>
        </p:grpSpPr>
        <p:pic>
          <p:nvPicPr>
            <p:cNvPr id="20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15616" y="1772816"/>
              <a:ext cx="3630454" cy="1881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1" name="Object 13"/>
            <p:cNvGraphicFramePr>
              <a:graphicFrameLocks noChangeAspect="1"/>
            </p:cNvGraphicFramePr>
            <p:nvPr/>
          </p:nvGraphicFramePr>
          <p:xfrm>
            <a:off x="1763688" y="1916832"/>
            <a:ext cx="360362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51" name="Equation" r:id="rId6" imgW="279360" imgH="241200" progId="Equation.DSMT4">
                    <p:embed/>
                  </p:oleObj>
                </mc:Choice>
                <mc:Fallback>
                  <p:oleObj name="Equation" r:id="rId6" imgW="279360" imgH="2412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1916832"/>
                          <a:ext cx="360362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/>
          <p:nvPr/>
        </p:nvGrpSpPr>
        <p:grpSpPr>
          <a:xfrm>
            <a:off x="5004048" y="1772816"/>
            <a:ext cx="3613309" cy="2087404"/>
            <a:chOff x="5004048" y="1772816"/>
            <a:chExt cx="3613309" cy="2087404"/>
          </a:xfrm>
        </p:grpSpPr>
        <p:pic>
          <p:nvPicPr>
            <p:cNvPr id="23" name="Picture 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004048" y="1772816"/>
              <a:ext cx="3613309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4" name="Object 13"/>
            <p:cNvGraphicFramePr>
              <a:graphicFrameLocks noChangeAspect="1"/>
            </p:cNvGraphicFramePr>
            <p:nvPr/>
          </p:nvGraphicFramePr>
          <p:xfrm>
            <a:off x="5940152" y="1844824"/>
            <a:ext cx="342900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52" name="Equation" r:id="rId9" imgW="266400" imgH="241200" progId="Equation.DSMT4">
                    <p:embed/>
                  </p:oleObj>
                </mc:Choice>
                <mc:Fallback>
                  <p:oleObj name="Equation" r:id="rId9" imgW="266400" imgH="24120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152" y="1844824"/>
                          <a:ext cx="342900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5292080" y="4221916"/>
            <a:ext cx="3707606" cy="2087404"/>
            <a:chOff x="5292080" y="4221916"/>
            <a:chExt cx="3707606" cy="2087404"/>
          </a:xfrm>
        </p:grpSpPr>
        <p:pic>
          <p:nvPicPr>
            <p:cNvPr id="26" name="Picture 6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5292080" y="4221916"/>
              <a:ext cx="3707606" cy="2087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7" name="Object 13"/>
            <p:cNvGraphicFramePr>
              <a:graphicFrameLocks noChangeAspect="1"/>
            </p:cNvGraphicFramePr>
            <p:nvPr/>
          </p:nvGraphicFramePr>
          <p:xfrm>
            <a:off x="6018213" y="4286210"/>
            <a:ext cx="360363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53" name="Equation" r:id="rId12" imgW="279360" imgH="241200" progId="Equation.DSMT4">
                    <p:embed/>
                  </p:oleObj>
                </mc:Choice>
                <mc:Fallback>
                  <p:oleObj name="Equation" r:id="rId12" imgW="279360" imgH="24120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8213" y="4286210"/>
                          <a:ext cx="360363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1"/>
            <a:r>
              <a:rPr lang="zh-CN" altLang="en-US"/>
              <a:t>作弯矩图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en-US" altLang="zh-CN"/>
          </a:p>
        </p:txBody>
      </p:sp>
      <p:graphicFrame>
        <p:nvGraphicFramePr>
          <p:cNvPr id="124934" name="Object 8"/>
          <p:cNvGraphicFramePr>
            <a:graphicFrameLocks noChangeAspect="1"/>
          </p:cNvGraphicFramePr>
          <p:nvPr/>
        </p:nvGraphicFramePr>
        <p:xfrm>
          <a:off x="1450727" y="4569494"/>
          <a:ext cx="268922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6" name="Equation" r:id="rId3" imgW="2349360" imgH="825480" progId="Equation.DSMT4">
                  <p:embed/>
                </p:oleObj>
              </mc:Choice>
              <mc:Fallback>
                <p:oleObj name="Equation" r:id="rId3" imgW="2349360" imgH="825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727" y="4569494"/>
                        <a:ext cx="2689225" cy="94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6" name="Object 5"/>
          <p:cNvGraphicFramePr>
            <a:graphicFrameLocks noChangeAspect="1"/>
          </p:cNvGraphicFramePr>
          <p:nvPr/>
        </p:nvGraphicFramePr>
        <p:xfrm>
          <a:off x="1485528" y="3068960"/>
          <a:ext cx="24384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7" name="Equation" r:id="rId5" imgW="2120760" imgH="545760" progId="Equation.DSMT4">
                  <p:embed/>
                </p:oleObj>
              </mc:Choice>
              <mc:Fallback>
                <p:oleObj name="Equation" r:id="rId5" imgW="2120760" imgH="545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528" y="3068960"/>
                        <a:ext cx="2438400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7" name="Object 8"/>
          <p:cNvGraphicFramePr>
            <a:graphicFrameLocks noChangeAspect="1"/>
          </p:cNvGraphicFramePr>
          <p:nvPr/>
        </p:nvGraphicFramePr>
        <p:xfrm>
          <a:off x="1378272" y="5949280"/>
          <a:ext cx="2833688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8" name="Equation" r:id="rId7" imgW="2476440" imgH="241200" progId="Equation.DSMT4">
                  <p:embed/>
                </p:oleObj>
              </mc:Choice>
              <mc:Fallback>
                <p:oleObj name="Equation" r:id="rId7" imgW="247644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272" y="5949280"/>
                        <a:ext cx="2833688" cy="277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30676" y="417056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788024" y="2132856"/>
            <a:ext cx="3321844" cy="1915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1"/>
            <a:r>
              <a:rPr lang="zh-CN" altLang="en-US"/>
              <a:t>作弯矩图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/>
          </a:p>
        </p:txBody>
      </p:sp>
      <p:graphicFrame>
        <p:nvGraphicFramePr>
          <p:cNvPr id="128007" name="Object 8"/>
          <p:cNvGraphicFramePr>
            <a:graphicFrameLocks noChangeAspect="1"/>
          </p:cNvGraphicFramePr>
          <p:nvPr/>
        </p:nvGraphicFramePr>
        <p:xfrm>
          <a:off x="1331640" y="4581128"/>
          <a:ext cx="1425575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762" name="Equation" r:id="rId4" imgW="1193760" imgH="545760" progId="Equation.DSMT4">
                  <p:embed/>
                </p:oleObj>
              </mc:Choice>
              <mc:Fallback>
                <p:oleObj name="Equation" r:id="rId4" imgW="1193760" imgH="5457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581128"/>
                        <a:ext cx="1425575" cy="65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9" name="Object 14"/>
          <p:cNvGraphicFramePr>
            <a:graphicFrameLocks noChangeAspect="1"/>
          </p:cNvGraphicFramePr>
          <p:nvPr/>
        </p:nvGraphicFramePr>
        <p:xfrm>
          <a:off x="1331640" y="5949280"/>
          <a:ext cx="2125662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763" name="Equation" r:id="rId6" imgW="1828800" imgH="279360" progId="Equation.DSMT4">
                  <p:embed/>
                </p:oleObj>
              </mc:Choice>
              <mc:Fallback>
                <p:oleObj name="Equation" r:id="rId6" imgW="1828800" imgH="2793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949280"/>
                        <a:ext cx="2125662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131840" y="2031370"/>
            <a:ext cx="2583656" cy="149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381157" y="204110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/>
              <a:t>基本体系</a:t>
            </a:r>
          </a:p>
        </p:txBody>
      </p:sp>
      <p:pic>
        <p:nvPicPr>
          <p:cNvPr id="27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84168" y="2060848"/>
            <a:ext cx="2823686" cy="1463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6588224" y="2037730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764" name="Equation" r:id="rId10" imgW="279360" imgH="241200" progId="Equation.DSMT4">
                  <p:embed/>
                </p:oleObj>
              </mc:Choice>
              <mc:Fallback>
                <p:oleObj name="Equation" r:id="rId10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2037730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Picture 8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913777" y="4253736"/>
            <a:ext cx="2810351" cy="162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635896" y="4221088"/>
          <a:ext cx="317423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765" name="Equation" r:id="rId13" imgW="266400" imgH="241200" progId="Equation.DSMT4">
                  <p:embed/>
                </p:oleObj>
              </mc:Choice>
              <mc:Fallback>
                <p:oleObj name="Equation" r:id="rId13" imgW="26640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4221088"/>
                        <a:ext cx="317423" cy="2880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084168" y="4221088"/>
            <a:ext cx="2883694" cy="162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8" name="Object 13"/>
          <p:cNvGraphicFramePr>
            <a:graphicFrameLocks noChangeAspect="1"/>
          </p:cNvGraphicFramePr>
          <p:nvPr/>
        </p:nvGraphicFramePr>
        <p:xfrm>
          <a:off x="6588224" y="4253736"/>
          <a:ext cx="333588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766" name="Equation" r:id="rId16" imgW="279360" imgH="241200" progId="Equation.DSMT4">
                  <p:embed/>
                </p:oleObj>
              </mc:Choice>
              <mc:Fallback>
                <p:oleObj name="Equation" r:id="rId16" imgW="27936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4253736"/>
                        <a:ext cx="333588" cy="2880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：作下列排架的内力图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1"/>
            <a:r>
              <a:rPr lang="zh-CN" altLang="en-US"/>
              <a:t>作弯矩图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/>
          </a:p>
        </p:txBody>
      </p:sp>
      <p:graphicFrame>
        <p:nvGraphicFramePr>
          <p:cNvPr id="129029" name="Object 14"/>
          <p:cNvGraphicFramePr>
            <a:graphicFrameLocks noChangeAspect="1"/>
          </p:cNvGraphicFramePr>
          <p:nvPr/>
        </p:nvGraphicFramePr>
        <p:xfrm>
          <a:off x="1331640" y="5733256"/>
          <a:ext cx="2125662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07" name="Equation" r:id="rId4" imgW="1828800" imgH="279360" progId="Equation.DSMT4">
                  <p:embed/>
                </p:oleObj>
              </mc:Choice>
              <mc:Fallback>
                <p:oleObj name="Equation" r:id="rId4" imgW="1828800" imgH="2793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733256"/>
                        <a:ext cx="2125662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0056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63888" y="2348880"/>
            <a:ext cx="5297805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5940152" y="5085184"/>
          <a:ext cx="411475" cy="32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08" name="Equation" r:id="rId7" imgW="228600" imgH="177480" progId="Equation.DSMT4">
                  <p:embed/>
                </p:oleObj>
              </mc:Choice>
              <mc:Fallback>
                <p:oleObj name="Equation" r:id="rId7" imgW="228600" imgH="177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5085184"/>
                        <a:ext cx="411475" cy="3207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8" name="Object 8"/>
          <p:cNvGraphicFramePr>
            <a:graphicFrameLocks noChangeAspect="1"/>
          </p:cNvGraphicFramePr>
          <p:nvPr/>
        </p:nvGraphicFramePr>
        <p:xfrm>
          <a:off x="1331640" y="4437112"/>
          <a:ext cx="1425575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09" name="Equation" r:id="rId9" imgW="1193760" imgH="545760" progId="Equation.DSMT4">
                  <p:embed/>
                </p:oleObj>
              </mc:Choice>
              <mc:Fallback>
                <p:oleObj name="Equation" r:id="rId9" imgW="1193760" imgH="5457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437112"/>
                        <a:ext cx="1425575" cy="65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二、算例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：试计算右图所示连续梁，并绘制弯矩图。</a:t>
            </a:r>
            <a:endParaRPr lang="en-US" altLang="zh-CN" dirty="0"/>
          </a:p>
          <a:p>
            <a:pPr lvl="1"/>
            <a:r>
              <a:rPr lang="zh-CN" altLang="en-US" dirty="0"/>
              <a:t>确定基本体系</a:t>
            </a:r>
            <a:endParaRPr lang="en-US" altLang="zh-CN" dirty="0"/>
          </a:p>
          <a:p>
            <a:pPr lvl="1"/>
            <a:r>
              <a:rPr lang="zh-CN" altLang="en-US" dirty="0"/>
              <a:t>写出力法方程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作弯矩图</a:t>
            </a:r>
            <a:endParaRPr lang="en-US" altLang="zh-CN" dirty="0"/>
          </a:p>
          <a:p>
            <a:pPr lvl="1"/>
            <a:r>
              <a:rPr lang="zh-CN" altLang="en-US" dirty="0"/>
              <a:t>确定系数</a:t>
            </a:r>
            <a:endParaRPr lang="en-US" altLang="zh-CN" dirty="0"/>
          </a:p>
          <a:p>
            <a:pPr lvl="1"/>
            <a:r>
              <a:rPr lang="zh-CN" altLang="en-US" dirty="0"/>
              <a:t>解力法方程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还原内力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9BB8CB2-A653-460A-B76B-E9E367C01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227006"/>
            <a:ext cx="3657600" cy="1219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A7C4CFC-264D-4152-B654-CB7429F9D4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032" y="3619877"/>
            <a:ext cx="3657600" cy="12223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7EFA2D6-9C3D-4048-B220-BBF3796EFCFB}"/>
                  </a:ext>
                </a:extLst>
              </p:cNvPr>
              <p:cNvSpPr txBox="1"/>
              <p:nvPr/>
            </p:nvSpPr>
            <p:spPr>
              <a:xfrm>
                <a:off x="4837225" y="5271591"/>
                <a:ext cx="397078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在支座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处将铰插入梁内，可得由分段简支梁构成的基本结构。未知量就是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处的支座弯矩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7EFA2D6-9C3D-4048-B220-BBF3796EF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225" y="5271591"/>
                <a:ext cx="3970784" cy="923330"/>
              </a:xfrm>
              <a:prstGeom prst="rect">
                <a:avLst/>
              </a:prstGeom>
              <a:blipFill>
                <a:blip r:embed="rId6"/>
                <a:stretch>
                  <a:fillRect l="-1382" t="-3974" b="-8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8007A59-67AA-472C-A9EB-58634FBEB9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177420"/>
              </p:ext>
            </p:extLst>
          </p:nvPr>
        </p:nvGraphicFramePr>
        <p:xfrm>
          <a:off x="1257821" y="3092450"/>
          <a:ext cx="2273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71" name="Equation" r:id="rId7" imgW="2273040" imgH="672840" progId="Equation.DSMT4">
                  <p:embed/>
                </p:oleObj>
              </mc:Choice>
              <mc:Fallback>
                <p:oleObj name="Equation" r:id="rId7" imgW="22730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7821" y="3092450"/>
                        <a:ext cx="2273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826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二、算例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：试计算右图所示连续梁，并绘制弯矩图。</a:t>
            </a:r>
            <a:endParaRPr lang="en-US" altLang="zh-CN" dirty="0"/>
          </a:p>
          <a:p>
            <a:pPr lvl="1"/>
            <a:r>
              <a:rPr lang="zh-CN" altLang="en-US" dirty="0"/>
              <a:t>确定基本体系</a:t>
            </a:r>
            <a:endParaRPr lang="en-US" altLang="zh-CN" dirty="0"/>
          </a:p>
          <a:p>
            <a:pPr lvl="1"/>
            <a:r>
              <a:rPr lang="zh-CN" altLang="en-US" dirty="0"/>
              <a:t>写出力法方程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作弯矩图</a:t>
            </a:r>
            <a:endParaRPr lang="en-US" altLang="zh-CN" dirty="0"/>
          </a:p>
          <a:p>
            <a:pPr lvl="1"/>
            <a:r>
              <a:rPr lang="zh-CN" altLang="en-US" dirty="0"/>
              <a:t>确定系数</a:t>
            </a:r>
            <a:endParaRPr lang="en-US" altLang="zh-CN" dirty="0"/>
          </a:p>
          <a:p>
            <a:pPr lvl="1"/>
            <a:r>
              <a:rPr lang="zh-CN" altLang="en-US" dirty="0"/>
              <a:t>解力法方程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还原内力</a:t>
            </a:r>
            <a:endParaRPr lang="en-US" altLang="zh-CN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8007A59-67AA-472C-A9EB-58634FBEB9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7821" y="3092450"/>
          <a:ext cx="2273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88" name="Equation" r:id="rId4" imgW="2273040" imgH="672840" progId="Equation.DSMT4">
                  <p:embed/>
                </p:oleObj>
              </mc:Choice>
              <mc:Fallback>
                <p:oleObj name="Equation" r:id="rId4" imgW="2273040" imgH="6728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98007A59-67AA-472C-A9EB-58634FBEB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7821" y="3092450"/>
                        <a:ext cx="2273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512AD15B-4591-4966-8A65-866985F9A8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032" y="2341053"/>
            <a:ext cx="3611791" cy="13193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BB5CC2F-EFCB-4B7F-BA38-2E281381A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032" y="3659966"/>
            <a:ext cx="3611791" cy="12892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818A9BF-0521-4859-95E9-E8F62706AB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3807" y="4555570"/>
            <a:ext cx="3611791" cy="12498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C87060B-D047-42F0-B032-17E0ADA478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081" y="5477280"/>
            <a:ext cx="3394720" cy="128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9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二、算例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：试计算右图所示连续梁，并绘制弯矩图。</a:t>
            </a:r>
            <a:endParaRPr lang="en-US" altLang="zh-CN" dirty="0"/>
          </a:p>
          <a:p>
            <a:pPr lvl="1"/>
            <a:r>
              <a:rPr lang="zh-CN" altLang="en-US" dirty="0"/>
              <a:t>确定基本体系</a:t>
            </a:r>
            <a:endParaRPr lang="en-US" altLang="zh-CN" dirty="0"/>
          </a:p>
          <a:p>
            <a:pPr lvl="1"/>
            <a:r>
              <a:rPr lang="zh-CN" altLang="en-US" dirty="0"/>
              <a:t>写出力法方程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作弯矩图</a:t>
            </a:r>
            <a:endParaRPr lang="en-US" altLang="zh-CN" dirty="0"/>
          </a:p>
          <a:p>
            <a:pPr lvl="1"/>
            <a:r>
              <a:rPr lang="zh-CN" altLang="en-US" dirty="0"/>
              <a:t>确定系数</a:t>
            </a:r>
            <a:endParaRPr lang="en-US" altLang="zh-CN" dirty="0"/>
          </a:p>
          <a:p>
            <a:pPr lvl="1"/>
            <a:r>
              <a:rPr lang="zh-CN" altLang="en-US" dirty="0"/>
              <a:t>解力法方程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还原内力</a:t>
            </a:r>
            <a:endParaRPr lang="en-US" altLang="zh-CN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8007A59-67AA-472C-A9EB-58634FBEB9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7821" y="3092450"/>
          <a:ext cx="2273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512" name="Equation" r:id="rId4" imgW="2273040" imgH="672840" progId="Equation.DSMT4">
                  <p:embed/>
                </p:oleObj>
              </mc:Choice>
              <mc:Fallback>
                <p:oleObj name="Equation" r:id="rId4" imgW="2273040" imgH="6728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98007A59-67AA-472C-A9EB-58634FBEB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7821" y="3092450"/>
                        <a:ext cx="2273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4248B636-289A-411F-BA00-D63893A17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225" y="2257401"/>
            <a:ext cx="3680407" cy="14915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22D65F-F422-40A4-AD72-9260495F9A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4540" y="3802593"/>
            <a:ext cx="2994920" cy="12878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023D63D-1D8E-4879-9137-C4290E40A1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9460" y="3815303"/>
            <a:ext cx="2972058" cy="12650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CBE1FD-2760-497F-B826-3B12962642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4339" y="5229200"/>
            <a:ext cx="3154953" cy="124216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99A18CD-A2A8-4BB9-86AC-C27B388F66CA}"/>
              </a:ext>
            </a:extLst>
          </p:cNvPr>
          <p:cNvSpPr txBox="1"/>
          <p:nvPr/>
        </p:nvSpPr>
        <p:spPr>
          <a:xfrm>
            <a:off x="6372200" y="5373216"/>
            <a:ext cx="2303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当连续梁的跨度较多时，采用将铰插入梁内的基本结构其优点更为突出！</a:t>
            </a:r>
          </a:p>
        </p:txBody>
      </p:sp>
    </p:spTree>
    <p:extLst>
      <p:ext uri="{BB962C8B-B14F-4D97-AF65-F5344CB8AC3E}">
        <p14:creationId xmlns:p14="http://schemas.microsoft.com/office/powerpoint/2010/main" val="426709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二、课堂测试题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4</a:t>
            </a:r>
            <a:r>
              <a:rPr lang="zh-CN" altLang="en-US" dirty="0"/>
              <a:t>：试计算右图所示刚架，并绘制内力图。设各杆</a:t>
            </a:r>
            <a:r>
              <a:rPr lang="en-US" altLang="zh-CN" dirty="0"/>
              <a:t>EI</a:t>
            </a:r>
            <a:r>
              <a:rPr lang="zh-CN" altLang="en-US" dirty="0"/>
              <a:t>相同。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5B5869-4183-44BD-BBE1-B9BE95A5C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923" y="2623814"/>
            <a:ext cx="4340154" cy="296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51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二、课堂测试题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4</a:t>
            </a:r>
            <a:r>
              <a:rPr lang="zh-CN" altLang="en-US" dirty="0"/>
              <a:t>：试计算右图所示刚架，并绘制内力图。设各杆</a:t>
            </a:r>
            <a:r>
              <a:rPr lang="en-US" altLang="zh-CN" dirty="0"/>
              <a:t>EI</a:t>
            </a:r>
            <a:r>
              <a:rPr lang="zh-CN" altLang="en-US" dirty="0"/>
              <a:t>相同。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08FD13-7369-4DD2-9894-6F5D08AB7893}"/>
              </a:ext>
            </a:extLst>
          </p:cNvPr>
          <p:cNvSpPr txBox="1"/>
          <p:nvPr/>
        </p:nvSpPr>
        <p:spPr>
          <a:xfrm>
            <a:off x="926278" y="2276872"/>
            <a:ext cx="776366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   该刚架是两次超静定，右边是一个静定的附属部分，无多余约束存在。</a:t>
            </a:r>
            <a:endParaRPr lang="en-US" altLang="zh-CN" dirty="0"/>
          </a:p>
          <a:p>
            <a:r>
              <a:rPr lang="en-US" altLang="zh-CN" dirty="0"/>
              <a:t>       1. </a:t>
            </a:r>
            <a:r>
              <a:rPr lang="zh-CN" altLang="en-US" dirty="0"/>
              <a:t>基本结构</a:t>
            </a:r>
            <a:endParaRPr lang="en-US" altLang="zh-CN" dirty="0"/>
          </a:p>
          <a:p>
            <a:r>
              <a:rPr lang="en-US" altLang="zh-CN" dirty="0"/>
              <a:t>       2.</a:t>
            </a:r>
            <a:r>
              <a:rPr lang="zh-CN" altLang="en-US" dirty="0"/>
              <a:t>力法方程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3. </a:t>
            </a:r>
            <a:r>
              <a:rPr lang="zh-CN" altLang="en-US" dirty="0"/>
              <a:t>确定系数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323004-E624-42BC-87A7-58BB7781A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2687767"/>
            <a:ext cx="3024336" cy="2118611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4251705-0EBA-48CF-9E5D-0AD74C9C52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993246"/>
              </p:ext>
            </p:extLst>
          </p:nvPr>
        </p:nvGraphicFramePr>
        <p:xfrm>
          <a:off x="1578621" y="3400326"/>
          <a:ext cx="2273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593" name="Equation" r:id="rId5" imgW="2273040" imgH="672840" progId="Equation.DSMT4">
                  <p:embed/>
                </p:oleObj>
              </mc:Choice>
              <mc:Fallback>
                <p:oleObj name="Equation" r:id="rId5" imgW="2273040" imgH="6728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98007A59-67AA-472C-A9EB-58634FBEB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8621" y="3400326"/>
                        <a:ext cx="2273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6259698E-097E-4158-AB98-1629F7779F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840" y="4900321"/>
            <a:ext cx="5256584" cy="184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19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7-3 </a:t>
            </a:r>
            <a:r>
              <a:rPr lang="zh-CN" altLang="en-US"/>
              <a:t>超静定刚架和排架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二、课堂测试题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4</a:t>
            </a:r>
            <a:r>
              <a:rPr lang="zh-CN" altLang="en-US" dirty="0"/>
              <a:t>：试计算右图所示刚架，并绘制内力图。设各杆</a:t>
            </a:r>
            <a:r>
              <a:rPr lang="en-US" altLang="zh-CN" dirty="0"/>
              <a:t>EI</a:t>
            </a:r>
            <a:r>
              <a:rPr lang="zh-CN" altLang="en-US" dirty="0"/>
              <a:t>相同。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E44633-AB41-496B-A59F-626451EB7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490" y="2357201"/>
            <a:ext cx="2911092" cy="20575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1AE3C6-8797-4011-94E6-01F80CAF0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7859" y="2542670"/>
            <a:ext cx="2674852" cy="16613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1710BB5-0A08-4D6A-9223-5E751D099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266" y="4625584"/>
            <a:ext cx="6134632" cy="2103302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E3D7E20-BF8D-4929-AD39-02BECE0A28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788601"/>
              </p:ext>
            </p:extLst>
          </p:nvPr>
        </p:nvGraphicFramePr>
        <p:xfrm>
          <a:off x="318852" y="2542670"/>
          <a:ext cx="2705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98" name="Equation" r:id="rId7" imgW="2705040" imgH="571320" progId="Equation.DSMT4">
                  <p:embed/>
                </p:oleObj>
              </mc:Choice>
              <mc:Fallback>
                <p:oleObj name="Equation" r:id="rId7" imgW="270504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8852" y="2542670"/>
                        <a:ext cx="27051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EEFCB08-271A-4219-BDAC-F11FA9540BBB}"/>
                  </a:ext>
                </a:extLst>
              </p:cNvPr>
              <p:cNvSpPr/>
              <p:nvPr/>
            </p:nvSpPr>
            <p:spPr>
              <a:xfrm>
                <a:off x="643237" y="3315879"/>
                <a:ext cx="1618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EEFCB08-271A-4219-BDAC-F11FA9540B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37" y="3315879"/>
                <a:ext cx="16180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823097B-E7A6-4B89-B26F-564FE9731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85099"/>
              </p:ext>
            </p:extLst>
          </p:nvPr>
        </p:nvGraphicFramePr>
        <p:xfrm>
          <a:off x="512473" y="3836185"/>
          <a:ext cx="1879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99" name="Equation" r:id="rId10" imgW="1879560" imgH="571320" progId="Equation.DSMT4">
                  <p:embed/>
                </p:oleObj>
              </mc:Choice>
              <mc:Fallback>
                <p:oleObj name="Equation" r:id="rId10" imgW="187956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2473" y="3836185"/>
                        <a:ext cx="18796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64F9990-D529-4993-A99E-98CA454D21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287941"/>
              </p:ext>
            </p:extLst>
          </p:nvPr>
        </p:nvGraphicFramePr>
        <p:xfrm>
          <a:off x="643237" y="4532644"/>
          <a:ext cx="175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00" name="Equation" r:id="rId12" imgW="1752480" imgH="571320" progId="Equation.DSMT4">
                  <p:embed/>
                </p:oleObj>
              </mc:Choice>
              <mc:Fallback>
                <p:oleObj name="Equation" r:id="rId12" imgW="175248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3237" y="4532644"/>
                        <a:ext cx="17526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2E2C265-B3B6-4C02-B055-547095A1B1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365198"/>
              </p:ext>
            </p:extLst>
          </p:nvPr>
        </p:nvGraphicFramePr>
        <p:xfrm>
          <a:off x="512473" y="5589587"/>
          <a:ext cx="1485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01" name="Equation" r:id="rId14" imgW="1485720" imgH="672840" progId="Equation.DSMT4">
                  <p:embed/>
                </p:oleObj>
              </mc:Choice>
              <mc:Fallback>
                <p:oleObj name="Equation" r:id="rId14" imgW="14857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2473" y="5589587"/>
                        <a:ext cx="14859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3189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回顾</a:t>
            </a:r>
            <a:r>
              <a:rPr lang="zh-CN" altLang="en-US"/>
              <a:t>：柔度系数和载荷位移的计算</a:t>
            </a:r>
            <a:endParaRPr lang="en-US" altLang="zh-CN"/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1394" name="Object 4"/>
          <p:cNvGraphicFramePr>
            <a:graphicFrameLocks noChangeAspect="1"/>
          </p:cNvGraphicFramePr>
          <p:nvPr/>
        </p:nvGraphicFramePr>
        <p:xfrm>
          <a:off x="1763688" y="2132856"/>
          <a:ext cx="4397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508" name="Equation" r:id="rId3" imgW="3809880" imgH="482400" progId="Equation.DSMT4">
                  <p:embed/>
                </p:oleObj>
              </mc:Choice>
              <mc:Fallback>
                <p:oleObj name="Equation" r:id="rId3" imgW="38098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132856"/>
                        <a:ext cx="43973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4"/>
          <p:cNvGraphicFramePr>
            <a:graphicFrameLocks noChangeAspect="1"/>
          </p:cNvGraphicFramePr>
          <p:nvPr/>
        </p:nvGraphicFramePr>
        <p:xfrm>
          <a:off x="1763688" y="2708920"/>
          <a:ext cx="43545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509" name="Equation" r:id="rId5" imgW="3771720" imgH="507960" progId="Equation.DSMT4">
                  <p:embed/>
                </p:oleObj>
              </mc:Choice>
              <mc:Fallback>
                <p:oleObj name="Equation" r:id="rId5" imgW="3771720" imgH="507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08920"/>
                        <a:ext cx="43545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zh-CN" altLang="en-US"/>
              <a:t>回顾：柔度系数和载荷位移的计算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定义</a:t>
            </a:r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 桁    架  ：</a:t>
            </a:r>
            <a:endParaRPr lang="en-US" altLang="zh-CN" sz="1400" b="0"/>
          </a:p>
          <a:p>
            <a:pPr lvl="3"/>
            <a:r>
              <a:rPr lang="zh-CN" altLang="en-US"/>
              <a:t>组合结构：</a:t>
            </a:r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1394" name="Object 4"/>
          <p:cNvGraphicFramePr>
            <a:graphicFrameLocks noChangeAspect="1"/>
          </p:cNvGraphicFramePr>
          <p:nvPr/>
        </p:nvGraphicFramePr>
        <p:xfrm>
          <a:off x="1763688" y="2132856"/>
          <a:ext cx="4397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52" name="Equation" r:id="rId3" imgW="3809880" imgH="482400" progId="Equation.DSMT4">
                  <p:embed/>
                </p:oleObj>
              </mc:Choice>
              <mc:Fallback>
                <p:oleObj name="Equation" r:id="rId3" imgW="38098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132856"/>
                        <a:ext cx="43973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4"/>
          <p:cNvGraphicFramePr>
            <a:graphicFrameLocks noChangeAspect="1"/>
          </p:cNvGraphicFramePr>
          <p:nvPr/>
        </p:nvGraphicFramePr>
        <p:xfrm>
          <a:off x="1763688" y="2708920"/>
          <a:ext cx="43545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53" name="Equation" r:id="rId5" imgW="3771720" imgH="507960" progId="Equation.DSMT4">
                  <p:embed/>
                </p:oleObj>
              </mc:Choice>
              <mc:Fallback>
                <p:oleObj name="Equation" r:id="rId5" imgW="3771720" imgH="507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08920"/>
                        <a:ext cx="43545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zh-CN" altLang="en-US"/>
              <a:t>回顾：柔度系数和载荷位移的计算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定义</a:t>
            </a:r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 桁    架  ：链杆，载荷作用于结点</a:t>
            </a:r>
            <a:endParaRPr lang="en-US" altLang="zh-CN" sz="1400" b="0"/>
          </a:p>
          <a:p>
            <a:pPr lvl="3"/>
            <a:r>
              <a:rPr lang="zh-CN" altLang="en-US"/>
              <a:t>组合结构：链杆 </a:t>
            </a:r>
            <a:r>
              <a:rPr lang="en-US" altLang="zh-CN"/>
              <a:t>+ </a:t>
            </a:r>
            <a:r>
              <a:rPr lang="zh-CN" altLang="en-US"/>
              <a:t>梁式杆</a:t>
            </a:r>
            <a:endParaRPr lang="en-US" altLang="zh-CN"/>
          </a:p>
          <a:p>
            <a:pPr lvl="2"/>
            <a:r>
              <a:rPr lang="zh-CN" altLang="en-US"/>
              <a:t>简化：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1394" name="Object 4"/>
          <p:cNvGraphicFramePr>
            <a:graphicFrameLocks noChangeAspect="1"/>
          </p:cNvGraphicFramePr>
          <p:nvPr/>
        </p:nvGraphicFramePr>
        <p:xfrm>
          <a:off x="1763688" y="2132856"/>
          <a:ext cx="4397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56" name="Equation" r:id="rId3" imgW="3809880" imgH="482400" progId="Equation.DSMT4">
                  <p:embed/>
                </p:oleObj>
              </mc:Choice>
              <mc:Fallback>
                <p:oleObj name="Equation" r:id="rId3" imgW="38098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132856"/>
                        <a:ext cx="43973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4"/>
          <p:cNvGraphicFramePr>
            <a:graphicFrameLocks noChangeAspect="1"/>
          </p:cNvGraphicFramePr>
          <p:nvPr/>
        </p:nvGraphicFramePr>
        <p:xfrm>
          <a:off x="1763688" y="2708920"/>
          <a:ext cx="43545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57" name="Equation" r:id="rId5" imgW="3771720" imgH="507960" progId="Equation.DSMT4">
                  <p:embed/>
                </p:oleObj>
              </mc:Choice>
              <mc:Fallback>
                <p:oleObj name="Equation" r:id="rId5" imgW="3771720" imgH="507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08920"/>
                        <a:ext cx="43545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020272" y="501317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组合结构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2233" y="3378478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桁   架</a:t>
            </a:r>
          </a:p>
        </p:txBody>
      </p:sp>
      <p:pic>
        <p:nvPicPr>
          <p:cNvPr id="13312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72200" y="2132856"/>
            <a:ext cx="2531745" cy="126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26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96136" y="4077072"/>
            <a:ext cx="3194685" cy="651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zh-CN" altLang="en-US"/>
              <a:t>回顾：柔度系数和载荷位移的计算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/>
              <a:t>定义</a:t>
            </a:r>
            <a:endParaRPr lang="en-US" altLang="zh-CN"/>
          </a:p>
          <a:p>
            <a:pPr lvl="3"/>
            <a:r>
              <a:rPr lang="zh-CN" altLang="en-US"/>
              <a:t> 桁    架  ：链杆，载荷作用于结点</a:t>
            </a:r>
            <a:endParaRPr lang="en-US" altLang="zh-CN" sz="1400" b="0"/>
          </a:p>
          <a:p>
            <a:pPr lvl="3"/>
            <a:r>
              <a:rPr lang="zh-CN" altLang="en-US"/>
              <a:t>组合结构：链杆 </a:t>
            </a:r>
            <a:r>
              <a:rPr lang="en-US" altLang="zh-CN"/>
              <a:t>+ </a:t>
            </a:r>
            <a:r>
              <a:rPr lang="zh-CN" altLang="en-US"/>
              <a:t>梁式杆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</a:t>
            </a:r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 链杆：</a:t>
            </a:r>
            <a:r>
              <a:rPr lang="zh-CN" altLang="en-US">
                <a:solidFill>
                  <a:srgbClr val="0070C0"/>
                </a:solidFill>
              </a:rPr>
              <a:t>桁架</a:t>
            </a:r>
            <a:endParaRPr lang="en-US" altLang="zh-CN">
              <a:solidFill>
                <a:srgbClr val="0070C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梁式杆：</a:t>
            </a:r>
            <a:endParaRPr lang="en-US" altLang="zh-CN"/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1394" name="Object 4"/>
          <p:cNvGraphicFramePr>
            <a:graphicFrameLocks noChangeAspect="1"/>
          </p:cNvGraphicFramePr>
          <p:nvPr/>
        </p:nvGraphicFramePr>
        <p:xfrm>
          <a:off x="1763688" y="2132856"/>
          <a:ext cx="4397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34" name="Equation" r:id="rId3" imgW="3809880" imgH="482400" progId="Equation.DSMT4">
                  <p:embed/>
                </p:oleObj>
              </mc:Choice>
              <mc:Fallback>
                <p:oleObj name="Equation" r:id="rId3" imgW="38098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132856"/>
                        <a:ext cx="43973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4"/>
          <p:cNvGraphicFramePr>
            <a:graphicFrameLocks noChangeAspect="1"/>
          </p:cNvGraphicFramePr>
          <p:nvPr/>
        </p:nvGraphicFramePr>
        <p:xfrm>
          <a:off x="1763688" y="2708920"/>
          <a:ext cx="43545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35" name="Equation" r:id="rId5" imgW="3771720" imgH="507960" progId="Equation.DSMT4">
                  <p:embed/>
                </p:oleObj>
              </mc:Choice>
              <mc:Fallback>
                <p:oleObj name="Equation" r:id="rId5" imgW="3771720" imgH="507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08920"/>
                        <a:ext cx="43545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020272" y="501317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组合结构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2233" y="3378478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桁   架</a:t>
            </a:r>
          </a:p>
        </p:txBody>
      </p:sp>
      <p:pic>
        <p:nvPicPr>
          <p:cNvPr id="13312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72200" y="2132856"/>
            <a:ext cx="2531745" cy="126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26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96136" y="4077072"/>
            <a:ext cx="3194685" cy="651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9268" name="Object 23"/>
          <p:cNvGraphicFramePr>
            <a:graphicFrameLocks noChangeAspect="1"/>
          </p:cNvGraphicFramePr>
          <p:nvPr/>
        </p:nvGraphicFramePr>
        <p:xfrm>
          <a:off x="2267744" y="5046315"/>
          <a:ext cx="34607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36" name="Equation" r:id="rId9" imgW="2997000" imgH="469800" progId="Equation.DSMT4">
                  <p:embed/>
                </p:oleObj>
              </mc:Choice>
              <mc:Fallback>
                <p:oleObj name="Equation" r:id="rId9" imgW="2997000" imgH="469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046315"/>
                        <a:ext cx="346075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4"/>
          <p:cNvGraphicFramePr>
            <a:graphicFrameLocks noChangeAspect="1"/>
          </p:cNvGraphicFramePr>
          <p:nvPr/>
        </p:nvGraphicFramePr>
        <p:xfrm>
          <a:off x="2246313" y="5805264"/>
          <a:ext cx="3471862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37" name="Equation" r:id="rId11" imgW="3009600" imgH="469800" progId="Equation.DSMT4">
                  <p:embed/>
                </p:oleObj>
              </mc:Choice>
              <mc:Fallback>
                <p:oleObj name="Equation" r:id="rId11" imgW="3009600" imgH="4698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5805264"/>
                        <a:ext cx="3471862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zh-CN" altLang="en-US"/>
              <a:t>回顾：柔度系数和载荷位移的计算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/>
              <a:t>定义</a:t>
            </a:r>
            <a:endParaRPr lang="en-US" altLang="zh-CN"/>
          </a:p>
          <a:p>
            <a:pPr lvl="3"/>
            <a:r>
              <a:rPr lang="zh-CN" altLang="en-US"/>
              <a:t> 桁    架  ：链杆，载荷作用于结点</a:t>
            </a:r>
            <a:endParaRPr lang="en-US" altLang="zh-CN" sz="1400" b="0"/>
          </a:p>
          <a:p>
            <a:pPr lvl="3"/>
            <a:r>
              <a:rPr lang="zh-CN" altLang="en-US"/>
              <a:t>组合结构：链杆 </a:t>
            </a:r>
            <a:r>
              <a:rPr lang="en-US" altLang="zh-CN"/>
              <a:t>+ </a:t>
            </a:r>
            <a:r>
              <a:rPr lang="zh-CN" altLang="en-US"/>
              <a:t>梁式杆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</a:t>
            </a:r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 链杆：</a:t>
            </a:r>
            <a:r>
              <a:rPr lang="zh-CN" altLang="en-US">
                <a:solidFill>
                  <a:srgbClr val="0070C0"/>
                </a:solidFill>
              </a:rPr>
              <a:t>桁架</a:t>
            </a:r>
            <a:endParaRPr lang="en-US" altLang="zh-CN">
              <a:solidFill>
                <a:srgbClr val="0070C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梁式杆：</a:t>
            </a:r>
            <a:endParaRPr lang="en-US" altLang="zh-CN"/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1394" name="Object 4"/>
          <p:cNvGraphicFramePr>
            <a:graphicFrameLocks noChangeAspect="1"/>
          </p:cNvGraphicFramePr>
          <p:nvPr/>
        </p:nvGraphicFramePr>
        <p:xfrm>
          <a:off x="1763688" y="2132856"/>
          <a:ext cx="4397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158" name="Equation" r:id="rId3" imgW="3809880" imgH="482400" progId="Equation.DSMT4">
                  <p:embed/>
                </p:oleObj>
              </mc:Choice>
              <mc:Fallback>
                <p:oleObj name="Equation" r:id="rId3" imgW="38098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132856"/>
                        <a:ext cx="43973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4"/>
          <p:cNvGraphicFramePr>
            <a:graphicFrameLocks noChangeAspect="1"/>
          </p:cNvGraphicFramePr>
          <p:nvPr/>
        </p:nvGraphicFramePr>
        <p:xfrm>
          <a:off x="1763688" y="2708920"/>
          <a:ext cx="43545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159" name="Equation" r:id="rId5" imgW="3771720" imgH="507960" progId="Equation.DSMT4">
                  <p:embed/>
                </p:oleObj>
              </mc:Choice>
              <mc:Fallback>
                <p:oleObj name="Equation" r:id="rId5" imgW="3771720" imgH="507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08920"/>
                        <a:ext cx="43545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020272" y="501317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组合结构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2233" y="3378478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桁   架</a:t>
            </a:r>
          </a:p>
        </p:txBody>
      </p:sp>
      <p:pic>
        <p:nvPicPr>
          <p:cNvPr id="13312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72200" y="2132856"/>
            <a:ext cx="2531745" cy="126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26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96136" y="4077072"/>
            <a:ext cx="3194685" cy="651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9268" name="Object 23"/>
          <p:cNvGraphicFramePr>
            <a:graphicFrameLocks noChangeAspect="1"/>
          </p:cNvGraphicFramePr>
          <p:nvPr/>
        </p:nvGraphicFramePr>
        <p:xfrm>
          <a:off x="2267744" y="5013176"/>
          <a:ext cx="34607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160" name="Equation" r:id="rId9" imgW="2997000" imgH="469800" progId="Equation.DSMT4">
                  <p:embed/>
                </p:oleObj>
              </mc:Choice>
              <mc:Fallback>
                <p:oleObj name="Equation" r:id="rId9" imgW="2997000" imgH="469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013176"/>
                        <a:ext cx="346075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4"/>
          <p:cNvGraphicFramePr>
            <a:graphicFrameLocks noChangeAspect="1"/>
          </p:cNvGraphicFramePr>
          <p:nvPr/>
        </p:nvGraphicFramePr>
        <p:xfrm>
          <a:off x="2246313" y="5805264"/>
          <a:ext cx="3471862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161" name="Equation" r:id="rId11" imgW="3009600" imgH="469800" progId="Equation.DSMT4">
                  <p:embed/>
                </p:oleObj>
              </mc:Choice>
              <mc:Fallback>
                <p:oleObj name="Equation" r:id="rId11" imgW="3009600" imgH="4698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5805264"/>
                        <a:ext cx="3471862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左大括号 11"/>
          <p:cNvSpPr/>
          <p:nvPr/>
        </p:nvSpPr>
        <p:spPr bwMode="auto">
          <a:xfrm>
            <a:off x="1547664" y="4797152"/>
            <a:ext cx="216024" cy="936104"/>
          </a:xfrm>
          <a:prstGeom prst="leftBrace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39552" y="508518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>
                <a:solidFill>
                  <a:srgbClr val="0070C0"/>
                </a:solidFill>
              </a:rPr>
              <a:t>组合结构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zh-CN" altLang="en-US"/>
              <a:t>回顾：柔度系数和载荷位移的计算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/>
              <a:t>定义</a:t>
            </a:r>
            <a:endParaRPr lang="en-US" altLang="zh-CN"/>
          </a:p>
          <a:p>
            <a:pPr lvl="3"/>
            <a:r>
              <a:rPr lang="zh-CN" altLang="en-US"/>
              <a:t> 桁    架  ：链杆，载荷作用于结点</a:t>
            </a:r>
            <a:endParaRPr lang="en-US" altLang="zh-CN" sz="1400" b="0"/>
          </a:p>
          <a:p>
            <a:pPr lvl="3"/>
            <a:r>
              <a:rPr lang="zh-CN" altLang="en-US"/>
              <a:t>组合结构：链杆 </a:t>
            </a:r>
            <a:r>
              <a:rPr lang="en-US" altLang="zh-CN"/>
              <a:t>+ </a:t>
            </a:r>
            <a:r>
              <a:rPr lang="zh-CN" altLang="en-US"/>
              <a:t>梁式杆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</a:t>
            </a:r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 链杆：</a:t>
            </a:r>
            <a:r>
              <a:rPr lang="zh-CN" altLang="en-US">
                <a:solidFill>
                  <a:srgbClr val="0070C0"/>
                </a:solidFill>
              </a:rPr>
              <a:t>桁架</a:t>
            </a:r>
            <a:endParaRPr lang="en-US" altLang="zh-CN">
              <a:solidFill>
                <a:srgbClr val="0070C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pPr lvl="3"/>
            <a:r>
              <a:rPr lang="zh-CN" altLang="en-US"/>
              <a:t>梁式杆：</a:t>
            </a:r>
            <a:endParaRPr lang="en-US" altLang="zh-CN"/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1394" name="Object 4"/>
          <p:cNvGraphicFramePr>
            <a:graphicFrameLocks noChangeAspect="1"/>
          </p:cNvGraphicFramePr>
          <p:nvPr/>
        </p:nvGraphicFramePr>
        <p:xfrm>
          <a:off x="1763688" y="2132856"/>
          <a:ext cx="4397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51" name="Equation" r:id="rId3" imgW="3809880" imgH="482400" progId="Equation.DSMT4">
                  <p:embed/>
                </p:oleObj>
              </mc:Choice>
              <mc:Fallback>
                <p:oleObj name="Equation" r:id="rId3" imgW="380988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132856"/>
                        <a:ext cx="43973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4"/>
          <p:cNvGraphicFramePr>
            <a:graphicFrameLocks noChangeAspect="1"/>
          </p:cNvGraphicFramePr>
          <p:nvPr/>
        </p:nvGraphicFramePr>
        <p:xfrm>
          <a:off x="1763688" y="2708920"/>
          <a:ext cx="43545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52" name="Equation" r:id="rId5" imgW="3771720" imgH="507960" progId="Equation.DSMT4">
                  <p:embed/>
                </p:oleObj>
              </mc:Choice>
              <mc:Fallback>
                <p:oleObj name="Equation" r:id="rId5" imgW="3771720" imgH="507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08920"/>
                        <a:ext cx="435451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876256" y="479715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组合结构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2233" y="3378478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桁   架</a:t>
            </a:r>
          </a:p>
        </p:txBody>
      </p:sp>
      <p:pic>
        <p:nvPicPr>
          <p:cNvPr id="13312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72200" y="2132856"/>
            <a:ext cx="2531745" cy="126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9268" name="Object 23"/>
          <p:cNvGraphicFramePr>
            <a:graphicFrameLocks noChangeAspect="1"/>
          </p:cNvGraphicFramePr>
          <p:nvPr/>
        </p:nvGraphicFramePr>
        <p:xfrm>
          <a:off x="2267744" y="5013176"/>
          <a:ext cx="34607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53" name="Equation" r:id="rId8" imgW="2997000" imgH="469800" progId="Equation.DSMT4">
                  <p:embed/>
                </p:oleObj>
              </mc:Choice>
              <mc:Fallback>
                <p:oleObj name="Equation" r:id="rId8" imgW="2997000" imgH="469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013176"/>
                        <a:ext cx="346075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4"/>
          <p:cNvGraphicFramePr>
            <a:graphicFrameLocks noChangeAspect="1"/>
          </p:cNvGraphicFramePr>
          <p:nvPr/>
        </p:nvGraphicFramePr>
        <p:xfrm>
          <a:off x="2246313" y="5805264"/>
          <a:ext cx="3471862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54" name="Equation" r:id="rId10" imgW="3009600" imgH="469800" progId="Equation.DSMT4">
                  <p:embed/>
                </p:oleObj>
              </mc:Choice>
              <mc:Fallback>
                <p:oleObj name="Equation" r:id="rId10" imgW="3009600" imgH="4698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5805264"/>
                        <a:ext cx="3471862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左大括号 11"/>
          <p:cNvSpPr/>
          <p:nvPr/>
        </p:nvSpPr>
        <p:spPr bwMode="auto">
          <a:xfrm>
            <a:off x="1547664" y="4797152"/>
            <a:ext cx="216024" cy="936104"/>
          </a:xfrm>
          <a:prstGeom prst="leftBrace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39552" y="508518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>
                <a:solidFill>
                  <a:srgbClr val="0070C0"/>
                </a:solidFill>
              </a:rPr>
              <a:t>组合结构</a:t>
            </a:r>
          </a:p>
        </p:txBody>
      </p:sp>
      <p:cxnSp>
        <p:nvCxnSpPr>
          <p:cNvPr id="15" name="直接箭头连接符 14"/>
          <p:cNvCxnSpPr>
            <a:endCxn id="19" idx="1"/>
          </p:cNvCxnSpPr>
          <p:nvPr/>
        </p:nvCxnSpPr>
        <p:spPr bwMode="auto">
          <a:xfrm>
            <a:off x="5724128" y="5373216"/>
            <a:ext cx="792088" cy="64807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41318" name="Object 23"/>
          <p:cNvGraphicFramePr>
            <a:graphicFrameLocks noChangeAspect="1"/>
          </p:cNvGraphicFramePr>
          <p:nvPr/>
        </p:nvGraphicFramePr>
        <p:xfrm>
          <a:off x="6660232" y="5445224"/>
          <a:ext cx="145097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55" name="Equation" r:id="rId12" imgW="1257120" imgH="977760" progId="Equation.DSMT4">
                  <p:embed/>
                </p:oleObj>
              </mc:Choice>
              <mc:Fallback>
                <p:oleObj name="Equation" r:id="rId12" imgW="1257120" imgH="9777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5445224"/>
                        <a:ext cx="1450975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 bwMode="auto">
          <a:xfrm>
            <a:off x="6516216" y="5445224"/>
            <a:ext cx="1872208" cy="1152128"/>
          </a:xfrm>
          <a:prstGeom prst="rect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141319" name="Picture 7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724128" y="3933056"/>
            <a:ext cx="3194685" cy="651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525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821657"/>
            <a:ext cx="486727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720949" y="2821657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/>
              <a:t>EA</a:t>
            </a:r>
            <a:r>
              <a:rPr lang="en-US" altLang="zh-CN" sz="2400"/>
              <a:t>=const</a:t>
            </a:r>
            <a:endParaRPr lang="zh-CN" altLang="en-US"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3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36296" y="364502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4438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79827" y="2276872"/>
            <a:ext cx="2920365" cy="1617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39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04751" y="2276872"/>
            <a:ext cx="2531745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FC5004C-EF14-4B6F-A9E8-BCC7C4461024}"/>
              </a:ext>
            </a:extLst>
          </p:cNvPr>
          <p:cNvSpPr txBox="1"/>
          <p:nvPr/>
        </p:nvSpPr>
        <p:spPr>
          <a:xfrm>
            <a:off x="6543506" y="181590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注意相对位移的概念！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236296" y="364502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443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79827" y="2276872"/>
            <a:ext cx="2920365" cy="1617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38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4751" y="2252851"/>
            <a:ext cx="2531745" cy="1320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763688" y="3133417"/>
            <a:ext cx="612668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6000">
                <a:solidFill>
                  <a:srgbClr val="FF0000"/>
                </a:solidFill>
              </a:rPr>
              <a:t>?</a:t>
            </a:r>
            <a:endParaRPr lang="zh-CN" altLang="en-US" sz="6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236296" y="364502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443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79827" y="2276872"/>
            <a:ext cx="2920365" cy="1617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38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04751" y="2252851"/>
            <a:ext cx="2531745" cy="1320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7698" name="Object 2"/>
          <p:cNvGraphicFramePr>
            <a:graphicFrameLocks noChangeAspect="1"/>
          </p:cNvGraphicFramePr>
          <p:nvPr/>
        </p:nvGraphicFramePr>
        <p:xfrm>
          <a:off x="1331640" y="3081586"/>
          <a:ext cx="18605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15" name="Equation" r:id="rId5" imgW="1244520" imgH="520560" progId="Equation.DSMT4">
                  <p:embed/>
                </p:oleObj>
              </mc:Choice>
              <mc:Fallback>
                <p:oleObj name="Equation" r:id="rId5" imgW="1244520" imgH="5205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081586"/>
                        <a:ext cx="1860550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作轴力图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52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64288" y="352249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4427984" y="6142208"/>
          <a:ext cx="360041" cy="31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53" name="Equation" r:id="rId5" imgW="279360" imgH="241200" progId="Equation.DSMT4">
                  <p:embed/>
                </p:oleObj>
              </mc:Choice>
              <mc:Fallback>
                <p:oleObj name="Equation" r:id="rId5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6142208"/>
                        <a:ext cx="360041" cy="311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5414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36399" y="2298358"/>
            <a:ext cx="253174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72200" y="2298358"/>
            <a:ext cx="2531745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13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1560" y="4054192"/>
            <a:ext cx="259461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作轴力图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6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64288" y="352249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4427984" y="6142208"/>
          <a:ext cx="360041" cy="31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7" name="Equation" r:id="rId5" imgW="279360" imgH="241200" progId="Equation.DSMT4">
                  <p:embed/>
                </p:oleObj>
              </mc:Choice>
              <mc:Fallback>
                <p:oleObj name="Equation" r:id="rId5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6142208"/>
                        <a:ext cx="360041" cy="311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5414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36399" y="2298358"/>
            <a:ext cx="253174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72200" y="2298358"/>
            <a:ext cx="2531745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13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1560" y="4054192"/>
            <a:ext cx="259461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406120" y="4054192"/>
            <a:ext cx="2606040" cy="1463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作轴力图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00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64288" y="352249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4541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36399" y="2298358"/>
            <a:ext cx="253174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72200" y="2298358"/>
            <a:ext cx="2531745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13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1560" y="4054192"/>
            <a:ext cx="259461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06120" y="4054192"/>
            <a:ext cx="2606040" cy="1463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15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358448" y="3819857"/>
            <a:ext cx="2606040" cy="16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6907168" y="5249748"/>
          <a:ext cx="360041" cy="31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01" name="Equation" r:id="rId10" imgW="279360" imgH="241200" progId="Equation.DSMT4">
                  <p:embed/>
                </p:oleObj>
              </mc:Choice>
              <mc:Fallback>
                <p:oleObj name="Equation" r:id="rId10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168" y="5249748"/>
                        <a:ext cx="360041" cy="311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作轴力图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543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64288" y="352249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4541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36399" y="2298358"/>
            <a:ext cx="253174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72200" y="2298358"/>
            <a:ext cx="2531745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1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34112" y="4130769"/>
            <a:ext cx="2606040" cy="16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5476" name="Object 13"/>
          <p:cNvGraphicFramePr>
            <a:graphicFrameLocks noChangeAspect="1"/>
          </p:cNvGraphicFramePr>
          <p:nvPr/>
        </p:nvGraphicFramePr>
        <p:xfrm>
          <a:off x="3419872" y="4120500"/>
          <a:ext cx="360041" cy="31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544" name="Equation" r:id="rId8" imgW="279360" imgH="241200" progId="Equation.DSMT4">
                  <p:embed/>
                </p:oleObj>
              </mc:Choice>
              <mc:Fallback>
                <p:oleObj name="Equation" r:id="rId8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4120500"/>
                        <a:ext cx="360041" cy="311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5893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360735" y="4071588"/>
            <a:ext cx="253174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5894" name="Object 13"/>
          <p:cNvGraphicFramePr>
            <a:graphicFrameLocks noChangeAspect="1"/>
          </p:cNvGraphicFramePr>
          <p:nvPr/>
        </p:nvGraphicFramePr>
        <p:xfrm>
          <a:off x="6410548" y="4079382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545" name="Equation" r:id="rId11" imgW="304560" imgH="241200" progId="Equation.DSMT4">
                  <p:embed/>
                </p:oleObj>
              </mc:Choice>
              <mc:Fallback>
                <p:oleObj name="Equation" r:id="rId11" imgW="30456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548" y="4079382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4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1403648" y="4509120"/>
          <a:ext cx="62611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5" name="Equation" r:id="rId5" imgW="5511600" imgH="596880" progId="Equation.DSMT4">
                  <p:embed/>
                </p:oleObj>
              </mc:Choice>
              <mc:Fallback>
                <p:oleObj name="Equation" r:id="rId5" imgW="5511600" imgH="5968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4509120"/>
                        <a:ext cx="6261100" cy="677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75856" y="2120029"/>
            <a:ext cx="2606040" cy="16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02479" y="2060848"/>
            <a:ext cx="253174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6438" name="Object 13"/>
          <p:cNvGraphicFramePr>
            <a:graphicFrameLocks noChangeAspect="1"/>
          </p:cNvGraphicFramePr>
          <p:nvPr/>
        </p:nvGraphicFramePr>
        <p:xfrm>
          <a:off x="4441736" y="3861048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6" name="Equation" r:id="rId9" imgW="279360" imgH="241200" progId="Equation.DSMT4">
                  <p:embed/>
                </p:oleObj>
              </mc:Choice>
              <mc:Fallback>
                <p:oleObj name="Equation" r:id="rId9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736" y="3861048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9" name="Object 13"/>
          <p:cNvGraphicFramePr>
            <a:graphicFrameLocks noChangeAspect="1"/>
          </p:cNvGraphicFramePr>
          <p:nvPr/>
        </p:nvGraphicFramePr>
        <p:xfrm>
          <a:off x="7466072" y="3861048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7" name="Equation" r:id="rId11" imgW="304560" imgH="241200" progId="Equation.DSMT4">
                  <p:embed/>
                </p:oleObj>
              </mc:Choice>
              <mc:Fallback>
                <p:oleObj name="Equation" r:id="rId11" imgW="30456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6072" y="3861048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975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1755775" y="4437112"/>
          <a:ext cx="555466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976" name="Equation" r:id="rId5" imgW="4889160" imgH="596880" progId="Equation.DSMT4">
                  <p:embed/>
                </p:oleObj>
              </mc:Choice>
              <mc:Fallback>
                <p:oleObj name="Equation" r:id="rId5" imgW="4889160" imgH="5968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4437112"/>
                        <a:ext cx="5554663" cy="677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75856" y="2120029"/>
            <a:ext cx="2606040" cy="16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02479" y="2060848"/>
            <a:ext cx="253174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6438" name="Object 13"/>
          <p:cNvGraphicFramePr>
            <a:graphicFrameLocks noChangeAspect="1"/>
          </p:cNvGraphicFramePr>
          <p:nvPr/>
        </p:nvGraphicFramePr>
        <p:xfrm>
          <a:off x="4441736" y="3861048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977" name="Equation" r:id="rId9" imgW="279360" imgH="241200" progId="Equation.DSMT4">
                  <p:embed/>
                </p:oleObj>
              </mc:Choice>
              <mc:Fallback>
                <p:oleObj name="Equation" r:id="rId9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736" y="3861048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9" name="Object 13"/>
          <p:cNvGraphicFramePr>
            <a:graphicFrameLocks noChangeAspect="1"/>
          </p:cNvGraphicFramePr>
          <p:nvPr/>
        </p:nvGraphicFramePr>
        <p:xfrm>
          <a:off x="7466072" y="3861048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978" name="Equation" r:id="rId11" imgW="304560" imgH="241200" progId="Equation.DSMT4">
                  <p:embed/>
                </p:oleObj>
              </mc:Choice>
              <mc:Fallback>
                <p:oleObj name="Equation" r:id="rId11" imgW="30456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6072" y="3861048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1754534" y="5157192"/>
          <a:ext cx="5265738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979" name="Equation" r:id="rId13" imgW="4635360" imgH="596880" progId="Equation.DSMT4">
                  <p:embed/>
                </p:oleObj>
              </mc:Choice>
              <mc:Fallback>
                <p:oleObj name="Equation" r:id="rId13" imgW="4635360" imgH="5968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534" y="5157192"/>
                        <a:ext cx="5265738" cy="677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619672" y="5939988"/>
            <a:ext cx="612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注意：并不是撤掉                 杆，所以它的内能也必须计算</a:t>
            </a:r>
          </a:p>
        </p:txBody>
      </p:sp>
      <p:pic>
        <p:nvPicPr>
          <p:cNvPr id="167944" name="Picture 8"/>
          <p:cNvPicPr>
            <a:picLocks noChangeAspect="1" noChangeArrowheads="1"/>
          </p:cNvPicPr>
          <p:nvPr/>
        </p:nvPicPr>
        <p:blipFill>
          <a:blip r:embed="rId15" cstate="print"/>
          <a:srcRect l="2752" t="12252" r="17004" b="6130"/>
          <a:stretch>
            <a:fillRect/>
          </a:stretch>
        </p:blipFill>
        <p:spPr bwMode="auto">
          <a:xfrm rot="515259">
            <a:off x="3750452" y="5847395"/>
            <a:ext cx="610528" cy="615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001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1663700" y="4565650"/>
          <a:ext cx="1122363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002" name="Equation" r:id="rId5" imgW="990360" imgH="952200" progId="Equation.DSMT4">
                  <p:embed/>
                </p:oleObj>
              </mc:Choice>
              <mc:Fallback>
                <p:oleObj name="Equation" r:id="rId5" imgW="990360" imgH="952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4565650"/>
                        <a:ext cx="1122363" cy="1082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8" name="Object 3"/>
          <p:cNvGraphicFramePr>
            <a:graphicFrameLocks noChangeAspect="1"/>
          </p:cNvGraphicFramePr>
          <p:nvPr/>
        </p:nvGraphicFramePr>
        <p:xfrm>
          <a:off x="2699792" y="5802313"/>
          <a:ext cx="23812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003" name="Equation" r:id="rId7" imgW="1726920" imgH="241200" progId="Equation.DSMT4">
                  <p:embed/>
                </p:oleObj>
              </mc:Choice>
              <mc:Fallback>
                <p:oleObj name="Equation" r:id="rId7" imgW="172692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5802313"/>
                        <a:ext cx="23812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275856" y="2120029"/>
            <a:ext cx="2606040" cy="16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302479" y="2060848"/>
            <a:ext cx="253174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441736" y="3861048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004" name="Equation" r:id="rId11" imgW="279360" imgH="241200" progId="Equation.DSMT4">
                  <p:embed/>
                </p:oleObj>
              </mc:Choice>
              <mc:Fallback>
                <p:oleObj name="Equation" r:id="rId11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736" y="3861048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7466072" y="3861048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005" name="Equation" r:id="rId13" imgW="304560" imgH="241200" progId="Equation.DSMT4">
                  <p:embed/>
                </p:oleObj>
              </mc:Choice>
              <mc:Fallback>
                <p:oleObj name="Equation" r:id="rId13" imgW="30456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6072" y="3861048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：求超静定桁架的内力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309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8" name="Object 3"/>
          <p:cNvGraphicFramePr>
            <a:graphicFrameLocks noChangeAspect="1"/>
          </p:cNvGraphicFramePr>
          <p:nvPr/>
        </p:nvGraphicFramePr>
        <p:xfrm>
          <a:off x="1403648" y="4897413"/>
          <a:ext cx="138271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310" name="Equation" r:id="rId5" imgW="1002960" imgH="241200" progId="Equation.DSMT4">
                  <p:embed/>
                </p:oleObj>
              </mc:Choice>
              <mc:Fallback>
                <p:oleObj name="Equation" r:id="rId5" imgW="100296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4897413"/>
                        <a:ext cx="1382712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5" name="Object 14"/>
          <p:cNvGraphicFramePr>
            <a:graphicFrameLocks noChangeAspect="1"/>
          </p:cNvGraphicFramePr>
          <p:nvPr/>
        </p:nvGraphicFramePr>
        <p:xfrm>
          <a:off x="1403648" y="5643463"/>
          <a:ext cx="17494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311" name="Equation" r:id="rId7" imgW="1282680" imgH="279360" progId="Equation.DSMT4">
                  <p:embed/>
                </p:oleObj>
              </mc:Choice>
              <mc:Fallback>
                <p:oleObj name="Equation" r:id="rId7" imgW="1282680" imgH="2793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643463"/>
                        <a:ext cx="1749425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275856" y="2120029"/>
            <a:ext cx="2606040" cy="16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302479" y="2060848"/>
            <a:ext cx="253174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" name="Object 13"/>
          <p:cNvGraphicFramePr>
            <a:graphicFrameLocks noChangeAspect="1"/>
          </p:cNvGraphicFramePr>
          <p:nvPr/>
        </p:nvGraphicFramePr>
        <p:xfrm>
          <a:off x="4441736" y="3861048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312" name="Equation" r:id="rId11" imgW="279360" imgH="241200" progId="Equation.DSMT4">
                  <p:embed/>
                </p:oleObj>
              </mc:Choice>
              <mc:Fallback>
                <p:oleObj name="Equation" r:id="rId11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736" y="3861048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7466072" y="3861048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313" name="Equation" r:id="rId13" imgW="304560" imgH="241200" progId="Equation.DSMT4">
                  <p:embed/>
                </p:oleObj>
              </mc:Choice>
              <mc:Fallback>
                <p:oleObj name="Equation" r:id="rId13" imgW="30456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6072" y="3861048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0539" name="Picture 11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211960" y="4221088"/>
            <a:ext cx="3375660" cy="2164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0540" name="Object 7"/>
          <p:cNvGraphicFramePr>
            <a:graphicFrameLocks noChangeAspect="1"/>
          </p:cNvGraphicFramePr>
          <p:nvPr/>
        </p:nvGraphicFramePr>
        <p:xfrm>
          <a:off x="5004049" y="6073342"/>
          <a:ext cx="360040" cy="379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314" name="Equation" r:id="rId16" imgW="228600" imgH="241200" progId="Equation.DSMT4">
                  <p:embed/>
                </p:oleObj>
              </mc:Choice>
              <mc:Fallback>
                <p:oleObj name="Equation" r:id="rId16" imgW="228600" imgH="2412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9" y="6073342"/>
                        <a:ext cx="360040" cy="3793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二、算例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：试计算右下图所示超静定桁架的内力，设各杆</a:t>
            </a:r>
            <a:r>
              <a:rPr lang="en-US" altLang="zh-CN" dirty="0"/>
              <a:t>EA</a:t>
            </a:r>
            <a:r>
              <a:rPr lang="zh-CN" altLang="en-US" dirty="0"/>
              <a:t>相同，桁架</a:t>
            </a:r>
            <a:r>
              <a:rPr lang="en-US" altLang="zh-CN" dirty="0"/>
              <a:t>C</a:t>
            </a:r>
            <a:r>
              <a:rPr lang="zh-CN" altLang="en-US" dirty="0"/>
              <a:t>结点处设有水平方向的弹性支座，其刚度系数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358E4B-5A27-40D4-8535-729F689E6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251" y="2607722"/>
            <a:ext cx="2160240" cy="2232249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0DD629-CD9C-47F7-A367-F868A08B3F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365872"/>
              </p:ext>
            </p:extLst>
          </p:nvPr>
        </p:nvGraphicFramePr>
        <p:xfrm>
          <a:off x="6444208" y="2125663"/>
          <a:ext cx="1054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886" name="Equation" r:id="rId4" imgW="1054080" imgH="571320" progId="Equation.DSMT4">
                  <p:embed/>
                </p:oleObj>
              </mc:Choice>
              <mc:Fallback>
                <p:oleObj name="Equation" r:id="rId4" imgW="105408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44208" y="2125663"/>
                        <a:ext cx="10541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8652DFB5-4951-4F23-8720-3CDA77295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495" y="2697163"/>
            <a:ext cx="2386197" cy="22322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CDF005A-C446-4DBD-86BA-BD3A3A9D64F5}"/>
              </a:ext>
            </a:extLst>
          </p:cNvPr>
          <p:cNvSpPr txBox="1"/>
          <p:nvPr/>
        </p:nvSpPr>
        <p:spPr>
          <a:xfrm>
            <a:off x="971600" y="2852936"/>
            <a:ext cx="403187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 两次超静定，外内各一个。</a:t>
            </a:r>
            <a:endParaRPr lang="en-US" altLang="zh-CN" dirty="0"/>
          </a:p>
          <a:p>
            <a:r>
              <a:rPr lang="en-US" altLang="zh-CN" dirty="0"/>
              <a:t>     1. </a:t>
            </a:r>
            <a:r>
              <a:rPr lang="zh-CN" altLang="en-US" dirty="0"/>
              <a:t>基本结构</a:t>
            </a:r>
            <a:endParaRPr lang="en-US" altLang="zh-CN" dirty="0"/>
          </a:p>
          <a:p>
            <a:r>
              <a:rPr lang="en-US" altLang="zh-CN" dirty="0"/>
              <a:t>     2. </a:t>
            </a:r>
            <a:r>
              <a:rPr lang="zh-CN" altLang="en-US" dirty="0"/>
              <a:t>力法方程 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（切口处构件的相对位移等于零）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380D30E-E8A5-48AB-9E7B-76AC0AD2A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946611"/>
              </p:ext>
            </p:extLst>
          </p:nvPr>
        </p:nvGraphicFramePr>
        <p:xfrm>
          <a:off x="1563178" y="4077072"/>
          <a:ext cx="2273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887" name="Equation" r:id="rId7" imgW="2273040" imgH="672840" progId="Equation.DSMT4">
                  <p:embed/>
                </p:oleObj>
              </mc:Choice>
              <mc:Fallback>
                <p:oleObj name="Equation" r:id="rId7" imgW="22730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63178" y="4077072"/>
                        <a:ext cx="2273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495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二、算例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：试计算右下图所示超静定桁架的内力，设各杆</a:t>
            </a:r>
            <a:r>
              <a:rPr lang="en-US" altLang="zh-CN" dirty="0"/>
              <a:t>EA</a:t>
            </a:r>
            <a:r>
              <a:rPr lang="zh-CN" altLang="en-US" dirty="0"/>
              <a:t>相同，桁架</a:t>
            </a:r>
            <a:r>
              <a:rPr lang="en-US" altLang="zh-CN" dirty="0"/>
              <a:t>C</a:t>
            </a:r>
            <a:r>
              <a:rPr lang="zh-CN" altLang="en-US" dirty="0"/>
              <a:t>结点处设有水平方向的弹性支座，其刚度系数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0DD629-CD9C-47F7-A367-F868A08B3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4208" y="2125663"/>
          <a:ext cx="1054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984" name="Equation" r:id="rId3" imgW="1054080" imgH="571320" progId="Equation.DSMT4">
                  <p:embed/>
                </p:oleObj>
              </mc:Choice>
              <mc:Fallback>
                <p:oleObj name="Equation" r:id="rId3" imgW="1054080" imgH="571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50DD629-CD9C-47F7-A367-F868A08B3F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4208" y="2125663"/>
                        <a:ext cx="10541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CDF005A-C446-4DBD-86BA-BD3A3A9D64F5}"/>
              </a:ext>
            </a:extLst>
          </p:cNvPr>
          <p:cNvSpPr txBox="1"/>
          <p:nvPr/>
        </p:nvSpPr>
        <p:spPr>
          <a:xfrm>
            <a:off x="975171" y="2656835"/>
            <a:ext cx="403187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 两次超静定，外内各一个。</a:t>
            </a:r>
            <a:endParaRPr lang="en-US" altLang="zh-CN" dirty="0"/>
          </a:p>
          <a:p>
            <a:r>
              <a:rPr lang="en-US" altLang="zh-CN" dirty="0"/>
              <a:t>     1. </a:t>
            </a:r>
            <a:r>
              <a:rPr lang="zh-CN" altLang="en-US" dirty="0"/>
              <a:t>基本结构</a:t>
            </a:r>
            <a:endParaRPr lang="en-US" altLang="zh-CN" dirty="0"/>
          </a:p>
          <a:p>
            <a:r>
              <a:rPr lang="en-US" altLang="zh-CN" dirty="0"/>
              <a:t>     2. </a:t>
            </a:r>
            <a:r>
              <a:rPr lang="zh-CN" altLang="en-US" dirty="0"/>
              <a:t>力法方程 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（切口处构件的相对位移等于零）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380D30E-E8A5-48AB-9E7B-76AC0AD2A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40756"/>
              </p:ext>
            </p:extLst>
          </p:nvPr>
        </p:nvGraphicFramePr>
        <p:xfrm>
          <a:off x="1575561" y="3809309"/>
          <a:ext cx="2273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985" name="Equation" r:id="rId5" imgW="2273040" imgH="672840" progId="Equation.DSMT4">
                  <p:embed/>
                </p:oleObj>
              </mc:Choice>
              <mc:Fallback>
                <p:oleObj name="Equation" r:id="rId5" imgW="2273040" imgH="6728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380D30E-E8A5-48AB-9E7B-76AC0AD2AC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5561" y="3809309"/>
                        <a:ext cx="2273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405845F0-5D19-41D7-960E-2936E89798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1109" y="2570093"/>
            <a:ext cx="1707028" cy="17070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81C2615-EC86-49A4-A0DB-04C958FABF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4873" y="2493886"/>
            <a:ext cx="1813717" cy="17832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A0B4EF4-3330-490D-B34A-F29E38F769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1109" y="4466874"/>
            <a:ext cx="2057578" cy="180609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602FF9C-673B-4FC3-89E8-DA301A5DA1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5804" y="4322064"/>
            <a:ext cx="1912786" cy="1844200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F58D921-0924-4503-8BCA-9C4C5FBB46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362592"/>
              </p:ext>
            </p:extLst>
          </p:nvPr>
        </p:nvGraphicFramePr>
        <p:xfrm>
          <a:off x="1642008" y="4504199"/>
          <a:ext cx="15621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986" name="Equation" r:id="rId11" imgW="1562040" imgH="1257120" progId="Equation.DSMT4">
                  <p:embed/>
                </p:oleObj>
              </mc:Choice>
              <mc:Fallback>
                <p:oleObj name="Equation" r:id="rId11" imgW="156204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42008" y="4504199"/>
                        <a:ext cx="156210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3F82B31E-170E-42F5-A37A-AF2E1F448F30}"/>
              </a:ext>
            </a:extLst>
          </p:cNvPr>
          <p:cNvSpPr txBox="1"/>
          <p:nvPr/>
        </p:nvSpPr>
        <p:spPr>
          <a:xfrm>
            <a:off x="954298" y="5883026"/>
            <a:ext cx="3924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注意：以上位移项的计算应包括被切断杆</a:t>
            </a:r>
            <a:r>
              <a:rPr lang="en-US" altLang="zh-CN" dirty="0">
                <a:solidFill>
                  <a:srgbClr val="FF0000"/>
                </a:solidFill>
              </a:rPr>
              <a:t>AD </a:t>
            </a:r>
            <a:r>
              <a:rPr lang="zh-CN" altLang="en-US" dirty="0">
                <a:solidFill>
                  <a:srgbClr val="FF0000"/>
                </a:solidFill>
              </a:rPr>
              <a:t>和弹簧</a:t>
            </a:r>
            <a:r>
              <a:rPr lang="en-US" altLang="zh-CN" dirty="0">
                <a:solidFill>
                  <a:srgbClr val="FF0000"/>
                </a:solidFill>
              </a:rPr>
              <a:t>CE</a:t>
            </a:r>
            <a:r>
              <a:rPr lang="zh-CN" altLang="en-US" dirty="0">
                <a:solidFill>
                  <a:srgbClr val="FF0000"/>
                </a:solidFill>
              </a:rPr>
              <a:t>本身变形的影响。</a:t>
            </a:r>
          </a:p>
        </p:txBody>
      </p:sp>
    </p:spTree>
    <p:extLst>
      <p:ext uri="{BB962C8B-B14F-4D97-AF65-F5344CB8AC3E}">
        <p14:creationId xmlns:p14="http://schemas.microsoft.com/office/powerpoint/2010/main" val="3003456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二、算例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：试计算右下图所示超静定桁架的内力，设各杆</a:t>
            </a:r>
            <a:r>
              <a:rPr lang="en-US" altLang="zh-CN" dirty="0"/>
              <a:t>EA</a:t>
            </a:r>
            <a:r>
              <a:rPr lang="zh-CN" altLang="en-US" dirty="0"/>
              <a:t>相同，桁架</a:t>
            </a:r>
            <a:r>
              <a:rPr lang="en-US" altLang="zh-CN" dirty="0"/>
              <a:t>C</a:t>
            </a:r>
            <a:r>
              <a:rPr lang="zh-CN" altLang="en-US" dirty="0"/>
              <a:t>结点处设有水平方向的弹性支座，其刚度系数</a:t>
            </a:r>
            <a:endParaRPr lang="en-US" altLang="zh-CN" dirty="0"/>
          </a:p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取如下基本结构：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0DD629-CD9C-47F7-A367-F868A08B3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4208" y="2125663"/>
          <a:ext cx="1054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11" name="Equation" r:id="rId3" imgW="1054080" imgH="571320" progId="Equation.DSMT4">
                  <p:embed/>
                </p:oleObj>
              </mc:Choice>
              <mc:Fallback>
                <p:oleObj name="Equation" r:id="rId3" imgW="1054080" imgH="571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50DD629-CD9C-47F7-A367-F868A08B3F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4208" y="2125663"/>
                        <a:ext cx="10541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C59475B9-4BE5-40C5-B0D5-A9047593B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564" y="2924944"/>
            <a:ext cx="6508872" cy="19182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16CADC9-2086-4340-B719-FF5D94E233ED}"/>
                  </a:ext>
                </a:extLst>
              </p:cNvPr>
              <p:cNvSpPr txBox="1"/>
              <p:nvPr/>
            </p:nvSpPr>
            <p:spPr>
              <a:xfrm>
                <a:off x="899592" y="4843176"/>
                <a:ext cx="7776095" cy="1051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多余约束力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所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对应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的广义位移应该是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D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两点之间的相对位移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点的水平位移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实际上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就等于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AD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杆的长度变化，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𝐸𝐴</m:t>
                        </m:r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应该等于弹簧的伸缩量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16CADC9-2086-4340-B719-FF5D94E23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843176"/>
                <a:ext cx="7776095" cy="1051185"/>
              </a:xfrm>
              <a:prstGeom prst="rect">
                <a:avLst/>
              </a:prstGeom>
              <a:blipFill>
                <a:blip r:embed="rId6"/>
                <a:stretch>
                  <a:fillRect l="-706" t="-4046" r="-78" b="-69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29DF757-DE36-4155-AC0A-8D92B3A084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512581"/>
              </p:ext>
            </p:extLst>
          </p:nvPr>
        </p:nvGraphicFramePr>
        <p:xfrm>
          <a:off x="5126214" y="5554908"/>
          <a:ext cx="26797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12" name="Equation" r:id="rId7" imgW="2679480" imgH="1206360" progId="Equation.DSMT4">
                  <p:embed/>
                </p:oleObj>
              </mc:Choice>
              <mc:Fallback>
                <p:oleObj name="Equation" r:id="rId7" imgW="267948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26214" y="5554908"/>
                        <a:ext cx="2679700" cy="120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437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二、算例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：试计算右下图所示超静定桁架的内力，设各杆</a:t>
            </a:r>
            <a:r>
              <a:rPr lang="en-US" altLang="zh-CN" dirty="0"/>
              <a:t>EA</a:t>
            </a:r>
            <a:r>
              <a:rPr lang="zh-CN" altLang="en-US" dirty="0"/>
              <a:t>相同，桁架</a:t>
            </a:r>
            <a:r>
              <a:rPr lang="en-US" altLang="zh-CN" dirty="0"/>
              <a:t>C</a:t>
            </a:r>
            <a:r>
              <a:rPr lang="zh-CN" altLang="en-US" dirty="0"/>
              <a:t>结点处设有水平方向的弹性支座，其刚度系数</a:t>
            </a:r>
            <a:endParaRPr lang="en-US" altLang="zh-CN" dirty="0"/>
          </a:p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取如下基本结构：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0DD629-CD9C-47F7-A367-F868A08B3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4208" y="2125663"/>
          <a:ext cx="1054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042" name="Equation" r:id="rId3" imgW="1054080" imgH="571320" progId="Equation.DSMT4">
                  <p:embed/>
                </p:oleObj>
              </mc:Choice>
              <mc:Fallback>
                <p:oleObj name="Equation" r:id="rId3" imgW="1054080" imgH="571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50DD629-CD9C-47F7-A367-F868A08B3F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4208" y="2125663"/>
                        <a:ext cx="10541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C59475B9-4BE5-40C5-B0D5-A9047593B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564" y="2924944"/>
            <a:ext cx="6508872" cy="191823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B2728C-745B-4B83-97AF-4DA341A5C75E}"/>
              </a:ext>
            </a:extLst>
          </p:cNvPr>
          <p:cNvSpPr txBox="1"/>
          <p:nvPr/>
        </p:nvSpPr>
        <p:spPr>
          <a:xfrm>
            <a:off x="683568" y="5037333"/>
            <a:ext cx="7992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 当结构有弹性支座，取力法基本结构时一般可将弹性支座切断计算比较方便。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 事实上，结构的杆件都具有弹性，或者说都可以看成弹簧；反过来弹簧也总可以化作杆件。</a:t>
            </a:r>
          </a:p>
        </p:txBody>
      </p:sp>
    </p:spTree>
    <p:extLst>
      <p:ext uri="{BB962C8B-B14F-4D97-AF65-F5344CB8AC3E}">
        <p14:creationId xmlns:p14="http://schemas.microsoft.com/office/powerpoint/2010/main" val="21874611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二、算例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：求如下组合结构的内力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996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2348880"/>
            <a:ext cx="4800600" cy="3665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9683" name="Object 14"/>
          <p:cNvGraphicFramePr>
            <a:graphicFrameLocks noChangeAspect="1"/>
          </p:cNvGraphicFramePr>
          <p:nvPr/>
        </p:nvGraphicFramePr>
        <p:xfrm>
          <a:off x="6444208" y="3861048"/>
          <a:ext cx="225107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551" name="Equation" r:id="rId4" imgW="1650960" imgH="228600" progId="Equation.DSMT4">
                  <p:embed/>
                </p:oleObj>
              </mc:Choice>
              <mc:Fallback>
                <p:oleObj name="Equation" r:id="rId4" imgW="165096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3861048"/>
                        <a:ext cx="2251075" cy="309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56176" y="3429000"/>
            <a:ext cx="200567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/>
              <a:t>AD</a:t>
            </a:r>
            <a:r>
              <a:rPr lang="zh-CN" altLang="en-US" b="1"/>
              <a:t>杆：梁式杆</a:t>
            </a:r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r>
              <a:rPr lang="en-US" altLang="zh-CN" b="1" i="1"/>
              <a:t>AC</a:t>
            </a:r>
            <a:r>
              <a:rPr lang="zh-CN" altLang="en-US" b="1"/>
              <a:t>，</a:t>
            </a:r>
            <a:r>
              <a:rPr lang="en-US" altLang="zh-CN" b="1" i="1"/>
              <a:t>CD</a:t>
            </a:r>
            <a:r>
              <a:rPr lang="zh-CN" altLang="en-US" b="1"/>
              <a:t>杆：链杆</a:t>
            </a:r>
            <a:endParaRPr lang="en-US" altLang="zh-CN" b="1"/>
          </a:p>
          <a:p>
            <a:endParaRPr lang="en-US" altLang="zh-CN" b="1"/>
          </a:p>
          <a:p>
            <a:endParaRPr lang="en-US" altLang="zh-CN" sz="1200" b="1"/>
          </a:p>
          <a:p>
            <a:r>
              <a:rPr lang="en-US" altLang="zh-CN" b="1" i="1"/>
              <a:t>BC</a:t>
            </a:r>
            <a:r>
              <a:rPr lang="zh-CN" altLang="en-US" b="1"/>
              <a:t>杆：链杆</a:t>
            </a:r>
            <a:endParaRPr lang="en-US" altLang="zh-CN" b="1"/>
          </a:p>
        </p:txBody>
      </p:sp>
      <p:graphicFrame>
        <p:nvGraphicFramePr>
          <p:cNvPr id="199684" name="Object 14"/>
          <p:cNvGraphicFramePr>
            <a:graphicFrameLocks noChangeAspect="1"/>
          </p:cNvGraphicFramePr>
          <p:nvPr/>
        </p:nvGraphicFramePr>
        <p:xfrm>
          <a:off x="6418605" y="4168735"/>
          <a:ext cx="1887537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552" name="Equation" r:id="rId6" imgW="1384200" imgH="228600" progId="Equation.DSMT4">
                  <p:embed/>
                </p:oleObj>
              </mc:Choice>
              <mc:Fallback>
                <p:oleObj name="Equation" r:id="rId6" imgW="1384200" imgH="228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605" y="4168735"/>
                        <a:ext cx="1887537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5" name="Object 14"/>
          <p:cNvGraphicFramePr>
            <a:graphicFrameLocks noChangeAspect="1"/>
          </p:cNvGraphicFramePr>
          <p:nvPr/>
        </p:nvGraphicFramePr>
        <p:xfrm>
          <a:off x="6435725" y="4919637"/>
          <a:ext cx="19050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553" name="Equation" r:id="rId8" imgW="1396800" imgH="228600" progId="Equation.DSMT4">
                  <p:embed/>
                </p:oleObj>
              </mc:Choice>
              <mc:Fallback>
                <p:oleObj name="Equation" r:id="rId8" imgW="139680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725" y="4919637"/>
                        <a:ext cx="19050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6" name="Object 14"/>
          <p:cNvGraphicFramePr>
            <a:graphicFrameLocks noChangeAspect="1"/>
          </p:cNvGraphicFramePr>
          <p:nvPr/>
        </p:nvGraphicFramePr>
        <p:xfrm>
          <a:off x="6444208" y="5639717"/>
          <a:ext cx="19050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554" name="Equation" r:id="rId10" imgW="1396800" imgH="228600" progId="Equation.DSMT4">
                  <p:embed/>
                </p:oleObj>
              </mc:Choice>
              <mc:Fallback>
                <p:oleObj name="Equation" r:id="rId10" imgW="1396800" imgH="228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5639717"/>
                        <a:ext cx="19050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二、算例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：求如下组合结构的内力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996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2348880"/>
            <a:ext cx="4800600" cy="3665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9683" name="Object 14"/>
          <p:cNvGraphicFramePr>
            <a:graphicFrameLocks noChangeAspect="1"/>
          </p:cNvGraphicFramePr>
          <p:nvPr/>
        </p:nvGraphicFramePr>
        <p:xfrm>
          <a:off x="6444208" y="3861048"/>
          <a:ext cx="225107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598" name="Equation" r:id="rId4" imgW="1650960" imgH="228600" progId="Equation.DSMT4">
                  <p:embed/>
                </p:oleObj>
              </mc:Choice>
              <mc:Fallback>
                <p:oleObj name="Equation" r:id="rId4" imgW="165096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3861048"/>
                        <a:ext cx="2251075" cy="309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56176" y="3429000"/>
            <a:ext cx="200567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/>
              <a:t>AD</a:t>
            </a:r>
            <a:r>
              <a:rPr lang="zh-CN" altLang="en-US" b="1"/>
              <a:t>杆：梁式杆</a:t>
            </a:r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r>
              <a:rPr lang="en-US" altLang="zh-CN" b="1" i="1"/>
              <a:t>AC</a:t>
            </a:r>
            <a:r>
              <a:rPr lang="zh-CN" altLang="en-US" b="1"/>
              <a:t>，</a:t>
            </a:r>
            <a:r>
              <a:rPr lang="en-US" altLang="zh-CN" b="1" i="1"/>
              <a:t>CD</a:t>
            </a:r>
            <a:r>
              <a:rPr lang="zh-CN" altLang="en-US" b="1"/>
              <a:t>杆：链杆</a:t>
            </a:r>
            <a:endParaRPr lang="en-US" altLang="zh-CN" b="1"/>
          </a:p>
          <a:p>
            <a:endParaRPr lang="en-US" altLang="zh-CN" b="1"/>
          </a:p>
          <a:p>
            <a:endParaRPr lang="en-US" altLang="zh-CN" sz="1200" b="1"/>
          </a:p>
          <a:p>
            <a:r>
              <a:rPr lang="en-US" altLang="zh-CN" b="1" i="1"/>
              <a:t>BC</a:t>
            </a:r>
            <a:r>
              <a:rPr lang="zh-CN" altLang="en-US" b="1"/>
              <a:t>杆：链杆</a:t>
            </a:r>
            <a:endParaRPr lang="en-US" altLang="zh-CN" b="1"/>
          </a:p>
        </p:txBody>
      </p:sp>
      <p:graphicFrame>
        <p:nvGraphicFramePr>
          <p:cNvPr id="199684" name="Object 14"/>
          <p:cNvGraphicFramePr>
            <a:graphicFrameLocks noChangeAspect="1"/>
          </p:cNvGraphicFramePr>
          <p:nvPr/>
        </p:nvGraphicFramePr>
        <p:xfrm>
          <a:off x="6418605" y="4168735"/>
          <a:ext cx="1887537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599" name="Equation" r:id="rId6" imgW="1384200" imgH="228600" progId="Equation.DSMT4">
                  <p:embed/>
                </p:oleObj>
              </mc:Choice>
              <mc:Fallback>
                <p:oleObj name="Equation" r:id="rId6" imgW="13842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605" y="4168735"/>
                        <a:ext cx="1887537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5" name="Object 14"/>
          <p:cNvGraphicFramePr>
            <a:graphicFrameLocks noChangeAspect="1"/>
          </p:cNvGraphicFramePr>
          <p:nvPr/>
        </p:nvGraphicFramePr>
        <p:xfrm>
          <a:off x="6435725" y="4919637"/>
          <a:ext cx="19050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600" name="Equation" r:id="rId8" imgW="1396800" imgH="228600" progId="Equation.DSMT4">
                  <p:embed/>
                </p:oleObj>
              </mc:Choice>
              <mc:Fallback>
                <p:oleObj name="Equation" r:id="rId8" imgW="13968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725" y="4919637"/>
                        <a:ext cx="19050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6" name="Object 14"/>
          <p:cNvGraphicFramePr>
            <a:graphicFrameLocks noChangeAspect="1"/>
          </p:cNvGraphicFramePr>
          <p:nvPr/>
        </p:nvGraphicFramePr>
        <p:xfrm>
          <a:off x="6444208" y="5639717"/>
          <a:ext cx="19050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601" name="Equation" r:id="rId10" imgW="1396800" imgH="228600" progId="Equation.DSMT4">
                  <p:embed/>
                </p:oleObj>
              </mc:Choice>
              <mc:Fallback>
                <p:oleObj name="Equation" r:id="rId10" imgW="13968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5639717"/>
                        <a:ext cx="19050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56176" y="1916832"/>
            <a:ext cx="2375971" cy="1107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量级估计：</a:t>
            </a:r>
            <a:endParaRPr lang="en-US" altLang="zh-CN" b="1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zh-CN" altLang="en-US" sz="1600"/>
              <a:t>每个集中力</a:t>
            </a:r>
            <a:r>
              <a:rPr lang="en-US" altLang="zh-CN" sz="1600"/>
              <a:t>110kN</a:t>
            </a:r>
          </a:p>
          <a:p>
            <a:pPr>
              <a:buFont typeface="Arial" pitchFamily="34" charset="0"/>
              <a:buChar char="•"/>
            </a:pPr>
            <a:r>
              <a:rPr lang="zh-CN" altLang="en-US" sz="1600"/>
              <a:t>均布力总共才</a:t>
            </a:r>
            <a:r>
              <a:rPr lang="en-US" altLang="zh-CN" sz="1600"/>
              <a:t>18kN</a:t>
            </a:r>
            <a:r>
              <a:rPr lang="zh-CN" altLang="en-US" sz="1600"/>
              <a:t>不到</a:t>
            </a:r>
            <a:endParaRPr lang="en-US" altLang="zh-CN" sz="1600"/>
          </a:p>
          <a:p>
            <a:pPr>
              <a:buFont typeface="Arial" pitchFamily="34" charset="0"/>
              <a:buChar char="•"/>
            </a:pPr>
            <a:r>
              <a:rPr lang="zh-CN" altLang="en-US" sz="1600" b="1">
                <a:solidFill>
                  <a:srgbClr val="FF0000"/>
                </a:solidFill>
              </a:rPr>
              <a:t>集中力主导！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endParaRPr lang="zh-CN" altLang="en-US"/>
          </a:p>
        </p:txBody>
      </p:sp>
      <p:graphicFrame>
        <p:nvGraphicFramePr>
          <p:cNvPr id="199683" name="Object 14"/>
          <p:cNvGraphicFramePr>
            <a:graphicFrameLocks noChangeAspect="1"/>
          </p:cNvGraphicFramePr>
          <p:nvPr/>
        </p:nvGraphicFramePr>
        <p:xfrm>
          <a:off x="6444208" y="3861048"/>
          <a:ext cx="225107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74" name="Equation" r:id="rId3" imgW="1650960" imgH="228600" progId="Equation.DSMT4">
                  <p:embed/>
                </p:oleObj>
              </mc:Choice>
              <mc:Fallback>
                <p:oleObj name="Equation" r:id="rId3" imgW="165096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3861048"/>
                        <a:ext cx="2251075" cy="309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56176" y="3429000"/>
            <a:ext cx="200567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/>
              <a:t>AD</a:t>
            </a:r>
            <a:r>
              <a:rPr lang="zh-CN" altLang="en-US" b="1"/>
              <a:t>杆：梁式杆</a:t>
            </a:r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r>
              <a:rPr lang="en-US" altLang="zh-CN" b="1" i="1"/>
              <a:t>AC</a:t>
            </a:r>
            <a:r>
              <a:rPr lang="zh-CN" altLang="en-US" b="1"/>
              <a:t>，</a:t>
            </a:r>
            <a:r>
              <a:rPr lang="en-US" altLang="zh-CN" b="1" i="1"/>
              <a:t>CD</a:t>
            </a:r>
            <a:r>
              <a:rPr lang="zh-CN" altLang="en-US" b="1"/>
              <a:t>杆：链杆</a:t>
            </a:r>
            <a:endParaRPr lang="en-US" altLang="zh-CN" b="1"/>
          </a:p>
          <a:p>
            <a:endParaRPr lang="en-US" altLang="zh-CN" b="1"/>
          </a:p>
          <a:p>
            <a:endParaRPr lang="en-US" altLang="zh-CN" sz="1200" b="1"/>
          </a:p>
          <a:p>
            <a:r>
              <a:rPr lang="en-US" altLang="zh-CN" b="1" i="1"/>
              <a:t>BC</a:t>
            </a:r>
            <a:r>
              <a:rPr lang="zh-CN" altLang="en-US" b="1"/>
              <a:t>杆：链杆</a:t>
            </a:r>
            <a:endParaRPr lang="en-US" altLang="zh-CN" b="1"/>
          </a:p>
        </p:txBody>
      </p:sp>
      <p:graphicFrame>
        <p:nvGraphicFramePr>
          <p:cNvPr id="199684" name="Object 14"/>
          <p:cNvGraphicFramePr>
            <a:graphicFrameLocks noChangeAspect="1"/>
          </p:cNvGraphicFramePr>
          <p:nvPr/>
        </p:nvGraphicFramePr>
        <p:xfrm>
          <a:off x="6418605" y="4168735"/>
          <a:ext cx="1887537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75" name="Equation" r:id="rId5" imgW="1384200" imgH="228600" progId="Equation.DSMT4">
                  <p:embed/>
                </p:oleObj>
              </mc:Choice>
              <mc:Fallback>
                <p:oleObj name="Equation" r:id="rId5" imgW="138420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605" y="4168735"/>
                        <a:ext cx="1887537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5" name="Object 14"/>
          <p:cNvGraphicFramePr>
            <a:graphicFrameLocks noChangeAspect="1"/>
          </p:cNvGraphicFramePr>
          <p:nvPr/>
        </p:nvGraphicFramePr>
        <p:xfrm>
          <a:off x="6435725" y="4919637"/>
          <a:ext cx="19050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76" name="Equation" r:id="rId7" imgW="1396800" imgH="228600" progId="Equation.DSMT4">
                  <p:embed/>
                </p:oleObj>
              </mc:Choice>
              <mc:Fallback>
                <p:oleObj name="Equation" r:id="rId7" imgW="1396800" imgH="228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725" y="4919637"/>
                        <a:ext cx="19050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6" name="Object 14"/>
          <p:cNvGraphicFramePr>
            <a:graphicFrameLocks noChangeAspect="1"/>
          </p:cNvGraphicFramePr>
          <p:nvPr/>
        </p:nvGraphicFramePr>
        <p:xfrm>
          <a:off x="6444208" y="5639717"/>
          <a:ext cx="19050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77" name="Equation" r:id="rId9" imgW="1396800" imgH="228600" progId="Equation.DSMT4">
                  <p:embed/>
                </p:oleObj>
              </mc:Choice>
              <mc:Fallback>
                <p:oleObj name="Equation" r:id="rId9" imgW="139680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5639717"/>
                        <a:ext cx="190500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56176" y="1916832"/>
            <a:ext cx="2375971" cy="1107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量级估计：</a:t>
            </a:r>
            <a:endParaRPr lang="en-US" altLang="zh-CN" b="1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zh-CN" altLang="en-US" sz="1600"/>
              <a:t>每个集中力</a:t>
            </a:r>
            <a:r>
              <a:rPr lang="en-US" altLang="zh-CN" sz="1600"/>
              <a:t>110kN</a:t>
            </a:r>
          </a:p>
          <a:p>
            <a:pPr>
              <a:buFont typeface="Arial" pitchFamily="34" charset="0"/>
              <a:buChar char="•"/>
            </a:pPr>
            <a:r>
              <a:rPr lang="zh-CN" altLang="en-US" sz="1600"/>
              <a:t>均布力总共才</a:t>
            </a:r>
            <a:r>
              <a:rPr lang="en-US" altLang="zh-CN" sz="1600"/>
              <a:t>18kN</a:t>
            </a:r>
            <a:r>
              <a:rPr lang="zh-CN" altLang="en-US" sz="1600"/>
              <a:t>不到</a:t>
            </a:r>
            <a:endParaRPr lang="en-US" altLang="zh-CN" sz="1600"/>
          </a:p>
          <a:p>
            <a:pPr>
              <a:buFont typeface="Arial" pitchFamily="34" charset="0"/>
              <a:buChar char="•"/>
            </a:pPr>
            <a:r>
              <a:rPr lang="zh-CN" altLang="en-US" sz="1600" b="1">
                <a:solidFill>
                  <a:srgbClr val="FF0000"/>
                </a:solidFill>
              </a:rPr>
              <a:t>集中力主导！</a:t>
            </a:r>
          </a:p>
        </p:txBody>
      </p:sp>
      <p:pic>
        <p:nvPicPr>
          <p:cNvPr id="200710" name="Picture 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115616" y="2348880"/>
            <a:ext cx="4800600" cy="3665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 sz="2400">
              <a:solidFill>
                <a:srgbClr val="FF0000"/>
              </a:solidFill>
            </a:endParaRPr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79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20272" y="407707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6896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8234" y="2276872"/>
            <a:ext cx="2662238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896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03848" y="2276872"/>
            <a:ext cx="2662238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 sz="2400">
              <a:solidFill>
                <a:srgbClr val="FF0000"/>
              </a:solidFill>
            </a:endParaRPr>
          </a:p>
          <a:p>
            <a:pPr lvl="1"/>
            <a:r>
              <a:rPr lang="zh-CN" altLang="en-US" sz="2000">
                <a:solidFill>
                  <a:srgbClr val="FF0000"/>
                </a:solidFill>
              </a:rPr>
              <a:t>作内力图</a:t>
            </a:r>
            <a:endParaRPr lang="en-US" altLang="zh-CN" sz="2000">
              <a:solidFill>
                <a:srgbClr val="FF0000"/>
              </a:solidFill>
            </a:endParaRPr>
          </a:p>
          <a:p>
            <a:pPr lvl="2"/>
            <a:r>
              <a:rPr lang="zh-CN" altLang="en-US" sz="1800">
                <a:solidFill>
                  <a:srgbClr val="FF0000"/>
                </a:solidFill>
              </a:rPr>
              <a:t>弯矩</a:t>
            </a:r>
            <a:endParaRPr lang="en-US" altLang="zh-CN" sz="1800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5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067944" y="407707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119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6176" y="2276872"/>
            <a:ext cx="2662238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1972" name="Object 13"/>
          <p:cNvGraphicFramePr>
            <a:graphicFrameLocks noChangeAspect="1"/>
          </p:cNvGraphicFramePr>
          <p:nvPr/>
        </p:nvGraphicFramePr>
        <p:xfrm>
          <a:off x="7452320" y="4077072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06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4077072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74268" y="2276872"/>
            <a:ext cx="300990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 sz="2400">
              <a:solidFill>
                <a:srgbClr val="FF0000"/>
              </a:solidFill>
            </a:endParaRPr>
          </a:p>
          <a:p>
            <a:pPr lvl="1"/>
            <a:r>
              <a:rPr lang="zh-CN" altLang="en-US" sz="2000">
                <a:solidFill>
                  <a:srgbClr val="FF0000"/>
                </a:solidFill>
              </a:rPr>
              <a:t>作内力图</a:t>
            </a:r>
            <a:endParaRPr lang="en-US" altLang="zh-CN" sz="2000">
              <a:solidFill>
                <a:srgbClr val="FF0000"/>
              </a:solidFill>
            </a:endParaRPr>
          </a:p>
          <a:p>
            <a:pPr lvl="2"/>
            <a:r>
              <a:rPr lang="zh-CN" altLang="en-US" sz="1800">
                <a:solidFill>
                  <a:srgbClr val="FF0000"/>
                </a:solidFill>
              </a:rPr>
              <a:t>弯矩</a:t>
            </a:r>
            <a:endParaRPr lang="en-US" altLang="zh-CN" sz="1800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45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067944" y="407707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119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6176" y="2276872"/>
            <a:ext cx="2662238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1972" name="Object 13"/>
          <p:cNvGraphicFramePr>
            <a:graphicFrameLocks noChangeAspect="1"/>
          </p:cNvGraphicFramePr>
          <p:nvPr/>
        </p:nvGraphicFramePr>
        <p:xfrm>
          <a:off x="7452320" y="4077072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46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4077072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2999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56176" y="4509120"/>
            <a:ext cx="266223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1975" name="Object 13"/>
          <p:cNvGraphicFramePr>
            <a:graphicFrameLocks noChangeAspect="1"/>
          </p:cNvGraphicFramePr>
          <p:nvPr/>
        </p:nvGraphicFramePr>
        <p:xfrm>
          <a:off x="7395864" y="5653385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47" name="Equation" r:id="rId9" imgW="266400" imgH="241200" progId="Equation.DSMT4">
                  <p:embed/>
                </p:oleObj>
              </mc:Choice>
              <mc:Fallback>
                <p:oleObj name="Equation" r:id="rId9" imgW="266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5864" y="5653385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2998" name="Picture 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074268" y="2276872"/>
            <a:ext cx="300990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 sz="2400">
              <a:solidFill>
                <a:srgbClr val="FF0000"/>
              </a:solidFill>
            </a:endParaRPr>
          </a:p>
          <a:p>
            <a:pPr lvl="1"/>
            <a:r>
              <a:rPr lang="zh-CN" altLang="en-US" sz="2000">
                <a:solidFill>
                  <a:srgbClr val="FF0000"/>
                </a:solidFill>
              </a:rPr>
              <a:t>作内力图</a:t>
            </a:r>
            <a:endParaRPr lang="en-US" altLang="zh-CN" sz="2000">
              <a:solidFill>
                <a:srgbClr val="FF0000"/>
              </a:solidFill>
            </a:endParaRPr>
          </a:p>
          <a:p>
            <a:pPr lvl="2"/>
            <a:r>
              <a:rPr lang="zh-CN" altLang="en-US" sz="1800"/>
              <a:t>弯矩</a:t>
            </a:r>
            <a:endParaRPr lang="en-US" altLang="zh-CN" sz="1800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轴力</a:t>
            </a:r>
            <a:endParaRPr lang="en-US" altLang="zh-CN" sz="1800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403648" y="3140968"/>
          <a:ext cx="1422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86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140968"/>
                        <a:ext cx="14224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067944" y="407707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119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6176" y="2276872"/>
            <a:ext cx="2662238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1972" name="Object 13"/>
          <p:cNvGraphicFramePr>
            <a:graphicFrameLocks noChangeAspect="1"/>
          </p:cNvGraphicFramePr>
          <p:nvPr/>
        </p:nvGraphicFramePr>
        <p:xfrm>
          <a:off x="7452320" y="4077072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87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4077072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5" name="Object 13"/>
          <p:cNvGraphicFramePr>
            <a:graphicFrameLocks noChangeAspect="1"/>
          </p:cNvGraphicFramePr>
          <p:nvPr/>
        </p:nvGraphicFramePr>
        <p:xfrm>
          <a:off x="7395864" y="5653385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88" name="Equation" r:id="rId8" imgW="266400" imgH="241200" progId="Equation.DSMT4">
                  <p:embed/>
                </p:oleObj>
              </mc:Choice>
              <mc:Fallback>
                <p:oleObj name="Equation" r:id="rId8" imgW="266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5864" y="5653385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7" name="Object 9"/>
          <p:cNvGraphicFramePr>
            <a:graphicFrameLocks noChangeAspect="1"/>
          </p:cNvGraphicFramePr>
          <p:nvPr/>
        </p:nvGraphicFramePr>
        <p:xfrm>
          <a:off x="4211960" y="5445224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89" name="Equation" r:id="rId10" imgW="304560" imgH="241200" progId="Equation.DSMT4">
                  <p:embed/>
                </p:oleObj>
              </mc:Choice>
              <mc:Fallback>
                <p:oleObj name="Equation" r:id="rId10" imgW="304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5445224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074268" y="2276872"/>
            <a:ext cx="300990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156176" y="4509120"/>
            <a:ext cx="266223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059832" y="4653136"/>
            <a:ext cx="2662238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86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5976" y="1340768"/>
            <a:ext cx="2662238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5580112" y="1628800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87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1628800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3851920" y="2996952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88" name="Equation" r:id="rId8" imgW="304560" imgH="241200" progId="Equation.DSMT4">
                  <p:embed/>
                </p:oleObj>
              </mc:Choice>
              <mc:Fallback>
                <p:oleObj name="Equation" r:id="rId8" imgW="304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996952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3" name="Object 9"/>
          <p:cNvGraphicFramePr>
            <a:graphicFrameLocks noChangeAspect="1"/>
          </p:cNvGraphicFramePr>
          <p:nvPr/>
        </p:nvGraphicFramePr>
        <p:xfrm>
          <a:off x="1403648" y="4437112"/>
          <a:ext cx="5948362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89" name="Equation" r:id="rId10" imgW="5244840" imgH="1574640" progId="Equation.DSMT4">
                  <p:embed/>
                </p:oleObj>
              </mc:Choice>
              <mc:Fallback>
                <p:oleObj name="Equation" r:id="rId10" imgW="5244840" imgH="15746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4437112"/>
                        <a:ext cx="5948362" cy="179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086226" y="3212976"/>
            <a:ext cx="266223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7668344" y="2996952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90" name="Equation" r:id="rId13" imgW="266400" imgH="241200" progId="Equation.DSMT4">
                  <p:embed/>
                </p:oleObj>
              </mc:Choice>
              <mc:Fallback>
                <p:oleObj name="Equation" r:id="rId13" imgW="266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2996952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9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915816" y="3356992"/>
            <a:ext cx="2662238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7496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5976" y="1340768"/>
            <a:ext cx="2662238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5580112" y="1628800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7497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1628800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3851920" y="2996952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7498" name="Equation" r:id="rId8" imgW="304560" imgH="241200" progId="Equation.DSMT4">
                  <p:embed/>
                </p:oleObj>
              </mc:Choice>
              <mc:Fallback>
                <p:oleObj name="Equation" r:id="rId8" imgW="304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996952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3" name="Object 9"/>
          <p:cNvGraphicFramePr>
            <a:graphicFrameLocks noChangeAspect="1"/>
          </p:cNvGraphicFramePr>
          <p:nvPr/>
        </p:nvGraphicFramePr>
        <p:xfrm>
          <a:off x="1331640" y="4437112"/>
          <a:ext cx="1195387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7499" name="Equation" r:id="rId10" imgW="1054080" imgH="241200" progId="Equation.DSMT4">
                  <p:embed/>
                </p:oleObj>
              </mc:Choice>
              <mc:Fallback>
                <p:oleObj name="Equation" r:id="rId10" imgW="105408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437112"/>
                        <a:ext cx="1195387" cy="274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086226" y="3212976"/>
            <a:ext cx="266223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7668344" y="2996952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7500" name="Equation" r:id="rId13" imgW="266400" imgH="241200" progId="Equation.DSMT4">
                  <p:embed/>
                </p:oleObj>
              </mc:Choice>
              <mc:Fallback>
                <p:oleObj name="Equation" r:id="rId13" imgW="266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2996952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7" name="Object 7"/>
          <p:cNvGraphicFramePr>
            <a:graphicFrameLocks noChangeAspect="1"/>
          </p:cNvGraphicFramePr>
          <p:nvPr/>
        </p:nvGraphicFramePr>
        <p:xfrm>
          <a:off x="1347862" y="4704660"/>
          <a:ext cx="7040562" cy="175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7501" name="Equation" r:id="rId15" imgW="6197400" imgH="1549080" progId="Equation.DSMT4">
                  <p:embed/>
                </p:oleObj>
              </mc:Choice>
              <mc:Fallback>
                <p:oleObj name="Equation" r:id="rId15" imgW="6197400" imgH="15490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862" y="4704660"/>
                        <a:ext cx="7040562" cy="175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915816" y="3356992"/>
            <a:ext cx="2662238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21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4058" y="1340768"/>
            <a:ext cx="2662238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5651798" y="1628800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22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798" y="1628800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4070002" y="2996952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23" name="Equation" r:id="rId8" imgW="304560" imgH="241200" progId="Equation.DSMT4">
                  <p:embed/>
                </p:oleObj>
              </mc:Choice>
              <mc:Fallback>
                <p:oleObj name="Equation" r:id="rId8" imgW="304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002" y="2996952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3" name="Object 9"/>
          <p:cNvGraphicFramePr>
            <a:graphicFrameLocks noChangeAspect="1"/>
          </p:cNvGraphicFramePr>
          <p:nvPr/>
        </p:nvGraphicFramePr>
        <p:xfrm>
          <a:off x="1331640" y="4509120"/>
          <a:ext cx="1809750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24" name="Equation" r:id="rId10" imgW="1511280" imgH="545760" progId="Equation.DSMT4">
                  <p:embed/>
                </p:oleObj>
              </mc:Choice>
              <mc:Fallback>
                <p:oleObj name="Equation" r:id="rId10" imgW="1511280" imgH="545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509120"/>
                        <a:ext cx="1809750" cy="655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086226" y="3212976"/>
            <a:ext cx="266223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7668344" y="2996952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25" name="Equation" r:id="rId13" imgW="266400" imgH="241200" progId="Equation.DSMT4">
                  <p:embed/>
                </p:oleObj>
              </mc:Choice>
              <mc:Fallback>
                <p:oleObj name="Equation" r:id="rId13" imgW="266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2996952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1403648" y="5661248"/>
          <a:ext cx="25050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26" name="Equation" r:id="rId15" imgW="1815840" imgH="241200" progId="Equation.DSMT4">
                  <p:embed/>
                </p:oleObj>
              </mc:Choice>
              <mc:Fallback>
                <p:oleObj name="Equation" r:id="rId15" imgW="1815840" imgH="241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661248"/>
                        <a:ext cx="250507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9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133898" y="3356992"/>
            <a:ext cx="2662238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01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4058" y="1340768"/>
            <a:ext cx="2662238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5795814" y="1628800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02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814" y="1628800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3962276" y="2996952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03" name="Equation" r:id="rId8" imgW="304560" imgH="241200" progId="Equation.DSMT4">
                  <p:embed/>
                </p:oleObj>
              </mc:Choice>
              <mc:Fallback>
                <p:oleObj name="Equation" r:id="rId8" imgW="304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276" y="2996952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3" name="Object 9"/>
          <p:cNvGraphicFramePr>
            <a:graphicFrameLocks noChangeAspect="1"/>
          </p:cNvGraphicFramePr>
          <p:nvPr/>
        </p:nvGraphicFramePr>
        <p:xfrm>
          <a:off x="1331640" y="4509120"/>
          <a:ext cx="1809750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04" name="Equation" r:id="rId10" imgW="1511280" imgH="545760" progId="Equation.DSMT4">
                  <p:embed/>
                </p:oleObj>
              </mc:Choice>
              <mc:Fallback>
                <p:oleObj name="Equation" r:id="rId10" imgW="1511280" imgH="545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509120"/>
                        <a:ext cx="1809750" cy="655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086226" y="3212976"/>
            <a:ext cx="266223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7668344" y="2996952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05" name="Equation" r:id="rId13" imgW="266400" imgH="241200" progId="Equation.DSMT4">
                  <p:embed/>
                </p:oleObj>
              </mc:Choice>
              <mc:Fallback>
                <p:oleObj name="Equation" r:id="rId13" imgW="266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2996952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1403648" y="5661248"/>
          <a:ext cx="25050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06" name="Equation" r:id="rId15" imgW="1815840" imgH="241200" progId="Equation.DSMT4">
                  <p:embed/>
                </p:oleObj>
              </mc:Choice>
              <mc:Fallback>
                <p:oleObj name="Equation" r:id="rId15" imgW="181584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661248"/>
                        <a:ext cx="250507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3" name="Object 9"/>
          <p:cNvGraphicFramePr>
            <a:graphicFrameLocks noChangeAspect="1"/>
          </p:cNvGraphicFramePr>
          <p:nvPr/>
        </p:nvGraphicFramePr>
        <p:xfrm>
          <a:off x="5868144" y="5157192"/>
          <a:ext cx="26098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07" name="Equation" r:id="rId17" imgW="1892160" imgH="241200" progId="Equation.DSMT4">
                  <p:embed/>
                </p:oleObj>
              </mc:Choice>
              <mc:Fallback>
                <p:oleObj name="Equation" r:id="rId17" imgW="1892160" imgH="241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5157192"/>
                        <a:ext cx="260985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5796136" y="4653136"/>
            <a:ext cx="583814" cy="4284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tabLst>
                <a:tab pos="801688" algn="l"/>
              </a:tabLst>
            </a:pPr>
            <a:r>
              <a:rPr lang="zh-CN" altLang="en-US" sz="2000" b="1" dirty="0">
                <a:solidFill>
                  <a:srgbClr val="FF0000"/>
                </a:solidFill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</a:rPr>
              <a:t>3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68344" y="4725144"/>
            <a:ext cx="768159" cy="427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tabLst>
                <a:tab pos="801688" algn="l"/>
              </a:tabLst>
            </a:pPr>
            <a:r>
              <a:rPr lang="en-US" altLang="zh-CN" sz="2000" b="1">
                <a:solidFill>
                  <a:srgbClr val="FF0000"/>
                </a:solidFill>
              </a:rPr>
              <a:t>7.9%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5724128" y="4581128"/>
            <a:ext cx="2880320" cy="108012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23" name="Picture 9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3133898" y="3356992"/>
            <a:ext cx="2662238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284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4058" y="1340768"/>
            <a:ext cx="2662238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5795814" y="1628800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285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814" y="1628800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4070002" y="2996952"/>
          <a:ext cx="393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286" name="Equation" r:id="rId8" imgW="304560" imgH="241200" progId="Equation.DSMT4">
                  <p:embed/>
                </p:oleObj>
              </mc:Choice>
              <mc:Fallback>
                <p:oleObj name="Equation" r:id="rId8" imgW="304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002" y="2996952"/>
                        <a:ext cx="393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086226" y="3212976"/>
            <a:ext cx="266223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7668344" y="2996952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287" name="Equation" r:id="rId11" imgW="266400" imgH="241200" progId="Equation.DSMT4">
                  <p:embed/>
                </p:oleObj>
              </mc:Choice>
              <mc:Fallback>
                <p:oleObj name="Equation" r:id="rId11" imgW="266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2996952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1331641" y="4941168"/>
          <a:ext cx="1440160" cy="31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288" name="Equation" r:id="rId13" imgW="1091880" imgH="241200" progId="Equation.DSMT4">
                  <p:embed/>
                </p:oleObj>
              </mc:Choice>
              <mc:Fallback>
                <p:oleObj name="Equation" r:id="rId13" imgW="1091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1" y="4941168"/>
                        <a:ext cx="1440160" cy="3171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0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084168" y="4869160"/>
            <a:ext cx="26622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8120" name="Object 7"/>
          <p:cNvGraphicFramePr>
            <a:graphicFrameLocks noChangeAspect="1"/>
          </p:cNvGraphicFramePr>
          <p:nvPr/>
        </p:nvGraphicFramePr>
        <p:xfrm>
          <a:off x="7740352" y="4581128"/>
          <a:ext cx="2952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289" name="Equation" r:id="rId16" imgW="228600" imgH="177480" progId="Equation.DSMT4">
                  <p:embed/>
                </p:oleObj>
              </mc:Choice>
              <mc:Fallback>
                <p:oleObj name="Equation" r:id="rId16" imgW="228600" imgH="17748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352" y="4581128"/>
                        <a:ext cx="2952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8121" name="Picture 9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133898" y="3356992"/>
            <a:ext cx="2662238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8122" name="Picture 10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3133898" y="4929534"/>
            <a:ext cx="2662238" cy="94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8123" name="Object 11"/>
          <p:cNvGraphicFramePr>
            <a:graphicFrameLocks noChangeAspect="1"/>
          </p:cNvGraphicFramePr>
          <p:nvPr/>
        </p:nvGraphicFramePr>
        <p:xfrm>
          <a:off x="4142010" y="4653136"/>
          <a:ext cx="2952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290" name="Equation" r:id="rId20" imgW="228600" imgH="241200" progId="Equation.DSMT4">
                  <p:embed/>
                </p:oleObj>
              </mc:Choice>
              <mc:Fallback>
                <p:oleObj name="Equation" r:id="rId20" imgW="228600" imgH="2412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2010" y="4653136"/>
                        <a:ext cx="2952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对比静定结构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75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1331641" y="4941168"/>
          <a:ext cx="1440160" cy="31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76" name="Equation" r:id="rId5" imgW="1091880" imgH="241200" progId="Equation.DSMT4">
                  <p:embed/>
                </p:oleObj>
              </mc:Choice>
              <mc:Fallback>
                <p:oleObj name="Equation" r:id="rId5" imgW="1091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1" y="4941168"/>
                        <a:ext cx="1440160" cy="3171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67944" y="4581128"/>
            <a:ext cx="3727132" cy="1493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9145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995936" y="2204864"/>
            <a:ext cx="3727132" cy="1640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6444208" y="4221088"/>
            <a:ext cx="1936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tabLst>
                <a:tab pos="801688" algn="l"/>
              </a:tabLst>
            </a:pPr>
            <a:r>
              <a:rPr lang="zh-CN" altLang="en-US" sz="2000" b="1">
                <a:solidFill>
                  <a:srgbClr val="FF0000"/>
                </a:solidFill>
              </a:rPr>
              <a:t>弯矩减少</a:t>
            </a:r>
            <a:r>
              <a:rPr lang="en-US" altLang="zh-CN" sz="2000" b="1">
                <a:solidFill>
                  <a:srgbClr val="FF0000"/>
                </a:solidFill>
              </a:rPr>
              <a:t>43.7%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92080" y="17728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无桁架支撑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4088" y="42838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桁架支撑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/>
              <a:t>还原内力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思考：能否等价？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96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1331641" y="4941168"/>
          <a:ext cx="1440160" cy="31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97" name="Equation" r:id="rId5" imgW="1091880" imgH="241200" progId="Equation.DSMT4">
                  <p:embed/>
                </p:oleObj>
              </mc:Choice>
              <mc:Fallback>
                <p:oleObj name="Equation" r:id="rId5" imgW="1091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1" y="4941168"/>
                        <a:ext cx="1440160" cy="3171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292080" y="17728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无桁架支撑</a:t>
            </a:r>
          </a:p>
        </p:txBody>
      </p:sp>
      <p:pic>
        <p:nvPicPr>
          <p:cNvPr id="220164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01252" y="1412776"/>
            <a:ext cx="3727132" cy="2373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0165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301252" y="3861048"/>
            <a:ext cx="3727132" cy="2246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：求如下组合结构的内力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/>
              <a:t>还原内力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思考：能否等价？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861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1331641" y="4941168"/>
          <a:ext cx="1440160" cy="31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862" name="Equation" r:id="rId5" imgW="1091880" imgH="241200" progId="Equation.DSMT4">
                  <p:embed/>
                </p:oleObj>
              </mc:Choice>
              <mc:Fallback>
                <p:oleObj name="Equation" r:id="rId5" imgW="1091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1" y="4941168"/>
                        <a:ext cx="1440160" cy="3171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292080" y="17728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无桁架支撑</a:t>
            </a:r>
          </a:p>
        </p:txBody>
      </p:sp>
      <p:pic>
        <p:nvPicPr>
          <p:cNvPr id="220164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01252" y="1412776"/>
            <a:ext cx="3727132" cy="2373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22212" name="Object 8"/>
          <p:cNvGraphicFramePr>
            <a:graphicFrameLocks noChangeAspect="1"/>
          </p:cNvGraphicFramePr>
          <p:nvPr/>
        </p:nvGraphicFramePr>
        <p:xfrm>
          <a:off x="4644008" y="5733256"/>
          <a:ext cx="3396554" cy="814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863" name="Equation" r:id="rId8" imgW="2730240" imgH="660240" progId="Equation.DSMT4">
                  <p:embed/>
                </p:oleObj>
              </mc:Choice>
              <mc:Fallback>
                <p:oleObj name="Equation" r:id="rId8" imgW="2730240" imgH="6602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5733256"/>
                        <a:ext cx="3396554" cy="8146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2214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301252" y="3861048"/>
            <a:ext cx="3727132" cy="1826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7-4 </a:t>
            </a:r>
            <a:r>
              <a:rPr lang="zh-CN" altLang="en-US"/>
              <a:t>超静定桁架和组合结构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>
              <a:buNone/>
            </a:pPr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</a:t>
            </a:r>
            <a:endParaRPr lang="en-US" altLang="zh-CN"/>
          </a:p>
          <a:p>
            <a:pPr lvl="1"/>
            <a:r>
              <a:rPr lang="zh-CN" altLang="en-US"/>
              <a:t>确定基本体系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endParaRPr lang="en-US" altLang="zh-CN"/>
          </a:p>
          <a:p>
            <a:pPr lvl="1"/>
            <a:r>
              <a:rPr lang="zh-CN" altLang="en-US"/>
              <a:t>作轴力图</a:t>
            </a:r>
            <a:endParaRPr lang="en-US" altLang="zh-CN"/>
          </a:p>
          <a:p>
            <a:pPr lvl="1"/>
            <a:r>
              <a:rPr lang="zh-CN" altLang="en-US"/>
              <a:t>确定系数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zh-CN" altLang="en-US"/>
              <a:t>还原内力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思考：能否等价？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/>
          </a:p>
          <a:p>
            <a:pPr lvl="1"/>
            <a:endParaRPr lang="zh-CN" altLang="en-US"/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331640" y="3140968"/>
          <a:ext cx="1296144" cy="3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06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140968"/>
                        <a:ext cx="1296144" cy="332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1331641" y="4941168"/>
          <a:ext cx="1440160" cy="31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07" name="Equation" r:id="rId5" imgW="1091880" imgH="241200" progId="Equation.DSMT4">
                  <p:embed/>
                </p:oleObj>
              </mc:Choice>
              <mc:Fallback>
                <p:oleObj name="Equation" r:id="rId5" imgW="1091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1" y="4941168"/>
                        <a:ext cx="1440160" cy="3171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2214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19872" y="1484784"/>
            <a:ext cx="2662238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3237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347864" y="3284984"/>
            <a:ext cx="2662238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84168" y="4005064"/>
            <a:ext cx="2662238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23238" name="Object 6"/>
          <p:cNvGraphicFramePr>
            <a:graphicFrameLocks noChangeAspect="1"/>
          </p:cNvGraphicFramePr>
          <p:nvPr/>
        </p:nvGraphicFramePr>
        <p:xfrm>
          <a:off x="7380312" y="1700808"/>
          <a:ext cx="2952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08" name="Equation" r:id="rId10" imgW="228600" imgH="177480" progId="Equation.DSMT4">
                  <p:embed/>
                </p:oleObj>
              </mc:Choice>
              <mc:Fallback>
                <p:oleObj name="Equation" r:id="rId10" imgW="228600" imgH="177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1700808"/>
                        <a:ext cx="2952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3239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347864" y="4797152"/>
            <a:ext cx="2662238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3240" name="Picture 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084168" y="5301381"/>
            <a:ext cx="2662238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23241" name="Object 9"/>
          <p:cNvGraphicFramePr>
            <a:graphicFrameLocks noChangeAspect="1"/>
          </p:cNvGraphicFramePr>
          <p:nvPr/>
        </p:nvGraphicFramePr>
        <p:xfrm>
          <a:off x="4067944" y="2852936"/>
          <a:ext cx="1584176" cy="255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09" name="Equation" r:id="rId14" imgW="1409400" imgH="228600" progId="Equation.DSMT4">
                  <p:embed/>
                </p:oleObj>
              </mc:Choice>
              <mc:Fallback>
                <p:oleObj name="Equation" r:id="rId14" imgW="1409400" imgH="2286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2852936"/>
                        <a:ext cx="1584176" cy="2554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0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158234" y="2146176"/>
            <a:ext cx="26622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演示设计">
  <a:themeElements>
    <a:clrScheme name="演示设计 4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B2B2B2"/>
      </a:accent1>
      <a:accent2>
        <a:srgbClr val="5F5F5F"/>
      </a:accent2>
      <a:accent3>
        <a:srgbClr val="FFFFFF"/>
      </a:accent3>
      <a:accent4>
        <a:srgbClr val="000000"/>
      </a:accent4>
      <a:accent5>
        <a:srgbClr val="D5D5D5"/>
      </a:accent5>
      <a:accent6>
        <a:srgbClr val="555555"/>
      </a:accent6>
      <a:hlink>
        <a:srgbClr val="1C1C1C"/>
      </a:hlink>
      <a:folHlink>
        <a:srgbClr val="DDDDDD"/>
      </a:folHlink>
    </a:clrScheme>
    <a:fontScheme name="演示设计">
      <a:majorFont>
        <a:latin typeface="Arial"/>
        <a:ea typeface="黑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lnDef>
  </a:objectDefaults>
  <a:extraClrSchemeLst>
    <a:extraClrScheme>
      <a:clrScheme name="演示设计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DFE0BE"/>
        </a:accent1>
        <a:accent2>
          <a:srgbClr val="D1D46B"/>
        </a:accent2>
        <a:accent3>
          <a:srgbClr val="FFFFFF"/>
        </a:accent3>
        <a:accent4>
          <a:srgbClr val="000000"/>
        </a:accent4>
        <a:accent5>
          <a:srgbClr val="ECEDDB"/>
        </a:accent5>
        <a:accent6>
          <a:srgbClr val="BDC060"/>
        </a:accent6>
        <a:hlink>
          <a:srgbClr val="3A3B11"/>
        </a:hlink>
        <a:folHlink>
          <a:srgbClr val="EAEBB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75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F59B8"/>
        </a:accent1>
        <a:accent2>
          <a:srgbClr val="884183"/>
        </a:accent2>
        <a:accent3>
          <a:srgbClr val="FFFFFF"/>
        </a:accent3>
        <a:accent4>
          <a:srgbClr val="000000"/>
        </a:accent4>
        <a:accent5>
          <a:srgbClr val="DCB5D8"/>
        </a:accent5>
        <a:accent6>
          <a:srgbClr val="7B3A76"/>
        </a:accent6>
        <a:hlink>
          <a:srgbClr val="371535"/>
        </a:hlink>
        <a:folHlink>
          <a:srgbClr val="D99FD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2B2B2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555555"/>
        </a:accent6>
        <a:hlink>
          <a:srgbClr val="1C1C1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8A15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7D12"/>
        </a:accent6>
        <a:hlink>
          <a:srgbClr val="463900"/>
        </a:hlink>
        <a:folHlink>
          <a:srgbClr val="FFF0A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9021"/>
        </a:accent1>
        <a:accent2>
          <a:srgbClr val="DA5800"/>
        </a:accent2>
        <a:accent3>
          <a:srgbClr val="FFFFFF"/>
        </a:accent3>
        <a:accent4>
          <a:srgbClr val="000000"/>
        </a:accent4>
        <a:accent5>
          <a:srgbClr val="FFC6AB"/>
        </a:accent5>
        <a:accent6>
          <a:srgbClr val="C54F00"/>
        </a:accent6>
        <a:hlink>
          <a:srgbClr val="963D00"/>
        </a:hlink>
        <a:folHlink>
          <a:srgbClr val="FFC7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7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66B2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6FC01E"/>
        </a:accent1>
        <a:accent2>
          <a:srgbClr val="4F7913"/>
        </a:accent2>
        <a:accent3>
          <a:srgbClr val="FFFFFF"/>
        </a:accent3>
        <a:accent4>
          <a:srgbClr val="000000"/>
        </a:accent4>
        <a:accent5>
          <a:srgbClr val="BBDCAB"/>
        </a:accent5>
        <a:accent6>
          <a:srgbClr val="476D10"/>
        </a:accent6>
        <a:hlink>
          <a:srgbClr val="26420A"/>
        </a:hlink>
        <a:folHlink>
          <a:srgbClr val="ADE97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nordridesign.com">
  <a:themeElements>
    <a:clrScheme name="3_nordridesign.com 7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5B8CC1"/>
      </a:accent1>
      <a:accent2>
        <a:srgbClr val="2A5682"/>
      </a:accent2>
      <a:accent3>
        <a:srgbClr val="FFFFFF"/>
      </a:accent3>
      <a:accent4>
        <a:srgbClr val="000000"/>
      </a:accent4>
      <a:accent5>
        <a:srgbClr val="B5C5DD"/>
      </a:accent5>
      <a:accent6>
        <a:srgbClr val="254D75"/>
      </a:accent6>
      <a:hlink>
        <a:srgbClr val="002850"/>
      </a:hlink>
      <a:folHlink>
        <a:srgbClr val="66B2FE"/>
      </a:folHlink>
    </a:clrScheme>
    <a:fontScheme name="3_nordridesign.com">
      <a:majorFont>
        <a:latin typeface="Arial"/>
        <a:ea typeface="黑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lnDef>
  </a:objectDefaults>
  <a:extraClrSchemeLst>
    <a:extraClrScheme>
      <a:clrScheme name="3_nordridesign.com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DFE0BE"/>
        </a:accent1>
        <a:accent2>
          <a:srgbClr val="D1D46B"/>
        </a:accent2>
        <a:accent3>
          <a:srgbClr val="FFFFFF"/>
        </a:accent3>
        <a:accent4>
          <a:srgbClr val="000000"/>
        </a:accent4>
        <a:accent5>
          <a:srgbClr val="ECEDDB"/>
        </a:accent5>
        <a:accent6>
          <a:srgbClr val="BDC060"/>
        </a:accent6>
        <a:hlink>
          <a:srgbClr val="3A3B11"/>
        </a:hlink>
        <a:folHlink>
          <a:srgbClr val="EAEBB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75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F59B8"/>
        </a:accent1>
        <a:accent2>
          <a:srgbClr val="884183"/>
        </a:accent2>
        <a:accent3>
          <a:srgbClr val="FFFFFF"/>
        </a:accent3>
        <a:accent4>
          <a:srgbClr val="000000"/>
        </a:accent4>
        <a:accent5>
          <a:srgbClr val="DCB5D8"/>
        </a:accent5>
        <a:accent6>
          <a:srgbClr val="7B3A76"/>
        </a:accent6>
        <a:hlink>
          <a:srgbClr val="371535"/>
        </a:hlink>
        <a:folHlink>
          <a:srgbClr val="D99FD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2B2B2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555555"/>
        </a:accent6>
        <a:hlink>
          <a:srgbClr val="1C1C1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8A15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7D12"/>
        </a:accent6>
        <a:hlink>
          <a:srgbClr val="463900"/>
        </a:hlink>
        <a:folHlink>
          <a:srgbClr val="FFF0A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9021"/>
        </a:accent1>
        <a:accent2>
          <a:srgbClr val="DA5800"/>
        </a:accent2>
        <a:accent3>
          <a:srgbClr val="FFFFFF"/>
        </a:accent3>
        <a:accent4>
          <a:srgbClr val="000000"/>
        </a:accent4>
        <a:accent5>
          <a:srgbClr val="FFC6AB"/>
        </a:accent5>
        <a:accent6>
          <a:srgbClr val="C54F00"/>
        </a:accent6>
        <a:hlink>
          <a:srgbClr val="963D00"/>
        </a:hlink>
        <a:folHlink>
          <a:srgbClr val="FFC7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7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66B2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6FC01E"/>
        </a:accent1>
        <a:accent2>
          <a:srgbClr val="4F7913"/>
        </a:accent2>
        <a:accent3>
          <a:srgbClr val="FFFFFF"/>
        </a:accent3>
        <a:accent4>
          <a:srgbClr val="000000"/>
        </a:accent4>
        <a:accent5>
          <a:srgbClr val="BBDCAB"/>
        </a:accent5>
        <a:accent6>
          <a:srgbClr val="476D10"/>
        </a:accent6>
        <a:hlink>
          <a:srgbClr val="26420A"/>
        </a:hlink>
        <a:folHlink>
          <a:srgbClr val="ADE97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nordridesign.com">
  <a:themeElements>
    <a:clrScheme name="2_nordridesign.com 1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5B8CC1"/>
      </a:accent1>
      <a:accent2>
        <a:srgbClr val="2A5682"/>
      </a:accent2>
      <a:accent3>
        <a:srgbClr val="FFFFFF"/>
      </a:accent3>
      <a:accent4>
        <a:srgbClr val="000000"/>
      </a:accent4>
      <a:accent5>
        <a:srgbClr val="B5C5DD"/>
      </a:accent5>
      <a:accent6>
        <a:srgbClr val="254D75"/>
      </a:accent6>
      <a:hlink>
        <a:srgbClr val="002850"/>
      </a:hlink>
      <a:folHlink>
        <a:srgbClr val="2A94FE"/>
      </a:folHlink>
    </a:clrScheme>
    <a:fontScheme name="2_nordridesign.com">
      <a:majorFont>
        <a:latin typeface="Arial"/>
        <a:ea typeface="黑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lnDef>
  </a:objectDefaults>
  <a:extraClrSchemeLst>
    <a:extraClrScheme>
      <a:clrScheme name="2_nordridesign.com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2A94F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33</Template>
  <TotalTime>10624</TotalTime>
  <Words>2596</Words>
  <Application>Microsoft Office PowerPoint</Application>
  <PresentationFormat>全屏显示(4:3)</PresentationFormat>
  <Paragraphs>705</Paragraphs>
  <Slides>72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5" baseType="lpstr">
      <vt:lpstr>MS UI Gothic</vt:lpstr>
      <vt:lpstr>黑体</vt:lpstr>
      <vt:lpstr>华文细黑</vt:lpstr>
      <vt:lpstr>楷体</vt:lpstr>
      <vt:lpstr>宋体</vt:lpstr>
      <vt:lpstr>Arial</vt:lpstr>
      <vt:lpstr>Calibri</vt:lpstr>
      <vt:lpstr>Cambria Math</vt:lpstr>
      <vt:lpstr>Wingdings</vt:lpstr>
      <vt:lpstr>演示设计</vt:lpstr>
      <vt:lpstr>3_nordridesign.com</vt:lpstr>
      <vt:lpstr>2_nordridesign.com</vt:lpstr>
      <vt:lpstr>Equation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7-3 超静定刚架和排架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  <vt:lpstr>7-4 超静定桁架和组合结构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第二部分 超静定结构</dc:title>
  <dc:creator>XYZ</dc:creator>
  <cp:lastModifiedBy>邓 争志</cp:lastModifiedBy>
  <cp:revision>643</cp:revision>
  <dcterms:created xsi:type="dcterms:W3CDTF">2012-11-28T02:48:41Z</dcterms:created>
  <dcterms:modified xsi:type="dcterms:W3CDTF">2021-11-20T12:37:41Z</dcterms:modified>
</cp:coreProperties>
</file>