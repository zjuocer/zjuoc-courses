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4" r:id="rId1"/>
    <p:sldMasterId id="2147483820" r:id="rId2"/>
    <p:sldMasterId id="2147483796" r:id="rId3"/>
    <p:sldMasterId id="2147483808" r:id="rId4"/>
  </p:sldMasterIdLst>
  <p:notesMasterIdLst>
    <p:notesMasterId r:id="rId49"/>
  </p:notesMasterIdLst>
  <p:sldIdLst>
    <p:sldId id="285" r:id="rId5"/>
    <p:sldId id="286" r:id="rId6"/>
    <p:sldId id="287" r:id="rId7"/>
    <p:sldId id="288" r:id="rId8"/>
    <p:sldId id="292" r:id="rId9"/>
    <p:sldId id="293" r:id="rId10"/>
    <p:sldId id="294" r:id="rId11"/>
    <p:sldId id="295" r:id="rId12"/>
    <p:sldId id="296" r:id="rId13"/>
    <p:sldId id="297" r:id="rId14"/>
    <p:sldId id="298" r:id="rId15"/>
    <p:sldId id="299" r:id="rId16"/>
    <p:sldId id="300" r:id="rId17"/>
    <p:sldId id="301" r:id="rId18"/>
    <p:sldId id="302" r:id="rId19"/>
    <p:sldId id="303" r:id="rId20"/>
    <p:sldId id="304" r:id="rId21"/>
    <p:sldId id="305" r:id="rId22"/>
    <p:sldId id="306" r:id="rId23"/>
    <p:sldId id="311" r:id="rId24"/>
    <p:sldId id="307" r:id="rId25"/>
    <p:sldId id="308" r:id="rId26"/>
    <p:sldId id="309" r:id="rId27"/>
    <p:sldId id="317" r:id="rId28"/>
    <p:sldId id="316" r:id="rId29"/>
    <p:sldId id="310" r:id="rId30"/>
    <p:sldId id="312" r:id="rId31"/>
    <p:sldId id="313" r:id="rId32"/>
    <p:sldId id="315" r:id="rId33"/>
    <p:sldId id="318" r:id="rId34"/>
    <p:sldId id="321" r:id="rId35"/>
    <p:sldId id="320" r:id="rId36"/>
    <p:sldId id="322" r:id="rId37"/>
    <p:sldId id="323" r:id="rId38"/>
    <p:sldId id="324" r:id="rId39"/>
    <p:sldId id="325" r:id="rId40"/>
    <p:sldId id="326" r:id="rId41"/>
    <p:sldId id="327" r:id="rId42"/>
    <p:sldId id="328" r:id="rId43"/>
    <p:sldId id="329" r:id="rId44"/>
    <p:sldId id="330" r:id="rId45"/>
    <p:sldId id="331" r:id="rId46"/>
    <p:sldId id="332" r:id="rId47"/>
    <p:sldId id="333" r:id="rId4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20AB"/>
    <a:srgbClr val="0000FF"/>
    <a:srgbClr val="FF3399"/>
    <a:srgbClr val="9999FF"/>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2" autoAdjust="0"/>
    <p:restoredTop sz="94660"/>
  </p:normalViewPr>
  <p:slideViewPr>
    <p:cSldViewPr>
      <p:cViewPr varScale="1">
        <p:scale>
          <a:sx n="78" d="100"/>
          <a:sy n="78" d="100"/>
        </p:scale>
        <p:origin x="1531" y="72"/>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6" Type="http://schemas.openxmlformats.org/officeDocument/2006/relationships/image" Target="../media/image23.wmf"/><Relationship Id="rId5" Type="http://schemas.openxmlformats.org/officeDocument/2006/relationships/image" Target="../media/image22.wmf"/><Relationship Id="rId4"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6.wmf"/><Relationship Id="rId7" Type="http://schemas.openxmlformats.org/officeDocument/2006/relationships/image" Target="../media/image50.wmf"/><Relationship Id="rId2" Type="http://schemas.openxmlformats.org/officeDocument/2006/relationships/image" Target="../media/image45.wmf"/><Relationship Id="rId1" Type="http://schemas.openxmlformats.org/officeDocument/2006/relationships/image" Target="../media/image44.wmf"/><Relationship Id="rId6" Type="http://schemas.openxmlformats.org/officeDocument/2006/relationships/image" Target="../media/image49.wmf"/><Relationship Id="rId5" Type="http://schemas.openxmlformats.org/officeDocument/2006/relationships/image" Target="../media/image48.wmf"/><Relationship Id="rId4" Type="http://schemas.openxmlformats.org/officeDocument/2006/relationships/image" Target="../media/image47.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 Id="rId5" Type="http://schemas.openxmlformats.org/officeDocument/2006/relationships/image" Target="../media/image58.wmf"/><Relationship Id="rId4" Type="http://schemas.openxmlformats.org/officeDocument/2006/relationships/image" Target="../media/image57.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image" Target="../media/image65.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73.wmf"/><Relationship Id="rId1" Type="http://schemas.openxmlformats.org/officeDocument/2006/relationships/image" Target="../media/image72.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image" Target="../media/image74.png"/><Relationship Id="rId4" Type="http://schemas.openxmlformats.org/officeDocument/2006/relationships/image" Target="../media/image77.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78.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79.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82.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87.png"/></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89.wmf"/><Relationship Id="rId1" Type="http://schemas.openxmlformats.org/officeDocument/2006/relationships/image" Target="../media/image88.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92.wmf"/><Relationship Id="rId1" Type="http://schemas.openxmlformats.org/officeDocument/2006/relationships/image" Target="../media/image91.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image" Target="../media/image96.wmf"/><Relationship Id="rId1" Type="http://schemas.openxmlformats.org/officeDocument/2006/relationships/image" Target="../media/image95.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99.wmf"/><Relationship Id="rId1" Type="http://schemas.openxmlformats.org/officeDocument/2006/relationships/image" Target="../media/image98.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00.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image" Target="../media/image103.png"/></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12.emf"/><Relationship Id="rId3" Type="http://schemas.openxmlformats.org/officeDocument/2006/relationships/image" Target="../media/image107.emf"/><Relationship Id="rId7" Type="http://schemas.openxmlformats.org/officeDocument/2006/relationships/image" Target="../media/image111.emf"/><Relationship Id="rId2" Type="http://schemas.openxmlformats.org/officeDocument/2006/relationships/image" Target="../media/image106.emf"/><Relationship Id="rId1" Type="http://schemas.openxmlformats.org/officeDocument/2006/relationships/image" Target="../media/image105.emf"/><Relationship Id="rId6" Type="http://schemas.openxmlformats.org/officeDocument/2006/relationships/image" Target="../media/image110.emf"/><Relationship Id="rId5" Type="http://schemas.openxmlformats.org/officeDocument/2006/relationships/image" Target="../media/image109.png"/><Relationship Id="rId4" Type="http://schemas.openxmlformats.org/officeDocument/2006/relationships/image" Target="../media/image108.e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15.emf"/><Relationship Id="rId2" Type="http://schemas.openxmlformats.org/officeDocument/2006/relationships/image" Target="../media/image114.emf"/><Relationship Id="rId1" Type="http://schemas.openxmlformats.org/officeDocument/2006/relationships/image" Target="../media/image113.png"/><Relationship Id="rId5" Type="http://schemas.openxmlformats.org/officeDocument/2006/relationships/image" Target="../media/image120.png"/><Relationship Id="rId4" Type="http://schemas.openxmlformats.org/officeDocument/2006/relationships/image" Target="../media/image116.e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23.emf"/><Relationship Id="rId2" Type="http://schemas.openxmlformats.org/officeDocument/2006/relationships/image" Target="../media/image122.wmf"/><Relationship Id="rId1" Type="http://schemas.openxmlformats.org/officeDocument/2006/relationships/image" Target="../media/image121.wmf"/><Relationship Id="rId4" Type="http://schemas.openxmlformats.org/officeDocument/2006/relationships/image" Target="../media/image125.png"/></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28.emf"/><Relationship Id="rId2" Type="http://schemas.openxmlformats.org/officeDocument/2006/relationships/image" Target="../media/image127.emf"/><Relationship Id="rId1" Type="http://schemas.openxmlformats.org/officeDocument/2006/relationships/image" Target="../media/image126.emf"/><Relationship Id="rId5" Type="http://schemas.openxmlformats.org/officeDocument/2006/relationships/image" Target="../media/image130.wmf"/><Relationship Id="rId4" Type="http://schemas.openxmlformats.org/officeDocument/2006/relationships/image" Target="../media/image129.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33.emf"/><Relationship Id="rId2" Type="http://schemas.openxmlformats.org/officeDocument/2006/relationships/image" Target="../media/image132.wmf"/><Relationship Id="rId1" Type="http://schemas.openxmlformats.org/officeDocument/2006/relationships/image" Target="../media/image131.wmf"/><Relationship Id="rId5" Type="http://schemas.openxmlformats.org/officeDocument/2006/relationships/image" Target="../media/image135.emf"/><Relationship Id="rId4" Type="http://schemas.openxmlformats.org/officeDocument/2006/relationships/image" Target="../media/image134.e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129.wmf"/><Relationship Id="rId3" Type="http://schemas.openxmlformats.org/officeDocument/2006/relationships/image" Target="../media/image138.emf"/><Relationship Id="rId7" Type="http://schemas.openxmlformats.org/officeDocument/2006/relationships/image" Target="../media/image142.emf"/><Relationship Id="rId2" Type="http://schemas.openxmlformats.org/officeDocument/2006/relationships/image" Target="../media/image137.emf"/><Relationship Id="rId1" Type="http://schemas.openxmlformats.org/officeDocument/2006/relationships/image" Target="../media/image136.emf"/><Relationship Id="rId6" Type="http://schemas.openxmlformats.org/officeDocument/2006/relationships/image" Target="../media/image141.emf"/><Relationship Id="rId5" Type="http://schemas.openxmlformats.org/officeDocument/2006/relationships/image" Target="../media/image140.wmf"/><Relationship Id="rId4" Type="http://schemas.openxmlformats.org/officeDocument/2006/relationships/image" Target="../media/image139.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43.wmf"/><Relationship Id="rId7" Type="http://schemas.openxmlformats.org/officeDocument/2006/relationships/image" Target="../media/image147.emf"/><Relationship Id="rId2" Type="http://schemas.openxmlformats.org/officeDocument/2006/relationships/image" Target="../media/image121.wmf"/><Relationship Id="rId1" Type="http://schemas.openxmlformats.org/officeDocument/2006/relationships/image" Target="../media/image139.wmf"/><Relationship Id="rId6" Type="http://schemas.openxmlformats.org/officeDocument/2006/relationships/image" Target="../media/image146.emf"/><Relationship Id="rId5" Type="http://schemas.openxmlformats.org/officeDocument/2006/relationships/image" Target="../media/image145.emf"/><Relationship Id="rId4" Type="http://schemas.openxmlformats.org/officeDocument/2006/relationships/image" Target="../media/image144.e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153.wmf"/><Relationship Id="rId3" Type="http://schemas.openxmlformats.org/officeDocument/2006/relationships/image" Target="../media/image148.wmf"/><Relationship Id="rId7" Type="http://schemas.openxmlformats.org/officeDocument/2006/relationships/image" Target="../media/image152.emf"/><Relationship Id="rId2" Type="http://schemas.openxmlformats.org/officeDocument/2006/relationships/image" Target="../media/image121.wmf"/><Relationship Id="rId1" Type="http://schemas.openxmlformats.org/officeDocument/2006/relationships/image" Target="../media/image139.wmf"/><Relationship Id="rId6" Type="http://schemas.openxmlformats.org/officeDocument/2006/relationships/image" Target="../media/image151.emf"/><Relationship Id="rId5" Type="http://schemas.openxmlformats.org/officeDocument/2006/relationships/image" Target="../media/image150.emf"/><Relationship Id="rId4" Type="http://schemas.openxmlformats.org/officeDocument/2006/relationships/image" Target="../media/image149.e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56.wmf"/><Relationship Id="rId2" Type="http://schemas.openxmlformats.org/officeDocument/2006/relationships/image" Target="../media/image155.wmf"/><Relationship Id="rId1" Type="http://schemas.openxmlformats.org/officeDocument/2006/relationships/image" Target="../media/image154.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59.wmf"/><Relationship Id="rId7" Type="http://schemas.openxmlformats.org/officeDocument/2006/relationships/image" Target="../media/image163.emf"/><Relationship Id="rId2" Type="http://schemas.openxmlformats.org/officeDocument/2006/relationships/image" Target="../media/image158.wmf"/><Relationship Id="rId1" Type="http://schemas.openxmlformats.org/officeDocument/2006/relationships/image" Target="../media/image157.emf"/><Relationship Id="rId6" Type="http://schemas.openxmlformats.org/officeDocument/2006/relationships/image" Target="../media/image162.emf"/><Relationship Id="rId5" Type="http://schemas.openxmlformats.org/officeDocument/2006/relationships/image" Target="../media/image161.emf"/><Relationship Id="rId4" Type="http://schemas.openxmlformats.org/officeDocument/2006/relationships/image" Target="../media/image160.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66.wmf"/><Relationship Id="rId2" Type="http://schemas.openxmlformats.org/officeDocument/2006/relationships/image" Target="../media/image165.wmf"/><Relationship Id="rId1" Type="http://schemas.openxmlformats.org/officeDocument/2006/relationships/image" Target="../media/image164.wmf"/><Relationship Id="rId6" Type="http://schemas.openxmlformats.org/officeDocument/2006/relationships/image" Target="../media/image169.emf"/><Relationship Id="rId5" Type="http://schemas.openxmlformats.org/officeDocument/2006/relationships/image" Target="../media/image168.emf"/><Relationship Id="rId4" Type="http://schemas.openxmlformats.org/officeDocument/2006/relationships/image" Target="../media/image167.e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72.wmf"/><Relationship Id="rId2" Type="http://schemas.openxmlformats.org/officeDocument/2006/relationships/image" Target="../media/image171.wmf"/><Relationship Id="rId1" Type="http://schemas.openxmlformats.org/officeDocument/2006/relationships/image" Target="../media/image170.wmf"/><Relationship Id="rId5" Type="http://schemas.openxmlformats.org/officeDocument/2006/relationships/image" Target="../media/image174.emf"/><Relationship Id="rId4" Type="http://schemas.openxmlformats.org/officeDocument/2006/relationships/image" Target="../media/image173.e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77.wmf"/><Relationship Id="rId7" Type="http://schemas.openxmlformats.org/officeDocument/2006/relationships/image" Target="../media/image181.emf"/><Relationship Id="rId2" Type="http://schemas.openxmlformats.org/officeDocument/2006/relationships/image" Target="../media/image176.emf"/><Relationship Id="rId1" Type="http://schemas.openxmlformats.org/officeDocument/2006/relationships/image" Target="../media/image175.emf"/><Relationship Id="rId6" Type="http://schemas.openxmlformats.org/officeDocument/2006/relationships/image" Target="../media/image180.emf"/><Relationship Id="rId5" Type="http://schemas.openxmlformats.org/officeDocument/2006/relationships/image" Target="../media/image179.wmf"/><Relationship Id="rId4" Type="http://schemas.openxmlformats.org/officeDocument/2006/relationships/image" Target="../media/image17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4C0A4F-6965-47C4-AA22-49C016992D9D}" type="datetimeFigureOut">
              <a:rPr lang="zh-CN" altLang="en-US" smtClean="0"/>
              <a:pPr/>
              <a:t>2021/12/17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56CADB-65D5-45D1-ACB1-61FEC89783DE}" type="slidenum">
              <a:rPr lang="zh-CN" altLang="en-US" smtClean="0"/>
              <a:pPr/>
              <a:t>‹#›</a:t>
            </a:fld>
            <a:endParaRPr lang="zh-CN" altLang="en-US"/>
          </a:p>
        </p:txBody>
      </p:sp>
    </p:spTree>
    <p:extLst>
      <p:ext uri="{BB962C8B-B14F-4D97-AF65-F5344CB8AC3E}">
        <p14:creationId xmlns:p14="http://schemas.microsoft.com/office/powerpoint/2010/main" val="2189042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1"/>
          <p:cNvPicPr>
            <a:picLocks noChangeAspect="1" noChangeArrowheads="1"/>
          </p:cNvPicPr>
          <p:nvPr/>
        </p:nvPicPr>
        <p:blipFill>
          <a:blip r:embed="rId2" cstate="print"/>
          <a:srcRect/>
          <a:stretch>
            <a:fillRect/>
          </a:stretch>
        </p:blipFill>
        <p:spPr bwMode="auto">
          <a:xfrm>
            <a:off x="0" y="-25400"/>
            <a:ext cx="9144000" cy="6883400"/>
          </a:xfrm>
          <a:prstGeom prst="rect">
            <a:avLst/>
          </a:prstGeom>
          <a:noFill/>
          <a:ln w="9525">
            <a:noFill/>
            <a:miter lim="800000"/>
            <a:headEnd/>
            <a:tailEnd/>
          </a:ln>
        </p:spPr>
      </p:pic>
      <p:pic>
        <p:nvPicPr>
          <p:cNvPr id="5" name="Picture 3" descr="2"/>
          <p:cNvPicPr>
            <a:picLocks noChangeAspect="1" noChangeArrowheads="1"/>
          </p:cNvPicPr>
          <p:nvPr/>
        </p:nvPicPr>
        <p:blipFill>
          <a:blip r:embed="rId3" cstate="print"/>
          <a:srcRect/>
          <a:stretch>
            <a:fillRect/>
          </a:stretch>
        </p:blipFill>
        <p:spPr bwMode="auto">
          <a:xfrm>
            <a:off x="0" y="3030538"/>
            <a:ext cx="9144000" cy="3827462"/>
          </a:xfrm>
          <a:prstGeom prst="rect">
            <a:avLst/>
          </a:prstGeom>
          <a:noFill/>
          <a:ln w="9525">
            <a:noFill/>
            <a:miter lim="800000"/>
            <a:headEnd/>
            <a:tailEnd/>
          </a:ln>
        </p:spPr>
      </p:pic>
      <p:sp>
        <p:nvSpPr>
          <p:cNvPr id="7" name="Rectangle 5"/>
          <p:cNvSpPr txBox="1">
            <a:spLocks noChangeArrowheads="1"/>
          </p:cNvSpPr>
          <p:nvPr/>
        </p:nvSpPr>
        <p:spPr bwMode="auto">
          <a:xfrm>
            <a:off x="6372200" y="5877272"/>
            <a:ext cx="2303488" cy="864096"/>
          </a:xfrm>
          <a:prstGeom prst="rect">
            <a:avLst/>
          </a:prstGeom>
          <a:noFill/>
          <a:ln w="9525">
            <a:noFill/>
            <a:miter lim="800000"/>
            <a:headEnd/>
            <a:tailEnd/>
          </a:ln>
        </p:spPr>
        <p:txBody>
          <a:bodyPr lIns="0" rIns="0"/>
          <a:lstStyle/>
          <a:p>
            <a:pPr eaLnBrk="0" hangingPunct="0">
              <a:lnSpc>
                <a:spcPct val="100000"/>
              </a:lnSpc>
              <a:spcBef>
                <a:spcPts val="300"/>
              </a:spcBef>
              <a:spcAft>
                <a:spcPts val="300"/>
              </a:spcAft>
              <a:buClr>
                <a:schemeClr val="accent1"/>
              </a:buClr>
              <a:defRPr/>
            </a:pPr>
            <a:r>
              <a:rPr lang="zh-CN" altLang="en-US" sz="1400" b="1" noProof="1">
                <a:solidFill>
                  <a:schemeClr val="bg1"/>
                </a:solidFill>
              </a:rPr>
              <a:t>浙江大学海洋学院</a:t>
            </a:r>
            <a:endParaRPr lang="en-US" altLang="zh-CN" sz="1400" b="1" noProof="1">
              <a:solidFill>
                <a:schemeClr val="bg1"/>
              </a:solidFill>
            </a:endParaRPr>
          </a:p>
          <a:p>
            <a:pPr eaLnBrk="0" hangingPunct="0">
              <a:lnSpc>
                <a:spcPct val="100000"/>
              </a:lnSpc>
              <a:spcBef>
                <a:spcPts val="0"/>
              </a:spcBef>
              <a:spcAft>
                <a:spcPts val="300"/>
              </a:spcAft>
              <a:buClr>
                <a:schemeClr val="accent1"/>
              </a:buClr>
              <a:defRPr/>
            </a:pPr>
            <a:r>
              <a:rPr lang="en-US" altLang="zh-CN" sz="1400" b="0" noProof="1">
                <a:solidFill>
                  <a:schemeClr val="bg1"/>
                </a:solidFill>
              </a:rPr>
              <a:t> Tel :</a:t>
            </a:r>
          </a:p>
          <a:p>
            <a:pPr eaLnBrk="0" hangingPunct="0">
              <a:lnSpc>
                <a:spcPct val="100000"/>
              </a:lnSpc>
              <a:spcBef>
                <a:spcPts val="0"/>
              </a:spcBef>
              <a:spcAft>
                <a:spcPts val="300"/>
              </a:spcAft>
              <a:buClr>
                <a:schemeClr val="accent1"/>
              </a:buClr>
              <a:defRPr/>
            </a:pPr>
            <a:r>
              <a:rPr lang="en-US" altLang="zh-CN" sz="1400" b="0" noProof="1">
                <a:solidFill>
                  <a:schemeClr val="bg1"/>
                </a:solidFill>
              </a:rPr>
              <a:t>Email</a:t>
            </a:r>
            <a:r>
              <a:rPr lang="zh-CN" altLang="en-US" sz="1400" b="0" noProof="1">
                <a:solidFill>
                  <a:schemeClr val="bg1"/>
                </a:solidFill>
              </a:rPr>
              <a:t>：</a:t>
            </a:r>
            <a:endParaRPr lang="en-US" altLang="en-US" sz="1400" b="0" noProof="1">
              <a:solidFill>
                <a:schemeClr val="bg1"/>
              </a:solidFill>
            </a:endParaRPr>
          </a:p>
        </p:txBody>
      </p:sp>
      <p:sp>
        <p:nvSpPr>
          <p:cNvPr id="2053" name="Rectangle 27"/>
          <p:cNvSpPr>
            <a:spLocks noGrp="1" noChangeArrowheads="1"/>
          </p:cNvSpPr>
          <p:nvPr>
            <p:ph type="ctrTitle"/>
          </p:nvPr>
        </p:nvSpPr>
        <p:spPr>
          <a:xfrm>
            <a:off x="468313" y="4365625"/>
            <a:ext cx="8207375" cy="960438"/>
          </a:xfrm>
          <a:ln w="9525"/>
        </p:spPr>
        <p:txBody>
          <a:bodyPr/>
          <a:lstStyle>
            <a:lvl1pPr>
              <a:defRPr sz="3400"/>
            </a:lvl1pPr>
          </a:lstStyle>
          <a:p>
            <a:r>
              <a:rPr lang="en-US" altLang="zh-CN"/>
              <a:t>Click to edit Master title style</a:t>
            </a:r>
            <a:endParaRPr lang="zh-CN"/>
          </a:p>
        </p:txBody>
      </p:sp>
      <p:sp>
        <p:nvSpPr>
          <p:cNvPr id="2054" name="Rectangle 31"/>
          <p:cNvSpPr>
            <a:spLocks noGrp="1" noChangeArrowheads="1"/>
          </p:cNvSpPr>
          <p:nvPr>
            <p:ph type="subTitle" idx="1"/>
          </p:nvPr>
        </p:nvSpPr>
        <p:spPr>
          <a:xfrm>
            <a:off x="683568" y="5326063"/>
            <a:ext cx="7776864" cy="407987"/>
          </a:xfrm>
        </p:spPr>
        <p:txBody>
          <a:bodyPr anchor="ctr"/>
          <a:lstStyle>
            <a:lvl1pPr marL="0" indent="0" algn="ctr">
              <a:buFont typeface="Wingdings" pitchFamily="2" charset="2"/>
              <a:buNone/>
              <a:defRPr sz="1800">
                <a:solidFill>
                  <a:schemeClr val="bg1"/>
                </a:solidFill>
              </a:defRPr>
            </a:lvl1pPr>
          </a:lstStyle>
          <a:p>
            <a:r>
              <a:rPr lang="en-US" altLang="zh-CN"/>
              <a:t>Click to edit Master subtitle style</a:t>
            </a:r>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1143000"/>
          </a:xfrm>
        </p:spPr>
        <p:txBody>
          <a:bodyPr/>
          <a:lstStyle/>
          <a:p>
            <a:r>
              <a:rPr lang="en-US" altLang="zh-CN"/>
              <a:t>Click to edit Master title style</a:t>
            </a:r>
            <a:endParaRPr lang="zh-CN" altLang="en-US"/>
          </a:p>
        </p:txBody>
      </p:sp>
      <p:sp>
        <p:nvSpPr>
          <p:cNvPr id="3" name="内容占位符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pic>
        <p:nvPicPr>
          <p:cNvPr id="49156" name="Picture 4" descr="E:\Pictures\Logo.png"/>
          <p:cNvPicPr>
            <a:picLocks noChangeAspect="1" noChangeArrowheads="1"/>
          </p:cNvPicPr>
          <p:nvPr userDrawn="1"/>
        </p:nvPicPr>
        <p:blipFill>
          <a:blip r:embed="rId2" cstate="print"/>
          <a:srcRect/>
          <a:stretch>
            <a:fillRect/>
          </a:stretch>
        </p:blipFill>
        <p:spPr bwMode="auto">
          <a:xfrm>
            <a:off x="251520" y="188640"/>
            <a:ext cx="1656184" cy="818857"/>
          </a:xfrm>
          <a:prstGeom prst="rect">
            <a:avLst/>
          </a:prstGeom>
          <a:noFill/>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en-US" altLang="zh-CN"/>
              <a:t>Click to edit Master title style</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sz="half" idx="1"/>
          </p:nvPr>
        </p:nvSpPr>
        <p:spPr>
          <a:xfrm>
            <a:off x="468313" y="1268413"/>
            <a:ext cx="4027487"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内容占位符 3"/>
          <p:cNvSpPr>
            <a:spLocks noGrp="1"/>
          </p:cNvSpPr>
          <p:nvPr>
            <p:ph sz="half" idx="2"/>
          </p:nvPr>
        </p:nvSpPr>
        <p:spPr>
          <a:xfrm>
            <a:off x="4648200" y="1268413"/>
            <a:ext cx="4027488"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en-US" altLang="zh-CN"/>
              <a:t>Click to edit Master title style</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en-US" altLang="zh-CN"/>
              <a:t>Click to edit Master title style</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en-US" altLang="zh-CN"/>
              <a:t>Click to edit Master title style</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CN" noProof="0"/>
              <a:t>Click icon to add picture</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竖排文字占位符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6034087"/>
          </a:xfrm>
        </p:spPr>
        <p:txBody>
          <a:bodyPr vert="eaVert"/>
          <a:lstStyle/>
          <a:p>
            <a:r>
              <a:rPr lang="en-US" altLang="zh-CN"/>
              <a:t>Click to edit Master title style</a:t>
            </a:r>
            <a:endParaRPr lang="zh-CN" altLang="en-US"/>
          </a:p>
        </p:txBody>
      </p:sp>
      <p:sp>
        <p:nvSpPr>
          <p:cNvPr id="3" name="竖排文字占位符 2"/>
          <p:cNvSpPr>
            <a:spLocks noGrp="1"/>
          </p:cNvSpPr>
          <p:nvPr>
            <p:ph type="body" orient="vert" idx="1"/>
          </p:nvPr>
        </p:nvSpPr>
        <p:spPr>
          <a:xfrm>
            <a:off x="457200" y="274638"/>
            <a:ext cx="6019800" cy="6034087"/>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46B5646-6F12-4EA7-A851-58FB2AB3F30B}" type="datetime11">
              <a:rPr lang="zh-CN" altLang="en-US" smtClean="0"/>
              <a:t>12:18:26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2637948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6EF15EE-8070-43B0-B15A-25AB95878380}" type="datetime11">
              <a:rPr lang="zh-CN" altLang="en-US" smtClean="0"/>
              <a:t>12:18:26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42473292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638AF93-5A19-403D-8BE6-3A7FC2EEE554}" type="datetime11">
              <a:rPr lang="zh-CN" altLang="en-US" smtClean="0"/>
              <a:t>12:18:26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38734878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033378A-562F-47D4-A04E-62FEEDC3192D}" type="datetime11">
              <a:rPr lang="zh-CN" altLang="en-US" smtClean="0"/>
              <a:t>12:18:26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35785638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E9CDA24-3D7C-4AD4-9766-295C421C75A6}" type="datetime11">
              <a:rPr lang="zh-CN" altLang="en-US" smtClean="0"/>
              <a:t>12:18:26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4169806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F484275-9A86-4B5C-A988-6C0AF20A75CD}" type="datetime11">
              <a:rPr lang="zh-CN" altLang="en-US" smtClean="0"/>
              <a:t>12:18:26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8163911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47F0C41-EC05-48E4-97F6-8A41B8679B89}" type="datetime11">
              <a:rPr lang="zh-CN" altLang="en-US" smtClean="0"/>
              <a:t>12:18:26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17450220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26AC8B9-5FF1-4BAB-9F02-CFA3199E8A06}" type="datetime11">
              <a:rPr lang="zh-CN" altLang="en-US" smtClean="0"/>
              <a:t>12:18:26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12647693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A348A47-8E30-4E5A-B316-DEF4ED1B838D}" type="datetime11">
              <a:rPr lang="zh-CN" altLang="en-US" smtClean="0"/>
              <a:t>12:18:26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29818458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B47561A-908F-4680-A081-1B9E54B76997}" type="datetime11">
              <a:rPr lang="zh-CN" altLang="en-US" smtClean="0"/>
              <a:t>12:18:26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492798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87F031B-70A2-409F-9E6A-FA01B55B458E}" type="datetime11">
              <a:rPr lang="zh-CN" altLang="en-US" smtClean="0"/>
              <a:t>12:18:26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23217584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6"/>
          <p:cNvSpPr>
            <a:spLocks noGrp="1" noChangeArrowheads="1"/>
          </p:cNvSpPr>
          <p:nvPr>
            <p:ph type="dt" sz="half" idx="10"/>
          </p:nvPr>
        </p:nvSpPr>
        <p:spPr>
          <a:ln/>
        </p:spPr>
        <p:txBody>
          <a:bodyPr/>
          <a:lstStyle>
            <a:lvl1pPr>
              <a:defRPr/>
            </a:lvl1pPr>
          </a:lstStyle>
          <a:p>
            <a:pPr>
              <a:defRPr/>
            </a:pPr>
            <a:fld id="{86788FC4-7553-4F01-8BD5-4B1B77F44504}" type="datetime11">
              <a:rPr lang="zh-CN" altLang="en-US" smtClean="0"/>
              <a:t>12:18:26</a:t>
            </a:fld>
            <a:endParaRPr lang="zh-CN" altLang="en-US"/>
          </a:p>
        </p:txBody>
      </p:sp>
      <p:sp>
        <p:nvSpPr>
          <p:cNvPr id="5" name="Rectangle 7"/>
          <p:cNvSpPr>
            <a:spLocks noGrp="1" noChangeArrowheads="1"/>
          </p:cNvSpPr>
          <p:nvPr>
            <p:ph type="sldNum" sz="quarter" idx="11"/>
          </p:nvPr>
        </p:nvSpPr>
        <p:spPr>
          <a:ln/>
        </p:spPr>
        <p:txBody>
          <a:bodyPr/>
          <a:lstStyle>
            <a:lvl1pPr>
              <a:defRPr/>
            </a:lvl1pPr>
          </a:lstStyle>
          <a:p>
            <a:pPr>
              <a:defRPr/>
            </a:pPr>
            <a:fld id="{BB0CC364-1BA5-41B9-AB2A-AED99E06F6D9}" type="slidenum">
              <a:rPr lang="zh-CN" altLang="zh-CN"/>
              <a:pPr>
                <a:defRPr/>
              </a:pPr>
              <a:t>‹#›</a:t>
            </a:fld>
            <a:endParaRPr lang="zh-CN" altLang="zh-CN"/>
          </a:p>
        </p:txBody>
      </p:sp>
      <p:sp>
        <p:nvSpPr>
          <p:cNvPr id="6"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a:ln/>
        </p:spPr>
        <p:txBody>
          <a:bodyPr/>
          <a:lstStyle>
            <a:lvl1pPr>
              <a:defRPr/>
            </a:lvl1pPr>
          </a:lstStyle>
          <a:p>
            <a:pPr>
              <a:defRPr/>
            </a:pPr>
            <a:fld id="{CA6B7A47-6463-43FC-A920-9BF0C01127C7}" type="datetime11">
              <a:rPr lang="zh-CN" altLang="en-US" smtClean="0"/>
              <a:t>12:18:26</a:t>
            </a:fld>
            <a:endParaRPr lang="zh-CN" altLang="en-US"/>
          </a:p>
        </p:txBody>
      </p:sp>
      <p:sp>
        <p:nvSpPr>
          <p:cNvPr id="5" name="Rectangle 7"/>
          <p:cNvSpPr>
            <a:spLocks noGrp="1" noChangeArrowheads="1"/>
          </p:cNvSpPr>
          <p:nvPr>
            <p:ph type="sldNum" sz="quarter" idx="11"/>
          </p:nvPr>
        </p:nvSpPr>
        <p:spPr>
          <a:ln/>
        </p:spPr>
        <p:txBody>
          <a:bodyPr/>
          <a:lstStyle>
            <a:lvl1pPr>
              <a:defRPr/>
            </a:lvl1pPr>
          </a:lstStyle>
          <a:p>
            <a:pPr>
              <a:defRPr/>
            </a:pPr>
            <a:fld id="{AC2FE7BF-FC50-4631-86B5-C40F6148C3BD}" type="slidenum">
              <a:rPr lang="zh-CN" altLang="zh-CN"/>
              <a:pPr>
                <a:defRPr/>
              </a:pPr>
              <a:t>‹#›</a:t>
            </a:fld>
            <a:endParaRPr lang="zh-CN" altLang="zh-CN"/>
          </a:p>
        </p:txBody>
      </p:sp>
      <p:sp>
        <p:nvSpPr>
          <p:cNvPr id="6"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dt" sz="half" idx="10"/>
          </p:nvPr>
        </p:nvSpPr>
        <p:spPr>
          <a:ln/>
        </p:spPr>
        <p:txBody>
          <a:bodyPr/>
          <a:lstStyle>
            <a:lvl1pPr>
              <a:defRPr/>
            </a:lvl1pPr>
          </a:lstStyle>
          <a:p>
            <a:pPr>
              <a:defRPr/>
            </a:pPr>
            <a:fld id="{9827060D-86D9-4608-9352-0B621FCD55B1}" type="datetime11">
              <a:rPr lang="zh-CN" altLang="en-US" smtClean="0"/>
              <a:t>12:18:26</a:t>
            </a:fld>
            <a:endParaRPr lang="zh-CN" altLang="en-US"/>
          </a:p>
        </p:txBody>
      </p:sp>
      <p:sp>
        <p:nvSpPr>
          <p:cNvPr id="5" name="Rectangle 7"/>
          <p:cNvSpPr>
            <a:spLocks noGrp="1" noChangeArrowheads="1"/>
          </p:cNvSpPr>
          <p:nvPr>
            <p:ph type="sldNum" sz="quarter" idx="11"/>
          </p:nvPr>
        </p:nvSpPr>
        <p:spPr>
          <a:ln/>
        </p:spPr>
        <p:txBody>
          <a:bodyPr/>
          <a:lstStyle>
            <a:lvl1pPr>
              <a:defRPr/>
            </a:lvl1pPr>
          </a:lstStyle>
          <a:p>
            <a:pPr>
              <a:defRPr/>
            </a:pPr>
            <a:fld id="{054FC075-4888-4507-A2A3-28BF2AB6BA3D}" type="slidenum">
              <a:rPr lang="zh-CN" altLang="zh-CN"/>
              <a:pPr>
                <a:defRPr/>
              </a:pPr>
              <a:t>‹#›</a:t>
            </a:fld>
            <a:endParaRPr lang="zh-CN" altLang="zh-CN"/>
          </a:p>
        </p:txBody>
      </p:sp>
      <p:sp>
        <p:nvSpPr>
          <p:cNvPr id="6"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dt" sz="half" idx="10"/>
          </p:nvPr>
        </p:nvSpPr>
        <p:spPr>
          <a:ln/>
        </p:spPr>
        <p:txBody>
          <a:bodyPr/>
          <a:lstStyle>
            <a:lvl1pPr>
              <a:defRPr/>
            </a:lvl1pPr>
          </a:lstStyle>
          <a:p>
            <a:pPr>
              <a:defRPr/>
            </a:pPr>
            <a:fld id="{BB0E6124-32BA-40D1-9233-D1AA882C4954}" type="datetime11">
              <a:rPr lang="zh-CN" altLang="en-US" smtClean="0"/>
              <a:t>12:18:26</a:t>
            </a:fld>
            <a:endParaRPr lang="zh-CN" altLang="en-US"/>
          </a:p>
        </p:txBody>
      </p:sp>
      <p:sp>
        <p:nvSpPr>
          <p:cNvPr id="6" name="Rectangle 7"/>
          <p:cNvSpPr>
            <a:spLocks noGrp="1" noChangeArrowheads="1"/>
          </p:cNvSpPr>
          <p:nvPr>
            <p:ph type="sldNum" sz="quarter" idx="11"/>
          </p:nvPr>
        </p:nvSpPr>
        <p:spPr>
          <a:ln/>
        </p:spPr>
        <p:txBody>
          <a:bodyPr/>
          <a:lstStyle>
            <a:lvl1pPr>
              <a:defRPr/>
            </a:lvl1pPr>
          </a:lstStyle>
          <a:p>
            <a:pPr>
              <a:defRPr/>
            </a:pPr>
            <a:fld id="{424A21DF-7FF8-481C-8F91-FD6CD142DE13}" type="slidenum">
              <a:rPr lang="zh-CN" altLang="zh-CN"/>
              <a:pPr>
                <a:defRPr/>
              </a:pPr>
              <a:t>‹#›</a:t>
            </a:fld>
            <a:endParaRPr lang="zh-CN" altLang="zh-CN"/>
          </a:p>
        </p:txBody>
      </p:sp>
      <p:sp>
        <p:nvSpPr>
          <p:cNvPr id="7"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dt" sz="half" idx="10"/>
          </p:nvPr>
        </p:nvSpPr>
        <p:spPr>
          <a:ln/>
        </p:spPr>
        <p:txBody>
          <a:bodyPr/>
          <a:lstStyle>
            <a:lvl1pPr>
              <a:defRPr/>
            </a:lvl1pPr>
          </a:lstStyle>
          <a:p>
            <a:pPr>
              <a:defRPr/>
            </a:pPr>
            <a:fld id="{61A59717-8866-4C1F-95D7-091346EF64AA}" type="datetime11">
              <a:rPr lang="zh-CN" altLang="en-US" smtClean="0"/>
              <a:t>12:18:26</a:t>
            </a:fld>
            <a:endParaRPr lang="zh-CN" altLang="en-US"/>
          </a:p>
        </p:txBody>
      </p:sp>
      <p:sp>
        <p:nvSpPr>
          <p:cNvPr id="8" name="Rectangle 7"/>
          <p:cNvSpPr>
            <a:spLocks noGrp="1" noChangeArrowheads="1"/>
          </p:cNvSpPr>
          <p:nvPr>
            <p:ph type="sldNum" sz="quarter" idx="11"/>
          </p:nvPr>
        </p:nvSpPr>
        <p:spPr>
          <a:ln/>
        </p:spPr>
        <p:txBody>
          <a:bodyPr/>
          <a:lstStyle>
            <a:lvl1pPr>
              <a:defRPr/>
            </a:lvl1pPr>
          </a:lstStyle>
          <a:p>
            <a:pPr>
              <a:defRPr/>
            </a:pPr>
            <a:fld id="{0240C862-EC86-4931-94EC-917C8D8D0F5E}" type="slidenum">
              <a:rPr lang="zh-CN" altLang="zh-CN"/>
              <a:pPr>
                <a:defRPr/>
              </a:pPr>
              <a:t>‹#›</a:t>
            </a:fld>
            <a:endParaRPr lang="zh-CN" altLang="zh-CN"/>
          </a:p>
        </p:txBody>
      </p:sp>
      <p:sp>
        <p:nvSpPr>
          <p:cNvPr id="9"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dt" sz="half" idx="10"/>
          </p:nvPr>
        </p:nvSpPr>
        <p:spPr>
          <a:ln/>
        </p:spPr>
        <p:txBody>
          <a:bodyPr/>
          <a:lstStyle>
            <a:lvl1pPr>
              <a:defRPr/>
            </a:lvl1pPr>
          </a:lstStyle>
          <a:p>
            <a:pPr>
              <a:defRPr/>
            </a:pPr>
            <a:fld id="{3931D904-2BD5-48A5-8A87-20518D09B213}" type="datetime11">
              <a:rPr lang="zh-CN" altLang="en-US" smtClean="0"/>
              <a:t>12:18:26</a:t>
            </a:fld>
            <a:endParaRPr lang="zh-CN" altLang="en-US"/>
          </a:p>
        </p:txBody>
      </p:sp>
      <p:sp>
        <p:nvSpPr>
          <p:cNvPr id="4" name="Rectangle 7"/>
          <p:cNvSpPr>
            <a:spLocks noGrp="1" noChangeArrowheads="1"/>
          </p:cNvSpPr>
          <p:nvPr>
            <p:ph type="sldNum" sz="quarter" idx="11"/>
          </p:nvPr>
        </p:nvSpPr>
        <p:spPr>
          <a:ln/>
        </p:spPr>
        <p:txBody>
          <a:bodyPr/>
          <a:lstStyle>
            <a:lvl1pPr>
              <a:defRPr/>
            </a:lvl1pPr>
          </a:lstStyle>
          <a:p>
            <a:pPr>
              <a:defRPr/>
            </a:pPr>
            <a:fld id="{187BCD9F-BD44-4EF6-BE82-AAE783C43501}" type="slidenum">
              <a:rPr lang="zh-CN" altLang="zh-CN"/>
              <a:pPr>
                <a:defRPr/>
              </a:pPr>
              <a:t>‹#›</a:t>
            </a:fld>
            <a:endParaRPr lang="zh-CN" altLang="zh-CN"/>
          </a:p>
        </p:txBody>
      </p:sp>
      <p:sp>
        <p:nvSpPr>
          <p:cNvPr id="5"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pPr>
              <a:defRPr/>
            </a:pPr>
            <a:fld id="{A742B89A-D76B-449B-AFDA-C36242952406}" type="datetime11">
              <a:rPr lang="zh-CN" altLang="en-US" smtClean="0"/>
              <a:t>12:18:26</a:t>
            </a:fld>
            <a:endParaRPr lang="zh-CN" altLang="en-US"/>
          </a:p>
        </p:txBody>
      </p:sp>
      <p:sp>
        <p:nvSpPr>
          <p:cNvPr id="3" name="Rectangle 7"/>
          <p:cNvSpPr>
            <a:spLocks noGrp="1" noChangeArrowheads="1"/>
          </p:cNvSpPr>
          <p:nvPr>
            <p:ph type="sldNum" sz="quarter" idx="11"/>
          </p:nvPr>
        </p:nvSpPr>
        <p:spPr>
          <a:ln/>
        </p:spPr>
        <p:txBody>
          <a:bodyPr/>
          <a:lstStyle>
            <a:lvl1pPr>
              <a:defRPr/>
            </a:lvl1pPr>
          </a:lstStyle>
          <a:p>
            <a:pPr>
              <a:defRPr/>
            </a:pPr>
            <a:fld id="{61C52EBF-F81B-48B6-BE4D-26C1D1B6B6E3}" type="slidenum">
              <a:rPr lang="zh-CN" altLang="zh-CN"/>
              <a:pPr>
                <a:defRPr/>
              </a:pPr>
              <a:t>‹#›</a:t>
            </a:fld>
            <a:endParaRPr lang="zh-CN" altLang="zh-CN"/>
          </a:p>
        </p:txBody>
      </p:sp>
      <p:sp>
        <p:nvSpPr>
          <p:cNvPr id="4"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dt" sz="half" idx="10"/>
          </p:nvPr>
        </p:nvSpPr>
        <p:spPr>
          <a:ln/>
        </p:spPr>
        <p:txBody>
          <a:bodyPr/>
          <a:lstStyle>
            <a:lvl1pPr>
              <a:defRPr/>
            </a:lvl1pPr>
          </a:lstStyle>
          <a:p>
            <a:pPr>
              <a:defRPr/>
            </a:pPr>
            <a:fld id="{669CC86E-0E81-4BB7-89AF-73C95E6B00D0}" type="datetime11">
              <a:rPr lang="zh-CN" altLang="en-US" smtClean="0"/>
              <a:t>12:18:26</a:t>
            </a:fld>
            <a:endParaRPr lang="zh-CN" altLang="en-US"/>
          </a:p>
        </p:txBody>
      </p:sp>
      <p:sp>
        <p:nvSpPr>
          <p:cNvPr id="6" name="Rectangle 7"/>
          <p:cNvSpPr>
            <a:spLocks noGrp="1" noChangeArrowheads="1"/>
          </p:cNvSpPr>
          <p:nvPr>
            <p:ph type="sldNum" sz="quarter" idx="11"/>
          </p:nvPr>
        </p:nvSpPr>
        <p:spPr>
          <a:ln/>
        </p:spPr>
        <p:txBody>
          <a:bodyPr/>
          <a:lstStyle>
            <a:lvl1pPr>
              <a:defRPr/>
            </a:lvl1pPr>
          </a:lstStyle>
          <a:p>
            <a:pPr>
              <a:defRPr/>
            </a:pPr>
            <a:fld id="{1C8539A8-602D-4E51-B413-7D3049688621}" type="slidenum">
              <a:rPr lang="zh-CN" altLang="zh-CN"/>
              <a:pPr>
                <a:defRPr/>
              </a:pPr>
              <a:t>‹#›</a:t>
            </a:fld>
            <a:endParaRPr lang="zh-CN" altLang="zh-CN"/>
          </a:p>
        </p:txBody>
      </p:sp>
      <p:sp>
        <p:nvSpPr>
          <p:cNvPr id="7"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dt" sz="half" idx="10"/>
          </p:nvPr>
        </p:nvSpPr>
        <p:spPr>
          <a:ln/>
        </p:spPr>
        <p:txBody>
          <a:bodyPr/>
          <a:lstStyle>
            <a:lvl1pPr>
              <a:defRPr/>
            </a:lvl1pPr>
          </a:lstStyle>
          <a:p>
            <a:pPr>
              <a:defRPr/>
            </a:pPr>
            <a:fld id="{01EA1F1B-C707-4803-A4B3-558EC62F1D0A}" type="datetime11">
              <a:rPr lang="zh-CN" altLang="en-US" smtClean="0"/>
              <a:t>12:18:26</a:t>
            </a:fld>
            <a:endParaRPr lang="zh-CN" altLang="en-US"/>
          </a:p>
        </p:txBody>
      </p:sp>
      <p:sp>
        <p:nvSpPr>
          <p:cNvPr id="6" name="Rectangle 7"/>
          <p:cNvSpPr>
            <a:spLocks noGrp="1" noChangeArrowheads="1"/>
          </p:cNvSpPr>
          <p:nvPr>
            <p:ph type="sldNum" sz="quarter" idx="11"/>
          </p:nvPr>
        </p:nvSpPr>
        <p:spPr>
          <a:ln/>
        </p:spPr>
        <p:txBody>
          <a:bodyPr/>
          <a:lstStyle>
            <a:lvl1pPr>
              <a:defRPr/>
            </a:lvl1pPr>
          </a:lstStyle>
          <a:p>
            <a:pPr>
              <a:defRPr/>
            </a:pPr>
            <a:fld id="{76C80078-58AC-4D3E-ABE4-9AC19CDC29F3}" type="slidenum">
              <a:rPr lang="zh-CN" altLang="zh-CN"/>
              <a:pPr>
                <a:defRPr/>
              </a:pPr>
              <a:t>‹#›</a:t>
            </a:fld>
            <a:endParaRPr lang="zh-CN" altLang="zh-CN"/>
          </a:p>
        </p:txBody>
      </p:sp>
      <p:sp>
        <p:nvSpPr>
          <p:cNvPr id="7"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a:ln/>
        </p:spPr>
        <p:txBody>
          <a:bodyPr/>
          <a:lstStyle>
            <a:lvl1pPr>
              <a:defRPr/>
            </a:lvl1pPr>
          </a:lstStyle>
          <a:p>
            <a:pPr>
              <a:defRPr/>
            </a:pPr>
            <a:fld id="{117494F2-4D2F-422D-92D0-CC8483100F92}" type="datetime11">
              <a:rPr lang="zh-CN" altLang="en-US" smtClean="0"/>
              <a:t>12:18:26</a:t>
            </a:fld>
            <a:endParaRPr lang="zh-CN" altLang="en-US"/>
          </a:p>
        </p:txBody>
      </p:sp>
      <p:sp>
        <p:nvSpPr>
          <p:cNvPr id="5" name="Rectangle 7"/>
          <p:cNvSpPr>
            <a:spLocks noGrp="1" noChangeArrowheads="1"/>
          </p:cNvSpPr>
          <p:nvPr>
            <p:ph type="sldNum" sz="quarter" idx="11"/>
          </p:nvPr>
        </p:nvSpPr>
        <p:spPr>
          <a:ln/>
        </p:spPr>
        <p:txBody>
          <a:bodyPr/>
          <a:lstStyle>
            <a:lvl1pPr>
              <a:defRPr/>
            </a:lvl1pPr>
          </a:lstStyle>
          <a:p>
            <a:pPr>
              <a:defRPr/>
            </a:pPr>
            <a:fld id="{F386B3F5-11FC-4098-8939-7139F82C3FE9}" type="slidenum">
              <a:rPr lang="zh-CN" altLang="zh-CN"/>
              <a:pPr>
                <a:defRPr/>
              </a:pPr>
              <a:t>‹#›</a:t>
            </a:fld>
            <a:endParaRPr lang="zh-CN" altLang="zh-CN"/>
          </a:p>
        </p:txBody>
      </p:sp>
      <p:sp>
        <p:nvSpPr>
          <p:cNvPr id="6"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a:ln/>
        </p:spPr>
        <p:txBody>
          <a:bodyPr/>
          <a:lstStyle>
            <a:lvl1pPr>
              <a:defRPr/>
            </a:lvl1pPr>
          </a:lstStyle>
          <a:p>
            <a:pPr>
              <a:defRPr/>
            </a:pPr>
            <a:fld id="{8CC04439-2D2B-4EC0-BA90-9ED3FB6B6029}" type="datetime11">
              <a:rPr lang="zh-CN" altLang="en-US" smtClean="0"/>
              <a:t>12:18:26</a:t>
            </a:fld>
            <a:endParaRPr lang="zh-CN" altLang="en-US"/>
          </a:p>
        </p:txBody>
      </p:sp>
      <p:sp>
        <p:nvSpPr>
          <p:cNvPr id="5" name="Rectangle 7"/>
          <p:cNvSpPr>
            <a:spLocks noGrp="1" noChangeArrowheads="1"/>
          </p:cNvSpPr>
          <p:nvPr>
            <p:ph type="sldNum" sz="quarter" idx="11"/>
          </p:nvPr>
        </p:nvSpPr>
        <p:spPr>
          <a:ln/>
        </p:spPr>
        <p:txBody>
          <a:bodyPr/>
          <a:lstStyle>
            <a:lvl1pPr>
              <a:defRPr/>
            </a:lvl1pPr>
          </a:lstStyle>
          <a:p>
            <a:pPr>
              <a:defRPr/>
            </a:pPr>
            <a:fld id="{0DE68FAC-5B3F-4E4F-841D-C005C5C6C87A}" type="slidenum">
              <a:rPr lang="zh-CN" altLang="zh-CN"/>
              <a:pPr>
                <a:defRPr/>
              </a:pPr>
              <a:t>‹#›</a:t>
            </a:fld>
            <a:endParaRPr lang="zh-CN" altLang="zh-CN"/>
          </a:p>
        </p:txBody>
      </p:sp>
      <p:sp>
        <p:nvSpPr>
          <p:cNvPr id="6"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5.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Picture 2" descr="3"/>
          <p:cNvPicPr>
            <a:picLocks noChangeAspect="1" noChangeArrowheads="1"/>
          </p:cNvPicPr>
          <p:nvPr/>
        </p:nvPicPr>
        <p:blipFill>
          <a:blip r:embed="rId13" cstate="print"/>
          <a:srcRect/>
          <a:stretch>
            <a:fillRect/>
          </a:stretch>
        </p:blipFill>
        <p:spPr bwMode="auto">
          <a:xfrm>
            <a:off x="0" y="0"/>
            <a:ext cx="9144000" cy="1187450"/>
          </a:xfrm>
          <a:prstGeom prst="rect">
            <a:avLst/>
          </a:prstGeom>
          <a:noFill/>
          <a:ln w="9525">
            <a:noFill/>
            <a:miter lim="800000"/>
            <a:headEnd/>
            <a:tailEnd/>
          </a:ln>
        </p:spPr>
      </p:pic>
      <p:pic>
        <p:nvPicPr>
          <p:cNvPr id="1027" name="Picture 3" descr="6"/>
          <p:cNvPicPr>
            <a:picLocks noChangeAspect="1" noChangeArrowheads="1"/>
          </p:cNvPicPr>
          <p:nvPr/>
        </p:nvPicPr>
        <p:blipFill>
          <a:blip r:embed="rId14" cstate="print"/>
          <a:srcRect/>
          <a:stretch>
            <a:fillRect/>
          </a:stretch>
        </p:blipFill>
        <p:spPr bwMode="auto">
          <a:xfrm>
            <a:off x="0" y="0"/>
            <a:ext cx="9144000" cy="565150"/>
          </a:xfrm>
          <a:prstGeom prst="rect">
            <a:avLst/>
          </a:prstGeom>
          <a:noFill/>
          <a:ln w="9525">
            <a:noFill/>
            <a:miter lim="800000"/>
            <a:headEnd/>
            <a:tailEnd/>
          </a:ln>
        </p:spPr>
      </p:pic>
      <p:pic>
        <p:nvPicPr>
          <p:cNvPr id="1028" name="Picture 4" descr="nordri_02"/>
          <p:cNvPicPr>
            <a:picLocks noChangeAspect="1" noChangeArrowheads="1"/>
          </p:cNvPicPr>
          <p:nvPr/>
        </p:nvPicPr>
        <p:blipFill>
          <a:blip r:embed="rId15" cstate="print">
            <a:lum bright="-54000" contrast="42000"/>
          </a:blip>
          <a:srcRect/>
          <a:stretch>
            <a:fillRect/>
          </a:stretch>
        </p:blipFill>
        <p:spPr bwMode="auto">
          <a:xfrm>
            <a:off x="0" y="1225550"/>
            <a:ext cx="9144000" cy="171450"/>
          </a:xfrm>
          <a:prstGeom prst="rect">
            <a:avLst/>
          </a:prstGeom>
          <a:noFill/>
          <a:ln w="9525">
            <a:noFill/>
            <a:miter lim="800000"/>
            <a:headEnd/>
            <a:tailEnd/>
          </a:ln>
        </p:spPr>
      </p:pic>
      <p:sp>
        <p:nvSpPr>
          <p:cNvPr id="1029" name="Rectangle 31"/>
          <p:cNvSpPr>
            <a:spLocks noGrp="1" noChangeArrowheads="1"/>
          </p:cNvSpPr>
          <p:nvPr>
            <p:ph type="body" idx="1"/>
          </p:nvPr>
        </p:nvSpPr>
        <p:spPr bwMode="auto">
          <a:xfrm>
            <a:off x="468313" y="1268413"/>
            <a:ext cx="8207375" cy="5040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1030" name="Rectangle 6"/>
          <p:cNvSpPr>
            <a:spLocks noChangeArrowheads="1"/>
          </p:cNvSpPr>
          <p:nvPr/>
        </p:nvSpPr>
        <p:spPr bwMode="auto">
          <a:xfrm>
            <a:off x="3851275" y="6524625"/>
            <a:ext cx="1439863" cy="196850"/>
          </a:xfrm>
          <a:prstGeom prst="rect">
            <a:avLst/>
          </a:prstGeom>
          <a:noFill/>
          <a:ln w="9525">
            <a:noFill/>
            <a:miter lim="800000"/>
            <a:headEnd/>
            <a:tailEnd/>
          </a:ln>
          <a:effectLst/>
        </p:spPr>
        <p:txBody>
          <a:bodyPr/>
          <a:lstStyle/>
          <a:p>
            <a:pPr algn="ctr" eaLnBrk="0" hangingPunct="0">
              <a:defRPr/>
            </a:pPr>
            <a:r>
              <a:rPr lang="de-DE" altLang="en-US" sz="1000"/>
              <a:t>Page </a:t>
            </a:r>
            <a:r>
              <a:rPr lang="de-DE" altLang="en-US" sz="1000">
                <a:sym typeface="MS UI Gothic" pitchFamily="34" charset="-128"/>
              </a:rPr>
              <a:t></a:t>
            </a:r>
            <a:r>
              <a:rPr lang="de-DE" altLang="en-US" sz="1000"/>
              <a:t> </a:t>
            </a:r>
            <a:fld id="{79942497-7726-428B-B087-1DEFCAC66726}" type="slidenum">
              <a:rPr lang="zh-CN" altLang="en-US" sz="1000"/>
              <a:pPr algn="ctr" eaLnBrk="0" hangingPunct="0">
                <a:defRPr/>
              </a:pPr>
              <a:t>‹#›</a:t>
            </a:fld>
            <a:endParaRPr lang="en-US" sz="1000"/>
          </a:p>
        </p:txBody>
      </p:sp>
      <p:sp>
        <p:nvSpPr>
          <p:cNvPr id="1031" name="Rectangle 7"/>
          <p:cNvSpPr>
            <a:spLocks noChangeArrowheads="1"/>
          </p:cNvSpPr>
          <p:nvPr/>
        </p:nvSpPr>
        <p:spPr bwMode="auto">
          <a:xfrm>
            <a:off x="468313" y="446088"/>
            <a:ext cx="1389062" cy="349250"/>
          </a:xfrm>
          <a:prstGeom prst="rect">
            <a:avLst/>
          </a:prstGeom>
          <a:gradFill rotWithShape="1">
            <a:gsLst>
              <a:gs pos="0">
                <a:srgbClr val="FFFFFF"/>
              </a:gs>
              <a:gs pos="100000">
                <a:srgbClr val="DDDDDD"/>
              </a:gs>
            </a:gsLst>
            <a:lin ang="0" scaled="1"/>
          </a:gradFill>
          <a:ln w="9525" cmpd="sng">
            <a:solidFill>
              <a:srgbClr val="969696"/>
            </a:solidFill>
            <a:prstDash val="dash"/>
            <a:miter lim="800000"/>
            <a:headEnd/>
            <a:tailEnd/>
          </a:ln>
        </p:spPr>
        <p:txBody>
          <a:bodyPr wrap="none" anchor="ctr"/>
          <a:lstStyle/>
          <a:p>
            <a:pPr algn="ctr" eaLnBrk="0" hangingPunct="0">
              <a:defRPr/>
            </a:pPr>
            <a:r>
              <a:rPr lang="de-DE" altLang="en-US" sz="1400" i="0"/>
              <a:t>LOGO</a:t>
            </a:r>
          </a:p>
        </p:txBody>
      </p:sp>
      <p:sp>
        <p:nvSpPr>
          <p:cNvPr id="1032" name="Rectangle 8"/>
          <p:cNvSpPr>
            <a:spLocks noChangeArrowheads="1"/>
          </p:cNvSpPr>
          <p:nvPr/>
        </p:nvSpPr>
        <p:spPr bwMode="auto">
          <a:xfrm>
            <a:off x="468313" y="333375"/>
            <a:ext cx="8207375" cy="574675"/>
          </a:xfrm>
          <a:prstGeom prst="rect">
            <a:avLst/>
          </a:prstGeom>
          <a:noFill/>
          <a:ln w="9525">
            <a:noFill/>
            <a:miter lim="800000"/>
            <a:headEnd/>
            <a:tailEnd/>
          </a:ln>
        </p:spPr>
        <p:txBody>
          <a:bodyPr/>
          <a:lstStyle/>
          <a:p>
            <a:pPr algn="ctr">
              <a:defRPr/>
            </a:pPr>
            <a:endParaRPr lang="zh-CN" altLang="en-US" sz="2600" i="0">
              <a:solidFill>
                <a:schemeClr val="bg1"/>
              </a:solidFill>
              <a:ea typeface="黑体" pitchFamily="2" charset="-122"/>
            </a:endParaRPr>
          </a:p>
        </p:txBody>
      </p:sp>
      <p:sp>
        <p:nvSpPr>
          <p:cNvPr id="1033" name="Rectangle 9"/>
          <p:cNvSpPr>
            <a:spLocks noGrp="1" noChangeArrowheads="1"/>
          </p:cNvSpPr>
          <p:nvPr>
            <p:ph type="title"/>
          </p:nvPr>
        </p:nvSpPr>
        <p:spPr bwMode="auto">
          <a:xfrm>
            <a:off x="457200" y="260648"/>
            <a:ext cx="8229600" cy="1143000"/>
          </a:xfrm>
          <a:prstGeom prst="rect">
            <a:avLst/>
          </a:prstGeom>
          <a:noFill/>
          <a:ln w="0">
            <a:noFill/>
            <a:miter lim="800000"/>
            <a:headEnd/>
            <a:tailEnd/>
          </a:ln>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pic>
        <p:nvPicPr>
          <p:cNvPr id="14338" name="Picture 2" descr="C:\Users\Administrator\Desktop\自画像.png"/>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8684584" y="6102556"/>
            <a:ext cx="438150" cy="719137"/>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Lst>
  <p:hf sldNum="0" hdr="0" ftr="0"/>
  <p:txStyles>
    <p:titleStyle>
      <a:lvl1pPr algn="ctr" rtl="0" eaLnBrk="1" fontAlgn="base" hangingPunct="1">
        <a:spcBef>
          <a:spcPct val="0"/>
        </a:spcBef>
        <a:spcAft>
          <a:spcPct val="0"/>
        </a:spcAft>
        <a:defRPr sz="2600" b="1">
          <a:solidFill>
            <a:schemeClr val="bg1"/>
          </a:solidFill>
          <a:latin typeface="+mj-lt"/>
          <a:ea typeface="+mj-ea"/>
          <a:cs typeface="+mj-cs"/>
        </a:defRPr>
      </a:lvl1pPr>
      <a:lvl2pPr algn="ctr" rtl="0" eaLnBrk="1" fontAlgn="base" hangingPunct="1">
        <a:spcBef>
          <a:spcPct val="0"/>
        </a:spcBef>
        <a:spcAft>
          <a:spcPct val="0"/>
        </a:spcAft>
        <a:defRPr sz="2600" b="1">
          <a:solidFill>
            <a:schemeClr val="bg1"/>
          </a:solidFill>
          <a:latin typeface="Arial" pitchFamily="34" charset="0"/>
          <a:ea typeface="黑体" pitchFamily="2" charset="-122"/>
        </a:defRPr>
      </a:lvl2pPr>
      <a:lvl3pPr algn="ctr" rtl="0" eaLnBrk="1" fontAlgn="base" hangingPunct="1">
        <a:spcBef>
          <a:spcPct val="0"/>
        </a:spcBef>
        <a:spcAft>
          <a:spcPct val="0"/>
        </a:spcAft>
        <a:defRPr sz="2600" b="1">
          <a:solidFill>
            <a:schemeClr val="bg1"/>
          </a:solidFill>
          <a:latin typeface="Arial" pitchFamily="34" charset="0"/>
          <a:ea typeface="黑体" pitchFamily="2" charset="-122"/>
        </a:defRPr>
      </a:lvl3pPr>
      <a:lvl4pPr algn="ctr" rtl="0" eaLnBrk="1" fontAlgn="base" hangingPunct="1">
        <a:spcBef>
          <a:spcPct val="0"/>
        </a:spcBef>
        <a:spcAft>
          <a:spcPct val="0"/>
        </a:spcAft>
        <a:defRPr sz="2600" b="1">
          <a:solidFill>
            <a:schemeClr val="bg1"/>
          </a:solidFill>
          <a:latin typeface="Arial" pitchFamily="34" charset="0"/>
          <a:ea typeface="黑体" pitchFamily="2" charset="-122"/>
        </a:defRPr>
      </a:lvl4pPr>
      <a:lvl5pPr algn="ctr" rtl="0" eaLnBrk="1" fontAlgn="base" hangingPunct="1">
        <a:spcBef>
          <a:spcPct val="0"/>
        </a:spcBef>
        <a:spcAft>
          <a:spcPct val="0"/>
        </a:spcAft>
        <a:defRPr sz="2600" b="1">
          <a:solidFill>
            <a:schemeClr val="bg1"/>
          </a:solidFill>
          <a:latin typeface="Arial" pitchFamily="34" charset="0"/>
          <a:ea typeface="黑体" pitchFamily="2" charset="-122"/>
        </a:defRPr>
      </a:lvl5pPr>
      <a:lvl6pPr marL="457200" algn="ctr" rtl="0" eaLnBrk="1" fontAlgn="base" hangingPunct="1">
        <a:spcBef>
          <a:spcPct val="0"/>
        </a:spcBef>
        <a:spcAft>
          <a:spcPct val="0"/>
        </a:spcAft>
        <a:defRPr sz="2600" b="1">
          <a:solidFill>
            <a:schemeClr val="bg1"/>
          </a:solidFill>
          <a:latin typeface="Arial" pitchFamily="34" charset="0"/>
          <a:ea typeface="黑体" pitchFamily="2" charset="-122"/>
        </a:defRPr>
      </a:lvl6pPr>
      <a:lvl7pPr marL="914400" algn="ctr" rtl="0" eaLnBrk="1" fontAlgn="base" hangingPunct="1">
        <a:spcBef>
          <a:spcPct val="0"/>
        </a:spcBef>
        <a:spcAft>
          <a:spcPct val="0"/>
        </a:spcAft>
        <a:defRPr sz="2600" b="1">
          <a:solidFill>
            <a:schemeClr val="bg1"/>
          </a:solidFill>
          <a:latin typeface="Arial" pitchFamily="34" charset="0"/>
          <a:ea typeface="黑体" pitchFamily="2" charset="-122"/>
        </a:defRPr>
      </a:lvl7pPr>
      <a:lvl8pPr marL="1371600" algn="ctr" rtl="0" eaLnBrk="1" fontAlgn="base" hangingPunct="1">
        <a:spcBef>
          <a:spcPct val="0"/>
        </a:spcBef>
        <a:spcAft>
          <a:spcPct val="0"/>
        </a:spcAft>
        <a:defRPr sz="2600" b="1">
          <a:solidFill>
            <a:schemeClr val="bg1"/>
          </a:solidFill>
          <a:latin typeface="Arial" pitchFamily="34" charset="0"/>
          <a:ea typeface="黑体" pitchFamily="2" charset="-122"/>
        </a:defRPr>
      </a:lvl8pPr>
      <a:lvl9pPr marL="1828800" algn="ctr" rtl="0" eaLnBrk="1" fontAlgn="base" hangingPunct="1">
        <a:spcBef>
          <a:spcPct val="0"/>
        </a:spcBef>
        <a:spcAft>
          <a:spcPct val="0"/>
        </a:spcAft>
        <a:defRPr sz="2600" b="1">
          <a:solidFill>
            <a:schemeClr val="bg1"/>
          </a:solidFill>
          <a:latin typeface="Arial" pitchFamily="34" charset="0"/>
          <a:ea typeface="黑体" pitchFamily="2" charset="-122"/>
        </a:defRPr>
      </a:lvl9pPr>
    </p:titleStyle>
    <p:bodyStyle>
      <a:lvl1pPr marL="342900" indent="-342900" algn="l" rtl="0" eaLnBrk="1" fontAlgn="base" hangingPunct="1">
        <a:lnSpc>
          <a:spcPct val="120000"/>
        </a:lnSpc>
        <a:spcBef>
          <a:spcPct val="20000"/>
        </a:spcBef>
        <a:spcAft>
          <a:spcPct val="0"/>
        </a:spcAft>
        <a:buClr>
          <a:schemeClr val="accent1"/>
        </a:buClr>
        <a:buFont typeface="Wingdings" pitchFamily="2" charset="2"/>
        <a:buChar char="n"/>
        <a:defRPr sz="2400" b="1">
          <a:solidFill>
            <a:schemeClr val="tx1"/>
          </a:solidFill>
          <a:latin typeface="+mn-lt"/>
          <a:ea typeface="+mn-ea"/>
          <a:cs typeface="+mn-cs"/>
        </a:defRPr>
      </a:lvl1pPr>
      <a:lvl2pPr marL="742950" indent="-285750" algn="l" rtl="0" eaLnBrk="1" fontAlgn="base" hangingPunct="1">
        <a:lnSpc>
          <a:spcPct val="120000"/>
        </a:lnSpc>
        <a:spcBef>
          <a:spcPct val="20000"/>
        </a:spcBef>
        <a:spcAft>
          <a:spcPct val="0"/>
        </a:spcAft>
        <a:buClr>
          <a:schemeClr val="accent1"/>
        </a:buClr>
        <a:buFont typeface="Wingdings" pitchFamily="2" charset="2"/>
        <a:buChar char="n"/>
        <a:defRPr sz="2000" b="1">
          <a:solidFill>
            <a:schemeClr val="tx1"/>
          </a:solidFill>
          <a:latin typeface="+mn-lt"/>
          <a:ea typeface="+mn-ea"/>
        </a:defRPr>
      </a:lvl2pPr>
      <a:lvl3pPr marL="1143000" indent="-228600" algn="l" rtl="0" eaLnBrk="1" fontAlgn="base" hangingPunct="1">
        <a:lnSpc>
          <a:spcPct val="120000"/>
        </a:lnSpc>
        <a:spcBef>
          <a:spcPct val="20000"/>
        </a:spcBef>
        <a:spcAft>
          <a:spcPct val="0"/>
        </a:spcAft>
        <a:buClr>
          <a:schemeClr val="accent2"/>
        </a:buClr>
        <a:buFont typeface="Wingdings" pitchFamily="2" charset="2"/>
        <a:buChar char="n"/>
        <a:defRPr sz="1800" b="1">
          <a:solidFill>
            <a:schemeClr val="tx1"/>
          </a:solidFill>
          <a:latin typeface="+mn-lt"/>
          <a:ea typeface="+mn-ea"/>
        </a:defRPr>
      </a:lvl3pPr>
      <a:lvl4pPr marL="1600200" indent="-228600" algn="l" rtl="0" eaLnBrk="1" fontAlgn="base" hangingPunct="1">
        <a:lnSpc>
          <a:spcPct val="120000"/>
        </a:lnSpc>
        <a:spcBef>
          <a:spcPct val="20000"/>
        </a:spcBef>
        <a:spcAft>
          <a:spcPct val="0"/>
        </a:spcAft>
        <a:buClr>
          <a:schemeClr val="hlink"/>
        </a:buClr>
        <a:buFont typeface="Wingdings" pitchFamily="2" charset="2"/>
        <a:buChar char="n"/>
        <a:defRPr sz="1600" b="1">
          <a:solidFill>
            <a:schemeClr val="tx1"/>
          </a:solidFill>
          <a:latin typeface="+mn-lt"/>
          <a:ea typeface="+mn-ea"/>
        </a:defRPr>
      </a:lvl4pPr>
      <a:lvl5pPr marL="2057400" indent="-228600" algn="l" rtl="0" eaLnBrk="1" fontAlgn="base" hangingPunct="1">
        <a:spcBef>
          <a:spcPct val="20000"/>
        </a:spcBef>
        <a:spcAft>
          <a:spcPct val="0"/>
        </a:spcAft>
        <a:buChar char="»"/>
        <a:defRPr>
          <a:solidFill>
            <a:schemeClr val="tx1"/>
          </a:solidFill>
          <a:latin typeface="+mn-lt"/>
          <a:ea typeface="+mn-ea"/>
        </a:defRPr>
      </a:lvl5pPr>
      <a:lvl6pPr marL="2514600" indent="-228600" algn="l" rtl="0" eaLnBrk="1" fontAlgn="base" hangingPunct="1">
        <a:spcBef>
          <a:spcPct val="20000"/>
        </a:spcBef>
        <a:spcAft>
          <a:spcPct val="0"/>
        </a:spcAft>
        <a:buChar char="»"/>
        <a:defRPr>
          <a:solidFill>
            <a:schemeClr val="tx1"/>
          </a:solidFill>
          <a:latin typeface="+mn-lt"/>
          <a:ea typeface="+mn-ea"/>
        </a:defRPr>
      </a:lvl6pPr>
      <a:lvl7pPr marL="2971800" indent="-228600" algn="l" rtl="0" eaLnBrk="1" fontAlgn="base" hangingPunct="1">
        <a:spcBef>
          <a:spcPct val="20000"/>
        </a:spcBef>
        <a:spcAft>
          <a:spcPct val="0"/>
        </a:spcAft>
        <a:buChar char="»"/>
        <a:defRPr>
          <a:solidFill>
            <a:schemeClr val="tx1"/>
          </a:solidFill>
          <a:latin typeface="+mn-lt"/>
          <a:ea typeface="+mn-ea"/>
        </a:defRPr>
      </a:lvl7pPr>
      <a:lvl8pPr marL="3429000" indent="-228600" algn="l" rtl="0" eaLnBrk="1" fontAlgn="base" hangingPunct="1">
        <a:spcBef>
          <a:spcPct val="20000"/>
        </a:spcBef>
        <a:spcAft>
          <a:spcPct val="0"/>
        </a:spcAft>
        <a:buChar char="»"/>
        <a:defRPr>
          <a:solidFill>
            <a:schemeClr val="tx1"/>
          </a:solidFill>
          <a:latin typeface="+mn-lt"/>
          <a:ea typeface="+mn-ea"/>
        </a:defRPr>
      </a:lvl8pPr>
      <a:lvl9pPr marL="3886200" indent="-228600" algn="l" rtl="0" eaLnBrk="1" fontAlgn="base" hangingPunct="1">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D1405D-E47D-4E45-8EB4-15CAA26E8B41}" type="datetime11">
              <a:rPr lang="zh-CN" altLang="en-US" smtClean="0"/>
              <a:t>12:18:26</a:t>
            </a:fld>
            <a:endParaRPr lang="zh-CN" altLang="en-US" dirty="0"/>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3114248938"/>
      </p:ext>
    </p:extLst>
  </p:cSld>
  <p:clrMap bg1="lt1" tx1="dk1" bg2="lt2" tx2="dk2" accent1="accent1" accent2="accent2" accent3="accent3" accent4="accent4" accent5="accent5" accent6="accent6" hlink="hlink" folHlink="folHlink"/>
  <p:sldLayoutIdLst>
    <p:sldLayoutId id="2147483821"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Lst>
  <p:hf sldNum="0"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2050" name="Picture 2" descr="1"/>
          <p:cNvPicPr>
            <a:picLocks noChangeAspect="1" noChangeArrowheads="1"/>
          </p:cNvPicPr>
          <p:nvPr/>
        </p:nvPicPr>
        <p:blipFill>
          <a:blip r:embed="rId13" cstate="print"/>
          <a:srcRect/>
          <a:stretch>
            <a:fillRect/>
          </a:stretch>
        </p:blipFill>
        <p:spPr bwMode="auto">
          <a:xfrm>
            <a:off x="0" y="-25400"/>
            <a:ext cx="9144000" cy="6883400"/>
          </a:xfrm>
          <a:prstGeom prst="rect">
            <a:avLst/>
          </a:prstGeom>
          <a:noFill/>
          <a:ln w="9525">
            <a:noFill/>
            <a:miter lim="800000"/>
            <a:headEnd/>
            <a:tailEnd/>
          </a:ln>
        </p:spPr>
      </p:pic>
      <p:pic>
        <p:nvPicPr>
          <p:cNvPr id="2051" name="Picture 3" descr="2"/>
          <p:cNvPicPr>
            <a:picLocks noChangeAspect="1" noChangeArrowheads="1"/>
          </p:cNvPicPr>
          <p:nvPr/>
        </p:nvPicPr>
        <p:blipFill>
          <a:blip r:embed="rId14" cstate="print"/>
          <a:srcRect/>
          <a:stretch>
            <a:fillRect/>
          </a:stretch>
        </p:blipFill>
        <p:spPr bwMode="auto">
          <a:xfrm>
            <a:off x="0" y="3030538"/>
            <a:ext cx="9144000" cy="3827462"/>
          </a:xfrm>
          <a:prstGeom prst="rect">
            <a:avLst/>
          </a:prstGeom>
          <a:noFill/>
          <a:ln w="9525">
            <a:noFill/>
            <a:miter lim="800000"/>
            <a:headEnd/>
            <a:tailEnd/>
          </a:ln>
        </p:spPr>
      </p:pic>
      <p:sp>
        <p:nvSpPr>
          <p:cNvPr id="2052" name="Rectangle 4"/>
          <p:cNvSpPr>
            <a:spLocks noGrp="1" noChangeArrowheads="1"/>
          </p:cNvSpPr>
          <p:nvPr>
            <p:ph type="title"/>
          </p:nvPr>
        </p:nvSpPr>
        <p:spPr bwMode="auto">
          <a:xfrm>
            <a:off x="457200" y="274638"/>
            <a:ext cx="8229600" cy="1143000"/>
          </a:xfrm>
          <a:prstGeom prst="rect">
            <a:avLst/>
          </a:prstGeom>
          <a:noFill/>
          <a:ln w="0">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3" name="Rectangle 5"/>
          <p:cNvSpPr>
            <a:spLocks noGrp="1" noChangeArrowheads="1"/>
          </p:cNvSpPr>
          <p:nvPr>
            <p:ph type="body" idx="1"/>
          </p:nvPr>
        </p:nvSpPr>
        <p:spPr bwMode="auto">
          <a:xfrm>
            <a:off x="457200" y="1600200"/>
            <a:ext cx="8229600" cy="4525963"/>
          </a:xfrm>
          <a:prstGeom prst="rect">
            <a:avLst/>
          </a:prstGeom>
          <a:noFill/>
          <a:ln w="0">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8" name="Rectangle 6"/>
          <p:cNvSpPr>
            <a:spLocks noGrp="1" noChangeArrowheads="1"/>
          </p:cNvSpPr>
          <p:nvPr>
            <p:ph type="dt" sz="half" idx="2"/>
          </p:nvPr>
        </p:nvSpPr>
        <p:spPr bwMode="auto">
          <a:xfrm>
            <a:off x="457200" y="6245225"/>
            <a:ext cx="2133600" cy="476250"/>
          </a:xfrm>
          <a:prstGeom prst="rect">
            <a:avLst/>
          </a:prstGeom>
          <a:noFill/>
          <a:ln w="0">
            <a:noFill/>
            <a:miter lim="800000"/>
            <a:headEnd/>
            <a:tailEnd/>
          </a:ln>
        </p:spPr>
        <p:txBody>
          <a:bodyPr vert="horz" wrap="square" lIns="91440" tIns="45720" rIns="91440" bIns="45720" numCol="1" anchor="t" anchorCtr="0" compatLnSpc="1">
            <a:prstTxWarp prst="textNoShape">
              <a:avLst/>
            </a:prstTxWarp>
          </a:bodyPr>
          <a:lstStyle>
            <a:lvl1pPr eaLnBrk="0" hangingPunct="0">
              <a:defRPr sz="1400" b="0"/>
            </a:lvl1pPr>
          </a:lstStyle>
          <a:p>
            <a:pPr>
              <a:defRPr/>
            </a:pPr>
            <a:fld id="{A0157214-8384-4B82-80A7-63E4916EE769}" type="datetime11">
              <a:rPr lang="zh-CN" altLang="en-US" smtClean="0"/>
              <a:t>12:18:26</a:t>
            </a:fld>
            <a:endParaRPr lang="zh-CN" altLang="en-US"/>
          </a:p>
        </p:txBody>
      </p:sp>
      <p:sp>
        <p:nvSpPr>
          <p:cNvPr id="3079" name="Rectangle 7"/>
          <p:cNvSpPr>
            <a:spLocks noGrp="1" noChangeArrowheads="1"/>
          </p:cNvSpPr>
          <p:nvPr>
            <p:ph type="sldNum" sz="quarter" idx="4"/>
          </p:nvPr>
        </p:nvSpPr>
        <p:spPr bwMode="auto">
          <a:xfrm>
            <a:off x="6553200" y="6245225"/>
            <a:ext cx="2133600" cy="476250"/>
          </a:xfrm>
          <a:prstGeom prst="rect">
            <a:avLst/>
          </a:prstGeom>
          <a:noFill/>
          <a:ln w="0">
            <a:noFill/>
            <a:miter lim="800000"/>
            <a:headEnd/>
            <a:tailEnd/>
          </a:ln>
        </p:spPr>
        <p:txBody>
          <a:bodyPr vert="horz" wrap="square" lIns="91440" tIns="45720" rIns="91440" bIns="45720" numCol="1" anchor="t" anchorCtr="0" compatLnSpc="1">
            <a:prstTxWarp prst="textNoShape">
              <a:avLst/>
            </a:prstTxWarp>
          </a:bodyPr>
          <a:lstStyle>
            <a:lvl1pPr algn="r" eaLnBrk="0" hangingPunct="0">
              <a:defRPr sz="1400" b="0"/>
            </a:lvl1pPr>
          </a:lstStyle>
          <a:p>
            <a:pPr>
              <a:defRPr/>
            </a:pPr>
            <a:fld id="{1837E92B-A29E-444E-B5B0-AD7430799177}" type="slidenum">
              <a:rPr lang="zh-CN" altLang="zh-CN"/>
              <a:pPr>
                <a:defRPr/>
              </a:pPr>
              <a:t>‹#›</a:t>
            </a:fld>
            <a:endParaRPr lang="zh-CN" altLang="zh-CN"/>
          </a:p>
        </p:txBody>
      </p:sp>
      <p:sp>
        <p:nvSpPr>
          <p:cNvPr id="3080" name="Rectangle 8"/>
          <p:cNvSpPr>
            <a:spLocks noGrp="1" noChangeArrowheads="1"/>
          </p:cNvSpPr>
          <p:nvPr>
            <p:ph type="ftr" sz="quarter" idx="3"/>
          </p:nvPr>
        </p:nvSpPr>
        <p:spPr bwMode="auto">
          <a:xfrm>
            <a:off x="3124200" y="6245225"/>
            <a:ext cx="2895600" cy="476250"/>
          </a:xfrm>
          <a:prstGeom prst="rect">
            <a:avLst/>
          </a:prstGeom>
          <a:noFill/>
          <a:ln w="0">
            <a:noFill/>
            <a:miter lim="800000"/>
            <a:headEnd/>
            <a:tailEnd/>
          </a:ln>
        </p:spPr>
        <p:txBody>
          <a:bodyPr vert="horz" wrap="square" lIns="91440" tIns="45720" rIns="91440" bIns="45720" numCol="1" anchor="t" anchorCtr="0" compatLnSpc="1">
            <a:prstTxWarp prst="textNoShape">
              <a:avLst/>
            </a:prstTxWarp>
          </a:bodyPr>
          <a:lstStyle>
            <a:lvl1pPr algn="ctr" eaLnBrk="0" hangingPunct="0">
              <a:defRPr sz="1400" b="0"/>
            </a:lvl1p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Lst>
  <p:hf sldNum="0" hdr="0" ftr="0"/>
  <p:txStyles>
    <p:titleStyle>
      <a:lvl1pPr algn="l" rtl="0" eaLnBrk="1" fontAlgn="base" hangingPunct="1">
        <a:spcBef>
          <a:spcPct val="0"/>
        </a:spcBef>
        <a:spcAft>
          <a:spcPct val="0"/>
        </a:spcAft>
        <a:defRPr sz="2600" b="1">
          <a:solidFill>
            <a:schemeClr val="bg1"/>
          </a:solidFill>
          <a:latin typeface="+mj-lt"/>
          <a:ea typeface="+mj-ea"/>
          <a:cs typeface="+mj-cs"/>
        </a:defRPr>
      </a:lvl1pPr>
      <a:lvl2pPr algn="l" rtl="0" eaLnBrk="1" fontAlgn="base" hangingPunct="1">
        <a:spcBef>
          <a:spcPct val="0"/>
        </a:spcBef>
        <a:spcAft>
          <a:spcPct val="0"/>
        </a:spcAft>
        <a:defRPr sz="2600" b="1">
          <a:solidFill>
            <a:schemeClr val="bg1"/>
          </a:solidFill>
          <a:latin typeface="Arial" pitchFamily="34" charset="0"/>
          <a:ea typeface="黑体" pitchFamily="2" charset="-122"/>
        </a:defRPr>
      </a:lvl2pPr>
      <a:lvl3pPr algn="l" rtl="0" eaLnBrk="1" fontAlgn="base" hangingPunct="1">
        <a:spcBef>
          <a:spcPct val="0"/>
        </a:spcBef>
        <a:spcAft>
          <a:spcPct val="0"/>
        </a:spcAft>
        <a:defRPr sz="2600" b="1">
          <a:solidFill>
            <a:schemeClr val="bg1"/>
          </a:solidFill>
          <a:latin typeface="Arial" pitchFamily="34" charset="0"/>
          <a:ea typeface="黑体" pitchFamily="2" charset="-122"/>
        </a:defRPr>
      </a:lvl3pPr>
      <a:lvl4pPr algn="l" rtl="0" eaLnBrk="1" fontAlgn="base" hangingPunct="1">
        <a:spcBef>
          <a:spcPct val="0"/>
        </a:spcBef>
        <a:spcAft>
          <a:spcPct val="0"/>
        </a:spcAft>
        <a:defRPr sz="2600" b="1">
          <a:solidFill>
            <a:schemeClr val="bg1"/>
          </a:solidFill>
          <a:latin typeface="Arial" pitchFamily="34" charset="0"/>
          <a:ea typeface="黑体" pitchFamily="2" charset="-122"/>
        </a:defRPr>
      </a:lvl4pPr>
      <a:lvl5pPr algn="l" rtl="0" eaLnBrk="1" fontAlgn="base" hangingPunct="1">
        <a:spcBef>
          <a:spcPct val="0"/>
        </a:spcBef>
        <a:spcAft>
          <a:spcPct val="0"/>
        </a:spcAft>
        <a:defRPr sz="2600" b="1">
          <a:solidFill>
            <a:schemeClr val="bg1"/>
          </a:solidFill>
          <a:latin typeface="Arial" pitchFamily="34" charset="0"/>
          <a:ea typeface="黑体" pitchFamily="2" charset="-122"/>
        </a:defRPr>
      </a:lvl5pPr>
      <a:lvl6pPr marL="457200" algn="l" rtl="0" eaLnBrk="1" fontAlgn="base" hangingPunct="1">
        <a:spcBef>
          <a:spcPct val="0"/>
        </a:spcBef>
        <a:spcAft>
          <a:spcPct val="0"/>
        </a:spcAft>
        <a:defRPr sz="2600" b="1">
          <a:solidFill>
            <a:schemeClr val="bg1"/>
          </a:solidFill>
          <a:latin typeface="Arial" pitchFamily="34" charset="0"/>
          <a:ea typeface="黑体" pitchFamily="2" charset="-122"/>
        </a:defRPr>
      </a:lvl6pPr>
      <a:lvl7pPr marL="914400" algn="l" rtl="0" eaLnBrk="1" fontAlgn="base" hangingPunct="1">
        <a:spcBef>
          <a:spcPct val="0"/>
        </a:spcBef>
        <a:spcAft>
          <a:spcPct val="0"/>
        </a:spcAft>
        <a:defRPr sz="2600" b="1">
          <a:solidFill>
            <a:schemeClr val="bg1"/>
          </a:solidFill>
          <a:latin typeface="Arial" pitchFamily="34" charset="0"/>
          <a:ea typeface="黑体" pitchFamily="2" charset="-122"/>
        </a:defRPr>
      </a:lvl7pPr>
      <a:lvl8pPr marL="1371600" algn="l" rtl="0" eaLnBrk="1" fontAlgn="base" hangingPunct="1">
        <a:spcBef>
          <a:spcPct val="0"/>
        </a:spcBef>
        <a:spcAft>
          <a:spcPct val="0"/>
        </a:spcAft>
        <a:defRPr sz="2600" b="1">
          <a:solidFill>
            <a:schemeClr val="bg1"/>
          </a:solidFill>
          <a:latin typeface="Arial" pitchFamily="34" charset="0"/>
          <a:ea typeface="黑体" pitchFamily="2" charset="-122"/>
        </a:defRPr>
      </a:lvl8pPr>
      <a:lvl9pPr marL="1828800" algn="l" rtl="0" eaLnBrk="1" fontAlgn="base" hangingPunct="1">
        <a:spcBef>
          <a:spcPct val="0"/>
        </a:spcBef>
        <a:spcAft>
          <a:spcPct val="0"/>
        </a:spcAft>
        <a:defRPr sz="2600" b="1">
          <a:solidFill>
            <a:schemeClr val="bg1"/>
          </a:solidFill>
          <a:latin typeface="Arial" pitchFamily="34" charset="0"/>
          <a:ea typeface="黑体" pitchFamily="2" charset="-122"/>
        </a:defRPr>
      </a:lvl9pPr>
    </p:titleStyle>
    <p:bodyStyle>
      <a:lvl1pPr marL="342900" indent="-342900" algn="l" rtl="0" eaLnBrk="1" fontAlgn="base" hangingPunct="1">
        <a:lnSpc>
          <a:spcPct val="120000"/>
        </a:lnSpc>
        <a:spcBef>
          <a:spcPct val="20000"/>
        </a:spcBef>
        <a:spcAft>
          <a:spcPct val="0"/>
        </a:spcAft>
        <a:buClr>
          <a:schemeClr val="accent1"/>
        </a:buClr>
        <a:buFont typeface="Wingdings" pitchFamily="2" charset="2"/>
        <a:buChar char="n"/>
        <a:defRPr sz="2000" b="1">
          <a:solidFill>
            <a:schemeClr val="tx1"/>
          </a:solidFill>
          <a:latin typeface="+mn-lt"/>
          <a:ea typeface="+mn-ea"/>
          <a:cs typeface="+mn-cs"/>
        </a:defRPr>
      </a:lvl1pPr>
      <a:lvl2pPr marL="742950" indent="-285750" algn="l" rtl="0" eaLnBrk="1" fontAlgn="base" hangingPunct="1">
        <a:lnSpc>
          <a:spcPct val="120000"/>
        </a:lnSpc>
        <a:spcBef>
          <a:spcPct val="20000"/>
        </a:spcBef>
        <a:spcAft>
          <a:spcPct val="0"/>
        </a:spcAft>
        <a:buClr>
          <a:schemeClr val="accent1"/>
        </a:buClr>
        <a:buFont typeface="Wingdings" pitchFamily="2" charset="2"/>
        <a:buChar char="n"/>
        <a:defRPr b="1">
          <a:solidFill>
            <a:schemeClr val="tx1"/>
          </a:solidFill>
          <a:latin typeface="+mn-lt"/>
          <a:ea typeface="+mn-ea"/>
        </a:defRPr>
      </a:lvl2pPr>
      <a:lvl3pPr marL="1143000" indent="-228600" algn="l" rtl="0" eaLnBrk="1" fontAlgn="base" hangingPunct="1">
        <a:lnSpc>
          <a:spcPct val="120000"/>
        </a:lnSpc>
        <a:spcBef>
          <a:spcPct val="20000"/>
        </a:spcBef>
        <a:spcAft>
          <a:spcPct val="0"/>
        </a:spcAft>
        <a:buClr>
          <a:schemeClr val="accent2"/>
        </a:buClr>
        <a:buFont typeface="Wingdings" pitchFamily="2" charset="2"/>
        <a:buChar char="n"/>
        <a:defRPr sz="1600" b="1">
          <a:solidFill>
            <a:schemeClr val="tx1"/>
          </a:solidFill>
          <a:latin typeface="+mn-lt"/>
          <a:ea typeface="+mn-ea"/>
        </a:defRPr>
      </a:lvl3pPr>
      <a:lvl4pPr marL="1600200" indent="-228600" algn="l" rtl="0" eaLnBrk="1" fontAlgn="base" hangingPunct="1">
        <a:lnSpc>
          <a:spcPct val="120000"/>
        </a:lnSpc>
        <a:spcBef>
          <a:spcPct val="20000"/>
        </a:spcBef>
        <a:spcAft>
          <a:spcPct val="0"/>
        </a:spcAft>
        <a:buClr>
          <a:schemeClr val="hlink"/>
        </a:buClr>
        <a:buFont typeface="Wingdings" pitchFamily="2" charset="2"/>
        <a:buChar char="n"/>
        <a:defRPr sz="1400" b="1">
          <a:solidFill>
            <a:schemeClr val="tx1"/>
          </a:solidFill>
          <a:latin typeface="+mn-lt"/>
          <a:ea typeface="+mn-ea"/>
        </a:defRPr>
      </a:lvl4pPr>
      <a:lvl5pPr marL="2057400" indent="-228600" algn="l" rtl="0" eaLnBrk="1" fontAlgn="base" hangingPunct="1">
        <a:spcBef>
          <a:spcPct val="20000"/>
        </a:spcBef>
        <a:spcAft>
          <a:spcPct val="0"/>
        </a:spcAft>
        <a:buChar char="»"/>
        <a:defRPr>
          <a:solidFill>
            <a:schemeClr val="tx1"/>
          </a:solidFill>
          <a:latin typeface="+mn-lt"/>
          <a:ea typeface="+mn-ea"/>
        </a:defRPr>
      </a:lvl5pPr>
      <a:lvl6pPr marL="2514600" indent="-228600" algn="l" rtl="0" eaLnBrk="1" fontAlgn="base" hangingPunct="1">
        <a:spcBef>
          <a:spcPct val="20000"/>
        </a:spcBef>
        <a:spcAft>
          <a:spcPct val="0"/>
        </a:spcAft>
        <a:buChar char="»"/>
        <a:defRPr>
          <a:solidFill>
            <a:schemeClr val="tx1"/>
          </a:solidFill>
          <a:latin typeface="+mn-lt"/>
          <a:ea typeface="+mn-ea"/>
        </a:defRPr>
      </a:lvl6pPr>
      <a:lvl7pPr marL="2971800" indent="-228600" algn="l" rtl="0" eaLnBrk="1" fontAlgn="base" hangingPunct="1">
        <a:spcBef>
          <a:spcPct val="20000"/>
        </a:spcBef>
        <a:spcAft>
          <a:spcPct val="0"/>
        </a:spcAft>
        <a:buChar char="»"/>
        <a:defRPr>
          <a:solidFill>
            <a:schemeClr val="tx1"/>
          </a:solidFill>
          <a:latin typeface="+mn-lt"/>
          <a:ea typeface="+mn-ea"/>
        </a:defRPr>
      </a:lvl7pPr>
      <a:lvl8pPr marL="3429000" indent="-228600" algn="l" rtl="0" eaLnBrk="1" fontAlgn="base" hangingPunct="1">
        <a:spcBef>
          <a:spcPct val="20000"/>
        </a:spcBef>
        <a:spcAft>
          <a:spcPct val="0"/>
        </a:spcAft>
        <a:buChar char="»"/>
        <a:defRPr>
          <a:solidFill>
            <a:schemeClr val="tx1"/>
          </a:solidFill>
          <a:latin typeface="+mn-lt"/>
          <a:ea typeface="+mn-ea"/>
        </a:defRPr>
      </a:lvl8pPr>
      <a:lvl9pPr marL="3886200" indent="-228600" algn="l" rtl="0" eaLnBrk="1" fontAlgn="base" hangingPunct="1">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Lst>
  <p:hf sldNum="0" hdr="0" ftr="0"/>
  <p:txStyles>
    <p:titleStyle>
      <a:lvl1pPr algn="l" rtl="0" eaLnBrk="1" fontAlgn="base" hangingPunct="1">
        <a:spcBef>
          <a:spcPct val="0"/>
        </a:spcBef>
        <a:spcAft>
          <a:spcPct val="0"/>
        </a:spcAft>
        <a:defRPr sz="2600" b="1">
          <a:solidFill>
            <a:schemeClr val="bg1"/>
          </a:solidFill>
          <a:latin typeface="+mj-lt"/>
          <a:ea typeface="+mj-ea"/>
          <a:cs typeface="+mj-cs"/>
        </a:defRPr>
      </a:lvl1pPr>
      <a:lvl2pPr algn="l" rtl="0" eaLnBrk="1" fontAlgn="base" hangingPunct="1">
        <a:spcBef>
          <a:spcPct val="0"/>
        </a:spcBef>
        <a:spcAft>
          <a:spcPct val="0"/>
        </a:spcAft>
        <a:defRPr sz="2600" b="1">
          <a:solidFill>
            <a:schemeClr val="bg1"/>
          </a:solidFill>
          <a:latin typeface="Arial" pitchFamily="34" charset="0"/>
          <a:ea typeface="黑体" pitchFamily="2" charset="-122"/>
        </a:defRPr>
      </a:lvl2pPr>
      <a:lvl3pPr algn="l" rtl="0" eaLnBrk="1" fontAlgn="base" hangingPunct="1">
        <a:spcBef>
          <a:spcPct val="0"/>
        </a:spcBef>
        <a:spcAft>
          <a:spcPct val="0"/>
        </a:spcAft>
        <a:defRPr sz="2600" b="1">
          <a:solidFill>
            <a:schemeClr val="bg1"/>
          </a:solidFill>
          <a:latin typeface="Arial" pitchFamily="34" charset="0"/>
          <a:ea typeface="黑体" pitchFamily="2" charset="-122"/>
        </a:defRPr>
      </a:lvl3pPr>
      <a:lvl4pPr algn="l" rtl="0" eaLnBrk="1" fontAlgn="base" hangingPunct="1">
        <a:spcBef>
          <a:spcPct val="0"/>
        </a:spcBef>
        <a:spcAft>
          <a:spcPct val="0"/>
        </a:spcAft>
        <a:defRPr sz="2600" b="1">
          <a:solidFill>
            <a:schemeClr val="bg1"/>
          </a:solidFill>
          <a:latin typeface="Arial" pitchFamily="34" charset="0"/>
          <a:ea typeface="黑体" pitchFamily="2" charset="-122"/>
        </a:defRPr>
      </a:lvl4pPr>
      <a:lvl5pPr algn="l" rtl="0" eaLnBrk="1" fontAlgn="base" hangingPunct="1">
        <a:spcBef>
          <a:spcPct val="0"/>
        </a:spcBef>
        <a:spcAft>
          <a:spcPct val="0"/>
        </a:spcAft>
        <a:defRPr sz="2600" b="1">
          <a:solidFill>
            <a:schemeClr val="bg1"/>
          </a:solidFill>
          <a:latin typeface="Arial" pitchFamily="34" charset="0"/>
          <a:ea typeface="黑体" pitchFamily="2" charset="-122"/>
        </a:defRPr>
      </a:lvl5pPr>
      <a:lvl6pPr marL="457200" algn="l" rtl="0" eaLnBrk="1" fontAlgn="base" hangingPunct="1">
        <a:spcBef>
          <a:spcPct val="0"/>
        </a:spcBef>
        <a:spcAft>
          <a:spcPct val="0"/>
        </a:spcAft>
        <a:defRPr sz="2600" b="1">
          <a:solidFill>
            <a:schemeClr val="bg1"/>
          </a:solidFill>
          <a:latin typeface="Arial" pitchFamily="34" charset="0"/>
          <a:ea typeface="黑体" pitchFamily="2" charset="-122"/>
        </a:defRPr>
      </a:lvl6pPr>
      <a:lvl7pPr marL="914400" algn="l" rtl="0" eaLnBrk="1" fontAlgn="base" hangingPunct="1">
        <a:spcBef>
          <a:spcPct val="0"/>
        </a:spcBef>
        <a:spcAft>
          <a:spcPct val="0"/>
        </a:spcAft>
        <a:defRPr sz="2600" b="1">
          <a:solidFill>
            <a:schemeClr val="bg1"/>
          </a:solidFill>
          <a:latin typeface="Arial" pitchFamily="34" charset="0"/>
          <a:ea typeface="黑体" pitchFamily="2" charset="-122"/>
        </a:defRPr>
      </a:lvl7pPr>
      <a:lvl8pPr marL="1371600" algn="l" rtl="0" eaLnBrk="1" fontAlgn="base" hangingPunct="1">
        <a:spcBef>
          <a:spcPct val="0"/>
        </a:spcBef>
        <a:spcAft>
          <a:spcPct val="0"/>
        </a:spcAft>
        <a:defRPr sz="2600" b="1">
          <a:solidFill>
            <a:schemeClr val="bg1"/>
          </a:solidFill>
          <a:latin typeface="Arial" pitchFamily="34" charset="0"/>
          <a:ea typeface="黑体" pitchFamily="2" charset="-122"/>
        </a:defRPr>
      </a:lvl8pPr>
      <a:lvl9pPr marL="1828800" algn="l" rtl="0" eaLnBrk="1" fontAlgn="base" hangingPunct="1">
        <a:spcBef>
          <a:spcPct val="0"/>
        </a:spcBef>
        <a:spcAft>
          <a:spcPct val="0"/>
        </a:spcAft>
        <a:defRPr sz="2600" b="1">
          <a:solidFill>
            <a:schemeClr val="bg1"/>
          </a:solidFill>
          <a:latin typeface="Arial" pitchFamily="34" charset="0"/>
          <a:ea typeface="黑体" pitchFamily="2" charset="-122"/>
        </a:defRPr>
      </a:lvl9pPr>
    </p:titleStyle>
    <p:bodyStyle>
      <a:lvl1pPr marL="342900" indent="-342900" algn="l" rtl="0" eaLnBrk="1" fontAlgn="base" hangingPunct="1">
        <a:lnSpc>
          <a:spcPct val="120000"/>
        </a:lnSpc>
        <a:spcBef>
          <a:spcPct val="20000"/>
        </a:spcBef>
        <a:spcAft>
          <a:spcPct val="0"/>
        </a:spcAft>
        <a:buClr>
          <a:schemeClr val="accent1"/>
        </a:buClr>
        <a:buFont typeface="Wingdings" pitchFamily="2" charset="2"/>
        <a:buChar char="n"/>
        <a:defRPr sz="2000" b="1">
          <a:solidFill>
            <a:schemeClr val="tx1"/>
          </a:solidFill>
          <a:latin typeface="+mn-lt"/>
          <a:ea typeface="+mn-ea"/>
          <a:cs typeface="+mn-cs"/>
        </a:defRPr>
      </a:lvl1pPr>
      <a:lvl2pPr marL="742950" indent="-285750" algn="l" rtl="0" eaLnBrk="1" fontAlgn="base" hangingPunct="1">
        <a:lnSpc>
          <a:spcPct val="120000"/>
        </a:lnSpc>
        <a:spcBef>
          <a:spcPct val="20000"/>
        </a:spcBef>
        <a:spcAft>
          <a:spcPct val="0"/>
        </a:spcAft>
        <a:buClr>
          <a:schemeClr val="accent1"/>
        </a:buClr>
        <a:buFont typeface="Wingdings" pitchFamily="2" charset="2"/>
        <a:buChar char="n"/>
        <a:defRPr b="1">
          <a:solidFill>
            <a:schemeClr val="tx1"/>
          </a:solidFill>
          <a:latin typeface="+mn-lt"/>
          <a:ea typeface="+mn-ea"/>
        </a:defRPr>
      </a:lvl2pPr>
      <a:lvl3pPr marL="1143000" indent="-228600" algn="l" rtl="0" eaLnBrk="1" fontAlgn="base" hangingPunct="1">
        <a:lnSpc>
          <a:spcPct val="120000"/>
        </a:lnSpc>
        <a:spcBef>
          <a:spcPct val="20000"/>
        </a:spcBef>
        <a:spcAft>
          <a:spcPct val="0"/>
        </a:spcAft>
        <a:buClr>
          <a:schemeClr val="accent2"/>
        </a:buClr>
        <a:buFont typeface="Wingdings" pitchFamily="2" charset="2"/>
        <a:buChar char="n"/>
        <a:defRPr sz="1600" b="1">
          <a:solidFill>
            <a:schemeClr val="tx1"/>
          </a:solidFill>
          <a:latin typeface="+mn-lt"/>
          <a:ea typeface="+mn-ea"/>
        </a:defRPr>
      </a:lvl3pPr>
      <a:lvl4pPr marL="1600200" indent="-228600" algn="l" rtl="0" eaLnBrk="1" fontAlgn="base" hangingPunct="1">
        <a:lnSpc>
          <a:spcPct val="120000"/>
        </a:lnSpc>
        <a:spcBef>
          <a:spcPct val="20000"/>
        </a:spcBef>
        <a:spcAft>
          <a:spcPct val="0"/>
        </a:spcAft>
        <a:buClr>
          <a:schemeClr val="hlink"/>
        </a:buClr>
        <a:buFont typeface="Wingdings" pitchFamily="2" charset="2"/>
        <a:buChar char="n"/>
        <a:defRPr sz="1400" b="1">
          <a:solidFill>
            <a:schemeClr val="tx1"/>
          </a:solidFill>
          <a:latin typeface="+mn-lt"/>
          <a:ea typeface="+mn-ea"/>
        </a:defRPr>
      </a:lvl4pPr>
      <a:lvl5pPr marL="2057400" indent="-228600" algn="l" rtl="0" eaLnBrk="1" fontAlgn="base" hangingPunct="1">
        <a:spcBef>
          <a:spcPct val="20000"/>
        </a:spcBef>
        <a:spcAft>
          <a:spcPct val="0"/>
        </a:spcAft>
        <a:buChar char="»"/>
        <a:defRPr>
          <a:solidFill>
            <a:schemeClr val="tx1"/>
          </a:solidFill>
          <a:latin typeface="+mn-lt"/>
          <a:ea typeface="+mn-ea"/>
        </a:defRPr>
      </a:lvl5pPr>
      <a:lvl6pPr marL="2514600" indent="-228600" algn="l" rtl="0" eaLnBrk="1" fontAlgn="base" hangingPunct="1">
        <a:spcBef>
          <a:spcPct val="20000"/>
        </a:spcBef>
        <a:spcAft>
          <a:spcPct val="0"/>
        </a:spcAft>
        <a:buChar char="»"/>
        <a:defRPr>
          <a:solidFill>
            <a:schemeClr val="tx1"/>
          </a:solidFill>
          <a:latin typeface="+mn-lt"/>
          <a:ea typeface="+mn-ea"/>
        </a:defRPr>
      </a:lvl6pPr>
      <a:lvl7pPr marL="2971800" indent="-228600" algn="l" rtl="0" eaLnBrk="1" fontAlgn="base" hangingPunct="1">
        <a:spcBef>
          <a:spcPct val="20000"/>
        </a:spcBef>
        <a:spcAft>
          <a:spcPct val="0"/>
        </a:spcAft>
        <a:buChar char="»"/>
        <a:defRPr>
          <a:solidFill>
            <a:schemeClr val="tx1"/>
          </a:solidFill>
          <a:latin typeface="+mn-lt"/>
          <a:ea typeface="+mn-ea"/>
        </a:defRPr>
      </a:lvl7pPr>
      <a:lvl8pPr marL="3429000" indent="-228600" algn="l" rtl="0" eaLnBrk="1" fontAlgn="base" hangingPunct="1">
        <a:spcBef>
          <a:spcPct val="20000"/>
        </a:spcBef>
        <a:spcAft>
          <a:spcPct val="0"/>
        </a:spcAft>
        <a:buChar char="»"/>
        <a:defRPr>
          <a:solidFill>
            <a:schemeClr val="tx1"/>
          </a:solidFill>
          <a:latin typeface="+mn-lt"/>
          <a:ea typeface="+mn-ea"/>
        </a:defRPr>
      </a:lvl8pPr>
      <a:lvl9pPr marL="3886200" indent="-228600" algn="l" rtl="0" eaLnBrk="1" fontAlgn="base" hangingPunct="1">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1.bin"/><Relationship Id="rId13" Type="http://schemas.openxmlformats.org/officeDocument/2006/relationships/image" Target="../media/image102.png"/><Relationship Id="rId3" Type="http://schemas.openxmlformats.org/officeDocument/2006/relationships/notesSlide" Target="../notesSlides/notesSlide1.xml"/><Relationship Id="rId7" Type="http://schemas.openxmlformats.org/officeDocument/2006/relationships/image" Target="../media/image12.png"/><Relationship Id="rId12" Type="http://schemas.openxmlformats.org/officeDocument/2006/relationships/image" Target="../media/image9.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99.png"/><Relationship Id="rId11" Type="http://schemas.openxmlformats.org/officeDocument/2006/relationships/oleObject" Target="../embeddings/oleObject2.bin"/><Relationship Id="rId5" Type="http://schemas.openxmlformats.org/officeDocument/2006/relationships/image" Target="../media/image11.png"/><Relationship Id="rId10" Type="http://schemas.openxmlformats.org/officeDocument/2006/relationships/image" Target="../media/image101.png"/><Relationship Id="rId4" Type="http://schemas.openxmlformats.org/officeDocument/2006/relationships/image" Target="../media/image10.png"/><Relationship Id="rId9" Type="http://schemas.openxmlformats.org/officeDocument/2006/relationships/image" Target="../media/image8.wmf"/></Relationships>
</file>

<file path=ppt/slides/_rels/slide2.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notesSlide" Target="../notesSlides/notesSlide2.xml"/><Relationship Id="rId7" Type="http://schemas.openxmlformats.org/officeDocument/2006/relationships/oleObject" Target="../embeddings/oleObject3.bin"/><Relationship Id="rId12" Type="http://schemas.openxmlformats.org/officeDocument/2006/relationships/image" Target="../media/image15.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07.png"/><Relationship Id="rId11" Type="http://schemas.openxmlformats.org/officeDocument/2006/relationships/oleObject" Target="../embeddings/oleObject5.bin"/><Relationship Id="rId5" Type="http://schemas.openxmlformats.org/officeDocument/2006/relationships/image" Target="../media/image12.png"/><Relationship Id="rId10" Type="http://schemas.openxmlformats.org/officeDocument/2006/relationships/image" Target="../media/image14.wmf"/><Relationship Id="rId4" Type="http://schemas.openxmlformats.org/officeDocument/2006/relationships/image" Target="../media/image106.png"/><Relationship Id="rId9" Type="http://schemas.openxmlformats.org/officeDocument/2006/relationships/oleObject" Target="../embeddings/oleObject4.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16.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110.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oleObject" Target="../embeddings/oleObject9.bin"/><Relationship Id="rId18" Type="http://schemas.openxmlformats.org/officeDocument/2006/relationships/image" Target="../media/image22.wmf"/><Relationship Id="rId3" Type="http://schemas.openxmlformats.org/officeDocument/2006/relationships/notesSlide" Target="../notesSlides/notesSlide4.xml"/><Relationship Id="rId7" Type="http://schemas.openxmlformats.org/officeDocument/2006/relationships/oleObject" Target="../embeddings/oleObject8.bin"/><Relationship Id="rId12" Type="http://schemas.openxmlformats.org/officeDocument/2006/relationships/image" Target="../media/image121.png"/><Relationship Id="rId17" Type="http://schemas.openxmlformats.org/officeDocument/2006/relationships/oleObject" Target="../embeddings/oleObject11.bin"/><Relationship Id="rId2" Type="http://schemas.openxmlformats.org/officeDocument/2006/relationships/slideLayout" Target="../slideLayouts/slideLayout2.xml"/><Relationship Id="rId16" Type="http://schemas.openxmlformats.org/officeDocument/2006/relationships/image" Target="../media/image21.wmf"/><Relationship Id="rId20" Type="http://schemas.openxmlformats.org/officeDocument/2006/relationships/image" Target="../media/image23.wmf"/><Relationship Id="rId1" Type="http://schemas.openxmlformats.org/officeDocument/2006/relationships/vmlDrawing" Target="../drawings/vmlDrawing4.vml"/><Relationship Id="rId6" Type="http://schemas.openxmlformats.org/officeDocument/2006/relationships/image" Target="../media/image18.wmf"/><Relationship Id="rId11" Type="http://schemas.openxmlformats.org/officeDocument/2006/relationships/image" Target="../media/image25.png"/><Relationship Id="rId5" Type="http://schemas.openxmlformats.org/officeDocument/2006/relationships/oleObject" Target="../embeddings/oleObject7.bin"/><Relationship Id="rId15" Type="http://schemas.openxmlformats.org/officeDocument/2006/relationships/oleObject" Target="../embeddings/oleObject10.bin"/><Relationship Id="rId10" Type="http://schemas.openxmlformats.org/officeDocument/2006/relationships/image" Target="../media/image24.png"/><Relationship Id="rId19" Type="http://schemas.openxmlformats.org/officeDocument/2006/relationships/oleObject" Target="../embeddings/oleObject12.bin"/><Relationship Id="rId4" Type="http://schemas.openxmlformats.org/officeDocument/2006/relationships/image" Target="../media/image117.png"/><Relationship Id="rId9" Type="http://schemas.openxmlformats.org/officeDocument/2006/relationships/image" Target="../media/image118.png"/><Relationship Id="rId14" Type="http://schemas.openxmlformats.org/officeDocument/2006/relationships/image" Target="../media/image20.wmf"/></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notesSlide" Target="../notesSlides/notesSlide7.xml"/><Relationship Id="rId7" Type="http://schemas.openxmlformats.org/officeDocument/2006/relationships/oleObject" Target="../embeddings/oleObject13.bin"/><Relationship Id="rId12" Type="http://schemas.openxmlformats.org/officeDocument/2006/relationships/image" Target="../media/image31.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8.png"/><Relationship Id="rId11" Type="http://schemas.openxmlformats.org/officeDocument/2006/relationships/oleObject" Target="../embeddings/oleObject15.bin"/><Relationship Id="rId5" Type="http://schemas.openxmlformats.org/officeDocument/2006/relationships/image" Target="../media/image27.png"/><Relationship Id="rId10" Type="http://schemas.openxmlformats.org/officeDocument/2006/relationships/image" Target="../media/image30.wmf"/><Relationship Id="rId4" Type="http://schemas.openxmlformats.org/officeDocument/2006/relationships/image" Target="../media/image26.png"/><Relationship Id="rId9" Type="http://schemas.openxmlformats.org/officeDocument/2006/relationships/oleObject" Target="../embeddings/oleObject14.bin"/></Relationships>
</file>

<file path=ppt/slides/_rels/slide8.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24.png"/><Relationship Id="rId13" Type="http://schemas.openxmlformats.org/officeDocument/2006/relationships/oleObject" Target="../embeddings/oleObject18.bin"/><Relationship Id="rId3" Type="http://schemas.openxmlformats.org/officeDocument/2006/relationships/notesSlide" Target="../notesSlides/notesSlide9.xml"/><Relationship Id="rId7" Type="http://schemas.openxmlformats.org/officeDocument/2006/relationships/image" Target="../media/image32.wmf"/><Relationship Id="rId12" Type="http://schemas.openxmlformats.org/officeDocument/2006/relationships/image" Target="../media/image33.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6.bin"/><Relationship Id="rId11" Type="http://schemas.openxmlformats.org/officeDocument/2006/relationships/oleObject" Target="../embeddings/oleObject17.bin"/><Relationship Id="rId5" Type="http://schemas.openxmlformats.org/officeDocument/2006/relationships/image" Target="../media/image123.png"/><Relationship Id="rId10" Type="http://schemas.openxmlformats.org/officeDocument/2006/relationships/image" Target="../media/image28.png"/><Relationship Id="rId4" Type="http://schemas.openxmlformats.org/officeDocument/2006/relationships/image" Target="../media/image26.png"/><Relationship Id="rId9" Type="http://schemas.openxmlformats.org/officeDocument/2006/relationships/image" Target="../media/image27.png"/><Relationship Id="rId14" Type="http://schemas.openxmlformats.org/officeDocument/2006/relationships/image" Target="../media/image34.wmf"/></Relationships>
</file>

<file path=ppt/slides/_rels/slide10.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notesSlide" Target="../notesSlides/notesSlide10.xml"/><Relationship Id="rId7" Type="http://schemas.openxmlformats.org/officeDocument/2006/relationships/image" Target="../media/image37.png"/><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29.png"/><Relationship Id="rId5" Type="http://schemas.openxmlformats.org/officeDocument/2006/relationships/image" Target="../media/image128.png"/><Relationship Id="rId10" Type="http://schemas.openxmlformats.org/officeDocument/2006/relationships/image" Target="../media/image35.wmf"/><Relationship Id="rId4" Type="http://schemas.openxmlformats.org/officeDocument/2006/relationships/image" Target="../media/image36.png"/><Relationship Id="rId9" Type="http://schemas.openxmlformats.org/officeDocument/2006/relationships/oleObject" Target="../embeddings/oleObject19.bin"/></Relationships>
</file>

<file path=ppt/slides/_rels/slide11.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39.png"/><Relationship Id="rId18" Type="http://schemas.openxmlformats.org/officeDocument/2006/relationships/image" Target="../media/image43.wmf"/><Relationship Id="rId3" Type="http://schemas.openxmlformats.org/officeDocument/2006/relationships/notesSlide" Target="../notesSlides/notesSlide11.xml"/><Relationship Id="rId7" Type="http://schemas.openxmlformats.org/officeDocument/2006/relationships/image" Target="../media/image39.wmf"/><Relationship Id="rId12" Type="http://schemas.openxmlformats.org/officeDocument/2006/relationships/image" Target="../media/image41.wmf"/><Relationship Id="rId17" Type="http://schemas.openxmlformats.org/officeDocument/2006/relationships/oleObject" Target="../embeddings/oleObject25.bin"/><Relationship Id="rId2" Type="http://schemas.openxmlformats.org/officeDocument/2006/relationships/slideLayout" Target="../slideLayouts/slideLayout2.xml"/><Relationship Id="rId16" Type="http://schemas.openxmlformats.org/officeDocument/2006/relationships/image" Target="../media/image140.png"/><Relationship Id="rId1" Type="http://schemas.openxmlformats.org/officeDocument/2006/relationships/vmlDrawing" Target="../drawings/vmlDrawing8.vml"/><Relationship Id="rId6" Type="http://schemas.openxmlformats.org/officeDocument/2006/relationships/oleObject" Target="../embeddings/oleObject21.bin"/><Relationship Id="rId11" Type="http://schemas.openxmlformats.org/officeDocument/2006/relationships/oleObject" Target="../embeddings/oleObject23.bin"/><Relationship Id="rId5" Type="http://schemas.openxmlformats.org/officeDocument/2006/relationships/image" Target="../media/image38.wmf"/><Relationship Id="rId15" Type="http://schemas.openxmlformats.org/officeDocument/2006/relationships/image" Target="../media/image42.wmf"/><Relationship Id="rId10" Type="http://schemas.openxmlformats.org/officeDocument/2006/relationships/image" Target="../media/image40.wmf"/><Relationship Id="rId19" Type="http://schemas.openxmlformats.org/officeDocument/2006/relationships/image" Target="../media/image37.png"/><Relationship Id="rId4" Type="http://schemas.openxmlformats.org/officeDocument/2006/relationships/oleObject" Target="../embeddings/oleObject20.bin"/><Relationship Id="rId9" Type="http://schemas.openxmlformats.org/officeDocument/2006/relationships/oleObject" Target="../embeddings/oleObject22.bin"/><Relationship Id="rId14" Type="http://schemas.openxmlformats.org/officeDocument/2006/relationships/oleObject" Target="../embeddings/oleObject24.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27.bin"/><Relationship Id="rId13" Type="http://schemas.openxmlformats.org/officeDocument/2006/relationships/image" Target="../media/image52.png"/><Relationship Id="rId18" Type="http://schemas.openxmlformats.org/officeDocument/2006/relationships/image" Target="../media/image53.png"/><Relationship Id="rId3" Type="http://schemas.openxmlformats.org/officeDocument/2006/relationships/notesSlide" Target="../notesSlides/notesSlide12.xml"/><Relationship Id="rId21" Type="http://schemas.openxmlformats.org/officeDocument/2006/relationships/oleObject" Target="../embeddings/oleObject32.bin"/><Relationship Id="rId7" Type="http://schemas.openxmlformats.org/officeDocument/2006/relationships/image" Target="../media/image44.wmf"/><Relationship Id="rId12" Type="http://schemas.openxmlformats.org/officeDocument/2006/relationships/image" Target="../media/image150.png"/><Relationship Id="rId17" Type="http://schemas.openxmlformats.org/officeDocument/2006/relationships/image" Target="../media/image48.wmf"/><Relationship Id="rId2" Type="http://schemas.openxmlformats.org/officeDocument/2006/relationships/slideLayout" Target="../slideLayouts/slideLayout2.xml"/><Relationship Id="rId16" Type="http://schemas.openxmlformats.org/officeDocument/2006/relationships/oleObject" Target="../embeddings/oleObject30.bin"/><Relationship Id="rId20" Type="http://schemas.openxmlformats.org/officeDocument/2006/relationships/image" Target="../media/image49.wmf"/><Relationship Id="rId1" Type="http://schemas.openxmlformats.org/officeDocument/2006/relationships/vmlDrawing" Target="../drawings/vmlDrawing9.vml"/><Relationship Id="rId6" Type="http://schemas.openxmlformats.org/officeDocument/2006/relationships/oleObject" Target="../embeddings/oleObject26.bin"/><Relationship Id="rId11" Type="http://schemas.openxmlformats.org/officeDocument/2006/relationships/image" Target="../media/image46.wmf"/><Relationship Id="rId5" Type="http://schemas.openxmlformats.org/officeDocument/2006/relationships/image" Target="../media/image51.png"/><Relationship Id="rId15" Type="http://schemas.openxmlformats.org/officeDocument/2006/relationships/image" Target="../media/image47.wmf"/><Relationship Id="rId23" Type="http://schemas.openxmlformats.org/officeDocument/2006/relationships/image" Target="../media/image153.png"/><Relationship Id="rId10" Type="http://schemas.openxmlformats.org/officeDocument/2006/relationships/oleObject" Target="../embeddings/oleObject28.bin"/><Relationship Id="rId19" Type="http://schemas.openxmlformats.org/officeDocument/2006/relationships/oleObject" Target="../embeddings/oleObject31.bin"/><Relationship Id="rId4" Type="http://schemas.openxmlformats.org/officeDocument/2006/relationships/image" Target="../media/image148.png"/><Relationship Id="rId9" Type="http://schemas.openxmlformats.org/officeDocument/2006/relationships/image" Target="../media/image45.wmf"/><Relationship Id="rId14" Type="http://schemas.openxmlformats.org/officeDocument/2006/relationships/oleObject" Target="../embeddings/oleObject29.bin"/><Relationship Id="rId22" Type="http://schemas.openxmlformats.org/officeDocument/2006/relationships/image" Target="../media/image50.wmf"/></Relationships>
</file>

<file path=ppt/slides/_rels/slide13.xml.rels><?xml version="1.0" encoding="UTF-8" standalone="yes"?>
<Relationships xmlns="http://schemas.openxmlformats.org/package/2006/relationships"><Relationship Id="rId8" Type="http://schemas.openxmlformats.org/officeDocument/2006/relationships/image" Target="../media/image55.wmf"/><Relationship Id="rId13" Type="http://schemas.openxmlformats.org/officeDocument/2006/relationships/oleObject" Target="../embeddings/oleObject37.bin"/><Relationship Id="rId3" Type="http://schemas.openxmlformats.org/officeDocument/2006/relationships/notesSlide" Target="../notesSlides/notesSlide13.xml"/><Relationship Id="rId7" Type="http://schemas.openxmlformats.org/officeDocument/2006/relationships/oleObject" Target="../embeddings/oleObject34.bin"/><Relationship Id="rId12" Type="http://schemas.openxmlformats.org/officeDocument/2006/relationships/image" Target="../media/image57.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54.wmf"/><Relationship Id="rId11" Type="http://schemas.openxmlformats.org/officeDocument/2006/relationships/oleObject" Target="../embeddings/oleObject36.bin"/><Relationship Id="rId5" Type="http://schemas.openxmlformats.org/officeDocument/2006/relationships/oleObject" Target="../embeddings/oleObject33.bin"/><Relationship Id="rId15" Type="http://schemas.openxmlformats.org/officeDocument/2006/relationships/image" Target="../media/image160.png"/><Relationship Id="rId10" Type="http://schemas.openxmlformats.org/officeDocument/2006/relationships/image" Target="../media/image56.wmf"/><Relationship Id="rId4" Type="http://schemas.openxmlformats.org/officeDocument/2006/relationships/image" Target="../media/image59.png"/><Relationship Id="rId9" Type="http://schemas.openxmlformats.org/officeDocument/2006/relationships/oleObject" Target="../embeddings/oleObject35.bin"/><Relationship Id="rId14" Type="http://schemas.openxmlformats.org/officeDocument/2006/relationships/image" Target="../media/image58.wmf"/></Relationships>
</file>

<file path=ppt/slides/_rels/slide14.x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notesSlide" Target="../notesSlides/notesSlide14.xml"/><Relationship Id="rId7" Type="http://schemas.openxmlformats.org/officeDocument/2006/relationships/oleObject" Target="../embeddings/oleObject38.bin"/><Relationship Id="rId12" Type="http://schemas.openxmlformats.org/officeDocument/2006/relationships/image" Target="../media/image62.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64.png"/><Relationship Id="rId11" Type="http://schemas.openxmlformats.org/officeDocument/2006/relationships/oleObject" Target="../embeddings/oleObject40.bin"/><Relationship Id="rId5" Type="http://schemas.openxmlformats.org/officeDocument/2006/relationships/image" Target="../media/image165.png"/><Relationship Id="rId10" Type="http://schemas.openxmlformats.org/officeDocument/2006/relationships/image" Target="../media/image61.wmf"/><Relationship Id="rId4" Type="http://schemas.openxmlformats.org/officeDocument/2006/relationships/image" Target="../media/image63.png"/><Relationship Id="rId9" Type="http://schemas.openxmlformats.org/officeDocument/2006/relationships/oleObject" Target="../embeddings/oleObject39.bin"/></Relationships>
</file>

<file path=ppt/slides/_rels/slide15.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notesSlide" Target="../notesSlides/notesSlide15.xml"/><Relationship Id="rId7"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65.wmf"/><Relationship Id="rId5" Type="http://schemas.openxmlformats.org/officeDocument/2006/relationships/oleObject" Target="../embeddings/oleObject41.bin"/><Relationship Id="rId4" Type="http://schemas.openxmlformats.org/officeDocument/2006/relationships/image" Target="../media/image67.png"/></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174.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17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44.bin"/><Relationship Id="rId5" Type="http://schemas.openxmlformats.org/officeDocument/2006/relationships/image" Target="../media/image71.wmf"/><Relationship Id="rId4" Type="http://schemas.openxmlformats.org/officeDocument/2006/relationships/oleObject" Target="../embeddings/oleObject43.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73.w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46.bin"/><Relationship Id="rId5" Type="http://schemas.openxmlformats.org/officeDocument/2006/relationships/image" Target="../media/image72.wmf"/><Relationship Id="rId4" Type="http://schemas.openxmlformats.org/officeDocument/2006/relationships/oleObject" Target="../embeddings/oleObject45.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notesSlide" Target="../notesSlides/notesSlide19.xml"/><Relationship Id="rId7" Type="http://schemas.openxmlformats.org/officeDocument/2006/relationships/image" Target="../media/image75.png"/><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48.bin"/><Relationship Id="rId11" Type="http://schemas.openxmlformats.org/officeDocument/2006/relationships/image" Target="../media/image77.png"/><Relationship Id="rId5" Type="http://schemas.openxmlformats.org/officeDocument/2006/relationships/image" Target="../media/image74.png"/><Relationship Id="rId10" Type="http://schemas.openxmlformats.org/officeDocument/2006/relationships/oleObject" Target="../embeddings/oleObject50.bin"/><Relationship Id="rId4" Type="http://schemas.openxmlformats.org/officeDocument/2006/relationships/oleObject" Target="../embeddings/oleObject47.bin"/><Relationship Id="rId9" Type="http://schemas.openxmlformats.org/officeDocument/2006/relationships/image" Target="../media/image76.png"/></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54.bin"/><Relationship Id="rId3" Type="http://schemas.openxmlformats.org/officeDocument/2006/relationships/notesSlide" Target="../notesSlides/notesSlide20.xml"/><Relationship Id="rId7" Type="http://schemas.openxmlformats.org/officeDocument/2006/relationships/oleObject" Target="../embeddings/oleObject53.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oleObject" Target="../embeddings/oleObject52.bin"/><Relationship Id="rId5" Type="http://schemas.openxmlformats.org/officeDocument/2006/relationships/image" Target="../media/image78.png"/><Relationship Id="rId4" Type="http://schemas.openxmlformats.org/officeDocument/2006/relationships/oleObject" Target="../embeddings/oleObject51.bin"/><Relationship Id="rId9" Type="http://schemas.openxmlformats.org/officeDocument/2006/relationships/oleObject" Target="../embeddings/oleObject55.bin"/></Relationships>
</file>

<file path=ppt/slides/_rels/slide21.xml.rels><?xml version="1.0" encoding="UTF-8" standalone="yes"?>
<Relationships xmlns="http://schemas.openxmlformats.org/package/2006/relationships"><Relationship Id="rId8" Type="http://schemas.openxmlformats.org/officeDocument/2006/relationships/image" Target="../media/image177.png"/><Relationship Id="rId3" Type="http://schemas.openxmlformats.org/officeDocument/2006/relationships/notesSlide" Target="../notesSlides/notesSlide21.xml"/><Relationship Id="rId7" Type="http://schemas.openxmlformats.org/officeDocument/2006/relationships/image" Target="../media/image176.png"/><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175.png"/><Relationship Id="rId11" Type="http://schemas.openxmlformats.org/officeDocument/2006/relationships/image" Target="../media/image79.wmf"/><Relationship Id="rId5" Type="http://schemas.openxmlformats.org/officeDocument/2006/relationships/image" Target="../media/image173.png"/><Relationship Id="rId10" Type="http://schemas.openxmlformats.org/officeDocument/2006/relationships/oleObject" Target="../embeddings/oleObject56.bin"/><Relationship Id="rId4" Type="http://schemas.openxmlformats.org/officeDocument/2006/relationships/image" Target="../media/image80.png"/><Relationship Id="rId9" Type="http://schemas.openxmlformats.org/officeDocument/2006/relationships/image" Target="../media/image81.png"/></Relationships>
</file>

<file path=ppt/slides/_rels/slide22.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185.png"/><Relationship Id="rId3" Type="http://schemas.openxmlformats.org/officeDocument/2006/relationships/notesSlide" Target="../notesSlides/notesSlide22.xml"/><Relationship Id="rId7" Type="http://schemas.openxmlformats.org/officeDocument/2006/relationships/image" Target="../media/image183.png"/><Relationship Id="rId12" Type="http://schemas.openxmlformats.org/officeDocument/2006/relationships/image" Target="../media/image82.w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182.png"/><Relationship Id="rId11" Type="http://schemas.openxmlformats.org/officeDocument/2006/relationships/oleObject" Target="../embeddings/oleObject57.bin"/><Relationship Id="rId5" Type="http://schemas.openxmlformats.org/officeDocument/2006/relationships/image" Target="../media/image181.png"/><Relationship Id="rId10" Type="http://schemas.openxmlformats.org/officeDocument/2006/relationships/image" Target="../media/image83.png"/><Relationship Id="rId4" Type="http://schemas.openxmlformats.org/officeDocument/2006/relationships/image" Target="../media/image180.png"/><Relationship Id="rId9" Type="http://schemas.openxmlformats.org/officeDocument/2006/relationships/image" Target="../media/image81.png"/></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60.bin"/><Relationship Id="rId3" Type="http://schemas.openxmlformats.org/officeDocument/2006/relationships/notesSlide" Target="../notesSlides/notesSlide23.xml"/><Relationship Id="rId7" Type="http://schemas.openxmlformats.org/officeDocument/2006/relationships/image" Target="../media/image85.wmf"/><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oleObject" Target="../embeddings/oleObject59.bin"/><Relationship Id="rId5" Type="http://schemas.openxmlformats.org/officeDocument/2006/relationships/image" Target="../media/image84.wmf"/><Relationship Id="rId4" Type="http://schemas.openxmlformats.org/officeDocument/2006/relationships/oleObject" Target="../embeddings/oleObject58.bin"/><Relationship Id="rId9" Type="http://schemas.openxmlformats.org/officeDocument/2006/relationships/image" Target="../media/image86.wmf"/></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87.png"/><Relationship Id="rId5" Type="http://schemas.openxmlformats.org/officeDocument/2006/relationships/oleObject" Target="../embeddings/oleObject61.bin"/><Relationship Id="rId4" Type="http://schemas.openxmlformats.org/officeDocument/2006/relationships/image" Target="../media/image190.png"/></Relationships>
</file>

<file path=ppt/slides/_rels/slide25.xml.rels><?xml version="1.0" encoding="UTF-8" standalone="yes"?>
<Relationships xmlns="http://schemas.openxmlformats.org/package/2006/relationships"><Relationship Id="rId8" Type="http://schemas.openxmlformats.org/officeDocument/2006/relationships/image" Target="../media/image88.wmf"/><Relationship Id="rId3" Type="http://schemas.openxmlformats.org/officeDocument/2006/relationships/notesSlide" Target="../notesSlides/notesSlide25.xml"/><Relationship Id="rId7" Type="http://schemas.openxmlformats.org/officeDocument/2006/relationships/oleObject" Target="../embeddings/oleObject62.bin"/><Relationship Id="rId12" Type="http://schemas.openxmlformats.org/officeDocument/2006/relationships/image" Target="../media/image197.png"/><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195.png"/><Relationship Id="rId11" Type="http://schemas.openxmlformats.org/officeDocument/2006/relationships/image" Target="../media/image89.wmf"/><Relationship Id="rId5" Type="http://schemas.openxmlformats.org/officeDocument/2006/relationships/image" Target="../media/image90.png"/><Relationship Id="rId10" Type="http://schemas.openxmlformats.org/officeDocument/2006/relationships/oleObject" Target="../embeddings/oleObject63.bin"/><Relationship Id="rId4" Type="http://schemas.openxmlformats.org/officeDocument/2006/relationships/image" Target="../media/image193.png"/><Relationship Id="rId9" Type="http://schemas.openxmlformats.org/officeDocument/2006/relationships/image" Target="../media/image196.png"/></Relationships>
</file>

<file path=ppt/slides/_rels/slide26.xml.rels><?xml version="1.0" encoding="UTF-8" standalone="yes"?>
<Relationships xmlns="http://schemas.openxmlformats.org/package/2006/relationships"><Relationship Id="rId8" Type="http://schemas.openxmlformats.org/officeDocument/2006/relationships/image" Target="../media/image91.wmf"/><Relationship Id="rId13" Type="http://schemas.openxmlformats.org/officeDocument/2006/relationships/image" Target="../media/image92.wmf"/><Relationship Id="rId3" Type="http://schemas.openxmlformats.org/officeDocument/2006/relationships/notesSlide" Target="../notesSlides/notesSlide26.xml"/><Relationship Id="rId7" Type="http://schemas.openxmlformats.org/officeDocument/2006/relationships/oleObject" Target="../embeddings/oleObject64.bin"/><Relationship Id="rId12" Type="http://schemas.openxmlformats.org/officeDocument/2006/relationships/oleObject" Target="../embeddings/oleObject65.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202.png"/><Relationship Id="rId11" Type="http://schemas.openxmlformats.org/officeDocument/2006/relationships/image" Target="../media/image94.png"/><Relationship Id="rId5" Type="http://schemas.openxmlformats.org/officeDocument/2006/relationships/image" Target="../media/image93.png"/><Relationship Id="rId10" Type="http://schemas.openxmlformats.org/officeDocument/2006/relationships/image" Target="../media/image204.png"/><Relationship Id="rId4" Type="http://schemas.openxmlformats.org/officeDocument/2006/relationships/image" Target="../media/image200.png"/><Relationship Id="rId9" Type="http://schemas.openxmlformats.org/officeDocument/2006/relationships/image" Target="../media/image203.png"/></Relationships>
</file>

<file path=ppt/slides/_rels/slide27.xml.rels><?xml version="1.0" encoding="UTF-8" standalone="yes"?>
<Relationships xmlns="http://schemas.openxmlformats.org/package/2006/relationships"><Relationship Id="rId8" Type="http://schemas.openxmlformats.org/officeDocument/2006/relationships/image" Target="../media/image209.png"/><Relationship Id="rId3" Type="http://schemas.openxmlformats.org/officeDocument/2006/relationships/notesSlide" Target="../notesSlides/notesSlide27.xml"/><Relationship Id="rId7" Type="http://schemas.openxmlformats.org/officeDocument/2006/relationships/image" Target="../media/image96.wmf"/><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oleObject" Target="../embeddings/oleObject67.bin"/><Relationship Id="rId5" Type="http://schemas.openxmlformats.org/officeDocument/2006/relationships/image" Target="../media/image95.wmf"/><Relationship Id="rId10" Type="http://schemas.openxmlformats.org/officeDocument/2006/relationships/image" Target="../media/image97.wmf"/><Relationship Id="rId4" Type="http://schemas.openxmlformats.org/officeDocument/2006/relationships/oleObject" Target="../embeddings/oleObject66.bin"/><Relationship Id="rId9" Type="http://schemas.openxmlformats.org/officeDocument/2006/relationships/oleObject" Target="../embeddings/oleObject68.bin"/></Relationships>
</file>

<file path=ppt/slides/_rels/slide28.xml.rels><?xml version="1.0" encoding="UTF-8" standalone="yes"?>
<Relationships xmlns="http://schemas.openxmlformats.org/package/2006/relationships"><Relationship Id="rId8" Type="http://schemas.openxmlformats.org/officeDocument/2006/relationships/image" Target="../media/image99.wmf"/><Relationship Id="rId3" Type="http://schemas.openxmlformats.org/officeDocument/2006/relationships/notesSlide" Target="../notesSlides/notesSlide28.xml"/><Relationship Id="rId7" Type="http://schemas.openxmlformats.org/officeDocument/2006/relationships/oleObject" Target="../embeddings/oleObject70.bin"/><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98.wmf"/><Relationship Id="rId5" Type="http://schemas.openxmlformats.org/officeDocument/2006/relationships/oleObject" Target="../embeddings/oleObject69.bin"/><Relationship Id="rId4" Type="http://schemas.openxmlformats.org/officeDocument/2006/relationships/image" Target="../media/image212.png"/><Relationship Id="rId9" Type="http://schemas.openxmlformats.org/officeDocument/2006/relationships/image" Target="../media/image21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vmlDrawing" Target="../drawings/vmlDrawing25.vml"/><Relationship Id="rId5" Type="http://schemas.openxmlformats.org/officeDocument/2006/relationships/image" Target="../media/image100.wmf"/><Relationship Id="rId4" Type="http://schemas.openxmlformats.org/officeDocument/2006/relationships/oleObject" Target="../embeddings/oleObject71.bin"/></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7" Type="http://schemas.openxmlformats.org/officeDocument/2006/relationships/image" Target="../media/image104.png"/><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oleObject" Target="../embeddings/oleObject73.bin"/><Relationship Id="rId5" Type="http://schemas.openxmlformats.org/officeDocument/2006/relationships/image" Target="../media/image103.png"/><Relationship Id="rId4" Type="http://schemas.openxmlformats.org/officeDocument/2006/relationships/oleObject" Target="../embeddings/oleObject72.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76.bin"/><Relationship Id="rId13" Type="http://schemas.openxmlformats.org/officeDocument/2006/relationships/image" Target="../media/image109.png"/><Relationship Id="rId18" Type="http://schemas.openxmlformats.org/officeDocument/2006/relationships/oleObject" Target="../embeddings/oleObject81.bin"/><Relationship Id="rId3" Type="http://schemas.openxmlformats.org/officeDocument/2006/relationships/notesSlide" Target="../notesSlides/notesSlide32.xml"/><Relationship Id="rId7" Type="http://schemas.openxmlformats.org/officeDocument/2006/relationships/image" Target="../media/image106.emf"/><Relationship Id="rId12" Type="http://schemas.openxmlformats.org/officeDocument/2006/relationships/oleObject" Target="../embeddings/oleObject78.bin"/><Relationship Id="rId17" Type="http://schemas.openxmlformats.org/officeDocument/2006/relationships/image" Target="../media/image111.emf"/><Relationship Id="rId2" Type="http://schemas.openxmlformats.org/officeDocument/2006/relationships/slideLayout" Target="../slideLayouts/slideLayout2.xml"/><Relationship Id="rId16" Type="http://schemas.openxmlformats.org/officeDocument/2006/relationships/oleObject" Target="../embeddings/oleObject80.bin"/><Relationship Id="rId1" Type="http://schemas.openxmlformats.org/officeDocument/2006/relationships/vmlDrawing" Target="../drawings/vmlDrawing27.vml"/><Relationship Id="rId6" Type="http://schemas.openxmlformats.org/officeDocument/2006/relationships/oleObject" Target="../embeddings/oleObject75.bin"/><Relationship Id="rId11" Type="http://schemas.openxmlformats.org/officeDocument/2006/relationships/image" Target="../media/image108.emf"/><Relationship Id="rId5" Type="http://schemas.openxmlformats.org/officeDocument/2006/relationships/image" Target="../media/image105.emf"/><Relationship Id="rId15" Type="http://schemas.openxmlformats.org/officeDocument/2006/relationships/image" Target="../media/image110.emf"/><Relationship Id="rId10" Type="http://schemas.openxmlformats.org/officeDocument/2006/relationships/oleObject" Target="../embeddings/oleObject77.bin"/><Relationship Id="rId19" Type="http://schemas.openxmlformats.org/officeDocument/2006/relationships/image" Target="../media/image112.emf"/><Relationship Id="rId4" Type="http://schemas.openxmlformats.org/officeDocument/2006/relationships/oleObject" Target="../embeddings/oleObject74.bin"/><Relationship Id="rId9" Type="http://schemas.openxmlformats.org/officeDocument/2006/relationships/image" Target="../media/image107.emf"/><Relationship Id="rId14" Type="http://schemas.openxmlformats.org/officeDocument/2006/relationships/oleObject" Target="../embeddings/oleObject79.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84.bin"/><Relationship Id="rId13" Type="http://schemas.openxmlformats.org/officeDocument/2006/relationships/image" Target="../media/image120.png"/><Relationship Id="rId3" Type="http://schemas.openxmlformats.org/officeDocument/2006/relationships/notesSlide" Target="../notesSlides/notesSlide33.xml"/><Relationship Id="rId7" Type="http://schemas.openxmlformats.org/officeDocument/2006/relationships/image" Target="../media/image114.emf"/><Relationship Id="rId12" Type="http://schemas.openxmlformats.org/officeDocument/2006/relationships/oleObject" Target="../embeddings/oleObject86.bin"/><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oleObject" Target="../embeddings/oleObject83.bin"/><Relationship Id="rId11" Type="http://schemas.openxmlformats.org/officeDocument/2006/relationships/image" Target="../media/image116.emf"/><Relationship Id="rId5" Type="http://schemas.openxmlformats.org/officeDocument/2006/relationships/image" Target="../media/image113.png"/><Relationship Id="rId10" Type="http://schemas.openxmlformats.org/officeDocument/2006/relationships/oleObject" Target="../embeddings/oleObject85.bin"/><Relationship Id="rId4" Type="http://schemas.openxmlformats.org/officeDocument/2006/relationships/oleObject" Target="../embeddings/oleObject82.bin"/><Relationship Id="rId9" Type="http://schemas.openxmlformats.org/officeDocument/2006/relationships/image" Target="../media/image115.e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notesSlide" Target="../notesSlides/notesSlide34.xml"/><Relationship Id="rId7" Type="http://schemas.openxmlformats.org/officeDocument/2006/relationships/image" Target="../media/image122.wmf"/><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oleObject" Target="../embeddings/oleObject88.bin"/><Relationship Id="rId11" Type="http://schemas.openxmlformats.org/officeDocument/2006/relationships/image" Target="../media/image125.png"/><Relationship Id="rId5" Type="http://schemas.openxmlformats.org/officeDocument/2006/relationships/image" Target="../media/image121.wmf"/><Relationship Id="rId10" Type="http://schemas.openxmlformats.org/officeDocument/2006/relationships/oleObject" Target="../embeddings/oleObject90.bin"/><Relationship Id="rId4" Type="http://schemas.openxmlformats.org/officeDocument/2006/relationships/oleObject" Target="../embeddings/oleObject87.bin"/><Relationship Id="rId9" Type="http://schemas.openxmlformats.org/officeDocument/2006/relationships/image" Target="../media/image123.e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93.bin"/><Relationship Id="rId13" Type="http://schemas.openxmlformats.org/officeDocument/2006/relationships/image" Target="../media/image130.wmf"/><Relationship Id="rId3" Type="http://schemas.openxmlformats.org/officeDocument/2006/relationships/notesSlide" Target="../notesSlides/notesSlide35.xml"/><Relationship Id="rId7" Type="http://schemas.openxmlformats.org/officeDocument/2006/relationships/image" Target="../media/image127.emf"/><Relationship Id="rId12" Type="http://schemas.openxmlformats.org/officeDocument/2006/relationships/oleObject" Target="../embeddings/oleObject95.bin"/><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oleObject" Target="../embeddings/oleObject92.bin"/><Relationship Id="rId11" Type="http://schemas.openxmlformats.org/officeDocument/2006/relationships/image" Target="../media/image129.wmf"/><Relationship Id="rId5" Type="http://schemas.openxmlformats.org/officeDocument/2006/relationships/image" Target="../media/image126.emf"/><Relationship Id="rId10" Type="http://schemas.openxmlformats.org/officeDocument/2006/relationships/oleObject" Target="../embeddings/oleObject94.bin"/><Relationship Id="rId4" Type="http://schemas.openxmlformats.org/officeDocument/2006/relationships/oleObject" Target="../embeddings/oleObject91.bin"/><Relationship Id="rId9" Type="http://schemas.openxmlformats.org/officeDocument/2006/relationships/image" Target="../media/image128.e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98.bin"/><Relationship Id="rId13" Type="http://schemas.openxmlformats.org/officeDocument/2006/relationships/image" Target="../media/image135.emf"/><Relationship Id="rId3" Type="http://schemas.openxmlformats.org/officeDocument/2006/relationships/notesSlide" Target="../notesSlides/notesSlide36.xml"/><Relationship Id="rId7" Type="http://schemas.openxmlformats.org/officeDocument/2006/relationships/image" Target="../media/image132.wmf"/><Relationship Id="rId12" Type="http://schemas.openxmlformats.org/officeDocument/2006/relationships/oleObject" Target="../embeddings/oleObject100.bin"/><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oleObject" Target="../embeddings/oleObject97.bin"/><Relationship Id="rId11" Type="http://schemas.openxmlformats.org/officeDocument/2006/relationships/image" Target="../media/image134.emf"/><Relationship Id="rId5" Type="http://schemas.openxmlformats.org/officeDocument/2006/relationships/image" Target="../media/image131.wmf"/><Relationship Id="rId10" Type="http://schemas.openxmlformats.org/officeDocument/2006/relationships/oleObject" Target="../embeddings/oleObject99.bin"/><Relationship Id="rId4" Type="http://schemas.openxmlformats.org/officeDocument/2006/relationships/oleObject" Target="../embeddings/oleObject96.bin"/><Relationship Id="rId9" Type="http://schemas.openxmlformats.org/officeDocument/2006/relationships/image" Target="../media/image133.e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03.bin"/><Relationship Id="rId13" Type="http://schemas.openxmlformats.org/officeDocument/2006/relationships/image" Target="../media/image140.wmf"/><Relationship Id="rId18" Type="http://schemas.openxmlformats.org/officeDocument/2006/relationships/oleObject" Target="../embeddings/oleObject108.bin"/><Relationship Id="rId3" Type="http://schemas.openxmlformats.org/officeDocument/2006/relationships/notesSlide" Target="../notesSlides/notesSlide37.xml"/><Relationship Id="rId7" Type="http://schemas.openxmlformats.org/officeDocument/2006/relationships/image" Target="../media/image137.emf"/><Relationship Id="rId12" Type="http://schemas.openxmlformats.org/officeDocument/2006/relationships/oleObject" Target="../embeddings/oleObject105.bin"/><Relationship Id="rId17" Type="http://schemas.openxmlformats.org/officeDocument/2006/relationships/image" Target="../media/image142.emf"/><Relationship Id="rId2" Type="http://schemas.openxmlformats.org/officeDocument/2006/relationships/slideLayout" Target="../slideLayouts/slideLayout2.xml"/><Relationship Id="rId16" Type="http://schemas.openxmlformats.org/officeDocument/2006/relationships/oleObject" Target="../embeddings/oleObject107.bin"/><Relationship Id="rId1" Type="http://schemas.openxmlformats.org/officeDocument/2006/relationships/vmlDrawing" Target="../drawings/vmlDrawing32.vml"/><Relationship Id="rId6" Type="http://schemas.openxmlformats.org/officeDocument/2006/relationships/oleObject" Target="../embeddings/oleObject102.bin"/><Relationship Id="rId11" Type="http://schemas.openxmlformats.org/officeDocument/2006/relationships/image" Target="../media/image139.wmf"/><Relationship Id="rId5" Type="http://schemas.openxmlformats.org/officeDocument/2006/relationships/image" Target="../media/image136.emf"/><Relationship Id="rId15" Type="http://schemas.openxmlformats.org/officeDocument/2006/relationships/image" Target="../media/image141.emf"/><Relationship Id="rId10" Type="http://schemas.openxmlformats.org/officeDocument/2006/relationships/oleObject" Target="../embeddings/oleObject104.bin"/><Relationship Id="rId19" Type="http://schemas.openxmlformats.org/officeDocument/2006/relationships/image" Target="../media/image129.wmf"/><Relationship Id="rId4" Type="http://schemas.openxmlformats.org/officeDocument/2006/relationships/oleObject" Target="../embeddings/oleObject101.bin"/><Relationship Id="rId9" Type="http://schemas.openxmlformats.org/officeDocument/2006/relationships/image" Target="../media/image138.emf"/><Relationship Id="rId14" Type="http://schemas.openxmlformats.org/officeDocument/2006/relationships/oleObject" Target="../embeddings/oleObject106.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11.bin"/><Relationship Id="rId13" Type="http://schemas.openxmlformats.org/officeDocument/2006/relationships/image" Target="../media/image145.emf"/><Relationship Id="rId3" Type="http://schemas.openxmlformats.org/officeDocument/2006/relationships/notesSlide" Target="../notesSlides/notesSlide38.xml"/><Relationship Id="rId7" Type="http://schemas.openxmlformats.org/officeDocument/2006/relationships/image" Target="../media/image121.wmf"/><Relationship Id="rId12" Type="http://schemas.openxmlformats.org/officeDocument/2006/relationships/oleObject" Target="../embeddings/oleObject113.bin"/><Relationship Id="rId17" Type="http://schemas.openxmlformats.org/officeDocument/2006/relationships/image" Target="../media/image147.emf"/><Relationship Id="rId2" Type="http://schemas.openxmlformats.org/officeDocument/2006/relationships/slideLayout" Target="../slideLayouts/slideLayout2.xml"/><Relationship Id="rId16" Type="http://schemas.openxmlformats.org/officeDocument/2006/relationships/oleObject" Target="../embeddings/oleObject115.bin"/><Relationship Id="rId1" Type="http://schemas.openxmlformats.org/officeDocument/2006/relationships/vmlDrawing" Target="../drawings/vmlDrawing33.vml"/><Relationship Id="rId6" Type="http://schemas.openxmlformats.org/officeDocument/2006/relationships/oleObject" Target="../embeddings/oleObject110.bin"/><Relationship Id="rId11" Type="http://schemas.openxmlformats.org/officeDocument/2006/relationships/image" Target="../media/image144.emf"/><Relationship Id="rId5" Type="http://schemas.openxmlformats.org/officeDocument/2006/relationships/image" Target="../media/image139.wmf"/><Relationship Id="rId15" Type="http://schemas.openxmlformats.org/officeDocument/2006/relationships/image" Target="../media/image146.emf"/><Relationship Id="rId10" Type="http://schemas.openxmlformats.org/officeDocument/2006/relationships/oleObject" Target="../embeddings/oleObject112.bin"/><Relationship Id="rId4" Type="http://schemas.openxmlformats.org/officeDocument/2006/relationships/oleObject" Target="../embeddings/oleObject109.bin"/><Relationship Id="rId9" Type="http://schemas.openxmlformats.org/officeDocument/2006/relationships/image" Target="../media/image143.wmf"/><Relationship Id="rId14" Type="http://schemas.openxmlformats.org/officeDocument/2006/relationships/oleObject" Target="../embeddings/oleObject114.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18.bin"/><Relationship Id="rId13" Type="http://schemas.openxmlformats.org/officeDocument/2006/relationships/image" Target="../media/image150.emf"/><Relationship Id="rId18" Type="http://schemas.openxmlformats.org/officeDocument/2006/relationships/oleObject" Target="../embeddings/oleObject123.bin"/><Relationship Id="rId3" Type="http://schemas.openxmlformats.org/officeDocument/2006/relationships/notesSlide" Target="../notesSlides/notesSlide39.xml"/><Relationship Id="rId7" Type="http://schemas.openxmlformats.org/officeDocument/2006/relationships/image" Target="../media/image121.wmf"/><Relationship Id="rId12" Type="http://schemas.openxmlformats.org/officeDocument/2006/relationships/oleObject" Target="../embeddings/oleObject120.bin"/><Relationship Id="rId17" Type="http://schemas.openxmlformats.org/officeDocument/2006/relationships/image" Target="../media/image152.emf"/><Relationship Id="rId2" Type="http://schemas.openxmlformats.org/officeDocument/2006/relationships/slideLayout" Target="../slideLayouts/slideLayout2.xml"/><Relationship Id="rId16" Type="http://schemas.openxmlformats.org/officeDocument/2006/relationships/oleObject" Target="../embeddings/oleObject122.bin"/><Relationship Id="rId1" Type="http://schemas.openxmlformats.org/officeDocument/2006/relationships/vmlDrawing" Target="../drawings/vmlDrawing34.vml"/><Relationship Id="rId6" Type="http://schemas.openxmlformats.org/officeDocument/2006/relationships/oleObject" Target="../embeddings/oleObject117.bin"/><Relationship Id="rId11" Type="http://schemas.openxmlformats.org/officeDocument/2006/relationships/image" Target="../media/image149.emf"/><Relationship Id="rId5" Type="http://schemas.openxmlformats.org/officeDocument/2006/relationships/image" Target="../media/image139.wmf"/><Relationship Id="rId15" Type="http://schemas.openxmlformats.org/officeDocument/2006/relationships/image" Target="../media/image151.emf"/><Relationship Id="rId10" Type="http://schemas.openxmlformats.org/officeDocument/2006/relationships/oleObject" Target="../embeddings/oleObject119.bin"/><Relationship Id="rId19" Type="http://schemas.openxmlformats.org/officeDocument/2006/relationships/image" Target="../media/image153.wmf"/><Relationship Id="rId4" Type="http://schemas.openxmlformats.org/officeDocument/2006/relationships/oleObject" Target="../embeddings/oleObject116.bin"/><Relationship Id="rId9" Type="http://schemas.openxmlformats.org/officeDocument/2006/relationships/image" Target="../media/image148.wmf"/><Relationship Id="rId14" Type="http://schemas.openxmlformats.org/officeDocument/2006/relationships/oleObject" Target="../embeddings/oleObject121.bin"/></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26.bin"/><Relationship Id="rId3" Type="http://schemas.openxmlformats.org/officeDocument/2006/relationships/notesSlide" Target="../notesSlides/notesSlide40.xml"/><Relationship Id="rId7" Type="http://schemas.openxmlformats.org/officeDocument/2006/relationships/image" Target="../media/image155.wmf"/><Relationship Id="rId2" Type="http://schemas.openxmlformats.org/officeDocument/2006/relationships/slideLayout" Target="../slideLayouts/slideLayout2.xml"/><Relationship Id="rId1" Type="http://schemas.openxmlformats.org/officeDocument/2006/relationships/vmlDrawing" Target="../drawings/vmlDrawing35.vml"/><Relationship Id="rId6" Type="http://schemas.openxmlformats.org/officeDocument/2006/relationships/oleObject" Target="../embeddings/oleObject125.bin"/><Relationship Id="rId5" Type="http://schemas.openxmlformats.org/officeDocument/2006/relationships/image" Target="../media/image154.wmf"/><Relationship Id="rId4" Type="http://schemas.openxmlformats.org/officeDocument/2006/relationships/oleObject" Target="../embeddings/oleObject124.bin"/><Relationship Id="rId9" Type="http://schemas.openxmlformats.org/officeDocument/2006/relationships/image" Target="../media/image156.wmf"/></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29.bin"/><Relationship Id="rId13" Type="http://schemas.openxmlformats.org/officeDocument/2006/relationships/image" Target="../media/image161.emf"/><Relationship Id="rId3" Type="http://schemas.openxmlformats.org/officeDocument/2006/relationships/notesSlide" Target="../notesSlides/notesSlide41.xml"/><Relationship Id="rId7" Type="http://schemas.openxmlformats.org/officeDocument/2006/relationships/image" Target="../media/image158.wmf"/><Relationship Id="rId12" Type="http://schemas.openxmlformats.org/officeDocument/2006/relationships/oleObject" Target="../embeddings/oleObject131.bin"/><Relationship Id="rId17" Type="http://schemas.openxmlformats.org/officeDocument/2006/relationships/image" Target="../media/image163.emf"/><Relationship Id="rId2" Type="http://schemas.openxmlformats.org/officeDocument/2006/relationships/slideLayout" Target="../slideLayouts/slideLayout2.xml"/><Relationship Id="rId16" Type="http://schemas.openxmlformats.org/officeDocument/2006/relationships/oleObject" Target="../embeddings/oleObject133.bin"/><Relationship Id="rId1" Type="http://schemas.openxmlformats.org/officeDocument/2006/relationships/vmlDrawing" Target="../drawings/vmlDrawing36.vml"/><Relationship Id="rId6" Type="http://schemas.openxmlformats.org/officeDocument/2006/relationships/oleObject" Target="../embeddings/oleObject128.bin"/><Relationship Id="rId11" Type="http://schemas.openxmlformats.org/officeDocument/2006/relationships/image" Target="../media/image160.wmf"/><Relationship Id="rId5" Type="http://schemas.openxmlformats.org/officeDocument/2006/relationships/image" Target="../media/image157.emf"/><Relationship Id="rId15" Type="http://schemas.openxmlformats.org/officeDocument/2006/relationships/image" Target="../media/image162.emf"/><Relationship Id="rId10" Type="http://schemas.openxmlformats.org/officeDocument/2006/relationships/oleObject" Target="../embeddings/oleObject130.bin"/><Relationship Id="rId4" Type="http://schemas.openxmlformats.org/officeDocument/2006/relationships/oleObject" Target="../embeddings/oleObject127.bin"/><Relationship Id="rId9" Type="http://schemas.openxmlformats.org/officeDocument/2006/relationships/image" Target="../media/image159.wmf"/><Relationship Id="rId14" Type="http://schemas.openxmlformats.org/officeDocument/2006/relationships/oleObject" Target="../embeddings/oleObject132.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136.bin"/><Relationship Id="rId13" Type="http://schemas.openxmlformats.org/officeDocument/2006/relationships/image" Target="../media/image168.emf"/><Relationship Id="rId3" Type="http://schemas.openxmlformats.org/officeDocument/2006/relationships/notesSlide" Target="../notesSlides/notesSlide42.xml"/><Relationship Id="rId7" Type="http://schemas.openxmlformats.org/officeDocument/2006/relationships/image" Target="../media/image165.wmf"/><Relationship Id="rId12" Type="http://schemas.openxmlformats.org/officeDocument/2006/relationships/oleObject" Target="../embeddings/oleObject138.bin"/><Relationship Id="rId2" Type="http://schemas.openxmlformats.org/officeDocument/2006/relationships/slideLayout" Target="../slideLayouts/slideLayout2.xml"/><Relationship Id="rId1" Type="http://schemas.openxmlformats.org/officeDocument/2006/relationships/vmlDrawing" Target="../drawings/vmlDrawing37.vml"/><Relationship Id="rId6" Type="http://schemas.openxmlformats.org/officeDocument/2006/relationships/oleObject" Target="../embeddings/oleObject135.bin"/><Relationship Id="rId11" Type="http://schemas.openxmlformats.org/officeDocument/2006/relationships/image" Target="../media/image167.emf"/><Relationship Id="rId5" Type="http://schemas.openxmlformats.org/officeDocument/2006/relationships/image" Target="../media/image164.wmf"/><Relationship Id="rId15" Type="http://schemas.openxmlformats.org/officeDocument/2006/relationships/image" Target="../media/image169.emf"/><Relationship Id="rId10" Type="http://schemas.openxmlformats.org/officeDocument/2006/relationships/oleObject" Target="../embeddings/oleObject137.bin"/><Relationship Id="rId4" Type="http://schemas.openxmlformats.org/officeDocument/2006/relationships/oleObject" Target="../embeddings/oleObject134.bin"/><Relationship Id="rId9" Type="http://schemas.openxmlformats.org/officeDocument/2006/relationships/image" Target="../media/image166.wmf"/><Relationship Id="rId14" Type="http://schemas.openxmlformats.org/officeDocument/2006/relationships/oleObject" Target="../embeddings/oleObject139.bin"/></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142.bin"/><Relationship Id="rId13" Type="http://schemas.openxmlformats.org/officeDocument/2006/relationships/image" Target="../media/image174.emf"/><Relationship Id="rId3" Type="http://schemas.openxmlformats.org/officeDocument/2006/relationships/notesSlide" Target="../notesSlides/notesSlide43.xml"/><Relationship Id="rId7" Type="http://schemas.openxmlformats.org/officeDocument/2006/relationships/image" Target="../media/image171.wmf"/><Relationship Id="rId12" Type="http://schemas.openxmlformats.org/officeDocument/2006/relationships/oleObject" Target="../embeddings/oleObject144.bin"/><Relationship Id="rId2" Type="http://schemas.openxmlformats.org/officeDocument/2006/relationships/slideLayout" Target="../slideLayouts/slideLayout2.xml"/><Relationship Id="rId1" Type="http://schemas.openxmlformats.org/officeDocument/2006/relationships/vmlDrawing" Target="../drawings/vmlDrawing38.vml"/><Relationship Id="rId6" Type="http://schemas.openxmlformats.org/officeDocument/2006/relationships/oleObject" Target="../embeddings/oleObject141.bin"/><Relationship Id="rId11" Type="http://schemas.openxmlformats.org/officeDocument/2006/relationships/image" Target="../media/image173.emf"/><Relationship Id="rId5" Type="http://schemas.openxmlformats.org/officeDocument/2006/relationships/image" Target="../media/image170.wmf"/><Relationship Id="rId10" Type="http://schemas.openxmlformats.org/officeDocument/2006/relationships/oleObject" Target="../embeddings/oleObject143.bin"/><Relationship Id="rId4" Type="http://schemas.openxmlformats.org/officeDocument/2006/relationships/oleObject" Target="../embeddings/oleObject140.bin"/><Relationship Id="rId9" Type="http://schemas.openxmlformats.org/officeDocument/2006/relationships/image" Target="../media/image172.wmf"/></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147.bin"/><Relationship Id="rId13" Type="http://schemas.openxmlformats.org/officeDocument/2006/relationships/image" Target="../media/image179.wmf"/><Relationship Id="rId3" Type="http://schemas.openxmlformats.org/officeDocument/2006/relationships/notesSlide" Target="../notesSlides/notesSlide44.xml"/><Relationship Id="rId7" Type="http://schemas.openxmlformats.org/officeDocument/2006/relationships/image" Target="../media/image176.emf"/><Relationship Id="rId12" Type="http://schemas.openxmlformats.org/officeDocument/2006/relationships/oleObject" Target="../embeddings/oleObject149.bin"/><Relationship Id="rId17" Type="http://schemas.openxmlformats.org/officeDocument/2006/relationships/image" Target="../media/image181.emf"/><Relationship Id="rId2" Type="http://schemas.openxmlformats.org/officeDocument/2006/relationships/slideLayout" Target="../slideLayouts/slideLayout2.xml"/><Relationship Id="rId16" Type="http://schemas.openxmlformats.org/officeDocument/2006/relationships/oleObject" Target="../embeddings/oleObject151.bin"/><Relationship Id="rId1" Type="http://schemas.openxmlformats.org/officeDocument/2006/relationships/vmlDrawing" Target="../drawings/vmlDrawing39.vml"/><Relationship Id="rId6" Type="http://schemas.openxmlformats.org/officeDocument/2006/relationships/oleObject" Target="../embeddings/oleObject146.bin"/><Relationship Id="rId11" Type="http://schemas.openxmlformats.org/officeDocument/2006/relationships/image" Target="../media/image178.wmf"/><Relationship Id="rId5" Type="http://schemas.openxmlformats.org/officeDocument/2006/relationships/image" Target="../media/image175.emf"/><Relationship Id="rId15" Type="http://schemas.openxmlformats.org/officeDocument/2006/relationships/image" Target="../media/image180.emf"/><Relationship Id="rId10" Type="http://schemas.openxmlformats.org/officeDocument/2006/relationships/oleObject" Target="../embeddings/oleObject148.bin"/><Relationship Id="rId4" Type="http://schemas.openxmlformats.org/officeDocument/2006/relationships/oleObject" Target="../embeddings/oleObject145.bin"/><Relationship Id="rId9" Type="http://schemas.openxmlformats.org/officeDocument/2006/relationships/image" Target="../media/image177.wmf"/><Relationship Id="rId14" Type="http://schemas.openxmlformats.org/officeDocument/2006/relationships/oleObject" Target="../embeddings/oleObject150.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1" name="Picture 3" descr="C:\Users\Administrator\Desktop\1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5996" y="1950085"/>
            <a:ext cx="3012590" cy="1902688"/>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a:xfrm>
            <a:off x="457200" y="101628"/>
            <a:ext cx="8229600" cy="1143000"/>
          </a:xfrm>
        </p:spPr>
        <p:txBody>
          <a:bodyPr/>
          <a:lstStyle/>
          <a:p>
            <a:r>
              <a:rPr lang="en-US" altLang="zh-CN" dirty="0">
                <a:latin typeface="宋体" pitchFamily="2" charset="-122"/>
              </a:rPr>
              <a:t>§</a:t>
            </a:r>
            <a:r>
              <a:rPr lang="en-US" altLang="zh-CN" dirty="0"/>
              <a:t>7-3 </a:t>
            </a:r>
            <a:r>
              <a:rPr lang="zh-CN" altLang="en-US" dirty="0"/>
              <a:t>位移法解无侧移刚架</a:t>
            </a:r>
          </a:p>
        </p:txBody>
      </p:sp>
      <p:sp>
        <p:nvSpPr>
          <p:cNvPr id="7" name="TextBox 6"/>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2015-12-21</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467544" y="1378414"/>
            <a:ext cx="8280920" cy="892552"/>
          </a:xfrm>
          <a:prstGeom prst="rect">
            <a:avLst/>
          </a:prstGeom>
          <a:noFill/>
        </p:spPr>
        <p:txBody>
          <a:bodyPr wrap="square" rtlCol="0">
            <a:spAutoFit/>
          </a:bodyPr>
          <a:lstStyle/>
          <a:p>
            <a:r>
              <a:rPr lang="zh-CN" altLang="en-US" sz="2600" dirty="0">
                <a:latin typeface="楷体" panose="02010609060101010101" pitchFamily="49" charset="-122"/>
                <a:ea typeface="楷体" panose="02010609060101010101" pitchFamily="49" charset="-122"/>
              </a:rPr>
              <a:t>如果刚架的各结点只有角位移而没有线位移，这种刚架称为</a:t>
            </a:r>
            <a:r>
              <a:rPr lang="zh-CN" altLang="en-US" sz="2600" b="1" dirty="0">
                <a:solidFill>
                  <a:srgbClr val="FF0000"/>
                </a:solidFill>
                <a:latin typeface="楷体" panose="02010609060101010101" pitchFamily="49" charset="-122"/>
                <a:ea typeface="楷体" panose="02010609060101010101" pitchFamily="49" charset="-122"/>
              </a:rPr>
              <a:t>无侧移刚架</a:t>
            </a:r>
            <a:r>
              <a:rPr lang="zh-CN" altLang="en-US" sz="2600" dirty="0">
                <a:latin typeface="楷体" panose="02010609060101010101" pitchFamily="49" charset="-122"/>
                <a:ea typeface="楷体" panose="02010609060101010101" pitchFamily="49" charset="-122"/>
              </a:rPr>
              <a:t>。</a:t>
            </a:r>
          </a:p>
        </p:txBody>
      </p:sp>
      <p:pic>
        <p:nvPicPr>
          <p:cNvPr id="32769" name="Picture 1" descr="C:\Users\Administrator\AppData\Roaming\Tencent\Users\42337577\QQ\WinTemp\RichOle\%GSEWGQQY8)`X6NDTL$F2FB.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33" y="2319070"/>
            <a:ext cx="3472896" cy="121872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9" name="TextBox 8"/>
              <p:cNvSpPr txBox="1"/>
              <p:nvPr/>
            </p:nvSpPr>
            <p:spPr>
              <a:xfrm>
                <a:off x="611560" y="3717032"/>
                <a:ext cx="5688632" cy="830997"/>
              </a:xfrm>
              <a:prstGeom prst="rect">
                <a:avLst/>
              </a:prstGeom>
              <a:noFill/>
            </p:spPr>
            <p:txBody>
              <a:bodyPr wrap="square" rtlCol="0">
                <a:spAutoFit/>
              </a:bodyPr>
              <a:lstStyle/>
              <a:p>
                <a:r>
                  <a:rPr lang="zh-CN" altLang="en-US" sz="2400" dirty="0">
                    <a:solidFill>
                      <a:srgbClr val="0000FF"/>
                    </a:solidFill>
                    <a:latin typeface="楷体" panose="02010609060101010101" pitchFamily="49" charset="-122"/>
                    <a:ea typeface="楷体" panose="02010609060101010101" pitchFamily="49" charset="-122"/>
                  </a:rPr>
                  <a:t>位移法计算：</a:t>
                </a:r>
                <a:endParaRPr lang="en-US" altLang="zh-CN" sz="2400" dirty="0">
                  <a:solidFill>
                    <a:srgbClr val="0000FF"/>
                  </a:solidFill>
                  <a:latin typeface="楷体" panose="02010609060101010101" pitchFamily="49" charset="-122"/>
                  <a:ea typeface="楷体" panose="02010609060101010101" pitchFamily="49" charset="-122"/>
                </a:endParaRPr>
              </a:p>
              <a:p>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取</a:t>
                </a:r>
                <a:r>
                  <a:rPr lang="zh-CN" altLang="en-US" sz="2400" dirty="0">
                    <a:solidFill>
                      <a:srgbClr val="FFC000"/>
                    </a:solidFill>
                    <a:latin typeface="楷体" panose="02010609060101010101" pitchFamily="49" charset="-122"/>
                    <a:ea typeface="楷体" panose="02010609060101010101" pitchFamily="49" charset="-122"/>
                  </a:rPr>
                  <a:t>结点角位移</a:t>
                </a:r>
                <a14:m>
                  <m:oMath xmlns:m="http://schemas.openxmlformats.org/officeDocument/2006/math">
                    <m:sSub>
                      <m:sSubPr>
                        <m:ctrlPr>
                          <a:rPr lang="en-US" altLang="zh-CN" sz="2400" i="1" smtClean="0">
                            <a:solidFill>
                              <a:srgbClr val="FFC000"/>
                            </a:solidFill>
                            <a:latin typeface="Cambria Math" panose="02040503050406030204" pitchFamily="18" charset="0"/>
                          </a:rPr>
                        </m:ctrlPr>
                      </m:sSubPr>
                      <m:e>
                        <m:r>
                          <a:rPr lang="zh-CN" altLang="en-US" sz="2400" i="1" smtClean="0">
                            <a:solidFill>
                              <a:srgbClr val="FFC000"/>
                            </a:solidFill>
                            <a:latin typeface="Cambria Math"/>
                          </a:rPr>
                          <m:t>𝜃</m:t>
                        </m:r>
                      </m:e>
                      <m:sub>
                        <m:r>
                          <a:rPr lang="en-US" altLang="zh-CN" sz="2400" b="0" i="1" smtClean="0">
                            <a:solidFill>
                              <a:srgbClr val="FFC000"/>
                            </a:solidFill>
                            <a:latin typeface="Cambria Math"/>
                          </a:rPr>
                          <m:t>𝐵</m:t>
                        </m:r>
                      </m:sub>
                    </m:sSub>
                  </m:oMath>
                </a14:m>
                <a:r>
                  <a:rPr lang="zh-CN" altLang="en-US" sz="2400" dirty="0">
                    <a:latin typeface="楷体" panose="02010609060101010101" pitchFamily="49" charset="-122"/>
                    <a:ea typeface="楷体" panose="02010609060101010101" pitchFamily="49" charset="-122"/>
                  </a:rPr>
                  <a:t>作为基本位置量。</a:t>
                </a:r>
              </a:p>
            </p:txBody>
          </p:sp>
        </mc:Choice>
        <mc:Fallback xmlns="">
          <p:sp>
            <p:nvSpPr>
              <p:cNvPr id="9" name="TextBox 8"/>
              <p:cNvSpPr txBox="1">
                <a:spLocks noRot="1" noChangeAspect="1" noMove="1" noResize="1" noEditPoints="1" noAdjustHandles="1" noChangeArrowheads="1" noChangeShapeType="1" noTextEdit="1"/>
              </p:cNvSpPr>
              <p:nvPr/>
            </p:nvSpPr>
            <p:spPr>
              <a:xfrm>
                <a:off x="611560" y="3717032"/>
                <a:ext cx="5688632" cy="830997"/>
              </a:xfrm>
              <a:prstGeom prst="rect">
                <a:avLst/>
              </a:prstGeom>
              <a:blipFill rotWithShape="1">
                <a:blip r:embed="rId6"/>
                <a:stretch>
                  <a:fillRect l="-1608" t="-5882" r="-7074" b="-13971"/>
                </a:stretch>
              </a:blipFill>
            </p:spPr>
            <p:txBody>
              <a:bodyPr/>
              <a:lstStyle/>
              <a:p>
                <a:r>
                  <a:rPr lang="zh-CN" altLang="en-US">
                    <a:noFill/>
                  </a:rPr>
                  <a:t> </a:t>
                </a:r>
              </a:p>
            </p:txBody>
          </p:sp>
        </mc:Fallback>
      </mc:AlternateContent>
      <p:sp>
        <p:nvSpPr>
          <p:cNvPr id="10" name="云形标注 9"/>
          <p:cNvSpPr/>
          <p:nvPr/>
        </p:nvSpPr>
        <p:spPr bwMode="auto">
          <a:xfrm>
            <a:off x="2881050" y="3645024"/>
            <a:ext cx="3384376" cy="415498"/>
          </a:xfrm>
          <a:prstGeom prst="cloudCallout">
            <a:avLst>
              <a:gd name="adj1" fmla="val -22008"/>
              <a:gd name="adj2" fmla="val 85464"/>
            </a:avLst>
          </a:prstGeom>
          <a:solidFill>
            <a:srgbClr val="92D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solidFill>
                  <a:schemeClr val="tx1"/>
                </a:solidFill>
                <a:effectLst/>
                <a:latin typeface="楷体" panose="02010609060101010101" pitchFamily="49" charset="-122"/>
                <a:ea typeface="楷体" panose="02010609060101010101" pitchFamily="49" charset="-122"/>
              </a:rPr>
              <a:t>为什么不选结点</a:t>
            </a:r>
            <a:r>
              <a:rPr kumimoji="0" lang="en-US" altLang="zh-CN" sz="1600" b="1" u="none" strike="noStrike" cap="none" normalizeH="0" baseline="0" dirty="0">
                <a:ln>
                  <a:noFill/>
                </a:ln>
                <a:solidFill>
                  <a:schemeClr val="tx1"/>
                </a:solidFill>
                <a:effectLst/>
                <a:latin typeface="楷体" panose="02010609060101010101" pitchFamily="49" charset="-122"/>
                <a:ea typeface="楷体" panose="02010609060101010101" pitchFamily="49" charset="-122"/>
              </a:rPr>
              <a:t>C</a:t>
            </a:r>
            <a:r>
              <a:rPr kumimoji="0" lang="zh-CN" altLang="en-US" sz="1600" b="1" u="none" strike="noStrike" cap="none" normalizeH="0" baseline="0" dirty="0">
                <a:ln>
                  <a:noFill/>
                </a:ln>
                <a:solidFill>
                  <a:schemeClr val="tx1"/>
                </a:solidFill>
                <a:effectLst/>
                <a:latin typeface="楷体" panose="02010609060101010101" pitchFamily="49" charset="-122"/>
                <a:ea typeface="楷体" panose="02010609060101010101" pitchFamily="49" charset="-122"/>
              </a:rPr>
              <a:t>？</a:t>
            </a:r>
          </a:p>
        </p:txBody>
      </p:sp>
      <p:sp>
        <p:nvSpPr>
          <p:cNvPr id="11" name="线形标注 1 10"/>
          <p:cNvSpPr/>
          <p:nvPr/>
        </p:nvSpPr>
        <p:spPr bwMode="auto">
          <a:xfrm>
            <a:off x="6804248" y="3960081"/>
            <a:ext cx="1584176" cy="333016"/>
          </a:xfrm>
          <a:prstGeom prst="borderCallout1">
            <a:avLst>
              <a:gd name="adj1" fmla="val 51408"/>
              <a:gd name="adj2" fmla="val -235"/>
              <a:gd name="adj3" fmla="val -17463"/>
              <a:gd name="adj4" fmla="val -38300"/>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dirty="0">
                <a:ln>
                  <a:noFill/>
                </a:ln>
                <a:solidFill>
                  <a:srgbClr val="FF3399"/>
                </a:solidFill>
                <a:effectLst/>
                <a:latin typeface="楷体" panose="02010609060101010101" pitchFamily="49" charset="-122"/>
                <a:ea typeface="楷体" panose="02010609060101010101" pitchFamily="49" charset="-122"/>
              </a:rPr>
              <a:t>C</a:t>
            </a:r>
            <a:r>
              <a:rPr kumimoji="0" lang="zh-CN" altLang="en-US" sz="1600" b="1" u="none" strike="noStrike" cap="none" normalizeH="0" baseline="0" dirty="0">
                <a:ln>
                  <a:noFill/>
                </a:ln>
                <a:solidFill>
                  <a:srgbClr val="FF3399"/>
                </a:solidFill>
                <a:effectLst/>
                <a:latin typeface="楷体" panose="02010609060101010101" pitchFamily="49" charset="-122"/>
                <a:ea typeface="楷体" panose="02010609060101010101" pitchFamily="49" charset="-122"/>
              </a:rPr>
              <a:t>为支座结点！</a:t>
            </a:r>
          </a:p>
        </p:txBody>
      </p:sp>
      <p:pic>
        <p:nvPicPr>
          <p:cNvPr id="32770" name="Picture 2" descr="C:\Users\Administrator\AppData\Roaming\Tencent\Users\42337577\QQ\WinTemp\RichOle\0$2E`3UYP$]D2OK)Z})8IR3.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95936" y="2656747"/>
            <a:ext cx="1492683" cy="60560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747625" y="4549137"/>
            <a:ext cx="3608351" cy="769441"/>
          </a:xfrm>
          <a:prstGeom prst="rect">
            <a:avLst/>
          </a:prstGeom>
          <a:noFill/>
        </p:spPr>
        <p:txBody>
          <a:bodyPr wrap="square" rtlCol="0">
            <a:spAutoFit/>
          </a:bodyPr>
          <a:lstStyle/>
          <a:p>
            <a:r>
              <a:rPr lang="zh-CN" altLang="en-US" sz="2200" dirty="0">
                <a:latin typeface="楷体" panose="02010609060101010101" pitchFamily="49" charset="-122"/>
                <a:ea typeface="楷体" panose="02010609060101010101" pitchFamily="49" charset="-122"/>
              </a:rPr>
              <a:t>由表</a:t>
            </a:r>
            <a:r>
              <a:rPr lang="en-US" altLang="zh-CN" sz="2200" dirty="0">
                <a:latin typeface="楷体" panose="02010609060101010101" pitchFamily="49" charset="-122"/>
                <a:ea typeface="楷体" panose="02010609060101010101" pitchFamily="49" charset="-122"/>
              </a:rPr>
              <a:t>7-1</a:t>
            </a:r>
            <a:r>
              <a:rPr lang="zh-CN" altLang="en-US" sz="2200" dirty="0">
                <a:latin typeface="楷体" panose="02010609060101010101" pitchFamily="49" charset="-122"/>
                <a:ea typeface="楷体" panose="02010609060101010101" pitchFamily="49" charset="-122"/>
              </a:rPr>
              <a:t>可求出各杆的</a:t>
            </a:r>
            <a:r>
              <a:rPr lang="zh-CN" altLang="en-US" sz="2200" dirty="0">
                <a:solidFill>
                  <a:srgbClr val="FF3399"/>
                </a:solidFill>
                <a:latin typeface="楷体" panose="02010609060101010101" pitchFamily="49" charset="-122"/>
                <a:ea typeface="楷体" panose="02010609060101010101" pitchFamily="49" charset="-122"/>
              </a:rPr>
              <a:t>固端弯矩</a:t>
            </a:r>
            <a:r>
              <a:rPr lang="zh-CN" altLang="en-US" sz="2200" dirty="0">
                <a:latin typeface="楷体" panose="02010609060101010101" pitchFamily="49" charset="-122"/>
                <a:ea typeface="楷体" panose="02010609060101010101" pitchFamily="49" charset="-122"/>
              </a:rPr>
              <a:t>为：</a:t>
            </a:r>
          </a:p>
        </p:txBody>
      </p:sp>
      <p:graphicFrame>
        <p:nvGraphicFramePr>
          <p:cNvPr id="13" name="对象 12"/>
          <p:cNvGraphicFramePr>
            <a:graphicFrameLocks noChangeAspect="1"/>
          </p:cNvGraphicFramePr>
          <p:nvPr>
            <p:extLst>
              <p:ext uri="{D42A27DB-BD31-4B8C-83A1-F6EECF244321}">
                <p14:modId xmlns:p14="http://schemas.microsoft.com/office/powerpoint/2010/main" val="4198894189"/>
              </p:ext>
            </p:extLst>
          </p:nvPr>
        </p:nvGraphicFramePr>
        <p:xfrm>
          <a:off x="971600" y="5373216"/>
          <a:ext cx="2717800" cy="1092200"/>
        </p:xfrm>
        <a:graphic>
          <a:graphicData uri="http://schemas.openxmlformats.org/presentationml/2006/ole">
            <mc:AlternateContent xmlns:mc="http://schemas.openxmlformats.org/markup-compatibility/2006">
              <mc:Choice xmlns:v="urn:schemas-microsoft-com:vml" Requires="v">
                <p:oleObj spid="_x0000_s33441" name="Equation" r:id="rId8" imgW="2717640" imgH="1091880" progId="Equation.DSMT4">
                  <p:embed/>
                </p:oleObj>
              </mc:Choice>
              <mc:Fallback>
                <p:oleObj name="Equation" r:id="rId8" imgW="2717640" imgH="1091880" progId="Equation.DSMT4">
                  <p:embed/>
                  <p:pic>
                    <p:nvPicPr>
                      <p:cNvPr id="0" name=""/>
                      <p:cNvPicPr/>
                      <p:nvPr/>
                    </p:nvPicPr>
                    <p:blipFill>
                      <a:blip r:embed="rId9"/>
                      <a:stretch>
                        <a:fillRect/>
                      </a:stretch>
                    </p:blipFill>
                    <p:spPr>
                      <a:xfrm>
                        <a:off x="971600" y="5373216"/>
                        <a:ext cx="2717800" cy="10922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4" name="TextBox 13"/>
              <p:cNvSpPr txBox="1"/>
              <p:nvPr/>
            </p:nvSpPr>
            <p:spPr>
              <a:xfrm>
                <a:off x="4573238" y="4653136"/>
                <a:ext cx="4104456" cy="430887"/>
              </a:xfrm>
              <a:prstGeom prst="rect">
                <a:avLst/>
              </a:prstGeom>
              <a:noFill/>
            </p:spPr>
            <p:txBody>
              <a:bodyPr wrap="square" rtlCol="0">
                <a:spAutoFit/>
              </a:bodyPr>
              <a:lstStyle/>
              <a:p>
                <a:r>
                  <a:rPr lang="zh-CN" altLang="en-US" sz="2200" dirty="0">
                    <a:latin typeface="楷体" panose="02010609060101010101" pitchFamily="49" charset="-122"/>
                    <a:ea typeface="楷体" panose="02010609060101010101" pitchFamily="49" charset="-122"/>
                  </a:rPr>
                  <a:t>各</a:t>
                </a:r>
                <a:r>
                  <a:rPr lang="zh-CN" altLang="en-US" sz="2200" dirty="0">
                    <a:solidFill>
                      <a:srgbClr val="FF3399"/>
                    </a:solidFill>
                    <a:latin typeface="楷体" panose="02010609060101010101" pitchFamily="49" charset="-122"/>
                    <a:ea typeface="楷体" panose="02010609060101010101" pitchFamily="49" charset="-122"/>
                  </a:rPr>
                  <a:t>杆杆端弯矩</a:t>
                </a:r>
                <a:r>
                  <a:rPr lang="zh-CN" altLang="en-US" sz="2200" dirty="0">
                    <a:latin typeface="楷体" panose="02010609060101010101" pitchFamily="49" charset="-122"/>
                    <a:ea typeface="楷体" panose="02010609060101010101" pitchFamily="49" charset="-122"/>
                  </a:rPr>
                  <a:t>如下（</a:t>
                </a:r>
                <a14:m>
                  <m:oMath xmlns:m="http://schemas.openxmlformats.org/officeDocument/2006/math">
                    <m:r>
                      <a:rPr lang="zh-CN" altLang="en-US" sz="2200" i="1" smtClean="0">
                        <a:latin typeface="Cambria Math"/>
                        <a:ea typeface="楷体" panose="02010609060101010101" pitchFamily="49" charset="-122"/>
                      </a:rPr>
                      <m:t>∆</m:t>
                    </m:r>
                    <m:r>
                      <a:rPr lang="en-US" altLang="zh-CN" sz="2200" b="0" i="1" smtClean="0">
                        <a:latin typeface="Cambria Math"/>
                        <a:ea typeface="楷体" panose="02010609060101010101" pitchFamily="49" charset="-122"/>
                      </a:rPr>
                      <m:t>=0</m:t>
                    </m:r>
                  </m:oMath>
                </a14:m>
                <a:r>
                  <a:rPr lang="zh-CN" altLang="en-US" sz="2200" dirty="0">
                    <a:latin typeface="楷体" panose="02010609060101010101" pitchFamily="49" charset="-122"/>
                    <a:ea typeface="楷体" panose="02010609060101010101" pitchFamily="49" charset="-122"/>
                  </a:rPr>
                  <a:t>）：</a:t>
                </a:r>
              </a:p>
            </p:txBody>
          </p:sp>
        </mc:Choice>
        <mc:Fallback xmlns="">
          <p:sp>
            <p:nvSpPr>
              <p:cNvPr id="14" name="TextBox 13"/>
              <p:cNvSpPr txBox="1">
                <a:spLocks noRot="1" noChangeAspect="1" noMove="1" noResize="1" noEditPoints="1" noAdjustHandles="1" noChangeArrowheads="1" noChangeShapeType="1" noTextEdit="1"/>
              </p:cNvSpPr>
              <p:nvPr/>
            </p:nvSpPr>
            <p:spPr>
              <a:xfrm>
                <a:off x="4573238" y="4653136"/>
                <a:ext cx="4104456" cy="430887"/>
              </a:xfrm>
              <a:prstGeom prst="rect">
                <a:avLst/>
              </a:prstGeom>
              <a:blipFill rotWithShape="1">
                <a:blip r:embed="rId10"/>
                <a:stretch>
                  <a:fillRect l="-1780" t="-12676" b="-22535"/>
                </a:stretch>
              </a:blipFill>
            </p:spPr>
            <p:txBody>
              <a:bodyPr/>
              <a:lstStyle/>
              <a:p>
                <a:r>
                  <a:rPr lang="zh-CN" altLang="en-US">
                    <a:noFill/>
                  </a:rPr>
                  <a:t> </a:t>
                </a:r>
              </a:p>
            </p:txBody>
          </p:sp>
        </mc:Fallback>
      </mc:AlternateContent>
      <p:graphicFrame>
        <p:nvGraphicFramePr>
          <p:cNvPr id="15" name="对象 14"/>
          <p:cNvGraphicFramePr>
            <a:graphicFrameLocks noChangeAspect="1"/>
          </p:cNvGraphicFramePr>
          <p:nvPr>
            <p:extLst>
              <p:ext uri="{D42A27DB-BD31-4B8C-83A1-F6EECF244321}">
                <p14:modId xmlns:p14="http://schemas.microsoft.com/office/powerpoint/2010/main" val="2380887618"/>
              </p:ext>
            </p:extLst>
          </p:nvPr>
        </p:nvGraphicFramePr>
        <p:xfrm>
          <a:off x="5004047" y="5328516"/>
          <a:ext cx="2097829" cy="980803"/>
        </p:xfrm>
        <a:graphic>
          <a:graphicData uri="http://schemas.openxmlformats.org/presentationml/2006/ole">
            <mc:AlternateContent xmlns:mc="http://schemas.openxmlformats.org/markup-compatibility/2006">
              <mc:Choice xmlns:v="urn:schemas-microsoft-com:vml" Requires="v">
                <p:oleObj spid="_x0000_s33442" name="Equation" r:id="rId11" imgW="1955520" imgH="914400" progId="Equation.DSMT4">
                  <p:embed/>
                </p:oleObj>
              </mc:Choice>
              <mc:Fallback>
                <p:oleObj name="Equation" r:id="rId11" imgW="1955520" imgH="914400" progId="Equation.DSMT4">
                  <p:embed/>
                  <p:pic>
                    <p:nvPicPr>
                      <p:cNvPr id="0" name=""/>
                      <p:cNvPicPr/>
                      <p:nvPr/>
                    </p:nvPicPr>
                    <p:blipFill>
                      <a:blip r:embed="rId12"/>
                      <a:stretch>
                        <a:fillRect/>
                      </a:stretch>
                    </p:blipFill>
                    <p:spPr>
                      <a:xfrm>
                        <a:off x="5004047" y="5328516"/>
                        <a:ext cx="2097829" cy="980803"/>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6" name="线形标注 1 15"/>
              <p:cNvSpPr/>
              <p:nvPr/>
            </p:nvSpPr>
            <p:spPr bwMode="auto">
              <a:xfrm>
                <a:off x="7489471" y="5517232"/>
                <a:ext cx="1245120" cy="324036"/>
              </a:xfrm>
              <a:prstGeom prst="borderCallout1">
                <a:avLst>
                  <a:gd name="adj1" fmla="val 49423"/>
                  <a:gd name="adj2" fmla="val -533"/>
                  <a:gd name="adj3" fmla="val 167876"/>
                  <a:gd name="adj4" fmla="val -117594"/>
                </a:avLst>
              </a:prstGeom>
              <a:solidFill>
                <a:srgbClr val="FFFF00"/>
              </a:solidFill>
              <a:ln w="9525" cap="flat" cmpd="sng" algn="ctr">
                <a:solidFill>
                  <a:srgbClr val="FFFF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r>
                  <a:rPr kumimoji="0" lang="zh-CN" altLang="en-US" sz="1600" u="none" strike="noStrike" cap="none" normalizeH="0" baseline="0" dirty="0">
                    <a:ln>
                      <a:noFill/>
                    </a:ln>
                    <a:solidFill>
                      <a:schemeClr val="tx1"/>
                    </a:solidFill>
                    <a:effectLst/>
                    <a:latin typeface="楷体" panose="02010609060101010101" pitchFamily="49" charset="-122"/>
                    <a:ea typeface="楷体" panose="02010609060101010101" pitchFamily="49" charset="-122"/>
                  </a:rPr>
                  <a:t>只要求出</a:t>
                </a:r>
                <a14:m>
                  <m:oMath xmlns:m="http://schemas.openxmlformats.org/officeDocument/2006/math">
                    <m:sSub>
                      <m:sSubPr>
                        <m:ctrlPr>
                          <a:rPr kumimoji="0" lang="en-US" altLang="zh-CN" sz="1600" i="1" u="none" strike="noStrike" cap="none" normalizeH="0" baseline="0" smtClean="0">
                            <a:ln>
                              <a:noFill/>
                            </a:ln>
                            <a:solidFill>
                              <a:schemeClr val="tx1"/>
                            </a:solidFill>
                            <a:effectLst/>
                            <a:latin typeface="Cambria Math" panose="02040503050406030204" pitchFamily="18" charset="0"/>
                            <a:ea typeface="华文细黑" pitchFamily="2" charset="-122"/>
                          </a:rPr>
                        </m:ctrlPr>
                      </m:sSubPr>
                      <m:e>
                        <m:r>
                          <m:rPr>
                            <m:sty m:val="p"/>
                          </m:rPr>
                          <a:rPr lang="zh-CN" altLang="en-US" sz="1600" b="0" i="0">
                            <a:latin typeface="Cambria Math"/>
                            <a:ea typeface="华文细黑" pitchFamily="2" charset="-122"/>
                          </a:rPr>
                          <m:t>θ</m:t>
                        </m:r>
                      </m:e>
                      <m:sub>
                        <m:r>
                          <m:rPr>
                            <m:sty m:val="p"/>
                          </m:rPr>
                          <a:rPr kumimoji="0" lang="en-US" altLang="zh-CN" sz="1600" b="0" i="0" u="none" strike="noStrike" cap="none" normalizeH="0" baseline="0" smtClean="0">
                            <a:ln>
                              <a:noFill/>
                            </a:ln>
                            <a:solidFill>
                              <a:schemeClr val="tx1"/>
                            </a:solidFill>
                            <a:effectLst/>
                            <a:latin typeface="Cambria Math"/>
                            <a:ea typeface="华文细黑" pitchFamily="2" charset="-122"/>
                          </a:rPr>
                          <m:t>B</m:t>
                        </m:r>
                      </m:sub>
                    </m:sSub>
                  </m:oMath>
                </a14:m>
                <a:endParaRPr kumimoji="0" lang="zh-CN" altLang="en-US" sz="160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p:txBody>
          </p:sp>
        </mc:Choice>
        <mc:Fallback xmlns="">
          <p:sp>
            <p:nvSpPr>
              <p:cNvPr id="16" name="线形标注 1 15"/>
              <p:cNvSpPr>
                <a:spLocks noRot="1" noChangeAspect="1" noMove="1" noResize="1" noEditPoints="1" noAdjustHandles="1" noChangeArrowheads="1" noChangeShapeType="1" noTextEdit="1"/>
              </p:cNvSpPr>
              <p:nvPr/>
            </p:nvSpPr>
            <p:spPr bwMode="auto">
              <a:xfrm>
                <a:off x="7489471" y="5517232"/>
                <a:ext cx="1245120" cy="324036"/>
              </a:xfrm>
              <a:prstGeom prst="borderCallout1">
                <a:avLst>
                  <a:gd name="adj1" fmla="val 49423"/>
                  <a:gd name="adj2" fmla="val -533"/>
                  <a:gd name="adj3" fmla="val 167876"/>
                  <a:gd name="adj4" fmla="val -117594"/>
                </a:avLst>
              </a:prstGeom>
              <a:blipFill rotWithShape="1">
                <a:blip r:embed="rId13"/>
                <a:stretch>
                  <a:fillRect t="-3297"/>
                </a:stretch>
              </a:blipFill>
              <a:ln w="9525" cap="flat" cmpd="sng" algn="ctr">
                <a:solidFill>
                  <a:srgbClr val="FFFF00"/>
                </a:solidFill>
                <a:prstDash val="solid"/>
                <a:round/>
                <a:headEnd type="none" w="med" len="med"/>
                <a:tailEnd type="none" w="med" len="med"/>
              </a:ln>
              <a:effectLst/>
            </p:spPr>
            <p:txBody>
              <a:bodyPr/>
              <a:lstStyle/>
              <a:p>
                <a:r>
                  <a:rPr lang="zh-CN" altLang="en-US">
                    <a:noFill/>
                  </a:rPr>
                  <a:t> </a:t>
                </a:r>
              </a:p>
            </p:txBody>
          </p:sp>
        </mc:Fallback>
      </mc:AlternateContent>
    </p:spTree>
    <p:extLst>
      <p:ext uri="{BB962C8B-B14F-4D97-AF65-F5344CB8AC3E}">
        <p14:creationId xmlns:p14="http://schemas.microsoft.com/office/powerpoint/2010/main" val="116972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32769"/>
                                        </p:tgtEl>
                                        <p:attrNameLst>
                                          <p:attrName>style.visibility</p:attrName>
                                        </p:attrNameLst>
                                      </p:cBhvr>
                                      <p:to>
                                        <p:strVal val="visible"/>
                                      </p:to>
                                    </p:set>
                                    <p:animEffect transition="in" filter="wipe(down)">
                                      <p:cBhvr>
                                        <p:cTn id="11" dur="500"/>
                                        <p:tgtEl>
                                          <p:spTgt spid="32769"/>
                                        </p:tgtEl>
                                      </p:cBhvr>
                                    </p:animEffect>
                                  </p:childTnLst>
                                </p:cTn>
                              </p:par>
                              <p:par>
                                <p:cTn id="12" presetID="22" presetClass="entr" presetSubtype="4" fill="hold" nodeType="withEffect">
                                  <p:stCondLst>
                                    <p:cond delay="0"/>
                                  </p:stCondLst>
                                  <p:childTnLst>
                                    <p:set>
                                      <p:cBhvr>
                                        <p:cTn id="13" dur="1" fill="hold">
                                          <p:stCondLst>
                                            <p:cond delay="0"/>
                                          </p:stCondLst>
                                        </p:cTn>
                                        <p:tgtEl>
                                          <p:spTgt spid="32770"/>
                                        </p:tgtEl>
                                        <p:attrNameLst>
                                          <p:attrName>style.visibility</p:attrName>
                                        </p:attrNameLst>
                                      </p:cBhvr>
                                      <p:to>
                                        <p:strVal val="visible"/>
                                      </p:to>
                                    </p:set>
                                    <p:animEffect transition="in" filter="wipe(down)">
                                      <p:cBhvr>
                                        <p:cTn id="14" dur="500"/>
                                        <p:tgtEl>
                                          <p:spTgt spid="32770"/>
                                        </p:tgtEl>
                                      </p:cBhvr>
                                    </p:animEffect>
                                  </p:childTnLst>
                                </p:cTn>
                              </p:par>
                              <p:par>
                                <p:cTn id="15" presetID="22" presetClass="entr" presetSubtype="4" fill="hold" nodeType="withEffect">
                                  <p:stCondLst>
                                    <p:cond delay="0"/>
                                  </p:stCondLst>
                                  <p:childTnLst>
                                    <p:set>
                                      <p:cBhvr>
                                        <p:cTn id="16" dur="1" fill="hold">
                                          <p:stCondLst>
                                            <p:cond delay="0"/>
                                          </p:stCondLst>
                                        </p:cTn>
                                        <p:tgtEl>
                                          <p:spTgt spid="32771"/>
                                        </p:tgtEl>
                                        <p:attrNameLst>
                                          <p:attrName>style.visibility</p:attrName>
                                        </p:attrNameLst>
                                      </p:cBhvr>
                                      <p:to>
                                        <p:strVal val="visible"/>
                                      </p:to>
                                    </p:set>
                                    <p:animEffect transition="in" filter="wipe(down)">
                                      <p:cBhvr>
                                        <p:cTn id="17" dur="500"/>
                                        <p:tgtEl>
                                          <p:spTgt spid="327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1" grpId="0" animBg="1"/>
      <p:bldP spid="12" grpId="0"/>
      <p:bldP spid="14" grpId="0"/>
      <p:bldP spid="1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1628"/>
            <a:ext cx="8229600" cy="1143000"/>
          </a:xfrm>
        </p:spPr>
        <p:txBody>
          <a:bodyPr/>
          <a:lstStyle/>
          <a:p>
            <a:r>
              <a:rPr lang="en-US" altLang="zh-CN" dirty="0">
                <a:latin typeface="宋体" pitchFamily="2" charset="-122"/>
              </a:rPr>
              <a:t>§</a:t>
            </a:r>
            <a:r>
              <a:rPr lang="en-US" altLang="zh-CN" dirty="0"/>
              <a:t>7-3 </a:t>
            </a:r>
            <a:r>
              <a:rPr lang="zh-CN" altLang="en-US" dirty="0"/>
              <a:t>位移法解无侧移刚架</a:t>
            </a:r>
          </a:p>
        </p:txBody>
      </p:sp>
      <mc:AlternateContent xmlns:mc="http://schemas.openxmlformats.org/markup-compatibility/2006" xmlns:a14="http://schemas.microsoft.com/office/drawing/2010/main">
        <mc:Choice Requires="a14">
          <p:sp>
            <p:nvSpPr>
              <p:cNvPr id="7" name="TextBox 6"/>
              <p:cNvSpPr txBox="1"/>
              <p:nvPr/>
            </p:nvSpPr>
            <p:spPr>
              <a:xfrm>
                <a:off x="467544" y="1429127"/>
                <a:ext cx="8280920" cy="492443"/>
              </a:xfrm>
              <a:prstGeom prst="rect">
                <a:avLst/>
              </a:prstGeom>
              <a:noFill/>
            </p:spPr>
            <p:txBody>
              <a:bodyPr wrap="square" rtlCol="0">
                <a:spAutoFit/>
              </a:bodyPr>
              <a:lstStyle/>
              <a:p>
                <a:r>
                  <a:rPr lang="zh-CN" altLang="en-US" sz="2600" dirty="0">
                    <a:latin typeface="楷体" panose="02010609060101010101" pitchFamily="49" charset="-122"/>
                    <a:ea typeface="楷体" panose="02010609060101010101" pitchFamily="49" charset="-122"/>
                  </a:rPr>
                  <a:t>建立</a:t>
                </a:r>
                <a:r>
                  <a:rPr lang="zh-CN" altLang="en-US" sz="2600" dirty="0">
                    <a:solidFill>
                      <a:srgbClr val="FF0000"/>
                    </a:solidFill>
                    <a:latin typeface="楷体" panose="02010609060101010101" pitchFamily="49" charset="-122"/>
                    <a:ea typeface="楷体" panose="02010609060101010101" pitchFamily="49" charset="-122"/>
                  </a:rPr>
                  <a:t>位移法基本方程</a:t>
                </a:r>
                <a:r>
                  <a:rPr lang="zh-CN" altLang="en-US" sz="2600" dirty="0">
                    <a:latin typeface="楷体" panose="02010609060101010101" pitchFamily="49" charset="-122"/>
                    <a:ea typeface="楷体" panose="02010609060101010101" pitchFamily="49" charset="-122"/>
                  </a:rPr>
                  <a:t>，求出</a:t>
                </a:r>
                <a14:m>
                  <m:oMath xmlns:m="http://schemas.openxmlformats.org/officeDocument/2006/math">
                    <m:sSub>
                      <m:sSubPr>
                        <m:ctrlPr>
                          <a:rPr lang="en-US" altLang="zh-CN" sz="2600" i="1" smtClean="0">
                            <a:latin typeface="Cambria Math" panose="02040503050406030204" pitchFamily="18" charset="0"/>
                          </a:rPr>
                        </m:ctrlPr>
                      </m:sSubPr>
                      <m:e>
                        <m:r>
                          <a:rPr lang="zh-CN" altLang="en-US" sz="2600" i="1">
                            <a:latin typeface="Cambria Math"/>
                          </a:rPr>
                          <m:t>𝜃</m:t>
                        </m:r>
                      </m:e>
                      <m:sub>
                        <m:r>
                          <a:rPr lang="en-US" altLang="zh-CN" sz="2600" b="0" i="1" smtClean="0">
                            <a:latin typeface="Cambria Math"/>
                          </a:rPr>
                          <m:t>𝐵</m:t>
                        </m:r>
                      </m:sub>
                    </m:sSub>
                  </m:oMath>
                </a14:m>
                <a:r>
                  <a:rPr lang="zh-CN" altLang="en-US" sz="2600" dirty="0">
                    <a:latin typeface="楷体" panose="02010609060101010101" pitchFamily="49" charset="-122"/>
                    <a:ea typeface="楷体" panose="02010609060101010101" pitchFamily="49" charset="-122"/>
                  </a:rPr>
                  <a:t>：</a:t>
                </a:r>
              </a:p>
            </p:txBody>
          </p:sp>
        </mc:Choice>
        <mc:Fallback xmlns="">
          <p:sp>
            <p:nvSpPr>
              <p:cNvPr id="7" name="TextBox 6"/>
              <p:cNvSpPr txBox="1">
                <a:spLocks noRot="1" noChangeAspect="1" noMove="1" noResize="1" noEditPoints="1" noAdjustHandles="1" noChangeArrowheads="1" noChangeShapeType="1" noTextEdit="1"/>
              </p:cNvSpPr>
              <p:nvPr/>
            </p:nvSpPr>
            <p:spPr>
              <a:xfrm>
                <a:off x="467544" y="1429127"/>
                <a:ext cx="8280920" cy="492443"/>
              </a:xfrm>
              <a:prstGeom prst="rect">
                <a:avLst/>
              </a:prstGeom>
              <a:blipFill rotWithShape="1">
                <a:blip r:embed="rId4"/>
                <a:stretch>
                  <a:fillRect l="-1325" t="-13580" b="-27160"/>
                </a:stretch>
              </a:blipFill>
            </p:spPr>
            <p:txBody>
              <a:bodyPr/>
              <a:lstStyle/>
              <a:p>
                <a:r>
                  <a:rPr lang="zh-CN" altLang="en-US">
                    <a:noFill/>
                  </a:rPr>
                  <a:t> </a:t>
                </a:r>
              </a:p>
            </p:txBody>
          </p:sp>
        </mc:Fallback>
      </mc:AlternateContent>
      <p:pic>
        <p:nvPicPr>
          <p:cNvPr id="8" name="Picture 2" descr="C:\Users\Administrator\AppData\Roaming\Tencent\Users\42337577\QQ\WinTemp\RichOle\0$2E`3UYP$]D2OK)Z})8IR3.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544" y="2065464"/>
            <a:ext cx="1492683" cy="60560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9" name="TextBox 8"/>
              <p:cNvSpPr txBox="1"/>
              <p:nvPr/>
            </p:nvSpPr>
            <p:spPr>
              <a:xfrm>
                <a:off x="2123728" y="2204864"/>
                <a:ext cx="2016224" cy="400110"/>
              </a:xfrm>
              <a:prstGeom prst="rect">
                <a:avLst/>
              </a:prstGeom>
              <a:noFill/>
            </p:spPr>
            <p:txBody>
              <a:bodyPr wrap="square" rtlCol="0">
                <a:spAutoFit/>
              </a:bodyPr>
              <a:lstStyle/>
              <a:p>
                <a:r>
                  <a:rPr lang="zh-CN" altLang="en-US" sz="2000" dirty="0">
                    <a:latin typeface="楷体" panose="02010609060101010101" pitchFamily="49" charset="-122"/>
                    <a:ea typeface="楷体" panose="02010609060101010101" pitchFamily="49" charset="-122"/>
                  </a:rPr>
                  <a:t>结点</a:t>
                </a:r>
                <a14:m>
                  <m:oMath xmlns:m="http://schemas.openxmlformats.org/officeDocument/2006/math">
                    <m:r>
                      <a:rPr lang="en-US" altLang="zh-CN" sz="2000" b="0" i="1" smtClean="0">
                        <a:latin typeface="Cambria Math"/>
                      </a:rPr>
                      <m:t>𝐵</m:t>
                    </m:r>
                  </m:oMath>
                </a14:m>
                <a:r>
                  <a:rPr lang="zh-CN" altLang="en-US" sz="2000" dirty="0">
                    <a:latin typeface="楷体" panose="02010609060101010101" pitchFamily="49" charset="-122"/>
                    <a:ea typeface="楷体" panose="02010609060101010101" pitchFamily="49" charset="-122"/>
                  </a:rPr>
                  <a:t>为隔离体</a:t>
                </a:r>
              </a:p>
            </p:txBody>
          </p:sp>
        </mc:Choice>
        <mc:Fallback xmlns="">
          <p:sp>
            <p:nvSpPr>
              <p:cNvPr id="9" name="TextBox 8"/>
              <p:cNvSpPr txBox="1">
                <a:spLocks noRot="1" noChangeAspect="1" noMove="1" noResize="1" noEditPoints="1" noAdjustHandles="1" noChangeArrowheads="1" noChangeShapeType="1" noTextEdit="1"/>
              </p:cNvSpPr>
              <p:nvPr/>
            </p:nvSpPr>
            <p:spPr>
              <a:xfrm>
                <a:off x="2123728" y="2204864"/>
                <a:ext cx="2016224" cy="400110"/>
              </a:xfrm>
              <a:prstGeom prst="rect">
                <a:avLst/>
              </a:prstGeom>
              <a:blipFill rotWithShape="1">
                <a:blip r:embed="rId6"/>
                <a:stretch>
                  <a:fillRect l="-3021" t="-10769" b="-24615"/>
                </a:stretch>
              </a:blipFill>
            </p:spPr>
            <p:txBody>
              <a:bodyPr/>
              <a:lstStyle/>
              <a:p>
                <a:r>
                  <a:rPr lang="zh-CN" altLang="en-US">
                    <a:noFill/>
                  </a:rPr>
                  <a:t> </a:t>
                </a:r>
              </a:p>
            </p:txBody>
          </p:sp>
        </mc:Fallback>
      </mc:AlternateContent>
      <p:sp>
        <p:nvSpPr>
          <p:cNvPr id="10" name="右箭头 9"/>
          <p:cNvSpPr/>
          <p:nvPr/>
        </p:nvSpPr>
        <p:spPr bwMode="auto">
          <a:xfrm>
            <a:off x="4139952" y="2276872"/>
            <a:ext cx="360040" cy="216024"/>
          </a:xfrm>
          <a:prstGeom prst="rightArrow">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4271969644"/>
              </p:ext>
            </p:extLst>
          </p:nvPr>
        </p:nvGraphicFramePr>
        <p:xfrm>
          <a:off x="4932040" y="2240435"/>
          <a:ext cx="2133600" cy="304800"/>
        </p:xfrm>
        <a:graphic>
          <a:graphicData uri="http://schemas.openxmlformats.org/presentationml/2006/ole">
            <mc:AlternateContent xmlns:mc="http://schemas.openxmlformats.org/markup-compatibility/2006">
              <mc:Choice xmlns:v="urn:schemas-microsoft-com:vml" Requires="v">
                <p:oleObj spid="_x0000_s32726" name="Equation" r:id="rId7" imgW="2133360" imgH="304560" progId="Equation.DSMT4">
                  <p:embed/>
                </p:oleObj>
              </mc:Choice>
              <mc:Fallback>
                <p:oleObj name="Equation" r:id="rId7" imgW="2133360" imgH="304560" progId="Equation.DSMT4">
                  <p:embed/>
                  <p:pic>
                    <p:nvPicPr>
                      <p:cNvPr id="0" name=""/>
                      <p:cNvPicPr/>
                      <p:nvPr/>
                    </p:nvPicPr>
                    <p:blipFill>
                      <a:blip r:embed="rId8"/>
                      <a:stretch>
                        <a:fillRect/>
                      </a:stretch>
                    </p:blipFill>
                    <p:spPr>
                      <a:xfrm>
                        <a:off x="4932040" y="2240435"/>
                        <a:ext cx="2133600" cy="304800"/>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213296760"/>
              </p:ext>
            </p:extLst>
          </p:nvPr>
        </p:nvGraphicFramePr>
        <p:xfrm>
          <a:off x="5220072" y="2996952"/>
          <a:ext cx="1524000" cy="279400"/>
        </p:xfrm>
        <a:graphic>
          <a:graphicData uri="http://schemas.openxmlformats.org/presentationml/2006/ole">
            <mc:AlternateContent xmlns:mc="http://schemas.openxmlformats.org/markup-compatibility/2006">
              <mc:Choice xmlns:v="urn:schemas-microsoft-com:vml" Requires="v">
                <p:oleObj spid="_x0000_s32727" name="Equation" r:id="rId9" imgW="1523880" imgH="279360" progId="Equation.DSMT4">
                  <p:embed/>
                </p:oleObj>
              </mc:Choice>
              <mc:Fallback>
                <p:oleObj name="Equation" r:id="rId9" imgW="1523880" imgH="279360" progId="Equation.DSMT4">
                  <p:embed/>
                  <p:pic>
                    <p:nvPicPr>
                      <p:cNvPr id="0" name=""/>
                      <p:cNvPicPr/>
                      <p:nvPr/>
                    </p:nvPicPr>
                    <p:blipFill>
                      <a:blip r:embed="rId10"/>
                      <a:stretch>
                        <a:fillRect/>
                      </a:stretch>
                    </p:blipFill>
                    <p:spPr>
                      <a:xfrm>
                        <a:off x="5220072" y="2996952"/>
                        <a:ext cx="1524000" cy="279400"/>
                      </a:xfrm>
                      <a:prstGeom prst="rect">
                        <a:avLst/>
                      </a:prstGeom>
                    </p:spPr>
                  </p:pic>
                </p:oleObj>
              </mc:Fallback>
            </mc:AlternateContent>
          </a:graphicData>
        </a:graphic>
      </p:graphicFrame>
      <p:sp>
        <p:nvSpPr>
          <p:cNvPr id="13" name="下箭头 12"/>
          <p:cNvSpPr/>
          <p:nvPr/>
        </p:nvSpPr>
        <p:spPr bwMode="auto">
          <a:xfrm>
            <a:off x="5868144" y="2604974"/>
            <a:ext cx="144016" cy="319970"/>
          </a:xfrm>
          <a:prstGeom prst="downArrow">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14" name="线形标注 1 13"/>
          <p:cNvSpPr/>
          <p:nvPr/>
        </p:nvSpPr>
        <p:spPr bwMode="auto">
          <a:xfrm>
            <a:off x="2483768" y="2867191"/>
            <a:ext cx="2251733" cy="417793"/>
          </a:xfrm>
          <a:prstGeom prst="borderCallout1">
            <a:avLst>
              <a:gd name="adj1" fmla="val 53256"/>
              <a:gd name="adj2" fmla="val 99801"/>
              <a:gd name="adj3" fmla="val 51809"/>
              <a:gd name="adj4" fmla="val 119312"/>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2000" b="1" u="none" strike="noStrike" cap="none" normalizeH="0" baseline="0" dirty="0">
                <a:ln>
                  <a:noFill/>
                </a:ln>
                <a:solidFill>
                  <a:schemeClr val="tx1"/>
                </a:solidFill>
                <a:effectLst/>
                <a:latin typeface="楷体" panose="02010609060101010101" pitchFamily="49" charset="-122"/>
                <a:ea typeface="楷体" panose="02010609060101010101" pitchFamily="49" charset="-122"/>
              </a:rPr>
              <a:t>位移法的基本方程</a:t>
            </a:r>
          </a:p>
        </p:txBody>
      </p:sp>
      <p:sp>
        <p:nvSpPr>
          <p:cNvPr id="16" name="下箭头 15"/>
          <p:cNvSpPr/>
          <p:nvPr/>
        </p:nvSpPr>
        <p:spPr bwMode="auto">
          <a:xfrm>
            <a:off x="5868144" y="3267945"/>
            <a:ext cx="144016" cy="319970"/>
          </a:xfrm>
          <a:prstGeom prst="downArrow">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aphicFrame>
        <p:nvGraphicFramePr>
          <p:cNvPr id="17" name="对象 16"/>
          <p:cNvGraphicFramePr>
            <a:graphicFrameLocks noChangeAspect="1"/>
          </p:cNvGraphicFramePr>
          <p:nvPr>
            <p:extLst>
              <p:ext uri="{D42A27DB-BD31-4B8C-83A1-F6EECF244321}">
                <p14:modId xmlns:p14="http://schemas.microsoft.com/office/powerpoint/2010/main" val="1590132245"/>
              </p:ext>
            </p:extLst>
          </p:nvPr>
        </p:nvGraphicFramePr>
        <p:xfrm>
          <a:off x="5305152" y="3717032"/>
          <a:ext cx="1270000" cy="508000"/>
        </p:xfrm>
        <a:graphic>
          <a:graphicData uri="http://schemas.openxmlformats.org/presentationml/2006/ole">
            <mc:AlternateContent xmlns:mc="http://schemas.openxmlformats.org/markup-compatibility/2006">
              <mc:Choice xmlns:v="urn:schemas-microsoft-com:vml" Requires="v">
                <p:oleObj spid="_x0000_s32728" name="Equation" r:id="rId11" imgW="1269720" imgH="507960" progId="Equation.DSMT4">
                  <p:embed/>
                </p:oleObj>
              </mc:Choice>
              <mc:Fallback>
                <p:oleObj name="Equation" r:id="rId11" imgW="1269720" imgH="507960" progId="Equation.DSMT4">
                  <p:embed/>
                  <p:pic>
                    <p:nvPicPr>
                      <p:cNvPr id="0" name=""/>
                      <p:cNvPicPr/>
                      <p:nvPr/>
                    </p:nvPicPr>
                    <p:blipFill>
                      <a:blip r:embed="rId12"/>
                      <a:stretch>
                        <a:fillRect/>
                      </a:stretch>
                    </p:blipFill>
                    <p:spPr>
                      <a:xfrm>
                        <a:off x="5305152" y="3717032"/>
                        <a:ext cx="1270000" cy="508000"/>
                      </a:xfrm>
                      <a:prstGeom prst="rect">
                        <a:avLst/>
                      </a:prstGeom>
                    </p:spPr>
                  </p:pic>
                </p:oleObj>
              </mc:Fallback>
            </mc:AlternateContent>
          </a:graphicData>
        </a:graphic>
      </p:graphicFrame>
      <p:sp>
        <p:nvSpPr>
          <p:cNvPr id="18" name="TextBox 17"/>
          <p:cNvSpPr txBox="1"/>
          <p:nvPr/>
        </p:nvSpPr>
        <p:spPr>
          <a:xfrm>
            <a:off x="467544" y="4221088"/>
            <a:ext cx="2808312" cy="430887"/>
          </a:xfrm>
          <a:prstGeom prst="rect">
            <a:avLst/>
          </a:prstGeom>
          <a:noFill/>
        </p:spPr>
        <p:txBody>
          <a:bodyPr wrap="square" rtlCol="0">
            <a:spAutoFit/>
          </a:bodyPr>
          <a:lstStyle/>
          <a:p>
            <a:r>
              <a:rPr lang="zh-CN" altLang="en-US" sz="2200" b="1" dirty="0">
                <a:solidFill>
                  <a:srgbClr val="0000FF"/>
                </a:solidFill>
                <a:latin typeface="楷体" panose="02010609060101010101" pitchFamily="49" charset="-122"/>
                <a:ea typeface="楷体" panose="02010609060101010101" pitchFamily="49" charset="-122"/>
              </a:rPr>
              <a:t>位移法的基本作法</a:t>
            </a:r>
            <a:r>
              <a:rPr lang="zh-CN" altLang="en-US" sz="2200" dirty="0">
                <a:latin typeface="楷体" panose="02010609060101010101" pitchFamily="49" charset="-122"/>
                <a:ea typeface="楷体" panose="02010609060101010101" pitchFamily="49" charset="-122"/>
              </a:rPr>
              <a:t>：</a:t>
            </a:r>
          </a:p>
        </p:txBody>
      </p:sp>
      <p:sp>
        <p:nvSpPr>
          <p:cNvPr id="19" name="矩形 18"/>
          <p:cNvSpPr/>
          <p:nvPr/>
        </p:nvSpPr>
        <p:spPr bwMode="auto">
          <a:xfrm>
            <a:off x="1213885" y="4651975"/>
            <a:ext cx="7174539" cy="721241"/>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2000" b="1" u="none" strike="noStrike" cap="none" normalizeH="0" baseline="0" dirty="0">
                <a:ln>
                  <a:noFill/>
                </a:ln>
                <a:solidFill>
                  <a:schemeClr val="tx1"/>
                </a:solidFill>
                <a:effectLst/>
                <a:latin typeface="楷体" panose="02010609060101010101" pitchFamily="49" charset="-122"/>
                <a:ea typeface="楷体" panose="02010609060101010101" pitchFamily="49" charset="-122"/>
              </a:rPr>
              <a:t>先拆散：</a:t>
            </a:r>
            <a:r>
              <a:rPr kumimoji="0" lang="zh-CN" altLang="en-US" sz="2000" u="none" strike="noStrike" cap="none" normalizeH="0" baseline="0" dirty="0">
                <a:ln>
                  <a:noFill/>
                </a:ln>
                <a:solidFill>
                  <a:schemeClr val="tx1"/>
                </a:solidFill>
                <a:effectLst/>
                <a:latin typeface="楷体" panose="02010609060101010101" pitchFamily="49" charset="-122"/>
                <a:ea typeface="楷体" panose="02010609060101010101" pitchFamily="49" charset="-122"/>
              </a:rPr>
              <a:t>每个刚结点处只规定了一个转角，因此刚结点处的各杆杆端转角彼此相等</a:t>
            </a:r>
            <a:r>
              <a:rPr kumimoji="0" lang="en-US" altLang="zh-CN" sz="2000" u="none" strike="noStrike" cap="none" normalizeH="0" baseline="0" dirty="0">
                <a:ln>
                  <a:noFill/>
                </a:ln>
                <a:solidFill>
                  <a:schemeClr val="tx1"/>
                </a:solidFill>
                <a:effectLst/>
                <a:latin typeface="楷体" panose="02010609060101010101" pitchFamily="49" charset="-122"/>
                <a:ea typeface="楷体" panose="02010609060101010101" pitchFamily="49" charset="-122"/>
              </a:rPr>
              <a:t>——</a:t>
            </a:r>
            <a:r>
              <a:rPr kumimoji="0" lang="zh-CN" altLang="en-US" sz="2000" u="none" strike="noStrike" cap="none" normalizeH="0" baseline="0" dirty="0">
                <a:ln>
                  <a:noFill/>
                </a:ln>
                <a:solidFill>
                  <a:schemeClr val="tx1"/>
                </a:solidFill>
                <a:effectLst/>
                <a:latin typeface="楷体" panose="02010609060101010101" pitchFamily="49" charset="-122"/>
                <a:ea typeface="楷体" panose="02010609060101010101" pitchFamily="49" charset="-122"/>
              </a:rPr>
              <a:t>结点处的变形连续条件。</a:t>
            </a:r>
          </a:p>
        </p:txBody>
      </p:sp>
      <p:sp>
        <p:nvSpPr>
          <p:cNvPr id="20" name="矩形 19"/>
          <p:cNvSpPr/>
          <p:nvPr/>
        </p:nvSpPr>
        <p:spPr bwMode="auto">
          <a:xfrm>
            <a:off x="1213885" y="5445224"/>
            <a:ext cx="7174539" cy="1008112"/>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l" defTabSz="914400" rtl="0" eaLnBrk="1" fontAlgn="base" latinLnBrk="0" hangingPunct="1">
              <a:lnSpc>
                <a:spcPct val="100000"/>
              </a:lnSpc>
              <a:spcBef>
                <a:spcPct val="0"/>
              </a:spcBef>
              <a:spcAft>
                <a:spcPct val="0"/>
              </a:spcAft>
              <a:buClrTx/>
              <a:buSzTx/>
              <a:tabLst/>
            </a:pPr>
            <a:r>
              <a:rPr kumimoji="0" lang="zh-CN" altLang="en-US" sz="2000" b="1" u="none" strike="noStrike" cap="none" normalizeH="0" baseline="0" dirty="0">
                <a:ln>
                  <a:noFill/>
                </a:ln>
                <a:solidFill>
                  <a:schemeClr val="tx1"/>
                </a:solidFill>
                <a:effectLst/>
                <a:latin typeface="楷体" panose="02010609060101010101" pitchFamily="49" charset="-122"/>
                <a:ea typeface="楷体" panose="02010609060101010101" pitchFamily="49" charset="-122"/>
              </a:rPr>
              <a:t>后组装：</a:t>
            </a:r>
            <a:endParaRPr kumimoji="0" lang="en-US" altLang="zh-CN" sz="2000" b="1"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p>
            <a:pPr marL="457200" marR="0" indent="-457200" algn="l" defTabSz="914400" rtl="0" eaLnBrk="1" fontAlgn="base" latinLnBrk="0" hangingPunct="1">
              <a:lnSpc>
                <a:spcPct val="100000"/>
              </a:lnSpc>
              <a:spcBef>
                <a:spcPct val="0"/>
              </a:spcBef>
              <a:spcAft>
                <a:spcPct val="0"/>
              </a:spcAft>
              <a:buClrTx/>
              <a:buSzTx/>
              <a:buFont typeface="+mj-lt"/>
              <a:buAutoNum type="arabicPeriod"/>
              <a:tabLst/>
            </a:pPr>
            <a:r>
              <a:rPr lang="zh-CN" altLang="en-US" sz="2000" dirty="0">
                <a:latin typeface="楷体" panose="02010609060101010101" pitchFamily="49" charset="-122"/>
                <a:ea typeface="楷体" panose="02010609060101010101" pitchFamily="49" charset="-122"/>
              </a:rPr>
              <a:t>在结点处各个杆件的变形要协调一致；</a:t>
            </a:r>
            <a:endParaRPr lang="en-US" altLang="zh-CN" sz="2000" dirty="0">
              <a:latin typeface="楷体" panose="02010609060101010101" pitchFamily="49" charset="-122"/>
              <a:ea typeface="楷体" panose="02010609060101010101" pitchFamily="49" charset="-122"/>
            </a:endParaRPr>
          </a:p>
          <a:p>
            <a:pPr marL="457200" marR="0" indent="-457200" algn="l" defTabSz="914400" rtl="0" eaLnBrk="1" fontAlgn="base" latinLnBrk="0" hangingPunct="1">
              <a:lnSpc>
                <a:spcPct val="100000"/>
              </a:lnSpc>
              <a:spcBef>
                <a:spcPct val="0"/>
              </a:spcBef>
              <a:spcAft>
                <a:spcPct val="0"/>
              </a:spcAft>
              <a:buClrTx/>
              <a:buSzTx/>
              <a:buFont typeface="+mj-lt"/>
              <a:buAutoNum type="arabicPeriod"/>
              <a:tabLst/>
            </a:pPr>
            <a:r>
              <a:rPr lang="zh-CN" altLang="en-US" sz="2000" dirty="0">
                <a:latin typeface="楷体" panose="02010609060101010101" pitchFamily="49" charset="-122"/>
                <a:ea typeface="楷体" panose="02010609060101010101" pitchFamily="49" charset="-122"/>
              </a:rPr>
              <a:t>装配好的结点要满足平衡条件。</a:t>
            </a:r>
            <a:endParaRPr kumimoji="0" lang="zh-CN" altLang="en-US" sz="200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p:txBody>
      </p:sp>
      <p:sp>
        <p:nvSpPr>
          <p:cNvPr id="21" name="TextBox 20"/>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2015-12-21</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972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arn(inVertical)">
                                      <p:cBhvr>
                                        <p:cTn id="23" dur="500"/>
                                        <p:tgtEl>
                                          <p:spTgt spid="13"/>
                                        </p:tgtEl>
                                      </p:cBhvr>
                                    </p:animEffect>
                                  </p:childTnLst>
                                </p:cTn>
                              </p:par>
                              <p:par>
                                <p:cTn id="24" presetID="16" presetClass="entr" presetSubtype="21"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barn(inVertical)">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barn(inVertical)">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 calcmode="lin" valueType="num">
                                      <p:cBhvr>
                                        <p:cTn id="36" dur="500" fill="hold"/>
                                        <p:tgtEl>
                                          <p:spTgt spid="16"/>
                                        </p:tgtEl>
                                        <p:attrNameLst>
                                          <p:attrName>ppt_w</p:attrName>
                                        </p:attrNameLst>
                                      </p:cBhvr>
                                      <p:tavLst>
                                        <p:tav tm="0">
                                          <p:val>
                                            <p:fltVal val="0"/>
                                          </p:val>
                                        </p:tav>
                                        <p:tav tm="100000">
                                          <p:val>
                                            <p:strVal val="#ppt_w"/>
                                          </p:val>
                                        </p:tav>
                                      </p:tavLst>
                                    </p:anim>
                                    <p:anim calcmode="lin" valueType="num">
                                      <p:cBhvr>
                                        <p:cTn id="37" dur="500" fill="hold"/>
                                        <p:tgtEl>
                                          <p:spTgt spid="16"/>
                                        </p:tgtEl>
                                        <p:attrNameLst>
                                          <p:attrName>ppt_h</p:attrName>
                                        </p:attrNameLst>
                                      </p:cBhvr>
                                      <p:tavLst>
                                        <p:tav tm="0">
                                          <p:val>
                                            <p:fltVal val="0"/>
                                          </p:val>
                                        </p:tav>
                                        <p:tav tm="100000">
                                          <p:val>
                                            <p:strVal val="#ppt_h"/>
                                          </p:val>
                                        </p:tav>
                                      </p:tavLst>
                                    </p:anim>
                                    <p:animEffect transition="in" filter="fade">
                                      <p:cBhvr>
                                        <p:cTn id="38" dur="500"/>
                                        <p:tgtEl>
                                          <p:spTgt spid="16"/>
                                        </p:tgtEl>
                                      </p:cBhvr>
                                    </p:animEffect>
                                  </p:childTnLst>
                                </p:cTn>
                              </p:par>
                              <p:par>
                                <p:cTn id="39" presetID="53" presetClass="entr" presetSubtype="16"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anim calcmode="lin" valueType="num">
                                      <p:cBhvr>
                                        <p:cTn id="41" dur="500" fill="hold"/>
                                        <p:tgtEl>
                                          <p:spTgt spid="17"/>
                                        </p:tgtEl>
                                        <p:attrNameLst>
                                          <p:attrName>ppt_w</p:attrName>
                                        </p:attrNameLst>
                                      </p:cBhvr>
                                      <p:tavLst>
                                        <p:tav tm="0">
                                          <p:val>
                                            <p:fltVal val="0"/>
                                          </p:val>
                                        </p:tav>
                                        <p:tav tm="100000">
                                          <p:val>
                                            <p:strVal val="#ppt_w"/>
                                          </p:val>
                                        </p:tav>
                                      </p:tavLst>
                                    </p:anim>
                                    <p:anim calcmode="lin" valueType="num">
                                      <p:cBhvr>
                                        <p:cTn id="42" dur="500" fill="hold"/>
                                        <p:tgtEl>
                                          <p:spTgt spid="17"/>
                                        </p:tgtEl>
                                        <p:attrNameLst>
                                          <p:attrName>ppt_h</p:attrName>
                                        </p:attrNameLst>
                                      </p:cBhvr>
                                      <p:tavLst>
                                        <p:tav tm="0">
                                          <p:val>
                                            <p:fltVal val="0"/>
                                          </p:val>
                                        </p:tav>
                                        <p:tav tm="100000">
                                          <p:val>
                                            <p:strVal val="#ppt_h"/>
                                          </p:val>
                                        </p:tav>
                                      </p:tavLst>
                                    </p:anim>
                                    <p:animEffect transition="in" filter="fade">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8"/>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wipe(down)">
                                      <p:cBhvr>
                                        <p:cTn id="52" dur="500"/>
                                        <p:tgtEl>
                                          <p:spTgt spid="1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wipe(down)">
                                      <p:cBhvr>
                                        <p:cTn id="5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animBg="1"/>
      <p:bldP spid="13" grpId="0" animBg="1"/>
      <p:bldP spid="14" grpId="0" animBg="1"/>
      <p:bldP spid="16" grpId="0" animBg="1"/>
      <p:bldP spid="18" grpId="0"/>
      <p:bldP spid="19" grpId="0" animBg="1"/>
      <p:bldP spid="2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85726"/>
            <a:ext cx="8229600" cy="1143000"/>
          </a:xfrm>
        </p:spPr>
        <p:txBody>
          <a:bodyPr/>
          <a:lstStyle/>
          <a:p>
            <a:r>
              <a:rPr lang="en-US" altLang="zh-CN" dirty="0">
                <a:latin typeface="宋体" pitchFamily="2" charset="-122"/>
              </a:rPr>
              <a:t>§</a:t>
            </a:r>
            <a:r>
              <a:rPr lang="en-US" altLang="zh-CN" dirty="0"/>
              <a:t>7-3 </a:t>
            </a:r>
            <a:r>
              <a:rPr lang="zh-CN" altLang="en-US" dirty="0"/>
              <a:t>位移法解无侧移刚架</a:t>
            </a:r>
          </a:p>
        </p:txBody>
      </p:sp>
      <p:sp>
        <p:nvSpPr>
          <p:cNvPr id="7" name="TextBox 6"/>
          <p:cNvSpPr txBox="1"/>
          <p:nvPr/>
        </p:nvSpPr>
        <p:spPr>
          <a:xfrm>
            <a:off x="467544" y="1412776"/>
            <a:ext cx="5400600" cy="461665"/>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例题：试作图所示刚架的弯矩图。</a:t>
            </a:r>
          </a:p>
        </p:txBody>
      </p:sp>
      <p:pic>
        <p:nvPicPr>
          <p:cNvPr id="30721" name="Picture 1" descr="C:\Users\Administrator\AppData\Roaming\Tencent\Users\42337577\QQ\WinTemp\RichOle\9GMCL}G$S4H}8W~O[B1ZNT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2430" y="1874441"/>
            <a:ext cx="4859139" cy="240335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827584" y="4544537"/>
            <a:ext cx="1368152" cy="430887"/>
          </a:xfrm>
          <a:prstGeom prst="rect">
            <a:avLst/>
          </a:prstGeom>
          <a:noFill/>
        </p:spPr>
        <p:txBody>
          <a:bodyPr wrap="square" rtlCol="0">
            <a:spAutoFit/>
          </a:bodyPr>
          <a:lstStyle/>
          <a:p>
            <a:r>
              <a:rPr lang="zh-CN" altLang="en-US" sz="2200" dirty="0">
                <a:solidFill>
                  <a:srgbClr val="FF0000"/>
                </a:solidFill>
                <a:latin typeface="楷体" panose="02010609060101010101" pitchFamily="49" charset="-122"/>
                <a:ea typeface="楷体" panose="02010609060101010101" pitchFamily="49" charset="-122"/>
              </a:rPr>
              <a:t>解：</a:t>
            </a:r>
          </a:p>
        </p:txBody>
      </p:sp>
      <p:sp>
        <p:nvSpPr>
          <p:cNvPr id="9" name="TextBox 8"/>
          <p:cNvSpPr txBox="1"/>
          <p:nvPr/>
        </p:nvSpPr>
        <p:spPr>
          <a:xfrm>
            <a:off x="971600" y="4975424"/>
            <a:ext cx="1980220" cy="400110"/>
          </a:xfrm>
          <a:prstGeom prst="rect">
            <a:avLst/>
          </a:prstGeom>
          <a:noFill/>
        </p:spPr>
        <p:txBody>
          <a:bodyPr wrap="square" rtlCol="0">
            <a:spAutoFit/>
          </a:bodyPr>
          <a:lstStyle/>
          <a:p>
            <a:pPr marL="457200" indent="-457200">
              <a:buFont typeface="+mj-lt"/>
              <a:buAutoNum type="arabicPeriod"/>
            </a:pPr>
            <a:r>
              <a:rPr lang="zh-CN" altLang="en-US" sz="2000" dirty="0">
                <a:latin typeface="楷体" panose="02010609060101010101" pitchFamily="49" charset="-122"/>
                <a:ea typeface="楷体" panose="02010609060101010101" pitchFamily="49" charset="-122"/>
              </a:rPr>
              <a:t>基本未知量</a:t>
            </a:r>
          </a:p>
        </p:txBody>
      </p:sp>
      <mc:AlternateContent xmlns:mc="http://schemas.openxmlformats.org/markup-compatibility/2006" xmlns:a14="http://schemas.microsoft.com/office/drawing/2010/main">
        <mc:Choice Requires="a14">
          <p:sp>
            <p:nvSpPr>
              <p:cNvPr id="11" name="TextBox 10"/>
              <p:cNvSpPr txBox="1"/>
              <p:nvPr/>
            </p:nvSpPr>
            <p:spPr>
              <a:xfrm>
                <a:off x="990122" y="5517232"/>
                <a:ext cx="3581878" cy="400110"/>
              </a:xfrm>
              <a:prstGeom prst="rect">
                <a:avLst/>
              </a:prstGeom>
              <a:noFill/>
            </p:spPr>
            <p:txBody>
              <a:bodyPr wrap="square" rtlCol="0">
                <a:spAutoFit/>
              </a:bodyPr>
              <a:lstStyle/>
              <a:p>
                <a:r>
                  <a:rPr lang="zh-CN" altLang="en-US" sz="2000" dirty="0">
                    <a:latin typeface="楷体" panose="02010609060101010101" pitchFamily="49" charset="-122"/>
                    <a:ea typeface="楷体" panose="02010609060101010101" pitchFamily="49" charset="-122"/>
                  </a:rPr>
                  <a:t>共有两个基本未知量：</a:t>
                </a:r>
                <a14:m>
                  <m:oMath xmlns:m="http://schemas.openxmlformats.org/officeDocument/2006/math">
                    <m:sSub>
                      <m:sSubPr>
                        <m:ctrlPr>
                          <a:rPr lang="en-US" altLang="zh-CN" sz="2000" i="1" smtClean="0">
                            <a:latin typeface="Cambria Math" panose="02040503050406030204" pitchFamily="18" charset="0"/>
                            <a:ea typeface="楷体" panose="02010609060101010101" pitchFamily="49" charset="-122"/>
                          </a:rPr>
                        </m:ctrlPr>
                      </m:sSubPr>
                      <m:e>
                        <m:r>
                          <a:rPr lang="zh-CN" altLang="en-US" sz="2000" i="1" smtClean="0">
                            <a:latin typeface="Cambria Math"/>
                            <a:ea typeface="楷体" panose="02010609060101010101" pitchFamily="49" charset="-122"/>
                          </a:rPr>
                          <m:t>𝜃</m:t>
                        </m:r>
                      </m:e>
                      <m:sub>
                        <m:r>
                          <a:rPr lang="en-US" altLang="zh-CN" sz="2000" b="0" i="1" smtClean="0">
                            <a:latin typeface="Cambria Math"/>
                            <a:ea typeface="楷体" panose="02010609060101010101" pitchFamily="49" charset="-122"/>
                          </a:rPr>
                          <m:t>𝐵</m:t>
                        </m:r>
                      </m:sub>
                    </m:sSub>
                  </m:oMath>
                </a14:m>
                <a:r>
                  <a:rPr lang="zh-CN" altLang="en-US" sz="2000" dirty="0">
                    <a:latin typeface="楷体" panose="02010609060101010101" pitchFamily="49" charset="-122"/>
                    <a:ea typeface="楷体" panose="02010609060101010101" pitchFamily="49" charset="-122"/>
                  </a:rPr>
                  <a:t>，</a:t>
                </a:r>
                <a14:m>
                  <m:oMath xmlns:m="http://schemas.openxmlformats.org/officeDocument/2006/math">
                    <m:sSub>
                      <m:sSubPr>
                        <m:ctrlPr>
                          <a:rPr lang="en-US" altLang="zh-CN" sz="2000" i="1">
                            <a:latin typeface="Cambria Math" panose="02040503050406030204" pitchFamily="18" charset="0"/>
                            <a:ea typeface="楷体" panose="02010609060101010101" pitchFamily="49" charset="-122"/>
                          </a:rPr>
                        </m:ctrlPr>
                      </m:sSubPr>
                      <m:e>
                        <m:r>
                          <a:rPr lang="zh-CN" altLang="en-US" sz="2000" i="1">
                            <a:latin typeface="Cambria Math"/>
                            <a:ea typeface="楷体" panose="02010609060101010101" pitchFamily="49" charset="-122"/>
                          </a:rPr>
                          <m:t>𝜃</m:t>
                        </m:r>
                      </m:e>
                      <m:sub>
                        <m:r>
                          <a:rPr lang="en-US" altLang="zh-CN" sz="2000" i="1">
                            <a:latin typeface="Cambria Math"/>
                            <a:ea typeface="楷体" panose="02010609060101010101" pitchFamily="49" charset="-122"/>
                          </a:rPr>
                          <m:t>𝐶</m:t>
                        </m:r>
                      </m:sub>
                    </m:sSub>
                  </m:oMath>
                </a14:m>
                <a:endParaRPr lang="zh-CN" altLang="en-US" sz="2000" dirty="0">
                  <a:latin typeface="楷体" panose="02010609060101010101" pitchFamily="49" charset="-122"/>
                  <a:ea typeface="楷体" panose="02010609060101010101" pitchFamily="49" charset="-122"/>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990122" y="5517232"/>
                <a:ext cx="3581878" cy="400110"/>
              </a:xfrm>
              <a:prstGeom prst="rect">
                <a:avLst/>
              </a:prstGeom>
              <a:blipFill rotWithShape="1">
                <a:blip r:embed="rId5"/>
                <a:stretch>
                  <a:fillRect l="-1701" t="-10606" b="-22727"/>
                </a:stretch>
              </a:blipFill>
            </p:spPr>
            <p:txBody>
              <a:bodyPr/>
              <a:lstStyle/>
              <a:p>
                <a:r>
                  <a:rPr lang="zh-CN" altLang="en-US">
                    <a:noFill/>
                  </a:rPr>
                  <a:t> </a:t>
                </a:r>
              </a:p>
            </p:txBody>
          </p:sp>
        </mc:Fallback>
      </mc:AlternateContent>
      <p:sp>
        <p:nvSpPr>
          <p:cNvPr id="12" name="TextBox 11"/>
          <p:cNvSpPr txBox="1"/>
          <p:nvPr/>
        </p:nvSpPr>
        <p:spPr>
          <a:xfrm>
            <a:off x="4716016" y="4382886"/>
            <a:ext cx="1980220" cy="400110"/>
          </a:xfrm>
          <a:prstGeom prst="rect">
            <a:avLst/>
          </a:prstGeom>
          <a:noFill/>
        </p:spPr>
        <p:txBody>
          <a:bodyPr wrap="square" rtlCol="0">
            <a:spAutoFit/>
          </a:bodyPr>
          <a:lstStyle/>
          <a:p>
            <a:pPr marL="457200" indent="-457200">
              <a:buFont typeface="+mj-lt"/>
              <a:buAutoNum type="arabicPeriod" startAt="2"/>
            </a:pPr>
            <a:r>
              <a:rPr lang="zh-CN" altLang="en-US" sz="2000" dirty="0">
                <a:latin typeface="楷体" panose="02010609060101010101" pitchFamily="49" charset="-122"/>
                <a:ea typeface="楷体" panose="02010609060101010101" pitchFamily="49" charset="-122"/>
              </a:rPr>
              <a:t>杆端弯矩</a:t>
            </a:r>
          </a:p>
        </p:txBody>
      </p:sp>
      <p:sp>
        <p:nvSpPr>
          <p:cNvPr id="10" name="TextBox 9"/>
          <p:cNvSpPr txBox="1"/>
          <p:nvPr/>
        </p:nvSpPr>
        <p:spPr>
          <a:xfrm>
            <a:off x="5004048" y="4815805"/>
            <a:ext cx="2880320" cy="369332"/>
          </a:xfrm>
          <a:prstGeom prst="rect">
            <a:avLst/>
          </a:prstGeom>
          <a:noFill/>
        </p:spPr>
        <p:txBody>
          <a:bodyPr wrap="square" rtlCol="0">
            <a:spAutoFit/>
          </a:bodyPr>
          <a:lstStyle/>
          <a:p>
            <a:r>
              <a:rPr lang="zh-CN" altLang="en-US" dirty="0">
                <a:solidFill>
                  <a:srgbClr val="FF0000"/>
                </a:solidFill>
                <a:latin typeface="楷体" panose="02010609060101010101" pitchFamily="49" charset="-122"/>
                <a:ea typeface="楷体" panose="02010609060101010101" pitchFamily="49" charset="-122"/>
              </a:rPr>
              <a:t>固端弯矩，查表</a:t>
            </a:r>
            <a:r>
              <a:rPr lang="en-US" altLang="zh-CN" dirty="0">
                <a:solidFill>
                  <a:srgbClr val="FF0000"/>
                </a:solidFill>
                <a:latin typeface="楷体" panose="02010609060101010101" pitchFamily="49" charset="-122"/>
                <a:ea typeface="楷体" panose="02010609060101010101" pitchFamily="49" charset="-122"/>
              </a:rPr>
              <a:t>7-1</a:t>
            </a:r>
            <a:r>
              <a:rPr lang="zh-CN" altLang="en-US" dirty="0">
                <a:solidFill>
                  <a:srgbClr val="FF0000"/>
                </a:solidFill>
                <a:latin typeface="楷体" panose="02010609060101010101" pitchFamily="49" charset="-122"/>
                <a:ea typeface="楷体" panose="02010609060101010101" pitchFamily="49" charset="-122"/>
              </a:rPr>
              <a:t>求得</a:t>
            </a:r>
          </a:p>
        </p:txBody>
      </p:sp>
      <p:graphicFrame>
        <p:nvGraphicFramePr>
          <p:cNvPr id="13" name="对象 12"/>
          <p:cNvGraphicFramePr>
            <a:graphicFrameLocks noChangeAspect="1"/>
          </p:cNvGraphicFramePr>
          <p:nvPr>
            <p:extLst>
              <p:ext uri="{D42A27DB-BD31-4B8C-83A1-F6EECF244321}">
                <p14:modId xmlns:p14="http://schemas.microsoft.com/office/powerpoint/2010/main" val="2006310622"/>
              </p:ext>
            </p:extLst>
          </p:nvPr>
        </p:nvGraphicFramePr>
        <p:xfrm>
          <a:off x="5301208" y="5118897"/>
          <a:ext cx="2286000" cy="1676400"/>
        </p:xfrm>
        <a:graphic>
          <a:graphicData uri="http://schemas.openxmlformats.org/presentationml/2006/ole">
            <mc:AlternateContent xmlns:mc="http://schemas.openxmlformats.org/markup-compatibility/2006">
              <mc:Choice xmlns:v="urn:schemas-microsoft-com:vml" Requires="v">
                <p:oleObj spid="_x0000_s31030" name="Equation" r:id="rId6" imgW="2286000" imgH="1676160" progId="Equation.DSMT4">
                  <p:embed/>
                </p:oleObj>
              </mc:Choice>
              <mc:Fallback>
                <p:oleObj name="Equation" r:id="rId6" imgW="2286000" imgH="1676160" progId="Equation.DSMT4">
                  <p:embed/>
                  <p:pic>
                    <p:nvPicPr>
                      <p:cNvPr id="0" name=""/>
                      <p:cNvPicPr/>
                      <p:nvPr/>
                    </p:nvPicPr>
                    <p:blipFill>
                      <a:blip r:embed="rId7"/>
                      <a:stretch>
                        <a:fillRect/>
                      </a:stretch>
                    </p:blipFill>
                    <p:spPr>
                      <a:xfrm>
                        <a:off x="5301208" y="5118897"/>
                        <a:ext cx="2286000" cy="1676400"/>
                      </a:xfrm>
                      <a:prstGeom prst="rect">
                        <a:avLst/>
                      </a:prstGeom>
                    </p:spPr>
                  </p:pic>
                </p:oleObj>
              </mc:Fallback>
            </mc:AlternateContent>
          </a:graphicData>
        </a:graphic>
      </p:graphicFrame>
      <p:sp>
        <p:nvSpPr>
          <p:cNvPr id="16" name="TextBox 15"/>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2015-12-21</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972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1" grpId="0"/>
      <p:bldP spid="12"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7-3 </a:t>
            </a:r>
            <a:r>
              <a:rPr lang="zh-CN" altLang="en-US" dirty="0"/>
              <a:t>位移法解无侧移刚架</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2015-12-21</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Box 2"/>
              <p:cNvSpPr txBox="1"/>
              <p:nvPr/>
            </p:nvSpPr>
            <p:spPr>
              <a:xfrm>
                <a:off x="467544" y="1340768"/>
                <a:ext cx="4536504" cy="400110"/>
              </a:xfrm>
              <a:prstGeom prst="rect">
                <a:avLst/>
              </a:prstGeom>
              <a:noFill/>
            </p:spPr>
            <p:txBody>
              <a:bodyPr wrap="square" rtlCol="0">
                <a:spAutoFit/>
              </a:bodyPr>
              <a:lstStyle/>
              <a:p>
                <a:r>
                  <a:rPr lang="zh-CN" altLang="en-US" sz="2000" dirty="0">
                    <a:latin typeface="楷体" panose="02010609060101010101" pitchFamily="49" charset="-122"/>
                    <a:ea typeface="楷体" panose="02010609060101010101" pitchFamily="49" charset="-122"/>
                  </a:rPr>
                  <a:t>各杆刚度取相对值计算，设</a:t>
                </a:r>
                <a14:m>
                  <m:oMath xmlns:m="http://schemas.openxmlformats.org/officeDocument/2006/math">
                    <m:r>
                      <a:rPr lang="en-US" altLang="zh-CN" sz="2000" b="0" i="1" smtClean="0">
                        <a:latin typeface="Cambria Math"/>
                      </a:rPr>
                      <m:t>𝐸</m:t>
                    </m:r>
                    <m:sSub>
                      <m:sSubPr>
                        <m:ctrlPr>
                          <a:rPr lang="en-US" altLang="zh-CN" sz="2000" b="0" i="1" smtClean="0">
                            <a:latin typeface="Cambria Math" panose="02040503050406030204" pitchFamily="18" charset="0"/>
                          </a:rPr>
                        </m:ctrlPr>
                      </m:sSubPr>
                      <m:e>
                        <m:r>
                          <a:rPr lang="en-US" altLang="zh-CN" sz="2000" b="0" i="1" smtClean="0">
                            <a:latin typeface="Cambria Math"/>
                          </a:rPr>
                          <m:t>𝐼</m:t>
                        </m:r>
                      </m:e>
                      <m:sub>
                        <m:r>
                          <a:rPr lang="en-US" altLang="zh-CN" sz="2000" b="0" i="1" smtClean="0">
                            <a:latin typeface="Cambria Math"/>
                          </a:rPr>
                          <m:t>0</m:t>
                        </m:r>
                      </m:sub>
                    </m:sSub>
                    <m:r>
                      <a:rPr lang="en-US" altLang="zh-CN" sz="2000" b="0" i="1" smtClean="0">
                        <a:latin typeface="Cambria Math"/>
                      </a:rPr>
                      <m:t>=1</m:t>
                    </m:r>
                  </m:oMath>
                </a14:m>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则</a:t>
                </a:r>
              </a:p>
            </p:txBody>
          </p:sp>
        </mc:Choice>
        <mc:Fallback xmlns="">
          <p:sp>
            <p:nvSpPr>
              <p:cNvPr id="3" name="TextBox 2"/>
              <p:cNvSpPr txBox="1">
                <a:spLocks noRot="1" noChangeAspect="1" noMove="1" noResize="1" noEditPoints="1" noAdjustHandles="1" noChangeArrowheads="1" noChangeShapeType="1" noTextEdit="1"/>
              </p:cNvSpPr>
              <p:nvPr/>
            </p:nvSpPr>
            <p:spPr>
              <a:xfrm>
                <a:off x="467544" y="1340768"/>
                <a:ext cx="4536504" cy="400110"/>
              </a:xfrm>
              <a:prstGeom prst="rect">
                <a:avLst/>
              </a:prstGeom>
              <a:blipFill rotWithShape="1">
                <a:blip r:embed="rId4"/>
                <a:stretch>
                  <a:fillRect l="-1478" t="-10606" b="-22727"/>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extLst>
              <p:ext uri="{D42A27DB-BD31-4B8C-83A1-F6EECF244321}">
                <p14:modId xmlns:p14="http://schemas.microsoft.com/office/powerpoint/2010/main" val="476212330"/>
              </p:ext>
            </p:extLst>
          </p:nvPr>
        </p:nvGraphicFramePr>
        <p:xfrm>
          <a:off x="2051720" y="1740878"/>
          <a:ext cx="3822700" cy="1066800"/>
        </p:xfrm>
        <a:graphic>
          <a:graphicData uri="http://schemas.openxmlformats.org/presentationml/2006/ole">
            <mc:AlternateContent xmlns:mc="http://schemas.openxmlformats.org/markup-compatibility/2006">
              <mc:Choice xmlns:v="urn:schemas-microsoft-com:vml" Requires="v">
                <p:oleObj spid="_x0000_s67351" name="Equation" r:id="rId5" imgW="3822480" imgH="1066680" progId="Equation.DSMT4">
                  <p:embed/>
                </p:oleObj>
              </mc:Choice>
              <mc:Fallback>
                <p:oleObj name="Equation" r:id="rId5" imgW="3822480" imgH="1066680" progId="Equation.DSMT4">
                  <p:embed/>
                  <p:pic>
                    <p:nvPicPr>
                      <p:cNvPr id="0" name=""/>
                      <p:cNvPicPr/>
                      <p:nvPr/>
                    </p:nvPicPr>
                    <p:blipFill>
                      <a:blip r:embed="rId6"/>
                      <a:stretch>
                        <a:fillRect/>
                      </a:stretch>
                    </p:blipFill>
                    <p:spPr>
                      <a:xfrm>
                        <a:off x="2051720" y="1740878"/>
                        <a:ext cx="3822700" cy="106680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73038608"/>
              </p:ext>
            </p:extLst>
          </p:nvPr>
        </p:nvGraphicFramePr>
        <p:xfrm>
          <a:off x="2195736" y="3068960"/>
          <a:ext cx="2527300" cy="558800"/>
        </p:xfrm>
        <a:graphic>
          <a:graphicData uri="http://schemas.openxmlformats.org/presentationml/2006/ole">
            <mc:AlternateContent xmlns:mc="http://schemas.openxmlformats.org/markup-compatibility/2006">
              <mc:Choice xmlns:v="urn:schemas-microsoft-com:vml" Requires="v">
                <p:oleObj spid="_x0000_s67352" name="Equation" r:id="rId7" imgW="2527200" imgH="558720" progId="Equation.DSMT4">
                  <p:embed/>
                </p:oleObj>
              </mc:Choice>
              <mc:Fallback>
                <p:oleObj name="Equation" r:id="rId7" imgW="2527200" imgH="558720" progId="Equation.DSMT4">
                  <p:embed/>
                  <p:pic>
                    <p:nvPicPr>
                      <p:cNvPr id="0" name=""/>
                      <p:cNvPicPr/>
                      <p:nvPr/>
                    </p:nvPicPr>
                    <p:blipFill>
                      <a:blip r:embed="rId8"/>
                      <a:stretch>
                        <a:fillRect/>
                      </a:stretch>
                    </p:blipFill>
                    <p:spPr>
                      <a:xfrm>
                        <a:off x="2195736" y="3068960"/>
                        <a:ext cx="2527300" cy="558800"/>
                      </a:xfrm>
                      <a:prstGeom prst="rect">
                        <a:avLst/>
                      </a:prstGeom>
                    </p:spPr>
                  </p:pic>
                </p:oleObj>
              </mc:Fallback>
            </mc:AlternateContent>
          </a:graphicData>
        </a:graphic>
      </p:graphicFrame>
      <p:sp>
        <p:nvSpPr>
          <p:cNvPr id="6" name="TextBox 5"/>
          <p:cNvSpPr txBox="1"/>
          <p:nvPr/>
        </p:nvSpPr>
        <p:spPr>
          <a:xfrm>
            <a:off x="467544" y="3717032"/>
            <a:ext cx="4464496" cy="461665"/>
          </a:xfrm>
          <a:prstGeom prst="rect">
            <a:avLst/>
          </a:prstGeom>
          <a:noFill/>
        </p:spPr>
        <p:txBody>
          <a:bodyPr wrap="square" rtlCol="0">
            <a:spAutoFit/>
          </a:bodyPr>
          <a:lstStyle/>
          <a:p>
            <a:pPr marL="342900" indent="-342900">
              <a:buFont typeface="+mj-lt"/>
              <a:buAutoNum type="arabicPeriod" startAt="3"/>
            </a:pPr>
            <a:r>
              <a:rPr lang="zh-CN" altLang="en-US" sz="2400" dirty="0">
                <a:latin typeface="楷体" panose="02010609060101010101" pitchFamily="49" charset="-122"/>
                <a:ea typeface="楷体" panose="02010609060101010101" pitchFamily="49" charset="-122"/>
              </a:rPr>
              <a:t>位移法基本方程</a:t>
            </a:r>
          </a:p>
        </p:txBody>
      </p:sp>
      <mc:AlternateContent xmlns:mc="http://schemas.openxmlformats.org/markup-compatibility/2006" xmlns:a14="http://schemas.microsoft.com/office/drawing/2010/main">
        <mc:Choice Requires="a14">
          <p:sp>
            <p:nvSpPr>
              <p:cNvPr id="15" name="TextBox 14"/>
              <p:cNvSpPr txBox="1"/>
              <p:nvPr/>
            </p:nvSpPr>
            <p:spPr>
              <a:xfrm>
                <a:off x="971600" y="4221088"/>
                <a:ext cx="1440160" cy="400110"/>
              </a:xfrm>
              <a:prstGeom prst="rect">
                <a:avLst/>
              </a:prstGeom>
              <a:noFill/>
            </p:spPr>
            <p:txBody>
              <a:bodyPr wrap="square" rtlCol="0">
                <a:spAutoFit/>
              </a:bodyPr>
              <a:lstStyle/>
              <a:p>
                <a:r>
                  <a:rPr lang="zh-CN" altLang="en-US" sz="2000" dirty="0">
                    <a:latin typeface="楷体" panose="02010609060101010101" pitchFamily="49" charset="-122"/>
                    <a:ea typeface="楷体" panose="02010609060101010101" pitchFamily="49" charset="-122"/>
                  </a:rPr>
                  <a:t>结点</a:t>
                </a:r>
                <a14:m>
                  <m:oMath xmlns:m="http://schemas.openxmlformats.org/officeDocument/2006/math">
                    <m:r>
                      <a:rPr lang="en-US" altLang="zh-CN" sz="2000" b="0" i="1" smtClean="0">
                        <a:latin typeface="Cambria Math"/>
                      </a:rPr>
                      <m:t>𝐵</m:t>
                    </m:r>
                  </m:oMath>
                </a14:m>
                <a:r>
                  <a:rPr lang="zh-CN" altLang="en-US" sz="2000" dirty="0">
                    <a:latin typeface="楷体" panose="02010609060101010101" pitchFamily="49" charset="-122"/>
                    <a:ea typeface="楷体" panose="02010609060101010101" pitchFamily="49" charset="-122"/>
                  </a:rPr>
                  <a:t>平衡</a:t>
                </a:r>
              </a:p>
            </p:txBody>
          </p:sp>
        </mc:Choice>
        <mc:Fallback xmlns="">
          <p:sp>
            <p:nvSpPr>
              <p:cNvPr id="15" name="TextBox 14"/>
              <p:cNvSpPr txBox="1">
                <a:spLocks noRot="1" noChangeAspect="1" noMove="1" noResize="1" noEditPoints="1" noAdjustHandles="1" noChangeArrowheads="1" noChangeShapeType="1" noTextEdit="1"/>
              </p:cNvSpPr>
              <p:nvPr/>
            </p:nvSpPr>
            <p:spPr>
              <a:xfrm>
                <a:off x="971600" y="4221088"/>
                <a:ext cx="1440160" cy="400110"/>
              </a:xfrm>
              <a:prstGeom prst="rect">
                <a:avLst/>
              </a:prstGeom>
              <a:blipFill rotWithShape="1">
                <a:blip r:embed="rId9"/>
                <a:stretch>
                  <a:fillRect l="-4219" t="-10606" b="-22727"/>
                </a:stretch>
              </a:blipFill>
            </p:spPr>
            <p:txBody>
              <a:bodyPr/>
              <a:lstStyle/>
              <a:p>
                <a:r>
                  <a:rPr lang="zh-CN" altLang="en-US">
                    <a:noFill/>
                  </a:rPr>
                  <a:t> </a:t>
                </a:r>
              </a:p>
            </p:txBody>
          </p:sp>
        </mc:Fallback>
      </mc:AlternateContent>
      <p:pic>
        <p:nvPicPr>
          <p:cNvPr id="36865" name="Picture 1" descr="C:\Users\Administrator\AppData\Roaming\Tencent\Users\42337577\QQ\WinTemp\RichOle\B3{7(1HQW_$1L4}4CHDI{{U.pn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97496" y="4621197"/>
            <a:ext cx="1638300" cy="1019175"/>
          </a:xfrm>
          <a:prstGeom prst="rect">
            <a:avLst/>
          </a:prstGeom>
          <a:noFill/>
          <a:extLst>
            <a:ext uri="{909E8E84-426E-40DD-AFC4-6F175D3DCCD1}">
              <a14:hiddenFill xmlns:a14="http://schemas.microsoft.com/office/drawing/2010/main">
                <a:solidFill>
                  <a:srgbClr val="FFFFFF"/>
                </a:solidFill>
              </a14:hiddenFill>
            </a:ext>
          </a:extLst>
        </p:spPr>
      </p:pic>
      <p:pic>
        <p:nvPicPr>
          <p:cNvPr id="36866" name="Picture 2" descr="C:\Users\Administrator\AppData\Roaming\Tencent\Users\42337577\QQ\WinTemp\RichOle\VQ3[S`XP7J)`QOS@__3RG0E.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48064" y="4621198"/>
            <a:ext cx="1428750" cy="9525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9" name="TextBox 18"/>
              <p:cNvSpPr txBox="1"/>
              <p:nvPr/>
            </p:nvSpPr>
            <p:spPr>
              <a:xfrm>
                <a:off x="4730215" y="4221088"/>
                <a:ext cx="1440160" cy="400110"/>
              </a:xfrm>
              <a:prstGeom prst="rect">
                <a:avLst/>
              </a:prstGeom>
              <a:noFill/>
            </p:spPr>
            <p:txBody>
              <a:bodyPr wrap="square" rtlCol="0">
                <a:spAutoFit/>
              </a:bodyPr>
              <a:lstStyle/>
              <a:p>
                <a:r>
                  <a:rPr lang="zh-CN" altLang="en-US" sz="2000" dirty="0">
                    <a:latin typeface="楷体" panose="02010609060101010101" pitchFamily="49" charset="-122"/>
                    <a:ea typeface="楷体" panose="02010609060101010101" pitchFamily="49" charset="-122"/>
                  </a:rPr>
                  <a:t>结点</a:t>
                </a:r>
                <a14:m>
                  <m:oMath xmlns:m="http://schemas.openxmlformats.org/officeDocument/2006/math">
                    <m:r>
                      <a:rPr lang="en-US" altLang="zh-CN" sz="2000" b="0" i="1" smtClean="0">
                        <a:latin typeface="Cambria Math"/>
                        <a:ea typeface="楷体" panose="02010609060101010101" pitchFamily="49" charset="-122"/>
                      </a:rPr>
                      <m:t>𝐶</m:t>
                    </m:r>
                  </m:oMath>
                </a14:m>
                <a:r>
                  <a:rPr lang="zh-CN" altLang="en-US" sz="2000" dirty="0">
                    <a:latin typeface="楷体" panose="02010609060101010101" pitchFamily="49" charset="-122"/>
                    <a:ea typeface="楷体" panose="02010609060101010101" pitchFamily="49" charset="-122"/>
                  </a:rPr>
                  <a:t>平衡</a:t>
                </a:r>
              </a:p>
            </p:txBody>
          </p:sp>
        </mc:Choice>
        <mc:Fallback xmlns="">
          <p:sp>
            <p:nvSpPr>
              <p:cNvPr id="19" name="TextBox 18"/>
              <p:cNvSpPr txBox="1">
                <a:spLocks noRot="1" noChangeAspect="1" noMove="1" noResize="1" noEditPoints="1" noAdjustHandles="1" noChangeArrowheads="1" noChangeShapeType="1" noTextEdit="1"/>
              </p:cNvSpPr>
              <p:nvPr/>
            </p:nvSpPr>
            <p:spPr>
              <a:xfrm>
                <a:off x="4730215" y="4221088"/>
                <a:ext cx="1440160" cy="400110"/>
              </a:xfrm>
              <a:prstGeom prst="rect">
                <a:avLst/>
              </a:prstGeom>
              <a:blipFill rotWithShape="1">
                <a:blip r:embed="rId12"/>
                <a:stretch>
                  <a:fillRect l="-4661" t="-10606" b="-22727"/>
                </a:stretch>
              </a:blipFill>
            </p:spPr>
            <p:txBody>
              <a:bodyPr/>
              <a:lstStyle/>
              <a:p>
                <a:r>
                  <a:rPr lang="zh-CN" altLang="en-US">
                    <a:noFill/>
                  </a:rPr>
                  <a:t> </a:t>
                </a:r>
              </a:p>
            </p:txBody>
          </p:sp>
        </mc:Fallback>
      </mc:AlternateContent>
      <p:graphicFrame>
        <p:nvGraphicFramePr>
          <p:cNvPr id="16" name="对象 15"/>
          <p:cNvGraphicFramePr>
            <a:graphicFrameLocks noChangeAspect="1"/>
          </p:cNvGraphicFramePr>
          <p:nvPr>
            <p:extLst>
              <p:ext uri="{D42A27DB-BD31-4B8C-83A1-F6EECF244321}">
                <p14:modId xmlns:p14="http://schemas.microsoft.com/office/powerpoint/2010/main" val="643582290"/>
              </p:ext>
            </p:extLst>
          </p:nvPr>
        </p:nvGraphicFramePr>
        <p:xfrm>
          <a:off x="683568" y="5640372"/>
          <a:ext cx="3213100" cy="304800"/>
        </p:xfrm>
        <a:graphic>
          <a:graphicData uri="http://schemas.openxmlformats.org/presentationml/2006/ole">
            <mc:AlternateContent xmlns:mc="http://schemas.openxmlformats.org/markup-compatibility/2006">
              <mc:Choice xmlns:v="urn:schemas-microsoft-com:vml" Requires="v">
                <p:oleObj spid="_x0000_s67353" name="Equation" r:id="rId13" imgW="3213000" imgH="304560" progId="Equation.DSMT4">
                  <p:embed/>
                </p:oleObj>
              </mc:Choice>
              <mc:Fallback>
                <p:oleObj name="Equation" r:id="rId13" imgW="3213000" imgH="304560" progId="Equation.DSMT4">
                  <p:embed/>
                  <p:pic>
                    <p:nvPicPr>
                      <p:cNvPr id="0" name=""/>
                      <p:cNvPicPr/>
                      <p:nvPr/>
                    </p:nvPicPr>
                    <p:blipFill>
                      <a:blip r:embed="rId14"/>
                      <a:stretch>
                        <a:fillRect/>
                      </a:stretch>
                    </p:blipFill>
                    <p:spPr>
                      <a:xfrm>
                        <a:off x="683568" y="5640372"/>
                        <a:ext cx="3213100" cy="304800"/>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425700340"/>
              </p:ext>
            </p:extLst>
          </p:nvPr>
        </p:nvGraphicFramePr>
        <p:xfrm>
          <a:off x="1259632" y="6165304"/>
          <a:ext cx="1638300" cy="279400"/>
        </p:xfrm>
        <a:graphic>
          <a:graphicData uri="http://schemas.openxmlformats.org/presentationml/2006/ole">
            <mc:AlternateContent xmlns:mc="http://schemas.openxmlformats.org/markup-compatibility/2006">
              <mc:Choice xmlns:v="urn:schemas-microsoft-com:vml" Requires="v">
                <p:oleObj spid="_x0000_s67354" name="Equation" r:id="rId15" imgW="1638000" imgH="279360" progId="Equation.DSMT4">
                  <p:embed/>
                </p:oleObj>
              </mc:Choice>
              <mc:Fallback>
                <p:oleObj name="Equation" r:id="rId15" imgW="1638000" imgH="279360" progId="Equation.DSMT4">
                  <p:embed/>
                  <p:pic>
                    <p:nvPicPr>
                      <p:cNvPr id="0" name=""/>
                      <p:cNvPicPr/>
                      <p:nvPr/>
                    </p:nvPicPr>
                    <p:blipFill>
                      <a:blip r:embed="rId16"/>
                      <a:stretch>
                        <a:fillRect/>
                      </a:stretch>
                    </p:blipFill>
                    <p:spPr>
                      <a:xfrm>
                        <a:off x="1259632" y="6165304"/>
                        <a:ext cx="1638300" cy="279400"/>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3632102228"/>
              </p:ext>
            </p:extLst>
          </p:nvPr>
        </p:nvGraphicFramePr>
        <p:xfrm>
          <a:off x="5004048" y="5641525"/>
          <a:ext cx="3238500" cy="304800"/>
        </p:xfrm>
        <a:graphic>
          <a:graphicData uri="http://schemas.openxmlformats.org/presentationml/2006/ole">
            <mc:AlternateContent xmlns:mc="http://schemas.openxmlformats.org/markup-compatibility/2006">
              <mc:Choice xmlns:v="urn:schemas-microsoft-com:vml" Requires="v">
                <p:oleObj spid="_x0000_s67355" name="Equation" r:id="rId17" imgW="3238200" imgH="304560" progId="Equation.DSMT4">
                  <p:embed/>
                </p:oleObj>
              </mc:Choice>
              <mc:Fallback>
                <p:oleObj name="Equation" r:id="rId17" imgW="3238200" imgH="304560" progId="Equation.DSMT4">
                  <p:embed/>
                  <p:pic>
                    <p:nvPicPr>
                      <p:cNvPr id="0" name=""/>
                      <p:cNvPicPr/>
                      <p:nvPr/>
                    </p:nvPicPr>
                    <p:blipFill>
                      <a:blip r:embed="rId18"/>
                      <a:stretch>
                        <a:fillRect/>
                      </a:stretch>
                    </p:blipFill>
                    <p:spPr>
                      <a:xfrm>
                        <a:off x="5004048" y="5641525"/>
                        <a:ext cx="3238500" cy="304800"/>
                      </a:xfrm>
                      <a:prstGeom prst="rect">
                        <a:avLst/>
                      </a:prstGeom>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2950874359"/>
              </p:ext>
            </p:extLst>
          </p:nvPr>
        </p:nvGraphicFramePr>
        <p:xfrm>
          <a:off x="5738614" y="6165304"/>
          <a:ext cx="1676400" cy="279400"/>
        </p:xfrm>
        <a:graphic>
          <a:graphicData uri="http://schemas.openxmlformats.org/presentationml/2006/ole">
            <mc:AlternateContent xmlns:mc="http://schemas.openxmlformats.org/markup-compatibility/2006">
              <mc:Choice xmlns:v="urn:schemas-microsoft-com:vml" Requires="v">
                <p:oleObj spid="_x0000_s67356" name="Equation" r:id="rId19" imgW="1676160" imgH="279360" progId="Equation.DSMT4">
                  <p:embed/>
                </p:oleObj>
              </mc:Choice>
              <mc:Fallback>
                <p:oleObj name="Equation" r:id="rId19" imgW="1676160" imgH="279360" progId="Equation.DSMT4">
                  <p:embed/>
                  <p:pic>
                    <p:nvPicPr>
                      <p:cNvPr id="0" name=""/>
                      <p:cNvPicPr/>
                      <p:nvPr/>
                    </p:nvPicPr>
                    <p:blipFill>
                      <a:blip r:embed="rId20"/>
                      <a:stretch>
                        <a:fillRect/>
                      </a:stretch>
                    </p:blipFill>
                    <p:spPr>
                      <a:xfrm>
                        <a:off x="5738614" y="6165304"/>
                        <a:ext cx="1676400" cy="279400"/>
                      </a:xfrm>
                      <a:prstGeom prst="rect">
                        <a:avLst/>
                      </a:prstGeom>
                    </p:spPr>
                  </p:pic>
                </p:oleObj>
              </mc:Fallback>
            </mc:AlternateContent>
          </a:graphicData>
        </a:graphic>
      </p:graphicFrame>
    </p:spTree>
    <p:extLst>
      <p:ext uri="{BB962C8B-B14F-4D97-AF65-F5344CB8AC3E}">
        <p14:creationId xmlns:p14="http://schemas.microsoft.com/office/powerpoint/2010/main" val="2088082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686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686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15" grpId="0"/>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7-4 </a:t>
            </a:r>
            <a:r>
              <a:rPr lang="zh-CN" altLang="en-US" dirty="0"/>
              <a:t>位移法解有侧移刚架</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pic>
        <p:nvPicPr>
          <p:cNvPr id="38913" name="Picture 1" descr="C:\Users\Administrator\AppData\Roaming\Tencent\Users\42337577\QQ\WinTemp\RichOle\%7J_B)J8NN{V3SR66UPJEH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828" y="1399321"/>
            <a:ext cx="2340070" cy="2074862"/>
          </a:xfrm>
          <a:prstGeom prst="rect">
            <a:avLst/>
          </a:prstGeom>
          <a:noFill/>
          <a:extLst>
            <a:ext uri="{909E8E84-426E-40DD-AFC4-6F175D3DCCD1}">
              <a14:hiddenFill xmlns:a14="http://schemas.microsoft.com/office/drawing/2010/main">
                <a:solidFill>
                  <a:srgbClr val="FFFFFF"/>
                </a:solidFill>
              </a14:hiddenFill>
            </a:ext>
          </a:extLst>
        </p:spPr>
      </p:pic>
      <p:pic>
        <p:nvPicPr>
          <p:cNvPr id="38914" name="Picture 2" descr="C:\Users\Administrator\AppData\Roaming\Tencent\Users\42337577\QQ\WinTemp\RichOle\ZA[U7J9O5J%I0O_E@ALR_(V.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5856" y="1424757"/>
            <a:ext cx="2923150" cy="1988056"/>
          </a:xfrm>
          <a:prstGeom prst="rect">
            <a:avLst/>
          </a:prstGeom>
          <a:noFill/>
          <a:extLst>
            <a:ext uri="{909E8E84-426E-40DD-AFC4-6F175D3DCCD1}">
              <a14:hiddenFill xmlns:a14="http://schemas.microsoft.com/office/drawing/2010/main">
                <a:solidFill>
                  <a:srgbClr val="FFFFFF"/>
                </a:solidFill>
              </a14:hiddenFill>
            </a:ext>
          </a:extLst>
        </p:spPr>
      </p:pic>
      <p:pic>
        <p:nvPicPr>
          <p:cNvPr id="38915" name="Picture 3" descr="C:\Users\Administrator\AppData\Roaming\Tencent\Users\42337577\QQ\WinTemp\RichOle\8%LIZ$0IEA2{1ZTM9FPL2(U.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90618" y="1283891"/>
            <a:ext cx="2052836" cy="230572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467544" y="3569595"/>
            <a:ext cx="8280920" cy="461665"/>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刚架除有结点转角外，还有</a:t>
            </a:r>
            <a:r>
              <a:rPr lang="zh-CN" altLang="en-US" sz="2400" b="1" dirty="0">
                <a:solidFill>
                  <a:srgbClr val="FFC000"/>
                </a:solidFill>
                <a:latin typeface="楷体" panose="02010609060101010101" pitchFamily="49" charset="-122"/>
                <a:ea typeface="楷体" panose="02010609060101010101" pitchFamily="49" charset="-122"/>
              </a:rPr>
              <a:t>结点线位移</a:t>
            </a:r>
            <a:r>
              <a:rPr lang="zh-CN" altLang="en-US" sz="2400" dirty="0">
                <a:latin typeface="楷体" panose="02010609060101010101" pitchFamily="49" charset="-122"/>
                <a:ea typeface="楷体" panose="02010609060101010101" pitchFamily="49" charset="-122"/>
              </a:rPr>
              <a:t>，称之为有侧移刚架。</a:t>
            </a:r>
          </a:p>
        </p:txBody>
      </p:sp>
      <p:sp>
        <p:nvSpPr>
          <p:cNvPr id="4" name="TextBox 3"/>
          <p:cNvSpPr txBox="1"/>
          <p:nvPr/>
        </p:nvSpPr>
        <p:spPr>
          <a:xfrm>
            <a:off x="467544" y="4149080"/>
            <a:ext cx="4320480" cy="461665"/>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用位移法计算有侧移刚架时：</a:t>
            </a:r>
          </a:p>
        </p:txBody>
      </p:sp>
      <p:sp>
        <p:nvSpPr>
          <p:cNvPr id="5" name="TextBox 4"/>
          <p:cNvSpPr txBox="1"/>
          <p:nvPr/>
        </p:nvSpPr>
        <p:spPr>
          <a:xfrm>
            <a:off x="747625" y="4610745"/>
            <a:ext cx="7712807" cy="430887"/>
          </a:xfrm>
          <a:prstGeom prst="rect">
            <a:avLst/>
          </a:prstGeom>
          <a:noFill/>
        </p:spPr>
        <p:txBody>
          <a:bodyPr wrap="square" rtlCol="0">
            <a:spAutoFit/>
          </a:bodyPr>
          <a:lstStyle/>
          <a:p>
            <a:pPr marL="342900" indent="-342900">
              <a:buFont typeface="+mj-ea"/>
              <a:buAutoNum type="circleNumDbPlain"/>
            </a:pPr>
            <a:r>
              <a:rPr lang="zh-CN" altLang="en-US" sz="2200" dirty="0">
                <a:latin typeface="楷体" panose="02010609060101010101" pitchFamily="49" charset="-122"/>
                <a:ea typeface="楷体" panose="02010609060101010101" pitchFamily="49" charset="-122"/>
              </a:rPr>
              <a:t>在基本未知量中，要包含结点线位移；</a:t>
            </a:r>
          </a:p>
        </p:txBody>
      </p:sp>
      <p:sp>
        <p:nvSpPr>
          <p:cNvPr id="10" name="TextBox 9"/>
          <p:cNvSpPr txBox="1"/>
          <p:nvPr/>
        </p:nvSpPr>
        <p:spPr>
          <a:xfrm>
            <a:off x="747624" y="5091391"/>
            <a:ext cx="7712807" cy="430887"/>
          </a:xfrm>
          <a:prstGeom prst="rect">
            <a:avLst/>
          </a:prstGeom>
          <a:noFill/>
        </p:spPr>
        <p:txBody>
          <a:bodyPr wrap="square" rtlCol="0">
            <a:spAutoFit/>
          </a:bodyPr>
          <a:lstStyle/>
          <a:p>
            <a:pPr marL="342900" indent="-342900">
              <a:buFont typeface="+mj-ea"/>
              <a:buAutoNum type="circleNumDbPlain" startAt="2"/>
            </a:pPr>
            <a:r>
              <a:rPr lang="zh-CN" altLang="en-US" sz="2200" dirty="0">
                <a:latin typeface="楷体" panose="02010609060101010101" pitchFamily="49" charset="-122"/>
                <a:ea typeface="楷体" panose="02010609060101010101" pitchFamily="49" charset="-122"/>
              </a:rPr>
              <a:t>在杆件计算中，要考虑线位移的影响；</a:t>
            </a:r>
          </a:p>
        </p:txBody>
      </p:sp>
      <p:sp>
        <p:nvSpPr>
          <p:cNvPr id="11" name="TextBox 10"/>
          <p:cNvSpPr txBox="1"/>
          <p:nvPr/>
        </p:nvSpPr>
        <p:spPr>
          <a:xfrm>
            <a:off x="747623" y="5532282"/>
            <a:ext cx="7712807" cy="430887"/>
          </a:xfrm>
          <a:prstGeom prst="rect">
            <a:avLst/>
          </a:prstGeom>
          <a:noFill/>
        </p:spPr>
        <p:txBody>
          <a:bodyPr wrap="square" rtlCol="0">
            <a:spAutoFit/>
          </a:bodyPr>
          <a:lstStyle/>
          <a:p>
            <a:pPr marL="342900" indent="-342900">
              <a:buFont typeface="+mj-ea"/>
              <a:buAutoNum type="circleNumDbPlain" startAt="3"/>
            </a:pPr>
            <a:r>
              <a:rPr lang="zh-CN" altLang="en-US" sz="2200" dirty="0">
                <a:latin typeface="楷体" panose="02010609060101010101" pitchFamily="49" charset="-122"/>
                <a:ea typeface="楷体" panose="02010609060101010101" pitchFamily="49" charset="-122"/>
              </a:rPr>
              <a:t>在建立基本方程中，要增加与结点线位移对应的平衡方程。</a:t>
            </a:r>
          </a:p>
        </p:txBody>
      </p:sp>
    </p:spTree>
    <p:extLst>
      <p:ext uri="{BB962C8B-B14F-4D97-AF65-F5344CB8AC3E}">
        <p14:creationId xmlns:p14="http://schemas.microsoft.com/office/powerpoint/2010/main" val="2648183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7-4 </a:t>
            </a:r>
            <a:r>
              <a:rPr lang="zh-CN" altLang="en-US" dirty="0"/>
              <a:t>位移法解有侧移刚架</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59593" y="1261258"/>
            <a:ext cx="4752528" cy="430887"/>
          </a:xfrm>
          <a:prstGeom prst="rect">
            <a:avLst/>
          </a:prstGeom>
          <a:noFill/>
        </p:spPr>
        <p:txBody>
          <a:bodyPr wrap="square" rtlCol="0">
            <a:spAutoFit/>
          </a:bodyPr>
          <a:lstStyle/>
          <a:p>
            <a:r>
              <a:rPr lang="zh-CN" altLang="en-US" sz="2200" dirty="0">
                <a:latin typeface="楷体" panose="02010609060101010101" pitchFamily="49" charset="-122"/>
                <a:ea typeface="楷体" panose="02010609060101010101" pitchFamily="49" charset="-122"/>
              </a:rPr>
              <a:t>位移法</a:t>
            </a:r>
            <a:r>
              <a:rPr lang="zh-CN" altLang="en-US" sz="2200" dirty="0">
                <a:solidFill>
                  <a:srgbClr val="FFC000"/>
                </a:solidFill>
                <a:latin typeface="楷体" panose="02010609060101010101" pitchFamily="49" charset="-122"/>
                <a:ea typeface="楷体" panose="02010609060101010101" pitchFamily="49" charset="-122"/>
              </a:rPr>
              <a:t>解题思路</a:t>
            </a:r>
            <a:r>
              <a:rPr lang="zh-CN" altLang="en-US" sz="2200" dirty="0">
                <a:latin typeface="楷体" panose="02010609060101010101" pitchFamily="49" charset="-122"/>
                <a:ea typeface="楷体" panose="02010609060101010101" pitchFamily="49" charset="-122"/>
              </a:rPr>
              <a:t>（回顾）：</a:t>
            </a:r>
          </a:p>
        </p:txBody>
      </p:sp>
      <p:grpSp>
        <p:nvGrpSpPr>
          <p:cNvPr id="5" name="Group 8"/>
          <p:cNvGrpSpPr>
            <a:grpSpLocks/>
          </p:cNvGrpSpPr>
          <p:nvPr/>
        </p:nvGrpSpPr>
        <p:grpSpPr bwMode="auto">
          <a:xfrm>
            <a:off x="2454275" y="1270257"/>
            <a:ext cx="4095750" cy="1485900"/>
            <a:chOff x="240" y="704"/>
            <a:chExt cx="2580" cy="936"/>
          </a:xfrm>
        </p:grpSpPr>
        <p:sp>
          <p:nvSpPr>
            <p:cNvPr id="6" name="Text Box 9"/>
            <p:cNvSpPr txBox="1">
              <a:spLocks noChangeArrowheads="1"/>
            </p:cNvSpPr>
            <p:nvPr/>
          </p:nvSpPr>
          <p:spPr bwMode="auto">
            <a:xfrm>
              <a:off x="2012" y="704"/>
              <a:ext cx="1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solidFill>
                    <a:srgbClr val="0000FF"/>
                  </a:solidFill>
                </a:rPr>
                <a:t>q</a:t>
              </a:r>
              <a:endParaRPr lang="en-US" altLang="zh-CN" sz="2000" i="1"/>
            </a:p>
          </p:txBody>
        </p:sp>
        <p:sp>
          <p:nvSpPr>
            <p:cNvPr id="7" name="Line 10"/>
            <p:cNvSpPr>
              <a:spLocks noChangeShapeType="1"/>
            </p:cNvSpPr>
            <p:nvPr/>
          </p:nvSpPr>
          <p:spPr bwMode="auto">
            <a:xfrm>
              <a:off x="852" y="1000"/>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8" name="Line 11"/>
            <p:cNvSpPr>
              <a:spLocks noChangeShapeType="1"/>
            </p:cNvSpPr>
            <p:nvPr/>
          </p:nvSpPr>
          <p:spPr bwMode="auto">
            <a:xfrm flipH="1">
              <a:off x="756" y="1000"/>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 name="Line 12"/>
            <p:cNvSpPr>
              <a:spLocks noChangeShapeType="1"/>
            </p:cNvSpPr>
            <p:nvPr/>
          </p:nvSpPr>
          <p:spPr bwMode="auto">
            <a:xfrm flipH="1">
              <a:off x="756" y="1128"/>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0" name="Line 13"/>
            <p:cNvSpPr>
              <a:spLocks noChangeShapeType="1"/>
            </p:cNvSpPr>
            <p:nvPr/>
          </p:nvSpPr>
          <p:spPr bwMode="auto">
            <a:xfrm flipH="1">
              <a:off x="756" y="1192"/>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1" name="Line 14"/>
            <p:cNvSpPr>
              <a:spLocks noChangeShapeType="1"/>
            </p:cNvSpPr>
            <p:nvPr/>
          </p:nvSpPr>
          <p:spPr bwMode="auto">
            <a:xfrm flipH="1">
              <a:off x="756" y="1072"/>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2" name="Line 15"/>
            <p:cNvSpPr>
              <a:spLocks noChangeShapeType="1"/>
            </p:cNvSpPr>
            <p:nvPr/>
          </p:nvSpPr>
          <p:spPr bwMode="auto">
            <a:xfrm>
              <a:off x="2573" y="944"/>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3" name="Line 16"/>
            <p:cNvSpPr>
              <a:spLocks noChangeShapeType="1"/>
            </p:cNvSpPr>
            <p:nvPr/>
          </p:nvSpPr>
          <p:spPr bwMode="auto">
            <a:xfrm>
              <a:off x="2188" y="952"/>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5" name="Line 17"/>
            <p:cNvSpPr>
              <a:spLocks noChangeShapeType="1"/>
            </p:cNvSpPr>
            <p:nvPr/>
          </p:nvSpPr>
          <p:spPr bwMode="auto">
            <a:xfrm>
              <a:off x="2284" y="952"/>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6" name="Line 18"/>
            <p:cNvSpPr>
              <a:spLocks noChangeShapeType="1"/>
            </p:cNvSpPr>
            <p:nvPr/>
          </p:nvSpPr>
          <p:spPr bwMode="auto">
            <a:xfrm>
              <a:off x="2388" y="952"/>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7" name="Line 19"/>
            <p:cNvSpPr>
              <a:spLocks noChangeShapeType="1"/>
            </p:cNvSpPr>
            <p:nvPr/>
          </p:nvSpPr>
          <p:spPr bwMode="auto">
            <a:xfrm>
              <a:off x="2484" y="944"/>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8" name="Line 20"/>
            <p:cNvSpPr>
              <a:spLocks noChangeShapeType="1"/>
            </p:cNvSpPr>
            <p:nvPr/>
          </p:nvSpPr>
          <p:spPr bwMode="auto">
            <a:xfrm>
              <a:off x="1700" y="952"/>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9" name="Line 21"/>
            <p:cNvSpPr>
              <a:spLocks noChangeShapeType="1"/>
            </p:cNvSpPr>
            <p:nvPr/>
          </p:nvSpPr>
          <p:spPr bwMode="auto">
            <a:xfrm>
              <a:off x="1804" y="952"/>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0" name="Line 22"/>
            <p:cNvSpPr>
              <a:spLocks noChangeShapeType="1"/>
            </p:cNvSpPr>
            <p:nvPr/>
          </p:nvSpPr>
          <p:spPr bwMode="auto">
            <a:xfrm>
              <a:off x="1908" y="960"/>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1" name="Line 23"/>
            <p:cNvSpPr>
              <a:spLocks noChangeShapeType="1"/>
            </p:cNvSpPr>
            <p:nvPr/>
          </p:nvSpPr>
          <p:spPr bwMode="auto">
            <a:xfrm>
              <a:off x="2004" y="952"/>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2" name="Line 24"/>
            <p:cNvSpPr>
              <a:spLocks noChangeShapeType="1"/>
            </p:cNvSpPr>
            <p:nvPr/>
          </p:nvSpPr>
          <p:spPr bwMode="auto">
            <a:xfrm>
              <a:off x="2092" y="952"/>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3" name="Text Box 25"/>
            <p:cNvSpPr txBox="1">
              <a:spLocks noChangeArrowheads="1"/>
            </p:cNvSpPr>
            <p:nvPr/>
          </p:nvSpPr>
          <p:spPr bwMode="auto">
            <a:xfrm>
              <a:off x="2580" y="976"/>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t>C</a:t>
              </a:r>
            </a:p>
          </p:txBody>
        </p:sp>
        <p:sp>
          <p:nvSpPr>
            <p:cNvPr id="24" name="Line 26"/>
            <p:cNvSpPr>
              <a:spLocks noChangeShapeType="1"/>
            </p:cNvSpPr>
            <p:nvPr/>
          </p:nvSpPr>
          <p:spPr bwMode="auto">
            <a:xfrm>
              <a:off x="1692" y="1448"/>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5" name="Line 27"/>
            <p:cNvSpPr>
              <a:spLocks noChangeShapeType="1"/>
            </p:cNvSpPr>
            <p:nvPr/>
          </p:nvSpPr>
          <p:spPr bwMode="auto">
            <a:xfrm>
              <a:off x="2580" y="1448"/>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6" name="Line 28"/>
            <p:cNvSpPr>
              <a:spLocks noChangeShapeType="1"/>
            </p:cNvSpPr>
            <p:nvPr/>
          </p:nvSpPr>
          <p:spPr bwMode="auto">
            <a:xfrm flipH="1">
              <a:off x="2524" y="149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7" name="Line 29"/>
            <p:cNvSpPr>
              <a:spLocks noChangeShapeType="1"/>
            </p:cNvSpPr>
            <p:nvPr/>
          </p:nvSpPr>
          <p:spPr bwMode="auto">
            <a:xfrm flipH="1">
              <a:off x="1644" y="1488"/>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8" name="Text Box 30"/>
            <p:cNvSpPr txBox="1">
              <a:spLocks noChangeArrowheads="1"/>
            </p:cNvSpPr>
            <p:nvPr/>
          </p:nvSpPr>
          <p:spPr bwMode="auto">
            <a:xfrm>
              <a:off x="1980" y="1294"/>
              <a:ext cx="1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t>l</a:t>
              </a:r>
            </a:p>
          </p:txBody>
        </p:sp>
        <p:sp>
          <p:nvSpPr>
            <p:cNvPr id="29" name="Line 31"/>
            <p:cNvSpPr>
              <a:spLocks noChangeShapeType="1"/>
            </p:cNvSpPr>
            <p:nvPr/>
          </p:nvSpPr>
          <p:spPr bwMode="auto">
            <a:xfrm>
              <a:off x="852" y="1096"/>
              <a:ext cx="172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0" name="Oval 32"/>
            <p:cNvSpPr>
              <a:spLocks noChangeArrowheads="1"/>
            </p:cNvSpPr>
            <p:nvPr/>
          </p:nvSpPr>
          <p:spPr bwMode="auto">
            <a:xfrm>
              <a:off x="1668" y="1268"/>
              <a:ext cx="48" cy="48"/>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endParaRPr lang="zh-CN" altLang="en-US" sz="2400">
                <a:latin typeface="黑体" pitchFamily="49" charset="-122"/>
                <a:ea typeface="黑体" pitchFamily="49" charset="-122"/>
              </a:endParaRPr>
            </a:p>
          </p:txBody>
        </p:sp>
        <p:sp>
          <p:nvSpPr>
            <p:cNvPr id="31" name="Line 33"/>
            <p:cNvSpPr>
              <a:spLocks noChangeShapeType="1"/>
            </p:cNvSpPr>
            <p:nvPr/>
          </p:nvSpPr>
          <p:spPr bwMode="auto">
            <a:xfrm>
              <a:off x="1692" y="1128"/>
              <a:ext cx="0"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2" name="Line 34"/>
            <p:cNvSpPr>
              <a:spLocks noChangeShapeType="1"/>
            </p:cNvSpPr>
            <p:nvPr/>
          </p:nvSpPr>
          <p:spPr bwMode="auto">
            <a:xfrm>
              <a:off x="1588" y="1308"/>
              <a:ext cx="19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3" name="Line 35"/>
            <p:cNvSpPr>
              <a:spLocks noChangeShapeType="1"/>
            </p:cNvSpPr>
            <p:nvPr/>
          </p:nvSpPr>
          <p:spPr bwMode="auto">
            <a:xfrm flipH="1">
              <a:off x="1572" y="1308"/>
              <a:ext cx="48"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 name="Line 36"/>
            <p:cNvSpPr>
              <a:spLocks noChangeShapeType="1"/>
            </p:cNvSpPr>
            <p:nvPr/>
          </p:nvSpPr>
          <p:spPr bwMode="auto">
            <a:xfrm flipH="1">
              <a:off x="1636" y="1308"/>
              <a:ext cx="48"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5" name="Line 37"/>
            <p:cNvSpPr>
              <a:spLocks noChangeShapeType="1"/>
            </p:cNvSpPr>
            <p:nvPr/>
          </p:nvSpPr>
          <p:spPr bwMode="auto">
            <a:xfrm flipH="1">
              <a:off x="1700" y="1308"/>
              <a:ext cx="48"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 name="Oval 38"/>
            <p:cNvSpPr>
              <a:spLocks noChangeArrowheads="1"/>
            </p:cNvSpPr>
            <p:nvPr/>
          </p:nvSpPr>
          <p:spPr bwMode="auto">
            <a:xfrm>
              <a:off x="1668" y="1088"/>
              <a:ext cx="48" cy="48"/>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endParaRPr lang="zh-CN" altLang="en-US" sz="2400">
                <a:latin typeface="黑体" pitchFamily="49" charset="-122"/>
                <a:ea typeface="黑体" pitchFamily="49" charset="-122"/>
              </a:endParaRPr>
            </a:p>
          </p:txBody>
        </p:sp>
        <p:sp>
          <p:nvSpPr>
            <p:cNvPr id="37" name="Line 39"/>
            <p:cNvSpPr>
              <a:spLocks noChangeShapeType="1"/>
            </p:cNvSpPr>
            <p:nvPr/>
          </p:nvSpPr>
          <p:spPr bwMode="auto">
            <a:xfrm>
              <a:off x="1708" y="952"/>
              <a:ext cx="864"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8" name="Line 40"/>
            <p:cNvSpPr>
              <a:spLocks noChangeShapeType="1"/>
            </p:cNvSpPr>
            <p:nvPr/>
          </p:nvSpPr>
          <p:spPr bwMode="auto">
            <a:xfrm>
              <a:off x="844" y="1448"/>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 name="Line 41"/>
            <p:cNvSpPr>
              <a:spLocks noChangeShapeType="1"/>
            </p:cNvSpPr>
            <p:nvPr/>
          </p:nvSpPr>
          <p:spPr bwMode="auto">
            <a:xfrm flipH="1">
              <a:off x="796" y="1488"/>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0" name="Line 42"/>
            <p:cNvSpPr>
              <a:spLocks noChangeShapeType="1"/>
            </p:cNvSpPr>
            <p:nvPr/>
          </p:nvSpPr>
          <p:spPr bwMode="auto">
            <a:xfrm>
              <a:off x="852" y="1544"/>
              <a:ext cx="172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1" name="Text Box 43"/>
            <p:cNvSpPr txBox="1">
              <a:spLocks noChangeArrowheads="1"/>
            </p:cNvSpPr>
            <p:nvPr/>
          </p:nvSpPr>
          <p:spPr bwMode="auto">
            <a:xfrm>
              <a:off x="1156" y="1288"/>
              <a:ext cx="1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t>l</a:t>
              </a:r>
            </a:p>
          </p:txBody>
        </p:sp>
        <p:sp>
          <p:nvSpPr>
            <p:cNvPr id="42" name="Freeform 44"/>
            <p:cNvSpPr>
              <a:spLocks/>
            </p:cNvSpPr>
            <p:nvPr/>
          </p:nvSpPr>
          <p:spPr bwMode="auto">
            <a:xfrm>
              <a:off x="852" y="984"/>
              <a:ext cx="1728" cy="248"/>
            </a:xfrm>
            <a:custGeom>
              <a:avLst/>
              <a:gdLst>
                <a:gd name="T0" fmla="*/ 0 w 1728"/>
                <a:gd name="T1" fmla="*/ 104 h 248"/>
                <a:gd name="T2" fmla="*/ 48 w 1728"/>
                <a:gd name="T3" fmla="*/ 104 h 248"/>
                <a:gd name="T4" fmla="*/ 192 w 1728"/>
                <a:gd name="T5" fmla="*/ 56 h 248"/>
                <a:gd name="T6" fmla="*/ 432 w 1728"/>
                <a:gd name="T7" fmla="*/ 8 h 248"/>
                <a:gd name="T8" fmla="*/ 624 w 1728"/>
                <a:gd name="T9" fmla="*/ 8 h 248"/>
                <a:gd name="T10" fmla="*/ 768 w 1728"/>
                <a:gd name="T11" fmla="*/ 56 h 248"/>
                <a:gd name="T12" fmla="*/ 1008 w 1728"/>
                <a:gd name="T13" fmla="*/ 200 h 248"/>
                <a:gd name="T14" fmla="*/ 1344 w 1728"/>
                <a:gd name="T15" fmla="*/ 248 h 248"/>
                <a:gd name="T16" fmla="*/ 1584 w 1728"/>
                <a:gd name="T17" fmla="*/ 200 h 248"/>
                <a:gd name="T18" fmla="*/ 1728 w 1728"/>
                <a:gd name="T19" fmla="*/ 104 h 2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728" h="248">
                  <a:moveTo>
                    <a:pt x="0" y="104"/>
                  </a:moveTo>
                  <a:cubicBezTo>
                    <a:pt x="8" y="108"/>
                    <a:pt x="16" y="112"/>
                    <a:pt x="48" y="104"/>
                  </a:cubicBezTo>
                  <a:cubicBezTo>
                    <a:pt x="80" y="96"/>
                    <a:pt x="128" y="72"/>
                    <a:pt x="192" y="56"/>
                  </a:cubicBezTo>
                  <a:cubicBezTo>
                    <a:pt x="256" y="40"/>
                    <a:pt x="360" y="16"/>
                    <a:pt x="432" y="8"/>
                  </a:cubicBezTo>
                  <a:cubicBezTo>
                    <a:pt x="504" y="0"/>
                    <a:pt x="568" y="0"/>
                    <a:pt x="624" y="8"/>
                  </a:cubicBezTo>
                  <a:cubicBezTo>
                    <a:pt x="680" y="16"/>
                    <a:pt x="704" y="24"/>
                    <a:pt x="768" y="56"/>
                  </a:cubicBezTo>
                  <a:cubicBezTo>
                    <a:pt x="832" y="88"/>
                    <a:pt x="912" y="168"/>
                    <a:pt x="1008" y="200"/>
                  </a:cubicBezTo>
                  <a:cubicBezTo>
                    <a:pt x="1104" y="232"/>
                    <a:pt x="1248" y="248"/>
                    <a:pt x="1344" y="248"/>
                  </a:cubicBezTo>
                  <a:cubicBezTo>
                    <a:pt x="1440" y="248"/>
                    <a:pt x="1520" y="224"/>
                    <a:pt x="1584" y="200"/>
                  </a:cubicBezTo>
                  <a:cubicBezTo>
                    <a:pt x="1648" y="176"/>
                    <a:pt x="1688" y="140"/>
                    <a:pt x="1728" y="104"/>
                  </a:cubicBezTo>
                </a:path>
              </a:pathLst>
            </a:custGeom>
            <a:noFill/>
            <a:ln w="19050" cap="flat" cmpd="sng">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3" name="Line 45"/>
            <p:cNvSpPr>
              <a:spLocks noChangeShapeType="1"/>
            </p:cNvSpPr>
            <p:nvPr/>
          </p:nvSpPr>
          <p:spPr bwMode="auto">
            <a:xfrm>
              <a:off x="1428" y="920"/>
              <a:ext cx="528"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4" name="Freeform 46"/>
            <p:cNvSpPr>
              <a:spLocks/>
            </p:cNvSpPr>
            <p:nvPr/>
          </p:nvSpPr>
          <p:spPr bwMode="auto">
            <a:xfrm>
              <a:off x="1489" y="1004"/>
              <a:ext cx="56" cy="96"/>
            </a:xfrm>
            <a:custGeom>
              <a:avLst/>
              <a:gdLst>
                <a:gd name="T0" fmla="*/ 56 w 56"/>
                <a:gd name="T1" fmla="*/ 0 h 96"/>
                <a:gd name="T2" fmla="*/ 8 w 56"/>
                <a:gd name="T3" fmla="*/ 48 h 96"/>
                <a:gd name="T4" fmla="*/ 8 w 56"/>
                <a:gd name="T5" fmla="*/ 96 h 96"/>
                <a:gd name="T6" fmla="*/ 0 60000 65536"/>
                <a:gd name="T7" fmla="*/ 0 60000 65536"/>
                <a:gd name="T8" fmla="*/ 0 60000 65536"/>
              </a:gdLst>
              <a:ahLst/>
              <a:cxnLst>
                <a:cxn ang="T6">
                  <a:pos x="T0" y="T1"/>
                </a:cxn>
                <a:cxn ang="T7">
                  <a:pos x="T2" y="T3"/>
                </a:cxn>
                <a:cxn ang="T8">
                  <a:pos x="T4" y="T5"/>
                </a:cxn>
              </a:cxnLst>
              <a:rect l="0" t="0" r="r" b="b"/>
              <a:pathLst>
                <a:path w="56" h="96">
                  <a:moveTo>
                    <a:pt x="56" y="0"/>
                  </a:moveTo>
                  <a:cubicBezTo>
                    <a:pt x="36" y="16"/>
                    <a:pt x="16" y="32"/>
                    <a:pt x="8" y="48"/>
                  </a:cubicBezTo>
                  <a:cubicBezTo>
                    <a:pt x="0" y="64"/>
                    <a:pt x="8" y="88"/>
                    <a:pt x="8" y="96"/>
                  </a:cubicBezTo>
                </a:path>
              </a:pathLst>
            </a:custGeom>
            <a:noFill/>
            <a:ln w="127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5" name="Freeform 47"/>
            <p:cNvSpPr>
              <a:spLocks/>
            </p:cNvSpPr>
            <p:nvPr/>
          </p:nvSpPr>
          <p:spPr bwMode="auto">
            <a:xfrm rot="10800000">
              <a:off x="1860" y="1100"/>
              <a:ext cx="56" cy="96"/>
            </a:xfrm>
            <a:custGeom>
              <a:avLst/>
              <a:gdLst>
                <a:gd name="T0" fmla="*/ 56 w 56"/>
                <a:gd name="T1" fmla="*/ 0 h 96"/>
                <a:gd name="T2" fmla="*/ 8 w 56"/>
                <a:gd name="T3" fmla="*/ 48 h 96"/>
                <a:gd name="T4" fmla="*/ 8 w 56"/>
                <a:gd name="T5" fmla="*/ 96 h 96"/>
                <a:gd name="T6" fmla="*/ 0 60000 65536"/>
                <a:gd name="T7" fmla="*/ 0 60000 65536"/>
                <a:gd name="T8" fmla="*/ 0 60000 65536"/>
              </a:gdLst>
              <a:ahLst/>
              <a:cxnLst>
                <a:cxn ang="T6">
                  <a:pos x="T0" y="T1"/>
                </a:cxn>
                <a:cxn ang="T7">
                  <a:pos x="T2" y="T3"/>
                </a:cxn>
                <a:cxn ang="T8">
                  <a:pos x="T4" y="T5"/>
                </a:cxn>
              </a:cxnLst>
              <a:rect l="0" t="0" r="r" b="b"/>
              <a:pathLst>
                <a:path w="56" h="96">
                  <a:moveTo>
                    <a:pt x="56" y="0"/>
                  </a:moveTo>
                  <a:cubicBezTo>
                    <a:pt x="36" y="16"/>
                    <a:pt x="16" y="32"/>
                    <a:pt x="8" y="48"/>
                  </a:cubicBezTo>
                  <a:cubicBezTo>
                    <a:pt x="0" y="64"/>
                    <a:pt x="8" y="88"/>
                    <a:pt x="8" y="96"/>
                  </a:cubicBezTo>
                </a:path>
              </a:pathLst>
            </a:custGeom>
            <a:noFill/>
            <a:ln w="127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6" name="Text Box 48"/>
            <p:cNvSpPr txBox="1">
              <a:spLocks noChangeArrowheads="1"/>
            </p:cNvSpPr>
            <p:nvPr/>
          </p:nvSpPr>
          <p:spPr bwMode="auto">
            <a:xfrm>
              <a:off x="1887" y="1013"/>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sym typeface="Symbol" pitchFamily="18" charset="2"/>
                </a:rPr>
                <a:t>ø</a:t>
              </a:r>
              <a:r>
                <a:rPr lang="en-US" altLang="zh-CN" sz="1000" i="1">
                  <a:sym typeface="Symbol" pitchFamily="18" charset="2"/>
                </a:rPr>
                <a:t>B</a:t>
              </a:r>
              <a:endParaRPr lang="en-US" altLang="zh-CN" sz="2000" i="1"/>
            </a:p>
          </p:txBody>
        </p:sp>
        <p:sp>
          <p:nvSpPr>
            <p:cNvPr id="47" name="Text Box 49"/>
            <p:cNvSpPr txBox="1">
              <a:spLocks noChangeArrowheads="1"/>
            </p:cNvSpPr>
            <p:nvPr/>
          </p:nvSpPr>
          <p:spPr bwMode="auto">
            <a:xfrm>
              <a:off x="1302" y="890"/>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sym typeface="Symbol" pitchFamily="18" charset="2"/>
                </a:rPr>
                <a:t>ø</a:t>
              </a:r>
              <a:r>
                <a:rPr lang="en-US" altLang="zh-CN" sz="1000" i="1">
                  <a:sym typeface="Symbol" pitchFamily="18" charset="2"/>
                </a:rPr>
                <a:t>B</a:t>
              </a:r>
              <a:endParaRPr lang="en-US" altLang="zh-CN" sz="2000" i="1"/>
            </a:p>
          </p:txBody>
        </p:sp>
        <p:sp>
          <p:nvSpPr>
            <p:cNvPr id="48" name="Oval 50"/>
            <p:cNvSpPr>
              <a:spLocks noChangeArrowheads="1"/>
            </p:cNvSpPr>
            <p:nvPr/>
          </p:nvSpPr>
          <p:spPr bwMode="auto">
            <a:xfrm>
              <a:off x="2548" y="1236"/>
              <a:ext cx="48" cy="48"/>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endParaRPr lang="zh-CN" altLang="en-US" sz="2400">
                <a:latin typeface="黑体" pitchFamily="49" charset="-122"/>
                <a:ea typeface="黑体" pitchFamily="49" charset="-122"/>
              </a:endParaRPr>
            </a:p>
          </p:txBody>
        </p:sp>
        <p:sp>
          <p:nvSpPr>
            <p:cNvPr id="49" name="Line 51"/>
            <p:cNvSpPr>
              <a:spLocks noChangeShapeType="1"/>
            </p:cNvSpPr>
            <p:nvPr/>
          </p:nvSpPr>
          <p:spPr bwMode="auto">
            <a:xfrm>
              <a:off x="2572" y="1096"/>
              <a:ext cx="0"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0" name="Line 52"/>
            <p:cNvSpPr>
              <a:spLocks noChangeShapeType="1"/>
            </p:cNvSpPr>
            <p:nvPr/>
          </p:nvSpPr>
          <p:spPr bwMode="auto">
            <a:xfrm>
              <a:off x="2484" y="1276"/>
              <a:ext cx="19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1" name="Line 53"/>
            <p:cNvSpPr>
              <a:spLocks noChangeShapeType="1"/>
            </p:cNvSpPr>
            <p:nvPr/>
          </p:nvSpPr>
          <p:spPr bwMode="auto">
            <a:xfrm flipH="1">
              <a:off x="2468" y="1276"/>
              <a:ext cx="48"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2" name="Line 54"/>
            <p:cNvSpPr>
              <a:spLocks noChangeShapeType="1"/>
            </p:cNvSpPr>
            <p:nvPr/>
          </p:nvSpPr>
          <p:spPr bwMode="auto">
            <a:xfrm flipH="1">
              <a:off x="2532" y="1276"/>
              <a:ext cx="48"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 name="Line 55"/>
            <p:cNvSpPr>
              <a:spLocks noChangeShapeType="1"/>
            </p:cNvSpPr>
            <p:nvPr/>
          </p:nvSpPr>
          <p:spPr bwMode="auto">
            <a:xfrm flipH="1">
              <a:off x="2596" y="1276"/>
              <a:ext cx="48"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4" name="Oval 56"/>
            <p:cNvSpPr>
              <a:spLocks noChangeArrowheads="1"/>
            </p:cNvSpPr>
            <p:nvPr/>
          </p:nvSpPr>
          <p:spPr bwMode="auto">
            <a:xfrm>
              <a:off x="2548" y="1056"/>
              <a:ext cx="48" cy="48"/>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endParaRPr lang="zh-CN" altLang="en-US" sz="2400">
                <a:latin typeface="黑体" pitchFamily="49" charset="-122"/>
                <a:ea typeface="黑体" pitchFamily="49" charset="-122"/>
              </a:endParaRPr>
            </a:p>
          </p:txBody>
        </p:sp>
        <p:sp>
          <p:nvSpPr>
            <p:cNvPr id="55" name="Text Box 57"/>
            <p:cNvSpPr txBox="1">
              <a:spLocks noChangeArrowheads="1"/>
            </p:cNvSpPr>
            <p:nvPr/>
          </p:nvSpPr>
          <p:spPr bwMode="auto">
            <a:xfrm>
              <a:off x="1516" y="1040"/>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t>B</a:t>
              </a:r>
            </a:p>
          </p:txBody>
        </p:sp>
        <p:sp>
          <p:nvSpPr>
            <p:cNvPr id="56" name="Text Box 58"/>
            <p:cNvSpPr txBox="1">
              <a:spLocks noChangeArrowheads="1"/>
            </p:cNvSpPr>
            <p:nvPr/>
          </p:nvSpPr>
          <p:spPr bwMode="auto">
            <a:xfrm>
              <a:off x="584" y="960"/>
              <a:ext cx="1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t>A</a:t>
              </a:r>
            </a:p>
          </p:txBody>
        </p:sp>
        <p:sp>
          <p:nvSpPr>
            <p:cNvPr id="57" name="Text Box 59"/>
            <p:cNvSpPr txBox="1">
              <a:spLocks noChangeArrowheads="1"/>
            </p:cNvSpPr>
            <p:nvPr/>
          </p:nvSpPr>
          <p:spPr bwMode="auto">
            <a:xfrm>
              <a:off x="240" y="1056"/>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t>(a)</a:t>
              </a:r>
            </a:p>
          </p:txBody>
        </p:sp>
      </p:grpSp>
      <p:grpSp>
        <p:nvGrpSpPr>
          <p:cNvPr id="58" name="Group 60"/>
          <p:cNvGrpSpPr>
            <a:grpSpLocks/>
          </p:cNvGrpSpPr>
          <p:nvPr/>
        </p:nvGrpSpPr>
        <p:grpSpPr bwMode="auto">
          <a:xfrm>
            <a:off x="2378075" y="2792669"/>
            <a:ext cx="4159250" cy="1409700"/>
            <a:chOff x="192" y="1624"/>
            <a:chExt cx="2620" cy="888"/>
          </a:xfrm>
        </p:grpSpPr>
        <p:sp>
          <p:nvSpPr>
            <p:cNvPr id="59" name="Text Box 61"/>
            <p:cNvSpPr txBox="1">
              <a:spLocks noChangeArrowheads="1"/>
            </p:cNvSpPr>
            <p:nvPr/>
          </p:nvSpPr>
          <p:spPr bwMode="auto">
            <a:xfrm>
              <a:off x="2572" y="2102"/>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t>C</a:t>
              </a:r>
            </a:p>
          </p:txBody>
        </p:sp>
        <p:grpSp>
          <p:nvGrpSpPr>
            <p:cNvPr id="60" name="Group 62"/>
            <p:cNvGrpSpPr>
              <a:grpSpLocks/>
            </p:cNvGrpSpPr>
            <p:nvPr/>
          </p:nvGrpSpPr>
          <p:grpSpPr bwMode="auto">
            <a:xfrm>
              <a:off x="192" y="1624"/>
              <a:ext cx="2492" cy="888"/>
              <a:chOff x="192" y="1624"/>
              <a:chExt cx="2492" cy="888"/>
            </a:xfrm>
          </p:grpSpPr>
          <p:sp>
            <p:nvSpPr>
              <p:cNvPr id="61" name="Oval 63"/>
              <p:cNvSpPr>
                <a:spLocks noChangeArrowheads="1"/>
              </p:cNvSpPr>
              <p:nvPr/>
            </p:nvSpPr>
            <p:spPr bwMode="auto">
              <a:xfrm>
                <a:off x="2556" y="2376"/>
                <a:ext cx="48" cy="48"/>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endParaRPr lang="zh-CN" altLang="en-US" sz="2400">
                  <a:latin typeface="黑体" pitchFamily="49" charset="-122"/>
                  <a:ea typeface="黑体" pitchFamily="49" charset="-122"/>
                </a:endParaRPr>
              </a:p>
            </p:txBody>
          </p:sp>
          <p:sp>
            <p:nvSpPr>
              <p:cNvPr id="62" name="Line 64"/>
              <p:cNvSpPr>
                <a:spLocks noChangeShapeType="1"/>
              </p:cNvSpPr>
              <p:nvPr/>
            </p:nvSpPr>
            <p:spPr bwMode="auto">
              <a:xfrm>
                <a:off x="2580" y="2236"/>
                <a:ext cx="0"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3" name="Line 65"/>
              <p:cNvSpPr>
                <a:spLocks noChangeShapeType="1"/>
              </p:cNvSpPr>
              <p:nvPr/>
            </p:nvSpPr>
            <p:spPr bwMode="auto">
              <a:xfrm>
                <a:off x="2492" y="2416"/>
                <a:ext cx="19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4" name="Line 66"/>
              <p:cNvSpPr>
                <a:spLocks noChangeShapeType="1"/>
              </p:cNvSpPr>
              <p:nvPr/>
            </p:nvSpPr>
            <p:spPr bwMode="auto">
              <a:xfrm flipH="1">
                <a:off x="2476" y="2416"/>
                <a:ext cx="48"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5" name="Line 67"/>
              <p:cNvSpPr>
                <a:spLocks noChangeShapeType="1"/>
              </p:cNvSpPr>
              <p:nvPr/>
            </p:nvSpPr>
            <p:spPr bwMode="auto">
              <a:xfrm flipH="1">
                <a:off x="2540" y="2416"/>
                <a:ext cx="48"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6" name="Line 68"/>
              <p:cNvSpPr>
                <a:spLocks noChangeShapeType="1"/>
              </p:cNvSpPr>
              <p:nvPr/>
            </p:nvSpPr>
            <p:spPr bwMode="auto">
              <a:xfrm flipH="1">
                <a:off x="2604" y="2416"/>
                <a:ext cx="48"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7" name="Oval 69"/>
              <p:cNvSpPr>
                <a:spLocks noChangeArrowheads="1"/>
              </p:cNvSpPr>
              <p:nvPr/>
            </p:nvSpPr>
            <p:spPr bwMode="auto">
              <a:xfrm>
                <a:off x="2556" y="2196"/>
                <a:ext cx="48" cy="48"/>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endParaRPr lang="zh-CN" altLang="en-US" sz="2400">
                  <a:latin typeface="黑体" pitchFamily="49" charset="-122"/>
                  <a:ea typeface="黑体" pitchFamily="49" charset="-122"/>
                </a:endParaRPr>
              </a:p>
            </p:txBody>
          </p:sp>
          <p:sp>
            <p:nvSpPr>
              <p:cNvPr id="68" name="Text Box 70"/>
              <p:cNvSpPr txBox="1">
                <a:spLocks noChangeArrowheads="1"/>
              </p:cNvSpPr>
              <p:nvPr/>
            </p:nvSpPr>
            <p:spPr bwMode="auto">
              <a:xfrm>
                <a:off x="576" y="1758"/>
                <a:ext cx="1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t>A</a:t>
                </a:r>
              </a:p>
            </p:txBody>
          </p:sp>
          <p:sp>
            <p:nvSpPr>
              <p:cNvPr id="69" name="Text Box 71"/>
              <p:cNvSpPr txBox="1">
                <a:spLocks noChangeArrowheads="1"/>
              </p:cNvSpPr>
              <p:nvPr/>
            </p:nvSpPr>
            <p:spPr bwMode="auto">
              <a:xfrm>
                <a:off x="1504" y="1856"/>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t>B</a:t>
                </a:r>
              </a:p>
            </p:txBody>
          </p:sp>
          <p:sp>
            <p:nvSpPr>
              <p:cNvPr id="70" name="Line 72"/>
              <p:cNvSpPr>
                <a:spLocks noChangeShapeType="1"/>
              </p:cNvSpPr>
              <p:nvPr/>
            </p:nvSpPr>
            <p:spPr bwMode="auto">
              <a:xfrm>
                <a:off x="858" y="1908"/>
                <a:ext cx="81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1" name="Line 73"/>
              <p:cNvSpPr>
                <a:spLocks noChangeShapeType="1"/>
              </p:cNvSpPr>
              <p:nvPr/>
            </p:nvSpPr>
            <p:spPr bwMode="auto">
              <a:xfrm>
                <a:off x="852" y="1800"/>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2" name="Line 74"/>
              <p:cNvSpPr>
                <a:spLocks noChangeShapeType="1"/>
              </p:cNvSpPr>
              <p:nvPr/>
            </p:nvSpPr>
            <p:spPr bwMode="auto">
              <a:xfrm flipH="1">
                <a:off x="756" y="1800"/>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3" name="Line 75"/>
              <p:cNvSpPr>
                <a:spLocks noChangeShapeType="1"/>
              </p:cNvSpPr>
              <p:nvPr/>
            </p:nvSpPr>
            <p:spPr bwMode="auto">
              <a:xfrm flipH="1">
                <a:off x="756" y="1928"/>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4" name="Line 76"/>
              <p:cNvSpPr>
                <a:spLocks noChangeShapeType="1"/>
              </p:cNvSpPr>
              <p:nvPr/>
            </p:nvSpPr>
            <p:spPr bwMode="auto">
              <a:xfrm flipH="1">
                <a:off x="756" y="1992"/>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5" name="Line 77"/>
              <p:cNvSpPr>
                <a:spLocks noChangeShapeType="1"/>
              </p:cNvSpPr>
              <p:nvPr/>
            </p:nvSpPr>
            <p:spPr bwMode="auto">
              <a:xfrm flipH="1">
                <a:off x="756" y="1872"/>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6" name="Line 78"/>
              <p:cNvSpPr>
                <a:spLocks noChangeShapeType="1"/>
              </p:cNvSpPr>
              <p:nvPr/>
            </p:nvSpPr>
            <p:spPr bwMode="auto">
              <a:xfrm>
                <a:off x="1686" y="1800"/>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7" name="Line 79"/>
              <p:cNvSpPr>
                <a:spLocks noChangeShapeType="1"/>
              </p:cNvSpPr>
              <p:nvPr/>
            </p:nvSpPr>
            <p:spPr bwMode="auto">
              <a:xfrm flipH="1">
                <a:off x="1686" y="1788"/>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8" name="Line 80"/>
              <p:cNvSpPr>
                <a:spLocks noChangeShapeType="1"/>
              </p:cNvSpPr>
              <p:nvPr/>
            </p:nvSpPr>
            <p:spPr bwMode="auto">
              <a:xfrm flipH="1">
                <a:off x="1686" y="1916"/>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9" name="Line 81"/>
              <p:cNvSpPr>
                <a:spLocks noChangeShapeType="1"/>
              </p:cNvSpPr>
              <p:nvPr/>
            </p:nvSpPr>
            <p:spPr bwMode="auto">
              <a:xfrm flipH="1">
                <a:off x="1686" y="1980"/>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80" name="Line 82"/>
              <p:cNvSpPr>
                <a:spLocks noChangeShapeType="1"/>
              </p:cNvSpPr>
              <p:nvPr/>
            </p:nvSpPr>
            <p:spPr bwMode="auto">
              <a:xfrm flipH="1">
                <a:off x="1686" y="1860"/>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81" name="Line 83"/>
              <p:cNvSpPr>
                <a:spLocks noChangeShapeType="1"/>
              </p:cNvSpPr>
              <p:nvPr/>
            </p:nvSpPr>
            <p:spPr bwMode="auto">
              <a:xfrm>
                <a:off x="1692" y="2128"/>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82" name="Line 84"/>
              <p:cNvSpPr>
                <a:spLocks noChangeShapeType="1"/>
              </p:cNvSpPr>
              <p:nvPr/>
            </p:nvSpPr>
            <p:spPr bwMode="auto">
              <a:xfrm flipH="1">
                <a:off x="1596" y="2128"/>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83" name="Line 85"/>
              <p:cNvSpPr>
                <a:spLocks noChangeShapeType="1"/>
              </p:cNvSpPr>
              <p:nvPr/>
            </p:nvSpPr>
            <p:spPr bwMode="auto">
              <a:xfrm flipH="1">
                <a:off x="1596" y="2256"/>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84" name="Line 86"/>
              <p:cNvSpPr>
                <a:spLocks noChangeShapeType="1"/>
              </p:cNvSpPr>
              <p:nvPr/>
            </p:nvSpPr>
            <p:spPr bwMode="auto">
              <a:xfrm flipH="1">
                <a:off x="1596" y="2320"/>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85" name="Line 87"/>
              <p:cNvSpPr>
                <a:spLocks noChangeShapeType="1"/>
              </p:cNvSpPr>
              <p:nvPr/>
            </p:nvSpPr>
            <p:spPr bwMode="auto">
              <a:xfrm flipH="1">
                <a:off x="1596" y="2200"/>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86" name="Freeform 88"/>
              <p:cNvSpPr>
                <a:spLocks/>
              </p:cNvSpPr>
              <p:nvPr/>
            </p:nvSpPr>
            <p:spPr bwMode="auto">
              <a:xfrm>
                <a:off x="864" y="1809"/>
                <a:ext cx="816" cy="96"/>
              </a:xfrm>
              <a:custGeom>
                <a:avLst/>
                <a:gdLst>
                  <a:gd name="T0" fmla="*/ 0 w 864"/>
                  <a:gd name="T1" fmla="*/ 82 h 104"/>
                  <a:gd name="T2" fmla="*/ 86 w 864"/>
                  <a:gd name="T3" fmla="*/ 82 h 104"/>
                  <a:gd name="T4" fmla="*/ 214 w 864"/>
                  <a:gd name="T5" fmla="*/ 41 h 104"/>
                  <a:gd name="T6" fmla="*/ 471 w 864"/>
                  <a:gd name="T7" fmla="*/ 0 h 104"/>
                  <a:gd name="T8" fmla="*/ 685 w 864"/>
                  <a:gd name="T9" fmla="*/ 41 h 104"/>
                  <a:gd name="T10" fmla="*/ 771 w 864"/>
                  <a:gd name="T11" fmla="*/ 82 h 10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4" h="104">
                    <a:moveTo>
                      <a:pt x="0" y="96"/>
                    </a:moveTo>
                    <a:cubicBezTo>
                      <a:pt x="28" y="100"/>
                      <a:pt x="56" y="104"/>
                      <a:pt x="96" y="96"/>
                    </a:cubicBezTo>
                    <a:cubicBezTo>
                      <a:pt x="136" y="88"/>
                      <a:pt x="168" y="64"/>
                      <a:pt x="240" y="48"/>
                    </a:cubicBezTo>
                    <a:cubicBezTo>
                      <a:pt x="312" y="32"/>
                      <a:pt x="440" y="0"/>
                      <a:pt x="528" y="0"/>
                    </a:cubicBezTo>
                    <a:cubicBezTo>
                      <a:pt x="616" y="0"/>
                      <a:pt x="712" y="32"/>
                      <a:pt x="768" y="48"/>
                    </a:cubicBezTo>
                    <a:cubicBezTo>
                      <a:pt x="824" y="64"/>
                      <a:pt x="844" y="80"/>
                      <a:pt x="864" y="96"/>
                    </a:cubicBezTo>
                  </a:path>
                </a:pathLst>
              </a:custGeom>
              <a:noFill/>
              <a:ln w="12700" cap="flat" cmpd="sng">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87" name="Freeform 89"/>
              <p:cNvSpPr>
                <a:spLocks/>
              </p:cNvSpPr>
              <p:nvPr/>
            </p:nvSpPr>
            <p:spPr bwMode="auto">
              <a:xfrm>
                <a:off x="1707" y="2240"/>
                <a:ext cx="816" cy="104"/>
              </a:xfrm>
              <a:custGeom>
                <a:avLst/>
                <a:gdLst>
                  <a:gd name="T0" fmla="*/ 0 w 816"/>
                  <a:gd name="T1" fmla="*/ 0 h 104"/>
                  <a:gd name="T2" fmla="*/ 96 w 816"/>
                  <a:gd name="T3" fmla="*/ 48 h 104"/>
                  <a:gd name="T4" fmla="*/ 240 w 816"/>
                  <a:gd name="T5" fmla="*/ 96 h 104"/>
                  <a:gd name="T6" fmla="*/ 480 w 816"/>
                  <a:gd name="T7" fmla="*/ 96 h 104"/>
                  <a:gd name="T8" fmla="*/ 672 w 816"/>
                  <a:gd name="T9" fmla="*/ 48 h 104"/>
                  <a:gd name="T10" fmla="*/ 816 w 816"/>
                  <a:gd name="T11" fmla="*/ 0 h 10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16" h="104">
                    <a:moveTo>
                      <a:pt x="0" y="0"/>
                    </a:moveTo>
                    <a:cubicBezTo>
                      <a:pt x="28" y="16"/>
                      <a:pt x="56" y="32"/>
                      <a:pt x="96" y="48"/>
                    </a:cubicBezTo>
                    <a:cubicBezTo>
                      <a:pt x="136" y="64"/>
                      <a:pt x="176" y="88"/>
                      <a:pt x="240" y="96"/>
                    </a:cubicBezTo>
                    <a:cubicBezTo>
                      <a:pt x="304" y="104"/>
                      <a:pt x="408" y="104"/>
                      <a:pt x="480" y="96"/>
                    </a:cubicBezTo>
                    <a:cubicBezTo>
                      <a:pt x="552" y="88"/>
                      <a:pt x="616" y="64"/>
                      <a:pt x="672" y="48"/>
                    </a:cubicBezTo>
                    <a:cubicBezTo>
                      <a:pt x="728" y="32"/>
                      <a:pt x="772" y="16"/>
                      <a:pt x="816" y="0"/>
                    </a:cubicBezTo>
                  </a:path>
                </a:pathLst>
              </a:custGeom>
              <a:noFill/>
              <a:ln w="19050" cap="flat" cmpd="sng">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88" name="Line 90"/>
              <p:cNvSpPr>
                <a:spLocks noChangeShapeType="1"/>
              </p:cNvSpPr>
              <p:nvPr/>
            </p:nvSpPr>
            <p:spPr bwMode="auto">
              <a:xfrm>
                <a:off x="2565" y="2080"/>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89" name="Line 91"/>
              <p:cNvSpPr>
                <a:spLocks noChangeShapeType="1"/>
              </p:cNvSpPr>
              <p:nvPr/>
            </p:nvSpPr>
            <p:spPr bwMode="auto">
              <a:xfrm>
                <a:off x="2180" y="2088"/>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0" name="Line 92"/>
              <p:cNvSpPr>
                <a:spLocks noChangeShapeType="1"/>
              </p:cNvSpPr>
              <p:nvPr/>
            </p:nvSpPr>
            <p:spPr bwMode="auto">
              <a:xfrm>
                <a:off x="2276" y="2088"/>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1" name="Line 93"/>
              <p:cNvSpPr>
                <a:spLocks noChangeShapeType="1"/>
              </p:cNvSpPr>
              <p:nvPr/>
            </p:nvSpPr>
            <p:spPr bwMode="auto">
              <a:xfrm>
                <a:off x="2380" y="2088"/>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2" name="Line 94"/>
              <p:cNvSpPr>
                <a:spLocks noChangeShapeType="1"/>
              </p:cNvSpPr>
              <p:nvPr/>
            </p:nvSpPr>
            <p:spPr bwMode="auto">
              <a:xfrm>
                <a:off x="2476" y="2080"/>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3" name="Line 95"/>
              <p:cNvSpPr>
                <a:spLocks noChangeShapeType="1"/>
              </p:cNvSpPr>
              <p:nvPr/>
            </p:nvSpPr>
            <p:spPr bwMode="auto">
              <a:xfrm>
                <a:off x="1692" y="2088"/>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4" name="Line 96"/>
              <p:cNvSpPr>
                <a:spLocks noChangeShapeType="1"/>
              </p:cNvSpPr>
              <p:nvPr/>
            </p:nvSpPr>
            <p:spPr bwMode="auto">
              <a:xfrm>
                <a:off x="1796" y="2088"/>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5" name="Line 97"/>
              <p:cNvSpPr>
                <a:spLocks noChangeShapeType="1"/>
              </p:cNvSpPr>
              <p:nvPr/>
            </p:nvSpPr>
            <p:spPr bwMode="auto">
              <a:xfrm>
                <a:off x="1900" y="2096"/>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6" name="Line 98"/>
              <p:cNvSpPr>
                <a:spLocks noChangeShapeType="1"/>
              </p:cNvSpPr>
              <p:nvPr/>
            </p:nvSpPr>
            <p:spPr bwMode="auto">
              <a:xfrm>
                <a:off x="1996" y="2088"/>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7" name="Line 99"/>
              <p:cNvSpPr>
                <a:spLocks noChangeShapeType="1"/>
              </p:cNvSpPr>
              <p:nvPr/>
            </p:nvSpPr>
            <p:spPr bwMode="auto">
              <a:xfrm>
                <a:off x="2084" y="2088"/>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8" name="Text Box 100"/>
              <p:cNvSpPr txBox="1">
                <a:spLocks noChangeArrowheads="1"/>
              </p:cNvSpPr>
              <p:nvPr/>
            </p:nvSpPr>
            <p:spPr bwMode="auto">
              <a:xfrm>
                <a:off x="1988" y="1800"/>
                <a:ext cx="1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solidFill>
                      <a:srgbClr val="0000FF"/>
                    </a:solidFill>
                  </a:rPr>
                  <a:t>q</a:t>
                </a:r>
                <a:endParaRPr lang="en-US" altLang="zh-CN" sz="2000" i="1"/>
              </a:p>
            </p:txBody>
          </p:sp>
          <p:sp>
            <p:nvSpPr>
              <p:cNvPr id="99" name="Line 101"/>
              <p:cNvSpPr>
                <a:spLocks noChangeShapeType="1"/>
              </p:cNvSpPr>
              <p:nvPr/>
            </p:nvSpPr>
            <p:spPr bwMode="auto">
              <a:xfrm>
                <a:off x="1700" y="2088"/>
                <a:ext cx="864"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00" name="Line 102"/>
              <p:cNvSpPr>
                <a:spLocks noChangeShapeType="1"/>
              </p:cNvSpPr>
              <p:nvPr/>
            </p:nvSpPr>
            <p:spPr bwMode="auto">
              <a:xfrm>
                <a:off x="1684" y="2232"/>
                <a:ext cx="91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01" name="Line 103"/>
              <p:cNvSpPr>
                <a:spLocks noChangeShapeType="1"/>
              </p:cNvSpPr>
              <p:nvPr/>
            </p:nvSpPr>
            <p:spPr bwMode="auto">
              <a:xfrm flipH="1" flipV="1">
                <a:off x="1476" y="1752"/>
                <a:ext cx="192"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02" name="Line 104"/>
              <p:cNvSpPr>
                <a:spLocks noChangeShapeType="1"/>
              </p:cNvSpPr>
              <p:nvPr/>
            </p:nvSpPr>
            <p:spPr bwMode="auto">
              <a:xfrm flipH="1" flipV="1">
                <a:off x="1686" y="2232"/>
                <a:ext cx="192"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03" name="Freeform 105"/>
              <p:cNvSpPr>
                <a:spLocks/>
              </p:cNvSpPr>
              <p:nvPr/>
            </p:nvSpPr>
            <p:spPr bwMode="auto">
              <a:xfrm>
                <a:off x="1488" y="1809"/>
                <a:ext cx="56" cy="96"/>
              </a:xfrm>
              <a:custGeom>
                <a:avLst/>
                <a:gdLst>
                  <a:gd name="T0" fmla="*/ 56 w 56"/>
                  <a:gd name="T1" fmla="*/ 0 h 96"/>
                  <a:gd name="T2" fmla="*/ 8 w 56"/>
                  <a:gd name="T3" fmla="*/ 48 h 96"/>
                  <a:gd name="T4" fmla="*/ 8 w 56"/>
                  <a:gd name="T5" fmla="*/ 96 h 96"/>
                  <a:gd name="T6" fmla="*/ 0 60000 65536"/>
                  <a:gd name="T7" fmla="*/ 0 60000 65536"/>
                  <a:gd name="T8" fmla="*/ 0 60000 65536"/>
                </a:gdLst>
                <a:ahLst/>
                <a:cxnLst>
                  <a:cxn ang="T6">
                    <a:pos x="T0" y="T1"/>
                  </a:cxn>
                  <a:cxn ang="T7">
                    <a:pos x="T2" y="T3"/>
                  </a:cxn>
                  <a:cxn ang="T8">
                    <a:pos x="T4" y="T5"/>
                  </a:cxn>
                </a:cxnLst>
                <a:rect l="0" t="0" r="r" b="b"/>
                <a:pathLst>
                  <a:path w="56" h="96">
                    <a:moveTo>
                      <a:pt x="56" y="0"/>
                    </a:moveTo>
                    <a:cubicBezTo>
                      <a:pt x="36" y="16"/>
                      <a:pt x="16" y="32"/>
                      <a:pt x="8" y="48"/>
                    </a:cubicBezTo>
                    <a:cubicBezTo>
                      <a:pt x="0" y="64"/>
                      <a:pt x="8" y="88"/>
                      <a:pt x="8" y="96"/>
                    </a:cubicBezTo>
                  </a:path>
                </a:pathLst>
              </a:custGeom>
              <a:noFill/>
              <a:ln w="127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04" name="Freeform 106"/>
              <p:cNvSpPr>
                <a:spLocks/>
              </p:cNvSpPr>
              <p:nvPr/>
            </p:nvSpPr>
            <p:spPr bwMode="auto">
              <a:xfrm rot="10800000">
                <a:off x="1809" y="2232"/>
                <a:ext cx="56" cy="96"/>
              </a:xfrm>
              <a:custGeom>
                <a:avLst/>
                <a:gdLst>
                  <a:gd name="T0" fmla="*/ 56 w 56"/>
                  <a:gd name="T1" fmla="*/ 0 h 96"/>
                  <a:gd name="T2" fmla="*/ 8 w 56"/>
                  <a:gd name="T3" fmla="*/ 48 h 96"/>
                  <a:gd name="T4" fmla="*/ 8 w 56"/>
                  <a:gd name="T5" fmla="*/ 96 h 96"/>
                  <a:gd name="T6" fmla="*/ 0 60000 65536"/>
                  <a:gd name="T7" fmla="*/ 0 60000 65536"/>
                  <a:gd name="T8" fmla="*/ 0 60000 65536"/>
                </a:gdLst>
                <a:ahLst/>
                <a:cxnLst>
                  <a:cxn ang="T6">
                    <a:pos x="T0" y="T1"/>
                  </a:cxn>
                  <a:cxn ang="T7">
                    <a:pos x="T2" y="T3"/>
                  </a:cxn>
                  <a:cxn ang="T8">
                    <a:pos x="T4" y="T5"/>
                  </a:cxn>
                </a:cxnLst>
                <a:rect l="0" t="0" r="r" b="b"/>
                <a:pathLst>
                  <a:path w="56" h="96">
                    <a:moveTo>
                      <a:pt x="56" y="0"/>
                    </a:moveTo>
                    <a:cubicBezTo>
                      <a:pt x="36" y="16"/>
                      <a:pt x="16" y="32"/>
                      <a:pt x="8" y="48"/>
                    </a:cubicBezTo>
                    <a:cubicBezTo>
                      <a:pt x="0" y="64"/>
                      <a:pt x="8" y="88"/>
                      <a:pt x="8" y="96"/>
                    </a:cubicBezTo>
                  </a:path>
                </a:pathLst>
              </a:custGeom>
              <a:noFill/>
              <a:ln w="127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05" name="Text Box 107"/>
              <p:cNvSpPr txBox="1">
                <a:spLocks noChangeArrowheads="1"/>
              </p:cNvSpPr>
              <p:nvPr/>
            </p:nvSpPr>
            <p:spPr bwMode="auto">
              <a:xfrm>
                <a:off x="1284" y="1706"/>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sym typeface="Symbol" pitchFamily="18" charset="2"/>
                  </a:rPr>
                  <a:t>ø</a:t>
                </a:r>
                <a:r>
                  <a:rPr lang="en-US" altLang="zh-CN" sz="1000" i="1">
                    <a:sym typeface="Symbol" pitchFamily="18" charset="2"/>
                  </a:rPr>
                  <a:t>B</a:t>
                </a:r>
                <a:endParaRPr lang="en-US" altLang="zh-CN" sz="2000" i="1"/>
              </a:p>
            </p:txBody>
          </p:sp>
          <p:sp>
            <p:nvSpPr>
              <p:cNvPr id="106" name="Text Box 108"/>
              <p:cNvSpPr txBox="1">
                <a:spLocks noChangeArrowheads="1"/>
              </p:cNvSpPr>
              <p:nvPr/>
            </p:nvSpPr>
            <p:spPr bwMode="auto">
              <a:xfrm>
                <a:off x="1818" y="2132"/>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sym typeface="Symbol" pitchFamily="18" charset="2"/>
                  </a:rPr>
                  <a:t>ø</a:t>
                </a:r>
                <a:r>
                  <a:rPr lang="en-US" altLang="zh-CN" sz="1000" i="1">
                    <a:sym typeface="Symbol" pitchFamily="18" charset="2"/>
                  </a:rPr>
                  <a:t>B</a:t>
                </a:r>
                <a:endParaRPr lang="en-US" altLang="zh-CN" sz="2000" i="1"/>
              </a:p>
            </p:txBody>
          </p:sp>
          <p:sp>
            <p:nvSpPr>
              <p:cNvPr id="107" name="Line 109"/>
              <p:cNvSpPr>
                <a:spLocks noChangeShapeType="1"/>
              </p:cNvSpPr>
              <p:nvPr/>
            </p:nvSpPr>
            <p:spPr bwMode="auto">
              <a:xfrm>
                <a:off x="1656" y="1624"/>
                <a:ext cx="0" cy="144"/>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08" name="Line 110"/>
              <p:cNvSpPr>
                <a:spLocks noChangeShapeType="1"/>
              </p:cNvSpPr>
              <p:nvPr/>
            </p:nvSpPr>
            <p:spPr bwMode="auto">
              <a:xfrm>
                <a:off x="1736" y="1624"/>
                <a:ext cx="0" cy="144"/>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09" name="Text Box 111"/>
              <p:cNvSpPr txBox="1">
                <a:spLocks noChangeArrowheads="1"/>
              </p:cNvSpPr>
              <p:nvPr/>
            </p:nvSpPr>
            <p:spPr bwMode="auto">
              <a:xfrm>
                <a:off x="192" y="1862"/>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t>(b)</a:t>
                </a:r>
              </a:p>
            </p:txBody>
          </p:sp>
        </p:grpSp>
      </p:grpSp>
      <p:grpSp>
        <p:nvGrpSpPr>
          <p:cNvPr id="110" name="Group 353"/>
          <p:cNvGrpSpPr>
            <a:grpSpLocks/>
          </p:cNvGrpSpPr>
          <p:nvPr/>
        </p:nvGrpSpPr>
        <p:grpSpPr bwMode="auto">
          <a:xfrm>
            <a:off x="2378075" y="4011869"/>
            <a:ext cx="4171950" cy="2692400"/>
            <a:chOff x="192" y="2432"/>
            <a:chExt cx="2628" cy="1696"/>
          </a:xfrm>
        </p:grpSpPr>
        <p:sp>
          <p:nvSpPr>
            <p:cNvPr id="111" name="Oval 147"/>
            <p:cNvSpPr>
              <a:spLocks noChangeArrowheads="1"/>
            </p:cNvSpPr>
            <p:nvPr/>
          </p:nvSpPr>
          <p:spPr bwMode="auto">
            <a:xfrm>
              <a:off x="2560" y="3992"/>
              <a:ext cx="48" cy="48"/>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endParaRPr lang="zh-CN" altLang="en-US" sz="2400">
                <a:latin typeface="黑体" pitchFamily="49" charset="-122"/>
                <a:ea typeface="黑体" pitchFamily="49" charset="-122"/>
              </a:endParaRPr>
            </a:p>
          </p:txBody>
        </p:sp>
        <p:sp>
          <p:nvSpPr>
            <p:cNvPr id="112" name="Line 148"/>
            <p:cNvSpPr>
              <a:spLocks noChangeShapeType="1"/>
            </p:cNvSpPr>
            <p:nvPr/>
          </p:nvSpPr>
          <p:spPr bwMode="auto">
            <a:xfrm>
              <a:off x="2584" y="3852"/>
              <a:ext cx="0"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13" name="Line 149"/>
            <p:cNvSpPr>
              <a:spLocks noChangeShapeType="1"/>
            </p:cNvSpPr>
            <p:nvPr/>
          </p:nvSpPr>
          <p:spPr bwMode="auto">
            <a:xfrm>
              <a:off x="2496" y="4032"/>
              <a:ext cx="19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14" name="Line 150"/>
            <p:cNvSpPr>
              <a:spLocks noChangeShapeType="1"/>
            </p:cNvSpPr>
            <p:nvPr/>
          </p:nvSpPr>
          <p:spPr bwMode="auto">
            <a:xfrm flipH="1">
              <a:off x="2480" y="4032"/>
              <a:ext cx="48"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15" name="Line 151"/>
            <p:cNvSpPr>
              <a:spLocks noChangeShapeType="1"/>
            </p:cNvSpPr>
            <p:nvPr/>
          </p:nvSpPr>
          <p:spPr bwMode="auto">
            <a:xfrm flipH="1">
              <a:off x="2544" y="4032"/>
              <a:ext cx="48"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16" name="Line 152"/>
            <p:cNvSpPr>
              <a:spLocks noChangeShapeType="1"/>
            </p:cNvSpPr>
            <p:nvPr/>
          </p:nvSpPr>
          <p:spPr bwMode="auto">
            <a:xfrm flipH="1">
              <a:off x="2608" y="4032"/>
              <a:ext cx="48"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17" name="Oval 153"/>
            <p:cNvSpPr>
              <a:spLocks noChangeArrowheads="1"/>
            </p:cNvSpPr>
            <p:nvPr/>
          </p:nvSpPr>
          <p:spPr bwMode="auto">
            <a:xfrm>
              <a:off x="2560" y="3812"/>
              <a:ext cx="48" cy="48"/>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endParaRPr lang="zh-CN" altLang="en-US" sz="2400">
                <a:latin typeface="黑体" pitchFamily="49" charset="-122"/>
                <a:ea typeface="黑体" pitchFamily="49" charset="-122"/>
              </a:endParaRPr>
            </a:p>
          </p:txBody>
        </p:sp>
        <p:sp>
          <p:nvSpPr>
            <p:cNvPr id="118" name="Text Box 154"/>
            <p:cNvSpPr txBox="1">
              <a:spLocks noChangeArrowheads="1"/>
            </p:cNvSpPr>
            <p:nvPr/>
          </p:nvSpPr>
          <p:spPr bwMode="auto">
            <a:xfrm>
              <a:off x="580" y="3374"/>
              <a:ext cx="1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t>A</a:t>
              </a:r>
            </a:p>
          </p:txBody>
        </p:sp>
        <p:sp>
          <p:nvSpPr>
            <p:cNvPr id="119" name="Text Box 155"/>
            <p:cNvSpPr txBox="1">
              <a:spLocks noChangeArrowheads="1"/>
            </p:cNvSpPr>
            <p:nvPr/>
          </p:nvSpPr>
          <p:spPr bwMode="auto">
            <a:xfrm>
              <a:off x="1512" y="3472"/>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t>B</a:t>
              </a:r>
            </a:p>
          </p:txBody>
        </p:sp>
        <p:sp>
          <p:nvSpPr>
            <p:cNvPr id="120" name="Line 156"/>
            <p:cNvSpPr>
              <a:spLocks noChangeShapeType="1"/>
            </p:cNvSpPr>
            <p:nvPr/>
          </p:nvSpPr>
          <p:spPr bwMode="auto">
            <a:xfrm>
              <a:off x="862" y="3524"/>
              <a:ext cx="81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21" name="Line 157"/>
            <p:cNvSpPr>
              <a:spLocks noChangeShapeType="1"/>
            </p:cNvSpPr>
            <p:nvPr/>
          </p:nvSpPr>
          <p:spPr bwMode="auto">
            <a:xfrm>
              <a:off x="856" y="3416"/>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22" name="Line 158"/>
            <p:cNvSpPr>
              <a:spLocks noChangeShapeType="1"/>
            </p:cNvSpPr>
            <p:nvPr/>
          </p:nvSpPr>
          <p:spPr bwMode="auto">
            <a:xfrm flipH="1">
              <a:off x="760" y="3416"/>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23" name="Line 159"/>
            <p:cNvSpPr>
              <a:spLocks noChangeShapeType="1"/>
            </p:cNvSpPr>
            <p:nvPr/>
          </p:nvSpPr>
          <p:spPr bwMode="auto">
            <a:xfrm flipH="1">
              <a:off x="760" y="3544"/>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24" name="Line 160"/>
            <p:cNvSpPr>
              <a:spLocks noChangeShapeType="1"/>
            </p:cNvSpPr>
            <p:nvPr/>
          </p:nvSpPr>
          <p:spPr bwMode="auto">
            <a:xfrm flipH="1">
              <a:off x="760" y="3608"/>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25" name="Line 161"/>
            <p:cNvSpPr>
              <a:spLocks noChangeShapeType="1"/>
            </p:cNvSpPr>
            <p:nvPr/>
          </p:nvSpPr>
          <p:spPr bwMode="auto">
            <a:xfrm flipH="1">
              <a:off x="760" y="3488"/>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26" name="Line 162"/>
            <p:cNvSpPr>
              <a:spLocks noChangeShapeType="1"/>
            </p:cNvSpPr>
            <p:nvPr/>
          </p:nvSpPr>
          <p:spPr bwMode="auto">
            <a:xfrm>
              <a:off x="1690" y="3416"/>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27" name="Line 164"/>
            <p:cNvSpPr>
              <a:spLocks noChangeShapeType="1"/>
            </p:cNvSpPr>
            <p:nvPr/>
          </p:nvSpPr>
          <p:spPr bwMode="auto">
            <a:xfrm flipH="1">
              <a:off x="1690" y="3532"/>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28" name="Line 165"/>
            <p:cNvSpPr>
              <a:spLocks noChangeShapeType="1"/>
            </p:cNvSpPr>
            <p:nvPr/>
          </p:nvSpPr>
          <p:spPr bwMode="auto">
            <a:xfrm flipH="1">
              <a:off x="1690" y="3596"/>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29" name="Line 166"/>
            <p:cNvSpPr>
              <a:spLocks noChangeShapeType="1"/>
            </p:cNvSpPr>
            <p:nvPr/>
          </p:nvSpPr>
          <p:spPr bwMode="auto">
            <a:xfrm flipH="1">
              <a:off x="1690" y="3476"/>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30" name="Line 167"/>
            <p:cNvSpPr>
              <a:spLocks noChangeShapeType="1"/>
            </p:cNvSpPr>
            <p:nvPr/>
          </p:nvSpPr>
          <p:spPr bwMode="auto">
            <a:xfrm>
              <a:off x="1696" y="3744"/>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31" name="Line 168"/>
            <p:cNvSpPr>
              <a:spLocks noChangeShapeType="1"/>
            </p:cNvSpPr>
            <p:nvPr/>
          </p:nvSpPr>
          <p:spPr bwMode="auto">
            <a:xfrm flipH="1">
              <a:off x="1600" y="3744"/>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32" name="Line 169"/>
            <p:cNvSpPr>
              <a:spLocks noChangeShapeType="1"/>
            </p:cNvSpPr>
            <p:nvPr/>
          </p:nvSpPr>
          <p:spPr bwMode="auto">
            <a:xfrm flipH="1">
              <a:off x="1600" y="3872"/>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33" name="Line 170"/>
            <p:cNvSpPr>
              <a:spLocks noChangeShapeType="1"/>
            </p:cNvSpPr>
            <p:nvPr/>
          </p:nvSpPr>
          <p:spPr bwMode="auto">
            <a:xfrm flipH="1">
              <a:off x="1600" y="3936"/>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34" name="Line 171"/>
            <p:cNvSpPr>
              <a:spLocks noChangeShapeType="1"/>
            </p:cNvSpPr>
            <p:nvPr/>
          </p:nvSpPr>
          <p:spPr bwMode="auto">
            <a:xfrm flipH="1">
              <a:off x="1600" y="3816"/>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35" name="Line 172"/>
            <p:cNvSpPr>
              <a:spLocks noChangeShapeType="1"/>
            </p:cNvSpPr>
            <p:nvPr/>
          </p:nvSpPr>
          <p:spPr bwMode="auto">
            <a:xfrm>
              <a:off x="2569" y="3696"/>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36" name="Line 173"/>
            <p:cNvSpPr>
              <a:spLocks noChangeShapeType="1"/>
            </p:cNvSpPr>
            <p:nvPr/>
          </p:nvSpPr>
          <p:spPr bwMode="auto">
            <a:xfrm>
              <a:off x="2184" y="3704"/>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37" name="Line 174"/>
            <p:cNvSpPr>
              <a:spLocks noChangeShapeType="1"/>
            </p:cNvSpPr>
            <p:nvPr/>
          </p:nvSpPr>
          <p:spPr bwMode="auto">
            <a:xfrm>
              <a:off x="2280" y="3704"/>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38" name="Line 175"/>
            <p:cNvSpPr>
              <a:spLocks noChangeShapeType="1"/>
            </p:cNvSpPr>
            <p:nvPr/>
          </p:nvSpPr>
          <p:spPr bwMode="auto">
            <a:xfrm>
              <a:off x="2384" y="3704"/>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39" name="Line 176"/>
            <p:cNvSpPr>
              <a:spLocks noChangeShapeType="1"/>
            </p:cNvSpPr>
            <p:nvPr/>
          </p:nvSpPr>
          <p:spPr bwMode="auto">
            <a:xfrm>
              <a:off x="2480" y="3696"/>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40" name="Line 177"/>
            <p:cNvSpPr>
              <a:spLocks noChangeShapeType="1"/>
            </p:cNvSpPr>
            <p:nvPr/>
          </p:nvSpPr>
          <p:spPr bwMode="auto">
            <a:xfrm>
              <a:off x="1696" y="3704"/>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41" name="Line 178"/>
            <p:cNvSpPr>
              <a:spLocks noChangeShapeType="1"/>
            </p:cNvSpPr>
            <p:nvPr/>
          </p:nvSpPr>
          <p:spPr bwMode="auto">
            <a:xfrm>
              <a:off x="1800" y="3704"/>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42" name="Line 179"/>
            <p:cNvSpPr>
              <a:spLocks noChangeShapeType="1"/>
            </p:cNvSpPr>
            <p:nvPr/>
          </p:nvSpPr>
          <p:spPr bwMode="auto">
            <a:xfrm>
              <a:off x="1904" y="3712"/>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43" name="Line 180"/>
            <p:cNvSpPr>
              <a:spLocks noChangeShapeType="1"/>
            </p:cNvSpPr>
            <p:nvPr/>
          </p:nvSpPr>
          <p:spPr bwMode="auto">
            <a:xfrm>
              <a:off x="2000" y="3704"/>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44" name="Line 181"/>
            <p:cNvSpPr>
              <a:spLocks noChangeShapeType="1"/>
            </p:cNvSpPr>
            <p:nvPr/>
          </p:nvSpPr>
          <p:spPr bwMode="auto">
            <a:xfrm>
              <a:off x="2088" y="3704"/>
              <a:ext cx="0" cy="144"/>
            </a:xfrm>
            <a:prstGeom prst="line">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45" name="Text Box 182"/>
            <p:cNvSpPr txBox="1">
              <a:spLocks noChangeArrowheads="1"/>
            </p:cNvSpPr>
            <p:nvPr/>
          </p:nvSpPr>
          <p:spPr bwMode="auto">
            <a:xfrm>
              <a:off x="1992" y="3416"/>
              <a:ext cx="1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solidFill>
                    <a:srgbClr val="0000FF"/>
                  </a:solidFill>
                </a:rPr>
                <a:t>q</a:t>
              </a:r>
              <a:endParaRPr lang="en-US" altLang="zh-CN" sz="2000" i="1"/>
            </a:p>
          </p:txBody>
        </p:sp>
        <p:sp>
          <p:nvSpPr>
            <p:cNvPr id="146" name="Line 183"/>
            <p:cNvSpPr>
              <a:spLocks noChangeShapeType="1"/>
            </p:cNvSpPr>
            <p:nvPr/>
          </p:nvSpPr>
          <p:spPr bwMode="auto">
            <a:xfrm>
              <a:off x="1704" y="3704"/>
              <a:ext cx="864"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47" name="Line 184"/>
            <p:cNvSpPr>
              <a:spLocks noChangeShapeType="1"/>
            </p:cNvSpPr>
            <p:nvPr/>
          </p:nvSpPr>
          <p:spPr bwMode="auto">
            <a:xfrm>
              <a:off x="1688" y="3848"/>
              <a:ext cx="91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48" name="Text Box 185"/>
            <p:cNvSpPr txBox="1">
              <a:spLocks noChangeArrowheads="1"/>
            </p:cNvSpPr>
            <p:nvPr/>
          </p:nvSpPr>
          <p:spPr bwMode="auto">
            <a:xfrm>
              <a:off x="2576" y="371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t>C</a:t>
              </a:r>
            </a:p>
          </p:txBody>
        </p:sp>
        <p:sp>
          <p:nvSpPr>
            <p:cNvPr id="149" name="Text Box 190"/>
            <p:cNvSpPr txBox="1">
              <a:spLocks noChangeArrowheads="1"/>
            </p:cNvSpPr>
            <p:nvPr/>
          </p:nvSpPr>
          <p:spPr bwMode="auto">
            <a:xfrm>
              <a:off x="192" y="3390"/>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t>(d)</a:t>
              </a:r>
            </a:p>
          </p:txBody>
        </p:sp>
        <p:grpSp>
          <p:nvGrpSpPr>
            <p:cNvPr id="150" name="Group 352"/>
            <p:cNvGrpSpPr>
              <a:grpSpLocks/>
            </p:cNvGrpSpPr>
            <p:nvPr/>
          </p:nvGrpSpPr>
          <p:grpSpPr bwMode="auto">
            <a:xfrm>
              <a:off x="192" y="2432"/>
              <a:ext cx="2628" cy="1020"/>
              <a:chOff x="192" y="2432"/>
              <a:chExt cx="2628" cy="1020"/>
            </a:xfrm>
          </p:grpSpPr>
          <p:sp>
            <p:nvSpPr>
              <p:cNvPr id="151" name="Oval 113"/>
              <p:cNvSpPr>
                <a:spLocks noChangeArrowheads="1"/>
              </p:cNvSpPr>
              <p:nvPr/>
            </p:nvSpPr>
            <p:spPr bwMode="auto">
              <a:xfrm>
                <a:off x="2564" y="3192"/>
                <a:ext cx="48" cy="48"/>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endParaRPr lang="zh-CN" altLang="en-US" sz="2400">
                  <a:latin typeface="黑体" pitchFamily="49" charset="-122"/>
                  <a:ea typeface="黑体" pitchFamily="49" charset="-122"/>
                </a:endParaRPr>
              </a:p>
            </p:txBody>
          </p:sp>
          <p:sp>
            <p:nvSpPr>
              <p:cNvPr id="152" name="Line 114"/>
              <p:cNvSpPr>
                <a:spLocks noChangeShapeType="1"/>
              </p:cNvSpPr>
              <p:nvPr/>
            </p:nvSpPr>
            <p:spPr bwMode="auto">
              <a:xfrm>
                <a:off x="2588" y="3052"/>
                <a:ext cx="0"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53" name="Line 115"/>
              <p:cNvSpPr>
                <a:spLocks noChangeShapeType="1"/>
              </p:cNvSpPr>
              <p:nvPr/>
            </p:nvSpPr>
            <p:spPr bwMode="auto">
              <a:xfrm>
                <a:off x="2500" y="3232"/>
                <a:ext cx="19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54" name="Line 116"/>
              <p:cNvSpPr>
                <a:spLocks noChangeShapeType="1"/>
              </p:cNvSpPr>
              <p:nvPr/>
            </p:nvSpPr>
            <p:spPr bwMode="auto">
              <a:xfrm flipH="1">
                <a:off x="2484" y="3232"/>
                <a:ext cx="48"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55" name="Line 117"/>
              <p:cNvSpPr>
                <a:spLocks noChangeShapeType="1"/>
              </p:cNvSpPr>
              <p:nvPr/>
            </p:nvSpPr>
            <p:spPr bwMode="auto">
              <a:xfrm flipH="1">
                <a:off x="2548" y="3232"/>
                <a:ext cx="48"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56" name="Line 118"/>
              <p:cNvSpPr>
                <a:spLocks noChangeShapeType="1"/>
              </p:cNvSpPr>
              <p:nvPr/>
            </p:nvSpPr>
            <p:spPr bwMode="auto">
              <a:xfrm flipH="1">
                <a:off x="2612" y="3232"/>
                <a:ext cx="48"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57" name="Oval 119"/>
              <p:cNvSpPr>
                <a:spLocks noChangeArrowheads="1"/>
              </p:cNvSpPr>
              <p:nvPr/>
            </p:nvSpPr>
            <p:spPr bwMode="auto">
              <a:xfrm>
                <a:off x="2564" y="3012"/>
                <a:ext cx="48" cy="48"/>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endParaRPr lang="zh-CN" altLang="en-US" sz="2400">
                  <a:latin typeface="黑体" pitchFamily="49" charset="-122"/>
                  <a:ea typeface="黑体" pitchFamily="49" charset="-122"/>
                </a:endParaRPr>
              </a:p>
            </p:txBody>
          </p:sp>
          <p:sp>
            <p:nvSpPr>
              <p:cNvPr id="158" name="Text Box 120"/>
              <p:cNvSpPr txBox="1">
                <a:spLocks noChangeArrowheads="1"/>
              </p:cNvSpPr>
              <p:nvPr/>
            </p:nvSpPr>
            <p:spPr bwMode="auto">
              <a:xfrm>
                <a:off x="584" y="2574"/>
                <a:ext cx="1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t>A</a:t>
                </a:r>
              </a:p>
            </p:txBody>
          </p:sp>
          <p:sp>
            <p:nvSpPr>
              <p:cNvPr id="159" name="Text Box 121"/>
              <p:cNvSpPr txBox="1">
                <a:spLocks noChangeArrowheads="1"/>
              </p:cNvSpPr>
              <p:nvPr/>
            </p:nvSpPr>
            <p:spPr bwMode="auto">
              <a:xfrm>
                <a:off x="1520" y="2672"/>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t>B</a:t>
                </a:r>
              </a:p>
            </p:txBody>
          </p:sp>
          <p:sp>
            <p:nvSpPr>
              <p:cNvPr id="160" name="Line 122"/>
              <p:cNvSpPr>
                <a:spLocks noChangeShapeType="1"/>
              </p:cNvSpPr>
              <p:nvPr/>
            </p:nvSpPr>
            <p:spPr bwMode="auto">
              <a:xfrm>
                <a:off x="866" y="2724"/>
                <a:ext cx="81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61" name="Line 123"/>
              <p:cNvSpPr>
                <a:spLocks noChangeShapeType="1"/>
              </p:cNvSpPr>
              <p:nvPr/>
            </p:nvSpPr>
            <p:spPr bwMode="auto">
              <a:xfrm>
                <a:off x="860" y="2616"/>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62" name="Line 124"/>
              <p:cNvSpPr>
                <a:spLocks noChangeShapeType="1"/>
              </p:cNvSpPr>
              <p:nvPr/>
            </p:nvSpPr>
            <p:spPr bwMode="auto">
              <a:xfrm flipH="1">
                <a:off x="764" y="2616"/>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63" name="Line 125"/>
              <p:cNvSpPr>
                <a:spLocks noChangeShapeType="1"/>
              </p:cNvSpPr>
              <p:nvPr/>
            </p:nvSpPr>
            <p:spPr bwMode="auto">
              <a:xfrm flipH="1">
                <a:off x="764" y="2744"/>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64" name="Line 126"/>
              <p:cNvSpPr>
                <a:spLocks noChangeShapeType="1"/>
              </p:cNvSpPr>
              <p:nvPr/>
            </p:nvSpPr>
            <p:spPr bwMode="auto">
              <a:xfrm flipH="1">
                <a:off x="764" y="2808"/>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65" name="Line 127"/>
              <p:cNvSpPr>
                <a:spLocks noChangeShapeType="1"/>
              </p:cNvSpPr>
              <p:nvPr/>
            </p:nvSpPr>
            <p:spPr bwMode="auto">
              <a:xfrm flipH="1">
                <a:off x="764" y="2688"/>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66" name="Line 128"/>
              <p:cNvSpPr>
                <a:spLocks noChangeShapeType="1"/>
              </p:cNvSpPr>
              <p:nvPr/>
            </p:nvSpPr>
            <p:spPr bwMode="auto">
              <a:xfrm>
                <a:off x="1694" y="2616"/>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67" name="Line 129"/>
              <p:cNvSpPr>
                <a:spLocks noChangeShapeType="1"/>
              </p:cNvSpPr>
              <p:nvPr/>
            </p:nvSpPr>
            <p:spPr bwMode="auto">
              <a:xfrm flipH="1">
                <a:off x="1694" y="2604"/>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68" name="Line 130"/>
              <p:cNvSpPr>
                <a:spLocks noChangeShapeType="1"/>
              </p:cNvSpPr>
              <p:nvPr/>
            </p:nvSpPr>
            <p:spPr bwMode="auto">
              <a:xfrm flipH="1">
                <a:off x="1694" y="2732"/>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69" name="Line 131"/>
              <p:cNvSpPr>
                <a:spLocks noChangeShapeType="1"/>
              </p:cNvSpPr>
              <p:nvPr/>
            </p:nvSpPr>
            <p:spPr bwMode="auto">
              <a:xfrm flipH="1">
                <a:off x="1694" y="2796"/>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70" name="Line 132"/>
              <p:cNvSpPr>
                <a:spLocks noChangeShapeType="1"/>
              </p:cNvSpPr>
              <p:nvPr/>
            </p:nvSpPr>
            <p:spPr bwMode="auto">
              <a:xfrm flipH="1">
                <a:off x="1694" y="2676"/>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71" name="Line 133"/>
              <p:cNvSpPr>
                <a:spLocks noChangeShapeType="1"/>
              </p:cNvSpPr>
              <p:nvPr/>
            </p:nvSpPr>
            <p:spPr bwMode="auto">
              <a:xfrm>
                <a:off x="1700" y="2944"/>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72" name="Line 134"/>
              <p:cNvSpPr>
                <a:spLocks noChangeShapeType="1"/>
              </p:cNvSpPr>
              <p:nvPr/>
            </p:nvSpPr>
            <p:spPr bwMode="auto">
              <a:xfrm flipH="1">
                <a:off x="1604" y="2944"/>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73" name="Line 135"/>
              <p:cNvSpPr>
                <a:spLocks noChangeShapeType="1"/>
              </p:cNvSpPr>
              <p:nvPr/>
            </p:nvSpPr>
            <p:spPr bwMode="auto">
              <a:xfrm flipH="1">
                <a:off x="1604" y="3072"/>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74" name="Line 136"/>
              <p:cNvSpPr>
                <a:spLocks noChangeShapeType="1"/>
              </p:cNvSpPr>
              <p:nvPr/>
            </p:nvSpPr>
            <p:spPr bwMode="auto">
              <a:xfrm flipH="1">
                <a:off x="1604" y="3136"/>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75" name="Line 137"/>
              <p:cNvSpPr>
                <a:spLocks noChangeShapeType="1"/>
              </p:cNvSpPr>
              <p:nvPr/>
            </p:nvSpPr>
            <p:spPr bwMode="auto">
              <a:xfrm flipH="1">
                <a:off x="1604" y="3016"/>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76" name="Freeform 138"/>
              <p:cNvSpPr>
                <a:spLocks/>
              </p:cNvSpPr>
              <p:nvPr/>
            </p:nvSpPr>
            <p:spPr bwMode="auto">
              <a:xfrm>
                <a:off x="872" y="2625"/>
                <a:ext cx="816" cy="96"/>
              </a:xfrm>
              <a:custGeom>
                <a:avLst/>
                <a:gdLst>
                  <a:gd name="T0" fmla="*/ 0 w 864"/>
                  <a:gd name="T1" fmla="*/ 82 h 104"/>
                  <a:gd name="T2" fmla="*/ 86 w 864"/>
                  <a:gd name="T3" fmla="*/ 82 h 104"/>
                  <a:gd name="T4" fmla="*/ 214 w 864"/>
                  <a:gd name="T5" fmla="*/ 41 h 104"/>
                  <a:gd name="T6" fmla="*/ 471 w 864"/>
                  <a:gd name="T7" fmla="*/ 0 h 104"/>
                  <a:gd name="T8" fmla="*/ 685 w 864"/>
                  <a:gd name="T9" fmla="*/ 41 h 104"/>
                  <a:gd name="T10" fmla="*/ 771 w 864"/>
                  <a:gd name="T11" fmla="*/ 82 h 10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4" h="104">
                    <a:moveTo>
                      <a:pt x="0" y="96"/>
                    </a:moveTo>
                    <a:cubicBezTo>
                      <a:pt x="28" y="100"/>
                      <a:pt x="56" y="104"/>
                      <a:pt x="96" y="96"/>
                    </a:cubicBezTo>
                    <a:cubicBezTo>
                      <a:pt x="136" y="88"/>
                      <a:pt x="168" y="64"/>
                      <a:pt x="240" y="48"/>
                    </a:cubicBezTo>
                    <a:cubicBezTo>
                      <a:pt x="312" y="32"/>
                      <a:pt x="440" y="0"/>
                      <a:pt x="528" y="0"/>
                    </a:cubicBezTo>
                    <a:cubicBezTo>
                      <a:pt x="616" y="0"/>
                      <a:pt x="712" y="32"/>
                      <a:pt x="768" y="48"/>
                    </a:cubicBezTo>
                    <a:cubicBezTo>
                      <a:pt x="824" y="64"/>
                      <a:pt x="844" y="80"/>
                      <a:pt x="864" y="96"/>
                    </a:cubicBezTo>
                  </a:path>
                </a:pathLst>
              </a:custGeom>
              <a:noFill/>
              <a:ln w="12700" cap="flat" cmpd="sng">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177" name="Freeform 139"/>
              <p:cNvSpPr>
                <a:spLocks/>
              </p:cNvSpPr>
              <p:nvPr/>
            </p:nvSpPr>
            <p:spPr bwMode="auto">
              <a:xfrm>
                <a:off x="1715" y="3056"/>
                <a:ext cx="816" cy="104"/>
              </a:xfrm>
              <a:custGeom>
                <a:avLst/>
                <a:gdLst>
                  <a:gd name="T0" fmla="*/ 0 w 816"/>
                  <a:gd name="T1" fmla="*/ 0 h 104"/>
                  <a:gd name="T2" fmla="*/ 96 w 816"/>
                  <a:gd name="T3" fmla="*/ 48 h 104"/>
                  <a:gd name="T4" fmla="*/ 240 w 816"/>
                  <a:gd name="T5" fmla="*/ 96 h 104"/>
                  <a:gd name="T6" fmla="*/ 480 w 816"/>
                  <a:gd name="T7" fmla="*/ 96 h 104"/>
                  <a:gd name="T8" fmla="*/ 672 w 816"/>
                  <a:gd name="T9" fmla="*/ 48 h 104"/>
                  <a:gd name="T10" fmla="*/ 816 w 816"/>
                  <a:gd name="T11" fmla="*/ 0 h 10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16" h="104">
                    <a:moveTo>
                      <a:pt x="0" y="0"/>
                    </a:moveTo>
                    <a:cubicBezTo>
                      <a:pt x="28" y="16"/>
                      <a:pt x="56" y="32"/>
                      <a:pt x="96" y="48"/>
                    </a:cubicBezTo>
                    <a:cubicBezTo>
                      <a:pt x="136" y="64"/>
                      <a:pt x="176" y="88"/>
                      <a:pt x="240" y="96"/>
                    </a:cubicBezTo>
                    <a:cubicBezTo>
                      <a:pt x="304" y="104"/>
                      <a:pt x="408" y="104"/>
                      <a:pt x="480" y="96"/>
                    </a:cubicBezTo>
                    <a:cubicBezTo>
                      <a:pt x="552" y="88"/>
                      <a:pt x="616" y="64"/>
                      <a:pt x="672" y="48"/>
                    </a:cubicBezTo>
                    <a:cubicBezTo>
                      <a:pt x="728" y="32"/>
                      <a:pt x="772" y="16"/>
                      <a:pt x="816" y="0"/>
                    </a:cubicBezTo>
                  </a:path>
                </a:pathLst>
              </a:custGeom>
              <a:noFill/>
              <a:ln w="19050" cap="flat" cmpd="sng">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78" name="Line 140"/>
              <p:cNvSpPr>
                <a:spLocks noChangeShapeType="1"/>
              </p:cNvSpPr>
              <p:nvPr/>
            </p:nvSpPr>
            <p:spPr bwMode="auto">
              <a:xfrm>
                <a:off x="1692" y="3048"/>
                <a:ext cx="91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79" name="Text Box 141"/>
              <p:cNvSpPr txBox="1">
                <a:spLocks noChangeArrowheads="1"/>
              </p:cNvSpPr>
              <p:nvPr/>
            </p:nvSpPr>
            <p:spPr bwMode="auto">
              <a:xfrm>
                <a:off x="2580" y="291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t>C</a:t>
                </a:r>
              </a:p>
            </p:txBody>
          </p:sp>
          <p:sp>
            <p:nvSpPr>
              <p:cNvPr id="180" name="Line 142"/>
              <p:cNvSpPr>
                <a:spLocks noChangeShapeType="1"/>
              </p:cNvSpPr>
              <p:nvPr/>
            </p:nvSpPr>
            <p:spPr bwMode="auto">
              <a:xfrm flipH="1" flipV="1">
                <a:off x="1484" y="2568"/>
                <a:ext cx="192"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81" name="Line 143"/>
              <p:cNvSpPr>
                <a:spLocks noChangeShapeType="1"/>
              </p:cNvSpPr>
              <p:nvPr/>
            </p:nvSpPr>
            <p:spPr bwMode="auto">
              <a:xfrm flipH="1" flipV="1">
                <a:off x="1694" y="3048"/>
                <a:ext cx="192"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82" name="Freeform 144"/>
              <p:cNvSpPr>
                <a:spLocks/>
              </p:cNvSpPr>
              <p:nvPr/>
            </p:nvSpPr>
            <p:spPr bwMode="auto">
              <a:xfrm>
                <a:off x="1496" y="2625"/>
                <a:ext cx="56" cy="96"/>
              </a:xfrm>
              <a:custGeom>
                <a:avLst/>
                <a:gdLst>
                  <a:gd name="T0" fmla="*/ 56 w 56"/>
                  <a:gd name="T1" fmla="*/ 0 h 96"/>
                  <a:gd name="T2" fmla="*/ 8 w 56"/>
                  <a:gd name="T3" fmla="*/ 48 h 96"/>
                  <a:gd name="T4" fmla="*/ 8 w 56"/>
                  <a:gd name="T5" fmla="*/ 96 h 96"/>
                  <a:gd name="T6" fmla="*/ 0 60000 65536"/>
                  <a:gd name="T7" fmla="*/ 0 60000 65536"/>
                  <a:gd name="T8" fmla="*/ 0 60000 65536"/>
                </a:gdLst>
                <a:ahLst/>
                <a:cxnLst>
                  <a:cxn ang="T6">
                    <a:pos x="T0" y="T1"/>
                  </a:cxn>
                  <a:cxn ang="T7">
                    <a:pos x="T2" y="T3"/>
                  </a:cxn>
                  <a:cxn ang="T8">
                    <a:pos x="T4" y="T5"/>
                  </a:cxn>
                </a:cxnLst>
                <a:rect l="0" t="0" r="r" b="b"/>
                <a:pathLst>
                  <a:path w="56" h="96">
                    <a:moveTo>
                      <a:pt x="56" y="0"/>
                    </a:moveTo>
                    <a:cubicBezTo>
                      <a:pt x="36" y="16"/>
                      <a:pt x="16" y="32"/>
                      <a:pt x="8" y="48"/>
                    </a:cubicBezTo>
                    <a:cubicBezTo>
                      <a:pt x="0" y="64"/>
                      <a:pt x="8" y="88"/>
                      <a:pt x="8" y="96"/>
                    </a:cubicBezTo>
                  </a:path>
                </a:pathLst>
              </a:custGeom>
              <a:noFill/>
              <a:ln w="127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83" name="Freeform 145"/>
              <p:cNvSpPr>
                <a:spLocks/>
              </p:cNvSpPr>
              <p:nvPr/>
            </p:nvSpPr>
            <p:spPr bwMode="auto">
              <a:xfrm rot="10800000">
                <a:off x="1817" y="3048"/>
                <a:ext cx="56" cy="96"/>
              </a:xfrm>
              <a:custGeom>
                <a:avLst/>
                <a:gdLst>
                  <a:gd name="T0" fmla="*/ 56 w 56"/>
                  <a:gd name="T1" fmla="*/ 0 h 96"/>
                  <a:gd name="T2" fmla="*/ 8 w 56"/>
                  <a:gd name="T3" fmla="*/ 48 h 96"/>
                  <a:gd name="T4" fmla="*/ 8 w 56"/>
                  <a:gd name="T5" fmla="*/ 96 h 96"/>
                  <a:gd name="T6" fmla="*/ 0 60000 65536"/>
                  <a:gd name="T7" fmla="*/ 0 60000 65536"/>
                  <a:gd name="T8" fmla="*/ 0 60000 65536"/>
                </a:gdLst>
                <a:ahLst/>
                <a:cxnLst>
                  <a:cxn ang="T6">
                    <a:pos x="T0" y="T1"/>
                  </a:cxn>
                  <a:cxn ang="T7">
                    <a:pos x="T2" y="T3"/>
                  </a:cxn>
                  <a:cxn ang="T8">
                    <a:pos x="T4" y="T5"/>
                  </a:cxn>
                </a:cxnLst>
                <a:rect l="0" t="0" r="r" b="b"/>
                <a:pathLst>
                  <a:path w="56" h="96">
                    <a:moveTo>
                      <a:pt x="56" y="0"/>
                    </a:moveTo>
                    <a:cubicBezTo>
                      <a:pt x="36" y="16"/>
                      <a:pt x="16" y="32"/>
                      <a:pt x="8" y="48"/>
                    </a:cubicBezTo>
                    <a:cubicBezTo>
                      <a:pt x="0" y="64"/>
                      <a:pt x="8" y="88"/>
                      <a:pt x="8" y="96"/>
                    </a:cubicBezTo>
                  </a:path>
                </a:pathLst>
              </a:custGeom>
              <a:noFill/>
              <a:ln w="127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84" name="Text Box 146"/>
              <p:cNvSpPr txBox="1">
                <a:spLocks noChangeArrowheads="1"/>
              </p:cNvSpPr>
              <p:nvPr/>
            </p:nvSpPr>
            <p:spPr bwMode="auto">
              <a:xfrm>
                <a:off x="1826" y="2948"/>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sym typeface="Symbol" pitchFamily="18" charset="2"/>
                  </a:rPr>
                  <a:t>ø</a:t>
                </a:r>
                <a:r>
                  <a:rPr lang="en-US" altLang="zh-CN" sz="1000" i="1">
                    <a:sym typeface="Symbol" pitchFamily="18" charset="2"/>
                  </a:rPr>
                  <a:t>B</a:t>
                </a:r>
                <a:endParaRPr lang="en-US" altLang="zh-CN" sz="2000" i="1"/>
              </a:p>
            </p:txBody>
          </p:sp>
          <p:sp>
            <p:nvSpPr>
              <p:cNvPr id="185" name="Line 163"/>
              <p:cNvSpPr>
                <a:spLocks noChangeShapeType="1"/>
              </p:cNvSpPr>
              <p:nvPr/>
            </p:nvSpPr>
            <p:spPr bwMode="auto">
              <a:xfrm flipH="1">
                <a:off x="1690" y="3404"/>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86" name="Line 186"/>
              <p:cNvSpPr>
                <a:spLocks noChangeShapeType="1"/>
              </p:cNvSpPr>
              <p:nvPr/>
            </p:nvSpPr>
            <p:spPr bwMode="auto">
              <a:xfrm>
                <a:off x="1688" y="3216"/>
                <a:ext cx="0" cy="144"/>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87" name="Line 187"/>
              <p:cNvSpPr>
                <a:spLocks noChangeShapeType="1"/>
              </p:cNvSpPr>
              <p:nvPr/>
            </p:nvSpPr>
            <p:spPr bwMode="auto">
              <a:xfrm>
                <a:off x="1592" y="3288"/>
                <a:ext cx="19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88" name="Line 188"/>
              <p:cNvSpPr>
                <a:spLocks noChangeShapeType="1"/>
              </p:cNvSpPr>
              <p:nvPr/>
            </p:nvSpPr>
            <p:spPr bwMode="auto">
              <a:xfrm>
                <a:off x="1664" y="2432"/>
                <a:ext cx="0" cy="144"/>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89" name="Line 189"/>
              <p:cNvSpPr>
                <a:spLocks noChangeShapeType="1"/>
              </p:cNvSpPr>
              <p:nvPr/>
            </p:nvSpPr>
            <p:spPr bwMode="auto">
              <a:xfrm>
                <a:off x="1736" y="2432"/>
                <a:ext cx="0" cy="144"/>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90" name="Text Box 191"/>
              <p:cNvSpPr txBox="1">
                <a:spLocks noChangeArrowheads="1"/>
              </p:cNvSpPr>
              <p:nvPr/>
            </p:nvSpPr>
            <p:spPr bwMode="auto">
              <a:xfrm>
                <a:off x="192" y="2574"/>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t>(c)</a:t>
                </a:r>
              </a:p>
            </p:txBody>
          </p:sp>
          <p:sp>
            <p:nvSpPr>
              <p:cNvPr id="191" name="Text Box 351"/>
              <p:cNvSpPr txBox="1">
                <a:spLocks noChangeArrowheads="1"/>
              </p:cNvSpPr>
              <p:nvPr/>
            </p:nvSpPr>
            <p:spPr bwMode="auto">
              <a:xfrm>
                <a:off x="1274" y="2496"/>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i="1">
                    <a:sym typeface="Symbol" pitchFamily="18" charset="2"/>
                  </a:rPr>
                  <a:t>ø</a:t>
                </a:r>
                <a:r>
                  <a:rPr lang="en-US" altLang="zh-CN" sz="1000" i="1">
                    <a:sym typeface="Symbol" pitchFamily="18" charset="2"/>
                  </a:rPr>
                  <a:t>B</a:t>
                </a:r>
                <a:endParaRPr lang="en-US" altLang="zh-CN" sz="2000" i="1"/>
              </a:p>
            </p:txBody>
          </p:sp>
        </p:grpSp>
      </p:grpSp>
    </p:spTree>
    <p:extLst>
      <p:ext uri="{BB962C8B-B14F-4D97-AF65-F5344CB8AC3E}">
        <p14:creationId xmlns:p14="http://schemas.microsoft.com/office/powerpoint/2010/main" val="2648183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110"/>
                                        </p:tgtEl>
                                        <p:attrNameLst>
                                          <p:attrName>style.visibility</p:attrName>
                                        </p:attrNameLst>
                                      </p:cBhvr>
                                      <p:to>
                                        <p:strVal val="visible"/>
                                      </p:to>
                                    </p:set>
                                    <p:animEffect transition="in" filter="box(in)">
                                      <p:cBhvr>
                                        <p:cTn id="15"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7-4 </a:t>
            </a:r>
            <a:r>
              <a:rPr lang="zh-CN" altLang="en-US" dirty="0"/>
              <a:t>位移法解有侧移刚架</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67544" y="1340768"/>
            <a:ext cx="8280920" cy="492443"/>
          </a:xfrm>
          <a:prstGeom prst="rect">
            <a:avLst/>
          </a:prstGeom>
          <a:noFill/>
        </p:spPr>
        <p:txBody>
          <a:bodyPr wrap="square" rtlCol="0">
            <a:spAutoFit/>
          </a:bodyPr>
          <a:lstStyle/>
          <a:p>
            <a:pPr marL="400050" indent="-400050">
              <a:buFont typeface="+mj-ea"/>
              <a:buAutoNum type="ea1JpnChsDbPeriod"/>
            </a:pPr>
            <a:r>
              <a:rPr lang="zh-CN" altLang="en-US" sz="2600" b="1" dirty="0">
                <a:solidFill>
                  <a:srgbClr val="0000FF"/>
                </a:solidFill>
                <a:latin typeface="楷体" panose="02010609060101010101" pitchFamily="49" charset="-122"/>
                <a:ea typeface="楷体" panose="02010609060101010101" pitchFamily="49" charset="-122"/>
              </a:rPr>
              <a:t>基本未知量的选取</a:t>
            </a:r>
          </a:p>
        </p:txBody>
      </p:sp>
      <p:sp>
        <p:nvSpPr>
          <p:cNvPr id="4" name="TextBox 3"/>
          <p:cNvSpPr txBox="1"/>
          <p:nvPr/>
        </p:nvSpPr>
        <p:spPr>
          <a:xfrm>
            <a:off x="747625" y="1909779"/>
            <a:ext cx="7640799" cy="430887"/>
          </a:xfrm>
          <a:prstGeom prst="rect">
            <a:avLst/>
          </a:prstGeom>
          <a:noFill/>
        </p:spPr>
        <p:txBody>
          <a:bodyPr wrap="square" rtlCol="0">
            <a:spAutoFit/>
          </a:bodyPr>
          <a:lstStyle/>
          <a:p>
            <a:r>
              <a:rPr lang="zh-CN" altLang="en-US" sz="2200" dirty="0">
                <a:latin typeface="楷体" panose="02010609060101010101" pitchFamily="49" charset="-122"/>
                <a:ea typeface="楷体" panose="02010609060101010101" pitchFamily="49" charset="-122"/>
              </a:rPr>
              <a:t>如果</a:t>
            </a:r>
            <a:r>
              <a:rPr lang="zh-CN" altLang="en-US" sz="2200" dirty="0">
                <a:solidFill>
                  <a:srgbClr val="FF0000"/>
                </a:solidFill>
                <a:latin typeface="楷体" panose="02010609060101010101" pitchFamily="49" charset="-122"/>
                <a:ea typeface="楷体" panose="02010609060101010101" pitchFamily="49" charset="-122"/>
              </a:rPr>
              <a:t>不忽略</a:t>
            </a:r>
            <a:r>
              <a:rPr lang="zh-CN" altLang="en-US" sz="2200" dirty="0">
                <a:latin typeface="楷体" panose="02010609060101010101" pitchFamily="49" charset="-122"/>
                <a:ea typeface="楷体" panose="02010609060101010101" pitchFamily="49" charset="-122"/>
              </a:rPr>
              <a:t>杆件在轴力作用下轴向变形：</a:t>
            </a:r>
          </a:p>
        </p:txBody>
      </p:sp>
      <p:sp>
        <p:nvSpPr>
          <p:cNvPr id="5" name="TextBox 4"/>
          <p:cNvSpPr txBox="1"/>
          <p:nvPr/>
        </p:nvSpPr>
        <p:spPr>
          <a:xfrm>
            <a:off x="1187624" y="2390425"/>
            <a:ext cx="6840760" cy="430887"/>
          </a:xfrm>
          <a:prstGeom prst="rect">
            <a:avLst/>
          </a:prstGeom>
          <a:noFill/>
        </p:spPr>
        <p:txBody>
          <a:bodyPr wrap="square" rtlCol="0">
            <a:spAutoFit/>
          </a:bodyPr>
          <a:lstStyle/>
          <a:p>
            <a:r>
              <a:rPr lang="zh-CN" altLang="en-US" sz="2200" dirty="0">
                <a:latin typeface="楷体" panose="02010609060101010101" pitchFamily="49" charset="-122"/>
                <a:ea typeface="楷体" panose="02010609060101010101" pitchFamily="49" charset="-122"/>
              </a:rPr>
              <a:t>则平面刚架中每个结点有</a:t>
            </a:r>
            <a:r>
              <a:rPr lang="zh-CN" altLang="en-US" sz="2200" dirty="0">
                <a:solidFill>
                  <a:srgbClr val="FF0000"/>
                </a:solidFill>
                <a:latin typeface="楷体" panose="02010609060101010101" pitchFamily="49" charset="-122"/>
                <a:ea typeface="楷体" panose="02010609060101010101" pitchFamily="49" charset="-122"/>
              </a:rPr>
              <a:t>两个线位移</a:t>
            </a:r>
            <a:r>
              <a:rPr lang="zh-CN" altLang="en-US" sz="2200" dirty="0">
                <a:latin typeface="楷体" panose="02010609060101010101" pitchFamily="49" charset="-122"/>
                <a:ea typeface="楷体" panose="02010609060101010101" pitchFamily="49" charset="-122"/>
              </a:rPr>
              <a:t>。</a:t>
            </a:r>
          </a:p>
        </p:txBody>
      </p:sp>
      <p:pic>
        <p:nvPicPr>
          <p:cNvPr id="7" name="Picture 1" descr="C:\Users\Administrator\AppData\Roaming\Tencent\Users\42337577\QQ\WinTemp\RichOle\%7J_B)J8NN{V3SR66UPJEHF.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2942613"/>
            <a:ext cx="2340070" cy="207486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Users\Administrator\AppData\Roaming\Tencent\Users\42337577\QQ\WinTemp\RichOle\ZA[U7J9O5J%I0O_E@ALR_(V.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3572" y="2968049"/>
            <a:ext cx="2923150" cy="19880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3" descr="C:\Users\Administrator\AppData\Roaming\Tencent\Users\42337577\QQ\WinTemp\RichOle\8%LIZ$0IEA2{1ZTM9FPL2(U.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38334" y="2827183"/>
            <a:ext cx="2052836" cy="230572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对象 5"/>
          <p:cNvGraphicFramePr>
            <a:graphicFrameLocks noChangeAspect="1"/>
          </p:cNvGraphicFramePr>
          <p:nvPr>
            <p:extLst>
              <p:ext uri="{D42A27DB-BD31-4B8C-83A1-F6EECF244321}">
                <p14:modId xmlns:p14="http://schemas.microsoft.com/office/powerpoint/2010/main" val="2496103189"/>
              </p:ext>
            </p:extLst>
          </p:nvPr>
        </p:nvGraphicFramePr>
        <p:xfrm>
          <a:off x="1187624" y="5229200"/>
          <a:ext cx="1155700" cy="558800"/>
        </p:xfrm>
        <a:graphic>
          <a:graphicData uri="http://schemas.openxmlformats.org/presentationml/2006/ole">
            <mc:AlternateContent xmlns:mc="http://schemas.openxmlformats.org/markup-compatibility/2006">
              <mc:Choice xmlns:v="urn:schemas-microsoft-com:vml" Requires="v">
                <p:oleObj spid="_x0000_s40788" name="Equation" r:id="rId7" imgW="1155600" imgH="558720" progId="Equation.DSMT4">
                  <p:embed/>
                </p:oleObj>
              </mc:Choice>
              <mc:Fallback>
                <p:oleObj name="Equation" r:id="rId7" imgW="1155600" imgH="558720" progId="Equation.DSMT4">
                  <p:embed/>
                  <p:pic>
                    <p:nvPicPr>
                      <p:cNvPr id="0" name=""/>
                      <p:cNvPicPr/>
                      <p:nvPr/>
                    </p:nvPicPr>
                    <p:blipFill>
                      <a:blip r:embed="rId8"/>
                      <a:stretch>
                        <a:fillRect/>
                      </a:stretch>
                    </p:blipFill>
                    <p:spPr>
                      <a:xfrm>
                        <a:off x="1187624" y="5229200"/>
                        <a:ext cx="1155700" cy="558800"/>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111658072"/>
              </p:ext>
            </p:extLst>
          </p:nvPr>
        </p:nvGraphicFramePr>
        <p:xfrm>
          <a:off x="4217988" y="5229225"/>
          <a:ext cx="1143000" cy="558800"/>
        </p:xfrm>
        <a:graphic>
          <a:graphicData uri="http://schemas.openxmlformats.org/presentationml/2006/ole">
            <mc:AlternateContent xmlns:mc="http://schemas.openxmlformats.org/markup-compatibility/2006">
              <mc:Choice xmlns:v="urn:schemas-microsoft-com:vml" Requires="v">
                <p:oleObj spid="_x0000_s40789" name="Equation" r:id="rId9" imgW="1143000" imgH="558720" progId="Equation.DSMT4">
                  <p:embed/>
                </p:oleObj>
              </mc:Choice>
              <mc:Fallback>
                <p:oleObj name="Equation" r:id="rId9" imgW="1143000" imgH="558720" progId="Equation.DSMT4">
                  <p:embed/>
                  <p:pic>
                    <p:nvPicPr>
                      <p:cNvPr id="0" name="对象 5"/>
                      <p:cNvPicPr>
                        <a:picLocks noChangeAspect="1" noChangeArrowheads="1"/>
                      </p:cNvPicPr>
                      <p:nvPr/>
                    </p:nvPicPr>
                    <p:blipFill>
                      <a:blip r:embed="rId10"/>
                      <a:srcRect/>
                      <a:stretch>
                        <a:fillRect/>
                      </a:stretch>
                    </p:blipFill>
                    <p:spPr bwMode="auto">
                      <a:xfrm>
                        <a:off x="4217988" y="5229225"/>
                        <a:ext cx="1143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856503594"/>
              </p:ext>
            </p:extLst>
          </p:nvPr>
        </p:nvGraphicFramePr>
        <p:xfrm>
          <a:off x="7020272" y="5229200"/>
          <a:ext cx="1143000" cy="558800"/>
        </p:xfrm>
        <a:graphic>
          <a:graphicData uri="http://schemas.openxmlformats.org/presentationml/2006/ole">
            <mc:AlternateContent xmlns:mc="http://schemas.openxmlformats.org/markup-compatibility/2006">
              <mc:Choice xmlns:v="urn:schemas-microsoft-com:vml" Requires="v">
                <p:oleObj spid="_x0000_s40790" name="Equation" r:id="rId11" imgW="1143000" imgH="558720" progId="Equation.DSMT4">
                  <p:embed/>
                </p:oleObj>
              </mc:Choice>
              <mc:Fallback>
                <p:oleObj name="Equation" r:id="rId11" imgW="1143000" imgH="558720" progId="Equation.DSMT4">
                  <p:embed/>
                  <p:pic>
                    <p:nvPicPr>
                      <p:cNvPr id="0" name="对象 9"/>
                      <p:cNvPicPr>
                        <a:picLocks noChangeAspect="1" noChangeArrowheads="1"/>
                      </p:cNvPicPr>
                      <p:nvPr/>
                    </p:nvPicPr>
                    <p:blipFill>
                      <a:blip r:embed="rId12"/>
                      <a:srcRect/>
                      <a:stretch>
                        <a:fillRect/>
                      </a:stretch>
                    </p:blipFill>
                    <p:spPr bwMode="auto">
                      <a:xfrm>
                        <a:off x="7020272" y="5229200"/>
                        <a:ext cx="1143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034120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7-4 </a:t>
            </a:r>
            <a:r>
              <a:rPr lang="zh-CN" altLang="en-US" dirty="0"/>
              <a:t>位移法解有侧移刚架</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67544" y="1388923"/>
            <a:ext cx="8280920" cy="1200329"/>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结点线位移个数越多，则位移法的计算工作量越大。为了减少基本未知量的个数，使计算得到简化，通常在位移法中</a:t>
            </a:r>
            <a:r>
              <a:rPr lang="zh-CN" altLang="en-US" sz="2400" dirty="0">
                <a:solidFill>
                  <a:srgbClr val="C00000"/>
                </a:solidFill>
                <a:latin typeface="楷体" panose="02010609060101010101" pitchFamily="49" charset="-122"/>
                <a:ea typeface="楷体" panose="02010609060101010101" pitchFamily="49" charset="-122"/>
              </a:rPr>
              <a:t>忽略轴力对变形的影响</a:t>
            </a:r>
            <a:r>
              <a:rPr lang="zh-CN" altLang="en-US" sz="2400" dirty="0">
                <a:latin typeface="楷体" panose="02010609060101010101" pitchFamily="49" charset="-122"/>
                <a:ea typeface="楷体" panose="02010609060101010101" pitchFamily="49" charset="-122"/>
              </a:rPr>
              <a:t>。通常假设：</a:t>
            </a:r>
          </a:p>
        </p:txBody>
      </p:sp>
      <p:sp>
        <p:nvSpPr>
          <p:cNvPr id="4" name="TextBox 3"/>
          <p:cNvSpPr txBox="1"/>
          <p:nvPr/>
        </p:nvSpPr>
        <p:spPr>
          <a:xfrm>
            <a:off x="827584" y="2764128"/>
            <a:ext cx="6624736" cy="400110"/>
          </a:xfrm>
          <a:prstGeom prst="rect">
            <a:avLst/>
          </a:prstGeom>
          <a:noFill/>
        </p:spPr>
        <p:txBody>
          <a:bodyPr wrap="square" rtlCol="0">
            <a:spAutoFit/>
          </a:bodyPr>
          <a:lstStyle/>
          <a:p>
            <a:pPr marL="457200" indent="-457200">
              <a:buFont typeface="+mj-lt"/>
              <a:buAutoNum type="alphaLcParenR"/>
            </a:pPr>
            <a:r>
              <a:rPr lang="zh-CN" altLang="en-US" sz="2000" b="1" dirty="0">
                <a:solidFill>
                  <a:srgbClr val="0000FF"/>
                </a:solidFill>
                <a:latin typeface="楷体" panose="02010609060101010101" pitchFamily="49" charset="-122"/>
                <a:ea typeface="楷体" panose="02010609060101010101" pitchFamily="49" charset="-122"/>
              </a:rPr>
              <a:t>忽略轴力产生的轴向变形；</a:t>
            </a:r>
          </a:p>
        </p:txBody>
      </p:sp>
      <mc:AlternateContent xmlns:mc="http://schemas.openxmlformats.org/markup-compatibility/2006" xmlns:a14="http://schemas.microsoft.com/office/drawing/2010/main">
        <mc:Choice Requires="a14">
          <p:sp>
            <p:nvSpPr>
              <p:cNvPr id="5" name="TextBox 4"/>
              <p:cNvSpPr txBox="1"/>
              <p:nvPr/>
            </p:nvSpPr>
            <p:spPr>
              <a:xfrm>
                <a:off x="827584" y="3896313"/>
                <a:ext cx="4896544" cy="400110"/>
              </a:xfrm>
              <a:prstGeom prst="rect">
                <a:avLst/>
              </a:prstGeom>
              <a:noFill/>
            </p:spPr>
            <p:txBody>
              <a:bodyPr wrap="square" rtlCol="0">
                <a:spAutoFit/>
              </a:bodyPr>
              <a:lstStyle/>
              <a:p>
                <a:pPr marL="457200" indent="-457200">
                  <a:buFont typeface="+mj-lt"/>
                  <a:buAutoNum type="alphaLcParenR" startAt="2"/>
                </a:pPr>
                <a:r>
                  <a:rPr lang="zh-CN" altLang="en-US" sz="2000" b="1" dirty="0">
                    <a:solidFill>
                      <a:srgbClr val="0000FF"/>
                    </a:solidFill>
                    <a:latin typeface="楷体" panose="02010609060101010101" pitchFamily="49" charset="-122"/>
                    <a:ea typeface="楷体" panose="02010609060101010101" pitchFamily="49" charset="-122"/>
                  </a:rPr>
                  <a:t>结点转角</a:t>
                </a:r>
                <a14:m>
                  <m:oMath xmlns:m="http://schemas.openxmlformats.org/officeDocument/2006/math">
                    <m:r>
                      <a:rPr lang="zh-CN" altLang="en-US" sz="2000" b="1" i="1" smtClean="0">
                        <a:solidFill>
                          <a:srgbClr val="0000FF"/>
                        </a:solidFill>
                        <a:latin typeface="Cambria Math"/>
                      </a:rPr>
                      <m:t>𝜽</m:t>
                    </m:r>
                  </m:oMath>
                </a14:m>
                <a:r>
                  <a:rPr lang="zh-CN" altLang="en-US" sz="2000" b="1" dirty="0">
                    <a:solidFill>
                      <a:srgbClr val="0000FF"/>
                    </a:solidFill>
                    <a:latin typeface="楷体" panose="02010609060101010101" pitchFamily="49" charset="-122"/>
                    <a:ea typeface="楷体" panose="02010609060101010101" pitchFamily="49" charset="-122"/>
                  </a:rPr>
                  <a:t>和各杆弦转角</a:t>
                </a:r>
                <a14:m>
                  <m:oMath xmlns:m="http://schemas.openxmlformats.org/officeDocument/2006/math">
                    <m:r>
                      <a:rPr lang="zh-CN" altLang="en-US" sz="2000" b="1" i="1" smtClean="0">
                        <a:solidFill>
                          <a:srgbClr val="0000FF"/>
                        </a:solidFill>
                        <a:latin typeface="Cambria Math"/>
                      </a:rPr>
                      <m:t>𝝋</m:t>
                    </m:r>
                  </m:oMath>
                </a14:m>
                <a:r>
                  <a:rPr lang="zh-CN" altLang="en-US" sz="2000" b="1" dirty="0">
                    <a:solidFill>
                      <a:srgbClr val="0000FF"/>
                    </a:solidFill>
                    <a:latin typeface="楷体" panose="02010609060101010101" pitchFamily="49" charset="-122"/>
                    <a:ea typeface="楷体" panose="02010609060101010101" pitchFamily="49" charset="-122"/>
                  </a:rPr>
                  <a:t>都很微小。</a:t>
                </a:r>
              </a:p>
            </p:txBody>
          </p:sp>
        </mc:Choice>
        <mc:Fallback xmlns="">
          <p:sp>
            <p:nvSpPr>
              <p:cNvPr id="5" name="TextBox 4"/>
              <p:cNvSpPr txBox="1">
                <a:spLocks noRot="1" noChangeAspect="1" noMove="1" noResize="1" noEditPoints="1" noAdjustHandles="1" noChangeArrowheads="1" noChangeShapeType="1" noTextEdit="1"/>
              </p:cNvSpPr>
              <p:nvPr/>
            </p:nvSpPr>
            <p:spPr>
              <a:xfrm>
                <a:off x="827584" y="3896313"/>
                <a:ext cx="4896544" cy="400110"/>
              </a:xfrm>
              <a:prstGeom prst="rect">
                <a:avLst/>
              </a:prstGeom>
              <a:blipFill rotWithShape="1">
                <a:blip r:embed="rId3"/>
                <a:stretch>
                  <a:fillRect l="-872" t="-10606" b="-22727"/>
                </a:stretch>
              </a:blipFill>
            </p:spPr>
            <p:txBody>
              <a:bodyPr/>
              <a:lstStyle/>
              <a:p>
                <a:r>
                  <a:rPr lang="zh-CN" altLang="en-US">
                    <a:noFill/>
                  </a:rPr>
                  <a:t> </a:t>
                </a:r>
              </a:p>
            </p:txBody>
          </p:sp>
        </mc:Fallback>
      </mc:AlternateContent>
      <p:sp>
        <p:nvSpPr>
          <p:cNvPr id="6" name="TextBox 5"/>
          <p:cNvSpPr txBox="1"/>
          <p:nvPr/>
        </p:nvSpPr>
        <p:spPr>
          <a:xfrm>
            <a:off x="1187624" y="3188225"/>
            <a:ext cx="7560840" cy="400110"/>
          </a:xfrm>
          <a:prstGeom prst="rect">
            <a:avLst/>
          </a:prstGeom>
          <a:noFill/>
        </p:spPr>
        <p:txBody>
          <a:bodyPr wrap="square" rtlCol="0">
            <a:spAutoFit/>
          </a:bodyPr>
          <a:lstStyle/>
          <a:p>
            <a:r>
              <a:rPr lang="zh-CN" altLang="en-US" sz="2000" dirty="0">
                <a:solidFill>
                  <a:srgbClr val="FF3399"/>
                </a:solidFill>
                <a:latin typeface="楷体" panose="02010609060101010101" pitchFamily="49" charset="-122"/>
                <a:ea typeface="楷体" panose="02010609060101010101" pitchFamily="49" charset="-122"/>
              </a:rPr>
              <a:t>即杆件变形前的直线长度和变形后的曲线长度可认为相等。</a:t>
            </a:r>
          </a:p>
        </p:txBody>
      </p:sp>
      <p:sp>
        <p:nvSpPr>
          <p:cNvPr id="7" name="TextBox 6"/>
          <p:cNvSpPr txBox="1"/>
          <p:nvPr/>
        </p:nvSpPr>
        <p:spPr>
          <a:xfrm>
            <a:off x="1187624" y="4331504"/>
            <a:ext cx="7560840" cy="400110"/>
          </a:xfrm>
          <a:prstGeom prst="rect">
            <a:avLst/>
          </a:prstGeom>
          <a:noFill/>
        </p:spPr>
        <p:txBody>
          <a:bodyPr wrap="square" rtlCol="0">
            <a:spAutoFit/>
          </a:bodyPr>
          <a:lstStyle/>
          <a:p>
            <a:r>
              <a:rPr lang="zh-CN" altLang="en-US" sz="2000" dirty="0">
                <a:solidFill>
                  <a:srgbClr val="FF3399"/>
                </a:solidFill>
                <a:latin typeface="楷体" panose="02010609060101010101" pitchFamily="49" charset="-122"/>
                <a:ea typeface="楷体" panose="02010609060101010101" pitchFamily="49" charset="-122"/>
              </a:rPr>
              <a:t>即变形后的曲线长度与弦线长度可认为相等。</a:t>
            </a:r>
          </a:p>
        </p:txBody>
      </p:sp>
      <p:sp>
        <p:nvSpPr>
          <p:cNvPr id="9" name="圆角矩形 8"/>
          <p:cNvSpPr/>
          <p:nvPr/>
        </p:nvSpPr>
        <p:spPr bwMode="auto">
          <a:xfrm>
            <a:off x="802310" y="5040172"/>
            <a:ext cx="7946154" cy="864096"/>
          </a:xfrm>
          <a:prstGeom prst="roundRect">
            <a:avLst/>
          </a:prstGeom>
          <a:solidFill>
            <a:srgbClr val="9999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zh-CN" altLang="en-US" sz="2400" dirty="0">
                <a:solidFill>
                  <a:srgbClr val="FFC000"/>
                </a:solidFill>
                <a:latin typeface="楷体" panose="02010609060101010101" pitchFamily="49" charset="-122"/>
                <a:ea typeface="楷体" panose="02010609060101010101" pitchFamily="49" charset="-122"/>
              </a:rPr>
              <a:t>综合起来：尽管杆件发生弯曲变形，但杆件两端结点之间的距离仍保持不变。</a:t>
            </a:r>
          </a:p>
        </p:txBody>
      </p:sp>
    </p:spTree>
    <p:extLst>
      <p:ext uri="{BB962C8B-B14F-4D97-AF65-F5344CB8AC3E}">
        <p14:creationId xmlns:p14="http://schemas.microsoft.com/office/powerpoint/2010/main" val="3034120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randombar(horizontal)">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7-4 </a:t>
            </a:r>
            <a:r>
              <a:rPr lang="zh-CN" altLang="en-US" dirty="0"/>
              <a:t>位移法解有侧移刚架</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67544" y="1341217"/>
            <a:ext cx="2304256" cy="461665"/>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例：</a:t>
            </a:r>
          </a:p>
        </p:txBody>
      </p:sp>
      <p:pic>
        <p:nvPicPr>
          <p:cNvPr id="5" name="Picture 1" descr="C:\Users\Administrator\AppData\Roaming\Tencent\Users\42337577\QQ\WinTemp\RichOle\%7J_B)J8NN{V3SR66UPJEHF.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625" y="2060848"/>
            <a:ext cx="2340070" cy="207486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Box 5"/>
              <p:cNvSpPr txBox="1"/>
              <p:nvPr/>
            </p:nvSpPr>
            <p:spPr>
              <a:xfrm>
                <a:off x="4067944" y="1687151"/>
                <a:ext cx="4680520" cy="1569660"/>
              </a:xfrm>
              <a:prstGeom prst="rect">
                <a:avLst/>
              </a:prstGeom>
              <a:noFill/>
            </p:spPr>
            <p:txBody>
              <a:bodyPr wrap="square" rtlCol="0">
                <a:spAutoFit/>
              </a:bodyPr>
              <a:lstStyle/>
              <a:p>
                <a:r>
                  <a:rPr lang="zh-CN" altLang="en-US" sz="2400" dirty="0">
                    <a:solidFill>
                      <a:srgbClr val="0000FF"/>
                    </a:solidFill>
                    <a:latin typeface="楷体" panose="02010609060101010101" pitchFamily="49" charset="-122"/>
                    <a:ea typeface="楷体" panose="02010609060101010101" pitchFamily="49" charset="-122"/>
                  </a:rPr>
                  <a:t>由于各杆两端距离假设不变，因此在微小位移的情况下，结点</a:t>
                </a:r>
                <a14:m>
                  <m:oMath xmlns:m="http://schemas.openxmlformats.org/officeDocument/2006/math">
                    <m:r>
                      <a:rPr lang="en-US" altLang="zh-CN" sz="2400" b="0" i="1" smtClean="0">
                        <a:solidFill>
                          <a:srgbClr val="0000FF"/>
                        </a:solidFill>
                        <a:latin typeface="Cambria Math"/>
                      </a:rPr>
                      <m:t>𝐶</m:t>
                    </m:r>
                  </m:oMath>
                </a14:m>
                <a:r>
                  <a:rPr lang="zh-CN" altLang="en-US" sz="2400" dirty="0">
                    <a:solidFill>
                      <a:srgbClr val="0000FF"/>
                    </a:solidFill>
                    <a:latin typeface="楷体" panose="02010609060101010101" pitchFamily="49" charset="-122"/>
                    <a:ea typeface="楷体" panose="02010609060101010101" pitchFamily="49" charset="-122"/>
                  </a:rPr>
                  <a:t>和</a:t>
                </a:r>
                <a14:m>
                  <m:oMath xmlns:m="http://schemas.openxmlformats.org/officeDocument/2006/math">
                    <m:r>
                      <a:rPr lang="en-US" altLang="zh-CN" sz="2400" b="0" i="1" dirty="0" smtClean="0">
                        <a:solidFill>
                          <a:srgbClr val="0000FF"/>
                        </a:solidFill>
                        <a:latin typeface="Cambria Math"/>
                      </a:rPr>
                      <m:t>𝐷</m:t>
                    </m:r>
                  </m:oMath>
                </a14:m>
                <a:r>
                  <a:rPr lang="zh-CN" altLang="en-US" sz="2400" dirty="0">
                    <a:solidFill>
                      <a:srgbClr val="0000FF"/>
                    </a:solidFill>
                    <a:latin typeface="楷体" panose="02010609060101010101" pitchFamily="49" charset="-122"/>
                    <a:ea typeface="楷体" panose="02010609060101010101" pitchFamily="49" charset="-122"/>
                  </a:rPr>
                  <a:t>都没有竖向位移，而且结点</a:t>
                </a:r>
                <a14:m>
                  <m:oMath xmlns:m="http://schemas.openxmlformats.org/officeDocument/2006/math">
                    <m:r>
                      <a:rPr lang="en-US" altLang="zh-CN" sz="2400" b="0" i="1" smtClean="0">
                        <a:solidFill>
                          <a:srgbClr val="0000FF"/>
                        </a:solidFill>
                        <a:latin typeface="Cambria Math"/>
                      </a:rPr>
                      <m:t>𝐶</m:t>
                    </m:r>
                  </m:oMath>
                </a14:m>
                <a:r>
                  <a:rPr lang="zh-CN" altLang="en-US" sz="2400" dirty="0">
                    <a:solidFill>
                      <a:srgbClr val="0000FF"/>
                    </a:solidFill>
                    <a:latin typeface="楷体" panose="02010609060101010101" pitchFamily="49" charset="-122"/>
                    <a:ea typeface="楷体" panose="02010609060101010101" pitchFamily="49" charset="-122"/>
                  </a:rPr>
                  <a:t>和</a:t>
                </a:r>
                <a14:m>
                  <m:oMath xmlns:m="http://schemas.openxmlformats.org/officeDocument/2006/math">
                    <m:r>
                      <a:rPr lang="en-US" altLang="zh-CN" sz="2400" b="0" i="1" dirty="0" smtClean="0">
                        <a:solidFill>
                          <a:srgbClr val="0000FF"/>
                        </a:solidFill>
                        <a:latin typeface="Cambria Math"/>
                      </a:rPr>
                      <m:t>𝐷</m:t>
                    </m:r>
                  </m:oMath>
                </a14:m>
                <a:r>
                  <a:rPr lang="zh-CN" altLang="en-US" sz="2400" dirty="0">
                    <a:solidFill>
                      <a:srgbClr val="0000FF"/>
                    </a:solidFill>
                    <a:latin typeface="楷体" panose="02010609060101010101" pitchFamily="49" charset="-122"/>
                    <a:ea typeface="楷体" panose="02010609060101010101" pitchFamily="49" charset="-122"/>
                  </a:rPr>
                  <a:t>的水平位移也彼此相等。</a:t>
                </a:r>
              </a:p>
            </p:txBody>
          </p:sp>
        </mc:Choice>
        <mc:Fallback xmlns="">
          <p:sp>
            <p:nvSpPr>
              <p:cNvPr id="6" name="TextBox 5"/>
              <p:cNvSpPr txBox="1">
                <a:spLocks noRot="1" noChangeAspect="1" noMove="1" noResize="1" noEditPoints="1" noAdjustHandles="1" noChangeArrowheads="1" noChangeShapeType="1" noTextEdit="1"/>
              </p:cNvSpPr>
              <p:nvPr/>
            </p:nvSpPr>
            <p:spPr>
              <a:xfrm>
                <a:off x="4067944" y="1687151"/>
                <a:ext cx="4680520" cy="1569660"/>
              </a:xfrm>
              <a:prstGeom prst="rect">
                <a:avLst/>
              </a:prstGeom>
              <a:blipFill rotWithShape="1">
                <a:blip r:embed="rId5"/>
                <a:stretch>
                  <a:fillRect l="-1953" t="-3113" r="-1302" b="-7004"/>
                </a:stretch>
              </a:blipFill>
            </p:spPr>
            <p:txBody>
              <a:bodyPr/>
              <a:lstStyle/>
              <a:p>
                <a:r>
                  <a:rPr lang="zh-CN" altLang="en-US">
                    <a:noFill/>
                  </a:rPr>
                  <a:t> </a:t>
                </a:r>
              </a:p>
            </p:txBody>
          </p:sp>
        </mc:Fallback>
      </mc:AlternateContent>
      <p:grpSp>
        <p:nvGrpSpPr>
          <p:cNvPr id="16" name="组合 15"/>
          <p:cNvGrpSpPr/>
          <p:nvPr/>
        </p:nvGrpSpPr>
        <p:grpSpPr>
          <a:xfrm>
            <a:off x="1835696" y="1894039"/>
            <a:ext cx="651033" cy="207580"/>
            <a:chOff x="1835696" y="1894039"/>
            <a:chExt cx="651033" cy="207580"/>
          </a:xfrm>
        </p:grpSpPr>
        <p:graphicFrame>
          <p:nvGraphicFramePr>
            <p:cNvPr id="12" name="对象 11"/>
            <p:cNvGraphicFramePr>
              <a:graphicFrameLocks noChangeAspect="1"/>
            </p:cNvGraphicFramePr>
            <p:nvPr>
              <p:extLst>
                <p:ext uri="{D42A27DB-BD31-4B8C-83A1-F6EECF244321}">
                  <p14:modId xmlns:p14="http://schemas.microsoft.com/office/powerpoint/2010/main" val="3738045130"/>
                </p:ext>
              </p:extLst>
            </p:nvPr>
          </p:nvGraphicFramePr>
          <p:xfrm>
            <a:off x="1835696" y="1894039"/>
            <a:ext cx="647700" cy="190500"/>
          </p:xfrm>
          <a:graphic>
            <a:graphicData uri="http://schemas.openxmlformats.org/presentationml/2006/ole">
              <mc:AlternateContent xmlns:mc="http://schemas.openxmlformats.org/markup-compatibility/2006">
                <mc:Choice xmlns:v="urn:schemas-microsoft-com:vml" Requires="v">
                  <p:oleObj spid="_x0000_s41754" name="Equation" r:id="rId6" imgW="647640" imgH="190440" progId="Equation.DSMT4">
                    <p:embed/>
                  </p:oleObj>
                </mc:Choice>
                <mc:Fallback>
                  <p:oleObj name="Equation" r:id="rId6" imgW="647640" imgH="190440" progId="Equation.DSMT4">
                    <p:embed/>
                    <p:pic>
                      <p:nvPicPr>
                        <p:cNvPr id="0" name=""/>
                        <p:cNvPicPr/>
                        <p:nvPr/>
                      </p:nvPicPr>
                      <p:blipFill>
                        <a:blip r:embed="rId7"/>
                        <a:stretch>
                          <a:fillRect/>
                        </a:stretch>
                      </p:blipFill>
                      <p:spPr>
                        <a:xfrm>
                          <a:off x="1835696" y="1894039"/>
                          <a:ext cx="647700" cy="190500"/>
                        </a:xfrm>
                        <a:prstGeom prst="rect">
                          <a:avLst/>
                        </a:prstGeom>
                      </p:spPr>
                    </p:pic>
                  </p:oleObj>
                </mc:Fallback>
              </mc:AlternateContent>
            </a:graphicData>
          </a:graphic>
        </p:graphicFrame>
        <p:sp>
          <p:nvSpPr>
            <p:cNvPr id="13" name="圆角矩形 12"/>
            <p:cNvSpPr/>
            <p:nvPr/>
          </p:nvSpPr>
          <p:spPr bwMode="auto">
            <a:xfrm>
              <a:off x="1838657" y="1894887"/>
              <a:ext cx="648072" cy="206732"/>
            </a:xfrm>
            <a:prstGeom prst="roundRect">
              <a:avLst/>
            </a:prstGeom>
            <a:noFill/>
            <a:ln w="12700" cap="flat" cmpd="sng" algn="ctr">
              <a:solidFill>
                <a:srgbClr val="FF33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mc:AlternateContent xmlns:mc="http://schemas.openxmlformats.org/markup-compatibility/2006" xmlns:a14="http://schemas.microsoft.com/office/drawing/2010/main">
        <mc:Choice Requires="a14">
          <p:sp>
            <p:nvSpPr>
              <p:cNvPr id="15" name="TextBox 14"/>
              <p:cNvSpPr txBox="1"/>
              <p:nvPr/>
            </p:nvSpPr>
            <p:spPr>
              <a:xfrm>
                <a:off x="4067944" y="3368125"/>
                <a:ext cx="4680520" cy="769441"/>
              </a:xfrm>
              <a:prstGeom prst="rect">
                <a:avLst/>
              </a:prstGeom>
              <a:noFill/>
            </p:spPr>
            <p:txBody>
              <a:bodyPr wrap="square" rtlCol="0">
                <a:spAutoFit/>
              </a:bodyPr>
              <a:lstStyle/>
              <a:p>
                <a:r>
                  <a:rPr lang="zh-CN" altLang="en-US" sz="2200" b="1" dirty="0">
                    <a:latin typeface="楷体" panose="02010609060101010101" pitchFamily="49" charset="-122"/>
                    <a:ea typeface="楷体" panose="02010609060101010101" pitchFamily="49" charset="-122"/>
                  </a:rPr>
                  <a:t>全部基本未知量只有三个：</a:t>
                </a:r>
                <a14:m>
                  <m:oMath xmlns:m="http://schemas.openxmlformats.org/officeDocument/2006/math">
                    <m:sSub>
                      <m:sSubPr>
                        <m:ctrlPr>
                          <a:rPr lang="en-US" altLang="zh-CN" sz="2200" b="1" i="1" smtClean="0">
                            <a:latin typeface="Cambria Math" panose="02040503050406030204" pitchFamily="18" charset="0"/>
                          </a:rPr>
                        </m:ctrlPr>
                      </m:sSubPr>
                      <m:e>
                        <m:r>
                          <a:rPr lang="zh-CN" altLang="en-US" sz="2200" b="1" i="1" smtClean="0">
                            <a:latin typeface="Cambria Math"/>
                          </a:rPr>
                          <m:t>𝜽</m:t>
                        </m:r>
                      </m:e>
                      <m:sub>
                        <m:r>
                          <a:rPr lang="en-US" altLang="zh-CN" sz="2200" b="1" i="1" smtClean="0">
                            <a:latin typeface="Cambria Math"/>
                          </a:rPr>
                          <m:t>𝑪</m:t>
                        </m:r>
                      </m:sub>
                    </m:sSub>
                  </m:oMath>
                </a14:m>
                <a:r>
                  <a:rPr lang="zh-CN" altLang="en-US" sz="2200" b="1" dirty="0">
                    <a:latin typeface="楷体" panose="02010609060101010101" pitchFamily="49" charset="-122"/>
                    <a:ea typeface="楷体" panose="02010609060101010101" pitchFamily="49" charset="-122"/>
                  </a:rPr>
                  <a:t>，</a:t>
                </a:r>
                <a14:m>
                  <m:oMath xmlns:m="http://schemas.openxmlformats.org/officeDocument/2006/math">
                    <m:sSub>
                      <m:sSubPr>
                        <m:ctrlPr>
                          <a:rPr lang="en-US" altLang="zh-CN" sz="2200" b="1" i="1" dirty="0" smtClean="0">
                            <a:latin typeface="Cambria Math" panose="02040503050406030204" pitchFamily="18" charset="0"/>
                          </a:rPr>
                        </m:ctrlPr>
                      </m:sSubPr>
                      <m:e>
                        <m:r>
                          <a:rPr lang="zh-CN" altLang="en-US" sz="2200" b="1" i="1" dirty="0" smtClean="0">
                            <a:latin typeface="Cambria Math"/>
                          </a:rPr>
                          <m:t>𝜽</m:t>
                        </m:r>
                      </m:e>
                      <m:sub>
                        <m:r>
                          <a:rPr lang="en-US" altLang="zh-CN" sz="2200" b="1" i="1" dirty="0" smtClean="0">
                            <a:latin typeface="Cambria Math"/>
                          </a:rPr>
                          <m:t>𝑫</m:t>
                        </m:r>
                      </m:sub>
                    </m:sSub>
                  </m:oMath>
                </a14:m>
                <a:r>
                  <a:rPr lang="zh-CN" altLang="en-US" sz="2200" b="1" dirty="0">
                    <a:latin typeface="楷体" panose="02010609060101010101" pitchFamily="49" charset="-122"/>
                    <a:ea typeface="楷体" panose="02010609060101010101" pitchFamily="49" charset="-122"/>
                  </a:rPr>
                  <a:t>，</a:t>
                </a:r>
                <a14:m>
                  <m:oMath xmlns:m="http://schemas.openxmlformats.org/officeDocument/2006/math">
                    <m:r>
                      <a:rPr lang="zh-CN" altLang="en-US" sz="2200" b="1" i="1" dirty="0" smtClean="0">
                        <a:latin typeface="Cambria Math"/>
                      </a:rPr>
                      <m:t>∆</m:t>
                    </m:r>
                  </m:oMath>
                </a14:m>
                <a:endParaRPr lang="zh-CN" altLang="en-US" sz="2200" b="1" dirty="0">
                  <a:latin typeface="楷体" panose="02010609060101010101" pitchFamily="49" charset="-122"/>
                  <a:ea typeface="楷体" panose="02010609060101010101" pitchFamily="49" charset="-122"/>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4067944" y="3368125"/>
                <a:ext cx="4680520" cy="769441"/>
              </a:xfrm>
              <a:prstGeom prst="rect">
                <a:avLst/>
              </a:prstGeom>
              <a:blipFill rotWithShape="1">
                <a:blip r:embed="rId8"/>
                <a:stretch>
                  <a:fillRect l="-1563" t="-7143" r="-7813"/>
                </a:stretch>
              </a:blipFill>
            </p:spPr>
            <p:txBody>
              <a:bodyPr/>
              <a:lstStyle/>
              <a:p>
                <a:r>
                  <a:rPr lang="zh-CN" altLang="en-US">
                    <a:noFill/>
                  </a:rPr>
                  <a:t> </a:t>
                </a:r>
              </a:p>
            </p:txBody>
          </p:sp>
        </mc:Fallback>
      </mc:AlternateContent>
      <p:pic>
        <p:nvPicPr>
          <p:cNvPr id="17" name="Picture 2" descr="C:\Users\Administrator\AppData\Roaming\Tencent\Users\42337577\QQ\WinTemp\RichOle\ZA[U7J9O5J%I0O_E@ALR_(V.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7544" y="4261292"/>
            <a:ext cx="2923150" cy="198805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 descr="C:\Users\Administrator\AppData\Roaming\Tencent\Users\42337577\QQ\WinTemp\RichOle\8%LIZ$0IEA2{1ZTM9FPL2(U.pn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48064" y="3943626"/>
            <a:ext cx="2052836" cy="230572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9" name="对象 18"/>
          <p:cNvGraphicFramePr>
            <a:graphicFrameLocks noChangeAspect="1"/>
          </p:cNvGraphicFramePr>
          <p:nvPr>
            <p:extLst>
              <p:ext uri="{D42A27DB-BD31-4B8C-83A1-F6EECF244321}">
                <p14:modId xmlns:p14="http://schemas.microsoft.com/office/powerpoint/2010/main" val="1036628484"/>
              </p:ext>
            </p:extLst>
          </p:nvPr>
        </p:nvGraphicFramePr>
        <p:xfrm>
          <a:off x="1838657" y="6367205"/>
          <a:ext cx="317500" cy="254000"/>
        </p:xfrm>
        <a:graphic>
          <a:graphicData uri="http://schemas.openxmlformats.org/presentationml/2006/ole">
            <mc:AlternateContent xmlns:mc="http://schemas.openxmlformats.org/markup-compatibility/2006">
              <mc:Choice xmlns:v="urn:schemas-microsoft-com:vml" Requires="v">
                <p:oleObj spid="_x0000_s41755" name="Equation" r:id="rId11" imgW="317160" imgH="253800" progId="Equation.DSMT4">
                  <p:embed/>
                </p:oleObj>
              </mc:Choice>
              <mc:Fallback>
                <p:oleObj name="Equation" r:id="rId11" imgW="317160" imgH="253800" progId="Equation.DSMT4">
                  <p:embed/>
                  <p:pic>
                    <p:nvPicPr>
                      <p:cNvPr id="0" name=""/>
                      <p:cNvPicPr/>
                      <p:nvPr/>
                    </p:nvPicPr>
                    <p:blipFill>
                      <a:blip r:embed="rId12"/>
                      <a:stretch>
                        <a:fillRect/>
                      </a:stretch>
                    </p:blipFill>
                    <p:spPr>
                      <a:xfrm>
                        <a:off x="1838657" y="6367205"/>
                        <a:ext cx="317500" cy="254000"/>
                      </a:xfrm>
                      <a:prstGeom prst="rect">
                        <a:avLst/>
                      </a:prstGeom>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2598182561"/>
              </p:ext>
            </p:extLst>
          </p:nvPr>
        </p:nvGraphicFramePr>
        <p:xfrm>
          <a:off x="5359400" y="6342063"/>
          <a:ext cx="1752600" cy="279400"/>
        </p:xfrm>
        <a:graphic>
          <a:graphicData uri="http://schemas.openxmlformats.org/presentationml/2006/ole">
            <mc:AlternateContent xmlns:mc="http://schemas.openxmlformats.org/markup-compatibility/2006">
              <mc:Choice xmlns:v="urn:schemas-microsoft-com:vml" Requires="v">
                <p:oleObj spid="_x0000_s41756" name="Equation" r:id="rId13" imgW="1752480" imgH="279360" progId="Equation.DSMT4">
                  <p:embed/>
                </p:oleObj>
              </mc:Choice>
              <mc:Fallback>
                <p:oleObj name="Equation" r:id="rId13" imgW="1752480" imgH="279360" progId="Equation.DSMT4">
                  <p:embed/>
                  <p:pic>
                    <p:nvPicPr>
                      <p:cNvPr id="0" name=""/>
                      <p:cNvPicPr/>
                      <p:nvPr/>
                    </p:nvPicPr>
                    <p:blipFill>
                      <a:blip r:embed="rId14"/>
                      <a:stretch>
                        <a:fillRect/>
                      </a:stretch>
                    </p:blipFill>
                    <p:spPr>
                      <a:xfrm>
                        <a:off x="5359400" y="6342063"/>
                        <a:ext cx="1752600" cy="279400"/>
                      </a:xfrm>
                      <a:prstGeom prst="rect">
                        <a:avLst/>
                      </a:prstGeom>
                    </p:spPr>
                  </p:pic>
                </p:oleObj>
              </mc:Fallback>
            </mc:AlternateContent>
          </a:graphicData>
        </a:graphic>
      </p:graphicFrame>
    </p:spTree>
    <p:extLst>
      <p:ext uri="{BB962C8B-B14F-4D97-AF65-F5344CB8AC3E}">
        <p14:creationId xmlns:p14="http://schemas.microsoft.com/office/powerpoint/2010/main" val="3900837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7-4 </a:t>
            </a:r>
            <a:r>
              <a:rPr lang="zh-CN" altLang="en-US" dirty="0"/>
              <a:t>位移法解有侧移刚架</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67544" y="1397323"/>
            <a:ext cx="8280920" cy="492443"/>
          </a:xfrm>
          <a:prstGeom prst="rect">
            <a:avLst/>
          </a:prstGeom>
          <a:noFill/>
        </p:spPr>
        <p:txBody>
          <a:bodyPr wrap="square" rtlCol="0">
            <a:spAutoFit/>
          </a:bodyPr>
          <a:lstStyle/>
          <a:p>
            <a:pPr marL="571500" indent="-571500">
              <a:buFont typeface="+mj-ea"/>
              <a:buAutoNum type="ea1JpnChsDbPeriod" startAt="2"/>
            </a:pPr>
            <a:r>
              <a:rPr lang="zh-CN" altLang="en-US" sz="2600" b="1" dirty="0">
                <a:solidFill>
                  <a:srgbClr val="0000FF"/>
                </a:solidFill>
                <a:latin typeface="楷体" panose="02010609060101010101" pitchFamily="49" charset="-122"/>
                <a:ea typeface="楷体" panose="02010609060101010101" pitchFamily="49" charset="-122"/>
              </a:rPr>
              <a:t>基本方程的建立</a:t>
            </a:r>
          </a:p>
        </p:txBody>
      </p:sp>
      <p:sp>
        <p:nvSpPr>
          <p:cNvPr id="4" name="AutoShape 1" descr="C:\Users\Administrator\AppData\Roaming\Tencent\Users\42337577\QQ\WinTemp\RichOle\05X BNNT{ZR)84D`_ER~6.png"/>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2" descr="C:\Users\Administrator\AppData\Roaming\Tencent\Users\42337577\QQ\WinTemp\RichOle\05X BNNT{ZR)84D`_ER~6.png"/>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1987" name="Picture 3" descr="C:\Users\Administrator\AppData\Roaming\Tencent\Users\42337577\QQ\WinTemp\RichOle\SV`D5LAU)VNTRV)QQ8S05D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1889766"/>
            <a:ext cx="3001636" cy="197891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Box 5"/>
              <p:cNvSpPr txBox="1"/>
              <p:nvPr/>
            </p:nvSpPr>
            <p:spPr>
              <a:xfrm>
                <a:off x="3707904" y="1861624"/>
                <a:ext cx="4968552" cy="400110"/>
              </a:xfrm>
              <a:prstGeom prst="rect">
                <a:avLst/>
              </a:prstGeom>
              <a:noFill/>
            </p:spPr>
            <p:txBody>
              <a:bodyPr wrap="square" rtlCol="0">
                <a:spAutoFit/>
              </a:bodyPr>
              <a:lstStyle/>
              <a:p>
                <a:r>
                  <a:rPr lang="zh-CN" altLang="en-US" sz="2000" dirty="0">
                    <a:latin typeface="楷体" panose="02010609060101010101" pitchFamily="49" charset="-122"/>
                    <a:ea typeface="楷体" panose="02010609060101010101" pitchFamily="49" charset="-122"/>
                  </a:rPr>
                  <a:t>柱的线刚度为</a:t>
                </a:r>
                <a14:m>
                  <m:oMath xmlns:m="http://schemas.openxmlformats.org/officeDocument/2006/math">
                    <m:r>
                      <a:rPr lang="en-US" altLang="zh-CN" sz="2000" b="0" i="1" smtClean="0">
                        <a:latin typeface="Cambria Math"/>
                      </a:rPr>
                      <m:t>𝑖</m:t>
                    </m:r>
                  </m:oMath>
                </a14:m>
                <a:r>
                  <a:rPr lang="zh-CN" altLang="en-US" sz="2000" dirty="0">
                    <a:latin typeface="楷体" panose="02010609060101010101" pitchFamily="49" charset="-122"/>
                    <a:ea typeface="楷体" panose="02010609060101010101" pitchFamily="49" charset="-122"/>
                  </a:rPr>
                  <a:t>，梁的线刚度为</a:t>
                </a:r>
                <a14:m>
                  <m:oMath xmlns:m="http://schemas.openxmlformats.org/officeDocument/2006/math">
                    <m:r>
                      <a:rPr lang="en-US" altLang="zh-CN" sz="2000" b="0" i="1" smtClean="0">
                        <a:latin typeface="Cambria Math"/>
                      </a:rPr>
                      <m:t>2</m:t>
                    </m:r>
                    <m:r>
                      <a:rPr lang="en-US" altLang="zh-CN" sz="2000" b="0" i="1" smtClean="0">
                        <a:latin typeface="Cambria Math"/>
                      </a:rPr>
                      <m:t>𝑖</m:t>
                    </m:r>
                  </m:oMath>
                </a14:m>
                <a:r>
                  <a:rPr lang="en-US" altLang="zh-CN" sz="2000" dirty="0">
                    <a:latin typeface="楷体" panose="02010609060101010101" pitchFamily="49" charset="-122"/>
                    <a:ea typeface="楷体" panose="02010609060101010101" pitchFamily="49" charset="-122"/>
                  </a:rPr>
                  <a:t>.</a:t>
                </a:r>
                <a:endParaRPr lang="zh-CN" altLang="en-US" sz="2000" dirty="0">
                  <a:latin typeface="楷体" panose="02010609060101010101" pitchFamily="49" charset="-122"/>
                  <a:ea typeface="楷体" panose="02010609060101010101" pitchFamily="49" charset="-122"/>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707904" y="1861624"/>
                <a:ext cx="4968552" cy="400110"/>
              </a:xfrm>
              <a:prstGeom prst="rect">
                <a:avLst/>
              </a:prstGeom>
              <a:blipFill rotWithShape="1">
                <a:blip r:embed="rId5"/>
                <a:stretch>
                  <a:fillRect l="-1227" t="-10606" b="-22727"/>
                </a:stretch>
              </a:blipFill>
            </p:spPr>
            <p:txBody>
              <a:bodyPr/>
              <a:lstStyle/>
              <a:p>
                <a:r>
                  <a:rPr lang="zh-CN" altLang="en-US">
                    <a:noFill/>
                  </a:rPr>
                  <a:t> </a:t>
                </a:r>
              </a:p>
            </p:txBody>
          </p:sp>
        </mc:Fallback>
      </mc:AlternateContent>
      <p:sp>
        <p:nvSpPr>
          <p:cNvPr id="7" name="TextBox 6"/>
          <p:cNvSpPr txBox="1"/>
          <p:nvPr/>
        </p:nvSpPr>
        <p:spPr>
          <a:xfrm>
            <a:off x="3707904" y="2429737"/>
            <a:ext cx="1656184" cy="707886"/>
          </a:xfrm>
          <a:prstGeom prst="rect">
            <a:avLst/>
          </a:prstGeom>
          <a:noFill/>
        </p:spPr>
        <p:txBody>
          <a:bodyPr wrap="square" rtlCol="0">
            <a:spAutoFit/>
          </a:bodyPr>
          <a:lstStyle/>
          <a:p>
            <a:r>
              <a:rPr lang="zh-CN" altLang="en-US" sz="2000" dirty="0">
                <a:solidFill>
                  <a:srgbClr val="FF0000"/>
                </a:solidFill>
                <a:latin typeface="楷体" panose="02010609060101010101" pitchFamily="49" charset="-122"/>
                <a:ea typeface="楷体" panose="02010609060101010101" pitchFamily="49" charset="-122"/>
              </a:rPr>
              <a:t>基本未知量为？</a:t>
            </a:r>
          </a:p>
        </p:txBody>
      </p:sp>
      <mc:AlternateContent xmlns:mc="http://schemas.openxmlformats.org/markup-compatibility/2006" xmlns:a14="http://schemas.microsoft.com/office/drawing/2010/main">
        <mc:Choice Requires="a14">
          <p:sp>
            <p:nvSpPr>
              <p:cNvPr id="8" name="TextBox 7"/>
              <p:cNvSpPr txBox="1"/>
              <p:nvPr/>
            </p:nvSpPr>
            <p:spPr>
              <a:xfrm>
                <a:off x="5724128" y="2460514"/>
                <a:ext cx="3024336" cy="646331"/>
              </a:xfrm>
              <a:prstGeom prst="rect">
                <a:avLst/>
              </a:prstGeom>
              <a:noFill/>
            </p:spPr>
            <p:txBody>
              <a:bodyPr wrap="square" rtlCol="0">
                <a:spAutoFit/>
              </a:bodyPr>
              <a:lstStyle/>
              <a:p>
                <a:r>
                  <a:rPr lang="zh-CN" altLang="en-US" dirty="0">
                    <a:solidFill>
                      <a:srgbClr val="FFC000"/>
                    </a:solidFill>
                    <a:latin typeface="楷体" panose="02010609060101010101" pitchFamily="49" charset="-122"/>
                    <a:ea typeface="楷体" panose="02010609060101010101" pitchFamily="49" charset="-122"/>
                  </a:rPr>
                  <a:t>刚结点转角</a:t>
                </a:r>
                <a14:m>
                  <m:oMath xmlns:m="http://schemas.openxmlformats.org/officeDocument/2006/math">
                    <m:sSub>
                      <m:sSubPr>
                        <m:ctrlPr>
                          <a:rPr lang="en-US" altLang="zh-CN" i="1" smtClean="0">
                            <a:solidFill>
                              <a:srgbClr val="FFC000"/>
                            </a:solidFill>
                            <a:latin typeface="Cambria Math" panose="02040503050406030204" pitchFamily="18" charset="0"/>
                          </a:rPr>
                        </m:ctrlPr>
                      </m:sSubPr>
                      <m:e>
                        <m:r>
                          <a:rPr lang="zh-CN" altLang="en-US" i="1" smtClean="0">
                            <a:solidFill>
                              <a:srgbClr val="FFC000"/>
                            </a:solidFill>
                            <a:latin typeface="Cambria Math"/>
                          </a:rPr>
                          <m:t>𝜃</m:t>
                        </m:r>
                      </m:e>
                      <m:sub>
                        <m:r>
                          <a:rPr lang="en-US" altLang="zh-CN" b="0" i="1" smtClean="0">
                            <a:solidFill>
                              <a:srgbClr val="FFC000"/>
                            </a:solidFill>
                            <a:latin typeface="Cambria Math"/>
                          </a:rPr>
                          <m:t>𝐵</m:t>
                        </m:r>
                      </m:sub>
                    </m:sSub>
                  </m:oMath>
                </a14:m>
                <a:r>
                  <a:rPr lang="zh-CN" altLang="en-US" dirty="0">
                    <a:solidFill>
                      <a:srgbClr val="FFC000"/>
                    </a:solidFill>
                    <a:latin typeface="楷体" panose="02010609060101010101" pitchFamily="49" charset="-122"/>
                    <a:ea typeface="楷体" panose="02010609060101010101" pitchFamily="49" charset="-122"/>
                  </a:rPr>
                  <a:t>，柱顶水平位移</a:t>
                </a:r>
                <a14:m>
                  <m:oMath xmlns:m="http://schemas.openxmlformats.org/officeDocument/2006/math">
                    <m:r>
                      <a:rPr lang="zh-CN" altLang="en-US" i="1" smtClean="0">
                        <a:solidFill>
                          <a:srgbClr val="FFC000"/>
                        </a:solidFill>
                        <a:latin typeface="Cambria Math"/>
                      </a:rPr>
                      <m:t>∆</m:t>
                    </m:r>
                  </m:oMath>
                </a14:m>
                <a:r>
                  <a:rPr lang="zh-CN" altLang="en-US" dirty="0">
                    <a:solidFill>
                      <a:srgbClr val="FFC000"/>
                    </a:solidFill>
                    <a:latin typeface="楷体" panose="02010609060101010101" pitchFamily="49" charset="-122"/>
                    <a:ea typeface="楷体" panose="02010609060101010101" pitchFamily="49" charset="-122"/>
                  </a:rPr>
                  <a:t>。</a:t>
                </a:r>
              </a:p>
            </p:txBody>
          </p:sp>
        </mc:Choice>
        <mc:Fallback xmlns="">
          <p:sp>
            <p:nvSpPr>
              <p:cNvPr id="8" name="TextBox 7"/>
              <p:cNvSpPr txBox="1">
                <a:spLocks noRot="1" noChangeAspect="1" noMove="1" noResize="1" noEditPoints="1" noAdjustHandles="1" noChangeArrowheads="1" noChangeShapeType="1" noTextEdit="1"/>
              </p:cNvSpPr>
              <p:nvPr/>
            </p:nvSpPr>
            <p:spPr>
              <a:xfrm>
                <a:off x="5724128" y="2460514"/>
                <a:ext cx="3024336" cy="646331"/>
              </a:xfrm>
              <a:prstGeom prst="rect">
                <a:avLst/>
              </a:prstGeom>
              <a:blipFill rotWithShape="1">
                <a:blip r:embed="rId6"/>
                <a:stretch>
                  <a:fillRect l="-1815" t="-6604" b="-12264"/>
                </a:stretch>
              </a:blipFill>
            </p:spPr>
            <p:txBody>
              <a:bodyPr/>
              <a:lstStyle/>
              <a:p>
                <a:r>
                  <a:rPr lang="zh-CN" altLang="en-US">
                    <a:noFill/>
                  </a:rPr>
                  <a:t> </a:t>
                </a:r>
              </a:p>
            </p:txBody>
          </p:sp>
        </mc:Fallback>
      </mc:AlternateContent>
      <p:sp>
        <p:nvSpPr>
          <p:cNvPr id="9" name="右箭头 8"/>
          <p:cNvSpPr/>
          <p:nvPr/>
        </p:nvSpPr>
        <p:spPr bwMode="auto">
          <a:xfrm>
            <a:off x="5309585" y="2734530"/>
            <a:ext cx="360040" cy="98297"/>
          </a:xfrm>
          <a:prstGeom prst="rightArrow">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pic>
        <p:nvPicPr>
          <p:cNvPr id="41988" name="Picture 4" descr="C:\Users\Administrator\AppData\Roaming\Tencent\Users\42337577\QQ\WinTemp\RichOle\]C}0]S_)YXCAZ1H2P11}$YR.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8797" y="4293096"/>
            <a:ext cx="2779130" cy="157886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p:cNvSpPr txBox="1"/>
              <p:nvPr/>
            </p:nvSpPr>
            <p:spPr>
              <a:xfrm>
                <a:off x="3707904" y="3174568"/>
                <a:ext cx="5040560" cy="646331"/>
              </a:xfrm>
              <a:prstGeom prst="rect">
                <a:avLst/>
              </a:prstGeom>
              <a:noFill/>
            </p:spPr>
            <p:txBody>
              <a:bodyPr wrap="square" rtlCol="0">
                <a:spAutoFit/>
              </a:bodyPr>
              <a:lstStyle/>
              <a:p>
                <a:r>
                  <a:rPr lang="zh-CN" altLang="en-US" dirty="0">
                    <a:solidFill>
                      <a:srgbClr val="FF0000"/>
                    </a:solidFill>
                    <a:latin typeface="楷体" panose="02010609060101010101" pitchFamily="49" charset="-122"/>
                    <a:ea typeface="楷体" panose="02010609060101010101" pitchFamily="49" charset="-122"/>
                  </a:rPr>
                  <a:t>注意</a:t>
                </a:r>
                <a:r>
                  <a:rPr lang="zh-CN" altLang="en-US" dirty="0">
                    <a:latin typeface="楷体" panose="02010609060101010101" pitchFamily="49" charset="-122"/>
                    <a:ea typeface="楷体" panose="02010609060101010101" pitchFamily="49" charset="-122"/>
                  </a:rPr>
                  <a:t>：</a:t>
                </a:r>
                <a14:m>
                  <m:oMath xmlns:m="http://schemas.openxmlformats.org/officeDocument/2006/math">
                    <m:r>
                      <a:rPr lang="en-US" altLang="zh-CN" b="0" i="1" smtClean="0">
                        <a:latin typeface="Cambria Math"/>
                      </a:rPr>
                      <m:t>𝐴𝐵</m:t>
                    </m:r>
                  </m:oMath>
                </a14:m>
                <a:r>
                  <a:rPr lang="zh-CN" altLang="en-US" dirty="0">
                    <a:latin typeface="楷体" panose="02010609060101010101" pitchFamily="49" charset="-122"/>
                    <a:ea typeface="楷体" panose="02010609060101010101" pitchFamily="49" charset="-122"/>
                  </a:rPr>
                  <a:t>和</a:t>
                </a:r>
                <a14:m>
                  <m:oMath xmlns:m="http://schemas.openxmlformats.org/officeDocument/2006/math">
                    <m:r>
                      <a:rPr lang="en-US" altLang="zh-CN" b="0" i="1" dirty="0" smtClean="0">
                        <a:latin typeface="Cambria Math"/>
                      </a:rPr>
                      <m:t>𝐶𝐷</m:t>
                    </m:r>
                  </m:oMath>
                </a14:m>
                <a:r>
                  <a:rPr lang="zh-CN" altLang="en-US" dirty="0">
                    <a:latin typeface="楷体" panose="02010609060101010101" pitchFamily="49" charset="-122"/>
                    <a:ea typeface="楷体" panose="02010609060101010101" pitchFamily="49" charset="-122"/>
                  </a:rPr>
                  <a:t>杆的两端结点有相对侧移</a:t>
                </a:r>
                <a14:m>
                  <m:oMath xmlns:m="http://schemas.openxmlformats.org/officeDocument/2006/math">
                    <m:r>
                      <a:rPr lang="zh-CN" altLang="en-US" i="1" smtClean="0">
                        <a:latin typeface="Cambria Math"/>
                      </a:rPr>
                      <m:t>∆</m:t>
                    </m:r>
                  </m:oMath>
                </a14:m>
                <a:r>
                  <a:rPr lang="zh-CN" altLang="en-US" dirty="0">
                    <a:latin typeface="楷体" panose="02010609060101010101" pitchFamily="49" charset="-122"/>
                    <a:ea typeface="楷体" panose="02010609060101010101" pitchFamily="49" charset="-122"/>
                  </a:rPr>
                  <a:t>，但</a:t>
                </a:r>
                <a14:m>
                  <m:oMath xmlns:m="http://schemas.openxmlformats.org/officeDocument/2006/math">
                    <m:r>
                      <a:rPr lang="en-US" altLang="zh-CN" b="0" i="1" smtClean="0">
                        <a:latin typeface="Cambria Math"/>
                      </a:rPr>
                      <m:t>𝐵𝐶</m:t>
                    </m:r>
                  </m:oMath>
                </a14:m>
                <a:r>
                  <a:rPr lang="zh-CN" altLang="en-US" dirty="0">
                    <a:latin typeface="楷体" panose="02010609060101010101" pitchFamily="49" charset="-122"/>
                    <a:ea typeface="楷体" panose="02010609060101010101" pitchFamily="49" charset="-122"/>
                  </a:rPr>
                  <a:t>杆的两端结点只有整体的水平位移。</a:t>
                </a:r>
              </a:p>
            </p:txBody>
          </p:sp>
        </mc:Choice>
        <mc:Fallback xmlns="">
          <p:sp>
            <p:nvSpPr>
              <p:cNvPr id="10" name="TextBox 9"/>
              <p:cNvSpPr txBox="1">
                <a:spLocks noRot="1" noChangeAspect="1" noMove="1" noResize="1" noEditPoints="1" noAdjustHandles="1" noChangeArrowheads="1" noChangeShapeType="1" noTextEdit="1"/>
              </p:cNvSpPr>
              <p:nvPr/>
            </p:nvSpPr>
            <p:spPr>
              <a:xfrm>
                <a:off x="3707904" y="3174568"/>
                <a:ext cx="5040560" cy="646331"/>
              </a:xfrm>
              <a:prstGeom prst="rect">
                <a:avLst/>
              </a:prstGeom>
              <a:blipFill rotWithShape="1">
                <a:blip r:embed="rId8"/>
                <a:stretch>
                  <a:fillRect l="-967" t="-6604" b="-12264"/>
                </a:stretch>
              </a:blipFill>
            </p:spPr>
            <p:txBody>
              <a:bodyPr/>
              <a:lstStyle/>
              <a:p>
                <a:r>
                  <a:rPr lang="zh-CN" altLang="en-US">
                    <a:noFill/>
                  </a:rPr>
                  <a:t> </a:t>
                </a:r>
              </a:p>
            </p:txBody>
          </p:sp>
        </mc:Fallback>
      </mc:AlternateContent>
      <p:sp>
        <p:nvSpPr>
          <p:cNvPr id="11" name="TextBox 10"/>
          <p:cNvSpPr txBox="1"/>
          <p:nvPr/>
        </p:nvSpPr>
        <p:spPr>
          <a:xfrm>
            <a:off x="3707903" y="4035576"/>
            <a:ext cx="2016225" cy="400110"/>
          </a:xfrm>
          <a:prstGeom prst="rect">
            <a:avLst/>
          </a:prstGeom>
          <a:noFill/>
        </p:spPr>
        <p:txBody>
          <a:bodyPr wrap="square" rtlCol="0">
            <a:spAutoFit/>
          </a:bodyPr>
          <a:lstStyle/>
          <a:p>
            <a:r>
              <a:rPr lang="zh-CN" altLang="en-US" sz="2000" b="1" dirty="0">
                <a:latin typeface="楷体" panose="02010609060101010101" pitchFamily="49" charset="-122"/>
                <a:ea typeface="楷体" panose="02010609060101010101" pitchFamily="49" charset="-122"/>
              </a:rPr>
              <a:t>由转角位移方程：</a:t>
            </a:r>
          </a:p>
        </p:txBody>
      </p:sp>
      <p:graphicFrame>
        <p:nvGraphicFramePr>
          <p:cNvPr id="12" name="对象 11"/>
          <p:cNvGraphicFramePr>
            <a:graphicFrameLocks noChangeAspect="1"/>
          </p:cNvGraphicFramePr>
          <p:nvPr>
            <p:extLst>
              <p:ext uri="{D42A27DB-BD31-4B8C-83A1-F6EECF244321}">
                <p14:modId xmlns:p14="http://schemas.microsoft.com/office/powerpoint/2010/main" val="395170455"/>
              </p:ext>
            </p:extLst>
          </p:nvPr>
        </p:nvGraphicFramePr>
        <p:xfrm>
          <a:off x="5097463" y="4392613"/>
          <a:ext cx="2362200" cy="1092200"/>
        </p:xfrm>
        <a:graphic>
          <a:graphicData uri="http://schemas.openxmlformats.org/presentationml/2006/ole">
            <mc:AlternateContent xmlns:mc="http://schemas.openxmlformats.org/markup-compatibility/2006">
              <mc:Choice xmlns:v="urn:schemas-microsoft-com:vml" Requires="v">
                <p:oleObj spid="_x0000_s42480" name="Equation" r:id="rId9" imgW="2361960" imgH="1091880" progId="Equation.DSMT4">
                  <p:embed/>
                </p:oleObj>
              </mc:Choice>
              <mc:Fallback>
                <p:oleObj name="Equation" r:id="rId9" imgW="2361960" imgH="1091880" progId="Equation.DSMT4">
                  <p:embed/>
                  <p:pic>
                    <p:nvPicPr>
                      <p:cNvPr id="0" name=""/>
                      <p:cNvPicPr/>
                      <p:nvPr/>
                    </p:nvPicPr>
                    <p:blipFill>
                      <a:blip r:embed="rId10"/>
                      <a:stretch>
                        <a:fillRect/>
                      </a:stretch>
                    </p:blipFill>
                    <p:spPr>
                      <a:xfrm>
                        <a:off x="5097463" y="4392613"/>
                        <a:ext cx="2362200" cy="1092200"/>
                      </a:xfrm>
                      <a:prstGeom prst="rect">
                        <a:avLst/>
                      </a:prstGeom>
                    </p:spPr>
                  </p:pic>
                </p:oleObj>
              </mc:Fallback>
            </mc:AlternateContent>
          </a:graphicData>
        </a:graphic>
      </p:graphicFrame>
    </p:spTree>
    <p:extLst>
      <p:ext uri="{BB962C8B-B14F-4D97-AF65-F5344CB8AC3E}">
        <p14:creationId xmlns:p14="http://schemas.microsoft.com/office/powerpoint/2010/main" val="3900837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arn(inVertical)">
                                      <p:cBhvr>
                                        <p:cTn id="20" dur="500"/>
                                        <p:tgtEl>
                                          <p:spTgt spid="8"/>
                                        </p:tgtEl>
                                      </p:cBhvr>
                                    </p:animEffect>
                                  </p:childTnLst>
                                </p:cTn>
                              </p:par>
                              <p:par>
                                <p:cTn id="21" presetID="16" presetClass="entr" presetSubtype="21" fill="hold" nodeType="withEffect">
                                  <p:stCondLst>
                                    <p:cond delay="0"/>
                                  </p:stCondLst>
                                  <p:childTnLst>
                                    <p:set>
                                      <p:cBhvr>
                                        <p:cTn id="22" dur="1" fill="hold">
                                          <p:stCondLst>
                                            <p:cond delay="0"/>
                                          </p:stCondLst>
                                        </p:cTn>
                                        <p:tgtEl>
                                          <p:spTgt spid="41988"/>
                                        </p:tgtEl>
                                        <p:attrNameLst>
                                          <p:attrName>style.visibility</p:attrName>
                                        </p:attrNameLst>
                                      </p:cBhvr>
                                      <p:to>
                                        <p:strVal val="visible"/>
                                      </p:to>
                                    </p:set>
                                    <p:animEffect transition="in" filter="barn(inVertical)">
                                      <p:cBhvr>
                                        <p:cTn id="23" dur="500"/>
                                        <p:tgtEl>
                                          <p:spTgt spid="41988"/>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barn(inVertical)">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randombar(horizontal)">
                                      <p:cBhvr>
                                        <p:cTn id="33" dur="500"/>
                                        <p:tgtEl>
                                          <p:spTgt spid="11"/>
                                        </p:tgtEl>
                                      </p:cBhvr>
                                    </p:animEffect>
                                  </p:childTnLst>
                                </p:cTn>
                              </p:par>
                              <p:par>
                                <p:cTn id="34" presetID="14" presetClass="entr" presetSubtype="10"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randombar(horizontal)">
                                      <p:cBhvr>
                                        <p:cTn id="3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animBg="1"/>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7-4 </a:t>
            </a:r>
            <a:r>
              <a:rPr lang="zh-CN" altLang="en-US" dirty="0"/>
              <a:t>位移法解有侧移刚架</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3" name="AutoShape 1" descr="C:\Users\Administrator\AppData\Roaming\Tencent\Users\42337577\QQ\WinTemp\RichOle\05X BNNT{ZR)84D`_ER~6.png"/>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TextBox 3"/>
          <p:cNvSpPr txBox="1"/>
          <p:nvPr/>
        </p:nvSpPr>
        <p:spPr>
          <a:xfrm>
            <a:off x="467544" y="1349168"/>
            <a:ext cx="8280920" cy="400110"/>
          </a:xfrm>
          <a:prstGeom prst="rect">
            <a:avLst/>
          </a:prstGeom>
          <a:noFill/>
        </p:spPr>
        <p:txBody>
          <a:bodyPr wrap="square" rtlCol="0">
            <a:spAutoFit/>
          </a:bodyPr>
          <a:lstStyle/>
          <a:p>
            <a:r>
              <a:rPr lang="zh-CN" altLang="en-US" sz="2000" dirty="0">
                <a:latin typeface="楷体" panose="02010609060101010101" pitchFamily="49" charset="-122"/>
                <a:ea typeface="楷体" panose="02010609060101010101" pitchFamily="49" charset="-122"/>
              </a:rPr>
              <a:t>通过叠加固端弯矩，各杆的杆端弯矩如下：</a:t>
            </a:r>
          </a:p>
        </p:txBody>
      </p:sp>
      <p:graphicFrame>
        <p:nvGraphicFramePr>
          <p:cNvPr id="6" name="对象 5"/>
          <p:cNvGraphicFramePr>
            <a:graphicFrameLocks noChangeAspect="1"/>
          </p:cNvGraphicFramePr>
          <p:nvPr>
            <p:extLst>
              <p:ext uri="{D42A27DB-BD31-4B8C-83A1-F6EECF244321}">
                <p14:modId xmlns:p14="http://schemas.microsoft.com/office/powerpoint/2010/main" val="2912817355"/>
              </p:ext>
            </p:extLst>
          </p:nvPr>
        </p:nvGraphicFramePr>
        <p:xfrm>
          <a:off x="603892" y="3645024"/>
          <a:ext cx="2362200" cy="1092200"/>
        </p:xfrm>
        <a:graphic>
          <a:graphicData uri="http://schemas.openxmlformats.org/presentationml/2006/ole">
            <mc:AlternateContent xmlns:mc="http://schemas.openxmlformats.org/markup-compatibility/2006">
              <mc:Choice xmlns:v="urn:schemas-microsoft-com:vml" Requires="v">
                <p:oleObj spid="_x0000_s88514" name="Equation" r:id="rId4" imgW="2361960" imgH="1091880" progId="Equation.DSMT4">
                  <p:embed/>
                </p:oleObj>
              </mc:Choice>
              <mc:Fallback>
                <p:oleObj name="Equation" r:id="rId4" imgW="2361960" imgH="1091880" progId="Equation.DSMT4">
                  <p:embed/>
                  <p:pic>
                    <p:nvPicPr>
                      <p:cNvPr id="0" name="对象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92" y="3645024"/>
                        <a:ext cx="2362200" cy="1092200"/>
                      </a:xfrm>
                      <a:prstGeom prst="rect">
                        <a:avLst/>
                      </a:prstGeom>
                      <a:noFill/>
                      <a:ln>
                        <a:noFill/>
                      </a:ln>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600283087"/>
              </p:ext>
            </p:extLst>
          </p:nvPr>
        </p:nvGraphicFramePr>
        <p:xfrm>
          <a:off x="654692" y="4913436"/>
          <a:ext cx="2222500" cy="609600"/>
        </p:xfrm>
        <a:graphic>
          <a:graphicData uri="http://schemas.openxmlformats.org/presentationml/2006/ole">
            <mc:AlternateContent xmlns:mc="http://schemas.openxmlformats.org/markup-compatibility/2006">
              <mc:Choice xmlns:v="urn:schemas-microsoft-com:vml" Requires="v">
                <p:oleObj spid="_x0000_s88515" name="Equation" r:id="rId6" imgW="2222280" imgH="609480" progId="Equation.DSMT4">
                  <p:embed/>
                </p:oleObj>
              </mc:Choice>
              <mc:Fallback>
                <p:oleObj name="Equation" r:id="rId6" imgW="2222280" imgH="609480" progId="Equation.DSMT4">
                  <p:embed/>
                  <p:pic>
                    <p:nvPicPr>
                      <p:cNvPr id="0" name="对象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4692" y="4913436"/>
                        <a:ext cx="2222500" cy="609600"/>
                      </a:xfrm>
                      <a:prstGeom prst="rect">
                        <a:avLst/>
                      </a:prstGeom>
                      <a:noFill/>
                      <a:ln>
                        <a:noFill/>
                      </a:ln>
                    </p:spPr>
                  </p:pic>
                </p:oleObj>
              </mc:Fallback>
            </mc:AlternateContent>
          </a:graphicData>
        </a:graphic>
      </p:graphicFrame>
      <mc:AlternateContent xmlns:mc="http://schemas.openxmlformats.org/markup-compatibility/2006" xmlns:a14="http://schemas.microsoft.com/office/drawing/2010/main">
        <mc:Choice Requires="a14">
          <p:sp>
            <p:nvSpPr>
              <p:cNvPr id="8" name="TextBox 7"/>
              <p:cNvSpPr txBox="1"/>
              <p:nvPr/>
            </p:nvSpPr>
            <p:spPr>
              <a:xfrm>
                <a:off x="3275856" y="1844824"/>
                <a:ext cx="2160240"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杆</a:t>
                </a:r>
                <a14:m>
                  <m:oMath xmlns:m="http://schemas.openxmlformats.org/officeDocument/2006/math">
                    <m:r>
                      <a:rPr lang="en-US" altLang="zh-CN" b="0" i="1" smtClean="0">
                        <a:latin typeface="Cambria Math"/>
                      </a:rPr>
                      <m:t>𝐴𝐵</m:t>
                    </m:r>
                  </m:oMath>
                </a14:m>
                <a:r>
                  <a:rPr lang="zh-CN" altLang="en-US" dirty="0">
                    <a:latin typeface="楷体" panose="02010609060101010101" pitchFamily="49" charset="-122"/>
                    <a:ea typeface="楷体" panose="02010609060101010101" pitchFamily="49" charset="-122"/>
                  </a:rPr>
                  <a:t>（</a:t>
                </a:r>
                <a14:m>
                  <m:oMath xmlns:m="http://schemas.openxmlformats.org/officeDocument/2006/math">
                    <m:sSub>
                      <m:sSubPr>
                        <m:ctrlPr>
                          <a:rPr lang="en-US" altLang="zh-CN" i="1" dirty="0" smtClean="0">
                            <a:latin typeface="Cambria Math" panose="02040503050406030204" pitchFamily="18" charset="0"/>
                          </a:rPr>
                        </m:ctrlPr>
                      </m:sSubPr>
                      <m:e>
                        <m:r>
                          <a:rPr lang="zh-CN" altLang="en-US" i="1" dirty="0" smtClean="0">
                            <a:latin typeface="Cambria Math"/>
                          </a:rPr>
                          <m:t>𝜃</m:t>
                        </m:r>
                      </m:e>
                      <m:sub>
                        <m:r>
                          <a:rPr lang="en-US" altLang="zh-CN" b="0" i="1" dirty="0" smtClean="0">
                            <a:latin typeface="Cambria Math"/>
                          </a:rPr>
                          <m:t>𝐴</m:t>
                        </m:r>
                      </m:sub>
                    </m:sSub>
                    <m:r>
                      <a:rPr lang="en-US" altLang="zh-CN" b="0" i="1" dirty="0" smtClean="0">
                        <a:latin typeface="Cambria Math"/>
                      </a:rPr>
                      <m:t>=0</m:t>
                    </m:r>
                  </m:oMath>
                </a14:m>
                <a:r>
                  <a:rPr lang="zh-CN" altLang="en-US" dirty="0">
                    <a:latin typeface="楷体" panose="02010609060101010101" pitchFamily="49" charset="-122"/>
                    <a:ea typeface="楷体" panose="02010609060101010101" pitchFamily="49" charset="-122"/>
                  </a:rPr>
                  <a:t>）：</a:t>
                </a:r>
              </a:p>
            </p:txBody>
          </p:sp>
        </mc:Choice>
        <mc:Fallback xmlns="">
          <p:sp>
            <p:nvSpPr>
              <p:cNvPr id="8" name="TextBox 7"/>
              <p:cNvSpPr txBox="1">
                <a:spLocks noRot="1" noChangeAspect="1" noMove="1" noResize="1" noEditPoints="1" noAdjustHandles="1" noChangeArrowheads="1" noChangeShapeType="1" noTextEdit="1"/>
              </p:cNvSpPr>
              <p:nvPr/>
            </p:nvSpPr>
            <p:spPr>
              <a:xfrm>
                <a:off x="3275856" y="1844824"/>
                <a:ext cx="2160240" cy="369332"/>
              </a:xfrm>
              <a:prstGeom prst="rect">
                <a:avLst/>
              </a:prstGeom>
              <a:blipFill rotWithShape="1">
                <a:blip r:embed="rId8"/>
                <a:stretch>
                  <a:fillRect l="-2254" t="-11667" b="-23333"/>
                </a:stretch>
              </a:blipFill>
            </p:spPr>
            <p:txBody>
              <a:bodyPr/>
              <a:lstStyle/>
              <a:p>
                <a:r>
                  <a:rPr lang="zh-CN" altLang="en-US">
                    <a:noFill/>
                  </a:rPr>
                  <a:t> </a:t>
                </a:r>
              </a:p>
            </p:txBody>
          </p:sp>
        </mc:Fallback>
      </mc:AlternateContent>
      <p:graphicFrame>
        <p:nvGraphicFramePr>
          <p:cNvPr id="9" name="对象 8"/>
          <p:cNvGraphicFramePr>
            <a:graphicFrameLocks noChangeAspect="1"/>
          </p:cNvGraphicFramePr>
          <p:nvPr>
            <p:extLst>
              <p:ext uri="{D42A27DB-BD31-4B8C-83A1-F6EECF244321}">
                <p14:modId xmlns:p14="http://schemas.microsoft.com/office/powerpoint/2010/main" val="3843837083"/>
              </p:ext>
            </p:extLst>
          </p:nvPr>
        </p:nvGraphicFramePr>
        <p:xfrm>
          <a:off x="4114800" y="2249488"/>
          <a:ext cx="2641600" cy="304800"/>
        </p:xfrm>
        <a:graphic>
          <a:graphicData uri="http://schemas.openxmlformats.org/presentationml/2006/ole">
            <mc:AlternateContent xmlns:mc="http://schemas.openxmlformats.org/markup-compatibility/2006">
              <mc:Choice xmlns:v="urn:schemas-microsoft-com:vml" Requires="v">
                <p:oleObj spid="_x0000_s88516" name="Equation" r:id="rId9" imgW="2641320" imgH="304560" progId="Equation.DSMT4">
                  <p:embed/>
                </p:oleObj>
              </mc:Choice>
              <mc:Fallback>
                <p:oleObj name="Equation" r:id="rId9" imgW="2641320" imgH="304560" progId="Equation.DSMT4">
                  <p:embed/>
                  <p:pic>
                    <p:nvPicPr>
                      <p:cNvPr id="0" name=""/>
                      <p:cNvPicPr/>
                      <p:nvPr/>
                    </p:nvPicPr>
                    <p:blipFill>
                      <a:blip r:embed="rId10"/>
                      <a:stretch>
                        <a:fillRect/>
                      </a:stretch>
                    </p:blipFill>
                    <p:spPr>
                      <a:xfrm>
                        <a:off x="4114800" y="2249488"/>
                        <a:ext cx="2641600" cy="304800"/>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681508398"/>
              </p:ext>
            </p:extLst>
          </p:nvPr>
        </p:nvGraphicFramePr>
        <p:xfrm>
          <a:off x="4121150" y="2652713"/>
          <a:ext cx="2628900" cy="304800"/>
        </p:xfrm>
        <a:graphic>
          <a:graphicData uri="http://schemas.openxmlformats.org/presentationml/2006/ole">
            <mc:AlternateContent xmlns:mc="http://schemas.openxmlformats.org/markup-compatibility/2006">
              <mc:Choice xmlns:v="urn:schemas-microsoft-com:vml" Requires="v">
                <p:oleObj spid="_x0000_s88517" name="Equation" r:id="rId11" imgW="2628720" imgH="304560" progId="Equation.DSMT4">
                  <p:embed/>
                </p:oleObj>
              </mc:Choice>
              <mc:Fallback>
                <p:oleObj name="Equation" r:id="rId11" imgW="2628720" imgH="304560" progId="Equation.DSMT4">
                  <p:embed/>
                  <p:pic>
                    <p:nvPicPr>
                      <p:cNvPr id="0" name="对象 8"/>
                      <p:cNvPicPr>
                        <a:picLocks noChangeAspect="1" noChangeArrowheads="1"/>
                      </p:cNvPicPr>
                      <p:nvPr/>
                    </p:nvPicPr>
                    <p:blipFill>
                      <a:blip r:embed="rId12"/>
                      <a:srcRect/>
                      <a:stretch>
                        <a:fillRect/>
                      </a:stretch>
                    </p:blipFill>
                    <p:spPr bwMode="auto">
                      <a:xfrm>
                        <a:off x="4121150" y="2652713"/>
                        <a:ext cx="26289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13" name="TextBox 12"/>
              <p:cNvSpPr txBox="1"/>
              <p:nvPr/>
            </p:nvSpPr>
            <p:spPr>
              <a:xfrm>
                <a:off x="3275856" y="3213625"/>
                <a:ext cx="2808312"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杆</a:t>
                </a:r>
                <a14:m>
                  <m:oMath xmlns:m="http://schemas.openxmlformats.org/officeDocument/2006/math">
                    <m:r>
                      <a:rPr lang="en-US" altLang="zh-CN" b="0" i="1" smtClean="0">
                        <a:latin typeface="Cambria Math"/>
                      </a:rPr>
                      <m:t>𝐵𝐶</m:t>
                    </m:r>
                  </m:oMath>
                </a14:m>
                <a:r>
                  <a:rPr lang="zh-CN" altLang="en-US" dirty="0">
                    <a:latin typeface="楷体" panose="02010609060101010101" pitchFamily="49" charset="-122"/>
                    <a:ea typeface="楷体" panose="02010609060101010101" pitchFamily="49" charset="-122"/>
                  </a:rPr>
                  <a:t>（</a:t>
                </a:r>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a:rPr>
                          <m:t>𝑀</m:t>
                        </m:r>
                      </m:e>
                      <m:sub>
                        <m:r>
                          <a:rPr lang="en-US" altLang="zh-CN" b="0" i="1" dirty="0" smtClean="0">
                            <a:latin typeface="Cambria Math"/>
                          </a:rPr>
                          <m:t>𝐶𝐵</m:t>
                        </m:r>
                      </m:sub>
                    </m:sSub>
                    <m:r>
                      <a:rPr lang="en-US" altLang="zh-CN" b="0" i="1" dirty="0" smtClean="0">
                        <a:latin typeface="Cambria Math"/>
                      </a:rPr>
                      <m:t>=0</m:t>
                    </m:r>
                  </m:oMath>
                </a14:m>
                <a:r>
                  <a:rPr lang="en-US" altLang="zh-CN" dirty="0">
                    <a:latin typeface="楷体" panose="02010609060101010101" pitchFamily="49" charset="-122"/>
                    <a:ea typeface="楷体" panose="02010609060101010101" pitchFamily="49" charset="-122"/>
                  </a:rPr>
                  <a:t>,</a:t>
                </a:r>
                <a14:m>
                  <m:oMath xmlns:m="http://schemas.openxmlformats.org/officeDocument/2006/math">
                    <m:r>
                      <a:rPr lang="en-US" altLang="zh-CN" i="1" dirty="0" smtClean="0">
                        <a:latin typeface="Cambria Math"/>
                        <a:ea typeface="Cambria Math"/>
                      </a:rPr>
                      <m:t> ∆</m:t>
                    </m:r>
                    <m:r>
                      <a:rPr lang="en-US" altLang="zh-CN" b="0" i="1" dirty="0" smtClean="0">
                        <a:latin typeface="Cambria Math"/>
                        <a:ea typeface="Cambria Math"/>
                      </a:rPr>
                      <m:t>=0</m:t>
                    </m:r>
                  </m:oMath>
                </a14:m>
                <a:r>
                  <a:rPr lang="zh-CN" altLang="en-US" dirty="0">
                    <a:latin typeface="楷体" panose="02010609060101010101" pitchFamily="49" charset="-122"/>
                    <a:ea typeface="楷体" panose="02010609060101010101" pitchFamily="49" charset="-122"/>
                  </a:rPr>
                  <a:t>）：</a:t>
                </a:r>
              </a:p>
            </p:txBody>
          </p:sp>
        </mc:Choice>
        <mc:Fallback xmlns="">
          <p:sp>
            <p:nvSpPr>
              <p:cNvPr id="13" name="TextBox 12"/>
              <p:cNvSpPr txBox="1">
                <a:spLocks noRot="1" noChangeAspect="1" noMove="1" noResize="1" noEditPoints="1" noAdjustHandles="1" noChangeArrowheads="1" noChangeShapeType="1" noTextEdit="1"/>
              </p:cNvSpPr>
              <p:nvPr/>
            </p:nvSpPr>
            <p:spPr>
              <a:xfrm>
                <a:off x="3275856" y="3213625"/>
                <a:ext cx="2808312" cy="369332"/>
              </a:xfrm>
              <a:prstGeom prst="rect">
                <a:avLst/>
              </a:prstGeom>
              <a:blipFill rotWithShape="1">
                <a:blip r:embed="rId13"/>
                <a:stretch>
                  <a:fillRect l="-1735" t="-11475" r="-9978" b="-21311"/>
                </a:stretch>
              </a:blipFill>
            </p:spPr>
            <p:txBody>
              <a:bodyPr/>
              <a:lstStyle/>
              <a:p>
                <a:r>
                  <a:rPr lang="zh-CN" altLang="en-US">
                    <a:noFill/>
                  </a:rPr>
                  <a:t> </a:t>
                </a:r>
              </a:p>
            </p:txBody>
          </p:sp>
        </mc:Fallback>
      </mc:AlternateContent>
      <p:cxnSp>
        <p:nvCxnSpPr>
          <p:cNvPr id="15" name="直接连接符 14"/>
          <p:cNvCxnSpPr/>
          <p:nvPr/>
        </p:nvCxnSpPr>
        <p:spPr bwMode="auto">
          <a:xfrm>
            <a:off x="3146769" y="1781082"/>
            <a:ext cx="0" cy="4168198"/>
          </a:xfrm>
          <a:prstGeom prst="line">
            <a:avLst/>
          </a:prstGeom>
          <a:solidFill>
            <a:schemeClr val="accent1"/>
          </a:solidFill>
          <a:ln w="19050" cap="flat" cmpd="sng" algn="ctr">
            <a:solidFill>
              <a:srgbClr val="FFC000"/>
            </a:solidFill>
            <a:prstDash val="solid"/>
            <a:round/>
            <a:headEnd type="none" w="med" len="med"/>
            <a:tailEnd type="none" w="med" len="med"/>
          </a:ln>
          <a:effectLst/>
        </p:spPr>
      </p:cxnSp>
      <p:graphicFrame>
        <p:nvGraphicFramePr>
          <p:cNvPr id="16" name="对象 15"/>
          <p:cNvGraphicFramePr>
            <a:graphicFrameLocks noChangeAspect="1"/>
          </p:cNvGraphicFramePr>
          <p:nvPr>
            <p:extLst>
              <p:ext uri="{D42A27DB-BD31-4B8C-83A1-F6EECF244321}">
                <p14:modId xmlns:p14="http://schemas.microsoft.com/office/powerpoint/2010/main" val="299340022"/>
              </p:ext>
            </p:extLst>
          </p:nvPr>
        </p:nvGraphicFramePr>
        <p:xfrm>
          <a:off x="4139952" y="3717032"/>
          <a:ext cx="2997200" cy="558800"/>
        </p:xfrm>
        <a:graphic>
          <a:graphicData uri="http://schemas.openxmlformats.org/presentationml/2006/ole">
            <mc:AlternateContent xmlns:mc="http://schemas.openxmlformats.org/markup-compatibility/2006">
              <mc:Choice xmlns:v="urn:schemas-microsoft-com:vml" Requires="v">
                <p:oleObj spid="_x0000_s88518" name="Equation" r:id="rId14" imgW="2997000" imgH="558720" progId="Equation.DSMT4">
                  <p:embed/>
                </p:oleObj>
              </mc:Choice>
              <mc:Fallback>
                <p:oleObj name="Equation" r:id="rId14" imgW="2997000" imgH="558720" progId="Equation.DSMT4">
                  <p:embed/>
                  <p:pic>
                    <p:nvPicPr>
                      <p:cNvPr id="0" name=""/>
                      <p:cNvPicPr/>
                      <p:nvPr/>
                    </p:nvPicPr>
                    <p:blipFill>
                      <a:blip r:embed="rId15"/>
                      <a:stretch>
                        <a:fillRect/>
                      </a:stretch>
                    </p:blipFill>
                    <p:spPr>
                      <a:xfrm>
                        <a:off x="4139952" y="3717032"/>
                        <a:ext cx="2997200" cy="5588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8" name="TextBox 17"/>
              <p:cNvSpPr txBox="1"/>
              <p:nvPr/>
            </p:nvSpPr>
            <p:spPr>
              <a:xfrm>
                <a:off x="3275856" y="4509120"/>
                <a:ext cx="3600400"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杆</a:t>
                </a:r>
                <a14:m>
                  <m:oMath xmlns:m="http://schemas.openxmlformats.org/officeDocument/2006/math">
                    <m:r>
                      <a:rPr lang="en-US" altLang="zh-CN" b="0" i="1" smtClean="0">
                        <a:latin typeface="Cambria Math"/>
                      </a:rPr>
                      <m:t>𝐶𝐷</m:t>
                    </m:r>
                  </m:oMath>
                </a14:m>
                <a:r>
                  <a:rPr lang="zh-CN" altLang="en-US" dirty="0">
                    <a:latin typeface="楷体" panose="02010609060101010101" pitchFamily="49" charset="-122"/>
                    <a:ea typeface="楷体" panose="02010609060101010101" pitchFamily="49" charset="-122"/>
                  </a:rPr>
                  <a:t>（</a:t>
                </a:r>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a:rPr>
                          <m:t>𝑀</m:t>
                        </m:r>
                      </m:e>
                      <m:sub>
                        <m:r>
                          <a:rPr lang="en-US" altLang="zh-CN" b="0" i="1" dirty="0" smtClean="0">
                            <a:latin typeface="Cambria Math"/>
                          </a:rPr>
                          <m:t>𝐶𝐷</m:t>
                        </m:r>
                      </m:sub>
                    </m:sSub>
                    <m:r>
                      <a:rPr lang="en-US" altLang="zh-CN" b="0" i="1" dirty="0" smtClean="0">
                        <a:latin typeface="Cambria Math"/>
                      </a:rPr>
                      <m:t>=0</m:t>
                    </m:r>
                    <m:r>
                      <a:rPr lang="en-US" altLang="zh-CN" i="1" dirty="0" smtClean="0">
                        <a:latin typeface="Cambria Math"/>
                        <a:ea typeface="Cambria Math"/>
                      </a:rPr>
                      <m:t> </m:t>
                    </m:r>
                  </m:oMath>
                </a14:m>
                <a:r>
                  <a:rPr lang="zh-CN" altLang="en-US" dirty="0">
                    <a:latin typeface="楷体" panose="02010609060101010101" pitchFamily="49" charset="-122"/>
                    <a:ea typeface="楷体" panose="02010609060101010101" pitchFamily="49" charset="-122"/>
                  </a:rPr>
                  <a:t>，</a:t>
                </a:r>
                <a14:m>
                  <m:oMath xmlns:m="http://schemas.openxmlformats.org/officeDocument/2006/math">
                    <m:sSub>
                      <m:sSubPr>
                        <m:ctrlPr>
                          <a:rPr lang="en-US" altLang="zh-CN" i="1" dirty="0">
                            <a:latin typeface="Cambria Math" panose="02040503050406030204" pitchFamily="18" charset="0"/>
                            <a:ea typeface="Cambria Math"/>
                          </a:rPr>
                        </m:ctrlPr>
                      </m:sSubPr>
                      <m:e>
                        <m:r>
                          <a:rPr lang="zh-CN" altLang="en-US" i="1" dirty="0">
                            <a:latin typeface="Cambria Math"/>
                            <a:ea typeface="Cambria Math"/>
                          </a:rPr>
                          <m:t>𝜃</m:t>
                        </m:r>
                      </m:e>
                      <m:sub>
                        <m:r>
                          <a:rPr lang="en-US" altLang="zh-CN" b="0" i="1" dirty="0" smtClean="0">
                            <a:latin typeface="Cambria Math"/>
                            <a:ea typeface="Cambria Math"/>
                          </a:rPr>
                          <m:t>𝐷</m:t>
                        </m:r>
                      </m:sub>
                    </m:sSub>
                    <m:r>
                      <a:rPr lang="en-US" altLang="zh-CN" b="0" i="1" dirty="0" smtClean="0">
                        <a:latin typeface="Cambria Math"/>
                        <a:ea typeface="Cambria Math"/>
                      </a:rPr>
                      <m:t>=0</m:t>
                    </m:r>
                  </m:oMath>
                </a14:m>
                <a:r>
                  <a:rPr lang="zh-CN" altLang="en-US" dirty="0">
                    <a:latin typeface="楷体" panose="02010609060101010101" pitchFamily="49" charset="-122"/>
                    <a:ea typeface="楷体" panose="02010609060101010101" pitchFamily="49" charset="-122"/>
                  </a:rPr>
                  <a:t>）：</a:t>
                </a:r>
              </a:p>
            </p:txBody>
          </p:sp>
        </mc:Choice>
        <mc:Fallback xmlns="">
          <p:sp>
            <p:nvSpPr>
              <p:cNvPr id="18" name="TextBox 17"/>
              <p:cNvSpPr txBox="1">
                <a:spLocks noRot="1" noChangeAspect="1" noMove="1" noResize="1" noEditPoints="1" noAdjustHandles="1" noChangeArrowheads="1" noChangeShapeType="1" noTextEdit="1"/>
              </p:cNvSpPr>
              <p:nvPr/>
            </p:nvSpPr>
            <p:spPr>
              <a:xfrm>
                <a:off x="3275856" y="4509120"/>
                <a:ext cx="3600400" cy="369332"/>
              </a:xfrm>
              <a:prstGeom prst="rect">
                <a:avLst/>
              </a:prstGeom>
              <a:blipFill rotWithShape="1">
                <a:blip r:embed="rId16"/>
                <a:stretch>
                  <a:fillRect l="-1354" t="-11667" b="-23333"/>
                </a:stretch>
              </a:blipFill>
            </p:spPr>
            <p:txBody>
              <a:bodyPr/>
              <a:lstStyle/>
              <a:p>
                <a:r>
                  <a:rPr lang="zh-CN" altLang="en-US">
                    <a:noFill/>
                  </a:rPr>
                  <a:t> </a:t>
                </a:r>
              </a:p>
            </p:txBody>
          </p:sp>
        </mc:Fallback>
      </mc:AlternateContent>
      <p:graphicFrame>
        <p:nvGraphicFramePr>
          <p:cNvPr id="19" name="对象 18"/>
          <p:cNvGraphicFramePr>
            <a:graphicFrameLocks noChangeAspect="1"/>
          </p:cNvGraphicFramePr>
          <p:nvPr>
            <p:extLst>
              <p:ext uri="{D42A27DB-BD31-4B8C-83A1-F6EECF244321}">
                <p14:modId xmlns:p14="http://schemas.microsoft.com/office/powerpoint/2010/main" val="986005477"/>
              </p:ext>
            </p:extLst>
          </p:nvPr>
        </p:nvGraphicFramePr>
        <p:xfrm>
          <a:off x="4211960" y="5085184"/>
          <a:ext cx="3644900" cy="508000"/>
        </p:xfrm>
        <a:graphic>
          <a:graphicData uri="http://schemas.openxmlformats.org/presentationml/2006/ole">
            <mc:AlternateContent xmlns:mc="http://schemas.openxmlformats.org/markup-compatibility/2006">
              <mc:Choice xmlns:v="urn:schemas-microsoft-com:vml" Requires="v">
                <p:oleObj spid="_x0000_s88519" name="Equation" r:id="rId17" imgW="3644640" imgH="507960" progId="Equation.DSMT4">
                  <p:embed/>
                </p:oleObj>
              </mc:Choice>
              <mc:Fallback>
                <p:oleObj name="Equation" r:id="rId17" imgW="3644640" imgH="507960" progId="Equation.DSMT4">
                  <p:embed/>
                  <p:pic>
                    <p:nvPicPr>
                      <p:cNvPr id="0" name=""/>
                      <p:cNvPicPr/>
                      <p:nvPr/>
                    </p:nvPicPr>
                    <p:blipFill>
                      <a:blip r:embed="rId18"/>
                      <a:stretch>
                        <a:fillRect/>
                      </a:stretch>
                    </p:blipFill>
                    <p:spPr>
                      <a:xfrm>
                        <a:off x="4211960" y="5085184"/>
                        <a:ext cx="3644900" cy="508000"/>
                      </a:xfrm>
                      <a:prstGeom prst="rect">
                        <a:avLst/>
                      </a:prstGeom>
                    </p:spPr>
                  </p:pic>
                </p:oleObj>
              </mc:Fallback>
            </mc:AlternateContent>
          </a:graphicData>
        </a:graphic>
      </p:graphicFrame>
      <p:pic>
        <p:nvPicPr>
          <p:cNvPr id="21" name="Picture 4" descr="C:\Users\Administrator\AppData\Roaming\Tencent\Users\42337577\QQ\WinTemp\RichOle\]C}0]S_)YXCAZ1H2P11}$YR.png"/>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03892" y="2002715"/>
            <a:ext cx="2442770" cy="1387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0837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3" grpId="0"/>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7-4 </a:t>
            </a:r>
            <a:r>
              <a:rPr lang="zh-CN" altLang="en-US" dirty="0"/>
              <a:t>位移法解有侧移刚架</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67544" y="1340768"/>
            <a:ext cx="3456384" cy="400110"/>
          </a:xfrm>
          <a:prstGeom prst="rect">
            <a:avLst/>
          </a:prstGeom>
          <a:noFill/>
        </p:spPr>
        <p:txBody>
          <a:bodyPr wrap="square" rtlCol="0">
            <a:spAutoFit/>
          </a:bodyPr>
          <a:lstStyle/>
          <a:p>
            <a:r>
              <a:rPr lang="zh-CN" altLang="en-US" sz="2000" b="1" dirty="0">
                <a:solidFill>
                  <a:srgbClr val="0000FF"/>
                </a:solidFill>
                <a:latin typeface="楷体" panose="02010609060101010101" pitchFamily="49" charset="-122"/>
                <a:ea typeface="楷体" panose="02010609060101010101" pitchFamily="49" charset="-122"/>
              </a:rPr>
              <a:t>建立基本方程：</a:t>
            </a:r>
          </a:p>
        </p:txBody>
      </p:sp>
      <mc:AlternateContent xmlns:mc="http://schemas.openxmlformats.org/markup-compatibility/2006" xmlns:a14="http://schemas.microsoft.com/office/drawing/2010/main">
        <mc:Choice Requires="a14">
          <p:sp>
            <p:nvSpPr>
              <p:cNvPr id="4" name="TextBox 3"/>
              <p:cNvSpPr txBox="1"/>
              <p:nvPr/>
            </p:nvSpPr>
            <p:spPr>
              <a:xfrm>
                <a:off x="747625" y="1772816"/>
                <a:ext cx="2024175" cy="369332"/>
              </a:xfrm>
              <a:prstGeom prst="rect">
                <a:avLst/>
              </a:prstGeom>
              <a:noFill/>
            </p:spPr>
            <p:txBody>
              <a:bodyPr wrap="square" rtlCol="0">
                <a:spAutoFit/>
              </a:bodyPr>
              <a:lstStyle/>
              <a:p>
                <a:r>
                  <a:rPr lang="zh-CN" altLang="en-US" dirty="0">
                    <a:solidFill>
                      <a:srgbClr val="C00000"/>
                    </a:solidFill>
                    <a:latin typeface="楷体" panose="02010609060101010101" pitchFamily="49" charset="-122"/>
                    <a:ea typeface="楷体" panose="02010609060101010101" pitchFamily="49" charset="-122"/>
                  </a:rPr>
                  <a:t>取结点</a:t>
                </a:r>
                <a14:m>
                  <m:oMath xmlns:m="http://schemas.openxmlformats.org/officeDocument/2006/math">
                    <m:r>
                      <a:rPr lang="en-US" altLang="zh-CN" b="0" i="1" smtClean="0">
                        <a:solidFill>
                          <a:srgbClr val="C00000"/>
                        </a:solidFill>
                        <a:latin typeface="Cambria Math"/>
                      </a:rPr>
                      <m:t>𝐵</m:t>
                    </m:r>
                  </m:oMath>
                </a14:m>
                <a:r>
                  <a:rPr lang="zh-CN" altLang="en-US" dirty="0">
                    <a:solidFill>
                      <a:srgbClr val="C00000"/>
                    </a:solidFill>
                    <a:latin typeface="楷体" panose="02010609060101010101" pitchFamily="49" charset="-122"/>
                    <a:ea typeface="楷体" panose="02010609060101010101" pitchFamily="49" charset="-122"/>
                  </a:rPr>
                  <a:t>为隔离体</a:t>
                </a:r>
              </a:p>
            </p:txBody>
          </p:sp>
        </mc:Choice>
        <mc:Fallback xmlns="">
          <p:sp>
            <p:nvSpPr>
              <p:cNvPr id="4" name="TextBox 3"/>
              <p:cNvSpPr txBox="1">
                <a:spLocks noRot="1" noChangeAspect="1" noMove="1" noResize="1" noEditPoints="1" noAdjustHandles="1" noChangeArrowheads="1" noChangeShapeType="1" noTextEdit="1"/>
              </p:cNvSpPr>
              <p:nvPr/>
            </p:nvSpPr>
            <p:spPr>
              <a:xfrm>
                <a:off x="747625" y="1772816"/>
                <a:ext cx="2024175" cy="369332"/>
              </a:xfrm>
              <a:prstGeom prst="rect">
                <a:avLst/>
              </a:prstGeom>
              <a:blipFill rotWithShape="1">
                <a:blip r:embed="rId4"/>
                <a:stretch>
                  <a:fillRect l="-2711" t="-11667" b="-23333"/>
                </a:stretch>
              </a:blipFill>
            </p:spPr>
            <p:txBody>
              <a:bodyPr/>
              <a:lstStyle/>
              <a:p>
                <a:r>
                  <a:rPr lang="zh-CN" altLang="en-US">
                    <a:noFill/>
                  </a:rPr>
                  <a:t> </a:t>
                </a:r>
              </a:p>
            </p:txBody>
          </p:sp>
        </mc:Fallback>
      </mc:AlternateContent>
      <p:pic>
        <p:nvPicPr>
          <p:cNvPr id="46081" name="Picture 1" descr="C:\Users\Administrator\AppData\Roaming\Tencent\Users\42337577\QQ\WinTemp\RichOle\{`ILO}@H1`U@B)BQLD$[HAX.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7625" y="2142148"/>
            <a:ext cx="1073524" cy="92646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对象 4"/>
          <p:cNvGraphicFramePr>
            <a:graphicFrameLocks noChangeAspect="1"/>
          </p:cNvGraphicFramePr>
          <p:nvPr>
            <p:extLst>
              <p:ext uri="{D42A27DB-BD31-4B8C-83A1-F6EECF244321}">
                <p14:modId xmlns:p14="http://schemas.microsoft.com/office/powerpoint/2010/main" val="1083887331"/>
              </p:ext>
            </p:extLst>
          </p:nvPr>
        </p:nvGraphicFramePr>
        <p:xfrm>
          <a:off x="2200726" y="2348880"/>
          <a:ext cx="800100" cy="304800"/>
        </p:xfrm>
        <a:graphic>
          <a:graphicData uri="http://schemas.openxmlformats.org/presentationml/2006/ole">
            <mc:AlternateContent xmlns:mc="http://schemas.openxmlformats.org/markup-compatibility/2006">
              <mc:Choice xmlns:v="urn:schemas-microsoft-com:vml" Requires="v">
                <p:oleObj spid="_x0000_s83514" name="Equation" r:id="rId6" imgW="799920" imgH="304560" progId="Equation.DSMT4">
                  <p:embed/>
                </p:oleObj>
              </mc:Choice>
              <mc:Fallback>
                <p:oleObj name="Equation" r:id="rId6" imgW="799920" imgH="304560" progId="Equation.DSMT4">
                  <p:embed/>
                  <p:pic>
                    <p:nvPicPr>
                      <p:cNvPr id="0" name=""/>
                      <p:cNvPicPr/>
                      <p:nvPr/>
                    </p:nvPicPr>
                    <p:blipFill>
                      <a:blip r:embed="rId7"/>
                      <a:stretch>
                        <a:fillRect/>
                      </a:stretch>
                    </p:blipFill>
                    <p:spPr>
                      <a:xfrm>
                        <a:off x="2200726" y="2348880"/>
                        <a:ext cx="800100" cy="304800"/>
                      </a:xfrm>
                      <a:prstGeom prst="rect">
                        <a:avLst/>
                      </a:prstGeom>
                    </p:spPr>
                  </p:pic>
                </p:oleObj>
              </mc:Fallback>
            </mc:AlternateContent>
          </a:graphicData>
        </a:graphic>
      </p:graphicFrame>
      <p:grpSp>
        <p:nvGrpSpPr>
          <p:cNvPr id="10" name="组合 9"/>
          <p:cNvGrpSpPr/>
          <p:nvPr/>
        </p:nvGrpSpPr>
        <p:grpSpPr>
          <a:xfrm>
            <a:off x="1691680" y="1772817"/>
            <a:ext cx="3024336" cy="648071"/>
            <a:chOff x="1691680" y="1772817"/>
            <a:chExt cx="3024336" cy="648071"/>
          </a:xfrm>
        </p:grpSpPr>
        <p:cxnSp>
          <p:nvCxnSpPr>
            <p:cNvPr id="7" name="直接连接符 6"/>
            <p:cNvCxnSpPr/>
            <p:nvPr/>
          </p:nvCxnSpPr>
          <p:spPr bwMode="auto">
            <a:xfrm flipV="1">
              <a:off x="1691680" y="1957483"/>
              <a:ext cx="1296144" cy="463405"/>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8" name="矩形 7"/>
            <p:cNvSpPr/>
            <p:nvPr/>
          </p:nvSpPr>
          <p:spPr bwMode="auto">
            <a:xfrm>
              <a:off x="2987824" y="1772817"/>
              <a:ext cx="1728192" cy="369332"/>
            </a:xfrm>
            <a:prstGeom prst="rect">
              <a:avLst/>
            </a:prstGeom>
            <a:solidFill>
              <a:srgbClr val="92D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dirty="0">
                  <a:ln>
                    <a:noFill/>
                  </a:ln>
                  <a:solidFill>
                    <a:schemeClr val="tx1"/>
                  </a:solidFill>
                  <a:effectLst/>
                  <a:latin typeface="楷体" panose="02010609060101010101" pitchFamily="49" charset="-122"/>
                  <a:ea typeface="楷体" panose="02010609060101010101" pitchFamily="49" charset="-122"/>
                </a:rPr>
                <a:t>为什么力矩为正？</a:t>
              </a:r>
            </a:p>
          </p:txBody>
        </p:sp>
      </p:grpSp>
      <p:grpSp>
        <p:nvGrpSpPr>
          <p:cNvPr id="35" name="组合 34"/>
          <p:cNvGrpSpPr/>
          <p:nvPr/>
        </p:nvGrpSpPr>
        <p:grpSpPr>
          <a:xfrm>
            <a:off x="3107987" y="2353195"/>
            <a:ext cx="2437597" cy="488404"/>
            <a:chOff x="3107987" y="2353195"/>
            <a:chExt cx="2437597" cy="488404"/>
          </a:xfrm>
        </p:grpSpPr>
        <p:grpSp>
          <p:nvGrpSpPr>
            <p:cNvPr id="13" name="组合 12"/>
            <p:cNvGrpSpPr/>
            <p:nvPr/>
          </p:nvGrpSpPr>
          <p:grpSpPr>
            <a:xfrm>
              <a:off x="3107987" y="2436653"/>
              <a:ext cx="936104" cy="404946"/>
              <a:chOff x="3107987" y="2436653"/>
              <a:chExt cx="936104" cy="404946"/>
            </a:xfrm>
          </p:grpSpPr>
          <p:sp>
            <p:nvSpPr>
              <p:cNvPr id="11" name="右箭头 10"/>
              <p:cNvSpPr/>
              <p:nvPr/>
            </p:nvSpPr>
            <p:spPr bwMode="auto">
              <a:xfrm>
                <a:off x="3239852" y="2436653"/>
                <a:ext cx="720080" cy="112485"/>
              </a:xfrm>
              <a:prstGeom prst="rightArrow">
                <a:avLst/>
              </a:prstGeom>
              <a:solidFill>
                <a:srgbClr val="92D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12" name="TextBox 11"/>
              <p:cNvSpPr txBox="1"/>
              <p:nvPr/>
            </p:nvSpPr>
            <p:spPr>
              <a:xfrm>
                <a:off x="3107987" y="2533822"/>
                <a:ext cx="936104" cy="307777"/>
              </a:xfrm>
              <a:prstGeom prst="rect">
                <a:avLst/>
              </a:prstGeom>
              <a:noFill/>
            </p:spPr>
            <p:txBody>
              <a:bodyPr wrap="square" rtlCol="0">
                <a:spAutoFit/>
              </a:bodyPr>
              <a:lstStyle/>
              <a:p>
                <a:pPr algn="ctr"/>
                <a:r>
                  <a:rPr lang="zh-CN" altLang="en-US" sz="1400" dirty="0">
                    <a:latin typeface="楷体" panose="02010609060101010101" pitchFamily="49" charset="-122"/>
                    <a:ea typeface="楷体" panose="02010609060101010101" pitchFamily="49" charset="-122"/>
                  </a:rPr>
                  <a:t>力矩平衡</a:t>
                </a:r>
              </a:p>
            </p:txBody>
          </p:sp>
        </p:grpSp>
        <p:graphicFrame>
          <p:nvGraphicFramePr>
            <p:cNvPr id="15" name="对象 14"/>
            <p:cNvGraphicFramePr>
              <a:graphicFrameLocks noChangeAspect="1"/>
            </p:cNvGraphicFramePr>
            <p:nvPr>
              <p:extLst>
                <p:ext uri="{D42A27DB-BD31-4B8C-83A1-F6EECF244321}">
                  <p14:modId xmlns:p14="http://schemas.microsoft.com/office/powerpoint/2010/main" val="4209161931"/>
                </p:ext>
              </p:extLst>
            </p:nvPr>
          </p:nvGraphicFramePr>
          <p:xfrm>
            <a:off x="4427984" y="2353195"/>
            <a:ext cx="1117600" cy="279400"/>
          </p:xfrm>
          <a:graphic>
            <a:graphicData uri="http://schemas.openxmlformats.org/presentationml/2006/ole">
              <mc:AlternateContent xmlns:mc="http://schemas.openxmlformats.org/markup-compatibility/2006">
                <mc:Choice xmlns:v="urn:schemas-microsoft-com:vml" Requires="v">
                  <p:oleObj spid="_x0000_s83515" name="Equation" r:id="rId8" imgW="1117440" imgH="279360" progId="Equation.DSMT4">
                    <p:embed/>
                  </p:oleObj>
                </mc:Choice>
                <mc:Fallback>
                  <p:oleObj name="Equation" r:id="rId8" imgW="1117440" imgH="279360" progId="Equation.DSMT4">
                    <p:embed/>
                    <p:pic>
                      <p:nvPicPr>
                        <p:cNvPr id="0" name=""/>
                        <p:cNvPicPr/>
                        <p:nvPr/>
                      </p:nvPicPr>
                      <p:blipFill>
                        <a:blip r:embed="rId9"/>
                        <a:stretch>
                          <a:fillRect/>
                        </a:stretch>
                      </p:blipFill>
                      <p:spPr>
                        <a:xfrm>
                          <a:off x="4427984" y="2353195"/>
                          <a:ext cx="1117600" cy="279400"/>
                        </a:xfrm>
                        <a:prstGeom prst="rect">
                          <a:avLst/>
                        </a:prstGeom>
                      </p:spPr>
                    </p:pic>
                  </p:oleObj>
                </mc:Fallback>
              </mc:AlternateContent>
            </a:graphicData>
          </a:graphic>
        </p:graphicFrame>
      </p:grpSp>
      <p:grpSp>
        <p:nvGrpSpPr>
          <p:cNvPr id="20" name="组合 19"/>
          <p:cNvGrpSpPr/>
          <p:nvPr/>
        </p:nvGrpSpPr>
        <p:grpSpPr>
          <a:xfrm>
            <a:off x="2195736" y="2276872"/>
            <a:ext cx="6192688" cy="564727"/>
            <a:chOff x="2195736" y="2276872"/>
            <a:chExt cx="6192688" cy="564727"/>
          </a:xfrm>
        </p:grpSpPr>
        <p:sp>
          <p:nvSpPr>
            <p:cNvPr id="16" name="矩形 15"/>
            <p:cNvSpPr/>
            <p:nvPr/>
          </p:nvSpPr>
          <p:spPr bwMode="auto">
            <a:xfrm>
              <a:off x="2195736" y="2276872"/>
              <a:ext cx="3528392" cy="564727"/>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cxnSp>
          <p:nvCxnSpPr>
            <p:cNvPr id="18" name="直接箭头连接符 17"/>
            <p:cNvCxnSpPr/>
            <p:nvPr/>
          </p:nvCxnSpPr>
          <p:spPr bwMode="auto">
            <a:xfrm flipV="1">
              <a:off x="5755932" y="2525285"/>
              <a:ext cx="792088" cy="10098"/>
            </a:xfrm>
            <a:prstGeom prst="straightConnector1">
              <a:avLst/>
            </a:prstGeom>
            <a:solidFill>
              <a:schemeClr val="accent1"/>
            </a:solidFill>
            <a:ln w="9525" cap="flat" cmpd="sng" algn="ctr">
              <a:solidFill>
                <a:srgbClr val="92D050"/>
              </a:solidFill>
              <a:prstDash val="solid"/>
              <a:round/>
              <a:headEnd type="none" w="med" len="med"/>
              <a:tailEnd type="arrow"/>
            </a:ln>
            <a:effectLst/>
          </p:spPr>
        </p:cxnSp>
        <p:sp>
          <p:nvSpPr>
            <p:cNvPr id="19" name="圆角矩形 18"/>
            <p:cNvSpPr/>
            <p:nvPr/>
          </p:nvSpPr>
          <p:spPr bwMode="auto">
            <a:xfrm>
              <a:off x="6660232" y="2348881"/>
              <a:ext cx="1728192" cy="338830"/>
            </a:xfrm>
            <a:prstGeom prst="roundRect">
              <a:avLst/>
            </a:prstGeom>
            <a:solidFill>
              <a:srgbClr val="92D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dirty="0">
                  <a:ln>
                    <a:noFill/>
                  </a:ln>
                  <a:solidFill>
                    <a:schemeClr val="tx1"/>
                  </a:solidFill>
                  <a:effectLst/>
                  <a:latin typeface="楷体" panose="02010609060101010101" pitchFamily="49" charset="-122"/>
                  <a:ea typeface="楷体" panose="02010609060101010101" pitchFamily="49" charset="-122"/>
                </a:rPr>
                <a:t>跟转角密切相关！</a:t>
              </a:r>
            </a:p>
          </p:txBody>
        </p:sp>
      </p:grpSp>
      <p:graphicFrame>
        <p:nvGraphicFramePr>
          <p:cNvPr id="21" name="对象 20"/>
          <p:cNvGraphicFramePr>
            <a:graphicFrameLocks noChangeAspect="1"/>
          </p:cNvGraphicFramePr>
          <p:nvPr>
            <p:extLst>
              <p:ext uri="{D42A27DB-BD31-4B8C-83A1-F6EECF244321}">
                <p14:modId xmlns:p14="http://schemas.microsoft.com/office/powerpoint/2010/main" val="50159303"/>
              </p:ext>
            </p:extLst>
          </p:nvPr>
        </p:nvGraphicFramePr>
        <p:xfrm>
          <a:off x="3205891" y="3212976"/>
          <a:ext cx="1676400" cy="279400"/>
        </p:xfrm>
        <a:graphic>
          <a:graphicData uri="http://schemas.openxmlformats.org/presentationml/2006/ole">
            <mc:AlternateContent xmlns:mc="http://schemas.openxmlformats.org/markup-compatibility/2006">
              <mc:Choice xmlns:v="urn:schemas-microsoft-com:vml" Requires="v">
                <p:oleObj spid="_x0000_s83516" name="Equation" r:id="rId10" imgW="1676160" imgH="279360" progId="Equation.DSMT4">
                  <p:embed/>
                </p:oleObj>
              </mc:Choice>
              <mc:Fallback>
                <p:oleObj name="Equation" r:id="rId10" imgW="1676160" imgH="279360" progId="Equation.DSMT4">
                  <p:embed/>
                  <p:pic>
                    <p:nvPicPr>
                      <p:cNvPr id="0" name=""/>
                      <p:cNvPicPr/>
                      <p:nvPr/>
                    </p:nvPicPr>
                    <p:blipFill>
                      <a:blip r:embed="rId11"/>
                      <a:stretch>
                        <a:fillRect/>
                      </a:stretch>
                    </p:blipFill>
                    <p:spPr>
                      <a:xfrm>
                        <a:off x="3205891" y="3212976"/>
                        <a:ext cx="1676400" cy="279400"/>
                      </a:xfrm>
                      <a:prstGeom prst="rect">
                        <a:avLst/>
                      </a:prstGeom>
                    </p:spPr>
                  </p:pic>
                </p:oleObj>
              </mc:Fallback>
            </mc:AlternateContent>
          </a:graphicData>
        </a:graphic>
      </p:graphicFrame>
      <p:grpSp>
        <p:nvGrpSpPr>
          <p:cNvPr id="25" name="组合 24"/>
          <p:cNvGrpSpPr/>
          <p:nvPr/>
        </p:nvGrpSpPr>
        <p:grpSpPr>
          <a:xfrm>
            <a:off x="3478575" y="3140968"/>
            <a:ext cx="4189769" cy="355402"/>
            <a:chOff x="3478575" y="3140968"/>
            <a:chExt cx="4189769" cy="355402"/>
          </a:xfrm>
        </p:grpSpPr>
        <p:sp>
          <p:nvSpPr>
            <p:cNvPr id="22" name="椭圆 21"/>
            <p:cNvSpPr/>
            <p:nvPr/>
          </p:nvSpPr>
          <p:spPr bwMode="auto">
            <a:xfrm>
              <a:off x="3478575" y="3197074"/>
              <a:ext cx="149370" cy="288032"/>
            </a:xfrm>
            <a:prstGeom prst="ellipse">
              <a:avLst/>
            </a:prstGeom>
            <a:noFill/>
            <a:ln w="952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u="none" strike="noStrike" cap="none" normalizeH="0" baseline="0">
                <a:ln>
                  <a:noFill/>
                </a:ln>
                <a:solidFill>
                  <a:srgbClr val="0000FF"/>
                </a:solidFill>
                <a:effectLst/>
                <a:latin typeface="Arial" pitchFamily="34" charset="0"/>
                <a:ea typeface="华文细黑" pitchFamily="2" charset="-122"/>
              </a:endParaRPr>
            </a:p>
          </p:txBody>
        </p:sp>
        <p:sp>
          <p:nvSpPr>
            <p:cNvPr id="24" name="椭圆 23"/>
            <p:cNvSpPr/>
            <p:nvPr/>
          </p:nvSpPr>
          <p:spPr bwMode="auto">
            <a:xfrm>
              <a:off x="4124050" y="3208338"/>
              <a:ext cx="149370" cy="288032"/>
            </a:xfrm>
            <a:prstGeom prst="ellipse">
              <a:avLst/>
            </a:prstGeom>
            <a:noFill/>
            <a:ln w="952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u="none" strike="noStrike" cap="none" normalizeH="0" baseline="0">
                <a:ln>
                  <a:noFill/>
                </a:ln>
                <a:solidFill>
                  <a:srgbClr val="0000FF"/>
                </a:solidFill>
                <a:effectLst/>
                <a:latin typeface="Arial" pitchFamily="34" charset="0"/>
                <a:ea typeface="华文细黑" pitchFamily="2" charset="-122"/>
              </a:endParaRPr>
            </a:p>
          </p:txBody>
        </p:sp>
        <p:sp>
          <p:nvSpPr>
            <p:cNvPr id="23" name="矩形 22"/>
            <p:cNvSpPr/>
            <p:nvPr/>
          </p:nvSpPr>
          <p:spPr bwMode="auto">
            <a:xfrm>
              <a:off x="5076056" y="3140968"/>
              <a:ext cx="2592288" cy="355402"/>
            </a:xfrm>
            <a:prstGeom prst="rect">
              <a:avLst/>
            </a:prstGeom>
            <a:noFill/>
            <a:ln w="127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dirty="0">
                  <a:ln>
                    <a:noFill/>
                  </a:ln>
                  <a:solidFill>
                    <a:schemeClr val="tx1"/>
                  </a:solidFill>
                  <a:effectLst/>
                  <a:latin typeface="楷体" panose="02010609060101010101" pitchFamily="49" charset="-122"/>
                  <a:ea typeface="楷体" panose="02010609060101010101" pitchFamily="49" charset="-122"/>
                </a:rPr>
                <a:t>一个方程，两个未知数</a:t>
              </a:r>
            </a:p>
          </p:txBody>
        </p:sp>
      </p:grpSp>
      <mc:AlternateContent xmlns:mc="http://schemas.openxmlformats.org/markup-compatibility/2006" xmlns:a14="http://schemas.microsoft.com/office/drawing/2010/main">
        <mc:Choice Requires="a14">
          <p:sp>
            <p:nvSpPr>
              <p:cNvPr id="27" name="TextBox 26"/>
              <p:cNvSpPr txBox="1"/>
              <p:nvPr/>
            </p:nvSpPr>
            <p:spPr>
              <a:xfrm>
                <a:off x="747624" y="3645024"/>
                <a:ext cx="2240200" cy="369332"/>
              </a:xfrm>
              <a:prstGeom prst="rect">
                <a:avLst/>
              </a:prstGeom>
              <a:noFill/>
            </p:spPr>
            <p:txBody>
              <a:bodyPr wrap="square" rtlCol="0">
                <a:spAutoFit/>
              </a:bodyPr>
              <a:lstStyle/>
              <a:p>
                <a:r>
                  <a:rPr lang="zh-CN" altLang="en-US" dirty="0">
                    <a:solidFill>
                      <a:srgbClr val="C00000"/>
                    </a:solidFill>
                    <a:latin typeface="楷体" panose="02010609060101010101" pitchFamily="49" charset="-122"/>
                    <a:ea typeface="楷体" panose="02010609060101010101" pitchFamily="49" charset="-122"/>
                  </a:rPr>
                  <a:t>取横梁</a:t>
                </a:r>
                <a14:m>
                  <m:oMath xmlns:m="http://schemas.openxmlformats.org/officeDocument/2006/math">
                    <m:r>
                      <a:rPr lang="en-US" altLang="zh-CN" b="0" i="1" smtClean="0">
                        <a:solidFill>
                          <a:srgbClr val="C00000"/>
                        </a:solidFill>
                        <a:latin typeface="Cambria Math"/>
                      </a:rPr>
                      <m:t>𝐵𝐶</m:t>
                    </m:r>
                  </m:oMath>
                </a14:m>
                <a:r>
                  <a:rPr lang="zh-CN" altLang="en-US" dirty="0">
                    <a:solidFill>
                      <a:srgbClr val="C00000"/>
                    </a:solidFill>
                    <a:latin typeface="楷体" panose="02010609060101010101" pitchFamily="49" charset="-122"/>
                    <a:ea typeface="楷体" panose="02010609060101010101" pitchFamily="49" charset="-122"/>
                  </a:rPr>
                  <a:t>为隔离体</a:t>
                </a:r>
              </a:p>
            </p:txBody>
          </p:sp>
        </mc:Choice>
        <mc:Fallback xmlns="">
          <p:sp>
            <p:nvSpPr>
              <p:cNvPr id="27" name="TextBox 26"/>
              <p:cNvSpPr txBox="1">
                <a:spLocks noRot="1" noChangeAspect="1" noMove="1" noResize="1" noEditPoints="1" noAdjustHandles="1" noChangeArrowheads="1" noChangeShapeType="1" noTextEdit="1"/>
              </p:cNvSpPr>
              <p:nvPr/>
            </p:nvSpPr>
            <p:spPr>
              <a:xfrm>
                <a:off x="747624" y="3645024"/>
                <a:ext cx="2240200" cy="369332"/>
              </a:xfrm>
              <a:prstGeom prst="rect">
                <a:avLst/>
              </a:prstGeom>
              <a:blipFill rotWithShape="1">
                <a:blip r:embed="rId12"/>
                <a:stretch>
                  <a:fillRect l="-2452" t="-11475" b="-21311"/>
                </a:stretch>
              </a:blipFill>
            </p:spPr>
            <p:txBody>
              <a:bodyPr/>
              <a:lstStyle/>
              <a:p>
                <a:r>
                  <a:rPr lang="zh-CN" altLang="en-US">
                    <a:noFill/>
                  </a:rPr>
                  <a:t> </a:t>
                </a:r>
              </a:p>
            </p:txBody>
          </p:sp>
        </mc:Fallback>
      </mc:AlternateContent>
      <p:pic>
        <p:nvPicPr>
          <p:cNvPr id="46096" name="Picture 16" descr="C:\Users\Administrator\AppData\Roaming\Tencent\Users\42337577\QQ\WinTemp\RichOle\FZJ%WUY6W731SB~8P9UKYGS.pn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6306" y="4014356"/>
            <a:ext cx="2422030" cy="863506"/>
          </a:xfrm>
          <a:prstGeom prst="rect">
            <a:avLst/>
          </a:prstGeom>
          <a:noFill/>
          <a:extLst>
            <a:ext uri="{909E8E84-426E-40DD-AFC4-6F175D3DCCD1}">
              <a14:hiddenFill xmlns:a14="http://schemas.microsoft.com/office/drawing/2010/main">
                <a:solidFill>
                  <a:srgbClr val="FFFFFF"/>
                </a:solidFill>
              </a14:hiddenFill>
            </a:ext>
          </a:extLst>
        </p:spPr>
      </p:pic>
      <p:grpSp>
        <p:nvGrpSpPr>
          <p:cNvPr id="34" name="组合 33"/>
          <p:cNvGrpSpPr/>
          <p:nvPr/>
        </p:nvGrpSpPr>
        <p:grpSpPr>
          <a:xfrm>
            <a:off x="3458220" y="4293709"/>
            <a:ext cx="2540496" cy="304800"/>
            <a:chOff x="3458220" y="4293709"/>
            <a:chExt cx="2540496" cy="304800"/>
          </a:xfrm>
        </p:grpSpPr>
        <p:graphicFrame>
          <p:nvGraphicFramePr>
            <p:cNvPr id="26" name="对象 25"/>
            <p:cNvGraphicFramePr>
              <a:graphicFrameLocks noChangeAspect="1"/>
            </p:cNvGraphicFramePr>
            <p:nvPr>
              <p:extLst>
                <p:ext uri="{D42A27DB-BD31-4B8C-83A1-F6EECF244321}">
                  <p14:modId xmlns:p14="http://schemas.microsoft.com/office/powerpoint/2010/main" val="2663823890"/>
                </p:ext>
              </p:extLst>
            </p:nvPr>
          </p:nvGraphicFramePr>
          <p:xfrm>
            <a:off x="3458220" y="4293709"/>
            <a:ext cx="787400" cy="304800"/>
          </p:xfrm>
          <a:graphic>
            <a:graphicData uri="http://schemas.openxmlformats.org/presentationml/2006/ole">
              <mc:AlternateContent xmlns:mc="http://schemas.openxmlformats.org/markup-compatibility/2006">
                <mc:Choice xmlns:v="urn:schemas-microsoft-com:vml" Requires="v">
                  <p:oleObj spid="_x0000_s83517" name="Equation" r:id="rId14" imgW="787320" imgH="304560" progId="Equation.DSMT4">
                    <p:embed/>
                  </p:oleObj>
                </mc:Choice>
                <mc:Fallback>
                  <p:oleObj name="Equation" r:id="rId14" imgW="787320" imgH="304560" progId="Equation.DSMT4">
                    <p:embed/>
                    <p:pic>
                      <p:nvPicPr>
                        <p:cNvPr id="0" name=""/>
                        <p:cNvPicPr/>
                        <p:nvPr/>
                      </p:nvPicPr>
                      <p:blipFill>
                        <a:blip r:embed="rId15"/>
                        <a:stretch>
                          <a:fillRect/>
                        </a:stretch>
                      </p:blipFill>
                      <p:spPr>
                        <a:xfrm>
                          <a:off x="3458220" y="4293709"/>
                          <a:ext cx="787400" cy="304800"/>
                        </a:xfrm>
                        <a:prstGeom prst="rect">
                          <a:avLst/>
                        </a:prstGeom>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1763671580"/>
                </p:ext>
              </p:extLst>
            </p:nvPr>
          </p:nvGraphicFramePr>
          <p:xfrm>
            <a:off x="4716016" y="4293709"/>
            <a:ext cx="1282700" cy="304800"/>
          </p:xfrm>
          <a:graphic>
            <a:graphicData uri="http://schemas.openxmlformats.org/presentationml/2006/ole">
              <mc:AlternateContent xmlns:mc="http://schemas.openxmlformats.org/markup-compatibility/2006">
                <mc:Choice xmlns:v="urn:schemas-microsoft-com:vml" Requires="v">
                  <p:oleObj spid="_x0000_s83518" name="Equation" r:id="rId16" imgW="1282680" imgH="304560" progId="Equation.DSMT4">
                    <p:embed/>
                  </p:oleObj>
                </mc:Choice>
                <mc:Fallback>
                  <p:oleObj name="Equation" r:id="rId16" imgW="1282680" imgH="304560" progId="Equation.DSMT4">
                    <p:embed/>
                    <p:pic>
                      <p:nvPicPr>
                        <p:cNvPr id="0" name=""/>
                        <p:cNvPicPr/>
                        <p:nvPr/>
                      </p:nvPicPr>
                      <p:blipFill>
                        <a:blip r:embed="rId17"/>
                        <a:stretch>
                          <a:fillRect/>
                        </a:stretch>
                      </p:blipFill>
                      <p:spPr>
                        <a:xfrm>
                          <a:off x="4716016" y="4293709"/>
                          <a:ext cx="1282700" cy="304800"/>
                        </a:xfrm>
                        <a:prstGeom prst="rect">
                          <a:avLst/>
                        </a:prstGeom>
                      </p:spPr>
                    </p:pic>
                  </p:oleObj>
                </mc:Fallback>
              </mc:AlternateContent>
            </a:graphicData>
          </a:graphic>
        </p:graphicFrame>
      </p:grpSp>
      <p:grpSp>
        <p:nvGrpSpPr>
          <p:cNvPr id="30" name="组合 29"/>
          <p:cNvGrpSpPr/>
          <p:nvPr/>
        </p:nvGrpSpPr>
        <p:grpSpPr>
          <a:xfrm>
            <a:off x="3396019" y="4187598"/>
            <a:ext cx="5352445" cy="489391"/>
            <a:chOff x="3396019" y="4187598"/>
            <a:chExt cx="5352445" cy="489391"/>
          </a:xfrm>
        </p:grpSpPr>
        <p:sp>
          <p:nvSpPr>
            <p:cNvPr id="31" name="矩形 30"/>
            <p:cNvSpPr/>
            <p:nvPr/>
          </p:nvSpPr>
          <p:spPr bwMode="auto">
            <a:xfrm>
              <a:off x="3396019" y="4187598"/>
              <a:ext cx="2664296" cy="489391"/>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nvGrpSpPr>
            <p:cNvPr id="29" name="组合 28"/>
            <p:cNvGrpSpPr/>
            <p:nvPr/>
          </p:nvGrpSpPr>
          <p:grpSpPr>
            <a:xfrm>
              <a:off x="6060315" y="4252780"/>
              <a:ext cx="2688149" cy="338830"/>
              <a:chOff x="6060315" y="4252780"/>
              <a:chExt cx="2688149" cy="338830"/>
            </a:xfrm>
          </p:grpSpPr>
          <p:cxnSp>
            <p:nvCxnSpPr>
              <p:cNvPr id="32" name="直接箭头连接符 31"/>
              <p:cNvCxnSpPr/>
              <p:nvPr/>
            </p:nvCxnSpPr>
            <p:spPr bwMode="auto">
              <a:xfrm flipV="1">
                <a:off x="6060315" y="4422195"/>
                <a:ext cx="792088" cy="10098"/>
              </a:xfrm>
              <a:prstGeom prst="straightConnector1">
                <a:avLst/>
              </a:prstGeom>
              <a:solidFill>
                <a:schemeClr val="accent1"/>
              </a:solidFill>
              <a:ln w="9525" cap="flat" cmpd="sng" algn="ctr">
                <a:solidFill>
                  <a:srgbClr val="92D050"/>
                </a:solidFill>
                <a:prstDash val="solid"/>
                <a:round/>
                <a:headEnd type="none" w="med" len="med"/>
                <a:tailEnd type="arrow"/>
              </a:ln>
              <a:effectLst/>
            </p:spPr>
          </p:cxnSp>
          <p:sp>
            <p:nvSpPr>
              <p:cNvPr id="33" name="圆角矩形 32"/>
              <p:cNvSpPr/>
              <p:nvPr/>
            </p:nvSpPr>
            <p:spPr bwMode="auto">
              <a:xfrm>
                <a:off x="6852402" y="4252780"/>
                <a:ext cx="1896062" cy="338830"/>
              </a:xfrm>
              <a:prstGeom prst="roundRect">
                <a:avLst/>
              </a:prstGeom>
              <a:solidFill>
                <a:srgbClr val="92D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dirty="0">
                    <a:ln>
                      <a:noFill/>
                    </a:ln>
                    <a:solidFill>
                      <a:schemeClr val="tx1"/>
                    </a:solidFill>
                    <a:effectLst/>
                    <a:latin typeface="楷体" panose="02010609060101010101" pitchFamily="49" charset="-122"/>
                    <a:ea typeface="楷体" panose="02010609060101010101" pitchFamily="49" charset="-122"/>
                  </a:rPr>
                  <a:t>跟</a:t>
                </a:r>
                <a:r>
                  <a:rPr lang="zh-CN" altLang="en-US" sz="1600" dirty="0">
                    <a:latin typeface="楷体" panose="02010609060101010101" pitchFamily="49" charset="-122"/>
                    <a:ea typeface="楷体" panose="02010609060101010101" pitchFamily="49" charset="-122"/>
                  </a:rPr>
                  <a:t>线位移</a:t>
                </a:r>
                <a:r>
                  <a:rPr kumimoji="0" lang="zh-CN" altLang="en-US" sz="1600" u="none" strike="noStrike" cap="none" normalizeH="0" baseline="0" dirty="0">
                    <a:ln>
                      <a:noFill/>
                    </a:ln>
                    <a:solidFill>
                      <a:schemeClr val="tx1"/>
                    </a:solidFill>
                    <a:effectLst/>
                    <a:latin typeface="楷体" panose="02010609060101010101" pitchFamily="49" charset="-122"/>
                    <a:ea typeface="楷体" panose="02010609060101010101" pitchFamily="49" charset="-122"/>
                  </a:rPr>
                  <a:t>密切相关！</a:t>
                </a:r>
              </a:p>
            </p:txBody>
          </p:sp>
        </p:grpSp>
      </p:grpSp>
      <p:grpSp>
        <p:nvGrpSpPr>
          <p:cNvPr id="38" name="组合 37"/>
          <p:cNvGrpSpPr/>
          <p:nvPr/>
        </p:nvGrpSpPr>
        <p:grpSpPr>
          <a:xfrm>
            <a:off x="1759712" y="4861960"/>
            <a:ext cx="1772822" cy="307777"/>
            <a:chOff x="1759712" y="4861960"/>
            <a:chExt cx="1772822" cy="307777"/>
          </a:xfrm>
        </p:grpSpPr>
        <p:sp>
          <p:nvSpPr>
            <p:cNvPr id="36" name="下箭头 35"/>
            <p:cNvSpPr/>
            <p:nvPr/>
          </p:nvSpPr>
          <p:spPr bwMode="auto">
            <a:xfrm>
              <a:off x="1759712" y="4877862"/>
              <a:ext cx="108012" cy="279330"/>
            </a:xfrm>
            <a:prstGeom prst="downArrow">
              <a:avLst/>
            </a:prstGeom>
            <a:solidFill>
              <a:srgbClr val="92D050"/>
            </a:solidFill>
            <a:ln w="9525"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37" name="TextBox 36"/>
            <p:cNvSpPr txBox="1"/>
            <p:nvPr/>
          </p:nvSpPr>
          <p:spPr>
            <a:xfrm>
              <a:off x="1871910" y="4861960"/>
              <a:ext cx="1660624" cy="307777"/>
            </a:xfrm>
            <a:prstGeom prst="rect">
              <a:avLst/>
            </a:prstGeom>
            <a:noFill/>
          </p:spPr>
          <p:txBody>
            <a:bodyPr wrap="square" rtlCol="0">
              <a:spAutoFit/>
            </a:bodyPr>
            <a:lstStyle/>
            <a:p>
              <a:r>
                <a:rPr lang="zh-CN" altLang="en-US" sz="1400" dirty="0">
                  <a:latin typeface="楷体" panose="02010609060101010101" pitchFamily="49" charset="-122"/>
                  <a:ea typeface="楷体" panose="02010609060101010101" pitchFamily="49" charset="-122"/>
                </a:rPr>
                <a:t>换成杆端弯矩</a:t>
              </a:r>
            </a:p>
          </p:txBody>
        </p:sp>
      </p:grpSp>
      <p:pic>
        <p:nvPicPr>
          <p:cNvPr id="46112" name="Picture 32" descr="C:\Users\Administrator\AppData\Roaming\Tencent\Users\42337577\QQ\WinTemp\RichOle\D5THBNV`QHF[H{H95S%{]]W.png"/>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284387" y="5185492"/>
            <a:ext cx="1100660" cy="1594288"/>
          </a:xfrm>
          <a:prstGeom prst="rect">
            <a:avLst/>
          </a:prstGeom>
          <a:noFill/>
          <a:extLst>
            <a:ext uri="{909E8E84-426E-40DD-AFC4-6F175D3DCCD1}">
              <a14:hiddenFill xmlns:a14="http://schemas.microsoft.com/office/drawing/2010/main">
                <a:solidFill>
                  <a:srgbClr val="FFFFFF"/>
                </a:solidFill>
              </a14:hiddenFill>
            </a:ext>
          </a:extLst>
        </p:spPr>
      </p:pic>
      <p:grpSp>
        <p:nvGrpSpPr>
          <p:cNvPr id="43" name="组合 42"/>
          <p:cNvGrpSpPr/>
          <p:nvPr/>
        </p:nvGrpSpPr>
        <p:grpSpPr>
          <a:xfrm>
            <a:off x="2483768" y="5517232"/>
            <a:ext cx="4580768" cy="973404"/>
            <a:chOff x="2483768" y="5517232"/>
            <a:chExt cx="4580768" cy="973404"/>
          </a:xfrm>
        </p:grpSpPr>
        <p:sp>
          <p:nvSpPr>
            <p:cNvPr id="40" name="右箭头 39"/>
            <p:cNvSpPr/>
            <p:nvPr/>
          </p:nvSpPr>
          <p:spPr bwMode="auto">
            <a:xfrm>
              <a:off x="2483768" y="5982636"/>
              <a:ext cx="504056" cy="110660"/>
            </a:xfrm>
            <a:prstGeom prst="rightArrow">
              <a:avLst/>
            </a:prstGeom>
            <a:solidFill>
              <a:srgbClr val="92D050"/>
            </a:solidFill>
            <a:ln w="9525"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aphicFrame>
          <p:nvGraphicFramePr>
            <p:cNvPr id="41" name="对象 40"/>
            <p:cNvGraphicFramePr>
              <a:graphicFrameLocks noChangeAspect="1"/>
            </p:cNvGraphicFramePr>
            <p:nvPr>
              <p:extLst>
                <p:ext uri="{D42A27DB-BD31-4B8C-83A1-F6EECF244321}">
                  <p14:modId xmlns:p14="http://schemas.microsoft.com/office/powerpoint/2010/main" val="2213991006"/>
                </p:ext>
              </p:extLst>
            </p:nvPr>
          </p:nvGraphicFramePr>
          <p:xfrm>
            <a:off x="3178336" y="5517232"/>
            <a:ext cx="3886200" cy="317500"/>
          </p:xfrm>
          <a:graphic>
            <a:graphicData uri="http://schemas.openxmlformats.org/presentationml/2006/ole">
              <mc:AlternateContent xmlns:mc="http://schemas.openxmlformats.org/markup-compatibility/2006">
                <mc:Choice xmlns:v="urn:schemas-microsoft-com:vml" Requires="v">
                  <p:oleObj spid="_x0000_s83519" name="Equation" r:id="rId19" imgW="3886200" imgH="317160" progId="Equation.DSMT4">
                    <p:embed/>
                  </p:oleObj>
                </mc:Choice>
                <mc:Fallback>
                  <p:oleObj name="Equation" r:id="rId19" imgW="3886200" imgH="317160" progId="Equation.DSMT4">
                    <p:embed/>
                    <p:pic>
                      <p:nvPicPr>
                        <p:cNvPr id="0" name=""/>
                        <p:cNvPicPr/>
                        <p:nvPr/>
                      </p:nvPicPr>
                      <p:blipFill>
                        <a:blip r:embed="rId20"/>
                        <a:stretch>
                          <a:fillRect/>
                        </a:stretch>
                      </p:blipFill>
                      <p:spPr>
                        <a:xfrm>
                          <a:off x="3178336" y="5517232"/>
                          <a:ext cx="3886200" cy="317500"/>
                        </a:xfrm>
                        <a:prstGeom prst="rect">
                          <a:avLst/>
                        </a:prstGeom>
                      </p:spPr>
                    </p:pic>
                  </p:oleObj>
                </mc:Fallback>
              </mc:AlternateContent>
            </a:graphicData>
          </a:graphic>
        </p:graphicFrame>
        <p:graphicFrame>
          <p:nvGraphicFramePr>
            <p:cNvPr id="42" name="对象 41"/>
            <p:cNvGraphicFramePr>
              <a:graphicFrameLocks noChangeAspect="1"/>
            </p:cNvGraphicFramePr>
            <p:nvPr>
              <p:extLst>
                <p:ext uri="{D42A27DB-BD31-4B8C-83A1-F6EECF244321}">
                  <p14:modId xmlns:p14="http://schemas.microsoft.com/office/powerpoint/2010/main" val="3982977642"/>
                </p:ext>
              </p:extLst>
            </p:nvPr>
          </p:nvGraphicFramePr>
          <p:xfrm>
            <a:off x="3999798" y="5982636"/>
            <a:ext cx="2120900" cy="508000"/>
          </p:xfrm>
          <a:graphic>
            <a:graphicData uri="http://schemas.openxmlformats.org/presentationml/2006/ole">
              <mc:AlternateContent xmlns:mc="http://schemas.openxmlformats.org/markup-compatibility/2006">
                <mc:Choice xmlns:v="urn:schemas-microsoft-com:vml" Requires="v">
                  <p:oleObj spid="_x0000_s83520" name="Equation" r:id="rId21" imgW="2120760" imgH="507960" progId="Equation.DSMT4">
                    <p:embed/>
                  </p:oleObj>
                </mc:Choice>
                <mc:Fallback>
                  <p:oleObj name="Equation" r:id="rId21" imgW="2120760" imgH="507960" progId="Equation.DSMT4">
                    <p:embed/>
                    <p:pic>
                      <p:nvPicPr>
                        <p:cNvPr id="0" name=""/>
                        <p:cNvPicPr/>
                        <p:nvPr/>
                      </p:nvPicPr>
                      <p:blipFill>
                        <a:blip r:embed="rId22"/>
                        <a:stretch>
                          <a:fillRect/>
                        </a:stretch>
                      </p:blipFill>
                      <p:spPr>
                        <a:xfrm>
                          <a:off x="3999798" y="5982636"/>
                          <a:ext cx="2120900" cy="508000"/>
                        </a:xfrm>
                        <a:prstGeom prst="rect">
                          <a:avLst/>
                        </a:prstGeom>
                      </p:spPr>
                    </p:pic>
                  </p:oleObj>
                </mc:Fallback>
              </mc:AlternateContent>
            </a:graphicData>
          </a:graphic>
        </p:graphicFrame>
      </p:grpSp>
      <mc:AlternateContent xmlns:mc="http://schemas.openxmlformats.org/markup-compatibility/2006" xmlns:a14="http://schemas.microsoft.com/office/drawing/2010/main">
        <mc:Choice Requires="a14">
          <p:sp>
            <p:nvSpPr>
              <p:cNvPr id="44" name="矩形 43"/>
              <p:cNvSpPr/>
              <p:nvPr/>
            </p:nvSpPr>
            <p:spPr bwMode="auto">
              <a:xfrm>
                <a:off x="4427984" y="4797152"/>
                <a:ext cx="2232248" cy="388340"/>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1800" b="1" u="none" strike="noStrike" cap="none" normalizeH="0" baseline="0" dirty="0">
                    <a:ln>
                      <a:noFill/>
                    </a:ln>
                    <a:solidFill>
                      <a:srgbClr val="FFC000"/>
                    </a:solidFill>
                    <a:effectLst/>
                    <a:latin typeface="楷体" panose="02010609060101010101" pitchFamily="49" charset="-122"/>
                    <a:ea typeface="楷体" panose="02010609060101010101" pitchFamily="49" charset="-122"/>
                  </a:rPr>
                  <a:t>如何求</a:t>
                </a:r>
                <a14:m>
                  <m:oMath xmlns:m="http://schemas.openxmlformats.org/officeDocument/2006/math">
                    <m:sSub>
                      <m:sSubPr>
                        <m:ctrlPr>
                          <a:rPr kumimoji="0" lang="en-US" altLang="zh-CN" sz="1800" b="1" i="1" u="none" strike="noStrike" cap="none" normalizeH="0" baseline="0" smtClean="0">
                            <a:ln>
                              <a:noFill/>
                            </a:ln>
                            <a:solidFill>
                              <a:srgbClr val="FFC000"/>
                            </a:solidFill>
                            <a:effectLst/>
                            <a:latin typeface="Cambria Math" panose="02040503050406030204" pitchFamily="18" charset="0"/>
                            <a:ea typeface="华文细黑" pitchFamily="2" charset="-122"/>
                          </a:rPr>
                        </m:ctrlPr>
                      </m:sSubPr>
                      <m:e>
                        <m:r>
                          <a:rPr kumimoji="0" lang="en-US" altLang="zh-CN" sz="1800" b="1" i="0" u="none" strike="noStrike" cap="none" normalizeH="0" baseline="0" smtClean="0">
                            <a:ln>
                              <a:noFill/>
                            </a:ln>
                            <a:solidFill>
                              <a:srgbClr val="FFC000"/>
                            </a:solidFill>
                            <a:effectLst/>
                            <a:latin typeface="Cambria Math"/>
                            <a:ea typeface="华文细黑" pitchFamily="2" charset="-122"/>
                          </a:rPr>
                          <m:t>𝐅</m:t>
                        </m:r>
                      </m:e>
                      <m:sub>
                        <m:r>
                          <a:rPr kumimoji="0" lang="en-US" altLang="zh-CN" sz="1800" b="1" i="0" u="none" strike="noStrike" cap="none" normalizeH="0" baseline="0" smtClean="0">
                            <a:ln>
                              <a:noFill/>
                            </a:ln>
                            <a:solidFill>
                              <a:srgbClr val="FFC000"/>
                            </a:solidFill>
                            <a:effectLst/>
                            <a:latin typeface="Cambria Math"/>
                            <a:ea typeface="华文细黑" pitchFamily="2" charset="-122"/>
                          </a:rPr>
                          <m:t>𝐐𝐁𝐀</m:t>
                        </m:r>
                      </m:sub>
                    </m:sSub>
                  </m:oMath>
                </a14:m>
                <a:r>
                  <a:rPr kumimoji="0" lang="zh-CN" altLang="en-US" sz="1800" b="1" u="none" strike="noStrike" cap="none" normalizeH="0" baseline="0" dirty="0">
                    <a:ln>
                      <a:noFill/>
                    </a:ln>
                    <a:solidFill>
                      <a:srgbClr val="FFC000"/>
                    </a:solidFill>
                    <a:effectLst/>
                    <a:latin typeface="楷体" panose="02010609060101010101" pitchFamily="49" charset="-122"/>
                    <a:ea typeface="楷体" panose="02010609060101010101" pitchFamily="49" charset="-122"/>
                  </a:rPr>
                  <a:t>和</a:t>
                </a:r>
                <a14:m>
                  <m:oMath xmlns:m="http://schemas.openxmlformats.org/officeDocument/2006/math">
                    <m:sSub>
                      <m:sSubPr>
                        <m:ctrlPr>
                          <a:rPr kumimoji="0" lang="en-US" altLang="zh-CN" sz="1800" b="1" i="1" u="none" strike="noStrike" cap="none" normalizeH="0" baseline="0" dirty="0" smtClean="0">
                            <a:ln>
                              <a:noFill/>
                            </a:ln>
                            <a:solidFill>
                              <a:srgbClr val="FFC000"/>
                            </a:solidFill>
                            <a:effectLst/>
                            <a:latin typeface="Cambria Math" panose="02040503050406030204" pitchFamily="18" charset="0"/>
                            <a:ea typeface="华文细黑" pitchFamily="2" charset="-122"/>
                          </a:rPr>
                        </m:ctrlPr>
                      </m:sSubPr>
                      <m:e>
                        <m:r>
                          <a:rPr kumimoji="0" lang="en-US" altLang="zh-CN" sz="1800" b="1" i="0" u="none" strike="noStrike" cap="none" normalizeH="0" baseline="0" dirty="0" smtClean="0">
                            <a:ln>
                              <a:noFill/>
                            </a:ln>
                            <a:solidFill>
                              <a:srgbClr val="FFC000"/>
                            </a:solidFill>
                            <a:effectLst/>
                            <a:latin typeface="Cambria Math"/>
                            <a:ea typeface="华文细黑" pitchFamily="2" charset="-122"/>
                          </a:rPr>
                          <m:t>𝐅</m:t>
                        </m:r>
                      </m:e>
                      <m:sub>
                        <m:r>
                          <a:rPr kumimoji="0" lang="en-US" altLang="zh-CN" sz="1800" b="1" i="0" u="none" strike="noStrike" cap="none" normalizeH="0" baseline="0" dirty="0" smtClean="0">
                            <a:ln>
                              <a:noFill/>
                            </a:ln>
                            <a:solidFill>
                              <a:srgbClr val="FFC000"/>
                            </a:solidFill>
                            <a:effectLst/>
                            <a:latin typeface="Cambria Math"/>
                            <a:ea typeface="华文细黑" pitchFamily="2" charset="-122"/>
                          </a:rPr>
                          <m:t>𝐐𝐂𝐃</m:t>
                        </m:r>
                      </m:sub>
                    </m:sSub>
                  </m:oMath>
                </a14:m>
                <a:r>
                  <a:rPr kumimoji="0" lang="en-US" altLang="zh-CN" sz="1800" b="1" u="none" strike="noStrike" cap="none" normalizeH="0" baseline="0" dirty="0">
                    <a:ln>
                      <a:noFill/>
                    </a:ln>
                    <a:solidFill>
                      <a:srgbClr val="FFC000"/>
                    </a:solidFill>
                    <a:effectLst/>
                    <a:latin typeface="楷体" panose="02010609060101010101" pitchFamily="49" charset="-122"/>
                    <a:ea typeface="楷体" panose="02010609060101010101" pitchFamily="49" charset="-122"/>
                  </a:rPr>
                  <a:t>?</a:t>
                </a:r>
                <a:endParaRPr kumimoji="0" lang="zh-CN" altLang="en-US" sz="1800" b="1" u="none" strike="noStrike" cap="none" normalizeH="0" baseline="0" dirty="0">
                  <a:ln>
                    <a:noFill/>
                  </a:ln>
                  <a:solidFill>
                    <a:srgbClr val="FFC000"/>
                  </a:solidFill>
                  <a:effectLst/>
                  <a:latin typeface="楷体" panose="02010609060101010101" pitchFamily="49" charset="-122"/>
                  <a:ea typeface="楷体" panose="02010609060101010101" pitchFamily="49" charset="-122"/>
                </a:endParaRPr>
              </a:p>
            </p:txBody>
          </p:sp>
        </mc:Choice>
        <mc:Fallback xmlns="">
          <p:sp>
            <p:nvSpPr>
              <p:cNvPr id="44" name="矩形 43"/>
              <p:cNvSpPr>
                <a:spLocks noRot="1" noChangeAspect="1" noMove="1" noResize="1" noEditPoints="1" noAdjustHandles="1" noChangeArrowheads="1" noChangeShapeType="1" noTextEdit="1"/>
              </p:cNvSpPr>
              <p:nvPr/>
            </p:nvSpPr>
            <p:spPr bwMode="auto">
              <a:xfrm>
                <a:off x="4427984" y="4797152"/>
                <a:ext cx="2232248" cy="388340"/>
              </a:xfrm>
              <a:prstGeom prst="rect">
                <a:avLst/>
              </a:prstGeom>
              <a:blipFill rotWithShape="1">
                <a:blip r:embed="rId23"/>
                <a:stretch>
                  <a:fillRect l="-1897" t="-10606" b="-12121"/>
                </a:stretch>
              </a:blipFill>
              <a:ln w="9525" cap="flat" cmpd="sng" algn="ctr">
                <a:solidFill>
                  <a:srgbClr val="FF0000"/>
                </a:solidFill>
                <a:prstDash val="solid"/>
                <a:round/>
                <a:headEnd type="none" w="med" len="med"/>
                <a:tailEnd type="none" w="med" len="med"/>
              </a:ln>
              <a:effectLst/>
            </p:spPr>
            <p:txBody>
              <a:bodyPr/>
              <a:lstStyle/>
              <a:p>
                <a:r>
                  <a:rPr lang="zh-CN" altLang="en-US">
                    <a:noFill/>
                  </a:rPr>
                  <a:t> </a:t>
                </a:r>
              </a:p>
            </p:txBody>
          </p:sp>
        </mc:Fallback>
      </mc:AlternateContent>
    </p:spTree>
    <p:extLst>
      <p:ext uri="{BB962C8B-B14F-4D97-AF65-F5344CB8AC3E}">
        <p14:creationId xmlns:p14="http://schemas.microsoft.com/office/powerpoint/2010/main" val="3900837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08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609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4"/>
                                        </p:tgtEl>
                                        <p:attrNameLst>
                                          <p:attrName>style.visibility</p:attrName>
                                        </p:attrNameLst>
                                      </p:cBhvr>
                                      <p:to>
                                        <p:strVal val="visible"/>
                                      </p:to>
                                    </p:set>
                                    <p:anim calcmode="lin" valueType="num">
                                      <p:cBhvr additive="base">
                                        <p:cTn id="49" dur="500" fill="hold"/>
                                        <p:tgtEl>
                                          <p:spTgt spid="44"/>
                                        </p:tgtEl>
                                        <p:attrNameLst>
                                          <p:attrName>ppt_x</p:attrName>
                                        </p:attrNameLst>
                                      </p:cBhvr>
                                      <p:tavLst>
                                        <p:tav tm="0">
                                          <p:val>
                                            <p:strVal val="#ppt_x"/>
                                          </p:val>
                                        </p:tav>
                                        <p:tav tm="100000">
                                          <p:val>
                                            <p:strVal val="#ppt_x"/>
                                          </p:val>
                                        </p:tav>
                                      </p:tavLst>
                                    </p:anim>
                                    <p:anim calcmode="lin" valueType="num">
                                      <p:cBhvr additive="base">
                                        <p:cTn id="50"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611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nodeType="clickEffect">
                                  <p:stCondLst>
                                    <p:cond delay="0"/>
                                  </p:stCondLst>
                                  <p:childTnLst>
                                    <p:set>
                                      <p:cBhvr>
                                        <p:cTn id="60" dur="1" fill="hold">
                                          <p:stCondLst>
                                            <p:cond delay="0"/>
                                          </p:stCondLst>
                                        </p:cTn>
                                        <p:tgtEl>
                                          <p:spTgt spid="43"/>
                                        </p:tgtEl>
                                        <p:attrNameLst>
                                          <p:attrName>style.visibility</p:attrName>
                                        </p:attrNameLst>
                                      </p:cBhvr>
                                      <p:to>
                                        <p:strVal val="visible"/>
                                      </p:to>
                                    </p:set>
                                    <p:anim calcmode="lin" valueType="num">
                                      <p:cBhvr>
                                        <p:cTn id="61" dur="500" fill="hold"/>
                                        <p:tgtEl>
                                          <p:spTgt spid="43"/>
                                        </p:tgtEl>
                                        <p:attrNameLst>
                                          <p:attrName>ppt_w</p:attrName>
                                        </p:attrNameLst>
                                      </p:cBhvr>
                                      <p:tavLst>
                                        <p:tav tm="0">
                                          <p:val>
                                            <p:fltVal val="0"/>
                                          </p:val>
                                        </p:tav>
                                        <p:tav tm="100000">
                                          <p:val>
                                            <p:strVal val="#ppt_w"/>
                                          </p:val>
                                        </p:tav>
                                      </p:tavLst>
                                    </p:anim>
                                    <p:anim calcmode="lin" valueType="num">
                                      <p:cBhvr>
                                        <p:cTn id="62" dur="500" fill="hold"/>
                                        <p:tgtEl>
                                          <p:spTgt spid="43"/>
                                        </p:tgtEl>
                                        <p:attrNameLst>
                                          <p:attrName>ppt_h</p:attrName>
                                        </p:attrNameLst>
                                      </p:cBhvr>
                                      <p:tavLst>
                                        <p:tav tm="0">
                                          <p:val>
                                            <p:fltVal val="0"/>
                                          </p:val>
                                        </p:tav>
                                        <p:tav tm="100000">
                                          <p:val>
                                            <p:strVal val="#ppt_h"/>
                                          </p:val>
                                        </p:tav>
                                      </p:tavLst>
                                    </p:anim>
                                    <p:animEffect transition="in" filter="fade">
                                      <p:cBhvr>
                                        <p:cTn id="63"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7" grpId="0"/>
      <p:bldP spid="4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7-4 </a:t>
            </a:r>
            <a:r>
              <a:rPr lang="zh-CN" altLang="en-US" dirty="0"/>
              <a:t>位移法解有侧移刚架</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pic>
        <p:nvPicPr>
          <p:cNvPr id="48129" name="Picture 1" descr="C:\Users\Administrator\AppData\Roaming\Tencent\Users\42337577\QQ\WinTemp\RichOle\L2QTB1}W]G6I~N@IDL3NF7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294" y="1412776"/>
            <a:ext cx="1064000" cy="17009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对象 2"/>
          <p:cNvGraphicFramePr>
            <a:graphicFrameLocks noChangeAspect="1"/>
          </p:cNvGraphicFramePr>
          <p:nvPr>
            <p:extLst>
              <p:ext uri="{D42A27DB-BD31-4B8C-83A1-F6EECF244321}">
                <p14:modId xmlns:p14="http://schemas.microsoft.com/office/powerpoint/2010/main" val="1429786437"/>
              </p:ext>
            </p:extLst>
          </p:nvPr>
        </p:nvGraphicFramePr>
        <p:xfrm>
          <a:off x="3275856" y="1844824"/>
          <a:ext cx="2908300" cy="317500"/>
        </p:xfrm>
        <a:graphic>
          <a:graphicData uri="http://schemas.openxmlformats.org/presentationml/2006/ole">
            <mc:AlternateContent xmlns:mc="http://schemas.openxmlformats.org/markup-compatibility/2006">
              <mc:Choice xmlns:v="urn:schemas-microsoft-com:vml" Requires="v">
                <p:oleObj spid="_x0000_s112699" name="Equation" r:id="rId5" imgW="2908080" imgH="317160" progId="Equation.DSMT4">
                  <p:embed/>
                </p:oleObj>
              </mc:Choice>
              <mc:Fallback>
                <p:oleObj name="Equation" r:id="rId5" imgW="2908080" imgH="317160" progId="Equation.DSMT4">
                  <p:embed/>
                  <p:pic>
                    <p:nvPicPr>
                      <p:cNvPr id="0" name=""/>
                      <p:cNvPicPr/>
                      <p:nvPr/>
                    </p:nvPicPr>
                    <p:blipFill>
                      <a:blip r:embed="rId6"/>
                      <a:stretch>
                        <a:fillRect/>
                      </a:stretch>
                    </p:blipFill>
                    <p:spPr>
                      <a:xfrm>
                        <a:off x="3275856" y="1844824"/>
                        <a:ext cx="2908300" cy="31750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195569554"/>
              </p:ext>
            </p:extLst>
          </p:nvPr>
        </p:nvGraphicFramePr>
        <p:xfrm>
          <a:off x="4139952" y="2420888"/>
          <a:ext cx="1295400" cy="508000"/>
        </p:xfrm>
        <a:graphic>
          <a:graphicData uri="http://schemas.openxmlformats.org/presentationml/2006/ole">
            <mc:AlternateContent xmlns:mc="http://schemas.openxmlformats.org/markup-compatibility/2006">
              <mc:Choice xmlns:v="urn:schemas-microsoft-com:vml" Requires="v">
                <p:oleObj spid="_x0000_s112700" name="Equation" r:id="rId7" imgW="1295280" imgH="507960" progId="Equation.DSMT4">
                  <p:embed/>
                </p:oleObj>
              </mc:Choice>
              <mc:Fallback>
                <p:oleObj name="Equation" r:id="rId7" imgW="1295280" imgH="507960" progId="Equation.DSMT4">
                  <p:embed/>
                  <p:pic>
                    <p:nvPicPr>
                      <p:cNvPr id="0" name=""/>
                      <p:cNvPicPr/>
                      <p:nvPr/>
                    </p:nvPicPr>
                    <p:blipFill>
                      <a:blip r:embed="rId8"/>
                      <a:stretch>
                        <a:fillRect/>
                      </a:stretch>
                    </p:blipFill>
                    <p:spPr>
                      <a:xfrm>
                        <a:off x="4139952" y="2420888"/>
                        <a:ext cx="1295400" cy="508000"/>
                      </a:xfrm>
                      <a:prstGeom prst="rect">
                        <a:avLst/>
                      </a:prstGeom>
                    </p:spPr>
                  </p:pic>
                </p:oleObj>
              </mc:Fallback>
            </mc:AlternateContent>
          </a:graphicData>
        </a:graphic>
      </p:graphicFrame>
      <p:sp>
        <p:nvSpPr>
          <p:cNvPr id="5" name="右箭头 4"/>
          <p:cNvSpPr/>
          <p:nvPr/>
        </p:nvSpPr>
        <p:spPr bwMode="auto">
          <a:xfrm>
            <a:off x="2330005" y="2263251"/>
            <a:ext cx="576064" cy="157637"/>
          </a:xfrm>
          <a:prstGeom prst="rightArrow">
            <a:avLst/>
          </a:prstGeom>
          <a:solidFill>
            <a:srgbClr val="92D050"/>
          </a:solidFill>
          <a:ln w="9525"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971385667"/>
              </p:ext>
            </p:extLst>
          </p:nvPr>
        </p:nvGraphicFramePr>
        <p:xfrm>
          <a:off x="1310294" y="3501008"/>
          <a:ext cx="2235200" cy="279400"/>
        </p:xfrm>
        <a:graphic>
          <a:graphicData uri="http://schemas.openxmlformats.org/presentationml/2006/ole">
            <mc:AlternateContent xmlns:mc="http://schemas.openxmlformats.org/markup-compatibility/2006">
              <mc:Choice xmlns:v="urn:schemas-microsoft-com:vml" Requires="v">
                <p:oleObj spid="_x0000_s112701" name="Equation" r:id="rId9" imgW="2234880" imgH="279360" progId="Equation.DSMT4">
                  <p:embed/>
                </p:oleObj>
              </mc:Choice>
              <mc:Fallback>
                <p:oleObj name="Equation" r:id="rId9" imgW="2234880" imgH="279360" progId="Equation.DSMT4">
                  <p:embed/>
                  <p:pic>
                    <p:nvPicPr>
                      <p:cNvPr id="0" name=""/>
                      <p:cNvPicPr/>
                      <p:nvPr/>
                    </p:nvPicPr>
                    <p:blipFill>
                      <a:blip r:embed="rId10"/>
                      <a:stretch>
                        <a:fillRect/>
                      </a:stretch>
                    </p:blipFill>
                    <p:spPr>
                      <a:xfrm>
                        <a:off x="1310294" y="3501008"/>
                        <a:ext cx="2235200" cy="279400"/>
                      </a:xfrm>
                      <a:prstGeom prst="rect">
                        <a:avLst/>
                      </a:prstGeom>
                    </p:spPr>
                  </p:pic>
                </p:oleObj>
              </mc:Fallback>
            </mc:AlternateContent>
          </a:graphicData>
        </a:graphic>
      </p:graphicFrame>
      <p:sp>
        <p:nvSpPr>
          <p:cNvPr id="9" name="右箭头 8"/>
          <p:cNvSpPr/>
          <p:nvPr/>
        </p:nvSpPr>
        <p:spPr bwMode="auto">
          <a:xfrm>
            <a:off x="3707904" y="3548714"/>
            <a:ext cx="576064" cy="157637"/>
          </a:xfrm>
          <a:prstGeom prst="rightArrow">
            <a:avLst/>
          </a:prstGeom>
          <a:solidFill>
            <a:srgbClr val="92D050"/>
          </a:solidFill>
          <a:ln w="9525"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007582439"/>
              </p:ext>
            </p:extLst>
          </p:nvPr>
        </p:nvGraphicFramePr>
        <p:xfrm>
          <a:off x="4499992" y="3487832"/>
          <a:ext cx="1803400" cy="279400"/>
        </p:xfrm>
        <a:graphic>
          <a:graphicData uri="http://schemas.openxmlformats.org/presentationml/2006/ole">
            <mc:AlternateContent xmlns:mc="http://schemas.openxmlformats.org/markup-compatibility/2006">
              <mc:Choice xmlns:v="urn:schemas-microsoft-com:vml" Requires="v">
                <p:oleObj spid="_x0000_s112702" name="Equation" r:id="rId11" imgW="1803240" imgH="279360" progId="Equation.DSMT4">
                  <p:embed/>
                </p:oleObj>
              </mc:Choice>
              <mc:Fallback>
                <p:oleObj name="Equation" r:id="rId11" imgW="1803240" imgH="279360" progId="Equation.DSMT4">
                  <p:embed/>
                  <p:pic>
                    <p:nvPicPr>
                      <p:cNvPr id="0" name=""/>
                      <p:cNvPicPr/>
                      <p:nvPr/>
                    </p:nvPicPr>
                    <p:blipFill>
                      <a:blip r:embed="rId12"/>
                      <a:stretch>
                        <a:fillRect/>
                      </a:stretch>
                    </p:blipFill>
                    <p:spPr>
                      <a:xfrm>
                        <a:off x="4499992" y="3487832"/>
                        <a:ext cx="1803400" cy="279400"/>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594884065"/>
              </p:ext>
            </p:extLst>
          </p:nvPr>
        </p:nvGraphicFramePr>
        <p:xfrm>
          <a:off x="1259632" y="4017505"/>
          <a:ext cx="1917700" cy="609600"/>
        </p:xfrm>
        <a:graphic>
          <a:graphicData uri="http://schemas.openxmlformats.org/presentationml/2006/ole">
            <mc:AlternateContent xmlns:mc="http://schemas.openxmlformats.org/markup-compatibility/2006">
              <mc:Choice xmlns:v="urn:schemas-microsoft-com:vml" Requires="v">
                <p:oleObj spid="_x0000_s112703" name="Equation" r:id="rId13" imgW="1917360" imgH="609480" progId="Equation.DSMT4">
                  <p:embed/>
                </p:oleObj>
              </mc:Choice>
              <mc:Fallback>
                <p:oleObj name="Equation" r:id="rId13" imgW="1917360" imgH="609480" progId="Equation.DSMT4">
                  <p:embed/>
                  <p:pic>
                    <p:nvPicPr>
                      <p:cNvPr id="0" name=""/>
                      <p:cNvPicPr/>
                      <p:nvPr/>
                    </p:nvPicPr>
                    <p:blipFill>
                      <a:blip r:embed="rId14"/>
                      <a:stretch>
                        <a:fillRect/>
                      </a:stretch>
                    </p:blipFill>
                    <p:spPr>
                      <a:xfrm>
                        <a:off x="1259632" y="4017505"/>
                        <a:ext cx="1917700" cy="609600"/>
                      </a:xfrm>
                      <a:prstGeom prst="rect">
                        <a:avLst/>
                      </a:prstGeom>
                    </p:spPr>
                  </p:pic>
                </p:oleObj>
              </mc:Fallback>
            </mc:AlternateContent>
          </a:graphicData>
        </a:graphic>
      </p:graphicFrame>
      <p:sp>
        <p:nvSpPr>
          <p:cNvPr id="12" name="右箭头 11"/>
          <p:cNvSpPr/>
          <p:nvPr/>
        </p:nvSpPr>
        <p:spPr bwMode="auto">
          <a:xfrm>
            <a:off x="3284240" y="4233529"/>
            <a:ext cx="576064" cy="157637"/>
          </a:xfrm>
          <a:prstGeom prst="rightArrow">
            <a:avLst/>
          </a:prstGeom>
          <a:solidFill>
            <a:srgbClr val="92D050"/>
          </a:solidFill>
          <a:ln w="9525"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mc:AlternateContent xmlns:mc="http://schemas.openxmlformats.org/markup-compatibility/2006" xmlns:a14="http://schemas.microsoft.com/office/drawing/2010/main">
        <mc:Choice Requires="a14">
          <p:sp>
            <p:nvSpPr>
              <p:cNvPr id="10" name="TextBox 9"/>
              <p:cNvSpPr txBox="1"/>
              <p:nvPr/>
            </p:nvSpPr>
            <p:spPr>
              <a:xfrm>
                <a:off x="3948678" y="4136770"/>
                <a:ext cx="2783561" cy="400110"/>
              </a:xfrm>
              <a:prstGeom prst="rect">
                <a:avLst/>
              </a:prstGeom>
              <a:noFill/>
            </p:spPr>
            <p:txBody>
              <a:bodyPr wrap="square" rtlCol="0">
                <a:spAutoFit/>
              </a:bodyPr>
              <a:lstStyle/>
              <a:p>
                <a:r>
                  <a:rPr lang="zh-CN" altLang="en-US" sz="2000" b="1" dirty="0">
                    <a:solidFill>
                      <a:srgbClr val="FFC000"/>
                    </a:solidFill>
                    <a:latin typeface="楷体" panose="02010609060101010101" pitchFamily="49" charset="-122"/>
                    <a:ea typeface="楷体" panose="02010609060101010101" pitchFamily="49" charset="-122"/>
                  </a:rPr>
                  <a:t>求解出结点位移</a:t>
                </a:r>
                <a14:m>
                  <m:oMath xmlns:m="http://schemas.openxmlformats.org/officeDocument/2006/math">
                    <m:sSub>
                      <m:sSubPr>
                        <m:ctrlPr>
                          <a:rPr lang="en-US" altLang="zh-CN" sz="2000" b="1" i="1" smtClean="0">
                            <a:solidFill>
                              <a:srgbClr val="FFC000"/>
                            </a:solidFill>
                            <a:latin typeface="Cambria Math" panose="02040503050406030204" pitchFamily="18" charset="0"/>
                          </a:rPr>
                        </m:ctrlPr>
                      </m:sSubPr>
                      <m:e>
                        <m:r>
                          <a:rPr lang="zh-CN" altLang="en-US" sz="2000" b="1" i="1" smtClean="0">
                            <a:solidFill>
                              <a:srgbClr val="FFC000"/>
                            </a:solidFill>
                            <a:latin typeface="Cambria Math"/>
                          </a:rPr>
                          <m:t>𝜽</m:t>
                        </m:r>
                      </m:e>
                      <m:sub>
                        <m:r>
                          <a:rPr lang="en-US" altLang="zh-CN" sz="2000" b="1" i="1" smtClean="0">
                            <a:solidFill>
                              <a:srgbClr val="FFC000"/>
                            </a:solidFill>
                            <a:latin typeface="Cambria Math"/>
                          </a:rPr>
                          <m:t>𝑩</m:t>
                        </m:r>
                      </m:sub>
                    </m:sSub>
                  </m:oMath>
                </a14:m>
                <a:r>
                  <a:rPr lang="zh-CN" altLang="en-US" sz="2000" b="1" dirty="0">
                    <a:solidFill>
                      <a:srgbClr val="FFC000"/>
                    </a:solidFill>
                    <a:latin typeface="楷体" panose="02010609060101010101" pitchFamily="49" charset="-122"/>
                    <a:ea typeface="楷体" panose="02010609060101010101" pitchFamily="49" charset="-122"/>
                  </a:rPr>
                  <a:t>和</a:t>
                </a:r>
                <a14:m>
                  <m:oMath xmlns:m="http://schemas.openxmlformats.org/officeDocument/2006/math">
                    <m:r>
                      <a:rPr lang="zh-CN" altLang="en-US" sz="2000" b="1" i="1" dirty="0" smtClean="0">
                        <a:solidFill>
                          <a:srgbClr val="FFC000"/>
                        </a:solidFill>
                        <a:latin typeface="Cambria Math"/>
                      </a:rPr>
                      <m:t>∆</m:t>
                    </m:r>
                  </m:oMath>
                </a14:m>
                <a:r>
                  <a:rPr lang="zh-CN" altLang="en-US" sz="2000" b="1" dirty="0">
                    <a:solidFill>
                      <a:srgbClr val="FFC000"/>
                    </a:solidFill>
                    <a:latin typeface="楷体" panose="02010609060101010101" pitchFamily="49" charset="-122"/>
                    <a:ea typeface="楷体" panose="02010609060101010101" pitchFamily="49" charset="-122"/>
                  </a:rPr>
                  <a:t>！</a:t>
                </a:r>
              </a:p>
            </p:txBody>
          </p:sp>
        </mc:Choice>
        <mc:Fallback xmlns="">
          <p:sp>
            <p:nvSpPr>
              <p:cNvPr id="10" name="TextBox 9"/>
              <p:cNvSpPr txBox="1">
                <a:spLocks noRot="1" noChangeAspect="1" noMove="1" noResize="1" noEditPoints="1" noAdjustHandles="1" noChangeArrowheads="1" noChangeShapeType="1" noTextEdit="1"/>
              </p:cNvSpPr>
              <p:nvPr/>
            </p:nvSpPr>
            <p:spPr>
              <a:xfrm>
                <a:off x="3948678" y="4136770"/>
                <a:ext cx="2783561" cy="400110"/>
              </a:xfrm>
              <a:prstGeom prst="rect">
                <a:avLst/>
              </a:prstGeom>
              <a:blipFill rotWithShape="1">
                <a:blip r:embed="rId15"/>
                <a:stretch>
                  <a:fillRect l="-2412" t="-10769" r="-11623" b="-24615"/>
                </a:stretch>
              </a:blipFill>
            </p:spPr>
            <p:txBody>
              <a:bodyPr/>
              <a:lstStyle/>
              <a:p>
                <a:r>
                  <a:rPr lang="zh-CN" altLang="en-US">
                    <a:noFill/>
                  </a:rPr>
                  <a:t> </a:t>
                </a:r>
              </a:p>
            </p:txBody>
          </p:sp>
        </mc:Fallback>
      </mc:AlternateContent>
      <p:sp>
        <p:nvSpPr>
          <p:cNvPr id="11" name="矩形 10"/>
          <p:cNvSpPr/>
          <p:nvPr/>
        </p:nvSpPr>
        <p:spPr bwMode="auto">
          <a:xfrm>
            <a:off x="467544" y="4867813"/>
            <a:ext cx="8280920" cy="1368152"/>
          </a:xfrm>
          <a:prstGeom prst="rect">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2000" strike="noStrike" cap="none" normalizeH="0" baseline="0" dirty="0">
                <a:ln>
                  <a:noFill/>
                </a:ln>
                <a:solidFill>
                  <a:schemeClr val="tx1"/>
                </a:solidFill>
                <a:effectLst/>
                <a:latin typeface="楷体" panose="02010609060101010101" pitchFamily="49" charset="-122"/>
                <a:ea typeface="楷体" panose="02010609060101010101" pitchFamily="49" charset="-122"/>
              </a:rPr>
              <a:t>一般来说，位移法的基本方程都是根据平衡方程得出的。基本未知量中每一个转角有一个相应的结点力矩平衡方程，每一个独立结点线位移有一个相应的截面平衡方程。平衡方程的个数与基本未知量的个数彼此相等，正好解出全部基本未知量。</a:t>
            </a:r>
          </a:p>
        </p:txBody>
      </p:sp>
    </p:spTree>
    <p:extLst>
      <p:ext uri="{BB962C8B-B14F-4D97-AF65-F5344CB8AC3E}">
        <p14:creationId xmlns:p14="http://schemas.microsoft.com/office/powerpoint/2010/main" val="1566503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2" grpId="0" animBg="1"/>
      <p:bldP spid="10" grpId="0"/>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7-4 </a:t>
            </a:r>
            <a:r>
              <a:rPr lang="zh-CN" altLang="en-US" dirty="0"/>
              <a:t>位移法解有侧移刚架</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67544" y="1340768"/>
            <a:ext cx="1296144" cy="400110"/>
          </a:xfrm>
          <a:prstGeom prst="rect">
            <a:avLst/>
          </a:prstGeom>
          <a:noFill/>
        </p:spPr>
        <p:txBody>
          <a:bodyPr wrap="square" rtlCol="0">
            <a:spAutoFit/>
          </a:bodyPr>
          <a:lstStyle/>
          <a:p>
            <a:r>
              <a:rPr lang="zh-CN" altLang="en-US" sz="2000" dirty="0">
                <a:latin typeface="楷体" panose="02010609060101010101" pitchFamily="49" charset="-122"/>
                <a:ea typeface="楷体" panose="02010609060101010101" pitchFamily="49" charset="-122"/>
              </a:rPr>
              <a:t>例：</a:t>
            </a:r>
          </a:p>
        </p:txBody>
      </p:sp>
      <p:pic>
        <p:nvPicPr>
          <p:cNvPr id="50177" name="Picture 1" descr="C:\Users\Administrator\AppData\Roaming\Tencent\Users\42337577\QQ\WinTemp\RichOle\9S$9ZM37VJS%$I3BMG2_HH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1740878"/>
            <a:ext cx="2464990" cy="143909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059832" y="1550054"/>
            <a:ext cx="5688632" cy="707886"/>
          </a:xfrm>
          <a:prstGeom prst="rect">
            <a:avLst/>
          </a:prstGeom>
          <a:noFill/>
        </p:spPr>
        <p:txBody>
          <a:bodyPr wrap="square" rtlCol="0">
            <a:spAutoFit/>
          </a:bodyPr>
          <a:lstStyle/>
          <a:p>
            <a:r>
              <a:rPr lang="zh-CN" altLang="en-US" sz="2000" dirty="0">
                <a:latin typeface="楷体" panose="02010609060101010101" pitchFamily="49" charset="-122"/>
                <a:ea typeface="楷体" panose="02010609060101010101" pitchFamily="49" charset="-122"/>
              </a:rPr>
              <a:t>试求左图所示刚架的弯矩图，忽略横梁的轴向变形。</a:t>
            </a:r>
          </a:p>
        </p:txBody>
      </p:sp>
      <p:sp>
        <p:nvSpPr>
          <p:cNvPr id="6" name="TextBox 5"/>
          <p:cNvSpPr txBox="1"/>
          <p:nvPr/>
        </p:nvSpPr>
        <p:spPr>
          <a:xfrm>
            <a:off x="3131840" y="2348880"/>
            <a:ext cx="576064" cy="369332"/>
          </a:xfrm>
          <a:prstGeom prst="rect">
            <a:avLst/>
          </a:prstGeom>
          <a:noFill/>
        </p:spPr>
        <p:txBody>
          <a:bodyPr wrap="square" rtlCol="0">
            <a:spAutoFit/>
          </a:bodyPr>
          <a:lstStyle/>
          <a:p>
            <a:r>
              <a:rPr lang="zh-CN" altLang="en-US" dirty="0">
                <a:solidFill>
                  <a:srgbClr val="FF0000"/>
                </a:solidFill>
                <a:latin typeface="楷体" panose="02010609060101010101" pitchFamily="49" charset="-122"/>
                <a:ea typeface="楷体" panose="02010609060101010101" pitchFamily="49" charset="-122"/>
              </a:rPr>
              <a:t>解：</a:t>
            </a:r>
          </a:p>
        </p:txBody>
      </p:sp>
      <p:sp>
        <p:nvSpPr>
          <p:cNvPr id="7" name="TextBox 6"/>
          <p:cNvSpPr txBox="1"/>
          <p:nvPr/>
        </p:nvSpPr>
        <p:spPr>
          <a:xfrm>
            <a:off x="3491880" y="2780928"/>
            <a:ext cx="2736304" cy="338554"/>
          </a:xfrm>
          <a:prstGeom prst="rect">
            <a:avLst/>
          </a:prstGeom>
          <a:noFill/>
        </p:spPr>
        <p:txBody>
          <a:bodyPr wrap="square" rtlCol="0">
            <a:spAutoFit/>
          </a:bodyPr>
          <a:lstStyle/>
          <a:p>
            <a:pPr marL="342900" indent="-342900">
              <a:buFont typeface="+mj-ea"/>
              <a:buAutoNum type="circleNumDbPlain"/>
            </a:pPr>
            <a:r>
              <a:rPr lang="zh-CN" altLang="en-US" sz="1600" b="1" dirty="0">
                <a:latin typeface="楷体" panose="02010609060101010101" pitchFamily="49" charset="-122"/>
                <a:ea typeface="楷体" panose="02010609060101010101" pitchFamily="49" charset="-122"/>
              </a:rPr>
              <a:t>基本未知量</a:t>
            </a:r>
          </a:p>
        </p:txBody>
      </p:sp>
      <mc:AlternateContent xmlns:mc="http://schemas.openxmlformats.org/markup-compatibility/2006" xmlns:a14="http://schemas.microsoft.com/office/drawing/2010/main">
        <mc:Choice Requires="a14">
          <p:sp>
            <p:nvSpPr>
              <p:cNvPr id="8" name="TextBox 7"/>
              <p:cNvSpPr txBox="1"/>
              <p:nvPr/>
            </p:nvSpPr>
            <p:spPr>
              <a:xfrm>
                <a:off x="3923928" y="3179976"/>
                <a:ext cx="3456384"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只有一个独立的线位移</a:t>
                </a:r>
                <a14:m>
                  <m:oMath xmlns:m="http://schemas.openxmlformats.org/officeDocument/2006/math">
                    <m:r>
                      <a:rPr lang="zh-CN" altLang="en-US" sz="1600" i="1" smtClean="0">
                        <a:latin typeface="Cambria Math"/>
                      </a:rPr>
                      <m:t>∆</m:t>
                    </m:r>
                  </m:oMath>
                </a14:m>
                <a:r>
                  <a:rPr lang="zh-CN" altLang="en-US" sz="1600" dirty="0">
                    <a:latin typeface="楷体" panose="02010609060101010101" pitchFamily="49" charset="-122"/>
                    <a:ea typeface="楷体" panose="02010609060101010101" pitchFamily="49" charset="-122"/>
                  </a:rPr>
                  <a:t>。</a:t>
                </a:r>
              </a:p>
            </p:txBody>
          </p:sp>
        </mc:Choice>
        <mc:Fallback xmlns="">
          <p:sp>
            <p:nvSpPr>
              <p:cNvPr id="8" name="TextBox 7"/>
              <p:cNvSpPr txBox="1">
                <a:spLocks noRot="1" noChangeAspect="1" noMove="1" noResize="1" noEditPoints="1" noAdjustHandles="1" noChangeArrowheads="1" noChangeShapeType="1" noTextEdit="1"/>
              </p:cNvSpPr>
              <p:nvPr/>
            </p:nvSpPr>
            <p:spPr>
              <a:xfrm>
                <a:off x="3923928" y="3179976"/>
                <a:ext cx="3456384" cy="338554"/>
              </a:xfrm>
              <a:prstGeom prst="rect">
                <a:avLst/>
              </a:prstGeom>
              <a:blipFill rotWithShape="1">
                <a:blip r:embed="rId5"/>
                <a:stretch>
                  <a:fillRect l="-1058" t="-7273" b="-21818"/>
                </a:stretch>
              </a:blipFill>
            </p:spPr>
            <p:txBody>
              <a:bodyPr/>
              <a:lstStyle/>
              <a:p>
                <a:r>
                  <a:rPr lang="zh-CN" altLang="en-US">
                    <a:noFill/>
                  </a:rPr>
                  <a:t> </a:t>
                </a:r>
              </a:p>
            </p:txBody>
          </p:sp>
        </mc:Fallback>
      </mc:AlternateContent>
      <p:pic>
        <p:nvPicPr>
          <p:cNvPr id="50178" name="Picture 2" descr="C:\Users\Administrator\AppData\Roaming\Tencent\Users\42337577\QQ\WinTemp\RichOle\3C0GQWZTW$NWST8}S8N8$6V.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2334" y="3327224"/>
            <a:ext cx="2475410" cy="163683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3491880" y="3573016"/>
            <a:ext cx="2880320" cy="338554"/>
          </a:xfrm>
          <a:prstGeom prst="rect">
            <a:avLst/>
          </a:prstGeom>
          <a:noFill/>
        </p:spPr>
        <p:txBody>
          <a:bodyPr wrap="square" rtlCol="0">
            <a:spAutoFit/>
          </a:bodyPr>
          <a:lstStyle/>
          <a:p>
            <a:pPr marL="342900" indent="-342900">
              <a:buFont typeface="+mj-ea"/>
              <a:buAutoNum type="circleNumDbPlain" startAt="2"/>
            </a:pPr>
            <a:r>
              <a:rPr lang="zh-CN" altLang="en-US" sz="1600" b="1" dirty="0">
                <a:latin typeface="楷体" panose="02010609060101010101" pitchFamily="49" charset="-122"/>
                <a:ea typeface="楷体" panose="02010609060101010101" pitchFamily="49" charset="-122"/>
              </a:rPr>
              <a:t>各柱的杆端弯矩和剪力</a:t>
            </a:r>
          </a:p>
        </p:txBody>
      </p:sp>
      <p:graphicFrame>
        <p:nvGraphicFramePr>
          <p:cNvPr id="10" name="对象 9"/>
          <p:cNvGraphicFramePr>
            <a:graphicFrameLocks noChangeAspect="1"/>
          </p:cNvGraphicFramePr>
          <p:nvPr>
            <p:extLst>
              <p:ext uri="{D42A27DB-BD31-4B8C-83A1-F6EECF244321}">
                <p14:modId xmlns:p14="http://schemas.microsoft.com/office/powerpoint/2010/main" val="2181709524"/>
              </p:ext>
            </p:extLst>
          </p:nvPr>
        </p:nvGraphicFramePr>
        <p:xfrm>
          <a:off x="3923928" y="3966757"/>
          <a:ext cx="2463800" cy="558800"/>
        </p:xfrm>
        <a:graphic>
          <a:graphicData uri="http://schemas.openxmlformats.org/presentationml/2006/ole">
            <mc:AlternateContent xmlns:mc="http://schemas.openxmlformats.org/markup-compatibility/2006">
              <mc:Choice xmlns:v="urn:schemas-microsoft-com:vml" Requires="v">
                <p:oleObj spid="_x0000_s50792" name="Equation" r:id="rId7" imgW="2463480" imgH="558720" progId="Equation.DSMT4">
                  <p:embed/>
                </p:oleObj>
              </mc:Choice>
              <mc:Fallback>
                <p:oleObj name="Equation" r:id="rId7" imgW="2463480" imgH="558720" progId="Equation.DSMT4">
                  <p:embed/>
                  <p:pic>
                    <p:nvPicPr>
                      <p:cNvPr id="0" name=""/>
                      <p:cNvPicPr/>
                      <p:nvPr/>
                    </p:nvPicPr>
                    <p:blipFill>
                      <a:blip r:embed="rId8"/>
                      <a:stretch>
                        <a:fillRect/>
                      </a:stretch>
                    </p:blipFill>
                    <p:spPr>
                      <a:xfrm>
                        <a:off x="3923928" y="3966757"/>
                        <a:ext cx="2463800" cy="558800"/>
                      </a:xfrm>
                      <a:prstGeom prst="rect">
                        <a:avLst/>
                      </a:prstGeom>
                    </p:spPr>
                  </p:pic>
                </p:oleObj>
              </mc:Fallback>
            </mc:AlternateContent>
          </a:graphicData>
        </a:graphic>
      </p:graphicFrame>
      <p:sp>
        <p:nvSpPr>
          <p:cNvPr id="11" name="TextBox 10"/>
          <p:cNvSpPr txBox="1"/>
          <p:nvPr/>
        </p:nvSpPr>
        <p:spPr>
          <a:xfrm>
            <a:off x="6931913" y="4066131"/>
            <a:ext cx="1224136" cy="338554"/>
          </a:xfrm>
          <a:prstGeom prst="rect">
            <a:avLst/>
          </a:prstGeom>
          <a:noFill/>
        </p:spPr>
        <p:txBody>
          <a:bodyPr wrap="square" rtlCol="0">
            <a:spAutoFit/>
          </a:bodyPr>
          <a:lstStyle/>
          <a:p>
            <a:r>
              <a:rPr lang="zh-CN" altLang="en-US" sz="1600" dirty="0">
                <a:solidFill>
                  <a:srgbClr val="0000FF"/>
                </a:solidFill>
                <a:latin typeface="楷体" panose="02010609060101010101" pitchFamily="49" charset="-122"/>
                <a:ea typeface="楷体" panose="02010609060101010101" pitchFamily="49" charset="-122"/>
              </a:rPr>
              <a:t>线刚度</a:t>
            </a:r>
          </a:p>
        </p:txBody>
      </p:sp>
      <p:graphicFrame>
        <p:nvGraphicFramePr>
          <p:cNvPr id="12" name="对象 11"/>
          <p:cNvGraphicFramePr>
            <a:graphicFrameLocks noChangeAspect="1"/>
          </p:cNvGraphicFramePr>
          <p:nvPr>
            <p:extLst>
              <p:ext uri="{D42A27DB-BD31-4B8C-83A1-F6EECF244321}">
                <p14:modId xmlns:p14="http://schemas.microsoft.com/office/powerpoint/2010/main" val="888106311"/>
              </p:ext>
            </p:extLst>
          </p:nvPr>
        </p:nvGraphicFramePr>
        <p:xfrm>
          <a:off x="3907661" y="4684658"/>
          <a:ext cx="3771900" cy="558800"/>
        </p:xfrm>
        <a:graphic>
          <a:graphicData uri="http://schemas.openxmlformats.org/presentationml/2006/ole">
            <mc:AlternateContent xmlns:mc="http://schemas.openxmlformats.org/markup-compatibility/2006">
              <mc:Choice xmlns:v="urn:schemas-microsoft-com:vml" Requires="v">
                <p:oleObj spid="_x0000_s50793" name="Equation" r:id="rId9" imgW="3771720" imgH="558720" progId="Equation.DSMT4">
                  <p:embed/>
                </p:oleObj>
              </mc:Choice>
              <mc:Fallback>
                <p:oleObj name="Equation" r:id="rId9" imgW="3771720" imgH="558720" progId="Equation.DSMT4">
                  <p:embed/>
                  <p:pic>
                    <p:nvPicPr>
                      <p:cNvPr id="0" name=""/>
                      <p:cNvPicPr/>
                      <p:nvPr/>
                    </p:nvPicPr>
                    <p:blipFill>
                      <a:blip r:embed="rId10"/>
                      <a:stretch>
                        <a:fillRect/>
                      </a:stretch>
                    </p:blipFill>
                    <p:spPr>
                      <a:xfrm>
                        <a:off x="3907661" y="4684658"/>
                        <a:ext cx="3771900" cy="558800"/>
                      </a:xfrm>
                      <a:prstGeom prst="rect">
                        <a:avLst/>
                      </a:prstGeom>
                    </p:spPr>
                  </p:pic>
                </p:oleObj>
              </mc:Fallback>
            </mc:AlternateContent>
          </a:graphicData>
        </a:graphic>
      </p:graphicFrame>
      <p:sp>
        <p:nvSpPr>
          <p:cNvPr id="13" name="TextBox 12"/>
          <p:cNvSpPr txBox="1"/>
          <p:nvPr/>
        </p:nvSpPr>
        <p:spPr>
          <a:xfrm>
            <a:off x="3923928" y="5229200"/>
            <a:ext cx="3096344" cy="338554"/>
          </a:xfrm>
          <a:prstGeom prst="rect">
            <a:avLst/>
          </a:prstGeom>
          <a:noFill/>
        </p:spPr>
        <p:txBody>
          <a:bodyPr wrap="square" rtlCol="0">
            <a:spAutoFit/>
          </a:bodyPr>
          <a:lstStyle/>
          <a:p>
            <a:r>
              <a:rPr lang="zh-CN" altLang="en-US" sz="1600" dirty="0">
                <a:solidFill>
                  <a:srgbClr val="FF0000"/>
                </a:solidFill>
                <a:latin typeface="楷体" panose="02010609060101010101" pitchFamily="49" charset="-122"/>
                <a:ea typeface="楷体" panose="02010609060101010101" pitchFamily="49" charset="-122"/>
              </a:rPr>
              <a:t>为什么没有叠加固端弯矩？</a:t>
            </a:r>
          </a:p>
        </p:txBody>
      </p:sp>
      <p:graphicFrame>
        <p:nvGraphicFramePr>
          <p:cNvPr id="15" name="对象 14"/>
          <p:cNvGraphicFramePr>
            <a:graphicFrameLocks noChangeAspect="1"/>
          </p:cNvGraphicFramePr>
          <p:nvPr>
            <p:extLst>
              <p:ext uri="{D42A27DB-BD31-4B8C-83A1-F6EECF244321}">
                <p14:modId xmlns:p14="http://schemas.microsoft.com/office/powerpoint/2010/main" val="3904867902"/>
              </p:ext>
            </p:extLst>
          </p:nvPr>
        </p:nvGraphicFramePr>
        <p:xfrm>
          <a:off x="3923928" y="5733256"/>
          <a:ext cx="3657600" cy="558800"/>
        </p:xfrm>
        <a:graphic>
          <a:graphicData uri="http://schemas.openxmlformats.org/presentationml/2006/ole">
            <mc:AlternateContent xmlns:mc="http://schemas.openxmlformats.org/markup-compatibility/2006">
              <mc:Choice xmlns:v="urn:schemas-microsoft-com:vml" Requires="v">
                <p:oleObj spid="_x0000_s50794" name="Equation" r:id="rId11" imgW="3657600" imgH="558720" progId="Equation.DSMT4">
                  <p:embed/>
                </p:oleObj>
              </mc:Choice>
              <mc:Fallback>
                <p:oleObj name="Equation" r:id="rId11" imgW="3657600" imgH="558720" progId="Equation.DSMT4">
                  <p:embed/>
                  <p:pic>
                    <p:nvPicPr>
                      <p:cNvPr id="0" name=""/>
                      <p:cNvPicPr/>
                      <p:nvPr/>
                    </p:nvPicPr>
                    <p:blipFill>
                      <a:blip r:embed="rId12"/>
                      <a:stretch>
                        <a:fillRect/>
                      </a:stretch>
                    </p:blipFill>
                    <p:spPr>
                      <a:xfrm>
                        <a:off x="3923928" y="5733256"/>
                        <a:ext cx="3657600" cy="558800"/>
                      </a:xfrm>
                      <a:prstGeom prst="rect">
                        <a:avLst/>
                      </a:prstGeom>
                    </p:spPr>
                  </p:pic>
                </p:oleObj>
              </mc:Fallback>
            </mc:AlternateContent>
          </a:graphicData>
        </a:graphic>
      </p:graphicFrame>
    </p:spTree>
    <p:extLst>
      <p:ext uri="{BB962C8B-B14F-4D97-AF65-F5344CB8AC3E}">
        <p14:creationId xmlns:p14="http://schemas.microsoft.com/office/powerpoint/2010/main" val="1566503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7-4 </a:t>
            </a:r>
            <a:r>
              <a:rPr lang="zh-CN" altLang="en-US" dirty="0"/>
              <a:t>位移法解有侧移刚架</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pic>
        <p:nvPicPr>
          <p:cNvPr id="52225" name="Picture 1" descr="C:\Users\Administrator\AppData\Roaming\Tencent\Users\42337577\QQ\WinTemp\RichOle\YODH%6RYV89$$17WDPQ8T)B.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1414480"/>
            <a:ext cx="2637582" cy="148412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3275856" y="1414480"/>
            <a:ext cx="4896544" cy="338554"/>
          </a:xfrm>
          <a:prstGeom prst="rect">
            <a:avLst/>
          </a:prstGeom>
          <a:noFill/>
        </p:spPr>
        <p:txBody>
          <a:bodyPr wrap="square" rtlCol="0">
            <a:spAutoFit/>
          </a:bodyPr>
          <a:lstStyle/>
          <a:p>
            <a:pPr marL="342900" indent="-342900">
              <a:buFont typeface="+mj-ea"/>
              <a:buAutoNum type="circleNumDbPlain"/>
            </a:pPr>
            <a:r>
              <a:rPr lang="zh-CN" altLang="en-US" sz="1600" b="1" dirty="0">
                <a:latin typeface="楷体" panose="02010609060101010101" pitchFamily="49" charset="-122"/>
                <a:ea typeface="楷体" panose="02010609060101010101" pitchFamily="49" charset="-122"/>
              </a:rPr>
              <a:t>位移基本方程</a:t>
            </a:r>
          </a:p>
        </p:txBody>
      </p:sp>
      <p:sp>
        <p:nvSpPr>
          <p:cNvPr id="4" name="TextBox 3"/>
          <p:cNvSpPr txBox="1"/>
          <p:nvPr/>
        </p:nvSpPr>
        <p:spPr>
          <a:xfrm>
            <a:off x="3707904" y="1828922"/>
            <a:ext cx="5040560" cy="584775"/>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取</a:t>
            </a:r>
            <a:r>
              <a:rPr lang="zh-CN" altLang="en-US" sz="1600" b="1" dirty="0">
                <a:solidFill>
                  <a:srgbClr val="FF0000"/>
                </a:solidFill>
                <a:latin typeface="楷体" panose="02010609060101010101" pitchFamily="49" charset="-122"/>
                <a:ea typeface="楷体" panose="02010609060101010101" pitchFamily="49" charset="-122"/>
              </a:rPr>
              <a:t>柱顶以上横梁部分为隔离体</a:t>
            </a:r>
            <a:r>
              <a:rPr lang="zh-CN" altLang="en-US" sz="1600" dirty="0">
                <a:latin typeface="楷体" panose="02010609060101010101" pitchFamily="49" charset="-122"/>
                <a:ea typeface="楷体" panose="02010609060101010101" pitchFamily="49" charset="-122"/>
              </a:rPr>
              <a:t>，由水平方向的平衡条件</a:t>
            </a:r>
            <a:r>
              <a:rPr lang="en-US" altLang="zh-CN" sz="1600" dirty="0">
                <a:latin typeface="楷体" panose="02010609060101010101" pitchFamily="49" charset="-122"/>
                <a:ea typeface="楷体" panose="02010609060101010101" pitchFamily="49" charset="-122"/>
              </a:rPr>
              <a:t>:</a:t>
            </a:r>
            <a:endParaRPr lang="zh-CN" altLang="en-US" sz="1600" dirty="0">
              <a:latin typeface="楷体" panose="02010609060101010101" pitchFamily="49" charset="-122"/>
              <a:ea typeface="楷体" panose="02010609060101010101" pitchFamily="49" charset="-122"/>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4155704511"/>
              </p:ext>
            </p:extLst>
          </p:nvPr>
        </p:nvGraphicFramePr>
        <p:xfrm>
          <a:off x="4283968" y="2413697"/>
          <a:ext cx="3759200" cy="355600"/>
        </p:xfrm>
        <a:graphic>
          <a:graphicData uri="http://schemas.openxmlformats.org/presentationml/2006/ole">
            <mc:AlternateContent xmlns:mc="http://schemas.openxmlformats.org/markup-compatibility/2006">
              <mc:Choice xmlns:v="urn:schemas-microsoft-com:vml" Requires="v">
                <p:oleObj spid="_x0000_s52620" name="Equation" r:id="rId5" imgW="3759120" imgH="355320" progId="Equation.DSMT4">
                  <p:embed/>
                </p:oleObj>
              </mc:Choice>
              <mc:Fallback>
                <p:oleObj name="Equation" r:id="rId5" imgW="3759120" imgH="355320" progId="Equation.DSMT4">
                  <p:embed/>
                  <p:pic>
                    <p:nvPicPr>
                      <p:cNvPr id="0" name=""/>
                      <p:cNvPicPr/>
                      <p:nvPr/>
                    </p:nvPicPr>
                    <p:blipFill>
                      <a:blip r:embed="rId6"/>
                      <a:stretch>
                        <a:fillRect/>
                      </a:stretch>
                    </p:blipFill>
                    <p:spPr>
                      <a:xfrm>
                        <a:off x="4283968" y="2413697"/>
                        <a:ext cx="3759200" cy="35560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592908125"/>
              </p:ext>
            </p:extLst>
          </p:nvPr>
        </p:nvGraphicFramePr>
        <p:xfrm>
          <a:off x="5110584" y="2996952"/>
          <a:ext cx="2235200" cy="635000"/>
        </p:xfrm>
        <a:graphic>
          <a:graphicData uri="http://schemas.openxmlformats.org/presentationml/2006/ole">
            <mc:AlternateContent xmlns:mc="http://schemas.openxmlformats.org/markup-compatibility/2006">
              <mc:Choice xmlns:v="urn:schemas-microsoft-com:vml" Requires="v">
                <p:oleObj spid="_x0000_s52621" name="Equation" r:id="rId7" imgW="2234880" imgH="634680" progId="Equation.DSMT4">
                  <p:embed/>
                </p:oleObj>
              </mc:Choice>
              <mc:Fallback>
                <p:oleObj name="Equation" r:id="rId7" imgW="2234880" imgH="634680" progId="Equation.DSMT4">
                  <p:embed/>
                  <p:pic>
                    <p:nvPicPr>
                      <p:cNvPr id="0" name=""/>
                      <p:cNvPicPr/>
                      <p:nvPr/>
                    </p:nvPicPr>
                    <p:blipFill>
                      <a:blip r:embed="rId8"/>
                      <a:stretch>
                        <a:fillRect/>
                      </a:stretch>
                    </p:blipFill>
                    <p:spPr>
                      <a:xfrm>
                        <a:off x="5110584" y="2996952"/>
                        <a:ext cx="2235200" cy="635000"/>
                      </a:xfrm>
                      <a:prstGeom prst="rect">
                        <a:avLst/>
                      </a:prstGeom>
                    </p:spPr>
                  </p:pic>
                </p:oleObj>
              </mc:Fallback>
            </mc:AlternateContent>
          </a:graphicData>
        </a:graphic>
      </p:graphicFrame>
      <p:sp>
        <p:nvSpPr>
          <p:cNvPr id="7" name="TextBox 6"/>
          <p:cNvSpPr txBox="1"/>
          <p:nvPr/>
        </p:nvSpPr>
        <p:spPr>
          <a:xfrm>
            <a:off x="1619672" y="4221088"/>
            <a:ext cx="5832648" cy="707886"/>
          </a:xfrm>
          <a:prstGeom prst="rect">
            <a:avLst/>
          </a:prstGeom>
          <a:noFill/>
        </p:spPr>
        <p:txBody>
          <a:bodyPr wrap="square" rtlCol="0">
            <a:spAutoFit/>
          </a:bodyPr>
          <a:lstStyle/>
          <a:p>
            <a:r>
              <a:rPr lang="zh-CN" altLang="en-US" sz="2000" b="1" dirty="0">
                <a:solidFill>
                  <a:srgbClr val="0000FF"/>
                </a:solidFill>
                <a:latin typeface="楷体" panose="02010609060101010101" pitchFamily="49" charset="-122"/>
                <a:ea typeface="楷体" panose="02010609060101010101" pitchFamily="49" charset="-122"/>
              </a:rPr>
              <a:t>剪力分配法</a:t>
            </a:r>
            <a:r>
              <a:rPr lang="zh-CN" altLang="en-US" sz="2000" dirty="0">
                <a:latin typeface="楷体" panose="02010609060101010101" pitchFamily="49" charset="-122"/>
                <a:ea typeface="楷体" panose="02010609060101010101" pitchFamily="49" charset="-122"/>
              </a:rPr>
              <a:t>：请同学们参照教材</a:t>
            </a:r>
            <a:r>
              <a:rPr lang="en-US" altLang="zh-CN" sz="2000" dirty="0">
                <a:latin typeface="楷体" panose="02010609060101010101" pitchFamily="49" charset="-122"/>
                <a:ea typeface="楷体" panose="02010609060101010101" pitchFamily="49" charset="-122"/>
              </a:rPr>
              <a:t>P240</a:t>
            </a:r>
            <a:r>
              <a:rPr lang="zh-CN" altLang="en-US" sz="2000" dirty="0">
                <a:latin typeface="楷体" panose="02010609060101010101" pitchFamily="49" charset="-122"/>
                <a:ea typeface="楷体" panose="02010609060101010101" pitchFamily="49" charset="-122"/>
              </a:rPr>
              <a:t>，在这不详细讲。</a:t>
            </a:r>
          </a:p>
        </p:txBody>
      </p:sp>
    </p:spTree>
    <p:extLst>
      <p:ext uri="{BB962C8B-B14F-4D97-AF65-F5344CB8AC3E}">
        <p14:creationId xmlns:p14="http://schemas.microsoft.com/office/powerpoint/2010/main" val="1566503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67544" y="1373021"/>
            <a:ext cx="4176464" cy="461665"/>
          </a:xfrm>
          <a:prstGeom prst="rect">
            <a:avLst/>
          </a:prstGeom>
          <a:noFill/>
        </p:spPr>
        <p:txBody>
          <a:bodyPr wrap="square" rtlCol="0">
            <a:spAutoFit/>
          </a:bodyPr>
          <a:lstStyle/>
          <a:p>
            <a:r>
              <a:rPr lang="zh-CN" altLang="en-US" sz="2400" b="1" dirty="0">
                <a:solidFill>
                  <a:srgbClr val="FF0000"/>
                </a:solidFill>
                <a:latin typeface="楷体" panose="02010609060101010101" pitchFamily="49" charset="-122"/>
                <a:ea typeface="楷体" panose="02010609060101010101" pitchFamily="49" charset="-122"/>
              </a:rPr>
              <a:t>如何建立位移法基本体系？</a:t>
            </a:r>
          </a:p>
        </p:txBody>
      </p:sp>
      <p:pic>
        <p:nvPicPr>
          <p:cNvPr id="53249" name="Picture 1" descr="C:\Users\Administrator\AppData\Roaming\Tencent\Users\42337577\QQ\WinTemp\RichOle\SR9$LHV50@Q0@}I%T{PSH~K.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779" y="1812886"/>
            <a:ext cx="2371725" cy="181927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p:cNvGrpSpPr/>
          <p:nvPr/>
        </p:nvGrpSpPr>
        <p:grpSpPr>
          <a:xfrm>
            <a:off x="3595692" y="1917730"/>
            <a:ext cx="5112568" cy="1200329"/>
            <a:chOff x="3595692" y="1917730"/>
            <a:chExt cx="5112568" cy="1200329"/>
          </a:xfrm>
        </p:grpSpPr>
        <mc:AlternateContent xmlns:mc="http://schemas.openxmlformats.org/markup-compatibility/2006" xmlns:a14="http://schemas.microsoft.com/office/drawing/2010/main">
          <mc:Choice Requires="a14">
            <p:sp>
              <p:nvSpPr>
                <p:cNvPr id="4" name="TextBox 3"/>
                <p:cNvSpPr txBox="1"/>
                <p:nvPr/>
              </p:nvSpPr>
              <p:spPr>
                <a:xfrm>
                  <a:off x="3595692" y="1917730"/>
                  <a:ext cx="5112568" cy="1200329"/>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这个刚架有两个基本未知量：结点</a:t>
                  </a:r>
                  <a14:m>
                    <m:oMath xmlns:m="http://schemas.openxmlformats.org/officeDocument/2006/math">
                      <m:r>
                        <a:rPr lang="en-US" altLang="zh-CN" b="0" i="1" smtClean="0">
                          <a:latin typeface="Cambria Math"/>
                        </a:rPr>
                        <m:t>𝐵</m:t>
                      </m:r>
                    </m:oMath>
                  </a14:m>
                  <a:r>
                    <a:rPr lang="zh-CN" altLang="en-US" dirty="0">
                      <a:latin typeface="楷体" panose="02010609060101010101" pitchFamily="49" charset="-122"/>
                      <a:ea typeface="楷体" panose="02010609060101010101" pitchFamily="49" charset="-122"/>
                    </a:rPr>
                    <a:t>的转角</a:t>
                  </a:r>
                  <a14:m>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a:ea typeface="Cambria Math"/>
                            </a:rPr>
                            <m:t>∆</m:t>
                          </m:r>
                        </m:e>
                        <m:sub>
                          <m:r>
                            <a:rPr lang="en-US" altLang="zh-CN" b="0" i="1" smtClean="0">
                              <a:latin typeface="Cambria Math"/>
                            </a:rPr>
                            <m:t>1</m:t>
                          </m:r>
                        </m:sub>
                      </m:sSub>
                    </m:oMath>
                  </a14:m>
                  <a:r>
                    <a:rPr lang="zh-CN" altLang="en-US" dirty="0">
                      <a:latin typeface="楷体" panose="02010609060101010101" pitchFamily="49" charset="-122"/>
                      <a:ea typeface="楷体" panose="02010609060101010101" pitchFamily="49" charset="-122"/>
                    </a:rPr>
                    <a:t>和结点</a:t>
                  </a:r>
                  <a14:m>
                    <m:oMath xmlns:m="http://schemas.openxmlformats.org/officeDocument/2006/math">
                      <m:r>
                        <a:rPr lang="en-US" altLang="zh-CN" b="0" i="1" smtClean="0">
                          <a:latin typeface="Cambria Math"/>
                        </a:rPr>
                        <m:t>𝐶</m:t>
                      </m:r>
                    </m:oMath>
                  </a14:m>
                  <a:r>
                    <a:rPr lang="zh-CN" altLang="en-US" dirty="0">
                      <a:latin typeface="楷体" panose="02010609060101010101" pitchFamily="49" charset="-122"/>
                      <a:ea typeface="楷体" panose="02010609060101010101" pitchFamily="49" charset="-122"/>
                    </a:rPr>
                    <a:t>的水平位移</a:t>
                  </a:r>
                  <a14:m>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a:ea typeface="Cambria Math"/>
                            </a:rPr>
                            <m:t>∆</m:t>
                          </m:r>
                        </m:e>
                        <m:sub>
                          <m:r>
                            <a:rPr lang="en-US" altLang="zh-CN" b="0" i="1" smtClean="0">
                              <a:latin typeface="Cambria Math"/>
                            </a:rPr>
                            <m:t>1</m:t>
                          </m:r>
                        </m:sub>
                      </m:sSub>
                    </m:oMath>
                  </a14:m>
                  <a:r>
                    <a:rPr lang="zh-CN" altLang="en-US" dirty="0">
                      <a:latin typeface="楷体" panose="02010609060101010101" pitchFamily="49" charset="-122"/>
                      <a:ea typeface="楷体" panose="02010609060101010101" pitchFamily="49" charset="-122"/>
                    </a:rPr>
                    <a:t>。这里，位移法的基本未知量，不管是角位移还是线位移，</a:t>
                  </a:r>
                  <a:r>
                    <a:rPr lang="zh-CN" altLang="en-US" dirty="0">
                      <a:solidFill>
                        <a:srgbClr val="FF0000"/>
                      </a:solidFill>
                      <a:latin typeface="楷体" panose="02010609060101010101" pitchFamily="49" charset="-122"/>
                      <a:ea typeface="楷体" panose="02010609060101010101" pitchFamily="49" charset="-122"/>
                    </a:rPr>
                    <a:t>统一用</a:t>
                  </a:r>
                  <a14:m>
                    <m:oMath xmlns:m="http://schemas.openxmlformats.org/officeDocument/2006/math">
                      <m:r>
                        <a:rPr lang="zh-CN" altLang="en-US" i="1" smtClean="0">
                          <a:solidFill>
                            <a:srgbClr val="FF0000"/>
                          </a:solidFill>
                          <a:latin typeface="Cambria Math"/>
                        </a:rPr>
                        <m:t>∆</m:t>
                      </m:r>
                    </m:oMath>
                  </a14:m>
                  <a:r>
                    <a:rPr lang="zh-CN" altLang="en-US" dirty="0">
                      <a:latin typeface="楷体" panose="02010609060101010101" pitchFamily="49" charset="-122"/>
                      <a:ea typeface="楷体" panose="02010609060101010101" pitchFamily="49" charset="-122"/>
                    </a:rPr>
                    <a:t>，以便与力法中使用的基本未知量</a:t>
                  </a:r>
                  <a14:m>
                    <m:oMath xmlns:m="http://schemas.openxmlformats.org/officeDocument/2006/math">
                      <m:r>
                        <a:rPr lang="en-US" altLang="zh-CN" b="0" i="1" smtClean="0">
                          <a:latin typeface="Cambria Math"/>
                        </a:rPr>
                        <m:t>𝑋</m:t>
                      </m:r>
                    </m:oMath>
                  </a14:m>
                  <a:r>
                    <a:rPr lang="zh-CN" altLang="en-US" dirty="0">
                      <a:latin typeface="楷体" panose="02010609060101010101" pitchFamily="49" charset="-122"/>
                      <a:ea typeface="楷体" panose="02010609060101010101" pitchFamily="49" charset="-122"/>
                    </a:rPr>
                    <a:t>相对照。</a:t>
                  </a:r>
                </a:p>
              </p:txBody>
            </p:sp>
          </mc:Choice>
          <mc:Fallback xmlns="">
            <p:sp>
              <p:nvSpPr>
                <p:cNvPr id="4" name="TextBox 3"/>
                <p:cNvSpPr txBox="1">
                  <a:spLocks noRot="1" noChangeAspect="1" noMove="1" noResize="1" noEditPoints="1" noAdjustHandles="1" noChangeArrowheads="1" noChangeShapeType="1" noTextEdit="1"/>
                </p:cNvSpPr>
                <p:nvPr/>
              </p:nvSpPr>
              <p:spPr>
                <a:xfrm>
                  <a:off x="3595692" y="1917730"/>
                  <a:ext cx="5112568" cy="1200329"/>
                </a:xfrm>
                <a:prstGeom prst="rect">
                  <a:avLst/>
                </a:prstGeom>
                <a:blipFill rotWithShape="1">
                  <a:blip r:embed="rId4"/>
                  <a:stretch>
                    <a:fillRect l="-1073" t="-3571" b="-6633"/>
                  </a:stretch>
                </a:blipFill>
              </p:spPr>
              <p:txBody>
                <a:bodyPr/>
                <a:lstStyle/>
                <a:p>
                  <a:r>
                    <a:rPr lang="zh-CN" altLang="en-US">
                      <a:noFill/>
                    </a:rPr>
                    <a:t> </a:t>
                  </a:r>
                </a:p>
              </p:txBody>
            </p:sp>
          </mc:Fallback>
        </mc:AlternateContent>
        <p:sp>
          <p:nvSpPr>
            <p:cNvPr id="5" name="矩形 4"/>
            <p:cNvSpPr/>
            <p:nvPr/>
          </p:nvSpPr>
          <p:spPr bwMode="auto">
            <a:xfrm>
              <a:off x="3635896" y="1917730"/>
              <a:ext cx="4968552" cy="1200329"/>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b="1" i="1" u="none" strike="noStrike" cap="none" normalizeH="0" baseline="0">
                <a:ln>
                  <a:noFill/>
                </a:ln>
                <a:solidFill>
                  <a:schemeClr val="tx1"/>
                </a:solidFill>
                <a:effectLst/>
                <a:latin typeface="Arial" pitchFamily="34" charset="0"/>
                <a:ea typeface="华文细黑" pitchFamily="2" charset="-122"/>
              </a:endParaRPr>
            </a:p>
          </p:txBody>
        </p:sp>
      </p:grpSp>
      <p:sp>
        <p:nvSpPr>
          <p:cNvPr id="7" name="TextBox 6"/>
          <p:cNvSpPr txBox="1"/>
          <p:nvPr/>
        </p:nvSpPr>
        <p:spPr>
          <a:xfrm>
            <a:off x="3563888" y="5109893"/>
            <a:ext cx="3744416" cy="400110"/>
          </a:xfrm>
          <a:prstGeom prst="rect">
            <a:avLst/>
          </a:prstGeom>
          <a:noFill/>
        </p:spPr>
        <p:txBody>
          <a:bodyPr wrap="square" rtlCol="0">
            <a:spAutoFit/>
          </a:bodyPr>
          <a:lstStyle/>
          <a:p>
            <a:r>
              <a:rPr lang="zh-CN" altLang="en-US" sz="2000" dirty="0">
                <a:solidFill>
                  <a:srgbClr val="0000FF"/>
                </a:solidFill>
                <a:latin typeface="楷体" panose="02010609060101010101" pitchFamily="49" charset="-122"/>
                <a:ea typeface="楷体" panose="02010609060101010101" pitchFamily="49" charset="-122"/>
              </a:rPr>
              <a:t>基本结构的概念：</a:t>
            </a:r>
          </a:p>
        </p:txBody>
      </p:sp>
      <p:sp>
        <p:nvSpPr>
          <p:cNvPr id="10" name="Rectangle 5"/>
          <p:cNvSpPr>
            <a:spLocks noChangeArrowheads="1"/>
          </p:cNvSpPr>
          <p:nvPr/>
        </p:nvSpPr>
        <p:spPr bwMode="auto">
          <a:xfrm>
            <a:off x="3635896" y="5510003"/>
            <a:ext cx="467937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en-US" altLang="zh-CN" sz="1800" dirty="0">
                <a:solidFill>
                  <a:srgbClr val="CC0099"/>
                </a:solidFill>
                <a:latin typeface="楷体" panose="02010609060101010101" pitchFamily="49" charset="-122"/>
                <a:ea typeface="楷体" panose="02010609060101010101" pitchFamily="49" charset="-122"/>
              </a:rPr>
              <a:t>    </a:t>
            </a:r>
            <a:r>
              <a:rPr lang="zh-CN" altLang="en-US" sz="1800" dirty="0">
                <a:solidFill>
                  <a:srgbClr val="A50021"/>
                </a:solidFill>
                <a:latin typeface="楷体" panose="02010609060101010101" pitchFamily="49" charset="-122"/>
                <a:ea typeface="楷体" panose="02010609060101010101" pitchFamily="49" charset="-122"/>
              </a:rPr>
              <a:t>基本结构：</a:t>
            </a:r>
            <a:r>
              <a:rPr lang="zh-CN" altLang="en-US" sz="1800" dirty="0">
                <a:latin typeface="楷体" panose="02010609060101010101" pitchFamily="49" charset="-122"/>
                <a:ea typeface="楷体" panose="02010609060101010101" pitchFamily="49" charset="-122"/>
              </a:rPr>
              <a:t>对原结构添加一定数量的附加约束所得到的没有结点位移</a:t>
            </a:r>
            <a:r>
              <a:rPr lang="en-US" altLang="zh-CN" sz="1800" dirty="0">
                <a:latin typeface="楷体" panose="02010609060101010101" pitchFamily="49" charset="-122"/>
                <a:ea typeface="楷体" panose="02010609060101010101" pitchFamily="49" charset="-122"/>
              </a:rPr>
              <a:t>(</a:t>
            </a:r>
            <a:r>
              <a:rPr lang="zh-CN" altLang="en-US" sz="1800" dirty="0">
                <a:latin typeface="楷体" panose="02010609060101010101" pitchFamily="49" charset="-122"/>
                <a:ea typeface="楷体" panose="02010609060101010101" pitchFamily="49" charset="-122"/>
              </a:rPr>
              <a:t>铰结点的角位移除外</a:t>
            </a:r>
            <a:r>
              <a:rPr lang="en-US" altLang="zh-CN" sz="1800" dirty="0">
                <a:latin typeface="楷体" panose="02010609060101010101" pitchFamily="49" charset="-122"/>
                <a:ea typeface="楷体" panose="02010609060101010101" pitchFamily="49" charset="-122"/>
              </a:rPr>
              <a:t>) </a:t>
            </a:r>
            <a:r>
              <a:rPr lang="zh-CN" altLang="en-US" sz="1800" dirty="0">
                <a:latin typeface="楷体" panose="02010609060101010101" pitchFamily="49" charset="-122"/>
                <a:ea typeface="楷体" panose="02010609060101010101" pitchFamily="49" charset="-122"/>
              </a:rPr>
              <a:t>的单跨梁的组合体。</a:t>
            </a:r>
          </a:p>
        </p:txBody>
      </p:sp>
      <p:pic>
        <p:nvPicPr>
          <p:cNvPr id="53251" name="Picture 3" descr="C:\Users\Administrator\AppData\Roaming\Tencent\Users\42337577\QQ\WinTemp\RichOle\BC95TQMB7AEJ)J9J}RBW_43.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779" y="3634958"/>
            <a:ext cx="2457450" cy="1562100"/>
          </a:xfrm>
          <a:prstGeom prst="rect">
            <a:avLst/>
          </a:prstGeom>
          <a:noFill/>
          <a:extLst>
            <a:ext uri="{909E8E84-426E-40DD-AFC4-6F175D3DCCD1}">
              <a14:hiddenFill xmlns:a14="http://schemas.microsoft.com/office/drawing/2010/main">
                <a:solidFill>
                  <a:srgbClr val="FFFFFF"/>
                </a:solidFill>
              </a14:hiddenFill>
            </a:ext>
          </a:extLst>
        </p:spPr>
      </p:pic>
      <p:pic>
        <p:nvPicPr>
          <p:cNvPr id="53252" name="Picture 4" descr="C:\Users\Administrator\AppData\Roaming\Tencent\Users\42337577\QQ\WinTemp\RichOle\]U$BRA$CJMU0HEF`0}M(_2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3891" y="5176331"/>
            <a:ext cx="2095500" cy="159067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9" name="TextBox 8"/>
              <p:cNvSpPr txBox="1"/>
              <p:nvPr/>
            </p:nvSpPr>
            <p:spPr>
              <a:xfrm>
                <a:off x="3635896" y="3284984"/>
                <a:ext cx="5072364" cy="923330"/>
              </a:xfrm>
              <a:prstGeom prst="rect">
                <a:avLst/>
              </a:prstGeom>
              <a:noFill/>
            </p:spPr>
            <p:txBody>
              <a:bodyPr wrap="square" rtlCol="0">
                <a:spAutoFit/>
              </a:bodyPr>
              <a:lstStyle/>
              <a:p>
                <a:r>
                  <a:rPr lang="zh-CN" altLang="en-US" b="1" dirty="0">
                    <a:solidFill>
                      <a:srgbClr val="FF0000"/>
                    </a:solidFill>
                    <a:latin typeface="楷体" panose="02010609060101010101" pitchFamily="49" charset="-122"/>
                    <a:ea typeface="楷体" panose="02010609060101010101" pitchFamily="49" charset="-122"/>
                  </a:rPr>
                  <a:t>基本体系</a:t>
                </a:r>
                <a:r>
                  <a:rPr lang="zh-CN" altLang="en-US" dirty="0">
                    <a:latin typeface="楷体" panose="02010609060101010101" pitchFamily="49" charset="-122"/>
                    <a:ea typeface="楷体" panose="02010609060101010101" pitchFamily="49" charset="-122"/>
                  </a:rPr>
                  <a:t>：在刚结点</a:t>
                </a:r>
                <a14:m>
                  <m:oMath xmlns:m="http://schemas.openxmlformats.org/officeDocument/2006/math">
                    <m:r>
                      <a:rPr lang="en-US" altLang="zh-CN" b="0" i="1" smtClean="0">
                        <a:latin typeface="Cambria Math"/>
                      </a:rPr>
                      <m:t>𝐵</m:t>
                    </m:r>
                  </m:oMath>
                </a14:m>
                <a:r>
                  <a:rPr lang="zh-CN" altLang="en-US" dirty="0">
                    <a:latin typeface="楷体" panose="02010609060101010101" pitchFamily="49" charset="-122"/>
                    <a:ea typeface="楷体" panose="02010609060101010101" pitchFamily="49" charset="-122"/>
                  </a:rPr>
                  <a:t>加约束控制结点</a:t>
                </a:r>
                <a14:m>
                  <m:oMath xmlns:m="http://schemas.openxmlformats.org/officeDocument/2006/math">
                    <m:r>
                      <a:rPr lang="en-US" altLang="zh-CN" b="0" i="1" smtClean="0">
                        <a:latin typeface="Cambria Math"/>
                      </a:rPr>
                      <m:t>𝐵</m:t>
                    </m:r>
                  </m:oMath>
                </a14:m>
                <a:r>
                  <a:rPr lang="zh-CN" altLang="en-US" dirty="0">
                    <a:latin typeface="楷体" panose="02010609060101010101" pitchFamily="49" charset="-122"/>
                    <a:ea typeface="楷体" panose="02010609060101010101" pitchFamily="49" charset="-122"/>
                  </a:rPr>
                  <a:t>的转角（注意，不控制线位移），在结点</a:t>
                </a:r>
                <a14:m>
                  <m:oMath xmlns:m="http://schemas.openxmlformats.org/officeDocument/2006/math">
                    <m:r>
                      <a:rPr lang="en-US" altLang="zh-CN" b="0" i="1" smtClean="0">
                        <a:latin typeface="Cambria Math"/>
                      </a:rPr>
                      <m:t>𝐶</m:t>
                    </m:r>
                  </m:oMath>
                </a14:m>
                <a:r>
                  <a:rPr lang="zh-CN" altLang="en-US" dirty="0">
                    <a:latin typeface="楷体" panose="02010609060101010101" pitchFamily="49" charset="-122"/>
                    <a:ea typeface="楷体" panose="02010609060101010101" pitchFamily="49" charset="-122"/>
                  </a:rPr>
                  <a:t>加水平支杆控制结点</a:t>
                </a:r>
                <a14:m>
                  <m:oMath xmlns:m="http://schemas.openxmlformats.org/officeDocument/2006/math">
                    <m:r>
                      <a:rPr lang="en-US" altLang="zh-CN" b="0" i="1" smtClean="0">
                        <a:latin typeface="Cambria Math"/>
                      </a:rPr>
                      <m:t>𝐶</m:t>
                    </m:r>
                  </m:oMath>
                </a14:m>
                <a:r>
                  <a:rPr lang="zh-CN" altLang="en-US" dirty="0">
                    <a:latin typeface="楷体" panose="02010609060101010101" pitchFamily="49" charset="-122"/>
                    <a:ea typeface="楷体" panose="02010609060101010101" pitchFamily="49" charset="-122"/>
                  </a:rPr>
                  <a:t>的水平位移。</a:t>
                </a:r>
              </a:p>
            </p:txBody>
          </p:sp>
        </mc:Choice>
        <mc:Fallback xmlns="">
          <p:sp>
            <p:nvSpPr>
              <p:cNvPr id="9" name="TextBox 8"/>
              <p:cNvSpPr txBox="1">
                <a:spLocks noRot="1" noChangeAspect="1" noMove="1" noResize="1" noEditPoints="1" noAdjustHandles="1" noChangeArrowheads="1" noChangeShapeType="1" noTextEdit="1"/>
              </p:cNvSpPr>
              <p:nvPr/>
            </p:nvSpPr>
            <p:spPr>
              <a:xfrm>
                <a:off x="3635896" y="3284984"/>
                <a:ext cx="5072364" cy="923330"/>
              </a:xfrm>
              <a:prstGeom prst="rect">
                <a:avLst/>
              </a:prstGeom>
              <a:blipFill rotWithShape="1">
                <a:blip r:embed="rId7"/>
                <a:stretch>
                  <a:fillRect l="-960" t="-4636" b="-8609"/>
                </a:stretch>
              </a:blipFill>
            </p:spPr>
            <p:txBody>
              <a:bodyPr/>
              <a:lstStyle/>
              <a:p>
                <a:r>
                  <a:rPr lang="zh-CN" altLang="en-US">
                    <a:noFill/>
                  </a:rPr>
                  <a:t> </a:t>
                </a:r>
              </a:p>
            </p:txBody>
          </p:sp>
        </mc:Fallback>
      </mc:AlternateContent>
      <p:sp>
        <p:nvSpPr>
          <p:cNvPr id="11" name="TextBox 10"/>
          <p:cNvSpPr txBox="1"/>
          <p:nvPr/>
        </p:nvSpPr>
        <p:spPr>
          <a:xfrm>
            <a:off x="3635896" y="4245390"/>
            <a:ext cx="5072364" cy="830997"/>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基本体系与原结构的</a:t>
            </a:r>
            <a:r>
              <a:rPr lang="zh-CN" altLang="en-US" sz="1600" b="1" dirty="0">
                <a:solidFill>
                  <a:srgbClr val="FF0000"/>
                </a:solidFill>
                <a:latin typeface="楷体" panose="02010609060101010101" pitchFamily="49" charset="-122"/>
                <a:ea typeface="楷体" panose="02010609060101010101" pitchFamily="49" charset="-122"/>
              </a:rPr>
              <a:t>区别</a:t>
            </a:r>
            <a:r>
              <a:rPr lang="zh-CN" altLang="en-US" sz="1600" dirty="0">
                <a:latin typeface="楷体" panose="02010609060101010101" pitchFamily="49" charset="-122"/>
                <a:ea typeface="楷体" panose="02010609060101010101" pitchFamily="49" charset="-122"/>
              </a:rPr>
              <a:t>：增加了与基本未知量相应的人为约束，从而使基本未知量由被动的位移变成受人工控制的主动的位移。</a:t>
            </a:r>
          </a:p>
        </p:txBody>
      </p:sp>
    </p:spTree>
    <p:extLst>
      <p:ext uri="{BB962C8B-B14F-4D97-AF65-F5344CB8AC3E}">
        <p14:creationId xmlns:p14="http://schemas.microsoft.com/office/powerpoint/2010/main" val="1566503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24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325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25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0" grpId="0"/>
      <p:bldP spid="9"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67544" y="1340768"/>
            <a:ext cx="4320480" cy="400110"/>
          </a:xfrm>
          <a:prstGeom prst="rect">
            <a:avLst/>
          </a:prstGeom>
          <a:noFill/>
        </p:spPr>
        <p:txBody>
          <a:bodyPr wrap="square" rtlCol="0">
            <a:spAutoFit/>
          </a:bodyPr>
          <a:lstStyle/>
          <a:p>
            <a:r>
              <a:rPr lang="zh-CN" altLang="en-US" sz="2000" b="1" dirty="0">
                <a:solidFill>
                  <a:srgbClr val="0000FF"/>
                </a:solidFill>
                <a:latin typeface="楷体" panose="02010609060101010101" pitchFamily="49" charset="-122"/>
                <a:ea typeface="楷体" panose="02010609060101010101" pitchFamily="49" charset="-122"/>
              </a:rPr>
              <a:t>基本结构的确定</a:t>
            </a:r>
          </a:p>
        </p:txBody>
      </p:sp>
      <p:graphicFrame>
        <p:nvGraphicFramePr>
          <p:cNvPr id="4" name="对象 3"/>
          <p:cNvGraphicFramePr>
            <a:graphicFrameLocks noGrp="1" noChangeAspect="1"/>
          </p:cNvGraphicFramePr>
          <p:nvPr>
            <p:extLst>
              <p:ext uri="{D42A27DB-BD31-4B8C-83A1-F6EECF244321}">
                <p14:modId xmlns:p14="http://schemas.microsoft.com/office/powerpoint/2010/main" val="1943196687"/>
              </p:ext>
            </p:extLst>
          </p:nvPr>
        </p:nvGraphicFramePr>
        <p:xfrm>
          <a:off x="1115616" y="1753778"/>
          <a:ext cx="4680148" cy="2436900"/>
        </p:xfrm>
        <a:graphic>
          <a:graphicData uri="http://schemas.openxmlformats.org/presentationml/2006/ole">
            <mc:AlternateContent xmlns:mc="http://schemas.openxmlformats.org/markup-compatibility/2006">
              <mc:Choice xmlns:v="urn:schemas-microsoft-com:vml" Requires="v">
                <p:oleObj spid="_x0000_s55662" name="Drawing" r:id="rId4" imgW="8905875" imgH="4552950" progId="AutoCAD.Drawing.16">
                  <p:embed/>
                </p:oleObj>
              </mc:Choice>
              <mc:Fallback>
                <p:oleObj name="Drawing" r:id="rId4" imgW="8905875" imgH="4552950" progId="AutoCAD.Drawing.16">
                  <p:embed/>
                  <p:pic>
                    <p:nvPicPr>
                      <p:cNvPr id="0" name="Object 2"/>
                      <p:cNvPicPr>
                        <a:picLocks noGrp="1" noChangeAspect="1" noChangeArrowheads="1"/>
                      </p:cNvPicPr>
                      <p:nvPr/>
                    </p:nvPicPr>
                    <p:blipFill>
                      <a:blip r:embed="rId5">
                        <a:extLst>
                          <a:ext uri="{28A0092B-C50C-407E-A947-70E740481C1C}">
                            <a14:useLocalDpi xmlns:a14="http://schemas.microsoft.com/office/drawing/2010/main" val="0"/>
                          </a:ext>
                        </a:extLst>
                      </a:blip>
                      <a:srcRect t="25952" r="26212" b="5826"/>
                      <a:stretch>
                        <a:fillRect/>
                      </a:stretch>
                    </p:blipFill>
                    <p:spPr bwMode="auto">
                      <a:xfrm>
                        <a:off x="1115616" y="1753778"/>
                        <a:ext cx="4680148" cy="2436900"/>
                      </a:xfrm>
                      <a:prstGeom prst="rect">
                        <a:avLst/>
                      </a:prstGeom>
                      <a:noFill/>
                      <a:ln>
                        <a:noFill/>
                      </a:ln>
                      <a:effectLst/>
                    </p:spPr>
                  </p:pic>
                </p:oleObj>
              </mc:Fallback>
            </mc:AlternateContent>
          </a:graphicData>
        </a:graphic>
      </p:graphicFrame>
      <p:graphicFrame>
        <p:nvGraphicFramePr>
          <p:cNvPr id="5" name="对象 4"/>
          <p:cNvGraphicFramePr>
            <a:graphicFrameLocks noGrp="1" noChangeAspect="1"/>
          </p:cNvGraphicFramePr>
          <p:nvPr>
            <p:extLst>
              <p:ext uri="{D42A27DB-BD31-4B8C-83A1-F6EECF244321}">
                <p14:modId xmlns:p14="http://schemas.microsoft.com/office/powerpoint/2010/main" val="1644330176"/>
              </p:ext>
            </p:extLst>
          </p:nvPr>
        </p:nvGraphicFramePr>
        <p:xfrm>
          <a:off x="6804248" y="2348880"/>
          <a:ext cx="1799780" cy="1724560"/>
        </p:xfrm>
        <a:graphic>
          <a:graphicData uri="http://schemas.openxmlformats.org/presentationml/2006/ole">
            <mc:AlternateContent xmlns:mc="http://schemas.openxmlformats.org/markup-compatibility/2006">
              <mc:Choice xmlns:v="urn:schemas-microsoft-com:vml" Requires="v">
                <p:oleObj spid="_x0000_s55663" name="Drawing" r:id="rId6" imgW="8905875" imgH="4552950" progId="AutoCAD.Drawing.16">
                  <p:embed/>
                </p:oleObj>
              </mc:Choice>
              <mc:Fallback>
                <p:oleObj name="Drawing" r:id="rId6" imgW="8905875" imgH="4552950" progId="AutoCAD.Drawing.16">
                  <p:embed/>
                  <p:pic>
                    <p:nvPicPr>
                      <p:cNvPr id="0" name="Object 27"/>
                      <p:cNvPicPr>
                        <a:picLocks noGrp="1" noChangeAspect="1" noChangeArrowheads="1"/>
                      </p:cNvPicPr>
                      <p:nvPr/>
                    </p:nvPicPr>
                    <p:blipFill>
                      <a:blip r:embed="rId5">
                        <a:extLst>
                          <a:ext uri="{28A0092B-C50C-407E-A947-70E740481C1C}">
                            <a14:useLocalDpi xmlns:a14="http://schemas.microsoft.com/office/drawing/2010/main" val="0"/>
                          </a:ext>
                        </a:extLst>
                      </a:blip>
                      <a:srcRect l="73969" t="42015" r="-2090" b="8130"/>
                      <a:stretch>
                        <a:fillRect/>
                      </a:stretch>
                    </p:blipFill>
                    <p:spPr bwMode="auto">
                      <a:xfrm>
                        <a:off x="6804248" y="2348880"/>
                        <a:ext cx="1799780" cy="1724560"/>
                      </a:xfrm>
                      <a:prstGeom prst="rect">
                        <a:avLst/>
                      </a:prstGeom>
                      <a:noFill/>
                      <a:ln>
                        <a:noFill/>
                      </a:ln>
                      <a:effectLst/>
                    </p:spPr>
                  </p:pic>
                </p:oleObj>
              </mc:Fallback>
            </mc:AlternateContent>
          </a:graphicData>
        </a:graphic>
      </p:graphicFrame>
      <p:grpSp>
        <p:nvGrpSpPr>
          <p:cNvPr id="6" name="组合 5"/>
          <p:cNvGrpSpPr/>
          <p:nvPr/>
        </p:nvGrpSpPr>
        <p:grpSpPr>
          <a:xfrm>
            <a:off x="830910" y="4041324"/>
            <a:ext cx="7200900" cy="935592"/>
            <a:chOff x="830910" y="4041324"/>
            <a:chExt cx="7200900" cy="935592"/>
          </a:xfrm>
        </p:grpSpPr>
        <p:sp>
          <p:nvSpPr>
            <p:cNvPr id="8" name="Rectangle 6"/>
            <p:cNvSpPr>
              <a:spLocks noChangeArrowheads="1"/>
            </p:cNvSpPr>
            <p:nvPr/>
          </p:nvSpPr>
          <p:spPr bwMode="auto">
            <a:xfrm>
              <a:off x="830910" y="4509120"/>
              <a:ext cx="72009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0"/>
                </a:spcBef>
                <a:buFontTx/>
                <a:buNone/>
              </a:pPr>
              <a:r>
                <a:rPr lang="en-US" altLang="zh-CN" sz="1800" dirty="0">
                  <a:latin typeface="楷体" panose="02010609060101010101" pitchFamily="49" charset="-122"/>
                  <a:ea typeface="楷体" panose="02010609060101010101" pitchFamily="49" charset="-122"/>
                </a:rPr>
                <a:t>1) </a:t>
              </a:r>
              <a:r>
                <a:rPr lang="zh-CN" altLang="en-US" sz="1800" dirty="0">
                  <a:latin typeface="楷体" panose="02010609060101010101" pitchFamily="49" charset="-122"/>
                  <a:ea typeface="楷体" panose="02010609060101010101" pitchFamily="49" charset="-122"/>
                </a:rPr>
                <a:t>附加刚臂 </a:t>
              </a:r>
              <a:r>
                <a:rPr lang="en-US" altLang="zh-CN" sz="1800" dirty="0">
                  <a:latin typeface="楷体" panose="02010609060101010101" pitchFamily="49" charset="-122"/>
                  <a:ea typeface="楷体" panose="02010609060101010101" pitchFamily="49" charset="-122"/>
                </a:rPr>
                <a:t>(</a:t>
              </a:r>
              <a:r>
                <a:rPr lang="zh-CN" altLang="en-US" sz="1800" dirty="0">
                  <a:latin typeface="楷体" panose="02010609060101010101" pitchFamily="49" charset="-122"/>
                  <a:ea typeface="楷体" panose="02010609060101010101" pitchFamily="49" charset="-122"/>
                </a:rPr>
                <a:t>用符号“  ”表示</a:t>
              </a:r>
              <a:r>
                <a:rPr lang="en-US" altLang="zh-CN" sz="1800" dirty="0">
                  <a:latin typeface="楷体" panose="02010609060101010101" pitchFamily="49" charset="-122"/>
                  <a:ea typeface="楷体" panose="02010609060101010101" pitchFamily="49" charset="-122"/>
                </a:rPr>
                <a:t>) </a:t>
              </a:r>
              <a:r>
                <a:rPr lang="zh-CN" altLang="en-US" sz="1800" dirty="0">
                  <a:latin typeface="楷体" panose="02010609060101010101" pitchFamily="49" charset="-122"/>
                  <a:ea typeface="楷体" panose="02010609060101010101" pitchFamily="49" charset="-122"/>
                </a:rPr>
                <a:t>只控制结点转动，不控制结点移动。</a:t>
              </a:r>
            </a:p>
          </p:txBody>
        </p:sp>
        <p:grpSp>
          <p:nvGrpSpPr>
            <p:cNvPr id="9" name="Group 7"/>
            <p:cNvGrpSpPr>
              <a:grpSpLocks noChangeAspect="1"/>
            </p:cNvGrpSpPr>
            <p:nvPr/>
          </p:nvGrpSpPr>
          <p:grpSpPr bwMode="auto">
            <a:xfrm>
              <a:off x="3012231" y="4041324"/>
              <a:ext cx="847329" cy="935592"/>
              <a:chOff x="3606" y="2069"/>
              <a:chExt cx="576" cy="636"/>
            </a:xfrm>
          </p:grpSpPr>
          <p:sp>
            <p:nvSpPr>
              <p:cNvPr id="10" name="AutoShape 8"/>
              <p:cNvSpPr>
                <a:spLocks noChangeAspect="1" noChangeArrowheads="1" noTextEdit="1"/>
              </p:cNvSpPr>
              <p:nvPr/>
            </p:nvSpPr>
            <p:spPr bwMode="auto">
              <a:xfrm>
                <a:off x="3606" y="2069"/>
                <a:ext cx="576" cy="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楷体" panose="02010609060101010101" pitchFamily="49" charset="-122"/>
                  <a:ea typeface="楷体" panose="02010609060101010101" pitchFamily="49" charset="-122"/>
                </a:endParaRPr>
              </a:p>
            </p:txBody>
          </p:sp>
          <p:sp>
            <p:nvSpPr>
              <p:cNvPr id="11" name="Freeform 9"/>
              <p:cNvSpPr>
                <a:spLocks/>
              </p:cNvSpPr>
              <p:nvPr/>
            </p:nvSpPr>
            <p:spPr bwMode="auto">
              <a:xfrm>
                <a:off x="3854" y="2434"/>
                <a:ext cx="19" cy="159"/>
              </a:xfrm>
              <a:custGeom>
                <a:avLst/>
                <a:gdLst>
                  <a:gd name="T0" fmla="*/ 0 w 976"/>
                  <a:gd name="T1" fmla="*/ 3 h 8304"/>
                  <a:gd name="T2" fmla="*/ 0 w 976"/>
                  <a:gd name="T3" fmla="*/ 3 h 8304"/>
                  <a:gd name="T4" fmla="*/ 0 w 976"/>
                  <a:gd name="T5" fmla="*/ 0 h 8304"/>
                  <a:gd name="T6" fmla="*/ 0 w 976"/>
                  <a:gd name="T7" fmla="*/ 3 h 830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76" h="8304">
                    <a:moveTo>
                      <a:pt x="0" y="8279"/>
                    </a:moveTo>
                    <a:lnTo>
                      <a:pt x="209" y="8304"/>
                    </a:lnTo>
                    <a:lnTo>
                      <a:pt x="976" y="0"/>
                    </a:lnTo>
                    <a:lnTo>
                      <a:pt x="0" y="827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楷体" panose="02010609060101010101" pitchFamily="49" charset="-122"/>
                  <a:ea typeface="楷体" panose="02010609060101010101" pitchFamily="49" charset="-122"/>
                </a:endParaRPr>
              </a:p>
            </p:txBody>
          </p:sp>
          <p:sp>
            <p:nvSpPr>
              <p:cNvPr id="12" name="Freeform 10"/>
              <p:cNvSpPr>
                <a:spLocks/>
              </p:cNvSpPr>
              <p:nvPr/>
            </p:nvSpPr>
            <p:spPr bwMode="auto">
              <a:xfrm>
                <a:off x="3858" y="2434"/>
                <a:ext cx="19" cy="159"/>
              </a:xfrm>
              <a:custGeom>
                <a:avLst/>
                <a:gdLst>
                  <a:gd name="T0" fmla="*/ 0 w 954"/>
                  <a:gd name="T1" fmla="*/ 3 h 8304"/>
                  <a:gd name="T2" fmla="*/ 0 w 954"/>
                  <a:gd name="T3" fmla="*/ 0 h 8304"/>
                  <a:gd name="T4" fmla="*/ 0 w 954"/>
                  <a:gd name="T5" fmla="*/ 0 h 8304"/>
                  <a:gd name="T6" fmla="*/ 0 w 954"/>
                  <a:gd name="T7" fmla="*/ 3 h 830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54" h="8304">
                    <a:moveTo>
                      <a:pt x="0" y="8304"/>
                    </a:moveTo>
                    <a:lnTo>
                      <a:pt x="767" y="0"/>
                    </a:lnTo>
                    <a:lnTo>
                      <a:pt x="954" y="209"/>
                    </a:lnTo>
                    <a:lnTo>
                      <a:pt x="0" y="83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楷体" panose="02010609060101010101" pitchFamily="49" charset="-122"/>
                  <a:ea typeface="楷体" panose="02010609060101010101" pitchFamily="49" charset="-122"/>
                </a:endParaRPr>
              </a:p>
            </p:txBody>
          </p:sp>
          <p:sp>
            <p:nvSpPr>
              <p:cNvPr id="13" name="Freeform 11"/>
              <p:cNvSpPr>
                <a:spLocks/>
              </p:cNvSpPr>
              <p:nvPr/>
            </p:nvSpPr>
            <p:spPr bwMode="auto">
              <a:xfrm>
                <a:off x="3854" y="2434"/>
                <a:ext cx="23" cy="159"/>
              </a:xfrm>
              <a:custGeom>
                <a:avLst/>
                <a:gdLst>
                  <a:gd name="T0" fmla="*/ 0 w 1163"/>
                  <a:gd name="T1" fmla="*/ 3 h 8304"/>
                  <a:gd name="T2" fmla="*/ 0 w 1163"/>
                  <a:gd name="T3" fmla="*/ 3 h 8304"/>
                  <a:gd name="T4" fmla="*/ 0 w 1163"/>
                  <a:gd name="T5" fmla="*/ 0 h 8304"/>
                  <a:gd name="T6" fmla="*/ 0 w 1163"/>
                  <a:gd name="T7" fmla="*/ 0 h 8304"/>
                  <a:gd name="T8" fmla="*/ 0 w 1163"/>
                  <a:gd name="T9" fmla="*/ 3 h 83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63" h="8304">
                    <a:moveTo>
                      <a:pt x="0" y="8279"/>
                    </a:moveTo>
                    <a:lnTo>
                      <a:pt x="209" y="8304"/>
                    </a:lnTo>
                    <a:lnTo>
                      <a:pt x="1163" y="209"/>
                    </a:lnTo>
                    <a:lnTo>
                      <a:pt x="976" y="0"/>
                    </a:lnTo>
                    <a:lnTo>
                      <a:pt x="0" y="8279"/>
                    </a:lnTo>
                    <a:close/>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5" name="Freeform 12"/>
              <p:cNvSpPr>
                <a:spLocks/>
              </p:cNvSpPr>
              <p:nvPr/>
            </p:nvSpPr>
            <p:spPr bwMode="auto">
              <a:xfrm>
                <a:off x="3873" y="2434"/>
                <a:ext cx="79" cy="4"/>
              </a:xfrm>
              <a:custGeom>
                <a:avLst/>
                <a:gdLst>
                  <a:gd name="T0" fmla="*/ 0 w 4136"/>
                  <a:gd name="T1" fmla="*/ 0 h 209"/>
                  <a:gd name="T2" fmla="*/ 0 w 4136"/>
                  <a:gd name="T3" fmla="*/ 0 h 209"/>
                  <a:gd name="T4" fmla="*/ 2 w 4136"/>
                  <a:gd name="T5" fmla="*/ 0 h 209"/>
                  <a:gd name="T6" fmla="*/ 0 w 4136"/>
                  <a:gd name="T7" fmla="*/ 0 h 20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136" h="209">
                    <a:moveTo>
                      <a:pt x="0" y="0"/>
                    </a:moveTo>
                    <a:lnTo>
                      <a:pt x="187" y="209"/>
                    </a:lnTo>
                    <a:lnTo>
                      <a:pt x="413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楷体" panose="02010609060101010101" pitchFamily="49" charset="-122"/>
                  <a:ea typeface="楷体" panose="02010609060101010101" pitchFamily="49" charset="-122"/>
                </a:endParaRPr>
              </a:p>
            </p:txBody>
          </p:sp>
          <p:sp>
            <p:nvSpPr>
              <p:cNvPr id="16" name="Freeform 13"/>
              <p:cNvSpPr>
                <a:spLocks/>
              </p:cNvSpPr>
              <p:nvPr/>
            </p:nvSpPr>
            <p:spPr bwMode="auto">
              <a:xfrm>
                <a:off x="3877" y="2434"/>
                <a:ext cx="75" cy="4"/>
              </a:xfrm>
              <a:custGeom>
                <a:avLst/>
                <a:gdLst>
                  <a:gd name="T0" fmla="*/ 0 w 3949"/>
                  <a:gd name="T1" fmla="*/ 0 h 209"/>
                  <a:gd name="T2" fmla="*/ 1 w 3949"/>
                  <a:gd name="T3" fmla="*/ 0 h 209"/>
                  <a:gd name="T4" fmla="*/ 1 w 3949"/>
                  <a:gd name="T5" fmla="*/ 0 h 209"/>
                  <a:gd name="T6" fmla="*/ 0 w 3949"/>
                  <a:gd name="T7" fmla="*/ 0 h 20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949" h="209">
                    <a:moveTo>
                      <a:pt x="0" y="209"/>
                    </a:moveTo>
                    <a:lnTo>
                      <a:pt x="3949" y="0"/>
                    </a:lnTo>
                    <a:lnTo>
                      <a:pt x="3583" y="209"/>
                    </a:lnTo>
                    <a:lnTo>
                      <a:pt x="0" y="2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楷体" panose="02010609060101010101" pitchFamily="49" charset="-122"/>
                  <a:ea typeface="楷体" panose="02010609060101010101" pitchFamily="49" charset="-122"/>
                </a:endParaRPr>
              </a:p>
            </p:txBody>
          </p:sp>
          <p:sp>
            <p:nvSpPr>
              <p:cNvPr id="17" name="Freeform 14"/>
              <p:cNvSpPr>
                <a:spLocks/>
              </p:cNvSpPr>
              <p:nvPr/>
            </p:nvSpPr>
            <p:spPr bwMode="auto">
              <a:xfrm>
                <a:off x="3873" y="2434"/>
                <a:ext cx="79" cy="4"/>
              </a:xfrm>
              <a:custGeom>
                <a:avLst/>
                <a:gdLst>
                  <a:gd name="T0" fmla="*/ 0 w 4136"/>
                  <a:gd name="T1" fmla="*/ 0 h 209"/>
                  <a:gd name="T2" fmla="*/ 0 w 4136"/>
                  <a:gd name="T3" fmla="*/ 0 h 209"/>
                  <a:gd name="T4" fmla="*/ 1 w 4136"/>
                  <a:gd name="T5" fmla="*/ 0 h 209"/>
                  <a:gd name="T6" fmla="*/ 2 w 4136"/>
                  <a:gd name="T7" fmla="*/ 0 h 209"/>
                  <a:gd name="T8" fmla="*/ 0 w 4136"/>
                  <a:gd name="T9" fmla="*/ 0 h 2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36" h="209">
                    <a:moveTo>
                      <a:pt x="0" y="0"/>
                    </a:moveTo>
                    <a:lnTo>
                      <a:pt x="187" y="209"/>
                    </a:lnTo>
                    <a:lnTo>
                      <a:pt x="3770" y="209"/>
                    </a:lnTo>
                    <a:lnTo>
                      <a:pt x="4136" y="0"/>
                    </a:lnTo>
                    <a:lnTo>
                      <a:pt x="0" y="0"/>
                    </a:lnTo>
                    <a:close/>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8" name="Freeform 15"/>
              <p:cNvSpPr>
                <a:spLocks/>
              </p:cNvSpPr>
              <p:nvPr/>
            </p:nvSpPr>
            <p:spPr bwMode="auto">
              <a:xfrm>
                <a:off x="3858" y="2434"/>
                <a:ext cx="94" cy="160"/>
              </a:xfrm>
              <a:custGeom>
                <a:avLst/>
                <a:gdLst>
                  <a:gd name="T0" fmla="*/ 2 w 4917"/>
                  <a:gd name="T1" fmla="*/ 0 h 8345"/>
                  <a:gd name="T2" fmla="*/ 2 w 4917"/>
                  <a:gd name="T3" fmla="*/ 0 h 8345"/>
                  <a:gd name="T4" fmla="*/ 0 w 4917"/>
                  <a:gd name="T5" fmla="*/ 3 h 8345"/>
                  <a:gd name="T6" fmla="*/ 2 w 4917"/>
                  <a:gd name="T7" fmla="*/ 0 h 83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17" h="8345">
                    <a:moveTo>
                      <a:pt x="4917" y="0"/>
                    </a:moveTo>
                    <a:lnTo>
                      <a:pt x="4551" y="209"/>
                    </a:lnTo>
                    <a:lnTo>
                      <a:pt x="0" y="8345"/>
                    </a:lnTo>
                    <a:lnTo>
                      <a:pt x="49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楷体" panose="02010609060101010101" pitchFamily="49" charset="-122"/>
                  <a:ea typeface="楷体" panose="02010609060101010101" pitchFamily="49" charset="-122"/>
                </a:endParaRPr>
              </a:p>
            </p:txBody>
          </p:sp>
          <p:sp>
            <p:nvSpPr>
              <p:cNvPr id="19" name="Freeform 16"/>
              <p:cNvSpPr>
                <a:spLocks/>
              </p:cNvSpPr>
              <p:nvPr/>
            </p:nvSpPr>
            <p:spPr bwMode="auto">
              <a:xfrm>
                <a:off x="3854" y="2438"/>
                <a:ext cx="91" cy="156"/>
              </a:xfrm>
              <a:custGeom>
                <a:avLst/>
                <a:gdLst>
                  <a:gd name="T0" fmla="*/ 2 w 4732"/>
                  <a:gd name="T1" fmla="*/ 0 h 8136"/>
                  <a:gd name="T2" fmla="*/ 0 w 4732"/>
                  <a:gd name="T3" fmla="*/ 3 h 8136"/>
                  <a:gd name="T4" fmla="*/ 0 w 4732"/>
                  <a:gd name="T5" fmla="*/ 3 h 8136"/>
                  <a:gd name="T6" fmla="*/ 2 w 4732"/>
                  <a:gd name="T7" fmla="*/ 0 h 81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732" h="8136">
                    <a:moveTo>
                      <a:pt x="4732" y="0"/>
                    </a:moveTo>
                    <a:lnTo>
                      <a:pt x="181" y="8136"/>
                    </a:lnTo>
                    <a:lnTo>
                      <a:pt x="0" y="8030"/>
                    </a:lnTo>
                    <a:lnTo>
                      <a:pt x="473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楷体" panose="02010609060101010101" pitchFamily="49" charset="-122"/>
                  <a:ea typeface="楷体" panose="02010609060101010101" pitchFamily="49" charset="-122"/>
                </a:endParaRPr>
              </a:p>
            </p:txBody>
          </p:sp>
          <p:sp>
            <p:nvSpPr>
              <p:cNvPr id="20" name="Freeform 17"/>
              <p:cNvSpPr>
                <a:spLocks/>
              </p:cNvSpPr>
              <p:nvPr/>
            </p:nvSpPr>
            <p:spPr bwMode="auto">
              <a:xfrm>
                <a:off x="3854" y="2434"/>
                <a:ext cx="98" cy="160"/>
              </a:xfrm>
              <a:custGeom>
                <a:avLst/>
                <a:gdLst>
                  <a:gd name="T0" fmla="*/ 2 w 5098"/>
                  <a:gd name="T1" fmla="*/ 0 h 8345"/>
                  <a:gd name="T2" fmla="*/ 2 w 5098"/>
                  <a:gd name="T3" fmla="*/ 0 h 8345"/>
                  <a:gd name="T4" fmla="*/ 0 w 5098"/>
                  <a:gd name="T5" fmla="*/ 3 h 8345"/>
                  <a:gd name="T6" fmla="*/ 0 w 5098"/>
                  <a:gd name="T7" fmla="*/ 3 h 8345"/>
                  <a:gd name="T8" fmla="*/ 2 w 5098"/>
                  <a:gd name="T9" fmla="*/ 0 h 83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098" h="8345">
                    <a:moveTo>
                      <a:pt x="5098" y="0"/>
                    </a:moveTo>
                    <a:lnTo>
                      <a:pt x="4732" y="209"/>
                    </a:lnTo>
                    <a:lnTo>
                      <a:pt x="0" y="8239"/>
                    </a:lnTo>
                    <a:lnTo>
                      <a:pt x="181" y="8345"/>
                    </a:lnTo>
                    <a:lnTo>
                      <a:pt x="5098" y="0"/>
                    </a:lnTo>
                    <a:close/>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1" name="Freeform 18"/>
              <p:cNvSpPr>
                <a:spLocks/>
              </p:cNvSpPr>
              <p:nvPr/>
            </p:nvSpPr>
            <p:spPr bwMode="auto">
              <a:xfrm>
                <a:off x="3865" y="2517"/>
                <a:ext cx="33" cy="4"/>
              </a:xfrm>
              <a:custGeom>
                <a:avLst/>
                <a:gdLst>
                  <a:gd name="T0" fmla="*/ 0 w 1718"/>
                  <a:gd name="T1" fmla="*/ 0 h 210"/>
                  <a:gd name="T2" fmla="*/ 0 w 1718"/>
                  <a:gd name="T3" fmla="*/ 0 h 210"/>
                  <a:gd name="T4" fmla="*/ 1 w 1718"/>
                  <a:gd name="T5" fmla="*/ 0 h 210"/>
                  <a:gd name="T6" fmla="*/ 0 w 1718"/>
                  <a:gd name="T7" fmla="*/ 0 h 2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18" h="210">
                    <a:moveTo>
                      <a:pt x="0" y="0"/>
                    </a:moveTo>
                    <a:lnTo>
                      <a:pt x="0" y="210"/>
                    </a:lnTo>
                    <a:lnTo>
                      <a:pt x="1718"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楷体" panose="02010609060101010101" pitchFamily="49" charset="-122"/>
                  <a:ea typeface="楷体" panose="02010609060101010101" pitchFamily="49" charset="-122"/>
                </a:endParaRPr>
              </a:p>
            </p:txBody>
          </p:sp>
          <p:sp>
            <p:nvSpPr>
              <p:cNvPr id="22" name="Freeform 19"/>
              <p:cNvSpPr>
                <a:spLocks/>
              </p:cNvSpPr>
              <p:nvPr/>
            </p:nvSpPr>
            <p:spPr bwMode="auto">
              <a:xfrm>
                <a:off x="3865" y="2517"/>
                <a:ext cx="33" cy="4"/>
              </a:xfrm>
              <a:custGeom>
                <a:avLst/>
                <a:gdLst>
                  <a:gd name="T0" fmla="*/ 0 w 1718"/>
                  <a:gd name="T1" fmla="*/ 0 h 210"/>
                  <a:gd name="T2" fmla="*/ 1 w 1718"/>
                  <a:gd name="T3" fmla="*/ 0 h 210"/>
                  <a:gd name="T4" fmla="*/ 1 w 1718"/>
                  <a:gd name="T5" fmla="*/ 0 h 210"/>
                  <a:gd name="T6" fmla="*/ 0 w 1718"/>
                  <a:gd name="T7" fmla="*/ 0 h 2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18" h="210">
                    <a:moveTo>
                      <a:pt x="0" y="210"/>
                    </a:moveTo>
                    <a:lnTo>
                      <a:pt x="1718" y="0"/>
                    </a:lnTo>
                    <a:lnTo>
                      <a:pt x="1718" y="210"/>
                    </a:lnTo>
                    <a:lnTo>
                      <a:pt x="0" y="2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楷体" panose="02010609060101010101" pitchFamily="49" charset="-122"/>
                  <a:ea typeface="楷体" panose="02010609060101010101" pitchFamily="49" charset="-122"/>
                </a:endParaRPr>
              </a:p>
            </p:txBody>
          </p:sp>
          <p:sp>
            <p:nvSpPr>
              <p:cNvPr id="23" name="Rectangle 20"/>
              <p:cNvSpPr>
                <a:spLocks noChangeArrowheads="1"/>
              </p:cNvSpPr>
              <p:nvPr/>
            </p:nvSpPr>
            <p:spPr bwMode="auto">
              <a:xfrm>
                <a:off x="3865" y="2517"/>
                <a:ext cx="33" cy="4"/>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1800">
                  <a:latin typeface="楷体" panose="02010609060101010101" pitchFamily="49" charset="-122"/>
                  <a:ea typeface="楷体" panose="02010609060101010101" pitchFamily="49" charset="-122"/>
                </a:endParaRPr>
              </a:p>
            </p:txBody>
          </p:sp>
          <p:sp>
            <p:nvSpPr>
              <p:cNvPr id="24" name="Freeform 21"/>
              <p:cNvSpPr>
                <a:spLocks/>
              </p:cNvSpPr>
              <p:nvPr/>
            </p:nvSpPr>
            <p:spPr bwMode="auto">
              <a:xfrm>
                <a:off x="3871" y="2485"/>
                <a:ext cx="47" cy="4"/>
              </a:xfrm>
              <a:custGeom>
                <a:avLst/>
                <a:gdLst>
                  <a:gd name="T0" fmla="*/ 0 w 2412"/>
                  <a:gd name="T1" fmla="*/ 0 h 209"/>
                  <a:gd name="T2" fmla="*/ 0 w 2412"/>
                  <a:gd name="T3" fmla="*/ 0 h 209"/>
                  <a:gd name="T4" fmla="*/ 1 w 2412"/>
                  <a:gd name="T5" fmla="*/ 0 h 209"/>
                  <a:gd name="T6" fmla="*/ 0 w 2412"/>
                  <a:gd name="T7" fmla="*/ 0 h 20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12" h="209">
                    <a:moveTo>
                      <a:pt x="0" y="0"/>
                    </a:moveTo>
                    <a:lnTo>
                      <a:pt x="0" y="209"/>
                    </a:lnTo>
                    <a:lnTo>
                      <a:pt x="241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楷体" panose="02010609060101010101" pitchFamily="49" charset="-122"/>
                  <a:ea typeface="楷体" panose="02010609060101010101" pitchFamily="49" charset="-122"/>
                </a:endParaRPr>
              </a:p>
            </p:txBody>
          </p:sp>
          <p:sp>
            <p:nvSpPr>
              <p:cNvPr id="25" name="Freeform 22"/>
              <p:cNvSpPr>
                <a:spLocks/>
              </p:cNvSpPr>
              <p:nvPr/>
            </p:nvSpPr>
            <p:spPr bwMode="auto">
              <a:xfrm>
                <a:off x="3871" y="2485"/>
                <a:ext cx="47" cy="4"/>
              </a:xfrm>
              <a:custGeom>
                <a:avLst/>
                <a:gdLst>
                  <a:gd name="T0" fmla="*/ 0 w 2412"/>
                  <a:gd name="T1" fmla="*/ 0 h 209"/>
                  <a:gd name="T2" fmla="*/ 1 w 2412"/>
                  <a:gd name="T3" fmla="*/ 0 h 209"/>
                  <a:gd name="T4" fmla="*/ 1 w 2412"/>
                  <a:gd name="T5" fmla="*/ 0 h 209"/>
                  <a:gd name="T6" fmla="*/ 0 w 2412"/>
                  <a:gd name="T7" fmla="*/ 0 h 20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12" h="209">
                    <a:moveTo>
                      <a:pt x="0" y="209"/>
                    </a:moveTo>
                    <a:lnTo>
                      <a:pt x="2412" y="0"/>
                    </a:lnTo>
                    <a:lnTo>
                      <a:pt x="2412" y="209"/>
                    </a:lnTo>
                    <a:lnTo>
                      <a:pt x="0" y="2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楷体" panose="02010609060101010101" pitchFamily="49" charset="-122"/>
                  <a:ea typeface="楷体" panose="02010609060101010101" pitchFamily="49" charset="-122"/>
                </a:endParaRPr>
              </a:p>
            </p:txBody>
          </p:sp>
          <p:sp>
            <p:nvSpPr>
              <p:cNvPr id="26" name="Rectangle 23"/>
              <p:cNvSpPr>
                <a:spLocks noChangeArrowheads="1"/>
              </p:cNvSpPr>
              <p:nvPr/>
            </p:nvSpPr>
            <p:spPr bwMode="auto">
              <a:xfrm>
                <a:off x="3871" y="2485"/>
                <a:ext cx="47" cy="4"/>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1800">
                  <a:latin typeface="楷体" panose="02010609060101010101" pitchFamily="49" charset="-122"/>
                  <a:ea typeface="楷体" panose="02010609060101010101" pitchFamily="49" charset="-122"/>
                </a:endParaRPr>
              </a:p>
            </p:txBody>
          </p:sp>
          <p:sp>
            <p:nvSpPr>
              <p:cNvPr id="27" name="Freeform 24"/>
              <p:cNvSpPr>
                <a:spLocks/>
              </p:cNvSpPr>
              <p:nvPr/>
            </p:nvSpPr>
            <p:spPr bwMode="auto">
              <a:xfrm>
                <a:off x="3870" y="2457"/>
                <a:ext cx="65" cy="4"/>
              </a:xfrm>
              <a:custGeom>
                <a:avLst/>
                <a:gdLst>
                  <a:gd name="T0" fmla="*/ 0 w 3378"/>
                  <a:gd name="T1" fmla="*/ 0 h 210"/>
                  <a:gd name="T2" fmla="*/ 0 w 3378"/>
                  <a:gd name="T3" fmla="*/ 0 h 210"/>
                  <a:gd name="T4" fmla="*/ 1 w 3378"/>
                  <a:gd name="T5" fmla="*/ 0 h 210"/>
                  <a:gd name="T6" fmla="*/ 0 w 3378"/>
                  <a:gd name="T7" fmla="*/ 0 h 2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78" h="210">
                    <a:moveTo>
                      <a:pt x="0" y="0"/>
                    </a:moveTo>
                    <a:lnTo>
                      <a:pt x="0" y="210"/>
                    </a:lnTo>
                    <a:lnTo>
                      <a:pt x="3378"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楷体" panose="02010609060101010101" pitchFamily="49" charset="-122"/>
                  <a:ea typeface="楷体" panose="02010609060101010101" pitchFamily="49" charset="-122"/>
                </a:endParaRPr>
              </a:p>
            </p:txBody>
          </p:sp>
          <p:sp>
            <p:nvSpPr>
              <p:cNvPr id="28" name="Freeform 25"/>
              <p:cNvSpPr>
                <a:spLocks/>
              </p:cNvSpPr>
              <p:nvPr/>
            </p:nvSpPr>
            <p:spPr bwMode="auto">
              <a:xfrm>
                <a:off x="3870" y="2457"/>
                <a:ext cx="65" cy="4"/>
              </a:xfrm>
              <a:custGeom>
                <a:avLst/>
                <a:gdLst>
                  <a:gd name="T0" fmla="*/ 0 w 3378"/>
                  <a:gd name="T1" fmla="*/ 0 h 210"/>
                  <a:gd name="T2" fmla="*/ 1 w 3378"/>
                  <a:gd name="T3" fmla="*/ 0 h 210"/>
                  <a:gd name="T4" fmla="*/ 1 w 3378"/>
                  <a:gd name="T5" fmla="*/ 0 h 210"/>
                  <a:gd name="T6" fmla="*/ 0 w 3378"/>
                  <a:gd name="T7" fmla="*/ 0 h 2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78" h="210">
                    <a:moveTo>
                      <a:pt x="0" y="210"/>
                    </a:moveTo>
                    <a:lnTo>
                      <a:pt x="3378" y="0"/>
                    </a:lnTo>
                    <a:lnTo>
                      <a:pt x="3378" y="210"/>
                    </a:lnTo>
                    <a:lnTo>
                      <a:pt x="0" y="2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楷体" panose="02010609060101010101" pitchFamily="49" charset="-122"/>
                  <a:ea typeface="楷体" panose="02010609060101010101" pitchFamily="49" charset="-122"/>
                </a:endParaRPr>
              </a:p>
            </p:txBody>
          </p:sp>
          <p:sp>
            <p:nvSpPr>
              <p:cNvPr id="29" name="Rectangle 26"/>
              <p:cNvSpPr>
                <a:spLocks noChangeArrowheads="1"/>
              </p:cNvSpPr>
              <p:nvPr/>
            </p:nvSpPr>
            <p:spPr bwMode="auto">
              <a:xfrm>
                <a:off x="3870" y="2457"/>
                <a:ext cx="65" cy="4"/>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1800">
                  <a:latin typeface="楷体" panose="02010609060101010101" pitchFamily="49" charset="-122"/>
                  <a:ea typeface="楷体" panose="02010609060101010101" pitchFamily="49" charset="-122"/>
                </a:endParaRPr>
              </a:p>
            </p:txBody>
          </p:sp>
        </p:grpSp>
      </p:grpSp>
      <p:sp>
        <p:nvSpPr>
          <p:cNvPr id="30" name="Rectangle 4"/>
          <p:cNvSpPr>
            <a:spLocks noChangeArrowheads="1"/>
          </p:cNvSpPr>
          <p:nvPr/>
        </p:nvSpPr>
        <p:spPr bwMode="auto">
          <a:xfrm>
            <a:off x="830910" y="5281057"/>
            <a:ext cx="705643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lgn="just" eaLnBrk="1" hangingPunct="1">
              <a:spcBef>
                <a:spcPct val="0"/>
              </a:spcBef>
              <a:buFontTx/>
              <a:buNone/>
            </a:pPr>
            <a:r>
              <a:rPr lang="en-US" altLang="zh-CN" sz="1800" dirty="0">
                <a:latin typeface="楷体" panose="02010609060101010101" pitchFamily="49" charset="-122"/>
                <a:ea typeface="楷体" panose="02010609060101010101" pitchFamily="49" charset="-122"/>
              </a:rPr>
              <a:t>2)</a:t>
            </a:r>
            <a:r>
              <a:rPr lang="zh-CN" altLang="en-US" sz="1800" dirty="0">
                <a:latin typeface="楷体" panose="02010609060101010101" pitchFamily="49" charset="-122"/>
                <a:ea typeface="楷体" panose="02010609060101010101" pitchFamily="49" charset="-122"/>
              </a:rPr>
              <a:t>附加链杆，只控制结点沿某一方向的移动，不控制结点转动。</a:t>
            </a:r>
            <a:r>
              <a:rPr lang="zh-CN" altLang="en-US" sz="1800" b="0" dirty="0">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1566503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grpSp>
        <p:nvGrpSpPr>
          <p:cNvPr id="4" name="Group 2"/>
          <p:cNvGrpSpPr>
            <a:grpSpLocks/>
          </p:cNvGrpSpPr>
          <p:nvPr/>
        </p:nvGrpSpPr>
        <p:grpSpPr bwMode="auto">
          <a:xfrm>
            <a:off x="1043608" y="1404730"/>
            <a:ext cx="6408737" cy="1873250"/>
            <a:chOff x="793" y="527"/>
            <a:chExt cx="4037" cy="1180"/>
          </a:xfrm>
        </p:grpSpPr>
        <p:sp>
          <p:nvSpPr>
            <p:cNvPr id="5" name="Rectangle 3"/>
            <p:cNvSpPr>
              <a:spLocks noChangeArrowheads="1"/>
            </p:cNvSpPr>
            <p:nvPr/>
          </p:nvSpPr>
          <p:spPr bwMode="auto">
            <a:xfrm>
              <a:off x="793" y="527"/>
              <a:ext cx="4037"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lnSpc>
                  <a:spcPct val="130000"/>
                </a:lnSpc>
                <a:spcBef>
                  <a:spcPct val="0"/>
                </a:spcBef>
                <a:buFontTx/>
                <a:buNone/>
              </a:pP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例：确定图</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所示连续梁的基本结构。</a:t>
              </a:r>
            </a:p>
          </p:txBody>
        </p:sp>
        <p:grpSp>
          <p:nvGrpSpPr>
            <p:cNvPr id="6" name="Group 4"/>
            <p:cNvGrpSpPr>
              <a:grpSpLocks/>
            </p:cNvGrpSpPr>
            <p:nvPr/>
          </p:nvGrpSpPr>
          <p:grpSpPr bwMode="auto">
            <a:xfrm>
              <a:off x="1746" y="845"/>
              <a:ext cx="2812" cy="862"/>
              <a:chOff x="1837" y="1071"/>
              <a:chExt cx="2482" cy="681"/>
            </a:xfrm>
          </p:grpSpPr>
          <p:graphicFrame>
            <p:nvGraphicFramePr>
              <p:cNvPr id="7" name="Object 5"/>
              <p:cNvGraphicFramePr>
                <a:graphicFrameLocks noChangeAspect="1"/>
              </p:cNvGraphicFramePr>
              <p:nvPr/>
            </p:nvGraphicFramePr>
            <p:xfrm>
              <a:off x="1837" y="1071"/>
              <a:ext cx="1973" cy="681"/>
            </p:xfrm>
            <a:graphic>
              <a:graphicData uri="http://schemas.openxmlformats.org/presentationml/2006/ole">
                <mc:AlternateContent xmlns:mc="http://schemas.openxmlformats.org/markup-compatibility/2006">
                  <mc:Choice xmlns:v="urn:schemas-microsoft-com:vml" Requires="v">
                    <p:oleObj spid="_x0000_s56678" r:id="rId4" imgW="9058275" imgH="4600575" progId="AutoCAD.Drawing.16">
                      <p:embed/>
                    </p:oleObj>
                  </mc:Choice>
                  <mc:Fallback>
                    <p:oleObj r:id="rId4" imgW="9058275" imgH="4600575" progId="AutoCAD.Drawing.1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l="31390" t="23085" r="27667" b="49092"/>
                          <a:stretch>
                            <a:fillRect/>
                          </a:stretch>
                        </p:blipFill>
                        <p:spPr bwMode="auto">
                          <a:xfrm>
                            <a:off x="1837" y="1071"/>
                            <a:ext cx="1973" cy="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6"/>
              <p:cNvSpPr>
                <a:spLocks noChangeArrowheads="1"/>
              </p:cNvSpPr>
              <p:nvPr/>
            </p:nvSpPr>
            <p:spPr bwMode="auto">
              <a:xfrm>
                <a:off x="3696" y="1262"/>
                <a:ext cx="623"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1800" dirty="0">
                    <a:latin typeface="楷体" panose="02010609060101010101" pitchFamily="49" charset="-122"/>
                    <a:ea typeface="楷体" panose="02010609060101010101" pitchFamily="49" charset="-122"/>
                  </a:rPr>
                  <a:t>（图</a:t>
                </a:r>
                <a:r>
                  <a:rPr lang="en-US" altLang="zh-CN" sz="1800" dirty="0">
                    <a:latin typeface="楷体" panose="02010609060101010101" pitchFamily="49" charset="-122"/>
                    <a:ea typeface="楷体" panose="02010609060101010101" pitchFamily="49" charset="-122"/>
                  </a:rPr>
                  <a:t>a</a:t>
                </a:r>
                <a:r>
                  <a:rPr lang="zh-CN" altLang="en-US" sz="1800" dirty="0">
                    <a:latin typeface="楷体" panose="02010609060101010101" pitchFamily="49" charset="-122"/>
                    <a:ea typeface="楷体" panose="02010609060101010101" pitchFamily="49" charset="-122"/>
                  </a:rPr>
                  <a:t>）</a:t>
                </a:r>
              </a:p>
            </p:txBody>
          </p:sp>
        </p:grpSp>
      </p:grpSp>
      <p:grpSp>
        <p:nvGrpSpPr>
          <p:cNvPr id="9" name="Group 7"/>
          <p:cNvGrpSpPr>
            <a:grpSpLocks/>
          </p:cNvGrpSpPr>
          <p:nvPr/>
        </p:nvGrpSpPr>
        <p:grpSpPr bwMode="auto">
          <a:xfrm>
            <a:off x="2483768" y="3186113"/>
            <a:ext cx="4462463" cy="1603375"/>
            <a:chOff x="1746" y="1752"/>
            <a:chExt cx="2811" cy="1010"/>
          </a:xfrm>
        </p:grpSpPr>
        <p:graphicFrame>
          <p:nvGraphicFramePr>
            <p:cNvPr id="10" name="Object 8"/>
            <p:cNvGraphicFramePr>
              <a:graphicFrameLocks noChangeAspect="1"/>
            </p:cNvGraphicFramePr>
            <p:nvPr/>
          </p:nvGraphicFramePr>
          <p:xfrm>
            <a:off x="1746" y="1752"/>
            <a:ext cx="2268" cy="1010"/>
          </p:xfrm>
          <a:graphic>
            <a:graphicData uri="http://schemas.openxmlformats.org/presentationml/2006/ole">
              <mc:AlternateContent xmlns:mc="http://schemas.openxmlformats.org/markup-compatibility/2006">
                <mc:Choice xmlns:v="urn:schemas-microsoft-com:vml" Requires="v">
                  <p:oleObj spid="_x0000_s56679" name="AutoCAD Drawing" r:id="rId6" imgW="5895975" imgH="4181475" progId="AutoCAD.Drawing.16">
                    <p:embed/>
                  </p:oleObj>
                </mc:Choice>
                <mc:Fallback>
                  <p:oleObj name="AutoCAD Drawing" r:id="rId6" imgW="5895975" imgH="4181475" progId="AutoCAD.Drawing.1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l="31390" t="63683" r="27667" b="12930"/>
                        <a:stretch>
                          <a:fillRect/>
                        </a:stretch>
                      </p:blipFill>
                      <p:spPr bwMode="auto">
                        <a:xfrm>
                          <a:off x="1746" y="1752"/>
                          <a:ext cx="2268" cy="1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9"/>
            <p:cNvSpPr>
              <a:spLocks noChangeArrowheads="1"/>
            </p:cNvSpPr>
            <p:nvPr/>
          </p:nvSpPr>
          <p:spPr bwMode="auto">
            <a:xfrm>
              <a:off x="3833" y="1929"/>
              <a:ext cx="72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1800" dirty="0">
                  <a:latin typeface="楷体" panose="02010609060101010101" pitchFamily="49" charset="-122"/>
                  <a:ea typeface="楷体" panose="02010609060101010101" pitchFamily="49" charset="-122"/>
                </a:rPr>
                <a:t>（图</a:t>
              </a:r>
              <a:r>
                <a:rPr lang="en-US" altLang="zh-CN" sz="1800" dirty="0">
                  <a:latin typeface="楷体" panose="02010609060101010101" pitchFamily="49" charset="-122"/>
                  <a:ea typeface="楷体" panose="02010609060101010101" pitchFamily="49" charset="-122"/>
                </a:rPr>
                <a:t>b</a:t>
              </a:r>
              <a:r>
                <a:rPr lang="zh-CN" altLang="en-US" sz="1800" dirty="0">
                  <a:latin typeface="楷体" panose="02010609060101010101" pitchFamily="49" charset="-122"/>
                  <a:ea typeface="楷体" panose="02010609060101010101" pitchFamily="49" charset="-122"/>
                </a:rPr>
                <a:t>）</a:t>
              </a:r>
            </a:p>
          </p:txBody>
        </p:sp>
      </p:grpSp>
      <p:sp>
        <p:nvSpPr>
          <p:cNvPr id="12" name="Rectangle 10"/>
          <p:cNvSpPr>
            <a:spLocks noChangeArrowheads="1"/>
          </p:cNvSpPr>
          <p:nvPr/>
        </p:nvSpPr>
        <p:spPr bwMode="auto">
          <a:xfrm>
            <a:off x="1115616" y="5072740"/>
            <a:ext cx="7391400" cy="830997"/>
          </a:xfrm>
          <a:prstGeom prst="rect">
            <a:avLst/>
          </a:prstGeom>
          <a:solidFill>
            <a:srgbClr val="FF99CC"/>
          </a:solidFill>
          <a:ln w="76200" cmpd="tri">
            <a:solidFill>
              <a:srgbClr val="00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0"/>
              </a:spcBef>
              <a:buFontTx/>
              <a:buNone/>
            </a:pP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在确定基本结构的同时，也就确定了基本未知量及其数目。</a:t>
            </a:r>
            <a:r>
              <a:rPr lang="zh-CN" altLang="en-US" sz="2400" b="0" dirty="0">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548585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slide(fromTop)">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slide(fromBottom)">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4" name="Rectangle 2"/>
          <p:cNvSpPr>
            <a:spLocks noChangeArrowheads="1"/>
          </p:cNvSpPr>
          <p:nvPr/>
        </p:nvSpPr>
        <p:spPr bwMode="auto">
          <a:xfrm>
            <a:off x="467543" y="1412776"/>
            <a:ext cx="485261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600" dirty="0">
                <a:effectLst>
                  <a:outerShdw blurRad="38100" dist="38100" dir="2700000" algn="tl">
                    <a:srgbClr val="C0C0C0"/>
                  </a:outerShdw>
                </a:effectLst>
                <a:latin typeface="楷体" panose="02010609060101010101" pitchFamily="49" charset="-122"/>
                <a:ea typeface="楷体" panose="02010609060101010101" pitchFamily="49" charset="-122"/>
              </a:rPr>
              <a:t>基本未知量，基本结构确定举例</a:t>
            </a:r>
          </a:p>
        </p:txBody>
      </p:sp>
      <p:graphicFrame>
        <p:nvGraphicFramePr>
          <p:cNvPr id="3" name="对象 2"/>
          <p:cNvGraphicFramePr>
            <a:graphicFrameLocks noChangeAspect="1"/>
          </p:cNvGraphicFramePr>
          <p:nvPr>
            <p:extLst>
              <p:ext uri="{D42A27DB-BD31-4B8C-83A1-F6EECF244321}">
                <p14:modId xmlns:p14="http://schemas.microsoft.com/office/powerpoint/2010/main" val="1156836305"/>
              </p:ext>
            </p:extLst>
          </p:nvPr>
        </p:nvGraphicFramePr>
        <p:xfrm>
          <a:off x="1043608" y="2276872"/>
          <a:ext cx="2895600" cy="1104900"/>
        </p:xfrm>
        <a:graphic>
          <a:graphicData uri="http://schemas.openxmlformats.org/presentationml/2006/ole">
            <mc:AlternateContent xmlns:mc="http://schemas.openxmlformats.org/markup-compatibility/2006">
              <mc:Choice xmlns:v="urn:schemas-microsoft-com:vml" Requires="v">
                <p:oleObj spid="_x0000_s59070" name="BMP 图象" r:id="rId4" imgW="3648584" imgH="1104762" progId="PBrush">
                  <p:embed/>
                </p:oleObj>
              </mc:Choice>
              <mc:Fallback>
                <p:oleObj name="BMP 图象" r:id="rId4" imgW="3648584" imgH="1104762" progId="PBrush">
                  <p:embed/>
                  <p:pic>
                    <p:nvPicPr>
                      <p:cNvPr id="0" name="Object 3"/>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43608" y="2276872"/>
                        <a:ext cx="2895600"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868839537"/>
              </p:ext>
            </p:extLst>
          </p:nvPr>
        </p:nvGraphicFramePr>
        <p:xfrm>
          <a:off x="4499992" y="2060848"/>
          <a:ext cx="3505200" cy="1362075"/>
        </p:xfrm>
        <a:graphic>
          <a:graphicData uri="http://schemas.openxmlformats.org/presentationml/2006/ole">
            <mc:AlternateContent xmlns:mc="http://schemas.openxmlformats.org/markup-compatibility/2006">
              <mc:Choice xmlns:v="urn:schemas-microsoft-com:vml" Requires="v">
                <p:oleObj spid="_x0000_s59071" name="位图图像" r:id="rId6" imgW="3962953" imgH="1438095" progId="PBrush">
                  <p:embed/>
                </p:oleObj>
              </mc:Choice>
              <mc:Fallback>
                <p:oleObj name="位图图像" r:id="rId6" imgW="3962953" imgH="1438095" progId="PBrush">
                  <p:embed/>
                  <p:pic>
                    <p:nvPicPr>
                      <p:cNvPr id="0" name="Object 4"/>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99992" y="2060848"/>
                        <a:ext cx="3505200" cy="136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308727627"/>
              </p:ext>
            </p:extLst>
          </p:nvPr>
        </p:nvGraphicFramePr>
        <p:xfrm>
          <a:off x="899592" y="4005064"/>
          <a:ext cx="3352800" cy="1066800"/>
        </p:xfrm>
        <a:graphic>
          <a:graphicData uri="http://schemas.openxmlformats.org/presentationml/2006/ole">
            <mc:AlternateContent xmlns:mc="http://schemas.openxmlformats.org/markup-compatibility/2006">
              <mc:Choice xmlns:v="urn:schemas-microsoft-com:vml" Requires="v">
                <p:oleObj spid="_x0000_s59072" name="位图图像" r:id="rId8" imgW="3933333" imgH="1219370" progId="PBrush">
                  <p:embed/>
                </p:oleObj>
              </mc:Choice>
              <mc:Fallback>
                <p:oleObj name="位图图像" r:id="rId8" imgW="3933333" imgH="1219370" progId="PBrush">
                  <p:embed/>
                  <p:pic>
                    <p:nvPicPr>
                      <p:cNvPr id="0" name="Object 5"/>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99592" y="4005064"/>
                        <a:ext cx="3352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619560456"/>
              </p:ext>
            </p:extLst>
          </p:nvPr>
        </p:nvGraphicFramePr>
        <p:xfrm>
          <a:off x="4788024" y="3861048"/>
          <a:ext cx="3429000" cy="1350963"/>
        </p:xfrm>
        <a:graphic>
          <a:graphicData uri="http://schemas.openxmlformats.org/presentationml/2006/ole">
            <mc:AlternateContent xmlns:mc="http://schemas.openxmlformats.org/markup-compatibility/2006">
              <mc:Choice xmlns:v="urn:schemas-microsoft-com:vml" Requires="v">
                <p:oleObj spid="_x0000_s59073" name="位图图像" r:id="rId10" imgW="4382112" imgH="1409897" progId="PBrush">
                  <p:embed/>
                </p:oleObj>
              </mc:Choice>
              <mc:Fallback>
                <p:oleObj name="位图图像" r:id="rId10" imgW="4382112" imgH="1409897" progId="PBrush">
                  <p:embed/>
                  <p:pic>
                    <p:nvPicPr>
                      <p:cNvPr id="0" name="Object 6"/>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788024" y="3861048"/>
                        <a:ext cx="3429000" cy="1350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Rectangle 7"/>
          <p:cNvSpPr>
            <a:spLocks noChangeArrowheads="1"/>
          </p:cNvSpPr>
          <p:nvPr/>
        </p:nvSpPr>
        <p:spPr bwMode="auto">
          <a:xfrm>
            <a:off x="3419872" y="5334000"/>
            <a:ext cx="18710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3200" dirty="0">
                <a:solidFill>
                  <a:srgbClr val="CC3300"/>
                </a:solidFill>
                <a:effectLst>
                  <a:outerShdw blurRad="38100" dist="38100" dir="2700000" algn="tl">
                    <a:srgbClr val="C0C0C0"/>
                  </a:outerShdw>
                </a:effectLst>
              </a:rPr>
              <a:t>６＋</a:t>
            </a:r>
            <a:r>
              <a:rPr lang="en-US" altLang="zh-CN" sz="3200" dirty="0">
                <a:solidFill>
                  <a:srgbClr val="CC3300"/>
                </a:solidFill>
                <a:effectLst>
                  <a:outerShdw blurRad="38100" dist="38100" dir="2700000" algn="tl">
                    <a:srgbClr val="C0C0C0"/>
                  </a:outerShdw>
                </a:effectLst>
              </a:rPr>
              <a:t>2</a:t>
            </a:r>
            <a:r>
              <a:rPr lang="zh-CN" altLang="en-US" sz="3200" dirty="0">
                <a:solidFill>
                  <a:srgbClr val="CC3300"/>
                </a:solidFill>
                <a:effectLst>
                  <a:outerShdw blurRad="38100" dist="38100" dir="2700000" algn="tl">
                    <a:srgbClr val="C0C0C0"/>
                  </a:outerShdw>
                </a:effectLst>
              </a:rPr>
              <a:t>＝</a:t>
            </a:r>
            <a:r>
              <a:rPr lang="en-US" altLang="zh-CN" sz="3200" dirty="0">
                <a:solidFill>
                  <a:srgbClr val="CC3300"/>
                </a:solidFill>
                <a:effectLst>
                  <a:outerShdw blurRad="38100" dist="38100" dir="2700000" algn="tl">
                    <a:srgbClr val="C0C0C0"/>
                  </a:outerShdw>
                </a:effectLst>
              </a:rPr>
              <a:t>8</a:t>
            </a:r>
            <a:endParaRPr lang="zh-CN" altLang="en-US" sz="3200" dirty="0">
              <a:solidFill>
                <a:srgbClr val="CC3300"/>
              </a:solidFill>
              <a:effectLst>
                <a:outerShdw blurRad="38100" dist="38100" dir="2700000" algn="tl">
                  <a:srgbClr val="C0C0C0"/>
                </a:outerShdw>
              </a:effectLst>
            </a:endParaRPr>
          </a:p>
        </p:txBody>
      </p:sp>
    </p:spTree>
    <p:extLst>
      <p:ext uri="{BB962C8B-B14F-4D97-AF65-F5344CB8AC3E}">
        <p14:creationId xmlns:p14="http://schemas.microsoft.com/office/powerpoint/2010/main" val="548585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1+#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1+#ppt_w/2"/>
                                          </p:val>
                                        </p:tav>
                                        <p:tav tm="100000">
                                          <p:val>
                                            <p:strVal val="#ppt_x"/>
                                          </p:val>
                                        </p:tav>
                                      </p:tavLst>
                                    </p:anim>
                                    <p:anim calcmode="lin" valueType="num">
                                      <p:cBhvr additive="base">
                                        <p:cTn id="32"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9"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grpSp>
        <p:nvGrpSpPr>
          <p:cNvPr id="4" name="Group 2"/>
          <p:cNvGrpSpPr>
            <a:grpSpLocks/>
          </p:cNvGrpSpPr>
          <p:nvPr/>
        </p:nvGrpSpPr>
        <p:grpSpPr bwMode="auto">
          <a:xfrm>
            <a:off x="1611489" y="1809311"/>
            <a:ext cx="2514600" cy="1600200"/>
            <a:chOff x="528" y="1008"/>
            <a:chExt cx="1711" cy="1275"/>
          </a:xfrm>
        </p:grpSpPr>
        <p:sp>
          <p:nvSpPr>
            <p:cNvPr id="5" name="Line 3"/>
            <p:cNvSpPr>
              <a:spLocks noChangeShapeType="1"/>
            </p:cNvSpPr>
            <p:nvPr/>
          </p:nvSpPr>
          <p:spPr bwMode="auto">
            <a:xfrm>
              <a:off x="720" y="1488"/>
              <a:ext cx="0" cy="72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Line 4"/>
            <p:cNvSpPr>
              <a:spLocks noChangeShapeType="1"/>
            </p:cNvSpPr>
            <p:nvPr/>
          </p:nvSpPr>
          <p:spPr bwMode="auto">
            <a:xfrm flipV="1">
              <a:off x="1392" y="1008"/>
              <a:ext cx="672" cy="4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 name="Group 5"/>
            <p:cNvGrpSpPr>
              <a:grpSpLocks/>
            </p:cNvGrpSpPr>
            <p:nvPr/>
          </p:nvGrpSpPr>
          <p:grpSpPr bwMode="auto">
            <a:xfrm>
              <a:off x="528" y="2208"/>
              <a:ext cx="367" cy="75"/>
              <a:chOff x="5136" y="2256"/>
              <a:chExt cx="432" cy="96"/>
            </a:xfrm>
          </p:grpSpPr>
          <p:sp>
            <p:nvSpPr>
              <p:cNvPr id="35" name="Line 6"/>
              <p:cNvSpPr>
                <a:spLocks noChangeShapeType="1"/>
              </p:cNvSpPr>
              <p:nvPr/>
            </p:nvSpPr>
            <p:spPr bwMode="auto">
              <a:xfrm>
                <a:off x="5184" y="225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7"/>
              <p:cNvSpPr>
                <a:spLocks noChangeShapeType="1"/>
              </p:cNvSpPr>
              <p:nvPr/>
            </p:nvSpPr>
            <p:spPr bwMode="auto">
              <a:xfrm flipV="1">
                <a:off x="518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8"/>
              <p:cNvSpPr>
                <a:spLocks noChangeShapeType="1"/>
              </p:cNvSpPr>
              <p:nvPr/>
            </p:nvSpPr>
            <p:spPr bwMode="auto">
              <a:xfrm flipV="1">
                <a:off x="523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9"/>
              <p:cNvSpPr>
                <a:spLocks noChangeShapeType="1"/>
              </p:cNvSpPr>
              <p:nvPr/>
            </p:nvSpPr>
            <p:spPr bwMode="auto">
              <a:xfrm flipV="1">
                <a:off x="5280"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10"/>
              <p:cNvSpPr>
                <a:spLocks noChangeShapeType="1"/>
              </p:cNvSpPr>
              <p:nvPr/>
            </p:nvSpPr>
            <p:spPr bwMode="auto">
              <a:xfrm flipV="1">
                <a:off x="5328"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11"/>
              <p:cNvSpPr>
                <a:spLocks noChangeShapeType="1"/>
              </p:cNvSpPr>
              <p:nvPr/>
            </p:nvSpPr>
            <p:spPr bwMode="auto">
              <a:xfrm flipV="1">
                <a:off x="537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12"/>
              <p:cNvSpPr>
                <a:spLocks noChangeShapeType="1"/>
              </p:cNvSpPr>
              <p:nvPr/>
            </p:nvSpPr>
            <p:spPr bwMode="auto">
              <a:xfrm flipV="1">
                <a:off x="542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13"/>
              <p:cNvSpPr>
                <a:spLocks noChangeShapeType="1"/>
              </p:cNvSpPr>
              <p:nvPr/>
            </p:nvSpPr>
            <p:spPr bwMode="auto">
              <a:xfrm flipV="1">
                <a:off x="547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14"/>
              <p:cNvSpPr>
                <a:spLocks noChangeShapeType="1"/>
              </p:cNvSpPr>
              <p:nvPr/>
            </p:nvSpPr>
            <p:spPr bwMode="auto">
              <a:xfrm flipV="1">
                <a:off x="513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 name="Group 15"/>
            <p:cNvGrpSpPr>
              <a:grpSpLocks/>
            </p:cNvGrpSpPr>
            <p:nvPr/>
          </p:nvGrpSpPr>
          <p:grpSpPr bwMode="auto">
            <a:xfrm>
              <a:off x="1217" y="2208"/>
              <a:ext cx="367" cy="75"/>
              <a:chOff x="5136" y="2256"/>
              <a:chExt cx="432" cy="96"/>
            </a:xfrm>
          </p:grpSpPr>
          <p:sp>
            <p:nvSpPr>
              <p:cNvPr id="26" name="Line 16"/>
              <p:cNvSpPr>
                <a:spLocks noChangeShapeType="1"/>
              </p:cNvSpPr>
              <p:nvPr/>
            </p:nvSpPr>
            <p:spPr bwMode="auto">
              <a:xfrm>
                <a:off x="5184" y="225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17"/>
              <p:cNvSpPr>
                <a:spLocks noChangeShapeType="1"/>
              </p:cNvSpPr>
              <p:nvPr/>
            </p:nvSpPr>
            <p:spPr bwMode="auto">
              <a:xfrm flipV="1">
                <a:off x="518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18"/>
              <p:cNvSpPr>
                <a:spLocks noChangeShapeType="1"/>
              </p:cNvSpPr>
              <p:nvPr/>
            </p:nvSpPr>
            <p:spPr bwMode="auto">
              <a:xfrm flipV="1">
                <a:off x="523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19"/>
              <p:cNvSpPr>
                <a:spLocks noChangeShapeType="1"/>
              </p:cNvSpPr>
              <p:nvPr/>
            </p:nvSpPr>
            <p:spPr bwMode="auto">
              <a:xfrm flipV="1">
                <a:off x="5280"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0"/>
              <p:cNvSpPr>
                <a:spLocks noChangeShapeType="1"/>
              </p:cNvSpPr>
              <p:nvPr/>
            </p:nvSpPr>
            <p:spPr bwMode="auto">
              <a:xfrm flipV="1">
                <a:off x="5328"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1"/>
              <p:cNvSpPr>
                <a:spLocks noChangeShapeType="1"/>
              </p:cNvSpPr>
              <p:nvPr/>
            </p:nvSpPr>
            <p:spPr bwMode="auto">
              <a:xfrm flipV="1">
                <a:off x="537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22"/>
              <p:cNvSpPr>
                <a:spLocks noChangeShapeType="1"/>
              </p:cNvSpPr>
              <p:nvPr/>
            </p:nvSpPr>
            <p:spPr bwMode="auto">
              <a:xfrm flipV="1">
                <a:off x="542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23"/>
              <p:cNvSpPr>
                <a:spLocks noChangeShapeType="1"/>
              </p:cNvSpPr>
              <p:nvPr/>
            </p:nvSpPr>
            <p:spPr bwMode="auto">
              <a:xfrm flipV="1">
                <a:off x="547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24"/>
              <p:cNvSpPr>
                <a:spLocks noChangeShapeType="1"/>
              </p:cNvSpPr>
              <p:nvPr/>
            </p:nvSpPr>
            <p:spPr bwMode="auto">
              <a:xfrm flipV="1">
                <a:off x="513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 name="Line 25"/>
            <p:cNvSpPr>
              <a:spLocks noChangeShapeType="1"/>
            </p:cNvSpPr>
            <p:nvPr/>
          </p:nvSpPr>
          <p:spPr bwMode="auto">
            <a:xfrm>
              <a:off x="2064" y="1008"/>
              <a:ext cx="0" cy="1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 name="Group 26"/>
            <p:cNvGrpSpPr>
              <a:grpSpLocks/>
            </p:cNvGrpSpPr>
            <p:nvPr/>
          </p:nvGrpSpPr>
          <p:grpSpPr bwMode="auto">
            <a:xfrm>
              <a:off x="1872" y="2208"/>
              <a:ext cx="367" cy="75"/>
              <a:chOff x="5136" y="2256"/>
              <a:chExt cx="432" cy="96"/>
            </a:xfrm>
          </p:grpSpPr>
          <p:sp>
            <p:nvSpPr>
              <p:cNvPr id="17" name="Line 27"/>
              <p:cNvSpPr>
                <a:spLocks noChangeShapeType="1"/>
              </p:cNvSpPr>
              <p:nvPr/>
            </p:nvSpPr>
            <p:spPr bwMode="auto">
              <a:xfrm>
                <a:off x="5184" y="225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28"/>
              <p:cNvSpPr>
                <a:spLocks noChangeShapeType="1"/>
              </p:cNvSpPr>
              <p:nvPr/>
            </p:nvSpPr>
            <p:spPr bwMode="auto">
              <a:xfrm flipV="1">
                <a:off x="518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29"/>
              <p:cNvSpPr>
                <a:spLocks noChangeShapeType="1"/>
              </p:cNvSpPr>
              <p:nvPr/>
            </p:nvSpPr>
            <p:spPr bwMode="auto">
              <a:xfrm flipV="1">
                <a:off x="523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30"/>
              <p:cNvSpPr>
                <a:spLocks noChangeShapeType="1"/>
              </p:cNvSpPr>
              <p:nvPr/>
            </p:nvSpPr>
            <p:spPr bwMode="auto">
              <a:xfrm flipV="1">
                <a:off x="5280"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31"/>
              <p:cNvSpPr>
                <a:spLocks noChangeShapeType="1"/>
              </p:cNvSpPr>
              <p:nvPr/>
            </p:nvSpPr>
            <p:spPr bwMode="auto">
              <a:xfrm flipV="1">
                <a:off x="5328"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32"/>
              <p:cNvSpPr>
                <a:spLocks noChangeShapeType="1"/>
              </p:cNvSpPr>
              <p:nvPr/>
            </p:nvSpPr>
            <p:spPr bwMode="auto">
              <a:xfrm flipV="1">
                <a:off x="537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33"/>
              <p:cNvSpPr>
                <a:spLocks noChangeShapeType="1"/>
              </p:cNvSpPr>
              <p:nvPr/>
            </p:nvSpPr>
            <p:spPr bwMode="auto">
              <a:xfrm flipV="1">
                <a:off x="542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34"/>
              <p:cNvSpPr>
                <a:spLocks noChangeShapeType="1"/>
              </p:cNvSpPr>
              <p:nvPr/>
            </p:nvSpPr>
            <p:spPr bwMode="auto">
              <a:xfrm flipV="1">
                <a:off x="547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35"/>
              <p:cNvSpPr>
                <a:spLocks noChangeShapeType="1"/>
              </p:cNvSpPr>
              <p:nvPr/>
            </p:nvSpPr>
            <p:spPr bwMode="auto">
              <a:xfrm flipV="1">
                <a:off x="513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 name="Line 36"/>
            <p:cNvSpPr>
              <a:spLocks noChangeShapeType="1"/>
            </p:cNvSpPr>
            <p:nvPr/>
          </p:nvSpPr>
          <p:spPr bwMode="auto">
            <a:xfrm>
              <a:off x="1392" y="1008"/>
              <a:ext cx="0" cy="1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37"/>
            <p:cNvSpPr>
              <a:spLocks noChangeShapeType="1"/>
            </p:cNvSpPr>
            <p:nvPr/>
          </p:nvSpPr>
          <p:spPr bwMode="auto">
            <a:xfrm flipV="1">
              <a:off x="720" y="1008"/>
              <a:ext cx="672" cy="4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Oval 38"/>
            <p:cNvSpPr>
              <a:spLocks noChangeArrowheads="1"/>
            </p:cNvSpPr>
            <p:nvPr/>
          </p:nvSpPr>
          <p:spPr bwMode="auto">
            <a:xfrm>
              <a:off x="672" y="144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sp>
          <p:nvSpPr>
            <p:cNvPr id="15" name="Oval 39"/>
            <p:cNvSpPr>
              <a:spLocks noChangeArrowheads="1"/>
            </p:cNvSpPr>
            <p:nvPr/>
          </p:nvSpPr>
          <p:spPr bwMode="auto">
            <a:xfrm>
              <a:off x="1344" y="144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sp>
          <p:nvSpPr>
            <p:cNvPr id="16" name="Oval 40"/>
            <p:cNvSpPr>
              <a:spLocks noChangeArrowheads="1"/>
            </p:cNvSpPr>
            <p:nvPr/>
          </p:nvSpPr>
          <p:spPr bwMode="auto">
            <a:xfrm>
              <a:off x="2016" y="144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grpSp>
      <p:grpSp>
        <p:nvGrpSpPr>
          <p:cNvPr id="44" name="Group 41"/>
          <p:cNvGrpSpPr>
            <a:grpSpLocks/>
          </p:cNvGrpSpPr>
          <p:nvPr/>
        </p:nvGrpSpPr>
        <p:grpSpPr bwMode="auto">
          <a:xfrm>
            <a:off x="4811889" y="1504511"/>
            <a:ext cx="2971800" cy="2209800"/>
            <a:chOff x="3072" y="768"/>
            <a:chExt cx="1872" cy="1392"/>
          </a:xfrm>
        </p:grpSpPr>
        <p:sp>
          <p:nvSpPr>
            <p:cNvPr id="45" name="Rectangle 42"/>
            <p:cNvSpPr>
              <a:spLocks noChangeArrowheads="1"/>
            </p:cNvSpPr>
            <p:nvPr/>
          </p:nvSpPr>
          <p:spPr bwMode="auto">
            <a:xfrm>
              <a:off x="3072" y="768"/>
              <a:ext cx="1872" cy="1392"/>
            </a:xfrm>
            <a:prstGeom prst="rect">
              <a:avLst/>
            </a:prstGeom>
            <a:solidFill>
              <a:srgbClr val="E1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grpSp>
          <p:nvGrpSpPr>
            <p:cNvPr id="46" name="Group 43"/>
            <p:cNvGrpSpPr>
              <a:grpSpLocks/>
            </p:cNvGrpSpPr>
            <p:nvPr/>
          </p:nvGrpSpPr>
          <p:grpSpPr bwMode="auto">
            <a:xfrm>
              <a:off x="3168" y="816"/>
              <a:ext cx="1680" cy="1248"/>
              <a:chOff x="3888" y="672"/>
              <a:chExt cx="1680" cy="1248"/>
            </a:xfrm>
          </p:grpSpPr>
          <p:grpSp>
            <p:nvGrpSpPr>
              <p:cNvPr id="47" name="Group 44"/>
              <p:cNvGrpSpPr>
                <a:grpSpLocks/>
              </p:cNvGrpSpPr>
              <p:nvPr/>
            </p:nvGrpSpPr>
            <p:grpSpPr bwMode="auto">
              <a:xfrm rot="5400000">
                <a:off x="5112" y="1128"/>
                <a:ext cx="336" cy="288"/>
                <a:chOff x="4612" y="2928"/>
                <a:chExt cx="432" cy="384"/>
              </a:xfrm>
            </p:grpSpPr>
            <p:sp>
              <p:nvSpPr>
                <p:cNvPr id="154" name="Oval 45"/>
                <p:cNvSpPr>
                  <a:spLocks noChangeArrowheads="1"/>
                </p:cNvSpPr>
                <p:nvPr/>
              </p:nvSpPr>
              <p:spPr bwMode="auto">
                <a:xfrm>
                  <a:off x="4804" y="312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sp>
              <p:nvSpPr>
                <p:cNvPr id="155" name="Line 46"/>
                <p:cNvSpPr>
                  <a:spLocks noChangeShapeType="1"/>
                </p:cNvSpPr>
                <p:nvPr/>
              </p:nvSpPr>
              <p:spPr bwMode="auto">
                <a:xfrm>
                  <a:off x="4852" y="3024"/>
                  <a:ext cx="0" cy="96"/>
                </a:xfrm>
                <a:prstGeom prst="line">
                  <a:avLst/>
                </a:prstGeom>
                <a:noFill/>
                <a:ln w="57150">
                  <a:solidFill>
                    <a:srgbClr val="007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 name="Line 47"/>
                <p:cNvSpPr>
                  <a:spLocks noChangeShapeType="1"/>
                </p:cNvSpPr>
                <p:nvPr/>
              </p:nvSpPr>
              <p:spPr bwMode="auto">
                <a:xfrm>
                  <a:off x="4660" y="321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 name="Line 48"/>
                <p:cNvSpPr>
                  <a:spLocks noChangeShapeType="1"/>
                </p:cNvSpPr>
                <p:nvPr/>
              </p:nvSpPr>
              <p:spPr bwMode="auto">
                <a:xfrm flipV="1">
                  <a:off x="4660"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8" name="Line 49"/>
                <p:cNvSpPr>
                  <a:spLocks noChangeShapeType="1"/>
                </p:cNvSpPr>
                <p:nvPr/>
              </p:nvSpPr>
              <p:spPr bwMode="auto">
                <a:xfrm flipV="1">
                  <a:off x="4708"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9" name="Line 50"/>
                <p:cNvSpPr>
                  <a:spLocks noChangeShapeType="1"/>
                </p:cNvSpPr>
                <p:nvPr/>
              </p:nvSpPr>
              <p:spPr bwMode="auto">
                <a:xfrm flipV="1">
                  <a:off x="4756"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 name="Line 51"/>
                <p:cNvSpPr>
                  <a:spLocks noChangeShapeType="1"/>
                </p:cNvSpPr>
                <p:nvPr/>
              </p:nvSpPr>
              <p:spPr bwMode="auto">
                <a:xfrm flipV="1">
                  <a:off x="4804"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 name="Line 52"/>
                <p:cNvSpPr>
                  <a:spLocks noChangeShapeType="1"/>
                </p:cNvSpPr>
                <p:nvPr/>
              </p:nvSpPr>
              <p:spPr bwMode="auto">
                <a:xfrm flipV="1">
                  <a:off x="4852"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 name="Line 53"/>
                <p:cNvSpPr>
                  <a:spLocks noChangeShapeType="1"/>
                </p:cNvSpPr>
                <p:nvPr/>
              </p:nvSpPr>
              <p:spPr bwMode="auto">
                <a:xfrm flipV="1">
                  <a:off x="4900"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 name="Line 54"/>
                <p:cNvSpPr>
                  <a:spLocks noChangeShapeType="1"/>
                </p:cNvSpPr>
                <p:nvPr/>
              </p:nvSpPr>
              <p:spPr bwMode="auto">
                <a:xfrm flipV="1">
                  <a:off x="4948"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 name="Line 55"/>
                <p:cNvSpPr>
                  <a:spLocks noChangeShapeType="1"/>
                </p:cNvSpPr>
                <p:nvPr/>
              </p:nvSpPr>
              <p:spPr bwMode="auto">
                <a:xfrm flipV="1">
                  <a:off x="4612"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5" name="Oval 56"/>
                <p:cNvSpPr>
                  <a:spLocks noChangeArrowheads="1"/>
                </p:cNvSpPr>
                <p:nvPr/>
              </p:nvSpPr>
              <p:spPr bwMode="auto">
                <a:xfrm>
                  <a:off x="4804" y="292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grpSp>
          <p:grpSp>
            <p:nvGrpSpPr>
              <p:cNvPr id="48" name="Group 57"/>
              <p:cNvGrpSpPr>
                <a:grpSpLocks/>
              </p:cNvGrpSpPr>
              <p:nvPr/>
            </p:nvGrpSpPr>
            <p:grpSpPr bwMode="auto">
              <a:xfrm rot="5400000">
                <a:off x="3864" y="1128"/>
                <a:ext cx="336" cy="288"/>
                <a:chOff x="4612" y="2928"/>
                <a:chExt cx="432" cy="384"/>
              </a:xfrm>
            </p:grpSpPr>
            <p:sp>
              <p:nvSpPr>
                <p:cNvPr id="142" name="Oval 58"/>
                <p:cNvSpPr>
                  <a:spLocks noChangeArrowheads="1"/>
                </p:cNvSpPr>
                <p:nvPr/>
              </p:nvSpPr>
              <p:spPr bwMode="auto">
                <a:xfrm>
                  <a:off x="4804" y="312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sp>
              <p:nvSpPr>
                <p:cNvPr id="143" name="Line 59"/>
                <p:cNvSpPr>
                  <a:spLocks noChangeShapeType="1"/>
                </p:cNvSpPr>
                <p:nvPr/>
              </p:nvSpPr>
              <p:spPr bwMode="auto">
                <a:xfrm>
                  <a:off x="4852" y="3024"/>
                  <a:ext cx="0" cy="96"/>
                </a:xfrm>
                <a:prstGeom prst="line">
                  <a:avLst/>
                </a:prstGeom>
                <a:noFill/>
                <a:ln w="57150">
                  <a:solidFill>
                    <a:srgbClr val="007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 name="Line 60"/>
                <p:cNvSpPr>
                  <a:spLocks noChangeShapeType="1"/>
                </p:cNvSpPr>
                <p:nvPr/>
              </p:nvSpPr>
              <p:spPr bwMode="auto">
                <a:xfrm>
                  <a:off x="4660" y="321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 name="Line 61"/>
                <p:cNvSpPr>
                  <a:spLocks noChangeShapeType="1"/>
                </p:cNvSpPr>
                <p:nvPr/>
              </p:nvSpPr>
              <p:spPr bwMode="auto">
                <a:xfrm flipV="1">
                  <a:off x="4660"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 name="Line 62"/>
                <p:cNvSpPr>
                  <a:spLocks noChangeShapeType="1"/>
                </p:cNvSpPr>
                <p:nvPr/>
              </p:nvSpPr>
              <p:spPr bwMode="auto">
                <a:xfrm flipV="1">
                  <a:off x="4708"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7" name="Line 63"/>
                <p:cNvSpPr>
                  <a:spLocks noChangeShapeType="1"/>
                </p:cNvSpPr>
                <p:nvPr/>
              </p:nvSpPr>
              <p:spPr bwMode="auto">
                <a:xfrm flipV="1">
                  <a:off x="4756"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 name="Line 64"/>
                <p:cNvSpPr>
                  <a:spLocks noChangeShapeType="1"/>
                </p:cNvSpPr>
                <p:nvPr/>
              </p:nvSpPr>
              <p:spPr bwMode="auto">
                <a:xfrm flipV="1">
                  <a:off x="4804"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 name="Line 65"/>
                <p:cNvSpPr>
                  <a:spLocks noChangeShapeType="1"/>
                </p:cNvSpPr>
                <p:nvPr/>
              </p:nvSpPr>
              <p:spPr bwMode="auto">
                <a:xfrm flipV="1">
                  <a:off x="4852"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 name="Line 66"/>
                <p:cNvSpPr>
                  <a:spLocks noChangeShapeType="1"/>
                </p:cNvSpPr>
                <p:nvPr/>
              </p:nvSpPr>
              <p:spPr bwMode="auto">
                <a:xfrm flipV="1">
                  <a:off x="4900"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 name="Line 67"/>
                <p:cNvSpPr>
                  <a:spLocks noChangeShapeType="1"/>
                </p:cNvSpPr>
                <p:nvPr/>
              </p:nvSpPr>
              <p:spPr bwMode="auto">
                <a:xfrm flipV="1">
                  <a:off x="4948"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 name="Line 68"/>
                <p:cNvSpPr>
                  <a:spLocks noChangeShapeType="1"/>
                </p:cNvSpPr>
                <p:nvPr/>
              </p:nvSpPr>
              <p:spPr bwMode="auto">
                <a:xfrm flipV="1">
                  <a:off x="4612"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 name="Oval 69"/>
                <p:cNvSpPr>
                  <a:spLocks noChangeArrowheads="1"/>
                </p:cNvSpPr>
                <p:nvPr/>
              </p:nvSpPr>
              <p:spPr bwMode="auto">
                <a:xfrm>
                  <a:off x="4804" y="292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grpSp>
          <p:grpSp>
            <p:nvGrpSpPr>
              <p:cNvPr id="49" name="Group 70"/>
              <p:cNvGrpSpPr>
                <a:grpSpLocks/>
              </p:cNvGrpSpPr>
              <p:nvPr/>
            </p:nvGrpSpPr>
            <p:grpSpPr bwMode="auto">
              <a:xfrm rot="5400000">
                <a:off x="4488" y="1128"/>
                <a:ext cx="336" cy="288"/>
                <a:chOff x="4612" y="2928"/>
                <a:chExt cx="432" cy="384"/>
              </a:xfrm>
            </p:grpSpPr>
            <p:sp>
              <p:nvSpPr>
                <p:cNvPr id="130" name="Oval 71"/>
                <p:cNvSpPr>
                  <a:spLocks noChangeArrowheads="1"/>
                </p:cNvSpPr>
                <p:nvPr/>
              </p:nvSpPr>
              <p:spPr bwMode="auto">
                <a:xfrm>
                  <a:off x="4804" y="312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sp>
              <p:nvSpPr>
                <p:cNvPr id="131" name="Line 72"/>
                <p:cNvSpPr>
                  <a:spLocks noChangeShapeType="1"/>
                </p:cNvSpPr>
                <p:nvPr/>
              </p:nvSpPr>
              <p:spPr bwMode="auto">
                <a:xfrm>
                  <a:off x="4852" y="3024"/>
                  <a:ext cx="0" cy="96"/>
                </a:xfrm>
                <a:prstGeom prst="line">
                  <a:avLst/>
                </a:prstGeom>
                <a:noFill/>
                <a:ln w="57150">
                  <a:solidFill>
                    <a:srgbClr val="007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 name="Line 73"/>
                <p:cNvSpPr>
                  <a:spLocks noChangeShapeType="1"/>
                </p:cNvSpPr>
                <p:nvPr/>
              </p:nvSpPr>
              <p:spPr bwMode="auto">
                <a:xfrm>
                  <a:off x="4660" y="321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 name="Line 74"/>
                <p:cNvSpPr>
                  <a:spLocks noChangeShapeType="1"/>
                </p:cNvSpPr>
                <p:nvPr/>
              </p:nvSpPr>
              <p:spPr bwMode="auto">
                <a:xfrm flipV="1">
                  <a:off x="4660"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 name="Line 75"/>
                <p:cNvSpPr>
                  <a:spLocks noChangeShapeType="1"/>
                </p:cNvSpPr>
                <p:nvPr/>
              </p:nvSpPr>
              <p:spPr bwMode="auto">
                <a:xfrm flipV="1">
                  <a:off x="4708"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 name="Line 76"/>
                <p:cNvSpPr>
                  <a:spLocks noChangeShapeType="1"/>
                </p:cNvSpPr>
                <p:nvPr/>
              </p:nvSpPr>
              <p:spPr bwMode="auto">
                <a:xfrm flipV="1">
                  <a:off x="4756"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6" name="Line 77"/>
                <p:cNvSpPr>
                  <a:spLocks noChangeShapeType="1"/>
                </p:cNvSpPr>
                <p:nvPr/>
              </p:nvSpPr>
              <p:spPr bwMode="auto">
                <a:xfrm flipV="1">
                  <a:off x="4804"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 name="Line 78"/>
                <p:cNvSpPr>
                  <a:spLocks noChangeShapeType="1"/>
                </p:cNvSpPr>
                <p:nvPr/>
              </p:nvSpPr>
              <p:spPr bwMode="auto">
                <a:xfrm flipV="1">
                  <a:off x="4852"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 name="Line 79"/>
                <p:cNvSpPr>
                  <a:spLocks noChangeShapeType="1"/>
                </p:cNvSpPr>
                <p:nvPr/>
              </p:nvSpPr>
              <p:spPr bwMode="auto">
                <a:xfrm flipV="1">
                  <a:off x="4900"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 name="Line 80"/>
                <p:cNvSpPr>
                  <a:spLocks noChangeShapeType="1"/>
                </p:cNvSpPr>
                <p:nvPr/>
              </p:nvSpPr>
              <p:spPr bwMode="auto">
                <a:xfrm flipV="1">
                  <a:off x="4948"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 name="Line 81"/>
                <p:cNvSpPr>
                  <a:spLocks noChangeShapeType="1"/>
                </p:cNvSpPr>
                <p:nvPr/>
              </p:nvSpPr>
              <p:spPr bwMode="auto">
                <a:xfrm flipV="1">
                  <a:off x="4612"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 name="Oval 82"/>
                <p:cNvSpPr>
                  <a:spLocks noChangeArrowheads="1"/>
                </p:cNvSpPr>
                <p:nvPr/>
              </p:nvSpPr>
              <p:spPr bwMode="auto">
                <a:xfrm>
                  <a:off x="4804" y="292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grpSp>
          <p:graphicFrame>
            <p:nvGraphicFramePr>
              <p:cNvPr id="50" name="Object 83"/>
              <p:cNvGraphicFramePr>
                <a:graphicFrameLocks noChangeAspect="1"/>
              </p:cNvGraphicFramePr>
              <p:nvPr/>
            </p:nvGraphicFramePr>
            <p:xfrm>
              <a:off x="4560" y="672"/>
              <a:ext cx="222" cy="282"/>
            </p:xfrm>
            <a:graphic>
              <a:graphicData uri="http://schemas.openxmlformats.org/presentationml/2006/ole">
                <mc:AlternateContent xmlns:mc="http://schemas.openxmlformats.org/markup-compatibility/2006">
                  <mc:Choice xmlns:v="urn:schemas-microsoft-com:vml" Requires="v">
                    <p:oleObj spid="_x0000_s61258" name="BMP 图象" r:id="rId4" imgW="352474" imgH="447856" progId="Paint.Picture">
                      <p:embed/>
                    </p:oleObj>
                  </mc:Choice>
                  <mc:Fallback>
                    <p:oleObj name="BMP 图象" r:id="rId4" imgW="352474" imgH="447856" progId="Paint.Picture">
                      <p:embed/>
                      <p:pic>
                        <p:nvPicPr>
                          <p:cNvPr id="0" name=""/>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560" y="672"/>
                            <a:ext cx="222"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1" name="Group 84"/>
              <p:cNvGrpSpPr>
                <a:grpSpLocks/>
              </p:cNvGrpSpPr>
              <p:nvPr/>
            </p:nvGrpSpPr>
            <p:grpSpPr bwMode="auto">
              <a:xfrm>
                <a:off x="3984" y="912"/>
                <a:ext cx="1584" cy="1008"/>
                <a:chOff x="528" y="1008"/>
                <a:chExt cx="1711" cy="1275"/>
              </a:xfrm>
            </p:grpSpPr>
            <p:sp>
              <p:nvSpPr>
                <p:cNvPr id="92" name="Line 85"/>
                <p:cNvSpPr>
                  <a:spLocks noChangeShapeType="1"/>
                </p:cNvSpPr>
                <p:nvPr/>
              </p:nvSpPr>
              <p:spPr bwMode="auto">
                <a:xfrm>
                  <a:off x="720" y="1488"/>
                  <a:ext cx="0" cy="72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Line 86"/>
                <p:cNvSpPr>
                  <a:spLocks noChangeShapeType="1"/>
                </p:cNvSpPr>
                <p:nvPr/>
              </p:nvSpPr>
              <p:spPr bwMode="auto">
                <a:xfrm flipV="1">
                  <a:off x="1392" y="1008"/>
                  <a:ext cx="672" cy="4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4" name="Group 87"/>
                <p:cNvGrpSpPr>
                  <a:grpSpLocks/>
                </p:cNvGrpSpPr>
                <p:nvPr/>
              </p:nvGrpSpPr>
              <p:grpSpPr bwMode="auto">
                <a:xfrm>
                  <a:off x="528" y="2208"/>
                  <a:ext cx="367" cy="75"/>
                  <a:chOff x="5136" y="2256"/>
                  <a:chExt cx="432" cy="96"/>
                </a:xfrm>
              </p:grpSpPr>
              <p:sp>
                <p:nvSpPr>
                  <p:cNvPr id="121" name="Line 88"/>
                  <p:cNvSpPr>
                    <a:spLocks noChangeShapeType="1"/>
                  </p:cNvSpPr>
                  <p:nvPr/>
                </p:nvSpPr>
                <p:spPr bwMode="auto">
                  <a:xfrm>
                    <a:off x="5184" y="225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 name="Line 89"/>
                  <p:cNvSpPr>
                    <a:spLocks noChangeShapeType="1"/>
                  </p:cNvSpPr>
                  <p:nvPr/>
                </p:nvSpPr>
                <p:spPr bwMode="auto">
                  <a:xfrm flipV="1">
                    <a:off x="518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 name="Line 90"/>
                  <p:cNvSpPr>
                    <a:spLocks noChangeShapeType="1"/>
                  </p:cNvSpPr>
                  <p:nvPr/>
                </p:nvSpPr>
                <p:spPr bwMode="auto">
                  <a:xfrm flipV="1">
                    <a:off x="523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 name="Line 91"/>
                  <p:cNvSpPr>
                    <a:spLocks noChangeShapeType="1"/>
                  </p:cNvSpPr>
                  <p:nvPr/>
                </p:nvSpPr>
                <p:spPr bwMode="auto">
                  <a:xfrm flipV="1">
                    <a:off x="5280"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5" name="Line 92"/>
                  <p:cNvSpPr>
                    <a:spLocks noChangeShapeType="1"/>
                  </p:cNvSpPr>
                  <p:nvPr/>
                </p:nvSpPr>
                <p:spPr bwMode="auto">
                  <a:xfrm flipV="1">
                    <a:off x="5328"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6" name="Line 93"/>
                  <p:cNvSpPr>
                    <a:spLocks noChangeShapeType="1"/>
                  </p:cNvSpPr>
                  <p:nvPr/>
                </p:nvSpPr>
                <p:spPr bwMode="auto">
                  <a:xfrm flipV="1">
                    <a:off x="537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7" name="Line 94"/>
                  <p:cNvSpPr>
                    <a:spLocks noChangeShapeType="1"/>
                  </p:cNvSpPr>
                  <p:nvPr/>
                </p:nvSpPr>
                <p:spPr bwMode="auto">
                  <a:xfrm flipV="1">
                    <a:off x="542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 name="Line 95"/>
                  <p:cNvSpPr>
                    <a:spLocks noChangeShapeType="1"/>
                  </p:cNvSpPr>
                  <p:nvPr/>
                </p:nvSpPr>
                <p:spPr bwMode="auto">
                  <a:xfrm flipV="1">
                    <a:off x="547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 name="Line 96"/>
                  <p:cNvSpPr>
                    <a:spLocks noChangeShapeType="1"/>
                  </p:cNvSpPr>
                  <p:nvPr/>
                </p:nvSpPr>
                <p:spPr bwMode="auto">
                  <a:xfrm flipV="1">
                    <a:off x="513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5" name="Group 97"/>
                <p:cNvGrpSpPr>
                  <a:grpSpLocks/>
                </p:cNvGrpSpPr>
                <p:nvPr/>
              </p:nvGrpSpPr>
              <p:grpSpPr bwMode="auto">
                <a:xfrm>
                  <a:off x="1217" y="2208"/>
                  <a:ext cx="367" cy="75"/>
                  <a:chOff x="5136" y="2256"/>
                  <a:chExt cx="432" cy="96"/>
                </a:xfrm>
              </p:grpSpPr>
              <p:sp>
                <p:nvSpPr>
                  <p:cNvPr id="112" name="Line 98"/>
                  <p:cNvSpPr>
                    <a:spLocks noChangeShapeType="1"/>
                  </p:cNvSpPr>
                  <p:nvPr/>
                </p:nvSpPr>
                <p:spPr bwMode="auto">
                  <a:xfrm>
                    <a:off x="5184" y="225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 name="Line 99"/>
                  <p:cNvSpPr>
                    <a:spLocks noChangeShapeType="1"/>
                  </p:cNvSpPr>
                  <p:nvPr/>
                </p:nvSpPr>
                <p:spPr bwMode="auto">
                  <a:xfrm flipV="1">
                    <a:off x="518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4" name="Line 100"/>
                  <p:cNvSpPr>
                    <a:spLocks noChangeShapeType="1"/>
                  </p:cNvSpPr>
                  <p:nvPr/>
                </p:nvSpPr>
                <p:spPr bwMode="auto">
                  <a:xfrm flipV="1">
                    <a:off x="523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 name="Line 101"/>
                  <p:cNvSpPr>
                    <a:spLocks noChangeShapeType="1"/>
                  </p:cNvSpPr>
                  <p:nvPr/>
                </p:nvSpPr>
                <p:spPr bwMode="auto">
                  <a:xfrm flipV="1">
                    <a:off x="5280"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 name="Line 102"/>
                  <p:cNvSpPr>
                    <a:spLocks noChangeShapeType="1"/>
                  </p:cNvSpPr>
                  <p:nvPr/>
                </p:nvSpPr>
                <p:spPr bwMode="auto">
                  <a:xfrm flipV="1">
                    <a:off x="5328"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7" name="Line 103"/>
                  <p:cNvSpPr>
                    <a:spLocks noChangeShapeType="1"/>
                  </p:cNvSpPr>
                  <p:nvPr/>
                </p:nvSpPr>
                <p:spPr bwMode="auto">
                  <a:xfrm flipV="1">
                    <a:off x="537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 name="Line 104"/>
                  <p:cNvSpPr>
                    <a:spLocks noChangeShapeType="1"/>
                  </p:cNvSpPr>
                  <p:nvPr/>
                </p:nvSpPr>
                <p:spPr bwMode="auto">
                  <a:xfrm flipV="1">
                    <a:off x="542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 name="Line 105"/>
                  <p:cNvSpPr>
                    <a:spLocks noChangeShapeType="1"/>
                  </p:cNvSpPr>
                  <p:nvPr/>
                </p:nvSpPr>
                <p:spPr bwMode="auto">
                  <a:xfrm flipV="1">
                    <a:off x="547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 name="Line 106"/>
                  <p:cNvSpPr>
                    <a:spLocks noChangeShapeType="1"/>
                  </p:cNvSpPr>
                  <p:nvPr/>
                </p:nvSpPr>
                <p:spPr bwMode="auto">
                  <a:xfrm flipV="1">
                    <a:off x="513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6" name="Line 107"/>
                <p:cNvSpPr>
                  <a:spLocks noChangeShapeType="1"/>
                </p:cNvSpPr>
                <p:nvPr/>
              </p:nvSpPr>
              <p:spPr bwMode="auto">
                <a:xfrm>
                  <a:off x="2064" y="1008"/>
                  <a:ext cx="0" cy="1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7" name="Group 108"/>
                <p:cNvGrpSpPr>
                  <a:grpSpLocks/>
                </p:cNvGrpSpPr>
                <p:nvPr/>
              </p:nvGrpSpPr>
              <p:grpSpPr bwMode="auto">
                <a:xfrm>
                  <a:off x="1872" y="2208"/>
                  <a:ext cx="367" cy="75"/>
                  <a:chOff x="5136" y="2256"/>
                  <a:chExt cx="432" cy="96"/>
                </a:xfrm>
              </p:grpSpPr>
              <p:sp>
                <p:nvSpPr>
                  <p:cNvPr id="103" name="Line 109"/>
                  <p:cNvSpPr>
                    <a:spLocks noChangeShapeType="1"/>
                  </p:cNvSpPr>
                  <p:nvPr/>
                </p:nvSpPr>
                <p:spPr bwMode="auto">
                  <a:xfrm>
                    <a:off x="5184" y="225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 name="Line 110"/>
                  <p:cNvSpPr>
                    <a:spLocks noChangeShapeType="1"/>
                  </p:cNvSpPr>
                  <p:nvPr/>
                </p:nvSpPr>
                <p:spPr bwMode="auto">
                  <a:xfrm flipV="1">
                    <a:off x="518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 name="Line 111"/>
                  <p:cNvSpPr>
                    <a:spLocks noChangeShapeType="1"/>
                  </p:cNvSpPr>
                  <p:nvPr/>
                </p:nvSpPr>
                <p:spPr bwMode="auto">
                  <a:xfrm flipV="1">
                    <a:off x="523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 name="Line 112"/>
                  <p:cNvSpPr>
                    <a:spLocks noChangeShapeType="1"/>
                  </p:cNvSpPr>
                  <p:nvPr/>
                </p:nvSpPr>
                <p:spPr bwMode="auto">
                  <a:xfrm flipV="1">
                    <a:off x="5280"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 name="Line 113"/>
                  <p:cNvSpPr>
                    <a:spLocks noChangeShapeType="1"/>
                  </p:cNvSpPr>
                  <p:nvPr/>
                </p:nvSpPr>
                <p:spPr bwMode="auto">
                  <a:xfrm flipV="1">
                    <a:off x="5328"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 name="Line 114"/>
                  <p:cNvSpPr>
                    <a:spLocks noChangeShapeType="1"/>
                  </p:cNvSpPr>
                  <p:nvPr/>
                </p:nvSpPr>
                <p:spPr bwMode="auto">
                  <a:xfrm flipV="1">
                    <a:off x="537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 name="Line 115"/>
                  <p:cNvSpPr>
                    <a:spLocks noChangeShapeType="1"/>
                  </p:cNvSpPr>
                  <p:nvPr/>
                </p:nvSpPr>
                <p:spPr bwMode="auto">
                  <a:xfrm flipV="1">
                    <a:off x="542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 name="Line 116"/>
                  <p:cNvSpPr>
                    <a:spLocks noChangeShapeType="1"/>
                  </p:cNvSpPr>
                  <p:nvPr/>
                </p:nvSpPr>
                <p:spPr bwMode="auto">
                  <a:xfrm flipV="1">
                    <a:off x="547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 name="Line 117"/>
                  <p:cNvSpPr>
                    <a:spLocks noChangeShapeType="1"/>
                  </p:cNvSpPr>
                  <p:nvPr/>
                </p:nvSpPr>
                <p:spPr bwMode="auto">
                  <a:xfrm flipV="1">
                    <a:off x="513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8" name="Line 118"/>
                <p:cNvSpPr>
                  <a:spLocks noChangeShapeType="1"/>
                </p:cNvSpPr>
                <p:nvPr/>
              </p:nvSpPr>
              <p:spPr bwMode="auto">
                <a:xfrm>
                  <a:off x="1392" y="1008"/>
                  <a:ext cx="0" cy="1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Line 119"/>
                <p:cNvSpPr>
                  <a:spLocks noChangeShapeType="1"/>
                </p:cNvSpPr>
                <p:nvPr/>
              </p:nvSpPr>
              <p:spPr bwMode="auto">
                <a:xfrm flipV="1">
                  <a:off x="720" y="1008"/>
                  <a:ext cx="672" cy="4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Oval 120"/>
                <p:cNvSpPr>
                  <a:spLocks noChangeArrowheads="1"/>
                </p:cNvSpPr>
                <p:nvPr/>
              </p:nvSpPr>
              <p:spPr bwMode="auto">
                <a:xfrm>
                  <a:off x="672" y="144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sp>
              <p:nvSpPr>
                <p:cNvPr id="101" name="Oval 121"/>
                <p:cNvSpPr>
                  <a:spLocks noChangeArrowheads="1"/>
                </p:cNvSpPr>
                <p:nvPr/>
              </p:nvSpPr>
              <p:spPr bwMode="auto">
                <a:xfrm>
                  <a:off x="1344" y="144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sp>
              <p:nvSpPr>
                <p:cNvPr id="102" name="Oval 122"/>
                <p:cNvSpPr>
                  <a:spLocks noChangeArrowheads="1"/>
                </p:cNvSpPr>
                <p:nvPr/>
              </p:nvSpPr>
              <p:spPr bwMode="auto">
                <a:xfrm>
                  <a:off x="2016" y="144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grpSp>
          <p:grpSp>
            <p:nvGrpSpPr>
              <p:cNvPr id="52" name="Group 123"/>
              <p:cNvGrpSpPr>
                <a:grpSpLocks/>
              </p:cNvGrpSpPr>
              <p:nvPr/>
            </p:nvGrpSpPr>
            <p:grpSpPr bwMode="auto">
              <a:xfrm>
                <a:off x="3984" y="912"/>
                <a:ext cx="1584" cy="1008"/>
                <a:chOff x="528" y="1008"/>
                <a:chExt cx="1711" cy="1275"/>
              </a:xfrm>
            </p:grpSpPr>
            <p:sp>
              <p:nvSpPr>
                <p:cNvPr id="54" name="Line 124"/>
                <p:cNvSpPr>
                  <a:spLocks noChangeShapeType="1"/>
                </p:cNvSpPr>
                <p:nvPr/>
              </p:nvSpPr>
              <p:spPr bwMode="auto">
                <a:xfrm>
                  <a:off x="720" y="1488"/>
                  <a:ext cx="0" cy="72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125"/>
                <p:cNvSpPr>
                  <a:spLocks noChangeShapeType="1"/>
                </p:cNvSpPr>
                <p:nvPr/>
              </p:nvSpPr>
              <p:spPr bwMode="auto">
                <a:xfrm flipV="1">
                  <a:off x="1392" y="1008"/>
                  <a:ext cx="672" cy="4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6" name="Group 126"/>
                <p:cNvGrpSpPr>
                  <a:grpSpLocks/>
                </p:cNvGrpSpPr>
                <p:nvPr/>
              </p:nvGrpSpPr>
              <p:grpSpPr bwMode="auto">
                <a:xfrm>
                  <a:off x="528" y="2208"/>
                  <a:ext cx="367" cy="75"/>
                  <a:chOff x="5136" y="2256"/>
                  <a:chExt cx="432" cy="96"/>
                </a:xfrm>
              </p:grpSpPr>
              <p:sp>
                <p:nvSpPr>
                  <p:cNvPr id="83" name="Line 127"/>
                  <p:cNvSpPr>
                    <a:spLocks noChangeShapeType="1"/>
                  </p:cNvSpPr>
                  <p:nvPr/>
                </p:nvSpPr>
                <p:spPr bwMode="auto">
                  <a:xfrm>
                    <a:off x="5184" y="225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Line 128"/>
                  <p:cNvSpPr>
                    <a:spLocks noChangeShapeType="1"/>
                  </p:cNvSpPr>
                  <p:nvPr/>
                </p:nvSpPr>
                <p:spPr bwMode="auto">
                  <a:xfrm flipV="1">
                    <a:off x="518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Line 129"/>
                  <p:cNvSpPr>
                    <a:spLocks noChangeShapeType="1"/>
                  </p:cNvSpPr>
                  <p:nvPr/>
                </p:nvSpPr>
                <p:spPr bwMode="auto">
                  <a:xfrm flipV="1">
                    <a:off x="523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Line 130"/>
                  <p:cNvSpPr>
                    <a:spLocks noChangeShapeType="1"/>
                  </p:cNvSpPr>
                  <p:nvPr/>
                </p:nvSpPr>
                <p:spPr bwMode="auto">
                  <a:xfrm flipV="1">
                    <a:off x="5280"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Line 131"/>
                  <p:cNvSpPr>
                    <a:spLocks noChangeShapeType="1"/>
                  </p:cNvSpPr>
                  <p:nvPr/>
                </p:nvSpPr>
                <p:spPr bwMode="auto">
                  <a:xfrm flipV="1">
                    <a:off x="5328"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Line 132"/>
                  <p:cNvSpPr>
                    <a:spLocks noChangeShapeType="1"/>
                  </p:cNvSpPr>
                  <p:nvPr/>
                </p:nvSpPr>
                <p:spPr bwMode="auto">
                  <a:xfrm flipV="1">
                    <a:off x="537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Line 133"/>
                  <p:cNvSpPr>
                    <a:spLocks noChangeShapeType="1"/>
                  </p:cNvSpPr>
                  <p:nvPr/>
                </p:nvSpPr>
                <p:spPr bwMode="auto">
                  <a:xfrm flipV="1">
                    <a:off x="542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Line 134"/>
                  <p:cNvSpPr>
                    <a:spLocks noChangeShapeType="1"/>
                  </p:cNvSpPr>
                  <p:nvPr/>
                </p:nvSpPr>
                <p:spPr bwMode="auto">
                  <a:xfrm flipV="1">
                    <a:off x="547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Line 135"/>
                  <p:cNvSpPr>
                    <a:spLocks noChangeShapeType="1"/>
                  </p:cNvSpPr>
                  <p:nvPr/>
                </p:nvSpPr>
                <p:spPr bwMode="auto">
                  <a:xfrm flipV="1">
                    <a:off x="513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7" name="Group 136"/>
                <p:cNvGrpSpPr>
                  <a:grpSpLocks/>
                </p:cNvGrpSpPr>
                <p:nvPr/>
              </p:nvGrpSpPr>
              <p:grpSpPr bwMode="auto">
                <a:xfrm>
                  <a:off x="1217" y="2208"/>
                  <a:ext cx="367" cy="75"/>
                  <a:chOff x="5136" y="2256"/>
                  <a:chExt cx="432" cy="96"/>
                </a:xfrm>
              </p:grpSpPr>
              <p:sp>
                <p:nvSpPr>
                  <p:cNvPr id="74" name="Line 137"/>
                  <p:cNvSpPr>
                    <a:spLocks noChangeShapeType="1"/>
                  </p:cNvSpPr>
                  <p:nvPr/>
                </p:nvSpPr>
                <p:spPr bwMode="auto">
                  <a:xfrm>
                    <a:off x="5184" y="225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Line 138"/>
                  <p:cNvSpPr>
                    <a:spLocks noChangeShapeType="1"/>
                  </p:cNvSpPr>
                  <p:nvPr/>
                </p:nvSpPr>
                <p:spPr bwMode="auto">
                  <a:xfrm flipV="1">
                    <a:off x="518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Line 139"/>
                  <p:cNvSpPr>
                    <a:spLocks noChangeShapeType="1"/>
                  </p:cNvSpPr>
                  <p:nvPr/>
                </p:nvSpPr>
                <p:spPr bwMode="auto">
                  <a:xfrm flipV="1">
                    <a:off x="523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140"/>
                  <p:cNvSpPr>
                    <a:spLocks noChangeShapeType="1"/>
                  </p:cNvSpPr>
                  <p:nvPr/>
                </p:nvSpPr>
                <p:spPr bwMode="auto">
                  <a:xfrm flipV="1">
                    <a:off x="5280"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141"/>
                  <p:cNvSpPr>
                    <a:spLocks noChangeShapeType="1"/>
                  </p:cNvSpPr>
                  <p:nvPr/>
                </p:nvSpPr>
                <p:spPr bwMode="auto">
                  <a:xfrm flipV="1">
                    <a:off x="5328"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142"/>
                  <p:cNvSpPr>
                    <a:spLocks noChangeShapeType="1"/>
                  </p:cNvSpPr>
                  <p:nvPr/>
                </p:nvSpPr>
                <p:spPr bwMode="auto">
                  <a:xfrm flipV="1">
                    <a:off x="537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143"/>
                  <p:cNvSpPr>
                    <a:spLocks noChangeShapeType="1"/>
                  </p:cNvSpPr>
                  <p:nvPr/>
                </p:nvSpPr>
                <p:spPr bwMode="auto">
                  <a:xfrm flipV="1">
                    <a:off x="542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144"/>
                  <p:cNvSpPr>
                    <a:spLocks noChangeShapeType="1"/>
                  </p:cNvSpPr>
                  <p:nvPr/>
                </p:nvSpPr>
                <p:spPr bwMode="auto">
                  <a:xfrm flipV="1">
                    <a:off x="547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Line 145"/>
                  <p:cNvSpPr>
                    <a:spLocks noChangeShapeType="1"/>
                  </p:cNvSpPr>
                  <p:nvPr/>
                </p:nvSpPr>
                <p:spPr bwMode="auto">
                  <a:xfrm flipV="1">
                    <a:off x="513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8" name="Line 146"/>
                <p:cNvSpPr>
                  <a:spLocks noChangeShapeType="1"/>
                </p:cNvSpPr>
                <p:nvPr/>
              </p:nvSpPr>
              <p:spPr bwMode="auto">
                <a:xfrm>
                  <a:off x="2064" y="1008"/>
                  <a:ext cx="0" cy="1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9" name="Group 147"/>
                <p:cNvGrpSpPr>
                  <a:grpSpLocks/>
                </p:cNvGrpSpPr>
                <p:nvPr/>
              </p:nvGrpSpPr>
              <p:grpSpPr bwMode="auto">
                <a:xfrm>
                  <a:off x="1872" y="2208"/>
                  <a:ext cx="367" cy="75"/>
                  <a:chOff x="5136" y="2256"/>
                  <a:chExt cx="432" cy="96"/>
                </a:xfrm>
              </p:grpSpPr>
              <p:sp>
                <p:nvSpPr>
                  <p:cNvPr id="65" name="Line 148"/>
                  <p:cNvSpPr>
                    <a:spLocks noChangeShapeType="1"/>
                  </p:cNvSpPr>
                  <p:nvPr/>
                </p:nvSpPr>
                <p:spPr bwMode="auto">
                  <a:xfrm>
                    <a:off x="5184" y="225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Line 149"/>
                  <p:cNvSpPr>
                    <a:spLocks noChangeShapeType="1"/>
                  </p:cNvSpPr>
                  <p:nvPr/>
                </p:nvSpPr>
                <p:spPr bwMode="auto">
                  <a:xfrm flipV="1">
                    <a:off x="518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150"/>
                  <p:cNvSpPr>
                    <a:spLocks noChangeShapeType="1"/>
                  </p:cNvSpPr>
                  <p:nvPr/>
                </p:nvSpPr>
                <p:spPr bwMode="auto">
                  <a:xfrm flipV="1">
                    <a:off x="523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151"/>
                  <p:cNvSpPr>
                    <a:spLocks noChangeShapeType="1"/>
                  </p:cNvSpPr>
                  <p:nvPr/>
                </p:nvSpPr>
                <p:spPr bwMode="auto">
                  <a:xfrm flipV="1">
                    <a:off x="5280"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152"/>
                  <p:cNvSpPr>
                    <a:spLocks noChangeShapeType="1"/>
                  </p:cNvSpPr>
                  <p:nvPr/>
                </p:nvSpPr>
                <p:spPr bwMode="auto">
                  <a:xfrm flipV="1">
                    <a:off x="5328"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153"/>
                  <p:cNvSpPr>
                    <a:spLocks noChangeShapeType="1"/>
                  </p:cNvSpPr>
                  <p:nvPr/>
                </p:nvSpPr>
                <p:spPr bwMode="auto">
                  <a:xfrm flipV="1">
                    <a:off x="537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Line 154"/>
                  <p:cNvSpPr>
                    <a:spLocks noChangeShapeType="1"/>
                  </p:cNvSpPr>
                  <p:nvPr/>
                </p:nvSpPr>
                <p:spPr bwMode="auto">
                  <a:xfrm flipV="1">
                    <a:off x="542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Line 155"/>
                  <p:cNvSpPr>
                    <a:spLocks noChangeShapeType="1"/>
                  </p:cNvSpPr>
                  <p:nvPr/>
                </p:nvSpPr>
                <p:spPr bwMode="auto">
                  <a:xfrm flipV="1">
                    <a:off x="547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Line 156"/>
                  <p:cNvSpPr>
                    <a:spLocks noChangeShapeType="1"/>
                  </p:cNvSpPr>
                  <p:nvPr/>
                </p:nvSpPr>
                <p:spPr bwMode="auto">
                  <a:xfrm flipV="1">
                    <a:off x="513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0" name="Line 157"/>
                <p:cNvSpPr>
                  <a:spLocks noChangeShapeType="1"/>
                </p:cNvSpPr>
                <p:nvPr/>
              </p:nvSpPr>
              <p:spPr bwMode="auto">
                <a:xfrm>
                  <a:off x="1392" y="1008"/>
                  <a:ext cx="0" cy="1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158"/>
                <p:cNvSpPr>
                  <a:spLocks noChangeShapeType="1"/>
                </p:cNvSpPr>
                <p:nvPr/>
              </p:nvSpPr>
              <p:spPr bwMode="auto">
                <a:xfrm flipV="1">
                  <a:off x="720" y="1008"/>
                  <a:ext cx="672" cy="4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Oval 159"/>
                <p:cNvSpPr>
                  <a:spLocks noChangeArrowheads="1"/>
                </p:cNvSpPr>
                <p:nvPr/>
              </p:nvSpPr>
              <p:spPr bwMode="auto">
                <a:xfrm>
                  <a:off x="672" y="144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sp>
              <p:nvSpPr>
                <p:cNvPr id="63" name="Oval 160"/>
                <p:cNvSpPr>
                  <a:spLocks noChangeArrowheads="1"/>
                </p:cNvSpPr>
                <p:nvPr/>
              </p:nvSpPr>
              <p:spPr bwMode="auto">
                <a:xfrm>
                  <a:off x="1344" y="144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sp>
              <p:nvSpPr>
                <p:cNvPr id="64" name="Oval 161"/>
                <p:cNvSpPr>
                  <a:spLocks noChangeArrowheads="1"/>
                </p:cNvSpPr>
                <p:nvPr/>
              </p:nvSpPr>
              <p:spPr bwMode="auto">
                <a:xfrm>
                  <a:off x="2016" y="144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grpSp>
          <p:graphicFrame>
            <p:nvGraphicFramePr>
              <p:cNvPr id="53" name="Object 162"/>
              <p:cNvGraphicFramePr>
                <a:graphicFrameLocks noChangeAspect="1"/>
              </p:cNvGraphicFramePr>
              <p:nvPr/>
            </p:nvGraphicFramePr>
            <p:xfrm>
              <a:off x="5202" y="678"/>
              <a:ext cx="222" cy="282"/>
            </p:xfrm>
            <a:graphic>
              <a:graphicData uri="http://schemas.openxmlformats.org/presentationml/2006/ole">
                <mc:AlternateContent xmlns:mc="http://schemas.openxmlformats.org/markup-compatibility/2006">
                  <mc:Choice xmlns:v="urn:schemas-microsoft-com:vml" Requires="v">
                    <p:oleObj spid="_x0000_s61259" name="BMP 图象" r:id="rId6" imgW="352474" imgH="447856" progId="Paint.Picture">
                      <p:embed/>
                    </p:oleObj>
                  </mc:Choice>
                  <mc:Fallback>
                    <p:oleObj name="BMP 图象" r:id="rId6" imgW="352474" imgH="447856" progId="Paint.Picture">
                      <p:embed/>
                      <p:pic>
                        <p:nvPicPr>
                          <p:cNvPr id="0" name=""/>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202" y="678"/>
                            <a:ext cx="222"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166" name="Group 163"/>
          <p:cNvGrpSpPr>
            <a:grpSpLocks/>
          </p:cNvGrpSpPr>
          <p:nvPr/>
        </p:nvGrpSpPr>
        <p:grpSpPr bwMode="auto">
          <a:xfrm>
            <a:off x="1457233" y="4156075"/>
            <a:ext cx="2667000" cy="1846263"/>
            <a:chOff x="2448" y="2544"/>
            <a:chExt cx="1680" cy="1163"/>
          </a:xfrm>
        </p:grpSpPr>
        <p:sp>
          <p:nvSpPr>
            <p:cNvPr id="167" name="Line 164"/>
            <p:cNvSpPr>
              <a:spLocks noChangeShapeType="1"/>
            </p:cNvSpPr>
            <p:nvPr/>
          </p:nvSpPr>
          <p:spPr bwMode="auto">
            <a:xfrm>
              <a:off x="2640" y="3163"/>
              <a:ext cx="1152" cy="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8" name="Group 165"/>
            <p:cNvGrpSpPr>
              <a:grpSpLocks/>
            </p:cNvGrpSpPr>
            <p:nvPr/>
          </p:nvGrpSpPr>
          <p:grpSpPr bwMode="auto">
            <a:xfrm>
              <a:off x="3024" y="3648"/>
              <a:ext cx="340" cy="59"/>
              <a:chOff x="5136" y="2256"/>
              <a:chExt cx="432" cy="96"/>
            </a:xfrm>
          </p:grpSpPr>
          <p:sp>
            <p:nvSpPr>
              <p:cNvPr id="211" name="Line 166"/>
              <p:cNvSpPr>
                <a:spLocks noChangeShapeType="1"/>
              </p:cNvSpPr>
              <p:nvPr/>
            </p:nvSpPr>
            <p:spPr bwMode="auto">
              <a:xfrm>
                <a:off x="5184" y="225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 name="Line 167"/>
              <p:cNvSpPr>
                <a:spLocks noChangeShapeType="1"/>
              </p:cNvSpPr>
              <p:nvPr/>
            </p:nvSpPr>
            <p:spPr bwMode="auto">
              <a:xfrm flipV="1">
                <a:off x="518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3" name="Line 168"/>
              <p:cNvSpPr>
                <a:spLocks noChangeShapeType="1"/>
              </p:cNvSpPr>
              <p:nvPr/>
            </p:nvSpPr>
            <p:spPr bwMode="auto">
              <a:xfrm flipV="1">
                <a:off x="523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4" name="Line 169"/>
              <p:cNvSpPr>
                <a:spLocks noChangeShapeType="1"/>
              </p:cNvSpPr>
              <p:nvPr/>
            </p:nvSpPr>
            <p:spPr bwMode="auto">
              <a:xfrm flipV="1">
                <a:off x="5280"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 name="Line 170"/>
              <p:cNvSpPr>
                <a:spLocks noChangeShapeType="1"/>
              </p:cNvSpPr>
              <p:nvPr/>
            </p:nvSpPr>
            <p:spPr bwMode="auto">
              <a:xfrm flipV="1">
                <a:off x="5328"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 name="Line 171"/>
              <p:cNvSpPr>
                <a:spLocks noChangeShapeType="1"/>
              </p:cNvSpPr>
              <p:nvPr/>
            </p:nvSpPr>
            <p:spPr bwMode="auto">
              <a:xfrm flipV="1">
                <a:off x="537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7" name="Line 172"/>
              <p:cNvSpPr>
                <a:spLocks noChangeShapeType="1"/>
              </p:cNvSpPr>
              <p:nvPr/>
            </p:nvSpPr>
            <p:spPr bwMode="auto">
              <a:xfrm flipV="1">
                <a:off x="542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 name="Line 173"/>
              <p:cNvSpPr>
                <a:spLocks noChangeShapeType="1"/>
              </p:cNvSpPr>
              <p:nvPr/>
            </p:nvSpPr>
            <p:spPr bwMode="auto">
              <a:xfrm flipV="1">
                <a:off x="547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9" name="Line 174"/>
              <p:cNvSpPr>
                <a:spLocks noChangeShapeType="1"/>
              </p:cNvSpPr>
              <p:nvPr/>
            </p:nvSpPr>
            <p:spPr bwMode="auto">
              <a:xfrm flipV="1">
                <a:off x="513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69" name="Line 175"/>
            <p:cNvSpPr>
              <a:spLocks noChangeShapeType="1"/>
            </p:cNvSpPr>
            <p:nvPr/>
          </p:nvSpPr>
          <p:spPr bwMode="auto">
            <a:xfrm>
              <a:off x="3216" y="2688"/>
              <a:ext cx="0" cy="94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0" name="Group 176"/>
            <p:cNvGrpSpPr>
              <a:grpSpLocks/>
            </p:cNvGrpSpPr>
            <p:nvPr/>
          </p:nvGrpSpPr>
          <p:grpSpPr bwMode="auto">
            <a:xfrm>
              <a:off x="2448" y="3648"/>
              <a:ext cx="340" cy="59"/>
              <a:chOff x="5136" y="2256"/>
              <a:chExt cx="432" cy="96"/>
            </a:xfrm>
          </p:grpSpPr>
          <p:sp>
            <p:nvSpPr>
              <p:cNvPr id="202" name="Line 177"/>
              <p:cNvSpPr>
                <a:spLocks noChangeShapeType="1"/>
              </p:cNvSpPr>
              <p:nvPr/>
            </p:nvSpPr>
            <p:spPr bwMode="auto">
              <a:xfrm>
                <a:off x="5184" y="225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3" name="Line 178"/>
              <p:cNvSpPr>
                <a:spLocks noChangeShapeType="1"/>
              </p:cNvSpPr>
              <p:nvPr/>
            </p:nvSpPr>
            <p:spPr bwMode="auto">
              <a:xfrm flipV="1">
                <a:off x="518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 name="Line 179"/>
              <p:cNvSpPr>
                <a:spLocks noChangeShapeType="1"/>
              </p:cNvSpPr>
              <p:nvPr/>
            </p:nvSpPr>
            <p:spPr bwMode="auto">
              <a:xfrm flipV="1">
                <a:off x="523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 name="Line 180"/>
              <p:cNvSpPr>
                <a:spLocks noChangeShapeType="1"/>
              </p:cNvSpPr>
              <p:nvPr/>
            </p:nvSpPr>
            <p:spPr bwMode="auto">
              <a:xfrm flipV="1">
                <a:off x="5280"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6" name="Line 181"/>
              <p:cNvSpPr>
                <a:spLocks noChangeShapeType="1"/>
              </p:cNvSpPr>
              <p:nvPr/>
            </p:nvSpPr>
            <p:spPr bwMode="auto">
              <a:xfrm flipV="1">
                <a:off x="5328"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 name="Line 182"/>
              <p:cNvSpPr>
                <a:spLocks noChangeShapeType="1"/>
              </p:cNvSpPr>
              <p:nvPr/>
            </p:nvSpPr>
            <p:spPr bwMode="auto">
              <a:xfrm flipV="1">
                <a:off x="537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 name="Line 183"/>
              <p:cNvSpPr>
                <a:spLocks noChangeShapeType="1"/>
              </p:cNvSpPr>
              <p:nvPr/>
            </p:nvSpPr>
            <p:spPr bwMode="auto">
              <a:xfrm flipV="1">
                <a:off x="542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 name="Line 184"/>
              <p:cNvSpPr>
                <a:spLocks noChangeShapeType="1"/>
              </p:cNvSpPr>
              <p:nvPr/>
            </p:nvSpPr>
            <p:spPr bwMode="auto">
              <a:xfrm flipV="1">
                <a:off x="547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 name="Line 185"/>
              <p:cNvSpPr>
                <a:spLocks noChangeShapeType="1"/>
              </p:cNvSpPr>
              <p:nvPr/>
            </p:nvSpPr>
            <p:spPr bwMode="auto">
              <a:xfrm flipV="1">
                <a:off x="513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1" name="Line 186"/>
            <p:cNvSpPr>
              <a:spLocks noChangeShapeType="1"/>
            </p:cNvSpPr>
            <p:nvPr/>
          </p:nvSpPr>
          <p:spPr bwMode="auto">
            <a:xfrm>
              <a:off x="3216" y="2688"/>
              <a:ext cx="59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 name="Line 187"/>
            <p:cNvSpPr>
              <a:spLocks noChangeShapeType="1"/>
            </p:cNvSpPr>
            <p:nvPr/>
          </p:nvSpPr>
          <p:spPr bwMode="auto">
            <a:xfrm>
              <a:off x="2640" y="3168"/>
              <a:ext cx="0" cy="4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3" name="Oval 188"/>
            <p:cNvSpPr>
              <a:spLocks noChangeArrowheads="1"/>
            </p:cNvSpPr>
            <p:nvPr/>
          </p:nvSpPr>
          <p:spPr bwMode="auto">
            <a:xfrm>
              <a:off x="3168" y="3600"/>
              <a:ext cx="89" cy="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sp>
          <p:nvSpPr>
            <p:cNvPr id="174" name="Oval 189"/>
            <p:cNvSpPr>
              <a:spLocks noChangeArrowheads="1"/>
            </p:cNvSpPr>
            <p:nvPr/>
          </p:nvSpPr>
          <p:spPr bwMode="auto">
            <a:xfrm>
              <a:off x="2592" y="3600"/>
              <a:ext cx="88" cy="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grpSp>
          <p:nvGrpSpPr>
            <p:cNvPr id="175" name="Group 190"/>
            <p:cNvGrpSpPr>
              <a:grpSpLocks/>
            </p:cNvGrpSpPr>
            <p:nvPr/>
          </p:nvGrpSpPr>
          <p:grpSpPr bwMode="auto">
            <a:xfrm rot="10782844">
              <a:off x="3808" y="3016"/>
              <a:ext cx="320" cy="344"/>
              <a:chOff x="3616" y="3640"/>
              <a:chExt cx="384" cy="488"/>
            </a:xfrm>
          </p:grpSpPr>
          <p:sp>
            <p:nvSpPr>
              <p:cNvPr id="189" name="Oval 191"/>
              <p:cNvSpPr>
                <a:spLocks noChangeArrowheads="1"/>
              </p:cNvSpPr>
              <p:nvPr/>
            </p:nvSpPr>
            <p:spPr bwMode="auto">
              <a:xfrm rot="5400000">
                <a:off x="3897" y="3947"/>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sp>
            <p:nvSpPr>
              <p:cNvPr id="190" name="Oval 192"/>
              <p:cNvSpPr>
                <a:spLocks noChangeArrowheads="1"/>
              </p:cNvSpPr>
              <p:nvPr/>
            </p:nvSpPr>
            <p:spPr bwMode="auto">
              <a:xfrm>
                <a:off x="3711" y="376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sp>
            <p:nvSpPr>
              <p:cNvPr id="191" name="Line 193"/>
              <p:cNvSpPr>
                <a:spLocks noChangeShapeType="1"/>
              </p:cNvSpPr>
              <p:nvPr/>
            </p:nvSpPr>
            <p:spPr bwMode="auto">
              <a:xfrm>
                <a:off x="3796" y="3816"/>
                <a:ext cx="96" cy="0"/>
              </a:xfrm>
              <a:prstGeom prst="line">
                <a:avLst/>
              </a:prstGeom>
              <a:noFill/>
              <a:ln w="57150">
                <a:solidFill>
                  <a:srgbClr val="007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2" name="Line 194"/>
              <p:cNvSpPr>
                <a:spLocks noChangeShapeType="1"/>
              </p:cNvSpPr>
              <p:nvPr/>
            </p:nvSpPr>
            <p:spPr bwMode="auto">
              <a:xfrm rot="5400000">
                <a:off x="3848" y="3936"/>
                <a:ext cx="0" cy="96"/>
              </a:xfrm>
              <a:prstGeom prst="line">
                <a:avLst/>
              </a:prstGeom>
              <a:noFill/>
              <a:ln w="57150">
                <a:solidFill>
                  <a:srgbClr val="007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3" name="Oval 195"/>
              <p:cNvSpPr>
                <a:spLocks noChangeArrowheads="1"/>
              </p:cNvSpPr>
              <p:nvPr/>
            </p:nvSpPr>
            <p:spPr bwMode="auto">
              <a:xfrm>
                <a:off x="3892" y="376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sp>
            <p:nvSpPr>
              <p:cNvPr id="194" name="Oval 196"/>
              <p:cNvSpPr>
                <a:spLocks noChangeArrowheads="1"/>
              </p:cNvSpPr>
              <p:nvPr/>
            </p:nvSpPr>
            <p:spPr bwMode="auto">
              <a:xfrm rot="5400000">
                <a:off x="3701" y="3936"/>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sp>
            <p:nvSpPr>
              <p:cNvPr id="195" name="Line 197"/>
              <p:cNvSpPr>
                <a:spLocks noChangeShapeType="1"/>
              </p:cNvSpPr>
              <p:nvPr/>
            </p:nvSpPr>
            <p:spPr bwMode="auto">
              <a:xfrm>
                <a:off x="4000" y="3755"/>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6" name="Line 198"/>
              <p:cNvSpPr>
                <a:spLocks noChangeShapeType="1"/>
              </p:cNvSpPr>
              <p:nvPr/>
            </p:nvSpPr>
            <p:spPr bwMode="auto">
              <a:xfrm>
                <a:off x="3712" y="3648"/>
                <a:ext cx="0"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7" name="Line 199"/>
              <p:cNvSpPr>
                <a:spLocks noChangeShapeType="1"/>
              </p:cNvSpPr>
              <p:nvPr/>
            </p:nvSpPr>
            <p:spPr bwMode="auto">
              <a:xfrm flipV="1">
                <a:off x="3616" y="3640"/>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8" name="Line 200"/>
              <p:cNvSpPr>
                <a:spLocks noChangeShapeType="1"/>
              </p:cNvSpPr>
              <p:nvPr/>
            </p:nvSpPr>
            <p:spPr bwMode="auto">
              <a:xfrm flipV="1">
                <a:off x="3616" y="373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9" name="Line 201"/>
              <p:cNvSpPr>
                <a:spLocks noChangeShapeType="1"/>
              </p:cNvSpPr>
              <p:nvPr/>
            </p:nvSpPr>
            <p:spPr bwMode="auto">
              <a:xfrm flipV="1">
                <a:off x="3616" y="3832"/>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0" name="Line 202"/>
              <p:cNvSpPr>
                <a:spLocks noChangeShapeType="1"/>
              </p:cNvSpPr>
              <p:nvPr/>
            </p:nvSpPr>
            <p:spPr bwMode="auto">
              <a:xfrm flipV="1">
                <a:off x="3616" y="3928"/>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1" name="Line 203"/>
              <p:cNvSpPr>
                <a:spLocks noChangeShapeType="1"/>
              </p:cNvSpPr>
              <p:nvPr/>
            </p:nvSpPr>
            <p:spPr bwMode="auto">
              <a:xfrm flipV="1">
                <a:off x="3616" y="4024"/>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76" name="Group 204"/>
            <p:cNvGrpSpPr>
              <a:grpSpLocks/>
            </p:cNvGrpSpPr>
            <p:nvPr/>
          </p:nvGrpSpPr>
          <p:grpSpPr bwMode="auto">
            <a:xfrm rot="-5400000">
              <a:off x="3768" y="2568"/>
              <a:ext cx="336" cy="288"/>
              <a:chOff x="4612" y="2928"/>
              <a:chExt cx="432" cy="384"/>
            </a:xfrm>
          </p:grpSpPr>
          <p:sp>
            <p:nvSpPr>
              <p:cNvPr id="177" name="Oval 205"/>
              <p:cNvSpPr>
                <a:spLocks noChangeArrowheads="1"/>
              </p:cNvSpPr>
              <p:nvPr/>
            </p:nvSpPr>
            <p:spPr bwMode="auto">
              <a:xfrm>
                <a:off x="4804" y="312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sp>
            <p:nvSpPr>
              <p:cNvPr id="178" name="Line 206"/>
              <p:cNvSpPr>
                <a:spLocks noChangeShapeType="1"/>
              </p:cNvSpPr>
              <p:nvPr/>
            </p:nvSpPr>
            <p:spPr bwMode="auto">
              <a:xfrm>
                <a:off x="4852" y="3024"/>
                <a:ext cx="0" cy="96"/>
              </a:xfrm>
              <a:prstGeom prst="line">
                <a:avLst/>
              </a:prstGeom>
              <a:noFill/>
              <a:ln w="57150">
                <a:solidFill>
                  <a:srgbClr val="007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 name="Line 207"/>
              <p:cNvSpPr>
                <a:spLocks noChangeShapeType="1"/>
              </p:cNvSpPr>
              <p:nvPr/>
            </p:nvSpPr>
            <p:spPr bwMode="auto">
              <a:xfrm>
                <a:off x="4660" y="321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 name="Line 208"/>
              <p:cNvSpPr>
                <a:spLocks noChangeShapeType="1"/>
              </p:cNvSpPr>
              <p:nvPr/>
            </p:nvSpPr>
            <p:spPr bwMode="auto">
              <a:xfrm flipV="1">
                <a:off x="4660"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1" name="Line 209"/>
              <p:cNvSpPr>
                <a:spLocks noChangeShapeType="1"/>
              </p:cNvSpPr>
              <p:nvPr/>
            </p:nvSpPr>
            <p:spPr bwMode="auto">
              <a:xfrm flipV="1">
                <a:off x="4708"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2" name="Line 210"/>
              <p:cNvSpPr>
                <a:spLocks noChangeShapeType="1"/>
              </p:cNvSpPr>
              <p:nvPr/>
            </p:nvSpPr>
            <p:spPr bwMode="auto">
              <a:xfrm flipV="1">
                <a:off x="4756"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3" name="Line 211"/>
              <p:cNvSpPr>
                <a:spLocks noChangeShapeType="1"/>
              </p:cNvSpPr>
              <p:nvPr/>
            </p:nvSpPr>
            <p:spPr bwMode="auto">
              <a:xfrm flipV="1">
                <a:off x="4804"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 name="Line 212"/>
              <p:cNvSpPr>
                <a:spLocks noChangeShapeType="1"/>
              </p:cNvSpPr>
              <p:nvPr/>
            </p:nvSpPr>
            <p:spPr bwMode="auto">
              <a:xfrm flipV="1">
                <a:off x="4852"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5" name="Line 213"/>
              <p:cNvSpPr>
                <a:spLocks noChangeShapeType="1"/>
              </p:cNvSpPr>
              <p:nvPr/>
            </p:nvSpPr>
            <p:spPr bwMode="auto">
              <a:xfrm flipV="1">
                <a:off x="4900"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6" name="Line 214"/>
              <p:cNvSpPr>
                <a:spLocks noChangeShapeType="1"/>
              </p:cNvSpPr>
              <p:nvPr/>
            </p:nvSpPr>
            <p:spPr bwMode="auto">
              <a:xfrm flipV="1">
                <a:off x="4948"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7" name="Line 215"/>
              <p:cNvSpPr>
                <a:spLocks noChangeShapeType="1"/>
              </p:cNvSpPr>
              <p:nvPr/>
            </p:nvSpPr>
            <p:spPr bwMode="auto">
              <a:xfrm flipV="1">
                <a:off x="4612"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8" name="Oval 216"/>
              <p:cNvSpPr>
                <a:spLocks noChangeArrowheads="1"/>
              </p:cNvSpPr>
              <p:nvPr/>
            </p:nvSpPr>
            <p:spPr bwMode="auto">
              <a:xfrm>
                <a:off x="4804" y="292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grpSp>
      </p:grpSp>
      <p:grpSp>
        <p:nvGrpSpPr>
          <p:cNvPr id="220" name="Group 217"/>
          <p:cNvGrpSpPr>
            <a:grpSpLocks/>
          </p:cNvGrpSpPr>
          <p:nvPr/>
        </p:nvGrpSpPr>
        <p:grpSpPr bwMode="auto">
          <a:xfrm>
            <a:off x="4810033" y="4003675"/>
            <a:ext cx="2819400" cy="2209800"/>
            <a:chOff x="3984" y="2592"/>
            <a:chExt cx="1776" cy="1392"/>
          </a:xfrm>
        </p:grpSpPr>
        <p:sp>
          <p:nvSpPr>
            <p:cNvPr id="221" name="Rectangle 218"/>
            <p:cNvSpPr>
              <a:spLocks noChangeArrowheads="1"/>
            </p:cNvSpPr>
            <p:nvPr/>
          </p:nvSpPr>
          <p:spPr bwMode="auto">
            <a:xfrm>
              <a:off x="3984" y="2592"/>
              <a:ext cx="1776" cy="1392"/>
            </a:xfrm>
            <a:prstGeom prst="rect">
              <a:avLst/>
            </a:prstGeom>
            <a:solidFill>
              <a:srgbClr val="E1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grpSp>
          <p:nvGrpSpPr>
            <p:cNvPr id="222" name="Group 219"/>
            <p:cNvGrpSpPr>
              <a:grpSpLocks/>
            </p:cNvGrpSpPr>
            <p:nvPr/>
          </p:nvGrpSpPr>
          <p:grpSpPr bwMode="auto">
            <a:xfrm>
              <a:off x="3984" y="2592"/>
              <a:ext cx="1710" cy="1253"/>
              <a:chOff x="2514" y="2454"/>
              <a:chExt cx="1710" cy="1253"/>
            </a:xfrm>
          </p:grpSpPr>
          <p:grpSp>
            <p:nvGrpSpPr>
              <p:cNvPr id="223" name="Group 220"/>
              <p:cNvGrpSpPr>
                <a:grpSpLocks/>
              </p:cNvGrpSpPr>
              <p:nvPr/>
            </p:nvGrpSpPr>
            <p:grpSpPr bwMode="auto">
              <a:xfrm>
                <a:off x="2544" y="2544"/>
                <a:ext cx="1680" cy="1163"/>
                <a:chOff x="2448" y="2544"/>
                <a:chExt cx="1680" cy="1163"/>
              </a:xfrm>
            </p:grpSpPr>
            <p:sp>
              <p:nvSpPr>
                <p:cNvPr id="227" name="Line 221"/>
                <p:cNvSpPr>
                  <a:spLocks noChangeShapeType="1"/>
                </p:cNvSpPr>
                <p:nvPr/>
              </p:nvSpPr>
              <p:spPr bwMode="auto">
                <a:xfrm>
                  <a:off x="2640" y="3163"/>
                  <a:ext cx="1152" cy="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28" name="Group 222"/>
                <p:cNvGrpSpPr>
                  <a:grpSpLocks/>
                </p:cNvGrpSpPr>
                <p:nvPr/>
              </p:nvGrpSpPr>
              <p:grpSpPr bwMode="auto">
                <a:xfrm>
                  <a:off x="3024" y="3648"/>
                  <a:ext cx="340" cy="59"/>
                  <a:chOff x="5136" y="2256"/>
                  <a:chExt cx="432" cy="96"/>
                </a:xfrm>
              </p:grpSpPr>
              <p:sp>
                <p:nvSpPr>
                  <p:cNvPr id="271" name="Line 223"/>
                  <p:cNvSpPr>
                    <a:spLocks noChangeShapeType="1"/>
                  </p:cNvSpPr>
                  <p:nvPr/>
                </p:nvSpPr>
                <p:spPr bwMode="auto">
                  <a:xfrm>
                    <a:off x="5184" y="225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2" name="Line 224"/>
                  <p:cNvSpPr>
                    <a:spLocks noChangeShapeType="1"/>
                  </p:cNvSpPr>
                  <p:nvPr/>
                </p:nvSpPr>
                <p:spPr bwMode="auto">
                  <a:xfrm flipV="1">
                    <a:off x="518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3" name="Line 225"/>
                  <p:cNvSpPr>
                    <a:spLocks noChangeShapeType="1"/>
                  </p:cNvSpPr>
                  <p:nvPr/>
                </p:nvSpPr>
                <p:spPr bwMode="auto">
                  <a:xfrm flipV="1">
                    <a:off x="523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4" name="Line 226"/>
                  <p:cNvSpPr>
                    <a:spLocks noChangeShapeType="1"/>
                  </p:cNvSpPr>
                  <p:nvPr/>
                </p:nvSpPr>
                <p:spPr bwMode="auto">
                  <a:xfrm flipV="1">
                    <a:off x="5280"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5" name="Line 227"/>
                  <p:cNvSpPr>
                    <a:spLocks noChangeShapeType="1"/>
                  </p:cNvSpPr>
                  <p:nvPr/>
                </p:nvSpPr>
                <p:spPr bwMode="auto">
                  <a:xfrm flipV="1">
                    <a:off x="5328"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 name="Line 228"/>
                  <p:cNvSpPr>
                    <a:spLocks noChangeShapeType="1"/>
                  </p:cNvSpPr>
                  <p:nvPr/>
                </p:nvSpPr>
                <p:spPr bwMode="auto">
                  <a:xfrm flipV="1">
                    <a:off x="537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7" name="Line 229"/>
                  <p:cNvSpPr>
                    <a:spLocks noChangeShapeType="1"/>
                  </p:cNvSpPr>
                  <p:nvPr/>
                </p:nvSpPr>
                <p:spPr bwMode="auto">
                  <a:xfrm flipV="1">
                    <a:off x="542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8" name="Line 230"/>
                  <p:cNvSpPr>
                    <a:spLocks noChangeShapeType="1"/>
                  </p:cNvSpPr>
                  <p:nvPr/>
                </p:nvSpPr>
                <p:spPr bwMode="auto">
                  <a:xfrm flipV="1">
                    <a:off x="547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9" name="Line 231"/>
                  <p:cNvSpPr>
                    <a:spLocks noChangeShapeType="1"/>
                  </p:cNvSpPr>
                  <p:nvPr/>
                </p:nvSpPr>
                <p:spPr bwMode="auto">
                  <a:xfrm flipV="1">
                    <a:off x="513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9" name="Line 232"/>
                <p:cNvSpPr>
                  <a:spLocks noChangeShapeType="1"/>
                </p:cNvSpPr>
                <p:nvPr/>
              </p:nvSpPr>
              <p:spPr bwMode="auto">
                <a:xfrm>
                  <a:off x="3216" y="2688"/>
                  <a:ext cx="0" cy="94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30" name="Group 233"/>
                <p:cNvGrpSpPr>
                  <a:grpSpLocks/>
                </p:cNvGrpSpPr>
                <p:nvPr/>
              </p:nvGrpSpPr>
              <p:grpSpPr bwMode="auto">
                <a:xfrm>
                  <a:off x="2448" y="3648"/>
                  <a:ext cx="340" cy="59"/>
                  <a:chOff x="5136" y="2256"/>
                  <a:chExt cx="432" cy="96"/>
                </a:xfrm>
              </p:grpSpPr>
              <p:sp>
                <p:nvSpPr>
                  <p:cNvPr id="262" name="Line 234"/>
                  <p:cNvSpPr>
                    <a:spLocks noChangeShapeType="1"/>
                  </p:cNvSpPr>
                  <p:nvPr/>
                </p:nvSpPr>
                <p:spPr bwMode="auto">
                  <a:xfrm>
                    <a:off x="5184" y="225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 name="Line 235"/>
                  <p:cNvSpPr>
                    <a:spLocks noChangeShapeType="1"/>
                  </p:cNvSpPr>
                  <p:nvPr/>
                </p:nvSpPr>
                <p:spPr bwMode="auto">
                  <a:xfrm flipV="1">
                    <a:off x="518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4" name="Line 236"/>
                  <p:cNvSpPr>
                    <a:spLocks noChangeShapeType="1"/>
                  </p:cNvSpPr>
                  <p:nvPr/>
                </p:nvSpPr>
                <p:spPr bwMode="auto">
                  <a:xfrm flipV="1">
                    <a:off x="523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5" name="Line 237"/>
                  <p:cNvSpPr>
                    <a:spLocks noChangeShapeType="1"/>
                  </p:cNvSpPr>
                  <p:nvPr/>
                </p:nvSpPr>
                <p:spPr bwMode="auto">
                  <a:xfrm flipV="1">
                    <a:off x="5280"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 name="Line 238"/>
                  <p:cNvSpPr>
                    <a:spLocks noChangeShapeType="1"/>
                  </p:cNvSpPr>
                  <p:nvPr/>
                </p:nvSpPr>
                <p:spPr bwMode="auto">
                  <a:xfrm flipV="1">
                    <a:off x="5328"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7" name="Line 239"/>
                  <p:cNvSpPr>
                    <a:spLocks noChangeShapeType="1"/>
                  </p:cNvSpPr>
                  <p:nvPr/>
                </p:nvSpPr>
                <p:spPr bwMode="auto">
                  <a:xfrm flipV="1">
                    <a:off x="537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8" name="Line 240"/>
                  <p:cNvSpPr>
                    <a:spLocks noChangeShapeType="1"/>
                  </p:cNvSpPr>
                  <p:nvPr/>
                </p:nvSpPr>
                <p:spPr bwMode="auto">
                  <a:xfrm flipV="1">
                    <a:off x="542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9" name="Line 241"/>
                  <p:cNvSpPr>
                    <a:spLocks noChangeShapeType="1"/>
                  </p:cNvSpPr>
                  <p:nvPr/>
                </p:nvSpPr>
                <p:spPr bwMode="auto">
                  <a:xfrm flipV="1">
                    <a:off x="547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0" name="Line 242"/>
                  <p:cNvSpPr>
                    <a:spLocks noChangeShapeType="1"/>
                  </p:cNvSpPr>
                  <p:nvPr/>
                </p:nvSpPr>
                <p:spPr bwMode="auto">
                  <a:xfrm flipV="1">
                    <a:off x="513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31" name="Line 243"/>
                <p:cNvSpPr>
                  <a:spLocks noChangeShapeType="1"/>
                </p:cNvSpPr>
                <p:nvPr/>
              </p:nvSpPr>
              <p:spPr bwMode="auto">
                <a:xfrm>
                  <a:off x="3216" y="2688"/>
                  <a:ext cx="59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2" name="Line 244"/>
                <p:cNvSpPr>
                  <a:spLocks noChangeShapeType="1"/>
                </p:cNvSpPr>
                <p:nvPr/>
              </p:nvSpPr>
              <p:spPr bwMode="auto">
                <a:xfrm>
                  <a:off x="2640" y="3168"/>
                  <a:ext cx="0" cy="4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3" name="Oval 245"/>
                <p:cNvSpPr>
                  <a:spLocks noChangeArrowheads="1"/>
                </p:cNvSpPr>
                <p:nvPr/>
              </p:nvSpPr>
              <p:spPr bwMode="auto">
                <a:xfrm>
                  <a:off x="3168" y="3600"/>
                  <a:ext cx="89" cy="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sp>
              <p:nvSpPr>
                <p:cNvPr id="234" name="Oval 246"/>
                <p:cNvSpPr>
                  <a:spLocks noChangeArrowheads="1"/>
                </p:cNvSpPr>
                <p:nvPr/>
              </p:nvSpPr>
              <p:spPr bwMode="auto">
                <a:xfrm>
                  <a:off x="2592" y="3600"/>
                  <a:ext cx="88" cy="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grpSp>
              <p:nvGrpSpPr>
                <p:cNvPr id="235" name="Group 247"/>
                <p:cNvGrpSpPr>
                  <a:grpSpLocks/>
                </p:cNvGrpSpPr>
                <p:nvPr/>
              </p:nvGrpSpPr>
              <p:grpSpPr bwMode="auto">
                <a:xfrm rot="10782844">
                  <a:off x="3808" y="3016"/>
                  <a:ext cx="320" cy="344"/>
                  <a:chOff x="3616" y="3640"/>
                  <a:chExt cx="384" cy="488"/>
                </a:xfrm>
              </p:grpSpPr>
              <p:sp>
                <p:nvSpPr>
                  <p:cNvPr id="249" name="Oval 248"/>
                  <p:cNvSpPr>
                    <a:spLocks noChangeArrowheads="1"/>
                  </p:cNvSpPr>
                  <p:nvPr/>
                </p:nvSpPr>
                <p:spPr bwMode="auto">
                  <a:xfrm rot="5400000">
                    <a:off x="3897" y="3947"/>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sp>
                <p:nvSpPr>
                  <p:cNvPr id="250" name="Oval 249"/>
                  <p:cNvSpPr>
                    <a:spLocks noChangeArrowheads="1"/>
                  </p:cNvSpPr>
                  <p:nvPr/>
                </p:nvSpPr>
                <p:spPr bwMode="auto">
                  <a:xfrm>
                    <a:off x="3711" y="376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sp>
                <p:nvSpPr>
                  <p:cNvPr id="251" name="Line 250"/>
                  <p:cNvSpPr>
                    <a:spLocks noChangeShapeType="1"/>
                  </p:cNvSpPr>
                  <p:nvPr/>
                </p:nvSpPr>
                <p:spPr bwMode="auto">
                  <a:xfrm>
                    <a:off x="3796" y="3816"/>
                    <a:ext cx="96" cy="0"/>
                  </a:xfrm>
                  <a:prstGeom prst="line">
                    <a:avLst/>
                  </a:prstGeom>
                  <a:noFill/>
                  <a:ln w="57150">
                    <a:solidFill>
                      <a:srgbClr val="007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2" name="Line 251"/>
                  <p:cNvSpPr>
                    <a:spLocks noChangeShapeType="1"/>
                  </p:cNvSpPr>
                  <p:nvPr/>
                </p:nvSpPr>
                <p:spPr bwMode="auto">
                  <a:xfrm rot="5400000">
                    <a:off x="3848" y="3936"/>
                    <a:ext cx="0" cy="96"/>
                  </a:xfrm>
                  <a:prstGeom prst="line">
                    <a:avLst/>
                  </a:prstGeom>
                  <a:noFill/>
                  <a:ln w="57150">
                    <a:solidFill>
                      <a:srgbClr val="007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3" name="Oval 252"/>
                  <p:cNvSpPr>
                    <a:spLocks noChangeArrowheads="1"/>
                  </p:cNvSpPr>
                  <p:nvPr/>
                </p:nvSpPr>
                <p:spPr bwMode="auto">
                  <a:xfrm>
                    <a:off x="3892" y="376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sp>
                <p:nvSpPr>
                  <p:cNvPr id="254" name="Oval 253"/>
                  <p:cNvSpPr>
                    <a:spLocks noChangeArrowheads="1"/>
                  </p:cNvSpPr>
                  <p:nvPr/>
                </p:nvSpPr>
                <p:spPr bwMode="auto">
                  <a:xfrm rot="5400000">
                    <a:off x="3701" y="3936"/>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sp>
                <p:nvSpPr>
                  <p:cNvPr id="255" name="Line 254"/>
                  <p:cNvSpPr>
                    <a:spLocks noChangeShapeType="1"/>
                  </p:cNvSpPr>
                  <p:nvPr/>
                </p:nvSpPr>
                <p:spPr bwMode="auto">
                  <a:xfrm>
                    <a:off x="4000" y="3755"/>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 name="Line 255"/>
                  <p:cNvSpPr>
                    <a:spLocks noChangeShapeType="1"/>
                  </p:cNvSpPr>
                  <p:nvPr/>
                </p:nvSpPr>
                <p:spPr bwMode="auto">
                  <a:xfrm>
                    <a:off x="3712" y="3648"/>
                    <a:ext cx="0"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7" name="Line 256"/>
                  <p:cNvSpPr>
                    <a:spLocks noChangeShapeType="1"/>
                  </p:cNvSpPr>
                  <p:nvPr/>
                </p:nvSpPr>
                <p:spPr bwMode="auto">
                  <a:xfrm flipV="1">
                    <a:off x="3616" y="3640"/>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8" name="Line 257"/>
                  <p:cNvSpPr>
                    <a:spLocks noChangeShapeType="1"/>
                  </p:cNvSpPr>
                  <p:nvPr/>
                </p:nvSpPr>
                <p:spPr bwMode="auto">
                  <a:xfrm flipV="1">
                    <a:off x="3616" y="373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9" name="Line 258"/>
                  <p:cNvSpPr>
                    <a:spLocks noChangeShapeType="1"/>
                  </p:cNvSpPr>
                  <p:nvPr/>
                </p:nvSpPr>
                <p:spPr bwMode="auto">
                  <a:xfrm flipV="1">
                    <a:off x="3616" y="3832"/>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0" name="Line 259"/>
                  <p:cNvSpPr>
                    <a:spLocks noChangeShapeType="1"/>
                  </p:cNvSpPr>
                  <p:nvPr/>
                </p:nvSpPr>
                <p:spPr bwMode="auto">
                  <a:xfrm flipV="1">
                    <a:off x="3616" y="3928"/>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 name="Line 260"/>
                  <p:cNvSpPr>
                    <a:spLocks noChangeShapeType="1"/>
                  </p:cNvSpPr>
                  <p:nvPr/>
                </p:nvSpPr>
                <p:spPr bwMode="auto">
                  <a:xfrm flipV="1">
                    <a:off x="3616" y="4024"/>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36" name="Group 261"/>
                <p:cNvGrpSpPr>
                  <a:grpSpLocks/>
                </p:cNvGrpSpPr>
                <p:nvPr/>
              </p:nvGrpSpPr>
              <p:grpSpPr bwMode="auto">
                <a:xfrm rot="-5400000">
                  <a:off x="3768" y="2568"/>
                  <a:ext cx="336" cy="288"/>
                  <a:chOff x="4612" y="2928"/>
                  <a:chExt cx="432" cy="384"/>
                </a:xfrm>
              </p:grpSpPr>
              <p:sp>
                <p:nvSpPr>
                  <p:cNvPr id="237" name="Oval 262"/>
                  <p:cNvSpPr>
                    <a:spLocks noChangeArrowheads="1"/>
                  </p:cNvSpPr>
                  <p:nvPr/>
                </p:nvSpPr>
                <p:spPr bwMode="auto">
                  <a:xfrm>
                    <a:off x="4804" y="312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sp>
                <p:nvSpPr>
                  <p:cNvPr id="238" name="Line 263"/>
                  <p:cNvSpPr>
                    <a:spLocks noChangeShapeType="1"/>
                  </p:cNvSpPr>
                  <p:nvPr/>
                </p:nvSpPr>
                <p:spPr bwMode="auto">
                  <a:xfrm>
                    <a:off x="4852" y="3024"/>
                    <a:ext cx="0" cy="96"/>
                  </a:xfrm>
                  <a:prstGeom prst="line">
                    <a:avLst/>
                  </a:prstGeom>
                  <a:noFill/>
                  <a:ln w="57150">
                    <a:solidFill>
                      <a:srgbClr val="007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9" name="Line 264"/>
                  <p:cNvSpPr>
                    <a:spLocks noChangeShapeType="1"/>
                  </p:cNvSpPr>
                  <p:nvPr/>
                </p:nvSpPr>
                <p:spPr bwMode="auto">
                  <a:xfrm>
                    <a:off x="4660" y="321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0" name="Line 265"/>
                  <p:cNvSpPr>
                    <a:spLocks noChangeShapeType="1"/>
                  </p:cNvSpPr>
                  <p:nvPr/>
                </p:nvSpPr>
                <p:spPr bwMode="auto">
                  <a:xfrm flipV="1">
                    <a:off x="4660"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 name="Line 266"/>
                  <p:cNvSpPr>
                    <a:spLocks noChangeShapeType="1"/>
                  </p:cNvSpPr>
                  <p:nvPr/>
                </p:nvSpPr>
                <p:spPr bwMode="auto">
                  <a:xfrm flipV="1">
                    <a:off x="4708"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2" name="Line 267"/>
                  <p:cNvSpPr>
                    <a:spLocks noChangeShapeType="1"/>
                  </p:cNvSpPr>
                  <p:nvPr/>
                </p:nvSpPr>
                <p:spPr bwMode="auto">
                  <a:xfrm flipV="1">
                    <a:off x="4756"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3" name="Line 268"/>
                  <p:cNvSpPr>
                    <a:spLocks noChangeShapeType="1"/>
                  </p:cNvSpPr>
                  <p:nvPr/>
                </p:nvSpPr>
                <p:spPr bwMode="auto">
                  <a:xfrm flipV="1">
                    <a:off x="4804"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 name="Line 269"/>
                  <p:cNvSpPr>
                    <a:spLocks noChangeShapeType="1"/>
                  </p:cNvSpPr>
                  <p:nvPr/>
                </p:nvSpPr>
                <p:spPr bwMode="auto">
                  <a:xfrm flipV="1">
                    <a:off x="4852"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 name="Line 270"/>
                  <p:cNvSpPr>
                    <a:spLocks noChangeShapeType="1"/>
                  </p:cNvSpPr>
                  <p:nvPr/>
                </p:nvSpPr>
                <p:spPr bwMode="auto">
                  <a:xfrm flipV="1">
                    <a:off x="4900"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 name="Line 271"/>
                  <p:cNvSpPr>
                    <a:spLocks noChangeShapeType="1"/>
                  </p:cNvSpPr>
                  <p:nvPr/>
                </p:nvSpPr>
                <p:spPr bwMode="auto">
                  <a:xfrm flipV="1">
                    <a:off x="4948"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 name="Line 272"/>
                  <p:cNvSpPr>
                    <a:spLocks noChangeShapeType="1"/>
                  </p:cNvSpPr>
                  <p:nvPr/>
                </p:nvSpPr>
                <p:spPr bwMode="auto">
                  <a:xfrm flipV="1">
                    <a:off x="4612" y="321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 name="Oval 273"/>
                  <p:cNvSpPr>
                    <a:spLocks noChangeArrowheads="1"/>
                  </p:cNvSpPr>
                  <p:nvPr/>
                </p:nvSpPr>
                <p:spPr bwMode="auto">
                  <a:xfrm>
                    <a:off x="4804" y="292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endParaRPr lang="zh-CN" altLang="en-US" sz="2400">
                      <a:latin typeface="Times New Roman" pitchFamily="18" charset="0"/>
                      <a:ea typeface="楷体_GB2312" pitchFamily="49" charset="-122"/>
                    </a:endParaRPr>
                  </a:p>
                </p:txBody>
              </p:sp>
            </p:grpSp>
          </p:grpSp>
          <p:graphicFrame>
            <p:nvGraphicFramePr>
              <p:cNvPr id="224" name="Object 274"/>
              <p:cNvGraphicFramePr>
                <a:graphicFrameLocks noChangeAspect="1"/>
              </p:cNvGraphicFramePr>
              <p:nvPr/>
            </p:nvGraphicFramePr>
            <p:xfrm>
              <a:off x="3090" y="2454"/>
              <a:ext cx="222" cy="282"/>
            </p:xfrm>
            <a:graphic>
              <a:graphicData uri="http://schemas.openxmlformats.org/presentationml/2006/ole">
                <mc:AlternateContent xmlns:mc="http://schemas.openxmlformats.org/markup-compatibility/2006">
                  <mc:Choice xmlns:v="urn:schemas-microsoft-com:vml" Requires="v">
                    <p:oleObj spid="_x0000_s61260" name="BMP 图象" r:id="rId7" imgW="352474" imgH="447856" progId="Paint.Picture">
                      <p:embed/>
                    </p:oleObj>
                  </mc:Choice>
                  <mc:Fallback>
                    <p:oleObj name="BMP 图象" r:id="rId7" imgW="352474" imgH="447856" progId="Paint.Picture">
                      <p:embed/>
                      <p:pic>
                        <p:nvPicPr>
                          <p:cNvPr id="0" name=""/>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90" y="2454"/>
                            <a:ext cx="222"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 name="Object 275"/>
              <p:cNvGraphicFramePr>
                <a:graphicFrameLocks noChangeAspect="1"/>
              </p:cNvGraphicFramePr>
              <p:nvPr/>
            </p:nvGraphicFramePr>
            <p:xfrm>
              <a:off x="2514" y="2934"/>
              <a:ext cx="222" cy="282"/>
            </p:xfrm>
            <a:graphic>
              <a:graphicData uri="http://schemas.openxmlformats.org/presentationml/2006/ole">
                <mc:AlternateContent xmlns:mc="http://schemas.openxmlformats.org/markup-compatibility/2006">
                  <mc:Choice xmlns:v="urn:schemas-microsoft-com:vml" Requires="v">
                    <p:oleObj spid="_x0000_s61261" name="BMP 图象" r:id="rId8" imgW="352474" imgH="447856" progId="Paint.Picture">
                      <p:embed/>
                    </p:oleObj>
                  </mc:Choice>
                  <mc:Fallback>
                    <p:oleObj name="BMP 图象" r:id="rId8" imgW="352474" imgH="447856" progId="Paint.Picture">
                      <p:embed/>
                      <p:pic>
                        <p:nvPicPr>
                          <p:cNvPr id="0" name=""/>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14" y="2934"/>
                            <a:ext cx="222"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6" name="Object 276"/>
              <p:cNvGraphicFramePr>
                <a:graphicFrameLocks noChangeAspect="1"/>
              </p:cNvGraphicFramePr>
              <p:nvPr/>
            </p:nvGraphicFramePr>
            <p:xfrm>
              <a:off x="3090" y="2934"/>
              <a:ext cx="222" cy="282"/>
            </p:xfrm>
            <a:graphic>
              <a:graphicData uri="http://schemas.openxmlformats.org/presentationml/2006/ole">
                <mc:AlternateContent xmlns:mc="http://schemas.openxmlformats.org/markup-compatibility/2006">
                  <mc:Choice xmlns:v="urn:schemas-microsoft-com:vml" Requires="v">
                    <p:oleObj spid="_x0000_s61262" name="BMP 图象" r:id="rId9" imgW="352474" imgH="447856" progId="Paint.Picture">
                      <p:embed/>
                    </p:oleObj>
                  </mc:Choice>
                  <mc:Fallback>
                    <p:oleObj name="BMP 图象" r:id="rId9" imgW="352474" imgH="447856" progId="Paint.Picture">
                      <p:embed/>
                      <p:pic>
                        <p:nvPicPr>
                          <p:cNvPr id="0" name=""/>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90" y="2934"/>
                            <a:ext cx="222"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Tree>
    <p:extLst>
      <p:ext uri="{BB962C8B-B14F-4D97-AF65-F5344CB8AC3E}">
        <p14:creationId xmlns:p14="http://schemas.microsoft.com/office/powerpoint/2010/main" val="1529326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4"/>
                                        </p:tgtEl>
                                        <p:attrNameLst>
                                          <p:attrName>style.visibility</p:attrName>
                                        </p:attrNameLst>
                                      </p:cBhvr>
                                      <p:to>
                                        <p:strVal val="visible"/>
                                      </p:to>
                                    </p:set>
                                    <p:anim calcmode="lin" valueType="num">
                                      <p:cBhvr additive="base">
                                        <p:cTn id="13" dur="500" fill="hold"/>
                                        <p:tgtEl>
                                          <p:spTgt spid="44"/>
                                        </p:tgtEl>
                                        <p:attrNameLst>
                                          <p:attrName>ppt_x</p:attrName>
                                        </p:attrNameLst>
                                      </p:cBhvr>
                                      <p:tavLst>
                                        <p:tav tm="0">
                                          <p:val>
                                            <p:strVal val="1+#ppt_w/2"/>
                                          </p:val>
                                        </p:tav>
                                        <p:tav tm="100000">
                                          <p:val>
                                            <p:strVal val="#ppt_x"/>
                                          </p:val>
                                        </p:tav>
                                      </p:tavLst>
                                    </p:anim>
                                    <p:anim calcmode="lin" valueType="num">
                                      <p:cBhvr additive="base">
                                        <p:cTn id="14" dur="5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66"/>
                                        </p:tgtEl>
                                        <p:attrNameLst>
                                          <p:attrName>style.visibility</p:attrName>
                                        </p:attrNameLst>
                                      </p:cBhvr>
                                      <p:to>
                                        <p:strVal val="visible"/>
                                      </p:to>
                                    </p:set>
                                    <p:anim calcmode="lin" valueType="num">
                                      <p:cBhvr additive="base">
                                        <p:cTn id="19" dur="500" fill="hold"/>
                                        <p:tgtEl>
                                          <p:spTgt spid="166"/>
                                        </p:tgtEl>
                                        <p:attrNameLst>
                                          <p:attrName>ppt_x</p:attrName>
                                        </p:attrNameLst>
                                      </p:cBhvr>
                                      <p:tavLst>
                                        <p:tav tm="0">
                                          <p:val>
                                            <p:strVal val="0-#ppt_w/2"/>
                                          </p:val>
                                        </p:tav>
                                        <p:tav tm="100000">
                                          <p:val>
                                            <p:strVal val="#ppt_x"/>
                                          </p:val>
                                        </p:tav>
                                      </p:tavLst>
                                    </p:anim>
                                    <p:anim calcmode="lin" valueType="num">
                                      <p:cBhvr additive="base">
                                        <p:cTn id="20" dur="500" fill="hold"/>
                                        <p:tgtEl>
                                          <p:spTgt spid="16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220"/>
                                        </p:tgtEl>
                                        <p:attrNameLst>
                                          <p:attrName>style.visibility</p:attrName>
                                        </p:attrNameLst>
                                      </p:cBhvr>
                                      <p:to>
                                        <p:strVal val="visible"/>
                                      </p:to>
                                    </p:set>
                                    <p:anim calcmode="lin" valueType="num">
                                      <p:cBhvr additive="base">
                                        <p:cTn id="25" dur="500" fill="hold"/>
                                        <p:tgtEl>
                                          <p:spTgt spid="220"/>
                                        </p:tgtEl>
                                        <p:attrNameLst>
                                          <p:attrName>ppt_x</p:attrName>
                                        </p:attrNameLst>
                                      </p:cBhvr>
                                      <p:tavLst>
                                        <p:tav tm="0">
                                          <p:val>
                                            <p:strVal val="1+#ppt_w/2"/>
                                          </p:val>
                                        </p:tav>
                                        <p:tav tm="100000">
                                          <p:val>
                                            <p:strVal val="#ppt_x"/>
                                          </p:val>
                                        </p:tav>
                                      </p:tavLst>
                                    </p:anim>
                                    <p:anim calcmode="lin" valueType="num">
                                      <p:cBhvr additive="base">
                                        <p:cTn id="26" dur="500" fill="hold"/>
                                        <p:tgtEl>
                                          <p:spTgt spid="2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467544" y="1373021"/>
            <a:ext cx="4176464" cy="461665"/>
          </a:xfrm>
          <a:prstGeom prst="rect">
            <a:avLst/>
          </a:prstGeom>
          <a:noFill/>
        </p:spPr>
        <p:txBody>
          <a:bodyPr wrap="square" rtlCol="0">
            <a:spAutoFit/>
          </a:bodyPr>
          <a:lstStyle/>
          <a:p>
            <a:r>
              <a:rPr lang="zh-CN" altLang="en-US" sz="2400" b="1" dirty="0">
                <a:solidFill>
                  <a:srgbClr val="FF0000"/>
                </a:solidFill>
                <a:latin typeface="楷体" panose="02010609060101010101" pitchFamily="49" charset="-122"/>
                <a:ea typeface="楷体" panose="02010609060101010101" pitchFamily="49" charset="-122"/>
              </a:rPr>
              <a:t>位移法基本方程</a:t>
            </a:r>
          </a:p>
        </p:txBody>
      </p:sp>
      <p:pic>
        <p:nvPicPr>
          <p:cNvPr id="62465" name="Picture 1" descr="C:\Users\Administrator\AppData\Roaming\Tencent\Users\42337577\QQ\WinTemp\RichOle\@SC0W3`]IF1B3RS4HY(AZ_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5532" y="2852936"/>
            <a:ext cx="2419350" cy="14287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827584" y="1916832"/>
            <a:ext cx="5256584" cy="400110"/>
          </a:xfrm>
          <a:prstGeom prst="rect">
            <a:avLst/>
          </a:prstGeom>
          <a:noFill/>
        </p:spPr>
        <p:txBody>
          <a:bodyPr wrap="square" rtlCol="0">
            <a:spAutoFit/>
          </a:bodyPr>
          <a:lstStyle/>
          <a:p>
            <a:r>
              <a:rPr lang="zh-CN" altLang="en-US" sz="2000" b="1" dirty="0">
                <a:solidFill>
                  <a:srgbClr val="0000FF"/>
                </a:solidFill>
                <a:latin typeface="楷体" panose="02010609060101010101" pitchFamily="49" charset="-122"/>
                <a:ea typeface="楷体" panose="02010609060101010101" pitchFamily="49" charset="-122"/>
              </a:rPr>
              <a:t>什么条件下，基本体系才能转化成原结构？</a:t>
            </a:r>
          </a:p>
        </p:txBody>
      </p:sp>
      <mc:AlternateContent xmlns:mc="http://schemas.openxmlformats.org/markup-compatibility/2006" xmlns:a14="http://schemas.microsoft.com/office/drawing/2010/main">
        <mc:Choice Requires="a14">
          <p:sp>
            <p:nvSpPr>
              <p:cNvPr id="5" name="TextBox 4"/>
              <p:cNvSpPr txBox="1"/>
              <p:nvPr/>
            </p:nvSpPr>
            <p:spPr>
              <a:xfrm>
                <a:off x="827584" y="2420888"/>
                <a:ext cx="5544616"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第一步：控制附加约束，使结点位移</a:t>
                </a:r>
                <a14:m>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a:ea typeface="Cambria Math"/>
                          </a:rPr>
                          <m:t>∆</m:t>
                        </m:r>
                      </m:e>
                      <m:sub>
                        <m:r>
                          <a:rPr lang="en-US" altLang="zh-CN" b="0" i="1" smtClean="0">
                            <a:latin typeface="Cambria Math"/>
                          </a:rPr>
                          <m:t>1</m:t>
                        </m:r>
                      </m:sub>
                    </m:sSub>
                  </m:oMath>
                </a14:m>
                <a:r>
                  <a:rPr lang="zh-CN" altLang="en-US" dirty="0">
                    <a:latin typeface="楷体" panose="02010609060101010101" pitchFamily="49" charset="-122"/>
                    <a:ea typeface="楷体" panose="02010609060101010101" pitchFamily="49" charset="-122"/>
                  </a:rPr>
                  <a:t>和</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a:ea typeface="Cambria Math"/>
                          </a:rPr>
                          <m:t>∆</m:t>
                        </m:r>
                      </m:e>
                      <m:sub>
                        <m:r>
                          <a:rPr lang="en-US" altLang="zh-CN" b="0" i="1" dirty="0" smtClean="0">
                            <a:latin typeface="Cambria Math"/>
                          </a:rPr>
                          <m:t>2</m:t>
                        </m:r>
                      </m:sub>
                    </m:sSub>
                  </m:oMath>
                </a14:m>
                <a:r>
                  <a:rPr lang="zh-CN" altLang="en-US" dirty="0">
                    <a:latin typeface="楷体" panose="02010609060101010101" pitchFamily="49" charset="-122"/>
                    <a:ea typeface="楷体" panose="02010609060101010101" pitchFamily="49" charset="-122"/>
                  </a:rPr>
                  <a:t>全部为零。</a:t>
                </a:r>
              </a:p>
            </p:txBody>
          </p:sp>
        </mc:Choice>
        <mc:Fallback xmlns="">
          <p:sp>
            <p:nvSpPr>
              <p:cNvPr id="5" name="TextBox 4"/>
              <p:cNvSpPr txBox="1">
                <a:spLocks noRot="1" noChangeAspect="1" noMove="1" noResize="1" noEditPoints="1" noAdjustHandles="1" noChangeArrowheads="1" noChangeShapeType="1" noTextEdit="1"/>
              </p:cNvSpPr>
              <p:nvPr/>
            </p:nvSpPr>
            <p:spPr>
              <a:xfrm>
                <a:off x="827584" y="2420888"/>
                <a:ext cx="5544616" cy="369332"/>
              </a:xfrm>
              <a:prstGeom prst="rect">
                <a:avLst/>
              </a:prstGeom>
              <a:blipFill rotWithShape="1">
                <a:blip r:embed="rId5"/>
                <a:stretch>
                  <a:fillRect l="-990" t="-11475" r="-4950" b="-21311"/>
                </a:stretch>
              </a:blipFill>
            </p:spPr>
            <p:txBody>
              <a:bodyPr/>
              <a:lstStyle/>
              <a:p>
                <a:r>
                  <a:rPr lang="zh-CN" altLang="en-US">
                    <a:noFill/>
                  </a:rPr>
                  <a:t> </a:t>
                </a:r>
              </a:p>
            </p:txBody>
          </p:sp>
        </mc:Fallback>
      </mc:AlternateContent>
      <p:sp>
        <p:nvSpPr>
          <p:cNvPr id="6" name="TextBox 5"/>
          <p:cNvSpPr txBox="1"/>
          <p:nvPr/>
        </p:nvSpPr>
        <p:spPr>
          <a:xfrm>
            <a:off x="6588224" y="1834686"/>
            <a:ext cx="2016224" cy="646331"/>
          </a:xfrm>
          <a:prstGeom prst="rect">
            <a:avLst/>
          </a:prstGeom>
          <a:noFill/>
        </p:spPr>
        <p:txBody>
          <a:bodyPr wrap="square" rtlCol="0">
            <a:spAutoFit/>
          </a:bodyPr>
          <a:lstStyle/>
          <a:p>
            <a:r>
              <a:rPr lang="zh-CN" altLang="en-US" dirty="0">
                <a:solidFill>
                  <a:srgbClr val="FFC000"/>
                </a:solidFill>
                <a:latin typeface="楷体" panose="02010609060101010101" pitchFamily="49" charset="-122"/>
                <a:ea typeface="楷体" panose="02010609060101010101" pitchFamily="49" charset="-122"/>
              </a:rPr>
              <a:t>通过基本结构分别考虑。</a:t>
            </a:r>
          </a:p>
        </p:txBody>
      </p:sp>
      <mc:AlternateContent xmlns:mc="http://schemas.openxmlformats.org/markup-compatibility/2006" xmlns:a14="http://schemas.microsoft.com/office/drawing/2010/main">
        <mc:Choice Requires="a14">
          <p:sp>
            <p:nvSpPr>
              <p:cNvPr id="7" name="TextBox 6"/>
              <p:cNvSpPr txBox="1"/>
              <p:nvPr/>
            </p:nvSpPr>
            <p:spPr>
              <a:xfrm>
                <a:off x="4211960" y="3117115"/>
                <a:ext cx="4176464" cy="1200329"/>
              </a:xfrm>
              <a:prstGeom prst="rect">
                <a:avLst/>
              </a:prstGeom>
              <a:noFill/>
            </p:spPr>
            <p:txBody>
              <a:bodyPr wrap="square" rtlCol="0">
                <a:spAutoFit/>
              </a:bodyPr>
              <a:lstStyle/>
              <a:p>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这时基本结构处于锁住状态，施加荷载后，在附加约束中会产生</a:t>
                </a:r>
                <a:r>
                  <a:rPr lang="zh-CN" altLang="en-US"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约束力矩</a:t>
                </a:r>
                <a14:m>
                  <m:oMath xmlns:m="http://schemas.openxmlformats.org/officeDocument/2006/math">
                    <m:sSub>
                      <m:sSubPr>
                        <m:ctrlPr>
                          <a:rPr lang="en-US" altLang="zh-CN" i="1" smtClean="0">
                            <a:effectLst>
                              <a:outerShdw blurRad="38100" dist="38100" dir="2700000" algn="tl">
                                <a:srgbClr val="000000">
                                  <a:alpha val="43137"/>
                                </a:srgbClr>
                              </a:outerShdw>
                            </a:effectLst>
                            <a:latin typeface="Cambria Math" panose="02040503050406030204" pitchFamily="18" charset="0"/>
                          </a:rPr>
                        </m:ctrlPr>
                      </m:sSubPr>
                      <m:e>
                        <m:r>
                          <a:rPr lang="en-US" altLang="zh-CN" b="0" i="1" smtClean="0">
                            <a:effectLst>
                              <a:outerShdw blurRad="38100" dist="38100" dir="2700000" algn="tl">
                                <a:srgbClr val="000000">
                                  <a:alpha val="43137"/>
                                </a:srgbClr>
                              </a:outerShdw>
                            </a:effectLst>
                            <a:latin typeface="Cambria Math"/>
                          </a:rPr>
                          <m:t>𝐹</m:t>
                        </m:r>
                      </m:e>
                      <m:sub>
                        <m:r>
                          <a:rPr lang="en-US" altLang="zh-CN" b="0" i="1" smtClean="0">
                            <a:effectLst>
                              <a:outerShdw blurRad="38100" dist="38100" dir="2700000" algn="tl">
                                <a:srgbClr val="000000">
                                  <a:alpha val="43137"/>
                                </a:srgbClr>
                              </a:outerShdw>
                            </a:effectLst>
                            <a:latin typeface="Cambria Math"/>
                          </a:rPr>
                          <m:t>1</m:t>
                        </m:r>
                        <m:r>
                          <a:rPr lang="en-US" altLang="zh-CN" b="0" i="1" smtClean="0">
                            <a:effectLst>
                              <a:outerShdw blurRad="38100" dist="38100" dir="2700000" algn="tl">
                                <a:srgbClr val="000000">
                                  <a:alpha val="43137"/>
                                </a:srgbClr>
                              </a:outerShdw>
                            </a:effectLst>
                            <a:latin typeface="Cambria Math"/>
                          </a:rPr>
                          <m:t>𝑃</m:t>
                        </m:r>
                      </m:sub>
                    </m:sSub>
                  </m:oMath>
                </a14:m>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和</a:t>
                </a:r>
                <a:r>
                  <a:rPr lang="zh-CN" altLang="en-US"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约束水平力</a:t>
                </a:r>
                <a14:m>
                  <m:oMath xmlns:m="http://schemas.openxmlformats.org/officeDocument/2006/math">
                    <m:sSub>
                      <m:sSubPr>
                        <m:ctrlPr>
                          <a:rPr lang="en-US" altLang="zh-CN" i="1" smtClean="0">
                            <a:effectLst>
                              <a:outerShdw blurRad="38100" dist="38100" dir="2700000" algn="tl">
                                <a:srgbClr val="000000">
                                  <a:alpha val="43137"/>
                                </a:srgbClr>
                              </a:outerShdw>
                            </a:effectLst>
                            <a:latin typeface="Cambria Math" panose="02040503050406030204" pitchFamily="18" charset="0"/>
                          </a:rPr>
                        </m:ctrlPr>
                      </m:sSubPr>
                      <m:e>
                        <m:r>
                          <a:rPr lang="en-US" altLang="zh-CN" b="0" i="1" smtClean="0">
                            <a:effectLst>
                              <a:outerShdw blurRad="38100" dist="38100" dir="2700000" algn="tl">
                                <a:srgbClr val="000000">
                                  <a:alpha val="43137"/>
                                </a:srgbClr>
                              </a:outerShdw>
                            </a:effectLst>
                            <a:latin typeface="Cambria Math"/>
                          </a:rPr>
                          <m:t>𝐹</m:t>
                        </m:r>
                      </m:e>
                      <m:sub>
                        <m:r>
                          <a:rPr lang="en-US" altLang="zh-CN" b="0" i="1" smtClean="0">
                            <a:effectLst>
                              <a:outerShdw blurRad="38100" dist="38100" dir="2700000" algn="tl">
                                <a:srgbClr val="000000">
                                  <a:alpha val="43137"/>
                                </a:srgbClr>
                              </a:outerShdw>
                            </a:effectLst>
                            <a:latin typeface="Cambria Math"/>
                          </a:rPr>
                          <m:t>2</m:t>
                        </m:r>
                        <m:r>
                          <a:rPr lang="en-US" altLang="zh-CN" b="0" i="1" smtClean="0">
                            <a:effectLst>
                              <a:outerShdw blurRad="38100" dist="38100" dir="2700000" algn="tl">
                                <a:srgbClr val="000000">
                                  <a:alpha val="43137"/>
                                </a:srgbClr>
                              </a:outerShdw>
                            </a:effectLst>
                            <a:latin typeface="Cambria Math"/>
                          </a:rPr>
                          <m:t>𝑃</m:t>
                        </m:r>
                      </m:sub>
                    </m:sSub>
                  </m:oMath>
                </a14:m>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。（注意，这些力在原结构是没有的。下标物理意义同力法。）</a:t>
                </a:r>
              </a:p>
            </p:txBody>
          </p:sp>
        </mc:Choice>
        <mc:Fallback xmlns="">
          <p:sp>
            <p:nvSpPr>
              <p:cNvPr id="7" name="TextBox 6"/>
              <p:cNvSpPr txBox="1">
                <a:spLocks noRot="1" noChangeAspect="1" noMove="1" noResize="1" noEditPoints="1" noAdjustHandles="1" noChangeArrowheads="1" noChangeShapeType="1" noTextEdit="1"/>
              </p:cNvSpPr>
              <p:nvPr/>
            </p:nvSpPr>
            <p:spPr>
              <a:xfrm>
                <a:off x="4211960" y="3117115"/>
                <a:ext cx="4176464" cy="1200329"/>
              </a:xfrm>
              <a:prstGeom prst="rect">
                <a:avLst/>
              </a:prstGeom>
              <a:blipFill rotWithShape="1">
                <a:blip r:embed="rId6"/>
                <a:stretch>
                  <a:fillRect l="-1314" t="-2538" r="-1898" b="-96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827584" y="4461414"/>
                <a:ext cx="7920880" cy="646331"/>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第二步：再控制附加约束，使基本结构发生结点位移</a:t>
                </a:r>
                <a14:m>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a:ea typeface="Cambria Math"/>
                          </a:rPr>
                          <m:t>∆</m:t>
                        </m:r>
                      </m:e>
                      <m:sub>
                        <m:r>
                          <a:rPr lang="en-US" altLang="zh-CN" b="0" i="1" smtClean="0">
                            <a:latin typeface="Cambria Math"/>
                          </a:rPr>
                          <m:t>1</m:t>
                        </m:r>
                      </m:sub>
                    </m:sSub>
                  </m:oMath>
                </a14:m>
                <a:r>
                  <a:rPr lang="zh-CN" altLang="en-US" dirty="0">
                    <a:latin typeface="楷体" panose="02010609060101010101" pitchFamily="49" charset="-122"/>
                    <a:ea typeface="楷体" panose="02010609060101010101" pitchFamily="49" charset="-122"/>
                  </a:rPr>
                  <a:t>和</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a:ea typeface="Cambria Math"/>
                          </a:rPr>
                          <m:t>∆</m:t>
                        </m:r>
                      </m:e>
                      <m:sub>
                        <m:r>
                          <a:rPr lang="en-US" altLang="zh-CN" b="0" i="1" dirty="0" smtClean="0">
                            <a:latin typeface="Cambria Math"/>
                          </a:rPr>
                          <m:t>2</m:t>
                        </m:r>
                      </m:sub>
                    </m:sSub>
                  </m:oMath>
                </a14:m>
                <a:r>
                  <a:rPr lang="zh-CN" altLang="en-US" dirty="0">
                    <a:latin typeface="楷体" panose="02010609060101010101" pitchFamily="49" charset="-122"/>
                    <a:ea typeface="楷体" panose="02010609060101010101" pitchFamily="49" charset="-122"/>
                  </a:rPr>
                  <a:t>，这时附加约束中的约束力</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a:rPr>
                          <m:t>𝐹</m:t>
                        </m:r>
                      </m:e>
                      <m:sub>
                        <m:r>
                          <a:rPr lang="en-US" altLang="zh-CN" b="0" i="1" smtClean="0">
                            <a:latin typeface="Cambria Math"/>
                          </a:rPr>
                          <m:t>1</m:t>
                        </m:r>
                      </m:sub>
                    </m:sSub>
                  </m:oMath>
                </a14:m>
                <a:r>
                  <a:rPr lang="zh-CN" altLang="en-US" dirty="0">
                    <a:latin typeface="楷体" panose="02010609060101010101" pitchFamily="49" charset="-122"/>
                    <a:ea typeface="楷体" panose="02010609060101010101" pitchFamily="49" charset="-122"/>
                  </a:rPr>
                  <a:t>和</a:t>
                </a:r>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a:rPr>
                          <m:t>𝐹</m:t>
                        </m:r>
                      </m:e>
                      <m:sub>
                        <m:r>
                          <a:rPr lang="en-US" altLang="zh-CN" b="0" i="1" dirty="0" smtClean="0">
                            <a:latin typeface="Cambria Math"/>
                          </a:rPr>
                          <m:t>2</m:t>
                        </m:r>
                      </m:sub>
                    </m:sSub>
                  </m:oMath>
                </a14:m>
                <a:r>
                  <a:rPr lang="zh-CN" altLang="en-US" dirty="0">
                    <a:latin typeface="楷体" panose="02010609060101010101" pitchFamily="49" charset="-122"/>
                    <a:ea typeface="楷体" panose="02010609060101010101" pitchFamily="49" charset="-122"/>
                  </a:rPr>
                  <a:t>将随之改变。</a:t>
                </a:r>
              </a:p>
            </p:txBody>
          </p:sp>
        </mc:Choice>
        <mc:Fallback xmlns="">
          <p:sp>
            <p:nvSpPr>
              <p:cNvPr id="8" name="TextBox 7"/>
              <p:cNvSpPr txBox="1">
                <a:spLocks noRot="1" noChangeAspect="1" noMove="1" noResize="1" noEditPoints="1" noAdjustHandles="1" noChangeArrowheads="1" noChangeShapeType="1" noTextEdit="1"/>
              </p:cNvSpPr>
              <p:nvPr/>
            </p:nvSpPr>
            <p:spPr>
              <a:xfrm>
                <a:off x="827584" y="4461414"/>
                <a:ext cx="7920880" cy="646331"/>
              </a:xfrm>
              <a:prstGeom prst="rect">
                <a:avLst/>
              </a:prstGeom>
              <a:blipFill rotWithShape="1">
                <a:blip r:embed="rId7"/>
                <a:stretch>
                  <a:fillRect l="-693" t="-6604" b="-122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211960" y="5228877"/>
                <a:ext cx="4536504" cy="646331"/>
              </a:xfrm>
              <a:prstGeom prst="rect">
                <a:avLst/>
              </a:prstGeom>
              <a:noFill/>
            </p:spPr>
            <p:txBody>
              <a:bodyPr wrap="square" rtlCol="0">
                <a:spAutoFit/>
              </a:bodyPr>
              <a:lstStyle/>
              <a:p>
                <a:r>
                  <a:rPr lang="zh-CN" altLang="en-US" dirty="0">
                    <a:solidFill>
                      <a:srgbClr val="92D050"/>
                    </a:solidFill>
                    <a:latin typeface="楷体" panose="02010609060101010101" pitchFamily="49" charset="-122"/>
                    <a:ea typeface="楷体" panose="02010609060101010101" pitchFamily="49" charset="-122"/>
                  </a:rPr>
                  <a:t>如果控制结点位移</a:t>
                </a:r>
                <a14:m>
                  <m:oMath xmlns:m="http://schemas.openxmlformats.org/officeDocument/2006/math">
                    <m:sSub>
                      <m:sSubPr>
                        <m:ctrlPr>
                          <a:rPr lang="en-US" altLang="zh-CN" i="1" smtClean="0">
                            <a:solidFill>
                              <a:srgbClr val="92D050"/>
                            </a:solidFill>
                            <a:latin typeface="Cambria Math" panose="02040503050406030204" pitchFamily="18" charset="0"/>
                          </a:rPr>
                        </m:ctrlPr>
                      </m:sSubPr>
                      <m:e>
                        <m:r>
                          <a:rPr lang="en-US" altLang="zh-CN" i="1" smtClean="0">
                            <a:solidFill>
                              <a:srgbClr val="92D050"/>
                            </a:solidFill>
                            <a:latin typeface="Cambria Math"/>
                            <a:ea typeface="Cambria Math"/>
                          </a:rPr>
                          <m:t>∆</m:t>
                        </m:r>
                      </m:e>
                      <m:sub>
                        <m:r>
                          <a:rPr lang="en-US" altLang="zh-CN" b="0" i="1" smtClean="0">
                            <a:solidFill>
                              <a:srgbClr val="92D050"/>
                            </a:solidFill>
                            <a:latin typeface="Cambria Math"/>
                          </a:rPr>
                          <m:t>1</m:t>
                        </m:r>
                      </m:sub>
                    </m:sSub>
                  </m:oMath>
                </a14:m>
                <a:r>
                  <a:rPr lang="zh-CN" altLang="en-US" dirty="0">
                    <a:solidFill>
                      <a:srgbClr val="92D050"/>
                    </a:solidFill>
                    <a:latin typeface="楷体" panose="02010609060101010101" pitchFamily="49" charset="-122"/>
                    <a:ea typeface="楷体" panose="02010609060101010101" pitchFamily="49" charset="-122"/>
                  </a:rPr>
                  <a:t>和</a:t>
                </a:r>
                <a14:m>
                  <m:oMath xmlns:m="http://schemas.openxmlformats.org/officeDocument/2006/math">
                    <m:sSub>
                      <m:sSubPr>
                        <m:ctrlPr>
                          <a:rPr lang="en-US" altLang="zh-CN" i="1" dirty="0" smtClean="0">
                            <a:solidFill>
                              <a:srgbClr val="92D050"/>
                            </a:solidFill>
                            <a:latin typeface="Cambria Math" panose="02040503050406030204" pitchFamily="18" charset="0"/>
                          </a:rPr>
                        </m:ctrlPr>
                      </m:sSubPr>
                      <m:e>
                        <m:r>
                          <a:rPr lang="en-US" altLang="zh-CN" i="1" dirty="0" smtClean="0">
                            <a:solidFill>
                              <a:srgbClr val="92D050"/>
                            </a:solidFill>
                            <a:latin typeface="Cambria Math"/>
                            <a:ea typeface="Cambria Math"/>
                          </a:rPr>
                          <m:t>∆</m:t>
                        </m:r>
                      </m:e>
                      <m:sub>
                        <m:r>
                          <a:rPr lang="en-US" altLang="zh-CN" b="0" i="1" dirty="0" smtClean="0">
                            <a:solidFill>
                              <a:srgbClr val="92D050"/>
                            </a:solidFill>
                            <a:latin typeface="Cambria Math"/>
                          </a:rPr>
                          <m:t>2</m:t>
                        </m:r>
                      </m:sub>
                    </m:sSub>
                  </m:oMath>
                </a14:m>
                <a:r>
                  <a:rPr lang="en-US" altLang="zh-CN" dirty="0">
                    <a:solidFill>
                      <a:srgbClr val="92D050"/>
                    </a:solidFill>
                    <a:latin typeface="楷体" panose="02010609060101010101" pitchFamily="49" charset="-122"/>
                    <a:ea typeface="楷体" panose="02010609060101010101" pitchFamily="49" charset="-122"/>
                  </a:rPr>
                  <a:t> = </a:t>
                </a:r>
                <a:r>
                  <a:rPr lang="zh-CN" altLang="en-US" dirty="0">
                    <a:solidFill>
                      <a:srgbClr val="92D050"/>
                    </a:solidFill>
                    <a:latin typeface="楷体" panose="02010609060101010101" pitchFamily="49" charset="-122"/>
                    <a:ea typeface="楷体" panose="02010609060101010101" pitchFamily="49" charset="-122"/>
                  </a:rPr>
                  <a:t>原结构的实际值</a:t>
                </a:r>
              </a:p>
            </p:txBody>
          </p:sp>
        </mc:Choice>
        <mc:Fallback xmlns="">
          <p:sp>
            <p:nvSpPr>
              <p:cNvPr id="9" name="TextBox 8"/>
              <p:cNvSpPr txBox="1">
                <a:spLocks noRot="1" noChangeAspect="1" noMove="1" noResize="1" noEditPoints="1" noAdjustHandles="1" noChangeArrowheads="1" noChangeShapeType="1" noTextEdit="1"/>
              </p:cNvSpPr>
              <p:nvPr/>
            </p:nvSpPr>
            <p:spPr>
              <a:xfrm>
                <a:off x="4211960" y="5228877"/>
                <a:ext cx="4536504" cy="646331"/>
              </a:xfrm>
              <a:prstGeom prst="rect">
                <a:avLst/>
              </a:prstGeom>
              <a:blipFill rotWithShape="1">
                <a:blip r:embed="rId8"/>
                <a:stretch>
                  <a:fillRect l="-1210" t="-6604" b="-14151"/>
                </a:stretch>
              </a:blipFill>
            </p:spPr>
            <p:txBody>
              <a:bodyPr/>
              <a:lstStyle/>
              <a:p>
                <a:r>
                  <a:rPr lang="zh-CN" altLang="en-US">
                    <a:noFill/>
                  </a:rPr>
                  <a:t> </a:t>
                </a:r>
              </a:p>
            </p:txBody>
          </p:sp>
        </mc:Fallback>
      </mc:AlternateContent>
      <p:pic>
        <p:nvPicPr>
          <p:cNvPr id="10" name="Picture 1" descr="C:\Users\Administrator\AppData\Roaming\Tencent\Users\42337577\QQ\WinTemp\RichOle\B8GWR{F5]C@A@4}[1W(_E]4.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74119" y="5085183"/>
            <a:ext cx="2162175" cy="13811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对象 11"/>
          <p:cNvGraphicFramePr>
            <a:graphicFrameLocks noChangeAspect="1"/>
          </p:cNvGraphicFramePr>
          <p:nvPr>
            <p:extLst>
              <p:ext uri="{D42A27DB-BD31-4B8C-83A1-F6EECF244321}">
                <p14:modId xmlns:p14="http://schemas.microsoft.com/office/powerpoint/2010/main" val="3925678399"/>
              </p:ext>
            </p:extLst>
          </p:nvPr>
        </p:nvGraphicFramePr>
        <p:xfrm>
          <a:off x="5915000" y="5775745"/>
          <a:ext cx="914400" cy="279400"/>
        </p:xfrm>
        <a:graphic>
          <a:graphicData uri="http://schemas.openxmlformats.org/presentationml/2006/ole">
            <mc:AlternateContent xmlns:mc="http://schemas.openxmlformats.org/markup-compatibility/2006">
              <mc:Choice xmlns:v="urn:schemas-microsoft-com:vml" Requires="v">
                <p:oleObj spid="_x0000_s62624" name="Equation" r:id="rId10" imgW="914400" imgH="279360" progId="Equation.DSMT4">
                  <p:embed/>
                </p:oleObj>
              </mc:Choice>
              <mc:Fallback>
                <p:oleObj name="Equation" r:id="rId10" imgW="914400" imgH="279360" progId="Equation.DSMT4">
                  <p:embed/>
                  <p:pic>
                    <p:nvPicPr>
                      <p:cNvPr id="0" name=""/>
                      <p:cNvPicPr/>
                      <p:nvPr/>
                    </p:nvPicPr>
                    <p:blipFill>
                      <a:blip r:embed="rId11"/>
                      <a:stretch>
                        <a:fillRect/>
                      </a:stretch>
                    </p:blipFill>
                    <p:spPr>
                      <a:xfrm>
                        <a:off x="5915000" y="5775745"/>
                        <a:ext cx="914400" cy="279400"/>
                      </a:xfrm>
                      <a:prstGeom prst="rect">
                        <a:avLst/>
                      </a:prstGeom>
                    </p:spPr>
                  </p:pic>
                </p:oleObj>
              </mc:Fallback>
            </mc:AlternateContent>
          </a:graphicData>
        </a:graphic>
      </p:graphicFrame>
      <p:sp>
        <p:nvSpPr>
          <p:cNvPr id="13" name="TextBox 12"/>
          <p:cNvSpPr txBox="1"/>
          <p:nvPr/>
        </p:nvSpPr>
        <p:spPr>
          <a:xfrm>
            <a:off x="5328084" y="6237312"/>
            <a:ext cx="2268252" cy="369332"/>
          </a:xfrm>
          <a:prstGeom prst="rect">
            <a:avLst/>
          </a:prstGeom>
          <a:noFill/>
        </p:spPr>
        <p:txBody>
          <a:bodyPr wrap="square" rtlCol="0">
            <a:spAutoFit/>
          </a:bodyPr>
          <a:lstStyle/>
          <a:p>
            <a:r>
              <a:rPr lang="zh-CN" altLang="en-US" dirty="0">
                <a:solidFill>
                  <a:srgbClr val="FF0000"/>
                </a:solidFill>
                <a:latin typeface="楷体" panose="02010609060101010101" pitchFamily="49" charset="-122"/>
                <a:ea typeface="楷体" panose="02010609060101010101" pitchFamily="49" charset="-122"/>
              </a:rPr>
              <a:t>附加约束不起作用！</a:t>
            </a:r>
          </a:p>
        </p:txBody>
      </p:sp>
    </p:spTree>
    <p:extLst>
      <p:ext uri="{BB962C8B-B14F-4D97-AF65-F5344CB8AC3E}">
        <p14:creationId xmlns:p14="http://schemas.microsoft.com/office/powerpoint/2010/main" val="548585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246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5" grpId="0"/>
      <p:bldP spid="6" grpId="0"/>
      <p:bldP spid="7" grpId="0"/>
      <p:bldP spid="8" grpId="0"/>
      <p:bldP spid="9"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67544" y="1340768"/>
            <a:ext cx="8280920" cy="369332"/>
          </a:xfrm>
          <a:prstGeom prst="rect">
            <a:avLst/>
          </a:prstGeom>
          <a:noFill/>
        </p:spPr>
        <p:txBody>
          <a:bodyPr wrap="square" rtlCol="0">
            <a:spAutoFit/>
          </a:bodyPr>
          <a:lstStyle/>
          <a:p>
            <a:r>
              <a:rPr lang="zh-CN" altLang="en-US" b="1" dirty="0">
                <a:latin typeface="楷体" panose="02010609060101010101" pitchFamily="49" charset="-122"/>
                <a:ea typeface="楷体" panose="02010609060101010101" pitchFamily="49" charset="-122"/>
              </a:rPr>
              <a:t>基本体系转化为原结构的条件：</a:t>
            </a:r>
          </a:p>
        </p:txBody>
      </p:sp>
      <mc:AlternateContent xmlns:mc="http://schemas.openxmlformats.org/markup-compatibility/2006" xmlns:a14="http://schemas.microsoft.com/office/drawing/2010/main">
        <mc:Choice Requires="a14">
          <p:sp>
            <p:nvSpPr>
              <p:cNvPr id="4" name="TextBox 3"/>
              <p:cNvSpPr txBox="1"/>
              <p:nvPr/>
            </p:nvSpPr>
            <p:spPr>
              <a:xfrm>
                <a:off x="747625" y="1789610"/>
                <a:ext cx="8000839" cy="646331"/>
              </a:xfrm>
              <a:prstGeom prst="rect">
                <a:avLst/>
              </a:prstGeom>
              <a:noFill/>
            </p:spPr>
            <p:txBody>
              <a:bodyPr wrap="square" rtlCol="0">
                <a:spAutoFit/>
              </a:bodyPr>
              <a:lstStyle/>
              <a:p>
                <a:r>
                  <a:rPr lang="zh-CN" altLang="en-US" dirty="0">
                    <a:solidFill>
                      <a:srgbClr val="FFC000"/>
                    </a:solidFill>
                    <a:latin typeface="楷体" panose="02010609060101010101" pitchFamily="49" charset="-122"/>
                    <a:ea typeface="楷体" panose="02010609060101010101" pitchFamily="49" charset="-122"/>
                  </a:rPr>
                  <a:t>基本结构在给定荷载及真实结点位移</a:t>
                </a:r>
                <a14:m>
                  <m:oMath xmlns:m="http://schemas.openxmlformats.org/officeDocument/2006/math">
                    <m:sSub>
                      <m:sSubPr>
                        <m:ctrlPr>
                          <a:rPr lang="en-US" altLang="zh-CN" i="1" smtClean="0">
                            <a:solidFill>
                              <a:srgbClr val="FFC000"/>
                            </a:solidFill>
                            <a:latin typeface="Cambria Math" panose="02040503050406030204" pitchFamily="18" charset="0"/>
                          </a:rPr>
                        </m:ctrlPr>
                      </m:sSubPr>
                      <m:e>
                        <m:r>
                          <a:rPr lang="en-US" altLang="zh-CN" i="1" smtClean="0">
                            <a:solidFill>
                              <a:srgbClr val="FFC000"/>
                            </a:solidFill>
                            <a:latin typeface="Cambria Math"/>
                            <a:ea typeface="Cambria Math"/>
                          </a:rPr>
                          <m:t>∆</m:t>
                        </m:r>
                      </m:e>
                      <m:sub>
                        <m:r>
                          <a:rPr lang="en-US" altLang="zh-CN" b="0" i="1" smtClean="0">
                            <a:solidFill>
                              <a:srgbClr val="FFC000"/>
                            </a:solidFill>
                            <a:latin typeface="Cambria Math"/>
                          </a:rPr>
                          <m:t>1</m:t>
                        </m:r>
                      </m:sub>
                    </m:sSub>
                  </m:oMath>
                </a14:m>
                <a:r>
                  <a:rPr lang="zh-CN" altLang="en-US" dirty="0">
                    <a:solidFill>
                      <a:srgbClr val="FFC000"/>
                    </a:solidFill>
                    <a:latin typeface="楷体" panose="02010609060101010101" pitchFamily="49" charset="-122"/>
                    <a:ea typeface="楷体" panose="02010609060101010101" pitchFamily="49" charset="-122"/>
                  </a:rPr>
                  <a:t>和</a:t>
                </a:r>
                <a14:m>
                  <m:oMath xmlns:m="http://schemas.openxmlformats.org/officeDocument/2006/math">
                    <m:sSub>
                      <m:sSubPr>
                        <m:ctrlPr>
                          <a:rPr lang="en-US" altLang="zh-CN" i="1" dirty="0" smtClean="0">
                            <a:solidFill>
                              <a:srgbClr val="FFC000"/>
                            </a:solidFill>
                            <a:latin typeface="Cambria Math" panose="02040503050406030204" pitchFamily="18" charset="0"/>
                          </a:rPr>
                        </m:ctrlPr>
                      </m:sSubPr>
                      <m:e>
                        <m:r>
                          <a:rPr lang="en-US" altLang="zh-CN" i="1" dirty="0" smtClean="0">
                            <a:solidFill>
                              <a:srgbClr val="FFC000"/>
                            </a:solidFill>
                            <a:latin typeface="Cambria Math"/>
                            <a:ea typeface="Cambria Math"/>
                          </a:rPr>
                          <m:t>∆</m:t>
                        </m:r>
                      </m:e>
                      <m:sub>
                        <m:r>
                          <a:rPr lang="en-US" altLang="zh-CN" b="0" i="1" dirty="0" smtClean="0">
                            <a:solidFill>
                              <a:srgbClr val="FFC000"/>
                            </a:solidFill>
                            <a:latin typeface="Cambria Math"/>
                          </a:rPr>
                          <m:t>2</m:t>
                        </m:r>
                      </m:sub>
                    </m:sSub>
                  </m:oMath>
                </a14:m>
                <a:r>
                  <a:rPr lang="zh-CN" altLang="en-US" dirty="0">
                    <a:solidFill>
                      <a:srgbClr val="FFC000"/>
                    </a:solidFill>
                    <a:latin typeface="楷体" panose="02010609060101010101" pitchFamily="49" charset="-122"/>
                    <a:ea typeface="楷体" panose="02010609060101010101" pitchFamily="49" charset="-122"/>
                  </a:rPr>
                  <a:t>共同作用下，在附加约束中产生的总约束力</a:t>
                </a:r>
                <a14:m>
                  <m:oMath xmlns:m="http://schemas.openxmlformats.org/officeDocument/2006/math">
                    <m:sSub>
                      <m:sSubPr>
                        <m:ctrlPr>
                          <a:rPr lang="en-US" altLang="zh-CN" i="1" smtClean="0">
                            <a:solidFill>
                              <a:srgbClr val="FFC000"/>
                            </a:solidFill>
                            <a:latin typeface="Cambria Math" panose="02040503050406030204" pitchFamily="18" charset="0"/>
                          </a:rPr>
                        </m:ctrlPr>
                      </m:sSubPr>
                      <m:e>
                        <m:r>
                          <a:rPr lang="en-US" altLang="zh-CN" b="0" i="1" smtClean="0">
                            <a:solidFill>
                              <a:srgbClr val="FFC000"/>
                            </a:solidFill>
                            <a:latin typeface="Cambria Math"/>
                          </a:rPr>
                          <m:t>𝐹</m:t>
                        </m:r>
                      </m:e>
                      <m:sub>
                        <m:r>
                          <a:rPr lang="en-US" altLang="zh-CN" b="0" i="1" smtClean="0">
                            <a:solidFill>
                              <a:srgbClr val="FFC000"/>
                            </a:solidFill>
                            <a:latin typeface="Cambria Math"/>
                          </a:rPr>
                          <m:t>1</m:t>
                        </m:r>
                      </m:sub>
                    </m:sSub>
                  </m:oMath>
                </a14:m>
                <a:r>
                  <a:rPr lang="zh-CN" altLang="en-US" dirty="0">
                    <a:solidFill>
                      <a:srgbClr val="FFC000"/>
                    </a:solidFill>
                    <a:latin typeface="楷体" panose="02010609060101010101" pitchFamily="49" charset="-122"/>
                    <a:ea typeface="楷体" panose="02010609060101010101" pitchFamily="49" charset="-122"/>
                  </a:rPr>
                  <a:t>和</a:t>
                </a:r>
                <a14:m>
                  <m:oMath xmlns:m="http://schemas.openxmlformats.org/officeDocument/2006/math">
                    <m:sSub>
                      <m:sSubPr>
                        <m:ctrlPr>
                          <a:rPr lang="en-US" altLang="zh-CN" i="1" dirty="0" smtClean="0">
                            <a:solidFill>
                              <a:srgbClr val="FFC000"/>
                            </a:solidFill>
                            <a:latin typeface="Cambria Math" panose="02040503050406030204" pitchFamily="18" charset="0"/>
                          </a:rPr>
                        </m:ctrlPr>
                      </m:sSubPr>
                      <m:e>
                        <m:r>
                          <a:rPr lang="en-US" altLang="zh-CN" b="0" i="1" dirty="0" smtClean="0">
                            <a:solidFill>
                              <a:srgbClr val="FFC000"/>
                            </a:solidFill>
                            <a:latin typeface="Cambria Math"/>
                          </a:rPr>
                          <m:t>𝐹</m:t>
                        </m:r>
                      </m:e>
                      <m:sub>
                        <m:r>
                          <a:rPr lang="en-US" altLang="zh-CN" b="0" i="1" dirty="0" smtClean="0">
                            <a:solidFill>
                              <a:srgbClr val="FFC000"/>
                            </a:solidFill>
                            <a:latin typeface="Cambria Math"/>
                          </a:rPr>
                          <m:t>2</m:t>
                        </m:r>
                      </m:sub>
                    </m:sSub>
                  </m:oMath>
                </a14:m>
                <a:r>
                  <a:rPr lang="zh-CN" altLang="en-US" dirty="0">
                    <a:solidFill>
                      <a:srgbClr val="FFC000"/>
                    </a:solidFill>
                    <a:latin typeface="楷体" panose="02010609060101010101" pitchFamily="49" charset="-122"/>
                    <a:ea typeface="楷体" panose="02010609060101010101" pitchFamily="49" charset="-122"/>
                  </a:rPr>
                  <a:t>应</a:t>
                </a:r>
                <a:r>
                  <a:rPr lang="zh-CN" altLang="en-US" b="1" dirty="0">
                    <a:solidFill>
                      <a:srgbClr val="FF0000"/>
                    </a:solidFill>
                    <a:latin typeface="楷体" panose="02010609060101010101" pitchFamily="49" charset="-122"/>
                    <a:ea typeface="楷体" panose="02010609060101010101" pitchFamily="49" charset="-122"/>
                  </a:rPr>
                  <a:t>等于零</a:t>
                </a:r>
                <a:r>
                  <a:rPr lang="zh-CN" altLang="en-US" dirty="0">
                    <a:solidFill>
                      <a:srgbClr val="FFC000"/>
                    </a:solidFill>
                    <a:latin typeface="楷体" panose="02010609060101010101" pitchFamily="49" charset="-122"/>
                    <a:ea typeface="楷体" panose="02010609060101010101" pitchFamily="49" charset="-122"/>
                  </a:rPr>
                  <a:t>。</a:t>
                </a:r>
              </a:p>
            </p:txBody>
          </p:sp>
        </mc:Choice>
        <mc:Fallback xmlns="">
          <p:sp>
            <p:nvSpPr>
              <p:cNvPr id="4" name="TextBox 3"/>
              <p:cNvSpPr txBox="1">
                <a:spLocks noRot="1" noChangeAspect="1" noMove="1" noResize="1" noEditPoints="1" noAdjustHandles="1" noChangeArrowheads="1" noChangeShapeType="1" noTextEdit="1"/>
              </p:cNvSpPr>
              <p:nvPr/>
            </p:nvSpPr>
            <p:spPr>
              <a:xfrm>
                <a:off x="747625" y="1789610"/>
                <a:ext cx="8000839" cy="646331"/>
              </a:xfrm>
              <a:prstGeom prst="rect">
                <a:avLst/>
              </a:prstGeom>
              <a:blipFill rotWithShape="1">
                <a:blip r:embed="rId4"/>
                <a:stretch>
                  <a:fillRect l="-686" t="-6604" r="-305" b="-12264"/>
                </a:stretch>
              </a:blipFill>
            </p:spPr>
            <p:txBody>
              <a:bodyPr/>
              <a:lstStyle/>
              <a:p>
                <a:r>
                  <a:rPr lang="zh-CN" altLang="en-US">
                    <a:noFill/>
                  </a:rPr>
                  <a:t> </a:t>
                </a:r>
              </a:p>
            </p:txBody>
          </p:sp>
        </mc:Fallback>
      </mc:AlternateContent>
      <p:sp>
        <p:nvSpPr>
          <p:cNvPr id="5" name="TextBox 4"/>
          <p:cNvSpPr txBox="1"/>
          <p:nvPr/>
        </p:nvSpPr>
        <p:spPr>
          <a:xfrm>
            <a:off x="467544" y="2852936"/>
            <a:ext cx="4280500" cy="369332"/>
          </a:xfrm>
          <a:prstGeom prst="rect">
            <a:avLst/>
          </a:prstGeom>
          <a:noFill/>
        </p:spPr>
        <p:txBody>
          <a:bodyPr wrap="square" rtlCol="0">
            <a:spAutoFit/>
          </a:bodyPr>
          <a:lstStyle/>
          <a:p>
            <a:r>
              <a:rPr lang="zh-CN" altLang="en-US" b="1" dirty="0">
                <a:latin typeface="楷体" panose="02010609060101010101" pitchFamily="49" charset="-122"/>
                <a:ea typeface="楷体" panose="02010609060101010101" pitchFamily="49" charset="-122"/>
              </a:rPr>
              <a:t>叠加原理：</a:t>
            </a:r>
          </a:p>
        </p:txBody>
      </p:sp>
      <mc:AlternateContent xmlns:mc="http://schemas.openxmlformats.org/markup-compatibility/2006" xmlns:a14="http://schemas.microsoft.com/office/drawing/2010/main">
        <mc:Choice Requires="a14">
          <p:sp>
            <p:nvSpPr>
              <p:cNvPr id="6" name="TextBox 5"/>
              <p:cNvSpPr txBox="1"/>
              <p:nvPr/>
            </p:nvSpPr>
            <p:spPr>
              <a:xfrm>
                <a:off x="747625" y="3222268"/>
                <a:ext cx="8000839" cy="369332"/>
              </a:xfrm>
              <a:prstGeom prst="rect">
                <a:avLst/>
              </a:prstGeom>
              <a:noFill/>
            </p:spPr>
            <p:txBody>
              <a:bodyPr wrap="square" rtlCol="0">
                <a:spAutoFit/>
              </a:bodyPr>
              <a:lstStyle/>
              <a:p>
                <a:pPr marL="342900" indent="-342900">
                  <a:buFont typeface="+mj-ea"/>
                  <a:buAutoNum type="circleNumDbPlain"/>
                </a:pPr>
                <a:r>
                  <a:rPr lang="zh-CN" altLang="en-US" dirty="0">
                    <a:solidFill>
                      <a:srgbClr val="0000FF"/>
                    </a:solidFill>
                    <a:latin typeface="楷体" panose="02010609060101010101" pitchFamily="49" charset="-122"/>
                    <a:ea typeface="楷体" panose="02010609060101010101" pitchFamily="49" charset="-122"/>
                  </a:rPr>
                  <a:t>荷载单独作用</a:t>
                </a:r>
                <a:r>
                  <a:rPr lang="en-US" altLang="zh-CN" dirty="0">
                    <a:solidFill>
                      <a:srgbClr val="0000FF"/>
                    </a:solidFill>
                    <a:latin typeface="楷体" panose="02010609060101010101" pitchFamily="49" charset="-122"/>
                    <a:ea typeface="楷体" panose="02010609060101010101" pitchFamily="49" charset="-122"/>
                  </a:rPr>
                  <a:t>——</a:t>
                </a:r>
                <a:r>
                  <a:rPr lang="zh-CN" altLang="en-US" dirty="0">
                    <a:solidFill>
                      <a:srgbClr val="0000FF"/>
                    </a:solidFill>
                    <a:latin typeface="楷体" panose="02010609060101010101" pitchFamily="49" charset="-122"/>
                    <a:ea typeface="楷体" panose="02010609060101010101" pitchFamily="49" charset="-122"/>
                  </a:rPr>
                  <a:t>相应的约束力为</a:t>
                </a:r>
                <a14:m>
                  <m:oMath xmlns:m="http://schemas.openxmlformats.org/officeDocument/2006/math">
                    <m:sSub>
                      <m:sSubPr>
                        <m:ctrlPr>
                          <a:rPr lang="en-US" altLang="zh-CN" i="1" smtClean="0">
                            <a:solidFill>
                              <a:srgbClr val="0000FF"/>
                            </a:solidFill>
                            <a:latin typeface="Cambria Math" panose="02040503050406030204" pitchFamily="18" charset="0"/>
                          </a:rPr>
                        </m:ctrlPr>
                      </m:sSubPr>
                      <m:e>
                        <m:r>
                          <a:rPr lang="en-US" altLang="zh-CN" b="0" i="1" smtClean="0">
                            <a:solidFill>
                              <a:srgbClr val="0000FF"/>
                            </a:solidFill>
                            <a:latin typeface="Cambria Math"/>
                          </a:rPr>
                          <m:t>𝐹</m:t>
                        </m:r>
                      </m:e>
                      <m:sub>
                        <m:r>
                          <a:rPr lang="en-US" altLang="zh-CN" b="0" i="1" smtClean="0">
                            <a:solidFill>
                              <a:srgbClr val="0000FF"/>
                            </a:solidFill>
                            <a:latin typeface="Cambria Math"/>
                          </a:rPr>
                          <m:t>1</m:t>
                        </m:r>
                        <m:r>
                          <a:rPr lang="en-US" altLang="zh-CN" b="0" i="1" smtClean="0">
                            <a:solidFill>
                              <a:srgbClr val="0000FF"/>
                            </a:solidFill>
                            <a:latin typeface="Cambria Math"/>
                          </a:rPr>
                          <m:t>𝑃</m:t>
                        </m:r>
                      </m:sub>
                    </m:sSub>
                  </m:oMath>
                </a14:m>
                <a:r>
                  <a:rPr lang="zh-CN" altLang="en-US" dirty="0">
                    <a:solidFill>
                      <a:srgbClr val="0000FF"/>
                    </a:solidFill>
                    <a:latin typeface="楷体" panose="02010609060101010101" pitchFamily="49" charset="-122"/>
                    <a:ea typeface="楷体" panose="02010609060101010101" pitchFamily="49" charset="-122"/>
                  </a:rPr>
                  <a:t>和</a:t>
                </a:r>
                <a14:m>
                  <m:oMath xmlns:m="http://schemas.openxmlformats.org/officeDocument/2006/math">
                    <m:sSub>
                      <m:sSubPr>
                        <m:ctrlPr>
                          <a:rPr lang="en-US" altLang="zh-CN" i="1" dirty="0" smtClean="0">
                            <a:solidFill>
                              <a:srgbClr val="0000FF"/>
                            </a:solidFill>
                            <a:latin typeface="Cambria Math" panose="02040503050406030204" pitchFamily="18" charset="0"/>
                          </a:rPr>
                        </m:ctrlPr>
                      </m:sSubPr>
                      <m:e>
                        <m:r>
                          <a:rPr lang="en-US" altLang="zh-CN" b="0" i="1" dirty="0" smtClean="0">
                            <a:solidFill>
                              <a:srgbClr val="0000FF"/>
                            </a:solidFill>
                            <a:latin typeface="Cambria Math"/>
                          </a:rPr>
                          <m:t>𝐹</m:t>
                        </m:r>
                      </m:e>
                      <m:sub>
                        <m:r>
                          <a:rPr lang="en-US" altLang="zh-CN" b="0" i="1" dirty="0" smtClean="0">
                            <a:solidFill>
                              <a:srgbClr val="0000FF"/>
                            </a:solidFill>
                            <a:latin typeface="Cambria Math"/>
                          </a:rPr>
                          <m:t>2</m:t>
                        </m:r>
                        <m:r>
                          <a:rPr lang="en-US" altLang="zh-CN" b="0" i="1" dirty="0" smtClean="0">
                            <a:solidFill>
                              <a:srgbClr val="0000FF"/>
                            </a:solidFill>
                            <a:latin typeface="Cambria Math"/>
                          </a:rPr>
                          <m:t>𝑃</m:t>
                        </m:r>
                      </m:sub>
                    </m:sSub>
                  </m:oMath>
                </a14:m>
                <a:r>
                  <a:rPr lang="en-US" altLang="zh-CN" dirty="0">
                    <a:solidFill>
                      <a:srgbClr val="0000FF"/>
                    </a:solidFill>
                    <a:latin typeface="楷体" panose="02010609060101010101" pitchFamily="49" charset="-122"/>
                    <a:ea typeface="楷体" panose="02010609060101010101" pitchFamily="49" charset="-122"/>
                  </a:rPr>
                  <a:t>(</a:t>
                </a:r>
                <a:r>
                  <a:rPr lang="zh-CN" altLang="en-US" dirty="0">
                    <a:solidFill>
                      <a:srgbClr val="0000FF"/>
                    </a:solidFill>
                    <a:latin typeface="楷体" panose="02010609060101010101" pitchFamily="49" charset="-122"/>
                    <a:ea typeface="楷体" panose="02010609060101010101" pitchFamily="49" charset="-122"/>
                  </a:rPr>
                  <a:t>图</a:t>
                </a:r>
                <a:r>
                  <a:rPr lang="en-US" altLang="zh-CN" dirty="0">
                    <a:solidFill>
                      <a:srgbClr val="0000FF"/>
                    </a:solidFill>
                    <a:latin typeface="楷体" panose="02010609060101010101" pitchFamily="49" charset="-122"/>
                    <a:ea typeface="楷体" panose="02010609060101010101" pitchFamily="49" charset="-122"/>
                  </a:rPr>
                  <a:t>a)</a:t>
                </a:r>
                <a:r>
                  <a:rPr lang="zh-CN" altLang="en-US" dirty="0">
                    <a:solidFill>
                      <a:srgbClr val="0000FF"/>
                    </a:solidFill>
                    <a:latin typeface="楷体" panose="02010609060101010101" pitchFamily="49" charset="-122"/>
                    <a:ea typeface="楷体" panose="02010609060101010101" pitchFamily="49" charset="-122"/>
                  </a:rPr>
                  <a:t>。</a:t>
                </a:r>
              </a:p>
            </p:txBody>
          </p:sp>
        </mc:Choice>
        <mc:Fallback xmlns="">
          <p:sp>
            <p:nvSpPr>
              <p:cNvPr id="6" name="TextBox 5"/>
              <p:cNvSpPr txBox="1">
                <a:spLocks noRot="1" noChangeAspect="1" noMove="1" noResize="1" noEditPoints="1" noAdjustHandles="1" noChangeArrowheads="1" noChangeShapeType="1" noTextEdit="1"/>
              </p:cNvSpPr>
              <p:nvPr/>
            </p:nvSpPr>
            <p:spPr>
              <a:xfrm>
                <a:off x="747625" y="3222268"/>
                <a:ext cx="8000839" cy="369332"/>
              </a:xfrm>
              <a:prstGeom prst="rect">
                <a:avLst/>
              </a:prstGeom>
              <a:blipFill rotWithShape="1">
                <a:blip r:embed="rId5"/>
                <a:stretch>
                  <a:fillRect l="-381" t="-11667" b="-2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747625" y="3709979"/>
                <a:ext cx="8000839" cy="369332"/>
              </a:xfrm>
              <a:prstGeom prst="rect">
                <a:avLst/>
              </a:prstGeom>
              <a:noFill/>
            </p:spPr>
            <p:txBody>
              <a:bodyPr wrap="square" rtlCol="0">
                <a:spAutoFit/>
              </a:bodyPr>
              <a:lstStyle/>
              <a:p>
                <a:pPr marL="342900" indent="-342900">
                  <a:buFont typeface="+mj-ea"/>
                  <a:buAutoNum type="circleNumDbPlain" startAt="2"/>
                </a:pPr>
                <a:r>
                  <a:rPr lang="zh-CN" altLang="en-US" dirty="0">
                    <a:solidFill>
                      <a:srgbClr val="0000FF"/>
                    </a:solidFill>
                    <a:latin typeface="楷体" panose="02010609060101010101" pitchFamily="49" charset="-122"/>
                    <a:ea typeface="楷体" panose="02010609060101010101" pitchFamily="49" charset="-122"/>
                  </a:rPr>
                  <a:t>单位位移</a:t>
                </a:r>
                <a14:m>
                  <m:oMath xmlns:m="http://schemas.openxmlformats.org/officeDocument/2006/math">
                    <m:sSub>
                      <m:sSubPr>
                        <m:ctrlPr>
                          <a:rPr lang="en-US" altLang="zh-CN" i="1" smtClean="0">
                            <a:solidFill>
                              <a:srgbClr val="0000FF"/>
                            </a:solidFill>
                            <a:latin typeface="Cambria Math" panose="02040503050406030204" pitchFamily="18" charset="0"/>
                          </a:rPr>
                        </m:ctrlPr>
                      </m:sSubPr>
                      <m:e>
                        <m:r>
                          <a:rPr lang="en-US" altLang="zh-CN" i="1" smtClean="0">
                            <a:solidFill>
                              <a:srgbClr val="0000FF"/>
                            </a:solidFill>
                            <a:latin typeface="Cambria Math"/>
                            <a:ea typeface="Cambria Math"/>
                          </a:rPr>
                          <m:t>∆</m:t>
                        </m:r>
                      </m:e>
                      <m:sub>
                        <m:r>
                          <a:rPr lang="en-US" altLang="zh-CN" b="0" i="1" smtClean="0">
                            <a:solidFill>
                              <a:srgbClr val="0000FF"/>
                            </a:solidFill>
                            <a:latin typeface="Cambria Math"/>
                          </a:rPr>
                          <m:t>1</m:t>
                        </m:r>
                      </m:sub>
                    </m:sSub>
                    <m:r>
                      <a:rPr lang="en-US" altLang="zh-CN" b="0" i="1" smtClean="0">
                        <a:solidFill>
                          <a:srgbClr val="0000FF"/>
                        </a:solidFill>
                        <a:latin typeface="Cambria Math"/>
                      </a:rPr>
                      <m:t>=1</m:t>
                    </m:r>
                  </m:oMath>
                </a14:m>
                <a:r>
                  <a:rPr lang="zh-CN" altLang="en-US" dirty="0">
                    <a:solidFill>
                      <a:srgbClr val="0000FF"/>
                    </a:solidFill>
                    <a:latin typeface="楷体" panose="02010609060101010101" pitchFamily="49" charset="-122"/>
                    <a:ea typeface="楷体" panose="02010609060101010101" pitchFamily="49" charset="-122"/>
                  </a:rPr>
                  <a:t>单独作用</a:t>
                </a:r>
                <a:r>
                  <a:rPr lang="en-US" altLang="zh-CN" dirty="0">
                    <a:solidFill>
                      <a:srgbClr val="0000FF"/>
                    </a:solidFill>
                    <a:latin typeface="楷体" panose="02010609060101010101" pitchFamily="49" charset="-122"/>
                    <a:ea typeface="楷体" panose="02010609060101010101" pitchFamily="49" charset="-122"/>
                  </a:rPr>
                  <a:t>——</a:t>
                </a:r>
                <a:r>
                  <a:rPr lang="zh-CN" altLang="en-US" dirty="0">
                    <a:solidFill>
                      <a:srgbClr val="0000FF"/>
                    </a:solidFill>
                    <a:latin typeface="楷体" panose="02010609060101010101" pitchFamily="49" charset="-122"/>
                    <a:ea typeface="楷体" panose="02010609060101010101" pitchFamily="49" charset="-122"/>
                  </a:rPr>
                  <a:t>相应的约束力为</a:t>
                </a:r>
                <a14:m>
                  <m:oMath xmlns:m="http://schemas.openxmlformats.org/officeDocument/2006/math">
                    <m:sSub>
                      <m:sSubPr>
                        <m:ctrlPr>
                          <a:rPr lang="en-US" altLang="zh-CN" i="1" smtClean="0">
                            <a:solidFill>
                              <a:srgbClr val="0000FF"/>
                            </a:solidFill>
                            <a:latin typeface="Cambria Math" panose="02040503050406030204" pitchFamily="18" charset="0"/>
                          </a:rPr>
                        </m:ctrlPr>
                      </m:sSubPr>
                      <m:e>
                        <m:r>
                          <a:rPr lang="en-US" altLang="zh-CN" b="0" i="1" smtClean="0">
                            <a:solidFill>
                              <a:srgbClr val="0000FF"/>
                            </a:solidFill>
                            <a:latin typeface="Cambria Math"/>
                          </a:rPr>
                          <m:t>𝑘</m:t>
                        </m:r>
                      </m:e>
                      <m:sub>
                        <m:r>
                          <a:rPr lang="en-US" altLang="zh-CN" b="0" i="1" smtClean="0">
                            <a:solidFill>
                              <a:srgbClr val="0000FF"/>
                            </a:solidFill>
                            <a:latin typeface="Cambria Math"/>
                          </a:rPr>
                          <m:t>11</m:t>
                        </m:r>
                      </m:sub>
                    </m:sSub>
                  </m:oMath>
                </a14:m>
                <a:r>
                  <a:rPr lang="zh-CN" altLang="en-US" dirty="0">
                    <a:solidFill>
                      <a:srgbClr val="0000FF"/>
                    </a:solidFill>
                    <a:latin typeface="楷体" panose="02010609060101010101" pitchFamily="49" charset="-122"/>
                    <a:ea typeface="楷体" panose="02010609060101010101" pitchFamily="49" charset="-122"/>
                  </a:rPr>
                  <a:t>和</a:t>
                </a:r>
                <a14:m>
                  <m:oMath xmlns:m="http://schemas.openxmlformats.org/officeDocument/2006/math">
                    <m:sSub>
                      <m:sSubPr>
                        <m:ctrlPr>
                          <a:rPr lang="en-US" altLang="zh-CN" i="1" dirty="0" smtClean="0">
                            <a:solidFill>
                              <a:srgbClr val="0000FF"/>
                            </a:solidFill>
                            <a:latin typeface="Cambria Math" panose="02040503050406030204" pitchFamily="18" charset="0"/>
                          </a:rPr>
                        </m:ctrlPr>
                      </m:sSubPr>
                      <m:e>
                        <m:r>
                          <a:rPr lang="en-US" altLang="zh-CN" b="0" i="1" dirty="0" smtClean="0">
                            <a:solidFill>
                              <a:srgbClr val="0000FF"/>
                            </a:solidFill>
                            <a:latin typeface="Cambria Math"/>
                          </a:rPr>
                          <m:t>𝑘</m:t>
                        </m:r>
                      </m:e>
                      <m:sub>
                        <m:r>
                          <a:rPr lang="en-US" altLang="zh-CN" b="0" i="1" dirty="0" smtClean="0">
                            <a:solidFill>
                              <a:srgbClr val="0000FF"/>
                            </a:solidFill>
                            <a:latin typeface="Cambria Math"/>
                          </a:rPr>
                          <m:t>21</m:t>
                        </m:r>
                      </m:sub>
                    </m:sSub>
                  </m:oMath>
                </a14:m>
                <a:r>
                  <a:rPr lang="en-US" altLang="zh-CN" dirty="0">
                    <a:solidFill>
                      <a:srgbClr val="0000FF"/>
                    </a:solidFill>
                    <a:latin typeface="楷体" panose="02010609060101010101" pitchFamily="49" charset="-122"/>
                    <a:ea typeface="楷体" panose="02010609060101010101" pitchFamily="49" charset="-122"/>
                  </a:rPr>
                  <a:t>(</a:t>
                </a:r>
                <a:r>
                  <a:rPr lang="zh-CN" altLang="en-US" dirty="0">
                    <a:solidFill>
                      <a:srgbClr val="0000FF"/>
                    </a:solidFill>
                    <a:latin typeface="楷体" panose="02010609060101010101" pitchFamily="49" charset="-122"/>
                    <a:ea typeface="楷体" panose="02010609060101010101" pitchFamily="49" charset="-122"/>
                  </a:rPr>
                  <a:t>图</a:t>
                </a:r>
                <a:r>
                  <a:rPr lang="en-US" altLang="zh-CN" dirty="0">
                    <a:solidFill>
                      <a:srgbClr val="0000FF"/>
                    </a:solidFill>
                    <a:latin typeface="楷体" panose="02010609060101010101" pitchFamily="49" charset="-122"/>
                    <a:ea typeface="楷体" panose="02010609060101010101" pitchFamily="49" charset="-122"/>
                  </a:rPr>
                  <a:t>b)</a:t>
                </a:r>
                <a:r>
                  <a:rPr lang="zh-CN" altLang="en-US" dirty="0">
                    <a:solidFill>
                      <a:srgbClr val="0000FF"/>
                    </a:solidFill>
                    <a:latin typeface="楷体" panose="02010609060101010101" pitchFamily="49" charset="-122"/>
                    <a:ea typeface="楷体" panose="02010609060101010101" pitchFamily="49" charset="-122"/>
                  </a:rPr>
                  <a:t>。</a:t>
                </a:r>
              </a:p>
            </p:txBody>
          </p:sp>
        </mc:Choice>
        <mc:Fallback xmlns="">
          <p:sp>
            <p:nvSpPr>
              <p:cNvPr id="7" name="TextBox 6"/>
              <p:cNvSpPr txBox="1">
                <a:spLocks noRot="1" noChangeAspect="1" noMove="1" noResize="1" noEditPoints="1" noAdjustHandles="1" noChangeArrowheads="1" noChangeShapeType="1" noTextEdit="1"/>
              </p:cNvSpPr>
              <p:nvPr/>
            </p:nvSpPr>
            <p:spPr>
              <a:xfrm>
                <a:off x="747625" y="3709979"/>
                <a:ext cx="8000839" cy="369332"/>
              </a:xfrm>
              <a:prstGeom prst="rect">
                <a:avLst/>
              </a:prstGeom>
              <a:blipFill rotWithShape="1">
                <a:blip r:embed="rId6"/>
                <a:stretch>
                  <a:fillRect l="-381" t="-11667" b="-2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747625" y="4221088"/>
                <a:ext cx="8000839" cy="369332"/>
              </a:xfrm>
              <a:prstGeom prst="rect">
                <a:avLst/>
              </a:prstGeom>
              <a:noFill/>
            </p:spPr>
            <p:txBody>
              <a:bodyPr wrap="square" rtlCol="0">
                <a:spAutoFit/>
              </a:bodyPr>
              <a:lstStyle/>
              <a:p>
                <a:pPr marL="342900" indent="-342900">
                  <a:buFont typeface="+mj-ea"/>
                  <a:buAutoNum type="circleNumDbPlain" startAt="3"/>
                </a:pPr>
                <a:r>
                  <a:rPr lang="zh-CN" altLang="en-US" dirty="0">
                    <a:solidFill>
                      <a:srgbClr val="0000FF"/>
                    </a:solidFill>
                    <a:latin typeface="楷体" panose="02010609060101010101" pitchFamily="49" charset="-122"/>
                    <a:ea typeface="楷体" panose="02010609060101010101" pitchFamily="49" charset="-122"/>
                  </a:rPr>
                  <a:t>单位位移</a:t>
                </a:r>
                <a14:m>
                  <m:oMath xmlns:m="http://schemas.openxmlformats.org/officeDocument/2006/math">
                    <m:sSub>
                      <m:sSubPr>
                        <m:ctrlPr>
                          <a:rPr lang="en-US" altLang="zh-CN" i="1" smtClean="0">
                            <a:solidFill>
                              <a:srgbClr val="0000FF"/>
                            </a:solidFill>
                            <a:latin typeface="Cambria Math" panose="02040503050406030204" pitchFamily="18" charset="0"/>
                          </a:rPr>
                        </m:ctrlPr>
                      </m:sSubPr>
                      <m:e>
                        <m:r>
                          <a:rPr lang="en-US" altLang="zh-CN" i="1" smtClean="0">
                            <a:solidFill>
                              <a:srgbClr val="0000FF"/>
                            </a:solidFill>
                            <a:latin typeface="Cambria Math"/>
                            <a:ea typeface="Cambria Math"/>
                          </a:rPr>
                          <m:t>∆</m:t>
                        </m:r>
                      </m:e>
                      <m:sub>
                        <m:r>
                          <a:rPr lang="en-US" altLang="zh-CN" b="0" i="1" smtClean="0">
                            <a:solidFill>
                              <a:srgbClr val="0000FF"/>
                            </a:solidFill>
                            <a:latin typeface="Cambria Math"/>
                          </a:rPr>
                          <m:t>2</m:t>
                        </m:r>
                      </m:sub>
                    </m:sSub>
                    <m:r>
                      <a:rPr lang="en-US" altLang="zh-CN" b="0" i="1" smtClean="0">
                        <a:solidFill>
                          <a:srgbClr val="0000FF"/>
                        </a:solidFill>
                        <a:latin typeface="Cambria Math"/>
                      </a:rPr>
                      <m:t>=1</m:t>
                    </m:r>
                  </m:oMath>
                </a14:m>
                <a:r>
                  <a:rPr lang="zh-CN" altLang="en-US" dirty="0">
                    <a:solidFill>
                      <a:srgbClr val="0000FF"/>
                    </a:solidFill>
                    <a:latin typeface="楷体" panose="02010609060101010101" pitchFamily="49" charset="-122"/>
                    <a:ea typeface="楷体" panose="02010609060101010101" pitchFamily="49" charset="-122"/>
                  </a:rPr>
                  <a:t>单独作用</a:t>
                </a:r>
                <a:r>
                  <a:rPr lang="en-US" altLang="zh-CN" dirty="0">
                    <a:solidFill>
                      <a:srgbClr val="0000FF"/>
                    </a:solidFill>
                    <a:latin typeface="楷体" panose="02010609060101010101" pitchFamily="49" charset="-122"/>
                    <a:ea typeface="楷体" panose="02010609060101010101" pitchFamily="49" charset="-122"/>
                  </a:rPr>
                  <a:t>——</a:t>
                </a:r>
                <a:r>
                  <a:rPr lang="zh-CN" altLang="en-US" dirty="0">
                    <a:solidFill>
                      <a:srgbClr val="0000FF"/>
                    </a:solidFill>
                    <a:latin typeface="楷体" panose="02010609060101010101" pitchFamily="49" charset="-122"/>
                    <a:ea typeface="楷体" panose="02010609060101010101" pitchFamily="49" charset="-122"/>
                  </a:rPr>
                  <a:t>相应的约束力为</a:t>
                </a:r>
                <a14:m>
                  <m:oMath xmlns:m="http://schemas.openxmlformats.org/officeDocument/2006/math">
                    <m:sSub>
                      <m:sSubPr>
                        <m:ctrlPr>
                          <a:rPr lang="en-US" altLang="zh-CN" i="1" smtClean="0">
                            <a:solidFill>
                              <a:srgbClr val="0000FF"/>
                            </a:solidFill>
                            <a:latin typeface="Cambria Math" panose="02040503050406030204" pitchFamily="18" charset="0"/>
                          </a:rPr>
                        </m:ctrlPr>
                      </m:sSubPr>
                      <m:e>
                        <m:r>
                          <a:rPr lang="en-US" altLang="zh-CN" b="0" i="1" smtClean="0">
                            <a:solidFill>
                              <a:srgbClr val="0000FF"/>
                            </a:solidFill>
                            <a:latin typeface="Cambria Math"/>
                          </a:rPr>
                          <m:t>𝑘</m:t>
                        </m:r>
                      </m:e>
                      <m:sub>
                        <m:r>
                          <a:rPr lang="en-US" altLang="zh-CN" b="0" i="1" smtClean="0">
                            <a:solidFill>
                              <a:srgbClr val="0000FF"/>
                            </a:solidFill>
                            <a:latin typeface="Cambria Math"/>
                          </a:rPr>
                          <m:t>12</m:t>
                        </m:r>
                      </m:sub>
                    </m:sSub>
                  </m:oMath>
                </a14:m>
                <a:r>
                  <a:rPr lang="zh-CN" altLang="en-US" dirty="0">
                    <a:solidFill>
                      <a:srgbClr val="0000FF"/>
                    </a:solidFill>
                    <a:latin typeface="楷体" panose="02010609060101010101" pitchFamily="49" charset="-122"/>
                    <a:ea typeface="楷体" panose="02010609060101010101" pitchFamily="49" charset="-122"/>
                  </a:rPr>
                  <a:t>和</a:t>
                </a:r>
                <a14:m>
                  <m:oMath xmlns:m="http://schemas.openxmlformats.org/officeDocument/2006/math">
                    <m:sSub>
                      <m:sSubPr>
                        <m:ctrlPr>
                          <a:rPr lang="en-US" altLang="zh-CN" i="1" dirty="0" smtClean="0">
                            <a:solidFill>
                              <a:srgbClr val="0000FF"/>
                            </a:solidFill>
                            <a:latin typeface="Cambria Math" panose="02040503050406030204" pitchFamily="18" charset="0"/>
                          </a:rPr>
                        </m:ctrlPr>
                      </m:sSubPr>
                      <m:e>
                        <m:r>
                          <a:rPr lang="en-US" altLang="zh-CN" b="0" i="1" dirty="0" smtClean="0">
                            <a:solidFill>
                              <a:srgbClr val="0000FF"/>
                            </a:solidFill>
                            <a:latin typeface="Cambria Math"/>
                          </a:rPr>
                          <m:t>𝑘</m:t>
                        </m:r>
                      </m:e>
                      <m:sub>
                        <m:r>
                          <a:rPr lang="en-US" altLang="zh-CN" b="0" i="1" dirty="0" smtClean="0">
                            <a:solidFill>
                              <a:srgbClr val="0000FF"/>
                            </a:solidFill>
                            <a:latin typeface="Cambria Math"/>
                          </a:rPr>
                          <m:t>22</m:t>
                        </m:r>
                      </m:sub>
                    </m:sSub>
                  </m:oMath>
                </a14:m>
                <a:r>
                  <a:rPr lang="en-US" altLang="zh-CN" dirty="0">
                    <a:solidFill>
                      <a:srgbClr val="0000FF"/>
                    </a:solidFill>
                    <a:latin typeface="楷体" panose="02010609060101010101" pitchFamily="49" charset="-122"/>
                    <a:ea typeface="楷体" panose="02010609060101010101" pitchFamily="49" charset="-122"/>
                  </a:rPr>
                  <a:t>(</a:t>
                </a:r>
                <a:r>
                  <a:rPr lang="zh-CN" altLang="en-US" dirty="0">
                    <a:solidFill>
                      <a:srgbClr val="0000FF"/>
                    </a:solidFill>
                    <a:latin typeface="楷体" panose="02010609060101010101" pitchFamily="49" charset="-122"/>
                    <a:ea typeface="楷体" panose="02010609060101010101" pitchFamily="49" charset="-122"/>
                  </a:rPr>
                  <a:t>图</a:t>
                </a:r>
                <a:r>
                  <a:rPr lang="en-US" altLang="zh-CN" dirty="0">
                    <a:solidFill>
                      <a:srgbClr val="0000FF"/>
                    </a:solidFill>
                    <a:latin typeface="楷体" panose="02010609060101010101" pitchFamily="49" charset="-122"/>
                    <a:ea typeface="楷体" panose="02010609060101010101" pitchFamily="49" charset="-122"/>
                  </a:rPr>
                  <a:t>c).</a:t>
                </a:r>
                <a:endParaRPr lang="zh-CN" altLang="en-US" dirty="0">
                  <a:solidFill>
                    <a:srgbClr val="0000FF"/>
                  </a:solidFill>
                  <a:latin typeface="楷体" panose="02010609060101010101" pitchFamily="49" charset="-122"/>
                  <a:ea typeface="楷体" panose="02010609060101010101" pitchFamily="49" charset="-122"/>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747625" y="4221088"/>
                <a:ext cx="8000839" cy="369332"/>
              </a:xfrm>
              <a:prstGeom prst="rect">
                <a:avLst/>
              </a:prstGeom>
              <a:blipFill rotWithShape="1">
                <a:blip r:embed="rId7"/>
                <a:stretch>
                  <a:fillRect l="-381" t="-11475" b="-21311"/>
                </a:stretch>
              </a:blipFill>
            </p:spPr>
            <p:txBody>
              <a:bodyPr/>
              <a:lstStyle/>
              <a:p>
                <a:r>
                  <a:rPr lang="zh-CN" altLang="en-US">
                    <a:noFill/>
                  </a:rPr>
                  <a:t> </a:t>
                </a:r>
              </a:p>
            </p:txBody>
          </p:sp>
        </mc:Fallback>
      </mc:AlternateContent>
      <p:pic>
        <p:nvPicPr>
          <p:cNvPr id="10" name="Picture 1" descr="C:\Users\Administrator\AppData\Roaming\Tencent\Users\42337577\QQ\WinTemp\RichOle\@SC0W3`]IF1B3RS4HY(AZ_G.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7625" y="4756380"/>
            <a:ext cx="2419350" cy="14287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 descr="C:\Users\Administrator\AppData\Roaming\Tencent\Users\42337577\QQ\WinTemp\RichOle\B8GWR{F5]C@A@4}[1W(_E]4.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26916" y="4780193"/>
            <a:ext cx="2162175" cy="1381125"/>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组合 11"/>
          <p:cNvGrpSpPr/>
          <p:nvPr/>
        </p:nvGrpSpPr>
        <p:grpSpPr>
          <a:xfrm>
            <a:off x="6156176" y="4770667"/>
            <a:ext cx="2390775" cy="1400175"/>
            <a:chOff x="6156176" y="4770667"/>
            <a:chExt cx="2390775" cy="1400175"/>
          </a:xfrm>
        </p:grpSpPr>
        <p:pic>
          <p:nvPicPr>
            <p:cNvPr id="63490" name="Picture 2" descr="C:\Users\Administrator\Desktop\QQ图片20151225100503.pn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56176" y="4770667"/>
              <a:ext cx="2390775" cy="14001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对象 8"/>
            <p:cNvGraphicFramePr>
              <a:graphicFrameLocks noChangeAspect="1"/>
            </p:cNvGraphicFramePr>
            <p:nvPr>
              <p:extLst>
                <p:ext uri="{D42A27DB-BD31-4B8C-83A1-F6EECF244321}">
                  <p14:modId xmlns:p14="http://schemas.microsoft.com/office/powerpoint/2010/main" val="1810219438"/>
                </p:ext>
              </p:extLst>
            </p:nvPr>
          </p:nvGraphicFramePr>
          <p:xfrm>
            <a:off x="7635302" y="4851751"/>
            <a:ext cx="418233" cy="255587"/>
          </p:xfrm>
          <a:graphic>
            <a:graphicData uri="http://schemas.openxmlformats.org/presentationml/2006/ole">
              <mc:AlternateContent xmlns:mc="http://schemas.openxmlformats.org/markup-compatibility/2006">
                <mc:Choice xmlns:v="urn:schemas-microsoft-com:vml" Requires="v">
                  <p:oleObj spid="_x0000_s63644" name="Equation" r:id="rId11" imgW="457200" imgH="279360" progId="Equation.DSMT4">
                    <p:embed/>
                  </p:oleObj>
                </mc:Choice>
                <mc:Fallback>
                  <p:oleObj name="Equation" r:id="rId11" imgW="457200" imgH="279360" progId="Equation.DSMT4">
                    <p:embed/>
                    <p:pic>
                      <p:nvPicPr>
                        <p:cNvPr id="0" name=""/>
                        <p:cNvPicPr/>
                        <p:nvPr/>
                      </p:nvPicPr>
                      <p:blipFill>
                        <a:blip r:embed="rId12"/>
                        <a:stretch>
                          <a:fillRect/>
                        </a:stretch>
                      </p:blipFill>
                      <p:spPr>
                        <a:xfrm>
                          <a:off x="7635302" y="4851751"/>
                          <a:ext cx="418233" cy="255587"/>
                        </a:xfrm>
                        <a:prstGeom prst="rect">
                          <a:avLst/>
                        </a:prstGeom>
                      </p:spPr>
                    </p:pic>
                  </p:oleObj>
                </mc:Fallback>
              </mc:AlternateContent>
            </a:graphicData>
          </a:graphic>
        </p:graphicFrame>
      </p:grpSp>
      <mc:AlternateContent xmlns:mc="http://schemas.openxmlformats.org/markup-compatibility/2006" xmlns:a14="http://schemas.microsoft.com/office/drawing/2010/main">
        <mc:Choice Requires="a14">
          <p:sp>
            <p:nvSpPr>
              <p:cNvPr id="13" name="TextBox 12"/>
              <p:cNvSpPr txBox="1"/>
              <p:nvPr/>
            </p:nvSpPr>
            <p:spPr>
              <a:xfrm>
                <a:off x="4843765" y="2497756"/>
                <a:ext cx="3904700" cy="646331"/>
              </a:xfrm>
              <a:prstGeom prst="rect">
                <a:avLst/>
              </a:prstGeom>
              <a:noFill/>
              <a:ln w="28575">
                <a:solidFill>
                  <a:srgbClr val="FF0000"/>
                </a:solidFill>
              </a:ln>
            </p:spPr>
            <p:txBody>
              <a:bodyPr wrap="square" rtlCol="0">
                <a:spAutoFit/>
              </a:bodyPr>
              <a:lstStyle/>
              <a:p>
                <a:r>
                  <a:rPr lang="zh-CN" altLang="en-US" b="1" dirty="0">
                    <a:solidFill>
                      <a:srgbClr val="00B050"/>
                    </a:solidFill>
                    <a:latin typeface="楷体" panose="02010609060101010101" pitchFamily="49" charset="-122"/>
                    <a:ea typeface="楷体" panose="02010609060101010101" pitchFamily="49" charset="-122"/>
                  </a:rPr>
                  <a:t>注意：</a:t>
                </a:r>
                <a14:m>
                  <m:oMath xmlns:m="http://schemas.openxmlformats.org/officeDocument/2006/math">
                    <m:sSub>
                      <m:sSubPr>
                        <m:ctrlPr>
                          <a:rPr lang="en-US" altLang="zh-CN" b="1" i="1" smtClean="0">
                            <a:solidFill>
                              <a:srgbClr val="00B050"/>
                            </a:solidFill>
                            <a:latin typeface="Cambria Math" panose="02040503050406030204" pitchFamily="18" charset="0"/>
                          </a:rPr>
                        </m:ctrlPr>
                      </m:sSubPr>
                      <m:e>
                        <m:r>
                          <a:rPr lang="en-US" altLang="zh-CN" b="1" i="1" smtClean="0">
                            <a:solidFill>
                              <a:srgbClr val="00B050"/>
                            </a:solidFill>
                            <a:latin typeface="Cambria Math"/>
                          </a:rPr>
                          <m:t>𝑭</m:t>
                        </m:r>
                      </m:e>
                      <m:sub>
                        <m:r>
                          <a:rPr lang="en-US" altLang="zh-CN" b="1" i="1" smtClean="0">
                            <a:solidFill>
                              <a:srgbClr val="00B050"/>
                            </a:solidFill>
                            <a:latin typeface="Cambria Math"/>
                          </a:rPr>
                          <m:t>𝟏</m:t>
                        </m:r>
                        <m:r>
                          <a:rPr lang="en-US" altLang="zh-CN" b="1" i="1" smtClean="0">
                            <a:solidFill>
                              <a:srgbClr val="00B050"/>
                            </a:solidFill>
                            <a:latin typeface="Cambria Math"/>
                          </a:rPr>
                          <m:t>𝑷</m:t>
                        </m:r>
                      </m:sub>
                    </m:sSub>
                  </m:oMath>
                </a14:m>
                <a:r>
                  <a:rPr lang="zh-CN" altLang="en-US" b="1" dirty="0">
                    <a:solidFill>
                      <a:srgbClr val="00B050"/>
                    </a:solidFill>
                    <a:latin typeface="楷体" panose="02010609060101010101" pitchFamily="49" charset="-122"/>
                    <a:ea typeface="楷体" panose="02010609060101010101" pitchFamily="49" charset="-122"/>
                  </a:rPr>
                  <a:t>，</a:t>
                </a:r>
                <a14:m>
                  <m:oMath xmlns:m="http://schemas.openxmlformats.org/officeDocument/2006/math">
                    <m:sSub>
                      <m:sSubPr>
                        <m:ctrlPr>
                          <a:rPr lang="en-US" altLang="zh-CN" b="1" i="1" dirty="0" smtClean="0">
                            <a:solidFill>
                              <a:srgbClr val="00B050"/>
                            </a:solidFill>
                            <a:latin typeface="Cambria Math" panose="02040503050406030204" pitchFamily="18" charset="0"/>
                          </a:rPr>
                        </m:ctrlPr>
                      </m:sSubPr>
                      <m:e>
                        <m:r>
                          <a:rPr lang="en-US" altLang="zh-CN" b="1" i="1" dirty="0" smtClean="0">
                            <a:solidFill>
                              <a:srgbClr val="00B050"/>
                            </a:solidFill>
                            <a:latin typeface="Cambria Math"/>
                          </a:rPr>
                          <m:t>𝒌</m:t>
                        </m:r>
                      </m:e>
                      <m:sub>
                        <m:r>
                          <a:rPr lang="en-US" altLang="zh-CN" b="1" i="1" dirty="0" smtClean="0">
                            <a:solidFill>
                              <a:srgbClr val="00B050"/>
                            </a:solidFill>
                            <a:latin typeface="Cambria Math"/>
                          </a:rPr>
                          <m:t>𝟏𝟏</m:t>
                        </m:r>
                      </m:sub>
                    </m:sSub>
                  </m:oMath>
                </a14:m>
                <a:r>
                  <a:rPr lang="zh-CN" altLang="en-US" b="1" dirty="0">
                    <a:solidFill>
                      <a:srgbClr val="00B050"/>
                    </a:solidFill>
                    <a:latin typeface="楷体" panose="02010609060101010101" pitchFamily="49" charset="-122"/>
                    <a:ea typeface="楷体" panose="02010609060101010101" pitchFamily="49" charset="-122"/>
                  </a:rPr>
                  <a:t>，</a:t>
                </a:r>
                <a14:m>
                  <m:oMath xmlns:m="http://schemas.openxmlformats.org/officeDocument/2006/math">
                    <m:sSub>
                      <m:sSubPr>
                        <m:ctrlPr>
                          <a:rPr lang="en-US" altLang="zh-CN" b="1" i="1" dirty="0" smtClean="0">
                            <a:solidFill>
                              <a:srgbClr val="00B050"/>
                            </a:solidFill>
                            <a:latin typeface="Cambria Math" panose="02040503050406030204" pitchFamily="18" charset="0"/>
                          </a:rPr>
                        </m:ctrlPr>
                      </m:sSubPr>
                      <m:e>
                        <m:r>
                          <a:rPr lang="en-US" altLang="zh-CN" b="1" i="1" dirty="0" smtClean="0">
                            <a:solidFill>
                              <a:srgbClr val="00B050"/>
                            </a:solidFill>
                            <a:latin typeface="Cambria Math"/>
                          </a:rPr>
                          <m:t>𝒌</m:t>
                        </m:r>
                      </m:e>
                      <m:sub>
                        <m:r>
                          <a:rPr lang="en-US" altLang="zh-CN" b="1" i="1" dirty="0" smtClean="0">
                            <a:solidFill>
                              <a:srgbClr val="00B050"/>
                            </a:solidFill>
                            <a:latin typeface="Cambria Math"/>
                          </a:rPr>
                          <m:t>𝟏𝟐</m:t>
                        </m:r>
                      </m:sub>
                    </m:sSub>
                  </m:oMath>
                </a14:m>
                <a:r>
                  <a:rPr lang="zh-CN" altLang="en-US" b="1" dirty="0">
                    <a:solidFill>
                      <a:srgbClr val="00B050"/>
                    </a:solidFill>
                    <a:latin typeface="楷体" panose="02010609060101010101" pitchFamily="49" charset="-122"/>
                    <a:ea typeface="楷体" panose="02010609060101010101" pitchFamily="49" charset="-122"/>
                  </a:rPr>
                  <a:t>为约束力矩；</a:t>
                </a:r>
                <a:endParaRPr lang="en-US" altLang="zh-CN" b="1" dirty="0">
                  <a:solidFill>
                    <a:srgbClr val="00B050"/>
                  </a:solidFill>
                  <a:latin typeface="楷体" panose="02010609060101010101" pitchFamily="49" charset="-122"/>
                  <a:ea typeface="楷体" panose="02010609060101010101" pitchFamily="49" charset="-122"/>
                </a:endParaRPr>
              </a:p>
              <a:p>
                <a:r>
                  <a:rPr lang="en-US" altLang="zh-CN" b="1" dirty="0">
                    <a:solidFill>
                      <a:srgbClr val="00B050"/>
                    </a:solidFill>
                    <a:latin typeface="楷体" panose="02010609060101010101" pitchFamily="49" charset="-122"/>
                    <a:ea typeface="楷体" panose="02010609060101010101" pitchFamily="49" charset="-122"/>
                  </a:rPr>
                  <a:t>      </a:t>
                </a:r>
                <a14:m>
                  <m:oMath xmlns:m="http://schemas.openxmlformats.org/officeDocument/2006/math">
                    <m:sSub>
                      <m:sSubPr>
                        <m:ctrlPr>
                          <a:rPr lang="en-US" altLang="zh-CN" b="1" i="1" smtClean="0">
                            <a:solidFill>
                              <a:srgbClr val="00B050"/>
                            </a:solidFill>
                            <a:latin typeface="Cambria Math" panose="02040503050406030204" pitchFamily="18" charset="0"/>
                          </a:rPr>
                        </m:ctrlPr>
                      </m:sSubPr>
                      <m:e>
                        <m:r>
                          <a:rPr lang="en-US" altLang="zh-CN" b="1" i="1" smtClean="0">
                            <a:solidFill>
                              <a:srgbClr val="00B050"/>
                            </a:solidFill>
                            <a:latin typeface="Cambria Math"/>
                          </a:rPr>
                          <m:t>𝑭</m:t>
                        </m:r>
                      </m:e>
                      <m:sub>
                        <m:r>
                          <a:rPr lang="en-US" altLang="zh-CN" b="1" i="1" smtClean="0">
                            <a:solidFill>
                              <a:srgbClr val="00B050"/>
                            </a:solidFill>
                            <a:latin typeface="Cambria Math"/>
                          </a:rPr>
                          <m:t>𝟐</m:t>
                        </m:r>
                        <m:r>
                          <a:rPr lang="en-US" altLang="zh-CN" b="1" i="1" smtClean="0">
                            <a:solidFill>
                              <a:srgbClr val="00B050"/>
                            </a:solidFill>
                            <a:latin typeface="Cambria Math"/>
                          </a:rPr>
                          <m:t>𝑷</m:t>
                        </m:r>
                      </m:sub>
                    </m:sSub>
                  </m:oMath>
                </a14:m>
                <a:r>
                  <a:rPr lang="zh-CN" altLang="en-US" b="1" dirty="0">
                    <a:solidFill>
                      <a:srgbClr val="00B050"/>
                    </a:solidFill>
                    <a:latin typeface="楷体" panose="02010609060101010101" pitchFamily="49" charset="-122"/>
                    <a:ea typeface="楷体" panose="02010609060101010101" pitchFamily="49" charset="-122"/>
                  </a:rPr>
                  <a:t>，</a:t>
                </a:r>
                <a14:m>
                  <m:oMath xmlns:m="http://schemas.openxmlformats.org/officeDocument/2006/math">
                    <m:sSub>
                      <m:sSubPr>
                        <m:ctrlPr>
                          <a:rPr lang="en-US" altLang="zh-CN" b="1" i="1" dirty="0" smtClean="0">
                            <a:solidFill>
                              <a:srgbClr val="00B050"/>
                            </a:solidFill>
                            <a:latin typeface="Cambria Math" panose="02040503050406030204" pitchFamily="18" charset="0"/>
                          </a:rPr>
                        </m:ctrlPr>
                      </m:sSubPr>
                      <m:e>
                        <m:r>
                          <a:rPr lang="en-US" altLang="zh-CN" b="1" i="1" dirty="0" smtClean="0">
                            <a:solidFill>
                              <a:srgbClr val="00B050"/>
                            </a:solidFill>
                            <a:latin typeface="Cambria Math"/>
                          </a:rPr>
                          <m:t>𝒌</m:t>
                        </m:r>
                      </m:e>
                      <m:sub>
                        <m:r>
                          <a:rPr lang="en-US" altLang="zh-CN" b="1" i="1" dirty="0" smtClean="0">
                            <a:solidFill>
                              <a:srgbClr val="00B050"/>
                            </a:solidFill>
                            <a:latin typeface="Cambria Math"/>
                          </a:rPr>
                          <m:t>𝟐𝟏</m:t>
                        </m:r>
                      </m:sub>
                    </m:sSub>
                  </m:oMath>
                </a14:m>
                <a:r>
                  <a:rPr lang="zh-CN" altLang="en-US" b="1" dirty="0">
                    <a:solidFill>
                      <a:srgbClr val="00B050"/>
                    </a:solidFill>
                    <a:latin typeface="楷体" panose="02010609060101010101" pitchFamily="49" charset="-122"/>
                    <a:ea typeface="楷体" panose="02010609060101010101" pitchFamily="49" charset="-122"/>
                  </a:rPr>
                  <a:t>，</a:t>
                </a:r>
                <a14:m>
                  <m:oMath xmlns:m="http://schemas.openxmlformats.org/officeDocument/2006/math">
                    <m:sSub>
                      <m:sSubPr>
                        <m:ctrlPr>
                          <a:rPr lang="en-US" altLang="zh-CN" b="1" i="1" dirty="0" smtClean="0">
                            <a:solidFill>
                              <a:srgbClr val="00B050"/>
                            </a:solidFill>
                            <a:latin typeface="Cambria Math" panose="02040503050406030204" pitchFamily="18" charset="0"/>
                          </a:rPr>
                        </m:ctrlPr>
                      </m:sSubPr>
                      <m:e>
                        <m:r>
                          <a:rPr lang="en-US" altLang="zh-CN" b="1" i="1" dirty="0" smtClean="0">
                            <a:solidFill>
                              <a:srgbClr val="00B050"/>
                            </a:solidFill>
                            <a:latin typeface="Cambria Math"/>
                          </a:rPr>
                          <m:t>𝒌</m:t>
                        </m:r>
                      </m:e>
                      <m:sub>
                        <m:r>
                          <a:rPr lang="en-US" altLang="zh-CN" b="1" i="1" dirty="0" smtClean="0">
                            <a:solidFill>
                              <a:srgbClr val="00B050"/>
                            </a:solidFill>
                            <a:latin typeface="Cambria Math"/>
                          </a:rPr>
                          <m:t>𝟐𝟐</m:t>
                        </m:r>
                      </m:sub>
                    </m:sSub>
                  </m:oMath>
                </a14:m>
                <a:r>
                  <a:rPr lang="zh-CN" altLang="en-US" b="1" dirty="0">
                    <a:solidFill>
                      <a:srgbClr val="00B050"/>
                    </a:solidFill>
                    <a:latin typeface="楷体" panose="02010609060101010101" pitchFamily="49" charset="-122"/>
                    <a:ea typeface="楷体" panose="02010609060101010101" pitchFamily="49" charset="-122"/>
                  </a:rPr>
                  <a:t>为水平约束力。</a:t>
                </a:r>
              </a:p>
            </p:txBody>
          </p:sp>
        </mc:Choice>
        <mc:Fallback xmlns="">
          <p:sp>
            <p:nvSpPr>
              <p:cNvPr id="13" name="TextBox 12"/>
              <p:cNvSpPr txBox="1">
                <a:spLocks noRot="1" noChangeAspect="1" noMove="1" noResize="1" noEditPoints="1" noAdjustHandles="1" noChangeArrowheads="1" noChangeShapeType="1" noTextEdit="1"/>
              </p:cNvSpPr>
              <p:nvPr/>
            </p:nvSpPr>
            <p:spPr>
              <a:xfrm>
                <a:off x="4843765" y="2497756"/>
                <a:ext cx="3904700" cy="646331"/>
              </a:xfrm>
              <a:prstGeom prst="rect">
                <a:avLst/>
              </a:prstGeom>
              <a:blipFill rotWithShape="1">
                <a:blip r:embed="rId13"/>
                <a:stretch>
                  <a:fillRect l="-1085" t="-4505" r="-6512" b="-9009"/>
                </a:stretch>
              </a:blipFill>
              <a:ln w="28575">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2837283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randombar(horizontal)">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1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67544" y="1412776"/>
            <a:ext cx="3744416"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叠加以上结果：</a:t>
            </a:r>
          </a:p>
        </p:txBody>
      </p:sp>
      <p:graphicFrame>
        <p:nvGraphicFramePr>
          <p:cNvPr id="4" name="对象 3"/>
          <p:cNvGraphicFramePr>
            <a:graphicFrameLocks noChangeAspect="1"/>
          </p:cNvGraphicFramePr>
          <p:nvPr>
            <p:extLst>
              <p:ext uri="{D42A27DB-BD31-4B8C-83A1-F6EECF244321}">
                <p14:modId xmlns:p14="http://schemas.microsoft.com/office/powerpoint/2010/main" val="33721882"/>
              </p:ext>
            </p:extLst>
          </p:nvPr>
        </p:nvGraphicFramePr>
        <p:xfrm>
          <a:off x="2771800" y="1782108"/>
          <a:ext cx="1968500" cy="609600"/>
        </p:xfrm>
        <a:graphic>
          <a:graphicData uri="http://schemas.openxmlformats.org/presentationml/2006/ole">
            <mc:AlternateContent xmlns:mc="http://schemas.openxmlformats.org/markup-compatibility/2006">
              <mc:Choice xmlns:v="urn:schemas-microsoft-com:vml" Requires="v">
                <p:oleObj spid="_x0000_s64962" name="Equation" r:id="rId4" imgW="1968480" imgH="609480" progId="Equation.DSMT4">
                  <p:embed/>
                </p:oleObj>
              </mc:Choice>
              <mc:Fallback>
                <p:oleObj name="Equation" r:id="rId4" imgW="1968480" imgH="609480" progId="Equation.DSMT4">
                  <p:embed/>
                  <p:pic>
                    <p:nvPicPr>
                      <p:cNvPr id="0" name=""/>
                      <p:cNvPicPr/>
                      <p:nvPr/>
                    </p:nvPicPr>
                    <p:blipFill>
                      <a:blip r:embed="rId5"/>
                      <a:stretch>
                        <a:fillRect/>
                      </a:stretch>
                    </p:blipFill>
                    <p:spPr>
                      <a:xfrm>
                        <a:off x="2771800" y="1782108"/>
                        <a:ext cx="1968500" cy="609600"/>
                      </a:xfrm>
                      <a:prstGeom prst="rect">
                        <a:avLst/>
                      </a:prstGeom>
                    </p:spPr>
                  </p:pic>
                </p:oleObj>
              </mc:Fallback>
            </mc:AlternateContent>
          </a:graphicData>
        </a:graphic>
      </p:graphicFrame>
      <p:grpSp>
        <p:nvGrpSpPr>
          <p:cNvPr id="16" name="组合 15"/>
          <p:cNvGrpSpPr/>
          <p:nvPr/>
        </p:nvGrpSpPr>
        <p:grpSpPr>
          <a:xfrm>
            <a:off x="3702549" y="2564904"/>
            <a:ext cx="970679" cy="504056"/>
            <a:chOff x="3702549" y="2564904"/>
            <a:chExt cx="970679" cy="504056"/>
          </a:xfrm>
        </p:grpSpPr>
        <p:sp>
          <p:nvSpPr>
            <p:cNvPr id="5" name="下箭头 4"/>
            <p:cNvSpPr/>
            <p:nvPr/>
          </p:nvSpPr>
          <p:spPr bwMode="auto">
            <a:xfrm>
              <a:off x="3702549" y="2564904"/>
              <a:ext cx="144016" cy="504056"/>
            </a:xfrm>
            <a:prstGeom prst="downArrow">
              <a:avLst/>
            </a:prstGeom>
            <a:solidFill>
              <a:srgbClr val="92D050"/>
            </a:solidFill>
            <a:ln w="9525"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693098539"/>
                </p:ext>
              </p:extLst>
            </p:nvPr>
          </p:nvGraphicFramePr>
          <p:xfrm>
            <a:off x="3923928" y="2677232"/>
            <a:ext cx="749300" cy="279400"/>
          </p:xfrm>
          <a:graphic>
            <a:graphicData uri="http://schemas.openxmlformats.org/presentationml/2006/ole">
              <mc:AlternateContent xmlns:mc="http://schemas.openxmlformats.org/markup-compatibility/2006">
                <mc:Choice xmlns:v="urn:schemas-microsoft-com:vml" Requires="v">
                  <p:oleObj spid="_x0000_s64963" name="Equation" r:id="rId6" imgW="749160" imgH="279360" progId="Equation.DSMT4">
                    <p:embed/>
                  </p:oleObj>
                </mc:Choice>
                <mc:Fallback>
                  <p:oleObj name="Equation" r:id="rId6" imgW="749160" imgH="279360" progId="Equation.DSMT4">
                    <p:embed/>
                    <p:pic>
                      <p:nvPicPr>
                        <p:cNvPr id="0" name=""/>
                        <p:cNvPicPr/>
                        <p:nvPr/>
                      </p:nvPicPr>
                      <p:blipFill>
                        <a:blip r:embed="rId7"/>
                        <a:stretch>
                          <a:fillRect/>
                        </a:stretch>
                      </p:blipFill>
                      <p:spPr>
                        <a:xfrm>
                          <a:off x="3923928" y="2677232"/>
                          <a:ext cx="749300" cy="279400"/>
                        </a:xfrm>
                        <a:prstGeom prst="rect">
                          <a:avLst/>
                        </a:prstGeom>
                      </p:spPr>
                    </p:pic>
                  </p:oleObj>
                </mc:Fallback>
              </mc:AlternateContent>
            </a:graphicData>
          </a:graphic>
        </p:graphicFrame>
      </p:grpSp>
      <p:graphicFrame>
        <p:nvGraphicFramePr>
          <p:cNvPr id="7" name="对象 6"/>
          <p:cNvGraphicFramePr>
            <a:graphicFrameLocks noChangeAspect="1"/>
          </p:cNvGraphicFramePr>
          <p:nvPr>
            <p:extLst>
              <p:ext uri="{D42A27DB-BD31-4B8C-83A1-F6EECF244321}">
                <p14:modId xmlns:p14="http://schemas.microsoft.com/office/powerpoint/2010/main" val="279864020"/>
              </p:ext>
            </p:extLst>
          </p:nvPr>
        </p:nvGraphicFramePr>
        <p:xfrm>
          <a:off x="2915816" y="3163136"/>
          <a:ext cx="1879600" cy="609600"/>
        </p:xfrm>
        <a:graphic>
          <a:graphicData uri="http://schemas.openxmlformats.org/presentationml/2006/ole">
            <mc:AlternateContent xmlns:mc="http://schemas.openxmlformats.org/markup-compatibility/2006">
              <mc:Choice xmlns:v="urn:schemas-microsoft-com:vml" Requires="v">
                <p:oleObj spid="_x0000_s64964" name="Equation" r:id="rId8" imgW="1879560" imgH="609480" progId="Equation.DSMT4">
                  <p:embed/>
                </p:oleObj>
              </mc:Choice>
              <mc:Fallback>
                <p:oleObj name="Equation" r:id="rId8" imgW="1879560" imgH="609480" progId="Equation.DSMT4">
                  <p:embed/>
                  <p:pic>
                    <p:nvPicPr>
                      <p:cNvPr id="0" name=""/>
                      <p:cNvPicPr/>
                      <p:nvPr/>
                    </p:nvPicPr>
                    <p:blipFill>
                      <a:blip r:embed="rId9"/>
                      <a:stretch>
                        <a:fillRect/>
                      </a:stretch>
                    </p:blipFill>
                    <p:spPr>
                      <a:xfrm>
                        <a:off x="2915816" y="3163136"/>
                        <a:ext cx="1879600" cy="609600"/>
                      </a:xfrm>
                      <a:prstGeom prst="rect">
                        <a:avLst/>
                      </a:prstGeom>
                    </p:spPr>
                  </p:pic>
                </p:oleObj>
              </mc:Fallback>
            </mc:AlternateContent>
          </a:graphicData>
        </a:graphic>
      </p:graphicFrame>
      <p:sp>
        <p:nvSpPr>
          <p:cNvPr id="9" name="TextBox 8"/>
          <p:cNvSpPr txBox="1"/>
          <p:nvPr/>
        </p:nvSpPr>
        <p:spPr>
          <a:xfrm>
            <a:off x="771316" y="3212976"/>
            <a:ext cx="1865312" cy="369332"/>
          </a:xfrm>
          <a:prstGeom prst="rect">
            <a:avLst/>
          </a:prstGeom>
          <a:noFill/>
        </p:spPr>
        <p:txBody>
          <a:bodyPr wrap="square" rtlCol="0">
            <a:spAutoFit/>
          </a:bodyPr>
          <a:lstStyle/>
          <a:p>
            <a:r>
              <a:rPr lang="zh-CN" altLang="en-US" b="1" dirty="0">
                <a:solidFill>
                  <a:srgbClr val="0000FF"/>
                </a:solidFill>
                <a:latin typeface="楷体" panose="02010609060101010101" pitchFamily="49" charset="-122"/>
                <a:ea typeface="楷体" panose="02010609060101010101" pitchFamily="49" charset="-122"/>
              </a:rPr>
              <a:t>位移法基本方程：</a:t>
            </a:r>
          </a:p>
        </p:txBody>
      </p:sp>
      <p:sp>
        <p:nvSpPr>
          <p:cNvPr id="10" name="TextBox 9"/>
          <p:cNvSpPr txBox="1"/>
          <p:nvPr/>
        </p:nvSpPr>
        <p:spPr>
          <a:xfrm>
            <a:off x="5364088" y="3074476"/>
            <a:ext cx="2520280" cy="646331"/>
          </a:xfrm>
          <a:prstGeom prst="rect">
            <a:avLst/>
          </a:prstGeom>
          <a:noFill/>
        </p:spPr>
        <p:txBody>
          <a:bodyPr wrap="square" rtlCol="0">
            <a:spAutoFit/>
          </a:bodyPr>
          <a:lstStyle/>
          <a:p>
            <a:r>
              <a:rPr lang="zh-CN" altLang="en-US" dirty="0">
                <a:solidFill>
                  <a:srgbClr val="FF0000"/>
                </a:solidFill>
                <a:latin typeface="楷体" panose="02010609060101010101" pitchFamily="49" charset="-122"/>
                <a:ea typeface="楷体" panose="02010609060101010101" pitchFamily="49" charset="-122"/>
              </a:rPr>
              <a:t>与力法方程有何相似或不同？</a:t>
            </a:r>
          </a:p>
        </p:txBody>
      </p:sp>
      <p:sp>
        <p:nvSpPr>
          <p:cNvPr id="11" name="TextBox 10"/>
          <p:cNvSpPr txBox="1"/>
          <p:nvPr/>
        </p:nvSpPr>
        <p:spPr>
          <a:xfrm>
            <a:off x="771316" y="4131654"/>
            <a:ext cx="1280404" cy="646331"/>
          </a:xfrm>
          <a:prstGeom prst="rect">
            <a:avLst/>
          </a:prstGeom>
          <a:noFill/>
        </p:spPr>
        <p:txBody>
          <a:bodyPr wrap="square" rtlCol="0">
            <a:spAutoFit/>
          </a:bodyPr>
          <a:lstStyle/>
          <a:p>
            <a:r>
              <a:rPr lang="zh-CN" altLang="en-US" dirty="0">
                <a:solidFill>
                  <a:srgbClr val="FFC000"/>
                </a:solidFill>
                <a:latin typeface="楷体" panose="02010609060101010101" pitchFamily="49" charset="-122"/>
                <a:ea typeface="楷体" panose="02010609060101010101" pitchFamily="49" charset="-122"/>
              </a:rPr>
              <a:t>如何理解基本方程？</a:t>
            </a:r>
          </a:p>
        </p:txBody>
      </p:sp>
      <p:grpSp>
        <p:nvGrpSpPr>
          <p:cNvPr id="15" name="组合 14"/>
          <p:cNvGrpSpPr/>
          <p:nvPr/>
        </p:nvGrpSpPr>
        <p:grpSpPr>
          <a:xfrm>
            <a:off x="2051720" y="3986767"/>
            <a:ext cx="5033055" cy="936104"/>
            <a:chOff x="2051720" y="3986767"/>
            <a:chExt cx="5033055" cy="936104"/>
          </a:xfrm>
        </p:grpSpPr>
        <p:sp>
          <p:nvSpPr>
            <p:cNvPr id="12" name="矩形 11"/>
            <p:cNvSpPr/>
            <p:nvPr/>
          </p:nvSpPr>
          <p:spPr bwMode="auto">
            <a:xfrm>
              <a:off x="2620279" y="3986767"/>
              <a:ext cx="4464496" cy="936104"/>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1800" u="none" strike="noStrike" cap="none" normalizeH="0" baseline="0" dirty="0">
                  <a:ln>
                    <a:noFill/>
                  </a:ln>
                  <a:solidFill>
                    <a:schemeClr val="tx1"/>
                  </a:solidFill>
                  <a:effectLst/>
                  <a:latin typeface="楷体" panose="02010609060101010101" pitchFamily="49" charset="-122"/>
                  <a:ea typeface="楷体" panose="02010609060101010101" pitchFamily="49" charset="-122"/>
                </a:rPr>
                <a:t>基本体系中的附加约束应当实际上处于放松状态，附加约束中的约束力应当全部为零；实质上是要求原结构满足平衡方程。</a:t>
              </a:r>
            </a:p>
          </p:txBody>
        </p:sp>
        <p:sp>
          <p:nvSpPr>
            <p:cNvPr id="13" name="右箭头 12"/>
            <p:cNvSpPr/>
            <p:nvPr/>
          </p:nvSpPr>
          <p:spPr bwMode="auto">
            <a:xfrm>
              <a:off x="2051720" y="4391664"/>
              <a:ext cx="504056" cy="126309"/>
            </a:xfrm>
            <a:prstGeom prst="rightArrow">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sp>
        <p:nvSpPr>
          <p:cNvPr id="17" name="TextBox 16"/>
          <p:cNvSpPr txBox="1"/>
          <p:nvPr/>
        </p:nvSpPr>
        <p:spPr>
          <a:xfrm>
            <a:off x="899592" y="5301208"/>
            <a:ext cx="7632848" cy="646331"/>
          </a:xfrm>
          <a:prstGeom prst="rect">
            <a:avLst/>
          </a:prstGeom>
          <a:solidFill>
            <a:srgbClr val="92D050"/>
          </a:solidFill>
        </p:spPr>
        <p:txBody>
          <a:bodyPr wrap="square" rtlCol="0">
            <a:spAutoFit/>
          </a:bodyPr>
          <a:lstStyle/>
          <a:p>
            <a:r>
              <a:rPr lang="zh-CN" altLang="en-US" b="1" dirty="0">
                <a:solidFill>
                  <a:srgbClr val="FF0000"/>
                </a:solidFill>
                <a:latin typeface="楷体" panose="02010609060101010101" pitchFamily="49" charset="-122"/>
                <a:ea typeface="楷体" panose="02010609060101010101" pitchFamily="49" charset="-122"/>
              </a:rPr>
              <a:t>基本思路</a:t>
            </a:r>
            <a:r>
              <a:rPr lang="zh-CN" altLang="en-US" dirty="0">
                <a:latin typeface="楷体" panose="02010609060101010101" pitchFamily="49" charset="-122"/>
                <a:ea typeface="楷体" panose="02010609060101010101" pitchFamily="49" charset="-122"/>
              </a:rPr>
              <a:t>：仍然是过渡法，即由基本体系过渡到原结构。过渡的步骤是</a:t>
            </a:r>
            <a:r>
              <a:rPr lang="zh-CN" altLang="en-US" dirty="0">
                <a:solidFill>
                  <a:srgbClr val="FF0000"/>
                </a:solidFill>
                <a:latin typeface="楷体" panose="02010609060101010101" pitchFamily="49" charset="-122"/>
                <a:ea typeface="楷体" panose="02010609060101010101" pitchFamily="49" charset="-122"/>
              </a:rPr>
              <a:t>先锁住后放松</a:t>
            </a:r>
            <a:r>
              <a:rPr lang="zh-CN" altLang="en-US" dirty="0">
                <a:latin typeface="楷体" panose="02010609060101010101" pitchFamily="49" charset="-122"/>
                <a:ea typeface="楷体" panose="02010609060101010101" pitchFamily="49" charset="-122"/>
              </a:rPr>
              <a:t>，根据放松的条件建立位移法的基本方程。</a:t>
            </a:r>
          </a:p>
        </p:txBody>
      </p:sp>
    </p:spTree>
    <p:extLst>
      <p:ext uri="{BB962C8B-B14F-4D97-AF65-F5344CB8AC3E}">
        <p14:creationId xmlns:p14="http://schemas.microsoft.com/office/powerpoint/2010/main" val="2837283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P spid="11" grpId="0"/>
      <p:bldP spid="1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4" name="Rectangle 3"/>
          <p:cNvSpPr>
            <a:spLocks noChangeArrowheads="1"/>
          </p:cNvSpPr>
          <p:nvPr/>
        </p:nvSpPr>
        <p:spPr bwMode="auto">
          <a:xfrm>
            <a:off x="467544" y="1362512"/>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55600"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indent="0" algn="just" eaLnBrk="1" hangingPunct="1">
              <a:spcBef>
                <a:spcPct val="0"/>
              </a:spcBef>
              <a:buFontTx/>
              <a:buNone/>
            </a:pPr>
            <a:r>
              <a:rPr lang="zh-CN" altLang="en-US" sz="2400" b="1" dirty="0">
                <a:solidFill>
                  <a:srgbClr val="0000FF"/>
                </a:solidFill>
                <a:latin typeface="楷体" panose="02010609060101010101" pitchFamily="49" charset="-122"/>
                <a:ea typeface="楷体" panose="02010609060101010101" pitchFamily="49" charset="-122"/>
              </a:rPr>
              <a:t>思考：基本体系与原结构有何不同？</a:t>
            </a:r>
            <a:endParaRPr lang="zh-CN" altLang="en-US" sz="2400" b="1" dirty="0">
              <a:solidFill>
                <a:schemeClr val="tx2"/>
              </a:solidFill>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5" name="Rectangle 4"/>
              <p:cNvSpPr>
                <a:spLocks noChangeArrowheads="1"/>
              </p:cNvSpPr>
              <p:nvPr/>
            </p:nvSpPr>
            <p:spPr bwMode="auto">
              <a:xfrm>
                <a:off x="827585" y="1883320"/>
                <a:ext cx="5472608" cy="76944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spcBef>
                    <a:spcPct val="0"/>
                  </a:spcBef>
                  <a:buFontTx/>
                  <a:buNone/>
                </a:pPr>
                <a:r>
                  <a:rPr lang="zh-CN" altLang="en-US" sz="2200" dirty="0">
                    <a:latin typeface="楷体" panose="02010609060101010101" pitchFamily="49" charset="-122"/>
                    <a:ea typeface="楷体" panose="02010609060101010101" pitchFamily="49" charset="-122"/>
                  </a:rPr>
                  <a:t>原结构在结点</a:t>
                </a:r>
                <a14:m>
                  <m:oMath xmlns:m="http://schemas.openxmlformats.org/officeDocument/2006/math">
                    <m:r>
                      <a:rPr lang="en-US" altLang="zh-CN" sz="2200" b="0" i="1" smtClean="0">
                        <a:latin typeface="Cambria Math"/>
                        <a:ea typeface="楷体" panose="02010609060101010101" pitchFamily="49" charset="-122"/>
                      </a:rPr>
                      <m:t>𝐵</m:t>
                    </m:r>
                  </m:oMath>
                </a14:m>
                <a:r>
                  <a:rPr lang="zh-CN" altLang="en-US" sz="2200" dirty="0">
                    <a:latin typeface="楷体" panose="02010609060101010101" pitchFamily="49" charset="-122"/>
                    <a:ea typeface="楷体" panose="02010609060101010101" pitchFamily="49" charset="-122"/>
                  </a:rPr>
                  <a:t>处并没有附加约束，因而也没有附加约束反力矩。</a:t>
                </a:r>
              </a:p>
            </p:txBody>
          </p:sp>
        </mc:Choice>
        <mc:Fallback xmlns="">
          <p:sp>
            <p:nvSpPr>
              <p:cNvPr id="5" name="Rectangle 4"/>
              <p:cNvSpPr>
                <a:spLocks noRot="1" noChangeAspect="1" noMove="1" noResize="1" noEditPoints="1" noAdjustHandles="1" noChangeArrowheads="1" noChangeShapeType="1" noTextEdit="1"/>
              </p:cNvSpPr>
              <p:nvPr/>
            </p:nvSpPr>
            <p:spPr bwMode="auto">
              <a:xfrm>
                <a:off x="827585" y="1883320"/>
                <a:ext cx="5472608" cy="769441"/>
              </a:xfrm>
              <a:prstGeom prst="rect">
                <a:avLst/>
              </a:prstGeom>
              <a:blipFill rotWithShape="1">
                <a:blip r:embed="rId4"/>
                <a:stretch>
                  <a:fillRect l="-1449" t="-7143" r="-223" b="-1428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aphicFrame>
        <p:nvGraphicFramePr>
          <p:cNvPr id="3" name="对象 2"/>
          <p:cNvGraphicFramePr>
            <a:graphicFrameLocks noChangeAspect="1"/>
          </p:cNvGraphicFramePr>
          <p:nvPr>
            <p:extLst>
              <p:ext uri="{D42A27DB-BD31-4B8C-83A1-F6EECF244321}">
                <p14:modId xmlns:p14="http://schemas.microsoft.com/office/powerpoint/2010/main" val="4179928166"/>
              </p:ext>
            </p:extLst>
          </p:nvPr>
        </p:nvGraphicFramePr>
        <p:xfrm>
          <a:off x="6406847" y="1347258"/>
          <a:ext cx="2514600" cy="2505075"/>
        </p:xfrm>
        <a:graphic>
          <a:graphicData uri="http://schemas.openxmlformats.org/presentationml/2006/ole">
            <mc:AlternateContent xmlns:mc="http://schemas.openxmlformats.org/markup-compatibility/2006">
              <mc:Choice xmlns:v="urn:schemas-microsoft-com:vml" Requires="v">
                <p:oleObj spid="_x0000_s73830" name="位图图像" r:id="rId5" imgW="2514286" imgH="2505425" progId="PBrush">
                  <p:embed/>
                </p:oleObj>
              </mc:Choice>
              <mc:Fallback>
                <p:oleObj name="位图图像" r:id="rId5" imgW="2514286" imgH="2505425" progId="PBrush">
                  <p:embed/>
                  <p:pic>
                    <p:nvPicPr>
                      <p:cNvPr id="0" name=""/>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406847" y="1347258"/>
                        <a:ext cx="2514600" cy="250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Rectangle 5"/>
          <p:cNvSpPr>
            <a:spLocks noChangeArrowheads="1"/>
          </p:cNvSpPr>
          <p:nvPr/>
        </p:nvSpPr>
        <p:spPr bwMode="auto">
          <a:xfrm>
            <a:off x="489085" y="2840398"/>
            <a:ext cx="590465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lgn="just" eaLnBrk="1" hangingPunct="1">
              <a:spcBef>
                <a:spcPct val="0"/>
              </a:spcBef>
              <a:buFontTx/>
              <a:buNone/>
            </a:pPr>
            <a:r>
              <a:rPr lang="zh-CN" altLang="en-US" sz="2400" b="1" dirty="0">
                <a:solidFill>
                  <a:srgbClr val="0000FF"/>
                </a:solidFill>
                <a:latin typeface="楷体" panose="02010609060101010101" pitchFamily="49" charset="-122"/>
                <a:ea typeface="楷体" panose="02010609060101010101" pitchFamily="49" charset="-122"/>
              </a:rPr>
              <a:t>思考：如何使基本体系的受力和变形情况与原结构</a:t>
            </a:r>
            <a:r>
              <a:rPr lang="zh-CN" altLang="en-US" sz="2400" b="1" dirty="0">
                <a:solidFill>
                  <a:srgbClr val="FF3300"/>
                </a:solidFill>
                <a:latin typeface="楷体" panose="02010609060101010101" pitchFamily="49" charset="-122"/>
                <a:ea typeface="楷体" panose="02010609060101010101" pitchFamily="49" charset="-122"/>
              </a:rPr>
              <a:t>完全等价</a:t>
            </a:r>
            <a:r>
              <a:rPr lang="zh-CN" altLang="en-US" sz="2400" b="1" dirty="0">
                <a:solidFill>
                  <a:srgbClr val="0000FF"/>
                </a:solidFill>
                <a:latin typeface="楷体" panose="02010609060101010101" pitchFamily="49" charset="-122"/>
                <a:ea typeface="楷体" panose="02010609060101010101" pitchFamily="49" charset="-122"/>
              </a:rPr>
              <a:t>？</a:t>
            </a:r>
            <a:endParaRPr lang="zh-CN" altLang="en-US" sz="2400" b="1" dirty="0">
              <a:latin typeface="楷体" panose="02010609060101010101" pitchFamily="49" charset="-122"/>
              <a:ea typeface="楷体" panose="02010609060101010101" pitchFamily="49" charset="-122"/>
            </a:endParaRPr>
          </a:p>
        </p:txBody>
      </p:sp>
      <p:sp>
        <p:nvSpPr>
          <p:cNvPr id="8" name="Rectangle 6"/>
          <p:cNvSpPr>
            <a:spLocks noChangeArrowheads="1"/>
          </p:cNvSpPr>
          <p:nvPr/>
        </p:nvSpPr>
        <p:spPr bwMode="auto">
          <a:xfrm>
            <a:off x="827585" y="3665350"/>
            <a:ext cx="5760639" cy="783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355600"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indent="0" algn="just" eaLnBrk="1" hangingPunct="1">
              <a:spcBef>
                <a:spcPct val="0"/>
              </a:spcBef>
              <a:buFontTx/>
              <a:buNone/>
            </a:pPr>
            <a:r>
              <a:rPr lang="zh-CN" altLang="en-US" sz="2200" dirty="0">
                <a:latin typeface="楷体" panose="02010609060101010101" pitchFamily="49" charset="-122"/>
                <a:ea typeface="楷体" panose="02010609060101010101" pitchFamily="49" charset="-122"/>
              </a:rPr>
              <a:t>要使基本体系与原结构完全相等，必须要有</a:t>
            </a:r>
          </a:p>
          <a:p>
            <a:pPr algn="just" eaLnBrk="1" hangingPunct="1">
              <a:lnSpc>
                <a:spcPct val="120000"/>
              </a:lnSpc>
              <a:spcBef>
                <a:spcPct val="0"/>
              </a:spcBef>
              <a:buFontTx/>
              <a:buNone/>
            </a:pPr>
            <a:r>
              <a:rPr lang="zh-CN" altLang="en-US" sz="2200" b="0" i="1" dirty="0">
                <a:solidFill>
                  <a:srgbClr val="FF00FF"/>
                </a:solidFill>
                <a:latin typeface="楷体" panose="02010609060101010101" pitchFamily="49" charset="-122"/>
                <a:ea typeface="楷体" panose="02010609060101010101" pitchFamily="49" charset="-122"/>
              </a:rPr>
              <a:t>                   </a:t>
            </a:r>
            <a:r>
              <a:rPr lang="en-US" altLang="zh-CN" sz="2200" i="1" dirty="0">
                <a:solidFill>
                  <a:srgbClr val="FF00FF"/>
                </a:solidFill>
                <a:latin typeface="楷体" panose="02010609060101010101" pitchFamily="49" charset="-122"/>
                <a:ea typeface="楷体" panose="02010609060101010101" pitchFamily="49" charset="-122"/>
              </a:rPr>
              <a:t>F</a:t>
            </a:r>
            <a:r>
              <a:rPr lang="en-US" altLang="zh-CN" sz="2200" baseline="-25000" dirty="0">
                <a:solidFill>
                  <a:srgbClr val="FF00FF"/>
                </a:solidFill>
                <a:latin typeface="楷体" panose="02010609060101010101" pitchFamily="49" charset="-122"/>
                <a:ea typeface="楷体" panose="02010609060101010101" pitchFamily="49" charset="-122"/>
              </a:rPr>
              <a:t>11</a:t>
            </a:r>
            <a:r>
              <a:rPr lang="en-US" altLang="zh-CN" sz="2200" dirty="0">
                <a:solidFill>
                  <a:srgbClr val="FF00FF"/>
                </a:solidFill>
                <a:latin typeface="楷体" panose="02010609060101010101" pitchFamily="49" charset="-122"/>
                <a:ea typeface="楷体" panose="02010609060101010101" pitchFamily="49" charset="-122"/>
              </a:rPr>
              <a:t>+</a:t>
            </a:r>
            <a:r>
              <a:rPr lang="en-US" altLang="zh-CN" sz="2200" i="1" dirty="0">
                <a:solidFill>
                  <a:srgbClr val="FF00FF"/>
                </a:solidFill>
                <a:latin typeface="楷体" panose="02010609060101010101" pitchFamily="49" charset="-122"/>
                <a:ea typeface="楷体" panose="02010609060101010101" pitchFamily="49" charset="-122"/>
              </a:rPr>
              <a:t>F</a:t>
            </a:r>
            <a:r>
              <a:rPr lang="en-US" altLang="zh-CN" sz="2200" baseline="-25000" dirty="0">
                <a:solidFill>
                  <a:srgbClr val="FF00FF"/>
                </a:solidFill>
                <a:latin typeface="楷体" panose="02010609060101010101" pitchFamily="49" charset="-122"/>
                <a:ea typeface="楷体" panose="02010609060101010101" pitchFamily="49" charset="-122"/>
              </a:rPr>
              <a:t>1P</a:t>
            </a:r>
            <a:r>
              <a:rPr lang="en-US" altLang="zh-CN" sz="2200" dirty="0">
                <a:solidFill>
                  <a:srgbClr val="FF00FF"/>
                </a:solidFill>
                <a:latin typeface="楷体" panose="02010609060101010101" pitchFamily="49" charset="-122"/>
                <a:ea typeface="楷体" panose="02010609060101010101" pitchFamily="49" charset="-122"/>
              </a:rPr>
              <a:t>=</a:t>
            </a:r>
            <a:r>
              <a:rPr lang="en-US" altLang="zh-CN" sz="2200" i="1" dirty="0">
                <a:solidFill>
                  <a:srgbClr val="FF00FF"/>
                </a:solidFill>
                <a:latin typeface="楷体" panose="02010609060101010101" pitchFamily="49" charset="-122"/>
                <a:ea typeface="楷体" panose="02010609060101010101" pitchFamily="49" charset="-122"/>
              </a:rPr>
              <a:t>F</a:t>
            </a:r>
            <a:r>
              <a:rPr lang="en-US" altLang="zh-CN" sz="2200" baseline="-25000" dirty="0">
                <a:solidFill>
                  <a:srgbClr val="FF00FF"/>
                </a:solidFill>
                <a:latin typeface="楷体" panose="02010609060101010101" pitchFamily="49" charset="-122"/>
                <a:ea typeface="楷体" panose="02010609060101010101" pitchFamily="49" charset="-122"/>
              </a:rPr>
              <a:t>1</a:t>
            </a:r>
            <a:r>
              <a:rPr lang="en-US" altLang="zh-CN" sz="2200" dirty="0">
                <a:solidFill>
                  <a:srgbClr val="FF00FF"/>
                </a:solidFill>
                <a:latin typeface="楷体" panose="02010609060101010101" pitchFamily="49" charset="-122"/>
                <a:ea typeface="楷体" panose="02010609060101010101" pitchFamily="49" charset="-122"/>
              </a:rPr>
              <a:t>=0</a:t>
            </a:r>
            <a:r>
              <a:rPr lang="en-US" altLang="zh-CN" sz="2200" dirty="0">
                <a:latin typeface="楷体" panose="02010609060101010101" pitchFamily="49" charset="-122"/>
                <a:ea typeface="楷体" panose="02010609060101010101" pitchFamily="49" charset="-122"/>
              </a:rPr>
              <a:t> </a:t>
            </a:r>
          </a:p>
        </p:txBody>
      </p:sp>
      <p:sp>
        <p:nvSpPr>
          <p:cNvPr id="9" name="Rectangle 7"/>
          <p:cNvSpPr>
            <a:spLocks noChangeArrowheads="1"/>
          </p:cNvSpPr>
          <p:nvPr/>
        </p:nvSpPr>
        <p:spPr bwMode="auto">
          <a:xfrm>
            <a:off x="827585" y="4517582"/>
            <a:ext cx="7526338" cy="1040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lnSpc>
                <a:spcPct val="60000"/>
              </a:lnSpc>
              <a:spcBef>
                <a:spcPct val="50000"/>
              </a:spcBef>
              <a:buFontTx/>
              <a:buNone/>
            </a:pPr>
            <a:r>
              <a:rPr lang="en-US" altLang="zh-CN" sz="2200" i="1" dirty="0">
                <a:solidFill>
                  <a:srgbClr val="FF00FF"/>
                </a:solidFill>
                <a:latin typeface="楷体" panose="02010609060101010101" pitchFamily="49" charset="-122"/>
                <a:ea typeface="楷体" panose="02010609060101010101" pitchFamily="49" charset="-122"/>
              </a:rPr>
              <a:t>F </a:t>
            </a:r>
            <a:r>
              <a:rPr lang="zh-CN" altLang="en-US" sz="2200" dirty="0">
                <a:latin typeface="楷体" panose="02010609060101010101" pitchFamily="49" charset="-122"/>
                <a:ea typeface="楷体" panose="02010609060101010101" pitchFamily="49" charset="-122"/>
              </a:rPr>
              <a:t>的下标</a:t>
            </a:r>
            <a:r>
              <a:rPr lang="en-US" altLang="zh-CN" sz="2200" dirty="0">
                <a:latin typeface="楷体" panose="02010609060101010101" pitchFamily="49" charset="-122"/>
                <a:ea typeface="楷体" panose="02010609060101010101" pitchFamily="49" charset="-122"/>
              </a:rPr>
              <a:t>:</a:t>
            </a:r>
            <a:endParaRPr lang="en-US" altLang="zh-CN" sz="2200" b="0" dirty="0">
              <a:latin typeface="楷体" panose="02010609060101010101" pitchFamily="49" charset="-122"/>
              <a:ea typeface="楷体" panose="02010609060101010101" pitchFamily="49" charset="-122"/>
            </a:endParaRPr>
          </a:p>
          <a:p>
            <a:pPr eaLnBrk="1" hangingPunct="1">
              <a:lnSpc>
                <a:spcPct val="60000"/>
              </a:lnSpc>
              <a:spcBef>
                <a:spcPct val="50000"/>
              </a:spcBef>
              <a:buFontTx/>
              <a:buNone/>
            </a:pPr>
            <a:r>
              <a:rPr lang="en-US" altLang="zh-CN" sz="2200" dirty="0">
                <a:latin typeface="楷体" panose="02010609060101010101" pitchFamily="49" charset="-122"/>
                <a:ea typeface="楷体" panose="02010609060101010101" pitchFamily="49" charset="-122"/>
              </a:rPr>
              <a:t>   </a:t>
            </a:r>
            <a:r>
              <a:rPr lang="zh-CN" altLang="en-US" sz="2200" dirty="0">
                <a:latin typeface="楷体" panose="02010609060101010101" pitchFamily="49" charset="-122"/>
                <a:ea typeface="楷体" panose="02010609060101010101" pitchFamily="49" charset="-122"/>
              </a:rPr>
              <a:t>第一个下标表示产生附加反力矩的位置，</a:t>
            </a:r>
            <a:endParaRPr lang="zh-CN" altLang="en-US" sz="2200" b="0" dirty="0">
              <a:latin typeface="楷体" panose="02010609060101010101" pitchFamily="49" charset="-122"/>
              <a:ea typeface="楷体" panose="02010609060101010101" pitchFamily="49" charset="-122"/>
            </a:endParaRPr>
          </a:p>
          <a:p>
            <a:pPr eaLnBrk="1" hangingPunct="1">
              <a:lnSpc>
                <a:spcPct val="60000"/>
              </a:lnSpc>
              <a:spcBef>
                <a:spcPct val="50000"/>
              </a:spcBef>
              <a:buFontTx/>
              <a:buNone/>
            </a:pPr>
            <a:r>
              <a:rPr lang="zh-CN" altLang="en-US" sz="2200" dirty="0">
                <a:latin typeface="楷体" panose="02010609060101010101" pitchFamily="49" charset="-122"/>
                <a:ea typeface="楷体" panose="02010609060101010101" pitchFamily="49" charset="-122"/>
              </a:rPr>
              <a:t>   第二个下标表示产生附加反力矩的原因。</a:t>
            </a:r>
          </a:p>
        </p:txBody>
      </p:sp>
    </p:spTree>
    <p:extLst>
      <p:ext uri="{BB962C8B-B14F-4D97-AF65-F5344CB8AC3E}">
        <p14:creationId xmlns:p14="http://schemas.microsoft.com/office/powerpoint/2010/main" val="3219593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Top)">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0-#ppt_w/2"/>
                                          </p:val>
                                        </p:tav>
                                        <p:tav tm="100000">
                                          <p:val>
                                            <p:strVal val="#ppt_x"/>
                                          </p:val>
                                        </p:tav>
                                      </p:tavLst>
                                    </p:anim>
                                    <p:anim calcmode="lin" valueType="num">
                                      <p:cBhvr additive="base">
                                        <p:cTn id="1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2" presetClass="entr" presetSubtype="1"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slide(fromTop)">
                                      <p:cBhvr>
                                        <p:cTn id="23"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67544" y="1340768"/>
            <a:ext cx="8280920" cy="461665"/>
          </a:xfrm>
          <a:prstGeom prst="rect">
            <a:avLst/>
          </a:prstGeom>
          <a:noFill/>
        </p:spPr>
        <p:txBody>
          <a:bodyPr wrap="square" rtlCol="0">
            <a:spAutoFit/>
          </a:bodyPr>
          <a:lstStyle/>
          <a:p>
            <a:r>
              <a:rPr lang="zh-CN" altLang="en-US" sz="2400" b="1" dirty="0">
                <a:solidFill>
                  <a:srgbClr val="00B0F0"/>
                </a:solidFill>
                <a:latin typeface="楷体" panose="02010609060101010101" pitchFamily="49" charset="-122"/>
                <a:ea typeface="楷体" panose="02010609060101010101" pitchFamily="49" charset="-122"/>
              </a:rPr>
              <a:t>建立位移法基本方程的具体过程：</a:t>
            </a:r>
          </a:p>
        </p:txBody>
      </p:sp>
      <p:sp>
        <p:nvSpPr>
          <p:cNvPr id="4" name="TextBox 3"/>
          <p:cNvSpPr txBox="1"/>
          <p:nvPr/>
        </p:nvSpPr>
        <p:spPr>
          <a:xfrm>
            <a:off x="747625" y="1988840"/>
            <a:ext cx="4184415" cy="400110"/>
          </a:xfrm>
          <a:prstGeom prst="rect">
            <a:avLst/>
          </a:prstGeom>
          <a:noFill/>
        </p:spPr>
        <p:txBody>
          <a:bodyPr wrap="square" rtlCol="0">
            <a:spAutoFit/>
          </a:bodyPr>
          <a:lstStyle/>
          <a:p>
            <a:pPr marL="342900" indent="-342900">
              <a:buFont typeface="+mj-ea"/>
              <a:buAutoNum type="circleNumDbPlain"/>
            </a:pPr>
            <a:r>
              <a:rPr lang="zh-CN" altLang="en-US" sz="2000" dirty="0">
                <a:solidFill>
                  <a:srgbClr val="0000FF"/>
                </a:solidFill>
                <a:latin typeface="楷体" panose="02010609060101010101" pitchFamily="49" charset="-122"/>
                <a:ea typeface="楷体" panose="02010609060101010101" pitchFamily="49" charset="-122"/>
              </a:rPr>
              <a:t>基本结构在荷载作用下的计算：</a:t>
            </a:r>
          </a:p>
        </p:txBody>
      </p:sp>
      <p:sp>
        <p:nvSpPr>
          <p:cNvPr id="6" name="TextBox 5"/>
          <p:cNvSpPr txBox="1"/>
          <p:nvPr/>
        </p:nvSpPr>
        <p:spPr>
          <a:xfrm>
            <a:off x="6228184" y="1988840"/>
            <a:ext cx="2520280" cy="369332"/>
          </a:xfrm>
          <a:prstGeom prst="rect">
            <a:avLst/>
          </a:prstGeom>
          <a:noFill/>
        </p:spPr>
        <p:txBody>
          <a:bodyPr wrap="square" rtlCol="0">
            <a:spAutoFit/>
          </a:bodyPr>
          <a:lstStyle/>
          <a:p>
            <a:r>
              <a:rPr lang="zh-CN" altLang="en-US" b="1" dirty="0">
                <a:solidFill>
                  <a:srgbClr val="7030A0"/>
                </a:solidFill>
                <a:latin typeface="楷体" panose="02010609060101010101" pitchFamily="49" charset="-122"/>
                <a:ea typeface="楷体" panose="02010609060101010101" pitchFamily="49" charset="-122"/>
              </a:rPr>
              <a:t>注意：此时是锁住！</a:t>
            </a:r>
          </a:p>
        </p:txBody>
      </p:sp>
      <mc:AlternateContent xmlns:mc="http://schemas.openxmlformats.org/markup-compatibility/2006" xmlns:a14="http://schemas.microsoft.com/office/drawing/2010/main">
        <mc:Choice Requires="a14">
          <p:sp>
            <p:nvSpPr>
              <p:cNvPr id="7" name="TextBox 6"/>
              <p:cNvSpPr txBox="1"/>
              <p:nvPr/>
            </p:nvSpPr>
            <p:spPr>
              <a:xfrm>
                <a:off x="827584" y="2492896"/>
                <a:ext cx="7920880" cy="646331"/>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分别求各杆的固端弯矩，作出弯矩图。基本结构在荷载作用下的弯矩图称为</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a:rPr>
                          <m:t>𝑀</m:t>
                        </m:r>
                      </m:e>
                      <m:sub>
                        <m:r>
                          <a:rPr lang="en-US" altLang="zh-CN" b="0" i="1" smtClean="0">
                            <a:latin typeface="Cambria Math"/>
                          </a:rPr>
                          <m:t>𝑃</m:t>
                        </m:r>
                      </m:sub>
                    </m:sSub>
                  </m:oMath>
                </a14:m>
                <a:r>
                  <a:rPr lang="zh-CN" altLang="en-US" dirty="0">
                    <a:latin typeface="楷体" panose="02010609060101010101" pitchFamily="49" charset="-122"/>
                    <a:ea typeface="楷体" panose="02010609060101010101" pitchFamily="49" charset="-122"/>
                  </a:rPr>
                  <a:t>图。</a:t>
                </a:r>
              </a:p>
            </p:txBody>
          </p:sp>
        </mc:Choice>
        <mc:Fallback xmlns="">
          <p:sp>
            <p:nvSpPr>
              <p:cNvPr id="7" name="TextBox 6"/>
              <p:cNvSpPr txBox="1">
                <a:spLocks noRot="1" noChangeAspect="1" noMove="1" noResize="1" noEditPoints="1" noAdjustHandles="1" noChangeArrowheads="1" noChangeShapeType="1" noTextEdit="1"/>
              </p:cNvSpPr>
              <p:nvPr/>
            </p:nvSpPr>
            <p:spPr>
              <a:xfrm>
                <a:off x="827584" y="2492896"/>
                <a:ext cx="7920880" cy="646331"/>
              </a:xfrm>
              <a:prstGeom prst="rect">
                <a:avLst/>
              </a:prstGeom>
              <a:blipFill rotWithShape="1">
                <a:blip r:embed="rId4"/>
                <a:stretch>
                  <a:fillRect l="-693" t="-4717" b="-12264"/>
                </a:stretch>
              </a:blipFill>
            </p:spPr>
            <p:txBody>
              <a:bodyPr/>
              <a:lstStyle/>
              <a:p>
                <a:r>
                  <a:rPr lang="zh-CN" altLang="en-US">
                    <a:noFill/>
                  </a:rPr>
                  <a:t> </a:t>
                </a:r>
              </a:p>
            </p:txBody>
          </p:sp>
        </mc:Fallback>
      </mc:AlternateContent>
      <p:pic>
        <p:nvPicPr>
          <p:cNvPr id="65537" name="Picture 1" descr="C:\Users\Administrator\AppData\Roaming\Tencent\Users\42337577\QQ\WinTemp\RichOle\UMKY)O0NUVKW)TDGFO4FDHO.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6154" y="3139227"/>
            <a:ext cx="6743700" cy="14097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p:cNvSpPr txBox="1"/>
              <p:nvPr/>
            </p:nvSpPr>
            <p:spPr>
              <a:xfrm>
                <a:off x="827584" y="4653136"/>
                <a:ext cx="3600400"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取结点</a:t>
                </a:r>
                <a14:m>
                  <m:oMath xmlns:m="http://schemas.openxmlformats.org/officeDocument/2006/math">
                    <m:r>
                      <a:rPr lang="en-US" altLang="zh-CN" b="0" i="1" smtClean="0">
                        <a:latin typeface="Cambria Math"/>
                      </a:rPr>
                      <m:t>𝐵</m:t>
                    </m:r>
                  </m:oMath>
                </a14:m>
                <a:r>
                  <a:rPr lang="zh-CN" altLang="en-US" dirty="0">
                    <a:latin typeface="楷体" panose="02010609060101010101" pitchFamily="49" charset="-122"/>
                    <a:ea typeface="楷体" panose="02010609060101010101" pitchFamily="49" charset="-122"/>
                  </a:rPr>
                  <a:t>为隔离体，根据平衡条件：</a:t>
                </a:r>
              </a:p>
            </p:txBody>
          </p:sp>
        </mc:Choice>
        <mc:Fallback xmlns="">
          <p:sp>
            <p:nvSpPr>
              <p:cNvPr id="5" name="TextBox 4"/>
              <p:cNvSpPr txBox="1">
                <a:spLocks noRot="1" noChangeAspect="1" noMove="1" noResize="1" noEditPoints="1" noAdjustHandles="1" noChangeArrowheads="1" noChangeShapeType="1" noTextEdit="1"/>
              </p:cNvSpPr>
              <p:nvPr/>
            </p:nvSpPr>
            <p:spPr>
              <a:xfrm>
                <a:off x="827584" y="4653136"/>
                <a:ext cx="3600400" cy="369332"/>
              </a:xfrm>
              <a:prstGeom prst="rect">
                <a:avLst/>
              </a:prstGeom>
              <a:blipFill rotWithShape="1">
                <a:blip r:embed="rId6"/>
                <a:stretch>
                  <a:fillRect l="-1525" t="-11475" r="-7627" b="-21311"/>
                </a:stretch>
              </a:blipFill>
            </p:spPr>
            <p:txBody>
              <a:bodyPr/>
              <a:lstStyle/>
              <a:p>
                <a:r>
                  <a:rPr lang="zh-CN" altLang="en-US">
                    <a:noFill/>
                  </a:rPr>
                  <a:t> </a:t>
                </a:r>
              </a:p>
            </p:txBody>
          </p:sp>
        </mc:Fallback>
      </mc:AlternateContent>
      <p:graphicFrame>
        <p:nvGraphicFramePr>
          <p:cNvPr id="8" name="对象 7"/>
          <p:cNvGraphicFramePr>
            <a:graphicFrameLocks noChangeAspect="1"/>
          </p:cNvGraphicFramePr>
          <p:nvPr>
            <p:extLst>
              <p:ext uri="{D42A27DB-BD31-4B8C-83A1-F6EECF244321}">
                <p14:modId xmlns:p14="http://schemas.microsoft.com/office/powerpoint/2010/main" val="1105674373"/>
              </p:ext>
            </p:extLst>
          </p:nvPr>
        </p:nvGraphicFramePr>
        <p:xfrm>
          <a:off x="4788024" y="4714589"/>
          <a:ext cx="1181100" cy="279400"/>
        </p:xfrm>
        <a:graphic>
          <a:graphicData uri="http://schemas.openxmlformats.org/presentationml/2006/ole">
            <mc:AlternateContent xmlns:mc="http://schemas.openxmlformats.org/markup-compatibility/2006">
              <mc:Choice xmlns:v="urn:schemas-microsoft-com:vml" Requires="v">
                <p:oleObj spid="_x0000_s67842" name="Equation" r:id="rId7" imgW="1180800" imgH="279360" progId="Equation.DSMT4">
                  <p:embed/>
                </p:oleObj>
              </mc:Choice>
              <mc:Fallback>
                <p:oleObj name="Equation" r:id="rId7" imgW="1180800" imgH="279360" progId="Equation.DSMT4">
                  <p:embed/>
                  <p:pic>
                    <p:nvPicPr>
                      <p:cNvPr id="0" name=""/>
                      <p:cNvPicPr/>
                      <p:nvPr/>
                    </p:nvPicPr>
                    <p:blipFill>
                      <a:blip r:embed="rId8"/>
                      <a:stretch>
                        <a:fillRect/>
                      </a:stretch>
                    </p:blipFill>
                    <p:spPr>
                      <a:xfrm>
                        <a:off x="4788024" y="4714589"/>
                        <a:ext cx="1181100" cy="2794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9" name="TextBox 8"/>
              <p:cNvSpPr txBox="1"/>
              <p:nvPr/>
            </p:nvSpPr>
            <p:spPr>
              <a:xfrm>
                <a:off x="827584" y="5157192"/>
                <a:ext cx="6408712"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取柱顶以上横梁</a:t>
                </a:r>
                <a14:m>
                  <m:oMath xmlns:m="http://schemas.openxmlformats.org/officeDocument/2006/math">
                    <m:r>
                      <a:rPr lang="en-US" altLang="zh-CN" b="0" i="1" smtClean="0">
                        <a:latin typeface="Cambria Math"/>
                      </a:rPr>
                      <m:t>𝐵𝐶</m:t>
                    </m:r>
                  </m:oMath>
                </a14:m>
                <a:r>
                  <a:rPr lang="zh-CN" altLang="en-US" dirty="0">
                    <a:latin typeface="楷体" panose="02010609060101010101" pitchFamily="49" charset="-122"/>
                    <a:ea typeface="楷体" panose="02010609060101010101" pitchFamily="49" charset="-122"/>
                  </a:rPr>
                  <a:t>部分为隔离体：</a:t>
                </a:r>
              </a:p>
            </p:txBody>
          </p:sp>
        </mc:Choice>
        <mc:Fallback xmlns="">
          <p:sp>
            <p:nvSpPr>
              <p:cNvPr id="9" name="TextBox 8"/>
              <p:cNvSpPr txBox="1">
                <a:spLocks noRot="1" noChangeAspect="1" noMove="1" noResize="1" noEditPoints="1" noAdjustHandles="1" noChangeArrowheads="1" noChangeShapeType="1" noTextEdit="1"/>
              </p:cNvSpPr>
              <p:nvPr/>
            </p:nvSpPr>
            <p:spPr>
              <a:xfrm>
                <a:off x="827584" y="5157192"/>
                <a:ext cx="6408712" cy="369332"/>
              </a:xfrm>
              <a:prstGeom prst="rect">
                <a:avLst/>
              </a:prstGeom>
              <a:blipFill rotWithShape="1">
                <a:blip r:embed="rId9"/>
                <a:stretch>
                  <a:fillRect l="-856" t="-11475" b="-21311"/>
                </a:stretch>
              </a:blipFill>
            </p:spPr>
            <p:txBody>
              <a:bodyPr/>
              <a:lstStyle/>
              <a:p>
                <a:r>
                  <a:rPr lang="zh-CN" altLang="en-US">
                    <a:noFill/>
                  </a:rPr>
                  <a:t> </a:t>
                </a:r>
              </a:p>
            </p:txBody>
          </p:sp>
        </mc:Fallback>
      </mc:AlternateContent>
      <p:graphicFrame>
        <p:nvGraphicFramePr>
          <p:cNvPr id="10" name="对象 9"/>
          <p:cNvGraphicFramePr>
            <a:graphicFrameLocks noChangeAspect="1"/>
          </p:cNvGraphicFramePr>
          <p:nvPr>
            <p:extLst>
              <p:ext uri="{D42A27DB-BD31-4B8C-83A1-F6EECF244321}">
                <p14:modId xmlns:p14="http://schemas.microsoft.com/office/powerpoint/2010/main" val="4285730999"/>
              </p:ext>
            </p:extLst>
          </p:nvPr>
        </p:nvGraphicFramePr>
        <p:xfrm>
          <a:off x="4427984" y="5087858"/>
          <a:ext cx="2946400" cy="508000"/>
        </p:xfrm>
        <a:graphic>
          <a:graphicData uri="http://schemas.openxmlformats.org/presentationml/2006/ole">
            <mc:AlternateContent xmlns:mc="http://schemas.openxmlformats.org/markup-compatibility/2006">
              <mc:Choice xmlns:v="urn:schemas-microsoft-com:vml" Requires="v">
                <p:oleObj spid="_x0000_s67843" name="Equation" r:id="rId10" imgW="2946240" imgH="507960" progId="Equation.DSMT4">
                  <p:embed/>
                </p:oleObj>
              </mc:Choice>
              <mc:Fallback>
                <p:oleObj name="Equation" r:id="rId10" imgW="2946240" imgH="507960" progId="Equation.DSMT4">
                  <p:embed/>
                  <p:pic>
                    <p:nvPicPr>
                      <p:cNvPr id="0" name=""/>
                      <p:cNvPicPr/>
                      <p:nvPr/>
                    </p:nvPicPr>
                    <p:blipFill>
                      <a:blip r:embed="rId11"/>
                      <a:stretch>
                        <a:fillRect/>
                      </a:stretch>
                    </p:blipFill>
                    <p:spPr>
                      <a:xfrm>
                        <a:off x="4427984" y="5087858"/>
                        <a:ext cx="2946400" cy="508000"/>
                      </a:xfrm>
                      <a:prstGeom prst="rect">
                        <a:avLst/>
                      </a:prstGeom>
                    </p:spPr>
                  </p:pic>
                </p:oleObj>
              </mc:Fallback>
            </mc:AlternateContent>
          </a:graphicData>
        </a:graphic>
      </p:graphicFrame>
      <p:sp>
        <p:nvSpPr>
          <p:cNvPr id="11" name="TextBox 10"/>
          <p:cNvSpPr txBox="1"/>
          <p:nvPr/>
        </p:nvSpPr>
        <p:spPr>
          <a:xfrm>
            <a:off x="6156176" y="4510861"/>
            <a:ext cx="2664296" cy="646331"/>
          </a:xfrm>
          <a:prstGeom prst="rect">
            <a:avLst/>
          </a:prstGeom>
          <a:noFill/>
        </p:spPr>
        <p:txBody>
          <a:bodyPr wrap="square" rtlCol="0">
            <a:spAutoFit/>
          </a:bodyPr>
          <a:lstStyle/>
          <a:p>
            <a:r>
              <a:rPr lang="en-US" altLang="zh-CN" b="1" dirty="0">
                <a:solidFill>
                  <a:srgbClr val="FF0000"/>
                </a:solidFill>
                <a:latin typeface="Times New Roman" panose="02020603050405020304" pitchFamily="18" charset="0"/>
                <a:cs typeface="Times New Roman" panose="02020603050405020304" pitchFamily="18" charset="0"/>
              </a:rPr>
              <a:t>Note: How to differentiate the sign?</a:t>
            </a:r>
            <a:endParaRPr lang="zh-CN" altLang="en-US"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Rectangle 5"/>
              <p:cNvSpPr>
                <a:spLocks noChangeArrowheads="1"/>
              </p:cNvSpPr>
              <p:nvPr/>
            </p:nvSpPr>
            <p:spPr bwMode="auto">
              <a:xfrm>
                <a:off x="935322" y="5701003"/>
                <a:ext cx="7345363" cy="769441"/>
              </a:xfrm>
              <a:prstGeom prst="rect">
                <a:avLst/>
              </a:prstGeom>
              <a:noFill/>
              <a:ln>
                <a:noFill/>
              </a:ln>
              <a:effectLst/>
              <a:extLst>
                <a:ext uri="{909E8E84-426E-40DD-AFC4-6F175D3DCCD1}">
                  <a14:hiddenFill>
                    <a:solidFill>
                      <a:srgbClr val="CC99FF"/>
                    </a:solidFill>
                  </a14:hiddenFill>
                </a:ext>
                <a:ext uri="{91240B29-F687-4F45-9708-019B960494DF}">
                  <a14:hiddenLine w="76200" cmpd="tri">
                    <a:solidFill>
                      <a:srgbClr val="FF6600"/>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0"/>
                  </a:spcBef>
                  <a:buFontTx/>
                  <a:buNone/>
                </a:pPr>
                <a:r>
                  <a:rPr lang="zh-CN" altLang="en-US" sz="2200" dirty="0">
                    <a:solidFill>
                      <a:srgbClr val="990033"/>
                    </a:solidFill>
                    <a:latin typeface="楷体" panose="02010609060101010101" pitchFamily="49" charset="-122"/>
                    <a:ea typeface="楷体" panose="02010609060101010101" pitchFamily="49" charset="-122"/>
                  </a:rPr>
                  <a:t>注意：</a:t>
                </a:r>
                <a:r>
                  <a:rPr lang="zh-CN" altLang="en-US" sz="2200" dirty="0">
                    <a:latin typeface="楷体" panose="02010609060101010101" pitchFamily="49" charset="-122"/>
                    <a:ea typeface="楷体" panose="02010609060101010101" pitchFamily="49" charset="-122"/>
                  </a:rPr>
                  <a:t>系数</a:t>
                </a:r>
                <a:r>
                  <a:rPr lang="en-US" altLang="zh-CN" sz="2200" b="0" i="1" dirty="0">
                    <a:solidFill>
                      <a:srgbClr val="FF00FF"/>
                    </a:solidFill>
                    <a:latin typeface="楷体" panose="02010609060101010101" pitchFamily="49" charset="-122"/>
                    <a:ea typeface="楷体" panose="02010609060101010101" pitchFamily="49" charset="-122"/>
                  </a:rPr>
                  <a:t>k</a:t>
                </a:r>
                <a:r>
                  <a:rPr lang="en-US" altLang="zh-CN" sz="2200" baseline="-25000" dirty="0">
                    <a:solidFill>
                      <a:srgbClr val="FF00FF"/>
                    </a:solidFill>
                    <a:latin typeface="楷体" panose="02010609060101010101" pitchFamily="49" charset="-122"/>
                    <a:ea typeface="楷体" panose="02010609060101010101" pitchFamily="49" charset="-122"/>
                  </a:rPr>
                  <a:t>11</a:t>
                </a:r>
                <a:r>
                  <a:rPr lang="zh-CN" altLang="en-US" sz="2200" dirty="0">
                    <a:latin typeface="楷体" panose="02010609060101010101" pitchFamily="49" charset="-122"/>
                    <a:ea typeface="楷体" panose="02010609060101010101" pitchFamily="49" charset="-122"/>
                  </a:rPr>
                  <a:t>和自由项</a:t>
                </a:r>
                <a:r>
                  <a:rPr lang="en-US" altLang="zh-CN" sz="2200" b="0" i="1" dirty="0">
                    <a:solidFill>
                      <a:srgbClr val="FF00FF"/>
                    </a:solidFill>
                    <a:latin typeface="楷体" panose="02010609060101010101" pitchFamily="49" charset="-122"/>
                    <a:ea typeface="楷体" panose="02010609060101010101" pitchFamily="49" charset="-122"/>
                  </a:rPr>
                  <a:t>F</a:t>
                </a:r>
                <a:r>
                  <a:rPr lang="en-US" altLang="zh-CN" sz="2200" baseline="-25000" dirty="0">
                    <a:solidFill>
                      <a:srgbClr val="FF00FF"/>
                    </a:solidFill>
                    <a:latin typeface="楷体" panose="02010609060101010101" pitchFamily="49" charset="-122"/>
                    <a:ea typeface="楷体" panose="02010609060101010101" pitchFamily="49" charset="-122"/>
                  </a:rPr>
                  <a:t>1P</a:t>
                </a:r>
                <a:r>
                  <a:rPr lang="zh-CN" altLang="en-US" sz="2200" dirty="0">
                    <a:latin typeface="楷体" panose="02010609060101010101" pitchFamily="49" charset="-122"/>
                    <a:ea typeface="楷体" panose="02010609060101010101" pitchFamily="49" charset="-122"/>
                  </a:rPr>
                  <a:t>的正负号规定它们都与转角</a:t>
                </a:r>
                <a14:m>
                  <m:oMath xmlns:m="http://schemas.openxmlformats.org/officeDocument/2006/math">
                    <m:sSub>
                      <m:sSubPr>
                        <m:ctrlPr>
                          <a:rPr lang="en-US" altLang="zh-CN" sz="2200" i="1" smtClean="0">
                            <a:latin typeface="Cambria Math" panose="02040503050406030204" pitchFamily="18" charset="0"/>
                            <a:ea typeface="楷体" panose="02010609060101010101" pitchFamily="49" charset="-122"/>
                          </a:rPr>
                        </m:ctrlPr>
                      </m:sSubPr>
                      <m:e>
                        <m:r>
                          <a:rPr lang="en-US" altLang="zh-CN" sz="2200" i="1">
                            <a:latin typeface="Cambria Math"/>
                            <a:ea typeface="Cambria Math"/>
                          </a:rPr>
                          <m:t>∆</m:t>
                        </m:r>
                      </m:e>
                      <m:sub>
                        <m:r>
                          <a:rPr lang="en-US" altLang="zh-CN" sz="2200" b="0" i="1" smtClean="0">
                            <a:latin typeface="Cambria Math"/>
                            <a:ea typeface="楷体" panose="02010609060101010101" pitchFamily="49" charset="-122"/>
                          </a:rPr>
                          <m:t>1</m:t>
                        </m:r>
                      </m:sub>
                    </m:sSub>
                  </m:oMath>
                </a14:m>
                <a:r>
                  <a:rPr lang="zh-CN" altLang="en-US" sz="2200" dirty="0">
                    <a:latin typeface="楷体" panose="02010609060101010101" pitchFamily="49" charset="-122"/>
                    <a:ea typeface="楷体" panose="02010609060101010101" pitchFamily="49" charset="-122"/>
                  </a:rPr>
                  <a:t>的正向一致时为正，即顺时针为正。</a:t>
                </a:r>
                <a:r>
                  <a:rPr lang="zh-CN" altLang="en-US" sz="2200" b="0" dirty="0">
                    <a:latin typeface="楷体" panose="02010609060101010101" pitchFamily="49" charset="-122"/>
                    <a:ea typeface="楷体" panose="02010609060101010101" pitchFamily="49" charset="-122"/>
                  </a:rPr>
                  <a:t> </a:t>
                </a:r>
              </a:p>
            </p:txBody>
          </p:sp>
        </mc:Choice>
        <mc:Fallback xmlns="">
          <p:sp>
            <p:nvSpPr>
              <p:cNvPr id="15" name="Rectangle 5"/>
              <p:cNvSpPr>
                <a:spLocks noRot="1" noChangeAspect="1" noMove="1" noResize="1" noEditPoints="1" noAdjustHandles="1" noChangeArrowheads="1" noChangeShapeType="1" noTextEdit="1"/>
              </p:cNvSpPr>
              <p:nvPr/>
            </p:nvSpPr>
            <p:spPr bwMode="auto">
              <a:xfrm>
                <a:off x="935322" y="5701003"/>
                <a:ext cx="7345363" cy="769441"/>
              </a:xfrm>
              <a:prstGeom prst="rect">
                <a:avLst/>
              </a:prstGeom>
              <a:blipFill rotWithShape="1">
                <a:blip r:embed="rId12"/>
                <a:stretch>
                  <a:fillRect l="-996" t="-7143" r="-83" b="-14286"/>
                </a:stretch>
              </a:blipFill>
              <a:ln>
                <a:noFill/>
              </a:ln>
              <a:effectLst/>
              <a:extLst>
                <a:ext uri="{909E8E84-426E-40DD-AFC4-6F175D3DCCD1}">
                  <a14:hiddenFill xmlns:a14="http://schemas.microsoft.com/office/drawing/2010/main">
                    <a:solidFill>
                      <a:srgbClr val="CC99FF"/>
                    </a:solidFill>
                  </a14:hiddenFill>
                </a:ext>
                <a:ext uri="{91240B29-F687-4F45-9708-019B960494DF}">
                  <a14:hiddenLine xmlns:a14="http://schemas.microsoft.com/office/drawing/2010/main" w="76200" cmpd="tri">
                    <a:solidFill>
                      <a:srgbClr val="FF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4086674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55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5" grpId="0"/>
      <p:bldP spid="9" grpId="0"/>
      <p:bldP spid="11" grpId="0"/>
      <p:bldP spid="1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TextBox 3"/>
              <p:cNvSpPr txBox="1"/>
              <p:nvPr/>
            </p:nvSpPr>
            <p:spPr>
              <a:xfrm>
                <a:off x="755779" y="1253756"/>
                <a:ext cx="5400397" cy="400110"/>
              </a:xfrm>
              <a:prstGeom prst="rect">
                <a:avLst/>
              </a:prstGeom>
              <a:noFill/>
            </p:spPr>
            <p:txBody>
              <a:bodyPr wrap="square" rtlCol="0">
                <a:spAutoFit/>
              </a:bodyPr>
              <a:lstStyle/>
              <a:p>
                <a:pPr marL="457200" indent="-457200">
                  <a:buFont typeface="+mj-ea"/>
                  <a:buAutoNum type="circleNumDbPlain" startAt="2"/>
                </a:pPr>
                <a:r>
                  <a:rPr lang="zh-CN" altLang="en-US" sz="2000" dirty="0">
                    <a:solidFill>
                      <a:srgbClr val="0000FF"/>
                    </a:solidFill>
                    <a:latin typeface="楷体" panose="02010609060101010101" pitchFamily="49" charset="-122"/>
                    <a:ea typeface="楷体" panose="02010609060101010101" pitchFamily="49" charset="-122"/>
                  </a:rPr>
                  <a:t>基本结构在单位转角</a:t>
                </a:r>
                <a14:m>
                  <m:oMath xmlns:m="http://schemas.openxmlformats.org/officeDocument/2006/math">
                    <m:sSub>
                      <m:sSubPr>
                        <m:ctrlPr>
                          <a:rPr lang="en-US" altLang="zh-CN" sz="2000" i="1" smtClean="0">
                            <a:solidFill>
                              <a:srgbClr val="0000FF"/>
                            </a:solidFill>
                            <a:latin typeface="Cambria Math" panose="02040503050406030204" pitchFamily="18" charset="0"/>
                            <a:ea typeface="楷体" panose="02010609060101010101" pitchFamily="49" charset="-122"/>
                          </a:rPr>
                        </m:ctrlPr>
                      </m:sSubPr>
                      <m:e>
                        <m:r>
                          <a:rPr lang="en-US" altLang="zh-CN" sz="2000" i="1" smtClean="0">
                            <a:solidFill>
                              <a:srgbClr val="0000FF"/>
                            </a:solidFill>
                            <a:latin typeface="Cambria Math"/>
                            <a:ea typeface="Cambria Math"/>
                          </a:rPr>
                          <m:t>∆</m:t>
                        </m:r>
                      </m:e>
                      <m:sub>
                        <m:r>
                          <a:rPr lang="en-US" altLang="zh-CN" sz="2000" b="0" i="1" smtClean="0">
                            <a:solidFill>
                              <a:srgbClr val="0000FF"/>
                            </a:solidFill>
                            <a:latin typeface="Cambria Math"/>
                            <a:ea typeface="楷体" panose="02010609060101010101" pitchFamily="49" charset="-122"/>
                          </a:rPr>
                          <m:t>1</m:t>
                        </m:r>
                      </m:sub>
                    </m:sSub>
                    <m:r>
                      <a:rPr lang="en-US" altLang="zh-CN" sz="2000" b="0" i="1" smtClean="0">
                        <a:solidFill>
                          <a:srgbClr val="0000FF"/>
                        </a:solidFill>
                        <a:latin typeface="Cambria Math"/>
                        <a:ea typeface="楷体" panose="02010609060101010101" pitchFamily="49" charset="-122"/>
                      </a:rPr>
                      <m:t>=1</m:t>
                    </m:r>
                  </m:oMath>
                </a14:m>
                <a:r>
                  <a:rPr lang="zh-CN" altLang="en-US" sz="2000" dirty="0">
                    <a:solidFill>
                      <a:srgbClr val="0000FF"/>
                    </a:solidFill>
                    <a:latin typeface="楷体" panose="02010609060101010101" pitchFamily="49" charset="-122"/>
                    <a:ea typeface="楷体" panose="02010609060101010101" pitchFamily="49" charset="-122"/>
                  </a:rPr>
                  <a:t>作用下的计算：</a:t>
                </a:r>
              </a:p>
            </p:txBody>
          </p:sp>
        </mc:Choice>
        <mc:Fallback xmlns="">
          <p:sp>
            <p:nvSpPr>
              <p:cNvPr id="4" name="TextBox 3"/>
              <p:cNvSpPr txBox="1">
                <a:spLocks noRot="1" noChangeAspect="1" noMove="1" noResize="1" noEditPoints="1" noAdjustHandles="1" noChangeArrowheads="1" noChangeShapeType="1" noTextEdit="1"/>
              </p:cNvSpPr>
              <p:nvPr/>
            </p:nvSpPr>
            <p:spPr>
              <a:xfrm>
                <a:off x="755779" y="1253756"/>
                <a:ext cx="5400397" cy="400110"/>
              </a:xfrm>
              <a:prstGeom prst="rect">
                <a:avLst/>
              </a:prstGeom>
              <a:blipFill rotWithShape="1">
                <a:blip r:embed="rId4"/>
                <a:stretch>
                  <a:fillRect l="-790" t="-10769" r="-564" b="-24615"/>
                </a:stretch>
              </a:blipFill>
            </p:spPr>
            <p:txBody>
              <a:bodyPr/>
              <a:lstStyle/>
              <a:p>
                <a:r>
                  <a:rPr lang="zh-CN" altLang="en-US">
                    <a:noFill/>
                  </a:rPr>
                  <a:t> </a:t>
                </a:r>
              </a:p>
            </p:txBody>
          </p:sp>
        </mc:Fallback>
      </mc:AlternateContent>
      <p:pic>
        <p:nvPicPr>
          <p:cNvPr id="69633" name="Picture 1" descr="C:\Users\Administrator\AppData\Roaming\Tencent\Users\42337577\QQ\WinTemp\RichOle\MVQ]P(FB9G4E]M6A{0(%E_5.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46019" y="2236775"/>
            <a:ext cx="6677025" cy="13716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TextBox 2"/>
              <p:cNvSpPr txBox="1"/>
              <p:nvPr/>
            </p:nvSpPr>
            <p:spPr>
              <a:xfrm>
                <a:off x="755779" y="1774612"/>
                <a:ext cx="7992685"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当结点</a:t>
                </a:r>
                <a14:m>
                  <m:oMath xmlns:m="http://schemas.openxmlformats.org/officeDocument/2006/math">
                    <m:r>
                      <a:rPr lang="en-US" altLang="zh-CN" b="0" i="1" smtClean="0">
                        <a:latin typeface="Cambria Math"/>
                      </a:rPr>
                      <m:t>𝐵</m:t>
                    </m:r>
                  </m:oMath>
                </a14:m>
                <a:r>
                  <a:rPr lang="zh-CN" altLang="en-US" dirty="0">
                    <a:latin typeface="楷体" panose="02010609060101010101" pitchFamily="49" charset="-122"/>
                    <a:ea typeface="楷体" panose="02010609060101010101" pitchFamily="49" charset="-122"/>
                  </a:rPr>
                  <a:t>转角</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a:ea typeface="Cambria Math"/>
                          </a:rPr>
                          <m:t>∆</m:t>
                        </m:r>
                      </m:e>
                      <m:sub>
                        <m:r>
                          <a:rPr lang="en-US" altLang="zh-CN" b="0" i="1" dirty="0" smtClean="0">
                            <a:latin typeface="Cambria Math"/>
                          </a:rPr>
                          <m:t>1</m:t>
                        </m:r>
                      </m:sub>
                    </m:sSub>
                    <m:r>
                      <a:rPr lang="en-US" altLang="zh-CN" b="0" i="1" dirty="0" smtClean="0">
                        <a:latin typeface="Cambria Math"/>
                      </a:rPr>
                      <m:t>=1</m:t>
                    </m:r>
                  </m:oMath>
                </a14:m>
                <a:r>
                  <a:rPr lang="zh-CN" altLang="en-US" dirty="0">
                    <a:latin typeface="楷体" panose="02010609060101010101" pitchFamily="49" charset="-122"/>
                    <a:ea typeface="楷体" panose="02010609060101010101" pitchFamily="49" charset="-122"/>
                  </a:rPr>
                  <a:t>时，分别求各杆的杆端弯矩，作出弯矩图（</a:t>
                </a:r>
                <a14:m>
                  <m:oMath xmlns:m="http://schemas.openxmlformats.org/officeDocument/2006/math">
                    <m:sSub>
                      <m:sSubPr>
                        <m:ctrlPr>
                          <a:rPr lang="en-US" altLang="zh-CN" i="1" smtClean="0">
                            <a:latin typeface="Cambria Math" panose="02040503050406030204" pitchFamily="18" charset="0"/>
                          </a:rPr>
                        </m:ctrlPr>
                      </m:sSubPr>
                      <m:e>
                        <m:acc>
                          <m:accPr>
                            <m:chr m:val="̅"/>
                            <m:ctrlPr>
                              <a:rPr lang="en-US" altLang="zh-CN" i="1" smtClean="0">
                                <a:latin typeface="Cambria Math" panose="02040503050406030204" pitchFamily="18" charset="0"/>
                              </a:rPr>
                            </m:ctrlPr>
                          </m:accPr>
                          <m:e>
                            <m:r>
                              <a:rPr lang="en-US" altLang="zh-CN" b="0" i="1" smtClean="0">
                                <a:latin typeface="Cambria Math"/>
                              </a:rPr>
                              <m:t>𝑀</m:t>
                            </m:r>
                          </m:e>
                        </m:acc>
                      </m:e>
                      <m:sub>
                        <m:r>
                          <a:rPr lang="en-US" altLang="zh-CN" b="0" i="1" smtClean="0">
                            <a:latin typeface="Cambria Math"/>
                          </a:rPr>
                          <m:t>1</m:t>
                        </m:r>
                      </m:sub>
                    </m:sSub>
                  </m:oMath>
                </a14:m>
                <a:r>
                  <a:rPr lang="zh-CN" altLang="en-US" dirty="0">
                    <a:latin typeface="楷体" panose="02010609060101010101" pitchFamily="49" charset="-122"/>
                    <a:ea typeface="楷体" panose="02010609060101010101" pitchFamily="49" charset="-122"/>
                  </a:rPr>
                  <a:t>图）。</a:t>
                </a:r>
              </a:p>
            </p:txBody>
          </p:sp>
        </mc:Choice>
        <mc:Fallback xmlns="">
          <p:sp>
            <p:nvSpPr>
              <p:cNvPr id="3" name="TextBox 2"/>
              <p:cNvSpPr txBox="1">
                <a:spLocks noRot="1" noChangeAspect="1" noMove="1" noResize="1" noEditPoints="1" noAdjustHandles="1" noChangeArrowheads="1" noChangeShapeType="1" noTextEdit="1"/>
              </p:cNvSpPr>
              <p:nvPr/>
            </p:nvSpPr>
            <p:spPr>
              <a:xfrm>
                <a:off x="755779" y="1774612"/>
                <a:ext cx="7992685" cy="369332"/>
              </a:xfrm>
              <a:prstGeom prst="rect">
                <a:avLst/>
              </a:prstGeom>
              <a:blipFill rotWithShape="1">
                <a:blip r:embed="rId6"/>
                <a:stretch>
                  <a:fillRect l="-686" t="-11475" b="-21311"/>
                </a:stretch>
              </a:blipFill>
            </p:spPr>
            <p:txBody>
              <a:bodyPr/>
              <a:lstStyle/>
              <a:p>
                <a:r>
                  <a:rPr lang="zh-CN" altLang="en-US">
                    <a:noFill/>
                  </a:rPr>
                  <a:t> </a:t>
                </a:r>
              </a:p>
            </p:txBody>
          </p:sp>
        </mc:Fallback>
      </mc:AlternateContent>
      <p:graphicFrame>
        <p:nvGraphicFramePr>
          <p:cNvPr id="5" name="对象 4"/>
          <p:cNvGraphicFramePr>
            <a:graphicFrameLocks noChangeAspect="1"/>
          </p:cNvGraphicFramePr>
          <p:nvPr>
            <p:extLst>
              <p:ext uri="{D42A27DB-BD31-4B8C-83A1-F6EECF244321}">
                <p14:modId xmlns:p14="http://schemas.microsoft.com/office/powerpoint/2010/main" val="3763783905"/>
              </p:ext>
            </p:extLst>
          </p:nvPr>
        </p:nvGraphicFramePr>
        <p:xfrm>
          <a:off x="3212931" y="3687885"/>
          <a:ext cx="2743200" cy="279400"/>
        </p:xfrm>
        <a:graphic>
          <a:graphicData uri="http://schemas.openxmlformats.org/presentationml/2006/ole">
            <mc:AlternateContent xmlns:mc="http://schemas.openxmlformats.org/markup-compatibility/2006">
              <mc:Choice xmlns:v="urn:schemas-microsoft-com:vml" Requires="v">
                <p:oleObj spid="_x0000_s69871" name="Equation" r:id="rId7" imgW="2743200" imgH="279360" progId="Equation.DSMT4">
                  <p:embed/>
                </p:oleObj>
              </mc:Choice>
              <mc:Fallback>
                <p:oleObj name="Equation" r:id="rId7" imgW="2743200" imgH="279360" progId="Equation.DSMT4">
                  <p:embed/>
                  <p:pic>
                    <p:nvPicPr>
                      <p:cNvPr id="0" name=""/>
                      <p:cNvPicPr/>
                      <p:nvPr/>
                    </p:nvPicPr>
                    <p:blipFill>
                      <a:blip r:embed="rId8"/>
                      <a:stretch>
                        <a:fillRect/>
                      </a:stretch>
                    </p:blipFill>
                    <p:spPr>
                      <a:xfrm>
                        <a:off x="3212931" y="3687885"/>
                        <a:ext cx="2743200" cy="2794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9" name="TextBox 8"/>
              <p:cNvSpPr txBox="1"/>
              <p:nvPr/>
            </p:nvSpPr>
            <p:spPr>
              <a:xfrm>
                <a:off x="755779" y="4062068"/>
                <a:ext cx="5760437" cy="400110"/>
              </a:xfrm>
              <a:prstGeom prst="rect">
                <a:avLst/>
              </a:prstGeom>
              <a:noFill/>
            </p:spPr>
            <p:txBody>
              <a:bodyPr wrap="square" rtlCol="0">
                <a:spAutoFit/>
              </a:bodyPr>
              <a:lstStyle/>
              <a:p>
                <a:pPr marL="457200" indent="-457200">
                  <a:buFont typeface="+mj-ea"/>
                  <a:buAutoNum type="circleNumDbPlain" startAt="3"/>
                </a:pPr>
                <a:r>
                  <a:rPr lang="zh-CN" altLang="en-US" sz="2000" dirty="0">
                    <a:solidFill>
                      <a:srgbClr val="0000FF"/>
                    </a:solidFill>
                    <a:latin typeface="楷体" panose="02010609060101010101" pitchFamily="49" charset="-122"/>
                    <a:ea typeface="楷体" panose="02010609060101010101" pitchFamily="49" charset="-122"/>
                  </a:rPr>
                  <a:t>基本结构在单位水平位移</a:t>
                </a:r>
                <a14:m>
                  <m:oMath xmlns:m="http://schemas.openxmlformats.org/officeDocument/2006/math">
                    <m:sSub>
                      <m:sSubPr>
                        <m:ctrlPr>
                          <a:rPr lang="en-US" altLang="zh-CN" sz="2000" i="1" smtClean="0">
                            <a:solidFill>
                              <a:srgbClr val="0000FF"/>
                            </a:solidFill>
                            <a:latin typeface="Cambria Math" panose="02040503050406030204" pitchFamily="18" charset="0"/>
                            <a:ea typeface="楷体" panose="02010609060101010101" pitchFamily="49" charset="-122"/>
                          </a:rPr>
                        </m:ctrlPr>
                      </m:sSubPr>
                      <m:e>
                        <m:r>
                          <a:rPr lang="en-US" altLang="zh-CN" sz="2000" i="1" smtClean="0">
                            <a:solidFill>
                              <a:srgbClr val="0000FF"/>
                            </a:solidFill>
                            <a:latin typeface="Cambria Math"/>
                            <a:ea typeface="Cambria Math"/>
                          </a:rPr>
                          <m:t>∆</m:t>
                        </m:r>
                      </m:e>
                      <m:sub>
                        <m:r>
                          <a:rPr lang="en-US" altLang="zh-CN" sz="2000" b="0" i="1" smtClean="0">
                            <a:solidFill>
                              <a:srgbClr val="0000FF"/>
                            </a:solidFill>
                            <a:latin typeface="Cambria Math"/>
                            <a:ea typeface="楷体" panose="02010609060101010101" pitchFamily="49" charset="-122"/>
                          </a:rPr>
                          <m:t>2</m:t>
                        </m:r>
                      </m:sub>
                    </m:sSub>
                    <m:r>
                      <a:rPr lang="en-US" altLang="zh-CN" sz="2000" b="0" i="1" smtClean="0">
                        <a:solidFill>
                          <a:srgbClr val="0000FF"/>
                        </a:solidFill>
                        <a:latin typeface="Cambria Math"/>
                        <a:ea typeface="楷体" panose="02010609060101010101" pitchFamily="49" charset="-122"/>
                      </a:rPr>
                      <m:t>=1</m:t>
                    </m:r>
                  </m:oMath>
                </a14:m>
                <a:r>
                  <a:rPr lang="zh-CN" altLang="en-US" sz="2000" dirty="0">
                    <a:solidFill>
                      <a:srgbClr val="0000FF"/>
                    </a:solidFill>
                    <a:latin typeface="楷体" panose="02010609060101010101" pitchFamily="49" charset="-122"/>
                    <a:ea typeface="楷体" panose="02010609060101010101" pitchFamily="49" charset="-122"/>
                  </a:rPr>
                  <a:t>作用下的计算：</a:t>
                </a:r>
              </a:p>
            </p:txBody>
          </p:sp>
        </mc:Choice>
        <mc:Fallback xmlns="">
          <p:sp>
            <p:nvSpPr>
              <p:cNvPr id="9" name="TextBox 8"/>
              <p:cNvSpPr txBox="1">
                <a:spLocks noRot="1" noChangeAspect="1" noMove="1" noResize="1" noEditPoints="1" noAdjustHandles="1" noChangeArrowheads="1" noChangeShapeType="1" noTextEdit="1"/>
              </p:cNvSpPr>
              <p:nvPr/>
            </p:nvSpPr>
            <p:spPr>
              <a:xfrm>
                <a:off x="755779" y="4062068"/>
                <a:ext cx="5760437" cy="400110"/>
              </a:xfrm>
              <a:prstGeom prst="rect">
                <a:avLst/>
              </a:prstGeom>
              <a:blipFill rotWithShape="1">
                <a:blip r:embed="rId9"/>
                <a:stretch>
                  <a:fillRect l="-741" t="-10606" r="-5397" b="-227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55779" y="4582924"/>
                <a:ext cx="7992685" cy="646331"/>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当结点</a:t>
                </a:r>
                <a14:m>
                  <m:oMath xmlns:m="http://schemas.openxmlformats.org/officeDocument/2006/math">
                    <m:r>
                      <a:rPr lang="en-US" altLang="zh-CN" b="0" i="1" smtClean="0">
                        <a:latin typeface="Cambria Math"/>
                      </a:rPr>
                      <m:t>𝐵</m:t>
                    </m:r>
                  </m:oMath>
                </a14:m>
                <a:r>
                  <a:rPr lang="zh-CN" altLang="en-US" dirty="0">
                    <a:latin typeface="楷体" panose="02010609060101010101" pitchFamily="49" charset="-122"/>
                    <a:ea typeface="楷体" panose="02010609060101010101" pitchFamily="49" charset="-122"/>
                  </a:rPr>
                  <a:t>，</a:t>
                </a:r>
                <a14:m>
                  <m:oMath xmlns:m="http://schemas.openxmlformats.org/officeDocument/2006/math">
                    <m:r>
                      <a:rPr lang="en-US" altLang="zh-CN" b="0" i="1" dirty="0" smtClean="0">
                        <a:latin typeface="Cambria Math"/>
                        <a:ea typeface="楷体" panose="02010609060101010101" pitchFamily="49" charset="-122"/>
                      </a:rPr>
                      <m:t>𝐶</m:t>
                    </m:r>
                  </m:oMath>
                </a14:m>
                <a:r>
                  <a:rPr lang="zh-CN" altLang="en-US" dirty="0">
                    <a:latin typeface="楷体" panose="02010609060101010101" pitchFamily="49" charset="-122"/>
                    <a:ea typeface="楷体" panose="02010609060101010101" pitchFamily="49" charset="-122"/>
                  </a:rPr>
                  <a:t>的水平位移</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a:ea typeface="Cambria Math"/>
                          </a:rPr>
                          <m:t>∆</m:t>
                        </m:r>
                      </m:e>
                      <m:sub>
                        <m:r>
                          <a:rPr lang="en-US" altLang="zh-CN" b="0" i="1" dirty="0" smtClean="0">
                            <a:latin typeface="Cambria Math"/>
                          </a:rPr>
                          <m:t>2</m:t>
                        </m:r>
                      </m:sub>
                    </m:sSub>
                    <m:r>
                      <a:rPr lang="en-US" altLang="zh-CN" b="0" i="1" dirty="0" smtClean="0">
                        <a:latin typeface="Cambria Math"/>
                      </a:rPr>
                      <m:t>=1</m:t>
                    </m:r>
                  </m:oMath>
                </a14:m>
                <a:r>
                  <a:rPr lang="zh-CN" altLang="en-US" dirty="0">
                    <a:latin typeface="楷体" panose="02010609060101010101" pitchFamily="49" charset="-122"/>
                    <a:ea typeface="楷体" panose="02010609060101010101" pitchFamily="49" charset="-122"/>
                  </a:rPr>
                  <a:t>时，分别求各杆的杆端弯矩，作出弯矩图（</a:t>
                </a:r>
                <a14:m>
                  <m:oMath xmlns:m="http://schemas.openxmlformats.org/officeDocument/2006/math">
                    <m:sSub>
                      <m:sSubPr>
                        <m:ctrlPr>
                          <a:rPr lang="en-US" altLang="zh-CN" i="1" smtClean="0">
                            <a:latin typeface="Cambria Math" panose="02040503050406030204" pitchFamily="18" charset="0"/>
                          </a:rPr>
                        </m:ctrlPr>
                      </m:sSubPr>
                      <m:e>
                        <m:acc>
                          <m:accPr>
                            <m:chr m:val="̅"/>
                            <m:ctrlPr>
                              <a:rPr lang="en-US" altLang="zh-CN" i="1" smtClean="0">
                                <a:latin typeface="Cambria Math" panose="02040503050406030204" pitchFamily="18" charset="0"/>
                              </a:rPr>
                            </m:ctrlPr>
                          </m:accPr>
                          <m:e>
                            <m:r>
                              <a:rPr lang="en-US" altLang="zh-CN" b="0" i="1" smtClean="0">
                                <a:latin typeface="Cambria Math"/>
                              </a:rPr>
                              <m:t>𝑀</m:t>
                            </m:r>
                          </m:e>
                        </m:acc>
                      </m:e>
                      <m:sub>
                        <m:r>
                          <a:rPr lang="en-US" altLang="zh-CN" b="0" i="1" smtClean="0">
                            <a:latin typeface="Cambria Math"/>
                          </a:rPr>
                          <m:t>2</m:t>
                        </m:r>
                      </m:sub>
                    </m:sSub>
                  </m:oMath>
                </a14:m>
                <a:r>
                  <a:rPr lang="zh-CN" altLang="en-US" dirty="0">
                    <a:latin typeface="楷体" panose="02010609060101010101" pitchFamily="49" charset="-122"/>
                    <a:ea typeface="楷体" panose="02010609060101010101" pitchFamily="49" charset="-122"/>
                  </a:rPr>
                  <a:t>图）。</a:t>
                </a:r>
              </a:p>
            </p:txBody>
          </p:sp>
        </mc:Choice>
        <mc:Fallback xmlns="">
          <p:sp>
            <p:nvSpPr>
              <p:cNvPr id="10" name="TextBox 9"/>
              <p:cNvSpPr txBox="1">
                <a:spLocks noRot="1" noChangeAspect="1" noMove="1" noResize="1" noEditPoints="1" noAdjustHandles="1" noChangeArrowheads="1" noChangeShapeType="1" noTextEdit="1"/>
              </p:cNvSpPr>
              <p:nvPr/>
            </p:nvSpPr>
            <p:spPr>
              <a:xfrm>
                <a:off x="755779" y="4582924"/>
                <a:ext cx="7992685" cy="646331"/>
              </a:xfrm>
              <a:prstGeom prst="rect">
                <a:avLst/>
              </a:prstGeom>
              <a:blipFill rotWithShape="1">
                <a:blip r:embed="rId10"/>
                <a:stretch>
                  <a:fillRect l="-686" t="-6604" r="-153" b="-14151"/>
                </a:stretch>
              </a:blipFill>
            </p:spPr>
            <p:txBody>
              <a:bodyPr/>
              <a:lstStyle/>
              <a:p>
                <a:r>
                  <a:rPr lang="zh-CN" altLang="en-US">
                    <a:noFill/>
                  </a:rPr>
                  <a:t> </a:t>
                </a:r>
              </a:p>
            </p:txBody>
          </p:sp>
        </mc:Fallback>
      </mc:AlternateContent>
      <p:pic>
        <p:nvPicPr>
          <p:cNvPr id="69636" name="Picture 4" descr="C:\Users\Administrator\AppData\Roaming\Tencent\Users\42337577\QQ\WinTemp\RichOle\7}Q%`5KB[~3@76}9W89N$MT.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46933" y="5015501"/>
            <a:ext cx="6810375" cy="15621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对象 5"/>
          <p:cNvGraphicFramePr>
            <a:graphicFrameLocks noChangeAspect="1"/>
          </p:cNvGraphicFramePr>
          <p:nvPr>
            <p:extLst>
              <p:ext uri="{D42A27DB-BD31-4B8C-83A1-F6EECF244321}">
                <p14:modId xmlns:p14="http://schemas.microsoft.com/office/powerpoint/2010/main" val="1150085857"/>
              </p:ext>
            </p:extLst>
          </p:nvPr>
        </p:nvGraphicFramePr>
        <p:xfrm>
          <a:off x="5229076" y="6212287"/>
          <a:ext cx="1854200" cy="508000"/>
        </p:xfrm>
        <a:graphic>
          <a:graphicData uri="http://schemas.openxmlformats.org/presentationml/2006/ole">
            <mc:AlternateContent xmlns:mc="http://schemas.openxmlformats.org/markup-compatibility/2006">
              <mc:Choice xmlns:v="urn:schemas-microsoft-com:vml" Requires="v">
                <p:oleObj spid="_x0000_s69872" name="Equation" r:id="rId12" imgW="1854000" imgH="507960" progId="Equation.DSMT4">
                  <p:embed/>
                </p:oleObj>
              </mc:Choice>
              <mc:Fallback>
                <p:oleObj name="Equation" r:id="rId12" imgW="1854000" imgH="507960" progId="Equation.DSMT4">
                  <p:embed/>
                  <p:pic>
                    <p:nvPicPr>
                      <p:cNvPr id="0" name=""/>
                      <p:cNvPicPr/>
                      <p:nvPr/>
                    </p:nvPicPr>
                    <p:blipFill>
                      <a:blip r:embed="rId13"/>
                      <a:stretch>
                        <a:fillRect/>
                      </a:stretch>
                    </p:blipFill>
                    <p:spPr>
                      <a:xfrm>
                        <a:off x="5229076" y="6212287"/>
                        <a:ext cx="1854200" cy="508000"/>
                      </a:xfrm>
                      <a:prstGeom prst="rect">
                        <a:avLst/>
                      </a:prstGeom>
                    </p:spPr>
                  </p:pic>
                </p:oleObj>
              </mc:Fallback>
            </mc:AlternateContent>
          </a:graphicData>
        </a:graphic>
      </p:graphicFrame>
    </p:spTree>
    <p:extLst>
      <p:ext uri="{BB962C8B-B14F-4D97-AF65-F5344CB8AC3E}">
        <p14:creationId xmlns:p14="http://schemas.microsoft.com/office/powerpoint/2010/main" val="2837283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963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6963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p:cTn id="34" dur="500" fill="hold"/>
                                        <p:tgtEl>
                                          <p:spTgt spid="6"/>
                                        </p:tgtEl>
                                        <p:attrNameLst>
                                          <p:attrName>ppt_w</p:attrName>
                                        </p:attrNameLst>
                                      </p:cBhvr>
                                      <p:tavLst>
                                        <p:tav tm="0">
                                          <p:val>
                                            <p:fltVal val="0"/>
                                          </p:val>
                                        </p:tav>
                                        <p:tav tm="100000">
                                          <p:val>
                                            <p:strVal val="#ppt_w"/>
                                          </p:val>
                                        </p:tav>
                                      </p:tavLst>
                                    </p:anim>
                                    <p:anim calcmode="lin" valueType="num">
                                      <p:cBhvr>
                                        <p:cTn id="35" dur="500" fill="hold"/>
                                        <p:tgtEl>
                                          <p:spTgt spid="6"/>
                                        </p:tgtEl>
                                        <p:attrNameLst>
                                          <p:attrName>ppt_h</p:attrName>
                                        </p:attrNameLst>
                                      </p:cBhvr>
                                      <p:tavLst>
                                        <p:tav tm="0">
                                          <p:val>
                                            <p:fltVal val="0"/>
                                          </p:val>
                                        </p:tav>
                                        <p:tav tm="100000">
                                          <p:val>
                                            <p:strVal val="#ppt_h"/>
                                          </p:val>
                                        </p:tav>
                                      </p:tavLst>
                                    </p:anim>
                                    <p:animEffect transition="in" filter="fade">
                                      <p:cBhvr>
                                        <p:cTn id="3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9" grpId="0"/>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67544" y="1556792"/>
            <a:ext cx="7848872" cy="400110"/>
          </a:xfrm>
          <a:prstGeom prst="rect">
            <a:avLst/>
          </a:prstGeom>
          <a:noFill/>
        </p:spPr>
        <p:txBody>
          <a:bodyPr wrap="square" rtlCol="0">
            <a:spAutoFit/>
          </a:bodyPr>
          <a:lstStyle/>
          <a:p>
            <a:pPr marL="457200" indent="-457200">
              <a:buFont typeface="+mj-ea"/>
              <a:buAutoNum type="circleNumDbPlain" startAt="4"/>
            </a:pPr>
            <a:r>
              <a:rPr lang="zh-CN" altLang="en-US" sz="2000" dirty="0">
                <a:solidFill>
                  <a:srgbClr val="0000FF"/>
                </a:solidFill>
                <a:latin typeface="楷体" panose="02010609060101010101" pitchFamily="49" charset="-122"/>
                <a:ea typeface="楷体" panose="02010609060101010101" pitchFamily="49" charset="-122"/>
              </a:rPr>
              <a:t>位移基本方程</a:t>
            </a:r>
          </a:p>
        </p:txBody>
      </p:sp>
      <p:graphicFrame>
        <p:nvGraphicFramePr>
          <p:cNvPr id="4" name="对象 3"/>
          <p:cNvGraphicFramePr>
            <a:graphicFrameLocks noChangeAspect="1"/>
          </p:cNvGraphicFramePr>
          <p:nvPr>
            <p:extLst>
              <p:ext uri="{D42A27DB-BD31-4B8C-83A1-F6EECF244321}">
                <p14:modId xmlns:p14="http://schemas.microsoft.com/office/powerpoint/2010/main" val="1431188434"/>
              </p:ext>
            </p:extLst>
          </p:nvPr>
        </p:nvGraphicFramePr>
        <p:xfrm>
          <a:off x="2915816" y="2060848"/>
          <a:ext cx="2044700" cy="863600"/>
        </p:xfrm>
        <a:graphic>
          <a:graphicData uri="http://schemas.openxmlformats.org/presentationml/2006/ole">
            <mc:AlternateContent xmlns:mc="http://schemas.openxmlformats.org/markup-compatibility/2006">
              <mc:Choice xmlns:v="urn:schemas-microsoft-com:vml" Requires="v">
                <p:oleObj spid="_x0000_s70988" name="Equation" r:id="rId4" imgW="2044440" imgH="863280" progId="Equation.DSMT4">
                  <p:embed/>
                </p:oleObj>
              </mc:Choice>
              <mc:Fallback>
                <p:oleObj name="Equation" r:id="rId4" imgW="2044440" imgH="863280" progId="Equation.DSMT4">
                  <p:embed/>
                  <p:pic>
                    <p:nvPicPr>
                      <p:cNvPr id="0" name=""/>
                      <p:cNvPicPr/>
                      <p:nvPr/>
                    </p:nvPicPr>
                    <p:blipFill>
                      <a:blip r:embed="rId5"/>
                      <a:stretch>
                        <a:fillRect/>
                      </a:stretch>
                    </p:blipFill>
                    <p:spPr>
                      <a:xfrm>
                        <a:off x="2915816" y="2060848"/>
                        <a:ext cx="2044700" cy="86360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617797333"/>
              </p:ext>
            </p:extLst>
          </p:nvPr>
        </p:nvGraphicFramePr>
        <p:xfrm>
          <a:off x="2915816" y="3140968"/>
          <a:ext cx="2082800" cy="508000"/>
        </p:xfrm>
        <a:graphic>
          <a:graphicData uri="http://schemas.openxmlformats.org/presentationml/2006/ole">
            <mc:AlternateContent xmlns:mc="http://schemas.openxmlformats.org/markup-compatibility/2006">
              <mc:Choice xmlns:v="urn:schemas-microsoft-com:vml" Requires="v">
                <p:oleObj spid="_x0000_s70989" name="Equation" r:id="rId6" imgW="2082600" imgH="507960" progId="Equation.DSMT4">
                  <p:embed/>
                </p:oleObj>
              </mc:Choice>
              <mc:Fallback>
                <p:oleObj name="Equation" r:id="rId6" imgW="2082600" imgH="507960" progId="Equation.DSMT4">
                  <p:embed/>
                  <p:pic>
                    <p:nvPicPr>
                      <p:cNvPr id="0" name=""/>
                      <p:cNvPicPr/>
                      <p:nvPr/>
                    </p:nvPicPr>
                    <p:blipFill>
                      <a:blip r:embed="rId7"/>
                      <a:stretch>
                        <a:fillRect/>
                      </a:stretch>
                    </p:blipFill>
                    <p:spPr>
                      <a:xfrm>
                        <a:off x="2915816" y="3140968"/>
                        <a:ext cx="2082800" cy="5080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6" name="TextBox 5"/>
              <p:cNvSpPr txBox="1"/>
              <p:nvPr/>
            </p:nvSpPr>
            <p:spPr>
              <a:xfrm>
                <a:off x="467544" y="3789040"/>
                <a:ext cx="5184576"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利用叠加公式作刚架的</a:t>
                </a:r>
                <a14:m>
                  <m:oMath xmlns:m="http://schemas.openxmlformats.org/officeDocument/2006/math">
                    <m:r>
                      <a:rPr lang="en-US" altLang="zh-CN" b="0" i="1" smtClean="0">
                        <a:latin typeface="Cambria Math"/>
                      </a:rPr>
                      <m:t>𝑀</m:t>
                    </m:r>
                  </m:oMath>
                </a14:m>
                <a:r>
                  <a:rPr lang="zh-CN" altLang="en-US" dirty="0">
                    <a:latin typeface="楷体" panose="02010609060101010101" pitchFamily="49" charset="-122"/>
                    <a:ea typeface="楷体" panose="02010609060101010101" pitchFamily="49" charset="-122"/>
                  </a:rPr>
                  <a:t>图：</a:t>
                </a:r>
              </a:p>
            </p:txBody>
          </p:sp>
        </mc:Choice>
        <mc:Fallback xmlns="">
          <p:sp>
            <p:nvSpPr>
              <p:cNvPr id="6" name="TextBox 5"/>
              <p:cNvSpPr txBox="1">
                <a:spLocks noRot="1" noChangeAspect="1" noMove="1" noResize="1" noEditPoints="1" noAdjustHandles="1" noChangeArrowheads="1" noChangeShapeType="1" noTextEdit="1"/>
              </p:cNvSpPr>
              <p:nvPr/>
            </p:nvSpPr>
            <p:spPr>
              <a:xfrm>
                <a:off x="467544" y="3789040"/>
                <a:ext cx="5184576" cy="369332"/>
              </a:xfrm>
              <a:prstGeom prst="rect">
                <a:avLst/>
              </a:prstGeom>
              <a:blipFill rotWithShape="1">
                <a:blip r:embed="rId8"/>
                <a:stretch>
                  <a:fillRect l="-1059" t="-11667" b="-23333"/>
                </a:stretch>
              </a:blipFill>
            </p:spPr>
            <p:txBody>
              <a:bodyPr/>
              <a:lstStyle/>
              <a:p>
                <a:r>
                  <a:rPr lang="zh-CN" altLang="en-US">
                    <a:noFill/>
                  </a:rPr>
                  <a:t> </a:t>
                </a:r>
              </a:p>
            </p:txBody>
          </p:sp>
        </mc:Fallback>
      </mc:AlternateContent>
      <p:graphicFrame>
        <p:nvGraphicFramePr>
          <p:cNvPr id="7" name="对象 6"/>
          <p:cNvGraphicFramePr>
            <a:graphicFrameLocks noChangeAspect="1"/>
          </p:cNvGraphicFramePr>
          <p:nvPr>
            <p:extLst>
              <p:ext uri="{D42A27DB-BD31-4B8C-83A1-F6EECF244321}">
                <p14:modId xmlns:p14="http://schemas.microsoft.com/office/powerpoint/2010/main" val="4079734340"/>
              </p:ext>
            </p:extLst>
          </p:nvPr>
        </p:nvGraphicFramePr>
        <p:xfrm>
          <a:off x="3059832" y="4437112"/>
          <a:ext cx="1943100" cy="317500"/>
        </p:xfrm>
        <a:graphic>
          <a:graphicData uri="http://schemas.openxmlformats.org/presentationml/2006/ole">
            <mc:AlternateContent xmlns:mc="http://schemas.openxmlformats.org/markup-compatibility/2006">
              <mc:Choice xmlns:v="urn:schemas-microsoft-com:vml" Requires="v">
                <p:oleObj spid="_x0000_s70990" name="Equation" r:id="rId9" imgW="1942920" imgH="317160" progId="Equation.DSMT4">
                  <p:embed/>
                </p:oleObj>
              </mc:Choice>
              <mc:Fallback>
                <p:oleObj name="Equation" r:id="rId9" imgW="1942920" imgH="317160" progId="Equation.DSMT4">
                  <p:embed/>
                  <p:pic>
                    <p:nvPicPr>
                      <p:cNvPr id="0" name=""/>
                      <p:cNvPicPr/>
                      <p:nvPr/>
                    </p:nvPicPr>
                    <p:blipFill>
                      <a:blip r:embed="rId10"/>
                      <a:stretch>
                        <a:fillRect/>
                      </a:stretch>
                    </p:blipFill>
                    <p:spPr>
                      <a:xfrm>
                        <a:off x="3059832" y="4437112"/>
                        <a:ext cx="1943100" cy="317500"/>
                      </a:xfrm>
                      <a:prstGeom prst="rect">
                        <a:avLst/>
                      </a:prstGeom>
                    </p:spPr>
                  </p:pic>
                </p:oleObj>
              </mc:Fallback>
            </mc:AlternateContent>
          </a:graphicData>
        </a:graphic>
      </p:graphicFrame>
      <p:sp>
        <p:nvSpPr>
          <p:cNvPr id="8" name="TextBox 7"/>
          <p:cNvSpPr txBox="1"/>
          <p:nvPr/>
        </p:nvSpPr>
        <p:spPr>
          <a:xfrm>
            <a:off x="466854" y="4941168"/>
            <a:ext cx="2664296"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杆端弯矩</a:t>
            </a:r>
            <a:r>
              <a:rPr lang="zh-CN" altLang="en-US" dirty="0">
                <a:latin typeface="楷体" panose="02010609060101010101" pitchFamily="49" charset="-122"/>
                <a:ea typeface="楷体" panose="02010609060101010101" pitchFamily="49" charset="-122"/>
                <a:sym typeface="Wingdings" panose="05000000000000000000" pitchFamily="2" charset="2"/>
              </a:rPr>
              <a:t>：</a:t>
            </a:r>
            <a:r>
              <a:rPr lang="zh-CN" altLang="en-US" dirty="0">
                <a:solidFill>
                  <a:srgbClr val="FF0000"/>
                </a:solidFill>
                <a:latin typeface="楷体" panose="02010609060101010101" pitchFamily="49" charset="-122"/>
                <a:ea typeface="楷体" panose="02010609060101010101" pitchFamily="49" charset="-122"/>
                <a:sym typeface="Wingdings" panose="05000000000000000000" pitchFamily="2" charset="2"/>
              </a:rPr>
              <a:t>（略）</a:t>
            </a:r>
            <a:endParaRPr lang="zh-CN" altLang="en-US" dirty="0">
              <a:solidFill>
                <a:srgbClr val="FF0000"/>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4069423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67544" y="1340768"/>
            <a:ext cx="3816424" cy="461665"/>
          </a:xfrm>
          <a:prstGeom prst="rect">
            <a:avLst/>
          </a:prstGeom>
          <a:noFill/>
        </p:spPr>
        <p:txBody>
          <a:bodyPr wrap="square" rtlCol="0">
            <a:spAutoFit/>
          </a:bodyPr>
          <a:lstStyle/>
          <a:p>
            <a:r>
              <a:rPr lang="zh-CN" altLang="en-US" sz="2400" b="1" dirty="0">
                <a:solidFill>
                  <a:srgbClr val="00B0F0"/>
                </a:solidFill>
                <a:latin typeface="楷体" panose="02010609060101010101" pitchFamily="49" charset="-122"/>
                <a:ea typeface="楷体" panose="02010609060101010101" pitchFamily="49" charset="-122"/>
              </a:rPr>
              <a:t>位移法典型方程</a:t>
            </a:r>
          </a:p>
        </p:txBody>
      </p:sp>
      <mc:AlternateContent xmlns:mc="http://schemas.openxmlformats.org/markup-compatibility/2006" xmlns:a14="http://schemas.microsoft.com/office/drawing/2010/main">
        <mc:Choice Requires="a14">
          <p:sp>
            <p:nvSpPr>
              <p:cNvPr id="4" name="TextBox 3"/>
              <p:cNvSpPr txBox="1"/>
              <p:nvPr/>
            </p:nvSpPr>
            <p:spPr>
              <a:xfrm>
                <a:off x="827584" y="2060848"/>
                <a:ext cx="7560840"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对具有</a:t>
                </a:r>
                <a14:m>
                  <m:oMath xmlns:m="http://schemas.openxmlformats.org/officeDocument/2006/math">
                    <m:r>
                      <a:rPr lang="en-US" altLang="zh-CN" b="0" i="1" smtClean="0">
                        <a:latin typeface="Cambria Math"/>
                      </a:rPr>
                      <m:t>𝑛</m:t>
                    </m:r>
                  </m:oMath>
                </a14:m>
                <a:r>
                  <a:rPr lang="zh-CN" altLang="en-US" dirty="0">
                    <a:latin typeface="楷体" panose="02010609060101010101" pitchFamily="49" charset="-122"/>
                    <a:ea typeface="楷体" panose="02010609060101010101" pitchFamily="49" charset="-122"/>
                  </a:rPr>
                  <a:t>个基本未知量的问题，位移法的基本方程：</a:t>
                </a:r>
              </a:p>
            </p:txBody>
          </p:sp>
        </mc:Choice>
        <mc:Fallback xmlns="">
          <p:sp>
            <p:nvSpPr>
              <p:cNvPr id="4" name="TextBox 3"/>
              <p:cNvSpPr txBox="1">
                <a:spLocks noRot="1" noChangeAspect="1" noMove="1" noResize="1" noEditPoints="1" noAdjustHandles="1" noChangeArrowheads="1" noChangeShapeType="1" noTextEdit="1"/>
              </p:cNvSpPr>
              <p:nvPr/>
            </p:nvSpPr>
            <p:spPr>
              <a:xfrm>
                <a:off x="827584" y="2060848"/>
                <a:ext cx="7560840" cy="369332"/>
              </a:xfrm>
              <a:prstGeom prst="rect">
                <a:avLst/>
              </a:prstGeom>
              <a:blipFill rotWithShape="1">
                <a:blip r:embed="rId4"/>
                <a:stretch>
                  <a:fillRect l="-726" t="-11475" b="-21311"/>
                </a:stretch>
              </a:blipFill>
            </p:spPr>
            <p:txBody>
              <a:bodyPr/>
              <a:lstStyle/>
              <a:p>
                <a:r>
                  <a:rPr lang="zh-CN" altLang="en-US">
                    <a:noFill/>
                  </a:rPr>
                  <a:t> </a:t>
                </a:r>
              </a:p>
            </p:txBody>
          </p:sp>
        </mc:Fallback>
      </mc:AlternateContent>
      <p:graphicFrame>
        <p:nvGraphicFramePr>
          <p:cNvPr id="5" name="对象 4"/>
          <p:cNvGraphicFramePr>
            <a:graphicFrameLocks noChangeAspect="1"/>
          </p:cNvGraphicFramePr>
          <p:nvPr>
            <p:extLst>
              <p:ext uri="{D42A27DB-BD31-4B8C-83A1-F6EECF244321}">
                <p14:modId xmlns:p14="http://schemas.microsoft.com/office/powerpoint/2010/main" val="3362447381"/>
              </p:ext>
            </p:extLst>
          </p:nvPr>
        </p:nvGraphicFramePr>
        <p:xfrm>
          <a:off x="3128454" y="2708920"/>
          <a:ext cx="2959100" cy="1219200"/>
        </p:xfrm>
        <a:graphic>
          <a:graphicData uri="http://schemas.openxmlformats.org/presentationml/2006/ole">
            <mc:AlternateContent xmlns:mc="http://schemas.openxmlformats.org/markup-compatibility/2006">
              <mc:Choice xmlns:v="urn:schemas-microsoft-com:vml" Requires="v">
                <p:oleObj spid="_x0000_s71892" name="Equation" r:id="rId5" imgW="2958840" imgH="1218960" progId="Equation.DSMT4">
                  <p:embed/>
                </p:oleObj>
              </mc:Choice>
              <mc:Fallback>
                <p:oleObj name="Equation" r:id="rId5" imgW="2958840" imgH="1218960" progId="Equation.DSMT4">
                  <p:embed/>
                  <p:pic>
                    <p:nvPicPr>
                      <p:cNvPr id="0" name=""/>
                      <p:cNvPicPr/>
                      <p:nvPr/>
                    </p:nvPicPr>
                    <p:blipFill>
                      <a:blip r:embed="rId6"/>
                      <a:stretch>
                        <a:fillRect/>
                      </a:stretch>
                    </p:blipFill>
                    <p:spPr>
                      <a:xfrm>
                        <a:off x="3128454" y="2708920"/>
                        <a:ext cx="2959100" cy="1219200"/>
                      </a:xfrm>
                      <a:prstGeom prst="rect">
                        <a:avLst/>
                      </a:prstGeom>
                    </p:spPr>
                  </p:pic>
                </p:oleObj>
              </mc:Fallback>
            </mc:AlternateContent>
          </a:graphicData>
        </a:graphic>
      </p:graphicFrame>
      <p:sp>
        <p:nvSpPr>
          <p:cNvPr id="6" name="TextBox 5"/>
          <p:cNvSpPr txBox="1"/>
          <p:nvPr/>
        </p:nvSpPr>
        <p:spPr>
          <a:xfrm>
            <a:off x="827584" y="4077072"/>
            <a:ext cx="4824536"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上式称为位移法典型方程。</a:t>
            </a:r>
          </a:p>
        </p:txBody>
      </p:sp>
      <p:graphicFrame>
        <p:nvGraphicFramePr>
          <p:cNvPr id="7" name="对象 6"/>
          <p:cNvGraphicFramePr>
            <a:graphicFrameLocks noChangeAspect="1"/>
          </p:cNvGraphicFramePr>
          <p:nvPr>
            <p:extLst>
              <p:ext uri="{D42A27DB-BD31-4B8C-83A1-F6EECF244321}">
                <p14:modId xmlns:p14="http://schemas.microsoft.com/office/powerpoint/2010/main" val="2936313141"/>
              </p:ext>
            </p:extLst>
          </p:nvPr>
        </p:nvGraphicFramePr>
        <p:xfrm>
          <a:off x="3433068" y="4581128"/>
          <a:ext cx="1701800" cy="1219200"/>
        </p:xfrm>
        <a:graphic>
          <a:graphicData uri="http://schemas.openxmlformats.org/presentationml/2006/ole">
            <mc:AlternateContent xmlns:mc="http://schemas.openxmlformats.org/markup-compatibility/2006">
              <mc:Choice xmlns:v="urn:schemas-microsoft-com:vml" Requires="v">
                <p:oleObj spid="_x0000_s71893" name="Equation" r:id="rId7" imgW="1701720" imgH="1218960" progId="Equation.DSMT4">
                  <p:embed/>
                </p:oleObj>
              </mc:Choice>
              <mc:Fallback>
                <p:oleObj name="Equation" r:id="rId7" imgW="1701720" imgH="1218960" progId="Equation.DSMT4">
                  <p:embed/>
                  <p:pic>
                    <p:nvPicPr>
                      <p:cNvPr id="0" name=""/>
                      <p:cNvPicPr/>
                      <p:nvPr/>
                    </p:nvPicPr>
                    <p:blipFill>
                      <a:blip r:embed="rId8"/>
                      <a:stretch>
                        <a:fillRect/>
                      </a:stretch>
                    </p:blipFill>
                    <p:spPr>
                      <a:xfrm>
                        <a:off x="3433068" y="4581128"/>
                        <a:ext cx="1701800" cy="1219200"/>
                      </a:xfrm>
                      <a:prstGeom prst="rect">
                        <a:avLst/>
                      </a:prstGeom>
                    </p:spPr>
                  </p:pic>
                </p:oleObj>
              </mc:Fallback>
            </mc:AlternateContent>
          </a:graphicData>
        </a:graphic>
      </p:graphicFrame>
      <p:sp>
        <p:nvSpPr>
          <p:cNvPr id="8" name="TextBox 7"/>
          <p:cNvSpPr txBox="1"/>
          <p:nvPr/>
        </p:nvSpPr>
        <p:spPr>
          <a:xfrm>
            <a:off x="5724128" y="4797152"/>
            <a:ext cx="1872208"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结构的刚度矩阵</a:t>
            </a:r>
          </a:p>
        </p:txBody>
      </p:sp>
      <mc:AlternateContent xmlns:mc="http://schemas.openxmlformats.org/markup-compatibility/2006" xmlns:a14="http://schemas.microsoft.com/office/drawing/2010/main">
        <mc:Choice Requires="a14">
          <p:sp>
            <p:nvSpPr>
              <p:cNvPr id="9" name="TextBox 8"/>
              <p:cNvSpPr txBox="1"/>
              <p:nvPr/>
            </p:nvSpPr>
            <p:spPr>
              <a:xfrm>
                <a:off x="793183" y="5949280"/>
                <a:ext cx="7560840" cy="391646"/>
              </a:xfrm>
              <a:prstGeom prst="rect">
                <a:avLst/>
              </a:prstGeom>
              <a:noFill/>
            </p:spPr>
            <p:txBody>
              <a:bodyPr wrap="square" rtlCol="0">
                <a:spAutoFit/>
              </a:bodyPr>
              <a:lstStyle/>
              <a:p>
                <a14:m>
                  <m:oMath xmlns:m="http://schemas.openxmlformats.org/officeDocument/2006/math">
                    <m:sSub>
                      <m:sSubPr>
                        <m:ctrlPr>
                          <a:rPr lang="en-US" altLang="zh-CN" i="1" smtClean="0">
                            <a:solidFill>
                              <a:srgbClr val="FF0000"/>
                            </a:solidFill>
                            <a:latin typeface="Cambria Math" panose="02040503050406030204" pitchFamily="18" charset="0"/>
                          </a:rPr>
                        </m:ctrlPr>
                      </m:sSubPr>
                      <m:e>
                        <m:r>
                          <a:rPr lang="en-US" altLang="zh-CN" b="0" i="1" smtClean="0">
                            <a:solidFill>
                              <a:srgbClr val="FF0000"/>
                            </a:solidFill>
                            <a:latin typeface="Cambria Math"/>
                          </a:rPr>
                          <m:t>𝑘</m:t>
                        </m:r>
                      </m:e>
                      <m:sub>
                        <m:r>
                          <a:rPr lang="en-US" altLang="zh-CN" b="0" i="1" smtClean="0">
                            <a:solidFill>
                              <a:srgbClr val="FF0000"/>
                            </a:solidFill>
                            <a:latin typeface="Cambria Math"/>
                          </a:rPr>
                          <m:t>𝑖𝑗</m:t>
                        </m:r>
                      </m:sub>
                    </m:sSub>
                  </m:oMath>
                </a14:m>
                <a:r>
                  <a:rPr lang="zh-CN" altLang="en-US" dirty="0">
                    <a:solidFill>
                      <a:srgbClr val="FF0000"/>
                    </a:solidFill>
                    <a:latin typeface="楷体" panose="02010609060101010101" pitchFamily="49" charset="-122"/>
                    <a:ea typeface="楷体" panose="02010609060101010101" pitchFamily="49" charset="-122"/>
                  </a:rPr>
                  <a:t>称为刚度系数；</a:t>
                </a:r>
                <a14:m>
                  <m:oMath xmlns:m="http://schemas.openxmlformats.org/officeDocument/2006/math">
                    <m:sSub>
                      <m:sSubPr>
                        <m:ctrlPr>
                          <a:rPr lang="en-US" altLang="zh-CN" i="1" smtClean="0">
                            <a:solidFill>
                              <a:srgbClr val="FF0000"/>
                            </a:solidFill>
                            <a:latin typeface="Cambria Math" panose="02040503050406030204" pitchFamily="18" charset="0"/>
                          </a:rPr>
                        </m:ctrlPr>
                      </m:sSubPr>
                      <m:e>
                        <m:r>
                          <a:rPr lang="en-US" altLang="zh-CN" b="0" i="1" smtClean="0">
                            <a:solidFill>
                              <a:srgbClr val="FF0000"/>
                            </a:solidFill>
                            <a:latin typeface="Cambria Math"/>
                          </a:rPr>
                          <m:t>𝑘</m:t>
                        </m:r>
                      </m:e>
                      <m:sub>
                        <m:r>
                          <a:rPr lang="en-US" altLang="zh-CN" b="0" i="1" smtClean="0">
                            <a:solidFill>
                              <a:srgbClr val="FF0000"/>
                            </a:solidFill>
                            <a:latin typeface="Cambria Math"/>
                          </a:rPr>
                          <m:t>𝑖𝑗</m:t>
                        </m:r>
                      </m:sub>
                    </m:sSub>
                    <m:r>
                      <a:rPr lang="en-US" altLang="zh-CN" b="0" i="1" smtClean="0">
                        <a:solidFill>
                          <a:srgbClr val="FF0000"/>
                        </a:solidFill>
                        <a:latin typeface="Cambria Math"/>
                      </a:rPr>
                      <m:t>=</m:t>
                    </m:r>
                    <m:sSub>
                      <m:sSubPr>
                        <m:ctrlPr>
                          <a:rPr lang="en-US" altLang="zh-CN" b="0" i="1" smtClean="0">
                            <a:solidFill>
                              <a:srgbClr val="FF0000"/>
                            </a:solidFill>
                            <a:latin typeface="Cambria Math" panose="02040503050406030204" pitchFamily="18" charset="0"/>
                          </a:rPr>
                        </m:ctrlPr>
                      </m:sSubPr>
                      <m:e>
                        <m:r>
                          <a:rPr lang="en-US" altLang="zh-CN" b="0" i="1" smtClean="0">
                            <a:solidFill>
                              <a:srgbClr val="FF0000"/>
                            </a:solidFill>
                            <a:latin typeface="Cambria Math"/>
                          </a:rPr>
                          <m:t>𝑘</m:t>
                        </m:r>
                      </m:e>
                      <m:sub>
                        <m:r>
                          <a:rPr lang="en-US" altLang="zh-CN" b="0" i="1" smtClean="0">
                            <a:solidFill>
                              <a:srgbClr val="FF0000"/>
                            </a:solidFill>
                            <a:latin typeface="Cambria Math"/>
                          </a:rPr>
                          <m:t>𝑗𝑖</m:t>
                        </m:r>
                      </m:sub>
                    </m:sSub>
                  </m:oMath>
                </a14:m>
                <a:r>
                  <a:rPr lang="en-US" altLang="zh-CN" dirty="0">
                    <a:solidFill>
                      <a:srgbClr val="FF0000"/>
                    </a:solidFill>
                    <a:latin typeface="楷体" panose="02010609060101010101" pitchFamily="49" charset="-122"/>
                    <a:ea typeface="楷体" panose="02010609060101010101" pitchFamily="49" charset="-122"/>
                  </a:rPr>
                  <a:t>;</a:t>
                </a:r>
                <a14:m>
                  <m:oMath xmlns:m="http://schemas.openxmlformats.org/officeDocument/2006/math">
                    <m:sSub>
                      <m:sSubPr>
                        <m:ctrlPr>
                          <a:rPr lang="en-US" altLang="zh-CN" i="1" dirty="0" smtClean="0">
                            <a:solidFill>
                              <a:srgbClr val="FF0000"/>
                            </a:solidFill>
                            <a:latin typeface="Cambria Math" panose="02040503050406030204" pitchFamily="18" charset="0"/>
                          </a:rPr>
                        </m:ctrlPr>
                      </m:sSubPr>
                      <m:e>
                        <m:r>
                          <a:rPr lang="en-US" altLang="zh-CN" b="0" i="1" dirty="0" smtClean="0">
                            <a:solidFill>
                              <a:srgbClr val="FF0000"/>
                            </a:solidFill>
                            <a:latin typeface="Cambria Math"/>
                          </a:rPr>
                          <m:t>𝑘</m:t>
                        </m:r>
                      </m:e>
                      <m:sub>
                        <m:r>
                          <a:rPr lang="en-US" altLang="zh-CN" b="0" i="1" dirty="0" smtClean="0">
                            <a:solidFill>
                              <a:srgbClr val="FF0000"/>
                            </a:solidFill>
                            <a:latin typeface="Cambria Math"/>
                          </a:rPr>
                          <m:t>𝑖𝑖</m:t>
                        </m:r>
                      </m:sub>
                    </m:sSub>
                    <m:r>
                      <a:rPr lang="en-US" altLang="zh-CN" b="0" i="1" dirty="0" smtClean="0">
                        <a:solidFill>
                          <a:srgbClr val="FF0000"/>
                        </a:solidFill>
                        <a:latin typeface="Cambria Math"/>
                      </a:rPr>
                      <m:t>&gt;0</m:t>
                    </m:r>
                  </m:oMath>
                </a14:m>
                <a:r>
                  <a:rPr lang="zh-CN" altLang="en-US" dirty="0">
                    <a:solidFill>
                      <a:srgbClr val="FF0000"/>
                    </a:solidFill>
                    <a:latin typeface="楷体" panose="02010609060101010101" pitchFamily="49" charset="-122"/>
                    <a:ea typeface="楷体" panose="02010609060101010101" pitchFamily="49" charset="-122"/>
                  </a:rPr>
                  <a:t>。</a:t>
                </a:r>
              </a:p>
            </p:txBody>
          </p:sp>
        </mc:Choice>
        <mc:Fallback xmlns="">
          <p:sp>
            <p:nvSpPr>
              <p:cNvPr id="9" name="TextBox 8"/>
              <p:cNvSpPr txBox="1">
                <a:spLocks noRot="1" noChangeAspect="1" noMove="1" noResize="1" noEditPoints="1" noAdjustHandles="1" noChangeArrowheads="1" noChangeShapeType="1" noTextEdit="1"/>
              </p:cNvSpPr>
              <p:nvPr/>
            </p:nvSpPr>
            <p:spPr>
              <a:xfrm>
                <a:off x="793183" y="5949280"/>
                <a:ext cx="7560840" cy="391646"/>
              </a:xfrm>
              <a:prstGeom prst="rect">
                <a:avLst/>
              </a:prstGeom>
              <a:blipFill rotWithShape="1">
                <a:blip r:embed="rId9"/>
                <a:stretch>
                  <a:fillRect t="-12500" b="-1406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694234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4" name="Rectangle 2"/>
          <p:cNvSpPr>
            <a:spLocks noChangeArrowheads="1"/>
          </p:cNvSpPr>
          <p:nvPr/>
        </p:nvSpPr>
        <p:spPr bwMode="auto">
          <a:xfrm>
            <a:off x="467544" y="1340768"/>
            <a:ext cx="616585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2600" b="1" dirty="0">
                <a:solidFill>
                  <a:srgbClr val="CC0000"/>
                </a:solidFill>
                <a:latin typeface="楷体" panose="02010609060101010101" pitchFamily="49" charset="-122"/>
                <a:ea typeface="楷体" panose="02010609060101010101" pitchFamily="49" charset="-122"/>
              </a:rPr>
              <a:t>位移法典型方程计算结构的步骤：</a:t>
            </a:r>
          </a:p>
        </p:txBody>
      </p:sp>
      <p:sp>
        <p:nvSpPr>
          <p:cNvPr id="5" name="Rectangle 3"/>
          <p:cNvSpPr>
            <a:spLocks noChangeArrowheads="1"/>
          </p:cNvSpPr>
          <p:nvPr/>
        </p:nvSpPr>
        <p:spPr bwMode="auto">
          <a:xfrm>
            <a:off x="764922" y="1772367"/>
            <a:ext cx="798354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spcBef>
                <a:spcPct val="0"/>
              </a:spcBef>
              <a:buFontTx/>
              <a:buNone/>
            </a:pPr>
            <a:r>
              <a:rPr lang="en-US" altLang="zh-CN" sz="2400" dirty="0">
                <a:latin typeface="楷体" panose="02010609060101010101" pitchFamily="49" charset="-122"/>
                <a:ea typeface="楷体" panose="02010609060101010101" pitchFamily="49" charset="-122"/>
              </a:rPr>
              <a:t>(1) </a:t>
            </a:r>
            <a:r>
              <a:rPr lang="zh-CN" altLang="en-US" sz="2400" dirty="0">
                <a:solidFill>
                  <a:srgbClr val="990033"/>
                </a:solidFill>
                <a:latin typeface="楷体" panose="02010609060101010101" pitchFamily="49" charset="-122"/>
                <a:ea typeface="楷体" panose="02010609060101010101" pitchFamily="49" charset="-122"/>
              </a:rPr>
              <a:t>确定基本未知量</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即原结构的独立结点角位移和线位移</a:t>
            </a:r>
            <a:r>
              <a:rPr lang="en-US" altLang="zh-CN" sz="2400" dirty="0">
                <a:latin typeface="楷体" panose="02010609060101010101" pitchFamily="49" charset="-122"/>
                <a:ea typeface="楷体" panose="02010609060101010101" pitchFamily="49" charset="-122"/>
              </a:rPr>
              <a:t>;</a:t>
            </a:r>
          </a:p>
        </p:txBody>
      </p:sp>
      <p:sp>
        <p:nvSpPr>
          <p:cNvPr id="6" name="Rectangle 4"/>
          <p:cNvSpPr>
            <a:spLocks noChangeArrowheads="1"/>
          </p:cNvSpPr>
          <p:nvPr/>
        </p:nvSpPr>
        <p:spPr bwMode="auto">
          <a:xfrm>
            <a:off x="764922" y="2603364"/>
            <a:ext cx="798354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spcBef>
                <a:spcPct val="0"/>
              </a:spcBef>
              <a:buFontTx/>
              <a:buNone/>
            </a:pPr>
            <a:r>
              <a:rPr lang="en-US" altLang="zh-CN" sz="2400" dirty="0">
                <a:latin typeface="楷体" panose="02010609060101010101" pitchFamily="49" charset="-122"/>
                <a:ea typeface="楷体" panose="02010609060101010101" pitchFamily="49" charset="-122"/>
              </a:rPr>
              <a:t>(2) </a:t>
            </a:r>
            <a:r>
              <a:rPr lang="zh-CN" altLang="en-US" sz="2400" dirty="0">
                <a:solidFill>
                  <a:srgbClr val="990033"/>
                </a:solidFill>
                <a:latin typeface="楷体" panose="02010609060101010101" pitchFamily="49" charset="-122"/>
                <a:ea typeface="楷体" panose="02010609060101010101" pitchFamily="49" charset="-122"/>
              </a:rPr>
              <a:t>建立基本结构</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在原结构上增设与基本未知量相应的附加约束，限制结点的角位移和线位移，得到位移法基本结构</a:t>
            </a:r>
            <a:r>
              <a:rPr lang="en-US" altLang="zh-CN" sz="2400" dirty="0">
                <a:latin typeface="楷体" panose="02010609060101010101" pitchFamily="49" charset="-122"/>
                <a:ea typeface="楷体" panose="02010609060101010101" pitchFamily="49" charset="-122"/>
              </a:rPr>
              <a:t>;</a:t>
            </a:r>
          </a:p>
        </p:txBody>
      </p:sp>
      <p:sp>
        <p:nvSpPr>
          <p:cNvPr id="7" name="Rectangle 5"/>
          <p:cNvSpPr>
            <a:spLocks noChangeArrowheads="1"/>
          </p:cNvSpPr>
          <p:nvPr/>
        </p:nvSpPr>
        <p:spPr bwMode="auto">
          <a:xfrm>
            <a:off x="791467" y="3839466"/>
            <a:ext cx="37240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spcBef>
                <a:spcPct val="0"/>
              </a:spcBef>
              <a:buFontTx/>
              <a:buNone/>
            </a:pPr>
            <a:r>
              <a:rPr lang="en-US" altLang="zh-CN" sz="2400" dirty="0">
                <a:latin typeface="楷体" panose="02010609060101010101" pitchFamily="49" charset="-122"/>
                <a:ea typeface="楷体" panose="02010609060101010101" pitchFamily="49" charset="-122"/>
              </a:rPr>
              <a:t>(3) </a:t>
            </a:r>
            <a:r>
              <a:rPr lang="zh-CN" altLang="en-US" sz="2400" dirty="0">
                <a:solidFill>
                  <a:srgbClr val="990033"/>
                </a:solidFill>
                <a:latin typeface="楷体" panose="02010609060101010101" pitchFamily="49" charset="-122"/>
                <a:ea typeface="楷体" panose="02010609060101010101" pitchFamily="49" charset="-122"/>
              </a:rPr>
              <a:t>建立位移法典型方程</a:t>
            </a:r>
            <a:r>
              <a:rPr lang="en-US" altLang="zh-CN" sz="2400" dirty="0">
                <a:solidFill>
                  <a:srgbClr val="990033"/>
                </a:solidFill>
                <a:latin typeface="楷体" panose="02010609060101010101" pitchFamily="49" charset="-122"/>
                <a:ea typeface="楷体" panose="02010609060101010101" pitchFamily="49" charset="-122"/>
              </a:rPr>
              <a:t>;</a:t>
            </a:r>
          </a:p>
        </p:txBody>
      </p:sp>
      <p:sp>
        <p:nvSpPr>
          <p:cNvPr id="8" name="Rectangle 6"/>
          <p:cNvSpPr>
            <a:spLocks noChangeArrowheads="1"/>
          </p:cNvSpPr>
          <p:nvPr/>
        </p:nvSpPr>
        <p:spPr bwMode="auto">
          <a:xfrm>
            <a:off x="791467" y="4589528"/>
            <a:ext cx="741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spcBef>
                <a:spcPct val="0"/>
              </a:spcBef>
              <a:buFontTx/>
              <a:buNone/>
            </a:pPr>
            <a:r>
              <a:rPr lang="en-US" altLang="zh-CN" sz="2400" dirty="0">
                <a:latin typeface="楷体" panose="02010609060101010101" pitchFamily="49" charset="-122"/>
                <a:ea typeface="楷体" panose="02010609060101010101" pitchFamily="49" charset="-122"/>
              </a:rPr>
              <a:t>(4) </a:t>
            </a:r>
            <a:r>
              <a:rPr lang="zh-CN" altLang="en-US" sz="2400" dirty="0">
                <a:solidFill>
                  <a:srgbClr val="990033"/>
                </a:solidFill>
                <a:latin typeface="楷体" panose="02010609060101010101" pitchFamily="49" charset="-122"/>
                <a:ea typeface="楷体" panose="02010609060101010101" pitchFamily="49" charset="-122"/>
              </a:rPr>
              <a:t>计算典型方程中系数和自由项</a:t>
            </a:r>
            <a:r>
              <a:rPr lang="en-US" altLang="zh-CN" sz="2400" dirty="0">
                <a:solidFill>
                  <a:srgbClr val="990033"/>
                </a:solidFill>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    </a:t>
            </a:r>
          </a:p>
        </p:txBody>
      </p:sp>
      <p:sp>
        <p:nvSpPr>
          <p:cNvPr id="9" name="Rectangle 7"/>
          <p:cNvSpPr>
            <a:spLocks noChangeArrowheads="1"/>
          </p:cNvSpPr>
          <p:nvPr/>
        </p:nvSpPr>
        <p:spPr bwMode="auto">
          <a:xfrm>
            <a:off x="806303" y="5182755"/>
            <a:ext cx="727233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spcBef>
                <a:spcPct val="0"/>
              </a:spcBef>
              <a:buFontTx/>
              <a:buNone/>
            </a:pPr>
            <a:r>
              <a:rPr lang="zh-CN" altLang="en-US" sz="2400" dirty="0">
                <a:latin typeface="楷体" panose="02010609060101010101" pitchFamily="49" charset="-122"/>
                <a:ea typeface="楷体" panose="02010609060101010101" pitchFamily="49" charset="-122"/>
              </a:rPr>
              <a:t>绘出基本结构在各单位结点位移作用下的弯矩图和荷载作用下的基本结构的弯矩图，由平衡条件求出各系数和自由项。</a:t>
            </a:r>
          </a:p>
        </p:txBody>
      </p:sp>
    </p:spTree>
    <p:extLst>
      <p:ext uri="{BB962C8B-B14F-4D97-AF65-F5344CB8AC3E}">
        <p14:creationId xmlns:p14="http://schemas.microsoft.com/office/powerpoint/2010/main" val="4069423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To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randombar(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slide(fromTo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randombar(horizontal)">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up)">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utoUpdateAnimBg="0"/>
      <p:bldP spid="6" grpId="0" autoUpdateAnimBg="0"/>
      <p:bldP spid="7" grpId="0" autoUpdateAnimBg="0"/>
      <p:bldP spid="8" grpId="0" autoUpdateAnimBg="0"/>
      <p:bldP spid="9"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4" name="Rectangle 6"/>
          <p:cNvSpPr>
            <a:spLocks noChangeArrowheads="1"/>
          </p:cNvSpPr>
          <p:nvPr/>
        </p:nvSpPr>
        <p:spPr bwMode="auto">
          <a:xfrm>
            <a:off x="759686" y="1556792"/>
            <a:ext cx="79887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spcBef>
                <a:spcPct val="0"/>
              </a:spcBef>
              <a:buFontTx/>
              <a:buNone/>
            </a:pPr>
            <a:r>
              <a:rPr lang="en-US" altLang="zh-CN" sz="2400" dirty="0">
                <a:latin typeface="楷体" panose="02010609060101010101" pitchFamily="49" charset="-122"/>
                <a:ea typeface="楷体" panose="02010609060101010101" pitchFamily="49" charset="-122"/>
              </a:rPr>
              <a:t>(5) </a:t>
            </a:r>
            <a:r>
              <a:rPr lang="zh-CN" altLang="en-US" sz="2400" dirty="0">
                <a:solidFill>
                  <a:srgbClr val="990033"/>
                </a:solidFill>
                <a:latin typeface="楷体" panose="02010609060101010101" pitchFamily="49" charset="-122"/>
                <a:ea typeface="楷体" panose="02010609060101010101" pitchFamily="49" charset="-122"/>
              </a:rPr>
              <a:t>解算典型方程</a:t>
            </a:r>
            <a:r>
              <a:rPr lang="zh-CN" altLang="en-US" sz="2400" dirty="0">
                <a:latin typeface="楷体" panose="02010609060101010101" pitchFamily="49" charset="-122"/>
                <a:ea typeface="楷体" panose="02010609060101010101" pitchFamily="49" charset="-122"/>
              </a:rPr>
              <a:t>；求出作为基本未知量的各结点位移。</a:t>
            </a:r>
          </a:p>
        </p:txBody>
      </p:sp>
      <p:grpSp>
        <p:nvGrpSpPr>
          <p:cNvPr id="5" name="Group 2"/>
          <p:cNvGrpSpPr>
            <a:grpSpLocks/>
          </p:cNvGrpSpPr>
          <p:nvPr/>
        </p:nvGrpSpPr>
        <p:grpSpPr bwMode="auto">
          <a:xfrm>
            <a:off x="759686" y="2348880"/>
            <a:ext cx="7988778" cy="1200150"/>
            <a:chOff x="793" y="1071"/>
            <a:chExt cx="4627" cy="756"/>
          </a:xfrm>
        </p:grpSpPr>
        <p:sp>
          <p:nvSpPr>
            <p:cNvPr id="6" name="Rectangle 3"/>
            <p:cNvSpPr>
              <a:spLocks noChangeArrowheads="1"/>
            </p:cNvSpPr>
            <p:nvPr/>
          </p:nvSpPr>
          <p:spPr bwMode="auto">
            <a:xfrm>
              <a:off x="793" y="1071"/>
              <a:ext cx="4627"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spcBef>
                  <a:spcPct val="0"/>
                </a:spcBef>
                <a:buFontTx/>
                <a:buNone/>
              </a:pPr>
              <a:r>
                <a:rPr lang="en-US" altLang="zh-CN" sz="2400" dirty="0">
                  <a:latin typeface="楷体" panose="02010609060101010101" pitchFamily="49" charset="-122"/>
                  <a:ea typeface="楷体" panose="02010609060101010101" pitchFamily="49" charset="-122"/>
                </a:rPr>
                <a:t>(6) </a:t>
              </a:r>
              <a:r>
                <a:rPr lang="zh-CN" altLang="en-US" sz="2400" dirty="0">
                  <a:solidFill>
                    <a:srgbClr val="990033"/>
                  </a:solidFill>
                  <a:latin typeface="楷体" panose="02010609060101010101" pitchFamily="49" charset="-122"/>
                  <a:ea typeface="楷体" panose="02010609060101010101" pitchFamily="49" charset="-122"/>
                </a:rPr>
                <a:t>作内力图</a:t>
              </a:r>
              <a:r>
                <a:rPr lang="zh-CN" altLang="en-US" sz="2400" dirty="0">
                  <a:latin typeface="楷体" panose="02010609060101010101" pitchFamily="49" charset="-122"/>
                  <a:ea typeface="楷体" panose="02010609060101010101" pitchFamily="49" charset="-122"/>
                </a:rPr>
                <a:t>；根据                        ，按叠加法绘制最后弯矩图，利用平衡条件求出各杆杆端剪力和轴力，作剪力图和轴力图。</a:t>
              </a:r>
            </a:p>
          </p:txBody>
        </p:sp>
        <p:graphicFrame>
          <p:nvGraphicFramePr>
            <p:cNvPr id="7" name="Object 4"/>
            <p:cNvGraphicFramePr>
              <a:graphicFrameLocks noChangeAspect="1"/>
            </p:cNvGraphicFramePr>
            <p:nvPr>
              <p:extLst>
                <p:ext uri="{D42A27DB-BD31-4B8C-83A1-F6EECF244321}">
                  <p14:modId xmlns:p14="http://schemas.microsoft.com/office/powerpoint/2010/main" val="2563962287"/>
                </p:ext>
              </p:extLst>
            </p:nvPr>
          </p:nvGraphicFramePr>
          <p:xfrm>
            <a:off x="2459" y="1089"/>
            <a:ext cx="2093" cy="270"/>
          </p:xfrm>
          <a:graphic>
            <a:graphicData uri="http://schemas.openxmlformats.org/presentationml/2006/ole">
              <mc:AlternateContent xmlns:mc="http://schemas.openxmlformats.org/markup-compatibility/2006">
                <mc:Choice xmlns:v="urn:schemas-microsoft-com:vml" Requires="v">
                  <p:oleObj spid="_x0000_s76891" name="Equation" r:id="rId4" imgW="3035160" imgH="291960" progId="Equation.DSMT4">
                    <p:embed/>
                  </p:oleObj>
                </mc:Choice>
                <mc:Fallback>
                  <p:oleObj name="Equation" r:id="rId4" imgW="3035160" imgH="291960" progId="Equation.DSMT4">
                    <p:embed/>
                    <p:pic>
                      <p:nvPicPr>
                        <p:cNvPr id="0" name=""/>
                        <p:cNvPicPr>
                          <a:picLocks noChangeAspect="1" noChangeArrowheads="1"/>
                        </p:cNvPicPr>
                        <p:nvPr/>
                      </p:nvPicPr>
                      <p:blipFill>
                        <a:blip r:embed="rId5"/>
                        <a:srcRect/>
                        <a:stretch>
                          <a:fillRect/>
                        </a:stretch>
                      </p:blipFill>
                      <p:spPr bwMode="auto">
                        <a:xfrm>
                          <a:off x="2459" y="1089"/>
                          <a:ext cx="2093" cy="270"/>
                        </a:xfrm>
                        <a:prstGeom prst="rect">
                          <a:avLst/>
                        </a:prstGeom>
                        <a:noFill/>
                        <a:ln>
                          <a:noFill/>
                        </a:ln>
                        <a:effectLst/>
                      </p:spPr>
                    </p:pic>
                  </p:oleObj>
                </mc:Fallback>
              </mc:AlternateContent>
            </a:graphicData>
          </a:graphic>
        </p:graphicFrame>
      </p:grpSp>
      <p:sp>
        <p:nvSpPr>
          <p:cNvPr id="8" name="Rectangle 7"/>
          <p:cNvSpPr>
            <a:spLocks noChangeArrowheads="1"/>
          </p:cNvSpPr>
          <p:nvPr/>
        </p:nvSpPr>
        <p:spPr bwMode="auto">
          <a:xfrm>
            <a:off x="800983" y="3840163"/>
            <a:ext cx="5449887" cy="514350"/>
          </a:xfrm>
          <a:prstGeom prst="rect">
            <a:avLst/>
          </a:prstGeom>
          <a:solidFill>
            <a:schemeClr val="accent1"/>
          </a:solidFill>
          <a:ln w="57150" cmpd="thinThick">
            <a:solidFill>
              <a:srgbClr val="CC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2400" dirty="0">
                <a:latin typeface="Times New Roman" pitchFamily="18" charset="0"/>
                <a:ea typeface="楷体_GB2312" pitchFamily="49" charset="-122"/>
              </a:rPr>
              <a:t>思考：位移法能用于计算静定结构吗？</a:t>
            </a:r>
          </a:p>
        </p:txBody>
      </p:sp>
      <p:sp>
        <p:nvSpPr>
          <p:cNvPr id="9" name="Rectangle 8"/>
          <p:cNvSpPr>
            <a:spLocks noChangeArrowheads="1"/>
          </p:cNvSpPr>
          <p:nvPr/>
        </p:nvSpPr>
        <p:spPr bwMode="auto">
          <a:xfrm>
            <a:off x="829475" y="4691063"/>
            <a:ext cx="7416800" cy="1200329"/>
          </a:xfrm>
          <a:prstGeom prst="rect">
            <a:avLst/>
          </a:prstGeom>
          <a:solidFill>
            <a:srgbClr val="33CCCC"/>
          </a:solidFill>
          <a:ln w="76200" cmpd="tri">
            <a:solidFill>
              <a:srgbClr val="CC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06388"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lgn="just" eaLnBrk="1" hangingPunct="1">
              <a:spcBef>
                <a:spcPct val="0"/>
              </a:spcBef>
              <a:buFontTx/>
              <a:buNone/>
            </a:pPr>
            <a:r>
              <a:rPr lang="zh-CN" altLang="en-US" sz="2400" dirty="0">
                <a:latin typeface="楷体_GB2312" pitchFamily="49" charset="-122"/>
                <a:ea typeface="楷体_GB2312" pitchFamily="49" charset="-122"/>
              </a:rPr>
              <a:t>能！凡是具有未知结点位移的结构</a:t>
            </a:r>
            <a:r>
              <a:rPr lang="en-US" altLang="zh-CN" sz="2400"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不管是静定或是超静定</a:t>
            </a:r>
            <a:r>
              <a:rPr lang="en-US" altLang="zh-CN" sz="2400"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都可以用位移法求解。位移法比较适宜于编制通用计算程序 </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进行大规模的工程计算。</a:t>
            </a:r>
          </a:p>
        </p:txBody>
      </p:sp>
    </p:spTree>
    <p:extLst>
      <p:ext uri="{BB962C8B-B14F-4D97-AF65-F5344CB8AC3E}">
        <p14:creationId xmlns:p14="http://schemas.microsoft.com/office/powerpoint/2010/main" val="3714927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To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Bottom)">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8" grpId="0" animBg="1"/>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4" name="Rectangle 2"/>
          <p:cNvSpPr>
            <a:spLocks noChangeArrowheads="1"/>
          </p:cNvSpPr>
          <p:nvPr/>
        </p:nvSpPr>
        <p:spPr bwMode="auto">
          <a:xfrm>
            <a:off x="442268" y="1208246"/>
            <a:ext cx="769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spcBef>
                <a:spcPct val="50000"/>
              </a:spcBef>
              <a:buFontTx/>
              <a:buNone/>
            </a:pPr>
            <a:r>
              <a:rPr lang="zh-CN" altLang="en-US" sz="2400" dirty="0">
                <a:latin typeface="楷体_GB2312" pitchFamily="49" charset="-122"/>
                <a:ea typeface="楷体_GB2312" pitchFamily="49" charset="-122"/>
              </a:rPr>
              <a:t>例</a:t>
            </a:r>
            <a:r>
              <a:rPr lang="en-US" altLang="zh-CN" sz="2400" dirty="0">
                <a:latin typeface="Times New Roman" pitchFamily="18" charset="0"/>
                <a:ea typeface="楷体_GB2312" pitchFamily="49" charset="-122"/>
              </a:rPr>
              <a:t>1</a:t>
            </a:r>
            <a:r>
              <a:rPr lang="en-US" altLang="zh-CN" sz="2400"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用位移法计算图</a:t>
            </a:r>
            <a:r>
              <a:rPr lang="zh-CN" altLang="en-US" sz="2400" dirty="0">
                <a:solidFill>
                  <a:schemeClr val="tx2"/>
                </a:solidFill>
                <a:latin typeface="楷体_GB2312" pitchFamily="49" charset="-122"/>
                <a:ea typeface="楷体_GB2312" pitchFamily="49" charset="-122"/>
              </a:rPr>
              <a:t>示的刚架的内力。</a:t>
            </a:r>
            <a:r>
              <a:rPr lang="en-US" altLang="zh-CN" sz="2400" i="1" dirty="0">
                <a:latin typeface="Times New Roman" pitchFamily="18" charset="0"/>
                <a:ea typeface="仿宋_GB2312" pitchFamily="49" charset="-122"/>
              </a:rPr>
              <a:t>EI</a:t>
            </a:r>
            <a:r>
              <a:rPr lang="en-US" altLang="zh-CN" sz="2400" dirty="0">
                <a:latin typeface="Times New Roman" pitchFamily="18" charset="0"/>
                <a:ea typeface="仿宋_GB2312" pitchFamily="49" charset="-122"/>
              </a:rPr>
              <a:t>=</a:t>
            </a:r>
            <a:r>
              <a:rPr lang="zh-CN" altLang="en-US" sz="2400" dirty="0">
                <a:latin typeface="Times New Roman" pitchFamily="18" charset="0"/>
                <a:ea typeface="楷体_GB2312" pitchFamily="49" charset="-122"/>
              </a:rPr>
              <a:t>常数。</a:t>
            </a:r>
            <a:endParaRPr lang="zh-CN" altLang="en-US" sz="2400" b="0" dirty="0">
              <a:latin typeface="Times New Roman" pitchFamily="18" charset="0"/>
              <a:ea typeface="楷体_GB2312" pitchFamily="49" charset="-122"/>
            </a:endParaRPr>
          </a:p>
        </p:txBody>
      </p:sp>
      <p:graphicFrame>
        <p:nvGraphicFramePr>
          <p:cNvPr id="5" name="Object 3"/>
          <p:cNvGraphicFramePr>
            <a:graphicFrameLocks noChangeAspect="1"/>
          </p:cNvGraphicFramePr>
          <p:nvPr>
            <p:extLst>
              <p:ext uri="{D42A27DB-BD31-4B8C-83A1-F6EECF244321}">
                <p14:modId xmlns:p14="http://schemas.microsoft.com/office/powerpoint/2010/main" val="3998679939"/>
              </p:ext>
            </p:extLst>
          </p:nvPr>
        </p:nvGraphicFramePr>
        <p:xfrm>
          <a:off x="505768" y="1747996"/>
          <a:ext cx="3886200" cy="3535363"/>
        </p:xfrm>
        <a:graphic>
          <a:graphicData uri="http://schemas.openxmlformats.org/presentationml/2006/ole">
            <mc:AlternateContent xmlns:mc="http://schemas.openxmlformats.org/markup-compatibility/2006">
              <mc:Choice xmlns:v="urn:schemas-microsoft-com:vml" Requires="v">
                <p:oleObj spid="_x0000_s79018" name="位图图像" r:id="rId4" imgW="4323810" imgH="3933333" progId="Paint.Picture">
                  <p:embed/>
                </p:oleObj>
              </mc:Choice>
              <mc:Fallback>
                <p:oleObj name="位图图像" r:id="rId4" imgW="4323810" imgH="3933333" progId="Paint.Picture">
                  <p:embed/>
                  <p:pic>
                    <p:nvPicPr>
                      <p:cNvPr id="0" name=""/>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05768" y="1747996"/>
                        <a:ext cx="3886200" cy="3535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4"/>
          <p:cNvGraphicFramePr>
            <a:graphicFrameLocks noChangeAspect="1"/>
          </p:cNvGraphicFramePr>
          <p:nvPr>
            <p:extLst>
              <p:ext uri="{D42A27DB-BD31-4B8C-83A1-F6EECF244321}">
                <p14:modId xmlns:p14="http://schemas.microsoft.com/office/powerpoint/2010/main" val="292220331"/>
              </p:ext>
            </p:extLst>
          </p:nvPr>
        </p:nvGraphicFramePr>
        <p:xfrm>
          <a:off x="4087168" y="1976596"/>
          <a:ext cx="3771900" cy="3495675"/>
        </p:xfrm>
        <a:graphic>
          <a:graphicData uri="http://schemas.openxmlformats.org/presentationml/2006/ole">
            <mc:AlternateContent xmlns:mc="http://schemas.openxmlformats.org/markup-compatibility/2006">
              <mc:Choice xmlns:v="urn:schemas-microsoft-com:vml" Requires="v">
                <p:oleObj spid="_x0000_s79019" name="位图图像" r:id="rId6" imgW="3772427" imgH="3495238" progId="Paint.Picture">
                  <p:embed/>
                </p:oleObj>
              </mc:Choice>
              <mc:Fallback>
                <p:oleObj name="位图图像" r:id="rId6" imgW="3772427" imgH="3495238" progId="Paint.Picture">
                  <p:embed/>
                  <p:pic>
                    <p:nvPicPr>
                      <p:cNvPr id="0" name=""/>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87168" y="1976596"/>
                        <a:ext cx="3771900" cy="349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Rectangle 5"/>
          <p:cNvSpPr>
            <a:spLocks noChangeArrowheads="1"/>
          </p:cNvSpPr>
          <p:nvPr/>
        </p:nvSpPr>
        <p:spPr bwMode="auto">
          <a:xfrm>
            <a:off x="429568" y="5481796"/>
            <a:ext cx="746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spcBef>
                <a:spcPct val="50000"/>
              </a:spcBef>
              <a:buFontTx/>
              <a:buNone/>
            </a:pPr>
            <a:r>
              <a:rPr lang="en-US" altLang="zh-CN" sz="2400">
                <a:latin typeface="楷体_GB2312" pitchFamily="49" charset="-122"/>
                <a:ea typeface="楷体_GB2312" pitchFamily="49" charset="-122"/>
              </a:rPr>
              <a:t>    </a:t>
            </a:r>
            <a:r>
              <a:rPr lang="zh-CN" altLang="en-US" sz="2400">
                <a:latin typeface="楷体_GB2312" pitchFamily="49" charset="-122"/>
                <a:ea typeface="楷体_GB2312" pitchFamily="49" charset="-122"/>
              </a:rPr>
              <a:t>解：</a:t>
            </a:r>
            <a:r>
              <a:rPr lang="en-US" altLang="zh-CN" sz="2400">
                <a:latin typeface="Times New Roman" pitchFamily="18" charset="0"/>
                <a:ea typeface="楷体_GB2312" pitchFamily="49" charset="-122"/>
              </a:rPr>
              <a:t>(1)</a:t>
            </a:r>
            <a:r>
              <a:rPr lang="en-US" altLang="zh-CN" sz="2400">
                <a:latin typeface="楷体_GB2312" pitchFamily="49" charset="-122"/>
                <a:ea typeface="楷体_GB2312" pitchFamily="49" charset="-122"/>
              </a:rPr>
              <a:t> </a:t>
            </a:r>
            <a:r>
              <a:rPr lang="zh-CN" altLang="en-US" sz="2400">
                <a:latin typeface="楷体_GB2312" pitchFamily="49" charset="-122"/>
                <a:ea typeface="楷体_GB2312" pitchFamily="49" charset="-122"/>
              </a:rPr>
              <a:t>确定基本未知量，结点</a:t>
            </a:r>
            <a:r>
              <a:rPr lang="en-US" altLang="zh-CN" sz="2400">
                <a:latin typeface="楷体_GB2312" pitchFamily="49" charset="-122"/>
                <a:ea typeface="楷体_GB2312" pitchFamily="49" charset="-122"/>
              </a:rPr>
              <a:t>C</a:t>
            </a:r>
            <a:r>
              <a:rPr lang="zh-CN" altLang="en-US" sz="2400">
                <a:latin typeface="楷体_GB2312" pitchFamily="49" charset="-122"/>
                <a:ea typeface="楷体_GB2312" pitchFamily="49" charset="-122"/>
              </a:rPr>
              <a:t>的角位移</a:t>
            </a:r>
            <a:r>
              <a:rPr lang="en-US" altLang="zh-CN" sz="2400" i="1">
                <a:solidFill>
                  <a:srgbClr val="FF00FF"/>
                </a:solidFill>
                <a:latin typeface="Times New Roman" pitchFamily="18" charset="0"/>
                <a:ea typeface="仿宋_GB2312" pitchFamily="49" charset="-122"/>
              </a:rPr>
              <a:t>Z</a:t>
            </a:r>
            <a:r>
              <a:rPr lang="en-US" altLang="zh-CN" sz="2400" baseline="-25000">
                <a:solidFill>
                  <a:srgbClr val="FF00FF"/>
                </a:solidFill>
                <a:latin typeface="Times New Roman" pitchFamily="18" charset="0"/>
                <a:ea typeface="仿宋_GB2312" pitchFamily="49" charset="-122"/>
              </a:rPr>
              <a:t>1</a:t>
            </a:r>
            <a:r>
              <a:rPr lang="zh-CN" altLang="en-US" sz="2400">
                <a:latin typeface="Times New Roman" pitchFamily="18" charset="0"/>
                <a:ea typeface="仿宋_GB2312" pitchFamily="49" charset="-122"/>
              </a:rPr>
              <a:t>。</a:t>
            </a:r>
            <a:endParaRPr lang="zh-CN" altLang="en-US" sz="2400">
              <a:latin typeface="Times New Roman" pitchFamily="18" charset="0"/>
            </a:endParaRPr>
          </a:p>
        </p:txBody>
      </p:sp>
      <p:sp>
        <p:nvSpPr>
          <p:cNvPr id="8" name="Rectangle 6"/>
          <p:cNvSpPr>
            <a:spLocks noChangeArrowheads="1"/>
          </p:cNvSpPr>
          <p:nvPr/>
        </p:nvSpPr>
        <p:spPr bwMode="auto">
          <a:xfrm>
            <a:off x="1039168" y="6015196"/>
            <a:ext cx="624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en-US" altLang="zh-CN" sz="2400" b="0">
                <a:solidFill>
                  <a:schemeClr val="tx2"/>
                </a:solidFill>
                <a:latin typeface="楷体_GB2312" pitchFamily="49" charset="-122"/>
                <a:ea typeface="楷体_GB2312" pitchFamily="49" charset="-122"/>
              </a:rPr>
              <a:t>    </a:t>
            </a:r>
            <a:r>
              <a:rPr lang="en-US" altLang="zh-CN" sz="2400">
                <a:latin typeface="Times New Roman" pitchFamily="18" charset="0"/>
                <a:ea typeface="楷体_GB2312" pitchFamily="49" charset="-122"/>
              </a:rPr>
              <a:t>(2)</a:t>
            </a:r>
            <a:r>
              <a:rPr lang="en-US" altLang="zh-CN" sz="2400">
                <a:latin typeface="楷体_GB2312" pitchFamily="49" charset="-122"/>
                <a:ea typeface="楷体_GB2312" pitchFamily="49" charset="-122"/>
              </a:rPr>
              <a:t> </a:t>
            </a:r>
            <a:r>
              <a:rPr lang="zh-CN" altLang="en-US" sz="2400">
                <a:latin typeface="楷体_GB2312" pitchFamily="49" charset="-122"/>
                <a:ea typeface="楷体_GB2312" pitchFamily="49" charset="-122"/>
              </a:rPr>
              <a:t>建立基本结构，得到基本体系。</a:t>
            </a:r>
          </a:p>
        </p:txBody>
      </p:sp>
    </p:spTree>
    <p:extLst>
      <p:ext uri="{BB962C8B-B14F-4D97-AF65-F5344CB8AC3E}">
        <p14:creationId xmlns:p14="http://schemas.microsoft.com/office/powerpoint/2010/main" val="3173469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To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0-#ppt_w/2"/>
                                          </p:val>
                                        </p:tav>
                                        <p:tav tm="100000">
                                          <p:val>
                                            <p:strVal val="#ppt_x"/>
                                          </p:val>
                                        </p:tav>
                                      </p:tavLst>
                                    </p:anim>
                                    <p:anim calcmode="lin" valueType="num">
                                      <p:cBhvr additive="base">
                                        <p:cTn id="19"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0-#ppt_w/2"/>
                                          </p:val>
                                        </p:tav>
                                        <p:tav tm="100000">
                                          <p:val>
                                            <p:strVal val="#ppt_x"/>
                                          </p:val>
                                        </p:tav>
                                      </p:tavLst>
                                    </p:anim>
                                    <p:anim calcmode="lin" valueType="num">
                                      <p:cBhvr additive="base">
                                        <p:cTn id="25"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p:val>
                                            <p:strVal val="0-#ppt_w/2"/>
                                          </p:val>
                                        </p:tav>
                                        <p:tav tm="100000">
                                          <p:val>
                                            <p:strVal val="#ppt_x"/>
                                          </p:val>
                                        </p:tav>
                                      </p:tavLst>
                                    </p:anim>
                                    <p:anim calcmode="lin" valueType="num">
                                      <p:cBhvr additive="base">
                                        <p:cTn id="31"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7" grpId="0" autoUpdateAnimBg="0"/>
      <p:bldP spid="8"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4" name="Rectangle 2"/>
          <p:cNvSpPr>
            <a:spLocks noChangeArrowheads="1"/>
          </p:cNvSpPr>
          <p:nvPr/>
        </p:nvSpPr>
        <p:spPr bwMode="auto">
          <a:xfrm>
            <a:off x="603250" y="1275942"/>
            <a:ext cx="3924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en-US" altLang="zh-CN" sz="2400" dirty="0">
                <a:latin typeface="Times New Roman" pitchFamily="18" charset="0"/>
                <a:ea typeface="楷体_GB2312" pitchFamily="49" charset="-122"/>
              </a:rPr>
              <a:t>(3) </a:t>
            </a:r>
            <a:r>
              <a:rPr lang="zh-CN" altLang="en-US" sz="2400" dirty="0">
                <a:latin typeface="楷体_GB2312" pitchFamily="49" charset="-122"/>
                <a:ea typeface="楷体_GB2312" pitchFamily="49" charset="-122"/>
              </a:rPr>
              <a:t>建立位移法典型方程。</a:t>
            </a:r>
          </a:p>
        </p:txBody>
      </p:sp>
      <p:graphicFrame>
        <p:nvGraphicFramePr>
          <p:cNvPr id="5" name="Object 3"/>
          <p:cNvGraphicFramePr>
            <a:graphicFrameLocks noChangeAspect="1"/>
          </p:cNvGraphicFramePr>
          <p:nvPr>
            <p:extLst>
              <p:ext uri="{D42A27DB-BD31-4B8C-83A1-F6EECF244321}">
                <p14:modId xmlns:p14="http://schemas.microsoft.com/office/powerpoint/2010/main" val="1839437762"/>
              </p:ext>
            </p:extLst>
          </p:nvPr>
        </p:nvGraphicFramePr>
        <p:xfrm>
          <a:off x="1212850" y="1809342"/>
          <a:ext cx="1889125" cy="465138"/>
        </p:xfrm>
        <a:graphic>
          <a:graphicData uri="http://schemas.openxmlformats.org/presentationml/2006/ole">
            <mc:AlternateContent xmlns:mc="http://schemas.openxmlformats.org/markup-compatibility/2006">
              <mc:Choice xmlns:v="urn:schemas-microsoft-com:vml" Requires="v">
                <p:oleObj spid="_x0000_s80546" name="Equation" r:id="rId4" imgW="847674" imgH="190500" progId="Equation.3">
                  <p:embed/>
                </p:oleObj>
              </mc:Choice>
              <mc:Fallback>
                <p:oleObj name="Equation" r:id="rId4" imgW="847674" imgH="1905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2850" y="1809342"/>
                        <a:ext cx="188912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 name="Group 4"/>
          <p:cNvGrpSpPr>
            <a:grpSpLocks/>
          </p:cNvGrpSpPr>
          <p:nvPr/>
        </p:nvGrpSpPr>
        <p:grpSpPr bwMode="auto">
          <a:xfrm>
            <a:off x="527050" y="2342742"/>
            <a:ext cx="4464050" cy="1128713"/>
            <a:chOff x="912" y="1296"/>
            <a:chExt cx="2812" cy="711"/>
          </a:xfrm>
        </p:grpSpPr>
        <p:sp>
          <p:nvSpPr>
            <p:cNvPr id="7" name="Text Box 5"/>
            <p:cNvSpPr txBox="1">
              <a:spLocks noChangeArrowheads="1"/>
            </p:cNvSpPr>
            <p:nvPr/>
          </p:nvSpPr>
          <p:spPr bwMode="auto">
            <a:xfrm>
              <a:off x="912" y="1296"/>
              <a:ext cx="2812"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2400" dirty="0">
                  <a:latin typeface="Times New Roman" pitchFamily="18" charset="0"/>
                  <a:ea typeface="仿宋_GB2312" pitchFamily="49" charset="-122"/>
                </a:rPr>
                <a:t>（</a:t>
              </a:r>
              <a:r>
                <a:rPr lang="en-US" altLang="zh-CN" sz="2400" dirty="0">
                  <a:latin typeface="Times New Roman" pitchFamily="18" charset="0"/>
                  <a:ea typeface="仿宋_GB2312" pitchFamily="49" charset="-122"/>
                </a:rPr>
                <a:t>4</a:t>
              </a:r>
              <a:r>
                <a:rPr lang="zh-CN" altLang="en-US" sz="2400" dirty="0">
                  <a:latin typeface="Times New Roman" pitchFamily="18" charset="0"/>
                  <a:ea typeface="仿宋_GB2312" pitchFamily="49" charset="-122"/>
                </a:rPr>
                <a:t>）</a:t>
              </a:r>
              <a:r>
                <a:rPr lang="zh-CN" altLang="en-US" sz="2400" dirty="0">
                  <a:latin typeface="Times New Roman" pitchFamily="18" charset="0"/>
                  <a:ea typeface="楷体_GB2312" pitchFamily="49" charset="-122"/>
                </a:rPr>
                <a:t>计算系数和自由项。</a:t>
              </a:r>
            </a:p>
            <a:p>
              <a:pPr eaLnBrk="1" hangingPunct="1">
                <a:spcBef>
                  <a:spcPct val="50000"/>
                </a:spcBef>
                <a:buFontTx/>
                <a:buNone/>
              </a:pPr>
              <a:r>
                <a:rPr lang="zh-CN" altLang="en-US" sz="2400" dirty="0">
                  <a:latin typeface="Times New Roman" pitchFamily="18" charset="0"/>
                  <a:ea typeface="仿宋_GB2312" pitchFamily="49" charset="-122"/>
                </a:rPr>
                <a:t> </a:t>
              </a:r>
              <a:r>
                <a:rPr lang="zh-CN" altLang="en-US" sz="2400" dirty="0">
                  <a:latin typeface="Times New Roman" pitchFamily="18" charset="0"/>
                  <a:ea typeface="楷体_GB2312" pitchFamily="49" charset="-122"/>
                </a:rPr>
                <a:t>令</a:t>
              </a:r>
              <a:r>
                <a:rPr lang="zh-CN" altLang="en-US" sz="2400" dirty="0">
                  <a:latin typeface="Times New Roman" pitchFamily="18" charset="0"/>
                  <a:ea typeface="仿宋_GB2312" pitchFamily="49" charset="-122"/>
                </a:rPr>
                <a:t>               ，</a:t>
              </a:r>
              <a:r>
                <a:rPr lang="zh-CN" altLang="en-US" sz="2400" dirty="0">
                  <a:latin typeface="楷体_GB2312" pitchFamily="49" charset="-122"/>
                  <a:ea typeface="楷体_GB2312" pitchFamily="49" charset="-122"/>
                </a:rPr>
                <a:t>做出      图</a:t>
              </a:r>
              <a:r>
                <a:rPr lang="zh-CN" altLang="en-US" sz="2400" b="0" dirty="0">
                  <a:solidFill>
                    <a:schemeClr val="tx2"/>
                  </a:solidFill>
                  <a:latin typeface="楷体_GB2312" pitchFamily="49" charset="-122"/>
                  <a:ea typeface="楷体_GB2312" pitchFamily="49" charset="-122"/>
                </a:rPr>
                <a:t>  </a:t>
              </a:r>
            </a:p>
          </p:txBody>
        </p:sp>
        <p:graphicFrame>
          <p:nvGraphicFramePr>
            <p:cNvPr id="8" name="Object 6"/>
            <p:cNvGraphicFramePr>
              <a:graphicFrameLocks noChangeAspect="1"/>
            </p:cNvGraphicFramePr>
            <p:nvPr/>
          </p:nvGraphicFramePr>
          <p:xfrm>
            <a:off x="1285" y="1523"/>
            <a:ext cx="660" cy="484"/>
          </p:xfrm>
          <a:graphic>
            <a:graphicData uri="http://schemas.openxmlformats.org/presentationml/2006/ole">
              <mc:AlternateContent xmlns:mc="http://schemas.openxmlformats.org/markup-compatibility/2006">
                <mc:Choice xmlns:v="urn:schemas-microsoft-com:vml" Requires="v">
                  <p:oleObj spid="_x0000_s80547" name="Equation" r:id="rId6" imgW="400006" imgH="361950" progId="Equation.3">
                    <p:embed/>
                  </p:oleObj>
                </mc:Choice>
                <mc:Fallback>
                  <p:oleObj name="Equation" r:id="rId6" imgW="400006" imgH="36195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5" y="1523"/>
                          <a:ext cx="660"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7"/>
            <p:cNvGraphicFramePr>
              <a:graphicFrameLocks noChangeAspect="1"/>
            </p:cNvGraphicFramePr>
            <p:nvPr/>
          </p:nvGraphicFramePr>
          <p:xfrm>
            <a:off x="2499" y="1614"/>
            <a:ext cx="362" cy="317"/>
          </p:xfrm>
          <a:graphic>
            <a:graphicData uri="http://schemas.openxmlformats.org/presentationml/2006/ole">
              <mc:AlternateContent xmlns:mc="http://schemas.openxmlformats.org/markup-compatibility/2006">
                <mc:Choice xmlns:v="urn:schemas-microsoft-com:vml" Requires="v">
                  <p:oleObj spid="_x0000_s80548" name="Equation" r:id="rId8" imgW="200179" imgH="200025" progId="Equation.3">
                    <p:embed/>
                  </p:oleObj>
                </mc:Choice>
                <mc:Fallback>
                  <p:oleObj name="Equation" r:id="rId8" imgW="200179" imgH="200025"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99" y="1614"/>
                          <a:ext cx="362"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0" name="Object 8"/>
          <p:cNvGraphicFramePr>
            <a:graphicFrameLocks noChangeAspect="1"/>
          </p:cNvGraphicFramePr>
          <p:nvPr>
            <p:extLst>
              <p:ext uri="{D42A27DB-BD31-4B8C-83A1-F6EECF244321}">
                <p14:modId xmlns:p14="http://schemas.microsoft.com/office/powerpoint/2010/main" val="3774907702"/>
              </p:ext>
            </p:extLst>
          </p:nvPr>
        </p:nvGraphicFramePr>
        <p:xfrm>
          <a:off x="1441450" y="3409542"/>
          <a:ext cx="2605088" cy="539750"/>
        </p:xfrm>
        <a:graphic>
          <a:graphicData uri="http://schemas.openxmlformats.org/presentationml/2006/ole">
            <mc:AlternateContent xmlns:mc="http://schemas.openxmlformats.org/markup-compatibility/2006">
              <mc:Choice xmlns:v="urn:schemas-microsoft-com:vml" Requires="v">
                <p:oleObj spid="_x0000_s80549" name="Equation" r:id="rId10" imgW="990659" imgH="190500" progId="Equation.3">
                  <p:embed/>
                </p:oleObj>
              </mc:Choice>
              <mc:Fallback>
                <p:oleObj name="Equation" r:id="rId10" imgW="990659" imgH="1905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1450" y="3409542"/>
                        <a:ext cx="260508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9"/>
          <p:cNvGraphicFramePr>
            <a:graphicFrameLocks noChangeAspect="1"/>
          </p:cNvGraphicFramePr>
          <p:nvPr>
            <p:extLst>
              <p:ext uri="{D42A27DB-BD31-4B8C-83A1-F6EECF244321}">
                <p14:modId xmlns:p14="http://schemas.microsoft.com/office/powerpoint/2010/main" val="1116910296"/>
              </p:ext>
            </p:extLst>
          </p:nvPr>
        </p:nvGraphicFramePr>
        <p:xfrm>
          <a:off x="4108450" y="1275942"/>
          <a:ext cx="3686175" cy="2638425"/>
        </p:xfrm>
        <a:graphic>
          <a:graphicData uri="http://schemas.openxmlformats.org/presentationml/2006/ole">
            <mc:AlternateContent xmlns:mc="http://schemas.openxmlformats.org/markup-compatibility/2006">
              <mc:Choice xmlns:v="urn:schemas-microsoft-com:vml" Requires="v">
                <p:oleObj spid="_x0000_s80550" name="位图图像" r:id="rId12" imgW="3685714" imgH="2638095" progId="Paint.Picture">
                  <p:embed/>
                </p:oleObj>
              </mc:Choice>
              <mc:Fallback>
                <p:oleObj name="位图图像" r:id="rId12" imgW="3685714" imgH="2638095" progId="Paint.Picture">
                  <p:embed/>
                  <p:pic>
                    <p:nvPicPr>
                      <p:cNvPr id="0" name=""/>
                      <p:cNvPicPr>
                        <a:picLocks noChangeAspect="1" noChangeArrowheads="1"/>
                      </p:cNvPicPr>
                      <p:nvPr/>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08450" y="1275942"/>
                        <a:ext cx="3686175" cy="263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 name="Rectangle 10"/>
          <p:cNvSpPr>
            <a:spLocks noChangeArrowheads="1"/>
          </p:cNvSpPr>
          <p:nvPr/>
        </p:nvSpPr>
        <p:spPr bwMode="auto">
          <a:xfrm>
            <a:off x="755650" y="4019142"/>
            <a:ext cx="683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2400">
                <a:latin typeface="Times New Roman" pitchFamily="18" charset="0"/>
                <a:ea typeface="楷体_GB2312" pitchFamily="49" charset="-122"/>
              </a:rPr>
              <a:t>基本结构由于支座</a:t>
            </a:r>
            <a:r>
              <a:rPr lang="en-US" altLang="zh-CN" sz="2400">
                <a:latin typeface="Times New Roman" pitchFamily="18" charset="0"/>
                <a:ea typeface="楷体_GB2312" pitchFamily="49" charset="-122"/>
              </a:rPr>
              <a:t>A</a:t>
            </a:r>
            <a:r>
              <a:rPr lang="zh-CN" altLang="en-US" sz="2400">
                <a:latin typeface="Times New Roman" pitchFamily="18" charset="0"/>
                <a:ea typeface="楷体_GB2312" pitchFamily="49" charset="-122"/>
              </a:rPr>
              <a:t>产生位移时，各杆端的弯矩：</a:t>
            </a:r>
            <a:endParaRPr lang="zh-CN" altLang="en-US" sz="2400">
              <a:latin typeface="楷体_GB2312" pitchFamily="49" charset="-122"/>
              <a:ea typeface="楷体_GB2312" pitchFamily="49" charset="-122"/>
            </a:endParaRPr>
          </a:p>
        </p:txBody>
      </p:sp>
      <p:graphicFrame>
        <p:nvGraphicFramePr>
          <p:cNvPr id="13" name="Object 11"/>
          <p:cNvGraphicFramePr>
            <a:graphicFrameLocks noChangeAspect="1"/>
          </p:cNvGraphicFramePr>
          <p:nvPr>
            <p:extLst>
              <p:ext uri="{D42A27DB-BD31-4B8C-83A1-F6EECF244321}">
                <p14:modId xmlns:p14="http://schemas.microsoft.com/office/powerpoint/2010/main" val="2247186339"/>
              </p:ext>
            </p:extLst>
          </p:nvPr>
        </p:nvGraphicFramePr>
        <p:xfrm>
          <a:off x="1517650" y="4476342"/>
          <a:ext cx="4343400" cy="717550"/>
        </p:xfrm>
        <a:graphic>
          <a:graphicData uri="http://schemas.openxmlformats.org/presentationml/2006/ole">
            <mc:AlternateContent xmlns:mc="http://schemas.openxmlformats.org/markup-compatibility/2006">
              <mc:Choice xmlns:v="urn:schemas-microsoft-com:vml" Requires="v">
                <p:oleObj spid="_x0000_s80551" name="Equation" r:id="rId14" imgW="2295532" imgH="361950" progId="Equation.3">
                  <p:embed/>
                </p:oleObj>
              </mc:Choice>
              <mc:Fallback>
                <p:oleObj name="Equation" r:id="rId14" imgW="2295532" imgH="36195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17650" y="4476342"/>
                        <a:ext cx="4343400"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2"/>
          <p:cNvGraphicFramePr>
            <a:graphicFrameLocks noChangeAspect="1"/>
          </p:cNvGraphicFramePr>
          <p:nvPr>
            <p:extLst>
              <p:ext uri="{D42A27DB-BD31-4B8C-83A1-F6EECF244321}">
                <p14:modId xmlns:p14="http://schemas.microsoft.com/office/powerpoint/2010/main" val="3479069750"/>
              </p:ext>
            </p:extLst>
          </p:nvPr>
        </p:nvGraphicFramePr>
        <p:xfrm>
          <a:off x="1541463" y="5238342"/>
          <a:ext cx="4295775" cy="717550"/>
        </p:xfrm>
        <a:graphic>
          <a:graphicData uri="http://schemas.openxmlformats.org/presentationml/2006/ole">
            <mc:AlternateContent xmlns:mc="http://schemas.openxmlformats.org/markup-compatibility/2006">
              <mc:Choice xmlns:v="urn:schemas-microsoft-com:vml" Requires="v">
                <p:oleObj spid="_x0000_s80552" name="Equation" r:id="rId16" imgW="2266935" imgH="361950" progId="Equation.3">
                  <p:embed/>
                </p:oleObj>
              </mc:Choice>
              <mc:Fallback>
                <p:oleObj name="Equation" r:id="rId16" imgW="2266935" imgH="36195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41463" y="5238342"/>
                        <a:ext cx="4295775"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13"/>
          <p:cNvGraphicFramePr>
            <a:graphicFrameLocks noChangeAspect="1"/>
          </p:cNvGraphicFramePr>
          <p:nvPr>
            <p:extLst>
              <p:ext uri="{D42A27DB-BD31-4B8C-83A1-F6EECF244321}">
                <p14:modId xmlns:p14="http://schemas.microsoft.com/office/powerpoint/2010/main" val="3313956159"/>
              </p:ext>
            </p:extLst>
          </p:nvPr>
        </p:nvGraphicFramePr>
        <p:xfrm>
          <a:off x="1517650" y="5924142"/>
          <a:ext cx="2682875" cy="717550"/>
        </p:xfrm>
        <a:graphic>
          <a:graphicData uri="http://schemas.openxmlformats.org/presentationml/2006/ole">
            <mc:AlternateContent xmlns:mc="http://schemas.openxmlformats.org/markup-compatibility/2006">
              <mc:Choice xmlns:v="urn:schemas-microsoft-com:vml" Requires="v">
                <p:oleObj spid="_x0000_s80553" name="Equation" r:id="rId18" imgW="1409729" imgH="361950" progId="Equation.3">
                  <p:embed/>
                </p:oleObj>
              </mc:Choice>
              <mc:Fallback>
                <p:oleObj name="Equation" r:id="rId18" imgW="1409729" imgH="36195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17650" y="5924142"/>
                        <a:ext cx="2682875"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639449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Bottom)">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0-#ppt_w/2"/>
                                          </p:val>
                                        </p:tav>
                                        <p:tav tm="100000">
                                          <p:val>
                                            <p:strVal val="#ppt_x"/>
                                          </p:val>
                                        </p:tav>
                                      </p:tavLst>
                                    </p:anim>
                                    <p:anim calcmode="lin" valueType="num">
                                      <p:cBhvr additive="base">
                                        <p:cTn id="1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0-#ppt_w/2"/>
                                          </p:val>
                                        </p:tav>
                                        <p:tav tm="100000">
                                          <p:val>
                                            <p:strVal val="#ppt_x"/>
                                          </p:val>
                                        </p:tav>
                                      </p:tavLst>
                                    </p:anim>
                                    <p:anim calcmode="lin" valueType="num">
                                      <p:cBhvr additive="base">
                                        <p:cTn id="2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slide(fromBottom)">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500" fill="hold"/>
                                        <p:tgtEl>
                                          <p:spTgt spid="12"/>
                                        </p:tgtEl>
                                        <p:attrNameLst>
                                          <p:attrName>ppt_x</p:attrName>
                                        </p:attrNameLst>
                                      </p:cBhvr>
                                      <p:tavLst>
                                        <p:tav tm="0">
                                          <p:val>
                                            <p:strVal val="0-#ppt_w/2"/>
                                          </p:val>
                                        </p:tav>
                                        <p:tav tm="100000">
                                          <p:val>
                                            <p:strVal val="#ppt_x"/>
                                          </p:val>
                                        </p:tav>
                                      </p:tavLst>
                                    </p:anim>
                                    <p:anim calcmode="lin" valueType="num">
                                      <p:cBhvr additive="base">
                                        <p:cTn id="35"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2" presetClass="entr" presetSubtype="4"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slide(fromBottom)">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4" fill="hold"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slide(fromBottom)">
                                      <p:cBhvr>
                                        <p:cTn id="45" dur="500"/>
                                        <p:tgtEl>
                                          <p:spTgt spid="15"/>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4" fill="hold"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slide(fromBottom)">
                                      <p:cBhvr>
                                        <p:cTn id="5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12"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4" name="Rectangle 2"/>
          <p:cNvSpPr>
            <a:spLocks noChangeArrowheads="1"/>
          </p:cNvSpPr>
          <p:nvPr/>
        </p:nvSpPr>
        <p:spPr bwMode="auto">
          <a:xfrm>
            <a:off x="1219200" y="1322567"/>
            <a:ext cx="4238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2400" dirty="0">
                <a:latin typeface="Times New Roman" pitchFamily="18" charset="0"/>
                <a:ea typeface="楷体_GB2312" pitchFamily="49" charset="-122"/>
              </a:rPr>
              <a:t>作出</a:t>
            </a:r>
            <a:r>
              <a:rPr lang="en-US" altLang="zh-CN" sz="2400" i="1" dirty="0">
                <a:solidFill>
                  <a:srgbClr val="FF00FF"/>
                </a:solidFill>
                <a:latin typeface="Times New Roman" pitchFamily="18" charset="0"/>
                <a:ea typeface="楷体_GB2312" pitchFamily="49" charset="-122"/>
              </a:rPr>
              <a:t>M</a:t>
            </a:r>
            <a:r>
              <a:rPr lang="en-US" altLang="zh-CN" sz="2400" baseline="-25000" dirty="0">
                <a:solidFill>
                  <a:srgbClr val="FF00FF"/>
                </a:solidFill>
                <a:latin typeface="Times New Roman" pitchFamily="18" charset="0"/>
                <a:cs typeface="Times New Roman" pitchFamily="18" charset="0"/>
              </a:rPr>
              <a:t>Δ</a:t>
            </a:r>
            <a:r>
              <a:rPr lang="zh-CN" altLang="en-US" sz="2400" dirty="0">
                <a:latin typeface="Times New Roman" pitchFamily="18" charset="0"/>
                <a:ea typeface="楷体_GB2312" pitchFamily="49" charset="-122"/>
              </a:rPr>
              <a:t>图（转角位移方程）</a:t>
            </a:r>
          </a:p>
        </p:txBody>
      </p:sp>
      <p:graphicFrame>
        <p:nvGraphicFramePr>
          <p:cNvPr id="5" name="Object 3"/>
          <p:cNvGraphicFramePr>
            <a:graphicFrameLocks noChangeAspect="1"/>
          </p:cNvGraphicFramePr>
          <p:nvPr>
            <p:extLst>
              <p:ext uri="{D42A27DB-BD31-4B8C-83A1-F6EECF244321}">
                <p14:modId xmlns:p14="http://schemas.microsoft.com/office/powerpoint/2010/main" val="2727964493"/>
              </p:ext>
            </p:extLst>
          </p:nvPr>
        </p:nvGraphicFramePr>
        <p:xfrm>
          <a:off x="885825" y="1789292"/>
          <a:ext cx="3733800" cy="2466975"/>
        </p:xfrm>
        <a:graphic>
          <a:graphicData uri="http://schemas.openxmlformats.org/presentationml/2006/ole">
            <mc:AlternateContent xmlns:mc="http://schemas.openxmlformats.org/markup-compatibility/2006">
              <mc:Choice xmlns:v="urn:schemas-microsoft-com:vml" Requires="v">
                <p:oleObj spid="_x0000_s81313" name="位图图像" r:id="rId4" imgW="4180952" imgH="2762636" progId="Paint.Picture">
                  <p:embed/>
                </p:oleObj>
              </mc:Choice>
              <mc:Fallback>
                <p:oleObj name="位图图像" r:id="rId4" imgW="4180952" imgH="2762636" progId="Paint.Picture">
                  <p:embed/>
                  <p:pic>
                    <p:nvPicPr>
                      <p:cNvPr id="0" name=""/>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85825" y="1789292"/>
                        <a:ext cx="3733800" cy="246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4"/>
          <p:cNvGraphicFramePr>
            <a:graphicFrameLocks noChangeAspect="1"/>
          </p:cNvGraphicFramePr>
          <p:nvPr>
            <p:extLst>
              <p:ext uri="{D42A27DB-BD31-4B8C-83A1-F6EECF244321}">
                <p14:modId xmlns:p14="http://schemas.microsoft.com/office/powerpoint/2010/main" val="226275999"/>
              </p:ext>
            </p:extLst>
          </p:nvPr>
        </p:nvGraphicFramePr>
        <p:xfrm>
          <a:off x="4467225" y="1789292"/>
          <a:ext cx="3971925" cy="539750"/>
        </p:xfrm>
        <a:graphic>
          <a:graphicData uri="http://schemas.openxmlformats.org/presentationml/2006/ole">
            <mc:AlternateContent xmlns:mc="http://schemas.openxmlformats.org/markup-compatibility/2006">
              <mc:Choice xmlns:v="urn:schemas-microsoft-com:vml" Requires="v">
                <p:oleObj spid="_x0000_s81314" name="Equation" r:id="rId6" imgW="1524118" imgH="190500" progId="Equation.3">
                  <p:embed/>
                </p:oleObj>
              </mc:Choice>
              <mc:Fallback>
                <p:oleObj name="Equation" r:id="rId6" imgW="1524118" imgH="1905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67225" y="1789292"/>
                        <a:ext cx="397192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5"/>
          <p:cNvGraphicFramePr>
            <a:graphicFrameLocks noChangeAspect="1"/>
          </p:cNvGraphicFramePr>
          <p:nvPr>
            <p:extLst>
              <p:ext uri="{D42A27DB-BD31-4B8C-83A1-F6EECF244321}">
                <p14:modId xmlns:p14="http://schemas.microsoft.com/office/powerpoint/2010/main" val="2924616832"/>
              </p:ext>
            </p:extLst>
          </p:nvPr>
        </p:nvGraphicFramePr>
        <p:xfrm>
          <a:off x="4619625" y="3008492"/>
          <a:ext cx="3124200" cy="750888"/>
        </p:xfrm>
        <a:graphic>
          <a:graphicData uri="http://schemas.openxmlformats.org/presentationml/2006/ole">
            <mc:AlternateContent xmlns:mc="http://schemas.openxmlformats.org/markup-compatibility/2006">
              <mc:Choice xmlns:v="urn:schemas-microsoft-com:vml" Requires="v">
                <p:oleObj spid="_x0000_s81315" name="Equation" r:id="rId8" imgW="1771606" imgH="400050" progId="Equation.3">
                  <p:embed/>
                </p:oleObj>
              </mc:Choice>
              <mc:Fallback>
                <p:oleObj name="Equation" r:id="rId8" imgW="1771606" imgH="40005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19625" y="3008492"/>
                        <a:ext cx="3124200"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6"/>
          <p:cNvSpPr>
            <a:spLocks noChangeArrowheads="1"/>
          </p:cNvSpPr>
          <p:nvPr/>
        </p:nvSpPr>
        <p:spPr bwMode="auto">
          <a:xfrm>
            <a:off x="4848225" y="2475092"/>
            <a:ext cx="3067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0"/>
              </a:spcBef>
              <a:buFontTx/>
              <a:buNone/>
            </a:pPr>
            <a:r>
              <a:rPr lang="en-US" altLang="zh-CN" sz="2400">
                <a:latin typeface="Times New Roman" pitchFamily="18" charset="0"/>
                <a:ea typeface="仿宋_GB2312" pitchFamily="49" charset="-122"/>
              </a:rPr>
              <a:t>(5) </a:t>
            </a:r>
            <a:r>
              <a:rPr lang="zh-CN" altLang="en-US" sz="2400">
                <a:latin typeface="Times New Roman" pitchFamily="18" charset="0"/>
                <a:ea typeface="楷体_GB2312" pitchFamily="49" charset="-122"/>
              </a:rPr>
              <a:t>解算位移法方程，</a:t>
            </a:r>
          </a:p>
        </p:txBody>
      </p:sp>
      <p:sp>
        <p:nvSpPr>
          <p:cNvPr id="9" name="Rectangle 7"/>
          <p:cNvSpPr>
            <a:spLocks noChangeArrowheads="1"/>
          </p:cNvSpPr>
          <p:nvPr/>
        </p:nvSpPr>
        <p:spPr bwMode="auto">
          <a:xfrm>
            <a:off x="1647825" y="4532492"/>
            <a:ext cx="2147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en-US" altLang="zh-CN" sz="2400">
                <a:latin typeface="Times New Roman" pitchFamily="18" charset="0"/>
                <a:ea typeface="仿宋_GB2312" pitchFamily="49" charset="-122"/>
              </a:rPr>
              <a:t>(6) </a:t>
            </a:r>
            <a:r>
              <a:rPr lang="zh-CN" altLang="en-US" sz="2400">
                <a:latin typeface="Times New Roman" pitchFamily="18" charset="0"/>
                <a:ea typeface="楷体_GB2312" pitchFamily="49" charset="-122"/>
              </a:rPr>
              <a:t>作内力图。</a:t>
            </a:r>
          </a:p>
        </p:txBody>
      </p:sp>
      <p:sp>
        <p:nvSpPr>
          <p:cNvPr id="10" name="Rectangle 8"/>
          <p:cNvSpPr>
            <a:spLocks noChangeArrowheads="1"/>
          </p:cNvSpPr>
          <p:nvPr/>
        </p:nvSpPr>
        <p:spPr bwMode="auto">
          <a:xfrm>
            <a:off x="1571625" y="5142092"/>
            <a:ext cx="3600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en-US" altLang="zh-CN" sz="2400">
                <a:latin typeface="Times New Roman" pitchFamily="18" charset="0"/>
                <a:ea typeface="仿宋_GB2312" pitchFamily="49" charset="-122"/>
              </a:rPr>
              <a:t>   </a:t>
            </a:r>
            <a:r>
              <a:rPr lang="zh-CN" altLang="en-US" sz="2400">
                <a:latin typeface="Times New Roman" pitchFamily="18" charset="0"/>
                <a:ea typeface="楷体_GB2312" pitchFamily="49" charset="-122"/>
              </a:rPr>
              <a:t>按叠加法根据</a:t>
            </a:r>
            <a:endParaRPr lang="zh-CN" altLang="en-US" sz="2400" b="0">
              <a:latin typeface="楷体_GB2312" pitchFamily="49" charset="-122"/>
              <a:ea typeface="楷体_GB2312" pitchFamily="49" charset="-122"/>
            </a:endParaRPr>
          </a:p>
        </p:txBody>
      </p:sp>
      <p:graphicFrame>
        <p:nvGraphicFramePr>
          <p:cNvPr id="11" name="Object 9"/>
          <p:cNvGraphicFramePr>
            <a:graphicFrameLocks noChangeAspect="1"/>
          </p:cNvGraphicFramePr>
          <p:nvPr>
            <p:extLst>
              <p:ext uri="{D42A27DB-BD31-4B8C-83A1-F6EECF244321}">
                <p14:modId xmlns:p14="http://schemas.microsoft.com/office/powerpoint/2010/main" val="2836973967"/>
              </p:ext>
            </p:extLst>
          </p:nvPr>
        </p:nvGraphicFramePr>
        <p:xfrm>
          <a:off x="1800225" y="5904092"/>
          <a:ext cx="1841500" cy="419100"/>
        </p:xfrm>
        <a:graphic>
          <a:graphicData uri="http://schemas.openxmlformats.org/presentationml/2006/ole">
            <mc:AlternateContent xmlns:mc="http://schemas.openxmlformats.org/markup-compatibility/2006">
              <mc:Choice xmlns:v="urn:schemas-microsoft-com:vml" Requires="v">
                <p:oleObj spid="_x0000_s81316" name="Equation" r:id="rId10" imgW="1000191" imgH="200025" progId="Equation.3">
                  <p:embed/>
                </p:oleObj>
              </mc:Choice>
              <mc:Fallback>
                <p:oleObj name="Equation" r:id="rId10" imgW="1000191" imgH="200025"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00225" y="5904092"/>
                        <a:ext cx="18415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0"/>
          <p:cNvGraphicFramePr>
            <a:graphicFrameLocks noChangeAspect="1"/>
          </p:cNvGraphicFramePr>
          <p:nvPr>
            <p:extLst>
              <p:ext uri="{D42A27DB-BD31-4B8C-83A1-F6EECF244321}">
                <p14:modId xmlns:p14="http://schemas.microsoft.com/office/powerpoint/2010/main" val="1339250397"/>
              </p:ext>
            </p:extLst>
          </p:nvPr>
        </p:nvGraphicFramePr>
        <p:xfrm>
          <a:off x="4467225" y="3770492"/>
          <a:ext cx="3324225" cy="2819400"/>
        </p:xfrm>
        <a:graphic>
          <a:graphicData uri="http://schemas.openxmlformats.org/presentationml/2006/ole">
            <mc:AlternateContent xmlns:mc="http://schemas.openxmlformats.org/markup-compatibility/2006">
              <mc:Choice xmlns:v="urn:schemas-microsoft-com:vml" Requires="v">
                <p:oleObj spid="_x0000_s81317" name="位图图像" r:id="rId12" imgW="3323810" imgH="2819794" progId="Paint.Picture">
                  <p:embed/>
                </p:oleObj>
              </mc:Choice>
              <mc:Fallback>
                <p:oleObj name="位图图像" r:id="rId12" imgW="3323810" imgH="2819794" progId="Paint.Picture">
                  <p:embed/>
                  <p:pic>
                    <p:nvPicPr>
                      <p:cNvPr id="0" name=""/>
                      <p:cNvPicPr>
                        <a:picLocks noChangeAspect="1" noChangeArrowheads="1"/>
                      </p:cNvPicPr>
                      <p:nvPr/>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67225" y="3770492"/>
                        <a:ext cx="3324225"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2945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0-#ppt_w/2"/>
                                          </p:val>
                                        </p:tav>
                                        <p:tav tm="100000">
                                          <p:val>
                                            <p:strVal val="#ppt_x"/>
                                          </p:val>
                                        </p:tav>
                                      </p:tavLst>
                                    </p:anim>
                                    <p:anim calcmode="lin" valueType="num">
                                      <p:cBhvr additive="base">
                                        <p:cTn id="1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0-#ppt_w/2"/>
                                          </p:val>
                                        </p:tav>
                                        <p:tav tm="100000">
                                          <p:val>
                                            <p:strVal val="#ppt_x"/>
                                          </p:val>
                                        </p:tav>
                                      </p:tavLst>
                                    </p:anim>
                                    <p:anim calcmode="lin" valueType="num">
                                      <p:cBhvr additive="base">
                                        <p:cTn id="2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0-#ppt_w/2"/>
                                          </p:val>
                                        </p:tav>
                                        <p:tav tm="100000">
                                          <p:val>
                                            <p:strVal val="#ppt_x"/>
                                          </p:val>
                                        </p:tav>
                                      </p:tavLst>
                                    </p:anim>
                                    <p:anim calcmode="lin" valueType="num">
                                      <p:cBhvr additive="base">
                                        <p:cTn id="3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ppt_x</p:attrName>
                                        </p:attrNameLst>
                                      </p:cBhvr>
                                      <p:tavLst>
                                        <p:tav tm="0">
                                          <p:val>
                                            <p:strVal val="0-#ppt_w/2"/>
                                          </p:val>
                                        </p:tav>
                                        <p:tav tm="100000">
                                          <p:val>
                                            <p:strVal val="#ppt_x"/>
                                          </p:val>
                                        </p:tav>
                                      </p:tavLst>
                                    </p:anim>
                                    <p:anim calcmode="lin" valueType="num">
                                      <p:cBhvr additive="base">
                                        <p:cTn id="36"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fill="hold"/>
                                        <p:tgtEl>
                                          <p:spTgt spid="10"/>
                                        </p:tgtEl>
                                        <p:attrNameLst>
                                          <p:attrName>ppt_x</p:attrName>
                                        </p:attrNameLst>
                                      </p:cBhvr>
                                      <p:tavLst>
                                        <p:tav tm="0">
                                          <p:val>
                                            <p:strVal val="0-#ppt_w/2"/>
                                          </p:val>
                                        </p:tav>
                                        <p:tav tm="100000">
                                          <p:val>
                                            <p:strVal val="#ppt_x"/>
                                          </p:val>
                                        </p:tav>
                                      </p:tavLst>
                                    </p:anim>
                                    <p:anim calcmode="lin" valueType="num">
                                      <p:cBhvr additive="base">
                                        <p:cTn id="4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500" fill="hold"/>
                                        <p:tgtEl>
                                          <p:spTgt spid="11"/>
                                        </p:tgtEl>
                                        <p:attrNameLst>
                                          <p:attrName>ppt_x</p:attrName>
                                        </p:attrNameLst>
                                      </p:cBhvr>
                                      <p:tavLst>
                                        <p:tav tm="0">
                                          <p:val>
                                            <p:strVal val="0-#ppt_w/2"/>
                                          </p:val>
                                        </p:tav>
                                        <p:tav tm="100000">
                                          <p:val>
                                            <p:strVal val="#ppt_x"/>
                                          </p:val>
                                        </p:tav>
                                      </p:tavLst>
                                    </p:anim>
                                    <p:anim calcmode="lin" valueType="num">
                                      <p:cBhvr additive="base">
                                        <p:cTn id="4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nodeType="clickEffect">
                                  <p:stCondLst>
                                    <p:cond delay="0"/>
                                  </p:stCondLst>
                                  <p:childTnLst>
                                    <p:set>
                                      <p:cBhvr>
                                        <p:cTn id="52" dur="1" fill="hold">
                                          <p:stCondLst>
                                            <p:cond delay="0"/>
                                          </p:stCondLst>
                                        </p:cTn>
                                        <p:tgtEl>
                                          <p:spTgt spid="12"/>
                                        </p:tgtEl>
                                        <p:attrNameLst>
                                          <p:attrName>style.visibility</p:attrName>
                                        </p:attrNameLst>
                                      </p:cBhvr>
                                      <p:to>
                                        <p:strVal val="visible"/>
                                      </p:to>
                                    </p:set>
                                    <p:anim calcmode="lin" valueType="num">
                                      <p:cBhvr additive="base">
                                        <p:cTn id="53" dur="500" fill="hold"/>
                                        <p:tgtEl>
                                          <p:spTgt spid="12"/>
                                        </p:tgtEl>
                                        <p:attrNameLst>
                                          <p:attrName>ppt_x</p:attrName>
                                        </p:attrNameLst>
                                      </p:cBhvr>
                                      <p:tavLst>
                                        <p:tav tm="0">
                                          <p:val>
                                            <p:strVal val="0-#ppt_w/2"/>
                                          </p:val>
                                        </p:tav>
                                        <p:tav tm="100000">
                                          <p:val>
                                            <p:strVal val="#ppt_x"/>
                                          </p:val>
                                        </p:tav>
                                      </p:tavLst>
                                    </p:anim>
                                    <p:anim calcmode="lin" valueType="num">
                                      <p:cBhvr additive="base">
                                        <p:cTn id="54"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8" grpId="0" autoUpdateAnimBg="0"/>
      <p:bldP spid="9" grpId="0" autoUpdateAnimBg="0"/>
      <p:bldP spid="10"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4" name="Rectangle 2"/>
          <p:cNvSpPr>
            <a:spLocks noChangeArrowheads="1"/>
          </p:cNvSpPr>
          <p:nvPr/>
        </p:nvSpPr>
        <p:spPr bwMode="auto">
          <a:xfrm>
            <a:off x="4137025" y="1989485"/>
            <a:ext cx="38163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spcBef>
                <a:spcPct val="50000"/>
              </a:spcBef>
              <a:buFontTx/>
              <a:buNone/>
            </a:pPr>
            <a:r>
              <a:rPr lang="en-US" altLang="zh-CN" sz="2400"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解：</a:t>
            </a:r>
            <a:r>
              <a:rPr lang="en-US" altLang="zh-CN" sz="2400" dirty="0">
                <a:latin typeface="Times New Roman" pitchFamily="18" charset="0"/>
                <a:ea typeface="楷体_GB2312" pitchFamily="49" charset="-122"/>
              </a:rPr>
              <a:t>(1)</a:t>
            </a:r>
            <a:r>
              <a:rPr lang="en-US" altLang="zh-CN" sz="2400"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确定基本未知量，结点</a:t>
            </a:r>
            <a:r>
              <a:rPr lang="en-US" altLang="zh-CN" sz="2400" i="1" dirty="0">
                <a:latin typeface="Times New Roman" pitchFamily="18" charset="0"/>
                <a:ea typeface="楷体_GB2312" pitchFamily="49" charset="-122"/>
              </a:rPr>
              <a:t>B</a:t>
            </a:r>
            <a:r>
              <a:rPr lang="zh-CN" altLang="en-US" sz="2400" dirty="0">
                <a:latin typeface="楷体_GB2312" pitchFamily="49" charset="-122"/>
                <a:ea typeface="楷体_GB2312" pitchFamily="49" charset="-122"/>
              </a:rPr>
              <a:t>的角位移</a:t>
            </a:r>
            <a:r>
              <a:rPr lang="en-US" altLang="zh-CN" sz="2400" i="1" dirty="0">
                <a:solidFill>
                  <a:srgbClr val="FF00FF"/>
                </a:solidFill>
                <a:latin typeface="Times New Roman" pitchFamily="18" charset="0"/>
                <a:ea typeface="仿宋_GB2312" pitchFamily="49" charset="-122"/>
              </a:rPr>
              <a:t>Z</a:t>
            </a:r>
            <a:r>
              <a:rPr lang="en-US" altLang="zh-CN" sz="2400" baseline="-25000" dirty="0">
                <a:solidFill>
                  <a:srgbClr val="FF00FF"/>
                </a:solidFill>
                <a:latin typeface="Times New Roman" pitchFamily="18" charset="0"/>
                <a:ea typeface="仿宋_GB2312" pitchFamily="49" charset="-122"/>
              </a:rPr>
              <a:t>1</a:t>
            </a:r>
            <a:r>
              <a:rPr lang="zh-CN" altLang="en-US" sz="2400" dirty="0">
                <a:latin typeface="Times New Roman" pitchFamily="18" charset="0"/>
                <a:ea typeface="仿宋_GB2312" pitchFamily="49" charset="-122"/>
              </a:rPr>
              <a:t>。</a:t>
            </a:r>
            <a:endParaRPr lang="zh-CN" altLang="en-US" sz="2400" dirty="0">
              <a:latin typeface="Times New Roman" pitchFamily="18" charset="0"/>
            </a:endParaRPr>
          </a:p>
        </p:txBody>
      </p:sp>
      <p:graphicFrame>
        <p:nvGraphicFramePr>
          <p:cNvPr id="5" name="Object 3"/>
          <p:cNvGraphicFramePr>
            <a:graphicFrameLocks noChangeAspect="1"/>
          </p:cNvGraphicFramePr>
          <p:nvPr>
            <p:extLst>
              <p:ext uri="{D42A27DB-BD31-4B8C-83A1-F6EECF244321}">
                <p14:modId xmlns:p14="http://schemas.microsoft.com/office/powerpoint/2010/main" val="2128926318"/>
              </p:ext>
            </p:extLst>
          </p:nvPr>
        </p:nvGraphicFramePr>
        <p:xfrm>
          <a:off x="700088" y="1640235"/>
          <a:ext cx="3435350" cy="2024063"/>
        </p:xfrm>
        <a:graphic>
          <a:graphicData uri="http://schemas.openxmlformats.org/presentationml/2006/ole">
            <mc:AlternateContent xmlns:mc="http://schemas.openxmlformats.org/markup-compatibility/2006">
              <mc:Choice xmlns:v="urn:schemas-microsoft-com:vml" Requires="v">
                <p:oleObj spid="_x0000_s84298" name="AutoCAD Drawing" r:id="rId4" imgW="8943975" imgH="4981575" progId="AutoCAD.Drawing.16">
                  <p:embed/>
                </p:oleObj>
              </mc:Choice>
              <mc:Fallback>
                <p:oleObj name="AutoCAD Drawing" r:id="rId4" imgW="8943975" imgH="4981575" progId="AutoCAD.Drawing.1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l="3291" t="24478" r="51131" b="27063"/>
                      <a:stretch>
                        <a:fillRect/>
                      </a:stretch>
                    </p:blipFill>
                    <p:spPr bwMode="auto">
                      <a:xfrm>
                        <a:off x="700088" y="1640235"/>
                        <a:ext cx="3435350" cy="202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4"/>
          <p:cNvSpPr>
            <a:spLocks noChangeArrowheads="1"/>
          </p:cNvSpPr>
          <p:nvPr/>
        </p:nvSpPr>
        <p:spPr bwMode="auto">
          <a:xfrm>
            <a:off x="723900" y="1268760"/>
            <a:ext cx="769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spcBef>
                <a:spcPct val="50000"/>
              </a:spcBef>
              <a:buFontTx/>
              <a:buNone/>
            </a:pPr>
            <a:r>
              <a:rPr lang="zh-CN" altLang="en-US" sz="2400" dirty="0">
                <a:latin typeface="楷体_GB2312" pitchFamily="49" charset="-122"/>
                <a:ea typeface="楷体_GB2312" pitchFamily="49" charset="-122"/>
              </a:rPr>
              <a:t>例</a:t>
            </a:r>
            <a:r>
              <a:rPr lang="en-US" altLang="zh-CN" sz="2400" dirty="0">
                <a:latin typeface="Times New Roman" pitchFamily="18" charset="0"/>
                <a:ea typeface="楷体_GB2312" pitchFamily="49" charset="-122"/>
              </a:rPr>
              <a:t>2</a:t>
            </a:r>
            <a:r>
              <a:rPr lang="en-US" altLang="zh-CN" sz="2400"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用位移法计算图</a:t>
            </a:r>
            <a:r>
              <a:rPr lang="zh-CN" altLang="en-US" sz="2400" dirty="0">
                <a:solidFill>
                  <a:schemeClr val="tx2"/>
                </a:solidFill>
                <a:latin typeface="楷体_GB2312" pitchFamily="49" charset="-122"/>
                <a:ea typeface="楷体_GB2312" pitchFamily="49" charset="-122"/>
              </a:rPr>
              <a:t>示的连续梁的内力。</a:t>
            </a:r>
            <a:r>
              <a:rPr lang="en-US" altLang="zh-CN" sz="2400" i="1" dirty="0">
                <a:latin typeface="Times New Roman" pitchFamily="18" charset="0"/>
                <a:ea typeface="仿宋_GB2312" pitchFamily="49" charset="-122"/>
              </a:rPr>
              <a:t>EI</a:t>
            </a:r>
            <a:r>
              <a:rPr lang="en-US" altLang="zh-CN" sz="2400" dirty="0">
                <a:latin typeface="Times New Roman" pitchFamily="18" charset="0"/>
                <a:ea typeface="仿宋_GB2312" pitchFamily="49" charset="-122"/>
              </a:rPr>
              <a:t>=</a:t>
            </a:r>
            <a:r>
              <a:rPr lang="zh-CN" altLang="en-US" sz="2400" dirty="0">
                <a:latin typeface="Times New Roman" pitchFamily="18" charset="0"/>
                <a:ea typeface="楷体_GB2312" pitchFamily="49" charset="-122"/>
              </a:rPr>
              <a:t>常数。</a:t>
            </a:r>
            <a:endParaRPr lang="zh-CN" altLang="en-US" sz="2400" b="0" dirty="0">
              <a:latin typeface="Times New Roman" pitchFamily="18" charset="0"/>
              <a:ea typeface="楷体_GB2312" pitchFamily="49" charset="-122"/>
            </a:endParaRPr>
          </a:p>
        </p:txBody>
      </p:sp>
      <p:graphicFrame>
        <p:nvGraphicFramePr>
          <p:cNvPr id="7" name="Object 5"/>
          <p:cNvGraphicFramePr>
            <a:graphicFrameLocks noChangeAspect="1"/>
          </p:cNvGraphicFramePr>
          <p:nvPr>
            <p:extLst>
              <p:ext uri="{D42A27DB-BD31-4B8C-83A1-F6EECF244321}">
                <p14:modId xmlns:p14="http://schemas.microsoft.com/office/powerpoint/2010/main" val="2502984199"/>
              </p:ext>
            </p:extLst>
          </p:nvPr>
        </p:nvGraphicFramePr>
        <p:xfrm>
          <a:off x="752475" y="3502373"/>
          <a:ext cx="3240088" cy="1171575"/>
        </p:xfrm>
        <a:graphic>
          <a:graphicData uri="http://schemas.openxmlformats.org/presentationml/2006/ole">
            <mc:AlternateContent xmlns:mc="http://schemas.openxmlformats.org/markup-compatibility/2006">
              <mc:Choice xmlns:v="urn:schemas-microsoft-com:vml" Requires="v">
                <p:oleObj spid="_x0000_s84299" name="AutoCAD Drawing" r:id="rId6" imgW="8905875" imgH="4905375" progId="AutoCAD.Drawing.16">
                  <p:embed/>
                </p:oleObj>
              </mc:Choice>
              <mc:Fallback>
                <p:oleObj name="AutoCAD Drawing" r:id="rId6" imgW="8905875" imgH="4905375" progId="AutoCAD.Drawing.1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l="6535" t="22969" r="45747" b="45485"/>
                      <a:stretch>
                        <a:fillRect/>
                      </a:stretch>
                    </p:blipFill>
                    <p:spPr bwMode="auto">
                      <a:xfrm>
                        <a:off x="752475" y="3502373"/>
                        <a:ext cx="3240088"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6"/>
          <p:cNvSpPr>
            <a:spLocks noChangeArrowheads="1"/>
          </p:cNvSpPr>
          <p:nvPr/>
        </p:nvSpPr>
        <p:spPr bwMode="auto">
          <a:xfrm>
            <a:off x="4064000" y="3142010"/>
            <a:ext cx="36734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en-US" altLang="zh-CN" sz="2400" b="0" dirty="0">
                <a:solidFill>
                  <a:schemeClr val="tx2"/>
                </a:solidFill>
                <a:latin typeface="楷体_GB2312" pitchFamily="49" charset="-122"/>
                <a:ea typeface="楷体_GB2312" pitchFamily="49" charset="-122"/>
              </a:rPr>
              <a:t>    </a:t>
            </a:r>
            <a:r>
              <a:rPr lang="en-US" altLang="zh-CN" sz="2400" dirty="0">
                <a:latin typeface="Times New Roman" pitchFamily="18" charset="0"/>
                <a:ea typeface="楷体_GB2312" pitchFamily="49" charset="-122"/>
              </a:rPr>
              <a:t>(2)</a:t>
            </a:r>
            <a:r>
              <a:rPr lang="en-US" altLang="zh-CN" sz="2400"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建立基本结构，得到基本体系。</a:t>
            </a:r>
          </a:p>
        </p:txBody>
      </p:sp>
      <p:sp>
        <p:nvSpPr>
          <p:cNvPr id="9" name="Rectangle 7"/>
          <p:cNvSpPr>
            <a:spLocks noChangeArrowheads="1"/>
          </p:cNvSpPr>
          <p:nvPr/>
        </p:nvSpPr>
        <p:spPr bwMode="auto">
          <a:xfrm>
            <a:off x="4640263" y="4581873"/>
            <a:ext cx="3924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en-US" altLang="zh-CN" sz="2400" dirty="0">
                <a:latin typeface="Times New Roman" pitchFamily="18" charset="0"/>
                <a:ea typeface="楷体_GB2312" pitchFamily="49" charset="-122"/>
              </a:rPr>
              <a:t>(3) </a:t>
            </a:r>
            <a:r>
              <a:rPr lang="zh-CN" altLang="en-US" sz="2400" dirty="0">
                <a:latin typeface="楷体_GB2312" pitchFamily="49" charset="-122"/>
                <a:ea typeface="楷体_GB2312" pitchFamily="49" charset="-122"/>
              </a:rPr>
              <a:t>建立位移法典型方程。</a:t>
            </a:r>
          </a:p>
        </p:txBody>
      </p:sp>
      <p:graphicFrame>
        <p:nvGraphicFramePr>
          <p:cNvPr id="10" name="Object 8"/>
          <p:cNvGraphicFramePr>
            <a:graphicFrameLocks noChangeAspect="1"/>
          </p:cNvGraphicFramePr>
          <p:nvPr>
            <p:extLst>
              <p:ext uri="{D42A27DB-BD31-4B8C-83A1-F6EECF244321}">
                <p14:modId xmlns:p14="http://schemas.microsoft.com/office/powerpoint/2010/main" val="4031689192"/>
              </p:ext>
            </p:extLst>
          </p:nvPr>
        </p:nvGraphicFramePr>
        <p:xfrm>
          <a:off x="5145088" y="5374035"/>
          <a:ext cx="1944687" cy="465138"/>
        </p:xfrm>
        <a:graphic>
          <a:graphicData uri="http://schemas.openxmlformats.org/presentationml/2006/ole">
            <mc:AlternateContent xmlns:mc="http://schemas.openxmlformats.org/markup-compatibility/2006">
              <mc:Choice xmlns:v="urn:schemas-microsoft-com:vml" Requires="v">
                <p:oleObj spid="_x0000_s84300" r:id="rId8" imgW="876271" imgH="190500" progId="Equation.3">
                  <p:embed/>
                </p:oleObj>
              </mc:Choice>
              <mc:Fallback>
                <p:oleObj r:id="rId8" imgW="876271" imgH="1905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45088" y="5374035"/>
                        <a:ext cx="194468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9"/>
          <p:cNvGraphicFramePr>
            <a:graphicFrameLocks noChangeAspect="1"/>
          </p:cNvGraphicFramePr>
          <p:nvPr>
            <p:extLst>
              <p:ext uri="{D42A27DB-BD31-4B8C-83A1-F6EECF244321}">
                <p14:modId xmlns:p14="http://schemas.microsoft.com/office/powerpoint/2010/main" val="2253753931"/>
              </p:ext>
            </p:extLst>
          </p:nvPr>
        </p:nvGraphicFramePr>
        <p:xfrm>
          <a:off x="711200" y="4704110"/>
          <a:ext cx="3733800" cy="1847850"/>
        </p:xfrm>
        <a:graphic>
          <a:graphicData uri="http://schemas.openxmlformats.org/presentationml/2006/ole">
            <mc:AlternateContent xmlns:mc="http://schemas.openxmlformats.org/markup-compatibility/2006">
              <mc:Choice xmlns:v="urn:schemas-microsoft-com:vml" Requires="v">
                <p:oleObj spid="_x0000_s84301" name="位图图像" r:id="rId10" imgW="3704762" imgH="1848108" progId="Paint.Picture">
                  <p:embed/>
                </p:oleObj>
              </mc:Choice>
              <mc:Fallback>
                <p:oleObj name="位图图像" r:id="rId10" imgW="3704762" imgH="1848108" progId="Paint.Picture">
                  <p:embed/>
                  <p:pic>
                    <p:nvPicPr>
                      <p:cNvPr id="0" name=""/>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11200" y="4704110"/>
                        <a:ext cx="3733800" cy="184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2945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Top)">
                                      <p:cBhvr>
                                        <p:cTn id="7" dur="500"/>
                                        <p:tgtEl>
                                          <p:spTgt spid="6"/>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randombar(horizontal)">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utoUpdateAnimBg="0"/>
      <p:bldP spid="8" grpId="0"/>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graphicFrame>
        <p:nvGraphicFramePr>
          <p:cNvPr id="4" name="Object 9"/>
          <p:cNvGraphicFramePr>
            <a:graphicFrameLocks noChangeAspect="1"/>
          </p:cNvGraphicFramePr>
          <p:nvPr>
            <p:extLst>
              <p:ext uri="{D42A27DB-BD31-4B8C-83A1-F6EECF244321}">
                <p14:modId xmlns:p14="http://schemas.microsoft.com/office/powerpoint/2010/main" val="1537115881"/>
              </p:ext>
            </p:extLst>
          </p:nvPr>
        </p:nvGraphicFramePr>
        <p:xfrm>
          <a:off x="4140200" y="5885656"/>
          <a:ext cx="2376488" cy="508000"/>
        </p:xfrm>
        <a:graphic>
          <a:graphicData uri="http://schemas.openxmlformats.org/presentationml/2006/ole">
            <mc:AlternateContent xmlns:mc="http://schemas.openxmlformats.org/markup-compatibility/2006">
              <mc:Choice xmlns:v="urn:schemas-microsoft-com:vml" Requires="v">
                <p:oleObj spid="_x0000_s85389" r:id="rId4" imgW="895335" imgH="171450" progId="Equation.3">
                  <p:embed/>
                </p:oleObj>
              </mc:Choice>
              <mc:Fallback>
                <p:oleObj r:id="rId4" imgW="895335" imgH="17145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0200" y="5885656"/>
                        <a:ext cx="237648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 name="Group 2"/>
          <p:cNvGrpSpPr>
            <a:grpSpLocks/>
          </p:cNvGrpSpPr>
          <p:nvPr/>
        </p:nvGrpSpPr>
        <p:grpSpPr bwMode="auto">
          <a:xfrm>
            <a:off x="2051050" y="1348580"/>
            <a:ext cx="4464050" cy="1128713"/>
            <a:chOff x="1202" y="572"/>
            <a:chExt cx="2812" cy="711"/>
          </a:xfrm>
        </p:grpSpPr>
        <p:sp>
          <p:nvSpPr>
            <p:cNvPr id="6" name="Text Box 3"/>
            <p:cNvSpPr txBox="1">
              <a:spLocks noChangeArrowheads="1"/>
            </p:cNvSpPr>
            <p:nvPr/>
          </p:nvSpPr>
          <p:spPr bwMode="auto">
            <a:xfrm>
              <a:off x="1202" y="572"/>
              <a:ext cx="2812" cy="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2400" dirty="0">
                  <a:latin typeface="Times New Roman" pitchFamily="18" charset="0"/>
                  <a:ea typeface="仿宋_GB2312" pitchFamily="49" charset="-122"/>
                </a:rPr>
                <a:t>（</a:t>
              </a:r>
              <a:r>
                <a:rPr lang="en-US" altLang="zh-CN" sz="2400" dirty="0">
                  <a:latin typeface="Times New Roman" pitchFamily="18" charset="0"/>
                  <a:ea typeface="仿宋_GB2312" pitchFamily="49" charset="-122"/>
                </a:rPr>
                <a:t>4</a:t>
              </a:r>
              <a:r>
                <a:rPr lang="zh-CN" altLang="en-US" sz="2400" dirty="0">
                  <a:latin typeface="Times New Roman" pitchFamily="18" charset="0"/>
                  <a:ea typeface="仿宋_GB2312" pitchFamily="49" charset="-122"/>
                </a:rPr>
                <a:t>）</a:t>
              </a:r>
              <a:r>
                <a:rPr lang="zh-CN" altLang="en-US" sz="2400" dirty="0">
                  <a:latin typeface="Times New Roman" pitchFamily="18" charset="0"/>
                  <a:ea typeface="楷体_GB2312" pitchFamily="49" charset="-122"/>
                </a:rPr>
                <a:t>计算系数和自由项。</a:t>
              </a:r>
            </a:p>
            <a:p>
              <a:pPr eaLnBrk="1" hangingPunct="1">
                <a:spcBef>
                  <a:spcPct val="50000"/>
                </a:spcBef>
                <a:buFontTx/>
                <a:buNone/>
              </a:pPr>
              <a:r>
                <a:rPr lang="zh-CN" altLang="en-US" sz="2400" dirty="0">
                  <a:latin typeface="Times New Roman" pitchFamily="18" charset="0"/>
                  <a:ea typeface="仿宋_GB2312" pitchFamily="49" charset="-122"/>
                </a:rPr>
                <a:t> </a:t>
              </a:r>
              <a:r>
                <a:rPr lang="zh-CN" altLang="en-US" sz="2400" dirty="0">
                  <a:latin typeface="Times New Roman" pitchFamily="18" charset="0"/>
                  <a:ea typeface="楷体_GB2312" pitchFamily="49" charset="-122"/>
                </a:rPr>
                <a:t>令</a:t>
              </a:r>
              <a:r>
                <a:rPr lang="zh-CN" altLang="en-US" sz="2400" dirty="0">
                  <a:latin typeface="Times New Roman" pitchFamily="18" charset="0"/>
                  <a:ea typeface="仿宋_GB2312" pitchFamily="49" charset="-122"/>
                </a:rPr>
                <a:t>               ，</a:t>
              </a:r>
              <a:r>
                <a:rPr lang="zh-CN" altLang="en-US" sz="2400" dirty="0">
                  <a:latin typeface="楷体_GB2312" pitchFamily="49" charset="-122"/>
                  <a:ea typeface="楷体_GB2312" pitchFamily="49" charset="-122"/>
                </a:rPr>
                <a:t>做出    图</a:t>
              </a:r>
              <a:r>
                <a:rPr lang="zh-CN" altLang="en-US" sz="2400" b="0" dirty="0">
                  <a:solidFill>
                    <a:schemeClr val="tx2"/>
                  </a:solidFill>
                  <a:latin typeface="楷体_GB2312" pitchFamily="49" charset="-122"/>
                  <a:ea typeface="楷体_GB2312" pitchFamily="49" charset="-122"/>
                </a:rPr>
                <a:t>  </a:t>
              </a:r>
            </a:p>
          </p:txBody>
        </p:sp>
        <p:graphicFrame>
          <p:nvGraphicFramePr>
            <p:cNvPr id="7" name="Object 4"/>
            <p:cNvGraphicFramePr>
              <a:graphicFrameLocks noChangeAspect="1"/>
            </p:cNvGraphicFramePr>
            <p:nvPr/>
          </p:nvGraphicFramePr>
          <p:xfrm>
            <a:off x="1565" y="799"/>
            <a:ext cx="680" cy="484"/>
          </p:xfrm>
          <a:graphic>
            <a:graphicData uri="http://schemas.openxmlformats.org/presentationml/2006/ole">
              <mc:AlternateContent xmlns:mc="http://schemas.openxmlformats.org/markup-compatibility/2006">
                <mc:Choice xmlns:v="urn:schemas-microsoft-com:vml" Requires="v">
                  <p:oleObj spid="_x0000_s85390" r:id="rId6" imgW="419071" imgH="361950" progId="Equation.3">
                    <p:embed/>
                  </p:oleObj>
                </mc:Choice>
                <mc:Fallback>
                  <p:oleObj r:id="rId6" imgW="419071" imgH="36195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65" y="799"/>
                          <a:ext cx="680"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5"/>
            <p:cNvGraphicFramePr>
              <a:graphicFrameLocks noChangeAspect="1"/>
            </p:cNvGraphicFramePr>
            <p:nvPr/>
          </p:nvGraphicFramePr>
          <p:xfrm>
            <a:off x="2789" y="890"/>
            <a:ext cx="362" cy="317"/>
          </p:xfrm>
          <a:graphic>
            <a:graphicData uri="http://schemas.openxmlformats.org/presentationml/2006/ole">
              <mc:AlternateContent xmlns:mc="http://schemas.openxmlformats.org/markup-compatibility/2006">
                <mc:Choice xmlns:v="urn:schemas-microsoft-com:vml" Requires="v">
                  <p:oleObj spid="_x0000_s85391" name="Equation" r:id="rId8" imgW="200179" imgH="200025" progId="Equation.3">
                    <p:embed/>
                  </p:oleObj>
                </mc:Choice>
                <mc:Fallback>
                  <p:oleObj name="Equation" r:id="rId8" imgW="200179" imgH="200025"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89" y="890"/>
                          <a:ext cx="362"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9" name="Object 6"/>
          <p:cNvGraphicFramePr>
            <a:graphicFrameLocks noChangeAspect="1"/>
          </p:cNvGraphicFramePr>
          <p:nvPr>
            <p:extLst>
              <p:ext uri="{D42A27DB-BD31-4B8C-83A1-F6EECF244321}">
                <p14:modId xmlns:p14="http://schemas.microsoft.com/office/powerpoint/2010/main" val="2237226048"/>
              </p:ext>
            </p:extLst>
          </p:nvPr>
        </p:nvGraphicFramePr>
        <p:xfrm>
          <a:off x="971550" y="2356643"/>
          <a:ext cx="4824413" cy="1544637"/>
        </p:xfrm>
        <a:graphic>
          <a:graphicData uri="http://schemas.openxmlformats.org/presentationml/2006/ole">
            <mc:AlternateContent xmlns:mc="http://schemas.openxmlformats.org/markup-compatibility/2006">
              <mc:Choice xmlns:v="urn:schemas-microsoft-com:vml" Requires="v">
                <p:oleObj spid="_x0000_s85392" name="AutoCAD Drawing" r:id="rId10" imgW="7962900" imgH="4181475" progId="AutoCAD.Drawing.16">
                  <p:embed/>
                </p:oleObj>
              </mc:Choice>
              <mc:Fallback>
                <p:oleObj name="AutoCAD Drawing" r:id="rId10" imgW="7962900" imgH="4181475" progId="AutoCAD.Drawing.16">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l="3848" t="41904" r="21100" b="12398"/>
                      <a:stretch>
                        <a:fillRect/>
                      </a:stretch>
                    </p:blipFill>
                    <p:spPr bwMode="auto">
                      <a:xfrm>
                        <a:off x="971550" y="2356643"/>
                        <a:ext cx="4824413" cy="154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7"/>
          <p:cNvGraphicFramePr>
            <a:graphicFrameLocks noChangeAspect="1"/>
          </p:cNvGraphicFramePr>
          <p:nvPr>
            <p:extLst>
              <p:ext uri="{D42A27DB-BD31-4B8C-83A1-F6EECF244321}">
                <p14:modId xmlns:p14="http://schemas.microsoft.com/office/powerpoint/2010/main" val="3418712458"/>
              </p:ext>
            </p:extLst>
          </p:nvPr>
        </p:nvGraphicFramePr>
        <p:xfrm>
          <a:off x="2555875" y="3798093"/>
          <a:ext cx="2089150" cy="1627187"/>
        </p:xfrm>
        <a:graphic>
          <a:graphicData uri="http://schemas.openxmlformats.org/presentationml/2006/ole">
            <mc:AlternateContent xmlns:mc="http://schemas.openxmlformats.org/markup-compatibility/2006">
              <mc:Choice xmlns:v="urn:schemas-microsoft-com:vml" Requires="v">
                <p:oleObj spid="_x0000_s85393" r:id="rId12" imgW="9058275" imgH="4600575" progId="AutoCAD.Drawing.16">
                  <p:embed/>
                </p:oleObj>
              </mc:Choice>
              <mc:Fallback>
                <p:oleObj r:id="rId12" imgW="9058275" imgH="4600575" progId="AutoCAD.Drawing.16">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l="17172" t="20074" r="51093" b="31061"/>
                      <a:stretch>
                        <a:fillRect/>
                      </a:stretch>
                    </p:blipFill>
                    <p:spPr bwMode="auto">
                      <a:xfrm>
                        <a:off x="2555875" y="3798093"/>
                        <a:ext cx="2089150" cy="162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8"/>
          <p:cNvSpPr>
            <a:spLocks noChangeArrowheads="1"/>
          </p:cNvSpPr>
          <p:nvPr/>
        </p:nvSpPr>
        <p:spPr bwMode="auto">
          <a:xfrm>
            <a:off x="1763713" y="5382418"/>
            <a:ext cx="568801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0"/>
              </a:spcBef>
              <a:buFontTx/>
              <a:buNone/>
            </a:pPr>
            <a:r>
              <a:rPr lang="en-US" altLang="zh-CN" sz="2400">
                <a:latin typeface="楷体_GB2312" pitchFamily="49" charset="-122"/>
                <a:ea typeface="楷体_GB2312" pitchFamily="49" charset="-122"/>
              </a:rPr>
              <a:t>    </a:t>
            </a:r>
            <a:r>
              <a:rPr lang="zh-CN" altLang="en-US" sz="2400">
                <a:latin typeface="楷体_GB2312" pitchFamily="49" charset="-122"/>
                <a:ea typeface="楷体_GB2312" pitchFamily="49" charset="-122"/>
              </a:rPr>
              <a:t>由隔离体</a:t>
            </a:r>
            <a:r>
              <a:rPr lang="en-US" altLang="zh-CN" sz="2400">
                <a:latin typeface="Times New Roman" pitchFamily="18" charset="0"/>
                <a:ea typeface="楷体_GB2312" pitchFamily="49" charset="-122"/>
              </a:rPr>
              <a:t>——</a:t>
            </a:r>
            <a:r>
              <a:rPr lang="zh-CN" altLang="en-US" sz="2400">
                <a:latin typeface="楷体_GB2312" pitchFamily="49" charset="-122"/>
                <a:ea typeface="楷体_GB2312" pitchFamily="49" charset="-122"/>
              </a:rPr>
              <a:t>结点</a:t>
            </a:r>
            <a:r>
              <a:rPr lang="en-US" altLang="zh-CN" sz="2400" i="1">
                <a:latin typeface="Times New Roman" pitchFamily="18" charset="0"/>
                <a:ea typeface="仿宋_GB2312" pitchFamily="49" charset="-122"/>
              </a:rPr>
              <a:t>B</a:t>
            </a:r>
            <a:r>
              <a:rPr lang="zh-CN" altLang="en-US" sz="2400">
                <a:latin typeface="楷体_GB2312" pitchFamily="49" charset="-122"/>
                <a:ea typeface="楷体_GB2312" pitchFamily="49" charset="-122"/>
              </a:rPr>
              <a:t>的力矩平衡条件</a:t>
            </a:r>
            <a:r>
              <a:rPr lang="zh-CN" altLang="en-US" sz="2400">
                <a:solidFill>
                  <a:srgbClr val="FF00FF"/>
                </a:solidFill>
                <a:latin typeface="Times New Roman" pitchFamily="18" charset="0"/>
                <a:ea typeface="仿宋_GB2312" pitchFamily="49" charset="-122"/>
              </a:rPr>
              <a:t>∑</a:t>
            </a:r>
            <a:r>
              <a:rPr lang="en-US" altLang="zh-CN" sz="2400" i="1">
                <a:solidFill>
                  <a:srgbClr val="FF00FF"/>
                </a:solidFill>
                <a:latin typeface="Times New Roman" pitchFamily="18" charset="0"/>
                <a:ea typeface="仿宋_GB2312" pitchFamily="49" charset="-122"/>
              </a:rPr>
              <a:t>M</a:t>
            </a:r>
            <a:r>
              <a:rPr lang="en-US" altLang="zh-CN" sz="2400" baseline="-25000">
                <a:solidFill>
                  <a:srgbClr val="FF00FF"/>
                </a:solidFill>
                <a:latin typeface="Times New Roman" pitchFamily="18" charset="0"/>
                <a:ea typeface="仿宋_GB2312" pitchFamily="49" charset="-122"/>
              </a:rPr>
              <a:t>B</a:t>
            </a:r>
            <a:r>
              <a:rPr lang="en-US" altLang="zh-CN" sz="2400">
                <a:solidFill>
                  <a:srgbClr val="FF00FF"/>
                </a:solidFill>
                <a:latin typeface="Times New Roman" pitchFamily="18" charset="0"/>
                <a:ea typeface="仿宋_GB2312" pitchFamily="49" charset="-122"/>
              </a:rPr>
              <a:t>=0</a:t>
            </a:r>
            <a:r>
              <a:rPr lang="en-US" altLang="zh-CN" sz="2400">
                <a:latin typeface="仿宋_GB2312" pitchFamily="49" charset="-122"/>
                <a:ea typeface="仿宋_GB2312" pitchFamily="49" charset="-122"/>
              </a:rPr>
              <a:t> </a:t>
            </a:r>
            <a:r>
              <a:rPr lang="zh-CN" altLang="en-US" sz="2400">
                <a:latin typeface="楷体_GB2312" pitchFamily="49" charset="-122"/>
                <a:ea typeface="楷体_GB2312" pitchFamily="49" charset="-122"/>
              </a:rPr>
              <a:t>，得      </a:t>
            </a:r>
          </a:p>
        </p:txBody>
      </p:sp>
    </p:spTree>
    <p:extLst>
      <p:ext uri="{BB962C8B-B14F-4D97-AF65-F5344CB8AC3E}">
        <p14:creationId xmlns:p14="http://schemas.microsoft.com/office/powerpoint/2010/main" val="342945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Bottom)">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Bottom)">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slide(from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1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slide(fromTop)">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graphicFrame>
        <p:nvGraphicFramePr>
          <p:cNvPr id="4" name="Object 2"/>
          <p:cNvGraphicFramePr>
            <a:graphicFrameLocks noChangeAspect="1"/>
          </p:cNvGraphicFramePr>
          <p:nvPr>
            <p:extLst>
              <p:ext uri="{D42A27DB-BD31-4B8C-83A1-F6EECF244321}">
                <p14:modId xmlns:p14="http://schemas.microsoft.com/office/powerpoint/2010/main" val="1385240795"/>
              </p:ext>
            </p:extLst>
          </p:nvPr>
        </p:nvGraphicFramePr>
        <p:xfrm>
          <a:off x="3851325" y="1293813"/>
          <a:ext cx="4391025" cy="2325687"/>
        </p:xfrm>
        <a:graphic>
          <a:graphicData uri="http://schemas.openxmlformats.org/presentationml/2006/ole">
            <mc:AlternateContent xmlns:mc="http://schemas.openxmlformats.org/markup-compatibility/2006">
              <mc:Choice xmlns:v="urn:schemas-microsoft-com:vml" Requires="v">
                <p:oleObj spid="_x0000_s86408" name="AutoCAD Drawing" r:id="rId4" imgW="8905875" imgH="4905375" progId="AutoCAD.Drawing.16">
                  <p:embed/>
                </p:oleObj>
              </mc:Choice>
              <mc:Fallback>
                <p:oleObj name="AutoCAD Drawing" r:id="rId4" imgW="8905875" imgH="4905375" progId="AutoCAD.Drawing.1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l="10463" t="20863" r="30078" b="20941"/>
                      <a:stretch>
                        <a:fillRect/>
                      </a:stretch>
                    </p:blipFill>
                    <p:spPr bwMode="auto">
                      <a:xfrm>
                        <a:off x="3851325" y="1293813"/>
                        <a:ext cx="4391025" cy="232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4"/>
          <p:cNvSpPr>
            <a:spLocks noChangeArrowheads="1"/>
          </p:cNvSpPr>
          <p:nvPr/>
        </p:nvSpPr>
        <p:spPr bwMode="auto">
          <a:xfrm>
            <a:off x="971600" y="1438275"/>
            <a:ext cx="3311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2400">
                <a:latin typeface="Times New Roman" pitchFamily="18" charset="0"/>
                <a:ea typeface="楷体_GB2312" pitchFamily="49" charset="-122"/>
              </a:rPr>
              <a:t>作出</a:t>
            </a:r>
            <a:r>
              <a:rPr lang="en-US" altLang="zh-CN" sz="2400" i="1">
                <a:solidFill>
                  <a:srgbClr val="FF00FF"/>
                </a:solidFill>
                <a:latin typeface="Times New Roman" pitchFamily="18" charset="0"/>
                <a:ea typeface="楷体_GB2312" pitchFamily="49" charset="-122"/>
              </a:rPr>
              <a:t>M</a:t>
            </a:r>
            <a:r>
              <a:rPr lang="en-US" altLang="zh-CN" sz="2400" baseline="-25000">
                <a:solidFill>
                  <a:srgbClr val="FF00FF"/>
                </a:solidFill>
                <a:latin typeface="Times New Roman" pitchFamily="18" charset="0"/>
                <a:ea typeface="楷体_GB2312" pitchFamily="49" charset="-122"/>
              </a:rPr>
              <a:t>P</a:t>
            </a:r>
            <a:r>
              <a:rPr lang="zh-CN" altLang="en-US" sz="2400">
                <a:latin typeface="Times New Roman" pitchFamily="18" charset="0"/>
                <a:ea typeface="楷体_GB2312" pitchFamily="49" charset="-122"/>
              </a:rPr>
              <a:t>图（查表）</a:t>
            </a:r>
          </a:p>
        </p:txBody>
      </p:sp>
      <p:graphicFrame>
        <p:nvGraphicFramePr>
          <p:cNvPr id="6" name="Object 5"/>
          <p:cNvGraphicFramePr>
            <a:graphicFrameLocks noChangeAspect="1"/>
          </p:cNvGraphicFramePr>
          <p:nvPr>
            <p:extLst>
              <p:ext uri="{D42A27DB-BD31-4B8C-83A1-F6EECF244321}">
                <p14:modId xmlns:p14="http://schemas.microsoft.com/office/powerpoint/2010/main" val="2868730340"/>
              </p:ext>
            </p:extLst>
          </p:nvPr>
        </p:nvGraphicFramePr>
        <p:xfrm>
          <a:off x="5002263" y="3525838"/>
          <a:ext cx="2160587" cy="1533525"/>
        </p:xfrm>
        <a:graphic>
          <a:graphicData uri="http://schemas.openxmlformats.org/presentationml/2006/ole">
            <mc:AlternateContent xmlns:mc="http://schemas.openxmlformats.org/markup-compatibility/2006">
              <mc:Choice xmlns:v="urn:schemas-microsoft-com:vml" Requires="v">
                <p:oleObj spid="_x0000_s86409" name="Drawing" r:id="rId6" imgW="9058275" imgH="4953000" progId="AutoCAD.Drawing.16">
                  <p:embed/>
                </p:oleObj>
              </mc:Choice>
              <mc:Fallback>
                <p:oleObj name="Drawing" r:id="rId6" imgW="9058275" imgH="4953000" progId="AutoCAD.Drawing.1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l="24112" t="38043" r="55515" b="35359"/>
                      <a:stretch>
                        <a:fillRect/>
                      </a:stretch>
                    </p:blipFill>
                    <p:spPr bwMode="auto">
                      <a:xfrm>
                        <a:off x="5002263" y="3525838"/>
                        <a:ext cx="2160587"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836645071"/>
              </p:ext>
            </p:extLst>
          </p:nvPr>
        </p:nvGraphicFramePr>
        <p:xfrm>
          <a:off x="1619300" y="3309938"/>
          <a:ext cx="2303463" cy="461962"/>
        </p:xfrm>
        <a:graphic>
          <a:graphicData uri="http://schemas.openxmlformats.org/presentationml/2006/ole">
            <mc:AlternateContent xmlns:mc="http://schemas.openxmlformats.org/markup-compatibility/2006">
              <mc:Choice xmlns:v="urn:schemas-microsoft-com:vml" Requires="v">
                <p:oleObj spid="_x0000_s86410" r:id="rId8" imgW="1047853" imgH="190500" progId="Equation.3">
                  <p:embed/>
                </p:oleObj>
              </mc:Choice>
              <mc:Fallback>
                <p:oleObj r:id="rId8" imgW="1047853" imgH="1905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19300" y="3309938"/>
                        <a:ext cx="23034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3121765993"/>
              </p:ext>
            </p:extLst>
          </p:nvPr>
        </p:nvGraphicFramePr>
        <p:xfrm>
          <a:off x="1619300" y="3957638"/>
          <a:ext cx="2016125" cy="428625"/>
        </p:xfrm>
        <a:graphic>
          <a:graphicData uri="http://schemas.openxmlformats.org/presentationml/2006/ole">
            <mc:AlternateContent xmlns:mc="http://schemas.openxmlformats.org/markup-compatibility/2006">
              <mc:Choice xmlns:v="urn:schemas-microsoft-com:vml" Requires="v">
                <p:oleObj spid="_x0000_s86411" name="Equation" r:id="rId10" imgW="990659" imgH="190500" progId="Equation.3">
                  <p:embed/>
                </p:oleObj>
              </mc:Choice>
              <mc:Fallback>
                <p:oleObj name="Equation" r:id="rId10" imgW="990659" imgH="1905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19300" y="3957638"/>
                        <a:ext cx="2016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8"/>
          <p:cNvSpPr>
            <a:spLocks noChangeArrowheads="1"/>
          </p:cNvSpPr>
          <p:nvPr/>
        </p:nvSpPr>
        <p:spPr bwMode="auto">
          <a:xfrm>
            <a:off x="611238" y="2590800"/>
            <a:ext cx="414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en-US" altLang="zh-CN" sz="2400">
                <a:latin typeface="Times New Roman" pitchFamily="18" charset="0"/>
                <a:ea typeface="楷体_GB2312" pitchFamily="49" charset="-122"/>
              </a:rPr>
              <a:t> </a:t>
            </a:r>
            <a:r>
              <a:rPr lang="zh-CN" altLang="en-US" sz="2400">
                <a:latin typeface="Times New Roman" pitchFamily="18" charset="0"/>
                <a:ea typeface="楷体_GB2312" pitchFamily="49" charset="-122"/>
              </a:rPr>
              <a:t>由</a:t>
            </a:r>
            <a:r>
              <a:rPr lang="zh-CN" altLang="en-US" sz="2400">
                <a:solidFill>
                  <a:srgbClr val="FF00FF"/>
                </a:solidFill>
                <a:latin typeface="Times New Roman" pitchFamily="18" charset="0"/>
                <a:ea typeface="楷体_GB2312" pitchFamily="49" charset="-122"/>
              </a:rPr>
              <a:t>∑</a:t>
            </a:r>
            <a:r>
              <a:rPr lang="en-US" altLang="zh-CN" sz="2400" b="0" i="1">
                <a:solidFill>
                  <a:srgbClr val="FF00FF"/>
                </a:solidFill>
                <a:latin typeface="Times New Roman" pitchFamily="18" charset="0"/>
                <a:ea typeface="楷体_GB2312" pitchFamily="49" charset="-122"/>
              </a:rPr>
              <a:t>M</a:t>
            </a:r>
            <a:r>
              <a:rPr lang="en-US" altLang="zh-CN" sz="2400" b="0" baseline="-25000">
                <a:solidFill>
                  <a:srgbClr val="FF00FF"/>
                </a:solidFill>
                <a:latin typeface="Times New Roman" pitchFamily="18" charset="0"/>
                <a:ea typeface="楷体_GB2312" pitchFamily="49" charset="-122"/>
              </a:rPr>
              <a:t>B</a:t>
            </a:r>
            <a:r>
              <a:rPr lang="en-US" altLang="zh-CN" sz="2400" b="0">
                <a:solidFill>
                  <a:srgbClr val="FF00FF"/>
                </a:solidFill>
                <a:latin typeface="Times New Roman" pitchFamily="18" charset="0"/>
                <a:ea typeface="楷体_GB2312" pitchFamily="49" charset="-122"/>
              </a:rPr>
              <a:t>=0</a:t>
            </a:r>
            <a:r>
              <a:rPr lang="en-US" altLang="zh-CN" sz="2400">
                <a:latin typeface="Times New Roman" pitchFamily="18" charset="0"/>
                <a:ea typeface="仿宋_GB2312" pitchFamily="49" charset="-122"/>
              </a:rPr>
              <a:t> </a:t>
            </a:r>
          </a:p>
        </p:txBody>
      </p:sp>
      <p:sp>
        <p:nvSpPr>
          <p:cNvPr id="10" name="Rectangle 9"/>
          <p:cNvSpPr>
            <a:spLocks noChangeArrowheads="1"/>
          </p:cNvSpPr>
          <p:nvPr/>
        </p:nvSpPr>
        <p:spPr bwMode="auto">
          <a:xfrm>
            <a:off x="1116063" y="2058988"/>
            <a:ext cx="27892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2400">
                <a:latin typeface="楷体_GB2312" pitchFamily="49" charset="-122"/>
                <a:ea typeface="楷体_GB2312" pitchFamily="49" charset="-122"/>
              </a:rPr>
              <a:t>取结点</a:t>
            </a:r>
            <a:r>
              <a:rPr lang="en-US" altLang="zh-CN" sz="2400" i="1">
                <a:latin typeface="楷体_GB2312" pitchFamily="49" charset="-122"/>
                <a:ea typeface="楷体_GB2312" pitchFamily="49" charset="-122"/>
              </a:rPr>
              <a:t>B</a:t>
            </a:r>
            <a:r>
              <a:rPr lang="zh-CN" altLang="en-US" sz="2400">
                <a:latin typeface="楷体_GB2312" pitchFamily="49" charset="-122"/>
                <a:ea typeface="楷体_GB2312" pitchFamily="49" charset="-122"/>
              </a:rPr>
              <a:t>为隔离体，</a:t>
            </a:r>
          </a:p>
        </p:txBody>
      </p:sp>
      <p:sp>
        <p:nvSpPr>
          <p:cNvPr id="11" name="Rectangle 10"/>
          <p:cNvSpPr>
            <a:spLocks noChangeArrowheads="1"/>
          </p:cNvSpPr>
          <p:nvPr/>
        </p:nvSpPr>
        <p:spPr bwMode="auto">
          <a:xfrm>
            <a:off x="1187500" y="5110163"/>
            <a:ext cx="59531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2400">
                <a:latin typeface="Times New Roman" pitchFamily="18" charset="0"/>
                <a:ea typeface="楷体_GB2312" pitchFamily="49" charset="-122"/>
              </a:rPr>
              <a:t>将系数</a:t>
            </a:r>
            <a:r>
              <a:rPr lang="en-US" altLang="zh-CN" sz="2400" i="1">
                <a:solidFill>
                  <a:srgbClr val="FF00FF"/>
                </a:solidFill>
                <a:latin typeface="Times New Roman" pitchFamily="18" charset="0"/>
                <a:ea typeface="仿宋_GB2312" pitchFamily="49" charset="-122"/>
              </a:rPr>
              <a:t>r</a:t>
            </a:r>
            <a:r>
              <a:rPr lang="en-US" altLang="zh-CN" sz="2400" baseline="-25000">
                <a:solidFill>
                  <a:srgbClr val="FF00FF"/>
                </a:solidFill>
                <a:latin typeface="Times New Roman" pitchFamily="18" charset="0"/>
                <a:ea typeface="仿宋_GB2312" pitchFamily="49" charset="-122"/>
              </a:rPr>
              <a:t>11</a:t>
            </a:r>
            <a:r>
              <a:rPr lang="zh-CN" altLang="en-US" sz="2400">
                <a:latin typeface="Times New Roman" pitchFamily="18" charset="0"/>
                <a:ea typeface="楷体_GB2312" pitchFamily="49" charset="-122"/>
              </a:rPr>
              <a:t>和自由项</a:t>
            </a:r>
            <a:r>
              <a:rPr lang="en-US" altLang="zh-CN" sz="2400" i="1">
                <a:solidFill>
                  <a:srgbClr val="FF00FF"/>
                </a:solidFill>
                <a:latin typeface="Times New Roman" pitchFamily="18" charset="0"/>
                <a:ea typeface="仿宋_GB2312" pitchFamily="49" charset="-122"/>
              </a:rPr>
              <a:t>R</a:t>
            </a:r>
            <a:r>
              <a:rPr lang="en-US" altLang="zh-CN" sz="2400" baseline="-25000">
                <a:solidFill>
                  <a:srgbClr val="FF00FF"/>
                </a:solidFill>
                <a:latin typeface="Times New Roman" pitchFamily="18" charset="0"/>
                <a:ea typeface="仿宋_GB2312" pitchFamily="49" charset="-122"/>
              </a:rPr>
              <a:t>1P</a:t>
            </a:r>
            <a:r>
              <a:rPr lang="zh-CN" altLang="en-US" sz="2400">
                <a:latin typeface="Times New Roman" pitchFamily="18" charset="0"/>
                <a:ea typeface="楷体_GB2312" pitchFamily="49" charset="-122"/>
              </a:rPr>
              <a:t>代入位移法方程，解得</a:t>
            </a:r>
            <a:endParaRPr lang="zh-CN" altLang="en-US" sz="2400" b="0">
              <a:latin typeface="Times New Roman" pitchFamily="18" charset="0"/>
              <a:ea typeface="楷体_GB2312" pitchFamily="49" charset="-122"/>
            </a:endParaRPr>
          </a:p>
        </p:txBody>
      </p:sp>
      <p:graphicFrame>
        <p:nvGraphicFramePr>
          <p:cNvPr id="12" name="Object 11"/>
          <p:cNvGraphicFramePr>
            <a:graphicFrameLocks noChangeAspect="1"/>
          </p:cNvGraphicFramePr>
          <p:nvPr>
            <p:extLst>
              <p:ext uri="{D42A27DB-BD31-4B8C-83A1-F6EECF244321}">
                <p14:modId xmlns:p14="http://schemas.microsoft.com/office/powerpoint/2010/main" val="175058105"/>
              </p:ext>
            </p:extLst>
          </p:nvPr>
        </p:nvGraphicFramePr>
        <p:xfrm>
          <a:off x="3130600" y="5559425"/>
          <a:ext cx="2665413" cy="919163"/>
        </p:xfrm>
        <a:graphic>
          <a:graphicData uri="http://schemas.openxmlformats.org/presentationml/2006/ole">
            <mc:AlternateContent xmlns:mc="http://schemas.openxmlformats.org/markup-compatibility/2006">
              <mc:Choice xmlns:v="urn:schemas-microsoft-com:vml" Requires="v">
                <p:oleObj spid="_x0000_s86412" r:id="rId12" imgW="1266744" imgH="419100" progId="Equation.3">
                  <p:embed/>
                </p:oleObj>
              </mc:Choice>
              <mc:Fallback>
                <p:oleObj r:id="rId12" imgW="1266744" imgH="4191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30600" y="5559425"/>
                        <a:ext cx="2665413" cy="91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12"/>
          <p:cNvSpPr>
            <a:spLocks noChangeArrowheads="1"/>
          </p:cNvSpPr>
          <p:nvPr/>
        </p:nvSpPr>
        <p:spPr bwMode="auto">
          <a:xfrm>
            <a:off x="1187500" y="4510088"/>
            <a:ext cx="3067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0"/>
              </a:spcBef>
              <a:buFontTx/>
              <a:buNone/>
            </a:pPr>
            <a:r>
              <a:rPr lang="en-US" altLang="zh-CN" sz="2400">
                <a:latin typeface="Times New Roman" pitchFamily="18" charset="0"/>
                <a:ea typeface="仿宋_GB2312" pitchFamily="49" charset="-122"/>
              </a:rPr>
              <a:t>(5) </a:t>
            </a:r>
            <a:r>
              <a:rPr lang="zh-CN" altLang="en-US" sz="2400">
                <a:latin typeface="Times New Roman" pitchFamily="18" charset="0"/>
                <a:ea typeface="楷体_GB2312" pitchFamily="49" charset="-122"/>
              </a:rPr>
              <a:t>解算位移法方程，</a:t>
            </a:r>
          </a:p>
        </p:txBody>
      </p:sp>
    </p:spTree>
    <p:extLst>
      <p:ext uri="{BB962C8B-B14F-4D97-AF65-F5344CB8AC3E}">
        <p14:creationId xmlns:p14="http://schemas.microsoft.com/office/powerpoint/2010/main" val="342945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1"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lide(fromTop)">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slide(fromBottom)">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1"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slide(fromTop)">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slide(fromBottom)">
                                      <p:cBhvr>
                                        <p:cTn id="30" dur="500"/>
                                        <p:tgtEl>
                                          <p:spTgt spid="8"/>
                                        </p:tgtEl>
                                      </p:cBhvr>
                                    </p:animEffect>
                                  </p:childTnLst>
                                </p:cTn>
                              </p:par>
                            </p:childTnLst>
                          </p:cTn>
                        </p:par>
                        <p:par>
                          <p:cTn id="31" fill="hold">
                            <p:stCondLst>
                              <p:cond delay="500"/>
                            </p:stCondLst>
                            <p:childTnLst>
                              <p:par>
                                <p:cTn id="32" presetID="12" presetClass="entr" presetSubtype="4" fill="hold"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slide(fromBottom)">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box(in)">
                                      <p:cBhvr>
                                        <p:cTn id="39" dur="5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11"/>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2" presetClass="entr" presetSubtype="4" fill="hold"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slide(fromBottom)">
                                      <p:cBhvr>
                                        <p:cTn id="4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9" grpId="0" autoUpdateAnimBg="0"/>
      <p:bldP spid="10" grpId="0" autoUpdateAnimBg="0"/>
      <p:bldP spid="11" grpId="0" autoUpdateAnimBg="0"/>
      <p:bldP spid="13"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graphicFrame>
        <p:nvGraphicFramePr>
          <p:cNvPr id="4" name="Object 2"/>
          <p:cNvGraphicFramePr>
            <a:graphicFrameLocks noChangeAspect="1"/>
          </p:cNvGraphicFramePr>
          <p:nvPr>
            <p:extLst>
              <p:ext uri="{D42A27DB-BD31-4B8C-83A1-F6EECF244321}">
                <p14:modId xmlns:p14="http://schemas.microsoft.com/office/powerpoint/2010/main" val="178363942"/>
              </p:ext>
            </p:extLst>
          </p:nvPr>
        </p:nvGraphicFramePr>
        <p:xfrm>
          <a:off x="1259880" y="3841600"/>
          <a:ext cx="2089150" cy="433388"/>
        </p:xfrm>
        <a:graphic>
          <a:graphicData uri="http://schemas.openxmlformats.org/presentationml/2006/ole">
            <mc:AlternateContent xmlns:mc="http://schemas.openxmlformats.org/markup-compatibility/2006">
              <mc:Choice xmlns:v="urn:schemas-microsoft-com:vml" Requires="v">
                <p:oleObj spid="_x0000_s87658" r:id="rId4" imgW="1028788" imgH="190500" progId="Equation.3">
                  <p:embed/>
                </p:oleObj>
              </mc:Choice>
              <mc:Fallback>
                <p:oleObj r:id="rId4" imgW="1028788" imgH="1905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9880" y="3841600"/>
                        <a:ext cx="20891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3"/>
          <p:cNvGraphicFramePr>
            <a:graphicFrameLocks noChangeAspect="1"/>
          </p:cNvGraphicFramePr>
          <p:nvPr>
            <p:extLst>
              <p:ext uri="{D42A27DB-BD31-4B8C-83A1-F6EECF244321}">
                <p14:modId xmlns:p14="http://schemas.microsoft.com/office/powerpoint/2010/main" val="3498241139"/>
              </p:ext>
            </p:extLst>
          </p:nvPr>
        </p:nvGraphicFramePr>
        <p:xfrm>
          <a:off x="1259880" y="4417863"/>
          <a:ext cx="2232025" cy="463550"/>
        </p:xfrm>
        <a:graphic>
          <a:graphicData uri="http://schemas.openxmlformats.org/presentationml/2006/ole">
            <mc:AlternateContent xmlns:mc="http://schemas.openxmlformats.org/markup-compatibility/2006">
              <mc:Choice xmlns:v="urn:schemas-microsoft-com:vml" Requires="v">
                <p:oleObj spid="_x0000_s87659" r:id="rId6" imgW="1028788" imgH="190500" progId="Equation.3">
                  <p:embed/>
                </p:oleObj>
              </mc:Choice>
              <mc:Fallback>
                <p:oleObj r:id="rId6" imgW="1028788" imgH="1905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9880" y="4417863"/>
                        <a:ext cx="22320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4"/>
          <p:cNvGraphicFramePr>
            <a:graphicFrameLocks noChangeAspect="1"/>
          </p:cNvGraphicFramePr>
          <p:nvPr>
            <p:extLst>
              <p:ext uri="{D42A27DB-BD31-4B8C-83A1-F6EECF244321}">
                <p14:modId xmlns:p14="http://schemas.microsoft.com/office/powerpoint/2010/main" val="943584073"/>
              </p:ext>
            </p:extLst>
          </p:nvPr>
        </p:nvGraphicFramePr>
        <p:xfrm>
          <a:off x="1188443" y="4994125"/>
          <a:ext cx="2376487" cy="474663"/>
        </p:xfrm>
        <a:graphic>
          <a:graphicData uri="http://schemas.openxmlformats.org/presentationml/2006/ole">
            <mc:AlternateContent xmlns:mc="http://schemas.openxmlformats.org/markup-compatibility/2006">
              <mc:Choice xmlns:v="urn:schemas-microsoft-com:vml" Requires="v">
                <p:oleObj spid="_x0000_s87660" r:id="rId8" imgW="1124112" imgH="200025" progId="Equation.3">
                  <p:embed/>
                </p:oleObj>
              </mc:Choice>
              <mc:Fallback>
                <p:oleObj r:id="rId8" imgW="1124112" imgH="200025"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88443" y="4994125"/>
                        <a:ext cx="2376487"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5"/>
          <p:cNvGraphicFramePr>
            <a:graphicFrameLocks noChangeAspect="1"/>
          </p:cNvGraphicFramePr>
          <p:nvPr>
            <p:extLst>
              <p:ext uri="{D42A27DB-BD31-4B8C-83A1-F6EECF244321}">
                <p14:modId xmlns:p14="http://schemas.microsoft.com/office/powerpoint/2010/main" val="1494289581"/>
              </p:ext>
            </p:extLst>
          </p:nvPr>
        </p:nvGraphicFramePr>
        <p:xfrm>
          <a:off x="4644430" y="4778225"/>
          <a:ext cx="3311525" cy="1619250"/>
        </p:xfrm>
        <a:graphic>
          <a:graphicData uri="http://schemas.openxmlformats.org/presentationml/2006/ole">
            <mc:AlternateContent xmlns:mc="http://schemas.openxmlformats.org/markup-compatibility/2006">
              <mc:Choice xmlns:v="urn:schemas-microsoft-com:vml" Requires="v">
                <p:oleObj spid="_x0000_s87661" name="AutoCAD Drawing" r:id="rId10" imgW="8943975" imgH="4981575" progId="AutoCAD.Drawing.16">
                  <p:embed/>
                </p:oleObj>
              </mc:Choice>
              <mc:Fallback>
                <p:oleObj name="AutoCAD Drawing" r:id="rId10" imgW="8943975" imgH="4981575" progId="AutoCAD.Drawing.16">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l="13791" t="40625" r="42760" b="17616"/>
                      <a:stretch>
                        <a:fillRect/>
                      </a:stretch>
                    </p:blipFill>
                    <p:spPr bwMode="auto">
                      <a:xfrm>
                        <a:off x="4644430" y="4778225"/>
                        <a:ext cx="3311525"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6"/>
          <p:cNvSpPr>
            <a:spLocks noChangeArrowheads="1"/>
          </p:cNvSpPr>
          <p:nvPr/>
        </p:nvSpPr>
        <p:spPr bwMode="auto">
          <a:xfrm>
            <a:off x="1548805" y="1296838"/>
            <a:ext cx="2147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en-US" altLang="zh-CN" sz="2400" dirty="0">
                <a:latin typeface="Times New Roman" pitchFamily="18" charset="0"/>
                <a:ea typeface="仿宋_GB2312" pitchFamily="49" charset="-122"/>
              </a:rPr>
              <a:t>(6) </a:t>
            </a:r>
            <a:r>
              <a:rPr lang="zh-CN" altLang="en-US" sz="2400" dirty="0">
                <a:latin typeface="Times New Roman" pitchFamily="18" charset="0"/>
                <a:ea typeface="楷体_GB2312" pitchFamily="49" charset="-122"/>
              </a:rPr>
              <a:t>作内力图。</a:t>
            </a:r>
          </a:p>
        </p:txBody>
      </p:sp>
      <p:graphicFrame>
        <p:nvGraphicFramePr>
          <p:cNvPr id="9" name="Object 7"/>
          <p:cNvGraphicFramePr>
            <a:graphicFrameLocks noChangeAspect="1"/>
          </p:cNvGraphicFramePr>
          <p:nvPr>
            <p:extLst>
              <p:ext uri="{D42A27DB-BD31-4B8C-83A1-F6EECF244321}">
                <p14:modId xmlns:p14="http://schemas.microsoft.com/office/powerpoint/2010/main" val="3107924533"/>
              </p:ext>
            </p:extLst>
          </p:nvPr>
        </p:nvGraphicFramePr>
        <p:xfrm>
          <a:off x="4430118" y="1320650"/>
          <a:ext cx="3959225" cy="1944688"/>
        </p:xfrm>
        <a:graphic>
          <a:graphicData uri="http://schemas.openxmlformats.org/presentationml/2006/ole">
            <mc:AlternateContent xmlns:mc="http://schemas.openxmlformats.org/markup-compatibility/2006">
              <mc:Choice xmlns:v="urn:schemas-microsoft-com:vml" Requires="v">
                <p:oleObj spid="_x0000_s87662" name="AutoCAD Drawing" r:id="rId12" imgW="8943975" imgH="4981575" progId="AutoCAD.Drawing.16">
                  <p:embed/>
                </p:oleObj>
              </mc:Choice>
              <mc:Fallback>
                <p:oleObj name="AutoCAD Drawing" r:id="rId12" imgW="8943975" imgH="4981575" progId="AutoCAD.Drawing.16">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l="10463" t="24400" r="30078" b="24478"/>
                      <a:stretch>
                        <a:fillRect/>
                      </a:stretch>
                    </p:blipFill>
                    <p:spPr bwMode="auto">
                      <a:xfrm>
                        <a:off x="4430118" y="1320650"/>
                        <a:ext cx="3959225" cy="194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Rectangle 8"/>
          <p:cNvSpPr>
            <a:spLocks noChangeArrowheads="1"/>
          </p:cNvSpPr>
          <p:nvPr/>
        </p:nvSpPr>
        <p:spPr bwMode="auto">
          <a:xfrm>
            <a:off x="972543" y="5425925"/>
            <a:ext cx="352742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2400">
                <a:solidFill>
                  <a:srgbClr val="990033"/>
                </a:solidFill>
                <a:latin typeface="楷体_GB2312" pitchFamily="49" charset="-122"/>
                <a:ea typeface="楷体_GB2312" pitchFamily="49" charset="-122"/>
              </a:rPr>
              <a:t>注意</a:t>
            </a:r>
            <a:r>
              <a:rPr lang="en-US" altLang="zh-CN" sz="2400">
                <a:solidFill>
                  <a:srgbClr val="990033"/>
                </a:solidFill>
                <a:latin typeface="楷体_GB2312" pitchFamily="49" charset="-122"/>
                <a:ea typeface="楷体_GB2312" pitchFamily="49" charset="-122"/>
              </a:rPr>
              <a:t>:</a:t>
            </a:r>
            <a:r>
              <a:rPr lang="zh-CN" altLang="en-US" sz="2400">
                <a:latin typeface="楷体_GB2312" pitchFamily="49" charset="-122"/>
                <a:ea typeface="楷体_GB2312" pitchFamily="49" charset="-122"/>
              </a:rPr>
              <a:t>杆端弯矩顺时针为正。但弯矩图仍画在杆件纤维受拉一侧。</a:t>
            </a:r>
          </a:p>
        </p:txBody>
      </p:sp>
      <p:grpSp>
        <p:nvGrpSpPr>
          <p:cNvPr id="11" name="Group 9"/>
          <p:cNvGrpSpPr>
            <a:grpSpLocks/>
          </p:cNvGrpSpPr>
          <p:nvPr/>
        </p:nvGrpSpPr>
        <p:grpSpPr bwMode="auto">
          <a:xfrm>
            <a:off x="972543" y="1825475"/>
            <a:ext cx="4033837" cy="1322388"/>
            <a:chOff x="793" y="935"/>
            <a:chExt cx="2541" cy="833"/>
          </a:xfrm>
        </p:grpSpPr>
        <p:sp>
          <p:nvSpPr>
            <p:cNvPr id="12" name="Rectangle 10"/>
            <p:cNvSpPr>
              <a:spLocks noChangeArrowheads="1"/>
            </p:cNvSpPr>
            <p:nvPr/>
          </p:nvSpPr>
          <p:spPr bwMode="auto">
            <a:xfrm>
              <a:off x="1066" y="935"/>
              <a:ext cx="22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en-US" altLang="zh-CN" sz="2400">
                  <a:latin typeface="Times New Roman" pitchFamily="18" charset="0"/>
                  <a:ea typeface="仿宋_GB2312" pitchFamily="49" charset="-122"/>
                </a:rPr>
                <a:t>   </a:t>
              </a:r>
              <a:r>
                <a:rPr lang="zh-CN" altLang="en-US" sz="2400">
                  <a:latin typeface="Times New Roman" pitchFamily="18" charset="0"/>
                  <a:ea typeface="楷体_GB2312" pitchFamily="49" charset="-122"/>
                </a:rPr>
                <a:t>按叠加法根据</a:t>
              </a:r>
              <a:endParaRPr lang="zh-CN" altLang="en-US" sz="2400" b="0">
                <a:latin typeface="楷体_GB2312" pitchFamily="49" charset="-122"/>
                <a:ea typeface="楷体_GB2312" pitchFamily="49" charset="-122"/>
              </a:endParaRPr>
            </a:p>
          </p:txBody>
        </p:sp>
        <p:graphicFrame>
          <p:nvGraphicFramePr>
            <p:cNvPr id="13" name="Object 11"/>
            <p:cNvGraphicFramePr>
              <a:graphicFrameLocks noChangeAspect="1"/>
            </p:cNvGraphicFramePr>
            <p:nvPr/>
          </p:nvGraphicFramePr>
          <p:xfrm>
            <a:off x="884" y="1207"/>
            <a:ext cx="1189" cy="264"/>
          </p:xfrm>
          <a:graphic>
            <a:graphicData uri="http://schemas.openxmlformats.org/presentationml/2006/ole">
              <mc:AlternateContent xmlns:mc="http://schemas.openxmlformats.org/markup-compatibility/2006">
                <mc:Choice xmlns:v="urn:schemas-microsoft-com:vml" Requires="v">
                  <p:oleObj spid="_x0000_s87663" r:id="rId14" imgW="1028788" imgH="200025" progId="Equation.3">
                    <p:embed/>
                  </p:oleObj>
                </mc:Choice>
                <mc:Fallback>
                  <p:oleObj r:id="rId14" imgW="1028788" imgH="200025"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84" y="1207"/>
                          <a:ext cx="1189"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12"/>
            <p:cNvSpPr>
              <a:spLocks noChangeArrowheads="1"/>
            </p:cNvSpPr>
            <p:nvPr/>
          </p:nvSpPr>
          <p:spPr bwMode="auto">
            <a:xfrm>
              <a:off x="793" y="1480"/>
              <a:ext cx="14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2400">
                  <a:latin typeface="楷体_GB2312" pitchFamily="49" charset="-122"/>
                  <a:ea typeface="楷体_GB2312" pitchFamily="49" charset="-122"/>
                </a:rPr>
                <a:t>计算杆端弯矩</a:t>
              </a:r>
              <a:r>
                <a:rPr lang="en-US" altLang="zh-CN" sz="2400">
                  <a:latin typeface="楷体_GB2312" pitchFamily="49" charset="-122"/>
                  <a:ea typeface="楷体_GB2312" pitchFamily="49" charset="-122"/>
                </a:rPr>
                <a:t>.</a:t>
              </a:r>
            </a:p>
          </p:txBody>
        </p:sp>
      </p:grpSp>
      <p:graphicFrame>
        <p:nvGraphicFramePr>
          <p:cNvPr id="16" name="Object 13"/>
          <p:cNvGraphicFramePr>
            <a:graphicFrameLocks noChangeAspect="1"/>
          </p:cNvGraphicFramePr>
          <p:nvPr>
            <p:extLst>
              <p:ext uri="{D42A27DB-BD31-4B8C-83A1-F6EECF244321}">
                <p14:modId xmlns:p14="http://schemas.microsoft.com/office/powerpoint/2010/main" val="3657567983"/>
              </p:ext>
            </p:extLst>
          </p:nvPr>
        </p:nvGraphicFramePr>
        <p:xfrm>
          <a:off x="1259880" y="3120875"/>
          <a:ext cx="2016125" cy="792163"/>
        </p:xfrm>
        <a:graphic>
          <a:graphicData uri="http://schemas.openxmlformats.org/presentationml/2006/ole">
            <mc:AlternateContent xmlns:mc="http://schemas.openxmlformats.org/markup-compatibility/2006">
              <mc:Choice xmlns:v="urn:schemas-microsoft-com:vml" Requires="v">
                <p:oleObj spid="_x0000_s87664" name="公式" r:id="rId16" imgW="971594" imgH="361950" progId="Equation.3">
                  <p:embed/>
                </p:oleObj>
              </mc:Choice>
              <mc:Fallback>
                <p:oleObj name="公式" r:id="rId16" imgW="971594" imgH="36195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59880" y="3120875"/>
                        <a:ext cx="2016125"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14"/>
          <p:cNvGraphicFramePr>
            <a:graphicFrameLocks noGrp="1" noChangeAspect="1"/>
          </p:cNvGraphicFramePr>
          <p:nvPr>
            <p:ph/>
            <p:extLst>
              <p:ext uri="{D42A27DB-BD31-4B8C-83A1-F6EECF244321}">
                <p14:modId xmlns:p14="http://schemas.microsoft.com/office/powerpoint/2010/main" val="3497531913"/>
              </p:ext>
            </p:extLst>
          </p:nvPr>
        </p:nvGraphicFramePr>
        <p:xfrm>
          <a:off x="4572993" y="3120875"/>
          <a:ext cx="3600450" cy="1543050"/>
        </p:xfrm>
        <a:graphic>
          <a:graphicData uri="http://schemas.openxmlformats.org/presentationml/2006/ole">
            <mc:AlternateContent xmlns:mc="http://schemas.openxmlformats.org/markup-compatibility/2006">
              <mc:Choice xmlns:v="urn:schemas-microsoft-com:vml" Requires="v">
                <p:oleObj spid="_x0000_s87665" name="AutoCAD Drawing" r:id="rId18" imgW="7962900" imgH="4181475" progId="AutoCAD.Drawing.16">
                  <p:embed/>
                </p:oleObj>
              </mc:Choice>
              <mc:Fallback>
                <p:oleObj name="AutoCAD Drawing" r:id="rId18" imgW="7962900" imgH="4181475" progId="AutoCAD.Drawing.16">
                  <p:embed/>
                  <p:pic>
                    <p:nvPicPr>
                      <p:cNvPr id="0" name=""/>
                      <p:cNvPicPr>
                        <a:picLocks noGrp="1" noChangeAspect="1" noChangeArrowheads="1"/>
                      </p:cNvPicPr>
                      <p:nvPr/>
                    </p:nvPicPr>
                    <p:blipFill>
                      <a:blip r:embed="rId19">
                        <a:extLst>
                          <a:ext uri="{28A0092B-C50C-407E-A947-70E740481C1C}">
                            <a14:useLocalDpi xmlns:a14="http://schemas.microsoft.com/office/drawing/2010/main" val="0"/>
                          </a:ext>
                        </a:extLst>
                      </a:blip>
                      <a:srcRect l="15402" t="41904" r="28023" b="12398"/>
                      <a:stretch>
                        <a:fillRect/>
                      </a:stretch>
                    </p:blipFill>
                    <p:spPr bwMode="auto">
                      <a:xfrm>
                        <a:off x="4572993" y="3120875"/>
                        <a:ext cx="3600450"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13322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slide(fromBottom)">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slide(fromTop)">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slide(fromTop)">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left)">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1"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slide(fromTop)">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anim calcmode="lin" valueType="num">
                                      <p:cBhvr>
                                        <p:cTn id="52" dur="500" fill="hold"/>
                                        <p:tgtEl>
                                          <p:spTgt spid="10"/>
                                        </p:tgtEl>
                                        <p:attrNameLst>
                                          <p:attrName>ppt_w</p:attrName>
                                        </p:attrNameLst>
                                      </p:cBhvr>
                                      <p:tavLst>
                                        <p:tav tm="0">
                                          <p:val>
                                            <p:fltVal val="0"/>
                                          </p:val>
                                        </p:tav>
                                        <p:tav tm="100000">
                                          <p:val>
                                            <p:strVal val="#ppt_w"/>
                                          </p:val>
                                        </p:tav>
                                      </p:tavLst>
                                    </p:anim>
                                    <p:anim calcmode="lin" valueType="num">
                                      <p:cBhvr>
                                        <p:cTn id="53" dur="500" fill="hold"/>
                                        <p:tgtEl>
                                          <p:spTgt spid="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10"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4" name="Rectangle 2"/>
          <p:cNvSpPr>
            <a:spLocks noChangeArrowheads="1"/>
          </p:cNvSpPr>
          <p:nvPr/>
        </p:nvSpPr>
        <p:spPr bwMode="auto">
          <a:xfrm>
            <a:off x="707507" y="1335088"/>
            <a:ext cx="43211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en-US" altLang="zh-CN" sz="2400">
                <a:latin typeface="Times New Roman" pitchFamily="18" charset="0"/>
                <a:ea typeface="楷体_GB2312" pitchFamily="49" charset="-122"/>
              </a:rPr>
              <a:t>        </a:t>
            </a:r>
            <a:r>
              <a:rPr lang="zh-CN" altLang="en-US" sz="2400">
                <a:latin typeface="Times New Roman" pitchFamily="18" charset="0"/>
                <a:ea typeface="楷体_GB2312" pitchFamily="49" charset="-122"/>
              </a:rPr>
              <a:t>根据</a:t>
            </a:r>
            <a:r>
              <a:rPr lang="en-US" altLang="zh-CN" sz="2400" i="1">
                <a:solidFill>
                  <a:srgbClr val="FF00FF"/>
                </a:solidFill>
                <a:latin typeface="Times New Roman" pitchFamily="18" charset="0"/>
                <a:ea typeface="仿宋_GB2312" pitchFamily="49" charset="-122"/>
              </a:rPr>
              <a:t>M</a:t>
            </a:r>
            <a:r>
              <a:rPr lang="zh-CN" altLang="en-US" sz="2400">
                <a:latin typeface="Times New Roman" pitchFamily="18" charset="0"/>
                <a:ea typeface="楷体_GB2312" pitchFamily="49" charset="-122"/>
              </a:rPr>
              <a:t>图利用平衡条件求出各杆杆端剪力</a:t>
            </a:r>
            <a:r>
              <a:rPr lang="en-US" altLang="zh-CN" sz="2400">
                <a:latin typeface="Times New Roman" pitchFamily="18" charset="0"/>
                <a:ea typeface="楷体_GB2312" pitchFamily="49" charset="-122"/>
              </a:rPr>
              <a:t>, </a:t>
            </a:r>
            <a:r>
              <a:rPr lang="zh-CN" altLang="en-US" sz="2400">
                <a:latin typeface="楷体_GB2312" pitchFamily="49" charset="-122"/>
                <a:ea typeface="楷体_GB2312" pitchFamily="49" charset="-122"/>
              </a:rPr>
              <a:t>绘出剪力图。</a:t>
            </a:r>
          </a:p>
        </p:txBody>
      </p:sp>
      <p:sp>
        <p:nvSpPr>
          <p:cNvPr id="5" name="Rectangle 3"/>
          <p:cNvSpPr>
            <a:spLocks noChangeArrowheads="1"/>
          </p:cNvSpPr>
          <p:nvPr/>
        </p:nvSpPr>
        <p:spPr bwMode="auto">
          <a:xfrm>
            <a:off x="1355207" y="2127251"/>
            <a:ext cx="3168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spcBef>
                <a:spcPct val="0"/>
              </a:spcBef>
              <a:buFontTx/>
              <a:buNone/>
            </a:pPr>
            <a:r>
              <a:rPr lang="zh-CN" altLang="en-US" sz="2400">
                <a:latin typeface="Times New Roman" pitchFamily="18" charset="0"/>
                <a:ea typeface="楷体_GB2312" pitchFamily="49" charset="-122"/>
              </a:rPr>
              <a:t>取</a:t>
            </a:r>
            <a:r>
              <a:rPr lang="en-US" altLang="zh-CN" sz="2400" i="1">
                <a:latin typeface="Times New Roman" pitchFamily="18" charset="0"/>
                <a:ea typeface="楷体_GB2312" pitchFamily="49" charset="-122"/>
              </a:rPr>
              <a:t>AB</a:t>
            </a:r>
            <a:r>
              <a:rPr lang="zh-CN" altLang="en-US" sz="2400">
                <a:latin typeface="Times New Roman" pitchFamily="18" charset="0"/>
                <a:ea typeface="楷体_GB2312" pitchFamily="49" charset="-122"/>
              </a:rPr>
              <a:t>杆为隔离体</a:t>
            </a:r>
          </a:p>
        </p:txBody>
      </p:sp>
      <p:graphicFrame>
        <p:nvGraphicFramePr>
          <p:cNvPr id="6" name="Object 4"/>
          <p:cNvGraphicFramePr>
            <a:graphicFrameLocks noChangeAspect="1"/>
          </p:cNvGraphicFramePr>
          <p:nvPr>
            <p:extLst>
              <p:ext uri="{D42A27DB-BD31-4B8C-83A1-F6EECF244321}">
                <p14:modId xmlns:p14="http://schemas.microsoft.com/office/powerpoint/2010/main" val="3553848509"/>
              </p:ext>
            </p:extLst>
          </p:nvPr>
        </p:nvGraphicFramePr>
        <p:xfrm>
          <a:off x="5100119" y="3419476"/>
          <a:ext cx="2808288" cy="1373187"/>
        </p:xfrm>
        <a:graphic>
          <a:graphicData uri="http://schemas.openxmlformats.org/presentationml/2006/ole">
            <mc:AlternateContent xmlns:mc="http://schemas.openxmlformats.org/markup-compatibility/2006">
              <mc:Choice xmlns:v="urn:schemas-microsoft-com:vml" Requires="v">
                <p:oleObj spid="_x0000_s89615" name="AutoCAD Drawing" r:id="rId4" imgW="8943975" imgH="4981575" progId="AutoCAD.Drawing.16">
                  <p:embed/>
                </p:oleObj>
              </mc:Choice>
              <mc:Fallback>
                <p:oleObj name="AutoCAD Drawing" r:id="rId4" imgW="8943975" imgH="4981575" progId="AutoCAD.Drawing.1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l="13791" t="40625" r="42760" b="17616"/>
                      <a:stretch>
                        <a:fillRect/>
                      </a:stretch>
                    </p:blipFill>
                    <p:spPr bwMode="auto">
                      <a:xfrm>
                        <a:off x="5100119" y="3419476"/>
                        <a:ext cx="2808288"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5"/>
          <p:cNvGraphicFramePr>
            <a:graphicFrameLocks noChangeAspect="1"/>
          </p:cNvGraphicFramePr>
          <p:nvPr>
            <p:extLst>
              <p:ext uri="{D42A27DB-BD31-4B8C-83A1-F6EECF244321}">
                <p14:modId xmlns:p14="http://schemas.microsoft.com/office/powerpoint/2010/main" val="4123687215"/>
              </p:ext>
            </p:extLst>
          </p:nvPr>
        </p:nvGraphicFramePr>
        <p:xfrm>
          <a:off x="5171557" y="1335088"/>
          <a:ext cx="3024187" cy="1936750"/>
        </p:xfrm>
        <a:graphic>
          <a:graphicData uri="http://schemas.openxmlformats.org/presentationml/2006/ole">
            <mc:AlternateContent xmlns:mc="http://schemas.openxmlformats.org/markup-compatibility/2006">
              <mc:Choice xmlns:v="urn:schemas-microsoft-com:vml" Requires="v">
                <p:oleObj spid="_x0000_s89616" name="AutoCAD Drawing" r:id="rId6" imgW="8943975" imgH="4981575" progId="AutoCAD.Drawing.16">
                  <p:embed/>
                </p:oleObj>
              </mc:Choice>
              <mc:Fallback>
                <p:oleObj name="AutoCAD Drawing" r:id="rId6" imgW="8943975" imgH="4981575" progId="AutoCAD.Drawing.1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l="3291" t="24478" r="51131" b="27063"/>
                      <a:stretch>
                        <a:fillRect/>
                      </a:stretch>
                    </p:blipFill>
                    <p:spPr bwMode="auto">
                      <a:xfrm>
                        <a:off x="5171557" y="1335088"/>
                        <a:ext cx="3024187" cy="193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6"/>
          <p:cNvGraphicFramePr>
            <a:graphicFrameLocks noChangeAspect="1"/>
          </p:cNvGraphicFramePr>
          <p:nvPr>
            <p:extLst>
              <p:ext uri="{D42A27DB-BD31-4B8C-83A1-F6EECF244321}">
                <p14:modId xmlns:p14="http://schemas.microsoft.com/office/powerpoint/2010/main" val="3522993872"/>
              </p:ext>
            </p:extLst>
          </p:nvPr>
        </p:nvGraphicFramePr>
        <p:xfrm>
          <a:off x="4523857" y="5022851"/>
          <a:ext cx="2592387" cy="1570037"/>
        </p:xfrm>
        <a:graphic>
          <a:graphicData uri="http://schemas.openxmlformats.org/presentationml/2006/ole">
            <mc:AlternateContent xmlns:mc="http://schemas.openxmlformats.org/markup-compatibility/2006">
              <mc:Choice xmlns:v="urn:schemas-microsoft-com:vml" Requires="v">
                <p:oleObj spid="_x0000_s89617" name="AutoCAD Drawing" r:id="rId8" imgW="8943975" imgH="4981575" progId="AutoCAD.Drawing.16">
                  <p:embed/>
                </p:oleObj>
              </mc:Choice>
              <mc:Fallback>
                <p:oleObj name="AutoCAD Drawing" r:id="rId8" imgW="8943975" imgH="4981575" progId="AutoCAD.Drawing.1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l="7956" t="3293" r="61664" b="67294"/>
                      <a:stretch>
                        <a:fillRect/>
                      </a:stretch>
                    </p:blipFill>
                    <p:spPr bwMode="auto">
                      <a:xfrm>
                        <a:off x="4523857" y="5022851"/>
                        <a:ext cx="2592387" cy="157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 name="Group 7"/>
          <p:cNvGrpSpPr>
            <a:grpSpLocks/>
          </p:cNvGrpSpPr>
          <p:nvPr/>
        </p:nvGrpSpPr>
        <p:grpSpPr bwMode="auto">
          <a:xfrm>
            <a:off x="1355207" y="2632076"/>
            <a:ext cx="2320925" cy="528637"/>
            <a:chOff x="849" y="1827"/>
            <a:chExt cx="1462" cy="333"/>
          </a:xfrm>
        </p:grpSpPr>
        <p:sp>
          <p:nvSpPr>
            <p:cNvPr id="10" name="Rectangle 8"/>
            <p:cNvSpPr>
              <a:spLocks noChangeArrowheads="1"/>
            </p:cNvSpPr>
            <p:nvPr/>
          </p:nvSpPr>
          <p:spPr bwMode="auto">
            <a:xfrm>
              <a:off x="849" y="1827"/>
              <a:ext cx="146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2400">
                  <a:latin typeface="Times New Roman" pitchFamily="18" charset="0"/>
                  <a:ea typeface="楷体_GB2312" pitchFamily="49" charset="-122"/>
                </a:rPr>
                <a:t>由                    得</a:t>
              </a:r>
            </a:p>
          </p:txBody>
        </p:sp>
        <p:graphicFrame>
          <p:nvGraphicFramePr>
            <p:cNvPr id="11" name="Object 9"/>
            <p:cNvGraphicFramePr>
              <a:graphicFrameLocks noChangeAspect="1"/>
            </p:cNvGraphicFramePr>
            <p:nvPr/>
          </p:nvGraphicFramePr>
          <p:xfrm>
            <a:off x="1115" y="1842"/>
            <a:ext cx="812" cy="318"/>
          </p:xfrm>
          <a:graphic>
            <a:graphicData uri="http://schemas.openxmlformats.org/presentationml/2006/ole">
              <mc:AlternateContent xmlns:mc="http://schemas.openxmlformats.org/markup-compatibility/2006">
                <mc:Choice xmlns:v="urn:schemas-microsoft-com:vml" Requires="v">
                  <p:oleObj spid="_x0000_s89618" r:id="rId10" imgW="628782" imgH="228600" progId="Equation.3">
                    <p:embed/>
                  </p:oleObj>
                </mc:Choice>
                <mc:Fallback>
                  <p:oleObj r:id="rId10" imgW="628782" imgH="2286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15" y="1842"/>
                          <a:ext cx="812"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2" name="Object 10"/>
          <p:cNvGraphicFramePr>
            <a:graphicFrameLocks noChangeAspect="1"/>
          </p:cNvGraphicFramePr>
          <p:nvPr>
            <p:extLst>
              <p:ext uri="{D42A27DB-BD31-4B8C-83A1-F6EECF244321}">
                <p14:modId xmlns:p14="http://schemas.microsoft.com/office/powerpoint/2010/main" val="3450426587"/>
              </p:ext>
            </p:extLst>
          </p:nvPr>
        </p:nvGraphicFramePr>
        <p:xfrm>
          <a:off x="923407" y="3279776"/>
          <a:ext cx="3886200" cy="701675"/>
        </p:xfrm>
        <a:graphic>
          <a:graphicData uri="http://schemas.openxmlformats.org/presentationml/2006/ole">
            <mc:AlternateContent xmlns:mc="http://schemas.openxmlformats.org/markup-compatibility/2006">
              <mc:Choice xmlns:v="urn:schemas-microsoft-com:vml" Requires="v">
                <p:oleObj spid="_x0000_s89619" r:id="rId12" imgW="2133482" imgH="361950" progId="Equation.3">
                  <p:embed/>
                </p:oleObj>
              </mc:Choice>
              <mc:Fallback>
                <p:oleObj r:id="rId12" imgW="2133482" imgH="36195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23407" y="3279776"/>
                        <a:ext cx="3886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3" name="Group 11"/>
          <p:cNvGrpSpPr>
            <a:grpSpLocks/>
          </p:cNvGrpSpPr>
          <p:nvPr/>
        </p:nvGrpSpPr>
        <p:grpSpPr bwMode="auto">
          <a:xfrm>
            <a:off x="1426644" y="4071938"/>
            <a:ext cx="2244725" cy="504825"/>
            <a:chOff x="849" y="2432"/>
            <a:chExt cx="1414" cy="318"/>
          </a:xfrm>
        </p:grpSpPr>
        <p:sp>
          <p:nvSpPr>
            <p:cNvPr id="15" name="Rectangle 12"/>
            <p:cNvSpPr>
              <a:spLocks noChangeArrowheads="1"/>
            </p:cNvSpPr>
            <p:nvPr/>
          </p:nvSpPr>
          <p:spPr bwMode="auto">
            <a:xfrm>
              <a:off x="849" y="2443"/>
              <a:ext cx="141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2400">
                  <a:latin typeface="Times New Roman" pitchFamily="18" charset="0"/>
                  <a:ea typeface="楷体_GB2312" pitchFamily="49" charset="-122"/>
                </a:rPr>
                <a:t>由                   得</a:t>
              </a:r>
            </a:p>
          </p:txBody>
        </p:sp>
        <p:graphicFrame>
          <p:nvGraphicFramePr>
            <p:cNvPr id="16" name="Object 13"/>
            <p:cNvGraphicFramePr>
              <a:graphicFrameLocks noChangeAspect="1"/>
            </p:cNvGraphicFramePr>
            <p:nvPr/>
          </p:nvGraphicFramePr>
          <p:xfrm>
            <a:off x="1111" y="2432"/>
            <a:ext cx="816" cy="318"/>
          </p:xfrm>
          <a:graphic>
            <a:graphicData uri="http://schemas.openxmlformats.org/presentationml/2006/ole">
              <mc:AlternateContent xmlns:mc="http://schemas.openxmlformats.org/markup-compatibility/2006">
                <mc:Choice xmlns:v="urn:schemas-microsoft-com:vml" Requires="v">
                  <p:oleObj spid="_x0000_s89620" r:id="rId14" imgW="628782" imgH="228600" progId="Equation.3">
                    <p:embed/>
                  </p:oleObj>
                </mc:Choice>
                <mc:Fallback>
                  <p:oleObj r:id="rId14" imgW="628782" imgH="2286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11" y="2432"/>
                          <a:ext cx="816"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7" name="Object 14"/>
          <p:cNvGraphicFramePr>
            <a:graphicFrameLocks noChangeAspect="1"/>
          </p:cNvGraphicFramePr>
          <p:nvPr>
            <p:extLst>
              <p:ext uri="{D42A27DB-BD31-4B8C-83A1-F6EECF244321}">
                <p14:modId xmlns:p14="http://schemas.microsoft.com/office/powerpoint/2010/main" val="1586615147"/>
              </p:ext>
            </p:extLst>
          </p:nvPr>
        </p:nvGraphicFramePr>
        <p:xfrm>
          <a:off x="994844" y="4792663"/>
          <a:ext cx="3879850" cy="682625"/>
        </p:xfrm>
        <a:graphic>
          <a:graphicData uri="http://schemas.openxmlformats.org/presentationml/2006/ole">
            <mc:AlternateContent xmlns:mc="http://schemas.openxmlformats.org/markup-compatibility/2006">
              <mc:Choice xmlns:v="urn:schemas-microsoft-com:vml" Requires="v">
                <p:oleObj spid="_x0000_s89621" r:id="rId16" imgW="2190676" imgH="361950" progId="Equation.3">
                  <p:embed/>
                </p:oleObj>
              </mc:Choice>
              <mc:Fallback>
                <p:oleObj r:id="rId16" imgW="2190676" imgH="36195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94844" y="4792663"/>
                        <a:ext cx="387985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13322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par>
                          <p:cTn id="7" fill="hold">
                            <p:stCondLst>
                              <p:cond delay="500"/>
                            </p:stCondLst>
                            <p:childTnLst>
                              <p:par>
                                <p:cTn id="8" presetID="14" presetClass="entr" presetSubtype="10" fill="hold" nodeType="after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par>
                          <p:cTn id="11" fill="hold">
                            <p:stCondLst>
                              <p:cond delay="1000"/>
                            </p:stCondLst>
                            <p:childTnLst>
                              <p:par>
                                <p:cTn id="12" presetID="14" presetClass="entr" presetSubtype="1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randombar(horizontal)">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slide(fromLeft)">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slide(fromTop)">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499"/>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randombar(horizontal)">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499"/>
                                          </p:stCondLst>
                                        </p:cTn>
                                        <p:tgtEl>
                                          <p:spTgt spid="13"/>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randombar(horizontal)">
                                      <p:cBhvr>
                                        <p:cTn id="4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4" name="Rectangle 2"/>
          <p:cNvSpPr>
            <a:spLocks noChangeArrowheads="1"/>
          </p:cNvSpPr>
          <p:nvPr/>
        </p:nvSpPr>
        <p:spPr bwMode="auto">
          <a:xfrm>
            <a:off x="1454433" y="1288902"/>
            <a:ext cx="2735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2400">
                <a:latin typeface="楷体_GB2312" pitchFamily="49" charset="-122"/>
                <a:ea typeface="楷体_GB2312" pitchFamily="49" charset="-122"/>
              </a:rPr>
              <a:t>取</a:t>
            </a:r>
            <a:r>
              <a:rPr lang="en-US" altLang="zh-CN" sz="2400" i="1">
                <a:latin typeface="Times New Roman" pitchFamily="18" charset="0"/>
                <a:ea typeface="楷体_GB2312" pitchFamily="49" charset="-122"/>
              </a:rPr>
              <a:t>BC</a:t>
            </a:r>
            <a:r>
              <a:rPr lang="zh-CN" altLang="en-US" sz="2400">
                <a:latin typeface="楷体_GB2312" pitchFamily="49" charset="-122"/>
                <a:ea typeface="楷体_GB2312" pitchFamily="49" charset="-122"/>
              </a:rPr>
              <a:t>杆为隔离体，</a:t>
            </a:r>
          </a:p>
        </p:txBody>
      </p:sp>
      <p:graphicFrame>
        <p:nvGraphicFramePr>
          <p:cNvPr id="5" name="Object 3"/>
          <p:cNvGraphicFramePr>
            <a:graphicFrameLocks noChangeAspect="1"/>
          </p:cNvGraphicFramePr>
          <p:nvPr>
            <p:extLst>
              <p:ext uri="{D42A27DB-BD31-4B8C-83A1-F6EECF244321}">
                <p14:modId xmlns:p14="http://schemas.microsoft.com/office/powerpoint/2010/main" val="1063905241"/>
              </p:ext>
            </p:extLst>
          </p:nvPr>
        </p:nvGraphicFramePr>
        <p:xfrm>
          <a:off x="5054883" y="3257402"/>
          <a:ext cx="2665413" cy="1363662"/>
        </p:xfrm>
        <a:graphic>
          <a:graphicData uri="http://schemas.openxmlformats.org/presentationml/2006/ole">
            <mc:AlternateContent xmlns:mc="http://schemas.openxmlformats.org/markup-compatibility/2006">
              <mc:Choice xmlns:v="urn:schemas-microsoft-com:vml" Requires="v">
                <p:oleObj spid="_x0000_s90706" name="AutoCAD Drawing" r:id="rId4" imgW="8943975" imgH="4981575" progId="AutoCAD.Drawing.16">
                  <p:embed/>
                </p:oleObj>
              </mc:Choice>
              <mc:Fallback>
                <p:oleObj name="AutoCAD Drawing" r:id="rId4" imgW="8943975" imgH="4981575" progId="AutoCAD.Drawing.1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l="13791" t="40625" r="42760" b="17616"/>
                      <a:stretch>
                        <a:fillRect/>
                      </a:stretch>
                    </p:blipFill>
                    <p:spPr bwMode="auto">
                      <a:xfrm>
                        <a:off x="5054883" y="3257402"/>
                        <a:ext cx="2665413" cy="1363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4"/>
          <p:cNvGraphicFramePr>
            <a:graphicFrameLocks noChangeAspect="1"/>
          </p:cNvGraphicFramePr>
          <p:nvPr>
            <p:extLst>
              <p:ext uri="{D42A27DB-BD31-4B8C-83A1-F6EECF244321}">
                <p14:modId xmlns:p14="http://schemas.microsoft.com/office/powerpoint/2010/main" val="309090137"/>
              </p:ext>
            </p:extLst>
          </p:nvPr>
        </p:nvGraphicFramePr>
        <p:xfrm>
          <a:off x="5054883" y="1241277"/>
          <a:ext cx="3024188" cy="1655762"/>
        </p:xfrm>
        <a:graphic>
          <a:graphicData uri="http://schemas.openxmlformats.org/presentationml/2006/ole">
            <mc:AlternateContent xmlns:mc="http://schemas.openxmlformats.org/markup-compatibility/2006">
              <mc:Choice xmlns:v="urn:schemas-microsoft-com:vml" Requires="v">
                <p:oleObj spid="_x0000_s90707" name="AutoCAD Drawing" r:id="rId6" imgW="8943975" imgH="4981575" progId="AutoCAD.Drawing.16">
                  <p:embed/>
                </p:oleObj>
              </mc:Choice>
              <mc:Fallback>
                <p:oleObj name="AutoCAD Drawing" r:id="rId6" imgW="8943975" imgH="4981575" progId="AutoCAD.Drawing.1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l="3291" t="24478" r="51131" b="27063"/>
                      <a:stretch>
                        <a:fillRect/>
                      </a:stretch>
                    </p:blipFill>
                    <p:spPr bwMode="auto">
                      <a:xfrm>
                        <a:off x="5054883" y="1241277"/>
                        <a:ext cx="3024188" cy="165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5"/>
          <p:cNvGraphicFramePr>
            <a:graphicFrameLocks noChangeAspect="1"/>
          </p:cNvGraphicFramePr>
          <p:nvPr>
            <p:extLst>
              <p:ext uri="{D42A27DB-BD31-4B8C-83A1-F6EECF244321}">
                <p14:modId xmlns:p14="http://schemas.microsoft.com/office/powerpoint/2010/main" val="182155183"/>
              </p:ext>
            </p:extLst>
          </p:nvPr>
        </p:nvGraphicFramePr>
        <p:xfrm>
          <a:off x="5559708" y="4697264"/>
          <a:ext cx="2879725" cy="1409700"/>
        </p:xfrm>
        <a:graphic>
          <a:graphicData uri="http://schemas.openxmlformats.org/presentationml/2006/ole">
            <mc:AlternateContent xmlns:mc="http://schemas.openxmlformats.org/markup-compatibility/2006">
              <mc:Choice xmlns:v="urn:schemas-microsoft-com:vml" Requires="v">
                <p:oleObj spid="_x0000_s90708" name="AutoCAD Drawing" r:id="rId8" imgW="8943975" imgH="4981575" progId="AutoCAD.Drawing.16">
                  <p:embed/>
                </p:oleObj>
              </mc:Choice>
              <mc:Fallback>
                <p:oleObj name="AutoCAD Drawing" r:id="rId8" imgW="8943975" imgH="4981575" progId="AutoCAD.Drawing.1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l="7956" t="3293" r="61664" b="67294"/>
                      <a:stretch>
                        <a:fillRect/>
                      </a:stretch>
                    </p:blipFill>
                    <p:spPr bwMode="auto">
                      <a:xfrm>
                        <a:off x="5559708" y="4697264"/>
                        <a:ext cx="2879725"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 name="Group 6"/>
          <p:cNvGrpSpPr>
            <a:grpSpLocks/>
          </p:cNvGrpSpPr>
          <p:nvPr/>
        </p:nvGrpSpPr>
        <p:grpSpPr bwMode="auto">
          <a:xfrm>
            <a:off x="1454433" y="1746102"/>
            <a:ext cx="2041525" cy="528637"/>
            <a:chOff x="1156" y="845"/>
            <a:chExt cx="1286" cy="333"/>
          </a:xfrm>
        </p:grpSpPr>
        <p:graphicFrame>
          <p:nvGraphicFramePr>
            <p:cNvPr id="9" name="Object 7"/>
            <p:cNvGraphicFramePr>
              <a:graphicFrameLocks noChangeAspect="1"/>
            </p:cNvGraphicFramePr>
            <p:nvPr/>
          </p:nvGraphicFramePr>
          <p:xfrm>
            <a:off x="1655" y="845"/>
            <a:ext cx="787" cy="306"/>
          </p:xfrm>
          <a:graphic>
            <a:graphicData uri="http://schemas.openxmlformats.org/presentationml/2006/ole">
              <mc:AlternateContent xmlns:mc="http://schemas.openxmlformats.org/markup-compatibility/2006">
                <mc:Choice xmlns:v="urn:schemas-microsoft-com:vml" Requires="v">
                  <p:oleObj spid="_x0000_s90709" r:id="rId10" imgW="628782" imgH="228600" progId="Equation.3">
                    <p:embed/>
                  </p:oleObj>
                </mc:Choice>
                <mc:Fallback>
                  <p:oleObj r:id="rId10" imgW="628782" imgH="2286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55" y="845"/>
                          <a:ext cx="787"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8"/>
            <p:cNvSpPr>
              <a:spLocks noChangeArrowheads="1"/>
            </p:cNvSpPr>
            <p:nvPr/>
          </p:nvSpPr>
          <p:spPr bwMode="auto">
            <a:xfrm>
              <a:off x="1156" y="890"/>
              <a:ext cx="7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2400">
                  <a:latin typeface="Times New Roman" pitchFamily="18" charset="0"/>
                  <a:ea typeface="楷体_GB2312" pitchFamily="49" charset="-122"/>
                </a:rPr>
                <a:t>由</a:t>
              </a:r>
            </a:p>
          </p:txBody>
        </p:sp>
      </p:grpSp>
      <p:grpSp>
        <p:nvGrpSpPr>
          <p:cNvPr id="11" name="Group 9"/>
          <p:cNvGrpSpPr>
            <a:grpSpLocks/>
          </p:cNvGrpSpPr>
          <p:nvPr/>
        </p:nvGrpSpPr>
        <p:grpSpPr bwMode="auto">
          <a:xfrm>
            <a:off x="878171" y="3689202"/>
            <a:ext cx="3705225" cy="690562"/>
            <a:chOff x="793" y="2069"/>
            <a:chExt cx="2334" cy="435"/>
          </a:xfrm>
        </p:grpSpPr>
        <p:graphicFrame>
          <p:nvGraphicFramePr>
            <p:cNvPr id="12" name="Object 10"/>
            <p:cNvGraphicFramePr>
              <a:graphicFrameLocks noChangeAspect="1"/>
            </p:cNvGraphicFramePr>
            <p:nvPr/>
          </p:nvGraphicFramePr>
          <p:xfrm>
            <a:off x="1111" y="2069"/>
            <a:ext cx="2016" cy="435"/>
          </p:xfrm>
          <a:graphic>
            <a:graphicData uri="http://schemas.openxmlformats.org/presentationml/2006/ole">
              <mc:AlternateContent xmlns:mc="http://schemas.openxmlformats.org/markup-compatibility/2006">
                <mc:Choice xmlns:v="urn:schemas-microsoft-com:vml" Requires="v">
                  <p:oleObj spid="_x0000_s90710" r:id="rId12" imgW="1771606" imgH="361950" progId="Equation.3">
                    <p:embed/>
                  </p:oleObj>
                </mc:Choice>
                <mc:Fallback>
                  <p:oleObj r:id="rId12" imgW="1771606" imgH="36195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11" y="2069"/>
                          <a:ext cx="2016"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11"/>
            <p:cNvSpPr>
              <a:spLocks noChangeArrowheads="1"/>
            </p:cNvSpPr>
            <p:nvPr/>
          </p:nvSpPr>
          <p:spPr bwMode="auto">
            <a:xfrm>
              <a:off x="793" y="2115"/>
              <a:ext cx="84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2400">
                  <a:latin typeface="Times New Roman" pitchFamily="18" charset="0"/>
                  <a:ea typeface="楷体_GB2312" pitchFamily="49" charset="-122"/>
                </a:rPr>
                <a:t>得</a:t>
              </a:r>
            </a:p>
          </p:txBody>
        </p:sp>
      </p:grpSp>
      <p:grpSp>
        <p:nvGrpSpPr>
          <p:cNvPr id="15" name="Group 12"/>
          <p:cNvGrpSpPr>
            <a:grpSpLocks/>
          </p:cNvGrpSpPr>
          <p:nvPr/>
        </p:nvGrpSpPr>
        <p:grpSpPr bwMode="auto">
          <a:xfrm>
            <a:off x="1429033" y="3041502"/>
            <a:ext cx="1970088" cy="528637"/>
            <a:chOff x="1140" y="1661"/>
            <a:chExt cx="1241" cy="333"/>
          </a:xfrm>
        </p:grpSpPr>
        <p:graphicFrame>
          <p:nvGraphicFramePr>
            <p:cNvPr id="16" name="Object 13"/>
            <p:cNvGraphicFramePr>
              <a:graphicFrameLocks noChangeAspect="1"/>
            </p:cNvGraphicFramePr>
            <p:nvPr/>
          </p:nvGraphicFramePr>
          <p:xfrm>
            <a:off x="1565" y="1661"/>
            <a:ext cx="816" cy="318"/>
          </p:xfrm>
          <a:graphic>
            <a:graphicData uri="http://schemas.openxmlformats.org/presentationml/2006/ole">
              <mc:AlternateContent xmlns:mc="http://schemas.openxmlformats.org/markup-compatibility/2006">
                <mc:Choice xmlns:v="urn:schemas-microsoft-com:vml" Requires="v">
                  <p:oleObj spid="_x0000_s90711" r:id="rId14" imgW="628782" imgH="228600" progId="Equation.3">
                    <p:embed/>
                  </p:oleObj>
                </mc:Choice>
                <mc:Fallback>
                  <p:oleObj r:id="rId14" imgW="628782" imgH="2286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65" y="1661"/>
                          <a:ext cx="816"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Rectangle 14"/>
            <p:cNvSpPr>
              <a:spLocks noChangeArrowheads="1"/>
            </p:cNvSpPr>
            <p:nvPr/>
          </p:nvSpPr>
          <p:spPr bwMode="auto">
            <a:xfrm>
              <a:off x="1140" y="1706"/>
              <a:ext cx="7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2400">
                  <a:latin typeface="Times New Roman" pitchFamily="18" charset="0"/>
                  <a:ea typeface="楷体_GB2312" pitchFamily="49" charset="-122"/>
                </a:rPr>
                <a:t>由</a:t>
              </a:r>
            </a:p>
          </p:txBody>
        </p:sp>
      </p:grpSp>
      <p:grpSp>
        <p:nvGrpSpPr>
          <p:cNvPr id="18" name="Group 15"/>
          <p:cNvGrpSpPr>
            <a:grpSpLocks/>
          </p:cNvGrpSpPr>
          <p:nvPr/>
        </p:nvGrpSpPr>
        <p:grpSpPr bwMode="auto">
          <a:xfrm>
            <a:off x="878171" y="2393802"/>
            <a:ext cx="3932237" cy="668337"/>
            <a:chOff x="793" y="1253"/>
            <a:chExt cx="2477" cy="421"/>
          </a:xfrm>
        </p:grpSpPr>
        <p:graphicFrame>
          <p:nvGraphicFramePr>
            <p:cNvPr id="19" name="Object 16"/>
            <p:cNvGraphicFramePr>
              <a:graphicFrameLocks noChangeAspect="1"/>
            </p:cNvGraphicFramePr>
            <p:nvPr/>
          </p:nvGraphicFramePr>
          <p:xfrm>
            <a:off x="1110" y="1253"/>
            <a:ext cx="2160" cy="421"/>
          </p:xfrm>
          <a:graphic>
            <a:graphicData uri="http://schemas.openxmlformats.org/presentationml/2006/ole">
              <mc:AlternateContent xmlns:mc="http://schemas.openxmlformats.org/markup-compatibility/2006">
                <mc:Choice xmlns:v="urn:schemas-microsoft-com:vml" Requires="v">
                  <p:oleObj spid="_x0000_s90712" r:id="rId16" imgW="1962253" imgH="361950" progId="Equation.3">
                    <p:embed/>
                  </p:oleObj>
                </mc:Choice>
                <mc:Fallback>
                  <p:oleObj r:id="rId16" imgW="1962253" imgH="36195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10" y="1253"/>
                          <a:ext cx="2160" cy="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Rectangle 17"/>
            <p:cNvSpPr>
              <a:spLocks noChangeArrowheads="1"/>
            </p:cNvSpPr>
            <p:nvPr/>
          </p:nvSpPr>
          <p:spPr bwMode="auto">
            <a:xfrm>
              <a:off x="793" y="1298"/>
              <a:ext cx="84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2400">
                  <a:latin typeface="Times New Roman" pitchFamily="18" charset="0"/>
                  <a:ea typeface="楷体_GB2312" pitchFamily="49" charset="-122"/>
                </a:rPr>
                <a:t>得</a:t>
              </a:r>
            </a:p>
          </p:txBody>
        </p:sp>
      </p:grpSp>
      <p:sp>
        <p:nvSpPr>
          <p:cNvPr id="21" name="Rectangle 18"/>
          <p:cNvSpPr>
            <a:spLocks noChangeArrowheads="1"/>
          </p:cNvSpPr>
          <p:nvPr/>
        </p:nvSpPr>
        <p:spPr bwMode="auto">
          <a:xfrm>
            <a:off x="1095658" y="4311502"/>
            <a:ext cx="171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0"/>
              </a:spcBef>
              <a:buFontTx/>
              <a:buNone/>
            </a:pPr>
            <a:r>
              <a:rPr lang="zh-CN" altLang="en-US" sz="2400">
                <a:latin typeface="Times New Roman" pitchFamily="18" charset="0"/>
                <a:ea typeface="楷体_GB2312" pitchFamily="49" charset="-122"/>
              </a:rPr>
              <a:t>绘出剪力图</a:t>
            </a:r>
          </a:p>
        </p:txBody>
      </p:sp>
      <p:graphicFrame>
        <p:nvGraphicFramePr>
          <p:cNvPr id="22" name="Object 19"/>
          <p:cNvGraphicFramePr>
            <a:graphicFrameLocks noChangeAspect="1"/>
          </p:cNvGraphicFramePr>
          <p:nvPr>
            <p:extLst>
              <p:ext uri="{D42A27DB-BD31-4B8C-83A1-F6EECF244321}">
                <p14:modId xmlns:p14="http://schemas.microsoft.com/office/powerpoint/2010/main" val="1016032445"/>
              </p:ext>
            </p:extLst>
          </p:nvPr>
        </p:nvGraphicFramePr>
        <p:xfrm>
          <a:off x="1598896" y="4625827"/>
          <a:ext cx="3095625" cy="1728787"/>
        </p:xfrm>
        <a:graphic>
          <a:graphicData uri="http://schemas.openxmlformats.org/presentationml/2006/ole">
            <mc:AlternateContent xmlns:mc="http://schemas.openxmlformats.org/markup-compatibility/2006">
              <mc:Choice xmlns:v="urn:schemas-microsoft-com:vml" Requires="v">
                <p:oleObj spid="_x0000_s90713" name="AutoCAD Drawing" r:id="rId18" imgW="8943975" imgH="4981575" progId="AutoCAD.Drawing.16">
                  <p:embed/>
                </p:oleObj>
              </mc:Choice>
              <mc:Fallback>
                <p:oleObj name="AutoCAD Drawing" r:id="rId18" imgW="8943975" imgH="4981575" progId="AutoCAD.Drawing.16">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l="14093" t="10591" r="37662" b="30463"/>
                      <a:stretch>
                        <a:fillRect/>
                      </a:stretch>
                    </p:blipFill>
                    <p:spPr bwMode="auto">
                      <a:xfrm>
                        <a:off x="1598896" y="4625827"/>
                        <a:ext cx="3095625" cy="172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13322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par>
                          <p:cTn id="7" fill="hold">
                            <p:stCondLst>
                              <p:cond delay="500"/>
                            </p:stCondLst>
                            <p:childTnLst>
                              <p:par>
                                <p:cTn id="8" presetID="14" presetClass="entr" presetSubtype="10" fill="hold"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randombar(horizontal)">
                                      <p:cBhvr>
                                        <p:cTn id="10" dur="500"/>
                                        <p:tgtEl>
                                          <p:spTgt spid="6"/>
                                        </p:tgtEl>
                                      </p:cBhvr>
                                    </p:animEffect>
                                  </p:childTnLst>
                                </p:cTn>
                              </p:par>
                            </p:childTnLst>
                          </p:cTn>
                        </p:par>
                        <p:par>
                          <p:cTn id="11" fill="hold">
                            <p:stCondLst>
                              <p:cond delay="1000"/>
                            </p:stCondLst>
                            <p:childTnLst>
                              <p:par>
                                <p:cTn id="12" presetID="14" presetClass="entr" presetSubtype="1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randombar(horizontal)">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1"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slide(fromTop)">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slide(fromBottom)">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slide(fromBottom)">
                                      <p:cBhvr>
                                        <p:cTn id="29" dur="500"/>
                                        <p:tgtEl>
                                          <p:spTgt spid="18"/>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lide(fromBottom)">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slide(fromBottom)">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21"/>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2" presetClass="entr" presetSubtype="4" fill="hold"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slide(fromBottom)">
                                      <p:cBhvr>
                                        <p:cTn id="4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21"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4" name="Rectangle 2"/>
          <p:cNvSpPr>
            <a:spLocks noChangeArrowheads="1"/>
          </p:cNvSpPr>
          <p:nvPr/>
        </p:nvSpPr>
        <p:spPr bwMode="auto">
          <a:xfrm>
            <a:off x="530211" y="4814298"/>
            <a:ext cx="388937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en-US" altLang="zh-CN" sz="2400">
                <a:latin typeface="楷体_GB2312" pitchFamily="49" charset="-122"/>
                <a:ea typeface="楷体_GB2312" pitchFamily="49" charset="-122"/>
              </a:rPr>
              <a:t>    </a:t>
            </a:r>
            <a:r>
              <a:rPr lang="zh-CN" altLang="en-US" sz="2400">
                <a:latin typeface="Times New Roman" pitchFamily="18" charset="0"/>
                <a:ea typeface="楷体_GB2312" pitchFamily="49" charset="-122"/>
              </a:rPr>
              <a:t>解： </a:t>
            </a:r>
            <a:r>
              <a:rPr lang="en-US" altLang="zh-CN" sz="2400">
                <a:latin typeface="Times New Roman" pitchFamily="18" charset="0"/>
                <a:ea typeface="楷体_GB2312" pitchFamily="49" charset="-122"/>
              </a:rPr>
              <a:t>(1) </a:t>
            </a:r>
            <a:r>
              <a:rPr lang="zh-CN" altLang="en-US" sz="2400">
                <a:latin typeface="Times New Roman" pitchFamily="18" charset="0"/>
                <a:ea typeface="楷体_GB2312" pitchFamily="49" charset="-122"/>
              </a:rPr>
              <a:t>确定基本未知量结点</a:t>
            </a:r>
            <a:r>
              <a:rPr lang="en-US" altLang="zh-CN" sz="2400" i="1">
                <a:latin typeface="Times New Roman" pitchFamily="18" charset="0"/>
                <a:ea typeface="仿宋_GB2312" pitchFamily="49" charset="-122"/>
              </a:rPr>
              <a:t>D</a:t>
            </a:r>
            <a:r>
              <a:rPr lang="zh-CN" altLang="en-US" sz="2400">
                <a:latin typeface="Times New Roman" pitchFamily="18" charset="0"/>
                <a:ea typeface="仿宋_GB2312" pitchFamily="49" charset="-122"/>
              </a:rPr>
              <a:t>、</a:t>
            </a:r>
            <a:r>
              <a:rPr lang="en-US" altLang="zh-CN" sz="2400" i="1">
                <a:latin typeface="Times New Roman" pitchFamily="18" charset="0"/>
                <a:ea typeface="仿宋_GB2312" pitchFamily="49" charset="-122"/>
              </a:rPr>
              <a:t>E</a:t>
            </a:r>
            <a:r>
              <a:rPr lang="zh-CN" altLang="en-US" sz="2400">
                <a:latin typeface="Times New Roman" pitchFamily="18" charset="0"/>
                <a:ea typeface="楷体_GB2312" pitchFamily="49" charset="-122"/>
              </a:rPr>
              <a:t>的角位移</a:t>
            </a:r>
            <a:r>
              <a:rPr lang="en-US" altLang="zh-CN" sz="2400" i="1">
                <a:solidFill>
                  <a:srgbClr val="FF00FF"/>
                </a:solidFill>
                <a:latin typeface="Times New Roman" pitchFamily="18" charset="0"/>
                <a:ea typeface="仿宋_GB2312" pitchFamily="49" charset="-122"/>
              </a:rPr>
              <a:t>Z</a:t>
            </a:r>
            <a:r>
              <a:rPr lang="en-US" altLang="zh-CN" sz="2400" baseline="-25000">
                <a:solidFill>
                  <a:srgbClr val="FF00FF"/>
                </a:solidFill>
                <a:latin typeface="Times New Roman" pitchFamily="18" charset="0"/>
                <a:ea typeface="仿宋_GB2312" pitchFamily="49" charset="-122"/>
              </a:rPr>
              <a:t>1</a:t>
            </a:r>
            <a:r>
              <a:rPr lang="zh-CN" altLang="en-US" sz="2400">
                <a:latin typeface="Times New Roman" pitchFamily="18" charset="0"/>
                <a:ea typeface="楷体_GB2312" pitchFamily="49" charset="-122"/>
              </a:rPr>
              <a:t>和</a:t>
            </a:r>
            <a:r>
              <a:rPr lang="en-US" altLang="zh-CN" sz="2400" i="1">
                <a:solidFill>
                  <a:srgbClr val="FF00FF"/>
                </a:solidFill>
                <a:latin typeface="Times New Roman" pitchFamily="18" charset="0"/>
                <a:ea typeface="仿宋_GB2312" pitchFamily="49" charset="-122"/>
              </a:rPr>
              <a:t>Z</a:t>
            </a:r>
            <a:r>
              <a:rPr lang="en-US" altLang="zh-CN" sz="2400" baseline="-25000">
                <a:solidFill>
                  <a:srgbClr val="FF00FF"/>
                </a:solidFill>
                <a:latin typeface="Times New Roman" pitchFamily="18" charset="0"/>
                <a:ea typeface="仿宋_GB2312" pitchFamily="49" charset="-122"/>
              </a:rPr>
              <a:t>2 </a:t>
            </a:r>
            <a:r>
              <a:rPr lang="zh-CN" altLang="en-US" sz="2400" baseline="-25000">
                <a:latin typeface="Times New Roman" pitchFamily="18" charset="0"/>
                <a:ea typeface="仿宋_GB2312" pitchFamily="49" charset="-122"/>
              </a:rPr>
              <a:t>。</a:t>
            </a:r>
            <a:endParaRPr lang="zh-CN" altLang="en-US" sz="2400">
              <a:latin typeface="Times New Roman" pitchFamily="18" charset="0"/>
              <a:ea typeface="仿宋_GB2312" pitchFamily="49" charset="-122"/>
            </a:endParaRPr>
          </a:p>
        </p:txBody>
      </p:sp>
      <p:graphicFrame>
        <p:nvGraphicFramePr>
          <p:cNvPr id="5" name="Object 3"/>
          <p:cNvGraphicFramePr>
            <a:graphicFrameLocks noChangeAspect="1"/>
          </p:cNvGraphicFramePr>
          <p:nvPr>
            <p:extLst>
              <p:ext uri="{D42A27DB-BD31-4B8C-83A1-F6EECF244321}">
                <p14:modId xmlns:p14="http://schemas.microsoft.com/office/powerpoint/2010/main" val="41385274"/>
              </p:ext>
            </p:extLst>
          </p:nvPr>
        </p:nvGraphicFramePr>
        <p:xfrm>
          <a:off x="674673" y="2079036"/>
          <a:ext cx="3611563" cy="2536825"/>
        </p:xfrm>
        <a:graphic>
          <a:graphicData uri="http://schemas.openxmlformats.org/presentationml/2006/ole">
            <mc:AlternateContent xmlns:mc="http://schemas.openxmlformats.org/markup-compatibility/2006">
              <mc:Choice xmlns:v="urn:schemas-microsoft-com:vml" Requires="v">
                <p:oleObj spid="_x0000_s91357" name="AutoCAD Drawing" r:id="rId4" imgW="8943975" imgH="4981575" progId="AutoCAD.Drawing.16">
                  <p:embed/>
                </p:oleObj>
              </mc:Choice>
              <mc:Fallback>
                <p:oleObj name="AutoCAD Drawing" r:id="rId4" imgW="8943975" imgH="4981575" progId="AutoCAD.Drawing.1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l="6117" t="15886" r="53517" b="33253"/>
                      <a:stretch>
                        <a:fillRect/>
                      </a:stretch>
                    </p:blipFill>
                    <p:spPr bwMode="auto">
                      <a:xfrm>
                        <a:off x="674673" y="2079036"/>
                        <a:ext cx="3611563"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4"/>
          <p:cNvGraphicFramePr>
            <a:graphicFrameLocks noChangeAspect="1"/>
          </p:cNvGraphicFramePr>
          <p:nvPr>
            <p:extLst>
              <p:ext uri="{D42A27DB-BD31-4B8C-83A1-F6EECF244321}">
                <p14:modId xmlns:p14="http://schemas.microsoft.com/office/powerpoint/2010/main" val="570816101"/>
              </p:ext>
            </p:extLst>
          </p:nvPr>
        </p:nvGraphicFramePr>
        <p:xfrm>
          <a:off x="4851386" y="4742861"/>
          <a:ext cx="2665412" cy="1681162"/>
        </p:xfrm>
        <a:graphic>
          <a:graphicData uri="http://schemas.openxmlformats.org/presentationml/2006/ole">
            <mc:AlternateContent xmlns:mc="http://schemas.openxmlformats.org/markup-compatibility/2006">
              <mc:Choice xmlns:v="urn:schemas-microsoft-com:vml" Requires="v">
                <p:oleObj spid="_x0000_s91358" name="AutoCAD Drawing" r:id="rId6" imgW="9058275" imgH="4953000" progId="AutoCAD.Drawing.16">
                  <p:embed/>
                </p:oleObj>
              </mc:Choice>
              <mc:Fallback>
                <p:oleObj name="AutoCAD Drawing" r:id="rId6" imgW="9058275" imgH="4953000" progId="AutoCAD.Drawing.1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l="22845" t="27705" r="36145" b="24545"/>
                      <a:stretch>
                        <a:fillRect/>
                      </a:stretch>
                    </p:blipFill>
                    <p:spPr bwMode="auto">
                      <a:xfrm>
                        <a:off x="4851386" y="4742861"/>
                        <a:ext cx="2665412" cy="168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5"/>
          <p:cNvGraphicFramePr>
            <a:graphicFrameLocks noChangeAspect="1"/>
          </p:cNvGraphicFramePr>
          <p:nvPr>
            <p:extLst>
              <p:ext uri="{D42A27DB-BD31-4B8C-83A1-F6EECF244321}">
                <p14:modId xmlns:p14="http://schemas.microsoft.com/office/powerpoint/2010/main" val="4038919953"/>
              </p:ext>
            </p:extLst>
          </p:nvPr>
        </p:nvGraphicFramePr>
        <p:xfrm>
          <a:off x="4706923" y="2294936"/>
          <a:ext cx="3055938" cy="2319337"/>
        </p:xfrm>
        <a:graphic>
          <a:graphicData uri="http://schemas.openxmlformats.org/presentationml/2006/ole">
            <mc:AlternateContent xmlns:mc="http://schemas.openxmlformats.org/markup-compatibility/2006">
              <mc:Choice xmlns:v="urn:schemas-microsoft-com:vml" Requires="v">
                <p:oleObj spid="_x0000_s91359" name="AutoCAD Drawing" r:id="rId8" imgW="8943975" imgH="4981575" progId="AutoCAD.Drawing.16">
                  <p:embed/>
                </p:oleObj>
              </mc:Choice>
              <mc:Fallback>
                <p:oleObj name="AutoCAD Drawing" r:id="rId8" imgW="8943975" imgH="4981575" progId="AutoCAD.Drawing.1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l="3511" t="17747" r="42020" b="7713"/>
                      <a:stretch>
                        <a:fillRect/>
                      </a:stretch>
                    </p:blipFill>
                    <p:spPr bwMode="auto">
                      <a:xfrm>
                        <a:off x="4706923" y="2294936"/>
                        <a:ext cx="3055938" cy="2319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6"/>
          <p:cNvSpPr>
            <a:spLocks noChangeArrowheads="1"/>
          </p:cNvSpPr>
          <p:nvPr/>
        </p:nvSpPr>
        <p:spPr bwMode="auto">
          <a:xfrm>
            <a:off x="962011" y="6014448"/>
            <a:ext cx="29130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en-US" altLang="zh-CN" sz="2400" b="0">
                <a:solidFill>
                  <a:schemeClr val="tx2"/>
                </a:solidFill>
                <a:latin typeface="楷体_GB2312" pitchFamily="49" charset="-122"/>
                <a:ea typeface="楷体_GB2312" pitchFamily="49" charset="-122"/>
              </a:rPr>
              <a:t> </a:t>
            </a:r>
            <a:r>
              <a:rPr lang="en-US" altLang="zh-CN" sz="2400">
                <a:latin typeface="Times New Roman" pitchFamily="18" charset="0"/>
                <a:ea typeface="楷体_GB2312" pitchFamily="49" charset="-122"/>
              </a:rPr>
              <a:t>(2) </a:t>
            </a:r>
            <a:r>
              <a:rPr lang="zh-CN" altLang="en-US" sz="2400">
                <a:latin typeface="Times New Roman" pitchFamily="18" charset="0"/>
                <a:ea typeface="楷体_GB2312" pitchFamily="49" charset="-122"/>
              </a:rPr>
              <a:t>建立基本结构。</a:t>
            </a:r>
          </a:p>
        </p:txBody>
      </p:sp>
      <p:sp>
        <p:nvSpPr>
          <p:cNvPr id="9" name="Rectangle 7"/>
          <p:cNvSpPr>
            <a:spLocks noChangeArrowheads="1"/>
          </p:cNvSpPr>
          <p:nvPr/>
        </p:nvSpPr>
        <p:spPr bwMode="auto">
          <a:xfrm>
            <a:off x="601648" y="1286873"/>
            <a:ext cx="7345363"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06388"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lgn="just">
              <a:lnSpc>
                <a:spcPct val="120000"/>
              </a:lnSpc>
              <a:spcBef>
                <a:spcPct val="0"/>
              </a:spcBef>
              <a:buFontTx/>
              <a:buNone/>
            </a:pPr>
            <a:r>
              <a:rPr lang="en-US" altLang="zh-CN" sz="2400" dirty="0">
                <a:latin typeface="楷体_GB2312" pitchFamily="49" charset="-122"/>
                <a:ea typeface="楷体_GB2312" pitchFamily="49" charset="-122"/>
              </a:rPr>
              <a:t>  </a:t>
            </a:r>
            <a:r>
              <a:rPr lang="zh-CN" altLang="en-US" sz="2400" dirty="0">
                <a:latin typeface="Times New Roman" pitchFamily="18" charset="0"/>
                <a:ea typeface="楷体_GB2312" pitchFamily="49" charset="-122"/>
              </a:rPr>
              <a:t>例</a:t>
            </a:r>
            <a:r>
              <a:rPr lang="en-US" altLang="zh-CN" sz="2400" dirty="0">
                <a:latin typeface="Times New Roman" pitchFamily="18" charset="0"/>
                <a:ea typeface="楷体_GB2312" pitchFamily="49" charset="-122"/>
              </a:rPr>
              <a:t>3 </a:t>
            </a:r>
            <a:r>
              <a:rPr lang="zh-CN" altLang="en-US" sz="2400" dirty="0">
                <a:latin typeface="Times New Roman" pitchFamily="18" charset="0"/>
                <a:ea typeface="楷体_GB2312" pitchFamily="49" charset="-122"/>
              </a:rPr>
              <a:t>试用位移法计算图示刚架，并绘出</a:t>
            </a:r>
            <a:r>
              <a:rPr lang="en-US" altLang="zh-CN" sz="2400" i="1" dirty="0">
                <a:latin typeface="Times New Roman" pitchFamily="18" charset="0"/>
                <a:ea typeface="仿宋_GB2312" pitchFamily="49" charset="-122"/>
              </a:rPr>
              <a:t>M</a:t>
            </a:r>
            <a:r>
              <a:rPr lang="zh-CN" altLang="en-US" sz="2400" dirty="0">
                <a:latin typeface="Times New Roman" pitchFamily="18" charset="0"/>
                <a:ea typeface="楷体_GB2312" pitchFamily="49" charset="-122"/>
              </a:rPr>
              <a:t>图。各杆的</a:t>
            </a:r>
            <a:r>
              <a:rPr lang="en-US" altLang="zh-CN" sz="2400" i="1" dirty="0">
                <a:latin typeface="Times New Roman" pitchFamily="18" charset="0"/>
                <a:ea typeface="楷体_GB2312" pitchFamily="49" charset="-122"/>
              </a:rPr>
              <a:t>E</a:t>
            </a:r>
            <a:r>
              <a:rPr lang="zh-CN" altLang="en-US" sz="2400" dirty="0">
                <a:latin typeface="Times New Roman" pitchFamily="18" charset="0"/>
                <a:ea typeface="楷体_GB2312" pitchFamily="49" charset="-122"/>
              </a:rPr>
              <a:t>为常数。</a:t>
            </a:r>
            <a:endParaRPr lang="zh-CN" altLang="en-US" sz="2400" b="0" dirty="0">
              <a:latin typeface="Times New Roman" pitchFamily="18" charset="0"/>
              <a:ea typeface="楷体_GB2312" pitchFamily="49" charset="-122"/>
            </a:endParaRPr>
          </a:p>
        </p:txBody>
      </p:sp>
    </p:spTree>
    <p:extLst>
      <p:ext uri="{BB962C8B-B14F-4D97-AF65-F5344CB8AC3E}">
        <p14:creationId xmlns:p14="http://schemas.microsoft.com/office/powerpoint/2010/main" val="4013212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2"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slide(fromRigh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ox(i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slide(fromBottom)">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8"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3950613984"/>
              </p:ext>
            </p:extLst>
          </p:nvPr>
        </p:nvGraphicFramePr>
        <p:xfrm>
          <a:off x="4699901" y="1292225"/>
          <a:ext cx="2879725" cy="946150"/>
        </p:xfrm>
        <a:graphic>
          <a:graphicData uri="http://schemas.openxmlformats.org/presentationml/2006/ole">
            <mc:AlternateContent xmlns:mc="http://schemas.openxmlformats.org/markup-compatibility/2006">
              <mc:Choice xmlns:v="urn:schemas-microsoft-com:vml" Requires="v">
                <p:oleObj spid="_x0000_s92673" r:id="rId4" imgW="1466924" imgH="457200" progId="Equation.3">
                  <p:embed/>
                </p:oleObj>
              </mc:Choice>
              <mc:Fallback>
                <p:oleObj r:id="rId4" imgW="1466924" imgH="457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9901" y="1292225"/>
                        <a:ext cx="28797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426556478"/>
              </p:ext>
            </p:extLst>
          </p:nvPr>
        </p:nvGraphicFramePr>
        <p:xfrm>
          <a:off x="1531251" y="4672012"/>
          <a:ext cx="3455988" cy="1882775"/>
        </p:xfrm>
        <a:graphic>
          <a:graphicData uri="http://schemas.openxmlformats.org/presentationml/2006/ole">
            <mc:AlternateContent xmlns:mc="http://schemas.openxmlformats.org/markup-compatibility/2006">
              <mc:Choice xmlns:v="urn:schemas-microsoft-com:vml" Requires="v">
                <p:oleObj spid="_x0000_s92674" name="AutoCAD Drawing" r:id="rId6" imgW="8943975" imgH="4981575" progId="AutoCAD.Drawing.16">
                  <p:embed/>
                </p:oleObj>
              </mc:Choice>
              <mc:Fallback>
                <p:oleObj name="AutoCAD Drawing" r:id="rId6" imgW="8943975" imgH="4981575" progId="AutoCAD.Drawing.1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l="14844" t="19826" r="37311" b="31056"/>
                      <a:stretch>
                        <a:fillRect/>
                      </a:stretch>
                    </p:blipFill>
                    <p:spPr bwMode="auto">
                      <a:xfrm>
                        <a:off x="1531251" y="4672012"/>
                        <a:ext cx="3455988"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2888346514"/>
              </p:ext>
            </p:extLst>
          </p:nvPr>
        </p:nvGraphicFramePr>
        <p:xfrm>
          <a:off x="2250389" y="3457575"/>
          <a:ext cx="1511300" cy="1316037"/>
        </p:xfrm>
        <a:graphic>
          <a:graphicData uri="http://schemas.openxmlformats.org/presentationml/2006/ole">
            <mc:AlternateContent xmlns:mc="http://schemas.openxmlformats.org/markup-compatibility/2006">
              <mc:Choice xmlns:v="urn:schemas-microsoft-com:vml" Requires="v">
                <p:oleObj spid="_x0000_s92675" name="Drawing" r:id="rId8" imgW="9058275" imgH="4953000" progId="AutoCAD.Drawing.16">
                  <p:embed/>
                </p:oleObj>
              </mc:Choice>
              <mc:Fallback>
                <p:oleObj name="Drawing" r:id="rId8" imgW="9058275" imgH="4953000" progId="AutoCAD.Drawing.1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l="19521" t="23026" r="49661" b="27647"/>
                      <a:stretch>
                        <a:fillRect/>
                      </a:stretch>
                    </p:blipFill>
                    <p:spPr bwMode="auto">
                      <a:xfrm>
                        <a:off x="2250389" y="3457575"/>
                        <a:ext cx="1511300" cy="131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34557610"/>
              </p:ext>
            </p:extLst>
          </p:nvPr>
        </p:nvGraphicFramePr>
        <p:xfrm>
          <a:off x="4915801" y="4538662"/>
          <a:ext cx="1295400" cy="1473200"/>
        </p:xfrm>
        <a:graphic>
          <a:graphicData uri="http://schemas.openxmlformats.org/presentationml/2006/ole">
            <mc:AlternateContent xmlns:mc="http://schemas.openxmlformats.org/markup-compatibility/2006">
              <mc:Choice xmlns:v="urn:schemas-microsoft-com:vml" Requires="v">
                <p:oleObj spid="_x0000_s92676" name="Drawing" r:id="rId10" imgW="9067800" imgH="5267325" progId="AutoCAD.Drawing.16">
                  <p:embed/>
                </p:oleObj>
              </mc:Choice>
              <mc:Fallback>
                <p:oleObj name="Drawing" r:id="rId10" imgW="9067800" imgH="5267325" progId="AutoCAD.Drawing.16">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l="44601" t="49463" r="36708" b="13976"/>
                      <a:stretch>
                        <a:fillRect/>
                      </a:stretch>
                    </p:blipFill>
                    <p:spPr bwMode="auto">
                      <a:xfrm>
                        <a:off x="4915801" y="4538662"/>
                        <a:ext cx="1295400" cy="147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7"/>
          <p:cNvSpPr>
            <a:spLocks noChangeArrowheads="1"/>
          </p:cNvSpPr>
          <p:nvPr/>
        </p:nvSpPr>
        <p:spPr bwMode="auto">
          <a:xfrm>
            <a:off x="739089" y="1296987"/>
            <a:ext cx="381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06388"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lgn="just" eaLnBrk="1" hangingPunct="1">
              <a:spcBef>
                <a:spcPct val="0"/>
              </a:spcBef>
              <a:buFontTx/>
              <a:buNone/>
            </a:pPr>
            <a:r>
              <a:rPr lang="en-US" altLang="zh-CN" sz="2400">
                <a:latin typeface="Times New Roman" pitchFamily="18" charset="0"/>
                <a:ea typeface="仿宋_GB2312" pitchFamily="49" charset="-122"/>
              </a:rPr>
              <a:t> (3) </a:t>
            </a:r>
            <a:r>
              <a:rPr lang="zh-CN" altLang="en-US" sz="2400">
                <a:latin typeface="Times New Roman" pitchFamily="18" charset="0"/>
                <a:ea typeface="楷体_GB2312" pitchFamily="49" charset="-122"/>
              </a:rPr>
              <a:t>建立位移法典型方程</a:t>
            </a:r>
            <a:endParaRPr lang="zh-CN" altLang="en-US" sz="2400" b="0">
              <a:latin typeface="Times New Roman" pitchFamily="18" charset="0"/>
              <a:ea typeface="楷体_GB2312" pitchFamily="49" charset="-122"/>
            </a:endParaRPr>
          </a:p>
        </p:txBody>
      </p:sp>
      <p:grpSp>
        <p:nvGrpSpPr>
          <p:cNvPr id="9" name="Group 8"/>
          <p:cNvGrpSpPr>
            <a:grpSpLocks/>
          </p:cNvGrpSpPr>
          <p:nvPr/>
        </p:nvGrpSpPr>
        <p:grpSpPr bwMode="auto">
          <a:xfrm>
            <a:off x="954989" y="2587625"/>
            <a:ext cx="7200900" cy="822325"/>
            <a:chOff x="884" y="1520"/>
            <a:chExt cx="4536" cy="518"/>
          </a:xfrm>
        </p:grpSpPr>
        <p:sp>
          <p:nvSpPr>
            <p:cNvPr id="10" name="Rectangle 9"/>
            <p:cNvSpPr>
              <a:spLocks noChangeArrowheads="1"/>
            </p:cNvSpPr>
            <p:nvPr/>
          </p:nvSpPr>
          <p:spPr bwMode="auto">
            <a:xfrm>
              <a:off x="884" y="1520"/>
              <a:ext cx="4536"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06388"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lgn="just" eaLnBrk="1" hangingPunct="1">
                <a:spcBef>
                  <a:spcPct val="0"/>
                </a:spcBef>
                <a:buFontTx/>
                <a:buNone/>
              </a:pPr>
              <a:r>
                <a:rPr lang="en-US" altLang="zh-CN" sz="2400">
                  <a:latin typeface="楷体_GB2312" pitchFamily="49" charset="-122"/>
                  <a:ea typeface="楷体_GB2312" pitchFamily="49" charset="-122"/>
                </a:rPr>
                <a:t>  </a:t>
              </a:r>
              <a:r>
                <a:rPr lang="zh-CN" altLang="en-US" sz="2400">
                  <a:latin typeface="楷体_GB2312" pitchFamily="49" charset="-122"/>
                  <a:ea typeface="楷体_GB2312" pitchFamily="49" charset="-122"/>
                </a:rPr>
                <a:t>作出 </a:t>
              </a:r>
              <a:r>
                <a:rPr lang="zh-CN" altLang="en-US" sz="2400">
                  <a:latin typeface="Times New Roman" pitchFamily="18" charset="0"/>
                  <a:ea typeface="仿宋_GB2312" pitchFamily="49" charset="-122"/>
                </a:rPr>
                <a:t>  </a:t>
              </a:r>
              <a:r>
                <a:rPr lang="zh-CN" altLang="en-US" sz="2400">
                  <a:latin typeface="Times New Roman" pitchFamily="18" charset="0"/>
                  <a:ea typeface="楷体_GB2312" pitchFamily="49" charset="-122"/>
                </a:rPr>
                <a:t>图，</a:t>
              </a:r>
              <a:r>
                <a:rPr lang="zh-CN" altLang="en-US" sz="2400">
                  <a:solidFill>
                    <a:srgbClr val="000000"/>
                  </a:solidFill>
                  <a:latin typeface="Times New Roman" pitchFamily="18" charset="0"/>
                  <a:ea typeface="楷体_GB2312" pitchFamily="49" charset="-122"/>
                </a:rPr>
                <a:t>分别取结点</a:t>
              </a:r>
              <a:r>
                <a:rPr lang="en-US" altLang="zh-CN" sz="2400">
                  <a:solidFill>
                    <a:srgbClr val="000000"/>
                  </a:solidFill>
                  <a:latin typeface="Times New Roman" pitchFamily="18" charset="0"/>
                  <a:ea typeface="仿宋_GB2312" pitchFamily="49" charset="-122"/>
                </a:rPr>
                <a:t>1</a:t>
              </a:r>
              <a:r>
                <a:rPr lang="zh-CN" altLang="en-US" sz="2400">
                  <a:solidFill>
                    <a:srgbClr val="000000"/>
                  </a:solidFill>
                  <a:latin typeface="Times New Roman" pitchFamily="18" charset="0"/>
                  <a:ea typeface="楷体_GB2312" pitchFamily="49" charset="-122"/>
                </a:rPr>
                <a:t>和结点</a:t>
              </a:r>
              <a:r>
                <a:rPr lang="en-US" altLang="zh-CN" sz="2400">
                  <a:solidFill>
                    <a:srgbClr val="000000"/>
                  </a:solidFill>
                  <a:latin typeface="Times New Roman" pitchFamily="18" charset="0"/>
                  <a:ea typeface="仿宋_GB2312" pitchFamily="49" charset="-122"/>
                </a:rPr>
                <a:t>2</a:t>
              </a:r>
              <a:r>
                <a:rPr lang="zh-CN" altLang="en-US" sz="2400">
                  <a:solidFill>
                    <a:srgbClr val="000000"/>
                  </a:solidFill>
                  <a:latin typeface="Times New Roman" pitchFamily="18" charset="0"/>
                  <a:ea typeface="楷体_GB2312" pitchFamily="49" charset="-122"/>
                </a:rPr>
                <a:t>为隔离体，</a:t>
              </a:r>
              <a:r>
                <a:rPr lang="zh-CN" altLang="en-US" sz="2400">
                  <a:solidFill>
                    <a:schemeClr val="tx2"/>
                  </a:solidFill>
                  <a:latin typeface="Times New Roman" pitchFamily="18" charset="0"/>
                  <a:ea typeface="楷体_GB2312" pitchFamily="49" charset="-122"/>
                </a:rPr>
                <a:t>由力矩平衡条件得：</a:t>
              </a:r>
              <a:endParaRPr lang="zh-CN" altLang="en-US" sz="2400" b="0">
                <a:latin typeface="Times New Roman" pitchFamily="18" charset="0"/>
                <a:ea typeface="楷体_GB2312" pitchFamily="49" charset="-122"/>
              </a:endParaRPr>
            </a:p>
          </p:txBody>
        </p:sp>
        <p:graphicFrame>
          <p:nvGraphicFramePr>
            <p:cNvPr id="11" name="Object 10"/>
            <p:cNvGraphicFramePr>
              <a:graphicFrameLocks noChangeAspect="1"/>
            </p:cNvGraphicFramePr>
            <p:nvPr/>
          </p:nvGraphicFramePr>
          <p:xfrm>
            <a:off x="1701" y="1525"/>
            <a:ext cx="272" cy="234"/>
          </p:xfrm>
          <a:graphic>
            <a:graphicData uri="http://schemas.openxmlformats.org/presentationml/2006/ole">
              <mc:AlternateContent xmlns:mc="http://schemas.openxmlformats.org/markup-compatibility/2006">
                <mc:Choice xmlns:v="urn:schemas-microsoft-com:vml" Requires="v">
                  <p:oleObj spid="_x0000_s92677" r:id="rId12" imgW="190647" imgH="190500" progId="Equation.3">
                    <p:embed/>
                  </p:oleObj>
                </mc:Choice>
                <mc:Fallback>
                  <p:oleObj r:id="rId12" imgW="190647" imgH="1905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l="-76" t="-1404" r="-5959" b="5614"/>
                        <a:stretch>
                          <a:fillRect/>
                        </a:stretch>
                      </p:blipFill>
                      <p:spPr bwMode="auto">
                        <a:xfrm>
                          <a:off x="1701" y="1525"/>
                          <a:ext cx="272"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2" name="Object 11"/>
          <p:cNvGraphicFramePr>
            <a:graphicFrameLocks noChangeAspect="1"/>
          </p:cNvGraphicFramePr>
          <p:nvPr>
            <p:extLst>
              <p:ext uri="{D42A27DB-BD31-4B8C-83A1-F6EECF244321}">
                <p14:modId xmlns:p14="http://schemas.microsoft.com/office/powerpoint/2010/main" val="2797768866"/>
              </p:ext>
            </p:extLst>
          </p:nvPr>
        </p:nvGraphicFramePr>
        <p:xfrm>
          <a:off x="5203139" y="3313112"/>
          <a:ext cx="2830512" cy="458788"/>
        </p:xfrm>
        <a:graphic>
          <a:graphicData uri="http://schemas.openxmlformats.org/presentationml/2006/ole">
            <mc:AlternateContent xmlns:mc="http://schemas.openxmlformats.org/markup-compatibility/2006">
              <mc:Choice xmlns:v="urn:schemas-microsoft-com:vml" Requires="v">
                <p:oleObj spid="_x0000_s92678" r:id="rId14" imgW="1219082" imgH="171450" progId="Equation.3">
                  <p:embed/>
                </p:oleObj>
              </mc:Choice>
              <mc:Fallback>
                <p:oleObj r:id="rId14" imgW="1219082" imgH="17145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203139" y="3313112"/>
                        <a:ext cx="2830512"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2608068974"/>
              </p:ext>
            </p:extLst>
          </p:nvPr>
        </p:nvGraphicFramePr>
        <p:xfrm>
          <a:off x="5274576" y="3817937"/>
          <a:ext cx="995363" cy="452438"/>
        </p:xfrm>
        <a:graphic>
          <a:graphicData uri="http://schemas.openxmlformats.org/presentationml/2006/ole">
            <mc:AlternateContent xmlns:mc="http://schemas.openxmlformats.org/markup-compatibility/2006">
              <mc:Choice xmlns:v="urn:schemas-microsoft-com:vml" Requires="v">
                <p:oleObj spid="_x0000_s92679" r:id="rId16" imgW="419071" imgH="171450" progId="Equation.3">
                  <p:embed/>
                </p:oleObj>
              </mc:Choice>
              <mc:Fallback>
                <p:oleObj r:id="rId16" imgW="419071" imgH="17145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274576" y="3817937"/>
                        <a:ext cx="995363"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13"/>
          <p:cNvSpPr>
            <a:spLocks noChangeArrowheads="1"/>
          </p:cNvSpPr>
          <p:nvPr/>
        </p:nvSpPr>
        <p:spPr bwMode="auto">
          <a:xfrm>
            <a:off x="1170889" y="2084387"/>
            <a:ext cx="3671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0"/>
              </a:spcBef>
              <a:buFontTx/>
              <a:buNone/>
            </a:pPr>
            <a:r>
              <a:rPr lang="en-US" altLang="zh-CN" sz="2400">
                <a:latin typeface="Times New Roman" pitchFamily="18" charset="0"/>
              </a:rPr>
              <a:t>(4)</a:t>
            </a:r>
            <a:r>
              <a:rPr lang="en-US" altLang="zh-CN" sz="2400">
                <a:latin typeface="宋体" charset="-122"/>
              </a:rPr>
              <a:t> </a:t>
            </a:r>
            <a:r>
              <a:rPr lang="zh-CN" altLang="en-US" sz="2400">
                <a:latin typeface="楷体_GB2312" pitchFamily="49" charset="-122"/>
                <a:ea typeface="楷体_GB2312" pitchFamily="49" charset="-122"/>
              </a:rPr>
              <a:t>计算系数和自由项</a:t>
            </a:r>
          </a:p>
        </p:txBody>
      </p:sp>
    </p:spTree>
    <p:extLst>
      <p:ext uri="{BB962C8B-B14F-4D97-AF65-F5344CB8AC3E}">
        <p14:creationId xmlns:p14="http://schemas.microsoft.com/office/powerpoint/2010/main" val="4013212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lide(fromBottom)">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ox(in)">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trips(downRigh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slide(from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slide(fromBottom)">
                                      <p:cBhvr>
                                        <p:cTn id="32" dur="500"/>
                                        <p:tgtEl>
                                          <p:spTgt spid="6"/>
                                        </p:tgtEl>
                                      </p:cBhvr>
                                    </p:animEffect>
                                  </p:childTnLst>
                                </p:cTn>
                              </p:par>
                            </p:childTnLst>
                          </p:cTn>
                        </p:par>
                        <p:par>
                          <p:cTn id="33" fill="hold">
                            <p:stCondLst>
                              <p:cond delay="500"/>
                            </p:stCondLst>
                            <p:childTnLst>
                              <p:par>
                                <p:cTn id="34" presetID="12" presetClass="entr" presetSubtype="8" fill="hold" nodeType="after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slide(fromLeft)">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wipe(up)">
                                      <p:cBhvr>
                                        <p:cTn id="41" dur="500"/>
                                        <p:tgtEl>
                                          <p:spTgt spid="12"/>
                                        </p:tgtEl>
                                      </p:cBhvr>
                                    </p:animEffect>
                                  </p:childTnLst>
                                </p:cTn>
                              </p:par>
                            </p:childTnLst>
                          </p:cTn>
                        </p:par>
                        <p:par>
                          <p:cTn id="42" fill="hold">
                            <p:stCondLst>
                              <p:cond delay="500"/>
                            </p:stCondLst>
                            <p:childTnLst>
                              <p:par>
                                <p:cTn id="43" presetID="22" presetClass="entr" presetSubtype="1" fill="hold" nodeType="after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wipe(up)">
                                      <p:cBhvr>
                                        <p:cTn id="4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15"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graphicFrame>
        <p:nvGraphicFramePr>
          <p:cNvPr id="4" name="Object 2"/>
          <p:cNvGraphicFramePr>
            <a:graphicFrameLocks noChangeAspect="1"/>
          </p:cNvGraphicFramePr>
          <p:nvPr>
            <p:extLst>
              <p:ext uri="{D42A27DB-BD31-4B8C-83A1-F6EECF244321}">
                <p14:modId xmlns:p14="http://schemas.microsoft.com/office/powerpoint/2010/main" val="3359856396"/>
              </p:ext>
            </p:extLst>
          </p:nvPr>
        </p:nvGraphicFramePr>
        <p:xfrm>
          <a:off x="2250389" y="2630242"/>
          <a:ext cx="4152900" cy="2814638"/>
        </p:xfrm>
        <a:graphic>
          <a:graphicData uri="http://schemas.openxmlformats.org/presentationml/2006/ole">
            <mc:AlternateContent xmlns:mc="http://schemas.openxmlformats.org/markup-compatibility/2006">
              <mc:Choice xmlns:v="urn:schemas-microsoft-com:vml" Requires="v">
                <p:oleObj spid="_x0000_s93618" name="Drawing" r:id="rId4" imgW="9067800" imgH="5267325" progId="AutoCAD.Drawing.16">
                  <p:embed/>
                </p:oleObj>
              </mc:Choice>
              <mc:Fallback>
                <p:oleObj name="Drawing" r:id="rId4" imgW="9067800" imgH="5267325" progId="AutoCAD.Drawing.1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l="23869" t="26837" r="26221" b="7060"/>
                      <a:stretch>
                        <a:fillRect/>
                      </a:stretch>
                    </p:blipFill>
                    <p:spPr bwMode="auto">
                      <a:xfrm>
                        <a:off x="2250389" y="2630242"/>
                        <a:ext cx="4152900" cy="281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3"/>
          <p:cNvGraphicFramePr>
            <a:graphicFrameLocks noChangeAspect="1"/>
          </p:cNvGraphicFramePr>
          <p:nvPr>
            <p:extLst>
              <p:ext uri="{D42A27DB-BD31-4B8C-83A1-F6EECF244321}">
                <p14:modId xmlns:p14="http://schemas.microsoft.com/office/powerpoint/2010/main" val="3492497075"/>
              </p:ext>
            </p:extLst>
          </p:nvPr>
        </p:nvGraphicFramePr>
        <p:xfrm>
          <a:off x="3187014" y="1333255"/>
          <a:ext cx="2068512" cy="1514475"/>
        </p:xfrm>
        <a:graphic>
          <a:graphicData uri="http://schemas.openxmlformats.org/presentationml/2006/ole">
            <mc:AlternateContent xmlns:mc="http://schemas.openxmlformats.org/markup-compatibility/2006">
              <mc:Choice xmlns:v="urn:schemas-microsoft-com:vml" Requires="v">
                <p:oleObj spid="_x0000_s93619" name="AutoCAD Drawing" r:id="rId6" imgW="8905875" imgH="4905375" progId="AutoCAD.Drawing.16">
                  <p:embed/>
                </p:oleObj>
              </mc:Choice>
              <mc:Fallback>
                <p:oleObj name="AutoCAD Drawing" r:id="rId6" imgW="8905875" imgH="4905375" progId="AutoCAD.Drawing.1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l="21097" t="23598" r="43985" b="22957"/>
                      <a:stretch>
                        <a:fillRect/>
                      </a:stretch>
                    </p:blipFill>
                    <p:spPr bwMode="auto">
                      <a:xfrm>
                        <a:off x="3187014" y="1333255"/>
                        <a:ext cx="2068512"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4"/>
          <p:cNvGraphicFramePr>
            <a:graphicFrameLocks noChangeAspect="1"/>
          </p:cNvGraphicFramePr>
          <p:nvPr>
            <p:extLst>
              <p:ext uri="{D42A27DB-BD31-4B8C-83A1-F6EECF244321}">
                <p14:modId xmlns:p14="http://schemas.microsoft.com/office/powerpoint/2010/main" val="1762462381"/>
              </p:ext>
            </p:extLst>
          </p:nvPr>
        </p:nvGraphicFramePr>
        <p:xfrm>
          <a:off x="6355664" y="2773117"/>
          <a:ext cx="1944687" cy="1781175"/>
        </p:xfrm>
        <a:graphic>
          <a:graphicData uri="http://schemas.openxmlformats.org/presentationml/2006/ole">
            <mc:AlternateContent xmlns:mc="http://schemas.openxmlformats.org/markup-compatibility/2006">
              <mc:Choice xmlns:v="urn:schemas-microsoft-com:vml" Requires="v">
                <p:oleObj spid="_x0000_s93620" name="AutoCAD Drawing" r:id="rId8" imgW="8905875" imgH="4905375" progId="AutoCAD.Drawing.16">
                  <p:embed/>
                </p:oleObj>
              </mc:Choice>
              <mc:Fallback>
                <p:oleObj name="AutoCAD Drawing" r:id="rId8" imgW="8905875" imgH="4905375" progId="AutoCAD.Drawing.1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l="54659" t="22087" r="22256" b="28073"/>
                      <a:stretch>
                        <a:fillRect/>
                      </a:stretch>
                    </p:blipFill>
                    <p:spPr bwMode="auto">
                      <a:xfrm>
                        <a:off x="6355664" y="2773117"/>
                        <a:ext cx="1944687" cy="17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863496500"/>
              </p:ext>
            </p:extLst>
          </p:nvPr>
        </p:nvGraphicFramePr>
        <p:xfrm>
          <a:off x="4050614" y="5654430"/>
          <a:ext cx="1192212" cy="466725"/>
        </p:xfrm>
        <a:graphic>
          <a:graphicData uri="http://schemas.openxmlformats.org/presentationml/2006/ole">
            <mc:AlternateContent xmlns:mc="http://schemas.openxmlformats.org/markup-compatibility/2006">
              <mc:Choice xmlns:v="urn:schemas-microsoft-com:vml" Requires="v">
                <p:oleObj spid="_x0000_s93621" r:id="rId10" imgW="419071" imgH="171450" progId="Equation.3">
                  <p:embed/>
                </p:oleObj>
              </mc:Choice>
              <mc:Fallback>
                <p:oleObj r:id="rId10" imgW="419071" imgH="17145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50614" y="5654430"/>
                        <a:ext cx="1192212"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4238665364"/>
              </p:ext>
            </p:extLst>
          </p:nvPr>
        </p:nvGraphicFramePr>
        <p:xfrm>
          <a:off x="4050614" y="6157667"/>
          <a:ext cx="2554287" cy="447675"/>
        </p:xfrm>
        <a:graphic>
          <a:graphicData uri="http://schemas.openxmlformats.org/presentationml/2006/ole">
            <mc:AlternateContent xmlns:mc="http://schemas.openxmlformats.org/markup-compatibility/2006">
              <mc:Choice xmlns:v="urn:schemas-microsoft-com:vml" Requires="v">
                <p:oleObj spid="_x0000_s93622" r:id="rId12" imgW="971594" imgH="171450" progId="Equation.3">
                  <p:embed/>
                </p:oleObj>
              </mc:Choice>
              <mc:Fallback>
                <p:oleObj r:id="rId12" imgW="971594" imgH="17145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50614" y="6157667"/>
                        <a:ext cx="2554287"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9" name="Group 8"/>
          <p:cNvGrpSpPr>
            <a:grpSpLocks/>
          </p:cNvGrpSpPr>
          <p:nvPr/>
        </p:nvGrpSpPr>
        <p:grpSpPr bwMode="auto">
          <a:xfrm>
            <a:off x="1315351" y="1404692"/>
            <a:ext cx="1727200" cy="492125"/>
            <a:chOff x="672" y="554"/>
            <a:chExt cx="967" cy="313"/>
          </a:xfrm>
        </p:grpSpPr>
        <p:graphicFrame>
          <p:nvGraphicFramePr>
            <p:cNvPr id="10" name="Object 9"/>
            <p:cNvGraphicFramePr>
              <a:graphicFrameLocks noChangeAspect="1"/>
            </p:cNvGraphicFramePr>
            <p:nvPr/>
          </p:nvGraphicFramePr>
          <p:xfrm>
            <a:off x="1056" y="554"/>
            <a:ext cx="336" cy="310"/>
          </p:xfrm>
          <a:graphic>
            <a:graphicData uri="http://schemas.openxmlformats.org/presentationml/2006/ole">
              <mc:AlternateContent xmlns:mc="http://schemas.openxmlformats.org/markup-compatibility/2006">
                <mc:Choice xmlns:v="urn:schemas-microsoft-com:vml" Requires="v">
                  <p:oleObj spid="_x0000_s93623" r:id="rId14" imgW="209712" imgH="190500" progId="Equation.3">
                    <p:embed/>
                  </p:oleObj>
                </mc:Choice>
                <mc:Fallback>
                  <p:oleObj r:id="rId14" imgW="209712" imgH="1905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56" y="554"/>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10"/>
            <p:cNvSpPr>
              <a:spLocks noChangeArrowheads="1"/>
            </p:cNvSpPr>
            <p:nvPr/>
          </p:nvSpPr>
          <p:spPr bwMode="auto">
            <a:xfrm>
              <a:off x="672" y="576"/>
              <a:ext cx="9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0"/>
                </a:spcBef>
                <a:buFontTx/>
                <a:buNone/>
              </a:pPr>
              <a:r>
                <a:rPr lang="zh-CN" altLang="en-US" sz="2400">
                  <a:latin typeface="Times New Roman" pitchFamily="18" charset="0"/>
                  <a:ea typeface="楷体_GB2312" pitchFamily="49" charset="-122"/>
                </a:rPr>
                <a:t>作出</a:t>
              </a:r>
              <a:r>
                <a:rPr lang="zh-CN" altLang="en-US" sz="2400">
                  <a:latin typeface="Times New Roman" pitchFamily="18" charset="0"/>
                  <a:ea typeface="仿宋_GB2312" pitchFamily="49" charset="-122"/>
                </a:rPr>
                <a:t>       </a:t>
              </a:r>
              <a:r>
                <a:rPr lang="zh-CN" altLang="en-US" sz="2400">
                  <a:latin typeface="Times New Roman" pitchFamily="18" charset="0"/>
                  <a:ea typeface="楷体_GB2312" pitchFamily="49" charset="-122"/>
                </a:rPr>
                <a:t>图</a:t>
              </a:r>
            </a:p>
          </p:txBody>
        </p:sp>
      </p:grpSp>
      <p:sp>
        <p:nvSpPr>
          <p:cNvPr id="12" name="Rectangle 11"/>
          <p:cNvSpPr>
            <a:spLocks noChangeArrowheads="1"/>
          </p:cNvSpPr>
          <p:nvPr/>
        </p:nvSpPr>
        <p:spPr bwMode="auto">
          <a:xfrm>
            <a:off x="739089" y="5221042"/>
            <a:ext cx="8302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06388"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lgn="just">
              <a:spcBef>
                <a:spcPct val="0"/>
              </a:spcBef>
              <a:buFontTx/>
              <a:buNone/>
            </a:pPr>
            <a:r>
              <a:rPr lang="zh-CN" altLang="en-US" sz="2400">
                <a:solidFill>
                  <a:srgbClr val="000000"/>
                </a:solidFill>
                <a:latin typeface="楷体_GB2312" pitchFamily="49" charset="-122"/>
                <a:ea typeface="楷体_GB2312" pitchFamily="49" charset="-122"/>
              </a:rPr>
              <a:t>分别取结点</a:t>
            </a:r>
            <a:r>
              <a:rPr lang="en-US" altLang="zh-CN" sz="2400" i="1">
                <a:solidFill>
                  <a:srgbClr val="000000"/>
                </a:solidFill>
                <a:latin typeface="Times New Roman" pitchFamily="18" charset="0"/>
                <a:ea typeface="楷体_GB2312" pitchFamily="49" charset="-122"/>
              </a:rPr>
              <a:t>D</a:t>
            </a:r>
            <a:r>
              <a:rPr lang="zh-CN" altLang="en-US" sz="2400">
                <a:solidFill>
                  <a:srgbClr val="000000"/>
                </a:solidFill>
                <a:latin typeface="楷体_GB2312" pitchFamily="49" charset="-122"/>
                <a:ea typeface="楷体_GB2312" pitchFamily="49" charset="-122"/>
              </a:rPr>
              <a:t>和结点</a:t>
            </a:r>
            <a:r>
              <a:rPr lang="en-US" altLang="zh-CN" sz="2400" i="1">
                <a:solidFill>
                  <a:srgbClr val="000000"/>
                </a:solidFill>
                <a:latin typeface="Times New Roman" pitchFamily="18" charset="0"/>
                <a:ea typeface="楷体_GB2312" pitchFamily="49" charset="-122"/>
              </a:rPr>
              <a:t>E</a:t>
            </a:r>
            <a:r>
              <a:rPr lang="zh-CN" altLang="en-US" sz="2400">
                <a:solidFill>
                  <a:srgbClr val="000000"/>
                </a:solidFill>
                <a:latin typeface="楷体_GB2312" pitchFamily="49" charset="-122"/>
                <a:ea typeface="楷体_GB2312" pitchFamily="49" charset="-122"/>
              </a:rPr>
              <a:t>为隔离体，</a:t>
            </a:r>
            <a:r>
              <a:rPr lang="zh-CN" altLang="en-US" sz="2400">
                <a:latin typeface="楷体_GB2312" pitchFamily="49" charset="-122"/>
                <a:ea typeface="楷体_GB2312" pitchFamily="49" charset="-122"/>
              </a:rPr>
              <a:t>由力矩平衡条件得：</a:t>
            </a:r>
            <a:endParaRPr lang="zh-CN" altLang="en-US" sz="2400" b="0">
              <a:latin typeface="楷体_GB2312" pitchFamily="49" charset="-122"/>
              <a:ea typeface="楷体_GB2312" pitchFamily="49" charset="-122"/>
            </a:endParaRPr>
          </a:p>
        </p:txBody>
      </p:sp>
    </p:spTree>
    <p:extLst>
      <p:ext uri="{BB962C8B-B14F-4D97-AF65-F5344CB8AC3E}">
        <p14:creationId xmlns:p14="http://schemas.microsoft.com/office/powerpoint/2010/main" val="4013212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7"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0" fill="hold"/>
                                        <p:tgtEl>
                                          <p:spTgt spid="4"/>
                                        </p:tgtEl>
                                        <p:attrNameLst>
                                          <p:attrName>ppt_x</p:attrName>
                                        </p:attrNameLst>
                                      </p:cBhvr>
                                      <p:tavLst>
                                        <p:tav tm="0">
                                          <p:val>
                                            <p:strVal val="#ppt_x"/>
                                          </p:val>
                                        </p:tav>
                                        <p:tav tm="100000">
                                          <p:val>
                                            <p:strVal val="#ppt_x"/>
                                          </p:val>
                                        </p:tav>
                                      </p:tavLst>
                                    </p:anim>
                                    <p:anim calcmode="lin" valueType="num">
                                      <p:cBhvr additive="base">
                                        <p:cTn id="12" dur="50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slide(fromBottom)">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slide(fromLeft)">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slide(fromBottom)">
                                      <p:cBhvr>
                                        <p:cTn id="31" dur="500"/>
                                        <p:tgtEl>
                                          <p:spTgt spid="7"/>
                                        </p:tgtEl>
                                      </p:cBhvr>
                                    </p:animEffect>
                                  </p:childTnLst>
                                </p:cTn>
                              </p:par>
                            </p:childTnLst>
                          </p:cTn>
                        </p:par>
                        <p:par>
                          <p:cTn id="32" fill="hold">
                            <p:stCondLst>
                              <p:cond delay="500"/>
                            </p:stCondLst>
                            <p:childTnLst>
                              <p:par>
                                <p:cTn id="33" presetID="12" presetClass="entr" presetSubtype="4" fill="hold"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slide(fromBottom)">
                                      <p:cBhvr>
                                        <p:cTn id="3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graphicFrame>
        <p:nvGraphicFramePr>
          <p:cNvPr id="4" name="Object 2"/>
          <p:cNvGraphicFramePr>
            <a:graphicFrameLocks noChangeAspect="1"/>
          </p:cNvGraphicFramePr>
          <p:nvPr>
            <p:extLst>
              <p:ext uri="{D42A27DB-BD31-4B8C-83A1-F6EECF244321}">
                <p14:modId xmlns:p14="http://schemas.microsoft.com/office/powerpoint/2010/main" val="1302783193"/>
              </p:ext>
            </p:extLst>
          </p:nvPr>
        </p:nvGraphicFramePr>
        <p:xfrm>
          <a:off x="2390775" y="2940051"/>
          <a:ext cx="3600450" cy="2241550"/>
        </p:xfrm>
        <a:graphic>
          <a:graphicData uri="http://schemas.openxmlformats.org/presentationml/2006/ole">
            <mc:AlternateContent xmlns:mc="http://schemas.openxmlformats.org/markup-compatibility/2006">
              <mc:Choice xmlns:v="urn:schemas-microsoft-com:vml" Requires="v">
                <p:oleObj spid="_x0000_s94565" name="Drawing" r:id="rId4" imgW="9067800" imgH="5267325" progId="AutoCAD.Drawing.16">
                  <p:embed/>
                </p:oleObj>
              </mc:Choice>
              <mc:Fallback>
                <p:oleObj name="Drawing" r:id="rId4" imgW="9067800" imgH="5267325" progId="AutoCAD.Drawing.1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l="42676" t="21161" r="8853" b="26010"/>
                      <a:stretch>
                        <a:fillRect/>
                      </a:stretch>
                    </p:blipFill>
                    <p:spPr bwMode="auto">
                      <a:xfrm>
                        <a:off x="2390775" y="2940051"/>
                        <a:ext cx="3600450" cy="224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3"/>
          <p:cNvGraphicFramePr>
            <a:graphicFrameLocks noChangeAspect="1"/>
          </p:cNvGraphicFramePr>
          <p:nvPr>
            <p:extLst>
              <p:ext uri="{D42A27DB-BD31-4B8C-83A1-F6EECF244321}">
                <p14:modId xmlns:p14="http://schemas.microsoft.com/office/powerpoint/2010/main" val="1352185595"/>
              </p:ext>
            </p:extLst>
          </p:nvPr>
        </p:nvGraphicFramePr>
        <p:xfrm>
          <a:off x="3327400" y="1427163"/>
          <a:ext cx="2016125" cy="1547813"/>
        </p:xfrm>
        <a:graphic>
          <a:graphicData uri="http://schemas.openxmlformats.org/presentationml/2006/ole">
            <mc:AlternateContent xmlns:mc="http://schemas.openxmlformats.org/markup-compatibility/2006">
              <mc:Choice xmlns:v="urn:schemas-microsoft-com:vml" Requires="v">
                <p:oleObj spid="_x0000_s94566" name="AutoCAD Drawing" r:id="rId6" imgW="8905875" imgH="4905375" progId="AutoCAD.Drawing.16">
                  <p:embed/>
                </p:oleObj>
              </mc:Choice>
              <mc:Fallback>
                <p:oleObj name="AutoCAD Drawing" r:id="rId6" imgW="8905875" imgH="4905375" progId="AutoCAD.Drawing.1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l="19487" t="26199" r="43985" b="22957"/>
                      <a:stretch>
                        <a:fillRect/>
                      </a:stretch>
                    </p:blipFill>
                    <p:spPr bwMode="auto">
                      <a:xfrm>
                        <a:off x="3327400" y="1427163"/>
                        <a:ext cx="2016125" cy="154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4"/>
          <p:cNvGraphicFramePr>
            <a:graphicFrameLocks noChangeAspect="1"/>
          </p:cNvGraphicFramePr>
          <p:nvPr>
            <p:extLst>
              <p:ext uri="{D42A27DB-BD31-4B8C-83A1-F6EECF244321}">
                <p14:modId xmlns:p14="http://schemas.microsoft.com/office/powerpoint/2010/main" val="2911261926"/>
              </p:ext>
            </p:extLst>
          </p:nvPr>
        </p:nvGraphicFramePr>
        <p:xfrm>
          <a:off x="6278563" y="2868613"/>
          <a:ext cx="1604962" cy="1801813"/>
        </p:xfrm>
        <a:graphic>
          <a:graphicData uri="http://schemas.openxmlformats.org/presentationml/2006/ole">
            <mc:AlternateContent xmlns:mc="http://schemas.openxmlformats.org/markup-compatibility/2006">
              <mc:Choice xmlns:v="urn:schemas-microsoft-com:vml" Requires="v">
                <p:oleObj spid="_x0000_s94567" name="AutoCAD Drawing" r:id="rId8" imgW="5895975" imgH="4181475" progId="AutoCAD.Drawing.16">
                  <p:embed/>
                </p:oleObj>
              </mc:Choice>
              <mc:Fallback>
                <p:oleObj name="AutoCAD Drawing" r:id="rId8" imgW="5895975" imgH="4181475" progId="AutoCAD.Drawing.1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l="44661" t="42320" r="32899" b="19710"/>
                      <a:stretch>
                        <a:fillRect/>
                      </a:stretch>
                    </p:blipFill>
                    <p:spPr bwMode="auto">
                      <a:xfrm>
                        <a:off x="6278563" y="2868613"/>
                        <a:ext cx="1604962" cy="180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4083381621"/>
              </p:ext>
            </p:extLst>
          </p:nvPr>
        </p:nvGraphicFramePr>
        <p:xfrm>
          <a:off x="3327400" y="5707063"/>
          <a:ext cx="935038" cy="422275"/>
        </p:xfrm>
        <a:graphic>
          <a:graphicData uri="http://schemas.openxmlformats.org/presentationml/2006/ole">
            <mc:AlternateContent xmlns:mc="http://schemas.openxmlformats.org/markup-compatibility/2006">
              <mc:Choice xmlns:v="urn:schemas-microsoft-com:vml" Requires="v">
                <p:oleObj spid="_x0000_s94568" r:id="rId10" imgW="542991" imgH="190500" progId="Equation.3">
                  <p:embed/>
                </p:oleObj>
              </mc:Choice>
              <mc:Fallback>
                <p:oleObj r:id="rId10" imgW="542991" imgH="1905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27400" y="5707063"/>
                        <a:ext cx="935038"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356187837"/>
              </p:ext>
            </p:extLst>
          </p:nvPr>
        </p:nvGraphicFramePr>
        <p:xfrm>
          <a:off x="3327400" y="6180138"/>
          <a:ext cx="836613" cy="425450"/>
        </p:xfrm>
        <a:graphic>
          <a:graphicData uri="http://schemas.openxmlformats.org/presentationml/2006/ole">
            <mc:AlternateContent xmlns:mc="http://schemas.openxmlformats.org/markup-compatibility/2006">
              <mc:Choice xmlns:v="urn:schemas-microsoft-com:vml" Requires="v">
                <p:oleObj spid="_x0000_s94569" r:id="rId12" imgW="476265" imgH="190500" progId="Equation.3">
                  <p:embed/>
                </p:oleObj>
              </mc:Choice>
              <mc:Fallback>
                <p:oleObj r:id="rId12" imgW="476265" imgH="1905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27400" y="6180138"/>
                        <a:ext cx="836613"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8"/>
          <p:cNvSpPr>
            <a:spLocks noChangeArrowheads="1"/>
          </p:cNvSpPr>
          <p:nvPr/>
        </p:nvSpPr>
        <p:spPr bwMode="auto">
          <a:xfrm>
            <a:off x="1454150" y="1500188"/>
            <a:ext cx="145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lgn="just" eaLnBrk="1" hangingPunct="1">
              <a:spcBef>
                <a:spcPct val="0"/>
              </a:spcBef>
              <a:buFontTx/>
              <a:buNone/>
            </a:pPr>
            <a:r>
              <a:rPr lang="zh-CN" altLang="en-US" sz="2400">
                <a:latin typeface="楷体_GB2312" pitchFamily="49" charset="-122"/>
                <a:ea typeface="楷体_GB2312" pitchFamily="49" charset="-122"/>
              </a:rPr>
              <a:t>作</a:t>
            </a:r>
            <a:r>
              <a:rPr lang="en-US" altLang="zh-CN" sz="2400" b="0" i="1">
                <a:solidFill>
                  <a:srgbClr val="FF00FF"/>
                </a:solidFill>
                <a:latin typeface="Times New Roman" pitchFamily="18" charset="0"/>
                <a:ea typeface="楷体_GB2312" pitchFamily="49" charset="-122"/>
              </a:rPr>
              <a:t>M</a:t>
            </a:r>
            <a:r>
              <a:rPr lang="en-US" altLang="zh-CN" sz="2400" b="0" baseline="-25000">
                <a:solidFill>
                  <a:srgbClr val="FF00FF"/>
                </a:solidFill>
                <a:latin typeface="Times New Roman" pitchFamily="18" charset="0"/>
                <a:ea typeface="楷体_GB2312" pitchFamily="49" charset="-122"/>
              </a:rPr>
              <a:t>P</a:t>
            </a:r>
            <a:r>
              <a:rPr lang="zh-CN" altLang="en-US" sz="2400">
                <a:latin typeface="楷体_GB2312" pitchFamily="49" charset="-122"/>
                <a:ea typeface="楷体_GB2312" pitchFamily="49" charset="-122"/>
              </a:rPr>
              <a:t>图</a:t>
            </a:r>
            <a:endParaRPr lang="zh-CN" altLang="en-US" sz="2400" b="0">
              <a:latin typeface="楷体_GB2312" pitchFamily="49" charset="-122"/>
              <a:ea typeface="楷体_GB2312" pitchFamily="49" charset="-122"/>
            </a:endParaRPr>
          </a:p>
        </p:txBody>
      </p:sp>
      <p:sp>
        <p:nvSpPr>
          <p:cNvPr id="10" name="Rectangle 9"/>
          <p:cNvSpPr>
            <a:spLocks noChangeArrowheads="1"/>
          </p:cNvSpPr>
          <p:nvPr/>
        </p:nvSpPr>
        <p:spPr bwMode="auto">
          <a:xfrm>
            <a:off x="877888" y="5172076"/>
            <a:ext cx="70580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06388"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lgn="just" eaLnBrk="1" hangingPunct="1">
              <a:spcBef>
                <a:spcPct val="0"/>
              </a:spcBef>
              <a:buFontTx/>
              <a:buNone/>
            </a:pPr>
            <a:r>
              <a:rPr lang="en-US" altLang="zh-CN" sz="2400">
                <a:solidFill>
                  <a:srgbClr val="000000"/>
                </a:solidFill>
                <a:latin typeface="楷体_GB2312" pitchFamily="49" charset="-122"/>
                <a:ea typeface="楷体_GB2312" pitchFamily="49" charset="-122"/>
              </a:rPr>
              <a:t>  </a:t>
            </a:r>
            <a:r>
              <a:rPr lang="zh-CN" altLang="en-US" sz="2400">
                <a:solidFill>
                  <a:srgbClr val="000000"/>
                </a:solidFill>
                <a:latin typeface="Times New Roman" pitchFamily="18" charset="0"/>
                <a:ea typeface="楷体_GB2312" pitchFamily="49" charset="-122"/>
              </a:rPr>
              <a:t>分别取结点</a:t>
            </a:r>
            <a:r>
              <a:rPr lang="en-US" altLang="zh-CN" sz="2400" i="1">
                <a:solidFill>
                  <a:srgbClr val="000000"/>
                </a:solidFill>
                <a:latin typeface="Times New Roman" pitchFamily="18" charset="0"/>
                <a:ea typeface="楷体_GB2312" pitchFamily="49" charset="-122"/>
              </a:rPr>
              <a:t>D</a:t>
            </a:r>
            <a:r>
              <a:rPr lang="zh-CN" altLang="en-US" sz="2400">
                <a:solidFill>
                  <a:srgbClr val="000000"/>
                </a:solidFill>
                <a:latin typeface="Times New Roman" pitchFamily="18" charset="0"/>
                <a:ea typeface="楷体_GB2312" pitchFamily="49" charset="-122"/>
              </a:rPr>
              <a:t>和结点</a:t>
            </a:r>
            <a:r>
              <a:rPr lang="en-US" altLang="zh-CN" sz="2400" i="1">
                <a:solidFill>
                  <a:srgbClr val="000000"/>
                </a:solidFill>
                <a:latin typeface="Times New Roman" pitchFamily="18" charset="0"/>
                <a:ea typeface="楷体_GB2312" pitchFamily="49" charset="-122"/>
              </a:rPr>
              <a:t>E</a:t>
            </a:r>
            <a:r>
              <a:rPr lang="zh-CN" altLang="en-US" sz="2400">
                <a:solidFill>
                  <a:srgbClr val="000000"/>
                </a:solidFill>
                <a:latin typeface="Times New Roman" pitchFamily="18" charset="0"/>
                <a:ea typeface="楷体_GB2312" pitchFamily="49" charset="-122"/>
              </a:rPr>
              <a:t>为隔离体，</a:t>
            </a:r>
            <a:r>
              <a:rPr lang="zh-CN" altLang="en-US" sz="2400">
                <a:latin typeface="Times New Roman" pitchFamily="18" charset="0"/>
                <a:ea typeface="楷体_GB2312" pitchFamily="49" charset="-122"/>
              </a:rPr>
              <a:t>由力矩平衡条件得：</a:t>
            </a:r>
            <a:endParaRPr lang="zh-CN" altLang="en-US" sz="2400" b="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763798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7"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0" fill="hold"/>
                                        <p:tgtEl>
                                          <p:spTgt spid="4"/>
                                        </p:tgtEl>
                                        <p:attrNameLst>
                                          <p:attrName>ppt_x</p:attrName>
                                        </p:attrNameLst>
                                      </p:cBhvr>
                                      <p:tavLst>
                                        <p:tav tm="0">
                                          <p:val>
                                            <p:strVal val="#ppt_x"/>
                                          </p:val>
                                        </p:tav>
                                        <p:tav tm="100000">
                                          <p:val>
                                            <p:strVal val="#ppt_x"/>
                                          </p:val>
                                        </p:tav>
                                      </p:tavLst>
                                    </p:anim>
                                    <p:anim calcmode="lin" valueType="num">
                                      <p:cBhvr additive="base">
                                        <p:cTn id="12" dur="50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slide(fromBottom)">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slide(from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7" presetClass="entr" presetSubtype="4"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0" fill="hold"/>
                                        <p:tgtEl>
                                          <p:spTgt spid="7"/>
                                        </p:tgtEl>
                                        <p:attrNameLst>
                                          <p:attrName>ppt_x</p:attrName>
                                        </p:attrNameLst>
                                      </p:cBhvr>
                                      <p:tavLst>
                                        <p:tav tm="0">
                                          <p:val>
                                            <p:strVal val="#ppt_x"/>
                                          </p:val>
                                        </p:tav>
                                        <p:tav tm="100000">
                                          <p:val>
                                            <p:strVal val="#ppt_x"/>
                                          </p:val>
                                        </p:tav>
                                      </p:tavLst>
                                    </p:anim>
                                    <p:anim calcmode="lin" valueType="num">
                                      <p:cBhvr additive="base">
                                        <p:cTn id="32" dur="50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5000"/>
                            </p:stCondLst>
                            <p:childTnLst>
                              <p:par>
                                <p:cTn id="34" presetID="7" presetClass="entr" presetSubtype="4" fill="hold"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0" fill="hold"/>
                                        <p:tgtEl>
                                          <p:spTgt spid="8"/>
                                        </p:tgtEl>
                                        <p:attrNameLst>
                                          <p:attrName>ppt_x</p:attrName>
                                        </p:attrNameLst>
                                      </p:cBhvr>
                                      <p:tavLst>
                                        <p:tav tm="0">
                                          <p:val>
                                            <p:strVal val="#ppt_x"/>
                                          </p:val>
                                        </p:tav>
                                        <p:tav tm="100000">
                                          <p:val>
                                            <p:strVal val="#ppt_x"/>
                                          </p:val>
                                        </p:tav>
                                      </p:tavLst>
                                    </p:anim>
                                    <p:anim calcmode="lin" valueType="num">
                                      <p:cBhvr additive="base">
                                        <p:cTn id="37" dur="50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0"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7-5 </a:t>
            </a:r>
            <a:r>
              <a:rPr lang="zh-CN" altLang="en-US" dirty="0"/>
              <a:t>位移法的基本体系</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2015-12-28</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graphicFrame>
        <p:nvGraphicFramePr>
          <p:cNvPr id="4" name="Object 2"/>
          <p:cNvGraphicFramePr>
            <a:graphicFrameLocks noChangeAspect="1"/>
          </p:cNvGraphicFramePr>
          <p:nvPr>
            <p:extLst>
              <p:ext uri="{D42A27DB-BD31-4B8C-83A1-F6EECF244321}">
                <p14:modId xmlns:p14="http://schemas.microsoft.com/office/powerpoint/2010/main" val="3348969427"/>
              </p:ext>
            </p:extLst>
          </p:nvPr>
        </p:nvGraphicFramePr>
        <p:xfrm>
          <a:off x="1120761" y="1966764"/>
          <a:ext cx="2514600" cy="860425"/>
        </p:xfrm>
        <a:graphic>
          <a:graphicData uri="http://schemas.openxmlformats.org/presentationml/2006/ole">
            <mc:AlternateContent xmlns:mc="http://schemas.openxmlformats.org/markup-compatibility/2006">
              <mc:Choice xmlns:v="urn:schemas-microsoft-com:vml" Requires="v">
                <p:oleObj spid="_x0000_s95724" r:id="rId4" imgW="1304874" imgH="419100" progId="Equation.3">
                  <p:embed/>
                </p:oleObj>
              </mc:Choice>
              <mc:Fallback>
                <p:oleObj r:id="rId4" imgW="1304874" imgH="4191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0761" y="1966764"/>
                        <a:ext cx="25146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3"/>
          <p:cNvSpPr>
            <a:spLocks noChangeArrowheads="1"/>
          </p:cNvSpPr>
          <p:nvPr/>
        </p:nvSpPr>
        <p:spPr bwMode="auto">
          <a:xfrm>
            <a:off x="906448" y="1319064"/>
            <a:ext cx="6858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lnSpc>
                <a:spcPct val="50000"/>
              </a:lnSpc>
              <a:spcBef>
                <a:spcPct val="50000"/>
              </a:spcBef>
              <a:buFontTx/>
              <a:buNone/>
            </a:pPr>
            <a:r>
              <a:rPr lang="en-US" altLang="zh-CN" sz="2400">
                <a:latin typeface="Times New Roman" pitchFamily="18" charset="0"/>
                <a:ea typeface="仿宋_GB2312" pitchFamily="49" charset="-122"/>
              </a:rPr>
              <a:t>(5) </a:t>
            </a:r>
            <a:r>
              <a:rPr lang="zh-CN" altLang="en-US" sz="2400">
                <a:latin typeface="Times New Roman" pitchFamily="18" charset="0"/>
                <a:ea typeface="楷体_GB2312" pitchFamily="49" charset="-122"/>
              </a:rPr>
              <a:t>解算位移法方程</a:t>
            </a:r>
          </a:p>
        </p:txBody>
      </p:sp>
      <p:grpSp>
        <p:nvGrpSpPr>
          <p:cNvPr id="6" name="Group 4"/>
          <p:cNvGrpSpPr>
            <a:grpSpLocks/>
          </p:cNvGrpSpPr>
          <p:nvPr/>
        </p:nvGrpSpPr>
        <p:grpSpPr bwMode="auto">
          <a:xfrm>
            <a:off x="761986" y="2830364"/>
            <a:ext cx="7535019" cy="831850"/>
            <a:chOff x="720" y="1469"/>
            <a:chExt cx="4531" cy="524"/>
          </a:xfrm>
        </p:grpSpPr>
        <p:sp>
          <p:nvSpPr>
            <p:cNvPr id="7" name="Rectangle 5"/>
            <p:cNvSpPr>
              <a:spLocks noChangeArrowheads="1"/>
            </p:cNvSpPr>
            <p:nvPr/>
          </p:nvSpPr>
          <p:spPr bwMode="auto">
            <a:xfrm>
              <a:off x="720" y="1469"/>
              <a:ext cx="4531" cy="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lnSpc>
                  <a:spcPct val="70000"/>
                </a:lnSpc>
                <a:spcBef>
                  <a:spcPct val="50000"/>
                </a:spcBef>
                <a:buFontTx/>
                <a:buNone/>
              </a:pPr>
              <a:r>
                <a:rPr lang="en-US" altLang="zh-CN" sz="2400" dirty="0">
                  <a:latin typeface="Times New Roman" pitchFamily="18" charset="0"/>
                  <a:ea typeface="仿宋_GB2312" pitchFamily="49" charset="-122"/>
                </a:rPr>
                <a:t>(6) </a:t>
              </a:r>
              <a:r>
                <a:rPr lang="zh-CN" altLang="en-US" sz="2400" dirty="0">
                  <a:latin typeface="楷体_GB2312" pitchFamily="49" charset="-122"/>
                  <a:ea typeface="楷体_GB2312" pitchFamily="49" charset="-122"/>
                </a:rPr>
                <a:t>作弯矩图。</a:t>
              </a:r>
              <a:endParaRPr lang="zh-CN" altLang="en-US" sz="2400" b="0" dirty="0">
                <a:latin typeface="楷体_GB2312" pitchFamily="49" charset="-122"/>
                <a:ea typeface="楷体_GB2312" pitchFamily="49" charset="-122"/>
              </a:endParaRPr>
            </a:p>
            <a:p>
              <a:pPr>
                <a:lnSpc>
                  <a:spcPct val="70000"/>
                </a:lnSpc>
                <a:spcBef>
                  <a:spcPct val="50000"/>
                </a:spcBef>
                <a:buFontTx/>
                <a:buNone/>
              </a:pPr>
              <a:r>
                <a:rPr lang="zh-CN" altLang="en-US" sz="2400" dirty="0">
                  <a:latin typeface="楷体_GB2312" pitchFamily="49" charset="-122"/>
                  <a:ea typeface="楷体_GB2312" pitchFamily="49" charset="-122"/>
                </a:rPr>
                <a:t>根据                                按叠加法绘制最后弯矩图</a:t>
              </a:r>
              <a:r>
                <a:rPr lang="zh-CN" altLang="en-US" sz="2400" dirty="0">
                  <a:solidFill>
                    <a:schemeClr val="tx2"/>
                  </a:solidFill>
                  <a:latin typeface="楷体_GB2312" pitchFamily="49" charset="-122"/>
                  <a:ea typeface="楷体_GB2312" pitchFamily="49" charset="-122"/>
                </a:rPr>
                <a:t>。</a:t>
              </a:r>
            </a:p>
          </p:txBody>
        </p:sp>
        <p:graphicFrame>
          <p:nvGraphicFramePr>
            <p:cNvPr id="8" name="Object 6"/>
            <p:cNvGraphicFramePr>
              <a:graphicFrameLocks noChangeAspect="1"/>
            </p:cNvGraphicFramePr>
            <p:nvPr/>
          </p:nvGraphicFramePr>
          <p:xfrm>
            <a:off x="1202" y="1706"/>
            <a:ext cx="1680" cy="287"/>
          </p:xfrm>
          <a:graphic>
            <a:graphicData uri="http://schemas.openxmlformats.org/presentationml/2006/ole">
              <mc:AlternateContent xmlns:mc="http://schemas.openxmlformats.org/markup-compatibility/2006">
                <mc:Choice xmlns:v="urn:schemas-microsoft-com:vml" Requires="v">
                  <p:oleObj spid="_x0000_s95725" r:id="rId6" imgW="1562247" imgH="200025" progId="Equation.3">
                    <p:embed/>
                  </p:oleObj>
                </mc:Choice>
                <mc:Fallback>
                  <p:oleObj r:id="rId6" imgW="1562247" imgH="200025"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02" y="1706"/>
                          <a:ext cx="1680"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9" name="Object 7"/>
          <p:cNvGraphicFramePr>
            <a:graphicFrameLocks noChangeAspect="1"/>
          </p:cNvGraphicFramePr>
          <p:nvPr>
            <p:extLst>
              <p:ext uri="{D42A27DB-BD31-4B8C-83A1-F6EECF244321}">
                <p14:modId xmlns:p14="http://schemas.microsoft.com/office/powerpoint/2010/main" val="565873873"/>
              </p:ext>
            </p:extLst>
          </p:nvPr>
        </p:nvGraphicFramePr>
        <p:xfrm>
          <a:off x="833423" y="3622527"/>
          <a:ext cx="3673475" cy="1995487"/>
        </p:xfrm>
        <a:graphic>
          <a:graphicData uri="http://schemas.openxmlformats.org/presentationml/2006/ole">
            <mc:AlternateContent xmlns:mc="http://schemas.openxmlformats.org/markup-compatibility/2006">
              <mc:Choice xmlns:v="urn:schemas-microsoft-com:vml" Requires="v">
                <p:oleObj spid="_x0000_s95726" name="AutoCAD Drawing" r:id="rId8" imgW="8905875" imgH="4905375" progId="AutoCAD.Drawing.16">
                  <p:embed/>
                </p:oleObj>
              </mc:Choice>
              <mc:Fallback>
                <p:oleObj name="AutoCAD Drawing" r:id="rId8" imgW="8905875" imgH="4905375" progId="AutoCAD.Drawing.1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l="13190" t="25299" r="29837" b="18289"/>
                      <a:stretch>
                        <a:fillRect/>
                      </a:stretch>
                    </p:blipFill>
                    <p:spPr bwMode="auto">
                      <a:xfrm>
                        <a:off x="833423" y="3622527"/>
                        <a:ext cx="3673475" cy="199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8"/>
          <p:cNvSpPr>
            <a:spLocks noChangeArrowheads="1"/>
          </p:cNvSpPr>
          <p:nvPr/>
        </p:nvSpPr>
        <p:spPr bwMode="auto">
          <a:xfrm>
            <a:off x="833423" y="1679427"/>
            <a:ext cx="50863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lnSpc>
                <a:spcPct val="50000"/>
              </a:lnSpc>
              <a:spcBef>
                <a:spcPct val="50000"/>
              </a:spcBef>
              <a:buFontTx/>
              <a:buNone/>
            </a:pPr>
            <a:r>
              <a:rPr lang="zh-CN" altLang="en-US" sz="2400">
                <a:latin typeface="楷体_GB2312" pitchFamily="49" charset="-122"/>
                <a:ea typeface="楷体_GB2312" pitchFamily="49" charset="-122"/>
              </a:rPr>
              <a:t>将系数和自由项代入位移法方程，得</a:t>
            </a:r>
          </a:p>
        </p:txBody>
      </p:sp>
      <p:sp>
        <p:nvSpPr>
          <p:cNvPr id="11" name="Rectangle 9"/>
          <p:cNvSpPr>
            <a:spLocks noChangeArrowheads="1"/>
          </p:cNvSpPr>
          <p:nvPr/>
        </p:nvSpPr>
        <p:spPr bwMode="auto">
          <a:xfrm>
            <a:off x="904861" y="5783114"/>
            <a:ext cx="7391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lnSpc>
                <a:spcPct val="50000"/>
              </a:lnSpc>
              <a:spcBef>
                <a:spcPct val="50000"/>
              </a:spcBef>
              <a:buFontTx/>
              <a:buNone/>
            </a:pPr>
            <a:r>
              <a:rPr lang="en-US" altLang="zh-CN" sz="2400">
                <a:latin typeface="Times New Roman" pitchFamily="18" charset="0"/>
                <a:ea typeface="仿宋_GB2312" pitchFamily="49" charset="-122"/>
              </a:rPr>
              <a:t>(7) </a:t>
            </a:r>
            <a:r>
              <a:rPr lang="zh-CN" altLang="en-US" sz="2400">
                <a:latin typeface="楷体_GB2312" pitchFamily="49" charset="-122"/>
                <a:ea typeface="楷体_GB2312" pitchFamily="49" charset="-122"/>
              </a:rPr>
              <a:t>校核 取结点</a:t>
            </a:r>
            <a:r>
              <a:rPr lang="en-US" altLang="zh-CN" sz="2400" i="1">
                <a:latin typeface="Times New Roman" pitchFamily="18" charset="0"/>
                <a:ea typeface="楷体_GB2312" pitchFamily="49" charset="-122"/>
              </a:rPr>
              <a:t>D</a:t>
            </a:r>
            <a:r>
              <a:rPr lang="zh-CN" altLang="en-US" sz="2400">
                <a:latin typeface="楷体_GB2312" pitchFamily="49" charset="-122"/>
                <a:ea typeface="楷体_GB2312" pitchFamily="49" charset="-122"/>
              </a:rPr>
              <a:t>和结点</a:t>
            </a:r>
            <a:r>
              <a:rPr lang="en-US" altLang="zh-CN" sz="2400" i="1">
                <a:latin typeface="Times New Roman" pitchFamily="18" charset="0"/>
                <a:ea typeface="楷体_GB2312" pitchFamily="49" charset="-122"/>
              </a:rPr>
              <a:t>E</a:t>
            </a:r>
            <a:r>
              <a:rPr lang="zh-CN" altLang="en-US" sz="2400">
                <a:latin typeface="楷体_GB2312" pitchFamily="49" charset="-122"/>
                <a:ea typeface="楷体_GB2312" pitchFamily="49" charset="-122"/>
              </a:rPr>
              <a:t>为隔离体。</a:t>
            </a:r>
            <a:endParaRPr lang="zh-CN" altLang="en-US" sz="2400" b="0">
              <a:latin typeface="Times New Roman" pitchFamily="18" charset="0"/>
            </a:endParaRPr>
          </a:p>
        </p:txBody>
      </p:sp>
      <p:graphicFrame>
        <p:nvGraphicFramePr>
          <p:cNvPr id="12" name="Object 10"/>
          <p:cNvGraphicFramePr>
            <a:graphicFrameLocks noChangeAspect="1"/>
          </p:cNvGraphicFramePr>
          <p:nvPr>
            <p:extLst>
              <p:ext uri="{D42A27DB-BD31-4B8C-83A1-F6EECF244321}">
                <p14:modId xmlns:p14="http://schemas.microsoft.com/office/powerpoint/2010/main" val="2947536702"/>
              </p:ext>
            </p:extLst>
          </p:nvPr>
        </p:nvGraphicFramePr>
        <p:xfrm>
          <a:off x="4217973" y="3906689"/>
          <a:ext cx="2160588" cy="1397000"/>
        </p:xfrm>
        <a:graphic>
          <a:graphicData uri="http://schemas.openxmlformats.org/presentationml/2006/ole">
            <mc:AlternateContent xmlns:mc="http://schemas.openxmlformats.org/markup-compatibility/2006">
              <mc:Choice xmlns:v="urn:schemas-microsoft-com:vml" Requires="v">
                <p:oleObj spid="_x0000_s95727" name="Drawing" r:id="rId10" imgW="9067800" imgH="5267325" progId="AutoCAD.Drawing.16">
                  <p:embed/>
                </p:oleObj>
              </mc:Choice>
              <mc:Fallback>
                <p:oleObj name="Drawing" r:id="rId10" imgW="9067800" imgH="5267325" progId="AutoCAD.Drawing.16">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l="3365" t="22334" r="55006" b="27106"/>
                      <a:stretch>
                        <a:fillRect/>
                      </a:stretch>
                    </p:blipFill>
                    <p:spPr bwMode="auto">
                      <a:xfrm>
                        <a:off x="4217973" y="3906689"/>
                        <a:ext cx="2160588" cy="139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1"/>
          <p:cNvGraphicFramePr>
            <a:graphicFrameLocks noChangeAspect="1"/>
          </p:cNvGraphicFramePr>
          <p:nvPr>
            <p:extLst>
              <p:ext uri="{D42A27DB-BD31-4B8C-83A1-F6EECF244321}">
                <p14:modId xmlns:p14="http://schemas.microsoft.com/office/powerpoint/2010/main" val="1395345979"/>
              </p:ext>
            </p:extLst>
          </p:nvPr>
        </p:nvGraphicFramePr>
        <p:xfrm>
          <a:off x="6378561" y="3766989"/>
          <a:ext cx="1365250" cy="1368425"/>
        </p:xfrm>
        <a:graphic>
          <a:graphicData uri="http://schemas.openxmlformats.org/presentationml/2006/ole">
            <mc:AlternateContent xmlns:mc="http://schemas.openxmlformats.org/markup-compatibility/2006">
              <mc:Choice xmlns:v="urn:schemas-microsoft-com:vml" Requires="v">
                <p:oleObj spid="_x0000_s95728" name="Drawing" r:id="rId12" imgW="9067800" imgH="5267325" progId="AutoCAD.Drawing.16">
                  <p:embed/>
                </p:oleObj>
              </mc:Choice>
              <mc:Fallback>
                <p:oleObj name="Drawing" r:id="rId12" imgW="9067800" imgH="5267325" progId="AutoCAD.Drawing.16">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l="48250" t="20856" r="26611" b="35884"/>
                      <a:stretch>
                        <a:fillRect/>
                      </a:stretch>
                    </p:blipFill>
                    <p:spPr bwMode="auto">
                      <a:xfrm>
                        <a:off x="6378561" y="3766989"/>
                        <a:ext cx="1365250"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12"/>
          <p:cNvSpPr>
            <a:spLocks noChangeArrowheads="1"/>
          </p:cNvSpPr>
          <p:nvPr/>
        </p:nvSpPr>
        <p:spPr bwMode="auto">
          <a:xfrm>
            <a:off x="977886" y="6046639"/>
            <a:ext cx="64087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2400">
                <a:latin typeface="楷体_GB2312" pitchFamily="49" charset="-122"/>
                <a:ea typeface="楷体_GB2312" pitchFamily="49" charset="-122"/>
              </a:rPr>
              <a:t>易见满足结点的力矩平衡条件</a:t>
            </a:r>
            <a:r>
              <a:rPr lang="en-US" altLang="zh-CN" sz="2400">
                <a:latin typeface="楷体_GB2312" pitchFamily="49" charset="-122"/>
                <a:ea typeface="楷体_GB2312" pitchFamily="49" charset="-122"/>
              </a:rPr>
              <a:t>, </a:t>
            </a:r>
            <a:r>
              <a:rPr lang="zh-CN" altLang="en-US" sz="2400">
                <a:latin typeface="楷体_GB2312" pitchFamily="49" charset="-122"/>
                <a:ea typeface="楷体_GB2312" pitchFamily="49" charset="-122"/>
              </a:rPr>
              <a:t>计算无误。</a:t>
            </a:r>
          </a:p>
        </p:txBody>
      </p:sp>
      <p:grpSp>
        <p:nvGrpSpPr>
          <p:cNvPr id="16" name="Group 13"/>
          <p:cNvGrpSpPr>
            <a:grpSpLocks/>
          </p:cNvGrpSpPr>
          <p:nvPr/>
        </p:nvGrpSpPr>
        <p:grpSpPr bwMode="auto">
          <a:xfrm>
            <a:off x="4144948" y="1922314"/>
            <a:ext cx="3600450" cy="863600"/>
            <a:chOff x="3061" y="998"/>
            <a:chExt cx="2268" cy="544"/>
          </a:xfrm>
        </p:grpSpPr>
        <p:graphicFrame>
          <p:nvGraphicFramePr>
            <p:cNvPr id="17" name="Object 14"/>
            <p:cNvGraphicFramePr>
              <a:graphicFrameLocks noChangeAspect="1"/>
            </p:cNvGraphicFramePr>
            <p:nvPr/>
          </p:nvGraphicFramePr>
          <p:xfrm>
            <a:off x="3742" y="1067"/>
            <a:ext cx="856" cy="475"/>
          </p:xfrm>
          <a:graphic>
            <a:graphicData uri="http://schemas.openxmlformats.org/presentationml/2006/ole">
              <mc:AlternateContent xmlns:mc="http://schemas.openxmlformats.org/markup-compatibility/2006">
                <mc:Choice xmlns:v="urn:schemas-microsoft-com:vml" Requires="v">
                  <p:oleObj spid="_x0000_s95729" r:id="rId14" imgW="542991" imgH="342900" progId="Equation.3">
                    <p:embed/>
                  </p:oleObj>
                </mc:Choice>
                <mc:Fallback>
                  <p:oleObj r:id="rId14" imgW="542991" imgH="3429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42" y="1067"/>
                          <a:ext cx="856" cy="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15"/>
            <p:cNvGraphicFramePr>
              <a:graphicFrameLocks noChangeAspect="1"/>
            </p:cNvGraphicFramePr>
            <p:nvPr/>
          </p:nvGraphicFramePr>
          <p:xfrm>
            <a:off x="4785" y="998"/>
            <a:ext cx="544" cy="494"/>
          </p:xfrm>
          <a:graphic>
            <a:graphicData uri="http://schemas.openxmlformats.org/presentationml/2006/ole">
              <mc:AlternateContent xmlns:mc="http://schemas.openxmlformats.org/markup-compatibility/2006">
                <mc:Choice xmlns:v="urn:schemas-microsoft-com:vml" Requires="v">
                  <p:oleObj spid="_x0000_s95730" r:id="rId16" imgW="457200" imgH="342900" progId="Equation.3">
                    <p:embed/>
                  </p:oleObj>
                </mc:Choice>
                <mc:Fallback>
                  <p:oleObj r:id="rId16" imgW="457200" imgH="34290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85" y="998"/>
                          <a:ext cx="544"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Rectangle 16"/>
            <p:cNvSpPr>
              <a:spLocks noChangeArrowheads="1"/>
            </p:cNvSpPr>
            <p:nvPr/>
          </p:nvSpPr>
          <p:spPr bwMode="auto">
            <a:xfrm>
              <a:off x="3061" y="1141"/>
              <a:ext cx="69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2400">
                  <a:latin typeface="Times New Roman" pitchFamily="18" charset="0"/>
                  <a:ea typeface="楷体_GB2312" pitchFamily="49" charset="-122"/>
                </a:rPr>
                <a:t>解之得</a:t>
              </a:r>
            </a:p>
          </p:txBody>
        </p:sp>
        <p:sp>
          <p:nvSpPr>
            <p:cNvPr id="20" name="Rectangle 17"/>
            <p:cNvSpPr>
              <a:spLocks noChangeArrowheads="1"/>
            </p:cNvSpPr>
            <p:nvPr/>
          </p:nvSpPr>
          <p:spPr bwMode="auto">
            <a:xfrm>
              <a:off x="4558" y="1148"/>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50000"/>
                </a:spcBef>
                <a:buFontTx/>
                <a:buNone/>
              </a:pPr>
              <a:r>
                <a:rPr lang="zh-CN" altLang="en-US" sz="2400">
                  <a:latin typeface="楷体_GB2312" pitchFamily="49" charset="-122"/>
                  <a:ea typeface="楷体_GB2312" pitchFamily="49" charset="-122"/>
                </a:rPr>
                <a:t>，</a:t>
              </a:r>
            </a:p>
          </p:txBody>
        </p:sp>
      </p:grpSp>
    </p:spTree>
    <p:extLst>
      <p:ext uri="{BB962C8B-B14F-4D97-AF65-F5344CB8AC3E}">
        <p14:creationId xmlns:p14="http://schemas.microsoft.com/office/powerpoint/2010/main" val="1763798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slide(fromBottom)">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slide(from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slide(fromTop)">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slide(fromBottom)">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ox(in)">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slide(fromLeft)">
                                      <p:cBhvr>
                                        <p:cTn id="42" dur="500"/>
                                        <p:tgtEl>
                                          <p:spTgt spid="12"/>
                                        </p:tgtEl>
                                      </p:cBhvr>
                                    </p:animEffect>
                                  </p:childTnLst>
                                </p:cTn>
                              </p:par>
                            </p:childTnLst>
                          </p:cTn>
                        </p:par>
                        <p:par>
                          <p:cTn id="43" fill="hold">
                            <p:stCondLst>
                              <p:cond delay="500"/>
                            </p:stCondLst>
                            <p:childTnLst>
                              <p:par>
                                <p:cTn id="44" presetID="12" presetClass="entr" presetSubtype="8" fill="hold"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slide(fromLeft)">
                                      <p:cBhvr>
                                        <p:cTn id="46" dur="500"/>
                                        <p:tgtEl>
                                          <p:spTgt spid="13"/>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4"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slide(fromBottom)">
                                      <p:cBhvr>
                                        <p:cTn id="5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10" grpId="0" autoUpdateAnimBg="0"/>
      <p:bldP spid="11" grpId="0" autoUpdateAnimBg="0"/>
      <p:bldP spid="15" grpId="0" autoUpdateAnimBg="0"/>
    </p:bldLst>
  </p:timing>
</p:sld>
</file>

<file path=ppt/theme/theme1.xml><?xml version="1.0" encoding="utf-8"?>
<a:theme xmlns:a="http://schemas.openxmlformats.org/drawingml/2006/main" name="结构力学1-第七章 位移法（1）">
  <a:themeElements>
    <a:clrScheme name="演示设计 4">
      <a:dk1>
        <a:srgbClr val="000000"/>
      </a:dk1>
      <a:lt1>
        <a:srgbClr val="FFFFFF"/>
      </a:lt1>
      <a:dk2>
        <a:srgbClr val="000000"/>
      </a:dk2>
      <a:lt2>
        <a:srgbClr val="C0C0C0"/>
      </a:lt2>
      <a:accent1>
        <a:srgbClr val="B2B2B2"/>
      </a:accent1>
      <a:accent2>
        <a:srgbClr val="5F5F5F"/>
      </a:accent2>
      <a:accent3>
        <a:srgbClr val="FFFFFF"/>
      </a:accent3>
      <a:accent4>
        <a:srgbClr val="000000"/>
      </a:accent4>
      <a:accent5>
        <a:srgbClr val="D5D5D5"/>
      </a:accent5>
      <a:accent6>
        <a:srgbClr val="555555"/>
      </a:accent6>
      <a:hlink>
        <a:srgbClr val="1C1C1C"/>
      </a:hlink>
      <a:folHlink>
        <a:srgbClr val="DDDDDD"/>
      </a:folHlink>
    </a:clrScheme>
    <a:fontScheme name="演示设计">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lnDef>
  </a:objectDefaults>
  <a:extraClrSchemeLst>
    <a:extraClrScheme>
      <a:clrScheme name="演示设计 1">
        <a:dk1>
          <a:srgbClr val="000000"/>
        </a:dk1>
        <a:lt1>
          <a:srgbClr val="FFFFFF"/>
        </a:lt1>
        <a:dk2>
          <a:srgbClr val="000000"/>
        </a:dk2>
        <a:lt2>
          <a:srgbClr val="C0C0C0"/>
        </a:lt2>
        <a:accent1>
          <a:srgbClr val="DFE0BE"/>
        </a:accent1>
        <a:accent2>
          <a:srgbClr val="D1D46B"/>
        </a:accent2>
        <a:accent3>
          <a:srgbClr val="FFFFFF"/>
        </a:accent3>
        <a:accent4>
          <a:srgbClr val="000000"/>
        </a:accent4>
        <a:accent5>
          <a:srgbClr val="ECEDDB"/>
        </a:accent5>
        <a:accent6>
          <a:srgbClr val="BDC060"/>
        </a:accent6>
        <a:hlink>
          <a:srgbClr val="3A3B11"/>
        </a:hlink>
        <a:folHlink>
          <a:srgbClr val="EAEBBB"/>
        </a:folHlink>
      </a:clrScheme>
      <a:clrMap bg1="lt1" tx1="dk1" bg2="lt2" tx2="dk2" accent1="accent1" accent2="accent2" accent3="accent3" accent4="accent4" accent5="accent5" accent6="accent6" hlink="hlink" folHlink="folHlink"/>
    </a:extraClrScheme>
    <a:extraClrScheme>
      <a:clrScheme name="演示设计 2">
        <a:dk1>
          <a:srgbClr val="000000"/>
        </a:dk1>
        <a:lt1>
          <a:srgbClr val="FFFFFF"/>
        </a:lt1>
        <a:dk2>
          <a:srgbClr val="000000"/>
        </a:dk2>
        <a:lt2>
          <a:srgbClr val="B2B2B2"/>
        </a:lt2>
        <a:accent1>
          <a:srgbClr val="FF0517"/>
        </a:accent1>
        <a:accent2>
          <a:srgbClr val="BC000D"/>
        </a:accent2>
        <a:accent3>
          <a:srgbClr val="FFFFFF"/>
        </a:accent3>
        <a:accent4>
          <a:srgbClr val="000000"/>
        </a:accent4>
        <a:accent5>
          <a:srgbClr val="FFAAAB"/>
        </a:accent5>
        <a:accent6>
          <a:srgbClr val="AA000B"/>
        </a:accent6>
        <a:hlink>
          <a:srgbClr val="3A0004"/>
        </a:hlink>
        <a:folHlink>
          <a:srgbClr val="FF7575"/>
        </a:folHlink>
      </a:clrScheme>
      <a:clrMap bg1="lt1" tx1="dk1" bg2="lt2" tx2="dk2" accent1="accent1" accent2="accent2" accent3="accent3" accent4="accent4" accent5="accent5" accent6="accent6" hlink="hlink" folHlink="folHlink"/>
    </a:extraClrScheme>
    <a:extraClrScheme>
      <a:clrScheme name="演示设计 3">
        <a:dk1>
          <a:srgbClr val="000000"/>
        </a:dk1>
        <a:lt1>
          <a:srgbClr val="FFFFFF"/>
        </a:lt1>
        <a:dk2>
          <a:srgbClr val="000000"/>
        </a:dk2>
        <a:lt2>
          <a:srgbClr val="B2B2B2"/>
        </a:lt2>
        <a:accent1>
          <a:srgbClr val="BF59B8"/>
        </a:accent1>
        <a:accent2>
          <a:srgbClr val="884183"/>
        </a:accent2>
        <a:accent3>
          <a:srgbClr val="FFFFFF"/>
        </a:accent3>
        <a:accent4>
          <a:srgbClr val="000000"/>
        </a:accent4>
        <a:accent5>
          <a:srgbClr val="DCB5D8"/>
        </a:accent5>
        <a:accent6>
          <a:srgbClr val="7B3A76"/>
        </a:accent6>
        <a:hlink>
          <a:srgbClr val="371535"/>
        </a:hlink>
        <a:folHlink>
          <a:srgbClr val="D99FD5"/>
        </a:folHlink>
      </a:clrScheme>
      <a:clrMap bg1="lt1" tx1="dk1" bg2="lt2" tx2="dk2" accent1="accent1" accent2="accent2" accent3="accent3" accent4="accent4" accent5="accent5" accent6="accent6" hlink="hlink" folHlink="folHlink"/>
    </a:extraClrScheme>
    <a:extraClrScheme>
      <a:clrScheme name="演示设计 4">
        <a:dk1>
          <a:srgbClr val="000000"/>
        </a:dk1>
        <a:lt1>
          <a:srgbClr val="FFFFFF"/>
        </a:lt1>
        <a:dk2>
          <a:srgbClr val="000000"/>
        </a:dk2>
        <a:lt2>
          <a:srgbClr val="C0C0C0"/>
        </a:lt2>
        <a:accent1>
          <a:srgbClr val="B2B2B2"/>
        </a:accent1>
        <a:accent2>
          <a:srgbClr val="5F5F5F"/>
        </a:accent2>
        <a:accent3>
          <a:srgbClr val="FFFFFF"/>
        </a:accent3>
        <a:accent4>
          <a:srgbClr val="000000"/>
        </a:accent4>
        <a:accent5>
          <a:srgbClr val="D5D5D5"/>
        </a:accent5>
        <a:accent6>
          <a:srgbClr val="555555"/>
        </a:accent6>
        <a:hlink>
          <a:srgbClr val="1C1C1C"/>
        </a:hlink>
        <a:folHlink>
          <a:srgbClr val="DDDDDD"/>
        </a:folHlink>
      </a:clrScheme>
      <a:clrMap bg1="lt1" tx1="dk1" bg2="lt2" tx2="dk2" accent1="accent1" accent2="accent2" accent3="accent3" accent4="accent4" accent5="accent5" accent6="accent6" hlink="hlink" folHlink="folHlink"/>
    </a:extraClrScheme>
    <a:extraClrScheme>
      <a:clrScheme name="演示设计 5">
        <a:dk1>
          <a:srgbClr val="000000"/>
        </a:dk1>
        <a:lt1>
          <a:srgbClr val="FFFFFF"/>
        </a:lt1>
        <a:dk2>
          <a:srgbClr val="000000"/>
        </a:dk2>
        <a:lt2>
          <a:srgbClr val="808080"/>
        </a:lt2>
        <a:accent1>
          <a:srgbClr val="FFCC00"/>
        </a:accent1>
        <a:accent2>
          <a:srgbClr val="FF8A15"/>
        </a:accent2>
        <a:accent3>
          <a:srgbClr val="FFFFFF"/>
        </a:accent3>
        <a:accent4>
          <a:srgbClr val="000000"/>
        </a:accent4>
        <a:accent5>
          <a:srgbClr val="FFE2AA"/>
        </a:accent5>
        <a:accent6>
          <a:srgbClr val="E77D12"/>
        </a:accent6>
        <a:hlink>
          <a:srgbClr val="463900"/>
        </a:hlink>
        <a:folHlink>
          <a:srgbClr val="FFF0AF"/>
        </a:folHlink>
      </a:clrScheme>
      <a:clrMap bg1="lt1" tx1="dk1" bg2="lt2" tx2="dk2" accent1="accent1" accent2="accent2" accent3="accent3" accent4="accent4" accent5="accent5" accent6="accent6" hlink="hlink" folHlink="folHlink"/>
    </a:extraClrScheme>
    <a:extraClrScheme>
      <a:clrScheme name="演示设计 6">
        <a:dk1>
          <a:srgbClr val="000000"/>
        </a:dk1>
        <a:lt1>
          <a:srgbClr val="FFFFFF"/>
        </a:lt1>
        <a:dk2>
          <a:srgbClr val="000000"/>
        </a:dk2>
        <a:lt2>
          <a:srgbClr val="808080"/>
        </a:lt2>
        <a:accent1>
          <a:srgbClr val="FF9021"/>
        </a:accent1>
        <a:accent2>
          <a:srgbClr val="DA5800"/>
        </a:accent2>
        <a:accent3>
          <a:srgbClr val="FFFFFF"/>
        </a:accent3>
        <a:accent4>
          <a:srgbClr val="000000"/>
        </a:accent4>
        <a:accent5>
          <a:srgbClr val="FFC6AB"/>
        </a:accent5>
        <a:accent6>
          <a:srgbClr val="C54F00"/>
        </a:accent6>
        <a:hlink>
          <a:srgbClr val="963D00"/>
        </a:hlink>
        <a:folHlink>
          <a:srgbClr val="FFC78F"/>
        </a:folHlink>
      </a:clrScheme>
      <a:clrMap bg1="lt1" tx1="dk1" bg2="lt2" tx2="dk2" accent1="accent1" accent2="accent2" accent3="accent3" accent4="accent4" accent5="accent5" accent6="accent6" hlink="hlink" folHlink="folHlink"/>
    </a:extraClrScheme>
    <a:extraClrScheme>
      <a:clrScheme name="演示设计 7">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66B2FE"/>
        </a:folHlink>
      </a:clrScheme>
      <a:clrMap bg1="lt1" tx1="dk1" bg2="lt2" tx2="dk2" accent1="accent1" accent2="accent2" accent3="accent3" accent4="accent4" accent5="accent5" accent6="accent6" hlink="hlink" folHlink="folHlink"/>
    </a:extraClrScheme>
    <a:extraClrScheme>
      <a:clrScheme name="演示设计 8">
        <a:dk1>
          <a:srgbClr val="000000"/>
        </a:dk1>
        <a:lt1>
          <a:srgbClr val="FFFFFF"/>
        </a:lt1>
        <a:dk2>
          <a:srgbClr val="000000"/>
        </a:dk2>
        <a:lt2>
          <a:srgbClr val="C0C0C0"/>
        </a:lt2>
        <a:accent1>
          <a:srgbClr val="6FC01E"/>
        </a:accent1>
        <a:accent2>
          <a:srgbClr val="4F7913"/>
        </a:accent2>
        <a:accent3>
          <a:srgbClr val="FFFFFF"/>
        </a:accent3>
        <a:accent4>
          <a:srgbClr val="000000"/>
        </a:accent4>
        <a:accent5>
          <a:srgbClr val="BBDCAB"/>
        </a:accent5>
        <a:accent6>
          <a:srgbClr val="476D10"/>
        </a:accent6>
        <a:hlink>
          <a:srgbClr val="26420A"/>
        </a:hlink>
        <a:folHlink>
          <a:srgbClr val="ADE971"/>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nordridesign.com">
  <a:themeElements>
    <a:clrScheme name="3_nordridesign.com 7">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66B2FE"/>
      </a:folHlink>
    </a:clrScheme>
    <a:fontScheme name="3_nordridesign.com">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lnDef>
  </a:objectDefaults>
  <a:extraClrSchemeLst>
    <a:extraClrScheme>
      <a:clrScheme name="3_nordridesign.com 1">
        <a:dk1>
          <a:srgbClr val="000000"/>
        </a:dk1>
        <a:lt1>
          <a:srgbClr val="FFFFFF"/>
        </a:lt1>
        <a:dk2>
          <a:srgbClr val="000000"/>
        </a:dk2>
        <a:lt2>
          <a:srgbClr val="C0C0C0"/>
        </a:lt2>
        <a:accent1>
          <a:srgbClr val="DFE0BE"/>
        </a:accent1>
        <a:accent2>
          <a:srgbClr val="D1D46B"/>
        </a:accent2>
        <a:accent3>
          <a:srgbClr val="FFFFFF"/>
        </a:accent3>
        <a:accent4>
          <a:srgbClr val="000000"/>
        </a:accent4>
        <a:accent5>
          <a:srgbClr val="ECEDDB"/>
        </a:accent5>
        <a:accent6>
          <a:srgbClr val="BDC060"/>
        </a:accent6>
        <a:hlink>
          <a:srgbClr val="3A3B11"/>
        </a:hlink>
        <a:folHlink>
          <a:srgbClr val="EAEBBB"/>
        </a:folHlink>
      </a:clrScheme>
      <a:clrMap bg1="lt1" tx1="dk1" bg2="lt2" tx2="dk2" accent1="accent1" accent2="accent2" accent3="accent3" accent4="accent4" accent5="accent5" accent6="accent6" hlink="hlink" folHlink="folHlink"/>
    </a:extraClrScheme>
    <a:extraClrScheme>
      <a:clrScheme name="3_nordridesign.com 2">
        <a:dk1>
          <a:srgbClr val="000000"/>
        </a:dk1>
        <a:lt1>
          <a:srgbClr val="FFFFFF"/>
        </a:lt1>
        <a:dk2>
          <a:srgbClr val="000000"/>
        </a:dk2>
        <a:lt2>
          <a:srgbClr val="B2B2B2"/>
        </a:lt2>
        <a:accent1>
          <a:srgbClr val="FF0517"/>
        </a:accent1>
        <a:accent2>
          <a:srgbClr val="BC000D"/>
        </a:accent2>
        <a:accent3>
          <a:srgbClr val="FFFFFF"/>
        </a:accent3>
        <a:accent4>
          <a:srgbClr val="000000"/>
        </a:accent4>
        <a:accent5>
          <a:srgbClr val="FFAAAB"/>
        </a:accent5>
        <a:accent6>
          <a:srgbClr val="AA000B"/>
        </a:accent6>
        <a:hlink>
          <a:srgbClr val="3A0004"/>
        </a:hlink>
        <a:folHlink>
          <a:srgbClr val="FF7575"/>
        </a:folHlink>
      </a:clrScheme>
      <a:clrMap bg1="lt1" tx1="dk1" bg2="lt2" tx2="dk2" accent1="accent1" accent2="accent2" accent3="accent3" accent4="accent4" accent5="accent5" accent6="accent6" hlink="hlink" folHlink="folHlink"/>
    </a:extraClrScheme>
    <a:extraClrScheme>
      <a:clrScheme name="3_nordridesign.com 3">
        <a:dk1>
          <a:srgbClr val="000000"/>
        </a:dk1>
        <a:lt1>
          <a:srgbClr val="FFFFFF"/>
        </a:lt1>
        <a:dk2>
          <a:srgbClr val="000000"/>
        </a:dk2>
        <a:lt2>
          <a:srgbClr val="B2B2B2"/>
        </a:lt2>
        <a:accent1>
          <a:srgbClr val="BF59B8"/>
        </a:accent1>
        <a:accent2>
          <a:srgbClr val="884183"/>
        </a:accent2>
        <a:accent3>
          <a:srgbClr val="FFFFFF"/>
        </a:accent3>
        <a:accent4>
          <a:srgbClr val="000000"/>
        </a:accent4>
        <a:accent5>
          <a:srgbClr val="DCB5D8"/>
        </a:accent5>
        <a:accent6>
          <a:srgbClr val="7B3A76"/>
        </a:accent6>
        <a:hlink>
          <a:srgbClr val="371535"/>
        </a:hlink>
        <a:folHlink>
          <a:srgbClr val="D99FD5"/>
        </a:folHlink>
      </a:clrScheme>
      <a:clrMap bg1="lt1" tx1="dk1" bg2="lt2" tx2="dk2" accent1="accent1" accent2="accent2" accent3="accent3" accent4="accent4" accent5="accent5" accent6="accent6" hlink="hlink" folHlink="folHlink"/>
    </a:extraClrScheme>
    <a:extraClrScheme>
      <a:clrScheme name="3_nordridesign.com 4">
        <a:dk1>
          <a:srgbClr val="000000"/>
        </a:dk1>
        <a:lt1>
          <a:srgbClr val="FFFFFF"/>
        </a:lt1>
        <a:dk2>
          <a:srgbClr val="000000"/>
        </a:dk2>
        <a:lt2>
          <a:srgbClr val="C0C0C0"/>
        </a:lt2>
        <a:accent1>
          <a:srgbClr val="B2B2B2"/>
        </a:accent1>
        <a:accent2>
          <a:srgbClr val="5F5F5F"/>
        </a:accent2>
        <a:accent3>
          <a:srgbClr val="FFFFFF"/>
        </a:accent3>
        <a:accent4>
          <a:srgbClr val="000000"/>
        </a:accent4>
        <a:accent5>
          <a:srgbClr val="D5D5D5"/>
        </a:accent5>
        <a:accent6>
          <a:srgbClr val="555555"/>
        </a:accent6>
        <a:hlink>
          <a:srgbClr val="1C1C1C"/>
        </a:hlink>
        <a:folHlink>
          <a:srgbClr val="DDDDDD"/>
        </a:folHlink>
      </a:clrScheme>
      <a:clrMap bg1="lt1" tx1="dk1" bg2="lt2" tx2="dk2" accent1="accent1" accent2="accent2" accent3="accent3" accent4="accent4" accent5="accent5" accent6="accent6" hlink="hlink" folHlink="folHlink"/>
    </a:extraClrScheme>
    <a:extraClrScheme>
      <a:clrScheme name="3_nordridesign.com 5">
        <a:dk1>
          <a:srgbClr val="000000"/>
        </a:dk1>
        <a:lt1>
          <a:srgbClr val="FFFFFF"/>
        </a:lt1>
        <a:dk2>
          <a:srgbClr val="000000"/>
        </a:dk2>
        <a:lt2>
          <a:srgbClr val="808080"/>
        </a:lt2>
        <a:accent1>
          <a:srgbClr val="FFCC00"/>
        </a:accent1>
        <a:accent2>
          <a:srgbClr val="FF8A15"/>
        </a:accent2>
        <a:accent3>
          <a:srgbClr val="FFFFFF"/>
        </a:accent3>
        <a:accent4>
          <a:srgbClr val="000000"/>
        </a:accent4>
        <a:accent5>
          <a:srgbClr val="FFE2AA"/>
        </a:accent5>
        <a:accent6>
          <a:srgbClr val="E77D12"/>
        </a:accent6>
        <a:hlink>
          <a:srgbClr val="463900"/>
        </a:hlink>
        <a:folHlink>
          <a:srgbClr val="FFF0AF"/>
        </a:folHlink>
      </a:clrScheme>
      <a:clrMap bg1="lt1" tx1="dk1" bg2="lt2" tx2="dk2" accent1="accent1" accent2="accent2" accent3="accent3" accent4="accent4" accent5="accent5" accent6="accent6" hlink="hlink" folHlink="folHlink"/>
    </a:extraClrScheme>
    <a:extraClrScheme>
      <a:clrScheme name="3_nordridesign.com 6">
        <a:dk1>
          <a:srgbClr val="000000"/>
        </a:dk1>
        <a:lt1>
          <a:srgbClr val="FFFFFF"/>
        </a:lt1>
        <a:dk2>
          <a:srgbClr val="000000"/>
        </a:dk2>
        <a:lt2>
          <a:srgbClr val="808080"/>
        </a:lt2>
        <a:accent1>
          <a:srgbClr val="FF9021"/>
        </a:accent1>
        <a:accent2>
          <a:srgbClr val="DA5800"/>
        </a:accent2>
        <a:accent3>
          <a:srgbClr val="FFFFFF"/>
        </a:accent3>
        <a:accent4>
          <a:srgbClr val="000000"/>
        </a:accent4>
        <a:accent5>
          <a:srgbClr val="FFC6AB"/>
        </a:accent5>
        <a:accent6>
          <a:srgbClr val="C54F00"/>
        </a:accent6>
        <a:hlink>
          <a:srgbClr val="963D00"/>
        </a:hlink>
        <a:folHlink>
          <a:srgbClr val="FFC78F"/>
        </a:folHlink>
      </a:clrScheme>
      <a:clrMap bg1="lt1" tx1="dk1" bg2="lt2" tx2="dk2" accent1="accent1" accent2="accent2" accent3="accent3" accent4="accent4" accent5="accent5" accent6="accent6" hlink="hlink" folHlink="folHlink"/>
    </a:extraClrScheme>
    <a:extraClrScheme>
      <a:clrScheme name="3_nordridesign.com 7">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66B2FE"/>
        </a:folHlink>
      </a:clrScheme>
      <a:clrMap bg1="lt1" tx1="dk1" bg2="lt2" tx2="dk2" accent1="accent1" accent2="accent2" accent3="accent3" accent4="accent4" accent5="accent5" accent6="accent6" hlink="hlink" folHlink="folHlink"/>
    </a:extraClrScheme>
    <a:extraClrScheme>
      <a:clrScheme name="3_nordridesign.com 8">
        <a:dk1>
          <a:srgbClr val="000000"/>
        </a:dk1>
        <a:lt1>
          <a:srgbClr val="FFFFFF"/>
        </a:lt1>
        <a:dk2>
          <a:srgbClr val="000000"/>
        </a:dk2>
        <a:lt2>
          <a:srgbClr val="C0C0C0"/>
        </a:lt2>
        <a:accent1>
          <a:srgbClr val="6FC01E"/>
        </a:accent1>
        <a:accent2>
          <a:srgbClr val="4F7913"/>
        </a:accent2>
        <a:accent3>
          <a:srgbClr val="FFFFFF"/>
        </a:accent3>
        <a:accent4>
          <a:srgbClr val="000000"/>
        </a:accent4>
        <a:accent5>
          <a:srgbClr val="BBDCAB"/>
        </a:accent5>
        <a:accent6>
          <a:srgbClr val="476D10"/>
        </a:accent6>
        <a:hlink>
          <a:srgbClr val="26420A"/>
        </a:hlink>
        <a:folHlink>
          <a:srgbClr val="ADE971"/>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nordridesign.com">
  <a:themeElements>
    <a:clrScheme name="2_nordridesign.com 1">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2A94FE"/>
      </a:folHlink>
    </a:clrScheme>
    <a:fontScheme name="2_nordridesign.com">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lnDef>
  </a:objectDefaults>
  <a:extraClrSchemeLst>
    <a:extraClrScheme>
      <a:clrScheme name="2_nordridesign.com 1">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2A94FE"/>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结构力学1-第七章 位移法（1）</Template>
  <TotalTime>4036</TotalTime>
  <Words>2819</Words>
  <Application>Microsoft Office PowerPoint</Application>
  <PresentationFormat>全屏显示(4:3)</PresentationFormat>
  <Paragraphs>366</Paragraphs>
  <Slides>44</Slides>
  <Notes>44</Notes>
  <HiddenSlides>0</HiddenSlides>
  <MMClips>0</MMClips>
  <ScaleCrop>false</ScaleCrop>
  <HeadingPairs>
    <vt:vector size="8" baseType="variant">
      <vt:variant>
        <vt:lpstr>已用的字体</vt:lpstr>
      </vt:variant>
      <vt:variant>
        <vt:i4>13</vt:i4>
      </vt:variant>
      <vt:variant>
        <vt:lpstr>主题</vt:lpstr>
      </vt:variant>
      <vt:variant>
        <vt:i4>4</vt:i4>
      </vt:variant>
      <vt:variant>
        <vt:lpstr>嵌入 OLE 服务器</vt:lpstr>
      </vt:variant>
      <vt:variant>
        <vt:i4>8</vt:i4>
      </vt:variant>
      <vt:variant>
        <vt:lpstr>幻灯片标题</vt:lpstr>
      </vt:variant>
      <vt:variant>
        <vt:i4>44</vt:i4>
      </vt:variant>
    </vt:vector>
  </HeadingPairs>
  <TitlesOfParts>
    <vt:vector size="69" baseType="lpstr">
      <vt:lpstr>MS UI Gothic</vt:lpstr>
      <vt:lpstr>仿宋_GB2312</vt:lpstr>
      <vt:lpstr>黑体</vt:lpstr>
      <vt:lpstr>华文细黑</vt:lpstr>
      <vt:lpstr>楷体</vt:lpstr>
      <vt:lpstr>楷体_GB2312</vt:lpstr>
      <vt:lpstr>宋体</vt:lpstr>
      <vt:lpstr>Arial</vt:lpstr>
      <vt:lpstr>Calibri</vt:lpstr>
      <vt:lpstr>Cambria Math</vt:lpstr>
      <vt:lpstr>Symbol</vt:lpstr>
      <vt:lpstr>Times New Roman</vt:lpstr>
      <vt:lpstr>Wingdings</vt:lpstr>
      <vt:lpstr>结构力学1-第七章 位移法（1）</vt:lpstr>
      <vt:lpstr>自定义设计方案</vt:lpstr>
      <vt:lpstr>3_nordridesign.com</vt:lpstr>
      <vt:lpstr>2_nordridesign.com</vt:lpstr>
      <vt:lpstr>Equation</vt:lpstr>
      <vt:lpstr>Drawing</vt:lpstr>
      <vt:lpstr>AutoCAD.Drawing.16</vt:lpstr>
      <vt:lpstr>AutoCAD Drawing</vt:lpstr>
      <vt:lpstr>BMP 图象</vt:lpstr>
      <vt:lpstr>位图图像</vt:lpstr>
      <vt:lpstr>Equation.3</vt:lpstr>
      <vt:lpstr>公式</vt:lpstr>
      <vt:lpstr>§7-3 位移法解无侧移刚架</vt:lpstr>
      <vt:lpstr>§7-3 位移法解无侧移刚架</vt:lpstr>
      <vt:lpstr>§7-3 位移法解无侧移刚架</vt:lpstr>
      <vt:lpstr>§7-3 位移法解无侧移刚架</vt:lpstr>
      <vt:lpstr>§7-4 位移法解有侧移刚架</vt:lpstr>
      <vt:lpstr>§7-4 位移法解有侧移刚架</vt:lpstr>
      <vt:lpstr>§7-4 位移法解有侧移刚架</vt:lpstr>
      <vt:lpstr>§7-4 位移法解有侧移刚架</vt:lpstr>
      <vt:lpstr>§7-4 位移法解有侧移刚架</vt:lpstr>
      <vt:lpstr>§7-4 位移法解有侧移刚架</vt:lpstr>
      <vt:lpstr>§7-4 位移法解有侧移刚架</vt:lpstr>
      <vt:lpstr>§7-4 位移法解有侧移刚架</vt:lpstr>
      <vt:lpstr>§7-4 位移法解有侧移刚架</vt:lpstr>
      <vt:lpstr>§7-4 位移法解有侧移刚架</vt:lpstr>
      <vt:lpstr>§7-4 位移法解有侧移刚架</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lpstr>§7-5 位移法的基本体系</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第七章 位移法</dc:title>
  <dc:creator>zzdeng</dc:creator>
  <cp:lastModifiedBy>邓 争志</cp:lastModifiedBy>
  <cp:revision>484</cp:revision>
  <dcterms:created xsi:type="dcterms:W3CDTF">2015-12-09T11:55:28Z</dcterms:created>
  <dcterms:modified xsi:type="dcterms:W3CDTF">2021-12-17T04:19:23Z</dcterms:modified>
</cp:coreProperties>
</file>