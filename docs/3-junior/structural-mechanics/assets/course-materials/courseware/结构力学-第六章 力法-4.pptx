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4" r:id="rId1"/>
    <p:sldMasterId id="2147483796" r:id="rId2"/>
    <p:sldMasterId id="2147483808" r:id="rId3"/>
  </p:sldMasterIdLst>
  <p:notesMasterIdLst>
    <p:notesMasterId r:id="rId38"/>
  </p:notesMasterIdLst>
  <p:sldIdLst>
    <p:sldId id="547" r:id="rId4"/>
    <p:sldId id="550" r:id="rId5"/>
    <p:sldId id="551" r:id="rId6"/>
    <p:sldId id="553" r:id="rId7"/>
    <p:sldId id="554" r:id="rId8"/>
    <p:sldId id="555" r:id="rId9"/>
    <p:sldId id="556" r:id="rId10"/>
    <p:sldId id="557" r:id="rId11"/>
    <p:sldId id="558" r:id="rId12"/>
    <p:sldId id="559" r:id="rId13"/>
    <p:sldId id="560" r:id="rId14"/>
    <p:sldId id="561" r:id="rId15"/>
    <p:sldId id="562" r:id="rId16"/>
    <p:sldId id="563" r:id="rId17"/>
    <p:sldId id="564" r:id="rId18"/>
    <p:sldId id="570" r:id="rId19"/>
    <p:sldId id="571" r:id="rId20"/>
    <p:sldId id="572" r:id="rId21"/>
    <p:sldId id="582" r:id="rId22"/>
    <p:sldId id="575" r:id="rId23"/>
    <p:sldId id="584" r:id="rId24"/>
    <p:sldId id="585" r:id="rId25"/>
    <p:sldId id="586" r:id="rId26"/>
    <p:sldId id="587" r:id="rId27"/>
    <p:sldId id="588" r:id="rId28"/>
    <p:sldId id="589" r:id="rId29"/>
    <p:sldId id="590" r:id="rId30"/>
    <p:sldId id="591" r:id="rId31"/>
    <p:sldId id="635" r:id="rId32"/>
    <p:sldId id="639" r:id="rId33"/>
    <p:sldId id="636" r:id="rId34"/>
    <p:sldId id="637" r:id="rId35"/>
    <p:sldId id="638" r:id="rId36"/>
    <p:sldId id="640"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78"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2" autoAdjust="0"/>
    <p:restoredTop sz="94660"/>
  </p:normalViewPr>
  <p:slideViewPr>
    <p:cSldViewPr>
      <p:cViewPr varScale="1">
        <p:scale>
          <a:sx n="104" d="100"/>
          <a:sy n="104" d="100"/>
        </p:scale>
        <p:origin x="1758" y="108"/>
      </p:cViewPr>
      <p:guideLst>
        <p:guide orient="horz" pos="2478"/>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presProps" Target="presProps.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13.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13.wmf"/><Relationship Id="rId1" Type="http://schemas.openxmlformats.org/officeDocument/2006/relationships/image" Target="../media/image26.wmf"/><Relationship Id="rId4"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13.wmf"/><Relationship Id="rId1" Type="http://schemas.openxmlformats.org/officeDocument/2006/relationships/image" Target="../media/image26.wmf"/><Relationship Id="rId5" Type="http://schemas.openxmlformats.org/officeDocument/2006/relationships/image" Target="../media/image32.wmf"/><Relationship Id="rId4" Type="http://schemas.openxmlformats.org/officeDocument/2006/relationships/image" Target="../media/image3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7.wmf"/><Relationship Id="rId7" Type="http://schemas.openxmlformats.org/officeDocument/2006/relationships/image" Target="../media/image22.wmf"/><Relationship Id="rId2" Type="http://schemas.openxmlformats.org/officeDocument/2006/relationships/image" Target="../media/image13.wmf"/><Relationship Id="rId1" Type="http://schemas.openxmlformats.org/officeDocument/2006/relationships/image" Target="../media/image26.wmf"/><Relationship Id="rId6" Type="http://schemas.openxmlformats.org/officeDocument/2006/relationships/image" Target="../media/image21.wmf"/><Relationship Id="rId5" Type="http://schemas.openxmlformats.org/officeDocument/2006/relationships/image" Target="../media/image32.wmf"/><Relationship Id="rId4"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4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4" Type="http://schemas.openxmlformats.org/officeDocument/2006/relationships/image" Target="../media/image4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2.wmf"/><Relationship Id="rId4" Type="http://schemas.openxmlformats.org/officeDocument/2006/relationships/image" Target="../media/image41.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4.wmf"/><Relationship Id="rId4" Type="http://schemas.openxmlformats.org/officeDocument/2006/relationships/image" Target="../media/image4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6.wmf"/><Relationship Id="rId4" Type="http://schemas.openxmlformats.org/officeDocument/2006/relationships/image" Target="../media/image4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48.wmf"/><Relationship Id="rId5" Type="http://schemas.openxmlformats.org/officeDocument/2006/relationships/image" Target="../media/image46.wmf"/><Relationship Id="rId4" Type="http://schemas.openxmlformats.org/officeDocument/2006/relationships/image" Target="../media/image47.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38.wmf"/><Relationship Id="rId7" Type="http://schemas.openxmlformats.org/officeDocument/2006/relationships/image" Target="../media/image51.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50.wmf"/><Relationship Id="rId5" Type="http://schemas.openxmlformats.org/officeDocument/2006/relationships/image" Target="../media/image49.wmf"/><Relationship Id="rId4" Type="http://schemas.openxmlformats.org/officeDocument/2006/relationships/image" Target="../media/image47.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7.png"/><Relationship Id="rId7" Type="http://schemas.openxmlformats.org/officeDocument/2006/relationships/image" Target="../media/image61.wmf"/><Relationship Id="rId2" Type="http://schemas.openxmlformats.org/officeDocument/2006/relationships/image" Target="../media/image56.png"/><Relationship Id="rId1" Type="http://schemas.openxmlformats.org/officeDocument/2006/relationships/image" Target="../media/image55.png"/><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png"/><Relationship Id="rId9" Type="http://schemas.openxmlformats.org/officeDocument/2006/relationships/image" Target="../media/image63.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66.wmf"/><Relationship Id="rId7" Type="http://schemas.openxmlformats.org/officeDocument/2006/relationships/image" Target="../media/image70.e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emf"/><Relationship Id="rId5" Type="http://schemas.openxmlformats.org/officeDocument/2006/relationships/image" Target="../media/image68.emf"/><Relationship Id="rId4" Type="http://schemas.openxmlformats.org/officeDocument/2006/relationships/image" Target="../media/image67.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79.emf"/><Relationship Id="rId3" Type="http://schemas.openxmlformats.org/officeDocument/2006/relationships/image" Target="../media/image74.wmf"/><Relationship Id="rId7" Type="http://schemas.openxmlformats.org/officeDocument/2006/relationships/image" Target="../media/image78.e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emf"/><Relationship Id="rId5" Type="http://schemas.openxmlformats.org/officeDocument/2006/relationships/image" Target="../media/image76.emf"/><Relationship Id="rId4" Type="http://schemas.openxmlformats.org/officeDocument/2006/relationships/image" Target="../media/image75.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4C0A4F-6965-47C4-AA22-49C016992D9D}" type="datetimeFigureOut">
              <a:rPr lang="zh-CN" altLang="en-US" smtClean="0"/>
              <a:pPr/>
              <a:t>2021/12/3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56CADB-65D5-45D1-ACB1-61FEC89783DE}" type="slidenum">
              <a:rPr lang="zh-CN" altLang="en-US" smtClean="0"/>
              <a:pPr/>
              <a:t>‹#›</a:t>
            </a:fld>
            <a:endParaRPr lang="zh-CN" altLang="en-US"/>
          </a:p>
        </p:txBody>
      </p:sp>
    </p:spTree>
    <p:extLst>
      <p:ext uri="{BB962C8B-B14F-4D97-AF65-F5344CB8AC3E}">
        <p14:creationId xmlns:p14="http://schemas.microsoft.com/office/powerpoint/2010/main" val="1934485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7" name="Rectangle 5"/>
          <p:cNvSpPr txBox="1">
            <a:spLocks noChangeArrowheads="1"/>
          </p:cNvSpPr>
          <p:nvPr/>
        </p:nvSpPr>
        <p:spPr bwMode="auto">
          <a:xfrm>
            <a:off x="6372200" y="5877272"/>
            <a:ext cx="2303488" cy="864096"/>
          </a:xfrm>
          <a:prstGeom prst="rect">
            <a:avLst/>
          </a:prstGeom>
          <a:noFill/>
          <a:ln w="9525">
            <a:noFill/>
            <a:miter lim="800000"/>
            <a:headEnd/>
            <a:tailEnd/>
          </a:ln>
        </p:spPr>
        <p:txBody>
          <a:bodyPr lIns="0" rIns="0"/>
          <a:lstStyle/>
          <a:p>
            <a:pPr eaLnBrk="0" hangingPunct="0">
              <a:lnSpc>
                <a:spcPct val="100000"/>
              </a:lnSpc>
              <a:spcBef>
                <a:spcPts val="300"/>
              </a:spcBef>
              <a:spcAft>
                <a:spcPts val="300"/>
              </a:spcAft>
              <a:buClr>
                <a:schemeClr val="accent1"/>
              </a:buClr>
              <a:defRPr/>
            </a:pPr>
            <a:r>
              <a:rPr lang="zh-CN" altLang="en-US" sz="1400" b="1" noProof="1">
                <a:solidFill>
                  <a:schemeClr val="bg1"/>
                </a:solidFill>
              </a:rPr>
              <a:t>浙江大学海洋学院</a:t>
            </a:r>
            <a:endParaRPr lang="en-US" altLang="zh-CN" sz="1400" b="1" noProof="1">
              <a:solidFill>
                <a:schemeClr val="bg1"/>
              </a:solidFill>
            </a:endParaRPr>
          </a:p>
          <a:p>
            <a:pPr eaLnBrk="0" hangingPunct="0">
              <a:lnSpc>
                <a:spcPct val="100000"/>
              </a:lnSpc>
              <a:spcBef>
                <a:spcPts val="0"/>
              </a:spcBef>
              <a:spcAft>
                <a:spcPts val="300"/>
              </a:spcAft>
              <a:buClr>
                <a:schemeClr val="accent1"/>
              </a:buClr>
              <a:defRPr/>
            </a:pPr>
            <a:r>
              <a:rPr lang="en-US" altLang="zh-CN" sz="1400" b="0" noProof="1">
                <a:solidFill>
                  <a:schemeClr val="bg1"/>
                </a:solidFill>
              </a:rPr>
              <a:t> Tel :</a:t>
            </a:r>
          </a:p>
          <a:p>
            <a:pPr eaLnBrk="0" hangingPunct="0">
              <a:lnSpc>
                <a:spcPct val="100000"/>
              </a:lnSpc>
              <a:spcBef>
                <a:spcPts val="0"/>
              </a:spcBef>
              <a:spcAft>
                <a:spcPts val="300"/>
              </a:spcAft>
              <a:buClr>
                <a:schemeClr val="accent1"/>
              </a:buClr>
              <a:defRPr/>
            </a:pPr>
            <a:r>
              <a:rPr lang="en-US" altLang="zh-CN" sz="1400" b="0" noProof="1">
                <a:solidFill>
                  <a:schemeClr val="bg1"/>
                </a:solidFill>
              </a:rPr>
              <a:t>Email</a:t>
            </a:r>
            <a:r>
              <a:rPr lang="zh-CN" altLang="en-US" sz="1400" b="0" noProof="1">
                <a:solidFill>
                  <a:schemeClr val="bg1"/>
                </a:solidFill>
              </a:rPr>
              <a:t>：</a:t>
            </a:r>
            <a:endParaRPr lang="en-US" altLang="en-US" sz="1400" b="0" noProof="1">
              <a:solidFill>
                <a:schemeClr val="bg1"/>
              </a:solidFill>
            </a:endParaRPr>
          </a:p>
        </p:txBody>
      </p:sp>
      <p:sp>
        <p:nvSpPr>
          <p:cNvPr id="2053" name="Rectangle 27"/>
          <p:cNvSpPr>
            <a:spLocks noGrp="1" noChangeArrowheads="1"/>
          </p:cNvSpPr>
          <p:nvPr>
            <p:ph type="ctrTitle"/>
          </p:nvPr>
        </p:nvSpPr>
        <p:spPr>
          <a:xfrm>
            <a:off x="468313" y="4365625"/>
            <a:ext cx="8207375" cy="960438"/>
          </a:xfrm>
          <a:ln w="9525"/>
        </p:spPr>
        <p:txBody>
          <a:bodyPr/>
          <a:lstStyle>
            <a:lvl1pPr>
              <a:defRPr sz="3400"/>
            </a:lvl1pPr>
          </a:lstStyle>
          <a:p>
            <a:r>
              <a:rPr lang="zh-CN" altLang="en-US"/>
              <a:t>单击此处编辑母版标题样式</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zh-CN" altLang="en-US"/>
              <a:t>单击此处编辑母版副标题样式</a:t>
            </a:r>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pic>
        <p:nvPicPr>
          <p:cNvPr id="4" name="图片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705124" y="6138731"/>
            <a:ext cx="438876" cy="71926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dt" sz="half" idx="10"/>
          </p:nvPr>
        </p:nvSpPr>
        <p:spPr>
          <a:ln/>
        </p:spPr>
        <p:txBody>
          <a:bodyPr/>
          <a:lstStyle>
            <a:lvl1pPr>
              <a:defRPr/>
            </a:lvl1pPr>
          </a:lstStyle>
          <a:p>
            <a:pPr>
              <a:defRPr/>
            </a:pPr>
            <a:fld id="{F6E678B5-F165-4A52-A876-8745F24FBD1B}" type="datetime10">
              <a:rPr lang="zh-CN" altLang="en-US" smtClean="0"/>
              <a:t>12:25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BB0CC364-1BA5-41B9-AB2A-AED99E06F6D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A66782E4-2871-4BB6-B52B-F45FC9E27857}" type="datetime10">
              <a:rPr lang="zh-CN" altLang="en-US" smtClean="0"/>
              <a:t>12:25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AC2FE7BF-FC50-4631-86B5-C40F6148C3B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B481D1C5-9D19-40FC-B384-178359BF50EB}" type="datetime10">
              <a:rPr lang="zh-CN" altLang="en-US" smtClean="0"/>
              <a:t>12:25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54FC075-4888-4507-A2A3-28BF2AB6BA3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ln/>
        </p:spPr>
        <p:txBody>
          <a:bodyPr/>
          <a:lstStyle>
            <a:lvl1pPr>
              <a:defRPr/>
            </a:lvl1pPr>
          </a:lstStyle>
          <a:p>
            <a:pPr>
              <a:defRPr/>
            </a:pPr>
            <a:fld id="{094FCBEF-9D20-4127-906B-8148DF812E07}" type="datetime10">
              <a:rPr lang="zh-CN" altLang="en-US" smtClean="0"/>
              <a:t>12:25</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424A21DF-7FF8-481C-8F91-FD6CD142DE1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ln/>
        </p:spPr>
        <p:txBody>
          <a:bodyPr/>
          <a:lstStyle>
            <a:lvl1pPr>
              <a:defRPr/>
            </a:lvl1pPr>
          </a:lstStyle>
          <a:p>
            <a:pPr>
              <a:defRPr/>
            </a:pPr>
            <a:fld id="{76A132DE-5E86-4C88-8806-E89B87EB43B3}" type="datetime10">
              <a:rPr lang="zh-CN" altLang="en-US" smtClean="0"/>
              <a:t>12:25</a:t>
            </a:fld>
            <a:endParaRPr lang="zh-CN" altLang="en-US"/>
          </a:p>
        </p:txBody>
      </p:sp>
      <p:sp>
        <p:nvSpPr>
          <p:cNvPr id="8" name="Rectangle 7"/>
          <p:cNvSpPr>
            <a:spLocks noGrp="1" noChangeArrowheads="1"/>
          </p:cNvSpPr>
          <p:nvPr>
            <p:ph type="sldNum" sz="quarter" idx="11"/>
          </p:nvPr>
        </p:nvSpPr>
        <p:spPr>
          <a:ln/>
        </p:spPr>
        <p:txBody>
          <a:bodyPr/>
          <a:lstStyle>
            <a:lvl1pPr>
              <a:defRPr/>
            </a:lvl1pPr>
          </a:lstStyle>
          <a:p>
            <a:pPr>
              <a:defRPr/>
            </a:pPr>
            <a:fld id="{0240C862-EC86-4931-94EC-917C8D8D0F5E}" type="slidenum">
              <a:rPr lang="zh-CN" altLang="zh-CN"/>
              <a:pPr>
                <a:defRPr/>
              </a:pPr>
              <a:t>‹#›</a:t>
            </a:fld>
            <a:endParaRPr lang="zh-CN" altLang="zh-CN"/>
          </a:p>
        </p:txBody>
      </p:sp>
      <p:sp>
        <p:nvSpPr>
          <p:cNvPr id="9"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a:ln/>
        </p:spPr>
        <p:txBody>
          <a:bodyPr/>
          <a:lstStyle>
            <a:lvl1pPr>
              <a:defRPr/>
            </a:lvl1pPr>
          </a:lstStyle>
          <a:p>
            <a:pPr>
              <a:defRPr/>
            </a:pPr>
            <a:fld id="{75052F0E-1E3D-4D1B-A798-CF61ABE6582D}" type="datetime10">
              <a:rPr lang="zh-CN" altLang="en-US" smtClean="0"/>
              <a:t>12:25</a:t>
            </a:fld>
            <a:endParaRPr lang="zh-CN" altLang="en-US"/>
          </a:p>
        </p:txBody>
      </p:sp>
      <p:sp>
        <p:nvSpPr>
          <p:cNvPr id="4" name="Rectangle 7"/>
          <p:cNvSpPr>
            <a:spLocks noGrp="1" noChangeArrowheads="1"/>
          </p:cNvSpPr>
          <p:nvPr>
            <p:ph type="sldNum" sz="quarter" idx="11"/>
          </p:nvPr>
        </p:nvSpPr>
        <p:spPr>
          <a:ln/>
        </p:spPr>
        <p:txBody>
          <a:bodyPr/>
          <a:lstStyle>
            <a:lvl1pPr>
              <a:defRPr/>
            </a:lvl1pPr>
          </a:lstStyle>
          <a:p>
            <a:pPr>
              <a:defRPr/>
            </a:pPr>
            <a:fld id="{187BCD9F-BD44-4EF6-BE82-AAE783C43501}" type="slidenum">
              <a:rPr lang="zh-CN" altLang="zh-CN"/>
              <a:pPr>
                <a:defRPr/>
              </a:pPr>
              <a:t>‹#›</a:t>
            </a:fld>
            <a:endParaRPr lang="zh-CN" altLang="zh-CN"/>
          </a:p>
        </p:txBody>
      </p:sp>
      <p:sp>
        <p:nvSpPr>
          <p:cNvPr id="5"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A5695A9D-3DA7-4A46-A026-6D9EC5C8CCD8}" type="datetime10">
              <a:rPr lang="zh-CN" altLang="en-US" smtClean="0"/>
              <a:t>12:25</a:t>
            </a:fld>
            <a:endParaRPr lang="zh-CN" altLang="en-US"/>
          </a:p>
        </p:txBody>
      </p:sp>
      <p:sp>
        <p:nvSpPr>
          <p:cNvPr id="3" name="Rectangle 7"/>
          <p:cNvSpPr>
            <a:spLocks noGrp="1" noChangeArrowheads="1"/>
          </p:cNvSpPr>
          <p:nvPr>
            <p:ph type="sldNum" sz="quarter" idx="11"/>
          </p:nvPr>
        </p:nvSpPr>
        <p:spPr>
          <a:ln/>
        </p:spPr>
        <p:txBody>
          <a:bodyPr/>
          <a:lstStyle>
            <a:lvl1pPr>
              <a:defRPr/>
            </a:lvl1pPr>
          </a:lstStyle>
          <a:p>
            <a:pPr>
              <a:defRPr/>
            </a:pPr>
            <a:fld id="{61C52EBF-F81B-48B6-BE4D-26C1D1B6B6E3}" type="slidenum">
              <a:rPr lang="zh-CN" altLang="zh-CN"/>
              <a:pPr>
                <a:defRPr/>
              </a:pPr>
              <a:t>‹#›</a:t>
            </a:fld>
            <a:endParaRPr lang="zh-CN" altLang="zh-CN"/>
          </a:p>
        </p:txBody>
      </p:sp>
      <p:sp>
        <p:nvSpPr>
          <p:cNvPr id="4"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6FD32402-3A0A-4A83-B014-02616F27F8F8}" type="datetime10">
              <a:rPr lang="zh-CN" altLang="en-US" smtClean="0"/>
              <a:t>12:25</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1C8539A8-602D-4E51-B413-7D3049688621}"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86CDA8DB-4701-46C4-9721-3C9EE473A796}" type="datetime10">
              <a:rPr lang="zh-CN" altLang="en-US" smtClean="0"/>
              <a:t>12:25</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76C80078-58AC-4D3E-ABE4-9AC19CDC29F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19565BF3-57FE-4DBA-9409-6B0BEA8ABF29}" type="datetime10">
              <a:rPr lang="zh-CN" altLang="en-US" smtClean="0"/>
              <a:t>12:25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F386B3F5-11FC-4098-8939-7139F82C3FE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7F54A2F9-17F2-403D-9114-821E83781671}" type="datetime10">
              <a:rPr lang="zh-CN" altLang="en-US" smtClean="0"/>
              <a:t>12:25</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DE68FAC-5B3F-4E4F-841D-C005C5C6C87A}"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4.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eaLnBrk="0" hangingPunct="0">
              <a:defRPr/>
            </a:pPr>
            <a:r>
              <a:rPr lang="de-DE" altLang="en-US" sz="1000"/>
              <a:t>Page </a:t>
            </a:r>
            <a:r>
              <a:rPr lang="de-DE" altLang="en-US" sz="1000">
                <a:sym typeface="MS UI Gothic" pitchFamily="34" charset="-128"/>
              </a:rPr>
              <a:t></a:t>
            </a:r>
            <a:r>
              <a:rPr lang="de-DE" altLang="en-US" sz="1000"/>
              <a:t> </a:t>
            </a:r>
            <a:fld id="{79942497-7726-428B-B087-1DEFCAC66726}" type="slidenum">
              <a:rPr lang="zh-CN" altLang="en-US" sz="1000"/>
              <a:pPr algn="ctr" eaLnBrk="0" hangingPunct="0">
                <a:defRPr/>
              </a:pPr>
              <a:t>‹#›</a:t>
            </a:fld>
            <a:endParaRPr lang="en-US" sz="1000"/>
          </a:p>
        </p:txBody>
      </p:sp>
      <p:sp>
        <p:nvSpPr>
          <p:cNvPr id="1031" name="Rectangle 7"/>
          <p:cNvSpPr>
            <a:spLocks noChangeArrowheads="1"/>
          </p:cNvSpPr>
          <p:nvPr userDrawn="1"/>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eaLnBrk="0" hangingPunct="0">
              <a:defRPr/>
            </a:pPr>
            <a:r>
              <a:rPr lang="de-DE" altLang="en-US" sz="1400" i="0"/>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a:defRPr/>
            </a:pPr>
            <a:endParaRPr lang="zh-CN" altLang="en-US" sz="2600" i="0">
              <a:solidFill>
                <a:schemeClr val="bg1"/>
              </a:solidFill>
              <a:ea typeface="黑体" pitchFamily="2" charset="-122"/>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1"/>
          <p:cNvPicPr>
            <a:picLocks noChangeAspect="1" noChangeArrowheads="1"/>
          </p:cNvPicPr>
          <p:nvPr/>
        </p:nvPicPr>
        <p:blipFill>
          <a:blip r:embed="rId13" cstate="print"/>
          <a:srcRect/>
          <a:stretch>
            <a:fillRect/>
          </a:stretch>
        </p:blipFill>
        <p:spPr bwMode="auto">
          <a:xfrm>
            <a:off x="0" y="-25400"/>
            <a:ext cx="9144000" cy="6883400"/>
          </a:xfrm>
          <a:prstGeom prst="rect">
            <a:avLst/>
          </a:prstGeom>
          <a:noFill/>
          <a:ln w="9525">
            <a:noFill/>
            <a:miter lim="800000"/>
            <a:headEnd/>
            <a:tailEnd/>
          </a:ln>
        </p:spPr>
      </p:pic>
      <p:pic>
        <p:nvPicPr>
          <p:cNvPr id="2051" name="Picture 3" descr="2"/>
          <p:cNvPicPr>
            <a:picLocks noChangeAspect="1" noChangeArrowheads="1"/>
          </p:cNvPicPr>
          <p:nvPr/>
        </p:nvPicPr>
        <p:blipFill>
          <a:blip r:embed="rId14" cstate="print"/>
          <a:srcRect/>
          <a:stretch>
            <a:fillRect/>
          </a:stretch>
        </p:blipFill>
        <p:spPr bwMode="auto">
          <a:xfrm>
            <a:off x="0" y="3030538"/>
            <a:ext cx="9144000" cy="3827462"/>
          </a:xfrm>
          <a:prstGeom prst="rect">
            <a:avLst/>
          </a:prstGeom>
          <a:noFill/>
          <a:ln w="9525">
            <a:noFill/>
            <a:miter lim="800000"/>
            <a:headEnd/>
            <a:tailEnd/>
          </a:ln>
        </p:spPr>
      </p:pic>
      <p:sp>
        <p:nvSpPr>
          <p:cNvPr id="2052" name="Rectangle 4"/>
          <p:cNvSpPr>
            <a:spLocks noGrp="1" noChangeArrowheads="1"/>
          </p:cNvSpPr>
          <p:nvPr>
            <p:ph type="title"/>
          </p:nvPr>
        </p:nvSpPr>
        <p:spPr bwMode="auto">
          <a:xfrm>
            <a:off x="457200" y="27463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3" name="Rectangle 5"/>
          <p:cNvSpPr>
            <a:spLocks noGrp="1" noChangeArrowheads="1"/>
          </p:cNvSpPr>
          <p:nvPr>
            <p:ph type="body" idx="1"/>
          </p:nvPr>
        </p:nvSpPr>
        <p:spPr bwMode="auto">
          <a:xfrm>
            <a:off x="457200" y="1600200"/>
            <a:ext cx="8229600" cy="4525963"/>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dt" sz="half" idx="2"/>
          </p:nvPr>
        </p:nvSpPr>
        <p:spPr bwMode="auto">
          <a:xfrm>
            <a:off x="457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b="0"/>
            </a:lvl1pPr>
          </a:lstStyle>
          <a:p>
            <a:pPr>
              <a:defRPr/>
            </a:pPr>
            <a:fld id="{A288D613-F285-49C9-B913-B57B939A2DCD}" type="datetime10">
              <a:rPr lang="zh-CN" altLang="en-US" smtClean="0"/>
              <a:t>12:25</a:t>
            </a:fld>
            <a:endParaRPr lang="zh-CN" altLang="en-US"/>
          </a:p>
        </p:txBody>
      </p:sp>
      <p:sp>
        <p:nvSpPr>
          <p:cNvPr id="3079" name="Rectangle 7"/>
          <p:cNvSpPr>
            <a:spLocks noGrp="1" noChangeArrowheads="1"/>
          </p:cNvSpPr>
          <p:nvPr>
            <p:ph type="sldNum" sz="quarter" idx="4"/>
          </p:nvPr>
        </p:nvSpPr>
        <p:spPr bwMode="auto">
          <a:xfrm>
            <a:off x="6553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b="0"/>
            </a:lvl1pPr>
          </a:lstStyle>
          <a:p>
            <a:pPr>
              <a:defRPr/>
            </a:pPr>
            <a:fld id="{1837E92B-A29E-444E-B5B0-AD7430799177}" type="slidenum">
              <a:rPr lang="zh-CN" altLang="zh-CN"/>
              <a:pPr>
                <a:defRPr/>
              </a:pPr>
              <a:t>‹#›</a:t>
            </a:fld>
            <a:endParaRPr lang="zh-CN" altLang="zh-CN"/>
          </a:p>
        </p:txBody>
      </p:sp>
      <p:sp>
        <p:nvSpPr>
          <p:cNvPr id="3080" name="Rectangle 8"/>
          <p:cNvSpPr>
            <a:spLocks noGrp="1" noChangeArrowheads="1"/>
          </p:cNvSpPr>
          <p:nvPr>
            <p:ph type="ftr" sz="quarter" idx="3"/>
          </p:nvPr>
        </p:nvSpPr>
        <p:spPr bwMode="auto">
          <a:xfrm>
            <a:off x="3124200" y="6245225"/>
            <a:ext cx="2895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b="0"/>
            </a:lvl1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png"/><Relationship Id="rId4" Type="http://schemas.openxmlformats.org/officeDocument/2006/relationships/image" Target="../media/image8.wmf"/></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9.png"/><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2.wmf"/><Relationship Id="rId5" Type="http://schemas.openxmlformats.org/officeDocument/2006/relationships/oleObject" Target="../embeddings/oleObject3.bin"/><Relationship Id="rId4" Type="http://schemas.openxmlformats.org/officeDocument/2006/relationships/image" Target="../media/image10.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9.png"/><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2.wmf"/><Relationship Id="rId11" Type="http://schemas.openxmlformats.org/officeDocument/2006/relationships/image" Target="../media/image14.png"/><Relationship Id="rId5" Type="http://schemas.openxmlformats.org/officeDocument/2006/relationships/oleObject" Target="../embeddings/oleObject5.bin"/><Relationship Id="rId10" Type="http://schemas.openxmlformats.org/officeDocument/2006/relationships/image" Target="../media/image15.wmf"/><Relationship Id="rId4" Type="http://schemas.openxmlformats.org/officeDocument/2006/relationships/image" Target="../media/image10.png"/><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9.png"/><Relationship Id="rId7" Type="http://schemas.openxmlformats.org/officeDocument/2006/relationships/oleObject" Target="../embeddings/oleObject9.bin"/><Relationship Id="rId12"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2.wmf"/><Relationship Id="rId11" Type="http://schemas.openxmlformats.org/officeDocument/2006/relationships/image" Target="../media/image17.png"/><Relationship Id="rId5" Type="http://schemas.openxmlformats.org/officeDocument/2006/relationships/oleObject" Target="../embeddings/oleObject8.bin"/><Relationship Id="rId10" Type="http://schemas.openxmlformats.org/officeDocument/2006/relationships/image" Target="../media/image16.wmf"/><Relationship Id="rId4" Type="http://schemas.openxmlformats.org/officeDocument/2006/relationships/image" Target="../media/image10.png"/><Relationship Id="rId9"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9.png"/><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2.wmf"/><Relationship Id="rId11" Type="http://schemas.openxmlformats.org/officeDocument/2006/relationships/image" Target="../media/image14.png"/><Relationship Id="rId5" Type="http://schemas.openxmlformats.org/officeDocument/2006/relationships/oleObject" Target="../embeddings/oleObject11.bin"/><Relationship Id="rId10" Type="http://schemas.openxmlformats.org/officeDocument/2006/relationships/image" Target="../media/image18.wmf"/><Relationship Id="rId4" Type="http://schemas.openxmlformats.org/officeDocument/2006/relationships/image" Target="../media/image10.png"/><Relationship Id="rId9"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oleObject" Target="../embeddings/oleObject15.bin"/><Relationship Id="rId12"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2.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19.wmf"/><Relationship Id="rId4" Type="http://schemas.openxmlformats.org/officeDocument/2006/relationships/image" Target="../media/image10.png"/><Relationship Id="rId9" Type="http://schemas.openxmlformats.org/officeDocument/2006/relationships/oleObject" Target="../embeddings/oleObject16.bin"/><Relationship Id="rId1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17.png"/><Relationship Id="rId18" Type="http://schemas.openxmlformats.org/officeDocument/2006/relationships/image" Target="../media/image22.wmf"/><Relationship Id="rId3" Type="http://schemas.openxmlformats.org/officeDocument/2006/relationships/image" Target="../media/image9.png"/><Relationship Id="rId7" Type="http://schemas.openxmlformats.org/officeDocument/2006/relationships/oleObject" Target="../embeddings/oleObject19.bin"/><Relationship Id="rId12" Type="http://schemas.openxmlformats.org/officeDocument/2006/relationships/image" Target="../media/image20.wmf"/><Relationship Id="rId17" Type="http://schemas.openxmlformats.org/officeDocument/2006/relationships/oleObject" Target="../embeddings/oleObject23.bin"/><Relationship Id="rId2" Type="http://schemas.openxmlformats.org/officeDocument/2006/relationships/slideLayout" Target="../slideLayouts/slideLayout2.xml"/><Relationship Id="rId16" Type="http://schemas.openxmlformats.org/officeDocument/2006/relationships/image" Target="../media/image14.png"/><Relationship Id="rId1" Type="http://schemas.openxmlformats.org/officeDocument/2006/relationships/vmlDrawing" Target="../drawings/vmlDrawing8.vml"/><Relationship Id="rId6" Type="http://schemas.openxmlformats.org/officeDocument/2006/relationships/image" Target="../media/image12.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image" Target="../media/image21.wmf"/><Relationship Id="rId10" Type="http://schemas.openxmlformats.org/officeDocument/2006/relationships/image" Target="../media/image19.wmf"/><Relationship Id="rId4" Type="http://schemas.openxmlformats.org/officeDocument/2006/relationships/image" Target="../media/image10.png"/><Relationship Id="rId9" Type="http://schemas.openxmlformats.org/officeDocument/2006/relationships/oleObject" Target="../embeddings/oleObject20.bin"/><Relationship Id="rId14" Type="http://schemas.openxmlformats.org/officeDocument/2006/relationships/oleObject" Target="../embeddings/oleObject22.bin"/></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3.png"/><Relationship Id="rId5" Type="http://schemas.openxmlformats.org/officeDocument/2006/relationships/image" Target="../media/image25.wmf"/><Relationship Id="rId4" Type="http://schemas.openxmlformats.org/officeDocument/2006/relationships/oleObject" Target="../embeddings/oleObject24.bin"/></Relationships>
</file>

<file path=ppt/slides/_rels/slide15.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9.png"/><Relationship Id="rId7" Type="http://schemas.openxmlformats.org/officeDocument/2006/relationships/oleObject" Target="../embeddings/oleObject26.bin"/><Relationship Id="rId12"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6.wmf"/><Relationship Id="rId11" Type="http://schemas.openxmlformats.org/officeDocument/2006/relationships/oleObject" Target="../embeddings/oleObject27.bin"/><Relationship Id="rId5" Type="http://schemas.openxmlformats.org/officeDocument/2006/relationships/oleObject" Target="../embeddings/oleObject25.bin"/><Relationship Id="rId10" Type="http://schemas.openxmlformats.org/officeDocument/2006/relationships/image" Target="../media/image28.png"/><Relationship Id="rId4" Type="http://schemas.openxmlformats.org/officeDocument/2006/relationships/image" Target="../media/image10.pn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29.wmf"/><Relationship Id="rId3" Type="http://schemas.openxmlformats.org/officeDocument/2006/relationships/image" Target="../media/image9.png"/><Relationship Id="rId7" Type="http://schemas.openxmlformats.org/officeDocument/2006/relationships/oleObject" Target="../embeddings/oleObject29.bin"/><Relationship Id="rId12"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26.wmf"/><Relationship Id="rId11" Type="http://schemas.openxmlformats.org/officeDocument/2006/relationships/image" Target="../media/image27.wmf"/><Relationship Id="rId5" Type="http://schemas.openxmlformats.org/officeDocument/2006/relationships/oleObject" Target="../embeddings/oleObject28.bin"/><Relationship Id="rId10" Type="http://schemas.openxmlformats.org/officeDocument/2006/relationships/oleObject" Target="../embeddings/oleObject30.bin"/><Relationship Id="rId4" Type="http://schemas.openxmlformats.org/officeDocument/2006/relationships/image" Target="../media/image10.png"/><Relationship Id="rId9" Type="http://schemas.openxmlformats.org/officeDocument/2006/relationships/image" Target="../media/image24.png"/><Relationship Id="rId14" Type="http://schemas.openxmlformats.org/officeDocument/2006/relationships/image" Target="../media/image30.png"/></Relationships>
</file>

<file path=ppt/slides/_rels/slide17.xml.rels><?xml version="1.0" encoding="UTF-8" standalone="yes"?>
<Relationships xmlns="http://schemas.openxmlformats.org/package/2006/relationships"><Relationship Id="rId8" Type="http://schemas.openxmlformats.org/officeDocument/2006/relationships/image" Target="../media/image13.wmf"/><Relationship Id="rId13" Type="http://schemas.openxmlformats.org/officeDocument/2006/relationships/image" Target="../media/image31.wmf"/><Relationship Id="rId3" Type="http://schemas.openxmlformats.org/officeDocument/2006/relationships/image" Target="../media/image9.png"/><Relationship Id="rId7" Type="http://schemas.openxmlformats.org/officeDocument/2006/relationships/oleObject" Target="../embeddings/oleObject33.bin"/><Relationship Id="rId12" Type="http://schemas.openxmlformats.org/officeDocument/2006/relationships/oleObject" Target="../embeddings/oleObject35.bin"/><Relationship Id="rId2" Type="http://schemas.openxmlformats.org/officeDocument/2006/relationships/slideLayout" Target="../slideLayouts/slideLayout2.xml"/><Relationship Id="rId16" Type="http://schemas.openxmlformats.org/officeDocument/2006/relationships/image" Target="../media/image32.wmf"/><Relationship Id="rId1" Type="http://schemas.openxmlformats.org/officeDocument/2006/relationships/vmlDrawing" Target="../drawings/vmlDrawing12.vml"/><Relationship Id="rId6" Type="http://schemas.openxmlformats.org/officeDocument/2006/relationships/image" Target="../media/image26.wmf"/><Relationship Id="rId11" Type="http://schemas.openxmlformats.org/officeDocument/2006/relationships/image" Target="../media/image27.wmf"/><Relationship Id="rId5" Type="http://schemas.openxmlformats.org/officeDocument/2006/relationships/oleObject" Target="../embeddings/oleObject32.bin"/><Relationship Id="rId15" Type="http://schemas.openxmlformats.org/officeDocument/2006/relationships/oleObject" Target="../embeddings/oleObject36.bin"/><Relationship Id="rId10" Type="http://schemas.openxmlformats.org/officeDocument/2006/relationships/oleObject" Target="../embeddings/oleObject34.bin"/><Relationship Id="rId4" Type="http://schemas.openxmlformats.org/officeDocument/2006/relationships/image" Target="../media/image10.png"/><Relationship Id="rId9" Type="http://schemas.openxmlformats.org/officeDocument/2006/relationships/image" Target="../media/image24.png"/><Relationship Id="rId14"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oleObject" Target="../embeddings/oleObject40.bin"/><Relationship Id="rId18" Type="http://schemas.openxmlformats.org/officeDocument/2006/relationships/oleObject" Target="../embeddings/oleObject42.bin"/><Relationship Id="rId3" Type="http://schemas.openxmlformats.org/officeDocument/2006/relationships/notesSlide" Target="../notesSlides/notesSlide1.xml"/><Relationship Id="rId21" Type="http://schemas.openxmlformats.org/officeDocument/2006/relationships/image" Target="../media/image22.wmf"/><Relationship Id="rId7" Type="http://schemas.openxmlformats.org/officeDocument/2006/relationships/image" Target="../media/image26.wmf"/><Relationship Id="rId12" Type="http://schemas.openxmlformats.org/officeDocument/2006/relationships/image" Target="../media/image27.wmf"/><Relationship Id="rId17" Type="http://schemas.openxmlformats.org/officeDocument/2006/relationships/image" Target="../media/image32.wmf"/><Relationship Id="rId2" Type="http://schemas.openxmlformats.org/officeDocument/2006/relationships/slideLayout" Target="../slideLayouts/slideLayout2.xml"/><Relationship Id="rId16" Type="http://schemas.openxmlformats.org/officeDocument/2006/relationships/oleObject" Target="../embeddings/oleObject41.bin"/><Relationship Id="rId20" Type="http://schemas.openxmlformats.org/officeDocument/2006/relationships/oleObject" Target="../embeddings/oleObject43.bin"/><Relationship Id="rId1" Type="http://schemas.openxmlformats.org/officeDocument/2006/relationships/vmlDrawing" Target="../drawings/vmlDrawing13.vml"/><Relationship Id="rId6" Type="http://schemas.openxmlformats.org/officeDocument/2006/relationships/oleObject" Target="../embeddings/oleObject37.bin"/><Relationship Id="rId11" Type="http://schemas.openxmlformats.org/officeDocument/2006/relationships/oleObject" Target="../embeddings/oleObject39.bin"/><Relationship Id="rId5" Type="http://schemas.openxmlformats.org/officeDocument/2006/relationships/image" Target="../media/image10.png"/><Relationship Id="rId15" Type="http://schemas.openxmlformats.org/officeDocument/2006/relationships/image" Target="../media/image30.png"/><Relationship Id="rId10" Type="http://schemas.openxmlformats.org/officeDocument/2006/relationships/image" Target="../media/image24.png"/><Relationship Id="rId19" Type="http://schemas.openxmlformats.org/officeDocument/2006/relationships/image" Target="../media/image21.wmf"/><Relationship Id="rId4" Type="http://schemas.openxmlformats.org/officeDocument/2006/relationships/image" Target="../media/image9.png"/><Relationship Id="rId9" Type="http://schemas.openxmlformats.org/officeDocument/2006/relationships/image" Target="../media/image13.wmf"/><Relationship Id="rId14" Type="http://schemas.openxmlformats.org/officeDocument/2006/relationships/image" Target="../media/image31.wmf"/></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33.png"/><Relationship Id="rId5" Type="http://schemas.openxmlformats.org/officeDocument/2006/relationships/image" Target="../media/image35.png"/><Relationship Id="rId4" Type="http://schemas.openxmlformats.org/officeDocument/2006/relationships/image" Target="../media/image34.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oleObject" Target="../embeddings/oleObject45.bin"/><Relationship Id="rId7" Type="http://schemas.openxmlformats.org/officeDocument/2006/relationships/image" Target="../media/image39.png"/><Relationship Id="rId12"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3.png"/><Relationship Id="rId11" Type="http://schemas.openxmlformats.org/officeDocument/2006/relationships/oleObject" Target="../embeddings/oleObject47.bin"/><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9.bin"/><Relationship Id="rId13" Type="http://schemas.openxmlformats.org/officeDocument/2006/relationships/oleObject" Target="../embeddings/oleObject51.bin"/><Relationship Id="rId3" Type="http://schemas.openxmlformats.org/officeDocument/2006/relationships/oleObject" Target="../embeddings/oleObject48.bin"/><Relationship Id="rId7" Type="http://schemas.openxmlformats.org/officeDocument/2006/relationships/image" Target="../media/image39.png"/><Relationship Id="rId12"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33.png"/><Relationship Id="rId11" Type="http://schemas.openxmlformats.org/officeDocument/2006/relationships/oleObject" Target="../embeddings/oleObject50.bin"/><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 Id="rId14" Type="http://schemas.openxmlformats.org/officeDocument/2006/relationships/image" Target="../media/image41.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53.bin"/><Relationship Id="rId13" Type="http://schemas.openxmlformats.org/officeDocument/2006/relationships/oleObject" Target="../embeddings/oleObject55.bin"/><Relationship Id="rId3" Type="http://schemas.openxmlformats.org/officeDocument/2006/relationships/oleObject" Target="../embeddings/oleObject52.bin"/><Relationship Id="rId7" Type="http://schemas.openxmlformats.org/officeDocument/2006/relationships/image" Target="../media/image39.png"/><Relationship Id="rId12"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33.png"/><Relationship Id="rId11" Type="http://schemas.openxmlformats.org/officeDocument/2006/relationships/oleObject" Target="../embeddings/oleObject54.bin"/><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 Id="rId14" Type="http://schemas.openxmlformats.org/officeDocument/2006/relationships/image" Target="../media/image41.w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oleObject" Target="../embeddings/oleObject59.bin"/><Relationship Id="rId3" Type="http://schemas.openxmlformats.org/officeDocument/2006/relationships/oleObject" Target="../embeddings/oleObject56.bin"/><Relationship Id="rId7" Type="http://schemas.openxmlformats.org/officeDocument/2006/relationships/image" Target="../media/image39.png"/><Relationship Id="rId12" Type="http://schemas.openxmlformats.org/officeDocument/2006/relationships/image" Target="../media/image38.wmf"/><Relationship Id="rId17" Type="http://schemas.openxmlformats.org/officeDocument/2006/relationships/image" Target="../media/image541.png"/><Relationship Id="rId2" Type="http://schemas.openxmlformats.org/officeDocument/2006/relationships/slideLayout" Target="../slideLayouts/slideLayout2.xml"/><Relationship Id="rId16" Type="http://schemas.openxmlformats.org/officeDocument/2006/relationships/image" Target="../media/image42.wmf"/><Relationship Id="rId1" Type="http://schemas.openxmlformats.org/officeDocument/2006/relationships/vmlDrawing" Target="../drawings/vmlDrawing18.vml"/><Relationship Id="rId6" Type="http://schemas.openxmlformats.org/officeDocument/2006/relationships/image" Target="../media/image33.png"/><Relationship Id="rId11" Type="http://schemas.openxmlformats.org/officeDocument/2006/relationships/oleObject" Target="../embeddings/oleObject58.bin"/><Relationship Id="rId5" Type="http://schemas.openxmlformats.org/officeDocument/2006/relationships/image" Target="../media/image35.png"/><Relationship Id="rId15" Type="http://schemas.openxmlformats.org/officeDocument/2006/relationships/oleObject" Target="../embeddings/oleObject60.bin"/><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 Id="rId14" Type="http://schemas.openxmlformats.org/officeDocument/2006/relationships/image" Target="../media/image41.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oleObject" Target="../embeddings/oleObject64.bin"/><Relationship Id="rId3" Type="http://schemas.openxmlformats.org/officeDocument/2006/relationships/oleObject" Target="../embeddings/oleObject61.bin"/><Relationship Id="rId7" Type="http://schemas.openxmlformats.org/officeDocument/2006/relationships/image" Target="../media/image39.png"/><Relationship Id="rId12" Type="http://schemas.openxmlformats.org/officeDocument/2006/relationships/image" Target="../media/image38.wmf"/><Relationship Id="rId2" Type="http://schemas.openxmlformats.org/officeDocument/2006/relationships/slideLayout" Target="../slideLayouts/slideLayout2.xml"/><Relationship Id="rId16" Type="http://schemas.openxmlformats.org/officeDocument/2006/relationships/image" Target="../media/image44.wmf"/><Relationship Id="rId1" Type="http://schemas.openxmlformats.org/officeDocument/2006/relationships/vmlDrawing" Target="../drawings/vmlDrawing19.vml"/><Relationship Id="rId6" Type="http://schemas.openxmlformats.org/officeDocument/2006/relationships/image" Target="../media/image33.png"/><Relationship Id="rId11" Type="http://schemas.openxmlformats.org/officeDocument/2006/relationships/oleObject" Target="../embeddings/oleObject63.bin"/><Relationship Id="rId5" Type="http://schemas.openxmlformats.org/officeDocument/2006/relationships/image" Target="../media/image35.png"/><Relationship Id="rId15" Type="http://schemas.openxmlformats.org/officeDocument/2006/relationships/oleObject" Target="../embeddings/oleObject65.bin"/><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 Id="rId14" Type="http://schemas.openxmlformats.org/officeDocument/2006/relationships/image" Target="../media/image43.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oleObject" Target="../embeddings/oleObject69.bin"/><Relationship Id="rId3" Type="http://schemas.openxmlformats.org/officeDocument/2006/relationships/oleObject" Target="../embeddings/oleObject66.bin"/><Relationship Id="rId7" Type="http://schemas.openxmlformats.org/officeDocument/2006/relationships/image" Target="../media/image39.png"/><Relationship Id="rId12" Type="http://schemas.openxmlformats.org/officeDocument/2006/relationships/image" Target="../media/image38.wmf"/><Relationship Id="rId2" Type="http://schemas.openxmlformats.org/officeDocument/2006/relationships/slideLayout" Target="../slideLayouts/slideLayout2.xml"/><Relationship Id="rId16" Type="http://schemas.openxmlformats.org/officeDocument/2006/relationships/image" Target="../media/image46.wmf"/><Relationship Id="rId1" Type="http://schemas.openxmlformats.org/officeDocument/2006/relationships/vmlDrawing" Target="../drawings/vmlDrawing20.vml"/><Relationship Id="rId6" Type="http://schemas.openxmlformats.org/officeDocument/2006/relationships/image" Target="../media/image33.png"/><Relationship Id="rId11" Type="http://schemas.openxmlformats.org/officeDocument/2006/relationships/oleObject" Target="../embeddings/oleObject68.bin"/><Relationship Id="rId5" Type="http://schemas.openxmlformats.org/officeDocument/2006/relationships/image" Target="../media/image35.png"/><Relationship Id="rId15" Type="http://schemas.openxmlformats.org/officeDocument/2006/relationships/oleObject" Target="../embeddings/oleObject70.bin"/><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 Id="rId14" Type="http://schemas.openxmlformats.org/officeDocument/2006/relationships/image" Target="../media/image45.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72.bin"/><Relationship Id="rId13" Type="http://schemas.openxmlformats.org/officeDocument/2006/relationships/oleObject" Target="../embeddings/oleObject74.bin"/><Relationship Id="rId18" Type="http://schemas.openxmlformats.org/officeDocument/2006/relationships/image" Target="../media/image48.wmf"/><Relationship Id="rId3" Type="http://schemas.openxmlformats.org/officeDocument/2006/relationships/oleObject" Target="../embeddings/oleObject71.bin"/><Relationship Id="rId7" Type="http://schemas.openxmlformats.org/officeDocument/2006/relationships/image" Target="../media/image39.png"/><Relationship Id="rId12" Type="http://schemas.openxmlformats.org/officeDocument/2006/relationships/image" Target="../media/image38.wmf"/><Relationship Id="rId17" Type="http://schemas.openxmlformats.org/officeDocument/2006/relationships/oleObject" Target="../embeddings/oleObject76.bin"/><Relationship Id="rId2" Type="http://schemas.openxmlformats.org/officeDocument/2006/relationships/slideLayout" Target="../slideLayouts/slideLayout2.xml"/><Relationship Id="rId16" Type="http://schemas.openxmlformats.org/officeDocument/2006/relationships/image" Target="../media/image46.wmf"/><Relationship Id="rId1" Type="http://schemas.openxmlformats.org/officeDocument/2006/relationships/vmlDrawing" Target="../drawings/vmlDrawing21.vml"/><Relationship Id="rId6" Type="http://schemas.openxmlformats.org/officeDocument/2006/relationships/image" Target="../media/image33.png"/><Relationship Id="rId11" Type="http://schemas.openxmlformats.org/officeDocument/2006/relationships/oleObject" Target="../embeddings/oleObject73.bin"/><Relationship Id="rId5" Type="http://schemas.openxmlformats.org/officeDocument/2006/relationships/image" Target="../media/image35.png"/><Relationship Id="rId15" Type="http://schemas.openxmlformats.org/officeDocument/2006/relationships/oleObject" Target="../embeddings/oleObject75.bin"/><Relationship Id="rId10" Type="http://schemas.openxmlformats.org/officeDocument/2006/relationships/image" Target="../media/image40.png"/><Relationship Id="rId4" Type="http://schemas.openxmlformats.org/officeDocument/2006/relationships/image" Target="../media/image36.wmf"/><Relationship Id="rId9" Type="http://schemas.openxmlformats.org/officeDocument/2006/relationships/image" Target="../media/image37.wmf"/><Relationship Id="rId14" Type="http://schemas.openxmlformats.org/officeDocument/2006/relationships/image" Target="../media/image47.wmf"/></Relationships>
</file>

<file path=ppt/slides/_rels/slide2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oleObject" Target="../embeddings/oleObject81.bin"/><Relationship Id="rId18" Type="http://schemas.openxmlformats.org/officeDocument/2006/relationships/image" Target="../media/image54.png"/><Relationship Id="rId3" Type="http://schemas.openxmlformats.org/officeDocument/2006/relationships/oleObject" Target="../embeddings/oleObject77.bin"/><Relationship Id="rId21" Type="http://schemas.openxmlformats.org/officeDocument/2006/relationships/oleObject" Target="../embeddings/oleObject84.bin"/><Relationship Id="rId7" Type="http://schemas.openxmlformats.org/officeDocument/2006/relationships/image" Target="../media/image37.wmf"/><Relationship Id="rId12" Type="http://schemas.openxmlformats.org/officeDocument/2006/relationships/image" Target="../media/image47.wmf"/><Relationship Id="rId17" Type="http://schemas.openxmlformats.org/officeDocument/2006/relationships/image" Target="../media/image53.png"/><Relationship Id="rId2" Type="http://schemas.openxmlformats.org/officeDocument/2006/relationships/slideLayout" Target="../slideLayouts/slideLayout2.xml"/><Relationship Id="rId16" Type="http://schemas.openxmlformats.org/officeDocument/2006/relationships/image" Target="../media/image50.wmf"/><Relationship Id="rId20" Type="http://schemas.openxmlformats.org/officeDocument/2006/relationships/image" Target="../media/image51.wmf"/><Relationship Id="rId1" Type="http://schemas.openxmlformats.org/officeDocument/2006/relationships/vmlDrawing" Target="../drawings/vmlDrawing22.vml"/><Relationship Id="rId6" Type="http://schemas.openxmlformats.org/officeDocument/2006/relationships/oleObject" Target="../embeddings/oleObject78.bin"/><Relationship Id="rId11" Type="http://schemas.openxmlformats.org/officeDocument/2006/relationships/oleObject" Target="../embeddings/oleObject80.bin"/><Relationship Id="rId5" Type="http://schemas.openxmlformats.org/officeDocument/2006/relationships/image" Target="../media/image39.png"/><Relationship Id="rId15" Type="http://schemas.openxmlformats.org/officeDocument/2006/relationships/oleObject" Target="../embeddings/oleObject82.bin"/><Relationship Id="rId10" Type="http://schemas.openxmlformats.org/officeDocument/2006/relationships/image" Target="../media/image38.wmf"/><Relationship Id="rId19" Type="http://schemas.openxmlformats.org/officeDocument/2006/relationships/oleObject" Target="../embeddings/oleObject83.bin"/><Relationship Id="rId4" Type="http://schemas.openxmlformats.org/officeDocument/2006/relationships/image" Target="../media/image36.wmf"/><Relationship Id="rId9" Type="http://schemas.openxmlformats.org/officeDocument/2006/relationships/oleObject" Target="../embeddings/oleObject79.bin"/><Relationship Id="rId14" Type="http://schemas.openxmlformats.org/officeDocument/2006/relationships/image" Target="../media/image49.wmf"/><Relationship Id="rId22" Type="http://schemas.openxmlformats.org/officeDocument/2006/relationships/image" Target="../media/image52.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oleObject" Target="../embeddings/oleObject90.bin"/><Relationship Id="rId18" Type="http://schemas.openxmlformats.org/officeDocument/2006/relationships/image" Target="../media/image62.wmf"/><Relationship Id="rId3" Type="http://schemas.openxmlformats.org/officeDocument/2006/relationships/oleObject" Target="../embeddings/oleObject85.bin"/><Relationship Id="rId7" Type="http://schemas.openxmlformats.org/officeDocument/2006/relationships/oleObject" Target="../embeddings/oleObject87.bin"/><Relationship Id="rId12" Type="http://schemas.openxmlformats.org/officeDocument/2006/relationships/image" Target="../media/image59.wmf"/><Relationship Id="rId17" Type="http://schemas.openxmlformats.org/officeDocument/2006/relationships/oleObject" Target="../embeddings/oleObject92.bin"/><Relationship Id="rId2" Type="http://schemas.openxmlformats.org/officeDocument/2006/relationships/slideLayout" Target="../slideLayouts/slideLayout2.xml"/><Relationship Id="rId16" Type="http://schemas.openxmlformats.org/officeDocument/2006/relationships/image" Target="../media/image61.wmf"/><Relationship Id="rId20" Type="http://schemas.openxmlformats.org/officeDocument/2006/relationships/image" Target="../media/image63.wmf"/><Relationship Id="rId1" Type="http://schemas.openxmlformats.org/officeDocument/2006/relationships/vmlDrawing" Target="../drawings/vmlDrawing23.vml"/><Relationship Id="rId6" Type="http://schemas.openxmlformats.org/officeDocument/2006/relationships/image" Target="../media/image56.png"/><Relationship Id="rId11" Type="http://schemas.openxmlformats.org/officeDocument/2006/relationships/oleObject" Target="../embeddings/oleObject89.bin"/><Relationship Id="rId5" Type="http://schemas.openxmlformats.org/officeDocument/2006/relationships/oleObject" Target="../embeddings/oleObject86.bin"/><Relationship Id="rId15" Type="http://schemas.openxmlformats.org/officeDocument/2006/relationships/oleObject" Target="../embeddings/oleObject91.bin"/><Relationship Id="rId10" Type="http://schemas.openxmlformats.org/officeDocument/2006/relationships/image" Target="../media/image58.png"/><Relationship Id="rId19" Type="http://schemas.openxmlformats.org/officeDocument/2006/relationships/oleObject" Target="../embeddings/oleObject93.bin"/><Relationship Id="rId4" Type="http://schemas.openxmlformats.org/officeDocument/2006/relationships/image" Target="../media/image55.png"/><Relationship Id="rId9" Type="http://schemas.openxmlformats.org/officeDocument/2006/relationships/oleObject" Target="../embeddings/oleObject88.bin"/><Relationship Id="rId14" Type="http://schemas.openxmlformats.org/officeDocument/2006/relationships/image" Target="../media/image60.wmf"/></Relationships>
</file>

<file path=ppt/slides/_rels/slide31.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99.bin"/><Relationship Id="rId18" Type="http://schemas.openxmlformats.org/officeDocument/2006/relationships/image" Target="../media/image71.wmf"/><Relationship Id="rId3" Type="http://schemas.openxmlformats.org/officeDocument/2006/relationships/oleObject" Target="../embeddings/oleObject94.bin"/><Relationship Id="rId7" Type="http://schemas.openxmlformats.org/officeDocument/2006/relationships/oleObject" Target="../embeddings/oleObject96.bin"/><Relationship Id="rId12" Type="http://schemas.openxmlformats.org/officeDocument/2006/relationships/image" Target="../media/image68.emf"/><Relationship Id="rId17" Type="http://schemas.openxmlformats.org/officeDocument/2006/relationships/oleObject" Target="../embeddings/oleObject101.bin"/><Relationship Id="rId2" Type="http://schemas.openxmlformats.org/officeDocument/2006/relationships/slideLayout" Target="../slideLayouts/slideLayout2.xml"/><Relationship Id="rId16" Type="http://schemas.openxmlformats.org/officeDocument/2006/relationships/image" Target="../media/image70.emf"/><Relationship Id="rId1" Type="http://schemas.openxmlformats.org/officeDocument/2006/relationships/vmlDrawing" Target="../drawings/vmlDrawing24.vml"/><Relationship Id="rId6" Type="http://schemas.openxmlformats.org/officeDocument/2006/relationships/image" Target="../media/image65.wmf"/><Relationship Id="rId11" Type="http://schemas.openxmlformats.org/officeDocument/2006/relationships/oleObject" Target="../embeddings/oleObject98.bin"/><Relationship Id="rId5" Type="http://schemas.openxmlformats.org/officeDocument/2006/relationships/oleObject" Target="../embeddings/oleObject95.bin"/><Relationship Id="rId15" Type="http://schemas.openxmlformats.org/officeDocument/2006/relationships/oleObject" Target="../embeddings/oleObject100.bin"/><Relationship Id="rId10" Type="http://schemas.openxmlformats.org/officeDocument/2006/relationships/image" Target="../media/image67.wmf"/><Relationship Id="rId4" Type="http://schemas.openxmlformats.org/officeDocument/2006/relationships/image" Target="../media/image64.wmf"/><Relationship Id="rId9" Type="http://schemas.openxmlformats.org/officeDocument/2006/relationships/oleObject" Target="../embeddings/oleObject97.bin"/><Relationship Id="rId14" Type="http://schemas.openxmlformats.org/officeDocument/2006/relationships/image" Target="../media/image69.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107.bin"/><Relationship Id="rId18" Type="http://schemas.openxmlformats.org/officeDocument/2006/relationships/image" Target="../media/image79.emf"/><Relationship Id="rId3" Type="http://schemas.openxmlformats.org/officeDocument/2006/relationships/oleObject" Target="../embeddings/oleObject102.bin"/><Relationship Id="rId7" Type="http://schemas.openxmlformats.org/officeDocument/2006/relationships/oleObject" Target="../embeddings/oleObject104.bin"/><Relationship Id="rId12" Type="http://schemas.openxmlformats.org/officeDocument/2006/relationships/image" Target="../media/image76.emf"/><Relationship Id="rId17" Type="http://schemas.openxmlformats.org/officeDocument/2006/relationships/oleObject" Target="../embeddings/oleObject109.bin"/><Relationship Id="rId2" Type="http://schemas.openxmlformats.org/officeDocument/2006/relationships/slideLayout" Target="../slideLayouts/slideLayout2.xml"/><Relationship Id="rId16" Type="http://schemas.openxmlformats.org/officeDocument/2006/relationships/image" Target="../media/image78.emf"/><Relationship Id="rId1" Type="http://schemas.openxmlformats.org/officeDocument/2006/relationships/vmlDrawing" Target="../drawings/vmlDrawing25.vml"/><Relationship Id="rId6" Type="http://schemas.openxmlformats.org/officeDocument/2006/relationships/image" Target="../media/image73.wmf"/><Relationship Id="rId11" Type="http://schemas.openxmlformats.org/officeDocument/2006/relationships/oleObject" Target="../embeddings/oleObject106.bin"/><Relationship Id="rId5" Type="http://schemas.openxmlformats.org/officeDocument/2006/relationships/oleObject" Target="../embeddings/oleObject103.bin"/><Relationship Id="rId15" Type="http://schemas.openxmlformats.org/officeDocument/2006/relationships/oleObject" Target="../embeddings/oleObject108.bin"/><Relationship Id="rId10" Type="http://schemas.openxmlformats.org/officeDocument/2006/relationships/image" Target="../media/image75.wmf"/><Relationship Id="rId4" Type="http://schemas.openxmlformats.org/officeDocument/2006/relationships/image" Target="../media/image72.wmf"/><Relationship Id="rId9" Type="http://schemas.openxmlformats.org/officeDocument/2006/relationships/oleObject" Target="../embeddings/oleObject105.bin"/><Relationship Id="rId14" Type="http://schemas.openxmlformats.org/officeDocument/2006/relationships/image" Target="../media/image77.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80.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dirty="0"/>
              <a:t>概述</a:t>
            </a:r>
            <a:endParaRPr lang="en-US" altLang="zh-CN" dirty="0"/>
          </a:p>
          <a:p>
            <a:pPr lvl="1"/>
            <a:r>
              <a:rPr lang="zh-CN" altLang="en-US" dirty="0"/>
              <a:t>超静定结构在无载荷作用时，也可以产生内力。</a:t>
            </a:r>
            <a:endParaRPr lang="en-US" altLang="zh-CN" dirty="0"/>
          </a:p>
          <a:p>
            <a:pPr lvl="1">
              <a:buNone/>
            </a:pPr>
            <a:r>
              <a:rPr lang="en-US" altLang="zh-CN" dirty="0">
                <a:solidFill>
                  <a:srgbClr val="FF0000"/>
                </a:solidFill>
              </a:rPr>
              <a:t>	</a:t>
            </a:r>
            <a:r>
              <a:rPr lang="zh-CN" altLang="en-US" dirty="0">
                <a:solidFill>
                  <a:srgbClr val="FF0000"/>
                </a:solidFill>
              </a:rPr>
              <a:t>静定结构无载荷作用时有内力吗？为什么？</a:t>
            </a:r>
          </a:p>
        </p:txBody>
      </p:sp>
      <p:sp>
        <p:nvSpPr>
          <p:cNvPr id="4" name="文本框 3">
            <a:extLst>
              <a:ext uri="{FF2B5EF4-FFF2-40B4-BE49-F238E27FC236}">
                <a16:creationId xmlns:a16="http://schemas.microsoft.com/office/drawing/2014/main" id="{8D6D6CF4-FC4E-44F5-9094-9F1B6B1AD786}"/>
              </a:ext>
            </a:extLst>
          </p:cNvPr>
          <p:cNvSpPr txBox="1"/>
          <p:nvPr/>
        </p:nvSpPr>
        <p:spPr>
          <a:xfrm>
            <a:off x="1115616" y="2751355"/>
            <a:ext cx="7427168" cy="1015663"/>
          </a:xfrm>
          <a:prstGeom prst="rect">
            <a:avLst/>
          </a:prstGeom>
          <a:noFill/>
        </p:spPr>
        <p:txBody>
          <a:bodyPr wrap="square" rtlCol="0">
            <a:spAutoFit/>
          </a:bodyPr>
          <a:lstStyle/>
          <a:p>
            <a:r>
              <a:rPr lang="zh-CN" altLang="en-US" sz="2000" dirty="0">
                <a:solidFill>
                  <a:srgbClr val="0000FF"/>
                </a:solidFill>
                <a:latin typeface="楷体" panose="02010609060101010101" pitchFamily="49" charset="-122"/>
                <a:ea typeface="楷体" panose="02010609060101010101" pitchFamily="49" charset="-122"/>
              </a:rPr>
              <a:t>非荷载因素：支座位移、温度变化、制造误差等。</a:t>
            </a:r>
            <a:endParaRPr lang="en-US" altLang="zh-CN" sz="2000" dirty="0">
              <a:solidFill>
                <a:srgbClr val="0000FF"/>
              </a:solidFill>
              <a:latin typeface="楷体" panose="02010609060101010101" pitchFamily="49" charset="-122"/>
              <a:ea typeface="楷体" panose="02010609060101010101" pitchFamily="49" charset="-122"/>
            </a:endParaRPr>
          </a:p>
          <a:p>
            <a:r>
              <a:rPr lang="zh-CN" altLang="en-US" sz="2000" dirty="0">
                <a:solidFill>
                  <a:srgbClr val="0000FF"/>
                </a:solidFill>
                <a:latin typeface="楷体" panose="02010609060101010101" pitchFamily="49" charset="-122"/>
                <a:ea typeface="楷体" panose="02010609060101010101" pitchFamily="49" charset="-122"/>
              </a:rPr>
              <a:t>结构在受到非荷载因素作用下是否产生内力，完全取决于它在受到这些因素作用时，变形是否为充分自由的。</a:t>
            </a:r>
            <a:endParaRPr lang="en-US" altLang="zh-CN" sz="2000" dirty="0">
              <a:solidFill>
                <a:srgbClr val="0000FF"/>
              </a:solidFill>
              <a:latin typeface="楷体" panose="02010609060101010101" pitchFamily="49" charset="-122"/>
              <a:ea typeface="楷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dirty="0"/>
              <a:t>概述</a:t>
            </a:r>
            <a:endParaRPr lang="en-US" altLang="zh-CN" dirty="0"/>
          </a:p>
          <a:p>
            <a:pPr lvl="1"/>
            <a:r>
              <a:rPr lang="zh-CN" altLang="en-US" dirty="0"/>
              <a:t>超静定结构在无载荷作用时，也可以产生内力。</a:t>
            </a:r>
            <a:r>
              <a:rPr lang="en-US" altLang="zh-CN" dirty="0"/>
              <a:t>——</a:t>
            </a:r>
            <a:r>
              <a:rPr lang="zh-CN" altLang="en-US" dirty="0">
                <a:solidFill>
                  <a:srgbClr val="FF0000"/>
                </a:solidFill>
              </a:rPr>
              <a:t>约束多了！</a:t>
            </a:r>
            <a:endParaRPr lang="en-US" altLang="zh-CN" dirty="0">
              <a:solidFill>
                <a:srgbClr val="FF0000"/>
              </a:solidFill>
            </a:endParaRPr>
          </a:p>
          <a:p>
            <a:pPr lvl="1">
              <a:buNone/>
            </a:pPr>
            <a:r>
              <a:rPr lang="en-US" altLang="zh-CN" dirty="0">
                <a:solidFill>
                  <a:srgbClr val="FF0000"/>
                </a:solidFill>
              </a:rPr>
              <a:t>	</a:t>
            </a:r>
            <a:r>
              <a:rPr lang="zh-CN" altLang="en-US" dirty="0">
                <a:solidFill>
                  <a:srgbClr val="FF0000"/>
                </a:solidFill>
              </a:rPr>
              <a:t>静定结构无载荷作用时有内力吗？为什么？</a:t>
            </a:r>
            <a:endParaRPr lang="en-US" altLang="zh-CN" dirty="0">
              <a:solidFill>
                <a:srgbClr val="FF0000"/>
              </a:solidFill>
            </a:endParaRPr>
          </a:p>
          <a:p>
            <a:pPr lvl="1">
              <a:buNone/>
            </a:pPr>
            <a:r>
              <a:rPr lang="en-US" altLang="zh-CN" dirty="0">
                <a:solidFill>
                  <a:srgbClr val="FF0000"/>
                </a:solidFill>
              </a:rPr>
              <a:t>	</a:t>
            </a:r>
            <a:r>
              <a:rPr lang="zh-CN" altLang="en-US" dirty="0">
                <a:solidFill>
                  <a:srgbClr val="FF0000"/>
                </a:solidFill>
              </a:rPr>
              <a:t>静定结构内力只由载荷决定。无载荷，无内力。</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一、概述</a:t>
            </a:r>
            <a:endParaRPr lang="en-US" altLang="zh-CN"/>
          </a:p>
          <a:p>
            <a:pPr lvl="1"/>
            <a:r>
              <a:rPr lang="zh-CN" altLang="en-US"/>
              <a:t>超静定结构在无载荷作用时，也可以产生内力。</a:t>
            </a:r>
            <a:endParaRPr lang="en-US" altLang="zh-CN">
              <a:solidFill>
                <a:srgbClr val="FF0000"/>
              </a:solidFill>
            </a:endParaRPr>
          </a:p>
          <a:p>
            <a:pPr lvl="1"/>
            <a:r>
              <a:rPr lang="zh-CN" altLang="en-US"/>
              <a:t>静定结构载荷只由载荷载决定。无载荷，无内力。</a:t>
            </a:r>
            <a:endParaRPr lang="en-US" altLang="zh-CN"/>
          </a:p>
          <a:p>
            <a:pPr lvl="1"/>
            <a:r>
              <a:rPr lang="zh-CN" altLang="en-US">
                <a:solidFill>
                  <a:srgbClr val="FF0000"/>
                </a:solidFill>
              </a:rPr>
              <a:t>自内力</a:t>
            </a:r>
            <a:r>
              <a:rPr lang="zh-CN" altLang="en-US"/>
              <a:t>：</a:t>
            </a:r>
            <a:r>
              <a:rPr lang="zh-CN" altLang="en-US">
                <a:solidFill>
                  <a:srgbClr val="FF0000"/>
                </a:solidFill>
              </a:rPr>
              <a:t>超静定结构</a:t>
            </a:r>
            <a:r>
              <a:rPr lang="zh-CN" altLang="en-US"/>
              <a:t>在支座移动和温度改变等因素作用下产生的</a:t>
            </a:r>
            <a:r>
              <a:rPr lang="en-US" altLang="zh-CN"/>
              <a:t>		</a:t>
            </a:r>
            <a:r>
              <a:rPr lang="zh-CN" altLang="en-US"/>
              <a:t>内力。</a:t>
            </a:r>
            <a:endParaRPr lang="en-US" altLang="zh-CN"/>
          </a:p>
          <a:p>
            <a:pPr lvl="1"/>
            <a:endParaRPr lang="zh-CN" altLang="en-US">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一、概述</a:t>
            </a:r>
            <a:endParaRPr lang="en-US" altLang="zh-CN"/>
          </a:p>
          <a:p>
            <a:pPr lvl="1"/>
            <a:r>
              <a:rPr lang="zh-CN" altLang="en-US"/>
              <a:t>超静定结构在无载荷作用时，也可以产生内力。</a:t>
            </a:r>
            <a:endParaRPr lang="en-US" altLang="zh-CN">
              <a:solidFill>
                <a:srgbClr val="FF0000"/>
              </a:solidFill>
            </a:endParaRPr>
          </a:p>
          <a:p>
            <a:pPr lvl="1"/>
            <a:r>
              <a:rPr lang="zh-CN" altLang="en-US"/>
              <a:t>静定结构载荷只由载荷载决定。无载荷，无内力。</a:t>
            </a:r>
            <a:endParaRPr lang="en-US" altLang="zh-CN"/>
          </a:p>
          <a:p>
            <a:pPr lvl="1"/>
            <a:r>
              <a:rPr lang="zh-CN" altLang="en-US">
                <a:solidFill>
                  <a:srgbClr val="FF0000"/>
                </a:solidFill>
              </a:rPr>
              <a:t>自内力</a:t>
            </a:r>
            <a:r>
              <a:rPr lang="zh-CN" altLang="en-US"/>
              <a:t>：</a:t>
            </a:r>
            <a:r>
              <a:rPr lang="zh-CN" altLang="en-US">
                <a:solidFill>
                  <a:srgbClr val="FF0000"/>
                </a:solidFill>
              </a:rPr>
              <a:t>超静定结构</a:t>
            </a:r>
            <a:r>
              <a:rPr lang="zh-CN" altLang="en-US"/>
              <a:t>在支座移动和温度改变等因素作用下产生的</a:t>
            </a:r>
            <a:r>
              <a:rPr lang="en-US" altLang="zh-CN"/>
              <a:t>		</a:t>
            </a:r>
            <a:r>
              <a:rPr lang="zh-CN" altLang="en-US"/>
              <a:t>内力。</a:t>
            </a:r>
            <a:endParaRPr lang="en-US" altLang="zh-CN"/>
          </a:p>
          <a:p>
            <a:r>
              <a:rPr lang="zh-CN" altLang="en-US"/>
              <a:t>二、支座移动时的计算</a:t>
            </a:r>
            <a:endParaRPr lang="en-US" altLang="zh-CN"/>
          </a:p>
          <a:p>
            <a:pPr lvl="1"/>
            <a:r>
              <a:rPr lang="zh-CN" altLang="en-US"/>
              <a:t>例：如图所示等截面梁</a:t>
            </a:r>
            <a:r>
              <a:rPr lang="en-US" altLang="zh-CN"/>
              <a:t>AB</a:t>
            </a:r>
            <a:r>
              <a:rPr lang="zh-CN" altLang="en-US"/>
              <a:t>，若左</a:t>
            </a:r>
            <a:endParaRPr lang="en-US" altLang="zh-CN"/>
          </a:p>
          <a:p>
            <a:pPr lvl="1">
              <a:buNone/>
            </a:pPr>
            <a:r>
              <a:rPr lang="en-US" altLang="zh-CN"/>
              <a:t>            </a:t>
            </a:r>
            <a:r>
              <a:rPr lang="zh-CN" altLang="en-US"/>
              <a:t>端支座转动角度为    ，右端</a:t>
            </a:r>
            <a:endParaRPr lang="en-US" altLang="zh-CN"/>
          </a:p>
          <a:p>
            <a:pPr lvl="1">
              <a:buNone/>
            </a:pPr>
            <a:r>
              <a:rPr lang="en-US" altLang="zh-CN"/>
              <a:t>            </a:t>
            </a:r>
            <a:r>
              <a:rPr lang="zh-CN" altLang="en-US"/>
              <a:t>支座下沉位移为</a:t>
            </a:r>
            <a:r>
              <a:rPr lang="en-US" altLang="zh-CN"/>
              <a:t>a</a:t>
            </a:r>
            <a:r>
              <a:rPr lang="zh-CN" altLang="en-US"/>
              <a:t>，试求梁</a:t>
            </a:r>
            <a:endParaRPr lang="en-US" altLang="zh-CN"/>
          </a:p>
          <a:p>
            <a:pPr lvl="1">
              <a:buNone/>
            </a:pPr>
            <a:r>
              <a:rPr lang="en-US" altLang="zh-CN"/>
              <a:t>            </a:t>
            </a:r>
            <a:r>
              <a:rPr lang="zh-CN" altLang="en-US"/>
              <a:t>中引起的自内力。</a:t>
            </a:r>
            <a:endParaRPr lang="en-US" altLang="zh-CN"/>
          </a:p>
          <a:p>
            <a:pPr lvl="1"/>
            <a:endParaRPr lang="en-US" altLang="zh-CN"/>
          </a:p>
          <a:p>
            <a:pPr lvl="1"/>
            <a:endParaRPr lang="zh-CN" altLang="en-US">
              <a:solidFill>
                <a:srgbClr val="FF0000"/>
              </a:solidFill>
            </a:endParaRPr>
          </a:p>
        </p:txBody>
      </p:sp>
      <p:graphicFrame>
        <p:nvGraphicFramePr>
          <p:cNvPr id="4" name="对象 3"/>
          <p:cNvGraphicFramePr>
            <a:graphicFrameLocks noChangeAspect="1"/>
          </p:cNvGraphicFramePr>
          <p:nvPr/>
        </p:nvGraphicFramePr>
        <p:xfrm>
          <a:off x="3966648" y="4437112"/>
          <a:ext cx="245312" cy="334516"/>
        </p:xfrm>
        <a:graphic>
          <a:graphicData uri="http://schemas.openxmlformats.org/presentationml/2006/ole">
            <mc:AlternateContent xmlns:mc="http://schemas.openxmlformats.org/markup-compatibility/2006">
              <mc:Choice xmlns:v="urn:schemas-microsoft-com:vml" Requires="v">
                <p:oleObj spid="_x0000_s658658" name="Equation" r:id="rId3" imgW="139680" imgH="190440" progId="Equation.DSMT4">
                  <p:embed/>
                </p:oleObj>
              </mc:Choice>
              <mc:Fallback>
                <p:oleObj name="Equation" r:id="rId3" imgW="139680" imgH="1904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6648" y="4437112"/>
                        <a:ext cx="245312" cy="3345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58435" name="Picture 3"/>
          <p:cNvPicPr>
            <a:picLocks noChangeAspect="1" noChangeArrowheads="1"/>
          </p:cNvPicPr>
          <p:nvPr/>
        </p:nvPicPr>
        <p:blipFill>
          <a:blip r:embed="rId5" cstate="print"/>
          <a:srcRect/>
          <a:stretch>
            <a:fillRect/>
          </a:stretch>
        </p:blipFill>
        <p:spPr bwMode="auto">
          <a:xfrm>
            <a:off x="5076056" y="3861048"/>
            <a:ext cx="3796977" cy="172819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1"/>
            <a:endParaRPr lang="en-US" altLang="zh-CN"/>
          </a:p>
          <a:p>
            <a:pPr lvl="1"/>
            <a:endParaRPr lang="zh-CN" altLang="en-US">
              <a:solidFill>
                <a:srgbClr val="FF0000"/>
              </a:solidFill>
            </a:endParaRPr>
          </a:p>
        </p:txBody>
      </p:sp>
      <p:pic>
        <p:nvPicPr>
          <p:cNvPr id="658435" name="Picture 3"/>
          <p:cNvPicPr>
            <a:picLocks noChangeAspect="1" noChangeArrowheads="1"/>
          </p:cNvPicPr>
          <p:nvPr/>
        </p:nvPicPr>
        <p:blipFill>
          <a:blip r:embed="rId2"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3" cstate="print"/>
          <a:srcRect/>
          <a:stretch>
            <a:fillRect/>
          </a:stretch>
        </p:blipFill>
        <p:spPr bwMode="auto">
          <a:xfrm>
            <a:off x="4860032" y="2780928"/>
            <a:ext cx="2867025" cy="1304925"/>
          </a:xfrm>
          <a:prstGeom prst="rect">
            <a:avLst/>
          </a:prstGeom>
          <a:noFill/>
          <a:ln w="9525">
            <a:noFill/>
            <a:miter lim="800000"/>
            <a:headEnd/>
            <a:tailEnd/>
          </a:ln>
        </p:spPr>
      </p:pic>
      <p:sp>
        <p:nvSpPr>
          <p:cNvPr id="10" name="TextBox 9"/>
          <p:cNvSpPr txBox="1"/>
          <p:nvPr/>
        </p:nvSpPr>
        <p:spPr>
          <a:xfrm>
            <a:off x="8172400" y="2924944"/>
            <a:ext cx="430887" cy="1201611"/>
          </a:xfrm>
          <a:prstGeom prst="rect">
            <a:avLst/>
          </a:prstGeom>
          <a:noFill/>
        </p:spPr>
        <p:txBody>
          <a:bodyPr vert="eaVert" wrap="none" rtlCol="0">
            <a:spAutoFit/>
          </a:bodyPr>
          <a:lstStyle/>
          <a:p>
            <a:r>
              <a:rPr lang="zh-CN" altLang="en-US" sz="1600" b="1"/>
              <a:t>基本体系</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solidFill>
                  <a:srgbClr val="FF0000"/>
                </a:solidFill>
              </a:rPr>
              <a:t>力法方程</a:t>
            </a:r>
            <a:endParaRPr lang="en-US" altLang="zh-CN">
              <a:solidFill>
                <a:srgbClr val="FF0000"/>
              </a:solidFill>
            </a:endParaRPr>
          </a:p>
          <a:p>
            <a:pPr lvl="2">
              <a:buNone/>
            </a:pPr>
            <a:endParaRPr lang="en-US" altLang="zh-CN">
              <a:solidFill>
                <a:srgbClr val="FF0000"/>
              </a:solidFill>
            </a:endParaRPr>
          </a:p>
          <a:p>
            <a:pPr lvl="2">
              <a:buNone/>
            </a:pPr>
            <a:r>
              <a:rPr lang="zh-CN" altLang="en-US" sz="1600">
                <a:solidFill>
                  <a:srgbClr val="0070C0"/>
                </a:solidFill>
              </a:rPr>
              <a:t>其它支座移动引起的</a:t>
            </a:r>
            <a:r>
              <a:rPr lang="en-US" altLang="zh-CN" sz="1600" i="1">
                <a:solidFill>
                  <a:srgbClr val="0070C0"/>
                </a:solidFill>
              </a:rPr>
              <a:t>X</a:t>
            </a:r>
            <a:r>
              <a:rPr lang="en-US" altLang="zh-CN" sz="1600" baseline="-25000">
                <a:solidFill>
                  <a:srgbClr val="0070C0"/>
                </a:solidFill>
              </a:rPr>
              <a:t>1</a:t>
            </a:r>
            <a:r>
              <a:rPr lang="zh-CN" altLang="en-US" sz="1600">
                <a:solidFill>
                  <a:srgbClr val="0070C0"/>
                </a:solidFill>
              </a:rPr>
              <a:t>方向的位移</a:t>
            </a:r>
            <a:endParaRPr lang="en-US" altLang="zh-CN" sz="1600">
              <a:solidFill>
                <a:srgbClr val="0070C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80928"/>
            <a:ext cx="2867025" cy="1304925"/>
          </a:xfrm>
          <a:prstGeom prst="rect">
            <a:avLst/>
          </a:prstGeom>
          <a:noFill/>
          <a:ln w="9525">
            <a:noFill/>
            <a:miter lim="800000"/>
            <a:headEnd/>
            <a:tailEnd/>
          </a:ln>
        </p:spPr>
      </p:pic>
      <p:sp>
        <p:nvSpPr>
          <p:cNvPr id="10" name="TextBox 9"/>
          <p:cNvSpPr txBox="1"/>
          <p:nvPr/>
        </p:nvSpPr>
        <p:spPr>
          <a:xfrm>
            <a:off x="8172400" y="2924944"/>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05049" y="3429000"/>
          <a:ext cx="2074863" cy="277812"/>
        </p:xfrm>
        <a:graphic>
          <a:graphicData uri="http://schemas.openxmlformats.org/presentationml/2006/ole">
            <mc:AlternateContent xmlns:mc="http://schemas.openxmlformats.org/markup-compatibility/2006">
              <mc:Choice xmlns:v="urn:schemas-microsoft-com:vml" Requires="v">
                <p:oleObj spid="_x0000_s660706" name="Equation" r:id="rId5" imgW="1904760" imgH="253800" progId="Equation.DSMT4">
                  <p:embed/>
                </p:oleObj>
              </mc:Choice>
              <mc:Fallback>
                <p:oleObj name="Equation" r:id="rId5" imgW="1904760" imgH="2538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5049" y="3429000"/>
                        <a:ext cx="2074863" cy="27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椭圆 7"/>
          <p:cNvSpPr/>
          <p:nvPr/>
        </p:nvSpPr>
        <p:spPr bwMode="auto">
          <a:xfrm>
            <a:off x="3491880" y="3429000"/>
            <a:ext cx="360040" cy="288032"/>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9" name="TextBox 8"/>
          <p:cNvSpPr txBox="1"/>
          <p:nvPr/>
        </p:nvSpPr>
        <p:spPr>
          <a:xfrm>
            <a:off x="3779912" y="3068960"/>
            <a:ext cx="1080120" cy="338554"/>
          </a:xfrm>
          <a:prstGeom prst="rect">
            <a:avLst/>
          </a:prstGeom>
          <a:noFill/>
          <a:ln w="19050">
            <a:solidFill>
              <a:srgbClr val="FF0000"/>
            </a:solidFill>
          </a:ln>
        </p:spPr>
        <p:txBody>
          <a:bodyPr wrap="square" rtlCol="0">
            <a:spAutoFit/>
          </a:bodyPr>
          <a:lstStyle/>
          <a:p>
            <a:r>
              <a:rPr lang="zh-CN" altLang="en-US" sz="1600" b="1">
                <a:solidFill>
                  <a:srgbClr val="FF0000"/>
                </a:solidFill>
              </a:rPr>
              <a:t>可不为零</a:t>
            </a:r>
          </a:p>
        </p:txBody>
      </p:sp>
      <p:cxnSp>
        <p:nvCxnSpPr>
          <p:cNvPr id="12" name="直接连接符 11"/>
          <p:cNvCxnSpPr>
            <a:stCxn id="8" idx="0"/>
            <a:endCxn id="9" idx="1"/>
          </p:cNvCxnSpPr>
          <p:nvPr/>
        </p:nvCxnSpPr>
        <p:spPr bwMode="auto">
          <a:xfrm flipV="1">
            <a:off x="3671900" y="3238237"/>
            <a:ext cx="108012" cy="190763"/>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19" name="椭圆 18"/>
          <p:cNvSpPr/>
          <p:nvPr/>
        </p:nvSpPr>
        <p:spPr bwMode="auto">
          <a:xfrm>
            <a:off x="2627784" y="3429000"/>
            <a:ext cx="288032" cy="288032"/>
          </a:xfrm>
          <a:prstGeom prst="ellipse">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20" name="直接连接符 19"/>
          <p:cNvCxnSpPr/>
          <p:nvPr/>
        </p:nvCxnSpPr>
        <p:spPr bwMode="auto">
          <a:xfrm flipV="1">
            <a:off x="2555776" y="3645024"/>
            <a:ext cx="108012" cy="190763"/>
          </a:xfrm>
          <a:prstGeom prst="line">
            <a:avLst/>
          </a:prstGeom>
          <a:solidFill>
            <a:schemeClr val="accent1"/>
          </a:solidFill>
          <a:ln w="19050" cap="flat" cmpd="sng" algn="ctr">
            <a:solidFill>
              <a:srgbClr val="0070C0"/>
            </a:solidFill>
            <a:prstDash val="solid"/>
            <a:round/>
            <a:headEnd type="none" w="med" len="med"/>
            <a:tailEnd type="none" w="med" len="med"/>
          </a:ln>
          <a:effectLst/>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solidFill>
                  <a:srgbClr val="FF0000"/>
                </a:solidFill>
              </a:rPr>
              <a:t>作弯矩图</a:t>
            </a:r>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08920"/>
            <a:ext cx="2867025" cy="1304925"/>
          </a:xfrm>
          <a:prstGeom prst="rect">
            <a:avLst/>
          </a:prstGeom>
          <a:noFill/>
          <a:ln w="9525">
            <a:noFill/>
            <a:miter lim="800000"/>
            <a:headEnd/>
            <a:tailEnd/>
          </a:ln>
        </p:spPr>
      </p:pic>
      <p:sp>
        <p:nvSpPr>
          <p:cNvPr id="10" name="TextBox 9"/>
          <p:cNvSpPr txBox="1"/>
          <p:nvPr/>
        </p:nvSpPr>
        <p:spPr>
          <a:xfrm>
            <a:off x="8028384" y="2780928"/>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3688" y="3429000"/>
          <a:ext cx="1257300" cy="263525"/>
        </p:xfrm>
        <a:graphic>
          <a:graphicData uri="http://schemas.openxmlformats.org/presentationml/2006/ole">
            <mc:AlternateContent xmlns:mc="http://schemas.openxmlformats.org/markup-compatibility/2006">
              <mc:Choice xmlns:v="urn:schemas-microsoft-com:vml" Requires="v">
                <p:oleObj spid="_x0000_s661955" name="Equation" r:id="rId5" imgW="1155600" imgH="241200" progId="Equation.DSMT4">
                  <p:embed/>
                </p:oleObj>
              </mc:Choice>
              <mc:Fallback>
                <p:oleObj name="Equation" r:id="rId5" imgW="1155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429000"/>
                        <a:ext cx="12573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509120"/>
          <a:ext cx="290513" cy="263525"/>
        </p:xfrm>
        <a:graphic>
          <a:graphicData uri="http://schemas.openxmlformats.org/presentationml/2006/ole">
            <mc:AlternateContent xmlns:mc="http://schemas.openxmlformats.org/markup-compatibility/2006">
              <mc:Choice xmlns:v="urn:schemas-microsoft-com:vml" Requires="v">
                <p:oleObj spid="_x0000_s661956" name="Equation" r:id="rId7" imgW="266400" imgH="241200" progId="Equation.DSMT4">
                  <p:embed/>
                </p:oleObj>
              </mc:Choice>
              <mc:Fallback>
                <p:oleObj name="Equation" r:id="rId7" imgW="266400" imgH="24120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509120"/>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5" name="Picture 7"/>
          <p:cNvPicPr>
            <a:picLocks noChangeAspect="1" noChangeArrowheads="1"/>
          </p:cNvPicPr>
          <p:nvPr/>
        </p:nvPicPr>
        <p:blipFill>
          <a:blip r:embed="rId9" cstate="print"/>
          <a:srcRect/>
          <a:stretch>
            <a:fillRect/>
          </a:stretch>
        </p:blipFill>
        <p:spPr bwMode="auto">
          <a:xfrm>
            <a:off x="4860032" y="4077072"/>
            <a:ext cx="2714625" cy="86201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a:t>
            </a:r>
            <a:endParaRPr lang="en-US" altLang="zh-CN"/>
          </a:p>
          <a:p>
            <a:pPr lvl="2"/>
            <a:r>
              <a:rPr lang="zh-CN" altLang="en-US">
                <a:solidFill>
                  <a:srgbClr val="FF0000"/>
                </a:solidFill>
              </a:rPr>
              <a:t>确定系数</a:t>
            </a:r>
            <a:endParaRPr lang="en-US" altLang="zh-CN">
              <a:solidFill>
                <a:srgbClr val="FF0000"/>
              </a:solidFill>
            </a:endParaRPr>
          </a:p>
          <a:p>
            <a:pPr lvl="2"/>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08920"/>
            <a:ext cx="2867025" cy="1304925"/>
          </a:xfrm>
          <a:prstGeom prst="rect">
            <a:avLst/>
          </a:prstGeom>
          <a:noFill/>
          <a:ln w="9525">
            <a:noFill/>
            <a:miter lim="800000"/>
            <a:headEnd/>
            <a:tailEnd/>
          </a:ln>
        </p:spPr>
      </p:pic>
      <p:sp>
        <p:nvSpPr>
          <p:cNvPr id="10" name="TextBox 9"/>
          <p:cNvSpPr txBox="1"/>
          <p:nvPr/>
        </p:nvSpPr>
        <p:spPr>
          <a:xfrm>
            <a:off x="8028384" y="2780928"/>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3688" y="3429000"/>
          <a:ext cx="1257300" cy="263525"/>
        </p:xfrm>
        <a:graphic>
          <a:graphicData uri="http://schemas.openxmlformats.org/presentationml/2006/ole">
            <mc:AlternateContent xmlns:mc="http://schemas.openxmlformats.org/markup-compatibility/2006">
              <mc:Choice xmlns:v="urn:schemas-microsoft-com:vml" Requires="v">
                <p:oleObj spid="_x0000_s663202" name="Equation" r:id="rId5" imgW="1155600" imgH="241200" progId="Equation.DSMT4">
                  <p:embed/>
                </p:oleObj>
              </mc:Choice>
              <mc:Fallback>
                <p:oleObj name="Equation" r:id="rId5" imgW="1155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429000"/>
                        <a:ext cx="12573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437112"/>
          <a:ext cx="290513" cy="263525"/>
        </p:xfrm>
        <a:graphic>
          <a:graphicData uri="http://schemas.openxmlformats.org/presentationml/2006/ole">
            <mc:AlternateContent xmlns:mc="http://schemas.openxmlformats.org/markup-compatibility/2006">
              <mc:Choice xmlns:v="urn:schemas-microsoft-com:vml" Requires="v">
                <p:oleObj spid="_x0000_s663203" name="Equation" r:id="rId7" imgW="266400" imgH="241200" progId="Equation.DSMT4">
                  <p:embed/>
                </p:oleObj>
              </mc:Choice>
              <mc:Fallback>
                <p:oleObj name="Equation" r:id="rId7" imgW="266400" imgH="241200" progId="Equation.DSMT4">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437112"/>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2532" name="Object 7"/>
          <p:cNvGraphicFramePr>
            <a:graphicFrameLocks noChangeAspect="1"/>
          </p:cNvGraphicFramePr>
          <p:nvPr/>
        </p:nvGraphicFramePr>
        <p:xfrm>
          <a:off x="1763688" y="4509120"/>
          <a:ext cx="1754187" cy="527050"/>
        </p:xfrm>
        <a:graphic>
          <a:graphicData uri="http://schemas.openxmlformats.org/presentationml/2006/ole">
            <mc:AlternateContent xmlns:mc="http://schemas.openxmlformats.org/markup-compatibility/2006">
              <mc:Choice xmlns:v="urn:schemas-microsoft-com:vml" Requires="v">
                <p:oleObj spid="_x0000_s663204" name="Equation" r:id="rId9" imgW="1612800" imgH="482400" progId="Equation.DSMT4">
                  <p:embed/>
                </p:oleObj>
              </mc:Choice>
              <mc:Fallback>
                <p:oleObj name="Equation" r:id="rId9" imgW="1612800" imgH="482400" progId="Equation.DSMT4">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4509120"/>
                        <a:ext cx="1754187"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4" name="Picture 7"/>
          <p:cNvPicPr>
            <a:picLocks noChangeAspect="1" noChangeArrowheads="1"/>
          </p:cNvPicPr>
          <p:nvPr/>
        </p:nvPicPr>
        <p:blipFill>
          <a:blip r:embed="rId11" cstate="print"/>
          <a:srcRect/>
          <a:stretch>
            <a:fillRect/>
          </a:stretch>
        </p:blipFill>
        <p:spPr bwMode="auto">
          <a:xfrm>
            <a:off x="4860032" y="4077072"/>
            <a:ext cx="2714625" cy="862013"/>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a:t>
            </a:r>
            <a:endParaRPr lang="en-US" altLang="zh-CN"/>
          </a:p>
          <a:p>
            <a:pPr lvl="2"/>
            <a:r>
              <a:rPr lang="zh-CN" altLang="en-US">
                <a:solidFill>
                  <a:srgbClr val="FF0000"/>
                </a:solidFill>
              </a:rPr>
              <a:t>确定系数</a:t>
            </a:r>
            <a:endParaRPr lang="en-US" altLang="zh-CN">
              <a:solidFill>
                <a:srgbClr val="FF0000"/>
              </a:solidFill>
            </a:endParaRPr>
          </a:p>
          <a:p>
            <a:pPr lvl="2"/>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08920"/>
            <a:ext cx="2867025" cy="1304925"/>
          </a:xfrm>
          <a:prstGeom prst="rect">
            <a:avLst/>
          </a:prstGeom>
          <a:noFill/>
          <a:ln w="9525">
            <a:noFill/>
            <a:miter lim="800000"/>
            <a:headEnd/>
            <a:tailEnd/>
          </a:ln>
        </p:spPr>
      </p:pic>
      <p:sp>
        <p:nvSpPr>
          <p:cNvPr id="10" name="TextBox 9"/>
          <p:cNvSpPr txBox="1"/>
          <p:nvPr/>
        </p:nvSpPr>
        <p:spPr>
          <a:xfrm>
            <a:off x="8028384" y="2780928"/>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3688" y="3429000"/>
          <a:ext cx="1257300" cy="263525"/>
        </p:xfrm>
        <a:graphic>
          <a:graphicData uri="http://schemas.openxmlformats.org/presentationml/2006/ole">
            <mc:AlternateContent xmlns:mc="http://schemas.openxmlformats.org/markup-compatibility/2006">
              <mc:Choice xmlns:v="urn:schemas-microsoft-com:vml" Requires="v">
                <p:oleObj spid="_x0000_s664226" name="Equation" r:id="rId5" imgW="1155600" imgH="241200" progId="Equation.DSMT4">
                  <p:embed/>
                </p:oleObj>
              </mc:Choice>
              <mc:Fallback>
                <p:oleObj name="Equation" r:id="rId5" imgW="1155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429000"/>
                        <a:ext cx="12573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461619"/>
          <a:ext cx="290513" cy="263525"/>
        </p:xfrm>
        <a:graphic>
          <a:graphicData uri="http://schemas.openxmlformats.org/presentationml/2006/ole">
            <mc:AlternateContent xmlns:mc="http://schemas.openxmlformats.org/markup-compatibility/2006">
              <mc:Choice xmlns:v="urn:schemas-microsoft-com:vml" Requires="v">
                <p:oleObj spid="_x0000_s664227" name="Equation" r:id="rId7" imgW="266400" imgH="241200" progId="Equation.DSMT4">
                  <p:embed/>
                </p:oleObj>
              </mc:Choice>
              <mc:Fallback>
                <p:oleObj name="Equation" r:id="rId7" imgW="266400" imgH="241200" progId="Equation.DSMT4">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461619"/>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2532" name="Object 7"/>
          <p:cNvGraphicFramePr>
            <a:graphicFrameLocks noChangeAspect="1"/>
          </p:cNvGraphicFramePr>
          <p:nvPr/>
        </p:nvGraphicFramePr>
        <p:xfrm>
          <a:off x="1763688" y="4554066"/>
          <a:ext cx="1754187" cy="819150"/>
        </p:xfrm>
        <a:graphic>
          <a:graphicData uri="http://schemas.openxmlformats.org/presentationml/2006/ole">
            <mc:AlternateContent xmlns:mc="http://schemas.openxmlformats.org/markup-compatibility/2006">
              <mc:Choice xmlns:v="urn:schemas-microsoft-com:vml" Requires="v">
                <p:oleObj spid="_x0000_s664228" name="Equation" r:id="rId9" imgW="1612800" imgH="749160" progId="Equation.DSMT4">
                  <p:embed/>
                </p:oleObj>
              </mc:Choice>
              <mc:Fallback>
                <p:oleObj name="Equation" r:id="rId9" imgW="1612800" imgH="749160" progId="Equation.DSMT4">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4554066"/>
                        <a:ext cx="1754187" cy="81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63557" name="Picture 5"/>
          <p:cNvPicPr>
            <a:picLocks noChangeAspect="1" noChangeArrowheads="1"/>
          </p:cNvPicPr>
          <p:nvPr/>
        </p:nvPicPr>
        <p:blipFill>
          <a:blip r:embed="rId11" cstate="print"/>
          <a:srcRect/>
          <a:stretch>
            <a:fillRect/>
          </a:stretch>
        </p:blipFill>
        <p:spPr bwMode="auto">
          <a:xfrm>
            <a:off x="4860032" y="5013176"/>
            <a:ext cx="2786063" cy="1271588"/>
          </a:xfrm>
          <a:prstGeom prst="rect">
            <a:avLst/>
          </a:prstGeom>
          <a:noFill/>
          <a:ln w="9525">
            <a:noFill/>
            <a:miter lim="800000"/>
            <a:headEnd/>
            <a:tailEnd/>
          </a:ln>
        </p:spPr>
      </p:pic>
      <p:sp>
        <p:nvSpPr>
          <p:cNvPr id="15" name="TextBox 14"/>
          <p:cNvSpPr txBox="1"/>
          <p:nvPr/>
        </p:nvSpPr>
        <p:spPr>
          <a:xfrm>
            <a:off x="2699792" y="5157192"/>
            <a:ext cx="1620957" cy="338554"/>
          </a:xfrm>
          <a:prstGeom prst="rect">
            <a:avLst/>
          </a:prstGeom>
          <a:noFill/>
        </p:spPr>
        <p:txBody>
          <a:bodyPr wrap="none" rtlCol="0">
            <a:spAutoFit/>
          </a:bodyPr>
          <a:lstStyle/>
          <a:p>
            <a:r>
              <a:rPr lang="zh-CN" altLang="en-US" sz="1600" b="1">
                <a:solidFill>
                  <a:srgbClr val="FF0000"/>
                </a:solidFill>
              </a:rPr>
              <a:t>有别的方法吗？</a:t>
            </a:r>
          </a:p>
        </p:txBody>
      </p:sp>
      <p:pic>
        <p:nvPicPr>
          <p:cNvPr id="16" name="Picture 7"/>
          <p:cNvPicPr>
            <a:picLocks noChangeAspect="1" noChangeArrowheads="1"/>
          </p:cNvPicPr>
          <p:nvPr/>
        </p:nvPicPr>
        <p:blipFill>
          <a:blip r:embed="rId12" cstate="print"/>
          <a:srcRect/>
          <a:stretch>
            <a:fillRect/>
          </a:stretch>
        </p:blipFill>
        <p:spPr bwMode="auto">
          <a:xfrm>
            <a:off x="4860032" y="4077072"/>
            <a:ext cx="2714625" cy="862013"/>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a:t>
            </a:r>
            <a:endParaRPr lang="en-US" altLang="zh-CN"/>
          </a:p>
          <a:p>
            <a:pPr lvl="2"/>
            <a:r>
              <a:rPr lang="zh-CN" altLang="en-US">
                <a:solidFill>
                  <a:srgbClr val="FF0000"/>
                </a:solidFill>
              </a:rPr>
              <a:t>确定系数</a:t>
            </a:r>
            <a:endParaRPr lang="en-US" altLang="zh-CN">
              <a:solidFill>
                <a:srgbClr val="FF0000"/>
              </a:solidFill>
            </a:endParaRPr>
          </a:p>
          <a:p>
            <a:pPr lvl="2"/>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08920"/>
            <a:ext cx="2867025" cy="1304925"/>
          </a:xfrm>
          <a:prstGeom prst="rect">
            <a:avLst/>
          </a:prstGeom>
          <a:noFill/>
          <a:ln w="9525">
            <a:noFill/>
            <a:miter lim="800000"/>
            <a:headEnd/>
            <a:tailEnd/>
          </a:ln>
        </p:spPr>
      </p:pic>
      <p:sp>
        <p:nvSpPr>
          <p:cNvPr id="10" name="TextBox 9"/>
          <p:cNvSpPr txBox="1"/>
          <p:nvPr/>
        </p:nvSpPr>
        <p:spPr>
          <a:xfrm>
            <a:off x="8028384" y="2780928"/>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3688" y="3429000"/>
          <a:ext cx="1257300" cy="263525"/>
        </p:xfrm>
        <a:graphic>
          <a:graphicData uri="http://schemas.openxmlformats.org/presentationml/2006/ole">
            <mc:AlternateContent xmlns:mc="http://schemas.openxmlformats.org/markup-compatibility/2006">
              <mc:Choice xmlns:v="urn:schemas-microsoft-com:vml" Requires="v">
                <p:oleObj spid="_x0000_s665250" name="Equation" r:id="rId5" imgW="1155600" imgH="241200" progId="Equation.DSMT4">
                  <p:embed/>
                </p:oleObj>
              </mc:Choice>
              <mc:Fallback>
                <p:oleObj name="Equation" r:id="rId5" imgW="1155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429000"/>
                        <a:ext cx="12573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461619"/>
          <a:ext cx="290513" cy="263525"/>
        </p:xfrm>
        <a:graphic>
          <a:graphicData uri="http://schemas.openxmlformats.org/presentationml/2006/ole">
            <mc:AlternateContent xmlns:mc="http://schemas.openxmlformats.org/markup-compatibility/2006">
              <mc:Choice xmlns:v="urn:schemas-microsoft-com:vml" Requires="v">
                <p:oleObj spid="_x0000_s665251" name="Equation" r:id="rId7" imgW="266400" imgH="241200" progId="Equation.DSMT4">
                  <p:embed/>
                </p:oleObj>
              </mc:Choice>
              <mc:Fallback>
                <p:oleObj name="Equation" r:id="rId7" imgW="266400" imgH="2412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461619"/>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2532" name="Object 7"/>
          <p:cNvGraphicFramePr>
            <a:graphicFrameLocks noChangeAspect="1"/>
          </p:cNvGraphicFramePr>
          <p:nvPr/>
        </p:nvGraphicFramePr>
        <p:xfrm>
          <a:off x="1763688" y="4509120"/>
          <a:ext cx="2735263" cy="957263"/>
        </p:xfrm>
        <a:graphic>
          <a:graphicData uri="http://schemas.openxmlformats.org/presentationml/2006/ole">
            <mc:AlternateContent xmlns:mc="http://schemas.openxmlformats.org/markup-compatibility/2006">
              <mc:Choice xmlns:v="urn:schemas-microsoft-com:vml" Requires="v">
                <p:oleObj spid="_x0000_s665252" name="Equation" r:id="rId9" imgW="2514600" imgH="876240" progId="Equation.DSMT4">
                  <p:embed/>
                </p:oleObj>
              </mc:Choice>
              <mc:Fallback>
                <p:oleObj name="Equation" r:id="rId9" imgW="2514600" imgH="87624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4509120"/>
                        <a:ext cx="2735263" cy="957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矩形 15"/>
          <p:cNvSpPr/>
          <p:nvPr/>
        </p:nvSpPr>
        <p:spPr bwMode="auto">
          <a:xfrm>
            <a:off x="1691680" y="5054272"/>
            <a:ext cx="1296144" cy="36004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17" name="直接连接符 16"/>
          <p:cNvCxnSpPr>
            <a:stCxn id="16" idx="2"/>
            <a:endCxn id="19" idx="1"/>
          </p:cNvCxnSpPr>
          <p:nvPr/>
        </p:nvCxnSpPr>
        <p:spPr bwMode="auto">
          <a:xfrm>
            <a:off x="2339752" y="5414312"/>
            <a:ext cx="1008112" cy="467316"/>
          </a:xfrm>
          <a:prstGeom prst="line">
            <a:avLst/>
          </a:prstGeom>
          <a:solidFill>
            <a:schemeClr val="accent1"/>
          </a:solidFill>
          <a:ln w="19050" cap="flat" cmpd="sng" algn="ctr">
            <a:solidFill>
              <a:srgbClr val="FF0000"/>
            </a:solidFill>
            <a:prstDash val="solid"/>
            <a:round/>
            <a:headEnd type="none" w="med" len="med"/>
            <a:tailEnd type="none" w="med" len="med"/>
          </a:ln>
          <a:effectLst/>
        </p:spPr>
      </p:cxnSp>
      <p:sp>
        <p:nvSpPr>
          <p:cNvPr id="19" name="TextBox 18"/>
          <p:cNvSpPr txBox="1"/>
          <p:nvPr/>
        </p:nvSpPr>
        <p:spPr>
          <a:xfrm>
            <a:off x="3347864" y="5589240"/>
            <a:ext cx="4608512" cy="584775"/>
          </a:xfrm>
          <a:prstGeom prst="rect">
            <a:avLst/>
          </a:prstGeom>
          <a:noFill/>
          <a:ln w="19050">
            <a:solidFill>
              <a:srgbClr val="FF0000"/>
            </a:solidFill>
          </a:ln>
        </p:spPr>
        <p:txBody>
          <a:bodyPr wrap="square" rtlCol="0">
            <a:spAutoFit/>
          </a:bodyPr>
          <a:lstStyle/>
          <a:p>
            <a:r>
              <a:rPr lang="zh-CN" altLang="en-US" sz="1600" b="1">
                <a:solidFill>
                  <a:srgbClr val="FF0000"/>
                </a:solidFill>
              </a:rPr>
              <a:t>自由项由支座移动产生，可利用虚功原理求解（适用于复杂结构）。</a:t>
            </a:r>
          </a:p>
        </p:txBody>
      </p:sp>
      <p:pic>
        <p:nvPicPr>
          <p:cNvPr id="20" name="Picture 7"/>
          <p:cNvPicPr>
            <a:picLocks noChangeAspect="1" noChangeArrowheads="1"/>
          </p:cNvPicPr>
          <p:nvPr/>
        </p:nvPicPr>
        <p:blipFill>
          <a:blip r:embed="rId11" cstate="print"/>
          <a:srcRect/>
          <a:stretch>
            <a:fillRect/>
          </a:stretch>
        </p:blipFill>
        <p:spPr bwMode="auto">
          <a:xfrm>
            <a:off x="4860032" y="4077072"/>
            <a:ext cx="2714625" cy="862013"/>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a:t>
            </a:r>
            <a:endParaRPr lang="en-US" altLang="zh-CN"/>
          </a:p>
          <a:p>
            <a:pPr lvl="2"/>
            <a:r>
              <a:rPr lang="zh-CN" altLang="en-US"/>
              <a:t>确定系数</a:t>
            </a:r>
            <a:endParaRPr lang="en-US" altLang="zh-CN"/>
          </a:p>
          <a:p>
            <a:pPr lvl="1"/>
            <a:endParaRPr lang="en-US" altLang="zh-CN"/>
          </a:p>
          <a:p>
            <a:pPr lvl="2"/>
            <a:r>
              <a:rPr lang="zh-CN" altLang="en-US">
                <a:solidFill>
                  <a:srgbClr val="FF0000"/>
                </a:solidFill>
              </a:rPr>
              <a:t>解力法方程</a:t>
            </a:r>
            <a:endParaRPr lang="en-US" altLang="zh-CN">
              <a:solidFill>
                <a:srgbClr val="FF0000"/>
              </a:solidFill>
            </a:endParaRPr>
          </a:p>
          <a:p>
            <a:pPr lvl="2"/>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08920"/>
            <a:ext cx="2867025" cy="1304925"/>
          </a:xfrm>
          <a:prstGeom prst="rect">
            <a:avLst/>
          </a:prstGeom>
          <a:noFill/>
          <a:ln w="9525">
            <a:noFill/>
            <a:miter lim="800000"/>
            <a:headEnd/>
            <a:tailEnd/>
          </a:ln>
        </p:spPr>
      </p:pic>
      <p:sp>
        <p:nvSpPr>
          <p:cNvPr id="10" name="TextBox 9"/>
          <p:cNvSpPr txBox="1"/>
          <p:nvPr/>
        </p:nvSpPr>
        <p:spPr>
          <a:xfrm>
            <a:off x="8028384" y="2780928"/>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3688" y="3429000"/>
          <a:ext cx="1257300" cy="263525"/>
        </p:xfrm>
        <a:graphic>
          <a:graphicData uri="http://schemas.openxmlformats.org/presentationml/2006/ole">
            <mc:AlternateContent xmlns:mc="http://schemas.openxmlformats.org/markup-compatibility/2006">
              <mc:Choice xmlns:v="urn:schemas-microsoft-com:vml" Requires="v">
                <p:oleObj spid="_x0000_s666498" name="Equation" r:id="rId5" imgW="1155600" imgH="241200" progId="Equation.DSMT4">
                  <p:embed/>
                </p:oleObj>
              </mc:Choice>
              <mc:Fallback>
                <p:oleObj name="Equation" r:id="rId5" imgW="1155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429000"/>
                        <a:ext cx="12573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461619"/>
          <a:ext cx="290513" cy="263525"/>
        </p:xfrm>
        <a:graphic>
          <a:graphicData uri="http://schemas.openxmlformats.org/presentationml/2006/ole">
            <mc:AlternateContent xmlns:mc="http://schemas.openxmlformats.org/markup-compatibility/2006">
              <mc:Choice xmlns:v="urn:schemas-microsoft-com:vml" Requires="v">
                <p:oleObj spid="_x0000_s666499" name="Equation" r:id="rId7" imgW="266400" imgH="241200" progId="Equation.DSMT4">
                  <p:embed/>
                </p:oleObj>
              </mc:Choice>
              <mc:Fallback>
                <p:oleObj name="Equation" r:id="rId7" imgW="266400" imgH="2412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461619"/>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2532" name="Object 7"/>
          <p:cNvGraphicFramePr>
            <a:graphicFrameLocks noChangeAspect="1"/>
          </p:cNvGraphicFramePr>
          <p:nvPr/>
        </p:nvGraphicFramePr>
        <p:xfrm>
          <a:off x="1764680" y="4509120"/>
          <a:ext cx="1727200" cy="527050"/>
        </p:xfrm>
        <a:graphic>
          <a:graphicData uri="http://schemas.openxmlformats.org/presentationml/2006/ole">
            <mc:AlternateContent xmlns:mc="http://schemas.openxmlformats.org/markup-compatibility/2006">
              <mc:Choice xmlns:v="urn:schemas-microsoft-com:vml" Requires="v">
                <p:oleObj spid="_x0000_s666500" name="Equation" r:id="rId9" imgW="1587240" imgH="482400" progId="Equation.DSMT4">
                  <p:embed/>
                </p:oleObj>
              </mc:Choice>
              <mc:Fallback>
                <p:oleObj name="Equation" r:id="rId9" imgW="1587240" imgH="4824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4680" y="4509120"/>
                        <a:ext cx="1727200"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05" name="Object 4"/>
          <p:cNvGraphicFramePr>
            <a:graphicFrameLocks noChangeAspect="1"/>
          </p:cNvGraphicFramePr>
          <p:nvPr/>
        </p:nvGraphicFramePr>
        <p:xfrm>
          <a:off x="1763688" y="5321756"/>
          <a:ext cx="2749550" cy="568325"/>
        </p:xfrm>
        <a:graphic>
          <a:graphicData uri="http://schemas.openxmlformats.org/presentationml/2006/ole">
            <mc:AlternateContent xmlns:mc="http://schemas.openxmlformats.org/markup-compatibility/2006">
              <mc:Choice xmlns:v="urn:schemas-microsoft-com:vml" Requires="v">
                <p:oleObj spid="_x0000_s666501" name="Equation" r:id="rId11" imgW="2527200" imgH="520560" progId="Equation.DSMT4">
                  <p:embed/>
                </p:oleObj>
              </mc:Choice>
              <mc:Fallback>
                <p:oleObj name="Equation" r:id="rId11" imgW="2527200" imgH="520560" progId="Equation.DSMT4">
                  <p:embed/>
                  <p:pic>
                    <p:nvPicPr>
                      <p:cNvPr id="0"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63688" y="5321756"/>
                        <a:ext cx="2749550"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 name="Picture 5"/>
          <p:cNvPicPr>
            <a:picLocks noChangeAspect="1" noChangeArrowheads="1"/>
          </p:cNvPicPr>
          <p:nvPr/>
        </p:nvPicPr>
        <p:blipFill>
          <a:blip r:embed="rId13" cstate="print"/>
          <a:srcRect/>
          <a:stretch>
            <a:fillRect/>
          </a:stretch>
        </p:blipFill>
        <p:spPr bwMode="auto">
          <a:xfrm>
            <a:off x="4860032" y="5013176"/>
            <a:ext cx="2786063" cy="1271588"/>
          </a:xfrm>
          <a:prstGeom prst="rect">
            <a:avLst/>
          </a:prstGeom>
          <a:noFill/>
          <a:ln w="9525">
            <a:noFill/>
            <a:miter lim="800000"/>
            <a:headEnd/>
            <a:tailEnd/>
          </a:ln>
        </p:spPr>
      </p:pic>
      <p:sp>
        <p:nvSpPr>
          <p:cNvPr id="20" name="圆角矩形 19"/>
          <p:cNvSpPr/>
          <p:nvPr/>
        </p:nvSpPr>
        <p:spPr bwMode="auto">
          <a:xfrm>
            <a:off x="3419872" y="5229200"/>
            <a:ext cx="1152128" cy="720080"/>
          </a:xfrm>
          <a:prstGeom prst="round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1" name="TextBox 20"/>
          <p:cNvSpPr txBox="1"/>
          <p:nvPr/>
        </p:nvSpPr>
        <p:spPr>
          <a:xfrm>
            <a:off x="2123728" y="6021288"/>
            <a:ext cx="2441694" cy="338554"/>
          </a:xfrm>
          <a:prstGeom prst="rect">
            <a:avLst/>
          </a:prstGeom>
          <a:noFill/>
          <a:ln w="19050">
            <a:solidFill>
              <a:srgbClr val="FF0000"/>
            </a:solidFill>
          </a:ln>
        </p:spPr>
        <p:txBody>
          <a:bodyPr wrap="none" rtlCol="0">
            <a:spAutoFit/>
          </a:bodyPr>
          <a:lstStyle/>
          <a:p>
            <a:r>
              <a:rPr lang="zh-CN" altLang="en-US" sz="1600" b="1">
                <a:solidFill>
                  <a:srgbClr val="FF0000"/>
                </a:solidFill>
              </a:rPr>
              <a:t>与杆件刚度的绝对值有关</a:t>
            </a:r>
          </a:p>
        </p:txBody>
      </p:sp>
      <p:pic>
        <p:nvPicPr>
          <p:cNvPr id="22" name="Picture 7"/>
          <p:cNvPicPr>
            <a:picLocks noChangeAspect="1" noChangeArrowheads="1"/>
          </p:cNvPicPr>
          <p:nvPr/>
        </p:nvPicPr>
        <p:blipFill>
          <a:blip r:embed="rId14" cstate="print"/>
          <a:srcRect/>
          <a:stretch>
            <a:fillRect/>
          </a:stretch>
        </p:blipFill>
        <p:spPr bwMode="auto">
          <a:xfrm>
            <a:off x="4860032" y="4077072"/>
            <a:ext cx="2714625" cy="862013"/>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3"/>
            <a:endParaRPr lang="en-US" altLang="zh-CN">
              <a:solidFill>
                <a:srgbClr val="FF0000"/>
              </a:solidFill>
            </a:endParaRPr>
          </a:p>
          <a:p>
            <a:pPr lvl="2"/>
            <a:r>
              <a:rPr lang="zh-CN" altLang="en-US"/>
              <a:t>作弯矩图</a:t>
            </a:r>
            <a:endParaRPr lang="en-US" altLang="zh-CN"/>
          </a:p>
          <a:p>
            <a:pPr lvl="2"/>
            <a:r>
              <a:rPr lang="zh-CN" altLang="en-US"/>
              <a:t>确定系数</a:t>
            </a:r>
            <a:endParaRPr lang="en-US" altLang="zh-CN"/>
          </a:p>
          <a:p>
            <a:pPr lvl="1"/>
            <a:endParaRPr lang="en-US" altLang="zh-CN"/>
          </a:p>
          <a:p>
            <a:pPr lvl="2"/>
            <a:r>
              <a:rPr lang="zh-CN" altLang="en-US"/>
              <a:t>解力法方程</a:t>
            </a:r>
            <a:endParaRPr lang="en-US" altLang="zh-CN"/>
          </a:p>
          <a:p>
            <a:pPr lvl="2"/>
            <a:endParaRPr lang="en-US" altLang="zh-CN"/>
          </a:p>
          <a:p>
            <a:pPr lvl="2"/>
            <a:r>
              <a:rPr lang="zh-CN" altLang="en-US">
                <a:solidFill>
                  <a:srgbClr val="FF0000"/>
                </a:solidFill>
              </a:rPr>
              <a:t>还原内力</a:t>
            </a:r>
            <a:endParaRPr lang="en-US" altLang="zh-CN">
              <a:solidFill>
                <a:srgbClr val="FF0000"/>
              </a:solidFill>
            </a:endParaRPr>
          </a:p>
          <a:p>
            <a:pPr lvl="2"/>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08920"/>
            <a:ext cx="2867025" cy="1304925"/>
          </a:xfrm>
          <a:prstGeom prst="rect">
            <a:avLst/>
          </a:prstGeom>
          <a:noFill/>
          <a:ln w="9525">
            <a:noFill/>
            <a:miter lim="800000"/>
            <a:headEnd/>
            <a:tailEnd/>
          </a:ln>
        </p:spPr>
      </p:pic>
      <p:sp>
        <p:nvSpPr>
          <p:cNvPr id="10" name="TextBox 9"/>
          <p:cNvSpPr txBox="1"/>
          <p:nvPr/>
        </p:nvSpPr>
        <p:spPr>
          <a:xfrm>
            <a:off x="8028384" y="2780928"/>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3688" y="3459822"/>
          <a:ext cx="1257300" cy="263525"/>
        </p:xfrm>
        <a:graphic>
          <a:graphicData uri="http://schemas.openxmlformats.org/presentationml/2006/ole">
            <mc:AlternateContent xmlns:mc="http://schemas.openxmlformats.org/markup-compatibility/2006">
              <mc:Choice xmlns:v="urn:schemas-microsoft-com:vml" Requires="v">
                <p:oleObj spid="_x0000_s793923" name="Equation" r:id="rId5" imgW="1155600" imgH="241200" progId="Equation.DSMT4">
                  <p:embed/>
                </p:oleObj>
              </mc:Choice>
              <mc:Fallback>
                <p:oleObj name="Equation" r:id="rId5" imgW="1155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459822"/>
                        <a:ext cx="1257300"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461619"/>
          <a:ext cx="290513" cy="263525"/>
        </p:xfrm>
        <a:graphic>
          <a:graphicData uri="http://schemas.openxmlformats.org/presentationml/2006/ole">
            <mc:AlternateContent xmlns:mc="http://schemas.openxmlformats.org/markup-compatibility/2006">
              <mc:Choice xmlns:v="urn:schemas-microsoft-com:vml" Requires="v">
                <p:oleObj spid="_x0000_s793924" name="Equation" r:id="rId7" imgW="266400" imgH="241200" progId="Equation.DSMT4">
                  <p:embed/>
                </p:oleObj>
              </mc:Choice>
              <mc:Fallback>
                <p:oleObj name="Equation" r:id="rId7" imgW="266400" imgH="2412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461619"/>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2532" name="Object 7"/>
          <p:cNvGraphicFramePr>
            <a:graphicFrameLocks noChangeAspect="1"/>
          </p:cNvGraphicFramePr>
          <p:nvPr/>
        </p:nvGraphicFramePr>
        <p:xfrm>
          <a:off x="1764680" y="4457660"/>
          <a:ext cx="1727200" cy="527050"/>
        </p:xfrm>
        <a:graphic>
          <a:graphicData uri="http://schemas.openxmlformats.org/presentationml/2006/ole">
            <mc:AlternateContent xmlns:mc="http://schemas.openxmlformats.org/markup-compatibility/2006">
              <mc:Choice xmlns:v="urn:schemas-microsoft-com:vml" Requires="v">
                <p:oleObj spid="_x0000_s793925" name="Equation" r:id="rId9" imgW="1587240" imgH="482400" progId="Equation.DSMT4">
                  <p:embed/>
                </p:oleObj>
              </mc:Choice>
              <mc:Fallback>
                <p:oleObj name="Equation" r:id="rId9" imgW="1587240" imgH="4824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4680" y="4457660"/>
                        <a:ext cx="1727200"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5605" name="Object 4"/>
          <p:cNvGraphicFramePr>
            <a:graphicFrameLocks noChangeAspect="1"/>
          </p:cNvGraphicFramePr>
          <p:nvPr/>
        </p:nvGraphicFramePr>
        <p:xfrm>
          <a:off x="1750442" y="5229200"/>
          <a:ext cx="2749550" cy="568325"/>
        </p:xfrm>
        <a:graphic>
          <a:graphicData uri="http://schemas.openxmlformats.org/presentationml/2006/ole">
            <mc:AlternateContent xmlns:mc="http://schemas.openxmlformats.org/markup-compatibility/2006">
              <mc:Choice xmlns:v="urn:schemas-microsoft-com:vml" Requires="v">
                <p:oleObj spid="_x0000_s793926" name="Equation" r:id="rId11" imgW="2527200" imgH="520560" progId="Equation.DSMT4">
                  <p:embed/>
                </p:oleObj>
              </mc:Choice>
              <mc:Fallback>
                <p:oleObj name="Equation" r:id="rId11" imgW="2527200" imgH="520560" progId="Equation.DSMT4">
                  <p:embed/>
                  <p:pic>
                    <p:nvPicPr>
                      <p:cNvPr id="0"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50442" y="5229200"/>
                        <a:ext cx="2749550"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 name="Picture 5"/>
          <p:cNvPicPr>
            <a:picLocks noChangeAspect="1" noChangeArrowheads="1"/>
          </p:cNvPicPr>
          <p:nvPr/>
        </p:nvPicPr>
        <p:blipFill>
          <a:blip r:embed="rId13" cstate="print"/>
          <a:srcRect/>
          <a:stretch>
            <a:fillRect/>
          </a:stretch>
        </p:blipFill>
        <p:spPr bwMode="auto">
          <a:xfrm>
            <a:off x="4860032" y="5013176"/>
            <a:ext cx="2786063" cy="1271588"/>
          </a:xfrm>
          <a:prstGeom prst="rect">
            <a:avLst/>
          </a:prstGeom>
          <a:noFill/>
          <a:ln w="9525">
            <a:noFill/>
            <a:miter lim="800000"/>
            <a:headEnd/>
            <a:tailEnd/>
          </a:ln>
        </p:spPr>
      </p:pic>
      <p:graphicFrame>
        <p:nvGraphicFramePr>
          <p:cNvPr id="666630" name="Object 4"/>
          <p:cNvGraphicFramePr>
            <a:graphicFrameLocks noChangeAspect="1"/>
          </p:cNvGraphicFramePr>
          <p:nvPr/>
        </p:nvGraphicFramePr>
        <p:xfrm>
          <a:off x="1763688" y="6072658"/>
          <a:ext cx="857250" cy="304800"/>
        </p:xfrm>
        <a:graphic>
          <a:graphicData uri="http://schemas.openxmlformats.org/presentationml/2006/ole">
            <mc:AlternateContent xmlns:mc="http://schemas.openxmlformats.org/markup-compatibility/2006">
              <mc:Choice xmlns:v="urn:schemas-microsoft-com:vml" Requires="v">
                <p:oleObj spid="_x0000_s793927" name="Equation" r:id="rId14" imgW="787320" imgH="279360" progId="Equation.DSMT4">
                  <p:embed/>
                </p:oleObj>
              </mc:Choice>
              <mc:Fallback>
                <p:oleObj name="Equation" r:id="rId14" imgW="787320" imgH="279360" progId="Equation.DSMT4">
                  <p:embed/>
                  <p:pic>
                    <p:nvPicPr>
                      <p:cNvPr id="0" name="Picture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63688" y="6072658"/>
                        <a:ext cx="8572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3077250" y="6042774"/>
            <a:ext cx="2646878" cy="338554"/>
          </a:xfrm>
          <a:prstGeom prst="rect">
            <a:avLst/>
          </a:prstGeom>
          <a:noFill/>
          <a:ln w="19050">
            <a:solidFill>
              <a:srgbClr val="FF0000"/>
            </a:solidFill>
          </a:ln>
        </p:spPr>
        <p:txBody>
          <a:bodyPr wrap="none" rtlCol="0">
            <a:spAutoFit/>
          </a:bodyPr>
          <a:lstStyle/>
          <a:p>
            <a:r>
              <a:rPr lang="zh-CN" altLang="en-US" sz="1600" b="1">
                <a:solidFill>
                  <a:srgbClr val="FF0000"/>
                </a:solidFill>
              </a:rPr>
              <a:t>内力完全由多余未知量引起</a:t>
            </a:r>
          </a:p>
        </p:txBody>
      </p:sp>
      <p:pic>
        <p:nvPicPr>
          <p:cNvPr id="666631" name="Picture 7"/>
          <p:cNvPicPr>
            <a:picLocks noChangeAspect="1" noChangeArrowheads="1"/>
          </p:cNvPicPr>
          <p:nvPr/>
        </p:nvPicPr>
        <p:blipFill>
          <a:blip r:embed="rId16" cstate="print"/>
          <a:srcRect/>
          <a:stretch>
            <a:fillRect/>
          </a:stretch>
        </p:blipFill>
        <p:spPr bwMode="auto">
          <a:xfrm>
            <a:off x="4860032" y="4077072"/>
            <a:ext cx="2714625" cy="862013"/>
          </a:xfrm>
          <a:prstGeom prst="rect">
            <a:avLst/>
          </a:prstGeom>
          <a:noFill/>
          <a:ln w="9525">
            <a:noFill/>
            <a:miter lim="800000"/>
            <a:headEnd/>
            <a:tailEnd/>
          </a:ln>
        </p:spPr>
      </p:pic>
      <p:graphicFrame>
        <p:nvGraphicFramePr>
          <p:cNvPr id="666632" name="Object 8"/>
          <p:cNvGraphicFramePr>
            <a:graphicFrameLocks noChangeAspect="1"/>
          </p:cNvGraphicFramePr>
          <p:nvPr/>
        </p:nvGraphicFramePr>
        <p:xfrm>
          <a:off x="7668344" y="5623966"/>
          <a:ext cx="1481138" cy="541338"/>
        </p:xfrm>
        <a:graphic>
          <a:graphicData uri="http://schemas.openxmlformats.org/presentationml/2006/ole">
            <mc:AlternateContent xmlns:mc="http://schemas.openxmlformats.org/markup-compatibility/2006">
              <mc:Choice xmlns:v="urn:schemas-microsoft-com:vml" Requires="v">
                <p:oleObj spid="_x0000_s793928" name="Equation" r:id="rId17" imgW="1358640" imgH="495000" progId="Equation.DSMT4">
                  <p:embed/>
                </p:oleObj>
              </mc:Choice>
              <mc:Fallback>
                <p:oleObj name="Equation" r:id="rId17" imgW="1358640" imgH="495000" progId="Equation.DSMT4">
                  <p:embed/>
                  <p:pic>
                    <p:nvPicPr>
                      <p:cNvPr id="0" name="Picture 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68344" y="5623966"/>
                        <a:ext cx="1481138"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2</a:t>
            </a:r>
          </a:p>
          <a:p>
            <a:pPr lvl="2"/>
            <a:r>
              <a:rPr lang="zh-CN" altLang="en-US"/>
              <a:t>选取基本体系</a:t>
            </a:r>
            <a:endParaRPr lang="en-US" altLang="zh-CN"/>
          </a:p>
          <a:p>
            <a:pPr lvl="1"/>
            <a:endParaRPr lang="en-US" altLang="zh-CN"/>
          </a:p>
          <a:p>
            <a:pPr lvl="1"/>
            <a:endParaRPr lang="zh-CN" altLang="en-US">
              <a:solidFill>
                <a:srgbClr val="FF0000"/>
              </a:solidFill>
            </a:endParaRPr>
          </a:p>
        </p:txBody>
      </p:sp>
      <p:pic>
        <p:nvPicPr>
          <p:cNvPr id="658435" name="Picture 3"/>
          <p:cNvPicPr>
            <a:picLocks noChangeAspect="1" noChangeArrowheads="1"/>
          </p:cNvPicPr>
          <p:nvPr/>
        </p:nvPicPr>
        <p:blipFill>
          <a:blip r:embed="rId2" cstate="print"/>
          <a:srcRect/>
          <a:stretch>
            <a:fillRect/>
          </a:stretch>
        </p:blipFill>
        <p:spPr bwMode="auto">
          <a:xfrm>
            <a:off x="4860032" y="1340768"/>
            <a:ext cx="2867025" cy="1304925"/>
          </a:xfrm>
          <a:prstGeom prst="rect">
            <a:avLst/>
          </a:prstGeom>
          <a:noFill/>
          <a:ln w="9525">
            <a:noFill/>
            <a:miter lim="800000"/>
            <a:headEnd/>
            <a:tailEnd/>
          </a:ln>
        </p:spPr>
      </p:pic>
      <p:sp>
        <p:nvSpPr>
          <p:cNvPr id="10" name="TextBox 9"/>
          <p:cNvSpPr txBox="1"/>
          <p:nvPr/>
        </p:nvSpPr>
        <p:spPr>
          <a:xfrm>
            <a:off x="8172400" y="2924944"/>
            <a:ext cx="430887" cy="1201611"/>
          </a:xfrm>
          <a:prstGeom prst="rect">
            <a:avLst/>
          </a:prstGeom>
          <a:noFill/>
        </p:spPr>
        <p:txBody>
          <a:bodyPr vert="eaVert" wrap="none" rtlCol="0">
            <a:spAutoFit/>
          </a:bodyPr>
          <a:lstStyle/>
          <a:p>
            <a:r>
              <a:rPr lang="zh-CN" altLang="en-US" sz="1600" b="1"/>
              <a:t>基本体系</a:t>
            </a:r>
          </a:p>
        </p:txBody>
      </p:sp>
      <p:pic>
        <p:nvPicPr>
          <p:cNvPr id="674818" name="Picture 2"/>
          <p:cNvPicPr>
            <a:picLocks noChangeAspect="1" noChangeArrowheads="1"/>
          </p:cNvPicPr>
          <p:nvPr/>
        </p:nvPicPr>
        <p:blipFill>
          <a:blip r:embed="rId3" cstate="print"/>
          <a:srcRect/>
          <a:stretch>
            <a:fillRect/>
          </a:stretch>
        </p:blipFill>
        <p:spPr bwMode="auto">
          <a:xfrm>
            <a:off x="4860032" y="2780928"/>
            <a:ext cx="2867025" cy="1304925"/>
          </a:xfrm>
          <a:prstGeom prst="rect">
            <a:avLst/>
          </a:prstGeom>
          <a:noFill/>
          <a:ln w="9525">
            <a:noFill/>
            <a:miter lim="800000"/>
            <a:headEnd/>
            <a:tailEnd/>
          </a:ln>
        </p:spPr>
      </p:pic>
      <p:pic>
        <p:nvPicPr>
          <p:cNvPr id="674819" name="Picture 3"/>
          <p:cNvPicPr>
            <a:picLocks noChangeAspect="1" noChangeArrowheads="1"/>
          </p:cNvPicPr>
          <p:nvPr/>
        </p:nvPicPr>
        <p:blipFill>
          <a:blip r:embed="rId4" cstate="print"/>
          <a:srcRect/>
          <a:stretch>
            <a:fillRect/>
          </a:stretch>
        </p:blipFill>
        <p:spPr bwMode="auto">
          <a:xfrm>
            <a:off x="4860032" y="4203551"/>
            <a:ext cx="2614613" cy="80962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solidFill>
                  <a:srgbClr val="FF0000"/>
                </a:solidFill>
              </a:rPr>
              <a:t>力法方程</a:t>
            </a:r>
            <a:endParaRPr lang="en-US" altLang="zh-CN">
              <a:solidFill>
                <a:srgbClr val="FF0000"/>
              </a:solidFill>
            </a:endParaRPr>
          </a:p>
          <a:p>
            <a:pPr lvl="2">
              <a:buNone/>
            </a:pPr>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sp>
        <p:nvSpPr>
          <p:cNvPr id="10" name="TextBox 9"/>
          <p:cNvSpPr txBox="1"/>
          <p:nvPr/>
        </p:nvSpPr>
        <p:spPr>
          <a:xfrm>
            <a:off x="8172400" y="2924944"/>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66888" y="3429000"/>
          <a:ext cx="1949450" cy="277813"/>
        </p:xfrm>
        <a:graphic>
          <a:graphicData uri="http://schemas.openxmlformats.org/presentationml/2006/ole">
            <mc:AlternateContent xmlns:mc="http://schemas.openxmlformats.org/markup-compatibility/2006">
              <mc:Choice xmlns:v="urn:schemas-microsoft-com:vml" Requires="v">
                <p:oleObj spid="_x0000_s667874" name="Equation" r:id="rId4" imgW="1790640" imgH="253800" progId="Equation.DSMT4">
                  <p:embed/>
                </p:oleObj>
              </mc:Choice>
              <mc:Fallback>
                <p:oleObj name="Equation" r:id="rId4" imgW="1790640" imgH="2538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6888" y="3429000"/>
                        <a:ext cx="1949450" cy="277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2"/>
          <p:cNvPicPr>
            <a:picLocks noChangeAspect="1" noChangeArrowheads="1"/>
          </p:cNvPicPr>
          <p:nvPr/>
        </p:nvPicPr>
        <p:blipFill>
          <a:blip r:embed="rId6" cstate="print"/>
          <a:srcRect/>
          <a:stretch>
            <a:fillRect/>
          </a:stretch>
        </p:blipFill>
        <p:spPr bwMode="auto">
          <a:xfrm>
            <a:off x="4860032" y="2780928"/>
            <a:ext cx="2867025" cy="1304925"/>
          </a:xfrm>
          <a:prstGeom prst="rect">
            <a:avLst/>
          </a:prstGeom>
          <a:noFill/>
          <a:ln w="9525">
            <a:noFill/>
            <a:miter lim="800000"/>
            <a:headEnd/>
            <a:tailEnd/>
          </a:ln>
        </p:spPr>
      </p:pic>
      <p:sp>
        <p:nvSpPr>
          <p:cNvPr id="15" name="椭圆 14"/>
          <p:cNvSpPr/>
          <p:nvPr/>
        </p:nvSpPr>
        <p:spPr bwMode="auto">
          <a:xfrm>
            <a:off x="3491880" y="3429000"/>
            <a:ext cx="360040" cy="288032"/>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solidFill>
                  <a:srgbClr val="FF0000"/>
                </a:solidFill>
              </a:rPr>
              <a:t>作弯矩图，剪力图</a:t>
            </a:r>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80928"/>
            <a:ext cx="2867025" cy="1304925"/>
          </a:xfrm>
          <a:prstGeom prst="rect">
            <a:avLst/>
          </a:prstGeom>
          <a:noFill/>
          <a:ln w="9525">
            <a:noFill/>
            <a:miter lim="800000"/>
            <a:headEnd/>
            <a:tailEnd/>
          </a:ln>
        </p:spPr>
      </p:pic>
      <p:sp>
        <p:nvSpPr>
          <p:cNvPr id="10" name="TextBox 9"/>
          <p:cNvSpPr txBox="1"/>
          <p:nvPr/>
        </p:nvSpPr>
        <p:spPr>
          <a:xfrm>
            <a:off x="8028384" y="2852936"/>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835696" y="3453507"/>
          <a:ext cx="1133475" cy="263525"/>
        </p:xfrm>
        <a:graphic>
          <a:graphicData uri="http://schemas.openxmlformats.org/presentationml/2006/ole">
            <mc:AlternateContent xmlns:mc="http://schemas.openxmlformats.org/markup-compatibility/2006">
              <mc:Choice xmlns:v="urn:schemas-microsoft-com:vml" Requires="v">
                <p:oleObj spid="_x0000_s669348" name="Equation" r:id="rId5" imgW="1041120" imgH="241200" progId="Equation.DSMT4">
                  <p:embed/>
                </p:oleObj>
              </mc:Choice>
              <mc:Fallback>
                <p:oleObj name="Equation" r:id="rId5" imgW="104112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6" y="3453507"/>
                        <a:ext cx="11334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581128"/>
          <a:ext cx="290513" cy="263525"/>
        </p:xfrm>
        <a:graphic>
          <a:graphicData uri="http://schemas.openxmlformats.org/presentationml/2006/ole">
            <mc:AlternateContent xmlns:mc="http://schemas.openxmlformats.org/markup-compatibility/2006">
              <mc:Choice xmlns:v="urn:schemas-microsoft-com:vml" Requires="v">
                <p:oleObj spid="_x0000_s669349" name="Equation" r:id="rId7" imgW="266400" imgH="241200" progId="Equation.DSMT4">
                  <p:embed/>
                </p:oleObj>
              </mc:Choice>
              <mc:Fallback>
                <p:oleObj name="Equation" r:id="rId7" imgW="266400" imgH="2412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581128"/>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3"/>
          <p:cNvPicPr>
            <a:picLocks noChangeAspect="1" noChangeArrowheads="1"/>
          </p:cNvPicPr>
          <p:nvPr/>
        </p:nvPicPr>
        <p:blipFill>
          <a:blip r:embed="rId9" cstate="print"/>
          <a:srcRect/>
          <a:stretch>
            <a:fillRect/>
          </a:stretch>
        </p:blipFill>
        <p:spPr bwMode="auto">
          <a:xfrm>
            <a:off x="4860032" y="4203551"/>
            <a:ext cx="2614613" cy="809625"/>
          </a:xfrm>
          <a:prstGeom prst="rect">
            <a:avLst/>
          </a:prstGeom>
          <a:noFill/>
          <a:ln w="9525">
            <a:noFill/>
            <a:miter lim="800000"/>
            <a:headEnd/>
            <a:tailEnd/>
          </a:ln>
        </p:spPr>
      </p:pic>
      <p:pic>
        <p:nvPicPr>
          <p:cNvPr id="668677" name="Picture 5"/>
          <p:cNvPicPr>
            <a:picLocks noChangeAspect="1" noChangeArrowheads="1"/>
          </p:cNvPicPr>
          <p:nvPr/>
        </p:nvPicPr>
        <p:blipFill>
          <a:blip r:embed="rId10" cstate="print"/>
          <a:srcRect/>
          <a:stretch>
            <a:fillRect/>
          </a:stretch>
        </p:blipFill>
        <p:spPr bwMode="auto">
          <a:xfrm>
            <a:off x="4932040" y="5157192"/>
            <a:ext cx="2795588" cy="628650"/>
          </a:xfrm>
          <a:prstGeom prst="rect">
            <a:avLst/>
          </a:prstGeom>
          <a:noFill/>
          <a:ln w="9525">
            <a:noFill/>
            <a:miter lim="800000"/>
            <a:headEnd/>
            <a:tailEnd/>
          </a:ln>
        </p:spPr>
      </p:pic>
      <p:graphicFrame>
        <p:nvGraphicFramePr>
          <p:cNvPr id="668678" name="Object 4"/>
          <p:cNvGraphicFramePr>
            <a:graphicFrameLocks noChangeAspect="1"/>
          </p:cNvGraphicFramePr>
          <p:nvPr/>
        </p:nvGraphicFramePr>
        <p:xfrm>
          <a:off x="8101013" y="5500464"/>
          <a:ext cx="290512" cy="304800"/>
        </p:xfrm>
        <a:graphic>
          <a:graphicData uri="http://schemas.openxmlformats.org/presentationml/2006/ole">
            <mc:AlternateContent xmlns:mc="http://schemas.openxmlformats.org/markup-compatibility/2006">
              <mc:Choice xmlns:v="urn:schemas-microsoft-com:vml" Requires="v">
                <p:oleObj spid="_x0000_s669350" name="Equation" r:id="rId11" imgW="266400" imgH="279360" progId="Equation.DSMT4">
                  <p:embed/>
                </p:oleObj>
              </mc:Choice>
              <mc:Fallback>
                <p:oleObj name="Equation" r:id="rId11" imgW="266400" imgH="27936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01013" y="5500464"/>
                        <a:ext cx="29051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作弯矩图，剪力图</a:t>
            </a:r>
            <a:endParaRPr lang="en-US" altLang="zh-CN"/>
          </a:p>
          <a:p>
            <a:pPr lvl="2"/>
            <a:r>
              <a:rPr lang="zh-CN" altLang="en-US">
                <a:solidFill>
                  <a:srgbClr val="FF0000"/>
                </a:solidFill>
              </a:rPr>
              <a:t>确定系数</a:t>
            </a:r>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80928"/>
            <a:ext cx="2867025" cy="1304925"/>
          </a:xfrm>
          <a:prstGeom prst="rect">
            <a:avLst/>
          </a:prstGeom>
          <a:noFill/>
          <a:ln w="9525">
            <a:noFill/>
            <a:miter lim="800000"/>
            <a:headEnd/>
            <a:tailEnd/>
          </a:ln>
        </p:spPr>
      </p:pic>
      <p:sp>
        <p:nvSpPr>
          <p:cNvPr id="10" name="TextBox 9"/>
          <p:cNvSpPr txBox="1"/>
          <p:nvPr/>
        </p:nvSpPr>
        <p:spPr>
          <a:xfrm>
            <a:off x="8028384" y="2852936"/>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835696" y="3453507"/>
          <a:ext cx="1133475" cy="263525"/>
        </p:xfrm>
        <a:graphic>
          <a:graphicData uri="http://schemas.openxmlformats.org/presentationml/2006/ole">
            <mc:AlternateContent xmlns:mc="http://schemas.openxmlformats.org/markup-compatibility/2006">
              <mc:Choice xmlns:v="urn:schemas-microsoft-com:vml" Requires="v">
                <p:oleObj spid="_x0000_s676738" name="Equation" r:id="rId5" imgW="1041120" imgH="241200" progId="Equation.DSMT4">
                  <p:embed/>
                </p:oleObj>
              </mc:Choice>
              <mc:Fallback>
                <p:oleObj name="Equation" r:id="rId5" imgW="104112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696" y="3453507"/>
                        <a:ext cx="11334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581128"/>
          <a:ext cx="290513" cy="263525"/>
        </p:xfrm>
        <a:graphic>
          <a:graphicData uri="http://schemas.openxmlformats.org/presentationml/2006/ole">
            <mc:AlternateContent xmlns:mc="http://schemas.openxmlformats.org/markup-compatibility/2006">
              <mc:Choice xmlns:v="urn:schemas-microsoft-com:vml" Requires="v">
                <p:oleObj spid="_x0000_s676739" name="Equation" r:id="rId7" imgW="266400" imgH="241200" progId="Equation.DSMT4">
                  <p:embed/>
                </p:oleObj>
              </mc:Choice>
              <mc:Fallback>
                <p:oleObj name="Equation" r:id="rId7" imgW="266400" imgH="2412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581128"/>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3"/>
          <p:cNvPicPr>
            <a:picLocks noChangeAspect="1" noChangeArrowheads="1"/>
          </p:cNvPicPr>
          <p:nvPr/>
        </p:nvPicPr>
        <p:blipFill>
          <a:blip r:embed="rId9" cstate="print"/>
          <a:srcRect/>
          <a:stretch>
            <a:fillRect/>
          </a:stretch>
        </p:blipFill>
        <p:spPr bwMode="auto">
          <a:xfrm>
            <a:off x="4860032" y="4203551"/>
            <a:ext cx="2614613" cy="809625"/>
          </a:xfrm>
          <a:prstGeom prst="rect">
            <a:avLst/>
          </a:prstGeom>
          <a:noFill/>
          <a:ln w="9525">
            <a:noFill/>
            <a:miter lim="800000"/>
            <a:headEnd/>
            <a:tailEnd/>
          </a:ln>
        </p:spPr>
      </p:pic>
      <p:graphicFrame>
        <p:nvGraphicFramePr>
          <p:cNvPr id="668678" name="Object 4"/>
          <p:cNvGraphicFramePr>
            <a:graphicFrameLocks noChangeAspect="1"/>
          </p:cNvGraphicFramePr>
          <p:nvPr/>
        </p:nvGraphicFramePr>
        <p:xfrm>
          <a:off x="8101013" y="5500464"/>
          <a:ext cx="290512" cy="304800"/>
        </p:xfrm>
        <a:graphic>
          <a:graphicData uri="http://schemas.openxmlformats.org/presentationml/2006/ole">
            <mc:AlternateContent xmlns:mc="http://schemas.openxmlformats.org/markup-compatibility/2006">
              <mc:Choice xmlns:v="urn:schemas-microsoft-com:vml" Requires="v">
                <p:oleObj spid="_x0000_s676740" name="Equation" r:id="rId10" imgW="266400" imgH="279360" progId="Equation.DSMT4">
                  <p:embed/>
                </p:oleObj>
              </mc:Choice>
              <mc:Fallback>
                <p:oleObj name="Equation" r:id="rId10" imgW="266400" imgH="279360" progId="Equation.DSMT4">
                  <p:embed/>
                  <p:pic>
                    <p:nvPicPr>
                      <p:cNvPr id="0"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01013" y="5500464"/>
                        <a:ext cx="29051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45" name="Object 4"/>
          <p:cNvGraphicFramePr>
            <a:graphicFrameLocks noChangeAspect="1"/>
          </p:cNvGraphicFramePr>
          <p:nvPr/>
        </p:nvGraphicFramePr>
        <p:xfrm>
          <a:off x="1475656" y="4522440"/>
          <a:ext cx="3259137" cy="1066800"/>
        </p:xfrm>
        <a:graphic>
          <a:graphicData uri="http://schemas.openxmlformats.org/presentationml/2006/ole">
            <mc:AlternateContent xmlns:mc="http://schemas.openxmlformats.org/markup-compatibility/2006">
              <mc:Choice xmlns:v="urn:schemas-microsoft-com:vml" Requires="v">
                <p:oleObj spid="_x0000_s676741" name="Equation" r:id="rId12" imgW="2997000" imgH="977760" progId="Equation.DSMT4">
                  <p:embed/>
                </p:oleObj>
              </mc:Choice>
              <mc:Fallback>
                <p:oleObj name="Equation" r:id="rId12" imgW="2997000" imgH="977760" progId="Equation.DSMT4">
                  <p:embed/>
                  <p:pic>
                    <p:nvPicPr>
                      <p:cNvPr id="0"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75656" y="4522440"/>
                        <a:ext cx="3259137"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75846" name="Picture 6"/>
          <p:cNvPicPr>
            <a:picLocks noChangeAspect="1" noChangeArrowheads="1"/>
          </p:cNvPicPr>
          <p:nvPr/>
        </p:nvPicPr>
        <p:blipFill>
          <a:blip r:embed="rId14" cstate="print"/>
          <a:srcRect/>
          <a:stretch>
            <a:fillRect/>
          </a:stretch>
        </p:blipFill>
        <p:spPr bwMode="auto">
          <a:xfrm>
            <a:off x="4932040" y="5157192"/>
            <a:ext cx="2833688" cy="628650"/>
          </a:xfrm>
          <a:prstGeom prst="rect">
            <a:avLst/>
          </a:prstGeom>
          <a:noFill/>
          <a:ln w="9525">
            <a:noFill/>
            <a:miter lim="800000"/>
            <a:headEnd/>
            <a:tailEnd/>
          </a:ln>
        </p:spPr>
      </p:pic>
      <p:sp>
        <p:nvSpPr>
          <p:cNvPr id="14" name="TextBox 13"/>
          <p:cNvSpPr txBox="1"/>
          <p:nvPr/>
        </p:nvSpPr>
        <p:spPr>
          <a:xfrm>
            <a:off x="3491880" y="4653136"/>
            <a:ext cx="1008112" cy="338554"/>
          </a:xfrm>
          <a:prstGeom prst="rect">
            <a:avLst/>
          </a:prstGeom>
          <a:noFill/>
          <a:ln w="19050">
            <a:solidFill>
              <a:srgbClr val="FF0000"/>
            </a:solidFill>
          </a:ln>
        </p:spPr>
        <p:txBody>
          <a:bodyPr wrap="square" rtlCol="0">
            <a:spAutoFit/>
          </a:bodyPr>
          <a:lstStyle/>
          <a:p>
            <a:r>
              <a:rPr lang="zh-CN" altLang="en-US" sz="1600" b="1">
                <a:solidFill>
                  <a:srgbClr val="FF0000"/>
                </a:solidFill>
              </a:rPr>
              <a:t>虚功原理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作弯矩图，剪力图</a:t>
            </a:r>
            <a:endParaRPr lang="en-US" altLang="zh-CN"/>
          </a:p>
          <a:p>
            <a:pPr lvl="2"/>
            <a:r>
              <a:rPr lang="zh-CN" altLang="en-US"/>
              <a:t>确定系数</a:t>
            </a:r>
            <a:endParaRPr lang="en-US" altLang="zh-CN"/>
          </a:p>
          <a:p>
            <a:endParaRPr lang="en-US" altLang="zh-CN"/>
          </a:p>
          <a:p>
            <a:pPr lvl="2"/>
            <a:r>
              <a:rPr lang="zh-CN" altLang="en-US">
                <a:solidFill>
                  <a:srgbClr val="FF0000"/>
                </a:solidFill>
              </a:rPr>
              <a:t>解力法方程</a:t>
            </a:r>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3"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4" cstate="print"/>
          <a:srcRect/>
          <a:stretch>
            <a:fillRect/>
          </a:stretch>
        </p:blipFill>
        <p:spPr bwMode="auto">
          <a:xfrm>
            <a:off x="4860032" y="2780928"/>
            <a:ext cx="2867025" cy="1304925"/>
          </a:xfrm>
          <a:prstGeom prst="rect">
            <a:avLst/>
          </a:prstGeom>
          <a:noFill/>
          <a:ln w="9525">
            <a:noFill/>
            <a:miter lim="800000"/>
            <a:headEnd/>
            <a:tailEnd/>
          </a:ln>
        </p:spPr>
      </p:pic>
      <p:sp>
        <p:nvSpPr>
          <p:cNvPr id="10" name="TextBox 9"/>
          <p:cNvSpPr txBox="1"/>
          <p:nvPr/>
        </p:nvSpPr>
        <p:spPr>
          <a:xfrm>
            <a:off x="8028384" y="2852936"/>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32866" y="3459822"/>
          <a:ext cx="1133475" cy="263525"/>
        </p:xfrm>
        <a:graphic>
          <a:graphicData uri="http://schemas.openxmlformats.org/presentationml/2006/ole">
            <mc:AlternateContent xmlns:mc="http://schemas.openxmlformats.org/markup-compatibility/2006">
              <mc:Choice xmlns:v="urn:schemas-microsoft-com:vml" Requires="v">
                <p:oleObj spid="_x0000_s823394" name="Equation" r:id="rId5" imgW="1041120" imgH="241200" progId="Equation.DSMT4">
                  <p:embed/>
                </p:oleObj>
              </mc:Choice>
              <mc:Fallback>
                <p:oleObj name="Equation" r:id="rId5" imgW="104112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2866" y="3459822"/>
                        <a:ext cx="11334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581128"/>
          <a:ext cx="290513" cy="263525"/>
        </p:xfrm>
        <a:graphic>
          <a:graphicData uri="http://schemas.openxmlformats.org/presentationml/2006/ole">
            <mc:AlternateContent xmlns:mc="http://schemas.openxmlformats.org/markup-compatibility/2006">
              <mc:Choice xmlns:v="urn:schemas-microsoft-com:vml" Requires="v">
                <p:oleObj spid="_x0000_s823395" name="Equation" r:id="rId7" imgW="266400" imgH="241200" progId="Equation.DSMT4">
                  <p:embed/>
                </p:oleObj>
              </mc:Choice>
              <mc:Fallback>
                <p:oleObj name="Equation" r:id="rId7" imgW="266400" imgH="2412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00392" y="4581128"/>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3"/>
          <p:cNvPicPr>
            <a:picLocks noChangeAspect="1" noChangeArrowheads="1"/>
          </p:cNvPicPr>
          <p:nvPr/>
        </p:nvPicPr>
        <p:blipFill>
          <a:blip r:embed="rId9" cstate="print"/>
          <a:srcRect/>
          <a:stretch>
            <a:fillRect/>
          </a:stretch>
        </p:blipFill>
        <p:spPr bwMode="auto">
          <a:xfrm>
            <a:off x="4860032" y="4203551"/>
            <a:ext cx="2614613" cy="809625"/>
          </a:xfrm>
          <a:prstGeom prst="rect">
            <a:avLst/>
          </a:prstGeom>
          <a:noFill/>
          <a:ln w="9525">
            <a:noFill/>
            <a:miter lim="800000"/>
            <a:headEnd/>
            <a:tailEnd/>
          </a:ln>
        </p:spPr>
      </p:pic>
      <p:graphicFrame>
        <p:nvGraphicFramePr>
          <p:cNvPr id="668678" name="Object 4"/>
          <p:cNvGraphicFramePr>
            <a:graphicFrameLocks noChangeAspect="1"/>
          </p:cNvGraphicFramePr>
          <p:nvPr/>
        </p:nvGraphicFramePr>
        <p:xfrm>
          <a:off x="8101013" y="5500464"/>
          <a:ext cx="290512" cy="304800"/>
        </p:xfrm>
        <a:graphic>
          <a:graphicData uri="http://schemas.openxmlformats.org/presentationml/2006/ole">
            <mc:AlternateContent xmlns:mc="http://schemas.openxmlformats.org/markup-compatibility/2006">
              <mc:Choice xmlns:v="urn:schemas-microsoft-com:vml" Requires="v">
                <p:oleObj spid="_x0000_s823396" name="Equation" r:id="rId10" imgW="266400" imgH="279360" progId="Equation.DSMT4">
                  <p:embed/>
                </p:oleObj>
              </mc:Choice>
              <mc:Fallback>
                <p:oleObj name="Equation" r:id="rId10" imgW="266400" imgH="279360" progId="Equation.DSMT4">
                  <p:embed/>
                  <p:pic>
                    <p:nvPicPr>
                      <p:cNvPr id="0"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01013" y="5500464"/>
                        <a:ext cx="29051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45" name="Object 4"/>
          <p:cNvGraphicFramePr>
            <a:graphicFrameLocks noChangeAspect="1"/>
          </p:cNvGraphicFramePr>
          <p:nvPr/>
        </p:nvGraphicFramePr>
        <p:xfrm>
          <a:off x="1757561" y="5445224"/>
          <a:ext cx="2238375" cy="541337"/>
        </p:xfrm>
        <a:graphic>
          <a:graphicData uri="http://schemas.openxmlformats.org/presentationml/2006/ole">
            <mc:AlternateContent xmlns:mc="http://schemas.openxmlformats.org/markup-compatibility/2006">
              <mc:Choice xmlns:v="urn:schemas-microsoft-com:vml" Requires="v">
                <p:oleObj spid="_x0000_s823397" name="Equation" r:id="rId12" imgW="2057400" imgH="495000" progId="Equation.DSMT4">
                  <p:embed/>
                </p:oleObj>
              </mc:Choice>
              <mc:Fallback>
                <p:oleObj name="Equation" r:id="rId12" imgW="2057400" imgH="495000" progId="Equation.DSMT4">
                  <p:embed/>
                  <p:pic>
                    <p:nvPicPr>
                      <p:cNvPr id="0"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57561" y="5445224"/>
                        <a:ext cx="2238375"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75846" name="Picture 6"/>
          <p:cNvPicPr>
            <a:picLocks noChangeAspect="1" noChangeArrowheads="1"/>
          </p:cNvPicPr>
          <p:nvPr/>
        </p:nvPicPr>
        <p:blipFill>
          <a:blip r:embed="rId14" cstate="print"/>
          <a:srcRect/>
          <a:stretch>
            <a:fillRect/>
          </a:stretch>
        </p:blipFill>
        <p:spPr bwMode="auto">
          <a:xfrm>
            <a:off x="4932040" y="5157192"/>
            <a:ext cx="2833688" cy="628650"/>
          </a:xfrm>
          <a:prstGeom prst="rect">
            <a:avLst/>
          </a:prstGeom>
          <a:noFill/>
          <a:ln w="9525">
            <a:noFill/>
            <a:miter lim="800000"/>
            <a:headEnd/>
            <a:tailEnd/>
          </a:ln>
        </p:spPr>
      </p:pic>
      <p:graphicFrame>
        <p:nvGraphicFramePr>
          <p:cNvPr id="676870" name="Object 4"/>
          <p:cNvGraphicFramePr>
            <a:graphicFrameLocks noChangeAspect="1"/>
          </p:cNvGraphicFramePr>
          <p:nvPr/>
        </p:nvGraphicFramePr>
        <p:xfrm>
          <a:off x="1769243" y="4560490"/>
          <a:ext cx="2278063" cy="539750"/>
        </p:xfrm>
        <a:graphic>
          <a:graphicData uri="http://schemas.openxmlformats.org/presentationml/2006/ole">
            <mc:AlternateContent xmlns:mc="http://schemas.openxmlformats.org/markup-compatibility/2006">
              <mc:Choice xmlns:v="urn:schemas-microsoft-com:vml" Requires="v">
                <p:oleObj spid="_x0000_s823398" name="Equation" r:id="rId15" imgW="2095200" imgH="495000" progId="Equation.DSMT4">
                  <p:embed/>
                </p:oleObj>
              </mc:Choice>
              <mc:Fallback>
                <p:oleObj name="Equation" r:id="rId15" imgW="2095200" imgH="495000" progId="Equation.DSMT4">
                  <p:embed/>
                  <p:pic>
                    <p:nvPicPr>
                      <p:cNvPr id="0" name="Picture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69243" y="4560490"/>
                        <a:ext cx="227806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二、支座移动时的计算</a:t>
            </a:r>
            <a:endParaRPr lang="en-US" altLang="zh-CN"/>
          </a:p>
          <a:p>
            <a:pPr lvl="1"/>
            <a:r>
              <a:rPr lang="zh-CN" altLang="en-US"/>
              <a:t>例：求梁中引起的自内力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solidFill>
                <a:srgbClr val="FF0000"/>
              </a:solidFill>
            </a:endParaRPr>
          </a:p>
          <a:p>
            <a:pPr lvl="2"/>
            <a:r>
              <a:rPr lang="zh-CN" altLang="en-US"/>
              <a:t>作弯矩图，剪力图</a:t>
            </a:r>
            <a:endParaRPr lang="en-US" altLang="zh-CN"/>
          </a:p>
          <a:p>
            <a:pPr lvl="2"/>
            <a:r>
              <a:rPr lang="zh-CN" altLang="en-US"/>
              <a:t>确定系数</a:t>
            </a:r>
            <a:endParaRPr lang="en-US" altLang="zh-CN"/>
          </a:p>
          <a:p>
            <a:endParaRPr lang="en-US" altLang="zh-CN"/>
          </a:p>
          <a:p>
            <a:pPr lvl="2"/>
            <a:r>
              <a:rPr lang="zh-CN" altLang="en-US"/>
              <a:t>解力法方程</a:t>
            </a:r>
            <a:endParaRPr lang="en-US" altLang="zh-CN"/>
          </a:p>
          <a:p>
            <a:pPr lvl="2"/>
            <a:endParaRPr lang="en-US" altLang="zh-CN"/>
          </a:p>
          <a:p>
            <a:pPr lvl="2"/>
            <a:r>
              <a:rPr lang="zh-CN" altLang="en-US">
                <a:solidFill>
                  <a:srgbClr val="FF0000"/>
                </a:solidFill>
              </a:rPr>
              <a:t>还原内力</a:t>
            </a:r>
            <a:endParaRPr lang="en-US" altLang="zh-CN">
              <a:solidFill>
                <a:srgbClr val="FF0000"/>
              </a:solidFill>
            </a:endParaRPr>
          </a:p>
          <a:p>
            <a:pPr lvl="2"/>
            <a:endParaRPr lang="en-US" altLang="zh-CN"/>
          </a:p>
          <a:p>
            <a:pPr lvl="1"/>
            <a:endParaRPr lang="en-US" altLang="zh-CN">
              <a:solidFill>
                <a:srgbClr val="FF0000"/>
              </a:solidFill>
            </a:endParaRPr>
          </a:p>
          <a:p>
            <a:pPr lvl="1"/>
            <a:endParaRPr lang="zh-CN" altLang="en-US">
              <a:solidFill>
                <a:srgbClr val="FF0000"/>
              </a:solidFill>
            </a:endParaRPr>
          </a:p>
        </p:txBody>
      </p:sp>
      <p:pic>
        <p:nvPicPr>
          <p:cNvPr id="658435" name="Picture 3"/>
          <p:cNvPicPr>
            <a:picLocks noChangeAspect="1" noChangeArrowheads="1"/>
          </p:cNvPicPr>
          <p:nvPr/>
        </p:nvPicPr>
        <p:blipFill>
          <a:blip r:embed="rId4" cstate="print"/>
          <a:srcRect/>
          <a:stretch>
            <a:fillRect/>
          </a:stretch>
        </p:blipFill>
        <p:spPr bwMode="auto">
          <a:xfrm>
            <a:off x="4860032" y="1340768"/>
            <a:ext cx="2867025" cy="1304925"/>
          </a:xfrm>
          <a:prstGeom prst="rect">
            <a:avLst/>
          </a:prstGeom>
          <a:noFill/>
          <a:ln w="9525">
            <a:noFill/>
            <a:miter lim="800000"/>
            <a:headEnd/>
            <a:tailEnd/>
          </a:ln>
        </p:spPr>
      </p:pic>
      <p:pic>
        <p:nvPicPr>
          <p:cNvPr id="659459" name="Picture 3"/>
          <p:cNvPicPr>
            <a:picLocks noChangeAspect="1" noChangeArrowheads="1"/>
          </p:cNvPicPr>
          <p:nvPr/>
        </p:nvPicPr>
        <p:blipFill>
          <a:blip r:embed="rId5" cstate="print"/>
          <a:srcRect/>
          <a:stretch>
            <a:fillRect/>
          </a:stretch>
        </p:blipFill>
        <p:spPr bwMode="auto">
          <a:xfrm>
            <a:off x="4860032" y="2780928"/>
            <a:ext cx="2867025" cy="1304925"/>
          </a:xfrm>
          <a:prstGeom prst="rect">
            <a:avLst/>
          </a:prstGeom>
          <a:noFill/>
          <a:ln w="9525">
            <a:noFill/>
            <a:miter lim="800000"/>
            <a:headEnd/>
            <a:tailEnd/>
          </a:ln>
        </p:spPr>
      </p:pic>
      <p:sp>
        <p:nvSpPr>
          <p:cNvPr id="10" name="TextBox 9"/>
          <p:cNvSpPr txBox="1"/>
          <p:nvPr/>
        </p:nvSpPr>
        <p:spPr>
          <a:xfrm>
            <a:off x="8028384" y="2852936"/>
            <a:ext cx="430887" cy="1201611"/>
          </a:xfrm>
          <a:prstGeom prst="rect">
            <a:avLst/>
          </a:prstGeom>
          <a:noFill/>
        </p:spPr>
        <p:txBody>
          <a:bodyPr vert="eaVert" wrap="none" rtlCol="0">
            <a:spAutoFit/>
          </a:bodyPr>
          <a:lstStyle/>
          <a:p>
            <a:r>
              <a:rPr lang="zh-CN" altLang="en-US" sz="1600" b="1"/>
              <a:t>基本体系</a:t>
            </a:r>
          </a:p>
        </p:txBody>
      </p:sp>
      <p:graphicFrame>
        <p:nvGraphicFramePr>
          <p:cNvPr id="660482" name="Object 7"/>
          <p:cNvGraphicFramePr>
            <a:graphicFrameLocks noChangeAspect="1"/>
          </p:cNvGraphicFramePr>
          <p:nvPr/>
        </p:nvGraphicFramePr>
        <p:xfrm>
          <a:off x="1732866" y="3459822"/>
          <a:ext cx="1133475" cy="263525"/>
        </p:xfrm>
        <a:graphic>
          <a:graphicData uri="http://schemas.openxmlformats.org/presentationml/2006/ole">
            <mc:AlternateContent xmlns:mc="http://schemas.openxmlformats.org/markup-compatibility/2006">
              <mc:Choice xmlns:v="urn:schemas-microsoft-com:vml" Requires="v">
                <p:oleObj spid="_x0000_s766498" name="Equation" r:id="rId6" imgW="1041120" imgH="241200" progId="Equation.DSMT4">
                  <p:embed/>
                </p:oleObj>
              </mc:Choice>
              <mc:Fallback>
                <p:oleObj name="Equation" r:id="rId6" imgW="1041120" imgH="2412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32866" y="3459822"/>
                        <a:ext cx="11334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61508" name="Object 7"/>
          <p:cNvGraphicFramePr>
            <a:graphicFrameLocks noChangeAspect="1"/>
          </p:cNvGraphicFramePr>
          <p:nvPr/>
        </p:nvGraphicFramePr>
        <p:xfrm>
          <a:off x="8100392" y="4581128"/>
          <a:ext cx="290513" cy="263525"/>
        </p:xfrm>
        <a:graphic>
          <a:graphicData uri="http://schemas.openxmlformats.org/presentationml/2006/ole">
            <mc:AlternateContent xmlns:mc="http://schemas.openxmlformats.org/markup-compatibility/2006">
              <mc:Choice xmlns:v="urn:schemas-microsoft-com:vml" Requires="v">
                <p:oleObj spid="_x0000_s766499" name="Equation" r:id="rId8" imgW="266400" imgH="241200" progId="Equation.DSMT4">
                  <p:embed/>
                </p:oleObj>
              </mc:Choice>
              <mc:Fallback>
                <p:oleObj name="Equation" r:id="rId8" imgW="266400" imgH="2412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00392" y="4581128"/>
                        <a:ext cx="290513"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3"/>
          <p:cNvPicPr>
            <a:picLocks noChangeAspect="1" noChangeArrowheads="1"/>
          </p:cNvPicPr>
          <p:nvPr/>
        </p:nvPicPr>
        <p:blipFill>
          <a:blip r:embed="rId10" cstate="print"/>
          <a:srcRect/>
          <a:stretch>
            <a:fillRect/>
          </a:stretch>
        </p:blipFill>
        <p:spPr bwMode="auto">
          <a:xfrm>
            <a:off x="4860032" y="4203551"/>
            <a:ext cx="2614613" cy="809625"/>
          </a:xfrm>
          <a:prstGeom prst="rect">
            <a:avLst/>
          </a:prstGeom>
          <a:noFill/>
          <a:ln w="9525">
            <a:noFill/>
            <a:miter lim="800000"/>
            <a:headEnd/>
            <a:tailEnd/>
          </a:ln>
        </p:spPr>
      </p:pic>
      <p:graphicFrame>
        <p:nvGraphicFramePr>
          <p:cNvPr id="668678" name="Object 4"/>
          <p:cNvGraphicFramePr>
            <a:graphicFrameLocks noChangeAspect="1"/>
          </p:cNvGraphicFramePr>
          <p:nvPr/>
        </p:nvGraphicFramePr>
        <p:xfrm>
          <a:off x="8101013" y="5500464"/>
          <a:ext cx="290512" cy="304800"/>
        </p:xfrm>
        <a:graphic>
          <a:graphicData uri="http://schemas.openxmlformats.org/presentationml/2006/ole">
            <mc:AlternateContent xmlns:mc="http://schemas.openxmlformats.org/markup-compatibility/2006">
              <mc:Choice xmlns:v="urn:schemas-microsoft-com:vml" Requires="v">
                <p:oleObj spid="_x0000_s766500" name="Equation" r:id="rId11" imgW="266400" imgH="279360" progId="Equation.DSMT4">
                  <p:embed/>
                </p:oleObj>
              </mc:Choice>
              <mc:Fallback>
                <p:oleObj name="Equation" r:id="rId11" imgW="266400" imgH="279360" progId="Equation.DSMT4">
                  <p:embed/>
                  <p:pic>
                    <p:nvPicPr>
                      <p:cNvPr id="0" name="Picture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01013" y="5500464"/>
                        <a:ext cx="290512"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5845" name="Object 4"/>
          <p:cNvGraphicFramePr>
            <a:graphicFrameLocks noChangeAspect="1"/>
          </p:cNvGraphicFramePr>
          <p:nvPr/>
        </p:nvGraphicFramePr>
        <p:xfrm>
          <a:off x="1757561" y="5424676"/>
          <a:ext cx="2238375" cy="541337"/>
        </p:xfrm>
        <a:graphic>
          <a:graphicData uri="http://schemas.openxmlformats.org/presentationml/2006/ole">
            <mc:AlternateContent xmlns:mc="http://schemas.openxmlformats.org/markup-compatibility/2006">
              <mc:Choice xmlns:v="urn:schemas-microsoft-com:vml" Requires="v">
                <p:oleObj spid="_x0000_s766501" name="Equation" r:id="rId13" imgW="2057400" imgH="495000" progId="Equation.DSMT4">
                  <p:embed/>
                </p:oleObj>
              </mc:Choice>
              <mc:Fallback>
                <p:oleObj name="Equation" r:id="rId13" imgW="2057400" imgH="495000" progId="Equation.DSMT4">
                  <p:embed/>
                  <p:pic>
                    <p:nvPicPr>
                      <p:cNvPr id="0"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57561" y="5424676"/>
                        <a:ext cx="2238375"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75846" name="Picture 6"/>
          <p:cNvPicPr>
            <a:picLocks noChangeAspect="1" noChangeArrowheads="1"/>
          </p:cNvPicPr>
          <p:nvPr/>
        </p:nvPicPr>
        <p:blipFill>
          <a:blip r:embed="rId15" cstate="print"/>
          <a:srcRect/>
          <a:stretch>
            <a:fillRect/>
          </a:stretch>
        </p:blipFill>
        <p:spPr bwMode="auto">
          <a:xfrm>
            <a:off x="4932040" y="5157192"/>
            <a:ext cx="2833688" cy="628650"/>
          </a:xfrm>
          <a:prstGeom prst="rect">
            <a:avLst/>
          </a:prstGeom>
          <a:noFill/>
          <a:ln w="9525">
            <a:noFill/>
            <a:miter lim="800000"/>
            <a:headEnd/>
            <a:tailEnd/>
          </a:ln>
        </p:spPr>
      </p:pic>
      <p:graphicFrame>
        <p:nvGraphicFramePr>
          <p:cNvPr id="676870" name="Object 4"/>
          <p:cNvGraphicFramePr>
            <a:graphicFrameLocks noChangeAspect="1"/>
          </p:cNvGraphicFramePr>
          <p:nvPr/>
        </p:nvGraphicFramePr>
        <p:xfrm>
          <a:off x="1769243" y="4560490"/>
          <a:ext cx="2278063" cy="539750"/>
        </p:xfrm>
        <a:graphic>
          <a:graphicData uri="http://schemas.openxmlformats.org/presentationml/2006/ole">
            <mc:AlternateContent xmlns:mc="http://schemas.openxmlformats.org/markup-compatibility/2006">
              <mc:Choice xmlns:v="urn:schemas-microsoft-com:vml" Requires="v">
                <p:oleObj spid="_x0000_s766502" name="Equation" r:id="rId16" imgW="2095200" imgH="495000" progId="Equation.DSMT4">
                  <p:embed/>
                </p:oleObj>
              </mc:Choice>
              <mc:Fallback>
                <p:oleObj name="Equation" r:id="rId16" imgW="2095200" imgH="495000" progId="Equation.DSMT4">
                  <p:embed/>
                  <p:pic>
                    <p:nvPicPr>
                      <p:cNvPr id="0" name="Picture 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9243" y="4560490"/>
                        <a:ext cx="2278063"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7895" name="Object 6"/>
          <p:cNvGraphicFramePr>
            <a:graphicFrameLocks noChangeAspect="1"/>
          </p:cNvGraphicFramePr>
          <p:nvPr/>
        </p:nvGraphicFramePr>
        <p:xfrm>
          <a:off x="1763688" y="6220544"/>
          <a:ext cx="857250" cy="304800"/>
        </p:xfrm>
        <a:graphic>
          <a:graphicData uri="http://schemas.openxmlformats.org/presentationml/2006/ole">
            <mc:AlternateContent xmlns:mc="http://schemas.openxmlformats.org/markup-compatibility/2006">
              <mc:Choice xmlns:v="urn:schemas-microsoft-com:vml" Requires="v">
                <p:oleObj spid="_x0000_s766503" name="Equation" r:id="rId18" imgW="787320" imgH="279360" progId="Equation.DSMT4">
                  <p:embed/>
                </p:oleObj>
              </mc:Choice>
              <mc:Fallback>
                <p:oleObj name="Equation" r:id="rId18" imgW="787320" imgH="279360" progId="Equation.DSMT4">
                  <p:embed/>
                  <p:pic>
                    <p:nvPicPr>
                      <p:cNvPr id="0" name="Object 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3688" y="6220544"/>
                        <a:ext cx="85725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77896" name="Object 8"/>
          <p:cNvGraphicFramePr>
            <a:graphicFrameLocks noChangeAspect="1"/>
          </p:cNvGraphicFramePr>
          <p:nvPr/>
        </p:nvGraphicFramePr>
        <p:xfrm>
          <a:off x="5508104" y="6056015"/>
          <a:ext cx="1481138" cy="541337"/>
        </p:xfrm>
        <a:graphic>
          <a:graphicData uri="http://schemas.openxmlformats.org/presentationml/2006/ole">
            <mc:AlternateContent xmlns:mc="http://schemas.openxmlformats.org/markup-compatibility/2006">
              <mc:Choice xmlns:v="urn:schemas-microsoft-com:vml" Requires="v">
                <p:oleObj spid="_x0000_s766504" name="Equation" r:id="rId20" imgW="1358640" imgH="495000" progId="Equation.DSMT4">
                  <p:embed/>
                </p:oleObj>
              </mc:Choice>
              <mc:Fallback>
                <p:oleObj name="Equation" r:id="rId20" imgW="1358640" imgH="495000" progId="Equation.DSMT4">
                  <p:embed/>
                  <p:pic>
                    <p:nvPicPr>
                      <p:cNvPr id="0" name="Picture 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508104" y="6056015"/>
                        <a:ext cx="1481138" cy="5413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a:xfrm>
            <a:off x="468313" y="1268413"/>
            <a:ext cx="4175695" cy="5040312"/>
          </a:xfrm>
        </p:spPr>
        <p:txBody>
          <a:bodyPr/>
          <a:lstStyle/>
          <a:p>
            <a:r>
              <a:rPr lang="zh-CN" altLang="en-US" dirty="0"/>
              <a:t>三、温度应力的计算</a:t>
            </a:r>
            <a:endParaRPr lang="en-US" altLang="zh-CN" dirty="0"/>
          </a:p>
          <a:p>
            <a:pPr lvl="1"/>
            <a:r>
              <a:rPr lang="zh-CN" altLang="en-US" dirty="0"/>
              <a:t>例：如图所示刚架，浇筑混凝土时温度为</a:t>
            </a:r>
            <a:r>
              <a:rPr lang="en-US" altLang="zh-CN" dirty="0"/>
              <a:t>15°C</a:t>
            </a:r>
            <a:r>
              <a:rPr lang="zh-CN" altLang="en-US" dirty="0"/>
              <a:t>，冬季混凝土外皮温度为</a:t>
            </a:r>
            <a:r>
              <a:rPr lang="en-US" altLang="zh-CN" dirty="0"/>
              <a:t>-35°C</a:t>
            </a:r>
            <a:r>
              <a:rPr lang="zh-CN" altLang="en-US" dirty="0"/>
              <a:t>，内皮温度为</a:t>
            </a:r>
            <a:r>
              <a:rPr lang="en-US" altLang="zh-CN" dirty="0"/>
              <a:t>15°C</a:t>
            </a:r>
            <a:r>
              <a:rPr lang="zh-CN" altLang="en-US" dirty="0"/>
              <a:t>。试求由于温度变化在刚架中引起的内力。各杆</a:t>
            </a:r>
            <a:r>
              <a:rPr lang="en-US" altLang="zh-CN" i="1" dirty="0"/>
              <a:t>EI</a:t>
            </a:r>
            <a:r>
              <a:rPr lang="zh-CN" altLang="en-US" dirty="0"/>
              <a:t>为常数，截面尺寸如图所示。</a:t>
            </a:r>
            <a:endParaRPr lang="en-US" altLang="zh-CN" dirty="0"/>
          </a:p>
          <a:p>
            <a:pPr lvl="1"/>
            <a:endParaRPr lang="en-US" altLang="zh-CN" dirty="0"/>
          </a:p>
          <a:p>
            <a:pPr lvl="1">
              <a:buNone/>
            </a:pPr>
            <a:r>
              <a:rPr lang="en-US" altLang="zh-CN" dirty="0"/>
              <a:t>		</a:t>
            </a:r>
          </a:p>
          <a:p>
            <a:pPr lvl="1"/>
            <a:endParaRPr lang="zh-CN" altLang="en-US" dirty="0">
              <a:solidFill>
                <a:srgbClr val="FF0000"/>
              </a:solidFill>
            </a:endParaRPr>
          </a:p>
        </p:txBody>
      </p:sp>
      <p:pic>
        <p:nvPicPr>
          <p:cNvPr id="699394" name="Picture 2"/>
          <p:cNvPicPr>
            <a:picLocks noChangeAspect="1" noChangeArrowheads="1"/>
          </p:cNvPicPr>
          <p:nvPr/>
        </p:nvPicPr>
        <p:blipFill>
          <a:blip r:embed="rId2" cstate="print"/>
          <a:srcRect/>
          <a:stretch>
            <a:fillRect/>
          </a:stretch>
        </p:blipFill>
        <p:spPr bwMode="auto">
          <a:xfrm>
            <a:off x="4612292" y="1484784"/>
            <a:ext cx="4236291" cy="3600400"/>
          </a:xfrm>
          <a:prstGeom prst="rect">
            <a:avLst/>
          </a:prstGeom>
          <a:noFill/>
          <a:ln w="9525">
            <a:noFill/>
            <a:miter lim="800000"/>
            <a:headEnd/>
            <a:tailEnd/>
          </a:ln>
        </p:spPr>
      </p:pic>
      <p:sp>
        <p:nvSpPr>
          <p:cNvPr id="7" name="TextBox 6"/>
          <p:cNvSpPr txBox="1"/>
          <p:nvPr/>
        </p:nvSpPr>
        <p:spPr>
          <a:xfrm>
            <a:off x="5129325" y="5373216"/>
            <a:ext cx="3187091" cy="1089529"/>
          </a:xfrm>
          <a:prstGeom prst="rect">
            <a:avLst/>
          </a:prstGeom>
          <a:noFill/>
        </p:spPr>
        <p:txBody>
          <a:bodyPr wrap="none" rtlCol="0">
            <a:spAutoFit/>
          </a:bodyPr>
          <a:lstStyle/>
          <a:p>
            <a:pPr marL="0" lvl="1" fontAlgn="base">
              <a:lnSpc>
                <a:spcPct val="120000"/>
              </a:lnSpc>
              <a:spcBef>
                <a:spcPct val="20000"/>
              </a:spcBef>
              <a:spcAft>
                <a:spcPct val="0"/>
              </a:spcAft>
              <a:buClr>
                <a:srgbClr val="B2B2B2"/>
              </a:buClr>
            </a:pPr>
            <a:r>
              <a:rPr lang="zh-CN" altLang="en-US" b="1" kern="0">
                <a:solidFill>
                  <a:srgbClr val="000000"/>
                </a:solidFill>
              </a:rPr>
              <a:t>弹性模量：  </a:t>
            </a:r>
            <a:r>
              <a:rPr lang="en-US" altLang="zh-CN" b="1" kern="0">
                <a:solidFill>
                  <a:srgbClr val="000000"/>
                </a:solidFill>
              </a:rPr>
              <a:t>EI=2 ×10</a:t>
            </a:r>
            <a:r>
              <a:rPr lang="en-US" altLang="zh-CN" b="1" kern="0" baseline="30000">
                <a:solidFill>
                  <a:srgbClr val="000000"/>
                </a:solidFill>
              </a:rPr>
              <a:t>10 </a:t>
            </a:r>
            <a:r>
              <a:rPr lang="en-US" altLang="zh-CN" b="1" kern="0">
                <a:solidFill>
                  <a:srgbClr val="000000"/>
                </a:solidFill>
              </a:rPr>
              <a:t>MPa</a:t>
            </a:r>
          </a:p>
          <a:p>
            <a:pPr marL="0" lvl="1" fontAlgn="base">
              <a:lnSpc>
                <a:spcPct val="120000"/>
              </a:lnSpc>
              <a:spcBef>
                <a:spcPct val="20000"/>
              </a:spcBef>
              <a:spcAft>
                <a:spcPct val="0"/>
              </a:spcAft>
              <a:buClr>
                <a:srgbClr val="B2B2B2"/>
              </a:buClr>
            </a:pPr>
            <a:r>
              <a:rPr lang="zh-CN" altLang="en-US" b="1" kern="0">
                <a:solidFill>
                  <a:srgbClr val="000000"/>
                </a:solidFill>
              </a:rPr>
              <a:t>温度膨胀系数：</a:t>
            </a:r>
            <a:r>
              <a:rPr lang="el-GR" altLang="zh-CN" b="1" kern="0">
                <a:solidFill>
                  <a:srgbClr val="000000"/>
                </a:solidFill>
              </a:rPr>
              <a:t>α</a:t>
            </a:r>
            <a:r>
              <a:rPr lang="en-US" altLang="zh-CN" b="1" kern="0">
                <a:solidFill>
                  <a:srgbClr val="000000"/>
                </a:solidFill>
              </a:rPr>
              <a:t>=0.000 01</a:t>
            </a:r>
          </a:p>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solidFill>
                  <a:srgbClr val="FF0000"/>
                </a:solidFill>
              </a:rPr>
              <a:t>选取基本体系</a:t>
            </a:r>
            <a:endParaRPr lang="en-US" altLang="zh-CN">
              <a:solidFill>
                <a:srgbClr val="FF0000"/>
              </a:solidFill>
            </a:endParaRPr>
          </a:p>
          <a:p>
            <a:pPr lvl="2"/>
            <a:r>
              <a:rPr lang="zh-CN" altLang="en-US">
                <a:solidFill>
                  <a:srgbClr val="FF0000"/>
                </a:solidFill>
              </a:rPr>
              <a:t>力法方程</a:t>
            </a:r>
            <a:endParaRPr lang="en-US" altLang="zh-CN">
              <a:solidFill>
                <a:srgbClr val="FF0000"/>
              </a:solidFill>
            </a:endParaRPr>
          </a:p>
          <a:p>
            <a:pPr lvl="2">
              <a:buNone/>
            </a:pPr>
            <a:endParaRPr lang="en-US" altLang="zh-CN">
              <a:solidFill>
                <a:srgbClr val="FF0000"/>
              </a:solidFill>
            </a:endParaRPr>
          </a:p>
          <a:p>
            <a:pPr lvl="2">
              <a:buNone/>
            </a:pPr>
            <a:r>
              <a:rPr lang="en-US" altLang="zh-CN" sz="1600">
                <a:solidFill>
                  <a:srgbClr val="0070C0"/>
                </a:solidFill>
              </a:rPr>
              <a:t>	</a:t>
            </a:r>
            <a:r>
              <a:rPr lang="zh-CN" altLang="en-US" sz="1600">
                <a:solidFill>
                  <a:srgbClr val="0070C0"/>
                </a:solidFill>
              </a:rPr>
              <a:t>温度变化引起的沿</a:t>
            </a:r>
            <a:r>
              <a:rPr lang="en-US" altLang="zh-CN" sz="1600" i="1">
                <a:solidFill>
                  <a:srgbClr val="0070C0"/>
                </a:solidFill>
              </a:rPr>
              <a:t>X</a:t>
            </a:r>
            <a:r>
              <a:rPr lang="en-US" altLang="zh-CN" sz="1600" baseline="-25000">
                <a:solidFill>
                  <a:srgbClr val="0070C0"/>
                </a:solidFill>
              </a:rPr>
              <a:t>1</a:t>
            </a:r>
            <a:r>
              <a:rPr lang="zh-CN" altLang="en-US" sz="1600">
                <a:solidFill>
                  <a:srgbClr val="0070C0"/>
                </a:solidFill>
              </a:rPr>
              <a:t>方向的位移</a:t>
            </a:r>
            <a:endParaRPr lang="en-US" altLang="zh-CN" sz="1600">
              <a:solidFill>
                <a:srgbClr val="0070C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73238" y="3429000"/>
          <a:ext cx="1936750" cy="277813"/>
        </p:xfrm>
        <a:graphic>
          <a:graphicData uri="http://schemas.openxmlformats.org/presentationml/2006/ole">
            <mc:AlternateContent xmlns:mc="http://schemas.openxmlformats.org/markup-compatibility/2006">
              <mc:Choice xmlns:v="urn:schemas-microsoft-com:vml" Requires="v">
                <p:oleObj spid="_x0000_s692450" name="Equation" r:id="rId3" imgW="1777680" imgH="253800" progId="Equation.DSMT4">
                  <p:embed/>
                </p:oleObj>
              </mc:Choice>
              <mc:Fallback>
                <p:oleObj name="Equation" r:id="rId3" imgW="1777680" imgH="2538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3238" y="3429000"/>
                        <a:ext cx="1936750" cy="277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椭圆 18"/>
          <p:cNvSpPr/>
          <p:nvPr/>
        </p:nvSpPr>
        <p:spPr bwMode="auto">
          <a:xfrm>
            <a:off x="2699702" y="3429000"/>
            <a:ext cx="288032" cy="288032"/>
          </a:xfrm>
          <a:prstGeom prst="ellipse">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20" name="直接连接符 19"/>
          <p:cNvCxnSpPr/>
          <p:nvPr/>
        </p:nvCxnSpPr>
        <p:spPr bwMode="auto">
          <a:xfrm flipV="1">
            <a:off x="2555776" y="3645024"/>
            <a:ext cx="108012" cy="190763"/>
          </a:xfrm>
          <a:prstGeom prst="line">
            <a:avLst/>
          </a:prstGeom>
          <a:solidFill>
            <a:schemeClr val="accent1"/>
          </a:solidFill>
          <a:ln w="19050" cap="flat" cmpd="sng" algn="ctr">
            <a:solidFill>
              <a:srgbClr val="0070C0"/>
            </a:solidFill>
            <a:prstDash val="solid"/>
            <a:round/>
            <a:headEnd type="none" w="med" len="med"/>
            <a:tailEnd type="none" w="med" len="med"/>
          </a:ln>
          <a:effectLst/>
        </p:spPr>
      </p:cxnSp>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solidFill>
                  <a:srgbClr val="FF0000"/>
                </a:solidFill>
              </a:rPr>
              <a:t>作弯矩图、轴力图</a:t>
            </a:r>
            <a:endParaRPr lang="en-US" altLang="zh-CN">
              <a:solidFill>
                <a:srgbClr val="FF0000"/>
              </a:solidFill>
            </a:endParaRPr>
          </a:p>
          <a:p>
            <a:pPr lvl="3">
              <a:buNone/>
            </a:pPr>
            <a:r>
              <a:rPr lang="zh-CN" altLang="en-US">
                <a:solidFill>
                  <a:srgbClr val="FF0000"/>
                </a:solidFill>
              </a:rPr>
              <a:t>为什么这时要考虑轴力？</a:t>
            </a:r>
            <a:endParaRPr lang="en-US" altLang="zh-CN">
              <a:solidFill>
                <a:srgbClr val="FF0000"/>
              </a:solidFill>
            </a:endParaRPr>
          </a:p>
          <a:p>
            <a:pPr lvl="2">
              <a:buNone/>
            </a:pPr>
            <a:endParaRPr lang="en-US" altLang="zh-CN" sz="1600">
              <a:solidFill>
                <a:srgbClr val="0070C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702116"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645694"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22069" y="5661248"/>
          <a:ext cx="346075" cy="311150"/>
        </p:xfrm>
        <a:graphic>
          <a:graphicData uri="http://schemas.openxmlformats.org/presentationml/2006/ole">
            <mc:AlternateContent xmlns:mc="http://schemas.openxmlformats.org/markup-compatibility/2006">
              <mc:Choice xmlns:v="urn:schemas-microsoft-com:vml" Requires="v">
                <p:oleObj spid="_x0000_s702117"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22069"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702118" name="Equation" r:id="rId11" imgW="304560" imgH="241200" progId="Equation.DSMT4">
                  <p:embed/>
                </p:oleObj>
              </mc:Choice>
              <mc:Fallback>
                <p:oleObj name="Equation" r:id="rId11" imgW="304560" imgH="24120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solidFill>
                  <a:srgbClr val="FF0000"/>
                </a:solidFill>
              </a:rPr>
              <a:t>作弯矩图、轴力图</a:t>
            </a:r>
            <a:endParaRPr lang="en-US" altLang="zh-CN">
              <a:solidFill>
                <a:srgbClr val="FF0000"/>
              </a:solidFill>
            </a:endParaRPr>
          </a:p>
          <a:p>
            <a:pPr lvl="3">
              <a:buNone/>
            </a:pPr>
            <a:r>
              <a:rPr lang="zh-CN" altLang="en-US">
                <a:solidFill>
                  <a:srgbClr val="FF0000"/>
                </a:solidFill>
              </a:rPr>
              <a:t>为什么这时要考虑轴力？</a:t>
            </a:r>
            <a:endParaRPr lang="en-US" altLang="zh-CN">
              <a:solidFill>
                <a:srgbClr val="FF0000"/>
              </a:solidFill>
            </a:endParaRPr>
          </a:p>
          <a:p>
            <a:pPr lvl="3">
              <a:buNone/>
            </a:pPr>
            <a:r>
              <a:rPr lang="zh-CN" altLang="en-US">
                <a:solidFill>
                  <a:srgbClr val="0070C0"/>
                </a:solidFill>
              </a:rPr>
              <a:t>排架受力</a:t>
            </a:r>
            <a:endParaRPr lang="en-US" altLang="zh-CN">
              <a:solidFill>
                <a:srgbClr val="0070C0"/>
              </a:solidFill>
            </a:endParaRPr>
          </a:p>
          <a:p>
            <a:endParaRPr lang="en-US" altLang="zh-CN">
              <a:solidFill>
                <a:srgbClr val="0070C0"/>
              </a:solidFill>
            </a:endParaRPr>
          </a:p>
          <a:p>
            <a:pPr lvl="3"/>
            <a:r>
              <a:rPr lang="zh-CN" altLang="en-US">
                <a:solidFill>
                  <a:srgbClr val="0070C0"/>
                </a:solidFill>
              </a:rPr>
              <a:t>弯矩往往为主要受力方式</a:t>
            </a:r>
            <a:endParaRPr lang="en-US" altLang="zh-CN">
              <a:solidFill>
                <a:srgbClr val="0070C0"/>
              </a:solidFill>
            </a:endParaRPr>
          </a:p>
          <a:p>
            <a:pPr lvl="3"/>
            <a:r>
              <a:rPr lang="en-US" altLang="zh-CN" i="1">
                <a:solidFill>
                  <a:srgbClr val="0070C0"/>
                </a:solidFill>
              </a:rPr>
              <a:t>EI</a:t>
            </a:r>
            <a:r>
              <a:rPr lang="en-US" altLang="zh-CN">
                <a:solidFill>
                  <a:srgbClr val="0070C0"/>
                </a:solidFill>
              </a:rPr>
              <a:t>《</a:t>
            </a:r>
            <a:r>
              <a:rPr lang="en-US" altLang="zh-CN" i="1">
                <a:solidFill>
                  <a:srgbClr val="0070C0"/>
                </a:solidFill>
              </a:rPr>
              <a:t>EA</a:t>
            </a:r>
            <a:endParaRPr lang="en-US" altLang="zh-CN">
              <a:solidFill>
                <a:srgbClr val="FF0000"/>
              </a:solidFill>
            </a:endParaRPr>
          </a:p>
          <a:p>
            <a:pPr lvl="2">
              <a:buNone/>
            </a:pPr>
            <a:endParaRPr lang="en-US" altLang="zh-CN" sz="1600">
              <a:solidFill>
                <a:srgbClr val="0070C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703364"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717702"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5661248"/>
          <a:ext cx="346075" cy="311150"/>
        </p:xfrm>
        <a:graphic>
          <a:graphicData uri="http://schemas.openxmlformats.org/presentationml/2006/ole">
            <mc:AlternateContent xmlns:mc="http://schemas.openxmlformats.org/markup-compatibility/2006">
              <mc:Choice xmlns:v="urn:schemas-microsoft-com:vml" Requires="v">
                <p:oleObj spid="_x0000_s703365"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4077"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703366" name="Equation" r:id="rId11" imgW="304560" imgH="241200" progId="Equation.DSMT4">
                  <p:embed/>
                </p:oleObj>
              </mc:Choice>
              <mc:Fallback>
                <p:oleObj name="Equation" r:id="rId11" imgW="30456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71" name="Object 7"/>
          <p:cNvGraphicFramePr>
            <a:graphicFrameLocks noChangeAspect="1"/>
          </p:cNvGraphicFramePr>
          <p:nvPr/>
        </p:nvGraphicFramePr>
        <p:xfrm>
          <a:off x="1751013" y="4868863"/>
          <a:ext cx="2740025" cy="485775"/>
        </p:xfrm>
        <a:graphic>
          <a:graphicData uri="http://schemas.openxmlformats.org/presentationml/2006/ole">
            <mc:AlternateContent xmlns:mc="http://schemas.openxmlformats.org/markup-compatibility/2006">
              <mc:Choice xmlns:v="urn:schemas-microsoft-com:vml" Requires="v">
                <p:oleObj spid="_x0000_s703367" name="Equation" r:id="rId13" imgW="2514600" imgH="444240" progId="Equation.DSMT4">
                  <p:embed/>
                </p:oleObj>
              </mc:Choice>
              <mc:Fallback>
                <p:oleObj name="Equation" r:id="rId13" imgW="2514600" imgH="4442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51013" y="4868863"/>
                        <a:ext cx="27400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dirty="0"/>
              <a:t>三、温度应力的计算</a:t>
            </a:r>
            <a:endParaRPr lang="en-US" altLang="zh-CN" dirty="0"/>
          </a:p>
          <a:p>
            <a:pPr lvl="1"/>
            <a:r>
              <a:rPr lang="zh-CN" altLang="en-US" dirty="0"/>
              <a:t>例：求温度引起的自内力</a:t>
            </a:r>
            <a:endParaRPr lang="en-US" altLang="zh-CN" dirty="0"/>
          </a:p>
          <a:p>
            <a:pPr lvl="1">
              <a:buNone/>
            </a:pPr>
            <a:r>
              <a:rPr lang="en-US" altLang="zh-CN" dirty="0"/>
              <a:t>	</a:t>
            </a:r>
            <a:r>
              <a:rPr lang="zh-CN" altLang="en-US" dirty="0"/>
              <a:t>解法</a:t>
            </a:r>
            <a:r>
              <a:rPr lang="en-US" altLang="zh-CN" dirty="0"/>
              <a:t>1</a:t>
            </a:r>
          </a:p>
          <a:p>
            <a:pPr lvl="2"/>
            <a:r>
              <a:rPr lang="zh-CN" altLang="en-US" dirty="0"/>
              <a:t>选取基本体系</a:t>
            </a:r>
            <a:endParaRPr lang="en-US" altLang="zh-CN" dirty="0"/>
          </a:p>
          <a:p>
            <a:pPr lvl="2"/>
            <a:r>
              <a:rPr lang="zh-CN" altLang="en-US" dirty="0"/>
              <a:t>力法方程</a:t>
            </a:r>
            <a:endParaRPr lang="en-US" altLang="zh-CN" dirty="0"/>
          </a:p>
          <a:p>
            <a:pPr lvl="2"/>
            <a:endParaRPr lang="en-US" altLang="zh-CN" dirty="0"/>
          </a:p>
          <a:p>
            <a:pPr lvl="2"/>
            <a:r>
              <a:rPr lang="zh-CN" altLang="en-US" dirty="0">
                <a:solidFill>
                  <a:srgbClr val="FF0000"/>
                </a:solidFill>
              </a:rPr>
              <a:t>作弯矩图、轴力图</a:t>
            </a:r>
            <a:endParaRPr lang="en-US" altLang="zh-CN" dirty="0">
              <a:solidFill>
                <a:srgbClr val="FF0000"/>
              </a:solidFill>
            </a:endParaRPr>
          </a:p>
          <a:p>
            <a:pPr lvl="3">
              <a:buNone/>
            </a:pPr>
            <a:r>
              <a:rPr lang="zh-CN" altLang="en-US" dirty="0">
                <a:solidFill>
                  <a:srgbClr val="FF0000"/>
                </a:solidFill>
              </a:rPr>
              <a:t>为什么这时要考虑轴力？</a:t>
            </a:r>
            <a:endParaRPr lang="en-US" altLang="zh-CN" dirty="0">
              <a:solidFill>
                <a:srgbClr val="FF0000"/>
              </a:solidFill>
            </a:endParaRPr>
          </a:p>
          <a:p>
            <a:pPr lvl="3">
              <a:buNone/>
            </a:pPr>
            <a:r>
              <a:rPr lang="zh-CN" altLang="en-US" dirty="0">
                <a:solidFill>
                  <a:srgbClr val="0070C0"/>
                </a:solidFill>
              </a:rPr>
              <a:t>排架受力：轴力项可忽略</a:t>
            </a:r>
            <a:endParaRPr lang="en-US" altLang="zh-CN" sz="1600" dirty="0">
              <a:solidFill>
                <a:srgbClr val="0070C0"/>
              </a:solidFill>
            </a:endParaRPr>
          </a:p>
          <a:p>
            <a:pPr lvl="2"/>
            <a:endParaRPr lang="en-US" altLang="zh-CN" dirty="0">
              <a:solidFill>
                <a:srgbClr val="FF0000"/>
              </a:solidFill>
            </a:endParaRPr>
          </a:p>
          <a:p>
            <a:pPr lvl="1"/>
            <a:endParaRPr lang="en-US" altLang="zh-CN" dirty="0">
              <a:solidFill>
                <a:srgbClr val="FF0000"/>
              </a:solidFill>
            </a:endParaRPr>
          </a:p>
          <a:p>
            <a:pPr lvl="1"/>
            <a:endParaRPr lang="zh-CN" altLang="en-US" dirty="0">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705412"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717702"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5661248"/>
          <a:ext cx="346075" cy="311150"/>
        </p:xfrm>
        <a:graphic>
          <a:graphicData uri="http://schemas.openxmlformats.org/presentationml/2006/ole">
            <mc:AlternateContent xmlns:mc="http://schemas.openxmlformats.org/markup-compatibility/2006">
              <mc:Choice xmlns:v="urn:schemas-microsoft-com:vml" Requires="v">
                <p:oleObj spid="_x0000_s705413"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4077"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705414" name="Equation" r:id="rId11" imgW="304560" imgH="241200" progId="Equation.DSMT4">
                  <p:embed/>
                </p:oleObj>
              </mc:Choice>
              <mc:Fallback>
                <p:oleObj name="Equation" r:id="rId11" imgW="30456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椭圆 12"/>
          <p:cNvSpPr/>
          <p:nvPr/>
        </p:nvSpPr>
        <p:spPr bwMode="auto">
          <a:xfrm>
            <a:off x="3239852" y="4942977"/>
            <a:ext cx="936104" cy="504056"/>
          </a:xfrm>
          <a:prstGeom prst="ellipse">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15" name="直接连接符 14"/>
          <p:cNvCxnSpPr/>
          <p:nvPr/>
        </p:nvCxnSpPr>
        <p:spPr bwMode="auto">
          <a:xfrm flipH="1" flipV="1">
            <a:off x="3203848" y="4797153"/>
            <a:ext cx="504056" cy="145824"/>
          </a:xfrm>
          <a:prstGeom prst="line">
            <a:avLst/>
          </a:prstGeom>
          <a:solidFill>
            <a:schemeClr val="accent1"/>
          </a:solidFill>
          <a:ln w="19050" cap="flat" cmpd="sng" algn="ctr">
            <a:solidFill>
              <a:srgbClr val="0070C0"/>
            </a:solidFill>
            <a:prstDash val="solid"/>
            <a:round/>
            <a:headEnd type="none" w="med" len="med"/>
            <a:tailEnd type="none" w="med" len="med"/>
          </a:ln>
          <a:effectLst/>
        </p:spPr>
      </p:cxnSp>
      <p:graphicFrame>
        <p:nvGraphicFramePr>
          <p:cNvPr id="704519" name="Object 7"/>
          <p:cNvGraphicFramePr>
            <a:graphicFrameLocks noChangeAspect="1"/>
          </p:cNvGraphicFramePr>
          <p:nvPr>
            <p:extLst>
              <p:ext uri="{D42A27DB-BD31-4B8C-83A1-F6EECF244321}">
                <p14:modId xmlns:p14="http://schemas.microsoft.com/office/powerpoint/2010/main" val="2161527250"/>
              </p:ext>
            </p:extLst>
          </p:nvPr>
        </p:nvGraphicFramePr>
        <p:xfrm>
          <a:off x="1691680" y="4917583"/>
          <a:ext cx="2740025" cy="485775"/>
        </p:xfrm>
        <a:graphic>
          <a:graphicData uri="http://schemas.openxmlformats.org/presentationml/2006/ole">
            <mc:AlternateContent xmlns:mc="http://schemas.openxmlformats.org/markup-compatibility/2006">
              <mc:Choice xmlns:v="urn:schemas-microsoft-com:vml" Requires="v">
                <p:oleObj spid="_x0000_s705415" name="Equation" r:id="rId13" imgW="2514600" imgH="444240" progId="Equation.DSMT4">
                  <p:embed/>
                </p:oleObj>
              </mc:Choice>
              <mc:Fallback>
                <p:oleObj name="Equation" r:id="rId13" imgW="2514600" imgH="4442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91680" y="4917583"/>
                        <a:ext cx="27400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solidFill>
                  <a:srgbClr val="FF0000"/>
                </a:solidFill>
              </a:rPr>
              <a:t>作弯矩图、轴力图</a:t>
            </a:r>
            <a:endParaRPr lang="en-US" altLang="zh-CN">
              <a:solidFill>
                <a:srgbClr val="FF0000"/>
              </a:solidFill>
            </a:endParaRPr>
          </a:p>
          <a:p>
            <a:pPr lvl="3">
              <a:buNone/>
            </a:pPr>
            <a:r>
              <a:rPr lang="zh-CN" altLang="en-US">
                <a:solidFill>
                  <a:srgbClr val="FF0000"/>
                </a:solidFill>
              </a:rPr>
              <a:t>为什么这时要考虑轴力？</a:t>
            </a:r>
            <a:endParaRPr lang="en-US" altLang="zh-CN">
              <a:solidFill>
                <a:srgbClr val="FF0000"/>
              </a:solidFill>
            </a:endParaRPr>
          </a:p>
          <a:p>
            <a:pPr lvl="3">
              <a:buNone/>
            </a:pPr>
            <a:r>
              <a:rPr lang="zh-CN" altLang="en-US">
                <a:solidFill>
                  <a:srgbClr val="0070C0"/>
                </a:solidFill>
              </a:rPr>
              <a:t>排架受力：轴力项可忽略</a:t>
            </a:r>
            <a:endParaRPr lang="en-US" altLang="zh-CN">
              <a:solidFill>
                <a:srgbClr val="0070C0"/>
              </a:solidFill>
            </a:endParaRPr>
          </a:p>
          <a:p>
            <a:endParaRPr lang="en-US" altLang="zh-CN" sz="2400">
              <a:solidFill>
                <a:srgbClr val="0070C0"/>
              </a:solidFill>
            </a:endParaRPr>
          </a:p>
          <a:p>
            <a:pPr lvl="3">
              <a:buNone/>
            </a:pPr>
            <a:r>
              <a:rPr lang="zh-CN" altLang="en-US" sz="1600">
                <a:solidFill>
                  <a:srgbClr val="0070C0"/>
                </a:solidFill>
              </a:rPr>
              <a:t>温度引起的自内力：相当</a:t>
            </a:r>
            <a:endParaRPr lang="en-US" altLang="zh-CN" sz="1600">
              <a:solidFill>
                <a:srgbClr val="0070C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824418"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717702"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5661248"/>
          <a:ext cx="346075" cy="311150"/>
        </p:xfrm>
        <a:graphic>
          <a:graphicData uri="http://schemas.openxmlformats.org/presentationml/2006/ole">
            <mc:AlternateContent xmlns:mc="http://schemas.openxmlformats.org/markup-compatibility/2006">
              <mc:Choice xmlns:v="urn:schemas-microsoft-com:vml" Requires="v">
                <p:oleObj spid="_x0000_s824419"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4077"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824420" name="Equation" r:id="rId11" imgW="304560" imgH="241200" progId="Equation.DSMT4">
                  <p:embed/>
                </p:oleObj>
              </mc:Choice>
              <mc:Fallback>
                <p:oleObj name="Equation" r:id="rId11" imgW="30456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2470" name="Object 7"/>
          <p:cNvGraphicFramePr>
            <a:graphicFrameLocks noChangeAspect="1"/>
          </p:cNvGraphicFramePr>
          <p:nvPr/>
        </p:nvGraphicFramePr>
        <p:xfrm>
          <a:off x="1751013" y="4868863"/>
          <a:ext cx="2740025" cy="485775"/>
        </p:xfrm>
        <a:graphic>
          <a:graphicData uri="http://schemas.openxmlformats.org/presentationml/2006/ole">
            <mc:AlternateContent xmlns:mc="http://schemas.openxmlformats.org/markup-compatibility/2006">
              <mc:Choice xmlns:v="urn:schemas-microsoft-com:vml" Requires="v">
                <p:oleObj spid="_x0000_s824421" name="Equation" r:id="rId13" imgW="2514600" imgH="444240" progId="Equation.DSMT4">
                  <p:embed/>
                </p:oleObj>
              </mc:Choice>
              <mc:Fallback>
                <p:oleObj name="Equation" r:id="rId13" imgW="2514600" imgH="444240" progId="Equation.DSMT4">
                  <p:embed/>
                  <p:pic>
                    <p:nvPicPr>
                      <p:cNvPr id="0"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51013" y="4868863"/>
                        <a:ext cx="2740025" cy="485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椭圆 12"/>
          <p:cNvSpPr/>
          <p:nvPr/>
        </p:nvSpPr>
        <p:spPr bwMode="auto">
          <a:xfrm>
            <a:off x="3419872" y="4869160"/>
            <a:ext cx="936104" cy="504056"/>
          </a:xfrm>
          <a:prstGeom prst="ellipse">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15" name="直接连接符 14"/>
          <p:cNvCxnSpPr>
            <a:stCxn id="13" idx="7"/>
          </p:cNvCxnSpPr>
          <p:nvPr/>
        </p:nvCxnSpPr>
        <p:spPr bwMode="auto">
          <a:xfrm flipH="1" flipV="1">
            <a:off x="3887924" y="4783162"/>
            <a:ext cx="330963" cy="159815"/>
          </a:xfrm>
          <a:prstGeom prst="line">
            <a:avLst/>
          </a:prstGeom>
          <a:solidFill>
            <a:schemeClr val="accent1"/>
          </a:solidFill>
          <a:ln w="19050" cap="flat" cmpd="sng" algn="ctr">
            <a:solidFill>
              <a:srgbClr val="0070C0"/>
            </a:solidFill>
            <a:prstDash val="solid"/>
            <a:round/>
            <a:headEnd type="none" w="med" len="med"/>
            <a:tailEnd type="none" w="med" len="med"/>
          </a:ln>
          <a:effectLst/>
        </p:spPr>
      </p:cxnSp>
      <p:graphicFrame>
        <p:nvGraphicFramePr>
          <p:cNvPr id="705542" name="Object 7"/>
          <p:cNvGraphicFramePr>
            <a:graphicFrameLocks noChangeAspect="1"/>
          </p:cNvGraphicFramePr>
          <p:nvPr/>
        </p:nvGraphicFramePr>
        <p:xfrm>
          <a:off x="1712228" y="5661248"/>
          <a:ext cx="2808288" cy="501650"/>
        </p:xfrm>
        <a:graphic>
          <a:graphicData uri="http://schemas.openxmlformats.org/presentationml/2006/ole">
            <mc:AlternateContent xmlns:mc="http://schemas.openxmlformats.org/markup-compatibility/2006">
              <mc:Choice xmlns:v="urn:schemas-microsoft-com:vml" Requires="v">
                <p:oleObj spid="_x0000_s824422" name="Equation" r:id="rId15" imgW="2577960" imgH="457200" progId="Equation.DSMT4">
                  <p:embed/>
                </p:oleObj>
              </mc:Choice>
              <mc:Fallback>
                <p:oleObj name="Equation" r:id="rId15" imgW="2577960" imgH="457200" progId="Equation.DSMT4">
                  <p:embed/>
                  <p:pic>
                    <p:nvPicPr>
                      <p:cNvPr id="0" name="Picture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12228" y="5661248"/>
                        <a:ext cx="2808288"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A38AB00-72DF-4F19-842D-968922B8B86E}"/>
                  </a:ext>
                </a:extLst>
              </p:cNvPr>
              <p:cNvSpPr txBox="1"/>
              <p:nvPr/>
            </p:nvSpPr>
            <p:spPr>
              <a:xfrm>
                <a:off x="1341105" y="6189676"/>
                <a:ext cx="7358040" cy="369332"/>
              </a:xfrm>
              <a:prstGeom prst="rect">
                <a:avLst/>
              </a:prstGeom>
              <a:noFill/>
            </p:spPr>
            <p:txBody>
              <a:bodyPr wrap="none" rtlCol="0">
                <a:spAutoFit/>
              </a:bodyPr>
              <a:lstStyle/>
              <a:p>
                <a14:m>
                  <m:oMath xmlns:m="http://schemas.openxmlformats.org/officeDocument/2006/math">
                    <m:r>
                      <a:rPr lang="zh-CN" altLang="en-US" i="1" smtClean="0">
                        <a:solidFill>
                          <a:srgbClr val="0000FF"/>
                        </a:solidFill>
                        <a:latin typeface="Cambria Math" panose="02040503050406030204" pitchFamily="18" charset="0"/>
                      </a:rPr>
                      <m:t>𝛼</m:t>
                    </m:r>
                  </m:oMath>
                </a14:m>
                <a:r>
                  <a:rPr lang="zh-CN" altLang="en-US" dirty="0">
                    <a:solidFill>
                      <a:srgbClr val="0000FF"/>
                    </a:solidFill>
                  </a:rPr>
                  <a:t>：线膨胀系数；</a:t>
                </a:r>
                <a14:m>
                  <m:oMath xmlns:m="http://schemas.openxmlformats.org/officeDocument/2006/math">
                    <m:r>
                      <a:rPr lang="en-US" altLang="zh-CN" b="0" i="1" smtClean="0">
                        <a:solidFill>
                          <a:srgbClr val="0000FF"/>
                        </a:solidFill>
                        <a:latin typeface="Cambria Math" panose="02040503050406030204" pitchFamily="18" charset="0"/>
                      </a:rPr>
                      <m:t>h</m:t>
                    </m:r>
                    <m:r>
                      <a:rPr lang="zh-CN" altLang="en-US" i="1">
                        <a:solidFill>
                          <a:srgbClr val="0000FF"/>
                        </a:solidFill>
                        <a:latin typeface="Cambria Math" panose="02040503050406030204" pitchFamily="18" charset="0"/>
                      </a:rPr>
                      <m:t>：</m:t>
                    </m:r>
                  </m:oMath>
                </a14:m>
                <a:r>
                  <a:rPr lang="zh-CN" altLang="en-US" dirty="0">
                    <a:solidFill>
                      <a:srgbClr val="0000FF"/>
                    </a:solidFill>
                  </a:rPr>
                  <a:t>横截面高度；</a:t>
                </a:r>
                <a14:m>
                  <m:oMath xmlns:m="http://schemas.openxmlformats.org/officeDocument/2006/math">
                    <m:r>
                      <a:rPr lang="zh-CN" altLang="en-US" i="1" smtClean="0">
                        <a:solidFill>
                          <a:srgbClr val="0000FF"/>
                        </a:solidFill>
                        <a:latin typeface="Cambria Math" panose="02040503050406030204" pitchFamily="18" charset="0"/>
                      </a:rPr>
                      <m:t>∆</m:t>
                    </m:r>
                    <m:r>
                      <m:rPr>
                        <m:sty m:val="p"/>
                      </m:rPr>
                      <a:rPr lang="en-US" altLang="zh-CN" i="1">
                        <a:solidFill>
                          <a:srgbClr val="0000FF"/>
                        </a:solidFill>
                        <a:latin typeface="Cambria Math" panose="02040503050406030204" pitchFamily="18" charset="0"/>
                      </a:rPr>
                      <m:t>t</m:t>
                    </m:r>
                  </m:oMath>
                </a14:m>
                <a:r>
                  <a:rPr lang="en-US" altLang="zh-CN" dirty="0">
                    <a:solidFill>
                      <a:srgbClr val="0000FF"/>
                    </a:solidFill>
                  </a:rPr>
                  <a:t>: </a:t>
                </a:r>
                <a:r>
                  <a:rPr lang="zh-CN" altLang="en-US" dirty="0">
                    <a:solidFill>
                      <a:srgbClr val="0000FF"/>
                    </a:solidFill>
                  </a:rPr>
                  <a:t>轴线平均温度变化；</a:t>
                </a:r>
                <a14:m>
                  <m:oMath xmlns:m="http://schemas.openxmlformats.org/officeDocument/2006/math">
                    <m:sSub>
                      <m:sSubPr>
                        <m:ctrlPr>
                          <a:rPr lang="en-US" altLang="zh-CN" i="1" smtClean="0">
                            <a:solidFill>
                              <a:srgbClr val="0000FF"/>
                            </a:solidFill>
                            <a:latin typeface="Cambria Math" panose="02040503050406030204" pitchFamily="18" charset="0"/>
                          </a:rPr>
                        </m:ctrlPr>
                      </m:sSubPr>
                      <m:e>
                        <m:r>
                          <m:rPr>
                            <m:sty m:val="p"/>
                          </m:rPr>
                          <a:rPr lang="en-US" altLang="zh-CN" i="1">
                            <a:solidFill>
                              <a:srgbClr val="0000FF"/>
                            </a:solidFill>
                            <a:latin typeface="Cambria Math" panose="02040503050406030204" pitchFamily="18" charset="0"/>
                          </a:rPr>
                          <m:t>t</m:t>
                        </m:r>
                      </m:e>
                      <m:sub>
                        <m:r>
                          <a:rPr lang="en-US" altLang="zh-CN" b="0" i="1" smtClean="0">
                            <a:solidFill>
                              <a:srgbClr val="0000FF"/>
                            </a:solidFill>
                            <a:latin typeface="Cambria Math" panose="02040503050406030204" pitchFamily="18" charset="0"/>
                          </a:rPr>
                          <m:t>0</m:t>
                        </m:r>
                      </m:sub>
                    </m:sSub>
                  </m:oMath>
                </a14:m>
                <a:r>
                  <a:rPr lang="en-US" altLang="zh-CN" dirty="0">
                    <a:solidFill>
                      <a:srgbClr val="0000FF"/>
                    </a:solidFill>
                  </a:rPr>
                  <a:t>: </a:t>
                </a:r>
                <a:r>
                  <a:rPr lang="zh-CN" altLang="en-US" dirty="0">
                    <a:solidFill>
                      <a:srgbClr val="0000FF"/>
                    </a:solidFill>
                  </a:rPr>
                  <a:t>内外温差</a:t>
                </a:r>
              </a:p>
            </p:txBody>
          </p:sp>
        </mc:Choice>
        <mc:Fallback xmlns="">
          <p:sp>
            <p:nvSpPr>
              <p:cNvPr id="4" name="文本框 3">
                <a:extLst>
                  <a:ext uri="{FF2B5EF4-FFF2-40B4-BE49-F238E27FC236}">
                    <a16:creationId xmlns:a16="http://schemas.microsoft.com/office/drawing/2014/main" id="{1A38AB00-72DF-4F19-842D-968922B8B86E}"/>
                  </a:ext>
                </a:extLst>
              </p:cNvPr>
              <p:cNvSpPr txBox="1">
                <a:spLocks noRot="1" noChangeAspect="1" noMove="1" noResize="1" noEditPoints="1" noAdjustHandles="1" noChangeArrowheads="1" noChangeShapeType="1" noTextEdit="1"/>
              </p:cNvSpPr>
              <p:nvPr/>
            </p:nvSpPr>
            <p:spPr>
              <a:xfrm>
                <a:off x="1341105" y="6189676"/>
                <a:ext cx="7358040" cy="369332"/>
              </a:xfrm>
              <a:prstGeom prst="rect">
                <a:avLst/>
              </a:prstGeom>
              <a:blipFill>
                <a:blip r:embed="rId17"/>
                <a:stretch>
                  <a:fillRect t="-8197" b="-24590"/>
                </a:stretch>
              </a:blipFill>
            </p:spPr>
            <p:txBody>
              <a:bodyPr/>
              <a:lstStyle/>
              <a:p>
                <a:r>
                  <a:rPr lang="zh-CN" altLang="en-US">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t>作弯矩图、轴力图</a:t>
            </a:r>
            <a:endParaRPr lang="en-US" altLang="zh-CN"/>
          </a:p>
          <a:p>
            <a:pPr lvl="2"/>
            <a:r>
              <a:rPr lang="zh-CN" altLang="en-US">
                <a:solidFill>
                  <a:srgbClr val="FF0000"/>
                </a:solidFill>
              </a:rPr>
              <a:t>确定系数</a:t>
            </a:r>
            <a:endParaRPr lang="en-US" altLang="zh-CN">
              <a:solidFill>
                <a:srgbClr val="FF000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825443"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717702"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5661248"/>
          <a:ext cx="346075" cy="311150"/>
        </p:xfrm>
        <a:graphic>
          <a:graphicData uri="http://schemas.openxmlformats.org/presentationml/2006/ole">
            <mc:AlternateContent xmlns:mc="http://schemas.openxmlformats.org/markup-compatibility/2006">
              <mc:Choice xmlns:v="urn:schemas-microsoft-com:vml" Requires="v">
                <p:oleObj spid="_x0000_s825444"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4077"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825445" name="Equation" r:id="rId11" imgW="304560" imgH="241200" progId="Equation.DSMT4">
                  <p:embed/>
                </p:oleObj>
              </mc:Choice>
              <mc:Fallback>
                <p:oleObj name="Equation" r:id="rId11" imgW="30456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5542" name="Object 7"/>
          <p:cNvGraphicFramePr>
            <a:graphicFrameLocks noChangeAspect="1"/>
          </p:cNvGraphicFramePr>
          <p:nvPr>
            <p:extLst>
              <p:ext uri="{D42A27DB-BD31-4B8C-83A1-F6EECF244321}">
                <p14:modId xmlns:p14="http://schemas.microsoft.com/office/powerpoint/2010/main" val="786756515"/>
              </p:ext>
            </p:extLst>
          </p:nvPr>
        </p:nvGraphicFramePr>
        <p:xfrm>
          <a:off x="1721234" y="6097289"/>
          <a:ext cx="5349875" cy="500063"/>
        </p:xfrm>
        <a:graphic>
          <a:graphicData uri="http://schemas.openxmlformats.org/presentationml/2006/ole">
            <mc:AlternateContent xmlns:mc="http://schemas.openxmlformats.org/markup-compatibility/2006">
              <mc:Choice xmlns:v="urn:schemas-microsoft-com:vml" Requires="v">
                <p:oleObj spid="_x0000_s825446" name="Equation" r:id="rId13" imgW="4914720" imgH="457200" progId="Equation.DSMT4">
                  <p:embed/>
                </p:oleObj>
              </mc:Choice>
              <mc:Fallback>
                <p:oleObj name="Equation" r:id="rId13" imgW="4914720" imgH="457200" progId="Equation.DSMT4">
                  <p:embed/>
                  <p:pic>
                    <p:nvPicPr>
                      <p:cNvPr id="0" name="Picture 6"/>
                      <p:cNvPicPr>
                        <a:picLocks noChangeAspect="1" noChangeArrowheads="1"/>
                      </p:cNvPicPr>
                      <p:nvPr/>
                    </p:nvPicPr>
                    <p:blipFill>
                      <a:blip r:embed="rId14"/>
                      <a:srcRect/>
                      <a:stretch>
                        <a:fillRect/>
                      </a:stretch>
                    </p:blipFill>
                    <p:spPr bwMode="auto">
                      <a:xfrm>
                        <a:off x="1721234" y="6097289"/>
                        <a:ext cx="534987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567" name="Object 7"/>
          <p:cNvGraphicFramePr>
            <a:graphicFrameLocks noChangeAspect="1"/>
          </p:cNvGraphicFramePr>
          <p:nvPr/>
        </p:nvGraphicFramePr>
        <p:xfrm>
          <a:off x="1722437" y="4555009"/>
          <a:ext cx="2849563" cy="1538287"/>
        </p:xfrm>
        <a:graphic>
          <a:graphicData uri="http://schemas.openxmlformats.org/presentationml/2006/ole">
            <mc:AlternateContent xmlns:mc="http://schemas.openxmlformats.org/markup-compatibility/2006">
              <mc:Choice xmlns:v="urn:schemas-microsoft-com:vml" Requires="v">
                <p:oleObj spid="_x0000_s825447" name="Equation" r:id="rId15" imgW="2717640" imgH="1460160" progId="Equation.DSMT4">
                  <p:embed/>
                </p:oleObj>
              </mc:Choice>
              <mc:Fallback>
                <p:oleObj name="Equation" r:id="rId15" imgW="2717640" imgH="1460160" progId="Equation.DSMT4">
                  <p:embed/>
                  <p:pic>
                    <p:nvPicPr>
                      <p:cNvPr id="0"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22437" y="4555009"/>
                        <a:ext cx="2849563" cy="1538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a:extLst>
              <a:ext uri="{FF2B5EF4-FFF2-40B4-BE49-F238E27FC236}">
                <a16:creationId xmlns:a16="http://schemas.microsoft.com/office/drawing/2014/main" id="{E4C2EE26-1BD5-4B9C-929E-C4D0EE70303A}"/>
              </a:ext>
            </a:extLst>
          </p:cNvPr>
          <p:cNvSpPr/>
          <p:nvPr/>
        </p:nvSpPr>
        <p:spPr bwMode="auto">
          <a:xfrm>
            <a:off x="5292080" y="6071858"/>
            <a:ext cx="534044" cy="529691"/>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dirty="0">
              <a:ln>
                <a:noFill/>
              </a:ln>
              <a:solidFill>
                <a:schemeClr val="tx1"/>
              </a:solidFill>
              <a:effectLst/>
              <a:latin typeface="Arial" pitchFamily="34" charset="0"/>
              <a:ea typeface="华文细黑" pitchFamily="2" charset="-122"/>
            </a:endParaRPr>
          </a:p>
        </p:txBody>
      </p:sp>
      <p:sp>
        <p:nvSpPr>
          <p:cNvPr id="15" name="矩形 14">
            <a:extLst>
              <a:ext uri="{FF2B5EF4-FFF2-40B4-BE49-F238E27FC236}">
                <a16:creationId xmlns:a16="http://schemas.microsoft.com/office/drawing/2014/main" id="{F422DBF5-42F8-48A0-8005-7F3E19BA5642}"/>
              </a:ext>
            </a:extLst>
          </p:cNvPr>
          <p:cNvSpPr/>
          <p:nvPr/>
        </p:nvSpPr>
        <p:spPr bwMode="auto">
          <a:xfrm>
            <a:off x="6464229" y="6082474"/>
            <a:ext cx="606880" cy="529691"/>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dirty="0">
              <a:ln>
                <a:noFill/>
              </a:ln>
              <a:solidFill>
                <a:schemeClr val="tx1"/>
              </a:solidFill>
              <a:effectLst/>
              <a:latin typeface="Arial" pitchFamily="34" charset="0"/>
              <a:ea typeface="华文细黑" pitchFamily="2" charset="-122"/>
            </a:endParaRPr>
          </a:p>
        </p:txBody>
      </p:sp>
      <p:cxnSp>
        <p:nvCxnSpPr>
          <p:cNvPr id="6" name="直接箭头连接符 5">
            <a:extLst>
              <a:ext uri="{FF2B5EF4-FFF2-40B4-BE49-F238E27FC236}">
                <a16:creationId xmlns:a16="http://schemas.microsoft.com/office/drawing/2014/main" id="{CFC65FBE-A3DB-4435-8F1B-5D925F1966B0}"/>
              </a:ext>
            </a:extLst>
          </p:cNvPr>
          <p:cNvCxnSpPr/>
          <p:nvPr/>
        </p:nvCxnSpPr>
        <p:spPr bwMode="auto">
          <a:xfrm>
            <a:off x="7164288" y="6308725"/>
            <a:ext cx="288032" cy="0"/>
          </a:xfrm>
          <a:prstGeom prst="straightConnector1">
            <a:avLst/>
          </a:prstGeom>
          <a:solidFill>
            <a:schemeClr val="accent1"/>
          </a:solidFill>
          <a:ln w="9525" cap="flat" cmpd="sng" algn="ctr">
            <a:solidFill>
              <a:srgbClr val="FF0000"/>
            </a:solidFill>
            <a:prstDash val="solid"/>
            <a:round/>
            <a:headEnd type="none" w="med" len="med"/>
            <a:tailEnd type="triangle"/>
          </a:ln>
          <a:effectLst/>
        </p:spPr>
      </p:cxnSp>
      <p:sp>
        <p:nvSpPr>
          <p:cNvPr id="7" name="文本框 6">
            <a:extLst>
              <a:ext uri="{FF2B5EF4-FFF2-40B4-BE49-F238E27FC236}">
                <a16:creationId xmlns:a16="http://schemas.microsoft.com/office/drawing/2014/main" id="{2CCB7DCA-3FBF-485F-8EB8-318DD9BC3C9D}"/>
              </a:ext>
            </a:extLst>
          </p:cNvPr>
          <p:cNvSpPr txBox="1"/>
          <p:nvPr/>
        </p:nvSpPr>
        <p:spPr>
          <a:xfrm>
            <a:off x="7456275" y="6107557"/>
            <a:ext cx="877163" cy="369332"/>
          </a:xfrm>
          <a:prstGeom prst="rect">
            <a:avLst/>
          </a:prstGeom>
          <a:noFill/>
        </p:spPr>
        <p:txBody>
          <a:bodyPr wrap="none" rtlCol="0">
            <a:spAutoFit/>
          </a:bodyPr>
          <a:lstStyle/>
          <a:p>
            <a:r>
              <a:rPr lang="zh-CN" altLang="en-US" dirty="0">
                <a:solidFill>
                  <a:srgbClr val="FF0000"/>
                </a:solidFill>
              </a:rPr>
              <a:t>求面积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t>作弯矩图、轴力图</a:t>
            </a:r>
            <a:endParaRPr lang="en-US" altLang="zh-CN"/>
          </a:p>
          <a:p>
            <a:pPr lvl="2"/>
            <a:r>
              <a:rPr lang="zh-CN" altLang="en-US">
                <a:solidFill>
                  <a:srgbClr val="FF0000"/>
                </a:solidFill>
              </a:rPr>
              <a:t>确定系数</a:t>
            </a:r>
            <a:endParaRPr lang="en-US" altLang="zh-CN">
              <a:solidFill>
                <a:srgbClr val="FF000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826467"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717702"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5661248"/>
          <a:ext cx="346075" cy="311150"/>
        </p:xfrm>
        <a:graphic>
          <a:graphicData uri="http://schemas.openxmlformats.org/presentationml/2006/ole">
            <mc:AlternateContent xmlns:mc="http://schemas.openxmlformats.org/markup-compatibility/2006">
              <mc:Choice xmlns:v="urn:schemas-microsoft-com:vml" Requires="v">
                <p:oleObj spid="_x0000_s826468"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4077"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826469" name="Equation" r:id="rId11" imgW="304560" imgH="241200" progId="Equation.DSMT4">
                  <p:embed/>
                </p:oleObj>
              </mc:Choice>
              <mc:Fallback>
                <p:oleObj name="Equation" r:id="rId11" imgW="30456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567" name="Object 7"/>
          <p:cNvGraphicFramePr>
            <a:graphicFrameLocks noChangeAspect="1"/>
          </p:cNvGraphicFramePr>
          <p:nvPr/>
        </p:nvGraphicFramePr>
        <p:xfrm>
          <a:off x="1547664" y="4581128"/>
          <a:ext cx="3141662" cy="1752600"/>
        </p:xfrm>
        <a:graphic>
          <a:graphicData uri="http://schemas.openxmlformats.org/presentationml/2006/ole">
            <mc:AlternateContent xmlns:mc="http://schemas.openxmlformats.org/markup-compatibility/2006">
              <mc:Choice xmlns:v="urn:schemas-microsoft-com:vml" Requires="v">
                <p:oleObj spid="_x0000_s826470" name="Equation" r:id="rId13" imgW="2997000" imgH="1663560" progId="Equation.DSMT4">
                  <p:embed/>
                </p:oleObj>
              </mc:Choice>
              <mc:Fallback>
                <p:oleObj name="Equation" r:id="rId13" imgW="2997000" imgH="1663560" progId="Equation.DSMT4">
                  <p:embed/>
                  <p:pic>
                    <p:nvPicPr>
                      <p:cNvPr id="0" name="Picture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47664" y="4581128"/>
                        <a:ext cx="3141662"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1" name="Object 7"/>
          <p:cNvGraphicFramePr>
            <a:graphicFrameLocks noChangeAspect="1"/>
          </p:cNvGraphicFramePr>
          <p:nvPr/>
        </p:nvGraphicFramePr>
        <p:xfrm>
          <a:off x="4644008" y="2996952"/>
          <a:ext cx="2133600" cy="749300"/>
        </p:xfrm>
        <a:graphic>
          <a:graphicData uri="http://schemas.openxmlformats.org/presentationml/2006/ole">
            <mc:AlternateContent xmlns:mc="http://schemas.openxmlformats.org/markup-compatibility/2006">
              <mc:Choice xmlns:v="urn:schemas-microsoft-com:vml" Requires="v">
                <p:oleObj spid="_x0000_s826471" name="Equation" r:id="rId15" imgW="2133360" imgH="749160" progId="Equation.DSMT4">
                  <p:embed/>
                </p:oleObj>
              </mc:Choice>
              <mc:Fallback>
                <p:oleObj name="Equation" r:id="rId15" imgW="2133360" imgH="749160" progId="Equation.DSMT4">
                  <p:embed/>
                  <p:pic>
                    <p:nvPicPr>
                      <p:cNvPr id="0"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4008" y="2996952"/>
                        <a:ext cx="2133600" cy="749300"/>
                      </a:xfrm>
                      <a:prstGeom prst="rect">
                        <a:avLst/>
                      </a:prstGeom>
                      <a:solidFill>
                        <a:schemeClr val="bg1"/>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7-7 </a:t>
            </a:r>
            <a:r>
              <a:rPr lang="zh-CN" altLang="en-US"/>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t>作弯矩图、轴力图</a:t>
            </a:r>
            <a:endParaRPr lang="en-US" altLang="zh-CN"/>
          </a:p>
          <a:p>
            <a:pPr lvl="2"/>
            <a:r>
              <a:rPr lang="zh-CN" altLang="en-US"/>
              <a:t>确定系数</a:t>
            </a:r>
            <a:endParaRPr lang="en-US" altLang="zh-CN"/>
          </a:p>
          <a:p>
            <a:pPr lvl="1"/>
            <a:endParaRPr lang="en-US" altLang="zh-CN"/>
          </a:p>
          <a:p>
            <a:pPr lvl="2"/>
            <a:r>
              <a:rPr lang="zh-CN" altLang="en-US">
                <a:solidFill>
                  <a:srgbClr val="FF0000"/>
                </a:solidFill>
              </a:rPr>
              <a:t>解力法方程</a:t>
            </a:r>
            <a:endParaRPr lang="en-US" altLang="zh-CN">
              <a:solidFill>
                <a:srgbClr val="FF000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794946"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92228" name="Picture 4"/>
          <p:cNvPicPr>
            <a:picLocks noChangeAspect="1" noChangeArrowheads="1"/>
          </p:cNvPicPr>
          <p:nvPr/>
        </p:nvPicPr>
        <p:blipFill>
          <a:blip r:embed="rId5" cstate="print"/>
          <a:srcRect/>
          <a:stretch>
            <a:fillRect/>
          </a:stretch>
        </p:blipFill>
        <p:spPr bwMode="auto">
          <a:xfrm>
            <a:off x="6788025" y="1484784"/>
            <a:ext cx="2176463" cy="1962150"/>
          </a:xfrm>
          <a:prstGeom prst="rect">
            <a:avLst/>
          </a:prstGeom>
          <a:noFill/>
          <a:ln w="9525">
            <a:noFill/>
            <a:miter lim="800000"/>
            <a:headEnd/>
            <a:tailEnd/>
          </a:ln>
        </p:spPr>
      </p:pic>
      <p:pic>
        <p:nvPicPr>
          <p:cNvPr id="16" name="Picture 2"/>
          <p:cNvPicPr>
            <a:picLocks noChangeAspect="1" noChangeArrowheads="1"/>
          </p:cNvPicPr>
          <p:nvPr/>
        </p:nvPicPr>
        <p:blipFill>
          <a:blip r:embed="rId6" cstate="print"/>
          <a:srcRect/>
          <a:stretch>
            <a:fillRect/>
          </a:stretch>
        </p:blipFill>
        <p:spPr bwMode="auto">
          <a:xfrm>
            <a:off x="4551585" y="1514475"/>
            <a:ext cx="2252663" cy="1914525"/>
          </a:xfrm>
          <a:prstGeom prst="rect">
            <a:avLst/>
          </a:prstGeom>
          <a:noFill/>
          <a:ln w="9525">
            <a:noFill/>
            <a:miter lim="800000"/>
            <a:headEnd/>
            <a:tailEnd/>
          </a:ln>
        </p:spPr>
      </p:pic>
      <p:sp>
        <p:nvSpPr>
          <p:cNvPr id="17" name="矩形 16"/>
          <p:cNvSpPr/>
          <p:nvPr/>
        </p:nvSpPr>
        <p:spPr>
          <a:xfrm>
            <a:off x="7452320" y="3573016"/>
            <a:ext cx="1005403" cy="338554"/>
          </a:xfrm>
          <a:prstGeom prst="rect">
            <a:avLst/>
          </a:prstGeom>
        </p:spPr>
        <p:txBody>
          <a:bodyPr wrap="none">
            <a:spAutoFit/>
          </a:bodyPr>
          <a:lstStyle/>
          <a:p>
            <a:r>
              <a:rPr lang="zh-CN" altLang="en-US" sz="1600" b="1"/>
              <a:t>基本体系</a:t>
            </a:r>
          </a:p>
        </p:txBody>
      </p:sp>
      <p:pic>
        <p:nvPicPr>
          <p:cNvPr id="10" name="Picture 3"/>
          <p:cNvPicPr>
            <a:picLocks noChangeAspect="1" noChangeArrowheads="1"/>
          </p:cNvPicPr>
          <p:nvPr/>
        </p:nvPicPr>
        <p:blipFill>
          <a:blip r:embed="rId7" cstate="print"/>
          <a:srcRect/>
          <a:stretch>
            <a:fillRect/>
          </a:stretch>
        </p:blipFill>
        <p:spPr bwMode="auto">
          <a:xfrm>
            <a:off x="4717702" y="3933056"/>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5661248"/>
          <a:ext cx="346075" cy="311150"/>
        </p:xfrm>
        <a:graphic>
          <a:graphicData uri="http://schemas.openxmlformats.org/presentationml/2006/ole">
            <mc:AlternateContent xmlns:mc="http://schemas.openxmlformats.org/markup-compatibility/2006">
              <mc:Choice xmlns:v="urn:schemas-microsoft-com:vml" Requires="v">
                <p:oleObj spid="_x0000_s794947" name="Equation" r:id="rId8" imgW="266400" imgH="241200" progId="Equation.DSMT4">
                  <p:embed/>
                </p:oleObj>
              </mc:Choice>
              <mc:Fallback>
                <p:oleObj name="Equation" r:id="rId8" imgW="266400" imgH="24120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4077" y="566124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10" cstate="print"/>
          <a:srcRect/>
          <a:stretch>
            <a:fillRect/>
          </a:stretch>
        </p:blipFill>
        <p:spPr bwMode="auto">
          <a:xfrm>
            <a:off x="6948264" y="3933056"/>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5661248"/>
          <a:ext cx="395288" cy="311150"/>
        </p:xfrm>
        <a:graphic>
          <a:graphicData uri="http://schemas.openxmlformats.org/presentationml/2006/ole">
            <mc:AlternateContent xmlns:mc="http://schemas.openxmlformats.org/markup-compatibility/2006">
              <mc:Choice xmlns:v="urn:schemas-microsoft-com:vml" Requires="v">
                <p:oleObj spid="_x0000_s794948" name="Equation" r:id="rId11" imgW="304560" imgH="241200" progId="Equation.DSMT4">
                  <p:embed/>
                </p:oleObj>
              </mc:Choice>
              <mc:Fallback>
                <p:oleObj name="Equation" r:id="rId11" imgW="30456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849120" y="5661248"/>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567" name="Object 7"/>
          <p:cNvGraphicFramePr>
            <a:graphicFrameLocks noChangeAspect="1"/>
          </p:cNvGraphicFramePr>
          <p:nvPr/>
        </p:nvGraphicFramePr>
        <p:xfrm>
          <a:off x="1772171" y="4544863"/>
          <a:ext cx="1863725" cy="468313"/>
        </p:xfrm>
        <a:graphic>
          <a:graphicData uri="http://schemas.openxmlformats.org/presentationml/2006/ole">
            <mc:AlternateContent xmlns:mc="http://schemas.openxmlformats.org/markup-compatibility/2006">
              <mc:Choice xmlns:v="urn:schemas-microsoft-com:vml" Requires="v">
                <p:oleObj spid="_x0000_s794949" name="Equation" r:id="rId13" imgW="1777680" imgH="444240" progId="Equation.DSMT4">
                  <p:embed/>
                </p:oleObj>
              </mc:Choice>
              <mc:Fallback>
                <p:oleObj name="Equation" r:id="rId13" imgW="1777680" imgH="444240" progId="Equation.DSMT4">
                  <p:embed/>
                  <p:pic>
                    <p:nvPicPr>
                      <p:cNvPr id="0" name="Picture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72171" y="4544863"/>
                        <a:ext cx="18637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7591" name="Object 7"/>
          <p:cNvGraphicFramePr>
            <a:graphicFrameLocks noChangeAspect="1"/>
          </p:cNvGraphicFramePr>
          <p:nvPr/>
        </p:nvGraphicFramePr>
        <p:xfrm>
          <a:off x="4644008" y="2996952"/>
          <a:ext cx="2133600" cy="749300"/>
        </p:xfrm>
        <a:graphic>
          <a:graphicData uri="http://schemas.openxmlformats.org/presentationml/2006/ole">
            <mc:AlternateContent xmlns:mc="http://schemas.openxmlformats.org/markup-compatibility/2006">
              <mc:Choice xmlns:v="urn:schemas-microsoft-com:vml" Requires="v">
                <p:oleObj spid="_x0000_s794950" name="Equation" r:id="rId15" imgW="2133360" imgH="749160" progId="Equation.DSMT4">
                  <p:embed/>
                </p:oleObj>
              </mc:Choice>
              <mc:Fallback>
                <p:oleObj name="Equation" r:id="rId15" imgW="2133360" imgH="749160" progId="Equation.DSMT4">
                  <p:embed/>
                  <p:pic>
                    <p:nvPicPr>
                      <p:cNvPr id="0" name="Picture 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644008" y="2996952"/>
                        <a:ext cx="2133600" cy="749300"/>
                      </a:xfrm>
                      <a:prstGeom prst="rect">
                        <a:avLst/>
                      </a:prstGeom>
                      <a:solidFill>
                        <a:schemeClr val="bg1"/>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8615" name="Object 7"/>
          <p:cNvGraphicFramePr>
            <a:graphicFrameLocks noChangeAspect="1"/>
          </p:cNvGraphicFramePr>
          <p:nvPr/>
        </p:nvGraphicFramePr>
        <p:xfrm>
          <a:off x="1735138" y="5354638"/>
          <a:ext cx="2836862" cy="522287"/>
        </p:xfrm>
        <a:graphic>
          <a:graphicData uri="http://schemas.openxmlformats.org/presentationml/2006/ole">
            <mc:AlternateContent xmlns:mc="http://schemas.openxmlformats.org/markup-compatibility/2006">
              <mc:Choice xmlns:v="urn:schemas-microsoft-com:vml" Requires="v">
                <p:oleObj spid="_x0000_s794951" name="Equation" r:id="rId17" imgW="2705040" imgH="495000" progId="Equation.DSMT4">
                  <p:embed/>
                </p:oleObj>
              </mc:Choice>
              <mc:Fallback>
                <p:oleObj name="Equation" r:id="rId17" imgW="2705040" imgH="495000" progId="Equation.DSMT4">
                  <p:embed/>
                  <p:pic>
                    <p:nvPicPr>
                      <p:cNvPr id="0" name="Picture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35138" y="5354638"/>
                        <a:ext cx="2836862"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7-7 </a:t>
            </a:r>
            <a:r>
              <a:rPr lang="zh-CN" altLang="en-US" dirty="0"/>
              <a:t>支座移动和温度改变时的计算</a:t>
            </a:r>
          </a:p>
        </p:txBody>
      </p:sp>
      <p:sp>
        <p:nvSpPr>
          <p:cNvPr id="3" name="内容占位符 2"/>
          <p:cNvSpPr>
            <a:spLocks noGrp="1"/>
          </p:cNvSpPr>
          <p:nvPr>
            <p:ph idx="1"/>
          </p:nvPr>
        </p:nvSpPr>
        <p:spPr/>
        <p:txBody>
          <a:bodyPr/>
          <a:lstStyle/>
          <a:p>
            <a:r>
              <a:rPr lang="zh-CN" altLang="en-US"/>
              <a:t>三、温度应力的计算</a:t>
            </a:r>
            <a:endParaRPr lang="en-US" altLang="zh-CN"/>
          </a:p>
          <a:p>
            <a:pPr lvl="1"/>
            <a:r>
              <a:rPr lang="zh-CN" altLang="en-US"/>
              <a:t>例：求温度引起的自内力</a:t>
            </a:r>
            <a:endParaRPr lang="en-US" altLang="zh-CN"/>
          </a:p>
          <a:p>
            <a:pPr lvl="1">
              <a:buNone/>
            </a:pPr>
            <a:r>
              <a:rPr lang="en-US" altLang="zh-CN"/>
              <a:t>	</a:t>
            </a:r>
            <a:r>
              <a:rPr lang="zh-CN" altLang="en-US"/>
              <a:t>解法</a:t>
            </a:r>
            <a:r>
              <a:rPr lang="en-US" altLang="zh-CN"/>
              <a:t>1</a:t>
            </a:r>
          </a:p>
          <a:p>
            <a:pPr lvl="2"/>
            <a:r>
              <a:rPr lang="zh-CN" altLang="en-US"/>
              <a:t>选取基本体系</a:t>
            </a:r>
            <a:endParaRPr lang="en-US" altLang="zh-CN"/>
          </a:p>
          <a:p>
            <a:pPr lvl="2"/>
            <a:r>
              <a:rPr lang="zh-CN" altLang="en-US"/>
              <a:t>力法方程</a:t>
            </a:r>
            <a:endParaRPr lang="en-US" altLang="zh-CN"/>
          </a:p>
          <a:p>
            <a:pPr lvl="2"/>
            <a:endParaRPr lang="en-US" altLang="zh-CN"/>
          </a:p>
          <a:p>
            <a:pPr lvl="2"/>
            <a:r>
              <a:rPr lang="zh-CN" altLang="en-US"/>
              <a:t>作弯矩图、轴力图</a:t>
            </a:r>
            <a:endParaRPr lang="en-US" altLang="zh-CN"/>
          </a:p>
          <a:p>
            <a:pPr lvl="2"/>
            <a:r>
              <a:rPr lang="zh-CN" altLang="en-US"/>
              <a:t>确定系数</a:t>
            </a:r>
            <a:endParaRPr lang="en-US" altLang="zh-CN"/>
          </a:p>
          <a:p>
            <a:pPr lvl="1"/>
            <a:endParaRPr lang="en-US" altLang="zh-CN"/>
          </a:p>
          <a:p>
            <a:pPr lvl="2"/>
            <a:r>
              <a:rPr lang="zh-CN" altLang="en-US"/>
              <a:t>解力法方程</a:t>
            </a:r>
            <a:endParaRPr lang="en-US" altLang="zh-CN"/>
          </a:p>
          <a:p>
            <a:pPr lvl="3"/>
            <a:endParaRPr lang="en-US" altLang="zh-CN"/>
          </a:p>
          <a:p>
            <a:pPr lvl="2"/>
            <a:r>
              <a:rPr lang="zh-CN" altLang="en-US">
                <a:solidFill>
                  <a:srgbClr val="FF0000"/>
                </a:solidFill>
              </a:rPr>
              <a:t>还原内力</a:t>
            </a:r>
            <a:endParaRPr lang="en-US" altLang="zh-CN">
              <a:solidFill>
                <a:srgbClr val="FF0000"/>
              </a:solidFill>
            </a:endParaRPr>
          </a:p>
          <a:p>
            <a:pPr lvl="2"/>
            <a:endParaRPr lang="en-US" altLang="zh-CN">
              <a:solidFill>
                <a:srgbClr val="FF0000"/>
              </a:solidFill>
            </a:endParaRPr>
          </a:p>
          <a:p>
            <a:pPr lvl="1"/>
            <a:endParaRPr lang="en-US" altLang="zh-CN">
              <a:solidFill>
                <a:srgbClr val="FF0000"/>
              </a:solidFill>
            </a:endParaRPr>
          </a:p>
          <a:p>
            <a:pPr lvl="1"/>
            <a:endParaRPr lang="zh-CN" altLang="en-US">
              <a:solidFill>
                <a:srgbClr val="FF0000"/>
              </a:solidFill>
            </a:endParaRPr>
          </a:p>
        </p:txBody>
      </p:sp>
      <p:graphicFrame>
        <p:nvGraphicFramePr>
          <p:cNvPr id="660482" name="Object 7"/>
          <p:cNvGraphicFramePr>
            <a:graphicFrameLocks noChangeAspect="1"/>
          </p:cNvGraphicFramePr>
          <p:nvPr/>
        </p:nvGraphicFramePr>
        <p:xfrm>
          <a:off x="1763688" y="3501008"/>
          <a:ext cx="1120775" cy="263525"/>
        </p:xfrm>
        <a:graphic>
          <a:graphicData uri="http://schemas.openxmlformats.org/presentationml/2006/ole">
            <mc:AlternateContent xmlns:mc="http://schemas.openxmlformats.org/markup-compatibility/2006">
              <mc:Choice xmlns:v="urn:schemas-microsoft-com:vml" Requires="v">
                <p:oleObj spid="_x0000_s755461" name="Equation" r:id="rId3" imgW="1028520" imgH="241200" progId="Equation.DSMT4">
                  <p:embed/>
                </p:oleObj>
              </mc:Choice>
              <mc:Fallback>
                <p:oleObj name="Equation" r:id="rId3" imgW="1028520" imgH="2412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3501008"/>
                        <a:ext cx="1120775"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3"/>
          <p:cNvPicPr>
            <a:picLocks noChangeAspect="1" noChangeArrowheads="1"/>
          </p:cNvPicPr>
          <p:nvPr/>
        </p:nvPicPr>
        <p:blipFill>
          <a:blip r:embed="rId5" cstate="print"/>
          <a:srcRect/>
          <a:stretch>
            <a:fillRect/>
          </a:stretch>
        </p:blipFill>
        <p:spPr bwMode="auto">
          <a:xfrm>
            <a:off x="4717702" y="1599183"/>
            <a:ext cx="2014538" cy="1700213"/>
          </a:xfrm>
          <a:prstGeom prst="rect">
            <a:avLst/>
          </a:prstGeom>
          <a:noFill/>
          <a:ln w="9525">
            <a:noFill/>
            <a:miter lim="800000"/>
            <a:headEnd/>
            <a:tailEnd/>
          </a:ln>
        </p:spPr>
      </p:pic>
      <p:graphicFrame>
        <p:nvGraphicFramePr>
          <p:cNvPr id="701444" name="Object 5"/>
          <p:cNvGraphicFramePr>
            <a:graphicFrameLocks noChangeAspect="1"/>
          </p:cNvGraphicFramePr>
          <p:nvPr/>
        </p:nvGraphicFramePr>
        <p:xfrm>
          <a:off x="5594077" y="3327375"/>
          <a:ext cx="346075" cy="311150"/>
        </p:xfrm>
        <a:graphic>
          <a:graphicData uri="http://schemas.openxmlformats.org/presentationml/2006/ole">
            <mc:AlternateContent xmlns:mc="http://schemas.openxmlformats.org/markup-compatibility/2006">
              <mc:Choice xmlns:v="urn:schemas-microsoft-com:vml" Requires="v">
                <p:oleObj spid="_x0000_s755462" name="Equation" r:id="rId6" imgW="266400" imgH="241200" progId="Equation.DSMT4">
                  <p:embed/>
                </p:oleObj>
              </mc:Choice>
              <mc:Fallback>
                <p:oleObj name="Equation" r:id="rId6" imgW="266400" imgH="2412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4077" y="3327375"/>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1445" name="Picture 5"/>
          <p:cNvPicPr>
            <a:picLocks noChangeAspect="1" noChangeArrowheads="1"/>
          </p:cNvPicPr>
          <p:nvPr/>
        </p:nvPicPr>
        <p:blipFill>
          <a:blip r:embed="rId8" cstate="print"/>
          <a:srcRect/>
          <a:stretch>
            <a:fillRect/>
          </a:stretch>
        </p:blipFill>
        <p:spPr bwMode="auto">
          <a:xfrm>
            <a:off x="6948264" y="1599183"/>
            <a:ext cx="2014538" cy="1700213"/>
          </a:xfrm>
          <a:prstGeom prst="rect">
            <a:avLst/>
          </a:prstGeom>
          <a:noFill/>
          <a:ln w="9525">
            <a:noFill/>
            <a:miter lim="800000"/>
            <a:headEnd/>
            <a:tailEnd/>
          </a:ln>
        </p:spPr>
      </p:pic>
      <p:graphicFrame>
        <p:nvGraphicFramePr>
          <p:cNvPr id="701446" name="Object 5"/>
          <p:cNvGraphicFramePr>
            <a:graphicFrameLocks noChangeAspect="1"/>
          </p:cNvGraphicFramePr>
          <p:nvPr/>
        </p:nvGraphicFramePr>
        <p:xfrm>
          <a:off x="7849120" y="3327375"/>
          <a:ext cx="395288" cy="311150"/>
        </p:xfrm>
        <a:graphic>
          <a:graphicData uri="http://schemas.openxmlformats.org/presentationml/2006/ole">
            <mc:AlternateContent xmlns:mc="http://schemas.openxmlformats.org/markup-compatibility/2006">
              <mc:Choice xmlns:v="urn:schemas-microsoft-com:vml" Requires="v">
                <p:oleObj spid="_x0000_s755463" name="Equation" r:id="rId9" imgW="304560" imgH="241200" progId="Equation.DSMT4">
                  <p:embed/>
                </p:oleObj>
              </mc:Choice>
              <mc:Fallback>
                <p:oleObj name="Equation" r:id="rId9" imgW="304560" imgH="241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49120" y="3327375"/>
                        <a:ext cx="39528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6567" name="Object 7"/>
          <p:cNvGraphicFramePr>
            <a:graphicFrameLocks noChangeAspect="1"/>
          </p:cNvGraphicFramePr>
          <p:nvPr/>
        </p:nvGraphicFramePr>
        <p:xfrm>
          <a:off x="1772171" y="4544863"/>
          <a:ext cx="1863725" cy="468313"/>
        </p:xfrm>
        <a:graphic>
          <a:graphicData uri="http://schemas.openxmlformats.org/presentationml/2006/ole">
            <mc:AlternateContent xmlns:mc="http://schemas.openxmlformats.org/markup-compatibility/2006">
              <mc:Choice xmlns:v="urn:schemas-microsoft-com:vml" Requires="v">
                <p:oleObj spid="_x0000_s755464" name="Equation" r:id="rId11" imgW="1777680" imgH="444240" progId="Equation.DSMT4">
                  <p:embed/>
                </p:oleObj>
              </mc:Choice>
              <mc:Fallback>
                <p:oleObj name="Equation" r:id="rId11" imgW="1777680" imgH="444240" progId="Equation.DSMT4">
                  <p:embed/>
                  <p:pic>
                    <p:nvPicPr>
                      <p:cNvPr id="0"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72171" y="4544863"/>
                        <a:ext cx="1863725"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8615" name="Object 7"/>
          <p:cNvGraphicFramePr>
            <a:graphicFrameLocks noChangeAspect="1"/>
          </p:cNvGraphicFramePr>
          <p:nvPr/>
        </p:nvGraphicFramePr>
        <p:xfrm>
          <a:off x="1794510" y="5445125"/>
          <a:ext cx="1371600" cy="255588"/>
        </p:xfrm>
        <a:graphic>
          <a:graphicData uri="http://schemas.openxmlformats.org/presentationml/2006/ole">
            <mc:AlternateContent xmlns:mc="http://schemas.openxmlformats.org/markup-compatibility/2006">
              <mc:Choice xmlns:v="urn:schemas-microsoft-com:vml" Requires="v">
                <p:oleObj spid="_x0000_s755465" name="Equation" r:id="rId13" imgW="1307880" imgH="241200" progId="Equation.DSMT4">
                  <p:embed/>
                </p:oleObj>
              </mc:Choice>
              <mc:Fallback>
                <p:oleObj name="Equation" r:id="rId13" imgW="1307880" imgH="24120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4510" y="5445125"/>
                        <a:ext cx="1371600" cy="255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9640" name="Object 7"/>
          <p:cNvGraphicFramePr>
            <a:graphicFrameLocks noChangeAspect="1"/>
          </p:cNvGraphicFramePr>
          <p:nvPr/>
        </p:nvGraphicFramePr>
        <p:xfrm>
          <a:off x="1844179" y="6093296"/>
          <a:ext cx="1863725" cy="295275"/>
        </p:xfrm>
        <a:graphic>
          <a:graphicData uri="http://schemas.openxmlformats.org/presentationml/2006/ole">
            <mc:AlternateContent xmlns:mc="http://schemas.openxmlformats.org/markup-compatibility/2006">
              <mc:Choice xmlns:v="urn:schemas-microsoft-com:vml" Requires="v">
                <p:oleObj spid="_x0000_s755466" name="Equation" r:id="rId15" imgW="1777680" imgH="279360" progId="Equation.DSMT4">
                  <p:embed/>
                </p:oleObj>
              </mc:Choice>
              <mc:Fallback>
                <p:oleObj name="Equation" r:id="rId15" imgW="1777680" imgH="27936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44179" y="6093296"/>
                        <a:ext cx="1863725"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709641" name="Picture 9"/>
          <p:cNvPicPr>
            <a:picLocks noChangeAspect="1" noChangeArrowheads="1"/>
          </p:cNvPicPr>
          <p:nvPr/>
        </p:nvPicPr>
        <p:blipFill>
          <a:blip r:embed="rId17" cstate="print"/>
          <a:srcRect/>
          <a:stretch>
            <a:fillRect/>
          </a:stretch>
        </p:blipFill>
        <p:spPr bwMode="auto">
          <a:xfrm>
            <a:off x="4644008" y="4070573"/>
            <a:ext cx="2214563" cy="1590675"/>
          </a:xfrm>
          <a:prstGeom prst="rect">
            <a:avLst/>
          </a:prstGeom>
          <a:noFill/>
          <a:ln w="9525">
            <a:noFill/>
            <a:miter lim="800000"/>
            <a:headEnd/>
            <a:tailEnd/>
          </a:ln>
        </p:spPr>
      </p:pic>
      <p:pic>
        <p:nvPicPr>
          <p:cNvPr id="709642" name="Picture 10"/>
          <p:cNvPicPr>
            <a:picLocks noChangeAspect="1" noChangeArrowheads="1"/>
          </p:cNvPicPr>
          <p:nvPr/>
        </p:nvPicPr>
        <p:blipFill>
          <a:blip r:embed="rId18" cstate="print"/>
          <a:srcRect/>
          <a:stretch>
            <a:fillRect/>
          </a:stretch>
        </p:blipFill>
        <p:spPr bwMode="auto">
          <a:xfrm>
            <a:off x="6948264" y="4077072"/>
            <a:ext cx="2014538" cy="1571625"/>
          </a:xfrm>
          <a:prstGeom prst="rect">
            <a:avLst/>
          </a:prstGeom>
          <a:noFill/>
          <a:ln w="9525">
            <a:noFill/>
            <a:miter lim="800000"/>
            <a:headEnd/>
            <a:tailEnd/>
          </a:ln>
        </p:spPr>
      </p:pic>
      <p:graphicFrame>
        <p:nvGraphicFramePr>
          <p:cNvPr id="709643" name="Object 5"/>
          <p:cNvGraphicFramePr>
            <a:graphicFrameLocks noChangeAspect="1"/>
          </p:cNvGraphicFramePr>
          <p:nvPr/>
        </p:nvGraphicFramePr>
        <p:xfrm>
          <a:off x="5603875" y="5702300"/>
          <a:ext cx="296863" cy="228600"/>
        </p:xfrm>
        <a:graphic>
          <a:graphicData uri="http://schemas.openxmlformats.org/presentationml/2006/ole">
            <mc:AlternateContent xmlns:mc="http://schemas.openxmlformats.org/markup-compatibility/2006">
              <mc:Choice xmlns:v="urn:schemas-microsoft-com:vml" Requires="v">
                <p:oleObj spid="_x0000_s755467" name="Equation" r:id="rId19" imgW="228600" imgH="177480" progId="Equation.DSMT4">
                  <p:embed/>
                </p:oleObj>
              </mc:Choice>
              <mc:Fallback>
                <p:oleObj name="Equation" r:id="rId19" imgW="228600" imgH="177480" progId="Equation.DSMT4">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603875" y="5702300"/>
                        <a:ext cx="296863"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09644" name="Object 6"/>
          <p:cNvGraphicFramePr>
            <a:graphicFrameLocks noChangeAspect="1"/>
          </p:cNvGraphicFramePr>
          <p:nvPr/>
        </p:nvGraphicFramePr>
        <p:xfrm>
          <a:off x="7858125" y="5710138"/>
          <a:ext cx="346075" cy="311150"/>
        </p:xfrm>
        <a:graphic>
          <a:graphicData uri="http://schemas.openxmlformats.org/presentationml/2006/ole">
            <mc:AlternateContent xmlns:mc="http://schemas.openxmlformats.org/markup-compatibility/2006">
              <mc:Choice xmlns:v="urn:schemas-microsoft-com:vml" Requires="v">
                <p:oleObj spid="_x0000_s755468" name="Equation" r:id="rId21" imgW="266400" imgH="241200" progId="Equation.DSMT4">
                  <p:embed/>
                </p:oleObj>
              </mc:Choice>
              <mc:Fallback>
                <p:oleObj name="Equation" r:id="rId21" imgW="266400" imgH="241200" progId="Equation.DSMT4">
                  <p:embed/>
                  <p:pic>
                    <p:nvPicPr>
                      <p:cNvPr id="0" name="Picture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858125" y="5710138"/>
                        <a:ext cx="346075"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6-9 </a:t>
            </a:r>
            <a:r>
              <a:rPr lang="zh-CN" altLang="en-US" sz="2800" dirty="0"/>
              <a:t>超静定结构的位移计算</a:t>
            </a:r>
            <a:endParaRPr lang="zh-CN" altLang="en-US" dirty="0"/>
          </a:p>
        </p:txBody>
      </p:sp>
      <p:sp>
        <p:nvSpPr>
          <p:cNvPr id="4" name="Rectangle 2"/>
          <p:cNvSpPr>
            <a:spLocks noChangeArrowheads="1"/>
          </p:cNvSpPr>
          <p:nvPr/>
        </p:nvSpPr>
        <p:spPr bwMode="auto">
          <a:xfrm>
            <a:off x="632618" y="1417637"/>
            <a:ext cx="73453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en-US" altLang="zh-CN">
                <a:latin typeface="楷体_GB2312" pitchFamily="49" charset="-122"/>
              </a:rPr>
              <a:t>    </a:t>
            </a:r>
            <a:r>
              <a:rPr lang="zh-CN" altLang="en-US">
                <a:latin typeface="楷体_GB2312" pitchFamily="49" charset="-122"/>
              </a:rPr>
              <a:t>计算超静定结构的位移的目的之一是校核用力法解出的内力状态。</a:t>
            </a:r>
          </a:p>
        </p:txBody>
      </p:sp>
      <p:sp>
        <p:nvSpPr>
          <p:cNvPr id="5" name="Rectangle 3"/>
          <p:cNvSpPr>
            <a:spLocks noChangeArrowheads="1"/>
          </p:cNvSpPr>
          <p:nvPr/>
        </p:nvSpPr>
        <p:spPr bwMode="auto">
          <a:xfrm>
            <a:off x="708818" y="2332037"/>
            <a:ext cx="5487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zh-CN" altLang="en-US" sz="3200">
                <a:solidFill>
                  <a:srgbClr val="CC0000"/>
                </a:solidFill>
                <a:latin typeface="楷体_GB2312" pitchFamily="49" charset="-122"/>
              </a:rPr>
              <a:t>超静定结构的位移计算依据：</a:t>
            </a:r>
          </a:p>
        </p:txBody>
      </p:sp>
      <p:sp>
        <p:nvSpPr>
          <p:cNvPr id="6" name="Rectangle 4"/>
          <p:cNvSpPr>
            <a:spLocks noChangeArrowheads="1"/>
          </p:cNvSpPr>
          <p:nvPr/>
        </p:nvSpPr>
        <p:spPr bwMode="auto">
          <a:xfrm>
            <a:off x="708818" y="3017837"/>
            <a:ext cx="7416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en-US" altLang="zh-CN">
                <a:ea typeface="仿宋_GB2312" pitchFamily="49" charset="-122"/>
              </a:rPr>
              <a:t>        </a:t>
            </a:r>
            <a:r>
              <a:rPr lang="zh-CN" altLang="en-US"/>
              <a:t>根据基本体系的内力与变形状态等价于原超静定结构的内力与变形状态的原理，求超静定结构的位移可转化为求基本体系（静定结构）的位移。</a:t>
            </a:r>
          </a:p>
        </p:txBody>
      </p:sp>
      <p:sp>
        <p:nvSpPr>
          <p:cNvPr id="7" name="Rectangle 5"/>
          <p:cNvSpPr>
            <a:spLocks noChangeArrowheads="1"/>
          </p:cNvSpPr>
          <p:nvPr/>
        </p:nvSpPr>
        <p:spPr bwMode="auto">
          <a:xfrm>
            <a:off x="1166018" y="5684837"/>
            <a:ext cx="482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tabLst>
                <a:tab pos="533400" algn="l"/>
              </a:tabLst>
              <a:defRPr kumimoji="1" sz="2400" b="1">
                <a:solidFill>
                  <a:schemeClr val="tx1"/>
                </a:solidFill>
                <a:latin typeface="Times New Roman" pitchFamily="18" charset="0"/>
                <a:ea typeface="楷体_GB2312" pitchFamily="49" charset="-122"/>
              </a:defRPr>
            </a:lvl1pPr>
            <a:lvl2pPr marL="742950" indent="-285750" eaLnBrk="0" hangingPunct="0">
              <a:tabLst>
                <a:tab pos="533400" algn="l"/>
              </a:tabLst>
              <a:defRPr kumimoji="1" sz="2400" b="1">
                <a:solidFill>
                  <a:schemeClr val="tx1"/>
                </a:solidFill>
                <a:latin typeface="Times New Roman" pitchFamily="18" charset="0"/>
                <a:ea typeface="楷体_GB2312" pitchFamily="49" charset="-122"/>
              </a:defRPr>
            </a:lvl2pPr>
            <a:lvl3pPr marL="1143000" indent="-228600" eaLnBrk="0" hangingPunct="0">
              <a:tabLst>
                <a:tab pos="533400" algn="l"/>
              </a:tabLst>
              <a:defRPr kumimoji="1" sz="2400" b="1">
                <a:solidFill>
                  <a:schemeClr val="tx1"/>
                </a:solidFill>
                <a:latin typeface="Times New Roman" pitchFamily="18" charset="0"/>
                <a:ea typeface="楷体_GB2312" pitchFamily="49" charset="-122"/>
              </a:defRPr>
            </a:lvl3pPr>
            <a:lvl4pPr marL="1600200" indent="-228600" eaLnBrk="0" hangingPunct="0">
              <a:tabLst>
                <a:tab pos="533400" algn="l"/>
              </a:tabLst>
              <a:defRPr kumimoji="1" sz="2400" b="1">
                <a:solidFill>
                  <a:schemeClr val="tx1"/>
                </a:solidFill>
                <a:latin typeface="Times New Roman" pitchFamily="18" charset="0"/>
                <a:ea typeface="楷体_GB2312" pitchFamily="49" charset="-122"/>
              </a:defRPr>
            </a:lvl4pPr>
            <a:lvl5pPr marL="2057400" indent="-228600" eaLnBrk="0" hangingPunct="0">
              <a:tabLst>
                <a:tab pos="533400" algn="l"/>
              </a:tabLst>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9pPr>
          </a:lstStyle>
          <a:p>
            <a:pPr eaLnBrk="1" hangingPunct="1">
              <a:spcBef>
                <a:spcPct val="0"/>
              </a:spcBef>
            </a:pPr>
            <a:r>
              <a:rPr lang="zh-CN" altLang="en-US" sz="2800">
                <a:solidFill>
                  <a:srgbClr val="FF3300"/>
                </a:solidFill>
                <a:latin typeface="楷体_GB2312" pitchFamily="49" charset="-122"/>
              </a:rPr>
              <a:t>求位移</a:t>
            </a:r>
            <a:r>
              <a:rPr lang="en-US" altLang="zh-CN" sz="2800">
                <a:solidFill>
                  <a:srgbClr val="FF3300"/>
                </a:solidFill>
              </a:rPr>
              <a:t>—</a:t>
            </a:r>
            <a:r>
              <a:rPr kumimoji="0" lang="zh-CN" altLang="en-US" sz="2800">
                <a:solidFill>
                  <a:srgbClr val="0000FF"/>
                </a:solidFill>
                <a:latin typeface="楷体_GB2312" pitchFamily="49" charset="-122"/>
              </a:rPr>
              <a:t>单位荷载法</a:t>
            </a:r>
            <a:r>
              <a:rPr lang="zh-CN" altLang="en-US" sz="2800">
                <a:solidFill>
                  <a:srgbClr val="FF3300"/>
                </a:solidFill>
                <a:latin typeface="楷体_GB2312" pitchFamily="49" charset="-122"/>
              </a:rPr>
              <a:t>，图乘法</a:t>
            </a:r>
          </a:p>
        </p:txBody>
      </p:sp>
      <p:sp>
        <p:nvSpPr>
          <p:cNvPr id="8" name="Rectangle 6"/>
          <p:cNvSpPr>
            <a:spLocks noChangeArrowheads="1"/>
          </p:cNvSpPr>
          <p:nvPr/>
        </p:nvSpPr>
        <p:spPr bwMode="auto">
          <a:xfrm>
            <a:off x="785018" y="5075237"/>
            <a:ext cx="601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en-US" altLang="zh-CN">
                <a:latin typeface="楷体_GB2312" pitchFamily="49" charset="-122"/>
              </a:rPr>
              <a:t>1</a:t>
            </a:r>
            <a:r>
              <a:rPr lang="zh-CN" altLang="en-US">
                <a:latin typeface="楷体_GB2312" pitchFamily="49" charset="-122"/>
              </a:rPr>
              <a:t>）求出原结构 </a:t>
            </a:r>
            <a:r>
              <a:rPr lang="en-US" altLang="zh-CN" i="1">
                <a:latin typeface="楷体_GB2312" pitchFamily="49" charset="-122"/>
              </a:rPr>
              <a:t>M </a:t>
            </a:r>
            <a:r>
              <a:rPr lang="zh-CN" altLang="en-US">
                <a:latin typeface="楷体_GB2312" pitchFamily="49" charset="-122"/>
              </a:rPr>
              <a:t>图，</a:t>
            </a:r>
            <a:r>
              <a:rPr lang="zh-CN" altLang="en-US">
                <a:solidFill>
                  <a:srgbClr val="0000FF"/>
                </a:solidFill>
                <a:latin typeface="楷体_GB2312" pitchFamily="49" charset="-122"/>
              </a:rPr>
              <a:t>（求解超静定问题）</a:t>
            </a:r>
          </a:p>
        </p:txBody>
      </p:sp>
      <p:sp>
        <p:nvSpPr>
          <p:cNvPr id="9" name="Rectangle 7"/>
          <p:cNvSpPr>
            <a:spLocks noChangeArrowheads="1"/>
          </p:cNvSpPr>
          <p:nvPr/>
        </p:nvSpPr>
        <p:spPr bwMode="auto">
          <a:xfrm>
            <a:off x="708818" y="4313237"/>
            <a:ext cx="54879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zh-CN" altLang="en-US" sz="3200">
                <a:solidFill>
                  <a:srgbClr val="CC0000"/>
                </a:solidFill>
                <a:latin typeface="楷体_GB2312" pitchFamily="49" charset="-122"/>
              </a:rPr>
              <a:t>超静定结构的位移计算步骤：</a:t>
            </a:r>
          </a:p>
        </p:txBody>
      </p:sp>
    </p:spTree>
    <p:extLst>
      <p:ext uri="{BB962C8B-B14F-4D97-AF65-F5344CB8AC3E}">
        <p14:creationId xmlns:p14="http://schemas.microsoft.com/office/powerpoint/2010/main" val="899313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righ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linds(horizontal)">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P spid="8" grpId="0" autoUpdateAnimBg="0"/>
      <p:bldP spid="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6-9 </a:t>
            </a:r>
            <a:r>
              <a:rPr lang="zh-CN" altLang="en-US" sz="2400" dirty="0"/>
              <a:t>超静定结构的位移计算</a:t>
            </a:r>
            <a:endParaRPr lang="zh-CN" altLang="en-US" dirty="0"/>
          </a:p>
        </p:txBody>
      </p:sp>
      <p:graphicFrame>
        <p:nvGraphicFramePr>
          <p:cNvPr id="4" name="Object 2"/>
          <p:cNvGraphicFramePr>
            <a:graphicFrameLocks noChangeAspect="1"/>
          </p:cNvGraphicFramePr>
          <p:nvPr>
            <p:extLst>
              <p:ext uri="{D42A27DB-BD31-4B8C-83A1-F6EECF244321}">
                <p14:modId xmlns:p14="http://schemas.microsoft.com/office/powerpoint/2010/main" val="1971663714"/>
              </p:ext>
            </p:extLst>
          </p:nvPr>
        </p:nvGraphicFramePr>
        <p:xfrm>
          <a:off x="3048000" y="1289713"/>
          <a:ext cx="3200400" cy="2466975"/>
        </p:xfrm>
        <a:graphic>
          <a:graphicData uri="http://schemas.openxmlformats.org/presentationml/2006/ole">
            <mc:AlternateContent xmlns:mc="http://schemas.openxmlformats.org/markup-compatibility/2006">
              <mc:Choice xmlns:v="urn:schemas-microsoft-com:vml" Requires="v">
                <p:oleObj spid="_x0000_s803009" name="位图图像" r:id="rId3" imgW="3657143" imgH="2819794" progId="Paint.Picture">
                  <p:embed/>
                </p:oleObj>
              </mc:Choice>
              <mc:Fallback>
                <p:oleObj name="位图图像" r:id="rId3" imgW="3657143" imgH="2819794" progId="Paint.Picture">
                  <p:embed/>
                  <p:pic>
                    <p:nvPicPr>
                      <p:cNvPr id="0" name=""/>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48000" y="1289713"/>
                        <a:ext cx="3200400" cy="246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3774198761"/>
              </p:ext>
            </p:extLst>
          </p:nvPr>
        </p:nvGraphicFramePr>
        <p:xfrm>
          <a:off x="5791200" y="1213513"/>
          <a:ext cx="2705100" cy="2428875"/>
        </p:xfrm>
        <a:graphic>
          <a:graphicData uri="http://schemas.openxmlformats.org/presentationml/2006/ole">
            <mc:AlternateContent xmlns:mc="http://schemas.openxmlformats.org/markup-compatibility/2006">
              <mc:Choice xmlns:v="urn:schemas-microsoft-com:vml" Requires="v">
                <p:oleObj spid="_x0000_s803010" name="位图图像" r:id="rId5" imgW="3086531" imgH="2771429" progId="Paint.Picture">
                  <p:embed/>
                </p:oleObj>
              </mc:Choice>
              <mc:Fallback>
                <p:oleObj name="位图图像" r:id="rId5" imgW="3086531" imgH="2771429" progId="Paint.Picture">
                  <p:embed/>
                  <p:pic>
                    <p:nvPicPr>
                      <p:cNvPr id="0" name=""/>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791200" y="1213513"/>
                        <a:ext cx="270510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extLst>
              <p:ext uri="{D42A27DB-BD31-4B8C-83A1-F6EECF244321}">
                <p14:modId xmlns:p14="http://schemas.microsoft.com/office/powerpoint/2010/main" val="1103550273"/>
              </p:ext>
            </p:extLst>
          </p:nvPr>
        </p:nvGraphicFramePr>
        <p:xfrm>
          <a:off x="3581400" y="3347113"/>
          <a:ext cx="2514600" cy="2481263"/>
        </p:xfrm>
        <a:graphic>
          <a:graphicData uri="http://schemas.openxmlformats.org/presentationml/2006/ole">
            <mc:AlternateContent xmlns:mc="http://schemas.openxmlformats.org/markup-compatibility/2006">
              <mc:Choice xmlns:v="urn:schemas-microsoft-com:vml" Requires="v">
                <p:oleObj spid="_x0000_s803011" name="位图图像" r:id="rId7" imgW="2905531" imgH="2866667" progId="Paint.Picture">
                  <p:embed/>
                </p:oleObj>
              </mc:Choice>
              <mc:Fallback>
                <p:oleObj name="位图图像" r:id="rId7" imgW="2905531" imgH="2866667" progId="Paint.Picture">
                  <p:embed/>
                  <p:pic>
                    <p:nvPicPr>
                      <p:cNvPr id="0" name=""/>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81400" y="3347113"/>
                        <a:ext cx="2514600" cy="248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1265107981"/>
              </p:ext>
            </p:extLst>
          </p:nvPr>
        </p:nvGraphicFramePr>
        <p:xfrm>
          <a:off x="5943600" y="3270913"/>
          <a:ext cx="2162175" cy="2438400"/>
        </p:xfrm>
        <a:graphic>
          <a:graphicData uri="http://schemas.openxmlformats.org/presentationml/2006/ole">
            <mc:AlternateContent xmlns:mc="http://schemas.openxmlformats.org/markup-compatibility/2006">
              <mc:Choice xmlns:v="urn:schemas-microsoft-com:vml" Requires="v">
                <p:oleObj spid="_x0000_s803012" name="位图图像" r:id="rId9" imgW="2457143" imgH="2771429" progId="Paint.Picture">
                  <p:embed/>
                </p:oleObj>
              </mc:Choice>
              <mc:Fallback>
                <p:oleObj name="位图图像" r:id="rId9" imgW="2457143" imgH="2771429" progId="Paint.Picture">
                  <p:embed/>
                  <p:pic>
                    <p:nvPicPr>
                      <p:cNvPr id="0" name=""/>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943600" y="3270913"/>
                        <a:ext cx="2162175"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6"/>
          <p:cNvSpPr>
            <a:spLocks noChangeArrowheads="1"/>
          </p:cNvSpPr>
          <p:nvPr/>
        </p:nvSpPr>
        <p:spPr bwMode="auto">
          <a:xfrm>
            <a:off x="1371600" y="311851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en-US" altLang="zh-CN" sz="2000" b="0">
                <a:ea typeface="宋体" charset="-122"/>
              </a:rPr>
              <a:t> —</a:t>
            </a:r>
            <a:r>
              <a:rPr lang="en-US" altLang="zh-CN" sz="1400" b="0">
                <a:latin typeface="宋体" charset="-122"/>
                <a:ea typeface="宋体" charset="-122"/>
              </a:rPr>
              <a:t> </a:t>
            </a:r>
            <a:endParaRPr lang="en-US" altLang="zh-CN" b="0">
              <a:ea typeface="宋体" charset="-122"/>
            </a:endParaRPr>
          </a:p>
        </p:txBody>
      </p:sp>
      <p:graphicFrame>
        <p:nvGraphicFramePr>
          <p:cNvPr id="9" name="Object 7"/>
          <p:cNvGraphicFramePr>
            <a:graphicFrameLocks noChangeAspect="1"/>
          </p:cNvGraphicFramePr>
          <p:nvPr>
            <p:extLst>
              <p:ext uri="{D42A27DB-BD31-4B8C-83A1-F6EECF244321}">
                <p14:modId xmlns:p14="http://schemas.microsoft.com/office/powerpoint/2010/main" val="3521979748"/>
              </p:ext>
            </p:extLst>
          </p:nvPr>
        </p:nvGraphicFramePr>
        <p:xfrm>
          <a:off x="1066800" y="3118513"/>
          <a:ext cx="533400" cy="533400"/>
        </p:xfrm>
        <a:graphic>
          <a:graphicData uri="http://schemas.openxmlformats.org/presentationml/2006/ole">
            <mc:AlternateContent xmlns:mc="http://schemas.openxmlformats.org/markup-compatibility/2006">
              <mc:Choice xmlns:v="urn:schemas-microsoft-com:vml" Requires="v">
                <p:oleObj spid="_x0000_s803013" r:id="rId11" imgW="241195" imgH="241195" progId="Equation.3">
                  <p:embed/>
                </p:oleObj>
              </mc:Choice>
              <mc:Fallback>
                <p:oleObj r:id="rId11" imgW="241195" imgH="241195"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66800" y="3118513"/>
                        <a:ext cx="533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635267745"/>
              </p:ext>
            </p:extLst>
          </p:nvPr>
        </p:nvGraphicFramePr>
        <p:xfrm>
          <a:off x="1828800" y="3118513"/>
          <a:ext cx="1295400" cy="463550"/>
        </p:xfrm>
        <a:graphic>
          <a:graphicData uri="http://schemas.openxmlformats.org/presentationml/2006/ole">
            <mc:AlternateContent xmlns:mc="http://schemas.openxmlformats.org/markup-compatibility/2006">
              <mc:Choice xmlns:v="urn:schemas-microsoft-com:vml" Requires="v">
                <p:oleObj spid="_x0000_s803014" name="Equation" r:id="rId13" imgW="660113" imgH="241195" progId="Equation.3">
                  <p:embed/>
                </p:oleObj>
              </mc:Choice>
              <mc:Fallback>
                <p:oleObj name="Equation" r:id="rId13" imgW="660113" imgH="241195"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8800" y="3118513"/>
                        <a:ext cx="1295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9"/>
          <p:cNvSpPr>
            <a:spLocks noChangeArrowheads="1"/>
          </p:cNvSpPr>
          <p:nvPr/>
        </p:nvSpPr>
        <p:spPr bwMode="auto">
          <a:xfrm>
            <a:off x="1143000" y="1518313"/>
            <a:ext cx="19700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sz="2800" dirty="0">
                <a:solidFill>
                  <a:srgbClr val="FF3300"/>
                </a:solidFill>
                <a:latin typeface="楷体_GB2312" pitchFamily="49" charset="-122"/>
              </a:rPr>
              <a:t>以例说明：</a:t>
            </a:r>
          </a:p>
        </p:txBody>
      </p:sp>
      <p:sp>
        <p:nvSpPr>
          <p:cNvPr id="12" name="Rectangle 10"/>
          <p:cNvSpPr>
            <a:spLocks noChangeArrowheads="1"/>
          </p:cNvSpPr>
          <p:nvPr/>
        </p:nvSpPr>
        <p:spPr bwMode="auto">
          <a:xfrm>
            <a:off x="990600" y="2280313"/>
            <a:ext cx="236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a:latin typeface="楷体_GB2312" pitchFamily="49" charset="-122"/>
              </a:rPr>
              <a:t>两次超静定问题</a:t>
            </a:r>
          </a:p>
        </p:txBody>
      </p:sp>
      <p:grpSp>
        <p:nvGrpSpPr>
          <p:cNvPr id="13" name="Group 11"/>
          <p:cNvGrpSpPr>
            <a:grpSpLocks/>
          </p:cNvGrpSpPr>
          <p:nvPr/>
        </p:nvGrpSpPr>
        <p:grpSpPr bwMode="auto">
          <a:xfrm>
            <a:off x="1143000" y="3804313"/>
            <a:ext cx="2438400" cy="1311275"/>
            <a:chOff x="816" y="2976"/>
            <a:chExt cx="1536" cy="826"/>
          </a:xfrm>
        </p:grpSpPr>
        <p:sp>
          <p:nvSpPr>
            <p:cNvPr id="14" name="Rectangle 12"/>
            <p:cNvSpPr>
              <a:spLocks noChangeArrowheads="1"/>
            </p:cNvSpPr>
            <p:nvPr/>
          </p:nvSpPr>
          <p:spPr bwMode="auto">
            <a:xfrm>
              <a:off x="816" y="2976"/>
              <a:ext cx="1536"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tabLst>
                  <a:tab pos="533400" algn="l"/>
                </a:tabLst>
                <a:defRPr kumimoji="1" sz="2400" b="1">
                  <a:solidFill>
                    <a:schemeClr val="tx1"/>
                  </a:solidFill>
                  <a:latin typeface="Times New Roman" pitchFamily="18" charset="0"/>
                  <a:ea typeface="楷体_GB2312" pitchFamily="49" charset="-122"/>
                </a:defRPr>
              </a:lvl1pPr>
              <a:lvl2pPr marL="742950" indent="-285750" eaLnBrk="0" hangingPunct="0">
                <a:tabLst>
                  <a:tab pos="533400" algn="l"/>
                </a:tabLst>
                <a:defRPr kumimoji="1" sz="2400" b="1">
                  <a:solidFill>
                    <a:schemeClr val="tx1"/>
                  </a:solidFill>
                  <a:latin typeface="Times New Roman" pitchFamily="18" charset="0"/>
                  <a:ea typeface="楷体_GB2312" pitchFamily="49" charset="-122"/>
                </a:defRPr>
              </a:lvl2pPr>
              <a:lvl3pPr marL="1143000" indent="-228600" eaLnBrk="0" hangingPunct="0">
                <a:tabLst>
                  <a:tab pos="533400" algn="l"/>
                </a:tabLst>
                <a:defRPr kumimoji="1" sz="2400" b="1">
                  <a:solidFill>
                    <a:schemeClr val="tx1"/>
                  </a:solidFill>
                  <a:latin typeface="Times New Roman" pitchFamily="18" charset="0"/>
                  <a:ea typeface="楷体_GB2312" pitchFamily="49" charset="-122"/>
                </a:defRPr>
              </a:lvl3pPr>
              <a:lvl4pPr marL="1600200" indent="-228600" eaLnBrk="0" hangingPunct="0">
                <a:tabLst>
                  <a:tab pos="533400" algn="l"/>
                </a:tabLst>
                <a:defRPr kumimoji="1" sz="2400" b="1">
                  <a:solidFill>
                    <a:schemeClr val="tx1"/>
                  </a:solidFill>
                  <a:latin typeface="Times New Roman" pitchFamily="18" charset="0"/>
                  <a:ea typeface="楷体_GB2312" pitchFamily="49" charset="-122"/>
                </a:defRPr>
              </a:lvl4pPr>
              <a:lvl5pPr marL="2057400" indent="-228600" eaLnBrk="0" hangingPunct="0">
                <a:tabLst>
                  <a:tab pos="533400" algn="l"/>
                </a:tabLst>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tabLst>
                  <a:tab pos="533400" algn="l"/>
                </a:tabLst>
                <a:defRPr kumimoji="1" sz="2400" b="1">
                  <a:solidFill>
                    <a:schemeClr val="tx1"/>
                  </a:solidFill>
                  <a:latin typeface="Times New Roman" pitchFamily="18" charset="0"/>
                  <a:ea typeface="楷体_GB2312" pitchFamily="49" charset="-122"/>
                </a:defRPr>
              </a:lvl9pPr>
            </a:lstStyle>
            <a:p>
              <a:pPr algn="just" eaLnBrk="1" hangingPunct="1">
                <a:spcBef>
                  <a:spcPct val="0"/>
                </a:spcBef>
              </a:pPr>
              <a:r>
                <a:rPr lang="zh-CN" altLang="en-US" sz="2000">
                  <a:solidFill>
                    <a:srgbClr val="0000FF"/>
                  </a:solidFill>
                  <a:ea typeface="宋体" charset="-122"/>
                </a:rPr>
                <a:t>简便方法</a:t>
              </a:r>
              <a:r>
                <a:rPr lang="en-US" altLang="zh-CN" sz="2000">
                  <a:solidFill>
                    <a:srgbClr val="0000FF"/>
                  </a:solidFill>
                  <a:ea typeface="宋体" charset="-122"/>
                </a:rPr>
                <a:t>: </a:t>
              </a:r>
              <a:endParaRPr lang="en-US" altLang="zh-CN" sz="2000">
                <a:solidFill>
                  <a:srgbClr val="0000FF"/>
                </a:solidFill>
                <a:latin typeface="宋体" charset="-122"/>
                <a:ea typeface="宋体" charset="-122"/>
              </a:endParaRPr>
            </a:p>
            <a:p>
              <a:pPr>
                <a:spcBef>
                  <a:spcPct val="0"/>
                </a:spcBef>
              </a:pPr>
              <a:r>
                <a:rPr lang="zh-CN" altLang="en-US" sz="2000">
                  <a:latin typeface="宋体" charset="-122"/>
                  <a:ea typeface="宋体" charset="-122"/>
                </a:rPr>
                <a:t>取基本结构（</a:t>
              </a:r>
              <a:r>
                <a:rPr lang="en-US" altLang="zh-CN" sz="2000" i="1">
                  <a:latin typeface="宋体" charset="-122"/>
                  <a:ea typeface="宋体" charset="-122"/>
                </a:rPr>
                <a:t>c</a:t>
              </a:r>
              <a:r>
                <a:rPr lang="zh-CN" altLang="en-US" sz="2000">
                  <a:latin typeface="宋体" charset="-122"/>
                  <a:ea typeface="宋体" charset="-122"/>
                </a:rPr>
                <a:t>）或 （</a:t>
              </a:r>
              <a:r>
                <a:rPr lang="en-US" altLang="zh-CN" sz="2000">
                  <a:latin typeface="宋体" charset="-122"/>
                  <a:ea typeface="宋体" charset="-122"/>
                </a:rPr>
                <a:t>d)</a:t>
              </a:r>
              <a:r>
                <a:rPr lang="zh-CN" altLang="en-US" sz="2000">
                  <a:latin typeface="宋体" charset="-122"/>
                  <a:ea typeface="宋体" charset="-122"/>
                </a:rPr>
                <a:t>的    与    图乘</a:t>
              </a:r>
              <a:r>
                <a:rPr lang="zh-CN" altLang="en-US" sz="700">
                  <a:latin typeface="宋体" charset="-122"/>
                  <a:ea typeface="宋体" charset="-122"/>
                </a:rPr>
                <a:t> </a:t>
              </a:r>
            </a:p>
          </p:txBody>
        </p:sp>
        <p:graphicFrame>
          <p:nvGraphicFramePr>
            <p:cNvPr id="15" name="Object 13"/>
            <p:cNvGraphicFramePr>
              <a:graphicFrameLocks noChangeAspect="1"/>
            </p:cNvGraphicFramePr>
            <p:nvPr/>
          </p:nvGraphicFramePr>
          <p:xfrm>
            <a:off x="1392" y="3408"/>
            <a:ext cx="288" cy="214"/>
          </p:xfrm>
          <a:graphic>
            <a:graphicData uri="http://schemas.openxmlformats.org/presentationml/2006/ole">
              <mc:AlternateContent xmlns:mc="http://schemas.openxmlformats.org/markup-compatibility/2006">
                <mc:Choice xmlns:v="urn:schemas-microsoft-com:vml" Requires="v">
                  <p:oleObj spid="_x0000_s803015" r:id="rId15" imgW="291847" imgH="215713" progId="Equation.3">
                    <p:embed/>
                  </p:oleObj>
                </mc:Choice>
                <mc:Fallback>
                  <p:oleObj r:id="rId15" imgW="291847" imgH="215713"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92" y="3408"/>
                          <a:ext cx="2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4"/>
            <p:cNvGraphicFramePr>
              <a:graphicFrameLocks noChangeAspect="1"/>
            </p:cNvGraphicFramePr>
            <p:nvPr/>
          </p:nvGraphicFramePr>
          <p:xfrm>
            <a:off x="1920" y="3408"/>
            <a:ext cx="240" cy="194"/>
          </p:xfrm>
          <a:graphic>
            <a:graphicData uri="http://schemas.openxmlformats.org/presentationml/2006/ole">
              <mc:AlternateContent xmlns:mc="http://schemas.openxmlformats.org/markup-compatibility/2006">
                <mc:Choice xmlns:v="urn:schemas-microsoft-com:vml" Requires="v">
                  <p:oleObj spid="_x0000_s803016" r:id="rId17" imgW="203024" imgH="164957" progId="Equation.3">
                    <p:embed/>
                  </p:oleObj>
                </mc:Choice>
                <mc:Fallback>
                  <p:oleObj r:id="rId17" imgW="203024" imgH="164957"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20" y="3408"/>
                          <a:ext cx="24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7" name="Group 15"/>
          <p:cNvGrpSpPr>
            <a:grpSpLocks/>
          </p:cNvGrpSpPr>
          <p:nvPr/>
        </p:nvGrpSpPr>
        <p:grpSpPr bwMode="auto">
          <a:xfrm>
            <a:off x="1143000" y="5633113"/>
            <a:ext cx="6629400" cy="457200"/>
            <a:chOff x="864" y="3264"/>
            <a:chExt cx="4176" cy="288"/>
          </a:xfrm>
        </p:grpSpPr>
        <p:sp>
          <p:nvSpPr>
            <p:cNvPr id="18" name="Rectangle 16"/>
            <p:cNvSpPr>
              <a:spLocks noChangeArrowheads="1"/>
            </p:cNvSpPr>
            <p:nvPr/>
          </p:nvSpPr>
          <p:spPr bwMode="auto">
            <a:xfrm>
              <a:off x="864" y="3264"/>
              <a:ext cx="41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en-US" altLang="zh-CN">
                  <a:latin typeface="楷体_GB2312" pitchFamily="49" charset="-122"/>
                </a:rPr>
                <a:t>2</a:t>
              </a:r>
              <a:r>
                <a:rPr lang="zh-CN" altLang="en-US">
                  <a:latin typeface="楷体_GB2312" pitchFamily="49" charset="-122"/>
                </a:rPr>
                <a:t>）任取一力法基本结构，作出基本结构的</a:t>
              </a:r>
              <a:r>
                <a:rPr lang="zh-CN" altLang="en-US" b="0">
                  <a:latin typeface="楷体_GB2312" pitchFamily="49" charset="-122"/>
                </a:rPr>
                <a:t>   </a:t>
              </a:r>
              <a:r>
                <a:rPr lang="zh-CN" altLang="en-US">
                  <a:latin typeface="楷体_GB2312" pitchFamily="49" charset="-122"/>
                </a:rPr>
                <a:t>图</a:t>
              </a:r>
            </a:p>
          </p:txBody>
        </p:sp>
        <p:graphicFrame>
          <p:nvGraphicFramePr>
            <p:cNvPr id="19" name="Object 17"/>
            <p:cNvGraphicFramePr>
              <a:graphicFrameLocks noChangeAspect="1"/>
            </p:cNvGraphicFramePr>
            <p:nvPr/>
          </p:nvGraphicFramePr>
          <p:xfrm>
            <a:off x="4512" y="3264"/>
            <a:ext cx="240" cy="240"/>
          </p:xfrm>
          <a:graphic>
            <a:graphicData uri="http://schemas.openxmlformats.org/presentationml/2006/ole">
              <mc:AlternateContent xmlns:mc="http://schemas.openxmlformats.org/markup-compatibility/2006">
                <mc:Choice xmlns:v="urn:schemas-microsoft-com:vml" Requires="v">
                  <p:oleObj spid="_x0000_s803017" r:id="rId19" imgW="203024" imgH="203024" progId="Equation.3">
                    <p:embed/>
                  </p:oleObj>
                </mc:Choice>
                <mc:Fallback>
                  <p:oleObj r:id="rId19" imgW="203024" imgH="203024"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12" y="3264"/>
                          <a:ext cx="24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20" name="Rectangle 18"/>
          <p:cNvSpPr>
            <a:spLocks noChangeArrowheads="1"/>
          </p:cNvSpPr>
          <p:nvPr/>
        </p:nvSpPr>
        <p:spPr bwMode="auto">
          <a:xfrm>
            <a:off x="1143000" y="6166513"/>
            <a:ext cx="1257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a:latin typeface="楷体_GB2312" pitchFamily="49" charset="-122"/>
              </a:rPr>
              <a:t>3</a:t>
            </a:r>
            <a:r>
              <a:rPr lang="zh-CN" altLang="en-US">
                <a:latin typeface="楷体_GB2312" pitchFamily="49" charset="-122"/>
              </a:rPr>
              <a:t>）图乘</a:t>
            </a:r>
          </a:p>
        </p:txBody>
      </p:sp>
      <p:sp>
        <p:nvSpPr>
          <p:cNvPr id="21" name="Rectangle 19"/>
          <p:cNvSpPr>
            <a:spLocks noChangeArrowheads="1"/>
          </p:cNvSpPr>
          <p:nvPr/>
        </p:nvSpPr>
        <p:spPr bwMode="auto">
          <a:xfrm>
            <a:off x="3276600" y="6090313"/>
            <a:ext cx="48275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sz="2800">
                <a:solidFill>
                  <a:srgbClr val="FF3300"/>
                </a:solidFill>
                <a:latin typeface="楷体_GB2312" pitchFamily="49" charset="-122"/>
              </a:rPr>
              <a:t>为什么可以是任一基本结构？</a:t>
            </a:r>
          </a:p>
        </p:txBody>
      </p:sp>
    </p:spTree>
    <p:extLst>
      <p:ext uri="{BB962C8B-B14F-4D97-AF65-F5344CB8AC3E}">
        <p14:creationId xmlns:p14="http://schemas.microsoft.com/office/powerpoint/2010/main" val="12714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0-#ppt_w/2"/>
                                          </p:val>
                                        </p:tav>
                                        <p:tav tm="100000">
                                          <p:val>
                                            <p:strVal val="#ppt_x"/>
                                          </p:val>
                                        </p:tav>
                                      </p:tavLst>
                                    </p:anim>
                                    <p:anim calcmode="lin" valueType="num">
                                      <p:cBhvr additive="base">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0-#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0-#ppt_w/2"/>
                                          </p:val>
                                        </p:tav>
                                        <p:tav tm="100000">
                                          <p:val>
                                            <p:strVal val="#ppt_x"/>
                                          </p:val>
                                        </p:tav>
                                      </p:tavLst>
                                    </p:anim>
                                    <p:anim calcmode="lin" valueType="num">
                                      <p:cBhvr additive="base">
                                        <p:cTn id="4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0-#ppt_w/2"/>
                                          </p:val>
                                        </p:tav>
                                        <p:tav tm="100000">
                                          <p:val>
                                            <p:strVal val="#ppt_x"/>
                                          </p:val>
                                        </p:tav>
                                      </p:tavLst>
                                    </p:anim>
                                    <p:anim calcmode="lin" valueType="num">
                                      <p:cBhvr additive="base">
                                        <p:cTn id="5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0-#ppt_w/2"/>
                                          </p:val>
                                        </p:tav>
                                        <p:tav tm="100000">
                                          <p:val>
                                            <p:strVal val="#ppt_x"/>
                                          </p:val>
                                        </p:tav>
                                      </p:tavLst>
                                    </p:anim>
                                    <p:anim calcmode="lin" valueType="num">
                                      <p:cBhvr additive="base">
                                        <p:cTn id="5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3"/>
                                        </p:tgtEl>
                                        <p:attrNameLst>
                                          <p:attrName>style.visibility</p:attrName>
                                        </p:attrNameLst>
                                      </p:cBhvr>
                                      <p:to>
                                        <p:strVal val="visible"/>
                                      </p:to>
                                    </p:set>
                                    <p:anim calcmode="lin" valueType="num">
                                      <p:cBhvr additive="base">
                                        <p:cTn id="61" dur="500" fill="hold"/>
                                        <p:tgtEl>
                                          <p:spTgt spid="13"/>
                                        </p:tgtEl>
                                        <p:attrNameLst>
                                          <p:attrName>ppt_x</p:attrName>
                                        </p:attrNameLst>
                                      </p:cBhvr>
                                      <p:tavLst>
                                        <p:tav tm="0">
                                          <p:val>
                                            <p:strVal val="0-#ppt_w/2"/>
                                          </p:val>
                                        </p:tav>
                                        <p:tav tm="100000">
                                          <p:val>
                                            <p:strVal val="#ppt_x"/>
                                          </p:val>
                                        </p:tav>
                                      </p:tavLst>
                                    </p:anim>
                                    <p:anim calcmode="lin" valueType="num">
                                      <p:cBhvr additive="base">
                                        <p:cTn id="6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fill="hold"/>
                                        <p:tgtEl>
                                          <p:spTgt spid="17"/>
                                        </p:tgtEl>
                                        <p:attrNameLst>
                                          <p:attrName>ppt_x</p:attrName>
                                        </p:attrNameLst>
                                      </p:cBhvr>
                                      <p:tavLst>
                                        <p:tav tm="0">
                                          <p:val>
                                            <p:strVal val="0-#ppt_w/2"/>
                                          </p:val>
                                        </p:tav>
                                        <p:tav tm="100000">
                                          <p:val>
                                            <p:strVal val="#ppt_x"/>
                                          </p:val>
                                        </p:tav>
                                      </p:tavLst>
                                    </p:anim>
                                    <p:anim calcmode="lin" valueType="num">
                                      <p:cBhvr additive="base">
                                        <p:cTn id="6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ppt_x"/>
                                          </p:val>
                                        </p:tav>
                                        <p:tav tm="100000">
                                          <p:val>
                                            <p:strVal val="#ppt_x"/>
                                          </p:val>
                                        </p:tav>
                                      </p:tavLst>
                                    </p:anim>
                                    <p:anim calcmode="lin" valueType="num">
                                      <p:cBhvr additive="base">
                                        <p:cTn id="7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blinds(horizontal)">
                                      <p:cBhvr>
                                        <p:cTn id="7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1" grpId="0" autoUpdateAnimBg="0"/>
      <p:bldP spid="12" grpId="0" autoUpdateAnimBg="0"/>
      <p:bldP spid="20" grpId="0" autoUpdateAnimBg="0"/>
      <p:bldP spid="21"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6-9 </a:t>
            </a:r>
            <a:r>
              <a:rPr lang="zh-CN" altLang="en-US" sz="2400" dirty="0"/>
              <a:t>超静定结构的位移计算</a:t>
            </a:r>
            <a:endParaRPr lang="zh-CN" altLang="en-US" dirty="0"/>
          </a:p>
        </p:txBody>
      </p:sp>
      <p:grpSp>
        <p:nvGrpSpPr>
          <p:cNvPr id="4" name="Group 2"/>
          <p:cNvGrpSpPr>
            <a:grpSpLocks/>
          </p:cNvGrpSpPr>
          <p:nvPr/>
        </p:nvGrpSpPr>
        <p:grpSpPr bwMode="auto">
          <a:xfrm>
            <a:off x="815976" y="5994972"/>
            <a:ext cx="7777162" cy="528637"/>
            <a:chOff x="703" y="3430"/>
            <a:chExt cx="4899" cy="333"/>
          </a:xfrm>
        </p:grpSpPr>
        <p:sp>
          <p:nvSpPr>
            <p:cNvPr id="5" name="Rectangle 3"/>
            <p:cNvSpPr>
              <a:spLocks noChangeArrowheads="1"/>
            </p:cNvSpPr>
            <p:nvPr/>
          </p:nvSpPr>
          <p:spPr bwMode="auto">
            <a:xfrm>
              <a:off x="703" y="3475"/>
              <a:ext cx="489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4800"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fontAlgn="ctr">
                <a:spcBef>
                  <a:spcPct val="0"/>
                </a:spcBef>
              </a:pPr>
              <a:r>
                <a:rPr lang="zh-CN" altLang="en-US">
                  <a:solidFill>
                    <a:srgbClr val="CC0000"/>
                  </a:solidFill>
                  <a:latin typeface="楷体_GB2312" pitchFamily="49" charset="-122"/>
                </a:rPr>
                <a:t>思考：</a:t>
              </a:r>
              <a:r>
                <a:rPr lang="zh-CN" altLang="en-US">
                  <a:latin typeface="楷体_GB2312" pitchFamily="49" charset="-122"/>
                </a:rPr>
                <a:t>可否选用悬臂刚架作为基本结构来计算   ？</a:t>
              </a:r>
              <a:endParaRPr lang="zh-CN" altLang="en-US" b="0">
                <a:latin typeface="楷体_GB2312" pitchFamily="49" charset="-122"/>
              </a:endParaRPr>
            </a:p>
          </p:txBody>
        </p:sp>
        <p:graphicFrame>
          <p:nvGraphicFramePr>
            <p:cNvPr id="6" name="Object 4"/>
            <p:cNvGraphicFramePr>
              <a:graphicFrameLocks noChangeAspect="1"/>
            </p:cNvGraphicFramePr>
            <p:nvPr/>
          </p:nvGraphicFramePr>
          <p:xfrm>
            <a:off x="4830" y="3430"/>
            <a:ext cx="280" cy="307"/>
          </p:xfrm>
          <a:graphic>
            <a:graphicData uri="http://schemas.openxmlformats.org/presentationml/2006/ole">
              <mc:AlternateContent xmlns:mc="http://schemas.openxmlformats.org/markup-compatibility/2006">
                <mc:Choice xmlns:v="urn:schemas-microsoft-com:vml" Requires="v">
                  <p:oleObj spid="_x0000_s827450" r:id="rId3" imgW="203024" imgH="215713" progId="Equation.3">
                    <p:embed/>
                  </p:oleObj>
                </mc:Choice>
                <mc:Fallback>
                  <p:oleObj r:id="rId3" imgW="203024" imgH="2157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0" y="3430"/>
                          <a:ext cx="28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 name="Rectangle 5"/>
          <p:cNvSpPr>
            <a:spLocks noChangeArrowheads="1"/>
          </p:cNvSpPr>
          <p:nvPr/>
        </p:nvSpPr>
        <p:spPr bwMode="auto">
          <a:xfrm>
            <a:off x="887413" y="1776984"/>
            <a:ext cx="741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4800"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lgn="just" fontAlgn="ctr">
              <a:spcBef>
                <a:spcPct val="0"/>
              </a:spcBef>
            </a:pPr>
            <a:r>
              <a:rPr lang="en-US" altLang="zh-CN">
                <a:ea typeface="仿宋_GB2312" pitchFamily="49" charset="-122"/>
              </a:rPr>
              <a:t>    </a:t>
            </a:r>
            <a:r>
              <a:rPr lang="zh-CN" altLang="en-US">
                <a:latin typeface="楷体_GB2312" pitchFamily="49" charset="-122"/>
              </a:rPr>
              <a:t>解</a:t>
            </a:r>
            <a:r>
              <a:rPr lang="en-US" altLang="zh-CN">
                <a:latin typeface="楷体_GB2312" pitchFamily="49" charset="-122"/>
              </a:rPr>
              <a:t>: </a:t>
            </a:r>
            <a:r>
              <a:rPr lang="zh-CN" altLang="en-US">
                <a:latin typeface="楷体_GB2312" pitchFamily="49" charset="-122"/>
              </a:rPr>
              <a:t>选取</a:t>
            </a:r>
            <a:r>
              <a:rPr lang="zh-CN" altLang="en-US">
                <a:solidFill>
                  <a:schemeClr val="tx2"/>
                </a:solidFill>
                <a:latin typeface="楷体_GB2312" pitchFamily="49" charset="-122"/>
              </a:rPr>
              <a:t>简支刚架作为基本结构，作出其单位力弯矩图。 </a:t>
            </a:r>
            <a:r>
              <a:rPr lang="zh-CN" altLang="en-US" b="0">
                <a:latin typeface="楷体_GB2312" pitchFamily="49" charset="-122"/>
              </a:rPr>
              <a:t> </a:t>
            </a:r>
          </a:p>
        </p:txBody>
      </p:sp>
      <p:graphicFrame>
        <p:nvGraphicFramePr>
          <p:cNvPr id="8" name="Object 6"/>
          <p:cNvGraphicFramePr>
            <a:graphicFrameLocks noChangeAspect="1"/>
          </p:cNvGraphicFramePr>
          <p:nvPr>
            <p:extLst>
              <p:ext uri="{D42A27DB-BD31-4B8C-83A1-F6EECF244321}">
                <p14:modId xmlns:p14="http://schemas.microsoft.com/office/powerpoint/2010/main" val="647238299"/>
              </p:ext>
            </p:extLst>
          </p:nvPr>
        </p:nvGraphicFramePr>
        <p:xfrm>
          <a:off x="1246188" y="2323084"/>
          <a:ext cx="2592388" cy="2384425"/>
        </p:xfrm>
        <a:graphic>
          <a:graphicData uri="http://schemas.openxmlformats.org/presentationml/2006/ole">
            <mc:AlternateContent xmlns:mc="http://schemas.openxmlformats.org/markup-compatibility/2006">
              <mc:Choice xmlns:v="urn:schemas-microsoft-com:vml" Requires="v">
                <p:oleObj spid="_x0000_s827451" name="AutoCAD Drawing" r:id="rId5" imgW="8791575" imgH="4581525" progId="AutoCAD.Drawing.16">
                  <p:embed/>
                </p:oleObj>
              </mc:Choice>
              <mc:Fallback>
                <p:oleObj name="AutoCAD Drawing" r:id="rId5" imgW="8791575" imgH="4581525" progId="AutoCAD.Drawing.1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l="9996" t="14305" r="44649" b="8636"/>
                      <a:stretch>
                        <a:fillRect/>
                      </a:stretch>
                    </p:blipFill>
                    <p:spPr bwMode="auto">
                      <a:xfrm>
                        <a:off x="1246188" y="2323084"/>
                        <a:ext cx="2592388" cy="238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1922762331"/>
              </p:ext>
            </p:extLst>
          </p:nvPr>
        </p:nvGraphicFramePr>
        <p:xfrm>
          <a:off x="4127501" y="2465959"/>
          <a:ext cx="2016125" cy="1865313"/>
        </p:xfrm>
        <a:graphic>
          <a:graphicData uri="http://schemas.openxmlformats.org/presentationml/2006/ole">
            <mc:AlternateContent xmlns:mc="http://schemas.openxmlformats.org/markup-compatibility/2006">
              <mc:Choice xmlns:v="urn:schemas-microsoft-com:vml" Requires="v">
                <p:oleObj spid="_x0000_s827452" name="AutoCAD Drawing" r:id="rId7" imgW="8943975" imgH="4981575" progId="AutoCAD.Drawing.16">
                  <p:embed/>
                </p:oleObj>
              </mc:Choice>
              <mc:Fallback>
                <p:oleObj name="AutoCAD Drawing" r:id="rId7" imgW="8943975" imgH="4981575" progId="AutoCAD.Drawing.1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l="8112" t="25096" r="53696" b="14268"/>
                      <a:stretch>
                        <a:fillRect/>
                      </a:stretch>
                    </p:blipFill>
                    <p:spPr bwMode="auto">
                      <a:xfrm>
                        <a:off x="4127501" y="2465959"/>
                        <a:ext cx="2016125"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8"/>
          <p:cNvGraphicFramePr>
            <a:graphicFrameLocks noChangeAspect="1"/>
          </p:cNvGraphicFramePr>
          <p:nvPr>
            <p:extLst>
              <p:ext uri="{D42A27DB-BD31-4B8C-83A1-F6EECF244321}">
                <p14:modId xmlns:p14="http://schemas.microsoft.com/office/powerpoint/2010/main" val="1282376004"/>
              </p:ext>
            </p:extLst>
          </p:nvPr>
        </p:nvGraphicFramePr>
        <p:xfrm>
          <a:off x="6719888" y="2538984"/>
          <a:ext cx="1439863" cy="2016125"/>
        </p:xfrm>
        <a:graphic>
          <a:graphicData uri="http://schemas.openxmlformats.org/presentationml/2006/ole">
            <mc:AlternateContent xmlns:mc="http://schemas.openxmlformats.org/markup-compatibility/2006">
              <mc:Choice xmlns:v="urn:schemas-microsoft-com:vml" Requires="v">
                <p:oleObj spid="_x0000_s827453" name="AutoCAD Drawing" r:id="rId9" imgW="8905875" imgH="4219575" progId="AutoCAD.Drawing.16">
                  <p:embed/>
                </p:oleObj>
              </mc:Choice>
              <mc:Fallback>
                <p:oleObj name="AutoCAD Drawing" r:id="rId9" imgW="8905875" imgH="4219575" progId="AutoCAD.Drawing.1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l="18573" t="3235" r="52806" b="13098"/>
                      <a:stretch>
                        <a:fillRect/>
                      </a:stretch>
                    </p:blipFill>
                    <p:spPr bwMode="auto">
                      <a:xfrm>
                        <a:off x="6719888" y="2538984"/>
                        <a:ext cx="1439863"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10"/>
          <p:cNvSpPr>
            <a:spLocks noChangeArrowheads="1"/>
          </p:cNvSpPr>
          <p:nvPr/>
        </p:nvSpPr>
        <p:spPr bwMode="auto">
          <a:xfrm>
            <a:off x="903288" y="1319784"/>
            <a:ext cx="6611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dirty="0"/>
              <a:t>例</a:t>
            </a:r>
            <a:r>
              <a:rPr lang="en-US" altLang="zh-CN" dirty="0"/>
              <a:t>1</a:t>
            </a:r>
            <a:r>
              <a:rPr lang="zh-CN" altLang="en-US" dirty="0"/>
              <a:t>：计算图示刚架上</a:t>
            </a:r>
            <a:r>
              <a:rPr lang="en-US" altLang="zh-CN" i="1" dirty="0"/>
              <a:t>BC</a:t>
            </a:r>
            <a:r>
              <a:rPr lang="zh-CN" altLang="en-US" dirty="0"/>
              <a:t>杆</a:t>
            </a:r>
            <a:r>
              <a:rPr lang="en-US" altLang="zh-CN" i="1" dirty="0"/>
              <a:t>B</a:t>
            </a:r>
            <a:r>
              <a:rPr lang="zh-CN" altLang="en-US" dirty="0"/>
              <a:t>端的转角位移      。</a:t>
            </a:r>
          </a:p>
        </p:txBody>
      </p:sp>
      <p:graphicFrame>
        <p:nvGraphicFramePr>
          <p:cNvPr id="12" name="Object 11"/>
          <p:cNvGraphicFramePr>
            <a:graphicFrameLocks noChangeAspect="1"/>
          </p:cNvGraphicFramePr>
          <p:nvPr>
            <p:extLst>
              <p:ext uri="{D42A27DB-BD31-4B8C-83A1-F6EECF244321}">
                <p14:modId xmlns:p14="http://schemas.microsoft.com/office/powerpoint/2010/main" val="3092548700"/>
              </p:ext>
            </p:extLst>
          </p:nvPr>
        </p:nvGraphicFramePr>
        <p:xfrm>
          <a:off x="6694488" y="1268984"/>
          <a:ext cx="377825" cy="431800"/>
        </p:xfrm>
        <a:graphic>
          <a:graphicData uri="http://schemas.openxmlformats.org/presentationml/2006/ole">
            <mc:AlternateContent xmlns:mc="http://schemas.openxmlformats.org/markup-compatibility/2006">
              <mc:Choice xmlns:v="urn:schemas-microsoft-com:vml" Requires="v">
                <p:oleObj spid="_x0000_s827454" name="公式" r:id="rId11" imgW="181084" imgH="209697" progId="Equation.3">
                  <p:embed/>
                </p:oleObj>
              </mc:Choice>
              <mc:Fallback>
                <p:oleObj name="公式" r:id="rId11" imgW="181084" imgH="209697"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94488" y="1268984"/>
                        <a:ext cx="3778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3" name="Group 12"/>
          <p:cNvGrpSpPr>
            <a:grpSpLocks/>
          </p:cNvGrpSpPr>
          <p:nvPr/>
        </p:nvGrpSpPr>
        <p:grpSpPr bwMode="auto">
          <a:xfrm>
            <a:off x="1520826" y="4723384"/>
            <a:ext cx="4191000" cy="506413"/>
            <a:chOff x="720" y="593"/>
            <a:chExt cx="2640" cy="319"/>
          </a:xfrm>
        </p:grpSpPr>
        <p:sp>
          <p:nvSpPr>
            <p:cNvPr id="14" name="Rectangle 13"/>
            <p:cNvSpPr>
              <a:spLocks noChangeArrowheads="1"/>
            </p:cNvSpPr>
            <p:nvPr/>
          </p:nvSpPr>
          <p:spPr bwMode="auto">
            <a:xfrm>
              <a:off x="720" y="624"/>
              <a:ext cx="26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lgn="just" eaLnBrk="1" fontAlgn="ctr" hangingPunct="1">
                <a:spcBef>
                  <a:spcPct val="0"/>
                </a:spcBef>
              </a:pPr>
              <a:r>
                <a:rPr lang="zh-CN" altLang="en-US">
                  <a:latin typeface="楷体_GB2312" pitchFamily="49" charset="-122"/>
                </a:rPr>
                <a:t>令    图与</a:t>
              </a:r>
              <a:r>
                <a:rPr lang="en-US" altLang="zh-CN" i="1">
                  <a:solidFill>
                    <a:srgbClr val="FF00FF"/>
                  </a:solidFill>
                </a:rPr>
                <a:t>M</a:t>
              </a:r>
              <a:r>
                <a:rPr lang="en-US" altLang="zh-CN" i="1"/>
                <a:t> </a:t>
              </a:r>
              <a:r>
                <a:rPr lang="en-US" altLang="zh-CN" i="1">
                  <a:latin typeface="楷体_GB2312" pitchFamily="49" charset="-122"/>
                </a:rPr>
                <a:t> </a:t>
              </a:r>
              <a:r>
                <a:rPr lang="zh-CN" altLang="en-US">
                  <a:latin typeface="楷体_GB2312" pitchFamily="49" charset="-122"/>
                </a:rPr>
                <a:t>图相图乘，得</a:t>
              </a:r>
            </a:p>
          </p:txBody>
        </p:sp>
        <p:graphicFrame>
          <p:nvGraphicFramePr>
            <p:cNvPr id="15" name="Object 14"/>
            <p:cNvGraphicFramePr>
              <a:graphicFrameLocks noChangeAspect="1"/>
            </p:cNvGraphicFramePr>
            <p:nvPr/>
          </p:nvGraphicFramePr>
          <p:xfrm>
            <a:off x="960" y="593"/>
            <a:ext cx="336" cy="289"/>
          </p:xfrm>
          <a:graphic>
            <a:graphicData uri="http://schemas.openxmlformats.org/presentationml/2006/ole">
              <mc:AlternateContent xmlns:mc="http://schemas.openxmlformats.org/markup-compatibility/2006">
                <mc:Choice xmlns:v="urn:schemas-microsoft-com:vml" Requires="v">
                  <p:oleObj spid="_x0000_s827455" r:id="rId13" imgW="209468" imgH="180922" progId="Equation.3">
                    <p:embed/>
                  </p:oleObj>
                </mc:Choice>
                <mc:Fallback>
                  <p:oleObj r:id="rId13" imgW="209468" imgH="18092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0" y="593"/>
                          <a:ext cx="33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 name="Object 15"/>
          <p:cNvGraphicFramePr>
            <a:graphicFrameLocks noChangeAspect="1"/>
          </p:cNvGraphicFramePr>
          <p:nvPr>
            <p:extLst>
              <p:ext uri="{D42A27DB-BD31-4B8C-83A1-F6EECF244321}">
                <p14:modId xmlns:p14="http://schemas.microsoft.com/office/powerpoint/2010/main" val="3873748921"/>
              </p:ext>
            </p:extLst>
          </p:nvPr>
        </p:nvGraphicFramePr>
        <p:xfrm>
          <a:off x="1824038" y="5202809"/>
          <a:ext cx="4464050" cy="768350"/>
        </p:xfrm>
        <a:graphic>
          <a:graphicData uri="http://schemas.openxmlformats.org/presentationml/2006/ole">
            <mc:AlternateContent xmlns:mc="http://schemas.openxmlformats.org/markup-compatibility/2006">
              <mc:Choice xmlns:v="urn:schemas-microsoft-com:vml" Requires="v">
                <p:oleObj spid="_x0000_s827456" name="公式" r:id="rId15" imgW="2171565" imgH="380907" progId="Equation.3">
                  <p:embed/>
                </p:oleObj>
              </mc:Choice>
              <mc:Fallback>
                <p:oleObj name="公式" r:id="rId15" imgW="2171565" imgH="380907"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24038" y="5202809"/>
                        <a:ext cx="44640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7" name="Group 16"/>
          <p:cNvGrpSpPr>
            <a:grpSpLocks/>
          </p:cNvGrpSpPr>
          <p:nvPr/>
        </p:nvGrpSpPr>
        <p:grpSpPr bwMode="auto">
          <a:xfrm>
            <a:off x="6361113" y="5299647"/>
            <a:ext cx="1511300" cy="427037"/>
            <a:chOff x="4422" y="1207"/>
            <a:chExt cx="952" cy="269"/>
          </a:xfrm>
        </p:grpSpPr>
        <p:graphicFrame>
          <p:nvGraphicFramePr>
            <p:cNvPr id="18" name="Object 17"/>
            <p:cNvGraphicFramePr>
              <a:graphicFrameLocks noChangeAspect="1"/>
            </p:cNvGraphicFramePr>
            <p:nvPr/>
          </p:nvGraphicFramePr>
          <p:xfrm>
            <a:off x="4649" y="1253"/>
            <a:ext cx="108" cy="144"/>
          </p:xfrm>
          <a:graphic>
            <a:graphicData uri="http://schemas.openxmlformats.org/presentationml/2006/ole">
              <mc:AlternateContent xmlns:mc="http://schemas.openxmlformats.org/markup-compatibility/2006">
                <mc:Choice xmlns:v="urn:schemas-microsoft-com:vml" Requires="v">
                  <p:oleObj spid="_x0000_s827457" r:id="rId17" imgW="171925" imgH="228220" progId="Word.Picture.8">
                    <p:embed/>
                  </p:oleObj>
                </mc:Choice>
                <mc:Fallback>
                  <p:oleObj r:id="rId17" imgW="171925" imgH="228220" progId="Word.Picture.8">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49" y="1253"/>
                          <a:ext cx="1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8"/>
            <p:cNvSpPr>
              <a:spLocks noChangeArrowheads="1"/>
            </p:cNvSpPr>
            <p:nvPr/>
          </p:nvSpPr>
          <p:spPr bwMode="auto">
            <a:xfrm>
              <a:off x="4422" y="1207"/>
              <a:ext cx="952"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zh-CN" altLang="en-US" sz="2200">
                  <a:ea typeface="仿宋_GB2312" pitchFamily="49" charset="-122"/>
                </a:rPr>
                <a:t>（   ）</a:t>
              </a:r>
            </a:p>
          </p:txBody>
        </p:sp>
      </p:grpSp>
    </p:spTree>
    <p:extLst>
      <p:ext uri="{BB962C8B-B14F-4D97-AF65-F5344CB8AC3E}">
        <p14:creationId xmlns:p14="http://schemas.microsoft.com/office/powerpoint/2010/main" val="21862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lef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6-10 </a:t>
            </a:r>
            <a:r>
              <a:rPr lang="zh-CN" altLang="en-US" sz="2400" dirty="0"/>
              <a:t>超静定结构计算的校核</a:t>
            </a:r>
            <a:endParaRPr lang="zh-CN" altLang="en-US" dirty="0"/>
          </a:p>
        </p:txBody>
      </p:sp>
      <p:sp>
        <p:nvSpPr>
          <p:cNvPr id="4" name="Rectangle 2"/>
          <p:cNvSpPr>
            <a:spLocks noChangeArrowheads="1"/>
          </p:cNvSpPr>
          <p:nvPr/>
        </p:nvSpPr>
        <p:spPr bwMode="auto">
          <a:xfrm>
            <a:off x="787284" y="5321301"/>
            <a:ext cx="72009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57200" eaLnBrk="0" hangingPunct="0">
              <a:tabLst>
                <a:tab pos="695325" algn="l"/>
              </a:tabLst>
              <a:defRPr kumimoji="1" sz="2400" b="1">
                <a:solidFill>
                  <a:schemeClr val="tx1"/>
                </a:solidFill>
                <a:latin typeface="Times New Roman" pitchFamily="18" charset="0"/>
                <a:ea typeface="楷体_GB2312" pitchFamily="49" charset="-122"/>
              </a:defRPr>
            </a:lvl1pPr>
            <a:lvl2pPr marL="742950" indent="-285750" eaLnBrk="0" hangingPunct="0">
              <a:tabLst>
                <a:tab pos="695325" algn="l"/>
              </a:tabLst>
              <a:defRPr kumimoji="1" sz="2400" b="1">
                <a:solidFill>
                  <a:schemeClr val="tx1"/>
                </a:solidFill>
                <a:latin typeface="Times New Roman" pitchFamily="18" charset="0"/>
                <a:ea typeface="楷体_GB2312" pitchFamily="49" charset="-122"/>
              </a:defRPr>
            </a:lvl2pPr>
            <a:lvl3pPr marL="1143000" indent="-228600" eaLnBrk="0" hangingPunct="0">
              <a:tabLst>
                <a:tab pos="695325" algn="l"/>
              </a:tabLst>
              <a:defRPr kumimoji="1" sz="2400" b="1">
                <a:solidFill>
                  <a:schemeClr val="tx1"/>
                </a:solidFill>
                <a:latin typeface="Times New Roman" pitchFamily="18" charset="0"/>
                <a:ea typeface="楷体_GB2312" pitchFamily="49" charset="-122"/>
              </a:defRPr>
            </a:lvl3pPr>
            <a:lvl4pPr marL="1600200" indent="-228600" eaLnBrk="0" hangingPunct="0">
              <a:tabLst>
                <a:tab pos="695325" algn="l"/>
              </a:tabLst>
              <a:defRPr kumimoji="1" sz="2400" b="1">
                <a:solidFill>
                  <a:schemeClr val="tx1"/>
                </a:solidFill>
                <a:latin typeface="Times New Roman" pitchFamily="18" charset="0"/>
                <a:ea typeface="楷体_GB2312" pitchFamily="49" charset="-122"/>
              </a:defRPr>
            </a:lvl4pPr>
            <a:lvl5pPr marL="2057400" indent="-228600" eaLnBrk="0" hangingPunct="0">
              <a:tabLst>
                <a:tab pos="695325" algn="l"/>
              </a:tabLst>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tabLst>
                <a:tab pos="695325" algn="l"/>
              </a:tabLs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tabLst>
                <a:tab pos="695325" algn="l"/>
              </a:tabLs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tabLst>
                <a:tab pos="695325" algn="l"/>
              </a:tabLs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tabLst>
                <a:tab pos="695325" algn="l"/>
              </a:tabLst>
              <a:defRPr kumimoji="1" sz="2400" b="1">
                <a:solidFill>
                  <a:schemeClr val="tx1"/>
                </a:solidFill>
                <a:latin typeface="Times New Roman" pitchFamily="18" charset="0"/>
                <a:ea typeface="楷体_GB2312" pitchFamily="49" charset="-122"/>
              </a:defRPr>
            </a:lvl9pPr>
          </a:lstStyle>
          <a:p>
            <a:pPr fontAlgn="ctr">
              <a:spcBef>
                <a:spcPct val="0"/>
              </a:spcBef>
            </a:pPr>
            <a:r>
              <a:rPr lang="en-US" altLang="zh-CN">
                <a:ea typeface="幼圆" pitchFamily="49" charset="-122"/>
              </a:rPr>
              <a:t>  2.</a:t>
            </a:r>
            <a:r>
              <a:rPr lang="en-US" altLang="zh-CN">
                <a:latin typeface="幼圆" pitchFamily="49" charset="-122"/>
                <a:ea typeface="幼圆" pitchFamily="49" charset="-122"/>
              </a:rPr>
              <a:t> </a:t>
            </a:r>
            <a:r>
              <a:rPr lang="zh-CN" altLang="en-US">
                <a:latin typeface="楷体_GB2312" pitchFamily="49" charset="-122"/>
              </a:rPr>
              <a:t>变形条件</a:t>
            </a:r>
            <a:r>
              <a:rPr lang="en-US" altLang="zh-CN">
                <a:latin typeface="楷体_GB2312" pitchFamily="49" charset="-122"/>
              </a:rPr>
              <a:t>(</a:t>
            </a:r>
            <a:r>
              <a:rPr lang="zh-CN" altLang="en-US">
                <a:latin typeface="楷体_GB2312" pitchFamily="49" charset="-122"/>
              </a:rPr>
              <a:t>位移条件</a:t>
            </a:r>
            <a:r>
              <a:rPr lang="en-US" altLang="zh-CN">
                <a:latin typeface="楷体_GB2312" pitchFamily="49" charset="-122"/>
              </a:rPr>
              <a:t>)</a:t>
            </a:r>
            <a:r>
              <a:rPr lang="zh-CN" altLang="en-US">
                <a:latin typeface="楷体_GB2312" pitchFamily="49" charset="-122"/>
              </a:rPr>
              <a:t>的校核</a:t>
            </a:r>
            <a:r>
              <a:rPr lang="en-US" altLang="zh-CN"/>
              <a:t>——</a:t>
            </a:r>
            <a:r>
              <a:rPr lang="zh-CN" altLang="en-US">
                <a:latin typeface="楷体_GB2312" pitchFamily="49" charset="-122"/>
              </a:rPr>
              <a:t>检验在计算出来的内力状态下结构是否满足已知位移条件。</a:t>
            </a:r>
            <a:endParaRPr lang="zh-CN" altLang="en-US" b="0">
              <a:latin typeface="楷体_GB2312" pitchFamily="49" charset="-122"/>
            </a:endParaRPr>
          </a:p>
        </p:txBody>
      </p:sp>
      <p:sp>
        <p:nvSpPr>
          <p:cNvPr id="5" name="Rectangle 3"/>
          <p:cNvSpPr>
            <a:spLocks noChangeArrowheads="1"/>
          </p:cNvSpPr>
          <p:nvPr/>
        </p:nvSpPr>
        <p:spPr bwMode="auto">
          <a:xfrm>
            <a:off x="1174634" y="1417638"/>
            <a:ext cx="3448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zh-CN" altLang="en-US" sz="3200">
                <a:solidFill>
                  <a:srgbClr val="CC0000"/>
                </a:solidFill>
                <a:latin typeface="楷体_GB2312" pitchFamily="49" charset="-122"/>
              </a:rPr>
              <a:t>最后内力图的校核</a:t>
            </a:r>
          </a:p>
        </p:txBody>
      </p:sp>
      <p:sp>
        <p:nvSpPr>
          <p:cNvPr id="6" name="Rectangle 4"/>
          <p:cNvSpPr>
            <a:spLocks noChangeArrowheads="1"/>
          </p:cNvSpPr>
          <p:nvPr/>
        </p:nvSpPr>
        <p:spPr bwMode="auto">
          <a:xfrm>
            <a:off x="669809" y="2249488"/>
            <a:ext cx="74898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a:ea typeface="仿宋_GB2312" pitchFamily="49" charset="-122"/>
              </a:rPr>
              <a:t>        </a:t>
            </a:r>
            <a:r>
              <a:rPr lang="zh-CN" altLang="en-US"/>
              <a:t>力法计算超静定结构时，应用了位移谐调条件、静力平衡条件。校核超静定结构的内力图时，也要从两方面进行校核。</a:t>
            </a:r>
          </a:p>
        </p:txBody>
      </p:sp>
      <p:sp>
        <p:nvSpPr>
          <p:cNvPr id="7" name="Rectangle 5"/>
          <p:cNvSpPr>
            <a:spLocks noChangeArrowheads="1"/>
          </p:cNvSpPr>
          <p:nvPr/>
        </p:nvSpPr>
        <p:spPr bwMode="auto">
          <a:xfrm>
            <a:off x="1319097" y="3698876"/>
            <a:ext cx="2633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fontAlgn="ctr">
              <a:spcBef>
                <a:spcPct val="0"/>
              </a:spcBef>
            </a:pPr>
            <a:r>
              <a:rPr lang="en-US" altLang="zh-CN"/>
              <a:t>1. </a:t>
            </a:r>
            <a:r>
              <a:rPr lang="zh-CN" altLang="en-US">
                <a:latin typeface="楷体_GB2312" pitchFamily="49" charset="-122"/>
              </a:rPr>
              <a:t>平衡条件校核；</a:t>
            </a:r>
          </a:p>
        </p:txBody>
      </p:sp>
      <p:sp>
        <p:nvSpPr>
          <p:cNvPr id="8" name="Rectangle 6"/>
          <p:cNvSpPr>
            <a:spLocks noChangeArrowheads="1"/>
          </p:cNvSpPr>
          <p:nvPr/>
        </p:nvSpPr>
        <p:spPr bwMode="auto">
          <a:xfrm>
            <a:off x="939684" y="4254501"/>
            <a:ext cx="6934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a:solidFill>
                  <a:srgbClr val="FF0000"/>
                </a:solidFill>
                <a:effectLst>
                  <a:outerShdw blurRad="38100" dist="38100" dir="2700000" algn="tl">
                    <a:srgbClr val="C0C0C0"/>
                  </a:outerShdw>
                </a:effectLst>
                <a:latin typeface="楷体_GB2312" pitchFamily="49" charset="-122"/>
              </a:rPr>
              <a:t>    </a:t>
            </a:r>
            <a:r>
              <a:rPr lang="zh-CN" altLang="en-US">
                <a:solidFill>
                  <a:srgbClr val="CC0000"/>
                </a:solidFill>
                <a:effectLst>
                  <a:outerShdw blurRad="38100" dist="38100" dir="2700000" algn="tl">
                    <a:srgbClr val="C0C0C0"/>
                  </a:outerShdw>
                </a:effectLst>
                <a:latin typeface="楷体_GB2312" pitchFamily="49" charset="-122"/>
              </a:rPr>
              <a:t>使结构上的任一部分都处于平衡的解答是否就是问题的正确解？</a:t>
            </a:r>
          </a:p>
        </p:txBody>
      </p:sp>
    </p:spTree>
    <p:extLst>
      <p:ext uri="{BB962C8B-B14F-4D97-AF65-F5344CB8AC3E}">
        <p14:creationId xmlns:p14="http://schemas.microsoft.com/office/powerpoint/2010/main" val="3216509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0-#ppt_w/2"/>
                                          </p:val>
                                        </p:tav>
                                        <p:tav tm="100000">
                                          <p:val>
                                            <p:strVal val="#ppt_x"/>
                                          </p:val>
                                        </p:tav>
                                      </p:tavLst>
                                    </p:anim>
                                    <p:anim calcmode="lin" valueType="num">
                                      <p:cBhvr additive="base">
                                        <p:cTn id="23"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up)">
                                      <p:cBhvr>
                                        <p:cTn id="2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P spid="8"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6-10 </a:t>
            </a:r>
            <a:r>
              <a:rPr lang="zh-CN" altLang="en-US" sz="2800" dirty="0"/>
              <a:t>超静定结构计算的校核</a:t>
            </a:r>
            <a:endParaRPr lang="zh-CN" altLang="en-US" dirty="0"/>
          </a:p>
        </p:txBody>
      </p:sp>
      <p:sp>
        <p:nvSpPr>
          <p:cNvPr id="4" name="Rectangle 2"/>
          <p:cNvSpPr>
            <a:spLocks noChangeArrowheads="1"/>
          </p:cNvSpPr>
          <p:nvPr/>
        </p:nvSpPr>
        <p:spPr bwMode="auto">
          <a:xfrm>
            <a:off x="467544" y="1249680"/>
            <a:ext cx="746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en-US" altLang="zh-CN">
                <a:ea typeface="仿宋_GB2312" pitchFamily="49" charset="-122"/>
              </a:rPr>
              <a:t>        </a:t>
            </a:r>
            <a:r>
              <a:rPr lang="zh-CN" altLang="en-US"/>
              <a:t>例</a:t>
            </a:r>
            <a:r>
              <a:rPr lang="zh-CN" altLang="en-US">
                <a:ea typeface="仿宋_GB2312" pitchFamily="49" charset="-122"/>
              </a:rPr>
              <a:t>： </a:t>
            </a:r>
            <a:r>
              <a:rPr lang="zh-CN" altLang="en-US">
                <a:latin typeface="楷体_GB2312" pitchFamily="49" charset="-122"/>
              </a:rPr>
              <a:t>试校核图示刚架的弯矩图其是否有误。        </a:t>
            </a:r>
          </a:p>
        </p:txBody>
      </p:sp>
      <p:sp>
        <p:nvSpPr>
          <p:cNvPr id="5" name="Rectangle 3"/>
          <p:cNvSpPr>
            <a:spLocks noChangeArrowheads="1"/>
          </p:cNvSpPr>
          <p:nvPr/>
        </p:nvSpPr>
        <p:spPr bwMode="auto">
          <a:xfrm>
            <a:off x="1199382" y="3816668"/>
            <a:ext cx="7127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304800"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fontAlgn="ctr">
              <a:spcBef>
                <a:spcPct val="0"/>
              </a:spcBef>
            </a:pPr>
            <a:r>
              <a:rPr lang="zh-CN" altLang="en-US"/>
              <a:t>取刚结点</a:t>
            </a:r>
            <a:r>
              <a:rPr lang="en-US" altLang="zh-CN" i="1"/>
              <a:t>C </a:t>
            </a:r>
            <a:r>
              <a:rPr lang="zh-CN" altLang="en-US"/>
              <a:t>为隔离体</a:t>
            </a:r>
            <a:r>
              <a:rPr lang="en-US" altLang="zh-CN">
                <a:latin typeface="楷体_GB2312" pitchFamily="49" charset="-122"/>
              </a:rPr>
              <a:t>,</a:t>
            </a:r>
            <a:r>
              <a:rPr lang="zh-CN" altLang="en-US">
                <a:latin typeface="楷体_GB2312" pitchFamily="49" charset="-122"/>
              </a:rPr>
              <a:t>满足平衡条件。</a:t>
            </a:r>
            <a:r>
              <a:rPr lang="zh-CN" altLang="en-US">
                <a:ea typeface="仿宋_GB2312" pitchFamily="49" charset="-122"/>
              </a:rPr>
              <a:t> </a:t>
            </a:r>
          </a:p>
        </p:txBody>
      </p:sp>
      <p:graphicFrame>
        <p:nvGraphicFramePr>
          <p:cNvPr id="6" name="Object 4"/>
          <p:cNvGraphicFramePr>
            <a:graphicFrameLocks noChangeAspect="1"/>
          </p:cNvGraphicFramePr>
          <p:nvPr>
            <p:extLst>
              <p:ext uri="{D42A27DB-BD31-4B8C-83A1-F6EECF244321}">
                <p14:modId xmlns:p14="http://schemas.microsoft.com/office/powerpoint/2010/main" val="1813218358"/>
              </p:ext>
            </p:extLst>
          </p:nvPr>
        </p:nvGraphicFramePr>
        <p:xfrm>
          <a:off x="839019" y="1538605"/>
          <a:ext cx="2376488" cy="1935163"/>
        </p:xfrm>
        <a:graphic>
          <a:graphicData uri="http://schemas.openxmlformats.org/presentationml/2006/ole">
            <mc:AlternateContent xmlns:mc="http://schemas.openxmlformats.org/markup-compatibility/2006">
              <mc:Choice xmlns:v="urn:schemas-microsoft-com:vml" Requires="v">
                <p:oleObj spid="_x0000_s828474" name="AutoCAD Drawing" r:id="rId3" imgW="8791575" imgH="4581525" progId="AutoCAD.Drawing.16">
                  <p:embed/>
                </p:oleObj>
              </mc:Choice>
              <mc:Fallback>
                <p:oleObj name="AutoCAD Drawing" r:id="rId3" imgW="8791575" imgH="4581525" progId="AutoCAD.Drawing.1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6000" t="14056" r="43874" b="8095"/>
                      <a:stretch>
                        <a:fillRect/>
                      </a:stretch>
                    </p:blipFill>
                    <p:spPr bwMode="auto">
                      <a:xfrm>
                        <a:off x="839019" y="1538605"/>
                        <a:ext cx="2376488"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1769638160"/>
              </p:ext>
            </p:extLst>
          </p:nvPr>
        </p:nvGraphicFramePr>
        <p:xfrm>
          <a:off x="3072632" y="1465580"/>
          <a:ext cx="1873250" cy="1800225"/>
        </p:xfrm>
        <a:graphic>
          <a:graphicData uri="http://schemas.openxmlformats.org/presentationml/2006/ole">
            <mc:AlternateContent xmlns:mc="http://schemas.openxmlformats.org/markup-compatibility/2006">
              <mc:Choice xmlns:v="urn:schemas-microsoft-com:vml" Requires="v">
                <p:oleObj spid="_x0000_s828475" name="AutoCAD Drawing" r:id="rId5" imgW="8601075" imgH="4324350" progId="AutoCAD.Drawing.16">
                  <p:embed/>
                </p:oleObj>
              </mc:Choice>
              <mc:Fallback>
                <p:oleObj name="AutoCAD Drawing" r:id="rId5" imgW="8601075" imgH="4324350" progId="AutoCAD.Drawing.1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l="5954" t="18858" r="59497" b="17328"/>
                      <a:stretch>
                        <a:fillRect/>
                      </a:stretch>
                    </p:blipFill>
                    <p:spPr bwMode="auto">
                      <a:xfrm>
                        <a:off x="3072632" y="1465580"/>
                        <a:ext cx="18732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6"/>
          <p:cNvGraphicFramePr>
            <a:graphicFrameLocks noChangeAspect="1"/>
          </p:cNvGraphicFramePr>
          <p:nvPr>
            <p:extLst>
              <p:ext uri="{D42A27DB-BD31-4B8C-83A1-F6EECF244321}">
                <p14:modId xmlns:p14="http://schemas.microsoft.com/office/powerpoint/2010/main" val="614059795"/>
              </p:ext>
            </p:extLst>
          </p:nvPr>
        </p:nvGraphicFramePr>
        <p:xfrm>
          <a:off x="5160194" y="1610043"/>
          <a:ext cx="1512888" cy="1258887"/>
        </p:xfrm>
        <a:graphic>
          <a:graphicData uri="http://schemas.openxmlformats.org/presentationml/2006/ole">
            <mc:AlternateContent xmlns:mc="http://schemas.openxmlformats.org/markup-compatibility/2006">
              <mc:Choice xmlns:v="urn:schemas-microsoft-com:vml" Requires="v">
                <p:oleObj spid="_x0000_s828476" name="AutoCAD Drawing" r:id="rId7" imgW="5895975" imgH="4181475" progId="AutoCAD.Drawing.16">
                  <p:embed/>
                </p:oleObj>
              </mc:Choice>
              <mc:Fallback>
                <p:oleObj name="AutoCAD Drawing" r:id="rId7" imgW="5895975" imgH="4181475" progId="AutoCAD.Drawing.1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l="34412" t="40672" r="24596" b="11531"/>
                      <a:stretch>
                        <a:fillRect/>
                      </a:stretch>
                    </p:blipFill>
                    <p:spPr bwMode="auto">
                      <a:xfrm>
                        <a:off x="5160194" y="1610043"/>
                        <a:ext cx="1512888" cy="125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p:cNvGraphicFramePr>
            <a:graphicFrameLocks noChangeAspect="1"/>
          </p:cNvGraphicFramePr>
          <p:nvPr>
            <p:extLst>
              <p:ext uri="{D42A27DB-BD31-4B8C-83A1-F6EECF244321}">
                <p14:modId xmlns:p14="http://schemas.microsoft.com/office/powerpoint/2010/main" val="2350255655"/>
              </p:ext>
            </p:extLst>
          </p:nvPr>
        </p:nvGraphicFramePr>
        <p:xfrm>
          <a:off x="6654032" y="1610043"/>
          <a:ext cx="1530350" cy="1727200"/>
        </p:xfrm>
        <a:graphic>
          <a:graphicData uri="http://schemas.openxmlformats.org/presentationml/2006/ole">
            <mc:AlternateContent xmlns:mc="http://schemas.openxmlformats.org/markup-compatibility/2006">
              <mc:Choice xmlns:v="urn:schemas-microsoft-com:vml" Requires="v">
                <p:oleObj spid="_x0000_s828477" name="AutoCAD Drawing" r:id="rId9" imgW="8791575" imgH="4581525" progId="AutoCAD.Drawing.16">
                  <p:embed/>
                </p:oleObj>
              </mc:Choice>
              <mc:Fallback>
                <p:oleObj name="AutoCAD Drawing" r:id="rId9" imgW="8791575" imgH="4581525" progId="AutoCAD.Drawing.1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l="35678" t="24545" r="38220" b="19922"/>
                      <a:stretch>
                        <a:fillRect/>
                      </a:stretch>
                    </p:blipFill>
                    <p:spPr bwMode="auto">
                      <a:xfrm>
                        <a:off x="6654032" y="1610043"/>
                        <a:ext cx="1530350"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8"/>
          <p:cNvSpPr>
            <a:spLocks noChangeArrowheads="1"/>
          </p:cNvSpPr>
          <p:nvPr/>
        </p:nvSpPr>
        <p:spPr bwMode="auto">
          <a:xfrm>
            <a:off x="1488307" y="3456305"/>
            <a:ext cx="3887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fontAlgn="ctr" hangingPunct="1">
              <a:spcBef>
                <a:spcPct val="0"/>
              </a:spcBef>
            </a:pPr>
            <a:r>
              <a:rPr lang="zh-CN" altLang="en-US">
                <a:latin typeface="楷体_GB2312" pitchFamily="49" charset="-122"/>
              </a:rPr>
              <a:t>解</a:t>
            </a:r>
            <a:r>
              <a:rPr lang="en-US" altLang="zh-CN">
                <a:latin typeface="楷体_GB2312" pitchFamily="49" charset="-122"/>
              </a:rPr>
              <a:t>:(</a:t>
            </a:r>
            <a:r>
              <a:rPr lang="en-US" altLang="zh-CN"/>
              <a:t>1)</a:t>
            </a:r>
            <a:r>
              <a:rPr lang="zh-CN" altLang="en-US"/>
              <a:t>平衡条件校核。</a:t>
            </a:r>
          </a:p>
        </p:txBody>
      </p:sp>
      <p:grpSp>
        <p:nvGrpSpPr>
          <p:cNvPr id="11" name="Group 9"/>
          <p:cNvGrpSpPr>
            <a:grpSpLocks/>
          </p:cNvGrpSpPr>
          <p:nvPr/>
        </p:nvGrpSpPr>
        <p:grpSpPr bwMode="auto">
          <a:xfrm>
            <a:off x="767582" y="4165919"/>
            <a:ext cx="7561262" cy="1274763"/>
            <a:chOff x="748" y="2387"/>
            <a:chExt cx="4763" cy="803"/>
          </a:xfrm>
        </p:grpSpPr>
        <p:sp>
          <p:nvSpPr>
            <p:cNvPr id="12" name="Rectangle 10"/>
            <p:cNvSpPr>
              <a:spLocks noChangeArrowheads="1"/>
            </p:cNvSpPr>
            <p:nvPr/>
          </p:nvSpPr>
          <p:spPr bwMode="auto">
            <a:xfrm>
              <a:off x="748" y="2387"/>
              <a:ext cx="4763" cy="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fontAlgn="ctr">
                <a:lnSpc>
                  <a:spcPct val="120000"/>
                </a:lnSpc>
                <a:spcBef>
                  <a:spcPct val="0"/>
                </a:spcBef>
              </a:pPr>
              <a:r>
                <a:rPr lang="en-US" altLang="zh-CN" dirty="0">
                  <a:ea typeface="仿宋_GB2312" pitchFamily="49" charset="-122"/>
                </a:rPr>
                <a:t>        </a:t>
              </a:r>
              <a:r>
                <a:rPr lang="en-US" altLang="zh-CN" dirty="0">
                  <a:latin typeface="楷体_GB2312" pitchFamily="49" charset="-122"/>
                </a:rPr>
                <a:t>(</a:t>
              </a:r>
              <a:r>
                <a:rPr lang="en-US" altLang="zh-CN" dirty="0"/>
                <a:t>2)</a:t>
              </a:r>
              <a:r>
                <a:rPr lang="zh-CN" altLang="en-US" dirty="0">
                  <a:latin typeface="楷体_GB2312" pitchFamily="49" charset="-122"/>
                </a:rPr>
                <a:t>校核位移条件。</a:t>
              </a:r>
              <a:endParaRPr lang="zh-CN" altLang="en-US" b="0" dirty="0">
                <a:latin typeface="楷体_GB2312" pitchFamily="49" charset="-122"/>
              </a:endParaRPr>
            </a:p>
            <a:p>
              <a:pPr fontAlgn="ctr">
                <a:spcBef>
                  <a:spcPct val="0"/>
                </a:spcBef>
              </a:pPr>
              <a:r>
                <a:rPr lang="zh-CN" altLang="en-US" dirty="0">
                  <a:latin typeface="楷体_GB2312" pitchFamily="49" charset="-122"/>
                </a:rPr>
                <a:t>    检验</a:t>
              </a:r>
              <a:r>
                <a:rPr lang="en-US" altLang="zh-CN" i="1" dirty="0"/>
                <a:t>C </a:t>
              </a:r>
              <a:r>
                <a:rPr lang="zh-CN" altLang="en-US" dirty="0">
                  <a:latin typeface="楷体_GB2312" pitchFamily="49" charset="-122"/>
                </a:rPr>
                <a:t>结点两个端面间的相对转角位移       是否为零</a:t>
              </a:r>
              <a:r>
                <a:rPr lang="en-US" altLang="zh-CN" dirty="0">
                  <a:latin typeface="楷体_GB2312" pitchFamily="49" charset="-122"/>
                </a:rPr>
                <a:t>,</a:t>
              </a:r>
              <a:r>
                <a:rPr lang="zh-CN" altLang="en-US" dirty="0">
                  <a:latin typeface="楷体_GB2312" pitchFamily="49" charset="-122"/>
                </a:rPr>
                <a:t>任取一基本结构作图      ，令      与</a:t>
              </a:r>
              <a:r>
                <a:rPr lang="en-US" altLang="zh-CN" i="1" dirty="0">
                  <a:solidFill>
                    <a:srgbClr val="FF00FF"/>
                  </a:solidFill>
                </a:rPr>
                <a:t>M</a:t>
              </a:r>
              <a:r>
                <a:rPr lang="zh-CN" altLang="en-US" dirty="0">
                  <a:latin typeface="楷体_GB2312" pitchFamily="49" charset="-122"/>
                </a:rPr>
                <a:t>相图乘得：</a:t>
              </a:r>
            </a:p>
          </p:txBody>
        </p:sp>
        <p:graphicFrame>
          <p:nvGraphicFramePr>
            <p:cNvPr id="13" name="Object 11"/>
            <p:cNvGraphicFramePr>
              <a:graphicFrameLocks noChangeAspect="1"/>
            </p:cNvGraphicFramePr>
            <p:nvPr>
              <p:extLst>
                <p:ext uri="{D42A27DB-BD31-4B8C-83A1-F6EECF244321}">
                  <p14:modId xmlns:p14="http://schemas.microsoft.com/office/powerpoint/2010/main" val="3919994181"/>
                </p:ext>
              </p:extLst>
            </p:nvPr>
          </p:nvGraphicFramePr>
          <p:xfrm>
            <a:off x="3294" y="2877"/>
            <a:ext cx="357" cy="290"/>
          </p:xfrm>
          <a:graphic>
            <a:graphicData uri="http://schemas.openxmlformats.org/presentationml/2006/ole">
              <mc:AlternateContent xmlns:mc="http://schemas.openxmlformats.org/markup-compatibility/2006">
                <mc:Choice xmlns:v="urn:schemas-microsoft-com:vml" Requires="v">
                  <p:oleObj spid="_x0000_s828478" r:id="rId11" imgW="209468" imgH="180922" progId="Equation.3">
                    <p:embed/>
                  </p:oleObj>
                </mc:Choice>
                <mc:Fallback>
                  <p:oleObj r:id="rId11" imgW="209468" imgH="18092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94" y="2877"/>
                          <a:ext cx="357"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2"/>
            <p:cNvGraphicFramePr>
              <a:graphicFrameLocks noChangeAspect="1"/>
            </p:cNvGraphicFramePr>
            <p:nvPr>
              <p:extLst>
                <p:ext uri="{D42A27DB-BD31-4B8C-83A1-F6EECF244321}">
                  <p14:modId xmlns:p14="http://schemas.microsoft.com/office/powerpoint/2010/main" val="2154477312"/>
                </p:ext>
              </p:extLst>
            </p:nvPr>
          </p:nvGraphicFramePr>
          <p:xfrm>
            <a:off x="2609" y="2887"/>
            <a:ext cx="362" cy="294"/>
          </p:xfrm>
          <a:graphic>
            <a:graphicData uri="http://schemas.openxmlformats.org/presentationml/2006/ole">
              <mc:AlternateContent xmlns:mc="http://schemas.openxmlformats.org/markup-compatibility/2006">
                <mc:Choice xmlns:v="urn:schemas-microsoft-com:vml" Requires="v">
                  <p:oleObj spid="_x0000_s828479" r:id="rId13" imgW="209468" imgH="180922" progId="Equation.3">
                    <p:embed/>
                  </p:oleObj>
                </mc:Choice>
                <mc:Fallback>
                  <p:oleObj r:id="rId13" imgW="209468" imgH="180922"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09" y="2887"/>
                          <a:ext cx="362"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3"/>
            <p:cNvGraphicFramePr>
              <a:graphicFrameLocks noChangeAspect="1"/>
            </p:cNvGraphicFramePr>
            <p:nvPr>
              <p:extLst>
                <p:ext uri="{D42A27DB-BD31-4B8C-83A1-F6EECF244321}">
                  <p14:modId xmlns:p14="http://schemas.microsoft.com/office/powerpoint/2010/main" val="221990756"/>
                </p:ext>
              </p:extLst>
            </p:nvPr>
          </p:nvGraphicFramePr>
          <p:xfrm>
            <a:off x="4242" y="2648"/>
            <a:ext cx="453" cy="315"/>
          </p:xfrm>
          <a:graphic>
            <a:graphicData uri="http://schemas.openxmlformats.org/presentationml/2006/ole">
              <mc:AlternateContent xmlns:mc="http://schemas.openxmlformats.org/markup-compatibility/2006">
                <mc:Choice xmlns:v="urn:schemas-microsoft-com:vml" Requires="v">
                  <p:oleObj spid="_x0000_s828480" name="公式" r:id="rId15" imgW="304680" imgH="219048" progId="Equation.3">
                    <p:embed/>
                  </p:oleObj>
                </mc:Choice>
                <mc:Fallback>
                  <p:oleObj name="公式" r:id="rId15" imgW="304680" imgH="219048"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42" y="2648"/>
                          <a:ext cx="453" cy="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6" name="Object 14"/>
          <p:cNvGraphicFramePr>
            <a:graphicFrameLocks noGrp="1" noChangeAspect="1"/>
          </p:cNvGraphicFramePr>
          <p:nvPr>
            <p:ph/>
            <p:extLst>
              <p:ext uri="{D42A27DB-BD31-4B8C-83A1-F6EECF244321}">
                <p14:modId xmlns:p14="http://schemas.microsoft.com/office/powerpoint/2010/main" val="115225223"/>
              </p:ext>
            </p:extLst>
          </p:nvPr>
        </p:nvGraphicFramePr>
        <p:xfrm>
          <a:off x="767582" y="5426393"/>
          <a:ext cx="7416800" cy="1081087"/>
        </p:xfrm>
        <a:graphic>
          <a:graphicData uri="http://schemas.openxmlformats.org/presentationml/2006/ole">
            <mc:AlternateContent xmlns:mc="http://schemas.openxmlformats.org/markup-compatibility/2006">
              <mc:Choice xmlns:v="urn:schemas-microsoft-com:vml" Requires="v">
                <p:oleObj spid="_x0000_s828481" name="公式" r:id="rId17" imgW="3914854" imgH="561828" progId="Equation.3">
                  <p:embed/>
                </p:oleObj>
              </mc:Choice>
              <mc:Fallback>
                <p:oleObj name="公式" r:id="rId17" imgW="3914854" imgH="561828" progId="Equation.3">
                  <p:embed/>
                  <p:pic>
                    <p:nvPicPr>
                      <p:cNvPr id="0" name=""/>
                      <p:cNvPicPr>
                        <a:picLocks noGrp="1"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67582" y="5426393"/>
                        <a:ext cx="7416800" cy="108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14645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500"/>
                            </p:stCondLst>
                            <p:childTnLst>
                              <p:par>
                                <p:cTn id="27" presetID="1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slide(fromLeft)">
                                      <p:cBhvr>
                                        <p:cTn id="29" dur="500"/>
                                        <p:tgtEl>
                                          <p:spTgt spid="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1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6-10 </a:t>
            </a:r>
            <a:r>
              <a:rPr lang="zh-CN" altLang="en-US" sz="2400" dirty="0"/>
              <a:t>超静定结构计算的校核</a:t>
            </a:r>
            <a:endParaRPr lang="zh-CN" altLang="en-US" dirty="0"/>
          </a:p>
        </p:txBody>
      </p:sp>
      <p:sp>
        <p:nvSpPr>
          <p:cNvPr id="4" name="Rectangle 2"/>
          <p:cNvSpPr>
            <a:spLocks noChangeArrowheads="1"/>
          </p:cNvSpPr>
          <p:nvPr/>
        </p:nvSpPr>
        <p:spPr bwMode="auto">
          <a:xfrm>
            <a:off x="970583" y="4894263"/>
            <a:ext cx="7272338" cy="1117600"/>
          </a:xfrm>
          <a:prstGeom prst="rect">
            <a:avLst/>
          </a:prstGeom>
          <a:solidFill>
            <a:srgbClr val="CCFFFF"/>
          </a:solidFill>
          <a:ln w="76200" cmpd="tri">
            <a:solidFill>
              <a:srgbClr val="FF99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lnSpc>
                <a:spcPct val="130000"/>
              </a:lnSpc>
            </a:pPr>
            <a:r>
              <a:rPr lang="en-US" altLang="zh-CN">
                <a:solidFill>
                  <a:srgbClr val="CC3300"/>
                </a:solidFill>
              </a:rPr>
              <a:t>        </a:t>
            </a:r>
            <a:r>
              <a:rPr lang="zh-CN" altLang="en-US">
                <a:solidFill>
                  <a:srgbClr val="CC3300"/>
                </a:solidFill>
              </a:rPr>
              <a:t>也可取图悬臂刚架作基本结构，计算</a:t>
            </a:r>
            <a:r>
              <a:rPr lang="en-US" altLang="zh-CN" i="1">
                <a:solidFill>
                  <a:srgbClr val="CC3300"/>
                </a:solidFill>
              </a:rPr>
              <a:t>B</a:t>
            </a:r>
            <a:r>
              <a:rPr lang="zh-CN" altLang="en-US">
                <a:solidFill>
                  <a:srgbClr val="CC3300"/>
                </a:solidFill>
              </a:rPr>
              <a:t>点水平位移</a:t>
            </a:r>
            <a:r>
              <a:rPr lang="zh-CN" altLang="en-US" i="1">
                <a:solidFill>
                  <a:srgbClr val="FF00FF"/>
                </a:solidFill>
              </a:rPr>
              <a:t>△</a:t>
            </a:r>
            <a:r>
              <a:rPr lang="en-US" altLang="zh-CN" i="1" baseline="-25000">
                <a:solidFill>
                  <a:srgbClr val="FF00FF"/>
                </a:solidFill>
              </a:rPr>
              <a:t>xB</a:t>
            </a:r>
            <a:r>
              <a:rPr lang="en-US" altLang="zh-CN" i="1" baseline="-25000">
                <a:solidFill>
                  <a:srgbClr val="CC3300"/>
                </a:solidFill>
              </a:rPr>
              <a:t> </a:t>
            </a:r>
            <a:r>
              <a:rPr lang="zh-CN" altLang="en-US">
                <a:solidFill>
                  <a:srgbClr val="CC3300"/>
                </a:solidFill>
              </a:rPr>
              <a:t>是否为零。</a:t>
            </a:r>
          </a:p>
        </p:txBody>
      </p:sp>
      <p:graphicFrame>
        <p:nvGraphicFramePr>
          <p:cNvPr id="5" name="Object 3"/>
          <p:cNvGraphicFramePr>
            <a:graphicFrameLocks noChangeAspect="1"/>
          </p:cNvGraphicFramePr>
          <p:nvPr>
            <p:extLst>
              <p:ext uri="{D42A27DB-BD31-4B8C-83A1-F6EECF244321}">
                <p14:modId xmlns:p14="http://schemas.microsoft.com/office/powerpoint/2010/main" val="3182748727"/>
              </p:ext>
            </p:extLst>
          </p:nvPr>
        </p:nvGraphicFramePr>
        <p:xfrm>
          <a:off x="4931396" y="2590800"/>
          <a:ext cx="1854200" cy="2016125"/>
        </p:xfrm>
        <a:graphic>
          <a:graphicData uri="http://schemas.openxmlformats.org/presentationml/2006/ole">
            <mc:AlternateContent xmlns:mc="http://schemas.openxmlformats.org/markup-compatibility/2006">
              <mc:Choice xmlns:v="urn:schemas-microsoft-com:vml" Requires="v">
                <p:oleObj spid="_x0000_s738441" name="AutoCAD Drawing" r:id="rId3" imgW="8791575" imgH="4581525" progId="AutoCAD.Drawing.16">
                  <p:embed/>
                </p:oleObj>
              </mc:Choice>
              <mc:Fallback>
                <p:oleObj name="AutoCAD Drawing" r:id="rId3" imgW="8791575" imgH="4581525" progId="AutoCAD.Drawing.1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l="33342" t="34721" r="42740" b="16118"/>
                      <a:stretch>
                        <a:fillRect/>
                      </a:stretch>
                    </p:blipFill>
                    <p:spPr bwMode="auto">
                      <a:xfrm>
                        <a:off x="4931396" y="2590800"/>
                        <a:ext cx="18542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4"/>
          <p:cNvSpPr>
            <a:spLocks noChangeArrowheads="1"/>
          </p:cNvSpPr>
          <p:nvPr/>
        </p:nvSpPr>
        <p:spPr bwMode="auto">
          <a:xfrm>
            <a:off x="1043608" y="1438275"/>
            <a:ext cx="7129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a:solidFill>
                  <a:srgbClr val="990033"/>
                </a:solidFill>
              </a:rPr>
              <a:t>结论：</a:t>
            </a:r>
            <a:r>
              <a:rPr lang="zh-CN" altLang="en-US"/>
              <a:t>亦满足给定位移条件，原弯矩图是正确的。</a:t>
            </a:r>
          </a:p>
        </p:txBody>
      </p:sp>
    </p:spTree>
    <p:extLst>
      <p:ext uri="{BB962C8B-B14F-4D97-AF65-F5344CB8AC3E}">
        <p14:creationId xmlns:p14="http://schemas.microsoft.com/office/powerpoint/2010/main" val="132256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ntr" presetSubtype="2"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0" fill="hold"/>
                                        <p:tgtEl>
                                          <p:spTgt spid="5"/>
                                        </p:tgtEl>
                                        <p:attrNameLst>
                                          <p:attrName>ppt_x</p:attrName>
                                        </p:attrNameLst>
                                      </p:cBhvr>
                                      <p:tavLst>
                                        <p:tav tm="0">
                                          <p:val>
                                            <p:strVal val="1+#ppt_w/2"/>
                                          </p:val>
                                        </p:tav>
                                        <p:tav tm="100000">
                                          <p:val>
                                            <p:strVal val="#ppt_x"/>
                                          </p:val>
                                        </p:tav>
                                      </p:tavLst>
                                    </p:anim>
                                    <p:anim calcmode="lin" valueType="num">
                                      <p:cBhvr additive="base">
                                        <p:cTn id="16" dur="5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P spid="6" grpId="0" autoUpdateAnimBg="0"/>
    </p:bldLst>
  </p:timing>
</p:sld>
</file>

<file path=ppt/theme/theme1.xml><?xml version="1.0" encoding="utf-8"?>
<a:theme xmlns:a="http://schemas.openxmlformats.org/drawingml/2006/main" name="演示设计">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nordridesign.com">
  <a:themeElements>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fontScheme name="3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3_nordridesign.com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3_nordridesign.com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3_nordridesign.com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3_nordridesign.com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3_nordridesign.com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3_nordridesign.com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3_nordridesign.com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nordridesign.com">
  <a:themeElements>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fontScheme name="2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33</Template>
  <TotalTime>10702</TotalTime>
  <Words>1364</Words>
  <Application>Microsoft Office PowerPoint</Application>
  <PresentationFormat>全屏显示(4:3)</PresentationFormat>
  <Paragraphs>333</Paragraphs>
  <Slides>34</Slides>
  <Notes>1</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6</vt:i4>
      </vt:variant>
      <vt:variant>
        <vt:lpstr>幻灯片标题</vt:lpstr>
      </vt:variant>
      <vt:variant>
        <vt:i4>34</vt:i4>
      </vt:variant>
    </vt:vector>
  </HeadingPairs>
  <TitlesOfParts>
    <vt:vector size="56" baseType="lpstr">
      <vt:lpstr>MS UI Gothic</vt:lpstr>
      <vt:lpstr>仿宋_GB2312</vt:lpstr>
      <vt:lpstr>黑体</vt:lpstr>
      <vt:lpstr>华文细黑</vt:lpstr>
      <vt:lpstr>楷体</vt:lpstr>
      <vt:lpstr>楷体_GB2312</vt:lpstr>
      <vt:lpstr>宋体</vt:lpstr>
      <vt:lpstr>幼圆</vt:lpstr>
      <vt:lpstr>Arial</vt:lpstr>
      <vt:lpstr>Calibri</vt:lpstr>
      <vt:lpstr>Cambria Math</vt:lpstr>
      <vt:lpstr>Times New Roman</vt:lpstr>
      <vt:lpstr>Wingdings</vt:lpstr>
      <vt:lpstr>演示设计</vt:lpstr>
      <vt:lpstr>3_nordridesign.com</vt:lpstr>
      <vt:lpstr>2_nordridesign.com</vt:lpstr>
      <vt:lpstr>Equation</vt:lpstr>
      <vt:lpstr>位图图像</vt:lpstr>
      <vt:lpstr>Equation.3</vt:lpstr>
      <vt:lpstr>AutoCAD Drawing</vt:lpstr>
      <vt:lpstr>公式</vt:lpstr>
      <vt:lpstr>Microsoft Word Picture</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7-7 支座移动和温度改变时的计算</vt:lpstr>
      <vt:lpstr>6-9 超静定结构的位移计算</vt:lpstr>
      <vt:lpstr>6-9 超静定结构的位移计算</vt:lpstr>
      <vt:lpstr>6-9 超静定结构的位移计算</vt:lpstr>
      <vt:lpstr>6-10 超静定结构计算的校核</vt:lpstr>
      <vt:lpstr>6-10 超静定结构计算的校核</vt:lpstr>
      <vt:lpstr>6-10 超静定结构计算的校核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第二部分 超静定结构</dc:title>
  <dc:creator>XYZ</dc:creator>
  <cp:lastModifiedBy>邓 争志</cp:lastModifiedBy>
  <cp:revision>652</cp:revision>
  <dcterms:created xsi:type="dcterms:W3CDTF">2012-11-28T02:48:41Z</dcterms:created>
  <dcterms:modified xsi:type="dcterms:W3CDTF">2021-12-03T04:26:33Z</dcterms:modified>
</cp:coreProperties>
</file>