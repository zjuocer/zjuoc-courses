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1"/>
    <p:sldMasterId id="2147483820" r:id="rId2"/>
    <p:sldMasterId id="2147483796" r:id="rId3"/>
    <p:sldMasterId id="2147483808" r:id="rId4"/>
  </p:sldMasterIdLst>
  <p:notesMasterIdLst>
    <p:notesMasterId r:id="rId31"/>
  </p:notesMasterIdLst>
  <p:sldIdLst>
    <p:sldId id="256" r:id="rId5"/>
    <p:sldId id="258" r:id="rId6"/>
    <p:sldId id="259" r:id="rId7"/>
    <p:sldId id="260" r:id="rId8"/>
    <p:sldId id="261" r:id="rId9"/>
    <p:sldId id="262" r:id="rId10"/>
    <p:sldId id="263" r:id="rId11"/>
    <p:sldId id="264" r:id="rId12"/>
    <p:sldId id="265" r:id="rId13"/>
    <p:sldId id="266" r:id="rId14"/>
    <p:sldId id="272" r:id="rId15"/>
    <p:sldId id="267" r:id="rId16"/>
    <p:sldId id="277" r:id="rId17"/>
    <p:sldId id="271" r:id="rId18"/>
    <p:sldId id="270" r:id="rId19"/>
    <p:sldId id="275" r:id="rId20"/>
    <p:sldId id="280" r:id="rId21"/>
    <p:sldId id="276" r:id="rId22"/>
    <p:sldId id="273" r:id="rId23"/>
    <p:sldId id="274" r:id="rId24"/>
    <p:sldId id="278" r:id="rId25"/>
    <p:sldId id="279" r:id="rId26"/>
    <p:sldId id="281" r:id="rId27"/>
    <p:sldId id="282" r:id="rId28"/>
    <p:sldId id="283" r:id="rId29"/>
    <p:sldId id="284" r:id="rId30"/>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20AB"/>
    <a:srgbClr val="0000FF"/>
    <a:srgbClr val="FF3399"/>
    <a:srgbClr val="9999FF"/>
    <a:srgbClr val="00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62" autoAdjust="0"/>
    <p:restoredTop sz="94660"/>
  </p:normalViewPr>
  <p:slideViewPr>
    <p:cSldViewPr>
      <p:cViewPr varScale="1">
        <p:scale>
          <a:sx n="78" d="100"/>
          <a:sy n="78" d="100"/>
        </p:scale>
        <p:origin x="1531"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 Id="rId6" Type="http://schemas.openxmlformats.org/officeDocument/2006/relationships/image" Target="../media/image13.wmf"/><Relationship Id="rId5" Type="http://schemas.openxmlformats.org/officeDocument/2006/relationships/image" Target="../media/image12.wmf"/><Relationship Id="rId4" Type="http://schemas.openxmlformats.org/officeDocument/2006/relationships/image" Target="../media/image11.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image" Target="../media/image22.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6.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0.png"/></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1.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 Id="rId4" Type="http://schemas.openxmlformats.org/officeDocument/2006/relationships/image" Target="../media/image36.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image" Target="../media/image43.wmf"/><Relationship Id="rId1" Type="http://schemas.openxmlformats.org/officeDocument/2006/relationships/image" Target="../media/image42.wmf"/><Relationship Id="rId4" Type="http://schemas.openxmlformats.org/officeDocument/2006/relationships/image" Target="../media/image45.wmf"/></Relationships>
</file>

<file path=ppt/drawings/_rels/vmlDrawing13.v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image" Target="../media/image47.png"/><Relationship Id="rId7" Type="http://schemas.openxmlformats.org/officeDocument/2006/relationships/image" Target="../media/image51.wmf"/><Relationship Id="rId2" Type="http://schemas.openxmlformats.org/officeDocument/2006/relationships/image" Target="../media/image46.wmf"/><Relationship Id="rId1" Type="http://schemas.openxmlformats.org/officeDocument/2006/relationships/image" Target="../media/image30.png"/><Relationship Id="rId6" Type="http://schemas.openxmlformats.org/officeDocument/2006/relationships/image" Target="../media/image50.wmf"/><Relationship Id="rId11" Type="http://schemas.openxmlformats.org/officeDocument/2006/relationships/image" Target="../media/image55.wmf"/><Relationship Id="rId5" Type="http://schemas.openxmlformats.org/officeDocument/2006/relationships/image" Target="../media/image49.wmf"/><Relationship Id="rId10" Type="http://schemas.openxmlformats.org/officeDocument/2006/relationships/image" Target="../media/image54.wmf"/><Relationship Id="rId4" Type="http://schemas.openxmlformats.org/officeDocument/2006/relationships/image" Target="../media/image48.wmf"/><Relationship Id="rId9" Type="http://schemas.openxmlformats.org/officeDocument/2006/relationships/image" Target="../media/image53.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image" Target="../media/image58.wmf"/><Relationship Id="rId7" Type="http://schemas.openxmlformats.org/officeDocument/2006/relationships/image" Target="../media/image62.wmf"/><Relationship Id="rId2" Type="http://schemas.openxmlformats.org/officeDocument/2006/relationships/image" Target="../media/image57.wmf"/><Relationship Id="rId1" Type="http://schemas.openxmlformats.org/officeDocument/2006/relationships/image" Target="../media/image56.wmf"/><Relationship Id="rId6" Type="http://schemas.openxmlformats.org/officeDocument/2006/relationships/image" Target="../media/image61.wmf"/><Relationship Id="rId5" Type="http://schemas.openxmlformats.org/officeDocument/2006/relationships/image" Target="../media/image60.wmf"/><Relationship Id="rId4" Type="http://schemas.openxmlformats.org/officeDocument/2006/relationships/image" Target="../media/image59.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5" Type="http://schemas.openxmlformats.org/officeDocument/2006/relationships/image" Target="../media/image71.wmf"/><Relationship Id="rId4" Type="http://schemas.openxmlformats.org/officeDocument/2006/relationships/image" Target="../media/image70.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5.wmf"/><Relationship Id="rId1" Type="http://schemas.openxmlformats.org/officeDocument/2006/relationships/image" Target="../media/image7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81.wmf"/><Relationship Id="rId2" Type="http://schemas.openxmlformats.org/officeDocument/2006/relationships/image" Target="../media/image80.emf"/><Relationship Id="rId1" Type="http://schemas.openxmlformats.org/officeDocument/2006/relationships/image" Target="../media/image79.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83.emf"/><Relationship Id="rId1" Type="http://schemas.openxmlformats.org/officeDocument/2006/relationships/image" Target="../media/image82.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85.emf"/><Relationship Id="rId1" Type="http://schemas.openxmlformats.org/officeDocument/2006/relationships/image" Target="../media/image8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image" Target="../media/image86.png"/><Relationship Id="rId4" Type="http://schemas.openxmlformats.org/officeDocument/2006/relationships/image" Target="../media/image89.png"/></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image" Target="../media/image90.png"/><Relationship Id="rId4" Type="http://schemas.openxmlformats.org/officeDocument/2006/relationships/image" Target="../media/image9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C4C0A4F-6965-47C4-AA22-49C016992D9D}" type="datetimeFigureOut">
              <a:rPr lang="zh-CN" altLang="en-US" smtClean="0"/>
              <a:pPr/>
              <a:t>2020/12/23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156CADB-65D5-45D1-ACB1-61FEC89783DE}" type="slidenum">
              <a:rPr lang="zh-CN" altLang="en-US" smtClean="0"/>
              <a:pPr/>
              <a:t>‹#›</a:t>
            </a:fld>
            <a:endParaRPr lang="zh-CN" altLang="en-US"/>
          </a:p>
        </p:txBody>
      </p:sp>
    </p:spTree>
    <p:extLst>
      <p:ext uri="{BB962C8B-B14F-4D97-AF65-F5344CB8AC3E}">
        <p14:creationId xmlns:p14="http://schemas.microsoft.com/office/powerpoint/2010/main" val="2189042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4</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5</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6</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7</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8</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9</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10</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12</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13</a:t>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14</a:t>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15</a:t>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16</a:t>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17</a:t>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18</a:t>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19</a:t>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20</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21</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22</a:t>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23</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24</a:t>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25</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6156CADB-65D5-45D1-ACB1-61FEC89783DE}" type="slidenum">
              <a:rPr lang="zh-CN" altLang="en-US" smtClean="0"/>
              <a:pPr/>
              <a:t>26</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1"/>
          <p:cNvPicPr>
            <a:picLocks noChangeAspect="1" noChangeArrowheads="1"/>
          </p:cNvPicPr>
          <p:nvPr/>
        </p:nvPicPr>
        <p:blipFill>
          <a:blip r:embed="rId2" cstate="print"/>
          <a:srcRect/>
          <a:stretch>
            <a:fillRect/>
          </a:stretch>
        </p:blipFill>
        <p:spPr bwMode="auto">
          <a:xfrm>
            <a:off x="0" y="-25400"/>
            <a:ext cx="9144000" cy="6883400"/>
          </a:xfrm>
          <a:prstGeom prst="rect">
            <a:avLst/>
          </a:prstGeom>
          <a:noFill/>
          <a:ln w="9525">
            <a:noFill/>
            <a:miter lim="800000"/>
            <a:headEnd/>
            <a:tailEnd/>
          </a:ln>
        </p:spPr>
      </p:pic>
      <p:pic>
        <p:nvPicPr>
          <p:cNvPr id="5" name="Picture 3" descr="2"/>
          <p:cNvPicPr>
            <a:picLocks noChangeAspect="1" noChangeArrowheads="1"/>
          </p:cNvPicPr>
          <p:nvPr/>
        </p:nvPicPr>
        <p:blipFill>
          <a:blip r:embed="rId3" cstate="print"/>
          <a:srcRect/>
          <a:stretch>
            <a:fillRect/>
          </a:stretch>
        </p:blipFill>
        <p:spPr bwMode="auto">
          <a:xfrm>
            <a:off x="0" y="3030538"/>
            <a:ext cx="9144000" cy="3827462"/>
          </a:xfrm>
          <a:prstGeom prst="rect">
            <a:avLst/>
          </a:prstGeom>
          <a:noFill/>
          <a:ln w="9525">
            <a:noFill/>
            <a:miter lim="800000"/>
            <a:headEnd/>
            <a:tailEnd/>
          </a:ln>
        </p:spPr>
      </p:pic>
      <p:sp>
        <p:nvSpPr>
          <p:cNvPr id="7" name="Rectangle 5"/>
          <p:cNvSpPr txBox="1">
            <a:spLocks noChangeArrowheads="1"/>
          </p:cNvSpPr>
          <p:nvPr/>
        </p:nvSpPr>
        <p:spPr bwMode="auto">
          <a:xfrm>
            <a:off x="6372200" y="5877272"/>
            <a:ext cx="2303488" cy="864096"/>
          </a:xfrm>
          <a:prstGeom prst="rect">
            <a:avLst/>
          </a:prstGeom>
          <a:noFill/>
          <a:ln w="9525">
            <a:noFill/>
            <a:miter lim="800000"/>
            <a:headEnd/>
            <a:tailEnd/>
          </a:ln>
        </p:spPr>
        <p:txBody>
          <a:bodyPr lIns="0" rIns="0"/>
          <a:lstStyle/>
          <a:p>
            <a:pPr eaLnBrk="0" hangingPunct="0">
              <a:lnSpc>
                <a:spcPct val="100000"/>
              </a:lnSpc>
              <a:spcBef>
                <a:spcPts val="300"/>
              </a:spcBef>
              <a:spcAft>
                <a:spcPts val="300"/>
              </a:spcAft>
              <a:buClr>
                <a:schemeClr val="accent1"/>
              </a:buClr>
              <a:defRPr/>
            </a:pPr>
            <a:r>
              <a:rPr lang="zh-CN" altLang="en-US" sz="1400" b="1" noProof="1">
                <a:solidFill>
                  <a:schemeClr val="bg1"/>
                </a:solidFill>
              </a:rPr>
              <a:t>浙江大学海洋学院</a:t>
            </a:r>
            <a:endParaRPr lang="en-US" altLang="zh-CN" sz="1400" b="1" noProof="1">
              <a:solidFill>
                <a:schemeClr val="bg1"/>
              </a:solidFill>
            </a:endParaRPr>
          </a:p>
          <a:p>
            <a:pPr eaLnBrk="0" hangingPunct="0">
              <a:lnSpc>
                <a:spcPct val="100000"/>
              </a:lnSpc>
              <a:spcBef>
                <a:spcPts val="0"/>
              </a:spcBef>
              <a:spcAft>
                <a:spcPts val="300"/>
              </a:spcAft>
              <a:buClr>
                <a:schemeClr val="accent1"/>
              </a:buClr>
              <a:defRPr/>
            </a:pPr>
            <a:r>
              <a:rPr lang="en-US" altLang="zh-CN" sz="1400" b="0" noProof="1">
                <a:solidFill>
                  <a:schemeClr val="bg1"/>
                </a:solidFill>
              </a:rPr>
              <a:t> Tel :</a:t>
            </a:r>
          </a:p>
          <a:p>
            <a:pPr eaLnBrk="0" hangingPunct="0">
              <a:lnSpc>
                <a:spcPct val="100000"/>
              </a:lnSpc>
              <a:spcBef>
                <a:spcPts val="0"/>
              </a:spcBef>
              <a:spcAft>
                <a:spcPts val="300"/>
              </a:spcAft>
              <a:buClr>
                <a:schemeClr val="accent1"/>
              </a:buClr>
              <a:defRPr/>
            </a:pPr>
            <a:r>
              <a:rPr lang="en-US" altLang="zh-CN" sz="1400" b="0" noProof="1">
                <a:solidFill>
                  <a:schemeClr val="bg1"/>
                </a:solidFill>
              </a:rPr>
              <a:t>Email</a:t>
            </a:r>
            <a:r>
              <a:rPr lang="zh-CN" altLang="en-US" sz="1400" b="0" noProof="1">
                <a:solidFill>
                  <a:schemeClr val="bg1"/>
                </a:solidFill>
              </a:rPr>
              <a:t>：</a:t>
            </a:r>
            <a:endParaRPr lang="en-US" altLang="en-US" sz="1400" b="0" noProof="1">
              <a:solidFill>
                <a:schemeClr val="bg1"/>
              </a:solidFill>
            </a:endParaRPr>
          </a:p>
        </p:txBody>
      </p:sp>
      <p:sp>
        <p:nvSpPr>
          <p:cNvPr id="2053" name="Rectangle 27"/>
          <p:cNvSpPr>
            <a:spLocks noGrp="1" noChangeArrowheads="1"/>
          </p:cNvSpPr>
          <p:nvPr>
            <p:ph type="ctrTitle"/>
          </p:nvPr>
        </p:nvSpPr>
        <p:spPr>
          <a:xfrm>
            <a:off x="468313" y="4365625"/>
            <a:ext cx="8207375" cy="960438"/>
          </a:xfrm>
          <a:ln w="9525"/>
        </p:spPr>
        <p:txBody>
          <a:bodyPr/>
          <a:lstStyle>
            <a:lvl1pPr>
              <a:defRPr sz="3400"/>
            </a:lvl1pPr>
          </a:lstStyle>
          <a:p>
            <a:r>
              <a:rPr lang="en-US" altLang="zh-CN"/>
              <a:t>Click to edit Master title style</a:t>
            </a:r>
            <a:endParaRPr lang="zh-CN"/>
          </a:p>
        </p:txBody>
      </p:sp>
      <p:sp>
        <p:nvSpPr>
          <p:cNvPr id="2054" name="Rectangle 31"/>
          <p:cNvSpPr>
            <a:spLocks noGrp="1" noChangeArrowheads="1"/>
          </p:cNvSpPr>
          <p:nvPr>
            <p:ph type="subTitle" idx="1"/>
          </p:nvPr>
        </p:nvSpPr>
        <p:spPr>
          <a:xfrm>
            <a:off x="683568" y="5326063"/>
            <a:ext cx="7776864" cy="407987"/>
          </a:xfrm>
        </p:spPr>
        <p:txBody>
          <a:bodyPr anchor="ctr"/>
          <a:lstStyle>
            <a:lvl1pPr marL="0" indent="0" algn="ctr">
              <a:buFont typeface="Wingdings" pitchFamily="2" charset="2"/>
              <a:buNone/>
              <a:defRPr sz="1800">
                <a:solidFill>
                  <a:schemeClr val="bg1"/>
                </a:solidFill>
              </a:defRPr>
            </a:lvl1pPr>
          </a:lstStyle>
          <a:p>
            <a:r>
              <a:rPr lang="en-US" altLang="zh-CN"/>
              <a:t>Click to edit Master subtitle style</a:t>
            </a:r>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60648"/>
            <a:ext cx="8229600" cy="1143000"/>
          </a:xfrm>
        </p:spPr>
        <p:txBody>
          <a:bodyPr/>
          <a:lstStyle/>
          <a:p>
            <a:r>
              <a:rPr lang="en-US" altLang="zh-CN"/>
              <a:t>Click to edit Master title style</a:t>
            </a:r>
            <a:endParaRPr lang="zh-CN" altLang="en-US"/>
          </a:p>
        </p:txBody>
      </p:sp>
      <p:sp>
        <p:nvSpPr>
          <p:cNvPr id="3" name="内容占位符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dirty="0"/>
          </a:p>
        </p:txBody>
      </p:sp>
      <p:pic>
        <p:nvPicPr>
          <p:cNvPr id="49156" name="Picture 4" descr="E:\Pictures\Logo.png"/>
          <p:cNvPicPr>
            <a:picLocks noChangeAspect="1" noChangeArrowheads="1"/>
          </p:cNvPicPr>
          <p:nvPr userDrawn="1"/>
        </p:nvPicPr>
        <p:blipFill>
          <a:blip r:embed="rId2" cstate="print"/>
          <a:srcRect/>
          <a:stretch>
            <a:fillRect/>
          </a:stretch>
        </p:blipFill>
        <p:spPr bwMode="auto">
          <a:xfrm>
            <a:off x="251520" y="188640"/>
            <a:ext cx="1656184" cy="818857"/>
          </a:xfrm>
          <a:prstGeom prst="rect">
            <a:avLst/>
          </a:prstGeom>
          <a:noFill/>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en-US" altLang="zh-CN"/>
              <a:t>Click to edit Master title style</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内容占位符 2"/>
          <p:cNvSpPr>
            <a:spLocks noGrp="1"/>
          </p:cNvSpPr>
          <p:nvPr>
            <p:ph sz="half" idx="1"/>
          </p:nvPr>
        </p:nvSpPr>
        <p:spPr>
          <a:xfrm>
            <a:off x="468313" y="1268413"/>
            <a:ext cx="4027487"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内容占位符 3"/>
          <p:cNvSpPr>
            <a:spLocks noGrp="1"/>
          </p:cNvSpPr>
          <p:nvPr>
            <p:ph sz="half" idx="2"/>
          </p:nvPr>
        </p:nvSpPr>
        <p:spPr>
          <a:xfrm>
            <a:off x="4648200" y="1268413"/>
            <a:ext cx="4027488" cy="50403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en-US" altLang="zh-CN"/>
              <a:t>Click to edit Master title style</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en-US" altLang="zh-CN"/>
              <a:t>Click to edit Master title style</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en-US" altLang="zh-CN"/>
              <a:t>Click to edit Master title style</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t>Click to edit Master title style</a:t>
            </a:r>
            <a:endParaRPr lang="zh-CN" altLang="en-US"/>
          </a:p>
        </p:txBody>
      </p:sp>
      <p:sp>
        <p:nvSpPr>
          <p:cNvPr id="3" name="竖排文字占位符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6034087"/>
          </a:xfrm>
        </p:spPr>
        <p:txBody>
          <a:bodyPr vert="eaVert"/>
          <a:lstStyle/>
          <a:p>
            <a:r>
              <a:rPr lang="en-US" altLang="zh-CN"/>
              <a:t>Click to edit Master title style</a:t>
            </a:r>
            <a:endParaRPr lang="zh-CN" altLang="en-US"/>
          </a:p>
        </p:txBody>
      </p:sp>
      <p:sp>
        <p:nvSpPr>
          <p:cNvPr id="3" name="竖排文字占位符 2"/>
          <p:cNvSpPr>
            <a:spLocks noGrp="1"/>
          </p:cNvSpPr>
          <p:nvPr>
            <p:ph type="body" orient="vert" idx="1"/>
          </p:nvPr>
        </p:nvSpPr>
        <p:spPr>
          <a:xfrm>
            <a:off x="457200" y="274638"/>
            <a:ext cx="6019800" cy="6034087"/>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46B5646-6F12-4EA7-A851-58FB2AB3F30B}" type="datetime11">
              <a:rPr lang="zh-CN" altLang="en-US" smtClean="0"/>
              <a:t>13:09:02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26379487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66EF15EE-8070-43B0-B15A-25AB95878380}" type="datetime11">
              <a:rPr lang="zh-CN" altLang="en-US" smtClean="0"/>
              <a:t>13:09:02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42473292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638AF93-5A19-403D-8BE6-3A7FC2EEE554}" type="datetime11">
              <a:rPr lang="zh-CN" altLang="en-US" smtClean="0"/>
              <a:t>13:09:02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38734878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033378A-562F-47D4-A04E-62FEEDC3192D}" type="datetime11">
              <a:rPr lang="zh-CN" altLang="en-US" smtClean="0"/>
              <a:t>13:09:02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35785638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E9CDA24-3D7C-4AD4-9766-295C421C75A6}" type="datetime11">
              <a:rPr lang="zh-CN" altLang="en-US" smtClean="0"/>
              <a:t>13:09:02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4169806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F484275-9A86-4B5C-A988-6C0AF20A75CD}" type="datetime11">
              <a:rPr lang="zh-CN" altLang="en-US" smtClean="0"/>
              <a:t>13:09:02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81639112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47F0C41-EC05-48E4-97F6-8A41B8679B89}" type="datetime11">
              <a:rPr lang="zh-CN" altLang="en-US" smtClean="0"/>
              <a:t>13:09:02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17450220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26AC8B9-5FF1-4BAB-9F02-CFA3199E8A06}" type="datetime11">
              <a:rPr lang="zh-CN" altLang="en-US" smtClean="0"/>
              <a:t>13:09:02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126476933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FA348A47-8E30-4E5A-B316-DEF4ED1B838D}" type="datetime11">
              <a:rPr lang="zh-CN" altLang="en-US" smtClean="0"/>
              <a:t>13:09:02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29818458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B47561A-908F-4680-A081-1B9E54B76997}" type="datetime11">
              <a:rPr lang="zh-CN" altLang="en-US" smtClean="0"/>
              <a:t>13:09:02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4927986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F87F031B-70A2-409F-9E6A-FA01B55B458E}" type="datetime11">
              <a:rPr lang="zh-CN" altLang="en-US" smtClean="0"/>
              <a:t>13:09:02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23217584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6"/>
          <p:cNvSpPr>
            <a:spLocks noGrp="1" noChangeArrowheads="1"/>
          </p:cNvSpPr>
          <p:nvPr>
            <p:ph type="dt" sz="half" idx="10"/>
          </p:nvPr>
        </p:nvSpPr>
        <p:spPr>
          <a:ln/>
        </p:spPr>
        <p:txBody>
          <a:bodyPr/>
          <a:lstStyle>
            <a:lvl1pPr>
              <a:defRPr/>
            </a:lvl1pPr>
          </a:lstStyle>
          <a:p>
            <a:pPr>
              <a:defRPr/>
            </a:pPr>
            <a:fld id="{86788FC4-7553-4F01-8BD5-4B1B77F44504}" type="datetime11">
              <a:rPr lang="zh-CN" altLang="en-US" smtClean="0"/>
              <a:t>13:09:03</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BB0CC364-1BA5-41B9-AB2A-AED99E06F6D9}"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CA6B7A47-6463-43FC-A920-9BF0C01127C7}" type="datetime11">
              <a:rPr lang="zh-CN" altLang="en-US" smtClean="0"/>
              <a:t>13:09:03</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AC2FE7BF-FC50-4631-86B5-C40F6148C3BD}"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6"/>
          <p:cNvSpPr>
            <a:spLocks noGrp="1" noChangeArrowheads="1"/>
          </p:cNvSpPr>
          <p:nvPr>
            <p:ph type="dt" sz="half" idx="10"/>
          </p:nvPr>
        </p:nvSpPr>
        <p:spPr>
          <a:ln/>
        </p:spPr>
        <p:txBody>
          <a:bodyPr/>
          <a:lstStyle>
            <a:lvl1pPr>
              <a:defRPr/>
            </a:lvl1pPr>
          </a:lstStyle>
          <a:p>
            <a:pPr>
              <a:defRPr/>
            </a:pPr>
            <a:fld id="{9827060D-86D9-4608-9352-0B621FCD55B1}" type="datetime11">
              <a:rPr lang="zh-CN" altLang="en-US" smtClean="0"/>
              <a:t>13:09:03</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054FC075-4888-4507-A2A3-28BF2AB6BA3D}"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6"/>
          <p:cNvSpPr>
            <a:spLocks noGrp="1" noChangeArrowheads="1"/>
          </p:cNvSpPr>
          <p:nvPr>
            <p:ph type="dt" sz="half" idx="10"/>
          </p:nvPr>
        </p:nvSpPr>
        <p:spPr>
          <a:ln/>
        </p:spPr>
        <p:txBody>
          <a:bodyPr/>
          <a:lstStyle>
            <a:lvl1pPr>
              <a:defRPr/>
            </a:lvl1pPr>
          </a:lstStyle>
          <a:p>
            <a:pPr>
              <a:defRPr/>
            </a:pPr>
            <a:fld id="{BB0E6124-32BA-40D1-9233-D1AA882C4954}" type="datetime11">
              <a:rPr lang="zh-CN" altLang="en-US" smtClean="0"/>
              <a:t>13:09:03</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424A21DF-7FF8-481C-8F91-FD6CD142DE13}"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6"/>
          <p:cNvSpPr>
            <a:spLocks noGrp="1" noChangeArrowheads="1"/>
          </p:cNvSpPr>
          <p:nvPr>
            <p:ph type="dt" sz="half" idx="10"/>
          </p:nvPr>
        </p:nvSpPr>
        <p:spPr>
          <a:ln/>
        </p:spPr>
        <p:txBody>
          <a:bodyPr/>
          <a:lstStyle>
            <a:lvl1pPr>
              <a:defRPr/>
            </a:lvl1pPr>
          </a:lstStyle>
          <a:p>
            <a:pPr>
              <a:defRPr/>
            </a:pPr>
            <a:fld id="{61A59717-8866-4C1F-95D7-091346EF64AA}" type="datetime11">
              <a:rPr lang="zh-CN" altLang="en-US" smtClean="0"/>
              <a:t>13:09:03</a:t>
            </a:fld>
            <a:endParaRPr lang="zh-CN" altLang="en-US"/>
          </a:p>
        </p:txBody>
      </p:sp>
      <p:sp>
        <p:nvSpPr>
          <p:cNvPr id="8" name="Rectangle 7"/>
          <p:cNvSpPr>
            <a:spLocks noGrp="1" noChangeArrowheads="1"/>
          </p:cNvSpPr>
          <p:nvPr>
            <p:ph type="sldNum" sz="quarter" idx="11"/>
          </p:nvPr>
        </p:nvSpPr>
        <p:spPr>
          <a:ln/>
        </p:spPr>
        <p:txBody>
          <a:bodyPr/>
          <a:lstStyle>
            <a:lvl1pPr>
              <a:defRPr/>
            </a:lvl1pPr>
          </a:lstStyle>
          <a:p>
            <a:pPr>
              <a:defRPr/>
            </a:pPr>
            <a:fld id="{0240C862-EC86-4931-94EC-917C8D8D0F5E}" type="slidenum">
              <a:rPr lang="zh-CN" altLang="zh-CN"/>
              <a:pPr>
                <a:defRPr/>
              </a:pPr>
              <a:t>‹#›</a:t>
            </a:fld>
            <a:endParaRPr lang="zh-CN" altLang="zh-CN"/>
          </a:p>
        </p:txBody>
      </p:sp>
      <p:sp>
        <p:nvSpPr>
          <p:cNvPr id="9"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6"/>
          <p:cNvSpPr>
            <a:spLocks noGrp="1" noChangeArrowheads="1"/>
          </p:cNvSpPr>
          <p:nvPr>
            <p:ph type="dt" sz="half" idx="10"/>
          </p:nvPr>
        </p:nvSpPr>
        <p:spPr>
          <a:ln/>
        </p:spPr>
        <p:txBody>
          <a:bodyPr/>
          <a:lstStyle>
            <a:lvl1pPr>
              <a:defRPr/>
            </a:lvl1pPr>
          </a:lstStyle>
          <a:p>
            <a:pPr>
              <a:defRPr/>
            </a:pPr>
            <a:fld id="{3931D904-2BD5-48A5-8A87-20518D09B213}" type="datetime11">
              <a:rPr lang="zh-CN" altLang="en-US" smtClean="0"/>
              <a:t>13:09:03</a:t>
            </a:fld>
            <a:endParaRPr lang="zh-CN" altLang="en-US"/>
          </a:p>
        </p:txBody>
      </p:sp>
      <p:sp>
        <p:nvSpPr>
          <p:cNvPr id="4" name="Rectangle 7"/>
          <p:cNvSpPr>
            <a:spLocks noGrp="1" noChangeArrowheads="1"/>
          </p:cNvSpPr>
          <p:nvPr>
            <p:ph type="sldNum" sz="quarter" idx="11"/>
          </p:nvPr>
        </p:nvSpPr>
        <p:spPr>
          <a:ln/>
        </p:spPr>
        <p:txBody>
          <a:bodyPr/>
          <a:lstStyle>
            <a:lvl1pPr>
              <a:defRPr/>
            </a:lvl1pPr>
          </a:lstStyle>
          <a:p>
            <a:pPr>
              <a:defRPr/>
            </a:pPr>
            <a:fld id="{187BCD9F-BD44-4EF6-BE82-AAE783C43501}" type="slidenum">
              <a:rPr lang="zh-CN" altLang="zh-CN"/>
              <a:pPr>
                <a:defRPr/>
              </a:pPr>
              <a:t>‹#›</a:t>
            </a:fld>
            <a:endParaRPr lang="zh-CN" altLang="zh-CN"/>
          </a:p>
        </p:txBody>
      </p:sp>
      <p:sp>
        <p:nvSpPr>
          <p:cNvPr id="5"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pPr>
              <a:defRPr/>
            </a:pPr>
            <a:fld id="{A742B89A-D76B-449B-AFDA-C36242952406}" type="datetime11">
              <a:rPr lang="zh-CN" altLang="en-US" smtClean="0"/>
              <a:t>13:09:03</a:t>
            </a:fld>
            <a:endParaRPr lang="zh-CN" altLang="en-US"/>
          </a:p>
        </p:txBody>
      </p:sp>
      <p:sp>
        <p:nvSpPr>
          <p:cNvPr id="3" name="Rectangle 7"/>
          <p:cNvSpPr>
            <a:spLocks noGrp="1" noChangeArrowheads="1"/>
          </p:cNvSpPr>
          <p:nvPr>
            <p:ph type="sldNum" sz="quarter" idx="11"/>
          </p:nvPr>
        </p:nvSpPr>
        <p:spPr>
          <a:ln/>
        </p:spPr>
        <p:txBody>
          <a:bodyPr/>
          <a:lstStyle>
            <a:lvl1pPr>
              <a:defRPr/>
            </a:lvl1pPr>
          </a:lstStyle>
          <a:p>
            <a:pPr>
              <a:defRPr/>
            </a:pPr>
            <a:fld id="{61C52EBF-F81B-48B6-BE4D-26C1D1B6B6E3}" type="slidenum">
              <a:rPr lang="zh-CN" altLang="zh-CN"/>
              <a:pPr>
                <a:defRPr/>
              </a:pPr>
              <a:t>‹#›</a:t>
            </a:fld>
            <a:endParaRPr lang="zh-CN" altLang="zh-CN"/>
          </a:p>
        </p:txBody>
      </p:sp>
      <p:sp>
        <p:nvSpPr>
          <p:cNvPr id="4"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669CC86E-0E81-4BB7-89AF-73C95E6B00D0}" type="datetime11">
              <a:rPr lang="zh-CN" altLang="en-US" smtClean="0"/>
              <a:t>13:09:03</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1C8539A8-602D-4E51-B413-7D3049688621}"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6"/>
          <p:cNvSpPr>
            <a:spLocks noGrp="1" noChangeArrowheads="1"/>
          </p:cNvSpPr>
          <p:nvPr>
            <p:ph type="dt" sz="half" idx="10"/>
          </p:nvPr>
        </p:nvSpPr>
        <p:spPr>
          <a:ln/>
        </p:spPr>
        <p:txBody>
          <a:bodyPr/>
          <a:lstStyle>
            <a:lvl1pPr>
              <a:defRPr/>
            </a:lvl1pPr>
          </a:lstStyle>
          <a:p>
            <a:pPr>
              <a:defRPr/>
            </a:pPr>
            <a:fld id="{01EA1F1B-C707-4803-A4B3-558EC62F1D0A}" type="datetime11">
              <a:rPr lang="zh-CN" altLang="en-US" smtClean="0"/>
              <a:t>13:09:03</a:t>
            </a:fld>
            <a:endParaRPr lang="zh-CN" altLang="en-US"/>
          </a:p>
        </p:txBody>
      </p:sp>
      <p:sp>
        <p:nvSpPr>
          <p:cNvPr id="6" name="Rectangle 7"/>
          <p:cNvSpPr>
            <a:spLocks noGrp="1" noChangeArrowheads="1"/>
          </p:cNvSpPr>
          <p:nvPr>
            <p:ph type="sldNum" sz="quarter" idx="11"/>
          </p:nvPr>
        </p:nvSpPr>
        <p:spPr>
          <a:ln/>
        </p:spPr>
        <p:txBody>
          <a:bodyPr/>
          <a:lstStyle>
            <a:lvl1pPr>
              <a:defRPr/>
            </a:lvl1pPr>
          </a:lstStyle>
          <a:p>
            <a:pPr>
              <a:defRPr/>
            </a:pPr>
            <a:fld id="{76C80078-58AC-4D3E-ABE4-9AC19CDC29F3}" type="slidenum">
              <a:rPr lang="zh-CN" altLang="zh-CN"/>
              <a:pPr>
                <a:defRPr/>
              </a:pPr>
              <a:t>‹#›</a:t>
            </a:fld>
            <a:endParaRPr lang="zh-CN" altLang="zh-CN"/>
          </a:p>
        </p:txBody>
      </p:sp>
      <p:sp>
        <p:nvSpPr>
          <p:cNvPr id="7"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117494F2-4D2F-422D-92D0-CC8483100F92}" type="datetime11">
              <a:rPr lang="zh-CN" altLang="en-US" smtClean="0"/>
              <a:t>13:09:03</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F386B3F5-11FC-4098-8939-7139F82C3FE9}"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6"/>
          <p:cNvSpPr>
            <a:spLocks noGrp="1" noChangeArrowheads="1"/>
          </p:cNvSpPr>
          <p:nvPr>
            <p:ph type="dt" sz="half" idx="10"/>
          </p:nvPr>
        </p:nvSpPr>
        <p:spPr>
          <a:ln/>
        </p:spPr>
        <p:txBody>
          <a:bodyPr/>
          <a:lstStyle>
            <a:lvl1pPr>
              <a:defRPr/>
            </a:lvl1pPr>
          </a:lstStyle>
          <a:p>
            <a:pPr>
              <a:defRPr/>
            </a:pPr>
            <a:fld id="{8CC04439-2D2B-4EC0-BA90-9ED3FB6B6029}" type="datetime11">
              <a:rPr lang="zh-CN" altLang="en-US" smtClean="0"/>
              <a:t>13:09:03</a:t>
            </a:fld>
            <a:endParaRPr lang="zh-CN" altLang="en-US"/>
          </a:p>
        </p:txBody>
      </p:sp>
      <p:sp>
        <p:nvSpPr>
          <p:cNvPr id="5" name="Rectangle 7"/>
          <p:cNvSpPr>
            <a:spLocks noGrp="1" noChangeArrowheads="1"/>
          </p:cNvSpPr>
          <p:nvPr>
            <p:ph type="sldNum" sz="quarter" idx="11"/>
          </p:nvPr>
        </p:nvSpPr>
        <p:spPr>
          <a:ln/>
        </p:spPr>
        <p:txBody>
          <a:bodyPr/>
          <a:lstStyle>
            <a:lvl1pPr>
              <a:defRPr/>
            </a:lvl1pPr>
          </a:lstStyle>
          <a:p>
            <a:pPr>
              <a:defRPr/>
            </a:pPr>
            <a:fld id="{0DE68FAC-5B3F-4E4F-841D-C005C5C6C87A}" type="slidenum">
              <a:rPr lang="zh-CN" altLang="zh-CN"/>
              <a:pPr>
                <a:defRPr/>
              </a:pPr>
              <a:t>‹#›</a:t>
            </a:fld>
            <a:endParaRPr lang="zh-CN" altLang="zh-CN"/>
          </a:p>
        </p:txBody>
      </p:sp>
      <p:sp>
        <p:nvSpPr>
          <p:cNvPr id="6" name="Rectangle 8"/>
          <p:cNvSpPr>
            <a:spLocks noGrp="1" noChangeArrowheads="1"/>
          </p:cNvSpPr>
          <p:nvPr>
            <p:ph type="ftr" sz="quarter" idx="12"/>
          </p:nvPr>
        </p:nvSpPr>
        <p:spPr>
          <a:ln/>
        </p:spPr>
        <p:txBody>
          <a:bodyPr/>
          <a:lstStyle>
            <a:lvl1pPr>
              <a:defRPr/>
            </a:lvl1pPr>
          </a:lstStyle>
          <a:p>
            <a:pPr>
              <a:defRPr/>
            </a:pP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5.jpe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6.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1026" name="Picture 2" descr="3"/>
          <p:cNvPicPr>
            <a:picLocks noChangeAspect="1" noChangeArrowheads="1"/>
          </p:cNvPicPr>
          <p:nvPr/>
        </p:nvPicPr>
        <p:blipFill>
          <a:blip r:embed="rId13" cstate="print"/>
          <a:srcRect/>
          <a:stretch>
            <a:fillRect/>
          </a:stretch>
        </p:blipFill>
        <p:spPr bwMode="auto">
          <a:xfrm>
            <a:off x="0" y="0"/>
            <a:ext cx="9144000" cy="1187450"/>
          </a:xfrm>
          <a:prstGeom prst="rect">
            <a:avLst/>
          </a:prstGeom>
          <a:noFill/>
          <a:ln w="9525">
            <a:noFill/>
            <a:miter lim="800000"/>
            <a:headEnd/>
            <a:tailEnd/>
          </a:ln>
        </p:spPr>
      </p:pic>
      <p:pic>
        <p:nvPicPr>
          <p:cNvPr id="1027" name="Picture 3" descr="6"/>
          <p:cNvPicPr>
            <a:picLocks noChangeAspect="1" noChangeArrowheads="1"/>
          </p:cNvPicPr>
          <p:nvPr/>
        </p:nvPicPr>
        <p:blipFill>
          <a:blip r:embed="rId14" cstate="print"/>
          <a:srcRect/>
          <a:stretch>
            <a:fillRect/>
          </a:stretch>
        </p:blipFill>
        <p:spPr bwMode="auto">
          <a:xfrm>
            <a:off x="0" y="0"/>
            <a:ext cx="9144000" cy="565150"/>
          </a:xfrm>
          <a:prstGeom prst="rect">
            <a:avLst/>
          </a:prstGeom>
          <a:noFill/>
          <a:ln w="9525">
            <a:noFill/>
            <a:miter lim="800000"/>
            <a:headEnd/>
            <a:tailEnd/>
          </a:ln>
        </p:spPr>
      </p:pic>
      <p:pic>
        <p:nvPicPr>
          <p:cNvPr id="1028" name="Picture 4" descr="nordri_02"/>
          <p:cNvPicPr>
            <a:picLocks noChangeAspect="1" noChangeArrowheads="1"/>
          </p:cNvPicPr>
          <p:nvPr/>
        </p:nvPicPr>
        <p:blipFill>
          <a:blip r:embed="rId15" cstate="print">
            <a:lum bright="-54000" contrast="42000"/>
          </a:blip>
          <a:srcRect/>
          <a:stretch>
            <a:fillRect/>
          </a:stretch>
        </p:blipFill>
        <p:spPr bwMode="auto">
          <a:xfrm>
            <a:off x="0" y="1225550"/>
            <a:ext cx="9144000" cy="171450"/>
          </a:xfrm>
          <a:prstGeom prst="rect">
            <a:avLst/>
          </a:prstGeom>
          <a:noFill/>
          <a:ln w="9525">
            <a:noFill/>
            <a:miter lim="800000"/>
            <a:headEnd/>
            <a:tailEnd/>
          </a:ln>
        </p:spPr>
      </p:pic>
      <p:sp>
        <p:nvSpPr>
          <p:cNvPr id="1029" name="Rectangle 31"/>
          <p:cNvSpPr>
            <a:spLocks noGrp="1" noChangeArrowheads="1"/>
          </p:cNvSpPr>
          <p:nvPr>
            <p:ph type="body" idx="1"/>
          </p:nvPr>
        </p:nvSpPr>
        <p:spPr bwMode="auto">
          <a:xfrm>
            <a:off x="468313" y="1268413"/>
            <a:ext cx="8207375" cy="50403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1030" name="Rectangle 6"/>
          <p:cNvSpPr>
            <a:spLocks noChangeArrowheads="1"/>
          </p:cNvSpPr>
          <p:nvPr/>
        </p:nvSpPr>
        <p:spPr bwMode="auto">
          <a:xfrm>
            <a:off x="3851275" y="6524625"/>
            <a:ext cx="1439863" cy="196850"/>
          </a:xfrm>
          <a:prstGeom prst="rect">
            <a:avLst/>
          </a:prstGeom>
          <a:noFill/>
          <a:ln w="9525">
            <a:noFill/>
            <a:miter lim="800000"/>
            <a:headEnd/>
            <a:tailEnd/>
          </a:ln>
          <a:effectLst/>
        </p:spPr>
        <p:txBody>
          <a:bodyPr/>
          <a:lstStyle/>
          <a:p>
            <a:pPr algn="ctr" eaLnBrk="0" hangingPunct="0">
              <a:defRPr/>
            </a:pPr>
            <a:r>
              <a:rPr lang="de-DE" altLang="en-US" sz="1000"/>
              <a:t>Page </a:t>
            </a:r>
            <a:r>
              <a:rPr lang="de-DE" altLang="en-US" sz="1000">
                <a:sym typeface="MS UI Gothic" pitchFamily="34" charset="-128"/>
              </a:rPr>
              <a:t></a:t>
            </a:r>
            <a:r>
              <a:rPr lang="de-DE" altLang="en-US" sz="1000"/>
              <a:t> </a:t>
            </a:r>
            <a:fld id="{79942497-7726-428B-B087-1DEFCAC66726}" type="slidenum">
              <a:rPr lang="zh-CN" altLang="en-US" sz="1000"/>
              <a:pPr algn="ctr" eaLnBrk="0" hangingPunct="0">
                <a:defRPr/>
              </a:pPr>
              <a:t>‹#›</a:t>
            </a:fld>
            <a:endParaRPr lang="en-US" sz="1000"/>
          </a:p>
        </p:txBody>
      </p:sp>
      <p:sp>
        <p:nvSpPr>
          <p:cNvPr id="1031" name="Rectangle 7"/>
          <p:cNvSpPr>
            <a:spLocks noChangeArrowheads="1"/>
          </p:cNvSpPr>
          <p:nvPr/>
        </p:nvSpPr>
        <p:spPr bwMode="auto">
          <a:xfrm>
            <a:off x="468313" y="446088"/>
            <a:ext cx="1389062" cy="349250"/>
          </a:xfrm>
          <a:prstGeom prst="rect">
            <a:avLst/>
          </a:prstGeom>
          <a:gradFill rotWithShape="1">
            <a:gsLst>
              <a:gs pos="0">
                <a:srgbClr val="FFFFFF"/>
              </a:gs>
              <a:gs pos="100000">
                <a:srgbClr val="DDDDDD"/>
              </a:gs>
            </a:gsLst>
            <a:lin ang="0" scaled="1"/>
          </a:gradFill>
          <a:ln w="9525" cmpd="sng">
            <a:solidFill>
              <a:srgbClr val="969696"/>
            </a:solidFill>
            <a:prstDash val="dash"/>
            <a:miter lim="800000"/>
            <a:headEnd/>
            <a:tailEnd/>
          </a:ln>
        </p:spPr>
        <p:txBody>
          <a:bodyPr wrap="none" anchor="ctr"/>
          <a:lstStyle/>
          <a:p>
            <a:pPr algn="ctr" eaLnBrk="0" hangingPunct="0">
              <a:defRPr/>
            </a:pPr>
            <a:r>
              <a:rPr lang="de-DE" altLang="en-US" sz="1400" i="0"/>
              <a:t>LOGO</a:t>
            </a:r>
          </a:p>
        </p:txBody>
      </p:sp>
      <p:sp>
        <p:nvSpPr>
          <p:cNvPr id="1032" name="Rectangle 8"/>
          <p:cNvSpPr>
            <a:spLocks noChangeArrowheads="1"/>
          </p:cNvSpPr>
          <p:nvPr/>
        </p:nvSpPr>
        <p:spPr bwMode="auto">
          <a:xfrm>
            <a:off x="468313" y="333375"/>
            <a:ext cx="8207375" cy="574675"/>
          </a:xfrm>
          <a:prstGeom prst="rect">
            <a:avLst/>
          </a:prstGeom>
          <a:noFill/>
          <a:ln w="9525">
            <a:noFill/>
            <a:miter lim="800000"/>
            <a:headEnd/>
            <a:tailEnd/>
          </a:ln>
        </p:spPr>
        <p:txBody>
          <a:bodyPr/>
          <a:lstStyle/>
          <a:p>
            <a:pPr algn="ctr">
              <a:defRPr/>
            </a:pPr>
            <a:endParaRPr lang="zh-CN" altLang="en-US" sz="2600" i="0">
              <a:solidFill>
                <a:schemeClr val="bg1"/>
              </a:solidFill>
              <a:ea typeface="黑体" pitchFamily="2" charset="-122"/>
            </a:endParaRPr>
          </a:p>
        </p:txBody>
      </p:sp>
      <p:sp>
        <p:nvSpPr>
          <p:cNvPr id="1033" name="Rectangle 9"/>
          <p:cNvSpPr>
            <a:spLocks noGrp="1" noChangeArrowheads="1"/>
          </p:cNvSpPr>
          <p:nvPr>
            <p:ph type="title"/>
          </p:nvPr>
        </p:nvSpPr>
        <p:spPr bwMode="auto">
          <a:xfrm>
            <a:off x="457200" y="260648"/>
            <a:ext cx="8229600" cy="1143000"/>
          </a:xfrm>
          <a:prstGeom prst="rect">
            <a:avLst/>
          </a:prstGeom>
          <a:noFill/>
          <a:ln w="0">
            <a:noFill/>
            <a:miter lim="800000"/>
            <a:headEnd/>
            <a:tailEnd/>
          </a:ln>
        </p:spPr>
        <p:txBody>
          <a:bodyPr vert="horz" wrap="square" lIns="91440" tIns="45720" rIns="91440" bIns="45720" numCol="1" anchor="ctr" anchorCtr="0" compatLnSpc="1">
            <a:prstTxWarp prst="textNoShape">
              <a:avLst/>
            </a:prstTxWarp>
          </a:bodyPr>
          <a:lstStyle/>
          <a:p>
            <a:pPr lvl="0"/>
            <a:r>
              <a:rPr lang="zh-CN" altLang="en-US" dirty="0"/>
              <a:t>单击此处编辑母版标题样式</a:t>
            </a:r>
          </a:p>
        </p:txBody>
      </p:sp>
      <p:pic>
        <p:nvPicPr>
          <p:cNvPr id="14338" name="Picture 2" descr="C:\Users\Administrator\Desktop\自画像.png"/>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8684584" y="6102556"/>
            <a:ext cx="438150" cy="719137"/>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Lst>
  <p:hf sldNum="0" hdr="0" ftr="0"/>
  <p:txStyles>
    <p:titleStyle>
      <a:lvl1pPr algn="ctr" rtl="0" eaLnBrk="1" fontAlgn="base" hangingPunct="1">
        <a:spcBef>
          <a:spcPct val="0"/>
        </a:spcBef>
        <a:spcAft>
          <a:spcPct val="0"/>
        </a:spcAft>
        <a:defRPr sz="2600" b="1">
          <a:solidFill>
            <a:schemeClr val="bg1"/>
          </a:solidFill>
          <a:latin typeface="+mj-lt"/>
          <a:ea typeface="+mj-ea"/>
          <a:cs typeface="+mj-cs"/>
        </a:defRPr>
      </a:lvl1pPr>
      <a:lvl2pPr algn="ctr" rtl="0" eaLnBrk="1" fontAlgn="base" hangingPunct="1">
        <a:spcBef>
          <a:spcPct val="0"/>
        </a:spcBef>
        <a:spcAft>
          <a:spcPct val="0"/>
        </a:spcAft>
        <a:defRPr sz="2600" b="1">
          <a:solidFill>
            <a:schemeClr val="bg1"/>
          </a:solidFill>
          <a:latin typeface="Arial" pitchFamily="34" charset="0"/>
          <a:ea typeface="黑体" pitchFamily="2" charset="-122"/>
        </a:defRPr>
      </a:lvl2pPr>
      <a:lvl3pPr algn="ctr" rtl="0" eaLnBrk="1" fontAlgn="base" hangingPunct="1">
        <a:spcBef>
          <a:spcPct val="0"/>
        </a:spcBef>
        <a:spcAft>
          <a:spcPct val="0"/>
        </a:spcAft>
        <a:defRPr sz="2600" b="1">
          <a:solidFill>
            <a:schemeClr val="bg1"/>
          </a:solidFill>
          <a:latin typeface="Arial" pitchFamily="34" charset="0"/>
          <a:ea typeface="黑体" pitchFamily="2" charset="-122"/>
        </a:defRPr>
      </a:lvl3pPr>
      <a:lvl4pPr algn="ctr" rtl="0" eaLnBrk="1" fontAlgn="base" hangingPunct="1">
        <a:spcBef>
          <a:spcPct val="0"/>
        </a:spcBef>
        <a:spcAft>
          <a:spcPct val="0"/>
        </a:spcAft>
        <a:defRPr sz="2600" b="1">
          <a:solidFill>
            <a:schemeClr val="bg1"/>
          </a:solidFill>
          <a:latin typeface="Arial" pitchFamily="34" charset="0"/>
          <a:ea typeface="黑体" pitchFamily="2" charset="-122"/>
        </a:defRPr>
      </a:lvl4pPr>
      <a:lvl5pPr algn="ctr"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ctr"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ctr"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ctr"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ctr"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4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8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6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D1405D-E47D-4E45-8EB4-15CAA26E8B41}" type="datetime11">
              <a:rPr lang="zh-CN" altLang="en-US" smtClean="0"/>
              <a:t>13:09:02</a:t>
            </a:fld>
            <a:endParaRPr lang="zh-CN" altLang="en-US" dirty="0"/>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AF4B135-4BBD-470A-8EBD-6BF550A7F69E}" type="slidenum">
              <a:rPr lang="zh-CN" altLang="en-US" smtClean="0"/>
              <a:t>‹#›</a:t>
            </a:fld>
            <a:endParaRPr lang="zh-CN" altLang="en-US"/>
          </a:p>
        </p:txBody>
      </p:sp>
    </p:spTree>
    <p:extLst>
      <p:ext uri="{BB962C8B-B14F-4D97-AF65-F5344CB8AC3E}">
        <p14:creationId xmlns:p14="http://schemas.microsoft.com/office/powerpoint/2010/main" val="3114248938"/>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hf sldNum="0"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pic>
        <p:nvPicPr>
          <p:cNvPr id="2050" name="Picture 2" descr="1"/>
          <p:cNvPicPr>
            <a:picLocks noChangeAspect="1" noChangeArrowheads="1"/>
          </p:cNvPicPr>
          <p:nvPr/>
        </p:nvPicPr>
        <p:blipFill>
          <a:blip r:embed="rId13" cstate="print"/>
          <a:srcRect/>
          <a:stretch>
            <a:fillRect/>
          </a:stretch>
        </p:blipFill>
        <p:spPr bwMode="auto">
          <a:xfrm>
            <a:off x="0" y="-25400"/>
            <a:ext cx="9144000" cy="6883400"/>
          </a:xfrm>
          <a:prstGeom prst="rect">
            <a:avLst/>
          </a:prstGeom>
          <a:noFill/>
          <a:ln w="9525">
            <a:noFill/>
            <a:miter lim="800000"/>
            <a:headEnd/>
            <a:tailEnd/>
          </a:ln>
        </p:spPr>
      </p:pic>
      <p:pic>
        <p:nvPicPr>
          <p:cNvPr id="2051" name="Picture 3" descr="2"/>
          <p:cNvPicPr>
            <a:picLocks noChangeAspect="1" noChangeArrowheads="1"/>
          </p:cNvPicPr>
          <p:nvPr/>
        </p:nvPicPr>
        <p:blipFill>
          <a:blip r:embed="rId14" cstate="print"/>
          <a:srcRect/>
          <a:stretch>
            <a:fillRect/>
          </a:stretch>
        </p:blipFill>
        <p:spPr bwMode="auto">
          <a:xfrm>
            <a:off x="0" y="3030538"/>
            <a:ext cx="9144000" cy="3827462"/>
          </a:xfrm>
          <a:prstGeom prst="rect">
            <a:avLst/>
          </a:prstGeom>
          <a:noFill/>
          <a:ln w="9525">
            <a:noFill/>
            <a:miter lim="800000"/>
            <a:headEnd/>
            <a:tailEnd/>
          </a:ln>
        </p:spPr>
      </p:pic>
      <p:sp>
        <p:nvSpPr>
          <p:cNvPr id="2052" name="Rectangle 4"/>
          <p:cNvSpPr>
            <a:spLocks noGrp="1" noChangeArrowheads="1"/>
          </p:cNvSpPr>
          <p:nvPr>
            <p:ph type="title"/>
          </p:nvPr>
        </p:nvSpPr>
        <p:spPr bwMode="auto">
          <a:xfrm>
            <a:off x="457200" y="274638"/>
            <a:ext cx="8229600" cy="1143000"/>
          </a:xfrm>
          <a:prstGeom prst="rect">
            <a:avLst/>
          </a:prstGeom>
          <a:noFill/>
          <a:ln w="0">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3" name="Rectangle 5"/>
          <p:cNvSpPr>
            <a:spLocks noGrp="1" noChangeArrowheads="1"/>
          </p:cNvSpPr>
          <p:nvPr>
            <p:ph type="body" idx="1"/>
          </p:nvPr>
        </p:nvSpPr>
        <p:spPr bwMode="auto">
          <a:xfrm>
            <a:off x="457200" y="1600200"/>
            <a:ext cx="8229600" cy="4525963"/>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78" name="Rectangle 6"/>
          <p:cNvSpPr>
            <a:spLocks noGrp="1" noChangeArrowheads="1"/>
          </p:cNvSpPr>
          <p:nvPr>
            <p:ph type="dt" sz="half" idx="2"/>
          </p:nvPr>
        </p:nvSpPr>
        <p:spPr bwMode="auto">
          <a:xfrm>
            <a:off x="457200" y="6245225"/>
            <a:ext cx="2133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eaLnBrk="0" hangingPunct="0">
              <a:defRPr sz="1400" b="0"/>
            </a:lvl1pPr>
          </a:lstStyle>
          <a:p>
            <a:pPr>
              <a:defRPr/>
            </a:pPr>
            <a:fld id="{A0157214-8384-4B82-80A7-63E4916EE769}" type="datetime11">
              <a:rPr lang="zh-CN" altLang="en-US" smtClean="0"/>
              <a:t>13:09:03</a:t>
            </a:fld>
            <a:endParaRPr lang="zh-CN" altLang="en-US"/>
          </a:p>
        </p:txBody>
      </p:sp>
      <p:sp>
        <p:nvSpPr>
          <p:cNvPr id="3079" name="Rectangle 7"/>
          <p:cNvSpPr>
            <a:spLocks noGrp="1" noChangeArrowheads="1"/>
          </p:cNvSpPr>
          <p:nvPr>
            <p:ph type="sldNum" sz="quarter" idx="4"/>
          </p:nvPr>
        </p:nvSpPr>
        <p:spPr bwMode="auto">
          <a:xfrm>
            <a:off x="6553200" y="6245225"/>
            <a:ext cx="2133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algn="r" eaLnBrk="0" hangingPunct="0">
              <a:defRPr sz="1400" b="0"/>
            </a:lvl1pPr>
          </a:lstStyle>
          <a:p>
            <a:pPr>
              <a:defRPr/>
            </a:pPr>
            <a:fld id="{1837E92B-A29E-444E-B5B0-AD7430799177}" type="slidenum">
              <a:rPr lang="zh-CN" altLang="zh-CN"/>
              <a:pPr>
                <a:defRPr/>
              </a:pPr>
              <a:t>‹#›</a:t>
            </a:fld>
            <a:endParaRPr lang="zh-CN" altLang="zh-CN"/>
          </a:p>
        </p:txBody>
      </p:sp>
      <p:sp>
        <p:nvSpPr>
          <p:cNvPr id="3080" name="Rectangle 8"/>
          <p:cNvSpPr>
            <a:spLocks noGrp="1" noChangeArrowheads="1"/>
          </p:cNvSpPr>
          <p:nvPr>
            <p:ph type="ftr" sz="quarter" idx="3"/>
          </p:nvPr>
        </p:nvSpPr>
        <p:spPr bwMode="auto">
          <a:xfrm>
            <a:off x="3124200" y="6245225"/>
            <a:ext cx="2895600" cy="476250"/>
          </a:xfrm>
          <a:prstGeom prst="rect">
            <a:avLst/>
          </a:prstGeom>
          <a:noFill/>
          <a:ln w="0">
            <a:noFill/>
            <a:miter lim="800000"/>
            <a:headEnd/>
            <a:tailEnd/>
          </a:ln>
        </p:spPr>
        <p:txBody>
          <a:bodyPr vert="horz" wrap="square" lIns="91440" tIns="45720" rIns="91440" bIns="45720" numCol="1" anchor="t" anchorCtr="0" compatLnSpc="1">
            <a:prstTxWarp prst="textNoShape">
              <a:avLst/>
            </a:prstTxWarp>
          </a:bodyPr>
          <a:lstStyle>
            <a:lvl1pPr algn="ctr" eaLnBrk="0" hangingPunct="0">
              <a:defRPr sz="1400" b="0"/>
            </a:lvl1pPr>
          </a:lstStyle>
          <a:p>
            <a:pPr>
              <a:defRPr/>
            </a:pPr>
            <a:endParaRPr lang="zh-CN" altLang="en-US"/>
          </a:p>
        </p:txBody>
      </p:sp>
    </p:spTree>
  </p:cSld>
  <p:clrMap bg1="lt1" tx1="dk1" bg2="lt2" tx2="dk2" accent1="accent1" accent2="accent2" accent3="accent3" accent4="accent4" accent5="accent5" accent6="accent6" hlink="hlink" folHlink="folHlink"/>
  <p:sldLayoutIdLst>
    <p:sldLayoutId id="2147483797" r:id="rId1"/>
    <p:sldLayoutId id="2147483798" r:id="rId2"/>
    <p:sldLayoutId id="2147483799" r:id="rId3"/>
    <p:sldLayoutId id="2147483800" r:id="rId4"/>
    <p:sldLayoutId id="2147483801" r:id="rId5"/>
    <p:sldLayoutId id="2147483802" r:id="rId6"/>
    <p:sldLayoutId id="2147483803" r:id="rId7"/>
    <p:sldLayoutId id="2147483804" r:id="rId8"/>
    <p:sldLayoutId id="2147483805" r:id="rId9"/>
    <p:sldLayoutId id="2147483806" r:id="rId10"/>
    <p:sldLayoutId id="2147483807" r:id="rId11"/>
  </p:sldLayoutIdLst>
  <p:hf sldNum="0" hdr="0" ftr="0"/>
  <p:txStyles>
    <p:titleStyle>
      <a:lvl1pPr algn="l" rtl="0" eaLnBrk="1" fontAlgn="base" hangingPunct="1">
        <a:spcBef>
          <a:spcPct val="0"/>
        </a:spcBef>
        <a:spcAft>
          <a:spcPct val="0"/>
        </a:spcAft>
        <a:defRPr sz="2600" b="1">
          <a:solidFill>
            <a:schemeClr val="bg1"/>
          </a:solidFill>
          <a:latin typeface="+mj-lt"/>
          <a:ea typeface="+mj-ea"/>
          <a:cs typeface="+mj-cs"/>
        </a:defRPr>
      </a:lvl1pPr>
      <a:lvl2pPr algn="l" rtl="0" eaLnBrk="1" fontAlgn="base" hangingPunct="1">
        <a:spcBef>
          <a:spcPct val="0"/>
        </a:spcBef>
        <a:spcAft>
          <a:spcPct val="0"/>
        </a:spcAft>
        <a:defRPr sz="2600" b="1">
          <a:solidFill>
            <a:schemeClr val="bg1"/>
          </a:solidFill>
          <a:latin typeface="Arial" pitchFamily="34" charset="0"/>
          <a:ea typeface="黑体" pitchFamily="2" charset="-122"/>
        </a:defRPr>
      </a:lvl2pPr>
      <a:lvl3pPr algn="l" rtl="0" eaLnBrk="1" fontAlgn="base" hangingPunct="1">
        <a:spcBef>
          <a:spcPct val="0"/>
        </a:spcBef>
        <a:spcAft>
          <a:spcPct val="0"/>
        </a:spcAft>
        <a:defRPr sz="2600" b="1">
          <a:solidFill>
            <a:schemeClr val="bg1"/>
          </a:solidFill>
          <a:latin typeface="Arial" pitchFamily="34" charset="0"/>
          <a:ea typeface="黑体" pitchFamily="2" charset="-122"/>
        </a:defRPr>
      </a:lvl3pPr>
      <a:lvl4pPr algn="l" rtl="0" eaLnBrk="1" fontAlgn="base" hangingPunct="1">
        <a:spcBef>
          <a:spcPct val="0"/>
        </a:spcBef>
        <a:spcAft>
          <a:spcPct val="0"/>
        </a:spcAft>
        <a:defRPr sz="2600" b="1">
          <a:solidFill>
            <a:schemeClr val="bg1"/>
          </a:solidFill>
          <a:latin typeface="Arial" pitchFamily="34" charset="0"/>
          <a:ea typeface="黑体" pitchFamily="2" charset="-122"/>
        </a:defRPr>
      </a:lvl4pPr>
      <a:lvl5pPr algn="l"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l"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l"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l"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l"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6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4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sldNum="0" hdr="0" ftr="0"/>
  <p:txStyles>
    <p:titleStyle>
      <a:lvl1pPr algn="l" rtl="0" eaLnBrk="1" fontAlgn="base" hangingPunct="1">
        <a:spcBef>
          <a:spcPct val="0"/>
        </a:spcBef>
        <a:spcAft>
          <a:spcPct val="0"/>
        </a:spcAft>
        <a:defRPr sz="2600" b="1">
          <a:solidFill>
            <a:schemeClr val="bg1"/>
          </a:solidFill>
          <a:latin typeface="+mj-lt"/>
          <a:ea typeface="+mj-ea"/>
          <a:cs typeface="+mj-cs"/>
        </a:defRPr>
      </a:lvl1pPr>
      <a:lvl2pPr algn="l" rtl="0" eaLnBrk="1" fontAlgn="base" hangingPunct="1">
        <a:spcBef>
          <a:spcPct val="0"/>
        </a:spcBef>
        <a:spcAft>
          <a:spcPct val="0"/>
        </a:spcAft>
        <a:defRPr sz="2600" b="1">
          <a:solidFill>
            <a:schemeClr val="bg1"/>
          </a:solidFill>
          <a:latin typeface="Arial" pitchFamily="34" charset="0"/>
          <a:ea typeface="黑体" pitchFamily="2" charset="-122"/>
        </a:defRPr>
      </a:lvl2pPr>
      <a:lvl3pPr algn="l" rtl="0" eaLnBrk="1" fontAlgn="base" hangingPunct="1">
        <a:spcBef>
          <a:spcPct val="0"/>
        </a:spcBef>
        <a:spcAft>
          <a:spcPct val="0"/>
        </a:spcAft>
        <a:defRPr sz="2600" b="1">
          <a:solidFill>
            <a:schemeClr val="bg1"/>
          </a:solidFill>
          <a:latin typeface="Arial" pitchFamily="34" charset="0"/>
          <a:ea typeface="黑体" pitchFamily="2" charset="-122"/>
        </a:defRPr>
      </a:lvl3pPr>
      <a:lvl4pPr algn="l" rtl="0" eaLnBrk="1" fontAlgn="base" hangingPunct="1">
        <a:spcBef>
          <a:spcPct val="0"/>
        </a:spcBef>
        <a:spcAft>
          <a:spcPct val="0"/>
        </a:spcAft>
        <a:defRPr sz="2600" b="1">
          <a:solidFill>
            <a:schemeClr val="bg1"/>
          </a:solidFill>
          <a:latin typeface="Arial" pitchFamily="34" charset="0"/>
          <a:ea typeface="黑体" pitchFamily="2" charset="-122"/>
        </a:defRPr>
      </a:lvl4pPr>
      <a:lvl5pPr algn="l" rtl="0" eaLnBrk="1" fontAlgn="base" hangingPunct="1">
        <a:spcBef>
          <a:spcPct val="0"/>
        </a:spcBef>
        <a:spcAft>
          <a:spcPct val="0"/>
        </a:spcAft>
        <a:defRPr sz="2600" b="1">
          <a:solidFill>
            <a:schemeClr val="bg1"/>
          </a:solidFill>
          <a:latin typeface="Arial" pitchFamily="34" charset="0"/>
          <a:ea typeface="黑体" pitchFamily="2" charset="-122"/>
        </a:defRPr>
      </a:lvl5pPr>
      <a:lvl6pPr marL="457200" algn="l" rtl="0" eaLnBrk="1" fontAlgn="base" hangingPunct="1">
        <a:spcBef>
          <a:spcPct val="0"/>
        </a:spcBef>
        <a:spcAft>
          <a:spcPct val="0"/>
        </a:spcAft>
        <a:defRPr sz="2600" b="1">
          <a:solidFill>
            <a:schemeClr val="bg1"/>
          </a:solidFill>
          <a:latin typeface="Arial" pitchFamily="34" charset="0"/>
          <a:ea typeface="黑体" pitchFamily="2" charset="-122"/>
        </a:defRPr>
      </a:lvl6pPr>
      <a:lvl7pPr marL="914400" algn="l" rtl="0" eaLnBrk="1" fontAlgn="base" hangingPunct="1">
        <a:spcBef>
          <a:spcPct val="0"/>
        </a:spcBef>
        <a:spcAft>
          <a:spcPct val="0"/>
        </a:spcAft>
        <a:defRPr sz="2600" b="1">
          <a:solidFill>
            <a:schemeClr val="bg1"/>
          </a:solidFill>
          <a:latin typeface="Arial" pitchFamily="34" charset="0"/>
          <a:ea typeface="黑体" pitchFamily="2" charset="-122"/>
        </a:defRPr>
      </a:lvl7pPr>
      <a:lvl8pPr marL="1371600" algn="l" rtl="0" eaLnBrk="1" fontAlgn="base" hangingPunct="1">
        <a:spcBef>
          <a:spcPct val="0"/>
        </a:spcBef>
        <a:spcAft>
          <a:spcPct val="0"/>
        </a:spcAft>
        <a:defRPr sz="2600" b="1">
          <a:solidFill>
            <a:schemeClr val="bg1"/>
          </a:solidFill>
          <a:latin typeface="Arial" pitchFamily="34" charset="0"/>
          <a:ea typeface="黑体" pitchFamily="2" charset="-122"/>
        </a:defRPr>
      </a:lvl8pPr>
      <a:lvl9pPr marL="1828800" algn="l" rtl="0" eaLnBrk="1" fontAlgn="base" hangingPunct="1">
        <a:spcBef>
          <a:spcPct val="0"/>
        </a:spcBef>
        <a:spcAft>
          <a:spcPct val="0"/>
        </a:spcAft>
        <a:defRPr sz="2600" b="1">
          <a:solidFill>
            <a:schemeClr val="bg1"/>
          </a:solidFill>
          <a:latin typeface="Arial" pitchFamily="34" charset="0"/>
          <a:ea typeface="黑体" pitchFamily="2" charset="-122"/>
        </a:defRPr>
      </a:lvl9pPr>
    </p:titleStyle>
    <p:bodyStyle>
      <a:lvl1pPr marL="342900" indent="-342900" algn="l" rtl="0" eaLnBrk="1" fontAlgn="base" hangingPunct="1">
        <a:lnSpc>
          <a:spcPct val="120000"/>
        </a:lnSpc>
        <a:spcBef>
          <a:spcPct val="20000"/>
        </a:spcBef>
        <a:spcAft>
          <a:spcPct val="0"/>
        </a:spcAft>
        <a:buClr>
          <a:schemeClr val="accent1"/>
        </a:buClr>
        <a:buFont typeface="Wingdings" pitchFamily="2" charset="2"/>
        <a:buChar char="n"/>
        <a:defRPr sz="2000" b="1">
          <a:solidFill>
            <a:schemeClr val="tx1"/>
          </a:solidFill>
          <a:latin typeface="+mn-lt"/>
          <a:ea typeface="+mn-ea"/>
          <a:cs typeface="+mn-cs"/>
        </a:defRPr>
      </a:lvl1pPr>
      <a:lvl2pPr marL="742950" indent="-285750" algn="l" rtl="0" eaLnBrk="1" fontAlgn="base" hangingPunct="1">
        <a:lnSpc>
          <a:spcPct val="120000"/>
        </a:lnSpc>
        <a:spcBef>
          <a:spcPct val="20000"/>
        </a:spcBef>
        <a:spcAft>
          <a:spcPct val="0"/>
        </a:spcAft>
        <a:buClr>
          <a:schemeClr val="accent1"/>
        </a:buClr>
        <a:buFont typeface="Wingdings" pitchFamily="2" charset="2"/>
        <a:buChar char="n"/>
        <a:defRPr b="1">
          <a:solidFill>
            <a:schemeClr val="tx1"/>
          </a:solidFill>
          <a:latin typeface="+mn-lt"/>
          <a:ea typeface="+mn-ea"/>
        </a:defRPr>
      </a:lvl2pPr>
      <a:lvl3pPr marL="1143000" indent="-228600" algn="l" rtl="0" eaLnBrk="1" fontAlgn="base" hangingPunct="1">
        <a:lnSpc>
          <a:spcPct val="120000"/>
        </a:lnSpc>
        <a:spcBef>
          <a:spcPct val="20000"/>
        </a:spcBef>
        <a:spcAft>
          <a:spcPct val="0"/>
        </a:spcAft>
        <a:buClr>
          <a:schemeClr val="accent2"/>
        </a:buClr>
        <a:buFont typeface="Wingdings" pitchFamily="2" charset="2"/>
        <a:buChar char="n"/>
        <a:defRPr sz="1600" b="1">
          <a:solidFill>
            <a:schemeClr val="tx1"/>
          </a:solidFill>
          <a:latin typeface="+mn-lt"/>
          <a:ea typeface="+mn-ea"/>
        </a:defRPr>
      </a:lvl3pPr>
      <a:lvl4pPr marL="1600200" indent="-228600" algn="l" rtl="0" eaLnBrk="1" fontAlgn="base" hangingPunct="1">
        <a:lnSpc>
          <a:spcPct val="120000"/>
        </a:lnSpc>
        <a:spcBef>
          <a:spcPct val="20000"/>
        </a:spcBef>
        <a:spcAft>
          <a:spcPct val="0"/>
        </a:spcAft>
        <a:buClr>
          <a:schemeClr val="hlink"/>
        </a:buClr>
        <a:buFont typeface="Wingdings" pitchFamily="2" charset="2"/>
        <a:buChar char="n"/>
        <a:defRPr sz="1400" b="1">
          <a:solidFill>
            <a:schemeClr val="tx1"/>
          </a:solidFill>
          <a:latin typeface="+mn-lt"/>
          <a:ea typeface="+mn-ea"/>
        </a:defRPr>
      </a:lvl4pPr>
      <a:lvl5pPr marL="2057400" indent="-228600" algn="l" rtl="0" eaLnBrk="1" fontAlgn="base" hangingPunct="1">
        <a:spcBef>
          <a:spcPct val="20000"/>
        </a:spcBef>
        <a:spcAft>
          <a:spcPct val="0"/>
        </a:spcAft>
        <a:buChar char="»"/>
        <a:defRPr>
          <a:solidFill>
            <a:schemeClr val="tx1"/>
          </a:solidFill>
          <a:latin typeface="+mn-lt"/>
          <a:ea typeface="+mn-ea"/>
        </a:defRPr>
      </a:lvl5pPr>
      <a:lvl6pPr marL="2514600" indent="-228600" algn="l" rtl="0" eaLnBrk="1" fontAlgn="base" hangingPunct="1">
        <a:spcBef>
          <a:spcPct val="20000"/>
        </a:spcBef>
        <a:spcAft>
          <a:spcPct val="0"/>
        </a:spcAft>
        <a:buChar char="»"/>
        <a:defRPr>
          <a:solidFill>
            <a:schemeClr val="tx1"/>
          </a:solidFill>
          <a:latin typeface="+mn-lt"/>
          <a:ea typeface="+mn-ea"/>
        </a:defRPr>
      </a:lvl6pPr>
      <a:lvl7pPr marL="2971800" indent="-228600" algn="l" rtl="0" eaLnBrk="1" fontAlgn="base" hangingPunct="1">
        <a:spcBef>
          <a:spcPct val="20000"/>
        </a:spcBef>
        <a:spcAft>
          <a:spcPct val="0"/>
        </a:spcAft>
        <a:buChar char="»"/>
        <a:defRPr>
          <a:solidFill>
            <a:schemeClr val="tx1"/>
          </a:solidFill>
          <a:latin typeface="+mn-lt"/>
          <a:ea typeface="+mn-ea"/>
        </a:defRPr>
      </a:lvl7pPr>
      <a:lvl8pPr marL="3429000" indent="-228600" algn="l" rtl="0" eaLnBrk="1" fontAlgn="base" hangingPunct="1">
        <a:spcBef>
          <a:spcPct val="20000"/>
        </a:spcBef>
        <a:spcAft>
          <a:spcPct val="0"/>
        </a:spcAft>
        <a:buChar char="»"/>
        <a:defRPr>
          <a:solidFill>
            <a:schemeClr val="tx1"/>
          </a:solidFill>
          <a:latin typeface="+mn-lt"/>
          <a:ea typeface="+mn-ea"/>
        </a:defRPr>
      </a:lvl8pPr>
      <a:lvl9pPr marL="3886200" indent="-228600" algn="l" rtl="0" eaLnBrk="1" fontAlgn="base" hangingPunct="1">
        <a:spcBef>
          <a:spcPct val="20000"/>
        </a:spcBef>
        <a:spcAft>
          <a:spcPct val="0"/>
        </a:spcAft>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image" Target="../media/image10.wmf"/><Relationship Id="rId18" Type="http://schemas.openxmlformats.org/officeDocument/2006/relationships/oleObject" Target="../embeddings/oleObject6.bin"/><Relationship Id="rId3" Type="http://schemas.openxmlformats.org/officeDocument/2006/relationships/notesSlide" Target="../notesSlides/notesSlide3.xml"/><Relationship Id="rId7" Type="http://schemas.openxmlformats.org/officeDocument/2006/relationships/oleObject" Target="../embeddings/oleObject1.bin"/><Relationship Id="rId12" Type="http://schemas.openxmlformats.org/officeDocument/2006/relationships/oleObject" Target="../embeddings/oleObject3.bin"/><Relationship Id="rId17" Type="http://schemas.openxmlformats.org/officeDocument/2006/relationships/image" Target="../media/image12.wmf"/><Relationship Id="rId2" Type="http://schemas.openxmlformats.org/officeDocument/2006/relationships/slideLayout" Target="../slideLayouts/slideLayout2.xml"/><Relationship Id="rId16" Type="http://schemas.openxmlformats.org/officeDocument/2006/relationships/oleObject" Target="../embeddings/oleObject5.bin"/><Relationship Id="rId1" Type="http://schemas.openxmlformats.org/officeDocument/2006/relationships/vmlDrawing" Target="../drawings/vmlDrawing1.vml"/><Relationship Id="rId6" Type="http://schemas.openxmlformats.org/officeDocument/2006/relationships/image" Target="../media/image16.png"/><Relationship Id="rId11" Type="http://schemas.openxmlformats.org/officeDocument/2006/relationships/image" Target="../media/image9.wmf"/><Relationship Id="rId5" Type="http://schemas.openxmlformats.org/officeDocument/2006/relationships/image" Target="../media/image15.png"/><Relationship Id="rId15" Type="http://schemas.openxmlformats.org/officeDocument/2006/relationships/image" Target="../media/image11.wmf"/><Relationship Id="rId10" Type="http://schemas.openxmlformats.org/officeDocument/2006/relationships/oleObject" Target="../embeddings/oleObject2.bin"/><Relationship Id="rId19" Type="http://schemas.openxmlformats.org/officeDocument/2006/relationships/image" Target="../media/image13.wmf"/><Relationship Id="rId4" Type="http://schemas.openxmlformats.org/officeDocument/2006/relationships/image" Target="../media/image14.png"/><Relationship Id="rId9" Type="http://schemas.openxmlformats.org/officeDocument/2006/relationships/image" Target="../media/image17.png"/><Relationship Id="rId14" Type="http://schemas.openxmlformats.org/officeDocument/2006/relationships/oleObject" Target="../embeddings/oleObject4.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4.xml"/><Relationship Id="rId7" Type="http://schemas.openxmlformats.org/officeDocument/2006/relationships/image" Target="../media/image19.wmf"/><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oleObject" Target="../embeddings/oleObject8.bin"/><Relationship Id="rId5" Type="http://schemas.openxmlformats.org/officeDocument/2006/relationships/image" Target="../media/image18.wmf"/><Relationship Id="rId4" Type="http://schemas.openxmlformats.org/officeDocument/2006/relationships/oleObject" Target="../embeddings/oleObject7.bin"/><Relationship Id="rId9" Type="http://schemas.openxmlformats.org/officeDocument/2006/relationships/image" Target="../media/image20.w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21.png"/><Relationship Id="rId4" Type="http://schemas.openxmlformats.org/officeDocument/2006/relationships/oleObject" Target="../embeddings/oleObject10.bin"/></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23.png"/><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12.bin"/><Relationship Id="rId5" Type="http://schemas.openxmlformats.org/officeDocument/2006/relationships/image" Target="../media/image22.png"/><Relationship Id="rId4" Type="http://schemas.openxmlformats.org/officeDocument/2006/relationships/oleObject" Target="../embeddings/oleObject11.bin"/></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4.bin"/><Relationship Id="rId5" Type="http://schemas.openxmlformats.org/officeDocument/2006/relationships/image" Target="../media/image24.wmf"/><Relationship Id="rId4" Type="http://schemas.openxmlformats.org/officeDocument/2006/relationships/oleObject" Target="../embeddings/oleObject13.bin"/></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5.wmf"/><Relationship Id="rId4" Type="http://schemas.openxmlformats.org/officeDocument/2006/relationships/oleObject" Target="../embeddings/oleObject15.bin"/></Relationships>
</file>

<file path=ppt/slides/_rels/slide11.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notesSlide" Target="../notesSlides/notesSlide10.xml"/><Relationship Id="rId7"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0.wmf"/><Relationship Id="rId4" Type="http://schemas.openxmlformats.org/officeDocument/2006/relationships/oleObject" Target="../embeddings/oleObject17.bin"/></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30.png"/><Relationship Id="rId4" Type="http://schemas.openxmlformats.org/officeDocument/2006/relationships/oleObject" Target="../embeddings/oleObject18.bin"/></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7" Type="http://schemas.openxmlformats.org/officeDocument/2006/relationships/image" Target="../media/image32.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20.bin"/><Relationship Id="rId5" Type="http://schemas.openxmlformats.org/officeDocument/2006/relationships/image" Target="../media/image31.wmf"/><Relationship Id="rId4" Type="http://schemas.openxmlformats.org/officeDocument/2006/relationships/oleObject" Target="../embeddings/oleObject19.bin"/></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21.bin"/><Relationship Id="rId13" Type="http://schemas.openxmlformats.org/officeDocument/2006/relationships/image" Target="../media/image34.wmf"/><Relationship Id="rId18" Type="http://schemas.openxmlformats.org/officeDocument/2006/relationships/oleObject" Target="../embeddings/oleObject23.bin"/><Relationship Id="rId3" Type="http://schemas.openxmlformats.org/officeDocument/2006/relationships/notesSlide" Target="../notesSlides/notesSlide14.xml"/><Relationship Id="rId21" Type="http://schemas.openxmlformats.org/officeDocument/2006/relationships/image" Target="../media/image35.wmf"/><Relationship Id="rId7" Type="http://schemas.openxmlformats.org/officeDocument/2006/relationships/image" Target="../media/image40.png"/><Relationship Id="rId12" Type="http://schemas.openxmlformats.org/officeDocument/2006/relationships/oleObject" Target="../embeddings/oleObject22.bin"/><Relationship Id="rId17" Type="http://schemas.openxmlformats.org/officeDocument/2006/relationships/image" Target="../media/image42.png"/><Relationship Id="rId2" Type="http://schemas.openxmlformats.org/officeDocument/2006/relationships/slideLayout" Target="../slideLayouts/slideLayout2.xml"/><Relationship Id="rId16" Type="http://schemas.openxmlformats.org/officeDocument/2006/relationships/image" Target="../media/image41.png"/><Relationship Id="rId20" Type="http://schemas.openxmlformats.org/officeDocument/2006/relationships/oleObject" Target="../embeddings/oleObject230.bin"/><Relationship Id="rId1" Type="http://schemas.openxmlformats.org/officeDocument/2006/relationships/vmlDrawing" Target="../drawings/vmlDrawing11.vml"/><Relationship Id="rId6" Type="http://schemas.openxmlformats.org/officeDocument/2006/relationships/image" Target="../media/image39.png"/><Relationship Id="rId11" Type="http://schemas.openxmlformats.org/officeDocument/2006/relationships/image" Target="../media/image33.wmf"/><Relationship Id="rId5" Type="http://schemas.openxmlformats.org/officeDocument/2006/relationships/image" Target="../media/image38.png"/><Relationship Id="rId15" Type="http://schemas.openxmlformats.org/officeDocument/2006/relationships/image" Target="../media/image34.wmf"/><Relationship Id="rId23" Type="http://schemas.openxmlformats.org/officeDocument/2006/relationships/image" Target="../media/image36.wmf"/><Relationship Id="rId10" Type="http://schemas.openxmlformats.org/officeDocument/2006/relationships/oleObject" Target="../embeddings/oleObject210.bin"/><Relationship Id="rId19" Type="http://schemas.openxmlformats.org/officeDocument/2006/relationships/image" Target="../media/image35.wmf"/><Relationship Id="rId4" Type="http://schemas.openxmlformats.org/officeDocument/2006/relationships/image" Target="../media/image37.png"/><Relationship Id="rId9" Type="http://schemas.openxmlformats.org/officeDocument/2006/relationships/image" Target="../media/image33.wmf"/><Relationship Id="rId14" Type="http://schemas.openxmlformats.org/officeDocument/2006/relationships/oleObject" Target="../embeddings/oleObject220.bin"/><Relationship Id="rId22" Type="http://schemas.openxmlformats.org/officeDocument/2006/relationships/oleObject" Target="../embeddings/oleObject24.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notesSlide" Target="../notesSlides/notesSlide15.xml"/><Relationship Id="rId7" Type="http://schemas.openxmlformats.org/officeDocument/2006/relationships/image" Target="../media/image43.wmf"/><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oleObject" Target="../embeddings/oleObject26.bin"/><Relationship Id="rId11" Type="http://schemas.openxmlformats.org/officeDocument/2006/relationships/image" Target="../media/image45.wmf"/><Relationship Id="rId5" Type="http://schemas.openxmlformats.org/officeDocument/2006/relationships/image" Target="../media/image42.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44.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1.bin"/><Relationship Id="rId13" Type="http://schemas.openxmlformats.org/officeDocument/2006/relationships/image" Target="../media/image49.wmf"/><Relationship Id="rId18" Type="http://schemas.openxmlformats.org/officeDocument/2006/relationships/oleObject" Target="../embeddings/oleObject36.bin"/><Relationship Id="rId3" Type="http://schemas.openxmlformats.org/officeDocument/2006/relationships/notesSlide" Target="../notesSlides/notesSlide16.xml"/><Relationship Id="rId21" Type="http://schemas.openxmlformats.org/officeDocument/2006/relationships/image" Target="../media/image53.wmf"/><Relationship Id="rId7" Type="http://schemas.openxmlformats.org/officeDocument/2006/relationships/image" Target="../media/image46.wmf"/><Relationship Id="rId12" Type="http://schemas.openxmlformats.org/officeDocument/2006/relationships/oleObject" Target="../embeddings/oleObject33.bin"/><Relationship Id="rId17" Type="http://schemas.openxmlformats.org/officeDocument/2006/relationships/image" Target="../media/image51.wmf"/><Relationship Id="rId25" Type="http://schemas.openxmlformats.org/officeDocument/2006/relationships/image" Target="../media/image55.wmf"/><Relationship Id="rId2" Type="http://schemas.openxmlformats.org/officeDocument/2006/relationships/slideLayout" Target="../slideLayouts/slideLayout2.xml"/><Relationship Id="rId16" Type="http://schemas.openxmlformats.org/officeDocument/2006/relationships/oleObject" Target="../embeddings/oleObject35.bin"/><Relationship Id="rId20" Type="http://schemas.openxmlformats.org/officeDocument/2006/relationships/oleObject" Target="../embeddings/oleObject37.bin"/><Relationship Id="rId1" Type="http://schemas.openxmlformats.org/officeDocument/2006/relationships/vmlDrawing" Target="../drawings/vmlDrawing13.vml"/><Relationship Id="rId6" Type="http://schemas.openxmlformats.org/officeDocument/2006/relationships/oleObject" Target="../embeddings/oleObject30.bin"/><Relationship Id="rId11" Type="http://schemas.openxmlformats.org/officeDocument/2006/relationships/image" Target="../media/image48.wmf"/><Relationship Id="rId24" Type="http://schemas.openxmlformats.org/officeDocument/2006/relationships/oleObject" Target="../embeddings/oleObject39.bin"/><Relationship Id="rId5" Type="http://schemas.openxmlformats.org/officeDocument/2006/relationships/image" Target="../media/image30.png"/><Relationship Id="rId15" Type="http://schemas.openxmlformats.org/officeDocument/2006/relationships/image" Target="../media/image50.wmf"/><Relationship Id="rId23" Type="http://schemas.openxmlformats.org/officeDocument/2006/relationships/image" Target="../media/image54.wmf"/><Relationship Id="rId10" Type="http://schemas.openxmlformats.org/officeDocument/2006/relationships/oleObject" Target="../embeddings/oleObject32.bin"/><Relationship Id="rId19" Type="http://schemas.openxmlformats.org/officeDocument/2006/relationships/image" Target="../media/image52.wmf"/><Relationship Id="rId4" Type="http://schemas.openxmlformats.org/officeDocument/2006/relationships/oleObject" Target="../embeddings/oleObject29.bin"/><Relationship Id="rId9" Type="http://schemas.openxmlformats.org/officeDocument/2006/relationships/image" Target="../media/image47.png"/><Relationship Id="rId14" Type="http://schemas.openxmlformats.org/officeDocument/2006/relationships/oleObject" Target="../embeddings/oleObject34.bin"/><Relationship Id="rId22" Type="http://schemas.openxmlformats.org/officeDocument/2006/relationships/oleObject" Target="../embeddings/oleObject38.bin"/></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41.bin"/><Relationship Id="rId13" Type="http://schemas.openxmlformats.org/officeDocument/2006/relationships/oleObject" Target="../embeddings/oleObject43.bin"/><Relationship Id="rId18" Type="http://schemas.openxmlformats.org/officeDocument/2006/relationships/image" Target="../media/image61.wmf"/><Relationship Id="rId3" Type="http://schemas.openxmlformats.org/officeDocument/2006/relationships/notesSlide" Target="../notesSlides/notesSlide17.xml"/><Relationship Id="rId21" Type="http://schemas.openxmlformats.org/officeDocument/2006/relationships/image" Target="../media/image62.wmf"/><Relationship Id="rId7" Type="http://schemas.openxmlformats.org/officeDocument/2006/relationships/image" Target="../media/image64.png"/><Relationship Id="rId12" Type="http://schemas.openxmlformats.org/officeDocument/2006/relationships/image" Target="../media/image65.png"/><Relationship Id="rId17" Type="http://schemas.openxmlformats.org/officeDocument/2006/relationships/oleObject" Target="../embeddings/oleObject45.bin"/><Relationship Id="rId2" Type="http://schemas.openxmlformats.org/officeDocument/2006/relationships/slideLayout" Target="../slideLayouts/slideLayout2.xml"/><Relationship Id="rId16" Type="http://schemas.openxmlformats.org/officeDocument/2006/relationships/image" Target="../media/image60.wmf"/><Relationship Id="rId20" Type="http://schemas.openxmlformats.org/officeDocument/2006/relationships/oleObject" Target="../embeddings/oleObject46.bin"/><Relationship Id="rId1" Type="http://schemas.openxmlformats.org/officeDocument/2006/relationships/vmlDrawing" Target="../drawings/vmlDrawing14.vml"/><Relationship Id="rId6" Type="http://schemas.openxmlformats.org/officeDocument/2006/relationships/image" Target="../media/image37.png"/><Relationship Id="rId11" Type="http://schemas.openxmlformats.org/officeDocument/2006/relationships/image" Target="../media/image58.wmf"/><Relationship Id="rId5" Type="http://schemas.openxmlformats.org/officeDocument/2006/relationships/image" Target="../media/image56.wmf"/><Relationship Id="rId15" Type="http://schemas.openxmlformats.org/officeDocument/2006/relationships/oleObject" Target="../embeddings/oleObject44.bin"/><Relationship Id="rId23" Type="http://schemas.openxmlformats.org/officeDocument/2006/relationships/image" Target="../media/image63.wmf"/><Relationship Id="rId10" Type="http://schemas.openxmlformats.org/officeDocument/2006/relationships/oleObject" Target="../embeddings/oleObject42.bin"/><Relationship Id="rId19" Type="http://schemas.openxmlformats.org/officeDocument/2006/relationships/image" Target="../media/image66.png"/><Relationship Id="rId4" Type="http://schemas.openxmlformats.org/officeDocument/2006/relationships/oleObject" Target="../embeddings/oleObject40.bin"/><Relationship Id="rId9" Type="http://schemas.openxmlformats.org/officeDocument/2006/relationships/image" Target="../media/image57.wmf"/><Relationship Id="rId14" Type="http://schemas.openxmlformats.org/officeDocument/2006/relationships/image" Target="../media/image59.wmf"/><Relationship Id="rId22" Type="http://schemas.openxmlformats.org/officeDocument/2006/relationships/oleObject" Target="../embeddings/oleObject47.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73.png"/><Relationship Id="rId3" Type="http://schemas.openxmlformats.org/officeDocument/2006/relationships/notesSlide" Target="../notesSlides/notesSlide18.xml"/><Relationship Id="rId7" Type="http://schemas.openxmlformats.org/officeDocument/2006/relationships/image" Target="../media/image68.wmf"/><Relationship Id="rId12" Type="http://schemas.openxmlformats.org/officeDocument/2006/relationships/image" Target="../media/image72.png"/><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49.bin"/><Relationship Id="rId11" Type="http://schemas.openxmlformats.org/officeDocument/2006/relationships/image" Target="../media/image70.wmf"/><Relationship Id="rId5" Type="http://schemas.openxmlformats.org/officeDocument/2006/relationships/image" Target="../media/image67.wmf"/><Relationship Id="rId15" Type="http://schemas.openxmlformats.org/officeDocument/2006/relationships/image" Target="../media/image71.wmf"/><Relationship Id="rId10" Type="http://schemas.openxmlformats.org/officeDocument/2006/relationships/oleObject" Target="../embeddings/oleObject51.bin"/><Relationship Id="rId4" Type="http://schemas.openxmlformats.org/officeDocument/2006/relationships/oleObject" Target="../embeddings/oleObject48.bin"/><Relationship Id="rId9" Type="http://schemas.openxmlformats.org/officeDocument/2006/relationships/image" Target="../media/image69.wmf"/><Relationship Id="rId14" Type="http://schemas.openxmlformats.org/officeDocument/2006/relationships/oleObject" Target="../embeddings/oleObject52.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7" Type="http://schemas.openxmlformats.org/officeDocument/2006/relationships/image" Target="../media/image75.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oleObject" Target="../embeddings/oleObject54.bin"/><Relationship Id="rId5" Type="http://schemas.openxmlformats.org/officeDocument/2006/relationships/image" Target="../media/image74.wmf"/><Relationship Id="rId4" Type="http://schemas.openxmlformats.org/officeDocument/2006/relationships/oleObject" Target="../embeddings/oleObject53.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57.bin"/><Relationship Id="rId3" Type="http://schemas.openxmlformats.org/officeDocument/2006/relationships/notesSlide" Target="../notesSlides/notesSlide20.xml"/><Relationship Id="rId7" Type="http://schemas.openxmlformats.org/officeDocument/2006/relationships/image" Target="../media/image77.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56.bin"/><Relationship Id="rId5" Type="http://schemas.openxmlformats.org/officeDocument/2006/relationships/image" Target="../media/image76.wmf"/><Relationship Id="rId4" Type="http://schemas.openxmlformats.org/officeDocument/2006/relationships/oleObject" Target="../embeddings/oleObject55.bin"/><Relationship Id="rId9" Type="http://schemas.openxmlformats.org/officeDocument/2006/relationships/image" Target="../media/image78.wmf"/></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60.bin"/><Relationship Id="rId3" Type="http://schemas.openxmlformats.org/officeDocument/2006/relationships/notesSlide" Target="../notesSlides/notesSlide21.xml"/><Relationship Id="rId7" Type="http://schemas.openxmlformats.org/officeDocument/2006/relationships/image" Target="../media/image80.e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59.bin"/><Relationship Id="rId5" Type="http://schemas.openxmlformats.org/officeDocument/2006/relationships/image" Target="../media/image79.wmf"/><Relationship Id="rId4" Type="http://schemas.openxmlformats.org/officeDocument/2006/relationships/oleObject" Target="../embeddings/oleObject58.bin"/><Relationship Id="rId9" Type="http://schemas.openxmlformats.org/officeDocument/2006/relationships/image" Target="../media/image81.w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7" Type="http://schemas.openxmlformats.org/officeDocument/2006/relationships/image" Target="../media/image83.emf"/><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oleObject" Target="../embeddings/oleObject62.bin"/><Relationship Id="rId5" Type="http://schemas.openxmlformats.org/officeDocument/2006/relationships/image" Target="../media/image82.wmf"/><Relationship Id="rId4" Type="http://schemas.openxmlformats.org/officeDocument/2006/relationships/oleObject" Target="../embeddings/oleObject61.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85.e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oleObject" Target="../embeddings/oleObject64.bin"/><Relationship Id="rId5" Type="http://schemas.openxmlformats.org/officeDocument/2006/relationships/image" Target="../media/image84.wmf"/><Relationship Id="rId4" Type="http://schemas.openxmlformats.org/officeDocument/2006/relationships/oleObject" Target="../embeddings/oleObject63.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67.bin"/><Relationship Id="rId3" Type="http://schemas.openxmlformats.org/officeDocument/2006/relationships/notesSlide" Target="../notesSlides/notesSlide24.xml"/><Relationship Id="rId7" Type="http://schemas.openxmlformats.org/officeDocument/2006/relationships/image" Target="../media/image87.png"/><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66.bin"/><Relationship Id="rId11" Type="http://schemas.openxmlformats.org/officeDocument/2006/relationships/image" Target="../media/image89.png"/><Relationship Id="rId5" Type="http://schemas.openxmlformats.org/officeDocument/2006/relationships/image" Target="../media/image86.png"/><Relationship Id="rId10" Type="http://schemas.openxmlformats.org/officeDocument/2006/relationships/oleObject" Target="../embeddings/oleObject68.bin"/><Relationship Id="rId4" Type="http://schemas.openxmlformats.org/officeDocument/2006/relationships/oleObject" Target="../embeddings/oleObject65.bin"/><Relationship Id="rId9" Type="http://schemas.openxmlformats.org/officeDocument/2006/relationships/image" Target="../media/image88.png"/></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notesSlide" Target="../notesSlides/notesSlide25.xml"/><Relationship Id="rId7" Type="http://schemas.openxmlformats.org/officeDocument/2006/relationships/image" Target="../media/image91.png"/><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oleObject" Target="../embeddings/oleObject70.bin"/><Relationship Id="rId11" Type="http://schemas.openxmlformats.org/officeDocument/2006/relationships/image" Target="../media/image93.png"/><Relationship Id="rId5" Type="http://schemas.openxmlformats.org/officeDocument/2006/relationships/image" Target="../media/image90.png"/><Relationship Id="rId10" Type="http://schemas.openxmlformats.org/officeDocument/2006/relationships/oleObject" Target="../embeddings/oleObject72.bin"/><Relationship Id="rId4" Type="http://schemas.openxmlformats.org/officeDocument/2006/relationships/oleObject" Target="../embeddings/oleObject69.bin"/><Relationship Id="rId9" Type="http://schemas.openxmlformats.org/officeDocument/2006/relationships/image" Target="../media/image9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467544" y="3861048"/>
            <a:ext cx="8207375" cy="960438"/>
          </a:xfrm>
        </p:spPr>
        <p:txBody>
          <a:bodyPr/>
          <a:lstStyle/>
          <a:p>
            <a:r>
              <a:rPr lang="zh-CN" altLang="en-US" dirty="0"/>
              <a:t>第七章 位移法</a:t>
            </a:r>
          </a:p>
        </p:txBody>
      </p:sp>
      <p:sp>
        <p:nvSpPr>
          <p:cNvPr id="4" name="副标题 3"/>
          <p:cNvSpPr>
            <a:spLocks noGrp="1"/>
          </p:cNvSpPr>
          <p:nvPr>
            <p:ph type="subTitle" idx="1"/>
          </p:nvPr>
        </p:nvSpPr>
        <p:spPr/>
        <p:txBody>
          <a:bodyPr/>
          <a:lstStyle/>
          <a:p>
            <a:pPr algn="r"/>
            <a:r>
              <a:rPr lang="zh-CN" altLang="en-US" dirty="0"/>
              <a:t>结构力学 </a:t>
            </a:r>
            <a:r>
              <a:rPr lang="en-US" altLang="zh-CN" dirty="0"/>
              <a:t>I</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7-1</a:t>
            </a:r>
            <a:r>
              <a:rPr lang="en-US" altLang="zh-CN" dirty="0">
                <a:latin typeface="宋体" pitchFamily="2" charset="-122"/>
              </a:rPr>
              <a:t> </a:t>
            </a:r>
            <a:r>
              <a:rPr lang="zh-CN" altLang="en-US" dirty="0"/>
              <a:t>位移法基本概念</a:t>
            </a:r>
          </a:p>
        </p:txBody>
      </p:sp>
      <p:grpSp>
        <p:nvGrpSpPr>
          <p:cNvPr id="14" name="Group 2"/>
          <p:cNvGrpSpPr>
            <a:grpSpLocks/>
          </p:cNvGrpSpPr>
          <p:nvPr/>
        </p:nvGrpSpPr>
        <p:grpSpPr bwMode="auto">
          <a:xfrm>
            <a:off x="675076" y="2246815"/>
            <a:ext cx="3124200" cy="2362200"/>
            <a:chOff x="576" y="1008"/>
            <a:chExt cx="1968" cy="1488"/>
          </a:xfrm>
        </p:grpSpPr>
        <p:grpSp>
          <p:nvGrpSpPr>
            <p:cNvPr id="15" name="Group 3"/>
            <p:cNvGrpSpPr>
              <a:grpSpLocks/>
            </p:cNvGrpSpPr>
            <p:nvPr/>
          </p:nvGrpSpPr>
          <p:grpSpPr bwMode="auto">
            <a:xfrm flipV="1">
              <a:off x="1152" y="1008"/>
              <a:ext cx="432" cy="96"/>
              <a:chOff x="5136" y="2256"/>
              <a:chExt cx="432" cy="96"/>
            </a:xfrm>
          </p:grpSpPr>
          <p:sp>
            <p:nvSpPr>
              <p:cNvPr id="50" name="Line 4"/>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1" name="Line 5"/>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2" name="Line 6"/>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3" name="Line 7"/>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4" name="Line 8"/>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 name="Line 9"/>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6" name="Line 10"/>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7" name="Line 11"/>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 name="Line 12"/>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6" name="Group 13"/>
            <p:cNvGrpSpPr>
              <a:grpSpLocks/>
            </p:cNvGrpSpPr>
            <p:nvPr/>
          </p:nvGrpSpPr>
          <p:grpSpPr bwMode="auto">
            <a:xfrm>
              <a:off x="1152" y="2400"/>
              <a:ext cx="432" cy="96"/>
              <a:chOff x="5136" y="2256"/>
              <a:chExt cx="432" cy="96"/>
            </a:xfrm>
          </p:grpSpPr>
          <p:sp>
            <p:nvSpPr>
              <p:cNvPr id="41" name="Line 14"/>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Line 15"/>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3" name="Line 16"/>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 name="Line 17"/>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 name="Line 18"/>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6" name="Line 19"/>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7" name="Line 20"/>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8" name="Line 21"/>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9" name="Line 22"/>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 name="Group 23"/>
            <p:cNvGrpSpPr>
              <a:grpSpLocks/>
            </p:cNvGrpSpPr>
            <p:nvPr/>
          </p:nvGrpSpPr>
          <p:grpSpPr bwMode="auto">
            <a:xfrm rot="5366215">
              <a:off x="408" y="1512"/>
              <a:ext cx="432" cy="96"/>
              <a:chOff x="5136" y="2256"/>
              <a:chExt cx="432" cy="96"/>
            </a:xfrm>
          </p:grpSpPr>
          <p:sp>
            <p:nvSpPr>
              <p:cNvPr id="32" name="Line 24"/>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Line 25"/>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Line 26"/>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Line 27"/>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Line 28"/>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7" name="Line 29"/>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 name="Line 30"/>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 name="Line 31"/>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0" name="Line 32"/>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8" name="Group 33"/>
            <p:cNvGrpSpPr>
              <a:grpSpLocks/>
            </p:cNvGrpSpPr>
            <p:nvPr/>
          </p:nvGrpSpPr>
          <p:grpSpPr bwMode="auto">
            <a:xfrm rot="-5385356">
              <a:off x="2280" y="1512"/>
              <a:ext cx="432" cy="96"/>
              <a:chOff x="5136" y="2256"/>
              <a:chExt cx="432" cy="96"/>
            </a:xfrm>
          </p:grpSpPr>
          <p:sp>
            <p:nvSpPr>
              <p:cNvPr id="23" name="Line 34"/>
              <p:cNvSpPr>
                <a:spLocks noChangeShapeType="1"/>
              </p:cNvSpPr>
              <p:nvPr/>
            </p:nvSpPr>
            <p:spPr bwMode="auto">
              <a:xfrm>
                <a:off x="5184" y="2256"/>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 name="Line 35"/>
              <p:cNvSpPr>
                <a:spLocks noChangeShapeType="1"/>
              </p:cNvSpPr>
              <p:nvPr/>
            </p:nvSpPr>
            <p:spPr bwMode="auto">
              <a:xfrm flipV="1">
                <a:off x="518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 name="Line 36"/>
              <p:cNvSpPr>
                <a:spLocks noChangeShapeType="1"/>
              </p:cNvSpPr>
              <p:nvPr/>
            </p:nvSpPr>
            <p:spPr bwMode="auto">
              <a:xfrm flipV="1">
                <a:off x="523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Line 37"/>
              <p:cNvSpPr>
                <a:spLocks noChangeShapeType="1"/>
              </p:cNvSpPr>
              <p:nvPr/>
            </p:nvSpPr>
            <p:spPr bwMode="auto">
              <a:xfrm flipV="1">
                <a:off x="5280"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38"/>
              <p:cNvSpPr>
                <a:spLocks noChangeShapeType="1"/>
              </p:cNvSpPr>
              <p:nvPr/>
            </p:nvSpPr>
            <p:spPr bwMode="auto">
              <a:xfrm flipV="1">
                <a:off x="5328"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Line 39"/>
              <p:cNvSpPr>
                <a:spLocks noChangeShapeType="1"/>
              </p:cNvSpPr>
              <p:nvPr/>
            </p:nvSpPr>
            <p:spPr bwMode="auto">
              <a:xfrm flipV="1">
                <a:off x="537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9" name="Line 40"/>
              <p:cNvSpPr>
                <a:spLocks noChangeShapeType="1"/>
              </p:cNvSpPr>
              <p:nvPr/>
            </p:nvSpPr>
            <p:spPr bwMode="auto">
              <a:xfrm flipV="1">
                <a:off x="5424"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0" name="Line 41"/>
              <p:cNvSpPr>
                <a:spLocks noChangeShapeType="1"/>
              </p:cNvSpPr>
              <p:nvPr/>
            </p:nvSpPr>
            <p:spPr bwMode="auto">
              <a:xfrm flipV="1">
                <a:off x="5472"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 name="Line 42"/>
              <p:cNvSpPr>
                <a:spLocks noChangeShapeType="1"/>
              </p:cNvSpPr>
              <p:nvPr/>
            </p:nvSpPr>
            <p:spPr bwMode="auto">
              <a:xfrm flipV="1">
                <a:off x="5136" y="2256"/>
                <a:ext cx="96" cy="96"/>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9" name="Line 43"/>
            <p:cNvSpPr>
              <a:spLocks noChangeShapeType="1"/>
            </p:cNvSpPr>
            <p:nvPr/>
          </p:nvSpPr>
          <p:spPr bwMode="auto">
            <a:xfrm>
              <a:off x="672" y="1536"/>
              <a:ext cx="1776" cy="0"/>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0" name="Line 44"/>
            <p:cNvSpPr>
              <a:spLocks noChangeShapeType="1"/>
            </p:cNvSpPr>
            <p:nvPr/>
          </p:nvSpPr>
          <p:spPr bwMode="auto">
            <a:xfrm>
              <a:off x="1344" y="1104"/>
              <a:ext cx="0" cy="1296"/>
            </a:xfrm>
            <a:prstGeom prst="line">
              <a:avLst/>
            </a:prstGeom>
            <a:noFill/>
            <a:ln w="571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1" name="Line 45"/>
            <p:cNvSpPr>
              <a:spLocks noChangeShapeType="1"/>
            </p:cNvSpPr>
            <p:nvPr/>
          </p:nvSpPr>
          <p:spPr bwMode="auto">
            <a:xfrm flipV="1">
              <a:off x="1920" y="1104"/>
              <a:ext cx="0" cy="480"/>
            </a:xfrm>
            <a:prstGeom prst="line">
              <a:avLst/>
            </a:prstGeom>
            <a:noFill/>
            <a:ln w="38100">
              <a:solidFill>
                <a:schemeClr val="tx1"/>
              </a:solidFill>
              <a:round/>
              <a:headEnd type="stealth"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 name="Rectangle 46"/>
            <p:cNvSpPr>
              <a:spLocks noChangeArrowheads="1"/>
            </p:cNvSpPr>
            <p:nvPr/>
          </p:nvSpPr>
          <p:spPr bwMode="auto">
            <a:xfrm>
              <a:off x="2016" y="1040"/>
              <a:ext cx="25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0"/>
                </a:spcBef>
              </a:pPr>
              <a:r>
                <a:rPr lang="en-US" altLang="zh-CN" sz="2800">
                  <a:effectLst>
                    <a:outerShdw blurRad="38100" dist="38100" dir="2700000" algn="tl">
                      <a:srgbClr val="C0C0C0"/>
                    </a:outerShdw>
                  </a:effectLst>
                </a:rPr>
                <a:t>P</a:t>
              </a:r>
              <a:endParaRPr lang="en-US" altLang="zh-CN" sz="3600">
                <a:effectLst>
                  <a:outerShdw blurRad="38100" dist="38100" dir="2700000" algn="tl">
                    <a:srgbClr val="C0C0C0"/>
                  </a:outerShdw>
                </a:effectLst>
              </a:endParaRPr>
            </a:p>
          </p:txBody>
        </p:sp>
      </p:grpSp>
      <p:sp>
        <p:nvSpPr>
          <p:cNvPr id="3" name="TextBox 2"/>
          <p:cNvSpPr txBox="1"/>
          <p:nvPr/>
        </p:nvSpPr>
        <p:spPr>
          <a:xfrm>
            <a:off x="1600200" y="1484784"/>
            <a:ext cx="6068144" cy="461665"/>
          </a:xfrm>
          <a:prstGeom prst="rect">
            <a:avLst/>
          </a:prstGeom>
          <a:noFill/>
        </p:spPr>
        <p:txBody>
          <a:bodyPr wrap="square" rtlCol="0">
            <a:spAutoFit/>
          </a:bodyPr>
          <a:lstStyle/>
          <a:p>
            <a:r>
              <a:rPr lang="zh-CN" altLang="en-US" sz="2400" dirty="0"/>
              <a:t>位移法是计算超静定结构的基本方法之一。</a:t>
            </a:r>
          </a:p>
        </p:txBody>
      </p:sp>
      <p:sp>
        <p:nvSpPr>
          <p:cNvPr id="4" name="TextBox 3"/>
          <p:cNvSpPr txBox="1"/>
          <p:nvPr/>
        </p:nvSpPr>
        <p:spPr>
          <a:xfrm>
            <a:off x="2961076" y="4378182"/>
            <a:ext cx="4320480" cy="461665"/>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用</a:t>
            </a:r>
            <a:r>
              <a:rPr lang="zh-CN" altLang="en-US" sz="2400" dirty="0">
                <a:solidFill>
                  <a:srgbClr val="FF0000"/>
                </a:solidFill>
                <a:latin typeface="楷体" panose="02010609060101010101" pitchFamily="49" charset="-122"/>
                <a:ea typeface="楷体" panose="02010609060101010101" pitchFamily="49" charset="-122"/>
              </a:rPr>
              <a:t>力法</a:t>
            </a:r>
            <a:r>
              <a:rPr lang="zh-CN" altLang="en-US" sz="2400" dirty="0">
                <a:latin typeface="楷体" panose="02010609060101010101" pitchFamily="49" charset="-122"/>
                <a:ea typeface="楷体" panose="02010609060101010101" pitchFamily="49" charset="-122"/>
              </a:rPr>
              <a:t>计算，</a:t>
            </a:r>
            <a:r>
              <a:rPr lang="en-US" altLang="zh-CN" sz="2400" dirty="0">
                <a:solidFill>
                  <a:srgbClr val="FF0000"/>
                </a:solidFill>
                <a:latin typeface="楷体" panose="02010609060101010101" pitchFamily="49" charset="-122"/>
                <a:ea typeface="楷体" panose="02010609060101010101" pitchFamily="49" charset="-122"/>
              </a:rPr>
              <a:t>9</a:t>
            </a:r>
            <a:r>
              <a:rPr lang="zh-CN" altLang="en-US" sz="2400" dirty="0">
                <a:latin typeface="楷体" panose="02010609060101010101" pitchFamily="49" charset="-122"/>
                <a:ea typeface="楷体" panose="02010609060101010101" pitchFamily="49" charset="-122"/>
              </a:rPr>
              <a:t>个未知量</a:t>
            </a:r>
          </a:p>
        </p:txBody>
      </p:sp>
      <p:sp>
        <p:nvSpPr>
          <p:cNvPr id="59" name="TextBox 58"/>
          <p:cNvSpPr txBox="1"/>
          <p:nvPr/>
        </p:nvSpPr>
        <p:spPr>
          <a:xfrm>
            <a:off x="4211960" y="3243516"/>
            <a:ext cx="4032448" cy="492443"/>
          </a:xfrm>
          <a:prstGeom prst="rect">
            <a:avLst/>
          </a:prstGeom>
          <a:noFill/>
        </p:spPr>
        <p:txBody>
          <a:bodyPr wrap="square" rtlCol="0">
            <a:spAutoFit/>
          </a:bodyPr>
          <a:lstStyle/>
          <a:p>
            <a:r>
              <a:rPr lang="zh-CN" altLang="en-US" sz="2600" dirty="0">
                <a:solidFill>
                  <a:srgbClr val="FF0000"/>
                </a:solidFill>
                <a:latin typeface="楷体" panose="02010609060101010101" pitchFamily="49" charset="-122"/>
                <a:ea typeface="楷体" panose="02010609060101010101" pitchFamily="49" charset="-122"/>
              </a:rPr>
              <a:t>力法计算太困难了！</a:t>
            </a:r>
          </a:p>
        </p:txBody>
      </p:sp>
      <p:sp>
        <p:nvSpPr>
          <p:cNvPr id="60" name="Rectangle 48"/>
          <p:cNvSpPr>
            <a:spLocks noChangeArrowheads="1"/>
          </p:cNvSpPr>
          <p:nvPr/>
        </p:nvSpPr>
        <p:spPr bwMode="auto">
          <a:xfrm>
            <a:off x="2961076" y="4889873"/>
            <a:ext cx="51017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400" dirty="0">
                <a:effectLst>
                  <a:outerShdw blurRad="38100" dist="38100" dir="2700000" algn="tl">
                    <a:srgbClr val="C0C0C0"/>
                  </a:outerShdw>
                </a:effectLst>
                <a:latin typeface="楷体" panose="02010609060101010101" pitchFamily="49" charset="-122"/>
                <a:ea typeface="楷体" panose="02010609060101010101" pitchFamily="49" charset="-122"/>
              </a:rPr>
              <a:t>如果用</a:t>
            </a:r>
            <a:r>
              <a:rPr lang="zh-CN" altLang="en-US" sz="2400" dirty="0">
                <a:solidFill>
                  <a:srgbClr val="CC3300"/>
                </a:solidFill>
                <a:effectLst>
                  <a:outerShdw blurRad="38100" dist="38100" dir="2700000" algn="tl">
                    <a:srgbClr val="C0C0C0"/>
                  </a:outerShdw>
                </a:effectLst>
                <a:latin typeface="楷体" panose="02010609060101010101" pitchFamily="49" charset="-122"/>
                <a:ea typeface="楷体" panose="02010609060101010101" pitchFamily="49" charset="-122"/>
              </a:rPr>
              <a:t>位移法</a:t>
            </a:r>
            <a:r>
              <a:rPr lang="zh-CN" altLang="en-US" sz="2400" dirty="0">
                <a:effectLst>
                  <a:outerShdw blurRad="38100" dist="38100" dir="2700000" algn="tl">
                    <a:srgbClr val="C0C0C0"/>
                  </a:outerShdw>
                </a:effectLst>
                <a:latin typeface="楷体" panose="02010609060101010101" pitchFamily="49" charset="-122"/>
                <a:ea typeface="楷体" panose="02010609060101010101" pitchFamily="49" charset="-122"/>
              </a:rPr>
              <a:t>计算</a:t>
            </a:r>
            <a:r>
              <a:rPr lang="en-US" altLang="zh-CN" sz="2400" dirty="0">
                <a:effectLst>
                  <a:outerShdw blurRad="38100" dist="38100" dir="2700000" algn="tl">
                    <a:srgbClr val="C0C0C0"/>
                  </a:outerShdw>
                </a:effectLst>
                <a:latin typeface="楷体" panose="02010609060101010101" pitchFamily="49" charset="-122"/>
                <a:ea typeface="楷体" panose="02010609060101010101" pitchFamily="49" charset="-122"/>
              </a:rPr>
              <a:t>, </a:t>
            </a:r>
            <a:r>
              <a:rPr lang="en-US" altLang="zh-CN" sz="2400" dirty="0">
                <a:solidFill>
                  <a:srgbClr val="CC3300"/>
                </a:solidFill>
                <a:effectLst>
                  <a:outerShdw blurRad="38100" dist="38100" dir="2700000" algn="tl">
                    <a:srgbClr val="C0C0C0"/>
                  </a:outerShdw>
                </a:effectLst>
                <a:latin typeface="楷体" panose="02010609060101010101" pitchFamily="49" charset="-122"/>
                <a:ea typeface="楷体" panose="02010609060101010101" pitchFamily="49" charset="-122"/>
              </a:rPr>
              <a:t>1</a:t>
            </a:r>
            <a:r>
              <a:rPr lang="zh-CN" altLang="en-US" sz="2400" dirty="0">
                <a:effectLst>
                  <a:outerShdw blurRad="38100" dist="38100" dir="2700000" algn="tl">
                    <a:srgbClr val="C0C0C0"/>
                  </a:outerShdw>
                </a:effectLst>
                <a:latin typeface="楷体" panose="02010609060101010101" pitchFamily="49" charset="-122"/>
                <a:ea typeface="楷体" panose="02010609060101010101" pitchFamily="49" charset="-122"/>
              </a:rPr>
              <a:t>个基本未知量</a:t>
            </a:r>
          </a:p>
        </p:txBody>
      </p:sp>
      <p:sp>
        <p:nvSpPr>
          <p:cNvPr id="61" name="Rectangle 50"/>
          <p:cNvSpPr>
            <a:spLocks noChangeArrowheads="1"/>
          </p:cNvSpPr>
          <p:nvPr/>
        </p:nvSpPr>
        <p:spPr bwMode="auto">
          <a:xfrm>
            <a:off x="1775680" y="5578475"/>
            <a:ext cx="52292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zh-CN" sz="3600" dirty="0">
                <a:solidFill>
                  <a:srgbClr val="CC3300"/>
                </a:solidFill>
                <a:effectLst>
                  <a:outerShdw blurRad="38100" dist="38100" dir="2700000" algn="tl">
                    <a:srgbClr val="C0C0C0"/>
                  </a:outerShdw>
                </a:effectLst>
                <a:latin typeface="楷体" panose="02010609060101010101" pitchFamily="49" charset="-122"/>
                <a:ea typeface="楷体" panose="02010609060101010101" pitchFamily="49" charset="-122"/>
              </a:rPr>
              <a:t>1</a:t>
            </a:r>
            <a:r>
              <a:rPr lang="zh-CN" altLang="en-US" sz="3600" dirty="0">
                <a:solidFill>
                  <a:srgbClr val="CC3300"/>
                </a:solidFill>
                <a:effectLst>
                  <a:outerShdw blurRad="38100" dist="38100" dir="2700000" algn="tl">
                    <a:srgbClr val="C0C0C0"/>
                  </a:outerShdw>
                </a:effectLst>
                <a:latin typeface="楷体" panose="02010609060101010101" pitchFamily="49" charset="-122"/>
                <a:ea typeface="楷体" panose="02010609060101010101" pitchFamily="49" charset="-122"/>
              </a:rPr>
              <a:t>个什么样的基本未知量</a:t>
            </a:r>
            <a:r>
              <a:rPr lang="en-US" altLang="zh-CN" sz="3600" dirty="0">
                <a:solidFill>
                  <a:srgbClr val="CC3300"/>
                </a:solidFill>
                <a:effectLst>
                  <a:outerShdw blurRad="38100" dist="38100" dir="2700000" algn="tl">
                    <a:srgbClr val="C0C0C0"/>
                  </a:outerShdw>
                </a:effectLst>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3572453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6" presetClass="entr" presetSubtype="21"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barn(inVertical)">
                                      <p:cBhvr>
                                        <p:cTn id="11" dur="500"/>
                                        <p:tgtEl>
                                          <p:spTgt spid="14"/>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59"/>
                                        </p:tgtEl>
                                        <p:attrNameLst>
                                          <p:attrName>style.visibility</p:attrName>
                                        </p:attrNameLst>
                                      </p:cBhvr>
                                      <p:to>
                                        <p:strVal val="visible"/>
                                      </p:to>
                                    </p:set>
                                    <p:animEffect transition="in" filter="wipe(down)">
                                      <p:cBhvr>
                                        <p:cTn id="20" dur="500"/>
                                        <p:tgtEl>
                                          <p:spTgt spid="59"/>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0"/>
                                        </p:tgtEl>
                                        <p:attrNameLst>
                                          <p:attrName>style.visibility</p:attrName>
                                        </p:attrNameLst>
                                      </p:cBhvr>
                                      <p:to>
                                        <p:strVal val="visible"/>
                                      </p:to>
                                    </p:set>
                                    <p:animEffect transition="in" filter="fade">
                                      <p:cBhvr>
                                        <p:cTn id="25" dur="500"/>
                                        <p:tgtEl>
                                          <p:spTgt spid="60"/>
                                        </p:tgtEl>
                                      </p:cBhvr>
                                    </p:animEffect>
                                  </p:childTnLst>
                                </p:cTn>
                              </p:par>
                            </p:childTnLst>
                          </p:cTn>
                        </p:par>
                      </p:childTnLst>
                    </p:cTn>
                  </p:par>
                  <p:par>
                    <p:cTn id="26" fill="hold">
                      <p:stCondLst>
                        <p:cond delay="indefinite"/>
                      </p:stCondLst>
                      <p:childTnLst>
                        <p:par>
                          <p:cTn id="27" fill="hold">
                            <p:stCondLst>
                              <p:cond delay="0"/>
                            </p:stCondLst>
                            <p:childTnLst>
                              <p:par>
                                <p:cTn id="28" presetID="6" presetClass="entr" presetSubtype="16" fill="hold" grpId="0" nodeType="clickEffect">
                                  <p:stCondLst>
                                    <p:cond delay="0"/>
                                  </p:stCondLst>
                                  <p:childTnLst>
                                    <p:set>
                                      <p:cBhvr>
                                        <p:cTn id="29" dur="1" fill="hold">
                                          <p:stCondLst>
                                            <p:cond delay="0"/>
                                          </p:stCondLst>
                                        </p:cTn>
                                        <p:tgtEl>
                                          <p:spTgt spid="61"/>
                                        </p:tgtEl>
                                        <p:attrNameLst>
                                          <p:attrName>style.visibility</p:attrName>
                                        </p:attrNameLst>
                                      </p:cBhvr>
                                      <p:to>
                                        <p:strVal val="visible"/>
                                      </p:to>
                                    </p:set>
                                    <p:animEffect transition="in" filter="circle(in)">
                                      <p:cBhvr>
                                        <p:cTn id="30" dur="200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9" grpId="0"/>
      <p:bldP spid="60" grpId="0"/>
      <p:bldP spid="6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7-1</a:t>
            </a:r>
            <a:r>
              <a:rPr lang="zh-CN" altLang="en-US" dirty="0"/>
              <a:t>位移法基本概念</a:t>
            </a:r>
          </a:p>
        </p:txBody>
      </p:sp>
      <p:sp>
        <p:nvSpPr>
          <p:cNvPr id="3" name="TextBox 2"/>
          <p:cNvSpPr txBox="1"/>
          <p:nvPr/>
        </p:nvSpPr>
        <p:spPr>
          <a:xfrm>
            <a:off x="467544" y="1340768"/>
            <a:ext cx="8280920" cy="492443"/>
          </a:xfrm>
          <a:prstGeom prst="rect">
            <a:avLst/>
          </a:prstGeom>
          <a:noFill/>
        </p:spPr>
        <p:txBody>
          <a:bodyPr wrap="square" rtlCol="0">
            <a:spAutoFit/>
          </a:bodyPr>
          <a:lstStyle/>
          <a:p>
            <a:r>
              <a:rPr lang="zh-CN" altLang="en-US" sz="2600" dirty="0">
                <a:latin typeface="楷体" panose="02010609060101010101" pitchFamily="49" charset="-122"/>
                <a:ea typeface="楷体" panose="02010609060101010101" pitchFamily="49" charset="-122"/>
              </a:rPr>
              <a:t>一、位移法的提出（</a:t>
            </a:r>
            <a:r>
              <a:rPr lang="en-US" altLang="zh-CN" sz="2600" dirty="0">
                <a:latin typeface="Times New Roman" panose="02020603050405020304" pitchFamily="18" charset="0"/>
                <a:ea typeface="楷体" panose="02010609060101010101" pitchFamily="49" charset="-122"/>
                <a:cs typeface="Times New Roman" panose="02020603050405020304" pitchFamily="18" charset="0"/>
              </a:rPr>
              <a:t>Displacement Method</a:t>
            </a:r>
            <a:r>
              <a:rPr lang="zh-CN" altLang="en-US" sz="2600" dirty="0">
                <a:latin typeface="楷体" panose="02010609060101010101" pitchFamily="49" charset="-122"/>
                <a:ea typeface="楷体" panose="02010609060101010101" pitchFamily="49" charset="-122"/>
              </a:rPr>
              <a:t>）</a:t>
            </a:r>
          </a:p>
        </p:txBody>
      </p:sp>
      <p:sp>
        <p:nvSpPr>
          <p:cNvPr id="62" name="Rectangle 3"/>
          <p:cNvSpPr>
            <a:spLocks noChangeArrowheads="1"/>
          </p:cNvSpPr>
          <p:nvPr/>
        </p:nvSpPr>
        <p:spPr bwMode="auto">
          <a:xfrm>
            <a:off x="810645" y="1916832"/>
            <a:ext cx="756084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400" dirty="0">
                <a:solidFill>
                  <a:srgbClr val="990033"/>
                </a:solidFill>
                <a:latin typeface="楷体" panose="02010609060101010101" pitchFamily="49" charset="-122"/>
                <a:ea typeface="楷体" panose="02010609060101010101" pitchFamily="49" charset="-122"/>
              </a:rPr>
              <a:t>力法</a:t>
            </a:r>
            <a:r>
              <a:rPr lang="zh-CN" altLang="en-US" sz="2400" dirty="0">
                <a:latin typeface="楷体" panose="02010609060101010101" pitchFamily="49" charset="-122"/>
                <a:ea typeface="楷体" panose="02010609060101010101" pitchFamily="49" charset="-122"/>
              </a:rPr>
              <a:t>与</a:t>
            </a:r>
            <a:r>
              <a:rPr lang="zh-CN" altLang="en-US" sz="2400" dirty="0">
                <a:solidFill>
                  <a:srgbClr val="990033"/>
                </a:solidFill>
                <a:latin typeface="楷体" panose="02010609060101010101" pitchFamily="49" charset="-122"/>
                <a:ea typeface="楷体" panose="02010609060101010101" pitchFamily="49" charset="-122"/>
              </a:rPr>
              <a:t>位移法</a:t>
            </a:r>
            <a:r>
              <a:rPr lang="zh-CN" altLang="en-US" sz="2400" dirty="0">
                <a:latin typeface="楷体" panose="02010609060101010101" pitchFamily="49" charset="-122"/>
                <a:ea typeface="楷体" panose="02010609060101010101" pitchFamily="49" charset="-122"/>
              </a:rPr>
              <a:t>是计算超静定结构的两种基本方法。</a:t>
            </a:r>
          </a:p>
        </p:txBody>
      </p:sp>
      <p:sp>
        <p:nvSpPr>
          <p:cNvPr id="63" name="Rectangle 4"/>
          <p:cNvSpPr>
            <a:spLocks noChangeArrowheads="1"/>
          </p:cNvSpPr>
          <p:nvPr/>
        </p:nvSpPr>
        <p:spPr bwMode="auto">
          <a:xfrm>
            <a:off x="810645" y="2543403"/>
            <a:ext cx="756084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400" dirty="0">
                <a:solidFill>
                  <a:srgbClr val="990033"/>
                </a:solidFill>
                <a:latin typeface="楷体" panose="02010609060101010101" pitchFamily="49" charset="-122"/>
                <a:ea typeface="楷体" panose="02010609060101010101" pitchFamily="49" charset="-122"/>
              </a:rPr>
              <a:t>  力法：</a:t>
            </a:r>
            <a:r>
              <a:rPr lang="zh-CN" altLang="en-US" sz="2400" dirty="0">
                <a:latin typeface="楷体" panose="02010609060101010101" pitchFamily="49" charset="-122"/>
                <a:ea typeface="楷体" panose="02010609060101010101" pitchFamily="49" charset="-122"/>
              </a:rPr>
              <a:t>以未知力为基本未知量</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运用位移协调条件建立力法方程</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求出未知力</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计算出全部的内力和相应的位移。</a:t>
            </a:r>
          </a:p>
        </p:txBody>
      </p:sp>
      <p:sp>
        <p:nvSpPr>
          <p:cNvPr id="64" name="Rectangle 5"/>
          <p:cNvSpPr>
            <a:spLocks noChangeArrowheads="1"/>
          </p:cNvSpPr>
          <p:nvPr/>
        </p:nvSpPr>
        <p:spPr bwMode="auto">
          <a:xfrm>
            <a:off x="810645" y="3768525"/>
            <a:ext cx="756084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0"/>
              </a:spcBef>
            </a:pPr>
            <a:r>
              <a:rPr lang="en-US" altLang="zh-CN" dirty="0">
                <a:latin typeface="仿宋_GB2312" pitchFamily="49" charset="-122"/>
                <a:ea typeface="仿宋_GB2312" pitchFamily="49" charset="-122"/>
              </a:rPr>
              <a:t>   </a:t>
            </a:r>
            <a:r>
              <a:rPr lang="zh-CN" altLang="en-US" sz="2400" dirty="0">
                <a:latin typeface="楷体" panose="02010609060101010101" pitchFamily="49" charset="-122"/>
                <a:ea typeface="楷体" panose="02010609060101010101" pitchFamily="49" charset="-122"/>
              </a:rPr>
              <a:t>在一定的外因作用下，线弹性结构的内力与位移之间存在确定的关系。可以先设定某些位移为基本未知量。</a:t>
            </a:r>
          </a:p>
        </p:txBody>
      </p:sp>
      <p:sp>
        <p:nvSpPr>
          <p:cNvPr id="65" name="Rectangle 2"/>
          <p:cNvSpPr>
            <a:spLocks noChangeArrowheads="1"/>
          </p:cNvSpPr>
          <p:nvPr/>
        </p:nvSpPr>
        <p:spPr bwMode="auto">
          <a:xfrm>
            <a:off x="810645" y="4898777"/>
            <a:ext cx="756084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560388">
              <a:spcBef>
                <a:spcPct val="0"/>
              </a:spcBef>
              <a:defRPr>
                <a:solidFill>
                  <a:schemeClr val="tx1"/>
                </a:solidFill>
                <a:latin typeface="Arial" pitchFamily="34" charset="0"/>
                <a:ea typeface="宋体" pitchFamily="2" charset="-122"/>
              </a:defRPr>
            </a:lvl1pPr>
            <a:lvl2pPr>
              <a:spcBef>
                <a:spcPct val="0"/>
              </a:spcBef>
              <a:defRPr>
                <a:solidFill>
                  <a:schemeClr val="tx1"/>
                </a:solidFill>
                <a:latin typeface="Arial" pitchFamily="34" charset="0"/>
                <a:ea typeface="宋体" pitchFamily="2" charset="-122"/>
              </a:defRPr>
            </a:lvl2pPr>
            <a:lvl3pPr>
              <a:spcBef>
                <a:spcPct val="0"/>
              </a:spcBef>
              <a:defRPr>
                <a:solidFill>
                  <a:schemeClr val="tx1"/>
                </a:solidFill>
                <a:latin typeface="Arial" pitchFamily="34" charset="0"/>
                <a:ea typeface="宋体" pitchFamily="2" charset="-122"/>
              </a:defRPr>
            </a:lvl3pPr>
            <a:lvl4pPr>
              <a:spcBef>
                <a:spcPct val="0"/>
              </a:spcBef>
              <a:defRPr>
                <a:solidFill>
                  <a:schemeClr val="tx1"/>
                </a:solidFill>
                <a:latin typeface="Arial" pitchFamily="34" charset="0"/>
                <a:ea typeface="宋体" pitchFamily="2" charset="-122"/>
              </a:defRPr>
            </a:lvl4pPr>
            <a:lvl5pPr>
              <a:spcBef>
                <a:spcPct val="0"/>
              </a:spcBef>
              <a:defRPr>
                <a:solidFill>
                  <a:schemeClr val="tx1"/>
                </a:solidFill>
                <a:latin typeface="Arial" pitchFamily="34" charset="0"/>
                <a:ea typeface="宋体" pitchFamily="2" charset="-122"/>
              </a:defRPr>
            </a:lvl5pPr>
            <a:lvl6pPr fontAlgn="base">
              <a:spcBef>
                <a:spcPct val="0"/>
              </a:spcBef>
              <a:spcAft>
                <a:spcPct val="0"/>
              </a:spcAft>
              <a:defRPr>
                <a:solidFill>
                  <a:schemeClr val="tx1"/>
                </a:solidFill>
                <a:latin typeface="Arial" pitchFamily="34" charset="0"/>
                <a:ea typeface="宋体" pitchFamily="2" charset="-122"/>
              </a:defRPr>
            </a:lvl6pPr>
            <a:lvl7pPr fontAlgn="base">
              <a:spcBef>
                <a:spcPct val="0"/>
              </a:spcBef>
              <a:spcAft>
                <a:spcPct val="0"/>
              </a:spcAft>
              <a:defRPr>
                <a:solidFill>
                  <a:schemeClr val="tx1"/>
                </a:solidFill>
                <a:latin typeface="Arial" pitchFamily="34" charset="0"/>
                <a:ea typeface="宋体" pitchFamily="2" charset="-122"/>
              </a:defRPr>
            </a:lvl7pPr>
            <a:lvl8pPr fontAlgn="base">
              <a:spcBef>
                <a:spcPct val="0"/>
              </a:spcBef>
              <a:spcAft>
                <a:spcPct val="0"/>
              </a:spcAft>
              <a:defRPr>
                <a:solidFill>
                  <a:schemeClr val="tx1"/>
                </a:solidFill>
                <a:latin typeface="Arial" pitchFamily="34" charset="0"/>
                <a:ea typeface="宋体" pitchFamily="2" charset="-122"/>
              </a:defRPr>
            </a:lvl8pPr>
            <a:lvl9pPr fontAlgn="base">
              <a:spcBef>
                <a:spcPct val="0"/>
              </a:spcBef>
              <a:spcAft>
                <a:spcPct val="0"/>
              </a:spcAft>
              <a:defRPr>
                <a:solidFill>
                  <a:schemeClr val="tx1"/>
                </a:solidFill>
                <a:latin typeface="Arial" pitchFamily="34" charset="0"/>
                <a:ea typeface="宋体" pitchFamily="2" charset="-122"/>
              </a:defRPr>
            </a:lvl9pPr>
          </a:lstStyle>
          <a:p>
            <a:pPr indent="0" eaLnBrk="0" hangingPunct="0"/>
            <a:r>
              <a:rPr lang="zh-CN" altLang="en-US" sz="2400" dirty="0">
                <a:solidFill>
                  <a:srgbClr val="990033"/>
                </a:solidFill>
                <a:latin typeface="楷体" panose="02010609060101010101" pitchFamily="49" charset="-122"/>
                <a:ea typeface="楷体" panose="02010609060101010101" pitchFamily="49" charset="-122"/>
              </a:rPr>
              <a:t>  位移法：</a:t>
            </a:r>
            <a:r>
              <a:rPr lang="zh-CN" altLang="en-US" sz="2400" dirty="0">
                <a:latin typeface="楷体" panose="02010609060101010101" pitchFamily="49" charset="-122"/>
                <a:ea typeface="楷体" panose="02010609060101010101" pitchFamily="49" charset="-122"/>
              </a:rPr>
              <a:t>以结点的位移</a:t>
            </a:r>
            <a:r>
              <a:rPr lang="en-US" altLang="zh-CN" sz="2400" dirty="0">
                <a:latin typeface="楷体" panose="02010609060101010101" pitchFamily="49" charset="-122"/>
                <a:ea typeface="楷体" panose="02010609060101010101" pitchFamily="49" charset="-122"/>
              </a:rPr>
              <a:t>(</a:t>
            </a:r>
            <a:r>
              <a:rPr lang="zh-CN" altLang="en-US" sz="2400" dirty="0">
                <a:solidFill>
                  <a:srgbClr val="990033"/>
                </a:solidFill>
                <a:latin typeface="楷体" panose="02010609060101010101" pitchFamily="49" charset="-122"/>
                <a:ea typeface="楷体" panose="02010609060101010101" pitchFamily="49" charset="-122"/>
              </a:rPr>
              <a:t>角位移和线位移</a:t>
            </a:r>
            <a:r>
              <a:rPr lang="zh-CN" altLang="en-US" sz="2400" dirty="0">
                <a:latin typeface="楷体" panose="02010609060101010101" pitchFamily="49" charset="-122"/>
                <a:ea typeface="楷体" panose="02010609060101010101" pitchFamily="49" charset="-122"/>
              </a:rPr>
              <a:t>）为基本未知量</a:t>
            </a:r>
            <a:r>
              <a:rPr lang="en-US" altLang="zh-CN" sz="2400" dirty="0">
                <a:latin typeface="楷体" panose="02010609060101010101" pitchFamily="49" charset="-122"/>
                <a:ea typeface="楷体" panose="02010609060101010101" pitchFamily="49" charset="-122"/>
              </a:rPr>
              <a:t>, </a:t>
            </a:r>
            <a:r>
              <a:rPr lang="zh-CN" altLang="en-US" sz="2400" dirty="0">
                <a:latin typeface="楷体" panose="02010609060101010101" pitchFamily="49" charset="-122"/>
                <a:ea typeface="楷体" panose="02010609060101010101" pitchFamily="49" charset="-122"/>
              </a:rPr>
              <a:t>运用结点或截面的平衡条件</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建立位移法方程</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求出未知位移</a:t>
            </a:r>
            <a:r>
              <a:rPr lang="en-US" altLang="zh-CN" sz="2400" dirty="0">
                <a:latin typeface="楷体" panose="02010609060101010101" pitchFamily="49" charset="-122"/>
                <a:ea typeface="楷体" panose="02010609060101010101" pitchFamily="49" charset="-122"/>
              </a:rPr>
              <a:t>——</a:t>
            </a:r>
            <a:r>
              <a:rPr lang="zh-CN" altLang="en-US" sz="2400" dirty="0">
                <a:latin typeface="楷体" panose="02010609060101010101" pitchFamily="49" charset="-122"/>
                <a:ea typeface="楷体" panose="02010609060101010101" pitchFamily="49" charset="-122"/>
              </a:rPr>
              <a:t>利用位移与内力之间确定的关系计算相应的内力。</a:t>
            </a:r>
          </a:p>
        </p:txBody>
      </p:sp>
    </p:spTree>
    <p:extLst>
      <p:ext uri="{BB962C8B-B14F-4D97-AF65-F5344CB8AC3E}">
        <p14:creationId xmlns:p14="http://schemas.microsoft.com/office/powerpoint/2010/main" val="637582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grpId="0" nodeType="clickEffect">
                                  <p:stCondLst>
                                    <p:cond delay="0"/>
                                  </p:stCondLst>
                                  <p:childTnLst>
                                    <p:set>
                                      <p:cBhvr>
                                        <p:cTn id="14" dur="1" fill="hold">
                                          <p:stCondLst>
                                            <p:cond delay="0"/>
                                          </p:stCondLst>
                                        </p:cTn>
                                        <p:tgtEl>
                                          <p:spTgt spid="63"/>
                                        </p:tgtEl>
                                        <p:attrNameLst>
                                          <p:attrName>style.visibility</p:attrName>
                                        </p:attrNameLst>
                                      </p:cBhvr>
                                      <p:to>
                                        <p:strVal val="visible"/>
                                      </p:to>
                                    </p:set>
                                    <p:animEffect transition="in" filter="randombar(horizontal)">
                                      <p:cBhvr>
                                        <p:cTn id="15" dur="1000"/>
                                        <p:tgtEl>
                                          <p:spTgt spid="63"/>
                                        </p:tgtEl>
                                      </p:cBhvr>
                                    </p:animEffect>
                                  </p:childTnLst>
                                </p:cTn>
                              </p:par>
                            </p:childTnLst>
                          </p:cTn>
                        </p:par>
                      </p:childTnLst>
                    </p:cTn>
                  </p:par>
                  <p:par>
                    <p:cTn id="16" fill="hold">
                      <p:stCondLst>
                        <p:cond delay="indefinite"/>
                      </p:stCondLst>
                      <p:childTnLst>
                        <p:par>
                          <p:cTn id="17" fill="hold">
                            <p:stCondLst>
                              <p:cond delay="0"/>
                            </p:stCondLst>
                            <p:childTnLst>
                              <p:par>
                                <p:cTn id="18" presetID="8" presetClass="entr" presetSubtype="16" fill="hold" grpId="0" nodeType="clickEffect">
                                  <p:stCondLst>
                                    <p:cond delay="0"/>
                                  </p:stCondLst>
                                  <p:childTnLst>
                                    <p:set>
                                      <p:cBhvr>
                                        <p:cTn id="19" dur="1" fill="hold">
                                          <p:stCondLst>
                                            <p:cond delay="0"/>
                                          </p:stCondLst>
                                        </p:cTn>
                                        <p:tgtEl>
                                          <p:spTgt spid="64"/>
                                        </p:tgtEl>
                                        <p:attrNameLst>
                                          <p:attrName>style.visibility</p:attrName>
                                        </p:attrNameLst>
                                      </p:cBhvr>
                                      <p:to>
                                        <p:strVal val="visible"/>
                                      </p:to>
                                    </p:set>
                                    <p:animEffect transition="in" filter="diamond(in)">
                                      <p:cBhvr>
                                        <p:cTn id="20" dur="1000"/>
                                        <p:tgtEl>
                                          <p:spTgt spid="64"/>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65"/>
                                        </p:tgtEl>
                                        <p:attrNameLst>
                                          <p:attrName>style.visibility</p:attrName>
                                        </p:attrNameLst>
                                      </p:cBhvr>
                                      <p:to>
                                        <p:strVal val="visible"/>
                                      </p:to>
                                    </p:set>
                                    <p:animEffect transition="in" filter="slide(fromBottom)">
                                      <p:cBhvr>
                                        <p:cTn id="25" dur="1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2" grpId="0"/>
      <p:bldP spid="63" grpId="0"/>
      <p:bldP spid="64" grpId="0"/>
      <p:bldP spid="6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7-1</a:t>
            </a:r>
            <a:r>
              <a:rPr lang="zh-CN" altLang="en-US" dirty="0"/>
              <a:t>位移法基本概念</a:t>
            </a:r>
          </a:p>
        </p:txBody>
      </p:sp>
      <p:pic>
        <p:nvPicPr>
          <p:cNvPr id="4098" name="Picture 2" descr="C:\Users\zzdeng\AppData\Roaming\Tencent\Users\42337577\QQ\WinTemp\RichOle\5B}18VGB$O@A(_SS{~O`R]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536" y="1460792"/>
            <a:ext cx="4101480" cy="267651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C:\Users\zzdeng\AppData\Roaming\Tencent\Users\42337577\QQ\WinTemp\RichOle\P2[S0`U69[NOKL)%@Z_ECFC.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3568" y="4437112"/>
            <a:ext cx="2515547" cy="1908051"/>
          </a:xfrm>
          <a:prstGeom prst="rect">
            <a:avLst/>
          </a:prstGeom>
          <a:noFill/>
          <a:extLst>
            <a:ext uri="{909E8E84-426E-40DD-AFC4-6F175D3DCCD1}">
              <a14:hiddenFill xmlns:a14="http://schemas.microsoft.com/office/drawing/2010/main">
                <a:solidFill>
                  <a:srgbClr val="FFFFFF"/>
                </a:solidFill>
              </a14:hiddenFill>
            </a:ext>
          </a:extLst>
        </p:spPr>
      </p:pic>
      <p:pic>
        <p:nvPicPr>
          <p:cNvPr id="4101" name="Picture 5" descr="C:\Users\zzdeng\AppData\Roaming\Tencent\Users\42337577\QQ\WinTemp\RichOle\1PEIV1K%@%OPK_SNVMCAY1D.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04248" y="4801367"/>
            <a:ext cx="1818797" cy="181109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Object 3"/>
          <p:cNvGraphicFramePr>
            <a:graphicFrameLocks noChangeAspect="1"/>
          </p:cNvGraphicFramePr>
          <p:nvPr>
            <p:extLst>
              <p:ext uri="{D42A27DB-BD31-4B8C-83A1-F6EECF244321}">
                <p14:modId xmlns:p14="http://schemas.microsoft.com/office/powerpoint/2010/main" val="1126381387"/>
              </p:ext>
            </p:extLst>
          </p:nvPr>
        </p:nvGraphicFramePr>
        <p:xfrm>
          <a:off x="4440238" y="1473200"/>
          <a:ext cx="844550" cy="842963"/>
        </p:xfrm>
        <a:graphic>
          <a:graphicData uri="http://schemas.openxmlformats.org/presentationml/2006/ole">
            <mc:AlternateContent xmlns:mc="http://schemas.openxmlformats.org/markup-compatibility/2006">
              <mc:Choice xmlns:v="urn:schemas-microsoft-com:vml" Requires="v">
                <p:oleObj spid="_x0000_s82369" name="Equation" r:id="rId7" imgW="583920" imgH="583920" progId="Equation.DSMT4">
                  <p:embed/>
                </p:oleObj>
              </mc:Choice>
              <mc:Fallback>
                <p:oleObj name="Equation" r:id="rId7" imgW="583920" imgH="583920" progId="Equation.DSMT4">
                  <p:embed/>
                  <p:pic>
                    <p:nvPicPr>
                      <p:cNvPr id="0" name=""/>
                      <p:cNvPicPr/>
                      <p:nvPr/>
                    </p:nvPicPr>
                    <p:blipFill>
                      <a:blip r:embed="rId8"/>
                      <a:stretch>
                        <a:fillRect/>
                      </a:stretch>
                    </p:blipFill>
                    <p:spPr>
                      <a:xfrm>
                        <a:off x="4440238" y="1473200"/>
                        <a:ext cx="844550" cy="842963"/>
                      </a:xfrm>
                      <a:prstGeom prst="rect">
                        <a:avLst/>
                      </a:prstGeom>
                    </p:spPr>
                  </p:pic>
                </p:oleObj>
              </mc:Fallback>
            </mc:AlternateContent>
          </a:graphicData>
        </a:graphic>
      </p:graphicFrame>
      <p:grpSp>
        <p:nvGrpSpPr>
          <p:cNvPr id="10" name="Group 9"/>
          <p:cNvGrpSpPr/>
          <p:nvPr/>
        </p:nvGrpSpPr>
        <p:grpSpPr>
          <a:xfrm>
            <a:off x="5041941" y="1510461"/>
            <a:ext cx="1656184" cy="1113091"/>
            <a:chOff x="4811945" y="1489662"/>
            <a:chExt cx="1656184" cy="1113091"/>
          </a:xfrm>
        </p:grpSpPr>
        <p:cxnSp>
          <p:nvCxnSpPr>
            <p:cNvPr id="7" name="Straight Arrow Connector 6"/>
            <p:cNvCxnSpPr/>
            <p:nvPr/>
          </p:nvCxnSpPr>
          <p:spPr bwMode="auto">
            <a:xfrm>
              <a:off x="4993415" y="1834191"/>
              <a:ext cx="432048" cy="36004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8" name="TextBox 7"/>
            <p:cNvSpPr txBox="1"/>
            <p:nvPr/>
          </p:nvSpPr>
          <p:spPr>
            <a:xfrm>
              <a:off x="4811945" y="2202643"/>
              <a:ext cx="1656184" cy="400110"/>
            </a:xfrm>
            <a:prstGeom prst="rect">
              <a:avLst/>
            </a:prstGeom>
            <a:noFill/>
          </p:spPr>
          <p:txBody>
            <a:bodyPr wrap="square" rtlCol="0">
              <a:spAutoFit/>
            </a:bodyPr>
            <a:lstStyle/>
            <a:p>
              <a:r>
                <a:rPr lang="zh-CN" altLang="en-US" sz="2000" dirty="0">
                  <a:solidFill>
                    <a:srgbClr val="FF0000"/>
                  </a:solidFill>
                  <a:latin typeface="楷体" panose="02010609060101010101" pitchFamily="49" charset="-122"/>
                  <a:ea typeface="楷体" panose="02010609060101010101" pitchFamily="49" charset="-122"/>
                </a:rPr>
                <a:t>基本未知量</a:t>
              </a:r>
            </a:p>
          </p:txBody>
        </p:sp>
        <p:sp>
          <p:nvSpPr>
            <p:cNvPr id="9" name="Oval 8"/>
            <p:cNvSpPr/>
            <p:nvPr/>
          </p:nvSpPr>
          <p:spPr bwMode="auto">
            <a:xfrm>
              <a:off x="4816947" y="1489662"/>
              <a:ext cx="219000" cy="365795"/>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nvGrpSpPr>
          <p:cNvPr id="36" name="Group 35"/>
          <p:cNvGrpSpPr/>
          <p:nvPr/>
        </p:nvGrpSpPr>
        <p:grpSpPr>
          <a:xfrm>
            <a:off x="6418818" y="1460792"/>
            <a:ext cx="2589655" cy="2646716"/>
            <a:chOff x="6418818" y="1460792"/>
            <a:chExt cx="2589655" cy="2646716"/>
          </a:xfrm>
        </p:grpSpPr>
        <p:grpSp>
          <p:nvGrpSpPr>
            <p:cNvPr id="34" name="Group 33"/>
            <p:cNvGrpSpPr/>
            <p:nvPr/>
          </p:nvGrpSpPr>
          <p:grpSpPr>
            <a:xfrm>
              <a:off x="6418818" y="1460792"/>
              <a:ext cx="2589655" cy="2646716"/>
              <a:chOff x="6374833" y="1475692"/>
              <a:chExt cx="2589655" cy="2646716"/>
            </a:xfrm>
          </p:grpSpPr>
          <p:pic>
            <p:nvPicPr>
              <p:cNvPr id="4099" name="Picture 3" descr="C:\Users\zzdeng\AppData\Roaming\Tencent\Users\42337577\QQ\WinTemp\RichOle\5%X[0_ZBMF[1P%Y0SS8(L$R.pn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4833" y="1475692"/>
                <a:ext cx="1753692" cy="2646716"/>
              </a:xfrm>
              <a:prstGeom prst="rect">
                <a:avLst/>
              </a:prstGeom>
              <a:noFill/>
              <a:extLst>
                <a:ext uri="{909E8E84-426E-40DD-AFC4-6F175D3DCCD1}">
                  <a14:hiddenFill xmlns:a14="http://schemas.microsoft.com/office/drawing/2010/main">
                    <a:solidFill>
                      <a:srgbClr val="FFFFFF"/>
                    </a:solidFill>
                  </a14:hiddenFill>
                </a:ext>
              </a:extLst>
            </p:spPr>
          </p:pic>
          <p:grpSp>
            <p:nvGrpSpPr>
              <p:cNvPr id="33" name="Group 32"/>
              <p:cNvGrpSpPr/>
              <p:nvPr/>
            </p:nvGrpSpPr>
            <p:grpSpPr>
              <a:xfrm>
                <a:off x="7380312" y="1672559"/>
                <a:ext cx="1584176" cy="646331"/>
                <a:chOff x="7380312" y="1672559"/>
                <a:chExt cx="1584176" cy="646331"/>
              </a:xfrm>
            </p:grpSpPr>
            <p:sp>
              <p:nvSpPr>
                <p:cNvPr id="14" name="TextBox 13"/>
                <p:cNvSpPr txBox="1"/>
                <p:nvPr/>
              </p:nvSpPr>
              <p:spPr>
                <a:xfrm>
                  <a:off x="7380312" y="1672559"/>
                  <a:ext cx="1584176" cy="646331"/>
                </a:xfrm>
                <a:prstGeom prst="rect">
                  <a:avLst/>
                </a:prstGeom>
                <a:noFill/>
              </p:spPr>
              <p:txBody>
                <a:bodyPr wrap="square" rtlCol="0">
                  <a:spAutoFit/>
                </a:bodyPr>
                <a:lstStyle/>
                <a:p>
                  <a:r>
                    <a:rPr lang="zh-CN" altLang="en-US" dirty="0"/>
                    <a:t>杆的伸长</a:t>
                  </a:r>
                  <a:endParaRPr lang="en-US" altLang="zh-CN" dirty="0"/>
                </a:p>
                <a:p>
                  <a:r>
                    <a:rPr lang="zh-CN" altLang="en-US" dirty="0">
                      <a:solidFill>
                        <a:srgbClr val="0000FF"/>
                      </a:solidFill>
                    </a:rPr>
                    <a:t>杆端力</a:t>
                  </a:r>
                  <a:r>
                    <a:rPr lang="zh-CN" altLang="en-US" dirty="0"/>
                    <a:t>为</a:t>
                  </a:r>
                </a:p>
              </p:txBody>
            </p:sp>
            <p:graphicFrame>
              <p:nvGraphicFramePr>
                <p:cNvPr id="26" name="Object 25"/>
                <p:cNvGraphicFramePr>
                  <a:graphicFrameLocks noChangeAspect="1"/>
                </p:cNvGraphicFramePr>
                <p:nvPr>
                  <p:extLst>
                    <p:ext uri="{D42A27DB-BD31-4B8C-83A1-F6EECF244321}">
                      <p14:modId xmlns:p14="http://schemas.microsoft.com/office/powerpoint/2010/main" val="2017037013"/>
                    </p:ext>
                  </p:extLst>
                </p:nvPr>
              </p:nvGraphicFramePr>
              <p:xfrm>
                <a:off x="8418076" y="2035477"/>
                <a:ext cx="279400" cy="279400"/>
              </p:xfrm>
              <a:graphic>
                <a:graphicData uri="http://schemas.openxmlformats.org/presentationml/2006/ole">
                  <mc:AlternateContent xmlns:mc="http://schemas.openxmlformats.org/markup-compatibility/2006">
                    <mc:Choice xmlns:v="urn:schemas-microsoft-com:vml" Requires="v">
                      <p:oleObj spid="_x0000_s82370" name="Equation" r:id="rId10" imgW="279360" imgH="279360" progId="Equation.DSMT4">
                        <p:embed/>
                      </p:oleObj>
                    </mc:Choice>
                    <mc:Fallback>
                      <p:oleObj name="Equation" r:id="rId10" imgW="279360" imgH="279360" progId="Equation.DSMT4">
                        <p:embed/>
                        <p:pic>
                          <p:nvPicPr>
                            <p:cNvPr id="0" name=""/>
                            <p:cNvPicPr/>
                            <p:nvPr/>
                          </p:nvPicPr>
                          <p:blipFill>
                            <a:blip r:embed="rId11"/>
                            <a:stretch>
                              <a:fillRect/>
                            </a:stretch>
                          </p:blipFill>
                          <p:spPr>
                            <a:xfrm>
                              <a:off x="8418076" y="2035477"/>
                              <a:ext cx="279400" cy="279400"/>
                            </a:xfrm>
                            <a:prstGeom prst="rect">
                              <a:avLst/>
                            </a:prstGeom>
                          </p:spPr>
                        </p:pic>
                      </p:oleObj>
                    </mc:Fallback>
                  </mc:AlternateContent>
                </a:graphicData>
              </a:graphic>
            </p:graphicFrame>
          </p:grpSp>
        </p:grpSp>
        <p:graphicFrame>
          <p:nvGraphicFramePr>
            <p:cNvPr id="15" name="Object 14"/>
            <p:cNvGraphicFramePr>
              <a:graphicFrameLocks noChangeAspect="1"/>
            </p:cNvGraphicFramePr>
            <p:nvPr>
              <p:extLst>
                <p:ext uri="{D42A27DB-BD31-4B8C-83A1-F6EECF244321}">
                  <p14:modId xmlns:p14="http://schemas.microsoft.com/office/powerpoint/2010/main" val="3131461236"/>
                </p:ext>
              </p:extLst>
            </p:nvPr>
          </p:nvGraphicFramePr>
          <p:xfrm>
            <a:off x="8487777" y="1715757"/>
            <a:ext cx="177800" cy="279400"/>
          </p:xfrm>
          <a:graphic>
            <a:graphicData uri="http://schemas.openxmlformats.org/presentationml/2006/ole">
              <mc:AlternateContent xmlns:mc="http://schemas.openxmlformats.org/markup-compatibility/2006">
                <mc:Choice xmlns:v="urn:schemas-microsoft-com:vml" Requires="v">
                  <p:oleObj spid="_x0000_s82371" name="Equation" r:id="rId12" imgW="177480" imgH="279360" progId="Equation.DSMT4">
                    <p:embed/>
                  </p:oleObj>
                </mc:Choice>
                <mc:Fallback>
                  <p:oleObj name="Equation" r:id="rId12" imgW="177480" imgH="279360" progId="Equation.DSMT4">
                    <p:embed/>
                    <p:pic>
                      <p:nvPicPr>
                        <p:cNvPr id="0" name=""/>
                        <p:cNvPicPr/>
                        <p:nvPr/>
                      </p:nvPicPr>
                      <p:blipFill>
                        <a:blip r:embed="rId13"/>
                        <a:stretch>
                          <a:fillRect/>
                        </a:stretch>
                      </p:blipFill>
                      <p:spPr>
                        <a:xfrm>
                          <a:off x="8487777" y="1715757"/>
                          <a:ext cx="177800" cy="279400"/>
                        </a:xfrm>
                        <a:prstGeom prst="rect">
                          <a:avLst/>
                        </a:prstGeom>
                      </p:spPr>
                    </p:pic>
                  </p:oleObj>
                </mc:Fallback>
              </mc:AlternateContent>
            </a:graphicData>
          </a:graphic>
        </p:graphicFrame>
      </p:grpSp>
      <p:grpSp>
        <p:nvGrpSpPr>
          <p:cNvPr id="25" name="Group 24"/>
          <p:cNvGrpSpPr/>
          <p:nvPr/>
        </p:nvGrpSpPr>
        <p:grpSpPr>
          <a:xfrm>
            <a:off x="5787335" y="4153253"/>
            <a:ext cx="2582312" cy="689955"/>
            <a:chOff x="5787335" y="4153253"/>
            <a:chExt cx="2582312" cy="689955"/>
          </a:xfrm>
        </p:grpSpPr>
        <p:graphicFrame>
          <p:nvGraphicFramePr>
            <p:cNvPr id="18" name="Object 17"/>
            <p:cNvGraphicFramePr>
              <a:graphicFrameLocks noChangeAspect="1"/>
            </p:cNvGraphicFramePr>
            <p:nvPr>
              <p:extLst>
                <p:ext uri="{D42A27DB-BD31-4B8C-83A1-F6EECF244321}">
                  <p14:modId xmlns:p14="http://schemas.microsoft.com/office/powerpoint/2010/main" val="1814474704"/>
                </p:ext>
              </p:extLst>
            </p:nvPr>
          </p:nvGraphicFramePr>
          <p:xfrm>
            <a:off x="7391747" y="4358530"/>
            <a:ext cx="977900" cy="279400"/>
          </p:xfrm>
          <a:graphic>
            <a:graphicData uri="http://schemas.openxmlformats.org/presentationml/2006/ole">
              <mc:AlternateContent xmlns:mc="http://schemas.openxmlformats.org/markup-compatibility/2006">
                <mc:Choice xmlns:v="urn:schemas-microsoft-com:vml" Requires="v">
                  <p:oleObj spid="_x0000_s82372" name="Equation" r:id="rId14" imgW="977760" imgH="279360" progId="Equation.DSMT4">
                    <p:embed/>
                  </p:oleObj>
                </mc:Choice>
                <mc:Fallback>
                  <p:oleObj name="Equation" r:id="rId14" imgW="977760" imgH="279360" progId="Equation.DSMT4">
                    <p:embed/>
                    <p:pic>
                      <p:nvPicPr>
                        <p:cNvPr id="0" name=""/>
                        <p:cNvPicPr/>
                        <p:nvPr/>
                      </p:nvPicPr>
                      <p:blipFill>
                        <a:blip r:embed="rId15"/>
                        <a:stretch>
                          <a:fillRect/>
                        </a:stretch>
                      </p:blipFill>
                      <p:spPr>
                        <a:xfrm>
                          <a:off x="7391747" y="4358530"/>
                          <a:ext cx="977900" cy="279400"/>
                        </a:xfrm>
                        <a:prstGeom prst="rect">
                          <a:avLst/>
                        </a:prstGeom>
                      </p:spPr>
                    </p:pic>
                  </p:oleObj>
                </mc:Fallback>
              </mc:AlternateContent>
            </a:graphicData>
          </a:graphic>
        </p:graphicFrame>
        <p:sp>
          <p:nvSpPr>
            <p:cNvPr id="19" name="Down Arrow 18"/>
            <p:cNvSpPr/>
            <p:nvPr/>
          </p:nvSpPr>
          <p:spPr bwMode="auto">
            <a:xfrm flipH="1">
              <a:off x="7268639" y="4153253"/>
              <a:ext cx="111673" cy="689955"/>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20" name="TextBox 19"/>
            <p:cNvSpPr txBox="1"/>
            <p:nvPr/>
          </p:nvSpPr>
          <p:spPr>
            <a:xfrm>
              <a:off x="5787335" y="4196877"/>
              <a:ext cx="1527550" cy="646331"/>
            </a:xfrm>
            <a:prstGeom prst="rect">
              <a:avLst/>
            </a:prstGeom>
            <a:noFill/>
          </p:spPr>
          <p:txBody>
            <a:bodyPr wrap="square" rtlCol="0">
              <a:spAutoFit/>
            </a:bodyPr>
            <a:lstStyle/>
            <a:p>
              <a:r>
                <a:rPr lang="en-US" altLang="zh-CN"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baseline="30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nd</a:t>
              </a:r>
              <a:r>
                <a:rPr lang="en-US" altLang="zh-CN" dirty="0">
                  <a:solidFill>
                    <a:srgbClr val="0000FF"/>
                  </a:solidFill>
                  <a:latin typeface="楷体" panose="02010609060101010101" pitchFamily="49" charset="-122"/>
                  <a:ea typeface="楷体" panose="02010609060101010101" pitchFamily="49" charset="-122"/>
                </a:rPr>
                <a:t>:</a:t>
              </a:r>
              <a:r>
                <a:rPr lang="zh-CN" altLang="en-US" dirty="0">
                  <a:solidFill>
                    <a:srgbClr val="0000FF"/>
                  </a:solidFill>
                  <a:latin typeface="楷体" panose="02010609060101010101" pitchFamily="49" charset="-122"/>
                  <a:ea typeface="楷体" panose="02010609060101010101" pitchFamily="49" charset="-122"/>
                </a:rPr>
                <a:t>综合成结构</a:t>
              </a:r>
            </a:p>
          </p:txBody>
        </p:sp>
      </p:grpSp>
      <p:grpSp>
        <p:nvGrpSpPr>
          <p:cNvPr id="24" name="Group 23"/>
          <p:cNvGrpSpPr/>
          <p:nvPr/>
        </p:nvGrpSpPr>
        <p:grpSpPr>
          <a:xfrm>
            <a:off x="3484217" y="5206471"/>
            <a:ext cx="2335414" cy="1111779"/>
            <a:chOff x="3484217" y="5206471"/>
            <a:chExt cx="2335414" cy="1111779"/>
          </a:xfrm>
        </p:grpSpPr>
        <p:sp>
          <p:nvSpPr>
            <p:cNvPr id="21" name="Left Arrow 20"/>
            <p:cNvSpPr/>
            <p:nvPr/>
          </p:nvSpPr>
          <p:spPr bwMode="auto">
            <a:xfrm>
              <a:off x="3779911" y="5580817"/>
              <a:ext cx="1645551" cy="126095"/>
            </a:xfrm>
            <a:prstGeom prst="lef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22" name="TextBox 21"/>
            <p:cNvSpPr txBox="1"/>
            <p:nvPr/>
          </p:nvSpPr>
          <p:spPr>
            <a:xfrm>
              <a:off x="3484217" y="5206471"/>
              <a:ext cx="2335414" cy="369332"/>
            </a:xfrm>
            <a:prstGeom prst="rect">
              <a:avLst/>
            </a:prstGeom>
            <a:noFill/>
          </p:spPr>
          <p:txBody>
            <a:bodyPr wrap="square" rtlCol="0">
              <a:spAutoFit/>
            </a:bodyPr>
            <a:lstStyle/>
            <a:p>
              <a:r>
                <a:rPr lang="en-US" altLang="zh-CN"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3</a:t>
              </a:r>
              <a:r>
                <a:rPr lang="en-US" altLang="zh-CN" baseline="30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rd</a:t>
              </a:r>
              <a:r>
                <a:rPr lang="en-US" altLang="zh-CN" dirty="0">
                  <a:solidFill>
                    <a:srgbClr val="0000FF"/>
                  </a:solidFill>
                  <a:latin typeface="楷体" panose="02010609060101010101" pitchFamily="49" charset="-122"/>
                  <a:ea typeface="楷体" panose="02010609060101010101" pitchFamily="49" charset="-122"/>
                </a:rPr>
                <a:t>:</a:t>
              </a:r>
              <a:r>
                <a:rPr lang="zh-CN" altLang="en-US" dirty="0">
                  <a:solidFill>
                    <a:srgbClr val="0000FF"/>
                  </a:solidFill>
                  <a:latin typeface="楷体" panose="02010609060101010101" pitchFamily="49" charset="-122"/>
                  <a:ea typeface="楷体" panose="02010609060101010101" pitchFamily="49" charset="-122"/>
                </a:rPr>
                <a:t>结点</a:t>
              </a:r>
              <a:r>
                <a:rPr lang="en-US" altLang="zh-CN"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B</a:t>
              </a:r>
              <a:r>
                <a:rPr lang="zh-CN" altLang="en-US" dirty="0">
                  <a:solidFill>
                    <a:srgbClr val="0000FF"/>
                  </a:solidFill>
                  <a:latin typeface="楷体" panose="02010609060101010101" pitchFamily="49" charset="-122"/>
                  <a:ea typeface="楷体" panose="02010609060101010101" pitchFamily="49" charset="-122"/>
                </a:rPr>
                <a:t>的平衡条件</a:t>
              </a:r>
            </a:p>
          </p:txBody>
        </p:sp>
        <p:graphicFrame>
          <p:nvGraphicFramePr>
            <p:cNvPr id="23" name="Object 22"/>
            <p:cNvGraphicFramePr>
              <a:graphicFrameLocks noChangeAspect="1"/>
            </p:cNvGraphicFramePr>
            <p:nvPr>
              <p:extLst>
                <p:ext uri="{D42A27DB-BD31-4B8C-83A1-F6EECF244321}">
                  <p14:modId xmlns:p14="http://schemas.microsoft.com/office/powerpoint/2010/main" val="1762794634"/>
                </p:ext>
              </p:extLst>
            </p:nvPr>
          </p:nvGraphicFramePr>
          <p:xfrm>
            <a:off x="3851275" y="5759450"/>
            <a:ext cx="1409700" cy="558800"/>
          </p:xfrm>
          <a:graphic>
            <a:graphicData uri="http://schemas.openxmlformats.org/presentationml/2006/ole">
              <mc:AlternateContent xmlns:mc="http://schemas.openxmlformats.org/markup-compatibility/2006">
                <mc:Choice xmlns:v="urn:schemas-microsoft-com:vml" Requires="v">
                  <p:oleObj spid="_x0000_s82373" name="Equation" r:id="rId16" imgW="1409400" imgH="558720" progId="Equation.DSMT4">
                    <p:embed/>
                  </p:oleObj>
                </mc:Choice>
                <mc:Fallback>
                  <p:oleObj name="Equation" r:id="rId16" imgW="1409400" imgH="558720" progId="Equation.DSMT4">
                    <p:embed/>
                    <p:pic>
                      <p:nvPicPr>
                        <p:cNvPr id="0" name=""/>
                        <p:cNvPicPr/>
                        <p:nvPr/>
                      </p:nvPicPr>
                      <p:blipFill>
                        <a:blip r:embed="rId17"/>
                        <a:stretch>
                          <a:fillRect/>
                        </a:stretch>
                      </p:blipFill>
                      <p:spPr>
                        <a:xfrm>
                          <a:off x="3851275" y="5759450"/>
                          <a:ext cx="1409700" cy="558800"/>
                        </a:xfrm>
                        <a:prstGeom prst="rect">
                          <a:avLst/>
                        </a:prstGeom>
                      </p:spPr>
                    </p:pic>
                  </p:oleObj>
                </mc:Fallback>
              </mc:AlternateContent>
            </a:graphicData>
          </a:graphic>
        </p:graphicFrame>
      </p:grpSp>
      <p:grpSp>
        <p:nvGrpSpPr>
          <p:cNvPr id="32" name="Group 31"/>
          <p:cNvGrpSpPr/>
          <p:nvPr/>
        </p:nvGrpSpPr>
        <p:grpSpPr>
          <a:xfrm>
            <a:off x="4324077" y="2844896"/>
            <a:ext cx="2331309" cy="971655"/>
            <a:chOff x="4324077" y="2844896"/>
            <a:chExt cx="2331309" cy="971655"/>
          </a:xfrm>
        </p:grpSpPr>
        <p:grpSp>
          <p:nvGrpSpPr>
            <p:cNvPr id="13" name="Group 12"/>
            <p:cNvGrpSpPr/>
            <p:nvPr/>
          </p:nvGrpSpPr>
          <p:grpSpPr>
            <a:xfrm>
              <a:off x="4324077" y="2844896"/>
              <a:ext cx="2331309" cy="396044"/>
              <a:chOff x="4324077" y="3068960"/>
              <a:chExt cx="2331309" cy="396044"/>
            </a:xfrm>
          </p:grpSpPr>
          <p:sp>
            <p:nvSpPr>
              <p:cNvPr id="11" name="Right Arrow 10"/>
              <p:cNvSpPr/>
              <p:nvPr/>
            </p:nvSpPr>
            <p:spPr bwMode="auto">
              <a:xfrm>
                <a:off x="4497016" y="3356992"/>
                <a:ext cx="2158370" cy="108012"/>
              </a:xfrm>
              <a:prstGeom prst="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12" name="TextBox 11"/>
              <p:cNvSpPr txBox="1"/>
              <p:nvPr/>
            </p:nvSpPr>
            <p:spPr>
              <a:xfrm>
                <a:off x="4324077" y="3068960"/>
                <a:ext cx="2299410" cy="369332"/>
              </a:xfrm>
              <a:prstGeom prst="rect">
                <a:avLst/>
              </a:prstGeom>
              <a:noFill/>
            </p:spPr>
            <p:txBody>
              <a:bodyPr wrap="square" rtlCol="0">
                <a:spAutoFit/>
              </a:bodyPr>
              <a:lstStyle/>
              <a:p>
                <a:r>
                  <a:rPr lang="en-US" altLang="zh-CN"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baseline="30000" dirty="0">
                    <a:solidFill>
                      <a:srgbClr val="0000FF"/>
                    </a:solidFill>
                    <a:latin typeface="Times New Roman" panose="02020603050405020304" pitchFamily="18" charset="0"/>
                    <a:ea typeface="楷体" panose="02010609060101010101" pitchFamily="49" charset="-122"/>
                    <a:cs typeface="Times New Roman" panose="02020603050405020304" pitchFamily="18" charset="0"/>
                  </a:rPr>
                  <a:t>st</a:t>
                </a:r>
                <a:r>
                  <a:rPr lang="en-US" altLang="zh-CN" dirty="0">
                    <a:solidFill>
                      <a:srgbClr val="0000FF"/>
                    </a:solidFill>
                    <a:latin typeface="楷体" panose="02010609060101010101" pitchFamily="49" charset="-122"/>
                    <a:ea typeface="楷体" panose="02010609060101010101" pitchFamily="49" charset="-122"/>
                  </a:rPr>
                  <a:t>:</a:t>
                </a:r>
                <a:r>
                  <a:rPr lang="zh-CN" altLang="en-US" dirty="0">
                    <a:solidFill>
                      <a:srgbClr val="0000FF"/>
                    </a:solidFill>
                    <a:latin typeface="楷体" panose="02010609060101010101" pitchFamily="49" charset="-122"/>
                    <a:ea typeface="楷体" panose="02010609060101010101" pitchFamily="49" charset="-122"/>
                  </a:rPr>
                  <a:t>取一个杆件分析</a:t>
                </a:r>
              </a:p>
            </p:txBody>
          </p:sp>
        </p:grpSp>
        <p:graphicFrame>
          <p:nvGraphicFramePr>
            <p:cNvPr id="35" name="Object 34"/>
            <p:cNvGraphicFramePr>
              <a:graphicFrameLocks noChangeAspect="1"/>
            </p:cNvGraphicFramePr>
            <p:nvPr>
              <p:extLst>
                <p:ext uri="{D42A27DB-BD31-4B8C-83A1-F6EECF244321}">
                  <p14:modId xmlns:p14="http://schemas.microsoft.com/office/powerpoint/2010/main" val="4083074873"/>
                </p:ext>
              </p:extLst>
            </p:nvPr>
          </p:nvGraphicFramePr>
          <p:xfrm>
            <a:off x="4930163" y="3257751"/>
            <a:ext cx="990600" cy="558800"/>
          </p:xfrm>
          <a:graphic>
            <a:graphicData uri="http://schemas.openxmlformats.org/presentationml/2006/ole">
              <mc:AlternateContent xmlns:mc="http://schemas.openxmlformats.org/markup-compatibility/2006">
                <mc:Choice xmlns:v="urn:schemas-microsoft-com:vml" Requires="v">
                  <p:oleObj spid="_x0000_s82374" name="Equation" r:id="rId18" imgW="990360" imgH="558720" progId="Equation.DSMT4">
                    <p:embed/>
                  </p:oleObj>
                </mc:Choice>
                <mc:Fallback>
                  <p:oleObj name="Equation" r:id="rId18" imgW="990360" imgH="558720" progId="Equation.DSMT4">
                    <p:embed/>
                    <p:pic>
                      <p:nvPicPr>
                        <p:cNvPr id="0" name=""/>
                        <p:cNvPicPr/>
                        <p:nvPr/>
                      </p:nvPicPr>
                      <p:blipFill>
                        <a:blip r:embed="rId19"/>
                        <a:stretch>
                          <a:fillRect/>
                        </a:stretch>
                      </p:blipFill>
                      <p:spPr>
                        <a:xfrm>
                          <a:off x="4930163" y="3257751"/>
                          <a:ext cx="990600" cy="558800"/>
                        </a:xfrm>
                        <a:prstGeom prst="rect">
                          <a:avLst/>
                        </a:prstGeom>
                      </p:spPr>
                    </p:pic>
                  </p:oleObj>
                </mc:Fallback>
              </mc:AlternateContent>
            </a:graphicData>
          </a:graphic>
        </p:graphicFrame>
      </p:grpSp>
      <p:grpSp>
        <p:nvGrpSpPr>
          <p:cNvPr id="31" name="Group 30"/>
          <p:cNvGrpSpPr/>
          <p:nvPr/>
        </p:nvGrpSpPr>
        <p:grpSpPr>
          <a:xfrm>
            <a:off x="5395265" y="3221964"/>
            <a:ext cx="1985047" cy="643382"/>
            <a:chOff x="5395265" y="3221964"/>
            <a:chExt cx="1985047" cy="643382"/>
          </a:xfrm>
        </p:grpSpPr>
        <p:sp>
          <p:nvSpPr>
            <p:cNvPr id="27" name="Oval 26"/>
            <p:cNvSpPr/>
            <p:nvPr/>
          </p:nvSpPr>
          <p:spPr bwMode="auto">
            <a:xfrm>
              <a:off x="5395265" y="3221964"/>
              <a:ext cx="361872" cy="548100"/>
            </a:xfrm>
            <a:prstGeom prst="ellips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29" name="Straight Arrow Connector 28"/>
            <p:cNvCxnSpPr>
              <a:stCxn id="27" idx="5"/>
            </p:cNvCxnSpPr>
            <p:nvPr/>
          </p:nvCxnSpPr>
          <p:spPr bwMode="auto">
            <a:xfrm flipV="1">
              <a:off x="5704142" y="3645024"/>
              <a:ext cx="524042" cy="44773"/>
            </a:xfrm>
            <a:prstGeom prst="straightConnector1">
              <a:avLst/>
            </a:prstGeom>
            <a:solidFill>
              <a:schemeClr val="accent1"/>
            </a:solidFill>
            <a:ln w="9525" cap="flat" cmpd="sng" algn="ctr">
              <a:solidFill>
                <a:schemeClr val="tx1"/>
              </a:solidFill>
              <a:prstDash val="solid"/>
              <a:round/>
              <a:headEnd type="none" w="med" len="med"/>
              <a:tailEnd type="arrow"/>
            </a:ln>
            <a:effectLst/>
          </p:spPr>
        </p:cxnSp>
        <p:sp>
          <p:nvSpPr>
            <p:cNvPr id="30" name="TextBox 29"/>
            <p:cNvSpPr txBox="1"/>
            <p:nvPr/>
          </p:nvSpPr>
          <p:spPr>
            <a:xfrm>
              <a:off x="6228184" y="3496014"/>
              <a:ext cx="1152128"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刚度系数</a:t>
              </a:r>
            </a:p>
          </p:txBody>
        </p:sp>
      </p:grpSp>
      <p:grpSp>
        <p:nvGrpSpPr>
          <p:cNvPr id="40" name="Group 39"/>
          <p:cNvGrpSpPr/>
          <p:nvPr/>
        </p:nvGrpSpPr>
        <p:grpSpPr>
          <a:xfrm>
            <a:off x="3995936" y="3667410"/>
            <a:ext cx="1213503" cy="471986"/>
            <a:chOff x="3995936" y="3667410"/>
            <a:chExt cx="1213503" cy="471986"/>
          </a:xfrm>
        </p:grpSpPr>
        <p:sp>
          <p:nvSpPr>
            <p:cNvPr id="37" name="TextBox 36"/>
            <p:cNvSpPr txBox="1"/>
            <p:nvPr/>
          </p:nvSpPr>
          <p:spPr>
            <a:xfrm>
              <a:off x="3995936" y="3770064"/>
              <a:ext cx="1213503" cy="369332"/>
            </a:xfrm>
            <a:prstGeom prst="rect">
              <a:avLst/>
            </a:prstGeom>
            <a:noFill/>
          </p:spPr>
          <p:txBody>
            <a:bodyPr wrap="square" rtlCol="0">
              <a:spAutoFit/>
            </a:bodyPr>
            <a:lstStyle/>
            <a:p>
              <a:r>
                <a:rPr lang="zh-CN" altLang="en-US" dirty="0">
                  <a:solidFill>
                    <a:srgbClr val="FF0000"/>
                  </a:solidFill>
                  <a:latin typeface="楷体" panose="02010609060101010101" pitchFamily="49" charset="-122"/>
                  <a:ea typeface="楷体" panose="02010609060101010101" pitchFamily="49" charset="-122"/>
                </a:rPr>
                <a:t>刚度方程</a:t>
              </a:r>
            </a:p>
          </p:txBody>
        </p:sp>
        <p:cxnSp>
          <p:nvCxnSpPr>
            <p:cNvPr id="39" name="Straight Arrow Connector 38"/>
            <p:cNvCxnSpPr/>
            <p:nvPr/>
          </p:nvCxnSpPr>
          <p:spPr bwMode="auto">
            <a:xfrm flipH="1">
              <a:off x="4816947" y="3667410"/>
              <a:ext cx="219000" cy="197936"/>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spTree>
    <p:extLst>
      <p:ext uri="{BB962C8B-B14F-4D97-AF65-F5344CB8AC3E}">
        <p14:creationId xmlns:p14="http://schemas.microsoft.com/office/powerpoint/2010/main" val="2258530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4"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down)">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32"/>
                                        </p:tgtEl>
                                        <p:attrNameLst>
                                          <p:attrName>style.visibility</p:attrName>
                                        </p:attrNameLst>
                                      </p:cBhvr>
                                      <p:to>
                                        <p:strVal val="visible"/>
                                      </p:to>
                                    </p:set>
                                    <p:anim calcmode="lin" valueType="num">
                                      <p:cBhvr additive="base">
                                        <p:cTn id="16" dur="500" fill="hold"/>
                                        <p:tgtEl>
                                          <p:spTgt spid="32"/>
                                        </p:tgtEl>
                                        <p:attrNameLst>
                                          <p:attrName>ppt_x</p:attrName>
                                        </p:attrNameLst>
                                      </p:cBhvr>
                                      <p:tavLst>
                                        <p:tav tm="0">
                                          <p:val>
                                            <p:strVal val="#ppt_x"/>
                                          </p:val>
                                        </p:tav>
                                        <p:tav tm="100000">
                                          <p:val>
                                            <p:strVal val="#ppt_x"/>
                                          </p:val>
                                        </p:tav>
                                      </p:tavLst>
                                    </p:anim>
                                    <p:anim calcmode="lin" valueType="num">
                                      <p:cBhvr additive="base">
                                        <p:cTn id="17"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fade">
                                      <p:cBhvr>
                                        <p:cTn id="22" dur="1000"/>
                                        <p:tgtEl>
                                          <p:spTgt spid="36"/>
                                        </p:tgtEl>
                                      </p:cBhvr>
                                    </p:animEffect>
                                    <p:anim calcmode="lin" valueType="num">
                                      <p:cBhvr>
                                        <p:cTn id="23" dur="1000" fill="hold"/>
                                        <p:tgtEl>
                                          <p:spTgt spid="36"/>
                                        </p:tgtEl>
                                        <p:attrNameLst>
                                          <p:attrName>ppt_x</p:attrName>
                                        </p:attrNameLst>
                                      </p:cBhvr>
                                      <p:tavLst>
                                        <p:tav tm="0">
                                          <p:val>
                                            <p:strVal val="#ppt_x"/>
                                          </p:val>
                                        </p:tav>
                                        <p:tav tm="100000">
                                          <p:val>
                                            <p:strVal val="#ppt_x"/>
                                          </p:val>
                                        </p:tav>
                                      </p:tavLst>
                                    </p:anim>
                                    <p:anim calcmode="lin" valueType="num">
                                      <p:cBhvr>
                                        <p:cTn id="24"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25"/>
                                        </p:tgtEl>
                                        <p:attrNameLst>
                                          <p:attrName>style.visibility</p:attrName>
                                        </p:attrNameLst>
                                      </p:cBhvr>
                                      <p:to>
                                        <p:strVal val="visible"/>
                                      </p:to>
                                    </p:set>
                                    <p:anim calcmode="lin" valueType="num">
                                      <p:cBhvr additive="base">
                                        <p:cTn id="33" dur="500" fill="hold"/>
                                        <p:tgtEl>
                                          <p:spTgt spid="25"/>
                                        </p:tgtEl>
                                        <p:attrNameLst>
                                          <p:attrName>ppt_x</p:attrName>
                                        </p:attrNameLst>
                                      </p:cBhvr>
                                      <p:tavLst>
                                        <p:tav tm="0">
                                          <p:val>
                                            <p:strVal val="#ppt_x"/>
                                          </p:val>
                                        </p:tav>
                                        <p:tav tm="100000">
                                          <p:val>
                                            <p:strVal val="#ppt_x"/>
                                          </p:val>
                                        </p:tav>
                                      </p:tavLst>
                                    </p:anim>
                                    <p:anim calcmode="lin" valueType="num">
                                      <p:cBhvr additive="base">
                                        <p:cTn id="3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16" presetClass="entr" presetSubtype="21" fill="hold" nodeType="clickEffect">
                                  <p:stCondLst>
                                    <p:cond delay="0"/>
                                  </p:stCondLst>
                                  <p:childTnLst>
                                    <p:set>
                                      <p:cBhvr>
                                        <p:cTn id="38" dur="1" fill="hold">
                                          <p:stCondLst>
                                            <p:cond delay="0"/>
                                          </p:stCondLst>
                                        </p:cTn>
                                        <p:tgtEl>
                                          <p:spTgt spid="4101"/>
                                        </p:tgtEl>
                                        <p:attrNameLst>
                                          <p:attrName>style.visibility</p:attrName>
                                        </p:attrNameLst>
                                      </p:cBhvr>
                                      <p:to>
                                        <p:strVal val="visible"/>
                                      </p:to>
                                    </p:set>
                                    <p:animEffect transition="in" filter="barn(inVertical)">
                                      <p:cBhvr>
                                        <p:cTn id="39" dur="500"/>
                                        <p:tgtEl>
                                          <p:spTgt spid="4101"/>
                                        </p:tgtEl>
                                      </p:cBhvr>
                                    </p:animEffect>
                                  </p:childTnLst>
                                </p:cTn>
                              </p:par>
                            </p:childTnLst>
                          </p:cTn>
                        </p:par>
                      </p:childTnLst>
                    </p:cTn>
                  </p:par>
                  <p:par>
                    <p:cTn id="40" fill="hold">
                      <p:stCondLst>
                        <p:cond delay="indefinite"/>
                      </p:stCondLst>
                      <p:childTnLst>
                        <p:par>
                          <p:cTn id="41" fill="hold">
                            <p:stCondLst>
                              <p:cond delay="0"/>
                            </p:stCondLst>
                            <p:childTnLst>
                              <p:par>
                                <p:cTn id="42" presetID="6" presetClass="entr" presetSubtype="16"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circle(in)">
                                      <p:cBhvr>
                                        <p:cTn id="44" dur="20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nodeType="clickEffect">
                                  <p:stCondLst>
                                    <p:cond delay="0"/>
                                  </p:stCondLst>
                                  <p:childTnLst>
                                    <p:set>
                                      <p:cBhvr>
                                        <p:cTn id="48" dur="1" fill="hold">
                                          <p:stCondLst>
                                            <p:cond delay="0"/>
                                          </p:stCondLst>
                                        </p:cTn>
                                        <p:tgtEl>
                                          <p:spTgt spid="4100"/>
                                        </p:tgtEl>
                                        <p:attrNameLst>
                                          <p:attrName>style.visibility</p:attrName>
                                        </p:attrNameLst>
                                      </p:cBhvr>
                                      <p:to>
                                        <p:strVal val="visible"/>
                                      </p:to>
                                    </p:set>
                                    <p:animEffect transition="in" filter="wheel(1)">
                                      <p:cBhvr>
                                        <p:cTn id="49" dur="2000"/>
                                        <p:tgtEl>
                                          <p:spTgt spid="4100"/>
                                        </p:tgtEl>
                                      </p:cBhvr>
                                    </p:animEffect>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fade">
                                      <p:cBhvr>
                                        <p:cTn id="54" dur="1000"/>
                                        <p:tgtEl>
                                          <p:spTgt spid="40"/>
                                        </p:tgtEl>
                                      </p:cBhvr>
                                    </p:animEffect>
                                    <p:anim calcmode="lin" valueType="num">
                                      <p:cBhvr>
                                        <p:cTn id="55" dur="1000" fill="hold"/>
                                        <p:tgtEl>
                                          <p:spTgt spid="40"/>
                                        </p:tgtEl>
                                        <p:attrNameLst>
                                          <p:attrName>ppt_x</p:attrName>
                                        </p:attrNameLst>
                                      </p:cBhvr>
                                      <p:tavLst>
                                        <p:tav tm="0">
                                          <p:val>
                                            <p:strVal val="#ppt_x"/>
                                          </p:val>
                                        </p:tav>
                                        <p:tav tm="100000">
                                          <p:val>
                                            <p:strVal val="#ppt_x"/>
                                          </p:val>
                                        </p:tav>
                                      </p:tavLst>
                                    </p:anim>
                                    <p:anim calcmode="lin" valueType="num">
                                      <p:cBhvr>
                                        <p:cTn id="56"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7-1</a:t>
            </a:r>
            <a:r>
              <a:rPr lang="zh-CN" altLang="en-US" dirty="0"/>
              <a:t>位移法基本概念</a:t>
            </a:r>
          </a:p>
        </p:txBody>
      </p:sp>
      <p:sp>
        <p:nvSpPr>
          <p:cNvPr id="5" name="Down Arrow 4"/>
          <p:cNvSpPr/>
          <p:nvPr/>
        </p:nvSpPr>
        <p:spPr bwMode="auto">
          <a:xfrm>
            <a:off x="3563888" y="2623856"/>
            <a:ext cx="144016" cy="360040"/>
          </a:xfrm>
          <a:prstGeom prst="downArrow">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492787414"/>
              </p:ext>
            </p:extLst>
          </p:nvPr>
        </p:nvGraphicFramePr>
        <p:xfrm>
          <a:off x="2989263" y="3014663"/>
          <a:ext cx="1524000" cy="825500"/>
        </p:xfrm>
        <a:graphic>
          <a:graphicData uri="http://schemas.openxmlformats.org/presentationml/2006/ole">
            <mc:AlternateContent xmlns:mc="http://schemas.openxmlformats.org/markup-compatibility/2006">
              <mc:Choice xmlns:v="urn:schemas-microsoft-com:vml" Requires="v">
                <p:oleObj spid="_x0000_s47769" name="Equation" r:id="rId4" imgW="1523880" imgH="825480" progId="Equation.DSMT4">
                  <p:embed/>
                </p:oleObj>
              </mc:Choice>
              <mc:Fallback>
                <p:oleObj name="Equation" r:id="rId4" imgW="1523880" imgH="825480" progId="Equation.DSMT4">
                  <p:embed/>
                  <p:pic>
                    <p:nvPicPr>
                      <p:cNvPr id="0" name="Object 3"/>
                      <p:cNvPicPr>
                        <a:picLocks noChangeAspect="1" noChangeArrowheads="1"/>
                      </p:cNvPicPr>
                      <p:nvPr/>
                    </p:nvPicPr>
                    <p:blipFill>
                      <a:blip r:embed="rId5"/>
                      <a:srcRect/>
                      <a:stretch>
                        <a:fillRect/>
                      </a:stretch>
                    </p:blipFill>
                    <p:spPr bwMode="auto">
                      <a:xfrm>
                        <a:off x="2989263" y="3014663"/>
                        <a:ext cx="1524000" cy="82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p:cNvSpPr txBox="1"/>
          <p:nvPr/>
        </p:nvSpPr>
        <p:spPr>
          <a:xfrm>
            <a:off x="4788024" y="3212976"/>
            <a:ext cx="1800200" cy="430887"/>
          </a:xfrm>
          <a:prstGeom prst="rect">
            <a:avLst/>
          </a:prstGeom>
          <a:noFill/>
        </p:spPr>
        <p:txBody>
          <a:bodyPr wrap="square" rtlCol="0">
            <a:spAutoFit/>
          </a:bodyPr>
          <a:lstStyle/>
          <a:p>
            <a:r>
              <a:rPr lang="zh-CN" altLang="en-US" sz="2200" dirty="0">
                <a:solidFill>
                  <a:srgbClr val="0000FF"/>
                </a:solidFill>
                <a:latin typeface="楷体" panose="02010609060101010101" pitchFamily="49" charset="-122"/>
                <a:ea typeface="楷体" panose="02010609060101010101" pitchFamily="49" charset="-122"/>
              </a:rPr>
              <a:t>关键的一步！</a:t>
            </a:r>
          </a:p>
        </p:txBody>
      </p:sp>
      <p:grpSp>
        <p:nvGrpSpPr>
          <p:cNvPr id="15" name="Group 14"/>
          <p:cNvGrpSpPr/>
          <p:nvPr/>
        </p:nvGrpSpPr>
        <p:grpSpPr>
          <a:xfrm>
            <a:off x="827584" y="4077072"/>
            <a:ext cx="3780420" cy="1608956"/>
            <a:chOff x="827584" y="4077072"/>
            <a:chExt cx="3780420" cy="1608956"/>
          </a:xfrm>
        </p:grpSpPr>
        <p:sp>
          <p:nvSpPr>
            <p:cNvPr id="8" name="TextBox 7"/>
            <p:cNvSpPr txBox="1"/>
            <p:nvPr/>
          </p:nvSpPr>
          <p:spPr>
            <a:xfrm>
              <a:off x="827584" y="4077072"/>
              <a:ext cx="2736304" cy="400110"/>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各杆的轴力：</a:t>
              </a:r>
            </a:p>
          </p:txBody>
        </p:sp>
        <p:graphicFrame>
          <p:nvGraphicFramePr>
            <p:cNvPr id="9" name="Object 8"/>
            <p:cNvGraphicFramePr>
              <a:graphicFrameLocks noChangeAspect="1"/>
            </p:cNvGraphicFramePr>
            <p:nvPr>
              <p:extLst>
                <p:ext uri="{D42A27DB-BD31-4B8C-83A1-F6EECF244321}">
                  <p14:modId xmlns:p14="http://schemas.microsoft.com/office/powerpoint/2010/main" val="1750735843"/>
                </p:ext>
              </p:extLst>
            </p:nvPr>
          </p:nvGraphicFramePr>
          <p:xfrm>
            <a:off x="2741104" y="4581128"/>
            <a:ext cx="1866900" cy="1104900"/>
          </p:xfrm>
          <a:graphic>
            <a:graphicData uri="http://schemas.openxmlformats.org/presentationml/2006/ole">
              <mc:AlternateContent xmlns:mc="http://schemas.openxmlformats.org/markup-compatibility/2006">
                <mc:Choice xmlns:v="urn:schemas-microsoft-com:vml" Requires="v">
                  <p:oleObj spid="_x0000_s47770" name="Equation" r:id="rId6" imgW="1866600" imgH="1104840" progId="Equation.DSMT4">
                    <p:embed/>
                  </p:oleObj>
                </mc:Choice>
                <mc:Fallback>
                  <p:oleObj name="Equation" r:id="rId6" imgW="1866600" imgH="1104840" progId="Equation.DSMT4">
                    <p:embed/>
                    <p:pic>
                      <p:nvPicPr>
                        <p:cNvPr id="0" name=""/>
                        <p:cNvPicPr/>
                        <p:nvPr/>
                      </p:nvPicPr>
                      <p:blipFill>
                        <a:blip r:embed="rId7"/>
                        <a:stretch>
                          <a:fillRect/>
                        </a:stretch>
                      </p:blipFill>
                      <p:spPr>
                        <a:xfrm>
                          <a:off x="2741104" y="4581128"/>
                          <a:ext cx="1866900" cy="1104900"/>
                        </a:xfrm>
                        <a:prstGeom prst="rect">
                          <a:avLst/>
                        </a:prstGeom>
                      </p:spPr>
                    </p:pic>
                  </p:oleObj>
                </mc:Fallback>
              </mc:AlternateContent>
            </a:graphicData>
          </a:graphic>
        </p:graphicFrame>
      </p:grpSp>
      <p:sp>
        <p:nvSpPr>
          <p:cNvPr id="10" name="TextBox 9"/>
          <p:cNvSpPr txBox="1"/>
          <p:nvPr/>
        </p:nvSpPr>
        <p:spPr>
          <a:xfrm>
            <a:off x="5220072" y="4077072"/>
            <a:ext cx="3600400" cy="1323439"/>
          </a:xfrm>
          <a:prstGeom prst="rect">
            <a:avLst/>
          </a:prstGeom>
          <a:noFill/>
        </p:spPr>
        <p:txBody>
          <a:bodyPr wrap="square" rtlCol="0">
            <a:spAutoFit/>
          </a:bodyPr>
          <a:lstStyle/>
          <a:p>
            <a:r>
              <a:rPr lang="zh-CN" altLang="en-US" sz="2000" dirty="0">
                <a:latin typeface="楷体" panose="02010609060101010101" pitchFamily="49" charset="-122"/>
                <a:ea typeface="楷体" panose="02010609060101010101" pitchFamily="49" charset="-122"/>
              </a:rPr>
              <a:t>将杆数由</a:t>
            </a:r>
            <a:r>
              <a:rPr lang="en-US" altLang="zh-CN" sz="2000" dirty="0">
                <a:latin typeface="楷体" panose="02010609060101010101" pitchFamily="49" charset="-122"/>
                <a:ea typeface="楷体" panose="02010609060101010101" pitchFamily="49" charset="-122"/>
              </a:rPr>
              <a:t>5</a:t>
            </a:r>
            <a:r>
              <a:rPr lang="zh-CN" altLang="en-US" sz="2000" dirty="0">
                <a:latin typeface="楷体" panose="02010609060101010101" pitchFamily="49" charset="-122"/>
                <a:ea typeface="楷体" panose="02010609060101010101" pitchFamily="49" charset="-122"/>
              </a:rPr>
              <a:t>减少为</a:t>
            </a:r>
            <a:r>
              <a:rPr lang="en-US" altLang="zh-CN" sz="2000" dirty="0">
                <a:latin typeface="楷体" panose="02010609060101010101" pitchFamily="49" charset="-122"/>
                <a:ea typeface="楷体" panose="02010609060101010101" pitchFamily="49" charset="-122"/>
              </a:rPr>
              <a:t>2</a:t>
            </a:r>
            <a:r>
              <a:rPr lang="zh-CN" altLang="en-US" sz="2000" dirty="0">
                <a:latin typeface="楷体" panose="02010609060101010101" pitchFamily="49" charset="-122"/>
                <a:ea typeface="楷体" panose="02010609060101010101" pitchFamily="49" charset="-122"/>
              </a:rPr>
              <a:t>，这时的结构是静定的；如果杆数大于（或等于）</a:t>
            </a:r>
            <a:r>
              <a:rPr lang="en-US" altLang="zh-CN" sz="2000" dirty="0">
                <a:latin typeface="楷体" panose="02010609060101010101" pitchFamily="49" charset="-122"/>
                <a:ea typeface="楷体" panose="02010609060101010101" pitchFamily="49" charset="-122"/>
              </a:rPr>
              <a:t>3</a:t>
            </a:r>
            <a:r>
              <a:rPr lang="zh-CN" altLang="en-US" sz="2000" dirty="0">
                <a:latin typeface="楷体" panose="02010609060101010101" pitchFamily="49" charset="-122"/>
                <a:ea typeface="楷体" panose="02010609060101010101" pitchFamily="49" charset="-122"/>
              </a:rPr>
              <a:t>时，结构是超静定的。</a:t>
            </a:r>
            <a:endParaRPr lang="en-US" altLang="zh-CN" sz="2000" dirty="0">
              <a:latin typeface="楷体" panose="02010609060101010101" pitchFamily="49" charset="-122"/>
              <a:ea typeface="楷体" panose="02010609060101010101" pitchFamily="49" charset="-122"/>
            </a:endParaRPr>
          </a:p>
        </p:txBody>
      </p:sp>
      <p:sp>
        <p:nvSpPr>
          <p:cNvPr id="11" name="TextBox 10"/>
          <p:cNvSpPr txBox="1"/>
          <p:nvPr/>
        </p:nvSpPr>
        <p:spPr>
          <a:xfrm>
            <a:off x="5292080" y="5583143"/>
            <a:ext cx="3456384" cy="707886"/>
          </a:xfrm>
          <a:prstGeom prst="rect">
            <a:avLst/>
          </a:prstGeom>
          <a:noFill/>
        </p:spPr>
        <p:txBody>
          <a:bodyPr wrap="square" rtlCol="0">
            <a:spAutoFit/>
          </a:bodyPr>
          <a:lstStyle/>
          <a:p>
            <a:r>
              <a:rPr lang="zh-CN" altLang="en-US" sz="2000" dirty="0">
                <a:solidFill>
                  <a:srgbClr val="FF0000"/>
                </a:solidFill>
                <a:latin typeface="楷体" panose="02010609060101010101" pitchFamily="49" charset="-122"/>
                <a:ea typeface="楷体" panose="02010609060101010101" pitchFamily="49" charset="-122"/>
              </a:rPr>
              <a:t>以上两种情况都可以用上述方法计算！</a:t>
            </a:r>
          </a:p>
        </p:txBody>
      </p:sp>
      <p:grpSp>
        <p:nvGrpSpPr>
          <p:cNvPr id="14" name="Group 13"/>
          <p:cNvGrpSpPr/>
          <p:nvPr/>
        </p:nvGrpSpPr>
        <p:grpSpPr>
          <a:xfrm>
            <a:off x="467544" y="1412776"/>
            <a:ext cx="8280920" cy="1152128"/>
            <a:chOff x="467544" y="1412776"/>
            <a:chExt cx="8280920" cy="1152128"/>
          </a:xfrm>
        </p:grpSpPr>
        <p:sp>
          <p:nvSpPr>
            <p:cNvPr id="3" name="TextBox 2"/>
            <p:cNvSpPr txBox="1"/>
            <p:nvPr/>
          </p:nvSpPr>
          <p:spPr>
            <a:xfrm>
              <a:off x="467544" y="1412776"/>
              <a:ext cx="8280920" cy="492443"/>
            </a:xfrm>
            <a:prstGeom prst="rect">
              <a:avLst/>
            </a:prstGeom>
            <a:noFill/>
          </p:spPr>
          <p:txBody>
            <a:bodyPr wrap="square" rtlCol="0">
              <a:spAutoFit/>
            </a:bodyPr>
            <a:lstStyle/>
            <a:p>
              <a:r>
                <a:rPr lang="zh-CN" altLang="en-US" sz="2600" dirty="0">
                  <a:latin typeface="楷体" panose="02010609060101010101" pitchFamily="49" charset="-122"/>
                  <a:ea typeface="楷体" panose="02010609060101010101" pitchFamily="49" charset="-122"/>
                </a:rPr>
                <a:t>位移法基本方程：</a:t>
              </a:r>
            </a:p>
          </p:txBody>
        </p:sp>
        <p:grpSp>
          <p:nvGrpSpPr>
            <p:cNvPr id="13" name="Group 12"/>
            <p:cNvGrpSpPr/>
            <p:nvPr/>
          </p:nvGrpSpPr>
          <p:grpSpPr>
            <a:xfrm>
              <a:off x="2771800" y="1905219"/>
              <a:ext cx="1944216" cy="659685"/>
              <a:chOff x="2771800" y="1905219"/>
              <a:chExt cx="1944216" cy="659685"/>
            </a:xfrm>
          </p:grpSpPr>
          <p:graphicFrame>
            <p:nvGraphicFramePr>
              <p:cNvPr id="4" name="Object 3"/>
              <p:cNvGraphicFramePr>
                <a:graphicFrameLocks noChangeAspect="1"/>
              </p:cNvGraphicFramePr>
              <p:nvPr>
                <p:extLst>
                  <p:ext uri="{D42A27DB-BD31-4B8C-83A1-F6EECF244321}">
                    <p14:modId xmlns:p14="http://schemas.microsoft.com/office/powerpoint/2010/main" val="4057440541"/>
                  </p:ext>
                </p:extLst>
              </p:nvPr>
            </p:nvGraphicFramePr>
            <p:xfrm>
              <a:off x="2857795" y="1988840"/>
              <a:ext cx="1714500" cy="571500"/>
            </p:xfrm>
            <a:graphic>
              <a:graphicData uri="http://schemas.openxmlformats.org/presentationml/2006/ole">
                <mc:AlternateContent xmlns:mc="http://schemas.openxmlformats.org/markup-compatibility/2006">
                  <mc:Choice xmlns:v="urn:schemas-microsoft-com:vml" Requires="v">
                    <p:oleObj spid="_x0000_s47771" name="Equation" r:id="rId8" imgW="1714320" imgH="571320" progId="Equation.DSMT4">
                      <p:embed/>
                    </p:oleObj>
                  </mc:Choice>
                  <mc:Fallback>
                    <p:oleObj name="Equation" r:id="rId8" imgW="1714320" imgH="571320" progId="Equation.DSMT4">
                      <p:embed/>
                      <p:pic>
                        <p:nvPicPr>
                          <p:cNvPr id="0" name=""/>
                          <p:cNvPicPr/>
                          <p:nvPr/>
                        </p:nvPicPr>
                        <p:blipFill>
                          <a:blip r:embed="rId9"/>
                          <a:stretch>
                            <a:fillRect/>
                          </a:stretch>
                        </p:blipFill>
                        <p:spPr>
                          <a:xfrm>
                            <a:off x="2857795" y="1988840"/>
                            <a:ext cx="1714500" cy="571500"/>
                          </a:xfrm>
                          <a:prstGeom prst="rect">
                            <a:avLst/>
                          </a:prstGeom>
                        </p:spPr>
                      </p:pic>
                    </p:oleObj>
                  </mc:Fallback>
                </mc:AlternateContent>
              </a:graphicData>
            </a:graphic>
          </p:graphicFrame>
          <p:sp>
            <p:nvSpPr>
              <p:cNvPr id="12" name="Rectangle 11"/>
              <p:cNvSpPr/>
              <p:nvPr/>
            </p:nvSpPr>
            <p:spPr bwMode="auto">
              <a:xfrm>
                <a:off x="2771800" y="1905219"/>
                <a:ext cx="1944216" cy="659685"/>
              </a:xfrm>
              <a:prstGeom prst="rect">
                <a:avLst/>
              </a:prstGeom>
              <a:noFill/>
              <a:ln w="952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grpSp>
    </p:spTree>
    <p:extLst>
      <p:ext uri="{BB962C8B-B14F-4D97-AF65-F5344CB8AC3E}">
        <p14:creationId xmlns:p14="http://schemas.microsoft.com/office/powerpoint/2010/main" val="2919216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barn(inVertical)">
                                      <p:cBhvr>
                                        <p:cTn id="21" dur="500"/>
                                        <p:tgtEl>
                                          <p:spTgt spid="6"/>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animEffect transition="in" filter="fade">
                                      <p:cBhvr>
                                        <p:cTn id="28" dur="500"/>
                                        <p:tgtEl>
                                          <p:spTgt spid="7"/>
                                        </p:tgtEl>
                                      </p:cBhvr>
                                    </p:animEffect>
                                  </p:childTnLst>
                                </p:cTn>
                              </p:par>
                            </p:childTnLst>
                          </p:cTn>
                        </p:par>
                      </p:childTnLst>
                    </p:cTn>
                  </p:par>
                  <p:par>
                    <p:cTn id="29" fill="hold">
                      <p:stCondLst>
                        <p:cond delay="indefinite"/>
                      </p:stCondLst>
                      <p:childTnLst>
                        <p:par>
                          <p:cTn id="30" fill="hold">
                            <p:stCondLst>
                              <p:cond delay="0"/>
                            </p:stCondLst>
                            <p:childTnLst>
                              <p:par>
                                <p:cTn id="31" presetID="6" presetClass="entr" presetSubtype="16"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circle(in)">
                                      <p:cBhvr>
                                        <p:cTn id="33" dur="2000"/>
                                        <p:tgtEl>
                                          <p:spTgt spid="15"/>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down)">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barn(inVertical)">
                                      <p:cBhvr>
                                        <p:cTn id="4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7-1</a:t>
            </a:r>
            <a:r>
              <a:rPr lang="zh-CN" altLang="en-US" dirty="0"/>
              <a:t>位移法基本概念</a:t>
            </a:r>
          </a:p>
        </p:txBody>
      </p:sp>
      <p:sp>
        <p:nvSpPr>
          <p:cNvPr id="3" name="TextBox 2"/>
          <p:cNvSpPr txBox="1"/>
          <p:nvPr/>
        </p:nvSpPr>
        <p:spPr>
          <a:xfrm>
            <a:off x="467544" y="1442252"/>
            <a:ext cx="8208912" cy="461665"/>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由上面的简例，可归纳出</a:t>
            </a:r>
            <a:r>
              <a:rPr lang="zh-CN" altLang="en-US" sz="2400" dirty="0">
                <a:solidFill>
                  <a:srgbClr val="FF3399"/>
                </a:solidFill>
                <a:latin typeface="楷体" panose="02010609060101010101" pitchFamily="49" charset="-122"/>
                <a:ea typeface="楷体" panose="02010609060101010101" pitchFamily="49" charset="-122"/>
              </a:rPr>
              <a:t>位移法的要点</a:t>
            </a:r>
            <a:r>
              <a:rPr lang="zh-CN" altLang="en-US" sz="2400" dirty="0">
                <a:latin typeface="楷体" panose="02010609060101010101" pitchFamily="49" charset="-122"/>
                <a:ea typeface="楷体" panose="02010609060101010101" pitchFamily="49" charset="-122"/>
              </a:rPr>
              <a:t>如下：</a:t>
            </a:r>
          </a:p>
        </p:txBody>
      </p:sp>
      <p:sp>
        <p:nvSpPr>
          <p:cNvPr id="4" name="Rectangle 4"/>
          <p:cNvSpPr>
            <a:spLocks noChangeArrowheads="1"/>
          </p:cNvSpPr>
          <p:nvPr/>
        </p:nvSpPr>
        <p:spPr bwMode="auto">
          <a:xfrm>
            <a:off x="755576" y="2060848"/>
            <a:ext cx="763284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200" dirty="0">
                <a:solidFill>
                  <a:srgbClr val="FF3300"/>
                </a:solidFill>
                <a:latin typeface="楷体" panose="02010609060101010101" pitchFamily="49" charset="-122"/>
                <a:ea typeface="楷体" panose="02010609060101010101" pitchFamily="49" charset="-122"/>
              </a:rPr>
              <a:t>一、位移法的基本未知量</a:t>
            </a:r>
          </a:p>
        </p:txBody>
      </p:sp>
      <p:sp>
        <p:nvSpPr>
          <p:cNvPr id="5" name="Rectangle 6"/>
          <p:cNvSpPr>
            <a:spLocks noChangeArrowheads="1"/>
          </p:cNvSpPr>
          <p:nvPr/>
        </p:nvSpPr>
        <p:spPr bwMode="auto">
          <a:xfrm>
            <a:off x="1187624" y="2537593"/>
            <a:ext cx="68407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sz="2000" dirty="0">
                <a:solidFill>
                  <a:srgbClr val="0000CC"/>
                </a:solidFill>
                <a:latin typeface="楷体" panose="02010609060101010101" pitchFamily="49" charset="-122"/>
                <a:ea typeface="楷体" panose="02010609060101010101" pitchFamily="49" charset="-122"/>
              </a:rPr>
              <a:t>1. </a:t>
            </a:r>
            <a:r>
              <a:rPr lang="zh-CN" altLang="en-US" sz="2000" dirty="0">
                <a:solidFill>
                  <a:srgbClr val="0000CC"/>
                </a:solidFill>
                <a:latin typeface="楷体" panose="02010609060101010101" pitchFamily="49" charset="-122"/>
                <a:ea typeface="楷体" panose="02010609060101010101" pitchFamily="49" charset="-122"/>
              </a:rPr>
              <a:t>独立的结点角位移和独立的结点线位移</a:t>
            </a:r>
          </a:p>
        </p:txBody>
      </p:sp>
      <p:sp>
        <p:nvSpPr>
          <p:cNvPr id="6" name="Rectangle 2"/>
          <p:cNvSpPr>
            <a:spLocks noChangeArrowheads="1"/>
          </p:cNvSpPr>
          <p:nvPr/>
        </p:nvSpPr>
        <p:spPr bwMode="auto">
          <a:xfrm>
            <a:off x="1470816" y="3138960"/>
            <a:ext cx="6192688"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458788">
              <a:spcBef>
                <a:spcPct val="0"/>
              </a:spcBef>
              <a:defRPr>
                <a:solidFill>
                  <a:schemeClr val="tx1"/>
                </a:solidFill>
                <a:latin typeface="Arial" pitchFamily="34" charset="0"/>
                <a:ea typeface="宋体" pitchFamily="2" charset="-122"/>
              </a:defRPr>
            </a:lvl1pPr>
            <a:lvl2pPr>
              <a:spcBef>
                <a:spcPct val="0"/>
              </a:spcBef>
              <a:defRPr>
                <a:solidFill>
                  <a:schemeClr val="tx1"/>
                </a:solidFill>
                <a:latin typeface="Arial" pitchFamily="34" charset="0"/>
                <a:ea typeface="宋体" pitchFamily="2" charset="-122"/>
              </a:defRPr>
            </a:lvl2pPr>
            <a:lvl3pPr>
              <a:spcBef>
                <a:spcPct val="0"/>
              </a:spcBef>
              <a:defRPr>
                <a:solidFill>
                  <a:schemeClr val="tx1"/>
                </a:solidFill>
                <a:latin typeface="Arial" pitchFamily="34" charset="0"/>
                <a:ea typeface="宋体" pitchFamily="2" charset="-122"/>
              </a:defRPr>
            </a:lvl3pPr>
            <a:lvl4pPr>
              <a:spcBef>
                <a:spcPct val="0"/>
              </a:spcBef>
              <a:defRPr>
                <a:solidFill>
                  <a:schemeClr val="tx1"/>
                </a:solidFill>
                <a:latin typeface="Arial" pitchFamily="34" charset="0"/>
                <a:ea typeface="宋体" pitchFamily="2" charset="-122"/>
              </a:defRPr>
            </a:lvl4pPr>
            <a:lvl5pPr>
              <a:spcBef>
                <a:spcPct val="0"/>
              </a:spcBef>
              <a:defRPr>
                <a:solidFill>
                  <a:schemeClr val="tx1"/>
                </a:solidFill>
                <a:latin typeface="Arial" pitchFamily="34" charset="0"/>
                <a:ea typeface="宋体" pitchFamily="2" charset="-122"/>
              </a:defRPr>
            </a:lvl5pPr>
            <a:lvl6pPr fontAlgn="base">
              <a:spcBef>
                <a:spcPct val="0"/>
              </a:spcBef>
              <a:spcAft>
                <a:spcPct val="0"/>
              </a:spcAft>
              <a:defRPr>
                <a:solidFill>
                  <a:schemeClr val="tx1"/>
                </a:solidFill>
                <a:latin typeface="Arial" pitchFamily="34" charset="0"/>
                <a:ea typeface="宋体" pitchFamily="2" charset="-122"/>
              </a:defRPr>
            </a:lvl6pPr>
            <a:lvl7pPr fontAlgn="base">
              <a:spcBef>
                <a:spcPct val="0"/>
              </a:spcBef>
              <a:spcAft>
                <a:spcPct val="0"/>
              </a:spcAft>
              <a:defRPr>
                <a:solidFill>
                  <a:schemeClr val="tx1"/>
                </a:solidFill>
                <a:latin typeface="Arial" pitchFamily="34" charset="0"/>
                <a:ea typeface="宋体" pitchFamily="2" charset="-122"/>
              </a:defRPr>
            </a:lvl7pPr>
            <a:lvl8pPr fontAlgn="base">
              <a:spcBef>
                <a:spcPct val="0"/>
              </a:spcBef>
              <a:spcAft>
                <a:spcPct val="0"/>
              </a:spcAft>
              <a:defRPr>
                <a:solidFill>
                  <a:schemeClr val="tx1"/>
                </a:solidFill>
                <a:latin typeface="Arial" pitchFamily="34" charset="0"/>
                <a:ea typeface="宋体" pitchFamily="2" charset="-122"/>
              </a:defRPr>
            </a:lvl8pPr>
            <a:lvl9pPr fontAlgn="base">
              <a:spcBef>
                <a:spcPct val="0"/>
              </a:spcBef>
              <a:spcAft>
                <a:spcPct val="0"/>
              </a:spcAft>
              <a:defRPr>
                <a:solidFill>
                  <a:schemeClr val="tx1"/>
                </a:solidFill>
                <a:latin typeface="Arial" pitchFamily="34" charset="0"/>
                <a:ea typeface="宋体" pitchFamily="2" charset="-122"/>
              </a:defRPr>
            </a:lvl9pPr>
          </a:lstStyle>
          <a:p>
            <a:pPr indent="0"/>
            <a:r>
              <a:rPr lang="zh-CN" altLang="en-US" sz="2000" dirty="0">
                <a:solidFill>
                  <a:srgbClr val="FF0000"/>
                </a:solidFill>
                <a:latin typeface="楷体" panose="02010609060101010101" pitchFamily="49" charset="-122"/>
                <a:ea typeface="楷体" panose="02010609060101010101" pitchFamily="49" charset="-122"/>
              </a:rPr>
              <a:t>结点角位移</a:t>
            </a:r>
            <a:r>
              <a:rPr lang="zh-CN" altLang="en-US" sz="2000" dirty="0">
                <a:latin typeface="楷体" panose="02010609060101010101" pitchFamily="49" charset="-122"/>
                <a:ea typeface="楷体" panose="02010609060101010101" pitchFamily="49" charset="-122"/>
              </a:rPr>
              <a:t>基本未知量数目</a:t>
            </a:r>
            <a:r>
              <a:rPr lang="en-US" altLang="zh-CN" sz="2000" dirty="0">
                <a:latin typeface="楷体" panose="02010609060101010101" pitchFamily="49" charset="-122"/>
                <a:ea typeface="楷体" panose="02010609060101010101" pitchFamily="49" charset="-122"/>
              </a:rPr>
              <a:t>=</a:t>
            </a:r>
            <a:r>
              <a:rPr lang="zh-CN" altLang="en-US" sz="2000" dirty="0">
                <a:solidFill>
                  <a:srgbClr val="FF0000"/>
                </a:solidFill>
                <a:latin typeface="楷体" panose="02010609060101010101" pitchFamily="49" charset="-122"/>
                <a:ea typeface="楷体" panose="02010609060101010101" pitchFamily="49" charset="-122"/>
              </a:rPr>
              <a:t>刚结点的数目</a:t>
            </a:r>
            <a:r>
              <a:rPr lang="zh-CN" altLang="en-US" sz="2000" dirty="0">
                <a:latin typeface="楷体" panose="02010609060101010101" pitchFamily="49" charset="-122"/>
                <a:ea typeface="楷体" panose="02010609060101010101" pitchFamily="49" charset="-122"/>
              </a:rPr>
              <a:t>。</a:t>
            </a:r>
            <a:endParaRPr lang="zh-CN" altLang="en-US" sz="2000" b="0" dirty="0">
              <a:latin typeface="楷体" panose="02010609060101010101" pitchFamily="49" charset="-122"/>
              <a:ea typeface="楷体" panose="02010609060101010101" pitchFamily="49" charset="-122"/>
            </a:endParaRPr>
          </a:p>
        </p:txBody>
      </p:sp>
      <p:sp>
        <p:nvSpPr>
          <p:cNvPr id="7" name="Rectangle 5"/>
          <p:cNvSpPr>
            <a:spLocks noChangeArrowheads="1"/>
          </p:cNvSpPr>
          <p:nvPr/>
        </p:nvSpPr>
        <p:spPr bwMode="auto">
          <a:xfrm>
            <a:off x="1426600" y="3710935"/>
            <a:ext cx="619268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0"/>
              </a:spcBef>
            </a:pPr>
            <a:r>
              <a:rPr lang="zh-CN" altLang="en-US" sz="2000" dirty="0">
                <a:solidFill>
                  <a:srgbClr val="A50021"/>
                </a:solidFill>
                <a:latin typeface="楷体" panose="02010609060101010101" pitchFamily="49" charset="-122"/>
                <a:ea typeface="楷体" panose="02010609060101010101" pitchFamily="49" charset="-122"/>
              </a:rPr>
              <a:t>铰结点处</a:t>
            </a:r>
            <a:r>
              <a:rPr lang="en-US" altLang="zh-CN" sz="2000" dirty="0">
                <a:solidFill>
                  <a:srgbClr val="A50021"/>
                </a:solidFill>
                <a:latin typeface="楷体" panose="02010609060101010101" pitchFamily="49" charset="-122"/>
                <a:ea typeface="楷体" panose="02010609060101010101" pitchFamily="49" charset="-122"/>
              </a:rPr>
              <a:t>(</a:t>
            </a:r>
            <a:r>
              <a:rPr lang="zh-CN" altLang="en-US" sz="2000" dirty="0">
                <a:solidFill>
                  <a:srgbClr val="A50021"/>
                </a:solidFill>
                <a:latin typeface="楷体" panose="02010609060101010101" pitchFamily="49" charset="-122"/>
                <a:ea typeface="楷体" panose="02010609060101010101" pitchFamily="49" charset="-122"/>
              </a:rPr>
              <a:t>包括铰支座处的铰结点</a:t>
            </a:r>
            <a:r>
              <a:rPr lang="en-US" altLang="zh-CN" sz="2000" dirty="0">
                <a:solidFill>
                  <a:srgbClr val="A50021"/>
                </a:solidFill>
                <a:latin typeface="楷体" panose="02010609060101010101" pitchFamily="49" charset="-122"/>
                <a:ea typeface="楷体" panose="02010609060101010101" pitchFamily="49" charset="-122"/>
              </a:rPr>
              <a:t>)</a:t>
            </a:r>
            <a:r>
              <a:rPr lang="zh-CN" altLang="en-US" sz="2000" dirty="0">
                <a:solidFill>
                  <a:srgbClr val="A50021"/>
                </a:solidFill>
                <a:latin typeface="楷体" panose="02010609060101010101" pitchFamily="49" charset="-122"/>
                <a:ea typeface="楷体" panose="02010609060101010101" pitchFamily="49" charset="-122"/>
              </a:rPr>
              <a:t>的角位移，在计算杆端弯矩时不独立，一般不选作基本未知量。</a:t>
            </a:r>
          </a:p>
        </p:txBody>
      </p:sp>
      <p:sp>
        <p:nvSpPr>
          <p:cNvPr id="8" name="Rectangle 3"/>
          <p:cNvSpPr>
            <a:spLocks noChangeArrowheads="1"/>
          </p:cNvSpPr>
          <p:nvPr/>
        </p:nvSpPr>
        <p:spPr bwMode="auto">
          <a:xfrm>
            <a:off x="1142999" y="4797152"/>
            <a:ext cx="7345363" cy="769441"/>
          </a:xfrm>
          <a:prstGeom prst="rect">
            <a:avLst/>
          </a:prstGeom>
          <a:solidFill>
            <a:srgbClr val="CC99FF"/>
          </a:solidFill>
          <a:ln w="101600" cmpd="tri">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zh-CN" altLang="en-US" sz="2200" dirty="0">
                <a:latin typeface="楷体" panose="02010609060101010101" pitchFamily="49" charset="-122"/>
                <a:ea typeface="楷体" panose="02010609060101010101" pitchFamily="49" charset="-122"/>
              </a:rPr>
              <a:t>注意：在可忽略直杆的轴向变形时，受弯直杆</a:t>
            </a:r>
            <a:r>
              <a:rPr lang="zh-CN" altLang="en-US" sz="2200" b="1" dirty="0">
                <a:solidFill>
                  <a:srgbClr val="FF0000"/>
                </a:solidFill>
                <a:latin typeface="楷体" panose="02010609060101010101" pitchFamily="49" charset="-122"/>
                <a:ea typeface="楷体" panose="02010609060101010101" pitchFamily="49" charset="-122"/>
              </a:rPr>
              <a:t>两端之间的距离</a:t>
            </a:r>
            <a:r>
              <a:rPr lang="zh-CN" altLang="en-US" sz="2200" dirty="0">
                <a:latin typeface="楷体" panose="02010609060101010101" pitchFamily="49" charset="-122"/>
                <a:ea typeface="楷体" panose="02010609060101010101" pitchFamily="49" charset="-122"/>
              </a:rPr>
              <a:t>保持不变。</a:t>
            </a:r>
            <a:endParaRPr lang="zh-CN" altLang="en-US" sz="2200" b="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19216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up)">
                                      <p:cBhvr>
                                        <p:cTn id="2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autoUpdateAnimBg="0"/>
      <p:bldP spid="7" grpId="0" autoUpdateAnimBg="0"/>
      <p:bldP spid="8"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7-1</a:t>
            </a:r>
            <a:r>
              <a:rPr lang="zh-CN" altLang="en-US" dirty="0"/>
              <a:t>位移法基本概念</a:t>
            </a:r>
          </a:p>
        </p:txBody>
      </p:sp>
      <p:sp>
        <p:nvSpPr>
          <p:cNvPr id="3" name="Rectangle 2"/>
          <p:cNvSpPr>
            <a:spLocks noChangeArrowheads="1"/>
          </p:cNvSpPr>
          <p:nvPr/>
        </p:nvSpPr>
        <p:spPr bwMode="auto">
          <a:xfrm>
            <a:off x="1187624" y="1412776"/>
            <a:ext cx="684076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n-US" altLang="zh-CN" sz="2000" dirty="0">
                <a:solidFill>
                  <a:srgbClr val="0000CC"/>
                </a:solidFill>
                <a:latin typeface="楷体" panose="02010609060101010101" pitchFamily="49" charset="-122"/>
                <a:ea typeface="楷体" panose="02010609060101010101" pitchFamily="49" charset="-122"/>
              </a:rPr>
              <a:t>2. </a:t>
            </a:r>
            <a:r>
              <a:rPr lang="zh-CN" altLang="en-US" sz="2400" dirty="0">
                <a:solidFill>
                  <a:srgbClr val="0000CC"/>
                </a:solidFill>
                <a:latin typeface="楷体" panose="02010609060101010101" pitchFamily="49" charset="-122"/>
                <a:ea typeface="楷体" panose="02010609060101010101" pitchFamily="49" charset="-122"/>
              </a:rPr>
              <a:t>确定独立结点线位移的方法</a:t>
            </a:r>
            <a:r>
              <a:rPr lang="en-US" altLang="zh-CN" sz="2400" dirty="0">
                <a:solidFill>
                  <a:srgbClr val="0000CC"/>
                </a:solidFill>
                <a:latin typeface="楷体" panose="02010609060101010101" pitchFamily="49" charset="-122"/>
                <a:ea typeface="楷体" panose="02010609060101010101" pitchFamily="49" charset="-122"/>
              </a:rPr>
              <a:t>—— </a:t>
            </a:r>
            <a:r>
              <a:rPr lang="zh-CN" altLang="en-US" sz="2400" dirty="0">
                <a:solidFill>
                  <a:srgbClr val="0000CC"/>
                </a:solidFill>
                <a:latin typeface="楷体" panose="02010609060101010101" pitchFamily="49" charset="-122"/>
                <a:ea typeface="楷体" panose="02010609060101010101" pitchFamily="49" charset="-122"/>
              </a:rPr>
              <a:t>观察法、换铰法。</a:t>
            </a:r>
          </a:p>
        </p:txBody>
      </p:sp>
      <p:sp>
        <p:nvSpPr>
          <p:cNvPr id="4" name="Rectangle 5"/>
          <p:cNvSpPr>
            <a:spLocks noChangeArrowheads="1"/>
          </p:cNvSpPr>
          <p:nvPr/>
        </p:nvSpPr>
        <p:spPr bwMode="auto">
          <a:xfrm>
            <a:off x="1364202" y="2636912"/>
            <a:ext cx="118494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zh-CN" altLang="en-US" sz="2600" dirty="0">
                <a:solidFill>
                  <a:srgbClr val="FF3300"/>
                </a:solidFill>
              </a:rPr>
              <a:t>观察法</a:t>
            </a:r>
          </a:p>
        </p:txBody>
      </p:sp>
      <p:graphicFrame>
        <p:nvGraphicFramePr>
          <p:cNvPr id="5" name="Object 4"/>
          <p:cNvGraphicFramePr>
            <a:graphicFrameLocks noChangeAspect="1"/>
          </p:cNvGraphicFramePr>
          <p:nvPr>
            <p:extLst>
              <p:ext uri="{D42A27DB-BD31-4B8C-83A1-F6EECF244321}">
                <p14:modId xmlns:p14="http://schemas.microsoft.com/office/powerpoint/2010/main" val="2108089790"/>
              </p:ext>
            </p:extLst>
          </p:nvPr>
        </p:nvGraphicFramePr>
        <p:xfrm>
          <a:off x="2987824" y="2132856"/>
          <a:ext cx="4114800" cy="3100387"/>
        </p:xfrm>
        <a:graphic>
          <a:graphicData uri="http://schemas.openxmlformats.org/presentationml/2006/ole">
            <mc:AlternateContent xmlns:mc="http://schemas.openxmlformats.org/markup-compatibility/2006">
              <mc:Choice xmlns:v="urn:schemas-microsoft-com:vml" Requires="v">
                <p:oleObj spid="_x0000_s1550" name="位图图像" r:id="rId4" imgW="3753374" imgH="2828571" progId="PBrush">
                  <p:embed/>
                </p:oleObj>
              </mc:Choice>
              <mc:Fallback>
                <p:oleObj name="位图图像" r:id="rId4" imgW="3753374" imgH="2828571" progId="PBrush">
                  <p:embed/>
                  <p:pic>
                    <p:nvPicPr>
                      <p:cNvPr id="0" name="Object 3"/>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87824" y="2132856"/>
                        <a:ext cx="4114800" cy="3100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4"/>
          <p:cNvSpPr>
            <a:spLocks noChangeArrowheads="1"/>
          </p:cNvSpPr>
          <p:nvPr/>
        </p:nvSpPr>
        <p:spPr bwMode="auto">
          <a:xfrm>
            <a:off x="1187624" y="5229200"/>
            <a:ext cx="6840760"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dirty="0">
                <a:ea typeface="仿宋_GB2312" pitchFamily="49" charset="-122"/>
              </a:rPr>
              <a:t>        </a:t>
            </a:r>
            <a:r>
              <a:rPr lang="zh-CN" altLang="en-US" sz="2200" dirty="0">
                <a:latin typeface="楷体" panose="02010609060101010101" pitchFamily="49" charset="-122"/>
                <a:ea typeface="楷体" panose="02010609060101010101" pitchFamily="49" charset="-122"/>
              </a:rPr>
              <a:t>结构有</a:t>
            </a:r>
            <a:r>
              <a:rPr lang="en-US" altLang="zh-CN" sz="2200" dirty="0">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个独立的线位移（</a:t>
            </a:r>
            <a:r>
              <a:rPr lang="en-US" altLang="zh-CN" sz="2200" i="1" dirty="0">
                <a:solidFill>
                  <a:srgbClr val="FF00FF"/>
                </a:solidFill>
                <a:latin typeface="楷体" panose="02010609060101010101" pitchFamily="49" charset="-122"/>
                <a:ea typeface="楷体" panose="02010609060101010101" pitchFamily="49" charset="-122"/>
              </a:rPr>
              <a:t>Z</a:t>
            </a:r>
            <a:r>
              <a:rPr lang="en-US" altLang="zh-CN" sz="2200" baseline="-25000" dirty="0">
                <a:solidFill>
                  <a:srgbClr val="FF00FF"/>
                </a:solidFill>
                <a:latin typeface="楷体" panose="02010609060101010101" pitchFamily="49" charset="-122"/>
                <a:ea typeface="楷体" panose="02010609060101010101" pitchFamily="49" charset="-122"/>
              </a:rPr>
              <a:t>3</a:t>
            </a:r>
            <a:r>
              <a:rPr lang="zh-CN" altLang="en-US" sz="2200" dirty="0">
                <a:latin typeface="楷体" panose="02010609060101010101" pitchFamily="49" charset="-122"/>
                <a:ea typeface="楷体" panose="02010609060101010101" pitchFamily="49" charset="-122"/>
              </a:rPr>
              <a:t>），</a:t>
            </a:r>
            <a:r>
              <a:rPr lang="en-US" altLang="zh-CN" sz="2200" dirty="0">
                <a:latin typeface="楷体" panose="02010609060101010101" pitchFamily="49" charset="-122"/>
                <a:ea typeface="楷体" panose="02010609060101010101" pitchFamily="49" charset="-122"/>
              </a:rPr>
              <a:t>2</a:t>
            </a:r>
            <a:r>
              <a:rPr lang="zh-CN" altLang="en-US" sz="2200" dirty="0">
                <a:latin typeface="楷体" panose="02010609060101010101" pitchFamily="49" charset="-122"/>
                <a:ea typeface="楷体" panose="02010609060101010101" pitchFamily="49" charset="-122"/>
              </a:rPr>
              <a:t>个独立的结点角位移（</a:t>
            </a:r>
            <a:r>
              <a:rPr lang="en-US" altLang="zh-CN" sz="2200" i="1" dirty="0">
                <a:solidFill>
                  <a:srgbClr val="FF00FF"/>
                </a:solidFill>
                <a:latin typeface="楷体" panose="02010609060101010101" pitchFamily="49" charset="-122"/>
                <a:ea typeface="楷体" panose="02010609060101010101" pitchFamily="49" charset="-122"/>
              </a:rPr>
              <a:t>Z</a:t>
            </a:r>
            <a:r>
              <a:rPr lang="en-US" altLang="zh-CN" sz="2200" baseline="-25000" dirty="0">
                <a:solidFill>
                  <a:srgbClr val="FF00FF"/>
                </a:solidFill>
                <a:latin typeface="楷体" panose="02010609060101010101" pitchFamily="49" charset="-122"/>
                <a:ea typeface="楷体" panose="02010609060101010101" pitchFamily="49" charset="-122"/>
              </a:rPr>
              <a:t>1</a:t>
            </a:r>
            <a:r>
              <a:rPr lang="zh-CN" altLang="en-US" sz="2200" dirty="0">
                <a:latin typeface="楷体" panose="02010609060101010101" pitchFamily="49" charset="-122"/>
                <a:ea typeface="楷体" panose="02010609060101010101" pitchFamily="49" charset="-122"/>
              </a:rPr>
              <a:t>、</a:t>
            </a:r>
            <a:r>
              <a:rPr lang="en-US" altLang="zh-CN" sz="2200" i="1" dirty="0">
                <a:solidFill>
                  <a:srgbClr val="FF00FF"/>
                </a:solidFill>
                <a:latin typeface="楷体" panose="02010609060101010101" pitchFamily="49" charset="-122"/>
                <a:ea typeface="楷体" panose="02010609060101010101" pitchFamily="49" charset="-122"/>
              </a:rPr>
              <a:t>Z</a:t>
            </a:r>
            <a:r>
              <a:rPr lang="en-US" altLang="zh-CN" sz="2200" baseline="-25000" dirty="0">
                <a:solidFill>
                  <a:srgbClr val="FF00FF"/>
                </a:solidFill>
                <a:latin typeface="楷体" panose="02010609060101010101" pitchFamily="49" charset="-122"/>
                <a:ea typeface="楷体" panose="02010609060101010101" pitchFamily="49" charset="-122"/>
              </a:rPr>
              <a:t>2</a:t>
            </a:r>
            <a:r>
              <a:rPr lang="zh-CN" altLang="en-US" sz="2200" dirty="0">
                <a:latin typeface="楷体" panose="02010609060101010101" pitchFamily="49" charset="-122"/>
                <a:ea typeface="楷体" panose="02010609060101010101" pitchFamily="49" charset="-122"/>
              </a:rPr>
              <a:t>），共三个位移法的基本未知量。</a:t>
            </a:r>
            <a:endParaRPr lang="zh-CN" altLang="en-US" sz="2200" b="0"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2919216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0-#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up)">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6"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7-1</a:t>
            </a:r>
            <a:r>
              <a:rPr lang="zh-CN" altLang="en-US" dirty="0"/>
              <a:t>位移法基本概念</a:t>
            </a:r>
          </a:p>
        </p:txBody>
      </p:sp>
      <p:sp>
        <p:nvSpPr>
          <p:cNvPr id="3" name="Rectangle 5"/>
          <p:cNvSpPr>
            <a:spLocks noChangeArrowheads="1"/>
          </p:cNvSpPr>
          <p:nvPr/>
        </p:nvSpPr>
        <p:spPr bwMode="auto">
          <a:xfrm>
            <a:off x="436236" y="1412776"/>
            <a:ext cx="601980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2200" dirty="0">
                <a:solidFill>
                  <a:srgbClr val="990000"/>
                </a:solidFill>
                <a:latin typeface="楷体" panose="02010609060101010101" pitchFamily="49" charset="-122"/>
                <a:ea typeface="楷体" panose="02010609060101010101" pitchFamily="49" charset="-122"/>
              </a:rPr>
              <a:t> </a:t>
            </a:r>
            <a:r>
              <a:rPr lang="zh-CN" altLang="en-US" sz="2200" dirty="0">
                <a:latin typeface="楷体" panose="02010609060101010101" pitchFamily="49" charset="-122"/>
                <a:ea typeface="楷体" panose="02010609060101010101" pitchFamily="49" charset="-122"/>
              </a:rPr>
              <a:t>对于不易观察的结构用</a:t>
            </a:r>
            <a:r>
              <a:rPr lang="zh-CN" altLang="en-US" sz="2200" dirty="0">
                <a:solidFill>
                  <a:srgbClr val="FF3300"/>
                </a:solidFill>
                <a:latin typeface="楷体" panose="02010609060101010101" pitchFamily="49" charset="-122"/>
                <a:ea typeface="楷体" panose="02010609060101010101" pitchFamily="49" charset="-122"/>
              </a:rPr>
              <a:t>换铰法</a:t>
            </a:r>
            <a:r>
              <a:rPr lang="zh-CN" altLang="en-US" sz="2200" dirty="0">
                <a:latin typeface="楷体" panose="02010609060101010101" pitchFamily="49" charset="-122"/>
                <a:ea typeface="楷体" panose="02010609060101010101" pitchFamily="49" charset="-122"/>
              </a:rPr>
              <a:t>。</a:t>
            </a:r>
          </a:p>
        </p:txBody>
      </p:sp>
      <p:graphicFrame>
        <p:nvGraphicFramePr>
          <p:cNvPr id="4" name="Object 3"/>
          <p:cNvGraphicFramePr>
            <a:graphicFrameLocks noChangeAspect="1"/>
          </p:cNvGraphicFramePr>
          <p:nvPr>
            <p:extLst>
              <p:ext uri="{D42A27DB-BD31-4B8C-83A1-F6EECF244321}">
                <p14:modId xmlns:p14="http://schemas.microsoft.com/office/powerpoint/2010/main" val="2813634801"/>
              </p:ext>
            </p:extLst>
          </p:nvPr>
        </p:nvGraphicFramePr>
        <p:xfrm>
          <a:off x="858090" y="1878457"/>
          <a:ext cx="3505200" cy="2641600"/>
        </p:xfrm>
        <a:graphic>
          <a:graphicData uri="http://schemas.openxmlformats.org/presentationml/2006/ole">
            <mc:AlternateContent xmlns:mc="http://schemas.openxmlformats.org/markup-compatibility/2006">
              <mc:Choice xmlns:v="urn:schemas-microsoft-com:vml" Requires="v">
                <p:oleObj spid="_x0000_s111628" name="位图图像" r:id="rId4" imgW="3753374" imgH="2828571" progId="PBrush">
                  <p:embed/>
                </p:oleObj>
              </mc:Choice>
              <mc:Fallback>
                <p:oleObj name="位图图像" r:id="rId4" imgW="3753374" imgH="2828571" progId="PBrush">
                  <p:embed/>
                  <p:pic>
                    <p:nvPicPr>
                      <p:cNvPr id="0" name="Object 3"/>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58090" y="1878457"/>
                        <a:ext cx="3505200" cy="264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589504627"/>
              </p:ext>
            </p:extLst>
          </p:nvPr>
        </p:nvGraphicFramePr>
        <p:xfrm>
          <a:off x="4813402" y="1988840"/>
          <a:ext cx="3829050" cy="2571750"/>
        </p:xfrm>
        <a:graphic>
          <a:graphicData uri="http://schemas.openxmlformats.org/presentationml/2006/ole">
            <mc:AlternateContent xmlns:mc="http://schemas.openxmlformats.org/markup-compatibility/2006">
              <mc:Choice xmlns:v="urn:schemas-microsoft-com:vml" Requires="v">
                <p:oleObj spid="_x0000_s111629" name="位图图像" r:id="rId6" imgW="3828571" imgH="2572109" progId="PBrush">
                  <p:embed/>
                </p:oleObj>
              </mc:Choice>
              <mc:Fallback>
                <p:oleObj name="位图图像" r:id="rId6" imgW="3828571" imgH="2572109" progId="PBrush">
                  <p:embed/>
                  <p:pic>
                    <p:nvPicPr>
                      <p:cNvPr id="0" name="Object 4"/>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813402" y="1988840"/>
                        <a:ext cx="3829050" cy="2571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6"/>
          <p:cNvSpPr>
            <a:spLocks noChangeArrowheads="1"/>
          </p:cNvSpPr>
          <p:nvPr/>
        </p:nvSpPr>
        <p:spPr bwMode="auto">
          <a:xfrm>
            <a:off x="844523" y="4502730"/>
            <a:ext cx="7560840" cy="144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200" dirty="0">
                <a:latin typeface="楷体" panose="02010609060101010101" pitchFamily="49" charset="-122"/>
                <a:ea typeface="楷体" panose="02010609060101010101" pitchFamily="49" charset="-122"/>
              </a:rPr>
              <a:t>先将原结构的每一个</a:t>
            </a:r>
            <a:r>
              <a:rPr lang="zh-CN" altLang="en-US" sz="2200" dirty="0">
                <a:solidFill>
                  <a:srgbClr val="FF0000"/>
                </a:solidFill>
                <a:latin typeface="楷体" panose="02010609060101010101" pitchFamily="49" charset="-122"/>
                <a:ea typeface="楷体" panose="02010609060101010101" pitchFamily="49" charset="-122"/>
              </a:rPr>
              <a:t>刚结点</a:t>
            </a:r>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包括固定支座</a:t>
            </a:r>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都</a:t>
            </a:r>
            <a:r>
              <a:rPr lang="zh-CN" altLang="en-US" sz="2200" dirty="0">
                <a:solidFill>
                  <a:srgbClr val="FF0000"/>
                </a:solidFill>
                <a:latin typeface="楷体" panose="02010609060101010101" pitchFamily="49" charset="-122"/>
                <a:ea typeface="楷体" panose="02010609060101010101" pitchFamily="49" charset="-122"/>
              </a:rPr>
              <a:t>变成铰结点</a:t>
            </a:r>
            <a:r>
              <a:rPr lang="zh-CN" altLang="en-US" sz="2200" dirty="0">
                <a:latin typeface="楷体" panose="02010609060101010101" pitchFamily="49" charset="-122"/>
                <a:ea typeface="楷体" panose="02010609060101010101" pitchFamily="49" charset="-122"/>
              </a:rPr>
              <a:t>，从而得到一个相应的铰结链杆体系。为保持该</a:t>
            </a:r>
            <a:r>
              <a:rPr lang="zh-CN" altLang="en-US" sz="2200" dirty="0">
                <a:solidFill>
                  <a:srgbClr val="FF0000"/>
                </a:solidFill>
                <a:latin typeface="楷体" panose="02010609060101010101" pitchFamily="49" charset="-122"/>
                <a:ea typeface="楷体" panose="02010609060101010101" pitchFamily="49" charset="-122"/>
              </a:rPr>
              <a:t>体系为几何不变</a:t>
            </a:r>
            <a:r>
              <a:rPr lang="zh-CN" altLang="en-US" sz="2200" dirty="0">
                <a:latin typeface="楷体" panose="02010609060101010101" pitchFamily="49" charset="-122"/>
                <a:ea typeface="楷体" panose="02010609060101010101" pitchFamily="49" charset="-122"/>
              </a:rPr>
              <a:t>所需增加</a:t>
            </a:r>
            <a:r>
              <a:rPr lang="zh-CN" altLang="en-US" sz="2200" dirty="0">
                <a:solidFill>
                  <a:srgbClr val="FF0000"/>
                </a:solidFill>
                <a:latin typeface="楷体" panose="02010609060101010101" pitchFamily="49" charset="-122"/>
                <a:ea typeface="楷体" panose="02010609060101010101" pitchFamily="49" charset="-122"/>
              </a:rPr>
              <a:t>链杆的最少数目</a:t>
            </a:r>
            <a:r>
              <a:rPr lang="zh-CN" altLang="en-US" sz="2200" dirty="0">
                <a:latin typeface="楷体" panose="02010609060101010101" pitchFamily="49" charset="-122"/>
                <a:ea typeface="楷体" panose="02010609060101010101" pitchFamily="49" charset="-122"/>
              </a:rPr>
              <a:t>就是原结构独立的结点线位移的数目。</a:t>
            </a:r>
            <a:endParaRPr lang="zh-CN" altLang="en-US" sz="2200" b="0" dirty="0">
              <a:latin typeface="楷体" panose="02010609060101010101" pitchFamily="49" charset="-122"/>
              <a:ea typeface="楷体" panose="02010609060101010101" pitchFamily="49" charset="-122"/>
            </a:endParaRPr>
          </a:p>
        </p:txBody>
      </p:sp>
      <p:sp>
        <p:nvSpPr>
          <p:cNvPr id="7" name="Rectangle 2"/>
          <p:cNvSpPr>
            <a:spLocks noChangeArrowheads="1"/>
          </p:cNvSpPr>
          <p:nvPr/>
        </p:nvSpPr>
        <p:spPr bwMode="auto">
          <a:xfrm>
            <a:off x="1796018" y="5933695"/>
            <a:ext cx="5657850"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0"/>
              </a:spcBef>
            </a:pPr>
            <a:r>
              <a:rPr lang="zh-CN" altLang="en-US" sz="2200" dirty="0">
                <a:solidFill>
                  <a:srgbClr val="A50021"/>
                </a:solidFill>
                <a:latin typeface="楷体" panose="02010609060101010101" pitchFamily="49" charset="-122"/>
                <a:ea typeface="楷体" panose="02010609060101010101" pitchFamily="49" charset="-122"/>
              </a:rPr>
              <a:t>只需增加一根链杆，</a:t>
            </a:r>
            <a:r>
              <a:rPr lang="en-US" altLang="zh-CN" sz="2200" dirty="0">
                <a:solidFill>
                  <a:srgbClr val="A50021"/>
                </a:solidFill>
                <a:latin typeface="楷体" panose="02010609060101010101" pitchFamily="49" charset="-122"/>
                <a:ea typeface="楷体" panose="02010609060101010101" pitchFamily="49" charset="-122"/>
              </a:rPr>
              <a:t>1</a:t>
            </a:r>
            <a:r>
              <a:rPr lang="zh-CN" altLang="en-US" sz="2200" dirty="0">
                <a:solidFill>
                  <a:srgbClr val="A50021"/>
                </a:solidFill>
                <a:latin typeface="楷体" panose="02010609060101010101" pitchFamily="49" charset="-122"/>
                <a:ea typeface="楷体" panose="02010609060101010101" pitchFamily="49" charset="-122"/>
              </a:rPr>
              <a:t>个独立的线位移</a:t>
            </a:r>
          </a:p>
        </p:txBody>
      </p:sp>
    </p:spTree>
    <p:extLst>
      <p:ext uri="{BB962C8B-B14F-4D97-AF65-F5344CB8AC3E}">
        <p14:creationId xmlns:p14="http://schemas.microsoft.com/office/powerpoint/2010/main" val="380576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0-#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lide(fromBottom)">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down)">
                                      <p:cBhvr>
                                        <p:cTn id="2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6" grpId="0" autoUpdateAnimBg="0"/>
      <p:bldP spid="7"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7-1</a:t>
            </a:r>
            <a:r>
              <a:rPr lang="zh-CN" altLang="en-US" dirty="0"/>
              <a:t>位移法基本概念</a:t>
            </a:r>
          </a:p>
        </p:txBody>
      </p:sp>
      <p:graphicFrame>
        <p:nvGraphicFramePr>
          <p:cNvPr id="3" name="Object 2"/>
          <p:cNvGraphicFramePr>
            <a:graphicFrameLocks noGrp="1" noChangeAspect="1"/>
          </p:cNvGraphicFramePr>
          <p:nvPr>
            <p:extLst>
              <p:ext uri="{D42A27DB-BD31-4B8C-83A1-F6EECF244321}">
                <p14:modId xmlns:p14="http://schemas.microsoft.com/office/powerpoint/2010/main" val="425904518"/>
              </p:ext>
            </p:extLst>
          </p:nvPr>
        </p:nvGraphicFramePr>
        <p:xfrm>
          <a:off x="683568" y="1312788"/>
          <a:ext cx="3241675" cy="2908300"/>
        </p:xfrm>
        <a:graphic>
          <a:graphicData uri="http://schemas.openxmlformats.org/presentationml/2006/ole">
            <mc:AlternateContent xmlns:mc="http://schemas.openxmlformats.org/markup-compatibility/2006">
              <mc:Choice xmlns:v="urn:schemas-microsoft-com:vml" Requires="v">
                <p:oleObj spid="_x0000_s8188" name="AutoCAD Drawing" r:id="rId4" imgW="8791575" imgH="4581525" progId="AutoCAD.Drawing.16">
                  <p:embed/>
                </p:oleObj>
              </mc:Choice>
              <mc:Fallback>
                <p:oleObj name="AutoCAD Drawing" r:id="rId4" imgW="8791575" imgH="4581525" progId="AutoCAD.Drawing.16">
                  <p:embed/>
                  <p:pic>
                    <p:nvPicPr>
                      <p:cNvPr id="0" name="Object 5"/>
                      <p:cNvPicPr>
                        <a:picLocks noGrp="1" noChangeAspect="1" noChangeArrowheads="1"/>
                      </p:cNvPicPr>
                      <p:nvPr/>
                    </p:nvPicPr>
                    <p:blipFill>
                      <a:blip r:embed="rId5">
                        <a:extLst>
                          <a:ext uri="{28A0092B-C50C-407E-A947-70E740481C1C}">
                            <a14:useLocalDpi xmlns:a14="http://schemas.microsoft.com/office/drawing/2010/main" val="0"/>
                          </a:ext>
                        </a:extLst>
                      </a:blip>
                      <a:srcRect t="10732" r="49371"/>
                      <a:stretch>
                        <a:fillRect/>
                      </a:stretch>
                    </p:blipFill>
                    <p:spPr bwMode="auto">
                      <a:xfrm>
                        <a:off x="683568" y="1312788"/>
                        <a:ext cx="3241675" cy="290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Object 3"/>
          <p:cNvGraphicFramePr>
            <a:graphicFrameLocks noGrp="1" noChangeAspect="1"/>
          </p:cNvGraphicFramePr>
          <p:nvPr>
            <p:extLst>
              <p:ext uri="{D42A27DB-BD31-4B8C-83A1-F6EECF244321}">
                <p14:modId xmlns:p14="http://schemas.microsoft.com/office/powerpoint/2010/main" val="3673765067"/>
              </p:ext>
            </p:extLst>
          </p:nvPr>
        </p:nvGraphicFramePr>
        <p:xfrm>
          <a:off x="5324868" y="1772816"/>
          <a:ext cx="2270125" cy="2374900"/>
        </p:xfrm>
        <a:graphic>
          <a:graphicData uri="http://schemas.openxmlformats.org/presentationml/2006/ole">
            <mc:AlternateContent xmlns:mc="http://schemas.openxmlformats.org/markup-compatibility/2006">
              <mc:Choice xmlns:v="urn:schemas-microsoft-com:vml" Requires="v">
                <p:oleObj spid="_x0000_s8189" name="AutoCAD Drawing" r:id="rId6" imgW="8791575" imgH="4581525" progId="AutoCAD.Drawing.16">
                  <p:embed/>
                </p:oleObj>
              </mc:Choice>
              <mc:Fallback>
                <p:oleObj name="AutoCAD Drawing" r:id="rId6" imgW="8791575" imgH="4581525" progId="AutoCAD.Drawing.16">
                  <p:embed/>
                  <p:pic>
                    <p:nvPicPr>
                      <p:cNvPr id="0" name="Object 6"/>
                      <p:cNvPicPr>
                        <a:picLocks noGrp="1" noChangeAspect="1" noChangeArrowheads="1"/>
                      </p:cNvPicPr>
                      <p:nvPr/>
                    </p:nvPicPr>
                    <p:blipFill>
                      <a:blip r:embed="rId5">
                        <a:extLst>
                          <a:ext uri="{28A0092B-C50C-407E-A947-70E740481C1C}">
                            <a14:useLocalDpi xmlns:a14="http://schemas.microsoft.com/office/drawing/2010/main" val="0"/>
                          </a:ext>
                        </a:extLst>
                      </a:blip>
                      <a:srcRect l="60612" t="25946" r="2344" b="3770"/>
                      <a:stretch>
                        <a:fillRect/>
                      </a:stretch>
                    </p:blipFill>
                    <p:spPr bwMode="auto">
                      <a:xfrm>
                        <a:off x="5324868" y="1772816"/>
                        <a:ext cx="2270125"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7"/>
          <p:cNvSpPr>
            <a:spLocks noChangeArrowheads="1"/>
          </p:cNvSpPr>
          <p:nvPr/>
        </p:nvSpPr>
        <p:spPr bwMode="auto">
          <a:xfrm>
            <a:off x="2051720" y="4266856"/>
            <a:ext cx="496855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200" dirty="0">
                <a:latin typeface="楷体" panose="02010609060101010101" pitchFamily="49" charset="-122"/>
                <a:ea typeface="楷体" panose="02010609060101010101" pitchFamily="49" charset="-122"/>
              </a:rPr>
              <a:t>结构有四个刚结点</a:t>
            </a:r>
            <a:r>
              <a:rPr lang="en-US" altLang="zh-CN" sz="2200" dirty="0">
                <a:latin typeface="楷体" panose="02010609060101010101" pitchFamily="49" charset="-122"/>
                <a:ea typeface="楷体" panose="02010609060101010101" pitchFamily="49" charset="-122"/>
              </a:rPr>
              <a:t>——</a:t>
            </a:r>
            <a:r>
              <a:rPr lang="zh-CN" altLang="en-US" sz="2200" dirty="0">
                <a:latin typeface="楷体" panose="02010609060101010101" pitchFamily="49" charset="-122"/>
                <a:ea typeface="楷体" panose="02010609060101010101" pitchFamily="49" charset="-122"/>
              </a:rPr>
              <a:t>四个结点角位移。</a:t>
            </a:r>
          </a:p>
        </p:txBody>
      </p:sp>
      <p:sp>
        <p:nvSpPr>
          <p:cNvPr id="6" name="Rectangle 4"/>
          <p:cNvSpPr>
            <a:spLocks noChangeArrowheads="1"/>
          </p:cNvSpPr>
          <p:nvPr/>
        </p:nvSpPr>
        <p:spPr bwMode="auto">
          <a:xfrm>
            <a:off x="2197377" y="4697743"/>
            <a:ext cx="4677237"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200" dirty="0">
                <a:solidFill>
                  <a:srgbClr val="A50021"/>
                </a:solidFill>
                <a:latin typeface="楷体" panose="02010609060101010101" pitchFamily="49" charset="-122"/>
                <a:ea typeface="楷体" panose="02010609060101010101" pitchFamily="49" charset="-122"/>
              </a:rPr>
              <a:t>需增加两根链杆，</a:t>
            </a:r>
            <a:r>
              <a:rPr lang="zh-CN" altLang="en-US" sz="2200" b="0" dirty="0">
                <a:solidFill>
                  <a:srgbClr val="A50021"/>
                </a:solidFill>
                <a:latin typeface="楷体" panose="02010609060101010101" pitchFamily="49" charset="-122"/>
                <a:ea typeface="楷体" panose="02010609060101010101" pitchFamily="49" charset="-122"/>
              </a:rPr>
              <a:t> </a:t>
            </a:r>
            <a:r>
              <a:rPr lang="en-US" altLang="zh-CN" sz="2200" dirty="0">
                <a:solidFill>
                  <a:srgbClr val="A50021"/>
                </a:solidFill>
                <a:latin typeface="楷体" panose="02010609060101010101" pitchFamily="49" charset="-122"/>
                <a:ea typeface="楷体" panose="02010609060101010101" pitchFamily="49" charset="-122"/>
              </a:rPr>
              <a:t>2</a:t>
            </a:r>
            <a:r>
              <a:rPr lang="zh-CN" altLang="en-US" sz="2200" dirty="0">
                <a:solidFill>
                  <a:srgbClr val="A50021"/>
                </a:solidFill>
                <a:latin typeface="楷体" panose="02010609060101010101" pitchFamily="49" charset="-122"/>
                <a:ea typeface="楷体" panose="02010609060101010101" pitchFamily="49" charset="-122"/>
              </a:rPr>
              <a:t>个独立的线位移。</a:t>
            </a:r>
          </a:p>
        </p:txBody>
      </p:sp>
      <p:sp>
        <p:nvSpPr>
          <p:cNvPr id="7" name="Rectangle 2"/>
          <p:cNvSpPr>
            <a:spLocks noChangeArrowheads="1"/>
          </p:cNvSpPr>
          <p:nvPr/>
        </p:nvSpPr>
        <p:spPr bwMode="auto">
          <a:xfrm>
            <a:off x="2370395" y="5153405"/>
            <a:ext cx="4331202"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spcBef>
                <a:spcPct val="0"/>
              </a:spcBef>
            </a:pPr>
            <a:r>
              <a:rPr lang="zh-CN" altLang="en-US" sz="2200" dirty="0">
                <a:latin typeface="楷体" panose="02010609060101010101" pitchFamily="49" charset="-122"/>
                <a:ea typeface="楷体" panose="02010609060101010101" pitchFamily="49" charset="-122"/>
              </a:rPr>
              <a:t>位移法的基本未知量的数目为</a:t>
            </a:r>
            <a:r>
              <a:rPr lang="en-US" altLang="zh-CN" sz="2200" dirty="0">
                <a:latin typeface="楷体" panose="02010609060101010101" pitchFamily="49" charset="-122"/>
                <a:ea typeface="楷体" panose="02010609060101010101" pitchFamily="49" charset="-122"/>
              </a:rPr>
              <a:t>6</a:t>
            </a:r>
            <a:r>
              <a:rPr lang="zh-CN" altLang="en-US" sz="2200" dirty="0">
                <a:latin typeface="楷体" panose="02010609060101010101" pitchFamily="49" charset="-122"/>
                <a:ea typeface="楷体" panose="02010609060101010101" pitchFamily="49" charset="-122"/>
              </a:rPr>
              <a:t>个。</a:t>
            </a:r>
            <a:endParaRPr lang="zh-CN" altLang="en-US" sz="2200" b="0" dirty="0">
              <a:latin typeface="楷体" panose="02010609060101010101" pitchFamily="49" charset="-122"/>
              <a:ea typeface="楷体" panose="02010609060101010101" pitchFamily="49" charset="-122"/>
            </a:endParaRPr>
          </a:p>
        </p:txBody>
      </p:sp>
      <p:sp>
        <p:nvSpPr>
          <p:cNvPr id="8" name="Rectangle 3"/>
          <p:cNvSpPr>
            <a:spLocks noChangeArrowheads="1"/>
          </p:cNvSpPr>
          <p:nvPr/>
        </p:nvSpPr>
        <p:spPr bwMode="auto">
          <a:xfrm>
            <a:off x="951420" y="5605558"/>
            <a:ext cx="7169150" cy="769441"/>
          </a:xfrm>
          <a:prstGeom prst="rect">
            <a:avLst/>
          </a:prstGeom>
          <a:solidFill>
            <a:schemeClr val="accent1"/>
          </a:solidFill>
          <a:ln w="76200" cmpd="tri">
            <a:solidFill>
              <a:srgbClr val="FF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0"/>
              </a:spcBef>
            </a:pPr>
            <a:r>
              <a:rPr lang="zh-CN" altLang="en-US" sz="2200" dirty="0">
                <a:latin typeface="楷体" panose="02010609060101010101" pitchFamily="49" charset="-122"/>
                <a:ea typeface="楷体" panose="02010609060101010101" pitchFamily="49" charset="-122"/>
              </a:rPr>
              <a:t>需注意：对于曲杆及需考虑轴向变形的杆件，变形后两端之间的距离不能看作是不变的。</a:t>
            </a:r>
            <a:r>
              <a:rPr lang="zh-CN" altLang="en-US" sz="2200" b="0" dirty="0">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380576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vertical)">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slide(from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slide(fromBottom)">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diamond(in)">
                                      <p:cBhvr>
                                        <p:cTn id="3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7-1</a:t>
            </a:r>
            <a:r>
              <a:rPr lang="zh-CN" altLang="en-US" dirty="0"/>
              <a:t>位移法基本概念</a:t>
            </a:r>
          </a:p>
        </p:txBody>
      </p:sp>
      <p:graphicFrame>
        <p:nvGraphicFramePr>
          <p:cNvPr id="3" name="Object 2"/>
          <p:cNvGraphicFramePr>
            <a:graphicFrameLocks noChangeAspect="1"/>
          </p:cNvGraphicFramePr>
          <p:nvPr>
            <p:extLst>
              <p:ext uri="{D42A27DB-BD31-4B8C-83A1-F6EECF244321}">
                <p14:modId xmlns:p14="http://schemas.microsoft.com/office/powerpoint/2010/main" val="3316020170"/>
              </p:ext>
            </p:extLst>
          </p:nvPr>
        </p:nvGraphicFramePr>
        <p:xfrm>
          <a:off x="1835696" y="1700808"/>
          <a:ext cx="4737100" cy="1901825"/>
        </p:xfrm>
        <a:graphic>
          <a:graphicData uri="http://schemas.openxmlformats.org/presentationml/2006/ole">
            <mc:AlternateContent xmlns:mc="http://schemas.openxmlformats.org/markup-compatibility/2006">
              <mc:Choice xmlns:v="urn:schemas-microsoft-com:vml" Requires="v">
                <p:oleObj spid="_x0000_s8701" name="Drawing" r:id="rId4" imgW="8905875" imgH="4552950" progId="AutoCAD.Drawing.16">
                  <p:embed/>
                </p:oleObj>
              </mc:Choice>
              <mc:Fallback>
                <p:oleObj name="Drawing" r:id="rId4" imgW="8905875" imgH="4552950" progId="AutoCAD.Drawing.16">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l="21315" t="23752" r="18584" b="29462"/>
                      <a:stretch>
                        <a:fillRect/>
                      </a:stretch>
                    </p:blipFill>
                    <p:spPr bwMode="auto">
                      <a:xfrm>
                        <a:off x="1835696" y="1700808"/>
                        <a:ext cx="4737100" cy="190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 name="Rectangle 2"/>
          <p:cNvSpPr>
            <a:spLocks noChangeArrowheads="1"/>
          </p:cNvSpPr>
          <p:nvPr/>
        </p:nvSpPr>
        <p:spPr bwMode="auto">
          <a:xfrm>
            <a:off x="1497212" y="4005064"/>
            <a:ext cx="592412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200" dirty="0">
                <a:solidFill>
                  <a:srgbClr val="0000FF"/>
                </a:solidFill>
                <a:latin typeface="楷体" panose="02010609060101010101" pitchFamily="49" charset="-122"/>
                <a:ea typeface="楷体" panose="02010609060101010101" pitchFamily="49" charset="-122"/>
              </a:rPr>
              <a:t>思考题：图示结构独立的结点线位移数目是几？</a:t>
            </a:r>
            <a:r>
              <a:rPr lang="zh-CN" altLang="en-US" sz="2200" b="0" dirty="0">
                <a:solidFill>
                  <a:schemeClr val="tx2"/>
                </a:solidFill>
                <a:latin typeface="楷体" panose="02010609060101010101" pitchFamily="49" charset="-122"/>
                <a:ea typeface="楷体" panose="02010609060101010101" pitchFamily="49" charset="-122"/>
              </a:rPr>
              <a:t> </a:t>
            </a:r>
            <a:endParaRPr lang="zh-CN" altLang="en-US" sz="2200" b="0" dirty="0">
              <a:latin typeface="楷体" panose="02010609060101010101" pitchFamily="49" charset="-122"/>
              <a:ea typeface="楷体" panose="02010609060101010101" pitchFamily="49" charset="-122"/>
            </a:endParaRPr>
          </a:p>
        </p:txBody>
      </p:sp>
      <p:sp>
        <p:nvSpPr>
          <p:cNvPr id="5" name="Rectangle 3"/>
          <p:cNvSpPr>
            <a:spLocks noChangeArrowheads="1"/>
          </p:cNvSpPr>
          <p:nvPr/>
        </p:nvSpPr>
        <p:spPr bwMode="auto">
          <a:xfrm>
            <a:off x="1075036" y="4568991"/>
            <a:ext cx="6768479"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en-US" altLang="zh-CN" dirty="0">
                <a:solidFill>
                  <a:srgbClr val="993300"/>
                </a:solidFill>
                <a:latin typeface="楷体_GB2312" pitchFamily="49" charset="-122"/>
              </a:rPr>
              <a:t>    </a:t>
            </a:r>
            <a:r>
              <a:rPr lang="zh-CN" altLang="en-US" sz="2200" dirty="0">
                <a:solidFill>
                  <a:srgbClr val="993300"/>
                </a:solidFill>
                <a:latin typeface="楷体" panose="02010609060101010101" pitchFamily="49" charset="-122"/>
                <a:ea typeface="楷体" panose="02010609060101010101" pitchFamily="49" charset="-122"/>
              </a:rPr>
              <a:t>答：结点</a:t>
            </a:r>
            <a:r>
              <a:rPr lang="en-US" altLang="zh-CN" sz="2200" dirty="0">
                <a:solidFill>
                  <a:srgbClr val="993300"/>
                </a:solidFill>
                <a:latin typeface="楷体" panose="02010609060101010101" pitchFamily="49" charset="-122"/>
                <a:ea typeface="楷体" panose="02010609060101010101" pitchFamily="49" charset="-122"/>
              </a:rPr>
              <a:t>1</a:t>
            </a:r>
            <a:r>
              <a:rPr lang="zh-CN" altLang="en-US" sz="2200" dirty="0">
                <a:solidFill>
                  <a:srgbClr val="993300"/>
                </a:solidFill>
                <a:latin typeface="楷体" panose="02010609060101010101" pitchFamily="49" charset="-122"/>
                <a:ea typeface="楷体" panose="02010609060101010101" pitchFamily="49" charset="-122"/>
              </a:rPr>
              <a:t>和</a:t>
            </a:r>
            <a:r>
              <a:rPr lang="en-US" altLang="zh-CN" sz="2200" dirty="0">
                <a:solidFill>
                  <a:srgbClr val="993300"/>
                </a:solidFill>
                <a:latin typeface="楷体" panose="02010609060101010101" pitchFamily="49" charset="-122"/>
                <a:ea typeface="楷体" panose="02010609060101010101" pitchFamily="49" charset="-122"/>
              </a:rPr>
              <a:t>2</a:t>
            </a:r>
            <a:r>
              <a:rPr lang="zh-CN" altLang="en-US" sz="2200" dirty="0">
                <a:solidFill>
                  <a:srgbClr val="993300"/>
                </a:solidFill>
                <a:latin typeface="楷体" panose="02010609060101010101" pitchFamily="49" charset="-122"/>
                <a:ea typeface="楷体" panose="02010609060101010101" pitchFamily="49" charset="-122"/>
              </a:rPr>
              <a:t>的水平线位移都是独立的，独立结点线位移数目应为</a:t>
            </a:r>
            <a:r>
              <a:rPr lang="en-US" altLang="zh-CN" sz="2200" dirty="0">
                <a:solidFill>
                  <a:srgbClr val="993300"/>
                </a:solidFill>
                <a:latin typeface="楷体" panose="02010609060101010101" pitchFamily="49" charset="-122"/>
                <a:ea typeface="楷体" panose="02010609060101010101" pitchFamily="49" charset="-122"/>
              </a:rPr>
              <a:t>2</a:t>
            </a:r>
            <a:r>
              <a:rPr lang="zh-CN" altLang="en-US" sz="2200" dirty="0">
                <a:solidFill>
                  <a:srgbClr val="993300"/>
                </a:solidFill>
                <a:latin typeface="楷体" panose="02010609060101010101" pitchFamily="49" charset="-122"/>
                <a:ea typeface="楷体" panose="02010609060101010101" pitchFamily="49" charset="-122"/>
              </a:rPr>
              <a:t>。</a:t>
            </a:r>
            <a:endParaRPr lang="zh-CN" altLang="en-US" sz="2200" b="0" dirty="0">
              <a:latin typeface="楷体" panose="02010609060101010101" pitchFamily="49" charset="-122"/>
              <a:ea typeface="楷体" panose="02010609060101010101" pitchFamily="49" charset="-122"/>
            </a:endParaRPr>
          </a:p>
        </p:txBody>
      </p:sp>
      <p:sp>
        <p:nvSpPr>
          <p:cNvPr id="6" name="Rectangle 6"/>
          <p:cNvSpPr>
            <a:spLocks noChangeArrowheads="1"/>
          </p:cNvSpPr>
          <p:nvPr/>
        </p:nvSpPr>
        <p:spPr bwMode="auto">
          <a:xfrm>
            <a:off x="1529024" y="5536556"/>
            <a:ext cx="5860504"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200" dirty="0">
                <a:solidFill>
                  <a:srgbClr val="CC3300"/>
                </a:solidFill>
                <a:latin typeface="楷体" panose="02010609060101010101" pitchFamily="49" charset="-122"/>
                <a:ea typeface="楷体" panose="02010609060101010101" pitchFamily="49" charset="-122"/>
              </a:rPr>
              <a:t>默认状态</a:t>
            </a:r>
            <a:r>
              <a:rPr lang="en-US" altLang="zh-CN" sz="2200" dirty="0">
                <a:solidFill>
                  <a:srgbClr val="CC3300"/>
                </a:solidFill>
                <a:latin typeface="楷体" panose="02010609060101010101" pitchFamily="49" charset="-122"/>
                <a:ea typeface="楷体" panose="02010609060101010101" pitchFamily="49" charset="-122"/>
              </a:rPr>
              <a:t>:</a:t>
            </a:r>
            <a:r>
              <a:rPr lang="en-US" altLang="zh-CN" sz="2200" dirty="0">
                <a:solidFill>
                  <a:srgbClr val="0000FF"/>
                </a:solidFill>
                <a:latin typeface="楷体" panose="02010609060101010101" pitchFamily="49" charset="-122"/>
                <a:ea typeface="楷体" panose="02010609060101010101" pitchFamily="49" charset="-122"/>
              </a:rPr>
              <a:t> EI </a:t>
            </a:r>
            <a:r>
              <a:rPr lang="zh-CN" altLang="en-US" sz="2200" dirty="0">
                <a:solidFill>
                  <a:srgbClr val="0000FF"/>
                </a:solidFill>
                <a:latin typeface="楷体" panose="02010609060101010101" pitchFamily="49" charset="-122"/>
                <a:ea typeface="楷体" panose="02010609060101010101" pitchFamily="49" charset="-122"/>
              </a:rPr>
              <a:t>不等于无穷大</a:t>
            </a:r>
            <a:r>
              <a:rPr lang="en-US" altLang="zh-CN" sz="2200" dirty="0">
                <a:solidFill>
                  <a:srgbClr val="0000FF"/>
                </a:solidFill>
                <a:latin typeface="楷体" panose="02010609060101010101" pitchFamily="49" charset="-122"/>
                <a:ea typeface="楷体" panose="02010609060101010101" pitchFamily="49" charset="-122"/>
              </a:rPr>
              <a:t>, EA </a:t>
            </a:r>
            <a:r>
              <a:rPr lang="zh-CN" altLang="en-US" sz="2200" dirty="0">
                <a:solidFill>
                  <a:srgbClr val="0000FF"/>
                </a:solidFill>
                <a:latin typeface="楷体" panose="02010609060101010101" pitchFamily="49" charset="-122"/>
                <a:ea typeface="楷体" panose="02010609060101010101" pitchFamily="49" charset="-122"/>
              </a:rPr>
              <a:t>等于无穷大。</a:t>
            </a:r>
          </a:p>
        </p:txBody>
      </p:sp>
    </p:spTree>
    <p:extLst>
      <p:ext uri="{BB962C8B-B14F-4D97-AF65-F5344CB8AC3E}">
        <p14:creationId xmlns:p14="http://schemas.microsoft.com/office/powerpoint/2010/main" val="380576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P spid="6"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7-1</a:t>
            </a:r>
            <a:r>
              <a:rPr lang="zh-CN" altLang="en-US" dirty="0"/>
              <a:t>位移法基本概念</a:t>
            </a:r>
          </a:p>
        </p:txBody>
      </p:sp>
      <p:sp>
        <p:nvSpPr>
          <p:cNvPr id="3" name="Rectangle 4"/>
          <p:cNvSpPr>
            <a:spLocks noChangeArrowheads="1"/>
          </p:cNvSpPr>
          <p:nvPr/>
        </p:nvSpPr>
        <p:spPr bwMode="auto">
          <a:xfrm>
            <a:off x="467544" y="1457325"/>
            <a:ext cx="763284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200" dirty="0">
                <a:solidFill>
                  <a:srgbClr val="FF3300"/>
                </a:solidFill>
                <a:latin typeface="楷体" panose="02010609060101010101" pitchFamily="49" charset="-122"/>
                <a:ea typeface="楷体" panose="02010609060101010101" pitchFamily="49" charset="-122"/>
              </a:rPr>
              <a:t>二、位移法计算钢架的基本思路</a:t>
            </a:r>
          </a:p>
        </p:txBody>
      </p:sp>
      <p:sp>
        <p:nvSpPr>
          <p:cNvPr id="4" name="TextBox 3"/>
          <p:cNvSpPr txBox="1"/>
          <p:nvPr/>
        </p:nvSpPr>
        <p:spPr>
          <a:xfrm>
            <a:off x="5076056" y="1457325"/>
            <a:ext cx="2736304" cy="400110"/>
          </a:xfrm>
          <a:prstGeom prst="rect">
            <a:avLst/>
          </a:prstGeom>
          <a:noFill/>
        </p:spPr>
        <p:txBody>
          <a:bodyPr wrap="square" rtlCol="0">
            <a:spAutoFit/>
          </a:bodyPr>
          <a:lstStyle/>
          <a:p>
            <a:r>
              <a:rPr lang="zh-CN" altLang="en-US" sz="2000" dirty="0">
                <a:solidFill>
                  <a:srgbClr val="FFC000"/>
                </a:solidFill>
                <a:latin typeface="楷体" panose="02010609060101010101" pitchFamily="49" charset="-122"/>
                <a:ea typeface="楷体" panose="02010609060101010101" pitchFamily="49" charset="-122"/>
              </a:rPr>
              <a:t>忽略剪切和拉伸变形！</a:t>
            </a:r>
          </a:p>
        </p:txBody>
      </p:sp>
      <p:grpSp>
        <p:nvGrpSpPr>
          <p:cNvPr id="13" name="Group 12"/>
          <p:cNvGrpSpPr/>
          <p:nvPr/>
        </p:nvGrpSpPr>
        <p:grpSpPr>
          <a:xfrm>
            <a:off x="1043608" y="2088070"/>
            <a:ext cx="7267500" cy="1619250"/>
            <a:chOff x="1043608" y="2088070"/>
            <a:chExt cx="7267500" cy="1619250"/>
          </a:xfrm>
        </p:grpSpPr>
        <p:pic>
          <p:nvPicPr>
            <p:cNvPr id="12289" name="Picture 1" descr="C:\Users\zzdeng\AppData\Roaming\Tencent\Users\42337577\QQ\WinTemp\RichOle\77{X3T24}7F9BT`YJ2976]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2088070"/>
              <a:ext cx="2295525" cy="1619250"/>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C:\Users\zzdeng\AppData\Roaming\Tencent\Users\42337577\QQ\WinTemp\RichOle\I260Y~K87R6YKW2AC~ZXEBJ.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4921" y="2116645"/>
              <a:ext cx="1219200" cy="1590675"/>
            </a:xfrm>
            <a:prstGeom prst="rect">
              <a:avLst/>
            </a:prstGeom>
            <a:noFill/>
            <a:extLst>
              <a:ext uri="{909E8E84-426E-40DD-AFC4-6F175D3DCCD1}">
                <a14:hiddenFill xmlns:a14="http://schemas.microsoft.com/office/drawing/2010/main">
                  <a:solidFill>
                    <a:srgbClr val="FFFFFF"/>
                  </a:solidFill>
                </a14:hiddenFill>
              </a:ext>
            </a:extLst>
          </p:spPr>
        </p:pic>
        <p:pic>
          <p:nvPicPr>
            <p:cNvPr id="12291" name="Picture 3" descr="C:\Users\zzdeng\AppData\Roaming\Tencent\Users\42337577\QQ\WinTemp\RichOle\JGJ2~BGTR)_{NB{{_I{SP$I.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4208" y="2469069"/>
              <a:ext cx="1866900" cy="857250"/>
            </a:xfrm>
            <a:prstGeom prst="rect">
              <a:avLst/>
            </a:prstGeom>
            <a:noFill/>
            <a:extLst>
              <a:ext uri="{909E8E84-426E-40DD-AFC4-6F175D3DCCD1}">
                <a14:hiddenFill xmlns:a14="http://schemas.microsoft.com/office/drawing/2010/main">
                  <a:solidFill>
                    <a:srgbClr val="FFFFFF"/>
                  </a:solidFill>
                </a14:hiddenFill>
              </a:ext>
            </a:extLst>
          </p:spPr>
        </p:pic>
      </p:grpSp>
      <p:sp>
        <p:nvSpPr>
          <p:cNvPr id="5" name="TextBox 4"/>
          <p:cNvSpPr txBox="1"/>
          <p:nvPr/>
        </p:nvSpPr>
        <p:spPr>
          <a:xfrm>
            <a:off x="827584" y="3861048"/>
            <a:ext cx="7483524" cy="769441"/>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在给定荷载作用下，结点</a:t>
            </a:r>
            <a:r>
              <a:rPr lang="en-US" altLang="zh-CN" sz="2200" dirty="0">
                <a:latin typeface="楷体" panose="02010609060101010101" pitchFamily="49" charset="-122"/>
                <a:ea typeface="楷体" panose="02010609060101010101" pitchFamily="49" charset="-122"/>
              </a:rPr>
              <a:t>A</a:t>
            </a:r>
            <a:r>
              <a:rPr lang="zh-CN" altLang="en-US" sz="2200" dirty="0">
                <a:latin typeface="楷体" panose="02010609060101010101" pitchFamily="49" charset="-122"/>
                <a:ea typeface="楷体" panose="02010609060101010101" pitchFamily="49" charset="-122"/>
              </a:rPr>
              <a:t>发生角位移和水平线位移。（</a:t>
            </a:r>
            <a:r>
              <a:rPr lang="zh-CN" altLang="en-US" sz="2200" dirty="0">
                <a:solidFill>
                  <a:srgbClr val="FF0000"/>
                </a:solidFill>
                <a:latin typeface="楷体" panose="02010609060101010101" pitchFamily="49" charset="-122"/>
                <a:ea typeface="楷体" panose="02010609060101010101" pitchFamily="49" charset="-122"/>
              </a:rPr>
              <a:t>注意</a:t>
            </a:r>
            <a:r>
              <a:rPr lang="zh-CN" altLang="en-US" sz="2200" dirty="0">
                <a:latin typeface="楷体" panose="02010609060101010101" pitchFamily="49" charset="-122"/>
                <a:ea typeface="楷体" panose="02010609060101010101" pitchFamily="49" charset="-122"/>
              </a:rPr>
              <a:t>：支座处的位移不作为基本未知量。）</a:t>
            </a:r>
          </a:p>
        </p:txBody>
      </p:sp>
      <p:grpSp>
        <p:nvGrpSpPr>
          <p:cNvPr id="8" name="Group 7"/>
          <p:cNvGrpSpPr/>
          <p:nvPr/>
        </p:nvGrpSpPr>
        <p:grpSpPr>
          <a:xfrm>
            <a:off x="827584" y="4725144"/>
            <a:ext cx="2160240" cy="430887"/>
            <a:chOff x="827584" y="4725144"/>
            <a:chExt cx="2160240" cy="430887"/>
          </a:xfrm>
        </p:grpSpPr>
        <p:sp>
          <p:nvSpPr>
            <p:cNvPr id="6" name="TextBox 5"/>
            <p:cNvSpPr txBox="1"/>
            <p:nvPr/>
          </p:nvSpPr>
          <p:spPr>
            <a:xfrm>
              <a:off x="827584" y="4725144"/>
              <a:ext cx="2160240" cy="430887"/>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基本未知量：</a:t>
              </a:r>
            </a:p>
          </p:txBody>
        </p:sp>
        <p:graphicFrame>
          <p:nvGraphicFramePr>
            <p:cNvPr id="7" name="Object 6"/>
            <p:cNvGraphicFramePr>
              <a:graphicFrameLocks noChangeAspect="1"/>
            </p:cNvGraphicFramePr>
            <p:nvPr>
              <p:extLst>
                <p:ext uri="{D42A27DB-BD31-4B8C-83A1-F6EECF244321}">
                  <p14:modId xmlns:p14="http://schemas.microsoft.com/office/powerpoint/2010/main" val="2071202421"/>
                </p:ext>
              </p:extLst>
            </p:nvPr>
          </p:nvGraphicFramePr>
          <p:xfrm>
            <a:off x="2465388" y="4857899"/>
            <a:ext cx="482600" cy="292100"/>
          </p:xfrm>
          <a:graphic>
            <a:graphicData uri="http://schemas.openxmlformats.org/presentationml/2006/ole">
              <mc:AlternateContent xmlns:mc="http://schemas.openxmlformats.org/markup-compatibility/2006">
                <mc:Choice xmlns:v="urn:schemas-microsoft-com:vml" Requires="v">
                  <p:oleObj spid="_x0000_s13784" name="Equation" r:id="rId7" imgW="482400" imgH="291960" progId="Equation.DSMT4">
                    <p:embed/>
                  </p:oleObj>
                </mc:Choice>
                <mc:Fallback>
                  <p:oleObj name="Equation" r:id="rId7" imgW="482400" imgH="291960" progId="Equation.DSMT4">
                    <p:embed/>
                    <p:pic>
                      <p:nvPicPr>
                        <p:cNvPr id="0" name=""/>
                        <p:cNvPicPr/>
                        <p:nvPr/>
                      </p:nvPicPr>
                      <p:blipFill>
                        <a:blip r:embed="rId8"/>
                        <a:stretch>
                          <a:fillRect/>
                        </a:stretch>
                      </p:blipFill>
                      <p:spPr>
                        <a:xfrm>
                          <a:off x="2465388" y="4857899"/>
                          <a:ext cx="482600" cy="292100"/>
                        </a:xfrm>
                        <a:prstGeom prst="rect">
                          <a:avLst/>
                        </a:prstGeom>
                      </p:spPr>
                    </p:pic>
                  </p:oleObj>
                </mc:Fallback>
              </mc:AlternateContent>
            </a:graphicData>
          </a:graphic>
        </p:graphicFrame>
      </p:grpSp>
      <p:grpSp>
        <p:nvGrpSpPr>
          <p:cNvPr id="12" name="Group 11"/>
          <p:cNvGrpSpPr/>
          <p:nvPr/>
        </p:nvGrpSpPr>
        <p:grpSpPr>
          <a:xfrm>
            <a:off x="3339133" y="5517231"/>
            <a:ext cx="2164988" cy="492444"/>
            <a:chOff x="3339133" y="5517231"/>
            <a:chExt cx="2164988" cy="492444"/>
          </a:xfrm>
        </p:grpSpPr>
        <p:sp>
          <p:nvSpPr>
            <p:cNvPr id="9" name="TextBox 8"/>
            <p:cNvSpPr txBox="1"/>
            <p:nvPr/>
          </p:nvSpPr>
          <p:spPr>
            <a:xfrm>
              <a:off x="3339133" y="5517231"/>
              <a:ext cx="576064" cy="492443"/>
            </a:xfrm>
            <a:prstGeom prst="rect">
              <a:avLst/>
            </a:prstGeom>
            <a:noFill/>
          </p:spPr>
          <p:txBody>
            <a:bodyPr wrap="square" rtlCol="0">
              <a:spAutoFit/>
            </a:bodyPr>
            <a:lstStyle/>
            <a:p>
              <a:r>
                <a:rPr lang="zh-CN" altLang="en-US" sz="2600" dirty="0">
                  <a:solidFill>
                    <a:srgbClr val="0000FF"/>
                  </a:solidFill>
                  <a:latin typeface="楷体" panose="02010609060101010101" pitchFamily="49" charset="-122"/>
                  <a:ea typeface="楷体" panose="02010609060101010101" pitchFamily="49" charset="-122"/>
                </a:rPr>
                <a:t>拆</a:t>
              </a:r>
            </a:p>
          </p:txBody>
        </p:sp>
        <p:sp>
          <p:nvSpPr>
            <p:cNvPr id="10" name="TextBox 9"/>
            <p:cNvSpPr txBox="1"/>
            <p:nvPr/>
          </p:nvSpPr>
          <p:spPr>
            <a:xfrm>
              <a:off x="5000065" y="5517232"/>
              <a:ext cx="504056" cy="492443"/>
            </a:xfrm>
            <a:prstGeom prst="rect">
              <a:avLst/>
            </a:prstGeom>
            <a:noFill/>
          </p:spPr>
          <p:txBody>
            <a:bodyPr wrap="square" rtlCol="0">
              <a:spAutoFit/>
            </a:bodyPr>
            <a:lstStyle/>
            <a:p>
              <a:r>
                <a:rPr lang="zh-CN" altLang="en-US" sz="2600" dirty="0">
                  <a:solidFill>
                    <a:srgbClr val="0000FF"/>
                  </a:solidFill>
                  <a:latin typeface="楷体" panose="02010609060101010101" pitchFamily="49" charset="-122"/>
                  <a:ea typeface="楷体" panose="02010609060101010101" pitchFamily="49" charset="-122"/>
                </a:rPr>
                <a:t>搭</a:t>
              </a:r>
            </a:p>
          </p:txBody>
        </p:sp>
        <p:sp>
          <p:nvSpPr>
            <p:cNvPr id="11" name="Left-Right Arrow 10"/>
            <p:cNvSpPr/>
            <p:nvPr/>
          </p:nvSpPr>
          <p:spPr bwMode="auto">
            <a:xfrm>
              <a:off x="3955827" y="5717781"/>
              <a:ext cx="872827" cy="113819"/>
            </a:xfrm>
            <a:prstGeom prst="leftRightArrow">
              <a:avLst/>
            </a:prstGeom>
            <a:solidFill>
              <a:srgbClr val="0000FF"/>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Tree>
    <p:extLst>
      <p:ext uri="{BB962C8B-B14F-4D97-AF65-F5344CB8AC3E}">
        <p14:creationId xmlns:p14="http://schemas.microsoft.com/office/powerpoint/2010/main" val="3619600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1000"/>
                                        <p:tgtEl>
                                          <p:spTgt spid="4"/>
                                        </p:tgtEl>
                                      </p:cBhvr>
                                    </p:animEffect>
                                    <p:anim calcmode="lin" valueType="num">
                                      <p:cBhvr>
                                        <p:cTn id="13" dur="1000" fill="hold"/>
                                        <p:tgtEl>
                                          <p:spTgt spid="4"/>
                                        </p:tgtEl>
                                        <p:attrNameLst>
                                          <p:attrName>ppt_x</p:attrName>
                                        </p:attrNameLst>
                                      </p:cBhvr>
                                      <p:tavLst>
                                        <p:tav tm="0">
                                          <p:val>
                                            <p:strVal val="#ppt_x"/>
                                          </p:val>
                                        </p:tav>
                                        <p:tav tm="100000">
                                          <p:val>
                                            <p:strVal val="#ppt_x"/>
                                          </p:val>
                                        </p:tav>
                                      </p:tavLst>
                                    </p:anim>
                                    <p:anim calcmode="lin" valueType="num">
                                      <p:cBhvr>
                                        <p:cTn id="1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down)">
                                      <p:cBhvr>
                                        <p:cTn id="19" dur="500"/>
                                        <p:tgtEl>
                                          <p:spTgt spid="13"/>
                                        </p:tgtEl>
                                      </p:cBhvr>
                                    </p:animEffect>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7-1</a:t>
            </a:r>
            <a:r>
              <a:rPr lang="zh-CN" altLang="en-US" dirty="0"/>
              <a:t>位移法基本概念</a:t>
            </a:r>
          </a:p>
        </p:txBody>
      </p:sp>
      <p:sp>
        <p:nvSpPr>
          <p:cNvPr id="3" name="Rectangle 4"/>
          <p:cNvSpPr>
            <a:spLocks noChangeArrowheads="1"/>
          </p:cNvSpPr>
          <p:nvPr/>
        </p:nvSpPr>
        <p:spPr bwMode="auto">
          <a:xfrm>
            <a:off x="755576" y="1484784"/>
            <a:ext cx="7632848"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0"/>
              </a:spcBef>
            </a:pPr>
            <a:r>
              <a:rPr lang="zh-CN" altLang="en-US" sz="2200" dirty="0">
                <a:solidFill>
                  <a:srgbClr val="FF3300"/>
                </a:solidFill>
                <a:latin typeface="楷体" panose="02010609060101010101" pitchFamily="49" charset="-122"/>
                <a:ea typeface="楷体" panose="02010609060101010101" pitchFamily="49" charset="-122"/>
              </a:rPr>
              <a:t>二、位移法的基本方程</a:t>
            </a:r>
          </a:p>
        </p:txBody>
      </p:sp>
      <p:grpSp>
        <p:nvGrpSpPr>
          <p:cNvPr id="8" name="Group 7"/>
          <p:cNvGrpSpPr/>
          <p:nvPr/>
        </p:nvGrpSpPr>
        <p:grpSpPr>
          <a:xfrm>
            <a:off x="1187624" y="1925423"/>
            <a:ext cx="6840760" cy="571500"/>
            <a:chOff x="1187624" y="1819093"/>
            <a:chExt cx="6840760" cy="571500"/>
          </a:xfrm>
        </p:grpSpPr>
        <p:sp>
          <p:nvSpPr>
            <p:cNvPr id="4" name="TextBox 3"/>
            <p:cNvSpPr txBox="1"/>
            <p:nvPr/>
          </p:nvSpPr>
          <p:spPr>
            <a:xfrm>
              <a:off x="1187624" y="1915671"/>
              <a:ext cx="6840760" cy="430887"/>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用位移表示的平衡方程</a:t>
              </a:r>
            </a:p>
          </p:txBody>
        </p:sp>
        <p:graphicFrame>
          <p:nvGraphicFramePr>
            <p:cNvPr id="5" name="Object 4"/>
            <p:cNvGraphicFramePr>
              <a:graphicFrameLocks noChangeAspect="1"/>
            </p:cNvGraphicFramePr>
            <p:nvPr>
              <p:extLst>
                <p:ext uri="{D42A27DB-BD31-4B8C-83A1-F6EECF244321}">
                  <p14:modId xmlns:p14="http://schemas.microsoft.com/office/powerpoint/2010/main" val="1389995771"/>
                </p:ext>
              </p:extLst>
            </p:nvPr>
          </p:nvGraphicFramePr>
          <p:xfrm>
            <a:off x="5148064" y="1819093"/>
            <a:ext cx="1714500" cy="571500"/>
          </p:xfrm>
          <a:graphic>
            <a:graphicData uri="http://schemas.openxmlformats.org/presentationml/2006/ole">
              <mc:AlternateContent xmlns:mc="http://schemas.openxmlformats.org/markup-compatibility/2006">
                <mc:Choice xmlns:v="urn:schemas-microsoft-com:vml" Requires="v">
                  <p:oleObj spid="_x0000_s9714" name="Equation" r:id="rId4" imgW="1714320" imgH="571320" progId="Equation.DSMT4">
                    <p:embed/>
                  </p:oleObj>
                </mc:Choice>
                <mc:Fallback>
                  <p:oleObj name="Equation" r:id="rId4" imgW="1714320" imgH="571320" progId="Equation.DSMT4">
                    <p:embed/>
                    <p:pic>
                      <p:nvPicPr>
                        <p:cNvPr id="0" name=""/>
                        <p:cNvPicPr/>
                        <p:nvPr/>
                      </p:nvPicPr>
                      <p:blipFill>
                        <a:blip r:embed="rId5"/>
                        <a:stretch>
                          <a:fillRect/>
                        </a:stretch>
                      </p:blipFill>
                      <p:spPr>
                        <a:xfrm>
                          <a:off x="5148064" y="1819093"/>
                          <a:ext cx="1714500" cy="571500"/>
                        </a:xfrm>
                        <a:prstGeom prst="rect">
                          <a:avLst/>
                        </a:prstGeom>
                      </p:spPr>
                    </p:pic>
                  </p:oleObj>
                </mc:Fallback>
              </mc:AlternateContent>
            </a:graphicData>
          </a:graphic>
        </p:graphicFrame>
        <p:cxnSp>
          <p:nvCxnSpPr>
            <p:cNvPr id="7" name="Straight Arrow Connector 6"/>
            <p:cNvCxnSpPr/>
            <p:nvPr/>
          </p:nvCxnSpPr>
          <p:spPr bwMode="auto">
            <a:xfrm>
              <a:off x="4247964" y="2131114"/>
              <a:ext cx="720080" cy="0"/>
            </a:xfrm>
            <a:prstGeom prst="straightConnector1">
              <a:avLst/>
            </a:prstGeom>
            <a:solidFill>
              <a:schemeClr val="accent1"/>
            </a:solidFill>
            <a:ln w="9525" cap="flat" cmpd="sng" algn="ctr">
              <a:solidFill>
                <a:schemeClr val="tx1"/>
              </a:solidFill>
              <a:prstDash val="solid"/>
              <a:round/>
              <a:headEnd type="none" w="med" len="med"/>
              <a:tailEnd type="arrow"/>
            </a:ln>
            <a:effectLst/>
          </p:spPr>
        </p:cxnSp>
      </p:grpSp>
      <p:grpSp>
        <p:nvGrpSpPr>
          <p:cNvPr id="14" name="Group 13"/>
          <p:cNvGrpSpPr/>
          <p:nvPr/>
        </p:nvGrpSpPr>
        <p:grpSpPr>
          <a:xfrm>
            <a:off x="1187624" y="2996952"/>
            <a:ext cx="1152128" cy="1296144"/>
            <a:chOff x="1187624" y="2996952"/>
            <a:chExt cx="1152128" cy="1296144"/>
          </a:xfrm>
        </p:grpSpPr>
        <p:sp>
          <p:nvSpPr>
            <p:cNvPr id="9" name="TextBox 8"/>
            <p:cNvSpPr txBox="1"/>
            <p:nvPr/>
          </p:nvSpPr>
          <p:spPr>
            <a:xfrm>
              <a:off x="1187624" y="3390875"/>
              <a:ext cx="792088" cy="430887"/>
            </a:xfrm>
            <a:prstGeom prst="rect">
              <a:avLst/>
            </a:prstGeom>
            <a:noFill/>
          </p:spPr>
          <p:txBody>
            <a:bodyPr wrap="square" rtlCol="0">
              <a:spAutoFit/>
            </a:bodyPr>
            <a:lstStyle/>
            <a:p>
              <a:r>
                <a:rPr lang="zh-CN" altLang="en-US" sz="2200" dirty="0">
                  <a:solidFill>
                    <a:srgbClr val="FFC000"/>
                  </a:solidFill>
                  <a:latin typeface="楷体" panose="02010609060101010101" pitchFamily="49" charset="-122"/>
                  <a:ea typeface="楷体" panose="02010609060101010101" pitchFamily="49" charset="-122"/>
                </a:rPr>
                <a:t>两步</a:t>
              </a:r>
              <a:r>
                <a:rPr lang="zh-CN" altLang="en-US" sz="2200" dirty="0">
                  <a:latin typeface="楷体" panose="02010609060101010101" pitchFamily="49" charset="-122"/>
                  <a:ea typeface="楷体" panose="02010609060101010101" pitchFamily="49" charset="-122"/>
                </a:rPr>
                <a:t>：</a:t>
              </a:r>
            </a:p>
          </p:txBody>
        </p:sp>
        <p:sp>
          <p:nvSpPr>
            <p:cNvPr id="10" name="Left Brace 9"/>
            <p:cNvSpPr/>
            <p:nvPr/>
          </p:nvSpPr>
          <p:spPr bwMode="auto">
            <a:xfrm>
              <a:off x="1979712" y="2996952"/>
              <a:ext cx="360040" cy="1296144"/>
            </a:xfrm>
            <a:prstGeom prst="leftBrace">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pSp>
      <p:sp>
        <p:nvSpPr>
          <p:cNvPr id="11" name="TextBox 10"/>
          <p:cNvSpPr txBox="1"/>
          <p:nvPr/>
        </p:nvSpPr>
        <p:spPr>
          <a:xfrm>
            <a:off x="2483768" y="2633411"/>
            <a:ext cx="4968552" cy="769441"/>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第一步：把结构拆成杆件，进行杆件分析，得出杆件的刚度方程。</a:t>
            </a:r>
          </a:p>
        </p:txBody>
      </p:sp>
      <p:sp>
        <p:nvSpPr>
          <p:cNvPr id="12" name="TextBox 11"/>
          <p:cNvSpPr txBox="1"/>
          <p:nvPr/>
        </p:nvSpPr>
        <p:spPr>
          <a:xfrm>
            <a:off x="2483768" y="3837068"/>
            <a:ext cx="4968552" cy="769441"/>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第二步：再把杆件综合成结构，进行整体分析，得出基本方程。</a:t>
            </a:r>
          </a:p>
        </p:txBody>
      </p:sp>
      <p:sp>
        <p:nvSpPr>
          <p:cNvPr id="13" name="TextBox 12"/>
          <p:cNvSpPr txBox="1"/>
          <p:nvPr/>
        </p:nvSpPr>
        <p:spPr>
          <a:xfrm>
            <a:off x="1151620" y="5013176"/>
            <a:ext cx="6840760" cy="769441"/>
          </a:xfrm>
          <a:prstGeom prst="rect">
            <a:avLst/>
          </a:prstGeom>
          <a:noFill/>
        </p:spPr>
        <p:txBody>
          <a:bodyPr wrap="square" rtlCol="0">
            <a:spAutoFit/>
          </a:bodyPr>
          <a:lstStyle/>
          <a:p>
            <a:r>
              <a:rPr lang="zh-CN" altLang="en-US" sz="2200" dirty="0">
                <a:solidFill>
                  <a:srgbClr val="0000FF"/>
                </a:solidFill>
                <a:latin typeface="楷体" panose="02010609060101010101" pitchFamily="49" charset="-122"/>
                <a:ea typeface="楷体" panose="02010609060101010101" pitchFamily="49" charset="-122"/>
              </a:rPr>
              <a:t>杆件分析是结构分析的基础，杆件的刚度方程是位移法基本方程的基础。因此位移法也称为刚度法。</a:t>
            </a:r>
          </a:p>
        </p:txBody>
      </p:sp>
    </p:spTree>
    <p:extLst>
      <p:ext uri="{BB962C8B-B14F-4D97-AF65-F5344CB8AC3E}">
        <p14:creationId xmlns:p14="http://schemas.microsoft.com/office/powerpoint/2010/main" val="380576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1000"/>
                                        <p:tgtEl>
                                          <p:spTgt spid="14"/>
                                        </p:tgtEl>
                                      </p:cBhvr>
                                    </p:animEffect>
                                    <p:anim calcmode="lin" valueType="num">
                                      <p:cBhvr>
                                        <p:cTn id="18" dur="1000" fill="hold"/>
                                        <p:tgtEl>
                                          <p:spTgt spid="14"/>
                                        </p:tgtEl>
                                        <p:attrNameLst>
                                          <p:attrName>ppt_x</p:attrName>
                                        </p:attrNameLst>
                                      </p:cBhvr>
                                      <p:tavLst>
                                        <p:tav tm="0">
                                          <p:val>
                                            <p:strVal val="#ppt_x"/>
                                          </p:val>
                                        </p:tav>
                                        <p:tav tm="100000">
                                          <p:val>
                                            <p:strVal val="#ppt_x"/>
                                          </p:val>
                                        </p:tav>
                                      </p:tavLst>
                                    </p:anim>
                                    <p:anim calcmode="lin" valueType="num">
                                      <p:cBhvr>
                                        <p:cTn id="1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barn(inVertical)">
                                      <p:cBhvr>
                                        <p:cTn id="3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1" grpId="0"/>
      <p:bldP spid="12" grpId="0"/>
      <p:bldP spid="1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467544" y="116632"/>
            <a:ext cx="8229600" cy="1143000"/>
          </a:xfrm>
        </p:spPr>
        <p:txBody>
          <a:bodyPr/>
          <a:lstStyle/>
          <a:p>
            <a:r>
              <a:rPr lang="en-US" altLang="zh-CN" sz="3000" dirty="0">
                <a:latin typeface="宋体" pitchFamily="2" charset="-122"/>
              </a:rPr>
              <a:t>§</a:t>
            </a:r>
            <a:r>
              <a:rPr lang="en-US" altLang="zh-CN" dirty="0"/>
              <a:t>7-2</a:t>
            </a:r>
            <a:r>
              <a:rPr lang="en-US" altLang="zh-CN" dirty="0">
                <a:latin typeface="宋体" pitchFamily="2" charset="-122"/>
              </a:rPr>
              <a:t> </a:t>
            </a:r>
            <a:r>
              <a:rPr lang="zh-CN" altLang="en-US" dirty="0">
                <a:latin typeface="宋体" pitchFamily="2" charset="-122"/>
              </a:rPr>
              <a:t>单跨超静定梁的形常数与载常数</a:t>
            </a:r>
            <a:endParaRPr lang="zh-CN" altLang="en-US" dirty="0"/>
          </a:p>
        </p:txBody>
      </p:sp>
      <p:grpSp>
        <p:nvGrpSpPr>
          <p:cNvPr id="3" name="Group 2"/>
          <p:cNvGrpSpPr>
            <a:grpSpLocks/>
          </p:cNvGrpSpPr>
          <p:nvPr/>
        </p:nvGrpSpPr>
        <p:grpSpPr bwMode="auto">
          <a:xfrm>
            <a:off x="1886000" y="2725599"/>
            <a:ext cx="5410200" cy="3324225"/>
            <a:chOff x="912" y="720"/>
            <a:chExt cx="3499" cy="2170"/>
          </a:xfrm>
        </p:grpSpPr>
        <p:graphicFrame>
          <p:nvGraphicFramePr>
            <p:cNvPr id="4" name="Object 3"/>
            <p:cNvGraphicFramePr>
              <a:graphicFrameLocks noChangeAspect="1"/>
            </p:cNvGraphicFramePr>
            <p:nvPr/>
          </p:nvGraphicFramePr>
          <p:xfrm>
            <a:off x="912" y="768"/>
            <a:ext cx="3499" cy="2100"/>
          </p:xfrm>
          <a:graphic>
            <a:graphicData uri="http://schemas.openxmlformats.org/presentationml/2006/ole">
              <mc:AlternateContent xmlns:mc="http://schemas.openxmlformats.org/markup-compatibility/2006">
                <mc:Choice xmlns:v="urn:schemas-microsoft-com:vml" Requires="v">
                  <p:oleObj spid="_x0000_s16823" name="位图图像" r:id="rId4" imgW="5552381" imgH="3333333" progId="Paint.Picture">
                    <p:embed/>
                  </p:oleObj>
                </mc:Choice>
                <mc:Fallback>
                  <p:oleObj name="位图图像" r:id="rId4" imgW="5552381" imgH="3333333" progId="Paint.Picture">
                    <p:embed/>
                    <p:pic>
                      <p:nvPicPr>
                        <p:cNvPr id="0" name=""/>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2" y="768"/>
                          <a:ext cx="3499" cy="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4"/>
            <p:cNvSpPr>
              <a:spLocks noChangeArrowheads="1"/>
            </p:cNvSpPr>
            <p:nvPr/>
          </p:nvSpPr>
          <p:spPr bwMode="auto">
            <a:xfrm>
              <a:off x="2064" y="720"/>
              <a:ext cx="336" cy="2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algn="ctr" eaLnBrk="1" hangingPunct="1">
                <a:spcBef>
                  <a:spcPct val="0"/>
                </a:spcBef>
              </a:pPr>
              <a:r>
                <a:rPr lang="en-US" altLang="zh-CN" i="1">
                  <a:ea typeface="宋体" charset="-122"/>
                </a:rPr>
                <a:t>F</a:t>
              </a:r>
              <a:r>
                <a:rPr lang="en-US" altLang="zh-CN" baseline="-25000">
                  <a:ea typeface="宋体" charset="-122"/>
                </a:rPr>
                <a:t>P</a:t>
              </a:r>
              <a:endParaRPr lang="en-US" altLang="zh-CN" i="1">
                <a:ea typeface="宋体" charset="-122"/>
              </a:endParaRPr>
            </a:p>
          </p:txBody>
        </p:sp>
        <p:sp>
          <p:nvSpPr>
            <p:cNvPr id="7" name="Line 5"/>
            <p:cNvSpPr>
              <a:spLocks noChangeShapeType="1"/>
            </p:cNvSpPr>
            <p:nvPr/>
          </p:nvSpPr>
          <p:spPr bwMode="auto">
            <a:xfrm>
              <a:off x="1104" y="1296"/>
              <a:ext cx="2880" cy="0"/>
            </a:xfrm>
            <a:prstGeom prst="line">
              <a:avLst/>
            </a:prstGeom>
            <a:noFill/>
            <a:ln w="5715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Line 6"/>
            <p:cNvSpPr>
              <a:spLocks noChangeShapeType="1"/>
            </p:cNvSpPr>
            <p:nvPr/>
          </p:nvSpPr>
          <p:spPr bwMode="auto">
            <a:xfrm>
              <a:off x="1152" y="1296"/>
              <a:ext cx="0" cy="1584"/>
            </a:xfrm>
            <a:prstGeom prst="line">
              <a:avLst/>
            </a:prstGeom>
            <a:noFill/>
            <a:ln w="5715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Text Box 7"/>
            <p:cNvSpPr txBox="1">
              <a:spLocks noChangeArrowheads="1"/>
            </p:cNvSpPr>
            <p:nvPr/>
          </p:nvSpPr>
          <p:spPr bwMode="auto">
            <a:xfrm>
              <a:off x="3744" y="1008"/>
              <a:ext cx="192" cy="2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en-US" altLang="zh-CN" i="1">
                  <a:ea typeface="宋体" charset="-122"/>
                </a:rPr>
                <a:t>x</a:t>
              </a:r>
            </a:p>
          </p:txBody>
        </p:sp>
        <p:sp>
          <p:nvSpPr>
            <p:cNvPr id="10" name="Text Box 8"/>
            <p:cNvSpPr txBox="1">
              <a:spLocks noChangeArrowheads="1"/>
            </p:cNvSpPr>
            <p:nvPr/>
          </p:nvSpPr>
          <p:spPr bwMode="auto">
            <a:xfrm>
              <a:off x="912" y="2592"/>
              <a:ext cx="192"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en-US" altLang="zh-CN" i="1">
                  <a:ea typeface="宋体" charset="-122"/>
                </a:rPr>
                <a:t>y</a:t>
              </a:r>
            </a:p>
          </p:txBody>
        </p:sp>
      </p:grpSp>
      <p:sp>
        <p:nvSpPr>
          <p:cNvPr id="11" name="Rectangle 9"/>
          <p:cNvSpPr>
            <a:spLocks noChangeArrowheads="1"/>
          </p:cNvSpPr>
          <p:nvPr/>
        </p:nvSpPr>
        <p:spPr bwMode="auto">
          <a:xfrm>
            <a:off x="971600" y="1353999"/>
            <a:ext cx="7162800" cy="13731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spcBef>
                <a:spcPct val="0"/>
              </a:spcBef>
            </a:pPr>
            <a:r>
              <a:rPr lang="en-US" altLang="zh-CN" sz="2800" dirty="0">
                <a:solidFill>
                  <a:srgbClr val="CC0000"/>
                </a:solidFill>
                <a:latin typeface="楷体_GB2312" pitchFamily="49" charset="-122"/>
              </a:rPr>
              <a:t>    </a:t>
            </a:r>
            <a:r>
              <a:rPr lang="zh-CN" altLang="en-US" sz="2800" dirty="0">
                <a:solidFill>
                  <a:srgbClr val="CC0000"/>
                </a:solidFill>
                <a:latin typeface="楷体" panose="02010609060101010101" pitchFamily="49" charset="-122"/>
                <a:ea typeface="楷体" panose="02010609060101010101" pitchFamily="49" charset="-122"/>
              </a:rPr>
              <a:t>本节主要解决单跨超静定梁在荷载、温度改变和支座移动共同作用下单跨梁的内力结果。</a:t>
            </a:r>
          </a:p>
        </p:txBody>
      </p:sp>
    </p:spTree>
    <p:extLst>
      <p:ext uri="{BB962C8B-B14F-4D97-AF65-F5344CB8AC3E}">
        <p14:creationId xmlns:p14="http://schemas.microsoft.com/office/powerpoint/2010/main" val="150002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0-#ppt_w/2"/>
                                          </p:val>
                                        </p:tav>
                                        <p:tav tm="100000">
                                          <p:val>
                                            <p:strVal val="#ppt_x"/>
                                          </p:val>
                                        </p:tav>
                                      </p:tavLst>
                                    </p:anim>
                                    <p:anim calcmode="lin" valueType="num">
                                      <p:cBhvr additive="base">
                                        <p:cTn id="8"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500" fill="hold"/>
                                        <p:tgtEl>
                                          <p:spTgt spid="3"/>
                                        </p:tgtEl>
                                        <p:attrNameLst>
                                          <p:attrName>ppt_w</p:attrName>
                                        </p:attrNameLst>
                                      </p:cBhvr>
                                      <p:tavLst>
                                        <p:tav tm="0">
                                          <p:val>
                                            <p:fltVal val="0"/>
                                          </p:val>
                                        </p:tav>
                                        <p:tav tm="100000">
                                          <p:val>
                                            <p:strVal val="#ppt_w"/>
                                          </p:val>
                                        </p:tav>
                                      </p:tavLst>
                                    </p:anim>
                                    <p:anim calcmode="lin" valueType="num">
                                      <p:cBhvr>
                                        <p:cTn id="14" dur="500" fill="hold"/>
                                        <p:tgtEl>
                                          <p:spTgt spid="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53922"/>
            <a:ext cx="8229600" cy="1143000"/>
          </a:xfrm>
        </p:spPr>
        <p:txBody>
          <a:bodyPr/>
          <a:lstStyle/>
          <a:p>
            <a:r>
              <a:rPr lang="en-US" altLang="zh-CN" sz="3000" dirty="0">
                <a:latin typeface="宋体" pitchFamily="2" charset="-122"/>
              </a:rPr>
              <a:t>§</a:t>
            </a:r>
            <a:r>
              <a:rPr lang="en-US" altLang="zh-CN" dirty="0"/>
              <a:t>7-2</a:t>
            </a:r>
            <a:r>
              <a:rPr lang="en-US" altLang="zh-CN" dirty="0">
                <a:latin typeface="宋体" pitchFamily="2" charset="-122"/>
              </a:rPr>
              <a:t> </a:t>
            </a:r>
            <a:r>
              <a:rPr lang="zh-CN" altLang="en-US" dirty="0">
                <a:latin typeface="宋体" pitchFamily="2" charset="-122"/>
              </a:rPr>
              <a:t>单跨超静定梁的形常数与载常数</a:t>
            </a:r>
            <a:endParaRPr lang="zh-CN" altLang="en-US" dirty="0"/>
          </a:p>
        </p:txBody>
      </p:sp>
      <p:sp>
        <p:nvSpPr>
          <p:cNvPr id="3" name="Rectangle 4"/>
          <p:cNvSpPr>
            <a:spLocks noChangeArrowheads="1"/>
          </p:cNvSpPr>
          <p:nvPr/>
        </p:nvSpPr>
        <p:spPr bwMode="auto">
          <a:xfrm>
            <a:off x="467544" y="1412776"/>
            <a:ext cx="5699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dirty="0">
                <a:solidFill>
                  <a:srgbClr val="990033"/>
                </a:solidFill>
                <a:latin typeface="楷体_GB2312" pitchFamily="49" charset="-122"/>
              </a:rPr>
              <a:t>位移法中杆端内力、杆端位移符号规定：</a:t>
            </a:r>
          </a:p>
        </p:txBody>
      </p:sp>
      <p:sp>
        <p:nvSpPr>
          <p:cNvPr id="4" name="Rectangle 6"/>
          <p:cNvSpPr>
            <a:spLocks noChangeArrowheads="1"/>
          </p:cNvSpPr>
          <p:nvPr/>
        </p:nvSpPr>
        <p:spPr bwMode="auto">
          <a:xfrm>
            <a:off x="827584" y="1869976"/>
            <a:ext cx="756084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spcBef>
                <a:spcPct val="0"/>
              </a:spcBef>
            </a:pPr>
            <a:r>
              <a:rPr lang="en-US" altLang="zh-CN" dirty="0">
                <a:latin typeface="楷体_GB2312" pitchFamily="49" charset="-122"/>
              </a:rPr>
              <a:t>    </a:t>
            </a:r>
            <a:r>
              <a:rPr lang="en-US" altLang="zh-CN" b="0" dirty="0">
                <a:latin typeface="楷体" panose="02010609060101010101" pitchFamily="49" charset="-122"/>
                <a:ea typeface="楷体" panose="02010609060101010101" pitchFamily="49" charset="-122"/>
              </a:rPr>
              <a:t>(1) </a:t>
            </a:r>
            <a:r>
              <a:rPr lang="zh-CN" altLang="en-US" b="0" dirty="0">
                <a:solidFill>
                  <a:srgbClr val="CC0000"/>
                </a:solidFill>
                <a:latin typeface="楷体" panose="02010609060101010101" pitchFamily="49" charset="-122"/>
                <a:ea typeface="楷体" panose="02010609060101010101" pitchFamily="49" charset="-122"/>
              </a:rPr>
              <a:t>杆端弯矩</a:t>
            </a:r>
            <a:r>
              <a:rPr lang="zh-CN" altLang="en-US" b="0" dirty="0">
                <a:latin typeface="楷体" panose="02010609060101010101" pitchFamily="49" charset="-122"/>
                <a:ea typeface="楷体" panose="02010609060101010101" pitchFamily="49" charset="-122"/>
              </a:rPr>
              <a:t>以顺时针为正</a:t>
            </a:r>
            <a:r>
              <a:rPr lang="en-US" altLang="zh-CN" b="0" dirty="0">
                <a:latin typeface="楷体" panose="02010609060101010101" pitchFamily="49" charset="-122"/>
                <a:ea typeface="楷体" panose="02010609060101010101" pitchFamily="49" charset="-122"/>
              </a:rPr>
              <a:t>,</a:t>
            </a:r>
            <a:r>
              <a:rPr lang="zh-CN" altLang="en-US" b="0" dirty="0">
                <a:latin typeface="楷体" panose="02010609060101010101" pitchFamily="49" charset="-122"/>
                <a:ea typeface="楷体" panose="02010609060101010101" pitchFamily="49" charset="-122"/>
              </a:rPr>
              <a:t>反之为负。对</a:t>
            </a:r>
            <a:r>
              <a:rPr lang="zh-CN" altLang="en-US" b="0" dirty="0">
                <a:solidFill>
                  <a:srgbClr val="CC0000"/>
                </a:solidFill>
                <a:latin typeface="楷体" panose="02010609060101010101" pitchFamily="49" charset="-122"/>
                <a:ea typeface="楷体" panose="02010609060101010101" pitchFamily="49" charset="-122"/>
              </a:rPr>
              <a:t>结点或支座</a:t>
            </a:r>
            <a:r>
              <a:rPr lang="zh-CN" altLang="en-US" b="0" dirty="0">
                <a:latin typeface="楷体" panose="02010609060101010101" pitchFamily="49" charset="-122"/>
                <a:ea typeface="楷体" panose="02010609060101010101" pitchFamily="49" charset="-122"/>
              </a:rPr>
              <a:t>而言</a:t>
            </a:r>
            <a:r>
              <a:rPr lang="en-US" altLang="zh-CN" b="0" dirty="0">
                <a:latin typeface="楷体" panose="02010609060101010101" pitchFamily="49" charset="-122"/>
                <a:ea typeface="楷体" panose="02010609060101010101" pitchFamily="49" charset="-122"/>
              </a:rPr>
              <a:t>,</a:t>
            </a:r>
            <a:r>
              <a:rPr lang="zh-CN" altLang="en-US" b="0" dirty="0">
                <a:latin typeface="楷体" panose="02010609060101010101" pitchFamily="49" charset="-122"/>
                <a:ea typeface="楷体" panose="02010609060101010101" pitchFamily="49" charset="-122"/>
              </a:rPr>
              <a:t>则以逆时针方向为正。弯矩图仍画在杆件受拉纤维一侧。剪力的规定同前</a:t>
            </a:r>
            <a:r>
              <a:rPr lang="en-US" altLang="zh-CN" b="0" dirty="0">
                <a:latin typeface="楷体" panose="02010609060101010101" pitchFamily="49" charset="-122"/>
                <a:ea typeface="楷体" panose="02010609060101010101" pitchFamily="49" charset="-122"/>
              </a:rPr>
              <a:t>.</a:t>
            </a:r>
          </a:p>
        </p:txBody>
      </p:sp>
      <p:sp>
        <p:nvSpPr>
          <p:cNvPr id="6" name="Rectangle 2"/>
          <p:cNvSpPr>
            <a:spLocks noChangeArrowheads="1"/>
          </p:cNvSpPr>
          <p:nvPr/>
        </p:nvSpPr>
        <p:spPr bwMode="auto">
          <a:xfrm>
            <a:off x="813065" y="4365104"/>
            <a:ext cx="7560840"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458788"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algn="just" eaLnBrk="1" hangingPunct="1">
              <a:spcBef>
                <a:spcPct val="0"/>
              </a:spcBef>
            </a:pPr>
            <a:r>
              <a:rPr lang="en-US" altLang="zh-CN" sz="2200" b="0" dirty="0">
                <a:latin typeface="楷体" panose="02010609060101010101" pitchFamily="49" charset="-122"/>
                <a:ea typeface="楷体" panose="02010609060101010101" pitchFamily="49" charset="-122"/>
              </a:rPr>
              <a:t>(2)</a:t>
            </a:r>
            <a:r>
              <a:rPr lang="zh-CN" altLang="en-US" sz="2200" b="0" dirty="0">
                <a:solidFill>
                  <a:srgbClr val="CC0000"/>
                </a:solidFill>
                <a:latin typeface="楷体" panose="02010609060101010101" pitchFamily="49" charset="-122"/>
                <a:ea typeface="楷体" panose="02010609060101010101" pitchFamily="49" charset="-122"/>
              </a:rPr>
              <a:t>杆件转角</a:t>
            </a:r>
            <a:r>
              <a:rPr lang="zh-CN" altLang="en-US" sz="2200" b="0" dirty="0">
                <a:latin typeface="楷体" panose="02010609060101010101" pitchFamily="49" charset="-122"/>
                <a:ea typeface="楷体" panose="02010609060101010101" pitchFamily="49" charset="-122"/>
              </a:rPr>
              <a:t>以顺时针为正</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反之为负。杆件两端在垂直于杆轴方向上的相对线位移</a:t>
            </a:r>
            <a:r>
              <a:rPr lang="en-US" altLang="zh-CN" sz="2200" b="0" i="1" dirty="0">
                <a:latin typeface="楷体" panose="02010609060101010101" pitchFamily="49" charset="-122"/>
                <a:ea typeface="楷体" panose="02010609060101010101" pitchFamily="49" charset="-122"/>
              </a:rPr>
              <a:t>Δ</a:t>
            </a:r>
            <a:r>
              <a:rPr lang="en-US" altLang="zh-CN" sz="2200" b="0" i="1" baseline="-25000" dirty="0">
                <a:latin typeface="楷体" panose="02010609060101010101" pitchFamily="49" charset="-122"/>
                <a:ea typeface="楷体" panose="02010609060101010101" pitchFamily="49" charset="-122"/>
              </a:rPr>
              <a:t>AB</a:t>
            </a:r>
            <a:r>
              <a:rPr lang="zh-CN" altLang="en-US" sz="2200" b="0" dirty="0">
                <a:latin typeface="楷体" panose="02010609060101010101" pitchFamily="49" charset="-122"/>
                <a:ea typeface="楷体" panose="02010609060101010101" pitchFamily="49" charset="-122"/>
              </a:rPr>
              <a:t>（</a:t>
            </a:r>
            <a:r>
              <a:rPr lang="zh-CN" altLang="en-US" sz="2200" b="0" dirty="0">
                <a:solidFill>
                  <a:srgbClr val="CC0000"/>
                </a:solidFill>
                <a:latin typeface="楷体" panose="02010609060101010101" pitchFamily="49" charset="-122"/>
                <a:ea typeface="楷体" panose="02010609060101010101" pitchFamily="49" charset="-122"/>
              </a:rPr>
              <a:t>侧移</a:t>
            </a:r>
            <a:r>
              <a:rPr lang="zh-CN" altLang="en-US" sz="2200" b="0" dirty="0">
                <a:latin typeface="楷体" panose="02010609060101010101" pitchFamily="49" charset="-122"/>
                <a:ea typeface="楷体" panose="02010609060101010101" pitchFamily="49" charset="-122"/>
              </a:rPr>
              <a:t>）以使杆件顺时针转动为正</a:t>
            </a:r>
            <a:r>
              <a:rPr lang="en-US" altLang="zh-CN" sz="2200" b="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反之为负</a:t>
            </a:r>
            <a:r>
              <a:rPr lang="zh-CN" altLang="en-US" sz="2200" dirty="0">
                <a:latin typeface="楷体" panose="02010609060101010101" pitchFamily="49" charset="-122"/>
                <a:ea typeface="楷体" panose="02010609060101010101" pitchFamily="49" charset="-122"/>
              </a:rPr>
              <a:t>。</a:t>
            </a:r>
            <a:r>
              <a:rPr lang="zh-CN" altLang="en-US" sz="2200" b="0" dirty="0">
                <a:latin typeface="楷体" panose="02010609060101010101" pitchFamily="49" charset="-122"/>
                <a:ea typeface="楷体" panose="02010609060101010101" pitchFamily="49" charset="-122"/>
              </a:rPr>
              <a:t> </a:t>
            </a:r>
          </a:p>
        </p:txBody>
      </p:sp>
      <p:graphicFrame>
        <p:nvGraphicFramePr>
          <p:cNvPr id="7" name="对象 6"/>
          <p:cNvGraphicFramePr>
            <a:graphicFrameLocks noGrp="1" noChangeAspect="1"/>
          </p:cNvGraphicFramePr>
          <p:nvPr>
            <p:extLst>
              <p:ext uri="{D42A27DB-BD31-4B8C-83A1-F6EECF244321}">
                <p14:modId xmlns:p14="http://schemas.microsoft.com/office/powerpoint/2010/main" val="1708922071"/>
              </p:ext>
            </p:extLst>
          </p:nvPr>
        </p:nvGraphicFramePr>
        <p:xfrm>
          <a:off x="1334711" y="5486040"/>
          <a:ext cx="2520950" cy="1027112"/>
        </p:xfrm>
        <a:graphic>
          <a:graphicData uri="http://schemas.openxmlformats.org/presentationml/2006/ole">
            <mc:AlternateContent xmlns:mc="http://schemas.openxmlformats.org/markup-compatibility/2006">
              <mc:Choice xmlns:v="urn:schemas-microsoft-com:vml" Requires="v">
                <p:oleObj spid="_x0000_s16284" name="AutoCAD Drawing" r:id="rId4" imgW="8791575" imgH="4581525" progId="AutoCAD.Drawing.16">
                  <p:embed/>
                </p:oleObj>
              </mc:Choice>
              <mc:Fallback>
                <p:oleObj name="AutoCAD Drawing" r:id="rId4" imgW="8791575" imgH="4581525" progId="AutoCAD.Drawing.16">
                  <p:embed/>
                  <p:pic>
                    <p:nvPicPr>
                      <p:cNvPr id="0" name="Object 7"/>
                      <p:cNvPicPr>
                        <a:picLocks noGrp="1" noChangeAspect="1" noChangeArrowheads="1"/>
                      </p:cNvPicPr>
                      <p:nvPr/>
                    </p:nvPicPr>
                    <p:blipFill>
                      <a:blip r:embed="rId5">
                        <a:extLst>
                          <a:ext uri="{28A0092B-C50C-407E-A947-70E740481C1C}">
                            <a14:useLocalDpi xmlns:a14="http://schemas.microsoft.com/office/drawing/2010/main" val="0"/>
                          </a:ext>
                        </a:extLst>
                      </a:blip>
                      <a:srcRect l="47562" t="40262" r="23277" b="36958"/>
                      <a:stretch>
                        <a:fillRect/>
                      </a:stretch>
                    </p:blipFill>
                    <p:spPr bwMode="auto">
                      <a:xfrm>
                        <a:off x="1334711" y="5486040"/>
                        <a:ext cx="2520950" cy="1027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203856656"/>
              </p:ext>
            </p:extLst>
          </p:nvPr>
        </p:nvGraphicFramePr>
        <p:xfrm>
          <a:off x="4875458" y="5301208"/>
          <a:ext cx="3311525" cy="1225550"/>
        </p:xfrm>
        <a:graphic>
          <a:graphicData uri="http://schemas.openxmlformats.org/presentationml/2006/ole">
            <mc:AlternateContent xmlns:mc="http://schemas.openxmlformats.org/markup-compatibility/2006">
              <mc:Choice xmlns:v="urn:schemas-microsoft-com:vml" Requires="v">
                <p:oleObj spid="_x0000_s16285" name="AutoCAD Drawing" r:id="rId6" imgW="8791575" imgH="4581525" progId="AutoCAD.Drawing.16">
                  <p:embed/>
                </p:oleObj>
              </mc:Choice>
              <mc:Fallback>
                <p:oleObj name="AutoCAD Drawing" r:id="rId6" imgW="8791575" imgH="4581525" progId="AutoCAD.Drawing.16">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l="18291" t="55872" r="51973" b="22992"/>
                      <a:stretch>
                        <a:fillRect/>
                      </a:stretch>
                    </p:blipFill>
                    <p:spPr bwMode="auto">
                      <a:xfrm>
                        <a:off x="4875458" y="5301208"/>
                        <a:ext cx="3311525" cy="1225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9" name="Group 67"/>
          <p:cNvGrpSpPr>
            <a:grpSpLocks/>
          </p:cNvGrpSpPr>
          <p:nvPr/>
        </p:nvGrpSpPr>
        <p:grpSpPr bwMode="auto">
          <a:xfrm>
            <a:off x="4797455" y="2964778"/>
            <a:ext cx="3463462" cy="1295400"/>
            <a:chOff x="1160" y="2928"/>
            <a:chExt cx="2200" cy="816"/>
          </a:xfrm>
        </p:grpSpPr>
        <p:sp>
          <p:nvSpPr>
            <p:cNvPr id="10" name="Line 42"/>
            <p:cNvSpPr>
              <a:spLocks noChangeShapeType="1"/>
            </p:cNvSpPr>
            <p:nvPr/>
          </p:nvSpPr>
          <p:spPr bwMode="auto">
            <a:xfrm rot="11145495" flipH="1">
              <a:off x="2963" y="3192"/>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1" name="Line 43"/>
            <p:cNvSpPr>
              <a:spLocks noChangeShapeType="1"/>
            </p:cNvSpPr>
            <p:nvPr/>
          </p:nvSpPr>
          <p:spPr bwMode="auto">
            <a:xfrm rot="11145495" flipH="1">
              <a:off x="2960" y="330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2" name="Line 44"/>
            <p:cNvSpPr>
              <a:spLocks noChangeShapeType="1"/>
            </p:cNvSpPr>
            <p:nvPr/>
          </p:nvSpPr>
          <p:spPr bwMode="auto">
            <a:xfrm rot="11145495" flipH="1">
              <a:off x="2951" y="3369"/>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3" name="Line 45"/>
            <p:cNvSpPr>
              <a:spLocks noChangeShapeType="1"/>
            </p:cNvSpPr>
            <p:nvPr/>
          </p:nvSpPr>
          <p:spPr bwMode="auto">
            <a:xfrm rot="11145495" flipH="1">
              <a:off x="2963" y="3249"/>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4" name="Line 46"/>
            <p:cNvSpPr>
              <a:spLocks noChangeShapeType="1"/>
            </p:cNvSpPr>
            <p:nvPr/>
          </p:nvSpPr>
          <p:spPr bwMode="auto">
            <a:xfrm>
              <a:off x="1712" y="3312"/>
              <a:ext cx="10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5" name="Line 47"/>
            <p:cNvSpPr>
              <a:spLocks noChangeShapeType="1"/>
            </p:cNvSpPr>
            <p:nvPr/>
          </p:nvSpPr>
          <p:spPr bwMode="auto">
            <a:xfrm>
              <a:off x="2176" y="3016"/>
              <a:ext cx="0" cy="28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6" name="Text Box 48"/>
            <p:cNvSpPr txBox="1">
              <a:spLocks noChangeArrowheads="1"/>
            </p:cNvSpPr>
            <p:nvPr/>
          </p:nvSpPr>
          <p:spPr bwMode="auto">
            <a:xfrm>
              <a:off x="1968" y="2928"/>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b="1">
                  <a:solidFill>
                    <a:schemeClr val="tx1"/>
                  </a:solidFill>
                  <a:latin typeface="黑体" pitchFamily="49" charset="-122"/>
                  <a:ea typeface="黑体" pitchFamily="49" charset="-122"/>
                </a:defRPr>
              </a:lvl1pPr>
              <a:lvl2pPr marL="742950" indent="-285750" eaLnBrk="0" hangingPunct="0">
                <a:defRPr kumimoji="1" sz="2400" b="1">
                  <a:solidFill>
                    <a:schemeClr val="tx1"/>
                  </a:solidFill>
                  <a:latin typeface="黑体" pitchFamily="49" charset="-122"/>
                  <a:ea typeface="黑体" pitchFamily="49" charset="-122"/>
                </a:defRPr>
              </a:lvl2pPr>
              <a:lvl3pPr marL="1143000" indent="-228600" eaLnBrk="0" hangingPunct="0">
                <a:defRPr kumimoji="1" sz="2400" b="1">
                  <a:solidFill>
                    <a:schemeClr val="tx1"/>
                  </a:solidFill>
                  <a:latin typeface="黑体" pitchFamily="49" charset="-122"/>
                  <a:ea typeface="黑体" pitchFamily="49" charset="-122"/>
                </a:defRPr>
              </a:lvl3pPr>
              <a:lvl4pPr marL="1600200" indent="-228600" eaLnBrk="0" hangingPunct="0">
                <a:defRPr kumimoji="1" sz="2400" b="1">
                  <a:solidFill>
                    <a:schemeClr val="tx1"/>
                  </a:solidFill>
                  <a:latin typeface="黑体" pitchFamily="49" charset="-122"/>
                  <a:ea typeface="黑体" pitchFamily="49" charset="-122"/>
                </a:defRPr>
              </a:lvl4pPr>
              <a:lvl5pPr marL="2057400" indent="-228600" eaLnBrk="0" hangingPunct="0">
                <a:defRPr kumimoji="1" sz="2400" b="1">
                  <a:solidFill>
                    <a:schemeClr val="tx1"/>
                  </a:solidFill>
                  <a:latin typeface="黑体" pitchFamily="49" charset="-122"/>
                  <a:ea typeface="黑体" pitchFamily="49" charset="-122"/>
                </a:defRPr>
              </a:lvl5pPr>
              <a:lvl6pPr marL="25146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6pPr>
              <a:lvl7pPr marL="29718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7pPr>
              <a:lvl8pPr marL="34290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8pPr>
              <a:lvl9pPr marL="38862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9pPr>
            </a:lstStyle>
            <a:p>
              <a:pPr eaLnBrk="1" hangingPunct="1">
                <a:spcBef>
                  <a:spcPct val="50000"/>
                </a:spcBef>
              </a:pPr>
              <a:r>
                <a:rPr lang="en-US" altLang="zh-CN">
                  <a:solidFill>
                    <a:srgbClr val="0000FF"/>
                  </a:solidFill>
                  <a:latin typeface="Times New Roman" pitchFamily="18" charset="0"/>
                  <a:ea typeface="宋体" pitchFamily="2" charset="-122"/>
                </a:rPr>
                <a:t>P</a:t>
              </a:r>
            </a:p>
          </p:txBody>
        </p:sp>
        <p:sp>
          <p:nvSpPr>
            <p:cNvPr id="17" name="Text Box 49"/>
            <p:cNvSpPr txBox="1">
              <a:spLocks noChangeArrowheads="1"/>
            </p:cNvSpPr>
            <p:nvPr/>
          </p:nvSpPr>
          <p:spPr bwMode="auto">
            <a:xfrm>
              <a:off x="3072" y="3212"/>
              <a:ext cx="1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b="1">
                  <a:solidFill>
                    <a:schemeClr val="tx1"/>
                  </a:solidFill>
                  <a:latin typeface="黑体" pitchFamily="49" charset="-122"/>
                  <a:ea typeface="黑体" pitchFamily="49" charset="-122"/>
                </a:defRPr>
              </a:lvl1pPr>
              <a:lvl2pPr marL="742950" indent="-285750" eaLnBrk="0" hangingPunct="0">
                <a:defRPr kumimoji="1" sz="2400" b="1">
                  <a:solidFill>
                    <a:schemeClr val="tx1"/>
                  </a:solidFill>
                  <a:latin typeface="黑体" pitchFamily="49" charset="-122"/>
                  <a:ea typeface="黑体" pitchFamily="49" charset="-122"/>
                </a:defRPr>
              </a:lvl2pPr>
              <a:lvl3pPr marL="1143000" indent="-228600" eaLnBrk="0" hangingPunct="0">
                <a:defRPr kumimoji="1" sz="2400" b="1">
                  <a:solidFill>
                    <a:schemeClr val="tx1"/>
                  </a:solidFill>
                  <a:latin typeface="黑体" pitchFamily="49" charset="-122"/>
                  <a:ea typeface="黑体" pitchFamily="49" charset="-122"/>
                </a:defRPr>
              </a:lvl3pPr>
              <a:lvl4pPr marL="1600200" indent="-228600" eaLnBrk="0" hangingPunct="0">
                <a:defRPr kumimoji="1" sz="2400" b="1">
                  <a:solidFill>
                    <a:schemeClr val="tx1"/>
                  </a:solidFill>
                  <a:latin typeface="黑体" pitchFamily="49" charset="-122"/>
                  <a:ea typeface="黑体" pitchFamily="49" charset="-122"/>
                </a:defRPr>
              </a:lvl4pPr>
              <a:lvl5pPr marL="2057400" indent="-228600" eaLnBrk="0" hangingPunct="0">
                <a:defRPr kumimoji="1" sz="2400" b="1">
                  <a:solidFill>
                    <a:schemeClr val="tx1"/>
                  </a:solidFill>
                  <a:latin typeface="黑体" pitchFamily="49" charset="-122"/>
                  <a:ea typeface="黑体" pitchFamily="49" charset="-122"/>
                </a:defRPr>
              </a:lvl5pPr>
              <a:lvl6pPr marL="25146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6pPr>
              <a:lvl7pPr marL="29718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7pPr>
              <a:lvl8pPr marL="34290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8pPr>
              <a:lvl9pPr marL="38862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9pPr>
            </a:lstStyle>
            <a:p>
              <a:pPr eaLnBrk="1" hangingPunct="1">
                <a:spcBef>
                  <a:spcPct val="50000"/>
                </a:spcBef>
              </a:pPr>
              <a:r>
                <a:rPr lang="en-US" altLang="zh-CN">
                  <a:latin typeface="Times New Roman" pitchFamily="18" charset="0"/>
                  <a:ea typeface="宋体" pitchFamily="2" charset="-122"/>
                </a:rPr>
                <a:t>B</a:t>
              </a:r>
            </a:p>
          </p:txBody>
        </p:sp>
        <p:sp>
          <p:nvSpPr>
            <p:cNvPr id="18" name="Line 50"/>
            <p:cNvSpPr>
              <a:spLocks noChangeShapeType="1"/>
            </p:cNvSpPr>
            <p:nvPr/>
          </p:nvSpPr>
          <p:spPr bwMode="auto">
            <a:xfrm>
              <a:off x="2957" y="3192"/>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19" name="Line 51"/>
            <p:cNvSpPr>
              <a:spLocks noChangeShapeType="1"/>
            </p:cNvSpPr>
            <p:nvPr/>
          </p:nvSpPr>
          <p:spPr bwMode="auto">
            <a:xfrm>
              <a:off x="1424" y="3176"/>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0" name="Line 52"/>
            <p:cNvSpPr>
              <a:spLocks noChangeShapeType="1"/>
            </p:cNvSpPr>
            <p:nvPr/>
          </p:nvSpPr>
          <p:spPr bwMode="auto">
            <a:xfrm flipH="1">
              <a:off x="1328" y="317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1" name="Line 53"/>
            <p:cNvSpPr>
              <a:spLocks noChangeShapeType="1"/>
            </p:cNvSpPr>
            <p:nvPr/>
          </p:nvSpPr>
          <p:spPr bwMode="auto">
            <a:xfrm flipH="1">
              <a:off x="1328" y="3304"/>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2" name="Line 54"/>
            <p:cNvSpPr>
              <a:spLocks noChangeShapeType="1"/>
            </p:cNvSpPr>
            <p:nvPr/>
          </p:nvSpPr>
          <p:spPr bwMode="auto">
            <a:xfrm flipH="1">
              <a:off x="1328" y="336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3" name="Line 55"/>
            <p:cNvSpPr>
              <a:spLocks noChangeShapeType="1"/>
            </p:cNvSpPr>
            <p:nvPr/>
          </p:nvSpPr>
          <p:spPr bwMode="auto">
            <a:xfrm flipH="1">
              <a:off x="1328" y="324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4" name="Text Box 56"/>
            <p:cNvSpPr txBox="1">
              <a:spLocks noChangeArrowheads="1"/>
            </p:cNvSpPr>
            <p:nvPr/>
          </p:nvSpPr>
          <p:spPr bwMode="auto">
            <a:xfrm>
              <a:off x="1160" y="3248"/>
              <a:ext cx="1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b="1">
                  <a:solidFill>
                    <a:schemeClr val="tx1"/>
                  </a:solidFill>
                  <a:latin typeface="黑体" pitchFamily="49" charset="-122"/>
                  <a:ea typeface="黑体" pitchFamily="49" charset="-122"/>
                </a:defRPr>
              </a:lvl1pPr>
              <a:lvl2pPr marL="742950" indent="-285750" eaLnBrk="0" hangingPunct="0">
                <a:defRPr kumimoji="1" sz="2400" b="1">
                  <a:solidFill>
                    <a:schemeClr val="tx1"/>
                  </a:solidFill>
                  <a:latin typeface="黑体" pitchFamily="49" charset="-122"/>
                  <a:ea typeface="黑体" pitchFamily="49" charset="-122"/>
                </a:defRPr>
              </a:lvl2pPr>
              <a:lvl3pPr marL="1143000" indent="-228600" eaLnBrk="0" hangingPunct="0">
                <a:defRPr kumimoji="1" sz="2400" b="1">
                  <a:solidFill>
                    <a:schemeClr val="tx1"/>
                  </a:solidFill>
                  <a:latin typeface="黑体" pitchFamily="49" charset="-122"/>
                  <a:ea typeface="黑体" pitchFamily="49" charset="-122"/>
                </a:defRPr>
              </a:lvl3pPr>
              <a:lvl4pPr marL="1600200" indent="-228600" eaLnBrk="0" hangingPunct="0">
                <a:defRPr kumimoji="1" sz="2400" b="1">
                  <a:solidFill>
                    <a:schemeClr val="tx1"/>
                  </a:solidFill>
                  <a:latin typeface="黑体" pitchFamily="49" charset="-122"/>
                  <a:ea typeface="黑体" pitchFamily="49" charset="-122"/>
                </a:defRPr>
              </a:lvl4pPr>
              <a:lvl5pPr marL="2057400" indent="-228600" eaLnBrk="0" hangingPunct="0">
                <a:defRPr kumimoji="1" sz="2400" b="1">
                  <a:solidFill>
                    <a:schemeClr val="tx1"/>
                  </a:solidFill>
                  <a:latin typeface="黑体" pitchFamily="49" charset="-122"/>
                  <a:ea typeface="黑体" pitchFamily="49" charset="-122"/>
                </a:defRPr>
              </a:lvl5pPr>
              <a:lvl6pPr marL="25146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6pPr>
              <a:lvl7pPr marL="29718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7pPr>
              <a:lvl8pPr marL="34290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8pPr>
              <a:lvl9pPr marL="38862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9pPr>
            </a:lstStyle>
            <a:p>
              <a:pPr eaLnBrk="1" hangingPunct="1">
                <a:spcBef>
                  <a:spcPct val="50000"/>
                </a:spcBef>
              </a:pPr>
              <a:r>
                <a:rPr lang="en-US" altLang="zh-CN">
                  <a:latin typeface="Times New Roman" pitchFamily="18" charset="0"/>
                  <a:ea typeface="宋体" pitchFamily="2" charset="-122"/>
                </a:rPr>
                <a:t>A</a:t>
              </a:r>
            </a:p>
          </p:txBody>
        </p:sp>
        <p:sp>
          <p:nvSpPr>
            <p:cNvPr id="25" name="Line 57"/>
            <p:cNvSpPr>
              <a:spLocks noChangeShapeType="1"/>
            </p:cNvSpPr>
            <p:nvPr/>
          </p:nvSpPr>
          <p:spPr bwMode="auto">
            <a:xfrm>
              <a:off x="1432" y="3312"/>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6" name="Line 58"/>
            <p:cNvSpPr>
              <a:spLocks noChangeShapeType="1"/>
            </p:cNvSpPr>
            <p:nvPr/>
          </p:nvSpPr>
          <p:spPr bwMode="auto">
            <a:xfrm>
              <a:off x="2856" y="3308"/>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27" name="Text Box 59"/>
            <p:cNvSpPr txBox="1">
              <a:spLocks noChangeArrowheads="1"/>
            </p:cNvSpPr>
            <p:nvPr/>
          </p:nvSpPr>
          <p:spPr bwMode="auto">
            <a:xfrm>
              <a:off x="2544" y="3456"/>
              <a:ext cx="81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b="1">
                  <a:solidFill>
                    <a:schemeClr val="tx1"/>
                  </a:solidFill>
                  <a:latin typeface="黑体" pitchFamily="49" charset="-122"/>
                  <a:ea typeface="黑体" pitchFamily="49" charset="-122"/>
                </a:defRPr>
              </a:lvl1pPr>
              <a:lvl2pPr marL="742950" indent="-285750" eaLnBrk="0" hangingPunct="0">
                <a:defRPr kumimoji="1" sz="2400" b="1">
                  <a:solidFill>
                    <a:schemeClr val="tx1"/>
                  </a:solidFill>
                  <a:latin typeface="黑体" pitchFamily="49" charset="-122"/>
                  <a:ea typeface="黑体" pitchFamily="49" charset="-122"/>
                </a:defRPr>
              </a:lvl2pPr>
              <a:lvl3pPr marL="1143000" indent="-228600" eaLnBrk="0" hangingPunct="0">
                <a:defRPr kumimoji="1" sz="2400" b="1">
                  <a:solidFill>
                    <a:schemeClr val="tx1"/>
                  </a:solidFill>
                  <a:latin typeface="黑体" pitchFamily="49" charset="-122"/>
                  <a:ea typeface="黑体" pitchFamily="49" charset="-122"/>
                </a:defRPr>
              </a:lvl3pPr>
              <a:lvl4pPr marL="1600200" indent="-228600" eaLnBrk="0" hangingPunct="0">
                <a:defRPr kumimoji="1" sz="2400" b="1">
                  <a:solidFill>
                    <a:schemeClr val="tx1"/>
                  </a:solidFill>
                  <a:latin typeface="黑体" pitchFamily="49" charset="-122"/>
                  <a:ea typeface="黑体" pitchFamily="49" charset="-122"/>
                </a:defRPr>
              </a:lvl4pPr>
              <a:lvl5pPr marL="2057400" indent="-228600" eaLnBrk="0" hangingPunct="0">
                <a:defRPr kumimoji="1" sz="2400" b="1">
                  <a:solidFill>
                    <a:schemeClr val="tx1"/>
                  </a:solidFill>
                  <a:latin typeface="黑体" pitchFamily="49" charset="-122"/>
                  <a:ea typeface="黑体" pitchFamily="49" charset="-122"/>
                </a:defRPr>
              </a:lvl5pPr>
              <a:lvl6pPr marL="25146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6pPr>
              <a:lvl7pPr marL="29718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7pPr>
              <a:lvl8pPr marL="34290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8pPr>
              <a:lvl9pPr marL="38862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9pPr>
            </a:lstStyle>
            <a:p>
              <a:pPr eaLnBrk="1" hangingPunct="1">
                <a:spcBef>
                  <a:spcPct val="50000"/>
                </a:spcBef>
              </a:pPr>
              <a:r>
                <a:rPr lang="en-US" altLang="zh-CN">
                  <a:solidFill>
                    <a:srgbClr val="FF0000"/>
                  </a:solidFill>
                  <a:latin typeface="Times New Roman" pitchFamily="18" charset="0"/>
                  <a:ea typeface="宋体" pitchFamily="2" charset="-122"/>
                </a:rPr>
                <a:t>Q</a:t>
              </a:r>
              <a:r>
                <a:rPr lang="en-US" altLang="zh-CN" sz="1600">
                  <a:solidFill>
                    <a:srgbClr val="FF0000"/>
                  </a:solidFill>
                  <a:latin typeface="Times New Roman" pitchFamily="18" charset="0"/>
                  <a:ea typeface="宋体" pitchFamily="2" charset="-122"/>
                </a:rPr>
                <a:t>BA</a:t>
              </a:r>
              <a:r>
                <a:rPr lang="en-US" altLang="zh-CN">
                  <a:solidFill>
                    <a:srgbClr val="FF0000"/>
                  </a:solidFill>
                  <a:latin typeface="Times New Roman" pitchFamily="18" charset="0"/>
                  <a:ea typeface="宋体" pitchFamily="2" charset="-122"/>
                  <a:sym typeface="Symbol" pitchFamily="18" charset="2"/>
                </a:rPr>
                <a:t>0</a:t>
              </a:r>
              <a:endParaRPr lang="en-US" altLang="zh-CN">
                <a:solidFill>
                  <a:srgbClr val="0000FF"/>
                </a:solidFill>
                <a:latin typeface="Times New Roman" pitchFamily="18" charset="0"/>
                <a:ea typeface="宋体" pitchFamily="2" charset="-122"/>
              </a:endParaRPr>
            </a:p>
          </p:txBody>
        </p:sp>
        <p:sp>
          <p:nvSpPr>
            <p:cNvPr id="28" name="Text Box 60"/>
            <p:cNvSpPr txBox="1">
              <a:spLocks noChangeArrowheads="1"/>
            </p:cNvSpPr>
            <p:nvPr/>
          </p:nvSpPr>
          <p:spPr bwMode="auto">
            <a:xfrm>
              <a:off x="1344" y="3446"/>
              <a:ext cx="72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b="1">
                  <a:solidFill>
                    <a:schemeClr val="tx1"/>
                  </a:solidFill>
                  <a:latin typeface="黑体" pitchFamily="49" charset="-122"/>
                  <a:ea typeface="黑体" pitchFamily="49" charset="-122"/>
                </a:defRPr>
              </a:lvl1pPr>
              <a:lvl2pPr marL="742950" indent="-285750" eaLnBrk="0" hangingPunct="0">
                <a:defRPr kumimoji="1" sz="2400" b="1">
                  <a:solidFill>
                    <a:schemeClr val="tx1"/>
                  </a:solidFill>
                  <a:latin typeface="黑体" pitchFamily="49" charset="-122"/>
                  <a:ea typeface="黑体" pitchFamily="49" charset="-122"/>
                </a:defRPr>
              </a:lvl2pPr>
              <a:lvl3pPr marL="1143000" indent="-228600" eaLnBrk="0" hangingPunct="0">
                <a:defRPr kumimoji="1" sz="2400" b="1">
                  <a:solidFill>
                    <a:schemeClr val="tx1"/>
                  </a:solidFill>
                  <a:latin typeface="黑体" pitchFamily="49" charset="-122"/>
                  <a:ea typeface="黑体" pitchFamily="49" charset="-122"/>
                </a:defRPr>
              </a:lvl3pPr>
              <a:lvl4pPr marL="1600200" indent="-228600" eaLnBrk="0" hangingPunct="0">
                <a:defRPr kumimoji="1" sz="2400" b="1">
                  <a:solidFill>
                    <a:schemeClr val="tx1"/>
                  </a:solidFill>
                  <a:latin typeface="黑体" pitchFamily="49" charset="-122"/>
                  <a:ea typeface="黑体" pitchFamily="49" charset="-122"/>
                </a:defRPr>
              </a:lvl4pPr>
              <a:lvl5pPr marL="2057400" indent="-228600" eaLnBrk="0" hangingPunct="0">
                <a:defRPr kumimoji="1" sz="2400" b="1">
                  <a:solidFill>
                    <a:schemeClr val="tx1"/>
                  </a:solidFill>
                  <a:latin typeface="黑体" pitchFamily="49" charset="-122"/>
                  <a:ea typeface="黑体" pitchFamily="49" charset="-122"/>
                </a:defRPr>
              </a:lvl5pPr>
              <a:lvl6pPr marL="25146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6pPr>
              <a:lvl7pPr marL="29718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7pPr>
              <a:lvl8pPr marL="34290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8pPr>
              <a:lvl9pPr marL="38862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9pPr>
            </a:lstStyle>
            <a:p>
              <a:pPr eaLnBrk="1" hangingPunct="1">
                <a:spcBef>
                  <a:spcPct val="50000"/>
                </a:spcBef>
              </a:pPr>
              <a:r>
                <a:rPr lang="en-US" altLang="zh-CN">
                  <a:solidFill>
                    <a:srgbClr val="FF0000"/>
                  </a:solidFill>
                  <a:latin typeface="Times New Roman" pitchFamily="18" charset="0"/>
                  <a:ea typeface="宋体" pitchFamily="2" charset="-122"/>
                </a:rPr>
                <a:t>Q</a:t>
              </a:r>
              <a:r>
                <a:rPr lang="en-US" altLang="zh-CN" sz="1800">
                  <a:solidFill>
                    <a:srgbClr val="FF0000"/>
                  </a:solidFill>
                  <a:latin typeface="Times New Roman" pitchFamily="18" charset="0"/>
                  <a:ea typeface="宋体" pitchFamily="2" charset="-122"/>
                </a:rPr>
                <a:t>AB</a:t>
              </a:r>
              <a:r>
                <a:rPr lang="en-US" altLang="zh-CN">
                  <a:solidFill>
                    <a:srgbClr val="FF0000"/>
                  </a:solidFill>
                  <a:latin typeface="Times New Roman" pitchFamily="18" charset="0"/>
                  <a:ea typeface="宋体" pitchFamily="2" charset="-122"/>
                  <a:sym typeface="Symbol" pitchFamily="18" charset="2"/>
                </a:rPr>
                <a:t>0</a:t>
              </a:r>
              <a:endParaRPr lang="en-US" altLang="zh-CN">
                <a:solidFill>
                  <a:srgbClr val="FF0000"/>
                </a:solidFill>
                <a:latin typeface="Times New Roman" pitchFamily="18" charset="0"/>
                <a:ea typeface="宋体" pitchFamily="2" charset="-122"/>
              </a:endParaRPr>
            </a:p>
          </p:txBody>
        </p:sp>
        <p:sp>
          <p:nvSpPr>
            <p:cNvPr id="29" name="Line 61"/>
            <p:cNvSpPr>
              <a:spLocks noChangeShapeType="1"/>
            </p:cNvSpPr>
            <p:nvPr/>
          </p:nvSpPr>
          <p:spPr bwMode="auto">
            <a:xfrm>
              <a:off x="1584" y="3130"/>
              <a:ext cx="0" cy="336"/>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0" name="Line 62"/>
            <p:cNvSpPr>
              <a:spLocks noChangeShapeType="1"/>
            </p:cNvSpPr>
            <p:nvPr/>
          </p:nvSpPr>
          <p:spPr bwMode="auto">
            <a:xfrm flipV="1">
              <a:off x="2744" y="3130"/>
              <a:ext cx="0" cy="336"/>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1" name="Line 63"/>
            <p:cNvSpPr>
              <a:spLocks noChangeShapeType="1"/>
            </p:cNvSpPr>
            <p:nvPr/>
          </p:nvSpPr>
          <p:spPr bwMode="auto">
            <a:xfrm flipV="1">
              <a:off x="1664" y="3114"/>
              <a:ext cx="0" cy="336"/>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2" name="Line 64"/>
            <p:cNvSpPr>
              <a:spLocks noChangeShapeType="1"/>
            </p:cNvSpPr>
            <p:nvPr/>
          </p:nvSpPr>
          <p:spPr bwMode="auto">
            <a:xfrm>
              <a:off x="2832" y="3146"/>
              <a:ext cx="0" cy="336"/>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33" name="Group 66"/>
          <p:cNvGrpSpPr>
            <a:grpSpLocks/>
          </p:cNvGrpSpPr>
          <p:nvPr/>
        </p:nvGrpSpPr>
        <p:grpSpPr bwMode="auto">
          <a:xfrm>
            <a:off x="808891" y="3057652"/>
            <a:ext cx="3988564" cy="1142206"/>
            <a:chOff x="1008" y="1776"/>
            <a:chExt cx="2592" cy="807"/>
          </a:xfrm>
        </p:grpSpPr>
        <p:sp>
          <p:nvSpPr>
            <p:cNvPr id="34" name="Line 6"/>
            <p:cNvSpPr>
              <a:spLocks noChangeShapeType="1"/>
            </p:cNvSpPr>
            <p:nvPr/>
          </p:nvSpPr>
          <p:spPr bwMode="auto">
            <a:xfrm rot="11145495" flipH="1">
              <a:off x="3027" y="1992"/>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5" name="Line 7"/>
            <p:cNvSpPr>
              <a:spLocks noChangeShapeType="1"/>
            </p:cNvSpPr>
            <p:nvPr/>
          </p:nvSpPr>
          <p:spPr bwMode="auto">
            <a:xfrm rot="11145495" flipH="1">
              <a:off x="3024" y="210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6" name="Line 8"/>
            <p:cNvSpPr>
              <a:spLocks noChangeShapeType="1"/>
            </p:cNvSpPr>
            <p:nvPr/>
          </p:nvSpPr>
          <p:spPr bwMode="auto">
            <a:xfrm rot="11145495" flipH="1">
              <a:off x="3015" y="2169"/>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7" name="Line 9"/>
            <p:cNvSpPr>
              <a:spLocks noChangeShapeType="1"/>
            </p:cNvSpPr>
            <p:nvPr/>
          </p:nvSpPr>
          <p:spPr bwMode="auto">
            <a:xfrm rot="11145495" flipH="1">
              <a:off x="3027" y="2049"/>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8" name="Line 10"/>
            <p:cNvSpPr>
              <a:spLocks noChangeShapeType="1"/>
            </p:cNvSpPr>
            <p:nvPr/>
          </p:nvSpPr>
          <p:spPr bwMode="auto">
            <a:xfrm>
              <a:off x="1776" y="2112"/>
              <a:ext cx="10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39" name="Line 11"/>
            <p:cNvSpPr>
              <a:spLocks noChangeShapeType="1"/>
            </p:cNvSpPr>
            <p:nvPr/>
          </p:nvSpPr>
          <p:spPr bwMode="auto">
            <a:xfrm>
              <a:off x="2240" y="1816"/>
              <a:ext cx="0" cy="288"/>
            </a:xfrm>
            <a:prstGeom prst="line">
              <a:avLst/>
            </a:prstGeom>
            <a:noFill/>
            <a:ln w="28575">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0" name="Text Box 12"/>
            <p:cNvSpPr txBox="1">
              <a:spLocks noChangeArrowheads="1"/>
            </p:cNvSpPr>
            <p:nvPr/>
          </p:nvSpPr>
          <p:spPr bwMode="auto">
            <a:xfrm>
              <a:off x="2236" y="1776"/>
              <a:ext cx="14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bg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b="1">
                  <a:solidFill>
                    <a:schemeClr val="tx1"/>
                  </a:solidFill>
                  <a:latin typeface="黑体" pitchFamily="49" charset="-122"/>
                  <a:ea typeface="黑体" pitchFamily="49" charset="-122"/>
                </a:defRPr>
              </a:lvl1pPr>
              <a:lvl2pPr marL="742950" indent="-285750" eaLnBrk="0" hangingPunct="0">
                <a:defRPr kumimoji="1" sz="2400" b="1">
                  <a:solidFill>
                    <a:schemeClr val="tx1"/>
                  </a:solidFill>
                  <a:latin typeface="黑体" pitchFamily="49" charset="-122"/>
                  <a:ea typeface="黑体" pitchFamily="49" charset="-122"/>
                </a:defRPr>
              </a:lvl2pPr>
              <a:lvl3pPr marL="1143000" indent="-228600" eaLnBrk="0" hangingPunct="0">
                <a:defRPr kumimoji="1" sz="2400" b="1">
                  <a:solidFill>
                    <a:schemeClr val="tx1"/>
                  </a:solidFill>
                  <a:latin typeface="黑体" pitchFamily="49" charset="-122"/>
                  <a:ea typeface="黑体" pitchFamily="49" charset="-122"/>
                </a:defRPr>
              </a:lvl3pPr>
              <a:lvl4pPr marL="1600200" indent="-228600" eaLnBrk="0" hangingPunct="0">
                <a:defRPr kumimoji="1" sz="2400" b="1">
                  <a:solidFill>
                    <a:schemeClr val="tx1"/>
                  </a:solidFill>
                  <a:latin typeface="黑体" pitchFamily="49" charset="-122"/>
                  <a:ea typeface="黑体" pitchFamily="49" charset="-122"/>
                </a:defRPr>
              </a:lvl4pPr>
              <a:lvl5pPr marL="2057400" indent="-228600" eaLnBrk="0" hangingPunct="0">
                <a:defRPr kumimoji="1" sz="2400" b="1">
                  <a:solidFill>
                    <a:schemeClr val="tx1"/>
                  </a:solidFill>
                  <a:latin typeface="黑体" pitchFamily="49" charset="-122"/>
                  <a:ea typeface="黑体" pitchFamily="49" charset="-122"/>
                </a:defRPr>
              </a:lvl5pPr>
              <a:lvl6pPr marL="25146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6pPr>
              <a:lvl7pPr marL="29718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7pPr>
              <a:lvl8pPr marL="34290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8pPr>
              <a:lvl9pPr marL="38862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9pPr>
            </a:lstStyle>
            <a:p>
              <a:pPr eaLnBrk="1" hangingPunct="1">
                <a:spcBef>
                  <a:spcPct val="50000"/>
                </a:spcBef>
              </a:pPr>
              <a:r>
                <a:rPr lang="en-US" altLang="zh-CN" sz="2800">
                  <a:solidFill>
                    <a:srgbClr val="0000FF"/>
                  </a:solidFill>
                  <a:latin typeface="Times New Roman" pitchFamily="18" charset="0"/>
                  <a:ea typeface="宋体" pitchFamily="2" charset="-122"/>
                </a:rPr>
                <a:t>P</a:t>
              </a:r>
              <a:endParaRPr lang="en-US" altLang="zh-CN" sz="2800">
                <a:latin typeface="Times New Roman" pitchFamily="18" charset="0"/>
                <a:ea typeface="宋体" pitchFamily="2" charset="-122"/>
              </a:endParaRPr>
            </a:p>
          </p:txBody>
        </p:sp>
        <p:sp>
          <p:nvSpPr>
            <p:cNvPr id="41" name="Text Box 13"/>
            <p:cNvSpPr txBox="1">
              <a:spLocks noChangeArrowheads="1"/>
            </p:cNvSpPr>
            <p:nvPr/>
          </p:nvSpPr>
          <p:spPr bwMode="auto">
            <a:xfrm>
              <a:off x="3136" y="2012"/>
              <a:ext cx="46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b="1">
                  <a:solidFill>
                    <a:schemeClr val="tx1"/>
                  </a:solidFill>
                  <a:latin typeface="黑体" pitchFamily="49" charset="-122"/>
                  <a:ea typeface="黑体" pitchFamily="49" charset="-122"/>
                </a:defRPr>
              </a:lvl1pPr>
              <a:lvl2pPr marL="742950" indent="-285750" eaLnBrk="0" hangingPunct="0">
                <a:defRPr kumimoji="1" sz="2400" b="1">
                  <a:solidFill>
                    <a:schemeClr val="tx1"/>
                  </a:solidFill>
                  <a:latin typeface="黑体" pitchFamily="49" charset="-122"/>
                  <a:ea typeface="黑体" pitchFamily="49" charset="-122"/>
                </a:defRPr>
              </a:lvl2pPr>
              <a:lvl3pPr marL="1143000" indent="-228600" eaLnBrk="0" hangingPunct="0">
                <a:defRPr kumimoji="1" sz="2400" b="1">
                  <a:solidFill>
                    <a:schemeClr val="tx1"/>
                  </a:solidFill>
                  <a:latin typeface="黑体" pitchFamily="49" charset="-122"/>
                  <a:ea typeface="黑体" pitchFamily="49" charset="-122"/>
                </a:defRPr>
              </a:lvl3pPr>
              <a:lvl4pPr marL="1600200" indent="-228600" eaLnBrk="0" hangingPunct="0">
                <a:defRPr kumimoji="1" sz="2400" b="1">
                  <a:solidFill>
                    <a:schemeClr val="tx1"/>
                  </a:solidFill>
                  <a:latin typeface="黑体" pitchFamily="49" charset="-122"/>
                  <a:ea typeface="黑体" pitchFamily="49" charset="-122"/>
                </a:defRPr>
              </a:lvl4pPr>
              <a:lvl5pPr marL="2057400" indent="-228600" eaLnBrk="0" hangingPunct="0">
                <a:defRPr kumimoji="1" sz="2400" b="1">
                  <a:solidFill>
                    <a:schemeClr val="tx1"/>
                  </a:solidFill>
                  <a:latin typeface="黑体" pitchFamily="49" charset="-122"/>
                  <a:ea typeface="黑体" pitchFamily="49" charset="-122"/>
                </a:defRPr>
              </a:lvl5pPr>
              <a:lvl6pPr marL="25146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6pPr>
              <a:lvl7pPr marL="29718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7pPr>
              <a:lvl8pPr marL="34290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8pPr>
              <a:lvl9pPr marL="38862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9pPr>
            </a:lstStyle>
            <a:p>
              <a:pPr eaLnBrk="1" hangingPunct="1">
                <a:spcBef>
                  <a:spcPct val="50000"/>
                </a:spcBef>
              </a:pPr>
              <a:r>
                <a:rPr lang="en-US" altLang="zh-CN" sz="2800">
                  <a:latin typeface="Times New Roman" pitchFamily="18" charset="0"/>
                  <a:ea typeface="宋体" pitchFamily="2" charset="-122"/>
                </a:rPr>
                <a:t>B</a:t>
              </a:r>
            </a:p>
          </p:txBody>
        </p:sp>
        <p:sp>
          <p:nvSpPr>
            <p:cNvPr id="42" name="Line 14"/>
            <p:cNvSpPr>
              <a:spLocks noChangeShapeType="1"/>
            </p:cNvSpPr>
            <p:nvPr/>
          </p:nvSpPr>
          <p:spPr bwMode="auto">
            <a:xfrm>
              <a:off x="3021" y="1992"/>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3" name="Line 15"/>
            <p:cNvSpPr>
              <a:spLocks noChangeShapeType="1"/>
            </p:cNvSpPr>
            <p:nvPr/>
          </p:nvSpPr>
          <p:spPr bwMode="auto">
            <a:xfrm>
              <a:off x="1488" y="1976"/>
              <a:ext cx="0"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4" name="Line 16"/>
            <p:cNvSpPr>
              <a:spLocks noChangeShapeType="1"/>
            </p:cNvSpPr>
            <p:nvPr/>
          </p:nvSpPr>
          <p:spPr bwMode="auto">
            <a:xfrm flipH="1">
              <a:off x="1392" y="1976"/>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5" name="Line 17"/>
            <p:cNvSpPr>
              <a:spLocks noChangeShapeType="1"/>
            </p:cNvSpPr>
            <p:nvPr/>
          </p:nvSpPr>
          <p:spPr bwMode="auto">
            <a:xfrm flipH="1">
              <a:off x="1392" y="2104"/>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6" name="Line 18"/>
            <p:cNvSpPr>
              <a:spLocks noChangeShapeType="1"/>
            </p:cNvSpPr>
            <p:nvPr/>
          </p:nvSpPr>
          <p:spPr bwMode="auto">
            <a:xfrm flipH="1">
              <a:off x="1392" y="216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7" name="Line 19"/>
            <p:cNvSpPr>
              <a:spLocks noChangeShapeType="1"/>
            </p:cNvSpPr>
            <p:nvPr/>
          </p:nvSpPr>
          <p:spPr bwMode="auto">
            <a:xfrm flipH="1">
              <a:off x="1392" y="2048"/>
              <a:ext cx="96" cy="48"/>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48" name="Text Box 20"/>
            <p:cNvSpPr txBox="1">
              <a:spLocks noChangeArrowheads="1"/>
            </p:cNvSpPr>
            <p:nvPr/>
          </p:nvSpPr>
          <p:spPr bwMode="auto">
            <a:xfrm>
              <a:off x="1008" y="2048"/>
              <a:ext cx="36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b="1">
                  <a:solidFill>
                    <a:schemeClr val="tx1"/>
                  </a:solidFill>
                  <a:latin typeface="黑体" pitchFamily="49" charset="-122"/>
                  <a:ea typeface="黑体" pitchFamily="49" charset="-122"/>
                </a:defRPr>
              </a:lvl1pPr>
              <a:lvl2pPr marL="742950" indent="-285750" eaLnBrk="0" hangingPunct="0">
                <a:defRPr kumimoji="1" sz="2400" b="1">
                  <a:solidFill>
                    <a:schemeClr val="tx1"/>
                  </a:solidFill>
                  <a:latin typeface="黑体" pitchFamily="49" charset="-122"/>
                  <a:ea typeface="黑体" pitchFamily="49" charset="-122"/>
                </a:defRPr>
              </a:lvl2pPr>
              <a:lvl3pPr marL="1143000" indent="-228600" eaLnBrk="0" hangingPunct="0">
                <a:defRPr kumimoji="1" sz="2400" b="1">
                  <a:solidFill>
                    <a:schemeClr val="tx1"/>
                  </a:solidFill>
                  <a:latin typeface="黑体" pitchFamily="49" charset="-122"/>
                  <a:ea typeface="黑体" pitchFamily="49" charset="-122"/>
                </a:defRPr>
              </a:lvl3pPr>
              <a:lvl4pPr marL="1600200" indent="-228600" eaLnBrk="0" hangingPunct="0">
                <a:defRPr kumimoji="1" sz="2400" b="1">
                  <a:solidFill>
                    <a:schemeClr val="tx1"/>
                  </a:solidFill>
                  <a:latin typeface="黑体" pitchFamily="49" charset="-122"/>
                  <a:ea typeface="黑体" pitchFamily="49" charset="-122"/>
                </a:defRPr>
              </a:lvl4pPr>
              <a:lvl5pPr marL="2057400" indent="-228600" eaLnBrk="0" hangingPunct="0">
                <a:defRPr kumimoji="1" sz="2400" b="1">
                  <a:solidFill>
                    <a:schemeClr val="tx1"/>
                  </a:solidFill>
                  <a:latin typeface="黑体" pitchFamily="49" charset="-122"/>
                  <a:ea typeface="黑体" pitchFamily="49" charset="-122"/>
                </a:defRPr>
              </a:lvl5pPr>
              <a:lvl6pPr marL="25146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6pPr>
              <a:lvl7pPr marL="29718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7pPr>
              <a:lvl8pPr marL="34290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8pPr>
              <a:lvl9pPr marL="38862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9pPr>
            </a:lstStyle>
            <a:p>
              <a:pPr eaLnBrk="1" hangingPunct="1">
                <a:spcBef>
                  <a:spcPct val="50000"/>
                </a:spcBef>
              </a:pPr>
              <a:r>
                <a:rPr lang="en-US" altLang="zh-CN" sz="2800">
                  <a:latin typeface="Times New Roman" pitchFamily="18" charset="0"/>
                  <a:ea typeface="宋体" pitchFamily="2" charset="-122"/>
                </a:rPr>
                <a:t>A</a:t>
              </a:r>
            </a:p>
          </p:txBody>
        </p:sp>
        <p:sp>
          <p:nvSpPr>
            <p:cNvPr id="49" name="Line 21"/>
            <p:cNvSpPr>
              <a:spLocks noChangeShapeType="1"/>
            </p:cNvSpPr>
            <p:nvPr/>
          </p:nvSpPr>
          <p:spPr bwMode="auto">
            <a:xfrm>
              <a:off x="1496" y="2112"/>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0" name="Line 22"/>
            <p:cNvSpPr>
              <a:spLocks noChangeShapeType="1"/>
            </p:cNvSpPr>
            <p:nvPr/>
          </p:nvSpPr>
          <p:spPr bwMode="auto">
            <a:xfrm>
              <a:off x="2920" y="2108"/>
              <a:ext cx="9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1" name="Freeform 23"/>
            <p:cNvSpPr>
              <a:spLocks/>
            </p:cNvSpPr>
            <p:nvPr/>
          </p:nvSpPr>
          <p:spPr bwMode="auto">
            <a:xfrm>
              <a:off x="1536" y="2016"/>
              <a:ext cx="104" cy="200"/>
            </a:xfrm>
            <a:custGeom>
              <a:avLst/>
              <a:gdLst>
                <a:gd name="T0" fmla="*/ 48 w 104"/>
                <a:gd name="T1" fmla="*/ 0 h 200"/>
                <a:gd name="T2" fmla="*/ 96 w 104"/>
                <a:gd name="T3" fmla="*/ 48 h 200"/>
                <a:gd name="T4" fmla="*/ 96 w 104"/>
                <a:gd name="T5" fmla="*/ 144 h 200"/>
                <a:gd name="T6" fmla="*/ 48 w 104"/>
                <a:gd name="T7" fmla="*/ 192 h 200"/>
                <a:gd name="T8" fmla="*/ 0 w 104"/>
                <a:gd name="T9" fmla="*/ 192 h 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200">
                  <a:moveTo>
                    <a:pt x="48" y="0"/>
                  </a:moveTo>
                  <a:cubicBezTo>
                    <a:pt x="68" y="12"/>
                    <a:pt x="88" y="24"/>
                    <a:pt x="96" y="48"/>
                  </a:cubicBezTo>
                  <a:cubicBezTo>
                    <a:pt x="104" y="72"/>
                    <a:pt x="104" y="120"/>
                    <a:pt x="96" y="144"/>
                  </a:cubicBezTo>
                  <a:cubicBezTo>
                    <a:pt x="88" y="168"/>
                    <a:pt x="64" y="184"/>
                    <a:pt x="48" y="192"/>
                  </a:cubicBezTo>
                  <a:cubicBezTo>
                    <a:pt x="32" y="200"/>
                    <a:pt x="16" y="196"/>
                    <a:pt x="0" y="192"/>
                  </a:cubicBez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2" name="Line 24"/>
            <p:cNvSpPr>
              <a:spLocks noChangeShapeType="1"/>
            </p:cNvSpPr>
            <p:nvPr/>
          </p:nvSpPr>
          <p:spPr bwMode="auto">
            <a:xfrm flipH="1">
              <a:off x="1480" y="2168"/>
              <a:ext cx="96" cy="4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3" name="Line 26"/>
            <p:cNvSpPr>
              <a:spLocks noChangeShapeType="1"/>
            </p:cNvSpPr>
            <p:nvPr/>
          </p:nvSpPr>
          <p:spPr bwMode="auto">
            <a:xfrm rot="-1440077">
              <a:off x="1496" y="2184"/>
              <a:ext cx="96" cy="9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4" name="Freeform 28"/>
            <p:cNvSpPr>
              <a:spLocks/>
            </p:cNvSpPr>
            <p:nvPr/>
          </p:nvSpPr>
          <p:spPr bwMode="auto">
            <a:xfrm rot="1902437">
              <a:off x="1720" y="2016"/>
              <a:ext cx="152" cy="200"/>
            </a:xfrm>
            <a:custGeom>
              <a:avLst/>
              <a:gdLst>
                <a:gd name="T0" fmla="*/ 56 w 152"/>
                <a:gd name="T1" fmla="*/ 0 h 200"/>
                <a:gd name="T2" fmla="*/ 8 w 152"/>
                <a:gd name="T3" fmla="*/ 48 h 200"/>
                <a:gd name="T4" fmla="*/ 8 w 152"/>
                <a:gd name="T5" fmla="*/ 96 h 200"/>
                <a:gd name="T6" fmla="*/ 8 w 152"/>
                <a:gd name="T7" fmla="*/ 144 h 200"/>
                <a:gd name="T8" fmla="*/ 56 w 152"/>
                <a:gd name="T9" fmla="*/ 192 h 200"/>
                <a:gd name="T10" fmla="*/ 104 w 152"/>
                <a:gd name="T11" fmla="*/ 192 h 200"/>
                <a:gd name="T12" fmla="*/ 152 w 152"/>
                <a:gd name="T13" fmla="*/ 192 h 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200">
                  <a:moveTo>
                    <a:pt x="56" y="0"/>
                  </a:moveTo>
                  <a:cubicBezTo>
                    <a:pt x="36" y="16"/>
                    <a:pt x="16" y="32"/>
                    <a:pt x="8" y="48"/>
                  </a:cubicBezTo>
                  <a:cubicBezTo>
                    <a:pt x="0" y="64"/>
                    <a:pt x="8" y="80"/>
                    <a:pt x="8" y="96"/>
                  </a:cubicBezTo>
                  <a:cubicBezTo>
                    <a:pt x="8" y="112"/>
                    <a:pt x="0" y="128"/>
                    <a:pt x="8" y="144"/>
                  </a:cubicBezTo>
                  <a:cubicBezTo>
                    <a:pt x="16" y="160"/>
                    <a:pt x="40" y="184"/>
                    <a:pt x="56" y="192"/>
                  </a:cubicBezTo>
                  <a:cubicBezTo>
                    <a:pt x="72" y="200"/>
                    <a:pt x="88" y="192"/>
                    <a:pt x="104" y="192"/>
                  </a:cubicBezTo>
                  <a:cubicBezTo>
                    <a:pt x="120" y="192"/>
                    <a:pt x="136" y="192"/>
                    <a:pt x="152" y="192"/>
                  </a:cubicBez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5" name="Line 29"/>
            <p:cNvSpPr>
              <a:spLocks noChangeShapeType="1"/>
            </p:cNvSpPr>
            <p:nvPr/>
          </p:nvSpPr>
          <p:spPr bwMode="auto">
            <a:xfrm rot="1757482">
              <a:off x="1776" y="2160"/>
              <a:ext cx="48" cy="4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6" name="Line 30"/>
            <p:cNvSpPr>
              <a:spLocks noChangeShapeType="1"/>
            </p:cNvSpPr>
            <p:nvPr/>
          </p:nvSpPr>
          <p:spPr bwMode="auto">
            <a:xfrm rot="2155377" flipV="1">
              <a:off x="1680" y="2208"/>
              <a:ext cx="144" cy="4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7" name="Freeform 31"/>
            <p:cNvSpPr>
              <a:spLocks/>
            </p:cNvSpPr>
            <p:nvPr/>
          </p:nvSpPr>
          <p:spPr bwMode="auto">
            <a:xfrm>
              <a:off x="2696" y="2016"/>
              <a:ext cx="104" cy="200"/>
            </a:xfrm>
            <a:custGeom>
              <a:avLst/>
              <a:gdLst>
                <a:gd name="T0" fmla="*/ 48 w 104"/>
                <a:gd name="T1" fmla="*/ 0 h 200"/>
                <a:gd name="T2" fmla="*/ 96 w 104"/>
                <a:gd name="T3" fmla="*/ 48 h 200"/>
                <a:gd name="T4" fmla="*/ 96 w 104"/>
                <a:gd name="T5" fmla="*/ 144 h 200"/>
                <a:gd name="T6" fmla="*/ 48 w 104"/>
                <a:gd name="T7" fmla="*/ 192 h 200"/>
                <a:gd name="T8" fmla="*/ 0 w 104"/>
                <a:gd name="T9" fmla="*/ 192 h 2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4" h="200">
                  <a:moveTo>
                    <a:pt x="48" y="0"/>
                  </a:moveTo>
                  <a:cubicBezTo>
                    <a:pt x="68" y="12"/>
                    <a:pt x="88" y="24"/>
                    <a:pt x="96" y="48"/>
                  </a:cubicBezTo>
                  <a:cubicBezTo>
                    <a:pt x="104" y="72"/>
                    <a:pt x="104" y="120"/>
                    <a:pt x="96" y="144"/>
                  </a:cubicBezTo>
                  <a:cubicBezTo>
                    <a:pt x="88" y="168"/>
                    <a:pt x="64" y="184"/>
                    <a:pt x="48" y="192"/>
                  </a:cubicBezTo>
                  <a:cubicBezTo>
                    <a:pt x="32" y="200"/>
                    <a:pt x="16" y="196"/>
                    <a:pt x="0" y="192"/>
                  </a:cubicBez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8" name="Line 32"/>
            <p:cNvSpPr>
              <a:spLocks noChangeShapeType="1"/>
            </p:cNvSpPr>
            <p:nvPr/>
          </p:nvSpPr>
          <p:spPr bwMode="auto">
            <a:xfrm flipH="1">
              <a:off x="2640" y="2168"/>
              <a:ext cx="96" cy="4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59" name="Line 33"/>
            <p:cNvSpPr>
              <a:spLocks noChangeShapeType="1"/>
            </p:cNvSpPr>
            <p:nvPr/>
          </p:nvSpPr>
          <p:spPr bwMode="auto">
            <a:xfrm rot="-1440077">
              <a:off x="2656" y="2184"/>
              <a:ext cx="96" cy="96"/>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0" name="Freeform 34"/>
            <p:cNvSpPr>
              <a:spLocks/>
            </p:cNvSpPr>
            <p:nvPr/>
          </p:nvSpPr>
          <p:spPr bwMode="auto">
            <a:xfrm rot="1902437">
              <a:off x="2880" y="2016"/>
              <a:ext cx="152" cy="200"/>
            </a:xfrm>
            <a:custGeom>
              <a:avLst/>
              <a:gdLst>
                <a:gd name="T0" fmla="*/ 56 w 152"/>
                <a:gd name="T1" fmla="*/ 0 h 200"/>
                <a:gd name="T2" fmla="*/ 8 w 152"/>
                <a:gd name="T3" fmla="*/ 48 h 200"/>
                <a:gd name="T4" fmla="*/ 8 w 152"/>
                <a:gd name="T5" fmla="*/ 96 h 200"/>
                <a:gd name="T6" fmla="*/ 8 w 152"/>
                <a:gd name="T7" fmla="*/ 144 h 200"/>
                <a:gd name="T8" fmla="*/ 56 w 152"/>
                <a:gd name="T9" fmla="*/ 192 h 200"/>
                <a:gd name="T10" fmla="*/ 104 w 152"/>
                <a:gd name="T11" fmla="*/ 192 h 200"/>
                <a:gd name="T12" fmla="*/ 152 w 152"/>
                <a:gd name="T13" fmla="*/ 192 h 20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52" h="200">
                  <a:moveTo>
                    <a:pt x="56" y="0"/>
                  </a:moveTo>
                  <a:cubicBezTo>
                    <a:pt x="36" y="16"/>
                    <a:pt x="16" y="32"/>
                    <a:pt x="8" y="48"/>
                  </a:cubicBezTo>
                  <a:cubicBezTo>
                    <a:pt x="0" y="64"/>
                    <a:pt x="8" y="80"/>
                    <a:pt x="8" y="96"/>
                  </a:cubicBezTo>
                  <a:cubicBezTo>
                    <a:pt x="8" y="112"/>
                    <a:pt x="0" y="128"/>
                    <a:pt x="8" y="144"/>
                  </a:cubicBezTo>
                  <a:cubicBezTo>
                    <a:pt x="16" y="160"/>
                    <a:pt x="40" y="184"/>
                    <a:pt x="56" y="192"/>
                  </a:cubicBezTo>
                  <a:cubicBezTo>
                    <a:pt x="72" y="200"/>
                    <a:pt x="88" y="192"/>
                    <a:pt x="104" y="192"/>
                  </a:cubicBezTo>
                  <a:cubicBezTo>
                    <a:pt x="120" y="192"/>
                    <a:pt x="136" y="192"/>
                    <a:pt x="152" y="192"/>
                  </a:cubicBezTo>
                </a:path>
              </a:pathLst>
            </a:custGeom>
            <a:noFill/>
            <a:ln w="28575" cap="flat" cmpd="sng">
              <a:solidFill>
                <a:srgbClr val="FF0000"/>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 name="Line 35"/>
            <p:cNvSpPr>
              <a:spLocks noChangeShapeType="1"/>
            </p:cNvSpPr>
            <p:nvPr/>
          </p:nvSpPr>
          <p:spPr bwMode="auto">
            <a:xfrm rot="1757482">
              <a:off x="2936" y="2160"/>
              <a:ext cx="48" cy="4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2" name="Line 36"/>
            <p:cNvSpPr>
              <a:spLocks noChangeShapeType="1"/>
            </p:cNvSpPr>
            <p:nvPr/>
          </p:nvSpPr>
          <p:spPr bwMode="auto">
            <a:xfrm rot="2155377" flipV="1">
              <a:off x="2840" y="2208"/>
              <a:ext cx="144" cy="48"/>
            </a:xfrm>
            <a:prstGeom prst="line">
              <a:avLst/>
            </a:prstGeom>
            <a:noFill/>
            <a:ln w="2857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3" name="Text Box 37"/>
            <p:cNvSpPr txBox="1">
              <a:spLocks noChangeArrowheads="1"/>
            </p:cNvSpPr>
            <p:nvPr/>
          </p:nvSpPr>
          <p:spPr bwMode="auto">
            <a:xfrm>
              <a:off x="1392" y="2256"/>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b="1">
                  <a:solidFill>
                    <a:schemeClr val="tx1"/>
                  </a:solidFill>
                  <a:latin typeface="黑体" pitchFamily="49" charset="-122"/>
                  <a:ea typeface="黑体" pitchFamily="49" charset="-122"/>
                </a:defRPr>
              </a:lvl1pPr>
              <a:lvl2pPr marL="742950" indent="-285750" eaLnBrk="0" hangingPunct="0">
                <a:defRPr kumimoji="1" sz="2400" b="1">
                  <a:solidFill>
                    <a:schemeClr val="tx1"/>
                  </a:solidFill>
                  <a:latin typeface="黑体" pitchFamily="49" charset="-122"/>
                  <a:ea typeface="黑体" pitchFamily="49" charset="-122"/>
                </a:defRPr>
              </a:lvl2pPr>
              <a:lvl3pPr marL="1143000" indent="-228600" eaLnBrk="0" hangingPunct="0">
                <a:defRPr kumimoji="1" sz="2400" b="1">
                  <a:solidFill>
                    <a:schemeClr val="tx1"/>
                  </a:solidFill>
                  <a:latin typeface="黑体" pitchFamily="49" charset="-122"/>
                  <a:ea typeface="黑体" pitchFamily="49" charset="-122"/>
                </a:defRPr>
              </a:lvl3pPr>
              <a:lvl4pPr marL="1600200" indent="-228600" eaLnBrk="0" hangingPunct="0">
                <a:defRPr kumimoji="1" sz="2400" b="1">
                  <a:solidFill>
                    <a:schemeClr val="tx1"/>
                  </a:solidFill>
                  <a:latin typeface="黑体" pitchFamily="49" charset="-122"/>
                  <a:ea typeface="黑体" pitchFamily="49" charset="-122"/>
                </a:defRPr>
              </a:lvl4pPr>
              <a:lvl5pPr marL="2057400" indent="-228600" eaLnBrk="0" hangingPunct="0">
                <a:defRPr kumimoji="1" sz="2400" b="1">
                  <a:solidFill>
                    <a:schemeClr val="tx1"/>
                  </a:solidFill>
                  <a:latin typeface="黑体" pitchFamily="49" charset="-122"/>
                  <a:ea typeface="黑体" pitchFamily="49" charset="-122"/>
                </a:defRPr>
              </a:lvl5pPr>
              <a:lvl6pPr marL="25146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6pPr>
              <a:lvl7pPr marL="29718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7pPr>
              <a:lvl8pPr marL="34290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8pPr>
              <a:lvl9pPr marL="38862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9pPr>
            </a:lstStyle>
            <a:p>
              <a:pPr eaLnBrk="1" hangingPunct="1">
                <a:spcBef>
                  <a:spcPct val="50000"/>
                </a:spcBef>
              </a:pPr>
              <a:r>
                <a:rPr lang="en-US" altLang="zh-CN" sz="2800">
                  <a:solidFill>
                    <a:srgbClr val="FF0000"/>
                  </a:solidFill>
                  <a:latin typeface="Times New Roman" pitchFamily="18" charset="0"/>
                  <a:ea typeface="宋体" pitchFamily="2" charset="-122"/>
                </a:rPr>
                <a:t>M</a:t>
              </a:r>
              <a:r>
                <a:rPr lang="en-US" altLang="zh-CN" sz="1800">
                  <a:solidFill>
                    <a:srgbClr val="FF0000"/>
                  </a:solidFill>
                  <a:latin typeface="Times New Roman" pitchFamily="18" charset="0"/>
                  <a:ea typeface="宋体" pitchFamily="2" charset="-122"/>
                </a:rPr>
                <a:t>AB</a:t>
              </a:r>
              <a:r>
                <a:rPr lang="en-US" altLang="zh-CN" sz="2800">
                  <a:solidFill>
                    <a:srgbClr val="FF0000"/>
                  </a:solidFill>
                  <a:latin typeface="Times New Roman" pitchFamily="18" charset="0"/>
                  <a:ea typeface="宋体" pitchFamily="2" charset="-122"/>
                  <a:sym typeface="Symbol" pitchFamily="18" charset="2"/>
                </a:rPr>
                <a:t>0</a:t>
              </a:r>
              <a:endParaRPr lang="en-US" altLang="zh-CN" sz="2800">
                <a:solidFill>
                  <a:srgbClr val="0000FF"/>
                </a:solidFill>
                <a:latin typeface="Times New Roman" pitchFamily="18" charset="0"/>
                <a:ea typeface="宋体" pitchFamily="2" charset="-122"/>
              </a:endParaRPr>
            </a:p>
          </p:txBody>
        </p:sp>
        <p:sp>
          <p:nvSpPr>
            <p:cNvPr id="64" name="Text Box 38"/>
            <p:cNvSpPr txBox="1">
              <a:spLocks noChangeArrowheads="1"/>
            </p:cNvSpPr>
            <p:nvPr/>
          </p:nvSpPr>
          <p:spPr bwMode="auto">
            <a:xfrm>
              <a:off x="2544" y="2246"/>
              <a:ext cx="100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kumimoji="1" sz="2400" b="1">
                  <a:solidFill>
                    <a:schemeClr val="tx1"/>
                  </a:solidFill>
                  <a:latin typeface="黑体" pitchFamily="49" charset="-122"/>
                  <a:ea typeface="黑体" pitchFamily="49" charset="-122"/>
                </a:defRPr>
              </a:lvl1pPr>
              <a:lvl2pPr marL="742950" indent="-285750" eaLnBrk="0" hangingPunct="0">
                <a:defRPr kumimoji="1" sz="2400" b="1">
                  <a:solidFill>
                    <a:schemeClr val="tx1"/>
                  </a:solidFill>
                  <a:latin typeface="黑体" pitchFamily="49" charset="-122"/>
                  <a:ea typeface="黑体" pitchFamily="49" charset="-122"/>
                </a:defRPr>
              </a:lvl2pPr>
              <a:lvl3pPr marL="1143000" indent="-228600" eaLnBrk="0" hangingPunct="0">
                <a:defRPr kumimoji="1" sz="2400" b="1">
                  <a:solidFill>
                    <a:schemeClr val="tx1"/>
                  </a:solidFill>
                  <a:latin typeface="黑体" pitchFamily="49" charset="-122"/>
                  <a:ea typeface="黑体" pitchFamily="49" charset="-122"/>
                </a:defRPr>
              </a:lvl3pPr>
              <a:lvl4pPr marL="1600200" indent="-228600" eaLnBrk="0" hangingPunct="0">
                <a:defRPr kumimoji="1" sz="2400" b="1">
                  <a:solidFill>
                    <a:schemeClr val="tx1"/>
                  </a:solidFill>
                  <a:latin typeface="黑体" pitchFamily="49" charset="-122"/>
                  <a:ea typeface="黑体" pitchFamily="49" charset="-122"/>
                </a:defRPr>
              </a:lvl4pPr>
              <a:lvl5pPr marL="2057400" indent="-228600" eaLnBrk="0" hangingPunct="0">
                <a:defRPr kumimoji="1" sz="2400" b="1">
                  <a:solidFill>
                    <a:schemeClr val="tx1"/>
                  </a:solidFill>
                  <a:latin typeface="黑体" pitchFamily="49" charset="-122"/>
                  <a:ea typeface="黑体" pitchFamily="49" charset="-122"/>
                </a:defRPr>
              </a:lvl5pPr>
              <a:lvl6pPr marL="25146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6pPr>
              <a:lvl7pPr marL="29718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7pPr>
              <a:lvl8pPr marL="34290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8pPr>
              <a:lvl9pPr marL="3886200" indent="-228600" eaLnBrk="0" fontAlgn="base" hangingPunct="0">
                <a:spcBef>
                  <a:spcPct val="0"/>
                </a:spcBef>
                <a:spcAft>
                  <a:spcPct val="0"/>
                </a:spcAft>
                <a:defRPr kumimoji="1" sz="2400" b="1">
                  <a:solidFill>
                    <a:schemeClr val="tx1"/>
                  </a:solidFill>
                  <a:latin typeface="黑体" pitchFamily="49" charset="-122"/>
                  <a:ea typeface="黑体" pitchFamily="49" charset="-122"/>
                </a:defRPr>
              </a:lvl9pPr>
            </a:lstStyle>
            <a:p>
              <a:pPr eaLnBrk="1" hangingPunct="1">
                <a:spcBef>
                  <a:spcPct val="50000"/>
                </a:spcBef>
              </a:pPr>
              <a:r>
                <a:rPr lang="en-US" altLang="zh-CN" sz="2800" dirty="0">
                  <a:solidFill>
                    <a:srgbClr val="FF0000"/>
                  </a:solidFill>
                  <a:latin typeface="Times New Roman" pitchFamily="18" charset="0"/>
                  <a:ea typeface="宋体" pitchFamily="2" charset="-122"/>
                </a:rPr>
                <a:t>M</a:t>
              </a:r>
              <a:r>
                <a:rPr lang="en-US" altLang="zh-CN" sz="1800" dirty="0">
                  <a:solidFill>
                    <a:srgbClr val="FF0000"/>
                  </a:solidFill>
                  <a:latin typeface="Times New Roman" pitchFamily="18" charset="0"/>
                  <a:ea typeface="宋体" pitchFamily="2" charset="-122"/>
                </a:rPr>
                <a:t>BA</a:t>
              </a:r>
              <a:r>
                <a:rPr lang="en-US" altLang="zh-CN" sz="2800" dirty="0">
                  <a:solidFill>
                    <a:srgbClr val="FF0000"/>
                  </a:solidFill>
                  <a:latin typeface="Times New Roman" pitchFamily="18" charset="0"/>
                  <a:ea typeface="宋体" pitchFamily="2" charset="-122"/>
                  <a:sym typeface="Symbol" pitchFamily="18" charset="2"/>
                </a:rPr>
                <a:t>0</a:t>
              </a:r>
              <a:endParaRPr lang="en-US" altLang="zh-CN" sz="2800" dirty="0">
                <a:latin typeface="Times New Roman" pitchFamily="18" charset="0"/>
                <a:ea typeface="宋体" pitchFamily="2" charset="-122"/>
              </a:endParaRPr>
            </a:p>
          </p:txBody>
        </p:sp>
      </p:grpSp>
      <p:sp>
        <p:nvSpPr>
          <p:cNvPr id="5" name="TextBox 4"/>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298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up)">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6" presetClass="entr" presetSubtype="21" fill="hold"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barn(inVertical)">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P spid="4" grpId="0" autoUpdateAnimBg="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467544" y="116632"/>
            <a:ext cx="8229600" cy="1143000"/>
          </a:xfrm>
        </p:spPr>
        <p:txBody>
          <a:bodyPr/>
          <a:lstStyle/>
          <a:p>
            <a:r>
              <a:rPr lang="en-US" altLang="zh-CN" sz="3000" dirty="0">
                <a:latin typeface="宋体" pitchFamily="2" charset="-122"/>
              </a:rPr>
              <a:t>§</a:t>
            </a:r>
            <a:r>
              <a:rPr lang="en-US" altLang="zh-CN" dirty="0"/>
              <a:t>7-2</a:t>
            </a:r>
            <a:r>
              <a:rPr lang="en-US" altLang="zh-CN" dirty="0">
                <a:latin typeface="宋体" pitchFamily="2" charset="-122"/>
              </a:rPr>
              <a:t> </a:t>
            </a:r>
            <a:r>
              <a:rPr lang="zh-CN" altLang="en-US" dirty="0">
                <a:latin typeface="宋体" pitchFamily="2" charset="-122"/>
              </a:rPr>
              <a:t>单跨超静定梁的形常数与载常数</a:t>
            </a:r>
            <a:endParaRPr lang="zh-CN" altLang="en-US" dirty="0"/>
          </a:p>
        </p:txBody>
      </p:sp>
      <p:sp>
        <p:nvSpPr>
          <p:cNvPr id="6" name="Rectangle 4"/>
          <p:cNvSpPr>
            <a:spLocks noChangeArrowheads="1"/>
          </p:cNvSpPr>
          <p:nvPr/>
        </p:nvSpPr>
        <p:spPr bwMode="auto">
          <a:xfrm>
            <a:off x="467544" y="1412776"/>
            <a:ext cx="2659702"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dirty="0">
                <a:solidFill>
                  <a:srgbClr val="990033"/>
                </a:solidFill>
                <a:latin typeface="楷体_GB2312" pitchFamily="49" charset="-122"/>
              </a:rPr>
              <a:t>等截面梁的形常数</a:t>
            </a:r>
          </a:p>
        </p:txBody>
      </p:sp>
      <p:sp>
        <p:nvSpPr>
          <p:cNvPr id="7" name="TextBox 6"/>
          <p:cNvSpPr txBox="1"/>
          <p:nvPr/>
        </p:nvSpPr>
        <p:spPr>
          <a:xfrm>
            <a:off x="4747915" y="1317079"/>
            <a:ext cx="4032448" cy="646331"/>
          </a:xfrm>
          <a:prstGeom prst="rect">
            <a:avLst/>
          </a:prstGeom>
          <a:noFill/>
        </p:spPr>
        <p:txBody>
          <a:bodyPr wrap="square" rtlCol="0">
            <a:spAutoFit/>
          </a:bodyPr>
          <a:lstStyle/>
          <a:p>
            <a:r>
              <a:rPr lang="zh-CN" altLang="en-US" dirty="0">
                <a:solidFill>
                  <a:srgbClr val="0000FF"/>
                </a:solidFill>
                <a:latin typeface="楷体" panose="02010609060101010101" pitchFamily="49" charset="-122"/>
                <a:ea typeface="楷体" panose="02010609060101010101" pitchFamily="49" charset="-122"/>
              </a:rPr>
              <a:t>为给位移法计算刚架作准备</a:t>
            </a:r>
            <a:r>
              <a:rPr lang="en-US" altLang="zh-CN" dirty="0">
                <a:solidFill>
                  <a:srgbClr val="0000FF"/>
                </a:solidFill>
                <a:latin typeface="楷体" panose="02010609060101010101" pitchFamily="49" charset="-122"/>
                <a:ea typeface="楷体" panose="02010609060101010101" pitchFamily="49" charset="-122"/>
              </a:rPr>
              <a:t>——</a:t>
            </a:r>
            <a:r>
              <a:rPr lang="zh-CN" altLang="en-US" dirty="0">
                <a:solidFill>
                  <a:srgbClr val="0000FF"/>
                </a:solidFill>
                <a:latin typeface="楷体" panose="02010609060101010101" pitchFamily="49" charset="-122"/>
                <a:ea typeface="楷体" panose="02010609060101010101" pitchFamily="49" charset="-122"/>
              </a:rPr>
              <a:t>等截面杆件！</a:t>
            </a:r>
          </a:p>
        </p:txBody>
      </p:sp>
      <p:sp>
        <p:nvSpPr>
          <p:cNvPr id="8" name="TextBox 7"/>
          <p:cNvSpPr txBox="1"/>
          <p:nvPr/>
        </p:nvSpPr>
        <p:spPr>
          <a:xfrm>
            <a:off x="827584" y="1926383"/>
            <a:ext cx="7560840" cy="430887"/>
          </a:xfrm>
          <a:prstGeom prst="rect">
            <a:avLst/>
          </a:prstGeom>
          <a:noFill/>
        </p:spPr>
        <p:txBody>
          <a:bodyPr wrap="square" rtlCol="0">
            <a:spAutoFit/>
          </a:bodyPr>
          <a:lstStyle/>
          <a:p>
            <a:r>
              <a:rPr lang="zh-CN" altLang="en-US" sz="2200" b="1" dirty="0">
                <a:latin typeface="楷体" panose="02010609060101010101" pitchFamily="49" charset="-122"/>
                <a:ea typeface="楷体" panose="02010609060101010101" pitchFamily="49" charset="-122"/>
              </a:rPr>
              <a:t>杆端位移引起的杆端内力称为形常数。</a:t>
            </a:r>
          </a:p>
        </p:txBody>
      </p:sp>
      <p:grpSp>
        <p:nvGrpSpPr>
          <p:cNvPr id="19" name="组合 18"/>
          <p:cNvGrpSpPr/>
          <p:nvPr/>
        </p:nvGrpSpPr>
        <p:grpSpPr>
          <a:xfrm>
            <a:off x="395985" y="2357027"/>
            <a:ext cx="5112119" cy="1771747"/>
            <a:chOff x="395985" y="2357027"/>
            <a:chExt cx="5112119" cy="1771747"/>
          </a:xfrm>
        </p:grpSpPr>
        <p:pic>
          <p:nvPicPr>
            <p:cNvPr id="17409" name="Picture 1" descr="C:\Users\Administrator\AppData\Roaming\Tencent\Users\42337577\QQ\WinTemp\RichOle\MEB~6OU%S7XQI5JVH$WM%P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985" y="2357027"/>
              <a:ext cx="3231667" cy="1771747"/>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 name="TextBox 1"/>
                <p:cNvSpPr txBox="1"/>
                <p:nvPr/>
              </p:nvSpPr>
              <p:spPr>
                <a:xfrm>
                  <a:off x="3563888" y="2704291"/>
                  <a:ext cx="1944216" cy="1077218"/>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惯性矩：</a:t>
                  </a:r>
                  <a:r>
                    <a:rPr lang="en-US" altLang="zh-CN" sz="1600" dirty="0">
                      <a:latin typeface="楷体" panose="02010609060101010101" pitchFamily="49" charset="-122"/>
                      <a:ea typeface="楷体" panose="02010609060101010101" pitchFamily="49" charset="-122"/>
                    </a:rPr>
                    <a:t>I</a:t>
                  </a:r>
                  <a:r>
                    <a:rPr lang="zh-CN" altLang="en-US" sz="1600" dirty="0">
                      <a:latin typeface="楷体" panose="02010609060101010101" pitchFamily="49" charset="-122"/>
                      <a:ea typeface="楷体" panose="02010609060101010101" pitchFamily="49" charset="-122"/>
                    </a:rPr>
                    <a:t>；</a:t>
                  </a:r>
                  <a:endParaRPr lang="en-US" altLang="zh-CN" sz="1600" dirty="0">
                    <a:latin typeface="楷体" panose="02010609060101010101" pitchFamily="49" charset="-122"/>
                    <a:ea typeface="楷体" panose="02010609060101010101" pitchFamily="49" charset="-122"/>
                  </a:endParaRPr>
                </a:p>
                <a:p>
                  <a:r>
                    <a:rPr lang="zh-CN" altLang="en-US" sz="1600" dirty="0">
                      <a:latin typeface="楷体" panose="02010609060101010101" pitchFamily="49" charset="-122"/>
                      <a:ea typeface="楷体" panose="02010609060101010101" pitchFamily="49" charset="-122"/>
                    </a:rPr>
                    <a:t>角位移：</a:t>
                  </a:r>
                  <a14:m>
                    <m:oMath xmlns:m="http://schemas.openxmlformats.org/officeDocument/2006/math">
                      <m:sSub>
                        <m:sSubPr>
                          <m:ctrlPr>
                            <a:rPr lang="en-US" altLang="zh-CN" sz="1600" i="1" smtClean="0">
                              <a:latin typeface="Cambria Math" panose="02040503050406030204" pitchFamily="18" charset="0"/>
                            </a:rPr>
                          </m:ctrlPr>
                        </m:sSubPr>
                        <m:e>
                          <m:r>
                            <a:rPr lang="zh-CN" altLang="en-US" sz="1600" i="1">
                              <a:latin typeface="Cambria Math"/>
                            </a:rPr>
                            <m:t>𝜃</m:t>
                          </m:r>
                        </m:e>
                        <m:sub>
                          <m:r>
                            <a:rPr lang="en-US" altLang="zh-CN" sz="1600" b="0" i="1" smtClean="0">
                              <a:latin typeface="Cambria Math"/>
                            </a:rPr>
                            <m:t>𝐴</m:t>
                          </m:r>
                        </m:sub>
                      </m:sSub>
                    </m:oMath>
                  </a14:m>
                  <a:r>
                    <a:rPr lang="zh-CN" altLang="en-US" sz="1600" dirty="0">
                      <a:latin typeface="楷体" panose="02010609060101010101" pitchFamily="49" charset="-122"/>
                      <a:ea typeface="楷体" panose="02010609060101010101" pitchFamily="49" charset="-122"/>
                    </a:rPr>
                    <a:t>，</a:t>
                  </a:r>
                  <a:r>
                    <a:rPr lang="en-US" altLang="zh-CN" sz="1600" dirty="0">
                      <a:latin typeface="楷体" panose="02010609060101010101" pitchFamily="49" charset="-122"/>
                      <a:ea typeface="楷体" panose="02010609060101010101" pitchFamily="49" charset="-122"/>
                    </a:rPr>
                    <a:t> </a:t>
                  </a:r>
                  <a14:m>
                    <m:oMath xmlns:m="http://schemas.openxmlformats.org/officeDocument/2006/math">
                      <m:sSub>
                        <m:sSubPr>
                          <m:ctrlPr>
                            <a:rPr lang="en-US" altLang="zh-CN" sz="1600" i="1">
                              <a:latin typeface="Cambria Math" panose="02040503050406030204" pitchFamily="18" charset="0"/>
                            </a:rPr>
                          </m:ctrlPr>
                        </m:sSubPr>
                        <m:e>
                          <m:r>
                            <a:rPr lang="zh-CN" altLang="en-US" sz="1600" i="1">
                              <a:latin typeface="Cambria Math"/>
                            </a:rPr>
                            <m:t>𝜃</m:t>
                          </m:r>
                        </m:e>
                        <m:sub>
                          <m:r>
                            <a:rPr lang="en-US" altLang="zh-CN" sz="1600" b="0" i="1" smtClean="0">
                              <a:latin typeface="Cambria Math"/>
                            </a:rPr>
                            <m:t>𝐵</m:t>
                          </m:r>
                        </m:sub>
                      </m:sSub>
                    </m:oMath>
                  </a14:m>
                  <a:r>
                    <a:rPr lang="zh-CN" altLang="en-US" sz="1600" dirty="0">
                      <a:latin typeface="楷体" panose="02010609060101010101" pitchFamily="49" charset="-122"/>
                      <a:ea typeface="楷体" panose="02010609060101010101" pitchFamily="49" charset="-122"/>
                    </a:rPr>
                    <a:t>；</a:t>
                  </a:r>
                  <a:endParaRPr lang="en-US" altLang="zh-CN" sz="1600" dirty="0">
                    <a:latin typeface="楷体" panose="02010609060101010101" pitchFamily="49" charset="-122"/>
                    <a:ea typeface="楷体" panose="02010609060101010101" pitchFamily="49" charset="-122"/>
                  </a:endParaRPr>
                </a:p>
                <a:p>
                  <a:r>
                    <a:rPr lang="zh-CN" altLang="en-US" sz="1600" dirty="0">
                      <a:latin typeface="楷体" panose="02010609060101010101" pitchFamily="49" charset="-122"/>
                      <a:ea typeface="楷体" panose="02010609060101010101" pitchFamily="49" charset="-122"/>
                    </a:rPr>
                    <a:t>线位移：</a:t>
                  </a:r>
                  <a14:m>
                    <m:oMath xmlns:m="http://schemas.openxmlformats.org/officeDocument/2006/math">
                      <m:r>
                        <a:rPr lang="zh-CN" altLang="en-US" sz="1600" i="1" smtClean="0">
                          <a:latin typeface="Cambria Math"/>
                        </a:rPr>
                        <m:t>∆</m:t>
                      </m:r>
                    </m:oMath>
                  </a14:m>
                  <a:r>
                    <a:rPr lang="zh-CN" altLang="en-US" sz="1600" dirty="0">
                      <a:latin typeface="楷体" panose="02010609060101010101" pitchFamily="49" charset="-122"/>
                      <a:ea typeface="楷体" panose="02010609060101010101" pitchFamily="49" charset="-122"/>
                    </a:rPr>
                    <a:t>；</a:t>
                  </a:r>
                  <a:endParaRPr lang="en-US" altLang="zh-CN" sz="1600" dirty="0">
                    <a:latin typeface="楷体" panose="02010609060101010101" pitchFamily="49" charset="-122"/>
                    <a:ea typeface="楷体" panose="02010609060101010101" pitchFamily="49" charset="-122"/>
                  </a:endParaRPr>
                </a:p>
                <a:p>
                  <a:r>
                    <a:rPr lang="zh-CN" altLang="en-US" sz="1600" dirty="0">
                      <a:latin typeface="楷体" panose="02010609060101010101" pitchFamily="49" charset="-122"/>
                      <a:ea typeface="楷体" panose="02010609060101010101" pitchFamily="49" charset="-122"/>
                    </a:rPr>
                    <a:t>弦转角：</a:t>
                  </a:r>
                  <a14:m>
                    <m:oMath xmlns:m="http://schemas.openxmlformats.org/officeDocument/2006/math">
                      <m:r>
                        <a:rPr lang="zh-CN" altLang="en-US" sz="1600" i="1" smtClean="0">
                          <a:latin typeface="Cambria Math"/>
                        </a:rPr>
                        <m:t>𝜑</m:t>
                      </m:r>
                      <m:r>
                        <a:rPr lang="en-US" altLang="zh-CN" sz="1600" b="0" i="1" smtClean="0">
                          <a:latin typeface="Cambria Math"/>
                        </a:rPr>
                        <m:t>=</m:t>
                      </m:r>
                      <m:r>
                        <a:rPr lang="en-US" altLang="zh-CN" sz="1600" b="0" i="1" smtClean="0">
                          <a:latin typeface="Cambria Math"/>
                          <a:ea typeface="Cambria Math"/>
                        </a:rPr>
                        <m:t>∆/</m:t>
                      </m:r>
                      <m:r>
                        <a:rPr lang="en-US" altLang="zh-CN" sz="1600" b="0" i="1" smtClean="0">
                          <a:latin typeface="Cambria Math"/>
                          <a:ea typeface="Cambria Math"/>
                        </a:rPr>
                        <m:t>𝑙</m:t>
                      </m:r>
                    </m:oMath>
                  </a14:m>
                  <a:r>
                    <a:rPr lang="zh-CN" altLang="en-US" sz="1600" dirty="0">
                      <a:latin typeface="楷体" panose="02010609060101010101" pitchFamily="49" charset="-122"/>
                      <a:ea typeface="楷体" panose="02010609060101010101" pitchFamily="49" charset="-122"/>
                    </a:rPr>
                    <a:t>。</a:t>
                  </a:r>
                </a:p>
              </p:txBody>
            </p:sp>
          </mc:Choice>
          <mc:Fallback xmlns="">
            <p:sp>
              <p:nvSpPr>
                <p:cNvPr id="2" name="TextBox 1"/>
                <p:cNvSpPr txBox="1">
                  <a:spLocks noRot="1" noChangeAspect="1" noMove="1" noResize="1" noEditPoints="1" noAdjustHandles="1" noChangeArrowheads="1" noChangeShapeType="1" noTextEdit="1"/>
                </p:cNvSpPr>
                <p:nvPr/>
              </p:nvSpPr>
              <p:spPr>
                <a:xfrm>
                  <a:off x="3563888" y="2704291"/>
                  <a:ext cx="1944216" cy="1077218"/>
                </a:xfrm>
                <a:prstGeom prst="rect">
                  <a:avLst/>
                </a:prstGeom>
                <a:blipFill rotWithShape="1">
                  <a:blip r:embed="rId5"/>
                  <a:stretch>
                    <a:fillRect l="-1881" t="-1705" r="-940" b="-6250"/>
                  </a:stretch>
                </a:blipFill>
              </p:spPr>
              <p:txBody>
                <a:bodyPr/>
                <a:lstStyle/>
                <a:p>
                  <a:r>
                    <a:rPr lang="zh-CN" altLang="en-US">
                      <a:noFill/>
                    </a:rPr>
                    <a:t> </a:t>
                  </a:r>
                </a:p>
              </p:txBody>
            </p:sp>
          </mc:Fallback>
        </mc:AlternateContent>
      </p:grpSp>
      <p:sp>
        <p:nvSpPr>
          <p:cNvPr id="10" name="TextBox 9"/>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5580112" y="3665351"/>
            <a:ext cx="1944216" cy="338554"/>
          </a:xfrm>
          <a:prstGeom prst="rect">
            <a:avLst/>
          </a:prstGeom>
          <a:noFill/>
        </p:spPr>
        <p:txBody>
          <a:bodyPr wrap="square" rtlCol="0">
            <a:spAutoFit/>
          </a:bodyPr>
          <a:lstStyle/>
          <a:p>
            <a:r>
              <a:rPr lang="zh-CN" altLang="en-US" sz="1600" dirty="0">
                <a:solidFill>
                  <a:srgbClr val="0000FF"/>
                </a:solidFill>
                <a:latin typeface="楷体" panose="02010609060101010101" pitchFamily="49" charset="-122"/>
                <a:ea typeface="楷体" panose="02010609060101010101" pitchFamily="49" charset="-122"/>
              </a:rPr>
              <a:t>单位荷载法：</a:t>
            </a:r>
          </a:p>
        </p:txBody>
      </p:sp>
      <p:grpSp>
        <p:nvGrpSpPr>
          <p:cNvPr id="18" name="组合 17"/>
          <p:cNvGrpSpPr/>
          <p:nvPr/>
        </p:nvGrpSpPr>
        <p:grpSpPr>
          <a:xfrm>
            <a:off x="5492202" y="2357270"/>
            <a:ext cx="3272259" cy="2739994"/>
            <a:chOff x="5492202" y="2357270"/>
            <a:chExt cx="3272259" cy="2739994"/>
          </a:xfrm>
        </p:grpSpPr>
        <p:pic>
          <p:nvPicPr>
            <p:cNvPr id="17410" name="Picture 2" descr="C:\Users\Administrator\AppData\Roaming\Tencent\Users\42337577\QQ\WinTemp\RichOle\E$R)IE{OQI36X@7}AQB7CCB.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08104" y="2357270"/>
              <a:ext cx="3186216" cy="96488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3" name="TextBox 2"/>
                <p:cNvSpPr txBox="1"/>
                <p:nvPr/>
              </p:nvSpPr>
              <p:spPr>
                <a:xfrm>
                  <a:off x="5492202" y="3322158"/>
                  <a:ext cx="3272259"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两端力偶</a:t>
                  </a:r>
                  <a14:m>
                    <m:oMath xmlns:m="http://schemas.openxmlformats.org/officeDocument/2006/math">
                      <m:sSub>
                        <m:sSubPr>
                          <m:ctrlPr>
                            <a:rPr lang="en-US" altLang="zh-CN" sz="1600" b="0" i="1" smtClean="0">
                              <a:latin typeface="Cambria Math" panose="02040503050406030204" pitchFamily="18" charset="0"/>
                            </a:rPr>
                          </m:ctrlPr>
                        </m:sSubPr>
                        <m:e>
                          <m:r>
                            <a:rPr lang="en-US" altLang="zh-CN" sz="1600" i="1">
                              <a:latin typeface="Cambria Math"/>
                            </a:rPr>
                            <m:t>𝑀</m:t>
                          </m:r>
                        </m:e>
                        <m:sub>
                          <m:r>
                            <a:rPr lang="en-US" altLang="zh-CN" sz="1600" b="0" i="1" smtClean="0">
                              <a:latin typeface="Cambria Math"/>
                            </a:rPr>
                            <m:t>𝐴𝐵</m:t>
                          </m:r>
                        </m:sub>
                      </m:sSub>
                    </m:oMath>
                  </a14:m>
                  <a:r>
                    <a:rPr lang="zh-CN" altLang="en-US" sz="1600" dirty="0">
                      <a:latin typeface="楷体" panose="02010609060101010101" pitchFamily="49" charset="-122"/>
                      <a:ea typeface="楷体" panose="02010609060101010101" pitchFamily="49" charset="-122"/>
                    </a:rPr>
                    <a:t>、</a:t>
                  </a:r>
                  <a:r>
                    <a:rPr lang="en-US" altLang="zh-CN" sz="1600" dirty="0">
                      <a:latin typeface="楷体" panose="02010609060101010101" pitchFamily="49" charset="-122"/>
                      <a:ea typeface="楷体" panose="02010609060101010101" pitchFamily="49" charset="-122"/>
                    </a:rPr>
                    <a:t> </a:t>
                  </a:r>
                  <a14:m>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a:rPr>
                            <m:t>𝑀</m:t>
                          </m:r>
                        </m:e>
                        <m:sub>
                          <m:r>
                            <a:rPr lang="en-US" altLang="zh-CN" sz="1600" i="1">
                              <a:latin typeface="Cambria Math"/>
                            </a:rPr>
                            <m:t>𝐵</m:t>
                          </m:r>
                          <m:r>
                            <a:rPr lang="en-US" altLang="zh-CN" sz="1600" b="0" i="1" smtClean="0">
                              <a:latin typeface="Cambria Math"/>
                            </a:rPr>
                            <m:t>𝐴</m:t>
                          </m:r>
                        </m:sub>
                      </m:sSub>
                    </m:oMath>
                  </a14:m>
                  <a:r>
                    <a:rPr lang="zh-CN" altLang="en-US" sz="1600" dirty="0">
                      <a:latin typeface="楷体" panose="02010609060101010101" pitchFamily="49" charset="-122"/>
                      <a:ea typeface="楷体" panose="02010609060101010101" pitchFamily="49" charset="-122"/>
                    </a:rPr>
                    <a:t>下的</a:t>
                  </a:r>
                  <a:r>
                    <a:rPr lang="zh-CN" altLang="en-US" sz="1600" dirty="0">
                      <a:solidFill>
                        <a:srgbClr val="FF0000"/>
                      </a:solidFill>
                      <a:latin typeface="楷体" panose="02010609060101010101" pitchFamily="49" charset="-122"/>
                      <a:ea typeface="楷体" panose="02010609060101010101" pitchFamily="49" charset="-122"/>
                    </a:rPr>
                    <a:t>杆端转角</a:t>
                  </a:r>
                  <a:r>
                    <a:rPr lang="zh-CN" altLang="en-US" sz="1600" dirty="0">
                      <a:latin typeface="楷体" panose="02010609060101010101" pitchFamily="49" charset="-122"/>
                      <a:ea typeface="楷体" panose="02010609060101010101" pitchFamily="49" charset="-122"/>
                    </a:rPr>
                    <a:t>：</a:t>
                  </a:r>
                </a:p>
              </p:txBody>
            </p:sp>
          </mc:Choice>
          <mc:Fallback xmlns="">
            <p:sp>
              <p:nvSpPr>
                <p:cNvPr id="3" name="TextBox 2"/>
                <p:cNvSpPr txBox="1">
                  <a:spLocks noRot="1" noChangeAspect="1" noMove="1" noResize="1" noEditPoints="1" noAdjustHandles="1" noChangeArrowheads="1" noChangeShapeType="1" noTextEdit="1"/>
                </p:cNvSpPr>
                <p:nvPr/>
              </p:nvSpPr>
              <p:spPr>
                <a:xfrm>
                  <a:off x="5492202" y="3322158"/>
                  <a:ext cx="3272259" cy="338554"/>
                </a:xfrm>
                <a:prstGeom prst="rect">
                  <a:avLst/>
                </a:prstGeom>
                <a:blipFill rotWithShape="1">
                  <a:blip r:embed="rId7"/>
                  <a:stretch>
                    <a:fillRect l="-1117" t="-7143" r="-7076" b="-19643"/>
                  </a:stretch>
                </a:blipFill>
              </p:spPr>
              <p:txBody>
                <a:bodyPr/>
                <a:lstStyle/>
                <a:p>
                  <a:r>
                    <a:rPr lang="zh-CN" altLang="en-US">
                      <a:noFill/>
                    </a:rPr>
                    <a:t> </a:t>
                  </a:r>
                </a:p>
              </p:txBody>
            </p:sp>
          </mc:Fallback>
        </mc:AlternateContent>
        <p:grpSp>
          <p:nvGrpSpPr>
            <p:cNvPr id="17" name="组合 16"/>
            <p:cNvGrpSpPr/>
            <p:nvPr/>
          </p:nvGrpSpPr>
          <p:grpSpPr>
            <a:xfrm>
              <a:off x="5652120" y="3874774"/>
              <a:ext cx="2736304" cy="1222490"/>
              <a:chOff x="5652120" y="3874774"/>
              <a:chExt cx="2736304" cy="1222490"/>
            </a:xfrm>
          </p:grpSpPr>
          <mc:AlternateContent xmlns:mc="http://schemas.openxmlformats.org/markup-compatibility/2006" xmlns:a14="http://schemas.microsoft.com/office/drawing/2010/main">
            <mc:Choice Requires="a14">
              <p:graphicFrame>
                <p:nvGraphicFramePr>
                  <p:cNvPr id="4" name="对象 3"/>
                  <p:cNvGraphicFramePr>
                    <a:graphicFrameLocks noChangeAspect="1"/>
                  </p:cNvGraphicFramePr>
                  <p:nvPr>
                    <p:extLst>
                      <p:ext uri="{D42A27DB-BD31-4B8C-83A1-F6EECF244321}">
                        <p14:modId xmlns:p14="http://schemas.microsoft.com/office/powerpoint/2010/main" val="2744859268"/>
                      </p:ext>
                    </p:extLst>
                  </p:nvPr>
                </p:nvGraphicFramePr>
                <p:xfrm>
                  <a:off x="5652120" y="4005064"/>
                  <a:ext cx="2019300" cy="1092200"/>
                </p:xfrm>
                <a:graphic>
                  <a:graphicData uri="http://schemas.openxmlformats.org/presentationml/2006/ole">
                    <mc:AlternateContent>
                      <mc:Choice xmlns:v="urn:schemas-microsoft-com:vml" Requires="v">
                        <p:oleObj spid="_x0000_s54973" name="Equation" r:id="rId8" imgW="2019240" imgH="1091880" progId="Equation.DSMT4">
                          <p:embed/>
                        </p:oleObj>
                      </mc:Choice>
                      <mc:Fallback>
                        <p:oleObj name="Equation" r:id="rId8" imgW="2019240" imgH="1091880" progId="Equation.DSMT4">
                          <p:embed/>
                          <p:pic>
                            <p:nvPicPr>
                              <p:cNvPr id="0" name=""/>
                              <p:cNvPicPr/>
                              <p:nvPr/>
                            </p:nvPicPr>
                            <p:blipFill>
                              <a:blip r:embed="rId9"/>
                              <a:stretch>
                                <a:fillRect/>
                              </a:stretch>
                            </p:blipFill>
                            <p:spPr>
                              <a:xfrm>
                                <a:off x="5652120" y="4005064"/>
                                <a:ext cx="2019300" cy="1092200"/>
                              </a:xfrm>
                              <a:prstGeom prst="rect">
                                <a:avLst/>
                              </a:prstGeom>
                            </p:spPr>
                          </p:pic>
                        </p:oleObj>
                      </mc:Fallback>
                    </mc:AlternateContent>
                  </a:graphicData>
                </a:graphic>
              </p:graphicFrame>
            </mc:Choice>
            <mc:Fallback xmlns="">
              <p:graphicFrame>
                <p:nvGraphicFramePr>
                  <p:cNvPr id="4" name="对象 3"/>
                  <p:cNvGraphicFramePr>
                    <a:graphicFrameLocks noChangeAspect="1"/>
                  </p:cNvGraphicFramePr>
                  <p:nvPr>
                    <p:extLst>
                      <p:ext uri="{D42A27DB-BD31-4B8C-83A1-F6EECF244321}">
                        <p14:modId xmlns:p14="http://schemas.microsoft.com/office/powerpoint/2010/main" val="2744859268"/>
                      </p:ext>
                    </p:extLst>
                  </p:nvPr>
                </p:nvGraphicFramePr>
                <p:xfrm>
                  <a:off x="5652120" y="4005064"/>
                  <a:ext cx="2019300" cy="1092200"/>
                </p:xfrm>
                <a:graphic>
                  <a:graphicData uri="http://schemas.openxmlformats.org/presentationml/2006/ole">
                    <mc:AlternateContent>
                      <mc:Choice xmlns:v="urn:schemas-microsoft-com:vml" Requires="v">
                        <p:oleObj spid="_x0000_s17981" name="Equation" r:id="rId10" imgW="2019240" imgH="1091880" progId="Equation.DSMT4">
                          <p:embed/>
                        </p:oleObj>
                      </mc:Choice>
                      <mc:Fallback>
                        <p:oleObj name="Equation" r:id="rId10" imgW="2019240" imgH="1091880" progId="Equation.DSMT4">
                          <p:embed/>
                          <p:pic>
                            <p:nvPicPr>
                              <p:cNvPr id="0" name=""/>
                              <p:cNvPicPr/>
                              <p:nvPr/>
                            </p:nvPicPr>
                            <p:blipFill>
                              <a:blip r:embed="rId11"/>
                              <a:stretch>
                                <a:fillRect/>
                              </a:stretch>
                            </p:blipFill>
                            <p:spPr>
                              <a:xfrm>
                                <a:off x="5652120" y="4005064"/>
                                <a:ext cx="2019300" cy="1092200"/>
                              </a:xfrm>
                              <a:prstGeom prst="rect">
                                <a:avLst/>
                              </a:prstGeom>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11" name="对象 10"/>
                  <p:cNvGraphicFramePr>
                    <a:graphicFrameLocks noChangeAspect="1"/>
                  </p:cNvGraphicFramePr>
                  <p:nvPr>
                    <p:extLst>
                      <p:ext uri="{D42A27DB-BD31-4B8C-83A1-F6EECF244321}">
                        <p14:modId xmlns:p14="http://schemas.microsoft.com/office/powerpoint/2010/main" val="3833087386"/>
                      </p:ext>
                    </p:extLst>
                  </p:nvPr>
                </p:nvGraphicFramePr>
                <p:xfrm>
                  <a:off x="7884368" y="3874774"/>
                  <a:ext cx="504056" cy="508000"/>
                </p:xfrm>
                <a:graphic>
                  <a:graphicData uri="http://schemas.openxmlformats.org/presentationml/2006/ole">
                    <mc:AlternateContent>
                      <mc:Choice xmlns:v="urn:schemas-microsoft-com:vml" Requires="v">
                        <p:oleObj spid="_x0000_s54974" name="Equation" r:id="rId12" imgW="495000" imgH="507960" progId="Equation.DSMT4">
                          <p:embed/>
                        </p:oleObj>
                      </mc:Choice>
                      <mc:Fallback>
                        <p:oleObj name="Equation" r:id="rId12" imgW="495000" imgH="507960" progId="Equation.DSMT4">
                          <p:embed/>
                          <p:pic>
                            <p:nvPicPr>
                              <p:cNvPr id="0" name=""/>
                              <p:cNvPicPr/>
                              <p:nvPr/>
                            </p:nvPicPr>
                            <p:blipFill>
                              <a:blip r:embed="rId13"/>
                              <a:stretch>
                                <a:fillRect/>
                              </a:stretch>
                            </p:blipFill>
                            <p:spPr>
                              <a:xfrm>
                                <a:off x="7884368" y="3874774"/>
                                <a:ext cx="504056" cy="508000"/>
                              </a:xfrm>
                              <a:prstGeom prst="rect">
                                <a:avLst/>
                              </a:prstGeom>
                            </p:spPr>
                          </p:pic>
                        </p:oleObj>
                      </mc:Fallback>
                    </mc:AlternateContent>
                  </a:graphicData>
                </a:graphic>
              </p:graphicFrame>
            </mc:Choice>
            <mc:Fallback xmlns="">
              <p:graphicFrame>
                <p:nvGraphicFramePr>
                  <p:cNvPr id="11" name="对象 10"/>
                  <p:cNvGraphicFramePr>
                    <a:graphicFrameLocks noChangeAspect="1"/>
                  </p:cNvGraphicFramePr>
                  <p:nvPr>
                    <p:extLst>
                      <p:ext uri="{D42A27DB-BD31-4B8C-83A1-F6EECF244321}">
                        <p14:modId xmlns:p14="http://schemas.microsoft.com/office/powerpoint/2010/main" val="3833087386"/>
                      </p:ext>
                    </p:extLst>
                  </p:nvPr>
                </p:nvGraphicFramePr>
                <p:xfrm>
                  <a:off x="7884368" y="3874774"/>
                  <a:ext cx="504056" cy="508000"/>
                </p:xfrm>
                <a:graphic>
                  <a:graphicData uri="http://schemas.openxmlformats.org/presentationml/2006/ole">
                    <mc:AlternateContent>
                      <mc:Choice xmlns:v="urn:schemas-microsoft-com:vml" Requires="v">
                        <p:oleObj spid="_x0000_s17982" name="Equation" r:id="rId14" imgW="495000" imgH="507960" progId="Equation.DSMT4">
                          <p:embed/>
                        </p:oleObj>
                      </mc:Choice>
                      <mc:Fallback>
                        <p:oleObj name="Equation" r:id="rId14" imgW="495000" imgH="507960" progId="Equation.DSMT4">
                          <p:embed/>
                          <p:pic>
                            <p:nvPicPr>
                              <p:cNvPr id="0" name=""/>
                              <p:cNvPicPr/>
                              <p:nvPr/>
                            </p:nvPicPr>
                            <p:blipFill>
                              <a:blip r:embed="rId15"/>
                              <a:stretch>
                                <a:fillRect/>
                              </a:stretch>
                            </p:blipFill>
                            <p:spPr>
                              <a:xfrm>
                                <a:off x="7884368" y="3874774"/>
                                <a:ext cx="504056" cy="508000"/>
                              </a:xfrm>
                              <a:prstGeom prst="rect">
                                <a:avLst/>
                              </a:prstGeom>
                            </p:spPr>
                          </p:pic>
                        </p:oleObj>
                      </mc:Fallback>
                    </mc:AlternateContent>
                  </a:graphicData>
                </a:graphic>
              </p:graphicFrame>
            </mc:Fallback>
          </mc:AlternateContent>
        </p:grpSp>
      </p:grpSp>
      <p:grpSp>
        <p:nvGrpSpPr>
          <p:cNvPr id="16" name="组合 15"/>
          <p:cNvGrpSpPr/>
          <p:nvPr/>
        </p:nvGrpSpPr>
        <p:grpSpPr>
          <a:xfrm>
            <a:off x="7740352" y="3834628"/>
            <a:ext cx="864096" cy="1106540"/>
            <a:chOff x="7740352" y="3834628"/>
            <a:chExt cx="864096" cy="1106540"/>
          </a:xfrm>
        </p:grpSpPr>
        <p:sp>
          <p:nvSpPr>
            <p:cNvPr id="12" name="矩形 11"/>
            <p:cNvSpPr/>
            <p:nvPr/>
          </p:nvSpPr>
          <p:spPr bwMode="auto">
            <a:xfrm>
              <a:off x="7884368" y="3834628"/>
              <a:ext cx="576064" cy="530476"/>
            </a:xfrm>
            <a:prstGeom prst="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14" name="直接连接符 13"/>
            <p:cNvCxnSpPr>
              <a:stCxn id="12" idx="2"/>
            </p:cNvCxnSpPr>
            <p:nvPr/>
          </p:nvCxnSpPr>
          <p:spPr bwMode="auto">
            <a:xfrm flipH="1">
              <a:off x="8028384" y="4365104"/>
              <a:ext cx="144016" cy="216024"/>
            </a:xfrm>
            <a:prstGeom prst="line">
              <a:avLst/>
            </a:prstGeom>
            <a:solidFill>
              <a:schemeClr val="accent1"/>
            </a:solidFill>
            <a:ln w="12700" cap="flat" cmpd="sng" algn="ctr">
              <a:solidFill>
                <a:srgbClr val="FF0000"/>
              </a:solidFill>
              <a:prstDash val="solid"/>
              <a:round/>
              <a:headEnd type="none" w="med" len="med"/>
              <a:tailEnd type="none" w="med" len="med"/>
            </a:ln>
            <a:effectLst/>
          </p:spPr>
        </p:cxnSp>
        <p:sp>
          <p:nvSpPr>
            <p:cNvPr id="15" name="矩形 14"/>
            <p:cNvSpPr/>
            <p:nvPr/>
          </p:nvSpPr>
          <p:spPr bwMode="auto">
            <a:xfrm>
              <a:off x="7740352" y="4581128"/>
              <a:ext cx="864096" cy="360040"/>
            </a:xfrm>
            <a:prstGeom prst="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600" u="none" strike="noStrike" cap="none" normalizeH="0" baseline="0" dirty="0">
                  <a:ln>
                    <a:noFill/>
                  </a:ln>
                  <a:solidFill>
                    <a:srgbClr val="0000FF"/>
                  </a:solidFill>
                  <a:effectLst/>
                  <a:latin typeface="楷体" panose="02010609060101010101" pitchFamily="49" charset="-122"/>
                  <a:ea typeface="楷体" panose="02010609060101010101" pitchFamily="49" charset="-122"/>
                </a:rPr>
                <a:t>线刚度</a:t>
              </a:r>
            </a:p>
          </p:txBody>
        </p:sp>
      </p:grpSp>
      <p:grpSp>
        <p:nvGrpSpPr>
          <p:cNvPr id="21" name="组合 20"/>
          <p:cNvGrpSpPr/>
          <p:nvPr/>
        </p:nvGrpSpPr>
        <p:grpSpPr>
          <a:xfrm>
            <a:off x="409894" y="4178347"/>
            <a:ext cx="3586042" cy="2338365"/>
            <a:chOff x="409894" y="4178347"/>
            <a:chExt cx="3586042" cy="2338365"/>
          </a:xfrm>
        </p:grpSpPr>
        <p:pic>
          <p:nvPicPr>
            <p:cNvPr id="17415" name="Picture 7" descr="C:\Users\Administrator\AppData\Roaming\Tencent\Users\42337577\QQ\WinTemp\RichOle\}XZ@XV[_LKD6@X]I_8`V1(9.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09894" y="4178347"/>
              <a:ext cx="3203848" cy="152564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3" name="TextBox 22"/>
                <p:cNvSpPr txBox="1"/>
                <p:nvPr/>
              </p:nvSpPr>
              <p:spPr>
                <a:xfrm>
                  <a:off x="467544" y="5798125"/>
                  <a:ext cx="3528392" cy="338554"/>
                </a:xfrm>
                <a:prstGeom prst="rect">
                  <a:avLst/>
                </a:prstGeom>
                <a:noFill/>
              </p:spPr>
              <p:txBody>
                <a:bodyPr wrap="square" rtlCol="0">
                  <a:spAutoFit/>
                </a:bodyPr>
                <a:lstStyle/>
                <a:p>
                  <a:r>
                    <a:rPr lang="zh-CN" altLang="en-US" sz="1600" dirty="0">
                      <a:latin typeface="楷体" panose="02010609060101010101" pitchFamily="49" charset="-122"/>
                      <a:ea typeface="楷体" panose="02010609060101010101" pitchFamily="49" charset="-122"/>
                    </a:rPr>
                    <a:t>两端有相对竖向位移</a:t>
                  </a:r>
                  <a14:m>
                    <m:oMath xmlns:m="http://schemas.openxmlformats.org/officeDocument/2006/math">
                      <m:r>
                        <a:rPr lang="zh-CN" altLang="en-US" sz="1600" i="1" smtClean="0">
                          <a:latin typeface="Cambria Math"/>
                          <a:ea typeface="楷体" panose="02010609060101010101" pitchFamily="49" charset="-122"/>
                        </a:rPr>
                        <m:t>∆</m:t>
                      </m:r>
                    </m:oMath>
                  </a14:m>
                  <a:r>
                    <a:rPr lang="zh-CN" altLang="en-US" sz="1600" dirty="0">
                      <a:latin typeface="楷体" panose="02010609060101010101" pitchFamily="49" charset="-122"/>
                      <a:ea typeface="楷体" panose="02010609060101010101" pitchFamily="49" charset="-122"/>
                    </a:rPr>
                    <a:t>时，</a:t>
                  </a:r>
                  <a:r>
                    <a:rPr lang="zh-CN" altLang="en-US" sz="1600" dirty="0">
                      <a:solidFill>
                        <a:srgbClr val="FF0000"/>
                      </a:solidFill>
                      <a:latin typeface="楷体" panose="02010609060101010101" pitchFamily="49" charset="-122"/>
                      <a:ea typeface="楷体" panose="02010609060101010101" pitchFamily="49" charset="-122"/>
                    </a:rPr>
                    <a:t>杆端转角</a:t>
                  </a:r>
                  <a:r>
                    <a:rPr lang="zh-CN" altLang="en-US" sz="1600" dirty="0">
                      <a:latin typeface="楷体" panose="02010609060101010101" pitchFamily="49" charset="-122"/>
                      <a:ea typeface="楷体" panose="02010609060101010101" pitchFamily="49" charset="-122"/>
                    </a:rPr>
                    <a:t>：</a:t>
                  </a:r>
                </a:p>
              </p:txBody>
            </p:sp>
          </mc:Choice>
          <mc:Fallback xmlns="">
            <p:sp>
              <p:nvSpPr>
                <p:cNvPr id="23" name="TextBox 22"/>
                <p:cNvSpPr txBox="1">
                  <a:spLocks noRot="1" noChangeAspect="1" noMove="1" noResize="1" noEditPoints="1" noAdjustHandles="1" noChangeArrowheads="1" noChangeShapeType="1" noTextEdit="1"/>
                </p:cNvSpPr>
                <p:nvPr/>
              </p:nvSpPr>
              <p:spPr>
                <a:xfrm>
                  <a:off x="467544" y="5798125"/>
                  <a:ext cx="3528392" cy="338554"/>
                </a:xfrm>
                <a:prstGeom prst="rect">
                  <a:avLst/>
                </a:prstGeom>
                <a:blipFill rotWithShape="1">
                  <a:blip r:embed="rId17"/>
                  <a:stretch>
                    <a:fillRect l="-1036" t="-7143" r="-6563" b="-1964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20" name="对象 19"/>
                <p:cNvGraphicFramePr>
                  <a:graphicFrameLocks noChangeAspect="1"/>
                </p:cNvGraphicFramePr>
                <p:nvPr>
                  <p:extLst>
                    <p:ext uri="{D42A27DB-BD31-4B8C-83A1-F6EECF244321}">
                      <p14:modId xmlns:p14="http://schemas.microsoft.com/office/powerpoint/2010/main" val="3295099518"/>
                    </p:ext>
                  </p:extLst>
                </p:nvPr>
              </p:nvGraphicFramePr>
              <p:xfrm>
                <a:off x="1283045" y="6237312"/>
                <a:ext cx="1028700" cy="279400"/>
              </p:xfrm>
              <a:graphic>
                <a:graphicData uri="http://schemas.openxmlformats.org/presentationml/2006/ole">
                  <mc:AlternateContent>
                    <mc:Choice xmlns:v="urn:schemas-microsoft-com:vml" Requires="v">
                      <p:oleObj spid="_x0000_s54975" name="Equation" r:id="rId18" imgW="1028520" imgH="279360" progId="Equation.DSMT4">
                        <p:embed/>
                      </p:oleObj>
                    </mc:Choice>
                    <mc:Fallback>
                      <p:oleObj name="Equation" r:id="rId18" imgW="1028520" imgH="279360" progId="Equation.DSMT4">
                        <p:embed/>
                        <p:pic>
                          <p:nvPicPr>
                            <p:cNvPr id="0" name=""/>
                            <p:cNvPicPr/>
                            <p:nvPr/>
                          </p:nvPicPr>
                          <p:blipFill>
                            <a:blip r:embed="rId19"/>
                            <a:stretch>
                              <a:fillRect/>
                            </a:stretch>
                          </p:blipFill>
                          <p:spPr>
                            <a:xfrm>
                              <a:off x="1283045" y="6237312"/>
                              <a:ext cx="1028700" cy="279400"/>
                            </a:xfrm>
                            <a:prstGeom prst="rect">
                              <a:avLst/>
                            </a:prstGeom>
                          </p:spPr>
                        </p:pic>
                      </p:oleObj>
                    </mc:Fallback>
                  </mc:AlternateContent>
                </a:graphicData>
              </a:graphic>
            </p:graphicFrame>
          </mc:Choice>
          <mc:Fallback xmlns="">
            <p:graphicFrame>
              <p:nvGraphicFramePr>
                <p:cNvPr id="20" name="对象 19"/>
                <p:cNvGraphicFramePr>
                  <a:graphicFrameLocks noChangeAspect="1"/>
                </p:cNvGraphicFramePr>
                <p:nvPr>
                  <p:extLst>
                    <p:ext uri="{D42A27DB-BD31-4B8C-83A1-F6EECF244321}">
                      <p14:modId xmlns:p14="http://schemas.microsoft.com/office/powerpoint/2010/main" val="3295099518"/>
                    </p:ext>
                  </p:extLst>
                </p:nvPr>
              </p:nvGraphicFramePr>
              <p:xfrm>
                <a:off x="1283045" y="6237312"/>
                <a:ext cx="1028700" cy="279400"/>
              </p:xfrm>
              <a:graphic>
                <a:graphicData uri="http://schemas.openxmlformats.org/presentationml/2006/ole">
                  <mc:AlternateContent>
                    <mc:Choice xmlns:v="urn:schemas-microsoft-com:vml" Requires="v">
                      <p:oleObj spid="_x0000_s17983" name="Equation" r:id="rId20" imgW="1028520" imgH="279360" progId="Equation.DSMT4">
                        <p:embed/>
                      </p:oleObj>
                    </mc:Choice>
                    <mc:Fallback>
                      <p:oleObj name="Equation" r:id="rId20" imgW="1028520" imgH="279360" progId="Equation.DSMT4">
                        <p:embed/>
                        <p:pic>
                          <p:nvPicPr>
                            <p:cNvPr id="0" name=""/>
                            <p:cNvPicPr/>
                            <p:nvPr/>
                          </p:nvPicPr>
                          <p:blipFill>
                            <a:blip r:embed="rId21"/>
                            <a:stretch>
                              <a:fillRect/>
                            </a:stretch>
                          </p:blipFill>
                          <p:spPr>
                            <a:xfrm>
                              <a:off x="1283045" y="6237312"/>
                              <a:ext cx="1028700" cy="279400"/>
                            </a:xfrm>
                            <a:prstGeom prst="rect">
                              <a:avLst/>
                            </a:prstGeom>
                          </p:spPr>
                        </p:pic>
                      </p:oleObj>
                    </mc:Fallback>
                  </mc:AlternateContent>
                </a:graphicData>
              </a:graphic>
            </p:graphicFrame>
          </mc:Fallback>
        </mc:AlternateContent>
      </p:grpSp>
      <p:grpSp>
        <p:nvGrpSpPr>
          <p:cNvPr id="25" name="组合 24"/>
          <p:cNvGrpSpPr/>
          <p:nvPr/>
        </p:nvGrpSpPr>
        <p:grpSpPr>
          <a:xfrm>
            <a:off x="4348552" y="5242488"/>
            <a:ext cx="4680520" cy="1450412"/>
            <a:chOff x="4355976" y="5301208"/>
            <a:chExt cx="4680520" cy="1450412"/>
          </a:xfrm>
        </p:grpSpPr>
        <p:sp>
          <p:nvSpPr>
            <p:cNvPr id="22" name="TextBox 21"/>
            <p:cNvSpPr txBox="1"/>
            <p:nvPr/>
          </p:nvSpPr>
          <p:spPr>
            <a:xfrm>
              <a:off x="4355976" y="5301208"/>
              <a:ext cx="4680520" cy="338554"/>
            </a:xfrm>
            <a:prstGeom prst="rect">
              <a:avLst/>
            </a:prstGeom>
            <a:noFill/>
          </p:spPr>
          <p:txBody>
            <a:bodyPr wrap="square" rtlCol="0">
              <a:spAutoFit/>
            </a:bodyPr>
            <a:lstStyle/>
            <a:p>
              <a:r>
                <a:rPr lang="zh-CN" altLang="en-US" sz="1600" b="1" dirty="0">
                  <a:solidFill>
                    <a:srgbClr val="FFC000"/>
                  </a:solidFill>
                  <a:latin typeface="楷体" panose="02010609060101010101" pitchFamily="49" charset="-122"/>
                  <a:ea typeface="楷体" panose="02010609060101010101" pitchFamily="49" charset="-122"/>
                </a:rPr>
                <a:t>综合</a:t>
              </a:r>
              <a:r>
                <a:rPr lang="zh-CN" altLang="en-US" sz="1600" dirty="0">
                  <a:latin typeface="楷体" panose="02010609060101010101" pitchFamily="49" charset="-122"/>
                  <a:ea typeface="楷体" panose="02010609060101010101" pitchFamily="49" charset="-122"/>
                </a:rPr>
                <a:t>，有力偶也有相对竖向位移时，</a:t>
              </a:r>
              <a:r>
                <a:rPr lang="zh-CN" altLang="en-US" sz="1600" dirty="0">
                  <a:solidFill>
                    <a:srgbClr val="FFC000"/>
                  </a:solidFill>
                  <a:latin typeface="楷体" panose="02010609060101010101" pitchFamily="49" charset="-122"/>
                  <a:ea typeface="楷体" panose="02010609060101010101" pitchFamily="49" charset="-122"/>
                </a:rPr>
                <a:t>杆端转角</a:t>
              </a:r>
              <a:r>
                <a:rPr lang="zh-CN" altLang="en-US" sz="1600" dirty="0">
                  <a:latin typeface="楷体" panose="02010609060101010101" pitchFamily="49" charset="-122"/>
                  <a:ea typeface="楷体" panose="02010609060101010101" pitchFamily="49" charset="-122"/>
                </a:rPr>
                <a:t>：</a:t>
              </a:r>
            </a:p>
          </p:txBody>
        </p:sp>
        <p:graphicFrame>
          <p:nvGraphicFramePr>
            <p:cNvPr id="24" name="对象 23"/>
            <p:cNvGraphicFramePr>
              <a:graphicFrameLocks noChangeAspect="1"/>
            </p:cNvGraphicFramePr>
            <p:nvPr>
              <p:extLst>
                <p:ext uri="{D42A27DB-BD31-4B8C-83A1-F6EECF244321}">
                  <p14:modId xmlns:p14="http://schemas.microsoft.com/office/powerpoint/2010/main" val="3934723875"/>
                </p:ext>
              </p:extLst>
            </p:nvPr>
          </p:nvGraphicFramePr>
          <p:xfrm>
            <a:off x="5263637" y="5659420"/>
            <a:ext cx="2286000" cy="1092200"/>
          </p:xfrm>
          <a:graphic>
            <a:graphicData uri="http://schemas.openxmlformats.org/presentationml/2006/ole">
              <mc:AlternateContent xmlns:mc="http://schemas.openxmlformats.org/markup-compatibility/2006">
                <mc:Choice xmlns:v="urn:schemas-microsoft-com:vml" Requires="v">
                  <p:oleObj spid="_x0000_s54976" name="Equation" r:id="rId22" imgW="2286000" imgH="1091880" progId="Equation.DSMT4">
                    <p:embed/>
                  </p:oleObj>
                </mc:Choice>
                <mc:Fallback>
                  <p:oleObj name="Equation" r:id="rId22" imgW="2286000" imgH="1091880" progId="Equation.DSMT4">
                    <p:embed/>
                    <p:pic>
                      <p:nvPicPr>
                        <p:cNvPr id="0" name=""/>
                        <p:cNvPicPr/>
                        <p:nvPr/>
                      </p:nvPicPr>
                      <p:blipFill>
                        <a:blip r:embed="rId23"/>
                        <a:stretch>
                          <a:fillRect/>
                        </a:stretch>
                      </p:blipFill>
                      <p:spPr>
                        <a:xfrm>
                          <a:off x="5263637" y="5659420"/>
                          <a:ext cx="2286000" cy="1092200"/>
                        </a:xfrm>
                        <a:prstGeom prst="rect">
                          <a:avLst/>
                        </a:prstGeom>
                      </p:spPr>
                    </p:pic>
                  </p:oleObj>
                </mc:Fallback>
              </mc:AlternateContent>
            </a:graphicData>
          </a:graphic>
        </p:graphicFrame>
      </p:grpSp>
    </p:spTree>
    <p:extLst>
      <p:ext uri="{BB962C8B-B14F-4D97-AF65-F5344CB8AC3E}">
        <p14:creationId xmlns:p14="http://schemas.microsoft.com/office/powerpoint/2010/main" val="380576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down)">
                                      <p:cBhvr>
                                        <p:cTn id="20" dur="500"/>
                                        <p:tgtEl>
                                          <p:spTgt spid="19"/>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P spid="7"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467544" y="116632"/>
            <a:ext cx="8229600" cy="1143000"/>
          </a:xfrm>
        </p:spPr>
        <p:txBody>
          <a:bodyPr/>
          <a:lstStyle/>
          <a:p>
            <a:r>
              <a:rPr lang="en-US" altLang="zh-CN" sz="3000" dirty="0">
                <a:latin typeface="宋体" pitchFamily="2" charset="-122"/>
              </a:rPr>
              <a:t>§</a:t>
            </a:r>
            <a:r>
              <a:rPr lang="en-US" altLang="zh-CN" dirty="0"/>
              <a:t>7-2</a:t>
            </a:r>
            <a:r>
              <a:rPr lang="en-US" altLang="zh-CN" dirty="0">
                <a:latin typeface="宋体" pitchFamily="2" charset="-122"/>
              </a:rPr>
              <a:t> </a:t>
            </a:r>
            <a:r>
              <a:rPr lang="zh-CN" altLang="en-US" dirty="0">
                <a:latin typeface="宋体" pitchFamily="2" charset="-122"/>
              </a:rPr>
              <a:t>单跨超静定梁的形常数与载常数</a:t>
            </a:r>
            <a:endParaRPr lang="zh-CN" altLang="en-US" dirty="0"/>
          </a:p>
        </p:txBody>
      </p:sp>
      <p:sp>
        <p:nvSpPr>
          <p:cNvPr id="3" name="TextBox 2"/>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2587085340"/>
              </p:ext>
            </p:extLst>
          </p:nvPr>
        </p:nvGraphicFramePr>
        <p:xfrm>
          <a:off x="1136650" y="1484313"/>
          <a:ext cx="2286000" cy="1092200"/>
        </p:xfrm>
        <a:graphic>
          <a:graphicData uri="http://schemas.openxmlformats.org/presentationml/2006/ole">
            <mc:AlternateContent xmlns:mc="http://schemas.openxmlformats.org/markup-compatibility/2006">
              <mc:Choice xmlns:v="urn:schemas-microsoft-com:vml" Requires="v">
                <p:oleObj spid="_x0000_s58014" name="Equation" r:id="rId4" imgW="2286000" imgH="1091880" progId="Equation.DSMT4">
                  <p:embed/>
                </p:oleObj>
              </mc:Choice>
              <mc:Fallback>
                <p:oleObj name="Equation" r:id="rId4" imgW="2286000" imgH="1091880" progId="Equation.DSMT4">
                  <p:embed/>
                  <p:pic>
                    <p:nvPicPr>
                      <p:cNvPr id="0" name=""/>
                      <p:cNvPicPr/>
                      <p:nvPr/>
                    </p:nvPicPr>
                    <p:blipFill>
                      <a:blip r:embed="rId5"/>
                      <a:stretch>
                        <a:fillRect/>
                      </a:stretch>
                    </p:blipFill>
                    <p:spPr>
                      <a:xfrm>
                        <a:off x="1136650" y="1484313"/>
                        <a:ext cx="2286000" cy="1092200"/>
                      </a:xfrm>
                      <a:prstGeom prst="rect">
                        <a:avLst/>
                      </a:prstGeom>
                    </p:spPr>
                  </p:pic>
                </p:oleObj>
              </mc:Fallback>
            </mc:AlternateContent>
          </a:graphicData>
        </a:graphic>
      </p:graphicFrame>
      <p:sp>
        <p:nvSpPr>
          <p:cNvPr id="6" name="右箭头 5"/>
          <p:cNvSpPr/>
          <p:nvPr/>
        </p:nvSpPr>
        <p:spPr bwMode="auto">
          <a:xfrm>
            <a:off x="3635896" y="1934195"/>
            <a:ext cx="1152128" cy="144016"/>
          </a:xfrm>
          <a:prstGeom prst="rightArrow">
            <a:avLst/>
          </a:prstGeom>
          <a:noFill/>
          <a:ln w="127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sp>
        <p:nvSpPr>
          <p:cNvPr id="8" name="TextBox 7"/>
          <p:cNvSpPr txBox="1"/>
          <p:nvPr/>
        </p:nvSpPr>
        <p:spPr>
          <a:xfrm>
            <a:off x="467544" y="2653712"/>
            <a:ext cx="4392488"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由平衡条件求出杆端剪力：</a:t>
            </a:r>
          </a:p>
        </p:txBody>
      </p:sp>
      <p:grpSp>
        <p:nvGrpSpPr>
          <p:cNvPr id="12" name="组合 11"/>
          <p:cNvGrpSpPr/>
          <p:nvPr/>
        </p:nvGrpSpPr>
        <p:grpSpPr>
          <a:xfrm>
            <a:off x="5187819" y="1331601"/>
            <a:ext cx="3382561" cy="1050366"/>
            <a:chOff x="5187819" y="1331601"/>
            <a:chExt cx="3382561" cy="1050366"/>
          </a:xfrm>
        </p:grpSpPr>
        <p:graphicFrame>
          <p:nvGraphicFramePr>
            <p:cNvPr id="2" name="对象 1"/>
            <p:cNvGraphicFramePr>
              <a:graphicFrameLocks noChangeAspect="1"/>
            </p:cNvGraphicFramePr>
            <p:nvPr>
              <p:extLst>
                <p:ext uri="{D42A27DB-BD31-4B8C-83A1-F6EECF244321}">
                  <p14:modId xmlns:p14="http://schemas.microsoft.com/office/powerpoint/2010/main" val="3730652744"/>
                </p:ext>
              </p:extLst>
            </p:nvPr>
          </p:nvGraphicFramePr>
          <p:xfrm>
            <a:off x="5312210" y="1772367"/>
            <a:ext cx="2222500" cy="609600"/>
          </p:xfrm>
          <a:graphic>
            <a:graphicData uri="http://schemas.openxmlformats.org/presentationml/2006/ole">
              <mc:AlternateContent xmlns:mc="http://schemas.openxmlformats.org/markup-compatibility/2006">
                <mc:Choice xmlns:v="urn:schemas-microsoft-com:vml" Requires="v">
                  <p:oleObj spid="_x0000_s58015" name="Equation" r:id="rId6" imgW="2222280" imgH="609480" progId="Equation.DSMT4">
                    <p:embed/>
                  </p:oleObj>
                </mc:Choice>
                <mc:Fallback>
                  <p:oleObj name="Equation" r:id="rId6" imgW="2222280" imgH="609480" progId="Equation.DSMT4">
                    <p:embed/>
                    <p:pic>
                      <p:nvPicPr>
                        <p:cNvPr id="0" name=""/>
                        <p:cNvPicPr/>
                        <p:nvPr/>
                      </p:nvPicPr>
                      <p:blipFill>
                        <a:blip r:embed="rId7"/>
                        <a:stretch>
                          <a:fillRect/>
                        </a:stretch>
                      </p:blipFill>
                      <p:spPr>
                        <a:xfrm>
                          <a:off x="5312210" y="1772367"/>
                          <a:ext cx="2222500" cy="609600"/>
                        </a:xfrm>
                        <a:prstGeom prst="rect">
                          <a:avLst/>
                        </a:prstGeom>
                      </p:spPr>
                    </p:pic>
                  </p:oleObj>
                </mc:Fallback>
              </mc:AlternateContent>
            </a:graphicData>
          </a:graphic>
        </p:graphicFrame>
        <p:sp>
          <p:nvSpPr>
            <p:cNvPr id="7" name="TextBox 6"/>
            <p:cNvSpPr txBox="1"/>
            <p:nvPr/>
          </p:nvSpPr>
          <p:spPr>
            <a:xfrm>
              <a:off x="5187819" y="1331601"/>
              <a:ext cx="2160240" cy="369332"/>
            </a:xfrm>
            <a:prstGeom prst="rect">
              <a:avLst/>
            </a:prstGeom>
            <a:noFill/>
          </p:spPr>
          <p:txBody>
            <a:bodyPr wrap="square" rtlCol="0">
              <a:spAutoFit/>
            </a:bodyPr>
            <a:lstStyle/>
            <a:p>
              <a:r>
                <a:rPr lang="zh-CN" altLang="en-US" b="1" dirty="0">
                  <a:solidFill>
                    <a:srgbClr val="0099FF"/>
                  </a:solidFill>
                  <a:latin typeface="楷体" panose="02010609060101010101" pitchFamily="49" charset="-122"/>
                  <a:ea typeface="楷体" panose="02010609060101010101" pitchFamily="49" charset="-122"/>
                </a:rPr>
                <a:t>转角位移方程：</a:t>
              </a:r>
            </a:p>
          </p:txBody>
        </p:sp>
        <p:sp>
          <p:nvSpPr>
            <p:cNvPr id="10" name="TextBox 9"/>
            <p:cNvSpPr txBox="1"/>
            <p:nvPr/>
          </p:nvSpPr>
          <p:spPr>
            <a:xfrm>
              <a:off x="7795809" y="1821537"/>
              <a:ext cx="774571" cy="369332"/>
            </a:xfrm>
            <a:prstGeom prst="rect">
              <a:avLst/>
            </a:prstGeom>
            <a:noFill/>
          </p:spPr>
          <p:txBody>
            <a:bodyPr wrap="none" rtlCol="0">
              <a:spAutoFit/>
            </a:bodyPr>
            <a:lstStyle/>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p>
          </p:txBody>
        </p:sp>
      </p:grpSp>
      <p:grpSp>
        <p:nvGrpSpPr>
          <p:cNvPr id="13" name="组合 12"/>
          <p:cNvGrpSpPr/>
          <p:nvPr/>
        </p:nvGrpSpPr>
        <p:grpSpPr>
          <a:xfrm>
            <a:off x="2219846" y="3140968"/>
            <a:ext cx="3820930" cy="508000"/>
            <a:chOff x="2219846" y="3140968"/>
            <a:chExt cx="3820930" cy="508000"/>
          </a:xfrm>
        </p:grpSpPr>
        <p:graphicFrame>
          <p:nvGraphicFramePr>
            <p:cNvPr id="9" name="对象 8"/>
            <p:cNvGraphicFramePr>
              <a:graphicFrameLocks noChangeAspect="1"/>
            </p:cNvGraphicFramePr>
            <p:nvPr>
              <p:extLst>
                <p:ext uri="{D42A27DB-BD31-4B8C-83A1-F6EECF244321}">
                  <p14:modId xmlns:p14="http://schemas.microsoft.com/office/powerpoint/2010/main" val="2180081505"/>
                </p:ext>
              </p:extLst>
            </p:nvPr>
          </p:nvGraphicFramePr>
          <p:xfrm>
            <a:off x="2219846" y="3140968"/>
            <a:ext cx="2832100" cy="508000"/>
          </p:xfrm>
          <a:graphic>
            <a:graphicData uri="http://schemas.openxmlformats.org/presentationml/2006/ole">
              <mc:AlternateContent xmlns:mc="http://schemas.openxmlformats.org/markup-compatibility/2006">
                <mc:Choice xmlns:v="urn:schemas-microsoft-com:vml" Requires="v">
                  <p:oleObj spid="_x0000_s58016" name="Equation" r:id="rId8" imgW="2831760" imgH="507960" progId="Equation.DSMT4">
                    <p:embed/>
                  </p:oleObj>
                </mc:Choice>
                <mc:Fallback>
                  <p:oleObj name="Equation" r:id="rId8" imgW="2831760" imgH="507960" progId="Equation.DSMT4">
                    <p:embed/>
                    <p:pic>
                      <p:nvPicPr>
                        <p:cNvPr id="0" name=""/>
                        <p:cNvPicPr/>
                        <p:nvPr/>
                      </p:nvPicPr>
                      <p:blipFill>
                        <a:blip r:embed="rId9"/>
                        <a:stretch>
                          <a:fillRect/>
                        </a:stretch>
                      </p:blipFill>
                      <p:spPr>
                        <a:xfrm>
                          <a:off x="2219846" y="3140968"/>
                          <a:ext cx="2832100" cy="508000"/>
                        </a:xfrm>
                        <a:prstGeom prst="rect">
                          <a:avLst/>
                        </a:prstGeom>
                      </p:spPr>
                    </p:pic>
                  </p:oleObj>
                </mc:Fallback>
              </mc:AlternateContent>
            </a:graphicData>
          </a:graphic>
        </p:graphicFrame>
        <p:sp>
          <p:nvSpPr>
            <p:cNvPr id="11" name="TextBox 10"/>
            <p:cNvSpPr txBox="1"/>
            <p:nvPr/>
          </p:nvSpPr>
          <p:spPr>
            <a:xfrm>
              <a:off x="5266205" y="3197074"/>
              <a:ext cx="774571" cy="369332"/>
            </a:xfrm>
            <a:prstGeom prst="rect">
              <a:avLst/>
            </a:prstGeom>
            <a:noFill/>
          </p:spPr>
          <p:txBody>
            <a:bodyPr wrap="none" rtlCol="0">
              <a:spAutoFit/>
            </a:bodyPr>
            <a:lstStyle/>
            <a:p>
              <a:r>
                <a:rPr lang="zh-CN" altLang="en-US" dirty="0">
                  <a:latin typeface="Times New Roman" panose="02020603050405020304" pitchFamily="18" charset="0"/>
                  <a:cs typeface="Times New Roman" panose="02020603050405020304" pitchFamily="18" charset="0"/>
                </a:rPr>
                <a:t>（</a:t>
              </a:r>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a:t>
              </a:r>
            </a:p>
          </p:txBody>
        </p:sp>
      </p:grpSp>
      <p:sp>
        <p:nvSpPr>
          <p:cNvPr id="14" name="TextBox 13"/>
          <p:cNvSpPr txBox="1"/>
          <p:nvPr/>
        </p:nvSpPr>
        <p:spPr>
          <a:xfrm>
            <a:off x="467544" y="3893301"/>
            <a:ext cx="4896544"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为紧凑起见，写成矩阵的形式：</a:t>
            </a:r>
          </a:p>
        </p:txBody>
      </p:sp>
      <p:graphicFrame>
        <p:nvGraphicFramePr>
          <p:cNvPr id="15" name="对象 14"/>
          <p:cNvGraphicFramePr>
            <a:graphicFrameLocks noChangeAspect="1"/>
          </p:cNvGraphicFramePr>
          <p:nvPr>
            <p:extLst>
              <p:ext uri="{D42A27DB-BD31-4B8C-83A1-F6EECF244321}">
                <p14:modId xmlns:p14="http://schemas.microsoft.com/office/powerpoint/2010/main" val="1032451119"/>
              </p:ext>
            </p:extLst>
          </p:nvPr>
        </p:nvGraphicFramePr>
        <p:xfrm>
          <a:off x="2195736" y="4581128"/>
          <a:ext cx="3302000" cy="965200"/>
        </p:xfrm>
        <a:graphic>
          <a:graphicData uri="http://schemas.openxmlformats.org/presentationml/2006/ole">
            <mc:AlternateContent xmlns:mc="http://schemas.openxmlformats.org/markup-compatibility/2006">
              <mc:Choice xmlns:v="urn:schemas-microsoft-com:vml" Requires="v">
                <p:oleObj spid="_x0000_s58017" name="Equation" r:id="rId10" imgW="3301920" imgH="965160" progId="Equation.DSMT4">
                  <p:embed/>
                </p:oleObj>
              </mc:Choice>
              <mc:Fallback>
                <p:oleObj name="Equation" r:id="rId10" imgW="3301920" imgH="965160" progId="Equation.DSMT4">
                  <p:embed/>
                  <p:pic>
                    <p:nvPicPr>
                      <p:cNvPr id="0" name=""/>
                      <p:cNvPicPr/>
                      <p:nvPr/>
                    </p:nvPicPr>
                    <p:blipFill>
                      <a:blip r:embed="rId11"/>
                      <a:stretch>
                        <a:fillRect/>
                      </a:stretch>
                    </p:blipFill>
                    <p:spPr>
                      <a:xfrm>
                        <a:off x="2195736" y="4581128"/>
                        <a:ext cx="3302000" cy="965200"/>
                      </a:xfrm>
                      <a:prstGeom prst="rect">
                        <a:avLst/>
                      </a:prstGeom>
                    </p:spPr>
                  </p:pic>
                </p:oleObj>
              </mc:Fallback>
            </mc:AlternateContent>
          </a:graphicData>
        </a:graphic>
      </p:graphicFrame>
      <p:sp>
        <p:nvSpPr>
          <p:cNvPr id="16" name="TextBox 15"/>
          <p:cNvSpPr txBox="1"/>
          <p:nvPr/>
        </p:nvSpPr>
        <p:spPr>
          <a:xfrm>
            <a:off x="6089855" y="4845307"/>
            <a:ext cx="2480525"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弯曲杆件的</a:t>
            </a:r>
            <a:r>
              <a:rPr lang="zh-CN" altLang="en-US" b="1" dirty="0">
                <a:solidFill>
                  <a:srgbClr val="FF0000"/>
                </a:solidFill>
                <a:latin typeface="楷体" panose="02010609060101010101" pitchFamily="49" charset="-122"/>
                <a:ea typeface="楷体" panose="02010609060101010101" pitchFamily="49" charset="-122"/>
              </a:rPr>
              <a:t>刚度方程</a:t>
            </a:r>
          </a:p>
        </p:txBody>
      </p:sp>
      <p:grpSp>
        <p:nvGrpSpPr>
          <p:cNvPr id="21" name="组合 20"/>
          <p:cNvGrpSpPr/>
          <p:nvPr/>
        </p:nvGrpSpPr>
        <p:grpSpPr>
          <a:xfrm>
            <a:off x="2915816" y="4125673"/>
            <a:ext cx="2512329" cy="1391559"/>
            <a:chOff x="2915816" y="4125673"/>
            <a:chExt cx="2512329" cy="1391559"/>
          </a:xfrm>
        </p:grpSpPr>
        <p:sp>
          <p:nvSpPr>
            <p:cNvPr id="17" name="矩形 16"/>
            <p:cNvSpPr/>
            <p:nvPr/>
          </p:nvSpPr>
          <p:spPr bwMode="auto">
            <a:xfrm>
              <a:off x="2915816" y="4581128"/>
              <a:ext cx="2160240" cy="936104"/>
            </a:xfrm>
            <a:prstGeom prst="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cxnSp>
          <p:nvCxnSpPr>
            <p:cNvPr id="19" name="直接连接符 18"/>
            <p:cNvCxnSpPr>
              <a:stCxn id="17" idx="0"/>
            </p:cNvCxnSpPr>
            <p:nvPr/>
          </p:nvCxnSpPr>
          <p:spPr bwMode="auto">
            <a:xfrm flipV="1">
              <a:off x="3995936" y="4302388"/>
              <a:ext cx="288032" cy="278740"/>
            </a:xfrm>
            <a:prstGeom prst="line">
              <a:avLst/>
            </a:prstGeom>
            <a:solidFill>
              <a:schemeClr val="accent1"/>
            </a:solidFill>
            <a:ln w="12700" cap="flat" cmpd="sng" algn="ctr">
              <a:solidFill>
                <a:srgbClr val="FF0000"/>
              </a:solidFill>
              <a:prstDash val="solid"/>
              <a:round/>
              <a:headEnd type="none" w="med" len="med"/>
              <a:tailEnd type="none" w="med" len="med"/>
            </a:ln>
            <a:effectLst/>
          </p:spPr>
        </p:cxnSp>
        <p:sp>
          <p:nvSpPr>
            <p:cNvPr id="20" name="矩形 19"/>
            <p:cNvSpPr/>
            <p:nvPr/>
          </p:nvSpPr>
          <p:spPr bwMode="auto">
            <a:xfrm>
              <a:off x="4293705" y="4125673"/>
              <a:ext cx="1134440" cy="324036"/>
            </a:xfrm>
            <a:prstGeom prst="rect">
              <a:avLst/>
            </a:prstGeom>
            <a:no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r>
                <a:rPr kumimoji="0" lang="zh-CN" altLang="en-US" sz="1800" b="1" u="none" strike="noStrike" cap="none" normalizeH="0" baseline="0" dirty="0">
                  <a:ln>
                    <a:noFill/>
                  </a:ln>
                  <a:solidFill>
                    <a:srgbClr val="FF0000"/>
                  </a:solidFill>
                  <a:effectLst/>
                  <a:latin typeface="楷体" panose="02010609060101010101" pitchFamily="49" charset="-122"/>
                  <a:ea typeface="楷体" panose="02010609060101010101" pitchFamily="49" charset="-122"/>
                </a:rPr>
                <a:t>刚度系数</a:t>
              </a:r>
            </a:p>
          </p:txBody>
        </p:sp>
      </p:grpSp>
      <p:sp>
        <p:nvSpPr>
          <p:cNvPr id="22" name="TextBox 21"/>
          <p:cNvSpPr txBox="1"/>
          <p:nvPr/>
        </p:nvSpPr>
        <p:spPr>
          <a:xfrm>
            <a:off x="467544" y="5677150"/>
            <a:ext cx="8208912" cy="769441"/>
          </a:xfrm>
          <a:prstGeom prst="rect">
            <a:avLst/>
          </a:prstGeom>
          <a:noFill/>
        </p:spPr>
        <p:txBody>
          <a:bodyPr wrap="square" rtlCol="0">
            <a:spAutoFit/>
          </a:bodyPr>
          <a:lstStyle/>
          <a:p>
            <a:r>
              <a:rPr lang="zh-CN" altLang="en-US" sz="2200" dirty="0">
                <a:solidFill>
                  <a:srgbClr val="0000FF"/>
                </a:solidFill>
                <a:latin typeface="楷体" panose="02010609060101010101" pitchFamily="49" charset="-122"/>
                <a:ea typeface="楷体" panose="02010609060101010101" pitchFamily="49" charset="-122"/>
              </a:rPr>
              <a:t>刚度系数是只与杆件的长度、截面尺</a:t>
            </a:r>
            <a:r>
              <a:rPr lang="zh-CN" altLang="en-US" sz="2200">
                <a:solidFill>
                  <a:srgbClr val="0000FF"/>
                </a:solidFill>
                <a:latin typeface="楷体" panose="02010609060101010101" pitchFamily="49" charset="-122"/>
                <a:ea typeface="楷体" panose="02010609060101010101" pitchFamily="49" charset="-122"/>
              </a:rPr>
              <a:t>寸和材</a:t>
            </a:r>
            <a:r>
              <a:rPr lang="zh-CN" altLang="en-US" sz="2200" dirty="0">
                <a:solidFill>
                  <a:srgbClr val="0000FF"/>
                </a:solidFill>
                <a:latin typeface="楷体" panose="02010609060101010101" pitchFamily="49" charset="-122"/>
                <a:ea typeface="楷体" panose="02010609060101010101" pitchFamily="49" charset="-122"/>
              </a:rPr>
              <a:t>料性质有关的常数，又称为</a:t>
            </a:r>
            <a:r>
              <a:rPr lang="zh-CN" altLang="en-US" sz="2200" b="1" dirty="0">
                <a:solidFill>
                  <a:srgbClr val="0000FF"/>
                </a:solidFill>
                <a:latin typeface="楷体" panose="02010609060101010101" pitchFamily="49" charset="-122"/>
                <a:ea typeface="楷体" panose="02010609060101010101" pitchFamily="49" charset="-122"/>
              </a:rPr>
              <a:t>形常数</a:t>
            </a:r>
            <a:r>
              <a:rPr lang="zh-CN" altLang="en-US" sz="2200" dirty="0">
                <a:solidFill>
                  <a:srgbClr val="0000FF"/>
                </a:solidFill>
                <a:latin typeface="楷体" panose="02010609060101010101" pitchFamily="49" charset="-122"/>
                <a:ea typeface="楷体" panose="02010609060101010101" pitchFamily="49" charset="-122"/>
              </a:rPr>
              <a:t>。</a:t>
            </a:r>
          </a:p>
        </p:txBody>
      </p:sp>
      <p:sp>
        <p:nvSpPr>
          <p:cNvPr id="23" name="TextBox 22"/>
          <p:cNvSpPr txBox="1"/>
          <p:nvPr/>
        </p:nvSpPr>
        <p:spPr>
          <a:xfrm>
            <a:off x="6322005" y="2939711"/>
            <a:ext cx="2016224" cy="830997"/>
          </a:xfrm>
          <a:prstGeom prst="rect">
            <a:avLst/>
          </a:prstGeom>
          <a:noFill/>
        </p:spPr>
        <p:txBody>
          <a:bodyPr wrap="square" rtlCol="0">
            <a:spAutoFit/>
          </a:bodyPr>
          <a:lstStyle/>
          <a:p>
            <a:r>
              <a:rPr lang="zh-CN" altLang="en-US" sz="2400" dirty="0">
                <a:solidFill>
                  <a:srgbClr val="FFC000"/>
                </a:solidFill>
                <a:latin typeface="楷体" panose="02010609060101010101" pitchFamily="49" charset="-122"/>
                <a:ea typeface="楷体" panose="02010609060101010101" pitchFamily="49" charset="-122"/>
              </a:rPr>
              <a:t>思考：用力法怎么计算？</a:t>
            </a:r>
          </a:p>
        </p:txBody>
      </p:sp>
    </p:spTree>
    <p:extLst>
      <p:ext uri="{BB962C8B-B14F-4D97-AF65-F5344CB8AC3E}">
        <p14:creationId xmlns:p14="http://schemas.microsoft.com/office/powerpoint/2010/main" val="319799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53" presetClass="entr" presetSubtype="16"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anim calcmode="lin" valueType="num">
                                      <p:cBhvr>
                                        <p:cTn id="43" dur="500" fill="hold"/>
                                        <p:tgtEl>
                                          <p:spTgt spid="23"/>
                                        </p:tgtEl>
                                        <p:attrNameLst>
                                          <p:attrName>ppt_w</p:attrName>
                                        </p:attrNameLst>
                                      </p:cBhvr>
                                      <p:tavLst>
                                        <p:tav tm="0">
                                          <p:val>
                                            <p:fltVal val="0"/>
                                          </p:val>
                                        </p:tav>
                                        <p:tav tm="100000">
                                          <p:val>
                                            <p:strVal val="#ppt_w"/>
                                          </p:val>
                                        </p:tav>
                                      </p:tavLst>
                                    </p:anim>
                                    <p:anim calcmode="lin" valueType="num">
                                      <p:cBhvr>
                                        <p:cTn id="44" dur="500" fill="hold"/>
                                        <p:tgtEl>
                                          <p:spTgt spid="23"/>
                                        </p:tgtEl>
                                        <p:attrNameLst>
                                          <p:attrName>ppt_h</p:attrName>
                                        </p:attrNameLst>
                                      </p:cBhvr>
                                      <p:tavLst>
                                        <p:tav tm="0">
                                          <p:val>
                                            <p:fltVal val="0"/>
                                          </p:val>
                                        </p:tav>
                                        <p:tav tm="100000">
                                          <p:val>
                                            <p:strVal val="#ppt_h"/>
                                          </p:val>
                                        </p:tav>
                                      </p:tavLst>
                                    </p:anim>
                                    <p:animEffect transition="in" filter="fade">
                                      <p:cBhvr>
                                        <p:cTn id="4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14" grpId="0"/>
      <p:bldP spid="16" grpId="0"/>
      <p:bldP spid="22" grpId="0"/>
      <p:bldP spid="2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85726"/>
            <a:ext cx="8229600" cy="1143000"/>
          </a:xfrm>
        </p:spPr>
        <p:txBody>
          <a:bodyPr/>
          <a:lstStyle/>
          <a:p>
            <a:r>
              <a:rPr lang="en-US" altLang="zh-CN" dirty="0">
                <a:latin typeface="宋体" pitchFamily="2" charset="-122"/>
              </a:rPr>
              <a:t>§</a:t>
            </a:r>
            <a:r>
              <a:rPr lang="en-US" altLang="zh-CN" dirty="0"/>
              <a:t>7-2</a:t>
            </a:r>
            <a:r>
              <a:rPr lang="zh-CN" altLang="en-US" dirty="0">
                <a:latin typeface="宋体" pitchFamily="2" charset="-122"/>
              </a:rPr>
              <a:t>单跨超静定梁的形常数与载常数</a:t>
            </a:r>
            <a:endParaRPr lang="zh-CN" altLang="en-US" dirty="0"/>
          </a:p>
        </p:txBody>
      </p:sp>
      <p:grpSp>
        <p:nvGrpSpPr>
          <p:cNvPr id="3" name="Group 2"/>
          <p:cNvGrpSpPr>
            <a:grpSpLocks/>
          </p:cNvGrpSpPr>
          <p:nvPr/>
        </p:nvGrpSpPr>
        <p:grpSpPr bwMode="auto">
          <a:xfrm>
            <a:off x="481854" y="2081109"/>
            <a:ext cx="3205163" cy="1947863"/>
            <a:chOff x="907" y="720"/>
            <a:chExt cx="3504" cy="2448"/>
          </a:xfrm>
        </p:grpSpPr>
        <p:graphicFrame>
          <p:nvGraphicFramePr>
            <p:cNvPr id="4" name="Object 3"/>
            <p:cNvGraphicFramePr>
              <a:graphicFrameLocks noChangeAspect="1"/>
            </p:cNvGraphicFramePr>
            <p:nvPr/>
          </p:nvGraphicFramePr>
          <p:xfrm>
            <a:off x="912" y="768"/>
            <a:ext cx="3499" cy="2100"/>
          </p:xfrm>
          <a:graphic>
            <a:graphicData uri="http://schemas.openxmlformats.org/presentationml/2006/ole">
              <mc:AlternateContent xmlns:mc="http://schemas.openxmlformats.org/markup-compatibility/2006">
                <mc:Choice xmlns:v="urn:schemas-microsoft-com:vml" Requires="v">
                  <p:oleObj spid="_x0000_s107760" name="位图图像" r:id="rId4" imgW="5552381" imgH="3333333" progId="Paint.Picture">
                    <p:embed/>
                  </p:oleObj>
                </mc:Choice>
                <mc:Fallback>
                  <p:oleObj name="位图图像" r:id="rId4" imgW="5552381" imgH="3333333" progId="Paint.Picture">
                    <p:embed/>
                    <p:pic>
                      <p:nvPicPr>
                        <p:cNvPr id="0" name=""/>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12" y="768"/>
                          <a:ext cx="3499" cy="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 name="Rectangle 4"/>
            <p:cNvSpPr>
              <a:spLocks noChangeArrowheads="1"/>
            </p:cNvSpPr>
            <p:nvPr/>
          </p:nvSpPr>
          <p:spPr bwMode="auto">
            <a:xfrm>
              <a:off x="2064" y="720"/>
              <a:ext cx="336" cy="2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algn="ctr" eaLnBrk="1" hangingPunct="1">
                <a:spcBef>
                  <a:spcPct val="0"/>
                </a:spcBef>
              </a:pPr>
              <a:r>
                <a:rPr lang="en-US" altLang="zh-CN" i="1">
                  <a:ea typeface="宋体" charset="-122"/>
                </a:rPr>
                <a:t>F</a:t>
              </a:r>
              <a:r>
                <a:rPr lang="en-US" altLang="zh-CN" baseline="-25000">
                  <a:ea typeface="宋体" charset="-122"/>
                </a:rPr>
                <a:t>P</a:t>
              </a:r>
              <a:endParaRPr lang="en-US" altLang="zh-CN" i="1">
                <a:ea typeface="宋体" charset="-122"/>
              </a:endParaRPr>
            </a:p>
          </p:txBody>
        </p:sp>
        <p:sp>
          <p:nvSpPr>
            <p:cNvPr id="6" name="Line 5"/>
            <p:cNvSpPr>
              <a:spLocks noChangeShapeType="1"/>
            </p:cNvSpPr>
            <p:nvPr/>
          </p:nvSpPr>
          <p:spPr bwMode="auto">
            <a:xfrm>
              <a:off x="1104" y="1296"/>
              <a:ext cx="2880" cy="0"/>
            </a:xfrm>
            <a:prstGeom prst="line">
              <a:avLst/>
            </a:prstGeom>
            <a:noFill/>
            <a:ln w="5715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 name="Line 6"/>
            <p:cNvSpPr>
              <a:spLocks noChangeShapeType="1"/>
            </p:cNvSpPr>
            <p:nvPr/>
          </p:nvSpPr>
          <p:spPr bwMode="auto">
            <a:xfrm>
              <a:off x="1152" y="1296"/>
              <a:ext cx="0" cy="1584"/>
            </a:xfrm>
            <a:prstGeom prst="line">
              <a:avLst/>
            </a:prstGeom>
            <a:noFill/>
            <a:ln w="57150">
              <a:solidFill>
                <a:schemeClr val="tx1"/>
              </a:solidFill>
              <a:round/>
              <a:headEnd/>
              <a:tailEnd type="stealth"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7"/>
            <p:cNvSpPr txBox="1">
              <a:spLocks noChangeArrowheads="1"/>
            </p:cNvSpPr>
            <p:nvPr/>
          </p:nvSpPr>
          <p:spPr bwMode="auto">
            <a:xfrm>
              <a:off x="3738" y="1009"/>
              <a:ext cx="201"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en-US" altLang="zh-CN" i="1">
                  <a:ea typeface="宋体" charset="-122"/>
                </a:rPr>
                <a:t>x</a:t>
              </a:r>
            </a:p>
          </p:txBody>
        </p:sp>
        <p:sp>
          <p:nvSpPr>
            <p:cNvPr id="9" name="Text Box 8"/>
            <p:cNvSpPr txBox="1">
              <a:spLocks noChangeArrowheads="1"/>
            </p:cNvSpPr>
            <p:nvPr/>
          </p:nvSpPr>
          <p:spPr bwMode="auto">
            <a:xfrm>
              <a:off x="907" y="2593"/>
              <a:ext cx="201"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en-US" altLang="zh-CN" i="1">
                  <a:ea typeface="宋体" charset="-122"/>
                </a:rPr>
                <a:t>y</a:t>
              </a:r>
            </a:p>
          </p:txBody>
        </p:sp>
      </p:grpSp>
      <p:sp>
        <p:nvSpPr>
          <p:cNvPr id="10" name="Rectangle 9"/>
          <p:cNvSpPr>
            <a:spLocks noChangeArrowheads="1"/>
          </p:cNvSpPr>
          <p:nvPr/>
        </p:nvSpPr>
        <p:spPr bwMode="auto">
          <a:xfrm>
            <a:off x="4211062" y="1484784"/>
            <a:ext cx="32766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spcBef>
                <a:spcPct val="0"/>
              </a:spcBef>
            </a:pPr>
            <a:r>
              <a:rPr lang="zh-CN" altLang="en-US" dirty="0">
                <a:solidFill>
                  <a:srgbClr val="CC0000"/>
                </a:solidFill>
                <a:latin typeface="楷体_GB2312" pitchFamily="49" charset="-122"/>
              </a:rPr>
              <a:t>取简支梁基本结构</a:t>
            </a:r>
            <a:endParaRPr lang="zh-CN" altLang="en-US" sz="700" b="0" dirty="0">
              <a:ea typeface="宋体" charset="-122"/>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457240561"/>
              </p:ext>
            </p:extLst>
          </p:nvPr>
        </p:nvGraphicFramePr>
        <p:xfrm>
          <a:off x="4355976" y="2101102"/>
          <a:ext cx="3733800" cy="1114425"/>
        </p:xfrm>
        <a:graphic>
          <a:graphicData uri="http://schemas.openxmlformats.org/presentationml/2006/ole">
            <mc:AlternateContent xmlns:mc="http://schemas.openxmlformats.org/markup-compatibility/2006">
              <mc:Choice xmlns:v="urn:schemas-microsoft-com:vml" Requires="v">
                <p:oleObj spid="_x0000_s107761" r:id="rId6" imgW="1625600" imgH="482600" progId="Equation.DSMT4">
                  <p:embed/>
                </p:oleObj>
              </mc:Choice>
              <mc:Fallback>
                <p:oleObj r:id="rId6" imgW="1625600" imgH="482600" progId="Equation.DSMT4">
                  <p:embed/>
                  <p:pic>
                    <p:nvPicPr>
                      <p:cNvPr id="0"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5976" y="2101102"/>
                        <a:ext cx="3733800"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2177984647"/>
              </p:ext>
            </p:extLst>
          </p:nvPr>
        </p:nvGraphicFramePr>
        <p:xfrm>
          <a:off x="477838" y="3891954"/>
          <a:ext cx="3733800" cy="1971675"/>
        </p:xfrm>
        <a:graphic>
          <a:graphicData uri="http://schemas.openxmlformats.org/presentationml/2006/ole">
            <mc:AlternateContent xmlns:mc="http://schemas.openxmlformats.org/markup-compatibility/2006">
              <mc:Choice xmlns:v="urn:schemas-microsoft-com:vml" Requires="v">
                <p:oleObj spid="_x0000_s107762" name="位图图像" r:id="rId8" imgW="3010320" imgH="1276190" progId="PBrush">
                  <p:embed/>
                </p:oleObj>
              </mc:Choice>
              <mc:Fallback>
                <p:oleObj name="位图图像" r:id="rId8" imgW="3010320" imgH="1276190" progId="PBrush">
                  <p:embed/>
                  <p:pic>
                    <p:nvPicPr>
                      <p:cNvPr id="0" name="Object 10"/>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7838" y="3891954"/>
                        <a:ext cx="3733800" cy="19716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2073283821"/>
              </p:ext>
            </p:extLst>
          </p:nvPr>
        </p:nvGraphicFramePr>
        <p:xfrm>
          <a:off x="4427984" y="3356992"/>
          <a:ext cx="1600200" cy="650875"/>
        </p:xfrm>
        <a:graphic>
          <a:graphicData uri="http://schemas.openxmlformats.org/presentationml/2006/ole">
            <mc:AlternateContent xmlns:mc="http://schemas.openxmlformats.org/markup-compatibility/2006">
              <mc:Choice xmlns:v="urn:schemas-microsoft-com:vml" Requires="v">
                <p:oleObj spid="_x0000_s107763" r:id="rId10" imgW="965200" imgH="393700" progId="Equation.DSMT4">
                  <p:embed/>
                </p:oleObj>
              </mc:Choice>
              <mc:Fallback>
                <p:oleObj r:id="rId10" imgW="965200" imgH="393700" progId="Equation.DSMT4">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27984" y="3356992"/>
                        <a:ext cx="1600200"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944624924"/>
              </p:ext>
            </p:extLst>
          </p:nvPr>
        </p:nvGraphicFramePr>
        <p:xfrm>
          <a:off x="6228184" y="3336726"/>
          <a:ext cx="1828800" cy="668338"/>
        </p:xfrm>
        <a:graphic>
          <a:graphicData uri="http://schemas.openxmlformats.org/presentationml/2006/ole">
            <mc:AlternateContent xmlns:mc="http://schemas.openxmlformats.org/markup-compatibility/2006">
              <mc:Choice xmlns:v="urn:schemas-microsoft-com:vml" Requires="v">
                <p:oleObj spid="_x0000_s107764" r:id="rId12" imgW="1066337" imgH="393529" progId="Equation.DSMT4">
                  <p:embed/>
                </p:oleObj>
              </mc:Choice>
              <mc:Fallback>
                <p:oleObj r:id="rId12" imgW="1066337" imgH="393529" progId="Equation.DSMT4">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28184" y="3336726"/>
                        <a:ext cx="1828800" cy="66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5" name="Group 13"/>
          <p:cNvGrpSpPr>
            <a:grpSpLocks/>
          </p:cNvGrpSpPr>
          <p:nvPr/>
        </p:nvGrpSpPr>
        <p:grpSpPr bwMode="auto">
          <a:xfrm>
            <a:off x="421456" y="5814217"/>
            <a:ext cx="3646488" cy="457200"/>
            <a:chOff x="1008" y="2688"/>
            <a:chExt cx="2297" cy="288"/>
          </a:xfrm>
        </p:grpSpPr>
        <p:sp>
          <p:nvSpPr>
            <p:cNvPr id="16" name="Rectangle 14"/>
            <p:cNvSpPr>
              <a:spLocks noChangeArrowheads="1"/>
            </p:cNvSpPr>
            <p:nvPr/>
          </p:nvSpPr>
          <p:spPr bwMode="auto">
            <a:xfrm>
              <a:off x="1008" y="2688"/>
              <a:ext cx="2297" cy="28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spcBef>
                  <a:spcPct val="0"/>
                </a:spcBef>
              </a:pPr>
              <a:r>
                <a:rPr lang="zh-CN" altLang="en-US" dirty="0">
                  <a:latin typeface="宋体" charset="-122"/>
                  <a:ea typeface="宋体" charset="-122"/>
                </a:rPr>
                <a:t>作出 </a:t>
              </a:r>
              <a:r>
                <a:rPr lang="zh-CN" altLang="en-US" sz="1400" dirty="0">
                  <a:latin typeface="宋体" charset="-122"/>
                  <a:ea typeface="宋体" charset="-122"/>
                </a:rPr>
                <a:t>       、      、</a:t>
              </a:r>
              <a:r>
                <a:rPr lang="zh-CN" altLang="en-US" sz="700" dirty="0">
                  <a:ea typeface="宋体" charset="-122"/>
                </a:rPr>
                <a:t>             </a:t>
              </a:r>
              <a:r>
                <a:rPr lang="zh-CN" altLang="en-US" dirty="0">
                  <a:solidFill>
                    <a:srgbClr val="CC0000"/>
                  </a:solidFill>
                  <a:ea typeface="宋体" charset="-122"/>
                </a:rPr>
                <a:t>（略）</a:t>
              </a:r>
            </a:p>
          </p:txBody>
        </p:sp>
        <p:graphicFrame>
          <p:nvGraphicFramePr>
            <p:cNvPr id="17" name="Object 15"/>
            <p:cNvGraphicFramePr>
              <a:graphicFrameLocks noChangeAspect="1"/>
            </p:cNvGraphicFramePr>
            <p:nvPr/>
          </p:nvGraphicFramePr>
          <p:xfrm>
            <a:off x="1536" y="2736"/>
            <a:ext cx="240" cy="220"/>
          </p:xfrm>
          <a:graphic>
            <a:graphicData uri="http://schemas.openxmlformats.org/presentationml/2006/ole">
              <mc:AlternateContent xmlns:mc="http://schemas.openxmlformats.org/markup-compatibility/2006">
                <mc:Choice xmlns:v="urn:schemas-microsoft-com:vml" Requires="v">
                  <p:oleObj spid="_x0000_s107765" r:id="rId14" imgW="241091" imgH="215713" progId="Equation.DSMT4">
                    <p:embed/>
                  </p:oleObj>
                </mc:Choice>
                <mc:Fallback>
                  <p:oleObj r:id="rId14" imgW="241091" imgH="215713" progId="Equation.DSMT4">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36" y="2736"/>
                          <a:ext cx="24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Object 16"/>
            <p:cNvGraphicFramePr>
              <a:graphicFrameLocks noChangeAspect="1"/>
            </p:cNvGraphicFramePr>
            <p:nvPr/>
          </p:nvGraphicFramePr>
          <p:xfrm>
            <a:off x="2064" y="2736"/>
            <a:ext cx="240" cy="204"/>
          </p:xfrm>
          <a:graphic>
            <a:graphicData uri="http://schemas.openxmlformats.org/presentationml/2006/ole">
              <mc:AlternateContent xmlns:mc="http://schemas.openxmlformats.org/markup-compatibility/2006">
                <mc:Choice xmlns:v="urn:schemas-microsoft-com:vml" Requires="v">
                  <p:oleObj spid="_x0000_s107766" r:id="rId16" imgW="253780" imgH="215713" progId="Equation.DSMT4">
                    <p:embed/>
                  </p:oleObj>
                </mc:Choice>
                <mc:Fallback>
                  <p:oleObj r:id="rId16" imgW="253780" imgH="215713" progId="Equation.DSMT4">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064" y="2736"/>
                          <a:ext cx="240" cy="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9" name="Object 17"/>
            <p:cNvGraphicFramePr>
              <a:graphicFrameLocks noChangeAspect="1"/>
            </p:cNvGraphicFramePr>
            <p:nvPr/>
          </p:nvGraphicFramePr>
          <p:xfrm>
            <a:off x="2544" y="2736"/>
            <a:ext cx="147" cy="192"/>
          </p:xfrm>
          <a:graphic>
            <a:graphicData uri="http://schemas.openxmlformats.org/presentationml/2006/ole">
              <mc:AlternateContent xmlns:mc="http://schemas.openxmlformats.org/markup-compatibility/2006">
                <mc:Choice xmlns:v="urn:schemas-microsoft-com:vml" Requires="v">
                  <p:oleObj spid="_x0000_s107767" r:id="rId18" imgW="152268" imgH="203024" progId="Equation.DSMT4">
                    <p:embed/>
                  </p:oleObj>
                </mc:Choice>
                <mc:Fallback>
                  <p:oleObj r:id="rId18" imgW="152268" imgH="203024" progId="Equation.DSMT4">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544" y="2736"/>
                          <a:ext cx="1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20" name="对象 19"/>
          <p:cNvGraphicFramePr>
            <a:graphicFrameLocks noChangeAspect="1"/>
          </p:cNvGraphicFramePr>
          <p:nvPr>
            <p:extLst>
              <p:ext uri="{D42A27DB-BD31-4B8C-83A1-F6EECF244321}">
                <p14:modId xmlns:p14="http://schemas.microsoft.com/office/powerpoint/2010/main" val="59176860"/>
              </p:ext>
            </p:extLst>
          </p:nvPr>
        </p:nvGraphicFramePr>
        <p:xfrm>
          <a:off x="4427984" y="4149080"/>
          <a:ext cx="2057400" cy="773113"/>
        </p:xfrm>
        <a:graphic>
          <a:graphicData uri="http://schemas.openxmlformats.org/presentationml/2006/ole">
            <mc:AlternateContent xmlns:mc="http://schemas.openxmlformats.org/markup-compatibility/2006">
              <mc:Choice xmlns:v="urn:schemas-microsoft-com:vml" Requires="v">
                <p:oleObj spid="_x0000_s107768" r:id="rId20" imgW="1040948" imgH="393529" progId="Equation.DSMT4">
                  <p:embed/>
                </p:oleObj>
              </mc:Choice>
              <mc:Fallback>
                <p:oleObj r:id="rId20" imgW="1040948" imgH="393529" progId="Equation.DSMT4">
                  <p:embed/>
                  <p:pic>
                    <p:nvPicPr>
                      <p:cNvPr id="0" name="Object 20"/>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427984" y="4149080"/>
                        <a:ext cx="2057400" cy="77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139321449"/>
              </p:ext>
            </p:extLst>
          </p:nvPr>
        </p:nvGraphicFramePr>
        <p:xfrm>
          <a:off x="5220072" y="5085184"/>
          <a:ext cx="3048000" cy="587375"/>
        </p:xfrm>
        <a:graphic>
          <a:graphicData uri="http://schemas.openxmlformats.org/presentationml/2006/ole">
            <mc:AlternateContent xmlns:mc="http://schemas.openxmlformats.org/markup-compatibility/2006">
              <mc:Choice xmlns:v="urn:schemas-microsoft-com:vml" Requires="v">
                <p:oleObj spid="_x0000_s107769" r:id="rId22" imgW="2032000" imgH="393700" progId="Equation.DSMT4">
                  <p:embed/>
                </p:oleObj>
              </mc:Choice>
              <mc:Fallback>
                <p:oleObj r:id="rId22" imgW="2032000" imgH="393700" progId="Equation.DSMT4">
                  <p:embed/>
                  <p:pic>
                    <p:nvPicPr>
                      <p:cNvPr id="0" name="Object 2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220072" y="5085184"/>
                        <a:ext cx="3048000"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416002361"/>
              </p:ext>
            </p:extLst>
          </p:nvPr>
        </p:nvGraphicFramePr>
        <p:xfrm>
          <a:off x="5220072" y="5847184"/>
          <a:ext cx="3200400" cy="606425"/>
        </p:xfrm>
        <a:graphic>
          <a:graphicData uri="http://schemas.openxmlformats.org/presentationml/2006/ole">
            <mc:AlternateContent xmlns:mc="http://schemas.openxmlformats.org/markup-compatibility/2006">
              <mc:Choice xmlns:v="urn:schemas-microsoft-com:vml" Requires="v">
                <p:oleObj spid="_x0000_s107770" r:id="rId24" imgW="2057400" imgH="393700" progId="Equation.DSMT4">
                  <p:embed/>
                </p:oleObj>
              </mc:Choice>
              <mc:Fallback>
                <p:oleObj r:id="rId24" imgW="2057400" imgH="393700" progId="Equation.DSMT4">
                  <p:embed/>
                  <p:pic>
                    <p:nvPicPr>
                      <p:cNvPr id="0" name="Object 2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220072" y="5847184"/>
                        <a:ext cx="3200400"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3" name="TextBox 22"/>
          <p:cNvSpPr txBox="1"/>
          <p:nvPr/>
        </p:nvSpPr>
        <p:spPr>
          <a:xfrm>
            <a:off x="4211960" y="5445224"/>
            <a:ext cx="936104" cy="461665"/>
          </a:xfrm>
          <a:prstGeom prst="rect">
            <a:avLst/>
          </a:prstGeom>
          <a:noFill/>
        </p:spPr>
        <p:txBody>
          <a:bodyPr wrap="square" rtlCol="0">
            <a:spAutoFit/>
          </a:bodyPr>
          <a:lstStyle/>
          <a:p>
            <a:r>
              <a:rPr lang="zh-CN" altLang="en-US" sz="2400" dirty="0">
                <a:solidFill>
                  <a:srgbClr val="0000FF"/>
                </a:solidFill>
                <a:latin typeface="楷体" panose="02010609060101010101" pitchFamily="49" charset="-122"/>
                <a:ea typeface="楷体" panose="02010609060101010101" pitchFamily="49" charset="-122"/>
              </a:rPr>
              <a:t>解出</a:t>
            </a:r>
          </a:p>
        </p:txBody>
      </p:sp>
      <p:sp>
        <p:nvSpPr>
          <p:cNvPr id="24" name="TextBox 23"/>
          <p:cNvSpPr txBox="1"/>
          <p:nvPr/>
        </p:nvSpPr>
        <p:spPr>
          <a:xfrm>
            <a:off x="481854" y="1412776"/>
            <a:ext cx="3442074" cy="492443"/>
          </a:xfrm>
          <a:prstGeom prst="rect">
            <a:avLst/>
          </a:prstGeom>
          <a:noFill/>
        </p:spPr>
        <p:txBody>
          <a:bodyPr wrap="square" rtlCol="0">
            <a:spAutoFit/>
          </a:bodyPr>
          <a:lstStyle/>
          <a:p>
            <a:r>
              <a:rPr lang="zh-CN" altLang="en-US" sz="2600" b="1" dirty="0">
                <a:solidFill>
                  <a:srgbClr val="0000FF"/>
                </a:solidFill>
                <a:latin typeface="楷体" panose="02010609060101010101" pitchFamily="49" charset="-122"/>
                <a:ea typeface="楷体" panose="02010609060101010101" pitchFamily="49" charset="-122"/>
              </a:rPr>
              <a:t>用力法求解杆端内力：</a:t>
            </a:r>
          </a:p>
        </p:txBody>
      </p:sp>
    </p:spTree>
    <p:extLst>
      <p:ext uri="{BB962C8B-B14F-4D97-AF65-F5344CB8AC3E}">
        <p14:creationId xmlns:p14="http://schemas.microsoft.com/office/powerpoint/2010/main" val="182936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1"/>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3" grpId="0"/>
      <p:bldP spid="2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a:spLocks noGrp="1"/>
          </p:cNvSpPr>
          <p:nvPr>
            <p:ph type="title"/>
          </p:nvPr>
        </p:nvSpPr>
        <p:spPr>
          <a:xfrm>
            <a:off x="467544" y="116632"/>
            <a:ext cx="8229600" cy="1143000"/>
          </a:xfrm>
        </p:spPr>
        <p:txBody>
          <a:bodyPr/>
          <a:lstStyle/>
          <a:p>
            <a:r>
              <a:rPr lang="en-US" altLang="zh-CN" sz="3000" dirty="0">
                <a:latin typeface="宋体" pitchFamily="2" charset="-122"/>
              </a:rPr>
              <a:t>§</a:t>
            </a:r>
            <a:r>
              <a:rPr lang="en-US" altLang="zh-CN" dirty="0"/>
              <a:t>7-2</a:t>
            </a:r>
            <a:r>
              <a:rPr lang="en-US" altLang="zh-CN" dirty="0">
                <a:latin typeface="宋体" pitchFamily="2" charset="-122"/>
              </a:rPr>
              <a:t> </a:t>
            </a:r>
            <a:r>
              <a:rPr lang="zh-CN" altLang="en-US" dirty="0">
                <a:latin typeface="宋体" pitchFamily="2" charset="-122"/>
              </a:rPr>
              <a:t>单跨超静定梁的形常数与载常数</a:t>
            </a:r>
            <a:endParaRPr lang="zh-CN" altLang="en-US" dirty="0"/>
          </a:p>
        </p:txBody>
      </p:sp>
      <p:sp>
        <p:nvSpPr>
          <p:cNvPr id="3" name="TextBox 2"/>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grpSp>
        <p:nvGrpSpPr>
          <p:cNvPr id="15" name="组合 14"/>
          <p:cNvGrpSpPr/>
          <p:nvPr/>
        </p:nvGrpSpPr>
        <p:grpSpPr>
          <a:xfrm>
            <a:off x="765596" y="1269209"/>
            <a:ext cx="6604968" cy="1368152"/>
            <a:chOff x="765596" y="1269209"/>
            <a:chExt cx="6604968" cy="1368152"/>
          </a:xfrm>
        </p:grpSpPr>
        <p:graphicFrame>
          <p:nvGraphicFramePr>
            <p:cNvPr id="4" name="对象 3"/>
            <p:cNvGraphicFramePr>
              <a:graphicFrameLocks noChangeAspect="1"/>
            </p:cNvGraphicFramePr>
            <p:nvPr>
              <p:extLst>
                <p:ext uri="{D42A27DB-BD31-4B8C-83A1-F6EECF244321}">
                  <p14:modId xmlns:p14="http://schemas.microsoft.com/office/powerpoint/2010/main" val="3804967594"/>
                </p:ext>
              </p:extLst>
            </p:nvPr>
          </p:nvGraphicFramePr>
          <p:xfrm>
            <a:off x="5148064" y="1720044"/>
            <a:ext cx="2222500" cy="609600"/>
          </p:xfrm>
          <a:graphic>
            <a:graphicData uri="http://schemas.openxmlformats.org/presentationml/2006/ole">
              <mc:AlternateContent xmlns:mc="http://schemas.openxmlformats.org/markup-compatibility/2006">
                <mc:Choice xmlns:v="urn:schemas-microsoft-com:vml" Requires="v">
                  <p:oleObj spid="_x0000_s100605" name="Equation" r:id="rId4" imgW="2222280" imgH="609480" progId="Equation.DSMT4">
                    <p:embed/>
                  </p:oleObj>
                </mc:Choice>
                <mc:Fallback>
                  <p:oleObj name="Equation" r:id="rId4" imgW="2222280" imgH="609480" progId="Equation.DSMT4">
                    <p:embed/>
                    <p:pic>
                      <p:nvPicPr>
                        <p:cNvPr id="0" name=""/>
                        <p:cNvPicPr/>
                        <p:nvPr/>
                      </p:nvPicPr>
                      <p:blipFill>
                        <a:blip r:embed="rId5"/>
                        <a:stretch>
                          <a:fillRect/>
                        </a:stretch>
                      </p:blipFill>
                      <p:spPr>
                        <a:xfrm>
                          <a:off x="5148064" y="1720044"/>
                          <a:ext cx="2222500" cy="609600"/>
                        </a:xfrm>
                        <a:prstGeom prst="rect">
                          <a:avLst/>
                        </a:prstGeom>
                      </p:spPr>
                    </p:pic>
                  </p:oleObj>
                </mc:Fallback>
              </mc:AlternateContent>
            </a:graphicData>
          </a:graphic>
        </p:graphicFrame>
        <p:pic>
          <p:nvPicPr>
            <p:cNvPr id="6" name="Picture 1" descr="C:\Users\Administrator\AppData\Roaming\Tencent\Users\42337577\QQ\WinTemp\RichOle\MEB~6OU%S7XQI5JVH$WM%P9.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5596" y="1269209"/>
              <a:ext cx="3015643" cy="136815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8" name="组合 17"/>
          <p:cNvGrpSpPr/>
          <p:nvPr/>
        </p:nvGrpSpPr>
        <p:grpSpPr>
          <a:xfrm>
            <a:off x="536792" y="2588226"/>
            <a:ext cx="6560921" cy="1287946"/>
            <a:chOff x="536792" y="2588226"/>
            <a:chExt cx="6560921" cy="1287946"/>
          </a:xfrm>
        </p:grpSpPr>
        <p:pic>
          <p:nvPicPr>
            <p:cNvPr id="19457" name="Picture 1" descr="C:\Users\Administrator\AppData\Roaming\Tencent\Users\42337577\QQ\WinTemp\RichOle\2(849~`7{MZ[P{N5F_78SN2.pn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792" y="2588226"/>
              <a:ext cx="3315128" cy="128794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对象 1"/>
            <p:cNvGraphicFramePr>
              <a:graphicFrameLocks noChangeAspect="1"/>
            </p:cNvGraphicFramePr>
            <p:nvPr>
              <p:extLst>
                <p:ext uri="{D42A27DB-BD31-4B8C-83A1-F6EECF244321}">
                  <p14:modId xmlns:p14="http://schemas.microsoft.com/office/powerpoint/2010/main" val="3788347369"/>
                </p:ext>
              </p:extLst>
            </p:nvPr>
          </p:nvGraphicFramePr>
          <p:xfrm>
            <a:off x="5421313" y="2997200"/>
            <a:ext cx="1676400" cy="609600"/>
          </p:xfrm>
          <a:graphic>
            <a:graphicData uri="http://schemas.openxmlformats.org/presentationml/2006/ole">
              <mc:AlternateContent xmlns:mc="http://schemas.openxmlformats.org/markup-compatibility/2006">
                <mc:Choice xmlns:v="urn:schemas-microsoft-com:vml" Requires="v">
                  <p:oleObj spid="_x0000_s100606" name="Equation" r:id="rId8" imgW="1676160" imgH="609480" progId="Equation.DSMT4">
                    <p:embed/>
                  </p:oleObj>
                </mc:Choice>
                <mc:Fallback>
                  <p:oleObj name="Equation" r:id="rId8" imgW="1676160" imgH="609480" progId="Equation.DSMT4">
                    <p:embed/>
                    <p:pic>
                      <p:nvPicPr>
                        <p:cNvPr id="0" name="对象 3"/>
                        <p:cNvPicPr>
                          <a:picLocks noChangeAspect="1" noChangeArrowheads="1"/>
                        </p:cNvPicPr>
                        <p:nvPr/>
                      </p:nvPicPr>
                      <p:blipFill>
                        <a:blip r:embed="rId9"/>
                        <a:srcRect/>
                        <a:stretch>
                          <a:fillRect/>
                        </a:stretch>
                      </p:blipFill>
                      <p:spPr bwMode="auto">
                        <a:xfrm>
                          <a:off x="5421313" y="2997200"/>
                          <a:ext cx="1676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16" name="组合 15"/>
          <p:cNvGrpSpPr/>
          <p:nvPr/>
        </p:nvGrpSpPr>
        <p:grpSpPr>
          <a:xfrm>
            <a:off x="6084168" y="2348880"/>
            <a:ext cx="694660" cy="576064"/>
            <a:chOff x="6084168" y="2348880"/>
            <a:chExt cx="694660" cy="576064"/>
          </a:xfrm>
        </p:grpSpPr>
        <p:sp>
          <p:nvSpPr>
            <p:cNvPr id="7" name="下箭头 6"/>
            <p:cNvSpPr/>
            <p:nvPr/>
          </p:nvSpPr>
          <p:spPr bwMode="auto">
            <a:xfrm>
              <a:off x="6084168" y="2348880"/>
              <a:ext cx="144016" cy="576064"/>
            </a:xfrm>
            <a:prstGeom prst="downArrow">
              <a:avLst/>
            </a:prstGeom>
            <a:noFill/>
            <a:ln w="127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917863850"/>
                </p:ext>
              </p:extLst>
            </p:nvPr>
          </p:nvGraphicFramePr>
          <p:xfrm>
            <a:off x="6232728" y="2448526"/>
            <a:ext cx="546100" cy="279400"/>
          </p:xfrm>
          <a:graphic>
            <a:graphicData uri="http://schemas.openxmlformats.org/presentationml/2006/ole">
              <mc:AlternateContent xmlns:mc="http://schemas.openxmlformats.org/markup-compatibility/2006">
                <mc:Choice xmlns:v="urn:schemas-microsoft-com:vml" Requires="v">
                  <p:oleObj spid="_x0000_s100607" name="Equation" r:id="rId10" imgW="545760" imgH="279360" progId="Equation.DSMT4">
                    <p:embed/>
                  </p:oleObj>
                </mc:Choice>
                <mc:Fallback>
                  <p:oleObj name="Equation" r:id="rId10" imgW="545760" imgH="279360" progId="Equation.DSMT4">
                    <p:embed/>
                    <p:pic>
                      <p:nvPicPr>
                        <p:cNvPr id="0" name=""/>
                        <p:cNvPicPr/>
                        <p:nvPr/>
                      </p:nvPicPr>
                      <p:blipFill>
                        <a:blip r:embed="rId11"/>
                        <a:stretch>
                          <a:fillRect/>
                        </a:stretch>
                      </p:blipFill>
                      <p:spPr>
                        <a:xfrm>
                          <a:off x="6232728" y="2448526"/>
                          <a:ext cx="546100" cy="279400"/>
                        </a:xfrm>
                        <a:prstGeom prst="rect">
                          <a:avLst/>
                        </a:prstGeom>
                      </p:spPr>
                    </p:pic>
                  </p:oleObj>
                </mc:Fallback>
              </mc:AlternateContent>
            </a:graphicData>
          </a:graphic>
        </p:graphicFrame>
      </p:grpSp>
      <p:grpSp>
        <p:nvGrpSpPr>
          <p:cNvPr id="19" name="组合 18"/>
          <p:cNvGrpSpPr/>
          <p:nvPr/>
        </p:nvGrpSpPr>
        <p:grpSpPr>
          <a:xfrm>
            <a:off x="539552" y="3955681"/>
            <a:ext cx="8130173" cy="1269498"/>
            <a:chOff x="539552" y="3955681"/>
            <a:chExt cx="8130173" cy="1269498"/>
          </a:xfrm>
        </p:grpSpPr>
        <p:pic>
          <p:nvPicPr>
            <p:cNvPr id="19458" name="Picture 2" descr="C:\Users\Administrator\AppData\Roaming\Tencent\Users\42337577\QQ\WinTemp\RichOle\7$P9UJ[R3{RY}~IV_UWP1L1.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9552" y="3955681"/>
              <a:ext cx="3086324" cy="126949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对象 8"/>
            <p:cNvGraphicFramePr>
              <a:graphicFrameLocks noChangeAspect="1"/>
            </p:cNvGraphicFramePr>
            <p:nvPr>
              <p:extLst>
                <p:ext uri="{D42A27DB-BD31-4B8C-83A1-F6EECF244321}">
                  <p14:modId xmlns:p14="http://schemas.microsoft.com/office/powerpoint/2010/main" val="2179258064"/>
                </p:ext>
              </p:extLst>
            </p:nvPr>
          </p:nvGraphicFramePr>
          <p:xfrm>
            <a:off x="3921125" y="4044950"/>
            <a:ext cx="2286000" cy="1092200"/>
          </p:xfrm>
          <a:graphic>
            <a:graphicData uri="http://schemas.openxmlformats.org/presentationml/2006/ole">
              <mc:AlternateContent xmlns:mc="http://schemas.openxmlformats.org/markup-compatibility/2006">
                <mc:Choice xmlns:v="urn:schemas-microsoft-com:vml" Requires="v">
                  <p:oleObj spid="_x0000_s100608" name="Equation" r:id="rId13" imgW="2286000" imgH="1091880" progId="Equation.DSMT4">
                    <p:embed/>
                  </p:oleObj>
                </mc:Choice>
                <mc:Fallback>
                  <p:oleObj name="Equation" r:id="rId13" imgW="2286000" imgH="1091880" progId="Equation.DSMT4">
                    <p:embed/>
                    <p:pic>
                      <p:nvPicPr>
                        <p:cNvPr id="0" name="对象 3"/>
                        <p:cNvPicPr>
                          <a:picLocks noChangeAspect="1" noChangeArrowheads="1"/>
                        </p:cNvPicPr>
                        <p:nvPr/>
                      </p:nvPicPr>
                      <p:blipFill>
                        <a:blip r:embed="rId14"/>
                        <a:srcRect/>
                        <a:stretch>
                          <a:fillRect/>
                        </a:stretch>
                      </p:blipFill>
                      <p:spPr bwMode="auto">
                        <a:xfrm>
                          <a:off x="3921125" y="4044950"/>
                          <a:ext cx="22860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右箭头 9"/>
            <p:cNvSpPr/>
            <p:nvPr/>
          </p:nvSpPr>
          <p:spPr bwMode="auto">
            <a:xfrm>
              <a:off x="6228184" y="4523073"/>
              <a:ext cx="792088" cy="134714"/>
            </a:xfrm>
            <a:prstGeom prst="rightArrow">
              <a:avLst/>
            </a:prstGeom>
            <a:noFill/>
            <a:ln w="127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aphicFrame>
          <p:nvGraphicFramePr>
            <p:cNvPr id="11" name="对象 10"/>
            <p:cNvGraphicFramePr>
              <a:graphicFrameLocks noChangeAspect="1"/>
            </p:cNvGraphicFramePr>
            <p:nvPr>
              <p:extLst>
                <p:ext uri="{D42A27DB-BD31-4B8C-83A1-F6EECF244321}">
                  <p14:modId xmlns:p14="http://schemas.microsoft.com/office/powerpoint/2010/main" val="2280971385"/>
                </p:ext>
              </p:extLst>
            </p:nvPr>
          </p:nvGraphicFramePr>
          <p:xfrm>
            <a:off x="7044125" y="4450730"/>
            <a:ext cx="1625600" cy="279400"/>
          </p:xfrm>
          <a:graphic>
            <a:graphicData uri="http://schemas.openxmlformats.org/presentationml/2006/ole">
              <mc:AlternateContent xmlns:mc="http://schemas.openxmlformats.org/markup-compatibility/2006">
                <mc:Choice xmlns:v="urn:schemas-microsoft-com:vml" Requires="v">
                  <p:oleObj spid="_x0000_s100609" name="Equation" r:id="rId15" imgW="1625400" imgH="279360" progId="Equation.DSMT4">
                    <p:embed/>
                  </p:oleObj>
                </mc:Choice>
                <mc:Fallback>
                  <p:oleObj name="Equation" r:id="rId15" imgW="1625400" imgH="279360" progId="Equation.DSMT4">
                    <p:embed/>
                    <p:pic>
                      <p:nvPicPr>
                        <p:cNvPr id="0" name=""/>
                        <p:cNvPicPr/>
                        <p:nvPr/>
                      </p:nvPicPr>
                      <p:blipFill>
                        <a:blip r:embed="rId16"/>
                        <a:stretch>
                          <a:fillRect/>
                        </a:stretch>
                      </p:blipFill>
                      <p:spPr>
                        <a:xfrm>
                          <a:off x="7044125" y="4450730"/>
                          <a:ext cx="1625600" cy="279400"/>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244327625"/>
                </p:ext>
              </p:extLst>
            </p:nvPr>
          </p:nvGraphicFramePr>
          <p:xfrm>
            <a:off x="6267939" y="4243673"/>
            <a:ext cx="635000" cy="279400"/>
          </p:xfrm>
          <a:graphic>
            <a:graphicData uri="http://schemas.openxmlformats.org/presentationml/2006/ole">
              <mc:AlternateContent xmlns:mc="http://schemas.openxmlformats.org/markup-compatibility/2006">
                <mc:Choice xmlns:v="urn:schemas-microsoft-com:vml" Requires="v">
                  <p:oleObj spid="_x0000_s100610" name="Equation" r:id="rId17" imgW="634680" imgH="279360" progId="Equation.DSMT4">
                    <p:embed/>
                  </p:oleObj>
                </mc:Choice>
                <mc:Fallback>
                  <p:oleObj name="Equation" r:id="rId17" imgW="634680" imgH="279360" progId="Equation.DSMT4">
                    <p:embed/>
                    <p:pic>
                      <p:nvPicPr>
                        <p:cNvPr id="0" name=""/>
                        <p:cNvPicPr/>
                        <p:nvPr/>
                      </p:nvPicPr>
                      <p:blipFill>
                        <a:blip r:embed="rId18"/>
                        <a:stretch>
                          <a:fillRect/>
                        </a:stretch>
                      </p:blipFill>
                      <p:spPr>
                        <a:xfrm>
                          <a:off x="6267939" y="4243673"/>
                          <a:ext cx="635000" cy="279400"/>
                        </a:xfrm>
                        <a:prstGeom prst="rect">
                          <a:avLst/>
                        </a:prstGeom>
                      </p:spPr>
                    </p:pic>
                  </p:oleObj>
                </mc:Fallback>
              </mc:AlternateContent>
            </a:graphicData>
          </a:graphic>
        </p:graphicFrame>
      </p:grpSp>
      <p:grpSp>
        <p:nvGrpSpPr>
          <p:cNvPr id="20" name="组合 19"/>
          <p:cNvGrpSpPr/>
          <p:nvPr/>
        </p:nvGrpSpPr>
        <p:grpSpPr>
          <a:xfrm>
            <a:off x="643364" y="5320591"/>
            <a:ext cx="7440506" cy="1199565"/>
            <a:chOff x="643364" y="5320591"/>
            <a:chExt cx="7440506" cy="1199565"/>
          </a:xfrm>
        </p:grpSpPr>
        <p:pic>
          <p:nvPicPr>
            <p:cNvPr id="19459" name="Picture 3" descr="C:\Users\Administrator\AppData\Roaming\Tencent\Users\42337577\QQ\WinTemp\RichOle\XUEF0C8WEBIQP`QOWL_L2SY.png"/>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43364" y="5320591"/>
              <a:ext cx="3408037" cy="119956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对象 12"/>
            <p:cNvGraphicFramePr>
              <a:graphicFrameLocks noChangeAspect="1"/>
            </p:cNvGraphicFramePr>
            <p:nvPr>
              <p:extLst>
                <p:ext uri="{D42A27DB-BD31-4B8C-83A1-F6EECF244321}">
                  <p14:modId xmlns:p14="http://schemas.microsoft.com/office/powerpoint/2010/main" val="2525766995"/>
                </p:ext>
              </p:extLst>
            </p:nvPr>
          </p:nvGraphicFramePr>
          <p:xfrm>
            <a:off x="4499992" y="5535516"/>
            <a:ext cx="1384300" cy="635000"/>
          </p:xfrm>
          <a:graphic>
            <a:graphicData uri="http://schemas.openxmlformats.org/presentationml/2006/ole">
              <mc:AlternateContent xmlns:mc="http://schemas.openxmlformats.org/markup-compatibility/2006">
                <mc:Choice xmlns:v="urn:schemas-microsoft-com:vml" Requires="v">
                  <p:oleObj spid="_x0000_s100611" name="Equation" r:id="rId20" imgW="1384200" imgH="634680" progId="Equation.DSMT4">
                    <p:embed/>
                  </p:oleObj>
                </mc:Choice>
                <mc:Fallback>
                  <p:oleObj name="Equation" r:id="rId20" imgW="1384200" imgH="634680" progId="Equation.DSMT4">
                    <p:embed/>
                    <p:pic>
                      <p:nvPicPr>
                        <p:cNvPr id="0" name=""/>
                        <p:cNvPicPr/>
                        <p:nvPr/>
                      </p:nvPicPr>
                      <p:blipFill>
                        <a:blip r:embed="rId21"/>
                        <a:stretch>
                          <a:fillRect/>
                        </a:stretch>
                      </p:blipFill>
                      <p:spPr>
                        <a:xfrm>
                          <a:off x="4499992" y="5535516"/>
                          <a:ext cx="1384300" cy="635000"/>
                        </a:xfrm>
                        <a:prstGeom prst="rect">
                          <a:avLst/>
                        </a:prstGeom>
                      </p:spPr>
                    </p:pic>
                  </p:oleObj>
                </mc:Fallback>
              </mc:AlternateContent>
            </a:graphicData>
          </a:graphic>
        </p:graphicFrame>
        <p:sp>
          <p:nvSpPr>
            <p:cNvPr id="17" name="右箭头 16"/>
            <p:cNvSpPr/>
            <p:nvPr/>
          </p:nvSpPr>
          <p:spPr bwMode="auto">
            <a:xfrm>
              <a:off x="6084168" y="5785659"/>
              <a:ext cx="648072" cy="134714"/>
            </a:xfrm>
            <a:prstGeom prst="rightArrow">
              <a:avLst/>
            </a:prstGeom>
            <a:noFill/>
            <a:ln w="127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CN" altLang="en-US" sz="1800" b="1" i="1" u="none" strike="noStrike" cap="none" normalizeH="0" baseline="0">
                <a:ln>
                  <a:noFill/>
                </a:ln>
                <a:solidFill>
                  <a:schemeClr val="tx1"/>
                </a:solidFill>
                <a:effectLst/>
                <a:latin typeface="Arial" pitchFamily="34" charset="0"/>
                <a:ea typeface="华文细黑" pitchFamily="2" charset="-122"/>
              </a:endParaRPr>
            </a:p>
          </p:txBody>
        </p:sp>
        <p:graphicFrame>
          <p:nvGraphicFramePr>
            <p:cNvPr id="14" name="对象 13"/>
            <p:cNvGraphicFramePr>
              <a:graphicFrameLocks noChangeAspect="1"/>
            </p:cNvGraphicFramePr>
            <p:nvPr>
              <p:extLst>
                <p:ext uri="{D42A27DB-BD31-4B8C-83A1-F6EECF244321}">
                  <p14:modId xmlns:p14="http://schemas.microsoft.com/office/powerpoint/2010/main" val="3807654989"/>
                </p:ext>
              </p:extLst>
            </p:nvPr>
          </p:nvGraphicFramePr>
          <p:xfrm>
            <a:off x="7004370" y="5528565"/>
            <a:ext cx="1079500" cy="609600"/>
          </p:xfrm>
          <a:graphic>
            <a:graphicData uri="http://schemas.openxmlformats.org/presentationml/2006/ole">
              <mc:AlternateContent xmlns:mc="http://schemas.openxmlformats.org/markup-compatibility/2006">
                <mc:Choice xmlns:v="urn:schemas-microsoft-com:vml" Requires="v">
                  <p:oleObj spid="_x0000_s100612" name="Equation" r:id="rId22" imgW="1079280" imgH="609480" progId="Equation.DSMT4">
                    <p:embed/>
                  </p:oleObj>
                </mc:Choice>
                <mc:Fallback>
                  <p:oleObj name="Equation" r:id="rId22" imgW="1079280" imgH="609480" progId="Equation.DSMT4">
                    <p:embed/>
                    <p:pic>
                      <p:nvPicPr>
                        <p:cNvPr id="0" name=""/>
                        <p:cNvPicPr/>
                        <p:nvPr/>
                      </p:nvPicPr>
                      <p:blipFill>
                        <a:blip r:embed="rId23"/>
                        <a:stretch>
                          <a:fillRect/>
                        </a:stretch>
                      </p:blipFill>
                      <p:spPr>
                        <a:xfrm>
                          <a:off x="7004370" y="5528565"/>
                          <a:ext cx="1079500" cy="609600"/>
                        </a:xfrm>
                        <a:prstGeom prst="rect">
                          <a:avLst/>
                        </a:prstGeom>
                      </p:spPr>
                    </p:pic>
                  </p:oleObj>
                </mc:Fallback>
              </mc:AlternateContent>
            </a:graphicData>
          </a:graphic>
        </p:graphicFrame>
      </p:grpSp>
      <p:sp>
        <p:nvSpPr>
          <p:cNvPr id="21" name="TextBox 20"/>
          <p:cNvSpPr txBox="1"/>
          <p:nvPr/>
        </p:nvSpPr>
        <p:spPr>
          <a:xfrm>
            <a:off x="3923928" y="1285111"/>
            <a:ext cx="4536504" cy="369332"/>
          </a:xfrm>
          <a:prstGeom prst="rect">
            <a:avLst/>
          </a:prstGeom>
          <a:noFill/>
        </p:spPr>
        <p:txBody>
          <a:bodyPr wrap="square" rtlCol="0">
            <a:spAutoFit/>
          </a:bodyPr>
          <a:lstStyle/>
          <a:p>
            <a:r>
              <a:rPr lang="zh-CN" altLang="en-US" b="1" dirty="0">
                <a:latin typeface="楷体" panose="02010609060101010101" pitchFamily="49" charset="-122"/>
                <a:ea typeface="楷体" panose="02010609060101010101" pitchFamily="49" charset="-122"/>
              </a:rPr>
              <a:t>不同支座时的刚度方程：</a:t>
            </a:r>
          </a:p>
        </p:txBody>
      </p:sp>
    </p:spTree>
    <p:extLst>
      <p:ext uri="{BB962C8B-B14F-4D97-AF65-F5344CB8AC3E}">
        <p14:creationId xmlns:p14="http://schemas.microsoft.com/office/powerpoint/2010/main" val="3197996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arn(inVertical)">
                                      <p:cBhvr>
                                        <p:cTn id="15" dur="500"/>
                                        <p:tgtEl>
                                          <p:spTgt spid="16"/>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69824"/>
            <a:ext cx="8229600" cy="1143000"/>
          </a:xfrm>
        </p:spPr>
        <p:txBody>
          <a:bodyPr/>
          <a:lstStyle/>
          <a:p>
            <a:r>
              <a:rPr lang="en-US" altLang="zh-CN" dirty="0">
                <a:latin typeface="宋体" pitchFamily="2" charset="-122"/>
              </a:rPr>
              <a:t>§</a:t>
            </a:r>
            <a:r>
              <a:rPr lang="en-US" altLang="zh-CN" dirty="0"/>
              <a:t>7-2</a:t>
            </a:r>
            <a:r>
              <a:rPr lang="zh-CN" altLang="en-US" dirty="0">
                <a:latin typeface="宋体" pitchFamily="2" charset="-122"/>
              </a:rPr>
              <a:t>单跨超静定梁的形常数与载常数</a:t>
            </a:r>
            <a:endParaRPr lang="zh-CN" altLang="en-US" dirty="0"/>
          </a:p>
        </p:txBody>
      </p:sp>
      <p:sp>
        <p:nvSpPr>
          <p:cNvPr id="3" name="TextBox 2"/>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TextBox 3"/>
          <p:cNvSpPr txBox="1"/>
          <p:nvPr/>
        </p:nvSpPr>
        <p:spPr>
          <a:xfrm>
            <a:off x="467544" y="1356224"/>
            <a:ext cx="5328592" cy="461665"/>
          </a:xfrm>
          <a:prstGeom prst="rect">
            <a:avLst/>
          </a:prstGeom>
          <a:noFill/>
        </p:spPr>
        <p:txBody>
          <a:bodyPr wrap="square" rtlCol="0">
            <a:spAutoFit/>
          </a:bodyPr>
          <a:lstStyle/>
          <a:p>
            <a:r>
              <a:rPr lang="zh-CN" altLang="en-US" sz="2400" dirty="0">
                <a:latin typeface="楷体" panose="02010609060101010101" pitchFamily="49" charset="-122"/>
                <a:ea typeface="楷体" panose="02010609060101010101" pitchFamily="49" charset="-122"/>
              </a:rPr>
              <a:t>由荷载求固端内力</a:t>
            </a:r>
            <a:r>
              <a:rPr lang="en-US" altLang="zh-CN" sz="2400" dirty="0">
                <a:latin typeface="楷体" panose="02010609060101010101" pitchFamily="49" charset="-122"/>
                <a:ea typeface="楷体" panose="02010609060101010101" pitchFamily="49" charset="-122"/>
              </a:rPr>
              <a:t>——</a:t>
            </a:r>
            <a:r>
              <a:rPr lang="zh-CN" altLang="en-US" sz="2400" b="1" dirty="0">
                <a:latin typeface="楷体" panose="02010609060101010101" pitchFamily="49" charset="-122"/>
                <a:ea typeface="楷体" panose="02010609060101010101" pitchFamily="49" charset="-122"/>
              </a:rPr>
              <a:t>载常数</a:t>
            </a:r>
          </a:p>
        </p:txBody>
      </p:sp>
      <p:sp>
        <p:nvSpPr>
          <p:cNvPr id="12" name="TextBox 11"/>
          <p:cNvSpPr txBox="1"/>
          <p:nvPr/>
        </p:nvSpPr>
        <p:spPr>
          <a:xfrm>
            <a:off x="747625" y="1909330"/>
            <a:ext cx="4040399" cy="430887"/>
          </a:xfrm>
          <a:prstGeom prst="rect">
            <a:avLst/>
          </a:prstGeom>
          <a:noFill/>
        </p:spPr>
        <p:txBody>
          <a:bodyPr wrap="square" rtlCol="0">
            <a:spAutoFit/>
          </a:bodyPr>
          <a:lstStyle/>
          <a:p>
            <a:r>
              <a:rPr lang="zh-CN" altLang="en-US" sz="2200" dirty="0">
                <a:solidFill>
                  <a:srgbClr val="0000FF"/>
                </a:solidFill>
                <a:latin typeface="楷体" panose="02010609060101010101" pitchFamily="49" charset="-122"/>
                <a:ea typeface="楷体" panose="02010609060101010101" pitchFamily="49" charset="-122"/>
              </a:rPr>
              <a:t>两端固定的等截面直杆</a:t>
            </a:r>
          </a:p>
        </p:txBody>
      </p:sp>
      <p:grpSp>
        <p:nvGrpSpPr>
          <p:cNvPr id="19" name="组合 18"/>
          <p:cNvGrpSpPr/>
          <p:nvPr/>
        </p:nvGrpSpPr>
        <p:grpSpPr>
          <a:xfrm>
            <a:off x="4572000" y="2276872"/>
            <a:ext cx="4104456" cy="689591"/>
            <a:chOff x="4644008" y="2564904"/>
            <a:chExt cx="4104456" cy="689591"/>
          </a:xfrm>
        </p:grpSpPr>
        <p:sp>
          <p:nvSpPr>
            <p:cNvPr id="13" name="TextBox 12"/>
            <p:cNvSpPr txBox="1"/>
            <p:nvPr/>
          </p:nvSpPr>
          <p:spPr>
            <a:xfrm>
              <a:off x="4644008" y="2564904"/>
              <a:ext cx="4104456"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记荷载单独作用引起的杆端弯矩分别为：</a:t>
              </a:r>
            </a:p>
          </p:txBody>
        </p:sp>
        <p:graphicFrame>
          <p:nvGraphicFramePr>
            <p:cNvPr id="14" name="对象 13"/>
            <p:cNvGraphicFramePr>
              <a:graphicFrameLocks noChangeAspect="1"/>
            </p:cNvGraphicFramePr>
            <p:nvPr>
              <p:extLst>
                <p:ext uri="{D42A27DB-BD31-4B8C-83A1-F6EECF244321}">
                  <p14:modId xmlns:p14="http://schemas.microsoft.com/office/powerpoint/2010/main" val="3912130833"/>
                </p:ext>
              </p:extLst>
            </p:nvPr>
          </p:nvGraphicFramePr>
          <p:xfrm>
            <a:off x="5599286" y="2949695"/>
            <a:ext cx="393700" cy="304800"/>
          </p:xfrm>
          <a:graphic>
            <a:graphicData uri="http://schemas.openxmlformats.org/presentationml/2006/ole">
              <mc:AlternateContent xmlns:mc="http://schemas.openxmlformats.org/markup-compatibility/2006">
                <mc:Choice xmlns:v="urn:schemas-microsoft-com:vml" Requires="v">
                  <p:oleObj spid="_x0000_s52166" name="Equation" r:id="rId4" imgW="393480" imgH="304560" progId="Equation.DSMT4">
                    <p:embed/>
                  </p:oleObj>
                </mc:Choice>
                <mc:Fallback>
                  <p:oleObj name="Equation" r:id="rId4" imgW="393480" imgH="304560" progId="Equation.DSMT4">
                    <p:embed/>
                    <p:pic>
                      <p:nvPicPr>
                        <p:cNvPr id="0" name=""/>
                        <p:cNvPicPr/>
                        <p:nvPr/>
                      </p:nvPicPr>
                      <p:blipFill>
                        <a:blip r:embed="rId5"/>
                        <a:stretch>
                          <a:fillRect/>
                        </a:stretch>
                      </p:blipFill>
                      <p:spPr>
                        <a:xfrm>
                          <a:off x="5599286" y="2949695"/>
                          <a:ext cx="393700" cy="304800"/>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91313773"/>
                </p:ext>
              </p:extLst>
            </p:nvPr>
          </p:nvGraphicFramePr>
          <p:xfrm>
            <a:off x="6505575" y="2949373"/>
            <a:ext cx="381000" cy="304800"/>
          </p:xfrm>
          <a:graphic>
            <a:graphicData uri="http://schemas.openxmlformats.org/presentationml/2006/ole">
              <mc:AlternateContent xmlns:mc="http://schemas.openxmlformats.org/markup-compatibility/2006">
                <mc:Choice xmlns:v="urn:schemas-microsoft-com:vml" Requires="v">
                  <p:oleObj spid="_x0000_s52167" name="Equation" r:id="rId6" imgW="380880" imgH="304560" progId="Equation.DSMT4">
                    <p:embed/>
                  </p:oleObj>
                </mc:Choice>
                <mc:Fallback>
                  <p:oleObj name="Equation" r:id="rId6" imgW="380880" imgH="304560" progId="Equation.DSMT4">
                    <p:embed/>
                    <p:pic>
                      <p:nvPicPr>
                        <p:cNvPr id="0" name="对象 13"/>
                        <p:cNvPicPr>
                          <a:picLocks noChangeAspect="1" noChangeArrowheads="1"/>
                        </p:cNvPicPr>
                        <p:nvPr/>
                      </p:nvPicPr>
                      <p:blipFill>
                        <a:blip r:embed="rId7"/>
                        <a:srcRect/>
                        <a:stretch>
                          <a:fillRect/>
                        </a:stretch>
                      </p:blipFill>
                      <p:spPr bwMode="auto">
                        <a:xfrm>
                          <a:off x="6505575" y="2949373"/>
                          <a:ext cx="381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0" name="组合 19"/>
          <p:cNvGrpSpPr/>
          <p:nvPr/>
        </p:nvGrpSpPr>
        <p:grpSpPr>
          <a:xfrm>
            <a:off x="4572000" y="3068960"/>
            <a:ext cx="4104456" cy="711257"/>
            <a:chOff x="4644008" y="3532366"/>
            <a:chExt cx="4104456" cy="711257"/>
          </a:xfrm>
        </p:grpSpPr>
        <p:sp>
          <p:nvSpPr>
            <p:cNvPr id="16" name="TextBox 15"/>
            <p:cNvSpPr txBox="1"/>
            <p:nvPr/>
          </p:nvSpPr>
          <p:spPr>
            <a:xfrm>
              <a:off x="4644008" y="3532366"/>
              <a:ext cx="4104456" cy="369332"/>
            </a:xfrm>
            <a:prstGeom prst="rect">
              <a:avLst/>
            </a:prstGeom>
            <a:noFill/>
          </p:spPr>
          <p:txBody>
            <a:bodyPr wrap="square" rtlCol="0">
              <a:spAutoFit/>
            </a:bodyPr>
            <a:lstStyle/>
            <a:p>
              <a:r>
                <a:rPr lang="zh-CN" altLang="en-US" dirty="0">
                  <a:latin typeface="楷体" panose="02010609060101010101" pitchFamily="49" charset="-122"/>
                  <a:ea typeface="楷体" panose="02010609060101010101" pitchFamily="49" charset="-122"/>
                </a:rPr>
                <a:t>杆端剪力分别为：</a:t>
              </a:r>
            </a:p>
          </p:txBody>
        </p:sp>
        <p:graphicFrame>
          <p:nvGraphicFramePr>
            <p:cNvPr id="17" name="对象 16"/>
            <p:cNvGraphicFramePr>
              <a:graphicFrameLocks noChangeAspect="1"/>
            </p:cNvGraphicFramePr>
            <p:nvPr>
              <p:extLst>
                <p:ext uri="{D42A27DB-BD31-4B8C-83A1-F6EECF244321}">
                  <p14:modId xmlns:p14="http://schemas.microsoft.com/office/powerpoint/2010/main" val="1710699201"/>
                </p:ext>
              </p:extLst>
            </p:nvPr>
          </p:nvGraphicFramePr>
          <p:xfrm>
            <a:off x="5623139" y="3913423"/>
            <a:ext cx="393700" cy="330200"/>
          </p:xfrm>
          <a:graphic>
            <a:graphicData uri="http://schemas.openxmlformats.org/presentationml/2006/ole">
              <mc:AlternateContent xmlns:mc="http://schemas.openxmlformats.org/markup-compatibility/2006">
                <mc:Choice xmlns:v="urn:schemas-microsoft-com:vml" Requires="v">
                  <p:oleObj spid="_x0000_s52168" name="Equation" r:id="rId8" imgW="393480" imgH="330120" progId="Equation.DSMT4">
                    <p:embed/>
                  </p:oleObj>
                </mc:Choice>
                <mc:Fallback>
                  <p:oleObj name="Equation" r:id="rId8" imgW="393480" imgH="330120" progId="Equation.DSMT4">
                    <p:embed/>
                    <p:pic>
                      <p:nvPicPr>
                        <p:cNvPr id="0" name=""/>
                        <p:cNvPicPr/>
                        <p:nvPr/>
                      </p:nvPicPr>
                      <p:blipFill>
                        <a:blip r:embed="rId9"/>
                        <a:stretch>
                          <a:fillRect/>
                        </a:stretch>
                      </p:blipFill>
                      <p:spPr>
                        <a:xfrm>
                          <a:off x="5623139" y="3913423"/>
                          <a:ext cx="393700" cy="330200"/>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081016878"/>
                </p:ext>
              </p:extLst>
            </p:nvPr>
          </p:nvGraphicFramePr>
          <p:xfrm>
            <a:off x="6575658" y="3907256"/>
            <a:ext cx="381000" cy="330200"/>
          </p:xfrm>
          <a:graphic>
            <a:graphicData uri="http://schemas.openxmlformats.org/presentationml/2006/ole">
              <mc:AlternateContent xmlns:mc="http://schemas.openxmlformats.org/markup-compatibility/2006">
                <mc:Choice xmlns:v="urn:schemas-microsoft-com:vml" Requires="v">
                  <p:oleObj spid="_x0000_s52169" name="Equation" r:id="rId10" imgW="380880" imgH="330120" progId="Equation.DSMT4">
                    <p:embed/>
                  </p:oleObj>
                </mc:Choice>
                <mc:Fallback>
                  <p:oleObj name="Equation" r:id="rId10" imgW="380880" imgH="330120" progId="Equation.DSMT4">
                    <p:embed/>
                    <p:pic>
                      <p:nvPicPr>
                        <p:cNvPr id="0" name="对象 16"/>
                        <p:cNvPicPr>
                          <a:picLocks noChangeAspect="1" noChangeArrowheads="1"/>
                        </p:cNvPicPr>
                        <p:nvPr/>
                      </p:nvPicPr>
                      <p:blipFill>
                        <a:blip r:embed="rId11"/>
                        <a:srcRect/>
                        <a:stretch>
                          <a:fillRect/>
                        </a:stretch>
                      </p:blipFill>
                      <p:spPr bwMode="auto">
                        <a:xfrm>
                          <a:off x="6575658" y="3907256"/>
                          <a:ext cx="381000"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18508" name="Picture 76" descr="C:\Users\Administrator\AppData\Roaming\Tencent\Users\42337577\QQ\WinTemp\RichOle\]DEKV(2H))})6%$902JXE35.pn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01383" y="2501523"/>
            <a:ext cx="3114675" cy="1400175"/>
          </a:xfrm>
          <a:prstGeom prst="rect">
            <a:avLst/>
          </a:prstGeom>
          <a:noFill/>
          <a:extLst>
            <a:ext uri="{909E8E84-426E-40DD-AFC4-6F175D3DCCD1}">
              <a14:hiddenFill xmlns:a14="http://schemas.microsoft.com/office/drawing/2010/main">
                <a:solidFill>
                  <a:srgbClr val="FFFFFF"/>
                </a:solidFill>
              </a14:hiddenFill>
            </a:ext>
          </a:extLst>
        </p:spPr>
      </p:pic>
      <p:pic>
        <p:nvPicPr>
          <p:cNvPr id="18509" name="Picture 77" descr="C:\Users\Administrator\AppData\Roaming\Tencent\Users\42337577\QQ\WinTemp\RichOle\I1L7HYZWFXI$S%J8%1[[5FY.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5439" y="4221088"/>
            <a:ext cx="3152775" cy="1447800"/>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p:cNvSpPr txBox="1"/>
          <p:nvPr/>
        </p:nvSpPr>
        <p:spPr>
          <a:xfrm>
            <a:off x="4572000" y="3782960"/>
            <a:ext cx="4097498" cy="769441"/>
          </a:xfrm>
          <a:prstGeom prst="rect">
            <a:avLst/>
          </a:prstGeom>
          <a:noFill/>
        </p:spPr>
        <p:txBody>
          <a:bodyPr wrap="square" rtlCol="0">
            <a:spAutoFit/>
          </a:bodyPr>
          <a:lstStyle/>
          <a:p>
            <a:r>
              <a:rPr lang="zh-CN" altLang="en-US" sz="2200" dirty="0">
                <a:latin typeface="楷体" panose="02010609060101010101" pitchFamily="49" charset="-122"/>
                <a:ea typeface="楷体" panose="02010609060101010101" pitchFamily="49" charset="-122"/>
              </a:rPr>
              <a:t>因为只与荷载形式有关，所以又称为</a:t>
            </a:r>
            <a:r>
              <a:rPr lang="zh-CN" altLang="en-US" sz="2200" b="1" dirty="0">
                <a:solidFill>
                  <a:srgbClr val="FF0000"/>
                </a:solidFill>
                <a:latin typeface="楷体" panose="02010609060101010101" pitchFamily="49" charset="-122"/>
                <a:ea typeface="楷体" panose="02010609060101010101" pitchFamily="49" charset="-122"/>
              </a:rPr>
              <a:t>载常数</a:t>
            </a:r>
            <a:r>
              <a:rPr lang="zh-CN" altLang="en-US" sz="2200" dirty="0">
                <a:latin typeface="楷体" panose="02010609060101010101" pitchFamily="49" charset="-122"/>
                <a:ea typeface="楷体" panose="02010609060101010101" pitchFamily="49" charset="-122"/>
              </a:rPr>
              <a:t>。</a:t>
            </a:r>
          </a:p>
        </p:txBody>
      </p:sp>
      <p:graphicFrame>
        <p:nvGraphicFramePr>
          <p:cNvPr id="23" name="对象 22"/>
          <p:cNvGraphicFramePr>
            <a:graphicFrameLocks noChangeAspect="1"/>
          </p:cNvGraphicFramePr>
          <p:nvPr>
            <p:extLst>
              <p:ext uri="{D42A27DB-BD31-4B8C-83A1-F6EECF244321}">
                <p14:modId xmlns:p14="http://schemas.microsoft.com/office/powerpoint/2010/main" val="3806156239"/>
              </p:ext>
            </p:extLst>
          </p:nvPr>
        </p:nvGraphicFramePr>
        <p:xfrm>
          <a:off x="4572000" y="4869160"/>
          <a:ext cx="3962400" cy="1244600"/>
        </p:xfrm>
        <a:graphic>
          <a:graphicData uri="http://schemas.openxmlformats.org/presentationml/2006/ole">
            <mc:AlternateContent xmlns:mc="http://schemas.openxmlformats.org/markup-compatibility/2006">
              <mc:Choice xmlns:v="urn:schemas-microsoft-com:vml" Requires="v">
                <p:oleObj spid="_x0000_s52170" name="Equation" r:id="rId14" imgW="3962160" imgH="1244520" progId="Equation.DSMT4">
                  <p:embed/>
                </p:oleObj>
              </mc:Choice>
              <mc:Fallback>
                <p:oleObj name="Equation" r:id="rId14" imgW="3962160" imgH="1244520" progId="Equation.DSMT4">
                  <p:embed/>
                  <p:pic>
                    <p:nvPicPr>
                      <p:cNvPr id="0" name=""/>
                      <p:cNvPicPr/>
                      <p:nvPr/>
                    </p:nvPicPr>
                    <p:blipFill>
                      <a:blip r:embed="rId15"/>
                      <a:stretch>
                        <a:fillRect/>
                      </a:stretch>
                    </p:blipFill>
                    <p:spPr>
                      <a:xfrm>
                        <a:off x="4572000" y="4869160"/>
                        <a:ext cx="3962400" cy="1244600"/>
                      </a:xfrm>
                      <a:prstGeom prst="rect">
                        <a:avLst/>
                      </a:prstGeom>
                    </p:spPr>
                  </p:pic>
                </p:oleObj>
              </mc:Fallback>
            </mc:AlternateContent>
          </a:graphicData>
        </a:graphic>
      </p:graphicFrame>
    </p:spTree>
    <p:extLst>
      <p:ext uri="{BB962C8B-B14F-4D97-AF65-F5344CB8AC3E}">
        <p14:creationId xmlns:p14="http://schemas.microsoft.com/office/powerpoint/2010/main" val="3266026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50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50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2" grpId="0"/>
      <p:bldP spid="2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77775"/>
            <a:ext cx="8229600" cy="1143000"/>
          </a:xfrm>
        </p:spPr>
        <p:txBody>
          <a:bodyPr/>
          <a:lstStyle/>
          <a:p>
            <a:r>
              <a:rPr lang="en-US" altLang="zh-CN" dirty="0">
                <a:latin typeface="宋体" pitchFamily="2" charset="-122"/>
              </a:rPr>
              <a:t>§</a:t>
            </a:r>
            <a:r>
              <a:rPr lang="en-US" altLang="zh-CN" dirty="0"/>
              <a:t>7-2</a:t>
            </a:r>
            <a:r>
              <a:rPr lang="zh-CN" altLang="en-US" dirty="0">
                <a:latin typeface="宋体" pitchFamily="2" charset="-122"/>
              </a:rPr>
              <a:t>单跨超静定梁的形常数与载常数</a:t>
            </a:r>
            <a:endParaRPr lang="zh-CN" altLang="en-US" dirty="0"/>
          </a:p>
        </p:txBody>
      </p:sp>
      <p:sp>
        <p:nvSpPr>
          <p:cNvPr id="3" name="TextBox 2"/>
          <p:cNvSpPr txBox="1"/>
          <p:nvPr/>
        </p:nvSpPr>
        <p:spPr>
          <a:xfrm>
            <a:off x="467544" y="1628800"/>
            <a:ext cx="8280920" cy="892552"/>
          </a:xfrm>
          <a:prstGeom prst="rect">
            <a:avLst/>
          </a:prstGeom>
          <a:noFill/>
        </p:spPr>
        <p:txBody>
          <a:bodyPr wrap="square" rtlCol="0">
            <a:spAutoFit/>
          </a:bodyPr>
          <a:lstStyle/>
          <a:p>
            <a:r>
              <a:rPr lang="zh-CN" altLang="en-US" sz="2600" dirty="0">
                <a:latin typeface="楷体" panose="02010609060101010101" pitchFamily="49" charset="-122"/>
                <a:ea typeface="楷体" panose="02010609060101010101" pitchFamily="49" charset="-122"/>
              </a:rPr>
              <a:t>如果等截面杆件既有已知荷载作用，又有已知的端点位移，则根据叠加原理，</a:t>
            </a:r>
            <a:r>
              <a:rPr lang="zh-CN" altLang="en-US" sz="2600" b="1" dirty="0">
                <a:solidFill>
                  <a:srgbClr val="FF0000"/>
                </a:solidFill>
                <a:latin typeface="楷体" panose="02010609060101010101" pitchFamily="49" charset="-122"/>
                <a:ea typeface="楷体" panose="02010609060101010101" pitchFamily="49" charset="-122"/>
              </a:rPr>
              <a:t>杆端弯矩的一般公式为</a:t>
            </a:r>
            <a:r>
              <a:rPr lang="zh-CN" altLang="en-US" sz="2600" dirty="0">
                <a:latin typeface="楷体" panose="02010609060101010101" pitchFamily="49" charset="-122"/>
                <a:ea typeface="楷体" panose="02010609060101010101" pitchFamily="49" charset="-122"/>
              </a:rPr>
              <a:t>：</a:t>
            </a:r>
          </a:p>
        </p:txBody>
      </p:sp>
      <p:graphicFrame>
        <p:nvGraphicFramePr>
          <p:cNvPr id="4" name="对象 3"/>
          <p:cNvGraphicFramePr>
            <a:graphicFrameLocks noChangeAspect="1"/>
          </p:cNvGraphicFramePr>
          <p:nvPr>
            <p:extLst>
              <p:ext uri="{D42A27DB-BD31-4B8C-83A1-F6EECF244321}">
                <p14:modId xmlns:p14="http://schemas.microsoft.com/office/powerpoint/2010/main" val="3052730084"/>
              </p:ext>
            </p:extLst>
          </p:nvPr>
        </p:nvGraphicFramePr>
        <p:xfrm>
          <a:off x="2915816" y="2780928"/>
          <a:ext cx="2781300" cy="660400"/>
        </p:xfrm>
        <a:graphic>
          <a:graphicData uri="http://schemas.openxmlformats.org/presentationml/2006/ole">
            <mc:AlternateContent xmlns:mc="http://schemas.openxmlformats.org/markup-compatibility/2006">
              <mc:Choice xmlns:v="urn:schemas-microsoft-com:vml" Requires="v">
                <p:oleObj spid="_x0000_s24297" name="Equation" r:id="rId4" imgW="2781000" imgH="660240" progId="Equation.DSMT4">
                  <p:embed/>
                </p:oleObj>
              </mc:Choice>
              <mc:Fallback>
                <p:oleObj name="Equation" r:id="rId4" imgW="2781000" imgH="660240" progId="Equation.DSMT4">
                  <p:embed/>
                  <p:pic>
                    <p:nvPicPr>
                      <p:cNvPr id="0" name=""/>
                      <p:cNvPicPr/>
                      <p:nvPr/>
                    </p:nvPicPr>
                    <p:blipFill>
                      <a:blip r:embed="rId5"/>
                      <a:stretch>
                        <a:fillRect/>
                      </a:stretch>
                    </p:blipFill>
                    <p:spPr>
                      <a:xfrm>
                        <a:off x="2915816" y="2780928"/>
                        <a:ext cx="2781300" cy="660400"/>
                      </a:xfrm>
                      <a:prstGeom prst="rect">
                        <a:avLst/>
                      </a:prstGeom>
                    </p:spPr>
                  </p:pic>
                </p:oleObj>
              </mc:Fallback>
            </mc:AlternateContent>
          </a:graphicData>
        </a:graphic>
      </p:graphicFrame>
      <p:sp>
        <p:nvSpPr>
          <p:cNvPr id="5" name="TextBox 4"/>
          <p:cNvSpPr txBox="1"/>
          <p:nvPr/>
        </p:nvSpPr>
        <p:spPr>
          <a:xfrm>
            <a:off x="467544" y="3933056"/>
            <a:ext cx="8280920" cy="492443"/>
          </a:xfrm>
          <a:prstGeom prst="rect">
            <a:avLst/>
          </a:prstGeom>
          <a:noFill/>
        </p:spPr>
        <p:txBody>
          <a:bodyPr wrap="square" rtlCol="0">
            <a:spAutoFit/>
          </a:bodyPr>
          <a:lstStyle/>
          <a:p>
            <a:r>
              <a:rPr lang="zh-CN" altLang="en-US" sz="2600" b="1" dirty="0">
                <a:solidFill>
                  <a:srgbClr val="FF0000"/>
                </a:solidFill>
                <a:latin typeface="楷体" panose="02010609060101010101" pitchFamily="49" charset="-122"/>
                <a:ea typeface="楷体" panose="02010609060101010101" pitchFamily="49" charset="-122"/>
              </a:rPr>
              <a:t>杆端剪力的一般公式为</a:t>
            </a:r>
            <a:r>
              <a:rPr lang="zh-CN" altLang="en-US" sz="2600" dirty="0">
                <a:latin typeface="楷体" panose="02010609060101010101" pitchFamily="49" charset="-122"/>
                <a:ea typeface="楷体" panose="02010609060101010101" pitchFamily="49" charset="-122"/>
              </a:rPr>
              <a:t>：</a:t>
            </a:r>
          </a:p>
        </p:txBody>
      </p:sp>
      <p:graphicFrame>
        <p:nvGraphicFramePr>
          <p:cNvPr id="6" name="对象 5"/>
          <p:cNvGraphicFramePr>
            <a:graphicFrameLocks noChangeAspect="1"/>
          </p:cNvGraphicFramePr>
          <p:nvPr>
            <p:extLst>
              <p:ext uri="{D42A27DB-BD31-4B8C-83A1-F6EECF244321}">
                <p14:modId xmlns:p14="http://schemas.microsoft.com/office/powerpoint/2010/main" val="514907127"/>
              </p:ext>
            </p:extLst>
          </p:nvPr>
        </p:nvGraphicFramePr>
        <p:xfrm>
          <a:off x="2915816" y="4797152"/>
          <a:ext cx="3022600" cy="1092200"/>
        </p:xfrm>
        <a:graphic>
          <a:graphicData uri="http://schemas.openxmlformats.org/presentationml/2006/ole">
            <mc:AlternateContent xmlns:mc="http://schemas.openxmlformats.org/markup-compatibility/2006">
              <mc:Choice xmlns:v="urn:schemas-microsoft-com:vml" Requires="v">
                <p:oleObj spid="_x0000_s24298" name="Equation" r:id="rId6" imgW="3022560" imgH="1091880" progId="Equation.DSMT4">
                  <p:embed/>
                </p:oleObj>
              </mc:Choice>
              <mc:Fallback>
                <p:oleObj name="Equation" r:id="rId6" imgW="3022560" imgH="1091880" progId="Equation.DSMT4">
                  <p:embed/>
                  <p:pic>
                    <p:nvPicPr>
                      <p:cNvPr id="0" name=""/>
                      <p:cNvPicPr/>
                      <p:nvPr/>
                    </p:nvPicPr>
                    <p:blipFill>
                      <a:blip r:embed="rId7"/>
                      <a:stretch>
                        <a:fillRect/>
                      </a:stretch>
                    </p:blipFill>
                    <p:spPr>
                      <a:xfrm>
                        <a:off x="2915816" y="4797152"/>
                        <a:ext cx="3022600" cy="1092200"/>
                      </a:xfrm>
                      <a:prstGeom prst="rect">
                        <a:avLst/>
                      </a:prstGeom>
                    </p:spPr>
                  </p:pic>
                </p:oleObj>
              </mc:Fallback>
            </mc:AlternateContent>
          </a:graphicData>
        </a:graphic>
      </p:graphicFrame>
    </p:spTree>
    <p:extLst>
      <p:ext uri="{BB962C8B-B14F-4D97-AF65-F5344CB8AC3E}">
        <p14:creationId xmlns:p14="http://schemas.microsoft.com/office/powerpoint/2010/main" val="32660262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93677"/>
            <a:ext cx="8229600" cy="1143000"/>
          </a:xfrm>
        </p:spPr>
        <p:txBody>
          <a:bodyPr/>
          <a:lstStyle/>
          <a:p>
            <a:r>
              <a:rPr lang="en-US" altLang="zh-CN" dirty="0">
                <a:latin typeface="宋体" pitchFamily="2" charset="-122"/>
              </a:rPr>
              <a:t>§</a:t>
            </a:r>
            <a:r>
              <a:rPr lang="en-US" altLang="zh-CN" dirty="0"/>
              <a:t>7-2</a:t>
            </a:r>
            <a:r>
              <a:rPr lang="zh-CN" altLang="en-US" dirty="0">
                <a:latin typeface="宋体" pitchFamily="2" charset="-122"/>
              </a:rPr>
              <a:t>单跨超静定梁的形常数与载常数</a:t>
            </a:r>
            <a:endParaRPr lang="zh-CN" altLang="en-US" dirty="0"/>
          </a:p>
        </p:txBody>
      </p:sp>
      <p:sp>
        <p:nvSpPr>
          <p:cNvPr id="3" name="TextBox 2"/>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8"/>
          <p:cNvSpPr>
            <a:spLocks noChangeArrowheads="1"/>
          </p:cNvSpPr>
          <p:nvPr/>
        </p:nvSpPr>
        <p:spPr bwMode="auto">
          <a:xfrm>
            <a:off x="467544" y="1412454"/>
            <a:ext cx="82809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dirty="0">
                <a:latin typeface="楷体" panose="02010609060101010101" pitchFamily="49" charset="-122"/>
                <a:ea typeface="楷体" panose="02010609060101010101" pitchFamily="49" charset="-122"/>
              </a:rPr>
              <a:t>    用位移法进行结构分析的基础是杆件分析。位移法的基本结构为以下三种单跨超静定梁</a:t>
            </a:r>
            <a:r>
              <a:rPr lang="en-US" altLang="zh-CN" dirty="0">
                <a:latin typeface="楷体" panose="02010609060101010101" pitchFamily="49" charset="-122"/>
                <a:ea typeface="楷体" panose="02010609060101010101" pitchFamily="49" charset="-122"/>
              </a:rPr>
              <a:t>:</a:t>
            </a:r>
          </a:p>
        </p:txBody>
      </p:sp>
      <p:graphicFrame>
        <p:nvGraphicFramePr>
          <p:cNvPr id="5" name="Object 2"/>
          <p:cNvGraphicFramePr>
            <a:graphicFrameLocks noChangeAspect="1"/>
          </p:cNvGraphicFramePr>
          <p:nvPr>
            <p:extLst>
              <p:ext uri="{D42A27DB-BD31-4B8C-83A1-F6EECF244321}">
                <p14:modId xmlns:p14="http://schemas.microsoft.com/office/powerpoint/2010/main" val="2598875138"/>
              </p:ext>
            </p:extLst>
          </p:nvPr>
        </p:nvGraphicFramePr>
        <p:xfrm>
          <a:off x="899592" y="2348880"/>
          <a:ext cx="3348038" cy="792162"/>
        </p:xfrm>
        <a:graphic>
          <a:graphicData uri="http://schemas.openxmlformats.org/presentationml/2006/ole">
            <mc:AlternateContent xmlns:mc="http://schemas.openxmlformats.org/markup-compatibility/2006">
              <mc:Choice xmlns:v="urn:schemas-microsoft-com:vml" Requires="v">
                <p:oleObj spid="_x0000_s106563" name="AutoCAD Drawing" r:id="rId4" imgW="8791575" imgH="4581525" progId="AutoCAD.Drawing.16">
                  <p:embed/>
                </p:oleObj>
              </mc:Choice>
              <mc:Fallback>
                <p:oleObj name="AutoCAD Drawing" r:id="rId4" imgW="8791575" imgH="4581525" progId="AutoCAD.Drawing.16">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t="42480" r="75894" b="45735"/>
                      <a:stretch>
                        <a:fillRect/>
                      </a:stretch>
                    </p:blipFill>
                    <p:spPr bwMode="auto">
                      <a:xfrm>
                        <a:off x="899592" y="2348880"/>
                        <a:ext cx="3348038" cy="792162"/>
                      </a:xfrm>
                      <a:prstGeom prst="rect">
                        <a:avLst/>
                      </a:prstGeom>
                      <a:noFill/>
                      <a:ln>
                        <a:noFill/>
                      </a:ln>
                    </p:spPr>
                  </p:pic>
                </p:oleObj>
              </mc:Fallback>
            </mc:AlternateContent>
          </a:graphicData>
        </a:graphic>
      </p:graphicFrame>
      <p:sp>
        <p:nvSpPr>
          <p:cNvPr id="6" name="Rectangle 4"/>
          <p:cNvSpPr>
            <a:spLocks noChangeArrowheads="1"/>
          </p:cNvSpPr>
          <p:nvPr/>
        </p:nvSpPr>
        <p:spPr bwMode="auto">
          <a:xfrm>
            <a:off x="1763192" y="3141042"/>
            <a:ext cx="151266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sz="2000" dirty="0">
                <a:solidFill>
                  <a:srgbClr val="0000CC"/>
                </a:solidFill>
              </a:rPr>
              <a:t>两端固定梁</a:t>
            </a:r>
            <a:endParaRPr lang="zh-CN" altLang="en-US" sz="2000" b="0" dirty="0">
              <a:solidFill>
                <a:srgbClr val="0000CC"/>
              </a:solidFill>
            </a:endParaRPr>
          </a:p>
        </p:txBody>
      </p:sp>
      <p:graphicFrame>
        <p:nvGraphicFramePr>
          <p:cNvPr id="7" name="Object 3"/>
          <p:cNvGraphicFramePr>
            <a:graphicFrameLocks noChangeAspect="1"/>
          </p:cNvGraphicFramePr>
          <p:nvPr>
            <p:extLst>
              <p:ext uri="{D42A27DB-BD31-4B8C-83A1-F6EECF244321}">
                <p14:modId xmlns:p14="http://schemas.microsoft.com/office/powerpoint/2010/main" val="2927801841"/>
              </p:ext>
            </p:extLst>
          </p:nvPr>
        </p:nvGraphicFramePr>
        <p:xfrm>
          <a:off x="4716016" y="2505096"/>
          <a:ext cx="3024188" cy="647700"/>
        </p:xfrm>
        <a:graphic>
          <a:graphicData uri="http://schemas.openxmlformats.org/presentationml/2006/ole">
            <mc:AlternateContent xmlns:mc="http://schemas.openxmlformats.org/markup-compatibility/2006">
              <mc:Choice xmlns:v="urn:schemas-microsoft-com:vml" Requires="v">
                <p:oleObj spid="_x0000_s106564" name="AutoCAD Drawing" r:id="rId6" imgW="8791575" imgH="4581525" progId="AutoCAD.Drawing.16">
                  <p:embed/>
                </p:oleObj>
              </mc:Choice>
              <mc:Fallback>
                <p:oleObj name="AutoCAD Drawing" r:id="rId6" imgW="8791575" imgH="4581525" progId="AutoCAD.Drawing.16">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l="21440" t="52876" r="58696" b="38222"/>
                      <a:stretch>
                        <a:fillRect/>
                      </a:stretch>
                    </p:blipFill>
                    <p:spPr bwMode="auto">
                      <a:xfrm>
                        <a:off x="4716016" y="2505096"/>
                        <a:ext cx="3024188"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5"/>
          <p:cNvSpPr>
            <a:spLocks noChangeArrowheads="1"/>
          </p:cNvSpPr>
          <p:nvPr/>
        </p:nvSpPr>
        <p:spPr bwMode="auto">
          <a:xfrm>
            <a:off x="5147816" y="3152796"/>
            <a:ext cx="2808559"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sz="2000" dirty="0">
                <a:solidFill>
                  <a:srgbClr val="0000CC"/>
                </a:solidFill>
              </a:rPr>
              <a:t>一端固定、一端铰支梁</a:t>
            </a:r>
            <a:endParaRPr lang="zh-CN" altLang="en-US" sz="2000" b="0" dirty="0">
              <a:solidFill>
                <a:srgbClr val="0000CC"/>
              </a:solidFill>
            </a:endParaRPr>
          </a:p>
        </p:txBody>
      </p:sp>
      <p:sp>
        <p:nvSpPr>
          <p:cNvPr id="9" name="Rectangle 6"/>
          <p:cNvSpPr>
            <a:spLocks noChangeArrowheads="1"/>
          </p:cNvSpPr>
          <p:nvPr/>
        </p:nvSpPr>
        <p:spPr bwMode="auto">
          <a:xfrm>
            <a:off x="2509869" y="4508624"/>
            <a:ext cx="3286267"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sz="2000" dirty="0">
                <a:solidFill>
                  <a:srgbClr val="0000CC"/>
                </a:solidFill>
                <a:latin typeface="楷体_GB2312" pitchFamily="49" charset="-122"/>
              </a:rPr>
              <a:t>一端固定、一端定向支承梁</a:t>
            </a:r>
            <a:r>
              <a:rPr lang="zh-CN" altLang="en-US" sz="2000" b="0" dirty="0">
                <a:latin typeface="楷体_GB2312" pitchFamily="49" charset="-122"/>
              </a:rPr>
              <a:t> </a:t>
            </a:r>
          </a:p>
        </p:txBody>
      </p:sp>
      <p:graphicFrame>
        <p:nvGraphicFramePr>
          <p:cNvPr id="10" name="Object 10"/>
          <p:cNvGraphicFramePr>
            <a:graphicFrameLocks noGrp="1" noChangeAspect="1"/>
          </p:cNvGraphicFramePr>
          <p:nvPr>
            <p:ph/>
            <p:extLst>
              <p:ext uri="{D42A27DB-BD31-4B8C-83A1-F6EECF244321}">
                <p14:modId xmlns:p14="http://schemas.microsoft.com/office/powerpoint/2010/main" val="662775585"/>
              </p:ext>
            </p:extLst>
          </p:nvPr>
        </p:nvGraphicFramePr>
        <p:xfrm>
          <a:off x="2574956" y="3645024"/>
          <a:ext cx="3600450" cy="792162"/>
        </p:xfrm>
        <a:graphic>
          <a:graphicData uri="http://schemas.openxmlformats.org/presentationml/2006/ole">
            <mc:AlternateContent xmlns:mc="http://schemas.openxmlformats.org/markup-compatibility/2006">
              <mc:Choice xmlns:v="urn:schemas-microsoft-com:vml" Requires="v">
                <p:oleObj spid="_x0000_s106565" name="AutoCAD Drawing" r:id="rId8" imgW="8601075" imgH="4324350" progId="AutoCAD.Drawing.16">
                  <p:embed/>
                </p:oleObj>
              </mc:Choice>
              <mc:Fallback>
                <p:oleObj name="AutoCAD Drawing" r:id="rId8" imgW="8601075" imgH="4324350" progId="AutoCAD.Drawing.16">
                  <p:embed/>
                  <p:pic>
                    <p:nvPicPr>
                      <p:cNvPr id="0" name=""/>
                      <p:cNvPicPr>
                        <a:picLocks noGrp="1" noChangeAspect="1" noChangeArrowheads="1"/>
                      </p:cNvPicPr>
                      <p:nvPr/>
                    </p:nvPicPr>
                    <p:blipFill>
                      <a:blip r:embed="rId9">
                        <a:extLst>
                          <a:ext uri="{28A0092B-C50C-407E-A947-70E740481C1C}">
                            <a14:useLocalDpi xmlns:a14="http://schemas.microsoft.com/office/drawing/2010/main" val="0"/>
                          </a:ext>
                        </a:extLst>
                      </a:blip>
                      <a:srcRect l="21849" t="39058" r="14798" b="35445"/>
                      <a:stretch>
                        <a:fillRect/>
                      </a:stretch>
                    </p:blipFill>
                    <p:spPr bwMode="auto">
                      <a:xfrm>
                        <a:off x="2574956" y="3645024"/>
                        <a:ext cx="3600450" cy="792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 name="Rectangle 7"/>
          <p:cNvSpPr>
            <a:spLocks noChangeArrowheads="1"/>
          </p:cNvSpPr>
          <p:nvPr/>
        </p:nvSpPr>
        <p:spPr bwMode="auto">
          <a:xfrm>
            <a:off x="467544" y="5013176"/>
            <a:ext cx="828092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spcBef>
                <a:spcPct val="0"/>
              </a:spcBef>
            </a:pPr>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仅由杆端位移引起的杆端内力是只与杆件截面尺寸、材料性质有关的常数，一般称为</a:t>
            </a:r>
            <a:r>
              <a:rPr lang="zh-CN" altLang="en-US" dirty="0">
                <a:solidFill>
                  <a:srgbClr val="990033"/>
                </a:solidFill>
                <a:latin typeface="楷体" panose="02010609060101010101" pitchFamily="49" charset="-122"/>
                <a:ea typeface="楷体" panose="02010609060101010101" pitchFamily="49" charset="-122"/>
              </a:rPr>
              <a:t>形常数</a:t>
            </a:r>
            <a:r>
              <a:rPr lang="zh-CN" altLang="en-US" dirty="0">
                <a:latin typeface="楷体" panose="02010609060101010101" pitchFamily="49" charset="-122"/>
                <a:ea typeface="楷体" panose="02010609060101010101" pitchFamily="49" charset="-122"/>
              </a:rPr>
              <a:t>。列于表</a:t>
            </a:r>
            <a:r>
              <a:rPr lang="en-US" altLang="zh-CN" dirty="0">
                <a:latin typeface="楷体" panose="02010609060101010101" pitchFamily="49" charset="-122"/>
                <a:ea typeface="楷体" panose="02010609060101010101" pitchFamily="49" charset="-122"/>
              </a:rPr>
              <a:t>(7-1) </a:t>
            </a:r>
            <a:r>
              <a:rPr lang="zh-CN" altLang="en-US" dirty="0">
                <a:latin typeface="楷体" panose="02010609060101010101" pitchFamily="49" charset="-122"/>
                <a:ea typeface="楷体" panose="02010609060101010101" pitchFamily="49" charset="-122"/>
              </a:rPr>
              <a:t>。</a:t>
            </a:r>
          </a:p>
        </p:txBody>
      </p:sp>
      <p:sp>
        <p:nvSpPr>
          <p:cNvPr id="12" name="Rectangle 9"/>
          <p:cNvSpPr>
            <a:spLocks noChangeArrowheads="1"/>
          </p:cNvSpPr>
          <p:nvPr/>
        </p:nvSpPr>
        <p:spPr bwMode="auto">
          <a:xfrm>
            <a:off x="467544" y="6030764"/>
            <a:ext cx="828092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zh-CN" altLang="en-US" dirty="0">
                <a:latin typeface="楷体" panose="02010609060101010101" pitchFamily="49" charset="-122"/>
                <a:ea typeface="楷体" panose="02010609060101010101" pitchFamily="49" charset="-122"/>
              </a:rPr>
              <a:t>   仅由荷载产生的杆端内力称为</a:t>
            </a:r>
            <a:r>
              <a:rPr lang="zh-CN" altLang="en-US" dirty="0">
                <a:solidFill>
                  <a:srgbClr val="990033"/>
                </a:solidFill>
                <a:latin typeface="楷体" panose="02010609060101010101" pitchFamily="49" charset="-122"/>
                <a:ea typeface="楷体" panose="02010609060101010101" pitchFamily="49" charset="-122"/>
              </a:rPr>
              <a:t>载常数</a:t>
            </a:r>
            <a:r>
              <a:rPr lang="zh-CN" altLang="en-US" dirty="0">
                <a:latin typeface="楷体" panose="02010609060101010101" pitchFamily="49" charset="-122"/>
                <a:ea typeface="楷体" panose="02010609060101010101" pitchFamily="49" charset="-122"/>
              </a:rPr>
              <a:t>。列于表</a:t>
            </a:r>
            <a:r>
              <a:rPr lang="en-US" altLang="zh-CN" dirty="0">
                <a:latin typeface="楷体" panose="02010609060101010101" pitchFamily="49" charset="-122"/>
                <a:ea typeface="楷体" panose="02010609060101010101" pitchFamily="49" charset="-122"/>
              </a:rPr>
              <a:t>(7-1) </a:t>
            </a:r>
            <a:r>
              <a:rPr lang="zh-CN" altLang="en-US" dirty="0">
                <a:latin typeface="楷体" panose="02010609060101010101" pitchFamily="49" charset="-122"/>
                <a:ea typeface="楷体" panose="02010609060101010101" pitchFamily="49" charset="-122"/>
              </a:rPr>
              <a:t>。</a:t>
            </a:r>
          </a:p>
        </p:txBody>
      </p:sp>
    </p:spTree>
    <p:extLst>
      <p:ext uri="{BB962C8B-B14F-4D97-AF65-F5344CB8AC3E}">
        <p14:creationId xmlns:p14="http://schemas.microsoft.com/office/powerpoint/2010/main" val="182936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dissolve">
                                      <p:cBhvr>
                                        <p:cTn id="12" dur="500"/>
                                        <p:tgtEl>
                                          <p:spTgt spid="5"/>
                                        </p:tgtEl>
                                      </p:cBhvr>
                                    </p:animEffect>
                                  </p:childTnLst>
                                </p:cTn>
                              </p:par>
                            </p:childTnLst>
                          </p:cTn>
                        </p:par>
                        <p:par>
                          <p:cTn id="13" fill="hold">
                            <p:stCondLst>
                              <p:cond delay="500"/>
                            </p:stCondLst>
                            <p:childTnLst>
                              <p:par>
                                <p:cTn id="14" presetID="9" presetClass="entr" presetSubtype="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4" presetClass="entr" presetSubtype="1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randombar(horizontal)">
                                      <p:cBhvr>
                                        <p:cTn id="21" dur="500"/>
                                        <p:tgtEl>
                                          <p:spTgt spid="7"/>
                                        </p:tgtEl>
                                      </p:cBhvr>
                                    </p:animEffect>
                                  </p:childTnLst>
                                </p:cTn>
                              </p:par>
                            </p:childTnLst>
                          </p:cTn>
                        </p:par>
                        <p:par>
                          <p:cTn id="22" fill="hold">
                            <p:stCondLst>
                              <p:cond delay="500"/>
                            </p:stCondLst>
                            <p:childTnLst>
                              <p:par>
                                <p:cTn id="23" presetID="14" presetClass="entr" presetSubtype="10" fill="hold" grpId="0" nodeType="after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randombar(horizont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slide(fromBottom)">
                                      <p:cBhvr>
                                        <p:cTn id="30" dur="500"/>
                                        <p:tgtEl>
                                          <p:spTgt spid="10"/>
                                        </p:tgtEl>
                                      </p:cBhvr>
                                    </p:animEffect>
                                  </p:childTnLst>
                                </p:cTn>
                              </p:par>
                            </p:childTnLst>
                          </p:cTn>
                        </p:par>
                        <p:par>
                          <p:cTn id="31" fill="hold">
                            <p:stCondLst>
                              <p:cond delay="500"/>
                            </p:stCondLst>
                            <p:childTnLst>
                              <p:par>
                                <p:cTn id="32" presetID="12" presetClass="entr" presetSubtype="4" fill="hold" grpId="0"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slide(fromBottom)">
                                      <p:cBhvr>
                                        <p:cTn id="34" dur="5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1"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up)">
                                      <p:cBhvr>
                                        <p:cTn id="39" dur="500"/>
                                        <p:tgtEl>
                                          <p:spTgt spid="1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wipe(left)">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6" grpId="0" autoUpdateAnimBg="0"/>
      <p:bldP spid="8" grpId="0" autoUpdateAnimBg="0"/>
      <p:bldP spid="9" grpId="0" autoUpdateAnimBg="0"/>
      <p:bldP spid="11" grpId="0" autoUpdateAnimBg="0"/>
      <p:bldP spid="1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01628"/>
            <a:ext cx="8229600" cy="1143000"/>
          </a:xfrm>
        </p:spPr>
        <p:txBody>
          <a:bodyPr/>
          <a:lstStyle/>
          <a:p>
            <a:r>
              <a:rPr lang="en-US" altLang="zh-CN" dirty="0">
                <a:latin typeface="宋体" pitchFamily="2" charset="-122"/>
              </a:rPr>
              <a:t>§</a:t>
            </a:r>
            <a:r>
              <a:rPr lang="en-US" altLang="zh-CN" dirty="0"/>
              <a:t>7-2</a:t>
            </a:r>
            <a:r>
              <a:rPr lang="zh-CN" altLang="en-US" dirty="0">
                <a:latin typeface="宋体" pitchFamily="2" charset="-122"/>
              </a:rPr>
              <a:t>单跨超静定梁的形常数与载常数</a:t>
            </a:r>
            <a:endParaRPr lang="zh-CN" altLang="en-US" dirty="0"/>
          </a:p>
        </p:txBody>
      </p:sp>
      <p:sp>
        <p:nvSpPr>
          <p:cNvPr id="3" name="TextBox 2"/>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3"/>
          <p:cNvSpPr>
            <a:spLocks noChangeArrowheads="1"/>
          </p:cNvSpPr>
          <p:nvPr/>
        </p:nvSpPr>
        <p:spPr bwMode="auto">
          <a:xfrm>
            <a:off x="467544" y="1378206"/>
            <a:ext cx="5256213"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marL="514350" indent="-514350" eaLnBrk="1" hangingPunct="1">
              <a:spcBef>
                <a:spcPct val="0"/>
              </a:spcBef>
              <a:buFont typeface="+mj-lt"/>
              <a:buAutoNum type="arabicPeriod"/>
            </a:pPr>
            <a:r>
              <a:rPr lang="zh-CN" altLang="en-US" sz="2600" dirty="0">
                <a:solidFill>
                  <a:srgbClr val="CC0000"/>
                </a:solidFill>
                <a:latin typeface="楷体" panose="02010609060101010101" pitchFamily="49" charset="-122"/>
                <a:ea typeface="楷体" panose="02010609060101010101" pitchFamily="49" charset="-122"/>
              </a:rPr>
              <a:t>两端固定的等截面直杆  </a:t>
            </a:r>
          </a:p>
        </p:txBody>
      </p:sp>
      <p:graphicFrame>
        <p:nvGraphicFramePr>
          <p:cNvPr id="5" name="对象 4"/>
          <p:cNvGraphicFramePr>
            <a:graphicFrameLocks noChangeAspect="1"/>
          </p:cNvGraphicFramePr>
          <p:nvPr>
            <p:extLst>
              <p:ext uri="{D42A27DB-BD31-4B8C-83A1-F6EECF244321}">
                <p14:modId xmlns:p14="http://schemas.microsoft.com/office/powerpoint/2010/main" val="1316385830"/>
              </p:ext>
            </p:extLst>
          </p:nvPr>
        </p:nvGraphicFramePr>
        <p:xfrm>
          <a:off x="683568" y="2060848"/>
          <a:ext cx="3455988" cy="2592388"/>
        </p:xfrm>
        <a:graphic>
          <a:graphicData uri="http://schemas.openxmlformats.org/presentationml/2006/ole">
            <mc:AlternateContent xmlns:mc="http://schemas.openxmlformats.org/markup-compatibility/2006">
              <mc:Choice xmlns:v="urn:schemas-microsoft-com:vml" Requires="v">
                <p:oleObj spid="_x0000_s110636" name="AutoCAD Drawing" r:id="rId4" imgW="8791575" imgH="4581525" progId="AutoCAD.Drawing.16">
                  <p:embed/>
                </p:oleObj>
              </mc:Choice>
              <mc:Fallback>
                <p:oleObj name="AutoCAD Drawing" r:id="rId4" imgW="8791575" imgH="4581525" progId="AutoCAD.Drawing.16">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l="19183" t="22847" r="35373" b="5374"/>
                      <a:stretch>
                        <a:fillRect/>
                      </a:stretch>
                    </p:blipFill>
                    <p:spPr bwMode="auto">
                      <a:xfrm>
                        <a:off x="683568" y="2060848"/>
                        <a:ext cx="3455988"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 Box 14"/>
          <p:cNvSpPr txBox="1">
            <a:spLocks noChangeArrowheads="1"/>
          </p:cNvSpPr>
          <p:nvPr/>
        </p:nvSpPr>
        <p:spPr bwMode="auto">
          <a:xfrm>
            <a:off x="4283968" y="2150665"/>
            <a:ext cx="331236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a:spcBef>
                <a:spcPct val="0"/>
              </a:spcBef>
            </a:pPr>
            <a:r>
              <a:rPr lang="zh-CN" altLang="en-US" dirty="0">
                <a:latin typeface="楷体_GB2312" pitchFamily="49" charset="-122"/>
              </a:rPr>
              <a:t>杆端弯矩的一般公式：</a:t>
            </a:r>
            <a:endParaRPr lang="zh-CN" altLang="en-US" b="0" dirty="0">
              <a:solidFill>
                <a:schemeClr val="tx2"/>
              </a:solidFill>
              <a:latin typeface="楷体_GB2312" pitchFamily="49" charset="-122"/>
            </a:endParaRPr>
          </a:p>
        </p:txBody>
      </p:sp>
      <p:graphicFrame>
        <p:nvGraphicFramePr>
          <p:cNvPr id="8" name="Object 12"/>
          <p:cNvGraphicFramePr>
            <a:graphicFrameLocks noChangeAspect="1"/>
          </p:cNvGraphicFramePr>
          <p:nvPr>
            <p:extLst>
              <p:ext uri="{D42A27DB-BD31-4B8C-83A1-F6EECF244321}">
                <p14:modId xmlns:p14="http://schemas.microsoft.com/office/powerpoint/2010/main" val="229976929"/>
              </p:ext>
            </p:extLst>
          </p:nvPr>
        </p:nvGraphicFramePr>
        <p:xfrm>
          <a:off x="4499992" y="2708920"/>
          <a:ext cx="4261244" cy="1655762"/>
        </p:xfrm>
        <a:graphic>
          <a:graphicData uri="http://schemas.openxmlformats.org/presentationml/2006/ole">
            <mc:AlternateContent xmlns:mc="http://schemas.openxmlformats.org/markup-compatibility/2006">
              <mc:Choice xmlns:v="urn:schemas-microsoft-com:vml" Requires="v">
                <p:oleObj spid="_x0000_s110637" name="Equation" r:id="rId6" imgW="2533732" imgH="828715" progId="Equation.DSMT4">
                  <p:embed/>
                </p:oleObj>
              </mc:Choice>
              <mc:Fallback>
                <p:oleObj name="Equation" r:id="rId6" imgW="2533732" imgH="828715"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9992" y="2708920"/>
                        <a:ext cx="4261244" cy="1655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5"/>
          <p:cNvGraphicFramePr>
            <a:graphicFrameLocks noChangeAspect="1"/>
          </p:cNvGraphicFramePr>
          <p:nvPr>
            <p:extLst>
              <p:ext uri="{D42A27DB-BD31-4B8C-83A1-F6EECF244321}">
                <p14:modId xmlns:p14="http://schemas.microsoft.com/office/powerpoint/2010/main" val="2695096061"/>
              </p:ext>
            </p:extLst>
          </p:nvPr>
        </p:nvGraphicFramePr>
        <p:xfrm>
          <a:off x="4499992" y="4509120"/>
          <a:ext cx="4248472" cy="1605959"/>
        </p:xfrm>
        <a:graphic>
          <a:graphicData uri="http://schemas.openxmlformats.org/presentationml/2006/ole">
            <mc:AlternateContent xmlns:mc="http://schemas.openxmlformats.org/markup-compatibility/2006">
              <mc:Choice xmlns:v="urn:schemas-microsoft-com:vml" Requires="v">
                <p:oleObj spid="_x0000_s110638" name="Equation" r:id="rId8" imgW="3136680" imgH="1091880" progId="Equation.DSMT4">
                  <p:embed/>
                </p:oleObj>
              </mc:Choice>
              <mc:Fallback>
                <p:oleObj name="Equation" r:id="rId8" imgW="3136680" imgH="1091880" progId="Equation.DSMT4">
                  <p:embed/>
                  <p:pic>
                    <p:nvPicPr>
                      <p:cNvPr id="0" name=""/>
                      <p:cNvPicPr>
                        <a:picLocks noChangeAspect="1" noChangeArrowheads="1"/>
                      </p:cNvPicPr>
                      <p:nvPr/>
                    </p:nvPicPr>
                    <p:blipFill>
                      <a:blip r:embed="rId9"/>
                      <a:srcRect/>
                      <a:stretch>
                        <a:fillRect/>
                      </a:stretch>
                    </p:blipFill>
                    <p:spPr bwMode="auto">
                      <a:xfrm>
                        <a:off x="4499992" y="4509120"/>
                        <a:ext cx="4248472" cy="1605959"/>
                      </a:xfrm>
                      <a:prstGeom prst="rect">
                        <a:avLst/>
                      </a:prstGeom>
                      <a:noFill/>
                      <a:ln>
                        <a:noFill/>
                      </a:ln>
                    </p:spPr>
                  </p:pic>
                </p:oleObj>
              </mc:Fallback>
            </mc:AlternateContent>
          </a:graphicData>
        </a:graphic>
      </p:graphicFrame>
      <p:sp>
        <p:nvSpPr>
          <p:cNvPr id="13" name="Rectangle 7"/>
          <p:cNvSpPr>
            <a:spLocks noChangeArrowheads="1"/>
          </p:cNvSpPr>
          <p:nvPr/>
        </p:nvSpPr>
        <p:spPr bwMode="auto">
          <a:xfrm>
            <a:off x="611560" y="4725144"/>
            <a:ext cx="3311525" cy="1609725"/>
          </a:xfrm>
          <a:prstGeom prst="rect">
            <a:avLst/>
          </a:prstGeom>
          <a:solidFill>
            <a:srgbClr val="FFCC99"/>
          </a:solidFill>
          <a:ln w="57150" cmpd="thickThin">
            <a:solidFill>
              <a:srgbClr val="CC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en-US" altLang="zh-CN" dirty="0">
                <a:latin typeface="楷体" panose="02010609060101010101" pitchFamily="49" charset="-122"/>
                <a:ea typeface="楷体" panose="02010609060101010101" pitchFamily="49" charset="-122"/>
              </a:rPr>
              <a:t>    </a:t>
            </a:r>
            <a:r>
              <a:rPr lang="zh-CN" altLang="en-US" dirty="0">
                <a:latin typeface="楷体" panose="02010609060101010101" pitchFamily="49" charset="-122"/>
                <a:ea typeface="楷体" panose="02010609060101010101" pitchFamily="49" charset="-122"/>
              </a:rPr>
              <a:t>由两端固定等截面直杆的转角位移方程可得到其他支撑的转角位移方程。</a:t>
            </a:r>
            <a:r>
              <a:rPr lang="zh-CN" altLang="en-US" b="0" dirty="0">
                <a:solidFill>
                  <a:schemeClr val="tx2"/>
                </a:solidFill>
                <a:latin typeface="楷体" panose="02010609060101010101" pitchFamily="49" charset="-122"/>
                <a:ea typeface="楷体" panose="02010609060101010101" pitchFamily="49" charset="-122"/>
              </a:rPr>
              <a:t> </a:t>
            </a:r>
          </a:p>
        </p:txBody>
      </p:sp>
    </p:spTree>
    <p:extLst>
      <p:ext uri="{BB962C8B-B14F-4D97-AF65-F5344CB8AC3E}">
        <p14:creationId xmlns:p14="http://schemas.microsoft.com/office/powerpoint/2010/main" val="1829361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5"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randombar(vertical)">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1"/>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6" presetClass="entr" presetSubtype="21"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1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7-2</a:t>
            </a:r>
            <a:r>
              <a:rPr lang="zh-CN" altLang="en-US" dirty="0">
                <a:latin typeface="宋体" pitchFamily="2" charset="-122"/>
              </a:rPr>
              <a:t>单跨超静定梁的形常数与载常数</a:t>
            </a:r>
            <a:endParaRPr lang="zh-CN" altLang="en-US" dirty="0"/>
          </a:p>
        </p:txBody>
      </p:sp>
      <p:sp>
        <p:nvSpPr>
          <p:cNvPr id="3" name="TextBox 2"/>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
        <p:nvSpPr>
          <p:cNvPr id="4" name="Rectangle 2"/>
          <p:cNvSpPr>
            <a:spLocks noChangeArrowheads="1"/>
          </p:cNvSpPr>
          <p:nvPr/>
        </p:nvSpPr>
        <p:spPr bwMode="auto">
          <a:xfrm>
            <a:off x="462189" y="1340768"/>
            <a:ext cx="727233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marL="514350" indent="-514350" eaLnBrk="1" hangingPunct="1">
              <a:buFont typeface="+mj-lt"/>
              <a:buAutoNum type="arabicPeriod" startAt="2"/>
            </a:pPr>
            <a:r>
              <a:rPr lang="zh-CN" altLang="en-US" sz="2600" dirty="0">
                <a:solidFill>
                  <a:srgbClr val="CC0000"/>
                </a:solidFill>
                <a:latin typeface="楷体" panose="02010609060101010101" pitchFamily="49" charset="-122"/>
                <a:ea typeface="楷体" panose="02010609060101010101" pitchFamily="49" charset="-122"/>
              </a:rPr>
              <a:t>一端固定、一端铰支的等截面直杆</a:t>
            </a:r>
          </a:p>
        </p:txBody>
      </p:sp>
      <p:graphicFrame>
        <p:nvGraphicFramePr>
          <p:cNvPr id="5" name="对象 4"/>
          <p:cNvGraphicFramePr>
            <a:graphicFrameLocks noChangeAspect="1"/>
          </p:cNvGraphicFramePr>
          <p:nvPr>
            <p:extLst>
              <p:ext uri="{D42A27DB-BD31-4B8C-83A1-F6EECF244321}">
                <p14:modId xmlns:p14="http://schemas.microsoft.com/office/powerpoint/2010/main" val="3469795260"/>
              </p:ext>
            </p:extLst>
          </p:nvPr>
        </p:nvGraphicFramePr>
        <p:xfrm>
          <a:off x="2339752" y="1916832"/>
          <a:ext cx="4032250" cy="2538413"/>
        </p:xfrm>
        <a:graphic>
          <a:graphicData uri="http://schemas.openxmlformats.org/presentationml/2006/ole">
            <mc:AlternateContent xmlns:mc="http://schemas.openxmlformats.org/markup-compatibility/2006">
              <mc:Choice xmlns:v="urn:schemas-microsoft-com:vml" Requires="v">
                <p:oleObj spid="_x0000_s27323" name="AutoCAD Drawing" r:id="rId4" imgW="8753475" imgH="4505325" progId="AutoCAD.Drawing.16">
                  <p:embed/>
                </p:oleObj>
              </mc:Choice>
              <mc:Fallback>
                <p:oleObj name="AutoCAD Drawing" r:id="rId4" imgW="8753475" imgH="4505325" progId="AutoCAD.Drawing.16">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17282" t="26208" r="38986" b="15181"/>
                      <a:stretch>
                        <a:fillRect/>
                      </a:stretch>
                    </p:blipFill>
                    <p:spPr bwMode="auto">
                      <a:xfrm>
                        <a:off x="2339752" y="1916832"/>
                        <a:ext cx="4032250" cy="253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5"/>
          <p:cNvSpPr>
            <a:spLocks noChangeArrowheads="1"/>
          </p:cNvSpPr>
          <p:nvPr/>
        </p:nvSpPr>
        <p:spPr bwMode="auto">
          <a:xfrm>
            <a:off x="765068" y="4312892"/>
            <a:ext cx="7488238" cy="4489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lnSpc>
                <a:spcPct val="110000"/>
              </a:lnSpc>
              <a:spcBef>
                <a:spcPct val="0"/>
              </a:spcBef>
            </a:pPr>
            <a:r>
              <a:rPr lang="en-US" altLang="zh-CN" b="0" i="1" dirty="0">
                <a:solidFill>
                  <a:srgbClr val="FF00FF"/>
                </a:solidFill>
                <a:latin typeface="楷体" panose="02010609060101010101" pitchFamily="49" charset="-122"/>
                <a:ea typeface="楷体" panose="02010609060101010101" pitchFamily="49" charset="-122"/>
              </a:rPr>
              <a:t>M</a:t>
            </a:r>
            <a:r>
              <a:rPr lang="en-US" altLang="zh-CN" b="0" i="1" baseline="-25000" dirty="0">
                <a:solidFill>
                  <a:srgbClr val="FF00FF"/>
                </a:solidFill>
                <a:latin typeface="楷体" panose="02010609060101010101" pitchFamily="49" charset="-122"/>
                <a:ea typeface="楷体" panose="02010609060101010101" pitchFamily="49" charset="-122"/>
              </a:rPr>
              <a:t>BA</a:t>
            </a:r>
            <a:r>
              <a:rPr lang="en-US" altLang="zh-CN" b="0" dirty="0">
                <a:solidFill>
                  <a:srgbClr val="FF00FF"/>
                </a:solidFill>
                <a:latin typeface="楷体" panose="02010609060101010101" pitchFamily="49" charset="-122"/>
                <a:ea typeface="楷体" panose="02010609060101010101" pitchFamily="49" charset="-122"/>
              </a:rPr>
              <a:t>=0</a:t>
            </a:r>
            <a:r>
              <a:rPr lang="en-US" altLang="zh-CN" b="0" dirty="0">
                <a:latin typeface="楷体" panose="02010609060101010101" pitchFamily="49" charset="-122"/>
                <a:ea typeface="楷体" panose="02010609060101010101" pitchFamily="49" charset="-122"/>
              </a:rPr>
              <a:t>,</a:t>
            </a:r>
            <a:r>
              <a:rPr lang="en-US" altLang="zh-CN" b="0" i="1" dirty="0">
                <a:solidFill>
                  <a:srgbClr val="FF00FF"/>
                </a:solidFill>
                <a:latin typeface="楷体" panose="02010609060101010101" pitchFamily="49" charset="-122"/>
                <a:ea typeface="楷体" panose="02010609060101010101" pitchFamily="49" charset="-122"/>
              </a:rPr>
              <a:t>θ</a:t>
            </a:r>
            <a:r>
              <a:rPr lang="en-US" altLang="zh-CN" b="0" i="1" baseline="-25000" dirty="0">
                <a:solidFill>
                  <a:srgbClr val="FF00FF"/>
                </a:solidFill>
                <a:latin typeface="楷体" panose="02010609060101010101" pitchFamily="49" charset="-122"/>
                <a:ea typeface="楷体" panose="02010609060101010101" pitchFamily="49" charset="-122"/>
              </a:rPr>
              <a:t>B</a:t>
            </a:r>
            <a:r>
              <a:rPr lang="en-US" altLang="zh-CN" b="0" i="1" baseline="-25000" dirty="0">
                <a:latin typeface="楷体" panose="02010609060101010101" pitchFamily="49" charset="-122"/>
                <a:ea typeface="楷体" panose="02010609060101010101" pitchFamily="49" charset="-122"/>
              </a:rPr>
              <a:t> </a:t>
            </a:r>
            <a:r>
              <a:rPr lang="zh-CN" altLang="en-US" b="0" dirty="0">
                <a:latin typeface="楷体" panose="02010609060101010101" pitchFamily="49" charset="-122"/>
                <a:ea typeface="楷体" panose="02010609060101010101" pitchFamily="49" charset="-122"/>
              </a:rPr>
              <a:t>是</a:t>
            </a:r>
            <a:r>
              <a:rPr lang="en-US" altLang="zh-CN" b="0" i="1" dirty="0" err="1">
                <a:solidFill>
                  <a:srgbClr val="FF00FF"/>
                </a:solidFill>
                <a:latin typeface="楷体" panose="02010609060101010101" pitchFamily="49" charset="-122"/>
                <a:ea typeface="楷体" panose="02010609060101010101" pitchFamily="49" charset="-122"/>
              </a:rPr>
              <a:t>θ</a:t>
            </a:r>
            <a:r>
              <a:rPr lang="en-US" altLang="zh-CN" b="0" i="1" baseline="-25000" dirty="0" err="1">
                <a:solidFill>
                  <a:srgbClr val="FF00FF"/>
                </a:solidFill>
                <a:latin typeface="楷体" panose="02010609060101010101" pitchFamily="49" charset="-122"/>
                <a:ea typeface="楷体" panose="02010609060101010101" pitchFamily="49" charset="-122"/>
              </a:rPr>
              <a:t>A</a:t>
            </a:r>
            <a:r>
              <a:rPr lang="en-US" altLang="zh-CN" b="0" dirty="0">
                <a:latin typeface="楷体" panose="02010609060101010101" pitchFamily="49" charset="-122"/>
                <a:ea typeface="楷体" panose="02010609060101010101" pitchFamily="49" charset="-122"/>
              </a:rPr>
              <a:t> </a:t>
            </a:r>
            <a:r>
              <a:rPr lang="zh-CN" altLang="en-US" b="0" dirty="0">
                <a:latin typeface="楷体" panose="02010609060101010101" pitchFamily="49" charset="-122"/>
                <a:ea typeface="楷体" panose="02010609060101010101" pitchFamily="49" charset="-122"/>
              </a:rPr>
              <a:t>和</a:t>
            </a:r>
            <a:r>
              <a:rPr lang="en-US" altLang="zh-CN" b="0" i="1" dirty="0">
                <a:solidFill>
                  <a:srgbClr val="FF00FF"/>
                </a:solidFill>
                <a:latin typeface="楷体" panose="02010609060101010101" pitchFamily="49" charset="-122"/>
                <a:ea typeface="楷体" panose="02010609060101010101" pitchFamily="49" charset="-122"/>
              </a:rPr>
              <a:t>Δ</a:t>
            </a:r>
            <a:r>
              <a:rPr lang="en-US" altLang="zh-CN" b="0" i="1" baseline="-25000" dirty="0">
                <a:solidFill>
                  <a:srgbClr val="FF00FF"/>
                </a:solidFill>
                <a:latin typeface="楷体" panose="02010609060101010101" pitchFamily="49" charset="-122"/>
                <a:ea typeface="楷体" panose="02010609060101010101" pitchFamily="49" charset="-122"/>
              </a:rPr>
              <a:t>AB</a:t>
            </a:r>
            <a:r>
              <a:rPr lang="zh-CN" altLang="en-US" b="0" dirty="0">
                <a:latin typeface="楷体" panose="02010609060101010101" pitchFamily="49" charset="-122"/>
                <a:ea typeface="楷体" panose="02010609060101010101" pitchFamily="49" charset="-122"/>
              </a:rPr>
              <a:t>的函数，转角位移方程为   </a:t>
            </a:r>
          </a:p>
        </p:txBody>
      </p:sp>
      <p:graphicFrame>
        <p:nvGraphicFramePr>
          <p:cNvPr id="7" name="对象 6"/>
          <p:cNvGraphicFramePr>
            <a:graphicFrameLocks noChangeAspect="1"/>
          </p:cNvGraphicFramePr>
          <p:nvPr>
            <p:extLst>
              <p:ext uri="{D42A27DB-BD31-4B8C-83A1-F6EECF244321}">
                <p14:modId xmlns:p14="http://schemas.microsoft.com/office/powerpoint/2010/main" val="183180584"/>
              </p:ext>
            </p:extLst>
          </p:nvPr>
        </p:nvGraphicFramePr>
        <p:xfrm>
          <a:off x="2547830" y="4869160"/>
          <a:ext cx="3922713" cy="1420813"/>
        </p:xfrm>
        <a:graphic>
          <a:graphicData uri="http://schemas.openxmlformats.org/presentationml/2006/ole">
            <mc:AlternateContent xmlns:mc="http://schemas.openxmlformats.org/markup-compatibility/2006">
              <mc:Choice xmlns:v="urn:schemas-microsoft-com:vml" Requires="v">
                <p:oleObj spid="_x0000_s27324" name="公式" r:id="rId6" imgW="1990850" imgH="638175" progId="Equation.3">
                  <p:embed/>
                </p:oleObj>
              </mc:Choice>
              <mc:Fallback>
                <p:oleObj name="公式" r:id="rId6" imgW="1990850" imgH="638175" progId="Equation.3">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47830" y="4869160"/>
                        <a:ext cx="3922713" cy="1420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980865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7-2</a:t>
            </a:r>
            <a:r>
              <a:rPr lang="zh-CN" altLang="en-US" dirty="0">
                <a:latin typeface="宋体" pitchFamily="2" charset="-122"/>
              </a:rPr>
              <a:t>单跨超静定梁的形常数与载常数</a:t>
            </a:r>
            <a:endParaRPr lang="zh-CN" altLang="en-US" dirty="0"/>
          </a:p>
        </p:txBody>
      </p:sp>
      <p:sp>
        <p:nvSpPr>
          <p:cNvPr id="3" name="Rectangle 4"/>
          <p:cNvSpPr>
            <a:spLocks noChangeArrowheads="1"/>
          </p:cNvSpPr>
          <p:nvPr/>
        </p:nvSpPr>
        <p:spPr bwMode="auto">
          <a:xfrm>
            <a:off x="467544" y="1341438"/>
            <a:ext cx="5897768"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marL="514350" indent="-514350" eaLnBrk="1" hangingPunct="1">
              <a:buFont typeface="+mj-lt"/>
              <a:buAutoNum type="arabicPeriod" startAt="3"/>
            </a:pPr>
            <a:r>
              <a:rPr lang="zh-CN" altLang="en-US" sz="2600" dirty="0">
                <a:solidFill>
                  <a:srgbClr val="CC0000"/>
                </a:solidFill>
                <a:latin typeface="楷体" panose="02010609060101010101" pitchFamily="49" charset="-122"/>
                <a:ea typeface="楷体" panose="02010609060101010101" pitchFamily="49" charset="-122"/>
              </a:rPr>
              <a:t>一端固定、一端定向的等截面直杆 </a:t>
            </a:r>
          </a:p>
        </p:txBody>
      </p:sp>
      <p:graphicFrame>
        <p:nvGraphicFramePr>
          <p:cNvPr id="4" name="对象 3"/>
          <p:cNvGraphicFramePr>
            <a:graphicFrameLocks noChangeAspect="1"/>
          </p:cNvGraphicFramePr>
          <p:nvPr>
            <p:extLst>
              <p:ext uri="{D42A27DB-BD31-4B8C-83A1-F6EECF244321}">
                <p14:modId xmlns:p14="http://schemas.microsoft.com/office/powerpoint/2010/main" val="206252073"/>
              </p:ext>
            </p:extLst>
          </p:nvPr>
        </p:nvGraphicFramePr>
        <p:xfrm>
          <a:off x="827584" y="2060848"/>
          <a:ext cx="3313112" cy="2271713"/>
        </p:xfrm>
        <a:graphic>
          <a:graphicData uri="http://schemas.openxmlformats.org/presentationml/2006/ole">
            <mc:AlternateContent xmlns:mc="http://schemas.openxmlformats.org/markup-compatibility/2006">
              <mc:Choice xmlns:v="urn:schemas-microsoft-com:vml" Requires="v">
                <p:oleObj spid="_x0000_s28340" name="AutoCAD Drawing" r:id="rId4" imgW="8791575" imgH="4581525" progId="AutoCAD.Drawing.16">
                  <p:embed/>
                </p:oleObj>
              </mc:Choice>
              <mc:Fallback>
                <p:oleObj name="AutoCAD Drawing" r:id="rId4" imgW="8791575" imgH="4581525" progId="AutoCAD.Drawing.16">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l="16435" t="8884" r="50418" b="44188"/>
                      <a:stretch>
                        <a:fillRect/>
                      </a:stretch>
                    </p:blipFill>
                    <p:spPr bwMode="auto">
                      <a:xfrm>
                        <a:off x="827584" y="2060848"/>
                        <a:ext cx="3313112" cy="227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Rectangle 5"/>
          <p:cNvSpPr>
            <a:spLocks noChangeArrowheads="1"/>
          </p:cNvSpPr>
          <p:nvPr/>
        </p:nvSpPr>
        <p:spPr bwMode="auto">
          <a:xfrm>
            <a:off x="4572000" y="2204864"/>
            <a:ext cx="4176464"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lnSpc>
                <a:spcPct val="110000"/>
              </a:lnSpc>
              <a:spcBef>
                <a:spcPct val="0"/>
              </a:spcBef>
            </a:pPr>
            <a:r>
              <a:rPr lang="en-US" altLang="zh-CN" i="1" dirty="0">
                <a:solidFill>
                  <a:srgbClr val="FF00FF"/>
                </a:solidFill>
              </a:rPr>
              <a:t>F</a:t>
            </a:r>
            <a:r>
              <a:rPr lang="en-US" altLang="zh-CN" baseline="-25000" dirty="0">
                <a:solidFill>
                  <a:srgbClr val="FF00FF"/>
                </a:solidFill>
              </a:rPr>
              <a:t>Q</a:t>
            </a:r>
            <a:r>
              <a:rPr lang="en-US" altLang="zh-CN" i="1" baseline="-25000" dirty="0">
                <a:solidFill>
                  <a:srgbClr val="FF00FF"/>
                </a:solidFill>
              </a:rPr>
              <a:t>BA</a:t>
            </a:r>
            <a:r>
              <a:rPr lang="en-US" altLang="zh-CN" dirty="0">
                <a:solidFill>
                  <a:srgbClr val="FF00FF"/>
                </a:solidFill>
              </a:rPr>
              <a:t>=</a:t>
            </a:r>
            <a:r>
              <a:rPr lang="en-US" altLang="zh-CN" dirty="0">
                <a:solidFill>
                  <a:srgbClr val="FF00FF"/>
                </a:solidFill>
                <a:latin typeface="楷体_GB2312" pitchFamily="49" charset="-122"/>
              </a:rPr>
              <a:t>0</a:t>
            </a:r>
            <a:r>
              <a:rPr lang="en-US" altLang="zh-CN" dirty="0">
                <a:latin typeface="楷体_GB2312" pitchFamily="49" charset="-122"/>
              </a:rPr>
              <a:t>,</a:t>
            </a:r>
            <a:r>
              <a:rPr lang="en-US" altLang="zh-CN" b="0" i="1" dirty="0">
                <a:solidFill>
                  <a:srgbClr val="FF00FF"/>
                </a:solidFill>
              </a:rPr>
              <a:t>Δ</a:t>
            </a:r>
            <a:r>
              <a:rPr lang="en-US" altLang="zh-CN" b="0" i="1" baseline="-25000" dirty="0">
                <a:solidFill>
                  <a:srgbClr val="FF00FF"/>
                </a:solidFill>
              </a:rPr>
              <a:t>AB</a:t>
            </a:r>
            <a:r>
              <a:rPr lang="zh-CN" altLang="en-US" dirty="0">
                <a:latin typeface="楷体_GB2312" pitchFamily="49" charset="-122"/>
              </a:rPr>
              <a:t>是</a:t>
            </a:r>
            <a:r>
              <a:rPr lang="en-US" altLang="zh-CN" i="1" dirty="0" err="1">
                <a:solidFill>
                  <a:srgbClr val="FF00FF"/>
                </a:solidFill>
                <a:latin typeface="楷体_GB2312" pitchFamily="49" charset="-122"/>
              </a:rPr>
              <a:t>θ</a:t>
            </a:r>
            <a:r>
              <a:rPr lang="en-US" altLang="zh-CN" b="0" i="1" baseline="-25000" dirty="0" err="1">
                <a:solidFill>
                  <a:srgbClr val="FF00FF"/>
                </a:solidFill>
              </a:rPr>
              <a:t>A</a:t>
            </a:r>
            <a:r>
              <a:rPr lang="en-US" altLang="zh-CN" dirty="0"/>
              <a:t> </a:t>
            </a:r>
            <a:r>
              <a:rPr lang="zh-CN" altLang="en-US" dirty="0">
                <a:latin typeface="楷体_GB2312" pitchFamily="49" charset="-122"/>
              </a:rPr>
              <a:t>和</a:t>
            </a:r>
            <a:r>
              <a:rPr lang="en-US" altLang="zh-CN" i="1" dirty="0" err="1">
                <a:solidFill>
                  <a:srgbClr val="FF00FF"/>
                </a:solidFill>
                <a:latin typeface="楷体_GB2312" pitchFamily="49" charset="-122"/>
              </a:rPr>
              <a:t>θ</a:t>
            </a:r>
            <a:r>
              <a:rPr lang="en-US" altLang="zh-CN" i="1" baseline="-25000" dirty="0" err="1">
                <a:solidFill>
                  <a:srgbClr val="FF00FF"/>
                </a:solidFill>
              </a:rPr>
              <a:t>B</a:t>
            </a:r>
            <a:r>
              <a:rPr lang="zh-CN" altLang="en-US" dirty="0">
                <a:latin typeface="楷体_GB2312" pitchFamily="49" charset="-122"/>
              </a:rPr>
              <a:t>的函数，转角位移方程为 </a:t>
            </a:r>
          </a:p>
        </p:txBody>
      </p:sp>
      <p:grpSp>
        <p:nvGrpSpPr>
          <p:cNvPr id="6" name="Group 6"/>
          <p:cNvGrpSpPr>
            <a:grpSpLocks/>
          </p:cNvGrpSpPr>
          <p:nvPr/>
        </p:nvGrpSpPr>
        <p:grpSpPr bwMode="auto">
          <a:xfrm>
            <a:off x="4834607" y="3356992"/>
            <a:ext cx="3651250" cy="1079500"/>
            <a:chOff x="839" y="2251"/>
            <a:chExt cx="2196" cy="590"/>
          </a:xfrm>
        </p:grpSpPr>
        <p:graphicFrame>
          <p:nvGraphicFramePr>
            <p:cNvPr id="7" name="Object 7"/>
            <p:cNvGraphicFramePr>
              <a:graphicFrameLocks noChangeAspect="1"/>
            </p:cNvGraphicFramePr>
            <p:nvPr/>
          </p:nvGraphicFramePr>
          <p:xfrm>
            <a:off x="839" y="2251"/>
            <a:ext cx="2046" cy="590"/>
          </p:xfrm>
          <a:graphic>
            <a:graphicData uri="http://schemas.openxmlformats.org/presentationml/2006/ole">
              <mc:AlternateContent xmlns:mc="http://schemas.openxmlformats.org/markup-compatibility/2006">
                <mc:Choice xmlns:v="urn:schemas-microsoft-com:vml" Requires="v">
                  <p:oleObj spid="_x0000_s28341" name="Equation" r:id="rId6" imgW="1790715" imgH="495287" progId="Equation.3">
                    <p:embed/>
                  </p:oleObj>
                </mc:Choice>
                <mc:Fallback>
                  <p:oleObj name="Equation" r:id="rId6" imgW="1790715" imgH="495287"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9" y="2251"/>
                          <a:ext cx="2046" cy="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8"/>
            <p:cNvSpPr>
              <a:spLocks noChangeArrowheads="1"/>
            </p:cNvSpPr>
            <p:nvPr/>
          </p:nvSpPr>
          <p:spPr bwMode="auto">
            <a:xfrm>
              <a:off x="2925" y="2406"/>
              <a:ext cx="11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endParaRPr lang="zh-CN" altLang="zh-CN">
                <a:ea typeface="仿宋_GB2312" pitchFamily="49" charset="-122"/>
              </a:endParaRPr>
            </a:p>
          </p:txBody>
        </p:sp>
      </p:grpSp>
      <p:sp>
        <p:nvSpPr>
          <p:cNvPr id="9" name="Rectangle 2"/>
          <p:cNvSpPr>
            <a:spLocks noChangeArrowheads="1"/>
          </p:cNvSpPr>
          <p:nvPr/>
        </p:nvSpPr>
        <p:spPr bwMode="auto">
          <a:xfrm>
            <a:off x="1020614" y="4730392"/>
            <a:ext cx="7343775" cy="1263650"/>
          </a:xfrm>
          <a:prstGeom prst="rect">
            <a:avLst/>
          </a:prstGeom>
          <a:solidFill>
            <a:schemeClr val="accent1"/>
          </a:solidFill>
          <a:ln w="76200" cmpd="tri">
            <a:solidFill>
              <a:srgbClr val="FF66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eaLnBrk="1" hangingPunct="1"/>
            <a:r>
              <a:rPr lang="en-US" altLang="zh-CN">
                <a:solidFill>
                  <a:srgbClr val="CC3300"/>
                </a:solidFill>
              </a:rPr>
              <a:t>        </a:t>
            </a:r>
            <a:r>
              <a:rPr lang="zh-CN" altLang="en-US">
                <a:solidFill>
                  <a:srgbClr val="CC3300"/>
                </a:solidFill>
              </a:rPr>
              <a:t>可见：</a:t>
            </a:r>
            <a:r>
              <a:rPr lang="zh-CN" altLang="en-US"/>
              <a:t>杆端弯矩表达式实际上就是基本结构各杆在基本未知量和荷载共同作用下的弯矩的叠加公式，它已经把荷载和基本未知量的作用综合在一起了。</a:t>
            </a:r>
          </a:p>
        </p:txBody>
      </p:sp>
      <p:sp>
        <p:nvSpPr>
          <p:cNvPr id="10" name="TextBox 9"/>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0865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lide(fromTop)">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slide(fromTop)">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slide(fromBottom)">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randombar(horizontal)">
                                      <p:cBhvr>
                                        <p:cTn id="27" dur="1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7-2</a:t>
            </a:r>
            <a:r>
              <a:rPr lang="zh-CN" altLang="en-US" dirty="0">
                <a:latin typeface="宋体" pitchFamily="2" charset="-122"/>
              </a:rPr>
              <a:t>单跨超静定梁的形常数与载常数</a:t>
            </a:r>
            <a:endParaRPr lang="zh-CN" altLang="en-US" dirty="0"/>
          </a:p>
        </p:txBody>
      </p:sp>
      <p:sp>
        <p:nvSpPr>
          <p:cNvPr id="3" name="Rectangle 2"/>
          <p:cNvSpPr>
            <a:spLocks noChangeArrowheads="1"/>
          </p:cNvSpPr>
          <p:nvPr/>
        </p:nvSpPr>
        <p:spPr bwMode="auto">
          <a:xfrm>
            <a:off x="467544" y="1306851"/>
            <a:ext cx="2699778" cy="49244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sz="2400" b="1">
                <a:solidFill>
                  <a:schemeClr val="tx1"/>
                </a:solidFill>
                <a:latin typeface="Times New Roman" pitchFamily="18" charset="0"/>
                <a:ea typeface="楷体_GB2312" pitchFamily="49" charset="-122"/>
              </a:defRPr>
            </a:lvl1pPr>
            <a:lvl2pPr marL="742950" indent="-285750" eaLnBrk="0" hangingPunct="0">
              <a:defRPr kumimoji="1" sz="2400" b="1">
                <a:solidFill>
                  <a:schemeClr val="tx1"/>
                </a:solidFill>
                <a:latin typeface="Times New Roman" pitchFamily="18" charset="0"/>
                <a:ea typeface="楷体_GB2312" pitchFamily="49" charset="-122"/>
              </a:defRPr>
            </a:lvl2pPr>
            <a:lvl3pPr marL="1143000" indent="-228600" eaLnBrk="0" hangingPunct="0">
              <a:defRPr kumimoji="1" sz="2400" b="1">
                <a:solidFill>
                  <a:schemeClr val="tx1"/>
                </a:solidFill>
                <a:latin typeface="Times New Roman" pitchFamily="18" charset="0"/>
                <a:ea typeface="楷体_GB2312" pitchFamily="49" charset="-122"/>
              </a:defRPr>
            </a:lvl3pPr>
            <a:lvl4pPr marL="1600200" indent="-228600" eaLnBrk="0" hangingPunct="0">
              <a:defRPr kumimoji="1" sz="2400" b="1">
                <a:solidFill>
                  <a:schemeClr val="tx1"/>
                </a:solidFill>
                <a:latin typeface="Times New Roman" pitchFamily="18" charset="0"/>
                <a:ea typeface="楷体_GB2312" pitchFamily="49" charset="-122"/>
              </a:defRPr>
            </a:lvl4pPr>
            <a:lvl5pPr marL="2057400" indent="-228600" eaLnBrk="0" hangingPunct="0">
              <a:defRPr kumimoji="1" sz="2400" b="1">
                <a:solidFill>
                  <a:schemeClr val="tx1"/>
                </a:solidFill>
                <a:latin typeface="Times New Roman" pitchFamily="18" charset="0"/>
                <a:ea typeface="楷体_GB2312" pitchFamily="49" charset="-122"/>
              </a:defRPr>
            </a:lvl5pPr>
            <a:lvl6pPr marL="25146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6pPr>
            <a:lvl7pPr marL="29718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7pPr>
            <a:lvl8pPr marL="34290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8pPr>
            <a:lvl9pPr marL="3886200" indent="-228600" eaLnBrk="0" fontAlgn="base" hangingPunct="0">
              <a:spcBef>
                <a:spcPct val="50000"/>
              </a:spcBef>
              <a:spcAft>
                <a:spcPct val="0"/>
              </a:spcAft>
              <a:defRPr kumimoji="1" sz="2400" b="1">
                <a:solidFill>
                  <a:schemeClr val="tx1"/>
                </a:solidFill>
                <a:latin typeface="Times New Roman" pitchFamily="18" charset="0"/>
                <a:ea typeface="楷体_GB2312" pitchFamily="49" charset="-122"/>
              </a:defRPr>
            </a:lvl9pPr>
          </a:lstStyle>
          <a:p>
            <a:pPr algn="ctr" eaLnBrk="1" hangingPunct="1">
              <a:spcBef>
                <a:spcPct val="0"/>
              </a:spcBef>
            </a:pPr>
            <a:r>
              <a:rPr lang="zh-CN" altLang="en-US" sz="2600" dirty="0">
                <a:solidFill>
                  <a:srgbClr val="CC0000"/>
                </a:solidFill>
                <a:latin typeface="楷体" panose="02010609060101010101" pitchFamily="49" charset="-122"/>
                <a:ea typeface="楷体" panose="02010609060101010101" pitchFamily="49" charset="-122"/>
              </a:rPr>
              <a:t>表</a:t>
            </a:r>
            <a:r>
              <a:rPr lang="en-US" altLang="zh-CN" sz="2600" dirty="0">
                <a:solidFill>
                  <a:srgbClr val="CC0000"/>
                </a:solidFill>
                <a:latin typeface="楷体" panose="02010609060101010101" pitchFamily="49" charset="-122"/>
                <a:ea typeface="楷体" panose="02010609060101010101" pitchFamily="49" charset="-122"/>
              </a:rPr>
              <a:t>7.1</a:t>
            </a:r>
            <a:r>
              <a:rPr lang="zh-CN" altLang="en-US" sz="2600" dirty="0">
                <a:solidFill>
                  <a:srgbClr val="CC0000"/>
                </a:solidFill>
                <a:latin typeface="楷体" panose="02010609060101010101" pitchFamily="49" charset="-122"/>
                <a:ea typeface="楷体" panose="02010609060101010101" pitchFamily="49" charset="-122"/>
              </a:rPr>
              <a:t>要求记忆！</a:t>
            </a:r>
          </a:p>
        </p:txBody>
      </p:sp>
      <p:graphicFrame>
        <p:nvGraphicFramePr>
          <p:cNvPr id="4" name="对象 3"/>
          <p:cNvGraphicFramePr>
            <a:graphicFrameLocks noChangeAspect="1"/>
          </p:cNvGraphicFramePr>
          <p:nvPr>
            <p:extLst>
              <p:ext uri="{D42A27DB-BD31-4B8C-83A1-F6EECF244321}">
                <p14:modId xmlns:p14="http://schemas.microsoft.com/office/powerpoint/2010/main" val="932966471"/>
              </p:ext>
            </p:extLst>
          </p:nvPr>
        </p:nvGraphicFramePr>
        <p:xfrm>
          <a:off x="1115616" y="2060848"/>
          <a:ext cx="3171825" cy="1809750"/>
        </p:xfrm>
        <a:graphic>
          <a:graphicData uri="http://schemas.openxmlformats.org/presentationml/2006/ole">
            <mc:AlternateContent xmlns:mc="http://schemas.openxmlformats.org/markup-compatibility/2006">
              <mc:Choice xmlns:v="urn:schemas-microsoft-com:vml" Requires="v">
                <p:oleObj spid="_x0000_s76120" name="位图图像" r:id="rId4" imgW="3172268" imgH="1809524" progId="PBrush">
                  <p:embed/>
                </p:oleObj>
              </mc:Choice>
              <mc:Fallback>
                <p:oleObj name="位图图像" r:id="rId4" imgW="3172268" imgH="1809524" progId="PBrush">
                  <p:embed/>
                  <p:pic>
                    <p:nvPicPr>
                      <p:cNvPr id="0" name="Object 3"/>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5616" y="2060848"/>
                        <a:ext cx="3171825" cy="18097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3040151287"/>
              </p:ext>
            </p:extLst>
          </p:nvPr>
        </p:nvGraphicFramePr>
        <p:xfrm>
          <a:off x="4316016" y="1984648"/>
          <a:ext cx="3733800" cy="2047875"/>
        </p:xfrm>
        <a:graphic>
          <a:graphicData uri="http://schemas.openxmlformats.org/presentationml/2006/ole">
            <mc:AlternateContent xmlns:mc="http://schemas.openxmlformats.org/markup-compatibility/2006">
              <mc:Choice xmlns:v="urn:schemas-microsoft-com:vml" Requires="v">
                <p:oleObj spid="_x0000_s76121" name="位图图像" r:id="rId6" imgW="3982006" imgH="2048161" progId="PBrush">
                  <p:embed/>
                </p:oleObj>
              </mc:Choice>
              <mc:Fallback>
                <p:oleObj name="位图图像" r:id="rId6" imgW="3982006" imgH="2048161" progId="PBrush">
                  <p:embed/>
                  <p:pic>
                    <p:nvPicPr>
                      <p:cNvPr id="0" name="Object 4"/>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16016" y="1984648"/>
                        <a:ext cx="3733800" cy="20478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98781604"/>
              </p:ext>
            </p:extLst>
          </p:nvPr>
        </p:nvGraphicFramePr>
        <p:xfrm>
          <a:off x="1115616" y="4365104"/>
          <a:ext cx="3600450" cy="1800225"/>
        </p:xfrm>
        <a:graphic>
          <a:graphicData uri="http://schemas.openxmlformats.org/presentationml/2006/ole">
            <mc:AlternateContent xmlns:mc="http://schemas.openxmlformats.org/markup-compatibility/2006">
              <mc:Choice xmlns:v="urn:schemas-microsoft-com:vml" Requires="v">
                <p:oleObj spid="_x0000_s76122" name="位图图像" r:id="rId8" imgW="3600000" imgH="1800476" progId="PBrush">
                  <p:embed/>
                </p:oleObj>
              </mc:Choice>
              <mc:Fallback>
                <p:oleObj name="位图图像" r:id="rId8" imgW="3600000" imgH="1800476" progId="PBrush">
                  <p:embed/>
                  <p:pic>
                    <p:nvPicPr>
                      <p:cNvPr id="0" name="Object 5"/>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115616" y="4365104"/>
                        <a:ext cx="3600450" cy="18002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696935343"/>
              </p:ext>
            </p:extLst>
          </p:nvPr>
        </p:nvGraphicFramePr>
        <p:xfrm>
          <a:off x="4468416" y="4060304"/>
          <a:ext cx="3733800" cy="2200275"/>
        </p:xfrm>
        <a:graphic>
          <a:graphicData uri="http://schemas.openxmlformats.org/presentationml/2006/ole">
            <mc:AlternateContent xmlns:mc="http://schemas.openxmlformats.org/markup-compatibility/2006">
              <mc:Choice xmlns:v="urn:schemas-microsoft-com:vml" Requires="v">
                <p:oleObj spid="_x0000_s76123" name="位图图像" r:id="rId10" imgW="3943901" imgH="2324424" progId="PBrush">
                  <p:embed/>
                </p:oleObj>
              </mc:Choice>
              <mc:Fallback>
                <p:oleObj name="位图图像" r:id="rId10" imgW="3943901" imgH="2324424" progId="PBrush">
                  <p:embed/>
                  <p:pic>
                    <p:nvPicPr>
                      <p:cNvPr id="0" name="Object 6"/>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68416" y="4060304"/>
                        <a:ext cx="3733800" cy="220027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 name="TextBox 7"/>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5637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arn(inHorizontal)">
                                      <p:cBhvr>
                                        <p:cTn id="13" dur="500"/>
                                        <p:tgtEl>
                                          <p:spTgt spid="4"/>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2"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anim calcmode="lin" valueType="num">
                                      <p:cBhvr additive="base">
                                        <p:cTn id="18" dur="500" fill="hold"/>
                                        <p:tgtEl>
                                          <p:spTgt spid="5"/>
                                        </p:tgtEl>
                                        <p:attrNameLst>
                                          <p:attrName>ppt_x</p:attrName>
                                        </p:attrNameLst>
                                      </p:cBhvr>
                                      <p:tavLst>
                                        <p:tav tm="0">
                                          <p:val>
                                            <p:strVal val="1+#ppt_w/2"/>
                                          </p:val>
                                        </p:tav>
                                        <p:tav tm="100000">
                                          <p:val>
                                            <p:strVal val="#ppt_x"/>
                                          </p:val>
                                        </p:tav>
                                      </p:tavLst>
                                    </p:anim>
                                    <p:anim calcmode="lin" valueType="num">
                                      <p:cBhvr additive="base">
                                        <p:cTn id="19"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6"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barn(inHorizontal)">
                                      <p:cBhvr>
                                        <p:cTn id="24" dur="500"/>
                                        <p:tgtEl>
                                          <p:spTgt spid="6"/>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additive="base">
                                        <p:cTn id="29" dur="500" fill="hold"/>
                                        <p:tgtEl>
                                          <p:spTgt spid="7"/>
                                        </p:tgtEl>
                                        <p:attrNameLst>
                                          <p:attrName>ppt_x</p:attrName>
                                        </p:attrNameLst>
                                      </p:cBhvr>
                                      <p:tavLst>
                                        <p:tav tm="0">
                                          <p:val>
                                            <p:strVal val="1+#ppt_w/2"/>
                                          </p:val>
                                        </p:tav>
                                        <p:tav tm="100000">
                                          <p:val>
                                            <p:strVal val="#ppt_x"/>
                                          </p:val>
                                        </p:tav>
                                      </p:tavLst>
                                    </p:anim>
                                    <p:anim calcmode="lin" valueType="num">
                                      <p:cBhvr additive="base">
                                        <p:cTn id="30"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latin typeface="宋体" pitchFamily="2" charset="-122"/>
              </a:rPr>
              <a:t>§</a:t>
            </a:r>
            <a:r>
              <a:rPr lang="en-US" altLang="zh-CN" dirty="0"/>
              <a:t>7-2</a:t>
            </a:r>
            <a:r>
              <a:rPr lang="zh-CN" altLang="en-US" dirty="0">
                <a:latin typeface="宋体" pitchFamily="2" charset="-122"/>
              </a:rPr>
              <a:t>单跨超静定梁的形常数与载常数</a:t>
            </a:r>
            <a:endParaRPr lang="zh-CN" altLang="en-US" dirty="0"/>
          </a:p>
        </p:txBody>
      </p:sp>
      <p:graphicFrame>
        <p:nvGraphicFramePr>
          <p:cNvPr id="3" name="对象 2"/>
          <p:cNvGraphicFramePr>
            <a:graphicFrameLocks noChangeAspect="1"/>
          </p:cNvGraphicFramePr>
          <p:nvPr>
            <p:extLst>
              <p:ext uri="{D42A27DB-BD31-4B8C-83A1-F6EECF244321}">
                <p14:modId xmlns:p14="http://schemas.microsoft.com/office/powerpoint/2010/main" val="532476506"/>
              </p:ext>
            </p:extLst>
          </p:nvPr>
        </p:nvGraphicFramePr>
        <p:xfrm>
          <a:off x="1096144" y="1700808"/>
          <a:ext cx="3086100" cy="1371600"/>
        </p:xfrm>
        <a:graphic>
          <a:graphicData uri="http://schemas.openxmlformats.org/presentationml/2006/ole">
            <mc:AlternateContent xmlns:mc="http://schemas.openxmlformats.org/markup-compatibility/2006">
              <mc:Choice xmlns:v="urn:schemas-microsoft-com:vml" Requires="v">
                <p:oleObj spid="_x0000_s75102" name="位图图像" r:id="rId4" imgW="3086531" imgH="1371429" progId="PBrush">
                  <p:embed/>
                </p:oleObj>
              </mc:Choice>
              <mc:Fallback>
                <p:oleObj name="位图图像" r:id="rId4" imgW="3086531" imgH="1371429" progId="PBrush">
                  <p:embed/>
                  <p:pic>
                    <p:nvPicPr>
                      <p:cNvPr id="0" name="Object 3"/>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96144" y="1700808"/>
                        <a:ext cx="3086100" cy="13716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478463227"/>
              </p:ext>
            </p:extLst>
          </p:nvPr>
        </p:nvGraphicFramePr>
        <p:xfrm>
          <a:off x="4067944" y="1700808"/>
          <a:ext cx="3429000" cy="1581150"/>
        </p:xfrm>
        <a:graphic>
          <a:graphicData uri="http://schemas.openxmlformats.org/presentationml/2006/ole">
            <mc:AlternateContent xmlns:mc="http://schemas.openxmlformats.org/markup-compatibility/2006">
              <mc:Choice xmlns:v="urn:schemas-microsoft-com:vml" Requires="v">
                <p:oleObj spid="_x0000_s75103" name="位图图像" r:id="rId6" imgW="3629532" imgH="1580952" progId="PBrush">
                  <p:embed/>
                </p:oleObj>
              </mc:Choice>
              <mc:Fallback>
                <p:oleObj name="位图图像" r:id="rId6" imgW="3629532" imgH="1580952" progId="PBrush">
                  <p:embed/>
                  <p:pic>
                    <p:nvPicPr>
                      <p:cNvPr id="0" name="Object 4"/>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67944" y="1700808"/>
                        <a:ext cx="3429000" cy="158115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943663428"/>
              </p:ext>
            </p:extLst>
          </p:nvPr>
        </p:nvGraphicFramePr>
        <p:xfrm>
          <a:off x="1079376" y="3949824"/>
          <a:ext cx="3048000" cy="1447800"/>
        </p:xfrm>
        <a:graphic>
          <a:graphicData uri="http://schemas.openxmlformats.org/presentationml/2006/ole">
            <mc:AlternateContent xmlns:mc="http://schemas.openxmlformats.org/markup-compatibility/2006">
              <mc:Choice xmlns:v="urn:schemas-microsoft-com:vml" Requires="v">
                <p:oleObj spid="_x0000_s75104" name="位图图像" r:id="rId8" imgW="2847619" imgH="1448002" progId="PBrush">
                  <p:embed/>
                </p:oleObj>
              </mc:Choice>
              <mc:Fallback>
                <p:oleObj name="位图图像" r:id="rId8" imgW="2847619" imgH="1448002" progId="PBrush">
                  <p:embed/>
                  <p:pic>
                    <p:nvPicPr>
                      <p:cNvPr id="0" name="Object 6"/>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079376" y="3949824"/>
                        <a:ext cx="3048000" cy="14478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958853163"/>
              </p:ext>
            </p:extLst>
          </p:nvPr>
        </p:nvGraphicFramePr>
        <p:xfrm>
          <a:off x="4355976" y="3645024"/>
          <a:ext cx="3505200" cy="2019300"/>
        </p:xfrm>
        <a:graphic>
          <a:graphicData uri="http://schemas.openxmlformats.org/presentationml/2006/ole">
            <mc:AlternateContent xmlns:mc="http://schemas.openxmlformats.org/markup-compatibility/2006">
              <mc:Choice xmlns:v="urn:schemas-microsoft-com:vml" Requires="v">
                <p:oleObj spid="_x0000_s75105" name="位图图像" r:id="rId10" imgW="3677163" imgH="2019048" progId="PBrush">
                  <p:embed/>
                </p:oleObj>
              </mc:Choice>
              <mc:Fallback>
                <p:oleObj name="位图图像" r:id="rId10" imgW="3677163" imgH="2019048" progId="PBrush">
                  <p:embed/>
                  <p:pic>
                    <p:nvPicPr>
                      <p:cNvPr id="0" name="Object 7"/>
                      <p:cNvPicPr>
                        <a:picLocks noChangeAspect="1" noChangeArrowheads="1"/>
                      </p:cNvPicPr>
                      <p:nvPr/>
                    </p:nvPicPr>
                    <p:blipFill>
                      <a:blip r:embed="rId11">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355976" y="3645024"/>
                        <a:ext cx="3505200" cy="2019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TextBox 18"/>
          <p:cNvSpPr txBox="1"/>
          <p:nvPr/>
        </p:nvSpPr>
        <p:spPr>
          <a:xfrm>
            <a:off x="-7952" y="6621205"/>
            <a:ext cx="755577" cy="230832"/>
          </a:xfrm>
          <a:prstGeom prst="rect">
            <a:avLst/>
          </a:prstGeom>
          <a:noFill/>
        </p:spPr>
        <p:txBody>
          <a:bodyPr wrap="square" rtlCol="0">
            <a:spAutoFit/>
          </a:bodyPr>
          <a:lstStyle/>
          <a:p>
            <a:r>
              <a:rPr lang="en-US" altLang="zh-CN" sz="900" dirty="0">
                <a:solidFill>
                  <a:schemeClr val="bg1">
                    <a:lumMod val="65000"/>
                  </a:schemeClr>
                </a:solidFill>
                <a:latin typeface="Times New Roman" panose="02020603050405020304" pitchFamily="18" charset="0"/>
                <a:cs typeface="Times New Roman" panose="02020603050405020304" pitchFamily="18" charset="0"/>
              </a:rPr>
              <a:t>2015-12-21</a:t>
            </a:r>
            <a:endParaRPr lang="zh-CN" altLang="en-US" sz="900" dirty="0">
              <a:solidFill>
                <a:schemeClr val="bg1">
                  <a:lumMod val="6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5637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1+#ppt_w/2"/>
                                          </p:val>
                                        </p:tav>
                                        <p:tav tm="100000">
                                          <p:val>
                                            <p:strVal val="#ppt_x"/>
                                          </p:val>
                                        </p:tav>
                                      </p:tavLst>
                                    </p:anim>
                                    <p:anim calcmode="lin" valueType="num">
                                      <p:cBhvr additive="base">
                                        <p:cTn id="1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0-#ppt_w/2"/>
                                          </p:val>
                                        </p:tav>
                                        <p:tav tm="100000">
                                          <p:val>
                                            <p:strVal val="#ppt_x"/>
                                          </p:val>
                                        </p:tav>
                                      </p:tavLst>
                                    </p:anim>
                                    <p:anim calcmode="lin" valueType="num">
                                      <p:cBhvr additive="base">
                                        <p:cTn id="20"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1+#ppt_w/2"/>
                                          </p:val>
                                        </p:tav>
                                        <p:tav tm="100000">
                                          <p:val>
                                            <p:strVal val="#ppt_x"/>
                                          </p:val>
                                        </p:tav>
                                      </p:tavLst>
                                    </p:anim>
                                    <p:anim calcmode="lin" valueType="num">
                                      <p:cBhvr additive="base">
                                        <p:cTn id="26"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结构力学1-第七章 位移法（1）">
  <a:themeElements>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fontScheme name="演示设计">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演示设计 1">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EAEBBB"/>
        </a:folHlink>
      </a:clrScheme>
      <a:clrMap bg1="lt1" tx1="dk1" bg2="lt2" tx2="dk2" accent1="accent1" accent2="accent2" accent3="accent3" accent4="accent4" accent5="accent5" accent6="accent6" hlink="hlink" folHlink="folHlink"/>
    </a:extraClrScheme>
    <a:extraClrScheme>
      <a:clrScheme name="演示设计 2">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7575"/>
        </a:folHlink>
      </a:clrScheme>
      <a:clrMap bg1="lt1" tx1="dk1" bg2="lt2" tx2="dk2" accent1="accent1" accent2="accent2" accent3="accent3" accent4="accent4" accent5="accent5" accent6="accent6" hlink="hlink" folHlink="folHlink"/>
    </a:extraClrScheme>
    <a:extraClrScheme>
      <a:clrScheme name="演示设计 3">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D99FD5"/>
        </a:folHlink>
      </a:clrScheme>
      <a:clrMap bg1="lt1" tx1="dk1" bg2="lt2" tx2="dk2" accent1="accent1" accent2="accent2" accent3="accent3" accent4="accent4" accent5="accent5" accent6="accent6" hlink="hlink" folHlink="folHlink"/>
    </a:extraClrScheme>
    <a:extraClrScheme>
      <a:clrScheme name="演示设计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clrMap bg1="lt1" tx1="dk1" bg2="lt2" tx2="dk2" accent1="accent1" accent2="accent2" accent3="accent3" accent4="accent4" accent5="accent5" accent6="accent6" hlink="hlink" folHlink="folHlink"/>
    </a:extraClrScheme>
    <a:extraClrScheme>
      <a:clrScheme name="演示设计 5">
        <a:dk1>
          <a:srgbClr val="000000"/>
        </a:dk1>
        <a:lt1>
          <a:srgbClr val="FFFFFF"/>
        </a:lt1>
        <a:dk2>
          <a:srgbClr val="000000"/>
        </a:dk2>
        <a:lt2>
          <a:srgbClr val="808080"/>
        </a:lt2>
        <a:accent1>
          <a:srgbClr val="FFCC00"/>
        </a:accent1>
        <a:accent2>
          <a:srgbClr val="FF8A15"/>
        </a:accent2>
        <a:accent3>
          <a:srgbClr val="FFFFFF"/>
        </a:accent3>
        <a:accent4>
          <a:srgbClr val="000000"/>
        </a:accent4>
        <a:accent5>
          <a:srgbClr val="FFE2AA"/>
        </a:accent5>
        <a:accent6>
          <a:srgbClr val="E77D12"/>
        </a:accent6>
        <a:hlink>
          <a:srgbClr val="463900"/>
        </a:hlink>
        <a:folHlink>
          <a:srgbClr val="FFF0AF"/>
        </a:folHlink>
      </a:clrScheme>
      <a:clrMap bg1="lt1" tx1="dk1" bg2="lt2" tx2="dk2" accent1="accent1" accent2="accent2" accent3="accent3" accent4="accent4" accent5="accent5" accent6="accent6" hlink="hlink" folHlink="folHlink"/>
    </a:extraClrScheme>
    <a:extraClrScheme>
      <a:clrScheme name="演示设计 6">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C78F"/>
        </a:folHlink>
      </a:clrScheme>
      <a:clrMap bg1="lt1" tx1="dk1" bg2="lt2" tx2="dk2" accent1="accent1" accent2="accent2" accent3="accent3" accent4="accent4" accent5="accent5" accent6="accent6" hlink="hlink" folHlink="folHlink"/>
    </a:extraClrScheme>
    <a:extraClrScheme>
      <a:clrScheme name="演示设计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clrMap bg1="lt1" tx1="dk1" bg2="lt2" tx2="dk2" accent1="accent1" accent2="accent2" accent3="accent3" accent4="accent4" accent5="accent5" accent6="accent6" hlink="hlink" folHlink="folHlink"/>
    </a:extraClrScheme>
    <a:extraClrScheme>
      <a:clrScheme name="演示设计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ADE971"/>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nordridesign.com">
  <a:themeElements>
    <a:clrScheme name="3_nordridesign.com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fontScheme name="3_nordridesign.com">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3_nordridesign.com 1">
        <a:dk1>
          <a:srgbClr val="000000"/>
        </a:dk1>
        <a:lt1>
          <a:srgbClr val="FFFFFF"/>
        </a:lt1>
        <a:dk2>
          <a:srgbClr val="000000"/>
        </a:dk2>
        <a:lt2>
          <a:srgbClr val="C0C0C0"/>
        </a:lt2>
        <a:accent1>
          <a:srgbClr val="DFE0BE"/>
        </a:accent1>
        <a:accent2>
          <a:srgbClr val="D1D46B"/>
        </a:accent2>
        <a:accent3>
          <a:srgbClr val="FFFFFF"/>
        </a:accent3>
        <a:accent4>
          <a:srgbClr val="000000"/>
        </a:accent4>
        <a:accent5>
          <a:srgbClr val="ECEDDB"/>
        </a:accent5>
        <a:accent6>
          <a:srgbClr val="BDC060"/>
        </a:accent6>
        <a:hlink>
          <a:srgbClr val="3A3B11"/>
        </a:hlink>
        <a:folHlink>
          <a:srgbClr val="EAEBBB"/>
        </a:folHlink>
      </a:clrScheme>
      <a:clrMap bg1="lt1" tx1="dk1" bg2="lt2" tx2="dk2" accent1="accent1" accent2="accent2" accent3="accent3" accent4="accent4" accent5="accent5" accent6="accent6" hlink="hlink" folHlink="folHlink"/>
    </a:extraClrScheme>
    <a:extraClrScheme>
      <a:clrScheme name="3_nordridesign.com 2">
        <a:dk1>
          <a:srgbClr val="000000"/>
        </a:dk1>
        <a:lt1>
          <a:srgbClr val="FFFFFF"/>
        </a:lt1>
        <a:dk2>
          <a:srgbClr val="000000"/>
        </a:dk2>
        <a:lt2>
          <a:srgbClr val="B2B2B2"/>
        </a:lt2>
        <a:accent1>
          <a:srgbClr val="FF0517"/>
        </a:accent1>
        <a:accent2>
          <a:srgbClr val="BC000D"/>
        </a:accent2>
        <a:accent3>
          <a:srgbClr val="FFFFFF"/>
        </a:accent3>
        <a:accent4>
          <a:srgbClr val="000000"/>
        </a:accent4>
        <a:accent5>
          <a:srgbClr val="FFAAAB"/>
        </a:accent5>
        <a:accent6>
          <a:srgbClr val="AA000B"/>
        </a:accent6>
        <a:hlink>
          <a:srgbClr val="3A0004"/>
        </a:hlink>
        <a:folHlink>
          <a:srgbClr val="FF7575"/>
        </a:folHlink>
      </a:clrScheme>
      <a:clrMap bg1="lt1" tx1="dk1" bg2="lt2" tx2="dk2" accent1="accent1" accent2="accent2" accent3="accent3" accent4="accent4" accent5="accent5" accent6="accent6" hlink="hlink" folHlink="folHlink"/>
    </a:extraClrScheme>
    <a:extraClrScheme>
      <a:clrScheme name="3_nordridesign.com 3">
        <a:dk1>
          <a:srgbClr val="000000"/>
        </a:dk1>
        <a:lt1>
          <a:srgbClr val="FFFFFF"/>
        </a:lt1>
        <a:dk2>
          <a:srgbClr val="000000"/>
        </a:dk2>
        <a:lt2>
          <a:srgbClr val="B2B2B2"/>
        </a:lt2>
        <a:accent1>
          <a:srgbClr val="BF59B8"/>
        </a:accent1>
        <a:accent2>
          <a:srgbClr val="884183"/>
        </a:accent2>
        <a:accent3>
          <a:srgbClr val="FFFFFF"/>
        </a:accent3>
        <a:accent4>
          <a:srgbClr val="000000"/>
        </a:accent4>
        <a:accent5>
          <a:srgbClr val="DCB5D8"/>
        </a:accent5>
        <a:accent6>
          <a:srgbClr val="7B3A76"/>
        </a:accent6>
        <a:hlink>
          <a:srgbClr val="371535"/>
        </a:hlink>
        <a:folHlink>
          <a:srgbClr val="D99FD5"/>
        </a:folHlink>
      </a:clrScheme>
      <a:clrMap bg1="lt1" tx1="dk1" bg2="lt2" tx2="dk2" accent1="accent1" accent2="accent2" accent3="accent3" accent4="accent4" accent5="accent5" accent6="accent6" hlink="hlink" folHlink="folHlink"/>
    </a:extraClrScheme>
    <a:extraClrScheme>
      <a:clrScheme name="3_nordridesign.com 4">
        <a:dk1>
          <a:srgbClr val="000000"/>
        </a:dk1>
        <a:lt1>
          <a:srgbClr val="FFFFFF"/>
        </a:lt1>
        <a:dk2>
          <a:srgbClr val="000000"/>
        </a:dk2>
        <a:lt2>
          <a:srgbClr val="C0C0C0"/>
        </a:lt2>
        <a:accent1>
          <a:srgbClr val="B2B2B2"/>
        </a:accent1>
        <a:accent2>
          <a:srgbClr val="5F5F5F"/>
        </a:accent2>
        <a:accent3>
          <a:srgbClr val="FFFFFF"/>
        </a:accent3>
        <a:accent4>
          <a:srgbClr val="000000"/>
        </a:accent4>
        <a:accent5>
          <a:srgbClr val="D5D5D5"/>
        </a:accent5>
        <a:accent6>
          <a:srgbClr val="555555"/>
        </a:accent6>
        <a:hlink>
          <a:srgbClr val="1C1C1C"/>
        </a:hlink>
        <a:folHlink>
          <a:srgbClr val="DDDDDD"/>
        </a:folHlink>
      </a:clrScheme>
      <a:clrMap bg1="lt1" tx1="dk1" bg2="lt2" tx2="dk2" accent1="accent1" accent2="accent2" accent3="accent3" accent4="accent4" accent5="accent5" accent6="accent6" hlink="hlink" folHlink="folHlink"/>
    </a:extraClrScheme>
    <a:extraClrScheme>
      <a:clrScheme name="3_nordridesign.com 5">
        <a:dk1>
          <a:srgbClr val="000000"/>
        </a:dk1>
        <a:lt1>
          <a:srgbClr val="FFFFFF"/>
        </a:lt1>
        <a:dk2>
          <a:srgbClr val="000000"/>
        </a:dk2>
        <a:lt2>
          <a:srgbClr val="808080"/>
        </a:lt2>
        <a:accent1>
          <a:srgbClr val="FFCC00"/>
        </a:accent1>
        <a:accent2>
          <a:srgbClr val="FF8A15"/>
        </a:accent2>
        <a:accent3>
          <a:srgbClr val="FFFFFF"/>
        </a:accent3>
        <a:accent4>
          <a:srgbClr val="000000"/>
        </a:accent4>
        <a:accent5>
          <a:srgbClr val="FFE2AA"/>
        </a:accent5>
        <a:accent6>
          <a:srgbClr val="E77D12"/>
        </a:accent6>
        <a:hlink>
          <a:srgbClr val="463900"/>
        </a:hlink>
        <a:folHlink>
          <a:srgbClr val="FFF0AF"/>
        </a:folHlink>
      </a:clrScheme>
      <a:clrMap bg1="lt1" tx1="dk1" bg2="lt2" tx2="dk2" accent1="accent1" accent2="accent2" accent3="accent3" accent4="accent4" accent5="accent5" accent6="accent6" hlink="hlink" folHlink="folHlink"/>
    </a:extraClrScheme>
    <a:extraClrScheme>
      <a:clrScheme name="3_nordridesign.com 6">
        <a:dk1>
          <a:srgbClr val="000000"/>
        </a:dk1>
        <a:lt1>
          <a:srgbClr val="FFFFFF"/>
        </a:lt1>
        <a:dk2>
          <a:srgbClr val="000000"/>
        </a:dk2>
        <a:lt2>
          <a:srgbClr val="808080"/>
        </a:lt2>
        <a:accent1>
          <a:srgbClr val="FF9021"/>
        </a:accent1>
        <a:accent2>
          <a:srgbClr val="DA5800"/>
        </a:accent2>
        <a:accent3>
          <a:srgbClr val="FFFFFF"/>
        </a:accent3>
        <a:accent4>
          <a:srgbClr val="000000"/>
        </a:accent4>
        <a:accent5>
          <a:srgbClr val="FFC6AB"/>
        </a:accent5>
        <a:accent6>
          <a:srgbClr val="C54F00"/>
        </a:accent6>
        <a:hlink>
          <a:srgbClr val="963D00"/>
        </a:hlink>
        <a:folHlink>
          <a:srgbClr val="FFC78F"/>
        </a:folHlink>
      </a:clrScheme>
      <a:clrMap bg1="lt1" tx1="dk1" bg2="lt2" tx2="dk2" accent1="accent1" accent2="accent2" accent3="accent3" accent4="accent4" accent5="accent5" accent6="accent6" hlink="hlink" folHlink="folHlink"/>
    </a:extraClrScheme>
    <a:extraClrScheme>
      <a:clrScheme name="3_nordridesign.com 7">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66B2FE"/>
        </a:folHlink>
      </a:clrScheme>
      <a:clrMap bg1="lt1" tx1="dk1" bg2="lt2" tx2="dk2" accent1="accent1" accent2="accent2" accent3="accent3" accent4="accent4" accent5="accent5" accent6="accent6" hlink="hlink" folHlink="folHlink"/>
    </a:extraClrScheme>
    <a:extraClrScheme>
      <a:clrScheme name="3_nordridesign.com 8">
        <a:dk1>
          <a:srgbClr val="000000"/>
        </a:dk1>
        <a:lt1>
          <a:srgbClr val="FFFFFF"/>
        </a:lt1>
        <a:dk2>
          <a:srgbClr val="000000"/>
        </a:dk2>
        <a:lt2>
          <a:srgbClr val="C0C0C0"/>
        </a:lt2>
        <a:accent1>
          <a:srgbClr val="6FC01E"/>
        </a:accent1>
        <a:accent2>
          <a:srgbClr val="4F7913"/>
        </a:accent2>
        <a:accent3>
          <a:srgbClr val="FFFFFF"/>
        </a:accent3>
        <a:accent4>
          <a:srgbClr val="000000"/>
        </a:accent4>
        <a:accent5>
          <a:srgbClr val="BBDCAB"/>
        </a:accent5>
        <a:accent6>
          <a:srgbClr val="476D10"/>
        </a:accent6>
        <a:hlink>
          <a:srgbClr val="26420A"/>
        </a:hlink>
        <a:folHlink>
          <a:srgbClr val="ADE971"/>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nordridesign.com">
  <a:themeElements>
    <a:clrScheme name="2_nordridesign.com 1">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fontScheme name="2_nordridesign.com">
      <a:majorFont>
        <a:latin typeface="Arial"/>
        <a:ea typeface="黑体"/>
        <a:cs typeface=""/>
      </a:majorFont>
      <a:minorFont>
        <a:latin typeface="Arial"/>
        <a:ea typeface="华文细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sz="1800" b="1" i="1" u="none" strike="noStrike" cap="none" normalizeH="0" baseline="0" smtClean="0">
            <a:ln>
              <a:noFill/>
            </a:ln>
            <a:solidFill>
              <a:schemeClr val="tx1"/>
            </a:solidFill>
            <a:effectLst/>
            <a:latin typeface="Arial" pitchFamily="34" charset="0"/>
            <a:ea typeface="华文细黑" pitchFamily="2" charset="-122"/>
          </a:defRPr>
        </a:defPPr>
      </a:lstStyle>
    </a:lnDef>
  </a:objectDefaults>
  <a:extraClrSchemeLst>
    <a:extraClrScheme>
      <a:clrScheme name="2_nordridesign.com 1">
        <a:dk1>
          <a:srgbClr val="000000"/>
        </a:dk1>
        <a:lt1>
          <a:srgbClr val="FFFFFF"/>
        </a:lt1>
        <a:dk2>
          <a:srgbClr val="000000"/>
        </a:dk2>
        <a:lt2>
          <a:srgbClr val="C0C0C0"/>
        </a:lt2>
        <a:accent1>
          <a:srgbClr val="5B8CC1"/>
        </a:accent1>
        <a:accent2>
          <a:srgbClr val="2A5682"/>
        </a:accent2>
        <a:accent3>
          <a:srgbClr val="FFFFFF"/>
        </a:accent3>
        <a:accent4>
          <a:srgbClr val="000000"/>
        </a:accent4>
        <a:accent5>
          <a:srgbClr val="B5C5DD"/>
        </a:accent5>
        <a:accent6>
          <a:srgbClr val="254D75"/>
        </a:accent6>
        <a:hlink>
          <a:srgbClr val="002850"/>
        </a:hlink>
        <a:folHlink>
          <a:srgbClr val="2A94FE"/>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结构力学1-第七章 位移法（1）</Template>
  <TotalTime>3993</TotalTime>
  <Words>1600</Words>
  <Application>Microsoft Office PowerPoint</Application>
  <PresentationFormat>全屏显示(4:3)</PresentationFormat>
  <Paragraphs>186</Paragraphs>
  <Slides>26</Slides>
  <Notes>25</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6</vt:i4>
      </vt:variant>
      <vt:variant>
        <vt:lpstr>幻灯片标题</vt:lpstr>
      </vt:variant>
      <vt:variant>
        <vt:i4>26</vt:i4>
      </vt:variant>
    </vt:vector>
  </HeadingPairs>
  <TitlesOfParts>
    <vt:vector size="49" baseType="lpstr">
      <vt:lpstr>MS UI Gothic</vt:lpstr>
      <vt:lpstr>仿宋_GB2312</vt:lpstr>
      <vt:lpstr>黑体</vt:lpstr>
      <vt:lpstr>华文细黑</vt:lpstr>
      <vt:lpstr>楷体</vt:lpstr>
      <vt:lpstr>楷体_GB2312</vt:lpstr>
      <vt:lpstr>宋体</vt:lpstr>
      <vt:lpstr>Arial</vt:lpstr>
      <vt:lpstr>Calibri</vt:lpstr>
      <vt:lpstr>Cambria Math</vt:lpstr>
      <vt:lpstr>Symbol</vt:lpstr>
      <vt:lpstr>Times New Roman</vt:lpstr>
      <vt:lpstr>Wingdings</vt:lpstr>
      <vt:lpstr>结构力学1-第七章 位移法（1）</vt:lpstr>
      <vt:lpstr>自定义设计方案</vt:lpstr>
      <vt:lpstr>3_nordridesign.com</vt:lpstr>
      <vt:lpstr>2_nordridesign.com</vt:lpstr>
      <vt:lpstr>Equation</vt:lpstr>
      <vt:lpstr>位图图像</vt:lpstr>
      <vt:lpstr>AutoCAD Drawing</vt:lpstr>
      <vt:lpstr>Drawing</vt:lpstr>
      <vt:lpstr>MathType 7.0 Equation</vt:lpstr>
      <vt:lpstr>公式</vt:lpstr>
      <vt:lpstr>第七章 位移法</vt:lpstr>
      <vt:lpstr>§7-1 位移法基本概念</vt:lpstr>
      <vt:lpstr>§7-1位移法基本概念</vt:lpstr>
      <vt:lpstr>§7-1位移法基本概念</vt:lpstr>
      <vt:lpstr>§7-1位移法基本概念</vt:lpstr>
      <vt:lpstr>§7-1位移法基本概念</vt:lpstr>
      <vt:lpstr>§7-1位移法基本概念</vt:lpstr>
      <vt:lpstr>§7-1位移法基本概念</vt:lpstr>
      <vt:lpstr>§7-1位移法基本概念</vt:lpstr>
      <vt:lpstr>§7-1位移法基本概念</vt:lpstr>
      <vt:lpstr>§7-1位移法基本概念</vt:lpstr>
      <vt:lpstr>§7-1位移法基本概念</vt:lpstr>
      <vt:lpstr>§7-2 单跨超静定梁的形常数与载常数</vt:lpstr>
      <vt:lpstr>§7-2 单跨超静定梁的形常数与载常数</vt:lpstr>
      <vt:lpstr>§7-2 单跨超静定梁的形常数与载常数</vt:lpstr>
      <vt:lpstr>§7-2 单跨超静定梁的形常数与载常数</vt:lpstr>
      <vt:lpstr>§7-2单跨超静定梁的形常数与载常数</vt:lpstr>
      <vt:lpstr>§7-2 单跨超静定梁的形常数与载常数</vt:lpstr>
      <vt:lpstr>§7-2单跨超静定梁的形常数与载常数</vt:lpstr>
      <vt:lpstr>§7-2单跨超静定梁的形常数与载常数</vt:lpstr>
      <vt:lpstr>§7-2单跨超静定梁的形常数与载常数</vt:lpstr>
      <vt:lpstr>§7-2单跨超静定梁的形常数与载常数</vt:lpstr>
      <vt:lpstr>§7-2单跨超静定梁的形常数与载常数</vt:lpstr>
      <vt:lpstr>§7-2单跨超静定梁的形常数与载常数</vt:lpstr>
      <vt:lpstr>§7-2单跨超静定梁的形常数与载常数</vt:lpstr>
      <vt:lpstr>§7-2单跨超静定梁的形常数与载常数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第七章 位移法</dc:title>
  <dc:creator>zzdeng</dc:creator>
  <cp:lastModifiedBy>邓 争志</cp:lastModifiedBy>
  <cp:revision>480</cp:revision>
  <dcterms:created xsi:type="dcterms:W3CDTF">2015-12-09T11:55:28Z</dcterms:created>
  <dcterms:modified xsi:type="dcterms:W3CDTF">2020-12-23T05:10:48Z</dcterms:modified>
</cp:coreProperties>
</file>