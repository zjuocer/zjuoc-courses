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17" r:id="rId4"/>
    <p:sldId id="285" r:id="rId5"/>
    <p:sldId id="323" r:id="rId6"/>
    <p:sldId id="286" r:id="rId7"/>
    <p:sldId id="320" r:id="rId8"/>
    <p:sldId id="321" r:id="rId9"/>
    <p:sldId id="287" r:id="rId10"/>
    <p:sldId id="288" r:id="rId11"/>
    <p:sldId id="324" r:id="rId12"/>
    <p:sldId id="325" r:id="rId13"/>
    <p:sldId id="331" r:id="rId14"/>
    <p:sldId id="326" r:id="rId15"/>
    <p:sldId id="327" r:id="rId16"/>
    <p:sldId id="329" r:id="rId17"/>
    <p:sldId id="330" r:id="rId18"/>
    <p:sldId id="289" r:id="rId19"/>
    <p:sldId id="290" r:id="rId20"/>
    <p:sldId id="291" r:id="rId21"/>
    <p:sldId id="292" r:id="rId22"/>
    <p:sldId id="294" r:id="rId23"/>
    <p:sldId id="296" r:id="rId24"/>
    <p:sldId id="322" r:id="rId25"/>
    <p:sldId id="332" r:id="rId26"/>
    <p:sldId id="333" r:id="rId27"/>
    <p:sldId id="356" r:id="rId28"/>
    <p:sldId id="299" r:id="rId29"/>
    <p:sldId id="304" r:id="rId30"/>
    <p:sldId id="305" r:id="rId31"/>
    <p:sldId id="306" r:id="rId32"/>
    <p:sldId id="307" r:id="rId33"/>
    <p:sldId id="351" r:id="rId34"/>
    <p:sldId id="309" r:id="rId35"/>
    <p:sldId id="310" r:id="rId36"/>
    <p:sldId id="308" r:id="rId37"/>
    <p:sldId id="352" r:id="rId38"/>
    <p:sldId id="334" r:id="rId39"/>
    <p:sldId id="363" r:id="rId40"/>
    <p:sldId id="353" r:id="rId41"/>
    <p:sldId id="343" r:id="rId42"/>
    <p:sldId id="344" r:id="rId43"/>
    <p:sldId id="348" r:id="rId44"/>
    <p:sldId id="349" r:id="rId45"/>
    <p:sldId id="350" r:id="rId46"/>
    <p:sldId id="362" r:id="rId47"/>
    <p:sldId id="360" r:id="rId48"/>
    <p:sldId id="361" r:id="rId49"/>
    <p:sldId id="365" r:id="rId50"/>
    <p:sldId id="347" r:id="rId51"/>
    <p:sldId id="359" r:id="rId52"/>
    <p:sldId id="312" r:id="rId53"/>
  </p:sldIdLst>
  <p:sldSz cx="9144000" cy="5143500" type="screen16x9"/>
  <p:notesSz cx="6858000" cy="9144000"/>
  <p:custDataLst>
    <p:tags r:id="rId57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33"/>
    <a:srgbClr val="FF00FF"/>
    <a:srgbClr val="FF99FF"/>
    <a:srgbClr val="CCFFFF"/>
    <a:srgbClr val="FFCC99"/>
    <a:srgbClr val="FF99CC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5" d="100"/>
          <a:sy n="125" d="100"/>
        </p:scale>
        <p:origin x="1128" y="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gs" Target="tags/tag2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485900"/>
            <a:ext cx="7772400" cy="1407321"/>
          </a:xfrm>
        </p:spPr>
        <p:txBody>
          <a:bodyPr anchor="b"/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893221"/>
            <a:ext cx="6400800" cy="13149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890612"/>
            <a:ext cx="7772400" cy="1395638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767321"/>
            <a:ext cx="7772400" cy="112590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l">
              <a:buNone/>
              <a:defRPr sz="1800">
                <a:solidFill>
                  <a:schemeClr val="tx2"/>
                </a:solidFill>
              </a:defRPr>
            </a:lvl2pPr>
            <a:lvl3pPr marL="914400" indent="0" algn="l">
              <a:buNone/>
              <a:defRPr sz="1600">
                <a:solidFill>
                  <a:schemeClr val="tx2"/>
                </a:solidFill>
              </a:defRPr>
            </a:lvl3pPr>
            <a:lvl4pPr marL="1371600" indent="0" algn="l">
              <a:buNone/>
              <a:defRPr sz="1400">
                <a:solidFill>
                  <a:schemeClr val="tx2"/>
                </a:solidFill>
              </a:defRPr>
            </a:lvl4pPr>
            <a:lvl5pPr marL="1828800" indent="0" algn="l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9525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6251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2938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  <a:ea typeface="华文行楷" panose="02010800040101010101" pitchFamily="2" charset="-122"/>
              </a:rPr>
            </a:fld>
            <a:endParaRPr lang="en-US" altLang="zh-CN" dirty="0">
              <a:solidFill>
                <a:srgbClr val="FFFFFF"/>
              </a:solidFill>
              <a:ea typeface="华文行楷" panose="02010800040101010101" pitchFamily="2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258" y="285750"/>
            <a:ext cx="2667000" cy="1375166"/>
          </a:xfrm>
        </p:spPr>
        <p:txBody>
          <a:bodyPr/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0" y="285750"/>
            <a:ext cx="5410200" cy="430887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6258" y="1660915"/>
            <a:ext cx="2667000" cy="29341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6"/>
          <p:cNvGrpSpPr/>
          <p:nvPr/>
        </p:nvGrpSpPr>
        <p:grpSpPr>
          <a:xfrm>
            <a:off x="1581150" y="415925"/>
            <a:ext cx="7348538" cy="3556000"/>
            <a:chOff x="428596" y="553734"/>
            <a:chExt cx="7349244" cy="4741531"/>
          </a:xfrm>
        </p:grpSpPr>
        <p:sp>
          <p:nvSpPr>
            <p:cNvPr id="8" name="矩形 7"/>
            <p:cNvSpPr/>
            <p:nvPr/>
          </p:nvSpPr>
          <p:spPr>
            <a:xfrm rot="21480000">
              <a:off x="428596" y="581252"/>
              <a:ext cx="7339718" cy="4714013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21540000">
              <a:off x="438122" y="570668"/>
              <a:ext cx="7339718" cy="4716130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38122" y="553734"/>
              <a:ext cx="7339718" cy="4714014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51912" y="459582"/>
            <a:ext cx="7215238" cy="3451631"/>
          </a:xfrm>
          <a:solidFill>
            <a:schemeClr val="bg2">
              <a:tint val="75000"/>
            </a:schemeClr>
          </a:solidFill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46472"/>
            <a:ext cx="1357290" cy="4268420"/>
          </a:xfrm>
          <a:noFill/>
        </p:spPr>
        <p:txBody>
          <a:bodyPr vert="eaVert"/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14480" y="4111243"/>
            <a:ext cx="7215238" cy="603647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9525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86251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992938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ea typeface="华文行楷" panose="02010800040101010101" pitchFamily="2" charset="-122"/>
              </a:rPr>
            </a:fld>
            <a:endParaRPr lang="en-US" altLang="zh-CN" dirty="0"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05980"/>
            <a:ext cx="1400156" cy="4388644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829444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43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525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6251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2938" y="4862513"/>
            <a:ext cx="2133600" cy="274638"/>
          </a:xfrm>
          <a:prstGeom prst="rect">
            <a:avLst/>
          </a:prstGeom>
        </p:spPr>
        <p:txBody>
          <a:bodyPr vert="horz" rtlCol="0" anchor="ctr"/>
          <a:lstStyle>
            <a:lvl1pPr algn="r">
              <a:defRPr sz="1200">
                <a:solidFill>
                  <a:srgbClr val="898989"/>
                </a:solidFill>
                <a:ea typeface="华文行楷" panose="0201080004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Cambria" panose="020405030504060302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Cambria" panose="020405030504060302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Cambria" panose="020405030504060302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FFFF"/>
          </a:solidFill>
          <a:latin typeface="Cambria" panose="02040503050406030204" pitchFamily="18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Cambria" panose="02040503050406030204" pitchFamily="18" charset="0"/>
        <a:buChar char="+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Cambria" panose="02040503050406030204" pitchFamily="18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Ï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Calibri" panose="020F0502020204030204" pitchFamily="34" charset="0"/>
        <a:buChar char="÷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Font typeface="Cambria" panose="02040503050406030204" pitchFamily="18" charset="0"/>
        <a:buChar char="=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oceanfdn.org/ocean-and-climate-change/" TargetMode="External"/><Relationship Id="rId3" Type="http://schemas.openxmlformats.org/officeDocument/2006/relationships/hyperlink" Target="https://www.epa.gov/climate-indicators/oceans" TargetMode="External"/><Relationship Id="rId2" Type="http://schemas.openxmlformats.org/officeDocument/2006/relationships/hyperlink" Target="https://en.wikipedia.org/wiki/Cliamte_change(general_concept)" TargetMode="External"/><Relationship Id="rId1" Type="http://schemas.openxmlformats.org/officeDocument/2006/relationships/hyperlink" Target="https://simple.wikipedia.org/wiki/Climate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" y="514350"/>
            <a:ext cx="8763000" cy="2302671"/>
          </a:xfrm>
          <a:noFill/>
          <a:ln>
            <a:noFill/>
          </a:ln>
          <a:effectLst/>
          <a:sp3d prstMaterial="plastic"/>
        </p:spPr>
        <p:txBody>
          <a:bodyPr vert="horz" rtlCol="0" anchor="b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OCEAN IN </a:t>
            </a:r>
            <a:r>
              <a:rPr kumimoji="0" lang="en-US" altLang="zh-CN" sz="7200" b="1" i="0" u="none" strike="noStrike" kern="1200" cap="all" spc="50" normalizeH="0" baseline="0" noProof="0" err="1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TIMEs</a:t>
            </a:r>
            <a:r>
              <a:rPr kumimoji="0" lang="en-US" altLang="zh-CN" sz="72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OF INTENSE CHANGE</a:t>
            </a:r>
            <a:endParaRPr kumimoji="0" lang="zh-CN" altLang="en-US" sz="7200" b="1" i="0" u="none" strike="noStrike" kern="1200" cap="all" spc="50" normalizeH="0" baseline="0" noProof="0">
              <a:ln w="1587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333750"/>
            <a:ext cx="8991600" cy="1485900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bria" panose="02040503050406030204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Pei Sun 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Loh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, Ocean College, Zhejiang University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MV Boli" panose="02000500030200090000" pitchFamily="2" charset="0"/>
              <a:ea typeface="+mn-ea"/>
              <a:cs typeface="MV Boli" panose="0200050003020009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bria" panose="02040503050406030204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MV Boli" panose="02000500030200090000" pitchFamily="2" charset="0"/>
                <a:ea typeface="+mn-ea"/>
                <a:cs typeface="MV Boli" panose="02000500030200090000" pitchFamily="2" charset="0"/>
              </a:rPr>
              <a:t>7 May 2026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MV Boli" panose="02000500030200090000" pitchFamily="2" charset="0"/>
              <a:ea typeface="+mn-ea"/>
              <a:cs typeface="MV Boli" panose="0200050003020009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波形 5"/>
          <p:cNvSpPr/>
          <p:nvPr/>
        </p:nvSpPr>
        <p:spPr>
          <a:xfrm>
            <a:off x="762000" y="590550"/>
            <a:ext cx="7693025" cy="3957955"/>
          </a:xfrm>
          <a:prstGeom prst="wave">
            <a:avLst>
              <a:gd name="adj1" fmla="val 12500"/>
              <a:gd name="adj2" fmla="val -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371600" y="1652905"/>
            <a:ext cx="6172200" cy="1833245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Lecture 1.2:</a:t>
            </a:r>
            <a:b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Climate change indicators</a:t>
            </a:r>
            <a:endParaRPr kumimoji="0" lang="zh-CN" altLang="en-US" sz="4000" b="1" i="0" u="none" strike="noStrike" kern="1200" cap="all" spc="50" normalizeH="0" baseline="0" noProof="0">
              <a:ln w="1587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228600" y="1428750"/>
            <a:ext cx="8153400" cy="3505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7474"/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	The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world’s oceans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7474"/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absorb some of heat energy from the sun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4F7474"/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7474"/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	Global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ocean heat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7474"/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content (OHC) increased from 1955 to 2015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4F7474"/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F7474"/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 Mostly caused by anthropogenic greenhouse gas emissions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4F7474"/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4F7474"/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OCEAN HEAT</a:t>
            </a:r>
            <a:endParaRPr kumimoji="0" lang="zh-CN" altLang="en-US" sz="4000" b="1" i="0" u="none" strike="noStrike" kern="1200" cap="all" spc="50" normalizeH="0" baseline="0" noProof="0" smtClean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543300"/>
          </a:xfrm>
        </p:spPr>
        <p:txBody>
          <a:bodyPr vert="horz" wrap="square" lIns="91440" tIns="45720" rIns="91440" bIns="45720" anchor="t" anchorCtr="0"/>
          <a:lstStyle/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4F7474"/>
                </a:solidFill>
                <a:ea typeface="华文行楷" panose="02010800040101010101" pitchFamily="2" charset="-122"/>
              </a:rPr>
              <a:t> Accumulation of heat in the ocean – increase ocean temperature</a:t>
            </a:r>
            <a:endParaRPr lang="en-US" altLang="zh-CN" dirty="0">
              <a:solidFill>
                <a:srgbClr val="4F7474"/>
              </a:solidFill>
              <a:ea typeface="华文行楷" panose="020108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4F7474"/>
                </a:solidFill>
                <a:ea typeface="华文行楷" panose="02010800040101010101" pitchFamily="2" charset="-122"/>
              </a:rPr>
              <a:t> Ocean’s thermal expansion - increase volume of water</a:t>
            </a:r>
            <a:endParaRPr lang="en-US" altLang="zh-CN" dirty="0">
              <a:solidFill>
                <a:srgbClr val="4F7474"/>
              </a:solidFill>
              <a:ea typeface="华文行楷" panose="020108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4F7474"/>
                </a:solidFill>
                <a:ea typeface="华文行楷" panose="02010800040101010101" pitchFamily="2" charset="-122"/>
              </a:rPr>
              <a:t> Major contribution to sea level rise</a:t>
            </a:r>
            <a:endParaRPr lang="en-US" altLang="zh-CN" dirty="0">
              <a:solidFill>
                <a:srgbClr val="4F7474"/>
              </a:solidFill>
              <a:ea typeface="华文行楷" panose="020108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4F7474"/>
                </a:solidFill>
                <a:ea typeface="华文行楷" panose="02010800040101010101" pitchFamily="2" charset="-122"/>
              </a:rPr>
              <a:t> Anthropogenic climate change </a:t>
            </a:r>
            <a:endParaRPr lang="zh-CN" altLang="en-US" dirty="0">
              <a:solidFill>
                <a:srgbClr val="4F7474"/>
              </a:solidFill>
              <a:ea typeface="华文行楷" panose="02010800040101010101" pitchFamily="2" charset="-122"/>
            </a:endParaRPr>
          </a:p>
          <a:p>
            <a:pPr>
              <a:buFont typeface="Cambria" panose="02040503050406030204" pitchFamily="18" charset="0"/>
              <a:buChar char="+"/>
            </a:pPr>
            <a:endParaRPr lang="zh-CN" altLang="en-US" dirty="0"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4" descr="C:\Users\Administrator\Desktop\ocean-heat-figure1-20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6200"/>
            <a:ext cx="7867650" cy="5010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09550"/>
            <a:ext cx="8264525" cy="4648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285750"/>
            <a:ext cx="8229600" cy="4457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Methods to measure OHC: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ambria" panose="02040503050406030204" pitchFamily="18" charset="0"/>
              <a:buChar char="–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direct observations of 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situ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temperature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ambria" panose="02040503050406030204" pitchFamily="18" charset="0"/>
              <a:buChar char="–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satellite-based measurements of the ocean</a:t>
            </a:r>
            <a:b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surface net heat fluxes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ambria" panose="02040503050406030204" pitchFamily="18" charset="0"/>
              <a:buChar char="–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satellite-based estimates of the thermal expansion of the ocean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Cambria" panose="02040503050406030204" pitchFamily="18" charset="0"/>
              <a:buChar char="–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ocean analyses that assimilate observations from both satellite and </a:t>
            </a:r>
            <a:r>
              <a:rPr kumimoji="0" lang="en-US" altLang="zh-CN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situ 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instruments </a:t>
            </a:r>
            <a:b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内容占位符 2"/>
          <p:cNvSpPr>
            <a:spLocks noGrp="1"/>
          </p:cNvSpPr>
          <p:nvPr>
            <p:ph idx="1"/>
          </p:nvPr>
        </p:nvSpPr>
        <p:spPr>
          <a:xfrm>
            <a:off x="838200" y="1123950"/>
            <a:ext cx="7772400" cy="3124200"/>
          </a:xfrm>
        </p:spPr>
        <p:txBody>
          <a:bodyPr vert="horz" wrap="square" lIns="91440" tIns="45720" rIns="91440" bIns="45720" anchor="t" anchorCtr="0"/>
          <a:lstStyle/>
          <a:p>
            <a:pPr lvl="1">
              <a:buNone/>
            </a:pPr>
            <a:r>
              <a:rPr lang="en-US" altLang="zh-CN" dirty="0">
                <a:solidFill>
                  <a:srgbClr val="4F7474"/>
                </a:solidFill>
                <a:ea typeface="华文行楷" panose="02010800040101010101" pitchFamily="2" charset="-122"/>
              </a:rPr>
              <a:t>	</a:t>
            </a:r>
            <a:endParaRPr lang="en-US" altLang="zh-CN" dirty="0">
              <a:solidFill>
                <a:srgbClr val="4F7474"/>
              </a:solidFill>
              <a:ea typeface="华文行楷" panose="020108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4F7474"/>
                </a:solidFill>
                <a:ea typeface="华文行楷" panose="02010800040101010101" pitchFamily="2" charset="-122"/>
              </a:rPr>
              <a:t>  Temperature of the water at the ocean surface</a:t>
            </a:r>
            <a:endParaRPr lang="en-US" altLang="zh-CN" dirty="0">
              <a:solidFill>
                <a:srgbClr val="4F7474"/>
              </a:solidFill>
              <a:ea typeface="华文行楷" panose="020108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4F7474"/>
                </a:solidFill>
                <a:ea typeface="华文行楷" panose="02010800040101010101" pitchFamily="2" charset="-122"/>
              </a:rPr>
              <a:t>	Continues to rise from 1901 to 2015</a:t>
            </a:r>
            <a:endParaRPr lang="en-US" altLang="zh-CN" dirty="0">
              <a:solidFill>
                <a:srgbClr val="4F7474"/>
              </a:solidFill>
              <a:ea typeface="华文行楷" panose="020108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4F7474"/>
              </a:solidFill>
              <a:ea typeface="华文行楷" panose="02010800040101010101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SEA SURFACE TEMPERATURE</a:t>
            </a:r>
            <a:endParaRPr kumimoji="0" lang="zh-CN" altLang="en-US" sz="4000" b="1" i="0" u="none" strike="noStrike" kern="1200" cap="all" spc="50" normalizeH="0" baseline="0" noProof="0" smtClean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4" descr="C:\Users\Administrator\Desktop\sea-surface-temp-figure1-20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Since 1970s, there has been more than 50% increase of </a:t>
            </a:r>
            <a:r>
              <a:rPr kumimoji="0" lang="en-US" altLang="zh-C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methylmercury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in the tissues of the Atlantic blue fin tuna due to increased seawater temperature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Fish are predominant source of human exposure to </a:t>
            </a:r>
            <a:r>
              <a:rPr kumimoji="0" lang="en-US" altLang="zh-C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methylmercury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987" name="TextBox 4"/>
          <p:cNvSpPr txBox="1"/>
          <p:nvPr/>
        </p:nvSpPr>
        <p:spPr>
          <a:xfrm>
            <a:off x="762000" y="325438"/>
            <a:ext cx="76200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600" b="1" dirty="0">
                <a:latin typeface="David" panose="020E0502060401010101" pitchFamily="34" charset="-79"/>
                <a:ea typeface="David" panose="020E0502060401010101" pitchFamily="34" charset="-79"/>
              </a:rPr>
              <a:t>Increased bioaccumulation …</a:t>
            </a:r>
            <a:endParaRPr lang="zh-CN" altLang="en-US" sz="3600" b="1" dirty="0">
              <a:latin typeface="David" panose="020E0502060401010101" pitchFamily="34" charset="-79"/>
              <a:ea typeface="David" panose="020E0502060401010101" pitchFamily="3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Caused mass mortalities, harmful algae bloom, decline in kelp bed and changes in species distribution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Great Barrier Reef experienced </a:t>
            </a:r>
            <a:r>
              <a:rPr kumimoji="0" lang="en-US" altLang="zh-C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heatwave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in 2016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</p:txBody>
      </p:sp>
      <p:sp>
        <p:nvSpPr>
          <p:cNvPr id="43011" name="TextBox 4"/>
          <p:cNvSpPr txBox="1"/>
          <p:nvPr/>
        </p:nvSpPr>
        <p:spPr>
          <a:xfrm>
            <a:off x="838200" y="361950"/>
            <a:ext cx="76200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600" b="1" dirty="0">
                <a:latin typeface="David" panose="020E0502060401010101" pitchFamily="34" charset="-79"/>
                <a:ea typeface="David" panose="020E0502060401010101" pitchFamily="34" charset="-79"/>
              </a:rPr>
              <a:t>Marine heatwave</a:t>
            </a:r>
            <a:endParaRPr lang="zh-CN" altLang="en-US" sz="3600" b="1" dirty="0">
              <a:latin typeface="David" panose="020E0502060401010101" pitchFamily="34" charset="-79"/>
              <a:ea typeface="David" panose="020E0502060401010101" pitchFamily="3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138" y="-26987"/>
            <a:ext cx="5657850" cy="5113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905000" y="3714750"/>
            <a:ext cx="17526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05000" y="4705350"/>
            <a:ext cx="17526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33800" y="3943350"/>
            <a:ext cx="17526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" y="-12700"/>
            <a:ext cx="5473700" cy="51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5867400" y="198438"/>
            <a:ext cx="2819400" cy="2678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Localized and abrupt temperature increase have caused loss of bull kelp</a:t>
            </a:r>
            <a:endParaRPr kumimoji="0" lang="en-US" altLang="zh-CN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Increased density of invasive species</a:t>
            </a:r>
            <a:endParaRPr kumimoji="0" lang="zh-CN" altLang="en-US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5060" name="Picture 4" descr="C:\Users\Administrator\Desktop\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225" y="2952750"/>
            <a:ext cx="2390775" cy="1914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0"/>
            <a:ext cx="49911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5791200" y="590550"/>
            <a:ext cx="281940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Marine </a:t>
            </a:r>
            <a:r>
              <a:rPr kumimoji="0" lang="en-US" altLang="zh-CN" sz="2400" kern="1200" cap="none" spc="0" normalizeH="0" baseline="0" noProof="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heatwaves</a:t>
            </a: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have caused reduction in kelp, and decrease in their fronds</a:t>
            </a:r>
            <a:endParaRPr kumimoji="0" lang="en-US" altLang="zh-CN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Reduction in fish and invertebrates abundance</a:t>
            </a:r>
            <a:endParaRPr kumimoji="0" lang="zh-CN" altLang="en-US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/>
          </p:cNvPicPr>
          <p:nvPr/>
        </p:nvPicPr>
        <p:blipFill>
          <a:blip r:embed="rId1"/>
          <a:srcRect r="4497"/>
          <a:stretch>
            <a:fillRect/>
          </a:stretch>
        </p:blipFill>
        <p:spPr>
          <a:xfrm>
            <a:off x="0" y="0"/>
            <a:ext cx="55626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5715000" y="322263"/>
            <a:ext cx="3276600" cy="41544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Geographical shifts – distribution of fish</a:t>
            </a:r>
            <a:endParaRPr kumimoji="0" lang="en-US" altLang="zh-CN" sz="2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2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Reduced abundance of seaweed, but increased in other species</a:t>
            </a:r>
            <a:endParaRPr kumimoji="0" lang="en-US" altLang="zh-CN" sz="2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2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Mortality of sea lions, whales, sea birds</a:t>
            </a:r>
            <a:endParaRPr kumimoji="0" lang="en-US" altLang="zh-CN" sz="2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2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Millions of dollars losses among fish industries</a:t>
            </a:r>
            <a:endParaRPr kumimoji="0" lang="zh-CN" altLang="en-US" sz="2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3" y="114300"/>
            <a:ext cx="5189537" cy="4972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5638800" y="590550"/>
            <a:ext cx="28194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Studies have projected there will be:</a:t>
            </a:r>
            <a:endParaRPr kumimoji="0" lang="en-US" altLang="zh-CN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514350" marR="0" indent="-514350" defTabSz="914400">
              <a:buClrTx/>
              <a:buSzTx/>
              <a:buFontTx/>
              <a:buAutoNum type="romanLcParenBoth"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Increase in the numbers and</a:t>
            </a:r>
            <a:endParaRPr kumimoji="0" lang="en-US" altLang="zh-CN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514350" marR="0" indent="-514350" defTabSz="914400">
              <a:buClrTx/>
              <a:buSzTx/>
              <a:buFontTx/>
              <a:buAutoNum type="romanLcParenBoth"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Intensity of marine </a:t>
            </a:r>
            <a:r>
              <a:rPr kumimoji="0" lang="en-US" altLang="zh-CN" sz="2400" kern="1200" cap="none" spc="0" normalizeH="0" baseline="0" noProof="0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heatwaves</a:t>
            </a: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895350"/>
            <a:ext cx="87630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Affect plants, animals and microbes species - growth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Mass migration – search for right conditions for feeding and spawning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Alter breeding patterns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Threaten sensitive ocean life such as corals – stress and diseases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 the frequency and intensity of harmful algal blooms such as “red tide”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155" name="TextBox 4"/>
          <p:cNvSpPr txBox="1"/>
          <p:nvPr/>
        </p:nvSpPr>
        <p:spPr>
          <a:xfrm>
            <a:off x="609600" y="133350"/>
            <a:ext cx="76200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600" b="1" dirty="0">
                <a:latin typeface="David" panose="020E0502060401010101" pitchFamily="34" charset="-79"/>
                <a:ea typeface="David" panose="020E0502060401010101" pitchFamily="34" charset="-79"/>
              </a:rPr>
              <a:t>Threatens ocean lives</a:t>
            </a:r>
            <a:endParaRPr lang="zh-CN" altLang="en-US" sz="3600" b="1" dirty="0">
              <a:latin typeface="David" panose="020E0502060401010101" pitchFamily="34" charset="-79"/>
              <a:ea typeface="David" panose="020E0502060401010101" pitchFamily="3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457200" y="895350"/>
            <a:ext cx="8229600" cy="40005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Affect circulation patterns that bring nutrients from the deep sea to surface waters</a:t>
            </a:r>
            <a:endParaRPr kumimoji="0" lang="en-US" altLang="zh-CN" sz="3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Changes in reef habitat and nutrient supply could alter ocean ecosystems and lead to declines in fish populations </a:t>
            </a:r>
            <a:endParaRPr kumimoji="0" lang="en-US" altLang="zh-CN" sz="3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Affect people who depend on fishing for food or jobs – fish is important protein source</a:t>
            </a:r>
            <a:endParaRPr kumimoji="0" lang="zh-CN" altLang="en-US" sz="3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179" name="TextBox 4"/>
          <p:cNvSpPr txBox="1"/>
          <p:nvPr/>
        </p:nvSpPr>
        <p:spPr>
          <a:xfrm>
            <a:off x="838200" y="209550"/>
            <a:ext cx="76200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600" b="1" dirty="0">
                <a:latin typeface="David" panose="020E0502060401010101" pitchFamily="34" charset="-79"/>
                <a:ea typeface="David" panose="020E0502060401010101" pitchFamily="34" charset="-79"/>
              </a:rPr>
              <a:t>Ocean circulation</a:t>
            </a:r>
            <a:endParaRPr lang="zh-CN" altLang="en-US" sz="3600" b="1" dirty="0">
              <a:latin typeface="David" panose="020E0502060401010101" pitchFamily="34" charset="-79"/>
              <a:ea typeface="David" panose="020E0502060401010101" pitchFamily="3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742950"/>
            <a:ext cx="8534400" cy="4191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Changes in sea surface temperature have profound effects on global climate 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Increases in sea surface temperature - cause increase amount of atmospheric water vapor over the oceans 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water vapor feeds weather systems that produce precipitation, increasing the risk of heavy rain and snow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03" name="TextBox 4"/>
          <p:cNvSpPr txBox="1"/>
          <p:nvPr/>
        </p:nvSpPr>
        <p:spPr>
          <a:xfrm>
            <a:off x="685800" y="133350"/>
            <a:ext cx="76200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600" b="1" dirty="0">
                <a:latin typeface="David" panose="020E0502060401010101" pitchFamily="34" charset="-79"/>
                <a:ea typeface="David" panose="020E0502060401010101" pitchFamily="34" charset="-79"/>
              </a:rPr>
              <a:t>Global climate</a:t>
            </a:r>
            <a:endParaRPr lang="zh-CN" altLang="en-US" sz="3600" b="1" dirty="0">
              <a:latin typeface="David" panose="020E0502060401010101" pitchFamily="34" charset="-79"/>
              <a:ea typeface="David" panose="020E0502060401010101" pitchFamily="3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457200" y="1047750"/>
            <a:ext cx="8229600" cy="38862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Changes in sea surface temperature can shift storm tracks, potentially contributing to droughts in some areas</a:t>
            </a:r>
            <a:endParaRPr kumimoji="0" lang="en-US" altLang="zh-CN" sz="3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Other: Lengthen growth season for certain bacteria that can contaminate seafood and cause food-borne illnesses, thereby increasing the risk of health effects</a:t>
            </a:r>
            <a:endParaRPr kumimoji="0" lang="en-US" altLang="zh-CN" sz="3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endParaRPr kumimoji="0" lang="zh-CN" altLang="en-US" sz="32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2227" name="TextBox 4"/>
          <p:cNvSpPr txBox="1"/>
          <p:nvPr/>
        </p:nvSpPr>
        <p:spPr>
          <a:xfrm>
            <a:off x="838200" y="285750"/>
            <a:ext cx="76200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600" b="1" dirty="0">
                <a:latin typeface="David" panose="020E0502060401010101" pitchFamily="34" charset="-79"/>
                <a:ea typeface="David" panose="020E0502060401010101" pitchFamily="34" charset="-79"/>
              </a:rPr>
              <a:t>&amp; extreme weather</a:t>
            </a:r>
            <a:endParaRPr lang="zh-CN" altLang="en-US" sz="3600" b="1" dirty="0">
              <a:latin typeface="David" panose="020E0502060401010101" pitchFamily="34" charset="-79"/>
              <a:ea typeface="David" panose="020E0502060401010101" pitchFamily="34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617855" y="1200150"/>
            <a:ext cx="7992745" cy="3220720"/>
          </a:xfrm>
          <a:prstGeom prst="rect">
            <a:avLst/>
          </a:prstGeom>
        </p:spPr>
        <p:txBody>
          <a:bodyPr/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When averaged over all of the world’s oceans, absolute sea level has risen at an average rate of 0.15 cm per year from 1880 to 2013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Since 1993, average sea level has risen at a rate of 0.28 to 0.36 cm per year—roughly twice as fast as the long-term trend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4000" b="1" kern="1200" cap="all" spc="50" normalizeH="0" baseline="0" noProof="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SEA LEVEL</a:t>
            </a:r>
            <a:endParaRPr kumimoji="0" lang="zh-CN" altLang="en-US" sz="4000" b="1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C:\Users\Administrator\Desktop\sea-level-figure1-20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0"/>
            <a:ext cx="82296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457200" y="742950"/>
            <a:ext cx="8229600" cy="31242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Threats of climate change to sea level: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When ice from land melts, it affects sea level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When water warms, it expands, thus affecting sea level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381000" y="361950"/>
            <a:ext cx="8534400" cy="41910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Effects of sea level rise: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(1)	Flooding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More frequent; more locations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Coastal cities affected – huge loss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Inundate small islands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Survival of coastal wetlands (mangroves, salt marsh, sea grass) and habitats (turtle nesting)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381000" y="361950"/>
            <a:ext cx="8534400" cy="4495800"/>
          </a:xfrm>
          <a:prstGeom prst="rect">
            <a:avLst/>
          </a:prstGeom>
        </p:spPr>
        <p:txBody>
          <a:bodyPr/>
          <a:lstStyle/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Tx/>
              <a:buAutoNum type="arabicParenBoth" startAt="2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Increased erosion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Tx/>
              <a:buAutoNum type="arabicParenBoth" startAt="2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Worsen damage from hurricanes – huge damage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Tx/>
              <a:buAutoNum type="arabicParenBoth" startAt="2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Increase migration – people are fleeing low lying areas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Tx/>
              <a:buAutoNum type="arabicParenBoth" startAt="2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Seawater intrusion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Increases flow of salt water into estuaries and nearby groundwater aquifers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Destroy habitats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Threatens agriculture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04800" y="190500"/>
            <a:ext cx="86868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Discussions – global warming</a:t>
            </a:r>
            <a:endParaRPr kumimoji="0" lang="zh-CN" altLang="en-US" sz="4000" b="1" i="0" u="none" strike="noStrike" kern="1200" cap="all" spc="50" normalizeH="0" baseline="0" noProof="0">
              <a:ln w="15875" cmpd="sng">
                <a:solidFill>
                  <a:srgbClr val="FFFFFF"/>
                </a:solidFill>
                <a:prstDash val="solid"/>
              </a:ln>
              <a:solidFill>
                <a:srgbClr val="FFFF00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" y="1108075"/>
          <a:ext cx="8839200" cy="3815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861"/>
                <a:gridCol w="2124808"/>
                <a:gridCol w="1784839"/>
                <a:gridCol w="1699846"/>
                <a:gridCol w="1699846"/>
              </a:tblGrid>
              <a:tr h="876542">
                <a:tc rowSpan="2">
                  <a:txBody>
                    <a:bodyPr/>
                    <a:lstStyle/>
                    <a:p>
                      <a:pPr algn="ctr"/>
                      <a:endParaRPr lang="en-US" altLang="zh-CN" sz="1400" dirty="0" smtClean="0"/>
                    </a:p>
                    <a:p>
                      <a:pPr algn="ctr"/>
                      <a:endParaRPr lang="en-US" altLang="zh-CN" sz="1400" dirty="0" smtClean="0"/>
                    </a:p>
                    <a:p>
                      <a:pPr algn="ctr"/>
                      <a:r>
                        <a:rPr lang="en-US" altLang="zh-CN" sz="1400" dirty="0" smtClean="0"/>
                        <a:t>Causes</a:t>
                      </a:r>
                      <a:endParaRPr lang="zh-CN" altLang="en-US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Effects</a:t>
                      </a:r>
                      <a:endParaRPr lang="zh-CN" altLang="en-US" sz="1400" dirty="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76542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On Biodiversity</a:t>
                      </a:r>
                      <a:endParaRPr lang="zh-CN" altLang="en-US" sz="14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On Ocean</a:t>
                      </a:r>
                      <a:endParaRPr lang="zh-CN" altLang="en-US" sz="14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On Humans</a:t>
                      </a:r>
                      <a:endParaRPr lang="zh-CN" altLang="en-US" sz="14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On Weather</a:t>
                      </a:r>
                      <a:endParaRPr lang="zh-CN" altLang="en-US" sz="14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07839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507839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507839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507839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228600" y="1352550"/>
            <a:ext cx="8610600" cy="3505200"/>
          </a:xfrm>
          <a:prstGeom prst="rect">
            <a:avLst/>
          </a:prstGeom>
        </p:spPr>
        <p:txBody>
          <a:bodyPr/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Flooding - more frequent along coastline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Relative sea level change - height of the ocean relative to the land at a particular location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Sea level rises - one of the most noticeable consequences is increase in coastal flooding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4000" b="1" kern="1200" cap="all" spc="50" normalizeH="0" baseline="0" noProof="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COASTAL FLOODING</a:t>
            </a:r>
            <a:endParaRPr kumimoji="0" lang="zh-CN" altLang="en-US" sz="4000" b="1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533400" y="438150"/>
            <a:ext cx="8229600" cy="41148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Flooding usually occurs during high tides and storms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In recent years, coastal cities are increasingly flooding on days with less extreme tides or little wind, even on sunny days 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Floods are happening more often because rising sea level reduces the gap between average sea level and the height of the land</a:t>
            </a:r>
            <a:endParaRPr kumimoji="0" lang="zh-CN" altLang="en-US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533400" y="133350"/>
            <a:ext cx="8229600" cy="31242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Minor flooding typically occurs in some streets, many storm drains become ineffective</a:t>
            </a:r>
            <a:endParaRPr kumimoji="0" lang="en-US" altLang="zh-CN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Recurrent coastal flooding can cause impacts such as frequent road closures, reduced </a:t>
            </a:r>
            <a:r>
              <a:rPr kumimoji="0" lang="en-US" altLang="zh-CN" sz="2400" kern="1200" cap="none" spc="0" normalizeH="0" baseline="0" noProof="0" dirty="0" err="1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stormwater</a:t>
            </a:r>
            <a:r>
              <a:rPr kumimoji="0" lang="en-US" altLang="zh-CN" sz="24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drainage capacity, and deterioration of infrastructure not designed to withstand frequent inundation or exposure to salt water.</a:t>
            </a:r>
            <a:endParaRPr kumimoji="0" lang="zh-CN" altLang="en-US" sz="24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C:\Users\Administrator\Desktop\Flood-in-Dagupan-City-Pangasinan-Aerial-View-Project-LUPAD-1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2571750"/>
            <a:ext cx="2895599" cy="21717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 descr="C:\Users\Administrator\Desktop\R46abbd6be0b4c1a8c2251a790768bd4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800350"/>
            <a:ext cx="3074020" cy="203281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 descr="C:\Users\Administrator\Desktop\R19a586a3b0e0d7cee7ba25da6b1eca4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495550"/>
            <a:ext cx="3276600" cy="21912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381000" y="438150"/>
            <a:ext cx="8077200" cy="411480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+mj-ea"/>
                <a:cs typeface="+mn-cs"/>
              </a:rPr>
              <a:t>These impacts are of particular concern – millions of people live in areas susceptible to coastal flooding, and more than trillions of property and structures is within a few feet of current sea level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j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+mj-ea"/>
                <a:cs typeface="+mn-cs"/>
              </a:rPr>
              <a:t>Affect human health — increasing the risk that drinking water and wastewater infrastructure will fail; people at risk of exposure to pathogens and harmful chemicals</a:t>
            </a:r>
            <a:endParaRPr kumimoji="0" lang="zh-CN" altLang="en-US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838200" y="1657350"/>
            <a:ext cx="7772400" cy="3276600"/>
          </a:xfrm>
          <a:prstGeom prst="rect">
            <a:avLst/>
          </a:prstGeom>
        </p:spPr>
        <p:txBody>
          <a:bodyPr/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ocean 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levels have risen in response to increased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in the atmosphere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increase in acidity, decrease in pH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57200" y="342900"/>
            <a:ext cx="8229600" cy="857250"/>
          </a:xfrm>
          <a:prstGeom prst="rect">
            <a:avLst/>
          </a:prstGeom>
        </p:spPr>
        <p:txBody>
          <a:bodyPr/>
          <a:lstStyle/>
          <a:p>
            <a:pPr marR="0" algn="ctr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4000" b="1" kern="1200" cap="all" spc="50" normalizeH="0" baseline="0" noProof="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  <a:ea typeface="宋体" panose="02010600030101010101" pitchFamily="2" charset="-122"/>
                <a:cs typeface="+mj-cs"/>
              </a:rPr>
              <a:t>OCEAN ACIDIFICATION</a:t>
            </a:r>
            <a:endParaRPr kumimoji="0" lang="zh-CN" altLang="en-US" sz="4000" b="1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152400" y="819150"/>
            <a:ext cx="8763000" cy="4114800"/>
          </a:xfrm>
          <a:prstGeom prst="rect">
            <a:avLst/>
          </a:prstGeom>
        </p:spPr>
        <p:txBody>
          <a:bodyPr/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Dissolving 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increases H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ions: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aq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 + H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O       H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  HCO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+ H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 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2-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+ 2H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Calcium carbonate reacts with acids, releasing 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CaCO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3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(s) + 2H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+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aq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)        Ca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2+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aq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) + CO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(g) + H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华文行楷" panose="02010800040101010101" pitchFamily="2" charset="-122"/>
              </a:rPr>
              <a:t>O(l)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华文行楷" panose="0201080004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2895600" y="150495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6400800" y="150495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4343400" y="150495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3505200" y="302895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2895600" y="165735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6400800" y="165735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4343400" y="165735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505200" y="318135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533400" y="438150"/>
            <a:ext cx="8229600" cy="4114800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 Increased </a:t>
            </a: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</a:t>
            </a:r>
            <a:r>
              <a:rPr kumimoji="0" lang="en-US" altLang="zh-CN" sz="2800" kern="1200" cap="none" spc="0" normalizeH="0" baseline="-2500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has led to lower aragonite saturation levels in the oceans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 More difficult for certain organisms to build and maintain their skeletons and shells.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 The largest decreases in aragonite saturation have occurred in tropical waters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 Decreases in cold areas may be of greater concern because colder waters typically have lower aragonite saturation levels to begin with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endParaRPr kumimoji="0" lang="zh-CN" altLang="en-US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533400" y="438150"/>
            <a:ext cx="8229600" cy="4114800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Rising levels of carbon dioxide dissolved in the ocean can have a negative effect on some marine life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</a:t>
            </a:r>
            <a:r>
              <a:rPr kumimoji="0" lang="en-US" altLang="zh-CN" sz="2800" kern="1200" cap="none" spc="0" normalizeH="0" baseline="-25000" noProof="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reacts with sea water to produce carbonic acid 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The resulting increase in acidity (measured by lower pH values) changes the balance of minerals in the water</a:t>
            </a:r>
            <a:endParaRPr kumimoji="0" lang="zh-CN" altLang="en-US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304800" y="57150"/>
            <a:ext cx="8458200" cy="3124200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 More difficult for corals, some types of plankton, and other creatures to produce a mineral called calcium carbonate, which is the main ingredient in their hard skeletons or shells. </a:t>
            </a:r>
            <a:endParaRPr kumimoji="0" lang="en-US" altLang="zh-CN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kern="1200" cap="none" spc="0" normalizeH="0" baseline="0" noProof="0" dirty="0">
                <a:solidFill>
                  <a:schemeClr val="accent3">
                    <a:lumMod val="75000"/>
                  </a:schemeClr>
                </a:solidFill>
                <a:latin typeface="+mn-lt"/>
                <a:ea typeface="宋体" panose="02010600030101010101" pitchFamily="2" charset="-122"/>
                <a:cs typeface="+mn-cs"/>
              </a:rPr>
              <a:t>  Can ultimately affect fish populations and the people who depend on them</a:t>
            </a:r>
            <a:endParaRPr kumimoji="0" lang="zh-CN" altLang="en-US" sz="2800" kern="1200" cap="none" spc="0" normalizeH="0" baseline="0" noProof="0" dirty="0">
              <a:solidFill>
                <a:schemeClr val="accent3">
                  <a:lumMod val="75000"/>
                </a:schemeClr>
              </a:solidFill>
              <a:latin typeface="+mn-lt"/>
              <a:ea typeface="+mj-ea"/>
              <a:cs typeface="+mn-cs"/>
            </a:endParaRPr>
          </a:p>
        </p:txBody>
      </p:sp>
      <p:pic>
        <p:nvPicPr>
          <p:cNvPr id="67587" name="Picture 3" descr="C:\Users\Administrator\Desktop\8520824-3x2-xlar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363" y="2724150"/>
            <a:ext cx="3322637" cy="2216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88" name="Picture 4" descr="C:\Users\Administrator\Desktop\reef-side-by-s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95550"/>
            <a:ext cx="3733800" cy="2441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275" y="133350"/>
            <a:ext cx="5495925" cy="4868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905000" y="1657350"/>
            <a:ext cx="5410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05000" y="4171950"/>
            <a:ext cx="5410200" cy="228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HYPOXIA</a:t>
            </a:r>
            <a:endParaRPr kumimoji="0" lang="zh-CN" altLang="en-US" sz="4000" b="1" i="0" u="none" strike="noStrike" kern="1200" cap="all" spc="50" normalizeH="0" baseline="0" noProof="0" smtClean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371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Low or O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depletion in water 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Human activities, excess nutrients, warmer water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Algae bloom causes O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depletion when algae sink to bottom and decompose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Harmful algae bloom produce toxin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4"/>
          <p:cNvSpPr txBox="1"/>
          <p:nvPr/>
        </p:nvSpPr>
        <p:spPr>
          <a:xfrm>
            <a:off x="152400" y="685800"/>
            <a:ext cx="8915400" cy="590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</a:pPr>
            <a:r>
              <a:rPr lang="en-US" altLang="zh-CN" b="1" dirty="0">
                <a:latin typeface="Arial" panose="020B0604020202020204" pitchFamily="34" charset="0"/>
              </a:rPr>
              <a:t>106 CO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r>
              <a:rPr lang="en-US" altLang="zh-CN" b="1" dirty="0">
                <a:latin typeface="Arial" panose="020B0604020202020204" pitchFamily="34" charset="0"/>
              </a:rPr>
              <a:t> + 122 H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r>
              <a:rPr lang="en-US" altLang="zh-CN" b="1" dirty="0">
                <a:latin typeface="Arial" panose="020B0604020202020204" pitchFamily="34" charset="0"/>
              </a:rPr>
              <a:t>O + 16 HNO</a:t>
            </a:r>
            <a:r>
              <a:rPr lang="en-US" altLang="zh-CN" b="1" baseline="-25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 + H</a:t>
            </a:r>
            <a:r>
              <a:rPr lang="en-US" altLang="zh-CN" b="1" baseline="-25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PO</a:t>
            </a:r>
            <a:r>
              <a:rPr lang="en-US" altLang="zh-CN" b="1" baseline="-25000" dirty="0">
                <a:latin typeface="Arial" panose="020B0604020202020204" pitchFamily="34" charset="0"/>
              </a:rPr>
              <a:t>4</a:t>
            </a:r>
            <a:r>
              <a:rPr lang="en-US" altLang="zh-CN" b="1" dirty="0">
                <a:latin typeface="Arial" panose="020B0604020202020204" pitchFamily="34" charset="0"/>
              </a:rPr>
              <a:t>              (CH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r>
              <a:rPr lang="en-US" altLang="zh-CN" b="1" dirty="0">
                <a:latin typeface="Arial" panose="020B0604020202020204" pitchFamily="34" charset="0"/>
              </a:rPr>
              <a:t>O)</a:t>
            </a:r>
            <a:r>
              <a:rPr lang="en-US" altLang="zh-CN" b="1" baseline="-25000" dirty="0">
                <a:latin typeface="Arial" panose="020B0604020202020204" pitchFamily="34" charset="0"/>
              </a:rPr>
              <a:t>106</a:t>
            </a:r>
            <a:r>
              <a:rPr lang="en-US" altLang="zh-CN" b="1" dirty="0">
                <a:latin typeface="Arial" panose="020B0604020202020204" pitchFamily="34" charset="0"/>
              </a:rPr>
              <a:t>(NH</a:t>
            </a:r>
            <a:r>
              <a:rPr lang="en-US" altLang="zh-CN" b="1" baseline="-25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)16H</a:t>
            </a:r>
            <a:r>
              <a:rPr lang="en-US" altLang="zh-CN" b="1" baseline="-25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PO</a:t>
            </a:r>
            <a:r>
              <a:rPr lang="en-US" altLang="zh-CN" b="1" baseline="-25000" dirty="0">
                <a:latin typeface="Arial" panose="020B0604020202020204" pitchFamily="34" charset="0"/>
              </a:rPr>
              <a:t>4</a:t>
            </a:r>
            <a:r>
              <a:rPr lang="en-US" altLang="zh-CN" b="1" dirty="0">
                <a:latin typeface="Arial" panose="020B0604020202020204" pitchFamily="34" charset="0"/>
              </a:rPr>
              <a:t>  +  138 O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endParaRPr lang="en-US" altLang="zh-CN" b="1" baseline="-25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 2" panose="05020102010507070707" pitchFamily="18" charset="2"/>
            </a:pPr>
            <a:endParaRPr lang="en-US" altLang="zh-CN" b="1" baseline="-25000" dirty="0">
              <a:latin typeface="Arial" panose="020B0604020202020204" pitchFamily="34" charset="0"/>
            </a:endParaRPr>
          </a:p>
        </p:txBody>
      </p:sp>
      <p:sp>
        <p:nvSpPr>
          <p:cNvPr id="70659" name="TextBox 6"/>
          <p:cNvSpPr txBox="1"/>
          <p:nvPr/>
        </p:nvSpPr>
        <p:spPr>
          <a:xfrm>
            <a:off x="228600" y="2278063"/>
            <a:ext cx="86106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</a:rPr>
              <a:t>(CH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r>
              <a:rPr lang="en-US" altLang="zh-CN" b="1" dirty="0">
                <a:latin typeface="Arial" panose="020B0604020202020204" pitchFamily="34" charset="0"/>
              </a:rPr>
              <a:t>O)</a:t>
            </a:r>
            <a:r>
              <a:rPr lang="en-US" altLang="zh-CN" b="1" baseline="-25000" dirty="0">
                <a:latin typeface="Arial" panose="020B0604020202020204" pitchFamily="34" charset="0"/>
              </a:rPr>
              <a:t>106</a:t>
            </a:r>
            <a:r>
              <a:rPr lang="en-US" altLang="zh-CN" b="1" dirty="0">
                <a:latin typeface="Arial" panose="020B0604020202020204" pitchFamily="34" charset="0"/>
              </a:rPr>
              <a:t>(NH</a:t>
            </a:r>
            <a:r>
              <a:rPr lang="en-US" altLang="zh-CN" b="1" baseline="-25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)16H</a:t>
            </a:r>
            <a:r>
              <a:rPr lang="en-US" altLang="zh-CN" b="1" baseline="-25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PO</a:t>
            </a:r>
            <a:r>
              <a:rPr lang="en-US" altLang="zh-CN" b="1" baseline="-25000" dirty="0">
                <a:latin typeface="Arial" panose="020B0604020202020204" pitchFamily="34" charset="0"/>
              </a:rPr>
              <a:t>4</a:t>
            </a:r>
            <a:r>
              <a:rPr lang="en-US" altLang="zh-CN" b="1" dirty="0">
                <a:latin typeface="Arial" panose="020B0604020202020204" pitchFamily="34" charset="0"/>
              </a:rPr>
              <a:t>  +  138 O</a:t>
            </a:r>
            <a:r>
              <a:rPr lang="en-US" altLang="zh-CN" b="1" baseline="-25000" dirty="0">
                <a:latin typeface="Arial" panose="020B0604020202020204" pitchFamily="34" charset="0"/>
              </a:rPr>
              <a:t>2                 </a:t>
            </a:r>
            <a:r>
              <a:rPr lang="en-US" altLang="zh-CN" b="1" dirty="0">
                <a:latin typeface="Arial" panose="020B0604020202020204" pitchFamily="34" charset="0"/>
              </a:rPr>
              <a:t>106 CO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r>
              <a:rPr lang="en-US" altLang="zh-CN" b="1" dirty="0">
                <a:latin typeface="Arial" panose="020B0604020202020204" pitchFamily="34" charset="0"/>
              </a:rPr>
              <a:t> + 122 H</a:t>
            </a:r>
            <a:r>
              <a:rPr lang="en-US" altLang="zh-CN" b="1" baseline="-25000" dirty="0">
                <a:latin typeface="Arial" panose="020B0604020202020204" pitchFamily="34" charset="0"/>
              </a:rPr>
              <a:t>2</a:t>
            </a:r>
            <a:r>
              <a:rPr lang="en-US" altLang="zh-CN" b="1" dirty="0">
                <a:latin typeface="Arial" panose="020B0604020202020204" pitchFamily="34" charset="0"/>
              </a:rPr>
              <a:t>O + 16 HNO</a:t>
            </a:r>
            <a:r>
              <a:rPr lang="en-US" altLang="zh-CN" b="1" baseline="-25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 + H</a:t>
            </a:r>
            <a:r>
              <a:rPr lang="en-US" altLang="zh-CN" b="1" baseline="-25000" dirty="0">
                <a:latin typeface="Arial" panose="020B0604020202020204" pitchFamily="34" charset="0"/>
              </a:rPr>
              <a:t>3</a:t>
            </a:r>
            <a:r>
              <a:rPr lang="en-US" altLang="zh-CN" b="1" dirty="0">
                <a:latin typeface="Arial" panose="020B0604020202020204" pitchFamily="34" charset="0"/>
              </a:rPr>
              <a:t>PO</a:t>
            </a:r>
            <a:r>
              <a:rPr lang="en-US" altLang="zh-CN" b="1" baseline="-25000" dirty="0">
                <a:latin typeface="Arial" panose="020B0604020202020204" pitchFamily="34" charset="0"/>
              </a:rPr>
              <a:t>4</a:t>
            </a:r>
            <a:r>
              <a:rPr lang="zh-CN" altLang="en-US" dirty="0">
                <a:latin typeface="Arial" panose="020B0604020202020204" pitchFamily="34" charset="0"/>
              </a:rPr>
              <a:t>               </a:t>
            </a:r>
            <a:endParaRPr lang="en-US" altLang="zh-CN" b="1" baseline="-25000" dirty="0">
              <a:latin typeface="Arial" panose="020B060402020202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495800" y="81915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962400" y="241935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62" name="TextBox 10"/>
          <p:cNvSpPr txBox="1"/>
          <p:nvPr/>
        </p:nvSpPr>
        <p:spPr>
          <a:xfrm>
            <a:off x="2971800" y="2876550"/>
            <a:ext cx="2667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</a:rPr>
              <a:t>respiration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70663" name="TextBox 11"/>
          <p:cNvSpPr txBox="1"/>
          <p:nvPr/>
        </p:nvSpPr>
        <p:spPr>
          <a:xfrm>
            <a:off x="3733800" y="1209675"/>
            <a:ext cx="2667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</a:rPr>
              <a:t>photosynthesis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3971925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68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4410075" cy="188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4" name="TextBox 3"/>
          <p:cNvSpPr txBox="1"/>
          <p:nvPr/>
        </p:nvSpPr>
        <p:spPr>
          <a:xfrm>
            <a:off x="1447800" y="2724150"/>
            <a:ext cx="2971800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/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(1) What is the trend of these figures?</a:t>
            </a:r>
            <a:endParaRPr lang="en-US" altLang="zh-CN" sz="24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r"/>
            <a:endParaRPr lang="en-US" altLang="zh-CN" sz="24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r"/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(2) Explain why.</a:t>
            </a:r>
            <a:endParaRPr lang="zh-CN" altLang="en-US" sz="2400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BIODIVERSITY LOSS</a:t>
            </a:r>
            <a:endParaRPr kumimoji="0" lang="zh-CN" altLang="en-US" sz="4000" b="1" i="0" u="none" strike="noStrike" kern="1200" cap="all" spc="50" normalizeH="0" baseline="0" noProof="0" smtClean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382000" cy="3543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Water temperatures warming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Zooplankton species like </a:t>
            </a:r>
            <a:r>
              <a:rPr kumimoji="0" lang="en-US" altLang="zh-CN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Calanus</a:t>
            </a:r>
            <a:r>
              <a:rPr kumimoji="0" lang="en-US" altLang="zh-CN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finmarchicus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, a critical food supply, have changed their migration patterns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Whales follow their prey out of their migration route- danger to ship strikes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609600" y="666750"/>
            <a:ext cx="8229600" cy="3371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Distribution of parasites and pathogens will be affected by global warming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Transmission rates of parasites and pathogens are directly correlated to temperature, increasing temperature is increasing transmission rate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14300"/>
            <a:ext cx="82296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CORAL REEFS</a:t>
            </a:r>
            <a:endParaRPr kumimoji="0" lang="zh-CN" altLang="en-US" sz="4000" b="1" i="0" u="none" strike="noStrike" kern="1200" cap="all" spc="50" normalizeH="0" baseline="0" noProof="0" smtClean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2590800" y="1047750"/>
            <a:ext cx="3505200" cy="3657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Coral reefs support marine life and provide ecosystem services to people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Threats: overfishing, pollution, ocean acidification,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methods of fishing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4756" name="Picture 4" descr="C:\Users\Administrator\Desktop\fishin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57150"/>
            <a:ext cx="2333625" cy="1533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757" name="Picture 5" descr="C:\Users\Administrator\Desktop\akule-nets-coral-reef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57350"/>
            <a:ext cx="2362200" cy="1771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758" name="Picture 6" descr="C:\Users\Administrator\Desktop\The-Damage-of-Dynamite-Fishing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588" y="895350"/>
            <a:ext cx="3224212" cy="1746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759" name="Picture 7" descr="C:\Users\Administrator\Desktop\dynami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76550"/>
            <a:ext cx="2619375" cy="1743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760" name="Picture 8" descr="C:\Users\Administrator\Desktop\trawl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" y="3486150"/>
            <a:ext cx="2771775" cy="1647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457200" y="438150"/>
            <a:ext cx="8229600" cy="434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Cyclone – more intense, destruct coral reefs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Threats from water quality and fishing, but mainly increased temperature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Marine protected areas have been established to protect coral reefs and fish – these strategies have little effect as main stressor is rising ocean temperature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CCFF99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ARCTIC</a:t>
            </a:r>
            <a:endParaRPr kumimoji="0" lang="zh-CN" altLang="en-US" sz="4000" b="1" i="0" u="none" strike="noStrike" kern="1200" cap="all" spc="50" normalizeH="0" baseline="0" noProof="0" smtClean="0">
              <a:ln w="15875" cmpd="sng">
                <a:solidFill>
                  <a:srgbClr val="FFFFFF"/>
                </a:solidFill>
                <a:prstDash val="solid"/>
              </a:ln>
              <a:solidFill>
                <a:srgbClr val="CCFF99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85800" y="1333500"/>
            <a:ext cx="8153400" cy="3371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Rapid warming affects food web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Species migrate northward from Pacific and Atlantic – disrupt ecosystem and lifestyles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Cambria" panose="02040503050406030204" pitchFamily="18" charset="0"/>
              <a:buChar char="+"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High pollution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038" y="-19050"/>
            <a:ext cx="6024562" cy="5162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61938"/>
            <a:ext cx="3429000" cy="4619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8851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85750"/>
            <a:ext cx="4229100" cy="4564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242888"/>
            <a:ext cx="8334375" cy="4657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1828800" y="3105150"/>
            <a:ext cx="5715000" cy="228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2400" y="3638550"/>
            <a:ext cx="8229600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9877" name="Picture 3" descr="C:\Users\Administrator\Desktop\Bering_Sea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925" y="-19050"/>
            <a:ext cx="3013075" cy="1614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Placeholder 3"/>
          <p:cNvSpPr>
            <a:spLocks noGrp="1"/>
          </p:cNvSpPr>
          <p:nvPr>
            <p:ph type="body" idx="1"/>
          </p:nvPr>
        </p:nvSpPr>
        <p:spPr>
          <a:xfrm>
            <a:off x="405765" y="971550"/>
            <a:ext cx="8660765" cy="1117600"/>
          </a:xfrm>
        </p:spPr>
        <p:txBody>
          <a:bodyPr vert="horz" wrap="square" lIns="91440" tIns="45720" rIns="91440" bIns="45720" anchor="b" anchorCtr="0"/>
          <a:lstStyle/>
          <a:p>
            <a:pPr>
              <a:buSzPct val="90000"/>
            </a:pPr>
            <a:r>
              <a:rPr lang="en-US" altLang="zh-CN" sz="28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华文行楷" panose="02010800040101010101" pitchFamily="2" charset="-122"/>
                <a:cs typeface="+mn-cs"/>
              </a:rPr>
              <a:t>Give an example of the impact of climate change (or human activities) on the ocean</a:t>
            </a:r>
            <a:endParaRPr lang="en-US" altLang="zh-CN" sz="2800" kern="1200" dirty="0">
              <a:solidFill>
                <a:schemeClr val="accent5">
                  <a:lumMod val="50000"/>
                </a:schemeClr>
              </a:solidFill>
              <a:latin typeface="+mn-lt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8090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000" y="1783715"/>
            <a:ext cx="8702675" cy="3001645"/>
          </a:xfrm>
        </p:spPr>
        <p:txBody>
          <a:bodyPr vert="horz" wrap="square" lIns="91440" tIns="45720" rIns="91440" bIns="45720" anchor="b" anchorCtr="0"/>
          <a:lstStyle/>
          <a:p>
            <a:pPr>
              <a:buSzPct val="90000"/>
            </a:pPr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Please explain how we are responding to this threat as a:</a:t>
            </a:r>
            <a:endParaRPr lang="en-US" altLang="zh-CN" sz="28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Community (universities)</a:t>
            </a:r>
            <a:endParaRPr lang="en-US" altLang="zh-CN" sz="28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Community (villages)</a:t>
            </a:r>
            <a:endParaRPr lang="en-US" altLang="zh-CN" sz="28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Government/country</a:t>
            </a:r>
            <a:endParaRPr lang="en-US" altLang="zh-CN" sz="28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zh-CN" sz="2800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International</a:t>
            </a:r>
            <a:endParaRPr lang="en-US" altLang="zh-CN" sz="2800" kern="1200" dirty="0" smtClean="0">
              <a:solidFill>
                <a:schemeClr val="accent4">
                  <a:lumMod val="50000"/>
                </a:schemeClr>
              </a:solidFill>
              <a:latin typeface="+mn-lt"/>
              <a:ea typeface="华文行楷" panose="02010800040101010101" pitchFamily="2" charset="-122"/>
              <a:cs typeface="+mn-cs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9550"/>
            <a:ext cx="82296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all" spc="50" normalizeH="0" baseline="0" noProof="0" dirty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discussions</a:t>
            </a:r>
            <a:endParaRPr kumimoji="0" lang="zh-CN" altLang="en-US" sz="4800" b="1" i="0" u="none" strike="noStrike" kern="1200" cap="all" spc="50" normalizeH="0" baseline="0" noProof="0" dirty="0">
              <a:ln w="15875" cmpd="sng">
                <a:solidFill>
                  <a:srgbClr val="FFFFFF"/>
                </a:solidFill>
                <a:prstDash val="solid"/>
              </a:ln>
              <a:solidFill>
                <a:srgbClr val="FFFF00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9050"/>
            <a:ext cx="8229600" cy="85725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all" spc="50" normalizeH="0" baseline="0" noProof="0" smtClean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References</a:t>
            </a:r>
            <a:endParaRPr kumimoji="0" lang="zh-CN" altLang="en-US" sz="4000" b="1" i="0" u="none" strike="noStrike" kern="1200" cap="all" spc="50" normalizeH="0" baseline="0" noProof="0">
              <a:ln w="1587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31750" dir="3600000" algn="tl" rotWithShape="0">
                  <a:srgbClr val="000000">
                    <a:alpha val="6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23" name="内容占位符 2"/>
          <p:cNvSpPr>
            <a:spLocks noGrp="1"/>
          </p:cNvSpPr>
          <p:nvPr>
            <p:ph idx="1"/>
          </p:nvPr>
        </p:nvSpPr>
        <p:spPr>
          <a:xfrm>
            <a:off x="0" y="971550"/>
            <a:ext cx="9067800" cy="411480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2000" dirty="0">
                <a:ea typeface="华文行楷" panose="02010800040101010101" pitchFamily="2" charset="-122"/>
              </a:rPr>
              <a:t>Arafeh-Dalmau et al. 2019. Extreme marine heatwaves alter kelp forest community near its equatorial distribution limit. Frontiers in Marine Science 6, 499.</a:t>
            </a:r>
            <a:endParaRPr lang="en-US" altLang="zh-CN" sz="2000" dirty="0">
              <a:ea typeface="华文行楷" panose="02010800040101010101" pitchFamily="2" charset="-122"/>
            </a:endParaRPr>
          </a:p>
          <a:p>
            <a:r>
              <a:rPr lang="en-US" altLang="zh-CN" sz="2000" dirty="0">
                <a:ea typeface="华文行楷" panose="02010800040101010101" pitchFamily="2" charset="-122"/>
              </a:rPr>
              <a:t>Arrigo et al. 2012. Massive phytoplankton blooms under Arctic sea ice. Science 336, 1408.</a:t>
            </a:r>
            <a:endParaRPr lang="en-US" altLang="zh-CN" sz="2000" dirty="0">
              <a:ea typeface="华文行楷" panose="02010800040101010101" pitchFamily="2" charset="-122"/>
            </a:endParaRPr>
          </a:p>
          <a:p>
            <a:r>
              <a:rPr lang="en-US" altLang="zh-CN" sz="2000" dirty="0">
                <a:ea typeface="华文行楷" panose="02010800040101010101" pitchFamily="2" charset="-122"/>
              </a:rPr>
              <a:t>Cooley et al. 2016. Community-level actions that can address ocean acidification. Frontiers in Marine Science 2, 128. </a:t>
            </a:r>
            <a:endParaRPr lang="en-US" altLang="zh-CN" sz="2000" dirty="0">
              <a:ea typeface="华文行楷" panose="02010800040101010101" pitchFamily="2" charset="-122"/>
            </a:endParaRPr>
          </a:p>
          <a:p>
            <a:r>
              <a:rPr lang="en-US" altLang="zh-CN" sz="2000" dirty="0">
                <a:ea typeface="华文行楷" panose="02010800040101010101" pitchFamily="2" charset="-122"/>
              </a:rPr>
              <a:t>Dow K &amp; Downing TE. 2011. The Atlas of Climate Change. Earthscan</a:t>
            </a:r>
            <a:endParaRPr lang="en-US" altLang="zh-CN" sz="2000" dirty="0">
              <a:ea typeface="华文行楷" panose="02010800040101010101" pitchFamily="2" charset="-122"/>
            </a:endParaRPr>
          </a:p>
          <a:p>
            <a:r>
              <a:rPr lang="en-US" altLang="zh-CN" sz="2000" dirty="0">
                <a:ea typeface="华文行楷" panose="02010800040101010101" pitchFamily="2" charset="-122"/>
              </a:rPr>
              <a:t>Frolicher TL &amp; Laufkotter C. 2018. Emerging risks from marine heat waves. Nature Communications 9, 650.</a:t>
            </a:r>
            <a:endParaRPr lang="en-US" altLang="zh-CN" sz="2000" dirty="0">
              <a:ea typeface="华文行楷" panose="02010800040101010101" pitchFamily="2" charset="-122"/>
            </a:endParaRPr>
          </a:p>
          <a:p>
            <a:r>
              <a:rPr lang="en-US" altLang="zh-CN" sz="2000" dirty="0">
                <a:ea typeface="华文行楷" panose="02010800040101010101" pitchFamily="2" charset="-122"/>
              </a:rPr>
              <a:t>Grebmeier et al. 2006. A major ecosystem shift in the northern Bering Sea. Science 311, 1461.</a:t>
            </a:r>
            <a:endParaRPr lang="en-US" altLang="zh-CN" sz="2000" dirty="0"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内容占位符 2"/>
          <p:cNvSpPr>
            <a:spLocks noGrp="1"/>
          </p:cNvSpPr>
          <p:nvPr>
            <p:ph idx="1"/>
          </p:nvPr>
        </p:nvSpPr>
        <p:spPr>
          <a:xfrm>
            <a:off x="304800" y="133350"/>
            <a:ext cx="8686800" cy="487680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1800" dirty="0">
                <a:ea typeface="华文行楷" panose="02010800040101010101" pitchFamily="2" charset="-122"/>
              </a:rPr>
              <a:t>Kamykowski D &amp; Zentara S-J. 1990. Hypoxia in the world ocean as recorded in the historical data set. Deep-Sea Research 37(12), 1861-1874.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</a:rPr>
              <a:t>Meyssignac et al. 2019. Measuring global ocean heat content to estimate the Earth Energy Imbalance. Frontiers in Marine Science 16, 432.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</a:rPr>
              <a:t>Oliver et al. 2019. Projected marine heatwaves in the 21</a:t>
            </a:r>
            <a:r>
              <a:rPr lang="en-US" altLang="zh-CN" sz="1800" baseline="30000" dirty="0">
                <a:ea typeface="华文行楷" panose="02010800040101010101" pitchFamily="2" charset="-122"/>
              </a:rPr>
              <a:t>st</a:t>
            </a:r>
            <a:r>
              <a:rPr lang="en-US" altLang="zh-CN" sz="1800" dirty="0">
                <a:ea typeface="华文行楷" panose="02010800040101010101" pitchFamily="2" charset="-122"/>
              </a:rPr>
              <a:t> century and the potential for ecological impact. Frontiers in Marine Science 6, 734.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</a:rPr>
              <a:t>Schiermeier et al. 2018. Great Barrier Reef saw huge losses from 2016 heatwave. Nature 556, 281.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</a:rPr>
              <a:t>Sturm et al. 2001. Increasing shrub abundance in the Arctic. Nature 411, 546.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</a:rPr>
              <a:t>Thomsen et al. 2019. Local extinction of bull kelp (Duvillaea spp.) due to a marine heatwave. Frontiers in Marine Science 6, 84.</a:t>
            </a:r>
            <a:endParaRPr lang="zh-CN" altLang="en-US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  <a:hlinkClick r:id="rId1"/>
              </a:rPr>
              <a:t>https://simple.wikipedia.org/wiki/Climate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  <a:hlinkClick r:id="rId2"/>
              </a:rPr>
              <a:t>https://en.wikipedia.org/wiki/Cliamte_change(general_concept)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  <a:hlinkClick r:id="rId3"/>
              </a:rPr>
              <a:t>https://www.epa.gov/climate-indicators/oceans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r>
              <a:rPr lang="en-US" altLang="zh-CN" sz="1800" dirty="0">
                <a:ea typeface="华文行楷" panose="02010800040101010101" pitchFamily="2" charset="-122"/>
                <a:hlinkClick r:id="rId4"/>
              </a:rPr>
              <a:t>https://oceanfdn.org/ocean-and-climate-change/</a:t>
            </a:r>
            <a:endParaRPr lang="en-US" altLang="zh-CN" sz="1800" dirty="0">
              <a:ea typeface="华文行楷" panose="02010800040101010101" pitchFamily="2" charset="-122"/>
            </a:endParaRPr>
          </a:p>
          <a:p>
            <a:endParaRPr lang="zh-CN" altLang="en-US" sz="1800" dirty="0"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76200" y="133350"/>
            <a:ext cx="8991600" cy="487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3971" name="TextBox 4"/>
          <p:cNvSpPr txBox="1"/>
          <p:nvPr/>
        </p:nvSpPr>
        <p:spPr>
          <a:xfrm>
            <a:off x="1219200" y="1123950"/>
            <a:ext cx="6781800" cy="2586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CCFFFF"/>
                </a:solidFill>
                <a:latin typeface="MV Boli" panose="02000500030200090000" pitchFamily="2" charset="0"/>
              </a:rPr>
              <a:t>Thank you! </a:t>
            </a:r>
            <a:endParaRPr lang="en-US" altLang="zh-CN" sz="5400" b="1" dirty="0">
              <a:solidFill>
                <a:srgbClr val="CCFFFF"/>
              </a:solidFill>
              <a:latin typeface="MV Boli" panose="02000500030200090000" pitchFamily="2" charset="0"/>
            </a:endParaRPr>
          </a:p>
          <a:p>
            <a:pPr algn="ctr"/>
            <a:r>
              <a:rPr lang="en-US" altLang="zh-CN" sz="5400" b="1" dirty="0">
                <a:solidFill>
                  <a:srgbClr val="CCFFFF"/>
                </a:solidFill>
                <a:latin typeface="MV Boli" panose="02000500030200090000" pitchFamily="2" charset="0"/>
              </a:rPr>
              <a:t>See you all next week!</a:t>
            </a:r>
            <a:endParaRPr lang="zh-CN" altLang="en-US" sz="5400" b="1" dirty="0">
              <a:solidFill>
                <a:srgbClr val="CCFFFF"/>
              </a:solidFill>
              <a:latin typeface="MV Boli" panose="02000500030200090000" pitchFamily="2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c1872bce-d3cd-4338-83df-cd7c76da7e16}"/>
</p:tagLst>
</file>

<file path=ppt/tags/tag2.xml><?xml version="1.0" encoding="utf-8"?>
<p:tagLst xmlns:p="http://schemas.openxmlformats.org/presentationml/2006/main">
  <p:tag name="KSO_WPP_MARK_KEY" val="89668ab4-29c9-4065-ac20-b604c5837df5"/>
  <p:tag name="COMMONDATA" val="eyJoZGlkIjoiODE2MTZiYzYxYzViY2UxNzIwYTQxNDMzMzYzZjFhOT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行云流水">
  <a:themeElements>
    <a:clrScheme name="行云流水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行云流水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Calligraphy</Template>
  <TotalTime>0</TotalTime>
  <Words>9681</Words>
  <Application>WPS 演示</Application>
  <PresentationFormat>全屏显示(16:9)</PresentationFormat>
  <Paragraphs>262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6" baseType="lpstr">
      <vt:lpstr>Arial</vt:lpstr>
      <vt:lpstr>宋体</vt:lpstr>
      <vt:lpstr>Wingdings</vt:lpstr>
      <vt:lpstr>华文行楷</vt:lpstr>
      <vt:lpstr>微软雅黑</vt:lpstr>
      <vt:lpstr>Cambria</vt:lpstr>
      <vt:lpstr>Wingdings 2</vt:lpstr>
      <vt:lpstr>Wingdings</vt:lpstr>
      <vt:lpstr>Calibri</vt:lpstr>
      <vt:lpstr>Arial</vt:lpstr>
      <vt:lpstr>Cambria</vt:lpstr>
      <vt:lpstr>MV Boli</vt:lpstr>
      <vt:lpstr>David</vt:lpstr>
      <vt:lpstr>Arial Unicode MS</vt:lpstr>
      <vt:lpstr>行云流水</vt:lpstr>
      <vt:lpstr>OCEAN IN TIMEs OF INTENSE CHANGE</vt:lpstr>
      <vt:lpstr>Lecture 1.2: Climate change indicators</vt:lpstr>
      <vt:lpstr>OCEAN HEAT</vt:lpstr>
      <vt:lpstr>PowerPoint 演示文稿</vt:lpstr>
      <vt:lpstr>PowerPoint 演示文稿</vt:lpstr>
      <vt:lpstr>PowerPoint 演示文稿</vt:lpstr>
      <vt:lpstr>PowerPoint 演示文稿</vt:lpstr>
      <vt:lpstr>SEA SURFACE TEMPERATURE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Discussions – global warming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HYPOXIA</vt:lpstr>
      <vt:lpstr>PowerPoint 演示文稿</vt:lpstr>
      <vt:lpstr>PowerPoint 演示文稿</vt:lpstr>
      <vt:lpstr>BIODIVERSITY LOSS</vt:lpstr>
      <vt:lpstr>PowerPoint 演示文稿</vt:lpstr>
      <vt:lpstr>CORAL REEFS</vt:lpstr>
      <vt:lpstr>PowerPoint 演示文稿</vt:lpstr>
      <vt:lpstr>ARCTIC</vt:lpstr>
      <vt:lpstr>PowerPoint 演示文稿</vt:lpstr>
      <vt:lpstr>PowerPoint 演示文稿</vt:lpstr>
      <vt:lpstr>PowerPoint 演示文稿</vt:lpstr>
      <vt:lpstr>discussions</vt:lpstr>
      <vt:lpstr>References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罗佩珊</cp:lastModifiedBy>
  <cp:revision>322</cp:revision>
  <dcterms:created xsi:type="dcterms:W3CDTF">2020-04-16T03:15:00Z</dcterms:created>
  <dcterms:modified xsi:type="dcterms:W3CDTF">2026-05-07T10:19:36Z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F22548ABB99B4928AFED1168A29BC8AD</vt:lpwstr>
  </property>
  <property fmtid="{D5CDD505-2E9C-101B-9397-08002B2CF9AE}" pid="4" name="KSOProductBuildVer">
    <vt:lpwstr>2052-12.1.0.25865</vt:lpwstr>
  </property>
</Properties>
</file>