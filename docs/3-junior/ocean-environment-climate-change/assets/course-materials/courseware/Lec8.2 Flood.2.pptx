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313" r:id="rId3"/>
    <p:sldId id="323" r:id="rId4"/>
    <p:sldId id="315" r:id="rId5"/>
    <p:sldId id="316" r:id="rId6"/>
    <p:sldId id="317" r:id="rId7"/>
    <p:sldId id="326" r:id="rId8"/>
    <p:sldId id="327" r:id="rId9"/>
    <p:sldId id="318" r:id="rId10"/>
    <p:sldId id="336" r:id="rId11"/>
    <p:sldId id="319" r:id="rId12"/>
    <p:sldId id="337" r:id="rId13"/>
    <p:sldId id="321" r:id="rId14"/>
    <p:sldId id="340" r:id="rId15"/>
    <p:sldId id="344" r:id="rId16"/>
    <p:sldId id="343" r:id="rId17"/>
    <p:sldId id="342" r:id="rId18"/>
    <p:sldId id="322" r:id="rId19"/>
    <p:sldId id="328" r:id="rId20"/>
    <p:sldId id="329" r:id="rId21"/>
    <p:sldId id="330" r:id="rId22"/>
  </p:sldIdLst>
  <p:sldSz cx="9144000" cy="5143500" type="screen16x9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CCFFFF"/>
    <a:srgbClr val="FFFFCC"/>
    <a:srgbClr val="CCFF99"/>
    <a:srgbClr val="FF99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147" d="100"/>
          <a:sy n="147" d="100"/>
        </p:scale>
        <p:origin x="-594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769E0-D93D-4577-AC85-D8329D8620D3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F5B4AF-39EE-4C84-ABDA-D27A23D04F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3911212"/>
            <a:ext cx="1472173" cy="1232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910817"/>
            <a:ext cx="7772400" cy="1102519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069686"/>
            <a:ext cx="6100534" cy="1305742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07527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982387"/>
            <a:ext cx="7772400" cy="1125140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1768073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4018369"/>
            <a:ext cx="8226225" cy="576021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321453"/>
            <a:ext cx="5111750" cy="36433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7" y="1017973"/>
            <a:ext cx="3008313" cy="29468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160718"/>
            <a:ext cx="7448602" cy="585789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750081"/>
            <a:ext cx="7452360" cy="3911231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1" y="4682725"/>
            <a:ext cx="3180375" cy="460775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4869659"/>
            <a:ext cx="1676384" cy="273844"/>
          </a:xfrm>
        </p:spPr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4869657"/>
            <a:ext cx="2643206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4010254"/>
            <a:ext cx="871200" cy="6534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133"/>
            <a:ext cx="8229600" cy="353618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5143500"/>
          </a:xfrm>
          <a:prstGeom prst="rect">
            <a:avLst/>
          </a:prstGeom>
          <a:blipFill>
            <a:blip r:embed="rId2" cstate="print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05979"/>
            <a:ext cx="1400156" cy="4455333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758006" cy="445533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8" y="0"/>
            <a:ext cx="1008093" cy="1071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7776000" cy="85725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1ECA5108-0BB3-47D9-8FC2-D80F143C8A19}" type="datetime1">
              <a:rPr lang="en-US" smtClean="0"/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 panose="05020102010507070707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35" y="1164590"/>
            <a:ext cx="8983345" cy="1102360"/>
          </a:xfrm>
        </p:spPr>
        <p:txBody>
          <a:bodyPr>
            <a:noAutofit/>
          </a:bodyPr>
          <a:lstStyle/>
          <a:p>
            <a:pPr algn="ctr"/>
            <a:r>
              <a:rPr lang="en-US" altLang="zh-CN" sz="8000" b="1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~ 8.2 FLOOD ~</a:t>
            </a:r>
            <a:endParaRPr lang="en-US" altLang="zh-CN" sz="8000" b="1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subTitle" idx="1"/>
          </p:nvPr>
        </p:nvSpPr>
        <p:spPr>
          <a:xfrm>
            <a:off x="1369060" y="2571750"/>
            <a:ext cx="6607175" cy="1744345"/>
          </a:xfrm>
        </p:spPr>
        <p:txBody>
          <a:bodyPr>
            <a:noAutofit/>
          </a:bodyPr>
          <a:lstStyle/>
          <a:p>
            <a:r>
              <a:rPr lang="en-US" altLang="zh-CN" sz="2700" dirty="0" smtClean="0"/>
              <a:t>Pei Sun Loh</a:t>
            </a:r>
            <a:endParaRPr lang="en-US" altLang="zh-CN" sz="2700" dirty="0" smtClean="0"/>
          </a:p>
          <a:p>
            <a:r>
              <a:rPr lang="en-US" altLang="zh-CN" sz="2700" dirty="0" smtClean="0"/>
              <a:t>Ocean College, Zhejiang University 23rd June 2026</a:t>
            </a:r>
            <a:endParaRPr lang="en-US" altLang="zh-CN" sz="27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85800" y="478631"/>
            <a:ext cx="7772400" cy="1102519"/>
          </a:xfrm>
        </p:spPr>
        <p:txBody>
          <a:bodyPr/>
          <a:lstStyle/>
          <a:p>
            <a:r>
              <a:rPr lang="en-US" altLang="zh-CN" b="1" dirty="0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541020" y="1581150"/>
            <a:ext cx="8297545" cy="2971800"/>
          </a:xfrm>
        </p:spPr>
        <p:txBody>
          <a:bodyPr>
            <a:normAutofit/>
          </a:bodyPr>
          <a:lstStyle/>
          <a:p>
            <a:pPr marL="514350" indent="-514350" algn="l">
              <a:buAutoNum type="arabicParenR"/>
            </a:pPr>
            <a:r>
              <a:rPr lang="en-US" altLang="zh-CN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Bangladesh</a:t>
            </a:r>
            <a:endParaRPr lang="en-US" altLang="zh-CN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514350" indent="-514350" algn="l">
              <a:buAutoNum type="arabicParenR"/>
            </a:pPr>
            <a:r>
              <a:rPr lang="en-US" altLang="zh-CN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Impacts of climate change and human activities</a:t>
            </a:r>
            <a:endParaRPr lang="en-US" altLang="zh-CN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514350" indent="-514350" algn="l">
              <a:buAutoNum type="arabicParenR"/>
            </a:pPr>
            <a:r>
              <a:rPr lang="en-US" altLang="zh-CN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Impacts of flood on hydrological cycle, carbon cycle</a:t>
            </a:r>
            <a:endParaRPr lang="en-US" altLang="zh-CN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514350" indent="-514350" algn="l">
              <a:buAutoNum type="arabicParenR"/>
            </a:pPr>
            <a:endParaRPr lang="en-US" altLang="zh-CN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066800" y="971550"/>
            <a:ext cx="7772400" cy="3048000"/>
          </a:xfrm>
        </p:spPr>
        <p:txBody>
          <a:bodyPr>
            <a:normAutofit/>
          </a:bodyPr>
          <a:lstStyle/>
          <a:p>
            <a:pPr algn="l"/>
            <a:r>
              <a:rPr lang="en-US" altLang="zh-CN" sz="4400" b="1" dirty="0" smtClean="0">
                <a:solidFill>
                  <a:srgbClr val="FFFF00"/>
                </a:solidFill>
              </a:rPr>
              <a:t>IMPACTS OF CLIMATE CHANGE AND HUMAN ACTIVITIES</a:t>
            </a:r>
            <a:endParaRPr lang="zh-CN" altLang="en-US" sz="4400" b="1" dirty="0">
              <a:solidFill>
                <a:srgbClr val="FFFF00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228600" y="349885"/>
            <a:ext cx="5181600" cy="4279265"/>
          </a:xfrm>
        </p:spPr>
        <p:txBody>
          <a:bodyPr>
            <a:normAutofit lnSpcReduction="10000"/>
          </a:bodyPr>
          <a:lstStyle/>
          <a:p>
            <a:pPr>
              <a:buSzPct val="80000"/>
              <a:buFont typeface="Georgia" panose="02040502050405020303" pitchFamily="18" charset="0"/>
              <a:buChar char="♪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In Central and Eastern Europe, mean temperature </a:t>
            </a:r>
            <a:r>
              <a:rPr lang="zh-CN" altLang="en-US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（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T</a:t>
            </a:r>
            <a:r>
              <a:rPr lang="zh-CN" altLang="en-US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）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is projected to increase between 1 and 3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º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 in the next decade, and up to 5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宋体" panose="02010600030101010101" pitchFamily="2" charset="-122"/>
              </a:rPr>
              <a:t>º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 until the end of the century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SzPct val="80000"/>
              <a:buFont typeface="Georgia" panose="02040502050405020303" pitchFamily="18" charset="0"/>
              <a:buChar char="♪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Higher T leads to intensification of water cycle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SzPct val="80000"/>
              <a:buFont typeface="Georgia" panose="02040502050405020303" pitchFamily="18" charset="0"/>
              <a:buChar char="♪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Climate warming will lead to increase evaporation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SzPct val="80000"/>
              <a:buFont typeface="Georgia" panose="02040502050405020303" pitchFamily="18" charset="0"/>
              <a:buChar char="♪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Moisture holding capacity of increased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SzPct val="80000"/>
              <a:buFont typeface="Georgia" panose="02040502050405020303" pitchFamily="18" charset="0"/>
              <a:buChar char="♪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Generally leads to changes in rainfall pattern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Georgia" panose="02040502050405020303" pitchFamily="18" charset="0"/>
              <a:buChar char="♪"/>
            </a:pPr>
            <a:endParaRPr lang="zh-CN" altLang="en-US" sz="20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 dirty="0"/>
          </a:p>
        </p:txBody>
      </p:sp>
      <p:pic>
        <p:nvPicPr>
          <p:cNvPr id="1026" name="Picture 2" descr="C:\Users\Administrator\Desktop\下载.jpg"/>
          <p:cNvPicPr>
            <a:picLocks noChangeAspect="1" noChangeArrowheads="1"/>
          </p:cNvPicPr>
          <p:nvPr/>
        </p:nvPicPr>
        <p:blipFill>
          <a:blip r:embed="rId1" cstate="print"/>
          <a:srcRect l="4484" r="10314" b="12500"/>
          <a:stretch>
            <a:fillRect/>
          </a:stretch>
        </p:blipFill>
        <p:spPr bwMode="auto">
          <a:xfrm>
            <a:off x="5355771" y="1581150"/>
            <a:ext cx="3619500" cy="2667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81000" y="590550"/>
            <a:ext cx="7776000" cy="857250"/>
          </a:xfrm>
        </p:spPr>
        <p:txBody>
          <a:bodyPr>
            <a:noAutofit/>
          </a:bodyPr>
          <a:lstStyle/>
          <a:p>
            <a:r>
              <a:rPr lang="en-US" altLang="zh-CN" sz="2800" b="1" dirty="0" smtClean="0"/>
              <a:t>Key changes to hydrological cycle due to increased greenhouse gasses </a:t>
            </a:r>
            <a:endParaRPr lang="zh-CN" altLang="en-US" sz="2800" b="1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533400" y="1581150"/>
            <a:ext cx="8229600" cy="3429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Seasonal distribution and amount of precipitation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Precipitation vary with seasons across different regions</a:t>
            </a: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More intense precipitation, but reduced frequency of precipitation and more dry periods</a:t>
            </a: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Increase </a:t>
            </a:r>
            <a:r>
              <a:rPr lang="en-US" altLang="zh-CN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evapotranspiration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and decrease soil moisture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Increase </a:t>
            </a:r>
            <a:r>
              <a:rPr lang="en-US" altLang="zh-CN" sz="1600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evapotranspiration</a:t>
            </a: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– increase droughts</a:t>
            </a: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Changes balance between snow and rain 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Increase precipitation as rain than snow</a:t>
            </a: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Earlier snowmelt</a:t>
            </a: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None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							</a:t>
            </a:r>
            <a:r>
              <a:rPr lang="en-US" altLang="zh-CN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Stagl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et al. (2013)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None/>
            </a:pPr>
            <a:endParaRPr lang="zh-CN" altLang="en-US" sz="16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95300"/>
            <a:ext cx="6705600" cy="85725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/>
              <a:t>Climate change and flood/drought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39478"/>
            <a:ext cx="8229600" cy="339447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There is a direct influence of global warming on changes in precipitation and heavy rains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srgbClr val="FFFF00"/>
                </a:solidFill>
              </a:rPr>
              <a:t>Increased heating 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– </a:t>
            </a:r>
            <a:r>
              <a:rPr lang="en-US" altLang="zh-CN" sz="2000" dirty="0" smtClean="0">
                <a:solidFill>
                  <a:srgbClr val="FFFF00"/>
                </a:solidFill>
              </a:rPr>
              <a:t>increased evaporation</a:t>
            </a:r>
            <a:endParaRPr lang="en-US" altLang="zh-CN" sz="2000" dirty="0" smtClean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Water holding capacity of air increases by 7% per 1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宋体" panose="02010600030101010101" pitchFamily="2" charset="-122"/>
              </a:rPr>
              <a:t>º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 warming – </a:t>
            </a:r>
            <a:r>
              <a:rPr lang="en-US" altLang="zh-CN" sz="2000" dirty="0" smtClean="0">
                <a:solidFill>
                  <a:srgbClr val="FFFF00"/>
                </a:solidFill>
              </a:rPr>
              <a:t>increased water </a:t>
            </a:r>
            <a:r>
              <a:rPr lang="en-US" altLang="zh-CN" sz="2000" dirty="0" err="1" smtClean="0">
                <a:solidFill>
                  <a:srgbClr val="FFFF00"/>
                </a:solidFill>
              </a:rPr>
              <a:t>vapour</a:t>
            </a:r>
            <a:r>
              <a:rPr lang="en-US" altLang="zh-CN" sz="2000" dirty="0" smtClean="0">
                <a:solidFill>
                  <a:srgbClr val="FFFF00"/>
                </a:solidFill>
              </a:rPr>
              <a:t> 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– affect precipitation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Extreme weather events – </a:t>
            </a:r>
            <a:r>
              <a:rPr lang="en-US" altLang="zh-CN" sz="2000" dirty="0" smtClean="0">
                <a:solidFill>
                  <a:srgbClr val="FFFF00"/>
                </a:solidFill>
              </a:rPr>
              <a:t>heavy rainfall and flood</a:t>
            </a:r>
            <a:endParaRPr lang="en-US" altLang="zh-CN" sz="2000" dirty="0" smtClean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srgbClr val="66FFFF"/>
                </a:solidFill>
              </a:rPr>
              <a:t>Surface drying 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– </a:t>
            </a:r>
            <a:r>
              <a:rPr lang="en-US" altLang="zh-CN" sz="2000" dirty="0" smtClean="0">
                <a:solidFill>
                  <a:srgbClr val="66FFFF"/>
                </a:solidFill>
              </a:rPr>
              <a:t>increased intensity and duration of drought</a:t>
            </a:r>
            <a:endParaRPr lang="en-US" altLang="zh-CN" sz="2000" dirty="0" smtClean="0">
              <a:solidFill>
                <a:srgbClr val="66FFFF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srgbClr val="92D050"/>
                </a:solidFill>
              </a:rPr>
              <a:t>Affect agriculture, hydrology and water resources</a:t>
            </a:r>
            <a:endParaRPr lang="en-US" altLang="zh-CN" sz="2000" dirty="0" smtClean="0">
              <a:solidFill>
                <a:srgbClr val="92D050"/>
              </a:solidFill>
            </a:endParaRPr>
          </a:p>
          <a:p>
            <a:pPr>
              <a:buNone/>
            </a:pP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							</a:t>
            </a:r>
            <a:r>
              <a:rPr lang="en-US" altLang="zh-CN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Trenberth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(2005)</a:t>
            </a:r>
            <a:endParaRPr lang="zh-CN" altLang="en-US" sz="20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0" y="495300"/>
            <a:ext cx="6248400" cy="85725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/>
              <a:t>Human activities and flood</a:t>
            </a:r>
            <a:endParaRPr lang="zh-CN" altLang="en-US" sz="28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28749"/>
            <a:ext cx="8229600" cy="316587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Catastrophic floods in Viet Nam have been increasingly linked to land use and forest cover change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Catastrophic flood in downstream due to changes in rainfall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Overall increasing trends of catastrophic flooding in </a:t>
            </a:r>
            <a:r>
              <a:rPr lang="en-US" altLang="zh-CN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Huong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river basin due to: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Climate variability</a:t>
            </a: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Road development</a:t>
            </a: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Dyke infrastructure</a:t>
            </a: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1">
              <a:buFont typeface="Wingdings" panose="05000000000000000000" pitchFamily="2" charset="2"/>
              <a:buChar char="l"/>
            </a:pPr>
            <a:endParaRPr lang="en-US" altLang="zh-CN" sz="16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lvl="8">
              <a:buNone/>
            </a:pPr>
            <a:r>
              <a:rPr lang="en-US" altLang="zh-CN" sz="1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			</a:t>
            </a:r>
            <a:r>
              <a:rPr lang="en-US" altLang="zh-CN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Tran et al. (2010)</a:t>
            </a:r>
            <a:endParaRPr lang="zh-CN" alt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52400" y="495300"/>
            <a:ext cx="7776000" cy="857250"/>
          </a:xfrm>
        </p:spPr>
        <p:txBody>
          <a:bodyPr>
            <a:normAutofit/>
          </a:bodyPr>
          <a:lstStyle/>
          <a:p>
            <a:r>
              <a:rPr lang="en-US" altLang="zh-CN" sz="2800" b="1" dirty="0" smtClean="0"/>
              <a:t>Impacts of flood on carbon &amp; nutrient cycle</a:t>
            </a:r>
            <a:endParaRPr lang="zh-CN" altLang="en-US" sz="2800" b="1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57200" y="1463278"/>
            <a:ext cx="8229600" cy="339447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p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71% &amp; 85% of the total OC was exported in flow events occurring during less than 20% of that time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Highlight the importance of </a:t>
            </a:r>
            <a:r>
              <a:rPr lang="en-US" altLang="zh-CN" sz="2000" dirty="0" smtClean="0">
                <a:solidFill>
                  <a:srgbClr val="92D050"/>
                </a:solidFill>
              </a:rPr>
              <a:t>short-duration, high-discharge events 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(common in smaller watershed) in controlling annual OC export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Increase in annual discharge – increased 40% of DOC export past 50 years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Increased agriculturally derived OC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>
              <a:buNone/>
            </a:pP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							Dalzell et al. (2007)</a:t>
            </a:r>
            <a:endParaRPr lang="zh-CN" altLang="en-US" sz="2000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00100" y="361950"/>
            <a:ext cx="6134100" cy="1413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62150"/>
            <a:ext cx="9144000" cy="26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椭圆 7"/>
          <p:cNvSpPr/>
          <p:nvPr/>
        </p:nvSpPr>
        <p:spPr>
          <a:xfrm>
            <a:off x="990600" y="4095750"/>
            <a:ext cx="11430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内容占位符 3"/>
          <p:cNvSpPr txBox="1"/>
          <p:nvPr/>
        </p:nvSpPr>
        <p:spPr>
          <a:xfrm>
            <a:off x="304800" y="1200151"/>
            <a:ext cx="8229600" cy="33944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Po River, Italy,</a:t>
            </a:r>
            <a:r>
              <a:rPr kumimoji="0" lang="en-US" altLang="zh-CN" sz="2000" b="0" i="0" u="none" strike="noStrike" kern="1200" cap="none" spc="0" normalizeH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experienced a 100-year flood in October 2000</a:t>
            </a:r>
            <a:endParaRPr kumimoji="0" lang="en-US" altLang="zh-CN" sz="2000" b="0" i="0" u="none" strike="noStrike" kern="1200" cap="none" spc="0" normalizeH="0" noProof="0" dirty="0" smtClean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lang="en-US" altLang="zh-CN" sz="2000" baseline="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Surface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sediments were collected from Po </a:t>
            </a:r>
            <a:r>
              <a:rPr lang="en-US" altLang="zh-CN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prodelta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in December 2000, October 2001 and April 2002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Sedimentary</a:t>
            </a:r>
            <a:r>
              <a:rPr kumimoji="0" lang="en-US" altLang="zh-CN" sz="2000" b="0" i="0" u="none" strike="noStrike" kern="1200" cap="none" spc="0" normalizeH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organic matter was dominated by aged, lignin-poor, fine materials</a:t>
            </a:r>
            <a:endParaRPr kumimoji="0" lang="en-US" altLang="zh-CN" sz="2000" b="0" i="0" u="none" strike="noStrike" kern="1200" cap="none" spc="0" normalizeH="0" noProof="0" dirty="0" smtClean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lang="en-US" altLang="zh-CN" sz="2000" baseline="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2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 years after the flood, post-depositional process has increased lignin and coarse material (silt and sand), and reduced aged OC</a:t>
            </a: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 2" panose="05020102010507070707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				</a:t>
            </a:r>
            <a:r>
              <a:rPr kumimoji="0" lang="en-US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Tesi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et al. (2008)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367192"/>
            <a:ext cx="7315200" cy="1137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800225"/>
            <a:ext cx="8991600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3" name="内容占位符 3"/>
          <p:cNvSpPr txBox="1"/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Rounded MT Bold" panose="020F0704030504030204" charset="0"/>
                <a:ea typeface="+mn-ea"/>
                <a:cs typeface="Arial Rounded MT Bold" panose="020F0704030504030204" charset="0"/>
              </a:rPr>
              <a:t>The Elbe flood generated a large</a:t>
            </a:r>
            <a:r>
              <a:rPr kumimoji="0" lang="en-US" altLang="zh-CN" sz="2000" b="0" i="0" u="none" strike="noStrike" kern="1200" cap="none" spc="0" normalizeH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Rounded MT Bold" panose="020F0704030504030204" charset="0"/>
                <a:ea typeface="+mn-ea"/>
                <a:cs typeface="Arial Rounded MT Bold" panose="020F0704030504030204" charset="0"/>
              </a:rPr>
              <a:t> influx of nutrients and dissolved and particulate OC on the coast</a:t>
            </a:r>
            <a:endParaRPr kumimoji="0" lang="en-US" altLang="zh-CN" sz="2000" b="0" i="0" u="none" strike="noStrike" kern="1200" cap="none" spc="0" normalizeH="0" noProof="0" dirty="0" smtClean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Arial Rounded MT Bold" panose="020F0704030504030204" charset="0"/>
              <a:ea typeface="+mn-ea"/>
              <a:cs typeface="Arial Rounded MT Bold" panose="020F070403050403020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lang="en-US" altLang="zh-CN" sz="2000" baseline="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These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 conditions subsequently lead to onset of phytoplankton bloom and DO </a:t>
            </a:r>
            <a:r>
              <a:rPr lang="en-US" altLang="zh-CN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supersaturation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lang="en-US" altLang="zh-CN" sz="2000" baseline="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2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 months after the flood, water column stratification and high phytoplankton production and prolonged Do </a:t>
            </a:r>
            <a:r>
              <a:rPr lang="en-US" altLang="zh-CN" sz="2000" dirty="0" err="1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supersaturation</a:t>
            </a:r>
            <a:r>
              <a:rPr lang="en-US" altLang="zh-CN" sz="2000" dirty="0" smtClean="0">
                <a:solidFill>
                  <a:schemeClr val="accent3">
                    <a:lumMod val="40000"/>
                    <a:lumOff val="6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 in surface waters throughout SE German Bight</a:t>
            </a:r>
            <a:endParaRPr lang="en-US" altLang="zh-CN" sz="2000" dirty="0" smtClean="0">
              <a:solidFill>
                <a:schemeClr val="accent3">
                  <a:lumMod val="40000"/>
                  <a:lumOff val="60000"/>
                </a:schemeClr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r>
              <a:rPr lang="en-US" altLang="zh-CN" sz="2000" dirty="0" smtClean="0">
                <a:solidFill>
                  <a:schemeClr val="tx2">
                    <a:lumMod val="50000"/>
                  </a:schemeClr>
                </a:solidFill>
                <a:latin typeface="Arial Rounded MT Bold" panose="020F0704030504030204" charset="0"/>
                <a:cs typeface="Arial Rounded MT Bold" panose="020F0704030504030204" charset="0"/>
              </a:rPr>
              <a:t>Prolonged stratification led to widespread bottom water dissolved oxygen depletion</a:t>
            </a:r>
            <a:endParaRPr lang="en-US" altLang="zh-CN" sz="2000" dirty="0" smtClean="0">
              <a:solidFill>
                <a:schemeClr val="tx2">
                  <a:lumMod val="50000"/>
                </a:schemeClr>
              </a:solidFill>
              <a:latin typeface="Arial Rounded MT Bold" panose="020F0704030504030204" charset="0"/>
              <a:cs typeface="Arial Rounded MT Bold" panose="020F070403050403020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p"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Arial Rounded MT Bold" panose="020F0704030504030204" charset="0"/>
              <a:ea typeface="+mn-ea"/>
              <a:cs typeface="Arial Rounded MT Bold" panose="020F070403050403020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Wingdings 2" panose="05020102010507070707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Rounded MT Bold" panose="020F0704030504030204" charset="0"/>
                <a:ea typeface="+mn-ea"/>
                <a:cs typeface="Arial Rounded MT Bold" panose="020F0704030504030204" charset="0"/>
              </a:rPr>
              <a:t>						</a:t>
            </a:r>
            <a:r>
              <a:rPr kumimoji="0" lang="en-US" altLang="zh-CN" sz="20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Rounded MT Bold" panose="020F0704030504030204" charset="0"/>
                <a:ea typeface="+mn-ea"/>
                <a:cs typeface="Arial Rounded MT Bold" panose="020F0704030504030204" charset="0"/>
              </a:rPr>
              <a:t>Voynova</a:t>
            </a:r>
            <a:r>
              <a:rPr kumimoji="0" lang="en-US" altLang="zh-C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 Rounded MT Bold" panose="020F0704030504030204" charset="0"/>
                <a:ea typeface="+mn-ea"/>
                <a:cs typeface="Arial Rounded MT Bold" panose="020F0704030504030204" charset="0"/>
              </a:rPr>
              <a:t> et al. (2017)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Arial Rounded MT Bold" panose="020F0704030504030204" charset="0"/>
              <a:ea typeface="+mn-ea"/>
              <a:cs typeface="Arial Rounded MT Bold" panose="020F07040305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09600" y="895350"/>
            <a:ext cx="7239000" cy="980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300288"/>
            <a:ext cx="5651649" cy="225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1026" name="Picture 2" descr="C:\Users\Administrator\Desktop\lake layers.jp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3000" y="283573"/>
            <a:ext cx="6324600" cy="4650377"/>
          </a:xfrm>
          <a:prstGeom prst="rect">
            <a:avLst/>
          </a:prstGeom>
          <a:noFill/>
        </p:spPr>
      </p:pic>
      <p:pic>
        <p:nvPicPr>
          <p:cNvPr id="1027" name="Picture 3" descr="C:\Users\Administrator\Desktop\cquy15kt4e.jpg"/>
          <p:cNvPicPr>
            <a:picLocks noChangeAspect="1" noChangeArrowheads="1"/>
          </p:cNvPicPr>
          <p:nvPr/>
        </p:nvPicPr>
        <p:blipFill>
          <a:blip r:embed="rId2" cstate="print"/>
          <a:srcRect l="54352" r="3148" b="41207"/>
          <a:stretch>
            <a:fillRect/>
          </a:stretch>
        </p:blipFill>
        <p:spPr bwMode="auto">
          <a:xfrm>
            <a:off x="6477000" y="3181350"/>
            <a:ext cx="2057400" cy="1600200"/>
          </a:xfrm>
          <a:prstGeom prst="rect">
            <a:avLst/>
          </a:prstGeom>
          <a:noFill/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85800" y="1329619"/>
            <a:ext cx="7086600" cy="480131"/>
          </a:xfrm>
          <a:prstGeom prst="rect">
            <a:avLst/>
          </a:prstGeom>
          <a:noFill/>
          <a:ln w="9525">
            <a:solidFill>
              <a:schemeClr val="accent3">
                <a:lumMod val="75000"/>
              </a:schemeClr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defRPr/>
            </a:pP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106 CO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 + 122 H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O + 16 HNO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 + H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PO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              (CH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O)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106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(NH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)16H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PO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14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  +  138 O</a:t>
            </a:r>
            <a:r>
              <a:rPr lang="en-US" altLang="zh-CN" sz="1400" b="1" baseline="-25000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2</a:t>
            </a:r>
            <a:endParaRPr lang="en-US" altLang="zh-CN" sz="1400" b="1" baseline="-25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 2" panose="05020102010507070707"/>
              <a:buNone/>
              <a:defRPr/>
            </a:pPr>
            <a:endParaRPr lang="en-US" altLang="zh-CN" sz="1400" b="1" baseline="-25000" dirty="0">
              <a:solidFill>
                <a:schemeClr val="accent5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4114800" y="1428750"/>
            <a:ext cx="304800" cy="76200"/>
          </a:xfrm>
          <a:prstGeom prst="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497666" y="1174749"/>
            <a:ext cx="1524000" cy="6096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6705600" y="1250949"/>
            <a:ext cx="914400" cy="4826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3276600" y="819150"/>
            <a:ext cx="228600" cy="457200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上箭头 9"/>
          <p:cNvSpPr/>
          <p:nvPr/>
        </p:nvSpPr>
        <p:spPr>
          <a:xfrm>
            <a:off x="7010400" y="895350"/>
            <a:ext cx="228600" cy="457200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5486400" y="819150"/>
            <a:ext cx="228600" cy="457200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505200" y="742950"/>
            <a:ext cx="4572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1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754618"/>
            <a:ext cx="4572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29400" y="830818"/>
            <a:ext cx="4572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2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328738" y="2778125"/>
            <a:ext cx="7129462" cy="479425"/>
          </a:xfrm>
          <a:prstGeom prst="rect">
            <a:avLst/>
          </a:prstGeom>
          <a:noFill/>
          <a:ln w="9525">
            <a:solidFill>
              <a:schemeClr val="accent3">
                <a:lumMod val="75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defRPr/>
            </a:pPr>
            <a:r>
              <a:rPr lang="en-US" altLang="zh-CN" sz="1400" b="1" dirty="0">
                <a:latin typeface="Arial" panose="020B0604020202020204" pitchFamily="34" charset="0"/>
              </a:rPr>
              <a:t>(CH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O)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106</a:t>
            </a:r>
            <a:r>
              <a:rPr lang="en-US" altLang="zh-CN" sz="1400" b="1" dirty="0">
                <a:latin typeface="Arial" panose="020B0604020202020204" pitchFamily="34" charset="0"/>
              </a:rPr>
              <a:t>(NH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)16H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PO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4</a:t>
            </a:r>
            <a:r>
              <a:rPr lang="en-US" altLang="zh-CN" sz="1400" b="1" dirty="0">
                <a:latin typeface="Arial" panose="020B0604020202020204" pitchFamily="34" charset="0"/>
              </a:rPr>
              <a:t>  +  138 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                     </a:t>
            </a:r>
            <a:r>
              <a:rPr lang="en-US" altLang="zh-CN" sz="1400" b="1" dirty="0">
                <a:latin typeface="Arial" panose="020B0604020202020204" pitchFamily="34" charset="0"/>
              </a:rPr>
              <a:t>106 CO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 + 122 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O + 16 HNO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 + 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PO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4         </a:t>
            </a:r>
            <a:endParaRPr lang="en-US" altLang="zh-CN" sz="1400" b="1" baseline="-25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 2" panose="05020102010507070707"/>
              <a:buNone/>
              <a:defRPr/>
            </a:pPr>
            <a:endParaRPr lang="en-US" altLang="zh-CN" sz="1400" b="1" baseline="-25000" dirty="0">
              <a:latin typeface="Arial" panose="020B0604020202020204" pitchFamily="34" charset="0"/>
            </a:endParaRPr>
          </a:p>
        </p:txBody>
      </p:sp>
      <p:sp>
        <p:nvSpPr>
          <p:cNvPr id="18" name="下箭头 17"/>
          <p:cNvSpPr/>
          <p:nvPr/>
        </p:nvSpPr>
        <p:spPr>
          <a:xfrm rot="4113953">
            <a:off x="4336260" y="951201"/>
            <a:ext cx="333478" cy="2619470"/>
          </a:xfrm>
          <a:prstGeom prst="downArrow">
            <a:avLst>
              <a:gd name="adj1" fmla="val 50000"/>
              <a:gd name="adj2" fmla="val 62433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971800" y="2507218"/>
            <a:ext cx="4572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3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0" name="右箭头 19"/>
          <p:cNvSpPr/>
          <p:nvPr/>
        </p:nvSpPr>
        <p:spPr>
          <a:xfrm>
            <a:off x="4419600" y="2876550"/>
            <a:ext cx="304800" cy="76200"/>
          </a:xfrm>
          <a:prstGeom prst="rightArrow">
            <a:avLst/>
          </a:prstGeom>
          <a:solidFill>
            <a:schemeClr val="accent5">
              <a:lumMod val="50000"/>
            </a:schemeClr>
          </a:solidFill>
          <a:ln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800600" y="2724150"/>
            <a:ext cx="914400" cy="4826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上箭头 21"/>
          <p:cNvSpPr/>
          <p:nvPr/>
        </p:nvSpPr>
        <p:spPr>
          <a:xfrm>
            <a:off x="5181600" y="2343150"/>
            <a:ext cx="228600" cy="457200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3581400" y="2724150"/>
            <a:ext cx="914400" cy="4826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下箭头 23"/>
          <p:cNvSpPr/>
          <p:nvPr/>
        </p:nvSpPr>
        <p:spPr>
          <a:xfrm>
            <a:off x="3886200" y="3105150"/>
            <a:ext cx="381000" cy="45720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410200" y="2419350"/>
            <a:ext cx="4572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4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91000" y="3257550"/>
            <a:ext cx="4572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</a:rPr>
              <a:t>4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685800" y="1316831"/>
            <a:ext cx="7772400" cy="1102519"/>
          </a:xfrm>
        </p:spPr>
        <p:txBody>
          <a:bodyPr/>
          <a:lstStyle/>
          <a:p>
            <a:r>
              <a:rPr lang="en-US" altLang="zh-CN" b="1" dirty="0" smtClean="0"/>
              <a:t>SUMMARY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18745" y="438150"/>
          <a:ext cx="8801100" cy="3319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455"/>
                <a:gridCol w="1301969"/>
                <a:gridCol w="1602961"/>
                <a:gridCol w="998220"/>
                <a:gridCol w="1161610"/>
                <a:gridCol w="776605"/>
                <a:gridCol w="1478280"/>
              </a:tblGrid>
              <a:tr h="711354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Flood has caused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Water</a:t>
                      </a:r>
                      <a:r>
                        <a:rPr lang="en-US" altLang="zh-CN" sz="1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layer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Processes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CO</a:t>
                      </a:r>
                      <a:r>
                        <a:rPr lang="en-US" altLang="zh-CN" sz="1400" baseline="-25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zh-CN" altLang="en-US" sz="1400" baseline="-25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Nutrients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O</a:t>
                      </a:r>
                      <a:r>
                        <a:rPr lang="en-US" altLang="zh-CN" sz="1400" baseline="-250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zh-CN" altLang="en-US" sz="1400" baseline="-250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Is CO2 released to the </a:t>
                      </a:r>
                      <a:r>
                        <a:rPr lang="en-US" altLang="zh-CN" sz="1400" baseline="0" dirty="0" err="1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atm</a:t>
                      </a:r>
                      <a:r>
                        <a:rPr lang="en-US" altLang="zh-CN" sz="1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?</a:t>
                      </a:r>
                      <a:endParaRPr lang="zh-CN" altLang="en-US" sz="1400" baseline="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03876"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    nutrients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Surface</a:t>
                      </a:r>
                      <a:r>
                        <a:rPr lang="en-US" altLang="zh-CN" sz="1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water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No/Yes (C sink/course)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03876"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Sub-surface water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462565"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      DOC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03876"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       fresh terrestrial OM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  <a:tr h="591055">
                <a:tc>
                  <a:txBody>
                    <a:bodyPr/>
                    <a:lstStyle/>
                    <a:p>
                      <a:r>
                        <a:rPr lang="en-US" altLang="zh-CN" sz="1400" baseline="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       aged OM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-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</a:rPr>
                        <a:t>X</a:t>
                      </a:r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accent3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下箭头 3"/>
          <p:cNvSpPr/>
          <p:nvPr/>
        </p:nvSpPr>
        <p:spPr>
          <a:xfrm>
            <a:off x="4724400" y="1276350"/>
            <a:ext cx="1524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752600" y="3844219"/>
            <a:ext cx="7086600" cy="480131"/>
          </a:xfrm>
          <a:prstGeom prst="rect">
            <a:avLst/>
          </a:prstGeom>
          <a:noFill/>
          <a:ln w="9525">
            <a:solidFill>
              <a:schemeClr val="accent3">
                <a:lumMod val="75000"/>
              </a:schemeClr>
            </a:solidFill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defRPr/>
            </a:pPr>
            <a:r>
              <a:rPr lang="en-US" altLang="zh-CN" sz="1400" b="1" dirty="0">
                <a:latin typeface="Arial" panose="020B0604020202020204" pitchFamily="34" charset="0"/>
              </a:rPr>
              <a:t>106 CO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 + 122 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O + 16 HNO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 + 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PO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4</a:t>
            </a:r>
            <a:r>
              <a:rPr lang="en-US" altLang="zh-CN" sz="1400" b="1" dirty="0">
                <a:latin typeface="Arial" panose="020B0604020202020204" pitchFamily="34" charset="0"/>
              </a:rPr>
              <a:t>              (CH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O)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106</a:t>
            </a:r>
            <a:r>
              <a:rPr lang="en-US" altLang="zh-CN" sz="1400" b="1" dirty="0">
                <a:latin typeface="Arial" panose="020B0604020202020204" pitchFamily="34" charset="0"/>
              </a:rPr>
              <a:t>(NH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)16H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PO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4</a:t>
            </a:r>
            <a:r>
              <a:rPr lang="en-US" altLang="zh-CN" sz="1400" b="1" dirty="0">
                <a:latin typeface="Arial" panose="020B0604020202020204" pitchFamily="34" charset="0"/>
              </a:rPr>
              <a:t>  +  138 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endParaRPr lang="en-US" altLang="zh-CN" sz="1400" b="1" baseline="-25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 2" panose="05020102010507070707"/>
              <a:buNone/>
              <a:defRPr/>
            </a:pPr>
            <a:endParaRPr lang="en-US" altLang="zh-CN" sz="1400" b="1" baseline="-25000" dirty="0"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709738" y="4378325"/>
            <a:ext cx="7129462" cy="479425"/>
          </a:xfrm>
          <a:prstGeom prst="rect">
            <a:avLst/>
          </a:prstGeom>
          <a:noFill/>
          <a:ln w="9525">
            <a:solidFill>
              <a:schemeClr val="accent3">
                <a:lumMod val="75000"/>
              </a:schemeClr>
            </a:solidFill>
            <a:miter lim="800000"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defRPr/>
            </a:pPr>
            <a:r>
              <a:rPr lang="en-US" altLang="zh-CN" sz="1400" b="1" dirty="0">
                <a:latin typeface="Arial" panose="020B0604020202020204" pitchFamily="34" charset="0"/>
              </a:rPr>
              <a:t>(CH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O)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106</a:t>
            </a:r>
            <a:r>
              <a:rPr lang="en-US" altLang="zh-CN" sz="1400" b="1" dirty="0">
                <a:latin typeface="Arial" panose="020B0604020202020204" pitchFamily="34" charset="0"/>
              </a:rPr>
              <a:t>(NH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)16H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PO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4</a:t>
            </a:r>
            <a:r>
              <a:rPr lang="en-US" altLang="zh-CN" sz="1400" b="1" dirty="0">
                <a:latin typeface="Arial" panose="020B0604020202020204" pitchFamily="34" charset="0"/>
              </a:rPr>
              <a:t>  +  138 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                     </a:t>
            </a:r>
            <a:r>
              <a:rPr lang="en-US" altLang="zh-CN" sz="1400" b="1" dirty="0">
                <a:latin typeface="Arial" panose="020B0604020202020204" pitchFamily="34" charset="0"/>
              </a:rPr>
              <a:t>106 CO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 + 122 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2</a:t>
            </a:r>
            <a:r>
              <a:rPr lang="en-US" altLang="zh-CN" sz="1400" b="1" dirty="0">
                <a:latin typeface="Arial" panose="020B0604020202020204" pitchFamily="34" charset="0"/>
              </a:rPr>
              <a:t>O + 16 HNO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 + H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3</a:t>
            </a:r>
            <a:r>
              <a:rPr lang="en-US" altLang="zh-CN" sz="1400" b="1" dirty="0">
                <a:latin typeface="Arial" panose="020B0604020202020204" pitchFamily="34" charset="0"/>
              </a:rPr>
              <a:t>PO</a:t>
            </a:r>
            <a:r>
              <a:rPr lang="en-US" altLang="zh-CN" sz="1400" b="1" baseline="-25000" dirty="0">
                <a:latin typeface="Arial" panose="020B0604020202020204" pitchFamily="34" charset="0"/>
              </a:rPr>
              <a:t>4         </a:t>
            </a:r>
            <a:endParaRPr lang="en-US" altLang="zh-CN" sz="1400" b="1" baseline="-25000" dirty="0"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Font typeface="Wingdings 2" panose="05020102010507070707"/>
              <a:buNone/>
              <a:defRPr/>
            </a:pPr>
            <a:endParaRPr lang="en-US" altLang="zh-CN" sz="1400" b="1" baseline="-25000" dirty="0">
              <a:latin typeface="Arial" panose="020B0604020202020204" pitchFamily="34" charset="0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5181600" y="3943350"/>
            <a:ext cx="381000" cy="152400"/>
          </a:xfrm>
          <a:prstGeom prst="rightArrow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4800600" y="4476750"/>
            <a:ext cx="381000" cy="152400"/>
          </a:xfrm>
          <a:prstGeom prst="rightArrow">
            <a:avLst/>
          </a:prstGeom>
          <a:solidFill>
            <a:schemeClr val="tx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" y="3867150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photosynthesis</a:t>
            </a:r>
            <a:endParaRPr lang="zh-CN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4397573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 smtClean="0"/>
              <a:t>respiration</a:t>
            </a:r>
            <a:endParaRPr lang="zh-CN" altLang="en-US" sz="1400" dirty="0"/>
          </a:p>
        </p:txBody>
      </p:sp>
      <p:sp>
        <p:nvSpPr>
          <p:cNvPr id="12" name="上箭头 11"/>
          <p:cNvSpPr/>
          <p:nvPr/>
        </p:nvSpPr>
        <p:spPr>
          <a:xfrm>
            <a:off x="214282" y="1214428"/>
            <a:ext cx="1524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上箭头 14"/>
          <p:cNvSpPr/>
          <p:nvPr/>
        </p:nvSpPr>
        <p:spPr>
          <a:xfrm>
            <a:off x="214282" y="3214692"/>
            <a:ext cx="1524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下箭头 15"/>
          <p:cNvSpPr/>
          <p:nvPr/>
        </p:nvSpPr>
        <p:spPr>
          <a:xfrm>
            <a:off x="5994400" y="1250950"/>
            <a:ext cx="1524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上箭头 11"/>
          <p:cNvSpPr/>
          <p:nvPr/>
        </p:nvSpPr>
        <p:spPr>
          <a:xfrm>
            <a:off x="214282" y="2214560"/>
            <a:ext cx="1524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上箭头 11"/>
          <p:cNvSpPr/>
          <p:nvPr/>
        </p:nvSpPr>
        <p:spPr>
          <a:xfrm>
            <a:off x="214282" y="2571750"/>
            <a:ext cx="152400" cy="3048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066800" y="342900"/>
            <a:ext cx="5029200" cy="857250"/>
          </a:xfrm>
        </p:spPr>
        <p:txBody>
          <a:bodyPr>
            <a:normAutofit/>
          </a:bodyPr>
          <a:lstStyle/>
          <a:p>
            <a:r>
              <a:rPr lang="en-US" altLang="zh-CN" sz="3600" dirty="0" smtClean="0">
                <a:solidFill>
                  <a:srgbClr val="66FFFF"/>
                </a:solidFill>
              </a:rPr>
              <a:t>References</a:t>
            </a:r>
            <a:endParaRPr lang="zh-CN" altLang="en-US" sz="3600" dirty="0">
              <a:solidFill>
                <a:srgbClr val="66FFFF"/>
              </a:solidFill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Banerjee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L. 2007. Effect of flood on agricultural wages in Bangladesh: and empirical analysis. World Development 35 (11), 1989-2009.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Choudhury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2014. Impact of coastal embankment on the flash flood in Bangladesh: a case study. Applied Geography 24, 241-258.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Dalzell et al. 2007. The role of hydrology in annual organic carbon loads and terrestrial organic matter export from a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midwestern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agricultural watershed.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Geochimica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Cosmochimica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Acta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71, 1448-1462.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Gebremichael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2017. Flood-related increases in CO</a:t>
            </a:r>
            <a:r>
              <a:rPr lang="en-US" altLang="zh-CN" sz="1800" baseline="-250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and N</a:t>
            </a:r>
            <a:r>
              <a:rPr lang="en-US" altLang="zh-CN" sz="1800" baseline="-250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2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O emissions from a temperate coastal grassland ecosystem.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Biogeosciences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14, 2611-2626.  </a:t>
            </a:r>
            <a:endParaRPr lang="zh-CN" altLang="en-US" sz="1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内容占位符 3"/>
          <p:cNvSpPr>
            <a:spLocks noGrp="1"/>
          </p:cNvSpPr>
          <p:nvPr>
            <p:ph idx="1"/>
          </p:nvPr>
        </p:nvSpPr>
        <p:spPr>
          <a:xfrm>
            <a:off x="304800" y="777477"/>
            <a:ext cx="8229600" cy="4004073"/>
          </a:xfrm>
        </p:spPr>
        <p:txBody>
          <a:bodyPr>
            <a:normAutofit/>
          </a:bodyPr>
          <a:lstStyle/>
          <a:p>
            <a:pPr>
              <a:buSzPct val="90000"/>
              <a:buFontTx/>
              <a:buChar char="₰"/>
            </a:pP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Islam N. 2001. The open approach to flood control: the way to the future in Bangladesh. Futures 33, 783-802.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Kanii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2002. The impact on health and risk factors of the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diarrhoea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epidemics in the 1998 Bangladesh floods. Public Health 116, 68-74.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Karim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MF and Mimura N. 2008. Impacts of climate change and sea-level rise on cyclonic storm surge floods in Bangladesh. Global Environmental Change 18, 490-500.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Stagl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2013. Chapter 3. Effects of climate change on the hydrological cycle in central and eastern Europe. In</a:t>
            </a:r>
            <a:r>
              <a:rPr lang="zh-CN" altLang="en-US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“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Managing protected areas in central and eastern Europe under climate change</a:t>
            </a:r>
            <a:r>
              <a:rPr lang="zh-CN" altLang="en-US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”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(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Rannow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A and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Neubert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M, editors). Advances in Global Climate Research 58, 31-44pp.</a:t>
            </a:r>
            <a:endParaRPr lang="zh-CN" altLang="en-US" sz="1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内容占位符 3"/>
          <p:cNvSpPr>
            <a:spLocks noGrp="1"/>
          </p:cNvSpPr>
          <p:nvPr>
            <p:ph idx="1"/>
          </p:nvPr>
        </p:nvSpPr>
        <p:spPr>
          <a:xfrm>
            <a:off x="304800" y="853677"/>
            <a:ext cx="8229600" cy="4004073"/>
          </a:xfrm>
        </p:spPr>
        <p:txBody>
          <a:bodyPr>
            <a:normAutofit/>
          </a:bodyPr>
          <a:lstStyle/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Tesi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2008. Changes in the composition of organic matter from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prodeltaic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sediments after a large flood event (Po River, Italy).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Geochimica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Cosmochimica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Acta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72, 2100-2114.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Tran et al. 2008. Catastrophic flood and forest cover change in the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Huong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river basin, central Viet Nam: a gap between common perceptions and facts. Journal of Environmental Management 91, 2186-2200.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Trenberth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KE. 2005.The impact of climate change and variability on heavy precipitation, floods, and droughts. Encyclopedia of Hydrological Sciences (Anderson MG, ed.) 11 pp.</a:t>
            </a:r>
            <a:endParaRPr lang="en-US" altLang="zh-CN" sz="1800" dirty="0" smtClean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buSzPct val="90000"/>
              <a:buFontTx/>
              <a:buChar char="₰"/>
            </a:pP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Voynova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et al. 2017. Extreme flood impact on estuarine and coastal biogeochemistry: the 2013 Elbe flood. </a:t>
            </a:r>
            <a:r>
              <a:rPr lang="en-US" altLang="zh-CN" sz="1800" dirty="0" err="1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Biogeosciences</a:t>
            </a:r>
            <a:r>
              <a:rPr lang="en-US" altLang="zh-CN" sz="1800" dirty="0" smtClean="0">
                <a:solidFill>
                  <a:schemeClr val="accent4">
                    <a:lumMod val="40000"/>
                    <a:lumOff val="60000"/>
                  </a:schemeClr>
                </a:solidFill>
              </a:rPr>
              <a:t> 14, 541-557.</a:t>
            </a:r>
            <a:endParaRPr lang="zh-CN" altLang="en-US" sz="18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838200" y="1733550"/>
            <a:ext cx="7772400" cy="1102519"/>
          </a:xfrm>
        </p:spPr>
        <p:txBody>
          <a:bodyPr>
            <a:noAutofit/>
          </a:bodyPr>
          <a:lstStyle/>
          <a:p>
            <a:r>
              <a:rPr lang="en-US" altLang="zh-CN" sz="8000" b="1" dirty="0" smtClean="0">
                <a:solidFill>
                  <a:srgbClr val="FFFF00"/>
                </a:solidFill>
              </a:rPr>
              <a:t>THANK YOU</a:t>
            </a:r>
            <a:endParaRPr lang="zh-CN" altLang="en-US" sz="8000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ABLE_BEAUTIFY" val="smartTable{070c65e5-859d-4a59-910d-a36af3960220}"/>
</p:tagLst>
</file>

<file path=ppt/tags/tag2.xml><?xml version="1.0" encoding="utf-8"?>
<p:tagLst xmlns:p="http://schemas.openxmlformats.org/presentationml/2006/main">
  <p:tag name="COMMONDATA" val="eyJoZGlkIjoiODE2MTZiYzYxYzViY2UxNzIwYTQxNDMzMzYzZjFhOTUifQ=="/>
  <p:tag name="KSO_WPP_MARK_KEY" val="6f9f4ae9-42e5-4d4b-91b3-ea6512bb86b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凤舞九天">
  <a:themeElements>
    <a:clrScheme name="纸张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0</TotalTime>
  <Words>5709</Words>
  <Application>WPS 演示</Application>
  <PresentationFormat>On-screen Show (16:9)</PresentationFormat>
  <Paragraphs>208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6" baseType="lpstr">
      <vt:lpstr>Arial</vt:lpstr>
      <vt:lpstr>宋体</vt:lpstr>
      <vt:lpstr>Wingdings</vt:lpstr>
      <vt:lpstr>Wingdings 2</vt:lpstr>
      <vt:lpstr>Wingdings</vt:lpstr>
      <vt:lpstr>Arial</vt:lpstr>
      <vt:lpstr>Georgia</vt:lpstr>
      <vt:lpstr>Footlight MT Light</vt:lpstr>
      <vt:lpstr>Segoe Print</vt:lpstr>
      <vt:lpstr>Goudy Old Style</vt:lpstr>
      <vt:lpstr>微软雅黑</vt:lpstr>
      <vt:lpstr>Arial Unicode MS</vt:lpstr>
      <vt:lpstr>华文新魏</vt:lpstr>
      <vt:lpstr>Calibri</vt:lpstr>
      <vt:lpstr>Arial Rounded MT Bold</vt:lpstr>
      <vt:lpstr>凤舞九天</vt:lpstr>
      <vt:lpstr>~ 7.2 FLOOD ~</vt:lpstr>
      <vt:lpstr>CONTENTS</vt:lpstr>
      <vt:lpstr>IMPACTS OF CLIMATE CHANGE AND HUMAN ACTIVITIES</vt:lpstr>
      <vt:lpstr>PowerPoint 演示文稿</vt:lpstr>
      <vt:lpstr>Key changes to hydrological cycle due to increased greenhouse gasses </vt:lpstr>
      <vt:lpstr>Climate change and flood/drought</vt:lpstr>
      <vt:lpstr>Human activities and flood</vt:lpstr>
      <vt:lpstr>Impacts of flood on carbon &amp; nutrient cycle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PowerPoint 演示文稿</vt:lpstr>
      <vt:lpstr>References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BANGLADESH –  a case study</dc:title>
  <dc:creator>Peisun</dc:creator>
  <cp:lastModifiedBy>LOH PEI SUN</cp:lastModifiedBy>
  <cp:revision>285</cp:revision>
  <dcterms:created xsi:type="dcterms:W3CDTF">2006-08-16T00:00:00Z</dcterms:created>
  <dcterms:modified xsi:type="dcterms:W3CDTF">2026-05-31T06:15:28Z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D314080411C742FBA520F220BF6485E8</vt:lpwstr>
  </property>
  <property fmtid="{D5CDD505-2E9C-101B-9397-08002B2CF9AE}" pid="3" name="KSOProductBuildVer">
    <vt:lpwstr>2052-12.1.0.26375</vt:lpwstr>
  </property>
</Properties>
</file>