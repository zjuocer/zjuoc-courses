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64" r:id="rId4"/>
    <p:sldId id="257" r:id="rId5"/>
    <p:sldId id="258" r:id="rId6"/>
    <p:sldId id="259" r:id="rId7"/>
    <p:sldId id="261" r:id="rId8"/>
    <p:sldId id="262" r:id="rId9"/>
    <p:sldId id="260" r:id="rId10"/>
    <p:sldId id="263" r:id="rId11"/>
    <p:sldId id="264" r:id="rId12"/>
    <p:sldId id="266" r:id="rId13"/>
    <p:sldId id="397" r:id="rId14"/>
    <p:sldId id="398" r:id="rId15"/>
    <p:sldId id="399" r:id="rId16"/>
    <p:sldId id="428" r:id="rId17"/>
    <p:sldId id="429" r:id="rId18"/>
    <p:sldId id="267" r:id="rId19"/>
    <p:sldId id="268" r:id="rId20"/>
    <p:sldId id="269" r:id="rId21"/>
    <p:sldId id="270" r:id="rId22"/>
    <p:sldId id="271" r:id="rId23"/>
    <p:sldId id="316" r:id="rId24"/>
    <p:sldId id="272" r:id="rId25"/>
    <p:sldId id="273" r:id="rId26"/>
    <p:sldId id="274" r:id="rId27"/>
    <p:sldId id="275" r:id="rId28"/>
    <p:sldId id="276" r:id="rId29"/>
    <p:sldId id="265" r:id="rId30"/>
    <p:sldId id="278" r:id="rId31"/>
    <p:sldId id="279" r:id="rId32"/>
    <p:sldId id="280" r:id="rId33"/>
    <p:sldId id="281" r:id="rId34"/>
    <p:sldId id="282" r:id="rId35"/>
    <p:sldId id="357" r:id="rId36"/>
    <p:sldId id="430" r:id="rId37"/>
    <p:sldId id="426" r:id="rId38"/>
    <p:sldId id="312" r:id="rId39"/>
  </p:sldIdLst>
  <p:sldSz cx="9144000" cy="5143500" type="screen16x9"/>
  <p:notesSz cx="6858000" cy="9144000"/>
  <p:custDataLst>
    <p:tags r:id="rId43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7D521D"/>
    <a:srgbClr val="9B891D"/>
    <a:srgbClr val="B0BC00"/>
    <a:srgbClr val="CCFF99"/>
    <a:srgbClr val="66FF33"/>
    <a:srgbClr val="FF00FF"/>
    <a:srgbClr val="FF99FF"/>
    <a:srgbClr val="CCFF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47" d="100"/>
          <a:sy n="147" d="100"/>
        </p:scale>
        <p:origin x="-378" y="-96"/>
      </p:cViewPr>
      <p:guideLst>
        <p:guide orient="horz" pos="162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gs" Target="tags/tag5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485900"/>
            <a:ext cx="7772400" cy="1407321"/>
          </a:xfrm>
        </p:spPr>
        <p:txBody>
          <a:bodyPr anchor="b"/>
          <a:lstStyle>
            <a:lvl1pPr algn="ctr">
              <a:defRPr sz="44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893221"/>
            <a:ext cx="6400800" cy="13149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890612"/>
            <a:ext cx="7772400" cy="1395638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767321"/>
            <a:ext cx="7772400" cy="1125900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l">
              <a:buNone/>
              <a:defRPr sz="1800">
                <a:solidFill>
                  <a:schemeClr val="tx2"/>
                </a:solidFill>
              </a:defRPr>
            </a:lvl2pPr>
            <a:lvl3pPr marL="914400" indent="0" algn="l">
              <a:buNone/>
              <a:defRPr sz="1600">
                <a:solidFill>
                  <a:schemeClr val="tx2"/>
                </a:solidFill>
              </a:defRPr>
            </a:lvl3pPr>
            <a:lvl4pPr marL="1371600" indent="0" algn="l">
              <a:buNone/>
              <a:defRPr sz="1400">
                <a:solidFill>
                  <a:schemeClr val="tx2"/>
                </a:solidFill>
              </a:defRPr>
            </a:lvl4pPr>
            <a:lvl5pPr marL="1828800" indent="0" algn="l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9525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62513"/>
            <a:ext cx="2895600" cy="274638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2938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solidFill>
                  <a:srgbClr val="FFFFFF"/>
                </a:solidFill>
                <a:ea typeface="华文行楷" panose="02010800040101010101" pitchFamily="2" charset="-122"/>
              </a:rPr>
            </a:fld>
            <a:endParaRPr lang="en-US" altLang="zh-CN" dirty="0">
              <a:solidFill>
                <a:srgbClr val="FFFFFF"/>
              </a:solidFill>
              <a:ea typeface="华文行楷" panose="02010800040101010101" pitchFamily="2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6258" y="285750"/>
            <a:ext cx="2667000" cy="1375166"/>
          </a:xfrm>
        </p:spPr>
        <p:txBody>
          <a:bodyPr/>
          <a:lstStyle>
            <a:lvl1pPr algn="l">
              <a:defRPr sz="3200" b="1" kern="1200" cap="all" spc="50">
                <a:ln w="158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800" y="285750"/>
            <a:ext cx="5410200" cy="430887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6258" y="1660915"/>
            <a:ext cx="2667000" cy="29341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6"/>
          <p:cNvGrpSpPr/>
          <p:nvPr/>
        </p:nvGrpSpPr>
        <p:grpSpPr>
          <a:xfrm>
            <a:off x="1581150" y="415925"/>
            <a:ext cx="7348538" cy="3556000"/>
            <a:chOff x="428596" y="553734"/>
            <a:chExt cx="7349244" cy="4741531"/>
          </a:xfrm>
        </p:grpSpPr>
        <p:sp>
          <p:nvSpPr>
            <p:cNvPr id="8" name="矩形 7"/>
            <p:cNvSpPr/>
            <p:nvPr/>
          </p:nvSpPr>
          <p:spPr>
            <a:xfrm rot="21480000">
              <a:off x="428596" y="581252"/>
              <a:ext cx="7339718" cy="4714013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 rot="21540000">
              <a:off x="438122" y="570668"/>
              <a:ext cx="7339718" cy="4716130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38122" y="553734"/>
              <a:ext cx="7339718" cy="4714014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651912" y="459582"/>
            <a:ext cx="7215238" cy="3451631"/>
          </a:xfrm>
          <a:solidFill>
            <a:schemeClr val="bg2">
              <a:tint val="75000"/>
            </a:schemeClr>
          </a:solidFill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46472"/>
            <a:ext cx="1357290" cy="4268420"/>
          </a:xfrm>
          <a:noFill/>
        </p:spPr>
        <p:txBody>
          <a:bodyPr vert="eaVert"/>
          <a:lstStyle>
            <a:lvl1pPr algn="l">
              <a:defRPr lang="zh-CN" altLang="en-US" sz="32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14480" y="4111243"/>
            <a:ext cx="7215238" cy="603647"/>
          </a:xfrm>
        </p:spPr>
        <p:txBody>
          <a:bodyPr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9525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862513"/>
            <a:ext cx="2895600" cy="274638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992938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ea typeface="华文行楷" panose="02010800040101010101" pitchFamily="2" charset="-122"/>
              </a:rPr>
            </a:fld>
            <a:endParaRPr lang="en-US" altLang="zh-CN" dirty="0"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05980"/>
            <a:ext cx="1400156" cy="4388644"/>
          </a:xfrm>
        </p:spPr>
        <p:txBody>
          <a:bodyPr vert="eaVert"/>
          <a:lstStyle>
            <a:lvl1pPr>
              <a:defRPr lang="zh-CN" altLang="en-US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829444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543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525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62513"/>
            <a:ext cx="2895600" cy="274638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2938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>
            <a:lvl1pPr algn="r">
              <a:defRPr sz="1200">
                <a:solidFill>
                  <a:srgbClr val="898989"/>
                </a:solidFill>
                <a:ea typeface="华文行楷" panose="0201080004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 cap="all" spc="50" dirty="0">
          <a:ln w="1587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31750" dir="3600000" algn="tl" rotWithShape="0">
              <a:srgbClr val="000000">
                <a:alpha val="60000"/>
              </a:srgbClr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Cambria" panose="020405030504060302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Cambria" panose="020405030504060302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Cambria" panose="020405030504060302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Cambria" panose="02040503050406030204" pitchFamily="18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Cambria" panose="02040503050406030204" pitchFamily="18" charset="0"/>
        <a:buChar char="+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Cambria" panose="02040503050406030204" pitchFamily="18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Ï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Calibri" panose="020F0502020204030204" pitchFamily="34" charset="0"/>
        <a:buChar char="÷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Cambria" panose="02040503050406030204" pitchFamily="18" charset="0"/>
        <a:buChar char="=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en.wikipedia.org/wiki/Weather" TargetMode="External"/><Relationship Id="rId1" Type="http://schemas.openxmlformats.org/officeDocument/2006/relationships/hyperlink" Target="https://en.wikipedia.org/wiki/Climate_system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image" Target="../media/image10.jpeg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jpeg"/><Relationship Id="rId8" Type="http://schemas.openxmlformats.org/officeDocument/2006/relationships/image" Target="../media/image18.jpeg"/><Relationship Id="rId7" Type="http://schemas.openxmlformats.org/officeDocument/2006/relationships/image" Target="../media/image17.jpeg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0.jpeg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jpeg"/><Relationship Id="rId8" Type="http://schemas.openxmlformats.org/officeDocument/2006/relationships/image" Target="../media/image28.jpeg"/><Relationship Id="rId7" Type="http://schemas.openxmlformats.org/officeDocument/2006/relationships/image" Target="../media/image27.jpeg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1.jpeg"/><Relationship Id="rId10" Type="http://schemas.openxmlformats.org/officeDocument/2006/relationships/image" Target="../media/image30.jpeg"/><Relationship Id="rId1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G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GI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jpeg"/><Relationship Id="rId1" Type="http://schemas.openxmlformats.org/officeDocument/2006/relationships/hyperlink" Target="http://www.google.co.uk/url?sa=i&amp;rct=j&amp;q=&amp;esrc=s&amp;source=images&amp;cd=&amp;cad=rja&amp;uact=8&amp;docid=3jE_v90Rl8WqWM&amp;tbnid=oeju-09YVtlXkM:&amp;ved=0CAUQjRw&amp;url=http://archaeologynewsnetwork.blogspot.com/2013/01/erosion-damaging-scotlands.html&amp;ei=BzWnU_GyDoaA8gWMjYHQCw&amp;bvm=bv.69411363,d.dGc&amp;psig=AFQjCNF3ZCS9k76PVSVY9hz5LpayUAR1Yw&amp;ust=1403553382240440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jpeg"/><Relationship Id="rId1" Type="http://schemas.openxmlformats.org/officeDocument/2006/relationships/hyperlink" Target="http://www.google.co.uk/url?sa=i&amp;rct=j&amp;q=&amp;esrc=s&amp;source=images&amp;cd=&amp;cad=rja&amp;uact=8&amp;docid=C563iwwhTCn9HM&amp;tbnid=viU6Rx0qC1iTEM:&amp;ved=0CAUQjRw&amp;url=http://tripologist.com/photo-friday/photo-of-the-week-uncovering-thailands-ancient-past-in-sukhothai/&amp;ei=RTinU_adKcyC8gXH2oFQ&amp;bvm=bv.69411363,d.dGc&amp;psig=AFQjCNEyVpTYyHVtCF96eWDMkUyXdp6Rbw&amp;ust=1403554180206811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3.jpeg"/><Relationship Id="rId7" Type="http://schemas.openxmlformats.org/officeDocument/2006/relationships/hyperlink" Target="http://www.kids.esdb.bg/ocean.html" TargetMode="External"/><Relationship Id="rId6" Type="http://schemas.openxmlformats.org/officeDocument/2006/relationships/image" Target="../media/image42.jpeg"/><Relationship Id="rId5" Type="http://schemas.openxmlformats.org/officeDocument/2006/relationships/hyperlink" Target="http://www.google.co.uk/url?sa=i&amp;rct=j&amp;q=&amp;esrc=s&amp;source=images&amp;cd=&amp;cad=rja&amp;uact=8&amp;docid=OEju6ZSExyyECM&amp;tbnid=ZeEJ-k4tRnVlQM:&amp;ved=0CAUQjRw&amp;url=http://solarenergyusages.com/tag/picture-of-solar/&amp;ei=pjqnU-j1Iszd8AWP2oDABQ&amp;bvm=bv.69411363,d.dGc&amp;psig=AFQjCNGfcglMC9dduXb6yJ9apAyEmSW5HQ&amp;ust=1403554832390319" TargetMode="External"/><Relationship Id="rId4" Type="http://schemas.openxmlformats.org/officeDocument/2006/relationships/image" Target="../media/image41.jpeg"/><Relationship Id="rId3" Type="http://schemas.openxmlformats.org/officeDocument/2006/relationships/hyperlink" Target="http://www.google.co.uk/url?sa=i&amp;source=images&amp;cd=&amp;cad=rja&amp;uact=8&amp;docid=11e9G-Kc70ZmlM&amp;tbnid=qaAIXTK67jN8dM&amp;ved=0CAgQjRw&amp;url=http://en.wikipedia.org/wiki/Thermal_power_station&amp;ei=GjqnU8e0A9eD8gWPtICYAg&amp;psig=AFQjCNEQSG5TrlnbtOrttJ6y32USl45IMg&amp;ust=1403554714152799" TargetMode="External"/><Relationship Id="rId2" Type="http://schemas.openxmlformats.org/officeDocument/2006/relationships/image" Target="../media/image40.jpeg"/><Relationship Id="rId1" Type="http://schemas.openxmlformats.org/officeDocument/2006/relationships/hyperlink" Target="http://www.google.co.uk/url?sa=i&amp;rct=j&amp;q=&amp;esrc=s&amp;source=images&amp;cd=&amp;cad=rja&amp;uact=8&amp;docid=mAACHVd_1tcatM&amp;tbnid=G5smkQrmxObyCM:&amp;ved=0CAUQjRw&amp;url=http://www.offshorewind.biz/2012/07/16/japan-hitachi-to-develop-5mw-downwind-ocean-wind-turbine/&amp;ei=ZDmnU-7NEcfi8AWMn4CgBA&amp;bvm=bv.69411363,d.dGc&amp;psig=AFQjCNE6C4CvV-JbASGVf1Uw51tk6gXvSw&amp;ust=1403554493407338" TargetMode="Externa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hyperlink" Target="http://www.google.co.uk/url?sa=i&amp;rct=j&amp;q=&amp;esrc=s&amp;source=images&amp;cd=&amp;cad=rja&amp;uact=8&amp;docid=AoeHoHP5mT9u4M&amp;tbnid=57zIHmmYkxzUJM:&amp;ved=0CAUQjRw&amp;url=http://nicklavin.deviantart.com/art/Walk-Cycle-172031859&amp;ei=T0GnU_nNHIby8QX784LwBg&amp;bvm=bv.69411363,d.dGc&amp;psig=AFQjCNHPuj5SESJQmBB9bP6rfycOihIzPg&amp;ust=1403556503887003" TargetMode="External"/><Relationship Id="rId8" Type="http://schemas.openxmlformats.org/officeDocument/2006/relationships/image" Target="../media/image47.jpeg"/><Relationship Id="rId7" Type="http://schemas.openxmlformats.org/officeDocument/2006/relationships/hyperlink" Target="http://www.google.co.uk/url?sa=i&amp;rct=j&amp;q=&amp;esrc=s&amp;source=images&amp;cd=&amp;cad=rja&amp;uact=8&amp;docid=gSyV2burgAcuWM&amp;tbnid=zRXniJsDLJacCM:&amp;ved=0CAUQjRw&amp;url=http://www.shutterstock.com/s/light+switch+off/search.html&amp;ei=9z-nU_uvIYbo8AWu94CYBw&amp;bvm=bv.69411363,d.dGc&amp;psig=AFQjCNH0KdOaK19gqSuj4tfOSqLSdbY9UA&amp;ust=1403556199265068" TargetMode="External"/><Relationship Id="rId6" Type="http://schemas.openxmlformats.org/officeDocument/2006/relationships/image" Target="../media/image46.png"/><Relationship Id="rId5" Type="http://schemas.openxmlformats.org/officeDocument/2006/relationships/hyperlink" Target="http://www.google.co.uk/url?sa=i&amp;rct=j&amp;q=&amp;esrc=s&amp;source=images&amp;cd=&amp;cad=rja&amp;uact=8&amp;docid=G6bdUPSwNDkHfM&amp;tbnid=73ePwXM1uaCrIM:&amp;ved=0CAUQjRw&amp;url=http://www.seton.co.uk/please-ensure-you-turn-off-the-taps-sign.html&amp;ei=kT-nU-elIofg8AXLl4HwBQ&amp;bvm=bv.69411363,d.dGc&amp;psig=AFQjCNHwtJALUTzt8F3gUvm2LDjEFF6f-A&amp;ust=1403556058953089" TargetMode="External"/><Relationship Id="rId4" Type="http://schemas.openxmlformats.org/officeDocument/2006/relationships/image" Target="../media/image45.png"/><Relationship Id="rId3" Type="http://schemas.openxmlformats.org/officeDocument/2006/relationships/hyperlink" Target="http://www.google.co.uk/url?sa=i&amp;rct=j&amp;q=&amp;esrc=s&amp;source=images&amp;cd=&amp;cad=rja&amp;uact=8&amp;docid=vwUh9SdPlxEvrM&amp;tbnid=dWp_QRa1B3sa5M:&amp;ved=0CAUQjRw&amp;url=http://www.sodahead.com/living/do-you-turn-off-the-water-tap-while-you-brush-your-teeth/question-237262/&amp;ei=uT-nU-rADNaC8gXnwIGgDw&amp;bvm=bv.69411363,d.dGc&amp;psig=AFQjCNHwtJALUTzt8F3gUvm2LDjEFF6f-A&amp;ust=1403556058953089" TargetMode="External"/><Relationship Id="rId2" Type="http://schemas.openxmlformats.org/officeDocument/2006/relationships/image" Target="../media/image44.jpe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52.jpeg"/><Relationship Id="rId17" Type="http://schemas.openxmlformats.org/officeDocument/2006/relationships/hyperlink" Target="http://www.google.co.uk/url?sa=i&amp;rct=j&amp;q=&amp;esrc=s&amp;source=images&amp;cd=&amp;cad=rja&amp;uact=8&amp;docid=GSs7GbUQDyiZCM&amp;tbnid=GdebsrnvK4oRAM:&amp;ved=0CAUQjRw&amp;url=http://www.zachpanzer.com/General-Nutrition-Centers&amp;ei=YkOnU8a0NoH48QW59IK4CQ&amp;bvm=bv.69411363,d.dGc&amp;psig=AFQjCNGI2KOAjtwSqkA15vj_mv9vHgLqbA&amp;ust=1403557026950314" TargetMode="External"/><Relationship Id="rId16" Type="http://schemas.openxmlformats.org/officeDocument/2006/relationships/image" Target="../media/image51.jpeg"/><Relationship Id="rId15" Type="http://schemas.openxmlformats.org/officeDocument/2006/relationships/hyperlink" Target="http://www.google.co.uk/url?sa=i&amp;rct=j&amp;q=&amp;esrc=s&amp;source=images&amp;cd=&amp;cad=rja&amp;uact=8&amp;docid=eXM9sJ85Lj30xM&amp;tbnid=4OxAj7_5vQWjnM:&amp;ved=0CAUQjRw&amp;url=http://vienna-wv.com/portal/city-information/recycling/&amp;ei=1UKnU-SYJsXc8AWiroD4AQ&amp;bvm=bv.69411363,d.dGc&amp;psig=AFQjCNFsLDX3rV2cMYRqKrKn-Q0H8ibEVg&amp;ust=1403556937140895" TargetMode="External"/><Relationship Id="rId14" Type="http://schemas.openxmlformats.org/officeDocument/2006/relationships/image" Target="../media/image50.jpeg"/><Relationship Id="rId13" Type="http://schemas.openxmlformats.org/officeDocument/2006/relationships/hyperlink" Target="http://www.google.co.uk/url?sa=i&amp;rct=j&amp;q=&amp;esrc=s&amp;source=images&amp;cd=&amp;cad=rja&amp;uact=8&amp;docid=FFY7MLoW1mxCHM&amp;tbnid=vBr3aDPyDEZ1xM:&amp;ved=0CAUQjRw&amp;url=http://students.ou.edu/P/Briana.E.Paulman-1/new.html&amp;ei=C0OnU6D0Bsbq8AWfn4DQDQ&amp;bvm=bv.69411363,d.dGc&amp;psig=AFQjCNFsLDX3rV2cMYRqKrKn-Q0H8ibEVg&amp;ust=1403556937140895" TargetMode="External"/><Relationship Id="rId12" Type="http://schemas.openxmlformats.org/officeDocument/2006/relationships/image" Target="../media/image49.jpeg"/><Relationship Id="rId11" Type="http://schemas.openxmlformats.org/officeDocument/2006/relationships/hyperlink" Target="https://www.google.co.uk/url?sa=i&amp;rct=j&amp;q=&amp;esrc=s&amp;source=images&amp;cd=&amp;cad=rja&amp;uact=8&amp;docid=Y2-nof6uGJcj9M&amp;tbnid=-XPdjjnBmKGEnM:&amp;ved=0CAUQjRw&amp;url=https://cyclinglondononline.wordpress.com/tag/health/&amp;ei=80GnU-bpNo3f8AXwzILoCA&amp;bvm=bv.69411363,d.dGc&amp;psig=AFQjCNGdBd6D8ZM-T6k05Bfo7ION2RwpkQ&amp;ust=1403556661668082" TargetMode="External"/><Relationship Id="rId10" Type="http://schemas.openxmlformats.org/officeDocument/2006/relationships/image" Target="../media/image48.GIF"/><Relationship Id="rId1" Type="http://schemas.openxmlformats.org/officeDocument/2006/relationships/hyperlink" Target="http://www.google.co.uk/url?sa=i&amp;rct=j&amp;q=&amp;esrc=s&amp;source=images&amp;cd=&amp;cad=rja&amp;uact=8&amp;docid=F0jGz3PeNqGV-M&amp;tbnid=RaeQerUobywO2M:&amp;ved=0CAUQjRw&amp;url=http://www.passmyexams.co.uk/GCSE/physics/energy-transfer.html&amp;ei=oT2nU7eJOcz58QWe1IDoDA&amp;bvm=bv.69411363,d.dGc&amp;psig=AFQjCNEqGDzOEuR8Ee-cvOtDkM6rvBPtSA&amp;ust=1403555599206973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" y="71420"/>
            <a:ext cx="8763000" cy="2302671"/>
          </a:xfrm>
          <a:noFill/>
          <a:ln>
            <a:noFill/>
          </a:ln>
          <a:effectLst/>
          <a:sp3d prstMaterial="plastic"/>
        </p:spPr>
        <p:txBody>
          <a:bodyPr vert="horz" rtlCol="0" anchor="b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all" spc="50" normalizeH="0" baseline="0" noProof="0" dirty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OCEAN IN TIMEs OF INTENSE CHANGE</a:t>
            </a:r>
            <a:endParaRPr kumimoji="0" lang="zh-CN" altLang="en-US" sz="6600" b="1" i="0" u="none" strike="noStrike" kern="1200" cap="all" spc="50" normalizeH="0" baseline="0" noProof="0" dirty="0">
              <a:ln w="15875" cmpd="sng">
                <a:solidFill>
                  <a:srgbClr val="FFFFFF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2500312"/>
            <a:ext cx="8991600" cy="2090738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bria" panose="02040503050406030204"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罗佩珊</a:t>
            </a:r>
            <a:endParaRPr kumimoji="0" lang="en-US" altLang="zh-CN" sz="36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MV Boli" panose="02000500030200090000" pitchFamily="2" charset="0"/>
              <a:ea typeface="+mn-ea"/>
              <a:cs typeface="MV Boli" panose="0200050003020009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bria" panose="02040503050406030204"/>
              <a:buNone/>
              <a:defRPr/>
            </a:pPr>
            <a:r>
              <a:rPr lang="zh-CN" altLang="en-US" sz="3600" dirty="0" smtClean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浙江大学</a:t>
            </a:r>
            <a:r>
              <a:rPr lang="en-US" altLang="zh-CN" sz="3600" dirty="0" smtClean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zh-CN" altLang="en-US" sz="3600" dirty="0" smtClean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海洋学院</a:t>
            </a:r>
            <a:endParaRPr lang="en-US" altLang="zh-CN" sz="3600" dirty="0" smtClean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bria" panose="02040503050406030204"/>
              <a:buNone/>
              <a:defRPr/>
            </a:pPr>
            <a:r>
              <a:rPr kumimoji="0" lang="en-US" altLang="zh-CN" sz="3600" b="0" i="0" u="none" strike="noStrike" kern="1200" cap="none" spc="0" normalizeH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2026</a:t>
            </a:r>
            <a:r>
              <a:rPr kumimoji="0" lang="zh-CN" altLang="en-US" sz="3600" b="0" i="0" u="none" strike="noStrike" kern="1200" cap="none" spc="0" normalizeH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年</a:t>
            </a:r>
            <a:r>
              <a:rPr kumimoji="0" lang="en-US" altLang="zh-CN" sz="3600" b="0" i="0" u="none" strike="noStrike" kern="1200" cap="none" spc="0" normalizeH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4</a:t>
            </a:r>
            <a:r>
              <a:rPr kumimoji="0" lang="zh-CN" altLang="en-US" sz="3600" b="0" i="0" u="none" strike="noStrike" kern="1200" cap="none" spc="0" normalizeH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月</a:t>
            </a:r>
            <a:r>
              <a:rPr kumimoji="0" lang="en-US" altLang="zh-CN" sz="3600" b="0" i="0" u="none" strike="noStrike" kern="1200" cap="none" spc="0" normalizeH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30</a:t>
            </a:r>
            <a:r>
              <a:rPr kumimoji="0" lang="zh-CN" altLang="en-US" sz="3600" b="0" i="0" u="none" strike="noStrike" kern="1200" cap="none" spc="0" normalizeH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日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MV Boli" panose="02000500030200090000" pitchFamily="2" charset="0"/>
              <a:ea typeface="+mn-ea"/>
              <a:cs typeface="MV Boli" panose="0200050003020009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52400" y="285734"/>
            <a:ext cx="8763000" cy="3993515"/>
          </a:xfrm>
          <a:prstGeom prst="rect">
            <a:avLst/>
          </a:prstGeom>
        </p:spPr>
        <p:txBody>
          <a:bodyPr anchor="ctr"/>
          <a:lstStyle/>
          <a:p>
            <a:pPr marR="0" algn="ctr" defTabSz="914400" fontAlgn="auto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kern="1200" normalizeH="0" baseline="0" noProof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Previous name:</a:t>
            </a:r>
            <a:endParaRPr kumimoji="0" lang="en-US" altLang="zh-CN" sz="4400" b="1" kern="1200" normalizeH="0" baseline="0" noProof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R="0" algn="ctr" defTabSz="914400" fontAlgn="auto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kern="1200" normalizeH="0" baseline="0" noProof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MARINE ENVIRONMENT AND GLOBAL </a:t>
            </a:r>
            <a:r>
              <a:rPr kumimoji="0" lang="en-US" altLang="zh-CN" sz="4400" b="1" kern="1200" normalizeH="0" baseline="0" noProof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CLIMATE</a:t>
            </a:r>
            <a:br>
              <a:rPr kumimoji="0" lang="en-US" altLang="zh-CN" sz="4400" b="1" kern="1200" normalizeH="0" baseline="0" noProof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en-US" altLang="zh-CN" sz="4400" b="1" kern="1200" normalizeH="0" baseline="0" noProof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CHANGE</a:t>
            </a:r>
            <a:endParaRPr kumimoji="0" lang="en-US" altLang="zh-CN" sz="4400" b="1" kern="1200" normalizeH="0" baseline="0" noProof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R="0" algn="ctr" defTabSz="914400" fontAlgn="auto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kern="1200" normalizeH="0" baseline="0" noProof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海洋环境与气候变化</a:t>
            </a:r>
            <a:endParaRPr kumimoji="0" lang="zh-CN" altLang="en-US" sz="4800" b="1" kern="1200" normalizeH="0" baseline="0" noProof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33350"/>
            <a:ext cx="8229600" cy="85725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all" spc="50" normalizeH="0" baseline="0" noProof="0" dirty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history</a:t>
            </a:r>
            <a:endParaRPr kumimoji="0" lang="zh-CN" altLang="en-US" sz="4800" b="1" i="0" u="none" strike="noStrike" kern="1200" cap="all" spc="50" normalizeH="0" baseline="0" noProof="0" dirty="0">
              <a:ln w="15875" cmpd="sng">
                <a:solidFill>
                  <a:srgbClr val="FFFFFF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971550"/>
            <a:ext cx="8915400" cy="3962400"/>
          </a:xfrm>
        </p:spPr>
        <p:txBody>
          <a:bodyPr vert="horz" wrap="square" lIns="91440" tIns="45720" rIns="91440" bIns="45720" numCol="1" rtlCol="0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2014: Marine Chemistry and Global Climate Change – started by Prof. Chen Chen-Tung Arthur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2015-2017: Marine Chemistry and Global Climate Change – Dr. </a:t>
            </a: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Loh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Pei Sun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2018-2020: Marine Environment and Global Climate Change (combination with climate change on policy and economical aspects) – Dr. </a:t>
            </a: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Loh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Pei Sun and Dr. Ye </a:t>
            </a: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Guanqiong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2021 to</a:t>
            </a:r>
            <a:r>
              <a:rPr kumimoji="0" lang="en-US" altLang="zh-CN" sz="2400" b="0" i="0" u="none" strike="noStrike" kern="1200" cap="none" spc="0" normalizeH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date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Ocean in Times of Intense Change – Dr. </a:t>
            </a: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Loh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Pei Sun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2024: Dr Loh Pei Sun and Prof Xiao Xi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2025: Dr Loh Pei Sun and Prof Chen Xue-Gang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495300"/>
            <a:ext cx="8229600" cy="85725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all" spc="50" normalizeH="0" baseline="0" noProof="0" dirty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The objectives</a:t>
            </a:r>
            <a:endParaRPr kumimoji="0" lang="zh-CN" altLang="en-US" sz="4800" b="1" i="0" u="none" strike="noStrike" kern="1200" cap="all" spc="50" normalizeH="0" baseline="0" noProof="0" dirty="0">
              <a:ln w="15875" cmpd="sng">
                <a:solidFill>
                  <a:srgbClr val="FFFFFF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19250"/>
            <a:ext cx="8229600" cy="208343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ü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improve understanding on the impacts of climate change (and human activities) on the dynamics of the marine environments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8100"/>
            <a:ext cx="8229600" cy="85725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dirty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Course outline</a:t>
            </a:r>
            <a:endParaRPr kumimoji="0" lang="zh-CN" altLang="en-US" sz="4000" b="1" i="0" u="none" strike="noStrike" kern="1200" cap="all" spc="50" normalizeH="0" baseline="0" noProof="0" dirty="0">
              <a:ln w="15875" cmpd="sng">
                <a:solidFill>
                  <a:srgbClr val="FFFFFF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2250" y="663575"/>
          <a:ext cx="8769350" cy="4278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265"/>
                <a:gridCol w="2133600"/>
                <a:gridCol w="5912485"/>
              </a:tblGrid>
              <a:tr h="44640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Week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Subject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Summary</a:t>
                      </a:r>
                      <a:endParaRPr lang="zh-CN" altLang="en-US" sz="1800" dirty="0"/>
                    </a:p>
                  </a:txBody>
                  <a:tcPr/>
                </a:tc>
              </a:tr>
              <a:tr h="36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Introduction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Climate change - causes and consequences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40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Climate indicators</a:t>
                      </a:r>
                      <a:endParaRPr lang="en-US" altLang="zh-C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sym typeface="+mn-ea"/>
                        </a:rPr>
                        <a:t>Ocean: impacts of climate change on ocean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Hydrological</a:t>
                      </a:r>
                      <a:r>
                        <a:rPr lang="en-US" altLang="zh-CN" sz="1800" baseline="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 cycle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Introduction;</a:t>
                      </a:r>
                      <a:r>
                        <a:rPr lang="en-US" altLang="zh-CN" sz="1800" baseline="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 impacts of climate change and human activities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Carbon cycle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Carbon cycle; </a:t>
                      </a:r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sym typeface="+mn-ea"/>
                        </a:rPr>
                        <a:t>impacts of climate change and human activities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Carbon cycle</a:t>
                      </a:r>
                      <a:endParaRPr lang="en-US" altLang="zh-C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Solubility pump and Carbonate cycle; </a:t>
                      </a:r>
                      <a:endParaRPr lang="en-US" altLang="zh-C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sym typeface="+mn-ea"/>
                        </a:rPr>
                        <a:t>impacts of climate change and human activities</a:t>
                      </a:r>
                      <a:endParaRPr lang="en-US" altLang="zh-C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Wetlands</a:t>
                      </a:r>
                      <a:endParaRPr lang="en-US" altLang="zh-C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  <a:sym typeface="+mn-ea"/>
                        </a:rPr>
                        <a:t>Introduction; impacts of climate change and human activities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7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Student presentation</a:t>
                      </a:r>
                      <a:endParaRPr lang="en-US" altLang="zh-C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PPt presentation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Flood;</a:t>
                      </a:r>
                      <a:endParaRPr lang="en-US" altLang="zh-C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US" altLang="zh-CN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Revisions</a:t>
                      </a:r>
                      <a:endParaRPr lang="en-US" altLang="zh-CN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accent4">
                              <a:lumMod val="50000"/>
                            </a:schemeClr>
                          </a:solidFill>
                          <a:sym typeface="+mn-ea"/>
                        </a:rPr>
                        <a:t>Introduction; impacts of climate change and human activities</a:t>
                      </a:r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  <a:p>
                      <a:endParaRPr lang="zh-CN" altLang="en-US" sz="18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85725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all" spc="50" normalizeH="0" baseline="0" noProof="0" dirty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Examination</a:t>
            </a:r>
            <a:endParaRPr kumimoji="0" lang="zh-CN" altLang="en-US" sz="4800" b="1" i="0" u="none" strike="noStrike" kern="1200" cap="all" spc="50" normalizeH="0" baseline="0" noProof="0" dirty="0">
              <a:ln w="15875" cmpd="sng">
                <a:solidFill>
                  <a:srgbClr val="FFFFFF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76400" y="1471613"/>
          <a:ext cx="5486400" cy="262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9341"/>
                <a:gridCol w="2017059"/>
              </a:tblGrid>
              <a:tr h="47371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Subject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Marks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（</a:t>
                      </a:r>
                      <a:r>
                        <a:rPr lang="en-US" altLang="zh-CN" baseline="0" dirty="0" smtClean="0"/>
                        <a:t>%</a:t>
                      </a:r>
                      <a:r>
                        <a:rPr lang="zh-CN" altLang="en-US" baseline="0" dirty="0" smtClean="0"/>
                        <a:t>）</a:t>
                      </a:r>
                      <a:endParaRPr lang="zh-CN" altLang="en-US" dirty="0"/>
                    </a:p>
                  </a:txBody>
                  <a:tcPr/>
                </a:tc>
              </a:tr>
              <a:tr h="47361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Attendance</a:t>
                      </a:r>
                      <a:endParaRPr lang="zh-CN" altLang="en-US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20</a:t>
                      </a:r>
                      <a:endParaRPr lang="zh-CN" altLang="en-US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72918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Examination</a:t>
                      </a:r>
                      <a:endParaRPr lang="en-US" altLang="zh-CN" baseline="0" dirty="0" smtClean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altLang="zh-CN" baseline="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Coursework</a:t>
                      </a:r>
                      <a:endParaRPr lang="en-US" altLang="zh-CN" baseline="0" dirty="0" smtClean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50</a:t>
                      </a:r>
                      <a:endParaRPr lang="en-US" altLang="zh-CN" dirty="0" smtClean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altLang="zh-CN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30</a:t>
                      </a:r>
                      <a:endParaRPr lang="en-US" altLang="zh-CN" dirty="0" smtClean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7361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Total</a:t>
                      </a:r>
                      <a:endParaRPr lang="zh-CN" altLang="en-US" b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100</a:t>
                      </a:r>
                      <a:endParaRPr lang="zh-CN" altLang="en-US" b="1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09600" y="2078990"/>
            <a:ext cx="8153400" cy="2743200"/>
          </a:xfrm>
          <a:noFill/>
          <a:ln>
            <a:noFill/>
          </a:ln>
          <a:effectLst/>
          <a:sp3d prstMaterial="plastic"/>
        </p:spPr>
        <p:txBody>
          <a:bodyPr vert="horz" rtlCol="0" anchor="b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1200" cap="all" spc="50" normalizeH="0" baseline="0" noProof="0" dirty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climate change - INTRODUCTION</a:t>
            </a:r>
            <a:endParaRPr kumimoji="0" lang="en-US" altLang="zh-CN" sz="6600" b="1" i="0" u="none" strike="noStrike" kern="1200" cap="all" spc="50" normalizeH="0" baseline="0" noProof="0" dirty="0" smtClean="0">
              <a:ln w="15875" cmpd="sng">
                <a:solidFill>
                  <a:srgbClr val="FFFFFF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6" name="云形 5"/>
          <p:cNvSpPr/>
          <p:nvPr/>
        </p:nvSpPr>
        <p:spPr>
          <a:xfrm>
            <a:off x="1994535" y="209550"/>
            <a:ext cx="5166995" cy="1330960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371600" y="455613"/>
            <a:ext cx="6400800" cy="9731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j-lt"/>
                <a:ea typeface="+mn-ea"/>
                <a:cs typeface="David" panose="020E0502060401010101" pitchFamily="34" charset="-79"/>
              </a:rPr>
              <a:t>LECTURE 1.1</a:t>
            </a:r>
            <a:endParaRPr kumimoji="0" lang="en-US" altLang="zh-CN" sz="5400" b="1" i="0" u="none" strike="noStrike" kern="1200" cap="none" spc="0" normalizeH="0" baseline="0" noProof="0" dirty="0" smtClean="0">
              <a:ln>
                <a:noFill/>
              </a:ln>
              <a:solidFill>
                <a:srgbClr val="66FF33"/>
              </a:solidFill>
              <a:effectLst/>
              <a:uLnTx/>
              <a:uFillTx/>
              <a:latin typeface="+mj-lt"/>
              <a:ea typeface="+mn-ea"/>
              <a:cs typeface="David" panose="020E0502060401010101" pitchFamily="34" charset="-79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64730" y="478472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1066800" y="1871664"/>
            <a:ext cx="7239000" cy="2914664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sz="4400" dirty="0">
                <a:solidFill>
                  <a:srgbClr val="CCFF99"/>
                </a:solidFill>
                <a:ea typeface="华文行楷" panose="02010800040101010101" pitchFamily="2" charset="-122"/>
              </a:rPr>
              <a:t> </a:t>
            </a:r>
            <a:r>
              <a:rPr lang="en-US" altLang="zh-CN" sz="4400" dirty="0">
                <a:solidFill>
                  <a:schemeClr val="accent4">
                    <a:lumMod val="50000"/>
                  </a:schemeClr>
                </a:solidFill>
                <a:ea typeface="华文行楷" panose="02010800040101010101" pitchFamily="2" charset="-122"/>
              </a:rPr>
              <a:t>What is climate change?</a:t>
            </a:r>
            <a:endParaRPr lang="en-US" altLang="zh-CN" sz="4400" dirty="0">
              <a:solidFill>
                <a:schemeClr val="accent4">
                  <a:lumMod val="50000"/>
                </a:schemeClr>
              </a:solidFill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sz="4400" dirty="0">
                <a:solidFill>
                  <a:schemeClr val="accent4">
                    <a:lumMod val="50000"/>
                  </a:schemeClr>
                </a:solidFill>
                <a:ea typeface="华文行楷" panose="02010800040101010101" pitchFamily="2" charset="-122"/>
              </a:rPr>
              <a:t> Causes and consequences</a:t>
            </a:r>
            <a:endParaRPr lang="en-US" altLang="zh-CN" sz="4400" dirty="0">
              <a:solidFill>
                <a:schemeClr val="accent4">
                  <a:lumMod val="50000"/>
                </a:schemeClr>
              </a:solidFill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sz="4400" dirty="0">
                <a:solidFill>
                  <a:schemeClr val="accent4">
                    <a:lumMod val="50000"/>
                  </a:schemeClr>
                </a:solidFill>
                <a:ea typeface="华文行楷" panose="02010800040101010101" pitchFamily="2" charset="-122"/>
              </a:rPr>
              <a:t> Greenhouse </a:t>
            </a:r>
            <a:r>
              <a:rPr lang="en-US" altLang="zh-CN" sz="4400" dirty="0" smtClean="0">
                <a:solidFill>
                  <a:schemeClr val="accent4">
                    <a:lumMod val="50000"/>
                  </a:schemeClr>
                </a:solidFill>
                <a:ea typeface="华文行楷" panose="02010800040101010101" pitchFamily="2" charset="-122"/>
              </a:rPr>
              <a:t>effect</a:t>
            </a:r>
            <a:endParaRPr lang="en-US" altLang="zh-CN" sz="4400" dirty="0">
              <a:solidFill>
                <a:schemeClr val="accent4">
                  <a:lumMod val="50000"/>
                </a:schemeClr>
              </a:solidFill>
              <a:ea typeface="华文行楷" panose="02010800040101010101" pitchFamily="2" charset="-122"/>
            </a:endParaRPr>
          </a:p>
        </p:txBody>
      </p:sp>
      <p:sp>
        <p:nvSpPr>
          <p:cNvPr id="6" name="云形 5"/>
          <p:cNvSpPr/>
          <p:nvPr/>
        </p:nvSpPr>
        <p:spPr>
          <a:xfrm>
            <a:off x="2438400" y="57150"/>
            <a:ext cx="4343400" cy="1600200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副标题 4"/>
          <p:cNvSpPr txBox="1"/>
          <p:nvPr/>
        </p:nvSpPr>
        <p:spPr bwMode="auto">
          <a:xfrm>
            <a:off x="2819400" y="285750"/>
            <a:ext cx="3505200" cy="973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Tx/>
              <a:buNone/>
              <a:defRPr/>
            </a:pPr>
            <a:r>
              <a:rPr kumimoji="0" lang="en-US" altLang="zh-CN" sz="4800" b="1" kern="1200" cap="none" spc="0" normalizeH="0" baseline="0" noProof="0" dirty="0">
                <a:solidFill>
                  <a:srgbClr val="FFFF00"/>
                </a:solidFill>
                <a:latin typeface="+mj-lt"/>
                <a:ea typeface="+mn-ea"/>
                <a:cs typeface="David" panose="020E0502060401010101" pitchFamily="34" charset="-79"/>
              </a:rPr>
              <a:t>CONTENTS</a:t>
            </a:r>
            <a:endParaRPr kumimoji="0" lang="en-US" altLang="zh-CN" sz="4800" b="1" kern="1200" cap="none" spc="0" normalizeH="0" baseline="0" noProof="0" dirty="0">
              <a:solidFill>
                <a:srgbClr val="FFFF00"/>
              </a:solidFill>
              <a:latin typeface="+mj-lt"/>
              <a:ea typeface="+mn-ea"/>
              <a:cs typeface="David" panose="020E0502060401010101" pitchFamily="34" charset="-79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云形 5"/>
          <p:cNvSpPr/>
          <p:nvPr/>
        </p:nvSpPr>
        <p:spPr>
          <a:xfrm>
            <a:off x="533400" y="1885950"/>
            <a:ext cx="3276600" cy="1066800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1" name="TextBox 6"/>
          <p:cNvSpPr txBox="1"/>
          <p:nvPr/>
        </p:nvSpPr>
        <p:spPr>
          <a:xfrm>
            <a:off x="914400" y="2038350"/>
            <a:ext cx="24384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CCFFFF"/>
                </a:solidFill>
                <a:latin typeface="Segoe Script" panose="030B0504020000000003" pitchFamily="34" charset="0"/>
              </a:rPr>
              <a:t>Climate</a:t>
            </a:r>
            <a:endParaRPr lang="zh-CN" altLang="en-US" sz="4000" b="1" dirty="0">
              <a:solidFill>
                <a:srgbClr val="CCFFFF"/>
              </a:solidFill>
              <a:latin typeface="Segoe Script" panose="030B0504020000000003" pitchFamily="34" charset="0"/>
            </a:endParaRPr>
          </a:p>
        </p:txBody>
      </p:sp>
      <p:sp>
        <p:nvSpPr>
          <p:cNvPr id="12292" name="TextBox 7"/>
          <p:cNvSpPr txBox="1"/>
          <p:nvPr/>
        </p:nvSpPr>
        <p:spPr>
          <a:xfrm>
            <a:off x="762000" y="196850"/>
            <a:ext cx="7848600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/>
            <a:r>
              <a:rPr lang="en-US" altLang="zh-CN" sz="2800" b="1" i="1" dirty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Climate</a:t>
            </a:r>
            <a:r>
              <a:rPr lang="en-US" altLang="zh-CN" sz="2800" dirty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 </a:t>
            </a:r>
            <a:r>
              <a:rPr lang="en-US" altLang="zh-CN" sz="2800" dirty="0" smtClean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 (</a:t>
            </a:r>
            <a:r>
              <a:rPr lang="zh-CN" altLang="en-US" sz="2800" dirty="0" smtClean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气候</a:t>
            </a:r>
            <a:r>
              <a:rPr lang="en-US" altLang="zh-CN" sz="2800" dirty="0" smtClean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) </a:t>
            </a:r>
            <a:r>
              <a:rPr lang="en-US" altLang="zh-CN" sz="2800" dirty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– long term condition of meteorological parameters, for e.g. temperature, humidity, rainfall, on Earth’s surface </a:t>
            </a:r>
            <a:r>
              <a:rPr lang="en-US" altLang="zh-CN" sz="2800" dirty="0">
                <a:solidFill>
                  <a:srgbClr val="CCFF99"/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 </a:t>
            </a:r>
            <a:endParaRPr lang="en-US" altLang="zh-CN" sz="2800" dirty="0">
              <a:solidFill>
                <a:srgbClr val="CCFF99"/>
              </a:solidFill>
              <a:latin typeface="Narkisim" panose="020E0502050101010101" pitchFamily="34" charset="-79"/>
              <a:ea typeface="Narkisim" panose="020E0502050101010101" pitchFamily="34" charset="-79"/>
            </a:endParaRPr>
          </a:p>
        </p:txBody>
      </p:sp>
      <p:sp>
        <p:nvSpPr>
          <p:cNvPr id="12293" name="TextBox 11"/>
          <p:cNvSpPr txBox="1"/>
          <p:nvPr/>
        </p:nvSpPr>
        <p:spPr>
          <a:xfrm>
            <a:off x="381000" y="3598863"/>
            <a:ext cx="5119694" cy="9541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Weather</a:t>
            </a:r>
            <a:r>
              <a:rPr lang="en-US" altLang="zh-CN" sz="2800" dirty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 </a:t>
            </a:r>
            <a:r>
              <a:rPr lang="zh-CN" altLang="en-US" sz="2800" dirty="0" smtClean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 </a:t>
            </a:r>
            <a:r>
              <a:rPr lang="en-US" altLang="zh-CN" sz="2800" dirty="0" smtClean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(</a:t>
            </a:r>
            <a:r>
              <a:rPr lang="zh-CN" altLang="en-US" sz="2800" dirty="0" smtClean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天气</a:t>
            </a:r>
            <a:r>
              <a:rPr lang="en-US" altLang="zh-CN" sz="2800" dirty="0" smtClean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) </a:t>
            </a:r>
            <a:r>
              <a:rPr lang="en-US" altLang="zh-CN" sz="2800" dirty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– varies constantly: sunny, cloudy, rainy day, windy</a:t>
            </a:r>
            <a:endParaRPr lang="en-US" altLang="zh-CN" sz="2800" dirty="0">
              <a:solidFill>
                <a:schemeClr val="accent4">
                  <a:lumMod val="50000"/>
                </a:schemeClr>
              </a:solidFill>
              <a:latin typeface="Narkisim" panose="020E0502050101010101" pitchFamily="34" charset="-79"/>
              <a:ea typeface="Narkisim" panose="020E0502050101010101" pitchFamily="34" charset="-79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1752600" y="3181350"/>
            <a:ext cx="2286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下箭头 15"/>
          <p:cNvSpPr/>
          <p:nvPr/>
        </p:nvSpPr>
        <p:spPr>
          <a:xfrm rot="10800000">
            <a:off x="2743200" y="1563370"/>
            <a:ext cx="2286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下箭头 16"/>
          <p:cNvSpPr/>
          <p:nvPr/>
        </p:nvSpPr>
        <p:spPr>
          <a:xfrm rot="16200000">
            <a:off x="5086352" y="1986911"/>
            <a:ext cx="228600" cy="12573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7" name="TextBox 17"/>
          <p:cNvSpPr txBox="1"/>
          <p:nvPr/>
        </p:nvSpPr>
        <p:spPr>
          <a:xfrm>
            <a:off x="1524000" y="1574483"/>
            <a:ext cx="1600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Definition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8" name="TextBox 18"/>
          <p:cNvSpPr txBox="1"/>
          <p:nvPr/>
        </p:nvSpPr>
        <p:spPr>
          <a:xfrm>
            <a:off x="2057400" y="3105150"/>
            <a:ext cx="1981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On the contrary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9" name="TextBox 19"/>
          <p:cNvSpPr txBox="1"/>
          <p:nvPr/>
        </p:nvSpPr>
        <p:spPr>
          <a:xfrm>
            <a:off x="4500245" y="2184083"/>
            <a:ext cx="1524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Examples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300" name="TextBox 20"/>
          <p:cNvSpPr txBox="1"/>
          <p:nvPr/>
        </p:nvSpPr>
        <p:spPr>
          <a:xfrm>
            <a:off x="6070930" y="2132013"/>
            <a:ext cx="2571768" cy="224631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Polar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Narkisim" panose="020E0502050101010101" pitchFamily="34" charset="-79"/>
              <a:ea typeface="Narkisim" panose="020E0502050101010101" pitchFamily="34" charset="-79"/>
            </a:endParaRPr>
          </a:p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Temperate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Narkisim" panose="020E0502050101010101" pitchFamily="34" charset="-79"/>
              <a:ea typeface="Narkisim" panose="020E0502050101010101" pitchFamily="34" charset="-79"/>
            </a:endParaRPr>
          </a:p>
          <a:p>
            <a:r>
              <a:rPr lang="en-US" altLang="zh-CN" sz="2800" b="1" dirty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Tropical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Narkisim" panose="020E0502050101010101" pitchFamily="34" charset="-79"/>
              <a:ea typeface="Narkisim" panose="020E0502050101010101" pitchFamily="34" charset="-79"/>
            </a:endParaRPr>
          </a:p>
          <a:p>
            <a:r>
              <a:rPr lang="en-US" altLang="zh-CN" sz="2800" b="1" dirty="0" smtClean="0">
                <a:solidFill>
                  <a:schemeClr val="accent4">
                    <a:lumMod val="50000"/>
                  </a:schemeClr>
                </a:solidFill>
                <a:latin typeface="Narkisim" panose="020E0502050101010101" pitchFamily="34" charset="-79"/>
                <a:ea typeface="Narkisim" panose="020E0502050101010101" pitchFamily="34" charset="-79"/>
              </a:rPr>
              <a:t>Desert/Arid</a:t>
            </a:r>
            <a:endParaRPr lang="en-US" altLang="zh-CN" sz="2800" b="1" dirty="0">
              <a:solidFill>
                <a:schemeClr val="accent4">
                  <a:lumMod val="50000"/>
                </a:schemeClr>
              </a:solidFill>
              <a:latin typeface="Narkisim" panose="020E0502050101010101" pitchFamily="34" charset="-79"/>
              <a:ea typeface="Narkisim" panose="020E0502050101010101" pitchFamily="34" charset="-79"/>
            </a:endParaRPr>
          </a:p>
          <a:p>
            <a:endParaRPr lang="en-US" altLang="zh-CN" sz="2800" b="1" dirty="0">
              <a:solidFill>
                <a:srgbClr val="CCFF99"/>
              </a:solidFill>
              <a:latin typeface="Narkisim" panose="020E0502050101010101" pitchFamily="34" charset="-79"/>
              <a:ea typeface="Narkisim" panose="020E0502050101010101" pitchFamily="34" charset="-79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云形 3"/>
          <p:cNvSpPr/>
          <p:nvPr/>
        </p:nvSpPr>
        <p:spPr>
          <a:xfrm>
            <a:off x="2286000" y="1428750"/>
            <a:ext cx="3886200" cy="1524000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5" name="TextBox 6"/>
          <p:cNvSpPr txBox="1"/>
          <p:nvPr/>
        </p:nvSpPr>
        <p:spPr>
          <a:xfrm>
            <a:off x="3124200" y="1552575"/>
            <a:ext cx="2438400" cy="132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CCFF99"/>
                </a:solidFill>
                <a:latin typeface="Segoe Script" panose="030B0504020000000003" pitchFamily="34" charset="0"/>
              </a:rPr>
              <a:t>Climate change</a:t>
            </a:r>
            <a:endParaRPr lang="en-US" altLang="zh-CN" sz="4000" b="1" dirty="0">
              <a:solidFill>
                <a:srgbClr val="CCFF99"/>
              </a:solidFill>
              <a:latin typeface="Segoe Script" panose="030B0504020000000003" pitchFamily="34" charset="0"/>
            </a:endParaRPr>
          </a:p>
        </p:txBody>
      </p:sp>
      <p:sp>
        <p:nvSpPr>
          <p:cNvPr id="13316" name="TextBox 5"/>
          <p:cNvSpPr txBox="1"/>
          <p:nvPr/>
        </p:nvSpPr>
        <p:spPr>
          <a:xfrm>
            <a:off x="838200" y="70485"/>
            <a:ext cx="800100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latin typeface="Narkisim" panose="020E0502050101010101" pitchFamily="34" charset="-79"/>
                <a:ea typeface="Narkisim" panose="020E0502050101010101" pitchFamily="34" charset="-79"/>
              </a:rPr>
              <a:t>Climate change</a:t>
            </a:r>
            <a:r>
              <a:rPr lang="en-US" altLang="zh-CN" sz="2800" dirty="0">
                <a:latin typeface="Narkisim" panose="020E0502050101010101" pitchFamily="34" charset="-79"/>
                <a:ea typeface="Narkisim" panose="020E0502050101010101" pitchFamily="34" charset="-79"/>
              </a:rPr>
              <a:t> - changes in Earth's </a:t>
            </a:r>
            <a:r>
              <a:rPr lang="en-US" altLang="zh-CN" sz="2800" dirty="0">
                <a:latin typeface="Narkisim" panose="020E0502050101010101" pitchFamily="34" charset="-79"/>
                <a:ea typeface="Narkisim" panose="020E0502050101010101" pitchFamily="34" charset="-79"/>
                <a:hlinkClick r:id="rId1" tooltip="Climate system"/>
              </a:rPr>
              <a:t>climate system</a:t>
            </a:r>
            <a:r>
              <a:rPr lang="en-US" altLang="zh-CN" sz="2800" dirty="0">
                <a:latin typeface="Narkisim" panose="020E0502050101010101" pitchFamily="34" charset="-79"/>
                <a:ea typeface="Narkisim" panose="020E0502050101010101" pitchFamily="34" charset="-79"/>
              </a:rPr>
              <a:t>; </a:t>
            </a:r>
            <a:endParaRPr lang="en-US" altLang="zh-CN" sz="2800" dirty="0">
              <a:latin typeface="Narkisim" panose="020E0502050101010101" pitchFamily="34" charset="-79"/>
              <a:ea typeface="Narkisim" panose="020E0502050101010101" pitchFamily="34" charset="-79"/>
            </a:endParaRPr>
          </a:p>
          <a:p>
            <a:r>
              <a:rPr lang="en-US" altLang="zh-CN" sz="2800" dirty="0">
                <a:latin typeface="Narkisim" panose="020E0502050101010101" pitchFamily="34" charset="-79"/>
                <a:ea typeface="Narkisim" panose="020E0502050101010101" pitchFamily="34" charset="-79"/>
              </a:rPr>
              <a:t>new </a:t>
            </a:r>
            <a:r>
              <a:rPr lang="en-US" altLang="zh-CN" sz="2800" dirty="0">
                <a:latin typeface="Narkisim" panose="020E0502050101010101" pitchFamily="34" charset="-79"/>
                <a:ea typeface="Narkisim" panose="020E0502050101010101" pitchFamily="34" charset="-79"/>
                <a:hlinkClick r:id="rId2" tooltip="Weather"/>
              </a:rPr>
              <a:t>weather</a:t>
            </a:r>
            <a:r>
              <a:rPr lang="en-US" altLang="zh-CN" sz="2800" dirty="0">
                <a:latin typeface="Narkisim" panose="020E0502050101010101" pitchFamily="34" charset="-79"/>
                <a:ea typeface="Narkisim" panose="020E0502050101010101" pitchFamily="34" charset="-79"/>
              </a:rPr>
              <a:t> patterns for an long period of time</a:t>
            </a:r>
            <a:endParaRPr lang="zh-CN" altLang="en-US" sz="2800" dirty="0">
              <a:latin typeface="Narkisim" panose="020E0502050101010101" pitchFamily="34" charset="-79"/>
              <a:ea typeface="Narkisim" panose="020E0502050101010101" pitchFamily="34" charset="-79"/>
            </a:endParaRPr>
          </a:p>
        </p:txBody>
      </p:sp>
      <p:sp>
        <p:nvSpPr>
          <p:cNvPr id="13317" name="TextBox 7"/>
          <p:cNvSpPr txBox="1"/>
          <p:nvPr/>
        </p:nvSpPr>
        <p:spPr>
          <a:xfrm>
            <a:off x="152400" y="1787525"/>
            <a:ext cx="20574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</a:rPr>
              <a:t>Causes</a:t>
            </a:r>
            <a:endParaRPr lang="en-US" altLang="zh-CN" sz="4000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</a:endParaRPr>
          </a:p>
        </p:txBody>
      </p:sp>
      <p:sp>
        <p:nvSpPr>
          <p:cNvPr id="13318" name="TextBox 8"/>
          <p:cNvSpPr txBox="1"/>
          <p:nvPr/>
        </p:nvSpPr>
        <p:spPr>
          <a:xfrm>
            <a:off x="152400" y="2868613"/>
            <a:ext cx="35814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</a:rPr>
              <a:t>Consequences</a:t>
            </a:r>
            <a:endParaRPr lang="en-US" altLang="zh-CN" sz="4000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</a:endParaRPr>
          </a:p>
        </p:txBody>
      </p:sp>
      <p:sp>
        <p:nvSpPr>
          <p:cNvPr id="13319" name="TextBox 9"/>
          <p:cNvSpPr txBox="1"/>
          <p:nvPr/>
        </p:nvSpPr>
        <p:spPr>
          <a:xfrm>
            <a:off x="2286000" y="3768725"/>
            <a:ext cx="25908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chemeClr val="accent4">
                    <a:lumMod val="50000"/>
                  </a:schemeClr>
                </a:solidFill>
                <a:latin typeface="MV Boli" panose="02000500030200090000" pitchFamily="2" charset="0"/>
              </a:rPr>
              <a:t>Response</a:t>
            </a:r>
            <a:endParaRPr lang="en-US" altLang="zh-CN" sz="4000" dirty="0">
              <a:solidFill>
                <a:schemeClr val="accent4">
                  <a:lumMod val="50000"/>
                </a:schemeClr>
              </a:solidFill>
              <a:latin typeface="MV Boli" panose="02000500030200090000" pitchFamily="2" charset="0"/>
            </a:endParaRPr>
          </a:p>
        </p:txBody>
      </p:sp>
      <p:sp>
        <p:nvSpPr>
          <p:cNvPr id="13320" name="TextBox 10"/>
          <p:cNvSpPr txBox="1"/>
          <p:nvPr/>
        </p:nvSpPr>
        <p:spPr>
          <a:xfrm>
            <a:off x="4876800" y="3105150"/>
            <a:ext cx="43434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600" dirty="0">
                <a:solidFill>
                  <a:srgbClr val="7D521D"/>
                </a:solidFill>
                <a:latin typeface="MV Boli" panose="02000500030200090000" pitchFamily="2" charset="0"/>
              </a:rPr>
              <a:t>Global warming -Greenhouse effect</a:t>
            </a:r>
            <a:endParaRPr lang="zh-CN" altLang="en-US" sz="3600" dirty="0">
              <a:solidFill>
                <a:srgbClr val="7D521D"/>
              </a:solidFill>
              <a:latin typeface="MV Boli" panose="02000500030200090000" pitchFamily="2" charset="0"/>
            </a:endParaRPr>
          </a:p>
        </p:txBody>
      </p:sp>
      <p:sp>
        <p:nvSpPr>
          <p:cNvPr id="12" name="下箭头 11"/>
          <p:cNvSpPr/>
          <p:nvPr/>
        </p:nvSpPr>
        <p:spPr>
          <a:xfrm rot="5400000">
            <a:off x="1956594" y="1897856"/>
            <a:ext cx="165100" cy="4206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下箭头 12"/>
          <p:cNvSpPr/>
          <p:nvPr/>
        </p:nvSpPr>
        <p:spPr>
          <a:xfrm rot="2517525">
            <a:off x="2060575" y="2536825"/>
            <a:ext cx="187325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下箭头 13"/>
          <p:cNvSpPr/>
          <p:nvPr/>
        </p:nvSpPr>
        <p:spPr>
          <a:xfrm rot="1346544">
            <a:off x="3575050" y="2994025"/>
            <a:ext cx="215900" cy="9445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下箭头 14"/>
          <p:cNvSpPr/>
          <p:nvPr/>
        </p:nvSpPr>
        <p:spPr>
          <a:xfrm rot="18729548">
            <a:off x="4852988" y="2806700"/>
            <a:ext cx="215900" cy="4445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/>
          </p:cNvPicPr>
          <p:nvPr/>
        </p:nvPicPr>
        <p:blipFill>
          <a:blip r:embed="rId1"/>
          <a:srcRect l="645" t="4041" r="2580" b="6061"/>
          <a:stretch>
            <a:fillRect/>
          </a:stretch>
        </p:blipFill>
        <p:spPr>
          <a:xfrm>
            <a:off x="152400" y="-19050"/>
            <a:ext cx="8763000" cy="5162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" y="1733550"/>
            <a:ext cx="2266950" cy="177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152718" y="57150"/>
            <a:ext cx="2200275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/>
        </p:nvPicPr>
        <p:blipFill>
          <a:blip r:embed="rId3"/>
          <a:stretch>
            <a:fillRect/>
          </a:stretch>
        </p:blipFill>
        <p:spPr>
          <a:xfrm>
            <a:off x="77788" y="3276600"/>
            <a:ext cx="2409825" cy="179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4"/>
          <a:stretch>
            <a:fillRect/>
          </a:stretch>
        </p:blipFill>
        <p:spPr>
          <a:xfrm>
            <a:off x="6172200" y="52705"/>
            <a:ext cx="2495550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图片 106"/>
          <p:cNvPicPr/>
          <p:nvPr/>
        </p:nvPicPr>
        <p:blipFill>
          <a:blip r:embed="rId5"/>
          <a:stretch>
            <a:fillRect/>
          </a:stretch>
        </p:blipFill>
        <p:spPr>
          <a:xfrm>
            <a:off x="2557780" y="57150"/>
            <a:ext cx="2419350" cy="177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图片 107"/>
          <p:cNvPicPr/>
          <p:nvPr/>
        </p:nvPicPr>
        <p:blipFill>
          <a:blip r:embed="rId6"/>
          <a:stretch>
            <a:fillRect/>
          </a:stretch>
        </p:blipFill>
        <p:spPr>
          <a:xfrm>
            <a:off x="2514283" y="3390900"/>
            <a:ext cx="2657475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图片 108"/>
          <p:cNvPicPr/>
          <p:nvPr/>
        </p:nvPicPr>
        <p:blipFill>
          <a:blip r:embed="rId7"/>
          <a:stretch>
            <a:fillRect/>
          </a:stretch>
        </p:blipFill>
        <p:spPr>
          <a:xfrm>
            <a:off x="6705283" y="1605280"/>
            <a:ext cx="2257425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图片 109"/>
          <p:cNvPicPr/>
          <p:nvPr/>
        </p:nvPicPr>
        <p:blipFill>
          <a:blip r:embed="rId8"/>
          <a:stretch>
            <a:fillRect/>
          </a:stretch>
        </p:blipFill>
        <p:spPr>
          <a:xfrm>
            <a:off x="6238875" y="3300413"/>
            <a:ext cx="2609850" cy="1743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动作按钮: 帮助 3"/>
          <p:cNvSpPr/>
          <p:nvPr/>
        </p:nvSpPr>
        <p:spPr>
          <a:xfrm>
            <a:off x="5105400" y="44450"/>
            <a:ext cx="873125" cy="1689100"/>
          </a:xfrm>
          <a:prstGeom prst="actionButtonHelp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动作按钮: 帮助 4"/>
          <p:cNvSpPr/>
          <p:nvPr/>
        </p:nvSpPr>
        <p:spPr>
          <a:xfrm>
            <a:off x="5232400" y="3448050"/>
            <a:ext cx="873125" cy="1689100"/>
          </a:xfrm>
          <a:prstGeom prst="actionButtonHelp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动作按钮: 帮助 5"/>
          <p:cNvSpPr/>
          <p:nvPr/>
        </p:nvSpPr>
        <p:spPr>
          <a:xfrm>
            <a:off x="2557780" y="1617980"/>
            <a:ext cx="873125" cy="1689100"/>
          </a:xfrm>
          <a:prstGeom prst="actionButtonHelp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" name="图片 104"/>
          <p:cNvPicPr/>
          <p:nvPr/>
        </p:nvPicPr>
        <p:blipFill>
          <a:blip r:embed="rId9"/>
          <a:stretch>
            <a:fillRect/>
          </a:stretch>
        </p:blipFill>
        <p:spPr>
          <a:xfrm>
            <a:off x="3504883" y="1657033"/>
            <a:ext cx="3114675" cy="1762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片 11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317" y="1720215"/>
            <a:ext cx="2409825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图片 111"/>
          <p:cNvPicPr/>
          <p:nvPr/>
        </p:nvPicPr>
        <p:blipFill>
          <a:blip r:embed="rId3"/>
          <a:stretch>
            <a:fillRect/>
          </a:stretch>
        </p:blipFill>
        <p:spPr>
          <a:xfrm>
            <a:off x="381000" y="3409950"/>
            <a:ext cx="2876550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图片 112"/>
          <p:cNvPicPr/>
          <p:nvPr/>
        </p:nvPicPr>
        <p:blipFill>
          <a:blip r:embed="rId4"/>
          <a:stretch>
            <a:fillRect/>
          </a:stretch>
        </p:blipFill>
        <p:spPr>
          <a:xfrm>
            <a:off x="1633538" y="38100"/>
            <a:ext cx="2371725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图片 113"/>
          <p:cNvPicPr/>
          <p:nvPr/>
        </p:nvPicPr>
        <p:blipFill>
          <a:blip r:embed="rId5"/>
          <a:stretch>
            <a:fillRect/>
          </a:stretch>
        </p:blipFill>
        <p:spPr>
          <a:xfrm>
            <a:off x="2442210" y="1891665"/>
            <a:ext cx="1939290" cy="13849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图片 114"/>
          <p:cNvPicPr/>
          <p:nvPr/>
        </p:nvPicPr>
        <p:blipFill>
          <a:blip r:embed="rId6"/>
          <a:stretch>
            <a:fillRect/>
          </a:stretch>
        </p:blipFill>
        <p:spPr>
          <a:xfrm>
            <a:off x="3305175" y="3314700"/>
            <a:ext cx="1162050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" name="图片 115"/>
          <p:cNvPicPr/>
          <p:nvPr/>
        </p:nvPicPr>
        <p:blipFill>
          <a:blip r:embed="rId7"/>
          <a:stretch>
            <a:fillRect/>
          </a:stretch>
        </p:blipFill>
        <p:spPr>
          <a:xfrm>
            <a:off x="5738813" y="161925"/>
            <a:ext cx="3152775" cy="177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" name="图片 116"/>
          <p:cNvPicPr/>
          <p:nvPr/>
        </p:nvPicPr>
        <p:blipFill>
          <a:blip r:embed="rId8"/>
          <a:stretch>
            <a:fillRect/>
          </a:stretch>
        </p:blipFill>
        <p:spPr>
          <a:xfrm>
            <a:off x="5029200" y="1972310"/>
            <a:ext cx="2193290" cy="16967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1" name="图片 130"/>
          <p:cNvPicPr/>
          <p:nvPr/>
        </p:nvPicPr>
        <p:blipFill>
          <a:blip r:embed="rId9"/>
          <a:stretch>
            <a:fillRect/>
          </a:stretch>
        </p:blipFill>
        <p:spPr>
          <a:xfrm>
            <a:off x="6403340" y="3630930"/>
            <a:ext cx="2493010" cy="1417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" name="图片 131"/>
          <p:cNvPicPr/>
          <p:nvPr/>
        </p:nvPicPr>
        <p:blipFill>
          <a:blip r:embed="rId10"/>
          <a:stretch>
            <a:fillRect/>
          </a:stretch>
        </p:blipFill>
        <p:spPr>
          <a:xfrm>
            <a:off x="7247890" y="2114550"/>
            <a:ext cx="1854835" cy="1318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动作按钮: 帮助 3"/>
          <p:cNvSpPr/>
          <p:nvPr/>
        </p:nvSpPr>
        <p:spPr>
          <a:xfrm>
            <a:off x="4648200" y="120650"/>
            <a:ext cx="873125" cy="1689100"/>
          </a:xfrm>
          <a:prstGeom prst="actionButtonHelp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动作按钮: 帮助 4"/>
          <p:cNvSpPr/>
          <p:nvPr/>
        </p:nvSpPr>
        <p:spPr>
          <a:xfrm>
            <a:off x="4343400" y="1873250"/>
            <a:ext cx="873125" cy="1689100"/>
          </a:xfrm>
          <a:prstGeom prst="actionButtonHelp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动作按钮: 帮助 5"/>
          <p:cNvSpPr/>
          <p:nvPr/>
        </p:nvSpPr>
        <p:spPr>
          <a:xfrm>
            <a:off x="5334000" y="3397250"/>
            <a:ext cx="873125" cy="1689100"/>
          </a:xfrm>
          <a:prstGeom prst="actionButtonHelp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图片 122"/>
          <p:cNvPicPr/>
          <p:nvPr/>
        </p:nvPicPr>
        <p:blipFill>
          <a:blip r:embed="rId1"/>
          <a:stretch>
            <a:fillRect/>
          </a:stretch>
        </p:blipFill>
        <p:spPr>
          <a:xfrm>
            <a:off x="2019300" y="33338"/>
            <a:ext cx="2819400" cy="1876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" name="图片 121"/>
          <p:cNvPicPr/>
          <p:nvPr/>
        </p:nvPicPr>
        <p:blipFill>
          <a:blip r:embed="rId2"/>
          <a:stretch>
            <a:fillRect/>
          </a:stretch>
        </p:blipFill>
        <p:spPr>
          <a:xfrm>
            <a:off x="2324735" y="1931988"/>
            <a:ext cx="2000250" cy="1514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" name="图片 117"/>
          <p:cNvPicPr/>
          <p:nvPr/>
        </p:nvPicPr>
        <p:blipFill>
          <a:blip r:embed="rId3"/>
          <a:stretch>
            <a:fillRect/>
          </a:stretch>
        </p:blipFill>
        <p:spPr>
          <a:xfrm>
            <a:off x="28575" y="38100"/>
            <a:ext cx="2228850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图片 118"/>
          <p:cNvPicPr/>
          <p:nvPr/>
        </p:nvPicPr>
        <p:blipFill>
          <a:blip r:embed="rId4"/>
          <a:stretch>
            <a:fillRect/>
          </a:stretch>
        </p:blipFill>
        <p:spPr>
          <a:xfrm>
            <a:off x="28575" y="3390900"/>
            <a:ext cx="2228850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0" name="图片 119"/>
          <p:cNvPicPr/>
          <p:nvPr/>
        </p:nvPicPr>
        <p:blipFill>
          <a:blip r:embed="rId5"/>
          <a:stretch>
            <a:fillRect/>
          </a:stretch>
        </p:blipFill>
        <p:spPr>
          <a:xfrm>
            <a:off x="4763" y="1638300"/>
            <a:ext cx="2276475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图片 120"/>
          <p:cNvPicPr/>
          <p:nvPr/>
        </p:nvPicPr>
        <p:blipFill>
          <a:blip r:embed="rId6"/>
          <a:stretch>
            <a:fillRect/>
          </a:stretch>
        </p:blipFill>
        <p:spPr>
          <a:xfrm>
            <a:off x="2278698" y="3170873"/>
            <a:ext cx="2619375" cy="1933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6" name="图片 125"/>
          <p:cNvPicPr/>
          <p:nvPr/>
        </p:nvPicPr>
        <p:blipFill>
          <a:blip r:embed="rId7"/>
          <a:stretch>
            <a:fillRect/>
          </a:stretch>
        </p:blipFill>
        <p:spPr>
          <a:xfrm>
            <a:off x="7010083" y="3352800"/>
            <a:ext cx="2124075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7" name="图片 126"/>
          <p:cNvPicPr/>
          <p:nvPr/>
        </p:nvPicPr>
        <p:blipFill>
          <a:blip r:embed="rId8"/>
          <a:stretch>
            <a:fillRect/>
          </a:stretch>
        </p:blipFill>
        <p:spPr>
          <a:xfrm>
            <a:off x="5105400" y="3352800"/>
            <a:ext cx="2364740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" name="图片 127"/>
          <p:cNvPicPr/>
          <p:nvPr/>
        </p:nvPicPr>
        <p:blipFill>
          <a:blip r:embed="rId9"/>
          <a:stretch>
            <a:fillRect/>
          </a:stretch>
        </p:blipFill>
        <p:spPr>
          <a:xfrm>
            <a:off x="5943600" y="1657350"/>
            <a:ext cx="3105150" cy="1600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9" name="图片 128"/>
          <p:cNvPicPr/>
          <p:nvPr/>
        </p:nvPicPr>
        <p:blipFill>
          <a:blip r:embed="rId10"/>
          <a:stretch>
            <a:fillRect/>
          </a:stretch>
        </p:blipFill>
        <p:spPr>
          <a:xfrm>
            <a:off x="7068185" y="133350"/>
            <a:ext cx="1976755" cy="14306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" name="图片 129"/>
          <p:cNvPicPr/>
          <p:nvPr/>
        </p:nvPicPr>
        <p:blipFill>
          <a:blip r:embed="rId11"/>
          <a:stretch>
            <a:fillRect/>
          </a:stretch>
        </p:blipFill>
        <p:spPr>
          <a:xfrm>
            <a:off x="5116195" y="434340"/>
            <a:ext cx="1875790" cy="1074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动作按钮: 帮助 5"/>
          <p:cNvSpPr/>
          <p:nvPr/>
        </p:nvSpPr>
        <p:spPr>
          <a:xfrm>
            <a:off x="4559935" y="1438910"/>
            <a:ext cx="1233170" cy="2020570"/>
          </a:xfrm>
          <a:prstGeom prst="actionButtonHelp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 l="793" t="2174" r="3968" b="8696"/>
          <a:stretch>
            <a:fillRect/>
          </a:stretch>
        </p:blipFill>
        <p:spPr bwMode="auto">
          <a:xfrm>
            <a:off x="1524000" y="306705"/>
            <a:ext cx="6066155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 l="1105" t="2659" r="62970" b="32624"/>
          <a:stretch>
            <a:fillRect/>
          </a:stretch>
        </p:blipFill>
        <p:spPr bwMode="auto">
          <a:xfrm>
            <a:off x="152400" y="971550"/>
            <a:ext cx="2939415" cy="3301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 l="37030" t="6205" r="3279" b="3368"/>
          <a:stretch>
            <a:fillRect/>
          </a:stretch>
        </p:blipFill>
        <p:spPr bwMode="auto">
          <a:xfrm>
            <a:off x="3352800" y="361950"/>
            <a:ext cx="5580380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28676"/>
            <a:ext cx="7772400" cy="1407321"/>
          </a:xfrm>
        </p:spPr>
        <p:txBody>
          <a:bodyPr/>
          <a:lstStyle/>
          <a:p>
            <a:r>
              <a:rPr lang="en-US" altLang="zh-CN" sz="6600" dirty="0" smtClean="0">
                <a:solidFill>
                  <a:schemeClr val="accent4">
                    <a:lumMod val="50000"/>
                  </a:schemeClr>
                </a:solidFill>
                <a:effectLst/>
              </a:rPr>
              <a:t>CAUSES</a:t>
            </a:r>
            <a:endParaRPr lang="zh-CN" altLang="en-US" sz="6600" dirty="0">
              <a:solidFill>
                <a:schemeClr val="accent4">
                  <a:lumMod val="5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295400" y="590550"/>
            <a:ext cx="7239000" cy="3733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Burning of fossil fuels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for heating of homes and buildings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cooking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agriculture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manufacturing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1066800" y="438150"/>
            <a:ext cx="7620000" cy="4419600"/>
          </a:xfrm>
        </p:spPr>
        <p:txBody>
          <a:bodyPr vert="horz" wrap="square" lIns="91440" tIns="45720" rIns="91440" bIns="45720" anchor="t" anchorCtr="0"/>
          <a:lstStyle/>
          <a:p>
            <a:pPr>
              <a:buBlip>
                <a:blip r:embed="rId1"/>
              </a:buBlip>
            </a:pPr>
            <a:r>
              <a:rPr lang="en-US" altLang="zh-CN" b="1" dirty="0">
                <a:solidFill>
                  <a:srgbClr val="5F633C"/>
                </a:solidFill>
                <a:ea typeface="宋体" panose="02010600030101010101" pitchFamily="2" charset="-122"/>
              </a:rPr>
              <a:t>Deforestation</a:t>
            </a:r>
            <a:endParaRPr lang="en-US" altLang="zh-CN" b="1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 lvl="1">
              <a:buBlip>
                <a:blip r:embed="rId1"/>
              </a:buBlip>
            </a:pPr>
            <a:r>
              <a:rPr lang="en-US" altLang="zh-CN" dirty="0">
                <a:solidFill>
                  <a:srgbClr val="5F633C"/>
                </a:solidFill>
                <a:ea typeface="宋体" panose="02010600030101010101" pitchFamily="2" charset="-122"/>
              </a:rPr>
              <a:t> Cutting down forests faster than they are replaced</a:t>
            </a:r>
            <a:endParaRPr lang="en-US" altLang="zh-CN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 lvl="1">
              <a:buBlip>
                <a:blip r:embed="rId1"/>
              </a:buBlip>
            </a:pPr>
            <a:r>
              <a:rPr lang="en-US" altLang="zh-CN" dirty="0">
                <a:solidFill>
                  <a:srgbClr val="5F633C"/>
                </a:solidFill>
                <a:ea typeface="宋体" panose="02010600030101010101" pitchFamily="2" charset="-122"/>
              </a:rPr>
              <a:t> Makes a huge contribution to CO</a:t>
            </a:r>
            <a:r>
              <a:rPr lang="en-US" altLang="zh-CN" baseline="-25000" dirty="0">
                <a:solidFill>
                  <a:srgbClr val="5F633C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5F633C"/>
                </a:solidFill>
                <a:ea typeface="宋体" panose="02010600030101010101" pitchFamily="2" charset="-122"/>
              </a:rPr>
              <a:t> </a:t>
            </a:r>
            <a:endParaRPr lang="en-US" altLang="zh-CN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 lvl="1">
              <a:buBlip>
                <a:blip r:embed="rId1"/>
              </a:buBlip>
            </a:pPr>
            <a:r>
              <a:rPr lang="en-US" altLang="zh-CN" dirty="0">
                <a:solidFill>
                  <a:srgbClr val="5F633C"/>
                </a:solidFill>
                <a:ea typeface="宋体" panose="02010600030101010101" pitchFamily="2" charset="-122"/>
              </a:rPr>
              <a:t> Agriculture and industries that replace the forests often cause problems</a:t>
            </a:r>
            <a:endParaRPr lang="en-US" altLang="zh-CN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 lvl="1">
              <a:buBlip>
                <a:blip r:embed="rId1"/>
              </a:buBlip>
            </a:pPr>
            <a:r>
              <a:rPr lang="en-US" altLang="zh-CN" dirty="0">
                <a:solidFill>
                  <a:srgbClr val="5F633C"/>
                </a:solidFill>
                <a:ea typeface="宋体" panose="02010600030101010101" pitchFamily="2" charset="-122"/>
              </a:rPr>
              <a:t> Pollution and soil erosion</a:t>
            </a:r>
            <a:endParaRPr lang="en-US" altLang="zh-CN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 lvl="1">
              <a:buNone/>
            </a:pPr>
            <a:endParaRPr lang="en-US" altLang="zh-CN" dirty="0">
              <a:solidFill>
                <a:srgbClr val="5F633C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914400" y="819150"/>
            <a:ext cx="7620000" cy="3657600"/>
          </a:xfrm>
        </p:spPr>
        <p:txBody>
          <a:bodyPr vert="horz" wrap="square" lIns="91440" tIns="45720" rIns="91440" bIns="45720" anchor="t" anchorCtr="0"/>
          <a:lstStyle/>
          <a:p>
            <a:pPr>
              <a:buBlip>
                <a:blip r:embed="rId1"/>
              </a:buBlip>
            </a:pPr>
            <a:r>
              <a:rPr lang="en-US" altLang="zh-CN" b="1" dirty="0">
                <a:solidFill>
                  <a:srgbClr val="5F633C"/>
                </a:solidFill>
                <a:ea typeface="宋体" panose="02010600030101010101" pitchFamily="2" charset="-122"/>
              </a:rPr>
              <a:t>World population</a:t>
            </a:r>
            <a:endParaRPr lang="en-US" altLang="zh-CN" b="1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 lvl="1">
              <a:buBlip>
                <a:blip r:embed="rId1"/>
              </a:buBlip>
            </a:pPr>
            <a:r>
              <a:rPr lang="en-US" altLang="zh-CN" dirty="0">
                <a:solidFill>
                  <a:srgbClr val="5F633C"/>
                </a:solidFill>
                <a:ea typeface="宋体" panose="02010600030101010101" pitchFamily="2" charset="-122"/>
              </a:rPr>
              <a:t> As world’s population grows, more people need food and energy</a:t>
            </a:r>
            <a:endParaRPr lang="en-US" altLang="zh-CN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 lvl="1">
              <a:buBlip>
                <a:blip r:embed="rId1"/>
              </a:buBlip>
            </a:pPr>
            <a:r>
              <a:rPr lang="en-US" altLang="zh-CN" dirty="0">
                <a:solidFill>
                  <a:srgbClr val="5F633C"/>
                </a:solidFill>
                <a:ea typeface="宋体" panose="02010600030101010101" pitchFamily="2" charset="-122"/>
              </a:rPr>
              <a:t> Fossil fuel CO</a:t>
            </a:r>
            <a:r>
              <a:rPr lang="en-US" altLang="zh-CN" baseline="-25000" dirty="0">
                <a:solidFill>
                  <a:srgbClr val="5F633C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5F633C"/>
                </a:solidFill>
                <a:ea typeface="宋体" panose="02010600030101010101" pitchFamily="2" charset="-122"/>
              </a:rPr>
              <a:t> emissions continue to increase</a:t>
            </a:r>
            <a:endParaRPr lang="en-US" altLang="zh-CN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 lvl="1">
              <a:buBlip>
                <a:blip r:embed="rId1"/>
              </a:buBlip>
            </a:pPr>
            <a:r>
              <a:rPr lang="en-US" altLang="zh-CN" dirty="0">
                <a:solidFill>
                  <a:srgbClr val="5F633C"/>
                </a:solidFill>
                <a:ea typeface="宋体" panose="02010600030101010101" pitchFamily="2" charset="-122"/>
              </a:rPr>
              <a:t> Gasses are added too fast</a:t>
            </a:r>
            <a:endParaRPr lang="en-US" altLang="zh-CN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 lvl="1">
              <a:buBlip>
                <a:blip r:embed="rId1"/>
              </a:buBlip>
            </a:pPr>
            <a:r>
              <a:rPr lang="en-US" altLang="zh-CN" dirty="0">
                <a:solidFill>
                  <a:srgbClr val="5F633C"/>
                </a:solidFill>
                <a:ea typeface="宋体" panose="02010600030101010101" pitchFamily="2" charset="-122"/>
              </a:rPr>
              <a:t> Urgent actions</a:t>
            </a:r>
            <a:endParaRPr lang="en-US" altLang="zh-CN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 lvl="1">
              <a:buNone/>
            </a:pPr>
            <a:endParaRPr lang="en-US" altLang="zh-CN" dirty="0">
              <a:solidFill>
                <a:srgbClr val="5F633C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2990"/>
            <a:ext cx="7772400" cy="1407321"/>
          </a:xfrm>
        </p:spPr>
        <p:txBody>
          <a:bodyPr/>
          <a:lstStyle/>
          <a:p>
            <a:r>
              <a:rPr lang="en-US" altLang="zh-CN" sz="6600" dirty="0" smtClean="0">
                <a:solidFill>
                  <a:schemeClr val="accent4">
                    <a:lumMod val="50000"/>
                  </a:schemeClr>
                </a:solidFill>
                <a:effectLst/>
              </a:rPr>
              <a:t>consequences</a:t>
            </a:r>
            <a:endParaRPr lang="zh-CN" altLang="en-US" sz="6600" dirty="0">
              <a:solidFill>
                <a:schemeClr val="accent4">
                  <a:lumMod val="5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04800" y="742950"/>
            <a:ext cx="8610600" cy="2895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Algerian" panose="04020705040A02060702" pitchFamily="82" charset="0"/>
                <a:ea typeface="+mn-ea"/>
                <a:cs typeface="+mn-cs"/>
              </a:rPr>
              <a:t>Ecosystem disruption:</a:t>
            </a:r>
            <a:endParaRPr kumimoji="0" lang="en-US" sz="4000" b="1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Algerian" panose="04020705040A02060702" pitchFamily="82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General shifts of ecosystems towards the pole 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Species &amp; ecosystems already under stress from human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Catastrophic events can further disrupt ecosystems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514350"/>
            <a:ext cx="8553450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Shifts in blooming date &amp; time of reproduction &amp; species distributions 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Decline of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Adelie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penguin populations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Invasion by non-native species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Ability of birds to migrate limited by human population &amp; cultivation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Huge area of Bay of Bengal, home to the B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ngal tiger, is threatened by rising sea levels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647700"/>
            <a:ext cx="8401050" cy="3829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Algerian" panose="04020705040A02060702" pitchFamily="82" charset="0"/>
                <a:ea typeface="+mn-ea"/>
                <a:cs typeface="+mn-cs"/>
              </a:rPr>
              <a:t>Water scarcity:</a:t>
            </a:r>
            <a:endParaRPr kumimoji="0" lang="en-US" sz="4000" b="1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Algerian" panose="04020705040A02060702" pitchFamily="82" charset="0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endParaRPr kumimoji="0" 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Algerian" panose="04020705040A02060702" pitchFamily="82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Higher temperatures result in more evaporation from surface water 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Warmer &amp; longer summers &gt; snow &amp; glacier melt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Seasonal rains failing to materialize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Blip>
                <a:blip r:embed="rId1"/>
              </a:buBlip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Changes in river run-off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533400" y="666750"/>
            <a:ext cx="7715250" cy="3409950"/>
          </a:xfrm>
        </p:spPr>
        <p:txBody>
          <a:bodyPr vert="horz" wrap="square" lIns="91440" tIns="45720" rIns="91440" bIns="45720" anchor="t" anchorCtr="0"/>
          <a:lstStyle/>
          <a:p>
            <a:pPr algn="ctr">
              <a:buNone/>
            </a:pPr>
            <a:r>
              <a:rPr lang="en-US" altLang="zh-CN" sz="4000" b="1" dirty="0">
                <a:solidFill>
                  <a:srgbClr val="5F633C"/>
                </a:solidFill>
                <a:latin typeface="Algerian" panose="04020705040A02060702" pitchFamily="82" charset="0"/>
                <a:ea typeface="华文行楷" panose="02010800040101010101" pitchFamily="2" charset="-122"/>
              </a:rPr>
              <a:t>F</a:t>
            </a:r>
            <a:r>
              <a:rPr lang="en-US" altLang="zh-CN" sz="4000" b="1" dirty="0">
                <a:solidFill>
                  <a:srgbClr val="5F633C"/>
                </a:solidFill>
                <a:latin typeface="Algerian" panose="04020705040A02060702" pitchFamily="82" charset="0"/>
                <a:ea typeface="宋体" panose="02010600030101010101" pitchFamily="2" charset="-122"/>
              </a:rPr>
              <a:t>ood</a:t>
            </a:r>
            <a:r>
              <a:rPr lang="en-US" altLang="zh-CN" sz="4000" b="1" dirty="0" smtClean="0">
                <a:solidFill>
                  <a:srgbClr val="5F633C"/>
                </a:solidFill>
                <a:latin typeface="Algerian" panose="04020705040A02060702" pitchFamily="82" charset="0"/>
                <a:ea typeface="宋体" panose="02010600030101010101" pitchFamily="2" charset="-122"/>
              </a:rPr>
              <a:t>:</a:t>
            </a:r>
            <a:endParaRPr lang="en-US" altLang="zh-CN" sz="4000" b="1" dirty="0" smtClean="0">
              <a:solidFill>
                <a:srgbClr val="5F633C"/>
              </a:solidFill>
              <a:latin typeface="Algerian" panose="04020705040A02060702" pitchFamily="82" charset="0"/>
              <a:ea typeface="宋体" panose="02010600030101010101" pitchFamily="2" charset="-122"/>
            </a:endParaRPr>
          </a:p>
          <a:p>
            <a:pPr algn="ctr">
              <a:buNone/>
            </a:pPr>
            <a:endParaRPr lang="en-US" altLang="zh-CN" sz="1800" b="1" dirty="0">
              <a:solidFill>
                <a:srgbClr val="5F633C"/>
              </a:solidFill>
              <a:latin typeface="Algerian" panose="04020705040A02060702" pitchFamily="82" charset="0"/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Climate change is threatening agriculture in many regions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But may benefit crop production in some regions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304800" y="285750"/>
            <a:ext cx="8686800" cy="4648200"/>
          </a:xfrm>
        </p:spPr>
        <p:txBody>
          <a:bodyPr vert="horz" wrap="square" lIns="91440" tIns="45720" rIns="91440" bIns="45720" anchor="t" anchorCtr="0"/>
          <a:lstStyle/>
          <a:p>
            <a:pPr algn="ctr">
              <a:buNone/>
            </a:pPr>
            <a:r>
              <a:rPr lang="en-US" altLang="zh-CN" sz="4000" b="1" dirty="0">
                <a:solidFill>
                  <a:srgbClr val="5F633C"/>
                </a:solidFill>
                <a:latin typeface="Algerian" panose="04020705040A02060702" pitchFamily="82" charset="0"/>
                <a:ea typeface="华文行楷" panose="02010800040101010101" pitchFamily="2" charset="-122"/>
              </a:rPr>
              <a:t>H</a:t>
            </a:r>
            <a:r>
              <a:rPr lang="en-US" altLang="zh-CN" sz="4000" b="1" dirty="0">
                <a:solidFill>
                  <a:srgbClr val="5F633C"/>
                </a:solidFill>
                <a:latin typeface="Algerian" panose="04020705040A02060702" pitchFamily="82" charset="0"/>
                <a:ea typeface="宋体" panose="02010600030101010101" pitchFamily="2" charset="-122"/>
              </a:rPr>
              <a:t>ealth</a:t>
            </a:r>
            <a:r>
              <a:rPr lang="en-US" altLang="zh-CN" sz="4000" b="1" dirty="0" smtClean="0">
                <a:solidFill>
                  <a:srgbClr val="5F633C"/>
                </a:solidFill>
                <a:latin typeface="Algerian" panose="04020705040A02060702" pitchFamily="82" charset="0"/>
                <a:ea typeface="宋体" panose="02010600030101010101" pitchFamily="2" charset="-122"/>
              </a:rPr>
              <a:t>:</a:t>
            </a:r>
            <a:endParaRPr lang="en-US" altLang="zh-CN" sz="4000" b="1" dirty="0" smtClean="0">
              <a:solidFill>
                <a:srgbClr val="5F633C"/>
              </a:solidFill>
              <a:latin typeface="Algerian" panose="04020705040A02060702" pitchFamily="82" charset="0"/>
              <a:ea typeface="宋体" panose="02010600030101010101" pitchFamily="2" charset="-122"/>
            </a:endParaRPr>
          </a:p>
          <a:p>
            <a:pPr algn="ctr">
              <a:buNone/>
            </a:pPr>
            <a:endParaRPr lang="en-US" altLang="zh-CN" sz="1800" b="1" dirty="0">
              <a:solidFill>
                <a:srgbClr val="5F633C"/>
              </a:solidFill>
              <a:latin typeface="Algerian" panose="04020705040A02060702" pitchFamily="82" charset="0"/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Exposure to weather-related disasters such as heat waves, cyclones, sea level rise, ocean acidification, altered growing seasons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Higher temperatures: heat stress, pollution, forest fires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Intense rainfall: diseases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Heavy rainfall: contamination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762000" y="361950"/>
            <a:ext cx="7715250" cy="4038600"/>
          </a:xfrm>
        </p:spPr>
        <p:txBody>
          <a:bodyPr vert="horz" wrap="square" lIns="91440" tIns="45720" rIns="91440" bIns="45720" anchor="t" anchorCtr="0"/>
          <a:lstStyle/>
          <a:p>
            <a:pPr algn="ctr">
              <a:buNone/>
            </a:pPr>
            <a:r>
              <a:rPr lang="en-US" altLang="zh-CN" sz="4000" b="1" dirty="0">
                <a:solidFill>
                  <a:srgbClr val="5F633C"/>
                </a:solidFill>
                <a:latin typeface="Algerian" panose="04020705040A02060702" pitchFamily="82" charset="0"/>
                <a:ea typeface="宋体" panose="02010600030101010101" pitchFamily="2" charset="-122"/>
              </a:rPr>
              <a:t>Rising sea level</a:t>
            </a:r>
            <a:r>
              <a:rPr lang="en-US" altLang="zh-CN" sz="4000" b="1" dirty="0" smtClean="0">
                <a:solidFill>
                  <a:srgbClr val="5F633C"/>
                </a:solidFill>
                <a:latin typeface="Algerian" panose="04020705040A02060702" pitchFamily="82" charset="0"/>
                <a:ea typeface="宋体" panose="02010600030101010101" pitchFamily="2" charset="-122"/>
              </a:rPr>
              <a:t>:</a:t>
            </a:r>
            <a:endParaRPr lang="en-US" altLang="zh-CN" sz="4000" b="1" dirty="0" smtClean="0">
              <a:solidFill>
                <a:srgbClr val="5F633C"/>
              </a:solidFill>
              <a:latin typeface="Algerian" panose="04020705040A02060702" pitchFamily="82" charset="0"/>
              <a:ea typeface="宋体" panose="02010600030101010101" pitchFamily="2" charset="-122"/>
            </a:endParaRPr>
          </a:p>
          <a:p>
            <a:pPr algn="ctr">
              <a:buNone/>
            </a:pPr>
            <a:endParaRPr lang="en-US" altLang="zh-CN" sz="1800" b="1" dirty="0">
              <a:solidFill>
                <a:srgbClr val="5F633C"/>
              </a:solidFill>
              <a:latin typeface="Algerian" panose="04020705040A02060702" pitchFamily="82" charset="0"/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Inundation of Maldives islands, some islands in the Caribbean and Pacific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Lost of agricultural lands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Coastal cities threatened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Low-lying communities at risk from storm surges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990600" y="800100"/>
            <a:ext cx="7715250" cy="3295650"/>
          </a:xfrm>
        </p:spPr>
        <p:txBody>
          <a:bodyPr vert="horz" wrap="square" lIns="91440" tIns="45720" rIns="91440" bIns="45720" anchor="t" anchorCtr="0"/>
          <a:lstStyle/>
          <a:p>
            <a:pPr algn="ctr">
              <a:buNone/>
            </a:pPr>
            <a:r>
              <a:rPr lang="en-US" altLang="zh-CN" sz="4000" b="1" dirty="0">
                <a:solidFill>
                  <a:srgbClr val="5F633C"/>
                </a:solidFill>
                <a:latin typeface="Algerian" panose="04020705040A02060702" pitchFamily="82" charset="0"/>
                <a:ea typeface="宋体" panose="02010600030101010101" pitchFamily="2" charset="-122"/>
              </a:rPr>
              <a:t>Cities at risk</a:t>
            </a:r>
            <a:r>
              <a:rPr lang="en-US" altLang="zh-CN" sz="4000" b="1" dirty="0" smtClean="0">
                <a:solidFill>
                  <a:srgbClr val="5F633C"/>
                </a:solidFill>
                <a:latin typeface="Algerian" panose="04020705040A02060702" pitchFamily="82" charset="0"/>
                <a:ea typeface="宋体" panose="02010600030101010101" pitchFamily="2" charset="-122"/>
              </a:rPr>
              <a:t>:</a:t>
            </a:r>
            <a:endParaRPr lang="en-US" altLang="zh-CN" sz="4000" b="1" dirty="0" smtClean="0">
              <a:solidFill>
                <a:srgbClr val="5F633C"/>
              </a:solidFill>
              <a:latin typeface="Algerian" panose="04020705040A02060702" pitchFamily="82" charset="0"/>
              <a:ea typeface="宋体" panose="02010600030101010101" pitchFamily="2" charset="-122"/>
            </a:endParaRPr>
          </a:p>
          <a:p>
            <a:pPr algn="ctr">
              <a:buNone/>
            </a:pPr>
            <a:endParaRPr lang="en-US" altLang="zh-CN" sz="1800" b="1" dirty="0">
              <a:solidFill>
                <a:srgbClr val="5F633C"/>
              </a:solidFill>
              <a:latin typeface="Algerian" panose="04020705040A02060702" pitchFamily="82" charset="0"/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Coastal storms, flooding, erosion, saltwater intrusion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r>
              <a:rPr lang="en-US" altLang="zh-CN" sz="2800" dirty="0">
                <a:solidFill>
                  <a:srgbClr val="5F633C"/>
                </a:solidFill>
                <a:ea typeface="宋体" panose="02010600030101010101" pitchFamily="2" charset="-122"/>
              </a:rPr>
              <a:t> Inundation of large delta areas</a:t>
            </a: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  <a:p>
            <a:pPr>
              <a:buBlip>
                <a:blip r:embed="rId1"/>
              </a:buBlip>
            </a:pPr>
            <a:endParaRPr lang="en-US" altLang="zh-CN" sz="2800" dirty="0">
              <a:solidFill>
                <a:srgbClr val="5F633C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s://encrypted-tbn2.gstatic.com/images?q=tbn:ANd9GcQjcktuSrUCr1qnPogFYmp5TgcZ5ynywCNkZEKZE3-5LUaRIRl1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9550"/>
            <a:ext cx="3810000" cy="2705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057400" y="3257550"/>
            <a:ext cx="56388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sz="3200" kern="1200" cap="none" spc="0" normalizeH="0" baseline="0" noProof="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Erosion is damaging 12,000 sites in Scotland</a:t>
            </a:r>
            <a:endParaRPr kumimoji="0" lang="en-US" sz="3200" kern="1200" cap="none" spc="0" normalizeH="0" baseline="0" noProof="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http://tripologist.com/wp-content/uploads/2012/04/IMG_3704.jp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33350"/>
            <a:ext cx="4454525" cy="297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447800" y="3333750"/>
            <a:ext cx="6172200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sz="2800" kern="1200" cap="none" spc="0" normalizeH="0" baseline="0" noProof="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Severe flooding threatens historical sites such as </a:t>
            </a:r>
            <a:r>
              <a:rPr kumimoji="0" lang="en-US" sz="2800" kern="1200" cap="none" spc="0" normalizeH="0" baseline="0" noProof="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Sukothai</a:t>
            </a:r>
            <a:r>
              <a:rPr kumimoji="0" lang="en-US" sz="2800" kern="1200" cap="none" spc="0" normalizeH="0" baseline="0" noProof="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and Ayutthaya ruins in Thailand</a:t>
            </a:r>
            <a:endParaRPr kumimoji="0" lang="en-US" sz="2800" kern="1200" cap="none" spc="0" normalizeH="0" baseline="0" noProof="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云形 3"/>
          <p:cNvSpPr/>
          <p:nvPr/>
        </p:nvSpPr>
        <p:spPr>
          <a:xfrm>
            <a:off x="2590800" y="-19050"/>
            <a:ext cx="3810000" cy="1390650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副标题 4"/>
          <p:cNvSpPr txBox="1"/>
          <p:nvPr/>
        </p:nvSpPr>
        <p:spPr bwMode="auto">
          <a:xfrm>
            <a:off x="2819400" y="209550"/>
            <a:ext cx="3581400" cy="973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Tx/>
              <a:buNone/>
              <a:defRPr/>
            </a:pPr>
            <a:r>
              <a:rPr kumimoji="0" lang="en-US" altLang="zh-CN" sz="4400" b="1" kern="1200" cap="none" spc="0" normalizeH="0" baseline="0" noProof="0" dirty="0">
                <a:solidFill>
                  <a:srgbClr val="CCFF99"/>
                </a:solidFill>
                <a:latin typeface="+mj-lt"/>
                <a:ea typeface="+mn-ea"/>
                <a:cs typeface="David" panose="020E0502060401010101" pitchFamily="34" charset="-79"/>
              </a:rPr>
              <a:t>RESPONSES</a:t>
            </a:r>
            <a:endParaRPr kumimoji="0" lang="en-US" altLang="zh-CN" sz="4400" b="1" kern="1200" cap="none" spc="0" normalizeH="0" baseline="0" noProof="0" dirty="0">
              <a:solidFill>
                <a:srgbClr val="CCFF99"/>
              </a:solidFill>
              <a:latin typeface="+mj-lt"/>
              <a:ea typeface="+mn-ea"/>
              <a:cs typeface="David" panose="020E0502060401010101" pitchFamily="34" charset="-79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04800" y="1428750"/>
            <a:ext cx="8686800" cy="3429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~ Responses of cities ~</a:t>
            </a:r>
            <a:endParaRPr kumimoji="0" lang="en-US" altLang="zh-CN" sz="3600" b="1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London - reduce emissions by 60% by 2025 (1990 level)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Bangladesh - social protection, disaster management, infrastructure research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Tokyo - renewable energies &amp; electric cars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Sydney - become C neutral by reducing C emissions from vehicles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2209800" y="1962150"/>
            <a:ext cx="4495800" cy="762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~ Renewable energy ~</a:t>
            </a:r>
            <a:endParaRPr kumimoji="0" lang="zh-CN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</p:txBody>
      </p:sp>
      <p:pic>
        <p:nvPicPr>
          <p:cNvPr id="30723" name="Picture 2" descr="http://static.offshorewind.biz/wp-content/uploads/2012/07/Japan-Hitachi-to-Develop-5MW-Downwind-Ocean-Wind-Turbine.jp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2590800" cy="1808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4" name="Picture 4" descr="http://t0.gstatic.com/images?q=tbn:ANd9GcQe1Qo3rvYd_5szXuSJ3YkjRSHqYZ-y-unLTs3AhyyRPzQmBItacQ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09550"/>
            <a:ext cx="2479675" cy="16525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5" name="Picture 2" descr="http://solarenergyusages.com/wp-content/uploads/2014/02/picture-of-solar-energy-7.jp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2798763"/>
            <a:ext cx="2971800" cy="1982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6" name="Picture 2" descr="http://www.kids.esdb.bg/images/image016.jp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800350"/>
            <a:ext cx="2743200" cy="2057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右箭头 7"/>
          <p:cNvSpPr/>
          <p:nvPr/>
        </p:nvSpPr>
        <p:spPr>
          <a:xfrm>
            <a:off x="4724400" y="971550"/>
            <a:ext cx="762000" cy="8382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圆角右箭头 8"/>
          <p:cNvSpPr/>
          <p:nvPr/>
        </p:nvSpPr>
        <p:spPr>
          <a:xfrm rot="10800000">
            <a:off x="3276600" y="2952750"/>
            <a:ext cx="762000" cy="8382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直角上箭头 11"/>
          <p:cNvSpPr/>
          <p:nvPr/>
        </p:nvSpPr>
        <p:spPr>
          <a:xfrm rot="16200000">
            <a:off x="3162300" y="1009650"/>
            <a:ext cx="876300" cy="8001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直角上箭头 12"/>
          <p:cNvSpPr/>
          <p:nvPr/>
        </p:nvSpPr>
        <p:spPr>
          <a:xfrm rot="5400000">
            <a:off x="4610100" y="2952750"/>
            <a:ext cx="876300" cy="8001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581400" y="209550"/>
            <a:ext cx="3810000" cy="762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What can we do?</a:t>
            </a:r>
            <a:endParaRPr kumimoji="0" lang="zh-CN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</p:txBody>
      </p:sp>
      <p:pic>
        <p:nvPicPr>
          <p:cNvPr id="31747" name="Picture 2" descr="http://www.passmyexams.co.uk/GCSE/physics/images/bulb_01_02.jp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66750"/>
            <a:ext cx="1581150" cy="1416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8" name="Picture 4" descr="http://images.sodahead.com/polls/000237262/polls_toothbrush_0818_112776_answer_1_xlarge.gif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2800350"/>
            <a:ext cx="1857375" cy="1905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9" name="Picture 2" descr="http://www.seton.co.uk/media/catalog/product/cache/3/image/9df78eab33525d08d6e5fb8d27136e95/d/m/dmeu_a4grn4_1_std.lang.all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388" y="647700"/>
            <a:ext cx="1420812" cy="2000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0" name="Picture 6" descr="http://thumb10.shutterstock.com/display_pic_with_logo/493609/493609,1270309172,3/stock-photo-earth-character-switching-lights-off-50166964.jp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409575"/>
            <a:ext cx="1449388" cy="1476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1" name="Picture 2" descr="http://fc04.deviantart.net/fs70/f/2010/201/b/a/__Walk_Cycle___by_DrowningInFlame49.gif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2314575"/>
            <a:ext cx="1905000" cy="2390775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</p:pic>
      <p:pic>
        <p:nvPicPr>
          <p:cNvPr id="31752" name="Picture 4" descr="https://cyclinglondononline.files.wordpress.com/2011/02/cyclist_jpg.jpg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86200" y="2800350"/>
            <a:ext cx="2281238" cy="1914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3" name="Picture 4" descr="http://students.ou.edu/P/Briana.E.Paulman-1/bins.jpg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7600" y="2571750"/>
            <a:ext cx="2870200" cy="2152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4" name="Picture 2" descr="http://vienna-wv.com/images/recycle.jpg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0" y="1123950"/>
            <a:ext cx="1179513" cy="1176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5" name="Picture 6" descr="http://payload.cargocollective.com/1/2/79952/1482412/gnc-recycle-bag.jpg">
            <a:hlinkClick r:id="rId17"/>
          </p:cNvPr>
          <p:cNvPicPr>
            <a:picLocks noChangeAspect="1"/>
          </p:cNvPicPr>
          <p:nvPr/>
        </p:nvPicPr>
        <p:blipFill>
          <a:blip r:embed="rId18"/>
          <a:srcRect l="24516" r="21992"/>
          <a:stretch>
            <a:fillRect/>
          </a:stretch>
        </p:blipFill>
        <p:spPr>
          <a:xfrm rot="3296815">
            <a:off x="5556250" y="1009650"/>
            <a:ext cx="1168400" cy="17097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-19050"/>
            <a:ext cx="8229600" cy="85725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discussions</a:t>
            </a:r>
            <a:endParaRPr kumimoji="0" lang="zh-CN" altLang="en-US" sz="4000" b="1" i="0" u="none" strike="noStrike" kern="1200" cap="all" spc="50" normalizeH="0" baseline="0" noProof="0">
              <a:ln w="15875" cmpd="sng">
                <a:solidFill>
                  <a:srgbClr val="FFFFFF"/>
                </a:solidFill>
                <a:prstDash val="solid"/>
              </a:ln>
              <a:solidFill>
                <a:srgbClr val="FFFF00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2400" y="806450"/>
          <a:ext cx="8763000" cy="3652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505"/>
                <a:gridCol w="2948299"/>
                <a:gridCol w="3030196"/>
              </a:tblGrid>
              <a:tr h="722476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Causes of climate change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Consequences of climate</a:t>
                      </a:r>
                      <a:r>
                        <a:rPr lang="en-US" altLang="zh-CN" sz="1400" baseline="0" dirty="0" smtClean="0"/>
                        <a:t> change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Consequences of climate</a:t>
                      </a:r>
                      <a:r>
                        <a:rPr lang="en-US" altLang="zh-CN" sz="1400" baseline="0" dirty="0" smtClean="0"/>
                        <a:t> change</a:t>
                      </a:r>
                      <a:endParaRPr lang="zh-CN" altLang="en-US" sz="1400" dirty="0"/>
                    </a:p>
                  </a:txBody>
                  <a:tcPr/>
                </a:tc>
              </a:tr>
              <a:tr h="418578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418578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418578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418578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418578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418578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418578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64"/>
            <a:ext cx="8229600" cy="85725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FF00"/>
                </a:solidFill>
              </a:rPr>
              <a:t>Discussions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14"/>
            <a:ext cx="8229600" cy="3543300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accent4">
                    <a:lumMod val="50000"/>
                  </a:schemeClr>
                </a:solidFill>
              </a:rPr>
              <a:t>In the face of global climate change, please explain how we should response as a ..</a:t>
            </a:r>
            <a:endParaRPr lang="en-US" altLang="zh-CN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zh-CN" dirty="0" smtClean="0">
                <a:solidFill>
                  <a:schemeClr val="accent4">
                    <a:lumMod val="50000"/>
                  </a:schemeClr>
                </a:solidFill>
              </a:rPr>
              <a:t>I</a:t>
            </a:r>
            <a:r>
              <a:rPr lang="en-US" altLang="zh-CN" dirty="0" smtClean="0">
                <a:solidFill>
                  <a:schemeClr val="accent4">
                    <a:lumMod val="50000"/>
                  </a:schemeClr>
                </a:solidFill>
              </a:rPr>
              <a:t>ndividual/personal</a:t>
            </a:r>
            <a:endParaRPr lang="en-US" altLang="zh-CN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zh-CN" dirty="0" smtClean="0">
                <a:solidFill>
                  <a:schemeClr val="accent4">
                    <a:lumMod val="50000"/>
                  </a:schemeClr>
                </a:solidFill>
              </a:rPr>
              <a:t>Community (university)</a:t>
            </a:r>
            <a:endParaRPr lang="en-US" altLang="zh-CN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zh-CN" dirty="0" smtClean="0">
                <a:solidFill>
                  <a:schemeClr val="accent4">
                    <a:lumMod val="50000"/>
                  </a:schemeClr>
                </a:solidFill>
              </a:rPr>
              <a:t>Community (villages)</a:t>
            </a:r>
            <a:endParaRPr lang="en-US" altLang="zh-CN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zh-CN" dirty="0" smtClean="0">
                <a:solidFill>
                  <a:schemeClr val="accent4">
                    <a:lumMod val="50000"/>
                  </a:schemeClr>
                </a:solidFill>
              </a:rPr>
              <a:t>Government/country</a:t>
            </a:r>
            <a:endParaRPr lang="en-US" altLang="zh-CN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zh-CN" dirty="0" smtClean="0">
                <a:solidFill>
                  <a:schemeClr val="accent4">
                    <a:lumMod val="50000"/>
                  </a:schemeClr>
                </a:solidFill>
              </a:rPr>
              <a:t>International</a:t>
            </a:r>
            <a:endParaRPr lang="en-US" altLang="zh-CN" dirty="0" smtClean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0" y="1071552"/>
            <a:ext cx="6633210" cy="255175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dirty="0" smtClean="0">
                <a:solidFill>
                  <a:srgbClr val="7D521D"/>
                </a:solidFill>
                <a:latin typeface="Lucida Calligraphy" panose="03010101010101010101" charset="0"/>
                <a:cs typeface="Lucida Calligraphy" panose="03010101010101010101" charset="0"/>
              </a:rPr>
              <a:t>Next: </a:t>
            </a:r>
            <a:endParaRPr lang="en-US" altLang="zh-CN" sz="4000" dirty="0" smtClean="0">
              <a:solidFill>
                <a:srgbClr val="7D521D"/>
              </a:solidFill>
              <a:latin typeface="Lucida Calligraphy" panose="03010101010101010101" charset="0"/>
              <a:cs typeface="Lucida Calligraphy" panose="03010101010101010101" charset="0"/>
            </a:endParaRPr>
          </a:p>
          <a:p>
            <a:pPr marL="0" indent="0">
              <a:buNone/>
            </a:pPr>
            <a:r>
              <a:rPr lang="en-US" altLang="zh-CN" sz="4000" dirty="0" smtClean="0">
                <a:solidFill>
                  <a:srgbClr val="7D521D"/>
                </a:solidFill>
                <a:latin typeface="Lucida Calligraphy" panose="03010101010101010101" charset="0"/>
                <a:cs typeface="Lucida Calligraphy" panose="03010101010101010101" charset="0"/>
              </a:rPr>
              <a:t>Impacts </a:t>
            </a:r>
            <a:r>
              <a:rPr lang="en-US" altLang="zh-CN" sz="4000" dirty="0">
                <a:solidFill>
                  <a:srgbClr val="7D521D"/>
                </a:solidFill>
                <a:latin typeface="Lucida Calligraphy" panose="03010101010101010101" charset="0"/>
                <a:cs typeface="Lucida Calligraphy" panose="03010101010101010101" charset="0"/>
              </a:rPr>
              <a:t>of climate change and human activities on the ocean</a:t>
            </a:r>
            <a:endParaRPr lang="en-US" altLang="zh-CN" sz="4000" dirty="0">
              <a:solidFill>
                <a:srgbClr val="7D521D"/>
              </a:solidFill>
              <a:latin typeface="Lucida Calligraphy" panose="03010101010101010101" charset="0"/>
              <a:cs typeface="Lucida Calligraphy" panose="03010101010101010101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76200" y="133350"/>
            <a:ext cx="8991600" cy="487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3971" name="TextBox 4"/>
          <p:cNvSpPr txBox="1"/>
          <p:nvPr/>
        </p:nvSpPr>
        <p:spPr>
          <a:xfrm>
            <a:off x="772795" y="1691640"/>
            <a:ext cx="780288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CCFFFF"/>
                </a:solidFill>
                <a:latin typeface="MV Boli" panose="02000500030200090000" pitchFamily="2" charset="0"/>
              </a:rPr>
              <a:t>Thank you! </a:t>
            </a:r>
            <a:endParaRPr lang="en-US" altLang="zh-CN" sz="4000" b="1" dirty="0">
              <a:solidFill>
                <a:srgbClr val="CCFFFF"/>
              </a:solidFill>
              <a:latin typeface="MV Boli" panose="02000500030200090000" pitchFamily="2" charset="0"/>
            </a:endParaRPr>
          </a:p>
          <a:p>
            <a:pPr algn="ctr"/>
            <a:r>
              <a:rPr lang="en-US" altLang="zh-CN" sz="4000" b="1" dirty="0">
                <a:solidFill>
                  <a:srgbClr val="CCFFFF"/>
                </a:solidFill>
                <a:latin typeface="MV Boli" panose="02000500030200090000" pitchFamily="2" charset="0"/>
              </a:rPr>
              <a:t>See you all on </a:t>
            </a:r>
            <a:r>
              <a:rPr lang="en-US" altLang="zh-CN" sz="4000" b="1" dirty="0">
                <a:solidFill>
                  <a:srgbClr val="FFFF00"/>
                </a:solidFill>
                <a:latin typeface="MV Boli" panose="02000500030200090000" pitchFamily="2" charset="0"/>
              </a:rPr>
              <a:t>next Thurs</a:t>
            </a:r>
            <a:r>
              <a:rPr lang="en-US" altLang="zh-CN" sz="4000" b="1" dirty="0" smtClean="0">
                <a:solidFill>
                  <a:srgbClr val="FFFF00"/>
                </a:solidFill>
                <a:latin typeface="MV Boli" panose="02000500030200090000" pitchFamily="2" charset="0"/>
              </a:rPr>
              <a:t>day </a:t>
            </a:r>
            <a:r>
              <a:rPr lang="en-US" altLang="zh-CN" sz="4000" b="1" dirty="0" smtClean="0">
                <a:solidFill>
                  <a:srgbClr val="CCFFFF"/>
                </a:solidFill>
                <a:latin typeface="MV Boli" panose="02000500030200090000" pitchFamily="2" charset="0"/>
              </a:rPr>
              <a:t>!</a:t>
            </a:r>
            <a:endParaRPr lang="zh-CN" altLang="en-US" sz="4000" b="1" dirty="0">
              <a:solidFill>
                <a:srgbClr val="CCFFFF"/>
              </a:solidFill>
              <a:latin typeface="MV Boli" panose="02000500030200090000" pitchFamily="2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ee18d718-507a-44e5-94ee-b7166aad127d}"/>
  <p:tag name="TABLE_ENDDRAG_ORIGIN_RECT" val="690*323"/>
  <p:tag name="TABLE_ENDDRAG_RECT" val="11*83*690*323"/>
</p:tagLst>
</file>

<file path=ppt/tags/tag2.xml><?xml version="1.0" encoding="utf-8"?>
<p:tagLst xmlns:p="http://schemas.openxmlformats.org/presentationml/2006/main">
  <p:tag name="KSO_WM_UNIT_TABLE_BEAUTIFY" val="smartTable{0c5e8d1c-de2a-4eb4-b165-9834d940be0f}"/>
</p:tagLst>
</file>

<file path=ppt/tags/tag3.xml><?xml version="1.0" encoding="utf-8"?>
<p:tagLst xmlns:p="http://schemas.openxmlformats.org/presentationml/2006/main">
  <p:tag name="KSO_WM_UNIT_PLACING_PICTURE_USER_VIEWPORT" val="{&quot;height&quot;:2700,&quot;width&quot;:3795}"/>
</p:tagLst>
</file>

<file path=ppt/tags/tag4.xml><?xml version="1.0" encoding="utf-8"?>
<p:tagLst xmlns:p="http://schemas.openxmlformats.org/presentationml/2006/main">
  <p:tag name="KSO_WM_UNIT_TABLE_BEAUTIFY" val="smartTable{282e5056-77ff-4b08-b776-ea9b02337376}"/>
</p:tagLst>
</file>

<file path=ppt/tags/tag5.xml><?xml version="1.0" encoding="utf-8"?>
<p:tagLst xmlns:p="http://schemas.openxmlformats.org/presentationml/2006/main">
  <p:tag name="KSO_WPP_MARK_KEY" val="e44c7941-fca4-41f2-8d78-25459c0e68d3"/>
  <p:tag name="COMMONDATA" val="eyJoZGlkIjoiODE2MTZiYzYxYzViY2UxNzIwYTQxNDMzMzYzZjFhOTU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行云流水">
  <a:themeElements>
    <a:clrScheme name="行云流水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行云流水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华文行楷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libri"/>
        <a:ea typeface=""/>
        <a:cs typeface=""/>
        <a:font script="Jpan" typeface="ＭＳ Ｐ明朝"/>
        <a:font script="Hang" typeface="HY견명조"/>
        <a:font script="Hans" typeface="华文行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300000"/>
              </a:schemeClr>
            </a:gs>
            <a:gs pos="72000">
              <a:schemeClr val="phClr">
                <a:tint val="100000"/>
                <a:shade val="100000"/>
                <a:hueMod val="100000"/>
                <a:satMod val="100000"/>
              </a:schemeClr>
            </a:gs>
            <a:gs pos="81000">
              <a:schemeClr val="phClr">
                <a:tint val="98000"/>
                <a:shade val="100000"/>
                <a:hueMod val="100000"/>
                <a:satMod val="15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39000"/>
                <a:hueMod val="100000"/>
                <a:satMod val="150000"/>
              </a:schemeClr>
              <a:schemeClr val="phClr">
                <a:tint val="90000"/>
                <a:shade val="100000"/>
                <a:hueMod val="10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Calligraphy</Template>
  <TotalTime>0</TotalTime>
  <Words>4551</Words>
  <Application>WPS 演示</Application>
  <PresentationFormat>On-screen Show (16:9)</PresentationFormat>
  <Paragraphs>255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8" baseType="lpstr">
      <vt:lpstr>Arial</vt:lpstr>
      <vt:lpstr>宋体</vt:lpstr>
      <vt:lpstr>Wingdings</vt:lpstr>
      <vt:lpstr>华文行楷</vt:lpstr>
      <vt:lpstr>Cambria</vt:lpstr>
      <vt:lpstr>Wingdings 2</vt:lpstr>
      <vt:lpstr>Calibri</vt:lpstr>
      <vt:lpstr>Arial</vt:lpstr>
      <vt:lpstr>Cambria</vt:lpstr>
      <vt:lpstr>MV Boli</vt:lpstr>
      <vt:lpstr>Times New Roman</vt:lpstr>
      <vt:lpstr>楷体</vt:lpstr>
      <vt:lpstr>David</vt:lpstr>
      <vt:lpstr>Segoe Print</vt:lpstr>
      <vt:lpstr>Segoe Script</vt:lpstr>
      <vt:lpstr>Narkisim</vt:lpstr>
      <vt:lpstr>微软雅黑</vt:lpstr>
      <vt:lpstr>Arial Unicode MS</vt:lpstr>
      <vt:lpstr>Algerian</vt:lpstr>
      <vt:lpstr>Lucida Calligraphy</vt:lpstr>
      <vt:lpstr>行云流水</vt:lpstr>
      <vt:lpstr>OCEAN IN TIMEs OF INTENSE CHANGE</vt:lpstr>
      <vt:lpstr>PowerPoint 演示文稿</vt:lpstr>
      <vt:lpstr>history</vt:lpstr>
      <vt:lpstr>The objectives</vt:lpstr>
      <vt:lpstr>Course outline</vt:lpstr>
      <vt:lpstr>Examination</vt:lpstr>
      <vt:lpstr>climate change - INTRODUCTION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CAUSES</vt:lpstr>
      <vt:lpstr>PowerPoint 演示文稿</vt:lpstr>
      <vt:lpstr>PowerPoint 演示文稿</vt:lpstr>
      <vt:lpstr>PowerPoint 演示文稿</vt:lpstr>
      <vt:lpstr>consequences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discussions</vt:lpstr>
      <vt:lpstr>Discussions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394</cp:revision>
  <dcterms:created xsi:type="dcterms:W3CDTF">2020-04-16T03:15:00Z</dcterms:created>
  <dcterms:modified xsi:type="dcterms:W3CDTF">2026-04-30T10:43:43Z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884022FCE2B84A35A5550EA740AE4B06</vt:lpwstr>
  </property>
  <property fmtid="{D5CDD505-2E9C-101B-9397-08002B2CF9AE}" pid="4" name="KSOProductBuildVer">
    <vt:lpwstr>2052-12.1.0.25865</vt:lpwstr>
  </property>
</Properties>
</file>